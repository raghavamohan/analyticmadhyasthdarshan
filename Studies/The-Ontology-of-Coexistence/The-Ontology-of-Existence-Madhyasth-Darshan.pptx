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d4b10847403462b" /><Relationship Type="http://schemas.openxmlformats.org/officeDocument/2006/relationships/extended-properties" Target="/docProps/app.xml" Id="R3206bc6fe90c4541" /><Relationship Type="http://schemas.openxmlformats.org/officeDocument/2006/relationships/officeDocument" Target="/ppt/presentation.xml" Id="R2228d81fcfc64629" /></Relationships>
</file>

<file path=ppt/presentation.xml><?xml version="1.0" encoding="utf-8"?>
<p:presentation xmlns:p="http://schemas.openxmlformats.org/presentationml/2006/main">
  <p:sldMasterIdLst>
    <p:sldMasterId xmlns:r="http://schemas.openxmlformats.org/officeDocument/2006/relationships" id="2147483648" r:id="R92f624f45424452f"/>
  </p:sldMasterIdLst>
  <p:notesMasterIdLst>
    <p:notesMasterId xmlns:r="http://schemas.openxmlformats.org/officeDocument/2006/relationships" r:id="Ra55e71b4c2f14f47"/>
  </p:notesMasterIdLst>
  <p:sldIdLst>
    <p:sldId xmlns:r="http://schemas.openxmlformats.org/officeDocument/2006/relationships" id="256" r:id="Ra2e6dabf48f642ea"/>
    <p:sldId xmlns:r="http://schemas.openxmlformats.org/officeDocument/2006/relationships" id="257" r:id="R19d8713f9d374dc3"/>
    <p:sldId xmlns:r="http://schemas.openxmlformats.org/officeDocument/2006/relationships" id="258" r:id="Ra49c29211e6f48a8"/>
    <p:sldId xmlns:r="http://schemas.openxmlformats.org/officeDocument/2006/relationships" id="259" r:id="Rd78a744b89c8415f"/>
    <p:sldId xmlns:r="http://schemas.openxmlformats.org/officeDocument/2006/relationships" id="260" r:id="R3c27c3444d3847e0"/>
    <p:sldId xmlns:r="http://schemas.openxmlformats.org/officeDocument/2006/relationships" id="261" r:id="R9906e6ec7b7b4bd8"/>
    <p:sldId xmlns:r="http://schemas.openxmlformats.org/officeDocument/2006/relationships" id="262" r:id="R50171322ed794da5"/>
    <p:sldId xmlns:r="http://schemas.openxmlformats.org/officeDocument/2006/relationships" id="263" r:id="Rece21e36fdf04601"/>
    <p:sldId xmlns:r="http://schemas.openxmlformats.org/officeDocument/2006/relationships" id="264" r:id="Rb729523048bd455a"/>
    <p:sldId xmlns:r="http://schemas.openxmlformats.org/officeDocument/2006/relationships" id="265" r:id="Rfeb7c5fbf04a4d87"/>
    <p:sldId xmlns:r="http://schemas.openxmlformats.org/officeDocument/2006/relationships" id="266" r:id="R3b9e20babf2946aa"/>
    <p:sldId xmlns:r="http://schemas.openxmlformats.org/officeDocument/2006/relationships" id="267" r:id="R398181487b044f79"/>
    <p:sldId xmlns:r="http://schemas.openxmlformats.org/officeDocument/2006/relationships" id="268" r:id="Rd56a65fc53f74b04"/>
    <p:sldId xmlns:r="http://schemas.openxmlformats.org/officeDocument/2006/relationships" id="269" r:id="R7d5a111654224ab9"/>
    <p:sldId xmlns:r="http://schemas.openxmlformats.org/officeDocument/2006/relationships" id="270" r:id="R8c35ab92e88e4319"/>
    <p:sldId xmlns:r="http://schemas.openxmlformats.org/officeDocument/2006/relationships" id="271" r:id="Re53dc5a33fb54879"/>
    <p:sldId xmlns:r="http://schemas.openxmlformats.org/officeDocument/2006/relationships" id="272" r:id="Re8c19a19911545da"/>
    <p:sldId xmlns:r="http://schemas.openxmlformats.org/officeDocument/2006/relationships" id="273" r:id="R947e84c9630b45b1"/>
    <p:sldId xmlns:r="http://schemas.openxmlformats.org/officeDocument/2006/relationships" id="274" r:id="Rf9b727d3c63d4e25"/>
    <p:sldId xmlns:r="http://schemas.openxmlformats.org/officeDocument/2006/relationships" id="275" r:id="Rf0b268f4cca549bc"/>
    <p:sldId xmlns:r="http://schemas.openxmlformats.org/officeDocument/2006/relationships" id="276" r:id="R3ce4251260ef49f7"/>
    <p:sldId xmlns:r="http://schemas.openxmlformats.org/officeDocument/2006/relationships" id="277" r:id="R81396cf7f81140a9"/>
    <p:sldId xmlns:r="http://schemas.openxmlformats.org/officeDocument/2006/relationships" id="278" r:id="Ref593b4592284e45"/>
    <p:sldId xmlns:r="http://schemas.openxmlformats.org/officeDocument/2006/relationships" id="279" r:id="Rc2ed281b01244d1e"/>
  </p:sldIdLst>
  <p:sldSz cx="9144000" cy="51435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f3226b0185cb438d" /><Relationship Type="http://schemas.openxmlformats.org/officeDocument/2006/relationships/slideMaster" Target="/ppt/slideMasters/slideMaster1.xml" Id="R92f624f45424452f" /><Relationship Type="http://schemas.openxmlformats.org/officeDocument/2006/relationships/notesMaster" Target="/ppt/notesMasters/notesMaster1.xml" Id="Ra55e71b4c2f14f47" /><Relationship Type="http://schemas.openxmlformats.org/officeDocument/2006/relationships/presProps" Target="/ppt/presProps.xml" Id="Rb8be53964e5d4677" /><Relationship Type="http://schemas.openxmlformats.org/officeDocument/2006/relationships/viewProps" Target="/ppt/viewProps.xml" Id="R6c356bb4c022441b" /><Relationship Type="http://schemas.openxmlformats.org/officeDocument/2006/relationships/tableStyles" Target="/ppt/tableStyles.xml" Id="R57e81c5c4f5945d1" /><Relationship Type="http://schemas.openxmlformats.org/officeDocument/2006/relationships/slide" Target="/ppt/slides/slide1.xml" Id="Ra2e6dabf48f642ea" /><Relationship Type="http://schemas.openxmlformats.org/officeDocument/2006/relationships/slide" Target="/ppt/slides/slide2.xml" Id="R19d8713f9d374dc3" /><Relationship Type="http://schemas.openxmlformats.org/officeDocument/2006/relationships/slide" Target="/ppt/slides/slide3.xml" Id="Ra49c29211e6f48a8" /><Relationship Type="http://schemas.openxmlformats.org/officeDocument/2006/relationships/slide" Target="/ppt/slides/slide4.xml" Id="Rd78a744b89c8415f" /><Relationship Type="http://schemas.openxmlformats.org/officeDocument/2006/relationships/slide" Target="/ppt/slides/slide5.xml" Id="R3c27c3444d3847e0" /><Relationship Type="http://schemas.openxmlformats.org/officeDocument/2006/relationships/slide" Target="/ppt/slides/slide6.xml" Id="R9906e6ec7b7b4bd8" /><Relationship Type="http://schemas.openxmlformats.org/officeDocument/2006/relationships/slide" Target="/ppt/slides/slide7.xml" Id="R50171322ed794da5" /><Relationship Type="http://schemas.openxmlformats.org/officeDocument/2006/relationships/slide" Target="/ppt/slides/slide8.xml" Id="Rece21e36fdf04601" /><Relationship Type="http://schemas.openxmlformats.org/officeDocument/2006/relationships/slide" Target="/ppt/slides/slide9.xml" Id="Rb729523048bd455a" /><Relationship Type="http://schemas.openxmlformats.org/officeDocument/2006/relationships/slide" Target="/ppt/slides/slide10.xml" Id="Rfeb7c5fbf04a4d87" /><Relationship Type="http://schemas.openxmlformats.org/officeDocument/2006/relationships/slide" Target="/ppt/slides/slide11.xml" Id="R3b9e20babf2946aa" /><Relationship Type="http://schemas.openxmlformats.org/officeDocument/2006/relationships/slide" Target="/ppt/slides/slide12.xml" Id="R398181487b044f79" /><Relationship Type="http://schemas.openxmlformats.org/officeDocument/2006/relationships/slide" Target="/ppt/slides/slide13.xml" Id="Rd56a65fc53f74b04" /><Relationship Type="http://schemas.openxmlformats.org/officeDocument/2006/relationships/slide" Target="/ppt/slides/slide14.xml" Id="R7d5a111654224ab9" /><Relationship Type="http://schemas.openxmlformats.org/officeDocument/2006/relationships/slide" Target="/ppt/slides/slide15.xml" Id="R8c35ab92e88e4319" /><Relationship Type="http://schemas.openxmlformats.org/officeDocument/2006/relationships/slide" Target="/ppt/slides/slide16.xml" Id="Re53dc5a33fb54879" /><Relationship Type="http://schemas.openxmlformats.org/officeDocument/2006/relationships/slide" Target="/ppt/slides/slide17.xml" Id="Re8c19a19911545da" /><Relationship Type="http://schemas.openxmlformats.org/officeDocument/2006/relationships/slide" Target="/ppt/slides/slide18.xml" Id="R947e84c9630b45b1" /><Relationship Type="http://schemas.openxmlformats.org/officeDocument/2006/relationships/slide" Target="/ppt/slides/slide19.xml" Id="Rf9b727d3c63d4e25" /><Relationship Type="http://schemas.openxmlformats.org/officeDocument/2006/relationships/slide" Target="/ppt/slides/slide20.xml" Id="Rf0b268f4cca549bc" /><Relationship Type="http://schemas.openxmlformats.org/officeDocument/2006/relationships/slide" Target="/ppt/slides/slide21.xml" Id="R3ce4251260ef49f7" /><Relationship Type="http://schemas.openxmlformats.org/officeDocument/2006/relationships/slide" Target="/ppt/slides/slide22.xml" Id="R81396cf7f81140a9" /><Relationship Type="http://schemas.openxmlformats.org/officeDocument/2006/relationships/slide" Target="/ppt/slides/slide23.xml" Id="Ref593b4592284e45" /><Relationship Type="http://schemas.openxmlformats.org/officeDocument/2006/relationships/slide" Target="/ppt/slides/slide24.xml" Id="Rc2ed281b01244d1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a0bd23823a2488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d1eacba329f46f3" /><Relationship Type="http://schemas.openxmlformats.org/officeDocument/2006/relationships/notesMaster" Target="/ppt/notesMasters/notesMaster1.xml" Id="R3eb6ad64e2864613" /></Relationships>
</file>

<file path=ppt/notesSlides/_rels/notesSlide2.xml.rels>&#65279;<?xml version="1.0" encoding="utf-8"?><Relationships xmlns="http://schemas.openxmlformats.org/package/2006/relationships"><Relationship Type="http://schemas.openxmlformats.org/officeDocument/2006/relationships/slide" Target="/ppt/slides/slide2.xml" Id="R3cb689e7b0404985" /><Relationship Type="http://schemas.openxmlformats.org/officeDocument/2006/relationships/notesMaster" Target="/ppt/notesMasters/notesMaster1.xml" Id="R2102bfe8fb9f43ff" /></Relationships>
</file>

<file path=ppt/notesSlides/_rels/notesSlide3.xml.rels>&#65279;<?xml version="1.0" encoding="utf-8"?><Relationships xmlns="http://schemas.openxmlformats.org/package/2006/relationships"><Relationship Type="http://schemas.openxmlformats.org/officeDocument/2006/relationships/slide" Target="/ppt/slides/slide3.xml" Id="Rf9de8018b5864b99" /><Relationship Type="http://schemas.openxmlformats.org/officeDocument/2006/relationships/notesMaster" Target="/ppt/notesMasters/notesMaster1.xml" Id="R8b524ee50a344b2d" /></Relationships>
</file>

<file path=ppt/notesSlides/_rels/notesSlide4.xml.rels>&#65279;<?xml version="1.0" encoding="utf-8"?><Relationships xmlns="http://schemas.openxmlformats.org/package/2006/relationships"><Relationship Type="http://schemas.openxmlformats.org/officeDocument/2006/relationships/slide" Target="/ppt/slides/slide4.xml" Id="Rd7e938a383914b0a" /><Relationship Type="http://schemas.openxmlformats.org/officeDocument/2006/relationships/notesMaster" Target="/ppt/notesMasters/notesMaster1.xml" Id="R2aebbdcf21a24900" /></Relationships>
</file>

<file path=ppt/notesSlides/_rels/notesSlide5.xml.rels>&#65279;<?xml version="1.0" encoding="utf-8"?><Relationships xmlns="http://schemas.openxmlformats.org/package/2006/relationships"><Relationship Type="http://schemas.openxmlformats.org/officeDocument/2006/relationships/slide" Target="/ppt/slides/slide5.xml" Id="Rf9de2c3359424640" /><Relationship Type="http://schemas.openxmlformats.org/officeDocument/2006/relationships/notesMaster" Target="/ppt/notesMasters/notesMaster1.xml" Id="Ra03944964f394e39" /></Relationships>
</file>

<file path=ppt/notesSlides/_rels/notesSlide6.xml.rels>&#65279;<?xml version="1.0" encoding="utf-8"?><Relationships xmlns="http://schemas.openxmlformats.org/package/2006/relationships"><Relationship Type="http://schemas.openxmlformats.org/officeDocument/2006/relationships/slide" Target="/ppt/slides/slide6.xml" Id="R97a9ff973038478d" /><Relationship Type="http://schemas.openxmlformats.org/officeDocument/2006/relationships/notesMaster" Target="/ppt/notesMasters/notesMaster1.xml" Id="R22fb92b263654ebd" /></Relationships>
</file>

<file path=ppt/notesSlides/_rels/notesSlide7.xml.rels>&#65279;<?xml version="1.0" encoding="utf-8"?><Relationships xmlns="http://schemas.openxmlformats.org/package/2006/relationships"><Relationship Type="http://schemas.openxmlformats.org/officeDocument/2006/relationships/slide" Target="/ppt/slides/slide7.xml" Id="R83f1144305cf4e9d" /><Relationship Type="http://schemas.openxmlformats.org/officeDocument/2006/relationships/notesMaster" Target="/ppt/notesMasters/notesMaster1.xml" Id="R783aff2e291e4581" /></Relationships>
</file>

<file path=ppt/notesSlides/_rels/notesSlide8.xml.rels>&#65279;<?xml version="1.0" encoding="utf-8"?><Relationships xmlns="http://schemas.openxmlformats.org/package/2006/relationships"><Relationship Type="http://schemas.openxmlformats.org/officeDocument/2006/relationships/slide" Target="/ppt/slides/slide8.xml" Id="R75dff27253d94060" /><Relationship Type="http://schemas.openxmlformats.org/officeDocument/2006/relationships/notesMaster" Target="/ppt/notesMasters/notesMaster1.xml" Id="Re38e5cd7f1bc4324" /></Relationships>
</file>

<file path=ppt/notesSlides/_rels/notesSlide9.xml.rels>&#65279;<?xml version="1.0" encoding="utf-8"?><Relationships xmlns="http://schemas.openxmlformats.org/package/2006/relationships"><Relationship Type="http://schemas.openxmlformats.org/officeDocument/2006/relationships/slide" Target="/ppt/slides/slide9.xml" Id="R572cf5fa2ef64ba2" /><Relationship Type="http://schemas.openxmlformats.org/officeDocument/2006/relationships/notesMaster" Target="/ppt/notesMasters/notesMaster1.xml" Id="Rc4d8f0bde771434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13a44b2eb8a4f46" /><Relationship Type="http://schemas.openxmlformats.org/officeDocument/2006/relationships/notesMaster" Target="/ppt/notesMasters/notesMaster1.xml" Id="R7339880cfcbd4be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1add2bb46d44e4a" /><Relationship Type="http://schemas.openxmlformats.org/officeDocument/2006/relationships/notesMaster" Target="/ppt/notesMasters/notesMaster1.xml" Id="R16ca78590d7e454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209c6ee6f864221" /><Relationship Type="http://schemas.openxmlformats.org/officeDocument/2006/relationships/notesMaster" Target="/ppt/notesMasters/notesMaster1.xml" Id="R4109c9eff8be4e2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7ba53abfcf7480b" /><Relationship Type="http://schemas.openxmlformats.org/officeDocument/2006/relationships/notesMaster" Target="/ppt/notesMasters/notesMaster1.xml" Id="R4a8b34cf8035409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12cdcdb8d114db4" /><Relationship Type="http://schemas.openxmlformats.org/officeDocument/2006/relationships/notesMaster" Target="/ppt/notesMasters/notesMaster1.xml" Id="Rbf5c5b4156034c2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7508e6467344eee" /><Relationship Type="http://schemas.openxmlformats.org/officeDocument/2006/relationships/notesMaster" Target="/ppt/notesMasters/notesMaster1.xml" Id="R2b9d42a2a4c3496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46b5b950c4446d4" /><Relationship Type="http://schemas.openxmlformats.org/officeDocument/2006/relationships/notesMaster" Target="/ppt/notesMasters/notesMaster1.xml" Id="R72c18d27c6fd4ab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ffafd43aa6f4d47" /><Relationship Type="http://schemas.openxmlformats.org/officeDocument/2006/relationships/notesMaster" Target="/ppt/notesMasters/notesMaster1.xml" Id="R7ce2b880379d486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334e5a288f24b21" /><Relationship Type="http://schemas.openxmlformats.org/officeDocument/2006/relationships/notesMaster" Target="/ppt/notesMasters/notesMaster1.xml" Id="Rb511141bc2ca46f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a0704e4dbd14b54" /><Relationship Type="http://schemas.openxmlformats.org/officeDocument/2006/relationships/notesMaster" Target="/ppt/notesMasters/notesMaster1.xml" Id="Rfb9f7b1c3e92439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4b8b9a1523b4968" /><Relationship Type="http://schemas.openxmlformats.org/officeDocument/2006/relationships/notesMaster" Target="/ppt/notesMasters/notesMaster1.xml" Id="Rcc3b74fbc7604f2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7ba4a5fce7742cc" /><Relationship Type="http://schemas.openxmlformats.org/officeDocument/2006/relationships/notesMaster" Target="/ppt/notesMasters/notesMaster1.xml" Id="Rbb910ee55025485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4f3fef3572a445f" /><Relationship Type="http://schemas.openxmlformats.org/officeDocument/2006/relationships/notesMaster" Target="/ppt/notesMasters/notesMaster1.xml" Id="R33c36efdc54d4b2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0d9d72644f94152" /><Relationship Type="http://schemas.openxmlformats.org/officeDocument/2006/relationships/notesMaster" Target="/ppt/notesMasters/notesMaster1.xml" Id="R89937fd3704b4ab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edcfd2435124f34" /><Relationship Type="http://schemas.openxmlformats.org/officeDocument/2006/relationships/notesMaster" Target="/ppt/notesMasters/notesMaster1.xml" Id="R1c19ca106f0f40c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Welcome. This deck presents the ontology of existence as stated in Madhyasth Darshan, following Section 1 of the study The Ontology of Coexistence. The study is written from a scientist-technologist standpoint, but the darshan is stated on its own terms first. Core claim to land up front: existence is not matter alone, and not one undifferentiated absolute - it is the ever-present togetherness of Omnipotence and countless real units of nature, each saturated in that ground. Everything else in the deck unfolds from this one picture.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Set up the stakes before the answers. The first five questions are the classic ontological battleground - shared with Advaita Vedanta, Western philosophy, and modern science. The sixth is the epistemic question the study also frames: how can what exists be known, and at what scope? Emphasise that Madhyasth Darshan does not answer these piecemeal: one picture (coexistence) answers all six. The epistemic question gets its payoff mid-deck - the epistemic ladder (what must be understood, from the unit alone up to the whole, to know form, gun, svabhav, and dharma), then realisation in coexistence as where the drive terminates - and the closing slide answers it with the staged method: study, experiment and practice, realisation with conduct-evidence. Flag that we will close the loop at the 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Use this map as the deck’s organising view. Begin with coexistence: Omnipotence and countless units are inseparable without losing their distinction. Follow the unit-side structure through the four aspects, relationships, four orders, and two developmental lines. The body belongs to compositional progression; jeevan is the result of development in an atom. The two meet in the animal and human joint form. T1 marks sentience; T2 and T3 concern awakening and conduct in jeevan.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two-pole structure is the foundation. Key points: Omnipotence is formless, all-pervasive, non-transforming, actionless energy - the translation prints Omnipotence, the study uses Omnipotence. SB lists several names for it (Uniform Energy, Space, Knowledge, Consciousness); caution the audience that Consciousness and Knowledge here do NOT mean a mind that knows - active sentience belongs to jeevan, not to the ground. Second key point: the poles were never separate - separation 'never happens'. Ground is state-complete (state-complete, changeless); saturated nature is state-dynamic (state-dynamic) - so ALL change is unit-activity. The diagram: units are bounded wholes; the distance between them is held in Omnipotence as Space.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Saturation (samprikt) is the ever-present state of nature soaked, submerged, and surrounded in Omnipotence. Omnipotence does not push or act on units. Recognition capability, activeness, and inherent regulation are evident on the unit side. In insentient nature, mutual reflection, recognition, evaluation, and fulfilment are definite; they do not require a human observer. The sentient atom additionally knows and can evidence this coexistence consciously.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Do not present roop, guna, svabhav, and dharma as a static four-field signature. The bearer is definite: a bounded unit with constitution, state, order, and capacities. Form is real, while what another unit encounters is its definite reflection in mutual facing. Guna is the inseparable relative power or effect of the guni. Svabhav is the usefulness or essentiality of that effect according to state, motion, plane, order, and context. Dharma is inseparable innateness and fulfilment, evidenced in participation. In insentient nature these are definite. Mis-evaluation arises only in human living when jeevan, under delusion, takes the body to be the 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Complementarity is actualised as value in mutuality. In material, bio, and animal orders recognition and fulfilment are definite. At the human order evaluation and error enter because jeevan can organise its faculties around body-identification. Awakening does not create new faculties; it aligns knowing, believing, recognising, and fulfilling with coexistence.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four orders are stable modes of participation. Jeevan is present in animal and human joint forms. In animals, species-specific bodily and brain development limits which of jeevan's activities can be expressed through the body. In humans, the bodily medium supports the full range; the distinct problem is delusion and body-identification, which misdirect evaluation. Do not collapse either condition into material emergence of sentience.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completeness drive is built into the design of existence, not an ethic bolted onto matter. Every activity is one inseparable triad - effort, motion, result are three joint aspects, not three sequential steps. Example from SB: sodium and chlorine ions approaching is effort and motion together; the stable salt crystal is the result. Read SB p. 62's compressed chain aloud if time allows - saturation itself is forcefulness, forcefulness is basic impulsion, impulsion is activity, activity is effort-motion-result, and that is development. Each triad term has a teleological goal (restfulness, destination, immortality), and the two atomic paths on the right set up the next slide: the insentient path completes result at T1; the sentient path continues to T2 and T3. NEW: state the drive's span with SB p. 51 - nature is oriented for development and awakening UNTIL realisation in Omnipotence; SB p. 91 calls this bound an existential truth. Role differentiation: development pervades all of nature, awakening occurs in the sentient - insentient units participate by composing bodies and environments without individually completing the drive.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three transitions are developmental milestones mapped to plane shifts. T1: constitutional completeness - immortality of result - sentient jeevan appears; physicochemical to delusional. T2: activity completeness - restfulness of effort - internal cognitive seeking resolves into direct realisation and absolute resolution; delusional to deific. T3: conduct completeness - destination of motion - authentic conduct with living proof; deific to divine. Two cautions from the study: 'delusional' names a developmental stage, not psychiatric illness; and T2's vishram (settlement of internal effort) must not be conflated with the insentient natural-state ease from the unit slide, nor T3 collapsed into T2 - one is internal settlement, the other external destination. NEW: T3 Hindi term corrected to acharanpurnata (both MVD and SB use aacharan purnata; vyavahar purnata appears in neither). Close with the drive statement: the saturated realising the ground it is saturated in - that is the completeness drive.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T1 is the sentience threshold, and it is constitutional rather than neural, molecular, or a position higher on the order chain. The texts describe particle incorporation through hungry and overfull complementarity in a conducive environment; when the required constitution closes, particle count no longer increases or decreases. MVD describes a shift from molecular- and weight-bondage to hope-bondage. The point to retain is textual: the constitutionally complete atom is jeevan, has a finer mode of recognition, and does not decompose with the body.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body is a pranic composition and the expression medium; jeevan is the constitutionally complete sentient atom and bearer of all five faculties and ten activities. Animal bodily and brain development constrains expression. The human bodily medium can support the full range, while delusion can still make jeevan identify as the body. The body does not produce sentience, and bodily limitation is not the same as human mis-evaluation.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All five faculties and all ten activities belong to jeevan. Their presence must be distinguished from their expression and effective organisation. Animal bodies limit expression through the bodily and neural medium. Humans possess the bodily medium for the full range, but body-delusion leaves only four and a half effectively organised before awakening. Study provides understanding; practice tests, evidences, and stabilises that understanding. Practice does not manufacture dormant or missing faculties.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Orderliness is self-regulation in saturated units, not an external command. Material, bio, and animal recognition and fulfilment are definite; an animal body's expressive limits do not introduce ontological indeterminacy or evaluative error. Justice becomes necessary in human living because jeevan can mis-evaluate under delusion. Awakening aligns its existing evaluative capacity with justice, dharma, truth, and coexistence.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Read the left ladder as widening mutual context, not a progression from an isolated unit. Form is real bounded structure and is encountered through definite reflection in mutual facing. Guna is evident as effects in mutuality. Svabhav requires state, motion, plane, and order. Dharma is evidenced through whole-order fulfilment. The right ladder shows how jeevan understands and evidences these scopes. Human error belongs to deluded evaluation, not to indeterminacy in the reality reflected.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is the telos slide - where the completeness drive terminates. The paper's 1.13 is Realisation in coexistence; the former four-senses taxonomy has been removed from the study - the vocabulary discipline now lives in Editorial Notes and the glossary (gyan names intelligibility in Omnipotence, the saturation bond - not a mind that knows; Realisation Knowledge for orderliness in every unit, 1.1; gyan udghatan for unfolding through awakened jeevan, 1.7; gyan-avastha for the fourth order, 1.5). Walk the slide: intro states the termination - not Omnipotence becoming a knower, but awakened jeevan enacting what was latent in the bond; realisation itself is the form of awakening, and recognition and fulfilment then constitute authenticity (SB p. 81). Card 1: realisation is anand - verity chain, MVD pp. 14-15 - and knowledge itself, since what is realised is the ground the unit was always saturated in. Cards 2-4: the AVD p. 217 identity - knowledge in projection (authenticity: gyan-vivek-vigyan, unfolding as gyan udghatan), knower in reflection (jeevan full of realisation; buddhi's reflection toward atma yields atma-bodh and realisation in coexistence together, MVD pp. 286-287), knowable as existence (nature saturated in Omnipotence). Guardrail: uniformity of knowledge, knower, and knowable in coexistence names coordinated roles in one bond - NOT merger into a universal knower; the knower remains distinct jeevan. This is the hinge against the Advaita chit reading (paper 5.6).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culmination slide - give it time and let it land. The drive that opened on slide 8 in every atom ends here, in people. Effort settled in realisation is T2 (restfulness of effort, anubhav); understanding proven in daily conduct is T3. The four goals land at their four levels: resolution in every person, prosperity in every family (samriddhi), fearlessness and trust in society (abhay), coexistence with all of nature (sah-astitva). An undivided society  in universal orderliness is their composed form. Tradition: each generation raised into the same understanding through education-sanskar - the humane tradition  that carries on. Highlight the design point: this is not an ideal bolted onto matter - the ontology is such that the progression is designed to arrive here. Development is definite, laws inherent to being (MVD p. 5); the three completenesses are designed stages toward which units are meant (SB pp. 50-52); the drive is built into the design of existence (paper 1.6); nature saturated in Omnipotence is bound for development until realisation in Omnipotence (SB pp. 51, 91). An awakened human tradition is what existence's own progression delivers. Close the arc: what is saturated in the ground has come to realise the ground, and the whole of nature stands fulfilled and evident in coexistence (SB pp. 51, 81; JV p. 61; MVD pp. 14-15).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Close the loop: existence is eternal coexistence; definite bounded units are real bearers whose form, guna, svabhav, and dharma become evident through mutuality. Material reflection and fulfilment are definite. Jeevan is not produced by the body: animal bodily development limits expression, while human mis-evaluation arises from body-identification. Study and self-examination bring understanding; practice tests, evidences, and stabilises it in conduct rather than creating jeevan's faculties.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cd952b794a14725"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dbf75d9debf4f6f" /><Relationship Type="http://schemas.openxmlformats.org/officeDocument/2006/relationships/slideLayout" Target="/ppt/slideLayouts/slideLayout1.xml" Id="R18d84c5e869a473e"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18d84c5e869a473e"/>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5e9d397454b4679" /><Relationship Type="http://schemas.openxmlformats.org/officeDocument/2006/relationships/notesSlide" Target="/ppt/notesSlides/notesSlide1.xml" Id="R50f4f2e3cdc9442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afe402cf2c94790" /><Relationship Type="http://schemas.openxmlformats.org/officeDocument/2006/relationships/notesSlide" Target="/ppt/notesSlides/notesSlide2.xml" Id="R9d3ac11e150640b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9373703d1fe4548" /><Relationship Type="http://schemas.openxmlformats.org/officeDocument/2006/relationships/image" Target="/ppt/media/image.png" Id="R60eabc6028aa480b" /><Relationship Type="http://schemas.openxmlformats.org/officeDocument/2006/relationships/notesSlide" Target="/ppt/notesSlides/notesSlide3.xml" Id="Rc9118596ebd6445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6fdad5934eb4f57" /><Relationship Type="http://schemas.openxmlformats.org/officeDocument/2006/relationships/image" Target="/ppt/media/image2.png" Id="R19e19323847949a2" /><Relationship Type="http://schemas.openxmlformats.org/officeDocument/2006/relationships/notesSlide" Target="/ppt/notesSlides/notesSlide4.xml" Id="Rc725fadc2e5b4c3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ecd023e4bde414c" /><Relationship Type="http://schemas.openxmlformats.org/officeDocument/2006/relationships/notesSlide" Target="/ppt/notesSlides/notesSlide5.xml" Id="R53131be4a071494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f6bf886003e499e" /><Relationship Type="http://schemas.openxmlformats.org/officeDocument/2006/relationships/image" Target="/ppt/media/image3.png" Id="R42c2e34c59974a9e" /><Relationship Type="http://schemas.openxmlformats.org/officeDocument/2006/relationships/image" Target="/ppt/media/image4.png" Id="R9af2e785855e4fe5" /><Relationship Type="http://schemas.openxmlformats.org/officeDocument/2006/relationships/image" Target="/ppt/media/image5.png" Id="R095125ef378c4d21" /><Relationship Type="http://schemas.openxmlformats.org/officeDocument/2006/relationships/notesSlide" Target="/ppt/notesSlides/notesSlide6.xml" Id="Rf4f36ea02124451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1e82880286b4118" /><Relationship Type="http://schemas.openxmlformats.org/officeDocument/2006/relationships/notesSlide" Target="/ppt/notesSlides/notesSlide7.xml" Id="R9dbd9955424f46d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20c61674fad4b3c" /><Relationship Type="http://schemas.openxmlformats.org/officeDocument/2006/relationships/notesSlide" Target="/ppt/notesSlides/notesSlide8.xml" Id="Rae8d1479c2684c9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979af04db684322" /><Relationship Type="http://schemas.openxmlformats.org/officeDocument/2006/relationships/notesSlide" Target="/ppt/notesSlides/notesSlide9.xml" Id="R0b3313dac83b4f4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06d6800b8af432a" /><Relationship Type="http://schemas.openxmlformats.org/officeDocument/2006/relationships/notesSlide" Target="/ppt/notesSlides/notesSlide10.xml" Id="R604b714d6fa7492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7f218363e614b7e" /><Relationship Type="http://schemas.openxmlformats.org/officeDocument/2006/relationships/notesSlide" Target="/ppt/notesSlides/notesSlide11.xml" Id="Reb634bf6dcc7407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85e7747d2334e04" /><Relationship Type="http://schemas.openxmlformats.org/officeDocument/2006/relationships/notesSlide" Target="/ppt/notesSlides/notesSlide12.xml" Id="R8331ffc5fca6417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ac6da1929f247f8" /><Relationship Type="http://schemas.openxmlformats.org/officeDocument/2006/relationships/notesSlide" Target="/ppt/notesSlides/notesSlide13.xml" Id="Re7972fce80b848d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35de91efd214739" /><Relationship Type="http://schemas.openxmlformats.org/officeDocument/2006/relationships/notesSlide" Target="/ppt/notesSlides/notesSlide14.xml" Id="Rb9bb9ac7acc1437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18c10fac948349f3" /><Relationship Type="http://schemas.openxmlformats.org/officeDocument/2006/relationships/notesSlide" Target="/ppt/notesSlides/notesSlide15.xml" Id="R516ddb19ab81413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8254d004dce43e4" /><Relationship Type="http://schemas.openxmlformats.org/officeDocument/2006/relationships/notesSlide" Target="/ppt/notesSlides/notesSlide16.xml" Id="R9b494e186d384f7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bf570e811e54e1d" /><Relationship Type="http://schemas.openxmlformats.org/officeDocument/2006/relationships/notesSlide" Target="/ppt/notesSlides/notesSlide17.xml" Id="R4d96abf5c80a477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31fd6dab478841dc" /><Relationship Type="http://schemas.openxmlformats.org/officeDocument/2006/relationships/notesSlide" Target="/ppt/notesSlides/notesSlide18.xml" Id="R9bcd4f7f1b34483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a0e60b2593a4eae" /><Relationship Type="http://schemas.openxmlformats.org/officeDocument/2006/relationships/notesSlide" Target="/ppt/notesSlides/notesSlide19.xml" Id="Rae89059a72574b2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b973e71bea074461" /><Relationship Type="http://schemas.openxmlformats.org/officeDocument/2006/relationships/notesSlide" Target="/ppt/notesSlides/notesSlide20.xml" Id="R582e107b41cf479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91398b085264e62" /><Relationship Type="http://schemas.openxmlformats.org/officeDocument/2006/relationships/notesSlide" Target="/ppt/notesSlides/notesSlide21.xml" Id="R4f3eb7b51c3f4d2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4bca39ca7e841ae" /><Relationship Type="http://schemas.openxmlformats.org/officeDocument/2006/relationships/notesSlide" Target="/ppt/notesSlides/notesSlide22.xml" Id="R1d46b796d368413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49b080d9d834980" /><Relationship Type="http://schemas.openxmlformats.org/officeDocument/2006/relationships/notesSlide" Target="/ppt/notesSlides/notesSlide23.xml" Id="Rf5d781a9aa05420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796814189a284ac8" /><Relationship Type="http://schemas.openxmlformats.org/officeDocument/2006/relationships/notesSlide" Target="/ppt/notesSlides/notesSlide24.xml" Id="R5beaf49b880e4730" /></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C4A09A56-C06A-4DA2-845C-533692C8CBAB}"/>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A3B3B8E0-C007-453E-9484-36F06E0A35B0}"/>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B4A6DC73-9DD4-429B-836E-5E745E260B3C}"/>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B0BD0DFE-9DD6-46B4-B39A-9F4A0F1D31A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9219F2CE-12E2-48B8-AB73-64455BBD2244}"/>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D0EB3553-BDD7-423A-9C51-AA29ECAF64A1}"/>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E21ECBEE-405E-4661-9F92-E8EC229F435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80F686B5-B839-4741-8B8A-BAF484A45156}"/>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80984AF5-2DA3-4FAF-A8C0-E7AAD625025C}"/>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A3539AB9-47D1-454A-A911-B689860E8D5D}"/>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259BFF1-9363-47E1-A6AB-E6AA2B108E5B}"/>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Ontology of Existence</a:t>
            </a:r>
          </a:p>
        </p:txBody>
      </p:sp>
      <p:sp>
        <p:nvSpPr>
          <p:cNvPr id="27" name="Google Shape;27;p3">
            <a:extLst xmlns:a="http://schemas.openxmlformats.org/drawingml/2006/main">
              <a:ext uri="{FF2B5EF4-FFF2-40B4-BE49-F238E27FC236}">
                <a16:creationId xmlns:a16="http://schemas.microsoft.com/office/drawing/2014/main" id="{CAE154C3-CDBC-46AC-A25E-B0B4D1C3AFFE}"/>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Existence understood as coexistence — nature saturated in Omnipotence</a:t>
            </a:r>
          </a:p>
        </p:txBody>
      </p:sp>
      <p:sp>
        <p:nvSpPr>
          <p:cNvPr id="28" name="Google Shape;28;p3">
            <a:extLst xmlns:a="http://schemas.openxmlformats.org/drawingml/2006/main">
              <a:ext uri="{FF2B5EF4-FFF2-40B4-BE49-F238E27FC236}">
                <a16:creationId xmlns:a16="http://schemas.microsoft.com/office/drawing/2014/main" id="{D92F3F00-883E-4EC5-B822-4D33B8064E98}"/>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§1 of </a:t>
            </a:r>
            <a:r>
              <a:rPr sz="1150" b="0" i="1" u="none" cap="none">
                <a:solidFill>
                  <a:srgbClr val="8E9BC4"/>
                </a:solidFill>
                <a:latin typeface="Calibri"/>
                <a:ea typeface="Calibri"/>
                <a:cs typeface="Calibri"/>
              </a:rPr>
              <a:t>The Ontology of Coexistence</a:t>
            </a:r>
            <a:r>
              <a:rPr sz="1150" b="0" i="0" u="none" cap="none">
                <a:solidFill>
                  <a:srgbClr val="8E9BC4"/>
                </a:solidFill>
                <a:latin typeface="Calibri"/>
                <a:ea typeface="Calibri"/>
                <a:cs typeface="Calibri"/>
              </a:rPr>
              <a:t> (AnalyticMadhyasthDarshan.org)</a:t>
            </a:r>
          </a:p>
        </p:txBody>
      </p:sp>
      <p:sp>
        <p:nvSpPr>
          <p:cNvPr id="29" name="Google Shape;29;p3">
            <a:extLst xmlns:a="http://schemas.openxmlformats.org/drawingml/2006/main">
              <a:ext uri="{FF2B5EF4-FFF2-40B4-BE49-F238E27FC236}">
                <a16:creationId xmlns:a16="http://schemas.microsoft.com/office/drawing/2014/main" id="{73567D25-621A-40E3-9A8D-B8ED3CD990B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 MVD · KD · SB · JV (tr. Rakesh Gupta)</a:t>
            </a:r>
          </a:p>
        </p:txBody>
      </p:sp>
    </p:spTree>
    <p:extLst>
      <p:ext uri="{BB962C8B-B14F-4D97-AF65-F5344CB8AC3E}">
        <p14:creationId xmlns:p14="http://schemas.microsoft.com/office/powerpoint/2010/main" val="27460302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407FB59B-0731-4A56-B8E6-A8B8541F6E4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7A5D4389-AEF0-4FF7-8BFB-3657F16B2E3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82B3B729-524D-490A-B013-78C3F9E43A3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2459094A-77C2-49CC-A82C-F47E70C3977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ORIENTATION</a:t>
            </a:r>
          </a:p>
        </p:txBody>
      </p:sp>
      <p:sp>
        <p:nvSpPr>
          <p:cNvPr id="39" name="Google Shape;39;p4">
            <a:extLst xmlns:a="http://schemas.openxmlformats.org/drawingml/2006/main">
              <a:ext uri="{FF2B5EF4-FFF2-40B4-BE49-F238E27FC236}">
                <a16:creationId xmlns:a16="http://schemas.microsoft.com/office/drawing/2014/main" id="{C0E8F0C6-D5F4-4C8B-80DF-D0AB102FD0B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Argument in Three Movements</a:t>
            </a:r>
          </a:p>
        </p:txBody>
      </p:sp>
      <p:sp>
        <p:nvSpPr>
          <p:cNvPr id="40" name="Google Shape;40;p4">
            <a:extLst xmlns:a="http://schemas.openxmlformats.org/drawingml/2006/main">
              <a:ext uri="{FF2B5EF4-FFF2-40B4-BE49-F238E27FC236}">
                <a16:creationId xmlns:a16="http://schemas.microsoft.com/office/drawing/2014/main" id="{6EB86215-B35D-46A3-BBEC-975674A3FFEB}"/>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A0471FC0-99A0-41F6-B54F-83FC6A43A62D}"/>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real, and how it is ordered  —  coexistence is the bond of an all-pervasive ground and countable units; each definite unit bears form, guna, svabhav, and dharma, whose expression becomes evident in mutuality across four orders.</a:t>
            </a:r>
          </a:p>
        </p:txBody>
      </p:sp>
      <p:sp>
        <p:nvSpPr>
          <p:cNvPr id="43" name="Google Shape;43;p4">
            <a:extLst xmlns:a="http://schemas.openxmlformats.org/drawingml/2006/main">
              <a:ext uri="{FF2B5EF4-FFF2-40B4-BE49-F238E27FC236}">
                <a16:creationId xmlns:a16="http://schemas.microsoft.com/office/drawing/2014/main" id="{BB717CE8-BFA3-4DC4-B52C-38F268D47F1A}"/>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57583903-856B-4342-A7DB-D8B6204C5357}"/>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two developmental lines proceed  —  compositional progression forms larger material and living configurations, while development in the atom can reach constitutional completeness as sentient jeevan. Every activity is effort–motion–result.</a:t>
            </a:r>
          </a:p>
        </p:txBody>
      </p:sp>
      <p:sp>
        <p:nvSpPr>
          <p:cNvPr id="46" name="Google Shape;46;p4">
            <a:extLst xmlns:a="http://schemas.openxmlformats.org/drawingml/2006/main">
              <a:ext uri="{FF2B5EF4-FFF2-40B4-BE49-F238E27FC236}">
                <a16:creationId xmlns:a16="http://schemas.microsoft.com/office/drawing/2014/main" id="{7A31A1C1-232D-437F-9F09-EB6EDF36DBF9}"/>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6099E903-1DDB-4E54-A3AF-ADBD4D936960}"/>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sentient living becomes awakened conduct  —  the human joint form, jeevan’s faculties and activities, the four harmonies, evaluation, realisation, and participation in humane order.</a:t>
            </a:r>
          </a:p>
        </p:txBody>
      </p:sp>
      <p:sp>
        <p:nvSpPr>
          <p:cNvPr id="58" name="Google Shape;58;p4">
            <a:extLst xmlns:a="http://schemas.openxmlformats.org/drawingml/2006/main">
              <a:ext uri="{FF2B5EF4-FFF2-40B4-BE49-F238E27FC236}">
                <a16:creationId xmlns:a16="http://schemas.microsoft.com/office/drawing/2014/main" id="{1BA00983-6D0E-4A72-A441-1F23D636A89B}"/>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One claim — existence is coexistence — carried through three movements. The body’s compositional line and jeevan’s atomic line meet in animal and human living without becoming the same process.</a:t>
            </a:r>
          </a:p>
        </p:txBody>
      </p:sp>
    </p:spTree>
    <p:extLst>
      <p:ext uri="{BB962C8B-B14F-4D97-AF65-F5344CB8AC3E}">
        <p14:creationId xmlns:p14="http://schemas.microsoft.com/office/powerpoint/2010/main" val="6446782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8FCCB266-5F40-440C-BF26-D18600A574D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5DE7DFC-35F1-4422-8047-7D76784C85A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64EBE0E3-0739-41BD-9183-9130958E882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6B2D2AE-D123-43B5-B043-91CB3C41450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4E7EAFE0-2838-4A32-8F3F-767921EF30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Questions Ontology Must Answer</a:t>
            </a:r>
          </a:p>
        </p:txBody>
      </p:sp>
      <p:sp>
        <p:nvSpPr>
          <p:cNvPr id="40" name="Google Shape;40;p4">
            <a:extLst xmlns:a="http://schemas.openxmlformats.org/drawingml/2006/main">
              <a:ext uri="{FF2B5EF4-FFF2-40B4-BE49-F238E27FC236}">
                <a16:creationId xmlns:a16="http://schemas.microsoft.com/office/drawing/2014/main" id="{9D78BA76-8420-442B-A4F2-E3B5D8E34AEC}"/>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60eabc6028aa480b">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29D47B3C-2046-4A1E-AB81-7E472FEF3DF1}"/>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Existence?  —  </a:t>
            </a:r>
            <a:r>
              <a:rPr sz="1300" b="0" i="0" u="none" cap="none">
                <a:solidFill>
                  <a:srgbClr val="5A6377"/>
                </a:solidFill>
                <a:latin typeface="Calibri"/>
                <a:ea typeface="Calibri"/>
                <a:cs typeface="Calibri"/>
              </a:rPr>
              <a:t>Is there one fundamental reality, or many — and how are they related?</a:t>
            </a:r>
          </a:p>
        </p:txBody>
      </p:sp>
      <p:sp>
        <p:nvSpPr>
          <p:cNvPr id="43" name="Google Shape;43;p4">
            <a:extLst xmlns:a="http://schemas.openxmlformats.org/drawingml/2006/main">
              <a:ext uri="{FF2B5EF4-FFF2-40B4-BE49-F238E27FC236}">
                <a16:creationId xmlns:a16="http://schemas.microsoft.com/office/drawing/2014/main" id="{AA41F947-8974-42FA-960E-787E9A0814E7}"/>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60eabc6028aa480b">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061AC35B-7F8C-4BC9-B5F1-0CDD9C404D01}"/>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exists?  —  </a:t>
            </a:r>
            <a:r>
              <a:rPr sz="1300" b="0" i="0" u="none" cap="none">
                <a:solidFill>
                  <a:srgbClr val="5A6377"/>
                </a:solidFill>
                <a:latin typeface="Calibri"/>
                <a:ea typeface="Calibri"/>
                <a:cs typeface="Calibri"/>
              </a:rPr>
              <a:t>What are the basic constituents of reality, and what is each of them?</a:t>
            </a:r>
          </a:p>
        </p:txBody>
      </p:sp>
      <p:sp>
        <p:nvSpPr>
          <p:cNvPr id="46" name="Google Shape;46;p4">
            <a:extLst xmlns:a="http://schemas.openxmlformats.org/drawingml/2006/main">
              <a:ext uri="{FF2B5EF4-FFF2-40B4-BE49-F238E27FC236}">
                <a16:creationId xmlns:a16="http://schemas.microsoft.com/office/drawing/2014/main" id="{CDA87209-7084-4EBB-8BD0-52666EDF744C}"/>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60eabc6028aa480b">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1B6C431-D004-41A0-9A53-95F861AFE29B}"/>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what exists begin?  —  </a:t>
            </a:r>
            <a:r>
              <a:rPr sz="1300" b="0" i="0" u="none" cap="none">
                <a:solidFill>
                  <a:srgbClr val="5A6377"/>
                </a:solidFill>
                <a:latin typeface="Calibri"/>
                <a:ea typeface="Calibri"/>
                <a:cs typeface="Calibri"/>
              </a:rPr>
              <a:t>Did reality originate at some time — or is origination only of configurations?</a:t>
            </a:r>
          </a:p>
        </p:txBody>
      </p:sp>
      <p:sp>
        <p:nvSpPr>
          <p:cNvPr id="49" name="Google Shape;49;p4">
            <a:extLst xmlns:a="http://schemas.openxmlformats.org/drawingml/2006/main">
              <a:ext uri="{FF2B5EF4-FFF2-40B4-BE49-F238E27FC236}">
                <a16:creationId xmlns:a16="http://schemas.microsoft.com/office/drawing/2014/main" id="{ED32D590-8DE8-4C5F-9DB7-133CF6872C0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60eabc6028aa480b">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9D8201F8-92DE-4893-8387-B7A31B4880B6}"/>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the self begin or end with the body?  —  </a:t>
            </a:r>
            <a:r>
              <a:rPr sz="1300" b="0" i="0" u="none" cap="none">
                <a:solidFill>
                  <a:srgbClr val="5A6377"/>
                </a:solidFill>
                <a:latin typeface="Calibri"/>
                <a:ea typeface="Calibri"/>
                <a:cs typeface="Calibri"/>
              </a:rPr>
              <a:t>Is the individual self (jeevan) produced by the body and destroyed with it?</a:t>
            </a:r>
          </a:p>
        </p:txBody>
      </p:sp>
      <p:sp>
        <p:nvSpPr>
          <p:cNvPr id="52" name="Google Shape;52;p4">
            <a:extLst xmlns:a="http://schemas.openxmlformats.org/drawingml/2006/main">
              <a:ext uri="{FF2B5EF4-FFF2-40B4-BE49-F238E27FC236}">
                <a16:creationId xmlns:a16="http://schemas.microsoft.com/office/drawing/2014/main" id="{FDDD7230-CA75-41A7-B897-DDFE7F3D7704}"/>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60eabc6028aa480b">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2AB4FEC0-77A6-4437-8E46-6AF495E78A17}"/>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Is the world finally real?  —  </a:t>
            </a:r>
            <a:r>
              <a:rPr sz="1300" b="0" i="0" u="none" cap="none">
                <a:solidFill>
                  <a:srgbClr val="5A6377"/>
                </a:solidFill>
                <a:latin typeface="Calibri"/>
                <a:ea typeface="Calibri"/>
                <a:cs typeface="Calibri"/>
              </a:rPr>
              <a:t>Is the plural world of units an appearance, or real in its own right?</a:t>
            </a:r>
          </a:p>
        </p:txBody>
      </p:sp>
      <p:sp>
        <p:nvSpPr>
          <p:cNvPr id="55" name="Google Shape;55;p4">
            <a:extLst xmlns:a="http://schemas.openxmlformats.org/drawingml/2006/main">
              <a:ext uri="{FF2B5EF4-FFF2-40B4-BE49-F238E27FC236}">
                <a16:creationId xmlns:a16="http://schemas.microsoft.com/office/drawing/2014/main" id="{956BA3BE-2185-4167-87CC-EDA80D2FE614}"/>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60eabc6028aa480b">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5CDA41BD-579D-4DA4-8E39-03E520FBD973}"/>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can what exists be known?  —  </a:t>
            </a:r>
            <a:r>
              <a:rPr sz="1300" b="0" i="0" u="none" cap="none">
                <a:solidFill>
                  <a:srgbClr val="5A6377"/>
                </a:solidFill>
                <a:latin typeface="Calibri"/>
                <a:ea typeface="Calibri"/>
                <a:cs typeface="Calibri"/>
              </a:rPr>
              <a:t>What must be understood — and at what scope — to know each aspect of reality?</a:t>
            </a:r>
          </a:p>
        </p:txBody>
      </p:sp>
      <p:sp>
        <p:nvSpPr>
          <p:cNvPr id="58" name="Google Shape;58;p4">
            <a:extLst xmlns:a="http://schemas.openxmlformats.org/drawingml/2006/main">
              <a:ext uri="{FF2B5EF4-FFF2-40B4-BE49-F238E27FC236}">
                <a16:creationId xmlns:a16="http://schemas.microsoft.com/office/drawing/2014/main" id="{6716F592-DC15-482D-9756-E73A8E09F557}"/>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Madhyasth Darshan answers each from a single starting point: existence is coexistence.</a:t>
            </a:r>
          </a:p>
        </p:txBody>
      </p:sp>
    </p:spTree>
    <p:extLst>
      <p:ext uri="{BB962C8B-B14F-4D97-AF65-F5344CB8AC3E}">
        <p14:creationId xmlns:p14="http://schemas.microsoft.com/office/powerpoint/2010/main" val="80336593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
            </a: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Conceptual map of §1 · Primary pointers: MVD, KD, SB, and JV</a:t>
            </a:r>
          </a:p>
        </p:txBody>
      </p:sp>
      <p:pic>
        <p:nvPicPr>
          <p:cNvPr id="206" name=""/>
          <p:cNvPicPr>
            <a:picLocks xmlns:a="http://schemas.openxmlformats.org/drawingml/2006/main" noChangeAspect="1"/>
          </p:cNvPicPr>
          <p:nvPr/>
        </p:nvPicPr>
        <p:blipFill>
          <a:blip xmlns:r="http://schemas.openxmlformats.org/officeDocument/2006/relationships" xmlns:a="http://schemas.openxmlformats.org/drawingml/2006/main" r:embed="R19e19323847949a2"/>
          <a:stretch xmlns:a="http://schemas.openxmlformats.org/drawingml/2006/main"/>
        </p:blipFill>
        <p:spPr>
          <a:xfrm xmlns:a="http://schemas.openxmlformats.org/drawingml/2006/main">
            <a:off x="1429494" y="0"/>
            <a:ext cx="6285012" cy="4905375"/>
          </a:xfrm>
          <a:prstGeom xmlns:a="http://schemas.openxmlformats.org/drawingml/2006/main" prst="rect">
            <a:avLst/>
          </a:prstGeom>
        </p:spPr>
      </p:pic>
    </p:spTree>
    <p:extLst>
      <p:ext uri="{BB962C8B-B14F-4D97-AF65-F5344CB8AC3E}">
        <p14:creationId xmlns:p14="http://schemas.microsoft.com/office/powerpoint/2010/main" val="1131895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CF9AD31F-1FDC-4184-BF9F-B33479EDBEE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10117106-F12F-4A8F-8B77-A83FADEA2A6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1FB965B2-FB3F-4DBD-B108-41481400E3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02762154-418C-4F41-BA0C-79B00719E57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TWO INSEPARABLE ASPECTS</a:t>
            </a:r>
          </a:p>
        </p:txBody>
      </p:sp>
      <p:sp>
        <p:nvSpPr>
          <p:cNvPr id="68" name="Google Shape;68;p5">
            <a:extLst xmlns:a="http://schemas.openxmlformats.org/drawingml/2006/main">
              <a:ext uri="{FF2B5EF4-FFF2-40B4-BE49-F238E27FC236}">
                <a16:creationId xmlns:a16="http://schemas.microsoft.com/office/drawing/2014/main" id="{28B0F4A7-FA42-4E2B-85D3-243578C6C2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Is Coexistence</a:t>
            </a:r>
          </a:p>
        </p:txBody>
      </p:sp>
      <p:sp>
        <p:nvSpPr>
          <p:cNvPr id="69" name="Google Shape;69;p5">
            <a:extLst xmlns:a="http://schemas.openxmlformats.org/drawingml/2006/main">
              <a:ext uri="{FF2B5EF4-FFF2-40B4-BE49-F238E27FC236}">
                <a16:creationId xmlns:a16="http://schemas.microsoft.com/office/drawing/2014/main" id="{8EE81CA6-0277-437D-B24C-93E306CB1675}"/>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Omnipotence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Formless, all-pervasive, non-transforming, immeasurable — actionless energy. It performs no actions, yet every unit is energised, regulated, and conserved in it. It has no absent place.</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Units of nature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Formful, active, countable entities — </a:t>
            </a:r>
            <a:r>
              <a:rPr sz="1250" b="0" i="0" u="none" cap="none">
                <a:solidFill>
                  <a:srgbClr val="5A6377"/>
                </a:solidFill>
                <a:latin typeface="Calibri"/>
                <a:ea typeface="Calibri"/>
                <a:cs typeface="Calibri"/>
              </a:rPr>
              <a:t>each bounded from six directions and saturated in Omnipotence, bearing form, guna, svabhav, and dharma, whose expression is evident in definite mutuality.</a:t>
            </a:r>
            <a:r>
              <a:rPr sz="1250" b="0" i="0" u="none" cap="none">
                <a:solidFill>
                  <a:srgbClr val="5A6377"/>
                </a:solidFill>
                <a:latin typeface="Calibri"/>
                <a:ea typeface="Calibri"/>
                <a:cs typeface="Calibri"/>
              </a:rPr>
              <a:t> At the smallest scale, every unit is built from the same basic building block: an atom — a core with parts orbiting it.</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Never two separate poles</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Separation of a unit from the saturated whole “never happens.” The ground is state-complete — without motion, wave, or pressure; nature saturated in it is state-dynamic — all change is unit-activity.</a:t>
            </a:r>
          </a:p>
        </p:txBody>
      </p:sp>
      <p:sp>
        <p:nvSpPr>
          <p:cNvPr id="70" name="Google Shape;70;p5">
            <a:extLst xmlns:a="http://schemas.openxmlformats.org/drawingml/2006/main">
              <a:ext uri="{FF2B5EF4-FFF2-40B4-BE49-F238E27FC236}">
                <a16:creationId xmlns:a16="http://schemas.microsoft.com/office/drawing/2014/main" id="{07B364FE-F3A9-4602-BE10-23EE13FC1C5A}"/>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3CF11A51-F4D6-4164-8D76-DE824295982F}"/>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OMNIPOTENCE — the pervasive ground</a:t>
            </a:r>
          </a:p>
        </p:txBody>
      </p:sp>
      <p:sp>
        <p:nvSpPr>
          <p:cNvPr id="72" name="Google Shape;72;p5">
            <a:extLst xmlns:a="http://schemas.openxmlformats.org/drawingml/2006/main">
              <a:ext uri="{FF2B5EF4-FFF2-40B4-BE49-F238E27FC236}">
                <a16:creationId xmlns:a16="http://schemas.microsoft.com/office/drawing/2014/main" id="{F1BE36E1-5E3F-4DA1-9CFE-44A8E5A456C7}"/>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CFD53BC4-8462-4A7A-8213-3F91CB8C5883}"/>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F2A0E86B-7518-40E5-996B-6BDE3B14F3AC}"/>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5E77BB36-39BD-4E94-A3B8-0F28DBB8A42D}"/>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6B8F9E46-D1B9-4DC0-A1E2-A8E161EF1971}"/>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A9BE6228-332E-435A-8F5D-5376A8AC04E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BECED46B-A48B-4CA7-8EEB-5979D31A9C85}"/>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967E3267-3033-46A1-9B03-D612835829CA}"/>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42DCFFD6-4154-4D29-B043-16479E5425B0}"/>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2243CC16-68B3-4646-877B-AB127F6652A9}"/>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A95501B9-F291-422B-9577-4E7A124D08E9}"/>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59535FAF-3BCF-4D16-BBE3-0838A2B90E5E}"/>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E2D7A9DE-E3E4-4EEB-89B6-D04E44DFDF8D}"/>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98AE6C74-6FE7-42CF-B920-3D93EE020872}"/>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17757948-703B-426E-B870-C36254C1E3EA}"/>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5A0E0607-E161-4E03-AE4A-C1C661B17415}"/>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bounded units in definite mutual facing; form is reflected, while effects, essentiality, and fulfilment are evidenced in coexistence</a:t>
            </a:r>
          </a:p>
        </p:txBody>
      </p:sp>
      <p:sp>
        <p:nvSpPr>
          <p:cNvPr id="88" name="Google Shape;88;p5">
            <a:extLst xmlns:a="http://schemas.openxmlformats.org/drawingml/2006/main">
              <a:ext uri="{FF2B5EF4-FFF2-40B4-BE49-F238E27FC236}">
                <a16:creationId xmlns:a16="http://schemas.microsoft.com/office/drawing/2014/main" id="{D46B3FA3-763A-444D-9E80-B345C67D6CD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“Existence itself is eternally manifest in the form of coexistence” — SB p. 48  ·  MVD pp. 11, 34  ·  JV p. 18</a:t>
            </a:r>
          </a:p>
        </p:txBody>
      </p:sp>
    </p:spTree>
    <p:extLst>
      <p:ext uri="{BB962C8B-B14F-4D97-AF65-F5344CB8AC3E}">
        <p14:creationId xmlns:p14="http://schemas.microsoft.com/office/powerpoint/2010/main" val="3819917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THE THREE ENDOWMENTS</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Saturation: The Ground–Unit Bond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formful unit is soaked, submerged, and surrounded in Omnipotence. Saturation names the ever-present ground–unit bond, not a later transfer or action by the ground. Recognition capability, activeness, and inherent regulation are evident on the unit side within coexistence.</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42c2e34c59974a9e">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Recognition capability</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Complementarity is given in coexistence, not created. In insentient nature, reflection, recognition, and fulfilment occur definitely through the unit's capacity, ability, and receptivity.</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9af2e785855e4fe5">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Activeness</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“Unit + Energy fullness = Activeness.” Inherent energy and basic impulsion make the unit active, appearing as the inseparable triad of effort, motion, and result.</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095125ef378c4d21">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Inherent regulation</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Inherent regulation appears as law and orderliness within the unit’s participation in coexistence — mediative and conserving, not an external statutory command.</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These three endowments describe the unit side of the bond. They do not imply that every unit progresses to T1; constitutional completeness belongs to a specific line of atomic development. — SB pp. 49–62, 69; MVD pp. 26, 32–33, 40; JV p. 150</a:t>
            </a:r>
          </a:p>
        </p:txBody>
      </p:sp>
    </p:spTree>
    <p:extLst>
      <p:ext uri="{BB962C8B-B14F-4D97-AF65-F5344CB8AC3E}">
        <p14:creationId xmlns:p14="http://schemas.microsoft.com/office/powerpoint/2010/main" val="113158834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0569449A-A274-4E16-B333-34D5BF6BC46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3AFB5F38-1232-4E65-9C9C-1D83AB32ACF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FF1B1BEA-AE4E-424A-BB17-1D5511850CC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6AC83D93-D9D8-41DE-88E0-DCC165A715A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a:t>
            </a:r>
          </a:p>
        </p:txBody>
      </p:sp>
      <p:sp>
        <p:nvSpPr>
          <p:cNvPr id="125" name="Google Shape;125;p7">
            <a:extLst xmlns:a="http://schemas.openxmlformats.org/drawingml/2006/main">
              <a:ext uri="{FF2B5EF4-FFF2-40B4-BE49-F238E27FC236}">
                <a16:creationId xmlns:a16="http://schemas.microsoft.com/office/drawing/2014/main" id="{5D78DF99-89E5-4140-8364-D7EDDB245235}"/>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Structure Constrains; Mutuality Makes Evident</a:t>
            </a:r>
          </a:p>
        </p:txBody>
      </p:sp>
      <p:sp>
        <p:nvSpPr>
          <p:cNvPr id="126" name="Google Shape;126;p7">
            <a:extLst xmlns:a="http://schemas.openxmlformats.org/drawingml/2006/main">
              <a:ext uri="{FF2B5EF4-FFF2-40B4-BE49-F238E27FC236}">
                <a16:creationId xmlns:a16="http://schemas.microsoft.com/office/drawing/2014/main" id="{F22EFADD-FB38-41E2-B926-6A30C43AF90D}"/>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3F928903-C6BA-4173-B798-65605EA410F9}"/>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0713A3FF-FCE5-4232-821E-146CB3B8BD6E}"/>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BC55DAA0-0B8E-474D-9049-67DCC4F87E59}"/>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3279881E-8015-4698-B672-C8EC5DD4EFD2}"/>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Form</a:t>
            </a:r>
          </a:p>
        </p:txBody>
      </p:sp>
      <p:sp>
        <p:nvSpPr>
          <p:cNvPr id="131" name="Google Shape;131;p7">
            <a:extLst xmlns:a="http://schemas.openxmlformats.org/drawingml/2006/main">
              <a:ext uri="{FF2B5EF4-FFF2-40B4-BE49-F238E27FC236}">
                <a16:creationId xmlns:a16="http://schemas.microsoft.com/office/drawing/2014/main" id="{EE46E617-9E7A-47CE-AF1F-A7D00B26D4A0}"/>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 boundary and configuration. Atomic constitution and motion-path differentiate material form; mutual facing presents its definite reflection.</a:t>
            </a:r>
          </a:p>
        </p:txBody>
      </p:sp>
      <p:sp>
        <p:nvSpPr>
          <p:cNvPr id="132" name="Google Shape;132;p7">
            <a:extLst xmlns:a="http://schemas.openxmlformats.org/drawingml/2006/main">
              <a:ext uri="{FF2B5EF4-FFF2-40B4-BE49-F238E27FC236}">
                <a16:creationId xmlns:a16="http://schemas.microsoft.com/office/drawing/2014/main" id="{B3F006A5-0C82-4032-BFF7-E7C00B02D836}"/>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FBA67456-B9AC-4516-8676-E2B2ACC31A2C}"/>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402D276D-FADF-4712-AADA-5E15FD18B8F7}"/>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74BA38F1-4DC9-4B82-918B-A0F226961D0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7C820C43-92C7-48AA-8ACE-A42BB6B479D8}"/>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Properties</a:t>
            </a:r>
          </a:p>
        </p:txBody>
      </p:sp>
      <p:sp>
        <p:nvSpPr>
          <p:cNvPr id="137" name="Google Shape;137;p7">
            <a:extLst xmlns:a="http://schemas.openxmlformats.org/drawingml/2006/main">
              <a:ext uri="{FF2B5EF4-FFF2-40B4-BE49-F238E27FC236}">
                <a16:creationId xmlns:a16="http://schemas.microsoft.com/office/drawing/2014/main" id="{6197620A-1878-4EB3-82D6-22E6EEAFF152}"/>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bearer has definite capacity. Guna is the relative effect that becomes active when units meet under definite conditions.</a:t>
            </a:r>
          </a:p>
        </p:txBody>
      </p:sp>
      <p:sp>
        <p:nvSpPr>
          <p:cNvPr id="138" name="Google Shape;138;p7">
            <a:extLst xmlns:a="http://schemas.openxmlformats.org/drawingml/2006/main">
              <a:ext uri="{FF2B5EF4-FFF2-40B4-BE49-F238E27FC236}">
                <a16:creationId xmlns:a16="http://schemas.microsoft.com/office/drawing/2014/main" id="{ABAAA305-E921-4E2C-9495-F35ACED1541E}"/>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68872607-854C-40F0-8E05-997A43DC5F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E8ECDDF5-B5FF-4101-A5F1-2C52F5D4AECB}"/>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23A623C9-754E-46F5-970A-0BC5E748AA8A}"/>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B6835301-94E6-408C-8C06-AAAE5CC2BEA1}"/>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Essential nature</a:t>
            </a:r>
          </a:p>
        </p:txBody>
      </p:sp>
      <p:sp>
        <p:nvSpPr>
          <p:cNvPr id="143" name="Google Shape;143;p7">
            <a:extLst xmlns:a="http://schemas.openxmlformats.org/drawingml/2006/main">
              <a:ext uri="{FF2B5EF4-FFF2-40B4-BE49-F238E27FC236}">
                <a16:creationId xmlns:a16="http://schemas.microsoft.com/office/drawing/2014/main" id="{3010F32F-C47C-46C9-AE74-07AAECCD40F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Svabhav is the usefulness of the manifested effect according to state, motion, plane, order, and mutual context.</a:t>
            </a:r>
          </a:p>
        </p:txBody>
      </p:sp>
      <p:sp>
        <p:nvSpPr>
          <p:cNvPr id="144" name="Google Shape;144;p7">
            <a:extLst xmlns:a="http://schemas.openxmlformats.org/drawingml/2006/main">
              <a:ext uri="{FF2B5EF4-FFF2-40B4-BE49-F238E27FC236}">
                <a16:creationId xmlns:a16="http://schemas.microsoft.com/office/drawing/2014/main" id="{979C8C10-E5C9-40FA-BEFF-C9C37F38BCD2}"/>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B7BE9008-3C5F-4DE6-B686-7614C71C891D}"/>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2544BADA-8352-4FD8-AAAE-F1A46BB7D4D9}"/>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F167243D-1618-4FCA-9349-F9976377FB23}"/>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7EA35A5F-6CC8-4E99-909D-22E5F8E152BE}"/>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Dharma</a:t>
            </a:r>
          </a:p>
        </p:txBody>
      </p:sp>
      <p:sp>
        <p:nvSpPr>
          <p:cNvPr id="149" name="Google Shape;149;p7">
            <a:extLst xmlns:a="http://schemas.openxmlformats.org/drawingml/2006/main">
              <a:ext uri="{FF2B5EF4-FFF2-40B4-BE49-F238E27FC236}">
                <a16:creationId xmlns:a16="http://schemas.microsoft.com/office/drawing/2014/main" id="{264C2BCA-8EAD-4F4B-A664-235EDD8F95DE}"/>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Unit innateness and order-specific fulfilment. Existence is universal; growth, hope to live, and happiness are cumulative.</a:t>
            </a:r>
          </a:p>
        </p:txBody>
      </p:sp>
      <p:sp>
        <p:nvSpPr>
          <p:cNvPr id="150" name="Google Shape;150;p7">
            <a:extLst xmlns:a="http://schemas.openxmlformats.org/drawingml/2006/main">
              <a:ext uri="{FF2B5EF4-FFF2-40B4-BE49-F238E27FC236}">
                <a16:creationId xmlns:a16="http://schemas.microsoft.com/office/drawing/2014/main" id="{9E8F3EB5-A45D-439A-AC12-BFF96C206909}"/>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A0B8B063-BA19-4446-84D1-9D5E60BA0CF4}"/>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Not a particle-count reduction: constitution differentiates possible expression; mutuality manifests guna and svabhav; higher-order dharma remains taught ontological content.</a:t>
            </a:r>
          </a:p>
        </p:txBody>
      </p:sp>
      <p:sp>
        <p:nvSpPr>
          <p:cNvPr id="152" name="Google Shape;152;p7">
            <a:extLst xmlns:a="http://schemas.openxmlformats.org/drawingml/2006/main">
              <a:ext uri="{FF2B5EF4-FFF2-40B4-BE49-F238E27FC236}">
                <a16:creationId xmlns:a16="http://schemas.microsoft.com/office/drawing/2014/main" id="{0AC48ED1-74CE-491C-8680-B52C6D12D91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11, 42, 47, 50–51  ·  SB pp. 55, 71, 86</a:t>
            </a:r>
          </a:p>
        </p:txBody>
      </p:sp>
    </p:spTree>
    <p:extLst>
      <p:ext uri="{BB962C8B-B14F-4D97-AF65-F5344CB8AC3E}">
        <p14:creationId xmlns:p14="http://schemas.microsoft.com/office/powerpoint/2010/main" val="72654822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9F84B1D-6DC1-4215-A195-CAF7397FD44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A834E3FE-30D5-4FCB-A5E0-5C23B0ABBE5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8F6694AE-E9BE-4AF4-A66C-C7880F700EB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5D20F6CF-695A-4151-A950-52AC4194D34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COMPLEMENTARITY AS VALUE</a:t>
            </a:r>
          </a:p>
        </p:txBody>
      </p:sp>
      <p:sp>
        <p:nvSpPr>
          <p:cNvPr id="162" name="Google Shape;162;p8">
            <a:extLst xmlns:a="http://schemas.openxmlformats.org/drawingml/2006/main">
              <a:ext uri="{FF2B5EF4-FFF2-40B4-BE49-F238E27FC236}">
                <a16:creationId xmlns:a16="http://schemas.microsoft.com/office/drawing/2014/main" id="{C5DD056F-A08E-4F2D-B92E-0DBA8EE8776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Units in Relationships</a:t>
            </a:r>
          </a:p>
        </p:txBody>
      </p:sp>
      <p:sp>
        <p:nvSpPr>
          <p:cNvPr id="163" name="Google Shape;163;p8">
            <a:extLst xmlns:a="http://schemas.openxmlformats.org/drawingml/2006/main">
              <a:ext uri="{FF2B5EF4-FFF2-40B4-BE49-F238E27FC236}">
                <a16:creationId xmlns:a16="http://schemas.microsoft.com/office/drawing/2014/main" id="{DEC51957-129A-43E2-8B54-6B0E245C25B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“Nothing is isolated — that is the principle” (JV p. 43). Complementarity is actualised as value in mutuality. Its expression is definite in material, bio, and animal orders; human evaluation may err under body-identification.</a:t>
            </a:r>
          </a:p>
        </p:txBody>
      </p:sp>
      <p:sp>
        <p:nvSpPr>
          <p:cNvPr id="164" name="Google Shape;164;p8">
            <a:extLst xmlns:a="http://schemas.openxmlformats.org/drawingml/2006/main">
              <a:ext uri="{FF2B5EF4-FFF2-40B4-BE49-F238E27FC236}">
                <a16:creationId xmlns:a16="http://schemas.microsoft.com/office/drawing/2014/main" id="{55F81FC9-9FE5-4D64-83C5-B9CD09FA0F0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726D1099-0694-4291-A549-3F3CA5BBB846}"/>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Relationship</a:t>
            </a:r>
          </a:p>
        </p:txBody>
      </p:sp>
      <p:sp>
        <p:nvSpPr>
          <p:cNvPr id="166" name="Google Shape;166;p8">
            <a:extLst xmlns:a="http://schemas.openxmlformats.org/drawingml/2006/main">
              <a:ext uri="{FF2B5EF4-FFF2-40B4-BE49-F238E27FC236}">
                <a16:creationId xmlns:a16="http://schemas.microsoft.com/office/drawing/2014/main" id="{F24C4CA3-F0EB-483B-BCA3-39B1047C9273}"/>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whose expectations and fulfilment are definite in the relation's completeness — e.g. parent and child.</a:t>
            </a:r>
          </a:p>
        </p:txBody>
      </p:sp>
      <p:sp>
        <p:nvSpPr>
          <p:cNvPr id="167" name="Google Shape;167;p8">
            <a:extLst xmlns:a="http://schemas.openxmlformats.org/drawingml/2006/main">
              <a:ext uri="{FF2B5EF4-FFF2-40B4-BE49-F238E27FC236}">
                <a16:creationId xmlns:a16="http://schemas.microsoft.com/office/drawing/2014/main" id="{F87EA41D-F266-427C-B296-8A5DE68EA8C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60A8DB29-8139-41D5-B02E-FB03B751324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Association</a:t>
            </a:r>
          </a:p>
        </p:txBody>
      </p:sp>
      <p:sp>
        <p:nvSpPr>
          <p:cNvPr id="169" name="Google Shape;169;p8">
            <a:extLst xmlns:a="http://schemas.openxmlformats.org/drawingml/2006/main">
              <a:ext uri="{FF2B5EF4-FFF2-40B4-BE49-F238E27FC236}">
                <a16:creationId xmlns:a16="http://schemas.microsoft.com/office/drawing/2014/main" id="{58D0CFD6-5F25-4801-94B8-9739BAA03AF7}"/>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where expectations are voluntary — e.g. neighbours who share a wall.</a:t>
            </a:r>
          </a:p>
        </p:txBody>
      </p:sp>
      <p:sp>
        <p:nvSpPr>
          <p:cNvPr id="170" name="Google Shape;170;p8">
            <a:extLst xmlns:a="http://schemas.openxmlformats.org/drawingml/2006/main">
              <a:ext uri="{FF2B5EF4-FFF2-40B4-BE49-F238E27FC236}">
                <a16:creationId xmlns:a16="http://schemas.microsoft.com/office/drawing/2014/main" id="{1C053D7A-1774-40CE-865A-219A0A24EB1F}"/>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Essentiality is value as expressed in mutuality. Object values — utility and art — operate at every order; jeevan, human, relationship, and expression values presuppose the knowledge order.</a:t>
            </a:r>
          </a:p>
        </p:txBody>
      </p:sp>
      <p:sp>
        <p:nvSpPr>
          <p:cNvPr id="171" name="Google Shape;171;p8">
            <a:extLst xmlns:a="http://schemas.openxmlformats.org/drawingml/2006/main">
              <a:ext uri="{FF2B5EF4-FFF2-40B4-BE49-F238E27FC236}">
                <a16:creationId xmlns:a16="http://schemas.microsoft.com/office/drawing/2014/main" id="{6DC04A20-B918-49D0-976D-BB143E75280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7EF3F5F5-0E78-431C-9E98-48BD1377FB4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a:t>
            </a:r>
          </a:p>
        </p:txBody>
      </p:sp>
      <p:sp>
        <p:nvSpPr>
          <p:cNvPr id="173" name="Google Shape;173;p8">
            <a:extLst xmlns:a="http://schemas.openxmlformats.org/drawingml/2006/main">
              <a:ext uri="{FF2B5EF4-FFF2-40B4-BE49-F238E27FC236}">
                <a16:creationId xmlns:a16="http://schemas.microsoft.com/office/drawing/2014/main" id="{95912ACF-7BCA-480C-8FF9-60A35610397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155904C9-1DD3-42F5-ABC1-BB9BE21D6D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81CE8F5-930E-47CC-8DA6-8BBA7F52372C}"/>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Believing</a:t>
            </a:r>
          </a:p>
        </p:txBody>
      </p:sp>
      <p:sp>
        <p:nvSpPr>
          <p:cNvPr id="176" name="Google Shape;176;p8">
            <a:extLst xmlns:a="http://schemas.openxmlformats.org/drawingml/2006/main">
              <a:ext uri="{FF2B5EF4-FFF2-40B4-BE49-F238E27FC236}">
                <a16:creationId xmlns:a16="http://schemas.microsoft.com/office/drawing/2014/main" id="{924D7205-9C4A-4398-AEDB-A16F6BB592B9}"/>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A7897A17-DDF7-4BA9-A872-FBAA48BA625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FC8B7616-7F8F-48DE-A376-C19FEF25E19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9" name="Google Shape;179;p8">
            <a:extLst xmlns:a="http://schemas.openxmlformats.org/drawingml/2006/main">
              <a:ext uri="{FF2B5EF4-FFF2-40B4-BE49-F238E27FC236}">
                <a16:creationId xmlns:a16="http://schemas.microsoft.com/office/drawing/2014/main" id="{B5301D89-98C7-4730-A3C7-45B49173806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7D8FBE74-AD68-4587-88A8-38F7688A68AA}"/>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7BCF193F-55BB-4B2F-8D67-9B8FDA5F3DC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82" name="Google Shape;182;p8">
            <a:extLst xmlns:a="http://schemas.openxmlformats.org/drawingml/2006/main">
              <a:ext uri="{FF2B5EF4-FFF2-40B4-BE49-F238E27FC236}">
                <a16:creationId xmlns:a16="http://schemas.microsoft.com/office/drawing/2014/main" id="{39262F35-7220-4EB8-9BA0-C274AA53D0B7}"/>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Material, bio, and animal fulfilment is definite. Human living can mis-evaluate this chain under body-delusion; understanding restores alignment.</a:t>
            </a:r>
          </a:p>
        </p:txBody>
      </p:sp>
      <p:sp>
        <p:nvSpPr>
          <p:cNvPr id="183" name="Google Shape;183;p8">
            <a:extLst xmlns:a="http://schemas.openxmlformats.org/drawingml/2006/main">
              <a:ext uri="{FF2B5EF4-FFF2-40B4-BE49-F238E27FC236}">
                <a16:creationId xmlns:a16="http://schemas.microsoft.com/office/drawing/2014/main" id="{F7EB63A2-CA96-4FC1-B350-7EAC1CD701F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61–62, 27  ·  SB pp. 50, 53, 61  ·  JV p. 69</a:t>
            </a:r>
          </a:p>
        </p:txBody>
      </p:sp>
    </p:spTree>
    <p:extLst>
      <p:ext uri="{BB962C8B-B14F-4D97-AF65-F5344CB8AC3E}">
        <p14:creationId xmlns:p14="http://schemas.microsoft.com/office/powerpoint/2010/main" val="207647850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Four Orders of Nature</a:t>
            </a:r>
          </a:p>
        </p:txBody>
      </p:sp>
      <p:graphicFrame>
        <p:nvGraphicFramePr>
          <p:cNvPr id="204" name="Google Shape;194;p9"/>
          <p:cNvGraphicFramePr/>
          <p:nvPr/>
        </p:nvGraphicFramePr>
        <p:xfrm>
          <a:off xmlns:a="http://schemas.openxmlformats.org/drawingml/2006/main" x="640080" y="1325880"/>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Order</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Svabhav in mutuality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Dharma (cumulative)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Status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Material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integration–disintegration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existence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Bio (pranic)</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vitalising–devitalising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growth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Animal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cruel–uncruel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hope to live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bodily expression limited</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Knowledge (human)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fortitude, courage, generosity, kindness, grace, compassion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happiness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full bodily medium; awakening possible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069080"/>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Jeevan is present in animal and human joint forms. In animals, bodily and brain development limits how its faculties can be expressed. In humans, the bodily medium supports the full range, but delusion can misdirect evaluation. Neither body produces sentience.</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179  ·  MVD pp. 5, 8, 13, 115  ·  JV p. 44</a:t>
            </a:r>
          </a:p>
        </p:txBody>
      </p:sp>
    </p:spTree>
    <p:extLst>
      <p:ext uri="{BB962C8B-B14F-4D97-AF65-F5344CB8AC3E}">
        <p14:creationId xmlns:p14="http://schemas.microsoft.com/office/powerpoint/2010/main" val="11318954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F0DA4043-B666-4E7D-A93C-E7625947B5A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C0AF2011-663D-4F60-A3BA-D67A0D8A9AC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28856720-58C7-47B1-AA1D-4F8C1A2B92D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17341D54-7463-4E7E-A13B-67037ABA21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TWO DEVELOPMENTS · ONE ACTIVITY STRUCTURE</a:t>
            </a:r>
          </a:p>
        </p:txBody>
      </p:sp>
      <p:sp>
        <p:nvSpPr>
          <p:cNvPr id="207" name="Google Shape;207;p10">
            <a:extLst xmlns:a="http://schemas.openxmlformats.org/drawingml/2006/main">
              <a:ext uri="{FF2B5EF4-FFF2-40B4-BE49-F238E27FC236}">
                <a16:creationId xmlns:a16="http://schemas.microsoft.com/office/drawing/2014/main" id="{EE953502-E474-4782-AC78-2593793D0ED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Developments, One Activity Structure</a:t>
            </a:r>
          </a:p>
        </p:txBody>
      </p:sp>
      <p:sp>
        <p:nvSpPr>
          <p:cNvPr id="208" name="Google Shape;208;p10">
            <a:extLst xmlns:a="http://schemas.openxmlformats.org/drawingml/2006/main">
              <a:ext uri="{FF2B5EF4-FFF2-40B4-BE49-F238E27FC236}">
                <a16:creationId xmlns:a16="http://schemas.microsoft.com/office/drawing/2014/main" id="{988874DA-3F86-41E0-8A36-434B09CA06D0}"/>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Madhyasth Darshan distinguishes two developments. Compositional progression joins particles, atoms, molecules, cells, and bodies into larger configurations. Development in an atom can reach constitutional completeness as jeevan. These lines meet in living joint forms but remain distinct. Across both, activity is one inseparable triad: effort, motion, and result.</a:t>
            </a:r>
          </a:p>
        </p:txBody>
      </p:sp>
      <p:sp>
        <p:nvSpPr>
          <p:cNvPr id="209" name="Google Shape;209;p10">
            <a:extLst xmlns:a="http://schemas.openxmlformats.org/drawingml/2006/main">
              <a:ext uri="{FF2B5EF4-FFF2-40B4-BE49-F238E27FC236}">
                <a16:creationId xmlns:a16="http://schemas.microsoft.com/office/drawing/2014/main" id="{3C4ACB12-DD4C-4631-BAC2-EC544D0D232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E7B067CB-714B-4A16-BA1E-67E923D644F6}"/>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Effort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internal side</a:t>
            </a:r>
          </a:p>
        </p:txBody>
      </p:sp>
      <p:sp>
        <p:nvSpPr>
          <p:cNvPr id="211" name="Google Shape;211;p10">
            <a:extLst xmlns:a="http://schemas.openxmlformats.org/drawingml/2006/main">
              <a:ext uri="{FF2B5EF4-FFF2-40B4-BE49-F238E27FC236}">
                <a16:creationId xmlns:a16="http://schemas.microsoft.com/office/drawing/2014/main" id="{74644F2C-CA1F-44E3-A3A8-36251A9E3FD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restfulness of effort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effort comes to rest in realisation</a:t>
            </a:r>
          </a:p>
        </p:txBody>
      </p:sp>
      <p:sp>
        <p:nvSpPr>
          <p:cNvPr id="212" name="Google Shape;212;p10">
            <a:extLst xmlns:a="http://schemas.openxmlformats.org/drawingml/2006/main">
              <a:ext uri="{FF2B5EF4-FFF2-40B4-BE49-F238E27FC236}">
                <a16:creationId xmlns:a16="http://schemas.microsoft.com/office/drawing/2014/main" id="{65CF61B0-F78C-4DFD-983F-71AC96683A0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2AEFF54-A97B-4FEA-B904-064D0F28181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Motion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external side</a:t>
            </a:r>
          </a:p>
        </p:txBody>
      </p:sp>
      <p:sp>
        <p:nvSpPr>
          <p:cNvPr id="214" name="Google Shape;214;p10">
            <a:extLst xmlns:a="http://schemas.openxmlformats.org/drawingml/2006/main">
              <a:ext uri="{FF2B5EF4-FFF2-40B4-BE49-F238E27FC236}">
                <a16:creationId xmlns:a16="http://schemas.microsoft.com/office/drawing/2014/main" id="{8822A3BC-F6B8-4DD5-8BFE-02D0BD2D4324}"/>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destination of motion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motion arrives at right conduct</a:t>
            </a:r>
          </a:p>
        </p:txBody>
      </p:sp>
      <p:sp>
        <p:nvSpPr>
          <p:cNvPr id="215" name="Google Shape;215;p10">
            <a:extLst xmlns:a="http://schemas.openxmlformats.org/drawingml/2006/main">
              <a:ext uri="{FF2B5EF4-FFF2-40B4-BE49-F238E27FC236}">
                <a16:creationId xmlns:a16="http://schemas.microsoft.com/office/drawing/2014/main" id="{C1E37470-8E82-4703-AFAB-9F00A17BA30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86AFFF0-4F74-485C-8823-F9CA80F2555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stable outcome</a:t>
            </a:r>
          </a:p>
        </p:txBody>
      </p:sp>
      <p:sp>
        <p:nvSpPr>
          <p:cNvPr id="217" name="Google Shape;217;p10">
            <a:extLst xmlns:a="http://schemas.openxmlformats.org/drawingml/2006/main">
              <a:ext uri="{FF2B5EF4-FFF2-40B4-BE49-F238E27FC236}">
                <a16:creationId xmlns:a16="http://schemas.microsoft.com/office/drawing/2014/main" id="{12BF52F3-A9A4-4295-AA66-6894F712E14D}"/>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immortality of result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result becomes indestructible</a:t>
            </a:r>
          </a:p>
        </p:txBody>
      </p:sp>
      <p:sp>
        <p:nvSpPr>
          <p:cNvPr id="218" name="Google Shape;218;p10">
            <a:extLst xmlns:a="http://schemas.openxmlformats.org/drawingml/2006/main">
              <a:ext uri="{FF2B5EF4-FFF2-40B4-BE49-F238E27FC236}">
                <a16:creationId xmlns:a16="http://schemas.microsoft.com/office/drawing/2014/main" id="{EF7F9E85-311A-4F2F-8331-F4E88266FE9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F7F8A9B1-F55C-4EAD-9545-C07227475411}"/>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38">
                <a:solidFill>
                  <a:srgbClr val="5F6B82"/>
                </a:solidFill>
              </a:defRPr>
            </a:pPr>
            <a:r>
              <a:rPr sz="938">
                <a:solidFill>
                  <a:srgbClr val="5F6B82"/>
                </a:solidFill>
              </a:rPr>
              <a:t>Two developmental lines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Compositional: larger configurations and bodies.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Atomic: some developing atoms reach T1; T2/T3 concern awakened jeevan.</a:t>
            </a:r>
          </a:p>
        </p:txBody>
      </p:sp>
      <p:sp>
        <p:nvSpPr>
          <p:cNvPr id="220" name="Google Shape;220;p10">
            <a:extLst xmlns:a="http://schemas.openxmlformats.org/drawingml/2006/main">
              <a:ext uri="{FF2B5EF4-FFF2-40B4-BE49-F238E27FC236}">
                <a16:creationId xmlns:a16="http://schemas.microsoft.com/office/drawing/2014/main" id="{32D33D92-97E9-4667-A0CC-903566CC5E1C}"/>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“Saturation … itself is forcefulness … basic impulsion … activity … effort-motion-result … development” — SB p. 62; also SB pp. 51, 53, 58, 71, 91; MVD p. 104</a:t>
            </a:r>
          </a:p>
        </p:txBody>
      </p:sp>
    </p:spTree>
    <p:extLst>
      <p:ext uri="{BB962C8B-B14F-4D97-AF65-F5344CB8AC3E}">
        <p14:creationId xmlns:p14="http://schemas.microsoft.com/office/powerpoint/2010/main" val="94175578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6" name="Google Shape;226;p11">
            <a:extLst xmlns:a="http://schemas.openxmlformats.org/drawingml/2006/main">
              <a:ext uri="{FF2B5EF4-FFF2-40B4-BE49-F238E27FC236}">
                <a16:creationId xmlns:a16="http://schemas.microsoft.com/office/drawing/2014/main" id="{92F6B0B2-9D5B-4730-A4CD-C04CFE632C6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7" name="Google Shape;227;p11">
            <a:extLst xmlns:a="http://schemas.openxmlformats.org/drawingml/2006/main">
              <a:ext uri="{FF2B5EF4-FFF2-40B4-BE49-F238E27FC236}">
                <a16:creationId xmlns:a16="http://schemas.microsoft.com/office/drawing/2014/main" id="{1FBFDF0F-6133-4579-804A-5BDD1B5D4E6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8" name="Google Shape;228;p11">
            <a:extLst xmlns:a="http://schemas.openxmlformats.org/drawingml/2006/main">
              <a:ext uri="{FF2B5EF4-FFF2-40B4-BE49-F238E27FC236}">
                <a16:creationId xmlns:a16="http://schemas.microsoft.com/office/drawing/2014/main" id="{535C89D7-6CD2-49BF-ACAC-13B8ABFDD7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9" name="Google Shape;229;p11">
            <a:extLst xmlns:a="http://schemas.openxmlformats.org/drawingml/2006/main">
              <a:ext uri="{FF2B5EF4-FFF2-40B4-BE49-F238E27FC236}">
                <a16:creationId xmlns:a16="http://schemas.microsoft.com/office/drawing/2014/main" id="{B205E6C7-0F4E-482A-B4ED-E38F9211327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a:t>
            </a:r>
          </a:p>
        </p:txBody>
      </p:sp>
      <p:sp>
        <p:nvSpPr>
          <p:cNvPr id="230" name="Google Shape;230;p11">
            <a:extLst xmlns:a="http://schemas.openxmlformats.org/drawingml/2006/main">
              <a:ext uri="{FF2B5EF4-FFF2-40B4-BE49-F238E27FC236}">
                <a16:creationId xmlns:a16="http://schemas.microsoft.com/office/drawing/2014/main" id="{BD57645E-CAFE-4022-871D-FB44537B6D1B}"/>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Transitions: T1, T2, T3</a:t>
            </a:r>
          </a:p>
        </p:txBody>
      </p:sp>
      <p:sp>
        <p:nvSpPr>
          <p:cNvPr id="231" name="Google Shape;231;p11">
            <a:extLst xmlns:a="http://schemas.openxmlformats.org/drawingml/2006/main">
              <a:ext uri="{FF2B5EF4-FFF2-40B4-BE49-F238E27FC236}">
                <a16:creationId xmlns:a16="http://schemas.microsoft.com/office/drawing/2014/main" id="{136C7C4F-16F0-469C-8D22-4FA5AF942130}"/>
              </a:ext>
            </a:extLst>
          </p:cNvPr>
          <p:cNvSpPr>
            <a:spLocks xmlns:a="http://schemas.openxmlformats.org/drawingml/2006/main" noGrp="1"/>
          </p:cNvSpPr>
          <p:nvPr/>
        </p:nvSpPr>
        <p:spPr>
          <a:xfrm xmlns:a="http://schemas.openxmlformats.org/drawingml/2006/main">
            <a:off x="475488" y="1463040"/>
            <a:ext cx="1664208" cy="960120"/>
          </a:xfrm>
          <a:prstGeom xmlns:a="http://schemas.openxmlformats.org/drawingml/2006/main" prst="roundRect">
            <a:avLst>
              <a:gd name="adj" fmla="val 8571"/>
            </a:avLst>
          </a:prstGeom>
          <a:solidFill xmlns:a="http://schemas.openxmlformats.org/drawingml/2006/main">
            <a:srgbClr val="3B4A7A"/>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2" name="Google Shape;232;p11">
            <a:extLst xmlns:a="http://schemas.openxmlformats.org/drawingml/2006/main">
              <a:ext uri="{FF2B5EF4-FFF2-40B4-BE49-F238E27FC236}">
                <a16:creationId xmlns:a16="http://schemas.microsoft.com/office/drawing/2014/main" id="{4938230F-1D84-4E5E-AFCC-F14F1B65EE6F}"/>
              </a:ext>
            </a:extLst>
          </p:cNvPr>
          <p:cNvSpPr>
            <a:spLocks xmlns:a="http://schemas.openxmlformats.org/drawingml/2006/main" noGrp="1"/>
          </p:cNvSpPr>
          <p:nvPr/>
        </p:nvSpPr>
        <p:spPr>
          <a:xfrm xmlns:a="http://schemas.openxmlformats.org/drawingml/2006/main">
            <a:off x="475488"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Physicochemical</a:t>
            </a:r>
          </a:p>
        </p:txBody>
      </p:sp>
      <p:sp>
        <p:nvSpPr>
          <p:cNvPr id="233" name="Google Shape;233;p11">
            <a:extLst xmlns:a="http://schemas.openxmlformats.org/drawingml/2006/main">
              <a:ext uri="{FF2B5EF4-FFF2-40B4-BE49-F238E27FC236}">
                <a16:creationId xmlns:a16="http://schemas.microsoft.com/office/drawing/2014/main" id="{C679FBFC-4912-4015-B213-A9F790D144A6}"/>
              </a:ext>
            </a:extLst>
          </p:cNvPr>
          <p:cNvSpPr>
            <a:spLocks xmlns:a="http://schemas.openxmlformats.org/drawingml/2006/main" noGrp="1"/>
          </p:cNvSpPr>
          <p:nvPr/>
        </p:nvSpPr>
        <p:spPr>
          <a:xfrm xmlns:a="http://schemas.openxmlformats.org/drawingml/2006/main">
            <a:off x="530352"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only some developing atoms reach T1</a:t>
            </a:r>
          </a:p>
        </p:txBody>
      </p:sp>
      <p:sp>
        <p:nvSpPr>
          <p:cNvPr id="234" name="Google Shape;234;p11">
            <a:extLst xmlns:a="http://schemas.openxmlformats.org/drawingml/2006/main">
              <a:ext uri="{FF2B5EF4-FFF2-40B4-BE49-F238E27FC236}">
                <a16:creationId xmlns:a16="http://schemas.microsoft.com/office/drawing/2014/main" id="{4856528E-8D4B-459F-8076-49BFEABC11D5}"/>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5" name="Google Shape;235;p11">
            <a:extLst xmlns:a="http://schemas.openxmlformats.org/drawingml/2006/main">
              <a:ext uri="{FF2B5EF4-FFF2-40B4-BE49-F238E27FC236}">
                <a16:creationId xmlns:a16="http://schemas.microsoft.com/office/drawing/2014/main" id="{A5B348E2-62F6-4617-8C55-04EF1E275226}"/>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T1</a:t>
            </a:r>
          </a:p>
        </p:txBody>
      </p:sp>
      <p:sp>
        <p:nvSpPr>
          <p:cNvPr id="236" name="Google Shape;236;p11">
            <a:extLst xmlns:a="http://schemas.openxmlformats.org/drawingml/2006/main">
              <a:ext uri="{FF2B5EF4-FFF2-40B4-BE49-F238E27FC236}">
                <a16:creationId xmlns:a16="http://schemas.microsoft.com/office/drawing/2014/main" id="{F766CD9E-37CA-468F-9950-3055B289D7BC}"/>
              </a:ext>
            </a:extLst>
          </p:cNvPr>
          <p:cNvSpPr>
            <a:spLocks xmlns:a="http://schemas.openxmlformats.org/drawingml/2006/main" noGrp="1"/>
          </p:cNvSpPr>
          <p:nvPr/>
        </p:nvSpPr>
        <p:spPr>
          <a:xfrm xmlns:a="http://schemas.openxmlformats.org/drawingml/2006/main">
            <a:off x="2706624"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7" name="Google Shape;237;p11">
            <a:extLst xmlns:a="http://schemas.openxmlformats.org/drawingml/2006/main">
              <a:ext uri="{FF2B5EF4-FFF2-40B4-BE49-F238E27FC236}">
                <a16:creationId xmlns:a16="http://schemas.microsoft.com/office/drawing/2014/main" id="{A59AD647-B81F-4FFF-A3CF-52E74E35517C}"/>
              </a:ext>
            </a:extLst>
          </p:cNvPr>
          <p:cNvSpPr>
            <a:spLocks xmlns:a="http://schemas.openxmlformats.org/drawingml/2006/main" noGrp="1"/>
          </p:cNvSpPr>
          <p:nvPr/>
        </p:nvSpPr>
        <p:spPr>
          <a:xfrm xmlns:a="http://schemas.openxmlformats.org/drawingml/2006/main">
            <a:off x="2706624"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Delusional</a:t>
            </a:r>
          </a:p>
        </p:txBody>
      </p:sp>
      <p:sp>
        <p:nvSpPr>
          <p:cNvPr id="238" name="Google Shape;238;p11">
            <a:extLst xmlns:a="http://schemas.openxmlformats.org/drawingml/2006/main">
              <a:ext uri="{FF2B5EF4-FFF2-40B4-BE49-F238E27FC236}">
                <a16:creationId xmlns:a16="http://schemas.microsoft.com/office/drawing/2014/main" id="{26EC659D-62D7-4BEF-97E8-6386704F5431}"/>
              </a:ext>
            </a:extLst>
          </p:cNvPr>
          <p:cNvSpPr>
            <a:spLocks xmlns:a="http://schemas.openxmlformats.org/drawingml/2006/main" noGrp="1"/>
          </p:cNvSpPr>
          <p:nvPr/>
        </p:nvSpPr>
        <p:spPr>
          <a:xfrm xmlns:a="http://schemas.openxmlformats.org/drawingml/2006/main">
            <a:off x="2761488"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sentient; body mistaken for self</a:t>
            </a:r>
          </a:p>
        </p:txBody>
      </p:sp>
      <p:sp>
        <p:nvSpPr>
          <p:cNvPr id="239" name="Google Shape;239;p11">
            <a:extLst xmlns:a="http://schemas.openxmlformats.org/drawingml/2006/main">
              <a:ext uri="{FF2B5EF4-FFF2-40B4-BE49-F238E27FC236}">
                <a16:creationId xmlns:a16="http://schemas.microsoft.com/office/drawing/2014/main" id="{5EB8E91C-1A30-4588-9854-2ECBB5750043}"/>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0" name="Google Shape;240;p11">
            <a:extLst xmlns:a="http://schemas.openxmlformats.org/drawingml/2006/main">
              <a:ext uri="{FF2B5EF4-FFF2-40B4-BE49-F238E27FC236}">
                <a16:creationId xmlns:a16="http://schemas.microsoft.com/office/drawing/2014/main" id="{E4ED4E0D-90F8-406D-81BD-DA1065237C32}"/>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T2</a:t>
            </a:r>
          </a:p>
        </p:txBody>
      </p:sp>
      <p:sp>
        <p:nvSpPr>
          <p:cNvPr id="241" name="Google Shape;241;p11">
            <a:extLst xmlns:a="http://schemas.openxmlformats.org/drawingml/2006/main">
              <a:ext uri="{FF2B5EF4-FFF2-40B4-BE49-F238E27FC236}">
                <a16:creationId xmlns:a16="http://schemas.microsoft.com/office/drawing/2014/main" id="{084B2DD8-6E6E-48F7-A30C-778CB7B13DFC}"/>
              </a:ext>
            </a:extLst>
          </p:cNvPr>
          <p:cNvSpPr>
            <a:spLocks xmlns:a="http://schemas.openxmlformats.org/drawingml/2006/main" noGrp="1"/>
          </p:cNvSpPr>
          <p:nvPr/>
        </p:nvSpPr>
        <p:spPr>
          <a:xfrm xmlns:a="http://schemas.openxmlformats.org/drawingml/2006/main">
            <a:off x="4937760"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2" name="Google Shape;242;p11">
            <a:extLst xmlns:a="http://schemas.openxmlformats.org/drawingml/2006/main">
              <a:ext uri="{FF2B5EF4-FFF2-40B4-BE49-F238E27FC236}">
                <a16:creationId xmlns:a16="http://schemas.microsoft.com/office/drawing/2014/main" id="{2A8CE34B-471B-463B-8366-BA6D4D4B9163}"/>
              </a:ext>
            </a:extLst>
          </p:cNvPr>
          <p:cNvSpPr>
            <a:spLocks xmlns:a="http://schemas.openxmlformats.org/drawingml/2006/main" noGrp="1"/>
          </p:cNvSpPr>
          <p:nvPr/>
        </p:nvSpPr>
        <p:spPr>
          <a:xfrm xmlns:a="http://schemas.openxmlformats.org/drawingml/2006/main">
            <a:off x="4937760"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Deific</a:t>
            </a:r>
          </a:p>
        </p:txBody>
      </p:sp>
      <p:sp>
        <p:nvSpPr>
          <p:cNvPr id="243" name="Google Shape;243;p11">
            <a:extLst xmlns:a="http://schemas.openxmlformats.org/drawingml/2006/main">
              <a:ext uri="{FF2B5EF4-FFF2-40B4-BE49-F238E27FC236}">
                <a16:creationId xmlns:a16="http://schemas.microsoft.com/office/drawing/2014/main" id="{8FF61272-1AF4-4BC0-8CA1-9C90210CDE5C}"/>
              </a:ext>
            </a:extLst>
          </p:cNvPr>
          <p:cNvSpPr>
            <a:spLocks xmlns:a="http://schemas.openxmlformats.org/drawingml/2006/main" noGrp="1"/>
          </p:cNvSpPr>
          <p:nvPr/>
        </p:nvSpPr>
        <p:spPr>
          <a:xfrm xmlns:a="http://schemas.openxmlformats.org/drawingml/2006/main">
            <a:off x="4992624"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awakening human</a:t>
            </a:r>
          </a:p>
        </p:txBody>
      </p:sp>
      <p:sp>
        <p:nvSpPr>
          <p:cNvPr id="244" name="Google Shape;244;p11">
            <a:extLst xmlns:a="http://schemas.openxmlformats.org/drawingml/2006/main">
              <a:ext uri="{FF2B5EF4-FFF2-40B4-BE49-F238E27FC236}">
                <a16:creationId xmlns:a16="http://schemas.microsoft.com/office/drawing/2014/main" id="{B2D070AB-F905-4F6C-A090-B48D44A8E7FB}"/>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5" name="Google Shape;245;p11">
            <a:extLst xmlns:a="http://schemas.openxmlformats.org/drawingml/2006/main">
              <a:ext uri="{FF2B5EF4-FFF2-40B4-BE49-F238E27FC236}">
                <a16:creationId xmlns:a16="http://schemas.microsoft.com/office/drawing/2014/main" id="{A3E5E6CA-7981-48CD-B96F-7EC48B2100E1}"/>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T3</a:t>
            </a:r>
          </a:p>
        </p:txBody>
      </p:sp>
      <p:sp>
        <p:nvSpPr>
          <p:cNvPr id="246" name="Google Shape;246;p11">
            <a:extLst xmlns:a="http://schemas.openxmlformats.org/drawingml/2006/main">
              <a:ext uri="{FF2B5EF4-FFF2-40B4-BE49-F238E27FC236}">
                <a16:creationId xmlns:a16="http://schemas.microsoft.com/office/drawing/2014/main" id="{BFC4C265-8EFE-487F-ABFA-4AAE7CD54188}"/>
              </a:ext>
            </a:extLst>
          </p:cNvPr>
          <p:cNvSpPr>
            <a:spLocks xmlns:a="http://schemas.openxmlformats.org/drawingml/2006/main" noGrp="1"/>
          </p:cNvSpPr>
          <p:nvPr/>
        </p:nvSpPr>
        <p:spPr>
          <a:xfrm xmlns:a="http://schemas.openxmlformats.org/drawingml/2006/main">
            <a:off x="7168896"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7" name="Google Shape;247;p11">
            <a:extLst xmlns:a="http://schemas.openxmlformats.org/drawingml/2006/main">
              <a:ext uri="{FF2B5EF4-FFF2-40B4-BE49-F238E27FC236}">
                <a16:creationId xmlns:a16="http://schemas.microsoft.com/office/drawing/2014/main" id="{726EB728-96D6-468B-A4CD-7522F14C17D8}"/>
              </a:ext>
            </a:extLst>
          </p:cNvPr>
          <p:cNvSpPr>
            <a:spLocks xmlns:a="http://schemas.openxmlformats.org/drawingml/2006/main" noGrp="1"/>
          </p:cNvSpPr>
          <p:nvPr/>
        </p:nvSpPr>
        <p:spPr>
          <a:xfrm xmlns:a="http://schemas.openxmlformats.org/drawingml/2006/main">
            <a:off x="7168896"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Divine (complete)</a:t>
            </a:r>
          </a:p>
        </p:txBody>
      </p:sp>
      <p:sp>
        <p:nvSpPr>
          <p:cNvPr id="248" name="Google Shape;248;p11">
            <a:extLst xmlns:a="http://schemas.openxmlformats.org/drawingml/2006/main">
              <a:ext uri="{FF2B5EF4-FFF2-40B4-BE49-F238E27FC236}">
                <a16:creationId xmlns:a16="http://schemas.microsoft.com/office/drawing/2014/main" id="{7E799F9F-A696-45A3-8952-26BD3BD803C1}"/>
              </a:ext>
            </a:extLst>
          </p:cNvPr>
          <p:cNvSpPr>
            <a:spLocks xmlns:a="http://schemas.openxmlformats.org/drawingml/2006/main" noGrp="1"/>
          </p:cNvSpPr>
          <p:nvPr/>
        </p:nvSpPr>
        <p:spPr>
          <a:xfrm xmlns:a="http://schemas.openxmlformats.org/drawingml/2006/main">
            <a:off x="7223760"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living proof of coexistence</a:t>
            </a:r>
          </a:p>
        </p:txBody>
      </p:sp>
      <p:sp>
        <p:nvSpPr>
          <p:cNvPr id="249" name="Google Shape;249;p11">
            <a:extLst xmlns:a="http://schemas.openxmlformats.org/drawingml/2006/main">
              <a:ext uri="{FF2B5EF4-FFF2-40B4-BE49-F238E27FC236}">
                <a16:creationId xmlns:a16="http://schemas.microsoft.com/office/drawing/2014/main" id="{6B6BDCD0-FA8B-4D55-A4C2-63D899CA8920}"/>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0" name="Google Shape;250;p11">
            <a:extLst xmlns:a="http://schemas.openxmlformats.org/drawingml/2006/main">
              <a:ext uri="{FF2B5EF4-FFF2-40B4-BE49-F238E27FC236}">
                <a16:creationId xmlns:a16="http://schemas.microsoft.com/office/drawing/2014/main" id="{5A39170F-9417-4B44-AC88-9D3C49A24999}"/>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T1</a:t>
            </a:r>
          </a:p>
        </p:txBody>
      </p:sp>
      <p:sp>
        <p:nvSpPr>
          <p:cNvPr id="251" name="Google Shape;251;p11">
            <a:extLst xmlns:a="http://schemas.openxmlformats.org/drawingml/2006/main">
              <a:ext uri="{FF2B5EF4-FFF2-40B4-BE49-F238E27FC236}">
                <a16:creationId xmlns:a16="http://schemas.microsoft.com/office/drawing/2014/main" id="{F7B5D1C5-E2AE-48C6-8B84-66FC4D530303}"/>
              </a:ext>
            </a:extLst>
          </p:cNvPr>
          <p:cNvSpPr>
            <a:spLocks xmlns:a="http://schemas.openxmlformats.org/drawingml/2006/main" noGrp="1"/>
          </p:cNvSpPr>
          <p:nvPr/>
        </p:nvSpPr>
        <p:spPr>
          <a:xfrm xmlns:a="http://schemas.openxmlformats.org/drawingml/2006/main">
            <a:off x="1188720" y="274320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Constitutional completeness — immortality of result; the atom becomes sentient jeevan</a:t>
            </a:r>
          </a:p>
        </p:txBody>
      </p:sp>
      <p:sp>
        <p:nvSpPr>
          <p:cNvPr id="252" name="Google Shape;252;p11">
            <a:extLst xmlns:a="http://schemas.openxmlformats.org/drawingml/2006/main">
              <a:ext uri="{FF2B5EF4-FFF2-40B4-BE49-F238E27FC236}">
                <a16:creationId xmlns:a16="http://schemas.microsoft.com/office/drawing/2014/main" id="{83BDFC2E-DA72-4DD2-915F-3F89D26436A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3" name="Google Shape;253;p11">
            <a:extLst xmlns:a="http://schemas.openxmlformats.org/drawingml/2006/main">
              <a:ext uri="{FF2B5EF4-FFF2-40B4-BE49-F238E27FC236}">
                <a16:creationId xmlns:a16="http://schemas.microsoft.com/office/drawing/2014/main" id="{DC7A5696-0E7D-407F-9FAF-73C6217F0C7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T2</a:t>
            </a:r>
          </a:p>
        </p:txBody>
      </p:sp>
      <p:sp>
        <p:nvSpPr>
          <p:cNvPr id="254" name="Google Shape;254;p11">
            <a:extLst xmlns:a="http://schemas.openxmlformats.org/drawingml/2006/main">
              <a:ext uri="{FF2B5EF4-FFF2-40B4-BE49-F238E27FC236}">
                <a16:creationId xmlns:a16="http://schemas.microsoft.com/office/drawing/2014/main" id="{663695CE-F971-4DC5-B46F-C77CA72A0A75}"/>
              </a:ext>
            </a:extLst>
          </p:cNvPr>
          <p:cNvSpPr>
            <a:spLocks xmlns:a="http://schemas.openxmlformats.org/drawingml/2006/main" noGrp="1"/>
          </p:cNvSpPr>
          <p:nvPr/>
        </p:nvSpPr>
        <p:spPr>
          <a:xfrm xmlns:a="http://schemas.openxmlformats.org/drawingml/2006/main">
            <a:off x="1188720" y="33467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Activity completeness — restfulness of effort; direct realisation and absolute resolution</a:t>
            </a:r>
          </a:p>
        </p:txBody>
      </p:sp>
      <p:sp>
        <p:nvSpPr>
          <p:cNvPr id="255" name="Google Shape;255;p11">
            <a:extLst xmlns:a="http://schemas.openxmlformats.org/drawingml/2006/main">
              <a:ext uri="{FF2B5EF4-FFF2-40B4-BE49-F238E27FC236}">
                <a16:creationId xmlns:a16="http://schemas.microsoft.com/office/drawing/2014/main" id="{6DC74D46-B1D5-4DAB-9EF8-CB88C4910598}"/>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6" name="Google Shape;256;p11">
            <a:extLst xmlns:a="http://schemas.openxmlformats.org/drawingml/2006/main">
              <a:ext uri="{FF2B5EF4-FFF2-40B4-BE49-F238E27FC236}">
                <a16:creationId xmlns:a16="http://schemas.microsoft.com/office/drawing/2014/main" id="{786BC72A-C072-4422-9579-70B748800D93}"/>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T3</a:t>
            </a:r>
          </a:p>
        </p:txBody>
      </p:sp>
      <p:sp>
        <p:nvSpPr>
          <p:cNvPr id="257" name="Google Shape;257;p11">
            <a:extLst xmlns:a="http://schemas.openxmlformats.org/drawingml/2006/main">
              <a:ext uri="{FF2B5EF4-FFF2-40B4-BE49-F238E27FC236}">
                <a16:creationId xmlns:a16="http://schemas.microsoft.com/office/drawing/2014/main" id="{D6639B03-944A-412F-9EE4-A1FFCF5E75A8}"/>
              </a:ext>
            </a:extLst>
          </p:cNvPr>
          <p:cNvSpPr>
            <a:spLocks xmlns:a="http://schemas.openxmlformats.org/drawingml/2006/main" noGrp="1"/>
          </p:cNvSpPr>
          <p:nvPr/>
        </p:nvSpPr>
        <p:spPr>
          <a:xfrm xmlns:a="http://schemas.openxmlformats.org/drawingml/2006/main">
            <a:off x="1188720" y="395020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Conduct completeness — destination of motion; authentic conduct as living proof</a:t>
            </a:r>
          </a:p>
        </p:txBody>
      </p:sp>
      <p:sp>
        <p:nvSpPr>
          <p:cNvPr id="258" name="Google Shape;258;p11">
            <a:extLst xmlns:a="http://schemas.openxmlformats.org/drawingml/2006/main">
              <a:ext uri="{FF2B5EF4-FFF2-40B4-BE49-F238E27FC236}">
                <a16:creationId xmlns:a16="http://schemas.microsoft.com/office/drawing/2014/main" id="{2C1A8288-A341-425A-B68F-6C122B0AB159}"/>
              </a:ext>
            </a:extLst>
          </p:cNvPr>
          <p:cNvSpPr>
            <a:spLocks xmlns:a="http://schemas.openxmlformats.org/drawingml/2006/main" noGrp="1"/>
          </p:cNvSpPr>
          <p:nvPr/>
        </p:nvSpPr>
        <p:spPr>
          <a:xfrm xmlns:a="http://schemas.openxmlformats.org/drawingml/2006/main">
            <a:off x="640080" y="4572000"/>
            <a:ext cx="79552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1" u="none" cap="none">
                <a:solidFill>
                  <a:srgbClr val="9A6414"/>
                </a:solidFill>
                <a:latin typeface="Calibri"/>
                <a:ea typeface="Calibri"/>
                <a:cs typeface="Calibri"/>
              </a:rPr>
              <a:t>T1 is constitutional completeness: a developing atom becomes sentient jeevan. T2 and T3 are not further material stages; they name completeness of activity and conduct in awakened jeevan.</a:t>
            </a:r>
          </a:p>
        </p:txBody>
      </p:sp>
    </p:spTree>
    <p:extLst>
      <p:ext uri="{BB962C8B-B14F-4D97-AF65-F5344CB8AC3E}">
        <p14:creationId xmlns:p14="http://schemas.microsoft.com/office/powerpoint/2010/main" val="141356590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§1.6.1</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T1 — The Irreversible Sentience Threshold</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Constitutional completeness at the atomic level, </a:t>
            </a:r>
            <a:r>
              <a:rPr sz="1250" b="0" i="0" u="none" cap="none">
                <a:solidFill>
                  <a:srgbClr val="5A6377"/>
                </a:solidFill>
                <a:latin typeface="Calibri"/>
                <a:ea typeface="Calibri"/>
                <a:cs typeface="Calibri"/>
              </a:rPr>
              <a:t>not neural complexity, molecular size, or elevation along the order chain. A developing ordinary atom takes in particles — hungry atoms and overfull atoms completing each other — within a suitable environment; once the required particles are in place, it closes.</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Before T1 — evolving atom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Still bound by molecular weight and structure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Particle count still changing; development in progress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Exhibits radiance and projection as an insentient unit</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After T1 — the completed atom</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Released from molecular and weight bondage; carried by hope</a:t>
            </a:r>
          </a:p>
          <a:p xmlns:a="http://schemas.openxmlformats.org/drawingml/2006/main">
            <a:pPr marL="342900" indent="-342900" algn="l">
              <a:spcBef>
                <a:spcPts val="0"/>
              </a:spcBef>
              <a:spcAft>
                <a:spcPts val="0"/>
              </a:spcAft>
              <a:buChar char="•"/>
              <a:defRPr sz="938">
                <a:solidFill>
                  <a:srgbClr val="5F6B82"/>
                </a:solidFill>
              </a:defRPr>
            </a:pPr>
            <a:r>
              <a:rPr sz="938" b="0" i="0" u="none" cap="none">
                <a:solidFill>
                  <a:srgbClr val="5F6B82"/>
                </a:solidFill>
                <a:latin typeface="Calibri"/>
                <a:ea typeface="Calibri"/>
                <a:cs typeface="Calibri"/>
              </a:rPr>
              <a:t>No increase or decrease in particles: qualitative change without quantitative change</a:t>
            </a:r>
          </a:p>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Sentient jeevan shows a finer mode of recognition</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T1 is irreversible because the atom’s constitution is complete and no longer decomposes. The completed constitution itself grounds jeevan’s continuity beyond the body.</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52, 55, 59, 80–81, 92  ·  MVD pp. 8, 91, 117</a:t>
            </a:r>
          </a:p>
        </p:txBody>
      </p:sp>
    </p:spTree>
    <p:extLst>
      <p:ext uri="{BB962C8B-B14F-4D97-AF65-F5344CB8AC3E}">
        <p14:creationId xmlns:p14="http://schemas.microsoft.com/office/powerpoint/2010/main" val="214135632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1.7 · THE HUMAN JOINT FORM</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Body and Jeevan: One Joint Form</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Animal and human living is a joint form. Jeevan brings all ten activities; the body supplies the species-specific medium. Animal bodily and brain development limits their expression. The human medium supports the full range, while body-identification can still misdirect evaluation.</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Body — the medium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Pranic composition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Sense organs, brain, and physical expression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Animal: limited · Human: full medium; decomposable</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Jeevan — the knower</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Constitutionally complete sentient atom</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All five faculties and ten activities inherent</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Continues when the joint form ends</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body gates expression; jeevan is seer–doer–enjoyer through it. Animal limitation belongs to the medium; human mis-evaluation belongs to body-delusion.</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Sources: MVD pp. 13, 115, 288–289</a:t>
            </a:r>
            <a:r>
              <a:rPr sz="950" b="0" i="1" u="none" cap="none">
                <a:solidFill>
                  <a:srgbClr val="5A6377"/>
                </a:solidFill>
                <a:latin typeface="Calibri"/>
                <a:ea typeface="Calibri"/>
                <a:cs typeface="Calibri"/>
              </a:rPr>
              <a:t> · SB pp. 91–92 · JV pp. 20, 54</a:t>
            </a:r>
          </a:p>
        </p:txBody>
      </p:sp>
    </p:spTree>
    <p:extLst>
      <p:ext uri="{BB962C8B-B14F-4D97-AF65-F5344CB8AC3E}">
        <p14:creationId xmlns:p14="http://schemas.microsoft.com/office/powerpoint/2010/main" val="214135632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4" name="Google Shape;284;p13">
            <a:extLst xmlns:a="http://schemas.openxmlformats.org/drawingml/2006/main">
              <a:ext uri="{FF2B5EF4-FFF2-40B4-BE49-F238E27FC236}">
                <a16:creationId xmlns:a16="http://schemas.microsoft.com/office/drawing/2014/main" id="{1E5F56BB-9A34-4C85-9FA8-3973A3C8F59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5" name="Google Shape;285;p13">
            <a:extLst xmlns:a="http://schemas.openxmlformats.org/drawingml/2006/main">
              <a:ext uri="{FF2B5EF4-FFF2-40B4-BE49-F238E27FC236}">
                <a16:creationId xmlns:a16="http://schemas.microsoft.com/office/drawing/2014/main" id="{789B6EC8-4924-4167-914C-21CDEA4EF89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6" name="Google Shape;286;p13">
            <a:extLst xmlns:a="http://schemas.openxmlformats.org/drawingml/2006/main">
              <a:ext uri="{FF2B5EF4-FFF2-40B4-BE49-F238E27FC236}">
                <a16:creationId xmlns:a16="http://schemas.microsoft.com/office/drawing/2014/main" id="{64227F92-96D4-4E15-9F79-F545BF27D1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7" name="Google Shape;287;p13">
            <a:extLst xmlns:a="http://schemas.openxmlformats.org/drawingml/2006/main">
              <a:ext uri="{FF2B5EF4-FFF2-40B4-BE49-F238E27FC236}">
                <a16:creationId xmlns:a16="http://schemas.microsoft.com/office/drawing/2014/main" id="{1C5C8F2C-EDB9-4C04-9B75-C5DFEDCDDBE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 CONSTITUTIONALLY COMPLETE</a:t>
            </a:r>
          </a:p>
        </p:txBody>
      </p:sp>
      <p:sp>
        <p:nvSpPr>
          <p:cNvPr id="288" name="Google Shape;288;p13">
            <a:extLst xmlns:a="http://schemas.openxmlformats.org/drawingml/2006/main">
              <a:ext uri="{FF2B5EF4-FFF2-40B4-BE49-F238E27FC236}">
                <a16:creationId xmlns:a16="http://schemas.microsoft.com/office/drawing/2014/main" id="{9217C47C-53A4-41ED-8226-61D3CF3778D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Five Faculties, Ten Activities</a:t>
            </a:r>
          </a:p>
        </p:txBody>
      </p:sp>
      <p:sp>
        <p:nvSpPr>
          <p:cNvPr id="289" name="Google Shape;289;p13">
            <a:extLst xmlns:a="http://schemas.openxmlformats.org/drawingml/2006/main">
              <a:ext uri="{FF2B5EF4-FFF2-40B4-BE49-F238E27FC236}">
                <a16:creationId xmlns:a16="http://schemas.microsoft.com/office/drawing/2014/main" id="{A7811749-9FD9-446E-9F16-BAE349C0EB31}"/>
              </a:ext>
            </a:extLst>
          </p:cNvPr>
          <p:cNvSpPr>
            <a:spLocks xmlns:a="http://schemas.openxmlformats.org/drawingml/2006/main" noGrp="1"/>
          </p:cNvSpPr>
          <p:nvPr/>
        </p:nvSpPr>
        <p:spPr>
          <a:xfrm xmlns:a="http://schemas.openxmlformats.org/drawingml/2006/main">
            <a:off x="1851660" y="2583180"/>
            <a:ext cx="960120" cy="9601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0" name="Google Shape;290;p13">
            <a:extLst xmlns:a="http://schemas.openxmlformats.org/drawingml/2006/main">
              <a:ext uri="{FF2B5EF4-FFF2-40B4-BE49-F238E27FC236}">
                <a16:creationId xmlns:a16="http://schemas.microsoft.com/office/drawing/2014/main" id="{B80053E0-F78A-42B8-B068-8EE096741EB1}"/>
              </a:ext>
            </a:extLst>
          </p:cNvPr>
          <p:cNvSpPr>
            <a:spLocks xmlns:a="http://schemas.openxmlformats.org/drawingml/2006/main" noGrp="1"/>
          </p:cNvSpPr>
          <p:nvPr/>
        </p:nvSpPr>
        <p:spPr>
          <a:xfrm xmlns:a="http://schemas.openxmlformats.org/drawingml/2006/main">
            <a:off x="1828800" y="24643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buddhi</a:t>
            </a:r>
          </a:p>
        </p:txBody>
      </p:sp>
      <p:sp>
        <p:nvSpPr>
          <p:cNvPr id="291" name="Google Shape;291;p13">
            <a:extLst xmlns:a="http://schemas.openxmlformats.org/drawingml/2006/main">
              <a:ext uri="{FF2B5EF4-FFF2-40B4-BE49-F238E27FC236}">
                <a16:creationId xmlns:a16="http://schemas.microsoft.com/office/drawing/2014/main" id="{6CDC5A34-ED41-4857-A986-B809E855A59E}"/>
              </a:ext>
            </a:extLst>
          </p:cNvPr>
          <p:cNvSpPr>
            <a:spLocks xmlns:a="http://schemas.openxmlformats.org/drawingml/2006/main" noGrp="1"/>
          </p:cNvSpPr>
          <p:nvPr/>
        </p:nvSpPr>
        <p:spPr>
          <a:xfrm xmlns:a="http://schemas.openxmlformats.org/drawingml/2006/main">
            <a:off x="1623060" y="2354580"/>
            <a:ext cx="1417320" cy="14173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2" name="Google Shape;292;p13">
            <a:extLst xmlns:a="http://schemas.openxmlformats.org/drawingml/2006/main">
              <a:ext uri="{FF2B5EF4-FFF2-40B4-BE49-F238E27FC236}">
                <a16:creationId xmlns:a16="http://schemas.microsoft.com/office/drawing/2014/main" id="{62D17117-F8A0-4EE1-A91D-B5B85A030A63}"/>
              </a:ext>
            </a:extLst>
          </p:cNvPr>
          <p:cNvSpPr>
            <a:spLocks xmlns:a="http://schemas.openxmlformats.org/drawingml/2006/main" noGrp="1"/>
          </p:cNvSpPr>
          <p:nvPr/>
        </p:nvSpPr>
        <p:spPr>
          <a:xfrm xmlns:a="http://schemas.openxmlformats.org/drawingml/2006/main">
            <a:off x="1828800" y="22357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chitta</a:t>
            </a:r>
          </a:p>
        </p:txBody>
      </p:sp>
      <p:sp>
        <p:nvSpPr>
          <p:cNvPr id="293" name="Google Shape;293;p13">
            <a:extLst xmlns:a="http://schemas.openxmlformats.org/drawingml/2006/main">
              <a:ext uri="{FF2B5EF4-FFF2-40B4-BE49-F238E27FC236}">
                <a16:creationId xmlns:a16="http://schemas.microsoft.com/office/drawing/2014/main" id="{BF98A95E-C47B-4496-B328-945B3D5A3301}"/>
              </a:ext>
            </a:extLst>
          </p:cNvPr>
          <p:cNvSpPr>
            <a:spLocks xmlns:a="http://schemas.openxmlformats.org/drawingml/2006/main" noGrp="1"/>
          </p:cNvSpPr>
          <p:nvPr/>
        </p:nvSpPr>
        <p:spPr>
          <a:xfrm xmlns:a="http://schemas.openxmlformats.org/drawingml/2006/main">
            <a:off x="1394460" y="2125980"/>
            <a:ext cx="1874520" cy="18745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4" name="Google Shape;294;p13">
            <a:extLst xmlns:a="http://schemas.openxmlformats.org/drawingml/2006/main">
              <a:ext uri="{FF2B5EF4-FFF2-40B4-BE49-F238E27FC236}">
                <a16:creationId xmlns:a16="http://schemas.microsoft.com/office/drawing/2014/main" id="{A75EA635-19EA-4538-B7E1-6FED769C3EB1}"/>
              </a:ext>
            </a:extLst>
          </p:cNvPr>
          <p:cNvSpPr>
            <a:spLocks xmlns:a="http://schemas.openxmlformats.org/drawingml/2006/main" noGrp="1"/>
          </p:cNvSpPr>
          <p:nvPr/>
        </p:nvSpPr>
        <p:spPr>
          <a:xfrm xmlns:a="http://schemas.openxmlformats.org/drawingml/2006/main">
            <a:off x="1828800" y="20071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vritti</a:t>
            </a:r>
          </a:p>
        </p:txBody>
      </p:sp>
      <p:sp>
        <p:nvSpPr>
          <p:cNvPr id="295" name="Google Shape;295;p13">
            <a:extLst xmlns:a="http://schemas.openxmlformats.org/drawingml/2006/main">
              <a:ext uri="{FF2B5EF4-FFF2-40B4-BE49-F238E27FC236}">
                <a16:creationId xmlns:a16="http://schemas.microsoft.com/office/drawing/2014/main" id="{44BA07D9-B04E-436E-8BB7-DD9A217D133D}"/>
              </a:ext>
            </a:extLst>
          </p:cNvPr>
          <p:cNvSpPr>
            <a:spLocks xmlns:a="http://schemas.openxmlformats.org/drawingml/2006/main" noGrp="1"/>
          </p:cNvSpPr>
          <p:nvPr/>
        </p:nvSpPr>
        <p:spPr>
          <a:xfrm xmlns:a="http://schemas.openxmlformats.org/drawingml/2006/main">
            <a:off x="1165860" y="1897380"/>
            <a:ext cx="2331720" cy="23317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6" name="Google Shape;296;p13">
            <a:extLst xmlns:a="http://schemas.openxmlformats.org/drawingml/2006/main">
              <a:ext uri="{FF2B5EF4-FFF2-40B4-BE49-F238E27FC236}">
                <a16:creationId xmlns:a16="http://schemas.microsoft.com/office/drawing/2014/main" id="{779AF3AD-B505-451C-9CCB-C3C043B8104C}"/>
              </a:ext>
            </a:extLst>
          </p:cNvPr>
          <p:cNvSpPr>
            <a:spLocks xmlns:a="http://schemas.openxmlformats.org/drawingml/2006/main" noGrp="1"/>
          </p:cNvSpPr>
          <p:nvPr/>
        </p:nvSpPr>
        <p:spPr>
          <a:xfrm xmlns:a="http://schemas.openxmlformats.org/drawingml/2006/main">
            <a:off x="1828800" y="17785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mun</a:t>
            </a:r>
          </a:p>
        </p:txBody>
      </p:sp>
      <p:sp>
        <p:nvSpPr>
          <p:cNvPr id="297" name="Google Shape;297;p13">
            <a:extLst xmlns:a="http://schemas.openxmlformats.org/drawingml/2006/main">
              <a:ext uri="{FF2B5EF4-FFF2-40B4-BE49-F238E27FC236}">
                <a16:creationId xmlns:a16="http://schemas.microsoft.com/office/drawing/2014/main" id="{C2363F2F-B9F7-41B6-BFD6-B03380A98FBE}"/>
              </a:ext>
            </a:extLst>
          </p:cNvPr>
          <p:cNvSpPr>
            <a:spLocks xmlns:a="http://schemas.openxmlformats.org/drawingml/2006/main" noGrp="1"/>
          </p:cNvSpPr>
          <p:nvPr/>
        </p:nvSpPr>
        <p:spPr>
          <a:xfrm xmlns:a="http://schemas.openxmlformats.org/drawingml/2006/main">
            <a:off x="2084832" y="2816352"/>
            <a:ext cx="493776" cy="49377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8" name="Google Shape;298;p13">
            <a:extLst xmlns:a="http://schemas.openxmlformats.org/drawingml/2006/main">
              <a:ext uri="{FF2B5EF4-FFF2-40B4-BE49-F238E27FC236}">
                <a16:creationId xmlns:a16="http://schemas.microsoft.com/office/drawing/2014/main" id="{5D222F60-F7F1-44F5-ACE0-F3F1A86FC60B}"/>
              </a:ext>
            </a:extLst>
          </p:cNvPr>
          <p:cNvSpPr>
            <a:spLocks xmlns:a="http://schemas.openxmlformats.org/drawingml/2006/main" noGrp="1"/>
          </p:cNvSpPr>
          <p:nvPr/>
        </p:nvSpPr>
        <p:spPr>
          <a:xfrm xmlns:a="http://schemas.openxmlformats.org/drawingml/2006/main">
            <a:off x="1874520" y="2926080"/>
            <a:ext cx="914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50" b="1" i="0" u="none" cap="none">
                <a:solidFill>
                  <a:srgbClr val="FFFFFF"/>
                </a:solidFill>
                <a:latin typeface="Calibri"/>
                <a:ea typeface="Calibri"/>
                <a:cs typeface="Calibri"/>
              </a:rPr>
              <a:t>atma</a:t>
            </a:r>
          </a:p>
        </p:txBody>
      </p:sp>
      <p:sp>
        <p:nvSpPr>
          <p:cNvPr id="299" name="Google Shape;299;p13">
            <a:extLst xmlns:a="http://schemas.openxmlformats.org/drawingml/2006/main">
              <a:ext uri="{FF2B5EF4-FFF2-40B4-BE49-F238E27FC236}">
                <a16:creationId xmlns:a16="http://schemas.microsoft.com/office/drawing/2014/main" id="{147A2446-6FAA-46E7-8CA7-4BC2804DA439}"/>
              </a:ext>
            </a:extLst>
          </p:cNvPr>
          <p:cNvSpPr>
            <a:spLocks xmlns:a="http://schemas.openxmlformats.org/drawingml/2006/main" noGrp="1"/>
          </p:cNvSpPr>
          <p:nvPr/>
        </p:nvSpPr>
        <p:spPr>
          <a:xfrm xmlns:a="http://schemas.openxmlformats.org/drawingml/2006/main">
            <a:off x="685800" y="4434840"/>
            <a:ext cx="3383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centre = core self (atma); the four rings around it are the other four faculties (MVD p. 78)</a:t>
            </a:r>
          </a:p>
        </p:txBody>
      </p:sp>
      <p:graphicFrame>
        <p:nvGraphicFramePr>
          <p:cNvPr id="320" name="Google Shape;300;p13"/>
          <p:cNvGraphicFramePr/>
          <p:nvPr/>
        </p:nvGraphicFramePr>
        <p:xfrm>
          <a:off xmlns:a="http://schemas.openxmlformats.org/drawingml/2006/main" x="4480559" y="1271015"/>
          <a:ext xmlns:a="http://schemas.openxmlformats.org/drawingml/2006/main" cx="4160525" cy="2249425"/>
        </p:xfrm>
        <a:graphic xmlns:a="http://schemas.openxmlformats.org/drawingml/2006/main">
          <a:graphicData uri="http://schemas.openxmlformats.org/drawingml/2006/table">
            <a:tbl>
              <a:tblPr>
                <a:tableStyleId>{6C92A692-798E-4634-90B1-36CD3966BFCB}</a:tableStyleId>
              </a:tblPr>
              <a:tblGrid>
                <a:gridCol w="1371600"/>
                <a:gridCol w="1417325"/>
                <a:gridCol w="1371600"/>
              </a:tblGrid>
              <a:tr h="329175">
                <a:tc>
                  <a:txBody>
                    <a:bodyPr/>
                    <a:lstStyle/>
                    <a:p>
                      <a:pPr marL="0" indent="0" algn="l">
                        <a:buNone/>
                      </a:pPr>
                      <a:r>
                        <a:rPr sz="1050" b="1" u="none" cap="none">
                          <a:solidFill>
                            <a:srgbClr val="FFFFFF"/>
                          </a:solidFill>
                          <a:latin typeface="Calibri"/>
                          <a:ea typeface="Calibri"/>
                          <a:cs typeface="Calibri"/>
                        </a:rPr>
                        <a:t>Faculty / strength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Projection (outward)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Reflection (inward)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84050">
                <a:tc>
                  <a:txBody>
                    <a:bodyPr/>
                    <a:lstStyle/>
                    <a:p>
                      <a:pPr marL="0" indent="0" algn="l">
                        <a:buNone/>
                      </a:pPr>
                      <a:r>
                        <a:rPr sz="1050" u="none" cap="none">
                          <a:solidFill>
                            <a:srgbClr val="1E2447"/>
                          </a:solidFill>
                          <a:latin typeface="Calibri"/>
                          <a:ea typeface="Calibri"/>
                          <a:cs typeface="Calibri"/>
                        </a:rPr>
                        <a:t>Hope (mun)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selection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taste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Thought (vritti)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analysis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deliberation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Desire (chitta)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visualisation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contemplation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Resolve (buddhi)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resolve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enlightenment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Core self (atma)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authenticity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301" name="Google Shape;301;p13">
            <a:extLst xmlns:a="http://schemas.openxmlformats.org/drawingml/2006/main">
              <a:ext uri="{FF2B5EF4-FFF2-40B4-BE49-F238E27FC236}">
                <a16:creationId xmlns:a16="http://schemas.microsoft.com/office/drawing/2014/main" id="{0BAE59CB-DC58-45A3-A21C-9997882F3F6D}"/>
              </a:ext>
            </a:extLst>
          </p:cNvPr>
          <p:cNvSpPr>
            <a:spLocks xmlns:a="http://schemas.openxmlformats.org/drawingml/2006/main" noGrp="1"/>
          </p:cNvSpPr>
          <p:nvPr/>
        </p:nvSpPr>
        <p:spPr>
          <a:xfrm xmlns:a="http://schemas.openxmlformats.org/drawingml/2006/main">
            <a:off x="4480561" y="3683658"/>
            <a:ext cx="4160520" cy="8229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Jeevan is a constitutionally complete sentient atom. All five faculties and all ten activities belong to it. Animal bodies limit their expression. The human body can express the full range, yet delusion can leave only four and a half effectively organised. Study brings understanding; practice evidences and stabilises it — it does not create missing faculties.</a:t>
            </a:r>
          </a:p>
        </p:txBody>
      </p:sp>
      <p:sp>
        <p:nvSpPr>
          <p:cNvPr id="302" name="Google Shape;302;p13">
            <a:extLst xmlns:a="http://schemas.openxmlformats.org/drawingml/2006/main">
              <a:ext uri="{FF2B5EF4-FFF2-40B4-BE49-F238E27FC236}">
                <a16:creationId xmlns:a16="http://schemas.microsoft.com/office/drawing/2014/main" id="{A909FAFB-2298-487C-807A-90781ABFFDF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78, 126, 278–279, 286–287 · JV p. 92</a:t>
            </a:r>
          </a:p>
        </p:txBody>
      </p:sp>
    </p:spTree>
    <p:extLst>
      <p:ext uri="{BB962C8B-B14F-4D97-AF65-F5344CB8AC3E}">
        <p14:creationId xmlns:p14="http://schemas.microsoft.com/office/powerpoint/2010/main" val="120026850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0BD95DB-7461-404F-9694-5EFD773998C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25949858-FAD2-4102-8CC1-2CD9F3AD560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A6F0C7B-FCDD-47B4-AA1A-839A972295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080CFD91-ADB4-49D5-B6D7-B1C2C1B472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KD CH.1 · KARMA</a:t>
            </a:r>
          </a:p>
        </p:txBody>
      </p:sp>
      <p:sp>
        <p:nvSpPr>
          <p:cNvPr id="207" name="Google Shape;207;p10">
            <a:extLst xmlns:a="http://schemas.openxmlformats.org/drawingml/2006/main">
              <a:ext uri="{FF2B5EF4-FFF2-40B4-BE49-F238E27FC236}">
                <a16:creationId xmlns:a16="http://schemas.microsoft.com/office/drawing/2014/main" id="{748A9705-6995-4431-8E86-9E06E791CC1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Structure of Karma</a:t>
            </a:r>
          </a:p>
        </p:txBody>
      </p:sp>
      <p:sp>
        <p:nvSpPr>
          <p:cNvPr id="208" name="Google Shape;208;p10">
            <a:extLst xmlns:a="http://schemas.openxmlformats.org/drawingml/2006/main">
              <a:ext uri="{FF2B5EF4-FFF2-40B4-BE49-F238E27FC236}">
                <a16:creationId xmlns:a16="http://schemas.microsoft.com/office/drawing/2014/main" id="{EE459EAA-DCBF-4BA8-9E9D-97F36686AB2E}"/>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Every karma — every activity done with desire — carries five limbs: doer, cause, objective, result, and effect. Understanding alone changes nothing; it is the doing that yields the fruit. Desire, karma, and result must balance for the desire to be truly accomplished — book knowledge is only half the work.</a:t>
            </a:r>
          </a:p>
        </p:txBody>
      </p:sp>
      <p:sp>
        <p:nvSpPr>
          <p:cNvPr id="209" name="Google Shape;209;p10">
            <a:extLst xmlns:a="http://schemas.openxmlformats.org/drawingml/2006/main">
              <a:ext uri="{FF2B5EF4-FFF2-40B4-BE49-F238E27FC236}">
                <a16:creationId xmlns:a16="http://schemas.microsoft.com/office/drawing/2014/main" id="{7E9929EE-8C6F-4A21-A8B2-80C9BEC65628}"/>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015DE0BF-2D27-49C6-9EA5-8E1DA7E28A00}"/>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F51B92A9-5B50-4D01-A23E-8518308D7153}"/>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something wished for</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desire seeks fulfilment</a:t>
            </a:r>
          </a:p>
        </p:txBody>
      </p:sp>
      <p:sp>
        <p:nvSpPr>
          <p:cNvPr id="212" name="Google Shape;212;p10">
            <a:extLst xmlns:a="http://schemas.openxmlformats.org/drawingml/2006/main">
              <a:ext uri="{FF2B5EF4-FFF2-40B4-BE49-F238E27FC236}">
                <a16:creationId xmlns:a16="http://schemas.microsoft.com/office/drawing/2014/main" id="{E13987FF-8A1F-40BB-9F0A-CAD9717089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D4388347-360E-4857-BCF7-8C11C5E1054C}"/>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E7324516-F827-427D-AE34-F9DC05C6CDBD}"/>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activity in the world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activity + aspiration = karma</a:t>
            </a:r>
          </a:p>
        </p:txBody>
      </p:sp>
      <p:sp>
        <p:nvSpPr>
          <p:cNvPr id="215" name="Google Shape;215;p10">
            <a:extLst xmlns:a="http://schemas.openxmlformats.org/drawingml/2006/main">
              <a:ext uri="{FF2B5EF4-FFF2-40B4-BE49-F238E27FC236}">
                <a16:creationId xmlns:a16="http://schemas.microsoft.com/office/drawing/2014/main" id="{3D4E993F-2500-4BC8-B404-72DAFA9D5275}"/>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4B022A1-A0F2-4B6A-A70C-8BF6646D268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C89818CF-A4A5-4B97-801B-5B4F524E7DB4}"/>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satisfaction of desire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balance of desire-karma-result</a:t>
            </a:r>
          </a:p>
        </p:txBody>
      </p:sp>
      <p:sp>
        <p:nvSpPr>
          <p:cNvPr id="218" name="Google Shape;218;p10">
            <a:extLst xmlns:a="http://schemas.openxmlformats.org/drawingml/2006/main">
              <a:ext uri="{FF2B5EF4-FFF2-40B4-BE49-F238E27FC236}">
                <a16:creationId xmlns:a16="http://schemas.microsoft.com/office/drawing/2014/main" id="{5A629A3F-BC91-4C5E-91C2-566270BD399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56FD9F9-3707-4514-B36F-43C235803170}"/>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a:t>
            </a:r>
            <a:r>
              <a:rPr sz="1000" b="0" i="0" u="none" cap="none">
                <a:solidFill>
                  <a:srgbClr val="5A6377"/>
                </a:solidFill>
                <a:latin typeface="Calibri"/>
                <a:ea typeface="Calibri"/>
                <a:cs typeface="Calibri"/>
              </a:rPr>
              <a:t>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a:t>
            </a:r>
            <a:r>
              <a:rPr sz="1000" b="0" i="0" u="none" cap="none">
                <a:solidFill>
                  <a:srgbClr val="5A6377"/>
                </a:solidFill>
                <a:latin typeface="Calibri"/>
                <a:ea typeface="Calibri"/>
                <a:cs typeface="Calibri"/>
              </a:rPr>
              <a:t>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a:t>
            </a:r>
            <a:r>
              <a:rPr sz="1000" b="0" i="0" u="none" cap="none">
                <a:solidFill>
                  <a:srgbClr val="5A6377"/>
                </a:solidFill>
                <a:latin typeface="Calibri"/>
                <a:ea typeface="Calibri"/>
                <a:cs typeface="Calibri"/>
              </a:rPr>
              <a:t>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a:t>
            </a:r>
            <a:r>
              <a:rPr sz="1000" b="0" i="0" u="none" cap="none">
                <a:solidFill>
                  <a:srgbClr val="5A6377"/>
                </a:solidFill>
                <a:latin typeface="Calibri"/>
                <a:ea typeface="Calibri"/>
                <a:cs typeface="Calibri"/>
              </a:rPr>
              <a: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a:t>
            </a:r>
            <a:r>
              <a:rPr sz="1000" b="0" i="0" u="none" cap="none">
                <a:solidFill>
                  <a:srgbClr val="5A6377"/>
                </a:solidFill>
                <a:latin typeface="Calibri"/>
                <a:ea typeface="Calibri"/>
                <a:cs typeface="Calibri"/>
              </a:rPr>
              <a:t> — its reach</a:t>
            </a:r>
          </a:p>
        </p:txBody>
      </p:sp>
      <p:sp>
        <p:nvSpPr>
          <p:cNvPr id="220" name="Google Shape;220;p10">
            <a:extLst xmlns:a="http://schemas.openxmlformats.org/drawingml/2006/main">
              <a:ext uri="{FF2B5EF4-FFF2-40B4-BE49-F238E27FC236}">
                <a16:creationId xmlns:a16="http://schemas.microsoft.com/office/drawing/2014/main" id="{CF9675E8-13F6-430E-81CA-CC0F4DDDDF8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“Activity together with aspiration is karma itself … it is the balance of desire, karma, and result that is the accomplishment of the desire.” — KD Ch. 1, p. 1–2</a:t>
            </a:r>
          </a:p>
        </p:txBody>
      </p:sp>
    </p:spTree>
    <p:extLst>
      <p:ext uri="{BB962C8B-B14F-4D97-AF65-F5344CB8AC3E}">
        <p14:creationId xmlns:p14="http://schemas.microsoft.com/office/powerpoint/2010/main" val="29346030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8" name="Google Shape;308;p14">
            <a:extLst xmlns:a="http://schemas.openxmlformats.org/drawingml/2006/main">
              <a:ext uri="{FF2B5EF4-FFF2-40B4-BE49-F238E27FC236}">
                <a16:creationId xmlns:a16="http://schemas.microsoft.com/office/drawing/2014/main" id="{72EA75BC-E9AE-4128-84B5-F0118480006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09" name="Google Shape;309;p14">
            <a:extLst xmlns:a="http://schemas.openxmlformats.org/drawingml/2006/main">
              <a:ext uri="{FF2B5EF4-FFF2-40B4-BE49-F238E27FC236}">
                <a16:creationId xmlns:a16="http://schemas.microsoft.com/office/drawing/2014/main" id="{C16F35D3-0C5D-48EE-B49C-3C5D0B07F8EA}"/>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0" name="Google Shape;310;p14">
            <a:extLst xmlns:a="http://schemas.openxmlformats.org/drawingml/2006/main">
              <a:ext uri="{FF2B5EF4-FFF2-40B4-BE49-F238E27FC236}">
                <a16:creationId xmlns:a16="http://schemas.microsoft.com/office/drawing/2014/main" id="{40E8D9C2-1FFC-4B26-A937-06F35C7F720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1" name="Google Shape;311;p14">
            <a:extLst xmlns:a="http://schemas.openxmlformats.org/drawingml/2006/main">
              <a:ext uri="{FF2B5EF4-FFF2-40B4-BE49-F238E27FC236}">
                <a16:creationId xmlns:a16="http://schemas.microsoft.com/office/drawing/2014/main" id="{E9D23E7E-27AF-4FE8-8FA6-5A24921827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§1.9 · FOUR HARMONIES WITHIN JEEVAN</a:t>
            </a:r>
          </a:p>
        </p:txBody>
      </p:sp>
      <p:sp>
        <p:nvSpPr>
          <p:cNvPr id="312" name="Google Shape;312;p14">
            <a:extLst xmlns:a="http://schemas.openxmlformats.org/drawingml/2006/main">
              <a:ext uri="{FF2B5EF4-FFF2-40B4-BE49-F238E27FC236}">
                <a16:creationId xmlns:a16="http://schemas.microsoft.com/office/drawing/2014/main" id="{0F6C2FCE-72A2-492A-B823-190D8D785DA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Harmonies Within Jeevan</a:t>
            </a:r>
          </a:p>
        </p:txBody>
      </p:sp>
      <p:sp>
        <p:nvSpPr>
          <p:cNvPr id="313" name="Google Shape;313;p14">
            <a:extLst xmlns:a="http://schemas.openxmlformats.org/drawingml/2006/main">
              <a:ext uri="{FF2B5EF4-FFF2-40B4-BE49-F238E27FC236}">
                <a16:creationId xmlns:a16="http://schemas.microsoft.com/office/drawing/2014/main" id="{80D45A9D-9C11-4BF0-A185-ED537EA7E961}"/>
              </a:ext>
            </a:extLst>
          </p:cNvPr>
          <p:cNvSpPr>
            <a:spLocks xmlns:a="http://schemas.openxmlformats.org/drawingml/2006/main" noGrp="1"/>
          </p:cNvSpPr>
          <p:nvPr/>
        </p:nvSpPr>
        <p:spPr>
          <a:xfrm xmlns:a="http://schemas.openxmlformats.org/drawingml/2006/main">
            <a:off x="640080"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4" name="Google Shape;314;p14">
            <a:extLst xmlns:a="http://schemas.openxmlformats.org/drawingml/2006/main">
              <a:ext uri="{FF2B5EF4-FFF2-40B4-BE49-F238E27FC236}">
                <a16:creationId xmlns:a16="http://schemas.microsoft.com/office/drawing/2014/main" id="{8678B3DF-58B5-47F3-A97B-ECB7B2AEDAF3}"/>
              </a:ext>
            </a:extLst>
          </p:cNvPr>
          <p:cNvSpPr>
            <a:spLocks xmlns:a="http://schemas.openxmlformats.org/drawingml/2006/main" noGrp="1"/>
          </p:cNvSpPr>
          <p:nvPr/>
        </p:nvSpPr>
        <p:spPr>
          <a:xfrm xmlns:a="http://schemas.openxmlformats.org/drawingml/2006/main">
            <a:off x="822960"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5" name="Google Shape;315;p14">
            <a:extLst xmlns:a="http://schemas.openxmlformats.org/drawingml/2006/main">
              <a:ext uri="{FF2B5EF4-FFF2-40B4-BE49-F238E27FC236}">
                <a16:creationId xmlns:a16="http://schemas.microsoft.com/office/drawing/2014/main" id="{3FDA5AD1-D159-453D-9654-4378A29570F1}"/>
              </a:ext>
            </a:extLst>
          </p:cNvPr>
          <p:cNvSpPr>
            <a:spLocks xmlns:a="http://schemas.openxmlformats.org/drawingml/2006/main" noGrp="1"/>
          </p:cNvSpPr>
          <p:nvPr/>
        </p:nvSpPr>
        <p:spPr>
          <a:xfrm xmlns:a="http://schemas.openxmlformats.org/drawingml/2006/main">
            <a:off x="888797"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6" name="Google Shape;316;p14">
            <a:extLst xmlns:a="http://schemas.openxmlformats.org/drawingml/2006/main">
              <a:ext uri="{FF2B5EF4-FFF2-40B4-BE49-F238E27FC236}">
                <a16:creationId xmlns:a16="http://schemas.microsoft.com/office/drawing/2014/main" id="{75083F2E-CF5C-4F62-974A-978A75714E4D}"/>
              </a:ext>
            </a:extLst>
          </p:cNvPr>
          <p:cNvSpPr>
            <a:spLocks xmlns:a="http://schemas.openxmlformats.org/drawingml/2006/main" noGrp="1"/>
          </p:cNvSpPr>
          <p:nvPr/>
        </p:nvSpPr>
        <p:spPr>
          <a:xfrm xmlns:a="http://schemas.openxmlformats.org/drawingml/2006/main">
            <a:off x="944758"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7" name="Google Shape;317;p14">
            <a:extLst xmlns:a="http://schemas.openxmlformats.org/drawingml/2006/main">
              <a:ext uri="{FF2B5EF4-FFF2-40B4-BE49-F238E27FC236}">
                <a16:creationId xmlns:a16="http://schemas.microsoft.com/office/drawing/2014/main" id="{FCC81FE8-0B43-4725-BB21-8B4B1A60D5E0}"/>
              </a:ext>
            </a:extLst>
          </p:cNvPr>
          <p:cNvSpPr>
            <a:spLocks xmlns:a="http://schemas.openxmlformats.org/drawingml/2006/main" noGrp="1"/>
          </p:cNvSpPr>
          <p:nvPr/>
        </p:nvSpPr>
        <p:spPr>
          <a:xfrm xmlns:a="http://schemas.openxmlformats.org/drawingml/2006/main">
            <a:off x="804672"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Happiness</a:t>
            </a:r>
          </a:p>
        </p:txBody>
      </p:sp>
      <p:sp>
        <p:nvSpPr>
          <p:cNvPr id="318" name="Google Shape;318;p14">
            <a:extLst xmlns:a="http://schemas.openxmlformats.org/drawingml/2006/main">
              <a:ext uri="{FF2B5EF4-FFF2-40B4-BE49-F238E27FC236}">
                <a16:creationId xmlns:a16="http://schemas.microsoft.com/office/drawing/2014/main" id="{D3238993-65D7-492E-ADF1-2258EA825CDE}"/>
              </a:ext>
            </a:extLst>
          </p:cNvPr>
          <p:cNvSpPr>
            <a:spLocks xmlns:a="http://schemas.openxmlformats.org/drawingml/2006/main" noGrp="1"/>
          </p:cNvSpPr>
          <p:nvPr/>
        </p:nvSpPr>
        <p:spPr>
          <a:xfrm xmlns:a="http://schemas.openxmlformats.org/drawingml/2006/main">
            <a:off x="804672"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mun–vritti</a:t>
            </a:r>
          </a:p>
        </p:txBody>
      </p:sp>
      <p:sp>
        <p:nvSpPr>
          <p:cNvPr id="319" name="Google Shape;319;p14">
            <a:extLst xmlns:a="http://schemas.openxmlformats.org/drawingml/2006/main">
              <a:ext uri="{FF2B5EF4-FFF2-40B4-BE49-F238E27FC236}">
                <a16:creationId xmlns:a16="http://schemas.microsoft.com/office/drawing/2014/main" id="{60F39B84-EE19-45D0-8768-9382241F42AA}"/>
              </a:ext>
            </a:extLst>
          </p:cNvPr>
          <p:cNvSpPr>
            <a:spLocks xmlns:a="http://schemas.openxmlformats.org/drawingml/2006/main" noGrp="1"/>
          </p:cNvSpPr>
          <p:nvPr/>
        </p:nvSpPr>
        <p:spPr>
          <a:xfrm xmlns:a="http://schemas.openxmlformats.org/drawingml/2006/main">
            <a:off x="2633472"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0" name="Google Shape;320;p14">
            <a:extLst xmlns:a="http://schemas.openxmlformats.org/drawingml/2006/main">
              <a:ext uri="{FF2B5EF4-FFF2-40B4-BE49-F238E27FC236}">
                <a16:creationId xmlns:a16="http://schemas.microsoft.com/office/drawing/2014/main" id="{7FA0ED02-543E-4A13-95D2-6067839C7F83}"/>
              </a:ext>
            </a:extLst>
          </p:cNvPr>
          <p:cNvSpPr>
            <a:spLocks xmlns:a="http://schemas.openxmlformats.org/drawingml/2006/main" noGrp="1"/>
          </p:cNvSpPr>
          <p:nvPr/>
        </p:nvSpPr>
        <p:spPr>
          <a:xfrm xmlns:a="http://schemas.openxmlformats.org/drawingml/2006/main">
            <a:off x="2816352"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1" name="Google Shape;321;p14">
            <a:extLst xmlns:a="http://schemas.openxmlformats.org/drawingml/2006/main">
              <a:ext uri="{FF2B5EF4-FFF2-40B4-BE49-F238E27FC236}">
                <a16:creationId xmlns:a16="http://schemas.microsoft.com/office/drawing/2014/main" id="{05984975-9EF2-4B27-BC18-E34E61BF99CE}"/>
              </a:ext>
            </a:extLst>
          </p:cNvPr>
          <p:cNvSpPr>
            <a:spLocks xmlns:a="http://schemas.openxmlformats.org/drawingml/2006/main" noGrp="1"/>
          </p:cNvSpPr>
          <p:nvPr/>
        </p:nvSpPr>
        <p:spPr>
          <a:xfrm xmlns:a="http://schemas.openxmlformats.org/drawingml/2006/main">
            <a:off x="2882189"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2" name="Google Shape;322;p14">
            <a:extLst xmlns:a="http://schemas.openxmlformats.org/drawingml/2006/main">
              <a:ext uri="{FF2B5EF4-FFF2-40B4-BE49-F238E27FC236}">
                <a16:creationId xmlns:a16="http://schemas.microsoft.com/office/drawing/2014/main" id="{BF5CD7AA-6685-41E6-97B6-F613B103ED15}"/>
              </a:ext>
            </a:extLst>
          </p:cNvPr>
          <p:cNvSpPr>
            <a:spLocks xmlns:a="http://schemas.openxmlformats.org/drawingml/2006/main" noGrp="1"/>
          </p:cNvSpPr>
          <p:nvPr/>
        </p:nvSpPr>
        <p:spPr>
          <a:xfrm xmlns:a="http://schemas.openxmlformats.org/drawingml/2006/main">
            <a:off x="2938150"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3" name="Google Shape;323;p14">
            <a:extLst xmlns:a="http://schemas.openxmlformats.org/drawingml/2006/main">
              <a:ext uri="{FF2B5EF4-FFF2-40B4-BE49-F238E27FC236}">
                <a16:creationId xmlns:a16="http://schemas.microsoft.com/office/drawing/2014/main" id="{B602BF87-099F-4048-8393-606BC4714DEC}"/>
              </a:ext>
            </a:extLst>
          </p:cNvPr>
          <p:cNvSpPr>
            <a:spLocks xmlns:a="http://schemas.openxmlformats.org/drawingml/2006/main" noGrp="1"/>
          </p:cNvSpPr>
          <p:nvPr/>
        </p:nvSpPr>
        <p:spPr>
          <a:xfrm xmlns:a="http://schemas.openxmlformats.org/drawingml/2006/main">
            <a:off x="2798064"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Peace</a:t>
            </a:r>
          </a:p>
        </p:txBody>
      </p:sp>
      <p:sp>
        <p:nvSpPr>
          <p:cNvPr id="324" name="Google Shape;324;p14">
            <a:extLst xmlns:a="http://schemas.openxmlformats.org/drawingml/2006/main">
              <a:ext uri="{FF2B5EF4-FFF2-40B4-BE49-F238E27FC236}">
                <a16:creationId xmlns:a16="http://schemas.microsoft.com/office/drawing/2014/main" id="{C57EE985-B72A-4CAD-8E04-D8480AA5134A}"/>
              </a:ext>
            </a:extLst>
          </p:cNvPr>
          <p:cNvSpPr>
            <a:spLocks xmlns:a="http://schemas.openxmlformats.org/drawingml/2006/main" noGrp="1"/>
          </p:cNvSpPr>
          <p:nvPr/>
        </p:nvSpPr>
        <p:spPr>
          <a:xfrm xmlns:a="http://schemas.openxmlformats.org/drawingml/2006/main">
            <a:off x="2798064"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vritti–chitta</a:t>
            </a:r>
          </a:p>
        </p:txBody>
      </p:sp>
      <p:sp>
        <p:nvSpPr>
          <p:cNvPr id="325" name="Google Shape;325;p14">
            <a:extLst xmlns:a="http://schemas.openxmlformats.org/drawingml/2006/main">
              <a:ext uri="{FF2B5EF4-FFF2-40B4-BE49-F238E27FC236}">
                <a16:creationId xmlns:a16="http://schemas.microsoft.com/office/drawing/2014/main" id="{0B376BFC-7CD1-4336-8594-75267473214F}"/>
              </a:ext>
            </a:extLst>
          </p:cNvPr>
          <p:cNvSpPr>
            <a:spLocks xmlns:a="http://schemas.openxmlformats.org/drawingml/2006/main" noGrp="1"/>
          </p:cNvSpPr>
          <p:nvPr/>
        </p:nvSpPr>
        <p:spPr>
          <a:xfrm xmlns:a="http://schemas.openxmlformats.org/drawingml/2006/main">
            <a:off x="4626864"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6" name="Google Shape;326;p14">
            <a:extLst xmlns:a="http://schemas.openxmlformats.org/drawingml/2006/main">
              <a:ext uri="{FF2B5EF4-FFF2-40B4-BE49-F238E27FC236}">
                <a16:creationId xmlns:a16="http://schemas.microsoft.com/office/drawing/2014/main" id="{5D87A2CB-DCEF-43CE-896E-6381F18C8FAE}"/>
              </a:ext>
            </a:extLst>
          </p:cNvPr>
          <p:cNvSpPr>
            <a:spLocks xmlns:a="http://schemas.openxmlformats.org/drawingml/2006/main" noGrp="1"/>
          </p:cNvSpPr>
          <p:nvPr/>
        </p:nvSpPr>
        <p:spPr>
          <a:xfrm xmlns:a="http://schemas.openxmlformats.org/drawingml/2006/main">
            <a:off x="4809744"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7" name="Google Shape;327;p14">
            <a:extLst xmlns:a="http://schemas.openxmlformats.org/drawingml/2006/main">
              <a:ext uri="{FF2B5EF4-FFF2-40B4-BE49-F238E27FC236}">
                <a16:creationId xmlns:a16="http://schemas.microsoft.com/office/drawing/2014/main" id="{B089A3C9-77C2-4F30-A684-280DB0E7EF35}"/>
              </a:ext>
            </a:extLst>
          </p:cNvPr>
          <p:cNvSpPr>
            <a:spLocks xmlns:a="http://schemas.openxmlformats.org/drawingml/2006/main" noGrp="1"/>
          </p:cNvSpPr>
          <p:nvPr/>
        </p:nvSpPr>
        <p:spPr>
          <a:xfrm xmlns:a="http://schemas.openxmlformats.org/drawingml/2006/main">
            <a:off x="4875581"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8" name="Google Shape;328;p14">
            <a:extLst xmlns:a="http://schemas.openxmlformats.org/drawingml/2006/main">
              <a:ext uri="{FF2B5EF4-FFF2-40B4-BE49-F238E27FC236}">
                <a16:creationId xmlns:a16="http://schemas.microsoft.com/office/drawing/2014/main" id="{DBF1ECF8-04B7-4659-90D6-4B7D43CFB0FF}"/>
              </a:ext>
            </a:extLst>
          </p:cNvPr>
          <p:cNvSpPr>
            <a:spLocks xmlns:a="http://schemas.openxmlformats.org/drawingml/2006/main" noGrp="1"/>
          </p:cNvSpPr>
          <p:nvPr/>
        </p:nvSpPr>
        <p:spPr>
          <a:xfrm xmlns:a="http://schemas.openxmlformats.org/drawingml/2006/main">
            <a:off x="4931542"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9" name="Google Shape;329;p14">
            <a:extLst xmlns:a="http://schemas.openxmlformats.org/drawingml/2006/main">
              <a:ext uri="{FF2B5EF4-FFF2-40B4-BE49-F238E27FC236}">
                <a16:creationId xmlns:a16="http://schemas.microsoft.com/office/drawing/2014/main" id="{0133C274-E784-4152-8DBC-45323A74CBEE}"/>
              </a:ext>
            </a:extLst>
          </p:cNvPr>
          <p:cNvSpPr>
            <a:spLocks xmlns:a="http://schemas.openxmlformats.org/drawingml/2006/main" noGrp="1"/>
          </p:cNvSpPr>
          <p:nvPr/>
        </p:nvSpPr>
        <p:spPr>
          <a:xfrm xmlns:a="http://schemas.openxmlformats.org/drawingml/2006/main">
            <a:off x="4791456"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Contentment</a:t>
            </a:r>
          </a:p>
        </p:txBody>
      </p:sp>
      <p:sp>
        <p:nvSpPr>
          <p:cNvPr id="330" name="Google Shape;330;p14">
            <a:extLst xmlns:a="http://schemas.openxmlformats.org/drawingml/2006/main">
              <a:ext uri="{FF2B5EF4-FFF2-40B4-BE49-F238E27FC236}">
                <a16:creationId xmlns:a16="http://schemas.microsoft.com/office/drawing/2014/main" id="{AAC31C75-25BF-46A1-A126-DCDE6C144CF6}"/>
              </a:ext>
            </a:extLst>
          </p:cNvPr>
          <p:cNvSpPr>
            <a:spLocks xmlns:a="http://schemas.openxmlformats.org/drawingml/2006/main" noGrp="1"/>
          </p:cNvSpPr>
          <p:nvPr/>
        </p:nvSpPr>
        <p:spPr>
          <a:xfrm xmlns:a="http://schemas.openxmlformats.org/drawingml/2006/main">
            <a:off x="4791456"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chitta–buddhi</a:t>
            </a:r>
          </a:p>
        </p:txBody>
      </p:sp>
      <p:sp>
        <p:nvSpPr>
          <p:cNvPr id="331" name="Google Shape;331;p14">
            <a:extLst xmlns:a="http://schemas.openxmlformats.org/drawingml/2006/main">
              <a:ext uri="{FF2B5EF4-FFF2-40B4-BE49-F238E27FC236}">
                <a16:creationId xmlns:a16="http://schemas.microsoft.com/office/drawing/2014/main" id="{AD588ADC-14AB-4D6E-BE51-B47D1FA91313}"/>
              </a:ext>
            </a:extLst>
          </p:cNvPr>
          <p:cNvSpPr>
            <a:spLocks xmlns:a="http://schemas.openxmlformats.org/drawingml/2006/main" noGrp="1"/>
          </p:cNvSpPr>
          <p:nvPr/>
        </p:nvSpPr>
        <p:spPr>
          <a:xfrm xmlns:a="http://schemas.openxmlformats.org/drawingml/2006/main">
            <a:off x="6620256" y="1371600"/>
            <a:ext cx="1874520" cy="1371600"/>
          </a:xfrm>
          <a:prstGeom xmlns:a="http://schemas.openxmlformats.org/drawingml/2006/main" prst="roundRect">
            <a:avLst>
              <a:gd name="adj" fmla="val 6667"/>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2" name="Google Shape;332;p14">
            <a:extLst xmlns:a="http://schemas.openxmlformats.org/drawingml/2006/main">
              <a:ext uri="{FF2B5EF4-FFF2-40B4-BE49-F238E27FC236}">
                <a16:creationId xmlns:a16="http://schemas.microsoft.com/office/drawing/2014/main" id="{64E5DA13-AAB6-40CB-9572-18B5D063B210}"/>
              </a:ext>
            </a:extLst>
          </p:cNvPr>
          <p:cNvSpPr>
            <a:spLocks xmlns:a="http://schemas.openxmlformats.org/drawingml/2006/main" noGrp="1"/>
          </p:cNvSpPr>
          <p:nvPr/>
        </p:nvSpPr>
        <p:spPr>
          <a:xfrm xmlns:a="http://schemas.openxmlformats.org/drawingml/2006/main">
            <a:off x="6803136"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3" name="Google Shape;333;p14">
            <a:extLst xmlns:a="http://schemas.openxmlformats.org/drawingml/2006/main">
              <a:ext uri="{FF2B5EF4-FFF2-40B4-BE49-F238E27FC236}">
                <a16:creationId xmlns:a16="http://schemas.microsoft.com/office/drawing/2014/main" id="{370FE943-5D79-4AE6-8839-A869C8C2CFB5}"/>
              </a:ext>
            </a:extLst>
          </p:cNvPr>
          <p:cNvSpPr>
            <a:spLocks xmlns:a="http://schemas.openxmlformats.org/drawingml/2006/main" noGrp="1"/>
          </p:cNvSpPr>
          <p:nvPr/>
        </p:nvSpPr>
        <p:spPr>
          <a:xfrm xmlns:a="http://schemas.openxmlformats.org/drawingml/2006/main">
            <a:off x="6868973"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4" name="Google Shape;334;p14">
            <a:extLst xmlns:a="http://schemas.openxmlformats.org/drawingml/2006/main">
              <a:ext uri="{FF2B5EF4-FFF2-40B4-BE49-F238E27FC236}">
                <a16:creationId xmlns:a16="http://schemas.microsoft.com/office/drawing/2014/main" id="{0D0B3D8B-4050-4E23-960D-B46244A46C0C}"/>
              </a:ext>
            </a:extLst>
          </p:cNvPr>
          <p:cNvSpPr>
            <a:spLocks xmlns:a="http://schemas.openxmlformats.org/drawingml/2006/main" noGrp="1"/>
          </p:cNvSpPr>
          <p:nvPr/>
        </p:nvSpPr>
        <p:spPr>
          <a:xfrm xmlns:a="http://schemas.openxmlformats.org/drawingml/2006/main">
            <a:off x="6924934" y="1657990"/>
            <a:ext cx="85588" cy="8558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5" name="Google Shape;335;p14">
            <a:extLst xmlns:a="http://schemas.openxmlformats.org/drawingml/2006/main">
              <a:ext uri="{FF2B5EF4-FFF2-40B4-BE49-F238E27FC236}">
                <a16:creationId xmlns:a16="http://schemas.microsoft.com/office/drawing/2014/main" id="{2152B3A1-74C9-497A-BEF6-73BDD595E11F}"/>
              </a:ext>
            </a:extLst>
          </p:cNvPr>
          <p:cNvSpPr>
            <a:spLocks xmlns:a="http://schemas.openxmlformats.org/drawingml/2006/main" noGrp="1"/>
          </p:cNvSpPr>
          <p:nvPr/>
        </p:nvSpPr>
        <p:spPr>
          <a:xfrm xmlns:a="http://schemas.openxmlformats.org/drawingml/2006/main">
            <a:off x="6784848"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Bliss</a:t>
            </a:r>
          </a:p>
        </p:txBody>
      </p:sp>
      <p:sp>
        <p:nvSpPr>
          <p:cNvPr id="336" name="Google Shape;336;p14">
            <a:extLst xmlns:a="http://schemas.openxmlformats.org/drawingml/2006/main">
              <a:ext uri="{FF2B5EF4-FFF2-40B4-BE49-F238E27FC236}">
                <a16:creationId xmlns:a16="http://schemas.microsoft.com/office/drawing/2014/main" id="{959F3493-EF9B-4605-8AB3-D87384A62E0E}"/>
              </a:ext>
            </a:extLst>
          </p:cNvPr>
          <p:cNvSpPr>
            <a:spLocks xmlns:a="http://schemas.openxmlformats.org/drawingml/2006/main" noGrp="1"/>
          </p:cNvSpPr>
          <p:nvPr/>
        </p:nvSpPr>
        <p:spPr>
          <a:xfrm xmlns:a="http://schemas.openxmlformats.org/drawingml/2006/main">
            <a:off x="6784848"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buddhi–atma</a:t>
            </a:r>
          </a:p>
        </p:txBody>
      </p:sp>
      <p:sp>
        <p:nvSpPr>
          <p:cNvPr id="337" name="Google Shape;337;p14">
            <a:extLst xmlns:a="http://schemas.openxmlformats.org/drawingml/2006/main">
              <a:ext uri="{FF2B5EF4-FFF2-40B4-BE49-F238E27FC236}">
                <a16:creationId xmlns:a16="http://schemas.microsoft.com/office/drawing/2014/main" id="{81146B51-B30E-430E-83DE-2585F3FC497B}"/>
              </a:ext>
            </a:extLst>
          </p:cNvPr>
          <p:cNvSpPr>
            <a:spLocks xmlns:a="http://schemas.openxmlformats.org/drawingml/2006/main" noGrp="1"/>
          </p:cNvSpPr>
          <p:nvPr/>
        </p:nvSpPr>
        <p:spPr>
          <a:xfrm xmlns:a="http://schemas.openxmlformats.org/drawingml/2006/main">
            <a:off x="640080" y="3017520"/>
            <a:ext cx="7955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Happiness, peace, contentment, and bliss name harmonies within jeevan, not passing moods and not a fourth sequence after T1–T3. Evidenced outwardly, they support resolution, prosperity, fearlessness, and coexistence in human living.</a:t>
            </a:r>
          </a:p>
        </p:txBody>
      </p:sp>
      <p:sp>
        <p:nvSpPr>
          <p:cNvPr id="338" name="Google Shape;338;p14">
            <a:extLst xmlns:a="http://schemas.openxmlformats.org/drawingml/2006/main">
              <a:ext uri="{FF2B5EF4-FFF2-40B4-BE49-F238E27FC236}">
                <a16:creationId xmlns:a16="http://schemas.microsoft.com/office/drawing/2014/main" id="{473C8ADC-C7E0-4CFA-AE3E-B130B76CF47D}"/>
              </a:ext>
            </a:extLst>
          </p:cNvPr>
          <p:cNvSpPr>
            <a:spLocks xmlns:a="http://schemas.openxmlformats.org/drawingml/2006/main" noGrp="1"/>
          </p:cNvSpPr>
          <p:nvPr/>
        </p:nvSpPr>
        <p:spPr>
          <a:xfrm xmlns:a="http://schemas.openxmlformats.org/drawingml/2006/main">
            <a:off x="640080" y="3840480"/>
            <a:ext cx="7863840" cy="777240"/>
          </a:xfrm>
          <a:prstGeom xmlns:a="http://schemas.openxmlformats.org/drawingml/2006/main" prst="roundRect">
            <a:avLst>
              <a:gd name="adj" fmla="val 10588"/>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9" name="Google Shape;339;p14">
            <a:extLst xmlns:a="http://schemas.openxmlformats.org/drawingml/2006/main">
              <a:ext uri="{FF2B5EF4-FFF2-40B4-BE49-F238E27FC236}">
                <a16:creationId xmlns:a16="http://schemas.microsoft.com/office/drawing/2014/main" id="{D4AE49D8-4F4A-4571-9DC6-338A36BDECDE}"/>
              </a:ext>
            </a:extLst>
          </p:cNvPr>
          <p:cNvSpPr>
            <a:spLocks xmlns:a="http://schemas.openxmlformats.org/drawingml/2006/main" noGrp="1"/>
          </p:cNvSpPr>
          <p:nvPr/>
        </p:nvSpPr>
        <p:spPr>
          <a:xfrm xmlns:a="http://schemas.openxmlformats.org/drawingml/2006/main">
            <a:off x="914400" y="3840480"/>
            <a:ext cx="731520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0" i="1" u="none" cap="none">
                <a:solidFill>
                  <a:srgbClr val="FFFFFF"/>
                </a:solidFill>
                <a:latin typeface="Calibri"/>
                <a:ea typeface="Calibri"/>
                <a:cs typeface="Calibri"/>
              </a:rPr>
              <a:t>“Today we were evidenced in one issue, tomorrow in two, the day after in three.”</a:t>
            </a:r>
          </a:p>
          <a:p xmlns:a="http://schemas.openxmlformats.org/drawingml/2006/main">
            <a:pPr marL="0" indent="0" algn="l">
              <a:spcBef>
                <a:spcPts val="0"/>
              </a:spcBef>
              <a:spcAft>
                <a:spcPts val="0"/>
              </a:spcAft>
              <a:buNone/>
            </a:pPr>
            <a:r>
              <a:rPr sz="1050" b="0" i="0" u="none" cap="none">
                <a:solidFill>
                  <a:srgbClr val="C9D4EF"/>
                </a:solidFill>
                <a:latin typeface="Calibri"/>
                <a:ea typeface="Calibri"/>
                <a:cs typeface="Calibri"/>
              </a:rPr>
              <a:t>Reflection feeds projection, and projection feeds deeper reflection — this alone is what living means.  — KD §3.12, p. 112–113</a:t>
            </a:r>
          </a:p>
        </p:txBody>
      </p:sp>
      <p:sp>
        <p:nvSpPr>
          <p:cNvPr id="340" name="Google Shape;340;p14">
            <a:extLst xmlns:a="http://schemas.openxmlformats.org/drawingml/2006/main">
              <a:ext uri="{FF2B5EF4-FFF2-40B4-BE49-F238E27FC236}">
                <a16:creationId xmlns:a16="http://schemas.microsoft.com/office/drawing/2014/main" id="{171B8D50-50F5-4333-887C-5E6D88D574F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§3.12, p. 110–113 (projection–reflection)  ·  JV p. 61 (values ladder)</a:t>
            </a:r>
          </a:p>
        </p:txBody>
      </p:sp>
    </p:spTree>
    <p:extLst>
      <p:ext uri="{BB962C8B-B14F-4D97-AF65-F5344CB8AC3E}">
        <p14:creationId xmlns:p14="http://schemas.microsoft.com/office/powerpoint/2010/main" val="105336366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898E7607-7F1C-424A-993A-F8E26F7A24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7622CE7C-8573-4236-A346-EABC53B99E6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887E38F-E90F-4346-927D-FDEAD4A34A7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1D90A0E4-9D61-4F58-A708-5B7C5EA64AD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§1.10 · COMPOSITION AND ASSEMBLIES</a:t>
            </a:r>
          </a:p>
        </p:txBody>
      </p:sp>
      <p:sp>
        <p:nvSpPr>
          <p:cNvPr id="377" name="Google Shape;377;p16">
            <a:extLst xmlns:a="http://schemas.openxmlformats.org/drawingml/2006/main">
              <a:ext uri="{FF2B5EF4-FFF2-40B4-BE49-F238E27FC236}">
                <a16:creationId xmlns:a16="http://schemas.microsoft.com/office/drawing/2014/main" id="{AC36AA5B-8B8A-4C8C-A428-1480E49A706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From Atoms to Societies</a:t>
            </a:r>
          </a:p>
        </p:txBody>
      </p:sp>
      <p:sp>
        <p:nvSpPr>
          <p:cNvPr id="378" name="Google Shape;378;p16">
            <a:extLst xmlns:a="http://schemas.openxmlformats.org/drawingml/2006/main">
              <a:ext uri="{FF2B5EF4-FFF2-40B4-BE49-F238E27FC236}">
                <a16:creationId xmlns:a16="http://schemas.microsoft.com/office/drawing/2014/main" id="{A2051764-B773-4F19-A8A3-6C0C73553B97}"/>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When complementary units fulfil their relationships, they compose into larger units. A natural inclination toward coexistence runs everywhere — each successful composition opens relationships at a higher tier.</a:t>
            </a:r>
          </a:p>
        </p:txBody>
      </p:sp>
      <p:sp>
        <p:nvSpPr>
          <p:cNvPr id="379" name="Google Shape;379;p16">
            <a:extLst xmlns:a="http://schemas.openxmlformats.org/drawingml/2006/main">
              <a:ext uri="{FF2B5EF4-FFF2-40B4-BE49-F238E27FC236}">
                <a16:creationId xmlns:a16="http://schemas.microsoft.com/office/drawing/2014/main" id="{9E0ED97E-1E7D-46E0-9662-BD752F49CE00}"/>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EE95B374-AF07-4C85-8F67-58E3A5B71D8A}"/>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Mixture</a:t>
            </a:r>
          </a:p>
        </p:txBody>
      </p:sp>
      <p:sp>
        <p:nvSpPr>
          <p:cNvPr id="381" name="Google Shape;381;p16">
            <a:extLst xmlns:a="http://schemas.openxmlformats.org/drawingml/2006/main">
              <a:ext uri="{FF2B5EF4-FFF2-40B4-BE49-F238E27FC236}">
                <a16:creationId xmlns:a16="http://schemas.microsoft.com/office/drawing/2014/main" id="{03ABC42C-3114-4DB8-918A-6C04812C2828}"/>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Components stay side by side and each maintains its own conduct — no new unit is formed.</a:t>
            </a:r>
          </a:p>
        </p:txBody>
      </p:sp>
      <p:sp>
        <p:nvSpPr>
          <p:cNvPr id="382" name="Google Shape;382;p16">
            <a:extLst xmlns:a="http://schemas.openxmlformats.org/drawingml/2006/main">
              <a:ext uri="{FF2B5EF4-FFF2-40B4-BE49-F238E27FC236}">
                <a16:creationId xmlns:a16="http://schemas.microsoft.com/office/drawing/2014/main" id="{F064E783-3B6A-440D-8C41-E0BFE659AD6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42D431DD-E635-4D55-B438-17FDFFD2715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Compound</a:t>
            </a:r>
          </a:p>
        </p:txBody>
      </p:sp>
      <p:sp>
        <p:nvSpPr>
          <p:cNvPr id="384" name="Google Shape;384;p16">
            <a:extLst xmlns:a="http://schemas.openxmlformats.org/drawingml/2006/main">
              <a:ext uri="{FF2B5EF4-FFF2-40B4-BE49-F238E27FC236}">
                <a16:creationId xmlns:a16="http://schemas.microsoft.com/office/drawing/2014/main" id="{84A2A0BA-02DB-46A8-9184-936EB5E2B4C3}"/>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Definite proportion yields a new bounded unit. Its real form and its guna, svabhav, and dharma are evidenced in the new unit's mutuality.</a:t>
            </a:r>
          </a:p>
        </p:txBody>
      </p:sp>
      <p:sp>
        <p:nvSpPr>
          <p:cNvPr id="385" name="Google Shape;385;p16">
            <a:extLst xmlns:a="http://schemas.openxmlformats.org/drawingml/2006/main">
              <a:ext uri="{FF2B5EF4-FFF2-40B4-BE49-F238E27FC236}">
                <a16:creationId xmlns:a16="http://schemas.microsoft.com/office/drawing/2014/main" id="{57CF42B5-94B9-4AE9-B060-6BC5C76524F6}"/>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Composition is not development. T1 occurs only when an atom reaches constitutional completeness. Insentient assemblies persist or decline definitely according to whether constituent relationships are fulfilled.</a:t>
            </a:r>
          </a:p>
        </p:txBody>
      </p:sp>
      <p:sp>
        <p:nvSpPr>
          <p:cNvPr id="386" name="Google Shape;386;p16">
            <a:extLst xmlns:a="http://schemas.openxmlformats.org/drawingml/2006/main">
              <a:ext uri="{FF2B5EF4-FFF2-40B4-BE49-F238E27FC236}">
                <a16:creationId xmlns:a16="http://schemas.microsoft.com/office/drawing/2014/main" id="{B129C209-3FF2-4016-A9B0-A8F5F3F3E7B0}"/>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6E5D0BC7-FC95-424C-85B1-8D68E7ECEA4E}"/>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Particles, atoms</a:t>
            </a:r>
          </a:p>
        </p:txBody>
      </p:sp>
      <p:sp>
        <p:nvSpPr>
          <p:cNvPr id="388" name="Google Shape;388;p16">
            <a:extLst xmlns:a="http://schemas.openxmlformats.org/drawingml/2006/main">
              <a:ext uri="{FF2B5EF4-FFF2-40B4-BE49-F238E27FC236}">
                <a16:creationId xmlns:a16="http://schemas.microsoft.com/office/drawing/2014/main" id="{2F6A46CA-D8E1-4BD2-AA8E-221F5B906904}"/>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68CC50-22BB-4266-A019-2EA79D2E3722}"/>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84AD2557-9213-4732-B37B-FE0F4371A01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Molecules</a:t>
            </a:r>
          </a:p>
        </p:txBody>
      </p:sp>
      <p:sp>
        <p:nvSpPr>
          <p:cNvPr id="391" name="Google Shape;391;p16">
            <a:extLst xmlns:a="http://schemas.openxmlformats.org/drawingml/2006/main">
              <a:ext uri="{FF2B5EF4-FFF2-40B4-BE49-F238E27FC236}">
                <a16:creationId xmlns:a16="http://schemas.microsoft.com/office/drawing/2014/main" id="{89D7FE30-7CBB-40BF-B52C-6DBBCAF63FFF}"/>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3302AF51-FAF2-4ECA-A54F-4AEFF431701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4774C513-D57A-4D9C-9224-483EB9B04BF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Cells &amp; bodies</a:t>
            </a:r>
          </a:p>
        </p:txBody>
      </p:sp>
      <p:sp>
        <p:nvSpPr>
          <p:cNvPr id="394" name="Google Shape;394;p16">
            <a:extLst xmlns:a="http://schemas.openxmlformats.org/drawingml/2006/main">
              <a:ext uri="{FF2B5EF4-FFF2-40B4-BE49-F238E27FC236}">
                <a16:creationId xmlns:a16="http://schemas.microsoft.com/office/drawing/2014/main" id="{82350748-5E36-4F6A-A071-97DA1C99693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13B9CA69-1149-4B06-8953-A5B2B9029404}"/>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30F2C252-C9A4-4D4B-96F6-0D00D394FC8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Human assemblies</a:t>
            </a:r>
          </a:p>
        </p:txBody>
      </p:sp>
      <p:sp>
        <p:nvSpPr>
          <p:cNvPr id="397" name="Google Shape;397;p16">
            <a:extLst xmlns:a="http://schemas.openxmlformats.org/drawingml/2006/main">
              <a:ext uri="{FF2B5EF4-FFF2-40B4-BE49-F238E27FC236}">
                <a16:creationId xmlns:a16="http://schemas.microsoft.com/office/drawing/2014/main" id="{C5FCA8E9-64AA-4FAA-9157-51830ED7C97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Families and societies are not physicochemical compounds. Their humane order is achieved through relationship-fulfilment, evaluation, and mutual satisfaction — not through chemically definite proportion.</a:t>
            </a:r>
          </a:p>
        </p:txBody>
      </p:sp>
      <p:sp>
        <p:nvSpPr>
          <p:cNvPr id="398" name="Google Shape;398;p16">
            <a:extLst xmlns:a="http://schemas.openxmlformats.org/drawingml/2006/main">
              <a:ext uri="{FF2B5EF4-FFF2-40B4-BE49-F238E27FC236}">
                <a16:creationId xmlns:a16="http://schemas.microsoft.com/office/drawing/2014/main" id="{E3D8EB7A-97C6-4DFE-834E-074ED2732AB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 67 (inclination toward coexistence)  ·  MVD p. 42 (mixture &amp; compound)  ·  SB p. 14 (persist or decline)</a:t>
            </a:r>
          </a:p>
        </p:txBody>
      </p:sp>
    </p:spTree>
    <p:extLst>
      <p:ext uri="{BB962C8B-B14F-4D97-AF65-F5344CB8AC3E}">
        <p14:creationId xmlns:p14="http://schemas.microsoft.com/office/powerpoint/2010/main" val="213648502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1.11 · THE THIRD ENDOWMENT</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Regulation Endowment</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Orderliness is self-regulation, inherent in saturated units — not dispensed by a cosmic governor. </a:t>
            </a:r>
            <a:r>
              <a:rPr sz="1250" b="1" i="0" u="none" cap="none">
                <a:solidFill>
                  <a:srgbClr val="1E2447"/>
                </a:solidFill>
                <a:latin typeface="Calibri"/>
                <a:ea typeface="Calibri"/>
                <a:cs typeface="Calibri"/>
              </a:rPr>
              <a:t>This mediative (madhyasth) regulation, which regulates and conserves every unit, gives the darshan its name.</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Order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Conformance 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Mode of fulfilment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Material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result- / structural-conformance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Bio (pranic)</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seed-conformance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Animal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species-conformance (inherited from gestation)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 bodily expression limited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Knowledge (human)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learned conformance through understanding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evaluation may err; alignment achieved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Material, bio, and animal regulation is definite; animal bodily development limits expression but does not introduce mis-evaluation. In human living, jeevan can judge wrongly when delusion mistakes the body for the self. Awakening aligns evaluation and fulfilment with coexistence.</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57  ·  MVD pp. 26–27, 67, 137, 311  ·  KD p. 14 (law across family, nation, world)</a:t>
            </a:r>
          </a:p>
        </p:txBody>
      </p:sp>
    </p:spTree>
    <p:extLst>
      <p:ext uri="{BB962C8B-B14F-4D97-AF65-F5344CB8AC3E}">
        <p14:creationId xmlns:p14="http://schemas.microsoft.com/office/powerpoint/2010/main" val="194233414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A227E694-ACB1-4552-9B01-9BA14E563CE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27B0F8F-D67F-402D-9A7D-CC96363D70A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094DB0CA-9CEE-40E8-B3E3-606F2F55863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FC275619-7726-4132-9B6E-380017453A7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§1.12 · EVALUATIVE PERSPECTIVES</a:t>
            </a:r>
          </a:p>
        </p:txBody>
      </p:sp>
      <p:sp>
        <p:nvSpPr>
          <p:cNvPr id="207" name="Google Shape;207;p10">
            <a:extLst xmlns:a="http://schemas.openxmlformats.org/drawingml/2006/main">
              <a:ext uri="{FF2B5EF4-FFF2-40B4-BE49-F238E27FC236}">
                <a16:creationId xmlns:a16="http://schemas.microsoft.com/office/drawing/2014/main" id="{FC8351DF-4D8B-4DEB-A7B3-FBE1FDA97F9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Justice, Dharma, Satya</a:t>
            </a:r>
          </a:p>
        </p:txBody>
      </p:sp>
      <p:sp>
        <p:nvSpPr>
          <p:cNvPr id="208" name="Google Shape;208;p10">
            <a:extLst xmlns:a="http://schemas.openxmlformats.org/drawingml/2006/main">
              <a:ext uri="{FF2B5EF4-FFF2-40B4-BE49-F238E27FC236}">
                <a16:creationId xmlns:a16="http://schemas.microsoft.com/office/drawing/2014/main" id="{FCB4F088-E7F6-4DE9-976F-1E0016290F4B}"/>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Evaluating an action rightly needs three widening perspectives. Justice asks whether one relationship is being fulfilled. Dharma asks whether the action fits the overall orderliness. Satya asks whether it holds up against the entire coexistence architecture.</a:t>
            </a:r>
          </a:p>
        </p:txBody>
      </p:sp>
      <p:sp>
        <p:nvSpPr>
          <p:cNvPr id="209" name="Google Shape;209;p10">
            <a:extLst xmlns:a="http://schemas.openxmlformats.org/drawingml/2006/main">
              <a:ext uri="{FF2B5EF4-FFF2-40B4-BE49-F238E27FC236}">
                <a16:creationId xmlns:a16="http://schemas.microsoft.com/office/drawing/2014/main" id="{577F7853-8B3D-4139-9CFE-636BD5FF4BC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1084CDE5-50F9-4276-867F-4FD62941EC8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Justice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relationship</a:t>
            </a:r>
          </a:p>
        </p:txBody>
      </p:sp>
      <p:sp>
        <p:nvSpPr>
          <p:cNvPr id="211" name="Google Shape;211;p10">
            <a:extLst xmlns:a="http://schemas.openxmlformats.org/drawingml/2006/main">
              <a:ext uri="{FF2B5EF4-FFF2-40B4-BE49-F238E27FC236}">
                <a16:creationId xmlns:a16="http://schemas.microsoft.com/office/drawing/2014/main" id="{60C9893A-91A5-4772-AED3-DCD9E751B981}"/>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fulfil what’s owed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recognise it, check what it requires</a:t>
            </a:r>
          </a:p>
        </p:txBody>
      </p:sp>
      <p:sp>
        <p:nvSpPr>
          <p:cNvPr id="212" name="Google Shape;212;p10">
            <a:extLst xmlns:a="http://schemas.openxmlformats.org/drawingml/2006/main">
              <a:ext uri="{FF2B5EF4-FFF2-40B4-BE49-F238E27FC236}">
                <a16:creationId xmlns:a16="http://schemas.microsoft.com/office/drawing/2014/main" id="{7DDB69DA-6C86-43C8-AB99-B8FC0A52B9B4}"/>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124E4E43-5036-40BE-9F52-0C736332667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Dharma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orderliness</a:t>
            </a:r>
          </a:p>
        </p:txBody>
      </p:sp>
      <p:sp>
        <p:nvSpPr>
          <p:cNvPr id="214" name="Google Shape;214;p10">
            <a:extLst xmlns:a="http://schemas.openxmlformats.org/drawingml/2006/main">
              <a:ext uri="{FF2B5EF4-FFF2-40B4-BE49-F238E27FC236}">
                <a16:creationId xmlns:a16="http://schemas.microsoft.com/office/drawing/2014/main" id="{9D4DB499-FF49-40DA-9AE5-266D70C6EAA6}"/>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fit the wider pattern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discipline in thought, not just conduct</a:t>
            </a:r>
          </a:p>
        </p:txBody>
      </p:sp>
      <p:sp>
        <p:nvSpPr>
          <p:cNvPr id="215" name="Google Shape;215;p10">
            <a:extLst xmlns:a="http://schemas.openxmlformats.org/drawingml/2006/main">
              <a:ext uri="{FF2B5EF4-FFF2-40B4-BE49-F238E27FC236}">
                <a16:creationId xmlns:a16="http://schemas.microsoft.com/office/drawing/2014/main" id="{3EFCB717-BC3C-4902-96E7-34E87294B4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2D87294-2AD0-458F-8076-D9F44C0F3C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Satya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architecture</a:t>
            </a:r>
          </a:p>
        </p:txBody>
      </p:sp>
      <p:sp>
        <p:nvSpPr>
          <p:cNvPr id="217" name="Google Shape;217;p10">
            <a:extLst xmlns:a="http://schemas.openxmlformats.org/drawingml/2006/main">
              <a:ext uri="{FF2B5EF4-FFF2-40B4-BE49-F238E27FC236}">
                <a16:creationId xmlns:a16="http://schemas.microsoft.com/office/drawing/2014/main" id="{4AC770B6-231B-43C5-A35F-E7957DACDC07}"/>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align with the whole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grounded in realisation, not liking or gain</a:t>
            </a:r>
          </a:p>
        </p:txBody>
      </p:sp>
      <p:sp>
        <p:nvSpPr>
          <p:cNvPr id="218" name="Google Shape;218;p10">
            <a:extLst xmlns:a="http://schemas.openxmlformats.org/drawingml/2006/main">
              <a:ext uri="{FF2B5EF4-FFF2-40B4-BE49-F238E27FC236}">
                <a16:creationId xmlns:a16="http://schemas.microsoft.com/office/drawing/2014/main" id="{67BE35B1-9F7E-43AA-BCA7-CDCBC3E976D2}"/>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2EBCC9FB-178B-4F48-8E46-B6AC0DA5D2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graduated chain</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“Rule itself is justice, justice itself is dharma, dharma itself is truth, truth itself is coexistence.”</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 KD p. 13</a:t>
            </a:r>
          </a:p>
        </p:txBody>
      </p:sp>
      <p:sp>
        <p:nvSpPr>
          <p:cNvPr id="230" name="Google Shape;230;p10">
            <a:extLst xmlns:a="http://schemas.openxmlformats.org/drawingml/2006/main">
              <a:ext uri="{FF2B5EF4-FFF2-40B4-BE49-F238E27FC236}">
                <a16:creationId xmlns:a16="http://schemas.microsoft.com/office/drawing/2014/main" id="{9268F224-4C3A-454A-A2D9-30300DB4E8B3}"/>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Footnote: the same principle scales up — MVD names it justice within one order, dharma between nations, truth at cosmic scale (p. 161–162).</a:t>
            </a:r>
          </a:p>
        </p:txBody>
      </p:sp>
      <p:sp>
        <p:nvSpPr>
          <p:cNvPr id="220" name="Google Shape;220;p10">
            <a:extLst xmlns:a="http://schemas.openxmlformats.org/drawingml/2006/main">
              <a:ext uri="{FF2B5EF4-FFF2-40B4-BE49-F238E27FC236}">
                <a16:creationId xmlns:a16="http://schemas.microsoft.com/office/drawing/2014/main" id="{8FBE3DC7-DB80-4DE6-B0B5-0F778F11938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§1.12, §1.12.1 (justice, dharma, truth)  ·  KD p. 10 (six perspectives), p. 13 (chain), p. 60, 86 (universal expectation of justice)</a:t>
            </a:r>
          </a:p>
        </p:txBody>
      </p:sp>
    </p:spTree>
    <p:extLst>
      <p:ext uri="{BB962C8B-B14F-4D97-AF65-F5344CB8AC3E}">
        <p14:creationId xmlns:p14="http://schemas.microsoft.com/office/powerpoint/2010/main" val="159218005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9" name="Google Shape;419;p18">
            <a:extLst xmlns:a="http://schemas.openxmlformats.org/drawingml/2006/main">
              <a:ext uri="{FF2B5EF4-FFF2-40B4-BE49-F238E27FC236}">
                <a16:creationId xmlns:a16="http://schemas.microsoft.com/office/drawing/2014/main" id="{AC19F2BA-9F1E-4A35-BBD0-E8FFB6791B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0" name="Google Shape;420;p18">
            <a:extLst xmlns:a="http://schemas.openxmlformats.org/drawingml/2006/main">
              <a:ext uri="{FF2B5EF4-FFF2-40B4-BE49-F238E27FC236}">
                <a16:creationId xmlns:a16="http://schemas.microsoft.com/office/drawing/2014/main" id="{5B4143EF-219D-46BC-904B-B59B34A724E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1" name="Google Shape;421;p18">
            <a:extLst xmlns:a="http://schemas.openxmlformats.org/drawingml/2006/main">
              <a:ext uri="{FF2B5EF4-FFF2-40B4-BE49-F238E27FC236}">
                <a16:creationId xmlns:a16="http://schemas.microsoft.com/office/drawing/2014/main" id="{561CF8D0-7097-47DE-8D1B-22B21EE0610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2" name="Google Shape;422;p18">
            <a:extLst xmlns:a="http://schemas.openxmlformats.org/drawingml/2006/main">
              <a:ext uri="{FF2B5EF4-FFF2-40B4-BE49-F238E27FC236}">
                <a16:creationId xmlns:a16="http://schemas.microsoft.com/office/drawing/2014/main" id="{8DA75099-9845-48B9-8CDE-83573C3CEB1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§§1.3–1.4, 1.7, 1.12–1.13 · WHAT KNOWING NEEDS — AND HOW IT HAPPENS</a:t>
            </a:r>
          </a:p>
        </p:txBody>
      </p:sp>
      <p:sp>
        <p:nvSpPr>
          <p:cNvPr id="423" name="Google Shape;423;p18">
            <a:extLst xmlns:a="http://schemas.openxmlformats.org/drawingml/2006/main">
              <a:ext uri="{FF2B5EF4-FFF2-40B4-BE49-F238E27FC236}">
                <a16:creationId xmlns:a16="http://schemas.microsoft.com/office/drawing/2014/main" id="{A9BB04D9-3F67-41A2-8A26-AA19BA8992E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Epistemic Ladder</a:t>
            </a:r>
          </a:p>
        </p:txBody>
      </p:sp>
      <p:sp>
        <p:nvSpPr>
          <p:cNvPr id="424" name="Google Shape;424;p18">
            <a:extLst xmlns:a="http://schemas.openxmlformats.org/drawingml/2006/main">
              <a:ext uri="{FF2B5EF4-FFF2-40B4-BE49-F238E27FC236}">
                <a16:creationId xmlns:a16="http://schemas.microsoft.com/office/drawing/2014/main" id="{F0E43322-0A7C-40FB-BD60-2F7922B40F04}"/>
              </a:ext>
            </a:extLst>
          </p:cNvPr>
          <p:cNvSpPr>
            <a:spLocks xmlns:a="http://schemas.openxmlformats.org/drawingml/2006/main" noGrp="1"/>
          </p:cNvSpPr>
          <p:nvPr/>
        </p:nvSpPr>
        <p:spPr>
          <a:xfrm xmlns:a="http://schemas.openxmlformats.org/drawingml/2006/main">
            <a:off x="548640" y="1280160"/>
            <a:ext cx="37490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What must be understood — widening mutual context</a:t>
            </a:r>
          </a:p>
        </p:txBody>
      </p:sp>
      <p:sp>
        <p:nvSpPr>
          <p:cNvPr id="450" name="Google Shape;450;p18">
            <a:extLst xmlns:a="http://schemas.openxmlformats.org/drawingml/2006/main">
              <a:ext uri="{FF2B5EF4-FFF2-40B4-BE49-F238E27FC236}">
                <a16:creationId xmlns:a16="http://schemas.microsoft.com/office/drawing/2014/main" id="{A53A7AB2-1B4D-4CF8-B8AD-CA57930C99EB}"/>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oundRect">
            <a:avLst>
              <a:gd name="adj" fmla="val 14286"/>
            </a:avLst>
          </a:prstGeom>
          <a:solidFill xmlns:a="http://schemas.openxmlformats.org/drawingml/2006/main">
            <a:srgbClr val="9A6414"/>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1" name="Google Shape;451;p18">
            <a:extLst xmlns:a="http://schemas.openxmlformats.org/drawingml/2006/main">
              <a:ext uri="{FF2B5EF4-FFF2-40B4-BE49-F238E27FC236}">
                <a16:creationId xmlns:a16="http://schemas.microsoft.com/office/drawing/2014/main" id="{ED00F5D3-2ABA-4839-8328-84D8D7953D68}"/>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coexistence itself  ·  the telos of knowing</a:t>
            </a:r>
          </a:p>
        </p:txBody>
      </p:sp>
      <p:sp>
        <p:nvSpPr>
          <p:cNvPr id="452" name="Google Shape;452;p18">
            <a:extLst xmlns:a="http://schemas.openxmlformats.org/drawingml/2006/main">
              <a:ext uri="{FF2B5EF4-FFF2-40B4-BE49-F238E27FC236}">
                <a16:creationId xmlns:a16="http://schemas.microsoft.com/office/drawing/2014/main" id="{0969169C-3236-4F16-BE9A-E3957D4A6A9E}"/>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3" name="Google Shape;453;p18">
            <a:extLst xmlns:a="http://schemas.openxmlformats.org/drawingml/2006/main">
              <a:ext uri="{FF2B5EF4-FFF2-40B4-BE49-F238E27FC236}">
                <a16:creationId xmlns:a16="http://schemas.microsoft.com/office/drawing/2014/main" id="{72FCC9B4-A8AC-48A4-9F01-C35B56BEBBB7}"/>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relationships  ·  shared expectations weighed by justice, dharma, and truth (§1.12)</a:t>
            </a:r>
          </a:p>
        </p:txBody>
      </p:sp>
      <p:sp>
        <p:nvSpPr>
          <p:cNvPr id="425" name="Google Shape;425;p18">
            <a:extLst xmlns:a="http://schemas.openxmlformats.org/drawingml/2006/main">
              <a:ext uri="{FF2B5EF4-FFF2-40B4-BE49-F238E27FC236}">
                <a16:creationId xmlns:a16="http://schemas.microsoft.com/office/drawing/2014/main" id="{F81FC8C1-6F3A-42F5-A7CB-13017A67F93B}"/>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6" name="Google Shape;426;p18">
            <a:extLst xmlns:a="http://schemas.openxmlformats.org/drawingml/2006/main">
              <a:ext uri="{FF2B5EF4-FFF2-40B4-BE49-F238E27FC236}">
                <a16:creationId xmlns:a16="http://schemas.microsoft.com/office/drawing/2014/main" id="{FFA15703-3322-44A6-8170-6B7B205EBB14}"/>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9A6414"/>
                </a:solidFill>
                <a:latin typeface="Calibri"/>
                <a:ea typeface="Calibri"/>
                <a:cs typeface="Calibri"/>
              </a:rPr>
              <a:t>dharma  ·  innateness evidenced in whole-order fulfilment</a:t>
            </a:r>
          </a:p>
        </p:txBody>
      </p:sp>
      <p:sp>
        <p:nvSpPr>
          <p:cNvPr id="427" name="Google Shape;427;p18">
            <a:extLst xmlns:a="http://schemas.openxmlformats.org/drawingml/2006/main">
              <a:ext uri="{FF2B5EF4-FFF2-40B4-BE49-F238E27FC236}">
                <a16:creationId xmlns:a16="http://schemas.microsoft.com/office/drawing/2014/main" id="{0361EBB0-84E5-479B-85C7-4C9B5804B9FA}"/>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8" name="Google Shape;428;p18">
            <a:extLst xmlns:a="http://schemas.openxmlformats.org/drawingml/2006/main">
              <a:ext uri="{FF2B5EF4-FFF2-40B4-BE49-F238E27FC236}">
                <a16:creationId xmlns:a16="http://schemas.microsoft.com/office/drawing/2014/main" id="{0F84EEAC-434C-4925-9BB9-3DD284C2C194}"/>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svabhav  ·  usefulness within state, plane &amp; order</a:t>
            </a:r>
          </a:p>
        </p:txBody>
      </p:sp>
      <p:sp>
        <p:nvSpPr>
          <p:cNvPr id="429" name="Google Shape;429;p18">
            <a:extLst xmlns:a="http://schemas.openxmlformats.org/drawingml/2006/main">
              <a:ext uri="{FF2B5EF4-FFF2-40B4-BE49-F238E27FC236}">
                <a16:creationId xmlns:a16="http://schemas.microsoft.com/office/drawing/2014/main" id="{FD2DC8FD-9A9A-4C9A-9564-EA41F5ECC05F}"/>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0" name="Google Shape;430;p18">
            <a:extLst xmlns:a="http://schemas.openxmlformats.org/drawingml/2006/main">
              <a:ext uri="{FF2B5EF4-FFF2-40B4-BE49-F238E27FC236}">
                <a16:creationId xmlns:a16="http://schemas.microsoft.com/office/drawing/2014/main" id="{E64E419E-35C0-4FE7-813A-AD7269E90919}"/>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guna  ·  effects evident in definite mutuality</a:t>
            </a:r>
          </a:p>
        </p:txBody>
      </p:sp>
      <p:sp>
        <p:nvSpPr>
          <p:cNvPr id="431" name="Google Shape;431;p18">
            <a:extLst xmlns:a="http://schemas.openxmlformats.org/drawingml/2006/main">
              <a:ext uri="{FF2B5EF4-FFF2-40B4-BE49-F238E27FC236}">
                <a16:creationId xmlns:a16="http://schemas.microsoft.com/office/drawing/2014/main" id="{A26EA2FC-59CD-418E-ADF4-5AF22119D2B2}"/>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2" name="Google Shape;432;p18">
            <a:extLst xmlns:a="http://schemas.openxmlformats.org/drawingml/2006/main">
              <a:ext uri="{FF2B5EF4-FFF2-40B4-BE49-F238E27FC236}">
                <a16:creationId xmlns:a16="http://schemas.microsoft.com/office/drawing/2014/main" id="{14BA3C2D-3966-48F7-A294-E0FA8C17CF01}"/>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form  ·  real structure reflected in mutual facing</a:t>
            </a:r>
          </a:p>
        </p:txBody>
      </p:sp>
      <p:sp>
        <p:nvSpPr>
          <p:cNvPr id="433" name="Google Shape;433;p18">
            <a:extLst xmlns:a="http://schemas.openxmlformats.org/drawingml/2006/main">
              <a:ext uri="{FF2B5EF4-FFF2-40B4-BE49-F238E27FC236}">
                <a16:creationId xmlns:a16="http://schemas.microsoft.com/office/drawing/2014/main" id="{E31E0910-FFE3-4D4A-94D3-27A5C3C61D52}"/>
              </a:ext>
            </a:extLst>
          </p:cNvPr>
          <p:cNvSpPr>
            <a:spLocks xmlns:a="http://schemas.openxmlformats.org/drawingml/2006/main" noGrp="1"/>
          </p:cNvSpPr>
          <p:nvPr/>
        </p:nvSpPr>
        <p:spPr>
          <a:xfrm xmlns:a="http://schemas.openxmlformats.org/drawingml/2006/main">
            <a:off x="274320" y="4300000"/>
            <a:ext cx="4297680" cy="4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each rung widens the mutual context in which a real unit is understood; the top is a different kind of knowing — coexistence realised, not merely another observed aspect</a:t>
            </a:r>
          </a:p>
        </p:txBody>
      </p:sp>
      <p:sp>
        <p:nvSpPr>
          <p:cNvPr id="434" name="Google Shape;434;p18">
            <a:extLst xmlns:a="http://schemas.openxmlformats.org/drawingml/2006/main">
              <a:ext uri="{FF2B5EF4-FFF2-40B4-BE49-F238E27FC236}">
                <a16:creationId xmlns:a16="http://schemas.microsoft.com/office/drawing/2014/main" id="{E220C89B-021D-4776-983A-E31A49AA1D9F}"/>
              </a:ext>
            </a:extLst>
          </p:cNvPr>
          <p:cNvSpPr>
            <a:spLocks xmlns:a="http://schemas.openxmlformats.org/drawingml/2006/main" noGrp="1"/>
          </p:cNvSpPr>
          <p:nvPr/>
        </p:nvSpPr>
        <p:spPr>
          <a:xfrm xmlns:a="http://schemas.openxmlformats.org/drawingml/2006/main">
            <a:off x="4892040" y="1280160"/>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How knowing happens — within jeevan</a:t>
            </a:r>
          </a:p>
        </p:txBody>
      </p:sp>
      <p:sp>
        <p:nvSpPr>
          <p:cNvPr id="435" name="Google Shape;435;p18">
            <a:extLst xmlns:a="http://schemas.openxmlformats.org/drawingml/2006/main">
              <a:ext uri="{FF2B5EF4-FFF2-40B4-BE49-F238E27FC236}">
                <a16:creationId xmlns:a16="http://schemas.microsoft.com/office/drawing/2014/main" id="{79ECD1B1-07B3-4D0C-A1FD-E24C3F416BB2}"/>
              </a:ext>
            </a:extLst>
          </p:cNvPr>
          <p:cNvSpPr>
            <a:spLocks xmlns:a="http://schemas.openxmlformats.org/drawingml/2006/main" noGrp="1"/>
          </p:cNvSpPr>
          <p:nvPr/>
        </p:nvSpPr>
        <p:spPr>
          <a:xfrm xmlns:a="http://schemas.openxmlformats.org/drawingml/2006/main">
            <a:off x="4892040" y="1645920"/>
            <a:ext cx="3429000" cy="457200"/>
          </a:xfrm>
          <a:prstGeom xmlns:a="http://schemas.openxmlformats.org/drawingml/2006/main" prst="roundRect">
            <a:avLst>
              <a:gd name="adj" fmla="val 16000"/>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6" name="Google Shape;436;p18">
            <a:extLst xmlns:a="http://schemas.openxmlformats.org/drawingml/2006/main">
              <a:ext uri="{FF2B5EF4-FFF2-40B4-BE49-F238E27FC236}">
                <a16:creationId xmlns:a16="http://schemas.microsoft.com/office/drawing/2014/main" id="{3670FC36-729C-4187-B7C8-6A6C96F6092F}"/>
              </a:ext>
            </a:extLst>
          </p:cNvPr>
          <p:cNvSpPr>
            <a:spLocks xmlns:a="http://schemas.openxmlformats.org/drawingml/2006/main" noGrp="1"/>
          </p:cNvSpPr>
          <p:nvPr/>
        </p:nvSpPr>
        <p:spPr>
          <a:xfrm xmlns:a="http://schemas.openxmlformats.org/drawingml/2006/main">
            <a:off x="5029200" y="1645920"/>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Core self (atma)   </a:t>
            </a:r>
            <a:r>
              <a:rPr sz="900" b="0" i="0" u="none" cap="none">
                <a:solidFill>
                  <a:srgbClr val="5A6377"/>
                </a:solidFill>
                <a:latin typeface="Calibri"/>
                <a:ea typeface="Calibri"/>
                <a:cs typeface="Calibri"/>
              </a:rPr>
              <a:t>realisation — only through truth · authenticity</a:t>
            </a:r>
          </a:p>
        </p:txBody>
      </p:sp>
      <p:sp>
        <p:nvSpPr>
          <p:cNvPr id="437" name="Google Shape;437;p18">
            <a:extLst xmlns:a="http://schemas.openxmlformats.org/drawingml/2006/main">
              <a:ext uri="{FF2B5EF4-FFF2-40B4-BE49-F238E27FC236}">
                <a16:creationId xmlns:a16="http://schemas.microsoft.com/office/drawing/2014/main" id="{2A893C6A-C0F2-4AE3-9C30-D6BA51DA39FA}"/>
              </a:ext>
            </a:extLst>
          </p:cNvPr>
          <p:cNvSpPr>
            <a:spLocks xmlns:a="http://schemas.openxmlformats.org/drawingml/2006/main" noGrp="1"/>
          </p:cNvSpPr>
          <p:nvPr/>
        </p:nvSpPr>
        <p:spPr>
          <a:xfrm xmlns:a="http://schemas.openxmlformats.org/drawingml/2006/main">
            <a:off x="4892040" y="2212848"/>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8" name="Google Shape;438;p18">
            <a:extLst xmlns:a="http://schemas.openxmlformats.org/drawingml/2006/main">
              <a:ext uri="{FF2B5EF4-FFF2-40B4-BE49-F238E27FC236}">
                <a16:creationId xmlns:a16="http://schemas.microsoft.com/office/drawing/2014/main" id="{13DBAC8B-BA37-4E22-A075-812F4996B776}"/>
              </a:ext>
            </a:extLst>
          </p:cNvPr>
          <p:cNvSpPr>
            <a:spLocks xmlns:a="http://schemas.openxmlformats.org/drawingml/2006/main" noGrp="1"/>
          </p:cNvSpPr>
          <p:nvPr/>
        </p:nvSpPr>
        <p:spPr>
          <a:xfrm xmlns:a="http://schemas.openxmlformats.org/drawingml/2006/main">
            <a:off x="5029200" y="2212848"/>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Resolve (buddhi)   </a:t>
            </a:r>
            <a:r>
              <a:rPr sz="900" b="0" i="0" u="none" cap="none">
                <a:solidFill>
                  <a:srgbClr val="5A6377"/>
                </a:solidFill>
                <a:latin typeface="Calibri"/>
                <a:ea typeface="Calibri"/>
                <a:cs typeface="Calibri"/>
              </a:rPr>
              <a:t>enlightenment of existence, jeevan, conduct · resolve</a:t>
            </a:r>
          </a:p>
        </p:txBody>
      </p:sp>
      <p:sp>
        <p:nvSpPr>
          <p:cNvPr id="439" name="Google Shape;439;p18">
            <a:extLst xmlns:a="http://schemas.openxmlformats.org/drawingml/2006/main">
              <a:ext uri="{FF2B5EF4-FFF2-40B4-BE49-F238E27FC236}">
                <a16:creationId xmlns:a16="http://schemas.microsoft.com/office/drawing/2014/main" id="{BD84D243-0706-4ECB-8BDE-CCD0CFF66D99}"/>
              </a:ext>
            </a:extLst>
          </p:cNvPr>
          <p:cNvSpPr>
            <a:spLocks xmlns:a="http://schemas.openxmlformats.org/drawingml/2006/main" noGrp="1"/>
          </p:cNvSpPr>
          <p:nvPr/>
        </p:nvSpPr>
        <p:spPr>
          <a:xfrm xmlns:a="http://schemas.openxmlformats.org/drawingml/2006/main">
            <a:off x="4892040" y="2779776"/>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0" name="Google Shape;440;p18">
            <a:extLst xmlns:a="http://schemas.openxmlformats.org/drawingml/2006/main">
              <a:ext uri="{FF2B5EF4-FFF2-40B4-BE49-F238E27FC236}">
                <a16:creationId xmlns:a16="http://schemas.microsoft.com/office/drawing/2014/main" id="{9C5519FC-525B-4B0C-8160-C849C521ABB4}"/>
              </a:ext>
            </a:extLst>
          </p:cNvPr>
          <p:cNvSpPr>
            <a:spLocks xmlns:a="http://schemas.openxmlformats.org/drawingml/2006/main" noGrp="1"/>
          </p:cNvSpPr>
          <p:nvPr/>
        </p:nvSpPr>
        <p:spPr>
          <a:xfrm xmlns:a="http://schemas.openxmlformats.org/drawingml/2006/main">
            <a:off x="5029200" y="2779776"/>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Desire (chitta)   </a:t>
            </a:r>
            <a:r>
              <a:rPr sz="900" b="0" i="0" u="none" cap="none">
                <a:solidFill>
                  <a:srgbClr val="5A6377"/>
                </a:solidFill>
                <a:latin typeface="Calibri"/>
                <a:ea typeface="Calibri"/>
                <a:cs typeface="Calibri"/>
              </a:rPr>
              <a:t>contemplation &amp; visualisation · direct recognition</a:t>
            </a:r>
          </a:p>
        </p:txBody>
      </p:sp>
      <p:sp>
        <p:nvSpPr>
          <p:cNvPr id="441" name="Google Shape;441;p18">
            <a:extLst xmlns:a="http://schemas.openxmlformats.org/drawingml/2006/main">
              <a:ext uri="{FF2B5EF4-FFF2-40B4-BE49-F238E27FC236}">
                <a16:creationId xmlns:a16="http://schemas.microsoft.com/office/drawing/2014/main" id="{617665E1-C932-4F56-9689-726D460A92A2}"/>
              </a:ext>
            </a:extLst>
          </p:cNvPr>
          <p:cNvSpPr>
            <a:spLocks xmlns:a="http://schemas.openxmlformats.org/drawingml/2006/main" noGrp="1"/>
          </p:cNvSpPr>
          <p:nvPr/>
        </p:nvSpPr>
        <p:spPr>
          <a:xfrm xmlns:a="http://schemas.openxmlformats.org/drawingml/2006/main">
            <a:off x="4892040" y="3346704"/>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2" name="Google Shape;442;p18">
            <a:extLst xmlns:a="http://schemas.openxmlformats.org/drawingml/2006/main">
              <a:ext uri="{FF2B5EF4-FFF2-40B4-BE49-F238E27FC236}">
                <a16:creationId xmlns:a16="http://schemas.microsoft.com/office/drawing/2014/main" id="{88CA3D4A-3ADF-41F4-86A7-A2DEB5EC083C}"/>
              </a:ext>
            </a:extLst>
          </p:cNvPr>
          <p:cNvSpPr>
            <a:spLocks xmlns:a="http://schemas.openxmlformats.org/drawingml/2006/main" noGrp="1"/>
          </p:cNvSpPr>
          <p:nvPr/>
        </p:nvSpPr>
        <p:spPr>
          <a:xfrm xmlns:a="http://schemas.openxmlformats.org/drawingml/2006/main">
            <a:off x="5029200" y="3346704"/>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Thought (vritti)   </a:t>
            </a:r>
            <a:r>
              <a:rPr sz="900" b="0" i="0" u="none" cap="none">
                <a:solidFill>
                  <a:srgbClr val="5A6377"/>
                </a:solidFill>
                <a:latin typeface="Calibri"/>
                <a:ea typeface="Calibri"/>
                <a:cs typeface="Calibri"/>
              </a:rPr>
              <a:t>deliberation in refuge of justice–dharma–truth · analysis</a:t>
            </a:r>
          </a:p>
        </p:txBody>
      </p:sp>
      <p:sp>
        <p:nvSpPr>
          <p:cNvPr id="443" name="Google Shape;443;p18">
            <a:extLst xmlns:a="http://schemas.openxmlformats.org/drawingml/2006/main">
              <a:ext uri="{FF2B5EF4-FFF2-40B4-BE49-F238E27FC236}">
                <a16:creationId xmlns:a16="http://schemas.microsoft.com/office/drawing/2014/main" id="{0F893CF6-212B-42B7-A187-A405DECB25AC}"/>
              </a:ext>
            </a:extLst>
          </p:cNvPr>
          <p:cNvSpPr>
            <a:spLocks xmlns:a="http://schemas.openxmlformats.org/drawingml/2006/main" noGrp="1"/>
          </p:cNvSpPr>
          <p:nvPr/>
        </p:nvSpPr>
        <p:spPr>
          <a:xfrm xmlns:a="http://schemas.openxmlformats.org/drawingml/2006/main">
            <a:off x="4892040" y="3913632"/>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4" name="Google Shape;444;p18">
            <a:extLst xmlns:a="http://schemas.openxmlformats.org/drawingml/2006/main">
              <a:ext uri="{FF2B5EF4-FFF2-40B4-BE49-F238E27FC236}">
                <a16:creationId xmlns:a16="http://schemas.microsoft.com/office/drawing/2014/main" id="{AB0D39D1-8330-498C-B3C9-712CB43BCA59}"/>
              </a:ext>
            </a:extLst>
          </p:cNvPr>
          <p:cNvSpPr>
            <a:spLocks xmlns:a="http://schemas.openxmlformats.org/drawingml/2006/main" noGrp="1"/>
          </p:cNvSpPr>
          <p:nvPr/>
        </p:nvSpPr>
        <p:spPr>
          <a:xfrm xmlns:a="http://schemas.openxmlformats.org/drawingml/2006/main">
            <a:off x="5029200" y="3913632"/>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Hope (mun)   </a:t>
            </a:r>
            <a:r>
              <a:rPr sz="900" b="0" i="0" u="none" cap="none">
                <a:solidFill>
                  <a:srgbClr val="5A6377"/>
                </a:solidFill>
                <a:latin typeface="Calibri"/>
                <a:ea typeface="Calibri"/>
                <a:cs typeface="Calibri"/>
              </a:rPr>
              <a:t>taste &amp; selection — first acceptance of the proposal</a:t>
            </a:r>
          </a:p>
        </p:txBody>
      </p:sp>
      <p:sp>
        <p:nvSpPr>
          <p:cNvPr id="454" name="Google Shape;454;p18">
            <a:extLst xmlns:a="http://schemas.openxmlformats.org/drawingml/2006/main">
              <a:ext uri="{FF2B5EF4-FFF2-40B4-BE49-F238E27FC236}">
                <a16:creationId xmlns:a16="http://schemas.microsoft.com/office/drawing/2014/main" id="{42229DEC-31D7-46FC-920E-80EFFB0F4C62}"/>
              </a:ext>
            </a:extLst>
          </p:cNvPr>
          <p:cNvSpPr>
            <a:spLocks xmlns:a="http://schemas.openxmlformats.org/drawingml/2006/main" noGrp="1"/>
          </p:cNvSpPr>
          <p:nvPr/>
        </p:nvSpPr>
        <p:spPr>
          <a:xfrm xmlns:a="http://schemas.openxmlformats.org/drawingml/2006/main">
            <a:off x="5029200" y="2092984"/>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bliss</a:t>
            </a:r>
          </a:p>
        </p:txBody>
      </p:sp>
      <p:sp>
        <p:nvSpPr>
          <p:cNvPr id="455" name="Google Shape;455;p18">
            <a:extLst xmlns:a="http://schemas.openxmlformats.org/drawingml/2006/main">
              <a:ext uri="{FF2B5EF4-FFF2-40B4-BE49-F238E27FC236}">
                <a16:creationId xmlns:a16="http://schemas.microsoft.com/office/drawing/2014/main" id="{50497EFB-3B56-4C56-B17F-B5D6FF917133}"/>
              </a:ext>
            </a:extLst>
          </p:cNvPr>
          <p:cNvSpPr>
            <a:spLocks xmlns:a="http://schemas.openxmlformats.org/drawingml/2006/main" noGrp="1"/>
          </p:cNvSpPr>
          <p:nvPr/>
        </p:nvSpPr>
        <p:spPr>
          <a:xfrm xmlns:a="http://schemas.openxmlformats.org/drawingml/2006/main">
            <a:off x="5029200" y="2659912"/>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contentment</a:t>
            </a:r>
          </a:p>
        </p:txBody>
      </p:sp>
      <p:sp>
        <p:nvSpPr>
          <p:cNvPr id="456" name="Google Shape;456;p18">
            <a:extLst xmlns:a="http://schemas.openxmlformats.org/drawingml/2006/main">
              <a:ext uri="{FF2B5EF4-FFF2-40B4-BE49-F238E27FC236}">
                <a16:creationId xmlns:a16="http://schemas.microsoft.com/office/drawing/2014/main" id="{423B0847-A9B7-4FA3-A1EE-1496BB4189F6}"/>
              </a:ext>
            </a:extLst>
          </p:cNvPr>
          <p:cNvSpPr>
            <a:spLocks xmlns:a="http://schemas.openxmlformats.org/drawingml/2006/main" noGrp="1"/>
          </p:cNvSpPr>
          <p:nvPr/>
        </p:nvSpPr>
        <p:spPr>
          <a:xfrm xmlns:a="http://schemas.openxmlformats.org/drawingml/2006/main">
            <a:off x="5029200" y="3226840"/>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peace</a:t>
            </a:r>
          </a:p>
        </p:txBody>
      </p:sp>
      <p:sp>
        <p:nvSpPr>
          <p:cNvPr id="457" name="Google Shape;457;p18">
            <a:extLst xmlns:a="http://schemas.openxmlformats.org/drawingml/2006/main">
              <a:ext uri="{FF2B5EF4-FFF2-40B4-BE49-F238E27FC236}">
                <a16:creationId xmlns:a16="http://schemas.microsoft.com/office/drawing/2014/main" id="{C5C7BD53-143E-4687-91C3-C9872691A7D9}"/>
              </a:ext>
            </a:extLst>
          </p:cNvPr>
          <p:cNvSpPr>
            <a:spLocks xmlns:a="http://schemas.openxmlformats.org/drawingml/2006/main" noGrp="1"/>
          </p:cNvSpPr>
          <p:nvPr/>
        </p:nvSpPr>
        <p:spPr>
          <a:xfrm xmlns:a="http://schemas.openxmlformats.org/drawingml/2006/main">
            <a:off x="5029200" y="3793768"/>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happiness</a:t>
            </a:r>
          </a:p>
        </p:txBody>
      </p:sp>
      <p:cxnSp>
        <p:nvCxnSpPr>
          <p:cNvPr id="677" name="Google Shape;445;p18"/>
          <p:cNvCxnSpPr/>
          <p:nvPr/>
        </p:nvCxnSpPr>
        <p:spPr>
          <a:xfrm xmlns:a="http://schemas.openxmlformats.org/drawingml/2006/main">
            <a:off x="4718304" y="1737360"/>
            <a:ext cx="0" cy="2514600"/>
          </a:xfrm>
          <a:prstGeom xmlns:a="http://schemas.openxmlformats.org/drawingml/2006/main" prst="straightConnector1">
            <a:avLst/>
          </a:prstGeom>
          <a:ln xmlns:a="http://schemas.openxmlformats.org/drawingml/2006/main" w="22225" cap="flat">
            <a:solidFill>
              <a:srgbClr val="3B4A7A"/>
            </a:solidFill>
            <a:prstDash val="solid"/>
            <a:round/>
            <a:headEnd type="triangle" w="med" len="med"/>
            <a:tailEnd type="none" w="sm" len="sm"/>
          </a:ln>
        </p:spPr>
      </p:cxnSp>
      <p:sp>
        <p:nvSpPr>
          <p:cNvPr id="446" name="Google Shape;446;p18">
            <a:extLst xmlns:a="http://schemas.openxmlformats.org/drawingml/2006/main">
              <a:ext uri="{FF2B5EF4-FFF2-40B4-BE49-F238E27FC236}">
                <a16:creationId xmlns:a16="http://schemas.microsoft.com/office/drawing/2014/main" id="{6B44C758-EC70-4A2A-97D3-7B86D0A2FA77}"/>
              </a:ext>
            </a:extLst>
          </p:cNvPr>
          <p:cNvSpPr>
            <a:spLocks xmlns:a="http://schemas.openxmlformats.org/drawingml/2006/main" noGrp="1"/>
          </p:cNvSpPr>
          <p:nvPr/>
        </p:nvSpPr>
        <p:spPr>
          <a:xfrm xmlns:a="http://schemas.openxmlformats.org/drawingml/2006/main" rot="-5400000">
            <a:off x="3218688"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3B4A7A"/>
                </a:solidFill>
                <a:latin typeface="Calibri"/>
                <a:ea typeface="Calibri"/>
                <a:cs typeface="Calibri"/>
              </a:rPr>
              <a:t>reflection (inward) · knowing deepens</a:t>
            </a:r>
          </a:p>
        </p:txBody>
      </p:sp>
      <p:cxnSp>
        <p:nvCxnSpPr>
          <p:cNvPr id="679" name="Google Shape;447;p18"/>
          <p:cNvCxnSpPr/>
          <p:nvPr/>
        </p:nvCxnSpPr>
        <p:spPr>
          <a:xfrm xmlns:a="http://schemas.openxmlformats.org/drawingml/2006/main">
            <a:off x="8503920" y="1737360"/>
            <a:ext cx="0" cy="2514600"/>
          </a:xfrm>
          <a:prstGeom xmlns:a="http://schemas.openxmlformats.org/drawingml/2006/main" prst="straightConnector1">
            <a:avLst/>
          </a:prstGeom>
          <a:ln xmlns:a="http://schemas.openxmlformats.org/drawingml/2006/main" w="22225" cap="flat">
            <a:solidFill>
              <a:srgbClr val="9A6414"/>
            </a:solidFill>
            <a:prstDash val="solid"/>
            <a:round/>
            <a:headEnd type="none" w="sm" len="sm"/>
            <a:tailEnd type="triangle" w="med" len="med"/>
          </a:ln>
        </p:spPr>
      </p:cxnSp>
      <p:sp>
        <p:nvSpPr>
          <p:cNvPr id="448" name="Google Shape;448;p18">
            <a:extLst xmlns:a="http://schemas.openxmlformats.org/drawingml/2006/main">
              <a:ext uri="{FF2B5EF4-FFF2-40B4-BE49-F238E27FC236}">
                <a16:creationId xmlns:a16="http://schemas.microsoft.com/office/drawing/2014/main" id="{B58B41CB-21B3-4AF5-80AB-46A0B06BD451}"/>
              </a:ext>
            </a:extLst>
          </p:cNvPr>
          <p:cNvSpPr>
            <a:spLocks xmlns:a="http://schemas.openxmlformats.org/drawingml/2006/main" noGrp="1"/>
          </p:cNvSpPr>
          <p:nvPr/>
        </p:nvSpPr>
        <p:spPr>
          <a:xfrm xmlns:a="http://schemas.openxmlformats.org/drawingml/2006/main" rot="5400000">
            <a:off x="7315200"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9A6414"/>
                </a:solidFill>
                <a:latin typeface="Calibri"/>
                <a:ea typeface="Calibri"/>
                <a:cs typeface="Calibri"/>
              </a:rPr>
              <a:t>projection (outward) · evidenced in conduct</a:t>
            </a:r>
          </a:p>
        </p:txBody>
      </p:sp>
      <p:sp>
        <p:nvSpPr>
          <p:cNvPr id="449" name="Google Shape;449;p18">
            <a:extLst xmlns:a="http://schemas.openxmlformats.org/drawingml/2006/main">
              <a:ext uri="{FF2B5EF4-FFF2-40B4-BE49-F238E27FC236}">
                <a16:creationId xmlns:a16="http://schemas.microsoft.com/office/drawing/2014/main" id="{DD863381-420E-49B6-B4C5-0F4491A4B9C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 ladders meet at the top: coexistence itself, known and acted on in the core self, is felt as bliss — each lower pair, likewise, only when acted on, not merely known (§1.8, §1.13). MVD p. 11 · JV pp. 61, 120, 138 · MVD pp. 78, 101, 137</a:t>
            </a:r>
          </a:p>
        </p:txBody>
      </p:sp>
    </p:spTree>
    <p:extLst>
      <p:ext uri="{BB962C8B-B14F-4D97-AF65-F5344CB8AC3E}">
        <p14:creationId xmlns:p14="http://schemas.microsoft.com/office/powerpoint/2010/main" val="89581291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07581D21-511B-4790-91C9-D90747F67FC9}"/>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8E847718-D958-49AA-B3E7-98F2B43898D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CFD9781-4DCA-4BEB-9313-9ECFFDBEC68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BA84033F-9FDD-4767-B014-140006D1DEC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1.7–1.8, 1.10, 1.12, 1.15</a:t>
            </a:r>
            <a:r>
              <a:rPr sz="1050" b="1" i="0" u="none" cap="none">
                <a:solidFill>
                  <a:srgbClr val="9A6414"/>
                </a:solidFill>
                <a:latin typeface="Calibri"/>
                <a:ea typeface="Calibri"/>
                <a:cs typeface="Calibri"/>
              </a:rPr>
              <a:t> · WHERE THE LADDER COMPLETES — OR STALLS</a:t>
            </a:r>
          </a:p>
        </p:txBody>
      </p:sp>
      <p:sp>
        <p:nvSpPr>
          <p:cNvPr id="377" name="Google Shape;377;p16">
            <a:extLst xmlns:a="http://schemas.openxmlformats.org/drawingml/2006/main">
              <a:ext uri="{FF2B5EF4-FFF2-40B4-BE49-F238E27FC236}">
                <a16:creationId xmlns:a16="http://schemas.microsoft.com/office/drawing/2014/main" id="{FF685332-26F8-4B79-8236-35E8714723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Makes Me Happy?</a:t>
            </a:r>
          </a:p>
        </p:txBody>
      </p:sp>
      <p:sp>
        <p:nvSpPr>
          <p:cNvPr id="378" name="Google Shape;378;p16">
            <a:extLst xmlns:a="http://schemas.openxmlformats.org/drawingml/2006/main">
              <a:ext uri="{FF2B5EF4-FFF2-40B4-BE49-F238E27FC236}">
                <a16:creationId xmlns:a16="http://schemas.microsoft.com/office/drawing/2014/main" id="{A94A97B3-ABEF-4204-9496-E7445669F06A}"/>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jeevan bears the same five faculties and ten activities. In human living they answer one question — what makes me happy? — by organising either around body-identification or around coexistence.</a:t>
            </a:r>
          </a:p>
        </p:txBody>
      </p:sp>
      <p:sp>
        <p:nvSpPr>
          <p:cNvPr id="379" name="Google Shape;379;p16">
            <a:extLst xmlns:a="http://schemas.openxmlformats.org/drawingml/2006/main">
              <a:ext uri="{FF2B5EF4-FFF2-40B4-BE49-F238E27FC236}">
                <a16:creationId xmlns:a16="http://schemas.microsoft.com/office/drawing/2014/main" id="{DFC0D836-170F-4421-9FA1-2F712032196C}"/>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82CAD944-C0A1-4B77-ABF5-82128BDE6928}"/>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31EF2D0D-4591-45F1-9A29-12B8369EBEE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mistakes the body for the self — its present faculties organise around accumulation, comfort, and safety; mis-evaluation follows</a:t>
            </a:r>
          </a:p>
        </p:txBody>
      </p:sp>
      <p:sp>
        <p:nvSpPr>
          <p:cNvPr id="382" name="Google Shape;382;p16">
            <a:extLst xmlns:a="http://schemas.openxmlformats.org/drawingml/2006/main">
              <a:ext uri="{FF2B5EF4-FFF2-40B4-BE49-F238E27FC236}">
                <a16:creationId xmlns:a16="http://schemas.microsoft.com/office/drawing/2014/main" id="{3E21E7A9-BB7E-46F7-9B1C-98F8677948A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CF1A96A7-621E-47A6-80A9-081CEF352B63}"/>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D5D8B566-06C7-4D2E-9500-8C90671D828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knows its true nature and coexistence — resolve, desire, thought, and hope align around the core self — undivided society, universal orderliness</a:t>
            </a:r>
          </a:p>
        </p:txBody>
      </p:sp>
      <p:sp>
        <p:nvSpPr>
          <p:cNvPr id="385" name="Google Shape;385;p16">
            <a:extLst xmlns:a="http://schemas.openxmlformats.org/drawingml/2006/main">
              <a:ext uri="{FF2B5EF4-FFF2-40B4-BE49-F238E27FC236}">
                <a16:creationId xmlns:a16="http://schemas.microsoft.com/office/drawing/2014/main" id="{64B63632-C860-427D-A076-5E2670107C55}"/>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No faculty is absent. Delusion directs evaluation toward the body; awakening aligns it with coexistence. Study supplies understanding; practice evidences and stabilises that alignment.</a:t>
            </a:r>
          </a:p>
        </p:txBody>
      </p:sp>
      <p:sp>
        <p:nvSpPr>
          <p:cNvPr id="386" name="Google Shape;386;p16">
            <a:extLst xmlns:a="http://schemas.openxmlformats.org/drawingml/2006/main">
              <a:ext uri="{FF2B5EF4-FFF2-40B4-BE49-F238E27FC236}">
                <a16:creationId xmlns:a16="http://schemas.microsoft.com/office/drawing/2014/main" id="{43803F01-AD79-4037-B542-0CC5AC814A76}"/>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44D7C5EC-8B49-47EE-A3C6-D6FB60F219A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Resolution</a:t>
            </a:r>
          </a:p>
        </p:txBody>
      </p:sp>
      <p:sp>
        <p:nvSpPr>
          <p:cNvPr id="388" name="Google Shape;388;p16">
            <a:extLst xmlns:a="http://schemas.openxmlformats.org/drawingml/2006/main">
              <a:ext uri="{FF2B5EF4-FFF2-40B4-BE49-F238E27FC236}">
                <a16:creationId xmlns:a16="http://schemas.microsoft.com/office/drawing/2014/main" id="{B018E786-2ABF-4703-8EF8-89DC0686BF66}"/>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9621292-E103-427A-ACBB-B76DE51ED83D}"/>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33B307C8-11AE-485F-B9D0-04914905A78B}"/>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Prosperity</a:t>
            </a:r>
          </a:p>
        </p:txBody>
      </p:sp>
      <p:sp>
        <p:nvSpPr>
          <p:cNvPr id="391" name="Google Shape;391;p16">
            <a:extLst xmlns:a="http://schemas.openxmlformats.org/drawingml/2006/main">
              <a:ext uri="{FF2B5EF4-FFF2-40B4-BE49-F238E27FC236}">
                <a16:creationId xmlns:a16="http://schemas.microsoft.com/office/drawing/2014/main" id="{F846937F-3004-4CED-8A78-D7931D0532DD}"/>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E1E865D9-FE0D-45CE-A1BD-4FBAF882CD1F}"/>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1998CB01-B7AE-44FB-B5CC-A49E10AF461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Fearlessness</a:t>
            </a:r>
          </a:p>
        </p:txBody>
      </p:sp>
      <p:sp>
        <p:nvSpPr>
          <p:cNvPr id="394" name="Google Shape;394;p16">
            <a:extLst xmlns:a="http://schemas.openxmlformats.org/drawingml/2006/main">
              <a:ext uri="{FF2B5EF4-FFF2-40B4-BE49-F238E27FC236}">
                <a16:creationId xmlns:a16="http://schemas.microsoft.com/office/drawing/2014/main" id="{CB0DE84D-31EF-4F8D-B766-17ECF41955A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3BCEB229-5C2D-420F-BBD6-927C6E2B362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AA4D70B-6B5E-4ADA-8BFC-8C5D46324728}"/>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Coexistence</a:t>
            </a:r>
          </a:p>
        </p:txBody>
      </p:sp>
      <p:sp>
        <p:nvSpPr>
          <p:cNvPr id="397" name="Google Shape;397;p16">
            <a:extLst xmlns:a="http://schemas.openxmlformats.org/drawingml/2006/main">
              <a:ext uri="{FF2B5EF4-FFF2-40B4-BE49-F238E27FC236}">
                <a16:creationId xmlns:a16="http://schemas.microsoft.com/office/drawing/2014/main" id="{F9E1AF2F-A961-4897-A2B8-3FA63CEBF19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The same fork resolved in the individual is evidenced across a human tradition — resolution, prosperity, fearlessness, and coexistence, sustained as tradition (§1.15).</a:t>
            </a:r>
          </a:p>
        </p:txBody>
      </p:sp>
      <p:sp>
        <p:nvSpPr>
          <p:cNvPr id="398" name="Google Shape;398;p16">
            <a:extLst xmlns:a="http://schemas.openxmlformats.org/drawingml/2006/main">
              <a:ext uri="{FF2B5EF4-FFF2-40B4-BE49-F238E27FC236}">
                <a16:creationId xmlns:a16="http://schemas.microsoft.com/office/drawing/2014/main" id="{8E42611A-F97C-40CD-AAA5-421BA477B91E}"/>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 93 (root of delusion: body mistaken for jeevan)  ·  MVD Ch. 17 (ego → stubbornness → delusion)  ·  JV p. 61; MVD p. 13 (§1.15)</a:t>
            </a:r>
          </a:p>
        </p:txBody>
      </p:sp>
    </p:spTree>
    <p:extLst>
      <p:ext uri="{BB962C8B-B14F-4D97-AF65-F5344CB8AC3E}">
        <p14:creationId xmlns:p14="http://schemas.microsoft.com/office/powerpoint/2010/main" val="44395568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3E44556F-FFAA-4364-9956-D48D6721E20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E0CBC35E-C5A5-4B16-B492-57D972C51BD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AF54C0B0-85E4-49E9-83A7-62795312136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813CFFAE-CAA3-4077-9EC7-EA57CEAA6AA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§1.13 · WHERE THE DRIVE TERMINATES</a:t>
            </a:r>
          </a:p>
        </p:txBody>
      </p:sp>
      <p:sp>
        <p:nvSpPr>
          <p:cNvPr id="459" name="Google Shape;459;p19">
            <a:extLst xmlns:a="http://schemas.openxmlformats.org/drawingml/2006/main">
              <a:ext uri="{FF2B5EF4-FFF2-40B4-BE49-F238E27FC236}">
                <a16:creationId xmlns:a16="http://schemas.microsoft.com/office/drawing/2014/main" id="{2FB1F990-D58B-46C0-8D32-E6CFC49EA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Realisation in Coexistence</a:t>
            </a:r>
          </a:p>
        </p:txBody>
      </p:sp>
      <p:sp>
        <p:nvSpPr>
          <p:cNvPr id="460" name="Google Shape;460;p19">
            <a:extLst xmlns:a="http://schemas.openxmlformats.org/drawingml/2006/main">
              <a:ext uri="{FF2B5EF4-FFF2-40B4-BE49-F238E27FC236}">
                <a16:creationId xmlns:a16="http://schemas.microsoft.com/office/drawing/2014/main" id="{6EE567CB-C287-48F8-9DDE-9E207640CCD8}"/>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drive comes to rest when relationships across nature are fulfilled and made evident in coexistence — not because Omnipotence becomes a knower, but because awakened jeevan realises and evidences the coexistence in which it has always existed. Recognising and fulfilling become its living proof.</a:t>
            </a:r>
          </a:p>
        </p:txBody>
      </p:sp>
      <p:sp>
        <p:nvSpPr>
          <p:cNvPr id="461" name="Google Shape;461;p19">
            <a:extLst xmlns:a="http://schemas.openxmlformats.org/drawingml/2006/main">
              <a:ext uri="{FF2B5EF4-FFF2-40B4-BE49-F238E27FC236}">
                <a16:creationId xmlns:a16="http://schemas.microsoft.com/office/drawing/2014/main" id="{F107F107-EDBD-4B52-A84D-04C7F5B570EF}"/>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6AA0518B-C5E5-42E8-BE2D-A29138460050}"/>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is bliss</a:t>
            </a:r>
          </a:p>
        </p:txBody>
      </p:sp>
      <p:sp>
        <p:nvSpPr>
          <p:cNvPr id="463" name="Google Shape;463;p19">
            <a:extLst xmlns:a="http://schemas.openxmlformats.org/drawingml/2006/main">
              <a:ext uri="{FF2B5EF4-FFF2-40B4-BE49-F238E27FC236}">
                <a16:creationId xmlns:a16="http://schemas.microsoft.com/office/drawing/2014/main" id="{63E107EF-D15F-4C4D-962F-F24AE958FBA5}"/>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“Truth itself is abundance (coexistence), realisation of abundance itself is bliss, bliss itself is jeevan.” And it is knowledge itself: what is realised is the ground the unit was always soaked in.</a:t>
            </a:r>
          </a:p>
        </p:txBody>
      </p:sp>
      <p:sp>
        <p:nvSpPr>
          <p:cNvPr id="464" name="Google Shape;464;p19">
            <a:extLst xmlns:a="http://schemas.openxmlformats.org/drawingml/2006/main">
              <a:ext uri="{FF2B5EF4-FFF2-40B4-BE49-F238E27FC236}">
                <a16:creationId xmlns:a16="http://schemas.microsoft.com/office/drawing/2014/main" id="{9B7DE713-59AA-4F77-BCF0-01F9F20D9DC6}"/>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6669B3E0-2682-41FD-8EA3-7BED5ABE11C6}"/>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Knowledge — in projection</a:t>
            </a:r>
          </a:p>
        </p:txBody>
      </p:sp>
      <p:sp>
        <p:nvSpPr>
          <p:cNvPr id="466" name="Google Shape;466;p19">
            <a:extLst xmlns:a="http://schemas.openxmlformats.org/drawingml/2006/main">
              <a:ext uri="{FF2B5EF4-FFF2-40B4-BE49-F238E27FC236}">
                <a16:creationId xmlns:a16="http://schemas.microsoft.com/office/drawing/2014/main" id="{DD9A6462-D829-4777-9251-89B10AB3062A}"/>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Realisation projected outward is authenticity — knowledge, wisdom, and science unfolding into conduct.</a:t>
            </a:r>
          </a:p>
        </p:txBody>
      </p:sp>
      <p:sp>
        <p:nvSpPr>
          <p:cNvPr id="467" name="Google Shape;467;p19">
            <a:extLst xmlns:a="http://schemas.openxmlformats.org/drawingml/2006/main">
              <a:ext uri="{FF2B5EF4-FFF2-40B4-BE49-F238E27FC236}">
                <a16:creationId xmlns:a16="http://schemas.microsoft.com/office/drawing/2014/main" id="{E49F4ECE-1C51-4ABF-94A7-4BCBD16AD234}"/>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AAA692A1-C1A4-4E3B-AC2E-F7715A43D49A}"/>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Knower — in reflection</a:t>
            </a:r>
          </a:p>
        </p:txBody>
      </p:sp>
      <p:sp>
        <p:nvSpPr>
          <p:cNvPr id="469" name="Google Shape;469;p19">
            <a:extLst xmlns:a="http://schemas.openxmlformats.org/drawingml/2006/main">
              <a:ext uri="{FF2B5EF4-FFF2-40B4-BE49-F238E27FC236}">
                <a16:creationId xmlns:a16="http://schemas.microsoft.com/office/drawing/2014/main" id="{2AA0D1F9-639E-41C6-8731-561245861D25}"/>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knower is jeevan filled with realisation. When resolve turns inward to the core self, self-realisation and realisation in coexistence arrive together.</a:t>
            </a:r>
          </a:p>
        </p:txBody>
      </p:sp>
      <p:sp>
        <p:nvSpPr>
          <p:cNvPr id="470" name="Google Shape;470;p19">
            <a:extLst xmlns:a="http://schemas.openxmlformats.org/drawingml/2006/main">
              <a:ext uri="{FF2B5EF4-FFF2-40B4-BE49-F238E27FC236}">
                <a16:creationId xmlns:a16="http://schemas.microsoft.com/office/drawing/2014/main" id="{140FBD89-3074-4D13-ACCF-7077ED924DA2}"/>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5203715C-DC2E-49AC-BCE7-981AADCEE35F}"/>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Knowable — and no merger</a:t>
            </a:r>
          </a:p>
        </p:txBody>
      </p:sp>
      <p:sp>
        <p:nvSpPr>
          <p:cNvPr id="472" name="Google Shape;472;p19">
            <a:extLst xmlns:a="http://schemas.openxmlformats.org/drawingml/2006/main">
              <a:ext uri="{FF2B5EF4-FFF2-40B4-BE49-F238E27FC236}">
                <a16:creationId xmlns:a16="http://schemas.microsoft.com/office/drawing/2014/main" id="{F20FBC56-FA15-4946-8DF4-32B35010C829}"/>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What is known is existence itself — nature saturated in Omnipotence. Knowledge, knower, and known become uniform as roles in one bond — not a merger: the knower remains a distinct jeevan.</a:t>
            </a:r>
          </a:p>
        </p:txBody>
      </p:sp>
      <p:sp>
        <p:nvSpPr>
          <p:cNvPr id="473" name="Google Shape;473;p19">
            <a:extLst xmlns:a="http://schemas.openxmlformats.org/drawingml/2006/main">
              <a:ext uri="{FF2B5EF4-FFF2-40B4-BE49-F238E27FC236}">
                <a16:creationId xmlns:a16="http://schemas.microsoft.com/office/drawing/2014/main" id="{0FDD0BB2-3B78-4E4C-9098-645E557571F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“In the state of realisation in existence, uniformity in knowledge, knowable &amp; knower has been observed to be in the form of coexistence” — AVD p. 217 · SB p. 81 · MVD pp. 14–15</a:t>
            </a:r>
          </a:p>
        </p:txBody>
      </p:sp>
    </p:spTree>
    <p:extLst>
      <p:ext uri="{BB962C8B-B14F-4D97-AF65-F5344CB8AC3E}">
        <p14:creationId xmlns:p14="http://schemas.microsoft.com/office/powerpoint/2010/main" val="426036076"/>
      </p:ext>
    </p:extLst>
  </p:cSld>
</p:sld>
</file>

<file path=ppt/slides/slide23.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EF575E94-D49B-4B8D-8EE0-5306E7205D35}"/>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5B88FBC8-D433-4F9A-8C53-B0C14519A897}"/>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1575D4BC-1336-4A37-AF26-1F5F33D09DE0}"/>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F6651BC1-ADBC-471F-9055-FAC10F3F287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C059B4F9-7CFE-41C1-BAB7-147B1E13BBBA}"/>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F3360809-D0D7-419D-B3B9-8923367EBD77}"/>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D3AC2483-1899-40DF-A84D-0DE15B3AEFB2}"/>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ABF710EB-4EF3-42A6-B560-F90A523A0850}"/>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0C86002D-62CB-4B43-92C3-F2261FFFB582}"/>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796E9457-5CA1-420F-9E22-C4C9CF41A3A7}"/>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THE CULMINATION  ·  BUILT INTO THE DESIGN</a:t>
            </a:r>
          </a:p>
        </p:txBody>
      </p:sp>
      <p:sp>
        <p:nvSpPr>
          <p:cNvPr id="519" name="Google Shape;519;p21">
            <a:extLst xmlns:a="http://schemas.openxmlformats.org/drawingml/2006/main">
              <a:ext uri="{FF2B5EF4-FFF2-40B4-BE49-F238E27FC236}">
                <a16:creationId xmlns:a16="http://schemas.microsoft.com/office/drawing/2014/main" id="{752F13C5-E89B-45E4-A048-FAF000A1F693}"/>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DB2CDE66-AE92-4A63-A7C0-7FB35517F5EC}"/>
              </a:ext>
            </a:extLst>
          </p:cNvPr>
          <p:cNvSpPr>
            <a:spLocks xmlns:a="http://schemas.openxmlformats.org/drawingml/2006/main" noGrp="1"/>
          </p:cNvSpPr>
          <p:nvPr/>
        </p:nvSpPr>
        <p:spPr>
          <a:xfrm xmlns:a="http://schemas.openxmlformats.org/drawingml/2006/main">
            <a:off x="640080" y="305000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The drive toward completeness comes to rest in awakened human beings — effort settled, understanding proven in daily conduct.</a:t>
            </a:r>
          </a:p>
        </p:txBody>
      </p:sp>
      <p:sp>
        <p:nvSpPr>
          <p:cNvPr id="600" name="Google Shape;600;p21">
            <a:extLst xmlns:a="http://schemas.openxmlformats.org/drawingml/2006/main">
              <a:ext uri="{FF2B5EF4-FFF2-40B4-BE49-F238E27FC236}">
                <a16:creationId xmlns:a16="http://schemas.microsoft.com/office/drawing/2014/main" id="{DD3901F6-8036-43ED-803F-43248530CCD2}"/>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7F1489A9-BB77-4837-93F1-47E7AC9BE4D2}"/>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DE4B8FF9-4927-4F34-9EB8-854606C66C6A}"/>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person</a:t>
            </a:r>
          </a:p>
        </p:txBody>
      </p:sp>
      <p:sp>
        <p:nvSpPr>
          <p:cNvPr id="603" name="Google Shape;603;p21">
            <a:extLst xmlns:a="http://schemas.openxmlformats.org/drawingml/2006/main">
              <a:ext uri="{FF2B5EF4-FFF2-40B4-BE49-F238E27FC236}">
                <a16:creationId xmlns:a16="http://schemas.microsoft.com/office/drawing/2014/main" id="{BE616FF1-9158-489A-8FCF-45CB660339C5}"/>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CD8A7FC8-77CA-4182-A2CB-C0DEE667FC5C}"/>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973106BD-4925-429D-9B6B-2AD26325A283}"/>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family</a:t>
            </a:r>
          </a:p>
        </p:txBody>
      </p:sp>
      <p:sp>
        <p:nvSpPr>
          <p:cNvPr id="606" name="Google Shape;606;p21">
            <a:extLst xmlns:a="http://schemas.openxmlformats.org/drawingml/2006/main">
              <a:ext uri="{FF2B5EF4-FFF2-40B4-BE49-F238E27FC236}">
                <a16:creationId xmlns:a16="http://schemas.microsoft.com/office/drawing/2014/main" id="{A5599050-D210-47C8-B146-6B5A24A94729}"/>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46D221E2-C857-412B-B8CB-226B70E4606D}"/>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B4C3ADBE-52C4-434E-BF82-608CEA945F02}"/>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trust in society</a:t>
            </a:r>
          </a:p>
        </p:txBody>
      </p:sp>
      <p:sp>
        <p:nvSpPr>
          <p:cNvPr id="609" name="Google Shape;609;p21">
            <a:extLst xmlns:a="http://schemas.openxmlformats.org/drawingml/2006/main">
              <a:ext uri="{FF2B5EF4-FFF2-40B4-BE49-F238E27FC236}">
                <a16:creationId xmlns:a16="http://schemas.microsoft.com/office/drawing/2014/main" id="{058120C0-5891-4799-A00C-98C62F5482A3}"/>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A9DD251C-A703-4D42-8F17-67F6E19B7FA0}"/>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AD69A8F9-077C-48D3-AA57-9B1F73B65A59}"/>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with all of nature</a:t>
            </a:r>
          </a:p>
        </p:txBody>
      </p:sp>
      <p:sp>
        <p:nvSpPr>
          <p:cNvPr id="522" name="Google Shape;522;p21">
            <a:extLst xmlns:a="http://schemas.openxmlformats.org/drawingml/2006/main">
              <a:ext uri="{FF2B5EF4-FFF2-40B4-BE49-F238E27FC236}">
                <a16:creationId xmlns:a16="http://schemas.microsoft.com/office/drawing/2014/main" id="{C68915DF-AED4-4750-935D-0C5066DF5744}"/>
              </a:ext>
            </a:extLst>
          </p:cNvPr>
          <p:cNvSpPr>
            <a:spLocks xmlns:a="http://schemas.openxmlformats.org/drawingml/2006/main" noGrp="1"/>
          </p:cNvSpPr>
          <p:nvPr/>
        </p:nvSpPr>
        <p:spPr>
          <a:xfrm xmlns:a="http://schemas.openxmlformats.org/drawingml/2006/main">
            <a:off x="640080" y="4650000"/>
            <a:ext cx="475488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A humane tradition: each generation raised into the same understanding — universal orderliness sustained across education, justice, health, production, and exchange.</a:t>
            </a:r>
          </a:p>
        </p:txBody>
      </p:sp>
    </p:spTree>
    <p:extLst>
      <p:ext uri="{BB962C8B-B14F-4D97-AF65-F5344CB8AC3E}">
        <p14:creationId xmlns:p14="http://schemas.microsoft.com/office/powerpoint/2010/main" val="222854684"/>
      </p:ext>
    </p:extLst>
  </p:cSld>
</p:sld>
</file>

<file path=ppt/slides/slide24.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28" name="Google Shape;528;p22">
            <a:extLst xmlns:a="http://schemas.openxmlformats.org/drawingml/2006/main">
              <a:ext uri="{FF2B5EF4-FFF2-40B4-BE49-F238E27FC236}">
                <a16:creationId xmlns:a16="http://schemas.microsoft.com/office/drawing/2014/main" id="{E1C0CC4E-ACB6-4358-A791-7E698544184D}"/>
              </a:ext>
            </a:extLst>
          </p:cNvPr>
          <p:cNvSpPr>
            <a:spLocks xmlns:a="http://schemas.openxmlformats.org/drawingml/2006/main" noGrp="1"/>
          </p:cNvSpPr>
          <p:nvPr/>
        </p:nvSpPr>
        <p:spPr>
          <a:xfrm xmlns:a="http://schemas.openxmlformats.org/drawingml/2006/main">
            <a:off x="7635240" y="411480"/>
            <a:ext cx="1005840" cy="1005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29" name="Google Shape;529;p22">
            <a:extLst xmlns:a="http://schemas.openxmlformats.org/drawingml/2006/main">
              <a:ext uri="{FF2B5EF4-FFF2-40B4-BE49-F238E27FC236}">
                <a16:creationId xmlns:a16="http://schemas.microsoft.com/office/drawing/2014/main" id="{6832F4B8-5752-48AC-ADEE-A7E51AC045AD}"/>
              </a:ext>
            </a:extLst>
          </p:cNvPr>
          <p:cNvSpPr>
            <a:spLocks xmlns:a="http://schemas.openxmlformats.org/drawingml/2006/main" noGrp="1"/>
          </p:cNvSpPr>
          <p:nvPr/>
        </p:nvSpPr>
        <p:spPr>
          <a:xfrm xmlns:a="http://schemas.openxmlformats.org/drawingml/2006/main">
            <a:off x="7836408" y="612648"/>
            <a:ext cx="603504" cy="6035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0" name="Google Shape;530;p22">
            <a:extLst xmlns:a="http://schemas.openxmlformats.org/drawingml/2006/main">
              <a:ext uri="{FF2B5EF4-FFF2-40B4-BE49-F238E27FC236}">
                <a16:creationId xmlns:a16="http://schemas.microsoft.com/office/drawing/2014/main" id="{47CA7A4C-4E57-4A71-B114-1EC5461B0F2A}"/>
              </a:ext>
            </a:extLst>
          </p:cNvPr>
          <p:cNvSpPr>
            <a:spLocks xmlns:a="http://schemas.openxmlformats.org/drawingml/2006/main" noGrp="1"/>
          </p:cNvSpPr>
          <p:nvPr/>
        </p:nvSpPr>
        <p:spPr>
          <a:xfrm xmlns:a="http://schemas.openxmlformats.org/drawingml/2006/main">
            <a:off x="8007401" y="783641"/>
            <a:ext cx="261518" cy="26151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1" name="Google Shape;531;p22">
            <a:extLst xmlns:a="http://schemas.openxmlformats.org/drawingml/2006/main">
              <a:ext uri="{FF2B5EF4-FFF2-40B4-BE49-F238E27FC236}">
                <a16:creationId xmlns:a16="http://schemas.microsoft.com/office/drawing/2014/main" id="{DFF39978-43C7-4870-B974-350C3D4735CA}"/>
              </a:ext>
            </a:extLst>
          </p:cNvPr>
          <p:cNvSpPr>
            <a:spLocks xmlns:a="http://schemas.openxmlformats.org/drawingml/2006/main" noGrp="1"/>
          </p:cNvSpPr>
          <p:nvPr/>
        </p:nvSpPr>
        <p:spPr>
          <a:xfrm xmlns:a="http://schemas.openxmlformats.org/drawingml/2006/main">
            <a:off x="640080" y="45720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WHAT MADHYASTH DARSHAN ESTABLISHES</a:t>
            </a:r>
          </a:p>
        </p:txBody>
      </p:sp>
      <p:sp>
        <p:nvSpPr>
          <p:cNvPr id="532" name="Google Shape;532;p22">
            <a:extLst xmlns:a="http://schemas.openxmlformats.org/drawingml/2006/main">
              <a:ext uri="{FF2B5EF4-FFF2-40B4-BE49-F238E27FC236}">
                <a16:creationId xmlns:a16="http://schemas.microsoft.com/office/drawing/2014/main" id="{6CC10D41-50EA-44E8-9A36-16DFEE707FE8}"/>
              </a:ext>
            </a:extLst>
          </p:cNvPr>
          <p:cNvSpPr>
            <a:spLocks xmlns:a="http://schemas.openxmlformats.org/drawingml/2006/main" noGrp="1"/>
          </p:cNvSpPr>
          <p:nvPr/>
        </p:nvSpPr>
        <p:spPr>
          <a:xfrm xmlns:a="http://schemas.openxmlformats.org/drawingml/2006/main">
            <a:off x="640080" y="749808"/>
            <a:ext cx="685800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200" b="1" i="0" u="none" cap="none">
                <a:solidFill>
                  <a:srgbClr val="FFFFFF"/>
                </a:solidFill>
                <a:latin typeface="Cambria"/>
                <a:ea typeface="Cambria"/>
                <a:cs typeface="Cambria"/>
              </a:rPr>
              <a:t>The Questions, Answered</a:t>
            </a:r>
          </a:p>
        </p:txBody>
      </p:sp>
      <p:graphicFrame>
        <p:nvGraphicFramePr>
          <p:cNvPr id="541" name="Google Shape;533;p22"/>
          <p:cNvGraphicFramePr/>
          <p:nvPr/>
        </p:nvGraphicFramePr>
        <p:xfrm>
          <a:off xmlns:a="http://schemas.openxmlformats.org/drawingml/2006/main" x="640080" y="1508760"/>
          <a:ext xmlns:a="http://schemas.openxmlformats.org/drawingml/2006/main" cx="7863850" cy="2688300"/>
        </p:xfrm>
        <a:graphic xmlns:a="http://schemas.openxmlformats.org/drawingml/2006/main">
          <a:graphicData uri="http://schemas.openxmlformats.org/drawingml/2006/table">
            <a:tbl>
              <a:tblPr>
                <a:tableStyleId>{6C92A692-798E-4634-90B1-36CD3966BFCB}</a:tableStyleId>
              </a:tblPr>
              <a:tblGrid>
                <a:gridCol w="2377450"/>
                <a:gridCol w="5486400"/>
              </a:tblGrid>
              <a:tr h="347475">
                <a:tc>
                  <a:txBody>
                    <a:bodyPr/>
                    <a:lstStyle/>
                    <a:p>
                      <a:pPr marL="0" indent="0" algn="l">
                        <a:buNone/>
                      </a:pPr>
                      <a:r>
                        <a:rPr sz="1200" b="1" u="none" cap="none">
                          <a:solidFill>
                            <a:srgbClr val="FFFFFF"/>
                          </a:solidFill>
                          <a:latin typeface="Calibri"/>
                          <a:ea typeface="Calibri"/>
                          <a:cs typeface="Calibri"/>
                        </a:rPr>
                        <a:t>Question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c>
                  <a:txBody>
                    <a:bodyPr/>
                    <a:lstStyle/>
                    <a:p>
                      <a:pPr marL="0" indent="0" algn="l">
                        <a:buNone/>
                      </a:pPr>
                      <a:r>
                        <a:rPr sz="1200" b="1" u="none" cap="none">
                          <a:solidFill>
                            <a:srgbClr val="FFFFFF"/>
                          </a:solidFill>
                          <a:latin typeface="Calibri"/>
                          <a:ea typeface="Calibri"/>
                          <a:cs typeface="Calibri"/>
                        </a:rPr>
                        <a:t>Madhyasth Darshan answer</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r>
              <a:tr h="365750">
                <a:tc>
                  <a:txBody>
                    <a:bodyPr/>
                    <a:lstStyle/>
                    <a:p>
                      <a:pPr marL="0" indent="0" algn="l">
                        <a:buNone/>
                      </a:pPr>
                      <a:r>
                        <a:rPr sz="1200" u="none" cap="none">
                          <a:solidFill>
                            <a:srgbClr val="C9D4EF"/>
                          </a:solidFill>
                          <a:latin typeface="Calibri"/>
                          <a:ea typeface="Calibri"/>
                          <a:cs typeface="Calibri"/>
                        </a:rPr>
                        <a:t>What is 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Eternal coexistence: countless units saturated in all-pervasive Omnipotence.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exists?</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Formless Omnipotence and definite bounded units whose aspects are evidenced in mutuality.</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Does existence begin or end?</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No. Existence is perpetual; configurations form, transform, and decompose.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is the self?</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Jeevan: a constitutionally complete sentient atom working through the body.</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Is the world real?</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Yes. Units, mutual relationships, and definite material fulfilment are real within perpetual coexistence.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512075">
                <a:tc>
                  <a:txBody>
                    <a:bodyPr/>
                    <a:lstStyle/>
                    <a:p>
                      <a:pPr marL="0" indent="0" algn="l">
                        <a:buNone/>
                      </a:pPr>
                      <a:r>
                        <a:rPr sz="1200" u="none" cap="none">
                          <a:solidFill>
                            <a:srgbClr val="C9D4EF"/>
                          </a:solidFill>
                          <a:latin typeface="Calibri"/>
                          <a:ea typeface="Calibri"/>
                          <a:cs typeface="Calibri"/>
                        </a:rPr>
                        <a:t>How is it known?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Through study and self-examination; practice tests, evidences, and stabilises understanding in conduct.</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bl>
          </a:graphicData>
        </a:graphic>
      </p:graphicFrame>
      <p:sp>
        <p:nvSpPr>
          <p:cNvPr id="534" name="Google Shape;534;p22">
            <a:extLst xmlns:a="http://schemas.openxmlformats.org/drawingml/2006/main">
              <a:ext uri="{FF2B5EF4-FFF2-40B4-BE49-F238E27FC236}">
                <a16:creationId xmlns:a16="http://schemas.microsoft.com/office/drawing/2014/main" id="{01012620-D920-4BA5-BC9C-ECC75D3B5E5D}"/>
              </a:ext>
            </a:extLst>
          </p:cNvPr>
          <p:cNvSpPr>
            <a:spLocks xmlns:a="http://schemas.openxmlformats.org/drawingml/2006/main" noGrp="1"/>
          </p:cNvSpPr>
          <p:nvPr/>
        </p:nvSpPr>
        <p:spPr>
          <a:xfrm xmlns:a="http://schemas.openxmlformats.org/drawingml/2006/main">
            <a:off x="640080" y="4526280"/>
            <a:ext cx="78638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8E9BC4"/>
                </a:solidFill>
                <a:latin typeface="Calibri"/>
                <a:ea typeface="Calibri"/>
                <a:cs typeface="Calibri"/>
              </a:rPr>
              <a:t>Fulfilment: resolution and authenticity expressed as humane conduct and participation in orderliness — §1.16</a:t>
            </a:r>
          </a:p>
        </p:txBody>
      </p:sp>
    </p:spTree>
    <p:extLst>
      <p:ext uri="{BB962C8B-B14F-4D97-AF65-F5344CB8AC3E}">
        <p14:creationId xmlns:p14="http://schemas.microsoft.com/office/powerpoint/2010/main" val="2074764510"/>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2026-07-21T16:07:45.5780000Z</dcterms:created>
  <dcterms:modified xsi:type="dcterms:W3CDTF">2026-07-21T16:07:45.5780000Z</dcterms:modified>
</coreProperties>
</file>