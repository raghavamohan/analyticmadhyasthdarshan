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23"/>
  </p:notesMasterIdLst>
  <p:sldIdLst>
    <p:sldId id="256" r:id="rId2"/>
    <p:sldId id="281" r:id="rId31"/>
    <p:sldId id="257" r:id="rId3"/>
    <p:sldId id="258" r:id="rId4"/>
    <p:sldId id="259" r:id="rId5"/>
    <p:sldId id="260" r:id="rId6"/>
    <p:sldId id="261" r:id="rId7"/>
    <p:sldId id="262" r:id="rId8"/>
    <p:sldId id="263" r:id="rId9"/>
    <p:sldId id="264" r:id="rId10"/>
    <p:sldId id="265" r:id="rId11"/>
    <p:sldId id="266" r:id="rId12"/>
    <p:sldId id="278" r:id="rId28"/>
    <p:sldId id="279" r:id="rId29"/>
    <p:sldId id="269" r:id="rId15"/>
    <p:sldId id="270" r:id="rId16"/>
    <p:sldId id="280" r:id="rId30"/>
    <p:sldId id="271" r:id="rId17"/>
    <p:sldId id="276" r:id="rId18"/>
    <p:sldId id="272" r:id="rId19"/>
    <p:sldId id="274" r:id="rId21"/>
    <p:sldId id="275"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75" y="346"/>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
        <p:cNvGrpSpPr/>
        <p:nvPr/>
      </p:nvGrpSpPr>
      <p:grpSpPr>
        <a:xfrm>
          <a:off x="0" y="0"/>
          <a:ext cx="0" cy="0"/>
          <a:chOff x="0" y="0"/>
          <a:chExt cx="0" cy="0"/>
        </a:xfrm>
      </p:grpSpPr>
      <p:sp>
        <p:nvSpPr>
          <p:cNvPr id="31" name="Google Shape;3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 name="Google Shape;3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endParaRPr/>
          </a:p>
        </p:txBody>
      </p:sp>
      <p:sp>
        <p:nvSpPr>
          <p:cNvPr id="33" name="Google Shape;3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 name="Google Shape;6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endParaRPr/>
          </a:p>
        </p:txBody>
      </p:sp>
      <p:sp>
        <p:nvSpPr>
          <p:cNvPr id="62" name="Google Shape;6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 name="Google Shape;91;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Saturation (samprikt) is the ever-present bond - soaked, submerged, surrounded. The sponge-in-water and cell-in-nutrient images are illustrative, not identities. Stress that Omnipotence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 NEW: the saturation bond itself is knowledge - samprikt, coexistence, and gyan name one fact (MVD pp. 32-33); the three endowments are how gyan is present on the unit side. Attribute mapping: permeative Omnipotence provisions activeness (JV p. 150); transparency in mutuality provisions recognition (SB p. 50); mediativeness provisions regulation (MVD p. 26). INTERPRETATION (settled): in MVD pp. 32-33 the referent of 'yahi... yahi gyan hai' is the saturated STATE - nature submerged, soaked, surrounded in Omnipotence, which the text names coexistence - not a reified 'bond' as a third item. The slide uses the texts' evidence language ('is evident as' - MVD: law and regulation are evident in coexistence only; JV p. 150: the endowments are the testimony of permeative Omnipotence). Avoid 'projects' for the ground - Omnipotence is actionless, and projection (outward) is jeevan's outward activity on slides 11 and 16; avoid predicating reflection of the ground too - the reflector model has the ATOM reflecting Omnipotence (slide 10). the identity claim itself - saturated coexistence IS knowledge, MVD pp. 32-33 - stays as presenter background and in the paper 1.2. If pressed, avoid 'the bond itself is knowledge'. It is an identity claim about the state, plus a separate consequence: from it, every unit has the three endowments. The knowledge identity holds for insentient AND sentient nature (MVD pp. 32-33) - insentient units abide in gyan as the three endowments (law and regulation evident, without knowing); the sentient atom ALONE additionally reflects the ground as active sentience - the capacity to know (the reflector model, slide 10; permeative gyan latent in Omnipotence actualised as chaitanya at T1). Careful wording: Omnipotence does not project - it is actionless; the unit reflects what is ever-present in the ground. What is exclusive to the sentient atom is the reflection of gyan as sentience, not the ground itself - every atom is saturated in and sustained by Omnipotence.</a:t>
            </a:r>
            <a:endParaRPr/>
          </a:p>
        </p:txBody>
      </p:sp>
      <p:sp>
        <p:nvSpPr>
          <p:cNvPr id="92" name="Google Shape;92;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8" name="Google Shape;11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endParaRPr/>
          </a:p>
        </p:txBody>
      </p:sp>
      <p:sp>
        <p:nvSpPr>
          <p:cNvPr id="119" name="Google Shape;11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 name="Google Shape;155;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'Nothing is isolated - that is the principle.' Relationships are where complementarity is actualised as value. Draw the contrast carefully: a relationship  has expectations predetermined toward completeness (parent-child); a contact has voluntary expectations (neighbours sharing a wall). Translation note if asked: the published rendering of sampark is 'association'; the translator (Rakesh Gupta) has revised it to 'contact', which the slide uses - cite against either printing accordingly. The neighbours-sharing-a-wall example is the study's illustrative gloss, not primary text. Value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endParaRPr/>
          </a:p>
        </p:txBody>
      </p:sp>
      <p:sp>
        <p:nvSpPr>
          <p:cNvPr id="156" name="Google Shape;156;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Four stable orders - stress these are plateaus in development, not a human typology. Read the dharma column cumulatively: each higher order includes the dharmas below and adds one. The pivotal line is the boundary between pran and jeev: hope to live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existential progression, covered on the progressions slide.</a:t>
            </a:r>
            <a:endParaRPr/>
          </a:p>
        </p:txBody>
      </p:sp>
      <p:sp>
        <p:nvSpPr>
          <p:cNvPr id="187" name="Google Shape;187;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0" name="Google Shape;200;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endParaRPr/>
          </a:p>
        </p:txBody>
      </p:sp>
      <p:sp>
        <p:nvSpPr>
          <p:cNvPr id="201" name="Google Shape;201;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3" name="Google Shape;223;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endParaRPr/>
          </a:p>
        </p:txBody>
      </p:sp>
      <p:sp>
        <p:nvSpPr>
          <p:cNvPr id="224" name="Google Shape;224;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1" name="Google Shape;261;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T1 deserves its own slide because it is the sentience threshold - and it is constitutional, not neural complexity, molecular size, or position on the order chain. Molecules exhibit characteristics of development but not actual development. Mechanism: particle incorporation through hungry and overfull complementarity within a conducive environment; when the required particles integrate, the constitution closes. The bondage shift is the textual evidence (MVD p. 91): molecular-bondage and weight-bondage are released; hope-bondage defines the sentient mode. After T1: no change in particle count - qualitative change without quantitative change. Close with latency: the complete atom acts as a mediating reflector configuration - sentience is what was ever-present in Omnipotence, actualised - which becomes important in the comparison deck against emergence objections. NEW: T1 changes the drive's mode, not its direction - hope-bondage carries the same orientation. Epistemic upgrade: taste-recognition, impossible in insentient nature, first manifests in sentient nature (SB pp. 80-81) - recognition acquires the inner circuit of strengths and powers, the condition for knowing-believing-recognising-fulfilling at the knowledge order.</a:t>
            </a:r>
            <a:endParaRPr/>
          </a:p>
        </p:txBody>
      </p:sp>
      <p:sp>
        <p:nvSpPr>
          <p:cNvPr id="262" name="Google Shape;262;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1" name="Google Shape;281;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Jeevan's structure: atma is the nucleus; buddhi, chitta, vritti, mun are particles in the first through fourth orbits - this is MVD p. 78, and the study insists it is structural, not metaphor. Each faculty works through projection (outward) and reflection (inward)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 NEW: directional reading of the table - reflection (inward) is the knowing direction, the study circuit ratiocination in mun, deliberation in vritti, direct recognition in chitta, enlightenment in buddhi (MVD p. 126), terminating in anubhav in Omnipotence (MVD pp. 286-287); projection (outward) is the evidencing direction, the cascade from anubhav to pramanikta (MVD pp. 99-100). Delusional inversion: circuit driven body-upward, only 4.5 of ten activities effective, believing severed from knowing (JV pp. 73-74). Awakening staged by three statuses of buddhi: chitta-driven, buddhi-driven, atma-disciplined (MVD pp. 278-279).</a:t>
            </a:r>
            <a:endParaRPr/>
          </a:p>
        </p:txBody>
      </p:sp>
      <p:sp>
        <p:nvSpPr>
          <p:cNvPr id="282" name="Google Shape;282;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1" name="Google Shape;37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1" name="Google Shape;401;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endParaRPr/>
          </a:p>
        </p:txBody>
      </p:sp>
      <p:sp>
        <p:nvSpPr>
          <p:cNvPr id="402" name="Google Shape;402;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6" name="Google Shape;416;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ladders on this slide, and they meet. LEFT - the scope ladder: what must be understood to know each aspect of a unit. Read bottom-up: form is graspable from the unit alone; properties (gun) need mutuality (they are defined as effects units have on one another); essential nature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(inward): mun tastes and selects the proposal; vritti deliberates - in humane consciousness, in the refuge of justice, dharma, and truth (JV pp. 138-139); chitta contemplates and visualises - revelation, sakshatkar (JV p. 61); buddhi has enlightenment  - understanding is enlightenment of existence, jeevan, and humane conduct in buddhi (JV p. 120) - and resolve; atma realises - anubhav - and realisation takes place only through truth (MVD p. 137). Then the return arrow: realisation projects back down (outward)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endParaRPr/>
          </a:p>
        </p:txBody>
      </p:sp>
      <p:sp>
        <p:nvSpPr>
          <p:cNvPr id="417" name="Google Shape;417;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2" name="Google Shape;452;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endParaRPr/>
          </a:p>
        </p:txBody>
      </p:sp>
      <p:sp>
        <p:nvSpPr>
          <p:cNvPr id="453" name="Google Shape;453;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6" name="Google Shape;506;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endParaRPr/>
          </a:p>
        </p:txBody>
      </p:sp>
      <p:sp>
        <p:nvSpPr>
          <p:cNvPr id="507" name="Google Shape;507;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5" name="Google Shape;525;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Close the loop on the opening questions. Existence is the eternal coexistence of Omnipotence and units; what exists is Omnipotence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properties in mutuality, essential nature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endParaRPr/>
          </a:p>
        </p:txBody>
      </p:sp>
      <p:sp>
        <p:nvSpPr>
          <p:cNvPr id="526" name="Google Shape;526;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3"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447"/>
        </a:solidFill>
        <a:effectLst/>
      </p:bgPr>
    </p:bg>
    <p:spTree>
      <p:nvGrpSpPr>
        <p:cNvPr id="1" name="Shape 15"/>
        <p:cNvGrpSpPr/>
        <p:nvPr/>
      </p:nvGrpSpPr>
      <p:grpSpPr>
        <a:xfrm>
          <a:off x="0" y="0"/>
          <a:ext cx="0" cy="0"/>
          <a:chOff x="0" y="0"/>
          <a:chExt cx="0" cy="0"/>
        </a:xfrm>
      </p:grpSpPr>
      <p:sp>
        <p:nvSpPr>
          <p:cNvPr id="16" name="Google Shape;16;p3"/>
          <p:cNvSpPr/>
          <p:nvPr/>
        </p:nvSpPr>
        <p:spPr>
          <a:xfrm>
            <a:off x="5852160" y="822960"/>
            <a:ext cx="3291840" cy="329184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p:nvPr/>
        </p:nvSpPr>
        <p:spPr>
          <a:xfrm>
            <a:off x="6510528" y="1481328"/>
            <a:ext cx="1975104" cy="1975104"/>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3"/>
          <p:cNvSpPr/>
          <p:nvPr/>
        </p:nvSpPr>
        <p:spPr>
          <a:xfrm>
            <a:off x="7070141" y="2040941"/>
            <a:ext cx="855878" cy="85587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a:off x="5394960" y="3566160"/>
            <a:ext cx="1097280" cy="109728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a:off x="5614416" y="3785616"/>
            <a:ext cx="658368" cy="658368"/>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3"/>
          <p:cNvSpPr/>
          <p:nvPr/>
        </p:nvSpPr>
        <p:spPr>
          <a:xfrm>
            <a:off x="5800954" y="3972154"/>
            <a:ext cx="285293" cy="285293"/>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a:off x="8138160" y="4023360"/>
            <a:ext cx="731520" cy="73152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a:off x="8284464" y="4169664"/>
            <a:ext cx="438912" cy="438912"/>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a:off x="8408822" y="4294022"/>
            <a:ext cx="190195" cy="190195"/>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a:off x="640080" y="1234440"/>
            <a:ext cx="58521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821E"/>
              </a:buClr>
              <a:buSzPts val="1200"/>
              <a:buFont typeface="Calibri"/>
              <a:buNone/>
            </a:pPr>
            <a:r>
              <a:rPr lang="en-US" sz="1200" b="1" i="0" u="none" strike="noStrike" cap="none">
                <a:solidFill>
                  <a:srgbClr val="C9821E"/>
                </a:solidFill>
                <a:latin typeface="Calibri"/>
                <a:ea typeface="Calibri"/>
                <a:cs typeface="Calibri"/>
                <a:sym typeface="Calibri"/>
              </a:rPr>
              <a:t>MADHYASTH DARSHAN  ·  CO-EXISTENTIALISM</a:t>
            </a:r>
            <a:endParaRPr sz="1200" b="0" i="0" u="none" strike="noStrike" cap="none">
              <a:solidFill>
                <a:schemeClr val="dk1"/>
              </a:solidFill>
              <a:latin typeface="Calibri"/>
              <a:ea typeface="Calibri"/>
              <a:cs typeface="Calibri"/>
              <a:sym typeface="Calibri"/>
            </a:endParaRPr>
          </a:p>
        </p:txBody>
      </p:sp>
      <p:sp>
        <p:nvSpPr>
          <p:cNvPr id="26" name="Google Shape;26;p3"/>
          <p:cNvSpPr/>
          <p:nvPr/>
        </p:nvSpPr>
        <p:spPr>
          <a:xfrm>
            <a:off x="640080" y="1572768"/>
            <a:ext cx="5577840" cy="137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400"/>
              <a:buFont typeface="Cambria"/>
              <a:buNone/>
            </a:pPr>
            <a:r>
              <a:rPr lang="en-US" sz="4400" b="1" i="0" u="none" strike="noStrike" cap="none">
                <a:solidFill>
                  <a:srgbClr val="FFFFFF"/>
                </a:solidFill>
                <a:latin typeface="Cambria"/>
                <a:ea typeface="Cambria"/>
                <a:cs typeface="Cambria"/>
                <a:sym typeface="Cambria"/>
              </a:rPr>
              <a:t>The Ontology of Existence</a:t>
            </a:r>
            <a:endParaRPr sz="4400" b="0" i="0" u="none" strike="noStrike" cap="none">
              <a:solidFill>
                <a:schemeClr val="dk1"/>
              </a:solidFill>
              <a:latin typeface="Calibri"/>
              <a:ea typeface="Calibri"/>
              <a:cs typeface="Calibri"/>
              <a:sym typeface="Calibri"/>
            </a:endParaRPr>
          </a:p>
        </p:txBody>
      </p:sp>
      <p:sp>
        <p:nvSpPr>
          <p:cNvPr id="27" name="Google Shape;27;p3"/>
          <p:cNvSpPr/>
          <p:nvPr/>
        </p:nvSpPr>
        <p:spPr>
          <a:xfrm>
            <a:off x="640080" y="2880360"/>
            <a:ext cx="484632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D4EF"/>
              </a:buClr>
              <a:buSzPts val="1600"/>
              <a:buFont typeface="Calibri"/>
              <a:buNone/>
            </a:pPr>
            <a:r>
              <a:rPr lang="en-US" sz="1600" b="0" i="1" u="none" strike="noStrike" cap="none">
                <a:solidFill>
                  <a:srgbClr val="C9D4EF"/>
                </a:solidFill>
                <a:latin typeface="Calibri"/>
                <a:ea typeface="Calibri"/>
                <a:cs typeface="Calibri"/>
                <a:sym typeface="Calibri"/>
              </a:rPr>
              <a:t>Existence understood as coexistence — nature saturated in Omnipotence</a:t>
            </a:r>
            <a:endParaRPr sz="1600" b="0" i="0" u="none" strike="noStrike" cap="none">
              <a:solidFill>
                <a:schemeClr val="dk1"/>
              </a:solidFill>
              <a:latin typeface="Calibri"/>
              <a:ea typeface="Calibri"/>
              <a:cs typeface="Calibri"/>
              <a:sym typeface="Calibri"/>
            </a:endParaRPr>
          </a:p>
        </p:txBody>
      </p:sp>
      <p:sp>
        <p:nvSpPr>
          <p:cNvPr id="28" name="Google Shape;28;p3"/>
          <p:cNvSpPr/>
          <p:nvPr/>
        </p:nvSpPr>
        <p:spPr>
          <a:xfrm>
            <a:off x="640080" y="4160520"/>
            <a:ext cx="5303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150"/>
              <a:buFont typeface="Calibri"/>
              <a:buNone/>
            </a:pPr>
            <a:r>
              <a:rPr lang="en-US" sz="1150" b="0" i="0" u="none" strike="noStrike" cap="none">
                <a:solidFill>
                  <a:srgbClr val="8E9BC4"/>
                </a:solidFill>
                <a:latin typeface="Calibri"/>
                <a:ea typeface="Calibri"/>
                <a:cs typeface="Calibri"/>
                <a:sym typeface="Calibri"/>
              </a:rPr>
              <a:t xml:space="preserve">Based on §1 of </a:t>
            </a:r>
            <a:r>
              <a:rPr lang="en-US" sz="1150" b="0" i="1" u="none" strike="noStrike" cap="none">
                <a:solidFill>
                  <a:srgbClr val="8E9BC4"/>
                </a:solidFill>
                <a:latin typeface="Calibri"/>
                <a:ea typeface="Calibri"/>
                <a:cs typeface="Calibri"/>
                <a:sym typeface="Calibri"/>
              </a:rPr>
              <a:t>The Ontology of Coexistence</a:t>
            </a:r>
            <a:r>
              <a:rPr lang="en-US" sz="1150" b="0" i="0" u="none" strike="noStrike" cap="none">
                <a:solidFill>
                  <a:srgbClr val="8E9BC4"/>
                </a:solidFill>
                <a:latin typeface="Calibri"/>
                <a:ea typeface="Calibri"/>
                <a:cs typeface="Calibri"/>
                <a:sym typeface="Calibri"/>
              </a:rPr>
              <a:t xml:space="preserve"> (AnalyticMadhyasthDarshan.org)</a:t>
            </a:r>
            <a:endParaRPr sz="1150" b="0" i="0" u="none" strike="noStrike" cap="none">
              <a:solidFill>
                <a:schemeClr val="dk1"/>
              </a:solidFill>
              <a:latin typeface="Calibri"/>
              <a:ea typeface="Calibri"/>
              <a:cs typeface="Calibri"/>
              <a:sym typeface="Calibri"/>
            </a:endParaRPr>
          </a:p>
        </p:txBody>
      </p:sp>
      <p:sp>
        <p:nvSpPr>
          <p:cNvPr id="29" name="Google Shape;29;p3"/>
          <p:cNvSpPr/>
          <p:nvPr/>
        </p:nvSpPr>
        <p:spPr>
          <a:xfrm>
            <a:off x="640080" y="4434840"/>
            <a:ext cx="5303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150"/>
              <a:buFont typeface="Calibri"/>
              <a:buNone/>
            </a:pPr>
            <a:r>
              <a:rPr lang="en-US" sz="1150" b="0" i="0" u="none" strike="noStrike" cap="none">
                <a:solidFill>
                  <a:srgbClr val="8E9BC4"/>
                </a:solidFill>
                <a:latin typeface="Calibri"/>
                <a:ea typeface="Calibri"/>
                <a:cs typeface="Calibri"/>
                <a:sym typeface="Calibri"/>
              </a:rPr>
              <a:t>Primary texts of Shri A. Nagraj — MVD · SB · JV (tr. Rakesh Gupta)</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
        <p:cNvGrpSpPr/>
        <p:nvPr/>
      </p:nvGrpSpPr>
      <p:grpSpPr>
        <a:xfrm>
          <a:off x="0" y="0"/>
          <a:ext cx="0" cy="0"/>
          <a:chOff x="0" y="0"/>
          <a:chExt cx="0" cy="0"/>
        </a:xfrm>
      </p:grpSpPr>
      <p:sp>
        <p:nvSpPr>
          <p:cNvPr id="35" name="Google Shape;35;p4"/>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4"/>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4"/>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4"/>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FRAMING</a:t>
            </a:r>
            <a:endParaRPr sz="1050" b="0" i="0" u="none" strike="noStrike" cap="none">
              <a:solidFill>
                <a:schemeClr val="dk1"/>
              </a:solidFill>
              <a:latin typeface="Calibri"/>
              <a:ea typeface="Calibri"/>
              <a:cs typeface="Calibri"/>
              <a:sym typeface="Calibri"/>
            </a:endParaRPr>
          </a:p>
        </p:txBody>
      </p:sp>
      <p:sp>
        <p:nvSpPr>
          <p:cNvPr id="39" name="Google Shape;39;p4"/>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Questions Ontology Must Answer</a:t>
            </a:r>
            <a:endParaRPr sz="3000" b="0" i="0" u="none" strike="noStrike" cap="none">
              <a:solidFill>
                <a:schemeClr val="dk1"/>
              </a:solidFill>
              <a:latin typeface="Calibri"/>
              <a:ea typeface="Calibri"/>
              <a:cs typeface="Calibri"/>
              <a:sym typeface="Calibri"/>
            </a:endParaRPr>
          </a:p>
        </p:txBody>
      </p:sp>
      <p:sp>
        <p:nvSpPr>
          <p:cNvPr id="40" name="Google Shape;40;p4"/>
          <p:cNvSpPr/>
          <p:nvPr/>
        </p:nvSpPr>
        <p:spPr>
          <a:xfrm>
            <a:off x="640080" y="1225296"/>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 name="Google Shape;41;p4" descr="preencoded.png"/>
          <p:cNvPicPr preferRelativeResize="0"/>
          <p:nvPr/>
        </p:nvPicPr>
        <p:blipFill rotWithShape="1">
          <a:blip r:embed="rId3">
            <a:alphaModFix/>
          </a:blip>
          <a:srcRect/>
          <a:stretch/>
        </p:blipFill>
        <p:spPr>
          <a:xfrm>
            <a:off x="735178" y="1320394"/>
            <a:ext cx="175565" cy="175565"/>
          </a:xfrm>
          <a:prstGeom prst="rect">
            <a:avLst/>
          </a:prstGeom>
          <a:noFill/>
          <a:ln>
            <a:noFill/>
          </a:ln>
        </p:spPr>
      </p:pic>
      <p:sp>
        <p:nvSpPr>
          <p:cNvPr id="42" name="Google Shape;42;p4"/>
          <p:cNvSpPr/>
          <p:nvPr/>
        </p:nvSpPr>
        <p:spPr>
          <a:xfrm>
            <a:off x="1188720" y="1188720"/>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What is Existence?  —  </a:t>
            </a:r>
            <a:r>
              <a:rPr lang="en-US" sz="1300" b="0" i="0" u="none" strike="noStrike" cap="none">
                <a:solidFill>
                  <a:srgbClr val="5A6377"/>
                </a:solidFill>
                <a:latin typeface="Calibri"/>
                <a:ea typeface="Calibri"/>
                <a:cs typeface="Calibri"/>
                <a:sym typeface="Calibri"/>
              </a:rPr>
              <a:t>Is there one fundamental reality, or many — and how are they related?</a:t>
            </a:r>
            <a:endParaRPr sz="1450" b="0" i="0" u="none" strike="noStrike" cap="none">
              <a:solidFill>
                <a:schemeClr val="dk1"/>
              </a:solidFill>
              <a:latin typeface="Calibri"/>
              <a:ea typeface="Calibri"/>
              <a:cs typeface="Calibri"/>
              <a:sym typeface="Calibri"/>
            </a:endParaRPr>
          </a:p>
        </p:txBody>
      </p:sp>
      <p:sp>
        <p:nvSpPr>
          <p:cNvPr id="43" name="Google Shape;43;p4"/>
          <p:cNvSpPr/>
          <p:nvPr/>
        </p:nvSpPr>
        <p:spPr>
          <a:xfrm>
            <a:off x="640080" y="1792224"/>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 name="Google Shape;44;p4" descr="preencoded.png"/>
          <p:cNvPicPr preferRelativeResize="0"/>
          <p:nvPr/>
        </p:nvPicPr>
        <p:blipFill rotWithShape="1">
          <a:blip r:embed="rId3">
            <a:alphaModFix/>
          </a:blip>
          <a:srcRect/>
          <a:stretch/>
        </p:blipFill>
        <p:spPr>
          <a:xfrm>
            <a:off x="735178" y="1887322"/>
            <a:ext cx="175565" cy="175565"/>
          </a:xfrm>
          <a:prstGeom prst="rect">
            <a:avLst/>
          </a:prstGeom>
          <a:noFill/>
          <a:ln>
            <a:noFill/>
          </a:ln>
        </p:spPr>
      </p:pic>
      <p:sp>
        <p:nvSpPr>
          <p:cNvPr id="45" name="Google Shape;45;p4"/>
          <p:cNvSpPr/>
          <p:nvPr/>
        </p:nvSpPr>
        <p:spPr>
          <a:xfrm>
            <a:off x="1188720" y="1755648"/>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What exists?  —  </a:t>
            </a:r>
            <a:r>
              <a:rPr lang="en-US" sz="1300" b="0" i="0" u="none" strike="noStrike" cap="none">
                <a:solidFill>
                  <a:srgbClr val="5A6377"/>
                </a:solidFill>
                <a:latin typeface="Calibri"/>
                <a:ea typeface="Calibri"/>
                <a:cs typeface="Calibri"/>
                <a:sym typeface="Calibri"/>
              </a:rPr>
              <a:t>What are the basic constituents of reality, and what is each of them?</a:t>
            </a:r>
            <a:endParaRPr sz="1450" b="0" i="0" u="none" strike="noStrike" cap="none">
              <a:solidFill>
                <a:schemeClr val="dk1"/>
              </a:solidFill>
              <a:latin typeface="Calibri"/>
              <a:ea typeface="Calibri"/>
              <a:cs typeface="Calibri"/>
              <a:sym typeface="Calibri"/>
            </a:endParaRPr>
          </a:p>
        </p:txBody>
      </p:sp>
      <p:sp>
        <p:nvSpPr>
          <p:cNvPr id="46" name="Google Shape;46;p4"/>
          <p:cNvSpPr/>
          <p:nvPr/>
        </p:nvSpPr>
        <p:spPr>
          <a:xfrm>
            <a:off x="640080" y="2359152"/>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 name="Google Shape;47;p4" descr="preencoded.png"/>
          <p:cNvPicPr preferRelativeResize="0"/>
          <p:nvPr/>
        </p:nvPicPr>
        <p:blipFill rotWithShape="1">
          <a:blip r:embed="rId3">
            <a:alphaModFix/>
          </a:blip>
          <a:srcRect/>
          <a:stretch/>
        </p:blipFill>
        <p:spPr>
          <a:xfrm>
            <a:off x="735178" y="2454250"/>
            <a:ext cx="175565" cy="175565"/>
          </a:xfrm>
          <a:prstGeom prst="rect">
            <a:avLst/>
          </a:prstGeom>
          <a:noFill/>
          <a:ln>
            <a:noFill/>
          </a:ln>
        </p:spPr>
      </p:pic>
      <p:sp>
        <p:nvSpPr>
          <p:cNvPr id="48" name="Google Shape;48;p4"/>
          <p:cNvSpPr/>
          <p:nvPr/>
        </p:nvSpPr>
        <p:spPr>
          <a:xfrm>
            <a:off x="1188720" y="2322576"/>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Does what exists begin?  —  </a:t>
            </a:r>
            <a:r>
              <a:rPr lang="en-US" sz="1300" b="0" i="0" u="none" strike="noStrike" cap="none">
                <a:solidFill>
                  <a:srgbClr val="5A6377"/>
                </a:solidFill>
                <a:latin typeface="Calibri"/>
                <a:ea typeface="Calibri"/>
                <a:cs typeface="Calibri"/>
                <a:sym typeface="Calibri"/>
              </a:rPr>
              <a:t>Did reality originate at some time — or is origination only of configurations?</a:t>
            </a:r>
            <a:endParaRPr sz="1450" b="0" i="0" u="none" strike="noStrike" cap="none">
              <a:solidFill>
                <a:schemeClr val="dk1"/>
              </a:solidFill>
              <a:latin typeface="Calibri"/>
              <a:ea typeface="Calibri"/>
              <a:cs typeface="Calibri"/>
              <a:sym typeface="Calibri"/>
            </a:endParaRPr>
          </a:p>
        </p:txBody>
      </p:sp>
      <p:sp>
        <p:nvSpPr>
          <p:cNvPr id="49" name="Google Shape;49;p4"/>
          <p:cNvSpPr/>
          <p:nvPr/>
        </p:nvSpPr>
        <p:spPr>
          <a:xfrm>
            <a:off x="640080" y="292608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 name="Google Shape;50;p4" descr="preencoded.png"/>
          <p:cNvPicPr preferRelativeResize="0"/>
          <p:nvPr/>
        </p:nvPicPr>
        <p:blipFill rotWithShape="1">
          <a:blip r:embed="rId3">
            <a:alphaModFix/>
          </a:blip>
          <a:srcRect/>
          <a:stretch/>
        </p:blipFill>
        <p:spPr>
          <a:xfrm>
            <a:off x="735178" y="3021178"/>
            <a:ext cx="175565" cy="175565"/>
          </a:xfrm>
          <a:prstGeom prst="rect">
            <a:avLst/>
          </a:prstGeom>
          <a:noFill/>
          <a:ln>
            <a:noFill/>
          </a:ln>
        </p:spPr>
      </p:pic>
      <p:sp>
        <p:nvSpPr>
          <p:cNvPr id="51" name="Google Shape;51;p4"/>
          <p:cNvSpPr/>
          <p:nvPr/>
        </p:nvSpPr>
        <p:spPr>
          <a:xfrm>
            <a:off x="1188720" y="2889504"/>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Does the self begin or end with the body?  —  </a:t>
            </a:r>
            <a:r>
              <a:rPr lang="en-US" sz="1300" b="0" i="0" u="none" strike="noStrike" cap="none">
                <a:solidFill>
                  <a:srgbClr val="5A6377"/>
                </a:solidFill>
                <a:latin typeface="Calibri"/>
                <a:ea typeface="Calibri"/>
                <a:cs typeface="Calibri"/>
                <a:sym typeface="Calibri"/>
              </a:rPr>
              <a:t>Is the individual self (jeevan) produced by the body and destroyed with it?</a:t>
            </a:r>
            <a:endParaRPr sz="1450" b="0" i="0" u="none" strike="noStrike" cap="none">
              <a:solidFill>
                <a:schemeClr val="dk1"/>
              </a:solidFill>
              <a:latin typeface="Calibri"/>
              <a:ea typeface="Calibri"/>
              <a:cs typeface="Calibri"/>
              <a:sym typeface="Calibri"/>
            </a:endParaRPr>
          </a:p>
        </p:txBody>
      </p:sp>
      <p:sp>
        <p:nvSpPr>
          <p:cNvPr id="52" name="Google Shape;52;p4"/>
          <p:cNvSpPr/>
          <p:nvPr/>
        </p:nvSpPr>
        <p:spPr>
          <a:xfrm>
            <a:off x="640080" y="3493008"/>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 name="Google Shape;53;p4" descr="preencoded.png"/>
          <p:cNvPicPr preferRelativeResize="0"/>
          <p:nvPr/>
        </p:nvPicPr>
        <p:blipFill rotWithShape="1">
          <a:blip r:embed="rId3">
            <a:alphaModFix/>
          </a:blip>
          <a:srcRect/>
          <a:stretch/>
        </p:blipFill>
        <p:spPr>
          <a:xfrm>
            <a:off x="735178" y="3588106"/>
            <a:ext cx="175565" cy="175565"/>
          </a:xfrm>
          <a:prstGeom prst="rect">
            <a:avLst/>
          </a:prstGeom>
          <a:noFill/>
          <a:ln>
            <a:noFill/>
          </a:ln>
        </p:spPr>
      </p:pic>
      <p:sp>
        <p:nvSpPr>
          <p:cNvPr id="54" name="Google Shape;54;p4"/>
          <p:cNvSpPr/>
          <p:nvPr/>
        </p:nvSpPr>
        <p:spPr>
          <a:xfrm>
            <a:off x="1188720" y="3456432"/>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Is the world finally real?  —  </a:t>
            </a:r>
            <a:r>
              <a:rPr lang="en-US" sz="1300" b="0" i="0" u="none" strike="noStrike" cap="none">
                <a:solidFill>
                  <a:srgbClr val="5A6377"/>
                </a:solidFill>
                <a:latin typeface="Calibri"/>
                <a:ea typeface="Calibri"/>
                <a:cs typeface="Calibri"/>
                <a:sym typeface="Calibri"/>
              </a:rPr>
              <a:t>Is the plural world of units an appearance, or real in its own right?</a:t>
            </a:r>
            <a:endParaRPr sz="1450" b="0" i="0" u="none" strike="noStrike" cap="none">
              <a:solidFill>
                <a:schemeClr val="dk1"/>
              </a:solidFill>
              <a:latin typeface="Calibri"/>
              <a:ea typeface="Calibri"/>
              <a:cs typeface="Calibri"/>
              <a:sym typeface="Calibri"/>
            </a:endParaRPr>
          </a:p>
        </p:txBody>
      </p:sp>
      <p:sp>
        <p:nvSpPr>
          <p:cNvPr id="55" name="Google Shape;55;p4"/>
          <p:cNvSpPr/>
          <p:nvPr/>
        </p:nvSpPr>
        <p:spPr>
          <a:xfrm>
            <a:off x="640080" y="4059936"/>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6" name="Google Shape;56;p4" descr="preencoded.png"/>
          <p:cNvPicPr preferRelativeResize="0"/>
          <p:nvPr/>
        </p:nvPicPr>
        <p:blipFill rotWithShape="1">
          <a:blip r:embed="rId3">
            <a:alphaModFix/>
          </a:blip>
          <a:srcRect/>
          <a:stretch/>
        </p:blipFill>
        <p:spPr>
          <a:xfrm>
            <a:off x="735178" y="4155034"/>
            <a:ext cx="175565" cy="175565"/>
          </a:xfrm>
          <a:prstGeom prst="rect">
            <a:avLst/>
          </a:prstGeom>
          <a:noFill/>
          <a:ln>
            <a:noFill/>
          </a:ln>
        </p:spPr>
      </p:pic>
      <p:sp>
        <p:nvSpPr>
          <p:cNvPr id="57" name="Google Shape;57;p4"/>
          <p:cNvSpPr/>
          <p:nvPr/>
        </p:nvSpPr>
        <p:spPr>
          <a:xfrm>
            <a:off x="1188720" y="4023360"/>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How can what exists be known?  —  </a:t>
            </a:r>
            <a:r>
              <a:rPr lang="en-US" sz="1300" b="0" i="0" u="none" strike="noStrike" cap="none">
                <a:solidFill>
                  <a:srgbClr val="5A6377"/>
                </a:solidFill>
                <a:latin typeface="Calibri"/>
                <a:ea typeface="Calibri"/>
                <a:cs typeface="Calibri"/>
                <a:sym typeface="Calibri"/>
              </a:rPr>
              <a:t>What must be understood — and at what scope — to know each aspect of reality?</a:t>
            </a:r>
            <a:endParaRPr sz="1450" b="0" i="0" u="none" strike="noStrike" cap="none">
              <a:solidFill>
                <a:schemeClr val="dk1"/>
              </a:solidFill>
              <a:latin typeface="Calibri"/>
              <a:ea typeface="Calibri"/>
              <a:cs typeface="Calibri"/>
              <a:sym typeface="Calibri"/>
            </a:endParaRPr>
          </a:p>
        </p:txBody>
      </p:sp>
      <p:sp>
        <p:nvSpPr>
          <p:cNvPr id="58" name="Google Shape;58;p4"/>
          <p:cNvSpPr/>
          <p:nvPr/>
        </p:nvSpPr>
        <p:spPr>
          <a:xfrm>
            <a:off x="1188720" y="4645152"/>
            <a:ext cx="74066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50"/>
              <a:buFont typeface="Calibri"/>
              <a:buNone/>
            </a:pPr>
            <a:r>
              <a:rPr lang="en-US" sz="1250" b="0" i="1" u="none" strike="noStrike" cap="none">
                <a:solidFill>
                  <a:srgbClr val="9A6414"/>
                </a:solidFill>
                <a:latin typeface="Calibri"/>
                <a:ea typeface="Calibri"/>
                <a:cs typeface="Calibri"/>
                <a:sym typeface="Calibri"/>
              </a:rPr>
              <a:t>Madhyasth Darshan answers each from a single starting point: existence is coexistence.</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3"/>
        <p:cNvGrpSpPr/>
        <p:nvPr/>
      </p:nvGrpSpPr>
      <p:grpSpPr>
        <a:xfrm>
          <a:off x="0" y="0"/>
          <a:ext cx="0" cy="0"/>
          <a:chOff x="0" y="0"/>
          <a:chExt cx="0" cy="0"/>
        </a:xfrm>
      </p:grpSpPr>
      <p:sp>
        <p:nvSpPr>
          <p:cNvPr id="64" name="Google Shape;64;p5"/>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5"/>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5"/>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 · TWO INSEPARABLE ASPECTS</a:t>
            </a:r>
            <a:endParaRPr sz="1050" b="0" i="0" u="none" strike="noStrike" cap="none">
              <a:solidFill>
                <a:schemeClr val="dk1"/>
              </a:solidFill>
              <a:latin typeface="Calibri"/>
              <a:ea typeface="Calibri"/>
              <a:cs typeface="Calibri"/>
              <a:sym typeface="Calibri"/>
            </a:endParaRPr>
          </a:p>
        </p:txBody>
      </p:sp>
      <p:sp>
        <p:nvSpPr>
          <p:cNvPr id="68" name="Google Shape;68;p5"/>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Existence Is Coexistence</a:t>
            </a:r>
            <a:endParaRPr sz="3000" b="0" i="0" u="none" strike="noStrike" cap="none">
              <a:solidFill>
                <a:schemeClr val="dk1"/>
              </a:solidFill>
              <a:latin typeface="Calibri"/>
              <a:ea typeface="Calibri"/>
              <a:cs typeface="Calibri"/>
              <a:sym typeface="Calibri"/>
            </a:endParaRPr>
          </a:p>
        </p:txBody>
      </p:sp>
      <p:sp>
        <p:nvSpPr>
          <p:cNvPr id="69" name="Google Shape;69;p5"/>
          <p:cNvSpPr/>
          <p:nvPr/>
        </p:nvSpPr>
        <p:spPr>
          <a:xfrm>
            <a:off x="640080" y="1280160"/>
            <a:ext cx="4160520" cy="3474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500"/>
              <a:buFont typeface="Calibri"/>
              <a:buNone/>
            </a:pPr>
            <a:r>
              <a:rPr lang="en-US" sz="1500" b="1" i="0" u="none" strike="noStrike" cap="none">
                <a:solidFill>
                  <a:srgbClr val="1E2447"/>
                </a:solidFill>
                <a:latin typeface="Calibri"/>
                <a:ea typeface="Calibri"/>
                <a:cs typeface="Calibri"/>
                <a:sym typeface="Calibri"/>
              </a:rPr>
              <a:t>Omnipotence</a:t>
            </a:r>
            <a:endParaRPr sz="15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Formless, all-pervasive, non-transforming, immeasurable — actionless energy. It performs no actions, yet every unit is energised, regulated, and conserved in it. It has no absent place.</a:t>
            </a:r>
            <a:endParaRPr sz="1500" b="0" i="0" u="none" strike="noStrike" cap="none">
              <a:solidFill>
                <a:schemeClr val="dk1"/>
              </a:solidFill>
              <a:latin typeface="Calibri"/>
              <a:ea typeface="Calibri"/>
              <a:cs typeface="Calibri"/>
              <a:sym typeface="Calibri"/>
            </a:endParaRPr>
          </a:p>
          <a:p>
            <a:pPr marL="0" marR="0" lvl="0" indent="0" algn="l" rtl="0">
              <a:spcBef>
                <a:spcPts val="1000"/>
              </a:spcBef>
              <a:spcAft>
                <a:spcPts val="0"/>
              </a:spcAft>
              <a:buClr>
                <a:srgbClr val="1E2447"/>
              </a:buClr>
              <a:buSzPts val="1500"/>
              <a:buFont typeface="Calibri"/>
              <a:buNone/>
            </a:pPr>
            <a:r>
              <a:rPr lang="en-US" sz="1500" b="1" i="0" u="none" strike="noStrike" cap="none">
                <a:solidFill>
                  <a:srgbClr val="1E2447"/>
                </a:solidFill>
                <a:latin typeface="Calibri"/>
                <a:ea typeface="Calibri"/>
                <a:cs typeface="Calibri"/>
                <a:sym typeface="Calibri"/>
              </a:rPr>
              <a:t>Units of nature</a:t>
            </a:r>
            <a:endParaRPr sz="15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Formful, active, countable entities — each bounded from six directions, and each soaked, submerged, and surrounded in Omnipotence, with form, properties, essential nature, and dharma. At the smallest scale, every unit is built from the same basic building block: an atom — a core with parts orbiting it.</a:t>
            </a:r>
            <a:endParaRPr sz="1500" b="0" i="0" u="none" strike="noStrike" cap="none">
              <a:solidFill>
                <a:schemeClr val="dk1"/>
              </a:solidFill>
              <a:latin typeface="Calibri"/>
              <a:ea typeface="Calibri"/>
              <a:cs typeface="Calibri"/>
              <a:sym typeface="Calibri"/>
            </a:endParaRPr>
          </a:p>
          <a:p>
            <a:pPr marL="0" marR="0" lvl="0" indent="0" algn="l" rtl="0">
              <a:spcBef>
                <a:spcPts val="1000"/>
              </a:spcBef>
              <a:spcAft>
                <a:spcPts val="0"/>
              </a:spcAft>
              <a:buClr>
                <a:srgbClr val="1E2447"/>
              </a:buClr>
              <a:buSzPts val="1500"/>
              <a:buFont typeface="Calibri"/>
              <a:buNone/>
            </a:pPr>
            <a:r>
              <a:rPr lang="en-US" sz="1500" b="1" i="0" u="none" strike="noStrike" cap="none">
                <a:solidFill>
                  <a:srgbClr val="1E2447"/>
                </a:solidFill>
                <a:latin typeface="Calibri"/>
                <a:ea typeface="Calibri"/>
                <a:cs typeface="Calibri"/>
                <a:sym typeface="Calibri"/>
              </a:rPr>
              <a:t>Never two separate poles</a:t>
            </a:r>
            <a:endParaRPr sz="15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Separation of a unit from the saturated whole “never happens.” The ground is state-complete — without motion, wave, or pressure; nature saturated in it is state-dynamic — all change is unit-activity.</a:t>
            </a:r>
            <a:endParaRPr sz="1500" b="0" i="0" u="none" strike="noStrike" cap="none">
              <a:solidFill>
                <a:schemeClr val="dk1"/>
              </a:solidFill>
              <a:latin typeface="Calibri"/>
              <a:ea typeface="Calibri"/>
              <a:cs typeface="Calibri"/>
              <a:sym typeface="Calibri"/>
            </a:endParaRPr>
          </a:p>
        </p:txBody>
      </p:sp>
      <p:sp>
        <p:nvSpPr>
          <p:cNvPr id="70" name="Google Shape;70;p5"/>
          <p:cNvSpPr/>
          <p:nvPr/>
        </p:nvSpPr>
        <p:spPr>
          <a:xfrm>
            <a:off x="5074920" y="1280160"/>
            <a:ext cx="3566160" cy="3246120"/>
          </a:xfrm>
          <a:prstGeom prst="roundRect">
            <a:avLst>
              <a:gd name="adj" fmla="val 3380"/>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5"/>
          <p:cNvSpPr/>
          <p:nvPr/>
        </p:nvSpPr>
        <p:spPr>
          <a:xfrm>
            <a:off x="5074920" y="1417320"/>
            <a:ext cx="3566160" cy="274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1100"/>
              <a:buFont typeface="Calibri"/>
              <a:buNone/>
            </a:pPr>
            <a:r>
              <a:rPr lang="en-US" sz="1100" b="1" i="0" u="none" strike="noStrike" cap="none">
                <a:solidFill>
                  <a:srgbClr val="C9D4EF"/>
                </a:solidFill>
                <a:latin typeface="Calibri"/>
                <a:ea typeface="Calibri"/>
                <a:cs typeface="Calibri"/>
                <a:sym typeface="Calibri"/>
              </a:rPr>
              <a:t>OMNIPOTENCE — the pervasive ground</a:t>
            </a:r>
            <a:endParaRPr sz="1100" b="0" i="0" u="none" strike="noStrike" cap="none">
              <a:solidFill>
                <a:schemeClr val="dk1"/>
              </a:solidFill>
              <a:latin typeface="Calibri"/>
              <a:ea typeface="Calibri"/>
              <a:cs typeface="Calibri"/>
              <a:sym typeface="Calibri"/>
            </a:endParaRPr>
          </a:p>
        </p:txBody>
      </p:sp>
      <p:sp>
        <p:nvSpPr>
          <p:cNvPr id="72" name="Google Shape;72;p5"/>
          <p:cNvSpPr/>
          <p:nvPr/>
        </p:nvSpPr>
        <p:spPr>
          <a:xfrm>
            <a:off x="5440680" y="1965960"/>
            <a:ext cx="1051560" cy="1051560"/>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5"/>
          <p:cNvSpPr/>
          <p:nvPr/>
        </p:nvSpPr>
        <p:spPr>
          <a:xfrm>
            <a:off x="5650992" y="2176272"/>
            <a:ext cx="630936" cy="630936"/>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5"/>
          <p:cNvSpPr/>
          <p:nvPr/>
        </p:nvSpPr>
        <p:spPr>
          <a:xfrm>
            <a:off x="5829757" y="2355037"/>
            <a:ext cx="273406" cy="273406"/>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5"/>
          <p:cNvSpPr/>
          <p:nvPr/>
        </p:nvSpPr>
        <p:spPr>
          <a:xfrm>
            <a:off x="6812280" y="2240280"/>
            <a:ext cx="777240" cy="777240"/>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5"/>
          <p:cNvSpPr/>
          <p:nvPr/>
        </p:nvSpPr>
        <p:spPr>
          <a:xfrm>
            <a:off x="6967728" y="2395728"/>
            <a:ext cx="466344" cy="466344"/>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5"/>
          <p:cNvSpPr/>
          <p:nvPr/>
        </p:nvSpPr>
        <p:spPr>
          <a:xfrm>
            <a:off x="7099859" y="2527859"/>
            <a:ext cx="202082" cy="202082"/>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5"/>
          <p:cNvSpPr/>
          <p:nvPr/>
        </p:nvSpPr>
        <p:spPr>
          <a:xfrm>
            <a:off x="7635240" y="1783080"/>
            <a:ext cx="566928" cy="566928"/>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5"/>
          <p:cNvSpPr/>
          <p:nvPr/>
        </p:nvSpPr>
        <p:spPr>
          <a:xfrm>
            <a:off x="7748626" y="1896466"/>
            <a:ext cx="340157" cy="340157"/>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5"/>
          <p:cNvSpPr/>
          <p:nvPr/>
        </p:nvSpPr>
        <p:spPr>
          <a:xfrm>
            <a:off x="7845003" y="1992843"/>
            <a:ext cx="147401" cy="147401"/>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5"/>
          <p:cNvSpPr/>
          <p:nvPr/>
        </p:nvSpPr>
        <p:spPr>
          <a:xfrm>
            <a:off x="6035040" y="3200400"/>
            <a:ext cx="658368" cy="658368"/>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5"/>
          <p:cNvSpPr/>
          <p:nvPr/>
        </p:nvSpPr>
        <p:spPr>
          <a:xfrm>
            <a:off x="6166714" y="3332074"/>
            <a:ext cx="395021" cy="395021"/>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5"/>
          <p:cNvSpPr/>
          <p:nvPr/>
        </p:nvSpPr>
        <p:spPr>
          <a:xfrm>
            <a:off x="6278636" y="3443996"/>
            <a:ext cx="171176" cy="171176"/>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5"/>
          <p:cNvSpPr/>
          <p:nvPr/>
        </p:nvSpPr>
        <p:spPr>
          <a:xfrm>
            <a:off x="7315200" y="3246120"/>
            <a:ext cx="896112" cy="896112"/>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5"/>
          <p:cNvSpPr/>
          <p:nvPr/>
        </p:nvSpPr>
        <p:spPr>
          <a:xfrm>
            <a:off x="7494422" y="3425342"/>
            <a:ext cx="537667" cy="537667"/>
          </a:xfrm>
          <a:prstGeom prst="ellipse">
            <a:avLst/>
          </a:prstGeom>
          <a:noFill/>
          <a:ln w="15875" cap="flat" cmpd="sng">
            <a:solidFill>
              <a:srgbClr val="5A68A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5"/>
          <p:cNvSpPr/>
          <p:nvPr/>
        </p:nvSpPr>
        <p:spPr>
          <a:xfrm>
            <a:off x="7646761" y="3577681"/>
            <a:ext cx="232989" cy="232989"/>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5"/>
          <p:cNvSpPr/>
          <p:nvPr/>
        </p:nvSpPr>
        <p:spPr>
          <a:xfrm>
            <a:off x="5257800" y="4114800"/>
            <a:ext cx="3200400" cy="41148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1000"/>
              <a:buFont typeface="Calibri"/>
              <a:buNone/>
            </a:pPr>
            <a:r>
              <a:rPr lang="en-US" sz="1000" b="0" i="1" u="none" strike="noStrike" cap="none">
                <a:solidFill>
                  <a:srgbClr val="C9D4EF"/>
                </a:solidFill>
                <a:latin typeface="Calibri"/>
                <a:ea typeface="Calibri"/>
                <a:cs typeface="Calibri"/>
                <a:sym typeface="Calibri"/>
              </a:rPr>
              <a:t>bounded units, each saturated in the ground; even the distance between units is held in Omnipotence as Space</a:t>
            </a:r>
            <a:endParaRPr sz="1000" b="0" i="0" u="none" strike="noStrike" cap="none">
              <a:solidFill>
                <a:schemeClr val="dk1"/>
              </a:solidFill>
              <a:latin typeface="Calibri"/>
              <a:ea typeface="Calibri"/>
              <a:cs typeface="Calibri"/>
              <a:sym typeface="Calibri"/>
            </a:endParaRPr>
          </a:p>
        </p:txBody>
      </p:sp>
      <p:sp>
        <p:nvSpPr>
          <p:cNvPr id="88" name="Google Shape;88;p5"/>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“Existence itself is eternally manifest in the form of coexistence” — SB p. 48  ·  MVD pp. 11, 34  ·  JV p. 18</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6"/>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6"/>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6"/>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6"/>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§1.2 · THE THREE ENDOWMENTS</a:t>
            </a:r>
            <a:endParaRPr sz="1050" b="0" i="0" u="none" strike="noStrike" cap="none">
              <a:solidFill>
                <a:schemeClr val="dk1"/>
              </a:solidFill>
              <a:latin typeface="Calibri"/>
              <a:ea typeface="Calibri"/>
              <a:cs typeface="Calibri"/>
              <a:sym typeface="Calibri"/>
            </a:endParaRPr>
          </a:p>
        </p:txBody>
      </p:sp>
      <p:sp>
        <p:nvSpPr>
          <p:cNvPr id="98" name="Google Shape;98;p6"/>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Saturation: The Ground–Unit Bond</a:t>
            </a:r>
            <a:endParaRPr sz="3000" b="0" i="0" u="none" strike="noStrike" cap="none">
              <a:solidFill>
                <a:schemeClr val="dk1"/>
              </a:solidFill>
              <a:latin typeface="Calibri"/>
              <a:ea typeface="Calibri"/>
              <a:cs typeface="Calibri"/>
              <a:sym typeface="Calibri"/>
            </a:endParaRPr>
          </a:p>
        </p:txBody>
      </p:sp>
      <p:sp>
        <p:nvSpPr>
          <p:cNvPr id="99" name="Google Shape;99;p6"/>
          <p:cNvSpPr/>
          <p:nvPr/>
        </p:nvSpPr>
        <p:spPr>
          <a:xfrm>
            <a:off x="640080" y="1207008"/>
            <a:ext cx="795528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a:solidFill>
                  <a:srgbClr val="5A6377"/>
                </a:solidFill>
                <a:latin typeface="Calibri"/>
                <a:ea typeface="Calibri"/>
                <a:cs typeface="Calibri"/>
                <a:sym typeface="Calibri"/>
              </a:rPr>
              <a:t>Every formful unit is soaked, submerged, and surrounded in Omnipotence — like a sponge in water, never pushed by it. Saturated coexistence itself is knowledge; every unit receives three endowments through this bond.</a:t>
            </a:r>
            <a:endParaRPr sz="1300" b="0" i="0" u="none" strike="noStrike" cap="none">
              <a:solidFill>
                <a:schemeClr val="dk1"/>
              </a:solidFill>
              <a:latin typeface="Calibri"/>
              <a:ea typeface="Calibri"/>
              <a:cs typeface="Calibri"/>
              <a:sym typeface="Calibri"/>
            </a:endParaRPr>
          </a:p>
        </p:txBody>
      </p:sp>
      <p:sp>
        <p:nvSpPr>
          <p:cNvPr id="100" name="Google Shape;100;p6"/>
          <p:cNvSpPr/>
          <p:nvPr/>
        </p:nvSpPr>
        <p:spPr>
          <a:xfrm>
            <a:off x="640080" y="2011680"/>
            <a:ext cx="2615184" cy="2395728"/>
          </a:xfrm>
          <a:prstGeom prst="roundRect">
            <a:avLst>
              <a:gd name="adj" fmla="val 381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6"/>
          <p:cNvSpPr/>
          <p:nvPr/>
        </p:nvSpPr>
        <p:spPr>
          <a:xfrm>
            <a:off x="841248" y="2212848"/>
            <a:ext cx="457200" cy="45720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2" name="Google Shape;102;p6" descr="preencoded.png"/>
          <p:cNvPicPr preferRelativeResize="0"/>
          <p:nvPr/>
        </p:nvPicPr>
        <p:blipFill rotWithShape="1">
          <a:blip r:embed="rId3">
            <a:alphaModFix/>
          </a:blip>
          <a:srcRect/>
          <a:stretch/>
        </p:blipFill>
        <p:spPr>
          <a:xfrm>
            <a:off x="960120" y="2331720"/>
            <a:ext cx="219456" cy="219456"/>
          </a:xfrm>
          <a:prstGeom prst="rect">
            <a:avLst/>
          </a:prstGeom>
          <a:noFill/>
          <a:ln>
            <a:noFill/>
          </a:ln>
        </p:spPr>
      </p:pic>
      <p:sp>
        <p:nvSpPr>
          <p:cNvPr id="103" name="Google Shape;103;p6"/>
          <p:cNvSpPr/>
          <p:nvPr/>
        </p:nvSpPr>
        <p:spPr>
          <a:xfrm>
            <a:off x="841248" y="2761488"/>
            <a:ext cx="2240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mbria"/>
              <a:buNone/>
            </a:pPr>
            <a:r>
              <a:rPr lang="en-US" sz="1450" b="1" i="0" u="none" strike="noStrike" cap="none">
                <a:solidFill>
                  <a:srgbClr val="1E2447"/>
                </a:solidFill>
                <a:latin typeface="Cambria"/>
                <a:ea typeface="Cambria"/>
                <a:cs typeface="Cambria"/>
                <a:sym typeface="Cambria"/>
              </a:rPr>
              <a:t>Recognition capability</a:t>
            </a:r>
            <a:endParaRPr sz="1450" b="0" i="0" u="none" strike="noStrike" cap="none">
              <a:solidFill>
                <a:schemeClr val="dk1"/>
              </a:solidFill>
              <a:latin typeface="Calibri"/>
              <a:ea typeface="Calibri"/>
              <a:cs typeface="Calibri"/>
              <a:sym typeface="Calibri"/>
            </a:endParaRPr>
          </a:p>
        </p:txBody>
      </p:sp>
      <p:sp>
        <p:nvSpPr>
          <p:cNvPr id="104" name="Google Shape;104;p6"/>
          <p:cNvSpPr/>
          <p:nvPr/>
        </p:nvSpPr>
        <p:spPr>
          <a:xfrm>
            <a:off x="841248" y="3090672"/>
            <a:ext cx="224028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a:solidFill>
                  <a:srgbClr val="5A6377"/>
                </a:solidFill>
                <a:latin typeface="Calibri"/>
                <a:ea typeface="Calibri"/>
                <a:cs typeface="Calibri"/>
                <a:sym typeface="Calibri"/>
              </a:rPr>
              <a:t>Complementarity is given in coexistence, not created. Bounded units standing together in the ground are provisioned to recognise one another — with capacity, ability, and receptivity.</a:t>
            </a:r>
            <a:endParaRPr sz="1050" b="0" i="0" u="none" strike="noStrike" cap="none">
              <a:solidFill>
                <a:schemeClr val="dk1"/>
              </a:solidFill>
              <a:latin typeface="Calibri"/>
              <a:ea typeface="Calibri"/>
              <a:cs typeface="Calibri"/>
              <a:sym typeface="Calibri"/>
            </a:endParaRPr>
          </a:p>
        </p:txBody>
      </p:sp>
      <p:sp>
        <p:nvSpPr>
          <p:cNvPr id="105" name="Google Shape;105;p6"/>
          <p:cNvSpPr/>
          <p:nvPr/>
        </p:nvSpPr>
        <p:spPr>
          <a:xfrm>
            <a:off x="3392424" y="2011680"/>
            <a:ext cx="2615184" cy="2395728"/>
          </a:xfrm>
          <a:prstGeom prst="roundRect">
            <a:avLst>
              <a:gd name="adj" fmla="val 381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6"/>
          <p:cNvSpPr/>
          <p:nvPr/>
        </p:nvSpPr>
        <p:spPr>
          <a:xfrm>
            <a:off x="3593592" y="2212848"/>
            <a:ext cx="457200" cy="45720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7" name="Google Shape;107;p6" descr="preencoded.png"/>
          <p:cNvPicPr preferRelativeResize="0"/>
          <p:nvPr/>
        </p:nvPicPr>
        <p:blipFill rotWithShape="1">
          <a:blip r:embed="rId4">
            <a:alphaModFix/>
          </a:blip>
          <a:srcRect/>
          <a:stretch/>
        </p:blipFill>
        <p:spPr>
          <a:xfrm>
            <a:off x="3712464" y="2331720"/>
            <a:ext cx="219456" cy="219456"/>
          </a:xfrm>
          <a:prstGeom prst="rect">
            <a:avLst/>
          </a:prstGeom>
          <a:noFill/>
          <a:ln>
            <a:noFill/>
          </a:ln>
        </p:spPr>
      </p:pic>
      <p:sp>
        <p:nvSpPr>
          <p:cNvPr id="108" name="Google Shape;108;p6"/>
          <p:cNvSpPr/>
          <p:nvPr/>
        </p:nvSpPr>
        <p:spPr>
          <a:xfrm>
            <a:off x="3593592" y="2761488"/>
            <a:ext cx="2240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mbria"/>
              <a:buNone/>
            </a:pPr>
            <a:r>
              <a:rPr lang="en-US" sz="1450" b="1" i="0" u="none" strike="noStrike" cap="none">
                <a:solidFill>
                  <a:srgbClr val="1E2447"/>
                </a:solidFill>
                <a:latin typeface="Cambria"/>
                <a:ea typeface="Cambria"/>
                <a:cs typeface="Cambria"/>
                <a:sym typeface="Cambria"/>
              </a:rPr>
              <a:t>Activeness</a:t>
            </a:r>
            <a:endParaRPr sz="1450" b="0" i="0" u="none" strike="noStrike" cap="none">
              <a:solidFill>
                <a:schemeClr val="dk1"/>
              </a:solidFill>
              <a:latin typeface="Calibri"/>
              <a:ea typeface="Calibri"/>
              <a:cs typeface="Calibri"/>
              <a:sym typeface="Calibri"/>
            </a:endParaRPr>
          </a:p>
        </p:txBody>
      </p:sp>
      <p:sp>
        <p:nvSpPr>
          <p:cNvPr id="109" name="Google Shape;109;p6"/>
          <p:cNvSpPr/>
          <p:nvPr/>
        </p:nvSpPr>
        <p:spPr>
          <a:xfrm>
            <a:off x="3593592" y="3090672"/>
            <a:ext cx="224028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a:solidFill>
                  <a:srgbClr val="5A6377"/>
                </a:solidFill>
                <a:latin typeface="Calibri"/>
                <a:ea typeface="Calibri"/>
                <a:cs typeface="Calibri"/>
                <a:sym typeface="Calibri"/>
              </a:rPr>
              <a:t>“Unit + Energy fullness = Activeness.” Inherent energy and basic impulsion make every unit active — appearing as the inseparable triad of effort, motion, and result.</a:t>
            </a:r>
            <a:endParaRPr sz="1050" b="0" i="0" u="none" strike="noStrike" cap="none">
              <a:solidFill>
                <a:schemeClr val="dk1"/>
              </a:solidFill>
              <a:latin typeface="Calibri"/>
              <a:ea typeface="Calibri"/>
              <a:cs typeface="Calibri"/>
              <a:sym typeface="Calibri"/>
            </a:endParaRPr>
          </a:p>
        </p:txBody>
      </p:sp>
      <p:sp>
        <p:nvSpPr>
          <p:cNvPr id="110" name="Google Shape;110;p6"/>
          <p:cNvSpPr/>
          <p:nvPr/>
        </p:nvSpPr>
        <p:spPr>
          <a:xfrm>
            <a:off x="6144768" y="2011680"/>
            <a:ext cx="2615184" cy="2395728"/>
          </a:xfrm>
          <a:prstGeom prst="roundRect">
            <a:avLst>
              <a:gd name="adj" fmla="val 381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6"/>
          <p:cNvSpPr/>
          <p:nvPr/>
        </p:nvSpPr>
        <p:spPr>
          <a:xfrm>
            <a:off x="6345936" y="2212848"/>
            <a:ext cx="457200" cy="457200"/>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2" name="Google Shape;112;p6" descr="preencoded.png"/>
          <p:cNvPicPr preferRelativeResize="0"/>
          <p:nvPr/>
        </p:nvPicPr>
        <p:blipFill rotWithShape="1">
          <a:blip r:embed="rId5">
            <a:alphaModFix/>
          </a:blip>
          <a:srcRect/>
          <a:stretch/>
        </p:blipFill>
        <p:spPr>
          <a:xfrm>
            <a:off x="6464808" y="2331720"/>
            <a:ext cx="219456" cy="219456"/>
          </a:xfrm>
          <a:prstGeom prst="rect">
            <a:avLst/>
          </a:prstGeom>
          <a:noFill/>
          <a:ln>
            <a:noFill/>
          </a:ln>
        </p:spPr>
      </p:pic>
      <p:sp>
        <p:nvSpPr>
          <p:cNvPr id="113" name="Google Shape;113;p6"/>
          <p:cNvSpPr/>
          <p:nvPr/>
        </p:nvSpPr>
        <p:spPr>
          <a:xfrm>
            <a:off x="6345936" y="2761488"/>
            <a:ext cx="2240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mbria"/>
              <a:buNone/>
            </a:pPr>
            <a:r>
              <a:rPr lang="en-US" sz="1450" b="1" i="0" u="none" strike="noStrike" cap="none">
                <a:solidFill>
                  <a:srgbClr val="1E2447"/>
                </a:solidFill>
                <a:latin typeface="Cambria"/>
                <a:ea typeface="Cambria"/>
                <a:cs typeface="Cambria"/>
                <a:sym typeface="Cambria"/>
              </a:rPr>
              <a:t>Inherent regulation</a:t>
            </a:r>
            <a:endParaRPr sz="1450" b="0" i="0" u="none" strike="noStrike" cap="none">
              <a:solidFill>
                <a:schemeClr val="dk1"/>
              </a:solidFill>
              <a:latin typeface="Calibri"/>
              <a:ea typeface="Calibri"/>
              <a:cs typeface="Calibri"/>
              <a:sym typeface="Calibri"/>
            </a:endParaRPr>
          </a:p>
        </p:txBody>
      </p:sp>
      <p:sp>
        <p:nvSpPr>
          <p:cNvPr id="114" name="Google Shape;114;p6"/>
          <p:cNvSpPr/>
          <p:nvPr/>
        </p:nvSpPr>
        <p:spPr>
          <a:xfrm>
            <a:off x="6345936" y="3090672"/>
            <a:ext cx="2240280" cy="1234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a:solidFill>
                  <a:srgbClr val="5A6377"/>
                </a:solidFill>
                <a:latin typeface="Calibri"/>
                <a:ea typeface="Calibri"/>
                <a:cs typeface="Calibri"/>
                <a:sym typeface="Calibri"/>
              </a:rPr>
              <a:t>Saturation is where a unit gets regulatory order in it. Regulation manifests as law and orderliness — mediative, conserving every unit, never a statutory command from outside.</a:t>
            </a:r>
            <a:endParaRPr sz="1050" b="0" i="0" u="none" strike="noStrike" cap="none">
              <a:solidFill>
                <a:schemeClr val="dk1"/>
              </a:solidFill>
              <a:latin typeface="Calibri"/>
              <a:ea typeface="Calibri"/>
              <a:cs typeface="Calibri"/>
              <a:sym typeface="Calibri"/>
            </a:endParaRPr>
          </a:p>
        </p:txBody>
      </p:sp>
      <p:sp>
        <p:nvSpPr>
          <p:cNvPr id="115" name="Google Shape;115;p6"/>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Together, the three endowments prepare every unit for growth at its own level — only the fully-formed sentient atom feels this as a drive toward bliss. — SB pp. 49–62, 69; MVD pp. 26, 32–33, 40; JV p. 150</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7"/>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7"/>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7"/>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7"/>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§1.3</a:t>
            </a:r>
            <a:endParaRPr sz="1050" b="0" i="0" u="none" strike="noStrike" cap="none">
              <a:solidFill>
                <a:schemeClr val="dk1"/>
              </a:solidFill>
              <a:latin typeface="Calibri"/>
              <a:ea typeface="Calibri"/>
              <a:cs typeface="Calibri"/>
              <a:sym typeface="Calibri"/>
            </a:endParaRPr>
          </a:p>
        </p:txBody>
      </p:sp>
      <p:sp>
        <p:nvSpPr>
          <p:cNvPr id="125" name="Google Shape;125;p7"/>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What Every Unit Is: Four Inseparable Aspects</a:t>
            </a:r>
            <a:endParaRPr sz="3000" b="0" i="0" u="none" strike="noStrike" cap="none">
              <a:solidFill>
                <a:schemeClr val="dk1"/>
              </a:solidFill>
              <a:latin typeface="Calibri"/>
              <a:ea typeface="Calibri"/>
              <a:cs typeface="Calibri"/>
              <a:sym typeface="Calibri"/>
            </a:endParaRPr>
          </a:p>
        </p:txBody>
      </p:sp>
      <p:sp>
        <p:nvSpPr>
          <p:cNvPr id="126" name="Google Shape;126;p7"/>
          <p:cNvSpPr/>
          <p:nvPr/>
        </p:nvSpPr>
        <p:spPr>
          <a:xfrm>
            <a:off x="640080" y="128016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7"/>
          <p:cNvSpPr/>
          <p:nvPr/>
        </p:nvSpPr>
        <p:spPr>
          <a:xfrm>
            <a:off x="822960" y="146304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7"/>
          <p:cNvSpPr/>
          <p:nvPr/>
        </p:nvSpPr>
        <p:spPr>
          <a:xfrm>
            <a:off x="885139" y="152521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7"/>
          <p:cNvSpPr/>
          <p:nvPr/>
        </p:nvSpPr>
        <p:spPr>
          <a:xfrm>
            <a:off x="937992" y="157807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7"/>
          <p:cNvSpPr/>
          <p:nvPr/>
        </p:nvSpPr>
        <p:spPr>
          <a:xfrm>
            <a:off x="1261872" y="138988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Form</a:t>
            </a:r>
            <a:endParaRPr sz="1350" b="0" i="0" u="none" strike="noStrike" cap="none">
              <a:solidFill>
                <a:schemeClr val="dk1"/>
              </a:solidFill>
              <a:latin typeface="Calibri"/>
              <a:ea typeface="Calibri"/>
              <a:cs typeface="Calibri"/>
              <a:sym typeface="Calibri"/>
            </a:endParaRPr>
          </a:p>
        </p:txBody>
      </p:sp>
      <p:sp>
        <p:nvSpPr>
          <p:cNvPr id="131" name="Google Shape;131;p7"/>
          <p:cNvSpPr/>
          <p:nvPr/>
        </p:nvSpPr>
        <p:spPr>
          <a:xfrm>
            <a:off x="1261872" y="168249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Shape, volume, and density — by which a bounded unit is individuated. Shared across all orders.</a:t>
            </a:r>
            <a:endParaRPr sz="1030" b="0" i="0" u="none" strike="noStrike" cap="none">
              <a:solidFill>
                <a:schemeClr val="dk1"/>
              </a:solidFill>
              <a:latin typeface="Calibri"/>
              <a:ea typeface="Calibri"/>
              <a:cs typeface="Calibri"/>
              <a:sym typeface="Calibri"/>
            </a:endParaRPr>
          </a:p>
        </p:txBody>
      </p:sp>
      <p:sp>
        <p:nvSpPr>
          <p:cNvPr id="132" name="Google Shape;132;p7"/>
          <p:cNvSpPr/>
          <p:nvPr/>
        </p:nvSpPr>
        <p:spPr>
          <a:xfrm>
            <a:off x="4709160" y="128016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7"/>
          <p:cNvSpPr/>
          <p:nvPr/>
        </p:nvSpPr>
        <p:spPr>
          <a:xfrm>
            <a:off x="4892040" y="146304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7"/>
          <p:cNvSpPr/>
          <p:nvPr/>
        </p:nvSpPr>
        <p:spPr>
          <a:xfrm>
            <a:off x="4954219" y="152521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7"/>
          <p:cNvSpPr/>
          <p:nvPr/>
        </p:nvSpPr>
        <p:spPr>
          <a:xfrm>
            <a:off x="5007072" y="157807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7"/>
          <p:cNvSpPr/>
          <p:nvPr/>
        </p:nvSpPr>
        <p:spPr>
          <a:xfrm>
            <a:off x="5330952" y="138988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Properties</a:t>
            </a:r>
            <a:endParaRPr sz="1350" b="0" i="0" u="none" strike="noStrike" cap="none">
              <a:solidFill>
                <a:schemeClr val="dk1"/>
              </a:solidFill>
              <a:latin typeface="Calibri"/>
              <a:ea typeface="Calibri"/>
              <a:cs typeface="Calibri"/>
              <a:sym typeface="Calibri"/>
            </a:endParaRPr>
          </a:p>
        </p:txBody>
      </p:sp>
      <p:sp>
        <p:nvSpPr>
          <p:cNvPr id="137" name="Google Shape;137;p7"/>
          <p:cNvSpPr/>
          <p:nvPr/>
        </p:nvSpPr>
        <p:spPr>
          <a:xfrm>
            <a:off x="5330952" y="168249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Effects units have on one another in mutuality — generative, degenerative, and mediative (assisting creation, dissolution, sustainment).</a:t>
            </a:r>
            <a:endParaRPr sz="1030" b="0" i="0" u="none" strike="noStrike" cap="none">
              <a:solidFill>
                <a:schemeClr val="dk1"/>
              </a:solidFill>
              <a:latin typeface="Calibri"/>
              <a:ea typeface="Calibri"/>
              <a:cs typeface="Calibri"/>
              <a:sym typeface="Calibri"/>
            </a:endParaRPr>
          </a:p>
        </p:txBody>
      </p:sp>
      <p:sp>
        <p:nvSpPr>
          <p:cNvPr id="138" name="Google Shape;138;p7"/>
          <p:cNvSpPr/>
          <p:nvPr/>
        </p:nvSpPr>
        <p:spPr>
          <a:xfrm>
            <a:off x="640080" y="260604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7"/>
          <p:cNvSpPr/>
          <p:nvPr/>
        </p:nvSpPr>
        <p:spPr>
          <a:xfrm>
            <a:off x="822960" y="278892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7"/>
          <p:cNvSpPr/>
          <p:nvPr/>
        </p:nvSpPr>
        <p:spPr>
          <a:xfrm>
            <a:off x="885139" y="285109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7"/>
          <p:cNvSpPr/>
          <p:nvPr/>
        </p:nvSpPr>
        <p:spPr>
          <a:xfrm>
            <a:off x="937992" y="290395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7"/>
          <p:cNvSpPr/>
          <p:nvPr/>
        </p:nvSpPr>
        <p:spPr>
          <a:xfrm>
            <a:off x="1261872" y="271576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Essential nature</a:t>
            </a:r>
            <a:endParaRPr sz="1350" b="0" i="0" u="none" strike="noStrike" cap="none">
              <a:solidFill>
                <a:schemeClr val="dk1"/>
              </a:solidFill>
              <a:latin typeface="Calibri"/>
              <a:ea typeface="Calibri"/>
              <a:cs typeface="Calibri"/>
              <a:sym typeface="Calibri"/>
            </a:endParaRPr>
          </a:p>
        </p:txBody>
      </p:sp>
      <p:sp>
        <p:nvSpPr>
          <p:cNvPr id="143" name="Google Shape;143;p7"/>
          <p:cNvSpPr/>
          <p:nvPr/>
        </p:nvSpPr>
        <p:spPr>
          <a:xfrm>
            <a:off x="1261872" y="300837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How the usefulness of a unit’s properties participates in its order — its distinctive way of being (its “ness”).</a:t>
            </a:r>
            <a:endParaRPr sz="1030" b="0" i="0" u="none" strike="noStrike" cap="none">
              <a:solidFill>
                <a:schemeClr val="dk1"/>
              </a:solidFill>
              <a:latin typeface="Calibri"/>
              <a:ea typeface="Calibri"/>
              <a:cs typeface="Calibri"/>
              <a:sym typeface="Calibri"/>
            </a:endParaRPr>
          </a:p>
        </p:txBody>
      </p:sp>
      <p:sp>
        <p:nvSpPr>
          <p:cNvPr id="144" name="Google Shape;144;p7"/>
          <p:cNvSpPr/>
          <p:nvPr/>
        </p:nvSpPr>
        <p:spPr>
          <a:xfrm>
            <a:off x="4709160" y="2606040"/>
            <a:ext cx="3794760" cy="1188720"/>
          </a:xfrm>
          <a:prstGeom prst="roundRect">
            <a:avLst>
              <a:gd name="adj" fmla="val 6923"/>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7"/>
          <p:cNvSpPr/>
          <p:nvPr/>
        </p:nvSpPr>
        <p:spPr>
          <a:xfrm>
            <a:off x="4892040" y="2788920"/>
            <a:ext cx="310896" cy="31089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7"/>
          <p:cNvSpPr/>
          <p:nvPr/>
        </p:nvSpPr>
        <p:spPr>
          <a:xfrm>
            <a:off x="4954219" y="2851099"/>
            <a:ext cx="186538" cy="186538"/>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7"/>
          <p:cNvSpPr/>
          <p:nvPr/>
        </p:nvSpPr>
        <p:spPr>
          <a:xfrm>
            <a:off x="5007072" y="2903952"/>
            <a:ext cx="80833" cy="80833"/>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7"/>
          <p:cNvSpPr/>
          <p:nvPr/>
        </p:nvSpPr>
        <p:spPr>
          <a:xfrm>
            <a:off x="5330952" y="2715768"/>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Dharma</a:t>
            </a:r>
            <a:endParaRPr sz="1350" b="0" i="0" u="none" strike="noStrike" cap="none">
              <a:solidFill>
                <a:schemeClr val="dk1"/>
              </a:solidFill>
              <a:latin typeface="Calibri"/>
              <a:ea typeface="Calibri"/>
              <a:cs typeface="Calibri"/>
              <a:sym typeface="Calibri"/>
            </a:endParaRPr>
          </a:p>
        </p:txBody>
      </p:sp>
      <p:sp>
        <p:nvSpPr>
          <p:cNvPr id="149" name="Google Shape;149;p7"/>
          <p:cNvSpPr/>
          <p:nvPr/>
        </p:nvSpPr>
        <p:spPr>
          <a:xfrm>
            <a:off x="5330952" y="3008376"/>
            <a:ext cx="30632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What a unit cannot be separated from — its innateness and fulfilment. Since existence is coexistence, indestructibility is the ultimate dharma.</a:t>
            </a:r>
            <a:endParaRPr sz="1030" b="0" i="0" u="none" strike="noStrike" cap="none">
              <a:solidFill>
                <a:schemeClr val="dk1"/>
              </a:solidFill>
              <a:latin typeface="Calibri"/>
              <a:ea typeface="Calibri"/>
              <a:cs typeface="Calibri"/>
              <a:sym typeface="Calibri"/>
            </a:endParaRPr>
          </a:p>
        </p:txBody>
      </p:sp>
      <p:sp>
        <p:nvSpPr>
          <p:cNvPr id="150" name="Google Shape;150;p7"/>
          <p:cNvSpPr/>
          <p:nvPr/>
        </p:nvSpPr>
        <p:spPr>
          <a:xfrm>
            <a:off x="640080" y="3977640"/>
            <a:ext cx="7863840" cy="749808"/>
          </a:xfrm>
          <a:prstGeom prst="roundRect">
            <a:avLst>
              <a:gd name="adj" fmla="val 10976"/>
            </a:avLst>
          </a:prstGeom>
          <a:solidFill>
            <a:srgbClr val="FAF1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7"/>
          <p:cNvSpPr/>
          <p:nvPr/>
        </p:nvSpPr>
        <p:spPr>
          <a:xfrm>
            <a:off x="868680" y="3977640"/>
            <a:ext cx="740664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00"/>
              <a:buFont typeface="Calibri"/>
              <a:buNone/>
            </a:pPr>
            <a:r>
              <a:rPr lang="en-US" sz="1200" b="1" i="0" u="none" strike="noStrike" cap="none">
                <a:solidFill>
                  <a:srgbClr val="9A6414"/>
                </a:solidFill>
                <a:latin typeface="Calibri"/>
                <a:ea typeface="Calibri"/>
                <a:cs typeface="Calibri"/>
                <a:sym typeface="Calibri"/>
              </a:rPr>
              <a:t>Natural state → development</a:t>
            </a:r>
            <a:r>
              <a:rPr lang="en-US" sz="1200" b="0" i="0" u="none" strike="noStrike" cap="none">
                <a:solidFill>
                  <a:srgbClr val="5A6377"/>
                </a:solidFill>
                <a:latin typeface="Calibri"/>
                <a:ea typeface="Calibri"/>
                <a:cs typeface="Calibri"/>
                <a:sym typeface="Calibri"/>
              </a:rPr>
              <a:t xml:space="preserve">  (fulfilment aligned with innateness)      </a:t>
            </a:r>
            <a:r>
              <a:rPr lang="en-US" sz="1200" b="1" i="0" u="none" strike="noStrike" cap="none">
                <a:solidFill>
                  <a:srgbClr val="9A6414"/>
                </a:solidFill>
                <a:latin typeface="Calibri"/>
                <a:ea typeface="Calibri"/>
                <a:cs typeface="Calibri"/>
                <a:sym typeface="Calibri"/>
              </a:rPr>
              <a:t>Excited state → decline</a:t>
            </a:r>
            <a:r>
              <a:rPr lang="en-US" sz="1200" b="0" i="0" u="none" strike="noStrike" cap="none">
                <a:solidFill>
                  <a:srgbClr val="5A6377"/>
                </a:solidFill>
                <a:latin typeface="Calibri"/>
                <a:ea typeface="Calibri"/>
                <a:cs typeface="Calibri"/>
                <a:sym typeface="Calibri"/>
              </a:rPr>
              <a:t xml:space="preserve">  — each unit is a whole along with its environment; when all relationships are fulfilled, it is at ease.</a:t>
            </a:r>
            <a:endParaRPr sz="1200" b="0" i="0" u="none" strike="noStrike" cap="none">
              <a:solidFill>
                <a:schemeClr val="dk1"/>
              </a:solidFill>
              <a:latin typeface="Calibri"/>
              <a:ea typeface="Calibri"/>
              <a:cs typeface="Calibri"/>
              <a:sym typeface="Calibri"/>
            </a:endParaRPr>
          </a:p>
        </p:txBody>
      </p:sp>
      <p:sp>
        <p:nvSpPr>
          <p:cNvPr id="152" name="Google Shape;152;p7"/>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MVD pp. 50–51, 112  ·  SB pp. 13–15, 50–54  ·  JV p. 113 (the peepal tree’s definite conduct)</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7"/>
        <p:cNvGrpSpPr/>
        <p:nvPr/>
      </p:nvGrpSpPr>
      <p:grpSpPr>
        <a:xfrm>
          <a:off x="0" y="0"/>
          <a:ext cx="0" cy="0"/>
          <a:chOff x="0" y="0"/>
          <a:chExt cx="0" cy="0"/>
        </a:xfrm>
      </p:grpSpPr>
      <p:sp>
        <p:nvSpPr>
          <p:cNvPr id="158" name="Google Shape;158;p8"/>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8"/>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§1.4 · COMPLEMENTARITY AS VALUE</a:t>
            </a:r>
            <a:endParaRPr sz="1050" b="0" i="0" u="none" strike="noStrike" cap="none">
              <a:solidFill>
                <a:schemeClr val="dk1"/>
              </a:solidFill>
              <a:latin typeface="Calibri"/>
              <a:ea typeface="Calibri"/>
              <a:cs typeface="Calibri"/>
              <a:sym typeface="Calibri"/>
            </a:endParaRPr>
          </a:p>
        </p:txBody>
      </p:sp>
      <p:sp>
        <p:nvSpPr>
          <p:cNvPr id="162" name="Google Shape;162;p8"/>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Units in Relationships</a:t>
            </a:r>
            <a:endParaRPr sz="3000" b="0" i="0" u="none" strike="noStrike" cap="none">
              <a:solidFill>
                <a:schemeClr val="dk1"/>
              </a:solidFill>
              <a:latin typeface="Calibri"/>
              <a:ea typeface="Calibri"/>
              <a:cs typeface="Calibri"/>
              <a:sym typeface="Calibri"/>
            </a:endParaRPr>
          </a:p>
        </p:txBody>
      </p:sp>
      <p:sp>
        <p:nvSpPr>
          <p:cNvPr id="163" name="Google Shape;163;p8"/>
          <p:cNvSpPr/>
          <p:nvPr/>
        </p:nvSpPr>
        <p:spPr>
          <a:xfrm>
            <a:off x="640080" y="1207008"/>
            <a:ext cx="79552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a:solidFill>
                  <a:srgbClr val="5A6377"/>
                </a:solidFill>
                <a:latin typeface="Calibri"/>
                <a:ea typeface="Calibri"/>
                <a:cs typeface="Calibri"/>
                <a:sym typeface="Calibri"/>
              </a:rPr>
              <a:t>“Nothing is isolated — that is the principle” (JV p. 43). Complementarity is actualised as value in mutuality; the unit’s main drive is to recognise and fulfil its relationships.</a:t>
            </a:r>
            <a:endParaRPr sz="1300" b="0" i="0" u="none" strike="noStrike" cap="none">
              <a:solidFill>
                <a:schemeClr val="dk1"/>
              </a:solidFill>
              <a:latin typeface="Calibri"/>
              <a:ea typeface="Calibri"/>
              <a:cs typeface="Calibri"/>
              <a:sym typeface="Calibri"/>
            </a:endParaRPr>
          </a:p>
        </p:txBody>
      </p:sp>
      <p:sp>
        <p:nvSpPr>
          <p:cNvPr id="164" name="Google Shape;164;p8"/>
          <p:cNvSpPr/>
          <p:nvPr/>
        </p:nvSpPr>
        <p:spPr>
          <a:xfrm>
            <a:off x="64008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84124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00"/>
              <a:buFont typeface="Cambria"/>
              <a:buNone/>
            </a:pPr>
            <a:r>
              <a:rPr lang="en-US" sz="1400" b="1" i="0" u="none" strike="noStrike" cap="none">
                <a:solidFill>
                  <a:srgbClr val="1E2447"/>
                </a:solidFill>
                <a:latin typeface="Cambria"/>
                <a:ea typeface="Cambria"/>
                <a:cs typeface="Cambria"/>
                <a:sym typeface="Cambria"/>
              </a:rPr>
              <a:t>Relationship</a:t>
            </a:r>
            <a:endParaRPr sz="1400" b="0" i="0" u="none" strike="noStrike" cap="none">
              <a:solidFill>
                <a:schemeClr val="dk1"/>
              </a:solidFill>
              <a:latin typeface="Calibri"/>
              <a:ea typeface="Calibri"/>
              <a:cs typeface="Calibri"/>
              <a:sym typeface="Calibri"/>
            </a:endParaRPr>
          </a:p>
        </p:txBody>
      </p:sp>
      <p:sp>
        <p:nvSpPr>
          <p:cNvPr id="166" name="Google Shape;166;p8"/>
          <p:cNvSpPr/>
          <p:nvPr/>
        </p:nvSpPr>
        <p:spPr>
          <a:xfrm>
            <a:off x="84124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Mutuality where expectations are predetermined in the sense of completeness — e.g. parent and child.</a:t>
            </a:r>
            <a:endParaRPr sz="1100" b="0" i="0" u="none" strike="noStrike" cap="none">
              <a:solidFill>
                <a:schemeClr val="dk1"/>
              </a:solidFill>
              <a:latin typeface="Calibri"/>
              <a:ea typeface="Calibri"/>
              <a:cs typeface="Calibri"/>
              <a:sym typeface="Calibri"/>
            </a:endParaRPr>
          </a:p>
        </p:txBody>
      </p:sp>
      <p:sp>
        <p:nvSpPr>
          <p:cNvPr id="167" name="Google Shape;167;p8"/>
          <p:cNvSpPr/>
          <p:nvPr/>
        </p:nvSpPr>
        <p:spPr>
          <a:xfrm>
            <a:off x="470916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8"/>
          <p:cNvSpPr/>
          <p:nvPr/>
        </p:nvSpPr>
        <p:spPr>
          <a:xfrm>
            <a:off x="491032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400"/>
              <a:buFont typeface="Cambria"/>
              <a:buNone/>
            </a:pPr>
            <a:r>
              <a:rPr lang="en-US" sz="1400" b="1" i="0" u="none" strike="noStrike" cap="none">
                <a:solidFill>
                  <a:srgbClr val="3B4A7A"/>
                </a:solidFill>
                <a:latin typeface="Cambria"/>
                <a:ea typeface="Cambria"/>
                <a:cs typeface="Cambria"/>
                <a:sym typeface="Cambria"/>
              </a:rPr>
              <a:t>Association</a:t>
            </a:r>
            <a:endParaRPr sz="1400" b="0" i="0" u="none" strike="noStrike" cap="none">
              <a:solidFill>
                <a:schemeClr val="dk1"/>
              </a:solidFill>
              <a:latin typeface="Calibri"/>
              <a:ea typeface="Calibri"/>
              <a:cs typeface="Calibri"/>
              <a:sym typeface="Calibri"/>
            </a:endParaRPr>
          </a:p>
        </p:txBody>
      </p:sp>
      <p:sp>
        <p:nvSpPr>
          <p:cNvPr id="169" name="Google Shape;169;p8"/>
          <p:cNvSpPr/>
          <p:nvPr/>
        </p:nvSpPr>
        <p:spPr>
          <a:xfrm>
            <a:off x="491032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Mutuality where expectations are voluntary — e.g. neighbours who share a wall.</a:t>
            </a:r>
            <a:endParaRPr sz="1100" b="0" i="0" u="none" strike="noStrike" cap="none">
              <a:solidFill>
                <a:schemeClr val="dk1"/>
              </a:solidFill>
              <a:latin typeface="Calibri"/>
              <a:ea typeface="Calibri"/>
              <a:cs typeface="Calibri"/>
              <a:sym typeface="Calibri"/>
            </a:endParaRPr>
          </a:p>
        </p:txBody>
      </p:sp>
      <p:sp>
        <p:nvSpPr>
          <p:cNvPr id="170" name="Google Shape;170;p8"/>
          <p:cNvSpPr/>
          <p:nvPr/>
        </p:nvSpPr>
        <p:spPr>
          <a:xfrm>
            <a:off x="640080" y="3246120"/>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 xml:space="preserve">Essentiality is value.  </a:t>
            </a:r>
            <a:r>
              <a:rPr lang="en-US" sz="1200" b="0" i="0" u="none" strike="noStrike" cap="none">
                <a:solidFill>
                  <a:srgbClr val="5A6377"/>
                </a:solidFill>
                <a:latin typeface="Calibri"/>
                <a:ea typeface="Calibri"/>
                <a:cs typeface="Calibri"/>
                <a:sym typeface="Calibri"/>
              </a:rPr>
              <a:t>Object values — utility and art — operate at every order; jeevan values, human values, relationship values, and expression values presuppose the knowledge order.</a:t>
            </a:r>
            <a:endParaRPr sz="1250" b="0" i="0" u="none" strike="noStrike" cap="none">
              <a:solidFill>
                <a:schemeClr val="dk1"/>
              </a:solidFill>
              <a:latin typeface="Calibri"/>
              <a:ea typeface="Calibri"/>
              <a:cs typeface="Calibri"/>
              <a:sym typeface="Calibri"/>
            </a:endParaRPr>
          </a:p>
        </p:txBody>
      </p:sp>
      <p:sp>
        <p:nvSpPr>
          <p:cNvPr id="171" name="Google Shape;171;p8"/>
          <p:cNvSpPr/>
          <p:nvPr/>
        </p:nvSpPr>
        <p:spPr>
          <a:xfrm>
            <a:off x="64008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8"/>
          <p:cNvSpPr/>
          <p:nvPr/>
        </p:nvSpPr>
        <p:spPr>
          <a:xfrm>
            <a:off x="64008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Knowing</a:t>
            </a:r>
            <a:endParaRPr sz="1250" b="0" i="0" u="none" strike="noStrike" cap="none">
              <a:solidFill>
                <a:schemeClr val="dk1"/>
              </a:solidFill>
              <a:latin typeface="Calibri"/>
              <a:ea typeface="Calibri"/>
              <a:cs typeface="Calibri"/>
              <a:sym typeface="Calibri"/>
            </a:endParaRPr>
          </a:p>
        </p:txBody>
      </p:sp>
      <p:sp>
        <p:nvSpPr>
          <p:cNvPr id="173" name="Google Shape;173;p8"/>
          <p:cNvSpPr/>
          <p:nvPr/>
        </p:nvSpPr>
        <p:spPr>
          <a:xfrm>
            <a:off x="233172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174" name="Google Shape;174;p8"/>
          <p:cNvSpPr/>
          <p:nvPr/>
        </p:nvSpPr>
        <p:spPr>
          <a:xfrm>
            <a:off x="265176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8"/>
          <p:cNvSpPr/>
          <p:nvPr/>
        </p:nvSpPr>
        <p:spPr>
          <a:xfrm>
            <a:off x="265176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Believing</a:t>
            </a:r>
            <a:endParaRPr sz="1250" b="0" i="0" u="none" strike="noStrike" cap="none">
              <a:solidFill>
                <a:schemeClr val="dk1"/>
              </a:solidFill>
              <a:latin typeface="Calibri"/>
              <a:ea typeface="Calibri"/>
              <a:cs typeface="Calibri"/>
              <a:sym typeface="Calibri"/>
            </a:endParaRPr>
          </a:p>
        </p:txBody>
      </p:sp>
      <p:sp>
        <p:nvSpPr>
          <p:cNvPr id="176" name="Google Shape;176;p8"/>
          <p:cNvSpPr/>
          <p:nvPr/>
        </p:nvSpPr>
        <p:spPr>
          <a:xfrm>
            <a:off x="434340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177" name="Google Shape;177;p8"/>
          <p:cNvSpPr/>
          <p:nvPr/>
        </p:nvSpPr>
        <p:spPr>
          <a:xfrm>
            <a:off x="466344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8"/>
          <p:cNvSpPr/>
          <p:nvPr/>
        </p:nvSpPr>
        <p:spPr>
          <a:xfrm>
            <a:off x="466344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Recognising</a:t>
            </a:r>
            <a:endParaRPr sz="1250" b="0" i="0" u="none" strike="noStrike" cap="none">
              <a:solidFill>
                <a:schemeClr val="dk1"/>
              </a:solidFill>
              <a:latin typeface="Calibri"/>
              <a:ea typeface="Calibri"/>
              <a:cs typeface="Calibri"/>
              <a:sym typeface="Calibri"/>
            </a:endParaRPr>
          </a:p>
        </p:txBody>
      </p:sp>
      <p:sp>
        <p:nvSpPr>
          <p:cNvPr id="179" name="Google Shape;179;p8"/>
          <p:cNvSpPr/>
          <p:nvPr/>
        </p:nvSpPr>
        <p:spPr>
          <a:xfrm>
            <a:off x="635508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180" name="Google Shape;180;p8"/>
          <p:cNvSpPr/>
          <p:nvPr/>
        </p:nvSpPr>
        <p:spPr>
          <a:xfrm>
            <a:off x="667512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8"/>
          <p:cNvSpPr/>
          <p:nvPr/>
        </p:nvSpPr>
        <p:spPr>
          <a:xfrm>
            <a:off x="667512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Fulfilling</a:t>
            </a:r>
            <a:endParaRPr sz="1250" b="0" i="0" u="none" strike="noStrike" cap="none">
              <a:solidFill>
                <a:schemeClr val="dk1"/>
              </a:solidFill>
              <a:latin typeface="Calibri"/>
              <a:ea typeface="Calibri"/>
              <a:cs typeface="Calibri"/>
              <a:sym typeface="Calibri"/>
            </a:endParaRPr>
          </a:p>
        </p:txBody>
      </p:sp>
      <p:sp>
        <p:nvSpPr>
          <p:cNvPr id="182" name="Google Shape;182;p8"/>
          <p:cNvSpPr/>
          <p:nvPr/>
        </p:nvSpPr>
        <p:spPr>
          <a:xfrm>
            <a:off x="640080" y="4553712"/>
            <a:ext cx="79552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1" u="none" strike="noStrike" cap="none">
                <a:solidFill>
                  <a:srgbClr val="5A6377"/>
                </a:solidFill>
                <a:latin typeface="Calibri"/>
                <a:ea typeface="Calibri"/>
                <a:cs typeface="Calibri"/>
                <a:sym typeface="Calibri"/>
              </a:rPr>
              <a:t>Below the knowledge order fulfilment is definite; at the human order it must be achieved through this chain.</a:t>
            </a:r>
            <a:endParaRPr sz="1100" b="0" i="0" u="none" strike="noStrike" cap="none">
              <a:solidFill>
                <a:schemeClr val="dk1"/>
              </a:solidFill>
              <a:latin typeface="Calibri"/>
              <a:ea typeface="Calibri"/>
              <a:cs typeface="Calibri"/>
              <a:sym typeface="Calibri"/>
            </a:endParaRPr>
          </a:p>
        </p:txBody>
      </p:sp>
      <p:sp>
        <p:nvSpPr>
          <p:cNvPr id="183" name="Google Shape;183;p8"/>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MVD pp. 61–62, 27  ·  SB pp. 50, 53, 61  ·  JV p. 69</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8"/>
        <p:cNvGrpSpPr/>
        <p:nvPr/>
      </p:nvGrpSpPr>
      <p:grpSpPr>
        <a:xfrm>
          <a:off x="0" y="0"/>
          <a:ext cx="0" cy="0"/>
          <a:chOff x="0" y="0"/>
          <a:chExt cx="0" cy="0"/>
        </a:xfrm>
      </p:grpSpPr>
      <p:sp>
        <p:nvSpPr>
          <p:cNvPr id="189" name="Google Shape;189;p9"/>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9"/>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9"/>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9"/>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§1.5</a:t>
            </a:r>
            <a:endParaRPr sz="1050" b="0" i="0" u="none" strike="noStrike" cap="none">
              <a:solidFill>
                <a:schemeClr val="dk1"/>
              </a:solidFill>
              <a:latin typeface="Calibri"/>
              <a:ea typeface="Calibri"/>
              <a:cs typeface="Calibri"/>
              <a:sym typeface="Calibri"/>
            </a:endParaRPr>
          </a:p>
        </p:txBody>
      </p:sp>
      <p:sp>
        <p:nvSpPr>
          <p:cNvPr id="193" name="Google Shape;193;p9"/>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Four Orders of Nature</a:t>
            </a:r>
            <a:endParaRPr sz="3000" b="0" i="0" u="none" strike="noStrike" cap="none">
              <a:solidFill>
                <a:schemeClr val="dk1"/>
              </a:solidFill>
              <a:latin typeface="Calibri"/>
              <a:ea typeface="Calibri"/>
              <a:cs typeface="Calibri"/>
              <a:sym typeface="Calibri"/>
            </a:endParaRPr>
          </a:p>
        </p:txBody>
      </p:sp>
      <p:graphicFrame>
        <p:nvGraphicFramePr>
          <p:cNvPr id="194" name="Google Shape;194;p9"/>
          <p:cNvGraphicFramePr/>
          <p:nvPr/>
        </p:nvGraphicFramePr>
        <p:xfrm>
          <a:off x="640080" y="1325880"/>
          <a:ext cx="7863825" cy="2560325"/>
        </p:xfrm>
        <a:graphic>
          <a:graphicData uri="http://schemas.openxmlformats.org/drawingml/2006/table">
            <a:tbl>
              <a:tblPr>
                <a:noFill/>
                <a:tableStyleId>{6C92A692-798E-4634-90B1-36CD3966BFCB}</a:tableStyleId>
              </a:tblPr>
              <a:tblGrid>
                <a:gridCol w="1828800">
                  <a:extLst>
                    <a:ext uri="{9D8B030D-6E8A-4147-A177-3AD203B41FA5}">
                      <a16:colId xmlns:a16="http://schemas.microsoft.com/office/drawing/2014/main" val="20000"/>
                    </a:ext>
                  </a:extLst>
                </a:gridCol>
                <a:gridCol w="2651750">
                  <a:extLst>
                    <a:ext uri="{9D8B030D-6E8A-4147-A177-3AD203B41FA5}">
                      <a16:colId xmlns:a16="http://schemas.microsoft.com/office/drawing/2014/main" val="20001"/>
                    </a:ext>
                  </a:extLst>
                </a:gridCol>
                <a:gridCol w="2011675">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65750">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Order</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Essential nature</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Dharma (cumulative)</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Status</a:t>
                      </a:r>
                      <a:endParaRPr sz="12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extLst>
                  <a:ext uri="{0D108BD9-81ED-4DB2-BD59-A6C34878D82A}">
                    <a16:rowId xmlns:a16="http://schemas.microsoft.com/office/drawing/2014/main" val="10000"/>
                  </a:ext>
                </a:extLst>
              </a:tr>
              <a:tr h="502925">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Material</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integration–disintegration</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existence</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insentient</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502925">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Bio (pranic)</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vitalising–devitalising</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 growth</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insentient</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502925">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Animal</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cruel–uncruel</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 hope to live</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sentient — jeevan appears</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685800">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Knowledge (human)</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fortitude, courage, generosity, kindness, grace, compassion</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 happiness</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100"/>
                        <a:buFont typeface="Calibri"/>
                        <a:buNone/>
                      </a:pPr>
                      <a:r>
                        <a:rPr lang="en-US" sz="1100" u="none" strike="noStrike" cap="none">
                          <a:solidFill>
                            <a:srgbClr val="1E2447"/>
                          </a:solidFill>
                          <a:latin typeface="Calibri"/>
                          <a:ea typeface="Calibri"/>
                          <a:cs typeface="Calibri"/>
                          <a:sym typeface="Calibri"/>
                        </a:rPr>
                        <a:t>sentient — awakening possible</a:t>
                      </a:r>
                      <a:endParaRPr sz="1100" u="none" strike="noStrike" cap="none">
                        <a:latin typeface="Calibri"/>
                        <a:ea typeface="Calibri"/>
                        <a:cs typeface="Calibri"/>
                        <a:sym typeface="Calibri"/>
                      </a:endParaRPr>
                    </a:p>
                  </a:txBody>
                  <a:tcPr marL="54875" marR="54875" marT="54875" marB="5487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bl>
          </a:graphicData>
        </a:graphic>
      </p:graphicFrame>
      <p:sp>
        <p:nvSpPr>
          <p:cNvPr id="195" name="Google Shape;195;p9"/>
          <p:cNvSpPr/>
          <p:nvPr/>
        </p:nvSpPr>
        <p:spPr>
          <a:xfrm>
            <a:off x="640080" y="4069080"/>
            <a:ext cx="7863840" cy="658368"/>
          </a:xfrm>
          <a:prstGeom prst="roundRect">
            <a:avLst>
              <a:gd name="adj" fmla="val 12500"/>
            </a:avLst>
          </a:prstGeom>
          <a:solidFill>
            <a:srgbClr val="FAF1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9"/>
          <p:cNvSpPr/>
          <p:nvPr/>
        </p:nvSpPr>
        <p:spPr>
          <a:xfrm>
            <a:off x="868680" y="4069080"/>
            <a:ext cx="7406640" cy="6583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150"/>
              <a:buFont typeface="Calibri"/>
              <a:buNone/>
            </a:pPr>
            <a:r>
              <a:rPr lang="en-US" sz="1150" b="1" i="0" u="none" strike="noStrike" cap="none">
                <a:solidFill>
                  <a:srgbClr val="9A6414"/>
                </a:solidFill>
                <a:latin typeface="Calibri"/>
                <a:ea typeface="Calibri"/>
                <a:cs typeface="Calibri"/>
                <a:sym typeface="Calibri"/>
              </a:rPr>
              <a:t xml:space="preserve">The sentience boundary lies between the bio and animal orders:  </a:t>
            </a:r>
            <a:r>
              <a:rPr lang="en-US" sz="1150" b="0" i="0" u="none" strike="noStrike" cap="none">
                <a:solidFill>
                  <a:srgbClr val="5A6377"/>
                </a:solidFill>
                <a:latin typeface="Calibri"/>
                <a:ea typeface="Calibri"/>
                <a:cs typeface="Calibri"/>
                <a:sym typeface="Calibri"/>
              </a:rPr>
              <a:t>hope to live is the defining activity of the sentient unit. Higher orders include the dharmas of lower orders cumulatively — each order a stable plateau, not a human typology.</a:t>
            </a:r>
            <a:endParaRPr sz="1150" b="0" i="0" u="none" strike="noStrike" cap="none">
              <a:solidFill>
                <a:schemeClr val="dk1"/>
              </a:solidFill>
              <a:latin typeface="Calibri"/>
              <a:ea typeface="Calibri"/>
              <a:cs typeface="Calibri"/>
              <a:sym typeface="Calibri"/>
            </a:endParaRPr>
          </a:p>
        </p:txBody>
      </p:sp>
      <p:sp>
        <p:nvSpPr>
          <p:cNvPr id="197" name="Google Shape;197;p9"/>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SB p. 179  ·  MVD pp. 5, 8, 13, 115  ·  JV p. 44</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0"/>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0"/>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0"/>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§1.6 · EFFORT · MOTION · RESULT</a:t>
            </a:r>
            <a:endParaRPr sz="1050" b="0" i="0" u="none" strike="noStrike" cap="non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Completeness Drive</a:t>
            </a:r>
            <a:endParaRPr sz="3000" b="0" i="0" u="none" strike="noStrike" cap="non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Growth happens everywhere — particles into atoms, atoms into molecules, bodies, and societies. But that is only support and environment, not the deeper drive toward completeness. That drive continues only inside one special kind of atom, once it becomes whole and self-contained — that is where awakening happens. And every activity, at any level, is one inseparable triad — effort, motion, and result together, not three steps in a row.</a:t>
            </a:r>
            <a:endParaRPr sz="1250" b="0" i="0" u="none" strike="noStrike" cap="non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0"/>
          <p:cNvSpPr/>
          <p:nvPr/>
        </p:nvSpPr>
        <p:spPr>
          <a:xfrm>
            <a:off x="12344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Effort</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internal side</a:t>
            </a:r>
            <a:endParaRPr sz="1200" b="0" i="0" u="none" strike="noStrike" cap="non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restfulness of effort</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effort comes to rest in realisation</a:t>
            </a:r>
            <a:endParaRPr sz="950" b="0" i="0" u="none" strike="noStrike" cap="non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0632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Motion</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external side</a:t>
            </a:r>
            <a:endParaRPr sz="1200" b="0" i="0" u="none" strike="noStrike" cap="non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destination of motion</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motion arrives at right conduct</a:t>
            </a:r>
            <a:endParaRPr sz="950" b="0" i="0" u="none" strike="noStrike" cap="non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48920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Result</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stable outcome</a:t>
            </a:r>
            <a:endParaRPr sz="1200" b="0" i="0" u="none" strike="noStrike" cap="non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immortality of result</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result becomes indestructible</a:t>
            </a:r>
            <a:endParaRPr sz="950" b="0" i="0" u="none" strike="noStrike" cap="non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name="adj" fmla="val 465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0"/>
          <p:cNvSpPr/>
          <p:nvPr/>
        </p:nvSpPr>
        <p:spPr>
          <a:xfrm>
            <a:off x="6903720" y="2331720"/>
            <a:ext cx="1627632" cy="1920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Two kinds of activity</a:t>
            </a:r>
            <a:endParaRPr sz="1250" b="0" i="0" u="none" strike="noStrike" cap="none">
              <a:solidFill>
                <a:schemeClr val="dk1"/>
              </a:solidFill>
              <a:latin typeface="Calibri"/>
              <a:ea typeface="Calibri"/>
              <a:cs typeface="Calibri"/>
              <a:sym typeface="Calibri"/>
            </a:endParaRPr>
          </a:p>
          <a:p>
            <a:pPr marL="0" marR="0" lvl="0" indent="0" algn="l" rtl="0">
              <a:spcBef>
                <a:spcPts val="600"/>
              </a:spcBef>
              <a:spcAft>
                <a:spcPts val="0"/>
              </a:spcAft>
              <a:buClr>
                <a:srgbClr val="5A6377"/>
              </a:buClr>
              <a:buSzPts val="1000"/>
              <a:buFont typeface="Calibri"/>
              <a:buNone/>
            </a:pPr>
            <a:r>
              <a:rPr lang="en-US" sz="1000" b="0" i="0" u="none" strike="noStrike" cap="none">
                <a:solidFill>
                  <a:srgbClr val="5A6377"/>
                </a:solidFill>
                <a:latin typeface="Calibri"/>
                <a:ea typeface="Calibri"/>
                <a:cs typeface="Calibri"/>
                <a:sym typeface="Calibri"/>
              </a:rPr>
              <a:t>Ordinary atom: works toward becoming complete and self-contained (T1).</a:t>
            </a:r>
            <a:endParaRPr sz="1250" b="0" i="0" u="none" strike="noStrike" cap="none">
              <a:solidFill>
                <a:schemeClr val="dk1"/>
              </a:solidFill>
              <a:latin typeface="Calibri"/>
              <a:ea typeface="Calibri"/>
              <a:cs typeface="Calibri"/>
              <a:sym typeface="Calibri"/>
            </a:endParaRPr>
          </a:p>
          <a:p>
            <a:pPr marL="0" marR="0" lvl="0" indent="0" algn="l" rtl="0">
              <a:spcBef>
                <a:spcPts val="600"/>
              </a:spcBef>
              <a:spcAft>
                <a:spcPts val="0"/>
              </a:spcAft>
              <a:buClr>
                <a:srgbClr val="5A6377"/>
              </a:buClr>
              <a:buSzPts val="1000"/>
              <a:buFont typeface="Calibri"/>
              <a:buNone/>
            </a:pPr>
            <a:r>
              <a:rPr lang="en-US" sz="1000" b="0" i="0" u="none" strike="noStrike" cap="none">
                <a:solidFill>
                  <a:srgbClr val="5A6377"/>
                </a:solidFill>
                <a:latin typeface="Calibri"/>
                <a:ea typeface="Calibri"/>
                <a:cs typeface="Calibri"/>
                <a:sym typeface="Calibri"/>
              </a:rPr>
              <a:t>Completed atom: continues inward and outward, toward T2 and T3.</a:t>
            </a:r>
            <a:endParaRPr sz="1250" b="0" i="0" u="none" strike="noStrike" cap="non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“Saturation … itself is forcefulness … basic impulsion … activity … effort-motion-result … development” — SB p. 62; also SB pp. 51, 53, 58, 71, 91; MVD p. 104</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6" name="Google Shape;226;p11"/>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1"/>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1"/>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§1.6</a:t>
            </a:r>
            <a:endParaRPr sz="1050" b="0" i="0" u="none" strike="noStrike" cap="none">
              <a:solidFill>
                <a:schemeClr val="dk1"/>
              </a:solidFill>
              <a:latin typeface="Calibri"/>
              <a:ea typeface="Calibri"/>
              <a:cs typeface="Calibri"/>
              <a:sym typeface="Calibri"/>
            </a:endParaRPr>
          </a:p>
        </p:txBody>
      </p:sp>
      <p:sp>
        <p:nvSpPr>
          <p:cNvPr id="230" name="Google Shape;230;p11"/>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Three Completeness Transitions: T1, T2, T3</a:t>
            </a:r>
            <a:endParaRPr sz="3000" b="0" i="0" u="none" strike="noStrike" cap="none">
              <a:solidFill>
                <a:schemeClr val="dk1"/>
              </a:solidFill>
              <a:latin typeface="Calibri"/>
              <a:ea typeface="Calibri"/>
              <a:cs typeface="Calibri"/>
              <a:sym typeface="Calibri"/>
            </a:endParaRPr>
          </a:p>
        </p:txBody>
      </p:sp>
      <p:sp>
        <p:nvSpPr>
          <p:cNvPr id="231" name="Google Shape;231;p11"/>
          <p:cNvSpPr/>
          <p:nvPr/>
        </p:nvSpPr>
        <p:spPr>
          <a:xfrm>
            <a:off x="475488" y="1463040"/>
            <a:ext cx="1664208" cy="960120"/>
          </a:xfrm>
          <a:prstGeom prst="roundRect">
            <a:avLst>
              <a:gd name="adj" fmla="val 8571"/>
            </a:avLst>
          </a:prstGeom>
          <a:solidFill>
            <a:srgbClr val="3B4A7A"/>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a:off x="475488"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Physicochemical</a:t>
            </a:r>
            <a:endParaRPr sz="1250" b="0" i="0" u="none" strike="noStrike" cap="none">
              <a:solidFill>
                <a:schemeClr val="dk1"/>
              </a:solidFill>
              <a:latin typeface="Calibri"/>
              <a:ea typeface="Calibri"/>
              <a:cs typeface="Calibri"/>
              <a:sym typeface="Calibri"/>
            </a:endParaRPr>
          </a:p>
        </p:txBody>
      </p:sp>
      <p:sp>
        <p:nvSpPr>
          <p:cNvPr id="233" name="Google Shape;233;p11"/>
          <p:cNvSpPr/>
          <p:nvPr/>
        </p:nvSpPr>
        <p:spPr>
          <a:xfrm>
            <a:off x="530352"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insentient development</a:t>
            </a:r>
            <a:endParaRPr sz="880" b="0" i="0" u="none" strike="noStrike" cap="none">
              <a:solidFill>
                <a:schemeClr val="dk1"/>
              </a:solidFill>
              <a:latin typeface="Calibri"/>
              <a:ea typeface="Calibri"/>
              <a:cs typeface="Calibri"/>
              <a:sym typeface="Calibri"/>
            </a:endParaRPr>
          </a:p>
        </p:txBody>
      </p:sp>
      <p:sp>
        <p:nvSpPr>
          <p:cNvPr id="234" name="Google Shape;234;p11"/>
          <p:cNvSpPr/>
          <p:nvPr/>
        </p:nvSpPr>
        <p:spPr>
          <a:xfrm>
            <a:off x="2194560" y="1700784"/>
            <a:ext cx="457200" cy="457200"/>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1"/>
          <p:cNvSpPr/>
          <p:nvPr/>
        </p:nvSpPr>
        <p:spPr>
          <a:xfrm>
            <a:off x="2194560" y="1700784"/>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T1</a:t>
            </a:r>
            <a:endParaRPr sz="1200" b="0" i="0" u="none" strike="noStrike" cap="none">
              <a:solidFill>
                <a:schemeClr val="dk1"/>
              </a:solidFill>
              <a:latin typeface="Calibri"/>
              <a:ea typeface="Calibri"/>
              <a:cs typeface="Calibri"/>
              <a:sym typeface="Calibri"/>
            </a:endParaRPr>
          </a:p>
        </p:txBody>
      </p:sp>
      <p:sp>
        <p:nvSpPr>
          <p:cNvPr id="236" name="Google Shape;236;p11"/>
          <p:cNvSpPr/>
          <p:nvPr/>
        </p:nvSpPr>
        <p:spPr>
          <a:xfrm>
            <a:off x="2706624" y="1463040"/>
            <a:ext cx="1664208" cy="960120"/>
          </a:xfrm>
          <a:prstGeom prst="roundRect">
            <a:avLst>
              <a:gd name="adj" fmla="val 8571"/>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a:off x="2706624"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Delusional</a:t>
            </a:r>
            <a:endParaRPr sz="1250" b="0" i="0" u="none" strike="noStrike" cap="none">
              <a:solidFill>
                <a:schemeClr val="dk1"/>
              </a:solidFill>
              <a:latin typeface="Calibri"/>
              <a:ea typeface="Calibri"/>
              <a:cs typeface="Calibri"/>
              <a:sym typeface="Calibri"/>
            </a:endParaRPr>
          </a:p>
        </p:txBody>
      </p:sp>
      <p:sp>
        <p:nvSpPr>
          <p:cNvPr id="238" name="Google Shape;238;p11"/>
          <p:cNvSpPr/>
          <p:nvPr/>
        </p:nvSpPr>
        <p:spPr>
          <a:xfrm>
            <a:off x="2761488"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sentient; body mistaken for self</a:t>
            </a:r>
            <a:endParaRPr sz="880" b="0" i="0" u="none" strike="noStrike" cap="none">
              <a:solidFill>
                <a:schemeClr val="dk1"/>
              </a:solidFill>
              <a:latin typeface="Calibri"/>
              <a:ea typeface="Calibri"/>
              <a:cs typeface="Calibri"/>
              <a:sym typeface="Calibri"/>
            </a:endParaRPr>
          </a:p>
        </p:txBody>
      </p:sp>
      <p:sp>
        <p:nvSpPr>
          <p:cNvPr id="239" name="Google Shape;239;p11"/>
          <p:cNvSpPr/>
          <p:nvPr/>
        </p:nvSpPr>
        <p:spPr>
          <a:xfrm>
            <a:off x="4425696" y="1700784"/>
            <a:ext cx="457200" cy="457200"/>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1"/>
          <p:cNvSpPr/>
          <p:nvPr/>
        </p:nvSpPr>
        <p:spPr>
          <a:xfrm>
            <a:off x="4425696" y="1700784"/>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T2</a:t>
            </a:r>
            <a:endParaRPr sz="1200" b="0" i="0" u="none" strike="noStrike" cap="none">
              <a:solidFill>
                <a:schemeClr val="dk1"/>
              </a:solidFill>
              <a:latin typeface="Calibri"/>
              <a:ea typeface="Calibri"/>
              <a:cs typeface="Calibri"/>
              <a:sym typeface="Calibri"/>
            </a:endParaRPr>
          </a:p>
        </p:txBody>
      </p:sp>
      <p:sp>
        <p:nvSpPr>
          <p:cNvPr id="241" name="Google Shape;241;p11"/>
          <p:cNvSpPr/>
          <p:nvPr/>
        </p:nvSpPr>
        <p:spPr>
          <a:xfrm>
            <a:off x="4937760" y="1463040"/>
            <a:ext cx="1664208" cy="960120"/>
          </a:xfrm>
          <a:prstGeom prst="roundRect">
            <a:avLst>
              <a:gd name="adj" fmla="val 8571"/>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a:off x="4937760"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Deific</a:t>
            </a:r>
            <a:endParaRPr sz="1250" b="0" i="0" u="none" strike="noStrike" cap="none">
              <a:solidFill>
                <a:schemeClr val="dk1"/>
              </a:solidFill>
              <a:latin typeface="Calibri"/>
              <a:ea typeface="Calibri"/>
              <a:cs typeface="Calibri"/>
              <a:sym typeface="Calibri"/>
            </a:endParaRPr>
          </a:p>
        </p:txBody>
      </p:sp>
      <p:sp>
        <p:nvSpPr>
          <p:cNvPr id="243" name="Google Shape;243;p11"/>
          <p:cNvSpPr/>
          <p:nvPr/>
        </p:nvSpPr>
        <p:spPr>
          <a:xfrm>
            <a:off x="4992624"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awakening human</a:t>
            </a:r>
            <a:endParaRPr sz="880" b="0" i="0" u="none" strike="noStrike" cap="none">
              <a:solidFill>
                <a:schemeClr val="dk1"/>
              </a:solidFill>
              <a:latin typeface="Calibri"/>
              <a:ea typeface="Calibri"/>
              <a:cs typeface="Calibri"/>
              <a:sym typeface="Calibri"/>
            </a:endParaRPr>
          </a:p>
        </p:txBody>
      </p:sp>
      <p:sp>
        <p:nvSpPr>
          <p:cNvPr id="244" name="Google Shape;244;p11"/>
          <p:cNvSpPr/>
          <p:nvPr/>
        </p:nvSpPr>
        <p:spPr>
          <a:xfrm>
            <a:off x="6656832" y="1700784"/>
            <a:ext cx="457200" cy="457200"/>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a:off x="6656832" y="1700784"/>
            <a:ext cx="457200" cy="4572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T3</a:t>
            </a:r>
            <a:endParaRPr sz="1200" b="0" i="0" u="none" strike="noStrike" cap="none">
              <a:solidFill>
                <a:schemeClr val="dk1"/>
              </a:solidFill>
              <a:latin typeface="Calibri"/>
              <a:ea typeface="Calibri"/>
              <a:cs typeface="Calibri"/>
              <a:sym typeface="Calibri"/>
            </a:endParaRPr>
          </a:p>
        </p:txBody>
      </p:sp>
      <p:sp>
        <p:nvSpPr>
          <p:cNvPr id="246" name="Google Shape;246;p11"/>
          <p:cNvSpPr/>
          <p:nvPr/>
        </p:nvSpPr>
        <p:spPr>
          <a:xfrm>
            <a:off x="7168896" y="1463040"/>
            <a:ext cx="1664208" cy="960120"/>
          </a:xfrm>
          <a:prstGeom prst="roundRect">
            <a:avLst>
              <a:gd name="adj" fmla="val 8571"/>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a:off x="7168896" y="1554480"/>
            <a:ext cx="1664208" cy="3200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mbria"/>
              <a:buNone/>
            </a:pPr>
            <a:r>
              <a:rPr lang="en-US" sz="1250" b="1" i="0" u="none" strike="noStrike" cap="none">
                <a:solidFill>
                  <a:srgbClr val="FFFFFF"/>
                </a:solidFill>
                <a:latin typeface="Cambria"/>
                <a:ea typeface="Cambria"/>
                <a:cs typeface="Cambria"/>
                <a:sym typeface="Cambria"/>
              </a:rPr>
              <a:t>Divine (complete)</a:t>
            </a:r>
            <a:endParaRPr sz="1250" b="0" i="0" u="none" strike="noStrike" cap="none">
              <a:solidFill>
                <a:schemeClr val="dk1"/>
              </a:solidFill>
              <a:latin typeface="Calibri"/>
              <a:ea typeface="Calibri"/>
              <a:cs typeface="Calibri"/>
              <a:sym typeface="Calibri"/>
            </a:endParaRPr>
          </a:p>
        </p:txBody>
      </p:sp>
      <p:sp>
        <p:nvSpPr>
          <p:cNvPr id="248" name="Google Shape;248;p11"/>
          <p:cNvSpPr/>
          <p:nvPr/>
        </p:nvSpPr>
        <p:spPr>
          <a:xfrm>
            <a:off x="7223760" y="1874520"/>
            <a:ext cx="155448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D4EF"/>
              </a:buClr>
              <a:buSzPts val="880"/>
              <a:buFont typeface="Calibri"/>
              <a:buNone/>
            </a:pPr>
            <a:r>
              <a:rPr lang="en-US" sz="880" b="0" i="1" u="none" strike="noStrike" cap="none">
                <a:solidFill>
                  <a:srgbClr val="C9D4EF"/>
                </a:solidFill>
                <a:latin typeface="Calibri"/>
                <a:ea typeface="Calibri"/>
                <a:cs typeface="Calibri"/>
                <a:sym typeface="Calibri"/>
              </a:rPr>
              <a:t>living proof of coexistence</a:t>
            </a:r>
            <a:endParaRPr sz="880" b="0" i="0" u="none" strike="noStrike" cap="none">
              <a:solidFill>
                <a:schemeClr val="dk1"/>
              </a:solidFill>
              <a:latin typeface="Calibri"/>
              <a:ea typeface="Calibri"/>
              <a:cs typeface="Calibri"/>
              <a:sym typeface="Calibri"/>
            </a:endParaRPr>
          </a:p>
        </p:txBody>
      </p:sp>
      <p:sp>
        <p:nvSpPr>
          <p:cNvPr id="249" name="Google Shape;249;p11"/>
          <p:cNvSpPr/>
          <p:nvPr/>
        </p:nvSpPr>
        <p:spPr>
          <a:xfrm>
            <a:off x="640080" y="2770632"/>
            <a:ext cx="384048" cy="38404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1"/>
          <p:cNvSpPr/>
          <p:nvPr/>
        </p:nvSpPr>
        <p:spPr>
          <a:xfrm>
            <a:off x="640080" y="2770632"/>
            <a:ext cx="384048" cy="38404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T1</a:t>
            </a:r>
            <a:endParaRPr sz="1150" b="0" i="0" u="none" strike="noStrike" cap="none">
              <a:solidFill>
                <a:schemeClr val="dk1"/>
              </a:solidFill>
              <a:latin typeface="Calibri"/>
              <a:ea typeface="Calibri"/>
              <a:cs typeface="Calibri"/>
              <a:sym typeface="Calibri"/>
            </a:endParaRPr>
          </a:p>
        </p:txBody>
      </p:sp>
      <p:sp>
        <p:nvSpPr>
          <p:cNvPr id="251" name="Google Shape;251;p11"/>
          <p:cNvSpPr/>
          <p:nvPr/>
        </p:nvSpPr>
        <p:spPr>
          <a:xfrm>
            <a:off x="1188720" y="2743200"/>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00"/>
              <a:buFont typeface="Calibri"/>
              <a:buNone/>
            </a:pPr>
            <a:r>
              <a:rPr lang="en-US" sz="1200" b="0" i="0" u="none" strike="noStrike" cap="none">
                <a:solidFill>
                  <a:srgbClr val="5A6377"/>
                </a:solidFill>
                <a:latin typeface="Calibri"/>
                <a:ea typeface="Calibri"/>
                <a:cs typeface="Calibri"/>
                <a:sym typeface="Calibri"/>
              </a:rPr>
              <a:t>Constitutional completeness — immortality of result; the atom becomes sentient jeevan</a:t>
            </a:r>
            <a:endParaRPr sz="1200" b="0" i="0" u="none" strike="noStrike" cap="none">
              <a:solidFill>
                <a:schemeClr val="dk1"/>
              </a:solidFill>
              <a:latin typeface="Calibri"/>
              <a:ea typeface="Calibri"/>
              <a:cs typeface="Calibri"/>
              <a:sym typeface="Calibri"/>
            </a:endParaRPr>
          </a:p>
        </p:txBody>
      </p:sp>
      <p:sp>
        <p:nvSpPr>
          <p:cNvPr id="252" name="Google Shape;252;p11"/>
          <p:cNvSpPr/>
          <p:nvPr/>
        </p:nvSpPr>
        <p:spPr>
          <a:xfrm>
            <a:off x="640080" y="3374136"/>
            <a:ext cx="384048" cy="38404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a:off x="640080" y="3374136"/>
            <a:ext cx="384048" cy="38404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T2</a:t>
            </a:r>
            <a:endParaRPr sz="1150" b="0" i="0" u="none" strike="noStrike" cap="none">
              <a:solidFill>
                <a:schemeClr val="dk1"/>
              </a:solidFill>
              <a:latin typeface="Calibri"/>
              <a:ea typeface="Calibri"/>
              <a:cs typeface="Calibri"/>
              <a:sym typeface="Calibri"/>
            </a:endParaRPr>
          </a:p>
        </p:txBody>
      </p:sp>
      <p:sp>
        <p:nvSpPr>
          <p:cNvPr id="254" name="Google Shape;254;p11"/>
          <p:cNvSpPr/>
          <p:nvPr/>
        </p:nvSpPr>
        <p:spPr>
          <a:xfrm>
            <a:off x="1188720" y="3346704"/>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00"/>
              <a:buFont typeface="Calibri"/>
              <a:buNone/>
            </a:pPr>
            <a:r>
              <a:rPr lang="en-US" sz="1200" b="0" i="0" u="none" strike="noStrike" cap="none">
                <a:solidFill>
                  <a:srgbClr val="5A6377"/>
                </a:solidFill>
                <a:latin typeface="Calibri"/>
                <a:ea typeface="Calibri"/>
                <a:cs typeface="Calibri"/>
                <a:sym typeface="Calibri"/>
              </a:rPr>
              <a:t>Activity completeness — restfulness of effort; direct realisation and absolute resolution</a:t>
            </a:r>
            <a:endParaRPr sz="1200" b="0" i="0" u="none" strike="noStrike" cap="none">
              <a:solidFill>
                <a:schemeClr val="dk1"/>
              </a:solidFill>
              <a:latin typeface="Calibri"/>
              <a:ea typeface="Calibri"/>
              <a:cs typeface="Calibri"/>
              <a:sym typeface="Calibri"/>
            </a:endParaRPr>
          </a:p>
        </p:txBody>
      </p:sp>
      <p:sp>
        <p:nvSpPr>
          <p:cNvPr id="255" name="Google Shape;255;p11"/>
          <p:cNvSpPr/>
          <p:nvPr/>
        </p:nvSpPr>
        <p:spPr>
          <a:xfrm>
            <a:off x="640080" y="3977640"/>
            <a:ext cx="384048" cy="38404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a:off x="640080" y="3977640"/>
            <a:ext cx="384048" cy="384048"/>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T3</a:t>
            </a:r>
            <a:endParaRPr sz="1150" b="0" i="0" u="none" strike="noStrike" cap="none">
              <a:solidFill>
                <a:schemeClr val="dk1"/>
              </a:solidFill>
              <a:latin typeface="Calibri"/>
              <a:ea typeface="Calibri"/>
              <a:cs typeface="Calibri"/>
              <a:sym typeface="Calibri"/>
            </a:endParaRPr>
          </a:p>
        </p:txBody>
      </p:sp>
      <p:sp>
        <p:nvSpPr>
          <p:cNvPr id="257" name="Google Shape;257;p11"/>
          <p:cNvSpPr/>
          <p:nvPr/>
        </p:nvSpPr>
        <p:spPr>
          <a:xfrm>
            <a:off x="1188720" y="3950208"/>
            <a:ext cx="740664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00"/>
              <a:buFont typeface="Calibri"/>
              <a:buNone/>
            </a:pPr>
            <a:r>
              <a:rPr lang="en-US" sz="1200" b="0" i="0" u="none" strike="noStrike" cap="none">
                <a:solidFill>
                  <a:srgbClr val="5A6377"/>
                </a:solidFill>
                <a:latin typeface="Calibri"/>
                <a:ea typeface="Calibri"/>
                <a:cs typeface="Calibri"/>
                <a:sym typeface="Calibri"/>
              </a:rPr>
              <a:t>Conduct completeness — destination of motion; authentic conduct as living proof</a:t>
            </a:r>
            <a:endParaRPr sz="1200" b="0" i="0" u="none" strike="noStrike" cap="none">
              <a:solidFill>
                <a:schemeClr val="dk1"/>
              </a:solidFill>
              <a:latin typeface="Calibri"/>
              <a:ea typeface="Calibri"/>
              <a:cs typeface="Calibri"/>
              <a:sym typeface="Calibri"/>
            </a:endParaRPr>
          </a:p>
        </p:txBody>
      </p:sp>
      <p:sp>
        <p:nvSpPr>
          <p:cNvPr id="258" name="Google Shape;258;p11"/>
          <p:cNvSpPr/>
          <p:nvPr/>
        </p:nvSpPr>
        <p:spPr>
          <a:xfrm>
            <a:off x="640080" y="4572000"/>
            <a:ext cx="79552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0" i="1" u="none" strike="noStrike" cap="none">
                <a:solidFill>
                  <a:srgbClr val="9A6414"/>
                </a:solidFill>
                <a:latin typeface="Calibri"/>
                <a:ea typeface="Calibri"/>
                <a:cs typeface="Calibri"/>
                <a:sym typeface="Calibri"/>
              </a:rPr>
              <a:t>T1 is where an ordinary atom becomes a completed, sentient atom. T2 and T3 continue only inside that completed atom — inner settling (T2) and outer destination (T3) are different completions of the same inner drive.</a:t>
            </a:r>
            <a:endParaRPr sz="10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3"/>
        <p:cNvGrpSpPr/>
        <p:nvPr/>
      </p:nvGrpSpPr>
      <p:grpSpPr>
        <a:xfrm>
          <a:off x="0" y="0"/>
          <a:ext cx="0" cy="0"/>
          <a:chOff x="0" y="0"/>
          <a:chExt cx="0" cy="0"/>
        </a:xfrm>
      </p:grpSpPr>
      <p:sp>
        <p:nvSpPr>
          <p:cNvPr id="264" name="Google Shape;264;p12"/>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2"/>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2"/>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2"/>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§1.6.1</a:t>
            </a:r>
            <a:endParaRPr sz="1050" b="0" i="0" u="none" strike="noStrike" cap="none">
              <a:solidFill>
                <a:schemeClr val="dk1"/>
              </a:solidFill>
              <a:latin typeface="Calibri"/>
              <a:ea typeface="Calibri"/>
              <a:cs typeface="Calibri"/>
              <a:sym typeface="Calibri"/>
            </a:endParaRPr>
          </a:p>
        </p:txBody>
      </p:sp>
      <p:sp>
        <p:nvSpPr>
          <p:cNvPr id="268" name="Google Shape;268;p12"/>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T1 — The Irreversible Sentience Threshold</a:t>
            </a:r>
            <a:endParaRPr sz="3000" b="0" i="0" u="none" strike="noStrike" cap="none">
              <a:solidFill>
                <a:schemeClr val="dk1"/>
              </a:solidFill>
              <a:latin typeface="Calibri"/>
              <a:ea typeface="Calibri"/>
              <a:cs typeface="Calibri"/>
              <a:sym typeface="Calibri"/>
            </a:endParaRPr>
          </a:p>
        </p:txBody>
      </p:sp>
      <p:sp>
        <p:nvSpPr>
          <p:cNvPr id="269" name="Google Shape;269;p12"/>
          <p:cNvSpPr/>
          <p:nvPr/>
        </p:nvSpPr>
        <p:spPr>
          <a:xfrm>
            <a:off x="640080" y="1234440"/>
            <a:ext cx="795528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300"/>
              <a:buFont typeface="Calibri"/>
              <a:buNone/>
            </a:pPr>
            <a:r>
              <a:rPr lang="en-US" sz="1300" b="1" i="0" u="none" strike="noStrike" cap="none">
                <a:solidFill>
                  <a:srgbClr val="1E2447"/>
                </a:solidFill>
                <a:latin typeface="Calibri"/>
                <a:ea typeface="Calibri"/>
                <a:cs typeface="Calibri"/>
                <a:sym typeface="Calibri"/>
              </a:rPr>
              <a:t xml:space="preserve">Constitutional completeness at the atomic level, </a:t>
            </a:r>
            <a:r>
              <a:rPr lang="en-US" sz="1250" b="0" i="0" u="none" strike="noStrike" cap="none">
                <a:solidFill>
                  <a:srgbClr val="5A6377"/>
                </a:solidFill>
                <a:latin typeface="Calibri"/>
                <a:ea typeface="Calibri"/>
                <a:cs typeface="Calibri"/>
                <a:sym typeface="Calibri"/>
              </a:rPr>
              <a:t>not neural complexity, molecular size, or elevation along the order chain. A developing ordinary atom takes in particles — hungry atoms and overfull atoms completing each other — within a suitable environment; once the required particles are in place, it closes.</a:t>
            </a:r>
            <a:endParaRPr sz="1300" b="0" i="0" u="none" strike="noStrike" cap="none">
              <a:solidFill>
                <a:schemeClr val="dk1"/>
              </a:solidFill>
              <a:latin typeface="Calibri"/>
              <a:ea typeface="Calibri"/>
              <a:cs typeface="Calibri"/>
              <a:sym typeface="Calibri"/>
            </a:endParaRPr>
          </a:p>
        </p:txBody>
      </p:sp>
      <p:sp>
        <p:nvSpPr>
          <p:cNvPr id="270" name="Google Shape;270;p12"/>
          <p:cNvSpPr/>
          <p:nvPr/>
        </p:nvSpPr>
        <p:spPr>
          <a:xfrm>
            <a:off x="640080" y="2286000"/>
            <a:ext cx="3657600" cy="1691640"/>
          </a:xfrm>
          <a:prstGeom prst="roundRect">
            <a:avLst>
              <a:gd name="adj" fmla="val 5405"/>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12"/>
          <p:cNvSpPr/>
          <p:nvPr/>
        </p:nvSpPr>
        <p:spPr>
          <a:xfrm>
            <a:off x="868680" y="2432304"/>
            <a:ext cx="32004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350"/>
              <a:buFont typeface="Cambria"/>
              <a:buNone/>
            </a:pPr>
            <a:r>
              <a:rPr lang="en-US" sz="1350" b="1" i="0" u="none" strike="noStrike" cap="none">
                <a:solidFill>
                  <a:srgbClr val="3B4A7A"/>
                </a:solidFill>
                <a:latin typeface="Cambria"/>
                <a:ea typeface="Cambria"/>
                <a:cs typeface="Cambria"/>
                <a:sym typeface="Cambria"/>
              </a:rPr>
              <a:t>Before T1 — evolving atom</a:t>
            </a:r>
            <a:endParaRPr sz="1350" b="0" i="0" u="none" strike="noStrike" cap="none">
              <a:solidFill>
                <a:schemeClr val="dk1"/>
              </a:solidFill>
              <a:latin typeface="Calibri"/>
              <a:ea typeface="Calibri"/>
              <a:cs typeface="Calibri"/>
              <a:sym typeface="Calibri"/>
            </a:endParaRPr>
          </a:p>
        </p:txBody>
      </p:sp>
      <p:sp>
        <p:nvSpPr>
          <p:cNvPr id="272" name="Google Shape;272;p12"/>
          <p:cNvSpPr/>
          <p:nvPr/>
        </p:nvSpPr>
        <p:spPr>
          <a:xfrm>
            <a:off x="868680" y="2743200"/>
            <a:ext cx="3246120" cy="114300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Still bound by molecular weight and structure</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Particle count still changing; development in progress</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Exhibits radiance and projection as an insentient unit</a:t>
            </a:r>
            <a:endParaRPr sz="1050" b="0" i="0" u="none" strike="noStrike" cap="none">
              <a:solidFill>
                <a:schemeClr val="dk1"/>
              </a:solidFill>
              <a:latin typeface="Calibri"/>
              <a:ea typeface="Calibri"/>
              <a:cs typeface="Calibri"/>
              <a:sym typeface="Calibri"/>
            </a:endParaRPr>
          </a:p>
        </p:txBody>
      </p:sp>
      <p:sp>
        <p:nvSpPr>
          <p:cNvPr id="273" name="Google Shape;273;p12"/>
          <p:cNvSpPr/>
          <p:nvPr/>
        </p:nvSpPr>
        <p:spPr>
          <a:xfrm>
            <a:off x="4846320" y="2286000"/>
            <a:ext cx="3657600" cy="1691640"/>
          </a:xfrm>
          <a:prstGeom prst="roundRect">
            <a:avLst>
              <a:gd name="adj" fmla="val 5405"/>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12"/>
          <p:cNvSpPr/>
          <p:nvPr/>
        </p:nvSpPr>
        <p:spPr>
          <a:xfrm>
            <a:off x="5074920" y="2432304"/>
            <a:ext cx="32004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350"/>
              <a:buFont typeface="Cambria"/>
              <a:buNone/>
            </a:pPr>
            <a:r>
              <a:rPr lang="en-US" sz="1350" b="1" i="0" u="none" strike="noStrike" cap="none">
                <a:solidFill>
                  <a:srgbClr val="9A6414"/>
                </a:solidFill>
                <a:latin typeface="Cambria"/>
                <a:ea typeface="Cambria"/>
                <a:cs typeface="Cambria"/>
                <a:sym typeface="Cambria"/>
              </a:rPr>
              <a:t>After T1 — the completed atom</a:t>
            </a:r>
            <a:endParaRPr sz="1350" b="0" i="0" u="none" strike="noStrike" cap="none">
              <a:solidFill>
                <a:schemeClr val="dk1"/>
              </a:solidFill>
              <a:latin typeface="Calibri"/>
              <a:ea typeface="Calibri"/>
              <a:cs typeface="Calibri"/>
              <a:sym typeface="Calibri"/>
            </a:endParaRPr>
          </a:p>
        </p:txBody>
      </p:sp>
      <p:sp>
        <p:nvSpPr>
          <p:cNvPr id="275" name="Google Shape;275;p12"/>
          <p:cNvSpPr/>
          <p:nvPr/>
        </p:nvSpPr>
        <p:spPr>
          <a:xfrm>
            <a:off x="5074920" y="2743200"/>
            <a:ext cx="3246120" cy="1280160"/>
          </a:xfrm>
          <a:prstGeom prst="rect">
            <a:avLst/>
          </a:prstGeom>
          <a:noFill/>
          <a:ln>
            <a:noFill/>
          </a:ln>
        </p:spPr>
        <p:txBody>
          <a:bodyPr spcFirstLastPara="1" wrap="square" lIns="0" tIns="0" rIns="0" bIns="0" anchor="ctr" anchorCtr="0">
            <a:noAutofit/>
          </a:bodyPr>
          <a:lstStyle/>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Freed from molecular weight and structure; now carried by hope instead — a new mode, not a new direction</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No increase or decrease in particles: qualitative change without quantitative change</a:t>
            </a:r>
            <a:endParaRPr sz="1050" b="0" i="0" u="none" strike="noStrike" cap="none">
              <a:solidFill>
                <a:schemeClr val="dk1"/>
              </a:solidFill>
              <a:latin typeface="Calibri"/>
              <a:ea typeface="Calibri"/>
              <a:cs typeface="Calibri"/>
              <a:sym typeface="Calibri"/>
            </a:endParaRPr>
          </a:p>
          <a:p>
            <a:pPr marL="342900" marR="0" lvl="0" indent="-342900" algn="l" rtl="0">
              <a:spcBef>
                <a:spcPts val="0"/>
              </a:spcBef>
              <a:spcAft>
                <a:spcPts val="0"/>
              </a:spcAft>
              <a:buClr>
                <a:srgbClr val="5A6377"/>
              </a:buClr>
              <a:buSzPts val="1050"/>
              <a:buFont typeface="Calibri"/>
              <a:buChar char="•"/>
            </a:pPr>
            <a:r>
              <a:rPr lang="en-US" sz="1050" b="0" i="0" u="none" strike="noStrike" cap="none">
                <a:solidFill>
                  <a:srgbClr val="5A6377"/>
                </a:solidFill>
                <a:latin typeface="Calibri"/>
                <a:ea typeface="Calibri"/>
                <a:cs typeface="Calibri"/>
                <a:sym typeface="Calibri"/>
              </a:rPr>
              <a:t>The background knowledge always present in the ground now becomes active awareness</a:t>
            </a:r>
            <a:endParaRPr sz="1050" b="0" i="0" u="none" strike="noStrike" cap="none">
              <a:solidFill>
                <a:schemeClr val="dk1"/>
              </a:solidFill>
              <a:latin typeface="Calibri"/>
              <a:ea typeface="Calibri"/>
              <a:cs typeface="Calibri"/>
              <a:sym typeface="Calibri"/>
            </a:endParaRPr>
          </a:p>
        </p:txBody>
      </p:sp>
      <p:sp>
        <p:nvSpPr>
          <p:cNvPr id="276" name="Google Shape;276;p12"/>
          <p:cNvSpPr/>
          <p:nvPr/>
        </p:nvSpPr>
        <p:spPr>
          <a:xfrm>
            <a:off x="4315968" y="2880360"/>
            <a:ext cx="50292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2400"/>
              <a:buFont typeface="Calibri"/>
              <a:buNone/>
            </a:pPr>
            <a:r>
              <a:rPr lang="en-US" sz="2400" b="1" i="0" u="none" strike="noStrike" cap="none">
                <a:solidFill>
                  <a:srgbClr val="C9821E"/>
                </a:solidFill>
                <a:latin typeface="Calibri"/>
                <a:ea typeface="Calibri"/>
                <a:cs typeface="Calibri"/>
                <a:sym typeface="Calibri"/>
              </a:rPr>
              <a:t>→</a:t>
            </a:r>
            <a:endParaRPr sz="2400" b="0" i="0" u="none" strike="noStrike" cap="none">
              <a:solidFill>
                <a:schemeClr val="dk1"/>
              </a:solidFill>
              <a:latin typeface="Calibri"/>
              <a:ea typeface="Calibri"/>
              <a:cs typeface="Calibri"/>
              <a:sym typeface="Calibri"/>
            </a:endParaRPr>
          </a:p>
        </p:txBody>
      </p:sp>
      <p:sp>
        <p:nvSpPr>
          <p:cNvPr id="277" name="Google Shape;277;p12"/>
          <p:cNvSpPr/>
          <p:nvPr/>
        </p:nvSpPr>
        <p:spPr>
          <a:xfrm>
            <a:off x="640080" y="4206240"/>
            <a:ext cx="795528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00"/>
              <a:buFont typeface="Calibri"/>
              <a:buNone/>
            </a:pPr>
            <a:r>
              <a:rPr lang="en-US" sz="1200" b="0" i="1" u="none" strike="noStrike" cap="none">
                <a:solidFill>
                  <a:srgbClr val="1E2447"/>
                </a:solidFill>
                <a:latin typeface="Calibri"/>
                <a:ea typeface="Calibri"/>
                <a:cs typeface="Calibri"/>
                <a:sym typeface="Calibri"/>
              </a:rPr>
              <a:t>T1 is irreversible: once complete, this atom cannot decompose — which is why it can outlast the body. A finer kind of recognition, impossible before this point, first appears here.</a:t>
            </a:r>
            <a:endParaRPr sz="1200" b="0" i="0" u="none" strike="noStrike" cap="none">
              <a:solidFill>
                <a:schemeClr val="dk1"/>
              </a:solidFill>
              <a:latin typeface="Calibri"/>
              <a:ea typeface="Calibri"/>
              <a:cs typeface="Calibri"/>
              <a:sym typeface="Calibri"/>
            </a:endParaRPr>
          </a:p>
        </p:txBody>
      </p:sp>
      <p:sp>
        <p:nvSpPr>
          <p:cNvPr id="278" name="Google Shape;278;p12"/>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SB pp. 52, 55, 59, 80–81, 92  ·  MVD pp. 8, 91, 117</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3"/>
        <p:cNvGrpSpPr/>
        <p:nvPr/>
      </p:nvGrpSpPr>
      <p:grpSpPr>
        <a:xfrm>
          <a:off x="0" y="0"/>
          <a:ext cx="0" cy="0"/>
          <a:chOff x="0" y="0"/>
          <a:chExt cx="0" cy="0"/>
        </a:xfrm>
      </p:grpSpPr>
      <p:sp>
        <p:nvSpPr>
          <p:cNvPr id="284" name="Google Shape;284;p13"/>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3"/>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3"/>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3"/>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§1.7 · CONSTITUTIONALLY COMPLETE</a:t>
            </a:r>
            <a:endParaRPr sz="1050" b="0" i="0" u="none" strike="noStrike" cap="none">
              <a:solidFill>
                <a:schemeClr val="dk1"/>
              </a:solidFill>
              <a:latin typeface="Calibri"/>
              <a:ea typeface="Calibri"/>
              <a:cs typeface="Calibri"/>
              <a:sym typeface="Calibri"/>
            </a:endParaRPr>
          </a:p>
        </p:txBody>
      </p:sp>
      <p:sp>
        <p:nvSpPr>
          <p:cNvPr id="288" name="Google Shape;288;p13"/>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Jeevan: The Individual Self</a:t>
            </a:r>
            <a:endParaRPr sz="3000" b="0" i="0" u="none" strike="noStrike" cap="none">
              <a:solidFill>
                <a:schemeClr val="dk1"/>
              </a:solidFill>
              <a:latin typeface="Calibri"/>
              <a:ea typeface="Calibri"/>
              <a:cs typeface="Calibri"/>
              <a:sym typeface="Calibri"/>
            </a:endParaRPr>
          </a:p>
        </p:txBody>
      </p:sp>
      <p:sp>
        <p:nvSpPr>
          <p:cNvPr id="289" name="Google Shape;289;p13"/>
          <p:cNvSpPr/>
          <p:nvPr/>
        </p:nvSpPr>
        <p:spPr>
          <a:xfrm>
            <a:off x="1851660" y="2583180"/>
            <a:ext cx="960120" cy="96012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3"/>
          <p:cNvSpPr/>
          <p:nvPr/>
        </p:nvSpPr>
        <p:spPr>
          <a:xfrm>
            <a:off x="1828800" y="24643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buddhi</a:t>
            </a:r>
            <a:endParaRPr sz="950" b="0" i="0" u="none" strike="noStrike" cap="none">
              <a:solidFill>
                <a:schemeClr val="dk1"/>
              </a:solidFill>
              <a:latin typeface="Calibri"/>
              <a:ea typeface="Calibri"/>
              <a:cs typeface="Calibri"/>
              <a:sym typeface="Calibri"/>
            </a:endParaRPr>
          </a:p>
        </p:txBody>
      </p:sp>
      <p:sp>
        <p:nvSpPr>
          <p:cNvPr id="291" name="Google Shape;291;p13"/>
          <p:cNvSpPr/>
          <p:nvPr/>
        </p:nvSpPr>
        <p:spPr>
          <a:xfrm>
            <a:off x="1623060" y="2354580"/>
            <a:ext cx="1417320" cy="1417320"/>
          </a:xfrm>
          <a:prstGeom prst="ellipse">
            <a:avLst/>
          </a:prstGeom>
          <a:noFill/>
          <a:ln w="15875" cap="flat" cmpd="sng">
            <a:solidFill>
              <a:srgbClr val="8E9BC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3"/>
          <p:cNvSpPr/>
          <p:nvPr/>
        </p:nvSpPr>
        <p:spPr>
          <a:xfrm>
            <a:off x="1828800" y="22357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chitta</a:t>
            </a:r>
            <a:endParaRPr sz="950" b="0" i="0" u="none" strike="noStrike" cap="none">
              <a:solidFill>
                <a:schemeClr val="dk1"/>
              </a:solidFill>
              <a:latin typeface="Calibri"/>
              <a:ea typeface="Calibri"/>
              <a:cs typeface="Calibri"/>
              <a:sym typeface="Calibri"/>
            </a:endParaRPr>
          </a:p>
        </p:txBody>
      </p:sp>
      <p:sp>
        <p:nvSpPr>
          <p:cNvPr id="293" name="Google Shape;293;p13"/>
          <p:cNvSpPr/>
          <p:nvPr/>
        </p:nvSpPr>
        <p:spPr>
          <a:xfrm>
            <a:off x="1394460" y="2125980"/>
            <a:ext cx="1874520" cy="187452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3"/>
          <p:cNvSpPr/>
          <p:nvPr/>
        </p:nvSpPr>
        <p:spPr>
          <a:xfrm>
            <a:off x="1828800" y="20071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vritti</a:t>
            </a:r>
            <a:endParaRPr sz="950" b="0" i="0" u="none" strike="noStrike" cap="none">
              <a:solidFill>
                <a:schemeClr val="dk1"/>
              </a:solidFill>
              <a:latin typeface="Calibri"/>
              <a:ea typeface="Calibri"/>
              <a:cs typeface="Calibri"/>
              <a:sym typeface="Calibri"/>
            </a:endParaRPr>
          </a:p>
        </p:txBody>
      </p:sp>
      <p:sp>
        <p:nvSpPr>
          <p:cNvPr id="295" name="Google Shape;295;p13"/>
          <p:cNvSpPr/>
          <p:nvPr/>
        </p:nvSpPr>
        <p:spPr>
          <a:xfrm>
            <a:off x="1165860" y="1897380"/>
            <a:ext cx="2331720" cy="2331720"/>
          </a:xfrm>
          <a:prstGeom prst="ellipse">
            <a:avLst/>
          </a:prstGeom>
          <a:noFill/>
          <a:ln w="15875" cap="flat" cmpd="sng">
            <a:solidFill>
              <a:srgbClr val="8E9BC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3"/>
          <p:cNvSpPr/>
          <p:nvPr/>
        </p:nvSpPr>
        <p:spPr>
          <a:xfrm>
            <a:off x="1828800" y="1778508"/>
            <a:ext cx="1005840" cy="219456"/>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950"/>
              <a:buFont typeface="Calibri"/>
              <a:buNone/>
            </a:pPr>
            <a:r>
              <a:rPr lang="en-US" sz="950" b="1" i="1" u="none" strike="noStrike" cap="none">
                <a:solidFill>
                  <a:srgbClr val="3B4A7A"/>
                </a:solidFill>
                <a:latin typeface="Calibri"/>
                <a:ea typeface="Calibri"/>
                <a:cs typeface="Calibri"/>
                <a:sym typeface="Calibri"/>
              </a:rPr>
              <a:t>mun</a:t>
            </a:r>
            <a:endParaRPr sz="950" b="0" i="0" u="none" strike="noStrike" cap="none">
              <a:solidFill>
                <a:schemeClr val="dk1"/>
              </a:solidFill>
              <a:latin typeface="Calibri"/>
              <a:ea typeface="Calibri"/>
              <a:cs typeface="Calibri"/>
              <a:sym typeface="Calibri"/>
            </a:endParaRPr>
          </a:p>
        </p:txBody>
      </p:sp>
      <p:sp>
        <p:nvSpPr>
          <p:cNvPr id="297" name="Google Shape;297;p13"/>
          <p:cNvSpPr/>
          <p:nvPr/>
        </p:nvSpPr>
        <p:spPr>
          <a:xfrm>
            <a:off x="2084832" y="2816352"/>
            <a:ext cx="493776" cy="493776"/>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3"/>
          <p:cNvSpPr/>
          <p:nvPr/>
        </p:nvSpPr>
        <p:spPr>
          <a:xfrm>
            <a:off x="1874520" y="2926080"/>
            <a:ext cx="914400" cy="274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atma</a:t>
            </a:r>
            <a:endParaRPr sz="1050" b="0" i="0" u="none" strike="noStrike" cap="none">
              <a:solidFill>
                <a:schemeClr val="dk1"/>
              </a:solidFill>
              <a:latin typeface="Calibri"/>
              <a:ea typeface="Calibri"/>
              <a:cs typeface="Calibri"/>
              <a:sym typeface="Calibri"/>
            </a:endParaRPr>
          </a:p>
        </p:txBody>
      </p:sp>
      <p:sp>
        <p:nvSpPr>
          <p:cNvPr id="299" name="Google Shape;299;p13"/>
          <p:cNvSpPr/>
          <p:nvPr/>
        </p:nvSpPr>
        <p:spPr>
          <a:xfrm>
            <a:off x="685800" y="4434840"/>
            <a:ext cx="33832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centre = core self (atma); the four rings around it are the other four faculties (MVD p. 78)</a:t>
            </a:r>
            <a:endParaRPr sz="950" b="0" i="0" u="none" strike="noStrike" cap="none">
              <a:solidFill>
                <a:schemeClr val="dk1"/>
              </a:solidFill>
              <a:latin typeface="Calibri"/>
              <a:ea typeface="Calibri"/>
              <a:cs typeface="Calibri"/>
              <a:sym typeface="Calibri"/>
            </a:endParaRPr>
          </a:p>
        </p:txBody>
      </p:sp>
      <p:graphicFrame>
        <p:nvGraphicFramePr>
          <p:cNvPr id="300" name="Google Shape;300;p13"/>
          <p:cNvGraphicFramePr/>
          <p:nvPr>
            <p:extLst>
              <p:ext uri="{D42A27DB-BD31-4B8C-83A1-F6EECF244321}">
                <p14:modId xmlns:p14="http://schemas.microsoft.com/office/powerpoint/2010/main" val="1405807684"/>
              </p:ext>
            </p:extLst>
          </p:nvPr>
        </p:nvGraphicFramePr>
        <p:xfrm>
          <a:off x="4480559" y="1271015"/>
          <a:ext cx="4160525" cy="2249425"/>
        </p:xfrm>
        <a:graphic>
          <a:graphicData uri="http://schemas.openxmlformats.org/drawingml/2006/table">
            <a:tbl>
              <a:tblPr>
                <a:noFill/>
                <a:tableStyleId>{6C92A692-798E-4634-90B1-36CD3966BFCB}</a:tableStyleId>
              </a:tblPr>
              <a:tblGrid>
                <a:gridCol w="1371600">
                  <a:extLst>
                    <a:ext uri="{9D8B030D-6E8A-4147-A177-3AD203B41FA5}">
                      <a16:colId xmlns:a16="http://schemas.microsoft.com/office/drawing/2014/main" val="20000"/>
                    </a:ext>
                  </a:extLst>
                </a:gridCol>
                <a:gridCol w="1417325">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29175">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Faculty / strength</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Projection (outward)</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Reflection (inward)</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extLst>
                  <a:ext uri="{0D108BD9-81ED-4DB2-BD59-A6C34878D82A}">
                    <a16:rowId xmlns:a16="http://schemas.microsoft.com/office/drawing/2014/main" val="10000"/>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Hope (mun)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selection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taste</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Thought (vritti)</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analysis</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deliberation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Desire (chitta)</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visualisation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contemplation</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Resolve (buddhi)</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resolve</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enlightenment</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4050">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Core self (atma)</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a:solidFill>
                            <a:srgbClr val="1E2447"/>
                          </a:solidFill>
                          <a:latin typeface="Calibri"/>
                          <a:ea typeface="Calibri"/>
                          <a:cs typeface="Calibri"/>
                          <a:sym typeface="Calibri"/>
                        </a:rPr>
                        <a:t>authenticity</a:t>
                      </a:r>
                      <a:endParaRPr sz="105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50"/>
                        <a:buFont typeface="Calibri"/>
                        <a:buNone/>
                      </a:pPr>
                      <a:r>
                        <a:rPr lang="en-US" sz="1050" u="none" strike="noStrike" cap="none" dirty="0" err="1">
                          <a:solidFill>
                            <a:srgbClr val="1E2447"/>
                          </a:solidFill>
                          <a:latin typeface="Calibri"/>
                          <a:ea typeface="Calibri"/>
                          <a:cs typeface="Calibri"/>
                          <a:sym typeface="Calibri"/>
                        </a:rPr>
                        <a:t>realisation</a:t>
                      </a:r>
                      <a:endParaRPr sz="1050" u="none" strike="noStrike" cap="none" dirty="0">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bl>
          </a:graphicData>
        </a:graphic>
      </p:graphicFrame>
      <p:sp>
        <p:nvSpPr>
          <p:cNvPr id="301" name="Google Shape;301;p13"/>
          <p:cNvSpPr/>
          <p:nvPr/>
        </p:nvSpPr>
        <p:spPr>
          <a:xfrm>
            <a:off x="4480561" y="3683658"/>
            <a:ext cx="4160520" cy="8229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50"/>
              <a:buFont typeface="Calibri"/>
              <a:buNone/>
            </a:pPr>
            <a:r>
              <a:rPr lang="en-US" sz="1050" b="0" i="0" u="none" strike="noStrike" cap="none" dirty="0">
                <a:solidFill>
                  <a:srgbClr val="5A6377"/>
                </a:solidFill>
                <a:latin typeface="Calibri"/>
                <a:ea typeface="Calibri"/>
                <a:cs typeface="Calibri"/>
                <a:sym typeface="Calibri"/>
              </a:rPr>
              <a:t xml:space="preserve">Reflection is the knowing direction — the ascent of understanding toward </a:t>
            </a:r>
            <a:r>
              <a:rPr lang="en-US" sz="1050" b="0" i="0" u="none" strike="noStrike" cap="none" dirty="0" err="1">
                <a:solidFill>
                  <a:srgbClr val="5A6377"/>
                </a:solidFill>
                <a:latin typeface="Calibri"/>
                <a:ea typeface="Calibri"/>
                <a:cs typeface="Calibri"/>
                <a:sym typeface="Calibri"/>
              </a:rPr>
              <a:t>realisation</a:t>
            </a:r>
            <a:r>
              <a:rPr lang="en-US" sz="1050" b="0" i="0" u="none" strike="noStrike" cap="none" dirty="0">
                <a:solidFill>
                  <a:srgbClr val="5A6377"/>
                </a:solidFill>
                <a:latin typeface="Calibri"/>
                <a:ea typeface="Calibri"/>
                <a:cs typeface="Calibri"/>
                <a:sym typeface="Calibri"/>
              </a:rPr>
              <a:t xml:space="preserve">; projection is the evidencing direction — the descent from </a:t>
            </a:r>
            <a:r>
              <a:rPr lang="en-US" sz="1050" b="0" i="0" u="none" strike="noStrike" cap="none" dirty="0" err="1">
                <a:solidFill>
                  <a:srgbClr val="5A6377"/>
                </a:solidFill>
                <a:latin typeface="Calibri"/>
                <a:ea typeface="Calibri"/>
                <a:cs typeface="Calibri"/>
                <a:sym typeface="Calibri"/>
              </a:rPr>
              <a:t>realisation</a:t>
            </a:r>
            <a:r>
              <a:rPr lang="en-US" sz="1050" b="0" i="0" u="none" strike="noStrike" cap="none" dirty="0">
                <a:solidFill>
                  <a:srgbClr val="5A6377"/>
                </a:solidFill>
                <a:latin typeface="Calibri"/>
                <a:ea typeface="Calibri"/>
                <a:cs typeface="Calibri"/>
                <a:sym typeface="Calibri"/>
              </a:rPr>
              <a:t xml:space="preserve"> into conduct. In the pre-awakening human only four and a half of the ten activities are effective. </a:t>
            </a:r>
            <a:r>
              <a:rPr lang="en-US" sz="1050" b="0" i="1" u="none" strike="noStrike" cap="none" dirty="0">
                <a:solidFill>
                  <a:srgbClr val="9A6414"/>
                </a:solidFill>
                <a:latin typeface="Calibri"/>
                <a:ea typeface="Calibri"/>
                <a:cs typeface="Calibri"/>
                <a:sym typeface="Calibri"/>
              </a:rPr>
              <a:t xml:space="preserve">On the delusional plane, </a:t>
            </a:r>
            <a:r>
              <a:rPr lang="en-US" sz="1050" b="0" i="1" u="none" strike="noStrike" cap="none" dirty="0" err="1">
                <a:solidFill>
                  <a:srgbClr val="9A6414"/>
                </a:solidFill>
                <a:latin typeface="Calibri"/>
                <a:ea typeface="Calibri"/>
                <a:cs typeface="Calibri"/>
                <a:sym typeface="Calibri"/>
              </a:rPr>
              <a:t>atma</a:t>
            </a:r>
            <a:r>
              <a:rPr lang="en-US" sz="1050" b="0" i="1" u="none" strike="noStrike" cap="none" dirty="0">
                <a:solidFill>
                  <a:srgbClr val="9A6414"/>
                </a:solidFill>
                <a:latin typeface="Calibri"/>
                <a:ea typeface="Calibri"/>
                <a:cs typeface="Calibri"/>
                <a:sym typeface="Calibri"/>
              </a:rPr>
              <a:t xml:space="preserve"> is “I” and the orbital four are “mine.” Awakening is staged — partially awakened, half awakened, awakened — as the four come into accordance with </a:t>
            </a:r>
            <a:r>
              <a:rPr lang="en-US" sz="1050" b="0" i="1" u="none" strike="noStrike" cap="none" dirty="0" err="1">
                <a:solidFill>
                  <a:srgbClr val="9A6414"/>
                </a:solidFill>
                <a:latin typeface="Calibri"/>
                <a:ea typeface="Calibri"/>
                <a:cs typeface="Calibri"/>
                <a:sym typeface="Calibri"/>
              </a:rPr>
              <a:t>atma</a:t>
            </a:r>
            <a:r>
              <a:rPr lang="en-US" sz="1050" b="0" i="1" u="none" strike="noStrike" cap="none" dirty="0">
                <a:solidFill>
                  <a:srgbClr val="9A6414"/>
                </a:solidFill>
                <a:latin typeface="Calibri"/>
                <a:ea typeface="Calibri"/>
                <a:cs typeface="Calibri"/>
                <a:sym typeface="Calibri"/>
              </a:rPr>
              <a:t>.</a:t>
            </a:r>
            <a:endParaRPr sz="1050" b="0" i="0" u="none" strike="noStrike" cap="none" dirty="0">
              <a:solidFill>
                <a:schemeClr val="dk1"/>
              </a:solidFill>
              <a:latin typeface="Calibri"/>
              <a:ea typeface="Calibri"/>
              <a:cs typeface="Calibri"/>
              <a:sym typeface="Calibri"/>
            </a:endParaRPr>
          </a:p>
        </p:txBody>
      </p:sp>
      <p:sp>
        <p:nvSpPr>
          <p:cNvPr id="302" name="Google Shape;302;p13"/>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MVD pp. 13, 78, 126, 278–279, 286–287  ·  JV p. 92  ·  the five developmental sheaths are a distinct structure; awakening opens the fifth — MVD pp. 49–50</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6"/>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6"/>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6"/>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§1.10 · COMPOSITION AND ASSEMBLIES</a:t>
            </a:r>
            <a:endParaRPr sz="1050" b="0" i="0" u="none" strike="noStrike" cap="non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From Atoms to Societies</a:t>
            </a:r>
            <a:endParaRPr sz="3000" b="0" i="0" u="none" strike="noStrike" cap="none">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a:solidFill>
                  <a:srgbClr val="5A6377"/>
                </a:solidFill>
                <a:latin typeface="Calibri"/>
                <a:ea typeface="Calibri"/>
                <a:cs typeface="Calibri"/>
                <a:sym typeface="Calibri"/>
              </a:rPr>
              <a:t>When complementary units fulfil their relationships, they compose into larger units. A natural inclination toward coexistence runs everywhere — each successful composition opens relationships at a higher tier.</a:t>
            </a:r>
            <a:endParaRPr sz="1300" b="0" i="0" u="none" strike="noStrike" cap="none">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6"/>
          <p:cNvSpPr/>
          <p:nvPr/>
        </p:nvSpPr>
        <p:spPr>
          <a:xfrm>
            <a:off x="84124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00"/>
              <a:buFont typeface="Cambria"/>
              <a:buNone/>
            </a:pPr>
            <a:r>
              <a:rPr lang="en-US" sz="1400" b="1" i="0" u="none" strike="noStrike" cap="none">
                <a:solidFill>
                  <a:srgbClr val="1E2447"/>
                </a:solidFill>
                <a:latin typeface="Cambria"/>
                <a:ea typeface="Cambria"/>
                <a:cs typeface="Cambria"/>
                <a:sym typeface="Cambria"/>
              </a:rPr>
              <a:t>Mixture</a:t>
            </a:r>
            <a:endParaRPr sz="1400" b="0" i="0" u="none" strike="noStrike" cap="non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Components stay side by side and each maintains its own conduct — no new unit is formed.</a:t>
            </a:r>
            <a:endParaRPr sz="1100" b="0" i="0" u="none" strike="noStrike" cap="non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6"/>
          <p:cNvSpPr/>
          <p:nvPr/>
        </p:nvSpPr>
        <p:spPr>
          <a:xfrm>
            <a:off x="491032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400"/>
              <a:buFont typeface="Cambria"/>
              <a:buNone/>
            </a:pPr>
            <a:r>
              <a:rPr lang="en-US" sz="1400" b="1" i="0" u="none" strike="noStrike" cap="none">
                <a:solidFill>
                  <a:srgbClr val="3B4A7A"/>
                </a:solidFill>
                <a:latin typeface="Cambria"/>
                <a:ea typeface="Cambria"/>
                <a:cs typeface="Cambria"/>
                <a:sym typeface="Cambria"/>
              </a:rPr>
              <a:t>Compound</a:t>
            </a:r>
            <a:endParaRPr sz="1400" b="0" i="0" u="none" strike="noStrike" cap="non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Components combine in definite proportion and present a genuinely new unit, with its own form, properties, essential nature, and dharma.</a:t>
            </a:r>
            <a:endParaRPr sz="1100" b="0" i="0" u="none" strike="noStrike" cap="non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 xml:space="preserve">Composition is not development.  </a:t>
            </a:r>
            <a:r>
              <a:rPr lang="en-US" sz="1200" b="0" i="0" u="none" strike="noStrike" cap="none">
                <a:solidFill>
                  <a:srgbClr val="5A6377"/>
                </a:solidFill>
                <a:latin typeface="Calibri"/>
                <a:ea typeface="Calibri"/>
                <a:cs typeface="Calibri"/>
                <a:sym typeface="Calibri"/>
              </a:rPr>
              <a:t>The developmental threshold is crossed only when an atom reaches constitutional completeness (T1); assemblies persist while relationships are fulfilled and decline when they are not.</a:t>
            </a:r>
            <a:endParaRPr sz="1250" b="0" i="0" u="none" strike="noStrike" cap="none">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16"/>
          <p:cNvSpPr/>
          <p:nvPr/>
        </p:nvSpPr>
        <p:spPr>
          <a:xfrm>
            <a:off x="64008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Particles, atoms</a:t>
            </a:r>
            <a:endParaRPr sz="1250" b="0" i="0" u="none" strike="noStrike" cap="non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6"/>
          <p:cNvSpPr/>
          <p:nvPr/>
        </p:nvSpPr>
        <p:spPr>
          <a:xfrm>
            <a:off x="265176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Molecules</a:t>
            </a:r>
            <a:endParaRPr sz="1250" b="0" i="0" u="none" strike="noStrike" cap="non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6"/>
          <p:cNvSpPr/>
          <p:nvPr/>
        </p:nvSpPr>
        <p:spPr>
          <a:xfrm>
            <a:off x="466344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Cells &amp; bodies</a:t>
            </a:r>
            <a:endParaRPr sz="1250" b="0" i="0" u="none" strike="noStrike" cap="non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6"/>
          <p:cNvSpPr/>
          <p:nvPr/>
        </p:nvSpPr>
        <p:spPr>
          <a:xfrm>
            <a:off x="667512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Families, society</a:t>
            </a:r>
            <a:endParaRPr sz="1250" b="0" i="0" u="none" strike="noStrike" cap="non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1" u="none" strike="noStrike" cap="none">
                <a:solidFill>
                  <a:srgbClr val="5A6377"/>
                </a:solidFill>
                <a:latin typeface="Calibri"/>
                <a:ea typeface="Calibri"/>
                <a:cs typeface="Calibri"/>
                <a:sym typeface="Calibri"/>
              </a:rPr>
              <a:t>Human assemblies follow the same rule: their durability tracks relationship-fulfilment — not fear or extraction. This is the scaling step toward an undivided society.</a:t>
            </a:r>
            <a:endParaRPr sz="1100" b="0" i="0" u="none" strike="noStrike" cap="non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JV p. 67 (inclination toward coexistence)  ·  MVD p. 42 (mixture &amp; compound)  ·  SB p. 14 (persist or decline)</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3"/>
        <p:cNvGrpSpPr/>
        <p:nvPr/>
      </p:nvGrpSpPr>
      <p:grpSpPr>
        <a:xfrm>
          <a:off x="0" y="0"/>
          <a:ext cx="0" cy="0"/>
          <a:chOff x="0" y="0"/>
          <a:chExt cx="0" cy="0"/>
        </a:xfrm>
      </p:grpSpPr>
      <p:sp>
        <p:nvSpPr>
          <p:cNvPr id="404" name="Google Shape;404;p17"/>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7"/>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7"/>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7"/>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§1.11 · THE THIRD ENDOWMENT</a:t>
            </a:r>
            <a:endParaRPr sz="1050" b="0" i="0" u="none" strike="noStrike" cap="none">
              <a:solidFill>
                <a:schemeClr val="dk1"/>
              </a:solidFill>
              <a:latin typeface="Calibri"/>
              <a:ea typeface="Calibri"/>
              <a:cs typeface="Calibri"/>
              <a:sym typeface="Calibri"/>
            </a:endParaRPr>
          </a:p>
        </p:txBody>
      </p:sp>
      <p:sp>
        <p:nvSpPr>
          <p:cNvPr id="408" name="Google Shape;408;p17"/>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Regulation Endowment</a:t>
            </a:r>
            <a:endParaRPr sz="3000" b="0" i="0" u="none" strike="noStrike" cap="none">
              <a:solidFill>
                <a:schemeClr val="dk1"/>
              </a:solidFill>
              <a:latin typeface="Calibri"/>
              <a:ea typeface="Calibri"/>
              <a:cs typeface="Calibri"/>
              <a:sym typeface="Calibri"/>
            </a:endParaRPr>
          </a:p>
        </p:txBody>
      </p:sp>
      <p:sp>
        <p:nvSpPr>
          <p:cNvPr id="409" name="Google Shape;409;p17"/>
          <p:cNvSpPr/>
          <p:nvPr/>
        </p:nvSpPr>
        <p:spPr>
          <a:xfrm>
            <a:off x="640080" y="1234440"/>
            <a:ext cx="79552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 xml:space="preserve">Orderliness is self-regulation, inherent in saturated units — not dispensed by a cosmic governor. </a:t>
            </a:r>
            <a:r>
              <a:rPr lang="en-US" sz="1250" b="1" i="0" u="none" strike="noStrike" cap="none">
                <a:solidFill>
                  <a:srgbClr val="1E2447"/>
                </a:solidFill>
                <a:latin typeface="Calibri"/>
                <a:ea typeface="Calibri"/>
                <a:cs typeface="Calibri"/>
                <a:sym typeface="Calibri"/>
              </a:rPr>
              <a:t>This mediative (madhyasth) regulation, which regulates and conserves every unit, gives the darshan its name.</a:t>
            </a:r>
            <a:endParaRPr sz="1250" b="0" i="0" u="none" strike="noStrike" cap="none">
              <a:solidFill>
                <a:schemeClr val="dk1"/>
              </a:solidFill>
              <a:latin typeface="Calibri"/>
              <a:ea typeface="Calibri"/>
              <a:cs typeface="Calibri"/>
              <a:sym typeface="Calibri"/>
            </a:endParaRPr>
          </a:p>
        </p:txBody>
      </p:sp>
      <p:graphicFrame>
        <p:nvGraphicFramePr>
          <p:cNvPr id="410" name="Google Shape;410;p17"/>
          <p:cNvGraphicFramePr/>
          <p:nvPr/>
        </p:nvGraphicFramePr>
        <p:xfrm>
          <a:off x="640080" y="1965960"/>
          <a:ext cx="7863850" cy="1810525"/>
        </p:xfrm>
        <a:graphic>
          <a:graphicData uri="http://schemas.openxmlformats.org/drawingml/2006/table">
            <a:tbl>
              <a:tblPr>
                <a:noFill/>
                <a:tableStyleId>{6C92A692-798E-4634-90B1-36CD3966BFCB}</a:tableStyleId>
              </a:tblPr>
              <a:tblGrid>
                <a:gridCol w="1554475">
                  <a:extLst>
                    <a:ext uri="{9D8B030D-6E8A-4147-A177-3AD203B41FA5}">
                      <a16:colId xmlns:a16="http://schemas.microsoft.com/office/drawing/2014/main" val="20000"/>
                    </a:ext>
                  </a:extLst>
                </a:gridCol>
                <a:gridCol w="3017525">
                  <a:extLst>
                    <a:ext uri="{9D8B030D-6E8A-4147-A177-3AD203B41FA5}">
                      <a16:colId xmlns:a16="http://schemas.microsoft.com/office/drawing/2014/main" val="20001"/>
                    </a:ext>
                  </a:extLst>
                </a:gridCol>
                <a:gridCol w="3291850">
                  <a:extLst>
                    <a:ext uri="{9D8B030D-6E8A-4147-A177-3AD203B41FA5}">
                      <a16:colId xmlns:a16="http://schemas.microsoft.com/office/drawing/2014/main" val="20002"/>
                    </a:ext>
                  </a:extLst>
                </a:gridCol>
              </a:tblGrid>
              <a:tr h="310900">
                <a:tc>
                  <a:txBody>
                    <a:bodyPr/>
                    <a:lstStyle/>
                    <a:p>
                      <a:pPr marL="0" marR="0" lvl="0" indent="0" algn="l" rtl="0">
                        <a:spcBef>
                          <a:spcPts val="0"/>
                        </a:spcBef>
                        <a:spcAft>
                          <a:spcPts val="0"/>
                        </a:spcAft>
                        <a:buClr>
                          <a:srgbClr val="FFFFFF"/>
                        </a:buClr>
                        <a:buSzPts val="1080"/>
                        <a:buFont typeface="Calibri"/>
                        <a:buNone/>
                      </a:pPr>
                      <a:r>
                        <a:rPr lang="en-US" sz="1080" b="1" u="none" strike="noStrike" cap="none">
                          <a:solidFill>
                            <a:srgbClr val="FFFFFF"/>
                          </a:solidFill>
                          <a:latin typeface="Calibri"/>
                          <a:ea typeface="Calibri"/>
                          <a:cs typeface="Calibri"/>
                          <a:sym typeface="Calibri"/>
                        </a:rPr>
                        <a:t>Order</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80"/>
                        <a:buFont typeface="Calibri"/>
                        <a:buNone/>
                      </a:pPr>
                      <a:r>
                        <a:rPr lang="en-US" sz="1080" b="1" u="none" strike="noStrike" cap="none">
                          <a:solidFill>
                            <a:srgbClr val="FFFFFF"/>
                          </a:solidFill>
                          <a:latin typeface="Calibri"/>
                          <a:ea typeface="Calibri"/>
                          <a:cs typeface="Calibri"/>
                          <a:sym typeface="Calibri"/>
                        </a:rPr>
                        <a:t>Conformance mode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FFFFFF"/>
                        </a:buClr>
                        <a:buSzPts val="1080"/>
                        <a:buFont typeface="Calibri"/>
                        <a:buNone/>
                      </a:pPr>
                      <a:r>
                        <a:rPr lang="en-US" sz="1080" b="1" u="none" strike="noStrike" cap="none">
                          <a:solidFill>
                            <a:srgbClr val="FFFFFF"/>
                          </a:solidFill>
                          <a:latin typeface="Calibri"/>
                          <a:ea typeface="Calibri"/>
                          <a:cs typeface="Calibri"/>
                          <a:sym typeface="Calibri"/>
                        </a:rPr>
                        <a:t>Definite or achieved</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1E2447"/>
                    </a:solidFill>
                  </a:tcPr>
                </a:tc>
                <a:extLst>
                  <a:ext uri="{0D108BD9-81ED-4DB2-BD59-A6C34878D82A}">
                    <a16:rowId xmlns:a16="http://schemas.microsoft.com/office/drawing/2014/main" val="10000"/>
                  </a:ext>
                </a:extLst>
              </a:tr>
              <a:tr h="347475">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Material</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result- / structural-conformance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definite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47475">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Bio (pranic)</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seed-conformance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definite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47475">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Animal</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species-conformance (inherited from gestation)</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definite</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57200">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Knowledge (human)</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learned conformance (character, upbringing)</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2447"/>
                        </a:buClr>
                        <a:buSzPts val="1080"/>
                        <a:buFont typeface="Calibri"/>
                        <a:buNone/>
                      </a:pPr>
                      <a:r>
                        <a:rPr lang="en-US" sz="1080" u="none" strike="noStrike" cap="none">
                          <a:solidFill>
                            <a:srgbClr val="1E2447"/>
                          </a:solidFill>
                          <a:latin typeface="Calibri"/>
                          <a:ea typeface="Calibri"/>
                          <a:cs typeface="Calibri"/>
                          <a:sym typeface="Calibri"/>
                        </a:rPr>
                        <a:t>achieved: knowing → believing → recognising → fulfilling</a:t>
                      </a:r>
                      <a:endParaRPr sz="1080" u="none" strike="noStrike" cap="none">
                        <a:latin typeface="Calibri"/>
                        <a:ea typeface="Calibri"/>
                        <a:cs typeface="Calibri"/>
                        <a:sym typeface="Calibri"/>
                      </a:endParaRPr>
                    </a:p>
                  </a:txBody>
                  <a:tcPr marL="45725" marR="45725" marT="45725" marB="45725" anchor="ctr">
                    <a:lnL w="9525" cap="flat" cmpd="sng">
                      <a:solidFill>
                        <a:srgbClr val="C9D0E2"/>
                      </a:solidFill>
                      <a:prstDash val="solid"/>
                      <a:round/>
                      <a:headEnd type="none" w="sm" len="sm"/>
                      <a:tailEnd type="none" w="sm" len="sm"/>
                    </a:lnL>
                    <a:lnR w="9525" cap="flat" cmpd="sng">
                      <a:solidFill>
                        <a:srgbClr val="C9D0E2"/>
                      </a:solidFill>
                      <a:prstDash val="solid"/>
                      <a:round/>
                      <a:headEnd type="none" w="sm" len="sm"/>
                      <a:tailEnd type="none" w="sm" len="sm"/>
                    </a:lnR>
                    <a:lnT w="9525" cap="flat" cmpd="sng">
                      <a:solidFill>
                        <a:srgbClr val="C9D0E2"/>
                      </a:solidFill>
                      <a:prstDash val="solid"/>
                      <a:round/>
                      <a:headEnd type="none" w="sm" len="sm"/>
                      <a:tailEnd type="none" w="sm" len="sm"/>
                    </a:lnT>
                    <a:lnB w="9525" cap="flat" cmpd="sng">
                      <a:solidFill>
                        <a:srgbClr val="C9D0E2"/>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bl>
          </a:graphicData>
        </a:graphic>
      </p:graphicFrame>
      <p:sp>
        <p:nvSpPr>
          <p:cNvPr id="411" name="Google Shape;411;p17"/>
          <p:cNvSpPr/>
          <p:nvPr/>
        </p:nvSpPr>
        <p:spPr>
          <a:xfrm>
            <a:off x="640080" y="3977640"/>
            <a:ext cx="7863840" cy="731520"/>
          </a:xfrm>
          <a:prstGeom prst="roundRect">
            <a:avLst>
              <a:gd name="adj" fmla="val 11250"/>
            </a:avLst>
          </a:prstGeom>
          <a:solidFill>
            <a:srgbClr val="FAF1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868680" y="3977640"/>
            <a:ext cx="74066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100"/>
              <a:buFont typeface="Calibri"/>
              <a:buNone/>
            </a:pPr>
            <a:r>
              <a:rPr lang="en-US" sz="1100" b="1" i="0" u="none" strike="noStrike" cap="none">
                <a:solidFill>
                  <a:srgbClr val="9A6414"/>
                </a:solidFill>
                <a:latin typeface="Calibri"/>
                <a:ea typeface="Calibri"/>
                <a:cs typeface="Calibri"/>
                <a:sym typeface="Calibri"/>
              </a:rPr>
              <a:t xml:space="preserve">The regulation endowment </a:t>
            </a:r>
            <a:r>
              <a:rPr lang="en-US" sz="1100" b="0" i="0" u="none" strike="noStrike" cap="none">
                <a:solidFill>
                  <a:srgbClr val="5A6377"/>
                </a:solidFill>
                <a:latin typeface="Calibri"/>
                <a:ea typeface="Calibri"/>
                <a:cs typeface="Calibri"/>
                <a:sym typeface="Calibri"/>
              </a:rPr>
              <a:t>is each jeevan’s own capacity to evaluate and fulfil relationships — not granted from outside. At family and society scale, this same regulation becomes visible as law. But statutory codification is not automatically justice: conduct can satisfy legality while still diverging from it.</a:t>
            </a:r>
            <a:endParaRPr sz="1100" b="0" i="0" u="none" strike="noStrike" cap="none">
              <a:solidFill>
                <a:schemeClr val="dk1"/>
              </a:solidFill>
              <a:latin typeface="Calibri"/>
              <a:ea typeface="Calibri"/>
              <a:cs typeface="Calibri"/>
              <a:sym typeface="Calibri"/>
            </a:endParaRPr>
          </a:p>
        </p:txBody>
      </p:sp>
      <p:sp>
        <p:nvSpPr>
          <p:cNvPr id="413" name="Google Shape;413;p17"/>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SB p. 57  ·  MVD pp. 26–27, 67, 137, 311  ·  KD p. 14 (law across family, nation, world)</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8"/>
        <p:cNvGrpSpPr/>
        <p:nvPr/>
      </p:nvGrpSpPr>
      <p:grpSpPr>
        <a:xfrm>
          <a:off x="0" y="0"/>
          <a:ext cx="0" cy="0"/>
          <a:chOff x="0" y="0"/>
          <a:chExt cx="0" cy="0"/>
        </a:xfrm>
      </p:grpSpPr>
      <p:sp>
        <p:nvSpPr>
          <p:cNvPr id="419" name="Google Shape;419;p18"/>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8"/>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8"/>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18"/>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§§1.3–1.4, 1.7, 1.12–1.13 · WHAT KNOWING NEEDS — AND HOW IT HAPPENS</a:t>
            </a:r>
            <a:endParaRPr sz="1050" b="0" i="0" u="none" strike="noStrike" cap="none">
              <a:solidFill>
                <a:schemeClr val="dk1"/>
              </a:solidFill>
              <a:latin typeface="Calibri"/>
              <a:ea typeface="Calibri"/>
              <a:cs typeface="Calibri"/>
              <a:sym typeface="Calibri"/>
            </a:endParaRPr>
          </a:p>
        </p:txBody>
      </p:sp>
      <p:sp>
        <p:nvSpPr>
          <p:cNvPr id="423" name="Google Shape;423;p18"/>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Epistemic Ladder</a:t>
            </a:r>
            <a:endParaRPr sz="3000" b="0" i="0" u="none" strike="noStrike" cap="none">
              <a:solidFill>
                <a:schemeClr val="dk1"/>
              </a:solidFill>
              <a:latin typeface="Calibri"/>
              <a:ea typeface="Calibri"/>
              <a:cs typeface="Calibri"/>
              <a:sym typeface="Calibri"/>
            </a:endParaRPr>
          </a:p>
        </p:txBody>
      </p:sp>
      <p:sp>
        <p:nvSpPr>
          <p:cNvPr id="424" name="Google Shape;424;p18"/>
          <p:cNvSpPr/>
          <p:nvPr/>
        </p:nvSpPr>
        <p:spPr>
          <a:xfrm>
            <a:off x="548640" y="1280160"/>
            <a:ext cx="37490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What must be understood — scope</a:t>
            </a:r>
            <a:endParaRPr sz="1350" b="0" i="0" u="none" strike="noStrike" cap="none">
              <a:solidFill>
                <a:schemeClr val="dk1"/>
              </a:solidFill>
              <a:latin typeface="Calibri"/>
              <a:ea typeface="Calibri"/>
              <a:cs typeface="Calibri"/>
              <a:sym typeface="Calibri"/>
            </a:endParaRPr>
          </a:p>
        </p:txBody>
      </p:sp>
      <p:sp>
        <p:nvSpPr>
          <p:cNvPr id="450" name="Google Shape;450;p18"/>
          <p:cNvSpPr/>
          <p:nvPr/>
        </p:nvSpPr>
        <p:spPr>
          <a:xfrm>
            <a:off x="274320" y="1600000"/>
            <a:ext cx="4297680" cy="420000"/>
          </a:xfrm>
          <a:prstGeom prst="roundRect">
            <a:avLst>
              <a:gd name="adj" fmla="val 14286"/>
            </a:avLst>
          </a:prstGeom>
          <a:solidFill>
            <a:srgbClr val="9A6414"/>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8"/>
          <p:cNvSpPr/>
          <p:nvPr/>
        </p:nvSpPr>
        <p:spPr>
          <a:xfrm>
            <a:off x="274320" y="1600000"/>
            <a:ext cx="429768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coexistence itself  ·  the telos of knowing</a:t>
            </a:r>
            <a:endParaRPr sz="1150" b="0" i="0" u="none" strike="noStrike" cap="none">
              <a:solidFill>
                <a:schemeClr val="dk1"/>
              </a:solidFill>
              <a:latin typeface="Calibri"/>
              <a:ea typeface="Calibri"/>
              <a:cs typeface="Calibri"/>
              <a:sym typeface="Calibri"/>
            </a:endParaRPr>
          </a:p>
        </p:txBody>
      </p:sp>
      <p:sp>
        <p:nvSpPr>
          <p:cNvPr id="452" name="Google Shape;452;p18"/>
          <p:cNvSpPr/>
          <p:nvPr/>
        </p:nvSpPr>
        <p:spPr>
          <a:xfrm>
            <a:off x="594360" y="2050000"/>
            <a:ext cx="3657600" cy="420000"/>
          </a:xfrm>
          <a:prstGeom prst="roundRect">
            <a:avLst>
              <a:gd name="adj" fmla="val 14286"/>
            </a:avLst>
          </a:prstGeom>
          <a:solidFill>
            <a:schemeClr val="accent3">
              <a:lumMod val="40000"/>
              <a:lumOff val="60000"/>
            </a:schemeClr>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53" name="Google Shape;453;p18"/>
          <p:cNvSpPr/>
          <p:nvPr/>
        </p:nvSpPr>
        <p:spPr>
          <a:xfrm>
            <a:off x="594360" y="2050000"/>
            <a:ext cx="365760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dirty="0">
                <a:solidFill>
                  <a:srgbClr val="1E2447"/>
                </a:solidFill>
                <a:latin typeface="Calibri"/>
                <a:ea typeface="Calibri"/>
                <a:cs typeface="Calibri"/>
                <a:sym typeface="Calibri"/>
              </a:rPr>
              <a:t>relationships  ·  shared expectations weighed by justice, dharma, and truth (§1.12)</a:t>
            </a:r>
            <a:endParaRPr sz="1150" b="0" i="0" u="none" strike="noStrike" cap="none" dirty="0">
              <a:solidFill>
                <a:schemeClr val="dk1"/>
              </a:solidFill>
              <a:latin typeface="Calibri"/>
              <a:ea typeface="Calibri"/>
              <a:cs typeface="Calibri"/>
              <a:sym typeface="Calibri"/>
            </a:endParaRPr>
          </a:p>
        </p:txBody>
      </p:sp>
      <p:sp>
        <p:nvSpPr>
          <p:cNvPr id="425" name="Google Shape;425;p18"/>
          <p:cNvSpPr/>
          <p:nvPr/>
        </p:nvSpPr>
        <p:spPr>
          <a:xfrm>
            <a:off x="914400" y="2500000"/>
            <a:ext cx="3017520" cy="420000"/>
          </a:xfrm>
          <a:prstGeom prst="roundRect">
            <a:avLst>
              <a:gd name="adj" fmla="val 14286"/>
            </a:avLst>
          </a:prstGeom>
          <a:solidFill>
            <a:schemeClr val="accent3">
              <a:lumMod val="40000"/>
              <a:lumOff val="60000"/>
            </a:schemeClr>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26" name="Google Shape;426;p18"/>
          <p:cNvSpPr/>
          <p:nvPr/>
        </p:nvSpPr>
        <p:spPr>
          <a:xfrm>
            <a:off x="914400" y="2500000"/>
            <a:ext cx="301752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9A6414"/>
              </a:buClr>
              <a:buSzPts val="1150"/>
              <a:buFont typeface="Calibri"/>
              <a:buNone/>
            </a:pPr>
            <a:r>
              <a:rPr lang="en-US" sz="1150" b="1" i="0" u="none" strike="noStrike" cap="none" dirty="0">
                <a:solidFill>
                  <a:srgbClr val="9A6414"/>
                </a:solidFill>
                <a:latin typeface="Calibri"/>
                <a:ea typeface="Calibri"/>
                <a:cs typeface="Calibri"/>
                <a:sym typeface="Calibri"/>
              </a:rPr>
              <a:t>dharma  ·  needs the whole</a:t>
            </a:r>
            <a:endParaRPr sz="1150" b="0" i="0" u="none" strike="noStrike" cap="none" dirty="0">
              <a:solidFill>
                <a:schemeClr val="dk1"/>
              </a:solidFill>
              <a:latin typeface="Calibri"/>
              <a:ea typeface="Calibri"/>
              <a:cs typeface="Calibri"/>
              <a:sym typeface="Calibri"/>
            </a:endParaRPr>
          </a:p>
        </p:txBody>
      </p:sp>
      <p:sp>
        <p:nvSpPr>
          <p:cNvPr id="427" name="Google Shape;427;p18"/>
          <p:cNvSpPr/>
          <p:nvPr/>
        </p:nvSpPr>
        <p:spPr>
          <a:xfrm>
            <a:off x="1074420" y="2950000"/>
            <a:ext cx="2697480" cy="420000"/>
          </a:xfrm>
          <a:prstGeom prst="roundRect">
            <a:avLst>
              <a:gd name="adj" fmla="val 14286"/>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18"/>
          <p:cNvSpPr/>
          <p:nvPr/>
        </p:nvSpPr>
        <p:spPr>
          <a:xfrm>
            <a:off x="1074420" y="2950000"/>
            <a:ext cx="269748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essential nature  ·  needs its order</a:t>
            </a:r>
            <a:endParaRPr sz="1150" b="0" i="0" u="none" strike="noStrike" cap="none">
              <a:solidFill>
                <a:schemeClr val="dk1"/>
              </a:solidFill>
              <a:latin typeface="Calibri"/>
              <a:ea typeface="Calibri"/>
              <a:cs typeface="Calibri"/>
              <a:sym typeface="Calibri"/>
            </a:endParaRPr>
          </a:p>
        </p:txBody>
      </p:sp>
      <p:sp>
        <p:nvSpPr>
          <p:cNvPr id="429" name="Google Shape;429;p18"/>
          <p:cNvSpPr/>
          <p:nvPr/>
        </p:nvSpPr>
        <p:spPr>
          <a:xfrm>
            <a:off x="1234440" y="3400000"/>
            <a:ext cx="2377440" cy="420000"/>
          </a:xfrm>
          <a:prstGeom prst="roundRect">
            <a:avLst>
              <a:gd name="adj" fmla="val 14286"/>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18"/>
          <p:cNvSpPr/>
          <p:nvPr/>
        </p:nvSpPr>
        <p:spPr>
          <a:xfrm>
            <a:off x="1234440" y="3400000"/>
            <a:ext cx="237744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properties  ·  need mutuality</a:t>
            </a:r>
            <a:endParaRPr sz="1150" b="0" i="0" u="none" strike="noStrike" cap="none">
              <a:solidFill>
                <a:schemeClr val="dk1"/>
              </a:solidFill>
              <a:latin typeface="Calibri"/>
              <a:ea typeface="Calibri"/>
              <a:cs typeface="Calibri"/>
              <a:sym typeface="Calibri"/>
            </a:endParaRPr>
          </a:p>
        </p:txBody>
      </p:sp>
      <p:sp>
        <p:nvSpPr>
          <p:cNvPr id="431" name="Google Shape;431;p18"/>
          <p:cNvSpPr/>
          <p:nvPr/>
        </p:nvSpPr>
        <p:spPr>
          <a:xfrm>
            <a:off x="1554480" y="3850000"/>
            <a:ext cx="1737360" cy="420000"/>
          </a:xfrm>
          <a:prstGeom prst="roundRect">
            <a:avLst>
              <a:gd name="adj" fmla="val 14286"/>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8"/>
          <p:cNvSpPr/>
          <p:nvPr/>
        </p:nvSpPr>
        <p:spPr>
          <a:xfrm>
            <a:off x="1554480" y="3850000"/>
            <a:ext cx="1737360" cy="420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form  ·  the unit alone</a:t>
            </a:r>
            <a:endParaRPr sz="1150" b="0" i="0" u="none" strike="noStrike" cap="none">
              <a:solidFill>
                <a:schemeClr val="dk1"/>
              </a:solidFill>
              <a:latin typeface="Calibri"/>
              <a:ea typeface="Calibri"/>
              <a:cs typeface="Calibri"/>
              <a:sym typeface="Calibri"/>
            </a:endParaRPr>
          </a:p>
        </p:txBody>
      </p:sp>
      <p:sp>
        <p:nvSpPr>
          <p:cNvPr id="433" name="Google Shape;433;p18"/>
          <p:cNvSpPr/>
          <p:nvPr/>
        </p:nvSpPr>
        <p:spPr>
          <a:xfrm>
            <a:off x="274320" y="4300000"/>
            <a:ext cx="4297680" cy="40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dirty="0">
                <a:solidFill>
                  <a:srgbClr val="5A6377"/>
                </a:solidFill>
                <a:latin typeface="Calibri"/>
                <a:ea typeface="Calibri"/>
                <a:cs typeface="Calibri"/>
                <a:sym typeface="Calibri"/>
              </a:rPr>
              <a:t xml:space="preserve">each higher rung needs a wider context to understand the aspect; the top rung is a different kind of knowing — coexistence </a:t>
            </a:r>
            <a:r>
              <a:rPr lang="en-US" sz="950" b="0" i="1" u="none" strike="noStrike" cap="none" dirty="0" err="1">
                <a:solidFill>
                  <a:srgbClr val="5A6377"/>
                </a:solidFill>
                <a:latin typeface="Calibri"/>
                <a:ea typeface="Calibri"/>
                <a:cs typeface="Calibri"/>
                <a:sym typeface="Calibri"/>
              </a:rPr>
              <a:t>realised</a:t>
            </a:r>
            <a:r>
              <a:rPr lang="en-US" sz="950" b="0" i="1" u="none" strike="noStrike" cap="none" dirty="0">
                <a:solidFill>
                  <a:srgbClr val="5A6377"/>
                </a:solidFill>
                <a:latin typeface="Calibri"/>
                <a:ea typeface="Calibri"/>
                <a:cs typeface="Calibri"/>
                <a:sym typeface="Calibri"/>
              </a:rPr>
              <a:t>, not just a wider unit-aspect</a:t>
            </a:r>
            <a:endParaRPr sz="950" b="0" i="0" u="none" strike="noStrike" cap="none" dirty="0">
              <a:solidFill>
                <a:schemeClr val="dk1"/>
              </a:solidFill>
              <a:latin typeface="Calibri"/>
              <a:ea typeface="Calibri"/>
              <a:cs typeface="Calibri"/>
              <a:sym typeface="Calibri"/>
            </a:endParaRPr>
          </a:p>
        </p:txBody>
      </p:sp>
      <p:sp>
        <p:nvSpPr>
          <p:cNvPr id="434" name="Google Shape;434;p18"/>
          <p:cNvSpPr/>
          <p:nvPr/>
        </p:nvSpPr>
        <p:spPr>
          <a:xfrm>
            <a:off x="4892040" y="1280160"/>
            <a:ext cx="3429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2447"/>
              </a:buClr>
              <a:buSzPts val="1350"/>
              <a:buFont typeface="Cambria"/>
              <a:buNone/>
            </a:pPr>
            <a:r>
              <a:rPr lang="en-US" sz="1350" b="1" i="0" u="none" strike="noStrike" cap="none">
                <a:solidFill>
                  <a:srgbClr val="1E2447"/>
                </a:solidFill>
                <a:latin typeface="Cambria"/>
                <a:ea typeface="Cambria"/>
                <a:cs typeface="Cambria"/>
                <a:sym typeface="Cambria"/>
              </a:rPr>
              <a:t>How knowing happens — within jeevan</a:t>
            </a:r>
            <a:endParaRPr sz="1350" b="0" i="0" u="none" strike="noStrike" cap="none">
              <a:solidFill>
                <a:schemeClr val="dk1"/>
              </a:solidFill>
              <a:latin typeface="Calibri"/>
              <a:ea typeface="Calibri"/>
              <a:cs typeface="Calibri"/>
              <a:sym typeface="Calibri"/>
            </a:endParaRPr>
          </a:p>
        </p:txBody>
      </p:sp>
      <p:sp>
        <p:nvSpPr>
          <p:cNvPr id="435" name="Google Shape;435;p18"/>
          <p:cNvSpPr/>
          <p:nvPr/>
        </p:nvSpPr>
        <p:spPr>
          <a:xfrm>
            <a:off x="4892040" y="1645920"/>
            <a:ext cx="3429000" cy="457200"/>
          </a:xfrm>
          <a:prstGeom prst="roundRect">
            <a:avLst>
              <a:gd name="adj" fmla="val 16000"/>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8"/>
          <p:cNvSpPr/>
          <p:nvPr/>
        </p:nvSpPr>
        <p:spPr>
          <a:xfrm>
            <a:off x="5029200" y="1645920"/>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150"/>
              <a:buFont typeface="Calibri"/>
              <a:buNone/>
            </a:pPr>
            <a:r>
              <a:rPr lang="en-US" sz="1150" b="1" i="0" u="none" strike="noStrike" cap="none">
                <a:solidFill>
                  <a:srgbClr val="9A6414"/>
                </a:solidFill>
                <a:latin typeface="Calibri"/>
                <a:ea typeface="Calibri"/>
                <a:cs typeface="Calibri"/>
                <a:sym typeface="Calibri"/>
              </a:rPr>
              <a:t xml:space="preserve">Core self (atma)   </a:t>
            </a:r>
            <a:r>
              <a:rPr lang="en-US" sz="900" b="0" i="0" u="none" strike="noStrike" cap="none">
                <a:solidFill>
                  <a:srgbClr val="5A6377"/>
                </a:solidFill>
                <a:latin typeface="Calibri"/>
                <a:ea typeface="Calibri"/>
                <a:cs typeface="Calibri"/>
                <a:sym typeface="Calibri"/>
              </a:rPr>
              <a:t>realisation — only through truth · authenticity</a:t>
            </a:r>
            <a:endParaRPr sz="1150" b="0" i="0" u="none" strike="noStrike" cap="none">
              <a:solidFill>
                <a:schemeClr val="dk1"/>
              </a:solidFill>
              <a:latin typeface="Calibri"/>
              <a:ea typeface="Calibri"/>
              <a:cs typeface="Calibri"/>
              <a:sym typeface="Calibri"/>
            </a:endParaRPr>
          </a:p>
        </p:txBody>
      </p:sp>
      <p:sp>
        <p:nvSpPr>
          <p:cNvPr id="437" name="Google Shape;437;p18"/>
          <p:cNvSpPr/>
          <p:nvPr/>
        </p:nvSpPr>
        <p:spPr>
          <a:xfrm>
            <a:off x="4892040" y="2212848"/>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8"/>
          <p:cNvSpPr/>
          <p:nvPr/>
        </p:nvSpPr>
        <p:spPr>
          <a:xfrm>
            <a:off x="5029200" y="2212848"/>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Resolve (buddhi)   </a:t>
            </a:r>
            <a:r>
              <a:rPr lang="en-US" sz="900" b="0" i="0" u="none" strike="noStrike" cap="none">
                <a:solidFill>
                  <a:srgbClr val="5A6377"/>
                </a:solidFill>
                <a:latin typeface="Calibri"/>
                <a:ea typeface="Calibri"/>
                <a:cs typeface="Calibri"/>
                <a:sym typeface="Calibri"/>
              </a:rPr>
              <a:t>enlightenment of existence, jeevan, conduct · resolve</a:t>
            </a:r>
            <a:endParaRPr sz="1150" b="0" i="0" u="none" strike="noStrike" cap="none">
              <a:solidFill>
                <a:schemeClr val="dk1"/>
              </a:solidFill>
              <a:latin typeface="Calibri"/>
              <a:ea typeface="Calibri"/>
              <a:cs typeface="Calibri"/>
              <a:sym typeface="Calibri"/>
            </a:endParaRPr>
          </a:p>
        </p:txBody>
      </p:sp>
      <p:sp>
        <p:nvSpPr>
          <p:cNvPr id="439" name="Google Shape;439;p18"/>
          <p:cNvSpPr/>
          <p:nvPr/>
        </p:nvSpPr>
        <p:spPr>
          <a:xfrm>
            <a:off x="4892040" y="2779776"/>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8"/>
          <p:cNvSpPr/>
          <p:nvPr/>
        </p:nvSpPr>
        <p:spPr>
          <a:xfrm>
            <a:off x="5029200" y="2779776"/>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Desire (chitta)   </a:t>
            </a:r>
            <a:r>
              <a:rPr lang="en-US" sz="900" b="0" i="0" u="none" strike="noStrike" cap="none">
                <a:solidFill>
                  <a:srgbClr val="5A6377"/>
                </a:solidFill>
                <a:latin typeface="Calibri"/>
                <a:ea typeface="Calibri"/>
                <a:cs typeface="Calibri"/>
                <a:sym typeface="Calibri"/>
              </a:rPr>
              <a:t>contemplation &amp; visualisation · direct recognition</a:t>
            </a:r>
            <a:endParaRPr sz="1150" b="0" i="0" u="none" strike="noStrike" cap="none">
              <a:solidFill>
                <a:schemeClr val="dk1"/>
              </a:solidFill>
              <a:latin typeface="Calibri"/>
              <a:ea typeface="Calibri"/>
              <a:cs typeface="Calibri"/>
              <a:sym typeface="Calibri"/>
            </a:endParaRPr>
          </a:p>
        </p:txBody>
      </p:sp>
      <p:sp>
        <p:nvSpPr>
          <p:cNvPr id="441" name="Google Shape;441;p18"/>
          <p:cNvSpPr/>
          <p:nvPr/>
        </p:nvSpPr>
        <p:spPr>
          <a:xfrm>
            <a:off x="4892040" y="3346704"/>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8"/>
          <p:cNvSpPr/>
          <p:nvPr/>
        </p:nvSpPr>
        <p:spPr>
          <a:xfrm>
            <a:off x="5029200" y="3346704"/>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Thought (vritti)   </a:t>
            </a:r>
            <a:r>
              <a:rPr lang="en-US" sz="900" b="0" i="0" u="none" strike="noStrike" cap="none">
                <a:solidFill>
                  <a:srgbClr val="5A6377"/>
                </a:solidFill>
                <a:latin typeface="Calibri"/>
                <a:ea typeface="Calibri"/>
                <a:cs typeface="Calibri"/>
                <a:sym typeface="Calibri"/>
              </a:rPr>
              <a:t>deliberation in refuge of justice–dharma–truth · analysis</a:t>
            </a:r>
            <a:endParaRPr sz="1150" b="0" i="0" u="none" strike="noStrike" cap="none">
              <a:solidFill>
                <a:schemeClr val="dk1"/>
              </a:solidFill>
              <a:latin typeface="Calibri"/>
              <a:ea typeface="Calibri"/>
              <a:cs typeface="Calibri"/>
              <a:sym typeface="Calibri"/>
            </a:endParaRPr>
          </a:p>
        </p:txBody>
      </p:sp>
      <p:sp>
        <p:nvSpPr>
          <p:cNvPr id="443" name="Google Shape;443;p18"/>
          <p:cNvSpPr/>
          <p:nvPr/>
        </p:nvSpPr>
        <p:spPr>
          <a:xfrm>
            <a:off x="4892040" y="3913632"/>
            <a:ext cx="3429000" cy="457200"/>
          </a:xfrm>
          <a:prstGeom prst="roundRect">
            <a:avLst>
              <a:gd name="adj" fmla="val 16000"/>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8"/>
          <p:cNvSpPr/>
          <p:nvPr/>
        </p:nvSpPr>
        <p:spPr>
          <a:xfrm>
            <a:off x="5029200" y="3913632"/>
            <a:ext cx="3200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150"/>
              <a:buFont typeface="Calibri"/>
              <a:buNone/>
            </a:pPr>
            <a:r>
              <a:rPr lang="en-US" sz="1150" b="1" i="0" u="none" strike="noStrike" cap="none">
                <a:solidFill>
                  <a:srgbClr val="1E2447"/>
                </a:solidFill>
                <a:latin typeface="Calibri"/>
                <a:ea typeface="Calibri"/>
                <a:cs typeface="Calibri"/>
                <a:sym typeface="Calibri"/>
              </a:rPr>
              <a:t xml:space="preserve">Hope (mun)   </a:t>
            </a:r>
            <a:r>
              <a:rPr lang="en-US" sz="900" b="0" i="0" u="none" strike="noStrike" cap="none">
                <a:solidFill>
                  <a:srgbClr val="5A6377"/>
                </a:solidFill>
                <a:latin typeface="Calibri"/>
                <a:ea typeface="Calibri"/>
                <a:cs typeface="Calibri"/>
                <a:sym typeface="Calibri"/>
              </a:rPr>
              <a:t>taste &amp; selection — first acceptance of the proposal</a:t>
            </a:r>
            <a:endParaRPr sz="1150" b="0" i="0" u="none" strike="noStrike" cap="none">
              <a:solidFill>
                <a:schemeClr val="dk1"/>
              </a:solidFill>
              <a:latin typeface="Calibri"/>
              <a:ea typeface="Calibri"/>
              <a:cs typeface="Calibri"/>
              <a:sym typeface="Calibri"/>
            </a:endParaRPr>
          </a:p>
        </p:txBody>
      </p:sp>
      <p:sp>
        <p:nvSpPr>
          <p:cNvPr id="454" name="Google Shape;454;p18"/>
          <p:cNvSpPr/>
          <p:nvPr/>
        </p:nvSpPr>
        <p:spPr>
          <a:xfrm>
            <a:off x="5029200" y="2092984"/>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bliss</a:t>
            </a:r>
            <a:endParaRPr sz="800" b="0" i="0" u="none" strike="noStrike" cap="none">
              <a:solidFill>
                <a:schemeClr val="dk1"/>
              </a:solidFill>
              <a:latin typeface="Calibri"/>
              <a:ea typeface="Calibri"/>
              <a:cs typeface="Calibri"/>
              <a:sym typeface="Calibri"/>
            </a:endParaRPr>
          </a:p>
        </p:txBody>
      </p:sp>
      <p:sp>
        <p:nvSpPr>
          <p:cNvPr id="455" name="Google Shape;455;p18"/>
          <p:cNvSpPr/>
          <p:nvPr/>
        </p:nvSpPr>
        <p:spPr>
          <a:xfrm>
            <a:off x="5029200" y="2659912"/>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contentment</a:t>
            </a:r>
            <a:endParaRPr sz="800" b="0" i="0" u="none" strike="noStrike" cap="none">
              <a:solidFill>
                <a:schemeClr val="dk1"/>
              </a:solidFill>
              <a:latin typeface="Calibri"/>
              <a:ea typeface="Calibri"/>
              <a:cs typeface="Calibri"/>
              <a:sym typeface="Calibri"/>
            </a:endParaRPr>
          </a:p>
        </p:txBody>
      </p:sp>
      <p:sp>
        <p:nvSpPr>
          <p:cNvPr id="456" name="Google Shape;456;p18"/>
          <p:cNvSpPr/>
          <p:nvPr/>
        </p:nvSpPr>
        <p:spPr>
          <a:xfrm>
            <a:off x="5029200" y="3226840"/>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peace</a:t>
            </a:r>
            <a:endParaRPr sz="800" b="0" i="0" u="none" strike="noStrike" cap="none">
              <a:solidFill>
                <a:schemeClr val="dk1"/>
              </a:solidFill>
              <a:latin typeface="Calibri"/>
              <a:ea typeface="Calibri"/>
              <a:cs typeface="Calibri"/>
              <a:sym typeface="Calibri"/>
            </a:endParaRPr>
          </a:p>
        </p:txBody>
      </p:sp>
      <p:sp>
        <p:nvSpPr>
          <p:cNvPr id="457" name="Google Shape;457;p18"/>
          <p:cNvSpPr/>
          <p:nvPr/>
        </p:nvSpPr>
        <p:spPr>
          <a:xfrm>
            <a:off x="5029200" y="3793768"/>
            <a:ext cx="3200400" cy="13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00"/>
              <a:buFont typeface="Calibri"/>
              <a:buNone/>
            </a:pPr>
            <a:r>
              <a:rPr lang="en-US" sz="800" b="0" i="1" u="none" strike="noStrike" cap="none">
                <a:solidFill>
                  <a:srgbClr val="9A6414"/>
                </a:solidFill>
                <a:latin typeface="Calibri"/>
                <a:ea typeface="Calibri"/>
                <a:cs typeface="Calibri"/>
                <a:sym typeface="Calibri"/>
              </a:rPr>
              <a:t>acted in alignment → happiness</a:t>
            </a:r>
            <a:endParaRPr sz="800" b="0" i="0" u="none" strike="noStrike" cap="none">
              <a:solidFill>
                <a:schemeClr val="dk1"/>
              </a:solidFill>
              <a:latin typeface="Calibri"/>
              <a:ea typeface="Calibri"/>
              <a:cs typeface="Calibri"/>
              <a:sym typeface="Calibri"/>
            </a:endParaRPr>
          </a:p>
        </p:txBody>
      </p:sp>
      <p:cxnSp>
        <p:nvCxnSpPr>
          <p:cNvPr id="445" name="Google Shape;445;p18"/>
          <p:cNvCxnSpPr/>
          <p:nvPr/>
        </p:nvCxnSpPr>
        <p:spPr>
          <a:xfrm>
            <a:off x="4718304" y="1737360"/>
            <a:ext cx="0" cy="2514600"/>
          </a:xfrm>
          <a:prstGeom prst="straightConnector1">
            <a:avLst/>
          </a:prstGeom>
          <a:noFill/>
          <a:ln w="22225" cap="flat" cmpd="sng">
            <a:solidFill>
              <a:srgbClr val="3B4A7A"/>
            </a:solidFill>
            <a:prstDash val="solid"/>
            <a:round/>
            <a:headEnd type="triangle" w="med" len="med"/>
            <a:tailEnd type="none" w="sm" len="sm"/>
          </a:ln>
        </p:spPr>
      </p:cxnSp>
      <p:sp>
        <p:nvSpPr>
          <p:cNvPr id="446" name="Google Shape;446;p18"/>
          <p:cNvSpPr/>
          <p:nvPr/>
        </p:nvSpPr>
        <p:spPr>
          <a:xfrm rot="-5400000">
            <a:off x="3218688" y="2852928"/>
            <a:ext cx="265176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B4A7A"/>
              </a:buClr>
              <a:buSzPts val="850"/>
              <a:buFont typeface="Calibri"/>
              <a:buNone/>
            </a:pPr>
            <a:r>
              <a:rPr lang="en-US" sz="850" b="0" i="1" u="none" strike="noStrike" cap="none">
                <a:solidFill>
                  <a:srgbClr val="3B4A7A"/>
                </a:solidFill>
                <a:latin typeface="Calibri"/>
                <a:ea typeface="Calibri"/>
                <a:cs typeface="Calibri"/>
                <a:sym typeface="Calibri"/>
              </a:rPr>
              <a:t>reflection (inward) · knowing deepens</a:t>
            </a:r>
            <a:endParaRPr sz="850" b="0" i="0" u="none" strike="noStrike" cap="none">
              <a:solidFill>
                <a:schemeClr val="dk1"/>
              </a:solidFill>
              <a:latin typeface="Calibri"/>
              <a:ea typeface="Calibri"/>
              <a:cs typeface="Calibri"/>
              <a:sym typeface="Calibri"/>
            </a:endParaRPr>
          </a:p>
        </p:txBody>
      </p:sp>
      <p:cxnSp>
        <p:nvCxnSpPr>
          <p:cNvPr id="447" name="Google Shape;447;p18"/>
          <p:cNvCxnSpPr/>
          <p:nvPr/>
        </p:nvCxnSpPr>
        <p:spPr>
          <a:xfrm>
            <a:off x="8503920" y="1737360"/>
            <a:ext cx="0" cy="2514600"/>
          </a:xfrm>
          <a:prstGeom prst="straightConnector1">
            <a:avLst/>
          </a:prstGeom>
          <a:noFill/>
          <a:ln w="22225" cap="flat" cmpd="sng">
            <a:solidFill>
              <a:srgbClr val="9A6414"/>
            </a:solidFill>
            <a:prstDash val="solid"/>
            <a:round/>
            <a:headEnd type="none" w="sm" len="sm"/>
            <a:tailEnd type="triangle" w="med" len="med"/>
          </a:ln>
        </p:spPr>
      </p:cxnSp>
      <p:sp>
        <p:nvSpPr>
          <p:cNvPr id="448" name="Google Shape;448;p18"/>
          <p:cNvSpPr/>
          <p:nvPr/>
        </p:nvSpPr>
        <p:spPr>
          <a:xfrm rot="5400000">
            <a:off x="7315200" y="2852928"/>
            <a:ext cx="265176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6414"/>
              </a:buClr>
              <a:buSzPts val="850"/>
              <a:buFont typeface="Calibri"/>
              <a:buNone/>
            </a:pPr>
            <a:r>
              <a:rPr lang="en-US" sz="850" b="0" i="1" u="none" strike="noStrike" cap="none">
                <a:solidFill>
                  <a:srgbClr val="9A6414"/>
                </a:solidFill>
                <a:latin typeface="Calibri"/>
                <a:ea typeface="Calibri"/>
                <a:cs typeface="Calibri"/>
                <a:sym typeface="Calibri"/>
              </a:rPr>
              <a:t>projection (outward) · evidenced in conduct</a:t>
            </a:r>
            <a:endParaRPr sz="850" b="0" i="0" u="none" strike="noStrike" cap="none">
              <a:solidFill>
                <a:schemeClr val="dk1"/>
              </a:solidFill>
              <a:latin typeface="Calibri"/>
              <a:ea typeface="Calibri"/>
              <a:cs typeface="Calibri"/>
              <a:sym typeface="Calibri"/>
            </a:endParaRPr>
          </a:p>
        </p:txBody>
      </p:sp>
      <p:sp>
        <p:nvSpPr>
          <p:cNvPr id="449" name="Google Shape;449;p18"/>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The ladders meet at the top: coexistence itself, known and acted on in the core self, is felt as bliss — each lower pair, likewise, only when acted on, not merely known (§1.8, §1.13). MVD p. 11 · JV pp. 61, 120, 138 · MVD pp. 78, 101, 137</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6"/>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6"/>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6"/>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§§1.7–1.8, 1.10, 1.12, 1.15 · WHERE THE LADDER COMPLETES — OR STALLS</a:t>
            </a:r>
            <a:endParaRPr sz="1050" b="0" i="0" u="none" strike="noStrike" cap="non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dirty="0">
                <a:solidFill>
                  <a:srgbClr val="1E2447"/>
                </a:solidFill>
                <a:latin typeface="Cambria"/>
                <a:ea typeface="Cambria"/>
                <a:cs typeface="Cambria"/>
                <a:sym typeface="Cambria"/>
              </a:rPr>
              <a:t>The Fork: What Makes Me Happy?</a:t>
            </a:r>
            <a:endParaRPr sz="3000" b="0" i="0" u="none" strike="noStrike" cap="none" dirty="0">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300"/>
              <a:buFont typeface="Calibri"/>
              <a:buNone/>
            </a:pPr>
            <a:r>
              <a:rPr lang="en-US" sz="1300" b="0" i="0" u="none" strike="noStrike" cap="none" dirty="0">
                <a:solidFill>
                  <a:srgbClr val="5A6377"/>
                </a:solidFill>
                <a:latin typeface="Calibri"/>
                <a:ea typeface="Calibri"/>
                <a:cs typeface="Calibri"/>
                <a:sym typeface="Calibri"/>
              </a:rPr>
              <a:t xml:space="preserve">Every </a:t>
            </a:r>
            <a:r>
              <a:rPr lang="en-US" sz="1300" b="0" i="0" u="none" strike="noStrike" cap="none" dirty="0" err="1">
                <a:solidFill>
                  <a:srgbClr val="5A6377"/>
                </a:solidFill>
                <a:latin typeface="Calibri"/>
                <a:ea typeface="Calibri"/>
                <a:cs typeface="Calibri"/>
                <a:sym typeface="Calibri"/>
              </a:rPr>
              <a:t>jeevan</a:t>
            </a:r>
            <a:r>
              <a:rPr lang="en-US" sz="1300" b="0" i="0" u="none" strike="noStrike" cap="none" dirty="0">
                <a:solidFill>
                  <a:srgbClr val="5A6377"/>
                </a:solidFill>
                <a:latin typeface="Calibri"/>
                <a:ea typeface="Calibri"/>
                <a:cs typeface="Calibri"/>
                <a:sym typeface="Calibri"/>
              </a:rPr>
              <a:t>, knowingly or not, is asking one question: what makes me happy? Its faculties — resolve, desire, thought, and hope — answer that question by pointing either toward the body or toward coexistence.</a:t>
            </a:r>
            <a:endParaRPr sz="1300" b="0" i="0" u="none" strike="noStrike" cap="none" dirty="0">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name="adj" fmla="val 7031"/>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6"/>
          <p:cNvSpPr/>
          <p:nvPr/>
        </p:nvSpPr>
        <p:spPr>
          <a:xfrm>
            <a:off x="84124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400"/>
              <a:buFont typeface="Cambria"/>
              <a:buNone/>
            </a:pPr>
            <a:r>
              <a:rPr lang="en-US" sz="1400" b="1" i="0" u="none" strike="noStrike" cap="none">
                <a:solidFill>
                  <a:srgbClr val="9A6414"/>
                </a:solidFill>
                <a:latin typeface="Cambria"/>
                <a:ea typeface="Cambria"/>
                <a:cs typeface="Cambria"/>
                <a:sym typeface="Cambria"/>
              </a:rPr>
              <a:t>Delusion</a:t>
            </a:r>
            <a:endParaRPr sz="1400" b="0" i="0" u="none" strike="noStrike" cap="non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jeevan identifies as the body — resolve, desire, thought, and hope pull toward the body — accumulation, comfort, and safety</a:t>
            </a:r>
            <a:endParaRPr sz="1100" b="0" i="0" u="none" strike="noStrike" cap="non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name="adj" fmla="val 703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6"/>
          <p:cNvSpPr/>
          <p:nvPr/>
        </p:nvSpPr>
        <p:spPr>
          <a:xfrm>
            <a:off x="4910328" y="1993392"/>
            <a:ext cx="33832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B4A7A"/>
              </a:buClr>
              <a:buSzPts val="1400"/>
              <a:buFont typeface="Cambria"/>
              <a:buNone/>
            </a:pPr>
            <a:r>
              <a:rPr lang="en-US" sz="1400" b="1" i="0" u="none" strike="noStrike" cap="none">
                <a:solidFill>
                  <a:srgbClr val="3B4A7A"/>
                </a:solidFill>
                <a:latin typeface="Cambria"/>
                <a:ea typeface="Cambria"/>
                <a:cs typeface="Cambria"/>
                <a:sym typeface="Cambria"/>
              </a:rPr>
              <a:t>Awakening</a:t>
            </a:r>
            <a:endParaRPr sz="1400" b="0" i="0" u="none" strike="noStrike" cap="non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0" u="none" strike="noStrike" cap="none">
                <a:solidFill>
                  <a:srgbClr val="5A6377"/>
                </a:solidFill>
                <a:latin typeface="Calibri"/>
                <a:ea typeface="Calibri"/>
                <a:cs typeface="Calibri"/>
                <a:sym typeface="Calibri"/>
              </a:rPr>
              <a:t>jeevan knows its true nature and coexistence — resolve, desire, thought, and hope align around the core self — undivided society, universal orderliness</a:t>
            </a:r>
            <a:endParaRPr sz="1100" b="0" i="0" u="none" strike="noStrike" cap="non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dirty="0">
                <a:solidFill>
                  <a:srgbClr val="1E2447"/>
                </a:solidFill>
                <a:latin typeface="Calibri"/>
                <a:ea typeface="Calibri"/>
                <a:cs typeface="Calibri"/>
                <a:sym typeface="Calibri"/>
              </a:rPr>
              <a:t xml:space="preserve">Same faculties, opposite direction.  </a:t>
            </a:r>
            <a:r>
              <a:rPr lang="en-US" sz="1200" b="0" i="0" u="none" strike="noStrike" cap="none" dirty="0">
                <a:solidFill>
                  <a:srgbClr val="5A6377"/>
                </a:solidFill>
                <a:latin typeface="Calibri"/>
                <a:ea typeface="Calibri"/>
                <a:cs typeface="Calibri"/>
                <a:sym typeface="Calibri"/>
              </a:rPr>
              <a:t>The drive that builds the epistemic ladder (§1.7) runs toward the body in delusion and toward coexistence in awakening — the same faculties, run two ways.</a:t>
            </a:r>
            <a:endParaRPr sz="1250" b="0" i="0" u="none" strike="noStrike" cap="none" dirty="0">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16"/>
          <p:cNvSpPr/>
          <p:nvPr/>
        </p:nvSpPr>
        <p:spPr>
          <a:xfrm>
            <a:off x="64008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Resolution</a:t>
            </a:r>
            <a:endParaRPr sz="1250" b="0" i="0" u="none" strike="noStrike" cap="non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6"/>
          <p:cNvSpPr/>
          <p:nvPr/>
        </p:nvSpPr>
        <p:spPr>
          <a:xfrm>
            <a:off x="265176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Prosperity</a:t>
            </a:r>
            <a:endParaRPr sz="1250" b="0" i="0" u="none" strike="noStrike" cap="non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6"/>
          <p:cNvSpPr/>
          <p:nvPr/>
        </p:nvSpPr>
        <p:spPr>
          <a:xfrm>
            <a:off x="466344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Fearlessness</a:t>
            </a:r>
            <a:endParaRPr sz="1250" b="0" i="0" u="none" strike="noStrike" cap="non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C9821E"/>
              </a:buClr>
              <a:buSzPts val="1600"/>
              <a:buFont typeface="Calibri"/>
              <a:buNone/>
            </a:pPr>
            <a:r>
              <a:rPr lang="en-US" sz="1600" b="1" i="0" u="none" strike="noStrike" cap="none">
                <a:solidFill>
                  <a:srgbClr val="C9821E"/>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name="adj" fmla="val 16364"/>
            </a:avLst>
          </a:prstGeom>
          <a:solidFill>
            <a:srgbClr val="1E24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6"/>
          <p:cNvSpPr/>
          <p:nvPr/>
        </p:nvSpPr>
        <p:spPr>
          <a:xfrm>
            <a:off x="6675120" y="3977640"/>
            <a:ext cx="1691640" cy="5029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50"/>
              <a:buFont typeface="Calibri"/>
              <a:buNone/>
            </a:pPr>
            <a:r>
              <a:rPr lang="en-US" sz="1250" b="1" i="0" u="none" strike="noStrike" cap="none">
                <a:solidFill>
                  <a:srgbClr val="FFFFFF"/>
                </a:solidFill>
                <a:latin typeface="Calibri"/>
                <a:ea typeface="Calibri"/>
                <a:cs typeface="Calibri"/>
                <a:sym typeface="Calibri"/>
              </a:rPr>
              <a:t>Coexistence</a:t>
            </a:r>
            <a:endParaRPr sz="1250" b="0" i="0" u="none" strike="noStrike" cap="non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100"/>
              <a:buFont typeface="Calibri"/>
              <a:buNone/>
            </a:pPr>
            <a:r>
              <a:rPr lang="en-US" sz="1100" b="0" i="1" u="none" strike="noStrike" cap="none">
                <a:solidFill>
                  <a:srgbClr val="5A6377"/>
                </a:solidFill>
                <a:latin typeface="Calibri"/>
                <a:ea typeface="Calibri"/>
                <a:cs typeface="Calibri"/>
                <a:sym typeface="Calibri"/>
              </a:rPr>
              <a:t>The same fork resolved in the individual is evidenced across a human tradition — resolution, prosperity, fearlessness, and coexistence, sustained as tradition (§1.15).</a:t>
            </a:r>
            <a:endParaRPr sz="1100" b="0" i="0" u="none" strike="noStrike" cap="non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JV p. 93 (root of delusion: body mistaken for jeevan)  ·  MVD Ch. 17 (ego → stubbornness → delusion)  ·  JV p. 61; MVD p. 13 (§1.15)</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4"/>
        <p:cNvGrpSpPr/>
        <p:nvPr/>
      </p:nvGrpSpPr>
      <p:grpSpPr>
        <a:xfrm>
          <a:off x="0" y="0"/>
          <a:ext cx="0" cy="0"/>
          <a:chOff x="0" y="0"/>
          <a:chExt cx="0" cy="0"/>
        </a:xfrm>
      </p:grpSpPr>
      <p:sp>
        <p:nvSpPr>
          <p:cNvPr id="455" name="Google Shape;455;p19"/>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9"/>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9"/>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9"/>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§1.13 · WHERE THE DRIVE TERMINATES</a:t>
            </a:r>
            <a:endParaRPr sz="1050" b="0" i="0" u="none" strike="noStrike" cap="none">
              <a:solidFill>
                <a:schemeClr val="dk1"/>
              </a:solidFill>
              <a:latin typeface="Calibri"/>
              <a:ea typeface="Calibri"/>
              <a:cs typeface="Calibri"/>
              <a:sym typeface="Calibri"/>
            </a:endParaRPr>
          </a:p>
        </p:txBody>
      </p:sp>
      <p:sp>
        <p:nvSpPr>
          <p:cNvPr id="459" name="Google Shape;459;p19"/>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Realisation in Coexistence</a:t>
            </a:r>
            <a:endParaRPr sz="3000" b="0" i="0" u="none" strike="noStrike" cap="none">
              <a:solidFill>
                <a:schemeClr val="dk1"/>
              </a:solidFill>
              <a:latin typeface="Calibri"/>
              <a:ea typeface="Calibri"/>
              <a:cs typeface="Calibri"/>
              <a:sym typeface="Calibri"/>
            </a:endParaRPr>
          </a:p>
        </p:txBody>
      </p:sp>
      <p:sp>
        <p:nvSpPr>
          <p:cNvPr id="460" name="Google Shape;460;p19"/>
          <p:cNvSpPr/>
          <p:nvPr/>
        </p:nvSpPr>
        <p:spPr>
          <a:xfrm>
            <a:off x="640080" y="1207008"/>
            <a:ext cx="79552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The drive comes to rest when relationships across nature are fulfilled and made evident in coexistence — not because Omnipotence becomes a knower, but because awakened jeevan lives out what was always latent in the bond. Realisation itself is awakening; recognising and fulfilling then become its living proof.</a:t>
            </a:r>
            <a:endParaRPr sz="1250" b="0" i="0" u="none" strike="noStrike" cap="none">
              <a:solidFill>
                <a:schemeClr val="dk1"/>
              </a:solidFill>
              <a:latin typeface="Calibri"/>
              <a:ea typeface="Calibri"/>
              <a:cs typeface="Calibri"/>
              <a:sym typeface="Calibri"/>
            </a:endParaRPr>
          </a:p>
        </p:txBody>
      </p:sp>
      <p:sp>
        <p:nvSpPr>
          <p:cNvPr id="461" name="Google Shape;461;p19"/>
          <p:cNvSpPr/>
          <p:nvPr/>
        </p:nvSpPr>
        <p:spPr>
          <a:xfrm>
            <a:off x="640080" y="1828800"/>
            <a:ext cx="3794760" cy="1280160"/>
          </a:xfrm>
          <a:prstGeom prst="roundRect">
            <a:avLst>
              <a:gd name="adj" fmla="val 6429"/>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9"/>
          <p:cNvSpPr/>
          <p:nvPr/>
        </p:nvSpPr>
        <p:spPr>
          <a:xfrm>
            <a:off x="841248" y="194767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Realisation is bliss</a:t>
            </a:r>
            <a:endParaRPr sz="1250" b="0" i="0" u="none" strike="noStrike" cap="none">
              <a:solidFill>
                <a:schemeClr val="dk1"/>
              </a:solidFill>
              <a:latin typeface="Calibri"/>
              <a:ea typeface="Calibri"/>
              <a:cs typeface="Calibri"/>
              <a:sym typeface="Calibri"/>
            </a:endParaRPr>
          </a:p>
        </p:txBody>
      </p:sp>
      <p:sp>
        <p:nvSpPr>
          <p:cNvPr id="463" name="Google Shape;463;p19"/>
          <p:cNvSpPr/>
          <p:nvPr/>
        </p:nvSpPr>
        <p:spPr>
          <a:xfrm>
            <a:off x="841248" y="228600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“Truth itself is abundance (coexistence), realisation of abundance itself is bliss, bliss itself is jeevan.” And it is knowledge itself: what is realised is the ground the unit was always soaked in.</a:t>
            </a:r>
            <a:endParaRPr sz="1030" b="0" i="0" u="none" strike="noStrike" cap="none">
              <a:solidFill>
                <a:schemeClr val="dk1"/>
              </a:solidFill>
              <a:latin typeface="Calibri"/>
              <a:ea typeface="Calibri"/>
              <a:cs typeface="Calibri"/>
              <a:sym typeface="Calibri"/>
            </a:endParaRPr>
          </a:p>
        </p:txBody>
      </p:sp>
      <p:sp>
        <p:nvSpPr>
          <p:cNvPr id="464" name="Google Shape;464;p19"/>
          <p:cNvSpPr/>
          <p:nvPr/>
        </p:nvSpPr>
        <p:spPr>
          <a:xfrm>
            <a:off x="4709160" y="1828800"/>
            <a:ext cx="3794760" cy="1280160"/>
          </a:xfrm>
          <a:prstGeom prst="roundRect">
            <a:avLst>
              <a:gd name="adj" fmla="val 6429"/>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9"/>
          <p:cNvSpPr/>
          <p:nvPr/>
        </p:nvSpPr>
        <p:spPr>
          <a:xfrm>
            <a:off x="4910328" y="194767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Knowledge — in projection</a:t>
            </a:r>
            <a:endParaRPr sz="1250" b="0" i="0" u="none" strike="noStrike" cap="none">
              <a:solidFill>
                <a:schemeClr val="dk1"/>
              </a:solidFill>
              <a:latin typeface="Calibri"/>
              <a:ea typeface="Calibri"/>
              <a:cs typeface="Calibri"/>
              <a:sym typeface="Calibri"/>
            </a:endParaRPr>
          </a:p>
        </p:txBody>
      </p:sp>
      <p:sp>
        <p:nvSpPr>
          <p:cNvPr id="466" name="Google Shape;466;p19"/>
          <p:cNvSpPr/>
          <p:nvPr/>
        </p:nvSpPr>
        <p:spPr>
          <a:xfrm>
            <a:off x="4910328" y="228600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Realisation projected outward is authenticity — knowledge, wisdom, and science unfolding into conduct.</a:t>
            </a:r>
            <a:endParaRPr sz="1030" b="0" i="0" u="none" strike="noStrike" cap="none">
              <a:solidFill>
                <a:schemeClr val="dk1"/>
              </a:solidFill>
              <a:latin typeface="Calibri"/>
              <a:ea typeface="Calibri"/>
              <a:cs typeface="Calibri"/>
              <a:sym typeface="Calibri"/>
            </a:endParaRPr>
          </a:p>
        </p:txBody>
      </p:sp>
      <p:sp>
        <p:nvSpPr>
          <p:cNvPr id="467" name="Google Shape;467;p19"/>
          <p:cNvSpPr/>
          <p:nvPr/>
        </p:nvSpPr>
        <p:spPr>
          <a:xfrm>
            <a:off x="640080" y="3246120"/>
            <a:ext cx="3794760" cy="1280160"/>
          </a:xfrm>
          <a:prstGeom prst="roundRect">
            <a:avLst>
              <a:gd name="adj" fmla="val 6429"/>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9"/>
          <p:cNvSpPr/>
          <p:nvPr/>
        </p:nvSpPr>
        <p:spPr>
          <a:xfrm>
            <a:off x="841248" y="336499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Knower — in reflection</a:t>
            </a:r>
            <a:endParaRPr sz="1250" b="0" i="0" u="none" strike="noStrike" cap="none">
              <a:solidFill>
                <a:schemeClr val="dk1"/>
              </a:solidFill>
              <a:latin typeface="Calibri"/>
              <a:ea typeface="Calibri"/>
              <a:cs typeface="Calibri"/>
              <a:sym typeface="Calibri"/>
            </a:endParaRPr>
          </a:p>
        </p:txBody>
      </p:sp>
      <p:sp>
        <p:nvSpPr>
          <p:cNvPr id="469" name="Google Shape;469;p19"/>
          <p:cNvSpPr/>
          <p:nvPr/>
        </p:nvSpPr>
        <p:spPr>
          <a:xfrm>
            <a:off x="841248" y="370332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The knower is jeevan filled with realisation. When resolve turns inward to the core self, self-realisation and realisation in coexistence arrive together.</a:t>
            </a:r>
            <a:endParaRPr sz="1030" b="0" i="0" u="none" strike="noStrike" cap="none">
              <a:solidFill>
                <a:schemeClr val="dk1"/>
              </a:solidFill>
              <a:latin typeface="Calibri"/>
              <a:ea typeface="Calibri"/>
              <a:cs typeface="Calibri"/>
              <a:sym typeface="Calibri"/>
            </a:endParaRPr>
          </a:p>
        </p:txBody>
      </p:sp>
      <p:sp>
        <p:nvSpPr>
          <p:cNvPr id="470" name="Google Shape;470;p19"/>
          <p:cNvSpPr/>
          <p:nvPr/>
        </p:nvSpPr>
        <p:spPr>
          <a:xfrm>
            <a:off x="4709160" y="3246120"/>
            <a:ext cx="3794760" cy="1280160"/>
          </a:xfrm>
          <a:prstGeom prst="roundRect">
            <a:avLst>
              <a:gd name="adj" fmla="val 6429"/>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9"/>
          <p:cNvSpPr/>
          <p:nvPr/>
        </p:nvSpPr>
        <p:spPr>
          <a:xfrm>
            <a:off x="4910328" y="3364992"/>
            <a:ext cx="34290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50"/>
              <a:buFont typeface="Cambria"/>
              <a:buNone/>
            </a:pPr>
            <a:r>
              <a:rPr lang="en-US" sz="1250" b="1" i="0" u="none" strike="noStrike" cap="none">
                <a:solidFill>
                  <a:srgbClr val="9A6414"/>
                </a:solidFill>
                <a:latin typeface="Cambria"/>
                <a:ea typeface="Cambria"/>
                <a:cs typeface="Cambria"/>
                <a:sym typeface="Cambria"/>
              </a:rPr>
              <a:t>Knowable — and no merger</a:t>
            </a:r>
            <a:endParaRPr sz="1250" b="0" i="0" u="none" strike="noStrike" cap="none">
              <a:solidFill>
                <a:schemeClr val="dk1"/>
              </a:solidFill>
              <a:latin typeface="Calibri"/>
              <a:ea typeface="Calibri"/>
              <a:cs typeface="Calibri"/>
              <a:sym typeface="Calibri"/>
            </a:endParaRPr>
          </a:p>
        </p:txBody>
      </p:sp>
      <p:sp>
        <p:nvSpPr>
          <p:cNvPr id="472" name="Google Shape;472;p19"/>
          <p:cNvSpPr/>
          <p:nvPr/>
        </p:nvSpPr>
        <p:spPr>
          <a:xfrm>
            <a:off x="4910328" y="3703320"/>
            <a:ext cx="342900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030"/>
              <a:buFont typeface="Calibri"/>
              <a:buNone/>
            </a:pPr>
            <a:r>
              <a:rPr lang="en-US" sz="1030" b="0" i="0" u="none" strike="noStrike" cap="none">
                <a:solidFill>
                  <a:srgbClr val="5A6377"/>
                </a:solidFill>
                <a:latin typeface="Calibri"/>
                <a:ea typeface="Calibri"/>
                <a:cs typeface="Calibri"/>
                <a:sym typeface="Calibri"/>
              </a:rPr>
              <a:t>What is known is existence itself — nature saturated in Omnipotence. Knowledge, knower, and known become uniform as roles in one bond — not a merger: the knower remains a distinct jeevan.</a:t>
            </a:r>
            <a:endParaRPr sz="1030" b="0" i="0" u="none" strike="noStrike" cap="none">
              <a:solidFill>
                <a:schemeClr val="dk1"/>
              </a:solidFill>
              <a:latin typeface="Calibri"/>
              <a:ea typeface="Calibri"/>
              <a:cs typeface="Calibri"/>
              <a:sym typeface="Calibri"/>
            </a:endParaRPr>
          </a:p>
        </p:txBody>
      </p:sp>
      <p:sp>
        <p:nvSpPr>
          <p:cNvPr id="473" name="Google Shape;473;p19"/>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“In the state of realisation in existence, uniformity in knowledge, knowable &amp; knower has been observed to be in the form of coexistence” — AVD p. 217 · SB p. 81 · MVD pp. 14–15</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2447"/>
        </a:solidFill>
        <a:effectLst/>
      </p:bgPr>
    </p:bg>
    <p:spTree>
      <p:nvGrpSpPr>
        <p:cNvPr id="1" name="Shape 508"/>
        <p:cNvGrpSpPr/>
        <p:nvPr/>
      </p:nvGrpSpPr>
      <p:grpSpPr>
        <a:xfrm>
          <a:off x="0" y="0"/>
          <a:ext cx="0" cy="0"/>
          <a:chOff x="0" y="0"/>
          <a:chExt cx="0" cy="0"/>
        </a:xfrm>
      </p:grpSpPr>
      <p:sp>
        <p:nvSpPr>
          <p:cNvPr id="509" name="Google Shape;509;p21"/>
          <p:cNvSpPr/>
          <p:nvPr/>
        </p:nvSpPr>
        <p:spPr>
          <a:xfrm>
            <a:off x="5852160" y="822960"/>
            <a:ext cx="3291840" cy="329184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1"/>
          <p:cNvSpPr/>
          <p:nvPr/>
        </p:nvSpPr>
        <p:spPr>
          <a:xfrm>
            <a:off x="6510528" y="1481328"/>
            <a:ext cx="1975104" cy="1975104"/>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1"/>
          <p:cNvSpPr/>
          <p:nvPr/>
        </p:nvSpPr>
        <p:spPr>
          <a:xfrm>
            <a:off x="7070141" y="2040941"/>
            <a:ext cx="855878" cy="85587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1"/>
          <p:cNvSpPr/>
          <p:nvPr/>
        </p:nvSpPr>
        <p:spPr>
          <a:xfrm>
            <a:off x="5394960" y="3566160"/>
            <a:ext cx="1097280" cy="109728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1"/>
          <p:cNvSpPr/>
          <p:nvPr/>
        </p:nvSpPr>
        <p:spPr>
          <a:xfrm>
            <a:off x="5614416" y="3785616"/>
            <a:ext cx="658368" cy="658368"/>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1"/>
          <p:cNvSpPr/>
          <p:nvPr/>
        </p:nvSpPr>
        <p:spPr>
          <a:xfrm>
            <a:off x="5800954" y="3972154"/>
            <a:ext cx="285293" cy="285293"/>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1"/>
          <p:cNvSpPr/>
          <p:nvPr/>
        </p:nvSpPr>
        <p:spPr>
          <a:xfrm>
            <a:off x="8138160" y="4023360"/>
            <a:ext cx="731520" cy="73152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1"/>
          <p:cNvSpPr/>
          <p:nvPr/>
        </p:nvSpPr>
        <p:spPr>
          <a:xfrm>
            <a:off x="8284464" y="4169664"/>
            <a:ext cx="438912" cy="438912"/>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1"/>
          <p:cNvSpPr/>
          <p:nvPr/>
        </p:nvSpPr>
        <p:spPr>
          <a:xfrm>
            <a:off x="8408822" y="4294022"/>
            <a:ext cx="190195" cy="190195"/>
          </a:xfrm>
          <a:prstGeom prst="ellipse">
            <a:avLst/>
          </a:prstGeom>
          <a:solidFill>
            <a:srgbClr val="C9D4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1"/>
          <p:cNvSpPr/>
          <p:nvPr/>
        </p:nvSpPr>
        <p:spPr>
          <a:xfrm>
            <a:off x="640080" y="1234440"/>
            <a:ext cx="58521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821E"/>
              </a:buClr>
              <a:buSzPts val="1200"/>
              <a:buFont typeface="Calibri"/>
              <a:buNone/>
            </a:pPr>
            <a:r>
              <a:rPr lang="en-US" sz="1200" b="1" i="0" u="none" strike="noStrike" cap="none">
                <a:solidFill>
                  <a:srgbClr val="C9821E"/>
                </a:solidFill>
                <a:latin typeface="Calibri"/>
                <a:ea typeface="Calibri"/>
                <a:cs typeface="Calibri"/>
                <a:sym typeface="Calibri"/>
              </a:rPr>
              <a:t>THE CULMINATION  ·  BUILT INTO THE DESIGN</a:t>
            </a:r>
            <a:endParaRPr sz="1200" b="0" i="0" u="none" strike="noStrike" cap="none">
              <a:solidFill>
                <a:schemeClr val="dk1"/>
              </a:solidFill>
              <a:latin typeface="Calibri"/>
              <a:ea typeface="Calibri"/>
              <a:cs typeface="Calibri"/>
              <a:sym typeface="Calibri"/>
            </a:endParaRPr>
          </a:p>
        </p:txBody>
      </p:sp>
      <p:sp>
        <p:nvSpPr>
          <p:cNvPr id="519" name="Google Shape;519;p21"/>
          <p:cNvSpPr/>
          <p:nvPr/>
        </p:nvSpPr>
        <p:spPr>
          <a:xfrm>
            <a:off x="640080" y="1572768"/>
            <a:ext cx="5577840" cy="137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400"/>
              <a:buFont typeface="Cambria"/>
              <a:buNone/>
            </a:pPr>
            <a:r>
              <a:rPr lang="en-US" sz="4400" b="1" i="0" u="none" strike="noStrike" cap="none">
                <a:solidFill>
                  <a:srgbClr val="FFFFFF"/>
                </a:solidFill>
                <a:latin typeface="Cambria"/>
                <a:ea typeface="Cambria"/>
                <a:cs typeface="Cambria"/>
                <a:sym typeface="Cambria"/>
              </a:rPr>
              <a:t>An Awakened Human Tradition</a:t>
            </a:r>
            <a:endParaRPr sz="4400" b="0" i="0" u="none" strike="noStrike" cap="none">
              <a:solidFill>
                <a:schemeClr val="dk1"/>
              </a:solidFill>
              <a:latin typeface="Calibri"/>
              <a:ea typeface="Calibri"/>
              <a:cs typeface="Calibri"/>
              <a:sym typeface="Calibri"/>
            </a:endParaRPr>
          </a:p>
        </p:txBody>
      </p:sp>
      <p:sp>
        <p:nvSpPr>
          <p:cNvPr id="520" name="Google Shape;520;p21"/>
          <p:cNvSpPr/>
          <p:nvPr/>
        </p:nvSpPr>
        <p:spPr>
          <a:xfrm>
            <a:off x="640080" y="3050000"/>
            <a:ext cx="484632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D4EF"/>
              </a:buClr>
              <a:buSzPts val="1600"/>
              <a:buFont typeface="Calibri"/>
              <a:buNone/>
            </a:pPr>
            <a:r>
              <a:rPr lang="en-US" sz="1600" b="0" i="1" u="none" strike="noStrike" cap="none">
                <a:solidFill>
                  <a:srgbClr val="C9D4EF"/>
                </a:solidFill>
                <a:latin typeface="Calibri"/>
                <a:ea typeface="Calibri"/>
                <a:cs typeface="Calibri"/>
                <a:sym typeface="Calibri"/>
              </a:rPr>
              <a:t>The drive toward completeness comes to rest in awakened human beings — effort settled, understanding proven in daily conduct.</a:t>
            </a:r>
            <a:endParaRPr sz="1600" b="0" i="0" u="none" strike="noStrike" cap="none">
              <a:solidFill>
                <a:schemeClr val="dk1"/>
              </a:solidFill>
              <a:latin typeface="Calibri"/>
              <a:ea typeface="Calibri"/>
              <a:cs typeface="Calibri"/>
              <a:sym typeface="Calibri"/>
            </a:endParaRPr>
          </a:p>
        </p:txBody>
      </p:sp>
      <p:sp>
        <p:nvSpPr>
          <p:cNvPr id="600" name="Google Shape;600;p21"/>
          <p:cNvSpPr/>
          <p:nvPr/>
        </p:nvSpPr>
        <p:spPr>
          <a:xfrm>
            <a:off x="64008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21"/>
          <p:cNvSpPr/>
          <p:nvPr/>
        </p:nvSpPr>
        <p:spPr>
          <a:xfrm>
            <a:off x="72237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Resolution</a:t>
            </a:r>
            <a:endParaRPr sz="1050" b="0" i="0" u="none" strike="noStrike" cap="none">
              <a:solidFill>
                <a:schemeClr val="dk1"/>
              </a:solidFill>
              <a:latin typeface="Calibri"/>
              <a:ea typeface="Calibri"/>
              <a:cs typeface="Calibri"/>
              <a:sym typeface="Calibri"/>
            </a:endParaRPr>
          </a:p>
        </p:txBody>
      </p:sp>
      <p:sp>
        <p:nvSpPr>
          <p:cNvPr id="602" name="Google Shape;602;p21"/>
          <p:cNvSpPr/>
          <p:nvPr/>
        </p:nvSpPr>
        <p:spPr>
          <a:xfrm>
            <a:off x="72237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in every person</a:t>
            </a:r>
            <a:endParaRPr sz="900" b="0" i="0" u="none" strike="noStrike" cap="none">
              <a:solidFill>
                <a:schemeClr val="dk1"/>
              </a:solidFill>
              <a:latin typeface="Calibri"/>
              <a:ea typeface="Calibri"/>
              <a:cs typeface="Calibri"/>
              <a:sym typeface="Calibri"/>
            </a:endParaRPr>
          </a:p>
        </p:txBody>
      </p:sp>
      <p:sp>
        <p:nvSpPr>
          <p:cNvPr id="603" name="Google Shape;603;p21"/>
          <p:cNvSpPr/>
          <p:nvPr/>
        </p:nvSpPr>
        <p:spPr>
          <a:xfrm>
            <a:off x="184880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21"/>
          <p:cNvSpPr/>
          <p:nvPr/>
        </p:nvSpPr>
        <p:spPr>
          <a:xfrm>
            <a:off x="193109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Prosperity</a:t>
            </a:r>
            <a:endParaRPr sz="1050" b="0" i="0" u="none" strike="noStrike" cap="none">
              <a:solidFill>
                <a:schemeClr val="dk1"/>
              </a:solidFill>
              <a:latin typeface="Calibri"/>
              <a:ea typeface="Calibri"/>
              <a:cs typeface="Calibri"/>
              <a:sym typeface="Calibri"/>
            </a:endParaRPr>
          </a:p>
        </p:txBody>
      </p:sp>
      <p:sp>
        <p:nvSpPr>
          <p:cNvPr id="605" name="Google Shape;605;p21"/>
          <p:cNvSpPr/>
          <p:nvPr/>
        </p:nvSpPr>
        <p:spPr>
          <a:xfrm>
            <a:off x="193109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in every family</a:t>
            </a:r>
            <a:endParaRPr sz="900" b="0" i="0" u="none" strike="noStrike" cap="none">
              <a:solidFill>
                <a:schemeClr val="dk1"/>
              </a:solidFill>
              <a:latin typeface="Calibri"/>
              <a:ea typeface="Calibri"/>
              <a:cs typeface="Calibri"/>
              <a:sym typeface="Calibri"/>
            </a:endParaRPr>
          </a:p>
        </p:txBody>
      </p:sp>
      <p:sp>
        <p:nvSpPr>
          <p:cNvPr id="606" name="Google Shape;606;p21"/>
          <p:cNvSpPr/>
          <p:nvPr/>
        </p:nvSpPr>
        <p:spPr>
          <a:xfrm>
            <a:off x="305752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21"/>
          <p:cNvSpPr/>
          <p:nvPr/>
        </p:nvSpPr>
        <p:spPr>
          <a:xfrm>
            <a:off x="313981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Fearlessness</a:t>
            </a:r>
            <a:endParaRPr sz="1050" b="0" i="0" u="none" strike="noStrike" cap="none">
              <a:solidFill>
                <a:schemeClr val="dk1"/>
              </a:solidFill>
              <a:latin typeface="Calibri"/>
              <a:ea typeface="Calibri"/>
              <a:cs typeface="Calibri"/>
              <a:sym typeface="Calibri"/>
            </a:endParaRPr>
          </a:p>
        </p:txBody>
      </p:sp>
      <p:sp>
        <p:nvSpPr>
          <p:cNvPr id="608" name="Google Shape;608;p21"/>
          <p:cNvSpPr/>
          <p:nvPr/>
        </p:nvSpPr>
        <p:spPr>
          <a:xfrm>
            <a:off x="313981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trust in society</a:t>
            </a:r>
            <a:endParaRPr sz="900" b="0" i="0" u="none" strike="noStrike" cap="none">
              <a:solidFill>
                <a:schemeClr val="dk1"/>
              </a:solidFill>
              <a:latin typeface="Calibri"/>
              <a:ea typeface="Calibri"/>
              <a:cs typeface="Calibri"/>
              <a:sym typeface="Calibri"/>
            </a:endParaRPr>
          </a:p>
        </p:txBody>
      </p:sp>
      <p:sp>
        <p:nvSpPr>
          <p:cNvPr id="609" name="Google Shape;609;p21"/>
          <p:cNvSpPr/>
          <p:nvPr/>
        </p:nvSpPr>
        <p:spPr>
          <a:xfrm>
            <a:off x="4266240" y="3820000"/>
            <a:ext cx="1128720" cy="750000"/>
          </a:xfrm>
          <a:prstGeom prst="roundRect">
            <a:avLst>
              <a:gd name="adj" fmla="val 8696"/>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21"/>
          <p:cNvSpPr/>
          <p:nvPr/>
        </p:nvSpPr>
        <p:spPr>
          <a:xfrm>
            <a:off x="4348536" y="3902296"/>
            <a:ext cx="964128" cy="32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mbria"/>
              <a:buNone/>
            </a:pPr>
            <a:r>
              <a:rPr lang="en-US" sz="1050" b="1" i="0" u="none" strike="noStrike" cap="none">
                <a:solidFill>
                  <a:srgbClr val="FFFFFF"/>
                </a:solidFill>
                <a:latin typeface="Cambria"/>
                <a:ea typeface="Cambria"/>
                <a:cs typeface="Cambria"/>
                <a:sym typeface="Cambria"/>
              </a:rPr>
              <a:t>Coexistence</a:t>
            </a:r>
            <a:endParaRPr sz="1050" b="0" i="0" u="none" strike="noStrike" cap="none">
              <a:solidFill>
                <a:schemeClr val="dk1"/>
              </a:solidFill>
              <a:latin typeface="Calibri"/>
              <a:ea typeface="Calibri"/>
              <a:cs typeface="Calibri"/>
              <a:sym typeface="Calibri"/>
            </a:endParaRPr>
          </a:p>
        </p:txBody>
      </p:sp>
      <p:sp>
        <p:nvSpPr>
          <p:cNvPr id="611" name="Google Shape;611;p21"/>
          <p:cNvSpPr/>
          <p:nvPr/>
        </p:nvSpPr>
        <p:spPr>
          <a:xfrm>
            <a:off x="4348536" y="4222296"/>
            <a:ext cx="964128" cy="2654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9D4EF"/>
              </a:buClr>
              <a:buSzPts val="900"/>
              <a:buFont typeface="Calibri"/>
              <a:buNone/>
            </a:pPr>
            <a:r>
              <a:rPr lang="en-US" sz="900" b="0" i="1" u="none" strike="noStrike" cap="none">
                <a:solidFill>
                  <a:srgbClr val="C9D4EF"/>
                </a:solidFill>
                <a:latin typeface="Calibri"/>
                <a:ea typeface="Calibri"/>
                <a:cs typeface="Calibri"/>
                <a:sym typeface="Calibri"/>
              </a:rPr>
              <a:t>with all of nature</a:t>
            </a:r>
            <a:endParaRPr sz="900" b="0" i="0" u="none" strike="noStrike" cap="none">
              <a:solidFill>
                <a:schemeClr val="dk1"/>
              </a:solidFill>
              <a:latin typeface="Calibri"/>
              <a:ea typeface="Calibri"/>
              <a:cs typeface="Calibri"/>
              <a:sym typeface="Calibri"/>
            </a:endParaRPr>
          </a:p>
        </p:txBody>
      </p:sp>
      <p:sp>
        <p:nvSpPr>
          <p:cNvPr id="522" name="Google Shape;522;p21"/>
          <p:cNvSpPr/>
          <p:nvPr/>
        </p:nvSpPr>
        <p:spPr>
          <a:xfrm>
            <a:off x="640080" y="4650000"/>
            <a:ext cx="4754880" cy="4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150"/>
              <a:buFont typeface="Calibri"/>
              <a:buNone/>
            </a:pPr>
            <a:r>
              <a:rPr lang="en-US" sz="1150" b="0" i="0" u="none" strike="noStrike" cap="none">
                <a:solidFill>
                  <a:srgbClr val="8E9BC4"/>
                </a:solidFill>
                <a:latin typeface="Calibri"/>
                <a:ea typeface="Calibri"/>
                <a:cs typeface="Calibri"/>
                <a:sym typeface="Calibri"/>
              </a:rPr>
              <a:t>A humane tradition: each generation raised into the same understanding — universal orderliness sustained across education, justice, health, production, and exchange.</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E2447"/>
        </a:solidFill>
        <a:effectLst/>
      </p:bgPr>
    </p:bg>
    <p:spTree>
      <p:nvGrpSpPr>
        <p:cNvPr id="1" name="Shape 527"/>
        <p:cNvGrpSpPr/>
        <p:nvPr/>
      </p:nvGrpSpPr>
      <p:grpSpPr>
        <a:xfrm>
          <a:off x="0" y="0"/>
          <a:ext cx="0" cy="0"/>
          <a:chOff x="0" y="0"/>
          <a:chExt cx="0" cy="0"/>
        </a:xfrm>
      </p:grpSpPr>
      <p:sp>
        <p:nvSpPr>
          <p:cNvPr id="528" name="Google Shape;528;p22"/>
          <p:cNvSpPr/>
          <p:nvPr/>
        </p:nvSpPr>
        <p:spPr>
          <a:xfrm>
            <a:off x="7635240" y="411480"/>
            <a:ext cx="1005840" cy="1005840"/>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2"/>
          <p:cNvSpPr/>
          <p:nvPr/>
        </p:nvSpPr>
        <p:spPr>
          <a:xfrm>
            <a:off x="7836408" y="612648"/>
            <a:ext cx="603504" cy="603504"/>
          </a:xfrm>
          <a:prstGeom prst="ellipse">
            <a:avLst/>
          </a:prstGeom>
          <a:noFill/>
          <a:ln w="15875" cap="flat" cmpd="sng">
            <a:solidFill>
              <a:srgbClr val="44507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2"/>
          <p:cNvSpPr/>
          <p:nvPr/>
        </p:nvSpPr>
        <p:spPr>
          <a:xfrm>
            <a:off x="8007401" y="783641"/>
            <a:ext cx="261518" cy="26151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2"/>
          <p:cNvSpPr/>
          <p:nvPr/>
        </p:nvSpPr>
        <p:spPr>
          <a:xfrm>
            <a:off x="640080" y="457200"/>
            <a:ext cx="66751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9821E"/>
              </a:buClr>
              <a:buSzPts val="1200"/>
              <a:buFont typeface="Calibri"/>
              <a:buNone/>
            </a:pPr>
            <a:r>
              <a:rPr lang="en-US" sz="1200" b="1" i="0" u="none" strike="noStrike" cap="none">
                <a:solidFill>
                  <a:srgbClr val="C9821E"/>
                </a:solidFill>
                <a:latin typeface="Calibri"/>
                <a:ea typeface="Calibri"/>
                <a:cs typeface="Calibri"/>
                <a:sym typeface="Calibri"/>
              </a:rPr>
              <a:t>WHAT MADHYASTH DARSHAN ESTABLISHES</a:t>
            </a:r>
            <a:endParaRPr sz="1200" b="0" i="0" u="none" strike="noStrike" cap="none">
              <a:solidFill>
                <a:schemeClr val="dk1"/>
              </a:solidFill>
              <a:latin typeface="Calibri"/>
              <a:ea typeface="Calibri"/>
              <a:cs typeface="Calibri"/>
              <a:sym typeface="Calibri"/>
            </a:endParaRPr>
          </a:p>
        </p:txBody>
      </p:sp>
      <p:sp>
        <p:nvSpPr>
          <p:cNvPr id="532" name="Google Shape;532;p22"/>
          <p:cNvSpPr/>
          <p:nvPr/>
        </p:nvSpPr>
        <p:spPr>
          <a:xfrm>
            <a:off x="640080" y="749808"/>
            <a:ext cx="68580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The Questions, Answered</a:t>
            </a:r>
            <a:endParaRPr sz="3200" b="0" i="0" u="none" strike="noStrike" cap="none">
              <a:solidFill>
                <a:schemeClr val="dk1"/>
              </a:solidFill>
              <a:latin typeface="Calibri"/>
              <a:ea typeface="Calibri"/>
              <a:cs typeface="Calibri"/>
              <a:sym typeface="Calibri"/>
            </a:endParaRPr>
          </a:p>
        </p:txBody>
      </p:sp>
      <p:graphicFrame>
        <p:nvGraphicFramePr>
          <p:cNvPr id="533" name="Google Shape;533;p22"/>
          <p:cNvGraphicFramePr/>
          <p:nvPr/>
        </p:nvGraphicFramePr>
        <p:xfrm>
          <a:off x="640080" y="1508760"/>
          <a:ext cx="7863850" cy="2688300"/>
        </p:xfrm>
        <a:graphic>
          <a:graphicData uri="http://schemas.openxmlformats.org/drawingml/2006/table">
            <a:tbl>
              <a:tblPr>
                <a:noFill/>
                <a:tableStyleId>{6C92A692-798E-4634-90B1-36CD3966BFCB}</a:tableStyleId>
              </a:tblPr>
              <a:tblGrid>
                <a:gridCol w="237745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47475">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Question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2B3560"/>
                    </a:solidFill>
                  </a:tcPr>
                </a:tc>
                <a:tc>
                  <a:txBody>
                    <a:bodyPr/>
                    <a:lstStyle/>
                    <a:p>
                      <a:pPr marL="0" marR="0" lvl="0" indent="0" algn="l" rtl="0">
                        <a:spcBef>
                          <a:spcPts val="0"/>
                        </a:spcBef>
                        <a:spcAft>
                          <a:spcPts val="0"/>
                        </a:spcAft>
                        <a:buClr>
                          <a:srgbClr val="FFFFFF"/>
                        </a:buClr>
                        <a:buSzPts val="1200"/>
                        <a:buFont typeface="Calibri"/>
                        <a:buNone/>
                      </a:pPr>
                      <a:r>
                        <a:rPr lang="en-US" sz="1200" b="1" u="none" strike="noStrike" cap="none">
                          <a:solidFill>
                            <a:srgbClr val="FFFFFF"/>
                          </a:solidFill>
                          <a:latin typeface="Calibri"/>
                          <a:ea typeface="Calibri"/>
                          <a:cs typeface="Calibri"/>
                          <a:sym typeface="Calibri"/>
                        </a:rPr>
                        <a:t>Madhyasth Darshan answer</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2B3560"/>
                    </a:solidFill>
                  </a:tcPr>
                </a:tc>
                <a:extLst>
                  <a:ext uri="{0D108BD9-81ED-4DB2-BD59-A6C34878D82A}">
                    <a16:rowId xmlns:a16="http://schemas.microsoft.com/office/drawing/2014/main" val="10000"/>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What is existence?</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The eternal coexistence of Omnipotence and units</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1"/>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What exists?</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Omnipotence and countable units of nature</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2"/>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Does it begin?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No; only temporary configurations do</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3"/>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Does the self begin?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Jeevan is immortal by its very nature; it does not end with the body</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4"/>
                  </a:ext>
                </a:extLst>
              </a:tr>
              <a:tr h="365750">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Is the world real?</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Yes — the world is perpetual</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5"/>
                  </a:ext>
                </a:extLst>
              </a:tr>
              <a:tr h="512075">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How can it be known?</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tc>
                  <a:txBody>
                    <a:bodyPr/>
                    <a:lstStyle/>
                    <a:p>
                      <a:pPr marL="0" marR="0" lvl="0" indent="0" algn="l" rtl="0">
                        <a:spcBef>
                          <a:spcPts val="0"/>
                        </a:spcBef>
                        <a:spcAft>
                          <a:spcPts val="0"/>
                        </a:spcAft>
                        <a:buClr>
                          <a:srgbClr val="C9D4EF"/>
                        </a:buClr>
                        <a:buSzPts val="1200"/>
                        <a:buFont typeface="Calibri"/>
                        <a:buNone/>
                      </a:pPr>
                      <a:r>
                        <a:rPr lang="en-US" sz="1200" u="none" strike="noStrike" cap="none">
                          <a:solidFill>
                            <a:srgbClr val="C9D4EF"/>
                          </a:solidFill>
                          <a:latin typeface="Calibri"/>
                          <a:ea typeface="Calibri"/>
                          <a:cs typeface="Calibri"/>
                          <a:sym typeface="Calibri"/>
                        </a:rPr>
                        <a:t>Staged study → practice → realisation, evidenced in conduct — each aspect known at its scope, from the unit alone to the whole</a:t>
                      </a:r>
                      <a:endParaRPr sz="1200" u="none" strike="noStrike" cap="none">
                        <a:latin typeface="Calibri"/>
                        <a:ea typeface="Calibri"/>
                        <a:cs typeface="Calibri"/>
                        <a:sym typeface="Calibri"/>
                      </a:endParaRPr>
                    </a:p>
                  </a:txBody>
                  <a:tcPr marL="54875" marR="54875" marT="54875" marB="54875" anchor="ctr">
                    <a:lnL w="9525" cap="flat" cmpd="sng">
                      <a:solidFill>
                        <a:srgbClr val="3B4A7A"/>
                      </a:solidFill>
                      <a:prstDash val="solid"/>
                      <a:round/>
                      <a:headEnd type="none" w="sm" len="sm"/>
                      <a:tailEnd type="none" w="sm" len="sm"/>
                    </a:lnL>
                    <a:lnR w="9525" cap="flat" cmpd="sng">
                      <a:solidFill>
                        <a:srgbClr val="3B4A7A"/>
                      </a:solidFill>
                      <a:prstDash val="solid"/>
                      <a:round/>
                      <a:headEnd type="none" w="sm" len="sm"/>
                      <a:tailEnd type="none" w="sm" len="sm"/>
                    </a:lnR>
                    <a:lnT w="9525" cap="flat" cmpd="sng">
                      <a:solidFill>
                        <a:srgbClr val="3B4A7A"/>
                      </a:solidFill>
                      <a:prstDash val="solid"/>
                      <a:round/>
                      <a:headEnd type="none" w="sm" len="sm"/>
                      <a:tailEnd type="none" w="sm" len="sm"/>
                    </a:lnT>
                    <a:lnB w="9525" cap="flat" cmpd="sng">
                      <a:solidFill>
                        <a:srgbClr val="3B4A7A"/>
                      </a:solidFill>
                      <a:prstDash val="solid"/>
                      <a:round/>
                      <a:headEnd type="none" w="sm" len="sm"/>
                      <a:tailEnd type="none" w="sm" len="sm"/>
                    </a:lnB>
                    <a:solidFill>
                      <a:srgbClr val="1E2447"/>
                    </a:solidFill>
                  </a:tcPr>
                </a:tc>
                <a:extLst>
                  <a:ext uri="{0D108BD9-81ED-4DB2-BD59-A6C34878D82A}">
                    <a16:rowId xmlns:a16="http://schemas.microsoft.com/office/drawing/2014/main" val="10006"/>
                  </a:ext>
                </a:extLst>
              </a:tr>
            </a:tbl>
          </a:graphicData>
        </a:graphic>
      </p:graphicFrame>
      <p:sp>
        <p:nvSpPr>
          <p:cNvPr id="534" name="Google Shape;534;p22"/>
          <p:cNvSpPr/>
          <p:nvPr/>
        </p:nvSpPr>
        <p:spPr>
          <a:xfrm>
            <a:off x="640080" y="4526280"/>
            <a:ext cx="78638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E9BC4"/>
              </a:buClr>
              <a:buSzPts val="1200"/>
              <a:buFont typeface="Calibri"/>
              <a:buNone/>
            </a:pPr>
            <a:r>
              <a:rPr lang="en-US" sz="1200" b="0" i="1" u="none" strike="noStrike" cap="none">
                <a:solidFill>
                  <a:srgbClr val="8E9BC4"/>
                </a:solidFill>
                <a:latin typeface="Calibri"/>
                <a:ea typeface="Calibri"/>
                <a:cs typeface="Calibri"/>
                <a:sym typeface="Calibri"/>
              </a:rPr>
              <a:t>Lived verification through humane conduct is the final proof of realisation — §1.16</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0"/>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0"/>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0"/>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KD CH.1 · KARMA</a:t>
            </a:r>
            <a:endParaRPr sz="1050" b="0" i="0" u="none" strike="noStrike" cap="non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Structure of Karma</a:t>
            </a:r>
            <a:endParaRPr sz="3000" b="0" i="0" u="none" strike="noStrike" cap="non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Every karma — every activity done with desire — carries five limbs: doer, cause, objective, result, and effect. Understanding alone changes nothing; it is the doing that yields the fruit. Desire, karma, and result must balance for the desire to be truly accomplished — book knowledge is only half the work.</a:t>
            </a:r>
            <a:endParaRPr sz="1250" b="0" i="0" u="none" strike="noStrike" cap="non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0"/>
          <p:cNvSpPr/>
          <p:nvPr/>
        </p:nvSpPr>
        <p:spPr>
          <a:xfrm>
            <a:off x="12344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Desire</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aspiration</a:t>
            </a:r>
            <a:endParaRPr sz="1200" b="0" i="0" u="none" strike="noStrike" cap="non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something wished for</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desire seeks fulfilment</a:t>
            </a:r>
            <a:endParaRPr sz="950" b="0" i="0" u="none" strike="noStrike" cap="non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0632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Karma</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doing</a:t>
            </a:r>
            <a:endParaRPr sz="1200" b="0" i="0" u="none" strike="noStrike" cap="non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activity in the world</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activity + aspiration = karma</a:t>
            </a:r>
            <a:endParaRPr sz="950" b="0" i="0" u="none" strike="noStrike" cap="non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48920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Result</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fruit</a:t>
            </a:r>
            <a:endParaRPr sz="1200" b="0" i="0" u="none" strike="noStrike" cap="non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satisfaction of desire</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balance of desire-karma-result</a:t>
            </a:r>
            <a:endParaRPr sz="950" b="0" i="0" u="none" strike="noStrike" cap="non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name="adj" fmla="val 465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0"/>
          <p:cNvSpPr/>
          <p:nvPr/>
        </p:nvSpPr>
        <p:spPr>
          <a:xfrm>
            <a:off x="6903720" y="2331720"/>
            <a:ext cx="1627632" cy="1920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Five limbs of karma</a:t>
            </a:r>
            <a:endParaRPr sz="125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Doer</a:t>
            </a:r>
            <a:r>
              <a:rPr lang="en-US" sz="1000" b="0" i="0" u="none" strike="noStrike" cap="none">
                <a:solidFill>
                  <a:srgbClr val="5A6377"/>
                </a:solidFill>
                <a:latin typeface="Calibri"/>
                <a:ea typeface="Calibri"/>
                <a:cs typeface="Calibri"/>
                <a:sym typeface="Calibri"/>
              </a:rPr>
              <a:t xml:space="preserve"> — who acts</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Cause</a:t>
            </a:r>
            <a:r>
              <a:rPr lang="en-US" sz="1000" b="0" i="0" u="none" strike="noStrike" cap="none">
                <a:solidFill>
                  <a:srgbClr val="5A6377"/>
                </a:solidFill>
                <a:latin typeface="Calibri"/>
                <a:ea typeface="Calibri"/>
                <a:cs typeface="Calibri"/>
                <a:sym typeface="Calibri"/>
              </a:rPr>
              <a:t xml:space="preserve"> — the need</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Objective</a:t>
            </a:r>
            <a:r>
              <a:rPr lang="en-US" sz="1000" b="0" i="0" u="none" strike="noStrike" cap="none">
                <a:solidFill>
                  <a:srgbClr val="5A6377"/>
                </a:solidFill>
                <a:latin typeface="Calibri"/>
                <a:ea typeface="Calibri"/>
                <a:cs typeface="Calibri"/>
                <a:sym typeface="Calibri"/>
              </a:rPr>
              <a:t xml:space="preserve"> — the aim</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Result</a:t>
            </a:r>
            <a:r>
              <a:rPr lang="en-US" sz="1000" b="0" i="0" u="none" strike="noStrike" cap="none">
                <a:solidFill>
                  <a:srgbClr val="5A6377"/>
                </a:solidFill>
                <a:latin typeface="Calibri"/>
                <a:ea typeface="Calibri"/>
                <a:cs typeface="Calibri"/>
                <a:sym typeface="Calibri"/>
              </a:rPr>
              <a:t xml:space="preserve"> — the fruit</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1" i="0" u="none" strike="noStrike" cap="none">
                <a:solidFill>
                  <a:srgbClr val="1E2447"/>
                </a:solidFill>
                <a:latin typeface="Calibri"/>
                <a:ea typeface="Calibri"/>
                <a:cs typeface="Calibri"/>
                <a:sym typeface="Calibri"/>
              </a:rPr>
              <a:t>Effect</a:t>
            </a:r>
            <a:r>
              <a:rPr lang="en-US" sz="1000" b="0" i="0" u="none" strike="noStrike" cap="none">
                <a:solidFill>
                  <a:srgbClr val="5A6377"/>
                </a:solidFill>
                <a:latin typeface="Calibri"/>
                <a:ea typeface="Calibri"/>
                <a:cs typeface="Calibri"/>
                <a:sym typeface="Calibri"/>
              </a:rPr>
              <a:t xml:space="preserve"> — its reach</a:t>
            </a:r>
            <a:endParaRPr sz="1000" b="0" i="0" u="none" strike="noStrike" cap="non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“Activity together with aspiration is karma itself … it is the balance of desire, karma, and result that is the accomplishment of the desire.” — KD Ch. 1, p. 1–2</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7"/>
        <p:cNvGrpSpPr/>
        <p:nvPr/>
      </p:nvGrpSpPr>
      <p:grpSpPr>
        <a:xfrm>
          <a:off x="0" y="0"/>
          <a:ext cx="0" cy="0"/>
          <a:chOff x="0" y="0"/>
          <a:chExt cx="0" cy="0"/>
        </a:xfrm>
      </p:grpSpPr>
      <p:sp>
        <p:nvSpPr>
          <p:cNvPr id="308" name="Google Shape;308;p14"/>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4"/>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4"/>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4"/>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KD §3.12 · PROJECTION-REFLECTION</a:t>
            </a:r>
            <a:endParaRPr sz="1050" b="0" i="0" u="none" strike="noStrike" cap="none">
              <a:solidFill>
                <a:schemeClr val="dk1"/>
              </a:solidFill>
              <a:latin typeface="Calibri"/>
              <a:ea typeface="Calibri"/>
              <a:cs typeface="Calibri"/>
              <a:sym typeface="Calibri"/>
            </a:endParaRPr>
          </a:p>
        </p:txBody>
      </p:sp>
      <p:sp>
        <p:nvSpPr>
          <p:cNvPr id="312" name="Google Shape;312;p14"/>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Developmental Spiral</a:t>
            </a:r>
            <a:endParaRPr sz="3000" b="0" i="0" u="none" strike="noStrike" cap="none">
              <a:solidFill>
                <a:schemeClr val="dk1"/>
              </a:solidFill>
              <a:latin typeface="Calibri"/>
              <a:ea typeface="Calibri"/>
              <a:cs typeface="Calibri"/>
              <a:sym typeface="Calibri"/>
            </a:endParaRPr>
          </a:p>
        </p:txBody>
      </p:sp>
      <p:sp>
        <p:nvSpPr>
          <p:cNvPr id="313" name="Google Shape;313;p14"/>
          <p:cNvSpPr/>
          <p:nvPr/>
        </p:nvSpPr>
        <p:spPr>
          <a:xfrm>
            <a:off x="640080" y="1371600"/>
            <a:ext cx="1874520" cy="1371600"/>
          </a:xfrm>
          <a:prstGeom prst="roundRect">
            <a:avLst>
              <a:gd name="adj" fmla="val 666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4"/>
          <p:cNvSpPr/>
          <p:nvPr/>
        </p:nvSpPr>
        <p:spPr>
          <a:xfrm>
            <a:off x="822960"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4"/>
          <p:cNvSpPr/>
          <p:nvPr/>
        </p:nvSpPr>
        <p:spPr>
          <a:xfrm>
            <a:off x="888797"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4"/>
          <p:cNvSpPr/>
          <p:nvPr/>
        </p:nvSpPr>
        <p:spPr>
          <a:xfrm>
            <a:off x="944758" y="1657990"/>
            <a:ext cx="85588" cy="85588"/>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4"/>
          <p:cNvSpPr/>
          <p:nvPr/>
        </p:nvSpPr>
        <p:spPr>
          <a:xfrm>
            <a:off x="804672"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Happiness</a:t>
            </a:r>
            <a:endParaRPr sz="1250" b="0" i="0" u="none" strike="noStrike" cap="none">
              <a:solidFill>
                <a:schemeClr val="dk1"/>
              </a:solidFill>
              <a:latin typeface="Calibri"/>
              <a:ea typeface="Calibri"/>
              <a:cs typeface="Calibri"/>
              <a:sym typeface="Calibri"/>
            </a:endParaRPr>
          </a:p>
        </p:txBody>
      </p:sp>
      <p:sp>
        <p:nvSpPr>
          <p:cNvPr id="318" name="Google Shape;318;p14"/>
          <p:cNvSpPr/>
          <p:nvPr/>
        </p:nvSpPr>
        <p:spPr>
          <a:xfrm>
            <a:off x="804672"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fruit of resolution</a:t>
            </a:r>
            <a:endParaRPr sz="980" b="0" i="0" u="none" strike="noStrike" cap="none">
              <a:solidFill>
                <a:schemeClr val="dk1"/>
              </a:solidFill>
              <a:latin typeface="Calibri"/>
              <a:ea typeface="Calibri"/>
              <a:cs typeface="Calibri"/>
              <a:sym typeface="Calibri"/>
            </a:endParaRPr>
          </a:p>
        </p:txBody>
      </p:sp>
      <p:sp>
        <p:nvSpPr>
          <p:cNvPr id="319" name="Google Shape;319;p14"/>
          <p:cNvSpPr/>
          <p:nvPr/>
        </p:nvSpPr>
        <p:spPr>
          <a:xfrm>
            <a:off x="2633472" y="1371600"/>
            <a:ext cx="1874520" cy="1371600"/>
          </a:xfrm>
          <a:prstGeom prst="roundRect">
            <a:avLst>
              <a:gd name="adj" fmla="val 666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4"/>
          <p:cNvSpPr/>
          <p:nvPr/>
        </p:nvSpPr>
        <p:spPr>
          <a:xfrm>
            <a:off x="2816352"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4"/>
          <p:cNvSpPr/>
          <p:nvPr/>
        </p:nvSpPr>
        <p:spPr>
          <a:xfrm>
            <a:off x="2882189"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4"/>
          <p:cNvSpPr/>
          <p:nvPr/>
        </p:nvSpPr>
        <p:spPr>
          <a:xfrm>
            <a:off x="2938150" y="1657990"/>
            <a:ext cx="85588" cy="85588"/>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4"/>
          <p:cNvSpPr/>
          <p:nvPr/>
        </p:nvSpPr>
        <p:spPr>
          <a:xfrm>
            <a:off x="2798064"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Peace</a:t>
            </a:r>
            <a:endParaRPr sz="1250" b="0" i="0" u="none" strike="noStrike" cap="none">
              <a:solidFill>
                <a:schemeClr val="dk1"/>
              </a:solidFill>
              <a:latin typeface="Calibri"/>
              <a:ea typeface="Calibri"/>
              <a:cs typeface="Calibri"/>
              <a:sym typeface="Calibri"/>
            </a:endParaRPr>
          </a:p>
        </p:txBody>
      </p:sp>
      <p:sp>
        <p:nvSpPr>
          <p:cNvPr id="324" name="Google Shape;324;p14"/>
          <p:cNvSpPr/>
          <p:nvPr/>
        </p:nvSpPr>
        <p:spPr>
          <a:xfrm>
            <a:off x="2798064"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 prosperity evidenced</a:t>
            </a:r>
            <a:endParaRPr sz="980" b="0" i="0" u="none" strike="noStrike" cap="none">
              <a:solidFill>
                <a:schemeClr val="dk1"/>
              </a:solidFill>
              <a:latin typeface="Calibri"/>
              <a:ea typeface="Calibri"/>
              <a:cs typeface="Calibri"/>
              <a:sym typeface="Calibri"/>
            </a:endParaRPr>
          </a:p>
        </p:txBody>
      </p:sp>
      <p:sp>
        <p:nvSpPr>
          <p:cNvPr id="325" name="Google Shape;325;p14"/>
          <p:cNvSpPr/>
          <p:nvPr/>
        </p:nvSpPr>
        <p:spPr>
          <a:xfrm>
            <a:off x="4626864" y="1371600"/>
            <a:ext cx="1874520" cy="1371600"/>
          </a:xfrm>
          <a:prstGeom prst="roundRect">
            <a:avLst>
              <a:gd name="adj" fmla="val 6667"/>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4"/>
          <p:cNvSpPr/>
          <p:nvPr/>
        </p:nvSpPr>
        <p:spPr>
          <a:xfrm>
            <a:off x="4809744"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4"/>
          <p:cNvSpPr/>
          <p:nvPr/>
        </p:nvSpPr>
        <p:spPr>
          <a:xfrm>
            <a:off x="4875581"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4"/>
          <p:cNvSpPr/>
          <p:nvPr/>
        </p:nvSpPr>
        <p:spPr>
          <a:xfrm>
            <a:off x="4931542" y="1657990"/>
            <a:ext cx="85588" cy="85588"/>
          </a:xfrm>
          <a:prstGeom prst="ellipse">
            <a:avLst/>
          </a:prstGeom>
          <a:solidFill>
            <a:srgbClr val="3B4A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4"/>
          <p:cNvSpPr/>
          <p:nvPr/>
        </p:nvSpPr>
        <p:spPr>
          <a:xfrm>
            <a:off x="4791456"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Contentment</a:t>
            </a:r>
            <a:endParaRPr sz="1250" b="0" i="0" u="none" strike="noStrike" cap="none">
              <a:solidFill>
                <a:schemeClr val="dk1"/>
              </a:solidFill>
              <a:latin typeface="Calibri"/>
              <a:ea typeface="Calibri"/>
              <a:cs typeface="Calibri"/>
              <a:sym typeface="Calibri"/>
            </a:endParaRPr>
          </a:p>
        </p:txBody>
      </p:sp>
      <p:sp>
        <p:nvSpPr>
          <p:cNvPr id="330" name="Google Shape;330;p14"/>
          <p:cNvSpPr/>
          <p:nvPr/>
        </p:nvSpPr>
        <p:spPr>
          <a:xfrm>
            <a:off x="4791456"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 fearlessness lived out</a:t>
            </a:r>
            <a:endParaRPr sz="980" b="0" i="0" u="none" strike="noStrike" cap="none">
              <a:solidFill>
                <a:schemeClr val="dk1"/>
              </a:solidFill>
              <a:latin typeface="Calibri"/>
              <a:ea typeface="Calibri"/>
              <a:cs typeface="Calibri"/>
              <a:sym typeface="Calibri"/>
            </a:endParaRPr>
          </a:p>
        </p:txBody>
      </p:sp>
      <p:sp>
        <p:nvSpPr>
          <p:cNvPr id="331" name="Google Shape;331;p14"/>
          <p:cNvSpPr/>
          <p:nvPr/>
        </p:nvSpPr>
        <p:spPr>
          <a:xfrm>
            <a:off x="6620256" y="1371600"/>
            <a:ext cx="1874520" cy="1371600"/>
          </a:xfrm>
          <a:prstGeom prst="roundRect">
            <a:avLst>
              <a:gd name="adj" fmla="val 6667"/>
            </a:avLst>
          </a:prstGeom>
          <a:solidFill>
            <a:srgbClr val="FAF1DF"/>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4"/>
          <p:cNvSpPr/>
          <p:nvPr/>
        </p:nvSpPr>
        <p:spPr>
          <a:xfrm>
            <a:off x="6803136" y="1536192"/>
            <a:ext cx="329184" cy="329184"/>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4"/>
          <p:cNvSpPr/>
          <p:nvPr/>
        </p:nvSpPr>
        <p:spPr>
          <a:xfrm>
            <a:off x="6868973" y="1602029"/>
            <a:ext cx="197510" cy="19751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4"/>
          <p:cNvSpPr/>
          <p:nvPr/>
        </p:nvSpPr>
        <p:spPr>
          <a:xfrm>
            <a:off x="6924934" y="1657990"/>
            <a:ext cx="85588" cy="8558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4"/>
          <p:cNvSpPr/>
          <p:nvPr/>
        </p:nvSpPr>
        <p:spPr>
          <a:xfrm>
            <a:off x="6784848" y="1938528"/>
            <a:ext cx="1572768"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mbria"/>
              <a:buNone/>
            </a:pPr>
            <a:r>
              <a:rPr lang="en-US" sz="1250" b="1" i="0" u="none" strike="noStrike" cap="none">
                <a:solidFill>
                  <a:srgbClr val="1E2447"/>
                </a:solidFill>
                <a:latin typeface="Cambria"/>
                <a:ea typeface="Cambria"/>
                <a:cs typeface="Cambria"/>
                <a:sym typeface="Cambria"/>
              </a:rPr>
              <a:t>Bliss</a:t>
            </a:r>
            <a:endParaRPr sz="1250" b="0" i="0" u="none" strike="noStrike" cap="none">
              <a:solidFill>
                <a:schemeClr val="dk1"/>
              </a:solidFill>
              <a:latin typeface="Calibri"/>
              <a:ea typeface="Calibri"/>
              <a:cs typeface="Calibri"/>
              <a:sym typeface="Calibri"/>
            </a:endParaRPr>
          </a:p>
        </p:txBody>
      </p:sp>
      <p:sp>
        <p:nvSpPr>
          <p:cNvPr id="336" name="Google Shape;336;p14"/>
          <p:cNvSpPr/>
          <p:nvPr/>
        </p:nvSpPr>
        <p:spPr>
          <a:xfrm>
            <a:off x="6784848" y="2377440"/>
            <a:ext cx="1572768"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80"/>
              <a:buFont typeface="Calibri"/>
              <a:buNone/>
            </a:pPr>
            <a:r>
              <a:rPr lang="en-US" sz="980" b="0" i="1" u="none" strike="noStrike" cap="none">
                <a:solidFill>
                  <a:srgbClr val="5A6377"/>
                </a:solidFill>
                <a:latin typeface="Calibri"/>
                <a:ea typeface="Calibri"/>
                <a:cs typeface="Calibri"/>
                <a:sym typeface="Calibri"/>
              </a:rPr>
              <a:t>+ coexistence realised</a:t>
            </a:r>
            <a:endParaRPr sz="980" b="0" i="0" u="none" strike="noStrike" cap="none">
              <a:solidFill>
                <a:schemeClr val="dk1"/>
              </a:solidFill>
              <a:latin typeface="Calibri"/>
              <a:ea typeface="Calibri"/>
              <a:cs typeface="Calibri"/>
              <a:sym typeface="Calibri"/>
            </a:endParaRPr>
          </a:p>
        </p:txBody>
      </p:sp>
      <p:sp>
        <p:nvSpPr>
          <p:cNvPr id="337" name="Google Shape;337;p14"/>
          <p:cNvSpPr/>
          <p:nvPr/>
        </p:nvSpPr>
        <p:spPr>
          <a:xfrm>
            <a:off x="640080" y="3017520"/>
            <a:ext cx="795528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 xml:space="preserve">Study, then act: </a:t>
            </a:r>
            <a:r>
              <a:rPr lang="en-US" sz="1250" b="0" i="0" u="none" strike="noStrike" cap="none">
                <a:solidFill>
                  <a:srgbClr val="5A6377"/>
                </a:solidFill>
                <a:latin typeface="Calibri"/>
                <a:ea typeface="Calibri"/>
                <a:cs typeface="Calibri"/>
                <a:sym typeface="Calibri"/>
              </a:rPr>
              <a:t>reflection (study) deepens understanding of coexistence; projection (practice) evidences it in conduct. Each round of aligned action earns deeper insight — book knowledge alone settles nothing; only lived karma does.</a:t>
            </a:r>
            <a:endParaRPr sz="1250" b="0" i="0" u="none" strike="noStrike" cap="none">
              <a:solidFill>
                <a:schemeClr val="dk1"/>
              </a:solidFill>
              <a:latin typeface="Calibri"/>
              <a:ea typeface="Calibri"/>
              <a:cs typeface="Calibri"/>
              <a:sym typeface="Calibri"/>
            </a:endParaRPr>
          </a:p>
        </p:txBody>
      </p:sp>
      <p:sp>
        <p:nvSpPr>
          <p:cNvPr id="338" name="Google Shape;338;p14"/>
          <p:cNvSpPr/>
          <p:nvPr/>
        </p:nvSpPr>
        <p:spPr>
          <a:xfrm>
            <a:off x="640080" y="3840480"/>
            <a:ext cx="7863840" cy="777240"/>
          </a:xfrm>
          <a:prstGeom prst="roundRect">
            <a:avLst>
              <a:gd name="adj" fmla="val 10588"/>
            </a:avLst>
          </a:prstGeom>
          <a:solidFill>
            <a:srgbClr val="1E2447"/>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4"/>
          <p:cNvSpPr/>
          <p:nvPr/>
        </p:nvSpPr>
        <p:spPr>
          <a:xfrm>
            <a:off x="914400" y="3840480"/>
            <a:ext cx="731520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50"/>
              <a:buFont typeface="Calibri"/>
              <a:buNone/>
            </a:pPr>
            <a:r>
              <a:rPr lang="en-US" sz="1350" b="0" i="1" u="none" strike="noStrike" cap="none">
                <a:solidFill>
                  <a:srgbClr val="FFFFFF"/>
                </a:solidFill>
                <a:latin typeface="Calibri"/>
                <a:ea typeface="Calibri"/>
                <a:cs typeface="Calibri"/>
                <a:sym typeface="Calibri"/>
              </a:rPr>
              <a:t>“Today we were evidenced in one issue, tomorrow in two, the day after in three.”</a:t>
            </a:r>
            <a:endParaRPr sz="135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C9D4EF"/>
              </a:buClr>
              <a:buSzPts val="1050"/>
              <a:buFont typeface="Calibri"/>
              <a:buNone/>
            </a:pPr>
            <a:r>
              <a:rPr lang="en-US" sz="1050" b="0" i="0" u="none" strike="noStrike" cap="none">
                <a:solidFill>
                  <a:srgbClr val="C9D4EF"/>
                </a:solidFill>
                <a:latin typeface="Calibri"/>
                <a:ea typeface="Calibri"/>
                <a:cs typeface="Calibri"/>
                <a:sym typeface="Calibri"/>
              </a:rPr>
              <a:t>Reflection feeds projection, and projection feeds deeper reflection — this alone is what living means.  — KD §3.12, p. 112–113</a:t>
            </a:r>
            <a:endParaRPr sz="1350" b="0" i="0" u="none" strike="noStrike" cap="none">
              <a:solidFill>
                <a:schemeClr val="dk1"/>
              </a:solidFill>
              <a:latin typeface="Calibri"/>
              <a:ea typeface="Calibri"/>
              <a:cs typeface="Calibri"/>
              <a:sym typeface="Calibri"/>
            </a:endParaRPr>
          </a:p>
        </p:txBody>
      </p:sp>
      <p:sp>
        <p:nvSpPr>
          <p:cNvPr id="340" name="Google Shape;340;p14"/>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KD §3.12, p. 110–113 (projection–reflection)  ·  JV p. 61 (values ladder)</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0"/>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0"/>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0"/>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§1.12 · EVALUATIVE PERSPECTIVES</a:t>
            </a:r>
            <a:endParaRPr sz="1050" b="0" i="0" u="none" strike="noStrike" cap="non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Justice, Dharma, Satya</a:t>
            </a:r>
            <a:endParaRPr sz="3000" b="0" i="0" u="none" strike="noStrike" cap="non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1250"/>
              <a:buFont typeface="Calibri"/>
              <a:buNone/>
            </a:pPr>
            <a:r>
              <a:rPr lang="en-US" sz="1250" b="0" i="0" u="none" strike="noStrike" cap="none">
                <a:solidFill>
                  <a:srgbClr val="5A6377"/>
                </a:solidFill>
                <a:latin typeface="Calibri"/>
                <a:ea typeface="Calibri"/>
                <a:cs typeface="Calibri"/>
                <a:sym typeface="Calibri"/>
              </a:rPr>
              <a:t>Evaluating an action rightly needs three widening perspectives. Justice asks whether one relationship is being fulfilled. Dharma asks whether the action fits the overall orderliness. Satya asks whether it holds up against the entire coexistence architecture.</a:t>
            </a:r>
            <a:endParaRPr sz="1250" b="0" i="0" u="none" strike="noStrike" cap="non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0"/>
          <p:cNvSpPr/>
          <p:nvPr/>
        </p:nvSpPr>
        <p:spPr>
          <a:xfrm>
            <a:off x="12344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Justice</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relationship</a:t>
            </a:r>
            <a:endParaRPr sz="1200" b="0" i="0" u="none" strike="noStrike" cap="non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fulfil what’s owed</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recognise it, check what it requires</a:t>
            </a:r>
            <a:endParaRPr sz="950" b="0" i="0" u="none" strike="noStrike" cap="non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0632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Dharma</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orderliness</a:t>
            </a:r>
            <a:endParaRPr sz="1200" b="0" i="0" u="none" strike="noStrike" cap="non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fit the wider pattern</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discipline in thought, not just conduct</a:t>
            </a:r>
            <a:endParaRPr sz="950" b="0" i="0" u="none" strike="noStrike" cap="non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w="254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0"/>
          <p:cNvSpPr/>
          <p:nvPr/>
        </p:nvSpPr>
        <p:spPr>
          <a:xfrm>
            <a:off x="4892040" y="2240280"/>
            <a:ext cx="1417320" cy="141732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Satya</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the architecture</a:t>
            </a:r>
            <a:endParaRPr sz="1200" b="0" i="0" u="none" strike="noStrike" cap="non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goal: align with the whole</a:t>
            </a:r>
            <a:endParaRPr sz="9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grounded in realisation, not liking or gain</a:t>
            </a:r>
            <a:endParaRPr sz="950" b="0" i="0" u="none" strike="noStrike" cap="non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name="adj" fmla="val 4651"/>
            </a:avLst>
          </a:prstGeom>
          <a:solidFill>
            <a:srgbClr val="EEF1F8"/>
          </a:solidFill>
          <a:ln>
            <a:noFill/>
          </a:ln>
          <a:effectLst>
            <a:outerShdw blurRad="88900" dist="25400" dir="2700000" algn="bl" rotWithShape="0">
              <a:srgbClr val="000000">
                <a:alpha val="12941"/>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0"/>
          <p:cNvSpPr/>
          <p:nvPr/>
        </p:nvSpPr>
        <p:spPr>
          <a:xfrm>
            <a:off x="6903720" y="2331720"/>
            <a:ext cx="1627632" cy="1920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1E2447"/>
              </a:buClr>
              <a:buSzPts val="1250"/>
              <a:buFont typeface="Calibri"/>
              <a:buNone/>
            </a:pPr>
            <a:r>
              <a:rPr lang="en-US" sz="1250" b="1" i="0" u="none" strike="noStrike" cap="none">
                <a:solidFill>
                  <a:srgbClr val="1E2447"/>
                </a:solidFill>
                <a:latin typeface="Calibri"/>
                <a:ea typeface="Calibri"/>
                <a:cs typeface="Calibri"/>
                <a:sym typeface="Calibri"/>
              </a:rPr>
              <a:t>One graduated chain</a:t>
            </a:r>
            <a:endParaRPr sz="1250" b="0" i="0" u="none" strike="noStrike" cap="none">
              <a:solidFill>
                <a:schemeClr val="dk1"/>
              </a:solidFill>
              <a:latin typeface="Calibri"/>
              <a:ea typeface="Calibri"/>
              <a:cs typeface="Calibri"/>
              <a:sym typeface="Calibri"/>
            </a:endParaRPr>
          </a:p>
          <a:p>
            <a:pPr marL="0" marR="0" lvl="0" indent="0" algn="l" rtl="0">
              <a:spcBef>
                <a:spcPts val="600"/>
              </a:spcBef>
              <a:spcAft>
                <a:spcPts val="0"/>
              </a:spcAft>
              <a:buClr>
                <a:srgbClr val="5A6377"/>
              </a:buClr>
              <a:buSzPts val="1000"/>
              <a:buFont typeface="Calibri"/>
              <a:buNone/>
            </a:pPr>
            <a:r>
              <a:rPr lang="en-US" sz="1000" b="0" i="1" u="none" strike="noStrike" cap="none">
                <a:solidFill>
                  <a:srgbClr val="5A6377"/>
                </a:solidFill>
                <a:latin typeface="Calibri"/>
                <a:ea typeface="Calibri"/>
                <a:cs typeface="Calibri"/>
                <a:sym typeface="Calibri"/>
              </a:rPr>
              <a:t>“Rule itself is justice, justice itself is dharma, dharma itself is truth, truth itself is coexistence.”</a:t>
            </a:r>
            <a:endParaRPr sz="1000" b="0" i="0" u="none" strike="noStrike" cap="none">
              <a:solidFill>
                <a:schemeClr val="dk1"/>
              </a:solidFill>
              <a:latin typeface="Calibri"/>
              <a:ea typeface="Calibri"/>
              <a:cs typeface="Calibri"/>
              <a:sym typeface="Calibri"/>
            </a:endParaRPr>
          </a:p>
          <a:p>
            <a:pPr marL="0" marR="0" lvl="0" indent="0" algn="l" rtl="0">
              <a:spcBef>
                <a:spcPts val="500"/>
              </a:spcBef>
              <a:spcAft>
                <a:spcPts val="0"/>
              </a:spcAft>
              <a:buClr>
                <a:srgbClr val="5A6377"/>
              </a:buClr>
              <a:buSzPts val="1000"/>
              <a:buFont typeface="Calibri"/>
              <a:buNone/>
            </a:pPr>
            <a:r>
              <a:rPr lang="en-US" sz="1000" b="0" i="0" u="none" strike="noStrike" cap="none">
                <a:solidFill>
                  <a:srgbClr val="5A6377"/>
                </a:solidFill>
                <a:latin typeface="Calibri"/>
                <a:ea typeface="Calibri"/>
                <a:cs typeface="Calibri"/>
                <a:sym typeface="Calibri"/>
              </a:rPr>
              <a:t>— KD p. 13</a:t>
            </a:r>
            <a:endParaRPr sz="1000" b="0" i="0" u="none" strike="noStrike" cap="non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377"/>
              </a:buClr>
              <a:buSzPts val="950"/>
              <a:buFont typeface="Calibri"/>
              <a:buNone/>
            </a:pPr>
            <a:r>
              <a:rPr lang="en-US" sz="950" b="0" i="1" u="none" strike="noStrike" cap="none">
                <a:solidFill>
                  <a:srgbClr val="5A6377"/>
                </a:solidFill>
                <a:latin typeface="Calibri"/>
                <a:ea typeface="Calibri"/>
                <a:cs typeface="Calibri"/>
                <a:sym typeface="Calibri"/>
              </a:rPr>
              <a:t>§1.12, §1.12.1 (justice, dharma, truth)  ·  KD p. 10 (six perspectives), p. 13 (chain), p. 60, 86 (universal expectation of justice)</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
        <p:cNvGrpSpPr/>
        <p:nvPr/>
      </p:nvGrpSpPr>
      <p:grpSpPr>
        <a:xfrm>
          <a:off x="0" y="0"/>
          <a:ext cx="0" cy="0"/>
          <a:chOff x="0" y="0"/>
          <a:chExt cx="0" cy="0"/>
        </a:xfrm>
      </p:grpSpPr>
      <p:sp>
        <p:nvSpPr>
          <p:cNvPr id="35" name="Google Shape;35;p4"/>
          <p:cNvSpPr/>
          <p:nvPr/>
        </p:nvSpPr>
        <p:spPr>
          <a:xfrm>
            <a:off x="457200" y="384048"/>
            <a:ext cx="365760" cy="365760"/>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4"/>
          <p:cNvSpPr/>
          <p:nvPr/>
        </p:nvSpPr>
        <p:spPr>
          <a:xfrm>
            <a:off x="530352" y="457200"/>
            <a:ext cx="219456" cy="219456"/>
          </a:xfrm>
          <a:prstGeom prst="ellipse">
            <a:avLst/>
          </a:prstGeom>
          <a:noFill/>
          <a:ln w="15875" cap="flat" cmpd="sng">
            <a:solidFill>
              <a:srgbClr val="3B4A7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4"/>
          <p:cNvSpPr/>
          <p:nvPr/>
        </p:nvSpPr>
        <p:spPr>
          <a:xfrm>
            <a:off x="592531" y="519379"/>
            <a:ext cx="95098" cy="95098"/>
          </a:xfrm>
          <a:prstGeom prst="ellipse">
            <a:avLst/>
          </a:prstGeom>
          <a:solidFill>
            <a:srgbClr val="C982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4"/>
          <p:cNvSpPr/>
          <p:nvPr/>
        </p:nvSpPr>
        <p:spPr>
          <a:xfrm>
            <a:off x="960120" y="256032"/>
            <a:ext cx="76809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050"/>
              <a:buFont typeface="Calibri"/>
              <a:buNone/>
            </a:pPr>
            <a:r>
              <a:rPr lang="en-US" sz="1050" b="1" i="0" u="none" strike="noStrike" cap="none">
                <a:solidFill>
                  <a:srgbClr val="9A6414"/>
                </a:solidFill>
                <a:latin typeface="Calibri"/>
                <a:ea typeface="Calibri"/>
                <a:cs typeface="Calibri"/>
                <a:sym typeface="Calibri"/>
              </a:rPr>
              <a:t>ORIENTATION</a:t>
            </a:r>
            <a:endParaRPr sz="1050" b="0" i="0" u="none" strike="noStrike" cap="none">
              <a:solidFill>
                <a:schemeClr val="dk1"/>
              </a:solidFill>
              <a:latin typeface="Calibri"/>
              <a:ea typeface="Calibri"/>
              <a:cs typeface="Calibri"/>
              <a:sym typeface="Calibri"/>
            </a:endParaRPr>
          </a:p>
        </p:txBody>
      </p:sp>
      <p:sp>
        <p:nvSpPr>
          <p:cNvPr id="39" name="Google Shape;39;p4"/>
          <p:cNvSpPr/>
          <p:nvPr/>
        </p:nvSpPr>
        <p:spPr>
          <a:xfrm>
            <a:off x="960120" y="457200"/>
            <a:ext cx="77266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3000"/>
              <a:buFont typeface="Cambria"/>
              <a:buNone/>
            </a:pPr>
            <a:r>
              <a:rPr lang="en-US" sz="3000" b="1" i="0" u="none" strike="noStrike" cap="none">
                <a:solidFill>
                  <a:srgbClr val="1E2447"/>
                </a:solidFill>
                <a:latin typeface="Cambria"/>
                <a:ea typeface="Cambria"/>
                <a:cs typeface="Cambria"/>
                <a:sym typeface="Cambria"/>
              </a:rPr>
              <a:t>The Argument in Three Movements</a:t>
            </a:r>
            <a:endParaRPr sz="3000" b="0" i="0" u="none" strike="noStrike" cap="none">
              <a:solidFill>
                <a:schemeClr val="dk1"/>
              </a:solidFill>
              <a:latin typeface="Calibri"/>
              <a:ea typeface="Calibri"/>
              <a:cs typeface="Calibri"/>
              <a:sym typeface="Calibri"/>
            </a:endParaRPr>
          </a:p>
        </p:txBody>
      </p:sp>
      <p:sp>
        <p:nvSpPr>
          <p:cNvPr id="40" name="Google Shape;40;p4"/>
          <p:cNvSpPr/>
          <p:nvPr/>
        </p:nvSpPr>
        <p:spPr>
          <a:xfrm>
            <a:off x="640080" y="130000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i="0" u="none" strike="noStrike" cap="none">
                <a:solidFill>
                  <a:srgbClr val="FFFFFF"/>
                </a:solidFill>
                <a:latin typeface="Calibri"/>
                <a:ea typeface="Calibri"/>
                <a:cs typeface="Calibri"/>
                <a:sym typeface="Calibri"/>
              </a:rPr>
              <a:t>1</a:t>
            </a:r>
            <a:endParaRPr sz="1600" b="0" i="0" u="none" strike="noStrike" cap="none">
              <a:latin typeface="Calibri"/>
              <a:ea typeface="Calibri"/>
              <a:cs typeface="Calibri"/>
              <a:sym typeface="Calibri"/>
            </a:endParaRPr>
          </a:p>
        </p:txBody>
      </p:sp>
      <p:sp>
        <p:nvSpPr>
          <p:cNvPr id="42" name="Google Shape;42;p4"/>
          <p:cNvSpPr/>
          <p:nvPr/>
        </p:nvSpPr>
        <p:spPr>
          <a:xfrm>
            <a:off x="1188720" y="1263424"/>
            <a:ext cx="7406640" cy="7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What is real, and how it is built  —  </a:t>
            </a:r>
            <a:r>
              <a:rPr lang="en-US" sz="1300" b="0" i="0" u="none" strike="noStrike" cap="none">
                <a:solidFill>
                  <a:srgbClr val="5A6377"/>
                </a:solidFill>
                <a:latin typeface="Calibri"/>
                <a:ea typeface="Calibri"/>
                <a:cs typeface="Calibri"/>
                <a:sym typeface="Calibri"/>
              </a:rPr>
              <a:t>one bond of an all-pervasive ground and countable units; every unit’s makeup, relationships, and place among nature’s orders follow from it.</a:t>
            </a:r>
            <a:endParaRPr sz="1450" b="0" i="0" u="none" strike="noStrike" cap="none">
              <a:solidFill>
                <a:schemeClr val="dk1"/>
              </a:solidFill>
              <a:latin typeface="Calibri"/>
              <a:ea typeface="Calibri"/>
              <a:cs typeface="Calibri"/>
              <a:sym typeface="Calibri"/>
            </a:endParaRPr>
          </a:p>
        </p:txBody>
      </p:sp>
      <p:sp>
        <p:nvSpPr>
          <p:cNvPr id="43" name="Google Shape;43;p4"/>
          <p:cNvSpPr/>
          <p:nvPr/>
        </p:nvSpPr>
        <p:spPr>
          <a:xfrm>
            <a:off x="640080" y="235000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i="0" u="none" strike="noStrike" cap="none">
                <a:solidFill>
                  <a:srgbClr val="FFFFFF"/>
                </a:solidFill>
                <a:latin typeface="Calibri"/>
                <a:ea typeface="Calibri"/>
                <a:cs typeface="Calibri"/>
                <a:sym typeface="Calibri"/>
              </a:rPr>
              <a:t>2</a:t>
            </a:r>
            <a:endParaRPr sz="1600" b="0" i="0" u="none" strike="noStrike" cap="none">
              <a:latin typeface="Calibri"/>
              <a:ea typeface="Calibri"/>
              <a:cs typeface="Calibri"/>
              <a:sym typeface="Calibri"/>
            </a:endParaRPr>
          </a:p>
        </p:txBody>
      </p:sp>
      <p:sp>
        <p:nvSpPr>
          <p:cNvPr id="45" name="Google Shape;45;p4"/>
          <p:cNvSpPr/>
          <p:nvPr/>
        </p:nvSpPr>
        <p:spPr>
          <a:xfrm>
            <a:off x="1188720" y="2313424"/>
            <a:ext cx="7406640" cy="7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How it develops, acts, and is regulated  —  </a:t>
            </a:r>
            <a:r>
              <a:rPr lang="en-US" sz="1300" b="0" i="0" u="none" strike="noStrike" cap="none">
                <a:solidFill>
                  <a:srgbClr val="5A6377"/>
                </a:solidFill>
                <a:latin typeface="Calibri"/>
                <a:ea typeface="Calibri"/>
                <a:cs typeface="Calibri"/>
                <a:sym typeface="Calibri"/>
              </a:rPr>
              <a:t>the self’s drive toward completeness, the structure of every action, and the evaluation that keeps action aligned with the whole.</a:t>
            </a:r>
            <a:endParaRPr sz="1450" b="0" i="0" u="none" strike="noStrike" cap="none">
              <a:solidFill>
                <a:schemeClr val="dk1"/>
              </a:solidFill>
              <a:latin typeface="Calibri"/>
              <a:ea typeface="Calibri"/>
              <a:cs typeface="Calibri"/>
              <a:sym typeface="Calibri"/>
            </a:endParaRPr>
          </a:p>
        </p:txBody>
      </p:sp>
      <p:sp>
        <p:nvSpPr>
          <p:cNvPr id="46" name="Google Shape;46;p4"/>
          <p:cNvSpPr/>
          <p:nvPr/>
        </p:nvSpPr>
        <p:spPr>
          <a:xfrm>
            <a:off x="640080" y="3400000"/>
            <a:ext cx="365760" cy="365760"/>
          </a:xfrm>
          <a:prstGeom prst="ellipse">
            <a:avLst/>
          </a:prstGeom>
          <a:solidFill>
            <a:srgbClr val="3B4A7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i="0" u="none" strike="noStrike" cap="none">
                <a:solidFill>
                  <a:srgbClr val="FFFFFF"/>
                </a:solidFill>
                <a:latin typeface="Calibri"/>
                <a:ea typeface="Calibri"/>
                <a:cs typeface="Calibri"/>
                <a:sym typeface="Calibri"/>
              </a:rPr>
              <a:t>3</a:t>
            </a:r>
            <a:endParaRPr sz="1600" b="0" i="0" u="none" strike="noStrike" cap="none">
              <a:latin typeface="Calibri"/>
              <a:ea typeface="Calibri"/>
              <a:cs typeface="Calibri"/>
              <a:sym typeface="Calibri"/>
            </a:endParaRPr>
          </a:p>
        </p:txBody>
      </p:sp>
      <p:sp>
        <p:nvSpPr>
          <p:cNvPr id="48" name="Google Shape;48;p4"/>
          <p:cNvSpPr/>
          <p:nvPr/>
        </p:nvSpPr>
        <p:spPr>
          <a:xfrm>
            <a:off x="1188720" y="3363424"/>
            <a:ext cx="7406640" cy="7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2447"/>
              </a:buClr>
              <a:buSzPts val="1450"/>
              <a:buFont typeface="Calibri"/>
              <a:buNone/>
            </a:pPr>
            <a:r>
              <a:rPr lang="en-US" sz="1450" b="1" i="0" u="none" strike="noStrike" cap="none">
                <a:solidFill>
                  <a:srgbClr val="1E2447"/>
                </a:solidFill>
                <a:latin typeface="Calibri"/>
                <a:ea typeface="Calibri"/>
                <a:cs typeface="Calibri"/>
                <a:sym typeface="Calibri"/>
              </a:rPr>
              <a:t xml:space="preserve">How it is known and lived  —  </a:t>
            </a:r>
            <a:r>
              <a:rPr lang="en-US" sz="1300" b="0" i="0" u="none" strike="noStrike" cap="none">
                <a:solidFill>
                  <a:srgbClr val="5A6377"/>
                </a:solidFill>
                <a:latin typeface="Calibri"/>
                <a:ea typeface="Calibri"/>
                <a:cs typeface="Calibri"/>
                <a:sym typeface="Calibri"/>
              </a:rPr>
              <a:t>the scope understanding must reach, the fork between delusion and awakening, and the realisation that makes a person, a family, and a society whole.</a:t>
            </a:r>
            <a:endParaRPr sz="1450" b="0" i="0" u="none" strike="noStrike" cap="none">
              <a:solidFill>
                <a:schemeClr val="dk1"/>
              </a:solidFill>
              <a:latin typeface="Calibri"/>
              <a:ea typeface="Calibri"/>
              <a:cs typeface="Calibri"/>
              <a:sym typeface="Calibri"/>
            </a:endParaRPr>
          </a:p>
        </p:txBody>
      </p:sp>
      <p:sp>
        <p:nvSpPr>
          <p:cNvPr id="58" name="Google Shape;58;p4"/>
          <p:cNvSpPr/>
          <p:nvPr/>
        </p:nvSpPr>
        <p:spPr>
          <a:xfrm>
            <a:off x="1188720" y="4450000"/>
            <a:ext cx="7406640" cy="450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6414"/>
              </a:buClr>
              <a:buSzPts val="1250"/>
              <a:buFont typeface="Calibri"/>
              <a:buNone/>
            </a:pPr>
            <a:r>
              <a:rPr lang="en-US" sz="1250" b="0" i="1" u="none" strike="noStrike" cap="none">
                <a:solidFill>
                  <a:srgbClr val="9A6414"/>
                </a:solidFill>
                <a:latin typeface="Calibri"/>
                <a:ea typeface="Calibri"/>
                <a:cs typeface="Calibri"/>
                <a:sym typeface="Calibri"/>
              </a:rPr>
              <a:t>One claim — existence is coexistence — carried through all three. Six questions frame it; the closing slide answers them directly.</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TotalTime>
  <Words>7493</Words>
  <Application>Microsoft Office PowerPoint</Application>
  <PresentationFormat>On-screen Show (16:9)</PresentationFormat>
  <Paragraphs>373</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Raghava Mohan</cp:lastModifiedBy>
  <cp:revision>2</cp:revision>
  <dcterms:modified xsi:type="dcterms:W3CDTF">2026-07-10T06:31:25Z</dcterms:modified>
</cp:coreProperties>
</file>