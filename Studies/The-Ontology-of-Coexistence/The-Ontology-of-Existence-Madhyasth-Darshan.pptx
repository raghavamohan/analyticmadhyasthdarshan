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009a226058a14f9b" Type="http://schemas.openxmlformats.org/package/2006/relationships/metadata/core-properties" Target="docProps/core.xml"/><Relationship Id="R631289ebb1a54972" Type="http://schemas.openxmlformats.org/officeDocument/2006/relationships/officeDocument" Target="ppt/presentation.xml"/><Relationship Id="R8e04a235cc59434a" Type="http://schemas.openxmlformats.org/officeDocument/2006/relationships/extended-properties" Target="docProps/app.xml"/></Relationships>
</file>

<file path=ppt/presentation.xml><?xml version="1.0" encoding="utf-8"?>
<p:presentation xmlns:p="http://schemas.openxmlformats.org/presentationml/2006/main">
  <p:sldMasterIdLst>
    <p:sldMasterId xmlns:r="http://schemas.openxmlformats.org/officeDocument/2006/relationships" id="2147483648" r:id="Rb9bb0289ef914a7d"/>
  </p:sldMasterIdLst>
  <p:notesMasterIdLst>
    <p:notesMasterId xmlns:r="http://schemas.openxmlformats.org/officeDocument/2006/relationships" r:id="Re04d1a3300924db2"/>
  </p:notesMasterIdLst>
  <p:sldIdLst>
    <p:sldId xmlns:r="http://schemas.openxmlformats.org/officeDocument/2006/relationships" id="256" r:id="R9e6536eda00144e7"/>
    <p:sldId xmlns:r="http://schemas.openxmlformats.org/officeDocument/2006/relationships" id="257" r:id="Rf76ddbaa01074479"/>
    <p:sldId xmlns:r="http://schemas.openxmlformats.org/officeDocument/2006/relationships" id="258" r:id="R16f4554795ad49bf"/>
    <p:sldId xmlns:r="http://schemas.openxmlformats.org/officeDocument/2006/relationships" id="259" r:id="R08a83617ae454b53"/>
    <p:sldId xmlns:r="http://schemas.openxmlformats.org/officeDocument/2006/relationships" id="260" r:id="Rec544795b4fd44b9"/>
    <p:sldId xmlns:r="http://schemas.openxmlformats.org/officeDocument/2006/relationships" id="261" r:id="Rc5dba0086a6d4f0a"/>
    <p:sldId xmlns:r="http://schemas.openxmlformats.org/officeDocument/2006/relationships" id="262" r:id="Rb3528f1c2b0542e7"/>
    <p:sldId xmlns:r="http://schemas.openxmlformats.org/officeDocument/2006/relationships" id="263" r:id="Rdf430edcdf8c4c7b"/>
    <p:sldId xmlns:r="http://schemas.openxmlformats.org/officeDocument/2006/relationships" id="264" r:id="R2bfd8ef300f84303"/>
    <p:sldId xmlns:r="http://schemas.openxmlformats.org/officeDocument/2006/relationships" id="265" r:id="R70b4d4f668624d32"/>
    <p:sldId xmlns:r="http://schemas.openxmlformats.org/officeDocument/2006/relationships" id="266" r:id="R15c4811db8db4af7"/>
    <p:sldId xmlns:r="http://schemas.openxmlformats.org/officeDocument/2006/relationships" id="267" r:id="R2303327d17b0474d"/>
    <p:sldId xmlns:r="http://schemas.openxmlformats.org/officeDocument/2006/relationships" id="268" r:id="R3ad503f37e33485e"/>
    <p:sldId xmlns:r="http://schemas.openxmlformats.org/officeDocument/2006/relationships" id="269" r:id="R804308cb906d4b3b"/>
    <p:sldId xmlns:r="http://schemas.openxmlformats.org/officeDocument/2006/relationships" id="270" r:id="Rb18964d791fc47a3"/>
    <p:sldId xmlns:r="http://schemas.openxmlformats.org/officeDocument/2006/relationships" id="271" r:id="Ra3cc3f6f28864d7d"/>
    <p:sldId xmlns:r="http://schemas.openxmlformats.org/officeDocument/2006/relationships" id="272" r:id="R288570690c0c4146"/>
    <p:sldId xmlns:r="http://schemas.openxmlformats.org/officeDocument/2006/relationships" id="273" r:id="Raa9afacfa71843bb"/>
    <p:sldId xmlns:r="http://schemas.openxmlformats.org/officeDocument/2006/relationships" id="274" r:id="R7ffc4e4ccaff4191"/>
    <p:sldId xmlns:r="http://schemas.openxmlformats.org/officeDocument/2006/relationships" id="275" r:id="R57f6c0ae66c045cc"/>
    <p:sldId xmlns:r="http://schemas.openxmlformats.org/officeDocument/2006/relationships" id="276" r:id="R0a144d2a29204b72"/>
    <p:sldId xmlns:r="http://schemas.openxmlformats.org/officeDocument/2006/relationships" id="277" r:id="Rabe98989449740d8"/>
    <p:sldId xmlns:r="http://schemas.openxmlformats.org/officeDocument/2006/relationships" id="278" r:id="R663600f2715b424b"/>
    <p:sldId xmlns:r="http://schemas.openxmlformats.org/officeDocument/2006/relationships" id="279" r:id="R96f897ace9bc4afb"/>
    <p:sldId xmlns:r="http://schemas.openxmlformats.org/officeDocument/2006/relationships" id="280" r:id="R1213c328788d4229"/>
    <p:sldId xmlns:r="http://schemas.openxmlformats.org/officeDocument/2006/relationships" id="281" r:id="Rf16a6e1aacd4450c"/>
  </p:sldIdLst>
  <p:sldSz cx="9144000" cy="5143500"/>
  <p:notesSz cx="6858000" cy="9144000"/>
  <p:defaultTextStyle>
    <a:defPPr xmlns:a="http://schemas.openxmlformats.org/drawingml/2006/main">
      <a:defRPr lang="en-US"/>
    </a:defPPr>
    <a:lvl1pPr xmlns:a="http://schemas.openxmlformats.org/drawingml/2006/main" marL="0" indent="0" algn="l" defTabSz="914400">
      <a:defRPr sz="1800" kern="1200">
        <a:solidFill>
          <a:schemeClr val="tx1"/>
        </a:solidFill>
        <a:latin typeface="+mn-lt"/>
        <a:ea typeface="+mn-ea"/>
        <a:cs typeface="+mn-cs"/>
      </a:defRPr>
    </a:lvl1pPr>
    <a:lvl2pPr xmlns:a="http://schemas.openxmlformats.org/drawingml/2006/main" marL="457200" indent="0" algn="l" defTabSz="914400">
      <a:defRPr sz="1800" kern="1200">
        <a:solidFill>
          <a:schemeClr val="tx1"/>
        </a:solidFill>
        <a:latin typeface="+mn-lt"/>
        <a:ea typeface="+mn-ea"/>
        <a:cs typeface="+mn-cs"/>
      </a:defRPr>
    </a:lvl2pPr>
    <a:lvl3pPr xmlns:a="http://schemas.openxmlformats.org/drawingml/2006/main" marL="914400" indent="0" algn="l" defTabSz="914400">
      <a:defRPr sz="1800" kern="1200">
        <a:solidFill>
          <a:schemeClr val="tx1"/>
        </a:solidFill>
        <a:latin typeface="+mn-lt"/>
        <a:ea typeface="+mn-ea"/>
        <a:cs typeface="+mn-cs"/>
      </a:defRPr>
    </a:lvl3pPr>
    <a:lvl4pPr xmlns:a="http://schemas.openxmlformats.org/drawingml/2006/main" marL="1371600" indent="0" algn="l" defTabSz="914400">
      <a:defRPr sz="1800" kern="1200">
        <a:solidFill>
          <a:schemeClr val="tx1"/>
        </a:solidFill>
        <a:latin typeface="+mn-lt"/>
        <a:ea typeface="+mn-ea"/>
        <a:cs typeface="+mn-cs"/>
      </a:defRPr>
    </a:lvl4pPr>
    <a:lvl5pPr xmlns:a="http://schemas.openxmlformats.org/drawingml/2006/main" marL="1828800" indent="0" algn="l" defTabSz="914400">
      <a:defRPr sz="1800" kern="1200">
        <a:solidFill>
          <a:schemeClr val="tx1"/>
        </a:solidFill>
        <a:latin typeface="+mn-lt"/>
        <a:ea typeface="+mn-ea"/>
        <a:cs typeface="+mn-cs"/>
      </a:defRPr>
    </a:lvl5pPr>
    <a:lvl6pPr xmlns:a="http://schemas.openxmlformats.org/drawingml/2006/main" marL="2286000" indent="0" algn="l" defTabSz="914400">
      <a:defRPr sz="1800" kern="1200">
        <a:solidFill>
          <a:schemeClr val="tx1"/>
        </a:solidFill>
        <a:latin typeface="+mn-lt"/>
        <a:ea typeface="+mn-ea"/>
        <a:cs typeface="+mn-cs"/>
      </a:defRPr>
    </a:lvl6pPr>
    <a:lvl7pPr xmlns:a="http://schemas.openxmlformats.org/drawingml/2006/main" marL="2743200" indent="0" algn="l" defTabSz="914400">
      <a:defRPr sz="1800" kern="1200">
        <a:solidFill>
          <a:schemeClr val="tx1"/>
        </a:solidFill>
        <a:latin typeface="+mn-lt"/>
        <a:ea typeface="+mn-ea"/>
        <a:cs typeface="+mn-cs"/>
      </a:defRPr>
    </a:lvl7pPr>
    <a:lvl8pPr xmlns:a="http://schemas.openxmlformats.org/drawingml/2006/main" marL="3200400" indent="0" algn="l" defTabSz="914400">
      <a:defRPr sz="1800" kern="1200">
        <a:solidFill>
          <a:schemeClr val="tx1"/>
        </a:solidFill>
        <a:latin typeface="+mn-lt"/>
        <a:ea typeface="+mn-ea"/>
        <a:cs typeface="+mn-cs"/>
      </a:defRPr>
    </a:lvl8pPr>
    <a:lvl9pPr xmlns:a="http://schemas.openxmlformats.org/drawingml/2006/main" marL="3657600" indent="0" algn="l" defTabSz="914400">
      <a:defRPr sz="1800" kern="1200">
        <a:solidFill>
          <a:schemeClr val="tx1"/>
        </a:solidFill>
        <a:latin typeface="+mn-lt"/>
        <a:ea typeface="+mn-ea"/>
        <a:cs typeface="+mn-cs"/>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6C92A692-798E-4634-90B1-36CD3966BFCB}">
  <a:tblStyle styleId="{6C92A692-798E-4634-90B1-36CD3966BFCB}"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p="http://schemas.openxmlformats.org/presentationml/2006/main">
  <p:slideViewPr>
    <p:cSldViewPr snapToGrid="0">
      <p:cViewPr>
        <p:scale>
          <a:sx xmlns:a="http://schemas.openxmlformats.org/drawingml/2006/main" n="1" d="1"/>
          <a:sy xmlns:a="http://schemas.openxmlformats.org/drawingml/2006/main" n="1" d="1"/>
        </p:scale>
        <p:origin x="0" y="0"/>
      </p:cViewPr>
      <p:guideLst/>
    </p:cSldViewPr>
  </p:slideViewPr>
  <p:gridSpacing cx="72008" cy="72008"/>
</p:viewPr>
</file>

<file path=ppt/_rels/presentation.xml.rels><?xml version='1.0' encoding='UTF-8' standalone='yes'?>
<Relationships xmlns="http://schemas.openxmlformats.org/package/2006/relationships"><Relationship Id="R08a83617ae454b53" Type="http://schemas.openxmlformats.org/officeDocument/2006/relationships/slide" Target="slides/slide4.xml"/><Relationship Id="R09f0650515b04502" Type="http://schemas.openxmlformats.org/officeDocument/2006/relationships/theme" Target="theme/theme1.xml"/><Relationship Id="R0a144d2a29204b72" Type="http://schemas.openxmlformats.org/officeDocument/2006/relationships/slide" Target="slides/slide21.xml"/><Relationship Id="R1213c328788d4229" Type="http://schemas.openxmlformats.org/officeDocument/2006/relationships/slide" Target="slides/slide25.xml"/><Relationship Id="R15c4811db8db4af7" Type="http://schemas.openxmlformats.org/officeDocument/2006/relationships/slide" Target="slides/slide11.xml"/><Relationship Id="R16f4554795ad49bf" Type="http://schemas.openxmlformats.org/officeDocument/2006/relationships/slide" Target="slides/slide3.xml"/><Relationship Id="R2303327d17b0474d" Type="http://schemas.openxmlformats.org/officeDocument/2006/relationships/slide" Target="slides/slide12.xml"/><Relationship Id="R288570690c0c4146" Type="http://schemas.openxmlformats.org/officeDocument/2006/relationships/slide" Target="slides/slide17.xml"/><Relationship Id="R2bfd8ef300f84303" Type="http://schemas.openxmlformats.org/officeDocument/2006/relationships/slide" Target="slides/slide9.xml"/><Relationship Id="R3ad503f37e33485e" Type="http://schemas.openxmlformats.org/officeDocument/2006/relationships/slide" Target="slides/slide13.xml"/><Relationship Id="R57f6c0ae66c045cc" Type="http://schemas.openxmlformats.org/officeDocument/2006/relationships/slide" Target="slides/slide20.xml"/><Relationship Id="R5b2d989c52ee4a5c" Type="http://schemas.openxmlformats.org/officeDocument/2006/relationships/viewProps" Target="viewProps.xml"/><Relationship Id="R663600f2715b424b" Type="http://schemas.openxmlformats.org/officeDocument/2006/relationships/slide" Target="slides/slide23.xml"/><Relationship Id="R70b4d4f668624d32" Type="http://schemas.openxmlformats.org/officeDocument/2006/relationships/slide" Target="slides/slide10.xml"/><Relationship Id="R7ffc4e4ccaff4191" Type="http://schemas.openxmlformats.org/officeDocument/2006/relationships/slide" Target="slides/slide19.xml"/><Relationship Id="R804308cb906d4b3b" Type="http://schemas.openxmlformats.org/officeDocument/2006/relationships/slide" Target="slides/slide14.xml"/><Relationship Id="R91adafa22a33423a" Type="http://schemas.openxmlformats.org/officeDocument/2006/relationships/tableStyles" Target="tableStyles.xml"/><Relationship Id="R96f897ace9bc4afb" Type="http://schemas.openxmlformats.org/officeDocument/2006/relationships/slide" Target="slides/slide24.xml"/><Relationship Id="R9e6536eda00144e7" Type="http://schemas.openxmlformats.org/officeDocument/2006/relationships/slide" Target="slides/slide1.xml"/><Relationship Id="Ra3cc3f6f28864d7d" Type="http://schemas.openxmlformats.org/officeDocument/2006/relationships/slide" Target="slides/slide16.xml"/><Relationship Id="Raa9afacfa71843bb" Type="http://schemas.openxmlformats.org/officeDocument/2006/relationships/slide" Target="slides/slide18.xml"/><Relationship Id="Rabe98989449740d8" Type="http://schemas.openxmlformats.org/officeDocument/2006/relationships/slide" Target="slides/slide22.xml"/><Relationship Id="Rb18964d791fc47a3" Type="http://schemas.openxmlformats.org/officeDocument/2006/relationships/slide" Target="slides/slide15.xml"/><Relationship Id="Rb3528f1c2b0542e7" Type="http://schemas.openxmlformats.org/officeDocument/2006/relationships/slide" Target="slides/slide7.xml"/><Relationship Id="Rb9bb0289ef914a7d" Type="http://schemas.openxmlformats.org/officeDocument/2006/relationships/slideMaster" Target="slideMasters/slideMaster1.xml"/><Relationship Id="Rc5dba0086a6d4f0a" Type="http://schemas.openxmlformats.org/officeDocument/2006/relationships/slide" Target="slides/slide6.xml"/><Relationship Id="Rdea75d5655d34dec" Type="http://schemas.openxmlformats.org/officeDocument/2006/relationships/presProps" Target="presProps.xml"/><Relationship Id="Rdf430edcdf8c4c7b" Type="http://schemas.openxmlformats.org/officeDocument/2006/relationships/slide" Target="slides/slide8.xml"/><Relationship Id="Re04d1a3300924db2" Type="http://schemas.openxmlformats.org/officeDocument/2006/relationships/notesMaster" Target="notesMasters/notesMaster1.xml"/><Relationship Id="Rec544795b4fd44b9" Type="http://schemas.openxmlformats.org/officeDocument/2006/relationships/slide" Target="slides/slide5.xml"/><Relationship Id="Rf16a6e1aacd4450c" Type="http://schemas.openxmlformats.org/officeDocument/2006/relationships/slide" Target="slides/slide26.xml"/><Relationship Id="Rf76ddbaa01074479"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38df7a74ae9b4c5b"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dk2" tx2="lt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notesSlides/_rels/notesSlide1.xml.rels><?xml version='1.0' encoding='UTF-8' standalone='yes'?>
<Relationships xmlns="http://schemas.openxmlformats.org/package/2006/relationships"><Relationship Id="R4d274a3502bb4c4f" Type="http://schemas.openxmlformats.org/officeDocument/2006/relationships/notesMaster" Target="../notesMasters/notesMaster1.xml"/><Relationship Id="Rbb0ad16afa364c77"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5cc041cbd3a14070" Type="http://schemas.openxmlformats.org/officeDocument/2006/relationships/notesMaster" Target="../notesMasters/notesMaster1.xml"/><Relationship Id="R9df12e2fa02f4d50"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504fc047e2294fb1" Type="http://schemas.openxmlformats.org/officeDocument/2006/relationships/notesMaster" Target="../notesMasters/notesMaster1.xml"/><Relationship Id="Rba1789702074459b"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810b3e7b968747c8" Type="http://schemas.openxmlformats.org/officeDocument/2006/relationships/slide" Target="../slides/slide4.xml"/><Relationship Id="Rdd3f5deac7f0418a"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233d8795c08e452f" Type="http://schemas.openxmlformats.org/officeDocument/2006/relationships/notesMaster" Target="../notesMasters/notesMaster1.xml"/><Relationship Id="R87ced5fffc4446f5"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06d074a974284cc6" Type="http://schemas.openxmlformats.org/officeDocument/2006/relationships/slide" Target="../slides/slide6.xml"/><Relationship Id="R1c62b3af6b5e41ed"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171b84909bd14b52" Type="http://schemas.openxmlformats.org/officeDocument/2006/relationships/slide" Target="../slides/slide7.xml"/><Relationship Id="Rb98b1a2de1be4163"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00b876b2c76c4bc2" Type="http://schemas.openxmlformats.org/officeDocument/2006/relationships/slide" Target="../slides/slide8.xml"/><Relationship Id="R2f95dd43f9da45f2"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4f2ce4ad4b094f15" Type="http://schemas.openxmlformats.org/officeDocument/2006/relationships/notesMaster" Target="../notesMasters/notesMaster1.xml"/><Relationship Id="Rce91246344764955"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2aed983d7d9947c3" Type="http://schemas.openxmlformats.org/officeDocument/2006/relationships/slide" Target="../slides/slide10.xml"/><Relationship Id="Rb9cb84fe21a94d12"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cf5ff876e3ee4731" Type="http://schemas.openxmlformats.org/officeDocument/2006/relationships/slide" Target="../slides/slide11.xml"/><Relationship Id="Rd44df243f573486e"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68b5466982654b48" Type="http://schemas.openxmlformats.org/officeDocument/2006/relationships/notesMaster" Target="../notesMasters/notesMaster1.xml"/><Relationship Id="Rb429769223484426"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8ff0245306114951" Type="http://schemas.openxmlformats.org/officeDocument/2006/relationships/notesMaster" Target="../notesMasters/notesMaster1.xml"/><Relationship Id="Re93cd98183d346bf"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27c04c87009042e4" Type="http://schemas.openxmlformats.org/officeDocument/2006/relationships/notesMaster" Target="../notesMasters/notesMaster1.xml"/><Relationship Id="R53718d6182bc41e4"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ae7b43190e644836" Type="http://schemas.openxmlformats.org/officeDocument/2006/relationships/notesMaster" Target="../notesMasters/notesMaster1.xml"/><Relationship Id="Rc0a5327a897f4b2e"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09136345d4a84fe5" Type="http://schemas.openxmlformats.org/officeDocument/2006/relationships/notesMaster" Target="../notesMasters/notesMaster1.xml"/><Relationship Id="R89d35c0923754c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422943f256144865" Type="http://schemas.openxmlformats.org/officeDocument/2006/relationships/slide" Target="../slides/slide17.xml"/><Relationship Id="Rd2e050ce8059405c"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357184ca90a64f54" Type="http://schemas.openxmlformats.org/officeDocument/2006/relationships/slide" Target="../slides/slide18.xml"/><Relationship Id="R6129d9fd09f249f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ca93d83a329b4caa" Type="http://schemas.openxmlformats.org/officeDocument/2006/relationships/notesMaster" Target="../notesMasters/notesMaster1.xml"/><Relationship Id="Rec6a005f8e2e4c4b"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29ff0d865c344c72" Type="http://schemas.openxmlformats.org/officeDocument/2006/relationships/slide" Target="../slides/slide20.xml"/><Relationship Id="R649bbec6c9d349ff"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66661a86df7547d8" Type="http://schemas.openxmlformats.org/officeDocument/2006/relationships/notesMaster" Target="../notesMasters/notesMaster1.xml"/><Relationship Id="Ra0611f2c54e24d95"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22a83107e4f04b3f" Type="http://schemas.openxmlformats.org/officeDocument/2006/relationships/notesMaster" Target="../notesMasters/notesMaster1.xml"/><Relationship Id="R8b938c7a5d304cb3"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3058a6ba35be4653" Type="http://schemas.openxmlformats.org/officeDocument/2006/relationships/slide" Target="../slides/slide23.xml"/><Relationship Id="Rc877b402e6e940c6"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430eca9b92ed45af" Type="http://schemas.openxmlformats.org/officeDocument/2006/relationships/notesMaster" Target="../notesMasters/notesMaster1.xml"/><Relationship Id="R81e5a4bf8d9c4b6a"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7494d869b79f47df" Type="http://schemas.openxmlformats.org/officeDocument/2006/relationships/notesMaster" Target="../notesMasters/notesMaster1.xml"/><Relationship Id="Ra3463da3760e45b9"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6d1c47b3744148c5" Type="http://schemas.openxmlformats.org/officeDocument/2006/relationships/slide" Target="../slides/slide26.xml"/><Relationship Id="Rbfd180e62bee4618" Type="http://schemas.openxmlformats.org/officeDocument/2006/relationships/notesMaster" Target="../notesMasters/notesMaster1.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Welcome, and thank you for joining this session.</a:t>
            </a:r>
          </a:p>
          <a:p xmlns:a="http://schemas.openxmlformats.org/drawingml/2006/main">
            <a:r>
              <a:t>Today we will study the ontology of existence as stated in Madhyasth Darshan, also called Co-existentialism, propounded by Shri A. Nagraj. The name itself carries a thesis: madhyasth means mediative. The darshan holds that reality is regulated and conserved through an inherent, mediative orderliness, not by an external governor.</a:t>
            </a:r>
          </a:p>
          <a:p xmlns:a="http://schemas.openxmlformats.org/drawingml/2006/main">
            <a:r>
              <a:t>This presentation follows Section 1 of the study The Ontology of Coexistence. It states the darshan’s ontology on its own terms, grounded in the primary texts — Madhyasth Darshan, Manav Karm Darshan, Samadhanatmak Bhautikvad, and Jeevan Vidya.</a:t>
            </a:r>
          </a:p>
          <a:p xmlns:a="http://schemas.openxmlformats.org/drawingml/2006/main">
            <a:r>
              <a:t>Here is the core claim I want you to hold for the whole session: existence is coexistence. It is the ever-present togetherness of a formless, all-pervasive ground — satta — and countless real, bounded units of nature, each saturated in that ground. You will see the slides use the translation’s word Omnipotence for that ground; in spoken explanation I will often say Omnipresence. Both names point to the same reality.</a:t>
            </a:r>
          </a:p>
          <a:p xmlns:a="http://schemas.openxmlformats.org/drawingml/2006/main">
            <a:r>
              <a:t>Everything that follows — sentience, values, justice, and humane society — unfolds from this one picture. The study is written from a scientist-technologist standpoint. Our aim is rigorous understanding: testing definitions and internal consistency — not persuasion, and not devotion.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Before we enter the details, here is the map of the argument.</a:t>
            </a:r>
          </a:p>
          <a:p xmlns:a="http://schemas.openxmlformats.org/drawingml/2006/main">
            <a:r>
              <a:t>One claim — existence is coexistence — will be carried through three movements.</a:t>
            </a:r>
          </a:p>
          <a:p xmlns:a="http://schemas.openxmlformats.org/drawingml/2006/main">
            <a:r>
              <a:t>First: what is real, and how it is ordered. Coexistence is the bond of an all-pervasive ground and countable units. Each definite unit bears form, properties or guna, essential nature or svabhav, and dharma. Their expression becomes evident in mutuality across four orders of nature.</a:t>
            </a:r>
          </a:p>
          <a:p xmlns:a="http://schemas.openxmlformats.org/drawingml/2006/main">
            <a:r>
              <a:t>Second: how two developmental lines proceed. One line is compositional: particles, atoms, molecules, cells, and bodies form larger configurations. The other is development in an atom, which can reach constitutional completeness as sentient jeevan. Across both lines, every activity is effort, motion, and result together.</a:t>
            </a:r>
          </a:p>
          <a:p xmlns:a="http://schemas.openxmlformats.org/drawingml/2006/main">
            <a:r>
              <a:t>Third: how sentient living becomes awakened conduct — the human joint form of body and jeevan, the faculties and activities of jeevan, the four harmonies, evaluation, realisation, and participation in humane order.</a:t>
            </a:r>
          </a:p>
          <a:p xmlns:a="http://schemas.openxmlformats.org/drawingml/2006/main">
            <a:r>
              <a:t>Please keep this distinction early: the body’s compositional line and jeevan’s atomic line meet in animal and human living, but they do not become the same process. That prevents the most common confusion — treating the body as the producer of sentience.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Every serious ontology has to answer a small set of framing questions. Let us name them before we give Madhyasth Darshan’s answers.</a:t>
            </a:r>
          </a:p>
          <a:p xmlns:a="http://schemas.openxmlformats.org/drawingml/2006/main">
            <a:r>
              <a:t>What is existence? Is there one fundamental reality, or many — and how are they related?</a:t>
            </a:r>
          </a:p>
          <a:p xmlns:a="http://schemas.openxmlformats.org/drawingml/2006/main">
            <a:r>
              <a:t>What exists? What are the basic constituents of reality, and what is each of them?</a:t>
            </a:r>
          </a:p>
          <a:p xmlns:a="http://schemas.openxmlformats.org/drawingml/2006/main">
            <a:r>
              <a:t>Does what exists begin? Did reality originate at some time — or is origination only of configurations?</a:t>
            </a:r>
          </a:p>
          <a:p xmlns:a="http://schemas.openxmlformats.org/drawingml/2006/main">
            <a:r>
              <a:t>Does the self begin or end with the body? Is the individual self, jeevan, produced by the body and destroyed with it?</a:t>
            </a:r>
          </a:p>
          <a:p xmlns:a="http://schemas.openxmlformats.org/drawingml/2006/main">
            <a:r>
              <a:t>Is the world finally real? Is the plural world of units an appearance, or real in its own right?</a:t>
            </a:r>
          </a:p>
          <a:p xmlns:a="http://schemas.openxmlformats.org/drawingml/2006/main">
            <a:r>
              <a:t>And sixth: how can what exists be known? What must be understood — and at what scope — to know each aspect of reality?</a:t>
            </a:r>
          </a:p>
          <a:p xmlns:a="http://schemas.openxmlformats.org/drawingml/2006/main">
            <a:r>
              <a:t>Traditions diverge sharply on these questions — Advaita Vedanta, Western philosophy, and modern science among them. Madhyasth Darshan does not answer them piecemeal. One picture — coexistence — answers all six at once.</a:t>
            </a:r>
          </a:p>
          <a:p xmlns:a="http://schemas.openxmlformats.org/drawingml/2006/main">
            <a:r>
              <a:t>Later we will see how knowing widens on the epistemic ladder, where the drive terminates in realisation, and how method and evidence are distinguished. At the end we will return to this same list with the answers filled in.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This conceptual map is the organising view of Section 1.</a:t>
            </a:r>
          </a:p>
          <a:p xmlns:a="http://schemas.openxmlformats.org/drawingml/2006/main">
            <a:r>
              <a:t>Begin at the top with coexistence: Omnipresence and countless units are inseparable, yet they do not lose their distinction. Then follow the unit side: four aspects, relationships, four orders, and two developmental lines.</a:t>
            </a:r>
          </a:p>
          <a:p xmlns:a="http://schemas.openxmlformats.org/drawingml/2006/main">
            <a:r>
              <a:t>Notice the fork. The body belongs to compositional progression. Jeevan is the result of development in an atom. The two meet in the animal and human joint form.</a:t>
            </a:r>
          </a:p>
          <a:p xmlns:a="http://schemas.openxmlformats.org/drawingml/2006/main">
            <a:r>
              <a:t>T1 marks the arrival of sentience. T2 and T3 concern awakening and conduct in jeevan — they are not further material stages.</a:t>
            </a:r>
          </a:p>
          <a:p xmlns:a="http://schemas.openxmlformats.org/drawingml/2006/main">
            <a:r>
              <a:t>When later slides feel dense, return mentally to this map. Most of what follows is a zoom into one node of this picture.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This is the foundation.</a:t>
            </a:r>
          </a:p>
          <a:p xmlns:a="http://schemas.openxmlformats.org/drawingml/2006/main">
            <a:r>
              <a:t>Existence has two inseparable aspects. The first is Omnipresence — satta. It is formless, all-pervasive, non-transforming, and immeasurable. It is actionless energy. It performs no actions, yet every unit is energised, regulated, and conserved in it. There is no place where it is absent.</a:t>
            </a:r>
          </a:p>
          <a:p xmlns:a="http://schemas.openxmlformats.org/drawingml/2006/main">
            <a:r>
              <a:t>The second aspect is units of nature. They are formful, active, and countable. Each is bounded from six directions and saturated in Omnipresence. Each bears form, guna, svabhav, and dharma, whose expression is evident in definite mutuality.</a:t>
            </a:r>
          </a:p>
          <a:p xmlns:a="http://schemas.openxmlformats.org/drawingml/2006/main">
            <a:r>
              <a:t>Do not collapse levels. At the root, nature is analysed as atomic units — a centre with orbiting parts. Compounds and bodies are composite units. Body and jeevan together are a joint form. Families and societies are relational assemblies.</a:t>
            </a:r>
          </a:p>
          <a:p xmlns:a="http://schemas.openxmlformats.org/drawingml/2006/main">
            <a:r>
              <a:t>These two poles were never separate. Separation of a unit from the saturated whole never happens. The ground is state-complete — without motion, wave, or pressure. Nature saturated in it is state-dynamic. Therefore all change is unit-activity.</a:t>
            </a:r>
          </a:p>
          <a:p xmlns:a="http://schemas.openxmlformats.org/drawingml/2006/main">
            <a:r>
              <a:t>One caution on names. The texts list many English names for satta — Uniform Energy, Space, Knowledge, Consciousness, Omnipresence, Eternity, God, Absolute Energy. When you hear Knowledge or Consciousness in that list, do not hear a mind that knows. Active sentience belongs to jeevan, the sentient unit — never to the ground.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How exactly are ground and units related? Through saturation — samprikt.</a:t>
            </a:r>
          </a:p>
          <a:p xmlns:a="http://schemas.openxmlformats.org/drawingml/2006/main">
            <a:r>
              <a:t>Every formful unit is soaked, submerged, and surrounded in Omnipresence. From this ever-present bond, Madhyasth Darshan says three endowments are evident on the unit side.</a:t>
            </a:r>
          </a:p>
          <a:p xmlns:a="http://schemas.openxmlformats.org/drawingml/2006/main">
            <a:r>
              <a:t>First, recognition capability. Complementarity is given in coexistence; it is not created by us. In insentient nature, reflection, recognition, and fulfilment occur definitely through the unit’s capacity, ability, and receptivity. No human observer is required.</a:t>
            </a:r>
          </a:p>
          <a:p xmlns:a="http://schemas.openxmlformats.org/drawingml/2006/main">
            <a:r>
              <a:t>Second, activeness. The texts say: unit plus energy fullness equals activeness. Inherent energy and basic impulsion make the unit active, appearing as the inseparable triad of effort, motion, and result.</a:t>
            </a:r>
          </a:p>
          <a:p xmlns:a="http://schemas.openxmlformats.org/drawingml/2006/main">
            <a:r>
              <a:t>Third, inherent regulation — orderliness within the unit’s participation in coexistence: mediative and conserving, not an external statutory command.</a:t>
            </a:r>
          </a:p>
          <a:p xmlns:a="http://schemas.openxmlformats.org/drawingml/2006/main">
            <a:r>
              <a:t>Please hear the caution on the slide. This is an ontological entailment, not a proposed measurable transfer mechanism. And not every unit progresses to constitutional completeness. Omnipresence does not push units from outside.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What is every unit? Four inseparable aspects — but not a static checklist pasted onto things.</a:t>
            </a:r>
          </a:p>
          <a:p xmlns:a="http://schemas.openxmlformats.org/drawingml/2006/main">
            <a:r>
              <a:t>The bearer is definite: a bounded unit with constitution, state, order, and capacities.</a:t>
            </a:r>
          </a:p>
          <a:p xmlns:a="http://schemas.openxmlformats.org/drawingml/2006/main">
            <a:r>
              <a:t>Form is real boundary and configuration. Take the peepal tree on the slide: one bounded living form with trunk, branches, leaves, and roots.</a:t>
            </a:r>
          </a:p>
          <a:p xmlns:a="http://schemas.openxmlformats.org/drawingml/2006/main">
            <a:r>
              <a:t>Properties — guna — are capacity and relative effect. In the peepal: nutrition, growth, repair, seed production, and degeneration become evident under definite conditions.</a:t>
            </a:r>
          </a:p>
          <a:p xmlns:a="http://schemas.openxmlformats.org/drawingml/2006/main">
            <a:r>
              <a:t>Essential nature — svabhav — is usefulness in context. For the peepal: vitalising while its living organisation is maintained; devitalising when that organisation breaks down.</a:t>
            </a:r>
          </a:p>
          <a:p xmlns:a="http://schemas.openxmlformats.org/drawingml/2006/main">
            <a:r>
              <a:t>Dharma is innateness and order-specific fulfilment. The peepal has existence plus growth. Seed-conformance is its mode of conduct, not an extra dharma piled on top.</a:t>
            </a:r>
          </a:p>
          <a:p xmlns:a="http://schemas.openxmlformats.org/drawingml/2006/main">
            <a:r>
              <a:t>Form is real; what another unit encounters is its definite reflection in mutual facing. In insentient nature these aspects are definite. Mis-evaluation arises only in human living, when jeevan under delusion takes the body to be the self.</a:t>
            </a:r>
          </a:p>
          <a:p xmlns:a="http://schemas.openxmlformats.org/drawingml/2006/main">
            <a:r>
              <a:t>And notice the persistence note: the tree as a composite form can die and decompose, while its constituent material units persist and enter other compositions. Persistence of existence is not persistence of one configuration.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Jeevan Vidya states the principle: nothing is isolated.</a:t>
            </a:r>
          </a:p>
          <a:p xmlns:a="http://schemas.openxmlformats.org/drawingml/2006/main">
            <a:r>
              <a:t>Existence holds relations between units, and it is in those relations that complementarity is actualised as value in mutuality. Expression is definite in the material, bio, and animal orders. At the human order, evaluation may err under body-identification.</a:t>
            </a:r>
          </a:p>
          <a:p xmlns:a="http://schemas.openxmlformats.org/drawingml/2006/main">
            <a:r>
              <a:t>Two kinds of mutuality matter. A relationship — sambandh — is mutuality whose expectations and fulfilment are definite in the relation’s completeness: parent and child. An association or contact — sampark — is mutuality where expectations are voluntary: neighbours who share a wall.</a:t>
            </a:r>
          </a:p>
          <a:p xmlns:a="http://schemas.openxmlformats.org/drawingml/2006/main">
            <a:r>
              <a:t>The slide names five value families: object, jeevan, human, relationship, and established or civic. Object values are utility and art. So the six named values are utility, art, jeevan, human, relationship, and established or civic.</a:t>
            </a:r>
          </a:p>
          <a:p xmlns:a="http://schemas.openxmlformats.org/drawingml/2006/main">
            <a:r>
              <a:t>At the human order the path runs: knowing, then believing, then recognising, then fulfilling. Awakening does not create new faculties. It aligns this chain with coexistence. Established and civic values articulate that fulfilment in society.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Units organise into four stable orders of nature: material; bio or pranic; animal; and knowledge — the human order.</a:t>
            </a:r>
          </a:p>
          <a:p xmlns:a="http://schemas.openxmlformats.org/drawingml/2006/main">
            <a:r>
              <a:t>Read the table downward. Dharma is cumulative. Matter has existence. The bio order adds growth. The animal order adds hope to live. The knowledge order adds happiness. Higher orders include the dharmas of the lower ones.</a:t>
            </a:r>
          </a:p>
          <a:p xmlns:a="http://schemas.openxmlformats.org/drawingml/2006/main">
            <a:r>
              <a:t>The pivotal boundary is between the pranic and the animal. Material and pranic orders are insentient. Hope to live is where sentience enters. Jeevan is present in animal and human joint forms.</a:t>
            </a:r>
          </a:p>
          <a:p xmlns:a="http://schemas.openxmlformats.org/drawingml/2006/main">
            <a:r>
              <a:t>In animals, bodily and brain development limits how jeevan’s faculties can be expressed through the body. In humans, the bodily medium supports the full range, but delusion can misdirect evaluation. Neither body produces sentience. Please do not collapse either condition into a story of mind emerging from matter alone.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Madhyasth Darshan distinguishes two developments that must not be collapsed.</a:t>
            </a:r>
          </a:p>
          <a:p xmlns:a="http://schemas.openxmlformats.org/drawingml/2006/main">
            <a:r>
              <a:t>Compositional progression joins particles, atoms, molecules, cells, and bodies into larger configurations. Development in an atom can reach constitutional completeness as jeevan. These lines meet in living joint forms, but they remain distinct.</a:t>
            </a:r>
          </a:p>
          <a:p xmlns:a="http://schemas.openxmlformats.org/drawingml/2006/main">
            <a:r>
              <a:t>Across both, activity is one inseparable triad: effort, motion, and result. These are three joint aspects of one activity, not three steps in a sequence. When sodium and chlorine approach one another, the approach is effort and motion together; the stable salt crystal is the result.</a:t>
            </a:r>
          </a:p>
          <a:p xmlns:a="http://schemas.openxmlformats.org/drawingml/2006/main">
            <a:r>
              <a:t>The texts compress the engine of development this way: saturation itself is forcefulness; forcefulness is basic impulsion; impulsion is activity; activity is effort-motion-result; and that is development and its continuity.</a:t>
            </a:r>
          </a:p>
          <a:p xmlns:a="http://schemas.openxmlformats.org/drawingml/2006/main">
            <a:r>
              <a:t>Each term has a goal: restfulness of effort, destination of motion, immortality of result. Nature saturated in the ground is oriented for development and awakening until realisation. That bound is called an existential truth. Development pervades nature; awakening occurs in the sentient. Insentient units participate by composing bodies and environments without each individually completing the drive.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The three transitions are developmental milestones.</a:t>
            </a:r>
          </a:p>
          <a:p xmlns:a="http://schemas.openxmlformats.org/drawingml/2006/main">
            <a:r>
              <a:t>T1 is constitutional completeness — gathanpurnata: immortality of result. A developing atom becomes sentient jeevan. The plane shifts from physicochemical to delusional — meaning the body is mistaken for the self, not psychiatric illness.</a:t>
            </a:r>
          </a:p>
          <a:p xmlns:a="http://schemas.openxmlformats.org/drawingml/2006/main">
            <a:r>
              <a:t>T2 is activity completeness — kriyapurnata: restfulness of effort. Internal seeking resolves into direct realisation and absolute resolution. The plane shifts from delusional to deific.</a:t>
            </a:r>
          </a:p>
          <a:p xmlns:a="http://schemas.openxmlformats.org/drawingml/2006/main">
            <a:r>
              <a:t>T3 is conduct completeness — acharanpurnata: destination of motion. Authentic conduct becomes living proof. The plane shifts from deific to divine.</a:t>
            </a:r>
          </a:p>
          <a:p xmlns:a="http://schemas.openxmlformats.org/drawingml/2006/main">
            <a:r>
              <a:t>Keep T2 and T3 apart. T2 is internal settlement of effort. T3 is external destination in conduct. And do not confuse T2’s restfulness with the ease of insentient natural-state complementarity.</a:t>
            </a:r>
          </a:p>
          <a:p xmlns:a="http://schemas.openxmlformats.org/drawingml/2006/main">
            <a:r>
              <a:t>T1 is constitutional completeness of an atom. T2 and T3 are not further material stages; they name completeness of activity and conduct in awakened jeevan. In one line: the saturated realises the ground it is saturated in. That is the completeness drive.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This slide is a confusion-preventer. Madhyasth Darshan uses several classifications that overlap without being interchangeable. Each answers a different question.</a:t>
            </a:r>
          </a:p>
          <a:p xmlns:a="http://schemas.openxmlformats.org/drawingml/2006/main">
            <a:r>
              <a:t>Orders — material, bio, animal, knowledge — classify organisation, svabhav, and dharma. Do not confuse orders with planes.</a:t>
            </a:r>
          </a:p>
          <a:p xmlns:a="http://schemas.openxmlformats.org/drawingml/2006/main">
            <a:r>
              <a:t>Progressions — physicochemical, delusional, deific, divine — track status across T1, T2, and T3. Do not confuse them with orders or planes.</a:t>
            </a:r>
          </a:p>
          <a:p xmlns:a="http://schemas.openxmlformats.org/drawingml/2006/main">
            <a:r>
              <a:t>Planes name scope of knowing and experience. They are not simply material stages.</a:t>
            </a:r>
          </a:p>
          <a:p xmlns:a="http://schemas.openxmlformats.org/drawingml/2006/main">
            <a:r>
              <a:t>Human types — animal, demon, human, divine, transcendental — mark orientation of human living. Do not confuse them with value families.</a:t>
            </a:r>
          </a:p>
          <a:p xmlns:a="http://schemas.openxmlformats.org/drawingml/2006/main">
            <a:r>
              <a:t>T1 separates the physicochemical from the sentient. T2 and T3 concern awakening and conduct. So if someone asks whether the human order is the same as the divine plane, the answer is no. One human order can span multiple planes.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T1 is the hinge of the ontology: where sentience enters.</a:t>
            </a:r>
          </a:p>
          <a:p xmlns:a="http://schemas.openxmlformats.org/drawingml/2006/main">
            <a:r>
              <a:t>It is constitutional completeness at the atomic level — not neural complexity, not molecular size, and not mere elevation along the order chain.</a:t>
            </a:r>
          </a:p>
          <a:p xmlns:a="http://schemas.openxmlformats.org/drawingml/2006/main">
            <a:r>
              <a:t>The texts describe a constitution-oriented developing atom that takes in particles — hungry and overfull atoms completing each other — within a suitable environment. When the required constitution closes, the particle count no longer increases or decreases.</a:t>
            </a:r>
          </a:p>
          <a:p xmlns:a="http://schemas.openxmlformats.org/drawingml/2006/main">
            <a:r>
              <a:t>Before T1, the evolving atom is still bound by molecular weight and structure; particle count is still changing; it exhibits radiance and projection as an insentient unit. After T1, it is released from molecular and weight bondage and carried by hope. Sentient jeevan shows a finer mode of recognition.</a:t>
            </a:r>
          </a:p>
          <a:p xmlns:a="http://schemas.openxmlformats.org/drawingml/2006/main">
            <a:r>
              <a:t>T1 is irreversible because the completed constitution no longer decomposes. That completed constitution grounds jeevan’s continuity beyond the body.</a:t>
            </a:r>
          </a:p>
          <a:p xmlns:a="http://schemas.openxmlformats.org/drawingml/2006/main">
            <a:r>
              <a:t>I want to be plain: this is an ontological account. No accepted empirical procedure currently identifies the threshold. We will return to that honesty when we discuss method and evidence.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Animal and human living is a joint form.</a:t>
            </a:r>
          </a:p>
          <a:p xmlns:a="http://schemas.openxmlformats.org/drawingml/2006/main">
            <a:r>
              <a:t>Jeevan brings all ten activities. The body supplies the species-specific medium. Animal bodily and brain development limits their expression. The human medium supports the full range, while body-identification can still misdirect evaluation.</a:t>
            </a:r>
          </a:p>
          <a:p xmlns:a="http://schemas.openxmlformats.org/drawingml/2006/main">
            <a:r>
              <a:t>On one side is the body: a pranic composition — sense organs, brain, and physical expression; decomposable. On the other side is jeevan: the constitutionally complete sentient atom; five faculties and ten activities inherent; continuing when the joint form ends.</a:t>
            </a:r>
          </a:p>
          <a:p xmlns:a="http://schemas.openxmlformats.org/drawingml/2006/main">
            <a:r>
              <a:t>The body gates expression. Jeevan is seer, doer, and enjoyer through the body. Animal limitation belongs to the medium. Human mis-evaluation belongs to body-delusion. The body does not produce sentience, and those two problems are not the same problem.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Jeevan is a constitutionally complete sentient atom.</a:t>
            </a:r>
          </a:p>
          <a:p xmlns:a="http://schemas.openxmlformats.org/drawingml/2006/main">
            <a:r>
              <a:t>Structurally, the nucleus is atma, the core self. The rings around it are buddhi, chitta, vritti, and mun — resolve, desire, thought, and hope.</a:t>
            </a:r>
          </a:p>
          <a:p xmlns:a="http://schemas.openxmlformats.org/drawingml/2006/main">
            <a:r>
              <a:t>Each faculty works outward in projection and inward in reflection. Hope selects outward and tastes inward. Thought analyses and deliberates. Desire visualises and contemplates. Resolve resolves and receives enlightenment. The core self authenticates and realises.</a:t>
            </a:r>
          </a:p>
          <a:p xmlns:a="http://schemas.openxmlformats.org/drawingml/2006/main">
            <a:r>
              <a:t>All five faculties and all ten activities belong to jeevan. Presence must be distinguished from expression and from effective organisation. Animal bodies limit expression through the medium. Humans have the bodily medium for the full range, yet under body-delusion only four and a half activities may be effectively organised.</a:t>
            </a:r>
          </a:p>
          <a:p xmlns:a="http://schemas.openxmlformats.org/drawingml/2006/main">
            <a:r>
              <a:t>Study brings understanding. Practice evidences and stabilises it. Practice does not manufacture faculties that were missing.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From Manav Karm Darshan, Chapter 1: the structure of karma.</a:t>
            </a:r>
          </a:p>
          <a:p xmlns:a="http://schemas.openxmlformats.org/drawingml/2006/main">
            <a:r>
              <a:t>Every karma — every activity done with desire — carries five limbs: doer, cause, objective, result, and effect. Effect names the act’s reach or consequence. The text does not add a separate cosmic reward-and-punishment ledger on this slide.</a:t>
            </a:r>
          </a:p>
          <a:p xmlns:a="http://schemas.openxmlformats.org/drawingml/2006/main">
            <a:r>
              <a:t>Desire is the aspiration. Karma is the doing — activity together with aspiration. Result is the fruit. Desire, karma, and result must balance for the desire to be truly accomplished.</a:t>
            </a:r>
          </a:p>
          <a:p xmlns:a="http://schemas.openxmlformats.org/drawingml/2006/main">
            <a:r>
              <a:t>Understanding alone changes nothing. It is the doing that yields the fruit. Book knowledge is only half the work.</a:t>
            </a:r>
          </a:p>
          <a:p xmlns:a="http://schemas.openxmlformats.org/drawingml/2006/main">
            <a:r>
              <a:t>Hold this beside the earlier triad of effort, motion, and result. Karma is the desire-laden framing of activity in sentient living. Later we will see how desire and doing are reorganised under justice, dharma, and truth.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Happiness, peace, contentment, and bliss are not passing moods, and they are not a fourth sequence after T1, T2, and T3.</a:t>
            </a:r>
          </a:p>
          <a:p xmlns:a="http://schemas.openxmlformats.org/drawingml/2006/main">
            <a:r>
              <a:t>They name harmonies within jeevan. Happiness is harmony of mun and vritti — hope and thought. Peace is harmony of vritti and chitta — thought and desire. Contentment is harmony of chitta and buddhi — desire and resolve. Bliss is harmony of buddhi and atma — resolve and the core self.</a:t>
            </a:r>
          </a:p>
          <a:p xmlns:a="http://schemas.openxmlformats.org/drawingml/2006/main">
            <a:r>
              <a:t>Evidenced outwardly, these harmonies support resolution, prosperity, fearlessness, and coexistence in human living.</a:t>
            </a:r>
          </a:p>
          <a:p xmlns:a="http://schemas.openxmlformats.org/drawingml/2006/main">
            <a:r>
              <a:t>Karm Darshan puts the living cycle this way: reflection feeds projection, and projection feeds deeper reflection — this alone is what living means. Continuous happiness is harmony evidenced in resolved living, not a sensory spike.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Composition is not the same as development.</a:t>
            </a:r>
          </a:p>
          <a:p xmlns:a="http://schemas.openxmlformats.org/drawingml/2006/main">
            <a:r>
              <a:t>Physicochemical units compose into mixtures, compounds, cells, and bodies through definite constituent relations. Human families and societies arise differently: through recognised relationships, evaluation, and mutual satisfaction.</a:t>
            </a:r>
          </a:p>
          <a:p xmlns:a="http://schemas.openxmlformats.org/drawingml/2006/main">
            <a:r>
              <a:t>In a mixture, components stay side by side and each maintains its own conduct — no new unit is formed. In a compound, definite proportion yields a new bounded unit, and its form, guna, svabhav, and dharma are evidenced in that new unit’s mutuality.</a:t>
            </a:r>
          </a:p>
          <a:p xmlns:a="http://schemas.openxmlformats.org/drawingml/2006/main">
            <a:r>
              <a:t>Particles to molecules to cells and bodies is composition. Humane assemblies are relational achievements, not a further chemical tier. T1 occurs only when an atom reaches constitutional completeness. Insentient assemblies persist or decline according to whether constituent relationships are fulfilled.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This slide explains the darshan’s name.</a:t>
            </a:r>
          </a:p>
          <a:p xmlns:a="http://schemas.openxmlformats.org/drawingml/2006/main">
            <a:r>
              <a:t>Orderliness is self-regulation, inherent in saturated units — not dispensed by a cosmic governor. This mediative — madhyasth — regulation, which regulates and conserves every unit, gives Madhyasth Darshan its name.</a:t>
            </a:r>
          </a:p>
          <a:p xmlns:a="http://schemas.openxmlformats.org/drawingml/2006/main">
            <a:r>
              <a:t>Conformance has order-specific modes. Material: result or structural conformance. Bio: seed-conformance. Animal: species-conformance, inherited from gestation. Human: learned conformance through understanding.</a:t>
            </a:r>
          </a:p>
          <a:p xmlns:a="http://schemas.openxmlformats.org/drawingml/2006/main">
            <a:r>
              <a:t>Material, bio, and animal regulation is definite. An animal body’s expressive limits do not introduce mis-evaluation. In human living, jeevan can judge wrongly when delusion mistakes the body for the self. Awakening aligns evaluation and fulfilment with coexistence. That is why justice becomes necessary at the knowledge order.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Karm Darshan names six evaluative perspectives: pleasant, healthy, profit, justice, dharma, and truth. They widen from sensation, body, and gain to relationship, orderliness, and coexistence.</a:t>
            </a:r>
          </a:p>
          <a:p xmlns:a="http://schemas.openxmlformats.org/drawingml/2006/main">
            <a:r>
              <a:t>Justice has a dual role: it is one of the six, and it is the principle of fulfilled relationship. Dharma here as an evaluative perspective means fitting the wider pattern — discipline in thought, not only in outer conduct. Truth means alignment with the whole, grounded in realisation, not in liking or gain.</a:t>
            </a:r>
          </a:p>
          <a:p xmlns:a="http://schemas.openxmlformats.org/drawingml/2006/main">
            <a:r>
              <a:t>The graduated chain is: rule itself is justice; justice itself is dharma; dharma itself is truth; truth itself is coexistence.</a:t>
            </a:r>
          </a:p>
          <a:p xmlns:a="http://schemas.openxmlformats.org/drawingml/2006/main">
            <a:r>
              <a:t>Pleasure, health, and profit are not condemned. They remain legitimate in their domain. Awakening changes the organising refuge: they are subordinated under justice, dharma, and truth, not abandoned.</a:t>
            </a:r>
          </a:p>
          <a:p xmlns:a="http://schemas.openxmlformats.org/drawingml/2006/main">
            <a:r>
              <a:t>Keep this distinct from unit-dharma on the earlier slide. Unit-dharma is innateness. The dharma–adharma perspective is an evaluative lens on thought and resolution.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Here are two ladders that meet.</a:t>
            </a:r>
          </a:p>
          <a:p xmlns:a="http://schemas.openxmlformats.org/drawingml/2006/main">
            <a:r>
              <a:t>On the left: what must be understood, as mutual context widens. Form is real structure reflected in mutual facing. Guna is effects evident in definite mutuality. Svabhav is usefulness within state, plane, and order. Dharma is innateness evidenced in whole-order fulfilment. Relationships are shared expectations weighed by justice, dharma, and truth. At the top is coexistence itself — the telos of knowing. This is not a climb away from the unit; it is a widening of the context in which a real unit is understood.</a:t>
            </a:r>
          </a:p>
          <a:p xmlns:a="http://schemas.openxmlformats.org/drawingml/2006/main">
            <a:r>
              <a:t>On the right: how knowing happens within jeevan. Hope tastes and selects. Thought deliberates and analyses. Desire contemplates and visualises. Resolve receives enlightenment and resolves. The core self realises — and realisation takes place through truth. When each level is acted in alignment, it is felt as happiness, peace, contentment, and bliss.</a:t>
            </a:r>
          </a:p>
          <a:p xmlns:a="http://schemas.openxmlformats.org/drawingml/2006/main">
            <a:r>
              <a:t>The ladders meet at the top: coexistence known and acted in the core self is felt as bliss. Human error belongs to deluded evaluation, not to indeterminacy in the reality reflected.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Madhyasth Darshan uses several modes of warrant. They can support one another, but they do not establish the same thing.</a:t>
            </a:r>
          </a:p>
          <a:p xmlns:a="http://schemas.openxmlformats.org/drawingml/2006/main">
            <a:r>
              <a:t>Logical exposition can establish internal coherence and entailment. It cannot by itself establish empirical truth.</a:t>
            </a:r>
          </a:p>
          <a:p xmlns:a="http://schemas.openxmlformats.org/drawingml/2006/main">
            <a:r>
              <a:t>Study and self-examination can establish intelligibility and first-person recognition. They cannot by themselves physically identify jeevan.</a:t>
            </a:r>
          </a:p>
          <a:p xmlns:a="http://schemas.openxmlformats.org/drawingml/2006/main">
            <a:r>
              <a:t>Experiment, practice, and conduct-evidence can establish effects in work, behaviour, and mutual satisfaction. They cannot by themselves measure T1 or the jeevan–body interface.</a:t>
            </a:r>
          </a:p>
          <a:p xmlns:a="http://schemas.openxmlformats.org/drawingml/2006/main">
            <a:r>
              <a:t>Realisation is the darshan’s claimed completion of knowing. It does not force agreement from other methods.</a:t>
            </a:r>
          </a:p>
          <a:p xmlns:a="http://schemas.openxmlformats.org/drawingml/2006/main">
            <a:r>
              <a:t>Publicly measurable physical claims remain answerable to instrument-based scientific inquiry. No accepted measurement procedure currently identifies T1, the jeevan–body interface, or post-body reassociation. Stating that plainly is part of responsible presentation.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Every jeevan bears the same five faculties and ten activities. In human living they answer one question — what makes me happy? — by organising in one of two ways.</a:t>
            </a:r>
          </a:p>
          <a:p xmlns:a="http://schemas.openxmlformats.org/drawingml/2006/main">
            <a:r>
              <a:t>Under delusion, body-identification leaves sensitivity unguided by cognisance. Selection and evaluation remain organised around pleasure, health, and profit.</a:t>
            </a:r>
          </a:p>
          <a:p xmlns:a="http://schemas.openxmlformats.org/drawingml/2006/main">
            <a:r>
              <a:t>Under awakening, cognisance regulates sensitivity. Knowing and believing guide recognition and fulfilment toward justice, dharma, truth, and coexistence.</a:t>
            </a:r>
          </a:p>
          <a:p xmlns:a="http://schemas.openxmlformats.org/drawingml/2006/main">
            <a:r>
              <a:t>No faculty is absent, and sensitivity is not rejected. Delusion lets sensory criteria rule; awakening balances sensitivity with cognisance, so understanding guides conduct.</a:t>
            </a:r>
          </a:p>
          <a:p xmlns:a="http://schemas.openxmlformats.org/drawingml/2006/main">
            <a:r>
              <a:t>When the same fork is resolved in the individual and sustained across a tradition, it is evidenced as resolution, prosperity, fearlessness, and coexistence.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This is where the completeness drive terminates: realisation in coexistence.</a:t>
            </a:r>
          </a:p>
          <a:p xmlns:a="http://schemas.openxmlformats.org/drawingml/2006/main">
            <a:r>
              <a:t>Realisation coordinates three distinct roles: jeevan remains the knower, existence as coexistence remains the known, and threefold knowledge becomes evident through humane conduct.</a:t>
            </a:r>
          </a:p>
          <a:p xmlns:a="http://schemas.openxmlformats.org/drawingml/2006/main">
            <a:r>
              <a:t>Realisation is bliss. Truth itself is abundance — coexistence; realisation of abundance itself is bliss; bliss itself is jeevan. And realisation is knowledge itself, because what is realised is the ground the unit was always soaked in.</a:t>
            </a:r>
          </a:p>
          <a:p xmlns:a="http://schemas.openxmlformats.org/drawingml/2006/main">
            <a:r>
              <a:t>Threefold knowledge comprises the holistic view of coexistence, knowledge of jeevan, and knowledge of humane conduct. Projection makes that understanding evident as authenticity.</a:t>
            </a:r>
          </a:p>
          <a:p xmlns:a="http://schemas.openxmlformats.org/drawingml/2006/main">
            <a:r>
              <a:t>Jeevan remains the knower and seer. Realisation clarifies its own nature and the coexistence in which it participates; it does not dissolve the individual unit. The known is existence as coexistence: Omnipresence and real units in mutuality. Knowledge, knower, and known become coherent without becoming identical. That guardrail is decisive against reading satta as a universal knowing Self.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The drive toward completeness comes to rest in awakened human beings — effort settled, understanding proven in daily conduct, and sustained through a human tradition.</a:t>
            </a:r>
          </a:p>
          <a:p xmlns:a="http://schemas.openxmlformats.org/drawingml/2006/main">
            <a:r>
              <a:t>Effort settled in realisation is T2. Understanding proven in daily conduct is T3.</a:t>
            </a:r>
          </a:p>
          <a:p xmlns:a="http://schemas.openxmlformats.org/drawingml/2006/main">
            <a:r>
              <a:t>The four goals land at four levels: resolution in every person; prosperity in every family; fearlessness — trust — in society; and coexistence with all of nature.</a:t>
            </a:r>
          </a:p>
          <a:p xmlns:a="http://schemas.openxmlformats.org/drawingml/2006/main">
            <a:r>
              <a:t>Five dimensions of continuity carry the tradition: education and sanskar; justice and preservation; health and restraint; production and work; exchange and storage.</a:t>
            </a:r>
          </a:p>
          <a:p xmlns:a="http://schemas.openxmlformats.org/drawingml/2006/main">
            <a:r>
              <a:t>This is not an ideal bolted onto matter. On Madhyasth Darshan’s account, the ontology is such that the progression is designed to arrive here. Nature saturated in Omnipresence is bound for development until realisation. An awakened human tradition is what that progression delivers: what is saturated in the ground has come to realise the ground, and nature stands fulfilled and evident in coexistence.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Let us close the loop and answer the six questions we opened with.</a:t>
            </a:r>
          </a:p>
          <a:p xmlns:a="http://schemas.openxmlformats.org/drawingml/2006/main">
            <a:r>
              <a:t>What is existence? Eternal coexistence: countless units saturated in all-pervasive Omnipresence.</a:t>
            </a:r>
          </a:p>
          <a:p xmlns:a="http://schemas.openxmlformats.org/drawingml/2006/main">
            <a:r>
              <a:t>What exists? Root atomic units; composite units and bodies; body–jeevan joint forms; and relational human assemblies — all saturated in the ground.</a:t>
            </a:r>
          </a:p>
          <a:p xmlns:a="http://schemas.openxmlformats.org/drawingml/2006/main">
            <a:r>
              <a:t>Does existence begin or end? No. Existence is perpetual. Configurations form, transform, and decompose.</a:t>
            </a:r>
          </a:p>
          <a:p xmlns:a="http://schemas.openxmlformats.org/drawingml/2006/main">
            <a:r>
              <a:t>What is the self? Jeevan: a constitutionally complete sentient atom working through the body.</a:t>
            </a:r>
          </a:p>
          <a:p xmlns:a="http://schemas.openxmlformats.org/drawingml/2006/main">
            <a:r>
              <a:t>Is the world real? Yes. Units, mutual relationships, and definite material fulfilment are real within perpetual coexistence.</a:t>
            </a:r>
          </a:p>
          <a:p xmlns:a="http://schemas.openxmlformats.org/drawingml/2006/main">
            <a:r>
              <a:t>How is it known? Through logical exposition, study and self-examination, practice, realisation, and conduct-evidence. Measurable physical claims still require instrument-based testing. These evidence modes should not be conflated.</a:t>
            </a:r>
          </a:p>
          <a:p xmlns:a="http://schemas.openxmlformats.org/drawingml/2006/main">
            <a:r>
              <a:t>Fulfilment is resolution and authenticity expressed as humane conduct and participation in orderliness. The ultimate test is pramanikta — lived evidence.</a:t>
            </a:r>
          </a:p>
          <a:p xmlns:a="http://schemas.openxmlformats.org/drawingml/2006/main">
            <a:r>
              <a:t>If we continue in a companion session, the natural next step is to place this ontology beside Advaita Vedanta, modern philosophy, and modern science — including the open problems the study names for Madhyasth Darshan itself. Thank you.</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xml version='1.0' encoding='UTF-8' standalone='yes'?>
<Relationships xmlns="http://schemas.openxmlformats.org/package/2006/relationships"><Relationship Id="Rbd0c55243afd4fa6" Type="http://schemas.openxmlformats.org/officeDocument/2006/relationships/slideMaster" Target="../slideMasters/slideMaster1.xml"/></Relationships>
</file>

<file path=ppt/slideLayouts/slideLayout1.xml><?xml version="1.0" encoding="utf-8"?>
<p:sldLayout xmlns:p="http://schemas.openxmlformats.org/presentationml/2006/main" matchingName="DEFAULT">
  <p:cSld name="DEFAULT">
    <p:bg>
      <p:bgPr>
        <a:solidFill xmlns:a="http://schemas.openxmlformats.org/drawingml/2006/main">
          <a:schemeClr val="lt1"/>
        </a:solidFill>
      </p:bgPr>
    </p:bg>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82d98eee85044c16" Type="http://schemas.openxmlformats.org/officeDocument/2006/relationships/theme" Target="theme/theme2.xml"/><Relationship Id="Rfbe447850c1b4458" Type="http://schemas.openxmlformats.org/officeDocument/2006/relationships/slideLayout" Target="../slideLayouts/slideLayout1.xml"/></Relationships>
</file>

<file path=ppt/slideMasters/slideMaster1.xml><?xml version="1.0" encoding="utf-8"?>
<p:sld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dk2" tx2="lt2" accent1="accent1" accent2="accent2" accent3="accent3" accent4="accent4" accent5="accent5" accent6="accent6" hlink="hlink" folHlink="folHlink"/>
  <p:sldLayoutIdLst>
    <p:sldLayoutId xmlns:r="http://schemas.openxmlformats.org/officeDocument/2006/relationships" id="2147483649" r:id="Rfbe447850c1b4458"/>
  </p:sldLayoutIdLst>
  <p:hf sldNum="0" hdr="0" ftr="0" dt="0"/>
  <p:txStyles>
    <p:titleStyle>
      <a:lvl1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1pPr>
      <a:lvl2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2pPr>
      <a:lvl3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3pPr>
      <a:lvl4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4pPr>
      <a:lvl5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5pPr>
      <a:lvl6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6pPr>
      <a:lvl7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7pPr>
      <a:lvl8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8pPr>
      <a:lvl9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9pPr>
    </p:titleStyle>
    <p:bodyStyle>
      <a:lvl1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1pPr>
      <a:lvl2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2pPr>
      <a:lvl3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3pPr>
      <a:lvl4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4pPr>
      <a:lvl5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5pPr>
      <a:lvl6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6pPr>
      <a:lvl7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7pPr>
      <a:lvl8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8pPr>
      <a:lvl9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9pPr>
    </p:bodyStyle>
    <p:otherStyle>
      <a:lvl1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1pPr>
      <a:lvl2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2pPr>
      <a:lvl3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3pPr>
      <a:lvl4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4pPr>
      <a:lvl5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5pPr>
      <a:lvl6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6pPr>
      <a:lvl7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7pPr>
      <a:lvl8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8pPr>
      <a:lvl9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9pPr>
    </p:otherStyle>
  </p:txStyles>
</p:sldMaster>
</file>

<file path=ppt/slideMasters/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slides/_rels/slide1.xml.rels><?xml version='1.0' encoding='UTF-8' standalone='yes'?>
<Relationships xmlns="http://schemas.openxmlformats.org/package/2006/relationships"><Relationship Id="Rf356ad71c37b44ed" Type="http://schemas.openxmlformats.org/officeDocument/2006/relationships/notesSlide" Target="../notesSlides/notesSlide1.xml"/><Relationship Id="Rf6d71d3f977e4792"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73e8f36c95904ad3" Type="http://schemas.openxmlformats.org/officeDocument/2006/relationships/notesSlide" Target="../notesSlides/notesSlide2.xml"/><Relationship Id="R7e318898b5434dc8"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2da332cc18804fca" Type="http://schemas.openxmlformats.org/officeDocument/2006/relationships/notesSlide" Target="../notesSlides/notesSlide3.xml"/><Relationship Id="R38ee44a0fea7465d" Type="http://schemas.openxmlformats.org/officeDocument/2006/relationships/slideLayout" Target="../slideLayouts/slideLayout1.xml"/><Relationship Id="R88075c53ad06497a" Type="http://schemas.openxmlformats.org/officeDocument/2006/relationships/image" Target="../media/image.png"/></Relationships>
</file>

<file path=ppt/slides/_rels/slide4.xml.rels><?xml version='1.0' encoding='UTF-8' standalone='yes'?>
<Relationships xmlns="http://schemas.openxmlformats.org/package/2006/relationships"><Relationship Id="R40a95109814b47bb" Type="http://schemas.openxmlformats.org/officeDocument/2006/relationships/notesSlide" Target="../notesSlides/notesSlide4.xml"/><Relationship Id="R93b96b4631b84ad7" Type="http://schemas.openxmlformats.org/officeDocument/2006/relationships/slideLayout" Target="../slideLayouts/slideLayout1.xml"/><Relationship Id="Rcf6635e90225442b" Type="http://schemas.openxmlformats.org/officeDocument/2006/relationships/image" Target="../media/image2.png"/></Relationships>
</file>

<file path=ppt/slides/_rels/slide5.xml.rels><?xml version='1.0' encoding='UTF-8' standalone='yes'?>
<Relationships xmlns="http://schemas.openxmlformats.org/package/2006/relationships"><Relationship Id="R5c9e4bff839147d7" Type="http://schemas.openxmlformats.org/officeDocument/2006/relationships/notesSlide" Target="../notesSlides/notesSlide5.xml"/><Relationship Id="Ree168a48054a47c4"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0139d309b86a42f9" Type="http://schemas.openxmlformats.org/officeDocument/2006/relationships/slideLayout" Target="../slideLayouts/slideLayout1.xml"/><Relationship Id="Rc13c5b795fec4c49" Type="http://schemas.openxmlformats.org/officeDocument/2006/relationships/notesSlide" Target="../notesSlides/notesSlide6.xml"/><Relationship Id="Rc382a912f15544a8" Type="http://schemas.openxmlformats.org/officeDocument/2006/relationships/image" Target="../media/image5.png"/><Relationship Id="Rd188bf943b454c22" Type="http://schemas.openxmlformats.org/officeDocument/2006/relationships/image" Target="../media/image3.png"/><Relationship Id="Rf96316b55e144a25" Type="http://schemas.openxmlformats.org/officeDocument/2006/relationships/image" Target="../media/image4.png"/></Relationships>
</file>

<file path=ppt/slides/_rels/slide7.xml.rels><?xml version='1.0' encoding='UTF-8' standalone='yes'?>
<Relationships xmlns="http://schemas.openxmlformats.org/package/2006/relationships"><Relationship Id="R16535ddee8df4731" Type="http://schemas.openxmlformats.org/officeDocument/2006/relationships/slideLayout" Target="../slideLayouts/slideLayout1.xml"/><Relationship Id="R7bc233cac8d64e6a"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9482716829964fae" Type="http://schemas.openxmlformats.org/officeDocument/2006/relationships/notesSlide" Target="../notesSlides/notesSlide8.xml"/><Relationship Id="Re870b8b7b8be479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76be7cf372c14c7c" Type="http://schemas.openxmlformats.org/officeDocument/2006/relationships/notesSlide" Target="../notesSlides/notesSlide9.xml"/><Relationship Id="R986ee9c211cd4bc5"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4cdbaa5bd77f4463" Type="http://schemas.openxmlformats.org/officeDocument/2006/relationships/slideLayout" Target="../slideLayouts/slideLayout1.xml"/><Relationship Id="Ra1b0e53605774d0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44e180e7df254b9e" Type="http://schemas.openxmlformats.org/officeDocument/2006/relationships/slideLayout" Target="../slideLayouts/slideLayout1.xml"/><Relationship Id="Rbd4fbc2be7594b20"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38c40de2551f4400" Type="http://schemas.openxmlformats.org/officeDocument/2006/relationships/notesSlide" Target="../notesSlides/notesSlide12.xml"/><Relationship Id="R8cc4d7312e8c47f6"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09a48e264f244dd3" Type="http://schemas.openxmlformats.org/officeDocument/2006/relationships/slideLayout" Target="../slideLayouts/slideLayout1.xml"/><Relationship Id="Radd416f7348c4129"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471dc3602b5c4bfe" Type="http://schemas.openxmlformats.org/officeDocument/2006/relationships/slideLayout" Target="../slideLayouts/slideLayout1.xml"/><Relationship Id="Re8d9b87508984cf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1a35de793e2946f2" Type="http://schemas.openxmlformats.org/officeDocument/2006/relationships/notesSlide" Target="../notesSlides/notesSlide15.xml"/><Relationship Id="R2d0a3a6297de4b9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6383becbe0364472" Type="http://schemas.openxmlformats.org/officeDocument/2006/relationships/slideLayout" Target="../slideLayouts/slideLayout1.xml"/><Relationship Id="R662a917898a74379"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6643ab7ce3864161" Type="http://schemas.openxmlformats.org/officeDocument/2006/relationships/notesSlide" Target="../notesSlides/notesSlide17.xml"/><Relationship Id="R9f467c4a9eb2481d"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5884e92801fc4e80" Type="http://schemas.openxmlformats.org/officeDocument/2006/relationships/notesSlide" Target="../notesSlides/notesSlide18.xml"/><Relationship Id="R6beff98299a1454b"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6ce0f95b4a0e4515" Type="http://schemas.openxmlformats.org/officeDocument/2006/relationships/slideLayout" Target="../slideLayouts/slideLayout1.xml"/><Relationship Id="Rd1260cb246cc4c0c"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bdf28f1bbfa54624" Type="http://schemas.openxmlformats.org/officeDocument/2006/relationships/notesSlide" Target="../notesSlides/notesSlide20.xml"/><Relationship Id="Rc3f4fdd9193f43e2"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0a60c2d5663b44e1" Type="http://schemas.openxmlformats.org/officeDocument/2006/relationships/slideLayout" Target="../slideLayouts/slideLayout1.xml"/><Relationship Id="R2ade3001728645de"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755b303a4c6448b7" Type="http://schemas.openxmlformats.org/officeDocument/2006/relationships/slideLayout" Target="../slideLayouts/slideLayout1.xml"/><Relationship Id="Rbfee4ed8e236451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3e3a10034c264630" Type="http://schemas.openxmlformats.org/officeDocument/2006/relationships/slideLayout" Target="../slideLayouts/slideLayout1.xml"/><Relationship Id="Re5c415eaa8144a8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46944b22458b43c7" Type="http://schemas.openxmlformats.org/officeDocument/2006/relationships/notesSlide" Target="../notesSlides/notesSlide24.xml"/><Relationship Id="Rbb9073f2fa694137"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68a65b4f3ae24d79" Type="http://schemas.openxmlformats.org/officeDocument/2006/relationships/slideLayout" Target="../slideLayouts/slideLayout1.xml"/><Relationship Id="Recbfbce180cc456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015795aefe7f4d8a" Type="http://schemas.openxmlformats.org/officeDocument/2006/relationships/slideLayout" Target="../slideLayouts/slideLayout1.xml"/><Relationship Id="R900fed419a8245f9" Type="http://schemas.openxmlformats.org/officeDocument/2006/relationships/notesSlide" Target="../notesSlides/notesSlide26.xml"/></Relationships>
</file>

<file path=ppt/slides/slide1.xml><?xml version="1.0" encoding="utf-8"?>
<p:sld xmlns:p="http://schemas.openxmlformats.org/presentationml/2006/main">
  <p:cSld>
    <p:bg>
      <p:bgPr>
        <a:solidFill xmlns:a="http://schemas.openxmlformats.org/drawingml/2006/main">
          <a:srgbClr val="1E2447"/>
        </a:solidFill>
      </p:bgPr>
    </p:bg>
    <p:spTree>
      <p:nvGrpSpPr>
        <p:cNvPr id="1" name=""/>
        <p:cNvGrpSpPr/>
        <p:nvPr/>
      </p:nvGrpSpPr>
      <p:grpSpPr>
        <a:xfrm xmlns:a="http://schemas.openxmlformats.org/drawingml/2006/main"/>
      </p:grpSpPr>
      <p:sp>
        <p:nvSpPr>
          <p:cNvPr id="16" name="Google Shape;16;p3">
            <a:extLst xmlns:a="http://schemas.openxmlformats.org/drawingml/2006/main">
              <a:ext uri="{FF2B5EF4-FFF2-40B4-BE49-F238E27FC236}">
                <a16:creationId xmlns:a16="http://schemas.microsoft.com/office/drawing/2014/main" id="{C4A09A56-C06A-4DA2-845C-533692C8CBAB}"/>
              </a:ext>
            </a:extLst>
          </p:cNvPr>
          <p:cNvSpPr>
            <a:spLocks xmlns:a="http://schemas.openxmlformats.org/drawingml/2006/main" noGrp="1"/>
          </p:cNvSpPr>
          <p:nvPr/>
        </p:nvSpPr>
        <p:spPr>
          <a:xfrm xmlns:a="http://schemas.openxmlformats.org/drawingml/2006/main">
            <a:off x="5852160" y="822960"/>
            <a:ext cx="3291840" cy="329184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7" name="Google Shape;17;p3">
            <a:extLst xmlns:a="http://schemas.openxmlformats.org/drawingml/2006/main">
              <a:ext uri="{FF2B5EF4-FFF2-40B4-BE49-F238E27FC236}">
                <a16:creationId xmlns:a16="http://schemas.microsoft.com/office/drawing/2014/main" id="{A3B3B8E0-C007-453E-9484-36F06E0A35B0}"/>
              </a:ext>
            </a:extLst>
          </p:cNvPr>
          <p:cNvSpPr>
            <a:spLocks xmlns:a="http://schemas.openxmlformats.org/drawingml/2006/main" noGrp="1"/>
          </p:cNvSpPr>
          <p:nvPr/>
        </p:nvSpPr>
        <p:spPr>
          <a:xfrm xmlns:a="http://schemas.openxmlformats.org/drawingml/2006/main">
            <a:off x="6510528" y="1481328"/>
            <a:ext cx="1975104" cy="1975104"/>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8" name="Google Shape;18;p3">
            <a:extLst xmlns:a="http://schemas.openxmlformats.org/drawingml/2006/main">
              <a:ext uri="{FF2B5EF4-FFF2-40B4-BE49-F238E27FC236}">
                <a16:creationId xmlns:a16="http://schemas.microsoft.com/office/drawing/2014/main" id="{B4A6DC73-9DD4-429B-836E-5E745E260B3C}"/>
              </a:ext>
            </a:extLst>
          </p:cNvPr>
          <p:cNvSpPr>
            <a:spLocks xmlns:a="http://schemas.openxmlformats.org/drawingml/2006/main" noGrp="1"/>
          </p:cNvSpPr>
          <p:nvPr/>
        </p:nvSpPr>
        <p:spPr>
          <a:xfrm xmlns:a="http://schemas.openxmlformats.org/drawingml/2006/main">
            <a:off x="7070141" y="2040941"/>
            <a:ext cx="855878" cy="85587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 name="Google Shape;19;p3">
            <a:extLst xmlns:a="http://schemas.openxmlformats.org/drawingml/2006/main">
              <a:ext uri="{FF2B5EF4-FFF2-40B4-BE49-F238E27FC236}">
                <a16:creationId xmlns:a16="http://schemas.microsoft.com/office/drawing/2014/main" id="{B0BD0DFE-9DD6-46B4-B39A-9F4A0F1D31A6}"/>
              </a:ext>
            </a:extLst>
          </p:cNvPr>
          <p:cNvSpPr>
            <a:spLocks xmlns:a="http://schemas.openxmlformats.org/drawingml/2006/main" noGrp="1"/>
          </p:cNvSpPr>
          <p:nvPr/>
        </p:nvSpPr>
        <p:spPr>
          <a:xfrm xmlns:a="http://schemas.openxmlformats.org/drawingml/2006/main">
            <a:off x="5394960" y="3566160"/>
            <a:ext cx="1097280" cy="109728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 name="Google Shape;20;p3">
            <a:extLst xmlns:a="http://schemas.openxmlformats.org/drawingml/2006/main">
              <a:ext uri="{FF2B5EF4-FFF2-40B4-BE49-F238E27FC236}">
                <a16:creationId xmlns:a16="http://schemas.microsoft.com/office/drawing/2014/main" id="{9219F2CE-12E2-48B8-AB73-64455BBD2244}"/>
              </a:ext>
            </a:extLst>
          </p:cNvPr>
          <p:cNvSpPr>
            <a:spLocks xmlns:a="http://schemas.openxmlformats.org/drawingml/2006/main" noGrp="1"/>
          </p:cNvSpPr>
          <p:nvPr/>
        </p:nvSpPr>
        <p:spPr>
          <a:xfrm xmlns:a="http://schemas.openxmlformats.org/drawingml/2006/main">
            <a:off x="5614416" y="3785616"/>
            <a:ext cx="658368" cy="658368"/>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 name="Google Shape;21;p3">
            <a:extLst xmlns:a="http://schemas.openxmlformats.org/drawingml/2006/main">
              <a:ext uri="{FF2B5EF4-FFF2-40B4-BE49-F238E27FC236}">
                <a16:creationId xmlns:a16="http://schemas.microsoft.com/office/drawing/2014/main" id="{D0EB3553-BDD7-423A-9C51-AA29ECAF64A1}"/>
              </a:ext>
            </a:extLst>
          </p:cNvPr>
          <p:cNvSpPr>
            <a:spLocks xmlns:a="http://schemas.openxmlformats.org/drawingml/2006/main" noGrp="1"/>
          </p:cNvSpPr>
          <p:nvPr/>
        </p:nvSpPr>
        <p:spPr>
          <a:xfrm xmlns:a="http://schemas.openxmlformats.org/drawingml/2006/main">
            <a:off x="5800954" y="3972154"/>
            <a:ext cx="285293" cy="285293"/>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2" name="Google Shape;22;p3">
            <a:extLst xmlns:a="http://schemas.openxmlformats.org/drawingml/2006/main">
              <a:ext uri="{FF2B5EF4-FFF2-40B4-BE49-F238E27FC236}">
                <a16:creationId xmlns:a16="http://schemas.microsoft.com/office/drawing/2014/main" id="{E21ECBEE-405E-4661-9F92-E8EC229F4351}"/>
              </a:ext>
            </a:extLst>
          </p:cNvPr>
          <p:cNvSpPr>
            <a:spLocks xmlns:a="http://schemas.openxmlformats.org/drawingml/2006/main" noGrp="1"/>
          </p:cNvSpPr>
          <p:nvPr/>
        </p:nvSpPr>
        <p:spPr>
          <a:xfrm xmlns:a="http://schemas.openxmlformats.org/drawingml/2006/main">
            <a:off x="8138160" y="4023360"/>
            <a:ext cx="731520" cy="73152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3" name="Google Shape;23;p3">
            <a:extLst xmlns:a="http://schemas.openxmlformats.org/drawingml/2006/main">
              <a:ext uri="{FF2B5EF4-FFF2-40B4-BE49-F238E27FC236}">
                <a16:creationId xmlns:a16="http://schemas.microsoft.com/office/drawing/2014/main" id="{80F686B5-B839-4741-8B8A-BAF484A45156}"/>
              </a:ext>
            </a:extLst>
          </p:cNvPr>
          <p:cNvSpPr>
            <a:spLocks xmlns:a="http://schemas.openxmlformats.org/drawingml/2006/main" noGrp="1"/>
          </p:cNvSpPr>
          <p:nvPr/>
        </p:nvSpPr>
        <p:spPr>
          <a:xfrm xmlns:a="http://schemas.openxmlformats.org/drawingml/2006/main">
            <a:off x="8284464" y="4169664"/>
            <a:ext cx="438912" cy="438912"/>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4" name="Google Shape;24;p3">
            <a:extLst xmlns:a="http://schemas.openxmlformats.org/drawingml/2006/main">
              <a:ext uri="{FF2B5EF4-FFF2-40B4-BE49-F238E27FC236}">
                <a16:creationId xmlns:a16="http://schemas.microsoft.com/office/drawing/2014/main" id="{80984AF5-2DA3-4FAF-A8C0-E7AAD625025C}"/>
              </a:ext>
            </a:extLst>
          </p:cNvPr>
          <p:cNvSpPr>
            <a:spLocks xmlns:a="http://schemas.openxmlformats.org/drawingml/2006/main" noGrp="1"/>
          </p:cNvSpPr>
          <p:nvPr/>
        </p:nvSpPr>
        <p:spPr>
          <a:xfrm xmlns:a="http://schemas.openxmlformats.org/drawingml/2006/main">
            <a:off x="8408822" y="4294022"/>
            <a:ext cx="190195" cy="190195"/>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5" name="Google Shape;25;p3">
            <a:extLst xmlns:a="http://schemas.openxmlformats.org/drawingml/2006/main">
              <a:ext uri="{FF2B5EF4-FFF2-40B4-BE49-F238E27FC236}">
                <a16:creationId xmlns:a16="http://schemas.microsoft.com/office/drawing/2014/main" id="{A3539AB9-47D1-454A-A911-B689860E8D5D}"/>
              </a:ext>
            </a:extLst>
          </p:cNvPr>
          <p:cNvSpPr>
            <a:spLocks xmlns:a="http://schemas.openxmlformats.org/drawingml/2006/main" noGrp="1"/>
          </p:cNvSpPr>
          <p:nvPr/>
        </p:nvSpPr>
        <p:spPr>
          <a:xfrm xmlns:a="http://schemas.openxmlformats.org/drawingml/2006/main">
            <a:off x="640080" y="1234440"/>
            <a:ext cx="585216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1" i="0" u="none" cap="none">
                <a:solidFill>
                  <a:srgbClr val="C9821E"/>
                </a:solidFill>
                <a:latin typeface="Calibri"/>
                <a:ea typeface="Calibri"/>
                <a:cs typeface="Calibri"/>
              </a:rPr>
              <a:t>MADHYASTH DARSHAN  ·  CO-EXISTENTIALISM</a:t>
            </a:r>
          </a:p>
        </p:txBody>
      </p:sp>
      <p:sp>
        <p:nvSpPr>
          <p:cNvPr id="26" name="Google Shape;26;p3">
            <a:extLst xmlns:a="http://schemas.openxmlformats.org/drawingml/2006/main">
              <a:ext uri="{FF2B5EF4-FFF2-40B4-BE49-F238E27FC236}">
                <a16:creationId xmlns:a16="http://schemas.microsoft.com/office/drawing/2014/main" id="{4259BFF1-9363-47E1-A6AB-E6AA2B108E5B}"/>
              </a:ext>
            </a:extLst>
          </p:cNvPr>
          <p:cNvSpPr>
            <a:spLocks xmlns:a="http://schemas.openxmlformats.org/drawingml/2006/main" noGrp="1"/>
          </p:cNvSpPr>
          <p:nvPr/>
        </p:nvSpPr>
        <p:spPr>
          <a:xfrm xmlns:a="http://schemas.openxmlformats.org/drawingml/2006/main">
            <a:off x="640080" y="1572768"/>
            <a:ext cx="5577840" cy="1371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4400" b="1" i="0" u="none" cap="none">
                <a:solidFill>
                  <a:srgbClr val="FFFFFF"/>
                </a:solidFill>
                <a:latin typeface="Cambria"/>
                <a:ea typeface="Cambria"/>
                <a:cs typeface="Cambria"/>
              </a:rPr>
              <a:t>The Ontology of Existence</a:t>
            </a:r>
          </a:p>
        </p:txBody>
      </p:sp>
      <p:sp>
        <p:nvSpPr>
          <p:cNvPr id="27" name="Google Shape;27;p3">
            <a:extLst xmlns:a="http://schemas.openxmlformats.org/drawingml/2006/main">
              <a:ext uri="{FF2B5EF4-FFF2-40B4-BE49-F238E27FC236}">
                <a16:creationId xmlns:a16="http://schemas.microsoft.com/office/drawing/2014/main" id="{CAE154C3-CDBC-46AC-A25E-B0B4D1C3AFFE}"/>
              </a:ext>
            </a:extLst>
          </p:cNvPr>
          <p:cNvSpPr>
            <a:spLocks xmlns:a="http://schemas.openxmlformats.org/drawingml/2006/main" noGrp="1"/>
          </p:cNvSpPr>
          <p:nvPr/>
        </p:nvSpPr>
        <p:spPr>
          <a:xfrm xmlns:a="http://schemas.openxmlformats.org/drawingml/2006/main">
            <a:off x="640080" y="2880360"/>
            <a:ext cx="484632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600" b="0" i="1" u="none" cap="none">
                <a:solidFill>
                  <a:srgbClr val="C9D4EF"/>
                </a:solidFill>
                <a:latin typeface="Calibri"/>
                <a:ea typeface="Calibri"/>
                <a:cs typeface="Calibri"/>
              </a:rPr>
              <a:t>Existence understood as coexistence — nature saturated in Omnipotence</a:t>
            </a:r>
          </a:p>
        </p:txBody>
      </p:sp>
      <p:sp>
        <p:nvSpPr>
          <p:cNvPr id="28" name="Google Shape;28;p3">
            <a:extLst xmlns:a="http://schemas.openxmlformats.org/drawingml/2006/main">
              <a:ext uri="{FF2B5EF4-FFF2-40B4-BE49-F238E27FC236}">
                <a16:creationId xmlns:a16="http://schemas.microsoft.com/office/drawing/2014/main" id="{D92F3F00-883E-4EC5-B822-4D33B8064E98}"/>
              </a:ext>
            </a:extLst>
          </p:cNvPr>
          <p:cNvSpPr>
            <a:spLocks xmlns:a="http://schemas.openxmlformats.org/drawingml/2006/main" noGrp="1"/>
          </p:cNvSpPr>
          <p:nvPr/>
        </p:nvSpPr>
        <p:spPr>
          <a:xfrm xmlns:a="http://schemas.openxmlformats.org/drawingml/2006/main">
            <a:off x="640080" y="4160520"/>
            <a:ext cx="5303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0" i="0" u="none" cap="none">
                <a:solidFill>
                  <a:srgbClr val="8E9BC4"/>
                </a:solidFill>
                <a:latin typeface="Calibri"/>
                <a:ea typeface="Calibri"/>
                <a:cs typeface="Calibri"/>
              </a:rPr>
              <a:t>Based on §1 of </a:t>
            </a:r>
            <a:r>
              <a:rPr sz="1150" b="0" i="1" u="none" cap="none">
                <a:solidFill>
                  <a:srgbClr val="8E9BC4"/>
                </a:solidFill>
                <a:latin typeface="Calibri"/>
                <a:ea typeface="Calibri"/>
                <a:cs typeface="Calibri"/>
              </a:rPr>
              <a:t>The Ontology of Coexistence</a:t>
            </a:r>
            <a:r>
              <a:rPr sz="1150" b="0" i="0" u="none" cap="none">
                <a:solidFill>
                  <a:srgbClr val="8E9BC4"/>
                </a:solidFill>
                <a:latin typeface="Calibri"/>
                <a:ea typeface="Calibri"/>
                <a:cs typeface="Calibri"/>
              </a:rPr>
              <a:t> (AnalyticMadhyasthDarshan.org)</a:t>
            </a:r>
          </a:p>
        </p:txBody>
      </p:sp>
      <p:sp>
        <p:nvSpPr>
          <p:cNvPr id="29" name="Google Shape;29;p3">
            <a:extLst xmlns:a="http://schemas.openxmlformats.org/drawingml/2006/main">
              <a:ext uri="{FF2B5EF4-FFF2-40B4-BE49-F238E27FC236}">
                <a16:creationId xmlns:a16="http://schemas.microsoft.com/office/drawing/2014/main" id="{73567D25-621A-40E3-9A8D-B8ED3CD990BC}"/>
              </a:ext>
            </a:extLst>
          </p:cNvPr>
          <p:cNvSpPr>
            <a:spLocks xmlns:a="http://schemas.openxmlformats.org/drawingml/2006/main" noGrp="1"/>
          </p:cNvSpPr>
          <p:nvPr/>
        </p:nvSpPr>
        <p:spPr>
          <a:xfrm xmlns:a="http://schemas.openxmlformats.org/drawingml/2006/main">
            <a:off x="640080" y="4434840"/>
            <a:ext cx="5303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0" i="0" u="none" cap="none">
                <a:solidFill>
                  <a:srgbClr val="8E9BC4"/>
                </a:solidFill>
                <a:latin typeface="Calibri"/>
                <a:ea typeface="Calibri"/>
                <a:cs typeface="Calibri"/>
              </a:rPr>
              <a:t>Primary texts of Shri A. Nagraj — MVD · KD · SB · JV (tr. Rakesh Gupta)</a:t>
            </a:r>
          </a:p>
        </p:txBody>
      </p:sp>
    </p:spTree>
    <p:extLst>
      <p:ext uri="{BB962C8B-B14F-4D97-AF65-F5344CB8AC3E}">
        <p14:creationId xmlns:p14="http://schemas.microsoft.com/office/powerpoint/2010/main" val="274603027"/>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5" name="Google Shape;35;p4">
            <a:extLst xmlns:a="http://schemas.openxmlformats.org/drawingml/2006/main">
              <a:ext uri="{FF2B5EF4-FFF2-40B4-BE49-F238E27FC236}">
                <a16:creationId xmlns:a16="http://schemas.microsoft.com/office/drawing/2014/main" id="{407FB59B-0731-4A56-B8E6-A8B8541F6E47}"/>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6" name="Google Shape;36;p4">
            <a:extLst xmlns:a="http://schemas.openxmlformats.org/drawingml/2006/main">
              <a:ext uri="{FF2B5EF4-FFF2-40B4-BE49-F238E27FC236}">
                <a16:creationId xmlns:a16="http://schemas.microsoft.com/office/drawing/2014/main" id="{7A5D4389-AEF0-4FF7-8BFB-3657F16B2E3F}"/>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 name="Google Shape;37;p4">
            <a:extLst xmlns:a="http://schemas.openxmlformats.org/drawingml/2006/main">
              <a:ext uri="{FF2B5EF4-FFF2-40B4-BE49-F238E27FC236}">
                <a16:creationId xmlns:a16="http://schemas.microsoft.com/office/drawing/2014/main" id="{82B3B729-524D-490A-B013-78C3F9E43A3D}"/>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 name="Google Shape;38;p4">
            <a:extLst xmlns:a="http://schemas.openxmlformats.org/drawingml/2006/main">
              <a:ext uri="{FF2B5EF4-FFF2-40B4-BE49-F238E27FC236}">
                <a16:creationId xmlns:a16="http://schemas.microsoft.com/office/drawing/2014/main" id="{2459094A-77C2-49CC-A82C-F47E70C39774}"/>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ORIENTATION</a:t>
            </a:r>
          </a:p>
        </p:txBody>
      </p:sp>
      <p:sp>
        <p:nvSpPr>
          <p:cNvPr id="39" name="Google Shape;39;p4">
            <a:extLst xmlns:a="http://schemas.openxmlformats.org/drawingml/2006/main">
              <a:ext uri="{FF2B5EF4-FFF2-40B4-BE49-F238E27FC236}">
                <a16:creationId xmlns:a16="http://schemas.microsoft.com/office/drawing/2014/main" id="{C0E8F0C6-D5F4-4C8B-80DF-D0AB102FD0B2}"/>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The Argument in Three Movements</a:t>
            </a:r>
          </a:p>
        </p:txBody>
      </p:sp>
      <p:sp>
        <p:nvSpPr>
          <p:cNvPr id="40" name="Google Shape;40;p4">
            <a:extLst xmlns:a="http://schemas.openxmlformats.org/drawingml/2006/main">
              <a:ext uri="{FF2B5EF4-FFF2-40B4-BE49-F238E27FC236}">
                <a16:creationId xmlns:a16="http://schemas.microsoft.com/office/drawing/2014/main" id="{6EB86215-B35D-46A3-BBEC-975674A3FFEB}"/>
              </a:ext>
            </a:extLst>
          </p:cNvPr>
          <p:cNvSpPr>
            <a:spLocks xmlns:a="http://schemas.openxmlformats.org/drawingml/2006/main" noGrp="1"/>
          </p:cNvSpPr>
          <p:nvPr/>
        </p:nvSpPr>
        <p:spPr>
          <a:xfrm xmlns:a="http://schemas.openxmlformats.org/drawingml/2006/main">
            <a:off x="640080" y="1300000"/>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FFFFFF"/>
                </a:solidFill>
                <a:latin typeface="Calibri"/>
                <a:ea typeface="Calibri"/>
                <a:cs typeface="Calibri"/>
              </a:rPr>
              <a:t>1</a:t>
            </a:r>
          </a:p>
        </p:txBody>
      </p:sp>
      <p:sp>
        <p:nvSpPr>
          <p:cNvPr id="42" name="Google Shape;42;p4">
            <a:extLst xmlns:a="http://schemas.openxmlformats.org/drawingml/2006/main">
              <a:ext uri="{FF2B5EF4-FFF2-40B4-BE49-F238E27FC236}">
                <a16:creationId xmlns:a16="http://schemas.microsoft.com/office/drawing/2014/main" id="{A0471FC0-99A0-41F6-B54F-83FC6A43A62D}"/>
              </a:ext>
            </a:extLst>
          </p:cNvPr>
          <p:cNvSpPr>
            <a:spLocks xmlns:a="http://schemas.openxmlformats.org/drawingml/2006/main" noGrp="1"/>
          </p:cNvSpPr>
          <p:nvPr/>
        </p:nvSpPr>
        <p:spPr>
          <a:xfrm xmlns:a="http://schemas.openxmlformats.org/drawingml/2006/main">
            <a:off x="1188720" y="1263424"/>
            <a:ext cx="7406640" cy="75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What is real, and how it is ordered  —  coexistence is the bond of an all-pervasive ground and countable units; each definite unit bears form, guna, svabhav, and dharma, whose expression becomes evident in mutuality across four orders.</a:t>
            </a:r>
          </a:p>
        </p:txBody>
      </p:sp>
      <p:sp>
        <p:nvSpPr>
          <p:cNvPr id="43" name="Google Shape;43;p4">
            <a:extLst xmlns:a="http://schemas.openxmlformats.org/drawingml/2006/main">
              <a:ext uri="{FF2B5EF4-FFF2-40B4-BE49-F238E27FC236}">
                <a16:creationId xmlns:a16="http://schemas.microsoft.com/office/drawing/2014/main" id="{BB717CE8-BFA3-4DC4-B52C-38F268D47F1A}"/>
              </a:ext>
            </a:extLst>
          </p:cNvPr>
          <p:cNvSpPr>
            <a:spLocks xmlns:a="http://schemas.openxmlformats.org/drawingml/2006/main" noGrp="1"/>
          </p:cNvSpPr>
          <p:nvPr/>
        </p:nvSpPr>
        <p:spPr>
          <a:xfrm xmlns:a="http://schemas.openxmlformats.org/drawingml/2006/main">
            <a:off x="640080" y="2350000"/>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FFFFFF"/>
                </a:solidFill>
                <a:latin typeface="Calibri"/>
                <a:ea typeface="Calibri"/>
                <a:cs typeface="Calibri"/>
              </a:rPr>
              <a:t>2</a:t>
            </a:r>
          </a:p>
        </p:txBody>
      </p:sp>
      <p:sp>
        <p:nvSpPr>
          <p:cNvPr id="45" name="Google Shape;45;p4">
            <a:extLst xmlns:a="http://schemas.openxmlformats.org/drawingml/2006/main">
              <a:ext uri="{FF2B5EF4-FFF2-40B4-BE49-F238E27FC236}">
                <a16:creationId xmlns:a16="http://schemas.microsoft.com/office/drawing/2014/main" id="{57583903-856B-4342-A7DB-D8B6204C5357}"/>
              </a:ext>
            </a:extLst>
          </p:cNvPr>
          <p:cNvSpPr>
            <a:spLocks xmlns:a="http://schemas.openxmlformats.org/drawingml/2006/main" noGrp="1"/>
          </p:cNvSpPr>
          <p:nvPr/>
        </p:nvSpPr>
        <p:spPr>
          <a:xfrm xmlns:a="http://schemas.openxmlformats.org/drawingml/2006/main">
            <a:off x="1188720" y="2313424"/>
            <a:ext cx="7406640" cy="75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How two developmental lines proceed  —  compositional progression forms larger material and living configurations, while development in the atom can reach constitutional completeness as sentient jeevan. Every activity is effort–motion–result.</a:t>
            </a:r>
          </a:p>
        </p:txBody>
      </p:sp>
      <p:sp>
        <p:nvSpPr>
          <p:cNvPr id="46" name="Google Shape;46;p4">
            <a:extLst xmlns:a="http://schemas.openxmlformats.org/drawingml/2006/main">
              <a:ext uri="{FF2B5EF4-FFF2-40B4-BE49-F238E27FC236}">
                <a16:creationId xmlns:a16="http://schemas.microsoft.com/office/drawing/2014/main" id="{7A31A1C1-232D-437F-9F09-EB6EDF36DBF9}"/>
              </a:ext>
            </a:extLst>
          </p:cNvPr>
          <p:cNvSpPr>
            <a:spLocks xmlns:a="http://schemas.openxmlformats.org/drawingml/2006/main" noGrp="1"/>
          </p:cNvSpPr>
          <p:nvPr/>
        </p:nvSpPr>
        <p:spPr>
          <a:xfrm xmlns:a="http://schemas.openxmlformats.org/drawingml/2006/main">
            <a:off x="640080" y="3400000"/>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FFFFFF"/>
                </a:solidFill>
                <a:latin typeface="Calibri"/>
                <a:ea typeface="Calibri"/>
                <a:cs typeface="Calibri"/>
              </a:rPr>
              <a:t>3</a:t>
            </a:r>
          </a:p>
        </p:txBody>
      </p:sp>
      <p:sp>
        <p:nvSpPr>
          <p:cNvPr id="48" name="Google Shape;48;p4">
            <a:extLst xmlns:a="http://schemas.openxmlformats.org/drawingml/2006/main">
              <a:ext uri="{FF2B5EF4-FFF2-40B4-BE49-F238E27FC236}">
                <a16:creationId xmlns:a16="http://schemas.microsoft.com/office/drawing/2014/main" id="{6099E903-1DDB-4E54-A3AF-ADBD4D936960}"/>
              </a:ext>
            </a:extLst>
          </p:cNvPr>
          <p:cNvSpPr>
            <a:spLocks xmlns:a="http://schemas.openxmlformats.org/drawingml/2006/main" noGrp="1"/>
          </p:cNvSpPr>
          <p:nvPr/>
        </p:nvSpPr>
        <p:spPr>
          <a:xfrm xmlns:a="http://schemas.openxmlformats.org/drawingml/2006/main">
            <a:off x="1188720" y="3363424"/>
            <a:ext cx="7406640" cy="75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How sentient living becomes awakened conduct  —  the human joint form, jeevan’s faculties and activities, the four harmonies, evaluation, realisation, and participation in humane order.</a:t>
            </a:r>
          </a:p>
        </p:txBody>
      </p:sp>
      <p:sp>
        <p:nvSpPr>
          <p:cNvPr id="58" name="Google Shape;58;p4">
            <a:extLst xmlns:a="http://schemas.openxmlformats.org/drawingml/2006/main">
              <a:ext uri="{FF2B5EF4-FFF2-40B4-BE49-F238E27FC236}">
                <a16:creationId xmlns:a16="http://schemas.microsoft.com/office/drawing/2014/main" id="{1BA00983-6D0E-4A72-A441-1F23D636A89B}"/>
              </a:ext>
            </a:extLst>
          </p:cNvPr>
          <p:cNvSpPr>
            <a:spLocks xmlns:a="http://schemas.openxmlformats.org/drawingml/2006/main" noGrp="1"/>
          </p:cNvSpPr>
          <p:nvPr/>
        </p:nvSpPr>
        <p:spPr>
          <a:xfrm xmlns:a="http://schemas.openxmlformats.org/drawingml/2006/main">
            <a:off x="1188720" y="4450000"/>
            <a:ext cx="7406640" cy="45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1" u="none" cap="none">
                <a:solidFill>
                  <a:srgbClr val="9A6414"/>
                </a:solidFill>
                <a:latin typeface="Calibri"/>
                <a:ea typeface="Calibri"/>
                <a:cs typeface="Calibri"/>
              </a:rPr>
              <a:t>One claim — existence is coexistence — carried through three movements. The body’s compositional line and jeevan’s atomic line meet in animal and human living without becoming the same process.</a:t>
            </a:r>
          </a:p>
        </p:txBody>
      </p:sp>
    </p:spTree>
    <p:extLst>
      <p:ext uri="{BB962C8B-B14F-4D97-AF65-F5344CB8AC3E}">
        <p14:creationId xmlns:p14="http://schemas.microsoft.com/office/powerpoint/2010/main" val="644678258"/>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5" name="Google Shape;35;p4">
            <a:extLst xmlns:a="http://schemas.openxmlformats.org/drawingml/2006/main">
              <a:ext uri="{FF2B5EF4-FFF2-40B4-BE49-F238E27FC236}">
                <a16:creationId xmlns:a16="http://schemas.microsoft.com/office/drawing/2014/main" id="{8FCCB266-5F40-440C-BF26-D18600A574D1}"/>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6" name="Google Shape;36;p4">
            <a:extLst xmlns:a="http://schemas.openxmlformats.org/drawingml/2006/main">
              <a:ext uri="{FF2B5EF4-FFF2-40B4-BE49-F238E27FC236}">
                <a16:creationId xmlns:a16="http://schemas.microsoft.com/office/drawing/2014/main" id="{95DE7DFC-35F1-4422-8047-7D76784C85A6}"/>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 name="Google Shape;37;p4">
            <a:extLst xmlns:a="http://schemas.openxmlformats.org/drawingml/2006/main">
              <a:ext uri="{FF2B5EF4-FFF2-40B4-BE49-F238E27FC236}">
                <a16:creationId xmlns:a16="http://schemas.microsoft.com/office/drawing/2014/main" id="{64EBE0E3-0739-41BD-9183-9130958E8821}"/>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 name="Google Shape;38;p4">
            <a:extLst xmlns:a="http://schemas.openxmlformats.org/drawingml/2006/main">
              <a:ext uri="{FF2B5EF4-FFF2-40B4-BE49-F238E27FC236}">
                <a16:creationId xmlns:a16="http://schemas.microsoft.com/office/drawing/2014/main" id="{66B2D2AE-D123-43B5-B043-91CB3C41450F}"/>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FRAMING</a:t>
            </a:r>
          </a:p>
        </p:txBody>
      </p:sp>
      <p:sp>
        <p:nvSpPr>
          <p:cNvPr id="39" name="Google Shape;39;p4">
            <a:extLst xmlns:a="http://schemas.openxmlformats.org/drawingml/2006/main">
              <a:ext uri="{FF2B5EF4-FFF2-40B4-BE49-F238E27FC236}">
                <a16:creationId xmlns:a16="http://schemas.microsoft.com/office/drawing/2014/main" id="{4E7EAFE0-2838-4A32-8F3F-767921EF30F3}"/>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Questions Ontology Must Answer</a:t>
            </a:r>
          </a:p>
        </p:txBody>
      </p:sp>
      <p:sp>
        <p:nvSpPr>
          <p:cNvPr id="40" name="Google Shape;40;p4">
            <a:extLst xmlns:a="http://schemas.openxmlformats.org/drawingml/2006/main">
              <a:ext uri="{FF2B5EF4-FFF2-40B4-BE49-F238E27FC236}">
                <a16:creationId xmlns:a16="http://schemas.microsoft.com/office/drawing/2014/main" id="{9D78BA76-8420-442B-A4F2-E3B5D8E34AEC}"/>
              </a:ext>
            </a:extLst>
          </p:cNvPr>
          <p:cNvSpPr>
            <a:spLocks xmlns:a="http://schemas.openxmlformats.org/drawingml/2006/main" noGrp="1"/>
          </p:cNvSpPr>
          <p:nvPr/>
        </p:nvSpPr>
        <p:spPr>
          <a:xfrm xmlns:a="http://schemas.openxmlformats.org/drawingml/2006/main">
            <a:off x="640080" y="1225296"/>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71" name="Google Shape;41;p4"/>
          <p:cNvPicPr>
            <a:picLocks xmlns:a="http://schemas.openxmlformats.org/drawingml/2006/main" noChangeAspect="1"/>
          </p:cNvPicPr>
          <p:nvPr/>
        </p:nvPicPr>
        <p:blipFill rotWithShape="1">
          <a:blip xmlns:r="http://schemas.openxmlformats.org/officeDocument/2006/relationships" xmlns:a="http://schemas.openxmlformats.org/drawingml/2006/main" r:embed="R88075c53ad06497a">
            <a:alphaModFix/>
          </a:blip>
          <a:srcRect xmlns:a="http://schemas.openxmlformats.org/drawingml/2006/main" l="0" t="0" r="0" b="0"/>
          <a:stretch xmlns:a="http://schemas.openxmlformats.org/drawingml/2006/main"/>
        </p:blipFill>
        <p:spPr>
          <a:xfrm xmlns:a="http://schemas.openxmlformats.org/drawingml/2006/main">
            <a:off x="735178" y="1320394"/>
            <a:ext cx="175565" cy="175565"/>
          </a:xfrm>
          <a:prstGeom xmlns:a="http://schemas.openxmlformats.org/drawingml/2006/main" prst="rect">
            <a:avLst/>
          </a:prstGeom>
          <a:ln xmlns:a="http://schemas.openxmlformats.org/drawingml/2006/main">
            <a:noFill/>
          </a:ln>
        </p:spPr>
      </p:pic>
      <p:sp>
        <p:nvSpPr>
          <p:cNvPr id="42" name="Google Shape;42;p4">
            <a:extLst xmlns:a="http://schemas.openxmlformats.org/drawingml/2006/main">
              <a:ext uri="{FF2B5EF4-FFF2-40B4-BE49-F238E27FC236}">
                <a16:creationId xmlns:a16="http://schemas.microsoft.com/office/drawing/2014/main" id="{29D47B3C-2046-4A1E-AB81-7E472FEF3DF1}"/>
              </a:ext>
            </a:extLst>
          </p:cNvPr>
          <p:cNvSpPr>
            <a:spLocks xmlns:a="http://schemas.openxmlformats.org/drawingml/2006/main" noGrp="1"/>
          </p:cNvSpPr>
          <p:nvPr/>
        </p:nvSpPr>
        <p:spPr>
          <a:xfrm xmlns:a="http://schemas.openxmlformats.org/drawingml/2006/main">
            <a:off x="1188720" y="1188720"/>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What is Existence?  —  </a:t>
            </a:r>
            <a:r>
              <a:rPr sz="1300" b="0" i="0" u="none" cap="none">
                <a:solidFill>
                  <a:srgbClr val="5A6377"/>
                </a:solidFill>
                <a:latin typeface="Calibri"/>
                <a:ea typeface="Calibri"/>
                <a:cs typeface="Calibri"/>
              </a:rPr>
              <a:t>Is there one fundamental reality, or many — and how are they related?</a:t>
            </a:r>
          </a:p>
        </p:txBody>
      </p:sp>
      <p:sp>
        <p:nvSpPr>
          <p:cNvPr id="43" name="Google Shape;43;p4">
            <a:extLst xmlns:a="http://schemas.openxmlformats.org/drawingml/2006/main">
              <a:ext uri="{FF2B5EF4-FFF2-40B4-BE49-F238E27FC236}">
                <a16:creationId xmlns:a16="http://schemas.microsoft.com/office/drawing/2014/main" id="{AA41F947-8974-42FA-960E-787E9A0814E7}"/>
              </a:ext>
            </a:extLst>
          </p:cNvPr>
          <p:cNvSpPr>
            <a:spLocks xmlns:a="http://schemas.openxmlformats.org/drawingml/2006/main" noGrp="1"/>
          </p:cNvSpPr>
          <p:nvPr/>
        </p:nvSpPr>
        <p:spPr>
          <a:xfrm xmlns:a="http://schemas.openxmlformats.org/drawingml/2006/main">
            <a:off x="640080" y="1792224"/>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74" name="Google Shape;44;p4"/>
          <p:cNvPicPr>
            <a:picLocks xmlns:a="http://schemas.openxmlformats.org/drawingml/2006/main" noChangeAspect="1"/>
          </p:cNvPicPr>
          <p:nvPr/>
        </p:nvPicPr>
        <p:blipFill rotWithShape="1">
          <a:blip xmlns:r="http://schemas.openxmlformats.org/officeDocument/2006/relationships" xmlns:a="http://schemas.openxmlformats.org/drawingml/2006/main" r:embed="R88075c53ad06497a">
            <a:alphaModFix/>
          </a:blip>
          <a:srcRect xmlns:a="http://schemas.openxmlformats.org/drawingml/2006/main" l="0" t="0" r="0" b="0"/>
          <a:stretch xmlns:a="http://schemas.openxmlformats.org/drawingml/2006/main"/>
        </p:blipFill>
        <p:spPr>
          <a:xfrm xmlns:a="http://schemas.openxmlformats.org/drawingml/2006/main">
            <a:off x="735178" y="1887322"/>
            <a:ext cx="175565" cy="175565"/>
          </a:xfrm>
          <a:prstGeom xmlns:a="http://schemas.openxmlformats.org/drawingml/2006/main" prst="rect">
            <a:avLst/>
          </a:prstGeom>
          <a:ln xmlns:a="http://schemas.openxmlformats.org/drawingml/2006/main">
            <a:noFill/>
          </a:ln>
        </p:spPr>
      </p:pic>
      <p:sp>
        <p:nvSpPr>
          <p:cNvPr id="45" name="Google Shape;45;p4">
            <a:extLst xmlns:a="http://schemas.openxmlformats.org/drawingml/2006/main">
              <a:ext uri="{FF2B5EF4-FFF2-40B4-BE49-F238E27FC236}">
                <a16:creationId xmlns:a16="http://schemas.microsoft.com/office/drawing/2014/main" id="{061AC35B-7F8C-4BC9-B5F1-0CDD9C404D01}"/>
              </a:ext>
            </a:extLst>
          </p:cNvPr>
          <p:cNvSpPr>
            <a:spLocks xmlns:a="http://schemas.openxmlformats.org/drawingml/2006/main" noGrp="1"/>
          </p:cNvSpPr>
          <p:nvPr/>
        </p:nvSpPr>
        <p:spPr>
          <a:xfrm xmlns:a="http://schemas.openxmlformats.org/drawingml/2006/main">
            <a:off x="1188720" y="1755648"/>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What exists?  —  </a:t>
            </a:r>
            <a:r>
              <a:rPr sz="1300" b="0" i="0" u="none" cap="none">
                <a:solidFill>
                  <a:srgbClr val="5A6377"/>
                </a:solidFill>
                <a:latin typeface="Calibri"/>
                <a:ea typeface="Calibri"/>
                <a:cs typeface="Calibri"/>
              </a:rPr>
              <a:t>What are the basic constituents of reality, and what is each of them?</a:t>
            </a:r>
          </a:p>
        </p:txBody>
      </p:sp>
      <p:sp>
        <p:nvSpPr>
          <p:cNvPr id="46" name="Google Shape;46;p4">
            <a:extLst xmlns:a="http://schemas.openxmlformats.org/drawingml/2006/main">
              <a:ext uri="{FF2B5EF4-FFF2-40B4-BE49-F238E27FC236}">
                <a16:creationId xmlns:a16="http://schemas.microsoft.com/office/drawing/2014/main" id="{CDA87209-7084-4EBB-8BD0-52666EDF744C}"/>
              </a:ext>
            </a:extLst>
          </p:cNvPr>
          <p:cNvSpPr>
            <a:spLocks xmlns:a="http://schemas.openxmlformats.org/drawingml/2006/main" noGrp="1"/>
          </p:cNvSpPr>
          <p:nvPr/>
        </p:nvSpPr>
        <p:spPr>
          <a:xfrm xmlns:a="http://schemas.openxmlformats.org/drawingml/2006/main">
            <a:off x="640080" y="2359152"/>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77" name="Google Shape;47;p4"/>
          <p:cNvPicPr>
            <a:picLocks xmlns:a="http://schemas.openxmlformats.org/drawingml/2006/main" noChangeAspect="1"/>
          </p:cNvPicPr>
          <p:nvPr/>
        </p:nvPicPr>
        <p:blipFill rotWithShape="1">
          <a:blip xmlns:r="http://schemas.openxmlformats.org/officeDocument/2006/relationships" xmlns:a="http://schemas.openxmlformats.org/drawingml/2006/main" r:embed="R88075c53ad06497a">
            <a:alphaModFix/>
          </a:blip>
          <a:srcRect xmlns:a="http://schemas.openxmlformats.org/drawingml/2006/main" l="0" t="0" r="0" b="0"/>
          <a:stretch xmlns:a="http://schemas.openxmlformats.org/drawingml/2006/main"/>
        </p:blipFill>
        <p:spPr>
          <a:xfrm xmlns:a="http://schemas.openxmlformats.org/drawingml/2006/main">
            <a:off x="735178" y="2454250"/>
            <a:ext cx="175565" cy="175565"/>
          </a:xfrm>
          <a:prstGeom xmlns:a="http://schemas.openxmlformats.org/drawingml/2006/main" prst="rect">
            <a:avLst/>
          </a:prstGeom>
          <a:ln xmlns:a="http://schemas.openxmlformats.org/drawingml/2006/main">
            <a:noFill/>
          </a:ln>
        </p:spPr>
      </p:pic>
      <p:sp>
        <p:nvSpPr>
          <p:cNvPr id="48" name="Google Shape;48;p4">
            <a:extLst xmlns:a="http://schemas.openxmlformats.org/drawingml/2006/main">
              <a:ext uri="{FF2B5EF4-FFF2-40B4-BE49-F238E27FC236}">
                <a16:creationId xmlns:a16="http://schemas.microsoft.com/office/drawing/2014/main" id="{91B6C431-D004-41A0-9A53-95F861AFE29B}"/>
              </a:ext>
            </a:extLst>
          </p:cNvPr>
          <p:cNvSpPr>
            <a:spLocks xmlns:a="http://schemas.openxmlformats.org/drawingml/2006/main" noGrp="1"/>
          </p:cNvSpPr>
          <p:nvPr/>
        </p:nvSpPr>
        <p:spPr>
          <a:xfrm xmlns:a="http://schemas.openxmlformats.org/drawingml/2006/main">
            <a:off x="1188720" y="2322576"/>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Does what exists begin?  —  </a:t>
            </a:r>
            <a:r>
              <a:rPr sz="1300" b="0" i="0" u="none" cap="none">
                <a:solidFill>
                  <a:srgbClr val="5A6377"/>
                </a:solidFill>
                <a:latin typeface="Calibri"/>
                <a:ea typeface="Calibri"/>
                <a:cs typeface="Calibri"/>
              </a:rPr>
              <a:t>Did reality originate at some time — or is origination only of configurations?</a:t>
            </a:r>
          </a:p>
        </p:txBody>
      </p:sp>
      <p:sp>
        <p:nvSpPr>
          <p:cNvPr id="49" name="Google Shape;49;p4">
            <a:extLst xmlns:a="http://schemas.openxmlformats.org/drawingml/2006/main">
              <a:ext uri="{FF2B5EF4-FFF2-40B4-BE49-F238E27FC236}">
                <a16:creationId xmlns:a16="http://schemas.microsoft.com/office/drawing/2014/main" id="{ED32D590-8DE8-4C5F-9DB7-133CF6872C0E}"/>
              </a:ext>
            </a:extLst>
          </p:cNvPr>
          <p:cNvSpPr>
            <a:spLocks xmlns:a="http://schemas.openxmlformats.org/drawingml/2006/main" noGrp="1"/>
          </p:cNvSpPr>
          <p:nvPr/>
        </p:nvSpPr>
        <p:spPr>
          <a:xfrm xmlns:a="http://schemas.openxmlformats.org/drawingml/2006/main">
            <a:off x="640080" y="2926080"/>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80" name="Google Shape;50;p4"/>
          <p:cNvPicPr>
            <a:picLocks xmlns:a="http://schemas.openxmlformats.org/drawingml/2006/main" noChangeAspect="1"/>
          </p:cNvPicPr>
          <p:nvPr/>
        </p:nvPicPr>
        <p:blipFill rotWithShape="1">
          <a:blip xmlns:r="http://schemas.openxmlformats.org/officeDocument/2006/relationships" xmlns:a="http://schemas.openxmlformats.org/drawingml/2006/main" r:embed="R88075c53ad06497a">
            <a:alphaModFix/>
          </a:blip>
          <a:srcRect xmlns:a="http://schemas.openxmlformats.org/drawingml/2006/main" l="0" t="0" r="0" b="0"/>
          <a:stretch xmlns:a="http://schemas.openxmlformats.org/drawingml/2006/main"/>
        </p:blipFill>
        <p:spPr>
          <a:xfrm xmlns:a="http://schemas.openxmlformats.org/drawingml/2006/main">
            <a:off x="735178" y="3021178"/>
            <a:ext cx="175565" cy="175565"/>
          </a:xfrm>
          <a:prstGeom xmlns:a="http://schemas.openxmlformats.org/drawingml/2006/main" prst="rect">
            <a:avLst/>
          </a:prstGeom>
          <a:ln xmlns:a="http://schemas.openxmlformats.org/drawingml/2006/main">
            <a:noFill/>
          </a:ln>
        </p:spPr>
      </p:pic>
      <p:sp>
        <p:nvSpPr>
          <p:cNvPr id="51" name="Google Shape;51;p4">
            <a:extLst xmlns:a="http://schemas.openxmlformats.org/drawingml/2006/main">
              <a:ext uri="{FF2B5EF4-FFF2-40B4-BE49-F238E27FC236}">
                <a16:creationId xmlns:a16="http://schemas.microsoft.com/office/drawing/2014/main" id="{9D8201F8-92DE-4893-8387-B7A31B4880B6}"/>
              </a:ext>
            </a:extLst>
          </p:cNvPr>
          <p:cNvSpPr>
            <a:spLocks xmlns:a="http://schemas.openxmlformats.org/drawingml/2006/main" noGrp="1"/>
          </p:cNvSpPr>
          <p:nvPr/>
        </p:nvSpPr>
        <p:spPr>
          <a:xfrm xmlns:a="http://schemas.openxmlformats.org/drawingml/2006/main">
            <a:off x="1188720" y="2889504"/>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Does the self begin or end with the body?  —  </a:t>
            </a:r>
            <a:r>
              <a:rPr sz="1300" b="0" i="0" u="none" cap="none">
                <a:solidFill>
                  <a:srgbClr val="5A6377"/>
                </a:solidFill>
                <a:latin typeface="Calibri"/>
                <a:ea typeface="Calibri"/>
                <a:cs typeface="Calibri"/>
              </a:rPr>
              <a:t>Is the individual self (jeevan) produced by the body and destroyed with it?</a:t>
            </a:r>
          </a:p>
        </p:txBody>
      </p:sp>
      <p:sp>
        <p:nvSpPr>
          <p:cNvPr id="52" name="Google Shape;52;p4">
            <a:extLst xmlns:a="http://schemas.openxmlformats.org/drawingml/2006/main">
              <a:ext uri="{FF2B5EF4-FFF2-40B4-BE49-F238E27FC236}">
                <a16:creationId xmlns:a16="http://schemas.microsoft.com/office/drawing/2014/main" id="{FDDD7230-CA75-41A7-B897-DDFE7F3D7704}"/>
              </a:ext>
            </a:extLst>
          </p:cNvPr>
          <p:cNvSpPr>
            <a:spLocks xmlns:a="http://schemas.openxmlformats.org/drawingml/2006/main" noGrp="1"/>
          </p:cNvSpPr>
          <p:nvPr/>
        </p:nvSpPr>
        <p:spPr>
          <a:xfrm xmlns:a="http://schemas.openxmlformats.org/drawingml/2006/main">
            <a:off x="640080" y="3493008"/>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83" name="Google Shape;53;p4"/>
          <p:cNvPicPr>
            <a:picLocks xmlns:a="http://schemas.openxmlformats.org/drawingml/2006/main" noChangeAspect="1"/>
          </p:cNvPicPr>
          <p:nvPr/>
        </p:nvPicPr>
        <p:blipFill rotWithShape="1">
          <a:blip xmlns:r="http://schemas.openxmlformats.org/officeDocument/2006/relationships" xmlns:a="http://schemas.openxmlformats.org/drawingml/2006/main" r:embed="R88075c53ad06497a">
            <a:alphaModFix/>
          </a:blip>
          <a:srcRect xmlns:a="http://schemas.openxmlformats.org/drawingml/2006/main" l="0" t="0" r="0" b="0"/>
          <a:stretch xmlns:a="http://schemas.openxmlformats.org/drawingml/2006/main"/>
        </p:blipFill>
        <p:spPr>
          <a:xfrm xmlns:a="http://schemas.openxmlformats.org/drawingml/2006/main">
            <a:off x="735178" y="3588106"/>
            <a:ext cx="175565" cy="175565"/>
          </a:xfrm>
          <a:prstGeom xmlns:a="http://schemas.openxmlformats.org/drawingml/2006/main" prst="rect">
            <a:avLst/>
          </a:prstGeom>
          <a:ln xmlns:a="http://schemas.openxmlformats.org/drawingml/2006/main">
            <a:noFill/>
          </a:ln>
        </p:spPr>
      </p:pic>
      <p:sp>
        <p:nvSpPr>
          <p:cNvPr id="54" name="Google Shape;54;p4">
            <a:extLst xmlns:a="http://schemas.openxmlformats.org/drawingml/2006/main">
              <a:ext uri="{FF2B5EF4-FFF2-40B4-BE49-F238E27FC236}">
                <a16:creationId xmlns:a16="http://schemas.microsoft.com/office/drawing/2014/main" id="{2AB4FEC0-77A6-4437-8E46-6AF495E78A17}"/>
              </a:ext>
            </a:extLst>
          </p:cNvPr>
          <p:cNvSpPr>
            <a:spLocks xmlns:a="http://schemas.openxmlformats.org/drawingml/2006/main" noGrp="1"/>
          </p:cNvSpPr>
          <p:nvPr/>
        </p:nvSpPr>
        <p:spPr>
          <a:xfrm xmlns:a="http://schemas.openxmlformats.org/drawingml/2006/main">
            <a:off x="1188720" y="3456432"/>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Is the world finally real?  —  </a:t>
            </a:r>
            <a:r>
              <a:rPr sz="1300" b="0" i="0" u="none" cap="none">
                <a:solidFill>
                  <a:srgbClr val="5A6377"/>
                </a:solidFill>
                <a:latin typeface="Calibri"/>
                <a:ea typeface="Calibri"/>
                <a:cs typeface="Calibri"/>
              </a:rPr>
              <a:t>Is the plural world of units an appearance, or real in its own right?</a:t>
            </a:r>
          </a:p>
        </p:txBody>
      </p:sp>
      <p:sp>
        <p:nvSpPr>
          <p:cNvPr id="55" name="Google Shape;55;p4">
            <a:extLst xmlns:a="http://schemas.openxmlformats.org/drawingml/2006/main">
              <a:ext uri="{FF2B5EF4-FFF2-40B4-BE49-F238E27FC236}">
                <a16:creationId xmlns:a16="http://schemas.microsoft.com/office/drawing/2014/main" id="{956BA3BE-2185-4167-87CC-EDA80D2FE614}"/>
              </a:ext>
            </a:extLst>
          </p:cNvPr>
          <p:cNvSpPr>
            <a:spLocks xmlns:a="http://schemas.openxmlformats.org/drawingml/2006/main" noGrp="1"/>
          </p:cNvSpPr>
          <p:nvPr/>
        </p:nvSpPr>
        <p:spPr>
          <a:xfrm xmlns:a="http://schemas.openxmlformats.org/drawingml/2006/main">
            <a:off x="640080" y="4059936"/>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86" name="Google Shape;56;p4"/>
          <p:cNvPicPr>
            <a:picLocks xmlns:a="http://schemas.openxmlformats.org/drawingml/2006/main" noChangeAspect="1"/>
          </p:cNvPicPr>
          <p:nvPr/>
        </p:nvPicPr>
        <p:blipFill rotWithShape="1">
          <a:blip xmlns:r="http://schemas.openxmlformats.org/officeDocument/2006/relationships" xmlns:a="http://schemas.openxmlformats.org/drawingml/2006/main" r:embed="R88075c53ad06497a">
            <a:alphaModFix/>
          </a:blip>
          <a:srcRect xmlns:a="http://schemas.openxmlformats.org/drawingml/2006/main" l="0" t="0" r="0" b="0"/>
          <a:stretch xmlns:a="http://schemas.openxmlformats.org/drawingml/2006/main"/>
        </p:blipFill>
        <p:spPr>
          <a:xfrm xmlns:a="http://schemas.openxmlformats.org/drawingml/2006/main">
            <a:off x="735178" y="4155034"/>
            <a:ext cx="175565" cy="175565"/>
          </a:xfrm>
          <a:prstGeom xmlns:a="http://schemas.openxmlformats.org/drawingml/2006/main" prst="rect">
            <a:avLst/>
          </a:prstGeom>
          <a:ln xmlns:a="http://schemas.openxmlformats.org/drawingml/2006/main">
            <a:noFill/>
          </a:ln>
        </p:spPr>
      </p:pic>
      <p:sp>
        <p:nvSpPr>
          <p:cNvPr id="57" name="Google Shape;57;p4">
            <a:extLst xmlns:a="http://schemas.openxmlformats.org/drawingml/2006/main">
              <a:ext uri="{FF2B5EF4-FFF2-40B4-BE49-F238E27FC236}">
                <a16:creationId xmlns:a16="http://schemas.microsoft.com/office/drawing/2014/main" id="{5CDA41BD-579D-4DA4-8E39-03E520FBD973}"/>
              </a:ext>
            </a:extLst>
          </p:cNvPr>
          <p:cNvSpPr>
            <a:spLocks xmlns:a="http://schemas.openxmlformats.org/drawingml/2006/main" noGrp="1"/>
          </p:cNvSpPr>
          <p:nvPr/>
        </p:nvSpPr>
        <p:spPr>
          <a:xfrm xmlns:a="http://schemas.openxmlformats.org/drawingml/2006/main">
            <a:off x="1188720" y="4023360"/>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How can what exists be known?  —  </a:t>
            </a:r>
            <a:r>
              <a:rPr sz="1300" b="0" i="0" u="none" cap="none">
                <a:solidFill>
                  <a:srgbClr val="5A6377"/>
                </a:solidFill>
                <a:latin typeface="Calibri"/>
                <a:ea typeface="Calibri"/>
                <a:cs typeface="Calibri"/>
              </a:rPr>
              <a:t>What must be understood — and at what scope — to know each aspect of reality?</a:t>
            </a:r>
          </a:p>
        </p:txBody>
      </p:sp>
      <p:sp>
        <p:nvSpPr>
          <p:cNvPr id="58" name="Google Shape;58;p4">
            <a:extLst xmlns:a="http://schemas.openxmlformats.org/drawingml/2006/main">
              <a:ext uri="{FF2B5EF4-FFF2-40B4-BE49-F238E27FC236}">
                <a16:creationId xmlns:a16="http://schemas.microsoft.com/office/drawing/2014/main" id="{6716F592-DC15-482D-9756-E73A8E09F557}"/>
              </a:ext>
            </a:extLst>
          </p:cNvPr>
          <p:cNvSpPr>
            <a:spLocks xmlns:a="http://schemas.openxmlformats.org/drawingml/2006/main" noGrp="1"/>
          </p:cNvSpPr>
          <p:nvPr/>
        </p:nvSpPr>
        <p:spPr>
          <a:xfrm xmlns:a="http://schemas.openxmlformats.org/drawingml/2006/main">
            <a:off x="1188720" y="4645152"/>
            <a:ext cx="740664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1" u="none" cap="none">
                <a:solidFill>
                  <a:srgbClr val="9A6414"/>
                </a:solidFill>
                <a:latin typeface="Calibri"/>
                <a:ea typeface="Calibri"/>
                <a:cs typeface="Calibri"/>
              </a:rPr>
              <a:t>Madhyasth Darshan answers each from a single starting point: existence is coexistence.</a:t>
            </a:r>
          </a:p>
        </p:txBody>
      </p:sp>
    </p:spTree>
    <p:extLst>
      <p:ext uri="{BB962C8B-B14F-4D97-AF65-F5344CB8AC3E}">
        <p14:creationId xmlns:p14="http://schemas.microsoft.com/office/powerpoint/2010/main" val="803365939"/>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9" name="Google Shape;189;p9">
            <a:extLst xmlns:a="http://schemas.openxmlformats.org/drawingml/2006/main">
              <a:ext uri="{FF2B5EF4-FFF2-40B4-BE49-F238E27FC236}">
                <a16:creationId xmlns:a16="http://schemas.microsoft.com/office/drawing/2014/main" id="{78BE2FDB-9993-4B89-879D-9F6E842BD146}"/>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0" name="Google Shape;190;p9">
            <a:extLst xmlns:a="http://schemas.openxmlformats.org/drawingml/2006/main">
              <a:ext uri="{FF2B5EF4-FFF2-40B4-BE49-F238E27FC236}">
                <a16:creationId xmlns:a16="http://schemas.microsoft.com/office/drawing/2014/main" id="{D486CE71-65E4-4998-B4FB-7953C76974ED}"/>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1" name="Google Shape;191;p9">
            <a:extLst xmlns:a="http://schemas.openxmlformats.org/drawingml/2006/main">
              <a:ext uri="{FF2B5EF4-FFF2-40B4-BE49-F238E27FC236}">
                <a16:creationId xmlns:a16="http://schemas.microsoft.com/office/drawing/2014/main" id="{2D843C0E-0F2C-4F09-88EC-0FE70B332F23}"/>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2" name="Google Shape;192;p9">
            <a:extLst xmlns:a="http://schemas.openxmlformats.org/drawingml/2006/main">
              <a:ext uri="{FF2B5EF4-FFF2-40B4-BE49-F238E27FC236}">
                <a16:creationId xmlns:a16="http://schemas.microsoft.com/office/drawing/2014/main" id="{7A562A57-A093-41DC-90A9-28722A21F2B0}"/>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
            </a:r>
          </a:p>
        </p:txBody>
      </p:sp>
      <p:sp>
        <p:nvSpPr>
          <p:cNvPr id="193" name="Google Shape;193;p9">
            <a:extLst xmlns:a="http://schemas.openxmlformats.org/drawingml/2006/main">
              <a:ext uri="{FF2B5EF4-FFF2-40B4-BE49-F238E27FC236}">
                <a16:creationId xmlns:a16="http://schemas.microsoft.com/office/drawing/2014/main" id="{E5CCBD08-FCA8-4F44-9B7F-A0AD7F3F647D}"/>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
            </a:r>
          </a:p>
        </p:txBody>
      </p:sp>
      <p:sp>
        <p:nvSpPr>
          <p:cNvPr id="196" name="Google Shape;196;p9">
            <a:extLst xmlns:a="http://schemas.openxmlformats.org/drawingml/2006/main">
              <a:ext uri="{FF2B5EF4-FFF2-40B4-BE49-F238E27FC236}">
                <a16:creationId xmlns:a16="http://schemas.microsoft.com/office/drawing/2014/main" id="{CBCFED84-4AED-4439-8BAD-7BC63416C034}"/>
              </a:ext>
            </a:extLst>
          </p:cNvPr>
          <p:cNvSpPr>
            <a:spLocks xmlns:a="http://schemas.openxmlformats.org/drawingml/2006/main" noGrp="1"/>
          </p:cNvSpPr>
          <p:nvPr/>
        </p:nvSpPr>
        <p:spPr>
          <a:xfrm xmlns:a="http://schemas.openxmlformats.org/drawingml/2006/main">
            <a:off x="868680" y="4069080"/>
            <a:ext cx="7406640" cy="65836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1" i="0" u="none" cap="none">
                <a:solidFill>
                  <a:srgbClr val="9A6414"/>
                </a:solidFill>
                <a:latin typeface="Calibri"/>
                <a:ea typeface="Calibri"/>
                <a:cs typeface="Calibri"/>
              </a:rPr>
              <a:t/>
            </a:r>
          </a:p>
        </p:txBody>
      </p:sp>
      <p:sp>
        <p:nvSpPr>
          <p:cNvPr id="197" name="Google Shape;197;p9">
            <a:extLst xmlns:a="http://schemas.openxmlformats.org/drawingml/2006/main">
              <a:ext uri="{FF2B5EF4-FFF2-40B4-BE49-F238E27FC236}">
                <a16:creationId xmlns:a16="http://schemas.microsoft.com/office/drawing/2014/main" id="{07F388A9-2EE4-4AC8-BEF3-C1967A5BA32A}"/>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Conceptual map of §1 · Primary pointers: MVD, KD, SB, and JV</a:t>
            </a:r>
          </a:p>
        </p:txBody>
      </p:sp>
      <p:pic>
        <p:nvPicPr>
          <p:cNvPr id="206" name=""/>
          <p:cNvPicPr>
            <a:picLocks xmlns:a="http://schemas.openxmlformats.org/drawingml/2006/main" noChangeAspect="1"/>
          </p:cNvPicPr>
          <p:nvPr/>
        </p:nvPicPr>
        <p:blipFill>
          <a:blip xmlns:r="http://schemas.openxmlformats.org/officeDocument/2006/relationships" xmlns:a="http://schemas.openxmlformats.org/drawingml/2006/main" r:embed="Rcf6635e90225442b"/>
          <a:stretch xmlns:a="http://schemas.openxmlformats.org/drawingml/2006/main"/>
        </p:blipFill>
        <p:spPr>
          <a:xfrm xmlns:a="http://schemas.openxmlformats.org/drawingml/2006/main" flipH="0" flipV="0">
            <a:off x="1429494" y="0"/>
            <a:ext cx="6285012" cy="4905375"/>
          </a:xfrm>
          <a:prstGeom xmlns:a="http://schemas.openxmlformats.org/drawingml/2006/main" prst="rect">
            <a:avLst/>
          </a:prstGeom>
        </p:spPr>
      </p:pic>
    </p:spTree>
    <p:extLst>
      <p:ext uri="{BB962C8B-B14F-4D97-AF65-F5344CB8AC3E}">
        <p14:creationId xmlns:p14="http://schemas.microsoft.com/office/powerpoint/2010/main" val="113189548"/>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4" name="Google Shape;64;p5">
            <a:extLst xmlns:a="http://schemas.openxmlformats.org/drawingml/2006/main">
              <a:ext uri="{FF2B5EF4-FFF2-40B4-BE49-F238E27FC236}">
                <a16:creationId xmlns:a16="http://schemas.microsoft.com/office/drawing/2014/main" id="{CF9AD31F-1FDC-4184-BF9F-B33479EDBEE8}"/>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65" name="Google Shape;65;p5">
            <a:extLst xmlns:a="http://schemas.openxmlformats.org/drawingml/2006/main">
              <a:ext uri="{FF2B5EF4-FFF2-40B4-BE49-F238E27FC236}">
                <a16:creationId xmlns:a16="http://schemas.microsoft.com/office/drawing/2014/main" id="{10117106-F12F-4A8F-8B77-A83FADEA2A68}"/>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66" name="Google Shape;66;p5">
            <a:extLst xmlns:a="http://schemas.openxmlformats.org/drawingml/2006/main">
              <a:ext uri="{FF2B5EF4-FFF2-40B4-BE49-F238E27FC236}">
                <a16:creationId xmlns:a16="http://schemas.microsoft.com/office/drawing/2014/main" id="{1FB965B2-FB3F-4DBD-B108-41481400E39C}"/>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67" name="Google Shape;67;p5">
            <a:extLst xmlns:a="http://schemas.openxmlformats.org/drawingml/2006/main">
              <a:ext uri="{FF2B5EF4-FFF2-40B4-BE49-F238E27FC236}">
                <a16:creationId xmlns:a16="http://schemas.microsoft.com/office/drawing/2014/main" id="{02762154-418C-4F41-BA0C-79B00719E57E}"/>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§1.1 · TWO INSEPARABLE ASPECTS</a:t>
            </a:r>
          </a:p>
        </p:txBody>
      </p:sp>
      <p:sp>
        <p:nvSpPr>
          <p:cNvPr id="68" name="Google Shape;68;p5">
            <a:extLst xmlns:a="http://schemas.openxmlformats.org/drawingml/2006/main">
              <a:ext uri="{FF2B5EF4-FFF2-40B4-BE49-F238E27FC236}">
                <a16:creationId xmlns:a16="http://schemas.microsoft.com/office/drawing/2014/main" id="{28B0F4A7-FA42-4E2B-85D3-243578C6C2B3}"/>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Existence Is Coexistence</a:t>
            </a:r>
          </a:p>
        </p:txBody>
      </p:sp>
      <p:sp>
        <p:nvSpPr>
          <p:cNvPr id="69" name="Google Shape;69;p5">
            <a:extLst xmlns:a="http://schemas.openxmlformats.org/drawingml/2006/main">
              <a:ext uri="{FF2B5EF4-FFF2-40B4-BE49-F238E27FC236}">
                <a16:creationId xmlns:a16="http://schemas.microsoft.com/office/drawing/2014/main" id="{8EE81CA6-0277-437D-B24C-93E306CB1675}"/>
              </a:ext>
            </a:extLst>
          </p:cNvPr>
          <p:cNvSpPr>
            <a:spLocks xmlns:a="http://schemas.openxmlformats.org/drawingml/2006/main" noGrp="1"/>
          </p:cNvSpPr>
          <p:nvPr/>
        </p:nvSpPr>
        <p:spPr>
          <a:xfrm xmlns:a="http://schemas.openxmlformats.org/drawingml/2006/main">
            <a:off x="640080" y="1280160"/>
            <a:ext cx="4160520" cy="34747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pPr>
            <a:r>
              <a:rPr sz="1500" b="1" i="0" u="none" cap="none">
                <a:solidFill>
                  <a:srgbClr val="1E2447"/>
                </a:solidFill>
                <a:latin typeface="Calibri"/>
                <a:ea typeface="Calibri"/>
                <a:cs typeface="Calibri"/>
              </a:rPr>
              <a:t>Omnipotence</a:t>
            </a:r>
          </a:p>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Formless, all-pervasive, non-transforming, immeasurable — actionless energy. It performs no actions, yet every unit is energised, regulated, and conserved in it. It has no absent place.</a:t>
            </a:r>
          </a:p>
          <a:p xmlns:a="http://schemas.openxmlformats.org/drawingml/2006/main">
            <a:pPr marL="0" indent="0" algn="l">
              <a:spcBef>
                <a:spcPts val="1000"/>
              </a:spcBef>
              <a:spcAft>
                <a:spcPts val="0"/>
              </a:spcAft>
              <a:buNone/>
            </a:pPr>
            <a:r>
              <a:rPr sz="1500" b="1" i="0" u="none" cap="none">
                <a:solidFill>
                  <a:srgbClr val="1E2447"/>
                </a:solidFill>
                <a:latin typeface="Calibri"/>
                <a:ea typeface="Calibri"/>
                <a:cs typeface="Calibri"/>
              </a:rPr>
              <a:t>Units of nature</a:t>
            </a:r>
          </a:p>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Formful, active, countable entities — </a:t>
            </a:r>
            <a:r>
              <a:rPr sz="1250" b="0" i="0" u="none" cap="none">
                <a:solidFill>
                  <a:srgbClr val="5A6377"/>
                </a:solidFill>
                <a:latin typeface="Calibri"/>
                <a:ea typeface="Calibri"/>
                <a:cs typeface="Calibri"/>
              </a:rPr>
              <a:t>each bounded from six directions and saturated in Omnipotence, bearing form, guna, svabhav, and dharma, whose expression is evident in definite mutuality.</a:t>
            </a:r>
            <a:r>
              <a:rPr sz="1250" b="0" i="0" u="none" cap="none">
                <a:solidFill>
                  <a:srgbClr val="5A6377"/>
                </a:solidFill>
                <a:latin typeface="Calibri"/>
                <a:ea typeface="Calibri"/>
                <a:cs typeface="Calibri"/>
              </a:rPr>
              <a:t> </a:t>
            </a:r>
            <a:r>
              <a:rPr sz="1250" b="0" i="0" u="none" cap="none">
                <a:solidFill>
                  <a:srgbClr val="5A6377"/>
                </a:solidFill>
                <a:latin typeface="Calibri"/>
                <a:ea typeface="Calibri"/>
                <a:cs typeface="Calibri"/>
              </a:rPr>
              <a:t>At the root level, nature is analysed as atomic units: a centre with orbiting parts. Compounds and bodies are composite units; body–jeevan is a joint form; families and societies are relational assemblies. These levels should not be collapsed.</a:t>
            </a:r>
          </a:p>
          <a:p xmlns:a="http://schemas.openxmlformats.org/drawingml/2006/main">
            <a:pPr marL="0" indent="0" algn="l">
              <a:spcBef>
                <a:spcPts val="1000"/>
              </a:spcBef>
              <a:spcAft>
                <a:spcPts val="0"/>
              </a:spcAft>
              <a:buNone/>
            </a:pPr>
            <a:r>
              <a:rPr sz="1500" b="1" i="0" u="none" cap="none">
                <a:solidFill>
                  <a:srgbClr val="1E2447"/>
                </a:solidFill>
                <a:latin typeface="Calibri"/>
                <a:ea typeface="Calibri"/>
                <a:cs typeface="Calibri"/>
              </a:rPr>
              <a:t>Never two separate poles</a:t>
            </a:r>
          </a:p>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Separation of a unit from the saturated whole “never happens.” The ground is state-complete — without motion, wave, or pressure; nature saturated in it is state-dynamic — all change is unit-activity.</a:t>
            </a:r>
          </a:p>
        </p:txBody>
      </p:sp>
      <p:sp>
        <p:nvSpPr>
          <p:cNvPr id="70" name="Google Shape;70;p5">
            <a:extLst xmlns:a="http://schemas.openxmlformats.org/drawingml/2006/main">
              <a:ext uri="{FF2B5EF4-FFF2-40B4-BE49-F238E27FC236}">
                <a16:creationId xmlns:a16="http://schemas.microsoft.com/office/drawing/2014/main" id="{07B364FE-F3A9-4602-BE10-23EE13FC1C5A}"/>
              </a:ext>
            </a:extLst>
          </p:cNvPr>
          <p:cNvSpPr>
            <a:spLocks xmlns:a="http://schemas.openxmlformats.org/drawingml/2006/main" noGrp="1"/>
          </p:cNvSpPr>
          <p:nvPr/>
        </p:nvSpPr>
        <p:spPr>
          <a:xfrm xmlns:a="http://schemas.openxmlformats.org/drawingml/2006/main">
            <a:off x="5074920" y="1280160"/>
            <a:ext cx="3566160" cy="3246120"/>
          </a:xfrm>
          <a:prstGeom xmlns:a="http://schemas.openxmlformats.org/drawingml/2006/main" prst="roundRect">
            <a:avLst>
              <a:gd name="adj" fmla="val 3380"/>
            </a:avLst>
          </a:prstGeom>
          <a:solidFill xmlns:a="http://schemas.openxmlformats.org/drawingml/2006/main">
            <a:srgbClr val="1E2447"/>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1" name="Google Shape;71;p5">
            <a:extLst xmlns:a="http://schemas.openxmlformats.org/drawingml/2006/main">
              <a:ext uri="{FF2B5EF4-FFF2-40B4-BE49-F238E27FC236}">
                <a16:creationId xmlns:a16="http://schemas.microsoft.com/office/drawing/2014/main" id="{3CF11A51-F4D6-4164-8D76-DE824295982F}"/>
              </a:ext>
            </a:extLst>
          </p:cNvPr>
          <p:cNvSpPr>
            <a:spLocks xmlns:a="http://schemas.openxmlformats.org/drawingml/2006/main" noGrp="1"/>
          </p:cNvSpPr>
          <p:nvPr/>
        </p:nvSpPr>
        <p:spPr>
          <a:xfrm xmlns:a="http://schemas.openxmlformats.org/drawingml/2006/main">
            <a:off x="5074920" y="1417320"/>
            <a:ext cx="356616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100" b="1" i="0" u="none" cap="none">
                <a:solidFill>
                  <a:srgbClr val="C9D4EF"/>
                </a:solidFill>
                <a:latin typeface="Calibri"/>
                <a:ea typeface="Calibri"/>
                <a:cs typeface="Calibri"/>
              </a:rPr>
              <a:t>OMNIPOTENCE — the pervasive ground</a:t>
            </a:r>
          </a:p>
        </p:txBody>
      </p:sp>
      <p:sp>
        <p:nvSpPr>
          <p:cNvPr id="72" name="Google Shape;72;p5">
            <a:extLst xmlns:a="http://schemas.openxmlformats.org/drawingml/2006/main">
              <a:ext uri="{FF2B5EF4-FFF2-40B4-BE49-F238E27FC236}">
                <a16:creationId xmlns:a16="http://schemas.microsoft.com/office/drawing/2014/main" id="{F1BE36E1-5E3F-4DA1-9CFE-44A8E5A456C7}"/>
              </a:ext>
            </a:extLst>
          </p:cNvPr>
          <p:cNvSpPr>
            <a:spLocks xmlns:a="http://schemas.openxmlformats.org/drawingml/2006/main" noGrp="1"/>
          </p:cNvSpPr>
          <p:nvPr/>
        </p:nvSpPr>
        <p:spPr>
          <a:xfrm xmlns:a="http://schemas.openxmlformats.org/drawingml/2006/main">
            <a:off x="5440680" y="1965960"/>
            <a:ext cx="1051560" cy="1051560"/>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3" name="Google Shape;73;p5">
            <a:extLst xmlns:a="http://schemas.openxmlformats.org/drawingml/2006/main">
              <a:ext uri="{FF2B5EF4-FFF2-40B4-BE49-F238E27FC236}">
                <a16:creationId xmlns:a16="http://schemas.microsoft.com/office/drawing/2014/main" id="{CFD53BC4-8462-4A7A-8213-3F91CB8C5883}"/>
              </a:ext>
            </a:extLst>
          </p:cNvPr>
          <p:cNvSpPr>
            <a:spLocks xmlns:a="http://schemas.openxmlformats.org/drawingml/2006/main" noGrp="1"/>
          </p:cNvSpPr>
          <p:nvPr/>
        </p:nvSpPr>
        <p:spPr>
          <a:xfrm xmlns:a="http://schemas.openxmlformats.org/drawingml/2006/main">
            <a:off x="5650992" y="2176272"/>
            <a:ext cx="630936" cy="630936"/>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4" name="Google Shape;74;p5">
            <a:extLst xmlns:a="http://schemas.openxmlformats.org/drawingml/2006/main">
              <a:ext uri="{FF2B5EF4-FFF2-40B4-BE49-F238E27FC236}">
                <a16:creationId xmlns:a16="http://schemas.microsoft.com/office/drawing/2014/main" id="{F2A0E86B-7518-40E5-996B-6BDE3B14F3AC}"/>
              </a:ext>
            </a:extLst>
          </p:cNvPr>
          <p:cNvSpPr>
            <a:spLocks xmlns:a="http://schemas.openxmlformats.org/drawingml/2006/main" noGrp="1"/>
          </p:cNvSpPr>
          <p:nvPr/>
        </p:nvSpPr>
        <p:spPr>
          <a:xfrm xmlns:a="http://schemas.openxmlformats.org/drawingml/2006/main">
            <a:off x="5829757" y="2355037"/>
            <a:ext cx="273406" cy="273406"/>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5" name="Google Shape;75;p5">
            <a:extLst xmlns:a="http://schemas.openxmlformats.org/drawingml/2006/main">
              <a:ext uri="{FF2B5EF4-FFF2-40B4-BE49-F238E27FC236}">
                <a16:creationId xmlns:a16="http://schemas.microsoft.com/office/drawing/2014/main" id="{5E77BB36-39BD-4E94-A3B8-0F28DBB8A42D}"/>
              </a:ext>
            </a:extLst>
          </p:cNvPr>
          <p:cNvSpPr>
            <a:spLocks xmlns:a="http://schemas.openxmlformats.org/drawingml/2006/main" noGrp="1"/>
          </p:cNvSpPr>
          <p:nvPr/>
        </p:nvSpPr>
        <p:spPr>
          <a:xfrm xmlns:a="http://schemas.openxmlformats.org/drawingml/2006/main">
            <a:off x="6812280" y="2240280"/>
            <a:ext cx="777240" cy="777240"/>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6" name="Google Shape;76;p5">
            <a:extLst xmlns:a="http://schemas.openxmlformats.org/drawingml/2006/main">
              <a:ext uri="{FF2B5EF4-FFF2-40B4-BE49-F238E27FC236}">
                <a16:creationId xmlns:a16="http://schemas.microsoft.com/office/drawing/2014/main" id="{6B8F9E46-D1B9-4DC0-A1E2-A8E161EF1971}"/>
              </a:ext>
            </a:extLst>
          </p:cNvPr>
          <p:cNvSpPr>
            <a:spLocks xmlns:a="http://schemas.openxmlformats.org/drawingml/2006/main" noGrp="1"/>
          </p:cNvSpPr>
          <p:nvPr/>
        </p:nvSpPr>
        <p:spPr>
          <a:xfrm xmlns:a="http://schemas.openxmlformats.org/drawingml/2006/main">
            <a:off x="6967728" y="2395728"/>
            <a:ext cx="466344" cy="466344"/>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7" name="Google Shape;77;p5">
            <a:extLst xmlns:a="http://schemas.openxmlformats.org/drawingml/2006/main">
              <a:ext uri="{FF2B5EF4-FFF2-40B4-BE49-F238E27FC236}">
                <a16:creationId xmlns:a16="http://schemas.microsoft.com/office/drawing/2014/main" id="{A9BE6228-332E-435A-8F5D-5376A8AC04EB}"/>
              </a:ext>
            </a:extLst>
          </p:cNvPr>
          <p:cNvSpPr>
            <a:spLocks xmlns:a="http://schemas.openxmlformats.org/drawingml/2006/main" noGrp="1"/>
          </p:cNvSpPr>
          <p:nvPr/>
        </p:nvSpPr>
        <p:spPr>
          <a:xfrm xmlns:a="http://schemas.openxmlformats.org/drawingml/2006/main">
            <a:off x="7099859" y="2527859"/>
            <a:ext cx="202082" cy="202082"/>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8" name="Google Shape;78;p5">
            <a:extLst xmlns:a="http://schemas.openxmlformats.org/drawingml/2006/main">
              <a:ext uri="{FF2B5EF4-FFF2-40B4-BE49-F238E27FC236}">
                <a16:creationId xmlns:a16="http://schemas.microsoft.com/office/drawing/2014/main" id="{BECED46B-A48B-4CA7-8EEB-5979D31A9C85}"/>
              </a:ext>
            </a:extLst>
          </p:cNvPr>
          <p:cNvSpPr>
            <a:spLocks xmlns:a="http://schemas.openxmlformats.org/drawingml/2006/main" noGrp="1"/>
          </p:cNvSpPr>
          <p:nvPr/>
        </p:nvSpPr>
        <p:spPr>
          <a:xfrm xmlns:a="http://schemas.openxmlformats.org/drawingml/2006/main">
            <a:off x="7635240" y="1783080"/>
            <a:ext cx="566928" cy="566928"/>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9" name="Google Shape;79;p5">
            <a:extLst xmlns:a="http://schemas.openxmlformats.org/drawingml/2006/main">
              <a:ext uri="{FF2B5EF4-FFF2-40B4-BE49-F238E27FC236}">
                <a16:creationId xmlns:a16="http://schemas.microsoft.com/office/drawing/2014/main" id="{967E3267-3033-46A1-9B03-D612835829CA}"/>
              </a:ext>
            </a:extLst>
          </p:cNvPr>
          <p:cNvSpPr>
            <a:spLocks xmlns:a="http://schemas.openxmlformats.org/drawingml/2006/main" noGrp="1"/>
          </p:cNvSpPr>
          <p:nvPr/>
        </p:nvSpPr>
        <p:spPr>
          <a:xfrm xmlns:a="http://schemas.openxmlformats.org/drawingml/2006/main">
            <a:off x="7748626" y="1896466"/>
            <a:ext cx="340157" cy="340157"/>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0" name="Google Shape;80;p5">
            <a:extLst xmlns:a="http://schemas.openxmlformats.org/drawingml/2006/main">
              <a:ext uri="{FF2B5EF4-FFF2-40B4-BE49-F238E27FC236}">
                <a16:creationId xmlns:a16="http://schemas.microsoft.com/office/drawing/2014/main" id="{42DCFFD6-4154-4D29-B043-16479E5425B0}"/>
              </a:ext>
            </a:extLst>
          </p:cNvPr>
          <p:cNvSpPr>
            <a:spLocks xmlns:a="http://schemas.openxmlformats.org/drawingml/2006/main" noGrp="1"/>
          </p:cNvSpPr>
          <p:nvPr/>
        </p:nvSpPr>
        <p:spPr>
          <a:xfrm xmlns:a="http://schemas.openxmlformats.org/drawingml/2006/main">
            <a:off x="7845003" y="1992843"/>
            <a:ext cx="147401" cy="147401"/>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1" name="Google Shape;81;p5">
            <a:extLst xmlns:a="http://schemas.openxmlformats.org/drawingml/2006/main">
              <a:ext uri="{FF2B5EF4-FFF2-40B4-BE49-F238E27FC236}">
                <a16:creationId xmlns:a16="http://schemas.microsoft.com/office/drawing/2014/main" id="{2243CC16-68B3-4646-877B-AB127F6652A9}"/>
              </a:ext>
            </a:extLst>
          </p:cNvPr>
          <p:cNvSpPr>
            <a:spLocks xmlns:a="http://schemas.openxmlformats.org/drawingml/2006/main" noGrp="1"/>
          </p:cNvSpPr>
          <p:nvPr/>
        </p:nvSpPr>
        <p:spPr>
          <a:xfrm xmlns:a="http://schemas.openxmlformats.org/drawingml/2006/main">
            <a:off x="6035040" y="3200400"/>
            <a:ext cx="658368" cy="658368"/>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2" name="Google Shape;82;p5">
            <a:extLst xmlns:a="http://schemas.openxmlformats.org/drawingml/2006/main">
              <a:ext uri="{FF2B5EF4-FFF2-40B4-BE49-F238E27FC236}">
                <a16:creationId xmlns:a16="http://schemas.microsoft.com/office/drawing/2014/main" id="{A95501B9-F291-422B-9577-4E7A124D08E9}"/>
              </a:ext>
            </a:extLst>
          </p:cNvPr>
          <p:cNvSpPr>
            <a:spLocks xmlns:a="http://schemas.openxmlformats.org/drawingml/2006/main" noGrp="1"/>
          </p:cNvSpPr>
          <p:nvPr/>
        </p:nvSpPr>
        <p:spPr>
          <a:xfrm xmlns:a="http://schemas.openxmlformats.org/drawingml/2006/main">
            <a:off x="6166714" y="3332074"/>
            <a:ext cx="395021" cy="395021"/>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3" name="Google Shape;83;p5">
            <a:extLst xmlns:a="http://schemas.openxmlformats.org/drawingml/2006/main">
              <a:ext uri="{FF2B5EF4-FFF2-40B4-BE49-F238E27FC236}">
                <a16:creationId xmlns:a16="http://schemas.microsoft.com/office/drawing/2014/main" id="{59535FAF-3BCF-4D16-BBE3-0838A2B90E5E}"/>
              </a:ext>
            </a:extLst>
          </p:cNvPr>
          <p:cNvSpPr>
            <a:spLocks xmlns:a="http://schemas.openxmlformats.org/drawingml/2006/main" noGrp="1"/>
          </p:cNvSpPr>
          <p:nvPr/>
        </p:nvSpPr>
        <p:spPr>
          <a:xfrm xmlns:a="http://schemas.openxmlformats.org/drawingml/2006/main">
            <a:off x="6278636" y="3443996"/>
            <a:ext cx="171176" cy="171176"/>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4" name="Google Shape;84;p5">
            <a:extLst xmlns:a="http://schemas.openxmlformats.org/drawingml/2006/main">
              <a:ext uri="{FF2B5EF4-FFF2-40B4-BE49-F238E27FC236}">
                <a16:creationId xmlns:a16="http://schemas.microsoft.com/office/drawing/2014/main" id="{E2D7A9DE-E3E4-4EEB-89B6-D04E44DFDF8D}"/>
              </a:ext>
            </a:extLst>
          </p:cNvPr>
          <p:cNvSpPr>
            <a:spLocks xmlns:a="http://schemas.openxmlformats.org/drawingml/2006/main" noGrp="1"/>
          </p:cNvSpPr>
          <p:nvPr/>
        </p:nvSpPr>
        <p:spPr>
          <a:xfrm xmlns:a="http://schemas.openxmlformats.org/drawingml/2006/main">
            <a:off x="7315200" y="3246120"/>
            <a:ext cx="896112" cy="896112"/>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5" name="Google Shape;85;p5">
            <a:extLst xmlns:a="http://schemas.openxmlformats.org/drawingml/2006/main">
              <a:ext uri="{FF2B5EF4-FFF2-40B4-BE49-F238E27FC236}">
                <a16:creationId xmlns:a16="http://schemas.microsoft.com/office/drawing/2014/main" id="{98AE6C74-6FE7-42CF-B920-3D93EE020872}"/>
              </a:ext>
            </a:extLst>
          </p:cNvPr>
          <p:cNvSpPr>
            <a:spLocks xmlns:a="http://schemas.openxmlformats.org/drawingml/2006/main" noGrp="1"/>
          </p:cNvSpPr>
          <p:nvPr/>
        </p:nvSpPr>
        <p:spPr>
          <a:xfrm xmlns:a="http://schemas.openxmlformats.org/drawingml/2006/main">
            <a:off x="7494422" y="3425342"/>
            <a:ext cx="537667" cy="537667"/>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6" name="Google Shape;86;p5">
            <a:extLst xmlns:a="http://schemas.openxmlformats.org/drawingml/2006/main">
              <a:ext uri="{FF2B5EF4-FFF2-40B4-BE49-F238E27FC236}">
                <a16:creationId xmlns:a16="http://schemas.microsoft.com/office/drawing/2014/main" id="{17757948-703B-426E-B870-C36254C1E3EA}"/>
              </a:ext>
            </a:extLst>
          </p:cNvPr>
          <p:cNvSpPr>
            <a:spLocks xmlns:a="http://schemas.openxmlformats.org/drawingml/2006/main" noGrp="1"/>
          </p:cNvSpPr>
          <p:nvPr/>
        </p:nvSpPr>
        <p:spPr>
          <a:xfrm xmlns:a="http://schemas.openxmlformats.org/drawingml/2006/main">
            <a:off x="7646761" y="3577681"/>
            <a:ext cx="232989" cy="232989"/>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7" name="Google Shape;87;p5">
            <a:extLst xmlns:a="http://schemas.openxmlformats.org/drawingml/2006/main">
              <a:ext uri="{FF2B5EF4-FFF2-40B4-BE49-F238E27FC236}">
                <a16:creationId xmlns:a16="http://schemas.microsoft.com/office/drawing/2014/main" id="{5A0E0607-E161-4E03-AE4A-C1C661B17415}"/>
              </a:ext>
            </a:extLst>
          </p:cNvPr>
          <p:cNvSpPr>
            <a:spLocks xmlns:a="http://schemas.openxmlformats.org/drawingml/2006/main" noGrp="1"/>
          </p:cNvSpPr>
          <p:nvPr/>
        </p:nvSpPr>
        <p:spPr>
          <a:xfrm xmlns:a="http://schemas.openxmlformats.org/drawingml/2006/main">
            <a:off x="5257800" y="4114800"/>
            <a:ext cx="3200400" cy="4114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000" b="0" i="1" u="none" cap="none">
                <a:solidFill>
                  <a:srgbClr val="C9D4EF"/>
                </a:solidFill>
                <a:latin typeface="Calibri"/>
                <a:ea typeface="Calibri"/>
                <a:cs typeface="Calibri"/>
              </a:rPr>
              <a:t>bounded units in definite mutual facing; form is reflected, while effects, essentiality, and fulfilment are evidenced in coexistence</a:t>
            </a:r>
          </a:p>
        </p:txBody>
      </p:sp>
      <p:sp>
        <p:nvSpPr>
          <p:cNvPr id="88" name="Google Shape;88;p5">
            <a:extLst xmlns:a="http://schemas.openxmlformats.org/drawingml/2006/main">
              <a:ext uri="{FF2B5EF4-FFF2-40B4-BE49-F238E27FC236}">
                <a16:creationId xmlns:a16="http://schemas.microsoft.com/office/drawing/2014/main" id="{D46B3FA3-763A-444D-9E80-B345C67D6CD7}"/>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“Existence itself is eternally manifest in the form of coexistence” — SB p. 48  ·  MVD pp. 11, 34  ·  JV p. 18</a:t>
            </a:r>
          </a:p>
        </p:txBody>
      </p:sp>
    </p:spTree>
    <p:extLst>
      <p:ext uri="{BB962C8B-B14F-4D97-AF65-F5344CB8AC3E}">
        <p14:creationId xmlns:p14="http://schemas.microsoft.com/office/powerpoint/2010/main" val="381991742"/>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4" name="Google Shape;94;p6">
            <a:extLst xmlns:a="http://schemas.openxmlformats.org/drawingml/2006/main">
              <a:ext uri="{FF2B5EF4-FFF2-40B4-BE49-F238E27FC236}">
                <a16:creationId xmlns:a16="http://schemas.microsoft.com/office/drawing/2014/main" id="{7E09CA70-3709-4185-A286-A0C79A3CD052}"/>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5" name="Google Shape;95;p6">
            <a:extLst xmlns:a="http://schemas.openxmlformats.org/drawingml/2006/main">
              <a:ext uri="{FF2B5EF4-FFF2-40B4-BE49-F238E27FC236}">
                <a16:creationId xmlns:a16="http://schemas.microsoft.com/office/drawing/2014/main" id="{2FD50D5A-65A0-4F61-9AE8-297CD8BF0014}"/>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6" name="Google Shape;96;p6">
            <a:extLst xmlns:a="http://schemas.openxmlformats.org/drawingml/2006/main">
              <a:ext uri="{FF2B5EF4-FFF2-40B4-BE49-F238E27FC236}">
                <a16:creationId xmlns:a16="http://schemas.microsoft.com/office/drawing/2014/main" id="{F0A7EF7D-982B-46DA-8DD8-E6CF99CE992E}"/>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7" name="Google Shape;97;p6">
            <a:extLst xmlns:a="http://schemas.openxmlformats.org/drawingml/2006/main">
              <a:ext uri="{FF2B5EF4-FFF2-40B4-BE49-F238E27FC236}">
                <a16:creationId xmlns:a16="http://schemas.microsoft.com/office/drawing/2014/main" id="{3858CC98-154A-4B7E-AFFA-BA5BA35680C4}"/>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§1.2 · THE THREE ENDOWMENTS</a:t>
            </a:r>
          </a:p>
        </p:txBody>
      </p:sp>
      <p:sp>
        <p:nvSpPr>
          <p:cNvPr id="98" name="Google Shape;98;p6">
            <a:extLst xmlns:a="http://schemas.openxmlformats.org/drawingml/2006/main">
              <a:ext uri="{FF2B5EF4-FFF2-40B4-BE49-F238E27FC236}">
                <a16:creationId xmlns:a16="http://schemas.microsoft.com/office/drawing/2014/main" id="{9174C86C-8A33-413C-96B8-C2699E1BE6CE}"/>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Saturation: The Ground–Unit Bond</a:t>
            </a:r>
          </a:p>
        </p:txBody>
      </p:sp>
      <p:sp>
        <p:nvSpPr>
          <p:cNvPr id="99" name="Google Shape;99;p6">
            <a:extLst xmlns:a="http://schemas.openxmlformats.org/drawingml/2006/main">
              <a:ext uri="{FF2B5EF4-FFF2-40B4-BE49-F238E27FC236}">
                <a16:creationId xmlns:a16="http://schemas.microsoft.com/office/drawing/2014/main" id="{13839739-2064-4FB0-BDE7-EDAD103F9CAE}"/>
              </a:ext>
            </a:extLst>
          </p:cNvPr>
          <p:cNvSpPr>
            <a:spLocks xmlns:a="http://schemas.openxmlformats.org/drawingml/2006/main" noGrp="1"/>
          </p:cNvSpPr>
          <p:nvPr/>
        </p:nvSpPr>
        <p:spPr>
          <a:xfrm xmlns:a="http://schemas.openxmlformats.org/drawingml/2006/main">
            <a:off x="640080" y="1207008"/>
            <a:ext cx="7955280" cy="6400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0" i="0" u="none" cap="none">
                <a:solidFill>
                  <a:srgbClr val="5A6377"/>
                </a:solidFill>
                <a:latin typeface="Calibri"/>
                <a:ea typeface="Calibri"/>
                <a:cs typeface="Calibri"/>
              </a:rPr>
              <a:t>Every formful unit is soaked, submerged, and surrounded in Omnipotence. From this ever-present bond, Madhyasth Darshan ontologically entails energy-fullness, recognition capability, inherent regulation, and activity on the unit side. The texts do not state an explicit physical mechanism for this entailment.</a:t>
            </a:r>
          </a:p>
        </p:txBody>
      </p:sp>
      <p:sp>
        <p:nvSpPr>
          <p:cNvPr id="100" name="Google Shape;100;p6">
            <a:extLst xmlns:a="http://schemas.openxmlformats.org/drawingml/2006/main">
              <a:ext uri="{FF2B5EF4-FFF2-40B4-BE49-F238E27FC236}">
                <a16:creationId xmlns:a16="http://schemas.microsoft.com/office/drawing/2014/main" id="{327DEA87-8D26-40AB-8462-BC68336B88F2}"/>
              </a:ext>
            </a:extLst>
          </p:cNvPr>
          <p:cNvSpPr>
            <a:spLocks xmlns:a="http://schemas.openxmlformats.org/drawingml/2006/main" noGrp="1"/>
          </p:cNvSpPr>
          <p:nvPr/>
        </p:nvSpPr>
        <p:spPr>
          <a:xfrm xmlns:a="http://schemas.openxmlformats.org/drawingml/2006/main">
            <a:off x="640080"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01" name="Google Shape;101;p6">
            <a:extLst xmlns:a="http://schemas.openxmlformats.org/drawingml/2006/main">
              <a:ext uri="{FF2B5EF4-FFF2-40B4-BE49-F238E27FC236}">
                <a16:creationId xmlns:a16="http://schemas.microsoft.com/office/drawing/2014/main" id="{CB3BAE7F-4C87-4373-953F-C237568559FD}"/>
              </a:ext>
            </a:extLst>
          </p:cNvPr>
          <p:cNvSpPr>
            <a:spLocks xmlns:a="http://schemas.openxmlformats.org/drawingml/2006/main" noGrp="1"/>
          </p:cNvSpPr>
          <p:nvPr/>
        </p:nvSpPr>
        <p:spPr>
          <a:xfrm xmlns:a="http://schemas.openxmlformats.org/drawingml/2006/main">
            <a:off x="841248"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27" name="Google Shape;102;p6"/>
          <p:cNvPicPr>
            <a:picLocks xmlns:a="http://schemas.openxmlformats.org/drawingml/2006/main" noChangeAspect="1"/>
          </p:cNvPicPr>
          <p:nvPr/>
        </p:nvPicPr>
        <p:blipFill rotWithShape="1">
          <a:blip xmlns:r="http://schemas.openxmlformats.org/officeDocument/2006/relationships" xmlns:a="http://schemas.openxmlformats.org/drawingml/2006/main" r:embed="Rd188bf943b454c22">
            <a:alphaModFix/>
          </a:blip>
          <a:srcRect xmlns:a="http://schemas.openxmlformats.org/drawingml/2006/main" l="0" t="0" r="0" b="0"/>
          <a:stretch xmlns:a="http://schemas.openxmlformats.org/drawingml/2006/main"/>
        </p:blipFill>
        <p:spPr>
          <a:xfrm xmlns:a="http://schemas.openxmlformats.org/drawingml/2006/main">
            <a:off x="960120" y="2331720"/>
            <a:ext cx="219456" cy="219456"/>
          </a:xfrm>
          <a:prstGeom xmlns:a="http://schemas.openxmlformats.org/drawingml/2006/main" prst="rect">
            <a:avLst/>
          </a:prstGeom>
          <a:ln xmlns:a="http://schemas.openxmlformats.org/drawingml/2006/main">
            <a:noFill/>
          </a:ln>
        </p:spPr>
      </p:pic>
      <p:sp>
        <p:nvSpPr>
          <p:cNvPr id="103" name="Google Shape;103;p6">
            <a:extLst xmlns:a="http://schemas.openxmlformats.org/drawingml/2006/main">
              <a:ext uri="{FF2B5EF4-FFF2-40B4-BE49-F238E27FC236}">
                <a16:creationId xmlns:a16="http://schemas.microsoft.com/office/drawing/2014/main" id="{02D2D627-5AF5-47FA-8232-5A9E97879D36}"/>
              </a:ext>
            </a:extLst>
          </p:cNvPr>
          <p:cNvSpPr>
            <a:spLocks xmlns:a="http://schemas.openxmlformats.org/drawingml/2006/main" noGrp="1"/>
          </p:cNvSpPr>
          <p:nvPr/>
        </p:nvSpPr>
        <p:spPr>
          <a:xfrm xmlns:a="http://schemas.openxmlformats.org/drawingml/2006/main">
            <a:off x="841248"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Recognition capability</a:t>
            </a:r>
          </a:p>
        </p:txBody>
      </p:sp>
      <p:sp>
        <p:nvSpPr>
          <p:cNvPr id="104" name="Google Shape;104;p6">
            <a:extLst xmlns:a="http://schemas.openxmlformats.org/drawingml/2006/main">
              <a:ext uri="{FF2B5EF4-FFF2-40B4-BE49-F238E27FC236}">
                <a16:creationId xmlns:a16="http://schemas.microsoft.com/office/drawing/2014/main" id="{442FCA58-9151-49E2-85D7-AD46DE83D878}"/>
              </a:ext>
            </a:extLst>
          </p:cNvPr>
          <p:cNvSpPr>
            <a:spLocks xmlns:a="http://schemas.openxmlformats.org/drawingml/2006/main" noGrp="1"/>
          </p:cNvSpPr>
          <p:nvPr/>
        </p:nvSpPr>
        <p:spPr>
          <a:xfrm xmlns:a="http://schemas.openxmlformats.org/drawingml/2006/main">
            <a:off x="841248"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Complementarity is given in coexistence, not created. In insentient nature, reflection, recognition, and fulfilment occur definitely through the unit's capacity, ability, and receptivity.</a:t>
            </a:r>
          </a:p>
        </p:txBody>
      </p:sp>
      <p:sp>
        <p:nvSpPr>
          <p:cNvPr id="105" name="Google Shape;105;p6">
            <a:extLst xmlns:a="http://schemas.openxmlformats.org/drawingml/2006/main">
              <a:ext uri="{FF2B5EF4-FFF2-40B4-BE49-F238E27FC236}">
                <a16:creationId xmlns:a16="http://schemas.microsoft.com/office/drawing/2014/main" id="{BFB21583-45C3-4066-8C04-8D41606400F3}"/>
              </a:ext>
            </a:extLst>
          </p:cNvPr>
          <p:cNvSpPr>
            <a:spLocks xmlns:a="http://schemas.openxmlformats.org/drawingml/2006/main" noGrp="1"/>
          </p:cNvSpPr>
          <p:nvPr/>
        </p:nvSpPr>
        <p:spPr>
          <a:xfrm xmlns:a="http://schemas.openxmlformats.org/drawingml/2006/main">
            <a:off x="3392424"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06" name="Google Shape;106;p6">
            <a:extLst xmlns:a="http://schemas.openxmlformats.org/drawingml/2006/main">
              <a:ext uri="{FF2B5EF4-FFF2-40B4-BE49-F238E27FC236}">
                <a16:creationId xmlns:a16="http://schemas.microsoft.com/office/drawing/2014/main" id="{FE0963FB-0ABF-408C-B796-25F3570E91F4}"/>
              </a:ext>
            </a:extLst>
          </p:cNvPr>
          <p:cNvSpPr>
            <a:spLocks xmlns:a="http://schemas.openxmlformats.org/drawingml/2006/main" noGrp="1"/>
          </p:cNvSpPr>
          <p:nvPr/>
        </p:nvSpPr>
        <p:spPr>
          <a:xfrm xmlns:a="http://schemas.openxmlformats.org/drawingml/2006/main">
            <a:off x="3593592"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32" name="Google Shape;107;p6"/>
          <p:cNvPicPr>
            <a:picLocks xmlns:a="http://schemas.openxmlformats.org/drawingml/2006/main" noChangeAspect="1"/>
          </p:cNvPicPr>
          <p:nvPr/>
        </p:nvPicPr>
        <p:blipFill rotWithShape="1">
          <a:blip xmlns:r="http://schemas.openxmlformats.org/officeDocument/2006/relationships" xmlns:a="http://schemas.openxmlformats.org/drawingml/2006/main" r:embed="Rf96316b55e144a25">
            <a:alphaModFix/>
          </a:blip>
          <a:srcRect xmlns:a="http://schemas.openxmlformats.org/drawingml/2006/main" l="0" t="0" r="0" b="0"/>
          <a:stretch xmlns:a="http://schemas.openxmlformats.org/drawingml/2006/main"/>
        </p:blipFill>
        <p:spPr>
          <a:xfrm xmlns:a="http://schemas.openxmlformats.org/drawingml/2006/main">
            <a:off x="3712464" y="2331720"/>
            <a:ext cx="219456" cy="219456"/>
          </a:xfrm>
          <a:prstGeom xmlns:a="http://schemas.openxmlformats.org/drawingml/2006/main" prst="rect">
            <a:avLst/>
          </a:prstGeom>
          <a:ln xmlns:a="http://schemas.openxmlformats.org/drawingml/2006/main">
            <a:noFill/>
          </a:ln>
        </p:spPr>
      </p:pic>
      <p:sp>
        <p:nvSpPr>
          <p:cNvPr id="108" name="Google Shape;108;p6">
            <a:extLst xmlns:a="http://schemas.openxmlformats.org/drawingml/2006/main">
              <a:ext uri="{FF2B5EF4-FFF2-40B4-BE49-F238E27FC236}">
                <a16:creationId xmlns:a16="http://schemas.microsoft.com/office/drawing/2014/main" id="{45AD0337-6E9F-4E07-A605-1EBFCB05343A}"/>
              </a:ext>
            </a:extLst>
          </p:cNvPr>
          <p:cNvSpPr>
            <a:spLocks xmlns:a="http://schemas.openxmlformats.org/drawingml/2006/main" noGrp="1"/>
          </p:cNvSpPr>
          <p:nvPr/>
        </p:nvSpPr>
        <p:spPr>
          <a:xfrm xmlns:a="http://schemas.openxmlformats.org/drawingml/2006/main">
            <a:off x="3593592"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Activeness</a:t>
            </a:r>
          </a:p>
        </p:txBody>
      </p:sp>
      <p:sp>
        <p:nvSpPr>
          <p:cNvPr id="109" name="Google Shape;109;p6">
            <a:extLst xmlns:a="http://schemas.openxmlformats.org/drawingml/2006/main">
              <a:ext uri="{FF2B5EF4-FFF2-40B4-BE49-F238E27FC236}">
                <a16:creationId xmlns:a16="http://schemas.microsoft.com/office/drawing/2014/main" id="{DCA2BB7D-29F2-470E-9C21-735047DE802B}"/>
              </a:ext>
            </a:extLst>
          </p:cNvPr>
          <p:cNvSpPr>
            <a:spLocks xmlns:a="http://schemas.openxmlformats.org/drawingml/2006/main" noGrp="1"/>
          </p:cNvSpPr>
          <p:nvPr/>
        </p:nvSpPr>
        <p:spPr>
          <a:xfrm xmlns:a="http://schemas.openxmlformats.org/drawingml/2006/main">
            <a:off x="3593592"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“Unit + Energy fullness = Activeness.” Inherent energy and basic impulsion make the unit active, appearing as the inseparable triad of effort, motion, and result.</a:t>
            </a:r>
          </a:p>
        </p:txBody>
      </p:sp>
      <p:sp>
        <p:nvSpPr>
          <p:cNvPr id="110" name="Google Shape;110;p6">
            <a:extLst xmlns:a="http://schemas.openxmlformats.org/drawingml/2006/main">
              <a:ext uri="{FF2B5EF4-FFF2-40B4-BE49-F238E27FC236}">
                <a16:creationId xmlns:a16="http://schemas.microsoft.com/office/drawing/2014/main" id="{8450D6FC-AF89-4184-B577-A101F82100A0}"/>
              </a:ext>
            </a:extLst>
          </p:cNvPr>
          <p:cNvSpPr>
            <a:spLocks xmlns:a="http://schemas.openxmlformats.org/drawingml/2006/main" noGrp="1"/>
          </p:cNvSpPr>
          <p:nvPr/>
        </p:nvSpPr>
        <p:spPr>
          <a:xfrm xmlns:a="http://schemas.openxmlformats.org/drawingml/2006/main">
            <a:off x="6144768"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11" name="Google Shape;111;p6">
            <a:extLst xmlns:a="http://schemas.openxmlformats.org/drawingml/2006/main">
              <a:ext uri="{FF2B5EF4-FFF2-40B4-BE49-F238E27FC236}">
                <a16:creationId xmlns:a16="http://schemas.microsoft.com/office/drawing/2014/main" id="{272AE6F5-3A10-43A6-8A9B-DACCA9D60ABB}"/>
              </a:ext>
            </a:extLst>
          </p:cNvPr>
          <p:cNvSpPr>
            <a:spLocks xmlns:a="http://schemas.openxmlformats.org/drawingml/2006/main" noGrp="1"/>
          </p:cNvSpPr>
          <p:nvPr/>
        </p:nvSpPr>
        <p:spPr>
          <a:xfrm xmlns:a="http://schemas.openxmlformats.org/drawingml/2006/main">
            <a:off x="6345936"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37" name="Google Shape;112;p6"/>
          <p:cNvPicPr>
            <a:picLocks xmlns:a="http://schemas.openxmlformats.org/drawingml/2006/main" noChangeAspect="1"/>
          </p:cNvPicPr>
          <p:nvPr/>
        </p:nvPicPr>
        <p:blipFill rotWithShape="1">
          <a:blip xmlns:r="http://schemas.openxmlformats.org/officeDocument/2006/relationships" xmlns:a="http://schemas.openxmlformats.org/drawingml/2006/main" r:embed="Rc382a912f15544a8">
            <a:alphaModFix/>
          </a:blip>
          <a:srcRect xmlns:a="http://schemas.openxmlformats.org/drawingml/2006/main" l="0" t="0" r="0" b="0"/>
          <a:stretch xmlns:a="http://schemas.openxmlformats.org/drawingml/2006/main"/>
        </p:blipFill>
        <p:spPr>
          <a:xfrm xmlns:a="http://schemas.openxmlformats.org/drawingml/2006/main">
            <a:off x="6464808" y="2331720"/>
            <a:ext cx="219456" cy="219456"/>
          </a:xfrm>
          <a:prstGeom xmlns:a="http://schemas.openxmlformats.org/drawingml/2006/main" prst="rect">
            <a:avLst/>
          </a:prstGeom>
          <a:ln xmlns:a="http://schemas.openxmlformats.org/drawingml/2006/main">
            <a:noFill/>
          </a:ln>
        </p:spPr>
      </p:pic>
      <p:sp>
        <p:nvSpPr>
          <p:cNvPr id="113" name="Google Shape;113;p6">
            <a:extLst xmlns:a="http://schemas.openxmlformats.org/drawingml/2006/main">
              <a:ext uri="{FF2B5EF4-FFF2-40B4-BE49-F238E27FC236}">
                <a16:creationId xmlns:a16="http://schemas.microsoft.com/office/drawing/2014/main" id="{5F84AE7E-4FE8-443E-9D4D-C2B305EA31A4}"/>
              </a:ext>
            </a:extLst>
          </p:cNvPr>
          <p:cNvSpPr>
            <a:spLocks xmlns:a="http://schemas.openxmlformats.org/drawingml/2006/main" noGrp="1"/>
          </p:cNvSpPr>
          <p:nvPr/>
        </p:nvSpPr>
        <p:spPr>
          <a:xfrm xmlns:a="http://schemas.openxmlformats.org/drawingml/2006/main">
            <a:off x="6345936"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Inherent regulation</a:t>
            </a:r>
          </a:p>
        </p:txBody>
      </p:sp>
      <p:sp>
        <p:nvSpPr>
          <p:cNvPr id="114" name="Google Shape;114;p6">
            <a:extLst xmlns:a="http://schemas.openxmlformats.org/drawingml/2006/main">
              <a:ext uri="{FF2B5EF4-FFF2-40B4-BE49-F238E27FC236}">
                <a16:creationId xmlns:a16="http://schemas.microsoft.com/office/drawing/2014/main" id="{6AD95588-B95F-4284-90AE-532BA6D1F501}"/>
              </a:ext>
            </a:extLst>
          </p:cNvPr>
          <p:cNvSpPr>
            <a:spLocks xmlns:a="http://schemas.openxmlformats.org/drawingml/2006/main" noGrp="1"/>
          </p:cNvSpPr>
          <p:nvPr/>
        </p:nvSpPr>
        <p:spPr>
          <a:xfrm xmlns:a="http://schemas.openxmlformats.org/drawingml/2006/main">
            <a:off x="6345936"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Inherent regulation appears as law and orderliness within the unit’s participation in coexistence — mediative and conserving, not an external statutory command.</a:t>
            </a:r>
          </a:p>
        </p:txBody>
      </p:sp>
      <p:sp>
        <p:nvSpPr>
          <p:cNvPr id="115" name="Google Shape;115;p6">
            <a:extLst xmlns:a="http://schemas.openxmlformats.org/drawingml/2006/main">
              <a:ext uri="{FF2B5EF4-FFF2-40B4-BE49-F238E27FC236}">
                <a16:creationId xmlns:a16="http://schemas.microsoft.com/office/drawing/2014/main" id="{62AA3251-112D-4D49-9F6A-820023242B56}"/>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This is an ontological entailment, not a proposed measurable transfer mechanism. Nor does every unit progress to T1; constitutional completeness belongs to a specific line of atomic development. — SB pp. 49–62, 69; MVD pp. 26, 32–33, 40; JV p. 150</a:t>
            </a:r>
          </a:p>
        </p:txBody>
      </p:sp>
    </p:spTree>
    <p:extLst>
      <p:ext uri="{BB962C8B-B14F-4D97-AF65-F5344CB8AC3E}">
        <p14:creationId xmlns:p14="http://schemas.microsoft.com/office/powerpoint/2010/main" val="1131588340"/>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1" name="Google Shape;121;p7">
            <a:extLst xmlns:a="http://schemas.openxmlformats.org/drawingml/2006/main">
              <a:ext uri="{FF2B5EF4-FFF2-40B4-BE49-F238E27FC236}">
                <a16:creationId xmlns:a16="http://schemas.microsoft.com/office/drawing/2014/main" id="{0569449A-A274-4E16-B333-34D5BF6BC468}"/>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2" name="Google Shape;122;p7">
            <a:extLst xmlns:a="http://schemas.openxmlformats.org/drawingml/2006/main">
              <a:ext uri="{FF2B5EF4-FFF2-40B4-BE49-F238E27FC236}">
                <a16:creationId xmlns:a16="http://schemas.microsoft.com/office/drawing/2014/main" id="{3AFB5F38-1232-4E65-9C9C-1D83AB32ACFF}"/>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3" name="Google Shape;123;p7">
            <a:extLst xmlns:a="http://schemas.openxmlformats.org/drawingml/2006/main">
              <a:ext uri="{FF2B5EF4-FFF2-40B4-BE49-F238E27FC236}">
                <a16:creationId xmlns:a16="http://schemas.microsoft.com/office/drawing/2014/main" id="{FF1B1BEA-AE4E-424A-BB17-1D5511850CCB}"/>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4" name="Google Shape;124;p7">
            <a:extLst xmlns:a="http://schemas.openxmlformats.org/drawingml/2006/main">
              <a:ext uri="{FF2B5EF4-FFF2-40B4-BE49-F238E27FC236}">
                <a16:creationId xmlns:a16="http://schemas.microsoft.com/office/drawing/2014/main" id="{6AC83D93-D9D8-41DE-88E0-DCC165A715AF}"/>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§1.3</a:t>
            </a:r>
          </a:p>
        </p:txBody>
      </p:sp>
      <p:sp>
        <p:nvSpPr>
          <p:cNvPr id="125" name="Google Shape;125;p7">
            <a:extLst xmlns:a="http://schemas.openxmlformats.org/drawingml/2006/main">
              <a:ext uri="{FF2B5EF4-FFF2-40B4-BE49-F238E27FC236}">
                <a16:creationId xmlns:a16="http://schemas.microsoft.com/office/drawing/2014/main" id="{5D78DF99-89E5-4140-8364-D7EDDB245235}"/>
              </a:ext>
            </a:extLst>
          </p:cNvPr>
          <p:cNvSpPr>
            <a:spLocks xmlns:a="http://schemas.openxmlformats.org/drawingml/2006/main" noGrp="1"/>
          </p:cNvSpPr>
          <p:nvPr/>
        </p:nvSpPr>
        <p:spPr>
          <a:xfrm xmlns:a="http://schemas.openxmlformats.org/drawingml/2006/main">
            <a:off x="960120" y="514350"/>
            <a:ext cx="7726680" cy="49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Form, Properties, Nature, and Dharma</a:t>
            </a:r>
          </a:p>
        </p:txBody>
      </p:sp>
      <p:sp>
        <p:nvSpPr>
          <p:cNvPr id="126" name="Google Shape;126;p7">
            <a:extLst xmlns:a="http://schemas.openxmlformats.org/drawingml/2006/main">
              <a:ext uri="{FF2B5EF4-FFF2-40B4-BE49-F238E27FC236}">
                <a16:creationId xmlns:a16="http://schemas.microsoft.com/office/drawing/2014/main" id="{F22EFADD-FB38-41E2-B926-6A30C43AF90D}"/>
              </a:ext>
            </a:extLst>
          </p:cNvPr>
          <p:cNvSpPr>
            <a:spLocks xmlns:a="http://schemas.openxmlformats.org/drawingml/2006/main" noGrp="1"/>
          </p:cNvSpPr>
          <p:nvPr/>
        </p:nvSpPr>
        <p:spPr>
          <a:xfrm xmlns:a="http://schemas.openxmlformats.org/drawingml/2006/main">
            <a:off x="640080" y="128016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7" name="Google Shape;127;p7">
            <a:extLst xmlns:a="http://schemas.openxmlformats.org/drawingml/2006/main">
              <a:ext uri="{FF2B5EF4-FFF2-40B4-BE49-F238E27FC236}">
                <a16:creationId xmlns:a16="http://schemas.microsoft.com/office/drawing/2014/main" id="{3F928903-C6BA-4173-B798-65605EA410F9}"/>
              </a:ext>
            </a:extLst>
          </p:cNvPr>
          <p:cNvSpPr>
            <a:spLocks xmlns:a="http://schemas.openxmlformats.org/drawingml/2006/main" noGrp="1"/>
          </p:cNvSpPr>
          <p:nvPr/>
        </p:nvSpPr>
        <p:spPr>
          <a:xfrm xmlns:a="http://schemas.openxmlformats.org/drawingml/2006/main">
            <a:off x="822960" y="146304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8" name="Google Shape;128;p7">
            <a:extLst xmlns:a="http://schemas.openxmlformats.org/drawingml/2006/main">
              <a:ext uri="{FF2B5EF4-FFF2-40B4-BE49-F238E27FC236}">
                <a16:creationId xmlns:a16="http://schemas.microsoft.com/office/drawing/2014/main" id="{0713A3FF-FCE5-4232-821E-146CB3B8BD6E}"/>
              </a:ext>
            </a:extLst>
          </p:cNvPr>
          <p:cNvSpPr>
            <a:spLocks xmlns:a="http://schemas.openxmlformats.org/drawingml/2006/main" noGrp="1"/>
          </p:cNvSpPr>
          <p:nvPr/>
        </p:nvSpPr>
        <p:spPr>
          <a:xfrm xmlns:a="http://schemas.openxmlformats.org/drawingml/2006/main">
            <a:off x="885139" y="152521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9" name="Google Shape;129;p7">
            <a:extLst xmlns:a="http://schemas.openxmlformats.org/drawingml/2006/main">
              <a:ext uri="{FF2B5EF4-FFF2-40B4-BE49-F238E27FC236}">
                <a16:creationId xmlns:a16="http://schemas.microsoft.com/office/drawing/2014/main" id="{BC55DAA0-0B8E-474D-9049-67DCC4F87E59}"/>
              </a:ext>
            </a:extLst>
          </p:cNvPr>
          <p:cNvSpPr>
            <a:spLocks xmlns:a="http://schemas.openxmlformats.org/drawingml/2006/main" noGrp="1"/>
          </p:cNvSpPr>
          <p:nvPr/>
        </p:nvSpPr>
        <p:spPr>
          <a:xfrm xmlns:a="http://schemas.openxmlformats.org/drawingml/2006/main">
            <a:off x="937992" y="157807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0" name="Google Shape;130;p7">
            <a:extLst xmlns:a="http://schemas.openxmlformats.org/drawingml/2006/main">
              <a:ext uri="{FF2B5EF4-FFF2-40B4-BE49-F238E27FC236}">
                <a16:creationId xmlns:a16="http://schemas.microsoft.com/office/drawing/2014/main" id="{3279881E-8015-4698-B672-C8EC5DD4EFD2}"/>
              </a:ext>
            </a:extLst>
          </p:cNvPr>
          <p:cNvSpPr>
            <a:spLocks xmlns:a="http://schemas.openxmlformats.org/drawingml/2006/main" noGrp="1"/>
          </p:cNvSpPr>
          <p:nvPr/>
        </p:nvSpPr>
        <p:spPr>
          <a:xfrm xmlns:a="http://schemas.openxmlformats.org/drawingml/2006/main">
            <a:off x="1261872" y="138988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Form</a:t>
            </a:r>
          </a:p>
        </p:txBody>
      </p:sp>
      <p:sp>
        <p:nvSpPr>
          <p:cNvPr id="131" name="Google Shape;131;p7">
            <a:extLst xmlns:a="http://schemas.openxmlformats.org/drawingml/2006/main">
              <a:ext uri="{FF2B5EF4-FFF2-40B4-BE49-F238E27FC236}">
                <a16:creationId xmlns:a16="http://schemas.microsoft.com/office/drawing/2014/main" id="{EE46E617-9E7A-47CE-AF1F-A7D00B26D4A0}"/>
              </a:ext>
            </a:extLst>
          </p:cNvPr>
          <p:cNvSpPr>
            <a:spLocks xmlns:a="http://schemas.openxmlformats.org/drawingml/2006/main" noGrp="1"/>
          </p:cNvSpPr>
          <p:nvPr/>
        </p:nvSpPr>
        <p:spPr>
          <a:xfrm xmlns:a="http://schemas.openxmlformats.org/drawingml/2006/main">
            <a:off x="1261872" y="168249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Real boundary and configuration. Example: this peepal tree is one bounded living form with a definite trunk, branches, leaves, and roots.</a:t>
            </a:r>
          </a:p>
        </p:txBody>
      </p:sp>
      <p:sp>
        <p:nvSpPr>
          <p:cNvPr id="132" name="Google Shape;132;p7">
            <a:extLst xmlns:a="http://schemas.openxmlformats.org/drawingml/2006/main">
              <a:ext uri="{FF2B5EF4-FFF2-40B4-BE49-F238E27FC236}">
                <a16:creationId xmlns:a16="http://schemas.microsoft.com/office/drawing/2014/main" id="{B3F006A5-0C82-4032-BFF7-E7C00B02D836}"/>
              </a:ext>
            </a:extLst>
          </p:cNvPr>
          <p:cNvSpPr>
            <a:spLocks xmlns:a="http://schemas.openxmlformats.org/drawingml/2006/main" noGrp="1"/>
          </p:cNvSpPr>
          <p:nvPr/>
        </p:nvSpPr>
        <p:spPr>
          <a:xfrm xmlns:a="http://schemas.openxmlformats.org/drawingml/2006/main">
            <a:off x="4709160" y="128016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3" name="Google Shape;133;p7">
            <a:extLst xmlns:a="http://schemas.openxmlformats.org/drawingml/2006/main">
              <a:ext uri="{FF2B5EF4-FFF2-40B4-BE49-F238E27FC236}">
                <a16:creationId xmlns:a16="http://schemas.microsoft.com/office/drawing/2014/main" id="{FBA67456-B9AC-4516-8676-E2B2ACC31A2C}"/>
              </a:ext>
            </a:extLst>
          </p:cNvPr>
          <p:cNvSpPr>
            <a:spLocks xmlns:a="http://schemas.openxmlformats.org/drawingml/2006/main" noGrp="1"/>
          </p:cNvSpPr>
          <p:nvPr/>
        </p:nvSpPr>
        <p:spPr>
          <a:xfrm xmlns:a="http://schemas.openxmlformats.org/drawingml/2006/main">
            <a:off x="4892040" y="146304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4" name="Google Shape;134;p7">
            <a:extLst xmlns:a="http://schemas.openxmlformats.org/drawingml/2006/main">
              <a:ext uri="{FF2B5EF4-FFF2-40B4-BE49-F238E27FC236}">
                <a16:creationId xmlns:a16="http://schemas.microsoft.com/office/drawing/2014/main" id="{402D276D-FADF-4712-AADA-5E15FD18B8F7}"/>
              </a:ext>
            </a:extLst>
          </p:cNvPr>
          <p:cNvSpPr>
            <a:spLocks xmlns:a="http://schemas.openxmlformats.org/drawingml/2006/main" noGrp="1"/>
          </p:cNvSpPr>
          <p:nvPr/>
        </p:nvSpPr>
        <p:spPr>
          <a:xfrm xmlns:a="http://schemas.openxmlformats.org/drawingml/2006/main">
            <a:off x="4954219" y="152521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5" name="Google Shape;135;p7">
            <a:extLst xmlns:a="http://schemas.openxmlformats.org/drawingml/2006/main">
              <a:ext uri="{FF2B5EF4-FFF2-40B4-BE49-F238E27FC236}">
                <a16:creationId xmlns:a16="http://schemas.microsoft.com/office/drawing/2014/main" id="{74BA38F1-4DC9-4B82-918B-A0F226961D01}"/>
              </a:ext>
            </a:extLst>
          </p:cNvPr>
          <p:cNvSpPr>
            <a:spLocks xmlns:a="http://schemas.openxmlformats.org/drawingml/2006/main" noGrp="1"/>
          </p:cNvSpPr>
          <p:nvPr/>
        </p:nvSpPr>
        <p:spPr>
          <a:xfrm xmlns:a="http://schemas.openxmlformats.org/drawingml/2006/main">
            <a:off x="5007072" y="157807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6" name="Google Shape;136;p7">
            <a:extLst xmlns:a="http://schemas.openxmlformats.org/drawingml/2006/main">
              <a:ext uri="{FF2B5EF4-FFF2-40B4-BE49-F238E27FC236}">
                <a16:creationId xmlns:a16="http://schemas.microsoft.com/office/drawing/2014/main" id="{7C820C43-92C7-48AA-8ACE-A42BB6B479D8}"/>
              </a:ext>
            </a:extLst>
          </p:cNvPr>
          <p:cNvSpPr>
            <a:spLocks xmlns:a="http://schemas.openxmlformats.org/drawingml/2006/main" noGrp="1"/>
          </p:cNvSpPr>
          <p:nvPr/>
        </p:nvSpPr>
        <p:spPr>
          <a:xfrm xmlns:a="http://schemas.openxmlformats.org/drawingml/2006/main">
            <a:off x="5330952" y="138988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Properties</a:t>
            </a:r>
          </a:p>
        </p:txBody>
      </p:sp>
      <p:sp>
        <p:nvSpPr>
          <p:cNvPr id="137" name="Google Shape;137;p7">
            <a:extLst xmlns:a="http://schemas.openxmlformats.org/drawingml/2006/main">
              <a:ext uri="{FF2B5EF4-FFF2-40B4-BE49-F238E27FC236}">
                <a16:creationId xmlns:a16="http://schemas.microsoft.com/office/drawing/2014/main" id="{6197620A-1878-4EB3-82D6-22E6EEAFF152}"/>
              </a:ext>
            </a:extLst>
          </p:cNvPr>
          <p:cNvSpPr>
            <a:spLocks xmlns:a="http://schemas.openxmlformats.org/drawingml/2006/main" noGrp="1"/>
          </p:cNvSpPr>
          <p:nvPr/>
        </p:nvSpPr>
        <p:spPr>
          <a:xfrm xmlns:a="http://schemas.openxmlformats.org/drawingml/2006/main">
            <a:off x="5330952" y="168249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Guna is capacity and relative effect. In the peepal: nutrition, growth, repair, seed production, and degeneration become evident under definite conditions.</a:t>
            </a:r>
          </a:p>
        </p:txBody>
      </p:sp>
      <p:sp>
        <p:nvSpPr>
          <p:cNvPr id="138" name="Google Shape;138;p7">
            <a:extLst xmlns:a="http://schemas.openxmlformats.org/drawingml/2006/main">
              <a:ext uri="{FF2B5EF4-FFF2-40B4-BE49-F238E27FC236}">
                <a16:creationId xmlns:a16="http://schemas.microsoft.com/office/drawing/2014/main" id="{ABAAA305-E921-4E2C-9495-F35ACED1541E}"/>
              </a:ext>
            </a:extLst>
          </p:cNvPr>
          <p:cNvSpPr>
            <a:spLocks xmlns:a="http://schemas.openxmlformats.org/drawingml/2006/main" noGrp="1"/>
          </p:cNvSpPr>
          <p:nvPr/>
        </p:nvSpPr>
        <p:spPr>
          <a:xfrm xmlns:a="http://schemas.openxmlformats.org/drawingml/2006/main">
            <a:off x="640080" y="260604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9" name="Google Shape;139;p7">
            <a:extLst xmlns:a="http://schemas.openxmlformats.org/drawingml/2006/main">
              <a:ext uri="{FF2B5EF4-FFF2-40B4-BE49-F238E27FC236}">
                <a16:creationId xmlns:a16="http://schemas.microsoft.com/office/drawing/2014/main" id="{68872607-854C-40F0-8E05-997A43DC5F05}"/>
              </a:ext>
            </a:extLst>
          </p:cNvPr>
          <p:cNvSpPr>
            <a:spLocks xmlns:a="http://schemas.openxmlformats.org/drawingml/2006/main" noGrp="1"/>
          </p:cNvSpPr>
          <p:nvPr/>
        </p:nvSpPr>
        <p:spPr>
          <a:xfrm xmlns:a="http://schemas.openxmlformats.org/drawingml/2006/main">
            <a:off x="822960" y="278892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0" name="Google Shape;140;p7">
            <a:extLst xmlns:a="http://schemas.openxmlformats.org/drawingml/2006/main">
              <a:ext uri="{FF2B5EF4-FFF2-40B4-BE49-F238E27FC236}">
                <a16:creationId xmlns:a16="http://schemas.microsoft.com/office/drawing/2014/main" id="{E8ECDDF5-B5FF-4101-A5F1-2C52F5D4AECB}"/>
              </a:ext>
            </a:extLst>
          </p:cNvPr>
          <p:cNvSpPr>
            <a:spLocks xmlns:a="http://schemas.openxmlformats.org/drawingml/2006/main" noGrp="1"/>
          </p:cNvSpPr>
          <p:nvPr/>
        </p:nvSpPr>
        <p:spPr>
          <a:xfrm xmlns:a="http://schemas.openxmlformats.org/drawingml/2006/main">
            <a:off x="885139" y="285109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1" name="Google Shape;141;p7">
            <a:extLst xmlns:a="http://schemas.openxmlformats.org/drawingml/2006/main">
              <a:ext uri="{FF2B5EF4-FFF2-40B4-BE49-F238E27FC236}">
                <a16:creationId xmlns:a16="http://schemas.microsoft.com/office/drawing/2014/main" id="{23A623C9-754E-46F5-970A-0BC5E748AA8A}"/>
              </a:ext>
            </a:extLst>
          </p:cNvPr>
          <p:cNvSpPr>
            <a:spLocks xmlns:a="http://schemas.openxmlformats.org/drawingml/2006/main" noGrp="1"/>
          </p:cNvSpPr>
          <p:nvPr/>
        </p:nvSpPr>
        <p:spPr>
          <a:xfrm xmlns:a="http://schemas.openxmlformats.org/drawingml/2006/main">
            <a:off x="937992" y="290395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2" name="Google Shape;142;p7">
            <a:extLst xmlns:a="http://schemas.openxmlformats.org/drawingml/2006/main">
              <a:ext uri="{FF2B5EF4-FFF2-40B4-BE49-F238E27FC236}">
                <a16:creationId xmlns:a16="http://schemas.microsoft.com/office/drawing/2014/main" id="{B6835301-94E6-408C-8C06-AAAE5CC2BEA1}"/>
              </a:ext>
            </a:extLst>
          </p:cNvPr>
          <p:cNvSpPr>
            <a:spLocks xmlns:a="http://schemas.openxmlformats.org/drawingml/2006/main" noGrp="1"/>
          </p:cNvSpPr>
          <p:nvPr/>
        </p:nvSpPr>
        <p:spPr>
          <a:xfrm xmlns:a="http://schemas.openxmlformats.org/drawingml/2006/main">
            <a:off x="1261872" y="271576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Essential nature</a:t>
            </a:r>
          </a:p>
        </p:txBody>
      </p:sp>
      <p:sp>
        <p:nvSpPr>
          <p:cNvPr id="143" name="Google Shape;143;p7">
            <a:extLst xmlns:a="http://schemas.openxmlformats.org/drawingml/2006/main">
              <a:ext uri="{FF2B5EF4-FFF2-40B4-BE49-F238E27FC236}">
                <a16:creationId xmlns:a16="http://schemas.microsoft.com/office/drawing/2014/main" id="{3010F32F-C47C-46C9-AE74-07AAECCD40F9}"/>
              </a:ext>
            </a:extLst>
          </p:cNvPr>
          <p:cNvSpPr>
            <a:spLocks xmlns:a="http://schemas.openxmlformats.org/drawingml/2006/main" noGrp="1"/>
          </p:cNvSpPr>
          <p:nvPr/>
        </p:nvSpPr>
        <p:spPr>
          <a:xfrm xmlns:a="http://schemas.openxmlformats.org/drawingml/2006/main">
            <a:off x="1261872" y="300837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Svabhav is usefulness in context. For the peepal: vitalising while its living organisation is maintained; devitalising when that organisation breaks down.</a:t>
            </a:r>
          </a:p>
        </p:txBody>
      </p:sp>
      <p:sp>
        <p:nvSpPr>
          <p:cNvPr id="144" name="Google Shape;144;p7">
            <a:extLst xmlns:a="http://schemas.openxmlformats.org/drawingml/2006/main">
              <a:ext uri="{FF2B5EF4-FFF2-40B4-BE49-F238E27FC236}">
                <a16:creationId xmlns:a16="http://schemas.microsoft.com/office/drawing/2014/main" id="{979C8C10-E5C9-40FA-BEFF-C9C37F38BCD2}"/>
              </a:ext>
            </a:extLst>
          </p:cNvPr>
          <p:cNvSpPr>
            <a:spLocks xmlns:a="http://schemas.openxmlformats.org/drawingml/2006/main" noGrp="1"/>
          </p:cNvSpPr>
          <p:nvPr/>
        </p:nvSpPr>
        <p:spPr>
          <a:xfrm xmlns:a="http://schemas.openxmlformats.org/drawingml/2006/main">
            <a:off x="4709160" y="260604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5" name="Google Shape;145;p7">
            <a:extLst xmlns:a="http://schemas.openxmlformats.org/drawingml/2006/main">
              <a:ext uri="{FF2B5EF4-FFF2-40B4-BE49-F238E27FC236}">
                <a16:creationId xmlns:a16="http://schemas.microsoft.com/office/drawing/2014/main" id="{B7BE9008-3C5F-4DE6-B686-7614C71C891D}"/>
              </a:ext>
            </a:extLst>
          </p:cNvPr>
          <p:cNvSpPr>
            <a:spLocks xmlns:a="http://schemas.openxmlformats.org/drawingml/2006/main" noGrp="1"/>
          </p:cNvSpPr>
          <p:nvPr/>
        </p:nvSpPr>
        <p:spPr>
          <a:xfrm xmlns:a="http://schemas.openxmlformats.org/drawingml/2006/main">
            <a:off x="4892040" y="278892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6" name="Google Shape;146;p7">
            <a:extLst xmlns:a="http://schemas.openxmlformats.org/drawingml/2006/main">
              <a:ext uri="{FF2B5EF4-FFF2-40B4-BE49-F238E27FC236}">
                <a16:creationId xmlns:a16="http://schemas.microsoft.com/office/drawing/2014/main" id="{2544BADA-8352-4FD8-AAAE-F1A46BB7D4D9}"/>
              </a:ext>
            </a:extLst>
          </p:cNvPr>
          <p:cNvSpPr>
            <a:spLocks xmlns:a="http://schemas.openxmlformats.org/drawingml/2006/main" noGrp="1"/>
          </p:cNvSpPr>
          <p:nvPr/>
        </p:nvSpPr>
        <p:spPr>
          <a:xfrm xmlns:a="http://schemas.openxmlformats.org/drawingml/2006/main">
            <a:off x="4954219" y="285109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7" name="Google Shape;147;p7">
            <a:extLst xmlns:a="http://schemas.openxmlformats.org/drawingml/2006/main">
              <a:ext uri="{FF2B5EF4-FFF2-40B4-BE49-F238E27FC236}">
                <a16:creationId xmlns:a16="http://schemas.microsoft.com/office/drawing/2014/main" id="{F167243D-1618-4FCA-9349-F9976377FB23}"/>
              </a:ext>
            </a:extLst>
          </p:cNvPr>
          <p:cNvSpPr>
            <a:spLocks xmlns:a="http://schemas.openxmlformats.org/drawingml/2006/main" noGrp="1"/>
          </p:cNvSpPr>
          <p:nvPr/>
        </p:nvSpPr>
        <p:spPr>
          <a:xfrm xmlns:a="http://schemas.openxmlformats.org/drawingml/2006/main">
            <a:off x="5007072" y="290395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8" name="Google Shape;148;p7">
            <a:extLst xmlns:a="http://schemas.openxmlformats.org/drawingml/2006/main">
              <a:ext uri="{FF2B5EF4-FFF2-40B4-BE49-F238E27FC236}">
                <a16:creationId xmlns:a16="http://schemas.microsoft.com/office/drawing/2014/main" id="{7EA35A5F-6CC8-4E99-909D-22E5F8E152BE}"/>
              </a:ext>
            </a:extLst>
          </p:cNvPr>
          <p:cNvSpPr>
            <a:spLocks xmlns:a="http://schemas.openxmlformats.org/drawingml/2006/main" noGrp="1"/>
          </p:cNvSpPr>
          <p:nvPr/>
        </p:nvSpPr>
        <p:spPr>
          <a:xfrm xmlns:a="http://schemas.openxmlformats.org/drawingml/2006/main">
            <a:off x="5330952" y="271576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Dharma</a:t>
            </a:r>
          </a:p>
        </p:txBody>
      </p:sp>
      <p:sp>
        <p:nvSpPr>
          <p:cNvPr id="149" name="Google Shape;149;p7">
            <a:extLst xmlns:a="http://schemas.openxmlformats.org/drawingml/2006/main">
              <a:ext uri="{FF2B5EF4-FFF2-40B4-BE49-F238E27FC236}">
                <a16:creationId xmlns:a16="http://schemas.microsoft.com/office/drawing/2014/main" id="{264C2BCA-8EAD-4F4B-A664-235EDD8F95DE}"/>
              </a:ext>
            </a:extLst>
          </p:cNvPr>
          <p:cNvSpPr>
            <a:spLocks xmlns:a="http://schemas.openxmlformats.org/drawingml/2006/main" noGrp="1"/>
          </p:cNvSpPr>
          <p:nvPr/>
        </p:nvSpPr>
        <p:spPr>
          <a:xfrm xmlns:a="http://schemas.openxmlformats.org/drawingml/2006/main">
            <a:off x="5330952" y="300837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Innateness and order-specific fulfilment. The peepal has existence + growth. Seed-conformance is its mode of conduct, not an additional dharma.</a:t>
            </a:r>
          </a:p>
        </p:txBody>
      </p:sp>
      <p:sp>
        <p:nvSpPr>
          <p:cNvPr id="150" name="Google Shape;150;p7">
            <a:extLst xmlns:a="http://schemas.openxmlformats.org/drawingml/2006/main">
              <a:ext uri="{FF2B5EF4-FFF2-40B4-BE49-F238E27FC236}">
                <a16:creationId xmlns:a16="http://schemas.microsoft.com/office/drawing/2014/main" id="{9E8F3EB5-A45D-439A-AC12-BFF96C206909}"/>
              </a:ext>
            </a:extLst>
          </p:cNvPr>
          <p:cNvSpPr>
            <a:spLocks xmlns:a="http://schemas.openxmlformats.org/drawingml/2006/main" noGrp="1"/>
          </p:cNvSpPr>
          <p:nvPr/>
        </p:nvSpPr>
        <p:spPr>
          <a:xfrm xmlns:a="http://schemas.openxmlformats.org/drawingml/2006/main">
            <a:off x="640080" y="3977640"/>
            <a:ext cx="7863840" cy="749808"/>
          </a:xfrm>
          <a:prstGeom xmlns:a="http://schemas.openxmlformats.org/drawingml/2006/main" prst="roundRect">
            <a:avLst>
              <a:gd name="adj" fmla="val 10976"/>
            </a:avLst>
          </a:prstGeom>
          <a:solidFill xmlns:a="http://schemas.openxmlformats.org/drawingml/2006/main">
            <a:srgbClr val="FAF1D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51" name="Google Shape;151;p7">
            <a:extLst xmlns:a="http://schemas.openxmlformats.org/drawingml/2006/main">
              <a:ext uri="{FF2B5EF4-FFF2-40B4-BE49-F238E27FC236}">
                <a16:creationId xmlns:a16="http://schemas.microsoft.com/office/drawing/2014/main" id="{A0B8B063-BA19-4446-84D1-9D5E60BA0CF4}"/>
              </a:ext>
            </a:extLst>
          </p:cNvPr>
          <p:cNvSpPr>
            <a:spLocks xmlns:a="http://schemas.openxmlformats.org/drawingml/2006/main" noGrp="1"/>
          </p:cNvSpPr>
          <p:nvPr/>
        </p:nvSpPr>
        <p:spPr>
          <a:xfrm xmlns:a="http://schemas.openxmlformats.org/drawingml/2006/main">
            <a:off x="868680" y="3977640"/>
            <a:ext cx="740664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1" i="0" u="none" cap="none">
                <a:solidFill>
                  <a:srgbClr val="9A6414"/>
                </a:solidFill>
                <a:latin typeface="Calibri"/>
                <a:ea typeface="Calibri"/>
                <a:cs typeface="Calibri"/>
              </a:rPr>
              <a:t>The tree as a composite form can die and decompose while its constituent material units persist and enter other compositions. Persistence of existence is not persistence of one configuration.</a:t>
            </a:r>
          </a:p>
        </p:txBody>
      </p:sp>
      <p:sp>
        <p:nvSpPr>
          <p:cNvPr id="152" name="Google Shape;152;p7">
            <a:extLst xmlns:a="http://schemas.openxmlformats.org/drawingml/2006/main">
              <a:ext uri="{FF2B5EF4-FFF2-40B4-BE49-F238E27FC236}">
                <a16:creationId xmlns:a16="http://schemas.microsoft.com/office/drawing/2014/main" id="{0AC48ED1-74CE-491C-8680-B52C6D12D91A}"/>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MVD pp. 11, 42, 47, 50–51  ·  SB pp. 55, 71, 86</a:t>
            </a:r>
          </a:p>
        </p:txBody>
      </p:sp>
    </p:spTree>
    <p:extLst>
      <p:ext uri="{BB962C8B-B14F-4D97-AF65-F5344CB8AC3E}">
        <p14:creationId xmlns:p14="http://schemas.microsoft.com/office/powerpoint/2010/main" val="726548221"/>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8" name="Google Shape;158;p8">
            <a:extLst xmlns:a="http://schemas.openxmlformats.org/drawingml/2006/main">
              <a:ext uri="{FF2B5EF4-FFF2-40B4-BE49-F238E27FC236}">
                <a16:creationId xmlns:a16="http://schemas.microsoft.com/office/drawing/2014/main" id="{F9F84B1D-6DC1-4215-A195-CAF7397FD448}"/>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59" name="Google Shape;159;p8">
            <a:extLst xmlns:a="http://schemas.openxmlformats.org/drawingml/2006/main">
              <a:ext uri="{FF2B5EF4-FFF2-40B4-BE49-F238E27FC236}">
                <a16:creationId xmlns:a16="http://schemas.microsoft.com/office/drawing/2014/main" id="{A834E3FE-30D5-4FCB-A5E0-5C23B0ABBE5D}"/>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60" name="Google Shape;160;p8">
            <a:extLst xmlns:a="http://schemas.openxmlformats.org/drawingml/2006/main">
              <a:ext uri="{FF2B5EF4-FFF2-40B4-BE49-F238E27FC236}">
                <a16:creationId xmlns:a16="http://schemas.microsoft.com/office/drawing/2014/main" id="{8F6694AE-E9BE-4AF4-A66C-C7880F700EBD}"/>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61" name="Google Shape;161;p8">
            <a:extLst xmlns:a="http://schemas.openxmlformats.org/drawingml/2006/main">
              <a:ext uri="{FF2B5EF4-FFF2-40B4-BE49-F238E27FC236}">
                <a16:creationId xmlns:a16="http://schemas.microsoft.com/office/drawing/2014/main" id="{5D20F6CF-695A-4151-A950-52AC4194D34E}"/>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§1.4 · COMPLEMENTARITY AS VALUE</a:t>
            </a:r>
          </a:p>
        </p:txBody>
      </p:sp>
      <p:sp>
        <p:nvSpPr>
          <p:cNvPr id="162" name="Google Shape;162;p8">
            <a:extLst xmlns:a="http://schemas.openxmlformats.org/drawingml/2006/main">
              <a:ext uri="{FF2B5EF4-FFF2-40B4-BE49-F238E27FC236}">
                <a16:creationId xmlns:a16="http://schemas.microsoft.com/office/drawing/2014/main" id="{C5DD056F-A08E-4F2D-B92E-0DBA8EE87767}"/>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Units in Relationships</a:t>
            </a:r>
          </a:p>
        </p:txBody>
      </p:sp>
      <p:sp>
        <p:nvSpPr>
          <p:cNvPr id="163" name="Google Shape;163;p8">
            <a:extLst xmlns:a="http://schemas.openxmlformats.org/drawingml/2006/main">
              <a:ext uri="{FF2B5EF4-FFF2-40B4-BE49-F238E27FC236}">
                <a16:creationId xmlns:a16="http://schemas.microsoft.com/office/drawing/2014/main" id="{DEC51957-129A-43E2-8B54-6B0E245C25B1}"/>
              </a:ext>
            </a:extLst>
          </p:cNvPr>
          <p:cNvSpPr>
            <a:spLocks xmlns:a="http://schemas.openxmlformats.org/drawingml/2006/main" noGrp="1"/>
          </p:cNvSpPr>
          <p:nvPr/>
        </p:nvSpPr>
        <p:spPr>
          <a:xfrm xmlns:a="http://schemas.openxmlformats.org/drawingml/2006/main">
            <a:off x="640080" y="1207008"/>
            <a:ext cx="795528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0" i="0" u="none" cap="none">
                <a:solidFill>
                  <a:srgbClr val="5A6377"/>
                </a:solidFill>
                <a:latin typeface="Calibri"/>
                <a:ea typeface="Calibri"/>
                <a:cs typeface="Calibri"/>
              </a:rPr>
              <a:t>“Nothing is isolated — that is the principle” (JV p. 43). Complementarity is actualised as value in mutuality. Its expression is definite in material, bio, and animal orders; human evaluation may err under body-identification.</a:t>
            </a:r>
          </a:p>
        </p:txBody>
      </p:sp>
      <p:sp>
        <p:nvSpPr>
          <p:cNvPr id="164" name="Google Shape;164;p8">
            <a:extLst xmlns:a="http://schemas.openxmlformats.org/drawingml/2006/main">
              <a:ext uri="{FF2B5EF4-FFF2-40B4-BE49-F238E27FC236}">
                <a16:creationId xmlns:a16="http://schemas.microsoft.com/office/drawing/2014/main" id="{55F81FC9-9FE5-4D64-83C5-B9CD09FA0F07}"/>
              </a:ext>
            </a:extLst>
          </p:cNvPr>
          <p:cNvSpPr>
            <a:spLocks xmlns:a="http://schemas.openxmlformats.org/drawingml/2006/main" noGrp="1"/>
          </p:cNvSpPr>
          <p:nvPr/>
        </p:nvSpPr>
        <p:spPr>
          <a:xfrm xmlns:a="http://schemas.openxmlformats.org/drawingml/2006/main">
            <a:off x="640080" y="1874520"/>
            <a:ext cx="3794760" cy="1170432"/>
          </a:xfrm>
          <a:prstGeom xmlns:a="http://schemas.openxmlformats.org/drawingml/2006/main" prst="roundRect">
            <a:avLst>
              <a:gd name="adj" fmla="val 703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65" name="Google Shape;165;p8">
            <a:extLst xmlns:a="http://schemas.openxmlformats.org/drawingml/2006/main">
              <a:ext uri="{FF2B5EF4-FFF2-40B4-BE49-F238E27FC236}">
                <a16:creationId xmlns:a16="http://schemas.microsoft.com/office/drawing/2014/main" id="{726D1099-0694-4291-A549-3F3CA5BBB846}"/>
              </a:ext>
            </a:extLst>
          </p:cNvPr>
          <p:cNvSpPr>
            <a:spLocks xmlns:a="http://schemas.openxmlformats.org/drawingml/2006/main" noGrp="1"/>
          </p:cNvSpPr>
          <p:nvPr/>
        </p:nvSpPr>
        <p:spPr>
          <a:xfrm xmlns:a="http://schemas.openxmlformats.org/drawingml/2006/main">
            <a:off x="841248" y="1993392"/>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1E2447"/>
                </a:solidFill>
                <a:latin typeface="Cambria"/>
                <a:ea typeface="Cambria"/>
                <a:cs typeface="Cambria"/>
              </a:rPr>
              <a:t>Relationship</a:t>
            </a:r>
          </a:p>
        </p:txBody>
      </p:sp>
      <p:sp>
        <p:nvSpPr>
          <p:cNvPr id="166" name="Google Shape;166;p8">
            <a:extLst xmlns:a="http://schemas.openxmlformats.org/drawingml/2006/main">
              <a:ext uri="{FF2B5EF4-FFF2-40B4-BE49-F238E27FC236}">
                <a16:creationId xmlns:a16="http://schemas.microsoft.com/office/drawing/2014/main" id="{F24C4CA3-F0EB-483B-BCA3-39B1047C9273}"/>
              </a:ext>
            </a:extLst>
          </p:cNvPr>
          <p:cNvSpPr>
            <a:spLocks xmlns:a="http://schemas.openxmlformats.org/drawingml/2006/main" noGrp="1"/>
          </p:cNvSpPr>
          <p:nvPr/>
        </p:nvSpPr>
        <p:spPr>
          <a:xfrm xmlns:a="http://schemas.openxmlformats.org/drawingml/2006/main">
            <a:off x="84124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0" u="none" cap="none">
                <a:solidFill>
                  <a:srgbClr val="5A6377"/>
                </a:solidFill>
                <a:latin typeface="Calibri"/>
                <a:ea typeface="Calibri"/>
                <a:cs typeface="Calibri"/>
              </a:rPr>
              <a:t>Mutuality whose expectations and fulfilment are definite in the relation's completeness — e.g. parent and child.</a:t>
            </a:r>
          </a:p>
        </p:txBody>
      </p:sp>
      <p:sp>
        <p:nvSpPr>
          <p:cNvPr id="167" name="Google Shape;167;p8">
            <a:extLst xmlns:a="http://schemas.openxmlformats.org/drawingml/2006/main">
              <a:ext uri="{FF2B5EF4-FFF2-40B4-BE49-F238E27FC236}">
                <a16:creationId xmlns:a16="http://schemas.microsoft.com/office/drawing/2014/main" id="{F87EA41D-F266-427C-B296-8A5DE68EA8C2}"/>
              </a:ext>
            </a:extLst>
          </p:cNvPr>
          <p:cNvSpPr>
            <a:spLocks xmlns:a="http://schemas.openxmlformats.org/drawingml/2006/main" noGrp="1"/>
          </p:cNvSpPr>
          <p:nvPr/>
        </p:nvSpPr>
        <p:spPr>
          <a:xfrm xmlns:a="http://schemas.openxmlformats.org/drawingml/2006/main">
            <a:off x="4709160" y="1874520"/>
            <a:ext cx="3794760" cy="1170432"/>
          </a:xfrm>
          <a:prstGeom xmlns:a="http://schemas.openxmlformats.org/drawingml/2006/main" prst="roundRect">
            <a:avLst>
              <a:gd name="adj" fmla="val 703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68" name="Google Shape;168;p8">
            <a:extLst xmlns:a="http://schemas.openxmlformats.org/drawingml/2006/main">
              <a:ext uri="{FF2B5EF4-FFF2-40B4-BE49-F238E27FC236}">
                <a16:creationId xmlns:a16="http://schemas.microsoft.com/office/drawing/2014/main" id="{60A8DB29-8139-41D5-B02E-FB03B7513242}"/>
              </a:ext>
            </a:extLst>
          </p:cNvPr>
          <p:cNvSpPr>
            <a:spLocks xmlns:a="http://schemas.openxmlformats.org/drawingml/2006/main" noGrp="1"/>
          </p:cNvSpPr>
          <p:nvPr/>
        </p:nvSpPr>
        <p:spPr>
          <a:xfrm xmlns:a="http://schemas.openxmlformats.org/drawingml/2006/main">
            <a:off x="4910328" y="1993392"/>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3B4A7A"/>
                </a:solidFill>
                <a:latin typeface="Cambria"/>
                <a:ea typeface="Cambria"/>
                <a:cs typeface="Cambria"/>
              </a:rPr>
              <a:t>Association</a:t>
            </a:r>
          </a:p>
        </p:txBody>
      </p:sp>
      <p:sp>
        <p:nvSpPr>
          <p:cNvPr id="169" name="Google Shape;169;p8">
            <a:extLst xmlns:a="http://schemas.openxmlformats.org/drawingml/2006/main">
              <a:ext uri="{FF2B5EF4-FFF2-40B4-BE49-F238E27FC236}">
                <a16:creationId xmlns:a16="http://schemas.microsoft.com/office/drawing/2014/main" id="{58D0CFD6-5F25-4801-94B8-9739BAA03AF7}"/>
              </a:ext>
            </a:extLst>
          </p:cNvPr>
          <p:cNvSpPr>
            <a:spLocks xmlns:a="http://schemas.openxmlformats.org/drawingml/2006/main" noGrp="1"/>
          </p:cNvSpPr>
          <p:nvPr/>
        </p:nvSpPr>
        <p:spPr>
          <a:xfrm xmlns:a="http://schemas.openxmlformats.org/drawingml/2006/main">
            <a:off x="491032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0" u="none" cap="none">
                <a:solidFill>
                  <a:srgbClr val="5A6377"/>
                </a:solidFill>
                <a:latin typeface="Calibri"/>
                <a:ea typeface="Calibri"/>
                <a:cs typeface="Calibri"/>
              </a:rPr>
              <a:t>Mutuality where expectations are voluntary — e.g. neighbours who share a wall.</a:t>
            </a:r>
          </a:p>
        </p:txBody>
      </p:sp>
      <p:sp>
        <p:nvSpPr>
          <p:cNvPr id="170" name="Google Shape;170;p8">
            <a:extLst xmlns:a="http://schemas.openxmlformats.org/drawingml/2006/main">
              <a:ext uri="{FF2B5EF4-FFF2-40B4-BE49-F238E27FC236}">
                <a16:creationId xmlns:a16="http://schemas.microsoft.com/office/drawing/2014/main" id="{1C053D7A-1774-40CE-865A-219A0A24EB1F}"/>
              </a:ext>
            </a:extLst>
          </p:cNvPr>
          <p:cNvSpPr>
            <a:spLocks xmlns:a="http://schemas.openxmlformats.org/drawingml/2006/main" noGrp="1"/>
          </p:cNvSpPr>
          <p:nvPr/>
        </p:nvSpPr>
        <p:spPr>
          <a:xfrm xmlns:a="http://schemas.openxmlformats.org/drawingml/2006/main">
            <a:off x="640080" y="3246120"/>
            <a:ext cx="79552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libri"/>
                <a:ea typeface="Calibri"/>
                <a:cs typeface="Calibri"/>
              </a:rPr>
              <a:t>Five value families: object, jeevan, human, relationship, and established/civic. Object values are utility and art. Thus the six named values are utility, art, jeevan, human, relationship, and established/civic.</a:t>
            </a:r>
          </a:p>
        </p:txBody>
      </p:sp>
      <p:sp>
        <p:nvSpPr>
          <p:cNvPr id="171" name="Google Shape;171;p8">
            <a:extLst xmlns:a="http://schemas.openxmlformats.org/drawingml/2006/main">
              <a:ext uri="{FF2B5EF4-FFF2-40B4-BE49-F238E27FC236}">
                <a16:creationId xmlns:a16="http://schemas.microsoft.com/office/drawing/2014/main" id="{6DC04A20-B918-49D0-976D-BB143E75280F}"/>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72" name="Google Shape;172;p8">
            <a:extLst xmlns:a="http://schemas.openxmlformats.org/drawingml/2006/main">
              <a:ext uri="{FF2B5EF4-FFF2-40B4-BE49-F238E27FC236}">
                <a16:creationId xmlns:a16="http://schemas.microsoft.com/office/drawing/2014/main" id="{7EF3F5F5-0E78-431C-9E98-48BD1377FB4F}"/>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Knowing</a:t>
            </a:r>
          </a:p>
        </p:txBody>
      </p:sp>
      <p:sp>
        <p:nvSpPr>
          <p:cNvPr id="173" name="Google Shape;173;p8">
            <a:extLst xmlns:a="http://schemas.openxmlformats.org/drawingml/2006/main">
              <a:ext uri="{FF2B5EF4-FFF2-40B4-BE49-F238E27FC236}">
                <a16:creationId xmlns:a16="http://schemas.microsoft.com/office/drawing/2014/main" id="{95912ACF-7BCA-480C-8FF9-60A356103978}"/>
              </a:ext>
            </a:extLst>
          </p:cNvPr>
          <p:cNvSpPr>
            <a:spLocks xmlns:a="http://schemas.openxmlformats.org/drawingml/2006/main" noGrp="1"/>
          </p:cNvSpPr>
          <p:nvPr/>
        </p:nvSpPr>
        <p:spPr>
          <a:xfrm xmlns:a="http://schemas.openxmlformats.org/drawingml/2006/main">
            <a:off x="233172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174" name="Google Shape;174;p8">
            <a:extLst xmlns:a="http://schemas.openxmlformats.org/drawingml/2006/main">
              <a:ext uri="{FF2B5EF4-FFF2-40B4-BE49-F238E27FC236}">
                <a16:creationId xmlns:a16="http://schemas.microsoft.com/office/drawing/2014/main" id="{155904C9-1DD3-42F5-ABC1-BB9BE21D6DC3}"/>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75" name="Google Shape;175;p8">
            <a:extLst xmlns:a="http://schemas.openxmlformats.org/drawingml/2006/main">
              <a:ext uri="{FF2B5EF4-FFF2-40B4-BE49-F238E27FC236}">
                <a16:creationId xmlns:a16="http://schemas.microsoft.com/office/drawing/2014/main" id="{481CE8F5-930E-47CC-8DA6-8BBA7F52372C}"/>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Believing</a:t>
            </a:r>
          </a:p>
        </p:txBody>
      </p:sp>
      <p:sp>
        <p:nvSpPr>
          <p:cNvPr id="176" name="Google Shape;176;p8">
            <a:extLst xmlns:a="http://schemas.openxmlformats.org/drawingml/2006/main">
              <a:ext uri="{FF2B5EF4-FFF2-40B4-BE49-F238E27FC236}">
                <a16:creationId xmlns:a16="http://schemas.microsoft.com/office/drawing/2014/main" id="{924D7205-9C4A-4398-AEDB-A16F6BB592B9}"/>
              </a:ext>
            </a:extLst>
          </p:cNvPr>
          <p:cNvSpPr>
            <a:spLocks xmlns:a="http://schemas.openxmlformats.org/drawingml/2006/main" noGrp="1"/>
          </p:cNvSpPr>
          <p:nvPr/>
        </p:nvSpPr>
        <p:spPr>
          <a:xfrm xmlns:a="http://schemas.openxmlformats.org/drawingml/2006/main">
            <a:off x="434340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177" name="Google Shape;177;p8">
            <a:extLst xmlns:a="http://schemas.openxmlformats.org/drawingml/2006/main">
              <a:ext uri="{FF2B5EF4-FFF2-40B4-BE49-F238E27FC236}">
                <a16:creationId xmlns:a16="http://schemas.microsoft.com/office/drawing/2014/main" id="{A7897A17-DDF7-4BA9-A872-FBAA48BA625A}"/>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78" name="Google Shape;178;p8">
            <a:extLst xmlns:a="http://schemas.openxmlformats.org/drawingml/2006/main">
              <a:ext uri="{FF2B5EF4-FFF2-40B4-BE49-F238E27FC236}">
                <a16:creationId xmlns:a16="http://schemas.microsoft.com/office/drawing/2014/main" id="{FC8B7616-7F8F-48DE-A376-C19FEF25E199}"/>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Recognising</a:t>
            </a:r>
          </a:p>
        </p:txBody>
      </p:sp>
      <p:sp>
        <p:nvSpPr>
          <p:cNvPr id="179" name="Google Shape;179;p8">
            <a:extLst xmlns:a="http://schemas.openxmlformats.org/drawingml/2006/main">
              <a:ext uri="{FF2B5EF4-FFF2-40B4-BE49-F238E27FC236}">
                <a16:creationId xmlns:a16="http://schemas.microsoft.com/office/drawing/2014/main" id="{B5301D89-98C7-4730-A3C7-45B491738060}"/>
              </a:ext>
            </a:extLst>
          </p:cNvPr>
          <p:cNvSpPr>
            <a:spLocks xmlns:a="http://schemas.openxmlformats.org/drawingml/2006/main" noGrp="1"/>
          </p:cNvSpPr>
          <p:nvPr/>
        </p:nvSpPr>
        <p:spPr>
          <a:xfrm xmlns:a="http://schemas.openxmlformats.org/drawingml/2006/main">
            <a:off x="635508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180" name="Google Shape;180;p8">
            <a:extLst xmlns:a="http://schemas.openxmlformats.org/drawingml/2006/main">
              <a:ext uri="{FF2B5EF4-FFF2-40B4-BE49-F238E27FC236}">
                <a16:creationId xmlns:a16="http://schemas.microsoft.com/office/drawing/2014/main" id="{7D8FBE74-AD68-4587-88A8-38F7688A68AA}"/>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81" name="Google Shape;181;p8">
            <a:extLst xmlns:a="http://schemas.openxmlformats.org/drawingml/2006/main">
              <a:ext uri="{FF2B5EF4-FFF2-40B4-BE49-F238E27FC236}">
                <a16:creationId xmlns:a16="http://schemas.microsoft.com/office/drawing/2014/main" id="{7BCF193F-55BB-4B2F-8D67-9B8FDA5F3DC0}"/>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Fulfilling</a:t>
            </a:r>
          </a:p>
        </p:txBody>
      </p:sp>
      <p:sp>
        <p:nvSpPr>
          <p:cNvPr id="182" name="Google Shape;182;p8">
            <a:extLst xmlns:a="http://schemas.openxmlformats.org/drawingml/2006/main">
              <a:ext uri="{FF2B5EF4-FFF2-40B4-BE49-F238E27FC236}">
                <a16:creationId xmlns:a16="http://schemas.microsoft.com/office/drawing/2014/main" id="{39262F35-7220-4EB8-9BA0-C274AA53D0B7}"/>
              </a:ext>
            </a:extLst>
          </p:cNvPr>
          <p:cNvSpPr>
            <a:spLocks xmlns:a="http://schemas.openxmlformats.org/drawingml/2006/main" noGrp="1"/>
          </p:cNvSpPr>
          <p:nvPr/>
        </p:nvSpPr>
        <p:spPr>
          <a:xfrm xmlns:a="http://schemas.openxmlformats.org/drawingml/2006/main">
            <a:off x="640080" y="4553712"/>
            <a:ext cx="795528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1" u="none" cap="none">
                <a:solidFill>
                  <a:srgbClr val="5A6377"/>
                </a:solidFill>
                <a:latin typeface="Calibri"/>
                <a:ea typeface="Calibri"/>
                <a:cs typeface="Calibri"/>
              </a:rPr>
              <a:t>Human evaluation may err; understanding aligns knowing → believing → recognising → fulfilling. Established/civic values articulate this fulfilment socially.</a:t>
            </a:r>
          </a:p>
        </p:txBody>
      </p:sp>
      <p:sp>
        <p:nvSpPr>
          <p:cNvPr id="183" name="Google Shape;183;p8">
            <a:extLst xmlns:a="http://schemas.openxmlformats.org/drawingml/2006/main">
              <a:ext uri="{FF2B5EF4-FFF2-40B4-BE49-F238E27FC236}">
                <a16:creationId xmlns:a16="http://schemas.microsoft.com/office/drawing/2014/main" id="{F7EB63A2-CA96-4FC1-B350-7EAC1CD701F7}"/>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MVD pp. 61–62, 27  ·  SB pp. 50, 53, 61  ·  JV p. 69</a:t>
            </a:r>
          </a:p>
        </p:txBody>
      </p:sp>
    </p:spTree>
    <p:extLst>
      <p:ext uri="{BB962C8B-B14F-4D97-AF65-F5344CB8AC3E}">
        <p14:creationId xmlns:p14="http://schemas.microsoft.com/office/powerpoint/2010/main" val="2076478502"/>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9" name="Google Shape;189;p9">
            <a:extLst xmlns:a="http://schemas.openxmlformats.org/drawingml/2006/main">
              <a:ext uri="{FF2B5EF4-FFF2-40B4-BE49-F238E27FC236}">
                <a16:creationId xmlns:a16="http://schemas.microsoft.com/office/drawing/2014/main" id="{78BE2FDB-9993-4B89-879D-9F6E842BD146}"/>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0" name="Google Shape;190;p9">
            <a:extLst xmlns:a="http://schemas.openxmlformats.org/drawingml/2006/main">
              <a:ext uri="{FF2B5EF4-FFF2-40B4-BE49-F238E27FC236}">
                <a16:creationId xmlns:a16="http://schemas.microsoft.com/office/drawing/2014/main" id="{D486CE71-65E4-4998-B4FB-7953C76974ED}"/>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1" name="Google Shape;191;p9">
            <a:extLst xmlns:a="http://schemas.openxmlformats.org/drawingml/2006/main">
              <a:ext uri="{FF2B5EF4-FFF2-40B4-BE49-F238E27FC236}">
                <a16:creationId xmlns:a16="http://schemas.microsoft.com/office/drawing/2014/main" id="{2D843C0E-0F2C-4F09-88EC-0FE70B332F23}"/>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2" name="Google Shape;192;p9">
            <a:extLst xmlns:a="http://schemas.openxmlformats.org/drawingml/2006/main">
              <a:ext uri="{FF2B5EF4-FFF2-40B4-BE49-F238E27FC236}">
                <a16:creationId xmlns:a16="http://schemas.microsoft.com/office/drawing/2014/main" id="{7A562A57-A093-41DC-90A9-28722A21F2B0}"/>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§1.5</a:t>
            </a:r>
          </a:p>
        </p:txBody>
      </p:sp>
      <p:sp>
        <p:nvSpPr>
          <p:cNvPr id="193" name="Google Shape;193;p9">
            <a:extLst xmlns:a="http://schemas.openxmlformats.org/drawingml/2006/main">
              <a:ext uri="{FF2B5EF4-FFF2-40B4-BE49-F238E27FC236}">
                <a16:creationId xmlns:a16="http://schemas.microsoft.com/office/drawing/2014/main" id="{E5CCBD08-FCA8-4F44-9B7F-A0AD7F3F647D}"/>
              </a:ext>
            </a:extLst>
          </p:cNvPr>
          <p:cNvSpPr>
            <a:spLocks xmlns:a="http://schemas.openxmlformats.org/drawingml/2006/main" noGrp="1"/>
          </p:cNvSpPr>
          <p:nvPr/>
        </p:nvSpPr>
        <p:spPr>
          <a:xfrm xmlns:a="http://schemas.openxmlformats.org/drawingml/2006/main">
            <a:off x="960120" y="514350"/>
            <a:ext cx="7726680" cy="49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The Four Orders of Nature</a:t>
            </a:r>
          </a:p>
        </p:txBody>
      </p:sp>
      <p:graphicFrame>
        <p:nvGraphicFramePr>
          <p:cNvPr id="204" name="Google Shape;194;p9"/>
          <p:cNvGraphicFramePr/>
          <p:nvPr/>
        </p:nvGraphicFramePr>
        <p:xfrm>
          <a:off xmlns:a="http://schemas.openxmlformats.org/drawingml/2006/main" x="640080" y="1325880"/>
          <a:ext xmlns:a="http://schemas.openxmlformats.org/drawingml/2006/main" cx="7863825" cy="2560325"/>
        </p:xfrm>
        <a:graphic xmlns:a="http://schemas.openxmlformats.org/drawingml/2006/main">
          <a:graphicData uri="http://schemas.openxmlformats.org/drawingml/2006/table">
            <a:tbl>
              <a:tblPr>
                <a:tableStyleId>{6C92A692-798E-4634-90B1-36CD3966BFCB}</a:tableStyleId>
              </a:tblPr>
              <a:tblGrid>
                <a:gridCol w="1828800"/>
                <a:gridCol w="2651750"/>
                <a:gridCol w="2011675"/>
                <a:gridCol w="1371600"/>
              </a:tblGrid>
              <a:tr h="365750">
                <a:tc>
                  <a:txBody>
                    <a:bodyPr/>
                    <a:lstStyle/>
                    <a:p>
                      <a:pPr marL="0" indent="0" algn="l">
                        <a:buNone/>
                      </a:pPr>
                      <a:r>
                        <a:rPr sz="1200" b="1" u="none" cap="none">
                          <a:solidFill>
                            <a:srgbClr val="FFFFFF"/>
                          </a:solidFill>
                          <a:latin typeface="Calibri"/>
                          <a:ea typeface="Calibri"/>
                          <a:cs typeface="Calibri"/>
                        </a:rPr>
                        <a:t>Order</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indent="0" algn="l">
                        <a:buNone/>
                      </a:pPr>
                      <a:r>
                        <a:rPr sz="1200" b="1" u="none" cap="none">
                          <a:solidFill>
                            <a:srgbClr val="FFFFFF"/>
                          </a:solidFill>
                          <a:latin typeface="Calibri"/>
                          <a:ea typeface="Calibri"/>
                          <a:cs typeface="Calibri"/>
                        </a:rPr>
                        <a:t>Svabhav in mutuality</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indent="0" algn="l">
                        <a:buNone/>
                      </a:pPr>
                      <a:r>
                        <a:rPr sz="1200" b="1" u="none" cap="none">
                          <a:solidFill>
                            <a:srgbClr val="FFFFFF"/>
                          </a:solidFill>
                          <a:latin typeface="Calibri"/>
                          <a:ea typeface="Calibri"/>
                          <a:cs typeface="Calibri"/>
                        </a:rPr>
                        <a:t>Dharma (cumulative)</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indent="0" algn="l">
                        <a:buNone/>
                      </a:pPr>
                      <a:r>
                        <a:rPr sz="1200" b="1" u="none" cap="none">
                          <a:solidFill>
                            <a:srgbClr val="FFFFFF"/>
                          </a:solidFill>
                          <a:latin typeface="Calibri"/>
                          <a:ea typeface="Calibri"/>
                          <a:cs typeface="Calibri"/>
                        </a:rPr>
                        <a:t>Status</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r>
              <a:tr h="502925">
                <a:tc>
                  <a:txBody>
                    <a:bodyPr/>
                    <a:lstStyle/>
                    <a:p>
                      <a:pPr marL="0" indent="0" algn="l">
                        <a:buNone/>
                      </a:pPr>
                      <a:r>
                        <a:rPr sz="1100" u="none" cap="none">
                          <a:solidFill>
                            <a:srgbClr val="1E2447"/>
                          </a:solidFill>
                          <a:latin typeface="Calibri"/>
                          <a:ea typeface="Calibri"/>
                          <a:cs typeface="Calibri"/>
                        </a:rPr>
                        <a:t>Material</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integration–disintegration</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existence</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insentient · definite</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502925">
                <a:tc>
                  <a:txBody>
                    <a:bodyPr/>
                    <a:lstStyle/>
                    <a:p>
                      <a:pPr marL="0" indent="0" algn="l">
                        <a:buNone/>
                      </a:pPr>
                      <a:r>
                        <a:rPr sz="1100" u="none" cap="none">
                          <a:solidFill>
                            <a:srgbClr val="1E2447"/>
                          </a:solidFill>
                          <a:latin typeface="Calibri"/>
                          <a:ea typeface="Calibri"/>
                          <a:cs typeface="Calibri"/>
                        </a:rPr>
                        <a:t>Bio (pranic)</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vitalising–devitalising</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 growth</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insentient · definite</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502925">
                <a:tc>
                  <a:txBody>
                    <a:bodyPr/>
                    <a:lstStyle/>
                    <a:p>
                      <a:pPr marL="0" indent="0" algn="l">
                        <a:buNone/>
                      </a:pPr>
                      <a:r>
                        <a:rPr sz="1100" u="none" cap="none">
                          <a:solidFill>
                            <a:srgbClr val="1E2447"/>
                          </a:solidFill>
                          <a:latin typeface="Calibri"/>
                          <a:ea typeface="Calibri"/>
                          <a:cs typeface="Calibri"/>
                        </a:rPr>
                        <a:t>Animal</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cruel–uncruel</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 hope to live</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sentient · bodily expression limited</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685800">
                <a:tc>
                  <a:txBody>
                    <a:bodyPr/>
                    <a:lstStyle/>
                    <a:p>
                      <a:pPr marL="0" indent="0" algn="l">
                        <a:buNone/>
                      </a:pPr>
                      <a:r>
                        <a:rPr sz="1100" u="none" cap="none">
                          <a:solidFill>
                            <a:srgbClr val="1E2447"/>
                          </a:solidFill>
                          <a:latin typeface="Calibri"/>
                          <a:ea typeface="Calibri"/>
                          <a:cs typeface="Calibri"/>
                        </a:rPr>
                        <a:t>Knowledge (human)</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fortitude, courage, generosity, kindness, grace, compassion</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 happiness</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sentient · full bodily medium; awakening possible</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bl>
          </a:graphicData>
        </a:graphic>
      </p:graphicFrame>
      <p:sp>
        <p:nvSpPr>
          <p:cNvPr id="195" name="Google Shape;195;p9">
            <a:extLst xmlns:a="http://schemas.openxmlformats.org/drawingml/2006/main">
              <a:ext uri="{FF2B5EF4-FFF2-40B4-BE49-F238E27FC236}">
                <a16:creationId xmlns:a16="http://schemas.microsoft.com/office/drawing/2014/main" id="{56045CEE-E3D1-4ECB-9CE3-C00365D94007}"/>
              </a:ext>
            </a:extLst>
          </p:cNvPr>
          <p:cNvSpPr>
            <a:spLocks xmlns:a="http://schemas.openxmlformats.org/drawingml/2006/main" noGrp="1"/>
          </p:cNvSpPr>
          <p:nvPr/>
        </p:nvSpPr>
        <p:spPr>
          <a:xfrm xmlns:a="http://schemas.openxmlformats.org/drawingml/2006/main">
            <a:off x="640080" y="4069080"/>
            <a:ext cx="7863840" cy="658368"/>
          </a:xfrm>
          <a:prstGeom xmlns:a="http://schemas.openxmlformats.org/drawingml/2006/main" prst="roundRect">
            <a:avLst>
              <a:gd name="adj" fmla="val 12500"/>
            </a:avLst>
          </a:prstGeom>
          <a:solidFill xmlns:a="http://schemas.openxmlformats.org/drawingml/2006/main">
            <a:srgbClr val="FAF1D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6" name="Google Shape;196;p9">
            <a:extLst xmlns:a="http://schemas.openxmlformats.org/drawingml/2006/main">
              <a:ext uri="{FF2B5EF4-FFF2-40B4-BE49-F238E27FC236}">
                <a16:creationId xmlns:a16="http://schemas.microsoft.com/office/drawing/2014/main" id="{CBCFED84-4AED-4439-8BAD-7BC63416C034}"/>
              </a:ext>
            </a:extLst>
          </p:cNvPr>
          <p:cNvSpPr>
            <a:spLocks xmlns:a="http://schemas.openxmlformats.org/drawingml/2006/main" noGrp="1"/>
          </p:cNvSpPr>
          <p:nvPr/>
        </p:nvSpPr>
        <p:spPr>
          <a:xfrm xmlns:a="http://schemas.openxmlformats.org/drawingml/2006/main">
            <a:off x="868680" y="4069080"/>
            <a:ext cx="7406640" cy="65836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1" i="0" u="none" cap="none">
                <a:solidFill>
                  <a:srgbClr val="9A6414"/>
                </a:solidFill>
                <a:latin typeface="Calibri"/>
                <a:ea typeface="Calibri"/>
                <a:cs typeface="Calibri"/>
              </a:rPr>
              <a:t>Jeevan is present in animal and human joint forms. In animals, bodily and brain development limits how its faculties can be expressed. In humans, the bodily medium supports the full range, but delusion can misdirect evaluation. Neither body produces sentience.</a:t>
            </a:r>
          </a:p>
        </p:txBody>
      </p:sp>
      <p:sp>
        <p:nvSpPr>
          <p:cNvPr id="197" name="Google Shape;197;p9">
            <a:extLst xmlns:a="http://schemas.openxmlformats.org/drawingml/2006/main">
              <a:ext uri="{FF2B5EF4-FFF2-40B4-BE49-F238E27FC236}">
                <a16:creationId xmlns:a16="http://schemas.microsoft.com/office/drawing/2014/main" id="{07F388A9-2EE4-4AC8-BEF3-C1967A5BA32A}"/>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SB p. 179  ·  MVD pp. 5, 8, 13, 115  ·  JV p. 44</a:t>
            </a:r>
          </a:p>
        </p:txBody>
      </p:sp>
    </p:spTree>
    <p:extLst>
      <p:ext uri="{BB962C8B-B14F-4D97-AF65-F5344CB8AC3E}">
        <p14:creationId xmlns:p14="http://schemas.microsoft.com/office/powerpoint/2010/main" val="113189548"/>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3" name="Google Shape;203;p10">
            <a:extLst xmlns:a="http://schemas.openxmlformats.org/drawingml/2006/main">
              <a:ext uri="{FF2B5EF4-FFF2-40B4-BE49-F238E27FC236}">
                <a16:creationId xmlns:a16="http://schemas.microsoft.com/office/drawing/2014/main" id="{F0DA4043-B666-4E7D-A93C-E7625947B5A5}"/>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4" name="Google Shape;204;p10">
            <a:extLst xmlns:a="http://schemas.openxmlformats.org/drawingml/2006/main">
              <a:ext uri="{FF2B5EF4-FFF2-40B4-BE49-F238E27FC236}">
                <a16:creationId xmlns:a16="http://schemas.microsoft.com/office/drawing/2014/main" id="{C0AF2011-663D-4F60-A3BA-D67A0D8A9ACF}"/>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5" name="Google Shape;205;p10">
            <a:extLst xmlns:a="http://schemas.openxmlformats.org/drawingml/2006/main">
              <a:ext uri="{FF2B5EF4-FFF2-40B4-BE49-F238E27FC236}">
                <a16:creationId xmlns:a16="http://schemas.microsoft.com/office/drawing/2014/main" id="{28856720-58C7-47B1-AA1D-4F8C1A2B92D9}"/>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6" name="Google Shape;206;p10">
            <a:extLst xmlns:a="http://schemas.openxmlformats.org/drawingml/2006/main">
              <a:ext uri="{FF2B5EF4-FFF2-40B4-BE49-F238E27FC236}">
                <a16:creationId xmlns:a16="http://schemas.microsoft.com/office/drawing/2014/main" id="{17341D54-7463-4E7E-A13B-67037ABA21FA}"/>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§1.6 · TWO DEVELOPMENTS · ONE ACTIVITY STRUCTURE</a:t>
            </a:r>
          </a:p>
        </p:txBody>
      </p:sp>
      <p:sp>
        <p:nvSpPr>
          <p:cNvPr id="207" name="Google Shape;207;p10">
            <a:extLst xmlns:a="http://schemas.openxmlformats.org/drawingml/2006/main">
              <a:ext uri="{FF2B5EF4-FFF2-40B4-BE49-F238E27FC236}">
                <a16:creationId xmlns:a16="http://schemas.microsoft.com/office/drawing/2014/main" id="{EE953502-E474-4782-AC78-2593793D0EDD}"/>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Two Developments, One Activity Structure</a:t>
            </a:r>
          </a:p>
        </p:txBody>
      </p:sp>
      <p:sp>
        <p:nvSpPr>
          <p:cNvPr id="208" name="Google Shape;208;p10">
            <a:extLst xmlns:a="http://schemas.openxmlformats.org/drawingml/2006/main">
              <a:ext uri="{FF2B5EF4-FFF2-40B4-BE49-F238E27FC236}">
                <a16:creationId xmlns:a16="http://schemas.microsoft.com/office/drawing/2014/main" id="{988874DA-3F86-41E0-8A36-434B09CA06D0}"/>
              </a:ext>
            </a:extLst>
          </p:cNvPr>
          <p:cNvSpPr>
            <a:spLocks xmlns:a="http://schemas.openxmlformats.org/drawingml/2006/main" noGrp="1"/>
          </p:cNvSpPr>
          <p:nvPr/>
        </p:nvSpPr>
        <p:spPr>
          <a:xfrm xmlns:a="http://schemas.openxmlformats.org/drawingml/2006/main">
            <a:off x="640080" y="1207008"/>
            <a:ext cx="7955280" cy="7772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Madhyasth Darshan distinguishes two developments. Compositional progression joins particles, atoms, molecules, cells, and bodies into larger configurations. Development in an atom can reach constitutional completeness as jeevan. These lines meet in living joint forms but remain distinct. Across both, activity is one inseparable triad: effort, motion, and result.</a:t>
            </a:r>
          </a:p>
        </p:txBody>
      </p:sp>
      <p:sp>
        <p:nvSpPr>
          <p:cNvPr id="209" name="Google Shape;209;p10">
            <a:extLst xmlns:a="http://schemas.openxmlformats.org/drawingml/2006/main">
              <a:ext uri="{FF2B5EF4-FFF2-40B4-BE49-F238E27FC236}">
                <a16:creationId xmlns:a16="http://schemas.microsoft.com/office/drawing/2014/main" id="{3C4ACB12-DD4C-4631-BAC2-EC544D0D232A}"/>
              </a:ext>
            </a:extLst>
          </p:cNvPr>
          <p:cNvSpPr>
            <a:spLocks xmlns:a="http://schemas.openxmlformats.org/drawingml/2006/main" noGrp="1"/>
          </p:cNvSpPr>
          <p:nvPr/>
        </p:nvSpPr>
        <p:spPr>
          <a:xfrm xmlns:a="http://schemas.openxmlformats.org/drawingml/2006/main">
            <a:off x="1234440" y="2240280"/>
            <a:ext cx="1417320" cy="1417320"/>
          </a:xfrm>
          <a:prstGeom xmlns:a="http://schemas.openxmlformats.org/drawingml/2006/main" prst="ellipse">
            <a:avLst/>
          </a:prstGeom>
          <a:solidFill xmlns:a="http://schemas.openxmlformats.org/drawingml/2006/main">
            <a:srgbClr val="3B4A7A"/>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0" name="Google Shape;210;p10">
            <a:extLst xmlns:a="http://schemas.openxmlformats.org/drawingml/2006/main">
              <a:ext uri="{FF2B5EF4-FFF2-40B4-BE49-F238E27FC236}">
                <a16:creationId xmlns:a16="http://schemas.microsoft.com/office/drawing/2014/main" id="{E7B067CB-714B-4A16-BA1E-67E923D644F6}"/>
              </a:ext>
            </a:extLst>
          </p:cNvPr>
          <p:cNvSpPr>
            <a:spLocks xmlns:a="http://schemas.openxmlformats.org/drawingml/2006/main" noGrp="1"/>
          </p:cNvSpPr>
          <p:nvPr/>
        </p:nvSpPr>
        <p:spPr>
          <a:xfrm xmlns:a="http://schemas.openxmlformats.org/drawingml/2006/main">
            <a:off x="12344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Effort</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the internal side</a:t>
            </a:r>
          </a:p>
        </p:txBody>
      </p:sp>
      <p:sp>
        <p:nvSpPr>
          <p:cNvPr id="211" name="Google Shape;211;p10">
            <a:extLst xmlns:a="http://schemas.openxmlformats.org/drawingml/2006/main">
              <a:ext uri="{FF2B5EF4-FFF2-40B4-BE49-F238E27FC236}">
                <a16:creationId xmlns:a16="http://schemas.microsoft.com/office/drawing/2014/main" id="{74644F2C-CA1F-44E3-A3A8-36251A9E3FD7}"/>
              </a:ext>
            </a:extLst>
          </p:cNvPr>
          <p:cNvSpPr>
            <a:spLocks xmlns:a="http://schemas.openxmlformats.org/drawingml/2006/main" noGrp="1"/>
          </p:cNvSpPr>
          <p:nvPr/>
        </p:nvSpPr>
        <p:spPr>
          <a:xfrm xmlns:a="http://schemas.openxmlformats.org/drawingml/2006/main">
            <a:off x="10058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goal: restfulness of effort</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effort comes to rest in realisation</a:t>
            </a:r>
          </a:p>
        </p:txBody>
      </p:sp>
      <p:sp>
        <p:nvSpPr>
          <p:cNvPr id="212" name="Google Shape;212;p10">
            <a:extLst xmlns:a="http://schemas.openxmlformats.org/drawingml/2006/main">
              <a:ext uri="{FF2B5EF4-FFF2-40B4-BE49-F238E27FC236}">
                <a16:creationId xmlns:a16="http://schemas.microsoft.com/office/drawing/2014/main" id="{65CF61B0-F78C-4DFD-983F-71AC96683A02}"/>
              </a:ext>
            </a:extLst>
          </p:cNvPr>
          <p:cNvSpPr>
            <a:spLocks xmlns:a="http://schemas.openxmlformats.org/drawingml/2006/main" noGrp="1"/>
          </p:cNvSpPr>
          <p:nvPr/>
        </p:nvSpPr>
        <p:spPr>
          <a:xfrm xmlns:a="http://schemas.openxmlformats.org/drawingml/2006/main">
            <a:off x="3063240" y="2240280"/>
            <a:ext cx="1417320" cy="1417320"/>
          </a:xfrm>
          <a:prstGeom xmlns:a="http://schemas.openxmlformats.org/drawingml/2006/main" prst="ellipse">
            <a:avLst/>
          </a:prstGeom>
          <a:solidFill xmlns:a="http://schemas.openxmlformats.org/drawingml/2006/main">
            <a:srgbClr val="3B4A7A"/>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3" name="Google Shape;213;p10">
            <a:extLst xmlns:a="http://schemas.openxmlformats.org/drawingml/2006/main">
              <a:ext uri="{FF2B5EF4-FFF2-40B4-BE49-F238E27FC236}">
                <a16:creationId xmlns:a16="http://schemas.microsoft.com/office/drawing/2014/main" id="{52AEFF54-A97B-4FEA-B904-064D0F281819}"/>
              </a:ext>
            </a:extLst>
          </p:cNvPr>
          <p:cNvSpPr>
            <a:spLocks xmlns:a="http://schemas.openxmlformats.org/drawingml/2006/main" noGrp="1"/>
          </p:cNvSpPr>
          <p:nvPr/>
        </p:nvSpPr>
        <p:spPr>
          <a:xfrm xmlns:a="http://schemas.openxmlformats.org/drawingml/2006/main">
            <a:off x="30632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Motion</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the external side</a:t>
            </a:r>
          </a:p>
        </p:txBody>
      </p:sp>
      <p:sp>
        <p:nvSpPr>
          <p:cNvPr id="214" name="Google Shape;214;p10">
            <a:extLst xmlns:a="http://schemas.openxmlformats.org/drawingml/2006/main">
              <a:ext uri="{FF2B5EF4-FFF2-40B4-BE49-F238E27FC236}">
                <a16:creationId xmlns:a16="http://schemas.microsoft.com/office/drawing/2014/main" id="{8822A3BC-F6B8-4DD5-8BFE-02D0BD2D4324}"/>
              </a:ext>
            </a:extLst>
          </p:cNvPr>
          <p:cNvSpPr>
            <a:spLocks xmlns:a="http://schemas.openxmlformats.org/drawingml/2006/main" noGrp="1"/>
          </p:cNvSpPr>
          <p:nvPr/>
        </p:nvSpPr>
        <p:spPr>
          <a:xfrm xmlns:a="http://schemas.openxmlformats.org/drawingml/2006/main">
            <a:off x="28346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goal: destination of motion</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motion arrives at right conduct</a:t>
            </a:r>
          </a:p>
        </p:txBody>
      </p:sp>
      <p:sp>
        <p:nvSpPr>
          <p:cNvPr id="215" name="Google Shape;215;p10">
            <a:extLst xmlns:a="http://schemas.openxmlformats.org/drawingml/2006/main">
              <a:ext uri="{FF2B5EF4-FFF2-40B4-BE49-F238E27FC236}">
                <a16:creationId xmlns:a16="http://schemas.microsoft.com/office/drawing/2014/main" id="{C1E37470-8E82-4703-AFAB-9F00A17BA30F}"/>
              </a:ext>
            </a:extLst>
          </p:cNvPr>
          <p:cNvSpPr>
            <a:spLocks xmlns:a="http://schemas.openxmlformats.org/drawingml/2006/main" noGrp="1"/>
          </p:cNvSpPr>
          <p:nvPr/>
        </p:nvSpPr>
        <p:spPr>
          <a:xfrm xmlns:a="http://schemas.openxmlformats.org/drawingml/2006/main">
            <a:off x="4892040" y="2240280"/>
            <a:ext cx="1417320" cy="1417320"/>
          </a:xfrm>
          <a:prstGeom xmlns:a="http://schemas.openxmlformats.org/drawingml/2006/main" prst="ellipse">
            <a:avLst/>
          </a:prstGeom>
          <a:solidFill xmlns:a="http://schemas.openxmlformats.org/drawingml/2006/main">
            <a:srgbClr val="C9821E"/>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6" name="Google Shape;216;p10">
            <a:extLst xmlns:a="http://schemas.openxmlformats.org/drawingml/2006/main">
              <a:ext uri="{FF2B5EF4-FFF2-40B4-BE49-F238E27FC236}">
                <a16:creationId xmlns:a16="http://schemas.microsoft.com/office/drawing/2014/main" id="{B86AFFF0-4F74-485C-8823-F9CA80F2555D}"/>
              </a:ext>
            </a:extLst>
          </p:cNvPr>
          <p:cNvSpPr>
            <a:spLocks xmlns:a="http://schemas.openxmlformats.org/drawingml/2006/main" noGrp="1"/>
          </p:cNvSpPr>
          <p:nvPr/>
        </p:nvSpPr>
        <p:spPr>
          <a:xfrm xmlns:a="http://schemas.openxmlformats.org/drawingml/2006/main">
            <a:off x="48920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Result</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the stable outcome</a:t>
            </a:r>
          </a:p>
        </p:txBody>
      </p:sp>
      <p:sp>
        <p:nvSpPr>
          <p:cNvPr id="217" name="Google Shape;217;p10">
            <a:extLst xmlns:a="http://schemas.openxmlformats.org/drawingml/2006/main">
              <a:ext uri="{FF2B5EF4-FFF2-40B4-BE49-F238E27FC236}">
                <a16:creationId xmlns:a16="http://schemas.microsoft.com/office/drawing/2014/main" id="{12BF52F3-A9A4-4295-AA66-6894F712E14D}"/>
              </a:ext>
            </a:extLst>
          </p:cNvPr>
          <p:cNvSpPr>
            <a:spLocks xmlns:a="http://schemas.openxmlformats.org/drawingml/2006/main" noGrp="1"/>
          </p:cNvSpPr>
          <p:nvPr/>
        </p:nvSpPr>
        <p:spPr>
          <a:xfrm xmlns:a="http://schemas.openxmlformats.org/drawingml/2006/main">
            <a:off x="46634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goal: immortality of result</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result becomes indestructible</a:t>
            </a:r>
          </a:p>
        </p:txBody>
      </p:sp>
      <p:sp>
        <p:nvSpPr>
          <p:cNvPr id="218" name="Google Shape;218;p10">
            <a:extLst xmlns:a="http://schemas.openxmlformats.org/drawingml/2006/main">
              <a:ext uri="{FF2B5EF4-FFF2-40B4-BE49-F238E27FC236}">
                <a16:creationId xmlns:a16="http://schemas.microsoft.com/office/drawing/2014/main" id="{EF7F9E85-311A-4F2F-8331-F4E88266FE98}"/>
              </a:ext>
            </a:extLst>
          </p:cNvPr>
          <p:cNvSpPr>
            <a:spLocks xmlns:a="http://schemas.openxmlformats.org/drawingml/2006/main" noGrp="1"/>
          </p:cNvSpPr>
          <p:nvPr/>
        </p:nvSpPr>
        <p:spPr>
          <a:xfrm xmlns:a="http://schemas.openxmlformats.org/drawingml/2006/main">
            <a:off x="6720840" y="2148840"/>
            <a:ext cx="1965960" cy="2240280"/>
          </a:xfrm>
          <a:prstGeom xmlns:a="http://schemas.openxmlformats.org/drawingml/2006/main" prst="roundRect">
            <a:avLst>
              <a:gd name="adj" fmla="val 465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9" name="Google Shape;219;p10">
            <a:extLst xmlns:a="http://schemas.openxmlformats.org/drawingml/2006/main">
              <a:ext uri="{FF2B5EF4-FFF2-40B4-BE49-F238E27FC236}">
                <a16:creationId xmlns:a16="http://schemas.microsoft.com/office/drawing/2014/main" id="{F7F8A9B1-F55C-4EAD-9545-C07227475411}"/>
              </a:ext>
            </a:extLst>
          </p:cNvPr>
          <p:cNvSpPr>
            <a:spLocks xmlns:a="http://schemas.openxmlformats.org/drawingml/2006/main" noGrp="1"/>
          </p:cNvSpPr>
          <p:nvPr/>
        </p:nvSpPr>
        <p:spPr>
          <a:xfrm xmlns:a="http://schemas.openxmlformats.org/drawingml/2006/main">
            <a:off x="6903720" y="2331720"/>
            <a:ext cx="1627632" cy="19202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38">
                <a:solidFill>
                  <a:srgbClr val="5F6B82"/>
                </a:solidFill>
              </a:defRPr>
            </a:pPr>
            <a:r>
              <a:rPr sz="938">
                <a:solidFill>
                  <a:srgbClr val="5F6B82"/>
                </a:solidFill>
              </a:rPr>
              <a:t>Two developmental lines</a:t>
            </a:r>
          </a:p>
          <a:p xmlns:a="http://schemas.openxmlformats.org/drawingml/2006/main">
            <a:pPr marL="0" indent="0" algn="l">
              <a:spcBef>
                <a:spcPts val="600"/>
              </a:spcBef>
              <a:spcAft>
                <a:spcPts val="0"/>
              </a:spcAft>
              <a:buNone/>
              <a:defRPr sz="938">
                <a:solidFill>
                  <a:srgbClr val="5F6B82"/>
                </a:solidFill>
              </a:defRPr>
            </a:pPr>
            <a:r>
              <a:rPr sz="938">
                <a:solidFill>
                  <a:srgbClr val="5F6B82"/>
                </a:solidFill>
              </a:rPr>
              <a:t>Compositional: larger configurations and bodies.</a:t>
            </a:r>
          </a:p>
          <a:p xmlns:a="http://schemas.openxmlformats.org/drawingml/2006/main">
            <a:pPr marL="0" indent="0" algn="l">
              <a:spcBef>
                <a:spcPts val="600"/>
              </a:spcBef>
              <a:spcAft>
                <a:spcPts val="0"/>
              </a:spcAft>
              <a:buNone/>
              <a:defRPr sz="938">
                <a:solidFill>
                  <a:srgbClr val="5F6B82"/>
                </a:solidFill>
              </a:defRPr>
            </a:pPr>
            <a:r>
              <a:rPr sz="938">
                <a:solidFill>
                  <a:srgbClr val="5F6B82"/>
                </a:solidFill>
              </a:rPr>
              <a:t>Atomic: some developing atoms reach T1; T2/T3 concern awakened jeevan.</a:t>
            </a:r>
          </a:p>
        </p:txBody>
      </p:sp>
      <p:sp>
        <p:nvSpPr>
          <p:cNvPr id="220" name="Google Shape;220;p10">
            <a:extLst xmlns:a="http://schemas.openxmlformats.org/drawingml/2006/main">
              <a:ext uri="{FF2B5EF4-FFF2-40B4-BE49-F238E27FC236}">
                <a16:creationId xmlns:a16="http://schemas.microsoft.com/office/drawing/2014/main" id="{32D33D92-97E9-4667-A0CC-903566CC5E1C}"/>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“Saturation … itself is forcefulness … basic impulsion … activity … effort-motion-result … development” — SB p. 62; also SB pp. 51, 53, 58, 71, 91; MVD p. 104</a:t>
            </a:r>
          </a:p>
        </p:txBody>
      </p:sp>
    </p:spTree>
    <p:extLst>
      <p:ext uri="{BB962C8B-B14F-4D97-AF65-F5344CB8AC3E}">
        <p14:creationId xmlns:p14="http://schemas.microsoft.com/office/powerpoint/2010/main" val="941755786"/>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6" name="Google Shape;226;p11">
            <a:extLst xmlns:a="http://schemas.openxmlformats.org/drawingml/2006/main">
              <a:ext uri="{FF2B5EF4-FFF2-40B4-BE49-F238E27FC236}">
                <a16:creationId xmlns:a16="http://schemas.microsoft.com/office/drawing/2014/main" id="{92F6B0B2-9D5B-4730-A4CD-C04CFE632C6F}"/>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27" name="Google Shape;227;p11">
            <a:extLst xmlns:a="http://schemas.openxmlformats.org/drawingml/2006/main">
              <a:ext uri="{FF2B5EF4-FFF2-40B4-BE49-F238E27FC236}">
                <a16:creationId xmlns:a16="http://schemas.microsoft.com/office/drawing/2014/main" id="{1FBFDF0F-6133-4579-804A-5BDD1B5D4E66}"/>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28" name="Google Shape;228;p11">
            <a:extLst xmlns:a="http://schemas.openxmlformats.org/drawingml/2006/main">
              <a:ext uri="{FF2B5EF4-FFF2-40B4-BE49-F238E27FC236}">
                <a16:creationId xmlns:a16="http://schemas.microsoft.com/office/drawing/2014/main" id="{535C89D7-6CD2-49BF-ACAC-13B8ABFDD72E}"/>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29" name="Google Shape;229;p11">
            <a:extLst xmlns:a="http://schemas.openxmlformats.org/drawingml/2006/main">
              <a:ext uri="{FF2B5EF4-FFF2-40B4-BE49-F238E27FC236}">
                <a16:creationId xmlns:a16="http://schemas.microsoft.com/office/drawing/2014/main" id="{B205E6C7-0F4E-482A-B4ED-E38F92113271}"/>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§1.6</a:t>
            </a:r>
          </a:p>
        </p:txBody>
      </p:sp>
      <p:sp>
        <p:nvSpPr>
          <p:cNvPr id="230" name="Google Shape;230;p11">
            <a:extLst xmlns:a="http://schemas.openxmlformats.org/drawingml/2006/main">
              <a:ext uri="{FF2B5EF4-FFF2-40B4-BE49-F238E27FC236}">
                <a16:creationId xmlns:a16="http://schemas.microsoft.com/office/drawing/2014/main" id="{BD57645E-CAFE-4022-871D-FB44537B6D1B}"/>
              </a:ext>
            </a:extLst>
          </p:cNvPr>
          <p:cNvSpPr>
            <a:spLocks xmlns:a="http://schemas.openxmlformats.org/drawingml/2006/main" noGrp="1"/>
          </p:cNvSpPr>
          <p:nvPr/>
        </p:nvSpPr>
        <p:spPr>
          <a:xfrm xmlns:a="http://schemas.openxmlformats.org/drawingml/2006/main">
            <a:off x="960120" y="514350"/>
            <a:ext cx="7726680" cy="49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Three Transitions: T1, T2, T3</a:t>
            </a:r>
          </a:p>
        </p:txBody>
      </p:sp>
      <p:sp>
        <p:nvSpPr>
          <p:cNvPr id="231" name="Google Shape;231;p11">
            <a:extLst xmlns:a="http://schemas.openxmlformats.org/drawingml/2006/main">
              <a:ext uri="{FF2B5EF4-FFF2-40B4-BE49-F238E27FC236}">
                <a16:creationId xmlns:a16="http://schemas.microsoft.com/office/drawing/2014/main" id="{136C7C4F-16F0-469C-8D22-4FA5AF942130}"/>
              </a:ext>
            </a:extLst>
          </p:cNvPr>
          <p:cNvSpPr>
            <a:spLocks xmlns:a="http://schemas.openxmlformats.org/drawingml/2006/main" noGrp="1"/>
          </p:cNvSpPr>
          <p:nvPr/>
        </p:nvSpPr>
        <p:spPr>
          <a:xfrm xmlns:a="http://schemas.openxmlformats.org/drawingml/2006/main">
            <a:off x="475488" y="1463040"/>
            <a:ext cx="1664208" cy="960120"/>
          </a:xfrm>
          <a:prstGeom xmlns:a="http://schemas.openxmlformats.org/drawingml/2006/main" prst="roundRect">
            <a:avLst>
              <a:gd name="adj" fmla="val 8571"/>
            </a:avLst>
          </a:prstGeom>
          <a:solidFill xmlns:a="http://schemas.openxmlformats.org/drawingml/2006/main">
            <a:srgbClr val="3B4A7A"/>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32" name="Google Shape;232;p11">
            <a:extLst xmlns:a="http://schemas.openxmlformats.org/drawingml/2006/main">
              <a:ext uri="{FF2B5EF4-FFF2-40B4-BE49-F238E27FC236}">
                <a16:creationId xmlns:a16="http://schemas.microsoft.com/office/drawing/2014/main" id="{4938230F-1D84-4E5E-AFCC-F14F1B65EE6F}"/>
              </a:ext>
            </a:extLst>
          </p:cNvPr>
          <p:cNvSpPr>
            <a:spLocks xmlns:a="http://schemas.openxmlformats.org/drawingml/2006/main" noGrp="1"/>
          </p:cNvSpPr>
          <p:nvPr/>
        </p:nvSpPr>
        <p:spPr>
          <a:xfrm xmlns:a="http://schemas.openxmlformats.org/drawingml/2006/main">
            <a:off x="475488" y="1554480"/>
            <a:ext cx="1664208" cy="320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mbria"/>
                <a:ea typeface="Cambria"/>
                <a:cs typeface="Cambria"/>
              </a:rPr>
              <a:t>Physicochemical</a:t>
            </a:r>
          </a:p>
        </p:txBody>
      </p:sp>
      <p:sp>
        <p:nvSpPr>
          <p:cNvPr id="233" name="Google Shape;233;p11">
            <a:extLst xmlns:a="http://schemas.openxmlformats.org/drawingml/2006/main">
              <a:ext uri="{FF2B5EF4-FFF2-40B4-BE49-F238E27FC236}">
                <a16:creationId xmlns:a16="http://schemas.microsoft.com/office/drawing/2014/main" id="{C679FBFC-4912-4015-B213-A9F790D144A6}"/>
              </a:ext>
            </a:extLst>
          </p:cNvPr>
          <p:cNvSpPr>
            <a:spLocks xmlns:a="http://schemas.openxmlformats.org/drawingml/2006/main" noGrp="1"/>
          </p:cNvSpPr>
          <p:nvPr/>
        </p:nvSpPr>
        <p:spPr>
          <a:xfrm xmlns:a="http://schemas.openxmlformats.org/drawingml/2006/main">
            <a:off x="530352" y="1874520"/>
            <a:ext cx="15544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880" b="0" i="1" u="none" cap="none">
                <a:solidFill>
                  <a:srgbClr val="C9D4EF"/>
                </a:solidFill>
                <a:latin typeface="Calibri"/>
                <a:ea typeface="Calibri"/>
                <a:cs typeface="Calibri"/>
              </a:rPr>
              <a:t>only some developing atoms reach T1</a:t>
            </a:r>
          </a:p>
        </p:txBody>
      </p:sp>
      <p:sp>
        <p:nvSpPr>
          <p:cNvPr id="234" name="Google Shape;234;p11">
            <a:extLst xmlns:a="http://schemas.openxmlformats.org/drawingml/2006/main">
              <a:ext uri="{FF2B5EF4-FFF2-40B4-BE49-F238E27FC236}">
                <a16:creationId xmlns:a16="http://schemas.microsoft.com/office/drawing/2014/main" id="{4856528E-8D4B-459F-8076-49BFEABC11D5}"/>
              </a:ext>
            </a:extLst>
          </p:cNvPr>
          <p:cNvSpPr>
            <a:spLocks xmlns:a="http://schemas.openxmlformats.org/drawingml/2006/main" noGrp="1"/>
          </p:cNvSpPr>
          <p:nvPr/>
        </p:nvSpPr>
        <p:spPr>
          <a:xfrm xmlns:a="http://schemas.openxmlformats.org/drawingml/2006/main">
            <a:off x="2194560" y="1700784"/>
            <a:ext cx="457200" cy="457200"/>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35" name="Google Shape;235;p11">
            <a:extLst xmlns:a="http://schemas.openxmlformats.org/drawingml/2006/main">
              <a:ext uri="{FF2B5EF4-FFF2-40B4-BE49-F238E27FC236}">
                <a16:creationId xmlns:a16="http://schemas.microsoft.com/office/drawing/2014/main" id="{A5B348E2-62F6-4617-8C55-04EF1E275226}"/>
              </a:ext>
            </a:extLst>
          </p:cNvPr>
          <p:cNvSpPr>
            <a:spLocks xmlns:a="http://schemas.openxmlformats.org/drawingml/2006/main" noGrp="1"/>
          </p:cNvSpPr>
          <p:nvPr/>
        </p:nvSpPr>
        <p:spPr>
          <a:xfrm xmlns:a="http://schemas.openxmlformats.org/drawingml/2006/main">
            <a:off x="2194560" y="1700784"/>
            <a:ext cx="4572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T1</a:t>
            </a:r>
          </a:p>
        </p:txBody>
      </p:sp>
      <p:sp>
        <p:nvSpPr>
          <p:cNvPr id="236" name="Google Shape;236;p11">
            <a:extLst xmlns:a="http://schemas.openxmlformats.org/drawingml/2006/main">
              <a:ext uri="{FF2B5EF4-FFF2-40B4-BE49-F238E27FC236}">
                <a16:creationId xmlns:a16="http://schemas.microsoft.com/office/drawing/2014/main" id="{F766CD9E-37CA-468F-9950-3055B289D7BC}"/>
              </a:ext>
            </a:extLst>
          </p:cNvPr>
          <p:cNvSpPr>
            <a:spLocks xmlns:a="http://schemas.openxmlformats.org/drawingml/2006/main" noGrp="1"/>
          </p:cNvSpPr>
          <p:nvPr/>
        </p:nvSpPr>
        <p:spPr>
          <a:xfrm xmlns:a="http://schemas.openxmlformats.org/drawingml/2006/main">
            <a:off x="2706624" y="1463040"/>
            <a:ext cx="1664208" cy="960120"/>
          </a:xfrm>
          <a:prstGeom xmlns:a="http://schemas.openxmlformats.org/drawingml/2006/main" prst="roundRect">
            <a:avLst>
              <a:gd name="adj" fmla="val 8571"/>
            </a:avLst>
          </a:prstGeom>
          <a:solidFill xmlns:a="http://schemas.openxmlformats.org/drawingml/2006/main">
            <a:srgbClr val="1E2447"/>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37" name="Google Shape;237;p11">
            <a:extLst xmlns:a="http://schemas.openxmlformats.org/drawingml/2006/main">
              <a:ext uri="{FF2B5EF4-FFF2-40B4-BE49-F238E27FC236}">
                <a16:creationId xmlns:a16="http://schemas.microsoft.com/office/drawing/2014/main" id="{A59AD647-B81F-4FFF-A3CF-52E74E35517C}"/>
              </a:ext>
            </a:extLst>
          </p:cNvPr>
          <p:cNvSpPr>
            <a:spLocks xmlns:a="http://schemas.openxmlformats.org/drawingml/2006/main" noGrp="1"/>
          </p:cNvSpPr>
          <p:nvPr/>
        </p:nvSpPr>
        <p:spPr>
          <a:xfrm xmlns:a="http://schemas.openxmlformats.org/drawingml/2006/main">
            <a:off x="2706624" y="1554480"/>
            <a:ext cx="1664208" cy="320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mbria"/>
                <a:ea typeface="Cambria"/>
                <a:cs typeface="Cambria"/>
              </a:rPr>
              <a:t>Delusional</a:t>
            </a:r>
          </a:p>
        </p:txBody>
      </p:sp>
      <p:sp>
        <p:nvSpPr>
          <p:cNvPr id="238" name="Google Shape;238;p11">
            <a:extLst xmlns:a="http://schemas.openxmlformats.org/drawingml/2006/main">
              <a:ext uri="{FF2B5EF4-FFF2-40B4-BE49-F238E27FC236}">
                <a16:creationId xmlns:a16="http://schemas.microsoft.com/office/drawing/2014/main" id="{26EC659D-62D7-4BEF-97E8-6386704F5431}"/>
              </a:ext>
            </a:extLst>
          </p:cNvPr>
          <p:cNvSpPr>
            <a:spLocks xmlns:a="http://schemas.openxmlformats.org/drawingml/2006/main" noGrp="1"/>
          </p:cNvSpPr>
          <p:nvPr/>
        </p:nvSpPr>
        <p:spPr>
          <a:xfrm xmlns:a="http://schemas.openxmlformats.org/drawingml/2006/main">
            <a:off x="2761488" y="1874520"/>
            <a:ext cx="15544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880" b="0" i="1" u="none" cap="none">
                <a:solidFill>
                  <a:srgbClr val="C9D4EF"/>
                </a:solidFill>
                <a:latin typeface="Calibri"/>
                <a:ea typeface="Calibri"/>
                <a:cs typeface="Calibri"/>
              </a:rPr>
              <a:t>sentient; body mistaken for self</a:t>
            </a:r>
          </a:p>
        </p:txBody>
      </p:sp>
      <p:sp>
        <p:nvSpPr>
          <p:cNvPr id="239" name="Google Shape;239;p11">
            <a:extLst xmlns:a="http://schemas.openxmlformats.org/drawingml/2006/main">
              <a:ext uri="{FF2B5EF4-FFF2-40B4-BE49-F238E27FC236}">
                <a16:creationId xmlns:a16="http://schemas.microsoft.com/office/drawing/2014/main" id="{5EB8E91C-1A30-4588-9854-2ECBB5750043}"/>
              </a:ext>
            </a:extLst>
          </p:cNvPr>
          <p:cNvSpPr>
            <a:spLocks xmlns:a="http://schemas.openxmlformats.org/drawingml/2006/main" noGrp="1"/>
          </p:cNvSpPr>
          <p:nvPr/>
        </p:nvSpPr>
        <p:spPr>
          <a:xfrm xmlns:a="http://schemas.openxmlformats.org/drawingml/2006/main">
            <a:off x="4425696" y="1700784"/>
            <a:ext cx="457200" cy="457200"/>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40" name="Google Shape;240;p11">
            <a:extLst xmlns:a="http://schemas.openxmlformats.org/drawingml/2006/main">
              <a:ext uri="{FF2B5EF4-FFF2-40B4-BE49-F238E27FC236}">
                <a16:creationId xmlns:a16="http://schemas.microsoft.com/office/drawing/2014/main" id="{E4ED4E0D-90F8-406D-81BD-DA1065237C32}"/>
              </a:ext>
            </a:extLst>
          </p:cNvPr>
          <p:cNvSpPr>
            <a:spLocks xmlns:a="http://schemas.openxmlformats.org/drawingml/2006/main" noGrp="1"/>
          </p:cNvSpPr>
          <p:nvPr/>
        </p:nvSpPr>
        <p:spPr>
          <a:xfrm xmlns:a="http://schemas.openxmlformats.org/drawingml/2006/main">
            <a:off x="4425696" y="1700784"/>
            <a:ext cx="4572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T2</a:t>
            </a:r>
          </a:p>
        </p:txBody>
      </p:sp>
      <p:sp>
        <p:nvSpPr>
          <p:cNvPr id="241" name="Google Shape;241;p11">
            <a:extLst xmlns:a="http://schemas.openxmlformats.org/drawingml/2006/main">
              <a:ext uri="{FF2B5EF4-FFF2-40B4-BE49-F238E27FC236}">
                <a16:creationId xmlns:a16="http://schemas.microsoft.com/office/drawing/2014/main" id="{084B2DD8-6E6E-48F7-A30C-778CB7B13DFC}"/>
              </a:ext>
            </a:extLst>
          </p:cNvPr>
          <p:cNvSpPr>
            <a:spLocks xmlns:a="http://schemas.openxmlformats.org/drawingml/2006/main" noGrp="1"/>
          </p:cNvSpPr>
          <p:nvPr/>
        </p:nvSpPr>
        <p:spPr>
          <a:xfrm xmlns:a="http://schemas.openxmlformats.org/drawingml/2006/main">
            <a:off x="4937760" y="1463040"/>
            <a:ext cx="1664208" cy="960120"/>
          </a:xfrm>
          <a:prstGeom xmlns:a="http://schemas.openxmlformats.org/drawingml/2006/main" prst="roundRect">
            <a:avLst>
              <a:gd name="adj" fmla="val 8571"/>
            </a:avLst>
          </a:prstGeom>
          <a:solidFill xmlns:a="http://schemas.openxmlformats.org/drawingml/2006/main">
            <a:srgbClr val="1E2447"/>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42" name="Google Shape;242;p11">
            <a:extLst xmlns:a="http://schemas.openxmlformats.org/drawingml/2006/main">
              <a:ext uri="{FF2B5EF4-FFF2-40B4-BE49-F238E27FC236}">
                <a16:creationId xmlns:a16="http://schemas.microsoft.com/office/drawing/2014/main" id="{2A8CE34B-471B-463B-8366-BA6D4D4B9163}"/>
              </a:ext>
            </a:extLst>
          </p:cNvPr>
          <p:cNvSpPr>
            <a:spLocks xmlns:a="http://schemas.openxmlformats.org/drawingml/2006/main" noGrp="1"/>
          </p:cNvSpPr>
          <p:nvPr/>
        </p:nvSpPr>
        <p:spPr>
          <a:xfrm xmlns:a="http://schemas.openxmlformats.org/drawingml/2006/main">
            <a:off x="4937760" y="1554480"/>
            <a:ext cx="1664208" cy="320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mbria"/>
                <a:ea typeface="Cambria"/>
                <a:cs typeface="Cambria"/>
              </a:rPr>
              <a:t>Deific</a:t>
            </a:r>
          </a:p>
        </p:txBody>
      </p:sp>
      <p:sp>
        <p:nvSpPr>
          <p:cNvPr id="243" name="Google Shape;243;p11">
            <a:extLst xmlns:a="http://schemas.openxmlformats.org/drawingml/2006/main">
              <a:ext uri="{FF2B5EF4-FFF2-40B4-BE49-F238E27FC236}">
                <a16:creationId xmlns:a16="http://schemas.microsoft.com/office/drawing/2014/main" id="{8FF61272-1AF4-4BC0-8CA1-9C90210CDE5C}"/>
              </a:ext>
            </a:extLst>
          </p:cNvPr>
          <p:cNvSpPr>
            <a:spLocks xmlns:a="http://schemas.openxmlformats.org/drawingml/2006/main" noGrp="1"/>
          </p:cNvSpPr>
          <p:nvPr/>
        </p:nvSpPr>
        <p:spPr>
          <a:xfrm xmlns:a="http://schemas.openxmlformats.org/drawingml/2006/main">
            <a:off x="4992624" y="1874520"/>
            <a:ext cx="15544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880" b="0" i="1" u="none" cap="none">
                <a:solidFill>
                  <a:srgbClr val="C9D4EF"/>
                </a:solidFill>
                <a:latin typeface="Calibri"/>
                <a:ea typeface="Calibri"/>
                <a:cs typeface="Calibri"/>
              </a:rPr>
              <a:t>awakening human</a:t>
            </a:r>
          </a:p>
        </p:txBody>
      </p:sp>
      <p:sp>
        <p:nvSpPr>
          <p:cNvPr id="244" name="Google Shape;244;p11">
            <a:extLst xmlns:a="http://schemas.openxmlformats.org/drawingml/2006/main">
              <a:ext uri="{FF2B5EF4-FFF2-40B4-BE49-F238E27FC236}">
                <a16:creationId xmlns:a16="http://schemas.microsoft.com/office/drawing/2014/main" id="{B2D070AB-F905-4F6C-A090-B48D44A8E7FB}"/>
              </a:ext>
            </a:extLst>
          </p:cNvPr>
          <p:cNvSpPr>
            <a:spLocks xmlns:a="http://schemas.openxmlformats.org/drawingml/2006/main" noGrp="1"/>
          </p:cNvSpPr>
          <p:nvPr/>
        </p:nvSpPr>
        <p:spPr>
          <a:xfrm xmlns:a="http://schemas.openxmlformats.org/drawingml/2006/main">
            <a:off x="6656832" y="1700784"/>
            <a:ext cx="457200" cy="457200"/>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45" name="Google Shape;245;p11">
            <a:extLst xmlns:a="http://schemas.openxmlformats.org/drawingml/2006/main">
              <a:ext uri="{FF2B5EF4-FFF2-40B4-BE49-F238E27FC236}">
                <a16:creationId xmlns:a16="http://schemas.microsoft.com/office/drawing/2014/main" id="{A3E5E6CA-7981-48CD-B96F-7EC48B2100E1}"/>
              </a:ext>
            </a:extLst>
          </p:cNvPr>
          <p:cNvSpPr>
            <a:spLocks xmlns:a="http://schemas.openxmlformats.org/drawingml/2006/main" noGrp="1"/>
          </p:cNvSpPr>
          <p:nvPr/>
        </p:nvSpPr>
        <p:spPr>
          <a:xfrm xmlns:a="http://schemas.openxmlformats.org/drawingml/2006/main">
            <a:off x="6656832" y="1700784"/>
            <a:ext cx="4572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T3</a:t>
            </a:r>
          </a:p>
        </p:txBody>
      </p:sp>
      <p:sp>
        <p:nvSpPr>
          <p:cNvPr id="246" name="Google Shape;246;p11">
            <a:extLst xmlns:a="http://schemas.openxmlformats.org/drawingml/2006/main">
              <a:ext uri="{FF2B5EF4-FFF2-40B4-BE49-F238E27FC236}">
                <a16:creationId xmlns:a16="http://schemas.microsoft.com/office/drawing/2014/main" id="{BFC4C265-8EFE-487F-ABFA-4AAE7CD54188}"/>
              </a:ext>
            </a:extLst>
          </p:cNvPr>
          <p:cNvSpPr>
            <a:spLocks xmlns:a="http://schemas.openxmlformats.org/drawingml/2006/main" noGrp="1"/>
          </p:cNvSpPr>
          <p:nvPr/>
        </p:nvSpPr>
        <p:spPr>
          <a:xfrm xmlns:a="http://schemas.openxmlformats.org/drawingml/2006/main">
            <a:off x="7168896" y="1463040"/>
            <a:ext cx="1664208" cy="960120"/>
          </a:xfrm>
          <a:prstGeom xmlns:a="http://schemas.openxmlformats.org/drawingml/2006/main" prst="roundRect">
            <a:avLst>
              <a:gd name="adj" fmla="val 8571"/>
            </a:avLst>
          </a:prstGeom>
          <a:solidFill xmlns:a="http://schemas.openxmlformats.org/drawingml/2006/main">
            <a:srgbClr val="1E2447"/>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47" name="Google Shape;247;p11">
            <a:extLst xmlns:a="http://schemas.openxmlformats.org/drawingml/2006/main">
              <a:ext uri="{FF2B5EF4-FFF2-40B4-BE49-F238E27FC236}">
                <a16:creationId xmlns:a16="http://schemas.microsoft.com/office/drawing/2014/main" id="{726EB728-96D6-468B-A4CD-7522F14C17D8}"/>
              </a:ext>
            </a:extLst>
          </p:cNvPr>
          <p:cNvSpPr>
            <a:spLocks xmlns:a="http://schemas.openxmlformats.org/drawingml/2006/main" noGrp="1"/>
          </p:cNvSpPr>
          <p:nvPr/>
        </p:nvSpPr>
        <p:spPr>
          <a:xfrm xmlns:a="http://schemas.openxmlformats.org/drawingml/2006/main">
            <a:off x="7168896" y="1554480"/>
            <a:ext cx="1664208" cy="320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mbria"/>
                <a:ea typeface="Cambria"/>
                <a:cs typeface="Cambria"/>
              </a:rPr>
              <a:t>Divine (complete)</a:t>
            </a:r>
          </a:p>
        </p:txBody>
      </p:sp>
      <p:sp>
        <p:nvSpPr>
          <p:cNvPr id="248" name="Google Shape;248;p11">
            <a:extLst xmlns:a="http://schemas.openxmlformats.org/drawingml/2006/main">
              <a:ext uri="{FF2B5EF4-FFF2-40B4-BE49-F238E27FC236}">
                <a16:creationId xmlns:a16="http://schemas.microsoft.com/office/drawing/2014/main" id="{7E799F9F-A696-45A3-8952-26BD3BD803C1}"/>
              </a:ext>
            </a:extLst>
          </p:cNvPr>
          <p:cNvSpPr>
            <a:spLocks xmlns:a="http://schemas.openxmlformats.org/drawingml/2006/main" noGrp="1"/>
          </p:cNvSpPr>
          <p:nvPr/>
        </p:nvSpPr>
        <p:spPr>
          <a:xfrm xmlns:a="http://schemas.openxmlformats.org/drawingml/2006/main">
            <a:off x="7223760" y="1874520"/>
            <a:ext cx="15544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880" b="0" i="1" u="none" cap="none">
                <a:solidFill>
                  <a:srgbClr val="C9D4EF"/>
                </a:solidFill>
                <a:latin typeface="Calibri"/>
                <a:ea typeface="Calibri"/>
                <a:cs typeface="Calibri"/>
              </a:rPr>
              <a:t>living proof of coexistence</a:t>
            </a:r>
          </a:p>
        </p:txBody>
      </p:sp>
      <p:sp>
        <p:nvSpPr>
          <p:cNvPr id="249" name="Google Shape;249;p11">
            <a:extLst xmlns:a="http://schemas.openxmlformats.org/drawingml/2006/main">
              <a:ext uri="{FF2B5EF4-FFF2-40B4-BE49-F238E27FC236}">
                <a16:creationId xmlns:a16="http://schemas.microsoft.com/office/drawing/2014/main" id="{6B6BDCD0-FA8B-4D55-A4C2-63D899CA8920}"/>
              </a:ext>
            </a:extLst>
          </p:cNvPr>
          <p:cNvSpPr>
            <a:spLocks xmlns:a="http://schemas.openxmlformats.org/drawingml/2006/main" noGrp="1"/>
          </p:cNvSpPr>
          <p:nvPr/>
        </p:nvSpPr>
        <p:spPr>
          <a:xfrm xmlns:a="http://schemas.openxmlformats.org/drawingml/2006/main">
            <a:off x="640080" y="2770632"/>
            <a:ext cx="384048" cy="38404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50" name="Google Shape;250;p11">
            <a:extLst xmlns:a="http://schemas.openxmlformats.org/drawingml/2006/main">
              <a:ext uri="{FF2B5EF4-FFF2-40B4-BE49-F238E27FC236}">
                <a16:creationId xmlns:a16="http://schemas.microsoft.com/office/drawing/2014/main" id="{5A39170F-9417-4B44-AC88-9D3C49A24999}"/>
              </a:ext>
            </a:extLst>
          </p:cNvPr>
          <p:cNvSpPr>
            <a:spLocks xmlns:a="http://schemas.openxmlformats.org/drawingml/2006/main" noGrp="1"/>
          </p:cNvSpPr>
          <p:nvPr/>
        </p:nvSpPr>
        <p:spPr>
          <a:xfrm xmlns:a="http://schemas.openxmlformats.org/drawingml/2006/main">
            <a:off x="640080" y="2770632"/>
            <a:ext cx="384048" cy="38404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150" b="1" i="0" u="none" cap="none">
                <a:solidFill>
                  <a:srgbClr val="FFFFFF"/>
                </a:solidFill>
                <a:latin typeface="Calibri"/>
                <a:ea typeface="Calibri"/>
                <a:cs typeface="Calibri"/>
              </a:rPr>
              <a:t>T1</a:t>
            </a:r>
          </a:p>
        </p:txBody>
      </p:sp>
      <p:sp>
        <p:nvSpPr>
          <p:cNvPr id="251" name="Google Shape;251;p11">
            <a:extLst xmlns:a="http://schemas.openxmlformats.org/drawingml/2006/main">
              <a:ext uri="{FF2B5EF4-FFF2-40B4-BE49-F238E27FC236}">
                <a16:creationId xmlns:a16="http://schemas.microsoft.com/office/drawing/2014/main" id="{F7B5D1C5-E2AE-48C6-8B84-66FC4D530303}"/>
              </a:ext>
            </a:extLst>
          </p:cNvPr>
          <p:cNvSpPr>
            <a:spLocks xmlns:a="http://schemas.openxmlformats.org/drawingml/2006/main" noGrp="1"/>
          </p:cNvSpPr>
          <p:nvPr/>
        </p:nvSpPr>
        <p:spPr>
          <a:xfrm xmlns:a="http://schemas.openxmlformats.org/drawingml/2006/main">
            <a:off x="1188720" y="2743200"/>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0" i="0" u="none" cap="none">
                <a:solidFill>
                  <a:srgbClr val="5A6377"/>
                </a:solidFill>
                <a:latin typeface="Calibri"/>
                <a:ea typeface="Calibri"/>
                <a:cs typeface="Calibri"/>
              </a:rPr>
              <a:t>Constitutional completeness — immortality of result; the atom becomes sentient jeevan</a:t>
            </a:r>
          </a:p>
        </p:txBody>
      </p:sp>
      <p:sp>
        <p:nvSpPr>
          <p:cNvPr id="252" name="Google Shape;252;p11">
            <a:extLst xmlns:a="http://schemas.openxmlformats.org/drawingml/2006/main">
              <a:ext uri="{FF2B5EF4-FFF2-40B4-BE49-F238E27FC236}">
                <a16:creationId xmlns:a16="http://schemas.microsoft.com/office/drawing/2014/main" id="{83BDFC2E-DA72-4DD2-915F-3F89D26436AC}"/>
              </a:ext>
            </a:extLst>
          </p:cNvPr>
          <p:cNvSpPr>
            <a:spLocks xmlns:a="http://schemas.openxmlformats.org/drawingml/2006/main" noGrp="1"/>
          </p:cNvSpPr>
          <p:nvPr/>
        </p:nvSpPr>
        <p:spPr>
          <a:xfrm xmlns:a="http://schemas.openxmlformats.org/drawingml/2006/main">
            <a:off x="640080" y="3374136"/>
            <a:ext cx="384048" cy="38404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53" name="Google Shape;253;p11">
            <a:extLst xmlns:a="http://schemas.openxmlformats.org/drawingml/2006/main">
              <a:ext uri="{FF2B5EF4-FFF2-40B4-BE49-F238E27FC236}">
                <a16:creationId xmlns:a16="http://schemas.microsoft.com/office/drawing/2014/main" id="{DC7A5696-0E7D-407F-9FAF-73C6217F0C7C}"/>
              </a:ext>
            </a:extLst>
          </p:cNvPr>
          <p:cNvSpPr>
            <a:spLocks xmlns:a="http://schemas.openxmlformats.org/drawingml/2006/main" noGrp="1"/>
          </p:cNvSpPr>
          <p:nvPr/>
        </p:nvSpPr>
        <p:spPr>
          <a:xfrm xmlns:a="http://schemas.openxmlformats.org/drawingml/2006/main">
            <a:off x="640080" y="3374136"/>
            <a:ext cx="384048" cy="38404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150" b="1" i="0" u="none" cap="none">
                <a:solidFill>
                  <a:srgbClr val="FFFFFF"/>
                </a:solidFill>
                <a:latin typeface="Calibri"/>
                <a:ea typeface="Calibri"/>
                <a:cs typeface="Calibri"/>
              </a:rPr>
              <a:t>T2</a:t>
            </a:r>
          </a:p>
        </p:txBody>
      </p:sp>
      <p:sp>
        <p:nvSpPr>
          <p:cNvPr id="254" name="Google Shape;254;p11">
            <a:extLst xmlns:a="http://schemas.openxmlformats.org/drawingml/2006/main">
              <a:ext uri="{FF2B5EF4-FFF2-40B4-BE49-F238E27FC236}">
                <a16:creationId xmlns:a16="http://schemas.microsoft.com/office/drawing/2014/main" id="{663695CE-F971-4DC5-B46F-C77CA72A0A75}"/>
              </a:ext>
            </a:extLst>
          </p:cNvPr>
          <p:cNvSpPr>
            <a:spLocks xmlns:a="http://schemas.openxmlformats.org/drawingml/2006/main" noGrp="1"/>
          </p:cNvSpPr>
          <p:nvPr/>
        </p:nvSpPr>
        <p:spPr>
          <a:xfrm xmlns:a="http://schemas.openxmlformats.org/drawingml/2006/main">
            <a:off x="1188720" y="3346704"/>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0" i="0" u="none" cap="none">
                <a:solidFill>
                  <a:srgbClr val="5A6377"/>
                </a:solidFill>
                <a:latin typeface="Calibri"/>
                <a:ea typeface="Calibri"/>
                <a:cs typeface="Calibri"/>
              </a:rPr>
              <a:t>Activity completeness — restfulness of effort; direct realisation and absolute resolution</a:t>
            </a:r>
          </a:p>
        </p:txBody>
      </p:sp>
      <p:sp>
        <p:nvSpPr>
          <p:cNvPr id="255" name="Google Shape;255;p11">
            <a:extLst xmlns:a="http://schemas.openxmlformats.org/drawingml/2006/main">
              <a:ext uri="{FF2B5EF4-FFF2-40B4-BE49-F238E27FC236}">
                <a16:creationId xmlns:a16="http://schemas.microsoft.com/office/drawing/2014/main" id="{6DC74D46-B1D5-4DAB-9EF8-CB88C4910598}"/>
              </a:ext>
            </a:extLst>
          </p:cNvPr>
          <p:cNvSpPr>
            <a:spLocks xmlns:a="http://schemas.openxmlformats.org/drawingml/2006/main" noGrp="1"/>
          </p:cNvSpPr>
          <p:nvPr/>
        </p:nvSpPr>
        <p:spPr>
          <a:xfrm xmlns:a="http://schemas.openxmlformats.org/drawingml/2006/main">
            <a:off x="640080" y="3977640"/>
            <a:ext cx="384048" cy="38404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56" name="Google Shape;256;p11">
            <a:extLst xmlns:a="http://schemas.openxmlformats.org/drawingml/2006/main">
              <a:ext uri="{FF2B5EF4-FFF2-40B4-BE49-F238E27FC236}">
                <a16:creationId xmlns:a16="http://schemas.microsoft.com/office/drawing/2014/main" id="{786BC72A-C072-4422-9579-70B748800D93}"/>
              </a:ext>
            </a:extLst>
          </p:cNvPr>
          <p:cNvSpPr>
            <a:spLocks xmlns:a="http://schemas.openxmlformats.org/drawingml/2006/main" noGrp="1"/>
          </p:cNvSpPr>
          <p:nvPr/>
        </p:nvSpPr>
        <p:spPr>
          <a:xfrm xmlns:a="http://schemas.openxmlformats.org/drawingml/2006/main">
            <a:off x="640080" y="3977640"/>
            <a:ext cx="384048" cy="38404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150" b="1" i="0" u="none" cap="none">
                <a:solidFill>
                  <a:srgbClr val="FFFFFF"/>
                </a:solidFill>
                <a:latin typeface="Calibri"/>
                <a:ea typeface="Calibri"/>
                <a:cs typeface="Calibri"/>
              </a:rPr>
              <a:t>T3</a:t>
            </a:r>
          </a:p>
        </p:txBody>
      </p:sp>
      <p:sp>
        <p:nvSpPr>
          <p:cNvPr id="257" name="Google Shape;257;p11">
            <a:extLst xmlns:a="http://schemas.openxmlformats.org/drawingml/2006/main">
              <a:ext uri="{FF2B5EF4-FFF2-40B4-BE49-F238E27FC236}">
                <a16:creationId xmlns:a16="http://schemas.microsoft.com/office/drawing/2014/main" id="{D6639B03-944A-412F-9EE4-A1FFCF5E75A8}"/>
              </a:ext>
            </a:extLst>
          </p:cNvPr>
          <p:cNvSpPr>
            <a:spLocks xmlns:a="http://schemas.openxmlformats.org/drawingml/2006/main" noGrp="1"/>
          </p:cNvSpPr>
          <p:nvPr/>
        </p:nvSpPr>
        <p:spPr>
          <a:xfrm xmlns:a="http://schemas.openxmlformats.org/drawingml/2006/main">
            <a:off x="1188720" y="3950208"/>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0" i="0" u="none" cap="none">
                <a:solidFill>
                  <a:srgbClr val="5A6377"/>
                </a:solidFill>
                <a:latin typeface="Calibri"/>
                <a:ea typeface="Calibri"/>
                <a:cs typeface="Calibri"/>
              </a:rPr>
              <a:t>Conduct completeness — destination of motion; authentic conduct as living proof</a:t>
            </a:r>
          </a:p>
        </p:txBody>
      </p:sp>
      <p:sp>
        <p:nvSpPr>
          <p:cNvPr id="258" name="Google Shape;258;p11">
            <a:extLst xmlns:a="http://schemas.openxmlformats.org/drawingml/2006/main">
              <a:ext uri="{FF2B5EF4-FFF2-40B4-BE49-F238E27FC236}">
                <a16:creationId xmlns:a16="http://schemas.microsoft.com/office/drawing/2014/main" id="{2C1A8288-A341-425A-B68F-6C122B0AB159}"/>
              </a:ext>
            </a:extLst>
          </p:cNvPr>
          <p:cNvSpPr>
            <a:spLocks xmlns:a="http://schemas.openxmlformats.org/drawingml/2006/main" noGrp="1"/>
          </p:cNvSpPr>
          <p:nvPr/>
        </p:nvSpPr>
        <p:spPr>
          <a:xfrm xmlns:a="http://schemas.openxmlformats.org/drawingml/2006/main">
            <a:off x="640080" y="4572000"/>
            <a:ext cx="795528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1" u="none" cap="none">
                <a:solidFill>
                  <a:srgbClr val="9A6414"/>
                </a:solidFill>
                <a:latin typeface="Calibri"/>
                <a:ea typeface="Calibri"/>
                <a:cs typeface="Calibri"/>
              </a:rPr>
              <a:t>T1 is constitutional completeness: a developing atom becomes sentient jeevan. T2 and T3 are not further material stages; they name completeness of activity and conduct in awakened jeevan.</a:t>
            </a:r>
          </a:p>
        </p:txBody>
      </p:sp>
    </p:spTree>
    <p:extLst>
      <p:ext uri="{BB962C8B-B14F-4D97-AF65-F5344CB8AC3E}">
        <p14:creationId xmlns:p14="http://schemas.microsoft.com/office/powerpoint/2010/main" val="1413565909"/>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9" name="Google Shape;189;p9">
            <a:extLst xmlns:a="http://schemas.openxmlformats.org/drawingml/2006/main">
              <a:ext uri="{FF2B5EF4-FFF2-40B4-BE49-F238E27FC236}">
                <a16:creationId xmlns:a16="http://schemas.microsoft.com/office/drawing/2014/main" id="{78BE2FDB-9993-4B89-879D-9F6E842BD146}"/>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0" name="Google Shape;190;p9">
            <a:extLst xmlns:a="http://schemas.openxmlformats.org/drawingml/2006/main">
              <a:ext uri="{FF2B5EF4-FFF2-40B4-BE49-F238E27FC236}">
                <a16:creationId xmlns:a16="http://schemas.microsoft.com/office/drawing/2014/main" id="{D486CE71-65E4-4998-B4FB-7953C76974ED}"/>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1" name="Google Shape;191;p9">
            <a:extLst xmlns:a="http://schemas.openxmlformats.org/drawingml/2006/main">
              <a:ext uri="{FF2B5EF4-FFF2-40B4-BE49-F238E27FC236}">
                <a16:creationId xmlns:a16="http://schemas.microsoft.com/office/drawing/2014/main" id="{2D843C0E-0F2C-4F09-88EC-0FE70B332F23}"/>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2" name="Google Shape;192;p9">
            <a:extLst xmlns:a="http://schemas.openxmlformats.org/drawingml/2006/main">
              <a:ext uri="{FF2B5EF4-FFF2-40B4-BE49-F238E27FC236}">
                <a16:creationId xmlns:a16="http://schemas.microsoft.com/office/drawing/2014/main" id="{7A562A57-A093-41DC-90A9-28722A21F2B0}"/>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§1.9 · CLASSIFICATION CROSSWALK</a:t>
            </a:r>
          </a:p>
        </p:txBody>
      </p:sp>
      <p:sp>
        <p:nvSpPr>
          <p:cNvPr id="193" name="Google Shape;193;p9">
            <a:extLst xmlns:a="http://schemas.openxmlformats.org/drawingml/2006/main">
              <a:ext uri="{FF2B5EF4-FFF2-40B4-BE49-F238E27FC236}">
                <a16:creationId xmlns:a16="http://schemas.microsoft.com/office/drawing/2014/main" id="{E5CCBD08-FCA8-4F44-9B7F-A0AD7F3F647D}"/>
              </a:ext>
            </a:extLst>
          </p:cNvPr>
          <p:cNvSpPr>
            <a:spLocks xmlns:a="http://schemas.openxmlformats.org/drawingml/2006/main" noGrp="1"/>
          </p:cNvSpPr>
          <p:nvPr/>
        </p:nvSpPr>
        <p:spPr>
          <a:xfrm xmlns:a="http://schemas.openxmlformats.org/drawingml/2006/main">
            <a:off x="960120" y="514350"/>
            <a:ext cx="7726680" cy="5143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2550" b="1" i="0" u="none" cap="none">
                <a:solidFill>
                  <a:srgbClr val="1E2447"/>
                </a:solidFill>
                <a:latin typeface="Cambria"/>
                <a:ea typeface="Cambria"/>
                <a:cs typeface="Cambria"/>
              </a:rPr>
              <a:t>Different Classifications, Different Questions</a:t>
            </a:r>
          </a:p>
        </p:txBody>
      </p:sp>
      <p:graphicFrame>
        <p:nvGraphicFramePr>
          <p:cNvPr id="204" name="Google Shape;194;p9"/>
          <p:cNvGraphicFramePr/>
          <p:nvPr/>
        </p:nvGraphicFramePr>
        <p:xfrm>
          <a:off xmlns:a="http://schemas.openxmlformats.org/drawingml/2006/main" x="640080" y="1325880"/>
          <a:ext xmlns:a="http://schemas.openxmlformats.org/drawingml/2006/main" cx="7863825" cy="2560325"/>
        </p:xfrm>
        <a:graphic xmlns:a="http://schemas.openxmlformats.org/drawingml/2006/main">
          <a:graphicData uri="http://schemas.openxmlformats.org/drawingml/2006/table">
            <a:tbl>
              <a:tblPr>
                <a:tableStyleId>{6C92A692-798E-4634-90B1-36CD3966BFCB}</a:tableStyleId>
              </a:tblPr>
              <a:tblGrid>
                <a:gridCol w="1828800"/>
                <a:gridCol w="2651750"/>
                <a:gridCol w="2011675"/>
                <a:gridCol w="1371600"/>
              </a:tblGrid>
              <a:tr h="365750">
                <a:tc>
                  <a:txBody>
                    <a:bodyPr/>
                    <a:lstStyle/>
                    <a:p>
                      <a:pPr marL="0" indent="0" algn="l">
                        <a:buNone/>
                      </a:pPr>
                      <a:r>
                        <a:rPr sz="1200" b="1" u="none" cap="none">
                          <a:solidFill>
                            <a:srgbClr val="FFFFFF"/>
                          </a:solidFill>
                          <a:latin typeface="Calibri"/>
                          <a:ea typeface="Calibri"/>
                          <a:cs typeface="Calibri"/>
                        </a:rPr>
                        <a:t>Classification</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indent="0" algn="l">
                        <a:buNone/>
                      </a:pPr>
                      <a:r>
                        <a:rPr sz="1200" b="1" u="none" cap="none">
                          <a:solidFill>
                            <a:srgbClr val="FFFFFF"/>
                          </a:solidFill>
                          <a:latin typeface="Calibri"/>
                          <a:ea typeface="Calibri"/>
                          <a:cs typeface="Calibri"/>
                        </a:rPr>
                        <a:t>Basic members</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indent="0" algn="l">
                        <a:buNone/>
                      </a:pPr>
                      <a:r>
                        <a:rPr sz="1200" b="1" u="none" cap="none">
                          <a:solidFill>
                            <a:srgbClr val="FFFFFF"/>
                          </a:solidFill>
                          <a:latin typeface="Calibri"/>
                          <a:ea typeface="Calibri"/>
                          <a:cs typeface="Calibri"/>
                        </a:rPr>
                        <a:t>What it classifies</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indent="0" algn="l">
                        <a:buNone/>
                      </a:pPr>
                      <a:r>
                        <a:rPr sz="1200" b="1" u="none" cap="none">
                          <a:solidFill>
                            <a:srgbClr val="FFFFFF"/>
                          </a:solidFill>
                          <a:latin typeface="Calibri"/>
                          <a:ea typeface="Calibri"/>
                          <a:cs typeface="Calibri"/>
                        </a:rPr>
                        <a:t>Do not confuse with</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r>
              <a:tr h="502925">
                <a:tc>
                  <a:txBody>
                    <a:bodyPr/>
                    <a:lstStyle/>
                    <a:p>
                      <a:pPr marL="0" indent="0" algn="l">
                        <a:buNone/>
                      </a:pPr>
                      <a:r>
                        <a:rPr sz="1100" u="none" cap="none">
                          <a:solidFill>
                            <a:srgbClr val="1E2447"/>
                          </a:solidFill>
                          <a:latin typeface="Calibri"/>
                          <a:ea typeface="Calibri"/>
                          <a:cs typeface="Calibri"/>
                        </a:rPr>
                        <a:t>Orders</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material · bio · animal · knowledge</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organisation, svabhav, dharma</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planes</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502925">
                <a:tc>
                  <a:txBody>
                    <a:bodyPr/>
                    <a:lstStyle/>
                    <a:p>
                      <a:pPr marL="0" indent="0" algn="l">
                        <a:buNone/>
                      </a:pPr>
                      <a:r>
                        <a:rPr sz="1100" u="none" cap="none">
                          <a:solidFill>
                            <a:srgbClr val="1E2447"/>
                          </a:solidFill>
                          <a:latin typeface="Calibri"/>
                          <a:ea typeface="Calibri"/>
                          <a:cs typeface="Calibri"/>
                        </a:rPr>
                        <a:t>Progressions</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physicochemical · delusional · deific · divine</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status across T1–T3</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orders or planes</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502925">
                <a:tc>
                  <a:txBody>
                    <a:bodyPr/>
                    <a:lstStyle/>
                    <a:p>
                      <a:pPr marL="0" indent="0" algn="l">
                        <a:buNone/>
                      </a:pPr>
                      <a:r>
                        <a:rPr sz="1100" u="none" cap="none">
                          <a:solidFill>
                            <a:srgbClr val="1E2447"/>
                          </a:solidFill>
                          <a:latin typeface="Calibri"/>
                          <a:ea typeface="Calibri"/>
                          <a:cs typeface="Calibri"/>
                        </a:rPr>
                        <a:t>Planes</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substance · life · intellectual · experiential</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scope of knowing and experience</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material stages</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685800">
                <a:tc>
                  <a:txBody>
                    <a:bodyPr/>
                    <a:lstStyle/>
                    <a:p>
                      <a:pPr marL="0" indent="0" algn="l">
                        <a:buNone/>
                      </a:pPr>
                      <a:r>
                        <a:rPr sz="1100" u="none" cap="none">
                          <a:solidFill>
                            <a:srgbClr val="1E2447"/>
                          </a:solidFill>
                          <a:latin typeface="Calibri"/>
                          <a:ea typeface="Calibri"/>
                          <a:cs typeface="Calibri"/>
                        </a:rPr>
                        <a:t>Human types</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animal · demon · human · divine · transcendental</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orientation of human living</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value families</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bl>
          </a:graphicData>
        </a:graphic>
      </p:graphicFrame>
      <p:sp>
        <p:nvSpPr>
          <p:cNvPr id="195" name="Google Shape;195;p9">
            <a:extLst xmlns:a="http://schemas.openxmlformats.org/drawingml/2006/main">
              <a:ext uri="{FF2B5EF4-FFF2-40B4-BE49-F238E27FC236}">
                <a16:creationId xmlns:a16="http://schemas.microsoft.com/office/drawing/2014/main" id="{56045CEE-E3D1-4ECB-9CE3-C00365D94007}"/>
              </a:ext>
            </a:extLst>
          </p:cNvPr>
          <p:cNvSpPr>
            <a:spLocks xmlns:a="http://schemas.openxmlformats.org/drawingml/2006/main" noGrp="1"/>
          </p:cNvSpPr>
          <p:nvPr/>
        </p:nvSpPr>
        <p:spPr>
          <a:xfrm xmlns:a="http://schemas.openxmlformats.org/drawingml/2006/main">
            <a:off x="640080" y="4069080"/>
            <a:ext cx="7863840" cy="658368"/>
          </a:xfrm>
          <a:prstGeom xmlns:a="http://schemas.openxmlformats.org/drawingml/2006/main" prst="roundRect">
            <a:avLst>
              <a:gd name="adj" fmla="val 12500"/>
            </a:avLst>
          </a:prstGeom>
          <a:solidFill xmlns:a="http://schemas.openxmlformats.org/drawingml/2006/main">
            <a:srgbClr val="FAF1D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6" name="Google Shape;196;p9">
            <a:extLst xmlns:a="http://schemas.openxmlformats.org/drawingml/2006/main">
              <a:ext uri="{FF2B5EF4-FFF2-40B4-BE49-F238E27FC236}">
                <a16:creationId xmlns:a16="http://schemas.microsoft.com/office/drawing/2014/main" id="{CBCFED84-4AED-4439-8BAD-7BC63416C034}"/>
              </a:ext>
            </a:extLst>
          </p:cNvPr>
          <p:cNvSpPr>
            <a:spLocks xmlns:a="http://schemas.openxmlformats.org/drawingml/2006/main" noGrp="1"/>
          </p:cNvSpPr>
          <p:nvPr/>
        </p:nvSpPr>
        <p:spPr>
          <a:xfrm xmlns:a="http://schemas.openxmlformats.org/drawingml/2006/main">
            <a:off x="868680" y="4069080"/>
            <a:ext cx="7406640" cy="65836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1" i="0" u="none" cap="none">
                <a:solidFill>
                  <a:srgbClr val="9A6414"/>
                </a:solidFill>
                <a:latin typeface="Calibri"/>
                <a:ea typeface="Calibri"/>
                <a:cs typeface="Calibri"/>
              </a:rPr>
              <a:t>These classifications answer different questions and overlap without being interchangeable. T1 separates physicochemical from sentient; T2 and T3 concern awakening and conduct.</a:t>
            </a:r>
          </a:p>
        </p:txBody>
      </p:sp>
      <p:sp>
        <p:nvSpPr>
          <p:cNvPr id="197" name="Google Shape;197;p9">
            <a:extLst xmlns:a="http://schemas.openxmlformats.org/drawingml/2006/main">
              <a:ext uri="{FF2B5EF4-FFF2-40B4-BE49-F238E27FC236}">
                <a16:creationId xmlns:a16="http://schemas.microsoft.com/office/drawing/2014/main" id="{07F388A9-2EE4-4AC8-BEF3-C1967A5BA32A}"/>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Study §1.9 · Conceptual map classification crosswalk</a:t>
            </a:r>
          </a:p>
        </p:txBody>
      </p:sp>
    </p:spTree>
    <p:extLst>
      <p:ext uri="{BB962C8B-B14F-4D97-AF65-F5344CB8AC3E}">
        <p14:creationId xmlns:p14="http://schemas.microsoft.com/office/powerpoint/2010/main" val="113189548"/>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64" name="Google Shape;264;p12">
            <a:extLst xmlns:a="http://schemas.openxmlformats.org/drawingml/2006/main">
              <a:ext uri="{FF2B5EF4-FFF2-40B4-BE49-F238E27FC236}">
                <a16:creationId xmlns:a16="http://schemas.microsoft.com/office/drawing/2014/main" id="{31F24DF1-343F-4626-9A6C-364355E38A67}"/>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65" name="Google Shape;265;p12">
            <a:extLst xmlns:a="http://schemas.openxmlformats.org/drawingml/2006/main">
              <a:ext uri="{FF2B5EF4-FFF2-40B4-BE49-F238E27FC236}">
                <a16:creationId xmlns:a16="http://schemas.microsoft.com/office/drawing/2014/main" id="{43AB7693-7E8D-4A57-BC39-AB8AF60545C1}"/>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66" name="Google Shape;266;p12">
            <a:extLst xmlns:a="http://schemas.openxmlformats.org/drawingml/2006/main">
              <a:ext uri="{FF2B5EF4-FFF2-40B4-BE49-F238E27FC236}">
                <a16:creationId xmlns:a16="http://schemas.microsoft.com/office/drawing/2014/main" id="{30A460E3-D65D-48F0-B206-E0AD88EE63D2}"/>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67" name="Google Shape;267;p12">
            <a:extLst xmlns:a="http://schemas.openxmlformats.org/drawingml/2006/main">
              <a:ext uri="{FF2B5EF4-FFF2-40B4-BE49-F238E27FC236}">
                <a16:creationId xmlns:a16="http://schemas.microsoft.com/office/drawing/2014/main" id="{45014028-6252-4341-AD46-BDF3BC545E44}"/>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§1.6.1</a:t>
            </a:r>
          </a:p>
        </p:txBody>
      </p:sp>
      <p:sp>
        <p:nvSpPr>
          <p:cNvPr id="268" name="Google Shape;268;p12">
            <a:extLst xmlns:a="http://schemas.openxmlformats.org/drawingml/2006/main">
              <a:ext uri="{FF2B5EF4-FFF2-40B4-BE49-F238E27FC236}">
                <a16:creationId xmlns:a16="http://schemas.microsoft.com/office/drawing/2014/main" id="{CCDB9E2B-0461-4636-9BEE-2C6CC0F38C7F}"/>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T1 — The Irreversible Sentience Threshold</a:t>
            </a:r>
          </a:p>
        </p:txBody>
      </p:sp>
      <p:sp>
        <p:nvSpPr>
          <p:cNvPr id="269" name="Google Shape;269;p12">
            <a:extLst xmlns:a="http://schemas.openxmlformats.org/drawingml/2006/main">
              <a:ext uri="{FF2B5EF4-FFF2-40B4-BE49-F238E27FC236}">
                <a16:creationId xmlns:a16="http://schemas.microsoft.com/office/drawing/2014/main" id="{BAD19D94-263F-4FC3-BB54-B9FF052B10C9}"/>
              </a:ext>
            </a:extLst>
          </p:cNvPr>
          <p:cNvSpPr>
            <a:spLocks xmlns:a="http://schemas.openxmlformats.org/drawingml/2006/main" noGrp="1"/>
          </p:cNvSpPr>
          <p:nvPr/>
        </p:nvSpPr>
        <p:spPr>
          <a:xfrm xmlns:a="http://schemas.openxmlformats.org/drawingml/2006/main">
            <a:off x="640080" y="1234440"/>
            <a:ext cx="7955280" cy="914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1" i="0" u="none" cap="none">
                <a:solidFill>
                  <a:srgbClr val="1E2447"/>
                </a:solidFill>
                <a:latin typeface="Calibri"/>
                <a:ea typeface="Calibri"/>
                <a:cs typeface="Calibri"/>
              </a:rPr>
              <a:t>Constitutional completeness at the atomic level, </a:t>
            </a:r>
            <a:r>
              <a:rPr sz="1250" b="0" i="0" u="none" cap="none">
                <a:solidFill>
                  <a:srgbClr val="5A6377"/>
                </a:solidFill>
                <a:latin typeface="Calibri"/>
                <a:ea typeface="Calibri"/>
                <a:cs typeface="Calibri"/>
              </a:rPr>
              <a:t>not neural complexity, molecular size, or elevation along the order chain. </a:t>
            </a:r>
            <a:r>
              <a:rPr sz="1250" b="0" i="0" u="none" cap="none">
                <a:solidFill>
                  <a:srgbClr val="5A6377"/>
                </a:solidFill>
                <a:latin typeface="Calibri"/>
                <a:ea typeface="Calibri"/>
                <a:cs typeface="Calibri"/>
              </a:rPr>
              <a:t>A constitution-oriented developing atom</a:t>
            </a:r>
            <a:r>
              <a:rPr sz="1250" b="0" i="0" u="none" cap="none">
                <a:solidFill>
                  <a:srgbClr val="5A6377"/>
                </a:solidFill>
                <a:latin typeface="Calibri"/>
                <a:ea typeface="Calibri"/>
                <a:cs typeface="Calibri"/>
              </a:rPr>
              <a:t> takes in particles — hungry atoms and overfull atoms completing each other — within a suitable environment; </a:t>
            </a:r>
            <a:r>
              <a:rPr sz="1250" b="0" i="0" u="none" cap="none">
                <a:solidFill>
                  <a:srgbClr val="5A6377"/>
                </a:solidFill>
                <a:latin typeface="Calibri"/>
                <a:ea typeface="Calibri"/>
                <a:cs typeface="Calibri"/>
              </a:rPr>
              <a:t>once the required particles are in place, it closes. This is an ontological account; no accepted empirical procedure currently identifies the threshold.</a:t>
            </a:r>
          </a:p>
        </p:txBody>
      </p:sp>
      <p:sp>
        <p:nvSpPr>
          <p:cNvPr id="270" name="Google Shape;270;p12">
            <a:extLst xmlns:a="http://schemas.openxmlformats.org/drawingml/2006/main">
              <a:ext uri="{FF2B5EF4-FFF2-40B4-BE49-F238E27FC236}">
                <a16:creationId xmlns:a16="http://schemas.microsoft.com/office/drawing/2014/main" id="{C0213F39-D99F-48F2-9957-9418CC5ED26C}"/>
              </a:ext>
            </a:extLst>
          </p:cNvPr>
          <p:cNvSpPr>
            <a:spLocks xmlns:a="http://schemas.openxmlformats.org/drawingml/2006/main" noGrp="1"/>
          </p:cNvSpPr>
          <p:nvPr/>
        </p:nvSpPr>
        <p:spPr>
          <a:xfrm xmlns:a="http://schemas.openxmlformats.org/drawingml/2006/main">
            <a:off x="640080" y="2286000"/>
            <a:ext cx="3657600" cy="1691640"/>
          </a:xfrm>
          <a:prstGeom xmlns:a="http://schemas.openxmlformats.org/drawingml/2006/main" prst="roundRect">
            <a:avLst>
              <a:gd name="adj" fmla="val 5405"/>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71" name="Google Shape;271;p12">
            <a:extLst xmlns:a="http://schemas.openxmlformats.org/drawingml/2006/main">
              <a:ext uri="{FF2B5EF4-FFF2-40B4-BE49-F238E27FC236}">
                <a16:creationId xmlns:a16="http://schemas.microsoft.com/office/drawing/2014/main" id="{57967AD6-5336-4CF3-847E-5A8EA1E8FE5F}"/>
              </a:ext>
            </a:extLst>
          </p:cNvPr>
          <p:cNvSpPr>
            <a:spLocks xmlns:a="http://schemas.openxmlformats.org/drawingml/2006/main" noGrp="1"/>
          </p:cNvSpPr>
          <p:nvPr/>
        </p:nvSpPr>
        <p:spPr>
          <a:xfrm xmlns:a="http://schemas.openxmlformats.org/drawingml/2006/main">
            <a:off x="868680" y="2432304"/>
            <a:ext cx="32004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3B4A7A"/>
                </a:solidFill>
                <a:latin typeface="Cambria"/>
                <a:ea typeface="Cambria"/>
                <a:cs typeface="Cambria"/>
              </a:rPr>
              <a:t>Before T1 — evolving atom</a:t>
            </a:r>
          </a:p>
        </p:txBody>
      </p:sp>
      <p:sp>
        <p:nvSpPr>
          <p:cNvPr id="272" name="Google Shape;272;p12">
            <a:extLst xmlns:a="http://schemas.openxmlformats.org/drawingml/2006/main">
              <a:ext uri="{FF2B5EF4-FFF2-40B4-BE49-F238E27FC236}">
                <a16:creationId xmlns:a16="http://schemas.microsoft.com/office/drawing/2014/main" id="{79F1F4CE-AA65-4807-953F-298E3C8E3C16}"/>
              </a:ext>
            </a:extLst>
          </p:cNvPr>
          <p:cNvSpPr>
            <a:spLocks xmlns:a="http://schemas.openxmlformats.org/drawingml/2006/main" noGrp="1"/>
          </p:cNvSpPr>
          <p:nvPr/>
        </p:nvSpPr>
        <p:spPr>
          <a:xfrm xmlns:a="http://schemas.openxmlformats.org/drawingml/2006/main">
            <a:off x="868680" y="2743200"/>
            <a:ext cx="3246120" cy="1143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Still bound by molecular weight and structure</a:t>
            </a:r>
          </a:p>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Particle count still changing; development in progress</a:t>
            </a:r>
          </a:p>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Exhibits radiance and projection as an insentient unit</a:t>
            </a:r>
          </a:p>
        </p:txBody>
      </p:sp>
      <p:sp>
        <p:nvSpPr>
          <p:cNvPr id="273" name="Google Shape;273;p12">
            <a:extLst xmlns:a="http://schemas.openxmlformats.org/drawingml/2006/main">
              <a:ext uri="{FF2B5EF4-FFF2-40B4-BE49-F238E27FC236}">
                <a16:creationId xmlns:a16="http://schemas.microsoft.com/office/drawing/2014/main" id="{64E931F0-5A68-4993-9F13-C4B761F75C40}"/>
              </a:ext>
            </a:extLst>
          </p:cNvPr>
          <p:cNvSpPr>
            <a:spLocks xmlns:a="http://schemas.openxmlformats.org/drawingml/2006/main" noGrp="1"/>
          </p:cNvSpPr>
          <p:nvPr/>
        </p:nvSpPr>
        <p:spPr>
          <a:xfrm xmlns:a="http://schemas.openxmlformats.org/drawingml/2006/main">
            <a:off x="4846320" y="2286000"/>
            <a:ext cx="3657600" cy="1691640"/>
          </a:xfrm>
          <a:prstGeom xmlns:a="http://schemas.openxmlformats.org/drawingml/2006/main" prst="roundRect">
            <a:avLst>
              <a:gd name="adj" fmla="val 5405"/>
            </a:avLst>
          </a:prstGeom>
          <a:solidFill xmlns:a="http://schemas.openxmlformats.org/drawingml/2006/main">
            <a:srgbClr val="FAF1D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74" name="Google Shape;274;p12">
            <a:extLst xmlns:a="http://schemas.openxmlformats.org/drawingml/2006/main">
              <a:ext uri="{FF2B5EF4-FFF2-40B4-BE49-F238E27FC236}">
                <a16:creationId xmlns:a16="http://schemas.microsoft.com/office/drawing/2014/main" id="{03D17D49-5205-40E4-8929-28FBA11F0432}"/>
              </a:ext>
            </a:extLst>
          </p:cNvPr>
          <p:cNvSpPr>
            <a:spLocks xmlns:a="http://schemas.openxmlformats.org/drawingml/2006/main" noGrp="1"/>
          </p:cNvSpPr>
          <p:nvPr/>
        </p:nvSpPr>
        <p:spPr>
          <a:xfrm xmlns:a="http://schemas.openxmlformats.org/drawingml/2006/main">
            <a:off x="5074920" y="2432304"/>
            <a:ext cx="32004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9A6414"/>
                </a:solidFill>
                <a:latin typeface="Cambria"/>
                <a:ea typeface="Cambria"/>
                <a:cs typeface="Cambria"/>
              </a:rPr>
              <a:t>After T1 — the completed atom</a:t>
            </a:r>
          </a:p>
        </p:txBody>
      </p:sp>
      <p:sp>
        <p:nvSpPr>
          <p:cNvPr id="275" name="Google Shape;275;p12">
            <a:extLst xmlns:a="http://schemas.openxmlformats.org/drawingml/2006/main">
              <a:ext uri="{FF2B5EF4-FFF2-40B4-BE49-F238E27FC236}">
                <a16:creationId xmlns:a16="http://schemas.microsoft.com/office/drawing/2014/main" id="{806792A4-DAF7-4995-ADA5-97A4ACC0BE88}"/>
              </a:ext>
            </a:extLst>
          </p:cNvPr>
          <p:cNvSpPr>
            <a:spLocks xmlns:a="http://schemas.openxmlformats.org/drawingml/2006/main" noGrp="1"/>
          </p:cNvSpPr>
          <p:nvPr/>
        </p:nvSpPr>
        <p:spPr>
          <a:xfrm xmlns:a="http://schemas.openxmlformats.org/drawingml/2006/main">
            <a:off x="5074920" y="2743200"/>
            <a:ext cx="3246120" cy="128016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342900" indent="-342900" algn="l">
              <a:spcBef>
                <a:spcPts val="0"/>
              </a:spcBef>
              <a:spcAft>
                <a:spcPts val="0"/>
              </a:spcAft>
              <a:buChar char="•"/>
              <a:defRPr sz="938">
                <a:solidFill>
                  <a:srgbClr val="5F6B82"/>
                </a:solidFill>
              </a:defRPr>
            </a:pPr>
            <a:r>
              <a:rPr sz="938">
                <a:solidFill>
                  <a:srgbClr val="5F6B82"/>
                </a:solidFill>
              </a:rPr>
              <a:t>Released from molecular and weight bondage; carried by hope</a:t>
            </a:r>
          </a:p>
          <a:p xmlns:a="http://schemas.openxmlformats.org/drawingml/2006/main">
            <a:pPr marL="342900" indent="-342900" algn="l">
              <a:spcBef>
                <a:spcPts val="0"/>
              </a:spcBef>
              <a:spcAft>
                <a:spcPts val="0"/>
              </a:spcAft>
              <a:buChar char="•"/>
              <a:defRPr sz="938">
                <a:solidFill>
                  <a:srgbClr val="5F6B82"/>
                </a:solidFill>
              </a:defRPr>
            </a:pPr>
            <a:r>
              <a:rPr sz="938" b="0" i="0" u="none" cap="none">
                <a:solidFill>
                  <a:srgbClr val="5F6B82"/>
                </a:solidFill>
                <a:latin typeface="Calibri"/>
                <a:ea typeface="Calibri"/>
                <a:cs typeface="Calibri"/>
              </a:rPr>
              <a:t>No increase or decrease in particles: qualitative change without quantitative change</a:t>
            </a:r>
          </a:p>
          <a:p xmlns:a="http://schemas.openxmlformats.org/drawingml/2006/main">
            <a:pPr marL="342900" indent="-342900" algn="l">
              <a:spcBef>
                <a:spcPts val="0"/>
              </a:spcBef>
              <a:spcAft>
                <a:spcPts val="0"/>
              </a:spcAft>
              <a:buChar char="•"/>
              <a:defRPr sz="938">
                <a:solidFill>
                  <a:srgbClr val="5F6B82"/>
                </a:solidFill>
              </a:defRPr>
            </a:pPr>
            <a:r>
              <a:rPr sz="938">
                <a:solidFill>
                  <a:srgbClr val="5F6B82"/>
                </a:solidFill>
              </a:rPr>
              <a:t>Sentient jeevan shows a finer mode of recognition</a:t>
            </a:r>
          </a:p>
        </p:txBody>
      </p:sp>
      <p:sp>
        <p:nvSpPr>
          <p:cNvPr id="276" name="Google Shape;276;p12">
            <a:extLst xmlns:a="http://schemas.openxmlformats.org/drawingml/2006/main">
              <a:ext uri="{FF2B5EF4-FFF2-40B4-BE49-F238E27FC236}">
                <a16:creationId xmlns:a16="http://schemas.microsoft.com/office/drawing/2014/main" id="{E6F80A38-F0FD-4914-9EAC-5969F611F70F}"/>
              </a:ext>
            </a:extLst>
          </p:cNvPr>
          <p:cNvSpPr>
            <a:spLocks xmlns:a="http://schemas.openxmlformats.org/drawingml/2006/main" noGrp="1"/>
          </p:cNvSpPr>
          <p:nvPr/>
        </p:nvSpPr>
        <p:spPr>
          <a:xfrm xmlns:a="http://schemas.openxmlformats.org/drawingml/2006/main">
            <a:off x="4315968" y="2880360"/>
            <a:ext cx="50292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2400" b="1" i="0" u="none" cap="none">
                <a:solidFill>
                  <a:srgbClr val="C9821E"/>
                </a:solidFill>
                <a:latin typeface="Calibri"/>
                <a:ea typeface="Calibri"/>
                <a:cs typeface="Calibri"/>
              </a:rPr>
              <a:t>→</a:t>
            </a:r>
          </a:p>
        </p:txBody>
      </p:sp>
      <p:sp>
        <p:nvSpPr>
          <p:cNvPr id="277" name="Google Shape;277;p12">
            <a:extLst xmlns:a="http://schemas.openxmlformats.org/drawingml/2006/main">
              <a:ext uri="{FF2B5EF4-FFF2-40B4-BE49-F238E27FC236}">
                <a16:creationId xmlns:a16="http://schemas.microsoft.com/office/drawing/2014/main" id="{FA084800-C991-44A7-8718-3023E79AF2C3}"/>
              </a:ext>
            </a:extLst>
          </p:cNvPr>
          <p:cNvSpPr>
            <a:spLocks xmlns:a="http://schemas.openxmlformats.org/drawingml/2006/main" noGrp="1"/>
          </p:cNvSpPr>
          <p:nvPr/>
        </p:nvSpPr>
        <p:spPr>
          <a:xfrm xmlns:a="http://schemas.openxmlformats.org/drawingml/2006/main">
            <a:off x="640080" y="4206240"/>
            <a:ext cx="7955280" cy="4114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0" i="1" u="none" cap="none">
                <a:solidFill>
                  <a:srgbClr val="1E2447"/>
                </a:solidFill>
                <a:latin typeface="Calibri"/>
                <a:ea typeface="Calibri"/>
                <a:cs typeface="Calibri"/>
              </a:rPr>
              <a:t>T1 is irreversible because the atom’s constitution is complete and no longer decomposes. The completed constitution itself grounds jeevan’s continuity beyond the body.</a:t>
            </a:r>
          </a:p>
        </p:txBody>
      </p:sp>
      <p:sp>
        <p:nvSpPr>
          <p:cNvPr id="278" name="Google Shape;278;p12">
            <a:extLst xmlns:a="http://schemas.openxmlformats.org/drawingml/2006/main">
              <a:ext uri="{FF2B5EF4-FFF2-40B4-BE49-F238E27FC236}">
                <a16:creationId xmlns:a16="http://schemas.microsoft.com/office/drawing/2014/main" id="{55D6FE27-A431-49AB-BD4A-743E578D1DAD}"/>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SB pp. 52, 55, 59, 80–81, 92  ·  MVD pp. 8, 91, 117</a:t>
            </a:r>
          </a:p>
        </p:txBody>
      </p:sp>
    </p:spTree>
    <p:extLst>
      <p:ext uri="{BB962C8B-B14F-4D97-AF65-F5344CB8AC3E}">
        <p14:creationId xmlns:p14="http://schemas.microsoft.com/office/powerpoint/2010/main" val="2141356326"/>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64" name="Google Shape;264;p12">
            <a:extLst xmlns:a="http://schemas.openxmlformats.org/drawingml/2006/main">
              <a:ext uri="{FF2B5EF4-FFF2-40B4-BE49-F238E27FC236}">
                <a16:creationId xmlns:a16="http://schemas.microsoft.com/office/drawing/2014/main" id="{31F24DF1-343F-4626-9A6C-364355E38A67}"/>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65" name="Google Shape;265;p12">
            <a:extLst xmlns:a="http://schemas.openxmlformats.org/drawingml/2006/main">
              <a:ext uri="{FF2B5EF4-FFF2-40B4-BE49-F238E27FC236}">
                <a16:creationId xmlns:a16="http://schemas.microsoft.com/office/drawing/2014/main" id="{43AB7693-7E8D-4A57-BC39-AB8AF60545C1}"/>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66" name="Google Shape;266;p12">
            <a:extLst xmlns:a="http://schemas.openxmlformats.org/drawingml/2006/main">
              <a:ext uri="{FF2B5EF4-FFF2-40B4-BE49-F238E27FC236}">
                <a16:creationId xmlns:a16="http://schemas.microsoft.com/office/drawing/2014/main" id="{30A460E3-D65D-48F0-B206-E0AD88EE63D2}"/>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67" name="Google Shape;267;p12">
            <a:extLst xmlns:a="http://schemas.openxmlformats.org/drawingml/2006/main">
              <a:ext uri="{FF2B5EF4-FFF2-40B4-BE49-F238E27FC236}">
                <a16:creationId xmlns:a16="http://schemas.microsoft.com/office/drawing/2014/main" id="{45014028-6252-4341-AD46-BDF3BC545E44}"/>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 1.7 · THE HUMAN JOINT FORM</a:t>
            </a:r>
          </a:p>
        </p:txBody>
      </p:sp>
      <p:sp>
        <p:nvSpPr>
          <p:cNvPr id="268" name="Google Shape;268;p12">
            <a:extLst xmlns:a="http://schemas.openxmlformats.org/drawingml/2006/main">
              <a:ext uri="{FF2B5EF4-FFF2-40B4-BE49-F238E27FC236}">
                <a16:creationId xmlns:a16="http://schemas.microsoft.com/office/drawing/2014/main" id="{CCDB9E2B-0461-4636-9BEE-2C6CC0F38C7F}"/>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Body and Jeevan: One Joint Form</a:t>
            </a:r>
          </a:p>
        </p:txBody>
      </p:sp>
      <p:sp>
        <p:nvSpPr>
          <p:cNvPr id="269" name="Google Shape;269;p12">
            <a:extLst xmlns:a="http://schemas.openxmlformats.org/drawingml/2006/main">
              <a:ext uri="{FF2B5EF4-FFF2-40B4-BE49-F238E27FC236}">
                <a16:creationId xmlns:a16="http://schemas.microsoft.com/office/drawing/2014/main" id="{BAD19D94-263F-4FC3-BB54-B9FF052B10C9}"/>
              </a:ext>
            </a:extLst>
          </p:cNvPr>
          <p:cNvSpPr>
            <a:spLocks xmlns:a="http://schemas.openxmlformats.org/drawingml/2006/main" noGrp="1"/>
          </p:cNvSpPr>
          <p:nvPr/>
        </p:nvSpPr>
        <p:spPr>
          <a:xfrm xmlns:a="http://schemas.openxmlformats.org/drawingml/2006/main">
            <a:off x="640080" y="1234440"/>
            <a:ext cx="7955280" cy="914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1" i="0" u="none" cap="none">
                <a:solidFill>
                  <a:srgbClr val="1E2447"/>
                </a:solidFill>
                <a:latin typeface="Calibri"/>
                <a:ea typeface="Calibri"/>
                <a:cs typeface="Calibri"/>
              </a:rPr>
              <a:t>Animal and human living is a joint form. Jeevan brings all ten activities; the body supplies the species-specific medium. Animal bodily and brain development limits their expression. The human medium supports the full range, while body-identification can still misdirect evaluation.</a:t>
            </a:r>
          </a:p>
        </p:txBody>
      </p:sp>
      <p:sp>
        <p:nvSpPr>
          <p:cNvPr id="270" name="Google Shape;270;p12">
            <a:extLst xmlns:a="http://schemas.openxmlformats.org/drawingml/2006/main">
              <a:ext uri="{FF2B5EF4-FFF2-40B4-BE49-F238E27FC236}">
                <a16:creationId xmlns:a16="http://schemas.microsoft.com/office/drawing/2014/main" id="{C0213F39-D99F-48F2-9957-9418CC5ED26C}"/>
              </a:ext>
            </a:extLst>
          </p:cNvPr>
          <p:cNvSpPr>
            <a:spLocks xmlns:a="http://schemas.openxmlformats.org/drawingml/2006/main" noGrp="1"/>
          </p:cNvSpPr>
          <p:nvPr/>
        </p:nvSpPr>
        <p:spPr>
          <a:xfrm xmlns:a="http://schemas.openxmlformats.org/drawingml/2006/main">
            <a:off x="640080" y="2286000"/>
            <a:ext cx="3657600" cy="1691640"/>
          </a:xfrm>
          <a:prstGeom xmlns:a="http://schemas.openxmlformats.org/drawingml/2006/main" prst="roundRect">
            <a:avLst>
              <a:gd name="adj" fmla="val 5405"/>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71" name="Google Shape;271;p12">
            <a:extLst xmlns:a="http://schemas.openxmlformats.org/drawingml/2006/main">
              <a:ext uri="{FF2B5EF4-FFF2-40B4-BE49-F238E27FC236}">
                <a16:creationId xmlns:a16="http://schemas.microsoft.com/office/drawing/2014/main" id="{57967AD6-5336-4CF3-847E-5A8EA1E8FE5F}"/>
              </a:ext>
            </a:extLst>
          </p:cNvPr>
          <p:cNvSpPr>
            <a:spLocks xmlns:a="http://schemas.openxmlformats.org/drawingml/2006/main" noGrp="1"/>
          </p:cNvSpPr>
          <p:nvPr/>
        </p:nvSpPr>
        <p:spPr>
          <a:xfrm xmlns:a="http://schemas.openxmlformats.org/drawingml/2006/main">
            <a:off x="868680" y="2432304"/>
            <a:ext cx="32004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3B4A7A"/>
                </a:solidFill>
                <a:latin typeface="Cambria"/>
                <a:ea typeface="Cambria"/>
                <a:cs typeface="Cambria"/>
              </a:rPr>
              <a:t>Body — the medium</a:t>
            </a:r>
          </a:p>
        </p:txBody>
      </p:sp>
      <p:sp>
        <p:nvSpPr>
          <p:cNvPr id="272" name="Google Shape;272;p12">
            <a:extLst xmlns:a="http://schemas.openxmlformats.org/drawingml/2006/main">
              <a:ext uri="{FF2B5EF4-FFF2-40B4-BE49-F238E27FC236}">
                <a16:creationId xmlns:a16="http://schemas.microsoft.com/office/drawing/2014/main" id="{79F1F4CE-AA65-4807-953F-298E3C8E3C16}"/>
              </a:ext>
            </a:extLst>
          </p:cNvPr>
          <p:cNvSpPr>
            <a:spLocks xmlns:a="http://schemas.openxmlformats.org/drawingml/2006/main" noGrp="1"/>
          </p:cNvSpPr>
          <p:nvPr/>
        </p:nvSpPr>
        <p:spPr>
          <a:xfrm xmlns:a="http://schemas.openxmlformats.org/drawingml/2006/main">
            <a:off x="868680" y="2743200"/>
            <a:ext cx="3246120" cy="1143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342900" indent="-342900" algn="l">
              <a:spcBef>
                <a:spcPts val="0"/>
              </a:spcBef>
              <a:spcAft>
                <a:spcPts val="0"/>
              </a:spcAft>
              <a:buChar char="•"/>
              <a:defRPr sz="1013">
                <a:solidFill>
                  <a:srgbClr val="5F6B82"/>
                </a:solidFill>
              </a:defRPr>
            </a:pPr>
            <a:r>
              <a:rPr sz="1013">
                <a:solidFill>
                  <a:srgbClr val="5F6B82"/>
                </a:solidFill>
              </a:rPr>
              <a:t>Pranic composition</a:t>
            </a:r>
          </a:p>
          <a:p xmlns:a="http://schemas.openxmlformats.org/drawingml/2006/main">
            <a:pPr marL="342900" indent="-342900" algn="l">
              <a:spcBef>
                <a:spcPts val="0"/>
              </a:spcBef>
              <a:spcAft>
                <a:spcPts val="0"/>
              </a:spcAft>
              <a:buChar char="•"/>
              <a:defRPr sz="1013">
                <a:solidFill>
                  <a:srgbClr val="5F6B82"/>
                </a:solidFill>
              </a:defRPr>
            </a:pPr>
            <a:r>
              <a:rPr sz="1013">
                <a:solidFill>
                  <a:srgbClr val="5F6B82"/>
                </a:solidFill>
              </a:rPr>
              <a:t>Sense organs, brain, and physical expression</a:t>
            </a:r>
          </a:p>
          <a:p xmlns:a="http://schemas.openxmlformats.org/drawingml/2006/main">
            <a:pPr marL="342900" indent="-342900" algn="l">
              <a:spcBef>
                <a:spcPts val="0"/>
              </a:spcBef>
              <a:spcAft>
                <a:spcPts val="0"/>
              </a:spcAft>
              <a:buChar char="•"/>
              <a:defRPr sz="1013">
                <a:solidFill>
                  <a:srgbClr val="5F6B82"/>
                </a:solidFill>
              </a:defRPr>
            </a:pPr>
            <a:r>
              <a:rPr sz="1013">
                <a:solidFill>
                  <a:srgbClr val="5F6B82"/>
                </a:solidFill>
              </a:rPr>
              <a:t>Animal: limited · Human: full medium; decomposable</a:t>
            </a:r>
          </a:p>
        </p:txBody>
      </p:sp>
      <p:sp>
        <p:nvSpPr>
          <p:cNvPr id="273" name="Google Shape;273;p12">
            <a:extLst xmlns:a="http://schemas.openxmlformats.org/drawingml/2006/main">
              <a:ext uri="{FF2B5EF4-FFF2-40B4-BE49-F238E27FC236}">
                <a16:creationId xmlns:a16="http://schemas.microsoft.com/office/drawing/2014/main" id="{64E931F0-5A68-4993-9F13-C4B761F75C40}"/>
              </a:ext>
            </a:extLst>
          </p:cNvPr>
          <p:cNvSpPr>
            <a:spLocks xmlns:a="http://schemas.openxmlformats.org/drawingml/2006/main" noGrp="1"/>
          </p:cNvSpPr>
          <p:nvPr/>
        </p:nvSpPr>
        <p:spPr>
          <a:xfrm xmlns:a="http://schemas.openxmlformats.org/drawingml/2006/main">
            <a:off x="4846320" y="2286000"/>
            <a:ext cx="3657600" cy="1691640"/>
          </a:xfrm>
          <a:prstGeom xmlns:a="http://schemas.openxmlformats.org/drawingml/2006/main" prst="roundRect">
            <a:avLst>
              <a:gd name="adj" fmla="val 5405"/>
            </a:avLst>
          </a:prstGeom>
          <a:solidFill xmlns:a="http://schemas.openxmlformats.org/drawingml/2006/main">
            <a:srgbClr val="FAF1D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74" name="Google Shape;274;p12">
            <a:extLst xmlns:a="http://schemas.openxmlformats.org/drawingml/2006/main">
              <a:ext uri="{FF2B5EF4-FFF2-40B4-BE49-F238E27FC236}">
                <a16:creationId xmlns:a16="http://schemas.microsoft.com/office/drawing/2014/main" id="{03D17D49-5205-40E4-8929-28FBA11F0432}"/>
              </a:ext>
            </a:extLst>
          </p:cNvPr>
          <p:cNvSpPr>
            <a:spLocks xmlns:a="http://schemas.openxmlformats.org/drawingml/2006/main" noGrp="1"/>
          </p:cNvSpPr>
          <p:nvPr/>
        </p:nvSpPr>
        <p:spPr>
          <a:xfrm xmlns:a="http://schemas.openxmlformats.org/drawingml/2006/main">
            <a:off x="5074920" y="2432304"/>
            <a:ext cx="32004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9A6414"/>
                </a:solidFill>
                <a:latin typeface="Cambria"/>
                <a:ea typeface="Cambria"/>
                <a:cs typeface="Cambria"/>
              </a:rPr>
              <a:t>Jeevan — the knower</a:t>
            </a:r>
          </a:p>
        </p:txBody>
      </p:sp>
      <p:sp>
        <p:nvSpPr>
          <p:cNvPr id="275" name="Google Shape;275;p12">
            <a:extLst xmlns:a="http://schemas.openxmlformats.org/drawingml/2006/main">
              <a:ext uri="{FF2B5EF4-FFF2-40B4-BE49-F238E27FC236}">
                <a16:creationId xmlns:a16="http://schemas.microsoft.com/office/drawing/2014/main" id="{806792A4-DAF7-4995-ADA5-97A4ACC0BE88}"/>
              </a:ext>
            </a:extLst>
          </p:cNvPr>
          <p:cNvSpPr>
            <a:spLocks xmlns:a="http://schemas.openxmlformats.org/drawingml/2006/main" noGrp="1"/>
          </p:cNvSpPr>
          <p:nvPr/>
        </p:nvSpPr>
        <p:spPr>
          <a:xfrm xmlns:a="http://schemas.openxmlformats.org/drawingml/2006/main">
            <a:off x="5074920" y="2743200"/>
            <a:ext cx="3246120" cy="128016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342900" indent="-342900" algn="l">
              <a:spcBef>
                <a:spcPts val="0"/>
              </a:spcBef>
              <a:spcAft>
                <a:spcPts val="0"/>
              </a:spcAft>
              <a:buChar char="•"/>
              <a:defRPr sz="1013">
                <a:solidFill>
                  <a:srgbClr val="5F6B82"/>
                </a:solidFill>
              </a:defRPr>
            </a:pPr>
            <a:r>
              <a:rPr sz="1013">
                <a:solidFill>
                  <a:srgbClr val="5F6B82"/>
                </a:solidFill>
              </a:rPr>
              <a:t>Constitutionally complete sentient atom</a:t>
            </a:r>
          </a:p>
          <a:p xmlns:a="http://schemas.openxmlformats.org/drawingml/2006/main">
            <a:pPr marL="342900" indent="-342900" algn="l">
              <a:spcBef>
                <a:spcPts val="0"/>
              </a:spcBef>
              <a:spcAft>
                <a:spcPts val="0"/>
              </a:spcAft>
              <a:buChar char="•"/>
              <a:defRPr sz="1013">
                <a:solidFill>
                  <a:srgbClr val="5F6B82"/>
                </a:solidFill>
              </a:defRPr>
            </a:pPr>
            <a:r>
              <a:rPr sz="1013">
                <a:solidFill>
                  <a:srgbClr val="5F6B82"/>
                </a:solidFill>
              </a:rPr>
              <a:t>All five faculties and ten activities inherent</a:t>
            </a:r>
          </a:p>
          <a:p xmlns:a="http://schemas.openxmlformats.org/drawingml/2006/main">
            <a:pPr marL="342900" indent="-342900" algn="l">
              <a:spcBef>
                <a:spcPts val="0"/>
              </a:spcBef>
              <a:spcAft>
                <a:spcPts val="0"/>
              </a:spcAft>
              <a:buChar char="•"/>
              <a:defRPr sz="1013">
                <a:solidFill>
                  <a:srgbClr val="5F6B82"/>
                </a:solidFill>
              </a:defRPr>
            </a:pPr>
            <a:r>
              <a:rPr sz="1013">
                <a:solidFill>
                  <a:srgbClr val="5F6B82"/>
                </a:solidFill>
              </a:rPr>
              <a:t>Continues when the joint form ends</a:t>
            </a:r>
          </a:p>
        </p:txBody>
      </p:sp>
      <p:sp>
        <p:nvSpPr>
          <p:cNvPr id="276" name="Google Shape;276;p12">
            <a:extLst xmlns:a="http://schemas.openxmlformats.org/drawingml/2006/main">
              <a:ext uri="{FF2B5EF4-FFF2-40B4-BE49-F238E27FC236}">
                <a16:creationId xmlns:a16="http://schemas.microsoft.com/office/drawing/2014/main" id="{E6F80A38-F0FD-4914-9EAC-5969F611F70F}"/>
              </a:ext>
            </a:extLst>
          </p:cNvPr>
          <p:cNvSpPr>
            <a:spLocks xmlns:a="http://schemas.openxmlformats.org/drawingml/2006/main" noGrp="1"/>
          </p:cNvSpPr>
          <p:nvPr/>
        </p:nvSpPr>
        <p:spPr>
          <a:xfrm xmlns:a="http://schemas.openxmlformats.org/drawingml/2006/main">
            <a:off x="4315968" y="2880360"/>
            <a:ext cx="50292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2400" b="1" i="0" u="none" cap="none">
                <a:solidFill>
                  <a:srgbClr val="C9821E"/>
                </a:solidFill>
                <a:latin typeface="Calibri"/>
                <a:ea typeface="Calibri"/>
                <a:cs typeface="Calibri"/>
              </a:rPr>
              <a:t>⇄</a:t>
            </a:r>
          </a:p>
        </p:txBody>
      </p:sp>
      <p:sp>
        <p:nvSpPr>
          <p:cNvPr id="277" name="Google Shape;277;p12">
            <a:extLst xmlns:a="http://schemas.openxmlformats.org/drawingml/2006/main">
              <a:ext uri="{FF2B5EF4-FFF2-40B4-BE49-F238E27FC236}">
                <a16:creationId xmlns:a16="http://schemas.microsoft.com/office/drawing/2014/main" id="{FA084800-C991-44A7-8718-3023E79AF2C3}"/>
              </a:ext>
            </a:extLst>
          </p:cNvPr>
          <p:cNvSpPr>
            <a:spLocks xmlns:a="http://schemas.openxmlformats.org/drawingml/2006/main" noGrp="1"/>
          </p:cNvSpPr>
          <p:nvPr/>
        </p:nvSpPr>
        <p:spPr>
          <a:xfrm xmlns:a="http://schemas.openxmlformats.org/drawingml/2006/main">
            <a:off x="640080" y="4206240"/>
            <a:ext cx="7955280" cy="4114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0" i="1" u="none" cap="none">
                <a:solidFill>
                  <a:srgbClr val="1E2447"/>
                </a:solidFill>
                <a:latin typeface="Calibri"/>
                <a:ea typeface="Calibri"/>
                <a:cs typeface="Calibri"/>
              </a:rPr>
              <a:t>The body gates expression; jeevan is seer–doer–enjoyer through it. Animal limitation belongs to the medium; human mis-evaluation belongs to body-delusion.</a:t>
            </a:r>
          </a:p>
        </p:txBody>
      </p:sp>
      <p:sp>
        <p:nvSpPr>
          <p:cNvPr id="278" name="Google Shape;278;p12">
            <a:extLst xmlns:a="http://schemas.openxmlformats.org/drawingml/2006/main">
              <a:ext uri="{FF2B5EF4-FFF2-40B4-BE49-F238E27FC236}">
                <a16:creationId xmlns:a16="http://schemas.microsoft.com/office/drawing/2014/main" id="{55D6FE27-A431-49AB-BD4A-743E578D1DAD}"/>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MVD pp. 13, 115, 288–289 · SB pp. 91–92 · JV pp. 20, 54</a:t>
            </a:r>
          </a:p>
        </p:txBody>
      </p:sp>
    </p:spTree>
    <p:extLst>
      <p:ext uri="{BB962C8B-B14F-4D97-AF65-F5344CB8AC3E}">
        <p14:creationId xmlns:p14="http://schemas.microsoft.com/office/powerpoint/2010/main" val="2141356326"/>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84" name="Google Shape;284;p13">
            <a:extLst xmlns:a="http://schemas.openxmlformats.org/drawingml/2006/main">
              <a:ext uri="{FF2B5EF4-FFF2-40B4-BE49-F238E27FC236}">
                <a16:creationId xmlns:a16="http://schemas.microsoft.com/office/drawing/2014/main" id="{1E5F56BB-9A34-4C85-9FA8-3973A3C8F591}"/>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85" name="Google Shape;285;p13">
            <a:extLst xmlns:a="http://schemas.openxmlformats.org/drawingml/2006/main">
              <a:ext uri="{FF2B5EF4-FFF2-40B4-BE49-F238E27FC236}">
                <a16:creationId xmlns:a16="http://schemas.microsoft.com/office/drawing/2014/main" id="{789B6EC8-4924-4167-914C-21CDEA4EF896}"/>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86" name="Google Shape;286;p13">
            <a:extLst xmlns:a="http://schemas.openxmlformats.org/drawingml/2006/main">
              <a:ext uri="{FF2B5EF4-FFF2-40B4-BE49-F238E27FC236}">
                <a16:creationId xmlns:a16="http://schemas.microsoft.com/office/drawing/2014/main" id="{64227F92-96D4-4E15-9F79-F545BF27D19C}"/>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87" name="Google Shape;287;p13">
            <a:extLst xmlns:a="http://schemas.openxmlformats.org/drawingml/2006/main">
              <a:ext uri="{FF2B5EF4-FFF2-40B4-BE49-F238E27FC236}">
                <a16:creationId xmlns:a16="http://schemas.microsoft.com/office/drawing/2014/main" id="{1C5C8F2C-EDB9-4C04-9B75-C5DFEDCDDBE0}"/>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§1.7 · CONSTITUTIONALLY COMPLETE</a:t>
            </a:r>
          </a:p>
        </p:txBody>
      </p:sp>
      <p:sp>
        <p:nvSpPr>
          <p:cNvPr id="288" name="Google Shape;288;p13">
            <a:extLst xmlns:a="http://schemas.openxmlformats.org/drawingml/2006/main">
              <a:ext uri="{FF2B5EF4-FFF2-40B4-BE49-F238E27FC236}">
                <a16:creationId xmlns:a16="http://schemas.microsoft.com/office/drawing/2014/main" id="{9217C47C-53A4-41ED-8226-61D3CF3778D9}"/>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Jeevan: Five Faculties, Ten Activities</a:t>
            </a:r>
          </a:p>
        </p:txBody>
      </p:sp>
      <p:sp>
        <p:nvSpPr>
          <p:cNvPr id="289" name="Google Shape;289;p13">
            <a:extLst xmlns:a="http://schemas.openxmlformats.org/drawingml/2006/main">
              <a:ext uri="{FF2B5EF4-FFF2-40B4-BE49-F238E27FC236}">
                <a16:creationId xmlns:a16="http://schemas.microsoft.com/office/drawing/2014/main" id="{A7811749-9FD9-446E-9F16-BAE349C0EB31}"/>
              </a:ext>
            </a:extLst>
          </p:cNvPr>
          <p:cNvSpPr>
            <a:spLocks xmlns:a="http://schemas.openxmlformats.org/drawingml/2006/main" noGrp="1"/>
          </p:cNvSpPr>
          <p:nvPr/>
        </p:nvSpPr>
        <p:spPr>
          <a:xfrm xmlns:a="http://schemas.openxmlformats.org/drawingml/2006/main">
            <a:off x="1851660" y="2583180"/>
            <a:ext cx="960120" cy="96012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90" name="Google Shape;290;p13">
            <a:extLst xmlns:a="http://schemas.openxmlformats.org/drawingml/2006/main">
              <a:ext uri="{FF2B5EF4-FFF2-40B4-BE49-F238E27FC236}">
                <a16:creationId xmlns:a16="http://schemas.microsoft.com/office/drawing/2014/main" id="{B80053E0-F78A-42B8-B068-8EE096741EB1}"/>
              </a:ext>
            </a:extLst>
          </p:cNvPr>
          <p:cNvSpPr>
            <a:spLocks xmlns:a="http://schemas.openxmlformats.org/drawingml/2006/main" noGrp="1"/>
          </p:cNvSpPr>
          <p:nvPr/>
        </p:nvSpPr>
        <p:spPr>
          <a:xfrm xmlns:a="http://schemas.openxmlformats.org/drawingml/2006/main">
            <a:off x="1828800" y="2464308"/>
            <a:ext cx="1005840" cy="219456"/>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950" b="1" i="1" u="none" cap="none">
                <a:solidFill>
                  <a:srgbClr val="3B4A7A"/>
                </a:solidFill>
                <a:latin typeface="Calibri"/>
                <a:ea typeface="Calibri"/>
                <a:cs typeface="Calibri"/>
              </a:rPr>
              <a:t>buddhi</a:t>
            </a:r>
          </a:p>
        </p:txBody>
      </p:sp>
      <p:sp>
        <p:nvSpPr>
          <p:cNvPr id="291" name="Google Shape;291;p13">
            <a:extLst xmlns:a="http://schemas.openxmlformats.org/drawingml/2006/main">
              <a:ext uri="{FF2B5EF4-FFF2-40B4-BE49-F238E27FC236}">
                <a16:creationId xmlns:a16="http://schemas.microsoft.com/office/drawing/2014/main" id="{6CDC5A34-ED41-4857-A986-B809E855A59E}"/>
              </a:ext>
            </a:extLst>
          </p:cNvPr>
          <p:cNvSpPr>
            <a:spLocks xmlns:a="http://schemas.openxmlformats.org/drawingml/2006/main" noGrp="1"/>
          </p:cNvSpPr>
          <p:nvPr/>
        </p:nvSpPr>
        <p:spPr>
          <a:xfrm xmlns:a="http://schemas.openxmlformats.org/drawingml/2006/main">
            <a:off x="1623060" y="2354580"/>
            <a:ext cx="1417320" cy="1417320"/>
          </a:xfrm>
          <a:prstGeom xmlns:a="http://schemas.openxmlformats.org/drawingml/2006/main" prst="ellipse">
            <a:avLst/>
          </a:prstGeom>
          <a:noFill xmlns:a="http://schemas.openxmlformats.org/drawingml/2006/main"/>
          <a:ln xmlns:a="http://schemas.openxmlformats.org/drawingml/2006/main" w="15875" cmpd="sng">
            <a:solidFill>
              <a:srgbClr val="8E9BC4"/>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92" name="Google Shape;292;p13">
            <a:extLst xmlns:a="http://schemas.openxmlformats.org/drawingml/2006/main">
              <a:ext uri="{FF2B5EF4-FFF2-40B4-BE49-F238E27FC236}">
                <a16:creationId xmlns:a16="http://schemas.microsoft.com/office/drawing/2014/main" id="{62D17117-F8A0-4EE1-A91D-B5B85A030A63}"/>
              </a:ext>
            </a:extLst>
          </p:cNvPr>
          <p:cNvSpPr>
            <a:spLocks xmlns:a="http://schemas.openxmlformats.org/drawingml/2006/main" noGrp="1"/>
          </p:cNvSpPr>
          <p:nvPr/>
        </p:nvSpPr>
        <p:spPr>
          <a:xfrm xmlns:a="http://schemas.openxmlformats.org/drawingml/2006/main">
            <a:off x="1828800" y="2235708"/>
            <a:ext cx="1005840" cy="219456"/>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950" b="1" i="1" u="none" cap="none">
                <a:solidFill>
                  <a:srgbClr val="3B4A7A"/>
                </a:solidFill>
                <a:latin typeface="Calibri"/>
                <a:ea typeface="Calibri"/>
                <a:cs typeface="Calibri"/>
              </a:rPr>
              <a:t>chitta</a:t>
            </a:r>
          </a:p>
        </p:txBody>
      </p:sp>
      <p:sp>
        <p:nvSpPr>
          <p:cNvPr id="293" name="Google Shape;293;p13">
            <a:extLst xmlns:a="http://schemas.openxmlformats.org/drawingml/2006/main">
              <a:ext uri="{FF2B5EF4-FFF2-40B4-BE49-F238E27FC236}">
                <a16:creationId xmlns:a16="http://schemas.microsoft.com/office/drawing/2014/main" id="{BF98A95E-C47B-4496-B328-945B3D5A3301}"/>
              </a:ext>
            </a:extLst>
          </p:cNvPr>
          <p:cNvSpPr>
            <a:spLocks xmlns:a="http://schemas.openxmlformats.org/drawingml/2006/main" noGrp="1"/>
          </p:cNvSpPr>
          <p:nvPr/>
        </p:nvSpPr>
        <p:spPr>
          <a:xfrm xmlns:a="http://schemas.openxmlformats.org/drawingml/2006/main">
            <a:off x="1394460" y="2125980"/>
            <a:ext cx="1874520" cy="187452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94" name="Google Shape;294;p13">
            <a:extLst xmlns:a="http://schemas.openxmlformats.org/drawingml/2006/main">
              <a:ext uri="{FF2B5EF4-FFF2-40B4-BE49-F238E27FC236}">
                <a16:creationId xmlns:a16="http://schemas.microsoft.com/office/drawing/2014/main" id="{A75EA635-19EA-4538-B7E1-6FED769C3EB1}"/>
              </a:ext>
            </a:extLst>
          </p:cNvPr>
          <p:cNvSpPr>
            <a:spLocks xmlns:a="http://schemas.openxmlformats.org/drawingml/2006/main" noGrp="1"/>
          </p:cNvSpPr>
          <p:nvPr/>
        </p:nvSpPr>
        <p:spPr>
          <a:xfrm xmlns:a="http://schemas.openxmlformats.org/drawingml/2006/main">
            <a:off x="1828800" y="2007108"/>
            <a:ext cx="1005840" cy="219456"/>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950" b="1" i="1" u="none" cap="none">
                <a:solidFill>
                  <a:srgbClr val="3B4A7A"/>
                </a:solidFill>
                <a:latin typeface="Calibri"/>
                <a:ea typeface="Calibri"/>
                <a:cs typeface="Calibri"/>
              </a:rPr>
              <a:t>vritti</a:t>
            </a:r>
          </a:p>
        </p:txBody>
      </p:sp>
      <p:sp>
        <p:nvSpPr>
          <p:cNvPr id="295" name="Google Shape;295;p13">
            <a:extLst xmlns:a="http://schemas.openxmlformats.org/drawingml/2006/main">
              <a:ext uri="{FF2B5EF4-FFF2-40B4-BE49-F238E27FC236}">
                <a16:creationId xmlns:a16="http://schemas.microsoft.com/office/drawing/2014/main" id="{44BA07D9-B04E-436E-8BB7-DD9A217D133D}"/>
              </a:ext>
            </a:extLst>
          </p:cNvPr>
          <p:cNvSpPr>
            <a:spLocks xmlns:a="http://schemas.openxmlformats.org/drawingml/2006/main" noGrp="1"/>
          </p:cNvSpPr>
          <p:nvPr/>
        </p:nvSpPr>
        <p:spPr>
          <a:xfrm xmlns:a="http://schemas.openxmlformats.org/drawingml/2006/main">
            <a:off x="1165860" y="1897380"/>
            <a:ext cx="2331720" cy="2331720"/>
          </a:xfrm>
          <a:prstGeom xmlns:a="http://schemas.openxmlformats.org/drawingml/2006/main" prst="ellipse">
            <a:avLst/>
          </a:prstGeom>
          <a:noFill xmlns:a="http://schemas.openxmlformats.org/drawingml/2006/main"/>
          <a:ln xmlns:a="http://schemas.openxmlformats.org/drawingml/2006/main" w="15875" cmpd="sng">
            <a:solidFill>
              <a:srgbClr val="8E9BC4"/>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96" name="Google Shape;296;p13">
            <a:extLst xmlns:a="http://schemas.openxmlformats.org/drawingml/2006/main">
              <a:ext uri="{FF2B5EF4-FFF2-40B4-BE49-F238E27FC236}">
                <a16:creationId xmlns:a16="http://schemas.microsoft.com/office/drawing/2014/main" id="{779AF3AD-B505-451C-9CCB-C3C043B8104C}"/>
              </a:ext>
            </a:extLst>
          </p:cNvPr>
          <p:cNvSpPr>
            <a:spLocks xmlns:a="http://schemas.openxmlformats.org/drawingml/2006/main" noGrp="1"/>
          </p:cNvSpPr>
          <p:nvPr/>
        </p:nvSpPr>
        <p:spPr>
          <a:xfrm xmlns:a="http://schemas.openxmlformats.org/drawingml/2006/main">
            <a:off x="1828800" y="1778508"/>
            <a:ext cx="1005840" cy="219456"/>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950" b="1" i="1" u="none" cap="none">
                <a:solidFill>
                  <a:srgbClr val="3B4A7A"/>
                </a:solidFill>
                <a:latin typeface="Calibri"/>
                <a:ea typeface="Calibri"/>
                <a:cs typeface="Calibri"/>
              </a:rPr>
              <a:t>mun</a:t>
            </a:r>
          </a:p>
        </p:txBody>
      </p:sp>
      <p:sp>
        <p:nvSpPr>
          <p:cNvPr id="297" name="Google Shape;297;p13">
            <a:extLst xmlns:a="http://schemas.openxmlformats.org/drawingml/2006/main">
              <a:ext uri="{FF2B5EF4-FFF2-40B4-BE49-F238E27FC236}">
                <a16:creationId xmlns:a16="http://schemas.microsoft.com/office/drawing/2014/main" id="{C2363F2F-B9F7-41B6-BFD6-B03380A98FBE}"/>
              </a:ext>
            </a:extLst>
          </p:cNvPr>
          <p:cNvSpPr>
            <a:spLocks xmlns:a="http://schemas.openxmlformats.org/drawingml/2006/main" noGrp="1"/>
          </p:cNvSpPr>
          <p:nvPr/>
        </p:nvSpPr>
        <p:spPr>
          <a:xfrm xmlns:a="http://schemas.openxmlformats.org/drawingml/2006/main">
            <a:off x="2084832" y="2816352"/>
            <a:ext cx="493776" cy="493776"/>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98" name="Google Shape;298;p13">
            <a:extLst xmlns:a="http://schemas.openxmlformats.org/drawingml/2006/main">
              <a:ext uri="{FF2B5EF4-FFF2-40B4-BE49-F238E27FC236}">
                <a16:creationId xmlns:a16="http://schemas.microsoft.com/office/drawing/2014/main" id="{5D222F60-F7F1-44F5-ACE0-F3F1A86FC60B}"/>
              </a:ext>
            </a:extLst>
          </p:cNvPr>
          <p:cNvSpPr>
            <a:spLocks xmlns:a="http://schemas.openxmlformats.org/drawingml/2006/main" noGrp="1"/>
          </p:cNvSpPr>
          <p:nvPr/>
        </p:nvSpPr>
        <p:spPr>
          <a:xfrm xmlns:a="http://schemas.openxmlformats.org/drawingml/2006/main">
            <a:off x="1874520" y="2926080"/>
            <a:ext cx="9144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050" b="1" i="0" u="none" cap="none">
                <a:solidFill>
                  <a:srgbClr val="FFFFFF"/>
                </a:solidFill>
                <a:latin typeface="Calibri"/>
                <a:ea typeface="Calibri"/>
                <a:cs typeface="Calibri"/>
              </a:rPr>
              <a:t>atma</a:t>
            </a:r>
          </a:p>
        </p:txBody>
      </p:sp>
      <p:sp>
        <p:nvSpPr>
          <p:cNvPr id="299" name="Google Shape;299;p13">
            <a:extLst xmlns:a="http://schemas.openxmlformats.org/drawingml/2006/main">
              <a:ext uri="{FF2B5EF4-FFF2-40B4-BE49-F238E27FC236}">
                <a16:creationId xmlns:a16="http://schemas.microsoft.com/office/drawing/2014/main" id="{147A2446-6FAA-46E7-8CA7-4BC2804DA439}"/>
              </a:ext>
            </a:extLst>
          </p:cNvPr>
          <p:cNvSpPr>
            <a:spLocks xmlns:a="http://schemas.openxmlformats.org/drawingml/2006/main" noGrp="1"/>
          </p:cNvSpPr>
          <p:nvPr/>
        </p:nvSpPr>
        <p:spPr>
          <a:xfrm xmlns:a="http://schemas.openxmlformats.org/drawingml/2006/main">
            <a:off x="685800" y="4434840"/>
            <a:ext cx="3383280" cy="4114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centre = core self (atma); the four rings around it are the other four faculties (MVD p. 78)</a:t>
            </a:r>
          </a:p>
        </p:txBody>
      </p:sp>
      <p:graphicFrame>
        <p:nvGraphicFramePr>
          <p:cNvPr id="320" name="Google Shape;300;p13"/>
          <p:cNvGraphicFramePr/>
          <p:nvPr/>
        </p:nvGraphicFramePr>
        <p:xfrm>
          <a:off xmlns:a="http://schemas.openxmlformats.org/drawingml/2006/main" x="4480559" y="1271015"/>
          <a:ext xmlns:a="http://schemas.openxmlformats.org/drawingml/2006/main" cx="4160525" cy="2249425"/>
        </p:xfrm>
        <a:graphic xmlns:a="http://schemas.openxmlformats.org/drawingml/2006/main">
          <a:graphicData uri="http://schemas.openxmlformats.org/drawingml/2006/table">
            <a:tbl>
              <a:tblPr>
                <a:tableStyleId>{6C92A692-798E-4634-90B1-36CD3966BFCB}</a:tableStyleId>
              </a:tblPr>
              <a:tblGrid>
                <a:gridCol w="1371600"/>
                <a:gridCol w="1417325"/>
                <a:gridCol w="1371600"/>
              </a:tblGrid>
              <a:tr h="329175">
                <a:tc>
                  <a:txBody>
                    <a:bodyPr/>
                    <a:lstStyle/>
                    <a:p>
                      <a:pPr marL="0" indent="0" algn="l">
                        <a:buNone/>
                      </a:pPr>
                      <a:r>
                        <a:rPr sz="1050" b="1" u="none" cap="none">
                          <a:solidFill>
                            <a:srgbClr val="FFFFFF"/>
                          </a:solidFill>
                          <a:latin typeface="Calibri"/>
                          <a:ea typeface="Calibri"/>
                          <a:cs typeface="Calibri"/>
                        </a:rPr>
                        <a:t>Faculty / strength</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indent="0" algn="l">
                        <a:buNone/>
                      </a:pPr>
                      <a:r>
                        <a:rPr sz="1050" b="1" u="none" cap="none">
                          <a:solidFill>
                            <a:srgbClr val="FFFFFF"/>
                          </a:solidFill>
                          <a:latin typeface="Calibri"/>
                          <a:ea typeface="Calibri"/>
                          <a:cs typeface="Calibri"/>
                        </a:rPr>
                        <a:t>Projection (outward)</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indent="0" algn="l">
                        <a:buNone/>
                      </a:pPr>
                      <a:r>
                        <a:rPr sz="1050" b="1" u="none" cap="none">
                          <a:solidFill>
                            <a:srgbClr val="FFFFFF"/>
                          </a:solidFill>
                          <a:latin typeface="Calibri"/>
                          <a:ea typeface="Calibri"/>
                          <a:cs typeface="Calibri"/>
                        </a:rPr>
                        <a:t>Reflection (inward)</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r>
              <a:tr h="384050">
                <a:tc>
                  <a:txBody>
                    <a:bodyPr/>
                    <a:lstStyle/>
                    <a:p>
                      <a:pPr marL="0" indent="0" algn="l">
                        <a:buNone/>
                      </a:pPr>
                      <a:r>
                        <a:rPr sz="1050" u="none" cap="none">
                          <a:solidFill>
                            <a:srgbClr val="1E2447"/>
                          </a:solidFill>
                          <a:latin typeface="Calibri"/>
                          <a:ea typeface="Calibri"/>
                          <a:cs typeface="Calibri"/>
                        </a:rPr>
                        <a:t>Hope (mun)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50" u="none" cap="none">
                          <a:solidFill>
                            <a:srgbClr val="1E2447"/>
                          </a:solidFill>
                          <a:latin typeface="Calibri"/>
                          <a:ea typeface="Calibri"/>
                          <a:cs typeface="Calibri"/>
                        </a:rPr>
                        <a:t>selection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50" u="none" cap="none">
                          <a:solidFill>
                            <a:srgbClr val="1E2447"/>
                          </a:solidFill>
                          <a:latin typeface="Calibri"/>
                          <a:ea typeface="Calibri"/>
                          <a:cs typeface="Calibri"/>
                        </a:rPr>
                        <a:t>taste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384050">
                <a:tc>
                  <a:txBody>
                    <a:bodyPr/>
                    <a:lstStyle/>
                    <a:p>
                      <a:pPr marL="0" indent="0" algn="l">
                        <a:buNone/>
                      </a:pPr>
                      <a:r>
                        <a:rPr sz="1050" u="none" cap="none">
                          <a:solidFill>
                            <a:srgbClr val="1E2447"/>
                          </a:solidFill>
                          <a:latin typeface="Calibri"/>
                          <a:ea typeface="Calibri"/>
                          <a:cs typeface="Calibri"/>
                        </a:rPr>
                        <a:t>Thought (vritti)</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50" u="none" cap="none">
                          <a:solidFill>
                            <a:srgbClr val="1E2447"/>
                          </a:solidFill>
                          <a:latin typeface="Calibri"/>
                          <a:ea typeface="Calibri"/>
                          <a:cs typeface="Calibri"/>
                        </a:rPr>
                        <a:t>analysis</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50" u="none" cap="none">
                          <a:solidFill>
                            <a:srgbClr val="1E2447"/>
                          </a:solidFill>
                          <a:latin typeface="Calibri"/>
                          <a:ea typeface="Calibri"/>
                          <a:cs typeface="Calibri"/>
                        </a:rPr>
                        <a:t>deliberation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384050">
                <a:tc>
                  <a:txBody>
                    <a:bodyPr/>
                    <a:lstStyle/>
                    <a:p>
                      <a:pPr marL="0" indent="0" algn="l">
                        <a:buNone/>
                      </a:pPr>
                      <a:r>
                        <a:rPr sz="1050" u="none" cap="none">
                          <a:solidFill>
                            <a:srgbClr val="1E2447"/>
                          </a:solidFill>
                          <a:latin typeface="Calibri"/>
                          <a:ea typeface="Calibri"/>
                          <a:cs typeface="Calibri"/>
                        </a:rPr>
                        <a:t>Desire (chitta)</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50" u="none" cap="none">
                          <a:solidFill>
                            <a:srgbClr val="1E2447"/>
                          </a:solidFill>
                          <a:latin typeface="Calibri"/>
                          <a:ea typeface="Calibri"/>
                          <a:cs typeface="Calibri"/>
                        </a:rPr>
                        <a:t>visualisation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50" u="none" cap="none">
                          <a:solidFill>
                            <a:srgbClr val="1E2447"/>
                          </a:solidFill>
                          <a:latin typeface="Calibri"/>
                          <a:ea typeface="Calibri"/>
                          <a:cs typeface="Calibri"/>
                        </a:rPr>
                        <a:t>contemplation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384050">
                <a:tc>
                  <a:txBody>
                    <a:bodyPr/>
                    <a:lstStyle/>
                    <a:p>
                      <a:pPr marL="0" indent="0" algn="l">
                        <a:buNone/>
                      </a:pPr>
                      <a:r>
                        <a:rPr sz="1050" u="none" cap="none">
                          <a:solidFill>
                            <a:srgbClr val="1E2447"/>
                          </a:solidFill>
                          <a:latin typeface="Calibri"/>
                          <a:ea typeface="Calibri"/>
                          <a:cs typeface="Calibri"/>
                        </a:rPr>
                        <a:t>Resolve (buddhi)</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50" u="none" cap="none">
                          <a:solidFill>
                            <a:srgbClr val="1E2447"/>
                          </a:solidFill>
                          <a:latin typeface="Calibri"/>
                          <a:ea typeface="Calibri"/>
                          <a:cs typeface="Calibri"/>
                        </a:rPr>
                        <a:t>resolve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50" u="none" cap="none">
                          <a:solidFill>
                            <a:srgbClr val="1E2447"/>
                          </a:solidFill>
                          <a:latin typeface="Calibri"/>
                          <a:ea typeface="Calibri"/>
                          <a:cs typeface="Calibri"/>
                        </a:rPr>
                        <a:t>enlightenment</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384050">
                <a:tc>
                  <a:txBody>
                    <a:bodyPr/>
                    <a:lstStyle/>
                    <a:p>
                      <a:pPr marL="0" indent="0" algn="l">
                        <a:buNone/>
                      </a:pPr>
                      <a:r>
                        <a:rPr sz="1050" u="none" cap="none">
                          <a:solidFill>
                            <a:srgbClr val="1E2447"/>
                          </a:solidFill>
                          <a:latin typeface="Calibri"/>
                          <a:ea typeface="Calibri"/>
                          <a:cs typeface="Calibri"/>
                        </a:rPr>
                        <a:t>Core self (atma)</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50" u="none" cap="none">
                          <a:solidFill>
                            <a:srgbClr val="1E2447"/>
                          </a:solidFill>
                          <a:latin typeface="Calibri"/>
                          <a:ea typeface="Calibri"/>
                          <a:cs typeface="Calibri"/>
                        </a:rPr>
                        <a:t>authenticity</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50" u="none" cap="none">
                          <a:solidFill>
                            <a:srgbClr val="1E2447"/>
                          </a:solidFill>
                          <a:latin typeface="Calibri"/>
                          <a:ea typeface="Calibri"/>
                          <a:cs typeface="Calibri"/>
                        </a:rPr>
                        <a:t>realisation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bl>
          </a:graphicData>
        </a:graphic>
      </p:graphicFrame>
      <p:sp>
        <p:nvSpPr>
          <p:cNvPr id="301" name="Google Shape;301;p13">
            <a:extLst xmlns:a="http://schemas.openxmlformats.org/drawingml/2006/main">
              <a:ext uri="{FF2B5EF4-FFF2-40B4-BE49-F238E27FC236}">
                <a16:creationId xmlns:a16="http://schemas.microsoft.com/office/drawing/2014/main" id="{0BAE59CB-DC58-45A3-A21C-9997882F3F6D}"/>
              </a:ext>
            </a:extLst>
          </p:cNvPr>
          <p:cNvSpPr>
            <a:spLocks xmlns:a="http://schemas.openxmlformats.org/drawingml/2006/main" noGrp="1"/>
          </p:cNvSpPr>
          <p:nvPr/>
        </p:nvSpPr>
        <p:spPr>
          <a:xfrm xmlns:a="http://schemas.openxmlformats.org/drawingml/2006/main">
            <a:off x="4480561" y="3683658"/>
            <a:ext cx="4160520" cy="82296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Jeevan is a constitutionally complete sentient atom. All five faculties and all ten activities belong to it. Animal bodies limit their expression. The human body can express the full range, yet delusion can leave only four and a half effectively organised. Study brings understanding; practice evidences and stabilises it — it does not create missing faculties.</a:t>
            </a:r>
          </a:p>
        </p:txBody>
      </p:sp>
      <p:sp>
        <p:nvSpPr>
          <p:cNvPr id="302" name="Google Shape;302;p13">
            <a:extLst xmlns:a="http://schemas.openxmlformats.org/drawingml/2006/main">
              <a:ext uri="{FF2B5EF4-FFF2-40B4-BE49-F238E27FC236}">
                <a16:creationId xmlns:a16="http://schemas.microsoft.com/office/drawing/2014/main" id="{A909FAFB-2298-487C-807A-90781ABFFDF3}"/>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MVD pp. 13, 78, 126, 278–279, 286–287 · JV p. 92</a:t>
            </a:r>
          </a:p>
        </p:txBody>
      </p:sp>
    </p:spTree>
    <p:extLst>
      <p:ext uri="{BB962C8B-B14F-4D97-AF65-F5344CB8AC3E}">
        <p14:creationId xmlns:p14="http://schemas.microsoft.com/office/powerpoint/2010/main" val="1200268504"/>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3" name="Google Shape;203;p10">
            <a:extLst xmlns:a="http://schemas.openxmlformats.org/drawingml/2006/main">
              <a:ext uri="{FF2B5EF4-FFF2-40B4-BE49-F238E27FC236}">
                <a16:creationId xmlns:a16="http://schemas.microsoft.com/office/drawing/2014/main" id="{50BD95DB-7461-404F-9694-5EFD773998C7}"/>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4" name="Google Shape;204;p10">
            <a:extLst xmlns:a="http://schemas.openxmlformats.org/drawingml/2006/main">
              <a:ext uri="{FF2B5EF4-FFF2-40B4-BE49-F238E27FC236}">
                <a16:creationId xmlns:a16="http://schemas.microsoft.com/office/drawing/2014/main" id="{25949858-FAD2-4102-8CC1-2CD9F3AD5608}"/>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5" name="Google Shape;205;p10">
            <a:extLst xmlns:a="http://schemas.openxmlformats.org/drawingml/2006/main">
              <a:ext uri="{FF2B5EF4-FFF2-40B4-BE49-F238E27FC236}">
                <a16:creationId xmlns:a16="http://schemas.microsoft.com/office/drawing/2014/main" id="{5A6F0C7B-FCDD-47B4-AA1A-839A972295F3}"/>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6" name="Google Shape;206;p10">
            <a:extLst xmlns:a="http://schemas.openxmlformats.org/drawingml/2006/main">
              <a:ext uri="{FF2B5EF4-FFF2-40B4-BE49-F238E27FC236}">
                <a16:creationId xmlns:a16="http://schemas.microsoft.com/office/drawing/2014/main" id="{080CFD91-ADB4-49D5-B6D7-B1C2C1B472D2}"/>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KD CH.1 · KARMA</a:t>
            </a:r>
          </a:p>
        </p:txBody>
      </p:sp>
      <p:sp>
        <p:nvSpPr>
          <p:cNvPr id="207" name="Google Shape;207;p10">
            <a:extLst xmlns:a="http://schemas.openxmlformats.org/drawingml/2006/main">
              <a:ext uri="{FF2B5EF4-FFF2-40B4-BE49-F238E27FC236}">
                <a16:creationId xmlns:a16="http://schemas.microsoft.com/office/drawing/2014/main" id="{748A9705-6995-4431-8E86-9E06E791CC19}"/>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The Structure of Karma</a:t>
            </a:r>
          </a:p>
        </p:txBody>
      </p:sp>
      <p:sp>
        <p:nvSpPr>
          <p:cNvPr id="208" name="Google Shape;208;p10">
            <a:extLst xmlns:a="http://schemas.openxmlformats.org/drawingml/2006/main">
              <a:ext uri="{FF2B5EF4-FFF2-40B4-BE49-F238E27FC236}">
                <a16:creationId xmlns:a16="http://schemas.microsoft.com/office/drawing/2014/main" id="{EE459EAA-DCBF-4BA8-9E9D-97F36686AB2E}"/>
              </a:ext>
            </a:extLst>
          </p:cNvPr>
          <p:cNvSpPr>
            <a:spLocks xmlns:a="http://schemas.openxmlformats.org/drawingml/2006/main" noGrp="1"/>
          </p:cNvSpPr>
          <p:nvPr/>
        </p:nvSpPr>
        <p:spPr>
          <a:xfrm xmlns:a="http://schemas.openxmlformats.org/drawingml/2006/main">
            <a:off x="640080" y="1207008"/>
            <a:ext cx="7955280" cy="7772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Every karma — every activity done with desire — carries five limbs: doer, cause, objective, result, and effect. Effect names the act’s reach or consequence; the text does not add a separate cosmic reward-and-punishment mechanism.</a:t>
            </a:r>
            <a:r>
              <a:rPr sz="1250" b="0" i="0" u="none" cap="none">
                <a:solidFill>
                  <a:srgbClr val="5A6377"/>
                </a:solidFill>
                <a:latin typeface="Calibri"/>
                <a:ea typeface="Calibri"/>
                <a:cs typeface="Calibri"/>
              </a:rPr>
              <a:t> Understanding alone changes nothing; it is the doing that yields the fruit. Desire, karma, and result must balance for the desire to be truly accomplished — book knowledge is only half the work.</a:t>
            </a:r>
          </a:p>
        </p:txBody>
      </p:sp>
      <p:sp>
        <p:nvSpPr>
          <p:cNvPr id="209" name="Google Shape;209;p10">
            <a:extLst xmlns:a="http://schemas.openxmlformats.org/drawingml/2006/main">
              <a:ext uri="{FF2B5EF4-FFF2-40B4-BE49-F238E27FC236}">
                <a16:creationId xmlns:a16="http://schemas.microsoft.com/office/drawing/2014/main" id="{7E9929EE-8C6F-4A21-A8B2-80C9BEC65628}"/>
              </a:ext>
            </a:extLst>
          </p:cNvPr>
          <p:cNvSpPr>
            <a:spLocks xmlns:a="http://schemas.openxmlformats.org/drawingml/2006/main" noGrp="1"/>
          </p:cNvSpPr>
          <p:nvPr/>
        </p:nvSpPr>
        <p:spPr>
          <a:xfrm xmlns:a="http://schemas.openxmlformats.org/drawingml/2006/main">
            <a:off x="1234440" y="2240280"/>
            <a:ext cx="1417320" cy="1417320"/>
          </a:xfrm>
          <a:prstGeom xmlns:a="http://schemas.openxmlformats.org/drawingml/2006/main" prst="ellipse">
            <a:avLst/>
          </a:prstGeom>
          <a:solidFill xmlns:a="http://schemas.openxmlformats.org/drawingml/2006/main">
            <a:srgbClr val="3B4A7A"/>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0" name="Google Shape;210;p10">
            <a:extLst xmlns:a="http://schemas.openxmlformats.org/drawingml/2006/main">
              <a:ext uri="{FF2B5EF4-FFF2-40B4-BE49-F238E27FC236}">
                <a16:creationId xmlns:a16="http://schemas.microsoft.com/office/drawing/2014/main" id="{015DE0BF-2D27-49C6-9EA5-8E1DA7E28A00}"/>
              </a:ext>
            </a:extLst>
          </p:cNvPr>
          <p:cNvSpPr>
            <a:spLocks xmlns:a="http://schemas.openxmlformats.org/drawingml/2006/main" noGrp="1"/>
          </p:cNvSpPr>
          <p:nvPr/>
        </p:nvSpPr>
        <p:spPr>
          <a:xfrm xmlns:a="http://schemas.openxmlformats.org/drawingml/2006/main">
            <a:off x="12344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Desire</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the aspiration</a:t>
            </a:r>
          </a:p>
        </p:txBody>
      </p:sp>
      <p:sp>
        <p:nvSpPr>
          <p:cNvPr id="211" name="Google Shape;211;p10">
            <a:extLst xmlns:a="http://schemas.openxmlformats.org/drawingml/2006/main">
              <a:ext uri="{FF2B5EF4-FFF2-40B4-BE49-F238E27FC236}">
                <a16:creationId xmlns:a16="http://schemas.microsoft.com/office/drawing/2014/main" id="{F51B92A9-5B50-4D01-A23E-8518308D7153}"/>
              </a:ext>
            </a:extLst>
          </p:cNvPr>
          <p:cNvSpPr>
            <a:spLocks xmlns:a="http://schemas.openxmlformats.org/drawingml/2006/main" noGrp="1"/>
          </p:cNvSpPr>
          <p:nvPr/>
        </p:nvSpPr>
        <p:spPr>
          <a:xfrm xmlns:a="http://schemas.openxmlformats.org/drawingml/2006/main">
            <a:off x="10058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goal: something wished for</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desire seeks fulfilment</a:t>
            </a:r>
          </a:p>
        </p:txBody>
      </p:sp>
      <p:sp>
        <p:nvSpPr>
          <p:cNvPr id="212" name="Google Shape;212;p10">
            <a:extLst xmlns:a="http://schemas.openxmlformats.org/drawingml/2006/main">
              <a:ext uri="{FF2B5EF4-FFF2-40B4-BE49-F238E27FC236}">
                <a16:creationId xmlns:a16="http://schemas.microsoft.com/office/drawing/2014/main" id="{E13987FF-8A1F-40BB-9F0A-CAD971708991}"/>
              </a:ext>
            </a:extLst>
          </p:cNvPr>
          <p:cNvSpPr>
            <a:spLocks xmlns:a="http://schemas.openxmlformats.org/drawingml/2006/main" noGrp="1"/>
          </p:cNvSpPr>
          <p:nvPr/>
        </p:nvSpPr>
        <p:spPr>
          <a:xfrm xmlns:a="http://schemas.openxmlformats.org/drawingml/2006/main">
            <a:off x="3063240" y="2240280"/>
            <a:ext cx="1417320" cy="1417320"/>
          </a:xfrm>
          <a:prstGeom xmlns:a="http://schemas.openxmlformats.org/drawingml/2006/main" prst="ellipse">
            <a:avLst/>
          </a:prstGeom>
          <a:solidFill xmlns:a="http://schemas.openxmlformats.org/drawingml/2006/main">
            <a:srgbClr val="3B4A7A"/>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3" name="Google Shape;213;p10">
            <a:extLst xmlns:a="http://schemas.openxmlformats.org/drawingml/2006/main">
              <a:ext uri="{FF2B5EF4-FFF2-40B4-BE49-F238E27FC236}">
                <a16:creationId xmlns:a16="http://schemas.microsoft.com/office/drawing/2014/main" id="{D4388347-360E-4857-BCF7-8C11C5E1054C}"/>
              </a:ext>
            </a:extLst>
          </p:cNvPr>
          <p:cNvSpPr>
            <a:spLocks xmlns:a="http://schemas.openxmlformats.org/drawingml/2006/main" noGrp="1"/>
          </p:cNvSpPr>
          <p:nvPr/>
        </p:nvSpPr>
        <p:spPr>
          <a:xfrm xmlns:a="http://schemas.openxmlformats.org/drawingml/2006/main">
            <a:off x="30632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Karma</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the doing</a:t>
            </a:r>
          </a:p>
        </p:txBody>
      </p:sp>
      <p:sp>
        <p:nvSpPr>
          <p:cNvPr id="214" name="Google Shape;214;p10">
            <a:extLst xmlns:a="http://schemas.openxmlformats.org/drawingml/2006/main">
              <a:ext uri="{FF2B5EF4-FFF2-40B4-BE49-F238E27FC236}">
                <a16:creationId xmlns:a16="http://schemas.microsoft.com/office/drawing/2014/main" id="{E7324516-F827-427D-AE34-F9DC05C6CDBD}"/>
              </a:ext>
            </a:extLst>
          </p:cNvPr>
          <p:cNvSpPr>
            <a:spLocks xmlns:a="http://schemas.openxmlformats.org/drawingml/2006/main" noGrp="1"/>
          </p:cNvSpPr>
          <p:nvPr/>
        </p:nvSpPr>
        <p:spPr>
          <a:xfrm xmlns:a="http://schemas.openxmlformats.org/drawingml/2006/main">
            <a:off x="28346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goal: activity in the world</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activity + aspiration = karma</a:t>
            </a:r>
          </a:p>
        </p:txBody>
      </p:sp>
      <p:sp>
        <p:nvSpPr>
          <p:cNvPr id="215" name="Google Shape;215;p10">
            <a:extLst xmlns:a="http://schemas.openxmlformats.org/drawingml/2006/main">
              <a:ext uri="{FF2B5EF4-FFF2-40B4-BE49-F238E27FC236}">
                <a16:creationId xmlns:a16="http://schemas.microsoft.com/office/drawing/2014/main" id="{3D4E993F-2500-4BC8-B404-72DAFA9D5275}"/>
              </a:ext>
            </a:extLst>
          </p:cNvPr>
          <p:cNvSpPr>
            <a:spLocks xmlns:a="http://schemas.openxmlformats.org/drawingml/2006/main" noGrp="1"/>
          </p:cNvSpPr>
          <p:nvPr/>
        </p:nvSpPr>
        <p:spPr>
          <a:xfrm xmlns:a="http://schemas.openxmlformats.org/drawingml/2006/main">
            <a:off x="4892040" y="2240280"/>
            <a:ext cx="1417320" cy="1417320"/>
          </a:xfrm>
          <a:prstGeom xmlns:a="http://schemas.openxmlformats.org/drawingml/2006/main" prst="ellipse">
            <a:avLst/>
          </a:prstGeom>
          <a:solidFill xmlns:a="http://schemas.openxmlformats.org/drawingml/2006/main">
            <a:srgbClr val="C9821E"/>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6" name="Google Shape;216;p10">
            <a:extLst xmlns:a="http://schemas.openxmlformats.org/drawingml/2006/main">
              <a:ext uri="{FF2B5EF4-FFF2-40B4-BE49-F238E27FC236}">
                <a16:creationId xmlns:a16="http://schemas.microsoft.com/office/drawing/2014/main" id="{64B022A1-A0F2-4B6A-A70C-8BF6646D268F}"/>
              </a:ext>
            </a:extLst>
          </p:cNvPr>
          <p:cNvSpPr>
            <a:spLocks xmlns:a="http://schemas.openxmlformats.org/drawingml/2006/main" noGrp="1"/>
          </p:cNvSpPr>
          <p:nvPr/>
        </p:nvSpPr>
        <p:spPr>
          <a:xfrm xmlns:a="http://schemas.openxmlformats.org/drawingml/2006/main">
            <a:off x="48920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Result</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the fruit</a:t>
            </a:r>
          </a:p>
        </p:txBody>
      </p:sp>
      <p:sp>
        <p:nvSpPr>
          <p:cNvPr id="217" name="Google Shape;217;p10">
            <a:extLst xmlns:a="http://schemas.openxmlformats.org/drawingml/2006/main">
              <a:ext uri="{FF2B5EF4-FFF2-40B4-BE49-F238E27FC236}">
                <a16:creationId xmlns:a16="http://schemas.microsoft.com/office/drawing/2014/main" id="{C89818CF-A4A5-4B97-801B-5B4F524E7DB4}"/>
              </a:ext>
            </a:extLst>
          </p:cNvPr>
          <p:cNvSpPr>
            <a:spLocks xmlns:a="http://schemas.openxmlformats.org/drawingml/2006/main" noGrp="1"/>
          </p:cNvSpPr>
          <p:nvPr/>
        </p:nvSpPr>
        <p:spPr>
          <a:xfrm xmlns:a="http://schemas.openxmlformats.org/drawingml/2006/main">
            <a:off x="46634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goal: satisfaction of desire</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balance of desire-karma-result</a:t>
            </a:r>
          </a:p>
        </p:txBody>
      </p:sp>
      <p:sp>
        <p:nvSpPr>
          <p:cNvPr id="218" name="Google Shape;218;p10">
            <a:extLst xmlns:a="http://schemas.openxmlformats.org/drawingml/2006/main">
              <a:ext uri="{FF2B5EF4-FFF2-40B4-BE49-F238E27FC236}">
                <a16:creationId xmlns:a16="http://schemas.microsoft.com/office/drawing/2014/main" id="{5A629A3F-BC91-4C5E-91C2-566270BD399B}"/>
              </a:ext>
            </a:extLst>
          </p:cNvPr>
          <p:cNvSpPr>
            <a:spLocks xmlns:a="http://schemas.openxmlformats.org/drawingml/2006/main" noGrp="1"/>
          </p:cNvSpPr>
          <p:nvPr/>
        </p:nvSpPr>
        <p:spPr>
          <a:xfrm xmlns:a="http://schemas.openxmlformats.org/drawingml/2006/main">
            <a:off x="6720840" y="2148840"/>
            <a:ext cx="1965960" cy="2240280"/>
          </a:xfrm>
          <a:prstGeom xmlns:a="http://schemas.openxmlformats.org/drawingml/2006/main" prst="roundRect">
            <a:avLst>
              <a:gd name="adj" fmla="val 465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9" name="Google Shape;219;p10">
            <a:extLst xmlns:a="http://schemas.openxmlformats.org/drawingml/2006/main">
              <a:ext uri="{FF2B5EF4-FFF2-40B4-BE49-F238E27FC236}">
                <a16:creationId xmlns:a16="http://schemas.microsoft.com/office/drawing/2014/main" id="{C56FD9F9-3707-4514-B36F-43C235803170}"/>
              </a:ext>
            </a:extLst>
          </p:cNvPr>
          <p:cNvSpPr>
            <a:spLocks xmlns:a="http://schemas.openxmlformats.org/drawingml/2006/main" noGrp="1"/>
          </p:cNvSpPr>
          <p:nvPr/>
        </p:nvSpPr>
        <p:spPr>
          <a:xfrm xmlns:a="http://schemas.openxmlformats.org/drawingml/2006/main">
            <a:off x="6903720" y="2331720"/>
            <a:ext cx="1627632" cy="19202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libri"/>
                <a:ea typeface="Calibri"/>
                <a:cs typeface="Calibri"/>
              </a:rPr>
              <a:t>Five limbs of karma</a:t>
            </a:r>
          </a:p>
          <a:p xmlns:a="http://schemas.openxmlformats.org/drawingml/2006/main">
            <a:pPr marL="0" indent="0" algn="l">
              <a:spcBef>
                <a:spcPts val="500"/>
              </a:spcBef>
              <a:spcAft>
                <a:spcPts val="0"/>
              </a:spcAft>
              <a:buNone/>
            </a:pPr>
            <a:r>
              <a:rPr sz="1000" b="1" i="0" u="none" cap="none">
                <a:solidFill>
                  <a:srgbClr val="1E2447"/>
                </a:solidFill>
                <a:latin typeface="Calibri"/>
                <a:ea typeface="Calibri"/>
                <a:cs typeface="Calibri"/>
              </a:rPr>
              <a:t>Doer</a:t>
            </a:r>
            <a:r>
              <a:rPr sz="1000" b="0" i="0" u="none" cap="none">
                <a:solidFill>
                  <a:srgbClr val="5A6377"/>
                </a:solidFill>
                <a:latin typeface="Calibri"/>
                <a:ea typeface="Calibri"/>
                <a:cs typeface="Calibri"/>
              </a:rPr>
              <a:t> — who acts</a:t>
            </a:r>
          </a:p>
          <a:p xmlns:a="http://schemas.openxmlformats.org/drawingml/2006/main">
            <a:pPr marL="0" indent="0" algn="l">
              <a:spcBef>
                <a:spcPts val="500"/>
              </a:spcBef>
              <a:spcAft>
                <a:spcPts val="0"/>
              </a:spcAft>
              <a:buNone/>
            </a:pPr>
            <a:r>
              <a:rPr sz="1000" b="1" i="0" u="none" cap="none">
                <a:solidFill>
                  <a:srgbClr val="1E2447"/>
                </a:solidFill>
                <a:latin typeface="Calibri"/>
                <a:ea typeface="Calibri"/>
                <a:cs typeface="Calibri"/>
              </a:rPr>
              <a:t>Cause</a:t>
            </a:r>
            <a:r>
              <a:rPr sz="1000" b="0" i="0" u="none" cap="none">
                <a:solidFill>
                  <a:srgbClr val="5A6377"/>
                </a:solidFill>
                <a:latin typeface="Calibri"/>
                <a:ea typeface="Calibri"/>
                <a:cs typeface="Calibri"/>
              </a:rPr>
              <a:t> — the need</a:t>
            </a:r>
          </a:p>
          <a:p xmlns:a="http://schemas.openxmlformats.org/drawingml/2006/main">
            <a:pPr marL="0" indent="0" algn="l">
              <a:spcBef>
                <a:spcPts val="500"/>
              </a:spcBef>
              <a:spcAft>
                <a:spcPts val="0"/>
              </a:spcAft>
              <a:buNone/>
            </a:pPr>
            <a:r>
              <a:rPr sz="1000" b="1" i="0" u="none" cap="none">
                <a:solidFill>
                  <a:srgbClr val="1E2447"/>
                </a:solidFill>
                <a:latin typeface="Calibri"/>
                <a:ea typeface="Calibri"/>
                <a:cs typeface="Calibri"/>
              </a:rPr>
              <a:t>Objective</a:t>
            </a:r>
            <a:r>
              <a:rPr sz="1000" b="0" i="0" u="none" cap="none">
                <a:solidFill>
                  <a:srgbClr val="5A6377"/>
                </a:solidFill>
                <a:latin typeface="Calibri"/>
                <a:ea typeface="Calibri"/>
                <a:cs typeface="Calibri"/>
              </a:rPr>
              <a:t> — the aim</a:t>
            </a:r>
          </a:p>
          <a:p xmlns:a="http://schemas.openxmlformats.org/drawingml/2006/main">
            <a:pPr marL="0" indent="0" algn="l">
              <a:spcBef>
                <a:spcPts val="500"/>
              </a:spcBef>
              <a:spcAft>
                <a:spcPts val="0"/>
              </a:spcAft>
              <a:buNone/>
            </a:pPr>
            <a:r>
              <a:rPr sz="1000" b="1" i="0" u="none" cap="none">
                <a:solidFill>
                  <a:srgbClr val="1E2447"/>
                </a:solidFill>
                <a:latin typeface="Calibri"/>
                <a:ea typeface="Calibri"/>
                <a:cs typeface="Calibri"/>
              </a:rPr>
              <a:t>Result</a:t>
            </a:r>
            <a:r>
              <a:rPr sz="1000" b="0" i="0" u="none" cap="none">
                <a:solidFill>
                  <a:srgbClr val="5A6377"/>
                </a:solidFill>
                <a:latin typeface="Calibri"/>
                <a:ea typeface="Calibri"/>
                <a:cs typeface="Calibri"/>
              </a:rPr>
              <a:t> — the fruit</a:t>
            </a:r>
          </a:p>
          <a:p xmlns:a="http://schemas.openxmlformats.org/drawingml/2006/main">
            <a:pPr marL="0" indent="0" algn="l">
              <a:spcBef>
                <a:spcPts val="500"/>
              </a:spcBef>
              <a:spcAft>
                <a:spcPts val="0"/>
              </a:spcAft>
              <a:buNone/>
            </a:pPr>
            <a:r>
              <a:rPr sz="1000" b="1" i="0" u="none" cap="none">
                <a:solidFill>
                  <a:srgbClr val="1E2447"/>
                </a:solidFill>
                <a:latin typeface="Calibri"/>
                <a:ea typeface="Calibri"/>
                <a:cs typeface="Calibri"/>
              </a:rPr>
              <a:t>Effect</a:t>
            </a:r>
            <a:r>
              <a:rPr sz="1000" b="0" i="0" u="none" cap="none">
                <a:solidFill>
                  <a:srgbClr val="5A6377"/>
                </a:solidFill>
                <a:latin typeface="Calibri"/>
                <a:ea typeface="Calibri"/>
                <a:cs typeface="Calibri"/>
              </a:rPr>
              <a:t> — its reach</a:t>
            </a:r>
          </a:p>
        </p:txBody>
      </p:sp>
      <p:sp>
        <p:nvSpPr>
          <p:cNvPr id="220" name="Google Shape;220;p10">
            <a:extLst xmlns:a="http://schemas.openxmlformats.org/drawingml/2006/main">
              <a:ext uri="{FF2B5EF4-FFF2-40B4-BE49-F238E27FC236}">
                <a16:creationId xmlns:a16="http://schemas.microsoft.com/office/drawing/2014/main" id="{CF9675E8-13F6-430E-81CA-CC0F4DDDDF8D}"/>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“Activity together with aspiration is karma itself … it is the balance of desire, karma, and result that is the accomplishment of the desire.” — KD Ch. 1, p. 1–2</a:t>
            </a:r>
          </a:p>
        </p:txBody>
      </p:sp>
    </p:spTree>
    <p:extLst>
      <p:ext uri="{BB962C8B-B14F-4D97-AF65-F5344CB8AC3E}">
        <p14:creationId xmlns:p14="http://schemas.microsoft.com/office/powerpoint/2010/main" val="293460306"/>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8" name="Google Shape;308;p14">
            <a:extLst xmlns:a="http://schemas.openxmlformats.org/drawingml/2006/main">
              <a:ext uri="{FF2B5EF4-FFF2-40B4-BE49-F238E27FC236}">
                <a16:creationId xmlns:a16="http://schemas.microsoft.com/office/drawing/2014/main" id="{72EA75BC-E9AE-4128-84B5-F01184800066}"/>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09" name="Google Shape;309;p14">
            <a:extLst xmlns:a="http://schemas.openxmlformats.org/drawingml/2006/main">
              <a:ext uri="{FF2B5EF4-FFF2-40B4-BE49-F238E27FC236}">
                <a16:creationId xmlns:a16="http://schemas.microsoft.com/office/drawing/2014/main" id="{C16F35D3-0C5D-48EE-B49C-3C5D0B07F8EA}"/>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10" name="Google Shape;310;p14">
            <a:extLst xmlns:a="http://schemas.openxmlformats.org/drawingml/2006/main">
              <a:ext uri="{FF2B5EF4-FFF2-40B4-BE49-F238E27FC236}">
                <a16:creationId xmlns:a16="http://schemas.microsoft.com/office/drawing/2014/main" id="{40E8D9C2-1FFC-4B26-A937-06F35C7F720B}"/>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11" name="Google Shape;311;p14">
            <a:extLst xmlns:a="http://schemas.openxmlformats.org/drawingml/2006/main">
              <a:ext uri="{FF2B5EF4-FFF2-40B4-BE49-F238E27FC236}">
                <a16:creationId xmlns:a16="http://schemas.microsoft.com/office/drawing/2014/main" id="{E9D23E7E-27AF-4FE8-8FA6-5A24921827FA}"/>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§1.8</a:t>
            </a:r>
            <a:r>
              <a:rPr sz="1050" b="1" i="0" u="none" cap="none">
                <a:solidFill>
                  <a:srgbClr val="9A6414"/>
                </a:solidFill>
                <a:latin typeface="Calibri"/>
                <a:ea typeface="Calibri"/>
                <a:cs typeface="Calibri"/>
              </a:rPr>
              <a:t> · FOUR HARMONIES WITHIN JEEVAN</a:t>
            </a:r>
          </a:p>
        </p:txBody>
      </p:sp>
      <p:sp>
        <p:nvSpPr>
          <p:cNvPr id="312" name="Google Shape;312;p14">
            <a:extLst xmlns:a="http://schemas.openxmlformats.org/drawingml/2006/main">
              <a:ext uri="{FF2B5EF4-FFF2-40B4-BE49-F238E27FC236}">
                <a16:creationId xmlns:a16="http://schemas.microsoft.com/office/drawing/2014/main" id="{0F6C2FCE-72A2-492A-B823-190D8D785DAA}"/>
              </a:ext>
            </a:extLst>
          </p:cNvPr>
          <p:cNvSpPr>
            <a:spLocks xmlns:a="http://schemas.openxmlformats.org/drawingml/2006/main" noGrp="1"/>
          </p:cNvSpPr>
          <p:nvPr/>
        </p:nvSpPr>
        <p:spPr>
          <a:xfrm xmlns:a="http://schemas.openxmlformats.org/drawingml/2006/main">
            <a:off x="960120" y="514350"/>
            <a:ext cx="7726680" cy="49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Four Harmonies Within Jeevan</a:t>
            </a:r>
          </a:p>
        </p:txBody>
      </p:sp>
      <p:sp>
        <p:nvSpPr>
          <p:cNvPr id="313" name="Google Shape;313;p14">
            <a:extLst xmlns:a="http://schemas.openxmlformats.org/drawingml/2006/main">
              <a:ext uri="{FF2B5EF4-FFF2-40B4-BE49-F238E27FC236}">
                <a16:creationId xmlns:a16="http://schemas.microsoft.com/office/drawing/2014/main" id="{80D45A9D-9C11-4BF0-A185-ED537EA7E961}"/>
              </a:ext>
            </a:extLst>
          </p:cNvPr>
          <p:cNvSpPr>
            <a:spLocks xmlns:a="http://schemas.openxmlformats.org/drawingml/2006/main" noGrp="1"/>
          </p:cNvSpPr>
          <p:nvPr/>
        </p:nvSpPr>
        <p:spPr>
          <a:xfrm xmlns:a="http://schemas.openxmlformats.org/drawingml/2006/main">
            <a:off x="640080" y="1371600"/>
            <a:ext cx="1874520" cy="1371600"/>
          </a:xfrm>
          <a:prstGeom xmlns:a="http://schemas.openxmlformats.org/drawingml/2006/main" prst="roundRect">
            <a:avLst>
              <a:gd name="adj" fmla="val 666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14" name="Google Shape;314;p14">
            <a:extLst xmlns:a="http://schemas.openxmlformats.org/drawingml/2006/main">
              <a:ext uri="{FF2B5EF4-FFF2-40B4-BE49-F238E27FC236}">
                <a16:creationId xmlns:a16="http://schemas.microsoft.com/office/drawing/2014/main" id="{8678B3DF-58B5-47F3-A97B-ECB7B2AEDAF3}"/>
              </a:ext>
            </a:extLst>
          </p:cNvPr>
          <p:cNvSpPr>
            <a:spLocks xmlns:a="http://schemas.openxmlformats.org/drawingml/2006/main" noGrp="1"/>
          </p:cNvSpPr>
          <p:nvPr/>
        </p:nvSpPr>
        <p:spPr>
          <a:xfrm xmlns:a="http://schemas.openxmlformats.org/drawingml/2006/main">
            <a:off x="822960" y="1536192"/>
            <a:ext cx="329184" cy="329184"/>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15" name="Google Shape;315;p14">
            <a:extLst xmlns:a="http://schemas.openxmlformats.org/drawingml/2006/main">
              <a:ext uri="{FF2B5EF4-FFF2-40B4-BE49-F238E27FC236}">
                <a16:creationId xmlns:a16="http://schemas.microsoft.com/office/drawing/2014/main" id="{3FDA5AD1-D159-453D-9654-4378A29570F1}"/>
              </a:ext>
            </a:extLst>
          </p:cNvPr>
          <p:cNvSpPr>
            <a:spLocks xmlns:a="http://schemas.openxmlformats.org/drawingml/2006/main" noGrp="1"/>
          </p:cNvSpPr>
          <p:nvPr/>
        </p:nvSpPr>
        <p:spPr>
          <a:xfrm xmlns:a="http://schemas.openxmlformats.org/drawingml/2006/main">
            <a:off x="888797" y="1602029"/>
            <a:ext cx="197510" cy="19751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16" name="Google Shape;316;p14">
            <a:extLst xmlns:a="http://schemas.openxmlformats.org/drawingml/2006/main">
              <a:ext uri="{FF2B5EF4-FFF2-40B4-BE49-F238E27FC236}">
                <a16:creationId xmlns:a16="http://schemas.microsoft.com/office/drawing/2014/main" id="{75083F2E-CF5C-4F62-974A-978A75714E4D}"/>
              </a:ext>
            </a:extLst>
          </p:cNvPr>
          <p:cNvSpPr>
            <a:spLocks xmlns:a="http://schemas.openxmlformats.org/drawingml/2006/main" noGrp="1"/>
          </p:cNvSpPr>
          <p:nvPr/>
        </p:nvSpPr>
        <p:spPr>
          <a:xfrm xmlns:a="http://schemas.openxmlformats.org/drawingml/2006/main">
            <a:off x="944758" y="1657990"/>
            <a:ext cx="85588" cy="85588"/>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17" name="Google Shape;317;p14">
            <a:extLst xmlns:a="http://schemas.openxmlformats.org/drawingml/2006/main">
              <a:ext uri="{FF2B5EF4-FFF2-40B4-BE49-F238E27FC236}">
                <a16:creationId xmlns:a16="http://schemas.microsoft.com/office/drawing/2014/main" id="{FCC81FE8-0B43-4725-BB21-8B4B1A60D5E0}"/>
              </a:ext>
            </a:extLst>
          </p:cNvPr>
          <p:cNvSpPr>
            <a:spLocks xmlns:a="http://schemas.openxmlformats.org/drawingml/2006/main" noGrp="1"/>
          </p:cNvSpPr>
          <p:nvPr/>
        </p:nvSpPr>
        <p:spPr>
          <a:xfrm xmlns:a="http://schemas.openxmlformats.org/drawingml/2006/main">
            <a:off x="804672" y="1938528"/>
            <a:ext cx="1572768"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mbria"/>
                <a:ea typeface="Cambria"/>
                <a:cs typeface="Cambria"/>
              </a:rPr>
              <a:t>Happiness</a:t>
            </a:r>
          </a:p>
        </p:txBody>
      </p:sp>
      <p:sp>
        <p:nvSpPr>
          <p:cNvPr id="318" name="Google Shape;318;p14">
            <a:extLst xmlns:a="http://schemas.openxmlformats.org/drawingml/2006/main">
              <a:ext uri="{FF2B5EF4-FFF2-40B4-BE49-F238E27FC236}">
                <a16:creationId xmlns:a16="http://schemas.microsoft.com/office/drawing/2014/main" id="{D3238993-65D7-492E-ADF1-2258EA825CDE}"/>
              </a:ext>
            </a:extLst>
          </p:cNvPr>
          <p:cNvSpPr>
            <a:spLocks xmlns:a="http://schemas.openxmlformats.org/drawingml/2006/main" noGrp="1"/>
          </p:cNvSpPr>
          <p:nvPr/>
        </p:nvSpPr>
        <p:spPr>
          <a:xfrm xmlns:a="http://schemas.openxmlformats.org/drawingml/2006/main">
            <a:off x="804672" y="2377440"/>
            <a:ext cx="1572768" cy="32918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80" b="0" i="1" u="none" cap="none">
                <a:solidFill>
                  <a:srgbClr val="5A6377"/>
                </a:solidFill>
                <a:latin typeface="Calibri"/>
                <a:ea typeface="Calibri"/>
                <a:cs typeface="Calibri"/>
              </a:rPr>
              <a:t>harmony of mun–vritti</a:t>
            </a:r>
          </a:p>
        </p:txBody>
      </p:sp>
      <p:sp>
        <p:nvSpPr>
          <p:cNvPr id="319" name="Google Shape;319;p14">
            <a:extLst xmlns:a="http://schemas.openxmlformats.org/drawingml/2006/main">
              <a:ext uri="{FF2B5EF4-FFF2-40B4-BE49-F238E27FC236}">
                <a16:creationId xmlns:a16="http://schemas.microsoft.com/office/drawing/2014/main" id="{60F39B84-EE19-45D0-8768-9382241F42AA}"/>
              </a:ext>
            </a:extLst>
          </p:cNvPr>
          <p:cNvSpPr>
            <a:spLocks xmlns:a="http://schemas.openxmlformats.org/drawingml/2006/main" noGrp="1"/>
          </p:cNvSpPr>
          <p:nvPr/>
        </p:nvSpPr>
        <p:spPr>
          <a:xfrm xmlns:a="http://schemas.openxmlformats.org/drawingml/2006/main">
            <a:off x="2633472" y="1371600"/>
            <a:ext cx="1874520" cy="1371600"/>
          </a:xfrm>
          <a:prstGeom xmlns:a="http://schemas.openxmlformats.org/drawingml/2006/main" prst="roundRect">
            <a:avLst>
              <a:gd name="adj" fmla="val 666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20" name="Google Shape;320;p14">
            <a:extLst xmlns:a="http://schemas.openxmlformats.org/drawingml/2006/main">
              <a:ext uri="{FF2B5EF4-FFF2-40B4-BE49-F238E27FC236}">
                <a16:creationId xmlns:a16="http://schemas.microsoft.com/office/drawing/2014/main" id="{7FA0ED02-543E-4A13-95D2-6067839C7F83}"/>
              </a:ext>
            </a:extLst>
          </p:cNvPr>
          <p:cNvSpPr>
            <a:spLocks xmlns:a="http://schemas.openxmlformats.org/drawingml/2006/main" noGrp="1"/>
          </p:cNvSpPr>
          <p:nvPr/>
        </p:nvSpPr>
        <p:spPr>
          <a:xfrm xmlns:a="http://schemas.openxmlformats.org/drawingml/2006/main">
            <a:off x="2816352" y="1536192"/>
            <a:ext cx="329184" cy="329184"/>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21" name="Google Shape;321;p14">
            <a:extLst xmlns:a="http://schemas.openxmlformats.org/drawingml/2006/main">
              <a:ext uri="{FF2B5EF4-FFF2-40B4-BE49-F238E27FC236}">
                <a16:creationId xmlns:a16="http://schemas.microsoft.com/office/drawing/2014/main" id="{05984975-9EF2-4B27-BC18-E34E61BF99CE}"/>
              </a:ext>
            </a:extLst>
          </p:cNvPr>
          <p:cNvSpPr>
            <a:spLocks xmlns:a="http://schemas.openxmlformats.org/drawingml/2006/main" noGrp="1"/>
          </p:cNvSpPr>
          <p:nvPr/>
        </p:nvSpPr>
        <p:spPr>
          <a:xfrm xmlns:a="http://schemas.openxmlformats.org/drawingml/2006/main">
            <a:off x="2882189" y="1602029"/>
            <a:ext cx="197510" cy="19751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22" name="Google Shape;322;p14">
            <a:extLst xmlns:a="http://schemas.openxmlformats.org/drawingml/2006/main">
              <a:ext uri="{FF2B5EF4-FFF2-40B4-BE49-F238E27FC236}">
                <a16:creationId xmlns:a16="http://schemas.microsoft.com/office/drawing/2014/main" id="{BF5CD7AA-6685-41E6-97B6-F613B103ED15}"/>
              </a:ext>
            </a:extLst>
          </p:cNvPr>
          <p:cNvSpPr>
            <a:spLocks xmlns:a="http://schemas.openxmlformats.org/drawingml/2006/main" noGrp="1"/>
          </p:cNvSpPr>
          <p:nvPr/>
        </p:nvSpPr>
        <p:spPr>
          <a:xfrm xmlns:a="http://schemas.openxmlformats.org/drawingml/2006/main">
            <a:off x="2938150" y="1657990"/>
            <a:ext cx="85588" cy="85588"/>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23" name="Google Shape;323;p14">
            <a:extLst xmlns:a="http://schemas.openxmlformats.org/drawingml/2006/main">
              <a:ext uri="{FF2B5EF4-FFF2-40B4-BE49-F238E27FC236}">
                <a16:creationId xmlns:a16="http://schemas.microsoft.com/office/drawing/2014/main" id="{B602BF87-099F-4048-8393-606BC4714DEC}"/>
              </a:ext>
            </a:extLst>
          </p:cNvPr>
          <p:cNvSpPr>
            <a:spLocks xmlns:a="http://schemas.openxmlformats.org/drawingml/2006/main" noGrp="1"/>
          </p:cNvSpPr>
          <p:nvPr/>
        </p:nvSpPr>
        <p:spPr>
          <a:xfrm xmlns:a="http://schemas.openxmlformats.org/drawingml/2006/main">
            <a:off x="2798064" y="1938528"/>
            <a:ext cx="1572768"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mbria"/>
                <a:ea typeface="Cambria"/>
                <a:cs typeface="Cambria"/>
              </a:rPr>
              <a:t>Peace</a:t>
            </a:r>
          </a:p>
        </p:txBody>
      </p:sp>
      <p:sp>
        <p:nvSpPr>
          <p:cNvPr id="324" name="Google Shape;324;p14">
            <a:extLst xmlns:a="http://schemas.openxmlformats.org/drawingml/2006/main">
              <a:ext uri="{FF2B5EF4-FFF2-40B4-BE49-F238E27FC236}">
                <a16:creationId xmlns:a16="http://schemas.microsoft.com/office/drawing/2014/main" id="{C57EE985-B72A-4CAD-8E04-D8480AA5134A}"/>
              </a:ext>
            </a:extLst>
          </p:cNvPr>
          <p:cNvSpPr>
            <a:spLocks xmlns:a="http://schemas.openxmlformats.org/drawingml/2006/main" noGrp="1"/>
          </p:cNvSpPr>
          <p:nvPr/>
        </p:nvSpPr>
        <p:spPr>
          <a:xfrm xmlns:a="http://schemas.openxmlformats.org/drawingml/2006/main">
            <a:off x="2798064" y="2377440"/>
            <a:ext cx="1572768" cy="32918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80" b="0" i="1" u="none" cap="none">
                <a:solidFill>
                  <a:srgbClr val="5A6377"/>
                </a:solidFill>
                <a:latin typeface="Calibri"/>
                <a:ea typeface="Calibri"/>
                <a:cs typeface="Calibri"/>
              </a:rPr>
              <a:t>harmony of vritti–chitta</a:t>
            </a:r>
          </a:p>
        </p:txBody>
      </p:sp>
      <p:sp>
        <p:nvSpPr>
          <p:cNvPr id="325" name="Google Shape;325;p14">
            <a:extLst xmlns:a="http://schemas.openxmlformats.org/drawingml/2006/main">
              <a:ext uri="{FF2B5EF4-FFF2-40B4-BE49-F238E27FC236}">
                <a16:creationId xmlns:a16="http://schemas.microsoft.com/office/drawing/2014/main" id="{0B376BFC-7CD1-4336-8594-75267473214F}"/>
              </a:ext>
            </a:extLst>
          </p:cNvPr>
          <p:cNvSpPr>
            <a:spLocks xmlns:a="http://schemas.openxmlformats.org/drawingml/2006/main" noGrp="1"/>
          </p:cNvSpPr>
          <p:nvPr/>
        </p:nvSpPr>
        <p:spPr>
          <a:xfrm xmlns:a="http://schemas.openxmlformats.org/drawingml/2006/main">
            <a:off x="4626864" y="1371600"/>
            <a:ext cx="1874520" cy="1371600"/>
          </a:xfrm>
          <a:prstGeom xmlns:a="http://schemas.openxmlformats.org/drawingml/2006/main" prst="roundRect">
            <a:avLst>
              <a:gd name="adj" fmla="val 666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26" name="Google Shape;326;p14">
            <a:extLst xmlns:a="http://schemas.openxmlformats.org/drawingml/2006/main">
              <a:ext uri="{FF2B5EF4-FFF2-40B4-BE49-F238E27FC236}">
                <a16:creationId xmlns:a16="http://schemas.microsoft.com/office/drawing/2014/main" id="{5D87A2CB-DCEF-43CE-896E-6381F18C8FAE}"/>
              </a:ext>
            </a:extLst>
          </p:cNvPr>
          <p:cNvSpPr>
            <a:spLocks xmlns:a="http://schemas.openxmlformats.org/drawingml/2006/main" noGrp="1"/>
          </p:cNvSpPr>
          <p:nvPr/>
        </p:nvSpPr>
        <p:spPr>
          <a:xfrm xmlns:a="http://schemas.openxmlformats.org/drawingml/2006/main">
            <a:off x="4809744" y="1536192"/>
            <a:ext cx="329184" cy="329184"/>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27" name="Google Shape;327;p14">
            <a:extLst xmlns:a="http://schemas.openxmlformats.org/drawingml/2006/main">
              <a:ext uri="{FF2B5EF4-FFF2-40B4-BE49-F238E27FC236}">
                <a16:creationId xmlns:a16="http://schemas.microsoft.com/office/drawing/2014/main" id="{B089A3C9-77C2-4F30-A684-280DB0E7EF35}"/>
              </a:ext>
            </a:extLst>
          </p:cNvPr>
          <p:cNvSpPr>
            <a:spLocks xmlns:a="http://schemas.openxmlformats.org/drawingml/2006/main" noGrp="1"/>
          </p:cNvSpPr>
          <p:nvPr/>
        </p:nvSpPr>
        <p:spPr>
          <a:xfrm xmlns:a="http://schemas.openxmlformats.org/drawingml/2006/main">
            <a:off x="4875581" y="1602029"/>
            <a:ext cx="197510" cy="19751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28" name="Google Shape;328;p14">
            <a:extLst xmlns:a="http://schemas.openxmlformats.org/drawingml/2006/main">
              <a:ext uri="{FF2B5EF4-FFF2-40B4-BE49-F238E27FC236}">
                <a16:creationId xmlns:a16="http://schemas.microsoft.com/office/drawing/2014/main" id="{DBF1ECF8-04B7-4659-90D6-4B7D43CFB0FF}"/>
              </a:ext>
            </a:extLst>
          </p:cNvPr>
          <p:cNvSpPr>
            <a:spLocks xmlns:a="http://schemas.openxmlformats.org/drawingml/2006/main" noGrp="1"/>
          </p:cNvSpPr>
          <p:nvPr/>
        </p:nvSpPr>
        <p:spPr>
          <a:xfrm xmlns:a="http://schemas.openxmlformats.org/drawingml/2006/main">
            <a:off x="4931542" y="1657990"/>
            <a:ext cx="85588" cy="85588"/>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29" name="Google Shape;329;p14">
            <a:extLst xmlns:a="http://schemas.openxmlformats.org/drawingml/2006/main">
              <a:ext uri="{FF2B5EF4-FFF2-40B4-BE49-F238E27FC236}">
                <a16:creationId xmlns:a16="http://schemas.microsoft.com/office/drawing/2014/main" id="{0133C274-E784-4152-8DBC-45323A74CBEE}"/>
              </a:ext>
            </a:extLst>
          </p:cNvPr>
          <p:cNvSpPr>
            <a:spLocks xmlns:a="http://schemas.openxmlformats.org/drawingml/2006/main" noGrp="1"/>
          </p:cNvSpPr>
          <p:nvPr/>
        </p:nvSpPr>
        <p:spPr>
          <a:xfrm xmlns:a="http://schemas.openxmlformats.org/drawingml/2006/main">
            <a:off x="4791456" y="1938528"/>
            <a:ext cx="1572768"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mbria"/>
                <a:ea typeface="Cambria"/>
                <a:cs typeface="Cambria"/>
              </a:rPr>
              <a:t>Contentment</a:t>
            </a:r>
          </a:p>
        </p:txBody>
      </p:sp>
      <p:sp>
        <p:nvSpPr>
          <p:cNvPr id="330" name="Google Shape;330;p14">
            <a:extLst xmlns:a="http://schemas.openxmlformats.org/drawingml/2006/main">
              <a:ext uri="{FF2B5EF4-FFF2-40B4-BE49-F238E27FC236}">
                <a16:creationId xmlns:a16="http://schemas.microsoft.com/office/drawing/2014/main" id="{AAC31C75-25BF-46A1-A126-DCDE6C144CF6}"/>
              </a:ext>
            </a:extLst>
          </p:cNvPr>
          <p:cNvSpPr>
            <a:spLocks xmlns:a="http://schemas.openxmlformats.org/drawingml/2006/main" noGrp="1"/>
          </p:cNvSpPr>
          <p:nvPr/>
        </p:nvSpPr>
        <p:spPr>
          <a:xfrm xmlns:a="http://schemas.openxmlformats.org/drawingml/2006/main">
            <a:off x="4791456" y="2377440"/>
            <a:ext cx="1572768" cy="32918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80" b="0" i="1" u="none" cap="none">
                <a:solidFill>
                  <a:srgbClr val="5A6377"/>
                </a:solidFill>
                <a:latin typeface="Calibri"/>
                <a:ea typeface="Calibri"/>
                <a:cs typeface="Calibri"/>
              </a:rPr>
              <a:t>harmony of chitta–buddhi</a:t>
            </a:r>
          </a:p>
        </p:txBody>
      </p:sp>
      <p:sp>
        <p:nvSpPr>
          <p:cNvPr id="331" name="Google Shape;331;p14">
            <a:extLst xmlns:a="http://schemas.openxmlformats.org/drawingml/2006/main">
              <a:ext uri="{FF2B5EF4-FFF2-40B4-BE49-F238E27FC236}">
                <a16:creationId xmlns:a16="http://schemas.microsoft.com/office/drawing/2014/main" id="{AD588ADC-14AB-4D6E-BE51-B47D1FA91313}"/>
              </a:ext>
            </a:extLst>
          </p:cNvPr>
          <p:cNvSpPr>
            <a:spLocks xmlns:a="http://schemas.openxmlformats.org/drawingml/2006/main" noGrp="1"/>
          </p:cNvSpPr>
          <p:nvPr/>
        </p:nvSpPr>
        <p:spPr>
          <a:xfrm xmlns:a="http://schemas.openxmlformats.org/drawingml/2006/main">
            <a:off x="6620256" y="1371600"/>
            <a:ext cx="1874520" cy="1371600"/>
          </a:xfrm>
          <a:prstGeom xmlns:a="http://schemas.openxmlformats.org/drawingml/2006/main" prst="roundRect">
            <a:avLst>
              <a:gd name="adj" fmla="val 6667"/>
            </a:avLst>
          </a:prstGeom>
          <a:solidFill xmlns:a="http://schemas.openxmlformats.org/drawingml/2006/main">
            <a:srgbClr val="FAF1D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32" name="Google Shape;332;p14">
            <a:extLst xmlns:a="http://schemas.openxmlformats.org/drawingml/2006/main">
              <a:ext uri="{FF2B5EF4-FFF2-40B4-BE49-F238E27FC236}">
                <a16:creationId xmlns:a16="http://schemas.microsoft.com/office/drawing/2014/main" id="{64E5DA13-AAB6-40CB-9572-18B5D063B210}"/>
              </a:ext>
            </a:extLst>
          </p:cNvPr>
          <p:cNvSpPr>
            <a:spLocks xmlns:a="http://schemas.openxmlformats.org/drawingml/2006/main" noGrp="1"/>
          </p:cNvSpPr>
          <p:nvPr/>
        </p:nvSpPr>
        <p:spPr>
          <a:xfrm xmlns:a="http://schemas.openxmlformats.org/drawingml/2006/main">
            <a:off x="6803136" y="1536192"/>
            <a:ext cx="329184" cy="329184"/>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33" name="Google Shape;333;p14">
            <a:extLst xmlns:a="http://schemas.openxmlformats.org/drawingml/2006/main">
              <a:ext uri="{FF2B5EF4-FFF2-40B4-BE49-F238E27FC236}">
                <a16:creationId xmlns:a16="http://schemas.microsoft.com/office/drawing/2014/main" id="{370FE943-5D79-4AE6-8839-A869C8C2CFB5}"/>
              </a:ext>
            </a:extLst>
          </p:cNvPr>
          <p:cNvSpPr>
            <a:spLocks xmlns:a="http://schemas.openxmlformats.org/drawingml/2006/main" noGrp="1"/>
          </p:cNvSpPr>
          <p:nvPr/>
        </p:nvSpPr>
        <p:spPr>
          <a:xfrm xmlns:a="http://schemas.openxmlformats.org/drawingml/2006/main">
            <a:off x="6868973" y="1602029"/>
            <a:ext cx="197510" cy="19751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34" name="Google Shape;334;p14">
            <a:extLst xmlns:a="http://schemas.openxmlformats.org/drawingml/2006/main">
              <a:ext uri="{FF2B5EF4-FFF2-40B4-BE49-F238E27FC236}">
                <a16:creationId xmlns:a16="http://schemas.microsoft.com/office/drawing/2014/main" id="{0D0B3D8B-4050-4E23-960D-B46244A46C0C}"/>
              </a:ext>
            </a:extLst>
          </p:cNvPr>
          <p:cNvSpPr>
            <a:spLocks xmlns:a="http://schemas.openxmlformats.org/drawingml/2006/main" noGrp="1"/>
          </p:cNvSpPr>
          <p:nvPr/>
        </p:nvSpPr>
        <p:spPr>
          <a:xfrm xmlns:a="http://schemas.openxmlformats.org/drawingml/2006/main">
            <a:off x="6924934" y="1657990"/>
            <a:ext cx="85588" cy="8558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35" name="Google Shape;335;p14">
            <a:extLst xmlns:a="http://schemas.openxmlformats.org/drawingml/2006/main">
              <a:ext uri="{FF2B5EF4-FFF2-40B4-BE49-F238E27FC236}">
                <a16:creationId xmlns:a16="http://schemas.microsoft.com/office/drawing/2014/main" id="{2152B3A1-74C9-497A-BEF6-73BDD595E11F}"/>
              </a:ext>
            </a:extLst>
          </p:cNvPr>
          <p:cNvSpPr>
            <a:spLocks xmlns:a="http://schemas.openxmlformats.org/drawingml/2006/main" noGrp="1"/>
          </p:cNvSpPr>
          <p:nvPr/>
        </p:nvSpPr>
        <p:spPr>
          <a:xfrm xmlns:a="http://schemas.openxmlformats.org/drawingml/2006/main">
            <a:off x="6784848" y="1938528"/>
            <a:ext cx="1572768"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mbria"/>
                <a:ea typeface="Cambria"/>
                <a:cs typeface="Cambria"/>
              </a:rPr>
              <a:t>Bliss</a:t>
            </a:r>
          </a:p>
        </p:txBody>
      </p:sp>
      <p:sp>
        <p:nvSpPr>
          <p:cNvPr id="336" name="Google Shape;336;p14">
            <a:extLst xmlns:a="http://schemas.openxmlformats.org/drawingml/2006/main">
              <a:ext uri="{FF2B5EF4-FFF2-40B4-BE49-F238E27FC236}">
                <a16:creationId xmlns:a16="http://schemas.microsoft.com/office/drawing/2014/main" id="{959F3493-EF9B-4605-8AB3-D87384A62E0E}"/>
              </a:ext>
            </a:extLst>
          </p:cNvPr>
          <p:cNvSpPr>
            <a:spLocks xmlns:a="http://schemas.openxmlformats.org/drawingml/2006/main" noGrp="1"/>
          </p:cNvSpPr>
          <p:nvPr/>
        </p:nvSpPr>
        <p:spPr>
          <a:xfrm xmlns:a="http://schemas.openxmlformats.org/drawingml/2006/main">
            <a:off x="6784848" y="2377440"/>
            <a:ext cx="1572768" cy="32918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80" b="0" i="1" u="none" cap="none">
                <a:solidFill>
                  <a:srgbClr val="5A6377"/>
                </a:solidFill>
                <a:latin typeface="Calibri"/>
                <a:ea typeface="Calibri"/>
                <a:cs typeface="Calibri"/>
              </a:rPr>
              <a:t>harmony of buddhi–atma</a:t>
            </a:r>
          </a:p>
        </p:txBody>
      </p:sp>
      <p:sp>
        <p:nvSpPr>
          <p:cNvPr id="337" name="Google Shape;337;p14">
            <a:extLst xmlns:a="http://schemas.openxmlformats.org/drawingml/2006/main">
              <a:ext uri="{FF2B5EF4-FFF2-40B4-BE49-F238E27FC236}">
                <a16:creationId xmlns:a16="http://schemas.microsoft.com/office/drawing/2014/main" id="{81146B51-B30E-430E-83DE-2585F3FC497B}"/>
              </a:ext>
            </a:extLst>
          </p:cNvPr>
          <p:cNvSpPr>
            <a:spLocks xmlns:a="http://schemas.openxmlformats.org/drawingml/2006/main" noGrp="1"/>
          </p:cNvSpPr>
          <p:nvPr/>
        </p:nvSpPr>
        <p:spPr>
          <a:xfrm xmlns:a="http://schemas.openxmlformats.org/drawingml/2006/main">
            <a:off x="640080" y="3017520"/>
            <a:ext cx="795528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libri"/>
                <a:ea typeface="Calibri"/>
                <a:cs typeface="Calibri"/>
              </a:rPr>
              <a:t>Happiness, peace, contentment, and bliss name harmonies within jeevan, not passing moods and not a fourth sequence after T1–T3. Evidenced outwardly, they support resolution, prosperity, fearlessness, and coexistence in human living.</a:t>
            </a:r>
          </a:p>
        </p:txBody>
      </p:sp>
      <p:sp>
        <p:nvSpPr>
          <p:cNvPr id="338" name="Google Shape;338;p14">
            <a:extLst xmlns:a="http://schemas.openxmlformats.org/drawingml/2006/main">
              <a:ext uri="{FF2B5EF4-FFF2-40B4-BE49-F238E27FC236}">
                <a16:creationId xmlns:a16="http://schemas.microsoft.com/office/drawing/2014/main" id="{473C8ADC-C7E0-4CFA-AE3E-B130B76CF47D}"/>
              </a:ext>
            </a:extLst>
          </p:cNvPr>
          <p:cNvSpPr>
            <a:spLocks xmlns:a="http://schemas.openxmlformats.org/drawingml/2006/main" noGrp="1"/>
          </p:cNvSpPr>
          <p:nvPr/>
        </p:nvSpPr>
        <p:spPr>
          <a:xfrm xmlns:a="http://schemas.openxmlformats.org/drawingml/2006/main">
            <a:off x="640080" y="3840480"/>
            <a:ext cx="7863840" cy="777240"/>
          </a:xfrm>
          <a:prstGeom xmlns:a="http://schemas.openxmlformats.org/drawingml/2006/main" prst="roundRect">
            <a:avLst>
              <a:gd name="adj" fmla="val 10588"/>
            </a:avLst>
          </a:prstGeom>
          <a:solidFill xmlns:a="http://schemas.openxmlformats.org/drawingml/2006/main">
            <a:srgbClr val="1E2447"/>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39" name="Google Shape;339;p14">
            <a:extLst xmlns:a="http://schemas.openxmlformats.org/drawingml/2006/main">
              <a:ext uri="{FF2B5EF4-FFF2-40B4-BE49-F238E27FC236}">
                <a16:creationId xmlns:a16="http://schemas.microsoft.com/office/drawing/2014/main" id="{D4AE49D8-4F4A-4571-9DC6-338A36BDECDE}"/>
              </a:ext>
            </a:extLst>
          </p:cNvPr>
          <p:cNvSpPr>
            <a:spLocks xmlns:a="http://schemas.openxmlformats.org/drawingml/2006/main" noGrp="1"/>
          </p:cNvSpPr>
          <p:nvPr/>
        </p:nvSpPr>
        <p:spPr>
          <a:xfrm xmlns:a="http://schemas.openxmlformats.org/drawingml/2006/main">
            <a:off x="914400" y="3840480"/>
            <a:ext cx="7315200" cy="7772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0" i="1" u="none" cap="none">
                <a:solidFill>
                  <a:srgbClr val="FFFFFF"/>
                </a:solidFill>
                <a:latin typeface="Calibri"/>
                <a:ea typeface="Calibri"/>
                <a:cs typeface="Calibri"/>
              </a:rPr>
              <a:t>“Today we were evidenced in one issue, tomorrow in two, the day after in three.”</a:t>
            </a:r>
          </a:p>
          <a:p xmlns:a="http://schemas.openxmlformats.org/drawingml/2006/main">
            <a:pPr marL="0" indent="0" algn="l">
              <a:spcBef>
                <a:spcPts val="0"/>
              </a:spcBef>
              <a:spcAft>
                <a:spcPts val="0"/>
              </a:spcAft>
              <a:buNone/>
            </a:pPr>
            <a:r>
              <a:rPr sz="1050" b="0" i="0" u="none" cap="none">
                <a:solidFill>
                  <a:srgbClr val="C9D4EF"/>
                </a:solidFill>
                <a:latin typeface="Calibri"/>
                <a:ea typeface="Calibri"/>
                <a:cs typeface="Calibri"/>
              </a:rPr>
              <a:t>Reflection feeds projection, and projection feeds deeper reflection — this alone is what living means.  — KD §3.12, p. 112–113</a:t>
            </a:r>
          </a:p>
        </p:txBody>
      </p:sp>
      <p:sp>
        <p:nvSpPr>
          <p:cNvPr id="340" name="Google Shape;340;p14">
            <a:extLst xmlns:a="http://schemas.openxmlformats.org/drawingml/2006/main">
              <a:ext uri="{FF2B5EF4-FFF2-40B4-BE49-F238E27FC236}">
                <a16:creationId xmlns:a16="http://schemas.microsoft.com/office/drawing/2014/main" id="{171B8D50-50F5-4333-887C-5E6D88D574F4}"/>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KD §3.12, p. 110–113 (projection–reflection)  ·  JV p. 61 (values ladder)</a:t>
            </a:r>
          </a:p>
        </p:txBody>
      </p:sp>
    </p:spTree>
    <p:extLst>
      <p:ext uri="{BB962C8B-B14F-4D97-AF65-F5344CB8AC3E}">
        <p14:creationId xmlns:p14="http://schemas.microsoft.com/office/powerpoint/2010/main" val="1053363663"/>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73" name="Google Shape;373;p16">
            <a:extLst xmlns:a="http://schemas.openxmlformats.org/drawingml/2006/main">
              <a:ext uri="{FF2B5EF4-FFF2-40B4-BE49-F238E27FC236}">
                <a16:creationId xmlns:a16="http://schemas.microsoft.com/office/drawing/2014/main" id="{898E7607-7F1C-424A-993A-F8E26F7A2463}"/>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4" name="Google Shape;374;p16">
            <a:extLst xmlns:a="http://schemas.openxmlformats.org/drawingml/2006/main">
              <a:ext uri="{FF2B5EF4-FFF2-40B4-BE49-F238E27FC236}">
                <a16:creationId xmlns:a16="http://schemas.microsoft.com/office/drawing/2014/main" id="{7622CE7C-8573-4236-A346-EABC53B99E6B}"/>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5" name="Google Shape;375;p16">
            <a:extLst xmlns:a="http://schemas.openxmlformats.org/drawingml/2006/main">
              <a:ext uri="{FF2B5EF4-FFF2-40B4-BE49-F238E27FC236}">
                <a16:creationId xmlns:a16="http://schemas.microsoft.com/office/drawing/2014/main" id="{7887E38F-E90F-4346-927D-FDEAD4A34A7E}"/>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6" name="Google Shape;376;p16">
            <a:extLst xmlns:a="http://schemas.openxmlformats.org/drawingml/2006/main">
              <a:ext uri="{FF2B5EF4-FFF2-40B4-BE49-F238E27FC236}">
                <a16:creationId xmlns:a16="http://schemas.microsoft.com/office/drawing/2014/main" id="{1D90A0E4-9D61-4F58-A708-5B7C5EA64AD1}"/>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§1.10 · COMPOSITION AND ASSEMBLIES</a:t>
            </a:r>
          </a:p>
        </p:txBody>
      </p:sp>
      <p:sp>
        <p:nvSpPr>
          <p:cNvPr id="377" name="Google Shape;377;p16">
            <a:extLst xmlns:a="http://schemas.openxmlformats.org/drawingml/2006/main">
              <a:ext uri="{FF2B5EF4-FFF2-40B4-BE49-F238E27FC236}">
                <a16:creationId xmlns:a16="http://schemas.microsoft.com/office/drawing/2014/main" id="{AC36AA5B-8B8A-4C8C-A428-1480E49A706D}"/>
              </a:ext>
            </a:extLst>
          </p:cNvPr>
          <p:cNvSpPr>
            <a:spLocks xmlns:a="http://schemas.openxmlformats.org/drawingml/2006/main" noGrp="1"/>
          </p:cNvSpPr>
          <p:nvPr/>
        </p:nvSpPr>
        <p:spPr>
          <a:xfrm xmlns:a="http://schemas.openxmlformats.org/drawingml/2006/main">
            <a:off x="960120" y="514350"/>
            <a:ext cx="7726680" cy="49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Composition and Human Assembly</a:t>
            </a:r>
          </a:p>
        </p:txBody>
      </p:sp>
      <p:sp>
        <p:nvSpPr>
          <p:cNvPr id="378" name="Google Shape;378;p16">
            <a:extLst xmlns:a="http://schemas.openxmlformats.org/drawingml/2006/main">
              <a:ext uri="{FF2B5EF4-FFF2-40B4-BE49-F238E27FC236}">
                <a16:creationId xmlns:a16="http://schemas.microsoft.com/office/drawing/2014/main" id="{A2051764-B773-4F19-A8A3-6C0C73553B97}"/>
              </a:ext>
            </a:extLst>
          </p:cNvPr>
          <p:cNvSpPr>
            <a:spLocks xmlns:a="http://schemas.openxmlformats.org/drawingml/2006/main" noGrp="1"/>
          </p:cNvSpPr>
          <p:nvPr/>
        </p:nvSpPr>
        <p:spPr>
          <a:xfrm xmlns:a="http://schemas.openxmlformats.org/drawingml/2006/main">
            <a:off x="640080" y="1207008"/>
            <a:ext cx="795528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0" i="0" u="none" cap="none">
                <a:solidFill>
                  <a:srgbClr val="5A6377"/>
                </a:solidFill>
                <a:latin typeface="Calibri"/>
                <a:ea typeface="Calibri"/>
                <a:cs typeface="Calibri"/>
              </a:rPr>
              <a:t>Physicochemical units compose into mixtures, compounds, cells, and bodies through definite constituent relations. Human families and societies arise differently: through recognised relationships, evaluation, and mutual satisfaction.</a:t>
            </a:r>
          </a:p>
        </p:txBody>
      </p:sp>
      <p:sp>
        <p:nvSpPr>
          <p:cNvPr id="379" name="Google Shape;379;p16">
            <a:extLst xmlns:a="http://schemas.openxmlformats.org/drawingml/2006/main">
              <a:ext uri="{FF2B5EF4-FFF2-40B4-BE49-F238E27FC236}">
                <a16:creationId xmlns:a16="http://schemas.microsoft.com/office/drawing/2014/main" id="{9E0ED97E-1E7D-46E0-9662-BD752F49CE00}"/>
              </a:ext>
            </a:extLst>
          </p:cNvPr>
          <p:cNvSpPr>
            <a:spLocks xmlns:a="http://schemas.openxmlformats.org/drawingml/2006/main" noGrp="1"/>
          </p:cNvSpPr>
          <p:nvPr/>
        </p:nvSpPr>
        <p:spPr>
          <a:xfrm xmlns:a="http://schemas.openxmlformats.org/drawingml/2006/main">
            <a:off x="640080" y="1874520"/>
            <a:ext cx="3794760" cy="1170432"/>
          </a:xfrm>
          <a:prstGeom xmlns:a="http://schemas.openxmlformats.org/drawingml/2006/main" prst="roundRect">
            <a:avLst>
              <a:gd name="adj" fmla="val 703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0" name="Google Shape;380;p16">
            <a:extLst xmlns:a="http://schemas.openxmlformats.org/drawingml/2006/main">
              <a:ext uri="{FF2B5EF4-FFF2-40B4-BE49-F238E27FC236}">
                <a16:creationId xmlns:a16="http://schemas.microsoft.com/office/drawing/2014/main" id="{EE95B374-AF07-4C85-8F67-58E3A5B71D8A}"/>
              </a:ext>
            </a:extLst>
          </p:cNvPr>
          <p:cNvSpPr>
            <a:spLocks xmlns:a="http://schemas.openxmlformats.org/drawingml/2006/main" noGrp="1"/>
          </p:cNvSpPr>
          <p:nvPr/>
        </p:nvSpPr>
        <p:spPr>
          <a:xfrm xmlns:a="http://schemas.openxmlformats.org/drawingml/2006/main">
            <a:off x="841248" y="1993392"/>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1E2447"/>
                </a:solidFill>
                <a:latin typeface="Cambria"/>
                <a:ea typeface="Cambria"/>
                <a:cs typeface="Cambria"/>
              </a:rPr>
              <a:t>Mixture</a:t>
            </a:r>
          </a:p>
        </p:txBody>
      </p:sp>
      <p:sp>
        <p:nvSpPr>
          <p:cNvPr id="381" name="Google Shape;381;p16">
            <a:extLst xmlns:a="http://schemas.openxmlformats.org/drawingml/2006/main">
              <a:ext uri="{FF2B5EF4-FFF2-40B4-BE49-F238E27FC236}">
                <a16:creationId xmlns:a16="http://schemas.microsoft.com/office/drawing/2014/main" id="{03ABC42C-3114-4DB8-918A-6C04812C2828}"/>
              </a:ext>
            </a:extLst>
          </p:cNvPr>
          <p:cNvSpPr>
            <a:spLocks xmlns:a="http://schemas.openxmlformats.org/drawingml/2006/main" noGrp="1"/>
          </p:cNvSpPr>
          <p:nvPr/>
        </p:nvSpPr>
        <p:spPr>
          <a:xfrm xmlns:a="http://schemas.openxmlformats.org/drawingml/2006/main">
            <a:off x="84124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0" u="none" cap="none">
                <a:solidFill>
                  <a:srgbClr val="5A6377"/>
                </a:solidFill>
                <a:latin typeface="Calibri"/>
                <a:ea typeface="Calibri"/>
                <a:cs typeface="Calibri"/>
              </a:rPr>
              <a:t>Components stay side by side and each maintains its own conduct — no new unit is formed.</a:t>
            </a:r>
          </a:p>
        </p:txBody>
      </p:sp>
      <p:sp>
        <p:nvSpPr>
          <p:cNvPr id="382" name="Google Shape;382;p16">
            <a:extLst xmlns:a="http://schemas.openxmlformats.org/drawingml/2006/main">
              <a:ext uri="{FF2B5EF4-FFF2-40B4-BE49-F238E27FC236}">
                <a16:creationId xmlns:a16="http://schemas.microsoft.com/office/drawing/2014/main" id="{F064E783-3B6A-440D-8C41-E0BFE659AD65}"/>
              </a:ext>
            </a:extLst>
          </p:cNvPr>
          <p:cNvSpPr>
            <a:spLocks xmlns:a="http://schemas.openxmlformats.org/drawingml/2006/main" noGrp="1"/>
          </p:cNvSpPr>
          <p:nvPr/>
        </p:nvSpPr>
        <p:spPr>
          <a:xfrm xmlns:a="http://schemas.openxmlformats.org/drawingml/2006/main">
            <a:off x="4709160" y="1874520"/>
            <a:ext cx="3794760" cy="1170432"/>
          </a:xfrm>
          <a:prstGeom xmlns:a="http://schemas.openxmlformats.org/drawingml/2006/main" prst="roundRect">
            <a:avLst>
              <a:gd name="adj" fmla="val 703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3" name="Google Shape;383;p16">
            <a:extLst xmlns:a="http://schemas.openxmlformats.org/drawingml/2006/main">
              <a:ext uri="{FF2B5EF4-FFF2-40B4-BE49-F238E27FC236}">
                <a16:creationId xmlns:a16="http://schemas.microsoft.com/office/drawing/2014/main" id="{42D431DD-E635-4D55-B438-17FDFFD27152}"/>
              </a:ext>
            </a:extLst>
          </p:cNvPr>
          <p:cNvSpPr>
            <a:spLocks xmlns:a="http://schemas.openxmlformats.org/drawingml/2006/main" noGrp="1"/>
          </p:cNvSpPr>
          <p:nvPr/>
        </p:nvSpPr>
        <p:spPr>
          <a:xfrm xmlns:a="http://schemas.openxmlformats.org/drawingml/2006/main">
            <a:off x="4910328" y="1993392"/>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3B4A7A"/>
                </a:solidFill>
                <a:latin typeface="Cambria"/>
                <a:ea typeface="Cambria"/>
                <a:cs typeface="Cambria"/>
              </a:rPr>
              <a:t>Compound</a:t>
            </a:r>
          </a:p>
        </p:txBody>
      </p:sp>
      <p:sp>
        <p:nvSpPr>
          <p:cNvPr id="384" name="Google Shape;384;p16">
            <a:extLst xmlns:a="http://schemas.openxmlformats.org/drawingml/2006/main">
              <a:ext uri="{FF2B5EF4-FFF2-40B4-BE49-F238E27FC236}">
                <a16:creationId xmlns:a16="http://schemas.microsoft.com/office/drawing/2014/main" id="{84A2A0BA-02DB-46A8-9184-936EB5E2B4C3}"/>
              </a:ext>
            </a:extLst>
          </p:cNvPr>
          <p:cNvSpPr>
            <a:spLocks xmlns:a="http://schemas.openxmlformats.org/drawingml/2006/main" noGrp="1"/>
          </p:cNvSpPr>
          <p:nvPr/>
        </p:nvSpPr>
        <p:spPr>
          <a:xfrm xmlns:a="http://schemas.openxmlformats.org/drawingml/2006/main">
            <a:off x="491032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0" u="none" cap="none">
                <a:solidFill>
                  <a:srgbClr val="5A6377"/>
                </a:solidFill>
                <a:latin typeface="Calibri"/>
                <a:ea typeface="Calibri"/>
                <a:cs typeface="Calibri"/>
              </a:rPr>
              <a:t>Definite proportion yields a new bounded unit. Its real form and its guna, svabhav, and dharma are evidenced in the new unit's mutuality.</a:t>
            </a:r>
          </a:p>
        </p:txBody>
      </p:sp>
      <p:sp>
        <p:nvSpPr>
          <p:cNvPr id="385" name="Google Shape;385;p16">
            <a:extLst xmlns:a="http://schemas.openxmlformats.org/drawingml/2006/main">
              <a:ext uri="{FF2B5EF4-FFF2-40B4-BE49-F238E27FC236}">
                <a16:creationId xmlns:a16="http://schemas.microsoft.com/office/drawing/2014/main" id="{57CF42B5-94B9-4AE9-B060-6BC5C76524F6}"/>
              </a:ext>
            </a:extLst>
          </p:cNvPr>
          <p:cNvSpPr>
            <a:spLocks xmlns:a="http://schemas.openxmlformats.org/drawingml/2006/main" noGrp="1"/>
          </p:cNvSpPr>
          <p:nvPr/>
        </p:nvSpPr>
        <p:spPr>
          <a:xfrm xmlns:a="http://schemas.openxmlformats.org/drawingml/2006/main">
            <a:off x="640080" y="3246120"/>
            <a:ext cx="79552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libri"/>
                <a:ea typeface="Calibri"/>
                <a:cs typeface="Calibri"/>
              </a:rPr>
              <a:t>Composition is not development. T1 occurs only when an atom reaches constitutional completeness. Insentient assemblies persist or decline definitely according to whether constituent relationships are fulfilled.</a:t>
            </a:r>
          </a:p>
        </p:txBody>
      </p:sp>
      <p:sp>
        <p:nvSpPr>
          <p:cNvPr id="386" name="Google Shape;386;p16">
            <a:extLst xmlns:a="http://schemas.openxmlformats.org/drawingml/2006/main">
              <a:ext uri="{FF2B5EF4-FFF2-40B4-BE49-F238E27FC236}">
                <a16:creationId xmlns:a16="http://schemas.microsoft.com/office/drawing/2014/main" id="{B129C209-3FF2-4016-A9B0-A8F5F3F3E7B0}"/>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7" name="Google Shape;387;p16">
            <a:extLst xmlns:a="http://schemas.openxmlformats.org/drawingml/2006/main">
              <a:ext uri="{FF2B5EF4-FFF2-40B4-BE49-F238E27FC236}">
                <a16:creationId xmlns:a16="http://schemas.microsoft.com/office/drawing/2014/main" id="{6E5D0BC7-FC95-424C-85B1-8D68E7ECEA4E}"/>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Particles &amp; atoms</a:t>
            </a:r>
          </a:p>
        </p:txBody>
      </p:sp>
      <p:sp>
        <p:nvSpPr>
          <p:cNvPr id="388" name="Google Shape;388;p16">
            <a:extLst xmlns:a="http://schemas.openxmlformats.org/drawingml/2006/main">
              <a:ext uri="{FF2B5EF4-FFF2-40B4-BE49-F238E27FC236}">
                <a16:creationId xmlns:a16="http://schemas.microsoft.com/office/drawing/2014/main" id="{2F6A46CA-D8E1-4BD2-AA8E-221F5B906904}"/>
              </a:ext>
            </a:extLst>
          </p:cNvPr>
          <p:cNvSpPr>
            <a:spLocks xmlns:a="http://schemas.openxmlformats.org/drawingml/2006/main" noGrp="1"/>
          </p:cNvSpPr>
          <p:nvPr/>
        </p:nvSpPr>
        <p:spPr>
          <a:xfrm xmlns:a="http://schemas.openxmlformats.org/drawingml/2006/main">
            <a:off x="233172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389" name="Google Shape;389;p16">
            <a:extLst xmlns:a="http://schemas.openxmlformats.org/drawingml/2006/main">
              <a:ext uri="{FF2B5EF4-FFF2-40B4-BE49-F238E27FC236}">
                <a16:creationId xmlns:a16="http://schemas.microsoft.com/office/drawing/2014/main" id="{B468CC50-22BB-4266-A019-2EA79D2E3722}"/>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90" name="Google Shape;390;p16">
            <a:extLst xmlns:a="http://schemas.openxmlformats.org/drawingml/2006/main">
              <a:ext uri="{FF2B5EF4-FFF2-40B4-BE49-F238E27FC236}">
                <a16:creationId xmlns:a16="http://schemas.microsoft.com/office/drawing/2014/main" id="{84AD2557-9213-4732-B37B-FE0F4371A016}"/>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Molecules</a:t>
            </a:r>
          </a:p>
        </p:txBody>
      </p:sp>
      <p:sp>
        <p:nvSpPr>
          <p:cNvPr id="391" name="Google Shape;391;p16">
            <a:extLst xmlns:a="http://schemas.openxmlformats.org/drawingml/2006/main">
              <a:ext uri="{FF2B5EF4-FFF2-40B4-BE49-F238E27FC236}">
                <a16:creationId xmlns:a16="http://schemas.microsoft.com/office/drawing/2014/main" id="{89D7FE30-7CBB-40BF-B52C-6DBBCAF63FFF}"/>
              </a:ext>
            </a:extLst>
          </p:cNvPr>
          <p:cNvSpPr>
            <a:spLocks xmlns:a="http://schemas.openxmlformats.org/drawingml/2006/main" noGrp="1"/>
          </p:cNvSpPr>
          <p:nvPr/>
        </p:nvSpPr>
        <p:spPr>
          <a:xfrm xmlns:a="http://schemas.openxmlformats.org/drawingml/2006/main">
            <a:off x="434340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392" name="Google Shape;392;p16">
            <a:extLst xmlns:a="http://schemas.openxmlformats.org/drawingml/2006/main">
              <a:ext uri="{FF2B5EF4-FFF2-40B4-BE49-F238E27FC236}">
                <a16:creationId xmlns:a16="http://schemas.microsoft.com/office/drawing/2014/main" id="{3302AF51-FAF2-4ECA-A54F-4AEFF4317013}"/>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93" name="Google Shape;393;p16">
            <a:extLst xmlns:a="http://schemas.openxmlformats.org/drawingml/2006/main">
              <a:ext uri="{FF2B5EF4-FFF2-40B4-BE49-F238E27FC236}">
                <a16:creationId xmlns:a16="http://schemas.microsoft.com/office/drawing/2014/main" id="{4774C513-D57A-4D9C-9224-483EB9B04BF9}"/>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Cells &amp; bodies</a:t>
            </a:r>
          </a:p>
        </p:txBody>
      </p:sp>
      <p:sp>
        <p:nvSpPr>
          <p:cNvPr id="394" name="Google Shape;394;p16">
            <a:extLst xmlns:a="http://schemas.openxmlformats.org/drawingml/2006/main">
              <a:ext uri="{FF2B5EF4-FFF2-40B4-BE49-F238E27FC236}">
                <a16:creationId xmlns:a16="http://schemas.microsoft.com/office/drawing/2014/main" id="{82350748-5E36-4F6A-A071-97DA1C996930}"/>
              </a:ext>
            </a:extLst>
          </p:cNvPr>
          <p:cNvSpPr>
            <a:spLocks xmlns:a="http://schemas.openxmlformats.org/drawingml/2006/main" noGrp="1"/>
          </p:cNvSpPr>
          <p:nvPr/>
        </p:nvSpPr>
        <p:spPr>
          <a:xfrm xmlns:a="http://schemas.openxmlformats.org/drawingml/2006/main">
            <a:off x="635508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395" name="Google Shape;395;p16">
            <a:extLst xmlns:a="http://schemas.openxmlformats.org/drawingml/2006/main">
              <a:ext uri="{FF2B5EF4-FFF2-40B4-BE49-F238E27FC236}">
                <a16:creationId xmlns:a16="http://schemas.microsoft.com/office/drawing/2014/main" id="{13B9CA69-1149-4B06-8953-A5B2B9029404}"/>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96" name="Google Shape;396;p16">
            <a:extLst xmlns:a="http://schemas.openxmlformats.org/drawingml/2006/main">
              <a:ext uri="{FF2B5EF4-FFF2-40B4-BE49-F238E27FC236}">
                <a16:creationId xmlns:a16="http://schemas.microsoft.com/office/drawing/2014/main" id="{30F2C252-C9A4-4D4B-96F6-0D00D394FC80}"/>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Human order</a:t>
            </a:r>
          </a:p>
        </p:txBody>
      </p:sp>
      <p:sp>
        <p:nvSpPr>
          <p:cNvPr id="397" name="Google Shape;397;p16">
            <a:extLst xmlns:a="http://schemas.openxmlformats.org/drawingml/2006/main">
              <a:ext uri="{FF2B5EF4-FFF2-40B4-BE49-F238E27FC236}">
                <a16:creationId xmlns:a16="http://schemas.microsoft.com/office/drawing/2014/main" id="{C5FCA8E9-64AA-4FAA-9157-51830ED7C97D}"/>
              </a:ext>
            </a:extLst>
          </p:cNvPr>
          <p:cNvSpPr>
            <a:spLocks xmlns:a="http://schemas.openxmlformats.org/drawingml/2006/main" noGrp="1"/>
          </p:cNvSpPr>
          <p:nvPr/>
        </p:nvSpPr>
        <p:spPr>
          <a:xfrm xmlns:a="http://schemas.openxmlformats.org/drawingml/2006/main">
            <a:off x="640080" y="4553712"/>
            <a:ext cx="795528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1" u="none" cap="none">
                <a:solidFill>
                  <a:srgbClr val="5A6377"/>
                </a:solidFill>
                <a:latin typeface="Calibri"/>
                <a:ea typeface="Calibri"/>
                <a:cs typeface="Calibri"/>
              </a:rPr>
              <a:t>The first three are composition. Humane assemblies are relational achievements, not a further chemical tier.</a:t>
            </a:r>
          </a:p>
        </p:txBody>
      </p:sp>
      <p:sp>
        <p:nvSpPr>
          <p:cNvPr id="398" name="Google Shape;398;p16">
            <a:extLst xmlns:a="http://schemas.openxmlformats.org/drawingml/2006/main">
              <a:ext uri="{FF2B5EF4-FFF2-40B4-BE49-F238E27FC236}">
                <a16:creationId xmlns:a16="http://schemas.microsoft.com/office/drawing/2014/main" id="{E3D8EB7A-97C6-4DFE-834E-074ED2732AB4}"/>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JV p. 67 (inclination toward coexistence)  ·  MVD p. 42 (mixture &amp; compound)  ·  SB p. 14 (persist or decline)</a:t>
            </a:r>
          </a:p>
        </p:txBody>
      </p:sp>
    </p:spTree>
    <p:extLst>
      <p:ext uri="{BB962C8B-B14F-4D97-AF65-F5344CB8AC3E}">
        <p14:creationId xmlns:p14="http://schemas.microsoft.com/office/powerpoint/2010/main" val="2136485024"/>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04" name="Google Shape;404;p17">
            <a:extLst xmlns:a="http://schemas.openxmlformats.org/drawingml/2006/main">
              <a:ext uri="{FF2B5EF4-FFF2-40B4-BE49-F238E27FC236}">
                <a16:creationId xmlns:a16="http://schemas.microsoft.com/office/drawing/2014/main" id="{A6DECDBA-1BF0-46C6-9FE2-83FA2D3F7263}"/>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05" name="Google Shape;405;p17">
            <a:extLst xmlns:a="http://schemas.openxmlformats.org/drawingml/2006/main">
              <a:ext uri="{FF2B5EF4-FFF2-40B4-BE49-F238E27FC236}">
                <a16:creationId xmlns:a16="http://schemas.microsoft.com/office/drawing/2014/main" id="{648CB187-D686-4707-81B7-2A5DDB05B039}"/>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06" name="Google Shape;406;p17">
            <a:extLst xmlns:a="http://schemas.openxmlformats.org/drawingml/2006/main">
              <a:ext uri="{FF2B5EF4-FFF2-40B4-BE49-F238E27FC236}">
                <a16:creationId xmlns:a16="http://schemas.microsoft.com/office/drawing/2014/main" id="{50E4A58E-1CD0-4392-97C8-B28C827C922D}"/>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07" name="Google Shape;407;p17">
            <a:extLst xmlns:a="http://schemas.openxmlformats.org/drawingml/2006/main">
              <a:ext uri="{FF2B5EF4-FFF2-40B4-BE49-F238E27FC236}">
                <a16:creationId xmlns:a16="http://schemas.microsoft.com/office/drawing/2014/main" id="{ABCABD93-5ECC-4E09-A1F4-B59974ABDDC6}"/>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 1.11 · THE THIRD ENDOWMENT</a:t>
            </a:r>
          </a:p>
        </p:txBody>
      </p:sp>
      <p:sp>
        <p:nvSpPr>
          <p:cNvPr id="408" name="Google Shape;408;p17">
            <a:extLst xmlns:a="http://schemas.openxmlformats.org/drawingml/2006/main">
              <a:ext uri="{FF2B5EF4-FFF2-40B4-BE49-F238E27FC236}">
                <a16:creationId xmlns:a16="http://schemas.microsoft.com/office/drawing/2014/main" id="{891800AA-488D-4489-98EB-8B606D13F3F3}"/>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The Regulation Endowment</a:t>
            </a:r>
          </a:p>
        </p:txBody>
      </p:sp>
      <p:sp>
        <p:nvSpPr>
          <p:cNvPr id="409" name="Google Shape;409;p17">
            <a:extLst xmlns:a="http://schemas.openxmlformats.org/drawingml/2006/main">
              <a:ext uri="{FF2B5EF4-FFF2-40B4-BE49-F238E27FC236}">
                <a16:creationId xmlns:a16="http://schemas.microsoft.com/office/drawing/2014/main" id="{76D228E5-3B3E-40F5-9DEF-B49F1687F3A7}"/>
              </a:ext>
            </a:extLst>
          </p:cNvPr>
          <p:cNvSpPr>
            <a:spLocks xmlns:a="http://schemas.openxmlformats.org/drawingml/2006/main" noGrp="1"/>
          </p:cNvSpPr>
          <p:nvPr/>
        </p:nvSpPr>
        <p:spPr>
          <a:xfrm xmlns:a="http://schemas.openxmlformats.org/drawingml/2006/main">
            <a:off x="640080" y="1234440"/>
            <a:ext cx="79552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Orderliness is self-regulation, inherent in saturated units — not dispensed by a cosmic governor. </a:t>
            </a:r>
            <a:r>
              <a:rPr sz="1250" b="1" i="0" u="none" cap="none">
                <a:solidFill>
                  <a:srgbClr val="1E2447"/>
                </a:solidFill>
                <a:latin typeface="Calibri"/>
                <a:ea typeface="Calibri"/>
                <a:cs typeface="Calibri"/>
              </a:rPr>
              <a:t>This mediative (madhyasth) regulation, which regulates and conserves every unit, gives the darshan its name.</a:t>
            </a:r>
          </a:p>
        </p:txBody>
      </p:sp>
      <p:graphicFrame>
        <p:nvGraphicFramePr>
          <p:cNvPr id="421" name="Google Shape;410;p17"/>
          <p:cNvGraphicFramePr/>
          <p:nvPr/>
        </p:nvGraphicFramePr>
        <p:xfrm>
          <a:off xmlns:a="http://schemas.openxmlformats.org/drawingml/2006/main" x="640080" y="1965960"/>
          <a:ext xmlns:a="http://schemas.openxmlformats.org/drawingml/2006/main" cx="7863850" cy="1810525"/>
        </p:xfrm>
        <a:graphic xmlns:a="http://schemas.openxmlformats.org/drawingml/2006/main">
          <a:graphicData uri="http://schemas.openxmlformats.org/drawingml/2006/table">
            <a:tbl>
              <a:tblPr>
                <a:tableStyleId>{6C92A692-798E-4634-90B1-36CD3966BFCB}</a:tableStyleId>
              </a:tblPr>
              <a:tblGrid>
                <a:gridCol w="1554475"/>
                <a:gridCol w="3017525"/>
                <a:gridCol w="3291850"/>
              </a:tblGrid>
              <a:tr h="310900">
                <a:tc>
                  <a:txBody>
                    <a:bodyPr/>
                    <a:lstStyle/>
                    <a:p>
                      <a:pPr marL="0" indent="0" algn="l">
                        <a:buNone/>
                      </a:pPr>
                      <a:r>
                        <a:rPr sz="1080" b="1" u="none" cap="none">
                          <a:solidFill>
                            <a:srgbClr val="FFFFFF"/>
                          </a:solidFill>
                          <a:latin typeface="Calibri"/>
                          <a:ea typeface="Calibri"/>
                          <a:cs typeface="Calibri"/>
                        </a:rPr>
                        <a:t>Order</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indent="0" algn="l">
                        <a:buNone/>
                      </a:pPr>
                      <a:r>
                        <a:rPr sz="1080" b="1" u="none" cap="none">
                          <a:solidFill>
                            <a:srgbClr val="FFFFFF"/>
                          </a:solidFill>
                          <a:latin typeface="Calibri"/>
                          <a:ea typeface="Calibri"/>
                          <a:cs typeface="Calibri"/>
                        </a:rPr>
                        <a:t>Conformance mode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indent="0" algn="l">
                        <a:buNone/>
                      </a:pPr>
                      <a:r>
                        <a:rPr sz="1080" b="1" u="none" cap="none">
                          <a:solidFill>
                            <a:srgbClr val="FFFFFF"/>
                          </a:solidFill>
                          <a:latin typeface="Calibri"/>
                          <a:ea typeface="Calibri"/>
                          <a:cs typeface="Calibri"/>
                        </a:rPr>
                        <a:t>Mode of fulfilment</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r>
              <a:tr h="347475">
                <a:tc>
                  <a:txBody>
                    <a:bodyPr/>
                    <a:lstStyle/>
                    <a:p>
                      <a:pPr marL="0" indent="0" algn="l">
                        <a:buNone/>
                      </a:pPr>
                      <a:r>
                        <a:rPr sz="1080" u="none" cap="none">
                          <a:solidFill>
                            <a:srgbClr val="1E2447"/>
                          </a:solidFill>
                          <a:latin typeface="Calibri"/>
                          <a:ea typeface="Calibri"/>
                          <a:cs typeface="Calibri"/>
                        </a:rPr>
                        <a:t>Material</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result- / structural-conformance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definite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347475">
                <a:tc>
                  <a:txBody>
                    <a:bodyPr/>
                    <a:lstStyle/>
                    <a:p>
                      <a:pPr marL="0" indent="0" algn="l">
                        <a:buNone/>
                      </a:pPr>
                      <a:r>
                        <a:rPr sz="1080" u="none" cap="none">
                          <a:solidFill>
                            <a:srgbClr val="1E2447"/>
                          </a:solidFill>
                          <a:latin typeface="Calibri"/>
                          <a:ea typeface="Calibri"/>
                          <a:cs typeface="Calibri"/>
                        </a:rPr>
                        <a:t>Bio (pranic)</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seed-conformance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definite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347475">
                <a:tc>
                  <a:txBody>
                    <a:bodyPr/>
                    <a:lstStyle/>
                    <a:p>
                      <a:pPr marL="0" indent="0" algn="l">
                        <a:buNone/>
                      </a:pPr>
                      <a:r>
                        <a:rPr sz="1080" u="none" cap="none">
                          <a:solidFill>
                            <a:srgbClr val="1E2447"/>
                          </a:solidFill>
                          <a:latin typeface="Calibri"/>
                          <a:ea typeface="Calibri"/>
                          <a:cs typeface="Calibri"/>
                        </a:rPr>
                        <a:t>Animal</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species-conformance (inherited from gestation)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definite; bodily expression limited</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457200">
                <a:tc>
                  <a:txBody>
                    <a:bodyPr/>
                    <a:lstStyle/>
                    <a:p>
                      <a:pPr marL="0" indent="0" algn="l">
                        <a:buNone/>
                      </a:pPr>
                      <a:r>
                        <a:rPr sz="1080" u="none" cap="none">
                          <a:solidFill>
                            <a:srgbClr val="1E2447"/>
                          </a:solidFill>
                          <a:latin typeface="Calibri"/>
                          <a:ea typeface="Calibri"/>
                          <a:cs typeface="Calibri"/>
                        </a:rPr>
                        <a:t>Knowledge (human)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learned conformance through understanding</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evaluation may err; alignment achieved</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bl>
          </a:graphicData>
        </a:graphic>
      </p:graphicFrame>
      <p:sp>
        <p:nvSpPr>
          <p:cNvPr id="411" name="Google Shape;411;p17">
            <a:extLst xmlns:a="http://schemas.openxmlformats.org/drawingml/2006/main">
              <a:ext uri="{FF2B5EF4-FFF2-40B4-BE49-F238E27FC236}">
                <a16:creationId xmlns:a16="http://schemas.microsoft.com/office/drawing/2014/main" id="{418760E8-0E36-42A3-8A05-FA272B72896D}"/>
              </a:ext>
            </a:extLst>
          </p:cNvPr>
          <p:cNvSpPr>
            <a:spLocks xmlns:a="http://schemas.openxmlformats.org/drawingml/2006/main" noGrp="1"/>
          </p:cNvSpPr>
          <p:nvPr/>
        </p:nvSpPr>
        <p:spPr>
          <a:xfrm xmlns:a="http://schemas.openxmlformats.org/drawingml/2006/main">
            <a:off x="640080" y="3977640"/>
            <a:ext cx="7863840" cy="731520"/>
          </a:xfrm>
          <a:prstGeom xmlns:a="http://schemas.openxmlformats.org/drawingml/2006/main" prst="roundRect">
            <a:avLst>
              <a:gd name="adj" fmla="val 11250"/>
            </a:avLst>
          </a:prstGeom>
          <a:solidFill xmlns:a="http://schemas.openxmlformats.org/drawingml/2006/main">
            <a:srgbClr val="FAF1D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12" name="Google Shape;412;p17">
            <a:extLst xmlns:a="http://schemas.openxmlformats.org/drawingml/2006/main">
              <a:ext uri="{FF2B5EF4-FFF2-40B4-BE49-F238E27FC236}">
                <a16:creationId xmlns:a16="http://schemas.microsoft.com/office/drawing/2014/main" id="{8281FD63-9352-4E7E-B80A-DAC849910495}"/>
              </a:ext>
            </a:extLst>
          </p:cNvPr>
          <p:cNvSpPr>
            <a:spLocks xmlns:a="http://schemas.openxmlformats.org/drawingml/2006/main" noGrp="1"/>
          </p:cNvSpPr>
          <p:nvPr/>
        </p:nvSpPr>
        <p:spPr>
          <a:xfrm xmlns:a="http://schemas.openxmlformats.org/drawingml/2006/main">
            <a:off x="868680" y="3977640"/>
            <a:ext cx="74066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1" i="0" u="none" cap="none">
                <a:solidFill>
                  <a:srgbClr val="9A6414"/>
                </a:solidFill>
                <a:latin typeface="Calibri"/>
                <a:ea typeface="Calibri"/>
                <a:cs typeface="Calibri"/>
              </a:rPr>
              <a:t>Material, bio, and animal regulation is definite; animal bodily development limits expression but does not introduce mis-evaluation. In human living, jeevan can judge wrongly when delusion mistakes the body for the self. Awakening aligns evaluation and fulfilment with coexistence.</a:t>
            </a:r>
          </a:p>
        </p:txBody>
      </p:sp>
      <p:sp>
        <p:nvSpPr>
          <p:cNvPr id="413" name="Google Shape;413;p17">
            <a:extLst xmlns:a="http://schemas.openxmlformats.org/drawingml/2006/main">
              <a:ext uri="{FF2B5EF4-FFF2-40B4-BE49-F238E27FC236}">
                <a16:creationId xmlns:a16="http://schemas.microsoft.com/office/drawing/2014/main" id="{D2D14E48-0F9E-414D-B0D5-18B438B9695A}"/>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SB p. 57  ·  MVD pp. 26–27, 67, 137, 311  ·  KD p. 14 (law across family, nation, world)</a:t>
            </a:r>
          </a:p>
        </p:txBody>
      </p:sp>
    </p:spTree>
    <p:extLst>
      <p:ext uri="{BB962C8B-B14F-4D97-AF65-F5344CB8AC3E}">
        <p14:creationId xmlns:p14="http://schemas.microsoft.com/office/powerpoint/2010/main" val="1942334141"/>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3" name="Google Shape;203;p10">
            <a:extLst xmlns:a="http://schemas.openxmlformats.org/drawingml/2006/main">
              <a:ext uri="{FF2B5EF4-FFF2-40B4-BE49-F238E27FC236}">
                <a16:creationId xmlns:a16="http://schemas.microsoft.com/office/drawing/2014/main" id="{A227E694-ACB1-4552-9B01-9BA14E563CEE}"/>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4" name="Google Shape;204;p10">
            <a:extLst xmlns:a="http://schemas.openxmlformats.org/drawingml/2006/main">
              <a:ext uri="{FF2B5EF4-FFF2-40B4-BE49-F238E27FC236}">
                <a16:creationId xmlns:a16="http://schemas.microsoft.com/office/drawing/2014/main" id="{A27B0F8F-D67F-402D-9A7D-CC96363D70A0}"/>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5" name="Google Shape;205;p10">
            <a:extLst xmlns:a="http://schemas.openxmlformats.org/drawingml/2006/main">
              <a:ext uri="{FF2B5EF4-FFF2-40B4-BE49-F238E27FC236}">
                <a16:creationId xmlns:a16="http://schemas.microsoft.com/office/drawing/2014/main" id="{094DB0CA-9CEE-40E8-B3E3-606F2F558633}"/>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6" name="Google Shape;206;p10">
            <a:extLst xmlns:a="http://schemas.openxmlformats.org/drawingml/2006/main">
              <a:ext uri="{FF2B5EF4-FFF2-40B4-BE49-F238E27FC236}">
                <a16:creationId xmlns:a16="http://schemas.microsoft.com/office/drawing/2014/main" id="{FC275619-7726-4132-9B6E-380017453A7C}"/>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§1.12 · EVALUATIVE PERSPECTIVES</a:t>
            </a:r>
          </a:p>
        </p:txBody>
      </p:sp>
      <p:sp>
        <p:nvSpPr>
          <p:cNvPr id="207" name="Google Shape;207;p10">
            <a:extLst xmlns:a="http://schemas.openxmlformats.org/drawingml/2006/main">
              <a:ext uri="{FF2B5EF4-FFF2-40B4-BE49-F238E27FC236}">
                <a16:creationId xmlns:a16="http://schemas.microsoft.com/office/drawing/2014/main" id="{FC8351DF-4D8B-4DEB-A7B3-FBE1FDA97F97}"/>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Six Evaluative Perspectives</a:t>
            </a:r>
          </a:p>
        </p:txBody>
      </p:sp>
      <p:sp>
        <p:nvSpPr>
          <p:cNvPr id="208" name="Google Shape;208;p10">
            <a:extLst xmlns:a="http://schemas.openxmlformats.org/drawingml/2006/main">
              <a:ext uri="{FF2B5EF4-FFF2-40B4-BE49-F238E27FC236}">
                <a16:creationId xmlns:a16="http://schemas.microsoft.com/office/drawing/2014/main" id="{FCB4F088-E7F6-4DE9-976F-1E0016290F4B}"/>
              </a:ext>
            </a:extLst>
          </p:cNvPr>
          <p:cNvSpPr>
            <a:spLocks xmlns:a="http://schemas.openxmlformats.org/drawingml/2006/main" noGrp="1"/>
          </p:cNvSpPr>
          <p:nvPr/>
        </p:nvSpPr>
        <p:spPr>
          <a:xfrm xmlns:a="http://schemas.openxmlformats.org/drawingml/2006/main">
            <a:off x="640080" y="1207008"/>
            <a:ext cx="7955280" cy="7772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KD names six perspectives: pleasant, healthy, profit, justice, dharma, and truth. They widen from sensation, body, and gain to relationship, orderliness, and coexistence. Justice has a dual role: a member of the sixfold set and the principle of fulfilled relationship. The diagram highlights the final three.</a:t>
            </a:r>
          </a:p>
        </p:txBody>
      </p:sp>
      <p:sp>
        <p:nvSpPr>
          <p:cNvPr id="209" name="Google Shape;209;p10">
            <a:extLst xmlns:a="http://schemas.openxmlformats.org/drawingml/2006/main">
              <a:ext uri="{FF2B5EF4-FFF2-40B4-BE49-F238E27FC236}">
                <a16:creationId xmlns:a16="http://schemas.microsoft.com/office/drawing/2014/main" id="{577F7853-8B3D-4139-9CFE-636BD5FF4BCA}"/>
              </a:ext>
            </a:extLst>
          </p:cNvPr>
          <p:cNvSpPr>
            <a:spLocks xmlns:a="http://schemas.openxmlformats.org/drawingml/2006/main" noGrp="1"/>
          </p:cNvSpPr>
          <p:nvPr/>
        </p:nvSpPr>
        <p:spPr>
          <a:xfrm xmlns:a="http://schemas.openxmlformats.org/drawingml/2006/main">
            <a:off x="1234440" y="2240280"/>
            <a:ext cx="1417320" cy="1417320"/>
          </a:xfrm>
          <a:prstGeom xmlns:a="http://schemas.openxmlformats.org/drawingml/2006/main" prst="ellipse">
            <a:avLst/>
          </a:prstGeom>
          <a:solidFill xmlns:a="http://schemas.openxmlformats.org/drawingml/2006/main">
            <a:srgbClr val="3B4A7A"/>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0" name="Google Shape;210;p10">
            <a:extLst xmlns:a="http://schemas.openxmlformats.org/drawingml/2006/main">
              <a:ext uri="{FF2B5EF4-FFF2-40B4-BE49-F238E27FC236}">
                <a16:creationId xmlns:a16="http://schemas.microsoft.com/office/drawing/2014/main" id="{1084CDE5-50F9-4276-867F-4FD62941EC84}"/>
              </a:ext>
            </a:extLst>
          </p:cNvPr>
          <p:cNvSpPr>
            <a:spLocks xmlns:a="http://schemas.openxmlformats.org/drawingml/2006/main" noGrp="1"/>
          </p:cNvSpPr>
          <p:nvPr/>
        </p:nvSpPr>
        <p:spPr>
          <a:xfrm xmlns:a="http://schemas.openxmlformats.org/drawingml/2006/main">
            <a:off x="12344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Justice</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the relationship</a:t>
            </a:r>
          </a:p>
        </p:txBody>
      </p:sp>
      <p:sp>
        <p:nvSpPr>
          <p:cNvPr id="211" name="Google Shape;211;p10">
            <a:extLst xmlns:a="http://schemas.openxmlformats.org/drawingml/2006/main">
              <a:ext uri="{FF2B5EF4-FFF2-40B4-BE49-F238E27FC236}">
                <a16:creationId xmlns:a16="http://schemas.microsoft.com/office/drawing/2014/main" id="{60C9893A-91A5-4772-AED3-DCD9E751B981}"/>
              </a:ext>
            </a:extLst>
          </p:cNvPr>
          <p:cNvSpPr>
            <a:spLocks xmlns:a="http://schemas.openxmlformats.org/drawingml/2006/main" noGrp="1"/>
          </p:cNvSpPr>
          <p:nvPr/>
        </p:nvSpPr>
        <p:spPr>
          <a:xfrm xmlns:a="http://schemas.openxmlformats.org/drawingml/2006/main">
            <a:off x="10058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goal: fulfil what’s owed</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recognise it, check what it requires</a:t>
            </a:r>
          </a:p>
        </p:txBody>
      </p:sp>
      <p:sp>
        <p:nvSpPr>
          <p:cNvPr id="212" name="Google Shape;212;p10">
            <a:extLst xmlns:a="http://schemas.openxmlformats.org/drawingml/2006/main">
              <a:ext uri="{FF2B5EF4-FFF2-40B4-BE49-F238E27FC236}">
                <a16:creationId xmlns:a16="http://schemas.microsoft.com/office/drawing/2014/main" id="{7DDB69DA-6C86-43C8-AB99-B8FC0A52B9B4}"/>
              </a:ext>
            </a:extLst>
          </p:cNvPr>
          <p:cNvSpPr>
            <a:spLocks xmlns:a="http://schemas.openxmlformats.org/drawingml/2006/main" noGrp="1"/>
          </p:cNvSpPr>
          <p:nvPr/>
        </p:nvSpPr>
        <p:spPr>
          <a:xfrm xmlns:a="http://schemas.openxmlformats.org/drawingml/2006/main">
            <a:off x="3063240" y="2240280"/>
            <a:ext cx="1417320" cy="1417320"/>
          </a:xfrm>
          <a:prstGeom xmlns:a="http://schemas.openxmlformats.org/drawingml/2006/main" prst="ellipse">
            <a:avLst/>
          </a:prstGeom>
          <a:solidFill xmlns:a="http://schemas.openxmlformats.org/drawingml/2006/main">
            <a:srgbClr val="3B4A7A"/>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3" name="Google Shape;213;p10">
            <a:extLst xmlns:a="http://schemas.openxmlformats.org/drawingml/2006/main">
              <a:ext uri="{FF2B5EF4-FFF2-40B4-BE49-F238E27FC236}">
                <a16:creationId xmlns:a16="http://schemas.microsoft.com/office/drawing/2014/main" id="{124E4E43-5036-40BE-9F52-0C7363326679}"/>
              </a:ext>
            </a:extLst>
          </p:cNvPr>
          <p:cNvSpPr>
            <a:spLocks xmlns:a="http://schemas.openxmlformats.org/drawingml/2006/main" noGrp="1"/>
          </p:cNvSpPr>
          <p:nvPr/>
        </p:nvSpPr>
        <p:spPr>
          <a:xfrm xmlns:a="http://schemas.openxmlformats.org/drawingml/2006/main">
            <a:off x="30632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Dharma</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the orderliness</a:t>
            </a:r>
          </a:p>
        </p:txBody>
      </p:sp>
      <p:sp>
        <p:nvSpPr>
          <p:cNvPr id="214" name="Google Shape;214;p10">
            <a:extLst xmlns:a="http://schemas.openxmlformats.org/drawingml/2006/main">
              <a:ext uri="{FF2B5EF4-FFF2-40B4-BE49-F238E27FC236}">
                <a16:creationId xmlns:a16="http://schemas.microsoft.com/office/drawing/2014/main" id="{9D4DB499-FF49-40DA-9AE5-266D70C6EAA6}"/>
              </a:ext>
            </a:extLst>
          </p:cNvPr>
          <p:cNvSpPr>
            <a:spLocks xmlns:a="http://schemas.openxmlformats.org/drawingml/2006/main" noGrp="1"/>
          </p:cNvSpPr>
          <p:nvPr/>
        </p:nvSpPr>
        <p:spPr>
          <a:xfrm xmlns:a="http://schemas.openxmlformats.org/drawingml/2006/main">
            <a:off x="28346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goal: fit the wider pattern</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discipline in thought, not just conduct</a:t>
            </a:r>
          </a:p>
        </p:txBody>
      </p:sp>
      <p:sp>
        <p:nvSpPr>
          <p:cNvPr id="215" name="Google Shape;215;p10">
            <a:extLst xmlns:a="http://schemas.openxmlformats.org/drawingml/2006/main">
              <a:ext uri="{FF2B5EF4-FFF2-40B4-BE49-F238E27FC236}">
                <a16:creationId xmlns:a16="http://schemas.microsoft.com/office/drawing/2014/main" id="{3EFCB717-BC3C-4902-96E7-34E87294B414}"/>
              </a:ext>
            </a:extLst>
          </p:cNvPr>
          <p:cNvSpPr>
            <a:spLocks xmlns:a="http://schemas.openxmlformats.org/drawingml/2006/main" noGrp="1"/>
          </p:cNvSpPr>
          <p:nvPr/>
        </p:nvSpPr>
        <p:spPr>
          <a:xfrm xmlns:a="http://schemas.openxmlformats.org/drawingml/2006/main">
            <a:off x="4892040" y="2240280"/>
            <a:ext cx="1417320" cy="1417320"/>
          </a:xfrm>
          <a:prstGeom xmlns:a="http://schemas.openxmlformats.org/drawingml/2006/main" prst="ellipse">
            <a:avLst/>
          </a:prstGeom>
          <a:solidFill xmlns:a="http://schemas.openxmlformats.org/drawingml/2006/main">
            <a:srgbClr val="C9821E"/>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6" name="Google Shape;216;p10">
            <a:extLst xmlns:a="http://schemas.openxmlformats.org/drawingml/2006/main">
              <a:ext uri="{FF2B5EF4-FFF2-40B4-BE49-F238E27FC236}">
                <a16:creationId xmlns:a16="http://schemas.microsoft.com/office/drawing/2014/main" id="{62D87294-2AD0-458F-8076-D9F44C0F3C14}"/>
              </a:ext>
            </a:extLst>
          </p:cNvPr>
          <p:cNvSpPr>
            <a:spLocks xmlns:a="http://schemas.openxmlformats.org/drawingml/2006/main" noGrp="1"/>
          </p:cNvSpPr>
          <p:nvPr/>
        </p:nvSpPr>
        <p:spPr>
          <a:xfrm xmlns:a="http://schemas.openxmlformats.org/drawingml/2006/main">
            <a:off x="48920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Satya</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the architecture</a:t>
            </a:r>
          </a:p>
        </p:txBody>
      </p:sp>
      <p:sp>
        <p:nvSpPr>
          <p:cNvPr id="217" name="Google Shape;217;p10">
            <a:extLst xmlns:a="http://schemas.openxmlformats.org/drawingml/2006/main">
              <a:ext uri="{FF2B5EF4-FFF2-40B4-BE49-F238E27FC236}">
                <a16:creationId xmlns:a16="http://schemas.microsoft.com/office/drawing/2014/main" id="{4AC770B6-231B-43C5-A35F-E7957DACDC07}"/>
              </a:ext>
            </a:extLst>
          </p:cNvPr>
          <p:cNvSpPr>
            <a:spLocks xmlns:a="http://schemas.openxmlformats.org/drawingml/2006/main" noGrp="1"/>
          </p:cNvSpPr>
          <p:nvPr/>
        </p:nvSpPr>
        <p:spPr>
          <a:xfrm xmlns:a="http://schemas.openxmlformats.org/drawingml/2006/main">
            <a:off x="46634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goal: align with the whole</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grounded in realisation, not liking or gain</a:t>
            </a:r>
          </a:p>
        </p:txBody>
      </p:sp>
      <p:sp>
        <p:nvSpPr>
          <p:cNvPr id="218" name="Google Shape;218;p10">
            <a:extLst xmlns:a="http://schemas.openxmlformats.org/drawingml/2006/main">
              <a:ext uri="{FF2B5EF4-FFF2-40B4-BE49-F238E27FC236}">
                <a16:creationId xmlns:a16="http://schemas.microsoft.com/office/drawing/2014/main" id="{67BE35B1-9F7E-43AA-BCA7-CDCBC3E976D2}"/>
              </a:ext>
            </a:extLst>
          </p:cNvPr>
          <p:cNvSpPr>
            <a:spLocks xmlns:a="http://schemas.openxmlformats.org/drawingml/2006/main" noGrp="1"/>
          </p:cNvSpPr>
          <p:nvPr/>
        </p:nvSpPr>
        <p:spPr>
          <a:xfrm xmlns:a="http://schemas.openxmlformats.org/drawingml/2006/main">
            <a:off x="6720840" y="2148840"/>
            <a:ext cx="1965960" cy="2240280"/>
          </a:xfrm>
          <a:prstGeom xmlns:a="http://schemas.openxmlformats.org/drawingml/2006/main" prst="roundRect">
            <a:avLst>
              <a:gd name="adj" fmla="val 465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9" name="Google Shape;219;p10">
            <a:extLst xmlns:a="http://schemas.openxmlformats.org/drawingml/2006/main">
              <a:ext uri="{FF2B5EF4-FFF2-40B4-BE49-F238E27FC236}">
                <a16:creationId xmlns:a16="http://schemas.microsoft.com/office/drawing/2014/main" id="{2EBCC9FB-178B-4F48-8E46-B6AC0DA5D2F8}"/>
              </a:ext>
            </a:extLst>
          </p:cNvPr>
          <p:cNvSpPr>
            <a:spLocks xmlns:a="http://schemas.openxmlformats.org/drawingml/2006/main" noGrp="1"/>
          </p:cNvSpPr>
          <p:nvPr/>
        </p:nvSpPr>
        <p:spPr>
          <a:xfrm xmlns:a="http://schemas.openxmlformats.org/drawingml/2006/main">
            <a:off x="6903720" y="2331720"/>
            <a:ext cx="1627632" cy="19202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libri"/>
                <a:ea typeface="Calibri"/>
                <a:cs typeface="Calibri"/>
              </a:rPr>
              <a:t>One graduated chain</a:t>
            </a:r>
          </a:p>
          <a:p xmlns:a="http://schemas.openxmlformats.org/drawingml/2006/main">
            <a:pPr marL="0" indent="0" algn="l">
              <a:spcBef>
                <a:spcPts val="600"/>
              </a:spcBef>
              <a:spcAft>
                <a:spcPts val="0"/>
              </a:spcAft>
              <a:buNone/>
            </a:pPr>
            <a:r>
              <a:rPr sz="1000" b="0" i="1" u="none" cap="none">
                <a:solidFill>
                  <a:srgbClr val="5A6377"/>
                </a:solidFill>
                <a:latin typeface="Calibri"/>
                <a:ea typeface="Calibri"/>
                <a:cs typeface="Calibri"/>
              </a:rPr>
              <a:t>“Rule itself is justice, justice itself is dharma, dharma itself is truth, truth itself is coexistence.”</a:t>
            </a:r>
          </a:p>
          <a:p xmlns:a="http://schemas.openxmlformats.org/drawingml/2006/main">
            <a:pPr marL="0" indent="0" algn="l">
              <a:spcBef>
                <a:spcPts val="500"/>
              </a:spcBef>
              <a:spcAft>
                <a:spcPts val="0"/>
              </a:spcAft>
              <a:buNone/>
            </a:pPr>
            <a:r>
              <a:rPr sz="1000" b="0" i="0" u="none" cap="none">
                <a:solidFill>
                  <a:srgbClr val="5A6377"/>
                </a:solidFill>
                <a:latin typeface="Calibri"/>
                <a:ea typeface="Calibri"/>
                <a:cs typeface="Calibri"/>
              </a:rPr>
              <a:t>— KD p. 13</a:t>
            </a:r>
          </a:p>
        </p:txBody>
      </p:sp>
      <p:sp>
        <p:nvSpPr>
          <p:cNvPr id="230" name="Google Shape;230;p10">
            <a:extLst xmlns:a="http://schemas.openxmlformats.org/drawingml/2006/main">
              <a:ext uri="{FF2B5EF4-FFF2-40B4-BE49-F238E27FC236}">
                <a16:creationId xmlns:a16="http://schemas.microsoft.com/office/drawing/2014/main" id="{9268F224-4C3A-454A-A2D9-30300DB4E8B3}"/>
              </a:ext>
            </a:extLst>
          </p:cNvPr>
          <p:cNvSpPr>
            <a:spLocks xmlns:a="http://schemas.openxmlformats.org/drawingml/2006/main" noGrp="1"/>
          </p:cNvSpPr>
          <p:nvPr/>
        </p:nvSpPr>
        <p:spPr>
          <a:xfrm xmlns:a="http://schemas.openxmlformats.org/drawingml/2006/main">
            <a:off x="502920" y="4560000"/>
            <a:ext cx="8138160" cy="23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00" b="0" i="1" u="none" cap="none">
                <a:solidFill>
                  <a:srgbClr val="9A6414"/>
                </a:solidFill>
                <a:latin typeface="Calibri"/>
                <a:ea typeface="Calibri"/>
                <a:cs typeface="Calibri"/>
              </a:rPr>
              <a:t>KD distinguishes six perspectives; MVD also scales justice, dharma, and truth across relationship, social order, and coexistence.</a:t>
            </a:r>
          </a:p>
        </p:txBody>
      </p:sp>
      <p:sp>
        <p:nvSpPr>
          <p:cNvPr id="220" name="Google Shape;220;p10">
            <a:extLst xmlns:a="http://schemas.openxmlformats.org/drawingml/2006/main">
              <a:ext uri="{FF2B5EF4-FFF2-40B4-BE49-F238E27FC236}">
                <a16:creationId xmlns:a16="http://schemas.microsoft.com/office/drawing/2014/main" id="{8FBE3DC7-DB80-4DE6-B0B5-0F778F119380}"/>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25" b="0" i="1" u="none" cap="none">
                <a:solidFill>
                  <a:srgbClr val="5A6377"/>
                </a:solidFill>
                <a:latin typeface="Calibri"/>
                <a:ea typeface="Calibri"/>
                <a:cs typeface="Calibri"/>
              </a:rPr>
              <a:t>§1.12–§1.12.1 · KD pp. 10, 13, 60, 86</a:t>
            </a:r>
          </a:p>
        </p:txBody>
      </p:sp>
    </p:spTree>
    <p:extLst>
      <p:ext uri="{BB962C8B-B14F-4D97-AF65-F5344CB8AC3E}">
        <p14:creationId xmlns:p14="http://schemas.microsoft.com/office/powerpoint/2010/main" val="1592180054"/>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19" name="Google Shape;419;p18">
            <a:extLst xmlns:a="http://schemas.openxmlformats.org/drawingml/2006/main">
              <a:ext uri="{FF2B5EF4-FFF2-40B4-BE49-F238E27FC236}">
                <a16:creationId xmlns:a16="http://schemas.microsoft.com/office/drawing/2014/main" id="{AC19F2BA-9F1E-4A35-BBD0-E8FFB6791B4F}"/>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20" name="Google Shape;420;p18">
            <a:extLst xmlns:a="http://schemas.openxmlformats.org/drawingml/2006/main">
              <a:ext uri="{FF2B5EF4-FFF2-40B4-BE49-F238E27FC236}">
                <a16:creationId xmlns:a16="http://schemas.microsoft.com/office/drawing/2014/main" id="{5B4143EF-219D-46BC-904B-B59B34A724E6}"/>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21" name="Google Shape;421;p18">
            <a:extLst xmlns:a="http://schemas.openxmlformats.org/drawingml/2006/main">
              <a:ext uri="{FF2B5EF4-FFF2-40B4-BE49-F238E27FC236}">
                <a16:creationId xmlns:a16="http://schemas.microsoft.com/office/drawing/2014/main" id="{561CF8D0-7097-47DE-8D1B-22B21EE0610E}"/>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22" name="Google Shape;422;p18">
            <a:extLst xmlns:a="http://schemas.openxmlformats.org/drawingml/2006/main">
              <a:ext uri="{FF2B5EF4-FFF2-40B4-BE49-F238E27FC236}">
                <a16:creationId xmlns:a16="http://schemas.microsoft.com/office/drawing/2014/main" id="{8DA75099-9845-48B9-8CDE-83573C3CEB13}"/>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§§1.3–1.4, 1.7–1.13 · THE EPISTEMIC LADDER</a:t>
            </a:r>
          </a:p>
        </p:txBody>
      </p:sp>
      <p:sp>
        <p:nvSpPr>
          <p:cNvPr id="423" name="Google Shape;423;p18">
            <a:extLst xmlns:a="http://schemas.openxmlformats.org/drawingml/2006/main">
              <a:ext uri="{FF2B5EF4-FFF2-40B4-BE49-F238E27FC236}">
                <a16:creationId xmlns:a16="http://schemas.microsoft.com/office/drawing/2014/main" id="{A9BB04D9-3F67-41A2-8A26-AA19BA8992E7}"/>
              </a:ext>
            </a:extLst>
          </p:cNvPr>
          <p:cNvSpPr>
            <a:spLocks xmlns:a="http://schemas.openxmlformats.org/drawingml/2006/main" noGrp="1"/>
          </p:cNvSpPr>
          <p:nvPr/>
        </p:nvSpPr>
        <p:spPr>
          <a:xfrm xmlns:a="http://schemas.openxmlformats.org/drawingml/2006/main">
            <a:off x="960120" y="514350"/>
            <a:ext cx="7726680" cy="49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The Epistemic Ladder</a:t>
            </a:r>
          </a:p>
        </p:txBody>
      </p:sp>
      <p:sp>
        <p:nvSpPr>
          <p:cNvPr id="424" name="Google Shape;424;p18">
            <a:extLst xmlns:a="http://schemas.openxmlformats.org/drawingml/2006/main">
              <a:ext uri="{FF2B5EF4-FFF2-40B4-BE49-F238E27FC236}">
                <a16:creationId xmlns:a16="http://schemas.microsoft.com/office/drawing/2014/main" id="{F0E43322-0A7C-40FB-BD60-2F7922B40F04}"/>
              </a:ext>
            </a:extLst>
          </p:cNvPr>
          <p:cNvSpPr>
            <a:spLocks xmlns:a="http://schemas.openxmlformats.org/drawingml/2006/main" noGrp="1"/>
          </p:cNvSpPr>
          <p:nvPr/>
        </p:nvSpPr>
        <p:spPr>
          <a:xfrm xmlns:a="http://schemas.openxmlformats.org/drawingml/2006/main">
            <a:off x="548640" y="1280160"/>
            <a:ext cx="374904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1350" b="1" i="0" u="none" cap="none">
                <a:solidFill>
                  <a:srgbClr val="1E2447"/>
                </a:solidFill>
                <a:latin typeface="Cambria"/>
                <a:ea typeface="Cambria"/>
                <a:cs typeface="Cambria"/>
              </a:rPr>
              <a:t>What must be understood — widening mutual context</a:t>
            </a:r>
          </a:p>
        </p:txBody>
      </p:sp>
      <p:sp>
        <p:nvSpPr>
          <p:cNvPr id="450" name="Google Shape;450;p18">
            <a:extLst xmlns:a="http://schemas.openxmlformats.org/drawingml/2006/main">
              <a:ext uri="{FF2B5EF4-FFF2-40B4-BE49-F238E27FC236}">
                <a16:creationId xmlns:a16="http://schemas.microsoft.com/office/drawing/2014/main" id="{A53A7AB2-1B4D-4CF8-B8AD-CA57930C99EB}"/>
              </a:ext>
            </a:extLst>
          </p:cNvPr>
          <p:cNvSpPr>
            <a:spLocks xmlns:a="http://schemas.openxmlformats.org/drawingml/2006/main" noGrp="1"/>
          </p:cNvSpPr>
          <p:nvPr/>
        </p:nvSpPr>
        <p:spPr>
          <a:xfrm xmlns:a="http://schemas.openxmlformats.org/drawingml/2006/main">
            <a:off x="274320" y="1600000"/>
            <a:ext cx="4297680" cy="420000"/>
          </a:xfrm>
          <a:prstGeom xmlns:a="http://schemas.openxmlformats.org/drawingml/2006/main" prst="roundRect">
            <a:avLst>
              <a:gd name="adj" fmla="val 14286"/>
            </a:avLst>
          </a:prstGeom>
          <a:solidFill xmlns:a="http://schemas.openxmlformats.org/drawingml/2006/main">
            <a:srgbClr val="9A6414"/>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51" name="Google Shape;451;p18">
            <a:extLst xmlns:a="http://schemas.openxmlformats.org/drawingml/2006/main">
              <a:ext uri="{FF2B5EF4-FFF2-40B4-BE49-F238E27FC236}">
                <a16:creationId xmlns:a16="http://schemas.microsoft.com/office/drawing/2014/main" id="{ED00F5D3-2ABA-4839-8328-84D8D7953D68}"/>
              </a:ext>
            </a:extLst>
          </p:cNvPr>
          <p:cNvSpPr>
            <a:spLocks xmlns:a="http://schemas.openxmlformats.org/drawingml/2006/main" noGrp="1"/>
          </p:cNvSpPr>
          <p:nvPr/>
        </p:nvSpPr>
        <p:spPr>
          <a:xfrm xmlns:a="http://schemas.openxmlformats.org/drawingml/2006/main">
            <a:off x="274320" y="1600000"/>
            <a:ext cx="4297680" cy="4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150" b="1" i="0" u="none" cap="none">
                <a:solidFill>
                  <a:srgbClr val="FFFFFF"/>
                </a:solidFill>
                <a:latin typeface="Calibri"/>
                <a:ea typeface="Calibri"/>
                <a:cs typeface="Calibri"/>
              </a:rPr>
              <a:t>coexistence itself  ·  the telos of knowing</a:t>
            </a:r>
          </a:p>
        </p:txBody>
      </p:sp>
      <p:sp>
        <p:nvSpPr>
          <p:cNvPr id="452" name="Google Shape;452;p18">
            <a:extLst xmlns:a="http://schemas.openxmlformats.org/drawingml/2006/main">
              <a:ext uri="{FF2B5EF4-FFF2-40B4-BE49-F238E27FC236}">
                <a16:creationId xmlns:a16="http://schemas.microsoft.com/office/drawing/2014/main" id="{0969169C-3236-4F16-BE9A-E3957D4A6A9E}"/>
              </a:ext>
            </a:extLst>
          </p:cNvPr>
          <p:cNvSpPr>
            <a:spLocks xmlns:a="http://schemas.openxmlformats.org/drawingml/2006/main" noGrp="1"/>
          </p:cNvSpPr>
          <p:nvPr/>
        </p:nvSpPr>
        <p:spPr>
          <a:xfrm xmlns:a="http://schemas.openxmlformats.org/drawingml/2006/main">
            <a:off x="594360" y="2050000"/>
            <a:ext cx="3657600" cy="420000"/>
          </a:xfrm>
          <a:prstGeom xmlns:a="http://schemas.openxmlformats.org/drawingml/2006/main" prst="roundRect">
            <a:avLst>
              <a:gd name="adj" fmla="val 14286"/>
            </a:avLst>
          </a:prstGeom>
          <a:solidFill xmlns:a="http://schemas.openxmlformats.org/drawingml/2006/main">
            <a:schemeClr val="accent3">
              <a:lumMod val="40000"/>
              <a:lumOff val="60000"/>
            </a:schemeClr>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53" name="Google Shape;453;p18">
            <a:extLst xmlns:a="http://schemas.openxmlformats.org/drawingml/2006/main">
              <a:ext uri="{FF2B5EF4-FFF2-40B4-BE49-F238E27FC236}">
                <a16:creationId xmlns:a16="http://schemas.microsoft.com/office/drawing/2014/main" id="{72FCC9B4-A8AC-48A4-9F01-C35B56BEBBB7}"/>
              </a:ext>
            </a:extLst>
          </p:cNvPr>
          <p:cNvSpPr>
            <a:spLocks xmlns:a="http://schemas.openxmlformats.org/drawingml/2006/main" noGrp="1"/>
          </p:cNvSpPr>
          <p:nvPr/>
        </p:nvSpPr>
        <p:spPr>
          <a:xfrm xmlns:a="http://schemas.openxmlformats.org/drawingml/2006/main">
            <a:off x="594360" y="2050000"/>
            <a:ext cx="3657600" cy="4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150" b="1" i="0" u="none" cap="none">
                <a:solidFill>
                  <a:srgbClr val="1E2447"/>
                </a:solidFill>
                <a:latin typeface="Calibri"/>
                <a:ea typeface="Calibri"/>
                <a:cs typeface="Calibri"/>
              </a:rPr>
              <a:t>relationships  ·  shared expectations weighed by justice, dharma, and truth (§1.12)</a:t>
            </a:r>
          </a:p>
        </p:txBody>
      </p:sp>
      <p:sp>
        <p:nvSpPr>
          <p:cNvPr id="425" name="Google Shape;425;p18">
            <a:extLst xmlns:a="http://schemas.openxmlformats.org/drawingml/2006/main">
              <a:ext uri="{FF2B5EF4-FFF2-40B4-BE49-F238E27FC236}">
                <a16:creationId xmlns:a16="http://schemas.microsoft.com/office/drawing/2014/main" id="{F81FC8C1-6F3A-42F5-A7CB-13017A67F93B}"/>
              </a:ext>
            </a:extLst>
          </p:cNvPr>
          <p:cNvSpPr>
            <a:spLocks xmlns:a="http://schemas.openxmlformats.org/drawingml/2006/main" noGrp="1"/>
          </p:cNvSpPr>
          <p:nvPr/>
        </p:nvSpPr>
        <p:spPr>
          <a:xfrm xmlns:a="http://schemas.openxmlformats.org/drawingml/2006/main">
            <a:off x="914400" y="2500000"/>
            <a:ext cx="3017520" cy="420000"/>
          </a:xfrm>
          <a:prstGeom xmlns:a="http://schemas.openxmlformats.org/drawingml/2006/main" prst="roundRect">
            <a:avLst>
              <a:gd name="adj" fmla="val 14286"/>
            </a:avLst>
          </a:prstGeom>
          <a:solidFill xmlns:a="http://schemas.openxmlformats.org/drawingml/2006/main">
            <a:schemeClr val="accent3">
              <a:lumMod val="40000"/>
              <a:lumOff val="60000"/>
            </a:schemeClr>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26" name="Google Shape;426;p18">
            <a:extLst xmlns:a="http://schemas.openxmlformats.org/drawingml/2006/main">
              <a:ext uri="{FF2B5EF4-FFF2-40B4-BE49-F238E27FC236}">
                <a16:creationId xmlns:a16="http://schemas.microsoft.com/office/drawing/2014/main" id="{FFA15703-3322-44A6-8170-6B7B205EBB14}"/>
              </a:ext>
            </a:extLst>
          </p:cNvPr>
          <p:cNvSpPr>
            <a:spLocks xmlns:a="http://schemas.openxmlformats.org/drawingml/2006/main" noGrp="1"/>
          </p:cNvSpPr>
          <p:nvPr/>
        </p:nvSpPr>
        <p:spPr>
          <a:xfrm xmlns:a="http://schemas.openxmlformats.org/drawingml/2006/main">
            <a:off x="914400" y="2500000"/>
            <a:ext cx="3017520" cy="4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150" b="1" i="0" u="none" cap="none">
                <a:solidFill>
                  <a:srgbClr val="9A6414"/>
                </a:solidFill>
                <a:latin typeface="Calibri"/>
                <a:ea typeface="Calibri"/>
                <a:cs typeface="Calibri"/>
              </a:rPr>
              <a:t>dharma  ·  innateness evidenced in whole-order fulfilment</a:t>
            </a:r>
          </a:p>
        </p:txBody>
      </p:sp>
      <p:sp>
        <p:nvSpPr>
          <p:cNvPr id="427" name="Google Shape;427;p18">
            <a:extLst xmlns:a="http://schemas.openxmlformats.org/drawingml/2006/main">
              <a:ext uri="{FF2B5EF4-FFF2-40B4-BE49-F238E27FC236}">
                <a16:creationId xmlns:a16="http://schemas.microsoft.com/office/drawing/2014/main" id="{0361EBB0-84E5-479B-85C7-4C9B5804B9FA}"/>
              </a:ext>
            </a:extLst>
          </p:cNvPr>
          <p:cNvSpPr>
            <a:spLocks xmlns:a="http://schemas.openxmlformats.org/drawingml/2006/main" noGrp="1"/>
          </p:cNvSpPr>
          <p:nvPr/>
        </p:nvSpPr>
        <p:spPr>
          <a:xfrm xmlns:a="http://schemas.openxmlformats.org/drawingml/2006/main">
            <a:off x="1074420" y="2950000"/>
            <a:ext cx="2697480" cy="420000"/>
          </a:xfrm>
          <a:prstGeom xmlns:a="http://schemas.openxmlformats.org/drawingml/2006/main" prst="roundRect">
            <a:avLst>
              <a:gd name="adj" fmla="val 14286"/>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28" name="Google Shape;428;p18">
            <a:extLst xmlns:a="http://schemas.openxmlformats.org/drawingml/2006/main">
              <a:ext uri="{FF2B5EF4-FFF2-40B4-BE49-F238E27FC236}">
                <a16:creationId xmlns:a16="http://schemas.microsoft.com/office/drawing/2014/main" id="{0F84EEAC-434C-4925-9BB9-3DD284C2C194}"/>
              </a:ext>
            </a:extLst>
          </p:cNvPr>
          <p:cNvSpPr>
            <a:spLocks xmlns:a="http://schemas.openxmlformats.org/drawingml/2006/main" noGrp="1"/>
          </p:cNvSpPr>
          <p:nvPr/>
        </p:nvSpPr>
        <p:spPr>
          <a:xfrm xmlns:a="http://schemas.openxmlformats.org/drawingml/2006/main">
            <a:off x="1074420" y="2950000"/>
            <a:ext cx="2697480" cy="4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150" b="1" i="0" u="none" cap="none">
                <a:solidFill>
                  <a:srgbClr val="1E2447"/>
                </a:solidFill>
                <a:latin typeface="Calibri"/>
                <a:ea typeface="Calibri"/>
                <a:cs typeface="Calibri"/>
              </a:rPr>
              <a:t>svabhav  ·  usefulness within state, plane &amp; order</a:t>
            </a:r>
          </a:p>
        </p:txBody>
      </p:sp>
      <p:sp>
        <p:nvSpPr>
          <p:cNvPr id="429" name="Google Shape;429;p18">
            <a:extLst xmlns:a="http://schemas.openxmlformats.org/drawingml/2006/main">
              <a:ext uri="{FF2B5EF4-FFF2-40B4-BE49-F238E27FC236}">
                <a16:creationId xmlns:a16="http://schemas.microsoft.com/office/drawing/2014/main" id="{FD2DC8FD-9A9A-4C9A-9564-EA41F5ECC05F}"/>
              </a:ext>
            </a:extLst>
          </p:cNvPr>
          <p:cNvSpPr>
            <a:spLocks xmlns:a="http://schemas.openxmlformats.org/drawingml/2006/main" noGrp="1"/>
          </p:cNvSpPr>
          <p:nvPr/>
        </p:nvSpPr>
        <p:spPr>
          <a:xfrm xmlns:a="http://schemas.openxmlformats.org/drawingml/2006/main">
            <a:off x="1234440" y="3400000"/>
            <a:ext cx="2377440" cy="420000"/>
          </a:xfrm>
          <a:prstGeom xmlns:a="http://schemas.openxmlformats.org/drawingml/2006/main" prst="roundRect">
            <a:avLst>
              <a:gd name="adj" fmla="val 14286"/>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30" name="Google Shape;430;p18">
            <a:extLst xmlns:a="http://schemas.openxmlformats.org/drawingml/2006/main">
              <a:ext uri="{FF2B5EF4-FFF2-40B4-BE49-F238E27FC236}">
                <a16:creationId xmlns:a16="http://schemas.microsoft.com/office/drawing/2014/main" id="{E64E419E-35C0-4FE7-813A-AD7269E90919}"/>
              </a:ext>
            </a:extLst>
          </p:cNvPr>
          <p:cNvSpPr>
            <a:spLocks xmlns:a="http://schemas.openxmlformats.org/drawingml/2006/main" noGrp="1"/>
          </p:cNvSpPr>
          <p:nvPr/>
        </p:nvSpPr>
        <p:spPr>
          <a:xfrm xmlns:a="http://schemas.openxmlformats.org/drawingml/2006/main">
            <a:off x="1234440" y="3400000"/>
            <a:ext cx="2377440" cy="4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150" b="1" i="0" u="none" cap="none">
                <a:solidFill>
                  <a:srgbClr val="1E2447"/>
                </a:solidFill>
                <a:latin typeface="Calibri"/>
                <a:ea typeface="Calibri"/>
                <a:cs typeface="Calibri"/>
              </a:rPr>
              <a:t>guna  ·  effects evident in definite mutuality</a:t>
            </a:r>
          </a:p>
        </p:txBody>
      </p:sp>
      <p:sp>
        <p:nvSpPr>
          <p:cNvPr id="431" name="Google Shape;431;p18">
            <a:extLst xmlns:a="http://schemas.openxmlformats.org/drawingml/2006/main">
              <a:ext uri="{FF2B5EF4-FFF2-40B4-BE49-F238E27FC236}">
                <a16:creationId xmlns:a16="http://schemas.microsoft.com/office/drawing/2014/main" id="{A26EA2FC-59CD-418E-ADF4-5AF22119D2B2}"/>
              </a:ext>
            </a:extLst>
          </p:cNvPr>
          <p:cNvSpPr>
            <a:spLocks xmlns:a="http://schemas.openxmlformats.org/drawingml/2006/main" noGrp="1"/>
          </p:cNvSpPr>
          <p:nvPr/>
        </p:nvSpPr>
        <p:spPr>
          <a:xfrm xmlns:a="http://schemas.openxmlformats.org/drawingml/2006/main">
            <a:off x="1554480" y="3850000"/>
            <a:ext cx="1737360" cy="420000"/>
          </a:xfrm>
          <a:prstGeom xmlns:a="http://schemas.openxmlformats.org/drawingml/2006/main" prst="roundRect">
            <a:avLst>
              <a:gd name="adj" fmla="val 14286"/>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32" name="Google Shape;432;p18">
            <a:extLst xmlns:a="http://schemas.openxmlformats.org/drawingml/2006/main">
              <a:ext uri="{FF2B5EF4-FFF2-40B4-BE49-F238E27FC236}">
                <a16:creationId xmlns:a16="http://schemas.microsoft.com/office/drawing/2014/main" id="{14BA3C2D-3966-48F7-A294-E0FA8C17CF01}"/>
              </a:ext>
            </a:extLst>
          </p:cNvPr>
          <p:cNvSpPr>
            <a:spLocks xmlns:a="http://schemas.openxmlformats.org/drawingml/2006/main" noGrp="1"/>
          </p:cNvSpPr>
          <p:nvPr/>
        </p:nvSpPr>
        <p:spPr>
          <a:xfrm xmlns:a="http://schemas.openxmlformats.org/drawingml/2006/main">
            <a:off x="1554480" y="3850000"/>
            <a:ext cx="1737360" cy="4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150" b="1" i="0" u="none" cap="none">
                <a:solidFill>
                  <a:srgbClr val="1E2447"/>
                </a:solidFill>
                <a:latin typeface="Calibri"/>
                <a:ea typeface="Calibri"/>
                <a:cs typeface="Calibri"/>
              </a:rPr>
              <a:t>form  ·  real structure reflected in mutual facing</a:t>
            </a:r>
          </a:p>
        </p:txBody>
      </p:sp>
      <p:sp>
        <p:nvSpPr>
          <p:cNvPr id="433" name="Google Shape;433;p18">
            <a:extLst xmlns:a="http://schemas.openxmlformats.org/drawingml/2006/main">
              <a:ext uri="{FF2B5EF4-FFF2-40B4-BE49-F238E27FC236}">
                <a16:creationId xmlns:a16="http://schemas.microsoft.com/office/drawing/2014/main" id="{E31E0910-FFE3-4D4A-94D3-27A5C3C61D52}"/>
              </a:ext>
            </a:extLst>
          </p:cNvPr>
          <p:cNvSpPr>
            <a:spLocks xmlns:a="http://schemas.openxmlformats.org/drawingml/2006/main" noGrp="1"/>
          </p:cNvSpPr>
          <p:nvPr/>
        </p:nvSpPr>
        <p:spPr>
          <a:xfrm xmlns:a="http://schemas.openxmlformats.org/drawingml/2006/main">
            <a:off x="274320" y="4300000"/>
            <a:ext cx="4297680" cy="40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each rung widens the mutual context in which a real unit is understood; the top is a different kind of knowing — coexistence realised, not merely another observed aspect</a:t>
            </a:r>
          </a:p>
        </p:txBody>
      </p:sp>
      <p:sp>
        <p:nvSpPr>
          <p:cNvPr id="434" name="Google Shape;434;p18">
            <a:extLst xmlns:a="http://schemas.openxmlformats.org/drawingml/2006/main">
              <a:ext uri="{FF2B5EF4-FFF2-40B4-BE49-F238E27FC236}">
                <a16:creationId xmlns:a16="http://schemas.microsoft.com/office/drawing/2014/main" id="{E220C89B-021D-4776-983A-E31A49AA1D9F}"/>
              </a:ext>
            </a:extLst>
          </p:cNvPr>
          <p:cNvSpPr>
            <a:spLocks xmlns:a="http://schemas.openxmlformats.org/drawingml/2006/main" noGrp="1"/>
          </p:cNvSpPr>
          <p:nvPr/>
        </p:nvSpPr>
        <p:spPr>
          <a:xfrm xmlns:a="http://schemas.openxmlformats.org/drawingml/2006/main">
            <a:off x="4892040" y="1280160"/>
            <a:ext cx="34290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1350" b="1" i="0" u="none" cap="none">
                <a:solidFill>
                  <a:srgbClr val="1E2447"/>
                </a:solidFill>
                <a:latin typeface="Cambria"/>
                <a:ea typeface="Cambria"/>
                <a:cs typeface="Cambria"/>
              </a:rPr>
              <a:t>How knowing happens — within jeevan</a:t>
            </a:r>
          </a:p>
        </p:txBody>
      </p:sp>
      <p:sp>
        <p:nvSpPr>
          <p:cNvPr id="435" name="Google Shape;435;p18">
            <a:extLst xmlns:a="http://schemas.openxmlformats.org/drawingml/2006/main">
              <a:ext uri="{FF2B5EF4-FFF2-40B4-BE49-F238E27FC236}">
                <a16:creationId xmlns:a16="http://schemas.microsoft.com/office/drawing/2014/main" id="{79ECD1B1-07B3-4D0C-A1FD-E24C3F416BB2}"/>
              </a:ext>
            </a:extLst>
          </p:cNvPr>
          <p:cNvSpPr>
            <a:spLocks xmlns:a="http://schemas.openxmlformats.org/drawingml/2006/main" noGrp="1"/>
          </p:cNvSpPr>
          <p:nvPr/>
        </p:nvSpPr>
        <p:spPr>
          <a:xfrm xmlns:a="http://schemas.openxmlformats.org/drawingml/2006/main">
            <a:off x="4892040" y="1645920"/>
            <a:ext cx="3429000" cy="457200"/>
          </a:xfrm>
          <a:prstGeom xmlns:a="http://schemas.openxmlformats.org/drawingml/2006/main" prst="roundRect">
            <a:avLst>
              <a:gd name="adj" fmla="val 16000"/>
            </a:avLst>
          </a:prstGeom>
          <a:solidFill xmlns:a="http://schemas.openxmlformats.org/drawingml/2006/main">
            <a:srgbClr val="FAF1D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36" name="Google Shape;436;p18">
            <a:extLst xmlns:a="http://schemas.openxmlformats.org/drawingml/2006/main">
              <a:ext uri="{FF2B5EF4-FFF2-40B4-BE49-F238E27FC236}">
                <a16:creationId xmlns:a16="http://schemas.microsoft.com/office/drawing/2014/main" id="{3670FC36-729C-4187-B7C8-6A6C96F6092F}"/>
              </a:ext>
            </a:extLst>
          </p:cNvPr>
          <p:cNvSpPr>
            <a:spLocks xmlns:a="http://schemas.openxmlformats.org/drawingml/2006/main" noGrp="1"/>
          </p:cNvSpPr>
          <p:nvPr/>
        </p:nvSpPr>
        <p:spPr>
          <a:xfrm xmlns:a="http://schemas.openxmlformats.org/drawingml/2006/main">
            <a:off x="5029200" y="1645920"/>
            <a:ext cx="32004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1" i="0" u="none" cap="none">
                <a:solidFill>
                  <a:srgbClr val="9A6414"/>
                </a:solidFill>
                <a:latin typeface="Calibri"/>
                <a:ea typeface="Calibri"/>
                <a:cs typeface="Calibri"/>
              </a:rPr>
              <a:t>Core self (atma)   </a:t>
            </a:r>
            <a:r>
              <a:rPr sz="900" b="0" i="0" u="none" cap="none">
                <a:solidFill>
                  <a:srgbClr val="5A6377"/>
                </a:solidFill>
                <a:latin typeface="Calibri"/>
                <a:ea typeface="Calibri"/>
                <a:cs typeface="Calibri"/>
              </a:rPr>
              <a:t>realisation — only through truth · authenticity</a:t>
            </a:r>
          </a:p>
        </p:txBody>
      </p:sp>
      <p:sp>
        <p:nvSpPr>
          <p:cNvPr id="437" name="Google Shape;437;p18">
            <a:extLst xmlns:a="http://schemas.openxmlformats.org/drawingml/2006/main">
              <a:ext uri="{FF2B5EF4-FFF2-40B4-BE49-F238E27FC236}">
                <a16:creationId xmlns:a16="http://schemas.microsoft.com/office/drawing/2014/main" id="{2A893C6A-C0F2-4AE3-9C30-D6BA51DA39FA}"/>
              </a:ext>
            </a:extLst>
          </p:cNvPr>
          <p:cNvSpPr>
            <a:spLocks xmlns:a="http://schemas.openxmlformats.org/drawingml/2006/main" noGrp="1"/>
          </p:cNvSpPr>
          <p:nvPr/>
        </p:nvSpPr>
        <p:spPr>
          <a:xfrm xmlns:a="http://schemas.openxmlformats.org/drawingml/2006/main">
            <a:off x="4892040" y="2212848"/>
            <a:ext cx="3429000" cy="457200"/>
          </a:xfrm>
          <a:prstGeom xmlns:a="http://schemas.openxmlformats.org/drawingml/2006/main" prst="roundRect">
            <a:avLst>
              <a:gd name="adj" fmla="val 16000"/>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38" name="Google Shape;438;p18">
            <a:extLst xmlns:a="http://schemas.openxmlformats.org/drawingml/2006/main">
              <a:ext uri="{FF2B5EF4-FFF2-40B4-BE49-F238E27FC236}">
                <a16:creationId xmlns:a16="http://schemas.microsoft.com/office/drawing/2014/main" id="{13DBAC8B-BA37-4E22-A075-812F4996B776}"/>
              </a:ext>
            </a:extLst>
          </p:cNvPr>
          <p:cNvSpPr>
            <a:spLocks xmlns:a="http://schemas.openxmlformats.org/drawingml/2006/main" noGrp="1"/>
          </p:cNvSpPr>
          <p:nvPr/>
        </p:nvSpPr>
        <p:spPr>
          <a:xfrm xmlns:a="http://schemas.openxmlformats.org/drawingml/2006/main">
            <a:off x="5029200" y="2212848"/>
            <a:ext cx="32004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1" i="0" u="none" cap="none">
                <a:solidFill>
                  <a:srgbClr val="1E2447"/>
                </a:solidFill>
                <a:latin typeface="Calibri"/>
                <a:ea typeface="Calibri"/>
                <a:cs typeface="Calibri"/>
              </a:rPr>
              <a:t>Resolve (buddhi)   </a:t>
            </a:r>
            <a:r>
              <a:rPr sz="900" b="0" i="0" u="none" cap="none">
                <a:solidFill>
                  <a:srgbClr val="5A6377"/>
                </a:solidFill>
                <a:latin typeface="Calibri"/>
                <a:ea typeface="Calibri"/>
                <a:cs typeface="Calibri"/>
              </a:rPr>
              <a:t>enlightenment of existence, jeevan, conduct · resolve</a:t>
            </a:r>
          </a:p>
        </p:txBody>
      </p:sp>
      <p:sp>
        <p:nvSpPr>
          <p:cNvPr id="439" name="Google Shape;439;p18">
            <a:extLst xmlns:a="http://schemas.openxmlformats.org/drawingml/2006/main">
              <a:ext uri="{FF2B5EF4-FFF2-40B4-BE49-F238E27FC236}">
                <a16:creationId xmlns:a16="http://schemas.microsoft.com/office/drawing/2014/main" id="{BD84D243-0706-4ECB-8BDE-CCD0CFF66D99}"/>
              </a:ext>
            </a:extLst>
          </p:cNvPr>
          <p:cNvSpPr>
            <a:spLocks xmlns:a="http://schemas.openxmlformats.org/drawingml/2006/main" noGrp="1"/>
          </p:cNvSpPr>
          <p:nvPr/>
        </p:nvSpPr>
        <p:spPr>
          <a:xfrm xmlns:a="http://schemas.openxmlformats.org/drawingml/2006/main">
            <a:off x="4892040" y="2779776"/>
            <a:ext cx="3429000" cy="457200"/>
          </a:xfrm>
          <a:prstGeom xmlns:a="http://schemas.openxmlformats.org/drawingml/2006/main" prst="roundRect">
            <a:avLst>
              <a:gd name="adj" fmla="val 16000"/>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40" name="Google Shape;440;p18">
            <a:extLst xmlns:a="http://schemas.openxmlformats.org/drawingml/2006/main">
              <a:ext uri="{FF2B5EF4-FFF2-40B4-BE49-F238E27FC236}">
                <a16:creationId xmlns:a16="http://schemas.microsoft.com/office/drawing/2014/main" id="{9C5519FC-525B-4B0C-8160-C849C521ABB4}"/>
              </a:ext>
            </a:extLst>
          </p:cNvPr>
          <p:cNvSpPr>
            <a:spLocks xmlns:a="http://schemas.openxmlformats.org/drawingml/2006/main" noGrp="1"/>
          </p:cNvSpPr>
          <p:nvPr/>
        </p:nvSpPr>
        <p:spPr>
          <a:xfrm xmlns:a="http://schemas.openxmlformats.org/drawingml/2006/main">
            <a:off x="5029200" y="2779776"/>
            <a:ext cx="32004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1" i="0" u="none" cap="none">
                <a:solidFill>
                  <a:srgbClr val="1E2447"/>
                </a:solidFill>
                <a:latin typeface="Calibri"/>
                <a:ea typeface="Calibri"/>
                <a:cs typeface="Calibri"/>
              </a:rPr>
              <a:t>Desire (chitta)   </a:t>
            </a:r>
            <a:r>
              <a:rPr sz="900" b="0" i="0" u="none" cap="none">
                <a:solidFill>
                  <a:srgbClr val="5A6377"/>
                </a:solidFill>
                <a:latin typeface="Calibri"/>
                <a:ea typeface="Calibri"/>
                <a:cs typeface="Calibri"/>
              </a:rPr>
              <a:t>contemplation &amp; visualisation · direct recognition</a:t>
            </a:r>
          </a:p>
        </p:txBody>
      </p:sp>
      <p:sp>
        <p:nvSpPr>
          <p:cNvPr id="441" name="Google Shape;441;p18">
            <a:extLst xmlns:a="http://schemas.openxmlformats.org/drawingml/2006/main">
              <a:ext uri="{FF2B5EF4-FFF2-40B4-BE49-F238E27FC236}">
                <a16:creationId xmlns:a16="http://schemas.microsoft.com/office/drawing/2014/main" id="{617665E1-C932-4F56-9689-726D460A92A2}"/>
              </a:ext>
            </a:extLst>
          </p:cNvPr>
          <p:cNvSpPr>
            <a:spLocks xmlns:a="http://schemas.openxmlformats.org/drawingml/2006/main" noGrp="1"/>
          </p:cNvSpPr>
          <p:nvPr/>
        </p:nvSpPr>
        <p:spPr>
          <a:xfrm xmlns:a="http://schemas.openxmlformats.org/drawingml/2006/main">
            <a:off x="4892040" y="3346704"/>
            <a:ext cx="3429000" cy="457200"/>
          </a:xfrm>
          <a:prstGeom xmlns:a="http://schemas.openxmlformats.org/drawingml/2006/main" prst="roundRect">
            <a:avLst>
              <a:gd name="adj" fmla="val 16000"/>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42" name="Google Shape;442;p18">
            <a:extLst xmlns:a="http://schemas.openxmlformats.org/drawingml/2006/main">
              <a:ext uri="{FF2B5EF4-FFF2-40B4-BE49-F238E27FC236}">
                <a16:creationId xmlns:a16="http://schemas.microsoft.com/office/drawing/2014/main" id="{88CA3D4A-3ADF-41F4-86A7-A2DEB5EC083C}"/>
              </a:ext>
            </a:extLst>
          </p:cNvPr>
          <p:cNvSpPr>
            <a:spLocks xmlns:a="http://schemas.openxmlformats.org/drawingml/2006/main" noGrp="1"/>
          </p:cNvSpPr>
          <p:nvPr/>
        </p:nvSpPr>
        <p:spPr>
          <a:xfrm xmlns:a="http://schemas.openxmlformats.org/drawingml/2006/main">
            <a:off x="5029200" y="3346704"/>
            <a:ext cx="32004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1" i="0" u="none" cap="none">
                <a:solidFill>
                  <a:srgbClr val="1E2447"/>
                </a:solidFill>
                <a:latin typeface="Calibri"/>
                <a:ea typeface="Calibri"/>
                <a:cs typeface="Calibri"/>
              </a:rPr>
              <a:t>Thought (vritti)   </a:t>
            </a:r>
            <a:r>
              <a:rPr sz="900" b="0" i="0" u="none" cap="none">
                <a:solidFill>
                  <a:srgbClr val="5A6377"/>
                </a:solidFill>
                <a:latin typeface="Calibri"/>
                <a:ea typeface="Calibri"/>
                <a:cs typeface="Calibri"/>
              </a:rPr>
              <a:t>deliberation in refuge of justice–dharma–truth · analysis</a:t>
            </a:r>
          </a:p>
        </p:txBody>
      </p:sp>
      <p:sp>
        <p:nvSpPr>
          <p:cNvPr id="443" name="Google Shape;443;p18">
            <a:extLst xmlns:a="http://schemas.openxmlformats.org/drawingml/2006/main">
              <a:ext uri="{FF2B5EF4-FFF2-40B4-BE49-F238E27FC236}">
                <a16:creationId xmlns:a16="http://schemas.microsoft.com/office/drawing/2014/main" id="{0F893CF6-212B-42B7-A187-A405DECB25AC}"/>
              </a:ext>
            </a:extLst>
          </p:cNvPr>
          <p:cNvSpPr>
            <a:spLocks xmlns:a="http://schemas.openxmlformats.org/drawingml/2006/main" noGrp="1"/>
          </p:cNvSpPr>
          <p:nvPr/>
        </p:nvSpPr>
        <p:spPr>
          <a:xfrm xmlns:a="http://schemas.openxmlformats.org/drawingml/2006/main">
            <a:off x="4892040" y="3913632"/>
            <a:ext cx="3429000" cy="457200"/>
          </a:xfrm>
          <a:prstGeom xmlns:a="http://schemas.openxmlformats.org/drawingml/2006/main" prst="roundRect">
            <a:avLst>
              <a:gd name="adj" fmla="val 16000"/>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44" name="Google Shape;444;p18">
            <a:extLst xmlns:a="http://schemas.openxmlformats.org/drawingml/2006/main">
              <a:ext uri="{FF2B5EF4-FFF2-40B4-BE49-F238E27FC236}">
                <a16:creationId xmlns:a16="http://schemas.microsoft.com/office/drawing/2014/main" id="{AB0D39D1-8330-498C-B3C9-712CB43BCA59}"/>
              </a:ext>
            </a:extLst>
          </p:cNvPr>
          <p:cNvSpPr>
            <a:spLocks xmlns:a="http://schemas.openxmlformats.org/drawingml/2006/main" noGrp="1"/>
          </p:cNvSpPr>
          <p:nvPr/>
        </p:nvSpPr>
        <p:spPr>
          <a:xfrm xmlns:a="http://schemas.openxmlformats.org/drawingml/2006/main">
            <a:off x="5029200" y="3913632"/>
            <a:ext cx="32004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1" i="0" u="none" cap="none">
                <a:solidFill>
                  <a:srgbClr val="1E2447"/>
                </a:solidFill>
                <a:latin typeface="Calibri"/>
                <a:ea typeface="Calibri"/>
                <a:cs typeface="Calibri"/>
              </a:rPr>
              <a:t>Hope (mun)   </a:t>
            </a:r>
            <a:r>
              <a:rPr sz="900" b="0" i="0" u="none" cap="none">
                <a:solidFill>
                  <a:srgbClr val="5A6377"/>
                </a:solidFill>
                <a:latin typeface="Calibri"/>
                <a:ea typeface="Calibri"/>
                <a:cs typeface="Calibri"/>
              </a:rPr>
              <a:t>taste &amp; selection — first acceptance of the proposal</a:t>
            </a:r>
          </a:p>
        </p:txBody>
      </p:sp>
      <p:sp>
        <p:nvSpPr>
          <p:cNvPr id="454" name="Google Shape;454;p18">
            <a:extLst xmlns:a="http://schemas.openxmlformats.org/drawingml/2006/main">
              <a:ext uri="{FF2B5EF4-FFF2-40B4-BE49-F238E27FC236}">
                <a16:creationId xmlns:a16="http://schemas.microsoft.com/office/drawing/2014/main" id="{42229DEC-31D7-46FC-920E-80EFFB0F4C62}"/>
              </a:ext>
            </a:extLst>
          </p:cNvPr>
          <p:cNvSpPr>
            <a:spLocks xmlns:a="http://schemas.openxmlformats.org/drawingml/2006/main" noGrp="1"/>
          </p:cNvSpPr>
          <p:nvPr/>
        </p:nvSpPr>
        <p:spPr>
          <a:xfrm xmlns:a="http://schemas.openxmlformats.org/drawingml/2006/main">
            <a:off x="5029200" y="2092984"/>
            <a:ext cx="3200400" cy="13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800" b="0" i="1" u="none" cap="none">
                <a:solidFill>
                  <a:srgbClr val="9A6414"/>
                </a:solidFill>
                <a:latin typeface="Calibri"/>
                <a:ea typeface="Calibri"/>
                <a:cs typeface="Calibri"/>
              </a:rPr>
              <a:t>acted in alignment → bliss</a:t>
            </a:r>
          </a:p>
        </p:txBody>
      </p:sp>
      <p:sp>
        <p:nvSpPr>
          <p:cNvPr id="455" name="Google Shape;455;p18">
            <a:extLst xmlns:a="http://schemas.openxmlformats.org/drawingml/2006/main">
              <a:ext uri="{FF2B5EF4-FFF2-40B4-BE49-F238E27FC236}">
                <a16:creationId xmlns:a16="http://schemas.microsoft.com/office/drawing/2014/main" id="{50497EFB-3B56-4C56-B17F-B5D6FF917133}"/>
              </a:ext>
            </a:extLst>
          </p:cNvPr>
          <p:cNvSpPr>
            <a:spLocks xmlns:a="http://schemas.openxmlformats.org/drawingml/2006/main" noGrp="1"/>
          </p:cNvSpPr>
          <p:nvPr/>
        </p:nvSpPr>
        <p:spPr>
          <a:xfrm xmlns:a="http://schemas.openxmlformats.org/drawingml/2006/main">
            <a:off x="5029200" y="2659912"/>
            <a:ext cx="3200400" cy="13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800" b="0" i="1" u="none" cap="none">
                <a:solidFill>
                  <a:srgbClr val="9A6414"/>
                </a:solidFill>
                <a:latin typeface="Calibri"/>
                <a:ea typeface="Calibri"/>
                <a:cs typeface="Calibri"/>
              </a:rPr>
              <a:t>acted in alignment → contentment</a:t>
            </a:r>
          </a:p>
        </p:txBody>
      </p:sp>
      <p:sp>
        <p:nvSpPr>
          <p:cNvPr id="456" name="Google Shape;456;p18">
            <a:extLst xmlns:a="http://schemas.openxmlformats.org/drawingml/2006/main">
              <a:ext uri="{FF2B5EF4-FFF2-40B4-BE49-F238E27FC236}">
                <a16:creationId xmlns:a16="http://schemas.microsoft.com/office/drawing/2014/main" id="{423B0847-A9B7-4FA3-A1EE-1496BB4189F6}"/>
              </a:ext>
            </a:extLst>
          </p:cNvPr>
          <p:cNvSpPr>
            <a:spLocks xmlns:a="http://schemas.openxmlformats.org/drawingml/2006/main" noGrp="1"/>
          </p:cNvSpPr>
          <p:nvPr/>
        </p:nvSpPr>
        <p:spPr>
          <a:xfrm xmlns:a="http://schemas.openxmlformats.org/drawingml/2006/main">
            <a:off x="5029200" y="3226840"/>
            <a:ext cx="3200400" cy="13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800" b="0" i="1" u="none" cap="none">
                <a:solidFill>
                  <a:srgbClr val="9A6414"/>
                </a:solidFill>
                <a:latin typeface="Calibri"/>
                <a:ea typeface="Calibri"/>
                <a:cs typeface="Calibri"/>
              </a:rPr>
              <a:t>acted in alignment → peace</a:t>
            </a:r>
          </a:p>
        </p:txBody>
      </p:sp>
      <p:sp>
        <p:nvSpPr>
          <p:cNvPr id="457" name="Google Shape;457;p18">
            <a:extLst xmlns:a="http://schemas.openxmlformats.org/drawingml/2006/main">
              <a:ext uri="{FF2B5EF4-FFF2-40B4-BE49-F238E27FC236}">
                <a16:creationId xmlns:a16="http://schemas.microsoft.com/office/drawing/2014/main" id="{C5C7BD53-143E-4687-91C3-C9872691A7D9}"/>
              </a:ext>
            </a:extLst>
          </p:cNvPr>
          <p:cNvSpPr>
            <a:spLocks xmlns:a="http://schemas.openxmlformats.org/drawingml/2006/main" noGrp="1"/>
          </p:cNvSpPr>
          <p:nvPr/>
        </p:nvSpPr>
        <p:spPr>
          <a:xfrm xmlns:a="http://schemas.openxmlformats.org/drawingml/2006/main">
            <a:off x="5029200" y="3793768"/>
            <a:ext cx="3200400" cy="13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800" b="0" i="1" u="none" cap="none">
                <a:solidFill>
                  <a:srgbClr val="9A6414"/>
                </a:solidFill>
                <a:latin typeface="Calibri"/>
                <a:ea typeface="Calibri"/>
                <a:cs typeface="Calibri"/>
              </a:rPr>
              <a:t>acted in alignment → happiness</a:t>
            </a:r>
          </a:p>
        </p:txBody>
      </p:sp>
      <p:cxnSp>
        <p:nvCxnSpPr>
          <p:cNvPr id="862" name="Google Shape;445;p18"/>
          <p:cNvCxnSpPr/>
          <p:nvPr/>
        </p:nvCxnSpPr>
        <p:spPr>
          <a:xfrm xmlns:a="http://schemas.openxmlformats.org/drawingml/2006/main">
            <a:off x="4718304" y="1737360"/>
            <a:ext cx="0" cy="2514600"/>
          </a:xfrm>
          <a:prstGeom xmlns:a="http://schemas.openxmlformats.org/drawingml/2006/main" prst="straightConnector1">
            <a:avLst/>
          </a:prstGeom>
          <a:ln xmlns:a="http://schemas.openxmlformats.org/drawingml/2006/main" w="22225" cap="flat">
            <a:solidFill>
              <a:srgbClr val="3B4A7A"/>
            </a:solidFill>
            <a:prstDash val="solid"/>
            <a:round/>
            <a:headEnd type="triangle" w="med" len="med"/>
            <a:tailEnd type="none" w="sm" len="sm"/>
          </a:ln>
        </p:spPr>
      </p:cxnSp>
      <p:sp>
        <p:nvSpPr>
          <p:cNvPr id="446" name="Google Shape;446;p18">
            <a:extLst xmlns:a="http://schemas.openxmlformats.org/drawingml/2006/main">
              <a:ext uri="{FF2B5EF4-FFF2-40B4-BE49-F238E27FC236}">
                <a16:creationId xmlns:a16="http://schemas.microsoft.com/office/drawing/2014/main" id="{6B44C758-EC70-4A2A-97D3-7B86D0A2FA77}"/>
              </a:ext>
            </a:extLst>
          </p:cNvPr>
          <p:cNvSpPr>
            <a:spLocks xmlns:a="http://schemas.openxmlformats.org/drawingml/2006/main" noGrp="1"/>
          </p:cNvSpPr>
          <p:nvPr/>
        </p:nvSpPr>
        <p:spPr>
          <a:xfrm xmlns:a="http://schemas.openxmlformats.org/drawingml/2006/main" rot="-5400000">
            <a:off x="3218688" y="2852928"/>
            <a:ext cx="26517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850" b="0" i="1" u="none" cap="none">
                <a:solidFill>
                  <a:srgbClr val="3B4A7A"/>
                </a:solidFill>
                <a:latin typeface="Calibri"/>
                <a:ea typeface="Calibri"/>
                <a:cs typeface="Calibri"/>
              </a:rPr>
              <a:t>reflection (inward) · knowing deepens</a:t>
            </a:r>
          </a:p>
        </p:txBody>
      </p:sp>
      <p:cxnSp>
        <p:nvCxnSpPr>
          <p:cNvPr id="864" name="Google Shape;447;p18"/>
          <p:cNvCxnSpPr/>
          <p:nvPr/>
        </p:nvCxnSpPr>
        <p:spPr>
          <a:xfrm xmlns:a="http://schemas.openxmlformats.org/drawingml/2006/main">
            <a:off x="8503920" y="1737360"/>
            <a:ext cx="0" cy="2514600"/>
          </a:xfrm>
          <a:prstGeom xmlns:a="http://schemas.openxmlformats.org/drawingml/2006/main" prst="straightConnector1">
            <a:avLst/>
          </a:prstGeom>
          <a:ln xmlns:a="http://schemas.openxmlformats.org/drawingml/2006/main" w="22225" cap="flat">
            <a:solidFill>
              <a:srgbClr val="9A6414"/>
            </a:solidFill>
            <a:prstDash val="solid"/>
            <a:round/>
            <a:headEnd type="none" w="sm" len="sm"/>
            <a:tailEnd type="triangle" w="med" len="med"/>
          </a:ln>
        </p:spPr>
      </p:cxnSp>
      <p:sp>
        <p:nvSpPr>
          <p:cNvPr id="448" name="Google Shape;448;p18">
            <a:extLst xmlns:a="http://schemas.openxmlformats.org/drawingml/2006/main">
              <a:ext uri="{FF2B5EF4-FFF2-40B4-BE49-F238E27FC236}">
                <a16:creationId xmlns:a16="http://schemas.microsoft.com/office/drawing/2014/main" id="{B58B41CB-21B3-4AF5-80AB-46A0B06BD451}"/>
              </a:ext>
            </a:extLst>
          </p:cNvPr>
          <p:cNvSpPr>
            <a:spLocks xmlns:a="http://schemas.openxmlformats.org/drawingml/2006/main" noGrp="1"/>
          </p:cNvSpPr>
          <p:nvPr/>
        </p:nvSpPr>
        <p:spPr>
          <a:xfrm xmlns:a="http://schemas.openxmlformats.org/drawingml/2006/main" rot="5400000">
            <a:off x="7315200" y="2852928"/>
            <a:ext cx="26517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850" b="0" i="1" u="none" cap="none">
                <a:solidFill>
                  <a:srgbClr val="9A6414"/>
                </a:solidFill>
                <a:latin typeface="Calibri"/>
                <a:ea typeface="Calibri"/>
                <a:cs typeface="Calibri"/>
              </a:rPr>
              <a:t>projection (outward) · evidenced in conduct</a:t>
            </a:r>
          </a:p>
        </p:txBody>
      </p:sp>
      <p:sp>
        <p:nvSpPr>
          <p:cNvPr id="449" name="Google Shape;449;p18">
            <a:extLst xmlns:a="http://schemas.openxmlformats.org/drawingml/2006/main">
              <a:ext uri="{FF2B5EF4-FFF2-40B4-BE49-F238E27FC236}">
                <a16:creationId xmlns:a16="http://schemas.microsoft.com/office/drawing/2014/main" id="{DD863381-420E-49B6-B4C5-0F4491A4B9C3}"/>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The ladders meet at the top: coexistence itself, known and acted on in the core self, is felt as bliss — each lower pair, likewise, only when acted on, not merely known (§1.8, §1.13). MVD p. 11 · JV pp. 61, 120, 138 · MVD pp. 78, 101, 137</a:t>
            </a:r>
          </a:p>
        </p:txBody>
      </p:sp>
    </p:spTree>
    <p:extLst>
      <p:ext uri="{BB962C8B-B14F-4D97-AF65-F5344CB8AC3E}">
        <p14:creationId xmlns:p14="http://schemas.microsoft.com/office/powerpoint/2010/main" val="895812912"/>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04" name="Google Shape;404;p17">
            <a:extLst xmlns:a="http://schemas.openxmlformats.org/drawingml/2006/main">
              <a:ext uri="{FF2B5EF4-FFF2-40B4-BE49-F238E27FC236}">
                <a16:creationId xmlns:a16="http://schemas.microsoft.com/office/drawing/2014/main" id="{A6DECDBA-1BF0-46C6-9FE2-83FA2D3F7263}"/>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05" name="Google Shape;405;p17">
            <a:extLst xmlns:a="http://schemas.openxmlformats.org/drawingml/2006/main">
              <a:ext uri="{FF2B5EF4-FFF2-40B4-BE49-F238E27FC236}">
                <a16:creationId xmlns:a16="http://schemas.microsoft.com/office/drawing/2014/main" id="{648CB187-D686-4707-81B7-2A5DDB05B039}"/>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06" name="Google Shape;406;p17">
            <a:extLst xmlns:a="http://schemas.openxmlformats.org/drawingml/2006/main">
              <a:ext uri="{FF2B5EF4-FFF2-40B4-BE49-F238E27FC236}">
                <a16:creationId xmlns:a16="http://schemas.microsoft.com/office/drawing/2014/main" id="{50E4A58E-1CD0-4392-97C8-B28C827C922D}"/>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07" name="Google Shape;407;p17">
            <a:extLst xmlns:a="http://schemas.openxmlformats.org/drawingml/2006/main">
              <a:ext uri="{FF2B5EF4-FFF2-40B4-BE49-F238E27FC236}">
                <a16:creationId xmlns:a16="http://schemas.microsoft.com/office/drawing/2014/main" id="{ABCABD93-5ECC-4E09-A1F4-B59974ABDDC6}"/>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§1.15–§1.16 · METHOD AND EVIDENCE</a:t>
            </a:r>
          </a:p>
        </p:txBody>
      </p:sp>
      <p:sp>
        <p:nvSpPr>
          <p:cNvPr id="408" name="Google Shape;408;p17">
            <a:extLst xmlns:a="http://schemas.openxmlformats.org/drawingml/2006/main">
              <a:ext uri="{FF2B5EF4-FFF2-40B4-BE49-F238E27FC236}">
                <a16:creationId xmlns:a16="http://schemas.microsoft.com/office/drawing/2014/main" id="{891800AA-488D-4489-98EB-8B606D13F3F3}"/>
              </a:ext>
            </a:extLst>
          </p:cNvPr>
          <p:cNvSpPr>
            <a:spLocks xmlns:a="http://schemas.openxmlformats.org/drawingml/2006/main" noGrp="1"/>
          </p:cNvSpPr>
          <p:nvPr/>
        </p:nvSpPr>
        <p:spPr>
          <a:xfrm xmlns:a="http://schemas.openxmlformats.org/drawingml/2006/main">
            <a:off x="960120" y="514350"/>
            <a:ext cx="7726680" cy="5143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2550" b="1" i="0" u="none" cap="none">
                <a:solidFill>
                  <a:srgbClr val="1E2447"/>
                </a:solidFill>
                <a:latin typeface="Cambria"/>
                <a:ea typeface="Cambria"/>
                <a:cs typeface="Cambria"/>
              </a:rPr>
              <a:t>Different Methods Establish Different Things</a:t>
            </a:r>
          </a:p>
        </p:txBody>
      </p:sp>
      <p:sp>
        <p:nvSpPr>
          <p:cNvPr id="409" name="Google Shape;409;p17">
            <a:extLst xmlns:a="http://schemas.openxmlformats.org/drawingml/2006/main">
              <a:ext uri="{FF2B5EF4-FFF2-40B4-BE49-F238E27FC236}">
                <a16:creationId xmlns:a16="http://schemas.microsoft.com/office/drawing/2014/main" id="{76D228E5-3B3E-40F5-9DEF-B49F1687F3A7}"/>
              </a:ext>
            </a:extLst>
          </p:cNvPr>
          <p:cNvSpPr>
            <a:spLocks xmlns:a="http://schemas.openxmlformats.org/drawingml/2006/main" noGrp="1"/>
          </p:cNvSpPr>
          <p:nvPr/>
        </p:nvSpPr>
        <p:spPr>
          <a:xfrm xmlns:a="http://schemas.openxmlformats.org/drawingml/2006/main">
            <a:off x="640080" y="1234440"/>
            <a:ext cx="79552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Madhyasth Darshan uses several modes of warrant. They can support one another, but they do not establish the same thing. Publicly measurable physical claims remain answerable to instrument-based scientific inquiry.</a:t>
            </a:r>
          </a:p>
        </p:txBody>
      </p:sp>
      <p:graphicFrame>
        <p:nvGraphicFramePr>
          <p:cNvPr id="421" name="Google Shape;410;p17"/>
          <p:cNvGraphicFramePr/>
          <p:nvPr/>
        </p:nvGraphicFramePr>
        <p:xfrm>
          <a:off xmlns:a="http://schemas.openxmlformats.org/drawingml/2006/main" x="640080" y="1965960"/>
          <a:ext xmlns:a="http://schemas.openxmlformats.org/drawingml/2006/main" cx="7863850" cy="1810525"/>
        </p:xfrm>
        <a:graphic xmlns:a="http://schemas.openxmlformats.org/drawingml/2006/main">
          <a:graphicData uri="http://schemas.openxmlformats.org/drawingml/2006/table">
            <a:tbl>
              <a:tblPr>
                <a:tableStyleId>{6C92A692-798E-4634-90B1-36CD3966BFCB}</a:tableStyleId>
              </a:tblPr>
              <a:tblGrid>
                <a:gridCol w="1554475"/>
                <a:gridCol w="3017525"/>
                <a:gridCol w="3291850"/>
              </a:tblGrid>
              <a:tr h="310900">
                <a:tc>
                  <a:txBody>
                    <a:bodyPr/>
                    <a:lstStyle/>
                    <a:p>
                      <a:pPr marL="0" indent="0" algn="l">
                        <a:buNone/>
                      </a:pPr>
                      <a:r>
                        <a:rPr sz="1080" b="1" u="none" cap="none">
                          <a:solidFill>
                            <a:srgbClr val="FFFFFF"/>
                          </a:solidFill>
                          <a:latin typeface="Calibri"/>
                          <a:ea typeface="Calibri"/>
                          <a:cs typeface="Calibri"/>
                        </a:rPr>
                        <a:t>Mode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indent="0" algn="l">
                        <a:buNone/>
                      </a:pPr>
                      <a:r>
                        <a:rPr sz="1080" b="1" u="none" cap="none">
                          <a:solidFill>
                            <a:srgbClr val="FFFFFF"/>
                          </a:solidFill>
                          <a:latin typeface="Calibri"/>
                          <a:ea typeface="Calibri"/>
                          <a:cs typeface="Calibri"/>
                        </a:rPr>
                        <a:t>Can establish</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indent="0" algn="l">
                        <a:buNone/>
                      </a:pPr>
                      <a:r>
                        <a:rPr sz="1080" b="1" u="none" cap="none">
                          <a:solidFill>
                            <a:srgbClr val="FFFFFF"/>
                          </a:solidFill>
                          <a:latin typeface="Calibri"/>
                          <a:ea typeface="Calibri"/>
                          <a:cs typeface="Calibri"/>
                        </a:rPr>
                        <a:t>Cannot establish alone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r>
              <a:tr h="347475">
                <a:tc>
                  <a:txBody>
                    <a:bodyPr/>
                    <a:lstStyle/>
                    <a:p>
                      <a:pPr marL="0" indent="0" algn="l">
                        <a:buNone/>
                      </a:pPr>
                      <a:r>
                        <a:rPr sz="1080" u="none" cap="none">
                          <a:solidFill>
                            <a:srgbClr val="1E2447"/>
                          </a:solidFill>
                          <a:latin typeface="Calibri"/>
                          <a:ea typeface="Calibri"/>
                          <a:cs typeface="Calibri"/>
                        </a:rPr>
                        <a:t>Logical exposition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internal coherence and entailment</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empirical truth</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347475">
                <a:tc>
                  <a:txBody>
                    <a:bodyPr/>
                    <a:lstStyle/>
                    <a:p>
                      <a:pPr marL="0" indent="0" algn="l">
                        <a:buNone/>
                      </a:pPr>
                      <a:r>
                        <a:rPr sz="1080" u="none" cap="none">
                          <a:solidFill>
                            <a:srgbClr val="1E2447"/>
                          </a:solidFill>
                          <a:latin typeface="Calibri"/>
                          <a:ea typeface="Calibri"/>
                          <a:cs typeface="Calibri"/>
                        </a:rPr>
                        <a:t>Study &amp; self-examination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intelligibility and first-person recognition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physical identification of jeevan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347475">
                <a:tc>
                  <a:txBody>
                    <a:bodyPr/>
                    <a:lstStyle/>
                    <a:p>
                      <a:pPr marL="0" indent="0" algn="l">
                        <a:buNone/>
                      </a:pPr>
                      <a:r>
                        <a:rPr sz="1080" u="none" cap="none">
                          <a:solidFill>
                            <a:srgbClr val="1E2447"/>
                          </a:solidFill>
                          <a:latin typeface="Calibri"/>
                          <a:ea typeface="Calibri"/>
                          <a:cs typeface="Calibri"/>
                        </a:rPr>
                        <a:t>Experiment, practice &amp; conduct-evidence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effects in work, behaviour, and mutual satisfaction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measurement of T1 or the jeevan–body interface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457200">
                <a:tc>
                  <a:txBody>
                    <a:bodyPr/>
                    <a:lstStyle/>
                    <a:p>
                      <a:pPr marL="0" indent="0" algn="l">
                        <a:buNone/>
                      </a:pPr>
                      <a:r>
                        <a:rPr sz="1080" u="none" cap="none">
                          <a:solidFill>
                            <a:srgbClr val="1E2447"/>
                          </a:solidFill>
                          <a:latin typeface="Calibri"/>
                          <a:ea typeface="Calibri"/>
                          <a:cs typeface="Calibri"/>
                        </a:rPr>
                        <a:t>Realisation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the darshan’s claimed completion of knowing</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agreement from other methods</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bl>
          </a:graphicData>
        </a:graphic>
      </p:graphicFrame>
      <p:sp>
        <p:nvSpPr>
          <p:cNvPr id="411" name="Google Shape;411;p17">
            <a:extLst xmlns:a="http://schemas.openxmlformats.org/drawingml/2006/main">
              <a:ext uri="{FF2B5EF4-FFF2-40B4-BE49-F238E27FC236}">
                <a16:creationId xmlns:a16="http://schemas.microsoft.com/office/drawing/2014/main" id="{418760E8-0E36-42A3-8A05-FA272B72896D}"/>
              </a:ext>
            </a:extLst>
          </p:cNvPr>
          <p:cNvSpPr>
            <a:spLocks xmlns:a="http://schemas.openxmlformats.org/drawingml/2006/main" noGrp="1"/>
          </p:cNvSpPr>
          <p:nvPr/>
        </p:nvSpPr>
        <p:spPr>
          <a:xfrm xmlns:a="http://schemas.openxmlformats.org/drawingml/2006/main">
            <a:off x="640080" y="3977640"/>
            <a:ext cx="7863840" cy="731520"/>
          </a:xfrm>
          <a:prstGeom xmlns:a="http://schemas.openxmlformats.org/drawingml/2006/main" prst="roundRect">
            <a:avLst>
              <a:gd name="adj" fmla="val 11250"/>
            </a:avLst>
          </a:prstGeom>
          <a:solidFill xmlns:a="http://schemas.openxmlformats.org/drawingml/2006/main">
            <a:srgbClr val="FAF1D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12" name="Google Shape;412;p17">
            <a:extLst xmlns:a="http://schemas.openxmlformats.org/drawingml/2006/main">
              <a:ext uri="{FF2B5EF4-FFF2-40B4-BE49-F238E27FC236}">
                <a16:creationId xmlns:a16="http://schemas.microsoft.com/office/drawing/2014/main" id="{8281FD63-9352-4E7E-B80A-DAC849910495}"/>
              </a:ext>
            </a:extLst>
          </p:cNvPr>
          <p:cNvSpPr>
            <a:spLocks xmlns:a="http://schemas.openxmlformats.org/drawingml/2006/main" noGrp="1"/>
          </p:cNvSpPr>
          <p:nvPr/>
        </p:nvSpPr>
        <p:spPr>
          <a:xfrm xmlns:a="http://schemas.openxmlformats.org/drawingml/2006/main">
            <a:off x="868680" y="3977640"/>
            <a:ext cx="74066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1" i="0" u="none" cap="none">
                <a:solidFill>
                  <a:srgbClr val="9A6414"/>
                </a:solidFill>
                <a:latin typeface="Calibri"/>
                <a:ea typeface="Calibri"/>
                <a:cs typeface="Calibri"/>
              </a:rPr>
              <a:t>No accepted measurement procedure currently identifies T1, the jeevan–body interface, or post-body reassociation. These remain open to instrument-based scientific inquiry.</a:t>
            </a:r>
          </a:p>
        </p:txBody>
      </p:sp>
      <p:sp>
        <p:nvSpPr>
          <p:cNvPr id="413" name="Google Shape;413;p17">
            <a:extLst xmlns:a="http://schemas.openxmlformats.org/drawingml/2006/main">
              <a:ext uri="{FF2B5EF4-FFF2-40B4-BE49-F238E27FC236}">
                <a16:creationId xmlns:a16="http://schemas.microsoft.com/office/drawing/2014/main" id="{D2D14E48-0F9E-414D-B0D5-18B438B9695A}"/>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Study §1.15–§1.16 · Method and evidence</a:t>
            </a:r>
          </a:p>
        </p:txBody>
      </p:sp>
    </p:spTree>
    <p:extLst>
      <p:ext uri="{BB962C8B-B14F-4D97-AF65-F5344CB8AC3E}">
        <p14:creationId xmlns:p14="http://schemas.microsoft.com/office/powerpoint/2010/main" val="1942334141"/>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73" name="Google Shape;373;p16">
            <a:extLst xmlns:a="http://schemas.openxmlformats.org/drawingml/2006/main">
              <a:ext uri="{FF2B5EF4-FFF2-40B4-BE49-F238E27FC236}">
                <a16:creationId xmlns:a16="http://schemas.microsoft.com/office/drawing/2014/main" id="{07581D21-511B-4790-91C9-D90747F67FC9}"/>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4" name="Google Shape;374;p16">
            <a:extLst xmlns:a="http://schemas.openxmlformats.org/drawingml/2006/main">
              <a:ext uri="{FF2B5EF4-FFF2-40B4-BE49-F238E27FC236}">
                <a16:creationId xmlns:a16="http://schemas.microsoft.com/office/drawing/2014/main" id="{8E847718-D958-49AA-B3E7-98F2B43898D2}"/>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5" name="Google Shape;375;p16">
            <a:extLst xmlns:a="http://schemas.openxmlformats.org/drawingml/2006/main">
              <a:ext uri="{FF2B5EF4-FFF2-40B4-BE49-F238E27FC236}">
                <a16:creationId xmlns:a16="http://schemas.microsoft.com/office/drawing/2014/main" id="{7CFD9781-4DCA-4BEB-9313-9ECFFDBEC68C}"/>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6" name="Google Shape;376;p16">
            <a:extLst xmlns:a="http://schemas.openxmlformats.org/drawingml/2006/main">
              <a:ext uri="{FF2B5EF4-FFF2-40B4-BE49-F238E27FC236}">
                <a16:creationId xmlns:a16="http://schemas.microsoft.com/office/drawing/2014/main" id="{BA84033F-9FDD-4767-B014-140006D1DEC8}"/>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 1.7–1.8, 1.10, 1.12, 1.15</a:t>
            </a:r>
            <a:r>
              <a:rPr sz="1050" b="1" i="0" u="none" cap="none">
                <a:solidFill>
                  <a:srgbClr val="9A6414"/>
                </a:solidFill>
                <a:latin typeface="Calibri"/>
                <a:ea typeface="Calibri"/>
                <a:cs typeface="Calibri"/>
              </a:rPr>
              <a:t> · WHERE THE LADDER COMPLETES — OR STALLS</a:t>
            </a:r>
          </a:p>
        </p:txBody>
      </p:sp>
      <p:sp>
        <p:nvSpPr>
          <p:cNvPr id="377" name="Google Shape;377;p16">
            <a:extLst xmlns:a="http://schemas.openxmlformats.org/drawingml/2006/main">
              <a:ext uri="{FF2B5EF4-FFF2-40B4-BE49-F238E27FC236}">
                <a16:creationId xmlns:a16="http://schemas.microsoft.com/office/drawing/2014/main" id="{FF685332-26F8-4B79-8236-35E8714723B3}"/>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What Makes Me Happy?</a:t>
            </a:r>
          </a:p>
        </p:txBody>
      </p:sp>
      <p:sp>
        <p:nvSpPr>
          <p:cNvPr id="378" name="Google Shape;378;p16">
            <a:extLst xmlns:a="http://schemas.openxmlformats.org/drawingml/2006/main">
              <a:ext uri="{FF2B5EF4-FFF2-40B4-BE49-F238E27FC236}">
                <a16:creationId xmlns:a16="http://schemas.microsoft.com/office/drawing/2014/main" id="{A94A97B3-ABEF-4204-9496-E7445669F06A}"/>
              </a:ext>
            </a:extLst>
          </p:cNvPr>
          <p:cNvSpPr>
            <a:spLocks xmlns:a="http://schemas.openxmlformats.org/drawingml/2006/main" noGrp="1"/>
          </p:cNvSpPr>
          <p:nvPr/>
        </p:nvSpPr>
        <p:spPr>
          <a:xfrm xmlns:a="http://schemas.openxmlformats.org/drawingml/2006/main">
            <a:off x="640080" y="1207008"/>
            <a:ext cx="795528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0" i="0" u="none" cap="none">
                <a:solidFill>
                  <a:srgbClr val="5A6377"/>
                </a:solidFill>
                <a:latin typeface="Calibri"/>
                <a:ea typeface="Calibri"/>
                <a:cs typeface="Calibri"/>
              </a:rPr>
              <a:t>Every jeevan bears the same five faculties and ten activities. In human living they answer one question — what makes me happy? — by organising either around body-identification or around coexistence.</a:t>
            </a:r>
          </a:p>
        </p:txBody>
      </p:sp>
      <p:sp>
        <p:nvSpPr>
          <p:cNvPr id="379" name="Google Shape;379;p16">
            <a:extLst xmlns:a="http://schemas.openxmlformats.org/drawingml/2006/main">
              <a:ext uri="{FF2B5EF4-FFF2-40B4-BE49-F238E27FC236}">
                <a16:creationId xmlns:a16="http://schemas.microsoft.com/office/drawing/2014/main" id="{DFC0D836-170F-4421-9FA1-2F712032196C}"/>
              </a:ext>
            </a:extLst>
          </p:cNvPr>
          <p:cNvSpPr>
            <a:spLocks xmlns:a="http://schemas.openxmlformats.org/drawingml/2006/main" noGrp="1"/>
          </p:cNvSpPr>
          <p:nvPr/>
        </p:nvSpPr>
        <p:spPr>
          <a:xfrm xmlns:a="http://schemas.openxmlformats.org/drawingml/2006/main">
            <a:off x="640080" y="1874520"/>
            <a:ext cx="3794760" cy="1170432"/>
          </a:xfrm>
          <a:prstGeom xmlns:a="http://schemas.openxmlformats.org/drawingml/2006/main" prst="roundRect">
            <a:avLst>
              <a:gd name="adj" fmla="val 7031"/>
            </a:avLst>
          </a:prstGeom>
          <a:solidFill xmlns:a="http://schemas.openxmlformats.org/drawingml/2006/main">
            <a:srgbClr val="FAF1D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0" name="Google Shape;380;p16">
            <a:extLst xmlns:a="http://schemas.openxmlformats.org/drawingml/2006/main">
              <a:ext uri="{FF2B5EF4-FFF2-40B4-BE49-F238E27FC236}">
                <a16:creationId xmlns:a16="http://schemas.microsoft.com/office/drawing/2014/main" id="{82CAD944-C0A1-4B77-ABF5-82128BDE6928}"/>
              </a:ext>
            </a:extLst>
          </p:cNvPr>
          <p:cNvSpPr>
            <a:spLocks xmlns:a="http://schemas.openxmlformats.org/drawingml/2006/main" noGrp="1"/>
          </p:cNvSpPr>
          <p:nvPr/>
        </p:nvSpPr>
        <p:spPr>
          <a:xfrm xmlns:a="http://schemas.openxmlformats.org/drawingml/2006/main">
            <a:off x="841248" y="1993392"/>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9A6414"/>
                </a:solidFill>
                <a:latin typeface="Cambria"/>
                <a:ea typeface="Cambria"/>
                <a:cs typeface="Cambria"/>
              </a:rPr>
              <a:t>Delusion</a:t>
            </a:r>
          </a:p>
        </p:txBody>
      </p:sp>
      <p:sp>
        <p:nvSpPr>
          <p:cNvPr id="381" name="Google Shape;381;p16">
            <a:extLst xmlns:a="http://schemas.openxmlformats.org/drawingml/2006/main">
              <a:ext uri="{FF2B5EF4-FFF2-40B4-BE49-F238E27FC236}">
                <a16:creationId xmlns:a16="http://schemas.microsoft.com/office/drawing/2014/main" id="{31EF2D0D-4591-45F1-9A29-12B8369EBEE7}"/>
              </a:ext>
            </a:extLst>
          </p:cNvPr>
          <p:cNvSpPr>
            <a:spLocks xmlns:a="http://schemas.openxmlformats.org/drawingml/2006/main" noGrp="1"/>
          </p:cNvSpPr>
          <p:nvPr/>
        </p:nvSpPr>
        <p:spPr>
          <a:xfrm xmlns:a="http://schemas.openxmlformats.org/drawingml/2006/main">
            <a:off x="84124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0" u="none" cap="none">
                <a:solidFill>
                  <a:srgbClr val="5A6377"/>
                </a:solidFill>
                <a:latin typeface="Calibri"/>
                <a:ea typeface="Calibri"/>
                <a:cs typeface="Calibri"/>
              </a:rPr>
              <a:t>Body-identification leaves sensitivity unguided by cognisance; selection and evaluation remain organised around pleasure, health, and profit.</a:t>
            </a:r>
          </a:p>
        </p:txBody>
      </p:sp>
      <p:sp>
        <p:nvSpPr>
          <p:cNvPr id="382" name="Google Shape;382;p16">
            <a:extLst xmlns:a="http://schemas.openxmlformats.org/drawingml/2006/main">
              <a:ext uri="{FF2B5EF4-FFF2-40B4-BE49-F238E27FC236}">
                <a16:creationId xmlns:a16="http://schemas.microsoft.com/office/drawing/2014/main" id="{3E21E7A9-BB7E-46F7-9B1C-98F8677948A5}"/>
              </a:ext>
            </a:extLst>
          </p:cNvPr>
          <p:cNvSpPr>
            <a:spLocks xmlns:a="http://schemas.openxmlformats.org/drawingml/2006/main" noGrp="1"/>
          </p:cNvSpPr>
          <p:nvPr/>
        </p:nvSpPr>
        <p:spPr>
          <a:xfrm xmlns:a="http://schemas.openxmlformats.org/drawingml/2006/main">
            <a:off x="4709160" y="1874520"/>
            <a:ext cx="3794760" cy="1170432"/>
          </a:xfrm>
          <a:prstGeom xmlns:a="http://schemas.openxmlformats.org/drawingml/2006/main" prst="roundRect">
            <a:avLst>
              <a:gd name="adj" fmla="val 703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3" name="Google Shape;383;p16">
            <a:extLst xmlns:a="http://schemas.openxmlformats.org/drawingml/2006/main">
              <a:ext uri="{FF2B5EF4-FFF2-40B4-BE49-F238E27FC236}">
                <a16:creationId xmlns:a16="http://schemas.microsoft.com/office/drawing/2014/main" id="{CF1A96A7-621E-47A6-80A9-081CEF352B63}"/>
              </a:ext>
            </a:extLst>
          </p:cNvPr>
          <p:cNvSpPr>
            <a:spLocks xmlns:a="http://schemas.openxmlformats.org/drawingml/2006/main" noGrp="1"/>
          </p:cNvSpPr>
          <p:nvPr/>
        </p:nvSpPr>
        <p:spPr>
          <a:xfrm xmlns:a="http://schemas.openxmlformats.org/drawingml/2006/main">
            <a:off x="4910328" y="1993392"/>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3B4A7A"/>
                </a:solidFill>
                <a:latin typeface="Cambria"/>
                <a:ea typeface="Cambria"/>
                <a:cs typeface="Cambria"/>
              </a:rPr>
              <a:t>Awakening</a:t>
            </a:r>
          </a:p>
        </p:txBody>
      </p:sp>
      <p:sp>
        <p:nvSpPr>
          <p:cNvPr id="384" name="Google Shape;384;p16">
            <a:extLst xmlns:a="http://schemas.openxmlformats.org/drawingml/2006/main">
              <a:ext uri="{FF2B5EF4-FFF2-40B4-BE49-F238E27FC236}">
                <a16:creationId xmlns:a16="http://schemas.microsoft.com/office/drawing/2014/main" id="{D5D8B566-06C7-4D2E-9500-8C90671D8286}"/>
              </a:ext>
            </a:extLst>
          </p:cNvPr>
          <p:cNvSpPr>
            <a:spLocks xmlns:a="http://schemas.openxmlformats.org/drawingml/2006/main" noGrp="1"/>
          </p:cNvSpPr>
          <p:nvPr/>
        </p:nvSpPr>
        <p:spPr>
          <a:xfrm xmlns:a="http://schemas.openxmlformats.org/drawingml/2006/main">
            <a:off x="491032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0" u="none" cap="none">
                <a:solidFill>
                  <a:srgbClr val="5A6377"/>
                </a:solidFill>
                <a:latin typeface="Calibri"/>
                <a:ea typeface="Calibri"/>
                <a:cs typeface="Calibri"/>
              </a:rPr>
              <a:t>Cognisance regulates sensitivity; knowing and believing guide recognition and fulfilment toward justice, dharma, truth, and coexistence.</a:t>
            </a:r>
          </a:p>
        </p:txBody>
      </p:sp>
      <p:sp>
        <p:nvSpPr>
          <p:cNvPr id="385" name="Google Shape;385;p16">
            <a:extLst xmlns:a="http://schemas.openxmlformats.org/drawingml/2006/main">
              <a:ext uri="{FF2B5EF4-FFF2-40B4-BE49-F238E27FC236}">
                <a16:creationId xmlns:a16="http://schemas.microsoft.com/office/drawing/2014/main" id="{64B63632-C860-427D-A076-5E2670107C55}"/>
              </a:ext>
            </a:extLst>
          </p:cNvPr>
          <p:cNvSpPr>
            <a:spLocks xmlns:a="http://schemas.openxmlformats.org/drawingml/2006/main" noGrp="1"/>
          </p:cNvSpPr>
          <p:nvPr/>
        </p:nvSpPr>
        <p:spPr>
          <a:xfrm xmlns:a="http://schemas.openxmlformats.org/drawingml/2006/main">
            <a:off x="640080" y="3246120"/>
            <a:ext cx="79552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libri"/>
                <a:ea typeface="Calibri"/>
                <a:cs typeface="Calibri"/>
              </a:rPr>
              <a:t>No faculty is absent, and sensitivity is not rejected. Delusion lets sensory criteria rule; awakening balances sensitivity with cognisance, so understanding guides conduct.</a:t>
            </a:r>
          </a:p>
        </p:txBody>
      </p:sp>
      <p:sp>
        <p:nvSpPr>
          <p:cNvPr id="386" name="Google Shape;386;p16">
            <a:extLst xmlns:a="http://schemas.openxmlformats.org/drawingml/2006/main">
              <a:ext uri="{FF2B5EF4-FFF2-40B4-BE49-F238E27FC236}">
                <a16:creationId xmlns:a16="http://schemas.microsoft.com/office/drawing/2014/main" id="{43803F01-AD79-4037-B542-0CC5AC814A76}"/>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7" name="Google Shape;387;p16">
            <a:extLst xmlns:a="http://schemas.openxmlformats.org/drawingml/2006/main">
              <a:ext uri="{FF2B5EF4-FFF2-40B4-BE49-F238E27FC236}">
                <a16:creationId xmlns:a16="http://schemas.microsoft.com/office/drawing/2014/main" id="{44D7C5EC-8B49-47EE-A3C6-D6FB60F219A1}"/>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Resolution</a:t>
            </a:r>
          </a:p>
        </p:txBody>
      </p:sp>
      <p:sp>
        <p:nvSpPr>
          <p:cNvPr id="388" name="Google Shape;388;p16">
            <a:extLst xmlns:a="http://schemas.openxmlformats.org/drawingml/2006/main">
              <a:ext uri="{FF2B5EF4-FFF2-40B4-BE49-F238E27FC236}">
                <a16:creationId xmlns:a16="http://schemas.microsoft.com/office/drawing/2014/main" id="{B018E786-2ABF-4703-8EF8-89DC0686BF66}"/>
              </a:ext>
            </a:extLst>
          </p:cNvPr>
          <p:cNvSpPr>
            <a:spLocks xmlns:a="http://schemas.openxmlformats.org/drawingml/2006/main" noGrp="1"/>
          </p:cNvSpPr>
          <p:nvPr/>
        </p:nvSpPr>
        <p:spPr>
          <a:xfrm xmlns:a="http://schemas.openxmlformats.org/drawingml/2006/main">
            <a:off x="233172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389" name="Google Shape;389;p16">
            <a:extLst xmlns:a="http://schemas.openxmlformats.org/drawingml/2006/main">
              <a:ext uri="{FF2B5EF4-FFF2-40B4-BE49-F238E27FC236}">
                <a16:creationId xmlns:a16="http://schemas.microsoft.com/office/drawing/2014/main" id="{59621292-E103-427A-ACBB-B76DE51ED83D}"/>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90" name="Google Shape;390;p16">
            <a:extLst xmlns:a="http://schemas.openxmlformats.org/drawingml/2006/main">
              <a:ext uri="{FF2B5EF4-FFF2-40B4-BE49-F238E27FC236}">
                <a16:creationId xmlns:a16="http://schemas.microsoft.com/office/drawing/2014/main" id="{33B307C8-11AE-485F-B9D0-04914905A78B}"/>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Prosperity</a:t>
            </a:r>
          </a:p>
        </p:txBody>
      </p:sp>
      <p:sp>
        <p:nvSpPr>
          <p:cNvPr id="391" name="Google Shape;391;p16">
            <a:extLst xmlns:a="http://schemas.openxmlformats.org/drawingml/2006/main">
              <a:ext uri="{FF2B5EF4-FFF2-40B4-BE49-F238E27FC236}">
                <a16:creationId xmlns:a16="http://schemas.microsoft.com/office/drawing/2014/main" id="{F846937F-3004-4CED-8A78-D7931D0532DD}"/>
              </a:ext>
            </a:extLst>
          </p:cNvPr>
          <p:cNvSpPr>
            <a:spLocks xmlns:a="http://schemas.openxmlformats.org/drawingml/2006/main" noGrp="1"/>
          </p:cNvSpPr>
          <p:nvPr/>
        </p:nvSpPr>
        <p:spPr>
          <a:xfrm xmlns:a="http://schemas.openxmlformats.org/drawingml/2006/main">
            <a:off x="434340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392" name="Google Shape;392;p16">
            <a:extLst xmlns:a="http://schemas.openxmlformats.org/drawingml/2006/main">
              <a:ext uri="{FF2B5EF4-FFF2-40B4-BE49-F238E27FC236}">
                <a16:creationId xmlns:a16="http://schemas.microsoft.com/office/drawing/2014/main" id="{E1E865D9-FE0D-45CE-A1BD-4FBAF882CD1F}"/>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93" name="Google Shape;393;p16">
            <a:extLst xmlns:a="http://schemas.openxmlformats.org/drawingml/2006/main">
              <a:ext uri="{FF2B5EF4-FFF2-40B4-BE49-F238E27FC236}">
                <a16:creationId xmlns:a16="http://schemas.microsoft.com/office/drawing/2014/main" id="{1998CB01-B7AE-44FB-B5CC-A49E10AF4615}"/>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Fearlessness</a:t>
            </a:r>
          </a:p>
        </p:txBody>
      </p:sp>
      <p:sp>
        <p:nvSpPr>
          <p:cNvPr id="394" name="Google Shape;394;p16">
            <a:extLst xmlns:a="http://schemas.openxmlformats.org/drawingml/2006/main">
              <a:ext uri="{FF2B5EF4-FFF2-40B4-BE49-F238E27FC236}">
                <a16:creationId xmlns:a16="http://schemas.microsoft.com/office/drawing/2014/main" id="{CB0DE84D-31EF-4F8D-B766-17ECF41955A0}"/>
              </a:ext>
            </a:extLst>
          </p:cNvPr>
          <p:cNvSpPr>
            <a:spLocks xmlns:a="http://schemas.openxmlformats.org/drawingml/2006/main" noGrp="1"/>
          </p:cNvSpPr>
          <p:nvPr/>
        </p:nvSpPr>
        <p:spPr>
          <a:xfrm xmlns:a="http://schemas.openxmlformats.org/drawingml/2006/main">
            <a:off x="635508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395" name="Google Shape;395;p16">
            <a:extLst xmlns:a="http://schemas.openxmlformats.org/drawingml/2006/main">
              <a:ext uri="{FF2B5EF4-FFF2-40B4-BE49-F238E27FC236}">
                <a16:creationId xmlns:a16="http://schemas.microsoft.com/office/drawing/2014/main" id="{3BCEB229-5C2D-420F-BBD6-927C6E2B3620}"/>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96" name="Google Shape;396;p16">
            <a:extLst xmlns:a="http://schemas.openxmlformats.org/drawingml/2006/main">
              <a:ext uri="{FF2B5EF4-FFF2-40B4-BE49-F238E27FC236}">
                <a16:creationId xmlns:a16="http://schemas.microsoft.com/office/drawing/2014/main" id="{7AA4D70B-6B5E-4ADA-8BFC-8C5D46324728}"/>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Coexistence</a:t>
            </a:r>
          </a:p>
        </p:txBody>
      </p:sp>
      <p:sp>
        <p:nvSpPr>
          <p:cNvPr id="397" name="Google Shape;397;p16">
            <a:extLst xmlns:a="http://schemas.openxmlformats.org/drawingml/2006/main">
              <a:ext uri="{FF2B5EF4-FFF2-40B4-BE49-F238E27FC236}">
                <a16:creationId xmlns:a16="http://schemas.microsoft.com/office/drawing/2014/main" id="{F9E1AF2F-A961-4897-A2B8-3FA63CEBF19D}"/>
              </a:ext>
            </a:extLst>
          </p:cNvPr>
          <p:cNvSpPr>
            <a:spLocks xmlns:a="http://schemas.openxmlformats.org/drawingml/2006/main" noGrp="1"/>
          </p:cNvSpPr>
          <p:nvPr/>
        </p:nvSpPr>
        <p:spPr>
          <a:xfrm xmlns:a="http://schemas.openxmlformats.org/drawingml/2006/main">
            <a:off x="640080" y="4553712"/>
            <a:ext cx="795528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1" u="none" cap="none">
                <a:solidFill>
                  <a:srgbClr val="5A6377"/>
                </a:solidFill>
                <a:latin typeface="Calibri"/>
                <a:ea typeface="Calibri"/>
                <a:cs typeface="Calibri"/>
              </a:rPr>
              <a:t>The same fork resolved in the individual is evidenced across a human tradition — resolution, prosperity, fearlessness, and coexistence, sustained as tradition (§1.15).</a:t>
            </a:r>
          </a:p>
        </p:txBody>
      </p:sp>
      <p:sp>
        <p:nvSpPr>
          <p:cNvPr id="398" name="Google Shape;398;p16">
            <a:extLst xmlns:a="http://schemas.openxmlformats.org/drawingml/2006/main">
              <a:ext uri="{FF2B5EF4-FFF2-40B4-BE49-F238E27FC236}">
                <a16:creationId xmlns:a16="http://schemas.microsoft.com/office/drawing/2014/main" id="{8E42611A-F97C-40CD-AAA5-421BA477B91E}"/>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SB p. 64 (cognisance–sensitivity balance)  ·  JV pp. 73–74, 92–94 (four-and-a-half activities)  ·  MVD pp. 274–275</a:t>
            </a:r>
          </a:p>
        </p:txBody>
      </p:sp>
    </p:spTree>
    <p:extLst>
      <p:ext uri="{BB962C8B-B14F-4D97-AF65-F5344CB8AC3E}">
        <p14:creationId xmlns:p14="http://schemas.microsoft.com/office/powerpoint/2010/main" val="443955683"/>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55" name="Google Shape;455;p19">
            <a:extLst xmlns:a="http://schemas.openxmlformats.org/drawingml/2006/main">
              <a:ext uri="{FF2B5EF4-FFF2-40B4-BE49-F238E27FC236}">
                <a16:creationId xmlns:a16="http://schemas.microsoft.com/office/drawing/2014/main" id="{3E44556F-FFAA-4364-9956-D48D6721E207}"/>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56" name="Google Shape;456;p19">
            <a:extLst xmlns:a="http://schemas.openxmlformats.org/drawingml/2006/main">
              <a:ext uri="{FF2B5EF4-FFF2-40B4-BE49-F238E27FC236}">
                <a16:creationId xmlns:a16="http://schemas.microsoft.com/office/drawing/2014/main" id="{E0CBC35E-C5A5-4B16-B492-57D972C51BD7}"/>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57" name="Google Shape;457;p19">
            <a:extLst xmlns:a="http://schemas.openxmlformats.org/drawingml/2006/main">
              <a:ext uri="{FF2B5EF4-FFF2-40B4-BE49-F238E27FC236}">
                <a16:creationId xmlns:a16="http://schemas.microsoft.com/office/drawing/2014/main" id="{AF54C0B0-85E4-49E9-83A7-627953121360}"/>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58" name="Google Shape;458;p19">
            <a:extLst xmlns:a="http://schemas.openxmlformats.org/drawingml/2006/main">
              <a:ext uri="{FF2B5EF4-FFF2-40B4-BE49-F238E27FC236}">
                <a16:creationId xmlns:a16="http://schemas.microsoft.com/office/drawing/2014/main" id="{813CFFAE-CAA3-4077-9EC7-EA57CEAA6AA3}"/>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§1.13 · WHERE THE DRIVE TERMINATES</a:t>
            </a:r>
          </a:p>
        </p:txBody>
      </p:sp>
      <p:sp>
        <p:nvSpPr>
          <p:cNvPr id="459" name="Google Shape;459;p19">
            <a:extLst xmlns:a="http://schemas.openxmlformats.org/drawingml/2006/main">
              <a:ext uri="{FF2B5EF4-FFF2-40B4-BE49-F238E27FC236}">
                <a16:creationId xmlns:a16="http://schemas.microsoft.com/office/drawing/2014/main" id="{2FB1F990-D58B-46C0-8D32-E6CFC49EA36A}"/>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Realisation in Coexistence</a:t>
            </a:r>
          </a:p>
        </p:txBody>
      </p:sp>
      <p:sp>
        <p:nvSpPr>
          <p:cNvPr id="460" name="Google Shape;460;p19">
            <a:extLst xmlns:a="http://schemas.openxmlformats.org/drawingml/2006/main">
              <a:ext uri="{FF2B5EF4-FFF2-40B4-BE49-F238E27FC236}">
                <a16:creationId xmlns:a16="http://schemas.microsoft.com/office/drawing/2014/main" id="{6EE567CB-C287-48F8-9DDE-9E207640CCD8}"/>
              </a:ext>
            </a:extLst>
          </p:cNvPr>
          <p:cNvSpPr>
            <a:spLocks xmlns:a="http://schemas.openxmlformats.org/drawingml/2006/main" noGrp="1"/>
          </p:cNvSpPr>
          <p:nvPr/>
        </p:nvSpPr>
        <p:spPr>
          <a:xfrm xmlns:a="http://schemas.openxmlformats.org/drawingml/2006/main">
            <a:off x="640080" y="1207008"/>
            <a:ext cx="79552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Realisation coordinates three distinct roles: jeevan remains the knower, existence as coexistence remains the known, and threefold knowledge becomes evident through humane conduct.</a:t>
            </a:r>
          </a:p>
        </p:txBody>
      </p:sp>
      <p:sp>
        <p:nvSpPr>
          <p:cNvPr id="461" name="Google Shape;461;p19">
            <a:extLst xmlns:a="http://schemas.openxmlformats.org/drawingml/2006/main">
              <a:ext uri="{FF2B5EF4-FFF2-40B4-BE49-F238E27FC236}">
                <a16:creationId xmlns:a16="http://schemas.microsoft.com/office/drawing/2014/main" id="{F107F107-EDBD-4B52-A84D-04C7F5B570EF}"/>
              </a:ext>
            </a:extLst>
          </p:cNvPr>
          <p:cNvSpPr>
            <a:spLocks xmlns:a="http://schemas.openxmlformats.org/drawingml/2006/main" noGrp="1"/>
          </p:cNvSpPr>
          <p:nvPr/>
        </p:nvSpPr>
        <p:spPr>
          <a:xfrm xmlns:a="http://schemas.openxmlformats.org/drawingml/2006/main">
            <a:off x="640080" y="1828800"/>
            <a:ext cx="3794760" cy="1280160"/>
          </a:xfrm>
          <a:prstGeom xmlns:a="http://schemas.openxmlformats.org/drawingml/2006/main" prst="roundRect">
            <a:avLst>
              <a:gd name="adj" fmla="val 6429"/>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62" name="Google Shape;462;p19">
            <a:extLst xmlns:a="http://schemas.openxmlformats.org/drawingml/2006/main">
              <a:ext uri="{FF2B5EF4-FFF2-40B4-BE49-F238E27FC236}">
                <a16:creationId xmlns:a16="http://schemas.microsoft.com/office/drawing/2014/main" id="{6AA0518B-C5E5-42E8-BE2D-A29138460050}"/>
              </a:ext>
            </a:extLst>
          </p:cNvPr>
          <p:cNvSpPr>
            <a:spLocks xmlns:a="http://schemas.openxmlformats.org/drawingml/2006/main" noGrp="1"/>
          </p:cNvSpPr>
          <p:nvPr/>
        </p:nvSpPr>
        <p:spPr>
          <a:xfrm xmlns:a="http://schemas.openxmlformats.org/drawingml/2006/main">
            <a:off x="841248" y="1947672"/>
            <a:ext cx="342900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mbria"/>
                <a:ea typeface="Cambria"/>
                <a:cs typeface="Cambria"/>
              </a:rPr>
              <a:t>Realisation is bliss</a:t>
            </a:r>
          </a:p>
        </p:txBody>
      </p:sp>
      <p:sp>
        <p:nvSpPr>
          <p:cNvPr id="463" name="Google Shape;463;p19">
            <a:extLst xmlns:a="http://schemas.openxmlformats.org/drawingml/2006/main">
              <a:ext uri="{FF2B5EF4-FFF2-40B4-BE49-F238E27FC236}">
                <a16:creationId xmlns:a16="http://schemas.microsoft.com/office/drawing/2014/main" id="{63E107EF-D15F-4C4D-962F-F24AE958FBA5}"/>
              </a:ext>
            </a:extLst>
          </p:cNvPr>
          <p:cNvSpPr>
            <a:spLocks xmlns:a="http://schemas.openxmlformats.org/drawingml/2006/main" noGrp="1"/>
          </p:cNvSpPr>
          <p:nvPr/>
        </p:nvSpPr>
        <p:spPr>
          <a:xfrm xmlns:a="http://schemas.openxmlformats.org/drawingml/2006/main">
            <a:off x="841248" y="2286000"/>
            <a:ext cx="342900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“Truth itself is abundance (coexistence), realisation of abundance itself is bliss, bliss itself is jeevan.” And it is knowledge itself: what is realised is the ground the unit was always soaked in.</a:t>
            </a:r>
          </a:p>
        </p:txBody>
      </p:sp>
      <p:sp>
        <p:nvSpPr>
          <p:cNvPr id="464" name="Google Shape;464;p19">
            <a:extLst xmlns:a="http://schemas.openxmlformats.org/drawingml/2006/main">
              <a:ext uri="{FF2B5EF4-FFF2-40B4-BE49-F238E27FC236}">
                <a16:creationId xmlns:a16="http://schemas.microsoft.com/office/drawing/2014/main" id="{9B7DE713-59AA-4F77-BCF0-01F9F20D9DC6}"/>
              </a:ext>
            </a:extLst>
          </p:cNvPr>
          <p:cNvSpPr>
            <a:spLocks xmlns:a="http://schemas.openxmlformats.org/drawingml/2006/main" noGrp="1"/>
          </p:cNvSpPr>
          <p:nvPr/>
        </p:nvSpPr>
        <p:spPr>
          <a:xfrm xmlns:a="http://schemas.openxmlformats.org/drawingml/2006/main">
            <a:off x="4709160" y="1828800"/>
            <a:ext cx="3794760" cy="1280160"/>
          </a:xfrm>
          <a:prstGeom xmlns:a="http://schemas.openxmlformats.org/drawingml/2006/main" prst="roundRect">
            <a:avLst>
              <a:gd name="adj" fmla="val 6429"/>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65" name="Google Shape;465;p19">
            <a:extLst xmlns:a="http://schemas.openxmlformats.org/drawingml/2006/main">
              <a:ext uri="{FF2B5EF4-FFF2-40B4-BE49-F238E27FC236}">
                <a16:creationId xmlns:a16="http://schemas.microsoft.com/office/drawing/2014/main" id="{6669B3E0-2682-41FD-8EA3-7BED5ABE11C6}"/>
              </a:ext>
            </a:extLst>
          </p:cNvPr>
          <p:cNvSpPr>
            <a:spLocks xmlns:a="http://schemas.openxmlformats.org/drawingml/2006/main" noGrp="1"/>
          </p:cNvSpPr>
          <p:nvPr/>
        </p:nvSpPr>
        <p:spPr>
          <a:xfrm xmlns:a="http://schemas.openxmlformats.org/drawingml/2006/main">
            <a:off x="4910328" y="1947672"/>
            <a:ext cx="342900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mbria"/>
                <a:ea typeface="Cambria"/>
                <a:cs typeface="Cambria"/>
              </a:rPr>
              <a:t>Threefold knowledge</a:t>
            </a:r>
          </a:p>
        </p:txBody>
      </p:sp>
      <p:sp>
        <p:nvSpPr>
          <p:cNvPr id="466" name="Google Shape;466;p19">
            <a:extLst xmlns:a="http://schemas.openxmlformats.org/drawingml/2006/main">
              <a:ext uri="{FF2B5EF4-FFF2-40B4-BE49-F238E27FC236}">
                <a16:creationId xmlns:a16="http://schemas.microsoft.com/office/drawing/2014/main" id="{DD9A6462-D829-4777-9251-89B10AB3062A}"/>
              </a:ext>
            </a:extLst>
          </p:cNvPr>
          <p:cNvSpPr>
            <a:spLocks xmlns:a="http://schemas.openxmlformats.org/drawingml/2006/main" noGrp="1"/>
          </p:cNvSpPr>
          <p:nvPr/>
        </p:nvSpPr>
        <p:spPr>
          <a:xfrm xmlns:a="http://schemas.openxmlformats.org/drawingml/2006/main">
            <a:off x="4910328" y="2286000"/>
            <a:ext cx="342900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Knowledge comprises the holistic view of coexistence, knowledge of jeevan, and knowledge of humane conduct. Projection makes that understanding evident.</a:t>
            </a:r>
          </a:p>
        </p:txBody>
      </p:sp>
      <p:sp>
        <p:nvSpPr>
          <p:cNvPr id="467" name="Google Shape;467;p19">
            <a:extLst xmlns:a="http://schemas.openxmlformats.org/drawingml/2006/main">
              <a:ext uri="{FF2B5EF4-FFF2-40B4-BE49-F238E27FC236}">
                <a16:creationId xmlns:a16="http://schemas.microsoft.com/office/drawing/2014/main" id="{E49F4ECE-1C51-4ABF-94A7-4BCBD16AD234}"/>
              </a:ext>
            </a:extLst>
          </p:cNvPr>
          <p:cNvSpPr>
            <a:spLocks xmlns:a="http://schemas.openxmlformats.org/drawingml/2006/main" noGrp="1"/>
          </p:cNvSpPr>
          <p:nvPr/>
        </p:nvSpPr>
        <p:spPr>
          <a:xfrm xmlns:a="http://schemas.openxmlformats.org/drawingml/2006/main">
            <a:off x="640080" y="3246120"/>
            <a:ext cx="3794760" cy="1280160"/>
          </a:xfrm>
          <a:prstGeom xmlns:a="http://schemas.openxmlformats.org/drawingml/2006/main" prst="roundRect">
            <a:avLst>
              <a:gd name="adj" fmla="val 6429"/>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68" name="Google Shape;468;p19">
            <a:extLst xmlns:a="http://schemas.openxmlformats.org/drawingml/2006/main">
              <a:ext uri="{FF2B5EF4-FFF2-40B4-BE49-F238E27FC236}">
                <a16:creationId xmlns:a16="http://schemas.microsoft.com/office/drawing/2014/main" id="{AAA692A1-C1A4-4E3B-AC2E-F7715A43D49A}"/>
              </a:ext>
            </a:extLst>
          </p:cNvPr>
          <p:cNvSpPr>
            <a:spLocks xmlns:a="http://schemas.openxmlformats.org/drawingml/2006/main" noGrp="1"/>
          </p:cNvSpPr>
          <p:nvPr/>
        </p:nvSpPr>
        <p:spPr>
          <a:xfrm xmlns:a="http://schemas.openxmlformats.org/drawingml/2006/main">
            <a:off x="841248" y="3364992"/>
            <a:ext cx="342900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mbria"/>
                <a:ea typeface="Cambria"/>
                <a:cs typeface="Cambria"/>
              </a:rPr>
              <a:t>Knower — jeevan remains distinct</a:t>
            </a:r>
          </a:p>
        </p:txBody>
      </p:sp>
      <p:sp>
        <p:nvSpPr>
          <p:cNvPr id="469" name="Google Shape;469;p19">
            <a:extLst xmlns:a="http://schemas.openxmlformats.org/drawingml/2006/main">
              <a:ext uri="{FF2B5EF4-FFF2-40B4-BE49-F238E27FC236}">
                <a16:creationId xmlns:a16="http://schemas.microsoft.com/office/drawing/2014/main" id="{2AA0D1F9-639E-41C6-8731-561245861D25}"/>
              </a:ext>
            </a:extLst>
          </p:cNvPr>
          <p:cNvSpPr>
            <a:spLocks xmlns:a="http://schemas.openxmlformats.org/drawingml/2006/main" noGrp="1"/>
          </p:cNvSpPr>
          <p:nvPr/>
        </p:nvSpPr>
        <p:spPr>
          <a:xfrm xmlns:a="http://schemas.openxmlformats.org/drawingml/2006/main">
            <a:off x="841248" y="3703320"/>
            <a:ext cx="342900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Jeevan remains the knower and seer. Realisation clarifies its own nature and the coexistence in which it participates; it does not dissolve the individual unit.</a:t>
            </a:r>
          </a:p>
        </p:txBody>
      </p:sp>
      <p:sp>
        <p:nvSpPr>
          <p:cNvPr id="470" name="Google Shape;470;p19">
            <a:extLst xmlns:a="http://schemas.openxmlformats.org/drawingml/2006/main">
              <a:ext uri="{FF2B5EF4-FFF2-40B4-BE49-F238E27FC236}">
                <a16:creationId xmlns:a16="http://schemas.microsoft.com/office/drawing/2014/main" id="{140FBD89-3074-4D13-ACCF-7077ED924DA2}"/>
              </a:ext>
            </a:extLst>
          </p:cNvPr>
          <p:cNvSpPr>
            <a:spLocks xmlns:a="http://schemas.openxmlformats.org/drawingml/2006/main" noGrp="1"/>
          </p:cNvSpPr>
          <p:nvPr/>
        </p:nvSpPr>
        <p:spPr>
          <a:xfrm xmlns:a="http://schemas.openxmlformats.org/drawingml/2006/main">
            <a:off x="4709160" y="3246120"/>
            <a:ext cx="3794760" cy="1280160"/>
          </a:xfrm>
          <a:prstGeom xmlns:a="http://schemas.openxmlformats.org/drawingml/2006/main" prst="roundRect">
            <a:avLst>
              <a:gd name="adj" fmla="val 6429"/>
            </a:avLst>
          </a:prstGeom>
          <a:solidFill xmlns:a="http://schemas.openxmlformats.org/drawingml/2006/main">
            <a:srgbClr val="FAF1D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71" name="Google Shape;471;p19">
            <a:extLst xmlns:a="http://schemas.openxmlformats.org/drawingml/2006/main">
              <a:ext uri="{FF2B5EF4-FFF2-40B4-BE49-F238E27FC236}">
                <a16:creationId xmlns:a16="http://schemas.microsoft.com/office/drawing/2014/main" id="{5203715C-DC2E-49AC-BCE7-981AADCEE35F}"/>
              </a:ext>
            </a:extLst>
          </p:cNvPr>
          <p:cNvSpPr>
            <a:spLocks xmlns:a="http://schemas.openxmlformats.org/drawingml/2006/main" noGrp="1"/>
          </p:cNvSpPr>
          <p:nvPr/>
        </p:nvSpPr>
        <p:spPr>
          <a:xfrm xmlns:a="http://schemas.openxmlformats.org/drawingml/2006/main">
            <a:off x="4910328" y="3364992"/>
            <a:ext cx="342900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9A6414"/>
                </a:solidFill>
                <a:latin typeface="Cambria"/>
                <a:ea typeface="Cambria"/>
                <a:cs typeface="Cambria"/>
              </a:rPr>
              <a:t>Known — coexistence</a:t>
            </a:r>
          </a:p>
        </p:txBody>
      </p:sp>
      <p:sp>
        <p:nvSpPr>
          <p:cNvPr id="472" name="Google Shape;472;p19">
            <a:extLst xmlns:a="http://schemas.openxmlformats.org/drawingml/2006/main">
              <a:ext uri="{FF2B5EF4-FFF2-40B4-BE49-F238E27FC236}">
                <a16:creationId xmlns:a16="http://schemas.microsoft.com/office/drawing/2014/main" id="{F20FBC56-FA15-4946-8DF4-32B35010C829}"/>
              </a:ext>
            </a:extLst>
          </p:cNvPr>
          <p:cNvSpPr>
            <a:spLocks xmlns:a="http://schemas.openxmlformats.org/drawingml/2006/main" noGrp="1"/>
          </p:cNvSpPr>
          <p:nvPr/>
        </p:nvSpPr>
        <p:spPr>
          <a:xfrm xmlns:a="http://schemas.openxmlformats.org/drawingml/2006/main">
            <a:off x="4910328" y="3703320"/>
            <a:ext cx="342900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The known is existence as coexistence: Omnipresence and real units in mutuality. Knowledge, knower, and known become coherent without becoming identical.</a:t>
            </a:r>
          </a:p>
        </p:txBody>
      </p:sp>
      <p:sp>
        <p:nvSpPr>
          <p:cNvPr id="473" name="Google Shape;473;p19">
            <a:extLst xmlns:a="http://schemas.openxmlformats.org/drawingml/2006/main">
              <a:ext uri="{FF2B5EF4-FFF2-40B4-BE49-F238E27FC236}">
                <a16:creationId xmlns:a16="http://schemas.microsoft.com/office/drawing/2014/main" id="{0FDD0BB2-3B78-4E4C-9098-645E557571F6}"/>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 SB p. 81 (realisation and authenticity)  ·  SB p. 116; MVD p. 126 (threefold knowledge)  ·  KD §§3.17–3.18 (knowledge, knower, known)</a:t>
            </a:r>
          </a:p>
        </p:txBody>
      </p:sp>
    </p:spTree>
    <p:extLst>
      <p:ext uri="{BB962C8B-B14F-4D97-AF65-F5344CB8AC3E}">
        <p14:creationId xmlns:p14="http://schemas.microsoft.com/office/powerpoint/2010/main" val="426036076"/>
      </p:ext>
    </p:extLst>
  </p:cSld>
</p:sld>
</file>

<file path=ppt/slides/slide25.xml><?xml version="1.0" encoding="utf-8"?>
<p:sld xmlns:p="http://schemas.openxmlformats.org/presentationml/2006/main">
  <p:cSld>
    <p:bg>
      <p:bgPr>
        <a:solidFill xmlns:a="http://schemas.openxmlformats.org/drawingml/2006/main">
          <a:srgbClr val="1E2447"/>
        </a:solidFill>
      </p:bgPr>
    </p:bg>
    <p:spTree>
      <p:nvGrpSpPr>
        <p:cNvPr id="1" name=""/>
        <p:cNvGrpSpPr/>
        <p:nvPr/>
      </p:nvGrpSpPr>
      <p:grpSpPr>
        <a:xfrm xmlns:a="http://schemas.openxmlformats.org/drawingml/2006/main"/>
      </p:grpSpPr>
      <p:sp>
        <p:nvSpPr>
          <p:cNvPr id="509" name="Google Shape;509;p21">
            <a:extLst xmlns:a="http://schemas.openxmlformats.org/drawingml/2006/main">
              <a:ext uri="{FF2B5EF4-FFF2-40B4-BE49-F238E27FC236}">
                <a16:creationId xmlns:a16="http://schemas.microsoft.com/office/drawing/2014/main" id="{EF575E94-D49B-4B8D-8EE0-5306E7205D35}"/>
              </a:ext>
            </a:extLst>
          </p:cNvPr>
          <p:cNvSpPr>
            <a:spLocks xmlns:a="http://schemas.openxmlformats.org/drawingml/2006/main" noGrp="1"/>
          </p:cNvSpPr>
          <p:nvPr/>
        </p:nvSpPr>
        <p:spPr>
          <a:xfrm xmlns:a="http://schemas.openxmlformats.org/drawingml/2006/main">
            <a:off x="5852160" y="822960"/>
            <a:ext cx="3291840" cy="329184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0" name="Google Shape;510;p21">
            <a:extLst xmlns:a="http://schemas.openxmlformats.org/drawingml/2006/main">
              <a:ext uri="{FF2B5EF4-FFF2-40B4-BE49-F238E27FC236}">
                <a16:creationId xmlns:a16="http://schemas.microsoft.com/office/drawing/2014/main" id="{5B88FBC8-D433-4F9A-8C53-B0C14519A897}"/>
              </a:ext>
            </a:extLst>
          </p:cNvPr>
          <p:cNvSpPr>
            <a:spLocks xmlns:a="http://schemas.openxmlformats.org/drawingml/2006/main" noGrp="1"/>
          </p:cNvSpPr>
          <p:nvPr/>
        </p:nvSpPr>
        <p:spPr>
          <a:xfrm xmlns:a="http://schemas.openxmlformats.org/drawingml/2006/main">
            <a:off x="6510528" y="1481328"/>
            <a:ext cx="1975104" cy="1975104"/>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1" name="Google Shape;511;p21">
            <a:extLst xmlns:a="http://schemas.openxmlformats.org/drawingml/2006/main">
              <a:ext uri="{FF2B5EF4-FFF2-40B4-BE49-F238E27FC236}">
                <a16:creationId xmlns:a16="http://schemas.microsoft.com/office/drawing/2014/main" id="{1575D4BC-1336-4A37-AF26-1F5F33D09DE0}"/>
              </a:ext>
            </a:extLst>
          </p:cNvPr>
          <p:cNvSpPr>
            <a:spLocks xmlns:a="http://schemas.openxmlformats.org/drawingml/2006/main" noGrp="1"/>
          </p:cNvSpPr>
          <p:nvPr/>
        </p:nvSpPr>
        <p:spPr>
          <a:xfrm xmlns:a="http://schemas.openxmlformats.org/drawingml/2006/main">
            <a:off x="7070141" y="2040941"/>
            <a:ext cx="855878" cy="85587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2" name="Google Shape;512;p21">
            <a:extLst xmlns:a="http://schemas.openxmlformats.org/drawingml/2006/main">
              <a:ext uri="{FF2B5EF4-FFF2-40B4-BE49-F238E27FC236}">
                <a16:creationId xmlns:a16="http://schemas.microsoft.com/office/drawing/2014/main" id="{F6651BC1-ADBC-471F-9055-FAC10F3F2876}"/>
              </a:ext>
            </a:extLst>
          </p:cNvPr>
          <p:cNvSpPr>
            <a:spLocks xmlns:a="http://schemas.openxmlformats.org/drawingml/2006/main" noGrp="1"/>
          </p:cNvSpPr>
          <p:nvPr/>
        </p:nvSpPr>
        <p:spPr>
          <a:xfrm xmlns:a="http://schemas.openxmlformats.org/drawingml/2006/main">
            <a:off x="5394960" y="3566160"/>
            <a:ext cx="1097280" cy="109728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3" name="Google Shape;513;p21">
            <a:extLst xmlns:a="http://schemas.openxmlformats.org/drawingml/2006/main">
              <a:ext uri="{FF2B5EF4-FFF2-40B4-BE49-F238E27FC236}">
                <a16:creationId xmlns:a16="http://schemas.microsoft.com/office/drawing/2014/main" id="{C059B4F9-7CFE-41C1-BAB7-147B1E13BBBA}"/>
              </a:ext>
            </a:extLst>
          </p:cNvPr>
          <p:cNvSpPr>
            <a:spLocks xmlns:a="http://schemas.openxmlformats.org/drawingml/2006/main" noGrp="1"/>
          </p:cNvSpPr>
          <p:nvPr/>
        </p:nvSpPr>
        <p:spPr>
          <a:xfrm xmlns:a="http://schemas.openxmlformats.org/drawingml/2006/main">
            <a:off x="5614416" y="3785616"/>
            <a:ext cx="658368" cy="658368"/>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4" name="Google Shape;514;p21">
            <a:extLst xmlns:a="http://schemas.openxmlformats.org/drawingml/2006/main">
              <a:ext uri="{FF2B5EF4-FFF2-40B4-BE49-F238E27FC236}">
                <a16:creationId xmlns:a16="http://schemas.microsoft.com/office/drawing/2014/main" id="{F3360809-D0D7-419D-B3B9-8923367EBD77}"/>
              </a:ext>
            </a:extLst>
          </p:cNvPr>
          <p:cNvSpPr>
            <a:spLocks xmlns:a="http://schemas.openxmlformats.org/drawingml/2006/main" noGrp="1"/>
          </p:cNvSpPr>
          <p:nvPr/>
        </p:nvSpPr>
        <p:spPr>
          <a:xfrm xmlns:a="http://schemas.openxmlformats.org/drawingml/2006/main">
            <a:off x="5800954" y="3972154"/>
            <a:ext cx="285293" cy="285293"/>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5" name="Google Shape;515;p21">
            <a:extLst xmlns:a="http://schemas.openxmlformats.org/drawingml/2006/main">
              <a:ext uri="{FF2B5EF4-FFF2-40B4-BE49-F238E27FC236}">
                <a16:creationId xmlns:a16="http://schemas.microsoft.com/office/drawing/2014/main" id="{D3AC2483-1899-40DF-A84D-0DE15B3AEFB2}"/>
              </a:ext>
            </a:extLst>
          </p:cNvPr>
          <p:cNvSpPr>
            <a:spLocks xmlns:a="http://schemas.openxmlformats.org/drawingml/2006/main" noGrp="1"/>
          </p:cNvSpPr>
          <p:nvPr/>
        </p:nvSpPr>
        <p:spPr>
          <a:xfrm xmlns:a="http://schemas.openxmlformats.org/drawingml/2006/main">
            <a:off x="8138160" y="4023360"/>
            <a:ext cx="731520" cy="73152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6" name="Google Shape;516;p21">
            <a:extLst xmlns:a="http://schemas.openxmlformats.org/drawingml/2006/main">
              <a:ext uri="{FF2B5EF4-FFF2-40B4-BE49-F238E27FC236}">
                <a16:creationId xmlns:a16="http://schemas.microsoft.com/office/drawing/2014/main" id="{ABF710EB-4EF3-42A6-B560-F90A523A0850}"/>
              </a:ext>
            </a:extLst>
          </p:cNvPr>
          <p:cNvSpPr>
            <a:spLocks xmlns:a="http://schemas.openxmlformats.org/drawingml/2006/main" noGrp="1"/>
          </p:cNvSpPr>
          <p:nvPr/>
        </p:nvSpPr>
        <p:spPr>
          <a:xfrm xmlns:a="http://schemas.openxmlformats.org/drawingml/2006/main">
            <a:off x="8284464" y="4169664"/>
            <a:ext cx="438912" cy="438912"/>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7" name="Google Shape;517;p21">
            <a:extLst xmlns:a="http://schemas.openxmlformats.org/drawingml/2006/main">
              <a:ext uri="{FF2B5EF4-FFF2-40B4-BE49-F238E27FC236}">
                <a16:creationId xmlns:a16="http://schemas.microsoft.com/office/drawing/2014/main" id="{0C86002D-62CB-4B43-92C3-F2261FFFB582}"/>
              </a:ext>
            </a:extLst>
          </p:cNvPr>
          <p:cNvSpPr>
            <a:spLocks xmlns:a="http://schemas.openxmlformats.org/drawingml/2006/main" noGrp="1"/>
          </p:cNvSpPr>
          <p:nvPr/>
        </p:nvSpPr>
        <p:spPr>
          <a:xfrm xmlns:a="http://schemas.openxmlformats.org/drawingml/2006/main">
            <a:off x="8408822" y="4294022"/>
            <a:ext cx="190195" cy="190195"/>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8" name="Google Shape;518;p21">
            <a:extLst xmlns:a="http://schemas.openxmlformats.org/drawingml/2006/main">
              <a:ext uri="{FF2B5EF4-FFF2-40B4-BE49-F238E27FC236}">
                <a16:creationId xmlns:a16="http://schemas.microsoft.com/office/drawing/2014/main" id="{796E9457-5CA1-420F-9E22-C4C9CF41A3A7}"/>
              </a:ext>
            </a:extLst>
          </p:cNvPr>
          <p:cNvSpPr>
            <a:spLocks xmlns:a="http://schemas.openxmlformats.org/drawingml/2006/main" noGrp="1"/>
          </p:cNvSpPr>
          <p:nvPr/>
        </p:nvSpPr>
        <p:spPr>
          <a:xfrm xmlns:a="http://schemas.openxmlformats.org/drawingml/2006/main">
            <a:off x="640080" y="1234440"/>
            <a:ext cx="585216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1" i="0" u="none" cap="none">
                <a:solidFill>
                  <a:srgbClr val="C9821E"/>
                </a:solidFill>
                <a:latin typeface="Calibri"/>
                <a:ea typeface="Calibri"/>
                <a:cs typeface="Calibri"/>
              </a:rPr>
              <a:t>THE CULMINATION  ·  BUILT INTO THE DESIGN</a:t>
            </a:r>
          </a:p>
        </p:txBody>
      </p:sp>
      <p:sp>
        <p:nvSpPr>
          <p:cNvPr id="519" name="Google Shape;519;p21">
            <a:extLst xmlns:a="http://schemas.openxmlformats.org/drawingml/2006/main">
              <a:ext uri="{FF2B5EF4-FFF2-40B4-BE49-F238E27FC236}">
                <a16:creationId xmlns:a16="http://schemas.microsoft.com/office/drawing/2014/main" id="{752F13C5-E89B-45E4-A048-FAF000A1F693}"/>
              </a:ext>
            </a:extLst>
          </p:cNvPr>
          <p:cNvSpPr>
            <a:spLocks xmlns:a="http://schemas.openxmlformats.org/drawingml/2006/main" noGrp="1"/>
          </p:cNvSpPr>
          <p:nvPr/>
        </p:nvSpPr>
        <p:spPr>
          <a:xfrm xmlns:a="http://schemas.openxmlformats.org/drawingml/2006/main">
            <a:off x="640080" y="1572768"/>
            <a:ext cx="5577840" cy="1371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4400" b="1" i="0" u="none" cap="none">
                <a:solidFill>
                  <a:srgbClr val="FFFFFF"/>
                </a:solidFill>
                <a:latin typeface="Cambria"/>
                <a:ea typeface="Cambria"/>
                <a:cs typeface="Cambria"/>
              </a:rPr>
              <a:t>An Awakened Human Tradition</a:t>
            </a:r>
          </a:p>
        </p:txBody>
      </p:sp>
      <p:sp>
        <p:nvSpPr>
          <p:cNvPr id="520" name="Google Shape;520;p21">
            <a:extLst xmlns:a="http://schemas.openxmlformats.org/drawingml/2006/main">
              <a:ext uri="{FF2B5EF4-FFF2-40B4-BE49-F238E27FC236}">
                <a16:creationId xmlns:a16="http://schemas.microsoft.com/office/drawing/2014/main" id="{DB2CDE66-AE92-4A63-A7C0-7FB35517F5EC}"/>
              </a:ext>
            </a:extLst>
          </p:cNvPr>
          <p:cNvSpPr>
            <a:spLocks xmlns:a="http://schemas.openxmlformats.org/drawingml/2006/main" noGrp="1"/>
          </p:cNvSpPr>
          <p:nvPr/>
        </p:nvSpPr>
        <p:spPr>
          <a:xfrm xmlns:a="http://schemas.openxmlformats.org/drawingml/2006/main">
            <a:off x="640080" y="3050000"/>
            <a:ext cx="484632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600" b="0" i="1" u="none" cap="none">
                <a:solidFill>
                  <a:srgbClr val="C9D4EF"/>
                </a:solidFill>
                <a:latin typeface="Calibri"/>
                <a:ea typeface="Calibri"/>
                <a:cs typeface="Calibri"/>
              </a:rPr>
              <a:t>The drive toward completeness comes to rest in awakened human beings — effort settled, understanding proven in daily conduct and sustained through five dimensions of social continuity.</a:t>
            </a:r>
          </a:p>
        </p:txBody>
      </p:sp>
      <p:sp>
        <p:nvSpPr>
          <p:cNvPr id="600" name="Google Shape;600;p21">
            <a:extLst xmlns:a="http://schemas.openxmlformats.org/drawingml/2006/main">
              <a:ext uri="{FF2B5EF4-FFF2-40B4-BE49-F238E27FC236}">
                <a16:creationId xmlns:a16="http://schemas.microsoft.com/office/drawing/2014/main" id="{DD3901F6-8036-43ED-803F-43248530CCD2}"/>
              </a:ext>
            </a:extLst>
          </p:cNvPr>
          <p:cNvSpPr>
            <a:spLocks xmlns:a="http://schemas.openxmlformats.org/drawingml/2006/main" noGrp="1"/>
          </p:cNvSpPr>
          <p:nvPr/>
        </p:nvSpPr>
        <p:spPr>
          <a:xfrm xmlns:a="http://schemas.openxmlformats.org/drawingml/2006/main">
            <a:off x="640080" y="3820000"/>
            <a:ext cx="1128720" cy="750000"/>
          </a:xfrm>
          <a:prstGeom xmlns:a="http://schemas.openxmlformats.org/drawingml/2006/main" prst="roundRect">
            <a:avLst>
              <a:gd name="adj" fmla="val 8696"/>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601" name="Google Shape;601;p21">
            <a:extLst xmlns:a="http://schemas.openxmlformats.org/drawingml/2006/main">
              <a:ext uri="{FF2B5EF4-FFF2-40B4-BE49-F238E27FC236}">
                <a16:creationId xmlns:a16="http://schemas.microsoft.com/office/drawing/2014/main" id="{7F1489A9-BB77-4837-93F1-47E7AC9BE4D2}"/>
              </a:ext>
            </a:extLst>
          </p:cNvPr>
          <p:cNvSpPr>
            <a:spLocks xmlns:a="http://schemas.openxmlformats.org/drawingml/2006/main" noGrp="1"/>
          </p:cNvSpPr>
          <p:nvPr/>
        </p:nvSpPr>
        <p:spPr>
          <a:xfrm xmlns:a="http://schemas.openxmlformats.org/drawingml/2006/main">
            <a:off x="722376" y="3902296"/>
            <a:ext cx="964128" cy="3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FFFFFF"/>
                </a:solidFill>
                <a:latin typeface="Cambria"/>
                <a:ea typeface="Cambria"/>
                <a:cs typeface="Cambria"/>
              </a:rPr>
              <a:t>Resolution</a:t>
            </a:r>
          </a:p>
        </p:txBody>
      </p:sp>
      <p:sp>
        <p:nvSpPr>
          <p:cNvPr id="602" name="Google Shape;602;p21">
            <a:extLst xmlns:a="http://schemas.openxmlformats.org/drawingml/2006/main">
              <a:ext uri="{FF2B5EF4-FFF2-40B4-BE49-F238E27FC236}">
                <a16:creationId xmlns:a16="http://schemas.microsoft.com/office/drawing/2014/main" id="{DE4B8FF9-4927-4F34-9EB8-854606C66C6A}"/>
              </a:ext>
            </a:extLst>
          </p:cNvPr>
          <p:cNvSpPr>
            <a:spLocks xmlns:a="http://schemas.openxmlformats.org/drawingml/2006/main" noGrp="1"/>
          </p:cNvSpPr>
          <p:nvPr/>
        </p:nvSpPr>
        <p:spPr>
          <a:xfrm xmlns:a="http://schemas.openxmlformats.org/drawingml/2006/main">
            <a:off x="722376" y="4222296"/>
            <a:ext cx="964128" cy="2654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pPr>
            <a:r>
              <a:rPr sz="900" b="0" i="1" u="none" cap="none">
                <a:solidFill>
                  <a:srgbClr val="C9D4EF"/>
                </a:solidFill>
                <a:latin typeface="Calibri"/>
                <a:ea typeface="Calibri"/>
                <a:cs typeface="Calibri"/>
              </a:rPr>
              <a:t>in every person</a:t>
            </a:r>
          </a:p>
        </p:txBody>
      </p:sp>
      <p:sp>
        <p:nvSpPr>
          <p:cNvPr id="603" name="Google Shape;603;p21">
            <a:extLst xmlns:a="http://schemas.openxmlformats.org/drawingml/2006/main">
              <a:ext uri="{FF2B5EF4-FFF2-40B4-BE49-F238E27FC236}">
                <a16:creationId xmlns:a16="http://schemas.microsoft.com/office/drawing/2014/main" id="{BE616FF1-9158-489A-8FCF-45CB660339C5}"/>
              </a:ext>
            </a:extLst>
          </p:cNvPr>
          <p:cNvSpPr>
            <a:spLocks xmlns:a="http://schemas.openxmlformats.org/drawingml/2006/main" noGrp="1"/>
          </p:cNvSpPr>
          <p:nvPr/>
        </p:nvSpPr>
        <p:spPr>
          <a:xfrm xmlns:a="http://schemas.openxmlformats.org/drawingml/2006/main">
            <a:off x="1848800" y="3820000"/>
            <a:ext cx="1128720" cy="750000"/>
          </a:xfrm>
          <a:prstGeom xmlns:a="http://schemas.openxmlformats.org/drawingml/2006/main" prst="roundRect">
            <a:avLst>
              <a:gd name="adj" fmla="val 8696"/>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604" name="Google Shape;604;p21">
            <a:extLst xmlns:a="http://schemas.openxmlformats.org/drawingml/2006/main">
              <a:ext uri="{FF2B5EF4-FFF2-40B4-BE49-F238E27FC236}">
                <a16:creationId xmlns:a16="http://schemas.microsoft.com/office/drawing/2014/main" id="{CD8A7FC8-77CA-4182-A2CB-C0DEE667FC5C}"/>
              </a:ext>
            </a:extLst>
          </p:cNvPr>
          <p:cNvSpPr>
            <a:spLocks xmlns:a="http://schemas.openxmlformats.org/drawingml/2006/main" noGrp="1"/>
          </p:cNvSpPr>
          <p:nvPr/>
        </p:nvSpPr>
        <p:spPr>
          <a:xfrm xmlns:a="http://schemas.openxmlformats.org/drawingml/2006/main">
            <a:off x="1931096" y="3902296"/>
            <a:ext cx="964128" cy="3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FFFFFF"/>
                </a:solidFill>
                <a:latin typeface="Cambria"/>
                <a:ea typeface="Cambria"/>
                <a:cs typeface="Cambria"/>
              </a:rPr>
              <a:t>Prosperity</a:t>
            </a:r>
          </a:p>
        </p:txBody>
      </p:sp>
      <p:sp>
        <p:nvSpPr>
          <p:cNvPr id="605" name="Google Shape;605;p21">
            <a:extLst xmlns:a="http://schemas.openxmlformats.org/drawingml/2006/main">
              <a:ext uri="{FF2B5EF4-FFF2-40B4-BE49-F238E27FC236}">
                <a16:creationId xmlns:a16="http://schemas.microsoft.com/office/drawing/2014/main" id="{973106BD-4925-429D-9B6B-2AD26325A283}"/>
              </a:ext>
            </a:extLst>
          </p:cNvPr>
          <p:cNvSpPr>
            <a:spLocks xmlns:a="http://schemas.openxmlformats.org/drawingml/2006/main" noGrp="1"/>
          </p:cNvSpPr>
          <p:nvPr/>
        </p:nvSpPr>
        <p:spPr>
          <a:xfrm xmlns:a="http://schemas.openxmlformats.org/drawingml/2006/main">
            <a:off x="1931096" y="4222296"/>
            <a:ext cx="964128" cy="2654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pPr>
            <a:r>
              <a:rPr sz="900" b="0" i="1" u="none" cap="none">
                <a:solidFill>
                  <a:srgbClr val="C9D4EF"/>
                </a:solidFill>
                <a:latin typeface="Calibri"/>
                <a:ea typeface="Calibri"/>
                <a:cs typeface="Calibri"/>
              </a:rPr>
              <a:t>in every family</a:t>
            </a:r>
          </a:p>
        </p:txBody>
      </p:sp>
      <p:sp>
        <p:nvSpPr>
          <p:cNvPr id="606" name="Google Shape;606;p21">
            <a:extLst xmlns:a="http://schemas.openxmlformats.org/drawingml/2006/main">
              <a:ext uri="{FF2B5EF4-FFF2-40B4-BE49-F238E27FC236}">
                <a16:creationId xmlns:a16="http://schemas.microsoft.com/office/drawing/2014/main" id="{A5599050-D210-47C8-B146-6B5A24A94729}"/>
              </a:ext>
            </a:extLst>
          </p:cNvPr>
          <p:cNvSpPr>
            <a:spLocks xmlns:a="http://schemas.openxmlformats.org/drawingml/2006/main" noGrp="1"/>
          </p:cNvSpPr>
          <p:nvPr/>
        </p:nvSpPr>
        <p:spPr>
          <a:xfrm xmlns:a="http://schemas.openxmlformats.org/drawingml/2006/main">
            <a:off x="3057520" y="3820000"/>
            <a:ext cx="1128720" cy="750000"/>
          </a:xfrm>
          <a:prstGeom xmlns:a="http://schemas.openxmlformats.org/drawingml/2006/main" prst="roundRect">
            <a:avLst>
              <a:gd name="adj" fmla="val 8696"/>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607" name="Google Shape;607;p21">
            <a:extLst xmlns:a="http://schemas.openxmlformats.org/drawingml/2006/main">
              <a:ext uri="{FF2B5EF4-FFF2-40B4-BE49-F238E27FC236}">
                <a16:creationId xmlns:a16="http://schemas.microsoft.com/office/drawing/2014/main" id="{46D221E2-C857-412B-B8CB-226B70E4606D}"/>
              </a:ext>
            </a:extLst>
          </p:cNvPr>
          <p:cNvSpPr>
            <a:spLocks xmlns:a="http://schemas.openxmlformats.org/drawingml/2006/main" noGrp="1"/>
          </p:cNvSpPr>
          <p:nvPr/>
        </p:nvSpPr>
        <p:spPr>
          <a:xfrm xmlns:a="http://schemas.openxmlformats.org/drawingml/2006/main">
            <a:off x="3139816" y="3902296"/>
            <a:ext cx="964128" cy="3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FFFFFF"/>
                </a:solidFill>
                <a:latin typeface="Cambria"/>
                <a:ea typeface="Cambria"/>
                <a:cs typeface="Cambria"/>
              </a:rPr>
              <a:t>Fearlessness</a:t>
            </a:r>
          </a:p>
        </p:txBody>
      </p:sp>
      <p:sp>
        <p:nvSpPr>
          <p:cNvPr id="608" name="Google Shape;608;p21">
            <a:extLst xmlns:a="http://schemas.openxmlformats.org/drawingml/2006/main">
              <a:ext uri="{FF2B5EF4-FFF2-40B4-BE49-F238E27FC236}">
                <a16:creationId xmlns:a16="http://schemas.microsoft.com/office/drawing/2014/main" id="{B4C3ADBE-52C4-434E-BF82-608CEA945F02}"/>
              </a:ext>
            </a:extLst>
          </p:cNvPr>
          <p:cNvSpPr>
            <a:spLocks xmlns:a="http://schemas.openxmlformats.org/drawingml/2006/main" noGrp="1"/>
          </p:cNvSpPr>
          <p:nvPr/>
        </p:nvSpPr>
        <p:spPr>
          <a:xfrm xmlns:a="http://schemas.openxmlformats.org/drawingml/2006/main">
            <a:off x="3139816" y="4222296"/>
            <a:ext cx="964128" cy="2654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pPr>
            <a:r>
              <a:rPr sz="900" b="0" i="1" u="none" cap="none">
                <a:solidFill>
                  <a:srgbClr val="C9D4EF"/>
                </a:solidFill>
                <a:latin typeface="Calibri"/>
                <a:ea typeface="Calibri"/>
                <a:cs typeface="Calibri"/>
              </a:rPr>
              <a:t>trust in society</a:t>
            </a:r>
          </a:p>
        </p:txBody>
      </p:sp>
      <p:sp>
        <p:nvSpPr>
          <p:cNvPr id="609" name="Google Shape;609;p21">
            <a:extLst xmlns:a="http://schemas.openxmlformats.org/drawingml/2006/main">
              <a:ext uri="{FF2B5EF4-FFF2-40B4-BE49-F238E27FC236}">
                <a16:creationId xmlns:a16="http://schemas.microsoft.com/office/drawing/2014/main" id="{058120C0-5891-4799-A00C-98C62F5482A3}"/>
              </a:ext>
            </a:extLst>
          </p:cNvPr>
          <p:cNvSpPr>
            <a:spLocks xmlns:a="http://schemas.openxmlformats.org/drawingml/2006/main" noGrp="1"/>
          </p:cNvSpPr>
          <p:nvPr/>
        </p:nvSpPr>
        <p:spPr>
          <a:xfrm xmlns:a="http://schemas.openxmlformats.org/drawingml/2006/main">
            <a:off x="4266240" y="3820000"/>
            <a:ext cx="1128720" cy="750000"/>
          </a:xfrm>
          <a:prstGeom xmlns:a="http://schemas.openxmlformats.org/drawingml/2006/main" prst="roundRect">
            <a:avLst>
              <a:gd name="adj" fmla="val 8696"/>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610" name="Google Shape;610;p21">
            <a:extLst xmlns:a="http://schemas.openxmlformats.org/drawingml/2006/main">
              <a:ext uri="{FF2B5EF4-FFF2-40B4-BE49-F238E27FC236}">
                <a16:creationId xmlns:a16="http://schemas.microsoft.com/office/drawing/2014/main" id="{A9DD251C-A703-4D42-8F17-67F6E19B7FA0}"/>
              </a:ext>
            </a:extLst>
          </p:cNvPr>
          <p:cNvSpPr>
            <a:spLocks xmlns:a="http://schemas.openxmlformats.org/drawingml/2006/main" noGrp="1"/>
          </p:cNvSpPr>
          <p:nvPr/>
        </p:nvSpPr>
        <p:spPr>
          <a:xfrm xmlns:a="http://schemas.openxmlformats.org/drawingml/2006/main">
            <a:off x="4348536" y="3902296"/>
            <a:ext cx="964128" cy="3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FFFFFF"/>
                </a:solidFill>
                <a:latin typeface="Cambria"/>
                <a:ea typeface="Cambria"/>
                <a:cs typeface="Cambria"/>
              </a:rPr>
              <a:t>Coexistence</a:t>
            </a:r>
          </a:p>
        </p:txBody>
      </p:sp>
      <p:sp>
        <p:nvSpPr>
          <p:cNvPr id="611" name="Google Shape;611;p21">
            <a:extLst xmlns:a="http://schemas.openxmlformats.org/drawingml/2006/main">
              <a:ext uri="{FF2B5EF4-FFF2-40B4-BE49-F238E27FC236}">
                <a16:creationId xmlns:a16="http://schemas.microsoft.com/office/drawing/2014/main" id="{AD69A8F9-077C-48D3-AA57-9B1F73B65A59}"/>
              </a:ext>
            </a:extLst>
          </p:cNvPr>
          <p:cNvSpPr>
            <a:spLocks xmlns:a="http://schemas.openxmlformats.org/drawingml/2006/main" noGrp="1"/>
          </p:cNvSpPr>
          <p:nvPr/>
        </p:nvSpPr>
        <p:spPr>
          <a:xfrm xmlns:a="http://schemas.openxmlformats.org/drawingml/2006/main">
            <a:off x="4348536" y="4222296"/>
            <a:ext cx="964128" cy="2654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pPr>
            <a:r>
              <a:rPr sz="900" b="0" i="1" u="none" cap="none">
                <a:solidFill>
                  <a:srgbClr val="C9D4EF"/>
                </a:solidFill>
                <a:latin typeface="Calibri"/>
                <a:ea typeface="Calibri"/>
                <a:cs typeface="Calibri"/>
              </a:rPr>
              <a:t>with all of nature</a:t>
            </a:r>
          </a:p>
        </p:txBody>
      </p:sp>
      <p:sp>
        <p:nvSpPr>
          <p:cNvPr id="522" name="Google Shape;522;p21">
            <a:extLst xmlns:a="http://schemas.openxmlformats.org/drawingml/2006/main">
              <a:ext uri="{FF2B5EF4-FFF2-40B4-BE49-F238E27FC236}">
                <a16:creationId xmlns:a16="http://schemas.microsoft.com/office/drawing/2014/main" id="{C68915DF-AED4-4750-935D-0C5066DF5744}"/>
              </a:ext>
            </a:extLst>
          </p:cNvPr>
          <p:cNvSpPr>
            <a:spLocks xmlns:a="http://schemas.openxmlformats.org/drawingml/2006/main" noGrp="1"/>
          </p:cNvSpPr>
          <p:nvPr/>
        </p:nvSpPr>
        <p:spPr>
          <a:xfrm xmlns:a="http://schemas.openxmlformats.org/drawingml/2006/main">
            <a:off x="640080" y="4650000"/>
            <a:ext cx="4754880" cy="45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0" i="0" u="none" cap="none">
                <a:solidFill>
                  <a:srgbClr val="8E9BC4"/>
                </a:solidFill>
                <a:latin typeface="Calibri"/>
                <a:ea typeface="Calibri"/>
                <a:cs typeface="Calibri"/>
              </a:rPr>
              <a:t>Five dimensions of continuity: education–sanskar · justice–preservation · health–restraint · production–work · exchange–storage.</a:t>
            </a:r>
          </a:p>
        </p:txBody>
      </p:sp>
    </p:spTree>
    <p:extLst>
      <p:ext uri="{BB962C8B-B14F-4D97-AF65-F5344CB8AC3E}">
        <p14:creationId xmlns:p14="http://schemas.microsoft.com/office/powerpoint/2010/main" val="222854684"/>
      </p:ext>
    </p:extLst>
  </p:cSld>
</p:sld>
</file>

<file path=ppt/slides/slide26.xml><?xml version="1.0" encoding="utf-8"?>
<p:sld xmlns:p="http://schemas.openxmlformats.org/presentationml/2006/main">
  <p:cSld>
    <p:bg>
      <p:bgPr>
        <a:solidFill xmlns:a="http://schemas.openxmlformats.org/drawingml/2006/main">
          <a:srgbClr val="1E2447"/>
        </a:solidFill>
      </p:bgPr>
    </p:bg>
    <p:spTree>
      <p:nvGrpSpPr>
        <p:cNvPr id="1" name=""/>
        <p:cNvGrpSpPr/>
        <p:nvPr/>
      </p:nvGrpSpPr>
      <p:grpSpPr>
        <a:xfrm xmlns:a="http://schemas.openxmlformats.org/drawingml/2006/main"/>
      </p:grpSpPr>
      <p:sp>
        <p:nvSpPr>
          <p:cNvPr id="528" name="Google Shape;528;p22">
            <a:extLst xmlns:a="http://schemas.openxmlformats.org/drawingml/2006/main">
              <a:ext uri="{FF2B5EF4-FFF2-40B4-BE49-F238E27FC236}">
                <a16:creationId xmlns:a16="http://schemas.microsoft.com/office/drawing/2014/main" id="{E1C0CC4E-ACB6-4358-A791-7E698544184D}"/>
              </a:ext>
            </a:extLst>
          </p:cNvPr>
          <p:cNvSpPr>
            <a:spLocks xmlns:a="http://schemas.openxmlformats.org/drawingml/2006/main" noGrp="1"/>
          </p:cNvSpPr>
          <p:nvPr/>
        </p:nvSpPr>
        <p:spPr>
          <a:xfrm xmlns:a="http://schemas.openxmlformats.org/drawingml/2006/main">
            <a:off x="7635240" y="411480"/>
            <a:ext cx="1005840" cy="100584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29" name="Google Shape;529;p22">
            <a:extLst xmlns:a="http://schemas.openxmlformats.org/drawingml/2006/main">
              <a:ext uri="{FF2B5EF4-FFF2-40B4-BE49-F238E27FC236}">
                <a16:creationId xmlns:a16="http://schemas.microsoft.com/office/drawing/2014/main" id="{6832F4B8-5752-48AC-ADEE-A7E51AC045AD}"/>
              </a:ext>
            </a:extLst>
          </p:cNvPr>
          <p:cNvSpPr>
            <a:spLocks xmlns:a="http://schemas.openxmlformats.org/drawingml/2006/main" noGrp="1"/>
          </p:cNvSpPr>
          <p:nvPr/>
        </p:nvSpPr>
        <p:spPr>
          <a:xfrm xmlns:a="http://schemas.openxmlformats.org/drawingml/2006/main">
            <a:off x="7836408" y="612648"/>
            <a:ext cx="603504" cy="603504"/>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30" name="Google Shape;530;p22">
            <a:extLst xmlns:a="http://schemas.openxmlformats.org/drawingml/2006/main">
              <a:ext uri="{FF2B5EF4-FFF2-40B4-BE49-F238E27FC236}">
                <a16:creationId xmlns:a16="http://schemas.microsoft.com/office/drawing/2014/main" id="{47CA7A4C-4E57-4A71-B114-1EC5461B0F2A}"/>
              </a:ext>
            </a:extLst>
          </p:cNvPr>
          <p:cNvSpPr>
            <a:spLocks xmlns:a="http://schemas.openxmlformats.org/drawingml/2006/main" noGrp="1"/>
          </p:cNvSpPr>
          <p:nvPr/>
        </p:nvSpPr>
        <p:spPr>
          <a:xfrm xmlns:a="http://schemas.openxmlformats.org/drawingml/2006/main">
            <a:off x="8007401" y="783641"/>
            <a:ext cx="261518" cy="26151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31" name="Google Shape;531;p22">
            <a:extLst xmlns:a="http://schemas.openxmlformats.org/drawingml/2006/main">
              <a:ext uri="{FF2B5EF4-FFF2-40B4-BE49-F238E27FC236}">
                <a16:creationId xmlns:a16="http://schemas.microsoft.com/office/drawing/2014/main" id="{DFF39978-43C7-4870-B974-350C3D4735CA}"/>
              </a:ext>
            </a:extLst>
          </p:cNvPr>
          <p:cNvSpPr>
            <a:spLocks xmlns:a="http://schemas.openxmlformats.org/drawingml/2006/main" noGrp="1"/>
          </p:cNvSpPr>
          <p:nvPr/>
        </p:nvSpPr>
        <p:spPr>
          <a:xfrm xmlns:a="http://schemas.openxmlformats.org/drawingml/2006/main">
            <a:off x="640080" y="457200"/>
            <a:ext cx="66751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1" i="0" u="none" cap="none">
                <a:solidFill>
                  <a:srgbClr val="C9821E"/>
                </a:solidFill>
                <a:latin typeface="Calibri"/>
                <a:ea typeface="Calibri"/>
                <a:cs typeface="Calibri"/>
              </a:rPr>
              <a:t>WHAT MADHYASTH DARSHAN ESTABLISHES</a:t>
            </a:r>
          </a:p>
        </p:txBody>
      </p:sp>
      <p:sp>
        <p:nvSpPr>
          <p:cNvPr id="532" name="Google Shape;532;p22">
            <a:extLst xmlns:a="http://schemas.openxmlformats.org/drawingml/2006/main">
              <a:ext uri="{FF2B5EF4-FFF2-40B4-BE49-F238E27FC236}">
                <a16:creationId xmlns:a16="http://schemas.microsoft.com/office/drawing/2014/main" id="{6CC10D41-50EA-44E8-9A36-16DFEE707FE8}"/>
              </a:ext>
            </a:extLst>
          </p:cNvPr>
          <p:cNvSpPr>
            <a:spLocks xmlns:a="http://schemas.openxmlformats.org/drawingml/2006/main" noGrp="1"/>
          </p:cNvSpPr>
          <p:nvPr/>
        </p:nvSpPr>
        <p:spPr>
          <a:xfrm xmlns:a="http://schemas.openxmlformats.org/drawingml/2006/main">
            <a:off x="640080" y="749808"/>
            <a:ext cx="685800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200" b="1" i="0" u="none" cap="none">
                <a:solidFill>
                  <a:srgbClr val="FFFFFF"/>
                </a:solidFill>
                <a:latin typeface="Cambria"/>
                <a:ea typeface="Cambria"/>
                <a:cs typeface="Cambria"/>
              </a:rPr>
              <a:t>The Questions, Answered</a:t>
            </a:r>
          </a:p>
        </p:txBody>
      </p:sp>
      <p:graphicFrame>
        <p:nvGraphicFramePr>
          <p:cNvPr id="541" name="Google Shape;533;p22"/>
          <p:cNvGraphicFramePr/>
          <p:nvPr/>
        </p:nvGraphicFramePr>
        <p:xfrm>
          <a:off xmlns:a="http://schemas.openxmlformats.org/drawingml/2006/main" x="640080" y="1508760"/>
          <a:ext xmlns:a="http://schemas.openxmlformats.org/drawingml/2006/main" cx="7863850" cy="2688300"/>
        </p:xfrm>
        <a:graphic xmlns:a="http://schemas.openxmlformats.org/drawingml/2006/main">
          <a:graphicData uri="http://schemas.openxmlformats.org/drawingml/2006/table">
            <a:tbl>
              <a:tblPr>
                <a:tableStyleId>{6C92A692-798E-4634-90B1-36CD3966BFCB}</a:tableStyleId>
              </a:tblPr>
              <a:tblGrid>
                <a:gridCol w="2377450"/>
                <a:gridCol w="5486400"/>
              </a:tblGrid>
              <a:tr h="347475">
                <a:tc>
                  <a:txBody>
                    <a:bodyPr/>
                    <a:lstStyle/>
                    <a:p>
                      <a:pPr marL="0" indent="0" algn="l">
                        <a:buNone/>
                      </a:pPr>
                      <a:r>
                        <a:rPr sz="1200" b="1" u="none" cap="none">
                          <a:solidFill>
                            <a:srgbClr val="FFFFFF"/>
                          </a:solidFill>
                          <a:latin typeface="Calibri"/>
                          <a:ea typeface="Calibri"/>
                          <a:cs typeface="Calibri"/>
                        </a:rPr>
                        <a:t>Question</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2B3560"/>
                    </a:solidFill>
                  </a:tcPr>
                </a:tc>
                <a:tc>
                  <a:txBody>
                    <a:bodyPr/>
                    <a:lstStyle/>
                    <a:p>
                      <a:pPr marL="0" indent="0" algn="l">
                        <a:buNone/>
                      </a:pPr>
                      <a:r>
                        <a:rPr sz="1200" b="1" u="none" cap="none">
                          <a:solidFill>
                            <a:srgbClr val="FFFFFF"/>
                          </a:solidFill>
                          <a:latin typeface="Calibri"/>
                          <a:ea typeface="Calibri"/>
                          <a:cs typeface="Calibri"/>
                        </a:rPr>
                        <a:t>Madhyasth Darshan answer</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2B3560"/>
                    </a:solidFill>
                  </a:tcPr>
                </a:tc>
              </a:tr>
              <a:tr h="365750">
                <a:tc>
                  <a:txBody>
                    <a:bodyPr/>
                    <a:lstStyle/>
                    <a:p>
                      <a:pPr marL="0" indent="0" algn="l">
                        <a:buNone/>
                      </a:pPr>
                      <a:r>
                        <a:rPr sz="1200" u="none" cap="none">
                          <a:solidFill>
                            <a:srgbClr val="C9D4EF"/>
                          </a:solidFill>
                          <a:latin typeface="Calibri"/>
                          <a:ea typeface="Calibri"/>
                          <a:cs typeface="Calibri"/>
                        </a:rPr>
                        <a:t>What is existence?</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c>
                  <a:txBody>
                    <a:bodyPr/>
                    <a:lstStyle/>
                    <a:p>
                      <a:pPr marL="0" indent="0" algn="l">
                        <a:buNone/>
                      </a:pPr>
                      <a:r>
                        <a:rPr sz="1200" u="none" cap="none">
                          <a:solidFill>
                            <a:srgbClr val="C9D4EF"/>
                          </a:solidFill>
                          <a:latin typeface="Calibri"/>
                          <a:ea typeface="Calibri"/>
                          <a:cs typeface="Calibri"/>
                        </a:rPr>
                        <a:t>Eternal coexistence: countless units saturated in all-pervasive Omnipotence.</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r>
              <a:tr h="365750">
                <a:tc>
                  <a:txBody>
                    <a:bodyPr/>
                    <a:lstStyle/>
                    <a:p>
                      <a:pPr marL="0" indent="0" algn="l">
                        <a:buNone/>
                      </a:pPr>
                      <a:r>
                        <a:rPr sz="1200" u="none" cap="none">
                          <a:solidFill>
                            <a:srgbClr val="C9D4EF"/>
                          </a:solidFill>
                          <a:latin typeface="Calibri"/>
                          <a:ea typeface="Calibri"/>
                          <a:cs typeface="Calibri"/>
                        </a:rPr>
                        <a:t>What exists?</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c>
                  <a:txBody>
                    <a:bodyPr/>
                    <a:lstStyle/>
                    <a:p>
                      <a:pPr marL="0" indent="0" algn="l">
                        <a:buNone/>
                      </a:pPr>
                      <a:r>
                        <a:rPr sz="1200" u="none" cap="none">
                          <a:solidFill>
                            <a:srgbClr val="C9D4EF"/>
                          </a:solidFill>
                          <a:latin typeface="Calibri"/>
                          <a:ea typeface="Calibri"/>
                          <a:cs typeface="Calibri"/>
                        </a:rPr>
                        <a:t>Root atomic units; composite units and bodies; body–jeevan joint forms; and relational human assemblies — all saturated in Omnipotence.</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r>
              <a:tr h="365750">
                <a:tc>
                  <a:txBody>
                    <a:bodyPr/>
                    <a:lstStyle/>
                    <a:p>
                      <a:pPr marL="0" indent="0" algn="l">
                        <a:buNone/>
                      </a:pPr>
                      <a:r>
                        <a:rPr sz="1200" u="none" cap="none">
                          <a:solidFill>
                            <a:srgbClr val="C9D4EF"/>
                          </a:solidFill>
                          <a:latin typeface="Calibri"/>
                          <a:ea typeface="Calibri"/>
                          <a:cs typeface="Calibri"/>
                        </a:rPr>
                        <a:t>Does existence begin or end?</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c>
                  <a:txBody>
                    <a:bodyPr/>
                    <a:lstStyle/>
                    <a:p>
                      <a:pPr marL="0" indent="0" algn="l">
                        <a:buNone/>
                      </a:pPr>
                      <a:r>
                        <a:rPr sz="1200" u="none" cap="none">
                          <a:solidFill>
                            <a:srgbClr val="C9D4EF"/>
                          </a:solidFill>
                          <a:latin typeface="Calibri"/>
                          <a:ea typeface="Calibri"/>
                          <a:cs typeface="Calibri"/>
                        </a:rPr>
                        <a:t>No. Existence is perpetual; configurations form, transform, and decompose.</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r>
              <a:tr h="365750">
                <a:tc>
                  <a:txBody>
                    <a:bodyPr/>
                    <a:lstStyle/>
                    <a:p>
                      <a:pPr marL="0" indent="0" algn="l">
                        <a:buNone/>
                      </a:pPr>
                      <a:r>
                        <a:rPr sz="1200" u="none" cap="none">
                          <a:solidFill>
                            <a:srgbClr val="C9D4EF"/>
                          </a:solidFill>
                          <a:latin typeface="Calibri"/>
                          <a:ea typeface="Calibri"/>
                          <a:cs typeface="Calibri"/>
                        </a:rPr>
                        <a:t>What is the self?</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c>
                  <a:txBody>
                    <a:bodyPr/>
                    <a:lstStyle/>
                    <a:p>
                      <a:pPr marL="0" indent="0" algn="l">
                        <a:buNone/>
                      </a:pPr>
                      <a:r>
                        <a:rPr sz="1200" u="none" cap="none">
                          <a:solidFill>
                            <a:srgbClr val="C9D4EF"/>
                          </a:solidFill>
                          <a:latin typeface="Calibri"/>
                          <a:ea typeface="Calibri"/>
                          <a:cs typeface="Calibri"/>
                        </a:rPr>
                        <a:t>Jeevan: a constitutionally complete sentient atom working through the body.</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r>
              <a:tr h="365750">
                <a:tc>
                  <a:txBody>
                    <a:bodyPr/>
                    <a:lstStyle/>
                    <a:p>
                      <a:pPr marL="0" indent="0" algn="l">
                        <a:buNone/>
                      </a:pPr>
                      <a:r>
                        <a:rPr sz="1200" u="none" cap="none">
                          <a:solidFill>
                            <a:srgbClr val="C9D4EF"/>
                          </a:solidFill>
                          <a:latin typeface="Calibri"/>
                          <a:ea typeface="Calibri"/>
                          <a:cs typeface="Calibri"/>
                        </a:rPr>
                        <a:t>Is the world real?</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c>
                  <a:txBody>
                    <a:bodyPr/>
                    <a:lstStyle/>
                    <a:p>
                      <a:pPr marL="0" indent="0" algn="l">
                        <a:buNone/>
                      </a:pPr>
                      <a:r>
                        <a:rPr sz="1200" u="none" cap="none">
                          <a:solidFill>
                            <a:srgbClr val="C9D4EF"/>
                          </a:solidFill>
                          <a:latin typeface="Calibri"/>
                          <a:ea typeface="Calibri"/>
                          <a:cs typeface="Calibri"/>
                        </a:rPr>
                        <a:t>Yes. Units, mutual relationships, and definite material fulfilment are real within perpetual coexistence.</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r>
              <a:tr h="512075">
                <a:tc>
                  <a:txBody>
                    <a:bodyPr/>
                    <a:lstStyle/>
                    <a:p>
                      <a:pPr marL="0" indent="0" algn="l">
                        <a:buNone/>
                      </a:pPr>
                      <a:r>
                        <a:rPr sz="1200" u="none" cap="none">
                          <a:solidFill>
                            <a:srgbClr val="C9D4EF"/>
                          </a:solidFill>
                          <a:latin typeface="Calibri"/>
                          <a:ea typeface="Calibri"/>
                          <a:cs typeface="Calibri"/>
                        </a:rPr>
                        <a:t>How is it known?</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c>
                  <a:txBody>
                    <a:bodyPr/>
                    <a:lstStyle/>
                    <a:p>
                      <a:pPr marL="0" indent="0" algn="l">
                        <a:buNone/>
                      </a:pPr>
                      <a:r>
                        <a:rPr sz="1200" u="none" cap="none">
                          <a:solidFill>
                            <a:srgbClr val="C9D4EF"/>
                          </a:solidFill>
                          <a:latin typeface="Calibri"/>
                          <a:ea typeface="Calibri"/>
                          <a:cs typeface="Calibri"/>
                        </a:rPr>
                        <a:t>Through logical exposition, study and self-examination, practice, realisation, and conduct-evidence; measurable physical claims still require instrument-based testing.</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r>
            </a:tbl>
          </a:graphicData>
        </a:graphic>
      </p:graphicFrame>
      <p:sp>
        <p:nvSpPr>
          <p:cNvPr id="534" name="Google Shape;534;p22">
            <a:extLst xmlns:a="http://schemas.openxmlformats.org/drawingml/2006/main">
              <a:ext uri="{FF2B5EF4-FFF2-40B4-BE49-F238E27FC236}">
                <a16:creationId xmlns:a16="http://schemas.microsoft.com/office/drawing/2014/main" id="{01012620-D920-4BA5-BC9C-ECC75D3B5E5D}"/>
              </a:ext>
            </a:extLst>
          </p:cNvPr>
          <p:cNvSpPr>
            <a:spLocks xmlns:a="http://schemas.openxmlformats.org/drawingml/2006/main" noGrp="1"/>
          </p:cNvSpPr>
          <p:nvPr/>
        </p:nvSpPr>
        <p:spPr>
          <a:xfrm xmlns:a="http://schemas.openxmlformats.org/drawingml/2006/main">
            <a:off x="640080" y="4526280"/>
            <a:ext cx="7863840" cy="320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0" i="1" u="none" cap="none">
                <a:solidFill>
                  <a:srgbClr val="8E9BC4"/>
                </a:solidFill>
                <a:latin typeface="Calibri"/>
                <a:ea typeface="Calibri"/>
                <a:cs typeface="Calibri"/>
              </a:rPr>
              <a:t>Fulfilment: resolution and authenticity expressed as humane conduct and participation in orderliness — §1.16. Evidence modes should not be conflated.</a:t>
            </a:r>
          </a:p>
        </p:txBody>
      </p:sp>
    </p:spTree>
    <p:extLst>
      <p:ext uri="{BB962C8B-B14F-4D97-AF65-F5344CB8AC3E}">
        <p14:creationId xmlns:p14="http://schemas.microsoft.com/office/powerpoint/2010/main" val="2074764510"/>
      </p:ext>
    </p:extLst>
  </p:cSld>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2026-07-23T03:08:05.8890000Z</dcterms:created>
  <dcterms:modified xsi:type="dcterms:W3CDTF">2026-07-23T03:08:05.8890000Z</dcterms:modified>
</coreProperties>
</file>