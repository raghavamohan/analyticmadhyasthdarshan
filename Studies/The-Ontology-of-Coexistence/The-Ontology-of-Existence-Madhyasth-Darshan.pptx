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9.xml" ContentType="application/vnd.openxmlformats-officedocument.presentationml.notes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1" r:id="rId17"/>
    <p:sldId id="270" r:id="rId16"/>
    <p:sldId id="272" r:id="rId18"/>
    <p:sldId id="274" r:id="rId25"/>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9.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deck presents the ontology of existence as stated in Madhyasth Darshan, following Section 1 of the study The Ontology of Coexistence. The study is written from a scientist-technologist standpoint, but the darshan is stated on its own terms first. Core claim to land up front: existence is not matter alone, and not one undifferentiated absolute - it is the ever-present togetherness of Omnipresence (satta) and countless real units of nature, each saturated in that ground. Everything else in the deck unfolds from this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stakes before the answers. The first five questions are the classic ontological battleground - shared with Advaita Vedanta, Western philosophy, and modern science. The sixth is the epistemic question the study also frames: how can what exists be known, and at what scope? Emphasise that Madhyasth Darshan does not answer these piecemeal: one picture (coexistence) answers all six. The epistemic question gets its payoff mid-deck - the epistemic ladder (what must be understood, from the unit alone up to the whole, to know form, gun, svabhav, and dharma), then realisation in coexistence as where the drive terminates - and the closing slide answers it with the staged method: study, experiment and practice, realisation with conduct-evidence. Flag that we will close the loop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two-pole structure is the foundation. Key points: satta is formless, all-pervasive, non-transforming, actionless energy - the translation prints Omnipotence, the study uses Omnipresence. SB lists several names for it (Uniform Energy, Space, Knowledge, Consciousness); caution the audience that Consciousness and Knowledge here do NOT mean a mind that knows - active sentience belongs to jeevan, not to the ground. Second key point: the poles were never separate - separation 'never happens'. Ground is sthitipurn (state-complete, changeless); saturated nature is sthitishil (state-dynamic) - so ALL change is unit-activity. The diagram: units are bounded wholes; the distance between them is held in satta as Space (shunya).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Saturation (samprikt) is the ever-present bond - soaked, submerged, surrounded. The sponge-in-water and cell-in-nutrient images are illustrative, not identities. Stress that satta does not push units: it is not an efficient cause. Three endowments follow from the bond: recognition capability (complementarity is given, not created - capacity, ability, receptivity), activeness (inherent energy plus basic impulsion; quote 'Unit + Energy fullness = Activeness'), and inherent regulation (order comes from within, not from a cosmic command). Also worth saying aloud: manifestation is mutually dependent - without basic impulsion energy stays unmanifest; without energy no impulsion. Neither pole creates the other's existence, only its manifestation. NEW: the saturation bond itself is knowledge - samprikt, coexistence, and gyan name one fact (MVD pp. 32-33); the three endowments are how gyan is present on the unit side. Attribute mapping: permeative satta provisions activeness (JV p. 150); transparency in mutuality provisions recognition (SB p. 50); mediativeness provisions regulation (MVD p. 26). INTERPRETATION (settled): in MVD pp. 32-33 the referent of 'yahi... yahi gyan hai' is the saturated STATE - nature submerged, soaked, surrounded in satta, which the text names coexistence - not a reified 'bond' as a third item. The slide uses the texts' evidence language ('is evident as' - MVD: law and regulation are evident in coexistence only; JV p. 150: the endowments are the testimony of permeative satta). Avoid 'projects' for the ground - satta is actionless, and projection (paravartan) is jeevan's outward activity on slides 11 and 16; avoid predicating reflection of the ground too - the reflector model has the ATOM reflecting satta (slide 10). the identity claim itself - saturated coexistence IS knowledge, MVD pp. 32-33 - stays as presenter background and in the paper 1.2. If pressed, avoid 'the bond itself is knowledge'. It is an identity claim about the state, plus a separate consequence: from it, every unit has the three endowments. The knowledge identity holds for insentient AND sentient nature (MVD pp. 32-33) - insentient units abide in gyan as the three endowments (law and regulation evident, without knowing); the sentient atom ALONE additionally reflects the ground as active sentience - the capacity to know (the reflector model, slide 10; permeative gyan latent in satta actualised as chaitanya at T1). Careful wording: satta does not project - it is actionless; the unit reflects what is ever-present in the ground. What is exclusive to the sentient atom is the reflection of gyan as sentience, not the ground itself - every atom is saturated in and sustained by satta.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unit at every order carries the same four-aspect signature. Walk the grid: form individuates; properties are effects in mutuality (generative, degenerative, mediative); essential nature is how usefulness participates in the unit's order; dharma is what a unit cannot be separated from - and since existence is coexistence, indestructibility is the ultimate dharma. Introduce 'ness' - what makes a unit the kind of unit it is. The state band matters for everything later: natural state moves to development, excited state to decline. Concrete anchor if useful: JV's peepal tree, whose fruits, seeds and leaves all exhibit peepal's properties, intrinsic nature and dharma - definite conduct. Context ladder worth noting: form is graspable from the unit alone; gun needs mutuality; svabhav needs the unit's order; dharma needs the whole - JV: 'dharma is understood on the basis of orderliness' (pp. 120-121), and the ultimate dharma follows from existence being coexistence.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is isolated - that is the principle.' Relationships are where complementarity is actualised as value. Draw the contrast carefully: a relationship (sambandh) has expectations predetermined toward completeness (parent-child); a contact (sampark) has voluntary expectations (neighbours sharing a wall). Translation note if asked: the current published rendering of sampark is 'association'; the translator (Rakesh Gupta) has revised it to 'contact' - the slide shows the Hindi terms in brackets so citations against either printing stay traceable. The neighbours-sharing-a-wall example is the study's illustrative gloss, not primary text. Value (mulya) is differentiated: object values (utility and art) operate at every order; jeevan harmonies, human values, relationship values and expression values presuppose the knowledge order. The chain at the bottom is the crucial asymmetry: below the knowledge order, fulfilment is definite (structural, seed, species conformance); humans must ACHIEVE it through knowing, believing, recognising, fulfilling - which is why evaluation and error enter only at our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stable orders - stress these are plateaus in development, not a human typology. Read the dharma column cumulatively: each higher order includes the dharmas below and adds one. The pivotal line is the boundary between pran and jeev: hope to live (jeene ki aasha) is where sentience enters - hope is the defining activity of the sentient unit, expressed through mun. Material and pranic orders are insentient; jeevan first appears at the animal order. The knowledge order's six svabhav qualities (fortitude through compassion) are developed as human values. If asked about how orders emerge: that is niyati-kram, covered on the progressions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completeness drive is built into the design of existence, not an ethic bolted onto matter. Every activity is one inseparable triad - effort, motion, result are three joint aspects, not three sequential steps. Example from SB: sodium and chlorine ions approaching is effort and motion together; the stable salt crystal is the result. Read SB p. 62's compressed chain aloud if time allows - saturation itself is forcefulness, forcefulness is basic impulsion, impulsion is activity, activity is effort-motion-result, and that is development. Each triad term has a teleological goal (restfulness, destination, immortality), and the two atomic paths on the right set up the next slide: the insentient path completes result at T1; the sentient path continues to T2 and T3. NEW: state the drive's span with SB p. 51 - nature is oriented for development and awakening UNTIL realisation in Omnipotence; SB p. 91 calls this bound an existential truth. Role differentiation: development pervades all of nature, awakening occurs in the sentient - insentient units participate by composing bodies and environments without individually completing the drive.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transitions are developmental milestones mapped to plane shifts. T1: constitutional completeness - immortality of result - sentient jeevan appears; physicochemical to delusional. T2: activity completeness - restfulness of effort - internal cognitive seeking resolves into direct realisation and absolute resolution (samadhan); delusional to deific. T3: conduct completeness - destination of motion - authentic conduct with living proof (pramanikta); deific to divine. Two cautions from the study: 'delusional' names a developmental stage, not psychiatric illness; and T2's vishram (settlement of internal effort) must not be conflated with the insentient natural-state ease from the unit slide, nor T3 collapsed into T2 - one is internal settlement, the other external destination. NEW: T3 Hindi term corrected to acharanpurnata (both MVD and SB use aacharan purnata; vyavahar purnata appears in neither). Close with the drive statement: the saturated realising the ground it is saturated in - that is the completeness drive.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T1 deserves its own slide because it is the sentience threshold - and it is constitutional, not neural complexity, molecular size, or position on the order chain. Molecules exhibit characteristics of development but not actual development. Mechanism: particle incorporation through hungry and overfull complementarity within a conducive environment; when the required particles integrate, the constitution closes. The bondage shift is the textual evidence (MVD p. 91): molecular-bondage and weight-bondage are released; hope-bondage defines the sentient mode. After T1: no change in particle count - qualitative change without quantitative change. Close with latency: the complete atom acts as a mediating reflector configuration - sentience is what was ever-present in satta, actualised - which becomes important in the comparison deck against emergence objections. NEW: T1 changes the drive's mode, not its direction - hope-bondage carries the same orientation. Epistemic upgrade: taste-recognition, impossible in insentient nature, first manifests in sentient nature (SB pp. 80-81) - recognition acquires the inner circuit of strengths and powers, the condition for knowing-believing-recognising-fulfilling at the knowledge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Jeevan's structure: atma is the nucleus; buddhi, chitta, vritti, mun are particles in the first through fourth orbits - this is MVD p. 78, and the study insists it is structural, not metaphor. Each faculty works through projection (paravartan) and reflection (pratyavartan) - walk one or two rows of the table, e.g. mun selects and tastes; buddhi resolves and is enlightened; atma authenticates and realises. Two cautions: this five-fold (faculties) must NOT be conflated with the kosha five-fold (developmental sheaths) - they do not align column-to-column. And the delusion structure: on the delusional plane atma is 'I' and the orbital four are 'mine'; awakening is the four coming into accordance with atma. Mistaking the body for the self is the root confusion. NEW: directional reading of the table - reflection (pratyavartan) is the knowing direction, the study circuit ratiocination in mun, deliberation in vritti, direct recognition in chitta, enlightenment in buddhi (MVD p. 126), terminating in anubhav in satta (MVD pp. 286-287); projection (paravartan) is the evidencing direction, the cascade from anubhav to pramanikta (MVD pp. 99-100). Delusional inversion: circuit driven body-upward, only 4.5 of ten activities effective, believing severed from knowing (JV pp. 73-74). Awakening staged by three statuses of buddhi: chitta-driven, buddhi-driven, atma-disciplined (MVD pp. 278-279).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jeevan values are not moods; they are names of harmony between faculty pairs - JV p. 138. Happiness: mun-vritti; peace: vritti-chitta; contentment: chitta-buddhi; bliss: buddhi-atma. Awakening is therefore FELT harmony, not just a plane label. Inward regulation - mediative atma at the nucleus disciplining the orbital faculties and the body - is the mechanism; note the study's point that the mediative nucleus at the atomic level and atma at the sentient centre are the same structural role at two scales, not mere analogy. The dark band carries the strong claim: jeevan persists across bodily birth and death, carrying impressions and its state of awakening. Be transparent: this is an ontological commitment of the darshan; its evidential status is examined in the comparison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coordinates that must not be collapsed. Progressions are how nature moves - four words the texts refuse to merge: niyati-kram (fixed order emergence on Earth), niyati-vidhi (definiteness of each order's conduct), vikas-kram (atomic development up to T1), jagriti-kram (awakening within jeevan). Planes are where a unit currently stands. The mapping table shows the asymmetry: two orders share the physicochemical plane, while the knowledge order spans three planes - which is exactly why order and plane cannot be used interchangeably. The junction point is elegant: the order chain delivers the animal BODY from enriched pranic life, while atomic development delivers the jeevan atom; an animal is their joint presence. Five human types (servile to divya-manav) mark degrees of awakening.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the darshan's name. Orderliness is self-regulation - swatah-saspurt - inherent in saturated units, not dispensed by a cosmic governor; MVD p. 26: Omnipotence is mediative, therefore nature saturated in it is regulated and conserved; the nucleus in every atom is the mediative activity. Regulation manifests as law through order-specific conformance modes - definite for the first three orders, achieved for humans through the knowing-believing-recognising-fulfilling chain. Justice enters only where evaluation and error are possible: it is the closure of the full relational cycle - recognise, fulfil values, evaluate, mutual satisfaction (MVD p. 311). Awakened evaluation reorganises refuge under justice, dharma and truth; the lower triad (pleasant, healthy, profitable) stays legitimate in its domain but is subordinated, not abandoned.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telos slide - where the completeness drive terminates. The paper's 1.13 is Realisation in coexistence; the former four-senses taxonomy has been removed from the study - the vocabulary discipline now lives in Editorial Notes and the glossary (gyan names intelligibility in satta, the saturation bond - not a mind that knows; Realisation Knowledge for orderliness in every unit, 1.1; gyan udghatan for unfolding through awakened jeevan, 1.7; gyan-avastha for the fourth order, 1.5). Walk the slide: intro states the termination - not satta becoming a knower, but awakened jeevan enacting what was latent in the bond; realisation itself is the form of awakening, and recognition and fulfilment then constitute authenticity (SB p. 81). Card 1: realisation is anand - verity chain, MVD pp. 14-15 - and knowledge itself, since what is realised is the ground the unit was always saturated in. Cards 2-4: the AVD p. 217 identity - knowledge in projection (authenticity: gyan-vivek-vigyan, unfolding as gyan udghatan), knower in reflection (jeevan full of realisation; buddhi's reflection toward atma yields atma-bodh and realisation in coexistence together, MVD pp. 286-287), knowable as existence (nature saturated in Omnipotence). Guardrail: uniformity of knowledge, knower, and knowable in coexistence names coordinated roles in one bond - NOT merger into a universal knower; the knower remains distinct jeevan. This is the hinge against the Advaita chit reading (paper 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ladders on this slide, and they meet. LEFT - the scope ladder: what must be understood to know each aspect of a unit. Read bottom-up: form is graspable from the unit alone; gun needs mutuality (it is defined as effects units have on one another); svabhav needs the unit's order; dharma needs the whole - JV: dharma is understood on the basis of orderliness, and the ultimate dharma (indestructibility) follows from a whole-level fact, that existence is coexistence. Note the design choice if anyone compares with the jeevan atom diagram: there, inward means deeper (atma at the nucleus); here, HIGHER means wider context needed - dharma on the top rung is not far from the unit, it is the aspect whose understanding demands the widest horizon. RIGHT - how that knowing actually happens, within jeevan, ascending the faculties by reflection (pratyavartan): mun tastes and selects the proposal (asvad); vritti deliberates - in humane consciousness, in the refuge of justice, dharma, and truth (JV pp. 138-139); chitta contemplates and visualises - revelation, sakshatkar (JV p. 61); buddhi has enlightenment (bodh) - understanding is enlightenment of existence, jeevan, and humane conduct in buddhi (JV p. 120) - and resolve (sankalp); atma realises - anubhav - and realisation takes place only through truth (MVD p. 137). Then the return arrow: realisation projects back down (paravartan) as authenticity - pramanikta - evidenced in conduct; MVD p. 101 describes the effects of atma realised in truth registering on the lower faculties. Where the ladders meet: the widest scopes - dharma and truth - are understood as bodh in buddhi and realised as anubhav in atma. The wider the scope of reality to be known, the deeper within jeevan the knowing must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distinct conservation claims - keep them separate. Coexistence conservation: nothing arises from non-being (abhava), nothing is annihilated; only configurations change - jagat satat, the world is perpetual. Jeevan persistence: a further claim resting on constitutional completeness and immunity to decomposition. At the human scale the completeness drive becomes four societal goals: resolution, prosperity, fearlessness, coexistence - JV p. 61 links them to the internal values: resolution IS happiness realised, prosperity in family is peace, orderly living in society is contentment, evidencing understanding is bliss. Note the contrast: animal collectivity arises primarily from fear; human sociality builds on resolution and trust. These compose upward to undivided society and universal orderliness across five dimensions - education-character, justice-preservation, health-restraint, production-work, exchange-storage. NEW: close on continuity - the five dimensions sustained across generations as humane tradition (manav parampara), the continuity in which the drive's societal evidence goes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on the opening questions. Existence is the eternal coexistence of satta and units; what exists is Omnipresence plus countable units; nothing existent begins - only configurations; jeevan is constitutionally immortal and does not end with the body; the world is real and perpetual; and it is known through staged study, experiment and practice, and realisation with conduct-evidence - with the epistemic ladder adding the scope answer: form known from the unit alone, gun in mutuality, svabhav in its order, dharma against the whole, truth on the basis of existence itself. Land the final line: the darshan's ultimate test is not intellectual assent but pramanikta - lived evidence in humane conduct. If continuing to the companion deck: the next session compares this ontology with Advaita Vedanta, modern philosophy, and modern science - including where each alliance falls and what remains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culmination slide - give it time and let it land. The drive that opened on slide 8 in every atom ends here, in people. Effort settled in realisation is T2 (restfulness of effort, anubhav); understanding proven in daily conduct is T3 (pramanikta). The four goals land at their four levels: resolution in every person (samadhan), prosperity in every family (samriddhi), fearlessness and trust in society (abhay), coexistence with all of nature (sah-astitva). An undivided society (akhand samaj) in universal orderliness is their composed form. Tradition: each generation raised into the same understanding through education-sanskar - the humane tradition (manav parampara) that carries on. Highlight the design point: this is not an ideal bolted onto matter - the ontology is such that the progression is designed to arrive here. Development is definite, laws inherent to being (MVD p. 5); the three completenesses are designed stages toward which units are meant (SB pp. 50-52); the drive is built into the design of existence (paper 1.6); nature saturated in satta is bound for development until realisation in satta (SB pp. 51, 91). An awakened human tradition is what existence's own progression delivers. Close the arc: what is saturated in the ground has come to realise the ground, and the whole of nature stands fulfilled and evident in coexistence (SB pp. 51, 81; JV p. 61; MVD pp. 14-15).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447"/>
        </a:solidFill>
      </p:bgPr>
    </p:bg>
    <p:spTree>
      <p:nvGrpSpPr>
        <p:cNvPr id="1" name=""/>
        <p:cNvGrpSpPr/>
        <p:nvPr/>
      </p:nvGrpSpPr>
      <p:grpSpPr>
        <a:xfrm>
          <a:off x="0" y="0"/>
          <a:ext cx="0" cy="0"/>
          <a:chOff x="0" y="0"/>
          <a:chExt cx="0" cy="0"/>
        </a:xfrm>
      </p:grpSpPr>
      <p:sp>
        <p:nvSpPr>
          <p:cNvPr id="3" name="Shape 0"/>
          <p:cNvSpPr/>
          <p:nvPr/>
        </p:nvSpPr>
        <p:spPr>
          <a:xfrm>
            <a:off x="5852160" y="822960"/>
            <a:ext cx="3291840" cy="3291840"/>
          </a:xfrm>
          <a:prstGeom prst="ellipse">
            <a:avLst/>
          </a:prstGeom>
          <a:ln w="15875">
            <a:solidFill>
              <a:srgbClr val="44507E"/>
            </a:solidFill>
            <a:prstDash val="solid"/>
          </a:ln>
        </p:spPr>
      </p:sp>
      <p:sp>
        <p:nvSpPr>
          <p:cNvPr id="4" name="Shape 1"/>
          <p:cNvSpPr/>
          <p:nvPr/>
        </p:nvSpPr>
        <p:spPr>
          <a:xfrm>
            <a:off x="6510528" y="1481328"/>
            <a:ext cx="1975104" cy="1975104"/>
          </a:xfrm>
          <a:prstGeom prst="ellipse">
            <a:avLst/>
          </a:prstGeom>
          <a:ln w="15875">
            <a:solidFill>
              <a:srgbClr val="44507E"/>
            </a:solidFill>
            <a:prstDash val="solid"/>
          </a:ln>
        </p:spPr>
      </p:sp>
      <p:sp>
        <p:nvSpPr>
          <p:cNvPr id="5" name="Shape 2"/>
          <p:cNvSpPr/>
          <p:nvPr/>
        </p:nvSpPr>
        <p:spPr>
          <a:xfrm>
            <a:off x="7070141" y="2040941"/>
            <a:ext cx="855878" cy="855878"/>
          </a:xfrm>
          <a:prstGeom prst="ellipse">
            <a:avLst/>
          </a:prstGeom>
          <a:solidFill>
            <a:srgbClr val="C9821E"/>
          </a:solidFill>
          <a:ln/>
        </p:spPr>
      </p:sp>
      <p:sp>
        <p:nvSpPr>
          <p:cNvPr id="6" name="Shape 3"/>
          <p:cNvSpPr/>
          <p:nvPr/>
        </p:nvSpPr>
        <p:spPr>
          <a:xfrm>
            <a:off x="5394960" y="3566160"/>
            <a:ext cx="1097280" cy="1097280"/>
          </a:xfrm>
          <a:prstGeom prst="ellipse">
            <a:avLst/>
          </a:prstGeom>
          <a:ln w="15875">
            <a:solidFill>
              <a:srgbClr val="44507E"/>
            </a:solidFill>
            <a:prstDash val="solid"/>
          </a:ln>
        </p:spPr>
      </p:sp>
      <p:sp>
        <p:nvSpPr>
          <p:cNvPr id="7" name="Shape 4"/>
          <p:cNvSpPr/>
          <p:nvPr/>
        </p:nvSpPr>
        <p:spPr>
          <a:xfrm>
            <a:off x="5614416" y="3785616"/>
            <a:ext cx="658368" cy="658368"/>
          </a:xfrm>
          <a:prstGeom prst="ellipse">
            <a:avLst/>
          </a:prstGeom>
          <a:ln w="15875">
            <a:solidFill>
              <a:srgbClr val="44507E"/>
            </a:solidFill>
            <a:prstDash val="solid"/>
          </a:ln>
        </p:spPr>
      </p:sp>
      <p:sp>
        <p:nvSpPr>
          <p:cNvPr id="8" name="Shape 5"/>
          <p:cNvSpPr/>
          <p:nvPr/>
        </p:nvSpPr>
        <p:spPr>
          <a:xfrm>
            <a:off x="5800954" y="3972154"/>
            <a:ext cx="285293" cy="285293"/>
          </a:xfrm>
          <a:prstGeom prst="ellipse">
            <a:avLst/>
          </a:prstGeom>
          <a:solidFill>
            <a:srgbClr val="C9D4EF"/>
          </a:solidFill>
          <a:ln/>
        </p:spPr>
      </p:sp>
      <p:sp>
        <p:nvSpPr>
          <p:cNvPr id="9" name="Shape 6"/>
          <p:cNvSpPr/>
          <p:nvPr/>
        </p:nvSpPr>
        <p:spPr>
          <a:xfrm>
            <a:off x="8138160" y="4023360"/>
            <a:ext cx="731520" cy="731520"/>
          </a:xfrm>
          <a:prstGeom prst="ellipse">
            <a:avLst/>
          </a:prstGeom>
          <a:ln w="15875">
            <a:solidFill>
              <a:srgbClr val="44507E"/>
            </a:solidFill>
            <a:prstDash val="solid"/>
          </a:ln>
        </p:spPr>
      </p:sp>
      <p:sp>
        <p:nvSpPr>
          <p:cNvPr id="10" name="Shape 7"/>
          <p:cNvSpPr/>
          <p:nvPr/>
        </p:nvSpPr>
        <p:spPr>
          <a:xfrm>
            <a:off x="8284464" y="4169664"/>
            <a:ext cx="438912" cy="438912"/>
          </a:xfrm>
          <a:prstGeom prst="ellipse">
            <a:avLst/>
          </a:prstGeom>
          <a:ln w="15875">
            <a:solidFill>
              <a:srgbClr val="44507E"/>
            </a:solidFill>
            <a:prstDash val="solid"/>
          </a:ln>
        </p:spPr>
      </p:sp>
      <p:sp>
        <p:nvSpPr>
          <p:cNvPr id="11" name="Shape 8"/>
          <p:cNvSpPr/>
          <p:nvPr/>
        </p:nvSpPr>
        <p:spPr>
          <a:xfrm>
            <a:off x="8408822" y="4294022"/>
            <a:ext cx="190195" cy="190195"/>
          </a:xfrm>
          <a:prstGeom prst="ellipse">
            <a:avLst/>
          </a:prstGeom>
          <a:solidFill>
            <a:srgbClr val="C9D4EF"/>
          </a:solidFill>
          <a:ln/>
        </p:spPr>
      </p:sp>
      <p:sp>
        <p:nvSpPr>
          <p:cNvPr id="12" name="Text 9"/>
          <p:cNvSpPr/>
          <p:nvPr/>
        </p:nvSpPr>
        <p:spPr>
          <a:xfrm>
            <a:off x="640080" y="1234440"/>
            <a:ext cx="5852160" cy="274320"/>
          </a:xfrm>
          <a:prstGeom prst="rect">
            <a:avLst/>
          </a:prstGeom>
          <a:noFill/>
          <a:ln/>
        </p:spPr>
        <p:txBody>
          <a:bodyPr wrap="square" lIns="0" tIns="0" rIns="0" bIns="0" rtlCol="0" anchor="ctr"/>
          <a:lstStyle/>
          <a:p>
            <a:pPr indent="0" marL="0">
              <a:buNone/>
            </a:pPr>
            <a:r>
              <a:rPr lang="en-US" sz="1200" b="1" spc="400" kern="0" dirty="0">
                <a:solidFill>
                  <a:srgbClr val="C9821E"/>
                </a:solidFill>
                <a:latin typeface="Calibri" pitchFamily="34" charset="0"/>
                <a:ea typeface="Calibri" pitchFamily="34" charset="-122"/>
                <a:cs typeface="Calibri" pitchFamily="34" charset="-120"/>
              </a:rPr>
              <a:t>MADHYASTH DARSHAN  ·  CO-EXISTENTIALISM</a:t>
            </a:r>
            <a:endParaRPr lang="en-US" sz="1200" dirty="0"/>
          </a:p>
        </p:txBody>
      </p:sp>
      <p:sp>
        <p:nvSpPr>
          <p:cNvPr id="13" name="Text 10"/>
          <p:cNvSpPr/>
          <p:nvPr/>
        </p:nvSpPr>
        <p:spPr>
          <a:xfrm>
            <a:off x="640080" y="1572768"/>
            <a:ext cx="5577840" cy="13716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Ontology of Existence</a:t>
            </a:r>
            <a:endParaRPr lang="en-US" sz="4400" dirty="0"/>
          </a:p>
        </p:txBody>
      </p:sp>
      <p:sp>
        <p:nvSpPr>
          <p:cNvPr id="14" name="Text 11"/>
          <p:cNvSpPr/>
          <p:nvPr/>
        </p:nvSpPr>
        <p:spPr>
          <a:xfrm>
            <a:off x="640080" y="2880360"/>
            <a:ext cx="4846320" cy="685800"/>
          </a:xfrm>
          <a:prstGeom prst="rect">
            <a:avLst/>
          </a:prstGeom>
          <a:noFill/>
          <a:ln/>
        </p:spPr>
        <p:txBody>
          <a:bodyPr wrap="square" lIns="0" tIns="0" rIns="0" bIns="0" rtlCol="0" anchor="ctr"/>
          <a:lstStyle/>
          <a:p>
            <a:pPr indent="0" marL="0">
              <a:buNone/>
            </a:pPr>
            <a:r>
              <a:rPr lang="en-US" sz="1600" i="1" dirty="0">
                <a:solidFill>
                  <a:srgbClr val="C9D4EF"/>
                </a:solidFill>
                <a:latin typeface="Calibri" pitchFamily="34" charset="0"/>
                <a:ea typeface="Calibri" pitchFamily="34" charset="-122"/>
                <a:cs typeface="Calibri" pitchFamily="34" charset="-120"/>
              </a:rPr>
              <a:t>Existence understood as coexistence — nature saturated in Omnipresence</a:t>
            </a:r>
            <a:endParaRPr lang="en-US" sz="1600" dirty="0"/>
          </a:p>
        </p:txBody>
      </p:sp>
      <p:sp>
        <p:nvSpPr>
          <p:cNvPr id="15" name="Text 12"/>
          <p:cNvSpPr/>
          <p:nvPr/>
        </p:nvSpPr>
        <p:spPr>
          <a:xfrm>
            <a:off x="640080" y="4160520"/>
            <a:ext cx="5303520" cy="274320"/>
          </a:xfrm>
          <a:prstGeom prst="rect">
            <a:avLst/>
          </a:prstGeom>
          <a:noFill/>
          <a:ln/>
        </p:spPr>
        <p:txBody>
          <a:bodyPr wrap="square" lIns="0" tIns="0" rIns="0" bIns="0" rtlCol="0" anchor="ctr"/>
          <a:lstStyle/>
          <a:p>
            <a:pPr indent="0" marL="0">
              <a:buNone/>
            </a:pPr>
            <a:r>
              <a:rPr lang="en-US" sz="1150" dirty="0">
                <a:solidFill>
                  <a:srgbClr val="8E9BC4"/>
                </a:solidFill>
                <a:latin typeface="Calibri" pitchFamily="34" charset="0"/>
                <a:ea typeface="Calibri" pitchFamily="34" charset="-122"/>
                <a:cs typeface="Calibri" pitchFamily="34" charset="-120"/>
              </a:rPr>
              <a:t xml:space="preserve">Based on §1 of </a:t>
            </a:r>
            <a:pPr indent="0" marL="0">
              <a:buNone/>
            </a:pPr>
            <a:r>
              <a:rPr lang="en-US" sz="1150" i="1" dirty="0">
                <a:solidFill>
                  <a:srgbClr val="8E9BC4"/>
                </a:solidFill>
                <a:latin typeface="Calibri" pitchFamily="34" charset="0"/>
                <a:ea typeface="Calibri" pitchFamily="34" charset="-122"/>
                <a:cs typeface="Calibri" pitchFamily="34" charset="-120"/>
              </a:rPr>
              <a:t>The Ontology of Coexistence</a:t>
            </a:r>
            <a:pPr indent="0" marL="0">
              <a:buNone/>
            </a:pPr>
            <a:r>
              <a:rPr lang="en-US" sz="1150" dirty="0">
                <a:solidFill>
                  <a:srgbClr val="8E9BC4"/>
                </a:solidFill>
                <a:latin typeface="Calibri" pitchFamily="34" charset="0"/>
                <a:ea typeface="Calibri" pitchFamily="34" charset="-122"/>
                <a:cs typeface="Calibri" pitchFamily="34" charset="-120"/>
              </a:rPr>
              <a:t xml:space="preserve"> (AnalyticMadhyasthDarshan.org)</a:t>
            </a:r>
            <a:endParaRPr lang="en-US" sz="1150" dirty="0"/>
          </a:p>
        </p:txBody>
      </p:sp>
      <p:sp>
        <p:nvSpPr>
          <p:cNvPr id="16" name="Text 13"/>
          <p:cNvSpPr/>
          <p:nvPr/>
        </p:nvSpPr>
        <p:spPr>
          <a:xfrm>
            <a:off x="640080" y="4434840"/>
            <a:ext cx="5303520" cy="274320"/>
          </a:xfrm>
          <a:prstGeom prst="rect">
            <a:avLst/>
          </a:prstGeom>
          <a:noFill/>
          <a:ln/>
        </p:spPr>
        <p:txBody>
          <a:bodyPr wrap="square" lIns="0" tIns="0" rIns="0" bIns="0" rtlCol="0" anchor="ctr"/>
          <a:lstStyle/>
          <a:p>
            <a:pPr indent="0" marL="0">
              <a:buNone/>
            </a:pPr>
            <a:r>
              <a:rPr lang="en-US" sz="1150" dirty="0">
                <a:solidFill>
                  <a:srgbClr val="8E9BC4"/>
                </a:solidFill>
                <a:latin typeface="Calibri" pitchFamily="34" charset="0"/>
                <a:ea typeface="Calibri" pitchFamily="34" charset="-122"/>
                <a:cs typeface="Calibri" pitchFamily="34" charset="-120"/>
              </a:rPr>
              <a:t>Primary texts of Shri A. Nagraj — MVD · SB · JV (tr. Rakesh Gupta)</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FRAMING</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The Questions Ontology Must Answer</a:t>
            </a:r>
            <a:endParaRPr lang="en-US" sz="3000" dirty="0"/>
          </a:p>
        </p:txBody>
      </p:sp>
      <p:sp>
        <p:nvSpPr>
          <p:cNvPr id="8" name="Shape 5"/>
          <p:cNvSpPr/>
          <p:nvPr/>
        </p:nvSpPr>
        <p:spPr>
          <a:xfrm>
            <a:off x="640080" y="1225296"/>
            <a:ext cx="365760" cy="365760"/>
          </a:xfrm>
          <a:prstGeom prst="ellipse">
            <a:avLst/>
          </a:prstGeom>
          <a:solidFill>
            <a:srgbClr val="3B4A7A"/>
          </a:solidFill>
          <a:ln/>
        </p:spPr>
      </p:sp>
      <p:pic>
        <p:nvPicPr>
          <p:cNvPr id="9" name="Image 0" descr="preencoded.png"/>
          <p:cNvPicPr>
            <a:picLocks noChangeAspect="1"/>
          </p:cNvPicPr>
          <p:nvPr/>
        </p:nvPicPr>
        <p:blipFill>
          <a:blip r:embed="rId1"/>
          <a:stretch>
            <a:fillRect/>
          </a:stretch>
        </p:blipFill>
        <p:spPr>
          <a:xfrm>
            <a:off x="735178" y="1320394"/>
            <a:ext cx="175565" cy="175565"/>
          </a:xfrm>
          <a:prstGeom prst="rect">
            <a:avLst/>
          </a:prstGeom>
        </p:spPr>
      </p:pic>
      <p:sp>
        <p:nvSpPr>
          <p:cNvPr id="10" name="Text 6"/>
          <p:cNvSpPr/>
          <p:nvPr/>
        </p:nvSpPr>
        <p:spPr>
          <a:xfrm>
            <a:off x="1188720" y="1188720"/>
            <a:ext cx="7406640" cy="502920"/>
          </a:xfrm>
          <a:prstGeom prst="rect">
            <a:avLst/>
          </a:prstGeom>
          <a:noFill/>
          <a:ln/>
        </p:spPr>
        <p:txBody>
          <a:bodyPr wrap="square" lIns="0" tIns="0" rIns="0" bIns="0" rtlCol="0" anchor="ctr"/>
          <a:lstStyle/>
          <a:p>
            <a:pPr indent="0" marL="0">
              <a:buNone/>
            </a:pPr>
            <a:r>
              <a:rPr lang="en-US" sz="1450" b="1" dirty="0">
                <a:solidFill>
                  <a:srgbClr val="1E2447"/>
                </a:solidFill>
                <a:latin typeface="Calibri" pitchFamily="34" charset="0"/>
                <a:ea typeface="Calibri" pitchFamily="34" charset="-122"/>
                <a:cs typeface="Calibri" pitchFamily="34" charset="-120"/>
              </a:rPr>
              <a:t xml:space="preserve">What is Existence?  —  </a:t>
            </a:r>
            <a:pPr indent="0" marL="0">
              <a:buNone/>
            </a:pPr>
            <a:r>
              <a:rPr lang="en-US" sz="1300" dirty="0">
                <a:solidFill>
                  <a:srgbClr val="5A6377"/>
                </a:solidFill>
                <a:latin typeface="Calibri" pitchFamily="34" charset="0"/>
                <a:ea typeface="Calibri" pitchFamily="34" charset="-122"/>
                <a:cs typeface="Calibri" pitchFamily="34" charset="-120"/>
              </a:rPr>
              <a:t>Is there one fundamental reality, or many — and how are they related?</a:t>
            </a:r>
            <a:endParaRPr lang="en-US" sz="1450" dirty="0"/>
          </a:p>
        </p:txBody>
      </p:sp>
      <p:sp>
        <p:nvSpPr>
          <p:cNvPr id="11" name="Shape 7"/>
          <p:cNvSpPr/>
          <p:nvPr/>
        </p:nvSpPr>
        <p:spPr>
          <a:xfrm>
            <a:off x="640080" y="1792224"/>
            <a:ext cx="365760" cy="365760"/>
          </a:xfrm>
          <a:prstGeom prst="ellipse">
            <a:avLst/>
          </a:prstGeom>
          <a:solidFill>
            <a:srgbClr val="3B4A7A"/>
          </a:solidFill>
          <a:ln/>
        </p:spPr>
      </p:sp>
      <p:pic>
        <p:nvPicPr>
          <p:cNvPr id="12" name="Image 1" descr="preencoded.png"/>
          <p:cNvPicPr>
            <a:picLocks noChangeAspect="1"/>
          </p:cNvPicPr>
          <p:nvPr/>
        </p:nvPicPr>
        <p:blipFill>
          <a:blip r:embed="rId2"/>
          <a:stretch>
            <a:fillRect/>
          </a:stretch>
        </p:blipFill>
        <p:spPr>
          <a:xfrm>
            <a:off x="735178" y="1887322"/>
            <a:ext cx="175565" cy="175565"/>
          </a:xfrm>
          <a:prstGeom prst="rect">
            <a:avLst/>
          </a:prstGeom>
        </p:spPr>
      </p:pic>
      <p:sp>
        <p:nvSpPr>
          <p:cNvPr id="13" name="Text 8"/>
          <p:cNvSpPr/>
          <p:nvPr/>
        </p:nvSpPr>
        <p:spPr>
          <a:xfrm>
            <a:off x="1188720" y="1755648"/>
            <a:ext cx="7406640" cy="502920"/>
          </a:xfrm>
          <a:prstGeom prst="rect">
            <a:avLst/>
          </a:prstGeom>
          <a:noFill/>
          <a:ln/>
        </p:spPr>
        <p:txBody>
          <a:bodyPr wrap="square" lIns="0" tIns="0" rIns="0" bIns="0" rtlCol="0" anchor="ctr"/>
          <a:lstStyle/>
          <a:p>
            <a:pPr indent="0" marL="0">
              <a:buNone/>
            </a:pPr>
            <a:r>
              <a:rPr lang="en-US" sz="1450" b="1" dirty="0">
                <a:solidFill>
                  <a:srgbClr val="1E2447"/>
                </a:solidFill>
                <a:latin typeface="Calibri" pitchFamily="34" charset="0"/>
                <a:ea typeface="Calibri" pitchFamily="34" charset="-122"/>
                <a:cs typeface="Calibri" pitchFamily="34" charset="-120"/>
              </a:rPr>
              <a:t xml:space="preserve">What exists?  —  </a:t>
            </a:r>
            <a:pPr indent="0" marL="0">
              <a:buNone/>
            </a:pPr>
            <a:r>
              <a:rPr lang="en-US" sz="1300" dirty="0">
                <a:solidFill>
                  <a:srgbClr val="5A6377"/>
                </a:solidFill>
                <a:latin typeface="Calibri" pitchFamily="34" charset="0"/>
                <a:ea typeface="Calibri" pitchFamily="34" charset="-122"/>
                <a:cs typeface="Calibri" pitchFamily="34" charset="-120"/>
              </a:rPr>
              <a:t>What are the basic constituents of reality, and what is each of them?</a:t>
            </a:r>
            <a:endParaRPr lang="en-US" sz="1450" dirty="0"/>
          </a:p>
        </p:txBody>
      </p:sp>
      <p:sp>
        <p:nvSpPr>
          <p:cNvPr id="14" name="Shape 9"/>
          <p:cNvSpPr/>
          <p:nvPr/>
        </p:nvSpPr>
        <p:spPr>
          <a:xfrm>
            <a:off x="640080" y="2359152"/>
            <a:ext cx="365760" cy="365760"/>
          </a:xfrm>
          <a:prstGeom prst="ellipse">
            <a:avLst/>
          </a:prstGeom>
          <a:solidFill>
            <a:srgbClr val="3B4A7A"/>
          </a:solidFill>
          <a:ln/>
        </p:spPr>
      </p:sp>
      <p:pic>
        <p:nvPicPr>
          <p:cNvPr id="15" name="Image 2" descr="preencoded.png"/>
          <p:cNvPicPr>
            <a:picLocks noChangeAspect="1"/>
          </p:cNvPicPr>
          <p:nvPr/>
        </p:nvPicPr>
        <p:blipFill>
          <a:blip r:embed="rId3"/>
          <a:stretch>
            <a:fillRect/>
          </a:stretch>
        </p:blipFill>
        <p:spPr>
          <a:xfrm>
            <a:off x="735178" y="2454250"/>
            <a:ext cx="175565" cy="175565"/>
          </a:xfrm>
          <a:prstGeom prst="rect">
            <a:avLst/>
          </a:prstGeom>
        </p:spPr>
      </p:pic>
      <p:sp>
        <p:nvSpPr>
          <p:cNvPr id="16" name="Text 10"/>
          <p:cNvSpPr/>
          <p:nvPr/>
        </p:nvSpPr>
        <p:spPr>
          <a:xfrm>
            <a:off x="1188720" y="2322576"/>
            <a:ext cx="7406640" cy="502920"/>
          </a:xfrm>
          <a:prstGeom prst="rect">
            <a:avLst/>
          </a:prstGeom>
          <a:noFill/>
          <a:ln/>
        </p:spPr>
        <p:txBody>
          <a:bodyPr wrap="square" lIns="0" tIns="0" rIns="0" bIns="0" rtlCol="0" anchor="ctr"/>
          <a:lstStyle/>
          <a:p>
            <a:pPr indent="0" marL="0">
              <a:buNone/>
            </a:pPr>
            <a:r>
              <a:rPr lang="en-US" sz="1450" b="1" dirty="0">
                <a:solidFill>
                  <a:srgbClr val="1E2447"/>
                </a:solidFill>
                <a:latin typeface="Calibri" pitchFamily="34" charset="0"/>
                <a:ea typeface="Calibri" pitchFamily="34" charset="-122"/>
                <a:cs typeface="Calibri" pitchFamily="34" charset="-120"/>
              </a:rPr>
              <a:t xml:space="preserve">Does what exists begin?  —  </a:t>
            </a:r>
            <a:pPr indent="0" marL="0">
              <a:buNone/>
            </a:pPr>
            <a:r>
              <a:rPr lang="en-US" sz="1300" dirty="0">
                <a:solidFill>
                  <a:srgbClr val="5A6377"/>
                </a:solidFill>
                <a:latin typeface="Calibri" pitchFamily="34" charset="0"/>
                <a:ea typeface="Calibri" pitchFamily="34" charset="-122"/>
                <a:cs typeface="Calibri" pitchFamily="34" charset="-120"/>
              </a:rPr>
              <a:t>Did reality originate at some time — or is origination only of configurations?</a:t>
            </a:r>
            <a:endParaRPr lang="en-US" sz="1450" dirty="0"/>
          </a:p>
        </p:txBody>
      </p:sp>
      <p:sp>
        <p:nvSpPr>
          <p:cNvPr id="17" name="Shape 11"/>
          <p:cNvSpPr/>
          <p:nvPr/>
        </p:nvSpPr>
        <p:spPr>
          <a:xfrm>
            <a:off x="640080" y="2926080"/>
            <a:ext cx="365760" cy="365760"/>
          </a:xfrm>
          <a:prstGeom prst="ellipse">
            <a:avLst/>
          </a:prstGeom>
          <a:solidFill>
            <a:srgbClr val="3B4A7A"/>
          </a:solidFill>
          <a:ln/>
        </p:spPr>
      </p:sp>
      <p:pic>
        <p:nvPicPr>
          <p:cNvPr id="18" name="Image 3" descr="preencoded.png"/>
          <p:cNvPicPr>
            <a:picLocks noChangeAspect="1"/>
          </p:cNvPicPr>
          <p:nvPr/>
        </p:nvPicPr>
        <p:blipFill>
          <a:blip r:embed="rId4"/>
          <a:stretch>
            <a:fillRect/>
          </a:stretch>
        </p:blipFill>
        <p:spPr>
          <a:xfrm>
            <a:off x="735178" y="3021178"/>
            <a:ext cx="175565" cy="175565"/>
          </a:xfrm>
          <a:prstGeom prst="rect">
            <a:avLst/>
          </a:prstGeom>
        </p:spPr>
      </p:pic>
      <p:sp>
        <p:nvSpPr>
          <p:cNvPr id="19" name="Text 12"/>
          <p:cNvSpPr/>
          <p:nvPr/>
        </p:nvSpPr>
        <p:spPr>
          <a:xfrm>
            <a:off x="1188720" y="2889504"/>
            <a:ext cx="7406640" cy="502920"/>
          </a:xfrm>
          <a:prstGeom prst="rect">
            <a:avLst/>
          </a:prstGeom>
          <a:noFill/>
          <a:ln/>
        </p:spPr>
        <p:txBody>
          <a:bodyPr wrap="square" lIns="0" tIns="0" rIns="0" bIns="0" rtlCol="0" anchor="ctr"/>
          <a:lstStyle/>
          <a:p>
            <a:pPr indent="0" marL="0">
              <a:buNone/>
            </a:pPr>
            <a:r>
              <a:rPr lang="en-US" sz="1450" b="1" dirty="0">
                <a:solidFill>
                  <a:srgbClr val="1E2447"/>
                </a:solidFill>
                <a:latin typeface="Calibri" pitchFamily="34" charset="0"/>
                <a:ea typeface="Calibri" pitchFamily="34" charset="-122"/>
                <a:cs typeface="Calibri" pitchFamily="34" charset="-120"/>
              </a:rPr>
              <a:t xml:space="preserve">Does the self begin or end with the body?  —  </a:t>
            </a:r>
            <a:pPr indent="0" marL="0">
              <a:buNone/>
            </a:pPr>
            <a:r>
              <a:rPr lang="en-US" sz="1300" dirty="0">
                <a:solidFill>
                  <a:srgbClr val="5A6377"/>
                </a:solidFill>
                <a:latin typeface="Calibri" pitchFamily="34" charset="0"/>
                <a:ea typeface="Calibri" pitchFamily="34" charset="-122"/>
                <a:cs typeface="Calibri" pitchFamily="34" charset="-120"/>
              </a:rPr>
              <a:t>Is the individual self (jeevan) produced by the body and destroyed with it?</a:t>
            </a:r>
            <a:endParaRPr lang="en-US" sz="1450" dirty="0"/>
          </a:p>
        </p:txBody>
      </p:sp>
      <p:sp>
        <p:nvSpPr>
          <p:cNvPr id="20" name="Shape 13"/>
          <p:cNvSpPr/>
          <p:nvPr/>
        </p:nvSpPr>
        <p:spPr>
          <a:xfrm>
            <a:off x="640080" y="3493008"/>
            <a:ext cx="365760" cy="365760"/>
          </a:xfrm>
          <a:prstGeom prst="ellipse">
            <a:avLst/>
          </a:prstGeom>
          <a:solidFill>
            <a:srgbClr val="3B4A7A"/>
          </a:solidFill>
          <a:ln/>
        </p:spPr>
      </p:sp>
      <p:pic>
        <p:nvPicPr>
          <p:cNvPr id="21" name="Image 4" descr="preencoded.png"/>
          <p:cNvPicPr>
            <a:picLocks noChangeAspect="1"/>
          </p:cNvPicPr>
          <p:nvPr/>
        </p:nvPicPr>
        <p:blipFill>
          <a:blip r:embed="rId5"/>
          <a:stretch>
            <a:fillRect/>
          </a:stretch>
        </p:blipFill>
        <p:spPr>
          <a:xfrm>
            <a:off x="735178" y="3588106"/>
            <a:ext cx="175565" cy="175565"/>
          </a:xfrm>
          <a:prstGeom prst="rect">
            <a:avLst/>
          </a:prstGeom>
        </p:spPr>
      </p:pic>
      <p:sp>
        <p:nvSpPr>
          <p:cNvPr id="22" name="Text 14"/>
          <p:cNvSpPr/>
          <p:nvPr/>
        </p:nvSpPr>
        <p:spPr>
          <a:xfrm>
            <a:off x="1188720" y="3456432"/>
            <a:ext cx="7406640" cy="502920"/>
          </a:xfrm>
          <a:prstGeom prst="rect">
            <a:avLst/>
          </a:prstGeom>
          <a:noFill/>
          <a:ln/>
        </p:spPr>
        <p:txBody>
          <a:bodyPr wrap="square" lIns="0" tIns="0" rIns="0" bIns="0" rtlCol="0" anchor="ctr"/>
          <a:lstStyle/>
          <a:p>
            <a:pPr indent="0" marL="0">
              <a:buNone/>
            </a:pPr>
            <a:r>
              <a:rPr lang="en-US" sz="1450" b="1" dirty="0">
                <a:solidFill>
                  <a:srgbClr val="1E2447"/>
                </a:solidFill>
                <a:latin typeface="Calibri" pitchFamily="34" charset="0"/>
                <a:ea typeface="Calibri" pitchFamily="34" charset="-122"/>
                <a:cs typeface="Calibri" pitchFamily="34" charset="-120"/>
              </a:rPr>
              <a:t xml:space="preserve">Is the world finally real?  —  </a:t>
            </a:r>
            <a:pPr indent="0" marL="0">
              <a:buNone/>
            </a:pPr>
            <a:r>
              <a:rPr lang="en-US" sz="1300" dirty="0">
                <a:solidFill>
                  <a:srgbClr val="5A6377"/>
                </a:solidFill>
                <a:latin typeface="Calibri" pitchFamily="34" charset="0"/>
                <a:ea typeface="Calibri" pitchFamily="34" charset="-122"/>
                <a:cs typeface="Calibri" pitchFamily="34" charset="-120"/>
              </a:rPr>
              <a:t>Is the plural world of units an appearance, or real in its own right?</a:t>
            </a:r>
            <a:endParaRPr lang="en-US" sz="1450" dirty="0"/>
          </a:p>
        </p:txBody>
      </p:sp>
      <p:sp>
        <p:nvSpPr>
          <p:cNvPr id="23" name="Shape 15"/>
          <p:cNvSpPr/>
          <p:nvPr/>
        </p:nvSpPr>
        <p:spPr>
          <a:xfrm>
            <a:off x="640080" y="4059936"/>
            <a:ext cx="365760" cy="365760"/>
          </a:xfrm>
          <a:prstGeom prst="ellipse">
            <a:avLst/>
          </a:prstGeom>
          <a:solidFill>
            <a:srgbClr val="3B4A7A"/>
          </a:solidFill>
          <a:ln/>
        </p:spPr>
      </p:sp>
      <p:pic>
        <p:nvPicPr>
          <p:cNvPr id="24" name="Image 5" descr="preencoded.png"/>
          <p:cNvPicPr>
            <a:picLocks noChangeAspect="1"/>
          </p:cNvPicPr>
          <p:nvPr/>
        </p:nvPicPr>
        <p:blipFill>
          <a:blip r:embed="rId6"/>
          <a:stretch>
            <a:fillRect/>
          </a:stretch>
        </p:blipFill>
        <p:spPr>
          <a:xfrm>
            <a:off x="735178" y="4155034"/>
            <a:ext cx="175565" cy="175565"/>
          </a:xfrm>
          <a:prstGeom prst="rect">
            <a:avLst/>
          </a:prstGeom>
        </p:spPr>
      </p:pic>
      <p:sp>
        <p:nvSpPr>
          <p:cNvPr id="25" name="Text 16"/>
          <p:cNvSpPr/>
          <p:nvPr/>
        </p:nvSpPr>
        <p:spPr>
          <a:xfrm>
            <a:off x="1188720" y="4023360"/>
            <a:ext cx="7406640" cy="502920"/>
          </a:xfrm>
          <a:prstGeom prst="rect">
            <a:avLst/>
          </a:prstGeom>
          <a:noFill/>
          <a:ln/>
        </p:spPr>
        <p:txBody>
          <a:bodyPr wrap="square" lIns="0" tIns="0" rIns="0" bIns="0" rtlCol="0" anchor="ctr"/>
          <a:lstStyle/>
          <a:p>
            <a:pPr indent="0" marL="0">
              <a:buNone/>
            </a:pPr>
            <a:r>
              <a:rPr lang="en-US" sz="1450" b="1" dirty="0">
                <a:solidFill>
                  <a:srgbClr val="1E2447"/>
                </a:solidFill>
                <a:latin typeface="Calibri" pitchFamily="34" charset="0"/>
                <a:ea typeface="Calibri" pitchFamily="34" charset="-122"/>
                <a:cs typeface="Calibri" pitchFamily="34" charset="-120"/>
              </a:rPr>
              <a:t xml:space="preserve">How can what exists be known?  —  </a:t>
            </a:r>
            <a:pPr indent="0" marL="0">
              <a:buNone/>
            </a:pPr>
            <a:r>
              <a:rPr lang="en-US" sz="1300" dirty="0">
                <a:solidFill>
                  <a:srgbClr val="5A6377"/>
                </a:solidFill>
                <a:latin typeface="Calibri" pitchFamily="34" charset="0"/>
                <a:ea typeface="Calibri" pitchFamily="34" charset="-122"/>
                <a:cs typeface="Calibri" pitchFamily="34" charset="-120"/>
              </a:rPr>
              <a:t>What must be understood — and at what scope — to know each aspect of reality?</a:t>
            </a:r>
            <a:endParaRPr lang="en-US" sz="1450" dirty="0"/>
          </a:p>
        </p:txBody>
      </p:sp>
      <p:sp>
        <p:nvSpPr>
          <p:cNvPr id="26" name="Text 17"/>
          <p:cNvSpPr/>
          <p:nvPr/>
        </p:nvSpPr>
        <p:spPr>
          <a:xfrm>
            <a:off x="1188720" y="4645152"/>
            <a:ext cx="7406640" cy="274320"/>
          </a:xfrm>
          <a:prstGeom prst="rect">
            <a:avLst/>
          </a:prstGeom>
          <a:noFill/>
          <a:ln/>
        </p:spPr>
        <p:txBody>
          <a:bodyPr wrap="square" lIns="0" tIns="0" rIns="0" bIns="0" rtlCol="0" anchor="ctr"/>
          <a:lstStyle/>
          <a:p>
            <a:pPr indent="0" marL="0">
              <a:buNone/>
            </a:pPr>
            <a:r>
              <a:rPr lang="en-US" sz="1250" i="1" dirty="0">
                <a:solidFill>
                  <a:srgbClr val="9A6414"/>
                </a:solidFill>
                <a:latin typeface="Calibri" pitchFamily="34" charset="0"/>
                <a:ea typeface="Calibri" pitchFamily="34" charset="-122"/>
                <a:cs typeface="Calibri" pitchFamily="34" charset="-120"/>
              </a:rPr>
              <a:t>Madhyasth Darshan answers each from a single starting point: existence is coexistence.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§1.1 · TWO INSEPARABLE ASPECTS</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Existence Is Coexistence</a:t>
            </a:r>
            <a:endParaRPr lang="en-US" sz="3000" dirty="0"/>
          </a:p>
        </p:txBody>
      </p:sp>
      <p:sp>
        <p:nvSpPr>
          <p:cNvPr id="8" name="Text 5"/>
          <p:cNvSpPr/>
          <p:nvPr/>
        </p:nvSpPr>
        <p:spPr>
          <a:xfrm>
            <a:off x="640080" y="1280160"/>
            <a:ext cx="4160520" cy="3474720"/>
          </a:xfrm>
          <a:prstGeom prst="rect">
            <a:avLst/>
          </a:prstGeom>
          <a:noFill/>
          <a:ln/>
        </p:spPr>
        <p:txBody>
          <a:bodyPr wrap="square" lIns="0" tIns="0" rIns="0" bIns="0" rtlCol="0" anchor="t"/>
          <a:lstStyle/>
          <a:p>
            <a:pPr indent="0" marL="0">
              <a:buNone/>
            </a:pPr>
            <a:r>
              <a:rPr lang="en-US" sz="1500" b="1" dirty="0">
                <a:solidFill>
                  <a:srgbClr val="1E2447"/>
                </a:solidFill>
                <a:latin typeface="Calibri" pitchFamily="34" charset="0"/>
                <a:ea typeface="Calibri" pitchFamily="34" charset="-122"/>
                <a:cs typeface="Calibri" pitchFamily="34" charset="-120"/>
              </a:rPr>
              <a:t>Omnipresence (satta / vyapak)</a:t>
            </a:r>
            <a:endParaRPr lang="en-US" sz="1500" dirty="0"/>
          </a:p>
          <a:p>
            <a:pPr indent="0" marL="0">
              <a:spcAft>
                <a:spcPts val="1000"/>
              </a:spcAft>
              <a:buNone/>
            </a:pPr>
            <a:r>
              <a:rPr lang="en-US" sz="1250" dirty="0">
                <a:solidFill>
                  <a:srgbClr val="5A6377"/>
                </a:solidFill>
                <a:latin typeface="Calibri" pitchFamily="34" charset="0"/>
                <a:ea typeface="Calibri" pitchFamily="34" charset="-122"/>
                <a:cs typeface="Calibri" pitchFamily="34" charset="-120"/>
              </a:rPr>
              <a:t>Formless, all-pervasive, non-transforming, immeasurable — actionless energy (kriya-shunya urja). It performs no actions, yet units are energized, regulated, and conserved in it. It has no absent place.</a:t>
            </a:r>
            <a:endParaRPr lang="en-US" sz="1500" dirty="0"/>
          </a:p>
          <a:p>
            <a:pPr indent="0" marL="0">
              <a:buNone/>
            </a:pPr>
            <a:r>
              <a:rPr lang="en-US" sz="1500" b="1" dirty="0">
                <a:solidFill>
                  <a:srgbClr val="1E2447"/>
                </a:solidFill>
                <a:latin typeface="Calibri" pitchFamily="34" charset="0"/>
                <a:ea typeface="Calibri" pitchFamily="34" charset="-122"/>
                <a:cs typeface="Calibri" pitchFamily="34" charset="-120"/>
              </a:rPr>
              <a:t>Units of nature (ikai)</a:t>
            </a:r>
            <a:endParaRPr lang="en-US" sz="1500" dirty="0"/>
          </a:p>
          <a:p>
            <a:pPr indent="0" marL="0">
              <a:spcAft>
                <a:spcPts val="1000"/>
              </a:spcAft>
              <a:buNone/>
            </a:pPr>
            <a:r>
              <a:rPr lang="en-US" sz="1250" dirty="0">
                <a:solidFill>
                  <a:srgbClr val="5A6377"/>
                </a:solidFill>
                <a:latin typeface="Calibri" pitchFamily="34" charset="0"/>
                <a:ea typeface="Calibri" pitchFamily="34" charset="-122"/>
                <a:cs typeface="Calibri" pitchFamily="34" charset="-120"/>
              </a:rPr>
              <a:t>Formful, active, countable entities — each bounded from six directions, and each soaked, submerged, and surrounded in Omnipresence, with form, properties, essential nature, and dharma.</a:t>
            </a:r>
            <a:endParaRPr lang="en-US" sz="1500" dirty="0"/>
          </a:p>
          <a:p>
            <a:pPr indent="0" marL="0">
              <a:buNone/>
            </a:pPr>
            <a:r>
              <a:rPr lang="en-US" sz="1500" b="1" dirty="0">
                <a:solidFill>
                  <a:srgbClr val="1E2447"/>
                </a:solidFill>
                <a:latin typeface="Calibri" pitchFamily="34" charset="0"/>
                <a:ea typeface="Calibri" pitchFamily="34" charset="-122"/>
                <a:cs typeface="Calibri" pitchFamily="34" charset="-120"/>
              </a:rPr>
              <a:t>Never two separate poles</a:t>
            </a:r>
            <a:endParaRPr lang="en-US" sz="1500" dirty="0"/>
          </a:p>
          <a:p>
            <a:pPr indent="0" marL="0">
              <a:buNone/>
            </a:pPr>
            <a:r>
              <a:rPr lang="en-US" sz="1250" dirty="0">
                <a:solidFill>
                  <a:srgbClr val="5A6377"/>
                </a:solidFill>
                <a:latin typeface="Calibri" pitchFamily="34" charset="0"/>
                <a:ea typeface="Calibri" pitchFamily="34" charset="-122"/>
                <a:cs typeface="Calibri" pitchFamily="34" charset="-120"/>
              </a:rPr>
              <a:t>Separation of unit from the saturated whole “never happens.” Ground is sthitipurn (state-complete, changeless); saturated nature is sthitishil (state-dynamic) — all change is unit-activity.</a:t>
            </a:r>
            <a:endParaRPr lang="en-US" sz="1500" dirty="0"/>
          </a:p>
        </p:txBody>
      </p:sp>
      <p:sp>
        <p:nvSpPr>
          <p:cNvPr id="9" name="Shape 6"/>
          <p:cNvSpPr/>
          <p:nvPr/>
        </p:nvSpPr>
        <p:spPr>
          <a:xfrm>
            <a:off x="5074920" y="1280160"/>
            <a:ext cx="3566160" cy="3246120"/>
          </a:xfrm>
          <a:prstGeom prst="roundRect">
            <a:avLst>
              <a:gd name="adj" fmla="val 3380"/>
            </a:avLst>
          </a:prstGeom>
          <a:solidFill>
            <a:srgbClr val="1E2447"/>
          </a:solidFill>
          <a:ln/>
          <a:effectLst>
            <a:outerShdw sx="100000" sy="100000" kx="0" ky="0" algn="bl" rotWithShape="0" blurRad="88900" dist="25400" dir="2700000">
              <a:srgbClr val="000000">
                <a:alpha val="13000"/>
              </a:srgbClr>
            </a:outerShdw>
          </a:effectLst>
        </p:spPr>
      </p:sp>
      <p:sp>
        <p:nvSpPr>
          <p:cNvPr id="10" name="Text 7"/>
          <p:cNvSpPr/>
          <p:nvPr/>
        </p:nvSpPr>
        <p:spPr>
          <a:xfrm>
            <a:off x="5074920" y="1417320"/>
            <a:ext cx="3566160" cy="274320"/>
          </a:xfrm>
          <a:prstGeom prst="rect">
            <a:avLst/>
          </a:prstGeom>
          <a:noFill/>
          <a:ln/>
        </p:spPr>
        <p:txBody>
          <a:bodyPr wrap="square" rtlCol="0" anchor="ctr"/>
          <a:lstStyle/>
          <a:p>
            <a:pPr algn="ctr" indent="0" marL="0">
              <a:buNone/>
            </a:pPr>
            <a:r>
              <a:rPr lang="en-US" sz="1100" b="1" spc="200" kern="0" dirty="0">
                <a:solidFill>
                  <a:srgbClr val="C9D4EF"/>
                </a:solidFill>
                <a:latin typeface="Calibri" pitchFamily="34" charset="0"/>
                <a:ea typeface="Calibri" pitchFamily="34" charset="-122"/>
                <a:cs typeface="Calibri" pitchFamily="34" charset="-120"/>
              </a:rPr>
              <a:t>SATTA — the pervasive ground</a:t>
            </a:r>
            <a:endParaRPr lang="en-US" sz="1100" dirty="0"/>
          </a:p>
        </p:txBody>
      </p:sp>
      <p:sp>
        <p:nvSpPr>
          <p:cNvPr id="11" name="Shape 8"/>
          <p:cNvSpPr/>
          <p:nvPr/>
        </p:nvSpPr>
        <p:spPr>
          <a:xfrm>
            <a:off x="5440680" y="1965960"/>
            <a:ext cx="1051560" cy="1051560"/>
          </a:xfrm>
          <a:prstGeom prst="ellipse">
            <a:avLst/>
          </a:prstGeom>
          <a:ln w="15875">
            <a:solidFill>
              <a:srgbClr val="5A68A0"/>
            </a:solidFill>
            <a:prstDash val="solid"/>
          </a:ln>
        </p:spPr>
      </p:sp>
      <p:sp>
        <p:nvSpPr>
          <p:cNvPr id="12" name="Shape 9"/>
          <p:cNvSpPr/>
          <p:nvPr/>
        </p:nvSpPr>
        <p:spPr>
          <a:xfrm>
            <a:off x="5650992" y="2176272"/>
            <a:ext cx="630936" cy="630936"/>
          </a:xfrm>
          <a:prstGeom prst="ellipse">
            <a:avLst/>
          </a:prstGeom>
          <a:ln w="15875">
            <a:solidFill>
              <a:srgbClr val="5A68A0"/>
            </a:solidFill>
            <a:prstDash val="solid"/>
          </a:ln>
        </p:spPr>
      </p:sp>
      <p:sp>
        <p:nvSpPr>
          <p:cNvPr id="13" name="Shape 10"/>
          <p:cNvSpPr/>
          <p:nvPr/>
        </p:nvSpPr>
        <p:spPr>
          <a:xfrm>
            <a:off x="5829757" y="2355037"/>
            <a:ext cx="273406" cy="273406"/>
          </a:xfrm>
          <a:prstGeom prst="ellipse">
            <a:avLst/>
          </a:prstGeom>
          <a:solidFill>
            <a:srgbClr val="C9821E"/>
          </a:solidFill>
          <a:ln/>
        </p:spPr>
      </p:sp>
      <p:sp>
        <p:nvSpPr>
          <p:cNvPr id="14" name="Shape 11"/>
          <p:cNvSpPr/>
          <p:nvPr/>
        </p:nvSpPr>
        <p:spPr>
          <a:xfrm>
            <a:off x="6812280" y="2240280"/>
            <a:ext cx="777240" cy="777240"/>
          </a:xfrm>
          <a:prstGeom prst="ellipse">
            <a:avLst/>
          </a:prstGeom>
          <a:ln w="15875">
            <a:solidFill>
              <a:srgbClr val="5A68A0"/>
            </a:solidFill>
            <a:prstDash val="solid"/>
          </a:ln>
        </p:spPr>
      </p:sp>
      <p:sp>
        <p:nvSpPr>
          <p:cNvPr id="15" name="Shape 12"/>
          <p:cNvSpPr/>
          <p:nvPr/>
        </p:nvSpPr>
        <p:spPr>
          <a:xfrm>
            <a:off x="6967728" y="2395728"/>
            <a:ext cx="466344" cy="466344"/>
          </a:xfrm>
          <a:prstGeom prst="ellipse">
            <a:avLst/>
          </a:prstGeom>
          <a:ln w="15875">
            <a:solidFill>
              <a:srgbClr val="5A68A0"/>
            </a:solidFill>
            <a:prstDash val="solid"/>
          </a:ln>
        </p:spPr>
      </p:sp>
      <p:sp>
        <p:nvSpPr>
          <p:cNvPr id="16" name="Shape 13"/>
          <p:cNvSpPr/>
          <p:nvPr/>
        </p:nvSpPr>
        <p:spPr>
          <a:xfrm>
            <a:off x="7099859" y="2527859"/>
            <a:ext cx="202082" cy="202082"/>
          </a:xfrm>
          <a:prstGeom prst="ellipse">
            <a:avLst/>
          </a:prstGeom>
          <a:solidFill>
            <a:srgbClr val="C9D4EF"/>
          </a:solidFill>
          <a:ln/>
        </p:spPr>
      </p:sp>
      <p:sp>
        <p:nvSpPr>
          <p:cNvPr id="17" name="Shape 14"/>
          <p:cNvSpPr/>
          <p:nvPr/>
        </p:nvSpPr>
        <p:spPr>
          <a:xfrm>
            <a:off x="7635240" y="1783080"/>
            <a:ext cx="566928" cy="566928"/>
          </a:xfrm>
          <a:prstGeom prst="ellipse">
            <a:avLst/>
          </a:prstGeom>
          <a:ln w="15875">
            <a:solidFill>
              <a:srgbClr val="5A68A0"/>
            </a:solidFill>
            <a:prstDash val="solid"/>
          </a:ln>
        </p:spPr>
      </p:sp>
      <p:sp>
        <p:nvSpPr>
          <p:cNvPr id="18" name="Shape 15"/>
          <p:cNvSpPr/>
          <p:nvPr/>
        </p:nvSpPr>
        <p:spPr>
          <a:xfrm>
            <a:off x="7748626" y="1896466"/>
            <a:ext cx="340157" cy="340157"/>
          </a:xfrm>
          <a:prstGeom prst="ellipse">
            <a:avLst/>
          </a:prstGeom>
          <a:ln w="15875">
            <a:solidFill>
              <a:srgbClr val="5A68A0"/>
            </a:solidFill>
            <a:prstDash val="solid"/>
          </a:ln>
        </p:spPr>
      </p:sp>
      <p:sp>
        <p:nvSpPr>
          <p:cNvPr id="19" name="Shape 16"/>
          <p:cNvSpPr/>
          <p:nvPr/>
        </p:nvSpPr>
        <p:spPr>
          <a:xfrm>
            <a:off x="7845003" y="1992843"/>
            <a:ext cx="147401" cy="147401"/>
          </a:xfrm>
          <a:prstGeom prst="ellipse">
            <a:avLst/>
          </a:prstGeom>
          <a:solidFill>
            <a:srgbClr val="C9D4EF"/>
          </a:solidFill>
          <a:ln/>
        </p:spPr>
      </p:sp>
      <p:sp>
        <p:nvSpPr>
          <p:cNvPr id="20" name="Shape 17"/>
          <p:cNvSpPr/>
          <p:nvPr/>
        </p:nvSpPr>
        <p:spPr>
          <a:xfrm>
            <a:off x="6035040" y="3200400"/>
            <a:ext cx="658368" cy="658368"/>
          </a:xfrm>
          <a:prstGeom prst="ellipse">
            <a:avLst/>
          </a:prstGeom>
          <a:ln w="15875">
            <a:solidFill>
              <a:srgbClr val="5A68A0"/>
            </a:solidFill>
            <a:prstDash val="solid"/>
          </a:ln>
        </p:spPr>
      </p:sp>
      <p:sp>
        <p:nvSpPr>
          <p:cNvPr id="21" name="Shape 18"/>
          <p:cNvSpPr/>
          <p:nvPr/>
        </p:nvSpPr>
        <p:spPr>
          <a:xfrm>
            <a:off x="6166714" y="3332074"/>
            <a:ext cx="395021" cy="395021"/>
          </a:xfrm>
          <a:prstGeom prst="ellipse">
            <a:avLst/>
          </a:prstGeom>
          <a:ln w="15875">
            <a:solidFill>
              <a:srgbClr val="5A68A0"/>
            </a:solidFill>
            <a:prstDash val="solid"/>
          </a:ln>
        </p:spPr>
      </p:sp>
      <p:sp>
        <p:nvSpPr>
          <p:cNvPr id="22" name="Shape 19"/>
          <p:cNvSpPr/>
          <p:nvPr/>
        </p:nvSpPr>
        <p:spPr>
          <a:xfrm>
            <a:off x="6278636" y="3443996"/>
            <a:ext cx="171176" cy="171176"/>
          </a:xfrm>
          <a:prstGeom prst="ellipse">
            <a:avLst/>
          </a:prstGeom>
          <a:solidFill>
            <a:srgbClr val="C9D4EF"/>
          </a:solidFill>
          <a:ln/>
        </p:spPr>
      </p:sp>
      <p:sp>
        <p:nvSpPr>
          <p:cNvPr id="23" name="Shape 20"/>
          <p:cNvSpPr/>
          <p:nvPr/>
        </p:nvSpPr>
        <p:spPr>
          <a:xfrm>
            <a:off x="7315200" y="3246120"/>
            <a:ext cx="896112" cy="896112"/>
          </a:xfrm>
          <a:prstGeom prst="ellipse">
            <a:avLst/>
          </a:prstGeom>
          <a:ln w="15875">
            <a:solidFill>
              <a:srgbClr val="5A68A0"/>
            </a:solidFill>
            <a:prstDash val="solid"/>
          </a:ln>
        </p:spPr>
      </p:sp>
      <p:sp>
        <p:nvSpPr>
          <p:cNvPr id="24" name="Shape 21"/>
          <p:cNvSpPr/>
          <p:nvPr/>
        </p:nvSpPr>
        <p:spPr>
          <a:xfrm>
            <a:off x="7494422" y="3425342"/>
            <a:ext cx="537667" cy="537667"/>
          </a:xfrm>
          <a:prstGeom prst="ellipse">
            <a:avLst/>
          </a:prstGeom>
          <a:ln w="15875">
            <a:solidFill>
              <a:srgbClr val="5A68A0"/>
            </a:solidFill>
            <a:prstDash val="solid"/>
          </a:ln>
        </p:spPr>
      </p:sp>
      <p:sp>
        <p:nvSpPr>
          <p:cNvPr id="25" name="Shape 22"/>
          <p:cNvSpPr/>
          <p:nvPr/>
        </p:nvSpPr>
        <p:spPr>
          <a:xfrm>
            <a:off x="7646761" y="3577681"/>
            <a:ext cx="232989" cy="232989"/>
          </a:xfrm>
          <a:prstGeom prst="ellipse">
            <a:avLst/>
          </a:prstGeom>
          <a:solidFill>
            <a:srgbClr val="C9821E"/>
          </a:solidFill>
          <a:ln/>
        </p:spPr>
      </p:sp>
      <p:sp>
        <p:nvSpPr>
          <p:cNvPr id="26" name="Text 23"/>
          <p:cNvSpPr/>
          <p:nvPr/>
        </p:nvSpPr>
        <p:spPr>
          <a:xfrm>
            <a:off x="5257800" y="4114800"/>
            <a:ext cx="3200400" cy="411480"/>
          </a:xfrm>
          <a:prstGeom prst="rect">
            <a:avLst/>
          </a:prstGeom>
          <a:noFill/>
          <a:ln/>
        </p:spPr>
        <p:txBody>
          <a:bodyPr wrap="square" rtlCol="0" anchor="ctr"/>
          <a:lstStyle/>
          <a:p>
            <a:pPr algn="ctr" indent="0" marL="0">
              <a:buNone/>
            </a:pPr>
            <a:r>
              <a:rPr lang="en-US" sz="1000" i="1" dirty="0">
                <a:solidFill>
                  <a:srgbClr val="C9D4EF"/>
                </a:solidFill>
                <a:latin typeface="Calibri" pitchFamily="34" charset="0"/>
                <a:ea typeface="Calibri" pitchFamily="34" charset="-122"/>
                <a:cs typeface="Calibri" pitchFamily="34" charset="-120"/>
              </a:rPr>
              <a:t>bounded units, each saturated in the ground; inter-unit distance held in satta as Space (shunya)</a:t>
            </a:r>
            <a:endParaRPr lang="en-US" sz="1000" dirty="0"/>
          </a:p>
        </p:txBody>
      </p:sp>
      <p:sp>
        <p:nvSpPr>
          <p:cNvPr id="27" name="Text 24"/>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“Existence itself is eternally manifest in the form of coexistence” — SB p. 48  ·  MVD pp. 11, 34  ·  JV p. 18</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§1.2 · SAMPRIKT</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Saturation: The Ground–Unit Bond</a:t>
            </a:r>
            <a:endParaRPr lang="en-US" sz="3000" dirty="0"/>
          </a:p>
        </p:txBody>
      </p:sp>
      <p:sp>
        <p:nvSpPr>
          <p:cNvPr id="8" name="Text 5"/>
          <p:cNvSpPr/>
          <p:nvPr/>
        </p:nvSpPr>
        <p:spPr>
          <a:xfrm>
            <a:off x="640080" y="1207008"/>
            <a:ext cx="7955280" cy="640080"/>
          </a:xfrm>
          <a:prstGeom prst="rect">
            <a:avLst/>
          </a:prstGeom>
          <a:noFill/>
          <a:ln/>
        </p:spPr>
        <p:txBody>
          <a:bodyPr wrap="square" lIns="0" tIns="0" rIns="0" bIns="0" rtlCol="0" anchor="ctr"/>
          <a:lstStyle/>
          <a:p>
            <a:pPr indent="0" marL="0">
              <a:buNone/>
            </a:pPr>
            <a:r>
              <a:rPr lang="en-US" sz="1300" dirty="0">
                <a:solidFill>
                  <a:srgbClr val="5A6377"/>
                </a:solidFill>
                <a:latin typeface="Calibri" pitchFamily="34" charset="0"/>
                <a:ea typeface="Calibri" pitchFamily="34" charset="-122"/>
                <a:cs typeface="Calibri" pitchFamily="34" charset="-120"/>
              </a:rPr>
              <a:t>Every formful unit is soaked, submerged, and surrounded in Omnipresence — like a sponge in water, never pushed by it. This saturated coexistence is evident in the sentient atom as gyan, and in every unit as the three endowments.</a:t>
            </a:r>
            <a:endParaRPr lang="en-US" sz="1300" dirty="0"/>
          </a:p>
        </p:txBody>
      </p:sp>
      <p:sp>
        <p:nvSpPr>
          <p:cNvPr id="9" name="Shape 6"/>
          <p:cNvSpPr/>
          <p:nvPr/>
        </p:nvSpPr>
        <p:spPr>
          <a:xfrm>
            <a:off x="640080" y="2011680"/>
            <a:ext cx="2615184" cy="2395728"/>
          </a:xfrm>
          <a:prstGeom prst="roundRect">
            <a:avLst>
              <a:gd name="adj" fmla="val 3817"/>
            </a:avLst>
          </a:prstGeom>
          <a:solidFill>
            <a:srgbClr val="EEF1F8"/>
          </a:solidFill>
          <a:ln/>
          <a:effectLst>
            <a:outerShdw sx="100000" sy="100000" kx="0" ky="0" algn="bl" rotWithShape="0" blurRad="88900" dist="25400" dir="2700000">
              <a:srgbClr val="000000">
                <a:alpha val="13000"/>
              </a:srgbClr>
            </a:outerShdw>
          </a:effectLst>
        </p:spPr>
      </p:sp>
      <p:sp>
        <p:nvSpPr>
          <p:cNvPr id="10" name="Shape 7"/>
          <p:cNvSpPr/>
          <p:nvPr/>
        </p:nvSpPr>
        <p:spPr>
          <a:xfrm>
            <a:off x="841248" y="2212848"/>
            <a:ext cx="457200" cy="457200"/>
          </a:xfrm>
          <a:prstGeom prst="ellipse">
            <a:avLst/>
          </a:prstGeom>
          <a:solidFill>
            <a:srgbClr val="3B4A7A"/>
          </a:solidFill>
          <a:ln/>
        </p:spPr>
      </p:sp>
      <p:pic>
        <p:nvPicPr>
          <p:cNvPr id="11" name="Image 0" descr="preencoded.png"/>
          <p:cNvPicPr>
            <a:picLocks noChangeAspect="1"/>
          </p:cNvPicPr>
          <p:nvPr/>
        </p:nvPicPr>
        <p:blipFill>
          <a:blip r:embed="rId1"/>
          <a:stretch>
            <a:fillRect/>
          </a:stretch>
        </p:blipFill>
        <p:spPr>
          <a:xfrm>
            <a:off x="960120" y="2331720"/>
            <a:ext cx="219456" cy="219456"/>
          </a:xfrm>
          <a:prstGeom prst="rect">
            <a:avLst/>
          </a:prstGeom>
        </p:spPr>
      </p:pic>
      <p:sp>
        <p:nvSpPr>
          <p:cNvPr id="12" name="Text 8"/>
          <p:cNvSpPr/>
          <p:nvPr/>
        </p:nvSpPr>
        <p:spPr>
          <a:xfrm>
            <a:off x="841248" y="2761488"/>
            <a:ext cx="2240280" cy="292608"/>
          </a:xfrm>
          <a:prstGeom prst="rect">
            <a:avLst/>
          </a:prstGeom>
          <a:noFill/>
          <a:ln/>
        </p:spPr>
        <p:txBody>
          <a:bodyPr wrap="square" lIns="0" tIns="0" rIns="0" bIns="0" rtlCol="0" anchor="ctr"/>
          <a:lstStyle/>
          <a:p>
            <a:pPr indent="0" marL="0">
              <a:buNone/>
            </a:pPr>
            <a:r>
              <a:rPr lang="en-US" sz="1450" b="1" dirty="0">
                <a:solidFill>
                  <a:srgbClr val="1E2447"/>
                </a:solidFill>
                <a:latin typeface="Cambria" pitchFamily="34" charset="0"/>
                <a:ea typeface="Cambria" pitchFamily="34" charset="-122"/>
                <a:cs typeface="Cambria" pitchFamily="34" charset="-120"/>
              </a:rPr>
              <a:t>Recognition capability</a:t>
            </a:r>
            <a:endParaRPr lang="en-US" sz="1450" dirty="0"/>
          </a:p>
        </p:txBody>
      </p:sp>
      <p:sp>
        <p:nvSpPr>
          <p:cNvPr id="13" name="Text 9"/>
          <p:cNvSpPr/>
          <p:nvPr/>
        </p:nvSpPr>
        <p:spPr>
          <a:xfrm>
            <a:off x="841248" y="3090672"/>
            <a:ext cx="2240280" cy="1234440"/>
          </a:xfrm>
          <a:prstGeom prst="rect">
            <a:avLst/>
          </a:prstGeom>
          <a:noFill/>
          <a:ln/>
        </p:spPr>
        <p:txBody>
          <a:bodyPr wrap="square" lIns="0" tIns="0" rIns="0" bIns="0" rtlCol="0" anchor="ctr"/>
          <a:lstStyle/>
          <a:p>
            <a:pPr indent="0" marL="0">
              <a:buNone/>
            </a:pPr>
            <a:r>
              <a:rPr lang="en-US" sz="1050" dirty="0">
                <a:solidFill>
                  <a:srgbClr val="5A6377"/>
                </a:solidFill>
                <a:latin typeface="Calibri" pitchFamily="34" charset="0"/>
                <a:ea typeface="Calibri" pitchFamily="34" charset="-122"/>
                <a:cs typeface="Calibri" pitchFamily="34" charset="-120"/>
              </a:rPr>
              <a:t>Complementarity is given in coexistence, not created. Bounded plurality within saturation provisions mutual recognition — capacity (kshamata), ability (yogyata), receptivity (patrata).</a:t>
            </a:r>
            <a:endParaRPr lang="en-US" sz="1050" dirty="0"/>
          </a:p>
        </p:txBody>
      </p:sp>
      <p:sp>
        <p:nvSpPr>
          <p:cNvPr id="14" name="Shape 10"/>
          <p:cNvSpPr/>
          <p:nvPr/>
        </p:nvSpPr>
        <p:spPr>
          <a:xfrm>
            <a:off x="3392424" y="2011680"/>
            <a:ext cx="2615184" cy="2395728"/>
          </a:xfrm>
          <a:prstGeom prst="roundRect">
            <a:avLst>
              <a:gd name="adj" fmla="val 3817"/>
            </a:avLst>
          </a:prstGeom>
          <a:solidFill>
            <a:srgbClr val="EEF1F8"/>
          </a:solidFill>
          <a:ln/>
          <a:effectLst>
            <a:outerShdw sx="100000" sy="100000" kx="0" ky="0" algn="bl" rotWithShape="0" blurRad="88900" dist="25400" dir="2700000">
              <a:srgbClr val="000000">
                <a:alpha val="13000"/>
              </a:srgbClr>
            </a:outerShdw>
          </a:effectLst>
        </p:spPr>
      </p:sp>
      <p:sp>
        <p:nvSpPr>
          <p:cNvPr id="15" name="Shape 11"/>
          <p:cNvSpPr/>
          <p:nvPr/>
        </p:nvSpPr>
        <p:spPr>
          <a:xfrm>
            <a:off x="3593592" y="2212848"/>
            <a:ext cx="457200" cy="457200"/>
          </a:xfrm>
          <a:prstGeom prst="ellipse">
            <a:avLst/>
          </a:prstGeom>
          <a:solidFill>
            <a:srgbClr val="3B4A7A"/>
          </a:solidFill>
          <a:ln/>
        </p:spPr>
      </p:sp>
      <p:pic>
        <p:nvPicPr>
          <p:cNvPr id="16" name="Image 1" descr="preencoded.png"/>
          <p:cNvPicPr>
            <a:picLocks noChangeAspect="1"/>
          </p:cNvPicPr>
          <p:nvPr/>
        </p:nvPicPr>
        <p:blipFill>
          <a:blip r:embed="rId2"/>
          <a:stretch>
            <a:fillRect/>
          </a:stretch>
        </p:blipFill>
        <p:spPr>
          <a:xfrm>
            <a:off x="3712464" y="2331720"/>
            <a:ext cx="219456" cy="219456"/>
          </a:xfrm>
          <a:prstGeom prst="rect">
            <a:avLst/>
          </a:prstGeom>
        </p:spPr>
      </p:pic>
      <p:sp>
        <p:nvSpPr>
          <p:cNvPr id="17" name="Text 12"/>
          <p:cNvSpPr/>
          <p:nvPr/>
        </p:nvSpPr>
        <p:spPr>
          <a:xfrm>
            <a:off x="3593592" y="2761488"/>
            <a:ext cx="2240280" cy="292608"/>
          </a:xfrm>
          <a:prstGeom prst="rect">
            <a:avLst/>
          </a:prstGeom>
          <a:noFill/>
          <a:ln/>
        </p:spPr>
        <p:txBody>
          <a:bodyPr wrap="square" lIns="0" tIns="0" rIns="0" bIns="0" rtlCol="0" anchor="ctr"/>
          <a:lstStyle/>
          <a:p>
            <a:pPr indent="0" marL="0">
              <a:buNone/>
            </a:pPr>
            <a:r>
              <a:rPr lang="en-US" sz="1450" b="1" dirty="0">
                <a:solidFill>
                  <a:srgbClr val="1E2447"/>
                </a:solidFill>
                <a:latin typeface="Cambria" pitchFamily="34" charset="0"/>
                <a:ea typeface="Cambria" pitchFamily="34" charset="-122"/>
                <a:cs typeface="Cambria" pitchFamily="34" charset="-120"/>
              </a:rPr>
              <a:t>Activeness</a:t>
            </a:r>
            <a:endParaRPr lang="en-US" sz="1450" dirty="0"/>
          </a:p>
        </p:txBody>
      </p:sp>
      <p:sp>
        <p:nvSpPr>
          <p:cNvPr id="18" name="Text 13"/>
          <p:cNvSpPr/>
          <p:nvPr/>
        </p:nvSpPr>
        <p:spPr>
          <a:xfrm>
            <a:off x="3593592" y="3090672"/>
            <a:ext cx="2240280" cy="1234440"/>
          </a:xfrm>
          <a:prstGeom prst="rect">
            <a:avLst/>
          </a:prstGeom>
          <a:noFill/>
          <a:ln/>
        </p:spPr>
        <p:txBody>
          <a:bodyPr wrap="square" lIns="0" tIns="0" rIns="0" bIns="0" rtlCol="0" anchor="ctr"/>
          <a:lstStyle/>
          <a:p>
            <a:pPr indent="0" marL="0">
              <a:buNone/>
            </a:pPr>
            <a:r>
              <a:rPr lang="en-US" sz="1050" dirty="0">
                <a:solidFill>
                  <a:srgbClr val="5A6377"/>
                </a:solidFill>
                <a:latin typeface="Calibri" pitchFamily="34" charset="0"/>
                <a:ea typeface="Calibri" pitchFamily="34" charset="-122"/>
                <a:cs typeface="Calibri" pitchFamily="34" charset="-120"/>
              </a:rPr>
              <a:t>“Unit + Energy fullness = Activeness.” Inherent energy and basic impulsion make every unit active — appearing as the inseparable triad effort–motion–result (shram–gati–parinam).</a:t>
            </a:r>
            <a:endParaRPr lang="en-US" sz="1050" dirty="0"/>
          </a:p>
        </p:txBody>
      </p:sp>
      <p:sp>
        <p:nvSpPr>
          <p:cNvPr id="19" name="Shape 14"/>
          <p:cNvSpPr/>
          <p:nvPr/>
        </p:nvSpPr>
        <p:spPr>
          <a:xfrm>
            <a:off x="6144768" y="2011680"/>
            <a:ext cx="2615184" cy="2395728"/>
          </a:xfrm>
          <a:prstGeom prst="roundRect">
            <a:avLst>
              <a:gd name="adj" fmla="val 3817"/>
            </a:avLst>
          </a:prstGeom>
          <a:solidFill>
            <a:srgbClr val="EEF1F8"/>
          </a:solidFill>
          <a:ln/>
          <a:effectLst>
            <a:outerShdw sx="100000" sy="100000" kx="0" ky="0" algn="bl" rotWithShape="0" blurRad="88900" dist="25400" dir="2700000">
              <a:srgbClr val="000000">
                <a:alpha val="13000"/>
              </a:srgbClr>
            </a:outerShdw>
          </a:effectLst>
        </p:spPr>
      </p:sp>
      <p:sp>
        <p:nvSpPr>
          <p:cNvPr id="20" name="Shape 15"/>
          <p:cNvSpPr/>
          <p:nvPr/>
        </p:nvSpPr>
        <p:spPr>
          <a:xfrm>
            <a:off x="6345936" y="2212848"/>
            <a:ext cx="457200" cy="457200"/>
          </a:xfrm>
          <a:prstGeom prst="ellipse">
            <a:avLst/>
          </a:prstGeom>
          <a:solidFill>
            <a:srgbClr val="3B4A7A"/>
          </a:solidFill>
          <a:ln/>
        </p:spPr>
      </p:sp>
      <p:pic>
        <p:nvPicPr>
          <p:cNvPr id="21" name="Image 2" descr="preencoded.png"/>
          <p:cNvPicPr>
            <a:picLocks noChangeAspect="1"/>
          </p:cNvPicPr>
          <p:nvPr/>
        </p:nvPicPr>
        <p:blipFill>
          <a:blip r:embed="rId3"/>
          <a:stretch>
            <a:fillRect/>
          </a:stretch>
        </p:blipFill>
        <p:spPr>
          <a:xfrm>
            <a:off x="6464808" y="2331720"/>
            <a:ext cx="219456" cy="219456"/>
          </a:xfrm>
          <a:prstGeom prst="rect">
            <a:avLst/>
          </a:prstGeom>
        </p:spPr>
      </p:pic>
      <p:sp>
        <p:nvSpPr>
          <p:cNvPr id="22" name="Text 16"/>
          <p:cNvSpPr/>
          <p:nvPr/>
        </p:nvSpPr>
        <p:spPr>
          <a:xfrm>
            <a:off x="6345936" y="2761488"/>
            <a:ext cx="2240280" cy="292608"/>
          </a:xfrm>
          <a:prstGeom prst="rect">
            <a:avLst/>
          </a:prstGeom>
          <a:noFill/>
          <a:ln/>
        </p:spPr>
        <p:txBody>
          <a:bodyPr wrap="square" lIns="0" tIns="0" rIns="0" bIns="0" rtlCol="0" anchor="ctr"/>
          <a:lstStyle/>
          <a:p>
            <a:pPr indent="0" marL="0">
              <a:buNone/>
            </a:pPr>
            <a:r>
              <a:rPr lang="en-US" sz="1450" b="1" dirty="0">
                <a:solidFill>
                  <a:srgbClr val="1E2447"/>
                </a:solidFill>
                <a:latin typeface="Cambria" pitchFamily="34" charset="0"/>
                <a:ea typeface="Cambria" pitchFamily="34" charset="-122"/>
                <a:cs typeface="Cambria" pitchFamily="34" charset="-120"/>
              </a:rPr>
              <a:t>Inherent regulation</a:t>
            </a:r>
            <a:endParaRPr lang="en-US" sz="1450" dirty="0"/>
          </a:p>
        </p:txBody>
      </p:sp>
      <p:sp>
        <p:nvSpPr>
          <p:cNvPr id="23" name="Text 17"/>
          <p:cNvSpPr/>
          <p:nvPr/>
        </p:nvSpPr>
        <p:spPr>
          <a:xfrm>
            <a:off x="6345936" y="3090672"/>
            <a:ext cx="2240280" cy="1234440"/>
          </a:xfrm>
          <a:prstGeom prst="rect">
            <a:avLst/>
          </a:prstGeom>
          <a:noFill/>
          <a:ln/>
        </p:spPr>
        <p:txBody>
          <a:bodyPr wrap="square" lIns="0" tIns="0" rIns="0" bIns="0" rtlCol="0" anchor="ctr"/>
          <a:lstStyle/>
          <a:p>
            <a:pPr indent="0" marL="0">
              <a:buNone/>
            </a:pPr>
            <a:r>
              <a:rPr lang="en-US" sz="1050" dirty="0">
                <a:solidFill>
                  <a:srgbClr val="5A6377"/>
                </a:solidFill>
                <a:latin typeface="Calibri" pitchFamily="34" charset="0"/>
                <a:ea typeface="Calibri" pitchFamily="34" charset="-122"/>
                <a:cs typeface="Calibri" pitchFamily="34" charset="-120"/>
              </a:rPr>
              <a:t>Saturation is where a unit gets regulatory order in it. Regulation manifests as law and orderliness — mediative, conserving every unit, never a statutory command from outside.</a:t>
            </a:r>
            <a:endParaRPr lang="en-US" sz="1050" dirty="0"/>
          </a:p>
        </p:txBody>
      </p:sp>
      <p:sp>
        <p:nvSpPr>
          <p:cNvPr id="24" name="Text 18"/>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Together these ground the completeness drive — permeative satta provisions activeness · transparent in mutuality, recognition · mediative, regulation — SB pp. 49–62, 69; MVD pp. 26, 32–33, 40; JV p. 150</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§1.3</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What Every Unit Is: Four Inseparable Aspects</a:t>
            </a:r>
            <a:endParaRPr lang="en-US" sz="3000" dirty="0"/>
          </a:p>
        </p:txBody>
      </p:sp>
      <p:sp>
        <p:nvSpPr>
          <p:cNvPr id="8" name="Shape 5"/>
          <p:cNvSpPr/>
          <p:nvPr/>
        </p:nvSpPr>
        <p:spPr>
          <a:xfrm>
            <a:off x="640080" y="1280160"/>
            <a:ext cx="3794760" cy="1188720"/>
          </a:xfrm>
          <a:prstGeom prst="roundRect">
            <a:avLst>
              <a:gd name="adj" fmla="val 6923"/>
            </a:avLst>
          </a:prstGeom>
          <a:solidFill>
            <a:srgbClr val="EEF1F8"/>
          </a:solidFill>
          <a:ln/>
          <a:effectLst>
            <a:outerShdw sx="100000" sy="100000" kx="0" ky="0" algn="bl" rotWithShape="0" blurRad="88900" dist="25400" dir="2700000">
              <a:srgbClr val="000000">
                <a:alpha val="13000"/>
              </a:srgbClr>
            </a:outerShdw>
          </a:effectLst>
        </p:spPr>
      </p:sp>
      <p:sp>
        <p:nvSpPr>
          <p:cNvPr id="9" name="Shape 6"/>
          <p:cNvSpPr/>
          <p:nvPr/>
        </p:nvSpPr>
        <p:spPr>
          <a:xfrm>
            <a:off x="822960" y="1463040"/>
            <a:ext cx="310896" cy="310896"/>
          </a:xfrm>
          <a:prstGeom prst="ellipse">
            <a:avLst/>
          </a:prstGeom>
          <a:ln w="15875">
            <a:solidFill>
              <a:srgbClr val="3B4A7A"/>
            </a:solidFill>
            <a:prstDash val="solid"/>
          </a:ln>
        </p:spPr>
      </p:sp>
      <p:sp>
        <p:nvSpPr>
          <p:cNvPr id="10" name="Shape 7"/>
          <p:cNvSpPr/>
          <p:nvPr/>
        </p:nvSpPr>
        <p:spPr>
          <a:xfrm>
            <a:off x="885139" y="1525219"/>
            <a:ext cx="186538" cy="186538"/>
          </a:xfrm>
          <a:prstGeom prst="ellipse">
            <a:avLst/>
          </a:prstGeom>
          <a:ln w="15875">
            <a:solidFill>
              <a:srgbClr val="3B4A7A"/>
            </a:solidFill>
            <a:prstDash val="solid"/>
          </a:ln>
        </p:spPr>
      </p:sp>
      <p:sp>
        <p:nvSpPr>
          <p:cNvPr id="11" name="Shape 8"/>
          <p:cNvSpPr/>
          <p:nvPr/>
        </p:nvSpPr>
        <p:spPr>
          <a:xfrm>
            <a:off x="937992" y="1578072"/>
            <a:ext cx="80833" cy="80833"/>
          </a:xfrm>
          <a:prstGeom prst="ellipse">
            <a:avLst/>
          </a:prstGeom>
          <a:solidFill>
            <a:srgbClr val="C9821E"/>
          </a:solidFill>
          <a:ln/>
        </p:spPr>
      </p:sp>
      <p:sp>
        <p:nvSpPr>
          <p:cNvPr id="12" name="Text 9"/>
          <p:cNvSpPr/>
          <p:nvPr/>
        </p:nvSpPr>
        <p:spPr>
          <a:xfrm>
            <a:off x="1261872" y="1389888"/>
            <a:ext cx="3017520" cy="274320"/>
          </a:xfrm>
          <a:prstGeom prst="rect">
            <a:avLst/>
          </a:prstGeom>
          <a:noFill/>
          <a:ln/>
        </p:spPr>
        <p:txBody>
          <a:bodyPr wrap="square" lIns="0" tIns="0" rIns="0" bIns="0" rtlCol="0" anchor="ctr"/>
          <a:lstStyle/>
          <a:p>
            <a:pPr indent="0" marL="0">
              <a:buNone/>
            </a:pPr>
            <a:r>
              <a:rPr lang="en-US" sz="1350" b="1" dirty="0">
                <a:solidFill>
                  <a:srgbClr val="1E2447"/>
                </a:solidFill>
                <a:latin typeface="Cambria" pitchFamily="34" charset="0"/>
                <a:ea typeface="Cambria" pitchFamily="34" charset="-122"/>
                <a:cs typeface="Cambria" pitchFamily="34" charset="-120"/>
              </a:rPr>
              <a:t>Form (roop)</a:t>
            </a:r>
            <a:endParaRPr lang="en-US" sz="1350" dirty="0"/>
          </a:p>
        </p:txBody>
      </p:sp>
      <p:sp>
        <p:nvSpPr>
          <p:cNvPr id="13" name="Text 10"/>
          <p:cNvSpPr/>
          <p:nvPr/>
        </p:nvSpPr>
        <p:spPr>
          <a:xfrm>
            <a:off x="1261872" y="1682496"/>
            <a:ext cx="3063240" cy="731520"/>
          </a:xfrm>
          <a:prstGeom prst="rect">
            <a:avLst/>
          </a:prstGeom>
          <a:noFill/>
          <a:ln/>
        </p:spPr>
        <p:txBody>
          <a:bodyPr wrap="square" lIns="0" tIns="0" rIns="0" bIns="0" rtlCol="0" anchor="ctr"/>
          <a:lstStyle/>
          <a:p>
            <a:pPr indent="0" marL="0">
              <a:buNone/>
            </a:pPr>
            <a:r>
              <a:rPr lang="en-US" sz="1030" dirty="0">
                <a:solidFill>
                  <a:srgbClr val="5A6377"/>
                </a:solidFill>
                <a:latin typeface="Calibri" pitchFamily="34" charset="0"/>
                <a:ea typeface="Calibri" pitchFamily="34" charset="-122"/>
                <a:cs typeface="Calibri" pitchFamily="34" charset="-120"/>
              </a:rPr>
              <a:t>Shape, volume, and density — by which a bounded unit is individuated. Shared across all orders.</a:t>
            </a:r>
            <a:endParaRPr lang="en-US" sz="1030" dirty="0"/>
          </a:p>
        </p:txBody>
      </p:sp>
      <p:sp>
        <p:nvSpPr>
          <p:cNvPr id="14" name="Shape 11"/>
          <p:cNvSpPr/>
          <p:nvPr/>
        </p:nvSpPr>
        <p:spPr>
          <a:xfrm>
            <a:off x="4709160" y="1280160"/>
            <a:ext cx="3794760" cy="1188720"/>
          </a:xfrm>
          <a:prstGeom prst="roundRect">
            <a:avLst>
              <a:gd name="adj" fmla="val 6923"/>
            </a:avLst>
          </a:prstGeom>
          <a:solidFill>
            <a:srgbClr val="EEF1F8"/>
          </a:solidFill>
          <a:ln/>
          <a:effectLst>
            <a:outerShdw sx="100000" sy="100000" kx="0" ky="0" algn="bl" rotWithShape="0" blurRad="88900" dist="25400" dir="2700000">
              <a:srgbClr val="000000">
                <a:alpha val="13000"/>
              </a:srgbClr>
            </a:outerShdw>
          </a:effectLst>
        </p:spPr>
      </p:sp>
      <p:sp>
        <p:nvSpPr>
          <p:cNvPr id="15" name="Shape 12"/>
          <p:cNvSpPr/>
          <p:nvPr/>
        </p:nvSpPr>
        <p:spPr>
          <a:xfrm>
            <a:off x="4892040" y="1463040"/>
            <a:ext cx="310896" cy="310896"/>
          </a:xfrm>
          <a:prstGeom prst="ellipse">
            <a:avLst/>
          </a:prstGeom>
          <a:ln w="15875">
            <a:solidFill>
              <a:srgbClr val="3B4A7A"/>
            </a:solidFill>
            <a:prstDash val="solid"/>
          </a:ln>
        </p:spPr>
      </p:sp>
      <p:sp>
        <p:nvSpPr>
          <p:cNvPr id="16" name="Shape 13"/>
          <p:cNvSpPr/>
          <p:nvPr/>
        </p:nvSpPr>
        <p:spPr>
          <a:xfrm>
            <a:off x="4954219" y="1525219"/>
            <a:ext cx="186538" cy="186538"/>
          </a:xfrm>
          <a:prstGeom prst="ellipse">
            <a:avLst/>
          </a:prstGeom>
          <a:ln w="15875">
            <a:solidFill>
              <a:srgbClr val="3B4A7A"/>
            </a:solidFill>
            <a:prstDash val="solid"/>
          </a:ln>
        </p:spPr>
      </p:sp>
      <p:sp>
        <p:nvSpPr>
          <p:cNvPr id="17" name="Shape 14"/>
          <p:cNvSpPr/>
          <p:nvPr/>
        </p:nvSpPr>
        <p:spPr>
          <a:xfrm>
            <a:off x="5007072" y="1578072"/>
            <a:ext cx="80833" cy="80833"/>
          </a:xfrm>
          <a:prstGeom prst="ellipse">
            <a:avLst/>
          </a:prstGeom>
          <a:solidFill>
            <a:srgbClr val="C9821E"/>
          </a:solidFill>
          <a:ln/>
        </p:spPr>
      </p:sp>
      <p:sp>
        <p:nvSpPr>
          <p:cNvPr id="18" name="Text 15"/>
          <p:cNvSpPr/>
          <p:nvPr/>
        </p:nvSpPr>
        <p:spPr>
          <a:xfrm>
            <a:off x="5330952" y="1389888"/>
            <a:ext cx="3017520" cy="274320"/>
          </a:xfrm>
          <a:prstGeom prst="rect">
            <a:avLst/>
          </a:prstGeom>
          <a:noFill/>
          <a:ln/>
        </p:spPr>
        <p:txBody>
          <a:bodyPr wrap="square" lIns="0" tIns="0" rIns="0" bIns="0" rtlCol="0" anchor="ctr"/>
          <a:lstStyle/>
          <a:p>
            <a:pPr indent="0" marL="0">
              <a:buNone/>
            </a:pPr>
            <a:r>
              <a:rPr lang="en-US" sz="1350" b="1" dirty="0">
                <a:solidFill>
                  <a:srgbClr val="1E2447"/>
                </a:solidFill>
                <a:latin typeface="Cambria" pitchFamily="34" charset="0"/>
                <a:ea typeface="Cambria" pitchFamily="34" charset="-122"/>
                <a:cs typeface="Cambria" pitchFamily="34" charset="-120"/>
              </a:rPr>
              <a:t>Properties (gun)</a:t>
            </a:r>
            <a:endParaRPr lang="en-US" sz="1350" dirty="0"/>
          </a:p>
        </p:txBody>
      </p:sp>
      <p:sp>
        <p:nvSpPr>
          <p:cNvPr id="19" name="Text 16"/>
          <p:cNvSpPr/>
          <p:nvPr/>
        </p:nvSpPr>
        <p:spPr>
          <a:xfrm>
            <a:off x="5330952" y="1682496"/>
            <a:ext cx="3063240" cy="731520"/>
          </a:xfrm>
          <a:prstGeom prst="rect">
            <a:avLst/>
          </a:prstGeom>
          <a:noFill/>
          <a:ln/>
        </p:spPr>
        <p:txBody>
          <a:bodyPr wrap="square" lIns="0" tIns="0" rIns="0" bIns="0" rtlCol="0" anchor="ctr"/>
          <a:lstStyle/>
          <a:p>
            <a:pPr indent="0" marL="0">
              <a:buNone/>
            </a:pPr>
            <a:r>
              <a:rPr lang="en-US" sz="1030" dirty="0">
                <a:solidFill>
                  <a:srgbClr val="5A6377"/>
                </a:solidFill>
                <a:latin typeface="Calibri" pitchFamily="34" charset="0"/>
                <a:ea typeface="Calibri" pitchFamily="34" charset="-122"/>
                <a:cs typeface="Calibri" pitchFamily="34" charset="-120"/>
              </a:rPr>
              <a:t>Effects units have on one another in mutuality — generative, degenerative, and mediative (assisting creation, dissolution, sustainment).</a:t>
            </a:r>
            <a:endParaRPr lang="en-US" sz="1030" dirty="0"/>
          </a:p>
        </p:txBody>
      </p:sp>
      <p:sp>
        <p:nvSpPr>
          <p:cNvPr id="20" name="Shape 17"/>
          <p:cNvSpPr/>
          <p:nvPr/>
        </p:nvSpPr>
        <p:spPr>
          <a:xfrm>
            <a:off x="640080" y="2606040"/>
            <a:ext cx="3794760" cy="1188720"/>
          </a:xfrm>
          <a:prstGeom prst="roundRect">
            <a:avLst>
              <a:gd name="adj" fmla="val 6923"/>
            </a:avLst>
          </a:prstGeom>
          <a:solidFill>
            <a:srgbClr val="EEF1F8"/>
          </a:solidFill>
          <a:ln/>
          <a:effectLst>
            <a:outerShdw sx="100000" sy="100000" kx="0" ky="0" algn="bl" rotWithShape="0" blurRad="88900" dist="25400" dir="2700000">
              <a:srgbClr val="000000">
                <a:alpha val="13000"/>
              </a:srgbClr>
            </a:outerShdw>
          </a:effectLst>
        </p:spPr>
      </p:sp>
      <p:sp>
        <p:nvSpPr>
          <p:cNvPr id="21" name="Shape 18"/>
          <p:cNvSpPr/>
          <p:nvPr/>
        </p:nvSpPr>
        <p:spPr>
          <a:xfrm>
            <a:off x="822960" y="2788920"/>
            <a:ext cx="310896" cy="310896"/>
          </a:xfrm>
          <a:prstGeom prst="ellipse">
            <a:avLst/>
          </a:prstGeom>
          <a:ln w="15875">
            <a:solidFill>
              <a:srgbClr val="3B4A7A"/>
            </a:solidFill>
            <a:prstDash val="solid"/>
          </a:ln>
        </p:spPr>
      </p:sp>
      <p:sp>
        <p:nvSpPr>
          <p:cNvPr id="22" name="Shape 19"/>
          <p:cNvSpPr/>
          <p:nvPr/>
        </p:nvSpPr>
        <p:spPr>
          <a:xfrm>
            <a:off x="885139" y="2851099"/>
            <a:ext cx="186538" cy="186538"/>
          </a:xfrm>
          <a:prstGeom prst="ellipse">
            <a:avLst/>
          </a:prstGeom>
          <a:ln w="15875">
            <a:solidFill>
              <a:srgbClr val="3B4A7A"/>
            </a:solidFill>
            <a:prstDash val="solid"/>
          </a:ln>
        </p:spPr>
      </p:sp>
      <p:sp>
        <p:nvSpPr>
          <p:cNvPr id="23" name="Shape 20"/>
          <p:cNvSpPr/>
          <p:nvPr/>
        </p:nvSpPr>
        <p:spPr>
          <a:xfrm>
            <a:off x="937992" y="2903952"/>
            <a:ext cx="80833" cy="80833"/>
          </a:xfrm>
          <a:prstGeom prst="ellipse">
            <a:avLst/>
          </a:prstGeom>
          <a:solidFill>
            <a:srgbClr val="C9821E"/>
          </a:solidFill>
          <a:ln/>
        </p:spPr>
      </p:sp>
      <p:sp>
        <p:nvSpPr>
          <p:cNvPr id="24" name="Text 21"/>
          <p:cNvSpPr/>
          <p:nvPr/>
        </p:nvSpPr>
        <p:spPr>
          <a:xfrm>
            <a:off x="1261872" y="2715768"/>
            <a:ext cx="3017520" cy="274320"/>
          </a:xfrm>
          <a:prstGeom prst="rect">
            <a:avLst/>
          </a:prstGeom>
          <a:noFill/>
          <a:ln/>
        </p:spPr>
        <p:txBody>
          <a:bodyPr wrap="square" lIns="0" tIns="0" rIns="0" bIns="0" rtlCol="0" anchor="ctr"/>
          <a:lstStyle/>
          <a:p>
            <a:pPr indent="0" marL="0">
              <a:buNone/>
            </a:pPr>
            <a:r>
              <a:rPr lang="en-US" sz="1350" b="1" dirty="0">
                <a:solidFill>
                  <a:srgbClr val="1E2447"/>
                </a:solidFill>
                <a:latin typeface="Cambria" pitchFamily="34" charset="0"/>
                <a:ea typeface="Cambria" pitchFamily="34" charset="-122"/>
                <a:cs typeface="Cambria" pitchFamily="34" charset="-120"/>
              </a:rPr>
              <a:t>Essential nature (svabhav)</a:t>
            </a:r>
            <a:endParaRPr lang="en-US" sz="1350" dirty="0"/>
          </a:p>
        </p:txBody>
      </p:sp>
      <p:sp>
        <p:nvSpPr>
          <p:cNvPr id="25" name="Text 22"/>
          <p:cNvSpPr/>
          <p:nvPr/>
        </p:nvSpPr>
        <p:spPr>
          <a:xfrm>
            <a:off x="1261872" y="3008376"/>
            <a:ext cx="3063240" cy="731520"/>
          </a:xfrm>
          <a:prstGeom prst="rect">
            <a:avLst/>
          </a:prstGeom>
          <a:noFill/>
          <a:ln/>
        </p:spPr>
        <p:txBody>
          <a:bodyPr wrap="square" lIns="0" tIns="0" rIns="0" bIns="0" rtlCol="0" anchor="ctr"/>
          <a:lstStyle/>
          <a:p>
            <a:pPr indent="0" marL="0">
              <a:buNone/>
            </a:pPr>
            <a:r>
              <a:rPr lang="en-US" sz="1030" dirty="0">
                <a:solidFill>
                  <a:srgbClr val="5A6377"/>
                </a:solidFill>
                <a:latin typeface="Calibri" pitchFamily="34" charset="0"/>
                <a:ea typeface="Calibri" pitchFamily="34" charset="-122"/>
                <a:cs typeface="Calibri" pitchFamily="34" charset="-120"/>
              </a:rPr>
              <a:t>How the usefulness of a unit’s properties participates in its order — its distinctive way of being (its ness).</a:t>
            </a:r>
            <a:endParaRPr lang="en-US" sz="1030" dirty="0"/>
          </a:p>
        </p:txBody>
      </p:sp>
      <p:sp>
        <p:nvSpPr>
          <p:cNvPr id="26" name="Shape 23"/>
          <p:cNvSpPr/>
          <p:nvPr/>
        </p:nvSpPr>
        <p:spPr>
          <a:xfrm>
            <a:off x="4709160" y="2606040"/>
            <a:ext cx="3794760" cy="1188720"/>
          </a:xfrm>
          <a:prstGeom prst="roundRect">
            <a:avLst>
              <a:gd name="adj" fmla="val 6923"/>
            </a:avLst>
          </a:prstGeom>
          <a:solidFill>
            <a:srgbClr val="EEF1F8"/>
          </a:solidFill>
          <a:ln/>
          <a:effectLst>
            <a:outerShdw sx="100000" sy="100000" kx="0" ky="0" algn="bl" rotWithShape="0" blurRad="88900" dist="25400" dir="2700000">
              <a:srgbClr val="000000">
                <a:alpha val="13000"/>
              </a:srgbClr>
            </a:outerShdw>
          </a:effectLst>
        </p:spPr>
      </p:sp>
      <p:sp>
        <p:nvSpPr>
          <p:cNvPr id="27" name="Shape 24"/>
          <p:cNvSpPr/>
          <p:nvPr/>
        </p:nvSpPr>
        <p:spPr>
          <a:xfrm>
            <a:off x="4892040" y="2788920"/>
            <a:ext cx="310896" cy="310896"/>
          </a:xfrm>
          <a:prstGeom prst="ellipse">
            <a:avLst/>
          </a:prstGeom>
          <a:ln w="15875">
            <a:solidFill>
              <a:srgbClr val="3B4A7A"/>
            </a:solidFill>
            <a:prstDash val="solid"/>
          </a:ln>
        </p:spPr>
      </p:sp>
      <p:sp>
        <p:nvSpPr>
          <p:cNvPr id="28" name="Shape 25"/>
          <p:cNvSpPr/>
          <p:nvPr/>
        </p:nvSpPr>
        <p:spPr>
          <a:xfrm>
            <a:off x="4954219" y="2851099"/>
            <a:ext cx="186538" cy="186538"/>
          </a:xfrm>
          <a:prstGeom prst="ellipse">
            <a:avLst/>
          </a:prstGeom>
          <a:ln w="15875">
            <a:solidFill>
              <a:srgbClr val="3B4A7A"/>
            </a:solidFill>
            <a:prstDash val="solid"/>
          </a:ln>
        </p:spPr>
      </p:sp>
      <p:sp>
        <p:nvSpPr>
          <p:cNvPr id="29" name="Shape 26"/>
          <p:cNvSpPr/>
          <p:nvPr/>
        </p:nvSpPr>
        <p:spPr>
          <a:xfrm>
            <a:off x="5007072" y="2903952"/>
            <a:ext cx="80833" cy="80833"/>
          </a:xfrm>
          <a:prstGeom prst="ellipse">
            <a:avLst/>
          </a:prstGeom>
          <a:solidFill>
            <a:srgbClr val="C9821E"/>
          </a:solidFill>
          <a:ln/>
        </p:spPr>
      </p:sp>
      <p:sp>
        <p:nvSpPr>
          <p:cNvPr id="30" name="Text 27"/>
          <p:cNvSpPr/>
          <p:nvPr/>
        </p:nvSpPr>
        <p:spPr>
          <a:xfrm>
            <a:off x="5330952" y="2715768"/>
            <a:ext cx="3017520" cy="274320"/>
          </a:xfrm>
          <a:prstGeom prst="rect">
            <a:avLst/>
          </a:prstGeom>
          <a:noFill/>
          <a:ln/>
        </p:spPr>
        <p:txBody>
          <a:bodyPr wrap="square" lIns="0" tIns="0" rIns="0" bIns="0" rtlCol="0" anchor="ctr"/>
          <a:lstStyle/>
          <a:p>
            <a:pPr indent="0" marL="0">
              <a:buNone/>
            </a:pPr>
            <a:r>
              <a:rPr lang="en-US" sz="1350" b="1" dirty="0">
                <a:solidFill>
                  <a:srgbClr val="1E2447"/>
                </a:solidFill>
                <a:latin typeface="Cambria" pitchFamily="34" charset="0"/>
                <a:ea typeface="Cambria" pitchFamily="34" charset="-122"/>
                <a:cs typeface="Cambria" pitchFamily="34" charset="-120"/>
              </a:rPr>
              <a:t>Dharma</a:t>
            </a:r>
            <a:endParaRPr lang="en-US" sz="1350" dirty="0"/>
          </a:p>
        </p:txBody>
      </p:sp>
      <p:sp>
        <p:nvSpPr>
          <p:cNvPr id="31" name="Text 28"/>
          <p:cNvSpPr/>
          <p:nvPr/>
        </p:nvSpPr>
        <p:spPr>
          <a:xfrm>
            <a:off x="5330952" y="3008376"/>
            <a:ext cx="3063240" cy="731520"/>
          </a:xfrm>
          <a:prstGeom prst="rect">
            <a:avLst/>
          </a:prstGeom>
          <a:noFill/>
          <a:ln/>
        </p:spPr>
        <p:txBody>
          <a:bodyPr wrap="square" lIns="0" tIns="0" rIns="0" bIns="0" rtlCol="0" anchor="ctr"/>
          <a:lstStyle/>
          <a:p>
            <a:pPr indent="0" marL="0">
              <a:buNone/>
            </a:pPr>
            <a:r>
              <a:rPr lang="en-US" sz="1030" dirty="0">
                <a:solidFill>
                  <a:srgbClr val="5A6377"/>
                </a:solidFill>
                <a:latin typeface="Calibri" pitchFamily="34" charset="0"/>
                <a:ea typeface="Calibri" pitchFamily="34" charset="-122"/>
                <a:cs typeface="Calibri" pitchFamily="34" charset="-120"/>
              </a:rPr>
              <a:t>What a unit cannot be separated from — its innateness and fulfilment. Since existence is coexistence, indestructibility is the ultimate dharma.</a:t>
            </a:r>
            <a:endParaRPr lang="en-US" sz="1030" dirty="0"/>
          </a:p>
        </p:txBody>
      </p:sp>
      <p:sp>
        <p:nvSpPr>
          <p:cNvPr id="32" name="Shape 29"/>
          <p:cNvSpPr/>
          <p:nvPr/>
        </p:nvSpPr>
        <p:spPr>
          <a:xfrm>
            <a:off x="640080" y="3977640"/>
            <a:ext cx="7863840" cy="749808"/>
          </a:xfrm>
          <a:prstGeom prst="roundRect">
            <a:avLst>
              <a:gd name="adj" fmla="val 10976"/>
            </a:avLst>
          </a:prstGeom>
          <a:solidFill>
            <a:srgbClr val="FAF1DF"/>
          </a:solidFill>
          <a:ln/>
        </p:spPr>
      </p:sp>
      <p:sp>
        <p:nvSpPr>
          <p:cNvPr id="33" name="Text 30"/>
          <p:cNvSpPr/>
          <p:nvPr/>
        </p:nvSpPr>
        <p:spPr>
          <a:xfrm>
            <a:off x="868680" y="3977640"/>
            <a:ext cx="7406640" cy="749808"/>
          </a:xfrm>
          <a:prstGeom prst="rect">
            <a:avLst/>
          </a:prstGeom>
          <a:noFill/>
          <a:ln/>
        </p:spPr>
        <p:txBody>
          <a:bodyPr wrap="square" lIns="0" tIns="0" rIns="0" bIns="0" rtlCol="0" anchor="ctr"/>
          <a:lstStyle/>
          <a:p>
            <a:pPr indent="0" marL="0">
              <a:buNone/>
            </a:pPr>
            <a:r>
              <a:rPr lang="en-US" sz="1200" b="1" dirty="0">
                <a:solidFill>
                  <a:srgbClr val="9A6414"/>
                </a:solidFill>
                <a:latin typeface="Calibri" pitchFamily="34" charset="0"/>
                <a:ea typeface="Calibri" pitchFamily="34" charset="-122"/>
                <a:cs typeface="Calibri" pitchFamily="34" charset="-120"/>
              </a:rPr>
              <a:t>Natural state → development</a:t>
            </a:r>
            <a:pPr indent="0" marL="0">
              <a:buNone/>
            </a:pPr>
            <a:r>
              <a:rPr lang="en-US" sz="1200" dirty="0">
                <a:solidFill>
                  <a:srgbClr val="5A6377"/>
                </a:solidFill>
                <a:latin typeface="Calibri" pitchFamily="34" charset="0"/>
                <a:ea typeface="Calibri" pitchFamily="34" charset="-122"/>
                <a:cs typeface="Calibri" pitchFamily="34" charset="-120"/>
              </a:rPr>
              <a:t xml:space="preserve">  (fulfilment aligned with innateness)      </a:t>
            </a:r>
            <a:pPr indent="0" marL="0">
              <a:buNone/>
            </a:pPr>
            <a:r>
              <a:rPr lang="en-US" sz="1200" b="1" dirty="0">
                <a:solidFill>
                  <a:srgbClr val="9A6414"/>
                </a:solidFill>
                <a:latin typeface="Calibri" pitchFamily="34" charset="0"/>
                <a:ea typeface="Calibri" pitchFamily="34" charset="-122"/>
                <a:cs typeface="Calibri" pitchFamily="34" charset="-120"/>
              </a:rPr>
              <a:t>Excited state → decline</a:t>
            </a:r>
            <a:pPr indent="0" marL="0">
              <a:buNone/>
            </a:pPr>
            <a:r>
              <a:rPr lang="en-US" sz="1200" dirty="0">
                <a:solidFill>
                  <a:srgbClr val="5A6377"/>
                </a:solidFill>
                <a:latin typeface="Calibri" pitchFamily="34" charset="0"/>
                <a:ea typeface="Calibri" pitchFamily="34" charset="-122"/>
                <a:cs typeface="Calibri" pitchFamily="34" charset="-120"/>
              </a:rPr>
              <a:t xml:space="preserve">  — each unit is a whole along with its environment, orderliness with its ness.</a:t>
            </a:r>
            <a:endParaRPr lang="en-US" sz="1200" dirty="0"/>
          </a:p>
        </p:txBody>
      </p:sp>
      <p:sp>
        <p:nvSpPr>
          <p:cNvPr id="34" name="Text 31"/>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MVD pp. 50–51, 112  ·  SB pp. 13–15, 50–54  ·  JV p. 113 (the peepal tree’s definite conduct)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§1.4 · COMPLEMENTARITY AS VALUE</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Units in Relationships</a:t>
            </a:r>
            <a:endParaRPr lang="en-US" sz="3000" dirty="0"/>
          </a:p>
        </p:txBody>
      </p:sp>
      <p:sp>
        <p:nvSpPr>
          <p:cNvPr id="8" name="Text 5"/>
          <p:cNvSpPr/>
          <p:nvPr/>
        </p:nvSpPr>
        <p:spPr>
          <a:xfrm>
            <a:off x="640080" y="1207008"/>
            <a:ext cx="7955280" cy="548640"/>
          </a:xfrm>
          <a:prstGeom prst="rect">
            <a:avLst/>
          </a:prstGeom>
          <a:noFill/>
          <a:ln/>
        </p:spPr>
        <p:txBody>
          <a:bodyPr wrap="square" lIns="0" tIns="0" rIns="0" bIns="0" rtlCol="0" anchor="ctr"/>
          <a:lstStyle/>
          <a:p>
            <a:pPr indent="0" marL="0">
              <a:buNone/>
            </a:pPr>
            <a:r>
              <a:rPr lang="en-US" sz="1300" dirty="0">
                <a:solidFill>
                  <a:srgbClr val="5A6377"/>
                </a:solidFill>
                <a:latin typeface="Calibri" pitchFamily="34" charset="0"/>
                <a:ea typeface="Calibri" pitchFamily="34" charset="-122"/>
                <a:cs typeface="Calibri" pitchFamily="34" charset="-120"/>
              </a:rPr>
              <a:t>“Nothing is isolated — that is the principle” (JV p. 43). Complementarity is actualised as value in mutuality; the unit’s main drive is to recognise and fulfil its relationships.</a:t>
            </a:r>
            <a:endParaRPr lang="en-US" sz="1300" dirty="0"/>
          </a:p>
        </p:txBody>
      </p:sp>
      <p:sp>
        <p:nvSpPr>
          <p:cNvPr id="9" name="Shape 6"/>
          <p:cNvSpPr/>
          <p:nvPr/>
        </p:nvSpPr>
        <p:spPr>
          <a:xfrm>
            <a:off x="640080" y="1874520"/>
            <a:ext cx="3794760" cy="1170432"/>
          </a:xfrm>
          <a:prstGeom prst="roundRect">
            <a:avLst>
              <a:gd name="adj" fmla="val 7031"/>
            </a:avLst>
          </a:prstGeom>
          <a:solidFill>
            <a:srgbClr val="EEF1F8"/>
          </a:solidFill>
          <a:ln/>
          <a:effectLst>
            <a:outerShdw sx="100000" sy="100000" kx="0" ky="0" algn="bl" rotWithShape="0" blurRad="88900" dist="25400" dir="2700000">
              <a:srgbClr val="000000">
                <a:alpha val="13000"/>
              </a:srgbClr>
            </a:outerShdw>
          </a:effectLst>
        </p:spPr>
      </p:sp>
      <p:sp>
        <p:nvSpPr>
          <p:cNvPr id="10" name="Text 7"/>
          <p:cNvSpPr/>
          <p:nvPr/>
        </p:nvSpPr>
        <p:spPr>
          <a:xfrm>
            <a:off x="841248" y="1993392"/>
            <a:ext cx="3383280" cy="274320"/>
          </a:xfrm>
          <a:prstGeom prst="rect">
            <a:avLst/>
          </a:prstGeom>
          <a:noFill/>
          <a:ln/>
        </p:spPr>
        <p:txBody>
          <a:bodyPr wrap="square" lIns="0" tIns="0" rIns="0" bIns="0" rtlCol="0" anchor="ctr"/>
          <a:lstStyle/>
          <a:p>
            <a:pPr indent="0" marL="0">
              <a:buNone/>
            </a:pPr>
            <a:r>
              <a:rPr lang="en-US" sz="1400" b="1" dirty="0">
                <a:solidFill>
                  <a:srgbClr val="1E2447"/>
                </a:solidFill>
                <a:latin typeface="Cambria" pitchFamily="34" charset="0"/>
                <a:ea typeface="Cambria" pitchFamily="34" charset="-122"/>
                <a:cs typeface="Cambria" pitchFamily="34" charset="-120"/>
              </a:rPr>
              <a:t>Relationship (sambandh)</a:t>
            </a:r>
            <a:endParaRPr lang="en-US" sz="1400" dirty="0"/>
          </a:p>
        </p:txBody>
      </p:sp>
      <p:sp>
        <p:nvSpPr>
          <p:cNvPr id="11" name="Text 8"/>
          <p:cNvSpPr/>
          <p:nvPr/>
        </p:nvSpPr>
        <p:spPr>
          <a:xfrm>
            <a:off x="841248" y="2286000"/>
            <a:ext cx="3429000" cy="685800"/>
          </a:xfrm>
          <a:prstGeom prst="rect">
            <a:avLst/>
          </a:prstGeom>
          <a:noFill/>
          <a:ln/>
        </p:spPr>
        <p:txBody>
          <a:bodyPr wrap="square" lIns="0" tIns="0" rIns="0" bIns="0" rtlCol="0" anchor="ctr"/>
          <a:lstStyle/>
          <a:p>
            <a:pPr indent="0" marL="0">
              <a:buNone/>
            </a:pPr>
            <a:r>
              <a:rPr lang="en-US" sz="1100" dirty="0">
                <a:solidFill>
                  <a:srgbClr val="5A6377"/>
                </a:solidFill>
                <a:latin typeface="Calibri" pitchFamily="34" charset="0"/>
                <a:ea typeface="Calibri" pitchFamily="34" charset="-122"/>
                <a:cs typeface="Calibri" pitchFamily="34" charset="-120"/>
              </a:rPr>
              <a:t>Mutuality where expectations are predetermined in the sense of completeness — e.g. parent and child.</a:t>
            </a:r>
            <a:endParaRPr lang="en-US" sz="1100" dirty="0"/>
          </a:p>
        </p:txBody>
      </p:sp>
      <p:sp>
        <p:nvSpPr>
          <p:cNvPr id="12" name="Shape 9"/>
          <p:cNvSpPr/>
          <p:nvPr/>
        </p:nvSpPr>
        <p:spPr>
          <a:xfrm>
            <a:off x="4709160" y="1874520"/>
            <a:ext cx="3794760" cy="1170432"/>
          </a:xfrm>
          <a:prstGeom prst="roundRect">
            <a:avLst>
              <a:gd name="adj" fmla="val 7031"/>
            </a:avLst>
          </a:prstGeom>
          <a:solidFill>
            <a:srgbClr val="EEF1F8"/>
          </a:solidFill>
          <a:ln/>
          <a:effectLst>
            <a:outerShdw sx="100000" sy="100000" kx="0" ky="0" algn="bl" rotWithShape="0" blurRad="88900" dist="25400" dir="2700000">
              <a:srgbClr val="000000">
                <a:alpha val="13000"/>
              </a:srgbClr>
            </a:outerShdw>
          </a:effectLst>
        </p:spPr>
      </p:sp>
      <p:sp>
        <p:nvSpPr>
          <p:cNvPr id="13" name="Text 10"/>
          <p:cNvSpPr/>
          <p:nvPr/>
        </p:nvSpPr>
        <p:spPr>
          <a:xfrm>
            <a:off x="4910328" y="1993392"/>
            <a:ext cx="3383280" cy="274320"/>
          </a:xfrm>
          <a:prstGeom prst="rect">
            <a:avLst/>
          </a:prstGeom>
          <a:noFill/>
          <a:ln/>
        </p:spPr>
        <p:txBody>
          <a:bodyPr wrap="square" lIns="0" tIns="0" rIns="0" bIns="0" rtlCol="0" anchor="ctr"/>
          <a:lstStyle/>
          <a:p>
            <a:pPr indent="0" marL="0">
              <a:buNone/>
            </a:pPr>
            <a:r>
              <a:rPr lang="en-US" sz="1400" b="1" dirty="0">
                <a:solidFill>
                  <a:srgbClr val="3B4A7A"/>
                </a:solidFill>
                <a:latin typeface="Cambria" pitchFamily="34" charset="0"/>
                <a:ea typeface="Cambria" pitchFamily="34" charset="-122"/>
                <a:cs typeface="Cambria" pitchFamily="34" charset="-120"/>
              </a:rPr>
              <a:t>Contact (sampark)</a:t>
            </a:r>
            <a:endParaRPr lang="en-US" sz="1400" dirty="0"/>
          </a:p>
        </p:txBody>
      </p:sp>
      <p:sp>
        <p:nvSpPr>
          <p:cNvPr id="14" name="Text 11"/>
          <p:cNvSpPr/>
          <p:nvPr/>
        </p:nvSpPr>
        <p:spPr>
          <a:xfrm>
            <a:off x="4910328" y="2286000"/>
            <a:ext cx="3429000" cy="685800"/>
          </a:xfrm>
          <a:prstGeom prst="rect">
            <a:avLst/>
          </a:prstGeom>
          <a:noFill/>
          <a:ln/>
        </p:spPr>
        <p:txBody>
          <a:bodyPr wrap="square" lIns="0" tIns="0" rIns="0" bIns="0" rtlCol="0" anchor="ctr"/>
          <a:lstStyle/>
          <a:p>
            <a:pPr indent="0" marL="0">
              <a:buNone/>
            </a:pPr>
            <a:r>
              <a:rPr lang="en-US" sz="1100" dirty="0">
                <a:solidFill>
                  <a:srgbClr val="5A6377"/>
                </a:solidFill>
                <a:latin typeface="Calibri" pitchFamily="34" charset="0"/>
                <a:ea typeface="Calibri" pitchFamily="34" charset="-122"/>
                <a:cs typeface="Calibri" pitchFamily="34" charset="-120"/>
              </a:rPr>
              <a:t>Mutuality where expectations are voluntary — e.g. neighbours who share a wall.</a:t>
            </a:r>
            <a:endParaRPr lang="en-US" sz="1100" dirty="0"/>
          </a:p>
        </p:txBody>
      </p:sp>
      <p:sp>
        <p:nvSpPr>
          <p:cNvPr id="15" name="Text 12"/>
          <p:cNvSpPr/>
          <p:nvPr/>
        </p:nvSpPr>
        <p:spPr>
          <a:xfrm>
            <a:off x="640080" y="3246120"/>
            <a:ext cx="7955280" cy="502920"/>
          </a:xfrm>
          <a:prstGeom prst="rect">
            <a:avLst/>
          </a:prstGeom>
          <a:noFill/>
          <a:ln/>
        </p:spPr>
        <p:txBody>
          <a:bodyPr wrap="square" lIns="0" tIns="0" rIns="0" bIns="0" rtlCol="0" anchor="ctr"/>
          <a:lstStyle/>
          <a:p>
            <a:pPr indent="0" marL="0">
              <a:buNone/>
            </a:pPr>
            <a:r>
              <a:rPr lang="en-US" sz="1250" b="1" dirty="0">
                <a:solidFill>
                  <a:srgbClr val="1E2447"/>
                </a:solidFill>
                <a:latin typeface="Calibri" pitchFamily="34" charset="0"/>
                <a:ea typeface="Calibri" pitchFamily="34" charset="-122"/>
                <a:cs typeface="Calibri" pitchFamily="34" charset="-120"/>
              </a:rPr>
              <a:t xml:space="preserve">Essentiality is value (mulya).  </a:t>
            </a:r>
            <a:pPr indent="0" marL="0">
              <a:buNone/>
            </a:pPr>
            <a:r>
              <a:rPr lang="en-US" sz="1200" dirty="0">
                <a:solidFill>
                  <a:srgbClr val="5A6377"/>
                </a:solidFill>
                <a:latin typeface="Calibri" pitchFamily="34" charset="0"/>
                <a:ea typeface="Calibri" pitchFamily="34" charset="-122"/>
                <a:cs typeface="Calibri" pitchFamily="34" charset="-120"/>
              </a:rPr>
              <a:t>Object values (utility, art) operate at every order; jeevan harmonies, human values, relationship values, and expression values presuppose the knowledge order.</a:t>
            </a:r>
            <a:endParaRPr lang="en-US" sz="1250" dirty="0"/>
          </a:p>
        </p:txBody>
      </p:sp>
      <p:sp>
        <p:nvSpPr>
          <p:cNvPr id="16" name="Shape 13"/>
          <p:cNvSpPr/>
          <p:nvPr/>
        </p:nvSpPr>
        <p:spPr>
          <a:xfrm>
            <a:off x="640080" y="3977640"/>
            <a:ext cx="1691640" cy="502920"/>
          </a:xfrm>
          <a:prstGeom prst="roundRect">
            <a:avLst>
              <a:gd name="adj" fmla="val 16364"/>
            </a:avLst>
          </a:prstGeom>
          <a:solidFill>
            <a:srgbClr val="1E2447"/>
          </a:solidFill>
          <a:ln/>
        </p:spPr>
      </p:sp>
      <p:sp>
        <p:nvSpPr>
          <p:cNvPr id="17" name="Text 14"/>
          <p:cNvSpPr/>
          <p:nvPr/>
        </p:nvSpPr>
        <p:spPr>
          <a:xfrm>
            <a:off x="640080" y="3977640"/>
            <a:ext cx="1691640" cy="502920"/>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Knowing</a:t>
            </a:r>
            <a:endParaRPr lang="en-US" sz="1250" dirty="0"/>
          </a:p>
        </p:txBody>
      </p:sp>
      <p:sp>
        <p:nvSpPr>
          <p:cNvPr id="18" name="Text 15"/>
          <p:cNvSpPr/>
          <p:nvPr/>
        </p:nvSpPr>
        <p:spPr>
          <a:xfrm>
            <a:off x="2331720" y="3977640"/>
            <a:ext cx="320040" cy="502920"/>
          </a:xfrm>
          <a:prstGeom prst="rect">
            <a:avLst/>
          </a:prstGeom>
          <a:noFill/>
          <a:ln/>
        </p:spPr>
        <p:txBody>
          <a:bodyPr wrap="square" rtlCol="0" anchor="ctr"/>
          <a:lstStyle/>
          <a:p>
            <a:pPr algn="ctr" indent="0" marL="0">
              <a:buNone/>
            </a:pPr>
            <a:r>
              <a:rPr lang="en-US" sz="1600" b="1" dirty="0">
                <a:solidFill>
                  <a:srgbClr val="C9821E"/>
                </a:solidFill>
                <a:latin typeface="Calibri" pitchFamily="34" charset="0"/>
                <a:ea typeface="Calibri" pitchFamily="34" charset="-122"/>
                <a:cs typeface="Calibri" pitchFamily="34" charset="-120"/>
              </a:rPr>
              <a:t>→</a:t>
            </a:r>
            <a:endParaRPr lang="en-US" sz="1600" dirty="0"/>
          </a:p>
        </p:txBody>
      </p:sp>
      <p:sp>
        <p:nvSpPr>
          <p:cNvPr id="19" name="Shape 16"/>
          <p:cNvSpPr/>
          <p:nvPr/>
        </p:nvSpPr>
        <p:spPr>
          <a:xfrm>
            <a:off x="2651760" y="3977640"/>
            <a:ext cx="1691640" cy="502920"/>
          </a:xfrm>
          <a:prstGeom prst="roundRect">
            <a:avLst>
              <a:gd name="adj" fmla="val 16364"/>
            </a:avLst>
          </a:prstGeom>
          <a:solidFill>
            <a:srgbClr val="1E2447"/>
          </a:solidFill>
          <a:ln/>
        </p:spPr>
      </p:sp>
      <p:sp>
        <p:nvSpPr>
          <p:cNvPr id="20" name="Text 17"/>
          <p:cNvSpPr/>
          <p:nvPr/>
        </p:nvSpPr>
        <p:spPr>
          <a:xfrm>
            <a:off x="2651760" y="3977640"/>
            <a:ext cx="1691640" cy="502920"/>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Believing</a:t>
            </a:r>
            <a:endParaRPr lang="en-US" sz="1250" dirty="0"/>
          </a:p>
        </p:txBody>
      </p:sp>
      <p:sp>
        <p:nvSpPr>
          <p:cNvPr id="21" name="Text 18"/>
          <p:cNvSpPr/>
          <p:nvPr/>
        </p:nvSpPr>
        <p:spPr>
          <a:xfrm>
            <a:off x="4343400" y="3977640"/>
            <a:ext cx="320040" cy="502920"/>
          </a:xfrm>
          <a:prstGeom prst="rect">
            <a:avLst/>
          </a:prstGeom>
          <a:noFill/>
          <a:ln/>
        </p:spPr>
        <p:txBody>
          <a:bodyPr wrap="square" rtlCol="0" anchor="ctr"/>
          <a:lstStyle/>
          <a:p>
            <a:pPr algn="ctr" indent="0" marL="0">
              <a:buNone/>
            </a:pPr>
            <a:r>
              <a:rPr lang="en-US" sz="1600" b="1" dirty="0">
                <a:solidFill>
                  <a:srgbClr val="C9821E"/>
                </a:solidFill>
                <a:latin typeface="Calibri" pitchFamily="34" charset="0"/>
                <a:ea typeface="Calibri" pitchFamily="34" charset="-122"/>
                <a:cs typeface="Calibri" pitchFamily="34" charset="-120"/>
              </a:rPr>
              <a:t>→</a:t>
            </a:r>
            <a:endParaRPr lang="en-US" sz="1600" dirty="0"/>
          </a:p>
        </p:txBody>
      </p:sp>
      <p:sp>
        <p:nvSpPr>
          <p:cNvPr id="22" name="Shape 19"/>
          <p:cNvSpPr/>
          <p:nvPr/>
        </p:nvSpPr>
        <p:spPr>
          <a:xfrm>
            <a:off x="4663440" y="3977640"/>
            <a:ext cx="1691640" cy="502920"/>
          </a:xfrm>
          <a:prstGeom prst="roundRect">
            <a:avLst>
              <a:gd name="adj" fmla="val 16364"/>
            </a:avLst>
          </a:prstGeom>
          <a:solidFill>
            <a:srgbClr val="1E2447"/>
          </a:solidFill>
          <a:ln/>
        </p:spPr>
      </p:sp>
      <p:sp>
        <p:nvSpPr>
          <p:cNvPr id="23" name="Text 20"/>
          <p:cNvSpPr/>
          <p:nvPr/>
        </p:nvSpPr>
        <p:spPr>
          <a:xfrm>
            <a:off x="4663440" y="3977640"/>
            <a:ext cx="1691640" cy="502920"/>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Recognising</a:t>
            </a:r>
            <a:endParaRPr lang="en-US" sz="1250" dirty="0"/>
          </a:p>
        </p:txBody>
      </p:sp>
      <p:sp>
        <p:nvSpPr>
          <p:cNvPr id="24" name="Text 21"/>
          <p:cNvSpPr/>
          <p:nvPr/>
        </p:nvSpPr>
        <p:spPr>
          <a:xfrm>
            <a:off x="6355080" y="3977640"/>
            <a:ext cx="320040" cy="502920"/>
          </a:xfrm>
          <a:prstGeom prst="rect">
            <a:avLst/>
          </a:prstGeom>
          <a:noFill/>
          <a:ln/>
        </p:spPr>
        <p:txBody>
          <a:bodyPr wrap="square" rtlCol="0" anchor="ctr"/>
          <a:lstStyle/>
          <a:p>
            <a:pPr algn="ctr" indent="0" marL="0">
              <a:buNone/>
            </a:pPr>
            <a:r>
              <a:rPr lang="en-US" sz="1600" b="1" dirty="0">
                <a:solidFill>
                  <a:srgbClr val="C9821E"/>
                </a:solidFill>
                <a:latin typeface="Calibri" pitchFamily="34" charset="0"/>
                <a:ea typeface="Calibri" pitchFamily="34" charset="-122"/>
                <a:cs typeface="Calibri" pitchFamily="34" charset="-120"/>
              </a:rPr>
              <a:t>→</a:t>
            </a:r>
            <a:endParaRPr lang="en-US" sz="1600" dirty="0"/>
          </a:p>
        </p:txBody>
      </p:sp>
      <p:sp>
        <p:nvSpPr>
          <p:cNvPr id="25" name="Shape 22"/>
          <p:cNvSpPr/>
          <p:nvPr/>
        </p:nvSpPr>
        <p:spPr>
          <a:xfrm>
            <a:off x="6675120" y="3977640"/>
            <a:ext cx="1691640" cy="502920"/>
          </a:xfrm>
          <a:prstGeom prst="roundRect">
            <a:avLst>
              <a:gd name="adj" fmla="val 16364"/>
            </a:avLst>
          </a:prstGeom>
          <a:solidFill>
            <a:srgbClr val="1E2447"/>
          </a:solidFill>
          <a:ln/>
        </p:spPr>
      </p:sp>
      <p:sp>
        <p:nvSpPr>
          <p:cNvPr id="26" name="Text 23"/>
          <p:cNvSpPr/>
          <p:nvPr/>
        </p:nvSpPr>
        <p:spPr>
          <a:xfrm>
            <a:off x="6675120" y="3977640"/>
            <a:ext cx="1691640" cy="502920"/>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Fulfilling</a:t>
            </a:r>
            <a:endParaRPr lang="en-US" sz="1250" dirty="0"/>
          </a:p>
        </p:txBody>
      </p:sp>
      <p:sp>
        <p:nvSpPr>
          <p:cNvPr id="27" name="Text 24"/>
          <p:cNvSpPr/>
          <p:nvPr/>
        </p:nvSpPr>
        <p:spPr>
          <a:xfrm>
            <a:off x="640080" y="4553712"/>
            <a:ext cx="7955280" cy="256032"/>
          </a:xfrm>
          <a:prstGeom prst="rect">
            <a:avLst/>
          </a:prstGeom>
          <a:noFill/>
          <a:ln/>
        </p:spPr>
        <p:txBody>
          <a:bodyPr wrap="square" lIns="0" tIns="0" rIns="0" bIns="0" rtlCol="0" anchor="ctr"/>
          <a:lstStyle/>
          <a:p>
            <a:pPr indent="0" marL="0">
              <a:buNone/>
            </a:pPr>
            <a:r>
              <a:rPr lang="en-US" sz="1100" i="1" dirty="0">
                <a:solidFill>
                  <a:srgbClr val="5A6377"/>
                </a:solidFill>
                <a:latin typeface="Calibri" pitchFamily="34" charset="0"/>
                <a:ea typeface="Calibri" pitchFamily="34" charset="-122"/>
                <a:cs typeface="Calibri" pitchFamily="34" charset="-120"/>
              </a:rPr>
              <a:t>Below the knowledge order fulfilment is definite; at the human order it must be achieved through this chain.</a:t>
            </a:r>
            <a:endParaRPr lang="en-US" sz="1100" dirty="0"/>
          </a:p>
        </p:txBody>
      </p:sp>
      <p:sp>
        <p:nvSpPr>
          <p:cNvPr id="28" name="Text 25"/>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MVD pp. 61–62, 27  ·  SB pp. 50, 53, 61  ·  JV p. 69</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§1.5</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The Four Orders of Nature</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7863840" cy="914400"/>
        </p:xfrm>
        <a:graphic>
          <a:graphicData uri="http://schemas.openxmlformats.org/drawingml/2006/table">
            <a:tbl>
              <a:tblPr/>
              <a:tblGrid>
                <a:gridCol w="1828800"/>
                <a:gridCol w="2651760"/>
                <a:gridCol w="2011680"/>
                <a:gridCol w="1371600"/>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Order</a:t>
                      </a:r>
                      <a:endParaRPr lang="en-US" sz="12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1E24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Essential nature (svabhav)</a:t>
                      </a:r>
                      <a:endParaRPr lang="en-US" sz="12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1E24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Dharma (cumulative)</a:t>
                      </a:r>
                      <a:endParaRPr lang="en-US" sz="12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1E24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1E2447"/>
                    </a:solidFill>
                  </a:tcPr>
                </a:tc>
              </a:tr>
              <a:tr h="502920">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Material (padarth)</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integration–disintegration</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existence (astitva)</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insentient (jada)</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r h="502920">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Bio / pranic (pran)</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vitalising–devitalising</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 growth (pushti)</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insentient (jada)</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r h="502920">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Animal (jeev)</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cruel–uncruel</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 hope to live (jeene ki aasha)</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sentient — jeevan appears</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r h="685800">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Knowledge / human (gyan)</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fortitude, courage, generosity, kindness, grace, compassion</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 happiness (sukh)</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sentient — awakening possible</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bl>
          </a:graphicData>
        </a:graphic>
      </p:graphicFrame>
      <p:sp>
        <p:nvSpPr>
          <p:cNvPr id="9" name="Shape 5"/>
          <p:cNvSpPr/>
          <p:nvPr/>
        </p:nvSpPr>
        <p:spPr>
          <a:xfrm>
            <a:off x="640080" y="4069080"/>
            <a:ext cx="7863840" cy="658368"/>
          </a:xfrm>
          <a:prstGeom prst="roundRect">
            <a:avLst>
              <a:gd name="adj" fmla="val 12500"/>
            </a:avLst>
          </a:prstGeom>
          <a:solidFill>
            <a:srgbClr val="FAF1DF"/>
          </a:solidFill>
          <a:ln/>
        </p:spPr>
      </p:sp>
      <p:sp>
        <p:nvSpPr>
          <p:cNvPr id="10" name="Text 6"/>
          <p:cNvSpPr/>
          <p:nvPr/>
        </p:nvSpPr>
        <p:spPr>
          <a:xfrm>
            <a:off x="868680" y="4069080"/>
            <a:ext cx="7406640" cy="658368"/>
          </a:xfrm>
          <a:prstGeom prst="rect">
            <a:avLst/>
          </a:prstGeom>
          <a:noFill/>
          <a:ln/>
        </p:spPr>
        <p:txBody>
          <a:bodyPr wrap="square" lIns="0" tIns="0" rIns="0" bIns="0" rtlCol="0" anchor="ctr"/>
          <a:lstStyle/>
          <a:p>
            <a:pPr indent="0" marL="0">
              <a:buNone/>
            </a:pPr>
            <a:r>
              <a:rPr lang="en-US" sz="1150" b="1" dirty="0">
                <a:solidFill>
                  <a:srgbClr val="9A6414"/>
                </a:solidFill>
                <a:latin typeface="Calibri" pitchFamily="34" charset="0"/>
                <a:ea typeface="Calibri" pitchFamily="34" charset="-122"/>
                <a:cs typeface="Calibri" pitchFamily="34" charset="-120"/>
              </a:rPr>
              <a:t xml:space="preserve">The sentience boundary lies between pran and jeev:  </a:t>
            </a:r>
            <a:pPr indent="0" marL="0">
              <a:buNone/>
            </a:pPr>
            <a:r>
              <a:rPr lang="en-US" sz="1150" dirty="0">
                <a:solidFill>
                  <a:srgbClr val="5A6377"/>
                </a:solidFill>
                <a:latin typeface="Calibri" pitchFamily="34" charset="0"/>
                <a:ea typeface="Calibri" pitchFamily="34" charset="-122"/>
                <a:cs typeface="Calibri" pitchFamily="34" charset="-120"/>
              </a:rPr>
              <a:t>hope to live is the defining activity of the sentient unit. Higher orders include the dharmas of lower orders cumulatively — each order a stable plateau, not a human typology.</a:t>
            </a:r>
            <a:endParaRPr lang="en-US" sz="1150" dirty="0"/>
          </a:p>
        </p:txBody>
      </p:sp>
      <p:sp>
        <p:nvSpPr>
          <p:cNvPr id="11" name="Text 7"/>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SB p. 179  ·  MVD pp. 5, 8, 13, 115  ·  JV p. 44</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§1.6 · EFFORT–MOTION–RESULT (SHRAM–GATI–PARINAM)</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The Completeness Drive</a:t>
            </a:r>
            <a:endParaRPr lang="en-US" sz="3000" dirty="0"/>
          </a:p>
        </p:txBody>
      </p:sp>
      <p:sp>
        <p:nvSpPr>
          <p:cNvPr id="8" name="Text 5"/>
          <p:cNvSpPr/>
          <p:nvPr/>
        </p:nvSpPr>
        <p:spPr>
          <a:xfrm>
            <a:off x="640080" y="1207008"/>
            <a:ext cx="7955280" cy="777240"/>
          </a:xfrm>
          <a:prstGeom prst="rect">
            <a:avLst/>
          </a:prstGeom>
          <a:noFill/>
          <a:ln/>
        </p:spPr>
        <p:txBody>
          <a:bodyPr wrap="square" lIns="0" tIns="0" rIns="0" bIns="0" rtlCol="0" anchor="ctr"/>
          <a:lstStyle/>
          <a:p>
            <a:pPr indent="0" marL="0">
              <a:buNone/>
            </a:pPr>
            <a:r>
              <a:rPr lang="en-US" sz="1250" dirty="0">
                <a:solidFill>
                  <a:srgbClr val="5A6377"/>
                </a:solidFill>
                <a:latin typeface="Calibri" pitchFamily="34" charset="0"/>
                <a:ea typeface="Calibri" pitchFamily="34" charset="-122"/>
                <a:cs typeface="Calibri" pitchFamily="34" charset="-120"/>
              </a:rPr>
              <a:t>Every unit, saturated in satta, carries a drive toward completeness — built into existence itself, not an ethic added to matter. The drive does not stop until what is soaked in satta comes to realise satta. All of nature develops; awakening happens in the sentient. And every activity is one inseparable triad — effort, motion, and result together, not three steps in a row.</a:t>
            </a:r>
            <a:endParaRPr lang="en-US" sz="1250" dirty="0"/>
          </a:p>
        </p:txBody>
      </p:sp>
      <p:sp>
        <p:nvSpPr>
          <p:cNvPr id="9" name="Shape 6"/>
          <p:cNvSpPr/>
          <p:nvPr/>
        </p:nvSpPr>
        <p:spPr>
          <a:xfrm>
            <a:off x="1234440" y="2240280"/>
            <a:ext cx="1417320" cy="1417320"/>
          </a:xfrm>
          <a:prstGeom prst="ellipse">
            <a:avLst/>
          </a:prstGeom>
          <a:solidFill>
            <a:srgbClr val="3B4A7A"/>
          </a:solidFill>
          <a:ln w="25400">
            <a:solidFill>
              <a:srgbClr val="FFFFFF"/>
            </a:solidFill>
            <a:prstDash val="solid"/>
          </a:ln>
        </p:spPr>
      </p:sp>
      <p:sp>
        <p:nvSpPr>
          <p:cNvPr id="10" name="Text 7"/>
          <p:cNvSpPr/>
          <p:nvPr/>
        </p:nvSpPr>
        <p:spPr>
          <a:xfrm>
            <a:off x="1234440" y="2240280"/>
            <a:ext cx="1417320" cy="141732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Effort</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(shram)</a:t>
            </a:r>
            <a:endParaRPr lang="en-US" sz="1200" dirty="0"/>
          </a:p>
        </p:txBody>
      </p:sp>
      <p:sp>
        <p:nvSpPr>
          <p:cNvPr id="11" name="Text 8"/>
          <p:cNvSpPr/>
          <p:nvPr/>
        </p:nvSpPr>
        <p:spPr>
          <a:xfrm>
            <a:off x="1005840" y="3794760"/>
            <a:ext cx="1874520" cy="548640"/>
          </a:xfrm>
          <a:prstGeom prst="rect">
            <a:avLst/>
          </a:prstGeom>
          <a:noFill/>
          <a:ln/>
        </p:spPr>
        <p:txBody>
          <a:bodyPr wrap="square" rtlCol="0" anchor="ctr"/>
          <a:lstStyle/>
          <a:p>
            <a:pPr algn="ctr" indent="0" marL="0">
              <a:buNone/>
            </a:pPr>
            <a:r>
              <a:rPr lang="en-US" sz="950" i="1" dirty="0">
                <a:solidFill>
                  <a:srgbClr val="5A6377"/>
                </a:solidFill>
                <a:latin typeface="Calibri" pitchFamily="34" charset="0"/>
                <a:ea typeface="Calibri" pitchFamily="34" charset="-122"/>
                <a:cs typeface="Calibri" pitchFamily="34" charset="-120"/>
              </a:rPr>
              <a:t>goal: restfulness of effort</a:t>
            </a:r>
            <a:endParaRPr lang="en-US" sz="950" dirty="0"/>
          </a:p>
          <a:p>
            <a:pPr algn="ctr" indent="0" marL="0">
              <a:buNone/>
            </a:pPr>
            <a:r>
              <a:rPr lang="en-US" sz="950" i="1" dirty="0">
                <a:solidFill>
                  <a:srgbClr val="5A6377"/>
                </a:solidFill>
                <a:latin typeface="Calibri" pitchFamily="34" charset="0"/>
                <a:ea typeface="Calibri" pitchFamily="34" charset="-122"/>
                <a:cs typeface="Calibri" pitchFamily="34" charset="-120"/>
              </a:rPr>
              <a:t>(shram ka vishram)</a:t>
            </a:r>
            <a:endParaRPr lang="en-US" sz="950" dirty="0"/>
          </a:p>
        </p:txBody>
      </p:sp>
      <p:sp>
        <p:nvSpPr>
          <p:cNvPr id="12" name="Shape 9"/>
          <p:cNvSpPr/>
          <p:nvPr/>
        </p:nvSpPr>
        <p:spPr>
          <a:xfrm>
            <a:off x="3063240" y="2240280"/>
            <a:ext cx="1417320" cy="1417320"/>
          </a:xfrm>
          <a:prstGeom prst="ellipse">
            <a:avLst/>
          </a:prstGeom>
          <a:solidFill>
            <a:srgbClr val="3B4A7A"/>
          </a:solidFill>
          <a:ln w="25400">
            <a:solidFill>
              <a:srgbClr val="FFFFFF"/>
            </a:solidFill>
            <a:prstDash val="solid"/>
          </a:ln>
        </p:spPr>
      </p:sp>
      <p:sp>
        <p:nvSpPr>
          <p:cNvPr id="13" name="Text 10"/>
          <p:cNvSpPr/>
          <p:nvPr/>
        </p:nvSpPr>
        <p:spPr>
          <a:xfrm>
            <a:off x="3063240" y="2240280"/>
            <a:ext cx="1417320" cy="141732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Motion</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(gati)</a:t>
            </a:r>
            <a:endParaRPr lang="en-US" sz="1200" dirty="0"/>
          </a:p>
        </p:txBody>
      </p:sp>
      <p:sp>
        <p:nvSpPr>
          <p:cNvPr id="14" name="Text 11"/>
          <p:cNvSpPr/>
          <p:nvPr/>
        </p:nvSpPr>
        <p:spPr>
          <a:xfrm>
            <a:off x="2834640" y="3794760"/>
            <a:ext cx="1874520" cy="548640"/>
          </a:xfrm>
          <a:prstGeom prst="rect">
            <a:avLst/>
          </a:prstGeom>
          <a:noFill/>
          <a:ln/>
        </p:spPr>
        <p:txBody>
          <a:bodyPr wrap="square" rtlCol="0" anchor="ctr"/>
          <a:lstStyle/>
          <a:p>
            <a:pPr algn="ctr" indent="0" marL="0">
              <a:buNone/>
            </a:pPr>
            <a:r>
              <a:rPr lang="en-US" sz="950" i="1" dirty="0">
                <a:solidFill>
                  <a:srgbClr val="5A6377"/>
                </a:solidFill>
                <a:latin typeface="Calibri" pitchFamily="34" charset="0"/>
                <a:ea typeface="Calibri" pitchFamily="34" charset="-122"/>
                <a:cs typeface="Calibri" pitchFamily="34" charset="-120"/>
              </a:rPr>
              <a:t>goal: destination of motion</a:t>
            </a:r>
            <a:endParaRPr lang="en-US" sz="950" dirty="0"/>
          </a:p>
          <a:p>
            <a:pPr algn="ctr" indent="0" marL="0">
              <a:buNone/>
            </a:pPr>
            <a:r>
              <a:rPr lang="en-US" sz="950" i="1" dirty="0">
                <a:solidFill>
                  <a:srgbClr val="5A6377"/>
                </a:solidFill>
                <a:latin typeface="Calibri" pitchFamily="34" charset="0"/>
                <a:ea typeface="Calibri" pitchFamily="34" charset="-122"/>
                <a:cs typeface="Calibri" pitchFamily="34" charset="-120"/>
              </a:rPr>
              <a:t>(gati ka gantavya)</a:t>
            </a:r>
            <a:endParaRPr lang="en-US" sz="950" dirty="0"/>
          </a:p>
        </p:txBody>
      </p:sp>
      <p:sp>
        <p:nvSpPr>
          <p:cNvPr id="15" name="Shape 12"/>
          <p:cNvSpPr/>
          <p:nvPr/>
        </p:nvSpPr>
        <p:spPr>
          <a:xfrm>
            <a:off x="4892040" y="2240280"/>
            <a:ext cx="1417320" cy="1417320"/>
          </a:xfrm>
          <a:prstGeom prst="ellipse">
            <a:avLst/>
          </a:prstGeom>
          <a:solidFill>
            <a:srgbClr val="C9821E"/>
          </a:solidFill>
          <a:ln w="25400">
            <a:solidFill>
              <a:srgbClr val="FFFFFF"/>
            </a:solidFill>
            <a:prstDash val="solid"/>
          </a:ln>
        </p:spPr>
      </p:sp>
      <p:sp>
        <p:nvSpPr>
          <p:cNvPr id="16" name="Text 13"/>
          <p:cNvSpPr/>
          <p:nvPr/>
        </p:nvSpPr>
        <p:spPr>
          <a:xfrm>
            <a:off x="4892040" y="2240280"/>
            <a:ext cx="1417320" cy="141732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(parinam)</a:t>
            </a:r>
            <a:endParaRPr lang="en-US" sz="1200" dirty="0"/>
          </a:p>
        </p:txBody>
      </p:sp>
      <p:sp>
        <p:nvSpPr>
          <p:cNvPr id="17" name="Text 14"/>
          <p:cNvSpPr/>
          <p:nvPr/>
        </p:nvSpPr>
        <p:spPr>
          <a:xfrm>
            <a:off x="4663440" y="3794760"/>
            <a:ext cx="1874520" cy="548640"/>
          </a:xfrm>
          <a:prstGeom prst="rect">
            <a:avLst/>
          </a:prstGeom>
          <a:noFill/>
          <a:ln/>
        </p:spPr>
        <p:txBody>
          <a:bodyPr wrap="square" rtlCol="0" anchor="ctr"/>
          <a:lstStyle/>
          <a:p>
            <a:pPr algn="ctr" indent="0" marL="0">
              <a:buNone/>
            </a:pPr>
            <a:r>
              <a:rPr lang="en-US" sz="950" i="1" dirty="0">
                <a:solidFill>
                  <a:srgbClr val="5A6377"/>
                </a:solidFill>
                <a:latin typeface="Calibri" pitchFamily="34" charset="0"/>
                <a:ea typeface="Calibri" pitchFamily="34" charset="-122"/>
                <a:cs typeface="Calibri" pitchFamily="34" charset="-120"/>
              </a:rPr>
              <a:t>goal: immortality of result</a:t>
            </a:r>
            <a:endParaRPr lang="en-US" sz="950" dirty="0"/>
          </a:p>
          <a:p>
            <a:pPr algn="ctr" indent="0" marL="0">
              <a:buNone/>
            </a:pPr>
            <a:r>
              <a:rPr lang="en-US" sz="950" i="1" dirty="0">
                <a:solidFill>
                  <a:srgbClr val="5A6377"/>
                </a:solidFill>
                <a:latin typeface="Calibri" pitchFamily="34" charset="0"/>
                <a:ea typeface="Calibri" pitchFamily="34" charset="-122"/>
                <a:cs typeface="Calibri" pitchFamily="34" charset="-120"/>
              </a:rPr>
              <a:t>(parinam ki amarta)</a:t>
            </a:r>
            <a:endParaRPr lang="en-US" sz="950" dirty="0"/>
          </a:p>
        </p:txBody>
      </p:sp>
      <p:sp>
        <p:nvSpPr>
          <p:cNvPr id="18" name="Shape 15"/>
          <p:cNvSpPr/>
          <p:nvPr/>
        </p:nvSpPr>
        <p:spPr>
          <a:xfrm>
            <a:off x="6720840" y="2148840"/>
            <a:ext cx="1965960" cy="2240280"/>
          </a:xfrm>
          <a:prstGeom prst="roundRect">
            <a:avLst>
              <a:gd name="adj" fmla="val 4651"/>
            </a:avLst>
          </a:prstGeom>
          <a:solidFill>
            <a:srgbClr val="EEF1F8"/>
          </a:solidFill>
          <a:ln/>
          <a:effectLst>
            <a:outerShdw sx="100000" sy="100000" kx="0" ky="0" algn="bl" rotWithShape="0" blurRad="88900" dist="25400" dir="2700000">
              <a:srgbClr val="000000">
                <a:alpha val="13000"/>
              </a:srgbClr>
            </a:outerShdw>
          </a:effectLst>
        </p:spPr>
      </p:sp>
      <p:sp>
        <p:nvSpPr>
          <p:cNvPr id="19" name="Text 16"/>
          <p:cNvSpPr/>
          <p:nvPr/>
        </p:nvSpPr>
        <p:spPr>
          <a:xfrm>
            <a:off x="6903720" y="2331720"/>
            <a:ext cx="1627632" cy="1920240"/>
          </a:xfrm>
          <a:prstGeom prst="rect">
            <a:avLst/>
          </a:prstGeom>
          <a:noFill/>
          <a:ln/>
        </p:spPr>
        <p:txBody>
          <a:bodyPr wrap="square" lIns="0" tIns="0" rIns="0" bIns="0" rtlCol="0" anchor="t"/>
          <a:lstStyle/>
          <a:p>
            <a:pPr indent="0" marL="0">
              <a:spcAft>
                <a:spcPts val="600"/>
              </a:spcAft>
              <a:buNone/>
            </a:pPr>
            <a:r>
              <a:rPr lang="en-US" sz="1250" b="1" dirty="0">
                <a:solidFill>
                  <a:srgbClr val="1E2447"/>
                </a:solidFill>
                <a:latin typeface="Calibri" pitchFamily="34" charset="0"/>
                <a:ea typeface="Calibri" pitchFamily="34" charset="-122"/>
                <a:cs typeface="Calibri" pitchFamily="34" charset="-120"/>
              </a:rPr>
              <a:t>Two atomic paths</a:t>
            </a:r>
            <a:endParaRPr lang="en-US" sz="1250" dirty="0"/>
          </a:p>
          <a:p>
            <a:pPr indent="0" marL="0">
              <a:spcAft>
                <a:spcPts val="600"/>
              </a:spcAft>
              <a:buNone/>
            </a:pPr>
            <a:r>
              <a:rPr lang="en-US" sz="1000" dirty="0">
                <a:solidFill>
                  <a:srgbClr val="5A6377"/>
                </a:solidFill>
                <a:latin typeface="Calibri" pitchFamily="34" charset="0"/>
                <a:ea typeface="Calibri" pitchFamily="34" charset="-122"/>
                <a:cs typeface="Calibri" pitchFamily="34" charset="-120"/>
              </a:rPr>
              <a:t>Insentient atom: triad drives exchange toward constitutional completeness (T1).</a:t>
            </a:r>
            <a:endParaRPr lang="en-US" sz="1250" dirty="0"/>
          </a:p>
          <a:p>
            <a:pPr indent="0" marL="0">
              <a:buNone/>
            </a:pPr>
            <a:r>
              <a:rPr lang="en-US" sz="1000" dirty="0">
                <a:solidFill>
                  <a:srgbClr val="5A6377"/>
                </a:solidFill>
                <a:latin typeface="Calibri" pitchFamily="34" charset="0"/>
                <a:ea typeface="Calibri" pitchFamily="34" charset="-122"/>
                <a:cs typeface="Calibri" pitchFamily="34" charset="-120"/>
              </a:rPr>
              <a:t>Jeevan atom: triad works through projection–reflection toward T2 and T3.</a:t>
            </a:r>
            <a:endParaRPr lang="en-US" sz="1250" dirty="0"/>
          </a:p>
        </p:txBody>
      </p:sp>
      <p:sp>
        <p:nvSpPr>
          <p:cNvPr id="20" name="Text 17"/>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“Saturation … itself is forcefulness … basic impulsion … activity … effort-motion-result … development” — SB p. 62; also SB pp. 51, 53, 58, 71, 91; MVD p. 104</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§1.6</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Three Completeness Transitions: T1, T2, T3</a:t>
            </a:r>
            <a:endParaRPr lang="en-US" sz="3000" dirty="0"/>
          </a:p>
        </p:txBody>
      </p:sp>
      <p:sp>
        <p:nvSpPr>
          <p:cNvPr id="8" name="Shape 5"/>
          <p:cNvSpPr/>
          <p:nvPr/>
        </p:nvSpPr>
        <p:spPr>
          <a:xfrm>
            <a:off x="475488" y="1463040"/>
            <a:ext cx="1664208" cy="960120"/>
          </a:xfrm>
          <a:prstGeom prst="roundRect">
            <a:avLst>
              <a:gd name="adj" fmla="val 8571"/>
            </a:avLst>
          </a:prstGeom>
          <a:solidFill>
            <a:srgbClr val="3B4A7A"/>
          </a:solidFill>
          <a:ln/>
          <a:effectLst>
            <a:outerShdw sx="100000" sy="100000" kx="0" ky="0" algn="bl" rotWithShape="0" blurRad="88900" dist="25400" dir="2700000">
              <a:srgbClr val="000000">
                <a:alpha val="13000"/>
              </a:srgbClr>
            </a:outerShdw>
          </a:effectLst>
        </p:spPr>
      </p:sp>
      <p:sp>
        <p:nvSpPr>
          <p:cNvPr id="9" name="Text 6"/>
          <p:cNvSpPr/>
          <p:nvPr/>
        </p:nvSpPr>
        <p:spPr>
          <a:xfrm>
            <a:off x="475488" y="1554480"/>
            <a:ext cx="1664208" cy="320040"/>
          </a:xfrm>
          <a:prstGeom prst="rect">
            <a:avLst/>
          </a:prstGeom>
          <a:noFill/>
          <a:ln/>
        </p:spPr>
        <p:txBody>
          <a:bodyPr wrap="square"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Physicochemical</a:t>
            </a:r>
            <a:endParaRPr lang="en-US" sz="1250" dirty="0"/>
          </a:p>
        </p:txBody>
      </p:sp>
      <p:sp>
        <p:nvSpPr>
          <p:cNvPr id="10" name="Text 7"/>
          <p:cNvSpPr/>
          <p:nvPr/>
        </p:nvSpPr>
        <p:spPr>
          <a:xfrm>
            <a:off x="530352" y="1874520"/>
            <a:ext cx="1554480" cy="502920"/>
          </a:xfrm>
          <a:prstGeom prst="rect">
            <a:avLst/>
          </a:prstGeom>
          <a:noFill/>
          <a:ln/>
        </p:spPr>
        <p:txBody>
          <a:bodyPr wrap="square" rtlCol="0" anchor="ctr"/>
          <a:lstStyle/>
          <a:p>
            <a:pPr algn="ctr" indent="0" marL="0">
              <a:buNone/>
            </a:pPr>
            <a:r>
              <a:rPr lang="en-US" sz="880" i="1" dirty="0">
                <a:solidFill>
                  <a:srgbClr val="C9D4EF"/>
                </a:solidFill>
                <a:latin typeface="Calibri" pitchFamily="34" charset="0"/>
                <a:ea typeface="Calibri" pitchFamily="34" charset="-122"/>
                <a:cs typeface="Calibri" pitchFamily="34" charset="-120"/>
              </a:rPr>
              <a:t>insentient development</a:t>
            </a:r>
            <a:endParaRPr lang="en-US" sz="880" dirty="0"/>
          </a:p>
        </p:txBody>
      </p:sp>
      <p:sp>
        <p:nvSpPr>
          <p:cNvPr id="11" name="Shape 8"/>
          <p:cNvSpPr/>
          <p:nvPr/>
        </p:nvSpPr>
        <p:spPr>
          <a:xfrm>
            <a:off x="2194560" y="1700784"/>
            <a:ext cx="457200" cy="457200"/>
          </a:xfrm>
          <a:prstGeom prst="ellipse">
            <a:avLst/>
          </a:prstGeom>
          <a:solidFill>
            <a:srgbClr val="C9821E"/>
          </a:solidFill>
          <a:ln/>
        </p:spPr>
      </p:sp>
      <p:sp>
        <p:nvSpPr>
          <p:cNvPr id="12" name="Text 9"/>
          <p:cNvSpPr/>
          <p:nvPr/>
        </p:nvSpPr>
        <p:spPr>
          <a:xfrm>
            <a:off x="2194560" y="1700784"/>
            <a:ext cx="45720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T1</a:t>
            </a:r>
            <a:endParaRPr lang="en-US" sz="1200" dirty="0"/>
          </a:p>
        </p:txBody>
      </p:sp>
      <p:sp>
        <p:nvSpPr>
          <p:cNvPr id="13" name="Shape 10"/>
          <p:cNvSpPr/>
          <p:nvPr/>
        </p:nvSpPr>
        <p:spPr>
          <a:xfrm>
            <a:off x="2706624" y="1463040"/>
            <a:ext cx="1664208" cy="960120"/>
          </a:xfrm>
          <a:prstGeom prst="roundRect">
            <a:avLst>
              <a:gd name="adj" fmla="val 8571"/>
            </a:avLst>
          </a:prstGeom>
          <a:solidFill>
            <a:srgbClr val="1E2447"/>
          </a:solidFill>
          <a:ln/>
          <a:effectLst>
            <a:outerShdw sx="100000" sy="100000" kx="0" ky="0" algn="bl" rotWithShape="0" blurRad="88900" dist="25400" dir="2700000">
              <a:srgbClr val="000000">
                <a:alpha val="13000"/>
              </a:srgbClr>
            </a:outerShdw>
          </a:effectLst>
        </p:spPr>
      </p:sp>
      <p:sp>
        <p:nvSpPr>
          <p:cNvPr id="14" name="Text 11"/>
          <p:cNvSpPr/>
          <p:nvPr/>
        </p:nvSpPr>
        <p:spPr>
          <a:xfrm>
            <a:off x="2706624" y="1554480"/>
            <a:ext cx="1664208" cy="320040"/>
          </a:xfrm>
          <a:prstGeom prst="rect">
            <a:avLst/>
          </a:prstGeom>
          <a:noFill/>
          <a:ln/>
        </p:spPr>
        <p:txBody>
          <a:bodyPr wrap="square"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Delusional</a:t>
            </a:r>
            <a:endParaRPr lang="en-US" sz="1250" dirty="0"/>
          </a:p>
        </p:txBody>
      </p:sp>
      <p:sp>
        <p:nvSpPr>
          <p:cNvPr id="15" name="Text 12"/>
          <p:cNvSpPr/>
          <p:nvPr/>
        </p:nvSpPr>
        <p:spPr>
          <a:xfrm>
            <a:off x="2761488" y="1874520"/>
            <a:ext cx="1554480" cy="502920"/>
          </a:xfrm>
          <a:prstGeom prst="rect">
            <a:avLst/>
          </a:prstGeom>
          <a:noFill/>
          <a:ln/>
        </p:spPr>
        <p:txBody>
          <a:bodyPr wrap="square" rtlCol="0" anchor="ctr"/>
          <a:lstStyle/>
          <a:p>
            <a:pPr algn="ctr" indent="0" marL="0">
              <a:buNone/>
            </a:pPr>
            <a:r>
              <a:rPr lang="en-US" sz="880" i="1" dirty="0">
                <a:solidFill>
                  <a:srgbClr val="C9D4EF"/>
                </a:solidFill>
                <a:latin typeface="Calibri" pitchFamily="34" charset="0"/>
                <a:ea typeface="Calibri" pitchFamily="34" charset="-122"/>
                <a:cs typeface="Calibri" pitchFamily="34" charset="-120"/>
              </a:rPr>
              <a:t>sentient; body mistaken for self</a:t>
            </a:r>
            <a:endParaRPr lang="en-US" sz="880" dirty="0"/>
          </a:p>
        </p:txBody>
      </p:sp>
      <p:sp>
        <p:nvSpPr>
          <p:cNvPr id="16" name="Shape 13"/>
          <p:cNvSpPr/>
          <p:nvPr/>
        </p:nvSpPr>
        <p:spPr>
          <a:xfrm>
            <a:off x="4425696" y="1700784"/>
            <a:ext cx="457200" cy="457200"/>
          </a:xfrm>
          <a:prstGeom prst="ellipse">
            <a:avLst/>
          </a:prstGeom>
          <a:solidFill>
            <a:srgbClr val="C9821E"/>
          </a:solidFill>
          <a:ln/>
        </p:spPr>
      </p:sp>
      <p:sp>
        <p:nvSpPr>
          <p:cNvPr id="17" name="Text 14"/>
          <p:cNvSpPr/>
          <p:nvPr/>
        </p:nvSpPr>
        <p:spPr>
          <a:xfrm>
            <a:off x="4425696" y="1700784"/>
            <a:ext cx="45720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T2</a:t>
            </a:r>
            <a:endParaRPr lang="en-US" sz="1200" dirty="0"/>
          </a:p>
        </p:txBody>
      </p:sp>
      <p:sp>
        <p:nvSpPr>
          <p:cNvPr id="18" name="Shape 15"/>
          <p:cNvSpPr/>
          <p:nvPr/>
        </p:nvSpPr>
        <p:spPr>
          <a:xfrm>
            <a:off x="4937760" y="1463040"/>
            <a:ext cx="1664208" cy="960120"/>
          </a:xfrm>
          <a:prstGeom prst="roundRect">
            <a:avLst>
              <a:gd name="adj" fmla="val 8571"/>
            </a:avLst>
          </a:prstGeom>
          <a:solidFill>
            <a:srgbClr val="1E2447"/>
          </a:solidFill>
          <a:ln/>
          <a:effectLst>
            <a:outerShdw sx="100000" sy="100000" kx="0" ky="0" algn="bl" rotWithShape="0" blurRad="88900" dist="25400" dir="2700000">
              <a:srgbClr val="000000">
                <a:alpha val="13000"/>
              </a:srgbClr>
            </a:outerShdw>
          </a:effectLst>
        </p:spPr>
      </p:sp>
      <p:sp>
        <p:nvSpPr>
          <p:cNvPr id="19" name="Text 16"/>
          <p:cNvSpPr/>
          <p:nvPr/>
        </p:nvSpPr>
        <p:spPr>
          <a:xfrm>
            <a:off x="4937760" y="1554480"/>
            <a:ext cx="1664208" cy="320040"/>
          </a:xfrm>
          <a:prstGeom prst="rect">
            <a:avLst/>
          </a:prstGeom>
          <a:noFill/>
          <a:ln/>
        </p:spPr>
        <p:txBody>
          <a:bodyPr wrap="square"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Deific</a:t>
            </a:r>
            <a:endParaRPr lang="en-US" sz="1250" dirty="0"/>
          </a:p>
        </p:txBody>
      </p:sp>
      <p:sp>
        <p:nvSpPr>
          <p:cNvPr id="20" name="Text 17"/>
          <p:cNvSpPr/>
          <p:nvPr/>
        </p:nvSpPr>
        <p:spPr>
          <a:xfrm>
            <a:off x="4992624" y="1874520"/>
            <a:ext cx="1554480" cy="502920"/>
          </a:xfrm>
          <a:prstGeom prst="rect">
            <a:avLst/>
          </a:prstGeom>
          <a:noFill/>
          <a:ln/>
        </p:spPr>
        <p:txBody>
          <a:bodyPr wrap="square" rtlCol="0" anchor="ctr"/>
          <a:lstStyle/>
          <a:p>
            <a:pPr algn="ctr" indent="0" marL="0">
              <a:buNone/>
            </a:pPr>
            <a:r>
              <a:rPr lang="en-US" sz="880" i="1" dirty="0">
                <a:solidFill>
                  <a:srgbClr val="C9D4EF"/>
                </a:solidFill>
                <a:latin typeface="Calibri" pitchFamily="34" charset="0"/>
                <a:ea typeface="Calibri" pitchFamily="34" charset="-122"/>
                <a:cs typeface="Calibri" pitchFamily="34" charset="-120"/>
              </a:rPr>
              <a:t>awakening human</a:t>
            </a:r>
            <a:endParaRPr lang="en-US" sz="880" dirty="0"/>
          </a:p>
        </p:txBody>
      </p:sp>
      <p:sp>
        <p:nvSpPr>
          <p:cNvPr id="21" name="Shape 18"/>
          <p:cNvSpPr/>
          <p:nvPr/>
        </p:nvSpPr>
        <p:spPr>
          <a:xfrm>
            <a:off x="6656832" y="1700784"/>
            <a:ext cx="457200" cy="457200"/>
          </a:xfrm>
          <a:prstGeom prst="ellipse">
            <a:avLst/>
          </a:prstGeom>
          <a:solidFill>
            <a:srgbClr val="C9821E"/>
          </a:solidFill>
          <a:ln/>
        </p:spPr>
      </p:sp>
      <p:sp>
        <p:nvSpPr>
          <p:cNvPr id="22" name="Text 19"/>
          <p:cNvSpPr/>
          <p:nvPr/>
        </p:nvSpPr>
        <p:spPr>
          <a:xfrm>
            <a:off x="6656832" y="1700784"/>
            <a:ext cx="45720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T3</a:t>
            </a:r>
            <a:endParaRPr lang="en-US" sz="1200" dirty="0"/>
          </a:p>
        </p:txBody>
      </p:sp>
      <p:sp>
        <p:nvSpPr>
          <p:cNvPr id="23" name="Shape 20"/>
          <p:cNvSpPr/>
          <p:nvPr/>
        </p:nvSpPr>
        <p:spPr>
          <a:xfrm>
            <a:off x="7168896" y="1463040"/>
            <a:ext cx="1664208" cy="960120"/>
          </a:xfrm>
          <a:prstGeom prst="roundRect">
            <a:avLst>
              <a:gd name="adj" fmla="val 8571"/>
            </a:avLst>
          </a:prstGeom>
          <a:solidFill>
            <a:srgbClr val="1E2447"/>
          </a:solidFill>
          <a:ln/>
          <a:effectLst>
            <a:outerShdw sx="100000" sy="100000" kx="0" ky="0" algn="bl" rotWithShape="0" blurRad="88900" dist="25400" dir="2700000">
              <a:srgbClr val="000000">
                <a:alpha val="13000"/>
              </a:srgbClr>
            </a:outerShdw>
          </a:effectLst>
        </p:spPr>
      </p:sp>
      <p:sp>
        <p:nvSpPr>
          <p:cNvPr id="24" name="Text 21"/>
          <p:cNvSpPr/>
          <p:nvPr/>
        </p:nvSpPr>
        <p:spPr>
          <a:xfrm>
            <a:off x="7168896" y="1554480"/>
            <a:ext cx="1664208" cy="320040"/>
          </a:xfrm>
          <a:prstGeom prst="rect">
            <a:avLst/>
          </a:prstGeom>
          <a:noFill/>
          <a:ln/>
        </p:spPr>
        <p:txBody>
          <a:bodyPr wrap="square"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Divine (complete)</a:t>
            </a:r>
            <a:endParaRPr lang="en-US" sz="1250" dirty="0"/>
          </a:p>
        </p:txBody>
      </p:sp>
      <p:sp>
        <p:nvSpPr>
          <p:cNvPr id="25" name="Text 22"/>
          <p:cNvSpPr/>
          <p:nvPr/>
        </p:nvSpPr>
        <p:spPr>
          <a:xfrm>
            <a:off x="7223760" y="1874520"/>
            <a:ext cx="1554480" cy="502920"/>
          </a:xfrm>
          <a:prstGeom prst="rect">
            <a:avLst/>
          </a:prstGeom>
          <a:noFill/>
          <a:ln/>
        </p:spPr>
        <p:txBody>
          <a:bodyPr wrap="square" rtlCol="0" anchor="ctr"/>
          <a:lstStyle/>
          <a:p>
            <a:pPr algn="ctr" indent="0" marL="0">
              <a:buNone/>
            </a:pPr>
            <a:r>
              <a:rPr lang="en-US" sz="880" i="1" dirty="0">
                <a:solidFill>
                  <a:srgbClr val="C9D4EF"/>
                </a:solidFill>
                <a:latin typeface="Calibri" pitchFamily="34" charset="0"/>
                <a:ea typeface="Calibri" pitchFamily="34" charset="-122"/>
                <a:cs typeface="Calibri" pitchFamily="34" charset="-120"/>
              </a:rPr>
              <a:t>living proof of coexistence</a:t>
            </a:r>
            <a:endParaRPr lang="en-US" sz="880" dirty="0"/>
          </a:p>
        </p:txBody>
      </p:sp>
      <p:sp>
        <p:nvSpPr>
          <p:cNvPr id="26" name="Shape 23"/>
          <p:cNvSpPr/>
          <p:nvPr/>
        </p:nvSpPr>
        <p:spPr>
          <a:xfrm>
            <a:off x="640080" y="2770632"/>
            <a:ext cx="384048" cy="384048"/>
          </a:xfrm>
          <a:prstGeom prst="ellipse">
            <a:avLst/>
          </a:prstGeom>
          <a:solidFill>
            <a:srgbClr val="C9821E"/>
          </a:solidFill>
          <a:ln/>
        </p:spPr>
      </p:sp>
      <p:sp>
        <p:nvSpPr>
          <p:cNvPr id="27" name="Text 24"/>
          <p:cNvSpPr/>
          <p:nvPr/>
        </p:nvSpPr>
        <p:spPr>
          <a:xfrm>
            <a:off x="640080" y="2770632"/>
            <a:ext cx="384048" cy="384048"/>
          </a:xfrm>
          <a:prstGeom prst="rect">
            <a:avLst/>
          </a:prstGeom>
          <a:noFill/>
          <a:ln/>
        </p:spPr>
        <p:txBody>
          <a:bodyPr wrap="square"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T1</a:t>
            </a:r>
            <a:endParaRPr lang="en-US" sz="1150" dirty="0"/>
          </a:p>
        </p:txBody>
      </p:sp>
      <p:sp>
        <p:nvSpPr>
          <p:cNvPr id="28" name="Text 25"/>
          <p:cNvSpPr/>
          <p:nvPr/>
        </p:nvSpPr>
        <p:spPr>
          <a:xfrm>
            <a:off x="1188720" y="2743200"/>
            <a:ext cx="7406640" cy="502920"/>
          </a:xfrm>
          <a:prstGeom prst="rect">
            <a:avLst/>
          </a:prstGeom>
          <a:noFill/>
          <a:ln/>
        </p:spPr>
        <p:txBody>
          <a:bodyPr wrap="square" lIns="0" tIns="0" rIns="0" bIns="0" rtlCol="0" anchor="ctr"/>
          <a:lstStyle/>
          <a:p>
            <a:pPr indent="0" marL="0">
              <a:buNone/>
            </a:pPr>
            <a:r>
              <a:rPr lang="en-US" sz="1200" dirty="0">
                <a:solidFill>
                  <a:srgbClr val="5A6377"/>
                </a:solidFill>
                <a:latin typeface="Calibri" pitchFamily="34" charset="0"/>
                <a:ea typeface="Calibri" pitchFamily="34" charset="-122"/>
                <a:cs typeface="Calibri" pitchFamily="34" charset="-120"/>
              </a:rPr>
              <a:t>Constitutional completeness (gathanpurnata) — immortality of result; sentient jeevan appears</a:t>
            </a:r>
            <a:endParaRPr lang="en-US" sz="1200" dirty="0"/>
          </a:p>
        </p:txBody>
      </p:sp>
      <p:sp>
        <p:nvSpPr>
          <p:cNvPr id="29" name="Shape 26"/>
          <p:cNvSpPr/>
          <p:nvPr/>
        </p:nvSpPr>
        <p:spPr>
          <a:xfrm>
            <a:off x="640080" y="3374136"/>
            <a:ext cx="384048" cy="384048"/>
          </a:xfrm>
          <a:prstGeom prst="ellipse">
            <a:avLst/>
          </a:prstGeom>
          <a:solidFill>
            <a:srgbClr val="C9821E"/>
          </a:solidFill>
          <a:ln/>
        </p:spPr>
      </p:sp>
      <p:sp>
        <p:nvSpPr>
          <p:cNvPr id="30" name="Text 27"/>
          <p:cNvSpPr/>
          <p:nvPr/>
        </p:nvSpPr>
        <p:spPr>
          <a:xfrm>
            <a:off x="640080" y="3374136"/>
            <a:ext cx="384048" cy="384048"/>
          </a:xfrm>
          <a:prstGeom prst="rect">
            <a:avLst/>
          </a:prstGeom>
          <a:noFill/>
          <a:ln/>
        </p:spPr>
        <p:txBody>
          <a:bodyPr wrap="square"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T2</a:t>
            </a:r>
            <a:endParaRPr lang="en-US" sz="1150" dirty="0"/>
          </a:p>
        </p:txBody>
      </p:sp>
      <p:sp>
        <p:nvSpPr>
          <p:cNvPr id="31" name="Text 28"/>
          <p:cNvSpPr/>
          <p:nvPr/>
        </p:nvSpPr>
        <p:spPr>
          <a:xfrm>
            <a:off x="1188720" y="3346704"/>
            <a:ext cx="7406640" cy="502920"/>
          </a:xfrm>
          <a:prstGeom prst="rect">
            <a:avLst/>
          </a:prstGeom>
          <a:noFill/>
          <a:ln/>
        </p:spPr>
        <p:txBody>
          <a:bodyPr wrap="square" lIns="0" tIns="0" rIns="0" bIns="0" rtlCol="0" anchor="ctr"/>
          <a:lstStyle/>
          <a:p>
            <a:pPr indent="0" marL="0">
              <a:buNone/>
            </a:pPr>
            <a:r>
              <a:rPr lang="en-US" sz="1200" dirty="0">
                <a:solidFill>
                  <a:srgbClr val="5A6377"/>
                </a:solidFill>
                <a:latin typeface="Calibri" pitchFamily="34" charset="0"/>
                <a:ea typeface="Calibri" pitchFamily="34" charset="-122"/>
                <a:cs typeface="Calibri" pitchFamily="34" charset="-120"/>
              </a:rPr>
              <a:t>Activity completeness (kriyapurnata) — restfulness of effort; direct realisation, absolute resolution (samadhan)</a:t>
            </a:r>
            <a:endParaRPr lang="en-US" sz="1200" dirty="0"/>
          </a:p>
        </p:txBody>
      </p:sp>
      <p:sp>
        <p:nvSpPr>
          <p:cNvPr id="32" name="Shape 29"/>
          <p:cNvSpPr/>
          <p:nvPr/>
        </p:nvSpPr>
        <p:spPr>
          <a:xfrm>
            <a:off x="640080" y="3977640"/>
            <a:ext cx="384048" cy="384048"/>
          </a:xfrm>
          <a:prstGeom prst="ellipse">
            <a:avLst/>
          </a:prstGeom>
          <a:solidFill>
            <a:srgbClr val="C9821E"/>
          </a:solidFill>
          <a:ln/>
        </p:spPr>
      </p:sp>
      <p:sp>
        <p:nvSpPr>
          <p:cNvPr id="33" name="Text 30"/>
          <p:cNvSpPr/>
          <p:nvPr/>
        </p:nvSpPr>
        <p:spPr>
          <a:xfrm>
            <a:off x="640080" y="3977640"/>
            <a:ext cx="384048" cy="384048"/>
          </a:xfrm>
          <a:prstGeom prst="rect">
            <a:avLst/>
          </a:prstGeom>
          <a:noFill/>
          <a:ln/>
        </p:spPr>
        <p:txBody>
          <a:bodyPr wrap="square"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T3</a:t>
            </a:r>
            <a:endParaRPr lang="en-US" sz="1150" dirty="0"/>
          </a:p>
        </p:txBody>
      </p:sp>
      <p:sp>
        <p:nvSpPr>
          <p:cNvPr id="34" name="Text 31"/>
          <p:cNvSpPr/>
          <p:nvPr/>
        </p:nvSpPr>
        <p:spPr>
          <a:xfrm>
            <a:off x="1188720" y="3950208"/>
            <a:ext cx="7406640" cy="502920"/>
          </a:xfrm>
          <a:prstGeom prst="rect">
            <a:avLst/>
          </a:prstGeom>
          <a:noFill/>
          <a:ln/>
        </p:spPr>
        <p:txBody>
          <a:bodyPr wrap="square" lIns="0" tIns="0" rIns="0" bIns="0" rtlCol="0" anchor="ctr"/>
          <a:lstStyle/>
          <a:p>
            <a:pPr indent="0" marL="0">
              <a:buNone/>
            </a:pPr>
            <a:r>
              <a:rPr lang="en-US" sz="1200" dirty="0">
                <a:solidFill>
                  <a:srgbClr val="5A6377"/>
                </a:solidFill>
                <a:latin typeface="Calibri" pitchFamily="34" charset="0"/>
                <a:ea typeface="Calibri" pitchFamily="34" charset="-122"/>
                <a:cs typeface="Calibri" pitchFamily="34" charset="-120"/>
              </a:rPr>
              <a:t>Conduct completeness (acharanpurnata) — destination of motion; authentic conduct, living proof (pramanikta)</a:t>
            </a:r>
            <a:endParaRPr lang="en-US" sz="1200" dirty="0"/>
          </a:p>
        </p:txBody>
      </p:sp>
      <p:sp>
        <p:nvSpPr>
          <p:cNvPr id="35" name="Text 32"/>
          <p:cNvSpPr/>
          <p:nvPr/>
        </p:nvSpPr>
        <p:spPr>
          <a:xfrm>
            <a:off x="640080" y="4572000"/>
            <a:ext cx="7955280" cy="457200"/>
          </a:xfrm>
          <a:prstGeom prst="rect">
            <a:avLst/>
          </a:prstGeom>
          <a:noFill/>
          <a:ln/>
        </p:spPr>
        <p:txBody>
          <a:bodyPr wrap="square" lIns="0" tIns="0" rIns="0" bIns="0" rtlCol="0" anchor="ctr"/>
          <a:lstStyle/>
          <a:p>
            <a:pPr indent="0" marL="0">
              <a:buNone/>
            </a:pPr>
            <a:r>
              <a:rPr lang="en-US" sz="1050" i="1" dirty="0">
                <a:solidFill>
                  <a:srgbClr val="9A6414"/>
                </a:solidFill>
                <a:latin typeface="Calibri" pitchFamily="34" charset="0"/>
                <a:ea typeface="Calibri" pitchFamily="34" charset="-122"/>
                <a:cs typeface="Calibri" pitchFamily="34" charset="-120"/>
              </a:rPr>
              <a:t>T1 completes the insentient path; T2 and T3 belong to the sentient path — inner settling (T2) and outer destination (T3) are different completions. What is saturated in the ground comes to realise the ground: that is the completeness drive.</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§1.6.1</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T1 — The Irreversible Sentience Threshold</a:t>
            </a:r>
            <a:endParaRPr lang="en-US" sz="3000" dirty="0"/>
          </a:p>
        </p:txBody>
      </p:sp>
      <p:sp>
        <p:nvSpPr>
          <p:cNvPr id="8" name="Text 5"/>
          <p:cNvSpPr/>
          <p:nvPr/>
        </p:nvSpPr>
        <p:spPr>
          <a:xfrm>
            <a:off x="640080" y="1234440"/>
            <a:ext cx="7955280" cy="914400"/>
          </a:xfrm>
          <a:prstGeom prst="rect">
            <a:avLst/>
          </a:prstGeom>
          <a:noFill/>
          <a:ln/>
        </p:spPr>
        <p:txBody>
          <a:bodyPr wrap="square" lIns="0" tIns="0" rIns="0" bIns="0" rtlCol="0" anchor="ctr"/>
          <a:lstStyle/>
          <a:p>
            <a:pPr indent="0" marL="0">
              <a:buNone/>
            </a:pPr>
            <a:r>
              <a:rPr lang="en-US" sz="1300" b="1" dirty="0">
                <a:solidFill>
                  <a:srgbClr val="1E2447"/>
                </a:solidFill>
                <a:latin typeface="Calibri" pitchFamily="34" charset="0"/>
                <a:ea typeface="Calibri" pitchFamily="34" charset="-122"/>
                <a:cs typeface="Calibri" pitchFamily="34" charset="-120"/>
              </a:rPr>
              <a:t xml:space="preserve">Constitutional completeness at the atomic level, </a:t>
            </a:r>
            <a:pPr indent="0" marL="0">
              <a:buNone/>
            </a:pPr>
            <a:r>
              <a:rPr lang="en-US" sz="1250" dirty="0">
                <a:solidFill>
                  <a:srgbClr val="5A6377"/>
                </a:solidFill>
                <a:latin typeface="Calibri" pitchFamily="34" charset="0"/>
                <a:ea typeface="Calibri" pitchFamily="34" charset="-122"/>
                <a:cs typeface="Calibri" pitchFamily="34" charset="-120"/>
              </a:rPr>
              <a:t>not neural complexity, molecular size, or elevation along the order chain. An evolving insentient atom incorporates particles through hungry and overfull complementarity within a conducive environment; when the required particles integrate, the constitution closes.</a:t>
            </a:r>
            <a:endParaRPr lang="en-US" sz="1300" dirty="0"/>
          </a:p>
        </p:txBody>
      </p:sp>
      <p:sp>
        <p:nvSpPr>
          <p:cNvPr id="9" name="Shape 6"/>
          <p:cNvSpPr/>
          <p:nvPr/>
        </p:nvSpPr>
        <p:spPr>
          <a:xfrm>
            <a:off x="640080" y="2286000"/>
            <a:ext cx="3657600" cy="1691640"/>
          </a:xfrm>
          <a:prstGeom prst="roundRect">
            <a:avLst>
              <a:gd name="adj" fmla="val 5405"/>
            </a:avLst>
          </a:prstGeom>
          <a:solidFill>
            <a:srgbClr val="EEF1F8"/>
          </a:solidFill>
          <a:ln/>
          <a:effectLst>
            <a:outerShdw sx="100000" sy="100000" kx="0" ky="0" algn="bl" rotWithShape="0" blurRad="88900" dist="25400" dir="2700000">
              <a:srgbClr val="000000">
                <a:alpha val="13000"/>
              </a:srgbClr>
            </a:outerShdw>
          </a:effectLst>
        </p:spPr>
      </p:sp>
      <p:sp>
        <p:nvSpPr>
          <p:cNvPr id="10" name="Text 7"/>
          <p:cNvSpPr/>
          <p:nvPr/>
        </p:nvSpPr>
        <p:spPr>
          <a:xfrm>
            <a:off x="868680" y="2432304"/>
            <a:ext cx="3200400" cy="274320"/>
          </a:xfrm>
          <a:prstGeom prst="rect">
            <a:avLst/>
          </a:prstGeom>
          <a:noFill/>
          <a:ln/>
        </p:spPr>
        <p:txBody>
          <a:bodyPr wrap="square" lIns="0" tIns="0" rIns="0" bIns="0" rtlCol="0" anchor="ctr"/>
          <a:lstStyle/>
          <a:p>
            <a:pPr indent="0" marL="0">
              <a:buNone/>
            </a:pPr>
            <a:r>
              <a:rPr lang="en-US" sz="1350" b="1" dirty="0">
                <a:solidFill>
                  <a:srgbClr val="3B4A7A"/>
                </a:solidFill>
                <a:latin typeface="Cambria" pitchFamily="34" charset="0"/>
                <a:ea typeface="Cambria" pitchFamily="34" charset="-122"/>
                <a:cs typeface="Cambria" pitchFamily="34" charset="-120"/>
              </a:rPr>
              <a:t>Before T1 — evolving atom</a:t>
            </a:r>
            <a:endParaRPr lang="en-US" sz="1350" dirty="0"/>
          </a:p>
        </p:txBody>
      </p:sp>
      <p:sp>
        <p:nvSpPr>
          <p:cNvPr id="11" name="Text 8"/>
          <p:cNvSpPr/>
          <p:nvPr/>
        </p:nvSpPr>
        <p:spPr>
          <a:xfrm>
            <a:off x="868680" y="2743200"/>
            <a:ext cx="3246120" cy="1143000"/>
          </a:xfrm>
          <a:prstGeom prst="rect">
            <a:avLst/>
          </a:prstGeom>
          <a:noFill/>
          <a:ln/>
        </p:spPr>
        <p:txBody>
          <a:bodyPr wrap="square" lIns="0" tIns="0" rIns="0" bIns="0" rtlCol="0" anchor="ctr"/>
          <a:lstStyle/>
          <a:p>
            <a:pPr marL="342900" indent="-342900">
              <a:buSzPct val="100000"/>
              <a:buChar char="•"/>
            </a:pPr>
            <a:r>
              <a:rPr lang="en-US" sz="1050" dirty="0">
                <a:solidFill>
                  <a:srgbClr val="5A6377"/>
                </a:solidFill>
                <a:latin typeface="Calibri" pitchFamily="34" charset="0"/>
                <a:ea typeface="Calibri" pitchFamily="34" charset="-122"/>
                <a:cs typeface="Calibri" pitchFamily="34" charset="-120"/>
              </a:rPr>
              <a:t>Carries molecular-bondage and weight-bondage</a:t>
            </a:r>
            <a:endParaRPr lang="en-US" sz="1050" dirty="0"/>
          </a:p>
          <a:p>
            <a:pPr marL="342900" indent="-342900">
              <a:buSzPct val="100000"/>
              <a:buChar char="•"/>
            </a:pPr>
            <a:r>
              <a:rPr lang="en-US" sz="1050" dirty="0">
                <a:solidFill>
                  <a:srgbClr val="5A6377"/>
                </a:solidFill>
                <a:latin typeface="Calibri" pitchFamily="34" charset="0"/>
                <a:ea typeface="Calibri" pitchFamily="34" charset="-122"/>
                <a:cs typeface="Calibri" pitchFamily="34" charset="-120"/>
              </a:rPr>
              <a:t>Particle count still changing; development in progress</a:t>
            </a:r>
            <a:endParaRPr lang="en-US" sz="1050" dirty="0"/>
          </a:p>
          <a:p>
            <a:pPr marL="342900" indent="-342900">
              <a:buSzPct val="100000"/>
              <a:buChar char="•"/>
            </a:pPr>
            <a:r>
              <a:rPr lang="en-US" sz="1050" dirty="0">
                <a:solidFill>
                  <a:srgbClr val="5A6377"/>
                </a:solidFill>
                <a:latin typeface="Calibri" pitchFamily="34" charset="0"/>
                <a:ea typeface="Calibri" pitchFamily="34" charset="-122"/>
                <a:cs typeface="Calibri" pitchFamily="34" charset="-120"/>
              </a:rPr>
              <a:t>Exhibits radiance and projection as an insentient unit</a:t>
            </a:r>
            <a:endParaRPr lang="en-US" sz="1050" dirty="0"/>
          </a:p>
        </p:txBody>
      </p:sp>
      <p:sp>
        <p:nvSpPr>
          <p:cNvPr id="12" name="Shape 9"/>
          <p:cNvSpPr/>
          <p:nvPr/>
        </p:nvSpPr>
        <p:spPr>
          <a:xfrm>
            <a:off x="4846320" y="2286000"/>
            <a:ext cx="3657600" cy="1691640"/>
          </a:xfrm>
          <a:prstGeom prst="roundRect">
            <a:avLst>
              <a:gd name="adj" fmla="val 5405"/>
            </a:avLst>
          </a:prstGeom>
          <a:solidFill>
            <a:srgbClr val="FAF1DF"/>
          </a:solidFill>
          <a:ln/>
          <a:effectLst>
            <a:outerShdw sx="100000" sy="100000" kx="0" ky="0" algn="bl" rotWithShape="0" blurRad="88900" dist="25400" dir="2700000">
              <a:srgbClr val="000000">
                <a:alpha val="13000"/>
              </a:srgbClr>
            </a:outerShdw>
          </a:effectLst>
        </p:spPr>
      </p:sp>
      <p:sp>
        <p:nvSpPr>
          <p:cNvPr id="13" name="Text 10"/>
          <p:cNvSpPr/>
          <p:nvPr/>
        </p:nvSpPr>
        <p:spPr>
          <a:xfrm>
            <a:off x="5074920" y="2432304"/>
            <a:ext cx="3200400" cy="274320"/>
          </a:xfrm>
          <a:prstGeom prst="rect">
            <a:avLst/>
          </a:prstGeom>
          <a:noFill/>
          <a:ln/>
        </p:spPr>
        <p:txBody>
          <a:bodyPr wrap="square" lIns="0" tIns="0" rIns="0" bIns="0" rtlCol="0" anchor="ctr"/>
          <a:lstStyle/>
          <a:p>
            <a:pPr indent="0" marL="0">
              <a:buNone/>
            </a:pPr>
            <a:r>
              <a:rPr lang="en-US" sz="1350" b="1" dirty="0">
                <a:solidFill>
                  <a:srgbClr val="9A6414"/>
                </a:solidFill>
                <a:latin typeface="Cambria" pitchFamily="34" charset="0"/>
                <a:ea typeface="Cambria" pitchFamily="34" charset="-122"/>
                <a:cs typeface="Cambria" pitchFamily="34" charset="-120"/>
              </a:rPr>
              <a:t>After T1 — jeevan atom</a:t>
            </a:r>
            <a:endParaRPr lang="en-US" sz="1350" dirty="0"/>
          </a:p>
        </p:txBody>
      </p:sp>
      <p:sp>
        <p:nvSpPr>
          <p:cNvPr id="14" name="Text 11"/>
          <p:cNvSpPr/>
          <p:nvPr/>
        </p:nvSpPr>
        <p:spPr>
          <a:xfrm>
            <a:off x="5074920" y="2743200"/>
            <a:ext cx="3246120" cy="1280160"/>
          </a:xfrm>
          <a:prstGeom prst="rect">
            <a:avLst/>
          </a:prstGeom>
          <a:noFill/>
          <a:ln/>
        </p:spPr>
        <p:txBody>
          <a:bodyPr wrap="square" lIns="0" tIns="0" rIns="0" bIns="0" rtlCol="0" anchor="ctr"/>
          <a:lstStyle/>
          <a:p>
            <a:pPr marL="342900" indent="-342900">
              <a:buSzPct val="100000"/>
              <a:buChar char="•"/>
            </a:pPr>
            <a:r>
              <a:rPr lang="en-US" sz="1050" dirty="0">
                <a:solidFill>
                  <a:srgbClr val="5A6377"/>
                </a:solidFill>
                <a:latin typeface="Calibri" pitchFamily="34" charset="0"/>
                <a:ea typeface="Calibri" pitchFamily="34" charset="-122"/>
                <a:cs typeface="Calibri" pitchFamily="34" charset="-120"/>
              </a:rPr>
              <a:t>Liberated from molecular- and weight-bondage; hope-bondage carries the drive — a new mode, not a new direction</a:t>
            </a:r>
            <a:endParaRPr lang="en-US" sz="1050" dirty="0"/>
          </a:p>
          <a:p>
            <a:pPr marL="342900" indent="-342900">
              <a:buSzPct val="100000"/>
              <a:buChar char="•"/>
            </a:pPr>
            <a:r>
              <a:rPr lang="en-US" sz="1050" dirty="0">
                <a:solidFill>
                  <a:srgbClr val="5A6377"/>
                </a:solidFill>
                <a:latin typeface="Calibri" pitchFamily="34" charset="0"/>
                <a:ea typeface="Calibri" pitchFamily="34" charset="-122"/>
                <a:cs typeface="Calibri" pitchFamily="34" charset="-120"/>
              </a:rPr>
              <a:t>No increase or decrease in particles: qualitative change without quantitative change</a:t>
            </a:r>
            <a:endParaRPr lang="en-US" sz="1050" dirty="0"/>
          </a:p>
          <a:p>
            <a:pPr marL="342900" indent="-342900">
              <a:buSzPct val="100000"/>
              <a:buChar char="•"/>
            </a:pPr>
            <a:r>
              <a:rPr lang="en-US" sz="1050" dirty="0">
                <a:solidFill>
                  <a:srgbClr val="5A6377"/>
                </a:solidFill>
                <a:latin typeface="Calibri" pitchFamily="34" charset="0"/>
                <a:ea typeface="Calibri" pitchFamily="34" charset="-122"/>
                <a:cs typeface="Calibri" pitchFamily="34" charset="-120"/>
              </a:rPr>
              <a:t>Reflects what is ever-present in satta as active sentience — latency actualised</a:t>
            </a:r>
            <a:endParaRPr lang="en-US" sz="1050" dirty="0"/>
          </a:p>
        </p:txBody>
      </p:sp>
      <p:sp>
        <p:nvSpPr>
          <p:cNvPr id="15" name="Text 12"/>
          <p:cNvSpPr/>
          <p:nvPr/>
        </p:nvSpPr>
        <p:spPr>
          <a:xfrm>
            <a:off x="4315968" y="2880360"/>
            <a:ext cx="502920" cy="502920"/>
          </a:xfrm>
          <a:prstGeom prst="rect">
            <a:avLst/>
          </a:prstGeom>
          <a:noFill/>
          <a:ln/>
        </p:spPr>
        <p:txBody>
          <a:bodyPr wrap="square" rtlCol="0" anchor="ctr"/>
          <a:lstStyle/>
          <a:p>
            <a:pPr algn="ctr" indent="0" marL="0">
              <a:buNone/>
            </a:pPr>
            <a:r>
              <a:rPr lang="en-US" sz="2400" b="1" dirty="0">
                <a:solidFill>
                  <a:srgbClr val="C9821E"/>
                </a:solidFill>
                <a:latin typeface="Calibri" pitchFamily="34" charset="0"/>
                <a:ea typeface="Calibri" pitchFamily="34" charset="-122"/>
                <a:cs typeface="Calibri" pitchFamily="34" charset="-120"/>
              </a:rPr>
              <a:t>→</a:t>
            </a:r>
            <a:endParaRPr lang="en-US" sz="2400" dirty="0"/>
          </a:p>
        </p:txBody>
      </p:sp>
      <p:sp>
        <p:nvSpPr>
          <p:cNvPr id="16" name="Text 13"/>
          <p:cNvSpPr/>
          <p:nvPr/>
        </p:nvSpPr>
        <p:spPr>
          <a:xfrm>
            <a:off x="640080" y="4206240"/>
            <a:ext cx="7955280" cy="411480"/>
          </a:xfrm>
          <a:prstGeom prst="rect">
            <a:avLst/>
          </a:prstGeom>
          <a:noFill/>
          <a:ln/>
        </p:spPr>
        <p:txBody>
          <a:bodyPr wrap="square" lIns="0" tIns="0" rIns="0" bIns="0" rtlCol="0" anchor="ctr"/>
          <a:lstStyle/>
          <a:p>
            <a:pPr indent="0" marL="0">
              <a:buNone/>
            </a:pPr>
            <a:r>
              <a:rPr lang="en-US" sz="1200" i="1" dirty="0">
                <a:solidFill>
                  <a:srgbClr val="1E2447"/>
                </a:solidFill>
                <a:latin typeface="Calibri" pitchFamily="34" charset="0"/>
                <a:ea typeface="Calibri" pitchFamily="34" charset="-122"/>
                <a:cs typeface="Calibri" pitchFamily="34" charset="-120"/>
              </a:rPr>
              <a:t>T1 is irreversible at the atomic level: the jeevan atom is immune to decomposition — the ontological basis for jeevan’s persistence. Taste-recognition, impossible in insentient nature, first manifests here — recognition gains its inner circuit.</a:t>
            </a:r>
            <a:endParaRPr lang="en-US" sz="1200" dirty="0"/>
          </a:p>
        </p:txBody>
      </p:sp>
      <p:sp>
        <p:nvSpPr>
          <p:cNvPr id="17" name="Text 14"/>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SB pp. 52, 55, 59, 80–81, 92  ·  MVD pp. 8, 91, 117</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§1.7 · CONSTITUTIONALLY COMPLETE</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Jeevan: The Sentient Atom</a:t>
            </a:r>
            <a:endParaRPr lang="en-US" sz="3000" dirty="0"/>
          </a:p>
        </p:txBody>
      </p:sp>
      <p:sp>
        <p:nvSpPr>
          <p:cNvPr id="8" name="Shape 5"/>
          <p:cNvSpPr/>
          <p:nvPr/>
        </p:nvSpPr>
        <p:spPr>
          <a:xfrm>
            <a:off x="1851660" y="2583180"/>
            <a:ext cx="960120" cy="960120"/>
          </a:xfrm>
          <a:prstGeom prst="ellipse">
            <a:avLst/>
          </a:prstGeom>
          <a:ln w="15875">
            <a:solidFill>
              <a:srgbClr val="3B4A7A"/>
            </a:solidFill>
            <a:prstDash val="solid"/>
          </a:ln>
        </p:spPr>
      </p:sp>
      <p:sp>
        <p:nvSpPr>
          <p:cNvPr id="9" name="Text 6"/>
          <p:cNvSpPr/>
          <p:nvPr/>
        </p:nvSpPr>
        <p:spPr>
          <a:xfrm>
            <a:off x="1828800" y="2464308"/>
            <a:ext cx="1005840" cy="219456"/>
          </a:xfrm>
          <a:prstGeom prst="rect">
            <a:avLst/>
          </a:prstGeom>
          <a:solidFill>
            <a:srgbClr val="FFFFFF"/>
          </a:solidFill>
          <a:ln/>
        </p:spPr>
        <p:txBody>
          <a:bodyPr wrap="square" lIns="0" tIns="0" rIns="0" bIns="0" rtlCol="0" anchor="ctr"/>
          <a:lstStyle/>
          <a:p>
            <a:pPr algn="ctr" indent="0" marL="0">
              <a:buNone/>
            </a:pPr>
            <a:r>
              <a:rPr lang="en-US" sz="950" b="1" i="1" dirty="0">
                <a:solidFill>
                  <a:srgbClr val="3B4A7A"/>
                </a:solidFill>
                <a:latin typeface="Calibri" pitchFamily="34" charset="0"/>
                <a:ea typeface="Calibri" pitchFamily="34" charset="-122"/>
                <a:cs typeface="Calibri" pitchFamily="34" charset="-120"/>
              </a:rPr>
              <a:t>buddhi</a:t>
            </a:r>
            <a:endParaRPr lang="en-US" sz="950" dirty="0"/>
          </a:p>
        </p:txBody>
      </p:sp>
      <p:sp>
        <p:nvSpPr>
          <p:cNvPr id="10" name="Shape 7"/>
          <p:cNvSpPr/>
          <p:nvPr/>
        </p:nvSpPr>
        <p:spPr>
          <a:xfrm>
            <a:off x="1623060" y="2354580"/>
            <a:ext cx="1417320" cy="1417320"/>
          </a:xfrm>
          <a:prstGeom prst="ellipse">
            <a:avLst/>
          </a:prstGeom>
          <a:ln w="15875">
            <a:solidFill>
              <a:srgbClr val="8E9BC4"/>
            </a:solidFill>
            <a:prstDash val="solid"/>
          </a:ln>
        </p:spPr>
      </p:sp>
      <p:sp>
        <p:nvSpPr>
          <p:cNvPr id="11" name="Text 8"/>
          <p:cNvSpPr/>
          <p:nvPr/>
        </p:nvSpPr>
        <p:spPr>
          <a:xfrm>
            <a:off x="1828800" y="2235708"/>
            <a:ext cx="1005840" cy="219456"/>
          </a:xfrm>
          <a:prstGeom prst="rect">
            <a:avLst/>
          </a:prstGeom>
          <a:solidFill>
            <a:srgbClr val="FFFFFF"/>
          </a:solidFill>
          <a:ln/>
        </p:spPr>
        <p:txBody>
          <a:bodyPr wrap="square" lIns="0" tIns="0" rIns="0" bIns="0" rtlCol="0" anchor="ctr"/>
          <a:lstStyle/>
          <a:p>
            <a:pPr algn="ctr" indent="0" marL="0">
              <a:buNone/>
            </a:pPr>
            <a:r>
              <a:rPr lang="en-US" sz="950" b="1" i="1" dirty="0">
                <a:solidFill>
                  <a:srgbClr val="3B4A7A"/>
                </a:solidFill>
                <a:latin typeface="Calibri" pitchFamily="34" charset="0"/>
                <a:ea typeface="Calibri" pitchFamily="34" charset="-122"/>
                <a:cs typeface="Calibri" pitchFamily="34" charset="-120"/>
              </a:rPr>
              <a:t>chitta</a:t>
            </a:r>
            <a:endParaRPr lang="en-US" sz="950" dirty="0"/>
          </a:p>
        </p:txBody>
      </p:sp>
      <p:sp>
        <p:nvSpPr>
          <p:cNvPr id="12" name="Shape 9"/>
          <p:cNvSpPr/>
          <p:nvPr/>
        </p:nvSpPr>
        <p:spPr>
          <a:xfrm>
            <a:off x="1394460" y="2125980"/>
            <a:ext cx="1874520" cy="1874520"/>
          </a:xfrm>
          <a:prstGeom prst="ellipse">
            <a:avLst/>
          </a:prstGeom>
          <a:ln w="15875">
            <a:solidFill>
              <a:srgbClr val="3B4A7A"/>
            </a:solidFill>
            <a:prstDash val="solid"/>
          </a:ln>
        </p:spPr>
      </p:sp>
      <p:sp>
        <p:nvSpPr>
          <p:cNvPr id="13" name="Text 10"/>
          <p:cNvSpPr/>
          <p:nvPr/>
        </p:nvSpPr>
        <p:spPr>
          <a:xfrm>
            <a:off x="1828800" y="2007108"/>
            <a:ext cx="1005840" cy="219456"/>
          </a:xfrm>
          <a:prstGeom prst="rect">
            <a:avLst/>
          </a:prstGeom>
          <a:solidFill>
            <a:srgbClr val="FFFFFF"/>
          </a:solidFill>
          <a:ln/>
        </p:spPr>
        <p:txBody>
          <a:bodyPr wrap="square" lIns="0" tIns="0" rIns="0" bIns="0" rtlCol="0" anchor="ctr"/>
          <a:lstStyle/>
          <a:p>
            <a:pPr algn="ctr" indent="0" marL="0">
              <a:buNone/>
            </a:pPr>
            <a:r>
              <a:rPr lang="en-US" sz="950" b="1" i="1" dirty="0">
                <a:solidFill>
                  <a:srgbClr val="3B4A7A"/>
                </a:solidFill>
                <a:latin typeface="Calibri" pitchFamily="34" charset="0"/>
                <a:ea typeface="Calibri" pitchFamily="34" charset="-122"/>
                <a:cs typeface="Calibri" pitchFamily="34" charset="-120"/>
              </a:rPr>
              <a:t>vritti</a:t>
            </a:r>
            <a:endParaRPr lang="en-US" sz="950" dirty="0"/>
          </a:p>
        </p:txBody>
      </p:sp>
      <p:sp>
        <p:nvSpPr>
          <p:cNvPr id="14" name="Shape 11"/>
          <p:cNvSpPr/>
          <p:nvPr/>
        </p:nvSpPr>
        <p:spPr>
          <a:xfrm>
            <a:off x="1165860" y="1897380"/>
            <a:ext cx="2331720" cy="2331720"/>
          </a:xfrm>
          <a:prstGeom prst="ellipse">
            <a:avLst/>
          </a:prstGeom>
          <a:ln w="15875">
            <a:solidFill>
              <a:srgbClr val="8E9BC4"/>
            </a:solidFill>
            <a:prstDash val="solid"/>
          </a:ln>
        </p:spPr>
      </p:sp>
      <p:sp>
        <p:nvSpPr>
          <p:cNvPr id="15" name="Text 12"/>
          <p:cNvSpPr/>
          <p:nvPr/>
        </p:nvSpPr>
        <p:spPr>
          <a:xfrm>
            <a:off x="1828800" y="1778508"/>
            <a:ext cx="1005840" cy="219456"/>
          </a:xfrm>
          <a:prstGeom prst="rect">
            <a:avLst/>
          </a:prstGeom>
          <a:solidFill>
            <a:srgbClr val="FFFFFF"/>
          </a:solidFill>
          <a:ln/>
        </p:spPr>
        <p:txBody>
          <a:bodyPr wrap="square" lIns="0" tIns="0" rIns="0" bIns="0" rtlCol="0" anchor="ctr"/>
          <a:lstStyle/>
          <a:p>
            <a:pPr algn="ctr" indent="0" marL="0">
              <a:buNone/>
            </a:pPr>
            <a:r>
              <a:rPr lang="en-US" sz="950" b="1" i="1" dirty="0">
                <a:solidFill>
                  <a:srgbClr val="3B4A7A"/>
                </a:solidFill>
                <a:latin typeface="Calibri" pitchFamily="34" charset="0"/>
                <a:ea typeface="Calibri" pitchFamily="34" charset="-122"/>
                <a:cs typeface="Calibri" pitchFamily="34" charset="-120"/>
              </a:rPr>
              <a:t>mun</a:t>
            </a:r>
            <a:endParaRPr lang="en-US" sz="950" dirty="0"/>
          </a:p>
        </p:txBody>
      </p:sp>
      <p:sp>
        <p:nvSpPr>
          <p:cNvPr id="16" name="Shape 13"/>
          <p:cNvSpPr/>
          <p:nvPr/>
        </p:nvSpPr>
        <p:spPr>
          <a:xfrm>
            <a:off x="2084832" y="2816352"/>
            <a:ext cx="493776" cy="493776"/>
          </a:xfrm>
          <a:prstGeom prst="ellipse">
            <a:avLst/>
          </a:prstGeom>
          <a:solidFill>
            <a:srgbClr val="C9821E"/>
          </a:solidFill>
          <a:ln/>
        </p:spPr>
      </p:sp>
      <p:sp>
        <p:nvSpPr>
          <p:cNvPr id="17" name="Text 14"/>
          <p:cNvSpPr/>
          <p:nvPr/>
        </p:nvSpPr>
        <p:spPr>
          <a:xfrm>
            <a:off x="1874520" y="2926080"/>
            <a:ext cx="914400" cy="2743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atma</a:t>
            </a:r>
            <a:endParaRPr lang="en-US" sz="1050" dirty="0"/>
          </a:p>
        </p:txBody>
      </p:sp>
      <p:sp>
        <p:nvSpPr>
          <p:cNvPr id="18" name="Text 15"/>
          <p:cNvSpPr/>
          <p:nvPr/>
        </p:nvSpPr>
        <p:spPr>
          <a:xfrm>
            <a:off x="685800" y="4434840"/>
            <a:ext cx="3383280" cy="411480"/>
          </a:xfrm>
          <a:prstGeom prst="rect">
            <a:avLst/>
          </a:prstGeom>
          <a:noFill/>
          <a:ln/>
        </p:spPr>
        <p:txBody>
          <a:bodyPr wrap="square" lIns="0" tIns="0" rIns="0" bIns="0" rtlCol="0" anchor="ctr"/>
          <a:lstStyle/>
          <a:p>
            <a:pPr algn="ctr" indent="0" marL="0">
              <a:buNone/>
            </a:pPr>
            <a:r>
              <a:rPr lang="en-US" sz="950" i="1" dirty="0">
                <a:solidFill>
                  <a:srgbClr val="5A6377"/>
                </a:solidFill>
                <a:latin typeface="Calibri" pitchFamily="34" charset="0"/>
                <a:ea typeface="Calibri" pitchFamily="34" charset="-122"/>
                <a:cs typeface="Calibri" pitchFamily="34" charset="-120"/>
              </a:rPr>
              <a:t>nucleus = atma; particles in the four orbits are the four faculties (MVD p. 78)</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480560" y="1371600"/>
          <a:ext cx="4160520" cy="914400"/>
        </p:xfrm>
        <a:graphic>
          <a:graphicData uri="http://schemas.openxmlformats.org/drawingml/2006/table">
            <a:tbl>
              <a:tblPr/>
              <a:tblGrid>
                <a:gridCol w="1371600"/>
                <a:gridCol w="1417320"/>
                <a:gridCol w="1371600"/>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Faculty / strength</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1E24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Projection (paravartan)</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1E24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Reflection (pratyavartan)</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1E2447"/>
                    </a:solidFill>
                  </a:tcPr>
                </a:tc>
              </a:tr>
              <a:tr h="384048">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Mun / hope</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selection</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taste (asvad)</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Vritti / thought</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analysis</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deliberation</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Chitta / desire</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visualisation</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contemplation</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Buddhi</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resolve (sankalp)</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enlightenment (bodh)</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Atma</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authenticity (pramanikta)</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realisation (anubhav)</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bl>
          </a:graphicData>
        </a:graphic>
      </p:graphicFrame>
      <p:sp>
        <p:nvSpPr>
          <p:cNvPr id="20" name="Text 16"/>
          <p:cNvSpPr/>
          <p:nvPr/>
        </p:nvSpPr>
        <p:spPr>
          <a:xfrm>
            <a:off x="4480560" y="3977640"/>
            <a:ext cx="4160520" cy="822960"/>
          </a:xfrm>
          <a:prstGeom prst="rect">
            <a:avLst/>
          </a:prstGeom>
          <a:noFill/>
          <a:ln/>
        </p:spPr>
        <p:txBody>
          <a:bodyPr wrap="square" lIns="0" tIns="0" rIns="0" bIns="0" rtlCol="0" anchor="ctr"/>
          <a:lstStyle/>
          <a:p>
            <a:pPr indent="0" marL="0">
              <a:buNone/>
            </a:pPr>
            <a:r>
              <a:rPr lang="en-US" sz="1050" dirty="0">
                <a:solidFill>
                  <a:srgbClr val="5A6377"/>
                </a:solidFill>
                <a:latin typeface="Calibri" pitchFamily="34" charset="0"/>
                <a:ea typeface="Calibri" pitchFamily="34" charset="-122"/>
                <a:cs typeface="Calibri" pitchFamily="34" charset="-120"/>
              </a:rPr>
              <a:t xml:space="preserve">Reflection is the knowing direction — ascent of understanding toward anubhav; projection is the evidencing direction — descent from realisation to conduct. </a:t>
            </a:r>
            <a:pPr indent="0" marL="0">
              <a:buNone/>
            </a:pPr>
            <a:r>
              <a:rPr lang="en-US" sz="1050" i="1" dirty="0">
                <a:solidFill>
                  <a:srgbClr val="9A6414"/>
                </a:solidFill>
                <a:latin typeface="Calibri" pitchFamily="34" charset="0"/>
                <a:ea typeface="Calibri" pitchFamily="34" charset="-122"/>
                <a:cs typeface="Calibri" pitchFamily="34" charset="-120"/>
              </a:rPr>
              <a:t>On the delusional plane, atma is “I” and the orbital four are “mine”; awakening — staged as three statuses of buddhi — is the four coming into accordance with atma.</a:t>
            </a:r>
            <a:endParaRPr lang="en-US" sz="1050" dirty="0"/>
          </a:p>
        </p:txBody>
      </p:sp>
      <p:sp>
        <p:nvSpPr>
          <p:cNvPr id="21" name="Text 17"/>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MVD pp. 13, 78, 126, 278–279, 286–287  ·  JV p. 92  ·  koshas (developmental sheaths) are a distinct five-fold structure — MVD pp. 49–50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§1.8 · HARMONY WITHIN</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Jeevan Values and Persistence</a:t>
            </a:r>
            <a:endParaRPr lang="en-US" sz="3000" dirty="0"/>
          </a:p>
        </p:txBody>
      </p:sp>
      <p:sp>
        <p:nvSpPr>
          <p:cNvPr id="8" name="Shape 5"/>
          <p:cNvSpPr/>
          <p:nvPr/>
        </p:nvSpPr>
        <p:spPr>
          <a:xfrm>
            <a:off x="640080" y="1371600"/>
            <a:ext cx="1874520" cy="1371600"/>
          </a:xfrm>
          <a:prstGeom prst="roundRect">
            <a:avLst>
              <a:gd name="adj" fmla="val 6667"/>
            </a:avLst>
          </a:prstGeom>
          <a:solidFill>
            <a:srgbClr val="EEF1F8"/>
          </a:solidFill>
          <a:ln/>
          <a:effectLst>
            <a:outerShdw sx="100000" sy="100000" kx="0" ky="0" algn="bl" rotWithShape="0" blurRad="88900" dist="25400" dir="2700000">
              <a:srgbClr val="000000">
                <a:alpha val="13000"/>
              </a:srgbClr>
            </a:outerShdw>
          </a:effectLst>
        </p:spPr>
      </p:sp>
      <p:sp>
        <p:nvSpPr>
          <p:cNvPr id="9" name="Shape 6"/>
          <p:cNvSpPr/>
          <p:nvPr/>
        </p:nvSpPr>
        <p:spPr>
          <a:xfrm>
            <a:off x="822960" y="1536192"/>
            <a:ext cx="329184" cy="329184"/>
          </a:xfrm>
          <a:prstGeom prst="ellipse">
            <a:avLst/>
          </a:prstGeom>
          <a:ln w="15875">
            <a:solidFill>
              <a:srgbClr val="3B4A7A"/>
            </a:solidFill>
            <a:prstDash val="solid"/>
          </a:ln>
        </p:spPr>
      </p:sp>
      <p:sp>
        <p:nvSpPr>
          <p:cNvPr id="10" name="Shape 7"/>
          <p:cNvSpPr/>
          <p:nvPr/>
        </p:nvSpPr>
        <p:spPr>
          <a:xfrm>
            <a:off x="888797" y="1602029"/>
            <a:ext cx="197510" cy="197510"/>
          </a:xfrm>
          <a:prstGeom prst="ellipse">
            <a:avLst/>
          </a:prstGeom>
          <a:ln w="15875">
            <a:solidFill>
              <a:srgbClr val="3B4A7A"/>
            </a:solidFill>
            <a:prstDash val="solid"/>
          </a:ln>
        </p:spPr>
      </p:sp>
      <p:sp>
        <p:nvSpPr>
          <p:cNvPr id="11" name="Shape 8"/>
          <p:cNvSpPr/>
          <p:nvPr/>
        </p:nvSpPr>
        <p:spPr>
          <a:xfrm>
            <a:off x="944758" y="1657990"/>
            <a:ext cx="85588" cy="85588"/>
          </a:xfrm>
          <a:prstGeom prst="ellipse">
            <a:avLst/>
          </a:prstGeom>
          <a:solidFill>
            <a:srgbClr val="3B4A7A"/>
          </a:solidFill>
          <a:ln/>
        </p:spPr>
      </p:sp>
      <p:sp>
        <p:nvSpPr>
          <p:cNvPr id="12" name="Text 9"/>
          <p:cNvSpPr/>
          <p:nvPr/>
        </p:nvSpPr>
        <p:spPr>
          <a:xfrm>
            <a:off x="804672" y="1938528"/>
            <a:ext cx="1572768" cy="457200"/>
          </a:xfrm>
          <a:prstGeom prst="rect">
            <a:avLst/>
          </a:prstGeom>
          <a:noFill/>
          <a:ln/>
        </p:spPr>
        <p:txBody>
          <a:bodyPr wrap="square" lIns="0" tIns="0" rIns="0" bIns="0" rtlCol="0" anchor="ctr"/>
          <a:lstStyle/>
          <a:p>
            <a:pPr indent="0" marL="0">
              <a:buNone/>
            </a:pPr>
            <a:r>
              <a:rPr lang="en-US" sz="1250" b="1" dirty="0">
                <a:solidFill>
                  <a:srgbClr val="1E2447"/>
                </a:solidFill>
                <a:latin typeface="Cambria" pitchFamily="34" charset="0"/>
                <a:ea typeface="Cambria" pitchFamily="34" charset="-122"/>
                <a:cs typeface="Cambria" pitchFamily="34" charset="-120"/>
              </a:rPr>
              <a:t>Happiness (sukh)</a:t>
            </a:r>
            <a:endParaRPr lang="en-US" sz="1250" dirty="0"/>
          </a:p>
        </p:txBody>
      </p:sp>
      <p:sp>
        <p:nvSpPr>
          <p:cNvPr id="13" name="Text 10"/>
          <p:cNvSpPr/>
          <p:nvPr/>
        </p:nvSpPr>
        <p:spPr>
          <a:xfrm>
            <a:off x="804672" y="2377440"/>
            <a:ext cx="1572768" cy="329184"/>
          </a:xfrm>
          <a:prstGeom prst="rect">
            <a:avLst/>
          </a:prstGeom>
          <a:noFill/>
          <a:ln/>
        </p:spPr>
        <p:txBody>
          <a:bodyPr wrap="square" lIns="0" tIns="0" rIns="0" bIns="0" rtlCol="0" anchor="ctr"/>
          <a:lstStyle/>
          <a:p>
            <a:pPr indent="0" marL="0">
              <a:buNone/>
            </a:pPr>
            <a:r>
              <a:rPr lang="en-US" sz="980" i="1" dirty="0">
                <a:solidFill>
                  <a:srgbClr val="5A6377"/>
                </a:solidFill>
                <a:latin typeface="Calibri" pitchFamily="34" charset="0"/>
                <a:ea typeface="Calibri" pitchFamily="34" charset="-122"/>
                <a:cs typeface="Calibri" pitchFamily="34" charset="-120"/>
              </a:rPr>
              <a:t>harmony of mun and vritti</a:t>
            </a:r>
            <a:endParaRPr lang="en-US" sz="980" dirty="0"/>
          </a:p>
        </p:txBody>
      </p:sp>
      <p:sp>
        <p:nvSpPr>
          <p:cNvPr id="14" name="Shape 11"/>
          <p:cNvSpPr/>
          <p:nvPr/>
        </p:nvSpPr>
        <p:spPr>
          <a:xfrm>
            <a:off x="2633472" y="1371600"/>
            <a:ext cx="1874520" cy="1371600"/>
          </a:xfrm>
          <a:prstGeom prst="roundRect">
            <a:avLst>
              <a:gd name="adj" fmla="val 6667"/>
            </a:avLst>
          </a:prstGeom>
          <a:solidFill>
            <a:srgbClr val="EEF1F8"/>
          </a:solidFill>
          <a:ln/>
          <a:effectLst>
            <a:outerShdw sx="100000" sy="100000" kx="0" ky="0" algn="bl" rotWithShape="0" blurRad="88900" dist="25400" dir="2700000">
              <a:srgbClr val="000000">
                <a:alpha val="13000"/>
              </a:srgbClr>
            </a:outerShdw>
          </a:effectLst>
        </p:spPr>
      </p:sp>
      <p:sp>
        <p:nvSpPr>
          <p:cNvPr id="15" name="Shape 12"/>
          <p:cNvSpPr/>
          <p:nvPr/>
        </p:nvSpPr>
        <p:spPr>
          <a:xfrm>
            <a:off x="2816352" y="1536192"/>
            <a:ext cx="329184" cy="329184"/>
          </a:xfrm>
          <a:prstGeom prst="ellipse">
            <a:avLst/>
          </a:prstGeom>
          <a:ln w="15875">
            <a:solidFill>
              <a:srgbClr val="3B4A7A"/>
            </a:solidFill>
            <a:prstDash val="solid"/>
          </a:ln>
        </p:spPr>
      </p:sp>
      <p:sp>
        <p:nvSpPr>
          <p:cNvPr id="16" name="Shape 13"/>
          <p:cNvSpPr/>
          <p:nvPr/>
        </p:nvSpPr>
        <p:spPr>
          <a:xfrm>
            <a:off x="2882189" y="1602029"/>
            <a:ext cx="197510" cy="197510"/>
          </a:xfrm>
          <a:prstGeom prst="ellipse">
            <a:avLst/>
          </a:prstGeom>
          <a:ln w="15875">
            <a:solidFill>
              <a:srgbClr val="3B4A7A"/>
            </a:solidFill>
            <a:prstDash val="solid"/>
          </a:ln>
        </p:spPr>
      </p:sp>
      <p:sp>
        <p:nvSpPr>
          <p:cNvPr id="17" name="Shape 14"/>
          <p:cNvSpPr/>
          <p:nvPr/>
        </p:nvSpPr>
        <p:spPr>
          <a:xfrm>
            <a:off x="2938150" y="1657990"/>
            <a:ext cx="85588" cy="85588"/>
          </a:xfrm>
          <a:prstGeom prst="ellipse">
            <a:avLst/>
          </a:prstGeom>
          <a:solidFill>
            <a:srgbClr val="3B4A7A"/>
          </a:solidFill>
          <a:ln/>
        </p:spPr>
      </p:sp>
      <p:sp>
        <p:nvSpPr>
          <p:cNvPr id="18" name="Text 15"/>
          <p:cNvSpPr/>
          <p:nvPr/>
        </p:nvSpPr>
        <p:spPr>
          <a:xfrm>
            <a:off x="2798064" y="1938528"/>
            <a:ext cx="1572768" cy="457200"/>
          </a:xfrm>
          <a:prstGeom prst="rect">
            <a:avLst/>
          </a:prstGeom>
          <a:noFill/>
          <a:ln/>
        </p:spPr>
        <p:txBody>
          <a:bodyPr wrap="square" lIns="0" tIns="0" rIns="0" bIns="0" rtlCol="0" anchor="ctr"/>
          <a:lstStyle/>
          <a:p>
            <a:pPr indent="0" marL="0">
              <a:buNone/>
            </a:pPr>
            <a:r>
              <a:rPr lang="en-US" sz="1250" b="1" dirty="0">
                <a:solidFill>
                  <a:srgbClr val="1E2447"/>
                </a:solidFill>
                <a:latin typeface="Cambria" pitchFamily="34" charset="0"/>
                <a:ea typeface="Cambria" pitchFamily="34" charset="-122"/>
                <a:cs typeface="Cambria" pitchFamily="34" charset="-120"/>
              </a:rPr>
              <a:t>Peace (shanti)</a:t>
            </a:r>
            <a:endParaRPr lang="en-US" sz="1250" dirty="0"/>
          </a:p>
        </p:txBody>
      </p:sp>
      <p:sp>
        <p:nvSpPr>
          <p:cNvPr id="19" name="Text 16"/>
          <p:cNvSpPr/>
          <p:nvPr/>
        </p:nvSpPr>
        <p:spPr>
          <a:xfrm>
            <a:off x="2798064" y="2377440"/>
            <a:ext cx="1572768" cy="329184"/>
          </a:xfrm>
          <a:prstGeom prst="rect">
            <a:avLst/>
          </a:prstGeom>
          <a:noFill/>
          <a:ln/>
        </p:spPr>
        <p:txBody>
          <a:bodyPr wrap="square" lIns="0" tIns="0" rIns="0" bIns="0" rtlCol="0" anchor="ctr"/>
          <a:lstStyle/>
          <a:p>
            <a:pPr indent="0" marL="0">
              <a:buNone/>
            </a:pPr>
            <a:r>
              <a:rPr lang="en-US" sz="980" i="1" dirty="0">
                <a:solidFill>
                  <a:srgbClr val="5A6377"/>
                </a:solidFill>
                <a:latin typeface="Calibri" pitchFamily="34" charset="0"/>
                <a:ea typeface="Calibri" pitchFamily="34" charset="-122"/>
                <a:cs typeface="Calibri" pitchFamily="34" charset="-120"/>
              </a:rPr>
              <a:t>harmony of vritti and chitta</a:t>
            </a:r>
            <a:endParaRPr lang="en-US" sz="980" dirty="0"/>
          </a:p>
        </p:txBody>
      </p:sp>
      <p:sp>
        <p:nvSpPr>
          <p:cNvPr id="20" name="Shape 17"/>
          <p:cNvSpPr/>
          <p:nvPr/>
        </p:nvSpPr>
        <p:spPr>
          <a:xfrm>
            <a:off x="4626864" y="1371600"/>
            <a:ext cx="1874520" cy="1371600"/>
          </a:xfrm>
          <a:prstGeom prst="roundRect">
            <a:avLst>
              <a:gd name="adj" fmla="val 6667"/>
            </a:avLst>
          </a:prstGeom>
          <a:solidFill>
            <a:srgbClr val="EEF1F8"/>
          </a:solidFill>
          <a:ln/>
          <a:effectLst>
            <a:outerShdw sx="100000" sy="100000" kx="0" ky="0" algn="bl" rotWithShape="0" blurRad="88900" dist="25400" dir="2700000">
              <a:srgbClr val="000000">
                <a:alpha val="13000"/>
              </a:srgbClr>
            </a:outerShdw>
          </a:effectLst>
        </p:spPr>
      </p:sp>
      <p:sp>
        <p:nvSpPr>
          <p:cNvPr id="21" name="Shape 18"/>
          <p:cNvSpPr/>
          <p:nvPr/>
        </p:nvSpPr>
        <p:spPr>
          <a:xfrm>
            <a:off x="4809744" y="1536192"/>
            <a:ext cx="329184" cy="329184"/>
          </a:xfrm>
          <a:prstGeom prst="ellipse">
            <a:avLst/>
          </a:prstGeom>
          <a:ln w="15875">
            <a:solidFill>
              <a:srgbClr val="3B4A7A"/>
            </a:solidFill>
            <a:prstDash val="solid"/>
          </a:ln>
        </p:spPr>
      </p:sp>
      <p:sp>
        <p:nvSpPr>
          <p:cNvPr id="22" name="Shape 19"/>
          <p:cNvSpPr/>
          <p:nvPr/>
        </p:nvSpPr>
        <p:spPr>
          <a:xfrm>
            <a:off x="4875581" y="1602029"/>
            <a:ext cx="197510" cy="197510"/>
          </a:xfrm>
          <a:prstGeom prst="ellipse">
            <a:avLst/>
          </a:prstGeom>
          <a:ln w="15875">
            <a:solidFill>
              <a:srgbClr val="3B4A7A"/>
            </a:solidFill>
            <a:prstDash val="solid"/>
          </a:ln>
        </p:spPr>
      </p:sp>
      <p:sp>
        <p:nvSpPr>
          <p:cNvPr id="23" name="Shape 20"/>
          <p:cNvSpPr/>
          <p:nvPr/>
        </p:nvSpPr>
        <p:spPr>
          <a:xfrm>
            <a:off x="4931542" y="1657990"/>
            <a:ext cx="85588" cy="85588"/>
          </a:xfrm>
          <a:prstGeom prst="ellipse">
            <a:avLst/>
          </a:prstGeom>
          <a:solidFill>
            <a:srgbClr val="3B4A7A"/>
          </a:solidFill>
          <a:ln/>
        </p:spPr>
      </p:sp>
      <p:sp>
        <p:nvSpPr>
          <p:cNvPr id="24" name="Text 21"/>
          <p:cNvSpPr/>
          <p:nvPr/>
        </p:nvSpPr>
        <p:spPr>
          <a:xfrm>
            <a:off x="4791456" y="1938528"/>
            <a:ext cx="1572768" cy="457200"/>
          </a:xfrm>
          <a:prstGeom prst="rect">
            <a:avLst/>
          </a:prstGeom>
          <a:noFill/>
          <a:ln/>
        </p:spPr>
        <p:txBody>
          <a:bodyPr wrap="square" lIns="0" tIns="0" rIns="0" bIns="0" rtlCol="0" anchor="ctr"/>
          <a:lstStyle/>
          <a:p>
            <a:pPr indent="0" marL="0">
              <a:buNone/>
            </a:pPr>
            <a:r>
              <a:rPr lang="en-US" sz="1250" b="1" dirty="0">
                <a:solidFill>
                  <a:srgbClr val="1E2447"/>
                </a:solidFill>
                <a:latin typeface="Cambria" pitchFamily="34" charset="0"/>
                <a:ea typeface="Cambria" pitchFamily="34" charset="-122"/>
                <a:cs typeface="Cambria" pitchFamily="34" charset="-120"/>
              </a:rPr>
              <a:t>Contentment (santosh)</a:t>
            </a:r>
            <a:endParaRPr lang="en-US" sz="1250" dirty="0"/>
          </a:p>
        </p:txBody>
      </p:sp>
      <p:sp>
        <p:nvSpPr>
          <p:cNvPr id="25" name="Text 22"/>
          <p:cNvSpPr/>
          <p:nvPr/>
        </p:nvSpPr>
        <p:spPr>
          <a:xfrm>
            <a:off x="4791456" y="2377440"/>
            <a:ext cx="1572768" cy="329184"/>
          </a:xfrm>
          <a:prstGeom prst="rect">
            <a:avLst/>
          </a:prstGeom>
          <a:noFill/>
          <a:ln/>
        </p:spPr>
        <p:txBody>
          <a:bodyPr wrap="square" lIns="0" tIns="0" rIns="0" bIns="0" rtlCol="0" anchor="ctr"/>
          <a:lstStyle/>
          <a:p>
            <a:pPr indent="0" marL="0">
              <a:buNone/>
            </a:pPr>
            <a:r>
              <a:rPr lang="en-US" sz="980" i="1" dirty="0">
                <a:solidFill>
                  <a:srgbClr val="5A6377"/>
                </a:solidFill>
                <a:latin typeface="Calibri" pitchFamily="34" charset="0"/>
                <a:ea typeface="Calibri" pitchFamily="34" charset="-122"/>
                <a:cs typeface="Calibri" pitchFamily="34" charset="-120"/>
              </a:rPr>
              <a:t>harmony of chitta and buddhi</a:t>
            </a:r>
            <a:endParaRPr lang="en-US" sz="980" dirty="0"/>
          </a:p>
        </p:txBody>
      </p:sp>
      <p:sp>
        <p:nvSpPr>
          <p:cNvPr id="26" name="Shape 23"/>
          <p:cNvSpPr/>
          <p:nvPr/>
        </p:nvSpPr>
        <p:spPr>
          <a:xfrm>
            <a:off x="6620256" y="1371600"/>
            <a:ext cx="1874520" cy="1371600"/>
          </a:xfrm>
          <a:prstGeom prst="roundRect">
            <a:avLst>
              <a:gd name="adj" fmla="val 6667"/>
            </a:avLst>
          </a:prstGeom>
          <a:solidFill>
            <a:srgbClr val="FAF1DF"/>
          </a:solidFill>
          <a:ln/>
          <a:effectLst>
            <a:outerShdw sx="100000" sy="100000" kx="0" ky="0" algn="bl" rotWithShape="0" blurRad="88900" dist="25400" dir="2700000">
              <a:srgbClr val="000000">
                <a:alpha val="13000"/>
              </a:srgbClr>
            </a:outerShdw>
          </a:effectLst>
        </p:spPr>
      </p:sp>
      <p:sp>
        <p:nvSpPr>
          <p:cNvPr id="27" name="Shape 24"/>
          <p:cNvSpPr/>
          <p:nvPr/>
        </p:nvSpPr>
        <p:spPr>
          <a:xfrm>
            <a:off x="6803136" y="1536192"/>
            <a:ext cx="329184" cy="329184"/>
          </a:xfrm>
          <a:prstGeom prst="ellipse">
            <a:avLst/>
          </a:prstGeom>
          <a:ln w="15875">
            <a:solidFill>
              <a:srgbClr val="3B4A7A"/>
            </a:solidFill>
            <a:prstDash val="solid"/>
          </a:ln>
        </p:spPr>
      </p:sp>
      <p:sp>
        <p:nvSpPr>
          <p:cNvPr id="28" name="Shape 25"/>
          <p:cNvSpPr/>
          <p:nvPr/>
        </p:nvSpPr>
        <p:spPr>
          <a:xfrm>
            <a:off x="6868973" y="1602029"/>
            <a:ext cx="197510" cy="197510"/>
          </a:xfrm>
          <a:prstGeom prst="ellipse">
            <a:avLst/>
          </a:prstGeom>
          <a:ln w="15875">
            <a:solidFill>
              <a:srgbClr val="3B4A7A"/>
            </a:solidFill>
            <a:prstDash val="solid"/>
          </a:ln>
        </p:spPr>
      </p:sp>
      <p:sp>
        <p:nvSpPr>
          <p:cNvPr id="29" name="Shape 26"/>
          <p:cNvSpPr/>
          <p:nvPr/>
        </p:nvSpPr>
        <p:spPr>
          <a:xfrm>
            <a:off x="6924934" y="1657990"/>
            <a:ext cx="85588" cy="85588"/>
          </a:xfrm>
          <a:prstGeom prst="ellipse">
            <a:avLst/>
          </a:prstGeom>
          <a:solidFill>
            <a:srgbClr val="C9821E"/>
          </a:solidFill>
          <a:ln/>
        </p:spPr>
      </p:sp>
      <p:sp>
        <p:nvSpPr>
          <p:cNvPr id="30" name="Text 27"/>
          <p:cNvSpPr/>
          <p:nvPr/>
        </p:nvSpPr>
        <p:spPr>
          <a:xfrm>
            <a:off x="6784848" y="1938528"/>
            <a:ext cx="1572768" cy="457200"/>
          </a:xfrm>
          <a:prstGeom prst="rect">
            <a:avLst/>
          </a:prstGeom>
          <a:noFill/>
          <a:ln/>
        </p:spPr>
        <p:txBody>
          <a:bodyPr wrap="square" lIns="0" tIns="0" rIns="0" bIns="0" rtlCol="0" anchor="ctr"/>
          <a:lstStyle/>
          <a:p>
            <a:pPr indent="0" marL="0">
              <a:buNone/>
            </a:pPr>
            <a:r>
              <a:rPr lang="en-US" sz="1250" b="1" dirty="0">
                <a:solidFill>
                  <a:srgbClr val="1E2447"/>
                </a:solidFill>
                <a:latin typeface="Cambria" pitchFamily="34" charset="0"/>
                <a:ea typeface="Cambria" pitchFamily="34" charset="-122"/>
                <a:cs typeface="Cambria" pitchFamily="34" charset="-120"/>
              </a:rPr>
              <a:t>Bliss (anand)</a:t>
            </a:r>
            <a:endParaRPr lang="en-US" sz="1250" dirty="0"/>
          </a:p>
        </p:txBody>
      </p:sp>
      <p:sp>
        <p:nvSpPr>
          <p:cNvPr id="31" name="Text 28"/>
          <p:cNvSpPr/>
          <p:nvPr/>
        </p:nvSpPr>
        <p:spPr>
          <a:xfrm>
            <a:off x="6784848" y="2377440"/>
            <a:ext cx="1572768" cy="329184"/>
          </a:xfrm>
          <a:prstGeom prst="rect">
            <a:avLst/>
          </a:prstGeom>
          <a:noFill/>
          <a:ln/>
        </p:spPr>
        <p:txBody>
          <a:bodyPr wrap="square" lIns="0" tIns="0" rIns="0" bIns="0" rtlCol="0" anchor="ctr"/>
          <a:lstStyle/>
          <a:p>
            <a:pPr indent="0" marL="0">
              <a:buNone/>
            </a:pPr>
            <a:r>
              <a:rPr lang="en-US" sz="980" i="1" dirty="0">
                <a:solidFill>
                  <a:srgbClr val="5A6377"/>
                </a:solidFill>
                <a:latin typeface="Calibri" pitchFamily="34" charset="0"/>
                <a:ea typeface="Calibri" pitchFamily="34" charset="-122"/>
                <a:cs typeface="Calibri" pitchFamily="34" charset="-120"/>
              </a:rPr>
              <a:t>harmony of buddhi and atma</a:t>
            </a:r>
            <a:endParaRPr lang="en-US" sz="980" dirty="0"/>
          </a:p>
        </p:txBody>
      </p:sp>
      <p:sp>
        <p:nvSpPr>
          <p:cNvPr id="32" name="Text 29"/>
          <p:cNvSpPr/>
          <p:nvPr/>
        </p:nvSpPr>
        <p:spPr>
          <a:xfrm>
            <a:off x="640080" y="3017520"/>
            <a:ext cx="7955280" cy="685800"/>
          </a:xfrm>
          <a:prstGeom prst="rect">
            <a:avLst/>
          </a:prstGeom>
          <a:noFill/>
          <a:ln/>
        </p:spPr>
        <p:txBody>
          <a:bodyPr wrap="square" lIns="0" tIns="0" rIns="0" bIns="0" rtlCol="0" anchor="ctr"/>
          <a:lstStyle/>
          <a:p>
            <a:pPr indent="0" marL="0">
              <a:buNone/>
            </a:pPr>
            <a:r>
              <a:rPr lang="en-US" sz="1250" b="1" dirty="0">
                <a:solidFill>
                  <a:srgbClr val="1E2447"/>
                </a:solidFill>
                <a:latin typeface="Calibri" pitchFamily="34" charset="0"/>
                <a:ea typeface="Calibri" pitchFamily="34" charset="-122"/>
                <a:cs typeface="Calibri" pitchFamily="34" charset="-120"/>
              </a:rPr>
              <a:t xml:space="preserve">Awakening is felt harmony: </a:t>
            </a:r>
            <a:pPr indent="0" marL="0">
              <a:buNone/>
            </a:pPr>
            <a:r>
              <a:rPr lang="en-US" sz="1250" dirty="0">
                <a:solidFill>
                  <a:srgbClr val="5A6377"/>
                </a:solidFill>
                <a:latin typeface="Calibri" pitchFamily="34" charset="0"/>
                <a:ea typeface="Calibri" pitchFamily="34" charset="-122"/>
                <a:cs typeface="Calibri" pitchFamily="34" charset="-120"/>
              </a:rPr>
              <a:t>as the orbital faculties come into accordance with atma, the four jeevan values register in the lower faculties. Inward regulation — mediative atma disciplining faculties and body — channels jeevan’s energies toward development.</a:t>
            </a:r>
            <a:endParaRPr lang="en-US" sz="1250" dirty="0"/>
          </a:p>
        </p:txBody>
      </p:sp>
      <p:sp>
        <p:nvSpPr>
          <p:cNvPr id="33" name="Shape 30"/>
          <p:cNvSpPr/>
          <p:nvPr/>
        </p:nvSpPr>
        <p:spPr>
          <a:xfrm>
            <a:off x="640080" y="3840480"/>
            <a:ext cx="7863840" cy="777240"/>
          </a:xfrm>
          <a:prstGeom prst="roundRect">
            <a:avLst>
              <a:gd name="adj" fmla="val 10588"/>
            </a:avLst>
          </a:prstGeom>
          <a:solidFill>
            <a:srgbClr val="1E2447"/>
          </a:solidFill>
          <a:ln/>
          <a:effectLst>
            <a:outerShdw sx="100000" sy="100000" kx="0" ky="0" algn="bl" rotWithShape="0" blurRad="88900" dist="25400" dir="2700000">
              <a:srgbClr val="000000">
                <a:alpha val="13000"/>
              </a:srgbClr>
            </a:outerShdw>
          </a:effectLst>
        </p:spPr>
      </p:sp>
      <p:sp>
        <p:nvSpPr>
          <p:cNvPr id="34" name="Text 31"/>
          <p:cNvSpPr/>
          <p:nvPr/>
        </p:nvSpPr>
        <p:spPr>
          <a:xfrm>
            <a:off x="914400" y="3840480"/>
            <a:ext cx="7315200" cy="777240"/>
          </a:xfrm>
          <a:prstGeom prst="rect">
            <a:avLst/>
          </a:prstGeom>
          <a:noFill/>
          <a:ln/>
        </p:spPr>
        <p:txBody>
          <a:bodyPr wrap="square" lIns="0" tIns="0" rIns="0" bIns="0" rtlCol="0" anchor="ctr"/>
          <a:lstStyle/>
          <a:p>
            <a:pPr indent="0" marL="0">
              <a:buNone/>
            </a:pPr>
            <a:r>
              <a:rPr lang="en-US" sz="1350" i="1" dirty="0">
                <a:solidFill>
                  <a:srgbClr val="FFFFFF"/>
                </a:solidFill>
                <a:latin typeface="Calibri" pitchFamily="34" charset="0"/>
                <a:ea typeface="Calibri" pitchFamily="34" charset="-122"/>
                <a:cs typeface="Calibri" pitchFamily="34" charset="-120"/>
              </a:rPr>
              <a:t>“Jeevan continues to exist even after death as it does while driving a body.”</a:t>
            </a:r>
            <a:endParaRPr lang="en-US" sz="1350" dirty="0"/>
          </a:p>
          <a:p>
            <a:pPr indent="0" marL="0">
              <a:buNone/>
            </a:pPr>
            <a:r>
              <a:rPr lang="en-US" sz="1050" dirty="0">
                <a:solidFill>
                  <a:srgbClr val="C9D4EF"/>
                </a:solidFill>
                <a:latin typeface="Calibri" pitchFamily="34" charset="0"/>
                <a:ea typeface="Calibri" pitchFamily="34" charset="-122"/>
                <a:cs typeface="Calibri" pitchFamily="34" charset="-120"/>
              </a:rPr>
              <a:t>Constitutionally complete, jeevan persists across bodily birth and death, carrying impressions and its state of awakening.  — JV p. 20</a:t>
            </a:r>
            <a:endParaRPr lang="en-US" sz="1350" dirty="0"/>
          </a:p>
        </p:txBody>
      </p:sp>
      <p:sp>
        <p:nvSpPr>
          <p:cNvPr id="35" name="Text 32"/>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JV pp. 20, 138  ·  MVD pp. 77, 101, 277</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§1.9 · TWO COORDINATES OF CHANGE</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Progressions and Planes</a:t>
            </a:r>
            <a:endParaRPr lang="en-US" sz="3000" dirty="0"/>
          </a:p>
        </p:txBody>
      </p:sp>
      <p:sp>
        <p:nvSpPr>
          <p:cNvPr id="8" name="Text 5"/>
          <p:cNvSpPr/>
          <p:nvPr/>
        </p:nvSpPr>
        <p:spPr>
          <a:xfrm>
            <a:off x="640080" y="1280160"/>
            <a:ext cx="3931920" cy="274320"/>
          </a:xfrm>
          <a:prstGeom prst="rect">
            <a:avLst/>
          </a:prstGeom>
          <a:noFill/>
          <a:ln/>
        </p:spPr>
        <p:txBody>
          <a:bodyPr wrap="square" lIns="0" tIns="0" rIns="0" bIns="0" rtlCol="0" anchor="ctr"/>
          <a:lstStyle/>
          <a:p>
            <a:pPr indent="0" marL="0">
              <a:buNone/>
            </a:pPr>
            <a:r>
              <a:rPr lang="en-US" sz="1400" b="1" dirty="0">
                <a:solidFill>
                  <a:srgbClr val="1E2447"/>
                </a:solidFill>
                <a:latin typeface="Cambria" pitchFamily="34" charset="0"/>
                <a:ea typeface="Cambria" pitchFamily="34" charset="-122"/>
                <a:cs typeface="Cambria" pitchFamily="34" charset="-120"/>
              </a:rPr>
              <a:t>Four progressions (how nature moves)</a:t>
            </a:r>
            <a:endParaRPr lang="en-US" sz="1400" dirty="0"/>
          </a:p>
        </p:txBody>
      </p:sp>
      <p:sp>
        <p:nvSpPr>
          <p:cNvPr id="9" name="Shape 6"/>
          <p:cNvSpPr/>
          <p:nvPr/>
        </p:nvSpPr>
        <p:spPr>
          <a:xfrm>
            <a:off x="640080" y="1664208"/>
            <a:ext cx="310896" cy="310896"/>
          </a:xfrm>
          <a:prstGeom prst="ellipse">
            <a:avLst/>
          </a:prstGeom>
          <a:solidFill>
            <a:srgbClr val="3B4A7A"/>
          </a:solidFill>
          <a:ln/>
        </p:spPr>
      </p:sp>
      <p:sp>
        <p:nvSpPr>
          <p:cNvPr id="10" name="Text 7"/>
          <p:cNvSpPr/>
          <p:nvPr/>
        </p:nvSpPr>
        <p:spPr>
          <a:xfrm>
            <a:off x="640080" y="1664208"/>
            <a:ext cx="310896" cy="310896"/>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078992" y="1645920"/>
            <a:ext cx="3520440" cy="621792"/>
          </a:xfrm>
          <a:prstGeom prst="rect">
            <a:avLst/>
          </a:prstGeom>
          <a:noFill/>
          <a:ln/>
        </p:spPr>
        <p:txBody>
          <a:bodyPr wrap="square" lIns="0" tIns="0" rIns="0" bIns="0" rtlCol="0" anchor="ctr"/>
          <a:lstStyle/>
          <a:p>
            <a:pPr indent="0" marL="0">
              <a:buNone/>
            </a:pPr>
            <a:r>
              <a:rPr lang="en-US" sz="1080" b="1" i="1" dirty="0">
                <a:solidFill>
                  <a:srgbClr val="1E2447"/>
                </a:solidFill>
                <a:latin typeface="Calibri" pitchFamily="34" charset="0"/>
                <a:ea typeface="Calibri" pitchFamily="34" charset="-122"/>
                <a:cs typeface="Calibri" pitchFamily="34" charset="-120"/>
              </a:rPr>
              <a:t xml:space="preserve">Niyati-kram — </a:t>
            </a:r>
            <a:pPr indent="0" marL="0">
              <a:buNone/>
            </a:pPr>
            <a:r>
              <a:rPr lang="en-US" sz="1080" dirty="0">
                <a:solidFill>
                  <a:srgbClr val="5A6377"/>
                </a:solidFill>
                <a:latin typeface="Calibri" pitchFamily="34" charset="0"/>
                <a:ea typeface="Calibri" pitchFamily="34" charset="-122"/>
                <a:cs typeface="Calibri" pitchFamily="34" charset="-120"/>
              </a:rPr>
              <a:t>fixed order emergence: material → pranic → animal → knowledge</a:t>
            </a:r>
            <a:endParaRPr lang="en-US" sz="1080" dirty="0"/>
          </a:p>
        </p:txBody>
      </p:sp>
      <p:sp>
        <p:nvSpPr>
          <p:cNvPr id="12" name="Shape 9"/>
          <p:cNvSpPr/>
          <p:nvPr/>
        </p:nvSpPr>
        <p:spPr>
          <a:xfrm>
            <a:off x="640080" y="2322576"/>
            <a:ext cx="310896" cy="310896"/>
          </a:xfrm>
          <a:prstGeom prst="ellipse">
            <a:avLst/>
          </a:prstGeom>
          <a:solidFill>
            <a:srgbClr val="3B4A7A"/>
          </a:solidFill>
          <a:ln/>
        </p:spPr>
      </p:sp>
      <p:sp>
        <p:nvSpPr>
          <p:cNvPr id="13" name="Text 10"/>
          <p:cNvSpPr/>
          <p:nvPr/>
        </p:nvSpPr>
        <p:spPr>
          <a:xfrm>
            <a:off x="640080" y="2322576"/>
            <a:ext cx="310896" cy="310896"/>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1078992" y="2304288"/>
            <a:ext cx="3520440" cy="621792"/>
          </a:xfrm>
          <a:prstGeom prst="rect">
            <a:avLst/>
          </a:prstGeom>
          <a:noFill/>
          <a:ln/>
        </p:spPr>
        <p:txBody>
          <a:bodyPr wrap="square" lIns="0" tIns="0" rIns="0" bIns="0" rtlCol="0" anchor="ctr"/>
          <a:lstStyle/>
          <a:p>
            <a:pPr indent="0" marL="0">
              <a:buNone/>
            </a:pPr>
            <a:r>
              <a:rPr lang="en-US" sz="1080" b="1" i="1" dirty="0">
                <a:solidFill>
                  <a:srgbClr val="1E2447"/>
                </a:solidFill>
                <a:latin typeface="Calibri" pitchFamily="34" charset="0"/>
                <a:ea typeface="Calibri" pitchFamily="34" charset="-122"/>
                <a:cs typeface="Calibri" pitchFamily="34" charset="-120"/>
              </a:rPr>
              <a:t xml:space="preserve">Niyati-vidhi — </a:t>
            </a:r>
            <a:pPr indent="0" marL="0">
              <a:buNone/>
            </a:pPr>
            <a:r>
              <a:rPr lang="en-US" sz="1080" dirty="0">
                <a:solidFill>
                  <a:srgbClr val="5A6377"/>
                </a:solidFill>
                <a:latin typeface="Calibri" pitchFamily="34" charset="0"/>
                <a:ea typeface="Calibri" pitchFamily="34" charset="-122"/>
                <a:cs typeface="Calibri" pitchFamily="34" charset="-120"/>
              </a:rPr>
              <a:t>definiteness in each order’s proper conduct</a:t>
            </a:r>
            <a:endParaRPr lang="en-US" sz="1080" dirty="0"/>
          </a:p>
        </p:txBody>
      </p:sp>
      <p:sp>
        <p:nvSpPr>
          <p:cNvPr id="15" name="Shape 12"/>
          <p:cNvSpPr/>
          <p:nvPr/>
        </p:nvSpPr>
        <p:spPr>
          <a:xfrm>
            <a:off x="640080" y="2980944"/>
            <a:ext cx="310896" cy="310896"/>
          </a:xfrm>
          <a:prstGeom prst="ellipse">
            <a:avLst/>
          </a:prstGeom>
          <a:solidFill>
            <a:srgbClr val="3B4A7A"/>
          </a:solidFill>
          <a:ln/>
        </p:spPr>
      </p:sp>
      <p:sp>
        <p:nvSpPr>
          <p:cNvPr id="16" name="Text 13"/>
          <p:cNvSpPr/>
          <p:nvPr/>
        </p:nvSpPr>
        <p:spPr>
          <a:xfrm>
            <a:off x="640080" y="2980944"/>
            <a:ext cx="310896" cy="310896"/>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078992" y="2962656"/>
            <a:ext cx="3520440" cy="621792"/>
          </a:xfrm>
          <a:prstGeom prst="rect">
            <a:avLst/>
          </a:prstGeom>
          <a:noFill/>
          <a:ln/>
        </p:spPr>
        <p:txBody>
          <a:bodyPr wrap="square" lIns="0" tIns="0" rIns="0" bIns="0" rtlCol="0" anchor="ctr"/>
          <a:lstStyle/>
          <a:p>
            <a:pPr indent="0" marL="0">
              <a:buNone/>
            </a:pPr>
            <a:r>
              <a:rPr lang="en-US" sz="1080" b="1" i="1" dirty="0">
                <a:solidFill>
                  <a:srgbClr val="1E2447"/>
                </a:solidFill>
                <a:latin typeface="Calibri" pitchFamily="34" charset="0"/>
                <a:ea typeface="Calibri" pitchFamily="34" charset="-122"/>
                <a:cs typeface="Calibri" pitchFamily="34" charset="-120"/>
              </a:rPr>
              <a:t xml:space="preserve">Vikas-kram — </a:t>
            </a:r>
            <a:pPr indent="0" marL="0">
              <a:buNone/>
            </a:pPr>
            <a:r>
              <a:rPr lang="en-US" sz="1080" dirty="0">
                <a:solidFill>
                  <a:srgbClr val="5A6377"/>
                </a:solidFill>
                <a:latin typeface="Calibri" pitchFamily="34" charset="0"/>
                <a:ea typeface="Calibri" pitchFamily="34" charset="-122"/>
                <a:cs typeface="Calibri" pitchFamily="34" charset="-120"/>
              </a:rPr>
              <a:t>atomic development up to constitutional completeness (T1)</a:t>
            </a:r>
            <a:endParaRPr lang="en-US" sz="1080" dirty="0"/>
          </a:p>
        </p:txBody>
      </p:sp>
      <p:sp>
        <p:nvSpPr>
          <p:cNvPr id="18" name="Shape 15"/>
          <p:cNvSpPr/>
          <p:nvPr/>
        </p:nvSpPr>
        <p:spPr>
          <a:xfrm>
            <a:off x="640080" y="3639312"/>
            <a:ext cx="310896" cy="310896"/>
          </a:xfrm>
          <a:prstGeom prst="ellipse">
            <a:avLst/>
          </a:prstGeom>
          <a:solidFill>
            <a:srgbClr val="3B4A7A"/>
          </a:solidFill>
          <a:ln/>
        </p:spPr>
      </p:sp>
      <p:sp>
        <p:nvSpPr>
          <p:cNvPr id="19" name="Text 16"/>
          <p:cNvSpPr/>
          <p:nvPr/>
        </p:nvSpPr>
        <p:spPr>
          <a:xfrm>
            <a:off x="640080" y="3639312"/>
            <a:ext cx="310896" cy="310896"/>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1078992" y="3621024"/>
            <a:ext cx="3520440" cy="621792"/>
          </a:xfrm>
          <a:prstGeom prst="rect">
            <a:avLst/>
          </a:prstGeom>
          <a:noFill/>
          <a:ln/>
        </p:spPr>
        <p:txBody>
          <a:bodyPr wrap="square" lIns="0" tIns="0" rIns="0" bIns="0" rtlCol="0" anchor="ctr"/>
          <a:lstStyle/>
          <a:p>
            <a:pPr indent="0" marL="0">
              <a:buNone/>
            </a:pPr>
            <a:r>
              <a:rPr lang="en-US" sz="1080" b="1" i="1" dirty="0">
                <a:solidFill>
                  <a:srgbClr val="1E2447"/>
                </a:solidFill>
                <a:latin typeface="Calibri" pitchFamily="34" charset="0"/>
                <a:ea typeface="Calibri" pitchFamily="34" charset="-122"/>
                <a:cs typeface="Calibri" pitchFamily="34" charset="-120"/>
              </a:rPr>
              <a:t xml:space="preserve">Jagriti-kram — </a:t>
            </a:r>
            <a:pPr indent="0" marL="0">
              <a:buNone/>
            </a:pPr>
            <a:r>
              <a:rPr lang="en-US" sz="1080" dirty="0">
                <a:solidFill>
                  <a:srgbClr val="5A6377"/>
                </a:solidFill>
                <a:latin typeface="Calibri" pitchFamily="34" charset="0"/>
                <a:ea typeface="Calibri" pitchFamily="34" charset="-122"/>
                <a:cs typeface="Calibri" pitchFamily="34" charset="-120"/>
              </a:rPr>
              <a:t>awakening within jeevan toward fuller activity and conduct</a:t>
            </a:r>
            <a:endParaRPr lang="en-US" sz="1080" dirty="0"/>
          </a:p>
        </p:txBody>
      </p:sp>
      <p:sp>
        <p:nvSpPr>
          <p:cNvPr id="21" name="Text 18"/>
          <p:cNvSpPr/>
          <p:nvPr/>
        </p:nvSpPr>
        <p:spPr>
          <a:xfrm>
            <a:off x="640080" y="4224528"/>
            <a:ext cx="3977640" cy="502920"/>
          </a:xfrm>
          <a:prstGeom prst="rect">
            <a:avLst/>
          </a:prstGeom>
          <a:noFill/>
          <a:ln/>
        </p:spPr>
        <p:txBody>
          <a:bodyPr wrap="square" lIns="0" tIns="0" rIns="0" bIns="0" rtlCol="0" anchor="ctr"/>
          <a:lstStyle/>
          <a:p>
            <a:pPr indent="0" marL="0">
              <a:buNone/>
            </a:pPr>
            <a:r>
              <a:rPr lang="en-US" sz="980" i="1" dirty="0">
                <a:solidFill>
                  <a:srgbClr val="9A6414"/>
                </a:solidFill>
                <a:latin typeface="Calibri" pitchFamily="34" charset="0"/>
                <a:ea typeface="Calibri" pitchFamily="34" charset="-122"/>
                <a:cs typeface="Calibri" pitchFamily="34" charset="-120"/>
              </a:rPr>
              <a:t>The two axes meet at the pranic→animal junction: the order chain delivers the animal body; atomic completeness delivers the jeevan atom.</a:t>
            </a:r>
            <a:endParaRPr lang="en-US" sz="980" dirty="0"/>
          </a:p>
        </p:txBody>
      </p:sp>
      <p:sp>
        <p:nvSpPr>
          <p:cNvPr id="22" name="Text 19"/>
          <p:cNvSpPr/>
          <p:nvPr/>
        </p:nvSpPr>
        <p:spPr>
          <a:xfrm>
            <a:off x="4892040" y="1280160"/>
            <a:ext cx="3749040" cy="274320"/>
          </a:xfrm>
          <a:prstGeom prst="rect">
            <a:avLst/>
          </a:prstGeom>
          <a:noFill/>
          <a:ln/>
        </p:spPr>
        <p:txBody>
          <a:bodyPr wrap="square" lIns="0" tIns="0" rIns="0" bIns="0" rtlCol="0" anchor="ctr"/>
          <a:lstStyle/>
          <a:p>
            <a:pPr indent="0" marL="0">
              <a:buNone/>
            </a:pPr>
            <a:r>
              <a:rPr lang="en-US" sz="1400" b="1" dirty="0">
                <a:solidFill>
                  <a:srgbClr val="1E2447"/>
                </a:solidFill>
                <a:latin typeface="Cambria" pitchFamily="34" charset="0"/>
                <a:ea typeface="Cambria" pitchFamily="34" charset="-122"/>
                <a:cs typeface="Cambria" pitchFamily="34" charset="-120"/>
              </a:rPr>
              <a:t>Four planes (where a unit stands)</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892040" y="1645920"/>
          <a:ext cx="3749040" cy="914400"/>
        </p:xfrm>
        <a:graphic>
          <a:graphicData uri="http://schemas.openxmlformats.org/drawingml/2006/table">
            <a:tbl>
              <a:tblPr/>
              <a:tblGrid>
                <a:gridCol w="1554480"/>
                <a:gridCol w="2194560"/>
              </a:tblGrid>
              <a:tr h="310896">
                <a:tc>
                  <a:txBody>
                    <a:bodyPr/>
                    <a:lstStyle/>
                    <a:p>
                      <a:pPr indent="0" marL="0">
                        <a:buNone/>
                      </a:pPr>
                      <a:r>
                        <a:rPr lang="en-US" sz="1080" b="1" dirty="0">
                          <a:solidFill>
                            <a:srgbClr val="FFFFFF"/>
                          </a:solidFill>
                          <a:latin typeface="Calibri" pitchFamily="34" charset="0"/>
                          <a:ea typeface="Calibri" pitchFamily="34" charset="-122"/>
                          <a:cs typeface="Calibri" pitchFamily="34" charset="-120"/>
                        </a:rPr>
                        <a:t>Order</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1E2447"/>
                    </a:solidFill>
                  </a:tcPr>
                </a:tc>
                <a:tc>
                  <a:txBody>
                    <a:bodyPr/>
                    <a:lstStyle/>
                    <a:p>
                      <a:pPr indent="0" marL="0">
                        <a:buNone/>
                      </a:pPr>
                      <a:r>
                        <a:rPr lang="en-US" sz="1080" b="1" dirty="0">
                          <a:solidFill>
                            <a:srgbClr val="FFFFFF"/>
                          </a:solidFill>
                          <a:latin typeface="Calibri" pitchFamily="34" charset="0"/>
                          <a:ea typeface="Calibri" pitchFamily="34" charset="-122"/>
                          <a:cs typeface="Calibri" pitchFamily="34" charset="-120"/>
                        </a:rPr>
                        <a:t>Plane(s) occupied</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1E2447"/>
                    </a:solidFill>
                  </a:tcPr>
                </a:tc>
              </a:tr>
              <a:tr h="384048">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Material</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Physicochemical</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r h="384048">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Bio / pranic</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Physicochemical</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r h="384048">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Animal</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Delusional</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r h="457200">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Knowledge / human</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Delusional → deific → divine</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bl>
          </a:graphicData>
        </a:graphic>
      </p:graphicFrame>
      <p:sp>
        <p:nvSpPr>
          <p:cNvPr id="24" name="Text 20"/>
          <p:cNvSpPr/>
          <p:nvPr/>
        </p:nvSpPr>
        <p:spPr>
          <a:xfrm>
            <a:off x="4892040" y="3794760"/>
            <a:ext cx="3749040" cy="960120"/>
          </a:xfrm>
          <a:prstGeom prst="rect">
            <a:avLst/>
          </a:prstGeom>
          <a:noFill/>
          <a:ln/>
        </p:spPr>
        <p:txBody>
          <a:bodyPr wrap="square" lIns="0" tIns="0" rIns="0" bIns="0" rtlCol="0" anchor="ctr"/>
          <a:lstStyle/>
          <a:p>
            <a:pPr indent="0" marL="0">
              <a:buNone/>
            </a:pPr>
            <a:r>
              <a:rPr lang="en-US" sz="1000" dirty="0">
                <a:solidFill>
                  <a:srgbClr val="5A6377"/>
                </a:solidFill>
                <a:latin typeface="Calibri" pitchFamily="34" charset="0"/>
                <a:ea typeface="Calibri" pitchFamily="34" charset="-122"/>
                <a:cs typeface="Calibri" pitchFamily="34" charset="-120"/>
              </a:rPr>
              <a:t>Order names what a unit is; plane (pad) names how far its development has gone. Two orders map to one plane; one order spans three — the axes never line up one-to-one. Five human types mark degrees of awakening across the last three planes.</a:t>
            </a:r>
            <a:endParaRPr lang="en-US" sz="1000" dirty="0"/>
          </a:p>
        </p:txBody>
      </p:sp>
      <p:sp>
        <p:nvSpPr>
          <p:cNvPr id="25" name="Text 21"/>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MVD pp. 8, 13–14, 91, 160  ·  SB pp. 52, 76–78</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§§1.11–1.12 · WHY “MADHYASTH”</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Regulation, Law, and Justice</a:t>
            </a:r>
            <a:endParaRPr lang="en-US" sz="3000" dirty="0"/>
          </a:p>
        </p:txBody>
      </p:sp>
      <p:sp>
        <p:nvSpPr>
          <p:cNvPr id="8" name="Text 5"/>
          <p:cNvSpPr/>
          <p:nvPr/>
        </p:nvSpPr>
        <p:spPr>
          <a:xfrm>
            <a:off x="640080" y="1234440"/>
            <a:ext cx="7955280" cy="566928"/>
          </a:xfrm>
          <a:prstGeom prst="rect">
            <a:avLst/>
          </a:prstGeom>
          <a:noFill/>
          <a:ln/>
        </p:spPr>
        <p:txBody>
          <a:bodyPr wrap="square" lIns="0" tIns="0" rIns="0" bIns="0" rtlCol="0" anchor="ctr"/>
          <a:lstStyle/>
          <a:p>
            <a:pPr indent="0" marL="0">
              <a:buNone/>
            </a:pPr>
            <a:r>
              <a:rPr lang="en-US" sz="1250" dirty="0">
                <a:solidFill>
                  <a:srgbClr val="5A6377"/>
                </a:solidFill>
                <a:latin typeface="Calibri" pitchFamily="34" charset="0"/>
                <a:ea typeface="Calibri" pitchFamily="34" charset="-122"/>
                <a:cs typeface="Calibri" pitchFamily="34" charset="-120"/>
              </a:rPr>
              <a:t xml:space="preserve">Orderliness is self-regulation, inherent in saturated units — not dispensed by a cosmic governor. </a:t>
            </a:r>
            <a:pPr indent="0" marL="0">
              <a:buNone/>
            </a:pPr>
            <a:r>
              <a:rPr lang="en-US" sz="1250" b="1" dirty="0">
                <a:solidFill>
                  <a:srgbClr val="1E2447"/>
                </a:solidFill>
                <a:latin typeface="Calibri" pitchFamily="34" charset="0"/>
                <a:ea typeface="Calibri" pitchFamily="34" charset="-122"/>
                <a:cs typeface="Calibri" pitchFamily="34" charset="-120"/>
              </a:rPr>
              <a:t>This mediative (madhyasth) regulation, which regulates and conserves every unit, gives the darshan its name.</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7863840" cy="914400"/>
        </p:xfrm>
        <a:graphic>
          <a:graphicData uri="http://schemas.openxmlformats.org/drawingml/2006/table">
            <a:tbl>
              <a:tblPr/>
              <a:tblGrid>
                <a:gridCol w="1554480"/>
                <a:gridCol w="3017520"/>
                <a:gridCol w="3291840"/>
              </a:tblGrid>
              <a:tr h="310896">
                <a:tc>
                  <a:txBody>
                    <a:bodyPr/>
                    <a:lstStyle/>
                    <a:p>
                      <a:pPr indent="0" marL="0">
                        <a:buNone/>
                      </a:pPr>
                      <a:r>
                        <a:rPr lang="en-US" sz="1080" b="1" dirty="0">
                          <a:solidFill>
                            <a:srgbClr val="FFFFFF"/>
                          </a:solidFill>
                          <a:latin typeface="Calibri" pitchFamily="34" charset="0"/>
                          <a:ea typeface="Calibri" pitchFamily="34" charset="-122"/>
                          <a:cs typeface="Calibri" pitchFamily="34" charset="-120"/>
                        </a:rPr>
                        <a:t>Order</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1E2447"/>
                    </a:solidFill>
                  </a:tcPr>
                </a:tc>
                <a:tc>
                  <a:txBody>
                    <a:bodyPr/>
                    <a:lstStyle/>
                    <a:p>
                      <a:pPr indent="0" marL="0">
                        <a:buNone/>
                      </a:pPr>
                      <a:r>
                        <a:rPr lang="en-US" sz="1080" b="1" dirty="0">
                          <a:solidFill>
                            <a:srgbClr val="FFFFFF"/>
                          </a:solidFill>
                          <a:latin typeface="Calibri" pitchFamily="34" charset="0"/>
                          <a:ea typeface="Calibri" pitchFamily="34" charset="-122"/>
                          <a:cs typeface="Calibri" pitchFamily="34" charset="-120"/>
                        </a:rPr>
                        <a:t>Conformance mode (niyati-vidhi)</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1E2447"/>
                    </a:solidFill>
                  </a:tcPr>
                </a:tc>
                <a:tc>
                  <a:txBody>
                    <a:bodyPr/>
                    <a:lstStyle/>
                    <a:p>
                      <a:pPr indent="0" marL="0">
                        <a:buNone/>
                      </a:pPr>
                      <a:r>
                        <a:rPr lang="en-US" sz="1080" b="1" dirty="0">
                          <a:solidFill>
                            <a:srgbClr val="FFFFFF"/>
                          </a:solidFill>
                          <a:latin typeface="Calibri" pitchFamily="34" charset="0"/>
                          <a:ea typeface="Calibri" pitchFamily="34" charset="-122"/>
                          <a:cs typeface="Calibri" pitchFamily="34" charset="-120"/>
                        </a:rPr>
                        <a:t>Definite or achieved</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1E2447"/>
                    </a:solidFill>
                  </a:tcPr>
                </a:tc>
              </a:tr>
              <a:tr h="347472">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Material</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result- / structural-conformance</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definite</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r h="347472">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Bio / pranic</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seed-conformance</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definite</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r h="347472">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Animal</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species-conformance (via adhyasa)</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definite</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r h="457200">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Knowledge / human</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sanskar-conformance</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achieved: knowing → believing → recognising → fulfilling</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bl>
          </a:graphicData>
        </a:graphic>
      </p:graphicFrame>
      <p:sp>
        <p:nvSpPr>
          <p:cNvPr id="10" name="Shape 6"/>
          <p:cNvSpPr/>
          <p:nvPr/>
        </p:nvSpPr>
        <p:spPr>
          <a:xfrm>
            <a:off x="640080" y="3977640"/>
            <a:ext cx="7863840" cy="731520"/>
          </a:xfrm>
          <a:prstGeom prst="roundRect">
            <a:avLst>
              <a:gd name="adj" fmla="val 11250"/>
            </a:avLst>
          </a:prstGeom>
          <a:solidFill>
            <a:srgbClr val="FAF1DF"/>
          </a:solidFill>
          <a:ln/>
        </p:spPr>
      </p:sp>
      <p:sp>
        <p:nvSpPr>
          <p:cNvPr id="11" name="Text 7"/>
          <p:cNvSpPr/>
          <p:nvPr/>
        </p:nvSpPr>
        <p:spPr>
          <a:xfrm>
            <a:off x="868680" y="3977640"/>
            <a:ext cx="7406640" cy="731520"/>
          </a:xfrm>
          <a:prstGeom prst="rect">
            <a:avLst/>
          </a:prstGeom>
          <a:noFill/>
          <a:ln/>
        </p:spPr>
        <p:txBody>
          <a:bodyPr wrap="square" lIns="0" tIns="0" rIns="0" bIns="0" rtlCol="0" anchor="ctr"/>
          <a:lstStyle/>
          <a:p>
            <a:pPr indent="0" marL="0">
              <a:buNone/>
            </a:pPr>
            <a:r>
              <a:rPr lang="en-US" sz="1100" b="1" dirty="0">
                <a:solidFill>
                  <a:srgbClr val="9A6414"/>
                </a:solidFill>
                <a:latin typeface="Calibri" pitchFamily="34" charset="0"/>
                <a:ea typeface="Calibri" pitchFamily="34" charset="-122"/>
                <a:cs typeface="Calibri" pitchFamily="34" charset="-120"/>
              </a:rPr>
              <a:t xml:space="preserve">Justice (nyaya) </a:t>
            </a:r>
            <a:pPr indent="0" marL="0">
              <a:buNone/>
            </a:pPr>
            <a:r>
              <a:rPr lang="en-US" sz="1100" dirty="0">
                <a:solidFill>
                  <a:srgbClr val="5A6377"/>
                </a:solidFill>
                <a:latin typeface="Calibri" pitchFamily="34" charset="0"/>
                <a:ea typeface="Calibri" pitchFamily="34" charset="-122"/>
                <a:cs typeface="Calibri" pitchFamily="34" charset="-120"/>
              </a:rPr>
              <a:t>names the evaluative closure of the relational cycle at the knowledge order: recognising relationships, fulfilling values, evaluating, achieving mutual satisfaction. Awakened evaluation takes refuge in justice, dharma, and truth — not merely pleasant, healthy, and profitable.</a:t>
            </a:r>
            <a:endParaRPr lang="en-US" sz="1100" dirty="0"/>
          </a:p>
        </p:txBody>
      </p:sp>
      <p:sp>
        <p:nvSpPr>
          <p:cNvPr id="12" name="Text 8"/>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SB p. 57  ·  MVD pp. 26–27, 67, 137, 311</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§1.13 · WHERE THE DRIVE TERMINATES</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Realisation in Coexistence</a:t>
            </a:r>
            <a:endParaRPr lang="en-US" sz="3000" dirty="0"/>
          </a:p>
        </p:txBody>
      </p:sp>
      <p:sp>
        <p:nvSpPr>
          <p:cNvPr id="8" name="Text 5"/>
          <p:cNvSpPr/>
          <p:nvPr/>
        </p:nvSpPr>
        <p:spPr>
          <a:xfrm>
            <a:off x="640080" y="1207008"/>
            <a:ext cx="7955280" cy="502920"/>
          </a:xfrm>
          <a:prstGeom prst="rect">
            <a:avLst/>
          </a:prstGeom>
          <a:noFill/>
          <a:ln/>
        </p:spPr>
        <p:txBody>
          <a:bodyPr wrap="square" lIns="0" tIns="0" rIns="0" bIns="0" rtlCol="0" anchor="ctr"/>
          <a:lstStyle/>
          <a:p>
            <a:pPr indent="0" marL="0">
              <a:buNone/>
            </a:pPr>
            <a:r>
              <a:rPr lang="en-US" sz="1250" dirty="0">
                <a:solidFill>
                  <a:srgbClr val="5A6377"/>
                </a:solidFill>
                <a:latin typeface="Calibri" pitchFamily="34" charset="0"/>
                <a:ea typeface="Calibri" pitchFamily="34" charset="-122"/>
                <a:cs typeface="Calibri" pitchFamily="34" charset="-120"/>
              </a:rPr>
              <a:t>The drive comes to rest when relationships across nature are fulfilled and made evident in coexistence — not because satta becomes a knower, but because awakened jeevan lives out what was always latent in the bond. Realisation itself is awakening; recognising and fulfilling then become its living proof.</a:t>
            </a:r>
            <a:endParaRPr lang="en-US" sz="1250" dirty="0"/>
          </a:p>
        </p:txBody>
      </p:sp>
      <p:sp>
        <p:nvSpPr>
          <p:cNvPr id="9" name="Shape 6"/>
          <p:cNvSpPr/>
          <p:nvPr/>
        </p:nvSpPr>
        <p:spPr>
          <a:xfrm>
            <a:off x="640080" y="1828800"/>
            <a:ext cx="3794760" cy="1280160"/>
          </a:xfrm>
          <a:prstGeom prst="roundRect">
            <a:avLst>
              <a:gd name="adj" fmla="val 6429"/>
            </a:avLst>
          </a:prstGeom>
          <a:solidFill>
            <a:srgbClr val="EEF1F8"/>
          </a:solidFill>
          <a:ln/>
          <a:effectLst>
            <a:outerShdw sx="100000" sy="100000" kx="0" ky="0" algn="bl" rotWithShape="0" blurRad="88900" dist="25400" dir="2700000">
              <a:srgbClr val="000000">
                <a:alpha val="13000"/>
              </a:srgbClr>
            </a:outerShdw>
          </a:effectLst>
        </p:spPr>
      </p:sp>
      <p:sp>
        <p:nvSpPr>
          <p:cNvPr id="10" name="Text 7"/>
          <p:cNvSpPr/>
          <p:nvPr/>
        </p:nvSpPr>
        <p:spPr>
          <a:xfrm>
            <a:off x="841248" y="1947672"/>
            <a:ext cx="3429000" cy="292608"/>
          </a:xfrm>
          <a:prstGeom prst="rect">
            <a:avLst/>
          </a:prstGeom>
          <a:noFill/>
          <a:ln/>
        </p:spPr>
        <p:txBody>
          <a:bodyPr wrap="square" lIns="0" tIns="0" rIns="0" bIns="0" rtlCol="0" anchor="ctr"/>
          <a:lstStyle/>
          <a:p>
            <a:pPr indent="0" marL="0">
              <a:buNone/>
            </a:pPr>
            <a:r>
              <a:rPr lang="en-US" sz="1250" b="1" dirty="0">
                <a:solidFill>
                  <a:srgbClr val="1E2447"/>
                </a:solidFill>
                <a:latin typeface="Cambria" pitchFamily="34" charset="0"/>
                <a:ea typeface="Cambria" pitchFamily="34" charset="-122"/>
                <a:cs typeface="Cambria" pitchFamily="34" charset="-120"/>
              </a:rPr>
              <a:t>Realisation is bliss (anand)</a:t>
            </a:r>
            <a:endParaRPr lang="en-US" sz="1250" dirty="0"/>
          </a:p>
        </p:txBody>
      </p:sp>
      <p:sp>
        <p:nvSpPr>
          <p:cNvPr id="11" name="Text 8"/>
          <p:cNvSpPr/>
          <p:nvPr/>
        </p:nvSpPr>
        <p:spPr>
          <a:xfrm>
            <a:off x="841248" y="2286000"/>
            <a:ext cx="3429000" cy="749808"/>
          </a:xfrm>
          <a:prstGeom prst="rect">
            <a:avLst/>
          </a:prstGeom>
          <a:noFill/>
          <a:ln/>
        </p:spPr>
        <p:txBody>
          <a:bodyPr wrap="square" lIns="0" tIns="0" rIns="0" bIns="0" rtlCol="0" anchor="ctr"/>
          <a:lstStyle/>
          <a:p>
            <a:pPr indent="0" marL="0">
              <a:buNone/>
            </a:pPr>
            <a:r>
              <a:rPr lang="en-US" sz="1030" dirty="0">
                <a:solidFill>
                  <a:srgbClr val="5A6377"/>
                </a:solidFill>
                <a:latin typeface="Calibri" pitchFamily="34" charset="0"/>
                <a:ea typeface="Calibri" pitchFamily="34" charset="-122"/>
                <a:cs typeface="Calibri" pitchFamily="34" charset="-120"/>
              </a:rPr>
              <a:t>“Truth itself is abundance (coexistence), realisation of abundance itself is bliss, bliss itself is jeevan.” And it is knowledge itself: what is realised is the ground the unit was always soaked in.</a:t>
            </a:r>
            <a:endParaRPr lang="en-US" sz="1030" dirty="0"/>
          </a:p>
        </p:txBody>
      </p:sp>
      <p:sp>
        <p:nvSpPr>
          <p:cNvPr id="12" name="Shape 9"/>
          <p:cNvSpPr/>
          <p:nvPr/>
        </p:nvSpPr>
        <p:spPr>
          <a:xfrm>
            <a:off x="4709160" y="1828800"/>
            <a:ext cx="3794760" cy="1280160"/>
          </a:xfrm>
          <a:prstGeom prst="roundRect">
            <a:avLst>
              <a:gd name="adj" fmla="val 6429"/>
            </a:avLst>
          </a:prstGeom>
          <a:solidFill>
            <a:srgbClr val="EEF1F8"/>
          </a:solidFill>
          <a:ln/>
          <a:effectLst>
            <a:outerShdw sx="100000" sy="100000" kx="0" ky="0" algn="bl" rotWithShape="0" blurRad="88900" dist="25400" dir="2700000">
              <a:srgbClr val="000000">
                <a:alpha val="13000"/>
              </a:srgbClr>
            </a:outerShdw>
          </a:effectLst>
        </p:spPr>
      </p:sp>
      <p:sp>
        <p:nvSpPr>
          <p:cNvPr id="13" name="Text 10"/>
          <p:cNvSpPr/>
          <p:nvPr/>
        </p:nvSpPr>
        <p:spPr>
          <a:xfrm>
            <a:off x="4910328" y="1947672"/>
            <a:ext cx="3429000" cy="292608"/>
          </a:xfrm>
          <a:prstGeom prst="rect">
            <a:avLst/>
          </a:prstGeom>
          <a:noFill/>
          <a:ln/>
        </p:spPr>
        <p:txBody>
          <a:bodyPr wrap="square" lIns="0" tIns="0" rIns="0" bIns="0" rtlCol="0" anchor="ctr"/>
          <a:lstStyle/>
          <a:p>
            <a:pPr indent="0" marL="0">
              <a:buNone/>
            </a:pPr>
            <a:r>
              <a:rPr lang="en-US" sz="1250" b="1" dirty="0">
                <a:solidFill>
                  <a:srgbClr val="1E2447"/>
                </a:solidFill>
                <a:latin typeface="Cambria" pitchFamily="34" charset="0"/>
                <a:ea typeface="Cambria" pitchFamily="34" charset="-122"/>
                <a:cs typeface="Cambria" pitchFamily="34" charset="-120"/>
              </a:rPr>
              <a:t>Knowledge — in projection</a:t>
            </a:r>
            <a:endParaRPr lang="en-US" sz="1250" dirty="0"/>
          </a:p>
        </p:txBody>
      </p:sp>
      <p:sp>
        <p:nvSpPr>
          <p:cNvPr id="14" name="Text 11"/>
          <p:cNvSpPr/>
          <p:nvPr/>
        </p:nvSpPr>
        <p:spPr>
          <a:xfrm>
            <a:off x="4910328" y="2286000"/>
            <a:ext cx="3429000" cy="749808"/>
          </a:xfrm>
          <a:prstGeom prst="rect">
            <a:avLst/>
          </a:prstGeom>
          <a:noFill/>
          <a:ln/>
        </p:spPr>
        <p:txBody>
          <a:bodyPr wrap="square" lIns="0" tIns="0" rIns="0" bIns="0" rtlCol="0" anchor="ctr"/>
          <a:lstStyle/>
          <a:p>
            <a:pPr indent="0" marL="0">
              <a:buNone/>
            </a:pPr>
            <a:r>
              <a:rPr lang="en-US" sz="1030" dirty="0">
                <a:solidFill>
                  <a:srgbClr val="5A6377"/>
                </a:solidFill>
                <a:latin typeface="Calibri" pitchFamily="34" charset="0"/>
                <a:ea typeface="Calibri" pitchFamily="34" charset="-122"/>
                <a:cs typeface="Calibri" pitchFamily="34" charset="-120"/>
              </a:rPr>
              <a:t>Realisation projected outward is authenticity — knowledge, wisdom, and science (gyan–vivek–vigyan) unfolding into conduct (gyan udghatan).</a:t>
            </a:r>
            <a:endParaRPr lang="en-US" sz="1030" dirty="0"/>
          </a:p>
        </p:txBody>
      </p:sp>
      <p:sp>
        <p:nvSpPr>
          <p:cNvPr id="15" name="Shape 12"/>
          <p:cNvSpPr/>
          <p:nvPr/>
        </p:nvSpPr>
        <p:spPr>
          <a:xfrm>
            <a:off x="640080" y="3246120"/>
            <a:ext cx="3794760" cy="1280160"/>
          </a:xfrm>
          <a:prstGeom prst="roundRect">
            <a:avLst>
              <a:gd name="adj" fmla="val 6429"/>
            </a:avLst>
          </a:prstGeom>
          <a:solidFill>
            <a:srgbClr val="EEF1F8"/>
          </a:solidFill>
          <a:ln/>
          <a:effectLst>
            <a:outerShdw sx="100000" sy="100000" kx="0" ky="0" algn="bl" rotWithShape="0" blurRad="88900" dist="25400" dir="2700000">
              <a:srgbClr val="000000">
                <a:alpha val="13000"/>
              </a:srgbClr>
            </a:outerShdw>
          </a:effectLst>
        </p:spPr>
      </p:sp>
      <p:sp>
        <p:nvSpPr>
          <p:cNvPr id="16" name="Text 13"/>
          <p:cNvSpPr/>
          <p:nvPr/>
        </p:nvSpPr>
        <p:spPr>
          <a:xfrm>
            <a:off x="841248" y="3364992"/>
            <a:ext cx="3429000" cy="292608"/>
          </a:xfrm>
          <a:prstGeom prst="rect">
            <a:avLst/>
          </a:prstGeom>
          <a:noFill/>
          <a:ln/>
        </p:spPr>
        <p:txBody>
          <a:bodyPr wrap="square" lIns="0" tIns="0" rIns="0" bIns="0" rtlCol="0" anchor="ctr"/>
          <a:lstStyle/>
          <a:p>
            <a:pPr indent="0" marL="0">
              <a:buNone/>
            </a:pPr>
            <a:r>
              <a:rPr lang="en-US" sz="1250" b="1" dirty="0">
                <a:solidFill>
                  <a:srgbClr val="1E2447"/>
                </a:solidFill>
                <a:latin typeface="Cambria" pitchFamily="34" charset="0"/>
                <a:ea typeface="Cambria" pitchFamily="34" charset="-122"/>
                <a:cs typeface="Cambria" pitchFamily="34" charset="-120"/>
              </a:rPr>
              <a:t>Knower — in reflection</a:t>
            </a:r>
            <a:endParaRPr lang="en-US" sz="1250" dirty="0"/>
          </a:p>
        </p:txBody>
      </p:sp>
      <p:sp>
        <p:nvSpPr>
          <p:cNvPr id="17" name="Text 14"/>
          <p:cNvSpPr/>
          <p:nvPr/>
        </p:nvSpPr>
        <p:spPr>
          <a:xfrm>
            <a:off x="841248" y="3703320"/>
            <a:ext cx="3429000" cy="749808"/>
          </a:xfrm>
          <a:prstGeom prst="rect">
            <a:avLst/>
          </a:prstGeom>
          <a:noFill/>
          <a:ln/>
        </p:spPr>
        <p:txBody>
          <a:bodyPr wrap="square" lIns="0" tIns="0" rIns="0" bIns="0" rtlCol="0" anchor="ctr"/>
          <a:lstStyle/>
          <a:p>
            <a:pPr indent="0" marL="0">
              <a:buNone/>
            </a:pPr>
            <a:r>
              <a:rPr lang="en-US" sz="1030" dirty="0">
                <a:solidFill>
                  <a:srgbClr val="5A6377"/>
                </a:solidFill>
                <a:latin typeface="Calibri" pitchFamily="34" charset="0"/>
                <a:ea typeface="Calibri" pitchFamily="34" charset="-122"/>
                <a:cs typeface="Calibri" pitchFamily="34" charset="-120"/>
              </a:rPr>
              <a:t>The knower is jeevan filled with realisation. When buddhi reflects toward atma, self-knowledge (atma-bodh) and realisation in coexistence arrive together.</a:t>
            </a:r>
            <a:endParaRPr lang="en-US" sz="1030" dirty="0"/>
          </a:p>
        </p:txBody>
      </p:sp>
      <p:sp>
        <p:nvSpPr>
          <p:cNvPr id="18" name="Shape 15"/>
          <p:cNvSpPr/>
          <p:nvPr/>
        </p:nvSpPr>
        <p:spPr>
          <a:xfrm>
            <a:off x="4709160" y="3246120"/>
            <a:ext cx="3794760" cy="1280160"/>
          </a:xfrm>
          <a:prstGeom prst="roundRect">
            <a:avLst>
              <a:gd name="adj" fmla="val 6429"/>
            </a:avLst>
          </a:prstGeom>
          <a:solidFill>
            <a:srgbClr val="FAF1DF"/>
          </a:solidFill>
          <a:ln/>
          <a:effectLst>
            <a:outerShdw sx="100000" sy="100000" kx="0" ky="0" algn="bl" rotWithShape="0" blurRad="88900" dist="25400" dir="2700000">
              <a:srgbClr val="000000">
                <a:alpha val="13000"/>
              </a:srgbClr>
            </a:outerShdw>
          </a:effectLst>
        </p:spPr>
      </p:sp>
      <p:sp>
        <p:nvSpPr>
          <p:cNvPr id="19" name="Text 16"/>
          <p:cNvSpPr/>
          <p:nvPr/>
        </p:nvSpPr>
        <p:spPr>
          <a:xfrm>
            <a:off x="4910328" y="3364992"/>
            <a:ext cx="3429000" cy="292608"/>
          </a:xfrm>
          <a:prstGeom prst="rect">
            <a:avLst/>
          </a:prstGeom>
          <a:noFill/>
          <a:ln/>
        </p:spPr>
        <p:txBody>
          <a:bodyPr wrap="square" lIns="0" tIns="0" rIns="0" bIns="0" rtlCol="0" anchor="ctr"/>
          <a:lstStyle/>
          <a:p>
            <a:pPr indent="0" marL="0">
              <a:buNone/>
            </a:pPr>
            <a:r>
              <a:rPr lang="en-US" sz="1250" b="1" dirty="0">
                <a:solidFill>
                  <a:srgbClr val="9A6414"/>
                </a:solidFill>
                <a:latin typeface="Cambria" pitchFamily="34" charset="0"/>
                <a:ea typeface="Cambria" pitchFamily="34" charset="-122"/>
                <a:cs typeface="Cambria" pitchFamily="34" charset="-120"/>
              </a:rPr>
              <a:t>Knowable — and no merger</a:t>
            </a:r>
            <a:endParaRPr lang="en-US" sz="1250" dirty="0"/>
          </a:p>
        </p:txBody>
      </p:sp>
      <p:sp>
        <p:nvSpPr>
          <p:cNvPr id="20" name="Text 17"/>
          <p:cNvSpPr/>
          <p:nvPr/>
        </p:nvSpPr>
        <p:spPr>
          <a:xfrm>
            <a:off x="4910328" y="3703320"/>
            <a:ext cx="3429000" cy="749808"/>
          </a:xfrm>
          <a:prstGeom prst="rect">
            <a:avLst/>
          </a:prstGeom>
          <a:noFill/>
          <a:ln/>
        </p:spPr>
        <p:txBody>
          <a:bodyPr wrap="square" lIns="0" tIns="0" rIns="0" bIns="0" rtlCol="0" anchor="ctr"/>
          <a:lstStyle/>
          <a:p>
            <a:pPr indent="0" marL="0">
              <a:buNone/>
            </a:pPr>
            <a:r>
              <a:rPr lang="en-US" sz="1030" dirty="0">
                <a:solidFill>
                  <a:srgbClr val="5A6377"/>
                </a:solidFill>
                <a:latin typeface="Calibri" pitchFamily="34" charset="0"/>
                <a:ea typeface="Calibri" pitchFamily="34" charset="-122"/>
                <a:cs typeface="Calibri" pitchFamily="34" charset="-120"/>
              </a:rPr>
              <a:t>What is known is existence itself — nature saturated in satta. Knowledge, knower, and known become uniform as roles in one bond — not a merger: the knower remains a distinct jeevan.</a:t>
            </a:r>
            <a:endParaRPr lang="en-US" sz="1030" dirty="0"/>
          </a:p>
        </p:txBody>
      </p:sp>
      <p:sp>
        <p:nvSpPr>
          <p:cNvPr id="21" name="Text 18"/>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“In the state of realisation in existence, uniformity in knowledge, knowable &amp; knower has been observed to be in the form of coexistence” — AVD p. 217 · SB p. 81 · MVD pp. 14–15</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§§1.3, 1.7, 1.12 · WHAT KNOWING NEEDS — AND HOW IT HAPPENS</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The Epistemic Ladder</a:t>
            </a:r>
            <a:endParaRPr lang="en-US" sz="3000" dirty="0"/>
          </a:p>
        </p:txBody>
      </p:sp>
      <p:sp>
        <p:nvSpPr>
          <p:cNvPr id="8" name="Text 5"/>
          <p:cNvSpPr/>
          <p:nvPr/>
        </p:nvSpPr>
        <p:spPr>
          <a:xfrm>
            <a:off x="548640" y="1280160"/>
            <a:ext cx="3749040" cy="274320"/>
          </a:xfrm>
          <a:prstGeom prst="rect">
            <a:avLst/>
          </a:prstGeom>
          <a:noFill/>
          <a:ln/>
        </p:spPr>
        <p:txBody>
          <a:bodyPr wrap="square" lIns="0" tIns="0" rIns="0" bIns="0" rtlCol="0" anchor="ctr"/>
          <a:lstStyle/>
          <a:p>
            <a:pPr algn="ctr" indent="0" marL="0">
              <a:buNone/>
            </a:pPr>
            <a:r>
              <a:rPr lang="en-US" sz="1350" b="1" dirty="0">
                <a:solidFill>
                  <a:srgbClr val="1E2447"/>
                </a:solidFill>
                <a:latin typeface="Cambria" pitchFamily="34" charset="0"/>
                <a:ea typeface="Cambria" pitchFamily="34" charset="-122"/>
                <a:cs typeface="Cambria" pitchFamily="34" charset="-120"/>
              </a:rPr>
              <a:t>What must be understood — scope</a:t>
            </a:r>
            <a:endParaRPr lang="en-US" sz="1350" dirty="0"/>
          </a:p>
        </p:txBody>
      </p:sp>
      <p:sp>
        <p:nvSpPr>
          <p:cNvPr id="9" name="Shape 6"/>
          <p:cNvSpPr/>
          <p:nvPr/>
        </p:nvSpPr>
        <p:spPr>
          <a:xfrm>
            <a:off x="594360" y="1664208"/>
            <a:ext cx="3657600" cy="512064"/>
          </a:xfrm>
          <a:prstGeom prst="roundRect">
            <a:avLst>
              <a:gd name="adj" fmla="val 14286"/>
            </a:avLst>
          </a:prstGeom>
          <a:solidFill>
            <a:srgbClr val="FAF1DF"/>
          </a:solidFill>
          <a:ln/>
          <a:effectLst>
            <a:outerShdw sx="100000" sy="100000" kx="0" ky="0" algn="bl" rotWithShape="0" blurRad="88900" dist="25400" dir="2700000">
              <a:srgbClr val="000000">
                <a:alpha val="13000"/>
              </a:srgbClr>
            </a:outerShdw>
          </a:effectLst>
        </p:spPr>
      </p:sp>
      <p:sp>
        <p:nvSpPr>
          <p:cNvPr id="10" name="Text 7"/>
          <p:cNvSpPr/>
          <p:nvPr/>
        </p:nvSpPr>
        <p:spPr>
          <a:xfrm>
            <a:off x="594360" y="1664208"/>
            <a:ext cx="3657600" cy="512064"/>
          </a:xfrm>
          <a:prstGeom prst="rect">
            <a:avLst/>
          </a:prstGeom>
          <a:noFill/>
          <a:ln/>
        </p:spPr>
        <p:txBody>
          <a:bodyPr wrap="square" rtlCol="0" anchor="ctr"/>
          <a:lstStyle/>
          <a:p>
            <a:pPr algn="ctr" indent="0" marL="0">
              <a:buNone/>
            </a:pPr>
            <a:r>
              <a:rPr lang="en-US" sz="1150" b="1" dirty="0">
                <a:solidFill>
                  <a:srgbClr val="9A6414"/>
                </a:solidFill>
                <a:latin typeface="Calibri" pitchFamily="34" charset="0"/>
                <a:ea typeface="Calibri" pitchFamily="34" charset="-122"/>
                <a:cs typeface="Calibri" pitchFamily="34" charset="-120"/>
              </a:rPr>
              <a:t>dharma  ·  needs the whole</a:t>
            </a:r>
            <a:endParaRPr lang="en-US" sz="1150" dirty="0"/>
          </a:p>
        </p:txBody>
      </p:sp>
      <p:sp>
        <p:nvSpPr>
          <p:cNvPr id="11" name="Shape 8"/>
          <p:cNvSpPr/>
          <p:nvPr/>
        </p:nvSpPr>
        <p:spPr>
          <a:xfrm>
            <a:off x="914400" y="2286000"/>
            <a:ext cx="3017520" cy="512064"/>
          </a:xfrm>
          <a:prstGeom prst="roundRect">
            <a:avLst>
              <a:gd name="adj" fmla="val 14286"/>
            </a:avLst>
          </a:prstGeom>
          <a:solidFill>
            <a:srgbClr val="EEF1F8"/>
          </a:solidFill>
          <a:ln/>
          <a:effectLst>
            <a:outerShdw sx="100000" sy="100000" kx="0" ky="0" algn="bl" rotWithShape="0" blurRad="88900" dist="25400" dir="2700000">
              <a:srgbClr val="000000">
                <a:alpha val="13000"/>
              </a:srgbClr>
            </a:outerShdw>
          </a:effectLst>
        </p:spPr>
      </p:sp>
      <p:sp>
        <p:nvSpPr>
          <p:cNvPr id="12" name="Text 9"/>
          <p:cNvSpPr/>
          <p:nvPr/>
        </p:nvSpPr>
        <p:spPr>
          <a:xfrm>
            <a:off x="914400" y="2286000"/>
            <a:ext cx="3017520" cy="512064"/>
          </a:xfrm>
          <a:prstGeom prst="rect">
            <a:avLst/>
          </a:prstGeom>
          <a:noFill/>
          <a:ln/>
        </p:spPr>
        <p:txBody>
          <a:bodyPr wrap="square" rtlCol="0" anchor="ctr"/>
          <a:lstStyle/>
          <a:p>
            <a:pPr algn="ctr" indent="0" marL="0">
              <a:buNone/>
            </a:pPr>
            <a:r>
              <a:rPr lang="en-US" sz="1150" b="1" dirty="0">
                <a:solidFill>
                  <a:srgbClr val="1E2447"/>
                </a:solidFill>
                <a:latin typeface="Calibri" pitchFamily="34" charset="0"/>
                <a:ea typeface="Calibri" pitchFamily="34" charset="-122"/>
                <a:cs typeface="Calibri" pitchFamily="34" charset="-120"/>
              </a:rPr>
              <a:t>svabhav  ·  needs its order</a:t>
            </a:r>
            <a:endParaRPr lang="en-US" sz="1150" dirty="0"/>
          </a:p>
        </p:txBody>
      </p:sp>
      <p:sp>
        <p:nvSpPr>
          <p:cNvPr id="13" name="Shape 10"/>
          <p:cNvSpPr/>
          <p:nvPr/>
        </p:nvSpPr>
        <p:spPr>
          <a:xfrm>
            <a:off x="1234440" y="2907792"/>
            <a:ext cx="2377440" cy="512064"/>
          </a:xfrm>
          <a:prstGeom prst="roundRect">
            <a:avLst>
              <a:gd name="adj" fmla="val 14286"/>
            </a:avLst>
          </a:prstGeom>
          <a:solidFill>
            <a:srgbClr val="EEF1F8"/>
          </a:solidFill>
          <a:ln/>
          <a:effectLst>
            <a:outerShdw sx="100000" sy="100000" kx="0" ky="0" algn="bl" rotWithShape="0" blurRad="88900" dist="25400" dir="2700000">
              <a:srgbClr val="000000">
                <a:alpha val="13000"/>
              </a:srgbClr>
            </a:outerShdw>
          </a:effectLst>
        </p:spPr>
      </p:sp>
      <p:sp>
        <p:nvSpPr>
          <p:cNvPr id="14" name="Text 11"/>
          <p:cNvSpPr/>
          <p:nvPr/>
        </p:nvSpPr>
        <p:spPr>
          <a:xfrm>
            <a:off x="1234440" y="2907792"/>
            <a:ext cx="2377440" cy="512064"/>
          </a:xfrm>
          <a:prstGeom prst="rect">
            <a:avLst/>
          </a:prstGeom>
          <a:noFill/>
          <a:ln/>
        </p:spPr>
        <p:txBody>
          <a:bodyPr wrap="square" rtlCol="0" anchor="ctr"/>
          <a:lstStyle/>
          <a:p>
            <a:pPr algn="ctr" indent="0" marL="0">
              <a:buNone/>
            </a:pPr>
            <a:r>
              <a:rPr lang="en-US" sz="1150" b="1" dirty="0">
                <a:solidFill>
                  <a:srgbClr val="1E2447"/>
                </a:solidFill>
                <a:latin typeface="Calibri" pitchFamily="34" charset="0"/>
                <a:ea typeface="Calibri" pitchFamily="34" charset="-122"/>
                <a:cs typeface="Calibri" pitchFamily="34" charset="-120"/>
              </a:rPr>
              <a:t>gun  ·  needs mutuality</a:t>
            </a:r>
            <a:endParaRPr lang="en-US" sz="1150" dirty="0"/>
          </a:p>
        </p:txBody>
      </p:sp>
      <p:sp>
        <p:nvSpPr>
          <p:cNvPr id="15" name="Shape 12"/>
          <p:cNvSpPr/>
          <p:nvPr/>
        </p:nvSpPr>
        <p:spPr>
          <a:xfrm>
            <a:off x="1554480" y="3529584"/>
            <a:ext cx="1737360" cy="512064"/>
          </a:xfrm>
          <a:prstGeom prst="roundRect">
            <a:avLst>
              <a:gd name="adj" fmla="val 14286"/>
            </a:avLst>
          </a:prstGeom>
          <a:solidFill>
            <a:srgbClr val="EEF1F8"/>
          </a:solidFill>
          <a:ln/>
          <a:effectLst>
            <a:outerShdw sx="100000" sy="100000" kx="0" ky="0" algn="bl" rotWithShape="0" blurRad="88900" dist="25400" dir="2700000">
              <a:srgbClr val="000000">
                <a:alpha val="13000"/>
              </a:srgbClr>
            </a:outerShdw>
          </a:effectLst>
        </p:spPr>
      </p:sp>
      <p:sp>
        <p:nvSpPr>
          <p:cNvPr id="16" name="Text 13"/>
          <p:cNvSpPr/>
          <p:nvPr/>
        </p:nvSpPr>
        <p:spPr>
          <a:xfrm>
            <a:off x="1554480" y="3529584"/>
            <a:ext cx="1737360" cy="512064"/>
          </a:xfrm>
          <a:prstGeom prst="rect">
            <a:avLst/>
          </a:prstGeom>
          <a:noFill/>
          <a:ln/>
        </p:spPr>
        <p:txBody>
          <a:bodyPr wrap="square" rtlCol="0" anchor="ctr"/>
          <a:lstStyle/>
          <a:p>
            <a:pPr algn="ctr" indent="0" marL="0">
              <a:buNone/>
            </a:pPr>
            <a:r>
              <a:rPr lang="en-US" sz="1150" b="1" dirty="0">
                <a:solidFill>
                  <a:srgbClr val="1E2447"/>
                </a:solidFill>
                <a:latin typeface="Calibri" pitchFamily="34" charset="0"/>
                <a:ea typeface="Calibri" pitchFamily="34" charset="-122"/>
                <a:cs typeface="Calibri" pitchFamily="34" charset="-120"/>
              </a:rPr>
              <a:t>form  ·  the unit alone</a:t>
            </a:r>
            <a:endParaRPr lang="en-US" sz="1150" dirty="0"/>
          </a:p>
        </p:txBody>
      </p:sp>
      <p:sp>
        <p:nvSpPr>
          <p:cNvPr id="17" name="Text 14"/>
          <p:cNvSpPr/>
          <p:nvPr/>
        </p:nvSpPr>
        <p:spPr>
          <a:xfrm>
            <a:off x="548640" y="4224528"/>
            <a:ext cx="3749040" cy="457200"/>
          </a:xfrm>
          <a:prstGeom prst="rect">
            <a:avLst/>
          </a:prstGeom>
          <a:noFill/>
          <a:ln/>
        </p:spPr>
        <p:txBody>
          <a:bodyPr wrap="square" lIns="0" tIns="0" rIns="0" bIns="0" rtlCol="0" anchor="ctr"/>
          <a:lstStyle/>
          <a:p>
            <a:pPr algn="ctr" indent="0" marL="0">
              <a:buNone/>
            </a:pPr>
            <a:r>
              <a:rPr lang="en-US" sz="950" i="1" dirty="0">
                <a:solidFill>
                  <a:srgbClr val="5A6377"/>
                </a:solidFill>
                <a:latin typeface="Calibri" pitchFamily="34" charset="0"/>
                <a:ea typeface="Calibri" pitchFamily="34" charset="-122"/>
                <a:cs typeface="Calibri" pitchFamily="34" charset="-120"/>
              </a:rPr>
              <a:t>a higher rung means a wider context is needed to understand the aspect — not distance from the unit</a:t>
            </a:r>
            <a:endParaRPr lang="en-US" sz="950" dirty="0"/>
          </a:p>
        </p:txBody>
      </p:sp>
      <p:sp>
        <p:nvSpPr>
          <p:cNvPr id="18" name="Text 15"/>
          <p:cNvSpPr/>
          <p:nvPr/>
        </p:nvSpPr>
        <p:spPr>
          <a:xfrm>
            <a:off x="4892040" y="1280160"/>
            <a:ext cx="3429000" cy="274320"/>
          </a:xfrm>
          <a:prstGeom prst="rect">
            <a:avLst/>
          </a:prstGeom>
          <a:noFill/>
          <a:ln/>
        </p:spPr>
        <p:txBody>
          <a:bodyPr wrap="square" lIns="0" tIns="0" rIns="0" bIns="0" rtlCol="0" anchor="ctr"/>
          <a:lstStyle/>
          <a:p>
            <a:pPr algn="ctr" indent="0" marL="0">
              <a:buNone/>
            </a:pPr>
            <a:r>
              <a:rPr lang="en-US" sz="1350" b="1" dirty="0">
                <a:solidFill>
                  <a:srgbClr val="1E2447"/>
                </a:solidFill>
                <a:latin typeface="Cambria" pitchFamily="34" charset="0"/>
                <a:ea typeface="Cambria" pitchFamily="34" charset="-122"/>
                <a:cs typeface="Cambria" pitchFamily="34" charset="-120"/>
              </a:rPr>
              <a:t>How knowing happens — within jeevan</a:t>
            </a:r>
            <a:endParaRPr lang="en-US" sz="1350" dirty="0"/>
          </a:p>
        </p:txBody>
      </p:sp>
      <p:sp>
        <p:nvSpPr>
          <p:cNvPr id="19" name="Shape 16"/>
          <p:cNvSpPr/>
          <p:nvPr/>
        </p:nvSpPr>
        <p:spPr>
          <a:xfrm>
            <a:off x="4892040" y="1645920"/>
            <a:ext cx="3429000" cy="457200"/>
          </a:xfrm>
          <a:prstGeom prst="roundRect">
            <a:avLst>
              <a:gd name="adj" fmla="val 16000"/>
            </a:avLst>
          </a:prstGeom>
          <a:solidFill>
            <a:srgbClr val="FAF1DF"/>
          </a:solidFill>
          <a:ln/>
          <a:effectLst>
            <a:outerShdw sx="100000" sy="100000" kx="0" ky="0" algn="bl" rotWithShape="0" blurRad="88900" dist="25400" dir="2700000">
              <a:srgbClr val="000000">
                <a:alpha val="13000"/>
              </a:srgbClr>
            </a:outerShdw>
          </a:effectLst>
        </p:spPr>
      </p:sp>
      <p:sp>
        <p:nvSpPr>
          <p:cNvPr id="20" name="Text 17"/>
          <p:cNvSpPr/>
          <p:nvPr/>
        </p:nvSpPr>
        <p:spPr>
          <a:xfrm>
            <a:off x="5029200" y="1645920"/>
            <a:ext cx="3200400" cy="457200"/>
          </a:xfrm>
          <a:prstGeom prst="rect">
            <a:avLst/>
          </a:prstGeom>
          <a:noFill/>
          <a:ln/>
        </p:spPr>
        <p:txBody>
          <a:bodyPr wrap="square" lIns="0" tIns="0" rIns="0" bIns="0" rtlCol="0" anchor="ctr"/>
          <a:lstStyle/>
          <a:p>
            <a:pPr indent="0" marL="0">
              <a:buNone/>
            </a:pPr>
            <a:r>
              <a:rPr lang="en-US" sz="1150" b="1" dirty="0">
                <a:solidFill>
                  <a:srgbClr val="9A6414"/>
                </a:solidFill>
                <a:latin typeface="Calibri" pitchFamily="34" charset="0"/>
                <a:ea typeface="Calibri" pitchFamily="34" charset="-122"/>
                <a:cs typeface="Calibri" pitchFamily="34" charset="-120"/>
              </a:rPr>
              <a:t xml:space="preserve">Atma   </a:t>
            </a:r>
            <a:pPr indent="0" marL="0">
              <a:buNone/>
            </a:pPr>
            <a:r>
              <a:rPr lang="en-US" sz="900" dirty="0">
                <a:solidFill>
                  <a:srgbClr val="5A6377"/>
                </a:solidFill>
                <a:latin typeface="Calibri" pitchFamily="34" charset="0"/>
                <a:ea typeface="Calibri" pitchFamily="34" charset="-122"/>
                <a:cs typeface="Calibri" pitchFamily="34" charset="-120"/>
              </a:rPr>
              <a:t>realisation (anubhav) — only through truth · authenticity (pramanikta)</a:t>
            </a:r>
            <a:endParaRPr lang="en-US" sz="1150" dirty="0"/>
          </a:p>
        </p:txBody>
      </p:sp>
      <p:sp>
        <p:nvSpPr>
          <p:cNvPr id="21" name="Shape 18"/>
          <p:cNvSpPr/>
          <p:nvPr/>
        </p:nvSpPr>
        <p:spPr>
          <a:xfrm>
            <a:off x="4892040" y="2212848"/>
            <a:ext cx="3429000" cy="457200"/>
          </a:xfrm>
          <a:prstGeom prst="roundRect">
            <a:avLst>
              <a:gd name="adj" fmla="val 16000"/>
            </a:avLst>
          </a:prstGeom>
          <a:solidFill>
            <a:srgbClr val="EEF1F8"/>
          </a:solidFill>
          <a:ln/>
          <a:effectLst>
            <a:outerShdw sx="100000" sy="100000" kx="0" ky="0" algn="bl" rotWithShape="0" blurRad="88900" dist="25400" dir="2700000">
              <a:srgbClr val="000000">
                <a:alpha val="13000"/>
              </a:srgbClr>
            </a:outerShdw>
          </a:effectLst>
        </p:spPr>
      </p:sp>
      <p:sp>
        <p:nvSpPr>
          <p:cNvPr id="22" name="Text 19"/>
          <p:cNvSpPr/>
          <p:nvPr/>
        </p:nvSpPr>
        <p:spPr>
          <a:xfrm>
            <a:off x="5029200" y="2212848"/>
            <a:ext cx="3200400" cy="457200"/>
          </a:xfrm>
          <a:prstGeom prst="rect">
            <a:avLst/>
          </a:prstGeom>
          <a:noFill/>
          <a:ln/>
        </p:spPr>
        <p:txBody>
          <a:bodyPr wrap="square" lIns="0" tIns="0" rIns="0" bIns="0" rtlCol="0" anchor="ctr"/>
          <a:lstStyle/>
          <a:p>
            <a:pPr indent="0" marL="0">
              <a:buNone/>
            </a:pPr>
            <a:r>
              <a:rPr lang="en-US" sz="1150" b="1" dirty="0">
                <a:solidFill>
                  <a:srgbClr val="1E2447"/>
                </a:solidFill>
                <a:latin typeface="Calibri" pitchFamily="34" charset="0"/>
                <a:ea typeface="Calibri" pitchFamily="34" charset="-122"/>
                <a:cs typeface="Calibri" pitchFamily="34" charset="-120"/>
              </a:rPr>
              <a:t xml:space="preserve">Buddhi   </a:t>
            </a:r>
            <a:pPr indent="0" marL="0">
              <a:buNone/>
            </a:pPr>
            <a:r>
              <a:rPr lang="en-US" sz="900" dirty="0">
                <a:solidFill>
                  <a:srgbClr val="5A6377"/>
                </a:solidFill>
                <a:latin typeface="Calibri" pitchFamily="34" charset="0"/>
                <a:ea typeface="Calibri" pitchFamily="34" charset="-122"/>
                <a:cs typeface="Calibri" pitchFamily="34" charset="-120"/>
              </a:rPr>
              <a:t>enlightenment (bodh) of existence, jeevan, conduct · resolve (sankalp)</a:t>
            </a:r>
            <a:endParaRPr lang="en-US" sz="1150" dirty="0"/>
          </a:p>
        </p:txBody>
      </p:sp>
      <p:sp>
        <p:nvSpPr>
          <p:cNvPr id="23" name="Shape 20"/>
          <p:cNvSpPr/>
          <p:nvPr/>
        </p:nvSpPr>
        <p:spPr>
          <a:xfrm>
            <a:off x="4892040" y="2779776"/>
            <a:ext cx="3429000" cy="457200"/>
          </a:xfrm>
          <a:prstGeom prst="roundRect">
            <a:avLst>
              <a:gd name="adj" fmla="val 16000"/>
            </a:avLst>
          </a:prstGeom>
          <a:solidFill>
            <a:srgbClr val="EEF1F8"/>
          </a:solidFill>
          <a:ln/>
          <a:effectLst>
            <a:outerShdw sx="100000" sy="100000" kx="0" ky="0" algn="bl" rotWithShape="0" blurRad="88900" dist="25400" dir="2700000">
              <a:srgbClr val="000000">
                <a:alpha val="13000"/>
              </a:srgbClr>
            </a:outerShdw>
          </a:effectLst>
        </p:spPr>
      </p:sp>
      <p:sp>
        <p:nvSpPr>
          <p:cNvPr id="24" name="Text 21"/>
          <p:cNvSpPr/>
          <p:nvPr/>
        </p:nvSpPr>
        <p:spPr>
          <a:xfrm>
            <a:off x="5029200" y="2779776"/>
            <a:ext cx="3200400" cy="457200"/>
          </a:xfrm>
          <a:prstGeom prst="rect">
            <a:avLst/>
          </a:prstGeom>
          <a:noFill/>
          <a:ln/>
        </p:spPr>
        <p:txBody>
          <a:bodyPr wrap="square" lIns="0" tIns="0" rIns="0" bIns="0" rtlCol="0" anchor="ctr"/>
          <a:lstStyle/>
          <a:p>
            <a:pPr indent="0" marL="0">
              <a:buNone/>
            </a:pPr>
            <a:r>
              <a:rPr lang="en-US" sz="1150" b="1" dirty="0">
                <a:solidFill>
                  <a:srgbClr val="1E2447"/>
                </a:solidFill>
                <a:latin typeface="Calibri" pitchFamily="34" charset="0"/>
                <a:ea typeface="Calibri" pitchFamily="34" charset="-122"/>
                <a:cs typeface="Calibri" pitchFamily="34" charset="-120"/>
              </a:rPr>
              <a:t xml:space="preserve">Chitta   </a:t>
            </a:r>
            <a:pPr indent="0" marL="0">
              <a:buNone/>
            </a:pPr>
            <a:r>
              <a:rPr lang="en-US" sz="900" dirty="0">
                <a:solidFill>
                  <a:srgbClr val="5A6377"/>
                </a:solidFill>
                <a:latin typeface="Calibri" pitchFamily="34" charset="0"/>
                <a:ea typeface="Calibri" pitchFamily="34" charset="-122"/>
                <a:cs typeface="Calibri" pitchFamily="34" charset="-120"/>
              </a:rPr>
              <a:t>contemplation &amp; visualisation · revelation (sakshatkar)</a:t>
            </a:r>
            <a:endParaRPr lang="en-US" sz="1150" dirty="0"/>
          </a:p>
        </p:txBody>
      </p:sp>
      <p:sp>
        <p:nvSpPr>
          <p:cNvPr id="25" name="Shape 22"/>
          <p:cNvSpPr/>
          <p:nvPr/>
        </p:nvSpPr>
        <p:spPr>
          <a:xfrm>
            <a:off x="4892040" y="3346704"/>
            <a:ext cx="3429000" cy="457200"/>
          </a:xfrm>
          <a:prstGeom prst="roundRect">
            <a:avLst>
              <a:gd name="adj" fmla="val 16000"/>
            </a:avLst>
          </a:prstGeom>
          <a:solidFill>
            <a:srgbClr val="EEF1F8"/>
          </a:solidFill>
          <a:ln/>
          <a:effectLst>
            <a:outerShdw sx="100000" sy="100000" kx="0" ky="0" algn="bl" rotWithShape="0" blurRad="88900" dist="25400" dir="2700000">
              <a:srgbClr val="000000">
                <a:alpha val="13000"/>
              </a:srgbClr>
            </a:outerShdw>
          </a:effectLst>
        </p:spPr>
      </p:sp>
      <p:sp>
        <p:nvSpPr>
          <p:cNvPr id="26" name="Text 23"/>
          <p:cNvSpPr/>
          <p:nvPr/>
        </p:nvSpPr>
        <p:spPr>
          <a:xfrm>
            <a:off x="5029200" y="3346704"/>
            <a:ext cx="3200400" cy="457200"/>
          </a:xfrm>
          <a:prstGeom prst="rect">
            <a:avLst/>
          </a:prstGeom>
          <a:noFill/>
          <a:ln/>
        </p:spPr>
        <p:txBody>
          <a:bodyPr wrap="square" lIns="0" tIns="0" rIns="0" bIns="0" rtlCol="0" anchor="ctr"/>
          <a:lstStyle/>
          <a:p>
            <a:pPr indent="0" marL="0">
              <a:buNone/>
            </a:pPr>
            <a:r>
              <a:rPr lang="en-US" sz="1150" b="1" dirty="0">
                <a:solidFill>
                  <a:srgbClr val="1E2447"/>
                </a:solidFill>
                <a:latin typeface="Calibri" pitchFamily="34" charset="0"/>
                <a:ea typeface="Calibri" pitchFamily="34" charset="-122"/>
                <a:cs typeface="Calibri" pitchFamily="34" charset="-120"/>
              </a:rPr>
              <a:t xml:space="preserve">Vritti   </a:t>
            </a:r>
            <a:pPr indent="0" marL="0">
              <a:buNone/>
            </a:pPr>
            <a:r>
              <a:rPr lang="en-US" sz="900" dirty="0">
                <a:solidFill>
                  <a:srgbClr val="5A6377"/>
                </a:solidFill>
                <a:latin typeface="Calibri" pitchFamily="34" charset="0"/>
                <a:ea typeface="Calibri" pitchFamily="34" charset="-122"/>
                <a:cs typeface="Calibri" pitchFamily="34" charset="-120"/>
              </a:rPr>
              <a:t>deliberation in refuge of justice–dharma–truth · analysis</a:t>
            </a:r>
            <a:endParaRPr lang="en-US" sz="1150" dirty="0"/>
          </a:p>
        </p:txBody>
      </p:sp>
      <p:sp>
        <p:nvSpPr>
          <p:cNvPr id="27" name="Shape 24"/>
          <p:cNvSpPr/>
          <p:nvPr/>
        </p:nvSpPr>
        <p:spPr>
          <a:xfrm>
            <a:off x="4892040" y="3913632"/>
            <a:ext cx="3429000" cy="457200"/>
          </a:xfrm>
          <a:prstGeom prst="roundRect">
            <a:avLst>
              <a:gd name="adj" fmla="val 16000"/>
            </a:avLst>
          </a:prstGeom>
          <a:solidFill>
            <a:srgbClr val="EEF1F8"/>
          </a:solidFill>
          <a:ln/>
          <a:effectLst>
            <a:outerShdw sx="100000" sy="100000" kx="0" ky="0" algn="bl" rotWithShape="0" blurRad="88900" dist="25400" dir="2700000">
              <a:srgbClr val="000000">
                <a:alpha val="13000"/>
              </a:srgbClr>
            </a:outerShdw>
          </a:effectLst>
        </p:spPr>
      </p:sp>
      <p:sp>
        <p:nvSpPr>
          <p:cNvPr id="28" name="Text 25"/>
          <p:cNvSpPr/>
          <p:nvPr/>
        </p:nvSpPr>
        <p:spPr>
          <a:xfrm>
            <a:off x="5029200" y="3913632"/>
            <a:ext cx="3200400" cy="457200"/>
          </a:xfrm>
          <a:prstGeom prst="rect">
            <a:avLst/>
          </a:prstGeom>
          <a:noFill/>
          <a:ln/>
        </p:spPr>
        <p:txBody>
          <a:bodyPr wrap="square" lIns="0" tIns="0" rIns="0" bIns="0" rtlCol="0" anchor="ctr"/>
          <a:lstStyle/>
          <a:p>
            <a:pPr indent="0" marL="0">
              <a:buNone/>
            </a:pPr>
            <a:r>
              <a:rPr lang="en-US" sz="1150" b="1" dirty="0">
                <a:solidFill>
                  <a:srgbClr val="1E2447"/>
                </a:solidFill>
                <a:latin typeface="Calibri" pitchFamily="34" charset="0"/>
                <a:ea typeface="Calibri" pitchFamily="34" charset="-122"/>
                <a:cs typeface="Calibri" pitchFamily="34" charset="-120"/>
              </a:rPr>
              <a:t xml:space="preserve">Mun   </a:t>
            </a:r>
            <a:pPr indent="0" marL="0">
              <a:buNone/>
            </a:pPr>
            <a:r>
              <a:rPr lang="en-US" sz="900" dirty="0">
                <a:solidFill>
                  <a:srgbClr val="5A6377"/>
                </a:solidFill>
                <a:latin typeface="Calibri" pitchFamily="34" charset="0"/>
                <a:ea typeface="Calibri" pitchFamily="34" charset="-122"/>
                <a:cs typeface="Calibri" pitchFamily="34" charset="-120"/>
              </a:rPr>
              <a:t>taste (asvad) &amp; selection — first acceptance of the proposal</a:t>
            </a:r>
            <a:endParaRPr lang="en-US" sz="1150" dirty="0"/>
          </a:p>
        </p:txBody>
      </p:sp>
      <p:sp>
        <p:nvSpPr>
          <p:cNvPr id="29" name="Shape 26"/>
          <p:cNvSpPr/>
          <p:nvPr/>
        </p:nvSpPr>
        <p:spPr>
          <a:xfrm>
            <a:off x="4718304" y="1737360"/>
            <a:ext cx="0" cy="2514600"/>
          </a:xfrm>
          <a:prstGeom prst="line">
            <a:avLst/>
          </a:prstGeom>
          <a:noFill/>
          <a:ln w="22225">
            <a:solidFill>
              <a:srgbClr val="3B4A7A"/>
            </a:solidFill>
            <a:prstDash val="solid"/>
            <a:headEnd type="triangle"/>
          </a:ln>
        </p:spPr>
      </p:sp>
      <p:sp>
        <p:nvSpPr>
          <p:cNvPr id="30" name="Text 27"/>
          <p:cNvSpPr/>
          <p:nvPr/>
        </p:nvSpPr>
        <p:spPr>
          <a:xfrm rot="16200000">
            <a:off x="3218688" y="2852928"/>
            <a:ext cx="2651760" cy="237744"/>
          </a:xfrm>
          <a:prstGeom prst="rect">
            <a:avLst/>
          </a:prstGeom>
          <a:noFill/>
          <a:ln/>
        </p:spPr>
        <p:txBody>
          <a:bodyPr wrap="square" lIns="0" tIns="0" rIns="0" bIns="0" rtlCol="0" anchor="ctr"/>
          <a:lstStyle/>
          <a:p>
            <a:pPr algn="ctr" indent="0" marL="0">
              <a:buNone/>
            </a:pPr>
            <a:r>
              <a:rPr lang="en-US" sz="850" i="1" dirty="0">
                <a:solidFill>
                  <a:srgbClr val="3B4A7A"/>
                </a:solidFill>
                <a:latin typeface="Calibri" pitchFamily="34" charset="0"/>
                <a:ea typeface="Calibri" pitchFamily="34" charset="-122"/>
                <a:cs typeface="Calibri" pitchFamily="34" charset="-120"/>
              </a:rPr>
              <a:t>reflection (pratyavartan) · knowing deepens</a:t>
            </a:r>
            <a:endParaRPr lang="en-US" sz="850" dirty="0"/>
          </a:p>
        </p:txBody>
      </p:sp>
      <p:sp>
        <p:nvSpPr>
          <p:cNvPr id="31" name="Shape 28"/>
          <p:cNvSpPr/>
          <p:nvPr/>
        </p:nvSpPr>
        <p:spPr>
          <a:xfrm>
            <a:off x="8503920" y="1737360"/>
            <a:ext cx="0" cy="2514600"/>
          </a:xfrm>
          <a:prstGeom prst="line">
            <a:avLst/>
          </a:prstGeom>
          <a:noFill/>
          <a:ln w="22225">
            <a:solidFill>
              <a:srgbClr val="9A6414"/>
            </a:solidFill>
            <a:prstDash val="solid"/>
            <a:tailEnd type="triangle"/>
          </a:ln>
        </p:spPr>
      </p:sp>
      <p:sp>
        <p:nvSpPr>
          <p:cNvPr id="32" name="Text 29"/>
          <p:cNvSpPr/>
          <p:nvPr/>
        </p:nvSpPr>
        <p:spPr>
          <a:xfrm rot="5400000">
            <a:off x="7315200" y="2852928"/>
            <a:ext cx="2651760" cy="237744"/>
          </a:xfrm>
          <a:prstGeom prst="rect">
            <a:avLst/>
          </a:prstGeom>
          <a:noFill/>
          <a:ln/>
        </p:spPr>
        <p:txBody>
          <a:bodyPr wrap="square" lIns="0" tIns="0" rIns="0" bIns="0" rtlCol="0" anchor="ctr"/>
          <a:lstStyle/>
          <a:p>
            <a:pPr algn="ctr" indent="0" marL="0">
              <a:buNone/>
            </a:pPr>
            <a:r>
              <a:rPr lang="en-US" sz="850" i="1" dirty="0">
                <a:solidFill>
                  <a:srgbClr val="9A6414"/>
                </a:solidFill>
                <a:latin typeface="Calibri" pitchFamily="34" charset="0"/>
                <a:ea typeface="Calibri" pitchFamily="34" charset="-122"/>
                <a:cs typeface="Calibri" pitchFamily="34" charset="-120"/>
              </a:rPr>
              <a:t>projection (paravartan) · evidenced in conduct</a:t>
            </a:r>
            <a:endParaRPr lang="en-US" sz="850" dirty="0"/>
          </a:p>
        </p:txBody>
      </p:sp>
      <p:sp>
        <p:nvSpPr>
          <p:cNvPr id="33" name="Text 30"/>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The ladders meet: the widest scopes are understood as bodh in buddhi, realised as anubhav in atma — JV pp. 61, 120, 138 · MVD pp. 78, 101, 137</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§§1.14–1.15 · THE PERPETUAL WORLD</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Conservation and Human Goals</a:t>
            </a:r>
            <a:endParaRPr lang="en-US" sz="3000" dirty="0"/>
          </a:p>
        </p:txBody>
      </p:sp>
      <p:sp>
        <p:nvSpPr>
          <p:cNvPr id="8" name="Shape 5"/>
          <p:cNvSpPr/>
          <p:nvPr/>
        </p:nvSpPr>
        <p:spPr>
          <a:xfrm>
            <a:off x="640080" y="1325880"/>
            <a:ext cx="3794760" cy="1371600"/>
          </a:xfrm>
          <a:prstGeom prst="roundRect">
            <a:avLst>
              <a:gd name="adj" fmla="val 6667"/>
            </a:avLst>
          </a:prstGeom>
          <a:solidFill>
            <a:srgbClr val="EEF1F8"/>
          </a:solidFill>
          <a:ln/>
          <a:effectLst>
            <a:outerShdw sx="100000" sy="100000" kx="0" ky="0" algn="bl" rotWithShape="0" blurRad="88900" dist="25400" dir="2700000">
              <a:srgbClr val="000000">
                <a:alpha val="13000"/>
              </a:srgbClr>
            </a:outerShdw>
          </a:effectLst>
        </p:spPr>
      </p:sp>
      <p:sp>
        <p:nvSpPr>
          <p:cNvPr id="9" name="Text 6"/>
          <p:cNvSpPr/>
          <p:nvPr/>
        </p:nvSpPr>
        <p:spPr>
          <a:xfrm>
            <a:off x="868680" y="1463040"/>
            <a:ext cx="3383280" cy="274320"/>
          </a:xfrm>
          <a:prstGeom prst="rect">
            <a:avLst/>
          </a:prstGeom>
          <a:noFill/>
          <a:ln/>
        </p:spPr>
        <p:txBody>
          <a:bodyPr wrap="square" lIns="0" tIns="0" rIns="0" bIns="0" rtlCol="0" anchor="ctr"/>
          <a:lstStyle/>
          <a:p>
            <a:pPr indent="0" marL="0">
              <a:buNone/>
            </a:pPr>
            <a:r>
              <a:rPr lang="en-US" sz="1350" b="1" dirty="0">
                <a:solidFill>
                  <a:srgbClr val="1E2447"/>
                </a:solidFill>
                <a:latin typeface="Cambria" pitchFamily="34" charset="0"/>
                <a:ea typeface="Cambria" pitchFamily="34" charset="-122"/>
                <a:cs typeface="Cambria" pitchFamily="34" charset="-120"/>
              </a:rPr>
              <a:t>Coexistence conservation</a:t>
            </a:r>
            <a:endParaRPr lang="en-US" sz="1350" dirty="0"/>
          </a:p>
        </p:txBody>
      </p:sp>
      <p:sp>
        <p:nvSpPr>
          <p:cNvPr id="10" name="Text 7"/>
          <p:cNvSpPr/>
          <p:nvPr/>
        </p:nvSpPr>
        <p:spPr>
          <a:xfrm>
            <a:off x="868680" y="1764792"/>
            <a:ext cx="3383280" cy="868680"/>
          </a:xfrm>
          <a:prstGeom prst="rect">
            <a:avLst/>
          </a:prstGeom>
          <a:noFill/>
          <a:ln/>
        </p:spPr>
        <p:txBody>
          <a:bodyPr wrap="square" lIns="0" tIns="0" rIns="0" bIns="0" rtlCol="0" anchor="ctr"/>
          <a:lstStyle/>
          <a:p>
            <a:pPr indent="0" marL="0">
              <a:buNone/>
            </a:pPr>
            <a:r>
              <a:rPr lang="en-US" sz="1080" dirty="0">
                <a:solidFill>
                  <a:srgbClr val="5A6377"/>
                </a:solidFill>
                <a:latin typeface="Calibri" pitchFamily="34" charset="0"/>
                <a:ea typeface="Calibri" pitchFamily="34" charset="-122"/>
                <a:cs typeface="Calibri" pitchFamily="34" charset="-120"/>
              </a:rPr>
              <a:t>What exists does not arise from non-being and cannot be annihilated; only configurations change. The world is perpetual (jagat satat).</a:t>
            </a:r>
            <a:endParaRPr lang="en-US" sz="1080" dirty="0"/>
          </a:p>
        </p:txBody>
      </p:sp>
      <p:sp>
        <p:nvSpPr>
          <p:cNvPr id="11" name="Shape 8"/>
          <p:cNvSpPr/>
          <p:nvPr/>
        </p:nvSpPr>
        <p:spPr>
          <a:xfrm>
            <a:off x="4709160" y="1325880"/>
            <a:ext cx="3794760" cy="1371600"/>
          </a:xfrm>
          <a:prstGeom prst="roundRect">
            <a:avLst>
              <a:gd name="adj" fmla="val 6667"/>
            </a:avLst>
          </a:prstGeom>
          <a:solidFill>
            <a:srgbClr val="EEF1F8"/>
          </a:solidFill>
          <a:ln/>
          <a:effectLst>
            <a:outerShdw sx="100000" sy="100000" kx="0" ky="0" algn="bl" rotWithShape="0" blurRad="88900" dist="25400" dir="2700000">
              <a:srgbClr val="000000">
                <a:alpha val="13000"/>
              </a:srgbClr>
            </a:outerShdw>
          </a:effectLst>
        </p:spPr>
      </p:sp>
      <p:sp>
        <p:nvSpPr>
          <p:cNvPr id="12" name="Text 9"/>
          <p:cNvSpPr/>
          <p:nvPr/>
        </p:nvSpPr>
        <p:spPr>
          <a:xfrm>
            <a:off x="4937760" y="1463040"/>
            <a:ext cx="3383280" cy="274320"/>
          </a:xfrm>
          <a:prstGeom prst="rect">
            <a:avLst/>
          </a:prstGeom>
          <a:noFill/>
          <a:ln/>
        </p:spPr>
        <p:txBody>
          <a:bodyPr wrap="square" lIns="0" tIns="0" rIns="0" bIns="0" rtlCol="0" anchor="ctr"/>
          <a:lstStyle/>
          <a:p>
            <a:pPr indent="0" marL="0">
              <a:buNone/>
            </a:pPr>
            <a:r>
              <a:rPr lang="en-US" sz="1350" b="1" dirty="0">
                <a:solidFill>
                  <a:srgbClr val="1E2447"/>
                </a:solidFill>
                <a:latin typeface="Cambria" pitchFamily="34" charset="0"/>
                <a:ea typeface="Cambria" pitchFamily="34" charset="-122"/>
                <a:cs typeface="Cambria" pitchFamily="34" charset="-120"/>
              </a:rPr>
              <a:t>Jeevan persistence</a:t>
            </a:r>
            <a:endParaRPr lang="en-US" sz="1350" dirty="0"/>
          </a:p>
        </p:txBody>
      </p:sp>
      <p:sp>
        <p:nvSpPr>
          <p:cNvPr id="13" name="Text 10"/>
          <p:cNvSpPr/>
          <p:nvPr/>
        </p:nvSpPr>
        <p:spPr>
          <a:xfrm>
            <a:off x="4937760" y="1764792"/>
            <a:ext cx="3383280" cy="868680"/>
          </a:xfrm>
          <a:prstGeom prst="rect">
            <a:avLst/>
          </a:prstGeom>
          <a:noFill/>
          <a:ln/>
        </p:spPr>
        <p:txBody>
          <a:bodyPr wrap="square" lIns="0" tIns="0" rIns="0" bIns="0" rtlCol="0" anchor="ctr"/>
          <a:lstStyle/>
          <a:p>
            <a:pPr indent="0" marL="0">
              <a:buNone/>
            </a:pPr>
            <a:r>
              <a:rPr lang="en-US" sz="1080" dirty="0">
                <a:solidFill>
                  <a:srgbClr val="5A6377"/>
                </a:solidFill>
                <a:latin typeface="Calibri" pitchFamily="34" charset="0"/>
                <a:ea typeface="Calibri" pitchFamily="34" charset="-122"/>
                <a:cs typeface="Calibri" pitchFamily="34" charset="-120"/>
              </a:rPr>
              <a:t>Constitutionally complete and immune to decomposition, jeevan persists across bodily birth and death. Satta stays state-complete; units stay state-dynamic.</a:t>
            </a:r>
            <a:endParaRPr lang="en-US" sz="1080" dirty="0"/>
          </a:p>
        </p:txBody>
      </p:sp>
      <p:sp>
        <p:nvSpPr>
          <p:cNvPr id="14" name="Text 11"/>
          <p:cNvSpPr/>
          <p:nvPr/>
        </p:nvSpPr>
        <p:spPr>
          <a:xfrm>
            <a:off x="640080" y="2880360"/>
            <a:ext cx="7955280" cy="502920"/>
          </a:xfrm>
          <a:prstGeom prst="rect">
            <a:avLst/>
          </a:prstGeom>
          <a:noFill/>
          <a:ln/>
        </p:spPr>
        <p:txBody>
          <a:bodyPr wrap="square" lIns="0" tIns="0" rIns="0" bIns="0" rtlCol="0" anchor="ctr"/>
          <a:lstStyle/>
          <a:p>
            <a:pPr indent="0" marL="0">
              <a:buNone/>
            </a:pPr>
            <a:r>
              <a:rPr lang="en-US" sz="1200" dirty="0">
                <a:solidFill>
                  <a:srgbClr val="5A6377"/>
                </a:solidFill>
                <a:latin typeface="Calibri" pitchFamily="34" charset="0"/>
                <a:ea typeface="Calibri" pitchFamily="34" charset="-122"/>
                <a:cs typeface="Calibri" pitchFamily="34" charset="-120"/>
              </a:rPr>
              <a:t>At the human scale, the drive shows itself as four goals — rising from the person, through the family, to an undivided society (akhand samaj) in universal orderliness (sarvabhaum vyavastha):</a:t>
            </a:r>
            <a:endParaRPr lang="en-US" sz="1200" dirty="0"/>
          </a:p>
        </p:txBody>
      </p:sp>
      <p:sp>
        <p:nvSpPr>
          <p:cNvPr id="15" name="Shape 12"/>
          <p:cNvSpPr/>
          <p:nvPr/>
        </p:nvSpPr>
        <p:spPr>
          <a:xfrm>
            <a:off x="640080" y="3474720"/>
            <a:ext cx="1874520" cy="1051560"/>
          </a:xfrm>
          <a:prstGeom prst="roundRect">
            <a:avLst>
              <a:gd name="adj" fmla="val 8696"/>
            </a:avLst>
          </a:prstGeom>
          <a:solidFill>
            <a:srgbClr val="1E2447"/>
          </a:solidFill>
          <a:ln/>
          <a:effectLst>
            <a:outerShdw sx="100000" sy="100000" kx="0" ky="0" algn="bl" rotWithShape="0" blurRad="88900" dist="25400" dir="2700000">
              <a:srgbClr val="000000">
                <a:alpha val="13000"/>
              </a:srgbClr>
            </a:outerShdw>
          </a:effectLst>
        </p:spPr>
      </p:sp>
      <p:sp>
        <p:nvSpPr>
          <p:cNvPr id="16" name="Text 13"/>
          <p:cNvSpPr/>
          <p:nvPr/>
        </p:nvSpPr>
        <p:spPr>
          <a:xfrm>
            <a:off x="777240" y="3593592"/>
            <a:ext cx="160020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Resolution</a:t>
            </a:r>
            <a:endParaRPr lang="en-US" sz="1300" dirty="0"/>
          </a:p>
        </p:txBody>
      </p:sp>
      <p:sp>
        <p:nvSpPr>
          <p:cNvPr id="17" name="Text 14"/>
          <p:cNvSpPr/>
          <p:nvPr/>
        </p:nvSpPr>
        <p:spPr>
          <a:xfrm>
            <a:off x="777240" y="3886200"/>
            <a:ext cx="1627632" cy="566928"/>
          </a:xfrm>
          <a:prstGeom prst="rect">
            <a:avLst/>
          </a:prstGeom>
          <a:noFill/>
          <a:ln/>
        </p:spPr>
        <p:txBody>
          <a:bodyPr wrap="square" lIns="0" tIns="0" rIns="0" bIns="0" rtlCol="0" anchor="ctr"/>
          <a:lstStyle/>
          <a:p>
            <a:pPr indent="0" marL="0">
              <a:buNone/>
            </a:pPr>
            <a:r>
              <a:rPr lang="en-US" sz="930" i="1" dirty="0">
                <a:solidFill>
                  <a:srgbClr val="C9D4EF"/>
                </a:solidFill>
                <a:latin typeface="Calibri" pitchFamily="34" charset="0"/>
                <a:ea typeface="Calibri" pitchFamily="34" charset="-122"/>
                <a:cs typeface="Calibri" pitchFamily="34" charset="-120"/>
              </a:rPr>
              <a:t>samadhan — understanding settled, nothing left unresolved</a:t>
            </a:r>
            <a:endParaRPr lang="en-US" sz="930" dirty="0"/>
          </a:p>
        </p:txBody>
      </p:sp>
      <p:sp>
        <p:nvSpPr>
          <p:cNvPr id="18" name="Shape 15"/>
          <p:cNvSpPr/>
          <p:nvPr/>
        </p:nvSpPr>
        <p:spPr>
          <a:xfrm>
            <a:off x="2633472" y="3474720"/>
            <a:ext cx="1874520" cy="1051560"/>
          </a:xfrm>
          <a:prstGeom prst="roundRect">
            <a:avLst>
              <a:gd name="adj" fmla="val 8696"/>
            </a:avLst>
          </a:prstGeom>
          <a:solidFill>
            <a:srgbClr val="1E2447"/>
          </a:solidFill>
          <a:ln/>
          <a:effectLst>
            <a:outerShdw sx="100000" sy="100000" kx="0" ky="0" algn="bl" rotWithShape="0" blurRad="88900" dist="25400" dir="2700000">
              <a:srgbClr val="000000">
                <a:alpha val="13000"/>
              </a:srgbClr>
            </a:outerShdw>
          </a:effectLst>
        </p:spPr>
      </p:sp>
      <p:sp>
        <p:nvSpPr>
          <p:cNvPr id="19" name="Text 16"/>
          <p:cNvSpPr/>
          <p:nvPr/>
        </p:nvSpPr>
        <p:spPr>
          <a:xfrm>
            <a:off x="2770632" y="3593592"/>
            <a:ext cx="160020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Prosperity</a:t>
            </a:r>
            <a:endParaRPr lang="en-US" sz="1300" dirty="0"/>
          </a:p>
        </p:txBody>
      </p:sp>
      <p:sp>
        <p:nvSpPr>
          <p:cNvPr id="20" name="Text 17"/>
          <p:cNvSpPr/>
          <p:nvPr/>
        </p:nvSpPr>
        <p:spPr>
          <a:xfrm>
            <a:off x="2770632" y="3886200"/>
            <a:ext cx="1627632" cy="566928"/>
          </a:xfrm>
          <a:prstGeom prst="rect">
            <a:avLst/>
          </a:prstGeom>
          <a:noFill/>
          <a:ln/>
        </p:spPr>
        <p:txBody>
          <a:bodyPr wrap="square" lIns="0" tIns="0" rIns="0" bIns="0" rtlCol="0" anchor="ctr"/>
          <a:lstStyle/>
          <a:p>
            <a:pPr indent="0" marL="0">
              <a:buNone/>
            </a:pPr>
            <a:r>
              <a:rPr lang="en-US" sz="930" i="1" dirty="0">
                <a:solidFill>
                  <a:srgbClr val="C9D4EF"/>
                </a:solidFill>
                <a:latin typeface="Calibri" pitchFamily="34" charset="0"/>
                <a:ea typeface="Calibri" pitchFamily="34" charset="-122"/>
                <a:cs typeface="Calibri" pitchFamily="34" charset="-120"/>
              </a:rPr>
              <a:t>samridhi — producing more than needed, used rightly</a:t>
            </a:r>
            <a:endParaRPr lang="en-US" sz="930" dirty="0"/>
          </a:p>
        </p:txBody>
      </p:sp>
      <p:sp>
        <p:nvSpPr>
          <p:cNvPr id="21" name="Shape 18"/>
          <p:cNvSpPr/>
          <p:nvPr/>
        </p:nvSpPr>
        <p:spPr>
          <a:xfrm>
            <a:off x="4626864" y="3474720"/>
            <a:ext cx="1874520" cy="1051560"/>
          </a:xfrm>
          <a:prstGeom prst="roundRect">
            <a:avLst>
              <a:gd name="adj" fmla="val 8696"/>
            </a:avLst>
          </a:prstGeom>
          <a:solidFill>
            <a:srgbClr val="1E2447"/>
          </a:solidFill>
          <a:ln/>
          <a:effectLst>
            <a:outerShdw sx="100000" sy="100000" kx="0" ky="0" algn="bl" rotWithShape="0" blurRad="88900" dist="25400" dir="2700000">
              <a:srgbClr val="000000">
                <a:alpha val="13000"/>
              </a:srgbClr>
            </a:outerShdw>
          </a:effectLst>
        </p:spPr>
      </p:sp>
      <p:sp>
        <p:nvSpPr>
          <p:cNvPr id="22" name="Text 19"/>
          <p:cNvSpPr/>
          <p:nvPr/>
        </p:nvSpPr>
        <p:spPr>
          <a:xfrm>
            <a:off x="4764024" y="3593592"/>
            <a:ext cx="160020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Fearlessness</a:t>
            </a:r>
            <a:endParaRPr lang="en-US" sz="1300" dirty="0"/>
          </a:p>
        </p:txBody>
      </p:sp>
      <p:sp>
        <p:nvSpPr>
          <p:cNvPr id="23" name="Text 20"/>
          <p:cNvSpPr/>
          <p:nvPr/>
        </p:nvSpPr>
        <p:spPr>
          <a:xfrm>
            <a:off x="4764024" y="3886200"/>
            <a:ext cx="1627632" cy="566928"/>
          </a:xfrm>
          <a:prstGeom prst="rect">
            <a:avLst/>
          </a:prstGeom>
          <a:noFill/>
          <a:ln/>
        </p:spPr>
        <p:txBody>
          <a:bodyPr wrap="square" lIns="0" tIns="0" rIns="0" bIns="0" rtlCol="0" anchor="ctr"/>
          <a:lstStyle/>
          <a:p>
            <a:pPr indent="0" marL="0">
              <a:buNone/>
            </a:pPr>
            <a:r>
              <a:rPr lang="en-US" sz="930" i="1" dirty="0">
                <a:solidFill>
                  <a:srgbClr val="C9D4EF"/>
                </a:solidFill>
                <a:latin typeface="Calibri" pitchFamily="34" charset="0"/>
                <a:ea typeface="Calibri" pitchFamily="34" charset="-122"/>
                <a:cs typeface="Calibri" pitchFamily="34" charset="-120"/>
              </a:rPr>
              <a:t>abhay — trust in the present and in society</a:t>
            </a:r>
            <a:endParaRPr lang="en-US" sz="930" dirty="0"/>
          </a:p>
        </p:txBody>
      </p:sp>
      <p:sp>
        <p:nvSpPr>
          <p:cNvPr id="24" name="Shape 21"/>
          <p:cNvSpPr/>
          <p:nvPr/>
        </p:nvSpPr>
        <p:spPr>
          <a:xfrm>
            <a:off x="6620256" y="3474720"/>
            <a:ext cx="1874520" cy="1051560"/>
          </a:xfrm>
          <a:prstGeom prst="roundRect">
            <a:avLst>
              <a:gd name="adj" fmla="val 8696"/>
            </a:avLst>
          </a:prstGeom>
          <a:solidFill>
            <a:srgbClr val="1E2447"/>
          </a:solidFill>
          <a:ln/>
          <a:effectLst>
            <a:outerShdw sx="100000" sy="100000" kx="0" ky="0" algn="bl" rotWithShape="0" blurRad="88900" dist="25400" dir="2700000">
              <a:srgbClr val="000000">
                <a:alpha val="13000"/>
              </a:srgbClr>
            </a:outerShdw>
          </a:effectLst>
        </p:spPr>
      </p:sp>
      <p:sp>
        <p:nvSpPr>
          <p:cNvPr id="25" name="Text 22"/>
          <p:cNvSpPr/>
          <p:nvPr/>
        </p:nvSpPr>
        <p:spPr>
          <a:xfrm>
            <a:off x="6757416" y="3593592"/>
            <a:ext cx="160020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Coexistence</a:t>
            </a:r>
            <a:endParaRPr lang="en-US" sz="1300" dirty="0"/>
          </a:p>
        </p:txBody>
      </p:sp>
      <p:sp>
        <p:nvSpPr>
          <p:cNvPr id="26" name="Text 23"/>
          <p:cNvSpPr/>
          <p:nvPr/>
        </p:nvSpPr>
        <p:spPr>
          <a:xfrm>
            <a:off x="6757416" y="3886200"/>
            <a:ext cx="1627632" cy="566928"/>
          </a:xfrm>
          <a:prstGeom prst="rect">
            <a:avLst/>
          </a:prstGeom>
          <a:noFill/>
          <a:ln/>
        </p:spPr>
        <p:txBody>
          <a:bodyPr wrap="square" lIns="0" tIns="0" rIns="0" bIns="0" rtlCol="0" anchor="ctr"/>
          <a:lstStyle/>
          <a:p>
            <a:pPr indent="0" marL="0">
              <a:buNone/>
            </a:pPr>
            <a:r>
              <a:rPr lang="en-US" sz="930" i="1" dirty="0">
                <a:solidFill>
                  <a:srgbClr val="C9D4EF"/>
                </a:solidFill>
                <a:latin typeface="Calibri" pitchFamily="34" charset="0"/>
                <a:ea typeface="Calibri" pitchFamily="34" charset="-122"/>
                <a:cs typeface="Calibri" pitchFamily="34" charset="-120"/>
              </a:rPr>
              <a:t>saha-astitva — with humans and with nature</a:t>
            </a:r>
            <a:endParaRPr lang="en-US" sz="930" dirty="0"/>
          </a:p>
        </p:txBody>
      </p:sp>
      <p:sp>
        <p:nvSpPr>
          <p:cNvPr id="27" name="Text 24"/>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“Resolution = Happiness…” — JV p. 61  ·  MVD p. 13  ·  five dimensions of universal orderliness, sustained as humane tradition (manav parampara), §1.15</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447"/>
        </a:solidFill>
      </p:bgPr>
    </p:bg>
    <p:spTree>
      <p:nvGrpSpPr>
        <p:cNvPr id="1" name=""/>
        <p:cNvGrpSpPr/>
        <p:nvPr/>
      </p:nvGrpSpPr>
      <p:grpSpPr>
        <a:xfrm>
          <a:off x="0" y="0"/>
          <a:ext cx="0" cy="0"/>
          <a:chOff x="0" y="0"/>
          <a:chExt cx="0" cy="0"/>
        </a:xfrm>
      </p:grpSpPr>
      <p:sp>
        <p:nvSpPr>
          <p:cNvPr id="3" name="Shape 0"/>
          <p:cNvSpPr/>
          <p:nvPr/>
        </p:nvSpPr>
        <p:spPr>
          <a:xfrm>
            <a:off x="7635240" y="411480"/>
            <a:ext cx="1005840" cy="1005840"/>
          </a:xfrm>
          <a:prstGeom prst="ellipse">
            <a:avLst/>
          </a:prstGeom>
          <a:ln w="15875">
            <a:solidFill>
              <a:srgbClr val="44507E"/>
            </a:solidFill>
            <a:prstDash val="solid"/>
          </a:ln>
        </p:spPr>
      </p:sp>
      <p:sp>
        <p:nvSpPr>
          <p:cNvPr id="4" name="Shape 1"/>
          <p:cNvSpPr/>
          <p:nvPr/>
        </p:nvSpPr>
        <p:spPr>
          <a:xfrm>
            <a:off x="7836408" y="612648"/>
            <a:ext cx="603504" cy="603504"/>
          </a:xfrm>
          <a:prstGeom prst="ellipse">
            <a:avLst/>
          </a:prstGeom>
          <a:ln w="15875">
            <a:solidFill>
              <a:srgbClr val="44507E"/>
            </a:solidFill>
            <a:prstDash val="solid"/>
          </a:ln>
        </p:spPr>
      </p:sp>
      <p:sp>
        <p:nvSpPr>
          <p:cNvPr id="5" name="Shape 2"/>
          <p:cNvSpPr/>
          <p:nvPr/>
        </p:nvSpPr>
        <p:spPr>
          <a:xfrm>
            <a:off x="8007401" y="783641"/>
            <a:ext cx="261518" cy="261518"/>
          </a:xfrm>
          <a:prstGeom prst="ellipse">
            <a:avLst/>
          </a:prstGeom>
          <a:solidFill>
            <a:srgbClr val="C9821E"/>
          </a:solidFill>
          <a:ln/>
        </p:spPr>
      </p:sp>
      <p:sp>
        <p:nvSpPr>
          <p:cNvPr id="6" name="Text 3"/>
          <p:cNvSpPr/>
          <p:nvPr/>
        </p:nvSpPr>
        <p:spPr>
          <a:xfrm>
            <a:off x="640080" y="457200"/>
            <a:ext cx="6675120" cy="274320"/>
          </a:xfrm>
          <a:prstGeom prst="rect">
            <a:avLst/>
          </a:prstGeom>
          <a:noFill/>
          <a:ln/>
        </p:spPr>
        <p:txBody>
          <a:bodyPr wrap="square" lIns="0" tIns="0" rIns="0" bIns="0" rtlCol="0" anchor="ctr"/>
          <a:lstStyle/>
          <a:p>
            <a:pPr indent="0" marL="0">
              <a:buNone/>
            </a:pPr>
            <a:r>
              <a:rPr lang="en-US" sz="1200" b="1" spc="300" kern="0" dirty="0">
                <a:solidFill>
                  <a:srgbClr val="C9821E"/>
                </a:solidFill>
                <a:latin typeface="Calibri" pitchFamily="34" charset="0"/>
                <a:ea typeface="Calibri" pitchFamily="34" charset="-122"/>
                <a:cs typeface="Calibri" pitchFamily="34" charset="-120"/>
              </a:rPr>
              <a:t>WHAT MADHYASTH DARSHAN ESTABLISHES</a:t>
            </a:r>
            <a:endParaRPr lang="en-US" sz="1200" dirty="0"/>
          </a:p>
        </p:txBody>
      </p:sp>
      <p:sp>
        <p:nvSpPr>
          <p:cNvPr id="7" name="Text 4"/>
          <p:cNvSpPr/>
          <p:nvPr/>
        </p:nvSpPr>
        <p:spPr>
          <a:xfrm>
            <a:off x="640080" y="749808"/>
            <a:ext cx="68580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The Questions, Answered</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508760"/>
          <a:ext cx="7863840" cy="914400"/>
        </p:xfrm>
        <a:graphic>
          <a:graphicData uri="http://schemas.openxmlformats.org/drawingml/2006/table">
            <a:tbl>
              <a:tblPr/>
              <a:tblGrid>
                <a:gridCol w="2377440"/>
                <a:gridCol w="5486400"/>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Question</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2B356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Madhyasth Darshan answer</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2B3560"/>
                    </a:solidFill>
                  </a:tcPr>
                </a:tc>
              </a:tr>
              <a:tr h="365760">
                <a:tc>
                  <a:txBody>
                    <a:bodyPr/>
                    <a:lstStyle/>
                    <a:p>
                      <a:pPr indent="0" marL="0">
                        <a:buNone/>
                      </a:pPr>
                      <a:r>
                        <a:rPr lang="en-US" sz="1200" dirty="0">
                          <a:solidFill>
                            <a:srgbClr val="C9D4EF"/>
                          </a:solidFill>
                          <a:latin typeface="Calibri" pitchFamily="34" charset="0"/>
                          <a:ea typeface="Calibri" pitchFamily="34" charset="-122"/>
                          <a:cs typeface="Calibri" pitchFamily="34" charset="-120"/>
                        </a:rPr>
                        <a:t>What is existence?</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1E2447"/>
                    </a:solidFill>
                  </a:tcPr>
                </a:tc>
                <a:tc>
                  <a:txBody>
                    <a:bodyPr/>
                    <a:lstStyle/>
                    <a:p>
                      <a:pPr indent="0" marL="0">
                        <a:buNone/>
                      </a:pPr>
                      <a:r>
                        <a:rPr lang="en-US" sz="1200" dirty="0">
                          <a:solidFill>
                            <a:srgbClr val="C9D4EF"/>
                          </a:solidFill>
                          <a:latin typeface="Calibri" pitchFamily="34" charset="0"/>
                          <a:ea typeface="Calibri" pitchFamily="34" charset="-122"/>
                          <a:cs typeface="Calibri" pitchFamily="34" charset="-120"/>
                        </a:rPr>
                        <a:t>The eternal coexistence of satta and units</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1E2447"/>
                    </a:solidFill>
                  </a:tcPr>
                </a:tc>
              </a:tr>
              <a:tr h="365760">
                <a:tc>
                  <a:txBody>
                    <a:bodyPr/>
                    <a:lstStyle/>
                    <a:p>
                      <a:pPr indent="0" marL="0">
                        <a:buNone/>
                      </a:pPr>
                      <a:r>
                        <a:rPr lang="en-US" sz="1200" dirty="0">
                          <a:solidFill>
                            <a:srgbClr val="C9D4EF"/>
                          </a:solidFill>
                          <a:latin typeface="Calibri" pitchFamily="34" charset="0"/>
                          <a:ea typeface="Calibri" pitchFamily="34" charset="-122"/>
                          <a:cs typeface="Calibri" pitchFamily="34" charset="-120"/>
                        </a:rPr>
                        <a:t>What exists?</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1E2447"/>
                    </a:solidFill>
                  </a:tcPr>
                </a:tc>
                <a:tc>
                  <a:txBody>
                    <a:bodyPr/>
                    <a:lstStyle/>
                    <a:p>
                      <a:pPr indent="0" marL="0">
                        <a:buNone/>
                      </a:pPr>
                      <a:r>
                        <a:rPr lang="en-US" sz="1200" dirty="0">
                          <a:solidFill>
                            <a:srgbClr val="C9D4EF"/>
                          </a:solidFill>
                          <a:latin typeface="Calibri" pitchFamily="34" charset="0"/>
                          <a:ea typeface="Calibri" pitchFamily="34" charset="-122"/>
                          <a:cs typeface="Calibri" pitchFamily="34" charset="-120"/>
                        </a:rPr>
                        <a:t>Omnipresence (satta) and countable units (ikai)</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1E2447"/>
                    </a:solidFill>
                  </a:tcPr>
                </a:tc>
              </a:tr>
              <a:tr h="365760">
                <a:tc>
                  <a:txBody>
                    <a:bodyPr/>
                    <a:lstStyle/>
                    <a:p>
                      <a:pPr indent="0" marL="0">
                        <a:buNone/>
                      </a:pPr>
                      <a:r>
                        <a:rPr lang="en-US" sz="1200" dirty="0">
                          <a:solidFill>
                            <a:srgbClr val="C9D4EF"/>
                          </a:solidFill>
                          <a:latin typeface="Calibri" pitchFamily="34" charset="0"/>
                          <a:ea typeface="Calibri" pitchFamily="34" charset="-122"/>
                          <a:cs typeface="Calibri" pitchFamily="34" charset="-120"/>
                        </a:rPr>
                        <a:t>Does it begin?</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1E2447"/>
                    </a:solidFill>
                  </a:tcPr>
                </a:tc>
                <a:tc>
                  <a:txBody>
                    <a:bodyPr/>
                    <a:lstStyle/>
                    <a:p>
                      <a:pPr indent="0" marL="0">
                        <a:buNone/>
                      </a:pPr>
                      <a:r>
                        <a:rPr lang="en-US" sz="1200" dirty="0">
                          <a:solidFill>
                            <a:srgbClr val="C9D4EF"/>
                          </a:solidFill>
                          <a:latin typeface="Calibri" pitchFamily="34" charset="0"/>
                          <a:ea typeface="Calibri" pitchFamily="34" charset="-122"/>
                          <a:cs typeface="Calibri" pitchFamily="34" charset="-120"/>
                        </a:rPr>
                        <a:t>No; only temporary configurations do</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1E2447"/>
                    </a:solidFill>
                  </a:tcPr>
                </a:tc>
              </a:tr>
              <a:tr h="365760">
                <a:tc>
                  <a:txBody>
                    <a:bodyPr/>
                    <a:lstStyle/>
                    <a:p>
                      <a:pPr indent="0" marL="0">
                        <a:buNone/>
                      </a:pPr>
                      <a:r>
                        <a:rPr lang="en-US" sz="1200" dirty="0">
                          <a:solidFill>
                            <a:srgbClr val="C9D4EF"/>
                          </a:solidFill>
                          <a:latin typeface="Calibri" pitchFamily="34" charset="0"/>
                          <a:ea typeface="Calibri" pitchFamily="34" charset="-122"/>
                          <a:cs typeface="Calibri" pitchFamily="34" charset="-120"/>
                        </a:rPr>
                        <a:t>Does the self begin?</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1E2447"/>
                    </a:solidFill>
                  </a:tcPr>
                </a:tc>
                <a:tc>
                  <a:txBody>
                    <a:bodyPr/>
                    <a:lstStyle/>
                    <a:p>
                      <a:pPr indent="0" marL="0">
                        <a:buNone/>
                      </a:pPr>
                      <a:r>
                        <a:rPr lang="en-US" sz="1200" dirty="0">
                          <a:solidFill>
                            <a:srgbClr val="C9D4EF"/>
                          </a:solidFill>
                          <a:latin typeface="Calibri" pitchFamily="34" charset="0"/>
                          <a:ea typeface="Calibri" pitchFamily="34" charset="-122"/>
                          <a:cs typeface="Calibri" pitchFamily="34" charset="-120"/>
                        </a:rPr>
                        <a:t>Jeevan is constitutionally immortal; it does not end with the body</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1E2447"/>
                    </a:solidFill>
                  </a:tcPr>
                </a:tc>
              </a:tr>
              <a:tr h="365760">
                <a:tc>
                  <a:txBody>
                    <a:bodyPr/>
                    <a:lstStyle/>
                    <a:p>
                      <a:pPr indent="0" marL="0">
                        <a:buNone/>
                      </a:pPr>
                      <a:r>
                        <a:rPr lang="en-US" sz="1200" dirty="0">
                          <a:solidFill>
                            <a:srgbClr val="C9D4EF"/>
                          </a:solidFill>
                          <a:latin typeface="Calibri" pitchFamily="34" charset="0"/>
                          <a:ea typeface="Calibri" pitchFamily="34" charset="-122"/>
                          <a:cs typeface="Calibri" pitchFamily="34" charset="-120"/>
                        </a:rPr>
                        <a:t>Is the world real?</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1E2447"/>
                    </a:solidFill>
                  </a:tcPr>
                </a:tc>
                <a:tc>
                  <a:txBody>
                    <a:bodyPr/>
                    <a:lstStyle/>
                    <a:p>
                      <a:pPr indent="0" marL="0">
                        <a:buNone/>
                      </a:pPr>
                      <a:r>
                        <a:rPr lang="en-US" sz="1200" dirty="0">
                          <a:solidFill>
                            <a:srgbClr val="C9D4EF"/>
                          </a:solidFill>
                          <a:latin typeface="Calibri" pitchFamily="34" charset="0"/>
                          <a:ea typeface="Calibri" pitchFamily="34" charset="-122"/>
                          <a:cs typeface="Calibri" pitchFamily="34" charset="-120"/>
                        </a:rPr>
                        <a:t>Yes — the world is perpetual (jagat satat)</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1E2447"/>
                    </a:solidFill>
                  </a:tcPr>
                </a:tc>
              </a:tr>
              <a:tr h="512064">
                <a:tc>
                  <a:txBody>
                    <a:bodyPr/>
                    <a:lstStyle/>
                    <a:p>
                      <a:pPr indent="0" marL="0">
                        <a:buNone/>
                      </a:pPr>
                      <a:r>
                        <a:rPr lang="en-US" sz="1200" dirty="0">
                          <a:solidFill>
                            <a:srgbClr val="C9D4EF"/>
                          </a:solidFill>
                          <a:latin typeface="Calibri" pitchFamily="34" charset="0"/>
                          <a:ea typeface="Calibri" pitchFamily="34" charset="-122"/>
                          <a:cs typeface="Calibri" pitchFamily="34" charset="-120"/>
                        </a:rPr>
                        <a:t>How can it be known?</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1E2447"/>
                    </a:solidFill>
                  </a:tcPr>
                </a:tc>
                <a:tc>
                  <a:txBody>
                    <a:bodyPr/>
                    <a:lstStyle/>
                    <a:p>
                      <a:pPr indent="0" marL="0">
                        <a:buNone/>
                      </a:pPr>
                      <a:r>
                        <a:rPr lang="en-US" sz="1200" dirty="0">
                          <a:solidFill>
                            <a:srgbClr val="C9D4EF"/>
                          </a:solidFill>
                          <a:latin typeface="Calibri" pitchFamily="34" charset="0"/>
                          <a:ea typeface="Calibri" pitchFamily="34" charset="-122"/>
                          <a:cs typeface="Calibri" pitchFamily="34" charset="-120"/>
                        </a:rPr>
                        <a:t>Staged study → practice → realisation with conduct-evidence (pramanikta) — each aspect known at its scope, from the unit alone to the whole</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1E2447"/>
                    </a:solidFill>
                  </a:tcPr>
                </a:tc>
              </a:tr>
            </a:tbl>
          </a:graphicData>
        </a:graphic>
      </p:graphicFrame>
      <p:sp>
        <p:nvSpPr>
          <p:cNvPr id="9" name="Text 5"/>
          <p:cNvSpPr/>
          <p:nvPr/>
        </p:nvSpPr>
        <p:spPr>
          <a:xfrm>
            <a:off x="640080" y="4526280"/>
            <a:ext cx="7863840" cy="320040"/>
          </a:xfrm>
          <a:prstGeom prst="rect">
            <a:avLst/>
          </a:prstGeom>
          <a:noFill/>
          <a:ln/>
        </p:spPr>
        <p:txBody>
          <a:bodyPr wrap="square" lIns="0" tIns="0" rIns="0" bIns="0" rtlCol="0" anchor="ctr"/>
          <a:lstStyle/>
          <a:p>
            <a:pPr indent="0" marL="0">
              <a:buNone/>
            </a:pPr>
            <a:r>
              <a:rPr lang="en-US" sz="1200" i="1" dirty="0">
                <a:solidFill>
                  <a:srgbClr val="8E9BC4"/>
                </a:solidFill>
                <a:latin typeface="Calibri" pitchFamily="34" charset="0"/>
                <a:ea typeface="Calibri" pitchFamily="34" charset="-122"/>
                <a:cs typeface="Calibri" pitchFamily="34" charset="-120"/>
              </a:rPr>
              <a:t>Lived verification through humane conduct is the final proof of realisation — §1.16</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
    <p:bg>
      <p:bgPr>
        <a:solidFill>
          <a:srgbClr val="1E2447"/>
        </a:solidFill>
      </p:bgPr>
    </p:bg>
    <p:spTree>
      <p:nvGrpSpPr>
        <p:cNvPr id="1" name=""/>
        <p:cNvGrpSpPr/>
        <p:nvPr/>
      </p:nvGrpSpPr>
      <p:grpSpPr>
        <a:xfrm>
          <a:off x="0" y="0"/>
          <a:ext cx="0" cy="0"/>
          <a:chOff x="0" y="0"/>
          <a:chExt cx="0" cy="0"/>
        </a:xfrm>
      </p:grpSpPr>
      <p:sp>
        <p:nvSpPr>
          <p:cNvPr id="3" name="Shape 0"/>
          <p:cNvSpPr/>
          <p:nvPr/>
        </p:nvSpPr>
        <p:spPr>
          <a:xfrm>
            <a:off x="5852160" y="822960"/>
            <a:ext cx="3291840" cy="3291840"/>
          </a:xfrm>
          <a:prstGeom prst="ellipse">
            <a:avLst/>
          </a:prstGeom>
          <a:ln w="15875">
            <a:solidFill>
              <a:srgbClr val="44507E"/>
            </a:solidFill>
            <a:prstDash val="solid"/>
          </a:ln>
        </p:spPr>
      </p:sp>
      <p:sp>
        <p:nvSpPr>
          <p:cNvPr id="4" name="Shape 1"/>
          <p:cNvSpPr/>
          <p:nvPr/>
        </p:nvSpPr>
        <p:spPr>
          <a:xfrm>
            <a:off x="6510528" y="1481328"/>
            <a:ext cx="1975104" cy="1975104"/>
          </a:xfrm>
          <a:prstGeom prst="ellipse">
            <a:avLst/>
          </a:prstGeom>
          <a:ln w="15875">
            <a:solidFill>
              <a:srgbClr val="44507E"/>
            </a:solidFill>
            <a:prstDash val="solid"/>
          </a:ln>
        </p:spPr>
      </p:sp>
      <p:sp>
        <p:nvSpPr>
          <p:cNvPr id="5" name="Shape 2"/>
          <p:cNvSpPr/>
          <p:nvPr/>
        </p:nvSpPr>
        <p:spPr>
          <a:xfrm>
            <a:off x="7070141" y="2040941"/>
            <a:ext cx="855878" cy="855878"/>
          </a:xfrm>
          <a:prstGeom prst="ellipse">
            <a:avLst/>
          </a:prstGeom>
          <a:solidFill>
            <a:srgbClr val="C9821E"/>
          </a:solidFill>
          <a:ln/>
        </p:spPr>
      </p:sp>
      <p:sp>
        <p:nvSpPr>
          <p:cNvPr id="6" name="Shape 3"/>
          <p:cNvSpPr/>
          <p:nvPr/>
        </p:nvSpPr>
        <p:spPr>
          <a:xfrm>
            <a:off x="5394960" y="3566160"/>
            <a:ext cx="1097280" cy="1097280"/>
          </a:xfrm>
          <a:prstGeom prst="ellipse">
            <a:avLst/>
          </a:prstGeom>
          <a:ln w="15875">
            <a:solidFill>
              <a:srgbClr val="44507E"/>
            </a:solidFill>
            <a:prstDash val="solid"/>
          </a:ln>
        </p:spPr>
      </p:sp>
      <p:sp>
        <p:nvSpPr>
          <p:cNvPr id="7" name="Shape 4"/>
          <p:cNvSpPr/>
          <p:nvPr/>
        </p:nvSpPr>
        <p:spPr>
          <a:xfrm>
            <a:off x="5614416" y="3785616"/>
            <a:ext cx="658368" cy="658368"/>
          </a:xfrm>
          <a:prstGeom prst="ellipse">
            <a:avLst/>
          </a:prstGeom>
          <a:ln w="15875">
            <a:solidFill>
              <a:srgbClr val="44507E"/>
            </a:solidFill>
            <a:prstDash val="solid"/>
          </a:ln>
        </p:spPr>
      </p:sp>
      <p:sp>
        <p:nvSpPr>
          <p:cNvPr id="8" name="Shape 5"/>
          <p:cNvSpPr/>
          <p:nvPr/>
        </p:nvSpPr>
        <p:spPr>
          <a:xfrm>
            <a:off x="5800954" y="3972154"/>
            <a:ext cx="285293" cy="285293"/>
          </a:xfrm>
          <a:prstGeom prst="ellipse">
            <a:avLst/>
          </a:prstGeom>
          <a:solidFill>
            <a:srgbClr val="C9D4EF"/>
          </a:solidFill>
          <a:ln/>
        </p:spPr>
      </p:sp>
      <p:sp>
        <p:nvSpPr>
          <p:cNvPr id="9" name="Shape 6"/>
          <p:cNvSpPr/>
          <p:nvPr/>
        </p:nvSpPr>
        <p:spPr>
          <a:xfrm>
            <a:off x="8138160" y="4023360"/>
            <a:ext cx="731520" cy="731520"/>
          </a:xfrm>
          <a:prstGeom prst="ellipse">
            <a:avLst/>
          </a:prstGeom>
          <a:ln w="15875">
            <a:solidFill>
              <a:srgbClr val="44507E"/>
            </a:solidFill>
            <a:prstDash val="solid"/>
          </a:ln>
        </p:spPr>
      </p:sp>
      <p:sp>
        <p:nvSpPr>
          <p:cNvPr id="10" name="Shape 7"/>
          <p:cNvSpPr/>
          <p:nvPr/>
        </p:nvSpPr>
        <p:spPr>
          <a:xfrm>
            <a:off x="8284464" y="4169664"/>
            <a:ext cx="438912" cy="438912"/>
          </a:xfrm>
          <a:prstGeom prst="ellipse">
            <a:avLst/>
          </a:prstGeom>
          <a:ln w="15875">
            <a:solidFill>
              <a:srgbClr val="44507E"/>
            </a:solidFill>
            <a:prstDash val="solid"/>
          </a:ln>
        </p:spPr>
      </p:sp>
      <p:sp>
        <p:nvSpPr>
          <p:cNvPr id="11" name="Shape 8"/>
          <p:cNvSpPr/>
          <p:nvPr/>
        </p:nvSpPr>
        <p:spPr>
          <a:xfrm>
            <a:off x="8408822" y="4294022"/>
            <a:ext cx="190195" cy="190195"/>
          </a:xfrm>
          <a:prstGeom prst="ellipse">
            <a:avLst/>
          </a:prstGeom>
          <a:solidFill>
            <a:srgbClr val="C9D4EF"/>
          </a:solidFill>
          <a:ln/>
        </p:spPr>
      </p:sp>
      <p:sp>
        <p:nvSpPr>
          <p:cNvPr id="12" name="Text 9"/>
          <p:cNvSpPr/>
          <p:nvPr/>
        </p:nvSpPr>
        <p:spPr>
          <a:xfrm>
            <a:off x="640080" y="1234440"/>
            <a:ext cx="5852160" cy="274320"/>
          </a:xfrm>
          <a:prstGeom prst="rect">
            <a:avLst/>
          </a:prstGeom>
          <a:noFill/>
          <a:ln/>
        </p:spPr>
        <p:txBody>
          <a:bodyPr wrap="square" lIns="0" tIns="0" rIns="0" bIns="0" rtlCol="0" anchor="ctr"/>
          <a:lstStyle/>
          <a:p>
            <a:pPr indent="0" marL="0">
              <a:buNone/>
            </a:pPr>
            <a:r>
              <a:rPr lang="en-US" sz="1200" b="1" spc="400" kern="0" dirty="0">
                <a:solidFill>
                  <a:srgbClr val="C9821E"/>
                </a:solidFill>
                <a:latin typeface="Calibri" pitchFamily="34" charset="0"/>
                <a:ea typeface="Calibri" pitchFamily="34" charset="-122"/>
                <a:cs typeface="Calibri" pitchFamily="34" charset="-120"/>
              </a:rPr>
              <a:t>THE CULMINATION  ·  BUILT INTO THE DESIGN</a:t>
            </a:r>
            <a:endParaRPr lang="en-US" sz="1200" dirty="0"/>
          </a:p>
        </p:txBody>
      </p:sp>
      <p:sp>
        <p:nvSpPr>
          <p:cNvPr id="13" name="Text 10"/>
          <p:cNvSpPr/>
          <p:nvPr/>
        </p:nvSpPr>
        <p:spPr>
          <a:xfrm>
            <a:off x="640080" y="1572768"/>
            <a:ext cx="5577840" cy="13716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An Awakened Human Tradition</a:t>
            </a:r>
            <a:endParaRPr lang="en-US" sz="4400" dirty="0"/>
          </a:p>
        </p:txBody>
      </p:sp>
      <p:sp>
        <p:nvSpPr>
          <p:cNvPr id="14" name="Text 11"/>
          <p:cNvSpPr/>
          <p:nvPr/>
        </p:nvSpPr>
        <p:spPr>
          <a:xfrm>
            <a:off x="640080" y="3050000"/>
            <a:ext cx="4846320" cy="685800"/>
          </a:xfrm>
          <a:prstGeom prst="rect">
            <a:avLst/>
          </a:prstGeom>
          <a:noFill/>
          <a:ln/>
        </p:spPr>
        <p:txBody>
          <a:bodyPr wrap="square" lIns="0" tIns="0" rIns="0" bIns="0" rtlCol="0" anchor="ctr"/>
          <a:lstStyle/>
          <a:p>
            <a:pPr indent="0" marL="0">
              <a:buNone/>
            </a:pPr>
            <a:r>
              <a:rPr lang="en-US" sz="1600" i="1" dirty="0">
                <a:solidFill>
                  <a:srgbClr val="C9D4EF"/>
                </a:solidFill>
                <a:latin typeface="Calibri" pitchFamily="34" charset="0"/>
                <a:ea typeface="Calibri" pitchFamily="34" charset="-122"/>
                <a:cs typeface="Calibri" pitchFamily="34" charset="-120"/>
              </a:rPr>
              <a:t>The drive that began in every atom comes to rest in awakened human beings — effort settled in realisation, understanding proven in daily conduct. The progression was always headed here.</a:t>
            </a:r>
            <a:endParaRPr lang="en-US" sz="1600" dirty="0"/>
          </a:p>
        </p:txBody>
      </p:sp>
      <p:sp>
        <p:nvSpPr>
          <p:cNvPr id="15" name="Text 12"/>
          <p:cNvSpPr/>
          <p:nvPr/>
        </p:nvSpPr>
        <p:spPr>
          <a:xfrm>
            <a:off x="640080" y="4160520"/>
            <a:ext cx="5303520" cy="548640"/>
          </a:xfrm>
          <a:prstGeom prst="rect">
            <a:avLst/>
          </a:prstGeom>
          <a:noFill/>
          <a:ln/>
        </p:spPr>
        <p:txBody>
          <a:bodyPr wrap="square" lIns="0" tIns="0" rIns="0" bIns="0" rtlCol="0" anchor="ctr"/>
          <a:lstStyle/>
          <a:p>
            <a:pPr indent="0" marL="0">
              <a:buNone/>
            </a:pPr>
            <a:r>
              <a:rPr lang="en-US" sz="1150" dirty="0">
                <a:solidFill>
                  <a:srgbClr val="8E9BC4"/>
                </a:solidFill>
                <a:latin typeface="Calibri" pitchFamily="34" charset="0"/>
                <a:ea typeface="Calibri" pitchFamily="34" charset="-122"/>
                <a:cs typeface="Calibri" pitchFamily="34" charset="-120"/>
              </a:rPr>
              <a:t xml:space="preserve">They live as one undivided society — </a:t>
            </a:r>
            <a:pPr indent="0" marL="0">
              <a:buNone/>
            </a:pPr>
            <a:r>
              <a:rPr lang="en-US" sz="1150" i="1" dirty="0">
                <a:solidFill>
                  <a:srgbClr val="8E9BC4"/>
                </a:solidFill>
                <a:latin typeface="Calibri" pitchFamily="34" charset="0"/>
                <a:ea typeface="Calibri" pitchFamily="34" charset="-122"/>
                <a:cs typeface="Calibri" pitchFamily="34" charset="-120"/>
              </a:rPr>
              <a:t>resolution in every person, prosperity in every family, fearlessness and trust in society, coexistence with all of nature</a:t>
            </a:r>
            <a:pPr indent="0" marL="0">
              <a:buNone/>
            </a:pPr>
            <a:r>
              <a:rPr lang="en-US" sz="1150" dirty="0">
                <a:solidFill>
                  <a:srgbClr val="8E9BC4"/>
                </a:solidFill>
                <a:latin typeface="Calibri" pitchFamily="34" charset="0"/>
                <a:ea typeface="Calibri" pitchFamily="34" charset="-122"/>
                <a:cs typeface="Calibri" pitchFamily="34" charset="-120"/>
              </a:rPr>
              <a:t>.</a:t>
            </a:r>
            <a:endParaRPr lang="en-US" sz="1150" dirty="0"/>
          </a:p>
        </p:txBody>
      </p:sp>
      <p:sp>
        <p:nvSpPr>
          <p:cNvPr id="16" name="Text 13"/>
          <p:cNvSpPr/>
          <p:nvPr/>
        </p:nvSpPr>
        <p:spPr>
          <a:xfrm>
            <a:off x="640080" y="4650000"/>
            <a:ext cx="5303520" cy="548640"/>
          </a:xfrm>
          <a:prstGeom prst="rect">
            <a:avLst/>
          </a:prstGeom>
          <a:noFill/>
          <a:ln/>
        </p:spPr>
        <p:txBody>
          <a:bodyPr wrap="square" lIns="0" tIns="0" rIns="0" bIns="0" rtlCol="0" anchor="ctr"/>
          <a:lstStyle/>
          <a:p>
            <a:pPr indent="0" marL="0">
              <a:buNone/>
            </a:pPr>
            <a:r>
              <a:rPr lang="en-US" sz="1150" dirty="0">
                <a:solidFill>
                  <a:srgbClr val="8E9BC4"/>
                </a:solidFill>
                <a:latin typeface="Calibri" pitchFamily="34" charset="0"/>
                <a:ea typeface="Calibri" pitchFamily="34" charset="-122"/>
                <a:cs typeface="Calibri" pitchFamily="34" charset="-120"/>
              </a:rPr>
              <a:t>A humane tradition: each generation raised into the same understanding, carried on.</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Ontology of Existence — Madhyasth Darshan</dc:title>
  <dc:subject>PptxGenJS Presentation</dc:subject>
  <dc:creator>AnalyticMadhyasthDarshan.org</dc:creator>
  <cp:lastModifiedBy>AnalyticMadhyasthDarshan.org</cp:lastModifiedBy>
  <cp:revision>1</cp:revision>
  <dcterms:created xsi:type="dcterms:W3CDTF">2026-07-04T23:48:09Z</dcterms:created>
  <dcterms:modified xsi:type="dcterms:W3CDTF">2026-07-04T23:48:09Z</dcterms:modified>
</cp:coreProperties>
</file>