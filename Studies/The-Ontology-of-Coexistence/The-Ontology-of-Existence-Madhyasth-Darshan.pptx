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b0120387c804e95" Type="http://schemas.openxmlformats.org/officeDocument/2006/relationships/officeDocument" Target="ppt/presentation.xml"/><Relationship Id="R42bf4061e1cb4867" Type="http://schemas.openxmlformats.org/package/2006/relationships/metadata/core-properties" Target="docProps/core.xml"/><Relationship Id="Ra10fc46c5e784de9"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99068a038c3426b"/>
  </p:sldMasterIdLst>
  <p:notesMasterIdLst>
    <p:notesMasterId xmlns:r="http://schemas.openxmlformats.org/officeDocument/2006/relationships" r:id="Ra9d8cfa726104afb"/>
  </p:notesMasterIdLst>
  <p:sldIdLst>
    <p:sldId xmlns:r="http://schemas.openxmlformats.org/officeDocument/2006/relationships" id="256" r:id="Rb35e6c39136040d9"/>
    <p:sldId xmlns:r="http://schemas.openxmlformats.org/officeDocument/2006/relationships" id="257" r:id="R42b916a74187495a"/>
    <p:sldId xmlns:r="http://schemas.openxmlformats.org/officeDocument/2006/relationships" id="258" r:id="Rb9baf66fbba74622"/>
    <p:sldId xmlns:r="http://schemas.openxmlformats.org/officeDocument/2006/relationships" id="259" r:id="R174882e548d1466e"/>
    <p:sldId xmlns:r="http://schemas.openxmlformats.org/officeDocument/2006/relationships" id="260" r:id="R4977231e3ba741ec"/>
    <p:sldId xmlns:r="http://schemas.openxmlformats.org/officeDocument/2006/relationships" id="261" r:id="R64ee5d102da54184"/>
    <p:sldId xmlns:r="http://schemas.openxmlformats.org/officeDocument/2006/relationships" id="262" r:id="Ra89aad03a3ec4f66"/>
    <p:sldId xmlns:r="http://schemas.openxmlformats.org/officeDocument/2006/relationships" id="263" r:id="R8651193f06b2454b"/>
    <p:sldId xmlns:r="http://schemas.openxmlformats.org/officeDocument/2006/relationships" id="264" r:id="R4da1fdee300247b8"/>
    <p:sldId xmlns:r="http://schemas.openxmlformats.org/officeDocument/2006/relationships" id="265" r:id="Rb84d5cb6c0354879"/>
    <p:sldId xmlns:r="http://schemas.openxmlformats.org/officeDocument/2006/relationships" id="266" r:id="R7dfbe544d1c94910"/>
    <p:sldId xmlns:r="http://schemas.openxmlformats.org/officeDocument/2006/relationships" id="267" r:id="R47303522ded14044"/>
    <p:sldId xmlns:r="http://schemas.openxmlformats.org/officeDocument/2006/relationships" id="268" r:id="Rc331f1e58da84f4b"/>
    <p:sldId xmlns:r="http://schemas.openxmlformats.org/officeDocument/2006/relationships" id="269" r:id="R2bed2181f9f146e7"/>
    <p:sldId xmlns:r="http://schemas.openxmlformats.org/officeDocument/2006/relationships" id="270" r:id="R7665f7a02a1c4955"/>
    <p:sldId xmlns:r="http://schemas.openxmlformats.org/officeDocument/2006/relationships" id="271" r:id="R8b7ab1deb59d42d2"/>
    <p:sldId xmlns:r="http://schemas.openxmlformats.org/officeDocument/2006/relationships" id="272" r:id="R182ba4b1ee7b4755"/>
    <p:sldId xmlns:r="http://schemas.openxmlformats.org/officeDocument/2006/relationships" id="273" r:id="Rb94fd631904b4880"/>
    <p:sldId xmlns:r="http://schemas.openxmlformats.org/officeDocument/2006/relationships" id="274" r:id="R67e0c6a8bf844042"/>
    <p:sldId xmlns:r="http://schemas.openxmlformats.org/officeDocument/2006/relationships" id="275" r:id="R087d48705b2140fa"/>
    <p:sldId xmlns:r="http://schemas.openxmlformats.org/officeDocument/2006/relationships" id="276" r:id="R83303adf5acb4602"/>
    <p:sldId xmlns:r="http://schemas.openxmlformats.org/officeDocument/2006/relationships" id="277" r:id="R15fbb8a39dee4b36"/>
    <p:sldId xmlns:r="http://schemas.openxmlformats.org/officeDocument/2006/relationships" id="278" r:id="R6f6581197b7c42e7"/>
    <p:sldId xmlns:r="http://schemas.openxmlformats.org/officeDocument/2006/relationships" id="279" r:id="R29a20a07a1e34140"/>
    <p:sldId xmlns:r="http://schemas.openxmlformats.org/officeDocument/2006/relationships" id="280" r:id="Rdc70c46e1d964534"/>
    <p:sldId xmlns:r="http://schemas.openxmlformats.org/officeDocument/2006/relationships" id="281" r:id="R34c96f2eb0544c71"/>
    <p:sldId xmlns:r="http://schemas.openxmlformats.org/officeDocument/2006/relationships" id="282" r:id="Ra27b9738f5fa480e"/>
    <p:sldId xmlns:r="http://schemas.openxmlformats.org/officeDocument/2006/relationships" id="283" r:id="Rc51a80f845ce4a77"/>
    <p:sldId xmlns:r="http://schemas.openxmlformats.org/officeDocument/2006/relationships" id="284" r:id="R13132ddc5c8f42dd"/>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87d48705b2140fa" Type="http://schemas.openxmlformats.org/officeDocument/2006/relationships/slide" Target="slides/slide20.xml"/><Relationship Id="R13132ddc5c8f42dd" Type="http://schemas.openxmlformats.org/officeDocument/2006/relationships/slide" Target="slides/slide29.xml"/><Relationship Id="R15fbb8a39dee4b36" Type="http://schemas.openxmlformats.org/officeDocument/2006/relationships/slide" Target="slides/slide22.xml"/><Relationship Id="R174882e548d1466e" Type="http://schemas.openxmlformats.org/officeDocument/2006/relationships/slide" Target="slides/slide4.xml"/><Relationship Id="R182ba4b1ee7b4755" Type="http://schemas.openxmlformats.org/officeDocument/2006/relationships/slide" Target="slides/slide17.xml"/><Relationship Id="R1e8464e20f454eb8" Type="http://schemas.openxmlformats.org/officeDocument/2006/relationships/viewProps" Target="viewProps.xml"/><Relationship Id="R29a20a07a1e34140" Type="http://schemas.openxmlformats.org/officeDocument/2006/relationships/slide" Target="slides/slide24.xml"/><Relationship Id="R2bed2181f9f146e7" Type="http://schemas.openxmlformats.org/officeDocument/2006/relationships/slide" Target="slides/slide14.xml"/><Relationship Id="R34c96f2eb0544c71" Type="http://schemas.openxmlformats.org/officeDocument/2006/relationships/slide" Target="slides/slide26.xml"/><Relationship Id="R42b916a74187495a" Type="http://schemas.openxmlformats.org/officeDocument/2006/relationships/slide" Target="slides/slide2.xml"/><Relationship Id="R47303522ded14044" Type="http://schemas.openxmlformats.org/officeDocument/2006/relationships/slide" Target="slides/slide12.xml"/><Relationship Id="R4977231e3ba741ec" Type="http://schemas.openxmlformats.org/officeDocument/2006/relationships/slide" Target="slides/slide5.xml"/><Relationship Id="R4da1fdee300247b8" Type="http://schemas.openxmlformats.org/officeDocument/2006/relationships/slide" Target="slides/slide9.xml"/><Relationship Id="R5efd4d16ebec42f6" Type="http://schemas.openxmlformats.org/officeDocument/2006/relationships/tableStyles" Target="tableStyles.xml"/><Relationship Id="R64ee5d102da54184" Type="http://schemas.openxmlformats.org/officeDocument/2006/relationships/slide" Target="slides/slide6.xml"/><Relationship Id="R67e0c6a8bf844042" Type="http://schemas.openxmlformats.org/officeDocument/2006/relationships/slide" Target="slides/slide19.xml"/><Relationship Id="R6f6581197b7c42e7" Type="http://schemas.openxmlformats.org/officeDocument/2006/relationships/slide" Target="slides/slide23.xml"/><Relationship Id="R7665f7a02a1c4955" Type="http://schemas.openxmlformats.org/officeDocument/2006/relationships/slide" Target="slides/slide15.xml"/><Relationship Id="R7dfbe544d1c94910" Type="http://schemas.openxmlformats.org/officeDocument/2006/relationships/slide" Target="slides/slide11.xml"/><Relationship Id="R83303adf5acb4602" Type="http://schemas.openxmlformats.org/officeDocument/2006/relationships/slide" Target="slides/slide21.xml"/><Relationship Id="R8651193f06b2454b" Type="http://schemas.openxmlformats.org/officeDocument/2006/relationships/slide" Target="slides/slide8.xml"/><Relationship Id="R8b7ab1deb59d42d2" Type="http://schemas.openxmlformats.org/officeDocument/2006/relationships/slide" Target="slides/slide16.xml"/><Relationship Id="R8dc3a8fcccea41b7" Type="http://schemas.openxmlformats.org/officeDocument/2006/relationships/theme" Target="theme/theme1.xml"/><Relationship Id="Ra27b9738f5fa480e" Type="http://schemas.openxmlformats.org/officeDocument/2006/relationships/slide" Target="slides/slide27.xml"/><Relationship Id="Ra89aad03a3ec4f66" Type="http://schemas.openxmlformats.org/officeDocument/2006/relationships/slide" Target="slides/slide7.xml"/><Relationship Id="Ra9d8cfa726104afb" Type="http://schemas.openxmlformats.org/officeDocument/2006/relationships/notesMaster" Target="notesMasters/notesMaster1.xml"/><Relationship Id="Rb35e6c39136040d9" Type="http://schemas.openxmlformats.org/officeDocument/2006/relationships/slide" Target="slides/slide1.xml"/><Relationship Id="Rb84d5cb6c0354879" Type="http://schemas.openxmlformats.org/officeDocument/2006/relationships/slide" Target="slides/slide10.xml"/><Relationship Id="Rb94fd631904b4880" Type="http://schemas.openxmlformats.org/officeDocument/2006/relationships/slide" Target="slides/slide18.xml"/><Relationship Id="Rb99068a038c3426b" Type="http://schemas.openxmlformats.org/officeDocument/2006/relationships/slideMaster" Target="slideMasters/slideMaster1.xml"/><Relationship Id="Rb9baf66fbba74622" Type="http://schemas.openxmlformats.org/officeDocument/2006/relationships/slide" Target="slides/slide3.xml"/><Relationship Id="Rc331f1e58da84f4b" Type="http://schemas.openxmlformats.org/officeDocument/2006/relationships/slide" Target="slides/slide13.xml"/><Relationship Id="Rc51a80f845ce4a77" Type="http://schemas.openxmlformats.org/officeDocument/2006/relationships/slide" Target="slides/slide28.xml"/><Relationship Id="Rc7006b277e514e66" Type="http://schemas.openxmlformats.org/officeDocument/2006/relationships/presProps" Target="presProps.xml"/><Relationship Id="Rdc70c46e1d964534"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ca16b85bb3cc426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acaddbecb22148e6" Type="http://schemas.openxmlformats.org/officeDocument/2006/relationships/slide" Target="../slides/slide1.xml"/><Relationship Id="Rad5296ba2af14b75"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ff354cb11ad4f77" Type="http://schemas.openxmlformats.org/officeDocument/2006/relationships/notesMaster" Target="../notesMasters/notesMaster1.xml"/><Relationship Id="R4806e7e3fe5a4db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0b238ca3c414d66" Type="http://schemas.openxmlformats.org/officeDocument/2006/relationships/slide" Target="../slides/slide3.xml"/><Relationship Id="Rd1b464227b3240a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51f80abf6d64eed" Type="http://schemas.openxmlformats.org/officeDocument/2006/relationships/notesMaster" Target="../notesMasters/notesMaster1.xml"/><Relationship Id="R7a1a0688e26d4ff0"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a9e34645658a4e90" Type="http://schemas.openxmlformats.org/officeDocument/2006/relationships/slide" Target="../slides/slide5.xml"/><Relationship Id="Rbd6e1734f41742a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bba938665d1f4061" Type="http://schemas.openxmlformats.org/officeDocument/2006/relationships/notesMaster" Target="../notesMasters/notesMaster1.xml"/><Relationship Id="Rc2f97a5996fb4ea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820e04c08290495b" Type="http://schemas.openxmlformats.org/officeDocument/2006/relationships/slide" Target="../slides/slide7.xml"/><Relationship Id="Rd9453daf44d04cf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f084f78d7164042" Type="http://schemas.openxmlformats.org/officeDocument/2006/relationships/notesMaster" Target="../notesMasters/notesMaster1.xml"/><Relationship Id="Rf6e41329f84b4e4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b50ab9ff76b94920" Type="http://schemas.openxmlformats.org/officeDocument/2006/relationships/slide" Target="../slides/slide9.xml"/><Relationship Id="Rca84ea77486a485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92b18c907d14ac2" Type="http://schemas.openxmlformats.org/officeDocument/2006/relationships/notesMaster" Target="../notesMasters/notesMaster1.xml"/><Relationship Id="R6d8bfa602aac421b"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0b98b81f3f1416f" Type="http://schemas.openxmlformats.org/officeDocument/2006/relationships/slide" Target="../slides/slide11.xml"/><Relationship Id="R4c31492b47d1441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614f8098d6843ef" Type="http://schemas.openxmlformats.org/officeDocument/2006/relationships/notesMaster" Target="../notesMasters/notesMaster1.xml"/><Relationship Id="Re6e82dc8013b409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260b2118c1244b7d" Type="http://schemas.openxmlformats.org/officeDocument/2006/relationships/slide" Target="../slides/slide13.xml"/><Relationship Id="Rdaeb4216e86f48c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fbf3465781d45f8" Type="http://schemas.openxmlformats.org/officeDocument/2006/relationships/notesMaster" Target="../notesMasters/notesMaster1.xml"/><Relationship Id="Rb35de27afe7047da"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833bd240a79e4ff5" Type="http://schemas.openxmlformats.org/officeDocument/2006/relationships/slide" Target="../slides/slide15.xml"/><Relationship Id="Ra38eaedeaca34a58"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7d773c2519d4a53" Type="http://schemas.openxmlformats.org/officeDocument/2006/relationships/slide" Target="../slides/slide16.xml"/><Relationship Id="Re48e1e239b194f89"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49cdbed44efb4a4e" Type="http://schemas.openxmlformats.org/officeDocument/2006/relationships/notesMaster" Target="../notesMasters/notesMaster1.xml"/><Relationship Id="Rd0a953e4e0cf418b"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b8cfd56c8fb14c4e" Type="http://schemas.openxmlformats.org/officeDocument/2006/relationships/notesMaster" Target="../notesMasters/notesMaster1.xml"/><Relationship Id="Rea87c78ba6614917"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91130294478d4203" Type="http://schemas.openxmlformats.org/officeDocument/2006/relationships/slide" Target="../slides/slide19.xml"/><Relationship Id="Rfcb0757f73ad4167"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0876e3a8222e496f" Type="http://schemas.openxmlformats.org/officeDocument/2006/relationships/notesMaster" Target="../notesMasters/notesMaster1.xml"/><Relationship Id="R4ce3952fb561458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90a220f51584779" Type="http://schemas.openxmlformats.org/officeDocument/2006/relationships/notesMaster" Target="../notesMasters/notesMaster1.xml"/><Relationship Id="R3b4ba672233f46f0"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57d01bfdb7aa425e" Type="http://schemas.openxmlformats.org/officeDocument/2006/relationships/notesMaster" Target="../notesMasters/notesMaster1.xml"/><Relationship Id="Rfa1d4e4672df4c86"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4071ba382c684a66" Type="http://schemas.openxmlformats.org/officeDocument/2006/relationships/notesMaster" Target="../notesMasters/notesMaster1.xml"/><Relationship Id="R90a4934ba00c44f3"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53c34a6c4be3448b" Type="http://schemas.openxmlformats.org/officeDocument/2006/relationships/notesMaster" Target="../notesMasters/notesMaster1.xml"/><Relationship Id="R5d9d9498e7bb42a7"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40228eb4c6fe4b79" Type="http://schemas.openxmlformats.org/officeDocument/2006/relationships/slide" Target="../slides/slide25.xml"/><Relationship Id="Ra1987b731ae84f3f"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78a7bf4ff5074c08" Type="http://schemas.openxmlformats.org/officeDocument/2006/relationships/slide" Target="../slides/slide26.xml"/><Relationship Id="Rde8d615b25e7449a"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a0c0a470d6014a26" Type="http://schemas.openxmlformats.org/officeDocument/2006/relationships/notesMaster" Target="../notesMasters/notesMaster1.xml"/><Relationship Id="Rf9e5b0aef817459c"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cfecfca4313d4ced" Type="http://schemas.openxmlformats.org/officeDocument/2006/relationships/slide" Target="../slides/slide28.xml"/><Relationship Id="Re03b90d00edd40f8"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7833a89ceac94cb7" Type="http://schemas.openxmlformats.org/officeDocument/2006/relationships/slide" Target="../slides/slide29.xml"/><Relationship Id="Rfcc544ecf0264e7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and two bonds — each unit to the ground, and each unit to the others. The second of those is complementarity: each unit stands in definite relations to the rest. Every unit has form, capacities, a way of participating, and an inseparable innateness, expressed across four orders of nature. The darshan connects their inseparability from the ground with its claim that existence neither begins nor ends.</a:t>
            </a:r>
          </a:p>
          <a:p xmlns:a="http://schemas.openxmlformats.org/drawingml/2006/main">
            <a:r>
              <a:t>Second: how development proceeds along two lines. Composition forms molecules, cells and bodies; material constituents can enter pranic organisation and return to the material order through disintegration. This does not by itself produce a sentient unit. Development in an atom reaches constitutional completeness as jeevan. Across both lines, activity includes effort, motion and result together.</a:t>
            </a:r>
          </a:p>
          <a:p xmlns:a="http://schemas.openxmlformats.org/drawingml/2006/main">
            <a:r>
              <a:t>Third: how sentient living becomes awakened conduct. We examine the human joint form, jeevan's faculties and harmonies, evaluation, realisation, and the expression of understanding through humane conduct.</a:t>
            </a:r>
          </a:p>
          <a:p xmlns:a="http://schemas.openxmlformats.org/drawingml/2006/main">
            <a:r>
              <a:t>Please keep one distinction early: the body line and the sentient-unit line meet in animal and human living, but they are not the same process. That blocks the most common confusion — treating the body as the producer of the knower.</a:t>
            </a:r>
          </a:p>
          <a:p xmlns:a="http://schemas.openxmlformats.org/drawingml/2006/main">
            <a:r>
              <a:t>Each movement is marked in the small line at the top of its opening slide, so you can always tell where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a:t>
            </a:r>
          </a:p>
          <a:p xmlns:a="http://schemas.openxmlformats.org/drawingml/2006/main">
            <a:r>
              <a:t>Two words make this relation clearer. *Permeating* concerns the unit: the pervasive reality passes through every unit, which remains saturated in it. *Transparent* concerns mutuality: units become manifest to one another through imaging, which provides a basis of recognition. Transparency, permeability, and pervasiveness together evidence one indivisible reality.</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Saturation names the inseparability of units and Omnipresence. Every formful unit is soaked, submerged, and surrounded in the same pervasive reality.</a:t>
            </a:r>
          </a:p>
          <a:p xmlns:a="http://schemas.openxmlformats.org/drawingml/2006/main">
            <a:r>
              <a:t>Because that reality is permeating, dividing a unit leaves every fragment saturated in it. There is no fragment outside the ground. This is why the texts connect saturation with non-annihilation, and why saturation names an ever-present condition.</a:t>
            </a:r>
          </a:p>
          <a:p xmlns:a="http://schemas.openxmlformats.org/drawingml/2006/main">
            <a:r>
              <a:t>The three descriptions have overlapping connections. Soakedness is evidenced as energy-fullness and forcefulness. The unit bears energy and definite relative power. The texts explicitly locate the root of its manifestness, or prakashmanata, in force-endowment while saturated in Omnipresence.</a:t>
            </a:r>
          </a:p>
          <a:p xmlns:a="http://schemas.openxmlformats.org/drawingml/2006/main">
            <a:r>
              <a:t>Submersion is expressed in activeness and recognition in mutuality. Units are present in the same pervasive reality and are imaged to one another. The formula linking unit-ness and energy-fullness with activeness belongs to this connected account.</a:t>
            </a:r>
          </a:p>
          <a:p xmlns:a="http://schemas.openxmlformats.org/drawingml/2006/main">
            <a:r>
              <a:t>Surroundedness is evidenced as regulation. Units remain in definite relations and regulate their activities through their own mediative organisation. Slide 22 develops this.</a:t>
            </a:r>
          </a:p>
          <a:p xmlns:a="http://schemas.openxmlformats.org/drawingml/2006/main">
            <a:r>
              <a:t>These descriptions belong together. The source passages connect them in more than one way, so each card should be read as part of one saturation. Slide 8 develops imaging and recognition. This is the darshan's ontological account; a quantitative physical mechanism would require further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consequence of the last slide deserves its own moment, because it answers the second of our opening questions.</a:t>
            </a:r>
          </a:p>
          <a:p xmlns:a="http://schemas.openxmlformats.org/drawingml/2006/main">
            <a:r>
              <a:t>Division leaves every fragment saturated in the ground. Madhyasth Darshan connects this inseparability with its claim that what exists is not annihilated and does not arise from non-being. Existence is perpetual; particular arrangements of units begin and end. The doctrine is explicit, although inseparability alone does not independently prove every claim of persistence.</a:t>
            </a:r>
          </a:p>
          <a:p xmlns:a="http://schemas.openxmlformats.org/drawingml/2006/main">
            <a:r>
              <a:t>Notice carefully what that does and does not claim. A compound decomposes. A body dies. Those organisations genuinely end. What continues is their constituents, in other relations. Perpetuity belongs to coexistence, not to any particular configuration.</a:t>
            </a:r>
          </a:p>
          <a:p xmlns:a="http://schemas.openxmlformats.org/drawingml/2006/main">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and development occur as unit-activity in mutuality. Karma and humane conduct belong to the human joint form. So there is no creator in this account, and no ruler issuing instructions.</a:t>
            </a:r>
          </a:p>
          <a:p xmlns:a="http://schemas.openxmlformats.org/drawingml/2006/main">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the relation I have described runs between each unit and the ground. There is a second relation, and without it nothing else in this account works — not value, not relationship, not justice, and not the drive we are about to follow.</a:t>
            </a:r>
          </a:p>
          <a:p xmlns:a="http://schemas.openxmlformats.org/drawingml/2006/main">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xmlns:a="http://schemas.openxmlformats.org/drawingml/2006/main">
            <a:r>
              <a:t>So complementarity is *given* in coexistence. Not created by us. Not agreed between parties. Not a value we project onto a neutral world. It is a feature of what exists.</a:t>
            </a:r>
          </a:p>
          <a:p xmlns:a="http://schemas.openxmlformats.org/drawingml/2006/main">
            <a:r>
              <a:t>Three things follow, and they are the three cards.</a:t>
            </a:r>
          </a:p>
          <a:p xmlns:a="http://schemas.openxmlformats.org/drawingml/2006/main">
            <a:r>
              <a:t>Recognition first. Units are imaged to one another in mutual facing. The image, called pratibimb, provides a basis of mutual recognition. This includes insentient units. Their relative powers also exert effects: heat exchange and particle relations illustrate responsiveness. Imaging and influence have distinct roles in the same mutuality. Neither implies that an insentient unit understands as a person does. Human understanding involves the knowing activities of jeevan.</a:t>
            </a:r>
          </a:p>
          <a:p xmlns:a="http://schemas.openxmlformats.org/drawingml/2006/main">
            <a:r>
              <a:t>Complementarity second. Nothing in nature exists in isolation, and each unit is a whole along with its environment. Now the consequence people find surprising: value, in the universal sense, is essentiality and participation in orderliness — the definite conduct through which a unit complements others. Usefulness is that essentiality as it appears in objects; it is not the whole of value. Value is ontological here. It is not assigned by an observer, and it is not a human invention layered on top of physics.</a:t>
            </a:r>
          </a:p>
          <a:p xmlns:a="http://schemas.openxmlformats.org/drawingml/2006/main">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xmlns:a="http://schemas.openxmlformats.org/drawingml/2006/main">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is every unit? Four inseparable aspects — not a static checklist pasted onto things, but how a definite bearer shows up in the world.</a:t>
            </a:r>
          </a:p>
          <a:p xmlns:a="http://schemas.openxmlformats.org/drawingml/2006/main">
            <a:r>
              <a:t>Form is the real configuration of the unit: shape, volume, and density. The constituted unit is bimb. Its image in mutual facing is pratibimb, and being imaged is pratibimban. Take the peepal tree: one bounded living form with trunk, branches, leaves, and roots.</a:t>
            </a:r>
          </a:p>
          <a:p xmlns:a="http://schemas.openxmlformats.org/drawingml/2006/main">
            <a:r>
              <a:t>Properties are relative powers inseparable from their bearer. In the peepal, nutrition, repair, seed production, and degeneration become effective under definite conditions.</a:t>
            </a:r>
          </a:p>
          <a:p xmlns:a="http://schemas.openxmlformats.org/drawingml/2006/main">
            <a:r>
              <a:t>Essential nature is usefulness in mutuality. The peepal's effects are vitalising or devitalising according to the affected body and conditions. Its being alive or decomposing does not alone decide which effect it has on another body.</a:t>
            </a:r>
          </a:p>
          <a:p xmlns:a="http://schemas.openxmlformats.org/drawingml/2006/main">
            <a:r>
              <a:t>Innateness — dharma in this technical sense — is what cannot be separated from the unit, plus order-specific fulfilment. For the peepal: existence plus growth. Seed-conformance is how it conducts itself, not an extra label piled on top.</a:t>
            </a:r>
          </a:p>
          <a:p xmlns:a="http://schemas.openxmlformats.org/drawingml/2006/main">
            <a:r>
              <a:t>The whole unit is manifest, or prakashman, with all four aspects. Imaging is central to prakash. This is a claim about how units are manifest to one another; completed human understanding also requires knowing their relations and fulfilment. An image alone does not deliver that understanding. Animal recognition of essential nature becomes evident in friendliness and opposition; human living brings the exchange of values and evaluation of dharma.</a:t>
            </a:r>
          </a:p>
          <a:p xmlns:a="http://schemas.openxmlformats.org/drawingml/2006/main">
            <a:r>
              <a:t>And notice: the tree as a composite can die while its material constituents persist. Persistence of existence is not persistence of one configuration.</a:t>
            </a:r>
          </a:p>
          <a:p xmlns:a="http://schemas.openxmlformats.org/drawingml/2006/main">
            <a:r>
              <a:t>The same unit is known in three complementary aspects, not three worlds. Inherent truth is what the unit is. Positional truth is how it stands among others. Existential truth is that it exists in Omnipresence.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complementarity we just established becomes evident through relationships among units — this slide is what it looks like in practice.</a:t>
            </a:r>
          </a:p>
          <a:p xmlns:a="http://schemas.openxmlformats.org/drawingml/2006/main">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xmlns:a="http://schemas.openxmlformats.org/drawingml/2006/main">
            <a:r>
              <a:t>Two kinds of mutuality matter. A relationship carries definite expectations towards completeness — parent and child, for example. In a contact (*sampark*), the particular exchange is voluntarily undertaken, as when neighbours agree to share the upkeep of a wall. Both remain answerable to justice and humane conduct.</a:t>
            </a:r>
          </a:p>
          <a:p xmlns:a="http://schemas.openxmlformats.org/drawingml/2006/main">
            <a:r>
              <a:t>The slide names the thirty values: four *jeevan* values, six human values, nine established values, nine expressed values, and two object values. Established values become evident when human relationships are recognised and fulfilled — trust, respect, affection, care, and so on. Expressed values — *shishta-mulya* — are their corresponding powers in motion. The English translation of MVD renders those as civic values; they are relationship-expression, not a separate family of right-use of body, mind, and wealth.</a:t>
            </a:r>
          </a:p>
          <a:p xmlns:a="http://schemas.openxmlformats.org/drawingml/2006/main">
            <a:r>
              <a:t>At the human order the path runs: knowing, then believing, then recognising, then fulfilling. Awakening does not invent new faculties. It aligns this chain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xmlns:a="http://schemas.openxmlformats.org/drawingml/2006/main">
            <a:r>
              <a:t>We have now stated what exists and how it is ordered. Next: how development proceeds.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the last three slides have been building toward: why does anything develop at all?</a:t>
            </a:r>
          </a:p>
          <a:p xmlns:a="http://schemas.openxmlformats.org/drawingml/2006/main">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xmlns:a="http://schemas.openxmlformats.org/drawingml/2006/main">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xmlns:a="http://schemas.openxmlformats.org/drawingml/2006/main">
            <a:r>
              <a:t>That drive proceeds along two distinct lines, and Madhyasth Darshan insists they must not be collapsed.</a:t>
            </a:r>
          </a:p>
          <a:p xmlns:a="http://schemas.openxmlformats.org/drawingml/2006/main">
            <a:r>
              <a:t>Compositional progression joins particles, atoms, molecules, cells, and bodies into larger configurations. Separately, development in an atom can reach constitutional completeness as a sentient unit. These lines meet in living joint forms, but they remain distinct.</a:t>
            </a:r>
          </a:p>
          <a:p xmlns:a="http://schemas.openxmlformats.org/drawingml/2006/main">
            <a:r>
              <a:t>Across both, activity is one inseparable triad: effort, motion, and result — three aspects of one activity, not three sequential steps. When sodium and chlorine approach, the approach is effort and motion together; the stable salt crystal is the result.</a:t>
            </a:r>
          </a:p>
          <a:p xmlns:a="http://schemas.openxmlformats.org/drawingml/2006/main">
            <a:r>
              <a:t>The texts compress the engine this way: saturation is forcefulness; forcefulness is basic impulsion; impulsion is activity; activity is effort-motion-result; and that is development.</a:t>
            </a:r>
          </a:p>
          <a:p xmlns:a="http://schemas.openxmlformats.org/drawingml/2006/main">
            <a:r>
              <a:t>Each term has a goal: restfulness of effort, destination of motion, immortality of result. Development pervades nature; awakening occurs in the sentient. Non-sentient units participate by composing bodies and environments without each individually completing the drive.</a:t>
            </a:r>
          </a:p>
          <a:p xmlns:a="http://schemas.openxmlformats.org/drawingml/2006/main">
            <a:r>
              <a:t>The next slide follows both paths through their convergence in animal and human living.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completeness drive unfolds along two parallel paths.</a:t>
            </a:r>
          </a:p>
          <a:p xmlns:a="http://schemas.openxmlformats.org/drawingml/2006/main">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xmlns:a="http://schemas.openxmlformats.org/drawingml/2006/main">
            <a:r>
              <a:t>The second is the atomic path, *gathan*. A developing atom integrates the particle constitution required for completeness. At constitutional completeness, the texts classify that atom as sentient *jeevan*.</a:t>
            </a:r>
          </a:p>
          <a:p xmlns:a="http://schemas.openxmlformats.org/drawingml/2006/main">
            <a:r>
              <a:t>The two paths meet in the animal order as a joint form: a biological body plus sentient *jeevan*. One does not manufacture the other; they work together.</a:t>
            </a:r>
          </a:p>
          <a:p xmlns:a="http://schemas.openxmlformats.org/drawingml/2006/main">
            <a:r>
              <a:t>Development then continues along both aspects of the joint form. Bodily lineages develop through species-conforming biological organisation, while *jeevan*’s expression widens through those bodily media. In the animal order that expression remains limited by the body.</a:t>
            </a:r>
          </a:p>
          <a:p xmlns:a="http://schemas.openxmlformats.org/drawingml/2006/main">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name three milestones — T1, T2, and T3.</a:t>
            </a:r>
          </a:p>
          <a:p xmlns:a="http://schemas.openxmlformats.org/drawingml/2006/main">
            <a:r>
              <a:t>T1 is constitutional completeness: the immortality of result. A developing atom becomes a sentient unit — jeevan. Its standing changes from physicochemical to sentient before realisation, on what the texts call the delusional plane. In human living, delusion means mistaking the body for the self. In animal living, expression is limited by the bodily medium. The plane name should not turn that limitation into a human error or a psychiatric diagnosis.</a:t>
            </a:r>
          </a:p>
          <a:p xmlns:a="http://schemas.openxmlformats.org/drawingml/2006/main">
            <a:r>
              <a:t>T2 is activity completeness: restfulness of effort. Inner seeking settles into direct realisation and resolution. Status shifts toward awakened understanding.</a:t>
            </a:r>
          </a:p>
          <a:p xmlns:a="http://schemas.openxmlformats.org/drawingml/2006/main">
            <a:r>
              <a:t>T3 is conduct completeness: destination of motion. Understanding becomes authentic conduct — living proof.</a:t>
            </a:r>
          </a:p>
          <a:p xmlns:a="http://schemas.openxmlformats.org/drawingml/2006/main">
            <a:r>
              <a:t>Keep T2 and T3 apart. T2 is internal settlement. T3 is outer destination in conduct. And do not confuse T2’s restfulness with the ease of non-sentient natural complementarity.</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me consolidate, because this tradition uses four different vocabularies for what is fundamentally one thing, and mixing them up is the commonest way to get lost in it.</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**Order and development** are described by four terms: existential progression, way of existence, development progression, and awakening progression. The first names the definite order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claimed sentience threshold. The technical transitions slide names it T1; here the audience-facing question is how the texts say sentience enters.</a:t>
            </a:r>
          </a:p>
          <a:p xmlns:a="http://schemas.openxmlformats.org/drawingml/2006/main">
            <a:r>
              <a:t>According to the primary texts, sentience appears when one developing atom reaches constitutional completeness — not through neural complexity, molecular size, or the material-to-biological order change.</a:t>
            </a:r>
          </a:p>
          <a:p xmlns:a="http://schemas.openxmlformats.org/drawingml/2006/main">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xmlns:a="http://schemas.openxmlformats.org/drawingml/2006/main">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xmlns:a="http://schemas.openxmlformats.org/drawingml/2006/main">
            <a:r>
              <a:t>That separation of qualitative from quantitative change is the stated criterion. MVD adds the visible signs of release from the molecular group, liberation from molecular- and weight-bondage, and establishment in hope-bondage.</a:t>
            </a:r>
          </a:p>
          <a:p xmlns:a="http://schemas.openxmlformats.org/drawingml/2006/main">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turn to human living — movement three.</a:t>
            </a:r>
          </a:p>
          <a:p xmlns:a="http://schemas.openxmlformats.org/drawingml/2006/main">
            <a:r>
              <a:t>Animal and human living is a joint form. The sentient unit brings the full set of faculties and activities. The body supplies the species-specific medium.</a:t>
            </a:r>
          </a:p>
          <a:p xmlns:a="http://schemas.openxmlformats.org/drawingml/2006/main">
            <a:r>
              <a:t>On one side: the body — living composition, sense organs, the brain (*medhas*), physical expression; decomposable. The brain receives and translates signals; it is the medium, not the knower. On the other: the sentient unit — constitutionally complete; faculties inherent; continuing when the joint form ends.</a:t>
            </a:r>
          </a:p>
          <a:p xmlns:a="http://schemas.openxmlformats.org/drawingml/2006/main">
            <a:r>
              <a:t>Animal bodily development limits expression. The human medium can support the full range, while mistaking the body for the self can still misdirect evaluation.</a:t>
            </a:r>
          </a:p>
          <a:p xmlns:a="http://schemas.openxmlformats.org/drawingml/2006/main">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sentient unit — jeevan — is a constitutionally complete atom.</a:t>
            </a:r>
          </a:p>
          <a:p xmlns:a="http://schemas.openxmlformats.org/drawingml/2006/main">
            <a:r>
              <a:t>Structurally, atma is the centre. Four faculties surround it: buddhi, chitta, vritti, and mun. The texts distinguish these faculties from their characteristic powers: evidence, resoluteness, desire, thought, and hope.</a:t>
            </a:r>
          </a:p>
          <a:p xmlns:a="http://schemas.openxmlformats.org/drawingml/2006/main">
            <a:r>
              <a:t>Each characteristic power has outward and inward activities. Mun selects and tastes; vritti analyses and deliberates; chitta visualises and contemplates, including direct apprehension; buddhi resolves and comprehends; atma evidences authenticity and realises. Tasting at mun has three orientations: sensory, value-based, and goal-based. Awakening changes which governs what is accepted. Projection expresses understanding through authenticity, resolve, visualisation, analysis, and selection into living conduct.</a:t>
            </a:r>
          </a:p>
          <a:p xmlns:a="http://schemas.openxmlformats.org/drawingml/2006/main">
            <a:r>
              <a:t>Here, reflection means pratyavartan, the inward activity of knowing. It differs from pratibimban, the imaging between units introduced on slides 8 and 9. Guidance can descend from the core self through the faculties, while sensory drive can press inward from the body. In awakening, cognisance regulates sensitivity.</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milestone after T1, T2, and T3.</a:t>
            </a:r>
          </a:p>
          <a:p xmlns:a="http://schemas.openxmlformats.org/drawingml/2006/main">
            <a:r>
              <a:t>They name harmonies within the sentient unit. Happiness: harmony of hope and thought. Peace: thought and desire. Contentment: desire and resolve. Bliss: resolve and the core self.</a:t>
            </a:r>
          </a:p>
          <a:p xmlns:a="http://schemas.openxmlformats.org/drawingml/2006/main">
            <a:r>
              <a:t>These four harmonies belong to the knowledge-order account of awakening. Animal living expresses hope to live through its bodily medium. We should therefore keep animal sensory satisfaction distinct from the human development of these harmonies. Within the human account, bliss is borne at buddhi through harmony with atma. Realisation at atma is named ultimate bliss, or paramanand, whose effect reaches the remaining faculties.</a:t>
            </a:r>
          </a:p>
          <a:p xmlns:a="http://schemas.openxmlformats.org/drawingml/2006/main">
            <a:r>
              <a:t>Their fulfilment is cumulative: resolution; resolution with prosperity; these with fearlessness; and all three in coexistence. Each fuller fulfilment retains the preceding content. These are principal correspondences within one life, not separate compartments or a promise that acquiring goods automatically produces peace.</a:t>
            </a:r>
          </a:p>
          <a:p xmlns:a="http://schemas.openxmlformats.org/drawingml/2006/main">
            <a:r>
              <a:t>The living cycle is: reflection feeds projection, and projection feeds deeper reflection — that is what living means here. Continuous happiness is harmony evidenced in resolved living, not a sensory spike.</a:t>
            </a:r>
          </a:p>
          <a:p xmlns:a="http://schemas.openxmlformats.org/drawingml/2006/main">
            <a:r>
              <a:t>The next two slides examine how understanding comes to guide evaluation, work, and relationships.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sentient unit bears the same five faculties and the same ten activities. What differs is the medium and what the unit does with it.</a:t>
            </a:r>
          </a:p>
          <a:p xmlns:a="http://schemas.openxmlformats.org/drawingml/2006/main">
            <a:r>
              <a:t>Take the animal case first. An animal jeevan has all five faculties, but its bodily medium limits their expression. Its dharma is hope to live, expressed through sensory selection under species-conformance. The human medium supports the full range of activity and the possibility of awakening.</a:t>
            </a:r>
          </a:p>
          <a:p xmlns:a="http://schemas.openxmlformats.org/drawingml/2006/main">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xmlns:a="http://schemas.openxmlformats.org/drawingml/2006/main">
            <a:r>
              <a:t>Under confusion, the body is mistaken for the self. Selection and evaluation organise around pleasure, health, and profit.</a:t>
            </a:r>
          </a:p>
          <a:p xmlns:a="http://schemas.openxmlformats.org/drawingml/2006/main">
            <a:r>
              <a:t>Under awakening, clear knowing regulates sensory life. Knowing and believing guide recognition and fulfilment toward justice, innateness, truth, and coexistence.</a:t>
            </a:r>
          </a:p>
          <a:p xmlns:a="http://schemas.openxmlformats.org/drawingml/2006/main">
            <a:r>
              <a:t>No faculty is missing, and sensation is not rejected. Confusion lets sensory criteria rule; awakening balances sensation with understanding, so understanding guides conduct.</a:t>
            </a:r>
          </a:p>
          <a:p xmlns:a="http://schemas.openxmlformats.org/drawingml/2006/main">
            <a:r>
              <a:t>When the same fork is resolved in a person and sustained across a tradition, it shows as resolution, prosperity, fearlessness, and coexistence.</a:t>
            </a:r>
          </a:p>
          <a:p xmlns:a="http://schemas.openxmlformats.org/drawingml/2006/main">
            <a:r>
              <a:t>Awakening requires more than preferring the right things or having an insight that does not guide conduct. The next slide explains how understanding becomes effective in living.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peace, contentment, bliss. How does a person actually get them?</a:t>
            </a:r>
          </a:p>
          <a:p xmlns:a="http://schemas.openxmlformats.org/drawingml/2006/main">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xmlns:a="http://schemas.openxmlformats.org/drawingml/2006/main">
            <a:r>
              <a:t>The human order is the one place where complementarity has to be fulfilled *knowingly* — where the higher harmonies are on offer and nothing delivers them automatically. Study introduces the account; understanding must become coherent activity. Knowing is itself an activity of jeevan, and its authenticity is evidenced in work and behaviour. Book knowledge alone does not establish that completed coherence.</a:t>
            </a:r>
          </a:p>
          <a:p xmlns:a="http://schemas.openxmlformats.org/drawingml/2006/main">
            <a:r>
              <a:t>Understanding is evidenced as relationships are fulfilled. We study, practise, evaluate the result, and bring work and behaviour into alignment with what we understand. The harmony within jeevan and its evidence in living belong together.</a:t>
            </a:r>
          </a:p>
          <a:p xmlns:a="http://schemas.openxmlformats.org/drawingml/2006/main">
            <a:r>
              <a:t>That is why the text bothers with the anatomy of action at all. *Kriyā* names activity throughout nature; it is not thereby *karma*. Human activity joined to aspiration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xmlns:a="http://schemas.openxmlformats.org/drawingml/2006/main">
            <a:r>
              <a:t>The intended result is accomplished through doing. Understanding guides that doing, and its authenticity is evidenced in conduct that fulfils relationships.</a:t>
            </a:r>
          </a:p>
          <a:p xmlns:a="http://schemas.openxmlformats.org/drawingml/2006/main">
            <a:r>
              <a:t>Hold this beside the earlier triad of effort, motion, and result. This is the desire-laden human framing of the same activity ontology. The next slides show how desire and doing get reorganised under justice, innateness,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name Madhyasth — and it cashes a cheque I wrote back on slide 6.</a:t>
            </a:r>
          </a:p>
          <a:p xmlns:a="http://schemas.openxmlformats.org/drawingml/2006/main">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xmlns:a="http://schemas.openxmlformats.org/drawingml/2006/main">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xmlns:a="http://schemas.openxmlformats.org/drawingml/2006/main">
            <a:r>
              <a:t>Conformance has order-specific modes. Material: structural or result conformance. Bio: seed-conformance. Animal: species-conformance, inherited from gestation. Human: *sanskar*-conformance — conduct follows acquired acceptances and dispositions. These can express delusion or awakened understanding. That is why education and tradition matter: they can reproduce confusion or support awakening.</a:t>
            </a:r>
          </a:p>
          <a:p xmlns:a="http://schemas.openxmlformats.org/drawingml/2006/main">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evaluation widens across six perspectives: pleasant, healthy, profit, justice, innateness or dharma as an evaluative lens, and truth. They move from sensation, body, and gain to relationship, orderliness, and coexistence.</a:t>
            </a:r>
          </a:p>
          <a:p xmlns:a="http://schemas.openxmlformats.org/drawingml/2006/main">
            <a:r>
              <a:t>Justice is both one of the six and the principle of fulfilled relationship. Dharma here means fitting the wider pattern — discipline in thought, not only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 not abandoned.</a:t>
            </a:r>
          </a:p>
          <a:p xmlns:a="http://schemas.openxmlformats.org/drawingml/2006/main">
            <a:r>
              <a:t>Keep this distinct from unit-innateness earlier. One word, two levels: what a unit cannot be separated from, versus how we evaluate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turn now to knowing — how understanding widens, and how it happens in the sentient unit.</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Mun tastes and selects. Vritti deliberates. Chitta contemplates and directly apprehends. Buddhi comprehends and resolves. Atma realises in truth. Happiness, peace, contentment, and bliss name harmonies between paired faculties. Realisation at atma is named ultimate bliss.</a:t>
            </a:r>
          </a:p>
          <a:p xmlns:a="http://schemas.openxmlformats.org/drawingml/2006/main">
            <a:r>
              <a:t>Every unit is already manifest with all four aspects. The left-hand steps describe widening human understanding of that unit; they do not describe successive additions to its image. Inward reflection deepens knowing, and projection makes understanding evident through conduct. Bliss names the harmony of buddhi and atma; coexistence realised at atma is ultimate bliss.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where the developmental drive comes to rest: realisation in coexistence.</a:t>
            </a:r>
          </a:p>
          <a:p xmlns:a="http://schemas.openxmlformats.org/drawingml/2006/main">
            <a:r>
              <a:t>The drive settles when relationships across nature are fulfilled and made evident — not because the ground becomes a knower, but because the awakened sentient unit realises and evidences the coexistence in which it has always existed.</a:t>
            </a:r>
          </a:p>
          <a:p xmlns:a="http://schemas.openxmlformats.org/drawingml/2006/main">
            <a:r>
              <a:t>Realisation at atma is named ultimate bliss. Bliss names the harmony of buddhi and atma. What is known is existence as coexistence: nature saturated in Omnipresence. Understanding becomes evident as authenticity in work, behaviour, and participation. The next slide examines how it is presented, communicated, and expressed.</a:t>
            </a:r>
          </a:p>
          <a:p xmlns:a="http://schemas.openxmlformats.org/drawingml/2006/main">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does understanding become available in living? The primary texts use three connected terms: presentation, communication, and expression.</a:t>
            </a:r>
          </a:p>
          <a:p xmlns:a="http://schemas.openxmlformats.org/drawingml/2006/main">
            <a:r>
              <a:t>Presentation, prakashan, makes actuality evident through an accomplished and meaningful form. Something understood takes a form another can attend to.</a:t>
            </a:r>
          </a:p>
          <a:p xmlns:a="http://schemas.openxmlformats.org/drawingml/2006/main">
            <a:r>
              <a:t>Communication, sampreshana, indicates completeness. The definition names constitutional completeness, activity completeness, and conduct completeness. Communication serves understanding and enabling another to understand. Words direct attention to the activity of units and its inherent meaning, including their properties, essential nature, and dharma.</a:t>
            </a:r>
          </a:p>
          <a:p xmlns:a="http://schemas.openxmlformats.org/drawingml/2006/main">
            <a:r>
              <a:t>Expression, abhivyakti, is the mental, verbal, and bodily activity through which our existence is evidenced for all-round resolution, called abhyudaya. Understanding is expressed in speech, work, and humane behaviour.</a:t>
            </a:r>
          </a:p>
          <a:p xmlns:a="http://schemas.openxmlformats.org/drawingml/2006/main">
            <a:r>
              <a:t>Art, kala, concerns how these activities take an accomplished form. It makes qualities evident and expression meaningful, bringing usefulness together with beauty. In making an object, art value enhances usefulness. In communicating understanding, art serves intelligibility and the purpose of resolution.</a:t>
            </a:r>
          </a:p>
          <a:p xmlns:a="http://schemas.openxmlformats.org/drawingml/2006/main">
            <a:r>
              <a:t>These activities belong together in the participation of jeevan through the body. They carry understanding into the awakened human tradition on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Conduct completeness is realised understanding expressed continuously by the individual. Humane participation and education transmit it through an awakened tradition. Individual completeness contributes to social completeness; it does not wait for the entire society to be complete.</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social systems carry that continuity: education and formative culture; justice and preservation; health and restraint; production and work; exchange and storage. These differ from the four dimensions of a person's living — realisation, thought, behaviour and work.</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MD connects this social aim with human dharma as happiness, values fulfilled in relationships, and understanding expressed in conduct. Nature is oriented towards development and realisation; an awakened human tradition requires people to understand, practise, and transmit that understanding. The ontology gives this participation a purpose without making humane institutions automatic.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closing summary, I owe you an accounting of what kind of thing each part of this has been.</a:t>
            </a:r>
          </a:p>
          <a:p xmlns:a="http://schemas.openxmlformats.org/drawingml/2006/main">
            <a:r>
              <a:t>Different methods establish different things. They can support one another, but they are not interchangeable.</a:t>
            </a:r>
          </a:p>
          <a:p xmlns:a="http://schemas.openxmlformats.org/drawingml/2006/main">
            <a:r>
              <a:t>Logical exposition can show internal coherence. It cannot by itself prove empirical fact.</a:t>
            </a:r>
          </a:p>
          <a:p xmlns:a="http://schemas.openxmlformats.org/drawingml/2006/main">
            <a:r>
              <a:t>Study and self-examination can show intelligibility and first-person recognition. They cannot by themselves physically identify the sentient unit.</a:t>
            </a:r>
          </a:p>
          <a:p xmlns:a="http://schemas.openxmlformats.org/drawingml/2006/main">
            <a:r>
              <a:t>Practice and conduct-evidence can show effects in work, behaviour, and mutual satisfaction. They cannot by themselves measure the sentience threshold or the unit–body interface.</a:t>
            </a:r>
          </a:p>
          <a:p xmlns:a="http://schemas.openxmlformats.org/drawingml/2006/main">
            <a:r>
              <a:t>Realisation is this tradition’s claimed completion of knowing. It does not force agreement from other methods.</a:t>
            </a:r>
          </a:p>
          <a:p xmlns:a="http://schemas.openxmlformats.org/drawingml/2006/main">
            <a:r>
              <a:t>Publicly measurable physical claims remain answerable to instrument-based science. No accepted measurement currently identifies the sentience threshold,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the sentience threshold.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ce1c939a3bd4ed8"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1450a0ef2d6408a" Type="http://schemas.openxmlformats.org/officeDocument/2006/relationships/slideLayout" Target="../slideLayouts/slideLayout1.xml"/><Relationship Id="R84200dde4a9040d7"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81450a0ef2d6408a"/>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73382eacb21947c8" Type="http://schemas.openxmlformats.org/officeDocument/2006/relationships/slideLayout" Target="../slideLayouts/slideLayout1.xml"/><Relationship Id="R8ff64264179c4cf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d00acddcd3744b7" Type="http://schemas.openxmlformats.org/officeDocument/2006/relationships/notesSlide" Target="../notesSlides/notesSlide2.xml"/><Relationship Id="Ra0c7ad8b2748498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65c62723cb724bef" Type="http://schemas.openxmlformats.org/officeDocument/2006/relationships/notesSlide" Target="../notesSlides/notesSlide3.xml"/><Relationship Id="R6e8fa682d5224bed" Type="http://schemas.openxmlformats.org/officeDocument/2006/relationships/image" Target="../media/image.png"/><Relationship Id="Rbd3443a79fe946a8"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082894c72b1542d7" Type="http://schemas.openxmlformats.org/officeDocument/2006/relationships/notesSlide" Target="../notesSlides/notesSlide4.xml"/><Relationship Id="Ra17e0c077a344e53" Type="http://schemas.openxmlformats.org/officeDocument/2006/relationships/slideLayout" Target="../slideLayouts/slideLayout1.xml"/><Relationship Id="Ra2106575f79a4c71" Type="http://schemas.openxmlformats.org/officeDocument/2006/relationships/image" Target="../media/image2.png"/></Relationships>
</file>

<file path=ppt/slides/_rels/slide5.xml.rels><?xml version='1.0' encoding='UTF-8' standalone='yes'?>
<Relationships xmlns="http://schemas.openxmlformats.org/package/2006/relationships"><Relationship Id="R00624eb2250c4191" Type="http://schemas.openxmlformats.org/officeDocument/2006/relationships/slideLayout" Target="../slideLayouts/slideLayout1.xml"/><Relationship Id="R95c50ea7fe1c4df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02a4cd57e62d4213" Type="http://schemas.openxmlformats.org/officeDocument/2006/relationships/image" Target="../media/image4.png"/><Relationship Id="R975977d9cf794884" Type="http://schemas.openxmlformats.org/officeDocument/2006/relationships/image" Target="../media/image5.png"/><Relationship Id="R9e47b191195f4538" Type="http://schemas.openxmlformats.org/officeDocument/2006/relationships/slideLayout" Target="../slideLayouts/slideLayout1.xml"/><Relationship Id="Rc9682936b5ea4eff" Type="http://schemas.openxmlformats.org/officeDocument/2006/relationships/image" Target="../media/image3.png"/><Relationship Id="Rcba0ad9fd8a741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20200b20765d4f4d" Type="http://schemas.openxmlformats.org/officeDocument/2006/relationships/image" Target="../media/image3.png"/><Relationship Id="R4ec9ea6f54a64de7" Type="http://schemas.openxmlformats.org/officeDocument/2006/relationships/notesSlide" Target="../notesSlides/notesSlide7.xml"/><Relationship Id="R775a05c1e0ca4f49" Type="http://schemas.openxmlformats.org/officeDocument/2006/relationships/image" Target="../media/image5.png"/><Relationship Id="Rbf059940d7ad4c13" Type="http://schemas.openxmlformats.org/officeDocument/2006/relationships/image" Target="../media/image4.png"/><Relationship Id="Rcdd304013d0146c0"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273af4ce6d074543" Type="http://schemas.openxmlformats.org/officeDocument/2006/relationships/slideLayout" Target="../slideLayouts/slideLayout1.xml"/><Relationship Id="R6a53cca24852477f" Type="http://schemas.openxmlformats.org/officeDocument/2006/relationships/image" Target="../media/image3.png"/><Relationship Id="R75a5c1363c5e42e2" Type="http://schemas.openxmlformats.org/officeDocument/2006/relationships/notesSlide" Target="../notesSlides/notesSlide8.xml"/><Relationship Id="R78685d6988b24b3e" Type="http://schemas.openxmlformats.org/officeDocument/2006/relationships/image" Target="../media/image5.png"/><Relationship Id="R99b7eb538e31430d" Type="http://schemas.openxmlformats.org/officeDocument/2006/relationships/image" Target="../media/image4.png"/></Relationships>
</file>

<file path=ppt/slides/_rels/slide9.xml.rels><?xml version='1.0' encoding='UTF-8' standalone='yes'?>
<Relationships xmlns="http://schemas.openxmlformats.org/package/2006/relationships"><Relationship Id="R1763b1b630794fb6" Type="http://schemas.openxmlformats.org/officeDocument/2006/relationships/notesSlide" Target="../notesSlides/notesSlide9.xml"/><Relationship Id="R918ce67351bd4aa7"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1218a363f7f144b0" Type="http://schemas.openxmlformats.org/officeDocument/2006/relationships/notesSlide" Target="../notesSlides/notesSlide10.xml"/><Relationship Id="R5f19e5dfffea4176"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aaa5e66ab1cb4063" Type="http://schemas.openxmlformats.org/officeDocument/2006/relationships/notesSlide" Target="../notesSlides/notesSlide11.xml"/><Relationship Id="Rf3879cb94f404f1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062c39477bfb4d62" Type="http://schemas.openxmlformats.org/officeDocument/2006/relationships/notesSlide" Target="../notesSlides/notesSlide12.xml"/><Relationship Id="Rf73478979e624654"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40cd616b8e0a4bd5" Type="http://schemas.openxmlformats.org/officeDocument/2006/relationships/slideLayout" Target="../slideLayouts/slideLayout1.xml"/><Relationship Id="Rdb4c5560c783458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3819ad19f6c4e08" Type="http://schemas.openxmlformats.org/officeDocument/2006/relationships/notesSlide" Target="../notesSlides/notesSlide14.xml"/><Relationship Id="R74b127d3eaf3465a"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5ed523c7bb6540af" Type="http://schemas.openxmlformats.org/officeDocument/2006/relationships/slideLayout" Target="../slideLayouts/slideLayout1.xml"/><Relationship Id="R9df2cbb9a571447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e50b65b4d8354329" Type="http://schemas.openxmlformats.org/officeDocument/2006/relationships/slideLayout" Target="../slideLayouts/slideLayout1.xml"/><Relationship Id="Rf3533131fa7a4e5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842b125a8e84586" Type="http://schemas.openxmlformats.org/officeDocument/2006/relationships/slideLayout" Target="../slideLayouts/slideLayout1.xml"/><Relationship Id="Rdc5a7bbe1be742a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9d34b94108a049e4" Type="http://schemas.openxmlformats.org/officeDocument/2006/relationships/slideLayout" Target="../slideLayouts/slideLayout1.xml"/><Relationship Id="Red9ebaffe1e8435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49740f8095d4459d" Type="http://schemas.openxmlformats.org/officeDocument/2006/relationships/notesSlide" Target="../notesSlides/notesSlide19.xml"/><Relationship Id="Rd250e39aec6c4830"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24df95e78e06498b" Type="http://schemas.openxmlformats.org/officeDocument/2006/relationships/slideLayout" Target="../slideLayouts/slideLayout1.xml"/><Relationship Id="R3f8040cdb73b4e4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387950957084b56" Type="http://schemas.openxmlformats.org/officeDocument/2006/relationships/slideLayout" Target="../slideLayouts/slideLayout1.xml"/><Relationship Id="R9f93a3c837c3476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b4e4cdf86ce940d8" Type="http://schemas.openxmlformats.org/officeDocument/2006/relationships/slideLayout" Target="../slideLayouts/slideLayout1.xml"/><Relationship Id="Rb82cf412fc87402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769f613438db491b" Type="http://schemas.openxmlformats.org/officeDocument/2006/relationships/slideLayout" Target="../slideLayouts/slideLayout1.xml"/><Relationship Id="R7f7b354b90e5477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9c8836f3df1a4e2a" Type="http://schemas.openxmlformats.org/officeDocument/2006/relationships/slideLayout" Target="../slideLayouts/slideLayout1.xml"/><Relationship Id="Re2b544729d41426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ccc27dc93854756" Type="http://schemas.openxmlformats.org/officeDocument/2006/relationships/slideLayout" Target="../slideLayouts/slideLayout1.xml"/><Relationship Id="Rf6306f63c78f467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4065b8611e5247f1" Type="http://schemas.openxmlformats.org/officeDocument/2006/relationships/image" Target="../media/image5.png"/><Relationship Id="R9cca4b28d5dd434f" Type="http://schemas.openxmlformats.org/officeDocument/2006/relationships/notesSlide" Target="../notesSlides/notesSlide26.xml"/><Relationship Id="Rcabd8089ea044765" Type="http://schemas.openxmlformats.org/officeDocument/2006/relationships/slideLayout" Target="../slideLayouts/slideLayout1.xml"/><Relationship Id="Rcbf398d21725414b" Type="http://schemas.openxmlformats.org/officeDocument/2006/relationships/image" Target="../media/image4.png"/><Relationship Id="Re641d6045a2c4424" Type="http://schemas.openxmlformats.org/officeDocument/2006/relationships/image" Target="../media/image3.png"/></Relationships>
</file>

<file path=ppt/slides/_rels/slide27.xml.rels><?xml version='1.0' encoding='UTF-8' standalone='yes'?>
<Relationships xmlns="http://schemas.openxmlformats.org/package/2006/relationships"><Relationship Id="R2023f6a0024f4eb0" Type="http://schemas.openxmlformats.org/officeDocument/2006/relationships/slideLayout" Target="../slideLayouts/slideLayout1.xml"/><Relationship Id="Rd4ccfaa52d1a438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0b00f58e078646bc" Type="http://schemas.openxmlformats.org/officeDocument/2006/relationships/notesSlide" Target="../notesSlides/notesSlide28.xml"/><Relationship Id="Ra4f0ed6e1e7b4440"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97bd3bef45040d4" Type="http://schemas.openxmlformats.org/officeDocument/2006/relationships/slideLayout" Target="../slideLayouts/slideLayout1.xml"/><Relationship Id="R9d80c39912ba43c1" Type="http://schemas.openxmlformats.org/officeDocument/2006/relationships/notesSlide" Target="../notesSlides/notesSlide29.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MVD, KD, SB, JV and Hindi Paribhasha Samhita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inseparability of the pervasive ground and real units. Each unit has form, properties, essential nature and dharma, expressed in mutuality across four orders. The darshan holds coexistence to be perpetual.</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 can form pranic organisation from material constituents. It does not by itself produce jeevan: development in the atom reaches constitutional completeness. Every activity includes effort, motion and 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the human joint form, jeevan’s faculties and harmonies, evaluation, realisation, and the expression of understanding through humane conduct.</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6e8fa682d5224bed">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6e8fa682d5224bed">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6e8fa682d5224bed">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6e8fa682d5224bed">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6e8fa682d5224bed">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6e8fa682d5224bed">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a2106575f79a4c71"/>
          <a:stretch xmlns:a="http://schemas.openxmlformats.org/drawingml/2006/main"/>
        </p:blipFill>
        <p:spPr>
          <a:xfrm xmlns:a="http://schemas.openxmlformats.org/drawingml/2006/main" flipH="0" flipV="0">
            <a:off x="1698852" y="0"/>
            <a:ext cx="5746296"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and actionless. It permeates every unit and is transparent in mutuality, where units are imaged and recognised.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Units are manifest in mutual facing. Imaging provides a basis of recognition; relative powers exert effects.</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46, 48, 248–252  ·  MVD pp. 11, 32, 34  ·  PS p. 114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pervasive reality permeates every unit. However often a unit is divided, every fragment remains soaked, submerged and surrounded. The texts connect this inseparability with their doctrine of non-annihilation. Saturation names an ever-present condition.</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c9682936b5ea4ef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and forcefulness: the unit is endowed with energy and bears definite relative power. Force-endowment in saturation is the root of its manifestness (prakashmanata).</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02a4cd57e62d4213">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Activeness and mutual recognition: units are present in one pervasive reality and become manifest to one another through imaging. Unit-ness with energy-fullness is activeness.</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975977d9cf79488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Regulation: units remain in definite relations within the pervasive reality. Their own mediative organisation evidences law and definite conduct.</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are overlapping descriptions of one saturation. Imaging and recognition continue on slide 8.  ·  SB pp. 57, 69, 79, 248  ·  MVD pp. 32–33, 40  ·  PS pp. 114, 121</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Madhyasth Darshan holds that what exists neither arises from non-being nor disappears into it. Configurations form, change and end within perpetual coexistence. Inseparability from the ground is part of this account, not an independent proof of every persistence claim.</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20200b20765d4f4d">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f059940d7ad4c13">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75a05c1e0ca4f49">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a:t>
            </a:r>
            <a:r>
              <a:rPr sz="950" b="0" i="1" u="none" cap="none">
                <a:solidFill>
                  <a:srgbClr val="5A6377"/>
                </a:solidFill>
                <a:latin typeface="Calibri"/>
                <a:ea typeface="Calibri"/>
                <a:cs typeface="Calibri"/>
              </a:rPr>
              <a:t>SB pp. 57, 70, 251; MVD p. 13</a:t>
            </a:r>
            <a:r>
              <a:rPr sz="950" b="0" i="1" u="none" cap="none">
                <a:solidFill>
                  <a:srgbClr val="5A6377"/>
                </a:solidFill>
                <a:latin typeface="Calibri"/>
                <a:ea typeface="Calibri"/>
                <a:cs typeface="Calibri"/>
              </a:rPr>
              <a:t>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§§1.2–1.4 · MANIFESTNESS AND MUTUAL RECOGNITION</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Units saturated in one pervasive reality stand in mutual facing. Imaging makes a unit manifest to another and provides a basis of recognition. Its relative powers also exert effects. Complementarity belongs to this coexistence and is fulfilled according to constitution and order.</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a53cca24852477f">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Image (pratibimb) is a basis of mutual recognition, including in insentient nature. Heat exchange and particle relations illustrate responsiveness. Human understanding requires the knowing activities of jeevan.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99b7eb538e31430d">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Value is essentiality and participation in orderliness — the definite conduct through which a unit complements others. Usefulness is that essentiality in objects, not the whole of value.</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8685d6988b24b3e">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Imaging supports recognition; human evaluation requires understanding.  ·  PS p. 121  ·  SB pp. 49–53, 248–252  ·  MVD p. 32  ·  JV pp. 43,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constituted unit is bimb; its image is pratibimb. This peepal tree has a definite shape, volume and density, with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means relative powers and their effects. The peepal’s nutrition, repair, seed production and degeneration become effective in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mutuality. The peepal’s effects are vitalising or devitalising according to the affected body and conditions.</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whole unit is manifest (prakashman) with all four aspects. Imaging (pratibimban) is central to prakash. An image provides a basis of recognition; understanding the unit also requires its relations and fulfilment. The tree can die while its material constituents persist.</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45, 47, 50–51  ·  SB pp. 249–252, 256–257  ·  PS pp. 119, 121, 135</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Contact</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voluntarily undertaken exchange, such as neighbours sharing upkeep of a wall. Justice and humane duties still apply.</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Thirty values: four jeevan, six human, nine established, nine expressed (shishta), and two object values. Established values are paired with expressed values in conduct.</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a:t>
            </a:r>
            <a:r>
              <a:rPr sz="1100" b="0" i="1" u="none" cap="none">
                <a:solidFill>
                  <a:srgbClr val="5A6377"/>
                </a:solidFill>
                <a:latin typeface="Calibri"/>
                <a:ea typeface="Calibri"/>
                <a:cs typeface="Calibri"/>
              </a:rPr>
              <a:t>Established values become evident as relationships are fulfilled; expressed values carry them in conduct.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  ·  Paribhasha pp. 151, 154</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constitution stabilises as jeevan</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sentience;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§§1.5–1.6, 1.9</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before realisation</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Order and development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sequence, conformance, development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 terms distinguish manifestation, conformance, development, and human orientation. Orders and planes answer different questions. T1 establishes sentient standing; T2 and T3 concern completeness of understanding and conduct within jeevan.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a:t>
            </a:r>
            <a:r>
              <a:rPr sz="950" b="0" i="1" u="none" cap="none">
                <a:solidFill>
                  <a:srgbClr val="5A6377"/>
                </a:solidFill>
                <a:latin typeface="Calibri"/>
                <a:ea typeface="Calibri"/>
                <a:cs typeface="Calibri"/>
              </a:rPr>
              <a:t>JV PDF pp. 20, 55</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comprehension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bears all five faculties and ten activities. Animal bodies limit their expression; the human medium supports the full range. Inward reflection (pratyavartan) deepens knowing. Imaging between units (pratibimban) provides a basis of recognition.</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Fulfilment is cumulative: resolution; resolution with prosperity; both with fearlessness; all three in coexistence. These are principal correspondences, not separate compartments. Bliss is buddhi–atma harmony; realisation at atma is ultimate bliss (paramanand).</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61, 138  ·  MVD pp. 100–101, 328–346  ·  KD §3.12 (projection and inward reflection)</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five faculties and ten activities. Animal living expresses hope to live within the limits of its bodily medium. The human body supports the full range, while delusion can keep evaluation centred on pleasure, health and profit.</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concern coherent understanding expressed in living. Study and insight must guide work, behaviour, and relationships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UNDERSTANDING EVIDENCED IN CONDUCT</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follows definite conformance. In human living, understanding must become work and behaviour that fulfil relationships. Study, practice, result and purpose become coherent as knowing is evidenced in conduct.</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(acquired dispositions)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evaluation requires understanding what is recognised. Six perspectives range from pleasant, healthy and profitable to justice, dharma and truth. Justice also names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imaged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All four aspects belong to the manifest unit. These rungs widen the context of human understanding; an image alone does not deliver completed knowledge.</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Atma</a:t>
            </a:r>
            <a:r>
              <a:rPr sz="1150" b="1" i="0" u="none" cap="none">
                <a:solidFill>
                  <a:srgbClr val="9A6414"/>
                </a:solidFill>
                <a:latin typeface="Calibri"/>
                <a:ea typeface="Calibri"/>
                <a:cs typeface="Calibri"/>
              </a:rPr>
              <a:t>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Buddhi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comprehension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Chitta</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contemplation &amp; visualisation · direct apprehension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Vritti</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Mun</a:t>
            </a:r>
            <a:r>
              <a:rPr sz="1150" b="1" i="0" u="none" cap="none">
                <a:solidFill>
                  <a:srgbClr val="1E2447"/>
                </a:solidFill>
                <a:latin typeface="Calibri"/>
                <a:ea typeface="Calibri"/>
                <a:cs typeface="Calibri"/>
              </a:rPr>
              <a:t>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232"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234"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Ultimate bliss: realisation at atma. Bliss: buddhi–atma harmony.  ·  PS pp. 119, 121  ·  MVD pp. 100–101  ·  JV pp. 61, 138</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and ultimate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at atma is named ultimate bliss. Bliss names the harmony of buddhi and atma. Understanding becomes evident through authentic work, behaviour and participation.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81, 116  ·  MVD pp. 100–101, 126, 328  ·  KD §§3.17–3.18  ·  Study §§1.8, 1.13</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PRESENTATION, COMMUNICATION, EXPRESSION AND ART</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in Expression</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Understanding takes form in presentation, communication and conduct. Art (kala) makes these expressions meaningful and brings usefulness together with beauty.</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e641d6045a2c442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Presentation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Prakashan makes actuality evident through an accomplished and meaningful form. What is understood becomes available for another to attend to.</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cbf398d21725414b">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Communication</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Sampreshana indicates completeness: constitutional, activity and conduct completeness. Communication serves understanding and enabling another to understand.</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065b8611e5247f1">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Expression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Abhivyakti is mental, verbal and bodily activity for all-round resolution (abhyudaya). Understanding is evidenced in speech, work and humane behaviour.</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connected activities involve jeevan through the body.  ·  PS pp. 22, 56, 119, 206  ·  MVD pp. 109–110, 328</a:t>
            </a:r>
          </a:p>
        </p:txBody>
      </p:sp>
    </p:spTree>
    <p:extLst>
      <p:ext uri="{BB962C8B-B14F-4D97-AF65-F5344CB8AC3E}">
        <p14:creationId xmlns:p14="http://schemas.microsoft.com/office/powerpoint/2010/main" val="1131588340"/>
      </p:ext>
    </p:extLst>
  </p:cSld>
</p:sld>
</file>

<file path=ppt/slides/slide27.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CONTINUITY THROUGH HUMANE PARTICIPATION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Conduct completeness is realised understanding expressed continuously by the individual. Humane participation and education transmit it through an awakened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social systems:</a:t>
            </a:r>
            <a:r>
              <a:rPr sz="1150" b="0" i="0" u="none" cap="none">
                <a:solidFill>
                  <a:srgbClr val="8E9BC4"/>
                </a:solidFill>
                <a:latin typeface="Calibri"/>
                <a:ea typeface="Calibri"/>
                <a:cs typeface="Calibri"/>
              </a:rPr>
              <a:t>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9.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2026-09-19T16:06:12.8600000Z</dcterms:created>
  <dcterms:modified xsi:type="dcterms:W3CDTF">2026-09-19T16:06:12.8600000Z</dcterms:modified>
</coreProperties>
</file>