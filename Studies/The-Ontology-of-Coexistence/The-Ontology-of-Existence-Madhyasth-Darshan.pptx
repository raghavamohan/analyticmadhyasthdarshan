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71ce783751974639" Type="http://schemas.openxmlformats.org/package/2006/relationships/metadata/core-properties" Target="docProps/core.xml"/><Relationship Id="Ra30b5222a940440a" Type="http://schemas.openxmlformats.org/officeDocument/2006/relationships/officeDocument" Target="ppt/presentation.xml"/><Relationship Id="Re7fabaea8f99446b"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6055c6fd07ce4201"/>
  </p:sldMasterIdLst>
  <p:notesMasterIdLst>
    <p:notesMasterId xmlns:r="http://schemas.openxmlformats.org/officeDocument/2006/relationships" r:id="Rf8d867df9cf24b24"/>
  </p:notesMasterIdLst>
  <p:sldIdLst>
    <p:sldId xmlns:r="http://schemas.openxmlformats.org/officeDocument/2006/relationships" id="256" r:id="Rf62651482fd64891"/>
    <p:sldId xmlns:r="http://schemas.openxmlformats.org/officeDocument/2006/relationships" id="257" r:id="R316883c49d8b4fdc"/>
    <p:sldId xmlns:r="http://schemas.openxmlformats.org/officeDocument/2006/relationships" id="258" r:id="R5fbeae8ec6824505"/>
    <p:sldId xmlns:r="http://schemas.openxmlformats.org/officeDocument/2006/relationships" id="259" r:id="Rf441cd0d05c74aa6"/>
    <p:sldId xmlns:r="http://schemas.openxmlformats.org/officeDocument/2006/relationships" id="260" r:id="R1d66dbfa2b234950"/>
    <p:sldId xmlns:r="http://schemas.openxmlformats.org/officeDocument/2006/relationships" id="261" r:id="R81e34653592e49ba"/>
    <p:sldId xmlns:r="http://schemas.openxmlformats.org/officeDocument/2006/relationships" id="262" r:id="R6e786645449842b5"/>
    <p:sldId xmlns:r="http://schemas.openxmlformats.org/officeDocument/2006/relationships" id="263" r:id="R8707da54cd414837"/>
    <p:sldId xmlns:r="http://schemas.openxmlformats.org/officeDocument/2006/relationships" id="264" r:id="R039492544497463a"/>
    <p:sldId xmlns:r="http://schemas.openxmlformats.org/officeDocument/2006/relationships" id="265" r:id="R2afd297358264062"/>
    <p:sldId xmlns:r="http://schemas.openxmlformats.org/officeDocument/2006/relationships" id="266" r:id="Rbcbe54a1f28048e5"/>
    <p:sldId xmlns:r="http://schemas.openxmlformats.org/officeDocument/2006/relationships" id="267" r:id="R9f458f915492474b"/>
    <p:sldId xmlns:r="http://schemas.openxmlformats.org/officeDocument/2006/relationships" id="268" r:id="R6fddbb211d6648aa"/>
    <p:sldId xmlns:r="http://schemas.openxmlformats.org/officeDocument/2006/relationships" id="269" r:id="R6b223340a783449f"/>
    <p:sldId xmlns:r="http://schemas.openxmlformats.org/officeDocument/2006/relationships" id="270" r:id="Rfcd7ef0cec004985"/>
    <p:sldId xmlns:r="http://schemas.openxmlformats.org/officeDocument/2006/relationships" id="271" r:id="Rf4ee074f5688498d"/>
    <p:sldId xmlns:r="http://schemas.openxmlformats.org/officeDocument/2006/relationships" id="272" r:id="Rdd7049f1fd6b4a31"/>
    <p:sldId xmlns:r="http://schemas.openxmlformats.org/officeDocument/2006/relationships" id="273" r:id="R8702ce0324a04c86"/>
    <p:sldId xmlns:r="http://schemas.openxmlformats.org/officeDocument/2006/relationships" id="274" r:id="R57ba474117454c34"/>
    <p:sldId xmlns:r="http://schemas.openxmlformats.org/officeDocument/2006/relationships" id="275" r:id="Re6ed68ad8bf84ca2"/>
    <p:sldId xmlns:r="http://schemas.openxmlformats.org/officeDocument/2006/relationships" id="276" r:id="Rb41d28aa159a4776"/>
    <p:sldId xmlns:r="http://schemas.openxmlformats.org/officeDocument/2006/relationships" id="277" r:id="Re50e980df4794685"/>
    <p:sldId xmlns:r="http://schemas.openxmlformats.org/officeDocument/2006/relationships" id="278" r:id="R2e1414a4e2c24104"/>
    <p:sldId xmlns:r="http://schemas.openxmlformats.org/officeDocument/2006/relationships" id="279" r:id="R9a0d295377ec45d3"/>
    <p:sldId xmlns:r="http://schemas.openxmlformats.org/officeDocument/2006/relationships" id="280" r:id="R1fef91ff18154784"/>
    <p:sldId xmlns:r="http://schemas.openxmlformats.org/officeDocument/2006/relationships" id="281" r:id="R85af59f95ed9426e"/>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39492544497463a" Type="http://schemas.openxmlformats.org/officeDocument/2006/relationships/slide" Target="slides/slide9.xml"/><Relationship Id="R1d66dbfa2b234950" Type="http://schemas.openxmlformats.org/officeDocument/2006/relationships/slide" Target="slides/slide5.xml"/><Relationship Id="R1fef91ff18154784" Type="http://schemas.openxmlformats.org/officeDocument/2006/relationships/slide" Target="slides/slide25.xml"/><Relationship Id="R2afd297358264062" Type="http://schemas.openxmlformats.org/officeDocument/2006/relationships/slide" Target="slides/slide10.xml"/><Relationship Id="R2e1414a4e2c24104" Type="http://schemas.openxmlformats.org/officeDocument/2006/relationships/slide" Target="slides/slide23.xml"/><Relationship Id="R316883c49d8b4fdc" Type="http://schemas.openxmlformats.org/officeDocument/2006/relationships/slide" Target="slides/slide2.xml"/><Relationship Id="R43290eb3c7404bdc" Type="http://schemas.openxmlformats.org/officeDocument/2006/relationships/tableStyles" Target="tableStyles.xml"/><Relationship Id="R57ba474117454c34" Type="http://schemas.openxmlformats.org/officeDocument/2006/relationships/slide" Target="slides/slide19.xml"/><Relationship Id="R5fbeae8ec6824505" Type="http://schemas.openxmlformats.org/officeDocument/2006/relationships/slide" Target="slides/slide3.xml"/><Relationship Id="R6055c6fd07ce4201" Type="http://schemas.openxmlformats.org/officeDocument/2006/relationships/slideMaster" Target="slideMasters/slideMaster1.xml"/><Relationship Id="R6b223340a783449f" Type="http://schemas.openxmlformats.org/officeDocument/2006/relationships/slide" Target="slides/slide14.xml"/><Relationship Id="R6e786645449842b5" Type="http://schemas.openxmlformats.org/officeDocument/2006/relationships/slide" Target="slides/slide7.xml"/><Relationship Id="R6fddbb211d6648aa" Type="http://schemas.openxmlformats.org/officeDocument/2006/relationships/slide" Target="slides/slide13.xml"/><Relationship Id="R81e34653592e49ba" Type="http://schemas.openxmlformats.org/officeDocument/2006/relationships/slide" Target="slides/slide6.xml"/><Relationship Id="R85af59f95ed9426e" Type="http://schemas.openxmlformats.org/officeDocument/2006/relationships/slide" Target="slides/slide26.xml"/><Relationship Id="R8702ce0324a04c86" Type="http://schemas.openxmlformats.org/officeDocument/2006/relationships/slide" Target="slides/slide18.xml"/><Relationship Id="R8707da54cd414837" Type="http://schemas.openxmlformats.org/officeDocument/2006/relationships/slide" Target="slides/slide8.xml"/><Relationship Id="R9273daa37c4c408c" Type="http://schemas.openxmlformats.org/officeDocument/2006/relationships/viewProps" Target="viewProps.xml"/><Relationship Id="R969b774207dc4e48" Type="http://schemas.openxmlformats.org/officeDocument/2006/relationships/presProps" Target="presProps.xml"/><Relationship Id="R9a0d295377ec45d3" Type="http://schemas.openxmlformats.org/officeDocument/2006/relationships/slide" Target="slides/slide24.xml"/><Relationship Id="R9f458f915492474b" Type="http://schemas.openxmlformats.org/officeDocument/2006/relationships/slide" Target="slides/slide12.xml"/><Relationship Id="Rb41d28aa159a4776" Type="http://schemas.openxmlformats.org/officeDocument/2006/relationships/slide" Target="slides/slide21.xml"/><Relationship Id="Rbcbe54a1f28048e5" Type="http://schemas.openxmlformats.org/officeDocument/2006/relationships/slide" Target="slides/slide11.xml"/><Relationship Id="Rdd7049f1fd6b4a31" Type="http://schemas.openxmlformats.org/officeDocument/2006/relationships/slide" Target="slides/slide17.xml"/><Relationship Id="Re50e980df4794685" Type="http://schemas.openxmlformats.org/officeDocument/2006/relationships/slide" Target="slides/slide22.xml"/><Relationship Id="Re6ed68ad8bf84ca2" Type="http://schemas.openxmlformats.org/officeDocument/2006/relationships/slide" Target="slides/slide20.xml"/><Relationship Id="Rf441cd0d05c74aa6" Type="http://schemas.openxmlformats.org/officeDocument/2006/relationships/slide" Target="slides/slide4.xml"/><Relationship Id="Rf4ee074f5688498d" Type="http://schemas.openxmlformats.org/officeDocument/2006/relationships/slide" Target="slides/slide16.xml"/><Relationship Id="Rf62651482fd64891" Type="http://schemas.openxmlformats.org/officeDocument/2006/relationships/slide" Target="slides/slide1.xml"/><Relationship Id="Rf7a3616d944648f8" Type="http://schemas.openxmlformats.org/officeDocument/2006/relationships/theme" Target="theme/theme1.xml"/><Relationship Id="Rf8d867df9cf24b24" Type="http://schemas.openxmlformats.org/officeDocument/2006/relationships/notesMaster" Target="notesMasters/notesMaster1.xml"/><Relationship Id="Rfcd7ef0cec00498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e1939f3d5a6e4f6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54b01bc4651a46a7" Type="http://schemas.openxmlformats.org/officeDocument/2006/relationships/slide" Target="../slides/slide1.xml"/><Relationship Id="Rfc697b8c06c54f2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85dce3e5c3d34a0b" Type="http://schemas.openxmlformats.org/officeDocument/2006/relationships/notesMaster" Target="../notesMasters/notesMaster1.xml"/><Relationship Id="Rb05998b4cc1c4ef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1984adb79a94498" Type="http://schemas.openxmlformats.org/officeDocument/2006/relationships/slide" Target="../slides/slide3.xml"/><Relationship Id="Rfc0aa596240d47e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826f2ef7e3047a1" Type="http://schemas.openxmlformats.org/officeDocument/2006/relationships/slide" Target="../slides/slide4.xml"/><Relationship Id="R8a894c7f7f104a2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4d20b3ed1f884317" Type="http://schemas.openxmlformats.org/officeDocument/2006/relationships/notesMaster" Target="../notesMasters/notesMaster1.xml"/><Relationship Id="Rc15edbbbd9994bdd"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17c63aad8ff04bba" Type="http://schemas.openxmlformats.org/officeDocument/2006/relationships/notesMaster" Target="../notesMasters/notesMaster1.xml"/><Relationship Id="R517641f58f4f4f5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3ee9cee7be748d5" Type="http://schemas.openxmlformats.org/officeDocument/2006/relationships/notesMaster" Target="../notesMasters/notesMaster1.xml"/><Relationship Id="R77e50eb8aec54cb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d39a87172db649f9" Type="http://schemas.openxmlformats.org/officeDocument/2006/relationships/notesMaster" Target="../notesMasters/notesMaster1.xml"/><Relationship Id="Rf689cb742e04440f"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3fd6d52e2bb048bf" Type="http://schemas.openxmlformats.org/officeDocument/2006/relationships/slide" Target="../slides/slide9.xml"/><Relationship Id="R8524840fec66485a"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0876eb1b15a441d" Type="http://schemas.openxmlformats.org/officeDocument/2006/relationships/notesMaster" Target="../notesMasters/notesMaster1.xml"/><Relationship Id="R7dde454081084b8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89725b1197914416" Type="http://schemas.openxmlformats.org/officeDocument/2006/relationships/notesMaster" Target="../notesMasters/notesMaster1.xml"/><Relationship Id="Redac856c0d684c6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be274af01ed94295" Type="http://schemas.openxmlformats.org/officeDocument/2006/relationships/slide" Target="../slides/slide12.xml"/><Relationship Id="Rce39ea4c1c86411d"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f0e20b18971435b" Type="http://schemas.openxmlformats.org/officeDocument/2006/relationships/notesMaster" Target="../notesMasters/notesMaster1.xml"/><Relationship Id="Rafc9c59e67ec4cde"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8fd970c1743473a" Type="http://schemas.openxmlformats.org/officeDocument/2006/relationships/slide" Target="../slides/slide14.xml"/><Relationship Id="Rcf4f87c595e84040"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4b3476c2d3cf4934" Type="http://schemas.openxmlformats.org/officeDocument/2006/relationships/slide" Target="../slides/slide15.xml"/><Relationship Id="R74a8cb5f1f914537"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569cd5aa454d4edc" Type="http://schemas.openxmlformats.org/officeDocument/2006/relationships/notesMaster" Target="../notesMasters/notesMaster1.xml"/><Relationship Id="Rf3b8ffb6c438492a"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ade05291583545ca" Type="http://schemas.openxmlformats.org/officeDocument/2006/relationships/slide" Target="../slides/slide17.xml"/><Relationship Id="Raf2f0c23a5cf472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3c2ee57480b41eb" Type="http://schemas.openxmlformats.org/officeDocument/2006/relationships/slide" Target="../slides/slide18.xml"/><Relationship Id="R937a6ce333744a8a"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391f26e71292430e" Type="http://schemas.openxmlformats.org/officeDocument/2006/relationships/notesMaster" Target="../notesMasters/notesMaster1.xml"/><Relationship Id="R3b20a45ed04b4026"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fa06480d4eb4aa6" Type="http://schemas.openxmlformats.org/officeDocument/2006/relationships/notesMaster" Target="../notesMasters/notesMaster1.xml"/><Relationship Id="R4fdf01b97d52415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9b9a6f4f9f241cc" Type="http://schemas.openxmlformats.org/officeDocument/2006/relationships/notesMaster" Target="../notesMasters/notesMaster1.xml"/><Relationship Id="R6aab95555d0445bb"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4ee4b58897d544a5" Type="http://schemas.openxmlformats.org/officeDocument/2006/relationships/notesMaster" Target="../notesMasters/notesMaster1.xml"/><Relationship Id="Ree2997ecacf14f7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804d59688aa40a9" Type="http://schemas.openxmlformats.org/officeDocument/2006/relationships/notesMaster" Target="../notesMasters/notesMaster1.xml"/><Relationship Id="Re9627fbfd30e4446"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44628bbb0304cfa" Type="http://schemas.openxmlformats.org/officeDocument/2006/relationships/slide" Target="../slides/slide24.xml"/><Relationship Id="R5a320bebf2904d4d"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2509502af95345ca" Type="http://schemas.openxmlformats.org/officeDocument/2006/relationships/notesMaster" Target="../notesMasters/notesMaster1.xml"/><Relationship Id="Rda6444944abd40a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3a3c7754d1a248f7" Type="http://schemas.openxmlformats.org/officeDocument/2006/relationships/slide" Target="../slides/slide26.xml"/><Relationship Id="Rf37b56030d294a5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and thank you for joining this session.</a:t>
            </a:r>
          </a:p>
          <a:p xmlns:a="http://schemas.openxmlformats.org/drawingml/2006/main">
            <a:r>
              <a:t>Today we will study the ontology of existence as stated in Madhyasth Darshan, also called Co-existentialism, propounded by Shri A. Nagraj. The name itself carries a thesis: madhyasth means mediative. The darshan holds that reality is regulated and conserved through an inherent, mediative orderliness, not by an external governor.</a:t>
            </a:r>
          </a:p>
          <a:p xmlns:a="http://schemas.openxmlformats.org/drawingml/2006/main">
            <a:r>
              <a:t>This presentation follows Section 1 of the study The Ontology of Coexistence. It states the darshan’s ontology on its own terms, grounded in the primary texts — Madhyasth Darshan, Manav Karm Darshan, Samadhanatmak Bhautikvad, and Jeevan Vidya.</a:t>
            </a:r>
          </a:p>
          <a:p xmlns:a="http://schemas.openxmlformats.org/drawingml/2006/main">
            <a:r>
              <a:t>Here is the core claim I want you to hold for the whole session: existence is coexistence. It is the ever-present togetherness of a formless, all-pervasive ground — satta — and countless real, bounded units of nature, each saturated in that ground. You will see the slides use the translation’s word Omnipotence for that ground; in spoken explanation I will often say Omnipresence. Both names point to the same reality.</a:t>
            </a:r>
          </a:p>
          <a:p xmlns:a="http://schemas.openxmlformats.org/drawingml/2006/main">
            <a:r>
              <a:t>Everything that follows — sentience, values, justice, and humane society — unfolds from this one picture. The study is written from a scientist-technologist standpoint. Our aim is rigorous understanding: testing definitions and internal consistency — not persuasion, and not devotion.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enter the details, here is the map of the argument.</a:t>
            </a:r>
          </a:p>
          <a:p xmlns:a="http://schemas.openxmlformats.org/drawingml/2006/main">
            <a:r>
              <a:t>One claim — existence is coexistence — will be carried through three movements.</a:t>
            </a:r>
          </a:p>
          <a:p xmlns:a="http://schemas.openxmlformats.org/drawingml/2006/main">
            <a:r>
              <a:t>First: what is real, and how it is ordered. Coexistence is the bond of an all-pervasive ground and countable units. Each definite unit bears form, properties or guna, essential nature or svabhav, and dharma. Their expression becomes evident in mutuality across four orders of nature.</a:t>
            </a:r>
          </a:p>
          <a:p xmlns:a="http://schemas.openxmlformats.org/drawingml/2006/main">
            <a:r>
              <a:t>Second: how two developmental lines proceed. One line is compositional: particles, atoms, molecules, cells, and bodies form larger configurations. The other is development in an atom, which can reach constitutional completeness as sentient jeevan. Across both lines, every activity is effort, motion, and result together.</a:t>
            </a:r>
          </a:p>
          <a:p xmlns:a="http://schemas.openxmlformats.org/drawingml/2006/main">
            <a:r>
              <a:t>Third: how sentient living becomes awakened conduct — the human joint form of body and jeevan, the faculties and activities of jeevan, the four harmonies, evaluation, realisation, and participation in humane order.</a:t>
            </a:r>
          </a:p>
          <a:p xmlns:a="http://schemas.openxmlformats.org/drawingml/2006/main">
            <a:r>
              <a:t>Please keep this distinction early: the body’s compositional line and jeevan’s atomic line meet in animal and human living, but they do not become the same process. That prevents the most common confusion — treating the body as the producer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Every serious ontology has to answer a small set of framing questions. Let us name them before we give Madhyasth Darshan’s answers.</a:t>
            </a:r>
          </a:p>
          <a:p xmlns:a="http://schemas.openxmlformats.org/drawingml/2006/main">
            <a:r>
              <a:t>What is existence? Is there one fundamental reality, or many — and how are they related?</a:t>
            </a:r>
          </a:p>
          <a:p xmlns:a="http://schemas.openxmlformats.org/drawingml/2006/main">
            <a:r>
              <a:t>What exists? What are the basic constituents of reality, and what is each of them?</a:t>
            </a:r>
          </a:p>
          <a:p xmlns:a="http://schemas.openxmlformats.org/drawingml/2006/main">
            <a:r>
              <a:t>Does what exists begin? Did reality originate at some time — or is origination only of configurations?</a:t>
            </a:r>
          </a:p>
          <a:p xmlns:a="http://schemas.openxmlformats.org/drawingml/2006/main">
            <a:r>
              <a:t>Does the self begin or end with the body? Is the individual self, jeevan, produced by the body and destroyed with it?</a:t>
            </a:r>
          </a:p>
          <a:p xmlns:a="http://schemas.openxmlformats.org/drawingml/2006/main">
            <a:r>
              <a:t>Is the world finally real? Is the plural world of units an appearance, or real in its own right?</a:t>
            </a:r>
          </a:p>
          <a:p xmlns:a="http://schemas.openxmlformats.org/drawingml/2006/main">
            <a:r>
              <a:t>And sixth: how can what exists be known? What must be understood — and at what scope — to know each aspect of reality?</a:t>
            </a:r>
          </a:p>
          <a:p xmlns:a="http://schemas.openxmlformats.org/drawingml/2006/main">
            <a:r>
              <a:t>Traditions diverge sharply on these questions — Advaita Vedanta, Western philosophy, and modern science among them. Madhyasth Darshan does not answer them piecemeal. One picture — coexistence — answers all six at once.</a:t>
            </a:r>
          </a:p>
          <a:p xmlns:a="http://schemas.openxmlformats.org/drawingml/2006/main">
            <a:r>
              <a:t>Later we will see how knowing widens on the epistemic ladder, where the drive terminates in realisation, and how method and evidence are distinguished. At the end we will return to this same list with the answers filled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conceptual map is the organising view of Section 1.</a:t>
            </a:r>
          </a:p>
          <a:p xmlns:a="http://schemas.openxmlformats.org/drawingml/2006/main">
            <a:r>
              <a:t>Begin at the top with coexistence: Omnipresence and countless units are inseparable, yet they do not lose their distinction. Then follow the unit side: four aspects, relationships, four orders, and two developmental lines.</a:t>
            </a:r>
          </a:p>
          <a:p xmlns:a="http://schemas.openxmlformats.org/drawingml/2006/main">
            <a:r>
              <a:t>Notice the fork. The body belongs to compositional progression. Jeevan is the result of development in an atom. The two meet in the animal and human joint form.</a:t>
            </a:r>
          </a:p>
          <a:p xmlns:a="http://schemas.openxmlformats.org/drawingml/2006/main">
            <a:r>
              <a:t>T1 marks the arrival of sentience. T2 and T3 concern awakening and conduct in jeevan — they are not further material stages.</a:t>
            </a:r>
          </a:p>
          <a:p xmlns:a="http://schemas.openxmlformats.org/drawingml/2006/main">
            <a:r>
              <a:t>When later slides feel dense, return mentally to this map. Most of what follows is a zoom into one node of this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foundation.</a:t>
            </a:r>
          </a:p>
          <a:p xmlns:a="http://schemas.openxmlformats.org/drawingml/2006/main">
            <a:r>
              <a:t>Existence has two inseparable aspects. The first is Omnipresence — satta. It is formless, all-pervasive, non-transforming, and immeasurable. It is actionless energy. It performs no actions, yet every unit is energised, regulated, and conserved in it. There is no place where it is absent.</a:t>
            </a:r>
          </a:p>
          <a:p xmlns:a="http://schemas.openxmlformats.org/drawingml/2006/main">
            <a:r>
              <a:t>The second aspect is units of nature. They are formful, active, and countable. Each is bounded from six directions and saturated in Omnipresence. Each bears form, guna, svabhav, and dharma, whose expression is evident in definite mutuality.</a:t>
            </a:r>
          </a:p>
          <a:p xmlns:a="http://schemas.openxmlformats.org/drawingml/2006/main">
            <a:r>
              <a:t>Do not collapse levels. At the root, nature is analysed as atomic units — a centre with orbiting parts. Compounds and bodies are composite units. Body and jeevan together are a joint form. Families and societies are relational assemblies.</a:t>
            </a:r>
          </a:p>
          <a:p xmlns:a="http://schemas.openxmlformats.org/drawingml/2006/main">
            <a:r>
              <a:t>These two poles were never separate. Separation of a unit from the saturated whole never happens. The ground is state-complete — without motion, wave, or pressure. Nature saturated in it is state-dynamic. Therefore all change is unit-activity.</a:t>
            </a:r>
          </a:p>
          <a:p xmlns:a="http://schemas.openxmlformats.org/drawingml/2006/main">
            <a:r>
              <a:t>One caution on names. The texts list many English names for satta — Uniform Energy, Space, Knowledge, Consciousness, Omnipresence, Eternity, God, Absolute Energy. When you hear Knowledge or Consciousness in that list, do not hear a mind that knows. Active sentience belongs to jeevan, the sentient unit —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How exactly are ground and units related? Through saturation — samprikt.</a:t>
            </a:r>
          </a:p>
          <a:p xmlns:a="http://schemas.openxmlformats.org/drawingml/2006/main">
            <a:r>
              <a:t>Every formful unit is soaked, submerged, and surrounded in Omnipresence. From this ever-present bond, Madhyasth Darshan says three endowments are evident on the unit side.</a:t>
            </a:r>
          </a:p>
          <a:p xmlns:a="http://schemas.openxmlformats.org/drawingml/2006/main">
            <a:r>
              <a:t>First, recognition capability. Complementarity is given in coexistence; it is not created by us. In insentient nature, reflection, recognition, and fulfilment occur definitely through the unit’s capacity, ability, and receptivity. No human observer is required.</a:t>
            </a:r>
          </a:p>
          <a:p xmlns:a="http://schemas.openxmlformats.org/drawingml/2006/main">
            <a:r>
              <a:t>Second, activeness. The texts say: unit plus energy fullness equals activeness. Inherent energy and basic impulsion make the unit active, appearing as the inseparable triad of effort, motion, and result.</a:t>
            </a:r>
          </a:p>
          <a:p xmlns:a="http://schemas.openxmlformats.org/drawingml/2006/main">
            <a:r>
              <a:t>Third, inherent regulation — orderliness within the unit’s participation in coexistence: mediative and conserving, not an external statutory command.</a:t>
            </a:r>
          </a:p>
          <a:p xmlns:a="http://schemas.openxmlformats.org/drawingml/2006/main">
            <a:r>
              <a:t>Please hear the caution on the slide. This is an ontological entailment, not a proposed measurable transfer mechanism. And not every unit progresses to constitutional completeness. Omnipresence does not push units from outside.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What is every unit? Four inseparable aspects — but not a static checklist pasted onto things.</a:t>
            </a:r>
          </a:p>
          <a:p xmlns:a="http://schemas.openxmlformats.org/drawingml/2006/main">
            <a:r>
              <a:t>The bearer is definite: a bounded unit with constitution, state, order, and capacities.</a:t>
            </a:r>
          </a:p>
          <a:p xmlns:a="http://schemas.openxmlformats.org/drawingml/2006/main">
            <a:r>
              <a:t>Form is real boundary and configuration. Take the peepal tree on the slide: one bounded living form with trunk, branches, leaves, and roots.</a:t>
            </a:r>
          </a:p>
          <a:p xmlns:a="http://schemas.openxmlformats.org/drawingml/2006/main">
            <a:r>
              <a:t>Properties — guna — are capacity and relative effect. In the peepal: nutrition, growth, repair, seed production, and degeneration become evident under definite conditions.</a:t>
            </a:r>
          </a:p>
          <a:p xmlns:a="http://schemas.openxmlformats.org/drawingml/2006/main">
            <a:r>
              <a:t>Essential nature — svabhav — is usefulness in context. For the peepal: vitalising while its living organisation is maintained; devitalising when that organisation breaks down.</a:t>
            </a:r>
          </a:p>
          <a:p xmlns:a="http://schemas.openxmlformats.org/drawingml/2006/main">
            <a:r>
              <a:t>Dharma is innateness and order-specific fulfilment. The peepal has existence plus growth. Seed-conformance is its mode of conduct, not an extra dharma piled on top.</a:t>
            </a:r>
          </a:p>
          <a:p xmlns:a="http://schemas.openxmlformats.org/drawingml/2006/main">
            <a:r>
              <a:t>Form is real; what another unit encounters is its definite reflection in mutual facing. In insentient nature these aspects are definite. Mis-evaluation arises only in human living, when jeevan under delusion takes the body to be the self.</a:t>
            </a:r>
          </a:p>
          <a:p xmlns:a="http://schemas.openxmlformats.org/drawingml/2006/main">
            <a:r>
              <a:t>And notice the persistence note: the tree as a composite form can die and decompose, while its constituent material units persist and enter other compositions. Persistence of existence is not persistence of one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Jeevan Vidya states the principle: nothing is isolated.</a:t>
            </a:r>
          </a:p>
          <a:p xmlns:a="http://schemas.openxmlformats.org/drawingml/2006/main">
            <a:r>
              <a:t>Existence holds relations between units, and it is in those relations that complementarity is actualised as value in mutuality. Expression is definite in the material, bio, and animal orders. At the human order, evaluation may err under body-identification.</a:t>
            </a:r>
          </a:p>
          <a:p xmlns:a="http://schemas.openxmlformats.org/drawingml/2006/main">
            <a:r>
              <a:t>Two kinds of mutuality matter. A relationship — sambandh — is mutuality whose expectations and fulfilment are definite in the relation’s completeness: parent and child. An association or contact — sampark — is mutuality where expectations are voluntary: neighbours who share a wall.</a:t>
            </a:r>
          </a:p>
          <a:p xmlns:a="http://schemas.openxmlformats.org/drawingml/2006/main">
            <a:r>
              <a:t>The slide names five value families: object, jeevan, human, relationship, and established or civic. Object values are utility and art. So the six named values are utility, art, jeevan, human, relationship, and established or civic.</a:t>
            </a:r>
          </a:p>
          <a:p xmlns:a="http://schemas.openxmlformats.org/drawingml/2006/main">
            <a:r>
              <a:t>At the human order the path runs: knowing, then believing, then recognising, then fulfilling. Awakening does not create new faculties. It aligns this chain with coexistence. Established and civic values articulate that fulfilment in society.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Units organise into four stable orders of nature: material; bio or pranic; animal; and knowledge — the human order.</a:t>
            </a:r>
          </a:p>
          <a:p xmlns:a="http://schemas.openxmlformats.org/drawingml/2006/main">
            <a:r>
              <a:t>Read the table downward. Dharma is cumulative. Matter has existence. The bio order adds growth. The animal order adds hope to live. The knowledge order adds happiness. Higher orders include the dharmas of the lower ones.</a:t>
            </a:r>
          </a:p>
          <a:p xmlns:a="http://schemas.openxmlformats.org/drawingml/2006/main">
            <a:r>
              <a:t>The pivotal boundary is between the pranic and the animal. Material and pranic orders are insentient. Hope to live is where sentience enters. Jeevan is present in animal and human joint forms.</a:t>
            </a:r>
          </a:p>
          <a:p xmlns:a="http://schemas.openxmlformats.org/drawingml/2006/main">
            <a:r>
              <a:t>In animals, bodily and brain development limits how jeevan’s faculties can be expressed through the body. In humans, the bodily medium supports the full range, but delusion can misdirect evaluation. Neither body produces sentience. Please do not collapse either condition into a story of mind emerging from matter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Madhyasth Darshan distinguishes two developments that must not be collapsed.</a:t>
            </a:r>
          </a:p>
          <a:p xmlns:a="http://schemas.openxmlformats.org/drawingml/2006/main">
            <a:r>
              <a:t>Compositional progression joins particles, atoms, molecules, cells, and bodies into larger configurations. Development in an atom can reach constitutional completeness as jeevan. These lines meet in living joint forms, but they remain distinct.</a:t>
            </a:r>
          </a:p>
          <a:p xmlns:a="http://schemas.openxmlformats.org/drawingml/2006/main">
            <a:r>
              <a:t>Across both, activity is one inseparable triad: effort, motion, and result. These are three joint aspects of one activity, not three steps in a sequence. When sodium and chlorine approach one another, the approach is effort and motion together; the stable salt crystal is the result.</a:t>
            </a:r>
          </a:p>
          <a:p xmlns:a="http://schemas.openxmlformats.org/drawingml/2006/main">
            <a:r>
              <a:t>The texts compress the engine of development this way: saturation itself is forcefulness; forcefulness is basic impulsion; impulsion is activity; activity is effort-motion-result; and that is development and its continuity.</a:t>
            </a:r>
          </a:p>
          <a:p xmlns:a="http://schemas.openxmlformats.org/drawingml/2006/main">
            <a:r>
              <a:t>Each term has a goal: restfulness of effort, destination of motion, immortality of result. Nature saturated in the ground is oriented for development and awakening until realisation. That bound is called an existential truth. Development pervades nature; awakening occurs in the sentient. Insentient units participate by composing bodies and environments without each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transitions are developmental milestones.</a:t>
            </a:r>
          </a:p>
          <a:p xmlns:a="http://schemas.openxmlformats.org/drawingml/2006/main">
            <a:r>
              <a:t>T1 is constitutional completeness — gathanpurnata: immortality of result. A developing atom becomes sentient jeevan. The plane shifts from physicochemical to delusional — meaning the body is mistaken for the self, not psychiatric illness.</a:t>
            </a:r>
          </a:p>
          <a:p xmlns:a="http://schemas.openxmlformats.org/drawingml/2006/main">
            <a:r>
              <a:t>T2 is activity completeness — kriyapurnata: restfulness of effort. Internal seeking resolves into direct realisation and absolute resolution. The plane shifts from delusional to deific.</a:t>
            </a:r>
          </a:p>
          <a:p xmlns:a="http://schemas.openxmlformats.org/drawingml/2006/main">
            <a:r>
              <a:t>T3 is conduct completeness — acharanpurnata: destination of motion. Authentic conduct becomes living proof. The plane shifts from deific to divine.</a:t>
            </a:r>
          </a:p>
          <a:p xmlns:a="http://schemas.openxmlformats.org/drawingml/2006/main">
            <a:r>
              <a:t>Keep T2 and T3 apart. T2 is internal settlement of effort. T3 is external destination in conduct. And do not confuse T2’s restfulness with the ease of insentient natural-state complementarity.</a:t>
            </a:r>
          </a:p>
          <a:p xmlns:a="http://schemas.openxmlformats.org/drawingml/2006/main">
            <a:r>
              <a:t>T1 is constitutional completeness of an atom. T2 and T3 are not further material stages; they name completeness of activity and conduct in awakened jeevan. In one line: the saturated realises the ground it is saturated in. That is the completeness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is a confusion-preventer. Madhyasth Darshan uses several classifications that overlap without being interchangeable. Each answers a different question.</a:t>
            </a:r>
          </a:p>
          <a:p xmlns:a="http://schemas.openxmlformats.org/drawingml/2006/main">
            <a:r>
              <a:t>Orders — material, bio, animal, knowledge — classify organisation, svabhav, and dharma. Do not confuse orders with planes.</a:t>
            </a:r>
          </a:p>
          <a:p xmlns:a="http://schemas.openxmlformats.org/drawingml/2006/main">
            <a:r>
              <a:t>Progressions — physicochemical, delusional, deific, divine — track status across T1, T2, and T3. Do not confuse them with orders or planes.</a:t>
            </a:r>
          </a:p>
          <a:p xmlns:a="http://schemas.openxmlformats.org/drawingml/2006/main">
            <a:r>
              <a:t>Planes name scope of knowing and experience. They are not simply material stages.</a:t>
            </a:r>
          </a:p>
          <a:p xmlns:a="http://schemas.openxmlformats.org/drawingml/2006/main">
            <a:r>
              <a:t>Human types — animal, demon, human, divine, transcendental — mark orientation of human living. Do not confuse them with value families.</a:t>
            </a:r>
          </a:p>
          <a:p xmlns:a="http://schemas.openxmlformats.org/drawingml/2006/main">
            <a:r>
              <a:t>T1 separates the physicochemical from the sentient. T2 and T3 concern awakening and conduct. So if someone asks whether the human order is the same as the divine plane, the answer is no. One human order can span multiple planes.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hinge of the ontology: where sentience enters.</a:t>
            </a:r>
          </a:p>
          <a:p xmlns:a="http://schemas.openxmlformats.org/drawingml/2006/main">
            <a:r>
              <a:t>It is constitutional completeness at the atomic level — not neural complexity, not molecular size, and not mere elevation along the order chain.</a:t>
            </a:r>
          </a:p>
          <a:p xmlns:a="http://schemas.openxmlformats.org/drawingml/2006/main">
            <a:r>
              <a:t>The texts describe a constitution-oriented developing atom that takes in particles — hungry and overfull atoms completing each other — within a suitable environment. When the required constitution closes, the particle count no longer increases or decreases.</a:t>
            </a:r>
          </a:p>
          <a:p xmlns:a="http://schemas.openxmlformats.org/drawingml/2006/main">
            <a:r>
              <a:t>Before T1, the evolving atom is still bound by molecular weight and structure; particle count is still changing; it exhibits radiance and projection as an insentient unit. After T1, it is released from molecular and weight bondage and carried by hope. Sentient jeevan shows a finer mode of recognition.</a:t>
            </a:r>
          </a:p>
          <a:p xmlns:a="http://schemas.openxmlformats.org/drawingml/2006/main">
            <a:r>
              <a:t>T1 is irreversible because the completed constitution no longer decomposes. That completed constitution grounds jeevan’s continuity beyond the body.</a:t>
            </a:r>
          </a:p>
          <a:p xmlns:a="http://schemas.openxmlformats.org/drawingml/2006/main">
            <a:r>
              <a:t>I want to be plain: this is an ontological account. No accepted empirical procedure currently identifies the threshold. We will return to that honesty when we discuss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Animal and human living is a joint form.</a:t>
            </a:r>
          </a:p>
          <a:p xmlns:a="http://schemas.openxmlformats.org/drawingml/2006/main">
            <a:r>
              <a:t>Jeevan brings all ten activities. The body supplies the species-specific medium. Animal bodily and brain development limits their expression. The human medium supports the full range, while body-identification can still misdirect evaluation.</a:t>
            </a:r>
          </a:p>
          <a:p xmlns:a="http://schemas.openxmlformats.org/drawingml/2006/main">
            <a:r>
              <a:t>On one side is the body: a pranic composition — sense organs, brain, and physical expression; decomposable. On the other side is jeevan: the constitutionally complete sentient atom; five faculties and ten activities inherent; continuing when the joint form ends.</a:t>
            </a:r>
          </a:p>
          <a:p xmlns:a="http://schemas.openxmlformats.org/drawingml/2006/main">
            <a:r>
              <a:t>The body gates expression. Jeevan is seer, doer, and enjoyer through the body. Animal limitation belongs to the medium. Human mis-evaluation belongs to body-delusion.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Jeevan is a constitutionally complete sentient atom.</a:t>
            </a:r>
          </a:p>
          <a:p xmlns:a="http://schemas.openxmlformats.org/drawingml/2006/main">
            <a:r>
              <a:t>Structurally, the nucleus is atma, the core self. The rings around it are buddhi, chitta, vritti, and mun — resolve, desire, thought, and hope.</a:t>
            </a:r>
          </a:p>
          <a:p xmlns:a="http://schemas.openxmlformats.org/drawingml/2006/main">
            <a:r>
              <a:t>Each faculty works outward in projection and inward in reflection. Hope selects outward and tastes inward. Thought analyses and deliberates. Desire visualises and contemplates. Resolve resolves and receives enlightenment. The core self authenticates and realises.</a:t>
            </a:r>
          </a:p>
          <a:p xmlns:a="http://schemas.openxmlformats.org/drawingml/2006/main">
            <a:r>
              <a:t>All five faculties and all ten activities belong to jeevan. Presence must be distinguished from expression and from effective organisation. Animal bodies limit expression through the medium. Humans have the bodily medium for the full range, yet under body-delusion only four and a half activities may be effectively organised.</a:t>
            </a:r>
          </a:p>
          <a:p xmlns:a="http://schemas.openxmlformats.org/drawingml/2006/main">
            <a:r>
              <a:t>Study brings understanding. Practice evidences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Manav Karm Darshan, Chapter 1: the structure of karma.</a:t>
            </a:r>
          </a:p>
          <a:p xmlns:a="http://schemas.openxmlformats.org/drawingml/2006/main">
            <a:r>
              <a:t>Every karma — every activity done with desire — carries five limbs: doer, cause, objective, result, and effect. Effect names the act’s reach or consequence. The text does not add a separate cosmic reward-and-punishment ledger on this slide.</a:t>
            </a:r>
          </a:p>
          <a:p xmlns:a="http://schemas.openxmlformats.org/drawingml/2006/main">
            <a:r>
              <a:t>Desire is the aspiration. Karma is the doing — activity together with aspiration. Result is the fruit. Desire, karma, and result must balance for the desire to be truly accomplished.</a:t>
            </a:r>
          </a:p>
          <a:p xmlns:a="http://schemas.openxmlformats.org/drawingml/2006/main">
            <a:r>
              <a:t>Understanding alone changes nothing. It is the doing that yields the fruit. Book knowledge is only half the work.</a:t>
            </a:r>
          </a:p>
          <a:p xmlns:a="http://schemas.openxmlformats.org/drawingml/2006/main">
            <a:r>
              <a:t>Hold this beside the earlier triad of effort, motion, and result. Karma is the desire-laden framing of activity in sentient living. Later we will see how desire and doing are reorganised under justice, dharma,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sequence after T1, T2, and T3.</a:t>
            </a:r>
          </a:p>
          <a:p xmlns:a="http://schemas.openxmlformats.org/drawingml/2006/main">
            <a:r>
              <a:t>They name harmonies within jeevan. Happiness is harmony of mun and vritti — hope and thought. Peace is harmony of vritti and chitta — thought and desire. Contentment is harmony of chitta and buddhi — desire and resolve. Bliss is harmony of buddhi and atma — resolve and the core self.</a:t>
            </a:r>
          </a:p>
          <a:p xmlns:a="http://schemas.openxmlformats.org/drawingml/2006/main">
            <a:r>
              <a:t>Evidenced outwardly, these harmonies support resolution, prosperity, fearlessness, and coexistence in human living.</a:t>
            </a:r>
          </a:p>
          <a:p xmlns:a="http://schemas.openxmlformats.org/drawingml/2006/main">
            <a:r>
              <a:t>Karm Darshan puts the living cycle this way: reflection feeds projection, and projection feeds deeper reflection — this alone is what living means. Continuous happiness is harmony evidenced in resolved living, not a sensory spike.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Composition is not the same as development.</a:t>
            </a:r>
          </a:p>
          <a:p xmlns:a="http://schemas.openxmlformats.org/drawingml/2006/main">
            <a:r>
              <a:t>Physicochemical units compose into mixtures, compounds, cells, and bodies through definite constituent relations. Human families and societies arise differently: through recognised relationships, evaluation, and mutual satisfaction.</a:t>
            </a:r>
          </a:p>
          <a:p xmlns:a="http://schemas.openxmlformats.org/drawingml/2006/main">
            <a:r>
              <a:t>In a mixture, components stay side by side and each maintains its own conduct — no new unit is formed. In a compound, definite proportion yields a new bounded unit, and its form, guna, svabhav, and dharma are evidenced in that new unit’s mutuality.</a:t>
            </a:r>
          </a:p>
          <a:p xmlns:a="http://schemas.openxmlformats.org/drawingml/2006/main">
            <a:r>
              <a:t>Particles to molecules to cells and bodies is composition. Humane assemblies are relational achievements, not a further chemical tier. T1 occurs only when an atom reaches constitutional completeness. Insentient assemblies persist or decline according to whether constituent relationships are fulfilled.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explains the darshan’s name.</a:t>
            </a:r>
          </a:p>
          <a:p xmlns:a="http://schemas.openxmlformats.org/drawingml/2006/main">
            <a:r>
              <a:t>Orderliness is self-regulation, inherent in saturated units — not dispensed by a cosmic governor. This mediative — madhyasth — regulation, which regulates and conserves every unit, gives Madhyasth Darshan its name.</a:t>
            </a:r>
          </a:p>
          <a:p xmlns:a="http://schemas.openxmlformats.org/drawingml/2006/main">
            <a:r>
              <a:t>Conformance has order-specific modes. Material: result or structural conformance. Bio: seed-conformance. Animal: species-conformance, inherited from gestation. Human: learned conformance through understanding.</a:t>
            </a:r>
          </a:p>
          <a:p xmlns:a="http://schemas.openxmlformats.org/drawingml/2006/main">
            <a:r>
              <a:t>Material, bio, and animal regulation is definite. An animal body’s expressive limits do not introduce mis-evaluation. In human living, jeevan can judge wrongly when delusion mistakes the body for the self. Awakening aligns evaluation and fulfilment with coexistence. That is why justice becomes necessary at the knowledge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 Darshan names six evaluative perspectives: pleasant, healthy, profit, justice, dharma, and truth. They widen from sensation, body, and gain to relationship, orderliness, and coexistence.</a:t>
            </a:r>
          </a:p>
          <a:p xmlns:a="http://schemas.openxmlformats.org/drawingml/2006/main">
            <a:r>
              <a:t>Justice has a dual role: it is one of the six, and it is the principle of fulfilled relationship. Dharma here as an evaluative perspective means fitting the wider pattern — discipline in thought, not only in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not abandoned.</a:t>
            </a:r>
          </a:p>
          <a:p xmlns:a="http://schemas.openxmlformats.org/drawingml/2006/main">
            <a:r>
              <a:t>Keep this distinct from unit-dharma on the earlier slide. Unit-dharma is innateness. The dharma–adharma perspective is an evaluative lens on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Here are two ladders that meet.</a:t>
            </a:r>
          </a:p>
          <a:p xmlns:a="http://schemas.openxmlformats.org/drawingml/2006/main">
            <a:r>
              <a:t>On the left: what must be understood, as mutual context widens. Form is real structure reflected in mutual facing. Guna is effects evident in definite mutuality. Svabhav is usefulness within state, plane, and order. Dharma is innateness evidenced in whole-order fulfilment. Relationships are shared expectations weighed by justice, dharma, and truth. At the top is coexistence itself — the telos of knowing. This is not a climb away from the unit; it is a widening of the context in which a real unit is understood.</a:t>
            </a:r>
          </a:p>
          <a:p xmlns:a="http://schemas.openxmlformats.org/drawingml/2006/main">
            <a:r>
              <a:t>On the right: how knowing happens within jeevan. Hope tastes and selects. Thought deliberates and analyses. Desire contemplates and visualises. Resolve receives enlightenment and resolves. The core self realises — and realisation takes place through truth. When each level is acted in alignment, it is felt as happiness, peace, contentment, and bliss.</a:t>
            </a:r>
          </a:p>
          <a:p xmlns:a="http://schemas.openxmlformats.org/drawingml/2006/main">
            <a:r>
              <a:t>The ladders meet at the top: coexistence known and acted in the core self is felt as bliss. Human error belongs to deluded evaluation, not to indeterminacy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Madhyasth Darshan uses several modes of warrant. They can support one another, but they do not establish the same thing.</a:t>
            </a:r>
          </a:p>
          <a:p xmlns:a="http://schemas.openxmlformats.org/drawingml/2006/main">
            <a:r>
              <a:t>Logical exposition can establish internal coherence and entailment. It cannot by itself establish empirical truth.</a:t>
            </a:r>
          </a:p>
          <a:p xmlns:a="http://schemas.openxmlformats.org/drawingml/2006/main">
            <a:r>
              <a:t>Study and self-examination can establish intelligibility and first-person recognition. They cannot by themselves physically identify jeevan.</a:t>
            </a:r>
          </a:p>
          <a:p xmlns:a="http://schemas.openxmlformats.org/drawingml/2006/main">
            <a:r>
              <a:t>Experiment, practice, and conduct-evidence can establish effects in work, behaviour, and mutual satisfaction. They cannot by themselves measure T1 or the jeevan–body interface.</a:t>
            </a:r>
          </a:p>
          <a:p xmlns:a="http://schemas.openxmlformats.org/drawingml/2006/main">
            <a:r>
              <a:t>Realisation is the darshan’s claimed completion of knowing. It does not force agreement from other methods.</a:t>
            </a:r>
          </a:p>
          <a:p xmlns:a="http://schemas.openxmlformats.org/drawingml/2006/main">
            <a:r>
              <a:t>Publicly measurable physical claims remain answerable to instrument-based scientific inquiry. No accepted measurement procedure currently identifies T1, the jeevan–body interface, or post-body reassociation.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jeevan bears the same five faculties and ten activities. In human living they answer one question — what makes me happy? — by organising in one of two ways.</a:t>
            </a:r>
          </a:p>
          <a:p xmlns:a="http://schemas.openxmlformats.org/drawingml/2006/main">
            <a:r>
              <a:t>Under delusion, jeevan mistakes the body for the self. Its present faculties organise around accumulation, comfort, and safety, and mis-evaluation follows.</a:t>
            </a:r>
          </a:p>
          <a:p xmlns:a="http://schemas.openxmlformats.org/drawingml/2006/main">
            <a:r>
              <a:t>Under awakening, jeevan knows its true nature and coexistence. Resolve, desire, thought, and hope align around the core self — toward undivided society and universal orderliness.</a:t>
            </a:r>
          </a:p>
          <a:p xmlns:a="http://schemas.openxmlformats.org/drawingml/2006/main">
            <a:r>
              <a:t>No faculty is absent. Delusion directs evaluation toward the body; awakening aligns it with coexistence. Study supplies understanding; practice evidences and stabilises that alignment.</a:t>
            </a:r>
          </a:p>
          <a:p xmlns:a="http://schemas.openxmlformats.org/drawingml/2006/main">
            <a:r>
              <a:t>When the same fork is resolved in the individual and sustained across a tradition, it is evidenced as resolution, prosperity, fearlessness,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where the completeness drive terminates: realisation in coexistence.</a:t>
            </a:r>
          </a:p>
          <a:p xmlns:a="http://schemas.openxmlformats.org/drawingml/2006/main">
            <a:r>
              <a:t>The drive comes to rest when relationships across nature are fulfilled and made evident in coexistence — not because Omnipresence becomes a knower, but because awakened jeevan realises and evidences the coexistence in which it has always existed. Recognising and fulfilling become its living proof.</a:t>
            </a:r>
          </a:p>
          <a:p xmlns:a="http://schemas.openxmlformats.org/drawingml/2006/main">
            <a:r>
              <a:t>Realisation is bliss. Truth itself is abundance — coexistence; realisation of abundance itself is bliss; bliss itself is jeevan. And realisation is knowledge itself, because what is realised is the ground the unit was always soaked in.</a:t>
            </a:r>
          </a:p>
          <a:p xmlns:a="http://schemas.openxmlformats.org/drawingml/2006/main">
            <a:r>
              <a:t>In projection, realisation is authenticity — knowledge, wisdom, and science unfolding into conduct. In reflection, the knower is jeevan filled with realisation. When resolve turns inward to the core self, self-realisation and realisation in coexistence arrive together.</a:t>
            </a:r>
          </a:p>
          <a:p xmlns:a="http://schemas.openxmlformats.org/drawingml/2006/main">
            <a:r>
              <a:t>What is known is existence itself — nature saturated in Omnipresence. Knowledge, knower, and known become uniform as roles in one bond. This is not merger. The knower remains a distinct jeevan. That guardrail is decisive against reading satta as a universal knowing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drive toward completeness comes to rest in awakened human beings — effort settled, understanding proven in daily conduct, and sustained through a human tradition.</a:t>
            </a:r>
          </a:p>
          <a:p xmlns:a="http://schemas.openxmlformats.org/drawingml/2006/main">
            <a:r>
              <a:t>Effort settled in realisation is T2. Understanding proven in daily conduct is T3.</a:t>
            </a:r>
          </a:p>
          <a:p xmlns:a="http://schemas.openxmlformats.org/drawingml/2006/main">
            <a:r>
              <a:t>The four goals land at four levels: resolution in every person; prosperity in every family; fearlessness — trust — in society; and coexistence with all of nature.</a:t>
            </a:r>
          </a:p>
          <a:p xmlns:a="http://schemas.openxmlformats.org/drawingml/2006/main">
            <a:r>
              <a:t>Five dimensions of continuity carry the tradition: education and sanskar; justice and preservation; health and restraint; production and work; exchange and storage.</a:t>
            </a:r>
          </a:p>
          <a:p xmlns:a="http://schemas.openxmlformats.org/drawingml/2006/main">
            <a:r>
              <a:t>This is not an ideal bolted onto matter. On Madhyasth Darshan’s account, the ontology is such that the progression is designed to arrive here. Nature saturated in Omnipresence is bound for development until realisation. An awakened human tradition is what that progression delivers: what is saturated in the ground has come to realise the ground, and nature stands fulfilled and evident in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us close the loop and answer the six questions we opened with.</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body–jeevan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Jeevan: a constitutionally complete sentient atom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Measurable physical claims still require instrument-based testing. These evidence modes should not be conflated.</a:t>
            </a:r>
          </a:p>
          <a:p xmlns:a="http://schemas.openxmlformats.org/drawingml/2006/main">
            <a:r>
              <a:t>Fulfilment is resolution and authenticity expressed as humane conduct and participation in orderliness. The ultimate test is pramanikta — lived evidence.</a:t>
            </a:r>
          </a:p>
          <a:p xmlns:a="http://schemas.openxmlformats.org/drawingml/2006/main">
            <a:r>
              <a:t>If we continue in a companion session, the natural next step is to place this ontology beside Advaita Vedanta, modern philosophy, and modern science — including the open problems the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5fff766feab493a"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d6aa7b3b27f417d" Type="http://schemas.openxmlformats.org/officeDocument/2006/relationships/theme" Target="theme/theme2.xml"/><Relationship Id="R930dbeaa02974b77"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30dbeaa02974b77"/>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119f62748df74f42" Type="http://schemas.openxmlformats.org/officeDocument/2006/relationships/notesSlide" Target="../notesSlides/notesSlide1.xml"/><Relationship Id="Rd07e35a1d82849bc"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95cbd44f43394c73" Type="http://schemas.openxmlformats.org/officeDocument/2006/relationships/notesSlide" Target="../notesSlides/notesSlide2.xml"/><Relationship Id="Ra17d10016a904f56"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0664648e943b4a52" Type="http://schemas.openxmlformats.org/officeDocument/2006/relationships/image" Target="../media/image.png"/><Relationship Id="R7214d129774c43e6" Type="http://schemas.openxmlformats.org/officeDocument/2006/relationships/slideLayout" Target="../slideLayouts/slideLayout1.xml"/><Relationship Id="R8e14a21eac4c4da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beb1882c6ca42f7" Type="http://schemas.openxmlformats.org/officeDocument/2006/relationships/slideLayout" Target="../slideLayouts/slideLayout1.xml"/><Relationship Id="R3b6e4667f9df4a21" Type="http://schemas.openxmlformats.org/officeDocument/2006/relationships/image" Target="../media/image2.png"/><Relationship Id="R78e8c6f977c7454d"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408099f338a4d4d" Type="http://schemas.openxmlformats.org/officeDocument/2006/relationships/slideLayout" Target="../slideLayouts/slideLayout1.xml"/><Relationship Id="R2914688e86df4f1d"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65feef7dd2849ea" Type="http://schemas.openxmlformats.org/officeDocument/2006/relationships/image" Target="../media/image4.png"/><Relationship Id="R6cb22b9f341b47eb" Type="http://schemas.openxmlformats.org/officeDocument/2006/relationships/slideLayout" Target="../slideLayouts/slideLayout1.xml"/><Relationship Id="R978d0a1f843049c3" Type="http://schemas.openxmlformats.org/officeDocument/2006/relationships/image" Target="../media/image3.png"/><Relationship Id="Rc237eff5d1b7443f" Type="http://schemas.openxmlformats.org/officeDocument/2006/relationships/notesSlide" Target="../notesSlides/notesSlide6.xml"/><Relationship Id="Rdb12d5633aaf4e80" Type="http://schemas.openxmlformats.org/officeDocument/2006/relationships/image" Target="../media/image5.png"/></Relationships>
</file>

<file path=ppt/slides/_rels/slide7.xml.rels><?xml version='1.0' encoding='UTF-8' standalone='yes'?>
<Relationships xmlns="http://schemas.openxmlformats.org/package/2006/relationships"><Relationship Id="R26875764a5464638" Type="http://schemas.openxmlformats.org/officeDocument/2006/relationships/slideLayout" Target="../slideLayouts/slideLayout1.xml"/><Relationship Id="R43ed2556e20c4f2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aacf992c612345a4" Type="http://schemas.openxmlformats.org/officeDocument/2006/relationships/notesSlide" Target="../notesSlides/notesSlide8.xml"/><Relationship Id="Rc8429e01a3d64f4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b55d5baadac4ff4" Type="http://schemas.openxmlformats.org/officeDocument/2006/relationships/notesSlide" Target="../notesSlides/notesSlide9.xml"/><Relationship Id="Rbad117feea2b458f"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918979f3dd6745b3" Type="http://schemas.openxmlformats.org/officeDocument/2006/relationships/notesSlide" Target="../notesSlides/notesSlide10.xml"/><Relationship Id="Rad24f04a235d4a0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c4da42fa1474ad5" Type="http://schemas.openxmlformats.org/officeDocument/2006/relationships/slideLayout" Target="../slideLayouts/slideLayout1.xml"/><Relationship Id="Rf2a9637246d84a5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64e8425b7ab48d6" Type="http://schemas.openxmlformats.org/officeDocument/2006/relationships/slideLayout" Target="../slideLayouts/slideLayout1.xml"/><Relationship Id="R8dd378fb407f46f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3cb91bab688344b8" Type="http://schemas.openxmlformats.org/officeDocument/2006/relationships/slideLayout" Target="../slideLayouts/slideLayout1.xml"/><Relationship Id="R3f741cd1951c48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0b333f063c64f06" Type="http://schemas.openxmlformats.org/officeDocument/2006/relationships/slideLayout" Target="../slideLayouts/slideLayout1.xml"/><Relationship Id="R4518e5ef02e846ec"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4918f0873e6047f8" Type="http://schemas.openxmlformats.org/officeDocument/2006/relationships/slideLayout" Target="../slideLayouts/slideLayout1.xml"/><Relationship Id="R8be14de1f12f47fd"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aa54e383934d4c14" Type="http://schemas.openxmlformats.org/officeDocument/2006/relationships/slideLayout" Target="../slideLayouts/slideLayout1.xml"/><Relationship Id="Rb09bdd71ab23423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b74810f5eff041c6" Type="http://schemas.openxmlformats.org/officeDocument/2006/relationships/notesSlide" Target="../notesSlides/notesSlide17.xml"/><Relationship Id="Rd7a9ae879ebc4fc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58a57d068d814735" Type="http://schemas.openxmlformats.org/officeDocument/2006/relationships/slideLayout" Target="../slideLayouts/slideLayout1.xml"/><Relationship Id="R6f52b40db33647cc"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95181849ea8e459d" Type="http://schemas.openxmlformats.org/officeDocument/2006/relationships/notesSlide" Target="../notesSlides/notesSlide19.xml"/><Relationship Id="Rc4db70e394a84ce5"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0170c03804fb4258" Type="http://schemas.openxmlformats.org/officeDocument/2006/relationships/slideLayout" Target="../slideLayouts/slideLayout1.xml"/><Relationship Id="Rcf7ae2671203421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b8fa0c5fec46440d" Type="http://schemas.openxmlformats.org/officeDocument/2006/relationships/slideLayout" Target="../slideLayouts/slideLayout1.xml"/><Relationship Id="Rcf4ac96d4300412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4d82ecb32dee4b05" Type="http://schemas.openxmlformats.org/officeDocument/2006/relationships/slideLayout" Target="../slideLayouts/slideLayout1.xml"/><Relationship Id="R58f7459fc9ae450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626c3b6d22b04911" Type="http://schemas.openxmlformats.org/officeDocument/2006/relationships/notesSlide" Target="../notesSlides/notesSlide23.xml"/><Relationship Id="Rc5279384ec1a4f84"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31f06fd0e5ef4c28" Type="http://schemas.openxmlformats.org/officeDocument/2006/relationships/slideLayout" Target="../slideLayouts/slideLayout1.xml"/><Relationship Id="R4b127415dfff42c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8b6bfdffb05d4271" Type="http://schemas.openxmlformats.org/officeDocument/2006/relationships/slideLayout" Target="../slideLayouts/slideLayout1.xml"/><Relationship Id="Rcdb9b49b28af477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2c6383872084a0f" Type="http://schemas.openxmlformats.org/officeDocument/2006/relationships/slideLayout" Target="../slideLayouts/slideLayout1.xml"/><Relationship Id="Rd83ffca1271f4dc1" Type="http://schemas.openxmlformats.org/officeDocument/2006/relationships/notesSlide" Target="../notesSlides/notesSlide26.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3b6e4667f9df4a21"/>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a:t>
            </a:r>
            <a:r>
              <a:rPr sz="1250" b="0" i="0" u="none" cap="none">
                <a:solidFill>
                  <a:srgbClr val="5A6377"/>
                </a:solidFill>
                <a:latin typeface="Calibri"/>
                <a:ea typeface="Calibri"/>
                <a:cs typeface="Calibri"/>
              </a:rPr>
              <a:t>each bounded from six directions and saturated in Omnipotence, bearing form, guna, svabhav, and dharma, whose expression is evident in definite mutuality.</a:t>
            </a:r>
            <a:r>
              <a:rPr sz="1250" b="0" i="0" u="none" cap="none">
                <a:solidFill>
                  <a:srgbClr val="5A6377"/>
                </a:solidFill>
                <a:latin typeface="Calibri"/>
                <a:ea typeface="Calibri"/>
                <a:cs typeface="Calibri"/>
              </a:rPr>
              <a:t> </a:t>
            </a:r>
            <a:r>
              <a:rPr sz="1250" b="0" i="0" u="none" cap="none">
                <a:solidFill>
                  <a:srgbClr val="5A6377"/>
                </a:solidFill>
                <a:latin typeface="Calibri"/>
                <a:ea typeface="Calibri"/>
                <a:cs typeface="Calibri"/>
              </a:rPr>
              <a:t>At the root level, nature is analysed as atomic units: a centre with orbiting parts. Compounds and bodies are composite units; body–jeevan is a joint form; families and societies are relational assemblies. These levels should not be collapsed.</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From this ever-present bond, Madhyasth Darshan ontologically entails energy-fullness, recognition capability, inherent regulation, and activity on the unit side. The texts do not state an explicit physical mechanism for this entailment.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978d0a1f843049c3">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In insentient nature, reflection, recognition, and fulfilment occur definitely through the unit's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65feef7dd2849ea">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db12d5633aaf4e8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This is an ontological entailment, not a proposed measurable transfer mechanism. Nor does every unit progress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relationship, and established/civic. Object values are utility and art. Thus the six named values are utility, art, jeevan, human, relationship, and established/civic.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Established/civic values articulate this fulfilment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CLASSIFICATION CROSSWALK</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Classifications, Different Questions</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Classification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Basic 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classifies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organisation, svabhav, dharma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status across T1–T3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 or 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substance · life · intellectual · experiential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scope of knowing and experience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stages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 · demon · human · divine · transcendental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These classifications answer different questions and overlap without being interchangeable. T1 separates physicochemical from sentient; T2 and T3 concern awakening and conduct.</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§1.9 · Conceptual map classification crosswalk</a:t>
            </a:r>
          </a:p>
        </p:txBody>
      </p:sp>
    </p:spTree>
    <p:extLst>
      <p:ext uri="{BB962C8B-B14F-4D97-AF65-F5344CB8AC3E}">
        <p14:creationId xmlns:p14="http://schemas.microsoft.com/office/powerpoint/2010/main" val="11318954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t>
            </a:r>
            <a:r>
              <a:rPr sz="1250" b="0" i="0" u="none" cap="none">
                <a:solidFill>
                  <a:srgbClr val="5A6377"/>
                </a:solidFill>
                <a:latin typeface="Calibri"/>
                <a:ea typeface="Calibri"/>
                <a:cs typeface="Calibri"/>
              </a:rPr>
              <a:t>A constitution-oriented developing atom</a:t>
            </a:r>
            <a:r>
              <a:rPr sz="1250" b="0" i="0" u="none" cap="none">
                <a:solidFill>
                  <a:srgbClr val="5A6377"/>
                </a:solidFill>
                <a:latin typeface="Calibri"/>
                <a:ea typeface="Calibri"/>
                <a:cs typeface="Calibri"/>
              </a:rPr>
              <a:t> takes in particles — hungry atoms and overfull atoms completing each other — within a suitable environment; </a:t>
            </a:r>
            <a:r>
              <a:rPr sz="1250" b="0" i="0" u="none" cap="none">
                <a:solidFill>
                  <a:srgbClr val="5A6377"/>
                </a:solidFill>
                <a:latin typeface="Calibri"/>
                <a:ea typeface="Calibri"/>
                <a:cs typeface="Calibri"/>
              </a:rPr>
              <a:t>once the required particles are in place, it closes. This is an ontological account; no accepted empirical procedure currently identifies the threshold.</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Effect names the act’s reach or consequence; the text does not add a separate cosmic reward-and-punishment mechanism.</a:t>
            </a:r>
            <a:r>
              <a:rPr sz="1250" b="0" i="0" u="none" cap="none">
                <a:solidFill>
                  <a:srgbClr val="5A6377"/>
                </a:solidFill>
                <a:latin typeface="Calibri"/>
                <a:ea typeface="Calibri"/>
                <a:cs typeface="Calibri"/>
              </a:rPr>
              <a: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Composition and Human Assembly</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Physicochemical units compose into mixtures, compounds, cells, and bodies through definite constituent relations. Human families and societies arise differently: through recognised relationships, evaluation, and mutual satisfaction.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T1 occurs only when an atom reaches constitutional completeness. Insentient assemblies persist or decline definitely according to whether constituent relationships are fulfilled.</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&amp;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first three are composition. Humane assemblies are relational achievements, not a further chemical tier.</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alignment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825"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827"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T1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procedure currently identifies T1,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human living they answer one question — what makes me happy? — by organising either around body-identification or around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mistakes the body for the self — its present faculties organise around accumulation, comfort, and safety; mis-evaluation follows</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 true nature and coexistence — resolve, desire, thought, and hope align around the core self — undivided society, universal orderliness</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Delusion directs evaluation toward the body; awakening aligns it with coexistence. Study supplies understanding; practice evidences and stabilises that alignment.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(root of delusion: body mistaken for jeevan)  ·  MVD Ch. 17 (ego → stubbornness → delusion)  ·  JV p. 61; MVD p. 13 (§1.15)</a:t>
            </a:r>
          </a:p>
        </p:txBody>
      </p:sp>
    </p:spTree>
    <p:extLst>
      <p:ext uri="{BB962C8B-B14F-4D97-AF65-F5344CB8AC3E}">
        <p14:creationId xmlns:p14="http://schemas.microsoft.com/office/powerpoint/2010/main" val="4439556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drive comes to rest when relationships across nature are fulfilled and made evident in coexistence — not because Omnipotence becomes a knower, but because awakened jeevan realises and evidences the coexistence in which it has always existed. Recognising and fulfilling become its living proof.</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in projection</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projected outward is authenticity — knowledge, wisdom, and science unfolding into conduct.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in reflection</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is jeevan filled with realisation. When resolve turns inward to the core self, self-realisation and realisation in coexistence arrive together.</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Knowable — and no merger</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What is known is existence itself — nature saturated in Omnipotence. Knowledge, knower, and known become uniform as roles in one bond — not a merger: the knower remains a distinct jeevan.</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“In the state of realisation in existence, uniformity in knowledge, knowable &amp; knower has been observed to be in the form of coexistence” — AVD p. 217 · SB p. 81 · MVD pp. 14–15</a:t>
            </a:r>
          </a:p>
        </p:txBody>
      </p:sp>
    </p:spTree>
    <p:extLst>
      <p:ext uri="{BB962C8B-B14F-4D97-AF65-F5344CB8AC3E}">
        <p14:creationId xmlns:p14="http://schemas.microsoft.com/office/powerpoint/2010/main" val="426036076"/>
      </p:ext>
    </p:extLst>
  </p:cSld>
</p:sld>
</file>

<file path=ppt/slides/slide25.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through five dimensions of social continuity.</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a:t>
            </a:r>
          </a:p>
        </p:txBody>
      </p:sp>
    </p:spTree>
    <p:extLst>
      <p:ext uri="{BB962C8B-B14F-4D97-AF65-F5344CB8AC3E}">
        <p14:creationId xmlns:p14="http://schemas.microsoft.com/office/powerpoint/2010/main" val="222854684"/>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2026-07-22T03:30:11.6580000Z</dcterms:created>
  <dcterms:modified xsi:type="dcterms:W3CDTF">2026-07-22T03:30:11.6580000Z</dcterms:modified>
</coreProperties>
</file>