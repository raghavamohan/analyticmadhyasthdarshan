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418b768fb9a844d1" Type="http://schemas.openxmlformats.org/officeDocument/2006/relationships/officeDocument" Target="ppt/presentation.xml"/><Relationship Id="Rd3329aafc4b54335" Type="http://schemas.openxmlformats.org/package/2006/relationships/metadata/core-properties" Target="docProps/core.xml"/><Relationship Id="Ree51a243adb540f7"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c60c548412b845a9"/>
  </p:sldMasterIdLst>
  <p:notesMasterIdLst>
    <p:notesMasterId xmlns:r="http://schemas.openxmlformats.org/officeDocument/2006/relationships" r:id="R61833166a92d4d9a"/>
  </p:notesMasterIdLst>
  <p:sldIdLst>
    <p:sldId xmlns:r="http://schemas.openxmlformats.org/officeDocument/2006/relationships" id="256" r:id="Rf3701083f24e4753"/>
    <p:sldId xmlns:r="http://schemas.openxmlformats.org/officeDocument/2006/relationships" id="257" r:id="Rcc33e57f9c91499f"/>
    <p:sldId xmlns:r="http://schemas.openxmlformats.org/officeDocument/2006/relationships" id="258" r:id="R5e7945a87e754aaf"/>
    <p:sldId xmlns:r="http://schemas.openxmlformats.org/officeDocument/2006/relationships" id="259" r:id="Rbf2afbce72eb4847"/>
    <p:sldId xmlns:r="http://schemas.openxmlformats.org/officeDocument/2006/relationships" id="260" r:id="Rc5e2b6117e864e4d"/>
    <p:sldId xmlns:r="http://schemas.openxmlformats.org/officeDocument/2006/relationships" id="261" r:id="R31388e7c88ae458e"/>
    <p:sldId xmlns:r="http://schemas.openxmlformats.org/officeDocument/2006/relationships" id="262" r:id="Rc3f8382af9d04675"/>
    <p:sldId xmlns:r="http://schemas.openxmlformats.org/officeDocument/2006/relationships" id="263" r:id="R4bbf6b4c092b4946"/>
    <p:sldId xmlns:r="http://schemas.openxmlformats.org/officeDocument/2006/relationships" id="264" r:id="R856b00ff4e984d96"/>
    <p:sldId xmlns:r="http://schemas.openxmlformats.org/officeDocument/2006/relationships" id="265" r:id="Rde11a7c9d2fd40c0"/>
    <p:sldId xmlns:r="http://schemas.openxmlformats.org/officeDocument/2006/relationships" id="266" r:id="R5f8f4ede99794f81"/>
    <p:sldId xmlns:r="http://schemas.openxmlformats.org/officeDocument/2006/relationships" id="267" r:id="R315a1d78f69d4ff6"/>
    <p:sldId xmlns:r="http://schemas.openxmlformats.org/officeDocument/2006/relationships" id="268" r:id="R8997fde8edcf4278"/>
    <p:sldId xmlns:r="http://schemas.openxmlformats.org/officeDocument/2006/relationships" id="269" r:id="R2a1b0b014d284b7b"/>
    <p:sldId xmlns:r="http://schemas.openxmlformats.org/officeDocument/2006/relationships" id="270" r:id="Rcd7a7d85698d479b"/>
    <p:sldId xmlns:r="http://schemas.openxmlformats.org/officeDocument/2006/relationships" id="271" r:id="R4b66368af6a44210"/>
    <p:sldId xmlns:r="http://schemas.openxmlformats.org/officeDocument/2006/relationships" id="272" r:id="Rdeefed849069497e"/>
    <p:sldId xmlns:r="http://schemas.openxmlformats.org/officeDocument/2006/relationships" id="273" r:id="Rf80df657513444b3"/>
    <p:sldId xmlns:r="http://schemas.openxmlformats.org/officeDocument/2006/relationships" id="274" r:id="Ref9242009dc648bc"/>
    <p:sldId xmlns:r="http://schemas.openxmlformats.org/officeDocument/2006/relationships" id="275" r:id="Rb98bc0b0866241c3"/>
    <p:sldId xmlns:r="http://schemas.openxmlformats.org/officeDocument/2006/relationships" id="276" r:id="R8133054df5014c12"/>
    <p:sldId xmlns:r="http://schemas.openxmlformats.org/officeDocument/2006/relationships" id="277" r:id="R6121794f99254638"/>
    <p:sldId xmlns:r="http://schemas.openxmlformats.org/officeDocument/2006/relationships" id="278" r:id="R1ba55feaa796431e"/>
    <p:sldId xmlns:r="http://schemas.openxmlformats.org/officeDocument/2006/relationships" id="279" r:id="Rfe7191d554444ef1"/>
    <p:sldId xmlns:r="http://schemas.openxmlformats.org/officeDocument/2006/relationships" id="280" r:id="R62a447633ce748b0"/>
    <p:sldId xmlns:r="http://schemas.openxmlformats.org/officeDocument/2006/relationships" id="281" r:id="R34b72fb5474940dd"/>
    <p:sldId xmlns:r="http://schemas.openxmlformats.org/officeDocument/2006/relationships" id="282" r:id="Rb1fc0de7e3b54ef8"/>
    <p:sldId xmlns:r="http://schemas.openxmlformats.org/officeDocument/2006/relationships" id="283" r:id="Rc4fb2f7694754773"/>
    <p:sldId xmlns:r="http://schemas.openxmlformats.org/officeDocument/2006/relationships" id="284" r:id="Rdc8419624a6145fb"/>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7aa0f816a3d4b97" Type="http://schemas.openxmlformats.org/officeDocument/2006/relationships/presProps" Target="presProps.xml"/><Relationship Id="R1ba55feaa796431e" Type="http://schemas.openxmlformats.org/officeDocument/2006/relationships/slide" Target="slides/slide23.xml"/><Relationship Id="R2a1b0b014d284b7b" Type="http://schemas.openxmlformats.org/officeDocument/2006/relationships/slide" Target="slides/slide14.xml"/><Relationship Id="R31388e7c88ae458e" Type="http://schemas.openxmlformats.org/officeDocument/2006/relationships/slide" Target="slides/slide6.xml"/><Relationship Id="R315a1d78f69d4ff6" Type="http://schemas.openxmlformats.org/officeDocument/2006/relationships/slide" Target="slides/slide12.xml"/><Relationship Id="R34b72fb5474940dd" Type="http://schemas.openxmlformats.org/officeDocument/2006/relationships/slide" Target="slides/slide26.xml"/><Relationship Id="R4b66368af6a44210" Type="http://schemas.openxmlformats.org/officeDocument/2006/relationships/slide" Target="slides/slide16.xml"/><Relationship Id="R4bbf6b4c092b4946" Type="http://schemas.openxmlformats.org/officeDocument/2006/relationships/slide" Target="slides/slide8.xml"/><Relationship Id="R534688e7e63c4af4" Type="http://schemas.openxmlformats.org/officeDocument/2006/relationships/tableStyles" Target="tableStyles.xml"/><Relationship Id="R5e7945a87e754aaf" Type="http://schemas.openxmlformats.org/officeDocument/2006/relationships/slide" Target="slides/slide3.xml"/><Relationship Id="R5f8f4ede99794f81" Type="http://schemas.openxmlformats.org/officeDocument/2006/relationships/slide" Target="slides/slide11.xml"/><Relationship Id="R6121794f99254638" Type="http://schemas.openxmlformats.org/officeDocument/2006/relationships/slide" Target="slides/slide22.xml"/><Relationship Id="R61833166a92d4d9a" Type="http://schemas.openxmlformats.org/officeDocument/2006/relationships/notesMaster" Target="notesMasters/notesMaster1.xml"/><Relationship Id="R62a447633ce748b0" Type="http://schemas.openxmlformats.org/officeDocument/2006/relationships/slide" Target="slides/slide25.xml"/><Relationship Id="R682e4a891f65464b" Type="http://schemas.openxmlformats.org/officeDocument/2006/relationships/theme" Target="theme/theme1.xml"/><Relationship Id="R8133054df5014c12" Type="http://schemas.openxmlformats.org/officeDocument/2006/relationships/slide" Target="slides/slide21.xml"/><Relationship Id="R856b00ff4e984d96" Type="http://schemas.openxmlformats.org/officeDocument/2006/relationships/slide" Target="slides/slide9.xml"/><Relationship Id="R8997fde8edcf4278" Type="http://schemas.openxmlformats.org/officeDocument/2006/relationships/slide" Target="slides/slide13.xml"/><Relationship Id="Rb1fc0de7e3b54ef8" Type="http://schemas.openxmlformats.org/officeDocument/2006/relationships/slide" Target="slides/slide27.xml"/><Relationship Id="Rb98bc0b0866241c3" Type="http://schemas.openxmlformats.org/officeDocument/2006/relationships/slide" Target="slides/slide20.xml"/><Relationship Id="Rbf2afbce72eb4847" Type="http://schemas.openxmlformats.org/officeDocument/2006/relationships/slide" Target="slides/slide4.xml"/><Relationship Id="Rc3f8382af9d04675" Type="http://schemas.openxmlformats.org/officeDocument/2006/relationships/slide" Target="slides/slide7.xml"/><Relationship Id="Rc4fb2f7694754773" Type="http://schemas.openxmlformats.org/officeDocument/2006/relationships/slide" Target="slides/slide28.xml"/><Relationship Id="Rc5e2b6117e864e4d" Type="http://schemas.openxmlformats.org/officeDocument/2006/relationships/slide" Target="slides/slide5.xml"/><Relationship Id="Rc60c548412b845a9" Type="http://schemas.openxmlformats.org/officeDocument/2006/relationships/slideMaster" Target="slideMasters/slideMaster1.xml"/><Relationship Id="Rcc33e57f9c91499f" Type="http://schemas.openxmlformats.org/officeDocument/2006/relationships/slide" Target="slides/slide2.xml"/><Relationship Id="Rcd7a7d85698d479b" Type="http://schemas.openxmlformats.org/officeDocument/2006/relationships/slide" Target="slides/slide15.xml"/><Relationship Id="Rdc8419624a6145fb" Type="http://schemas.openxmlformats.org/officeDocument/2006/relationships/slide" Target="slides/slide29.xml"/><Relationship Id="Rdd402f37fbe84288" Type="http://schemas.openxmlformats.org/officeDocument/2006/relationships/viewProps" Target="viewProps.xml"/><Relationship Id="Rde11a7c9d2fd40c0" Type="http://schemas.openxmlformats.org/officeDocument/2006/relationships/slide" Target="slides/slide10.xml"/><Relationship Id="Rdeefed849069497e" Type="http://schemas.openxmlformats.org/officeDocument/2006/relationships/slide" Target="slides/slide17.xml"/><Relationship Id="Ref9242009dc648bc" Type="http://schemas.openxmlformats.org/officeDocument/2006/relationships/slide" Target="slides/slide19.xml"/><Relationship Id="Rf3701083f24e4753" Type="http://schemas.openxmlformats.org/officeDocument/2006/relationships/slide" Target="slides/slide1.xml"/><Relationship Id="Rf80df657513444b3" Type="http://schemas.openxmlformats.org/officeDocument/2006/relationships/slide" Target="slides/slide18.xml"/><Relationship Id="Rfe7191d554444ef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b94d33487f2b45f7"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49b28142b092425a" Type="http://schemas.openxmlformats.org/officeDocument/2006/relationships/slide" Target="../slides/slide1.xml"/><Relationship Id="R719aab47333f4245"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5cc7d84ca8cb426f" Type="http://schemas.openxmlformats.org/officeDocument/2006/relationships/slide" Target="../slides/slide2.xml"/><Relationship Id="Rf041fe99008749b3"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549d802ea32645c1" Type="http://schemas.openxmlformats.org/officeDocument/2006/relationships/slide" Target="../slides/slide3.xml"/><Relationship Id="R7dc2708a59a74e8a"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7b55df5d8871425b" Type="http://schemas.openxmlformats.org/officeDocument/2006/relationships/notesMaster" Target="../notesMasters/notesMaster1.xml"/><Relationship Id="Re0e2fd30a8b64c8f"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752fc518d85b4ea9" Type="http://schemas.openxmlformats.org/officeDocument/2006/relationships/notesMaster" Target="../notesMasters/notesMaster1.xml"/><Relationship Id="Ra23ef346ca1c4764"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43758af146e24fd8" Type="http://schemas.openxmlformats.org/officeDocument/2006/relationships/slide" Target="../slides/slide6.xml"/><Relationship Id="Rcf7b8cc049834d34"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216f4af8787f48cd" Type="http://schemas.openxmlformats.org/officeDocument/2006/relationships/notesMaster" Target="../notesMasters/notesMaster1.xml"/><Relationship Id="R8639008cd0a74cd3"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4532f0397b9b4994" Type="http://schemas.openxmlformats.org/officeDocument/2006/relationships/notesMaster" Target="../notesMasters/notesMaster1.xml"/><Relationship Id="R8304a9ecbf5f4555"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2215c472514b43c9" Type="http://schemas.openxmlformats.org/officeDocument/2006/relationships/slide" Target="../slides/slide9.xml"/><Relationship Id="Re6b442695b0844d9"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f1e72a2b8864015" Type="http://schemas.openxmlformats.org/officeDocument/2006/relationships/slide" Target="../slides/slide10.xml"/><Relationship Id="R608511024514465f"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19be928e546c4900" Type="http://schemas.openxmlformats.org/officeDocument/2006/relationships/slide" Target="../slides/slide11.xml"/><Relationship Id="R60b57a8199d64ce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42825f39e402470e" Type="http://schemas.openxmlformats.org/officeDocument/2006/relationships/slide" Target="../slides/slide12.xml"/><Relationship Id="Rf76ad819cd3f45c8"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5b1727bc1fd647ef" Type="http://schemas.openxmlformats.org/officeDocument/2006/relationships/slide" Target="../slides/slide13.xml"/><Relationship Id="Rb0e2156f302f4564"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2d2eff4fd2d946c7" Type="http://schemas.openxmlformats.org/officeDocument/2006/relationships/notesMaster" Target="../notesMasters/notesMaster1.xml"/><Relationship Id="Rd20f86ee2bf643b9"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2ce0ecdf6a448e2" Type="http://schemas.openxmlformats.org/officeDocument/2006/relationships/notesMaster" Target="../notesMasters/notesMaster1.xml"/><Relationship Id="R31da136efa9645d8"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21aec7c8828a4d3e" Type="http://schemas.openxmlformats.org/officeDocument/2006/relationships/notesMaster" Target="../notesMasters/notesMaster1.xml"/><Relationship Id="R37598b05d8b14f74"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7ca7ee7553eb4b3f" Type="http://schemas.openxmlformats.org/officeDocument/2006/relationships/notesMaster" Target="../notesMasters/notesMaster1.xml"/><Relationship Id="Rd9dfa99900294eda"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1722df104b284be7" Type="http://schemas.openxmlformats.org/officeDocument/2006/relationships/slide" Target="../slides/slide18.xml"/><Relationship Id="R68330b1c2b404006"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5f04f7a9b763408f" Type="http://schemas.openxmlformats.org/officeDocument/2006/relationships/slide" Target="../slides/slide19.xml"/><Relationship Id="Rc1051ea3cff54386"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1a8a89330587469b" Type="http://schemas.openxmlformats.org/officeDocument/2006/relationships/notesMaster" Target="../notesMasters/notesMaster1.xml"/><Relationship Id="R8b2252decc69495e"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eebeacbaf12c4b9d" Type="http://schemas.openxmlformats.org/officeDocument/2006/relationships/notesMaster" Target="../notesMasters/notesMaster1.xml"/><Relationship Id="Rf0ca070fa66b44af"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56681ca4740b492a" Type="http://schemas.openxmlformats.org/officeDocument/2006/relationships/slide" Target="../slides/slide22.xml"/><Relationship Id="Rcfba4dc18b484aa7"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3c8f557272f847a5" Type="http://schemas.openxmlformats.org/officeDocument/2006/relationships/notesMaster" Target="../notesMasters/notesMaster1.xml"/><Relationship Id="R4a6391a120b34093"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130e826f22bd4846" Type="http://schemas.openxmlformats.org/officeDocument/2006/relationships/notesMaster" Target="../notesMasters/notesMaster1.xml"/><Relationship Id="R75cbe5f6d7a64c7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8f3162555e3c4b37" Type="http://schemas.openxmlformats.org/officeDocument/2006/relationships/notesMaster" Target="../notesMasters/notesMaster1.xml"/><Relationship Id="Red10933dca1b455f"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811511861d5143ef" Type="http://schemas.openxmlformats.org/officeDocument/2006/relationships/notesMaster" Target="../notesMasters/notesMaster1.xml"/><Relationship Id="R97e5b611fc3b407e"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59fdd72d077649fc" Type="http://schemas.openxmlformats.org/officeDocument/2006/relationships/notesMaster" Target="../notesMasters/notesMaster1.xml"/><Relationship Id="Rd0554d7b02554c5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394bb95a98de4b4c" Type="http://schemas.openxmlformats.org/officeDocument/2006/relationships/notesMaster" Target="../notesMasters/notesMaster1.xml"/><Relationship Id="Re9c91baf52a44568"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6815fbe63eab4823" Type="http://schemas.openxmlformats.org/officeDocument/2006/relationships/slide" Target="../slides/slide29.xml"/><Relationship Id="R81186b601a6e4814"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and thank you for joining.</a:t>
            </a:r>
          </a:p>
          <a:p xmlns:a="http://schemas.openxmlformats.org/drawingml/2006/main">
            <a:r>
              <a:t>You do not need any prior familiarity with Madhyasth Darshan, or with formal philosophy, to follow this session. I will use ordinary English first, and introduce source terms only when they help. Our aim is not persuasion or devotion. It is to examine one coherent account of reality — testing its definitions and internal consistency.</a:t>
            </a:r>
          </a:p>
          <a:p xmlns:a="http://schemas.openxmlformats.org/drawingml/2006/main">
            <a:r>
              <a:t>Madhyasth Darshan — also called Co-existentialism — was propounded by Shri A. Nagraj. The name points to a thesis we will unpack later: order in nature is mediative and inherent, not imposed by an external governor.</a:t>
            </a:r>
          </a:p>
          <a:p xmlns:a="http://schemas.openxmlformats.org/drawingml/2006/main">
            <a:r>
              <a:t>Here is the one claim to hold for the whole talk: existence is coexistence. Reality is the ever-present togetherness of a formless, all-pervasive ground and countless real, bounded units of nature, each saturated in that ground. Everything else — sentience, values, justice, society — unfolds from this picture.</a:t>
            </a:r>
          </a:p>
          <a:p xmlns:a="http://schemas.openxmlformats.org/drawingml/2006/main">
            <a:r>
              <a:t>One word about vocabulary. The published translations often print “Omnipotence” for the ground; the slides and I will say Omnipresence. Same reality, different English label — you will see the translation's word only inside quotations.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details, here is the map of the argument. One claim — existence is coexistence — moves through three parts.</a:t>
            </a:r>
          </a:p>
          <a:p xmlns:a="http://schemas.openxmlformats.org/drawingml/2006/main">
            <a:r>
              <a:t>First: what is real, and how it is ordered. There is an all-pervasive ground and countable units. Each unit is inseparable from the ground and stands in definite relations to other units. We examine saturation, the four aspects of a unit, the perpetual world, and the four orders of nature with their modes of conformance.</a:t>
            </a:r>
          </a:p>
          <a:p xmlns:a="http://schemas.openxmlformats.org/drawingml/2006/main">
            <a:r>
              <a:t>Second: how development proceeds along two lines. Composition forms molecules, cells and bodies. Development in an atom reaches constitutional completeness as the sentient unit, jeevan. Across both lines, activity includes effort, motion and result together.</a:t>
            </a:r>
          </a:p>
          <a:p xmlns:a="http://schemas.openxmlformats.org/drawingml/2006/main">
            <a:r>
              <a:t>Third: how sentient living becomes awakened conduct. The body supplies a medium for jeevan's faculties. We examine their harmonies, the difference between sensitivity and understanding, intentional action, and completeness in understanding and conduct. That prepares us to examine values, justice, realisation, expression and humane tradition.</a:t>
            </a:r>
          </a:p>
          <a:p xmlns:a="http://schemas.openxmlformats.org/drawingml/2006/main">
            <a:r>
              <a:t>The body line and the sentient-unit line meet in animal and human living. Their meeting, and the different contribution of each, is the connection we will keep returning 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Any serious account of reality has to face a small set of questions. Let us name them before we give this tradition’s answers.</a:t>
            </a:r>
          </a:p>
          <a:p xmlns:a="http://schemas.openxmlformats.org/drawingml/2006/main">
            <a:r>
              <a:t>What is existence? Is there one fundamental reality, or many — and how are they related?</a:t>
            </a:r>
          </a:p>
          <a:p xmlns:a="http://schemas.openxmlformats.org/drawingml/2006/main">
            <a:r>
              <a:t>What exists? What are the basic constituents, and what is each of them?</a:t>
            </a:r>
          </a:p>
          <a:p xmlns:a="http://schemas.openxmlformats.org/drawingml/2006/main">
            <a:r>
              <a:t>Does what exists begin? Did reality originate at some time — or do only configurations begin and end?</a:t>
            </a:r>
          </a:p>
          <a:p xmlns:a="http://schemas.openxmlformats.org/drawingml/2006/main">
            <a:r>
              <a:t>Does the self begin or end with the body?</a:t>
            </a:r>
          </a:p>
          <a:p xmlns:a="http://schemas.openxmlformats.org/drawingml/2006/main">
            <a:r>
              <a:t>Is the plural world finally real, or only an appearance?</a:t>
            </a:r>
          </a:p>
          <a:p xmlns:a="http://schemas.openxmlformats.org/drawingml/2006/main">
            <a:r>
              <a:t>And sixth: how can what exists be known — what must be understood, and at what scope?</a:t>
            </a:r>
          </a:p>
          <a:p xmlns:a="http://schemas.openxmlformats.org/drawingml/2006/main">
            <a:r>
              <a:t>Different traditions answer these differently. Madhyasth Darshan does not answer them with six separate doctrines. One picture — coexistence — is meant to answer all six at once.</a:t>
            </a:r>
          </a:p>
          <a:p xmlns:a="http://schemas.openxmlformats.org/drawingml/2006/main">
            <a:r>
              <a:t>We will return to this list at the end with the answers filled in. Along the way you will also see how knowing widens, where the developmental drive comes to rest, and how different kinds of evidence are kept distinct.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map is the organising picture for what follows. You do not need to memorise every node. Use it as a place to return when later slides feel dense.</a:t>
            </a:r>
          </a:p>
          <a:p xmlns:a="http://schemas.openxmlformats.org/drawingml/2006/main">
            <a:r>
              <a:t>At the top: coexistence — the ground and countless units, inseparable without losing their distinction. Then, on the unit side: four aspects of every unit; relationships; four orders of nature; and two developmental lines.</a:t>
            </a:r>
          </a:p>
          <a:p xmlns:a="http://schemas.openxmlformats.org/drawingml/2006/main">
            <a:r>
              <a:t>Notice the fork. Bodies belong to compositional building. The sentient unit is the result of a different line — development in an atom. The two meet in animal and human living.</a:t>
            </a:r>
          </a:p>
          <a:p xmlns:a="http://schemas.openxmlformats.org/drawingml/2006/main">
            <a:r>
              <a:t>Later we will name three milestones on the sentient path: the arrival of sentience, then settlement of inner seeking, then authentic conduct. Those are not further material stages.</a:t>
            </a:r>
          </a:p>
          <a:p xmlns:a="http://schemas.openxmlformats.org/drawingml/2006/main">
            <a:r>
              <a:t>Most of the deck is a zoom into one region of this 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enter the foundations — what this account says exists.</a:t>
            </a:r>
          </a:p>
          <a:p xmlns:a="http://schemas.openxmlformats.org/drawingml/2006/main">
            <a:r>
              <a:t>Existence has two inseparable aspects.</a:t>
            </a:r>
          </a:p>
          <a:p xmlns:a="http://schemas.openxmlformats.org/drawingml/2006/main">
            <a:r>
              <a:t>First, the ground — Omnipresence. Formless, all-pervasive, transparent, permeating, non-transforming, immeasurable. Actionless energy: it acts not at all, yet every unit is energised and regulated in it. There is no place where it is absent. The pervasive ground is prakash, light; realisation in it is described as enduring prakash.</a:t>
            </a:r>
          </a:p>
          <a:p xmlns:a="http://schemas.openxmlformats.org/drawingml/2006/main">
            <a:r>
              <a:t>Two words make this relation clearer. *Permeating* concerns the unit: the pervasive reality passes through every unit, which remains saturated in it. *Transparent* concerns mutuality: units become manifest to one another through imaging, which provides a basis of recognition. Transparency, permeability, and pervasiveness together evidence one indivisible reality.</a:t>
            </a:r>
          </a:p>
          <a:p xmlns:a="http://schemas.openxmlformats.org/drawingml/2006/main">
            <a:r>
              <a:t>Second, units of nature. Formful, active, countable. Each is bounded and saturated in the ground. Each has form, capacities, a way of participating, and an inseparable innateness — we will walk those four shortly.</a:t>
            </a:r>
          </a:p>
          <a:p xmlns:a="http://schemas.openxmlformats.org/drawingml/2006/main">
            <a:r>
              <a:t>Do not collapse levels. At the root, nature is analysed as atomic units — a centre with orbiting parts. Compounds and bodies are composite units. Body and sentient unit together are a joint form. Families and societies are relational assemblies.</a:t>
            </a:r>
          </a:p>
          <a:p xmlns:a="http://schemas.openxmlformats.org/drawingml/2006/main">
            <a:r>
              <a:t>These two poles were never separate. Separation of a unit from the saturated whole never happens. The ground does not change. Nature saturated in it is dynamic. Therefore all change is unit-activity.</a:t>
            </a:r>
          </a:p>
          <a:p xmlns:a="http://schemas.openxmlformats.org/drawingml/2006/main">
            <a:r>
              <a:t>One naming caution. The texts list many English names for the ground — including Knowledge and Consciousness. Those names do not mean a mind that knows. Active knowing belongs to the sentient unit, never to the ground.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Saturation names the inseparability of units and Omnipresence. Every formful unit is soaked, submerged, and surrounded in the same pervasive reality.</a:t>
            </a:r>
          </a:p>
          <a:p xmlns:a="http://schemas.openxmlformats.org/drawingml/2006/main">
            <a:r>
              <a:t>Picture a cloth immersed in water. Water is within the cloth, the cloth is submerged, and water surrounds it on every side. This illustration helps us picture the three relations. Its limit is equally simple: cloth can be removed from water, whereas a unit is always present in formless Omnipresence.</a:t>
            </a:r>
          </a:p>
          <a:p xmlns:a="http://schemas.openxmlformats.org/drawingml/2006/main">
            <a:r>
              <a:t>Soakedness means that the unit is endowed with energy and force. Submersion means that it is active and stands in mutual recognition with other units. Surroundedness means that it remains regulated in definite relations. We will meet this regulation again alongside the four orders of nature.</a:t>
            </a:r>
          </a:p>
          <a:p xmlns:a="http://schemas.openxmlformats.org/drawingml/2006/main">
            <a:r>
              <a:t>These are connected aspects of one saturation. Energy becomes evident in activity, recognition in mutuality, and regulation in definite conduct. The ground is prakash, light; each unit saturated in it is prakashman, manifest. The texts explicitly connect this manifestness with satta permeating the unit and its being endowed with force. Manifestness belongs to all units, including sentient jeevan.</a:t>
            </a:r>
          </a:p>
          <a:p xmlns:a="http://schemas.openxmlformats.org/drawingml/2006/main">
            <a:r>
              <a:t>Because the pervasive reality permeates every unit, dividing a unit leaves every fragment saturated. The texts connect this continuing presence with their doctrine that what exists is not annihilated. Particular arrangements can end while their constituents remain. We will return to that distinction when we consider perpetuity and time.</a:t>
            </a:r>
          </a:p>
          <a:p xmlns:a="http://schemas.openxmlformats.org/drawingml/2006/main">
            <a:r>
              <a:t>The next slide follows the relation between units: how they become manifest to one another and participate in complementarity.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unit is saturated in the ground. Units also stand in mutuality with one another. Complementarity names their definite participation in the wider order of coexistence.</a:t>
            </a:r>
          </a:p>
          <a:p xmlns:a="http://schemas.openxmlformats.org/drawingml/2006/main">
            <a:r>
              <a:t>Recognition begins with units becoming manifest in mutual facing. Their image, called pratibimb, provides a basis of mutual recognition. In insentient nature, recognition means definite responsiveness: heat is accepted and redistributed, particles maintain definite relations, and atoms combine under definite conditions. A unit's relative powers exert effects in these interactions. Human understanding involves the further knowing activities of jeevan.</a:t>
            </a:r>
          </a:p>
          <a:p xmlns:a="http://schemas.openxmlformats.org/drawingml/2006/main">
            <a:r>
              <a:t>Every unit is a whole along with its environment. It retains its own constitution while participating in definite relations. Value, in the universal sense, is essentiality and participation in orderliness — what a unit contributes through its conduct. Usefulness is that essentiality as it appears in objects.</a:t>
            </a:r>
          </a:p>
          <a:p xmlns:a="http://schemas.openxmlformats.org/drawingml/2006/main">
            <a:r>
              <a:t>Fulfilment is the participation that follows recognition, according to constitution and order. Below the human order it follows definite conformance. In human living, knowing and believing must guide recognition and fulfilment, and this can succeed or fail.</a:t>
            </a:r>
          </a:p>
          <a:p xmlns:a="http://schemas.openxmlformats.org/drawingml/2006/main">
            <a:r>
              <a:t>This gives development its direction in the account: fuller participation in complementarity. Later we will examine how that direction becomes conscious responsibility in human relationships.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is every unit? Four inseparable aspects — not a static checklist pasted onto things, but how a definite bearer shows up in the world.</a:t>
            </a:r>
          </a:p>
          <a:p xmlns:a="http://schemas.openxmlformats.org/drawingml/2006/main">
            <a:r>
              <a:t>Form is the real configuration of the unit: shape, volume, and density. The constituted unit is bimb. Its image in mutual facing is pratibimb, and being imaged is pratibimban. Take the peepal tree: one bounded living form with trunk, branches, leaves, and roots.</a:t>
            </a:r>
          </a:p>
          <a:p xmlns:a="http://schemas.openxmlformats.org/drawingml/2006/main">
            <a:r>
              <a:t>Properties are relative powers inseparable from their bearer. In the peepal, nutrition, repair, seed production, and degeneration become effective under definite conditions.</a:t>
            </a:r>
          </a:p>
          <a:p xmlns:a="http://schemas.openxmlformats.org/drawingml/2006/main">
            <a:r>
              <a:t>Essential nature is usefulness in mutuality. The peepal's effects are vitalising or devitalising according to the affected body and conditions. Its being alive or decomposing does not alone decide which effect it has on another body.</a:t>
            </a:r>
          </a:p>
          <a:p xmlns:a="http://schemas.openxmlformats.org/drawingml/2006/main">
            <a:r>
              <a:t>Dharma means inseparable innateness: what belongs to the unit and is fulfilled in its activity. For the peepal: existence plus growth. Seed-conformance is how it conducts itself, not an extra label piled on top.</a:t>
            </a:r>
          </a:p>
          <a:p xmlns:a="http://schemas.openxmlformats.org/drawingml/2006/main">
            <a:r>
              <a:t>The whole unit is manifest, or prakashman, with all four aspects, grounded in its saturation in satta. In the context of mutuality, prakash names a unit’s imaging. This describes how units are manifest to one another within the wider account of light and manifestness; completed human understanding also requires knowing their relations and fulfilment. An image alone does not deliver that understanding. Animal recognition of essential nature becomes evident in friendliness and opposition; human living brings the exchange of values and evaluation of dharma.</a:t>
            </a:r>
          </a:p>
          <a:p xmlns:a="http://schemas.openxmlformats.org/drawingml/2006/main">
            <a:r>
              <a:t>And notice: the tree as a composite can die while its material constituents persist. Persistence of existence is not persistence of one configuration.</a:t>
            </a:r>
          </a:p>
          <a:p xmlns:a="http://schemas.openxmlformats.org/drawingml/2006/main">
            <a:r>
              <a:t>Every unit also presents, communicates, and expresses its characteristic contribution according to its constitution and order. In human living these terms acquire the further meaning of purposefully making understanding available through speech, work, and behaviour. We will develop that meaning near the end.</a:t>
            </a:r>
          </a:p>
          <a:p xmlns:a="http://schemas.openxmlformats.org/drawingml/2006/main">
            <a:r>
              <a:t>The same unit is known through three complementary truths. Inherent truth is what the unit is. Positional truth is how it stands among others. Existential truth is that it exists in Omnipresence.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described units and their mutuality. Now consider what changes, what persists, and how time enters this account.</a:t>
            </a:r>
          </a:p>
          <a:p xmlns:a="http://schemas.openxmlformats.org/drawingml/2006/main">
            <a:r>
              <a:t>Time is the duration of activity, reckoned from recurrent activities — a rotation, a year. The ground does not transform, so it is not temporal in the way unit-activity is measured.</a:t>
            </a:r>
          </a:p>
          <a:p xmlns:a="http://schemas.openxmlformats.org/drawingml/2006/main">
            <a:r>
              <a:t>The texts call Omnipresence the supreme cause in a sustaining sense: every activity exists as nature saturated in it. Composition, decomposition and development occur through active units in mutuality. The ground remains unchanged.</a:t>
            </a:r>
          </a:p>
          <a:p xmlns:a="http://schemas.openxmlformats.org/drawingml/2006/main">
            <a:r>
              <a:t>Existence is perpetual. What exists neither arises from non-being nor disappears into it. Particular arrangements of units form and end. A compound decomposes and a body dies; their constituents continue in other relations. Perpetuity belongs to coexistence, while individual configurations have their own histories.</a:t>
            </a:r>
          </a:p>
          <a:p xmlns:a="http://schemas.openxmlformats.org/drawingml/2006/main">
            <a:r>
              <a:t>The persistence of one organised individual needs a further account of its constitution. When we reach the sentient unit, jeevan, constitutional completeness supplies Madhyasth Darshan's specific account of that persistence.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Units organise into four stable orders: material; bio or living-plant order; animal; and knowledge — the human order.</a:t>
            </a:r>
          </a:p>
          <a:p xmlns:a="http://schemas.openxmlformats.org/drawingml/2006/main">
            <a:r>
              <a:t>Read the table downward. Innateness is cumulative. Matter has existence. The bio order adds growth. The animal order adds hope to live. The human order adds happiness. Higher orders include the lower ones.</a:t>
            </a:r>
          </a:p>
          <a:p xmlns:a="http://schemas.openxmlformats.org/drawingml/2006/main">
            <a:r>
              <a:t>The pivotal boundary is between plant life and animal life. Material and bio orders are non-sentient. Hope to live is where sentience enters. The sentient unit is present in animal and human joint forms.</a:t>
            </a:r>
          </a:p>
          <a:p xmlns:a="http://schemas.openxmlformats.org/drawingml/2006/main">
            <a:r>
              <a:t>In animals, bodily and brain development limits how much of that unit’s range can be expressed. In humans, the bodily medium can support the full range, but confusion can still misdirect evaluation. Sentience belongs to jeevan; the body provides its medium of expression.</a:t>
            </a:r>
          </a:p>
          <a:p xmlns:a="http://schemas.openxmlformats.org/drawingml/2006/main">
            <a:r>
              <a:t>Each order also has a characteristic way of maintaining definite conduct. That is the next part of the account.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 orders have characteristic modes of conformance: ways in which conduct follows their constitution and organisation.</a:t>
            </a:r>
          </a:p>
          <a:p xmlns:a="http://schemas.openxmlformats.org/drawingml/2006/main">
            <a:r>
              <a:t>Material units follow result- or structure-conformance. Biological compositions follow seed-conformance. Animals follow species-conformance, including inherited conduct-patterns accepted from gestation. Human bodily composition remains species-conformant, while human conduct principally follows sanskar: acquired acceptances and dispositions.</a:t>
            </a:r>
          </a:p>
          <a:p xmlns:a="http://schemas.openxmlformats.org/drawingml/2006/main">
            <a:r>
              <a:t>These dispositions can express delusion or awakened understanding. Education and tradition can therefore reproduce confusion or make understanding and the disposition to live by it available.</a:t>
            </a:r>
          </a:p>
          <a:p xmlns:a="http://schemas.openxmlformats.org/drawingml/2006/main">
            <a:r>
              <a:t>This connects the orders with the regulation introduced through saturation. Omnipresence is the sustaining condition. Within an atom, the mediative nucleus regulates generative and degenerative activity and conserves relative powers. Across nature, order-specific conformance is the conduct through which regulation becomes evident.</a:t>
            </a:r>
          </a:p>
          <a:p xmlns:a="http://schemas.openxmlformats.org/drawingml/2006/main">
            <a:r>
              <a:t>This mediative role gives Madhyasth Darshan its name. Regulation is inherent in saturated nature. Material, biological and animal fulfilment follows definite conformance; human freedom of action introduces the need to understand and evaluate fulfilment.</a:t>
            </a:r>
          </a:p>
          <a:p xmlns:a="http://schemas.openxmlformats.org/drawingml/2006/main">
            <a:r>
              <a:t>We have now established the orders and their modes of conduct. The next movement examines the two lines of development.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enter the second movement: development.</a:t>
            </a:r>
          </a:p>
          <a:p xmlns:a="http://schemas.openxmlformats.org/drawingml/2006/main">
            <a:r>
              <a:t>Nature saturated in state-complete Omnipresence is oriented toward development and awakening until realisation. The texts connect that direction with fulfilment in coexistence. Particular units participate according to their constitution and order.</a:t>
            </a:r>
          </a:p>
          <a:p xmlns:a="http://schemas.openxmlformats.org/drawingml/2006/main">
            <a:r>
              <a:t>Development proceeds along two distinct lines. Compositional progression forms larger configurations — molecules, cells, bodies and their environments. Development within an atom can reach constitutional completeness as a sentient unit. These lines meet in living joint forms.</a:t>
            </a:r>
          </a:p>
          <a:p xmlns:a="http://schemas.openxmlformats.org/drawingml/2006/main">
            <a:r>
              <a:t>Across both, activity includes effort, motion and result together. Effort is the active tendency, motion the state of change, and result the condition attained. These are three aspects of one activity. When sodium and chlorine combine, their activity includes effort and motion, with the resulting salt composition as the attained condition.</a:t>
            </a:r>
          </a:p>
          <a:p xmlns:a="http://schemas.openxmlformats.org/drawingml/2006/main">
            <a:r>
              <a:t>The texts connect saturation, forcefulness, basic impulsion and activity through this triad. They also name three developmental goals: restfulness of effort, destination of motion and immortality of result. Effort comes to rest in realisation, motion reaches its destination in right conduct, and the result becomes constitutionally stable as jeevan. We will return to those goals after examining the sentient unit's constitution, understanding and conduct.</a:t>
            </a:r>
          </a:p>
          <a:p xmlns:a="http://schemas.openxmlformats.org/drawingml/2006/main">
            <a:r>
              <a:t>First, let us follow the two developmental paths and see where they meet.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completeness drive unfolds along two parallel paths.</a:t>
            </a:r>
          </a:p>
          <a:p xmlns:a="http://schemas.openxmlformats.org/drawingml/2006/main">
            <a:r>
              <a:t>The first is the compositional path, *rachna*. Atoms and molecules form material-order structures. Under appropriate chemical and environmental conditions, pranic cells and biological formations appear. This is the material-to-biological order change, and both orders remain insentient.</a:t>
            </a:r>
          </a:p>
          <a:p xmlns:a="http://schemas.openxmlformats.org/drawingml/2006/main">
            <a:r>
              <a:t>The second is the atomic path, *gathan*. A developing atom integrates the particle constitution required for completeness. At constitutional completeness, the texts classify that atom as sentient *jeevan*.</a:t>
            </a:r>
          </a:p>
          <a:p xmlns:a="http://schemas.openxmlformats.org/drawingml/2006/main">
            <a:r>
              <a:t>The two paths meet in the animal order as a joint form: a biological body plus sentient *jeevan*. One does not manufacture the other; they work together.</a:t>
            </a:r>
          </a:p>
          <a:p xmlns:a="http://schemas.openxmlformats.org/drawingml/2006/main">
            <a:r>
              <a:t>Development then continues along both aspects of the joint form. Bodily lineages develop through species-conforming biological organisation, while *jeevan*’s expression widens through those bodily media. In the animal order that expression remains limited by the body.</a:t>
            </a:r>
          </a:p>
          <a:p xmlns:a="http://schemas.openxmlformats.org/drawingml/2006/main">
            <a:r>
              <a:t>The human body, in the knowledge order, is described as capable of evidencing all ten activities of *jeevan*. That does not mean the body owns those activities. It means the bodily medium is adequate for their expression. Once that capacity is present, the remaining development is awakening in *jeevan*, evidenced through understanding and conduct.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does sentience enter this account? The first threshold is constitutional completeness, which we will call T1.</a:t>
            </a:r>
          </a:p>
          <a:p xmlns:a="http://schemas.openxmlformats.org/drawingml/2006/main">
            <a:r>
              <a:t>According to the primary texts, sentience appears when one developing atom reaches constitutional completeness — not through neural complexity, molecular size, or the material-to-biological order change.</a:t>
            </a:r>
          </a:p>
          <a:p xmlns:a="http://schemas.openxmlformats.org/drawingml/2006/main">
            <a:r>
              <a:t>The described process begins with particle exchange. Hungry atoms can incorporate particles; overfull or undigested atoms seek to expel them. Under suitable mutuality, a developing atom integrates the full count required by its constitution. When that requirement is satisfied, the constitution closes and particle count no longer increases or decreases.</a:t>
            </a:r>
          </a:p>
          <a:p xmlns:a="http://schemas.openxmlformats.org/drawingml/2006/main">
            <a:r>
              <a:t>The slide shows the before and after. Before sentience, the constitution remains open: particles are absorbed or expelled, molecular and weight bondage continue, and kind, capacity, and qualitative change track particle count. At the sentience threshold, all required particles are integrated. The count becomes fixed, molecular and weight bondage end, and qualitative activity continues. The texts classify that closed unit as sentient *jeevan*.</a:t>
            </a:r>
          </a:p>
          <a:p xmlns:a="http://schemas.openxmlformats.org/drawingml/2006/main">
            <a:r>
              <a:t>That separation of qualitative from quantitative change is the stated criterion. MVD adds the visible signs of release from the molecular group, liberation from molecular- and weight-bondage, and establishment in hope-bondage.</a:t>
            </a:r>
          </a:p>
          <a:p xmlns:a="http://schemas.openxmlformats.org/drawingml/2006/main">
            <a:r>
              <a:t>The transition to sentience is therefore a claim of reclassification at atomic closure: one atom becomes *jeevan*; a body does not become conscious by becoming more complex. The texts give a process and a criterion, but not an accepted physical measurement of this threshold or a causal explanation of why closure is sentience. We will return to that open bridge under method and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turn to human living — movement three.</a:t>
            </a:r>
          </a:p>
          <a:p xmlns:a="http://schemas.openxmlformats.org/drawingml/2006/main">
            <a:r>
              <a:t>Animal and human living is a joint form. The sentient unit, jeevan, brings the faculties of knowing and acting. The body supplies the species-specific medium through which they can be expressed.</a:t>
            </a:r>
          </a:p>
          <a:p xmlns:a="http://schemas.openxmlformats.org/drawingml/2006/main">
            <a:r>
              <a:t>As an illustration, the body is a vehicle and jeevan its conscious driver and knower. The illustration distinguishes their roles; it does not explain the physical mechanism of their interaction. The body supplies living composition, sense organs, the brain, and capacities for physical expression. The texts describe the brain as receiving and translating signals between jeevan and the body.</a:t>
            </a:r>
          </a:p>
          <a:p xmlns:a="http://schemas.openxmlformats.org/drawingml/2006/main">
            <a:r>
              <a:t>The body can decompose. Jeevan's constitution is complete: its particles no longer increase or decrease, while its qualitative activity continues. On this account jeevan persists when the joint form ends and can later associate with another body. The evidential questions about this interface and continuity return in our discussion of method.</a:t>
            </a:r>
          </a:p>
          <a:p xmlns:a="http://schemas.openxmlformats.org/drawingml/2006/main">
            <a:r>
              <a:t>Animal bodily development limits expression. The human medium supports the full range, while mistaking the body for the self can still misdirect evaluation. A limitation of bodily expression and an error of understanding are different conditions.</a:t>
            </a:r>
          </a:p>
          <a:p xmlns:a="http://schemas.openxmlformats.org/drawingml/2006/main">
            <a:r>
              <a:t>Jeevan is the seer, doer and enjoyer: it knows, acts through work and behaviour, and undergoes results. Awakening establishes understanding as the guide of doing and experiencing. The next slide identifies the faculties through which these activities occur.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sentient unit — jeevan — is a constitutionally complete atom.</a:t>
            </a:r>
          </a:p>
          <a:p xmlns:a="http://schemas.openxmlformats.org/drawingml/2006/main">
            <a:r>
              <a:t>Structurally, atma is the centre. Four faculties surround it: buddhi, chitta, vritti, and mun. The texts distinguish these faculties from their characteristic powers: evidence, resoluteness, desire, thought, and hope.</a:t>
            </a:r>
          </a:p>
          <a:p xmlns:a="http://schemas.openxmlformats.org/drawingml/2006/main">
            <a:r>
              <a:t>Each characteristic power has outward and inward activities. Mun selects and tastes; vritti analyses and deliberates; chitta visualises and contemplates, including direct apprehension; buddhi resolves and comprehends; atma evidences authenticity and realises. Tasting at mun has three orientations: sensory, value-based, and goal-based. Awakening changes which governs what is accepted. Projection expresses understanding through authenticity, resolve, visualisation, analysis, and selection into living conduct.</a:t>
            </a:r>
          </a:p>
          <a:p xmlns:a="http://schemas.openxmlformats.org/drawingml/2006/main">
            <a:r>
              <a:t>Here, reflection means pratyavartan, the inward activity of knowing. It differs from pratibimban, the imaging between units introduced on slides 7 and 8. Guidance can descend from the core self through the faculties, while sensory drive can press inward from the body. In awakening, cognisance regulates sensitivity.</a:t>
            </a:r>
          </a:p>
          <a:p xmlns:a="http://schemas.openxmlformats.org/drawingml/2006/main">
            <a:r>
              <a:t>All five faculties and ten activities belong to the sentient unit. Presence is not the same as expression or effective organisation. Animal bodies limit expression. Humans have the medium for the full range, yet under body-confusion only part of that range may be effectively organised.</a:t>
            </a:r>
          </a:p>
          <a:p xmlns:a="http://schemas.openxmlformats.org/drawingml/2006/main">
            <a:r>
              <a:t>Study brings understanding. Practice tests and stabilises it. Practice does not manufacture faculties that were missing.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Happiness, peace, contentment and bliss name four harmonies within jeevan.</a:t>
            </a:r>
          </a:p>
          <a:p xmlns:a="http://schemas.openxmlformats.org/drawingml/2006/main">
            <a:r>
              <a:t>Each harmony is experienced at the outer faculty of its pair. Happiness is borne at mun through harmony with vritti: hope accords with thought. Peace is borne at vritti through harmony with chitta: thought accords with desire. Contentment is borne at chitta through harmony with buddhi. Bliss is borne at buddhi through harmony with atma.</a:t>
            </a:r>
          </a:p>
          <a:p xmlns:a="http://schemas.openxmlformats.org/drawingml/2006/main">
            <a:r>
              <a:t>Realisation at atma is named ultimate bliss, or paramanand. Its effect reaches the remaining faculties. This distinguishes the location of realisation from the harmony between buddhi and atma.</a:t>
            </a:r>
          </a:p>
          <a:p xmlns:a="http://schemas.openxmlformats.org/drawingml/2006/main">
            <a:r>
              <a:t>These harmonies become evident through progressively fuller living. Resolution in the person corresponds to happiness. Resolution with prosperity corresponds to peace; these with fearlessness correspond to contentment; all three in coexistence correspond to bliss. Each fuller fulfilment includes the preceding content.</a:t>
            </a:r>
          </a:p>
          <a:p xmlns:a="http://schemas.openxmlformats.org/drawingml/2006/main">
            <a:r>
              <a:t>These are principal correspondences within one life. A value is not confined to one social setting, and acquiring goods does not automatically produce peace. Animal living expresses hope to live through its bodily medium; the account here concerns human understanding and its evidence in living.</a:t>
            </a:r>
          </a:p>
          <a:p xmlns:a="http://schemas.openxmlformats.org/drawingml/2006/main">
            <a:r>
              <a:t>Evidence in living widens from one issue to further issues. Inward reflection and outward expression deepen one another in living. Reflection deepens understanding, and projection makes it evident in conduct; further experience then becomes material for reflection.</a:t>
            </a:r>
          </a:p>
          <a:p xmlns:a="http://schemas.openxmlformats.org/drawingml/2006/main">
            <a:r>
              <a:t>The next two slides examine how understanding comes to guide sensory life, work and relationships.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jeevan bears five faculties and ten activities. Their expression depends on the bodily medium, and their effective organisation depends on understanding.</a:t>
            </a:r>
          </a:p>
          <a:p xmlns:a="http://schemas.openxmlformats.org/drawingml/2006/main">
            <a:r>
              <a:t>In animals, the bodily medium limits expression to hope-bound selection, taste-recognition and species-conformant conduct. The human body supplies the medium for the full circuit of understanding. That bodily provision makes awakening possible; it does not by itself establish it.</a:t>
            </a:r>
          </a:p>
          <a:p xmlns:a="http://schemas.openxmlformats.org/drawingml/2006/main">
            <a:r>
              <a:t>In deluded human living, the body is mistaken for the self. Four and a half activities are effectively organised around bodily sensitivity: selection, taste, analysis, visualisation, and restricted deliberation.</a:t>
            </a:r>
          </a:p>
          <a:p xmlns:a="http://schemas.openxmlformats.org/drawingml/2006/main">
            <a:r>
              <a:t>The restriction concerns deliberation's perspectives. There are six: pleasant–unpleasant, healthy–unhealthy, profit–loss, justice–injustice, dharma–adharma, and truth–untruth. The first three govern deluded evaluation. The remaining three have yet to guide it. In this restricted sense deliberation is called a half activity. This describes its governing criteria; it is not a measured fraction of a person's mental capacity.</a:t>
            </a:r>
          </a:p>
          <a:p xmlns:a="http://schemas.openxmlformats.org/drawingml/2006/main">
            <a:r>
              <a:t>Sensitivity means responsiveness through the body and senses. Cognisance means jeevan's understanding of relationship, value and orderliness. Awakening brings sensitivity under the guidance of that understanding. Pleasure, bodily health and material benefit retain their proper place within justice, resolved thought and truth.</a:t>
            </a:r>
          </a:p>
          <a:p xmlns:a="http://schemas.openxmlformats.org/drawingml/2006/main">
            <a:r>
              <a:t>All ten activities are present. Study supplies the content of understanding, and practice makes it effective in living. Its fuller expression is resolution, prosperity, fearlessness and coexistence, the four goals shown below. The next slide examines the action through which understanding is evidenced.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Understanding becomes evident through work and behaviour. Karma is activity with aspiration.</a:t>
            </a:r>
          </a:p>
          <a:p xmlns:a="http://schemas.openxmlformats.org/drawingml/2006/main">
            <a:r>
              <a:t>Every activity in nature includes effort, motion and result. In human action, desire names what is sought, karma the doing, and result the fruit. A desire is accomplished when desire, action and result are in balance.</a:t>
            </a:r>
          </a:p>
          <a:p xmlns:a="http://schemas.openxmlformats.org/drawingml/2006/main">
            <a:r>
              <a:t>Five limbs make an action clearer: the doer, cause, objective, result and effect. These distinguish who acts, the motivating need, the intended aim, what is attained, and the wider consequence. Wanting a result, acting toward it and checking what happened belong together.</a:t>
            </a:r>
          </a:p>
          <a:p xmlns:a="http://schemas.openxmlformats.org/drawingml/2006/main">
            <a:r>
              <a:t>Human freedom of action makes responsibility possible. The texts describe deluded humans as independent while performing actions but dependent while undergoing their results. A person may act from an incomplete understanding and then face a consequence they had not understood or accepted.</a:t>
            </a:r>
          </a:p>
          <a:p xmlns:a="http://schemas.openxmlformats.org/drawingml/2006/main">
            <a:r>
              <a:t>In awakened living, understanding precedes action, and results are evaluated and received within resolution. This is what independence in both doing and undergoing means here. Consequences still occur; their reception is guided by understanding rather than unresolved contradiction.</a:t>
            </a:r>
          </a:p>
          <a:p xmlns:a="http://schemas.openxmlformats.org/drawingml/2006/main">
            <a:r>
              <a:t>The harmonies within jeevan and their evidence in living therefore belong together. Study, practice, work, behaviour, result and purpose must become coherent. We can now distinguish completeness of understanding from its continuous expression in conduct.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now bring constitution, understanding and conduct together through three milestones — T1, T2, and T3.</a:t>
            </a:r>
          </a:p>
          <a:p xmlns:a="http://schemas.openxmlformats.org/drawingml/2006/main">
            <a:r>
              <a:t>T1 is the constitutional completeness we examined earlier: the immortality of result. A developing atom becomes a sentient unit — jeevan. Its standing changes from physicochemical to sentient before realisation, on what the texts call the delusional plane. In human living, delusion means mistaking the body for the self. In animal living, expression is limited by the bodily medium. The plane name should not turn that limitation into a human error or a psychiatric diagnosis.</a:t>
            </a:r>
          </a:p>
          <a:p xmlns:a="http://schemas.openxmlformats.org/drawingml/2006/main">
            <a:r>
              <a:t>T2 is activity completeness: restfulness of effort. Knowing, believing, recognising and fulfilling become coherent through realisation and resolution. The search arising from body-identification settles into awakened understanding.</a:t>
            </a:r>
          </a:p>
          <a:p xmlns:a="http://schemas.openxmlformats.org/drawingml/2006/main">
            <a:r>
              <a:t>T3 is conduct completeness: destination of motion. That understanding becomes continuous in work, behaviour and participation — authentic conduct as living proof.</a:t>
            </a:r>
          </a:p>
          <a:p xmlns:a="http://schemas.openxmlformats.org/drawingml/2006/main">
            <a:r>
              <a:t>T2 concerns the settlement of understanding; T3 concerns its continuous evidence in conduct. Together they describe awakening within an already complete sentient constitution.</a:t>
            </a:r>
          </a:p>
          <a:p xmlns:a="http://schemas.openxmlformats.org/drawingml/2006/main">
            <a:r>
              <a:t>T1 is completeness of an atom’s constitution. T2 and T3 are not further material stages; they name completeness of activity and conduct in the awakened sentient unit. In one line: the saturated realises the ground it is saturated in.</a:t>
            </a:r>
          </a:p>
          <a:p xmlns:a="http://schemas.openxmlformats.org/drawingml/2006/main">
            <a:r>
              <a:t>One naming point, since I have just used the words. Physicochemical, delusional, deific, divine — the band across the top of this slide — are what the texts call the four **planes**. A plane is the developmental standing a thing has reached. It is not a kind of thing, and it is not the same as an order of nature. The next slide sorts that out properly.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vocabularies now help us distinguish the aspects of order and development we have examined.</a:t>
            </a:r>
          </a:p>
          <a:p xmlns:a="http://schemas.openxmlformats.org/drawingml/2006/main">
            <a:r>
              <a:t>There is one drive: nature saturated in state-complete Omnipresence, oriented toward development and awakening until realisation. Everything on this table is a way of describing where something stands in that drive.</a:t>
            </a:r>
          </a:p>
          <a:p xmlns:a="http://schemas.openxmlformats.org/drawingml/2006/main">
            <a:r>
              <a:t>**Orders** — material, bio, animal, knowledge — say what *kind* of thing a unit is: its organisation, its essential nature, its innateness. Four orders.</a:t>
            </a:r>
          </a:p>
          <a:p xmlns:a="http://schemas.openxmlformats.org/drawingml/2006/main">
            <a:r>
              <a:t>**Order and development** are described by four terms: existential progression, way of existence, development progression, and awakening progression. The first names the definite order in which the orders become manifest; the second, the conformance by which each order keeps its conduct; the third, physicochemical and atomic development up to T1; the fourth, qualitative development inside a complete sentient unit toward T2 and T3.</a:t>
            </a:r>
          </a:p>
          <a:p xmlns:a="http://schemas.openxmlformats.org/drawingml/2006/main">
            <a:r>
              <a:t>**Planes** — physicochemical, delusional, deific, divine — say how *far* something has come. These are the four we just saw across the top of the last slide. Before T1; T1 only; T2; T3.</a:t>
            </a:r>
          </a:p>
          <a:p xmlns:a="http://schemas.openxmlformats.org/drawingml/2006/main">
            <a:r>
              <a:t>**Human types** — animalistic, demonic, humane or discerning, deific, divine — say how a human *life is oriented*. Five of them, and they classify modes of consciousness and conduct. Not biological species. Not social classes. Not castes.</a:t>
            </a:r>
          </a:p>
          <a:p xmlns:a="http://schemas.openxmlformats.org/drawingml/2006/main">
            <a:r>
              <a:t>The one caution worth stating out loud: an order is not a plane. The knowledge order spans more than one plane — most human beings are in the knowledge order and on the delusional plane at the same time, and there is nothing insulting in that; it just means realisation has not happened yet. T1 separates physicochemical from sentient standing. T2 and T3 are completeness within an awakened sentient unit, and no fifth plane is added beyond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now connect the faculties and harmonies of jeevan with values fulfilled in relationships.</a:t>
            </a:r>
          </a:p>
          <a:p xmlns:a="http://schemas.openxmlformats.org/drawingml/2006/main">
            <a:r>
              <a:t>A relationship carries definite expectations towards completeness — parent and child, for example. In a contact, or sampark, the particular exchange is voluntarily undertaken, as when neighbours agree to share the upkeep of a wall. Both remain answerable to justice and humane conduct.</a:t>
            </a:r>
          </a:p>
          <a:p xmlns:a="http://schemas.openxmlformats.org/drawingml/2006/main">
            <a:r>
              <a:t>The thirty values belong to five families. Four jeevan values are the harmonies we have examined: happiness, peace, contentment and bliss. Six human values are the humane qualities of fortitude, courage, generosity, kindness, grace and compassion. Nine established values include trust, respect, affection and care. Nine expressed values are their corresponding expressions in conduct. The two object values are usefulness and art value — the meaningful convenience and beauty that enhance usefulness.</a:t>
            </a:r>
          </a:p>
          <a:p xmlns:a="http://schemas.openxmlformats.org/drawingml/2006/main">
            <a:r>
              <a:t>The family tells us what evaluative role a value fulfils. The faculty tells us where the activity is borne in jeevan. The four harmonies are borne at mun, vritti, chitta and buddhi. The nine established values are borne three each at chitta, vritti and mun, with their corresponding expressions. Object values concern the useful material means through which work and bodily needs are supported.</a:t>
            </a:r>
          </a:p>
          <a:p xmlns:a="http://schemas.openxmlformats.org/drawingml/2006/main">
            <a:r>
              <a:t>Bearing a value and fulfilling it in a relationship are distinct. A person may intend to care for an ill parent, but care becomes effective through recognising the parent's needs, arranging suitable help, and checking the result. A useful object can support that care; attention, trust and respect concern how the people relate.</a:t>
            </a:r>
          </a:p>
          <a:p xmlns:a="http://schemas.openxmlformats.org/drawingml/2006/main">
            <a:r>
              <a:t>Knowing and believing therefore guide recognising and fulfilling. Established values become evident as relationships are fulfilled; expressed values carry them into conduct. The next slide examines how fulfilment is evaluated.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introduced six perspectives when examining restricted deliberation. Here they guide the evaluation of living: pleasant–unpleasant, healthy–unhealthy, profit–loss, justice–injustice, dharma–adharma, and truth–untruth.</a:t>
            </a:r>
          </a:p>
          <a:p xmlns:a="http://schemas.openxmlformats.org/drawingml/2006/main">
            <a:r>
              <a:t>The first three concern sensation, the body, and material production or exchange. The final three concern relationship, resolved thought and existence as coexistence.</a:t>
            </a:r>
          </a:p>
          <a:p xmlns:a="http://schemas.openxmlformats.org/drawingml/2006/main">
            <a:r>
              <a:t>Justice evaluates behaviour. As a completed relational activity, it means recognising relationships, fulfilling values, evaluating the fulfilment, and achieving mutual satisfaction. Trust or care contributes to justice when it is actually fulfilled in the relationship.</a:t>
            </a:r>
          </a:p>
          <a:p xmlns:a="http://schemas.openxmlformats.org/drawingml/2006/main">
            <a:r>
              <a:t>Dharma as an evaluative perspective concerns whether thought and policy support resolution and overall orderliness. This differs from unit dharma, the inseparable innateness introduced earlier. Truth concerns the coexistence that is understood through realisation.</a:t>
            </a:r>
          </a:p>
          <a:p xmlns:a="http://schemas.openxmlformats.org/drawingml/2006/main">
            <a:r>
              <a:t>The text connects these levels in a graduated chain: rule is justice, justice is dharma, dharma is truth, and truth is coexistence.</a:t>
            </a:r>
          </a:p>
          <a:p xmlns:a="http://schemas.openxmlformats.org/drawingml/2006/main">
            <a:r>
              <a:t>Pleasure, health and material benefit remain legitimate in their domains. Humane evaluation places them under justice, resolved thought and truth, so that the useful means of living serve fulfilled relationships and the human goal.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brings the account of knowing together: what must be understood, and how understanding deepens within jeevan.</a:t>
            </a:r>
          </a:p>
          <a:p xmlns:a="http://schemas.openxmlformats.org/drawingml/2006/main">
            <a:r>
              <a:t>On the left: what must be understood as mutual context widens. Form is real structure encountered in mutual facing. Capacities show as effects between units. Essential nature needs state, order, and context. Innateness is evidenced in whole-order fulfilment. Relationships are shared expectations weighed by justice, dharma, and truth. At the top is coexistence itself — not another observed detail, but the aim of knowing.</a:t>
            </a:r>
          </a:p>
          <a:p xmlns:a="http://schemas.openxmlformats.org/drawingml/2006/main">
            <a:r>
              <a:t>On the right: how knowing happens within the sentient unit. Mun tastes and selects. Vritti deliberates. Chitta contemplates and directly apprehends. Buddhi comprehends and resolves. Atma realises in truth. Happiness, peace, contentment, and bliss name harmonies between paired faculties. Realisation at atma is named ultimate bliss.</a:t>
            </a:r>
          </a:p>
          <a:p xmlns:a="http://schemas.openxmlformats.org/drawingml/2006/main">
            <a:r>
              <a:t>Every unit is already manifest with all four aspects. The left-hand steps describe widening human understanding of that unit; they do not describe successive additions to its image. Inward reflection deepens knowing, and projection makes understanding evident through conduct. Bliss names the harmony of buddhi and atma; coexistence realised at atma is ultimate bliss.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where the developmental drive comes to rest: realisation in coexistence.</a:t>
            </a:r>
          </a:p>
          <a:p xmlns:a="http://schemas.openxmlformats.org/drawingml/2006/main">
            <a:r>
              <a:t>Realisation settles jeevan's search arising from delusion. The awakened sentient unit understands the coexistence in which it has always existed and evidences that understanding through fulfilled relationships and humane conduct.</a:t>
            </a:r>
          </a:p>
          <a:p xmlns:a="http://schemas.openxmlformats.org/drawingml/2006/main">
            <a:r>
              <a:t>Realisation at atma is named ultimate bliss. Bliss names the harmony of buddhi and atma. What is known is existence as coexistence: nature saturated in Omnipresence. Understanding becomes evident as authenticity in work, behaviour, and participation. The next slide examines how it is presented, communicated, and expressed.</a:t>
            </a:r>
          </a:p>
          <a:p xmlns:a="http://schemas.openxmlformats.org/drawingml/2006/main">
            <a:r>
              <a:t>Three roles stay distinct: the sentient unit remains the knower; existence as coexistence remains the known; knowledge becomes evident as authentic conduct. Its threefold content is the holistic view of coexistence, knowledge of jeevan, and knowledge of humane conduct. They become coherent without becoming identical. The individual knower is not dissolved into a single universal 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unit is prakashman, manifest through its form, properties, essential nature and dharma. Presentation, communication and expression describe this participation throughout nature. In sentient jeevan, manifestness includes its active faculties and the capacities it expresses through the body. Humans already communicate and express their capacities during awakening progression. With awakening, these activities carry realised understanding into meaningful presentation, communication and conduct. The three definitions here describe that fuller human fulfilment.</a:t>
            </a:r>
          </a:p>
          <a:p xmlns:a="http://schemas.openxmlformats.org/drawingml/2006/main">
            <a:r>
              <a:t>Presentation, prakashan, makes actuality evident through an accomplished and meaningful form. Something understood becomes available for another to attend to.</a:t>
            </a:r>
          </a:p>
          <a:p xmlns:a="http://schemas.openxmlformats.org/drawingml/2006/main">
            <a:r>
              <a:t>Communication, sampreshana, indicates completeness. The definition names constitutional completeness, activity completeness and conduct completeness. In human communication, words direct attention to the activity of units and its inherent meaning, serving understanding and enabling another to understand.</a:t>
            </a:r>
          </a:p>
          <a:p xmlns:a="http://schemas.openxmlformats.org/drawingml/2006/main">
            <a:r>
              <a:t>Expression, abhivyakti, is the mental, verbal and bodily activity through which one's existence is evidenced for all-round resolution, called abhyudaya. Understanding becomes evident in speech, work and humane behaviour.</a:t>
            </a:r>
          </a:p>
          <a:p xmlns:a="http://schemas.openxmlformats.org/drawingml/2006/main">
            <a:r>
              <a:t>Art, kala, is skilful expressive activity: it makes qualities evident and expression meaningful, joining usefulness with beauty. Art value, kala-mulya, is the value realised in an object when meaningful convenience and beauty enhance its usefulness. A well-made object can evidence that value; a clear explanation can evidence art in making understanding intelligible.</a:t>
            </a:r>
          </a:p>
          <a:p xmlns:a="http://schemas.openxmlformats.org/drawingml/2006/main">
            <a:r>
              <a:t>These are connected, overlapping aspects of sentient manifestation. Their fulfilment in awakened human living carries realised understanding through the body into conduct and the humane tradition.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Conduct completeness is realised understanding expressed continuously by the individual. Humane participation and education transmit it through an awakened tradition. Individual completeness contributes to social completeness; it does not wait for the entire society to be complete.</a:t>
            </a:r>
          </a:p>
          <a:p xmlns:a="http://schemas.openxmlformats.org/drawingml/2006/main">
            <a:r>
              <a:t>Effort settled in realisation is T2. Understanding proven in conduct is T3.</a:t>
            </a:r>
          </a:p>
          <a:p xmlns:a="http://schemas.openxmlformats.org/drawingml/2006/main">
            <a:r>
              <a:t>Four goals at four levels: resolution in every person; prosperity in every family; fearlessness — trust — in society; coexistence with all of nature.</a:t>
            </a:r>
          </a:p>
          <a:p xmlns:a="http://schemas.openxmlformats.org/drawingml/2006/main">
            <a:r>
              <a:t>Five social systems carry that continuity: education and formative culture; justice and preservation; health and restraint; production and work; exchange and storage. These differ from the four dimensions of a person's living — realisation, thought, behaviour and work.</a:t>
            </a:r>
          </a:p>
          <a:p xmlns:a="http://schemas.openxmlformats.org/drawingml/2006/main">
            <a:r>
              <a:t>And here is where the other half of the composition slide returns. Families and societies are not a further compositional tier — you cannot get a humane society by stacking bodies the way you stack molecules. They are relational achievements: they persist humanely while relationships are recognised, values fulfilled, evaluation completed, and mutual satisfaction achieved. Fear, force, or extraction can hold a group together for a while; on this account they do not make it an orderly society.</a:t>
            </a:r>
          </a:p>
          <a:p xmlns:a="http://schemas.openxmlformats.org/drawingml/2006/main">
            <a:r>
              <a:t>MD connects this social aim with human dharma as happiness, values fulfilled in relationships, and understanding expressed in conduct. Nature is oriented towards development and realisation; an awakened human tradition requires people to understand, practise, and transmit that understanding. The ontology gives this participation a purpose without making humane institutions automatic.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account we have examined uses several modes of inquiry and evidence. Each answers a different question.</a:t>
            </a:r>
          </a:p>
          <a:p xmlns:a="http://schemas.openxmlformats.org/drawingml/2006/main">
            <a:r>
              <a:t>Logical exposition tests whether definitions and relationships form a coherent account. Study and self-examination test whether the proposal and the activities of knowing can be understood and recognised.</a:t>
            </a:r>
          </a:p>
          <a:p xmlns:a="http://schemas.openxmlformats.org/drawingml/2006/main">
            <a:r>
              <a:t>Experiment and practice in work and behaviour test whether understanding regulates action. Conduct-evidence makes relational consequences — fulfilled values, mutual satisfaction and participation — visible to others.</a:t>
            </a:r>
          </a:p>
          <a:p xmlns:a="http://schemas.openxmlformats.org/drawingml/2006/main">
            <a:r>
              <a:t>Realisation is Madhyasth Darshan's claimed completion of knowing coexistence, jeevan and humane conduct. Its status as first-person completion differs from publicly measurable physical evidence.</a:t>
            </a:r>
          </a:p>
          <a:p xmlns:a="http://schemas.openxmlformats.org/drawingml/2006/main">
            <a:r>
              <a:t>The sentience threshold, the jeevan–body interface, and post-body reassociation raise physical questions. No accepted measurement currently identifies them. The survival and reassociation account introduced with the joint form remains a claim to examine under that further standard.</a:t>
            </a:r>
          </a:p>
          <a:p xmlns:a="http://schemas.openxmlformats.org/drawingml/2006/main">
            <a:r>
              <a:t>These methods can support one another while retaining their different scope. Evidence of humane conduct does not by itself identify the sentient atom, just as internal coherence alone does not establish that a physical claim is true.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close the loop on the six questions.</a:t>
            </a:r>
          </a:p>
          <a:p xmlns:a="http://schemas.openxmlformats.org/drawingml/2006/main">
            <a:r>
              <a:t>What is existence? Eternal coexistence: countless units saturated in all-pervasive Omnipresence.</a:t>
            </a:r>
          </a:p>
          <a:p xmlns:a="http://schemas.openxmlformats.org/drawingml/2006/main">
            <a:r>
              <a:t>What exists? Root atomic units; composite units and bodies; body–sentient-unit joint forms; and relational human assemblies — all saturated in the ground.</a:t>
            </a:r>
          </a:p>
          <a:p xmlns:a="http://schemas.openxmlformats.org/drawingml/2006/main">
            <a:r>
              <a:t>Does existence begin or end? No. Existence is perpetual. Configurations form, transform, and decompose.</a:t>
            </a:r>
          </a:p>
          <a:p xmlns:a="http://schemas.openxmlformats.org/drawingml/2006/main">
            <a:r>
              <a:t>What is the self? The constitutionally complete sentient unit working through the body.</a:t>
            </a:r>
          </a:p>
          <a:p xmlns:a="http://schemas.openxmlformats.org/drawingml/2006/main">
            <a:r>
              <a:t>Is the world real? Yes. Units, mutual relationships, and definite material fulfilment are real within perpetual coexistence.</a:t>
            </a:r>
          </a:p>
          <a:p xmlns:a="http://schemas.openxmlformats.org/drawingml/2006/main">
            <a:r>
              <a:t>How is it known? Through logical exposition, study and self-examination, practice, realisation, and conduct-evidence — without conflating those with instrument measurement of the sentience threshold. The lived test is evidence in humane conduct.</a:t>
            </a:r>
          </a:p>
          <a:p xmlns:a="http://schemas.openxmlformats.org/drawingml/2006/main">
            <a:r>
              <a:t>If we continue later, the natural next step is comparison with other traditions and with science — including open problems this study names for Madhyasth Darshan itself. Thank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a7a927ce282342fb" Type="http://schemas.openxmlformats.org/officeDocument/2006/relationships/slideMaster" Target="../slideMasters/slideMaster1.xml"/></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648a55c00fc24910" Type="http://schemas.openxmlformats.org/officeDocument/2006/relationships/slideLayout" Target="../slideLayouts/slideLayout1.xml"/><Relationship Id="R788139a2f78e43af" Type="http://schemas.openxmlformats.org/officeDocument/2006/relationships/theme" Target="theme/theme2.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648a55c00fc24910"/>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392728b7be06443d" Type="http://schemas.openxmlformats.org/officeDocument/2006/relationships/notesSlide" Target="../notesSlides/notesSlide1.xml"/><Relationship Id="R4d9b358102b147bd"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188a6b802b594746" Type="http://schemas.openxmlformats.org/officeDocument/2006/relationships/notesSlide" Target="../notesSlides/notesSlide2.xml"/><Relationship Id="Rcd5498a90f01460d"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775248d384634cdc" Type="http://schemas.openxmlformats.org/officeDocument/2006/relationships/slideLayout" Target="../slideLayouts/slideLayout1.xml"/><Relationship Id="R7c93790924734689" Type="http://schemas.openxmlformats.org/officeDocument/2006/relationships/image" Target="../media/image.png"/><Relationship Id="R9630921692c94d6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02dca5e459e3456f" Type="http://schemas.openxmlformats.org/officeDocument/2006/relationships/slideLayout" Target="../slideLayouts/slideLayout1.xml"/><Relationship Id="R2431afbb844e4a9a" Type="http://schemas.openxmlformats.org/officeDocument/2006/relationships/notesSlide" Target="../notesSlides/notesSlide4.xml"/><Relationship Id="R3ec1ce94b8b44042" Type="http://schemas.openxmlformats.org/officeDocument/2006/relationships/image" Target="../media/image2.png"/></Relationships>
</file>

<file path=ppt/slides/_rels/slide5.xml.rels><?xml version='1.0' encoding='UTF-8' standalone='yes'?>
<Relationships xmlns="http://schemas.openxmlformats.org/package/2006/relationships"><Relationship Id="R1a94fc24a2ba4e75" Type="http://schemas.openxmlformats.org/officeDocument/2006/relationships/notesSlide" Target="../notesSlides/notesSlide5.xml"/><Relationship Id="R5ccc5dd439d34434"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16092fe9cffc4f1b" Type="http://schemas.openxmlformats.org/officeDocument/2006/relationships/image" Target="../media/image3.png"/><Relationship Id="R2d5403df97274114" Type="http://schemas.openxmlformats.org/officeDocument/2006/relationships/image" Target="../media/image5.png"/><Relationship Id="R526967ddc4af4f05" Type="http://schemas.openxmlformats.org/officeDocument/2006/relationships/notesSlide" Target="../notesSlides/notesSlide6.xml"/><Relationship Id="R5df44989debe4f9d" Type="http://schemas.openxmlformats.org/officeDocument/2006/relationships/image" Target="../media/image4.png"/><Relationship Id="R7dfd1669898046c3"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36c3a7ddcc70466c" Type="http://schemas.openxmlformats.org/officeDocument/2006/relationships/image" Target="../media/image3.png"/><Relationship Id="R396e8f81bc8e4321" Type="http://schemas.openxmlformats.org/officeDocument/2006/relationships/image" Target="../media/image4.png"/><Relationship Id="R826ebada4a644156" Type="http://schemas.openxmlformats.org/officeDocument/2006/relationships/slideLayout" Target="../slideLayouts/slideLayout1.xml"/><Relationship Id="R9277301ffa62439f" Type="http://schemas.openxmlformats.org/officeDocument/2006/relationships/image" Target="../media/image5.png"/><Relationship Id="R93bd1060fc8145a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0e77ab588e9546af" Type="http://schemas.openxmlformats.org/officeDocument/2006/relationships/slideLayout" Target="../slideLayouts/slideLayout1.xml"/><Relationship Id="Rd4183d5b395d40aa"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38e062b78e5545fa" Type="http://schemas.openxmlformats.org/officeDocument/2006/relationships/image" Target="../media/image3.png"/><Relationship Id="R3ae96e7dd6c44924" Type="http://schemas.openxmlformats.org/officeDocument/2006/relationships/image" Target="../media/image5.png"/><Relationship Id="R4f99a3e19bfa4163" Type="http://schemas.openxmlformats.org/officeDocument/2006/relationships/notesSlide" Target="../notesSlides/notesSlide9.xml"/><Relationship Id="Raf28a9110857476d" Type="http://schemas.openxmlformats.org/officeDocument/2006/relationships/slideLayout" Target="../slideLayouts/slideLayout1.xml"/><Relationship Id="Rb2d0b6b640b940e0" Type="http://schemas.openxmlformats.org/officeDocument/2006/relationships/image" Target="../media/image4.png"/></Relationships>
</file>

<file path=ppt/slides/_rels/slide10.xml.rels><?xml version='1.0' encoding='UTF-8' standalone='yes'?>
<Relationships xmlns="http://schemas.openxmlformats.org/package/2006/relationships"><Relationship Id="R0d90977a929840f5" Type="http://schemas.openxmlformats.org/officeDocument/2006/relationships/notesSlide" Target="../notesSlides/notesSlide10.xml"/><Relationship Id="R50366a9e468e458b"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262ca534db274fd5" Type="http://schemas.openxmlformats.org/officeDocument/2006/relationships/slideLayout" Target="../slideLayouts/slideLayout1.xml"/><Relationship Id="R3ad494cca1ea4f3c"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3c3559d0f7204401" Type="http://schemas.openxmlformats.org/officeDocument/2006/relationships/slideLayout" Target="../slideLayouts/slideLayout1.xml"/><Relationship Id="R7f5ba3c9b77f4d4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7d315b706bd04034" Type="http://schemas.openxmlformats.org/officeDocument/2006/relationships/notesSlide" Target="../notesSlides/notesSlide13.xml"/><Relationship Id="Rfb9f1d1879854610"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9ee16a280fac44e3" Type="http://schemas.openxmlformats.org/officeDocument/2006/relationships/notesSlide" Target="../notesSlides/notesSlide14.xml"/><Relationship Id="Rb26adbea4f154c26"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63b03337a99246e3" Type="http://schemas.openxmlformats.org/officeDocument/2006/relationships/notesSlide" Target="../notesSlides/notesSlide15.xml"/><Relationship Id="Rf94e5ce5db994387"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4ae41e8948a94f3d" Type="http://schemas.openxmlformats.org/officeDocument/2006/relationships/slideLayout" Target="../slideLayouts/slideLayout1.xml"/><Relationship Id="Rb3ca5a2e010e442f"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83b1c8ce92a647ac" Type="http://schemas.openxmlformats.org/officeDocument/2006/relationships/notesSlide" Target="../notesSlides/notesSlide17.xml"/><Relationship Id="Rb3f83abf77574665"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56b0be6bd2a44b11" Type="http://schemas.openxmlformats.org/officeDocument/2006/relationships/slideLayout" Target="../slideLayouts/slideLayout1.xml"/><Relationship Id="R67a3480b0eee401a"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1234f87ca12648fd" Type="http://schemas.openxmlformats.org/officeDocument/2006/relationships/notesSlide" Target="../notesSlides/notesSlide19.xml"/><Relationship Id="Rd30a11baa2d249c0"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1c3a33df1f5f4a65" Type="http://schemas.openxmlformats.org/officeDocument/2006/relationships/slideLayout" Target="../slideLayouts/slideLayout1.xml"/><Relationship Id="R71349a8a44ca45ae"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2d7a2cf98e7a4b16" Type="http://schemas.openxmlformats.org/officeDocument/2006/relationships/notesSlide" Target="../notesSlides/notesSlide21.xml"/><Relationship Id="Re6e2eff4d0ab49c5"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735c023b0449460b" Type="http://schemas.openxmlformats.org/officeDocument/2006/relationships/notesSlide" Target="../notesSlides/notesSlide22.xml"/><Relationship Id="Raaaee389bad04793"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6a70bde720d4414f" Type="http://schemas.openxmlformats.org/officeDocument/2006/relationships/slideLayout" Target="../slideLayouts/slideLayout1.xml"/><Relationship Id="Rcfcd9038e494480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78b3c711903747d8" Type="http://schemas.openxmlformats.org/officeDocument/2006/relationships/notesSlide" Target="../notesSlides/notesSlide24.xml"/><Relationship Id="Rdfd99d4b75934665"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12e890adefc1404e" Type="http://schemas.openxmlformats.org/officeDocument/2006/relationships/notesSlide" Target="../notesSlides/notesSlide25.xml"/><Relationship Id="R92d2b457701e4028"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29cdd16efde84a21" Type="http://schemas.openxmlformats.org/officeDocument/2006/relationships/slideLayout" Target="../slideLayouts/slideLayout1.xml"/><Relationship Id="R3e519ae0af664ceb" Type="http://schemas.openxmlformats.org/officeDocument/2006/relationships/image" Target="../media/image4.png"/><Relationship Id="R41428cec87e04a20" Type="http://schemas.openxmlformats.org/officeDocument/2006/relationships/image" Target="../media/image5.png"/><Relationship Id="R9455c43259144718" Type="http://schemas.openxmlformats.org/officeDocument/2006/relationships/image" Target="../media/image3.png"/><Relationship Id="Rd99dda63663c449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810d084c5d904432" Type="http://schemas.openxmlformats.org/officeDocument/2006/relationships/slideLayout" Target="../slideLayouts/slideLayout1.xml"/><Relationship Id="Rcb7ed7f3097748d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bccd1b7785db4d8e" Type="http://schemas.openxmlformats.org/officeDocument/2006/relationships/slideLayout" Target="../slideLayouts/slideLayout1.xml"/><Relationship Id="Rcebd6f927353417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4a50b852ad684cb6" Type="http://schemas.openxmlformats.org/officeDocument/2006/relationships/slideLayout" Target="../slideLayouts/slideLayout1.xml"/><Relationship Id="Rec70e5a0578444d3" Type="http://schemas.openxmlformats.org/officeDocument/2006/relationships/notesSlide" Target="../notesSlides/notesSlide29.xml"/></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C4A09A56-C06A-4DA2-845C-533692C8CBAB}"/>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A3B3B8E0-C007-453E-9484-36F06E0A35B0}"/>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B4A6DC73-9DD4-429B-836E-5E745E260B3C}"/>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B0BD0DFE-9DD6-46B4-B39A-9F4A0F1D31A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9219F2CE-12E2-48B8-AB73-64455BBD2244}"/>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D0EB3553-BDD7-423A-9C51-AA29ECAF64A1}"/>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E21ECBEE-405E-4661-9F92-E8EC229F435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80F686B5-B839-4741-8B8A-BAF484A45156}"/>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80984AF5-2DA3-4FAF-A8C0-E7AAD625025C}"/>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A3539AB9-47D1-454A-A911-B689860E8D5D}"/>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259BFF1-9363-47E1-A6AB-E6AA2B108E5B}"/>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Ontology of Existence</a:t>
            </a:r>
          </a:p>
        </p:txBody>
      </p:sp>
      <p:sp>
        <p:nvSpPr>
          <p:cNvPr id="27" name="Google Shape;27;p3">
            <a:extLst xmlns:a="http://schemas.openxmlformats.org/drawingml/2006/main">
              <a:ext uri="{FF2B5EF4-FFF2-40B4-BE49-F238E27FC236}">
                <a16:creationId xmlns:a16="http://schemas.microsoft.com/office/drawing/2014/main" id="{CAE154C3-CDBC-46AC-A25E-B0B4D1C3AFFE}"/>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Existence understood as coexistence — nature saturated in Omnipresence</a:t>
            </a:r>
          </a:p>
        </p:txBody>
      </p:sp>
      <p:sp>
        <p:nvSpPr>
          <p:cNvPr id="28" name="Google Shape;28;p3">
            <a:extLst xmlns:a="http://schemas.openxmlformats.org/drawingml/2006/main">
              <a:ext uri="{FF2B5EF4-FFF2-40B4-BE49-F238E27FC236}">
                <a16:creationId xmlns:a16="http://schemas.microsoft.com/office/drawing/2014/main" id="{D92F3F00-883E-4EC5-B822-4D33B8064E98}"/>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§1 of </a:t>
            </a:r>
            <a:r>
              <a:rPr sz="1150" b="0" i="1" u="none" cap="none">
                <a:solidFill>
                  <a:srgbClr val="8E9BC4"/>
                </a:solidFill>
                <a:latin typeface="Calibri"/>
                <a:ea typeface="Calibri"/>
                <a:cs typeface="Calibri"/>
              </a:rPr>
              <a:t>The Ontology of Coexistence</a:t>
            </a:r>
            <a:r>
              <a:rPr sz="1150" b="0" i="0" u="none" cap="none">
                <a:solidFill>
                  <a:srgbClr val="8E9BC4"/>
                </a:solidFill>
                <a:latin typeface="Calibri"/>
                <a:ea typeface="Calibri"/>
                <a:cs typeface="Calibri"/>
              </a:rPr>
              <a:t> (AnalyticMadhyasthDarshan.org)</a:t>
            </a:r>
          </a:p>
        </p:txBody>
      </p:sp>
      <p:sp>
        <p:nvSpPr>
          <p:cNvPr id="29" name="Google Shape;29;p3">
            <a:extLst xmlns:a="http://schemas.openxmlformats.org/drawingml/2006/main">
              <a:ext uri="{FF2B5EF4-FFF2-40B4-BE49-F238E27FC236}">
                <a16:creationId xmlns:a16="http://schemas.microsoft.com/office/drawing/2014/main" id="{73567D25-621A-40E3-9A8D-B8ED3CD990B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MVD, KD, SB, JV and Hindi Paribhasha Samhita</a:t>
            </a:r>
          </a:p>
        </p:txBody>
      </p:sp>
    </p:spTree>
    <p:extLst>
      <p:ext uri="{BB962C8B-B14F-4D97-AF65-F5344CB8AC3E}">
        <p14:creationId xmlns:p14="http://schemas.microsoft.com/office/powerpoint/2010/main" val="2746030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407FB59B-0731-4A56-B8E6-A8B8541F6E4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7A5D4389-AEF0-4FF7-8BFB-3657F16B2E3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82B3B729-524D-490A-B013-78C3F9E43A3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2459094A-77C2-49CC-A82C-F47E70C3977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C0E8F0C6-D5F4-4C8B-80DF-D0AB102FD0B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6EB86215-B35D-46A3-BBEC-975674A3FFEB}"/>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A0471FC0-99A0-41F6-B54F-83FC6A43A62D}"/>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real, and how it is ordered — coexistence is the inseparability of the pervasive ground and real units. Each unit has form, properties, essential nature and dharma, expressed in mutuality across four orders. The darshan holds coexistence to be perpetual.</a:t>
            </a:r>
          </a:p>
        </p:txBody>
      </p:sp>
      <p:sp>
        <p:nvSpPr>
          <p:cNvPr id="43" name="Google Shape;43;p4">
            <a:extLst xmlns:a="http://schemas.openxmlformats.org/drawingml/2006/main">
              <a:ext uri="{FF2B5EF4-FFF2-40B4-BE49-F238E27FC236}">
                <a16:creationId xmlns:a16="http://schemas.microsoft.com/office/drawing/2014/main" id="{BB717CE8-BFA3-4DC4-B52C-38F268D47F1A}"/>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57583903-856B-4342-A7DB-D8B6204C5357}"/>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two developmental lines proceed — composition can form pranic organisation from material constituents. It does not by itself produce jeevan: development in the atom reaches constitutional completeness. Every activity includes effort, motion and result.</a:t>
            </a:r>
          </a:p>
        </p:txBody>
      </p:sp>
      <p:sp>
        <p:nvSpPr>
          <p:cNvPr id="46" name="Google Shape;46;p4">
            <a:extLst xmlns:a="http://schemas.openxmlformats.org/drawingml/2006/main">
              <a:ext uri="{FF2B5EF4-FFF2-40B4-BE49-F238E27FC236}">
                <a16:creationId xmlns:a16="http://schemas.microsoft.com/office/drawing/2014/main" id="{7A31A1C1-232D-437F-9F09-EB6EDF36DBF9}"/>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6099E903-1DDB-4E54-A3AF-ADBD4D936960}"/>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sentient living becomes awakened conduct: the human joint form, jeevan’s faculties and harmonies, evaluation, realisation, and the expression of understanding through humane conduct.</a:t>
            </a:r>
          </a:p>
        </p:txBody>
      </p:sp>
      <p:sp>
        <p:nvSpPr>
          <p:cNvPr id="58" name="Google Shape;58;p4">
            <a:extLst xmlns:a="http://schemas.openxmlformats.org/drawingml/2006/main">
              <a:ext uri="{FF2B5EF4-FFF2-40B4-BE49-F238E27FC236}">
                <a16:creationId xmlns:a16="http://schemas.microsoft.com/office/drawing/2014/main" id="{1BA00983-6D0E-4A72-A441-1F23D636A89B}"/>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One claim — existence is coexistence — carried through three movements. The body’s compositional line and jeevan’s atomic line meet in animal and human living without becoming the same process.</a:t>
            </a:r>
          </a:p>
        </p:txBody>
      </p:sp>
    </p:spTree>
    <p:extLst>
      <p:ext uri="{BB962C8B-B14F-4D97-AF65-F5344CB8AC3E}">
        <p14:creationId xmlns:p14="http://schemas.microsoft.com/office/powerpoint/2010/main" val="6446782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8FCCB266-5F40-440C-BF26-D18600A574D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5DE7DFC-35F1-4422-8047-7D76784C85A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64EBE0E3-0739-41BD-9183-9130958E882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6B2D2AE-D123-43B5-B043-91CB3C41450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4E7EAFE0-2838-4A32-8F3F-767921EF30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Questions Ontology Must Answer</a:t>
            </a:r>
          </a:p>
        </p:txBody>
      </p:sp>
      <p:sp>
        <p:nvSpPr>
          <p:cNvPr id="40" name="Google Shape;40;p4">
            <a:extLst xmlns:a="http://schemas.openxmlformats.org/drawingml/2006/main">
              <a:ext uri="{FF2B5EF4-FFF2-40B4-BE49-F238E27FC236}">
                <a16:creationId xmlns:a16="http://schemas.microsoft.com/office/drawing/2014/main" id="{9D78BA76-8420-442B-A4F2-E3B5D8E34AEC}"/>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7c93790924734689">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29D47B3C-2046-4A1E-AB81-7E472FEF3DF1}"/>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Existence?  —  </a:t>
            </a:r>
            <a:r>
              <a:rPr sz="1300" b="0" i="0" u="none" cap="none">
                <a:solidFill>
                  <a:srgbClr val="5A6377"/>
                </a:solidFill>
                <a:latin typeface="Calibri"/>
                <a:ea typeface="Calibri"/>
                <a:cs typeface="Calibri"/>
              </a:rPr>
              <a:t>Is there one fundamental reality, or many — and how are they related?</a:t>
            </a:r>
          </a:p>
        </p:txBody>
      </p:sp>
      <p:sp>
        <p:nvSpPr>
          <p:cNvPr id="43" name="Google Shape;43;p4">
            <a:extLst xmlns:a="http://schemas.openxmlformats.org/drawingml/2006/main">
              <a:ext uri="{FF2B5EF4-FFF2-40B4-BE49-F238E27FC236}">
                <a16:creationId xmlns:a16="http://schemas.microsoft.com/office/drawing/2014/main" id="{AA41F947-8974-42FA-960E-787E9A0814E7}"/>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7c93790924734689">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061AC35B-7F8C-4BC9-B5F1-0CDD9C404D01}"/>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exists?  —  </a:t>
            </a:r>
            <a:r>
              <a:rPr sz="1300" b="0" i="0" u="none" cap="none">
                <a:solidFill>
                  <a:srgbClr val="5A6377"/>
                </a:solidFill>
                <a:latin typeface="Calibri"/>
                <a:ea typeface="Calibri"/>
                <a:cs typeface="Calibri"/>
              </a:rPr>
              <a:t>What are the basic constituents of reality, and what is each of them?</a:t>
            </a:r>
          </a:p>
        </p:txBody>
      </p:sp>
      <p:sp>
        <p:nvSpPr>
          <p:cNvPr id="46" name="Google Shape;46;p4">
            <a:extLst xmlns:a="http://schemas.openxmlformats.org/drawingml/2006/main">
              <a:ext uri="{FF2B5EF4-FFF2-40B4-BE49-F238E27FC236}">
                <a16:creationId xmlns:a16="http://schemas.microsoft.com/office/drawing/2014/main" id="{CDA87209-7084-4EBB-8BD0-52666EDF744C}"/>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7c93790924734689">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1B6C431-D004-41A0-9A53-95F861AFE29B}"/>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what exists begin?  —  </a:t>
            </a:r>
            <a:r>
              <a:rPr sz="1300" b="0" i="0" u="none" cap="none">
                <a:solidFill>
                  <a:srgbClr val="5A6377"/>
                </a:solidFill>
                <a:latin typeface="Calibri"/>
                <a:ea typeface="Calibri"/>
                <a:cs typeface="Calibri"/>
              </a:rPr>
              <a:t>Did reality originate at some time — or is origination only of configurations?</a:t>
            </a:r>
          </a:p>
        </p:txBody>
      </p:sp>
      <p:sp>
        <p:nvSpPr>
          <p:cNvPr id="49" name="Google Shape;49;p4">
            <a:extLst xmlns:a="http://schemas.openxmlformats.org/drawingml/2006/main">
              <a:ext uri="{FF2B5EF4-FFF2-40B4-BE49-F238E27FC236}">
                <a16:creationId xmlns:a16="http://schemas.microsoft.com/office/drawing/2014/main" id="{ED32D590-8DE8-4C5F-9DB7-133CF6872C0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7c93790924734689">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9D8201F8-92DE-4893-8387-B7A31B4880B6}"/>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the self begin or end with the body?  —  </a:t>
            </a:r>
            <a:r>
              <a:rPr sz="1300" b="0" i="0" u="none" cap="none">
                <a:solidFill>
                  <a:srgbClr val="5A6377"/>
                </a:solidFill>
                <a:latin typeface="Calibri"/>
                <a:ea typeface="Calibri"/>
                <a:cs typeface="Calibri"/>
              </a:rPr>
              <a:t>Is the individual self (jeevan) produced by the body and destroyed with it?</a:t>
            </a:r>
          </a:p>
        </p:txBody>
      </p:sp>
      <p:sp>
        <p:nvSpPr>
          <p:cNvPr id="52" name="Google Shape;52;p4">
            <a:extLst xmlns:a="http://schemas.openxmlformats.org/drawingml/2006/main">
              <a:ext uri="{FF2B5EF4-FFF2-40B4-BE49-F238E27FC236}">
                <a16:creationId xmlns:a16="http://schemas.microsoft.com/office/drawing/2014/main" id="{FDDD7230-CA75-41A7-B897-DDFE7F3D7704}"/>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7c93790924734689">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2AB4FEC0-77A6-4437-8E46-6AF495E78A17}"/>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Is the world finally real?  —  </a:t>
            </a:r>
            <a:r>
              <a:rPr sz="1300" b="0" i="0" u="none" cap="none">
                <a:solidFill>
                  <a:srgbClr val="5A6377"/>
                </a:solidFill>
                <a:latin typeface="Calibri"/>
                <a:ea typeface="Calibri"/>
                <a:cs typeface="Calibri"/>
              </a:rPr>
              <a:t>Is the plural world of units an appearance, or real in its own right?</a:t>
            </a:r>
          </a:p>
        </p:txBody>
      </p:sp>
      <p:sp>
        <p:nvSpPr>
          <p:cNvPr id="55" name="Google Shape;55;p4">
            <a:extLst xmlns:a="http://schemas.openxmlformats.org/drawingml/2006/main">
              <a:ext uri="{FF2B5EF4-FFF2-40B4-BE49-F238E27FC236}">
                <a16:creationId xmlns:a16="http://schemas.microsoft.com/office/drawing/2014/main" id="{956BA3BE-2185-4167-87CC-EDA80D2FE614}"/>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7c93790924734689">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5CDA41BD-579D-4DA4-8E39-03E520FBD973}"/>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can what exists be known?  —  </a:t>
            </a:r>
            <a:r>
              <a:rPr sz="1300" b="0" i="0" u="none" cap="none">
                <a:solidFill>
                  <a:srgbClr val="5A6377"/>
                </a:solidFill>
                <a:latin typeface="Calibri"/>
                <a:ea typeface="Calibri"/>
                <a:cs typeface="Calibri"/>
              </a:rPr>
              <a:t>What must be understood — and at what scope — to know each aspect of reality?</a:t>
            </a:r>
          </a:p>
        </p:txBody>
      </p:sp>
      <p:sp>
        <p:nvSpPr>
          <p:cNvPr id="58" name="Google Shape;58;p4">
            <a:extLst xmlns:a="http://schemas.openxmlformats.org/drawingml/2006/main">
              <a:ext uri="{FF2B5EF4-FFF2-40B4-BE49-F238E27FC236}">
                <a16:creationId xmlns:a16="http://schemas.microsoft.com/office/drawing/2014/main" id="{6716F592-DC15-482D-9756-E73A8E09F557}"/>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Madhyasth Darshan answers each from a single starting point: existence is coexistence.</a:t>
            </a:r>
          </a:p>
        </p:txBody>
      </p:sp>
    </p:spTree>
    <p:extLst>
      <p:ext uri="{BB962C8B-B14F-4D97-AF65-F5344CB8AC3E}">
        <p14:creationId xmlns:p14="http://schemas.microsoft.com/office/powerpoint/2010/main" val="8033659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
            </a: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Conceptual map of §1 — a reference for the whole session; we return to it as each part is built  ·  Primary pointers: MVD, KD, SB, JV</a:t>
            </a:r>
          </a:p>
        </p:txBody>
      </p:sp>
      <p:pic>
        <p:nvPicPr>
          <p:cNvPr id="206" name=""/>
          <p:cNvPicPr>
            <a:picLocks xmlns:a="http://schemas.openxmlformats.org/drawingml/2006/main" noChangeAspect="1"/>
          </p:cNvPicPr>
          <p:nvPr/>
        </p:nvPicPr>
        <p:blipFill>
          <a:blip xmlns:r="http://schemas.openxmlformats.org/officeDocument/2006/relationships" xmlns:a="http://schemas.openxmlformats.org/drawingml/2006/main" r:embed="R3ec1ce94b8b44042"/>
          <a:stretch xmlns:a="http://schemas.openxmlformats.org/drawingml/2006/main"/>
        </p:blipFill>
        <p:spPr>
          <a:xfrm xmlns:a="http://schemas.openxmlformats.org/drawingml/2006/main" flipH="0" flipV="0">
            <a:off x="1698852" y="0"/>
            <a:ext cx="5746296" cy="4905375"/>
          </a:xfrm>
          <a:prstGeom xmlns:a="http://schemas.openxmlformats.org/drawingml/2006/main" prst="rect">
            <a:avLst/>
          </a:prstGeom>
        </p:spPr>
      </p:pic>
    </p:spTree>
    <p:extLst>
      <p:ext uri="{BB962C8B-B14F-4D97-AF65-F5344CB8AC3E}">
        <p14:creationId xmlns:p14="http://schemas.microsoft.com/office/powerpoint/2010/main" val="1131895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CF9AD31F-1FDC-4184-BF9F-B33479EDBEE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10117106-F12F-4A8F-8B77-A83FADEA2A6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1FB965B2-FB3F-4DBD-B108-41481400E3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02762154-418C-4F41-BA0C-79B00719E57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1  ·  §1.1 · TWO INSEPARABLE ASPECTS</a:t>
            </a:r>
          </a:p>
        </p:txBody>
      </p:sp>
      <p:sp>
        <p:nvSpPr>
          <p:cNvPr id="68" name="Google Shape;68;p5">
            <a:extLst xmlns:a="http://schemas.openxmlformats.org/drawingml/2006/main">
              <a:ext uri="{FF2B5EF4-FFF2-40B4-BE49-F238E27FC236}">
                <a16:creationId xmlns:a16="http://schemas.microsoft.com/office/drawing/2014/main" id="{28B0F4A7-FA42-4E2B-85D3-243578C6C2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Is Coexistence</a:t>
            </a:r>
          </a:p>
        </p:txBody>
      </p:sp>
      <p:sp>
        <p:nvSpPr>
          <p:cNvPr id="69" name="Google Shape;69;p5">
            <a:extLst xmlns:a="http://schemas.openxmlformats.org/drawingml/2006/main">
              <a:ext uri="{FF2B5EF4-FFF2-40B4-BE49-F238E27FC236}">
                <a16:creationId xmlns:a16="http://schemas.microsoft.com/office/drawing/2014/main" id="{8EE81CA6-0277-437D-B24C-93E306CB1675}"/>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Omnipresence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Formless, all-pervasive, non-transforming and actionless. </a:t>
            </a:r>
            <a:r>
              <a:rPr sz="1250" b="0" i="0" u="none" cap="none">
                <a:solidFill>
                  <a:srgbClr val="5A6377"/>
                </a:solidFill>
                <a:latin typeface="Calibri"/>
                <a:ea typeface="Calibri"/>
                <a:cs typeface="Calibri"/>
              </a:rPr>
              <a:t>As prakash (light),</a:t>
            </a:r>
            <a:r>
              <a:rPr sz="1250" b="0" i="0" u="none" cap="none">
                <a:solidFill>
                  <a:srgbClr val="5A6377"/>
                </a:solidFill>
                <a:latin typeface="Calibri"/>
                <a:ea typeface="Calibri"/>
                <a:cs typeface="Calibri"/>
              </a:rPr>
              <a:t> it permeates every unit and is transparent in mutuality. Saturated units are active and manifest (prakashman). It has no absent place.</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Units of nature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Formful, active, countable entities — each bounded from six directions and saturated in Omnipresence, bearing form, guna, svabhav, and dharma, evident in definite mutuality. Root units, composite bodies, body–jeevan joint forms, and relational assemblies are distinct levels, not to be collapsed.</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Never two separate poles</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Separation of a unit from the saturated whole “never happens.” The ground is state-complete; nature saturated in it is state-dynamic — all change is unit-activity.</a:t>
            </a:r>
          </a:p>
        </p:txBody>
      </p:sp>
      <p:sp>
        <p:nvSpPr>
          <p:cNvPr id="70" name="Google Shape;70;p5">
            <a:extLst xmlns:a="http://schemas.openxmlformats.org/drawingml/2006/main">
              <a:ext uri="{FF2B5EF4-FFF2-40B4-BE49-F238E27FC236}">
                <a16:creationId xmlns:a16="http://schemas.microsoft.com/office/drawing/2014/main" id="{07B364FE-F3A9-4602-BE10-23EE13FC1C5A}"/>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3CF11A51-F4D6-4164-8D76-DE824295982F}"/>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OMNIPRESENCE — the pervasive ground</a:t>
            </a:r>
          </a:p>
        </p:txBody>
      </p:sp>
      <p:sp>
        <p:nvSpPr>
          <p:cNvPr id="72" name="Google Shape;72;p5">
            <a:extLst xmlns:a="http://schemas.openxmlformats.org/drawingml/2006/main">
              <a:ext uri="{FF2B5EF4-FFF2-40B4-BE49-F238E27FC236}">
                <a16:creationId xmlns:a16="http://schemas.microsoft.com/office/drawing/2014/main" id="{F1BE36E1-5E3F-4DA1-9CFE-44A8E5A456C7}"/>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CFD53BC4-8462-4A7A-8213-3F91CB8C5883}"/>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F2A0E86B-7518-40E5-996B-6BDE3B14F3AC}"/>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5E77BB36-39BD-4E94-A3B8-0F28DBB8A42D}"/>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6B8F9E46-D1B9-4DC0-A1E2-A8E161EF1971}"/>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A9BE6228-332E-435A-8F5D-5376A8AC04E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BECED46B-A48B-4CA7-8EEB-5979D31A9C85}"/>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967E3267-3033-46A1-9B03-D612835829CA}"/>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42DCFFD6-4154-4D29-B043-16479E5425B0}"/>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2243CC16-68B3-4646-877B-AB127F6652A9}"/>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A95501B9-F291-422B-9577-4E7A124D08E9}"/>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59535FAF-3BCF-4D16-BBE3-0838A2B90E5E}"/>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E2D7A9DE-E3E4-4EEB-89B6-D04E44DFDF8D}"/>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98AE6C74-6FE7-42CF-B920-3D93EE020872}"/>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17757948-703B-426E-B870-C36254C1E3EA}"/>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5A0E0607-E161-4E03-AE4A-C1C661B17415}"/>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Units are manifest in mutual facing. Imaging provides a basis of recognition; relative powers exert effects.</a:t>
            </a:r>
          </a:p>
        </p:txBody>
      </p:sp>
      <p:sp>
        <p:nvSpPr>
          <p:cNvPr id="88" name="Google Shape;88;p5">
            <a:extLst xmlns:a="http://schemas.openxmlformats.org/drawingml/2006/main">
              <a:ext uri="{FF2B5EF4-FFF2-40B4-BE49-F238E27FC236}">
                <a16:creationId xmlns:a16="http://schemas.microsoft.com/office/drawing/2014/main" id="{D46B3FA3-763A-444D-9E80-B345C67D6CD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46, 48, 248–252  ·  MVD pp. 11, 32, 34  ·  </a:t>
            </a:r>
            <a:r>
              <a:rPr sz="950" b="0" i="1" u="none" cap="none">
                <a:solidFill>
                  <a:srgbClr val="5A6377"/>
                </a:solidFill>
                <a:latin typeface="Calibri"/>
                <a:ea typeface="Calibri"/>
                <a:cs typeface="Calibri"/>
              </a:rPr>
              <a:t>PS pp. 114, 137</a:t>
            </a:r>
            <a:r>
              <a:rPr sz="950" b="0" i="1" u="none" cap="none">
                <a:solidFill>
                  <a:srgbClr val="5A6377"/>
                </a:solidFill>
                <a:latin typeface="Calibri"/>
                <a:ea typeface="Calibri"/>
                <a:cs typeface="Calibri"/>
              </a:rPr>
              <a:t>  ·  JV p. 18</a:t>
            </a:r>
          </a:p>
        </p:txBody>
      </p:sp>
    </p:spTree>
    <p:extLst>
      <p:ext uri="{BB962C8B-B14F-4D97-AF65-F5344CB8AC3E}">
        <p14:creationId xmlns:p14="http://schemas.microsoft.com/office/powerpoint/2010/main" val="3819917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SOAKED · SUBMERGED · SURROUNDED</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Saturation: The Ground–Unit Bond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unit remains soaked, submerged and surrounded in Omnipresence. Dividing a unit leaves every fragment saturated. These three terms describe one inseparable relation and its connected consequences.</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16092fe9cffc4f1b">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Soaked</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Permeation by satta grounds force-endowment and manifestness (prakashmanata). Each unit is energy-endowed, with definite relative powers.</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5df44989debe4f9d">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Submerged</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Units remain active in the pervasive ground. Their images in mutual facing provide a basis of recognition. Energy-endowment and activity belong together.</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2d5403df97274114">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Surrounded</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Units remain in definite relations. Each regulates its activity through its own mediative organisation, according to its constitution and order.</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These descriptions overlap. Imaging and recognition continue on slide 7.  ·  SB pp. 57, 69, 79, 248  ·  </a:t>
            </a:r>
            <a:r>
              <a:rPr sz="950" b="0" i="1" u="none" cap="none">
                <a:solidFill>
                  <a:srgbClr val="5A6377"/>
                </a:solidFill>
                <a:latin typeface="Calibri"/>
                <a:ea typeface="Calibri"/>
                <a:cs typeface="Calibri"/>
              </a:rPr>
              <a:t>AVD PDF pp. 115–116</a:t>
            </a:r>
            <a:r>
              <a:rPr sz="950" b="0" i="1" u="none" cap="none">
                <a:solidFill>
                  <a:srgbClr val="5A6377"/>
                </a:solidFill>
                <a:latin typeface="Calibri"/>
                <a:ea typeface="Calibri"/>
                <a:cs typeface="Calibri"/>
              </a:rPr>
              <a:t>  ·  PS pp. 114, 121</a:t>
            </a:r>
          </a:p>
        </p:txBody>
      </p:sp>
    </p:spTree>
    <p:extLst>
      <p:ext uri="{BB962C8B-B14F-4D97-AF65-F5344CB8AC3E}">
        <p14:creationId xmlns:p14="http://schemas.microsoft.com/office/powerpoint/2010/main" val="11315883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§§1.2–1.3, 1.13.1</a:t>
            </a:r>
            <a:r>
              <a:rPr sz="1050" b="1" i="0" u="none" cap="none">
                <a:solidFill>
                  <a:srgbClr val="9A6414"/>
                </a:solidFill>
                <a:latin typeface="Calibri"/>
                <a:ea typeface="Calibri"/>
                <a:cs typeface="Calibri"/>
              </a:rPr>
              <a:t> · MANIFESTNESS AND MUTUAL RECOGNITION</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Nature Is Complementary</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Units saturated in one pervasive reality stand in mutual facing. Imaging makes a unit manifest to another and provides a basis of recognition. Its relative powers also exert effects. Complementarity belongs to this coexistence and is fulfilled according to constitution and order.</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36c3a7ddcc70466c">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Recognition</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Image (pratibimb) is a basis of mutual recognition, including in insentient nature. Heat exchange and particle relations illustrate responsiveness. Human understanding requires the knowing activities of jeevan.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396e8f81bc8e4321">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Complementarity</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Nothing exists in isolation, and each unit is a whole along with its environment. Value is essentiality and participation in orderliness — the definite conduct through which a unit complements others. Usefulness is that essentiality in objects, not the whole of value.</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9277301ffa62439f">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Fulfilment</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Fulfilment is the participation that follows recognition, according to constitution and order. Definite below the human order. At the human order it must be achieved through knowing and believing — which is why it can fail.</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Imaging supports recognition; human evaluation requires understanding.  ·  PS p. 121  ·  SB pp. 49–53, 248–252  ·  MVD p. 32  ·  JV pp. 43, 69</a:t>
            </a:r>
          </a:p>
        </p:txBody>
      </p:sp>
    </p:spTree>
    <p:extLst>
      <p:ext uri="{BB962C8B-B14F-4D97-AF65-F5344CB8AC3E}">
        <p14:creationId xmlns:p14="http://schemas.microsoft.com/office/powerpoint/2010/main" val="113158834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0569449A-A274-4E16-B333-34D5BF6BC46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3AFB5F38-1232-4E65-9C9C-1D83AB32ACF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FF1B1BEA-AE4E-424A-BB17-1D5511850CC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6AC83D93-D9D8-41DE-88E0-DCC165A715A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a:t>
            </a:r>
          </a:p>
        </p:txBody>
      </p:sp>
      <p:sp>
        <p:nvSpPr>
          <p:cNvPr id="125" name="Google Shape;125;p7">
            <a:extLst xmlns:a="http://schemas.openxmlformats.org/drawingml/2006/main">
              <a:ext uri="{FF2B5EF4-FFF2-40B4-BE49-F238E27FC236}">
                <a16:creationId xmlns:a16="http://schemas.microsoft.com/office/drawing/2014/main" id="{5D78DF99-89E5-4140-8364-D7EDDB245235}"/>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Form, Properties, Nature, and Dharma</a:t>
            </a:r>
          </a:p>
        </p:txBody>
      </p:sp>
      <p:sp>
        <p:nvSpPr>
          <p:cNvPr id="126" name="Google Shape;126;p7">
            <a:extLst xmlns:a="http://schemas.openxmlformats.org/drawingml/2006/main">
              <a:ext uri="{FF2B5EF4-FFF2-40B4-BE49-F238E27FC236}">
                <a16:creationId xmlns:a16="http://schemas.microsoft.com/office/drawing/2014/main" id="{F22EFADD-FB38-41E2-B926-6A30C43AF90D}"/>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3F928903-C6BA-4173-B798-65605EA410F9}"/>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0713A3FF-FCE5-4232-821E-146CB3B8BD6E}"/>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BC55DAA0-0B8E-474D-9049-67DCC4F87E59}"/>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3279881E-8015-4698-B672-C8EC5DD4EFD2}"/>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Form</a:t>
            </a:r>
          </a:p>
        </p:txBody>
      </p:sp>
      <p:sp>
        <p:nvSpPr>
          <p:cNvPr id="131" name="Google Shape;131;p7">
            <a:extLst xmlns:a="http://schemas.openxmlformats.org/drawingml/2006/main">
              <a:ext uri="{FF2B5EF4-FFF2-40B4-BE49-F238E27FC236}">
                <a16:creationId xmlns:a16="http://schemas.microsoft.com/office/drawing/2014/main" id="{EE46E617-9E7A-47CE-AF1F-A7D00B26D4A0}"/>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constituted unit is bimb; its image is pratibimb. This peepal tree has a definite shape, volume and density, with trunk, branches, leaves and roots.</a:t>
            </a:r>
          </a:p>
        </p:txBody>
      </p:sp>
      <p:sp>
        <p:nvSpPr>
          <p:cNvPr id="132" name="Google Shape;132;p7">
            <a:extLst xmlns:a="http://schemas.openxmlformats.org/drawingml/2006/main">
              <a:ext uri="{FF2B5EF4-FFF2-40B4-BE49-F238E27FC236}">
                <a16:creationId xmlns:a16="http://schemas.microsoft.com/office/drawing/2014/main" id="{B3F006A5-0C82-4032-BFF7-E7C00B02D836}"/>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FBA67456-B9AC-4516-8676-E2B2ACC31A2C}"/>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402D276D-FADF-4712-AADA-5E15FD18B8F7}"/>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74BA38F1-4DC9-4B82-918B-A0F226961D0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7C820C43-92C7-48AA-8ACE-A42BB6B479D8}"/>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Properties</a:t>
            </a:r>
          </a:p>
        </p:txBody>
      </p:sp>
      <p:sp>
        <p:nvSpPr>
          <p:cNvPr id="137" name="Google Shape;137;p7">
            <a:extLst xmlns:a="http://schemas.openxmlformats.org/drawingml/2006/main">
              <a:ext uri="{FF2B5EF4-FFF2-40B4-BE49-F238E27FC236}">
                <a16:creationId xmlns:a16="http://schemas.microsoft.com/office/drawing/2014/main" id="{6197620A-1878-4EB3-82D6-22E6EEAFF152}"/>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Guna means relative powers and their effects. The peepal’s nutrition, repair, seed production and degeneration become effective in definite conditions.</a:t>
            </a:r>
          </a:p>
        </p:txBody>
      </p:sp>
      <p:sp>
        <p:nvSpPr>
          <p:cNvPr id="138" name="Google Shape;138;p7">
            <a:extLst xmlns:a="http://schemas.openxmlformats.org/drawingml/2006/main">
              <a:ext uri="{FF2B5EF4-FFF2-40B4-BE49-F238E27FC236}">
                <a16:creationId xmlns:a16="http://schemas.microsoft.com/office/drawing/2014/main" id="{ABAAA305-E921-4E2C-9495-F35ACED1541E}"/>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68872607-854C-40F0-8E05-997A43DC5F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E8ECDDF5-B5FF-4101-A5F1-2C52F5D4AECB}"/>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23A623C9-754E-46F5-970A-0BC5E748AA8A}"/>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B6835301-94E6-408C-8C06-AAAE5CC2BEA1}"/>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Essential nature</a:t>
            </a:r>
          </a:p>
        </p:txBody>
      </p:sp>
      <p:sp>
        <p:nvSpPr>
          <p:cNvPr id="143" name="Google Shape;143;p7">
            <a:extLst xmlns:a="http://schemas.openxmlformats.org/drawingml/2006/main">
              <a:ext uri="{FF2B5EF4-FFF2-40B4-BE49-F238E27FC236}">
                <a16:creationId xmlns:a16="http://schemas.microsoft.com/office/drawing/2014/main" id="{3010F32F-C47C-46C9-AE74-07AAECCD40F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Svabhav is usefulness in mutuality. The peepal’s effects are vitalising or devitalising according to the affected body and conditions.</a:t>
            </a:r>
          </a:p>
        </p:txBody>
      </p:sp>
      <p:sp>
        <p:nvSpPr>
          <p:cNvPr id="144" name="Google Shape;144;p7">
            <a:extLst xmlns:a="http://schemas.openxmlformats.org/drawingml/2006/main">
              <a:ext uri="{FF2B5EF4-FFF2-40B4-BE49-F238E27FC236}">
                <a16:creationId xmlns:a16="http://schemas.microsoft.com/office/drawing/2014/main" id="{979C8C10-E5C9-40FA-BEFF-C9C37F38BCD2}"/>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B7BE9008-3C5F-4DE6-B686-7614C71C891D}"/>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2544BADA-8352-4FD8-AAAE-F1A46BB7D4D9}"/>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F167243D-1618-4FCA-9349-F9976377FB23}"/>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7EA35A5F-6CC8-4E99-909D-22E5F8E152BE}"/>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Dharma</a:t>
            </a:r>
          </a:p>
        </p:txBody>
      </p:sp>
      <p:sp>
        <p:nvSpPr>
          <p:cNvPr id="149" name="Google Shape;149;p7">
            <a:extLst xmlns:a="http://schemas.openxmlformats.org/drawingml/2006/main">
              <a:ext uri="{FF2B5EF4-FFF2-40B4-BE49-F238E27FC236}">
                <a16:creationId xmlns:a16="http://schemas.microsoft.com/office/drawing/2014/main" id="{264C2BCA-8EAD-4F4B-A664-235EDD8F95DE}"/>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Inseparable innateness, fulfilled according to the order. The peepal has existence and growth. Seed-conformance describes its conduct.</a:t>
            </a:r>
          </a:p>
        </p:txBody>
      </p:sp>
      <p:sp>
        <p:nvSpPr>
          <p:cNvPr id="150" name="Google Shape;150;p7">
            <a:extLst xmlns:a="http://schemas.openxmlformats.org/drawingml/2006/main">
              <a:ext uri="{FF2B5EF4-FFF2-40B4-BE49-F238E27FC236}">
                <a16:creationId xmlns:a16="http://schemas.microsoft.com/office/drawing/2014/main" id="{9E8F3EB5-A45D-439A-AC12-BFF96C206909}"/>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A0B8B063-BA19-4446-84D1-9D5E60BA0CF4}"/>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whole unit is manifest (prakashman) with all four aspects through saturation in satta. In the imaging context, prakash names the unit’s being imaged. An image supports recognition; human understanding also requires relations and fulfilment. The tree can die while its material constituents persist.</a:t>
            </a:r>
          </a:p>
        </p:txBody>
      </p:sp>
      <p:sp>
        <p:nvSpPr>
          <p:cNvPr id="152" name="Google Shape;152;p7">
            <a:extLst xmlns:a="http://schemas.openxmlformats.org/drawingml/2006/main">
              <a:ext uri="{FF2B5EF4-FFF2-40B4-BE49-F238E27FC236}">
                <a16:creationId xmlns:a16="http://schemas.microsoft.com/office/drawing/2014/main" id="{0AC48ED1-74CE-491C-8680-B52C6D12D91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45, 47, 50–51  ·  SB pp. 249–252, 256–257  ·  PS pp. 119, 121, 135</a:t>
            </a:r>
          </a:p>
        </p:txBody>
      </p:sp>
    </p:spTree>
    <p:extLst>
      <p:ext uri="{BB962C8B-B14F-4D97-AF65-F5344CB8AC3E}">
        <p14:creationId xmlns:p14="http://schemas.microsoft.com/office/powerpoint/2010/main" val="72654822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a:t>
            </a:r>
            <a:r>
              <a:rPr sz="1050" b="1" i="0" u="none" cap="none">
                <a:solidFill>
                  <a:srgbClr val="9A6414"/>
                </a:solidFill>
                <a:latin typeface="Calibri"/>
                <a:ea typeface="Calibri"/>
                <a:cs typeface="Calibri"/>
              </a:rPr>
              <a:t> · PERPETUITY, CAUSE, AND TIME</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Does Not Begin or End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Madhyasth Darshan holds that what exists neither arises from non-being nor disappears into it. Configurations form, change and end within perpetual coexistence. Inseparability from the ground is part of this account, not an independent proof of every persistence claim.</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38e062b78e5545fa">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Nothing is annihilated</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 compound or body decomposes and that organisation ends, while its constituent units continue in other relations. Perpetuity belongs to coexistence, not to any one configuration.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b2d0b6b640b940e0">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Sustaining ground</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Omnipresence is supreme cause only in the sustaining sense: no activity exists apart from saturated nature. It initiates no change — composition, decomposition, and development occur as unit-activity. Karma belongs to humans. The ground is no creator or ruler.</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3ae96e7dd6c44924">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Time follows activity</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Time is the duration of activity, reckoned from recurrent unit-activity — not an independent container alongside Omnipresence and units. The ground, without transformation, is not temporal in that sense.</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“Brahma is truth, the world is perpetual” affirms both the pervasive ground and the reality of the world without making any configuration permanent. — </a:t>
            </a:r>
            <a:r>
              <a:rPr sz="950" b="0" i="1" u="none" cap="none">
                <a:solidFill>
                  <a:srgbClr val="5A6377"/>
                </a:solidFill>
                <a:latin typeface="Calibri"/>
                <a:ea typeface="Calibri"/>
                <a:cs typeface="Calibri"/>
              </a:rPr>
              <a:t>SB pp. 57, 70, 251; MVD p. 13</a:t>
            </a:r>
            <a:r>
              <a:rPr sz="950" b="0" i="1" u="none" cap="none">
                <a:solidFill>
                  <a:srgbClr val="5A6377"/>
                </a:solidFill>
                <a:latin typeface="Calibri"/>
                <a:ea typeface="Calibri"/>
                <a:cs typeface="Calibri"/>
              </a:rPr>
              <a:t>  ·  Study </a:t>
            </a:r>
            <a:r>
              <a:rPr sz="950" b="0" i="1" u="none" cap="none">
                <a:solidFill>
                  <a:srgbClr val="5A6377"/>
                </a:solidFill>
                <a:latin typeface="Calibri"/>
                <a:ea typeface="Calibri"/>
                <a:cs typeface="Calibri"/>
              </a:rPr>
              <a:t>§§1.2, 1.4</a:t>
            </a:r>
            <a:r>
              <a:rPr sz="950" b="0" i="1" u="none" cap="none">
                <a:solidFill>
                  <a:srgbClr val="5A6377"/>
                </a:solidFill>
                <a:latin typeface="Calibri"/>
                <a:ea typeface="Calibri"/>
                <a:cs typeface="Calibri"/>
              </a:rPr>
              <a:t>; full treatment of kaal in Nature of Time</a:t>
            </a:r>
          </a:p>
        </p:txBody>
      </p:sp>
    </p:spTree>
    <p:extLst>
      <p:ext uri="{BB962C8B-B14F-4D97-AF65-F5344CB8AC3E}">
        <p14:creationId xmlns:p14="http://schemas.microsoft.com/office/powerpoint/2010/main" val="113158834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Four Orders of Nature</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Order</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Svabhav in mutuality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Dharma (cumulative)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Status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Material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integration–disintegration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Bio (pranic)</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vitalising–devitalising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growth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Animal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cruel–uncruel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hope to live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bodily expression limited</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Knowledge (human)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fortitude, courage, generosity, kindness, grace, compassion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happiness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full bodily medium; awakening possible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Jeevan is present in animal and human joint forms. In animals, bodily and brain development limits how its faculties can be expressed. In humans, the bodily medium supports the full range, but delusion can misdirect evaluation. Neither body produces sentience.</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179  ·  MVD pp. 5, 8, 13, 115  ·  JV p. 44</a:t>
            </a:r>
          </a:p>
        </p:txBody>
      </p:sp>
    </p:spTree>
    <p:extLst>
      <p:ext uri="{BB962C8B-B14F-4D97-AF65-F5344CB8AC3E}">
        <p14:creationId xmlns:p14="http://schemas.microsoft.com/office/powerpoint/2010/main" val="11318954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a:t>
            </a:r>
            <a:r>
              <a:rPr sz="1050" b="1" i="0" u="none" cap="none">
                <a:solidFill>
                  <a:srgbClr val="9A6414"/>
                </a:solidFill>
                <a:latin typeface="Calibri"/>
                <a:ea typeface="Calibri"/>
                <a:cs typeface="Calibri"/>
              </a:rPr>
              <a:t> · REGULATION — WHAT SURROUNDEDNESS ESTABLISHES</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Regulation Endowment</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Surroundedness is expressed in regulation. Omnipresence is the sustaining condition, while units regulate activity through their own mediative organisation. Each order has a characteristic mode of conformance.</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Conformance 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Mode of fulfilment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Material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result- / structural-conformance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Bio (pranic)</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seed-conformance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Animal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species-conformance (inherited from gestation)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 bodily expression limited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Knowledge (human)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sanskar-conformance (acquired dispositions)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evaluation may err; awakening aligns it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In an atom the mediative nucleus regulates generative and degenerative activity and conserves relative powers. Material, bio, and animal regulation is definite; animal bodily development limits expression but does not introduce mis-evaluation. In human living, jeevan can judge wrongly when delusion mistakes the body for the self. Awakening aligns evaluation and fulfilment with coexistence.</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57, 79  ·  MVD pp. 26–27, 67, 137, 311  ·  KD p. 14 (law across family, nation, world)</a:t>
            </a:r>
          </a:p>
        </p:txBody>
      </p:sp>
    </p:spTree>
    <p:extLst>
      <p:ext uri="{BB962C8B-B14F-4D97-AF65-F5344CB8AC3E}">
        <p14:creationId xmlns:p14="http://schemas.microsoft.com/office/powerpoint/2010/main" val="194233414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F0DA4043-B666-4E7D-A93C-E7625947B5A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C0AF2011-663D-4F60-A3BA-D67A0D8A9AC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28856720-58C7-47B1-AA1D-4F8C1A2B92D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17341D54-7463-4E7E-A13B-67037ABA21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2  ·  </a:t>
            </a:r>
            <a:r>
              <a:rPr sz="1050" b="1" i="0" u="none" cap="none">
                <a:solidFill>
                  <a:srgbClr val="9A6414"/>
                </a:solidFill>
                <a:latin typeface="Calibri"/>
                <a:ea typeface="Calibri"/>
                <a:cs typeface="Calibri"/>
              </a:rPr>
              <a:t>§§1.7, 1.11</a:t>
            </a:r>
            <a:r>
              <a:rPr sz="1050" b="1" i="0" u="none" cap="none">
                <a:solidFill>
                  <a:srgbClr val="9A6414"/>
                </a:solidFill>
                <a:latin typeface="Calibri"/>
                <a:ea typeface="Calibri"/>
                <a:cs typeface="Calibri"/>
              </a:rPr>
              <a:t> · TWO DEVELOPMENTS · ONE ACTIVITY STRUCTURE</a:t>
            </a:r>
          </a:p>
        </p:txBody>
      </p:sp>
      <p:sp>
        <p:nvSpPr>
          <p:cNvPr id="207" name="Google Shape;207;p10">
            <a:extLst xmlns:a="http://schemas.openxmlformats.org/drawingml/2006/main">
              <a:ext uri="{FF2B5EF4-FFF2-40B4-BE49-F238E27FC236}">
                <a16:creationId xmlns:a16="http://schemas.microsoft.com/office/drawing/2014/main" id="{EE953502-E474-4782-AC78-2593793D0ED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Developments, One Activity Structure</a:t>
            </a:r>
          </a:p>
        </p:txBody>
      </p:sp>
      <p:sp>
        <p:nvSpPr>
          <p:cNvPr id="208" name="Google Shape;208;p10">
            <a:extLst xmlns:a="http://schemas.openxmlformats.org/drawingml/2006/main">
              <a:ext uri="{FF2B5EF4-FFF2-40B4-BE49-F238E27FC236}">
                <a16:creationId xmlns:a16="http://schemas.microsoft.com/office/drawing/2014/main" id="{988874DA-3F86-41E0-8A36-434B09CA06D0}"/>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texts describe nature as oriented toward development and awakening within coexistence. Composition forms molecules, cells and bodies. Development in an atom can reach constitutional completeness as jeevan. Across both lines, activity includes effort, motion and result together.</a:t>
            </a:r>
          </a:p>
        </p:txBody>
      </p:sp>
      <p:sp>
        <p:nvSpPr>
          <p:cNvPr id="209" name="Google Shape;209;p10">
            <a:extLst xmlns:a="http://schemas.openxmlformats.org/drawingml/2006/main">
              <a:ext uri="{FF2B5EF4-FFF2-40B4-BE49-F238E27FC236}">
                <a16:creationId xmlns:a16="http://schemas.microsoft.com/office/drawing/2014/main" id="{3C4ACB12-DD4C-4631-BAC2-EC544D0D232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E7B067CB-714B-4A16-BA1E-67E923D644F6}"/>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Effort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internal side</a:t>
            </a:r>
          </a:p>
        </p:txBody>
      </p:sp>
      <p:sp>
        <p:nvSpPr>
          <p:cNvPr id="211" name="Google Shape;211;p10">
            <a:extLst xmlns:a="http://schemas.openxmlformats.org/drawingml/2006/main">
              <a:ext uri="{FF2B5EF4-FFF2-40B4-BE49-F238E27FC236}">
                <a16:creationId xmlns:a16="http://schemas.microsoft.com/office/drawing/2014/main" id="{74644F2C-CA1F-44E3-A3A8-36251A9E3FD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restfulness of effort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effort comes to rest in realisation</a:t>
            </a:r>
          </a:p>
        </p:txBody>
      </p:sp>
      <p:sp>
        <p:nvSpPr>
          <p:cNvPr id="212" name="Google Shape;212;p10">
            <a:extLst xmlns:a="http://schemas.openxmlformats.org/drawingml/2006/main">
              <a:ext uri="{FF2B5EF4-FFF2-40B4-BE49-F238E27FC236}">
                <a16:creationId xmlns:a16="http://schemas.microsoft.com/office/drawing/2014/main" id="{65CF61B0-F78C-4DFD-983F-71AC96683A0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2AEFF54-A97B-4FEA-B904-064D0F28181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Motion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external side</a:t>
            </a:r>
          </a:p>
        </p:txBody>
      </p:sp>
      <p:sp>
        <p:nvSpPr>
          <p:cNvPr id="214" name="Google Shape;214;p10">
            <a:extLst xmlns:a="http://schemas.openxmlformats.org/drawingml/2006/main">
              <a:ext uri="{FF2B5EF4-FFF2-40B4-BE49-F238E27FC236}">
                <a16:creationId xmlns:a16="http://schemas.microsoft.com/office/drawing/2014/main" id="{8822A3BC-F6B8-4DD5-8BFE-02D0BD2D4324}"/>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destination of motion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motion arrives at right conduct</a:t>
            </a:r>
          </a:p>
        </p:txBody>
      </p:sp>
      <p:sp>
        <p:nvSpPr>
          <p:cNvPr id="215" name="Google Shape;215;p10">
            <a:extLst xmlns:a="http://schemas.openxmlformats.org/drawingml/2006/main">
              <a:ext uri="{FF2B5EF4-FFF2-40B4-BE49-F238E27FC236}">
                <a16:creationId xmlns:a16="http://schemas.microsoft.com/office/drawing/2014/main" id="{C1E37470-8E82-4703-AFAB-9F00A17BA30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86AFFF0-4F74-485C-8823-F9CA80F2555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stable outcome</a:t>
            </a:r>
          </a:p>
        </p:txBody>
      </p:sp>
      <p:sp>
        <p:nvSpPr>
          <p:cNvPr id="217" name="Google Shape;217;p10">
            <a:extLst xmlns:a="http://schemas.openxmlformats.org/drawingml/2006/main">
              <a:ext uri="{FF2B5EF4-FFF2-40B4-BE49-F238E27FC236}">
                <a16:creationId xmlns:a16="http://schemas.microsoft.com/office/drawing/2014/main" id="{12BF52F3-A9A4-4295-AA66-6894F712E14D}"/>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immortality of result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constitution stabilises as jeevan</a:t>
            </a:r>
          </a:p>
        </p:txBody>
      </p:sp>
      <p:sp>
        <p:nvSpPr>
          <p:cNvPr id="218" name="Google Shape;218;p10">
            <a:extLst xmlns:a="http://schemas.openxmlformats.org/drawingml/2006/main">
              <a:ext uri="{FF2B5EF4-FFF2-40B4-BE49-F238E27FC236}">
                <a16:creationId xmlns:a16="http://schemas.microsoft.com/office/drawing/2014/main" id="{EF7F9E85-311A-4F2F-8331-F4E88266FE9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F7F8A9B1-F55C-4EAD-9545-C07227475411}"/>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38">
                <a:solidFill>
                  <a:srgbClr val="5F6B82"/>
                </a:solidFill>
              </a:defRPr>
            </a:pPr>
            <a:r>
              <a:rPr sz="938">
                <a:solidFill>
                  <a:srgbClr val="5F6B82"/>
                </a:solidFill>
              </a:rPr>
              <a:t>Two developmental lines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Compositional: larger configurations and bodies.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Atomic: constitutional completeness as sentient jeevan.</a:t>
            </a:r>
          </a:p>
        </p:txBody>
      </p:sp>
      <p:sp>
        <p:nvSpPr>
          <p:cNvPr id="220" name="Google Shape;220;p10">
            <a:extLst xmlns:a="http://schemas.openxmlformats.org/drawingml/2006/main">
              <a:ext uri="{FF2B5EF4-FFF2-40B4-BE49-F238E27FC236}">
                <a16:creationId xmlns:a16="http://schemas.microsoft.com/office/drawing/2014/main" id="{32D33D92-97E9-4667-A0CC-903566CC5E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“Saturation … itself is forcefulness … basic impulsion … activity … effort-motion-result … development” — SB p. 62; also SB pp. 51, 53, 58, 71, 91; MVD p. 104</a:t>
            </a:r>
          </a:p>
        </p:txBody>
      </p:sp>
    </p:spTree>
    <p:extLst>
      <p:ext uri="{BB962C8B-B14F-4D97-AF65-F5344CB8AC3E}">
        <p14:creationId xmlns:p14="http://schemas.microsoft.com/office/powerpoint/2010/main" val="94175578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898E7607-7F1C-424A-993A-F8E26F7A24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7622CE7C-8573-4236-A346-EABC53B99E6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887E38F-E90F-4346-927D-FDEAD4A34A7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1D90A0E4-9D61-4F58-A708-5B7C5EA64AD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§§1.6–1.7</a:t>
            </a:r>
            <a:r>
              <a:rPr sz="1050" b="1" i="0" u="none" cap="none">
                <a:solidFill>
                  <a:srgbClr val="9A6414"/>
                </a:solidFill>
                <a:latin typeface="Calibri"/>
                <a:ea typeface="Calibri"/>
                <a:cs typeface="Calibri"/>
              </a:rPr>
              <a:t> · TWO PATHS, ONE JOINT FORM</a:t>
            </a:r>
          </a:p>
        </p:txBody>
      </p:sp>
      <p:sp>
        <p:nvSpPr>
          <p:cNvPr id="377" name="Google Shape;377;p16">
            <a:extLst xmlns:a="http://schemas.openxmlformats.org/drawingml/2006/main">
              <a:ext uri="{FF2B5EF4-FFF2-40B4-BE49-F238E27FC236}">
                <a16:creationId xmlns:a16="http://schemas.microsoft.com/office/drawing/2014/main" id="{AC36AA5B-8B8A-4C8C-A428-1480E49A706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Paths Meet in the Animal Order</a:t>
            </a:r>
          </a:p>
        </p:txBody>
      </p:sp>
      <p:sp>
        <p:nvSpPr>
          <p:cNvPr id="378" name="Google Shape;378;p16">
            <a:extLst xmlns:a="http://schemas.openxmlformats.org/drawingml/2006/main">
              <a:ext uri="{FF2B5EF4-FFF2-40B4-BE49-F238E27FC236}">
                <a16:creationId xmlns:a16="http://schemas.microsoft.com/office/drawing/2014/main" id="{A2051764-B773-4F19-A8A3-6C0C73553B97}"/>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5A6377"/>
                </a:solidFill>
                <a:latin typeface="Calibri"/>
                <a:ea typeface="Calibri"/>
                <a:cs typeface="Calibri"/>
              </a:rPr>
              <a:t>The completeness drive unfolds along two parallel paths.</a:t>
            </a:r>
            <a:r>
              <a:rPr sz="1300" b="0" i="0" u="none" cap="none">
                <a:solidFill>
                  <a:srgbClr val="5A6377"/>
                </a:solidFill>
                <a:latin typeface="Calibri"/>
                <a:ea typeface="Calibri"/>
                <a:cs typeface="Calibri"/>
              </a:rPr>
              <a:t> Rachna manifests material and biological formations; atomic development reaches constitutional completeness as sentient jeevan.</a:t>
            </a:r>
          </a:p>
        </p:txBody>
      </p:sp>
      <p:sp>
        <p:nvSpPr>
          <p:cNvPr id="379" name="Google Shape;379;p16">
            <a:extLst xmlns:a="http://schemas.openxmlformats.org/drawingml/2006/main">
              <a:ext uri="{FF2B5EF4-FFF2-40B4-BE49-F238E27FC236}">
                <a16:creationId xmlns:a16="http://schemas.microsoft.com/office/drawing/2014/main" id="{9E0ED97E-1E7D-46E0-9662-BD752F49CE00}"/>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EE95B374-AF07-4C85-8F67-58E3A5B71D8A}"/>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Compositional path (rachna)</a:t>
            </a:r>
          </a:p>
        </p:txBody>
      </p:sp>
      <p:sp>
        <p:nvSpPr>
          <p:cNvPr id="381" name="Google Shape;381;p16">
            <a:extLst xmlns:a="http://schemas.openxmlformats.org/drawingml/2006/main">
              <a:ext uri="{FF2B5EF4-FFF2-40B4-BE49-F238E27FC236}">
                <a16:creationId xmlns:a16="http://schemas.microsoft.com/office/drawing/2014/main" id="{03ABC42C-3114-4DB8-918A-6C04812C2828}"/>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Atoms and molecules form material order; chemical and pranic-cell compositions manifest biological order. Both are insentient.</a:t>
            </a:r>
          </a:p>
        </p:txBody>
      </p:sp>
      <p:sp>
        <p:nvSpPr>
          <p:cNvPr id="382" name="Google Shape;382;p16">
            <a:extLst xmlns:a="http://schemas.openxmlformats.org/drawingml/2006/main">
              <a:ext uri="{FF2B5EF4-FFF2-40B4-BE49-F238E27FC236}">
                <a16:creationId xmlns:a16="http://schemas.microsoft.com/office/drawing/2014/main" id="{F064E783-3B6A-440D-8C41-E0BFE659AD6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42D431DD-E635-4D55-B438-17FDFFD2715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Atomic path (gathan)</a:t>
            </a:r>
          </a:p>
        </p:txBody>
      </p:sp>
      <p:sp>
        <p:nvSpPr>
          <p:cNvPr id="384" name="Google Shape;384;p16">
            <a:extLst xmlns:a="http://schemas.openxmlformats.org/drawingml/2006/main">
              <a:ext uri="{FF2B5EF4-FFF2-40B4-BE49-F238E27FC236}">
                <a16:creationId xmlns:a16="http://schemas.microsoft.com/office/drawing/2014/main" id="{84A2A0BA-02DB-46A8-9184-936EB5E2B4C3}"/>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 developing atom integrates its required particle constitution. At completeness, the texts classify it as sentient jeevan.</a:t>
            </a:r>
          </a:p>
        </p:txBody>
      </p:sp>
      <p:sp>
        <p:nvSpPr>
          <p:cNvPr id="385" name="Google Shape;385;p16">
            <a:extLst xmlns:a="http://schemas.openxmlformats.org/drawingml/2006/main">
              <a:ext uri="{FF2B5EF4-FFF2-40B4-BE49-F238E27FC236}">
                <a16:creationId xmlns:a16="http://schemas.microsoft.com/office/drawing/2014/main" id="{57CF42B5-94B9-4AE9-B060-6BC5C76524F6}"/>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The paths meet in animal order. Body lineages develop while jeevan’s expression widens; the human body can evidence all ten activities.</a:t>
            </a:r>
          </a:p>
        </p:txBody>
      </p:sp>
      <p:sp>
        <p:nvSpPr>
          <p:cNvPr id="386" name="Google Shape;386;p16">
            <a:extLst xmlns:a="http://schemas.openxmlformats.org/drawingml/2006/main">
              <a:ext uri="{FF2B5EF4-FFF2-40B4-BE49-F238E27FC236}">
                <a16:creationId xmlns:a16="http://schemas.microsoft.com/office/drawing/2014/main" id="{B129C209-3FF2-4016-A9B0-A8F5F3F3E7B0}"/>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6E5D0BC7-FC95-424C-85B1-8D68E7ECEA4E}"/>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Biological body</a:t>
            </a:r>
          </a:p>
        </p:txBody>
      </p:sp>
      <p:sp>
        <p:nvSpPr>
          <p:cNvPr id="388" name="Google Shape;388;p16">
            <a:extLst xmlns:a="http://schemas.openxmlformats.org/drawingml/2006/main">
              <a:ext uri="{FF2B5EF4-FFF2-40B4-BE49-F238E27FC236}">
                <a16:creationId xmlns:a16="http://schemas.microsoft.com/office/drawing/2014/main" id="{2F6A46CA-D8E1-4BD2-AA8E-221F5B906904}"/>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68CC50-22BB-4266-A019-2EA79D2E3722}"/>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84AD2557-9213-4732-B37B-FE0F4371A01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Sentient jeevan</a:t>
            </a:r>
          </a:p>
        </p:txBody>
      </p:sp>
      <p:sp>
        <p:nvSpPr>
          <p:cNvPr id="391" name="Google Shape;391;p16">
            <a:extLst xmlns:a="http://schemas.openxmlformats.org/drawingml/2006/main">
              <a:ext uri="{FF2B5EF4-FFF2-40B4-BE49-F238E27FC236}">
                <a16:creationId xmlns:a16="http://schemas.microsoft.com/office/drawing/2014/main" id="{89D7FE30-7CBB-40BF-B52C-6DBBCAF63FFF}"/>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3302AF51-FAF2-4ECA-A54F-4AEFF431701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4774C513-D57A-4D9C-9224-483EB9B04BF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Animal order</a:t>
            </a:r>
          </a:p>
        </p:txBody>
      </p:sp>
      <p:sp>
        <p:nvSpPr>
          <p:cNvPr id="394" name="Google Shape;394;p16">
            <a:extLst xmlns:a="http://schemas.openxmlformats.org/drawingml/2006/main">
              <a:ext uri="{FF2B5EF4-FFF2-40B4-BE49-F238E27FC236}">
                <a16:creationId xmlns:a16="http://schemas.microsoft.com/office/drawing/2014/main" id="{82350748-5E36-4F6A-A071-97DA1C99693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13B9CA69-1149-4B06-8953-A5B2B9029404}"/>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30F2C252-C9A4-4D4B-96F6-0D00D394FC8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Human / knowledge order</a:t>
            </a:r>
          </a:p>
        </p:txBody>
      </p:sp>
      <p:sp>
        <p:nvSpPr>
          <p:cNvPr id="397" name="Google Shape;397;p16">
            <a:extLst xmlns:a="http://schemas.openxmlformats.org/drawingml/2006/main">
              <a:ext uri="{FF2B5EF4-FFF2-40B4-BE49-F238E27FC236}">
                <a16:creationId xmlns:a16="http://schemas.microsoft.com/office/drawing/2014/main" id="{C5FCA8E9-64AA-4FAA-9157-51830ED7C97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Once the human medium is capable, further development is awakening in jeevan.</a:t>
            </a:r>
          </a:p>
        </p:txBody>
      </p:sp>
      <p:sp>
        <p:nvSpPr>
          <p:cNvPr id="398" name="Google Shape;398;p16">
            <a:extLst xmlns:a="http://schemas.openxmlformats.org/drawingml/2006/main">
              <a:ext uri="{FF2B5EF4-FFF2-40B4-BE49-F238E27FC236}">
                <a16:creationId xmlns:a16="http://schemas.microsoft.com/office/drawing/2014/main" id="{E3D8EB7A-97C6-4DFE-834E-074ED2732AB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26, 79–80  ·  SB pp. 55, 76–77  ·  Study </a:t>
            </a:r>
            <a:r>
              <a:rPr sz="950" b="0" i="1" u="none" cap="none">
                <a:solidFill>
                  <a:srgbClr val="5A6377"/>
                </a:solidFill>
                <a:latin typeface="Calibri"/>
                <a:ea typeface="Calibri"/>
                <a:cs typeface="Calibri"/>
              </a:rPr>
              <a:t>§§1.6–1.7, 1.12</a:t>
            </a:r>
          </a:p>
        </p:txBody>
      </p:sp>
    </p:spTree>
    <p:extLst>
      <p:ext uri="{BB962C8B-B14F-4D97-AF65-F5344CB8AC3E}">
        <p14:creationId xmlns:p14="http://schemas.microsoft.com/office/powerpoint/2010/main" val="213648502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§1.7.1 · T1: CONSTITUTIONAL COMPLETENESS</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Sentience — The Constitutional Threshold</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According to the primary texts, sentience appears when one developing atom reaches constitutional completeness.</a:t>
            </a:r>
            <a:r>
              <a:rPr sz="1300" b="0" i="0" u="none" cap="none">
                <a:solidFill>
                  <a:srgbClr val="1E2447"/>
                </a:solidFill>
                <a:latin typeface="Calibri"/>
                <a:ea typeface="Calibri"/>
                <a:cs typeface="Calibri"/>
              </a:rPr>
              <a:t> Hungry and overfull atoms exchange particles until the required count is integrated. At closure, particle count stops changing while qualitative activity continues; the texts call that stable unit sentient jeevan. This is a stated criterion, not an accepted physical measurement or causal explanation of why closure is sentience.</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Before sentience — open constitution</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Absorbs or expels particles; required count not yet complete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Molecular and weight bondage continue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Kind, capacity, and qualitative change track particle count</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Sentience — constitution closes</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All particles required by that constitution are integrated</a:t>
            </a:r>
          </a:p>
          <a:p xmlns:a="http://schemas.openxmlformats.org/drawingml/2006/main">
            <a:pPr marL="342900" indent="-342900" algn="l">
              <a:spcBef>
                <a:spcPts val="0"/>
              </a:spcBef>
              <a:spcAft>
                <a:spcPts val="0"/>
              </a:spcAft>
              <a:buChar char="•"/>
              <a:defRPr sz="938">
                <a:solidFill>
                  <a:srgbClr val="5F6B82"/>
                </a:solidFill>
              </a:defRPr>
            </a:pPr>
            <a:r>
              <a:rPr sz="938" b="0" i="0" u="none" cap="none">
                <a:solidFill>
                  <a:srgbClr val="5F6B82"/>
                </a:solidFill>
                <a:latin typeface="Calibri"/>
                <a:ea typeface="Calibri"/>
                <a:cs typeface="Calibri"/>
              </a:rPr>
              <a:t>Particle count no longer increases or decreases</a:t>
            </a:r>
          </a:p>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Leaves molecular and weight bondage; qualitative activity continues as jeevan</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transition to sentience is the texts’ claim: one atom’s constitution closes and is reclassified as sentient — not a body becoming conscious through greater complexity. The threshold remains unmeasured.</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55, 58–59, 71, 86  ·  MVD pp. 8, 91  ·  KD 3.3  ·  No accepted procedure identifies this threshold or explains why closure is sentience (§6.2.1).</a:t>
            </a:r>
          </a:p>
        </p:txBody>
      </p:sp>
    </p:spTree>
    <p:extLst>
      <p:ext uri="{BB962C8B-B14F-4D97-AF65-F5344CB8AC3E}">
        <p14:creationId xmlns:p14="http://schemas.microsoft.com/office/powerpoint/2010/main" val="214135632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3  ·  </a:t>
            </a:r>
            <a:r>
              <a:rPr sz="1050" b="1" i="0" u="none" cap="none">
                <a:solidFill>
                  <a:srgbClr val="9A6414"/>
                </a:solidFill>
                <a:latin typeface="Calibri"/>
                <a:ea typeface="Calibri"/>
                <a:cs typeface="Calibri"/>
              </a:rPr>
              <a:t>§1.8</a:t>
            </a:r>
            <a:r>
              <a:rPr sz="1050" b="1" i="0" u="none" cap="none">
                <a:solidFill>
                  <a:srgbClr val="9A6414"/>
                </a:solidFill>
                <a:latin typeface="Calibri"/>
                <a:ea typeface="Calibri"/>
                <a:cs typeface="Calibri"/>
              </a:rPr>
              <a:t> · THE HUMAN JOINT FORM</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Body and Jeevan: One Joint Form</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Animal and human living is a joint form. Jeevan brings all ten activities; the body supplies the species-specific medium. Animal bodily and brain development limits their expression. The human medium supports the full range, while body-identification can still misdirect evaluation.</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Body — the medium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Pranic composition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Sense organs, brain, and physical expression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Animal: limited · Human: full medium; decomposable</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Jeevan — the knower</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Constitutionally complete sentient atom</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All five faculties and ten activities inherent</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Continues when the joint form ends</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body gates expression; jeevan is seer–doer–enjoyer through it. Animal limitation belongs to the medium; human mis-evaluation belongs to body-delusion.</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115, 288–289 · SB pp. 91–92 · </a:t>
            </a:r>
            <a:r>
              <a:rPr sz="950" b="0" i="1" u="none" cap="none">
                <a:solidFill>
                  <a:srgbClr val="5A6377"/>
                </a:solidFill>
                <a:latin typeface="Calibri"/>
                <a:ea typeface="Calibri"/>
                <a:cs typeface="Calibri"/>
              </a:rPr>
              <a:t>JV PDF pp. 20, 55</a:t>
            </a:r>
          </a:p>
        </p:txBody>
      </p:sp>
    </p:spTree>
    <p:extLst>
      <p:ext uri="{BB962C8B-B14F-4D97-AF65-F5344CB8AC3E}">
        <p14:creationId xmlns:p14="http://schemas.microsoft.com/office/powerpoint/2010/main" val="214135632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4" name="Google Shape;284;p13">
            <a:extLst xmlns:a="http://schemas.openxmlformats.org/drawingml/2006/main">
              <a:ext uri="{FF2B5EF4-FFF2-40B4-BE49-F238E27FC236}">
                <a16:creationId xmlns:a16="http://schemas.microsoft.com/office/drawing/2014/main" id="{1E5F56BB-9A34-4C85-9FA8-3973A3C8F59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5" name="Google Shape;285;p13">
            <a:extLst xmlns:a="http://schemas.openxmlformats.org/drawingml/2006/main">
              <a:ext uri="{FF2B5EF4-FFF2-40B4-BE49-F238E27FC236}">
                <a16:creationId xmlns:a16="http://schemas.microsoft.com/office/drawing/2014/main" id="{789B6EC8-4924-4167-914C-21CDEA4EF89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6" name="Google Shape;286;p13">
            <a:extLst xmlns:a="http://schemas.openxmlformats.org/drawingml/2006/main">
              <a:ext uri="{FF2B5EF4-FFF2-40B4-BE49-F238E27FC236}">
                <a16:creationId xmlns:a16="http://schemas.microsoft.com/office/drawing/2014/main" id="{64227F92-96D4-4E15-9F79-F545BF27D1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7" name="Google Shape;287;p13">
            <a:extLst xmlns:a="http://schemas.openxmlformats.org/drawingml/2006/main">
              <a:ext uri="{FF2B5EF4-FFF2-40B4-BE49-F238E27FC236}">
                <a16:creationId xmlns:a16="http://schemas.microsoft.com/office/drawing/2014/main" id="{1C5C8F2C-EDB9-4C04-9B75-C5DFEDCDDBE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a:t>
            </a:r>
            <a:r>
              <a:rPr sz="1050" b="1" i="0" u="none" cap="none">
                <a:solidFill>
                  <a:srgbClr val="9A6414"/>
                </a:solidFill>
                <a:latin typeface="Calibri"/>
                <a:ea typeface="Calibri"/>
                <a:cs typeface="Calibri"/>
              </a:rPr>
              <a:t> · CONSTITUTIONALLY COMPLETE</a:t>
            </a:r>
          </a:p>
        </p:txBody>
      </p:sp>
      <p:sp>
        <p:nvSpPr>
          <p:cNvPr id="288" name="Google Shape;288;p13">
            <a:extLst xmlns:a="http://schemas.openxmlformats.org/drawingml/2006/main">
              <a:ext uri="{FF2B5EF4-FFF2-40B4-BE49-F238E27FC236}">
                <a16:creationId xmlns:a16="http://schemas.microsoft.com/office/drawing/2014/main" id="{9217C47C-53A4-41ED-8226-61D3CF3778D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Five Faculties, Ten Activities</a:t>
            </a:r>
          </a:p>
        </p:txBody>
      </p:sp>
      <p:sp>
        <p:nvSpPr>
          <p:cNvPr id="289" name="Google Shape;289;p13">
            <a:extLst xmlns:a="http://schemas.openxmlformats.org/drawingml/2006/main">
              <a:ext uri="{FF2B5EF4-FFF2-40B4-BE49-F238E27FC236}">
                <a16:creationId xmlns:a16="http://schemas.microsoft.com/office/drawing/2014/main" id="{A7811749-9FD9-446E-9F16-BAE349C0EB31}"/>
              </a:ext>
            </a:extLst>
          </p:cNvPr>
          <p:cNvSpPr>
            <a:spLocks xmlns:a="http://schemas.openxmlformats.org/drawingml/2006/main" noGrp="1"/>
          </p:cNvSpPr>
          <p:nvPr/>
        </p:nvSpPr>
        <p:spPr>
          <a:xfrm xmlns:a="http://schemas.openxmlformats.org/drawingml/2006/main">
            <a:off x="1851660" y="2583180"/>
            <a:ext cx="960120" cy="9601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0" name="Google Shape;290;p13">
            <a:extLst xmlns:a="http://schemas.openxmlformats.org/drawingml/2006/main">
              <a:ext uri="{FF2B5EF4-FFF2-40B4-BE49-F238E27FC236}">
                <a16:creationId xmlns:a16="http://schemas.microsoft.com/office/drawing/2014/main" id="{B80053E0-F78A-42B8-B068-8EE096741EB1}"/>
              </a:ext>
            </a:extLst>
          </p:cNvPr>
          <p:cNvSpPr>
            <a:spLocks xmlns:a="http://schemas.openxmlformats.org/drawingml/2006/main" noGrp="1"/>
          </p:cNvSpPr>
          <p:nvPr/>
        </p:nvSpPr>
        <p:spPr>
          <a:xfrm xmlns:a="http://schemas.openxmlformats.org/drawingml/2006/main">
            <a:off x="1828800" y="24643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buddhi</a:t>
            </a:r>
          </a:p>
        </p:txBody>
      </p:sp>
      <p:sp>
        <p:nvSpPr>
          <p:cNvPr id="291" name="Google Shape;291;p13">
            <a:extLst xmlns:a="http://schemas.openxmlformats.org/drawingml/2006/main">
              <a:ext uri="{FF2B5EF4-FFF2-40B4-BE49-F238E27FC236}">
                <a16:creationId xmlns:a16="http://schemas.microsoft.com/office/drawing/2014/main" id="{6CDC5A34-ED41-4857-A986-B809E855A59E}"/>
              </a:ext>
            </a:extLst>
          </p:cNvPr>
          <p:cNvSpPr>
            <a:spLocks xmlns:a="http://schemas.openxmlformats.org/drawingml/2006/main" noGrp="1"/>
          </p:cNvSpPr>
          <p:nvPr/>
        </p:nvSpPr>
        <p:spPr>
          <a:xfrm xmlns:a="http://schemas.openxmlformats.org/drawingml/2006/main">
            <a:off x="1623060" y="2354580"/>
            <a:ext cx="1417320" cy="14173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2" name="Google Shape;292;p13">
            <a:extLst xmlns:a="http://schemas.openxmlformats.org/drawingml/2006/main">
              <a:ext uri="{FF2B5EF4-FFF2-40B4-BE49-F238E27FC236}">
                <a16:creationId xmlns:a16="http://schemas.microsoft.com/office/drawing/2014/main" id="{62D17117-F8A0-4EE1-A91D-B5B85A030A63}"/>
              </a:ext>
            </a:extLst>
          </p:cNvPr>
          <p:cNvSpPr>
            <a:spLocks xmlns:a="http://schemas.openxmlformats.org/drawingml/2006/main" noGrp="1"/>
          </p:cNvSpPr>
          <p:nvPr/>
        </p:nvSpPr>
        <p:spPr>
          <a:xfrm xmlns:a="http://schemas.openxmlformats.org/drawingml/2006/main">
            <a:off x="1828800" y="22357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chitta</a:t>
            </a:r>
          </a:p>
        </p:txBody>
      </p:sp>
      <p:sp>
        <p:nvSpPr>
          <p:cNvPr id="293" name="Google Shape;293;p13">
            <a:extLst xmlns:a="http://schemas.openxmlformats.org/drawingml/2006/main">
              <a:ext uri="{FF2B5EF4-FFF2-40B4-BE49-F238E27FC236}">
                <a16:creationId xmlns:a16="http://schemas.microsoft.com/office/drawing/2014/main" id="{BF98A95E-C47B-4496-B328-945B3D5A3301}"/>
              </a:ext>
            </a:extLst>
          </p:cNvPr>
          <p:cNvSpPr>
            <a:spLocks xmlns:a="http://schemas.openxmlformats.org/drawingml/2006/main" noGrp="1"/>
          </p:cNvSpPr>
          <p:nvPr/>
        </p:nvSpPr>
        <p:spPr>
          <a:xfrm xmlns:a="http://schemas.openxmlformats.org/drawingml/2006/main">
            <a:off x="1394460" y="2125980"/>
            <a:ext cx="1874520" cy="18745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4" name="Google Shape;294;p13">
            <a:extLst xmlns:a="http://schemas.openxmlformats.org/drawingml/2006/main">
              <a:ext uri="{FF2B5EF4-FFF2-40B4-BE49-F238E27FC236}">
                <a16:creationId xmlns:a16="http://schemas.microsoft.com/office/drawing/2014/main" id="{A75EA635-19EA-4538-B7E1-6FED769C3EB1}"/>
              </a:ext>
            </a:extLst>
          </p:cNvPr>
          <p:cNvSpPr>
            <a:spLocks xmlns:a="http://schemas.openxmlformats.org/drawingml/2006/main" noGrp="1"/>
          </p:cNvSpPr>
          <p:nvPr/>
        </p:nvSpPr>
        <p:spPr>
          <a:xfrm xmlns:a="http://schemas.openxmlformats.org/drawingml/2006/main">
            <a:off x="1828800" y="20071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vritti</a:t>
            </a:r>
          </a:p>
        </p:txBody>
      </p:sp>
      <p:sp>
        <p:nvSpPr>
          <p:cNvPr id="295" name="Google Shape;295;p13">
            <a:extLst xmlns:a="http://schemas.openxmlformats.org/drawingml/2006/main">
              <a:ext uri="{FF2B5EF4-FFF2-40B4-BE49-F238E27FC236}">
                <a16:creationId xmlns:a16="http://schemas.microsoft.com/office/drawing/2014/main" id="{44BA07D9-B04E-436E-8BB7-DD9A217D133D}"/>
              </a:ext>
            </a:extLst>
          </p:cNvPr>
          <p:cNvSpPr>
            <a:spLocks xmlns:a="http://schemas.openxmlformats.org/drawingml/2006/main" noGrp="1"/>
          </p:cNvSpPr>
          <p:nvPr/>
        </p:nvSpPr>
        <p:spPr>
          <a:xfrm xmlns:a="http://schemas.openxmlformats.org/drawingml/2006/main">
            <a:off x="1165860" y="1897380"/>
            <a:ext cx="2331720" cy="23317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6" name="Google Shape;296;p13">
            <a:extLst xmlns:a="http://schemas.openxmlformats.org/drawingml/2006/main">
              <a:ext uri="{FF2B5EF4-FFF2-40B4-BE49-F238E27FC236}">
                <a16:creationId xmlns:a16="http://schemas.microsoft.com/office/drawing/2014/main" id="{779AF3AD-B505-451C-9CCB-C3C043B8104C}"/>
              </a:ext>
            </a:extLst>
          </p:cNvPr>
          <p:cNvSpPr>
            <a:spLocks xmlns:a="http://schemas.openxmlformats.org/drawingml/2006/main" noGrp="1"/>
          </p:cNvSpPr>
          <p:nvPr/>
        </p:nvSpPr>
        <p:spPr>
          <a:xfrm xmlns:a="http://schemas.openxmlformats.org/drawingml/2006/main">
            <a:off x="1828800" y="17785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mun</a:t>
            </a:r>
          </a:p>
        </p:txBody>
      </p:sp>
      <p:sp>
        <p:nvSpPr>
          <p:cNvPr id="297" name="Google Shape;297;p13">
            <a:extLst xmlns:a="http://schemas.openxmlformats.org/drawingml/2006/main">
              <a:ext uri="{FF2B5EF4-FFF2-40B4-BE49-F238E27FC236}">
                <a16:creationId xmlns:a16="http://schemas.microsoft.com/office/drawing/2014/main" id="{C2363F2F-B9F7-41B6-BFD6-B03380A98FBE}"/>
              </a:ext>
            </a:extLst>
          </p:cNvPr>
          <p:cNvSpPr>
            <a:spLocks xmlns:a="http://schemas.openxmlformats.org/drawingml/2006/main" noGrp="1"/>
          </p:cNvSpPr>
          <p:nvPr/>
        </p:nvSpPr>
        <p:spPr>
          <a:xfrm xmlns:a="http://schemas.openxmlformats.org/drawingml/2006/main">
            <a:off x="2084832" y="2816352"/>
            <a:ext cx="493776" cy="49377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8" name="Google Shape;298;p13">
            <a:extLst xmlns:a="http://schemas.openxmlformats.org/drawingml/2006/main">
              <a:ext uri="{FF2B5EF4-FFF2-40B4-BE49-F238E27FC236}">
                <a16:creationId xmlns:a16="http://schemas.microsoft.com/office/drawing/2014/main" id="{5D222F60-F7F1-44F5-ACE0-F3F1A86FC60B}"/>
              </a:ext>
            </a:extLst>
          </p:cNvPr>
          <p:cNvSpPr>
            <a:spLocks xmlns:a="http://schemas.openxmlformats.org/drawingml/2006/main" noGrp="1"/>
          </p:cNvSpPr>
          <p:nvPr/>
        </p:nvSpPr>
        <p:spPr>
          <a:xfrm xmlns:a="http://schemas.openxmlformats.org/drawingml/2006/main">
            <a:off x="1874520" y="2926080"/>
            <a:ext cx="914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50" b="1" i="0" u="none" cap="none">
                <a:solidFill>
                  <a:srgbClr val="FFFFFF"/>
                </a:solidFill>
                <a:latin typeface="Calibri"/>
                <a:ea typeface="Calibri"/>
                <a:cs typeface="Calibri"/>
              </a:rPr>
              <a:t>atma</a:t>
            </a:r>
          </a:p>
        </p:txBody>
      </p:sp>
      <p:sp>
        <p:nvSpPr>
          <p:cNvPr id="299" name="Google Shape;299;p13">
            <a:extLst xmlns:a="http://schemas.openxmlformats.org/drawingml/2006/main">
              <a:ext uri="{FF2B5EF4-FFF2-40B4-BE49-F238E27FC236}">
                <a16:creationId xmlns:a16="http://schemas.microsoft.com/office/drawing/2014/main" id="{147A2446-6FAA-46E7-8CA7-4BC2804DA439}"/>
              </a:ext>
            </a:extLst>
          </p:cNvPr>
          <p:cNvSpPr>
            <a:spLocks xmlns:a="http://schemas.openxmlformats.org/drawingml/2006/main" noGrp="1"/>
          </p:cNvSpPr>
          <p:nvPr/>
        </p:nvSpPr>
        <p:spPr>
          <a:xfrm xmlns:a="http://schemas.openxmlformats.org/drawingml/2006/main">
            <a:off x="685800" y="4434840"/>
            <a:ext cx="3383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centre = core self (atma); the four rings around it are the other four faculties (MVD p. 78)</a:t>
            </a:r>
          </a:p>
        </p:txBody>
      </p:sp>
      <p:graphicFrame>
        <p:nvGraphicFramePr>
          <p:cNvPr id="320" name="Google Shape;300;p13"/>
          <p:cNvGraphicFramePr/>
          <p:nvPr/>
        </p:nvGraphicFramePr>
        <p:xfrm>
          <a:off xmlns:a="http://schemas.openxmlformats.org/drawingml/2006/main" x="4480559" y="1271015"/>
          <a:ext xmlns:a="http://schemas.openxmlformats.org/drawingml/2006/main" cx="4160525" cy="2249425"/>
        </p:xfrm>
        <a:graphic xmlns:a="http://schemas.openxmlformats.org/drawingml/2006/main">
          <a:graphicData uri="http://schemas.openxmlformats.org/drawingml/2006/table">
            <a:tbl>
              <a:tblPr>
                <a:tableStyleId>{6C92A692-798E-4634-90B1-36CD3966BFCB}</a:tableStyleId>
              </a:tblPr>
              <a:tblGrid>
                <a:gridCol w="1371600"/>
                <a:gridCol w="1417325"/>
                <a:gridCol w="1371600"/>
              </a:tblGrid>
              <a:tr h="329175">
                <a:tc>
                  <a:txBody>
                    <a:bodyPr/>
                    <a:lstStyle/>
                    <a:p>
                      <a:pPr marL="0" indent="0" algn="l">
                        <a:buNone/>
                      </a:pPr>
                      <a:r>
                        <a:rPr sz="1050" b="1" u="none" cap="none">
                          <a:solidFill>
                            <a:srgbClr val="FFFFFF"/>
                          </a:solidFill>
                          <a:latin typeface="Calibri"/>
                          <a:ea typeface="Calibri"/>
                          <a:cs typeface="Calibri"/>
                        </a:rPr>
                        <a:t>Faculty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Projection (outward)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Reflection (inward)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84050">
                <a:tc>
                  <a:txBody>
                    <a:bodyPr/>
                    <a:lstStyle/>
                    <a:p>
                      <a:pPr marL="0" indent="0" algn="l">
                        <a:buNone/>
                      </a:pPr>
                      <a:r>
                        <a:rPr sz="1050" u="none" cap="none">
                          <a:solidFill>
                            <a:srgbClr val="1E2447"/>
                          </a:solidFill>
                          <a:latin typeface="Calibri"/>
                          <a:ea typeface="Calibri"/>
                          <a:cs typeface="Calibri"/>
                        </a:rPr>
                        <a:t>Mun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selection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taste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Vritti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analysis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deliberation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Chitta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visualisation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contemplation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Buddhi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resolve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comprehension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Atma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authenticity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301" name="Google Shape;301;p13">
            <a:extLst xmlns:a="http://schemas.openxmlformats.org/drawingml/2006/main">
              <a:ext uri="{FF2B5EF4-FFF2-40B4-BE49-F238E27FC236}">
                <a16:creationId xmlns:a16="http://schemas.microsoft.com/office/drawing/2014/main" id="{0BAE59CB-DC58-45A3-A21C-9997882F3F6D}"/>
              </a:ext>
            </a:extLst>
          </p:cNvPr>
          <p:cNvSpPr>
            <a:spLocks xmlns:a="http://schemas.openxmlformats.org/drawingml/2006/main" noGrp="1"/>
          </p:cNvSpPr>
          <p:nvPr/>
        </p:nvSpPr>
        <p:spPr>
          <a:xfrm xmlns:a="http://schemas.openxmlformats.org/drawingml/2006/main">
            <a:off x="4480561" y="3683658"/>
            <a:ext cx="416052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Jeevan bears all five faculties and ten activities. Animal bodies limit their expression; the human medium supports the full range. Inward reflection (pratyavartan) deepens knowing. Imaging between units (pratibimban) provides a basis of recognition.</a:t>
            </a:r>
          </a:p>
        </p:txBody>
      </p:sp>
      <p:sp>
        <p:nvSpPr>
          <p:cNvPr id="302" name="Google Shape;302;p13">
            <a:extLst xmlns:a="http://schemas.openxmlformats.org/drawingml/2006/main">
              <a:ext uri="{FF2B5EF4-FFF2-40B4-BE49-F238E27FC236}">
                <a16:creationId xmlns:a16="http://schemas.microsoft.com/office/drawing/2014/main" id="{A909FAFB-2298-487C-807A-90781ABFFDF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78, 126, 278–279, 286–287 · JV p. 92</a:t>
            </a:r>
          </a:p>
        </p:txBody>
      </p:sp>
    </p:spTree>
    <p:extLst>
      <p:ext uri="{BB962C8B-B14F-4D97-AF65-F5344CB8AC3E}">
        <p14:creationId xmlns:p14="http://schemas.microsoft.com/office/powerpoint/2010/main" val="120026850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8" name="Google Shape;308;p14">
            <a:extLst xmlns:a="http://schemas.openxmlformats.org/drawingml/2006/main">
              <a:ext uri="{FF2B5EF4-FFF2-40B4-BE49-F238E27FC236}">
                <a16:creationId xmlns:a16="http://schemas.microsoft.com/office/drawing/2014/main" id="{72EA75BC-E9AE-4128-84B5-F0118480006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09" name="Google Shape;309;p14">
            <a:extLst xmlns:a="http://schemas.openxmlformats.org/drawingml/2006/main">
              <a:ext uri="{FF2B5EF4-FFF2-40B4-BE49-F238E27FC236}">
                <a16:creationId xmlns:a16="http://schemas.microsoft.com/office/drawing/2014/main" id="{C16F35D3-0C5D-48EE-B49C-3C5D0B07F8EA}"/>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0" name="Google Shape;310;p14">
            <a:extLst xmlns:a="http://schemas.openxmlformats.org/drawingml/2006/main">
              <a:ext uri="{FF2B5EF4-FFF2-40B4-BE49-F238E27FC236}">
                <a16:creationId xmlns:a16="http://schemas.microsoft.com/office/drawing/2014/main" id="{40E8D9C2-1FFC-4B26-A937-06F35C7F720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1" name="Google Shape;311;p14">
            <a:extLst xmlns:a="http://schemas.openxmlformats.org/drawingml/2006/main">
              <a:ext uri="{FF2B5EF4-FFF2-40B4-BE49-F238E27FC236}">
                <a16:creationId xmlns:a16="http://schemas.microsoft.com/office/drawing/2014/main" id="{E9D23E7E-27AF-4FE8-8FA6-5A24921827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§1.9</a:t>
            </a:r>
            <a:r>
              <a:rPr sz="1050" b="1" i="0" u="none" cap="none">
                <a:solidFill>
                  <a:srgbClr val="9A6414"/>
                </a:solidFill>
                <a:latin typeface="Calibri"/>
                <a:ea typeface="Calibri"/>
                <a:cs typeface="Calibri"/>
              </a:rPr>
              <a:t> · FOUR HARMONIES WITHIN JEEVAN</a:t>
            </a:r>
          </a:p>
        </p:txBody>
      </p:sp>
      <p:sp>
        <p:nvSpPr>
          <p:cNvPr id="312" name="Google Shape;312;p14">
            <a:extLst xmlns:a="http://schemas.openxmlformats.org/drawingml/2006/main">
              <a:ext uri="{FF2B5EF4-FFF2-40B4-BE49-F238E27FC236}">
                <a16:creationId xmlns:a16="http://schemas.microsoft.com/office/drawing/2014/main" id="{0F6C2FCE-72A2-492A-B823-190D8D785DAA}"/>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Harmonies Within Jeevan</a:t>
            </a:r>
          </a:p>
        </p:txBody>
      </p:sp>
      <p:sp>
        <p:nvSpPr>
          <p:cNvPr id="313" name="Google Shape;313;p14">
            <a:extLst xmlns:a="http://schemas.openxmlformats.org/drawingml/2006/main">
              <a:ext uri="{FF2B5EF4-FFF2-40B4-BE49-F238E27FC236}">
                <a16:creationId xmlns:a16="http://schemas.microsoft.com/office/drawing/2014/main" id="{80D45A9D-9C11-4BF0-A185-ED537EA7E961}"/>
              </a:ext>
            </a:extLst>
          </p:cNvPr>
          <p:cNvSpPr>
            <a:spLocks xmlns:a="http://schemas.openxmlformats.org/drawingml/2006/main" noGrp="1"/>
          </p:cNvSpPr>
          <p:nvPr/>
        </p:nvSpPr>
        <p:spPr>
          <a:xfrm xmlns:a="http://schemas.openxmlformats.org/drawingml/2006/main">
            <a:off x="640080"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4" name="Google Shape;314;p14">
            <a:extLst xmlns:a="http://schemas.openxmlformats.org/drawingml/2006/main">
              <a:ext uri="{FF2B5EF4-FFF2-40B4-BE49-F238E27FC236}">
                <a16:creationId xmlns:a16="http://schemas.microsoft.com/office/drawing/2014/main" id="{8678B3DF-58B5-47F3-A97B-ECB7B2AEDAF3}"/>
              </a:ext>
            </a:extLst>
          </p:cNvPr>
          <p:cNvSpPr>
            <a:spLocks xmlns:a="http://schemas.openxmlformats.org/drawingml/2006/main" noGrp="1"/>
          </p:cNvSpPr>
          <p:nvPr/>
        </p:nvSpPr>
        <p:spPr>
          <a:xfrm xmlns:a="http://schemas.openxmlformats.org/drawingml/2006/main">
            <a:off x="822960"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5" name="Google Shape;315;p14">
            <a:extLst xmlns:a="http://schemas.openxmlformats.org/drawingml/2006/main">
              <a:ext uri="{FF2B5EF4-FFF2-40B4-BE49-F238E27FC236}">
                <a16:creationId xmlns:a16="http://schemas.microsoft.com/office/drawing/2014/main" id="{3FDA5AD1-D159-453D-9654-4378A29570F1}"/>
              </a:ext>
            </a:extLst>
          </p:cNvPr>
          <p:cNvSpPr>
            <a:spLocks xmlns:a="http://schemas.openxmlformats.org/drawingml/2006/main" noGrp="1"/>
          </p:cNvSpPr>
          <p:nvPr/>
        </p:nvSpPr>
        <p:spPr>
          <a:xfrm xmlns:a="http://schemas.openxmlformats.org/drawingml/2006/main">
            <a:off x="888797"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6" name="Google Shape;316;p14">
            <a:extLst xmlns:a="http://schemas.openxmlformats.org/drawingml/2006/main">
              <a:ext uri="{FF2B5EF4-FFF2-40B4-BE49-F238E27FC236}">
                <a16:creationId xmlns:a16="http://schemas.microsoft.com/office/drawing/2014/main" id="{75083F2E-CF5C-4F62-974A-978A75714E4D}"/>
              </a:ext>
            </a:extLst>
          </p:cNvPr>
          <p:cNvSpPr>
            <a:spLocks xmlns:a="http://schemas.openxmlformats.org/drawingml/2006/main" noGrp="1"/>
          </p:cNvSpPr>
          <p:nvPr/>
        </p:nvSpPr>
        <p:spPr>
          <a:xfrm xmlns:a="http://schemas.openxmlformats.org/drawingml/2006/main">
            <a:off x="944758"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7" name="Google Shape;317;p14">
            <a:extLst xmlns:a="http://schemas.openxmlformats.org/drawingml/2006/main">
              <a:ext uri="{FF2B5EF4-FFF2-40B4-BE49-F238E27FC236}">
                <a16:creationId xmlns:a16="http://schemas.microsoft.com/office/drawing/2014/main" id="{FCC81FE8-0B43-4725-BB21-8B4B1A60D5E0}"/>
              </a:ext>
            </a:extLst>
          </p:cNvPr>
          <p:cNvSpPr>
            <a:spLocks xmlns:a="http://schemas.openxmlformats.org/drawingml/2006/main" noGrp="1"/>
          </p:cNvSpPr>
          <p:nvPr/>
        </p:nvSpPr>
        <p:spPr>
          <a:xfrm xmlns:a="http://schemas.openxmlformats.org/drawingml/2006/main">
            <a:off x="804672"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Happiness</a:t>
            </a:r>
          </a:p>
        </p:txBody>
      </p:sp>
      <p:sp>
        <p:nvSpPr>
          <p:cNvPr id="318" name="Google Shape;318;p14">
            <a:extLst xmlns:a="http://schemas.openxmlformats.org/drawingml/2006/main">
              <a:ext uri="{FF2B5EF4-FFF2-40B4-BE49-F238E27FC236}">
                <a16:creationId xmlns:a16="http://schemas.microsoft.com/office/drawing/2014/main" id="{D3238993-65D7-492E-ADF1-2258EA825CDE}"/>
              </a:ext>
            </a:extLst>
          </p:cNvPr>
          <p:cNvSpPr>
            <a:spLocks xmlns:a="http://schemas.openxmlformats.org/drawingml/2006/main" noGrp="1"/>
          </p:cNvSpPr>
          <p:nvPr/>
        </p:nvSpPr>
        <p:spPr>
          <a:xfrm xmlns:a="http://schemas.openxmlformats.org/drawingml/2006/main">
            <a:off x="804672"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at mun, with vritti</a:t>
            </a:r>
          </a:p>
        </p:txBody>
      </p:sp>
      <p:sp>
        <p:nvSpPr>
          <p:cNvPr id="319" name="Google Shape;319;p14">
            <a:extLst xmlns:a="http://schemas.openxmlformats.org/drawingml/2006/main">
              <a:ext uri="{FF2B5EF4-FFF2-40B4-BE49-F238E27FC236}">
                <a16:creationId xmlns:a16="http://schemas.microsoft.com/office/drawing/2014/main" id="{60F39B84-EE19-45D0-8768-9382241F42AA}"/>
              </a:ext>
            </a:extLst>
          </p:cNvPr>
          <p:cNvSpPr>
            <a:spLocks xmlns:a="http://schemas.openxmlformats.org/drawingml/2006/main" noGrp="1"/>
          </p:cNvSpPr>
          <p:nvPr/>
        </p:nvSpPr>
        <p:spPr>
          <a:xfrm xmlns:a="http://schemas.openxmlformats.org/drawingml/2006/main">
            <a:off x="2633472"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0" name="Google Shape;320;p14">
            <a:extLst xmlns:a="http://schemas.openxmlformats.org/drawingml/2006/main">
              <a:ext uri="{FF2B5EF4-FFF2-40B4-BE49-F238E27FC236}">
                <a16:creationId xmlns:a16="http://schemas.microsoft.com/office/drawing/2014/main" id="{7FA0ED02-543E-4A13-95D2-6067839C7F83}"/>
              </a:ext>
            </a:extLst>
          </p:cNvPr>
          <p:cNvSpPr>
            <a:spLocks xmlns:a="http://schemas.openxmlformats.org/drawingml/2006/main" noGrp="1"/>
          </p:cNvSpPr>
          <p:nvPr/>
        </p:nvSpPr>
        <p:spPr>
          <a:xfrm xmlns:a="http://schemas.openxmlformats.org/drawingml/2006/main">
            <a:off x="2816352"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1" name="Google Shape;321;p14">
            <a:extLst xmlns:a="http://schemas.openxmlformats.org/drawingml/2006/main">
              <a:ext uri="{FF2B5EF4-FFF2-40B4-BE49-F238E27FC236}">
                <a16:creationId xmlns:a16="http://schemas.microsoft.com/office/drawing/2014/main" id="{05984975-9EF2-4B27-BC18-E34E61BF99CE}"/>
              </a:ext>
            </a:extLst>
          </p:cNvPr>
          <p:cNvSpPr>
            <a:spLocks xmlns:a="http://schemas.openxmlformats.org/drawingml/2006/main" noGrp="1"/>
          </p:cNvSpPr>
          <p:nvPr/>
        </p:nvSpPr>
        <p:spPr>
          <a:xfrm xmlns:a="http://schemas.openxmlformats.org/drawingml/2006/main">
            <a:off x="2882189"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2" name="Google Shape;322;p14">
            <a:extLst xmlns:a="http://schemas.openxmlformats.org/drawingml/2006/main">
              <a:ext uri="{FF2B5EF4-FFF2-40B4-BE49-F238E27FC236}">
                <a16:creationId xmlns:a16="http://schemas.microsoft.com/office/drawing/2014/main" id="{BF5CD7AA-6685-41E6-97B6-F613B103ED15}"/>
              </a:ext>
            </a:extLst>
          </p:cNvPr>
          <p:cNvSpPr>
            <a:spLocks xmlns:a="http://schemas.openxmlformats.org/drawingml/2006/main" noGrp="1"/>
          </p:cNvSpPr>
          <p:nvPr/>
        </p:nvSpPr>
        <p:spPr>
          <a:xfrm xmlns:a="http://schemas.openxmlformats.org/drawingml/2006/main">
            <a:off x="2938150"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3" name="Google Shape;323;p14">
            <a:extLst xmlns:a="http://schemas.openxmlformats.org/drawingml/2006/main">
              <a:ext uri="{FF2B5EF4-FFF2-40B4-BE49-F238E27FC236}">
                <a16:creationId xmlns:a16="http://schemas.microsoft.com/office/drawing/2014/main" id="{B602BF87-099F-4048-8393-606BC4714DEC}"/>
              </a:ext>
            </a:extLst>
          </p:cNvPr>
          <p:cNvSpPr>
            <a:spLocks xmlns:a="http://schemas.openxmlformats.org/drawingml/2006/main" noGrp="1"/>
          </p:cNvSpPr>
          <p:nvPr/>
        </p:nvSpPr>
        <p:spPr>
          <a:xfrm xmlns:a="http://schemas.openxmlformats.org/drawingml/2006/main">
            <a:off x="2798064"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Peace</a:t>
            </a:r>
          </a:p>
        </p:txBody>
      </p:sp>
      <p:sp>
        <p:nvSpPr>
          <p:cNvPr id="324" name="Google Shape;324;p14">
            <a:extLst xmlns:a="http://schemas.openxmlformats.org/drawingml/2006/main">
              <a:ext uri="{FF2B5EF4-FFF2-40B4-BE49-F238E27FC236}">
                <a16:creationId xmlns:a16="http://schemas.microsoft.com/office/drawing/2014/main" id="{C57EE985-B72A-4CAD-8E04-D8480AA5134A}"/>
              </a:ext>
            </a:extLst>
          </p:cNvPr>
          <p:cNvSpPr>
            <a:spLocks xmlns:a="http://schemas.openxmlformats.org/drawingml/2006/main" noGrp="1"/>
          </p:cNvSpPr>
          <p:nvPr/>
        </p:nvSpPr>
        <p:spPr>
          <a:xfrm xmlns:a="http://schemas.openxmlformats.org/drawingml/2006/main">
            <a:off x="2798064"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at vritti, with chitta</a:t>
            </a:r>
          </a:p>
        </p:txBody>
      </p:sp>
      <p:sp>
        <p:nvSpPr>
          <p:cNvPr id="325" name="Google Shape;325;p14">
            <a:extLst xmlns:a="http://schemas.openxmlformats.org/drawingml/2006/main">
              <a:ext uri="{FF2B5EF4-FFF2-40B4-BE49-F238E27FC236}">
                <a16:creationId xmlns:a16="http://schemas.microsoft.com/office/drawing/2014/main" id="{0B376BFC-7CD1-4336-8594-75267473214F}"/>
              </a:ext>
            </a:extLst>
          </p:cNvPr>
          <p:cNvSpPr>
            <a:spLocks xmlns:a="http://schemas.openxmlformats.org/drawingml/2006/main" noGrp="1"/>
          </p:cNvSpPr>
          <p:nvPr/>
        </p:nvSpPr>
        <p:spPr>
          <a:xfrm xmlns:a="http://schemas.openxmlformats.org/drawingml/2006/main">
            <a:off x="4626864"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6" name="Google Shape;326;p14">
            <a:extLst xmlns:a="http://schemas.openxmlformats.org/drawingml/2006/main">
              <a:ext uri="{FF2B5EF4-FFF2-40B4-BE49-F238E27FC236}">
                <a16:creationId xmlns:a16="http://schemas.microsoft.com/office/drawing/2014/main" id="{5D87A2CB-DCEF-43CE-896E-6381F18C8FAE}"/>
              </a:ext>
            </a:extLst>
          </p:cNvPr>
          <p:cNvSpPr>
            <a:spLocks xmlns:a="http://schemas.openxmlformats.org/drawingml/2006/main" noGrp="1"/>
          </p:cNvSpPr>
          <p:nvPr/>
        </p:nvSpPr>
        <p:spPr>
          <a:xfrm xmlns:a="http://schemas.openxmlformats.org/drawingml/2006/main">
            <a:off x="4809744"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7" name="Google Shape;327;p14">
            <a:extLst xmlns:a="http://schemas.openxmlformats.org/drawingml/2006/main">
              <a:ext uri="{FF2B5EF4-FFF2-40B4-BE49-F238E27FC236}">
                <a16:creationId xmlns:a16="http://schemas.microsoft.com/office/drawing/2014/main" id="{B089A3C9-77C2-4F30-A684-280DB0E7EF35}"/>
              </a:ext>
            </a:extLst>
          </p:cNvPr>
          <p:cNvSpPr>
            <a:spLocks xmlns:a="http://schemas.openxmlformats.org/drawingml/2006/main" noGrp="1"/>
          </p:cNvSpPr>
          <p:nvPr/>
        </p:nvSpPr>
        <p:spPr>
          <a:xfrm xmlns:a="http://schemas.openxmlformats.org/drawingml/2006/main">
            <a:off x="4875581"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8" name="Google Shape;328;p14">
            <a:extLst xmlns:a="http://schemas.openxmlformats.org/drawingml/2006/main">
              <a:ext uri="{FF2B5EF4-FFF2-40B4-BE49-F238E27FC236}">
                <a16:creationId xmlns:a16="http://schemas.microsoft.com/office/drawing/2014/main" id="{DBF1ECF8-04B7-4659-90D6-4B7D43CFB0FF}"/>
              </a:ext>
            </a:extLst>
          </p:cNvPr>
          <p:cNvSpPr>
            <a:spLocks xmlns:a="http://schemas.openxmlformats.org/drawingml/2006/main" noGrp="1"/>
          </p:cNvSpPr>
          <p:nvPr/>
        </p:nvSpPr>
        <p:spPr>
          <a:xfrm xmlns:a="http://schemas.openxmlformats.org/drawingml/2006/main">
            <a:off x="4931542"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9" name="Google Shape;329;p14">
            <a:extLst xmlns:a="http://schemas.openxmlformats.org/drawingml/2006/main">
              <a:ext uri="{FF2B5EF4-FFF2-40B4-BE49-F238E27FC236}">
                <a16:creationId xmlns:a16="http://schemas.microsoft.com/office/drawing/2014/main" id="{0133C274-E784-4152-8DBC-45323A74CBEE}"/>
              </a:ext>
            </a:extLst>
          </p:cNvPr>
          <p:cNvSpPr>
            <a:spLocks xmlns:a="http://schemas.openxmlformats.org/drawingml/2006/main" noGrp="1"/>
          </p:cNvSpPr>
          <p:nvPr/>
        </p:nvSpPr>
        <p:spPr>
          <a:xfrm xmlns:a="http://schemas.openxmlformats.org/drawingml/2006/main">
            <a:off x="4791456"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Contentment</a:t>
            </a:r>
          </a:p>
        </p:txBody>
      </p:sp>
      <p:sp>
        <p:nvSpPr>
          <p:cNvPr id="330" name="Google Shape;330;p14">
            <a:extLst xmlns:a="http://schemas.openxmlformats.org/drawingml/2006/main">
              <a:ext uri="{FF2B5EF4-FFF2-40B4-BE49-F238E27FC236}">
                <a16:creationId xmlns:a16="http://schemas.microsoft.com/office/drawing/2014/main" id="{AAC31C75-25BF-46A1-A126-DCDE6C144CF6}"/>
              </a:ext>
            </a:extLst>
          </p:cNvPr>
          <p:cNvSpPr>
            <a:spLocks xmlns:a="http://schemas.openxmlformats.org/drawingml/2006/main" noGrp="1"/>
          </p:cNvSpPr>
          <p:nvPr/>
        </p:nvSpPr>
        <p:spPr>
          <a:xfrm xmlns:a="http://schemas.openxmlformats.org/drawingml/2006/main">
            <a:off x="4791456"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at chitta, with buddhi</a:t>
            </a:r>
          </a:p>
        </p:txBody>
      </p:sp>
      <p:sp>
        <p:nvSpPr>
          <p:cNvPr id="331" name="Google Shape;331;p14">
            <a:extLst xmlns:a="http://schemas.openxmlformats.org/drawingml/2006/main">
              <a:ext uri="{FF2B5EF4-FFF2-40B4-BE49-F238E27FC236}">
                <a16:creationId xmlns:a16="http://schemas.microsoft.com/office/drawing/2014/main" id="{AD588ADC-14AB-4D6E-BE51-B47D1FA91313}"/>
              </a:ext>
            </a:extLst>
          </p:cNvPr>
          <p:cNvSpPr>
            <a:spLocks xmlns:a="http://schemas.openxmlformats.org/drawingml/2006/main" noGrp="1"/>
          </p:cNvSpPr>
          <p:nvPr/>
        </p:nvSpPr>
        <p:spPr>
          <a:xfrm xmlns:a="http://schemas.openxmlformats.org/drawingml/2006/main">
            <a:off x="6620256" y="1371600"/>
            <a:ext cx="1874520" cy="1371600"/>
          </a:xfrm>
          <a:prstGeom xmlns:a="http://schemas.openxmlformats.org/drawingml/2006/main" prst="roundRect">
            <a:avLst>
              <a:gd name="adj" fmla="val 666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2" name="Google Shape;332;p14">
            <a:extLst xmlns:a="http://schemas.openxmlformats.org/drawingml/2006/main">
              <a:ext uri="{FF2B5EF4-FFF2-40B4-BE49-F238E27FC236}">
                <a16:creationId xmlns:a16="http://schemas.microsoft.com/office/drawing/2014/main" id="{64E5DA13-AAB6-40CB-9572-18B5D063B210}"/>
              </a:ext>
            </a:extLst>
          </p:cNvPr>
          <p:cNvSpPr>
            <a:spLocks xmlns:a="http://schemas.openxmlformats.org/drawingml/2006/main" noGrp="1"/>
          </p:cNvSpPr>
          <p:nvPr/>
        </p:nvSpPr>
        <p:spPr>
          <a:xfrm xmlns:a="http://schemas.openxmlformats.org/drawingml/2006/main">
            <a:off x="6803136"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3" name="Google Shape;333;p14">
            <a:extLst xmlns:a="http://schemas.openxmlformats.org/drawingml/2006/main">
              <a:ext uri="{FF2B5EF4-FFF2-40B4-BE49-F238E27FC236}">
                <a16:creationId xmlns:a16="http://schemas.microsoft.com/office/drawing/2014/main" id="{370FE943-5D79-4AE6-8839-A869C8C2CFB5}"/>
              </a:ext>
            </a:extLst>
          </p:cNvPr>
          <p:cNvSpPr>
            <a:spLocks xmlns:a="http://schemas.openxmlformats.org/drawingml/2006/main" noGrp="1"/>
          </p:cNvSpPr>
          <p:nvPr/>
        </p:nvSpPr>
        <p:spPr>
          <a:xfrm xmlns:a="http://schemas.openxmlformats.org/drawingml/2006/main">
            <a:off x="6868973"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4" name="Google Shape;334;p14">
            <a:extLst xmlns:a="http://schemas.openxmlformats.org/drawingml/2006/main">
              <a:ext uri="{FF2B5EF4-FFF2-40B4-BE49-F238E27FC236}">
                <a16:creationId xmlns:a16="http://schemas.microsoft.com/office/drawing/2014/main" id="{0D0B3D8B-4050-4E23-960D-B46244A46C0C}"/>
              </a:ext>
            </a:extLst>
          </p:cNvPr>
          <p:cNvSpPr>
            <a:spLocks xmlns:a="http://schemas.openxmlformats.org/drawingml/2006/main" noGrp="1"/>
          </p:cNvSpPr>
          <p:nvPr/>
        </p:nvSpPr>
        <p:spPr>
          <a:xfrm xmlns:a="http://schemas.openxmlformats.org/drawingml/2006/main">
            <a:off x="6924934" y="1657990"/>
            <a:ext cx="85588" cy="8558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5" name="Google Shape;335;p14">
            <a:extLst xmlns:a="http://schemas.openxmlformats.org/drawingml/2006/main">
              <a:ext uri="{FF2B5EF4-FFF2-40B4-BE49-F238E27FC236}">
                <a16:creationId xmlns:a16="http://schemas.microsoft.com/office/drawing/2014/main" id="{2152B3A1-74C9-497A-BEF6-73BDD595E11F}"/>
              </a:ext>
            </a:extLst>
          </p:cNvPr>
          <p:cNvSpPr>
            <a:spLocks xmlns:a="http://schemas.openxmlformats.org/drawingml/2006/main" noGrp="1"/>
          </p:cNvSpPr>
          <p:nvPr/>
        </p:nvSpPr>
        <p:spPr>
          <a:xfrm xmlns:a="http://schemas.openxmlformats.org/drawingml/2006/main">
            <a:off x="6784848"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Bliss</a:t>
            </a:r>
          </a:p>
        </p:txBody>
      </p:sp>
      <p:sp>
        <p:nvSpPr>
          <p:cNvPr id="336" name="Google Shape;336;p14">
            <a:extLst xmlns:a="http://schemas.openxmlformats.org/drawingml/2006/main">
              <a:ext uri="{FF2B5EF4-FFF2-40B4-BE49-F238E27FC236}">
                <a16:creationId xmlns:a16="http://schemas.microsoft.com/office/drawing/2014/main" id="{959F3493-EF9B-4605-8AB3-D87384A62E0E}"/>
              </a:ext>
            </a:extLst>
          </p:cNvPr>
          <p:cNvSpPr>
            <a:spLocks xmlns:a="http://schemas.openxmlformats.org/drawingml/2006/main" noGrp="1"/>
          </p:cNvSpPr>
          <p:nvPr/>
        </p:nvSpPr>
        <p:spPr>
          <a:xfrm xmlns:a="http://schemas.openxmlformats.org/drawingml/2006/main">
            <a:off x="6784848"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at buddhi, with atma</a:t>
            </a:r>
          </a:p>
        </p:txBody>
      </p:sp>
      <p:sp>
        <p:nvSpPr>
          <p:cNvPr id="337" name="Google Shape;337;p14">
            <a:extLst xmlns:a="http://schemas.openxmlformats.org/drawingml/2006/main">
              <a:ext uri="{FF2B5EF4-FFF2-40B4-BE49-F238E27FC236}">
                <a16:creationId xmlns:a16="http://schemas.microsoft.com/office/drawing/2014/main" id="{81146B51-B30E-430E-83DE-2585F3FC497B}"/>
              </a:ext>
            </a:extLst>
          </p:cNvPr>
          <p:cNvSpPr>
            <a:spLocks xmlns:a="http://schemas.openxmlformats.org/drawingml/2006/main" noGrp="1"/>
          </p:cNvSpPr>
          <p:nvPr/>
        </p:nvSpPr>
        <p:spPr>
          <a:xfrm xmlns:a="http://schemas.openxmlformats.org/drawingml/2006/main">
            <a:off x="640080" y="301752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Fulfilment is cumulative: resolution; resolution with prosperity; both with fearlessness; all three in coexistence. These are principal correspondences, not separate compartments. Bliss is buddhi–atma harmony; realisation at atma is ultimate bliss (paramanand).</a:t>
            </a:r>
          </a:p>
        </p:txBody>
      </p:sp>
      <p:sp>
        <p:nvSpPr>
          <p:cNvPr id="338" name="Google Shape;338;p14">
            <a:extLst xmlns:a="http://schemas.openxmlformats.org/drawingml/2006/main">
              <a:ext uri="{FF2B5EF4-FFF2-40B4-BE49-F238E27FC236}">
                <a16:creationId xmlns:a16="http://schemas.microsoft.com/office/drawing/2014/main" id="{473C8ADC-C7E0-4CFA-AE3E-B130B76CF47D}"/>
              </a:ext>
            </a:extLst>
          </p:cNvPr>
          <p:cNvSpPr>
            <a:spLocks xmlns:a="http://schemas.openxmlformats.org/drawingml/2006/main" noGrp="1"/>
          </p:cNvSpPr>
          <p:nvPr/>
        </p:nvSpPr>
        <p:spPr>
          <a:xfrm xmlns:a="http://schemas.openxmlformats.org/drawingml/2006/main">
            <a:off x="640080" y="3840480"/>
            <a:ext cx="7863840" cy="777240"/>
          </a:xfrm>
          <a:prstGeom xmlns:a="http://schemas.openxmlformats.org/drawingml/2006/main" prst="roundRect">
            <a:avLst>
              <a:gd name="adj" fmla="val 10588"/>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9" name="Google Shape;339;p14">
            <a:extLst xmlns:a="http://schemas.openxmlformats.org/drawingml/2006/main">
              <a:ext uri="{FF2B5EF4-FFF2-40B4-BE49-F238E27FC236}">
                <a16:creationId xmlns:a16="http://schemas.microsoft.com/office/drawing/2014/main" id="{D4AE49D8-4F4A-4571-9DC6-338A36BDECDE}"/>
              </a:ext>
            </a:extLst>
          </p:cNvPr>
          <p:cNvSpPr>
            <a:spLocks xmlns:a="http://schemas.openxmlformats.org/drawingml/2006/main" noGrp="1"/>
          </p:cNvSpPr>
          <p:nvPr/>
        </p:nvSpPr>
        <p:spPr>
          <a:xfrm xmlns:a="http://schemas.openxmlformats.org/drawingml/2006/main">
            <a:off x="914400" y="3840480"/>
            <a:ext cx="731520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0" i="1" u="none" cap="none">
                <a:solidFill>
                  <a:srgbClr val="FFFFFF"/>
                </a:solidFill>
                <a:latin typeface="Calibri"/>
                <a:ea typeface="Calibri"/>
                <a:cs typeface="Calibri"/>
              </a:rPr>
              <a:t>Evidence in living widens from one issue to further issues.</a:t>
            </a:r>
          </a:p>
          <a:p xmlns:a="http://schemas.openxmlformats.org/drawingml/2006/main">
            <a:pPr marL="0" indent="0" algn="l">
              <a:spcBef>
                <a:spcPts val="0"/>
              </a:spcBef>
              <a:spcAft>
                <a:spcPts val="0"/>
              </a:spcAft>
              <a:buNone/>
            </a:pPr>
            <a:r>
              <a:rPr sz="1050" b="0" i="0" u="none" cap="none">
                <a:solidFill>
                  <a:srgbClr val="C9D4EF"/>
                </a:solidFill>
                <a:latin typeface="Calibri"/>
                <a:ea typeface="Calibri"/>
                <a:cs typeface="Calibri"/>
              </a:rPr>
              <a:t>Inward reflection and outward expression deepen one another in living.  ·  KD §3.12, pp. 112–113 (working-English paraphrase)</a:t>
            </a:r>
          </a:p>
        </p:txBody>
      </p:sp>
      <p:sp>
        <p:nvSpPr>
          <p:cNvPr id="340" name="Google Shape;340;p14">
            <a:extLst xmlns:a="http://schemas.openxmlformats.org/drawingml/2006/main">
              <a:ext uri="{FF2B5EF4-FFF2-40B4-BE49-F238E27FC236}">
                <a16:creationId xmlns:a16="http://schemas.microsoft.com/office/drawing/2014/main" id="{171B8D50-50F5-4333-887C-5E6D88D574F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61, 138  ·  MVD pp. 100–101, 328–346  ·  KD §3.12 (projection and inward reflection)</a:t>
            </a:r>
          </a:p>
        </p:txBody>
      </p:sp>
    </p:spTree>
    <p:extLst>
      <p:ext uri="{BB962C8B-B14F-4D97-AF65-F5344CB8AC3E}">
        <p14:creationId xmlns:p14="http://schemas.microsoft.com/office/powerpoint/2010/main" val="105336366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07581D21-511B-4790-91C9-D90747F67FC9}"/>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8E847718-D958-49AA-B3E7-98F2B43898D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CFD9781-4DCA-4BEB-9313-9ECFFDBEC68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BA84033F-9FDD-4767-B014-140006D1DEC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 · TEN INHERENT ACTIVITIES, FOUR-AND-A-HALF EFFECTIVE</a:t>
            </a:r>
          </a:p>
        </p:txBody>
      </p:sp>
      <p:sp>
        <p:nvSpPr>
          <p:cNvPr id="377" name="Google Shape;377;p16">
            <a:extLst xmlns:a="http://schemas.openxmlformats.org/drawingml/2006/main">
              <a:ext uri="{FF2B5EF4-FFF2-40B4-BE49-F238E27FC236}">
                <a16:creationId xmlns:a16="http://schemas.microsoft.com/office/drawing/2014/main" id="{FF685332-26F8-4B79-8236-35E8714723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Sensitivity and Understanding</a:t>
            </a:r>
          </a:p>
        </p:txBody>
      </p:sp>
      <p:sp>
        <p:nvSpPr>
          <p:cNvPr id="378" name="Google Shape;378;p16">
            <a:extLst xmlns:a="http://schemas.openxmlformats.org/drawingml/2006/main">
              <a:ext uri="{FF2B5EF4-FFF2-40B4-BE49-F238E27FC236}">
                <a16:creationId xmlns:a16="http://schemas.microsoft.com/office/drawing/2014/main" id="{A94A97B3-ABEF-4204-9496-E7445669F06A}"/>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Jeevan has five faculties and ten inherent activities. Human body-delusion organises four-and-a-half around sensitivity: taste, selection, visualisation, analysis and restricted deliberation.</a:t>
            </a:r>
          </a:p>
        </p:txBody>
      </p:sp>
      <p:sp>
        <p:nvSpPr>
          <p:cNvPr id="379" name="Google Shape;379;p16">
            <a:extLst xmlns:a="http://schemas.openxmlformats.org/drawingml/2006/main">
              <a:ext uri="{FF2B5EF4-FFF2-40B4-BE49-F238E27FC236}">
                <a16:creationId xmlns:a16="http://schemas.microsoft.com/office/drawing/2014/main" id="{DFC0D836-170F-4421-9FA1-2F712032196C}"/>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82CAD944-C0A1-4B77-ABF5-82128BDE6928}"/>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31EF2D0D-4591-45F1-9A29-12B8369EBEE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Deliberation relies on pleasant–unpleasant, healthy–unhealthy and profit–loss. Sensory criteria govern evaluation.</a:t>
            </a:r>
          </a:p>
        </p:txBody>
      </p:sp>
      <p:sp>
        <p:nvSpPr>
          <p:cNvPr id="382" name="Google Shape;382;p16">
            <a:extLst xmlns:a="http://schemas.openxmlformats.org/drawingml/2006/main">
              <a:ext uri="{FF2B5EF4-FFF2-40B4-BE49-F238E27FC236}">
                <a16:creationId xmlns:a16="http://schemas.microsoft.com/office/drawing/2014/main" id="{3E21E7A9-BB7E-46F7-9B1C-98F8677948A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CF1A96A7-621E-47A6-80A9-081CEF352B63}"/>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D5D8B566-06C7-4D2E-9500-8C90671D828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Cognisance guides sensitivity. Deliberation also considers justice–injustice, dharma–adharma and truth–untruth.</a:t>
            </a:r>
          </a:p>
        </p:txBody>
      </p:sp>
      <p:sp>
        <p:nvSpPr>
          <p:cNvPr id="385" name="Google Shape;385;p16">
            <a:extLst xmlns:a="http://schemas.openxmlformats.org/drawingml/2006/main">
              <a:ext uri="{FF2B5EF4-FFF2-40B4-BE49-F238E27FC236}">
                <a16:creationId xmlns:a16="http://schemas.microsoft.com/office/drawing/2014/main" id="{64B63632-C860-427D-A076-5E2670107C55}"/>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Three of six perspectives explain the term “half activity”. This describes restricted deliberation, not a measured percentage of mental capacity.</a:t>
            </a:r>
          </a:p>
        </p:txBody>
      </p:sp>
      <p:sp>
        <p:nvSpPr>
          <p:cNvPr id="386" name="Google Shape;386;p16">
            <a:extLst xmlns:a="http://schemas.openxmlformats.org/drawingml/2006/main">
              <a:ext uri="{FF2B5EF4-FFF2-40B4-BE49-F238E27FC236}">
                <a16:creationId xmlns:a16="http://schemas.microsoft.com/office/drawing/2014/main" id="{43803F01-AD79-4037-B542-0CC5AC814A76}"/>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44D7C5EC-8B49-47EE-A3C6-D6FB60F219A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Resolution</a:t>
            </a:r>
          </a:p>
        </p:txBody>
      </p:sp>
      <p:sp>
        <p:nvSpPr>
          <p:cNvPr id="388" name="Google Shape;388;p16">
            <a:extLst xmlns:a="http://schemas.openxmlformats.org/drawingml/2006/main">
              <a:ext uri="{FF2B5EF4-FFF2-40B4-BE49-F238E27FC236}">
                <a16:creationId xmlns:a16="http://schemas.microsoft.com/office/drawing/2014/main" id="{B018E786-2ABF-4703-8EF8-89DC0686BF66}"/>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9621292-E103-427A-ACBB-B76DE51ED83D}"/>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33B307C8-11AE-485F-B9D0-04914905A78B}"/>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Prosperity</a:t>
            </a:r>
          </a:p>
        </p:txBody>
      </p:sp>
      <p:sp>
        <p:nvSpPr>
          <p:cNvPr id="391" name="Google Shape;391;p16">
            <a:extLst xmlns:a="http://schemas.openxmlformats.org/drawingml/2006/main">
              <a:ext uri="{FF2B5EF4-FFF2-40B4-BE49-F238E27FC236}">
                <a16:creationId xmlns:a16="http://schemas.microsoft.com/office/drawing/2014/main" id="{F846937F-3004-4CED-8A78-D7931D0532DD}"/>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E1E865D9-FE0D-45CE-A1BD-4FBAF882CD1F}"/>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1998CB01-B7AE-44FB-B5CC-A49E10AF461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Fearlessness</a:t>
            </a:r>
          </a:p>
        </p:txBody>
      </p:sp>
      <p:sp>
        <p:nvSpPr>
          <p:cNvPr id="394" name="Google Shape;394;p16">
            <a:extLst xmlns:a="http://schemas.openxmlformats.org/drawingml/2006/main">
              <a:ext uri="{FF2B5EF4-FFF2-40B4-BE49-F238E27FC236}">
                <a16:creationId xmlns:a16="http://schemas.microsoft.com/office/drawing/2014/main" id="{CB0DE84D-31EF-4F8D-B766-17ECF41955A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3BCEB229-5C2D-420F-BBD6-927C6E2B362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AA4D70B-6B5E-4ADA-8BFC-8C5D46324728}"/>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Coexistence</a:t>
            </a:r>
          </a:p>
        </p:txBody>
      </p:sp>
      <p:sp>
        <p:nvSpPr>
          <p:cNvPr id="397" name="Google Shape;397;p16">
            <a:extLst xmlns:a="http://schemas.openxmlformats.org/drawingml/2006/main">
              <a:ext uri="{FF2B5EF4-FFF2-40B4-BE49-F238E27FC236}">
                <a16:creationId xmlns:a16="http://schemas.microsoft.com/office/drawing/2014/main" id="{F9E1AF2F-A961-4897-A2B8-3FA63CEBF19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Understanding guides work, behaviour and relationships (§1.10).</a:t>
            </a:r>
          </a:p>
        </p:txBody>
      </p:sp>
      <p:sp>
        <p:nvSpPr>
          <p:cNvPr id="398" name="Google Shape;398;p16">
            <a:extLst xmlns:a="http://schemas.openxmlformats.org/drawingml/2006/main">
              <a:ext uri="{FF2B5EF4-FFF2-40B4-BE49-F238E27FC236}">
                <a16:creationId xmlns:a16="http://schemas.microsoft.com/office/drawing/2014/main" id="{8E42611A-F97C-40CD-AAA5-421BA477B91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64 (cognisance and sensitivity)  ·  JV pp. 73–74, 92–94 (four-and-a-half activities)  ·  MVD p. 67 (six perspectives)</a:t>
            </a:r>
          </a:p>
        </p:txBody>
      </p:sp>
    </p:spTree>
    <p:extLst>
      <p:ext uri="{BB962C8B-B14F-4D97-AF65-F5344CB8AC3E}">
        <p14:creationId xmlns:p14="http://schemas.microsoft.com/office/powerpoint/2010/main" val="44395568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0BD95DB-7461-404F-9694-5EFD773998C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25949858-FAD2-4102-8CC1-2CD9F3AD560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A6F0C7B-FCDD-47B4-AA1A-839A972295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080CFD91-ADB4-49D5-B6D7-B1C2C1B472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KD CH. 1 · UNDERSTANDING EVIDENCED IN CONDUCT</a:t>
            </a:r>
          </a:p>
        </p:txBody>
      </p:sp>
      <p:sp>
        <p:nvSpPr>
          <p:cNvPr id="207" name="Google Shape;207;p10">
            <a:extLst xmlns:a="http://schemas.openxmlformats.org/drawingml/2006/main">
              <a:ext uri="{FF2B5EF4-FFF2-40B4-BE49-F238E27FC236}">
                <a16:creationId xmlns:a16="http://schemas.microsoft.com/office/drawing/2014/main" id="{748A9705-6995-4431-8E86-9E06E791CC1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Structure of Karma</a:t>
            </a:r>
          </a:p>
        </p:txBody>
      </p:sp>
      <p:sp>
        <p:nvSpPr>
          <p:cNvPr id="208" name="Google Shape;208;p10">
            <a:extLst xmlns:a="http://schemas.openxmlformats.org/drawingml/2006/main">
              <a:ext uri="{FF2B5EF4-FFF2-40B4-BE49-F238E27FC236}">
                <a16:creationId xmlns:a16="http://schemas.microsoft.com/office/drawing/2014/main" id="{EE459EAA-DCBF-4BA8-9E9D-97F36686AB2E}"/>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Human activity with aspiration is karma. In delusion, a person is free to act yet depends on the results. Awakened understanding guides both action and the acceptance and evaluation of its results.</a:t>
            </a:r>
            <a:r>
              <a:rPr sz="1250" b="0" i="0" u="none" cap="none">
                <a:solidFill>
                  <a:srgbClr val="5A6377"/>
                </a:solidFill>
                <a:latin typeface="Calibri"/>
                <a:ea typeface="Calibri"/>
                <a:cs typeface="Calibri"/>
              </a:rPr>
              <a:t/>
            </a:r>
          </a:p>
        </p:txBody>
      </p:sp>
      <p:sp>
        <p:nvSpPr>
          <p:cNvPr id="209" name="Google Shape;209;p10">
            <a:extLst xmlns:a="http://schemas.openxmlformats.org/drawingml/2006/main">
              <a:ext uri="{FF2B5EF4-FFF2-40B4-BE49-F238E27FC236}">
                <a16:creationId xmlns:a16="http://schemas.microsoft.com/office/drawing/2014/main" id="{7E9929EE-8C6F-4A21-A8B2-80C9BEC65628}"/>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015DE0BF-2D27-49C6-9EA5-8E1DA7E28A00}"/>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F51B92A9-5B50-4D01-A23E-8518308D7153}"/>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something wished for</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desire seeks fulfilment</a:t>
            </a:r>
          </a:p>
        </p:txBody>
      </p:sp>
      <p:sp>
        <p:nvSpPr>
          <p:cNvPr id="212" name="Google Shape;212;p10">
            <a:extLst xmlns:a="http://schemas.openxmlformats.org/drawingml/2006/main">
              <a:ext uri="{FF2B5EF4-FFF2-40B4-BE49-F238E27FC236}">
                <a16:creationId xmlns:a16="http://schemas.microsoft.com/office/drawing/2014/main" id="{E13987FF-8A1F-40BB-9F0A-CAD9717089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D4388347-360E-4857-BCF7-8C11C5E1054C}"/>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E7324516-F827-427D-AE34-F9DC05C6CDBD}"/>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activity in the world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human kriyā + aspiration = karma</a:t>
            </a:r>
          </a:p>
        </p:txBody>
      </p:sp>
      <p:sp>
        <p:nvSpPr>
          <p:cNvPr id="215" name="Google Shape;215;p10">
            <a:extLst xmlns:a="http://schemas.openxmlformats.org/drawingml/2006/main">
              <a:ext uri="{FF2B5EF4-FFF2-40B4-BE49-F238E27FC236}">
                <a16:creationId xmlns:a16="http://schemas.microsoft.com/office/drawing/2014/main" id="{3D4E993F-2500-4BC8-B404-72DAFA9D5275}"/>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4B022A1-A0F2-4B6A-A70C-8BF6646D268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C89818CF-A4A5-4B97-801B-5B4F524E7DB4}"/>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satisfaction of desire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balance of desire-karma-result</a:t>
            </a:r>
          </a:p>
        </p:txBody>
      </p:sp>
      <p:sp>
        <p:nvSpPr>
          <p:cNvPr id="218" name="Google Shape;218;p10">
            <a:extLst xmlns:a="http://schemas.openxmlformats.org/drawingml/2006/main">
              <a:ext uri="{FF2B5EF4-FFF2-40B4-BE49-F238E27FC236}">
                <a16:creationId xmlns:a16="http://schemas.microsoft.com/office/drawing/2014/main" id="{5A629A3F-BC91-4C5E-91C2-566270BD399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56FD9F9-3707-4514-B36F-43C235803170}"/>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a:t>
            </a:r>
            <a:r>
              <a:rPr sz="1000" b="0" i="0" u="none" cap="none">
                <a:solidFill>
                  <a:srgbClr val="5A6377"/>
                </a:solidFill>
                <a:latin typeface="Calibri"/>
                <a:ea typeface="Calibri"/>
                <a:cs typeface="Calibri"/>
              </a:rPr>
              <a:t>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a:t>
            </a:r>
            <a:r>
              <a:rPr sz="1000" b="0" i="0" u="none" cap="none">
                <a:solidFill>
                  <a:srgbClr val="5A6377"/>
                </a:solidFill>
                <a:latin typeface="Calibri"/>
                <a:ea typeface="Calibri"/>
                <a:cs typeface="Calibri"/>
              </a:rPr>
              <a:t>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a:t>
            </a:r>
            <a:r>
              <a:rPr sz="1000" b="0" i="0" u="none" cap="none">
                <a:solidFill>
                  <a:srgbClr val="5A6377"/>
                </a:solidFill>
                <a:latin typeface="Calibri"/>
                <a:ea typeface="Calibri"/>
                <a:cs typeface="Calibri"/>
              </a:rPr>
              <a:t>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a:t>
            </a:r>
            <a:r>
              <a:rPr sz="1000" b="0" i="0" u="none" cap="none">
                <a:solidFill>
                  <a:srgbClr val="5A6377"/>
                </a:solidFill>
                <a:latin typeface="Calibri"/>
                <a:ea typeface="Calibri"/>
                <a:cs typeface="Calibri"/>
              </a:rPr>
              <a: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a:t>
            </a:r>
            <a:r>
              <a:rPr sz="1000" b="0" i="0" u="none" cap="none">
                <a:solidFill>
                  <a:srgbClr val="5A6377"/>
                </a:solidFill>
                <a:latin typeface="Calibri"/>
                <a:ea typeface="Calibri"/>
                <a:cs typeface="Calibri"/>
              </a:rPr>
              <a:t> — its reach</a:t>
            </a:r>
          </a:p>
        </p:txBody>
      </p:sp>
      <p:sp>
        <p:nvSpPr>
          <p:cNvPr id="220" name="Google Shape;220;p10">
            <a:extLst xmlns:a="http://schemas.openxmlformats.org/drawingml/2006/main">
              <a:ext uri="{FF2B5EF4-FFF2-40B4-BE49-F238E27FC236}">
                <a16:creationId xmlns:a16="http://schemas.microsoft.com/office/drawing/2014/main" id="{CF9675E8-13F6-430E-81CA-CC0F4DDDDF8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Karma is activity with aspiration. Desire, action and result must balance for fulfilment.
KD Ch. 1, pp. 1–2 (paraphrase)  ·  MVD pp. 15, 27  ·  Study §1.10</a:t>
            </a:r>
          </a:p>
        </p:txBody>
      </p:sp>
    </p:spTree>
    <p:extLst>
      <p:ext uri="{BB962C8B-B14F-4D97-AF65-F5344CB8AC3E}">
        <p14:creationId xmlns:p14="http://schemas.microsoft.com/office/powerpoint/2010/main" val="29346030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1">
            <a:extLst xmlns:a="http://schemas.openxmlformats.org/drawingml/2006/main">
              <a:ext uri="{FF2B5EF4-FFF2-40B4-BE49-F238E27FC236}">
                <a16:creationId xmlns:a16="http://schemas.microsoft.com/office/drawing/2014/main" id="{92F6B0B2-9D5B-4730-A4CD-C04CFE632C6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7" name="Google Shape;227;p11">
            <a:extLst xmlns:a="http://schemas.openxmlformats.org/drawingml/2006/main">
              <a:ext uri="{FF2B5EF4-FFF2-40B4-BE49-F238E27FC236}">
                <a16:creationId xmlns:a16="http://schemas.microsoft.com/office/drawing/2014/main" id="{1FBFDF0F-6133-4579-804A-5BDD1B5D4E6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8" name="Google Shape;228;p11">
            <a:extLst xmlns:a="http://schemas.openxmlformats.org/drawingml/2006/main">
              <a:ext uri="{FF2B5EF4-FFF2-40B4-BE49-F238E27FC236}">
                <a16:creationId xmlns:a16="http://schemas.microsoft.com/office/drawing/2014/main" id="{535C89D7-6CD2-49BF-ACAC-13B8ABFDD7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9" name="Google Shape;229;p11">
            <a:extLst xmlns:a="http://schemas.openxmlformats.org/drawingml/2006/main">
              <a:ext uri="{FF2B5EF4-FFF2-40B4-BE49-F238E27FC236}">
                <a16:creationId xmlns:a16="http://schemas.microsoft.com/office/drawing/2014/main" id="{B205E6C7-0F4E-482A-B4ED-E38F9211327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1.11</a:t>
            </a:r>
          </a:p>
        </p:txBody>
      </p:sp>
      <p:sp>
        <p:nvSpPr>
          <p:cNvPr id="230" name="Google Shape;230;p11">
            <a:extLst xmlns:a="http://schemas.openxmlformats.org/drawingml/2006/main">
              <a:ext uri="{FF2B5EF4-FFF2-40B4-BE49-F238E27FC236}">
                <a16:creationId xmlns:a16="http://schemas.microsoft.com/office/drawing/2014/main" id="{BD57645E-CAFE-4022-871D-FB44537B6D1B}"/>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Transitions: T1, T2, T3</a:t>
            </a:r>
          </a:p>
        </p:txBody>
      </p:sp>
      <p:sp>
        <p:nvSpPr>
          <p:cNvPr id="231" name="Google Shape;231;p11">
            <a:extLst xmlns:a="http://schemas.openxmlformats.org/drawingml/2006/main">
              <a:ext uri="{FF2B5EF4-FFF2-40B4-BE49-F238E27FC236}">
                <a16:creationId xmlns:a16="http://schemas.microsoft.com/office/drawing/2014/main" id="{136C7C4F-16F0-469C-8D22-4FA5AF942130}"/>
              </a:ext>
            </a:extLst>
          </p:cNvPr>
          <p:cNvSpPr>
            <a:spLocks xmlns:a="http://schemas.openxmlformats.org/drawingml/2006/main" noGrp="1"/>
          </p:cNvSpPr>
          <p:nvPr/>
        </p:nvSpPr>
        <p:spPr>
          <a:xfrm xmlns:a="http://schemas.openxmlformats.org/drawingml/2006/main">
            <a:off x="475488" y="1463040"/>
            <a:ext cx="1664208" cy="960120"/>
          </a:xfrm>
          <a:prstGeom xmlns:a="http://schemas.openxmlformats.org/drawingml/2006/main" prst="roundRect">
            <a:avLst>
              <a:gd name="adj" fmla="val 8571"/>
            </a:avLst>
          </a:prstGeom>
          <a:solidFill xmlns:a="http://schemas.openxmlformats.org/drawingml/2006/main">
            <a:srgbClr val="3B4A7A"/>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2" name="Google Shape;232;p11">
            <a:extLst xmlns:a="http://schemas.openxmlformats.org/drawingml/2006/main">
              <a:ext uri="{FF2B5EF4-FFF2-40B4-BE49-F238E27FC236}">
                <a16:creationId xmlns:a16="http://schemas.microsoft.com/office/drawing/2014/main" id="{4938230F-1D84-4E5E-AFCC-F14F1B65EE6F}"/>
              </a:ext>
            </a:extLst>
          </p:cNvPr>
          <p:cNvSpPr>
            <a:spLocks xmlns:a="http://schemas.openxmlformats.org/drawingml/2006/main" noGrp="1"/>
          </p:cNvSpPr>
          <p:nvPr/>
        </p:nvSpPr>
        <p:spPr>
          <a:xfrm xmlns:a="http://schemas.openxmlformats.org/drawingml/2006/main">
            <a:off x="475488"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Physicochemical</a:t>
            </a:r>
          </a:p>
        </p:txBody>
      </p:sp>
      <p:sp>
        <p:nvSpPr>
          <p:cNvPr id="233" name="Google Shape;233;p11">
            <a:extLst xmlns:a="http://schemas.openxmlformats.org/drawingml/2006/main">
              <a:ext uri="{FF2B5EF4-FFF2-40B4-BE49-F238E27FC236}">
                <a16:creationId xmlns:a16="http://schemas.microsoft.com/office/drawing/2014/main" id="{C679FBFC-4912-4015-B213-A9F790D144A6}"/>
              </a:ext>
            </a:extLst>
          </p:cNvPr>
          <p:cNvSpPr>
            <a:spLocks xmlns:a="http://schemas.openxmlformats.org/drawingml/2006/main" noGrp="1"/>
          </p:cNvSpPr>
          <p:nvPr/>
        </p:nvSpPr>
        <p:spPr>
          <a:xfrm xmlns:a="http://schemas.openxmlformats.org/drawingml/2006/main">
            <a:off x="530352"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only some developing atoms reach T1</a:t>
            </a:r>
          </a:p>
        </p:txBody>
      </p:sp>
      <p:sp>
        <p:nvSpPr>
          <p:cNvPr id="234" name="Google Shape;234;p11">
            <a:extLst xmlns:a="http://schemas.openxmlformats.org/drawingml/2006/main">
              <a:ext uri="{FF2B5EF4-FFF2-40B4-BE49-F238E27FC236}">
                <a16:creationId xmlns:a16="http://schemas.microsoft.com/office/drawing/2014/main" id="{4856528E-8D4B-459F-8076-49BFEABC11D5}"/>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5" name="Google Shape;235;p11">
            <a:extLst xmlns:a="http://schemas.openxmlformats.org/drawingml/2006/main">
              <a:ext uri="{FF2B5EF4-FFF2-40B4-BE49-F238E27FC236}">
                <a16:creationId xmlns:a16="http://schemas.microsoft.com/office/drawing/2014/main" id="{A5B348E2-62F6-4617-8C55-04EF1E275226}"/>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T1</a:t>
            </a:r>
          </a:p>
        </p:txBody>
      </p:sp>
      <p:sp>
        <p:nvSpPr>
          <p:cNvPr id="236" name="Google Shape;236;p11">
            <a:extLst xmlns:a="http://schemas.openxmlformats.org/drawingml/2006/main">
              <a:ext uri="{FF2B5EF4-FFF2-40B4-BE49-F238E27FC236}">
                <a16:creationId xmlns:a16="http://schemas.microsoft.com/office/drawing/2014/main" id="{F766CD9E-37CA-468F-9950-3055B289D7BC}"/>
              </a:ext>
            </a:extLst>
          </p:cNvPr>
          <p:cNvSpPr>
            <a:spLocks xmlns:a="http://schemas.openxmlformats.org/drawingml/2006/main" noGrp="1"/>
          </p:cNvSpPr>
          <p:nvPr/>
        </p:nvSpPr>
        <p:spPr>
          <a:xfrm xmlns:a="http://schemas.openxmlformats.org/drawingml/2006/main">
            <a:off x="2706624"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7" name="Google Shape;237;p11">
            <a:extLst xmlns:a="http://schemas.openxmlformats.org/drawingml/2006/main">
              <a:ext uri="{FF2B5EF4-FFF2-40B4-BE49-F238E27FC236}">
                <a16:creationId xmlns:a16="http://schemas.microsoft.com/office/drawing/2014/main" id="{A59AD647-B81F-4FFF-A3CF-52E74E35517C}"/>
              </a:ext>
            </a:extLst>
          </p:cNvPr>
          <p:cNvSpPr>
            <a:spLocks xmlns:a="http://schemas.openxmlformats.org/drawingml/2006/main" noGrp="1"/>
          </p:cNvSpPr>
          <p:nvPr/>
        </p:nvSpPr>
        <p:spPr>
          <a:xfrm xmlns:a="http://schemas.openxmlformats.org/drawingml/2006/main">
            <a:off x="2706624"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Delusional</a:t>
            </a:r>
          </a:p>
        </p:txBody>
      </p:sp>
      <p:sp>
        <p:nvSpPr>
          <p:cNvPr id="238" name="Google Shape;238;p11">
            <a:extLst xmlns:a="http://schemas.openxmlformats.org/drawingml/2006/main">
              <a:ext uri="{FF2B5EF4-FFF2-40B4-BE49-F238E27FC236}">
                <a16:creationId xmlns:a16="http://schemas.microsoft.com/office/drawing/2014/main" id="{26EC659D-62D7-4BEF-97E8-6386704F5431}"/>
              </a:ext>
            </a:extLst>
          </p:cNvPr>
          <p:cNvSpPr>
            <a:spLocks xmlns:a="http://schemas.openxmlformats.org/drawingml/2006/main" noGrp="1"/>
          </p:cNvSpPr>
          <p:nvPr/>
        </p:nvSpPr>
        <p:spPr>
          <a:xfrm xmlns:a="http://schemas.openxmlformats.org/drawingml/2006/main">
            <a:off x="2761488"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sentient before realisation</a:t>
            </a:r>
          </a:p>
        </p:txBody>
      </p:sp>
      <p:sp>
        <p:nvSpPr>
          <p:cNvPr id="239" name="Google Shape;239;p11">
            <a:extLst xmlns:a="http://schemas.openxmlformats.org/drawingml/2006/main">
              <a:ext uri="{FF2B5EF4-FFF2-40B4-BE49-F238E27FC236}">
                <a16:creationId xmlns:a16="http://schemas.microsoft.com/office/drawing/2014/main" id="{5EB8E91C-1A30-4588-9854-2ECBB5750043}"/>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0" name="Google Shape;240;p11">
            <a:extLst xmlns:a="http://schemas.openxmlformats.org/drawingml/2006/main">
              <a:ext uri="{FF2B5EF4-FFF2-40B4-BE49-F238E27FC236}">
                <a16:creationId xmlns:a16="http://schemas.microsoft.com/office/drawing/2014/main" id="{E4ED4E0D-90F8-406D-81BD-DA1065237C32}"/>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T2</a:t>
            </a:r>
          </a:p>
        </p:txBody>
      </p:sp>
      <p:sp>
        <p:nvSpPr>
          <p:cNvPr id="241" name="Google Shape;241;p11">
            <a:extLst xmlns:a="http://schemas.openxmlformats.org/drawingml/2006/main">
              <a:ext uri="{FF2B5EF4-FFF2-40B4-BE49-F238E27FC236}">
                <a16:creationId xmlns:a16="http://schemas.microsoft.com/office/drawing/2014/main" id="{084B2DD8-6E6E-48F7-A30C-778CB7B13DFC}"/>
              </a:ext>
            </a:extLst>
          </p:cNvPr>
          <p:cNvSpPr>
            <a:spLocks xmlns:a="http://schemas.openxmlformats.org/drawingml/2006/main" noGrp="1"/>
          </p:cNvSpPr>
          <p:nvPr/>
        </p:nvSpPr>
        <p:spPr>
          <a:xfrm xmlns:a="http://schemas.openxmlformats.org/drawingml/2006/main">
            <a:off x="4937760"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2" name="Google Shape;242;p11">
            <a:extLst xmlns:a="http://schemas.openxmlformats.org/drawingml/2006/main">
              <a:ext uri="{FF2B5EF4-FFF2-40B4-BE49-F238E27FC236}">
                <a16:creationId xmlns:a16="http://schemas.microsoft.com/office/drawing/2014/main" id="{2A8CE34B-471B-463B-8366-BA6D4D4B9163}"/>
              </a:ext>
            </a:extLst>
          </p:cNvPr>
          <p:cNvSpPr>
            <a:spLocks xmlns:a="http://schemas.openxmlformats.org/drawingml/2006/main" noGrp="1"/>
          </p:cNvSpPr>
          <p:nvPr/>
        </p:nvSpPr>
        <p:spPr>
          <a:xfrm xmlns:a="http://schemas.openxmlformats.org/drawingml/2006/main">
            <a:off x="4937760"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Deific</a:t>
            </a:r>
          </a:p>
        </p:txBody>
      </p:sp>
      <p:sp>
        <p:nvSpPr>
          <p:cNvPr id="243" name="Google Shape;243;p11">
            <a:extLst xmlns:a="http://schemas.openxmlformats.org/drawingml/2006/main">
              <a:ext uri="{FF2B5EF4-FFF2-40B4-BE49-F238E27FC236}">
                <a16:creationId xmlns:a16="http://schemas.microsoft.com/office/drawing/2014/main" id="{8FF61272-1AF4-4BC0-8CA1-9C90210CDE5C}"/>
              </a:ext>
            </a:extLst>
          </p:cNvPr>
          <p:cNvSpPr>
            <a:spLocks xmlns:a="http://schemas.openxmlformats.org/drawingml/2006/main" noGrp="1"/>
          </p:cNvSpPr>
          <p:nvPr/>
        </p:nvSpPr>
        <p:spPr>
          <a:xfrm xmlns:a="http://schemas.openxmlformats.org/drawingml/2006/main">
            <a:off x="4992624"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awakening human</a:t>
            </a:r>
          </a:p>
        </p:txBody>
      </p:sp>
      <p:sp>
        <p:nvSpPr>
          <p:cNvPr id="244" name="Google Shape;244;p11">
            <a:extLst xmlns:a="http://schemas.openxmlformats.org/drawingml/2006/main">
              <a:ext uri="{FF2B5EF4-FFF2-40B4-BE49-F238E27FC236}">
                <a16:creationId xmlns:a16="http://schemas.microsoft.com/office/drawing/2014/main" id="{B2D070AB-F905-4F6C-A090-B48D44A8E7FB}"/>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5" name="Google Shape;245;p11">
            <a:extLst xmlns:a="http://schemas.openxmlformats.org/drawingml/2006/main">
              <a:ext uri="{FF2B5EF4-FFF2-40B4-BE49-F238E27FC236}">
                <a16:creationId xmlns:a16="http://schemas.microsoft.com/office/drawing/2014/main" id="{A3E5E6CA-7981-48CD-B96F-7EC48B2100E1}"/>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T3</a:t>
            </a:r>
          </a:p>
        </p:txBody>
      </p:sp>
      <p:sp>
        <p:nvSpPr>
          <p:cNvPr id="246" name="Google Shape;246;p11">
            <a:extLst xmlns:a="http://schemas.openxmlformats.org/drawingml/2006/main">
              <a:ext uri="{FF2B5EF4-FFF2-40B4-BE49-F238E27FC236}">
                <a16:creationId xmlns:a16="http://schemas.microsoft.com/office/drawing/2014/main" id="{BFC4C265-8EFE-487F-ABFA-4AAE7CD54188}"/>
              </a:ext>
            </a:extLst>
          </p:cNvPr>
          <p:cNvSpPr>
            <a:spLocks xmlns:a="http://schemas.openxmlformats.org/drawingml/2006/main" noGrp="1"/>
          </p:cNvSpPr>
          <p:nvPr/>
        </p:nvSpPr>
        <p:spPr>
          <a:xfrm xmlns:a="http://schemas.openxmlformats.org/drawingml/2006/main">
            <a:off x="7168896"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7" name="Google Shape;247;p11">
            <a:extLst xmlns:a="http://schemas.openxmlformats.org/drawingml/2006/main">
              <a:ext uri="{FF2B5EF4-FFF2-40B4-BE49-F238E27FC236}">
                <a16:creationId xmlns:a16="http://schemas.microsoft.com/office/drawing/2014/main" id="{726EB728-96D6-468B-A4CD-7522F14C17D8}"/>
              </a:ext>
            </a:extLst>
          </p:cNvPr>
          <p:cNvSpPr>
            <a:spLocks xmlns:a="http://schemas.openxmlformats.org/drawingml/2006/main" noGrp="1"/>
          </p:cNvSpPr>
          <p:nvPr/>
        </p:nvSpPr>
        <p:spPr>
          <a:xfrm xmlns:a="http://schemas.openxmlformats.org/drawingml/2006/main">
            <a:off x="7168896"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Divine (complete)</a:t>
            </a:r>
          </a:p>
        </p:txBody>
      </p:sp>
      <p:sp>
        <p:nvSpPr>
          <p:cNvPr id="248" name="Google Shape;248;p11">
            <a:extLst xmlns:a="http://schemas.openxmlformats.org/drawingml/2006/main">
              <a:ext uri="{FF2B5EF4-FFF2-40B4-BE49-F238E27FC236}">
                <a16:creationId xmlns:a16="http://schemas.microsoft.com/office/drawing/2014/main" id="{7E799F9F-A696-45A3-8952-26BD3BD803C1}"/>
              </a:ext>
            </a:extLst>
          </p:cNvPr>
          <p:cNvSpPr>
            <a:spLocks xmlns:a="http://schemas.openxmlformats.org/drawingml/2006/main" noGrp="1"/>
          </p:cNvSpPr>
          <p:nvPr/>
        </p:nvSpPr>
        <p:spPr>
          <a:xfrm xmlns:a="http://schemas.openxmlformats.org/drawingml/2006/main">
            <a:off x="7223760"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living proof of coexistence</a:t>
            </a:r>
          </a:p>
        </p:txBody>
      </p:sp>
      <p:sp>
        <p:nvSpPr>
          <p:cNvPr id="249" name="Google Shape;249;p11">
            <a:extLst xmlns:a="http://schemas.openxmlformats.org/drawingml/2006/main">
              <a:ext uri="{FF2B5EF4-FFF2-40B4-BE49-F238E27FC236}">
                <a16:creationId xmlns:a16="http://schemas.microsoft.com/office/drawing/2014/main" id="{6B6BDCD0-FA8B-4D55-A4C2-63D899CA8920}"/>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0" name="Google Shape;250;p11">
            <a:extLst xmlns:a="http://schemas.openxmlformats.org/drawingml/2006/main">
              <a:ext uri="{FF2B5EF4-FFF2-40B4-BE49-F238E27FC236}">
                <a16:creationId xmlns:a16="http://schemas.microsoft.com/office/drawing/2014/main" id="{5A39170F-9417-4B44-AC88-9D3C49A24999}"/>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T1</a:t>
            </a:r>
          </a:p>
        </p:txBody>
      </p:sp>
      <p:sp>
        <p:nvSpPr>
          <p:cNvPr id="251" name="Google Shape;251;p11">
            <a:extLst xmlns:a="http://schemas.openxmlformats.org/drawingml/2006/main">
              <a:ext uri="{FF2B5EF4-FFF2-40B4-BE49-F238E27FC236}">
                <a16:creationId xmlns:a16="http://schemas.microsoft.com/office/drawing/2014/main" id="{F7B5D1C5-E2AE-48C6-8B84-66FC4D530303}"/>
              </a:ext>
            </a:extLst>
          </p:cNvPr>
          <p:cNvSpPr>
            <a:spLocks xmlns:a="http://schemas.openxmlformats.org/drawingml/2006/main" noGrp="1"/>
          </p:cNvSpPr>
          <p:nvPr/>
        </p:nvSpPr>
        <p:spPr>
          <a:xfrm xmlns:a="http://schemas.openxmlformats.org/drawingml/2006/main">
            <a:off x="1188720" y="274320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Constitutional completeness — immortality of result; the atom becomes sentient jeevan</a:t>
            </a:r>
          </a:p>
        </p:txBody>
      </p:sp>
      <p:sp>
        <p:nvSpPr>
          <p:cNvPr id="252" name="Google Shape;252;p11">
            <a:extLst xmlns:a="http://schemas.openxmlformats.org/drawingml/2006/main">
              <a:ext uri="{FF2B5EF4-FFF2-40B4-BE49-F238E27FC236}">
                <a16:creationId xmlns:a16="http://schemas.microsoft.com/office/drawing/2014/main" id="{83BDFC2E-DA72-4DD2-915F-3F89D26436A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3" name="Google Shape;253;p11">
            <a:extLst xmlns:a="http://schemas.openxmlformats.org/drawingml/2006/main">
              <a:ext uri="{FF2B5EF4-FFF2-40B4-BE49-F238E27FC236}">
                <a16:creationId xmlns:a16="http://schemas.microsoft.com/office/drawing/2014/main" id="{DC7A5696-0E7D-407F-9FAF-73C6217F0C7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T2</a:t>
            </a:r>
          </a:p>
        </p:txBody>
      </p:sp>
      <p:sp>
        <p:nvSpPr>
          <p:cNvPr id="254" name="Google Shape;254;p11">
            <a:extLst xmlns:a="http://schemas.openxmlformats.org/drawingml/2006/main">
              <a:ext uri="{FF2B5EF4-FFF2-40B4-BE49-F238E27FC236}">
                <a16:creationId xmlns:a16="http://schemas.microsoft.com/office/drawing/2014/main" id="{663695CE-F971-4DC5-B46F-C77CA72A0A75}"/>
              </a:ext>
            </a:extLst>
          </p:cNvPr>
          <p:cNvSpPr>
            <a:spLocks xmlns:a="http://schemas.openxmlformats.org/drawingml/2006/main" noGrp="1"/>
          </p:cNvSpPr>
          <p:nvPr/>
        </p:nvSpPr>
        <p:spPr>
          <a:xfrm xmlns:a="http://schemas.openxmlformats.org/drawingml/2006/main">
            <a:off x="1188720" y="33467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Activity completeness — restfulness of effort; direct realisation and absolute resolution</a:t>
            </a:r>
          </a:p>
        </p:txBody>
      </p:sp>
      <p:sp>
        <p:nvSpPr>
          <p:cNvPr id="255" name="Google Shape;255;p11">
            <a:extLst xmlns:a="http://schemas.openxmlformats.org/drawingml/2006/main">
              <a:ext uri="{FF2B5EF4-FFF2-40B4-BE49-F238E27FC236}">
                <a16:creationId xmlns:a16="http://schemas.microsoft.com/office/drawing/2014/main" id="{6DC74D46-B1D5-4DAB-9EF8-CB88C4910598}"/>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6" name="Google Shape;256;p11">
            <a:extLst xmlns:a="http://schemas.openxmlformats.org/drawingml/2006/main">
              <a:ext uri="{FF2B5EF4-FFF2-40B4-BE49-F238E27FC236}">
                <a16:creationId xmlns:a16="http://schemas.microsoft.com/office/drawing/2014/main" id="{786BC72A-C072-4422-9579-70B748800D93}"/>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T3</a:t>
            </a:r>
          </a:p>
        </p:txBody>
      </p:sp>
      <p:sp>
        <p:nvSpPr>
          <p:cNvPr id="257" name="Google Shape;257;p11">
            <a:extLst xmlns:a="http://schemas.openxmlformats.org/drawingml/2006/main">
              <a:ext uri="{FF2B5EF4-FFF2-40B4-BE49-F238E27FC236}">
                <a16:creationId xmlns:a16="http://schemas.microsoft.com/office/drawing/2014/main" id="{D6639B03-944A-412F-9EE4-A1FFCF5E75A8}"/>
              </a:ext>
            </a:extLst>
          </p:cNvPr>
          <p:cNvSpPr>
            <a:spLocks xmlns:a="http://schemas.openxmlformats.org/drawingml/2006/main" noGrp="1"/>
          </p:cNvSpPr>
          <p:nvPr/>
        </p:nvSpPr>
        <p:spPr>
          <a:xfrm xmlns:a="http://schemas.openxmlformats.org/drawingml/2006/main">
            <a:off x="1188720" y="395020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Conduct completeness — destination of motion; authentic conduct as living proof</a:t>
            </a:r>
          </a:p>
        </p:txBody>
      </p:sp>
      <p:sp>
        <p:nvSpPr>
          <p:cNvPr id="258" name="Google Shape;258;p11">
            <a:extLst xmlns:a="http://schemas.openxmlformats.org/drawingml/2006/main">
              <a:ext uri="{FF2B5EF4-FFF2-40B4-BE49-F238E27FC236}">
                <a16:creationId xmlns:a16="http://schemas.microsoft.com/office/drawing/2014/main" id="{2C1A8288-A341-425A-B68F-6C122B0AB159}"/>
              </a:ext>
            </a:extLst>
          </p:cNvPr>
          <p:cNvSpPr>
            <a:spLocks xmlns:a="http://schemas.openxmlformats.org/drawingml/2006/main" noGrp="1"/>
          </p:cNvSpPr>
          <p:nvPr/>
        </p:nvSpPr>
        <p:spPr>
          <a:xfrm xmlns:a="http://schemas.openxmlformats.org/drawingml/2006/main">
            <a:off x="640080" y="457200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1" u="none" cap="none">
                <a:solidFill>
                  <a:srgbClr val="9A6414"/>
                </a:solidFill>
                <a:latin typeface="Calibri"/>
                <a:ea typeface="Calibri"/>
                <a:cs typeface="Calibri"/>
              </a:rPr>
              <a:t>T1 is constitutional completeness: a developing atom becomes sentient jeevan. The band above names the four planes — the developmental standing reached, not four kinds of thing. T2 and T3 are not further material stages; they name completeness of activity and conduct in awakened jeevan.</a:t>
            </a:r>
          </a:p>
        </p:txBody>
      </p:sp>
    </p:spTree>
    <p:extLst>
      <p:ext uri="{BB962C8B-B14F-4D97-AF65-F5344CB8AC3E}">
        <p14:creationId xmlns:p14="http://schemas.microsoft.com/office/powerpoint/2010/main" val="141356590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1.11–1.12</a:t>
            </a:r>
            <a:r>
              <a:rPr sz="1050" b="1" i="0" u="none" cap="none">
                <a:solidFill>
                  <a:srgbClr val="9A6414"/>
                </a:solidFill>
                <a:latin typeface="Calibri"/>
                <a:ea typeface="Calibri"/>
                <a:cs typeface="Calibri"/>
              </a:rPr>
              <a:t> · THE COMPLETENESS DRIVE</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One Drive, Four Vocabularies</a:t>
            </a:r>
          </a:p>
        </p:txBody>
      </p:sp>
      <p:graphicFrame>
        <p:nvGraphicFramePr>
          <p:cNvPr id="204" name="Google Shape;194;p9"/>
          <p:cNvGraphicFramePr/>
          <p:nvPr/>
        </p:nvGraphicFramePr>
        <p:xfrm>
          <a:off xmlns:a="http://schemas.openxmlformats.org/drawingml/2006/main" x="640080" y="1170432"/>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Vocabulary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Members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What it tracks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Do not confuse with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Orders (</a:t>
                      </a:r>
                      <a:r>
                        <a:rPr sz="1100" u="none" cap="none">
                          <a:solidFill>
                            <a:srgbClr val="1E2447"/>
                          </a:solidFill>
                          <a:latin typeface="Calibri"/>
                          <a:ea typeface="Calibri"/>
                          <a:cs typeface="Calibri"/>
                        </a:rPr>
                        <a:t>§1.6</a:t>
                      </a:r>
                      <a:r>
                        <a:rPr sz="1100" u="none" cap="none">
                          <a:solidFill>
                            <a:srgbClr val="1E2447"/>
                          </a:solidFill>
                          <a:latin typeface="Calibri"/>
                          <a:ea typeface="Calibri"/>
                          <a:cs typeface="Calibri"/>
                        </a:rPr>
                        <a: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 bio · animal · knowledge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kind of manifestation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Order and development (</a:t>
                      </a:r>
                      <a:r>
                        <a:rPr sz="1100" u="none" cap="none">
                          <a:solidFill>
                            <a:srgbClr val="1E2447"/>
                          </a:solidFill>
                          <a:latin typeface="Calibri"/>
                          <a:ea typeface="Calibri"/>
                          <a:cs typeface="Calibri"/>
                        </a:rPr>
                        <a:t>§1.12.1</a:t>
                      </a:r>
                      <a:r>
                        <a:rPr sz="1100" u="none" cap="none">
                          <a:solidFill>
                            <a:srgbClr val="1E2447"/>
                          </a:solidFill>
                          <a:latin typeface="Calibri"/>
                          <a:ea typeface="Calibri"/>
                          <a:cs typeface="Calibri"/>
                        </a:rPr>
                        <a: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existential · way of existence · development · awakening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sequence, conformance, development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Planes (</a:t>
                      </a:r>
                      <a:r>
                        <a:rPr sz="1100" u="none" cap="none">
                          <a:solidFill>
                            <a:srgbClr val="1E2447"/>
                          </a:solidFill>
                          <a:latin typeface="Calibri"/>
                          <a:ea typeface="Calibri"/>
                          <a:cs typeface="Calibri"/>
                        </a:rPr>
                        <a:t>§1.12.2</a:t>
                      </a:r>
                      <a:r>
                        <a:rPr sz="1100" u="none" cap="none">
                          <a:solidFill>
                            <a:srgbClr val="1E2447"/>
                          </a:solidFill>
                          <a:latin typeface="Calibri"/>
                          <a:ea typeface="Calibri"/>
                          <a:cs typeface="Calibri"/>
                        </a:rPr>
                        <a: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physicochemical · delusional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standing reached (T1 · T2 · T3)</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orders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Human types (</a:t>
                      </a:r>
                      <a:r>
                        <a:rPr sz="1100" u="none" cap="none">
                          <a:solidFill>
                            <a:srgbClr val="1E2447"/>
                          </a:solidFill>
                          <a:latin typeface="Calibri"/>
                          <a:ea typeface="Calibri"/>
                          <a:cs typeface="Calibri"/>
                        </a:rPr>
                        <a:t>§1.12.2</a:t>
                      </a:r>
                      <a:r>
                        <a:rPr sz="1100" u="none" cap="none">
                          <a:solidFill>
                            <a:srgbClr val="1E2447"/>
                          </a:solidFill>
                          <a:latin typeface="Calibri"/>
                          <a:ea typeface="Calibri"/>
                          <a:cs typeface="Calibri"/>
                        </a:rPr>
                        <a: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animalistic · demonic · humane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orientation of human living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value families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133087"/>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133087"/>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The terms distinguish manifestation, conformance, development, and human orientation. Orders and planes answer different questions. T1 establishes sentient standing; T2 and T3 concern completeness of understanding and conduct within jeevan. No fifth plane is added.</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§§1.7, 1.11–1.12</a:t>
            </a:r>
            <a:r>
              <a:rPr sz="950" b="0" i="1" u="none" cap="none">
                <a:solidFill>
                  <a:srgbClr val="5A6377"/>
                </a:solidFill>
                <a:latin typeface="Calibri"/>
                <a:ea typeface="Calibri"/>
                <a:cs typeface="Calibri"/>
              </a:rPr>
              <a:t>  ·  Conceptual map, classification key  ·  MVD pp. 5, 8  ·  SB pp. 50–51</a:t>
            </a:r>
          </a:p>
        </p:txBody>
      </p:sp>
    </p:spTree>
    <p:extLst>
      <p:ext uri="{BB962C8B-B14F-4D97-AF65-F5344CB8AC3E}">
        <p14:creationId xmlns:p14="http://schemas.microsoft.com/office/powerpoint/2010/main" val="11318954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9F84B1D-6DC1-4215-A195-CAF7397FD44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A834E3FE-30D5-4FCB-A5E0-5C23B0ABBE5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8F6694AE-E9BE-4AF4-A66C-C7880F700EB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5D20F6CF-695A-4151-A950-52AC4194D34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§1.13.1</a:t>
            </a:r>
            <a:r>
              <a:rPr sz="1050" b="1" i="0" u="none" cap="none">
                <a:solidFill>
                  <a:srgbClr val="9A6414"/>
                </a:solidFill>
                <a:latin typeface="Calibri"/>
                <a:ea typeface="Calibri"/>
                <a:cs typeface="Calibri"/>
              </a:rPr>
              <a:t> · COMPLEMENTARITY BECOMES VALUE</a:t>
            </a:r>
          </a:p>
        </p:txBody>
      </p:sp>
      <p:sp>
        <p:nvSpPr>
          <p:cNvPr id="162" name="Google Shape;162;p8">
            <a:extLst xmlns:a="http://schemas.openxmlformats.org/drawingml/2006/main">
              <a:ext uri="{FF2B5EF4-FFF2-40B4-BE49-F238E27FC236}">
                <a16:creationId xmlns:a16="http://schemas.microsoft.com/office/drawing/2014/main" id="{C5DD056F-A08E-4F2D-B92E-0DBA8EE8776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Units in Relationships</a:t>
            </a:r>
          </a:p>
        </p:txBody>
      </p:sp>
      <p:sp>
        <p:nvSpPr>
          <p:cNvPr id="163" name="Google Shape;163;p8">
            <a:extLst xmlns:a="http://schemas.openxmlformats.org/drawingml/2006/main">
              <a:ext uri="{FF2B5EF4-FFF2-40B4-BE49-F238E27FC236}">
                <a16:creationId xmlns:a16="http://schemas.microsoft.com/office/drawing/2014/main" id="{DEC51957-129A-43E2-8B54-6B0E245C25B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Complementarity becomes evident in relationships. Material, bio and animal fulfilment follows definite conformance. Human beings must understand relationships, evaluate their values and fulfil them knowingly.</a:t>
            </a:r>
          </a:p>
        </p:txBody>
      </p:sp>
      <p:sp>
        <p:nvSpPr>
          <p:cNvPr id="164" name="Google Shape;164;p8">
            <a:extLst xmlns:a="http://schemas.openxmlformats.org/drawingml/2006/main">
              <a:ext uri="{FF2B5EF4-FFF2-40B4-BE49-F238E27FC236}">
                <a16:creationId xmlns:a16="http://schemas.microsoft.com/office/drawing/2014/main" id="{55F81FC9-9FE5-4D64-83C5-B9CD09FA0F0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726D1099-0694-4291-A549-3F3CA5BBB846}"/>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Relationship</a:t>
            </a:r>
          </a:p>
        </p:txBody>
      </p:sp>
      <p:sp>
        <p:nvSpPr>
          <p:cNvPr id="166" name="Google Shape;166;p8">
            <a:extLst xmlns:a="http://schemas.openxmlformats.org/drawingml/2006/main">
              <a:ext uri="{FF2B5EF4-FFF2-40B4-BE49-F238E27FC236}">
                <a16:creationId xmlns:a16="http://schemas.microsoft.com/office/drawing/2014/main" id="{F24C4CA3-F0EB-483B-BCA3-39B1047C9273}"/>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whose expectations and fulfilment are definite in the relation's completeness — e.g. parent and child.</a:t>
            </a:r>
          </a:p>
        </p:txBody>
      </p:sp>
      <p:sp>
        <p:nvSpPr>
          <p:cNvPr id="167" name="Google Shape;167;p8">
            <a:extLst xmlns:a="http://schemas.openxmlformats.org/drawingml/2006/main">
              <a:ext uri="{FF2B5EF4-FFF2-40B4-BE49-F238E27FC236}">
                <a16:creationId xmlns:a16="http://schemas.microsoft.com/office/drawing/2014/main" id="{F87EA41D-F266-427C-B296-8A5DE68EA8C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60A8DB29-8139-41D5-B02E-FB03B751324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Contact</a:t>
            </a:r>
          </a:p>
        </p:txBody>
      </p:sp>
      <p:sp>
        <p:nvSpPr>
          <p:cNvPr id="169" name="Google Shape;169;p8">
            <a:extLst xmlns:a="http://schemas.openxmlformats.org/drawingml/2006/main">
              <a:ext uri="{FF2B5EF4-FFF2-40B4-BE49-F238E27FC236}">
                <a16:creationId xmlns:a16="http://schemas.microsoft.com/office/drawing/2014/main" id="{58D0CFD6-5F25-4801-94B8-9739BAA03AF7}"/>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 voluntarily undertaken exchange, such as neighbours sharing upkeep of a wall. Justice and humane duties still apply.</a:t>
            </a:r>
          </a:p>
        </p:txBody>
      </p:sp>
      <p:sp>
        <p:nvSpPr>
          <p:cNvPr id="170" name="Google Shape;170;p8">
            <a:extLst xmlns:a="http://schemas.openxmlformats.org/drawingml/2006/main">
              <a:ext uri="{FF2B5EF4-FFF2-40B4-BE49-F238E27FC236}">
                <a16:creationId xmlns:a16="http://schemas.microsoft.com/office/drawing/2014/main" id="{1C053D7A-1774-40CE-865A-219A0A24EB1F}"/>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Thirty values: four jeevan, six human, nine established, nine expressed (shishta), and two object values. Established values are paired with expressed values in conduct.</a:t>
            </a:r>
          </a:p>
        </p:txBody>
      </p:sp>
      <p:sp>
        <p:nvSpPr>
          <p:cNvPr id="171" name="Google Shape;171;p8">
            <a:extLst xmlns:a="http://schemas.openxmlformats.org/drawingml/2006/main">
              <a:ext uri="{FF2B5EF4-FFF2-40B4-BE49-F238E27FC236}">
                <a16:creationId xmlns:a16="http://schemas.microsoft.com/office/drawing/2014/main" id="{6DC04A20-B918-49D0-976D-BB143E75280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7EF3F5F5-0E78-431C-9E98-48BD1377FB4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a:t>
            </a:r>
          </a:p>
        </p:txBody>
      </p:sp>
      <p:sp>
        <p:nvSpPr>
          <p:cNvPr id="173" name="Google Shape;173;p8">
            <a:extLst xmlns:a="http://schemas.openxmlformats.org/drawingml/2006/main">
              <a:ext uri="{FF2B5EF4-FFF2-40B4-BE49-F238E27FC236}">
                <a16:creationId xmlns:a16="http://schemas.microsoft.com/office/drawing/2014/main" id="{95912ACF-7BCA-480C-8FF9-60A35610397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155904C9-1DD3-42F5-ABC1-BB9BE21D6D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81CE8F5-930E-47CC-8DA6-8BBA7F52372C}"/>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Believing</a:t>
            </a:r>
          </a:p>
        </p:txBody>
      </p:sp>
      <p:sp>
        <p:nvSpPr>
          <p:cNvPr id="176" name="Google Shape;176;p8">
            <a:extLst xmlns:a="http://schemas.openxmlformats.org/drawingml/2006/main">
              <a:ext uri="{FF2B5EF4-FFF2-40B4-BE49-F238E27FC236}">
                <a16:creationId xmlns:a16="http://schemas.microsoft.com/office/drawing/2014/main" id="{924D7205-9C4A-4398-AEDB-A16F6BB592B9}"/>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A7897A17-DDF7-4BA9-A872-FBAA48BA625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FC8B7616-7F8F-48DE-A376-C19FEF25E19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9" name="Google Shape;179;p8">
            <a:extLst xmlns:a="http://schemas.openxmlformats.org/drawingml/2006/main">
              <a:ext uri="{FF2B5EF4-FFF2-40B4-BE49-F238E27FC236}">
                <a16:creationId xmlns:a16="http://schemas.microsoft.com/office/drawing/2014/main" id="{B5301D89-98C7-4730-A3C7-45B49173806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7D8FBE74-AD68-4587-88A8-38F7688A68AA}"/>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7BCF193F-55BB-4B2F-8D67-9B8FDA5F3DC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82" name="Google Shape;182;p8">
            <a:extLst xmlns:a="http://schemas.openxmlformats.org/drawingml/2006/main">
              <a:ext uri="{FF2B5EF4-FFF2-40B4-BE49-F238E27FC236}">
                <a16:creationId xmlns:a16="http://schemas.microsoft.com/office/drawing/2014/main" id="{39262F35-7220-4EB8-9BA0-C274AA53D0B7}"/>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Established values become evident in fulfilled relationships. Expressed values carry them in conduct.</a:t>
            </a:r>
          </a:p>
        </p:txBody>
      </p:sp>
      <p:sp>
        <p:nvSpPr>
          <p:cNvPr id="183" name="Google Shape;183;p8">
            <a:extLst xmlns:a="http://schemas.openxmlformats.org/drawingml/2006/main">
              <a:ext uri="{FF2B5EF4-FFF2-40B4-BE49-F238E27FC236}">
                <a16:creationId xmlns:a16="http://schemas.microsoft.com/office/drawing/2014/main" id="{F7EB63A2-CA96-4FC1-B350-7EAC1CD701F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61–62, 27  ·  SB pp. 50, 53, 61  ·  JV p. 69  ·  Paribhasha pp. 151, 154</a:t>
            </a:r>
          </a:p>
        </p:txBody>
      </p:sp>
    </p:spTree>
    <p:extLst>
      <p:ext uri="{BB962C8B-B14F-4D97-AF65-F5344CB8AC3E}">
        <p14:creationId xmlns:p14="http://schemas.microsoft.com/office/powerpoint/2010/main" val="207647850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A227E694-ACB1-4552-9B01-9BA14E563CE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27B0F8F-D67F-402D-9A7D-CC96363D70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094DB0CA-9CEE-40E8-B3E3-606F2F55863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FC275619-7726-4132-9B6E-380017453A7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§1.13.2 ·</a:t>
            </a:r>
            <a:r>
              <a:rPr sz="1050" b="1" i="0" u="none" cap="none">
                <a:solidFill>
                  <a:srgbClr val="9A6414"/>
                </a:solidFill>
                <a:latin typeface="Calibri"/>
                <a:ea typeface="Calibri"/>
                <a:cs typeface="Calibri"/>
              </a:rPr>
              <a:t> EVALUATIVE PERSPECTIVES</a:t>
            </a:r>
          </a:p>
        </p:txBody>
      </p:sp>
      <p:sp>
        <p:nvSpPr>
          <p:cNvPr id="207" name="Google Shape;207;p10">
            <a:extLst xmlns:a="http://schemas.openxmlformats.org/drawingml/2006/main">
              <a:ext uri="{FF2B5EF4-FFF2-40B4-BE49-F238E27FC236}">
                <a16:creationId xmlns:a16="http://schemas.microsoft.com/office/drawing/2014/main" id="{FC8351DF-4D8B-4DEB-A7B3-FBE1FDA97F9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Six Evaluative Perspectives</a:t>
            </a:r>
          </a:p>
        </p:txBody>
      </p:sp>
      <p:sp>
        <p:nvSpPr>
          <p:cNvPr id="208" name="Google Shape;208;p10">
            <a:extLst xmlns:a="http://schemas.openxmlformats.org/drawingml/2006/main">
              <a:ext uri="{FF2B5EF4-FFF2-40B4-BE49-F238E27FC236}">
                <a16:creationId xmlns:a16="http://schemas.microsoft.com/office/drawing/2014/main" id="{FCB4F088-E7F6-4DE9-976F-1E0016290F4B}"/>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Human evaluation includes pleasant–unpleasant, healthy–unhealthy and profit–loss, together with justice–injustice, dharma–adharma and truth–untruth. The final three guide sensory criteria within a fuller understanding.</a:t>
            </a:r>
          </a:p>
        </p:txBody>
      </p:sp>
      <p:sp>
        <p:nvSpPr>
          <p:cNvPr id="209" name="Google Shape;209;p10">
            <a:extLst xmlns:a="http://schemas.openxmlformats.org/drawingml/2006/main">
              <a:ext uri="{FF2B5EF4-FFF2-40B4-BE49-F238E27FC236}">
                <a16:creationId xmlns:a16="http://schemas.microsoft.com/office/drawing/2014/main" id="{577F7853-8B3D-4139-9CFE-636BD5FF4BC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1084CDE5-50F9-4276-867F-4FD62941EC8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Justice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relationship</a:t>
            </a:r>
          </a:p>
        </p:txBody>
      </p:sp>
      <p:sp>
        <p:nvSpPr>
          <p:cNvPr id="211" name="Google Shape;211;p10">
            <a:extLst xmlns:a="http://schemas.openxmlformats.org/drawingml/2006/main">
              <a:ext uri="{FF2B5EF4-FFF2-40B4-BE49-F238E27FC236}">
                <a16:creationId xmlns:a16="http://schemas.microsoft.com/office/drawing/2014/main" id="{60C9893A-91A5-4772-AED3-DCD9E751B981}"/>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fulfilled relationship</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recognition, evaluation, satisfaction</a:t>
            </a:r>
          </a:p>
        </p:txBody>
      </p:sp>
      <p:sp>
        <p:nvSpPr>
          <p:cNvPr id="212" name="Google Shape;212;p10">
            <a:extLst xmlns:a="http://schemas.openxmlformats.org/drawingml/2006/main">
              <a:ext uri="{FF2B5EF4-FFF2-40B4-BE49-F238E27FC236}">
                <a16:creationId xmlns:a16="http://schemas.microsoft.com/office/drawing/2014/main" id="{7DDB69DA-6C86-43C8-AB99-B8FC0A52B9B4}"/>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124E4E43-5036-40BE-9F52-0C736332667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Dharma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orderliness</a:t>
            </a:r>
          </a:p>
        </p:txBody>
      </p:sp>
      <p:sp>
        <p:nvSpPr>
          <p:cNvPr id="214" name="Google Shape;214;p10">
            <a:extLst xmlns:a="http://schemas.openxmlformats.org/drawingml/2006/main">
              <a:ext uri="{FF2B5EF4-FFF2-40B4-BE49-F238E27FC236}">
                <a16:creationId xmlns:a16="http://schemas.microsoft.com/office/drawing/2014/main" id="{9D4DB499-FF49-40DA-9AE5-266D70C6EAA6}"/>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resolved thought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participation in overall orderliness</a:t>
            </a:r>
          </a:p>
        </p:txBody>
      </p:sp>
      <p:sp>
        <p:nvSpPr>
          <p:cNvPr id="215" name="Google Shape;215;p10">
            <a:extLst xmlns:a="http://schemas.openxmlformats.org/drawingml/2006/main">
              <a:ext uri="{FF2B5EF4-FFF2-40B4-BE49-F238E27FC236}">
                <a16:creationId xmlns:a16="http://schemas.microsoft.com/office/drawing/2014/main" id="{3EFCB717-BC3C-4902-96E7-34E87294B4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2D87294-2AD0-458F-8076-D9F44C0F3C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Satya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truth in coexistence</a:t>
            </a:r>
          </a:p>
        </p:txBody>
      </p:sp>
      <p:sp>
        <p:nvSpPr>
          <p:cNvPr id="217" name="Google Shape;217;p10">
            <a:extLst xmlns:a="http://schemas.openxmlformats.org/drawingml/2006/main">
              <a:ext uri="{FF2B5EF4-FFF2-40B4-BE49-F238E27FC236}">
                <a16:creationId xmlns:a16="http://schemas.microsoft.com/office/drawing/2014/main" id="{4AC770B6-231B-43C5-A35F-E7957DACDC07}"/>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understanding existence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grounded in realisation</a:t>
            </a:r>
          </a:p>
        </p:txBody>
      </p:sp>
      <p:sp>
        <p:nvSpPr>
          <p:cNvPr id="218" name="Google Shape;218;p10">
            <a:extLst xmlns:a="http://schemas.openxmlformats.org/drawingml/2006/main">
              <a:ext uri="{FF2B5EF4-FFF2-40B4-BE49-F238E27FC236}">
                <a16:creationId xmlns:a16="http://schemas.microsoft.com/office/drawing/2014/main" id="{67BE35B1-9F7E-43AA-BCA7-CDCBC3E976D2}"/>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2EBCC9FB-178B-4F48-8E46-B6AC0DA5D2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graduated chain</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Rule is justice, justice is dharma, dharma is truth, and truth is coexistence.</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KD p. 13 (working-English paraphrase)</a:t>
            </a:r>
          </a:p>
        </p:txBody>
      </p:sp>
      <p:sp>
        <p:nvSpPr>
          <p:cNvPr id="230" name="Google Shape;230;p10">
            <a:extLst xmlns:a="http://schemas.openxmlformats.org/drawingml/2006/main">
              <a:ext uri="{FF2B5EF4-FFF2-40B4-BE49-F238E27FC236}">
                <a16:creationId xmlns:a16="http://schemas.microsoft.com/office/drawing/2014/main" id="{9268F224-4C3A-454A-A2D9-30300DB4E8B3}"/>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KD distinguishes six perspectives; MVD also scales justice, dharma, and truth across relationship, social order, and coexistence.</a:t>
            </a:r>
          </a:p>
        </p:txBody>
      </p:sp>
      <p:sp>
        <p:nvSpPr>
          <p:cNvPr id="220" name="Google Shape;220;p10">
            <a:extLst xmlns:a="http://schemas.openxmlformats.org/drawingml/2006/main">
              <a:ext uri="{FF2B5EF4-FFF2-40B4-BE49-F238E27FC236}">
                <a16:creationId xmlns:a16="http://schemas.microsoft.com/office/drawing/2014/main" id="{8FBE3DC7-DB80-4DE6-B0B5-0F778F11938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25" b="0" i="1" u="none" cap="none">
                <a:solidFill>
                  <a:srgbClr val="5A6377"/>
                </a:solidFill>
                <a:latin typeface="Calibri"/>
                <a:ea typeface="Calibri"/>
                <a:cs typeface="Calibri"/>
              </a:rPr>
              <a:t>§§1.13.2–1.13.3</a:t>
            </a:r>
            <a:r>
              <a:rPr sz="1125" b="0" i="1" u="none" cap="none">
                <a:solidFill>
                  <a:srgbClr val="5A6377"/>
                </a:solidFill>
                <a:latin typeface="Calibri"/>
                <a:ea typeface="Calibri"/>
                <a:cs typeface="Calibri"/>
              </a:rPr>
              <a:t> · KD pp. 10, 13, 60, 86</a:t>
            </a:r>
          </a:p>
        </p:txBody>
      </p:sp>
    </p:spTree>
    <p:extLst>
      <p:ext uri="{BB962C8B-B14F-4D97-AF65-F5344CB8AC3E}">
        <p14:creationId xmlns:p14="http://schemas.microsoft.com/office/powerpoint/2010/main" val="159218005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9" name="Google Shape;419;p18">
            <a:extLst xmlns:a="http://schemas.openxmlformats.org/drawingml/2006/main">
              <a:ext uri="{FF2B5EF4-FFF2-40B4-BE49-F238E27FC236}">
                <a16:creationId xmlns:a16="http://schemas.microsoft.com/office/drawing/2014/main" id="{AC19F2BA-9F1E-4A35-BBD0-E8FFB6791B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0" name="Google Shape;420;p18">
            <a:extLst xmlns:a="http://schemas.openxmlformats.org/drawingml/2006/main">
              <a:ext uri="{FF2B5EF4-FFF2-40B4-BE49-F238E27FC236}">
                <a16:creationId xmlns:a16="http://schemas.microsoft.com/office/drawing/2014/main" id="{5B4143EF-219D-46BC-904B-B59B34A724E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1" name="Google Shape;421;p18">
            <a:extLst xmlns:a="http://schemas.openxmlformats.org/drawingml/2006/main">
              <a:ext uri="{FF2B5EF4-FFF2-40B4-BE49-F238E27FC236}">
                <a16:creationId xmlns:a16="http://schemas.microsoft.com/office/drawing/2014/main" id="{561CF8D0-7097-47DE-8D1B-22B21EE0610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2" name="Google Shape;422;p18">
            <a:extLst xmlns:a="http://schemas.openxmlformats.org/drawingml/2006/main">
              <a:ext uri="{FF2B5EF4-FFF2-40B4-BE49-F238E27FC236}">
                <a16:creationId xmlns:a16="http://schemas.microsoft.com/office/drawing/2014/main" id="{8DA75099-9845-48B9-8CDE-83573C3CEB1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 1.8–1.9, 1.13–1.14</a:t>
            </a:r>
            <a:r>
              <a:rPr sz="1050" b="1" i="0" u="none" cap="none">
                <a:solidFill>
                  <a:srgbClr val="9A6414"/>
                </a:solidFill>
                <a:latin typeface="Calibri"/>
                <a:ea typeface="Calibri"/>
                <a:cs typeface="Calibri"/>
              </a:rPr>
              <a:t> · THE EPISTEMIC LADDER</a:t>
            </a:r>
          </a:p>
        </p:txBody>
      </p:sp>
      <p:sp>
        <p:nvSpPr>
          <p:cNvPr id="423" name="Google Shape;423;p18">
            <a:extLst xmlns:a="http://schemas.openxmlformats.org/drawingml/2006/main">
              <a:ext uri="{FF2B5EF4-FFF2-40B4-BE49-F238E27FC236}">
                <a16:creationId xmlns:a16="http://schemas.microsoft.com/office/drawing/2014/main" id="{A9BB04D9-3F67-41A2-8A26-AA19BA8992E7}"/>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Epistemic Ladder</a:t>
            </a:r>
          </a:p>
        </p:txBody>
      </p:sp>
      <p:sp>
        <p:nvSpPr>
          <p:cNvPr id="424" name="Google Shape;424;p18">
            <a:extLst xmlns:a="http://schemas.openxmlformats.org/drawingml/2006/main">
              <a:ext uri="{FF2B5EF4-FFF2-40B4-BE49-F238E27FC236}">
                <a16:creationId xmlns:a16="http://schemas.microsoft.com/office/drawing/2014/main" id="{F0E43322-0A7C-40FB-BD60-2F7922B40F04}"/>
              </a:ext>
            </a:extLst>
          </p:cNvPr>
          <p:cNvSpPr>
            <a:spLocks xmlns:a="http://schemas.openxmlformats.org/drawingml/2006/main" noGrp="1"/>
          </p:cNvSpPr>
          <p:nvPr/>
        </p:nvSpPr>
        <p:spPr>
          <a:xfrm xmlns:a="http://schemas.openxmlformats.org/drawingml/2006/main">
            <a:off x="548640" y="1280160"/>
            <a:ext cx="37490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Widening the context of understanding</a:t>
            </a:r>
          </a:p>
        </p:txBody>
      </p:sp>
      <p:sp>
        <p:nvSpPr>
          <p:cNvPr id="450" name="Google Shape;450;p18">
            <a:extLst xmlns:a="http://schemas.openxmlformats.org/drawingml/2006/main">
              <a:ext uri="{FF2B5EF4-FFF2-40B4-BE49-F238E27FC236}">
                <a16:creationId xmlns:a16="http://schemas.microsoft.com/office/drawing/2014/main" id="{A53A7AB2-1B4D-4CF8-B8AD-CA57930C99EB}"/>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oundRect">
            <a:avLst>
              <a:gd name="adj" fmla="val 14286"/>
            </a:avLst>
          </a:prstGeom>
          <a:solidFill xmlns:a="http://schemas.openxmlformats.org/drawingml/2006/main">
            <a:srgbClr val="9A6414"/>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1" name="Google Shape;451;p18">
            <a:extLst xmlns:a="http://schemas.openxmlformats.org/drawingml/2006/main">
              <a:ext uri="{FF2B5EF4-FFF2-40B4-BE49-F238E27FC236}">
                <a16:creationId xmlns:a16="http://schemas.microsoft.com/office/drawing/2014/main" id="{ED00F5D3-2ABA-4839-8328-84D8D7953D68}"/>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coexistence itself  ·  the aim of knowing</a:t>
            </a:r>
          </a:p>
        </p:txBody>
      </p:sp>
      <p:sp>
        <p:nvSpPr>
          <p:cNvPr id="452" name="Google Shape;452;p18">
            <a:extLst xmlns:a="http://schemas.openxmlformats.org/drawingml/2006/main">
              <a:ext uri="{FF2B5EF4-FFF2-40B4-BE49-F238E27FC236}">
                <a16:creationId xmlns:a16="http://schemas.microsoft.com/office/drawing/2014/main" id="{0969169C-3236-4F16-BE9A-E3957D4A6A9E}"/>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3" name="Google Shape;453;p18">
            <a:extLst xmlns:a="http://schemas.openxmlformats.org/drawingml/2006/main">
              <a:ext uri="{FF2B5EF4-FFF2-40B4-BE49-F238E27FC236}">
                <a16:creationId xmlns:a16="http://schemas.microsoft.com/office/drawing/2014/main" id="{72FCC9B4-A8AC-48A4-9F01-C35B56BEBBB7}"/>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relationships  ·  shared expectations weighed by justice, dharma, and truth (</a:t>
            </a:r>
            <a:r>
              <a:rPr sz="1150" b="1" i="0" u="none" cap="none">
                <a:solidFill>
                  <a:srgbClr val="1E2447"/>
                </a:solidFill>
                <a:latin typeface="Calibri"/>
                <a:ea typeface="Calibri"/>
                <a:cs typeface="Calibri"/>
              </a:rPr>
              <a:t>§1.13.2</a:t>
            </a:r>
            <a:r>
              <a:rPr sz="1150" b="1" i="0" u="none" cap="none">
                <a:solidFill>
                  <a:srgbClr val="1E2447"/>
                </a:solidFill>
                <a:latin typeface="Calibri"/>
                <a:ea typeface="Calibri"/>
                <a:cs typeface="Calibri"/>
              </a:rPr>
              <a:t>)</a:t>
            </a:r>
          </a:p>
        </p:txBody>
      </p:sp>
      <p:sp>
        <p:nvSpPr>
          <p:cNvPr id="425" name="Google Shape;425;p18">
            <a:extLst xmlns:a="http://schemas.openxmlformats.org/drawingml/2006/main">
              <a:ext uri="{FF2B5EF4-FFF2-40B4-BE49-F238E27FC236}">
                <a16:creationId xmlns:a16="http://schemas.microsoft.com/office/drawing/2014/main" id="{F81FC8C1-6F3A-42F5-A7CB-13017A67F93B}"/>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6" name="Google Shape;426;p18">
            <a:extLst xmlns:a="http://schemas.openxmlformats.org/drawingml/2006/main">
              <a:ext uri="{FF2B5EF4-FFF2-40B4-BE49-F238E27FC236}">
                <a16:creationId xmlns:a16="http://schemas.microsoft.com/office/drawing/2014/main" id="{FFA15703-3322-44A6-8170-6B7B205EBB14}"/>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9A6414"/>
                </a:solidFill>
                <a:latin typeface="Calibri"/>
                <a:ea typeface="Calibri"/>
                <a:cs typeface="Calibri"/>
              </a:rPr>
              <a:t>dharma  ·  innateness evidenced in whole-order fulfilment</a:t>
            </a:r>
          </a:p>
        </p:txBody>
      </p:sp>
      <p:sp>
        <p:nvSpPr>
          <p:cNvPr id="427" name="Google Shape;427;p18">
            <a:extLst xmlns:a="http://schemas.openxmlformats.org/drawingml/2006/main">
              <a:ext uri="{FF2B5EF4-FFF2-40B4-BE49-F238E27FC236}">
                <a16:creationId xmlns:a16="http://schemas.microsoft.com/office/drawing/2014/main" id="{0361EBB0-84E5-479B-85C7-4C9B5804B9FA}"/>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8" name="Google Shape;428;p18">
            <a:extLst xmlns:a="http://schemas.openxmlformats.org/drawingml/2006/main">
              <a:ext uri="{FF2B5EF4-FFF2-40B4-BE49-F238E27FC236}">
                <a16:creationId xmlns:a16="http://schemas.microsoft.com/office/drawing/2014/main" id="{0F84EEAC-434C-4925-9BB9-3DD284C2C194}"/>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svabhav  ·  usefulness within state, plane &amp; order</a:t>
            </a:r>
          </a:p>
        </p:txBody>
      </p:sp>
      <p:sp>
        <p:nvSpPr>
          <p:cNvPr id="429" name="Google Shape;429;p18">
            <a:extLst xmlns:a="http://schemas.openxmlformats.org/drawingml/2006/main">
              <a:ext uri="{FF2B5EF4-FFF2-40B4-BE49-F238E27FC236}">
                <a16:creationId xmlns:a16="http://schemas.microsoft.com/office/drawing/2014/main" id="{FD2DC8FD-9A9A-4C9A-9564-EA41F5ECC05F}"/>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0" name="Google Shape;430;p18">
            <a:extLst xmlns:a="http://schemas.openxmlformats.org/drawingml/2006/main">
              <a:ext uri="{FF2B5EF4-FFF2-40B4-BE49-F238E27FC236}">
                <a16:creationId xmlns:a16="http://schemas.microsoft.com/office/drawing/2014/main" id="{E64E419E-35C0-4FE7-813A-AD7269E90919}"/>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guna  ·  effects evident in definite mutuality</a:t>
            </a:r>
          </a:p>
        </p:txBody>
      </p:sp>
      <p:sp>
        <p:nvSpPr>
          <p:cNvPr id="431" name="Google Shape;431;p18">
            <a:extLst xmlns:a="http://schemas.openxmlformats.org/drawingml/2006/main">
              <a:ext uri="{FF2B5EF4-FFF2-40B4-BE49-F238E27FC236}">
                <a16:creationId xmlns:a16="http://schemas.microsoft.com/office/drawing/2014/main" id="{A26EA2FC-59CD-418E-ADF4-5AF22119D2B2}"/>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2" name="Google Shape;432;p18">
            <a:extLst xmlns:a="http://schemas.openxmlformats.org/drawingml/2006/main">
              <a:ext uri="{FF2B5EF4-FFF2-40B4-BE49-F238E27FC236}">
                <a16:creationId xmlns:a16="http://schemas.microsoft.com/office/drawing/2014/main" id="{14BA3C2D-3966-48F7-A294-E0FA8C17CF01}"/>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form  ·  real structure imaged in mutual facing</a:t>
            </a:r>
          </a:p>
        </p:txBody>
      </p:sp>
      <p:sp>
        <p:nvSpPr>
          <p:cNvPr id="433" name="Google Shape;433;p18">
            <a:extLst xmlns:a="http://schemas.openxmlformats.org/drawingml/2006/main">
              <a:ext uri="{FF2B5EF4-FFF2-40B4-BE49-F238E27FC236}">
                <a16:creationId xmlns:a16="http://schemas.microsoft.com/office/drawing/2014/main" id="{E31E0910-FFE3-4D4A-94D3-27A5C3C61D52}"/>
              </a:ext>
            </a:extLst>
          </p:cNvPr>
          <p:cNvSpPr>
            <a:spLocks xmlns:a="http://schemas.openxmlformats.org/drawingml/2006/main" noGrp="1"/>
          </p:cNvSpPr>
          <p:nvPr/>
        </p:nvSpPr>
        <p:spPr>
          <a:xfrm xmlns:a="http://schemas.openxmlformats.org/drawingml/2006/main">
            <a:off x="274320" y="4300000"/>
            <a:ext cx="4297680" cy="4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All four aspects belong to the manifest unit. These rungs widen the context of human understanding; an image alone does not deliver completed knowledge.</a:t>
            </a:r>
          </a:p>
        </p:txBody>
      </p:sp>
      <p:sp>
        <p:nvSpPr>
          <p:cNvPr id="434" name="Google Shape;434;p18">
            <a:extLst xmlns:a="http://schemas.openxmlformats.org/drawingml/2006/main">
              <a:ext uri="{FF2B5EF4-FFF2-40B4-BE49-F238E27FC236}">
                <a16:creationId xmlns:a16="http://schemas.microsoft.com/office/drawing/2014/main" id="{E220C89B-021D-4776-983A-E31A49AA1D9F}"/>
              </a:ext>
            </a:extLst>
          </p:cNvPr>
          <p:cNvSpPr>
            <a:spLocks xmlns:a="http://schemas.openxmlformats.org/drawingml/2006/main" noGrp="1"/>
          </p:cNvSpPr>
          <p:nvPr/>
        </p:nvSpPr>
        <p:spPr>
          <a:xfrm xmlns:a="http://schemas.openxmlformats.org/drawingml/2006/main">
            <a:off x="4892040" y="1280160"/>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How knowing happens — within jeevan</a:t>
            </a:r>
          </a:p>
        </p:txBody>
      </p:sp>
      <p:sp>
        <p:nvSpPr>
          <p:cNvPr id="435" name="Google Shape;435;p18">
            <a:extLst xmlns:a="http://schemas.openxmlformats.org/drawingml/2006/main">
              <a:ext uri="{FF2B5EF4-FFF2-40B4-BE49-F238E27FC236}">
                <a16:creationId xmlns:a16="http://schemas.microsoft.com/office/drawing/2014/main" id="{79ECD1B1-07B3-4D0C-A1FD-E24C3F416BB2}"/>
              </a:ext>
            </a:extLst>
          </p:cNvPr>
          <p:cNvSpPr>
            <a:spLocks xmlns:a="http://schemas.openxmlformats.org/drawingml/2006/main" noGrp="1"/>
          </p:cNvSpPr>
          <p:nvPr/>
        </p:nvSpPr>
        <p:spPr>
          <a:xfrm xmlns:a="http://schemas.openxmlformats.org/drawingml/2006/main">
            <a:off x="4892040" y="1645920"/>
            <a:ext cx="3429000" cy="457200"/>
          </a:xfrm>
          <a:prstGeom xmlns:a="http://schemas.openxmlformats.org/drawingml/2006/main" prst="roundRect">
            <a:avLst>
              <a:gd name="adj" fmla="val 16000"/>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6" name="Google Shape;436;p18">
            <a:extLst xmlns:a="http://schemas.openxmlformats.org/drawingml/2006/main">
              <a:ext uri="{FF2B5EF4-FFF2-40B4-BE49-F238E27FC236}">
                <a16:creationId xmlns:a16="http://schemas.microsoft.com/office/drawing/2014/main" id="{3670FC36-729C-4187-B7C8-6A6C96F6092F}"/>
              </a:ext>
            </a:extLst>
          </p:cNvPr>
          <p:cNvSpPr>
            <a:spLocks xmlns:a="http://schemas.openxmlformats.org/drawingml/2006/main" noGrp="1"/>
          </p:cNvSpPr>
          <p:nvPr/>
        </p:nvSpPr>
        <p:spPr>
          <a:xfrm xmlns:a="http://schemas.openxmlformats.org/drawingml/2006/main">
            <a:off x="5029200" y="1645920"/>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Atma</a:t>
            </a:r>
            <a:r>
              <a:rPr sz="1150" b="1" i="0" u="none" cap="none">
                <a:solidFill>
                  <a:srgbClr val="9A6414"/>
                </a:solidFill>
                <a:latin typeface="Calibri"/>
                <a:ea typeface="Calibri"/>
                <a:cs typeface="Calibri"/>
              </a:rPr>
              <a:t>   </a:t>
            </a:r>
            <a:r>
              <a:rPr sz="900" b="0" i="0" u="none" cap="none">
                <a:solidFill>
                  <a:srgbClr val="5A6377"/>
                </a:solidFill>
                <a:latin typeface="Calibri"/>
                <a:ea typeface="Calibri"/>
                <a:cs typeface="Calibri"/>
              </a:rPr>
              <a:t>realisation — only through truth · authenticity</a:t>
            </a:r>
          </a:p>
        </p:txBody>
      </p:sp>
      <p:sp>
        <p:nvSpPr>
          <p:cNvPr id="437" name="Google Shape;437;p18">
            <a:extLst xmlns:a="http://schemas.openxmlformats.org/drawingml/2006/main">
              <a:ext uri="{FF2B5EF4-FFF2-40B4-BE49-F238E27FC236}">
                <a16:creationId xmlns:a16="http://schemas.microsoft.com/office/drawing/2014/main" id="{2A893C6A-C0F2-4AE3-9C30-D6BA51DA39FA}"/>
              </a:ext>
            </a:extLst>
          </p:cNvPr>
          <p:cNvSpPr>
            <a:spLocks xmlns:a="http://schemas.openxmlformats.org/drawingml/2006/main" noGrp="1"/>
          </p:cNvSpPr>
          <p:nvPr/>
        </p:nvSpPr>
        <p:spPr>
          <a:xfrm xmlns:a="http://schemas.openxmlformats.org/drawingml/2006/main">
            <a:off x="4892040" y="2212848"/>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8" name="Google Shape;438;p18">
            <a:extLst xmlns:a="http://schemas.openxmlformats.org/drawingml/2006/main">
              <a:ext uri="{FF2B5EF4-FFF2-40B4-BE49-F238E27FC236}">
                <a16:creationId xmlns:a16="http://schemas.microsoft.com/office/drawing/2014/main" id="{13DBAC8B-BA37-4E22-A075-812F4996B776}"/>
              </a:ext>
            </a:extLst>
          </p:cNvPr>
          <p:cNvSpPr>
            <a:spLocks xmlns:a="http://schemas.openxmlformats.org/drawingml/2006/main" noGrp="1"/>
          </p:cNvSpPr>
          <p:nvPr/>
        </p:nvSpPr>
        <p:spPr>
          <a:xfrm xmlns:a="http://schemas.openxmlformats.org/drawingml/2006/main">
            <a:off x="5029200" y="2212848"/>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Buddhi</a:t>
            </a:r>
            <a:r>
              <a:rPr sz="1150" b="1" i="0" u="none" cap="none">
                <a:solidFill>
                  <a:srgbClr val="1E2447"/>
                </a:solidFill>
                <a:latin typeface="Calibri"/>
                <a:ea typeface="Calibri"/>
                <a:cs typeface="Calibri"/>
              </a:rPr>
              <a:t>   </a:t>
            </a:r>
            <a:r>
              <a:rPr sz="900" b="0" i="0" u="none" cap="none">
                <a:solidFill>
                  <a:srgbClr val="5A6377"/>
                </a:solidFill>
                <a:latin typeface="Calibri"/>
                <a:ea typeface="Calibri"/>
                <a:cs typeface="Calibri"/>
              </a:rPr>
              <a:t>comprehension of existence, jeevan, conduct · resolve</a:t>
            </a:r>
          </a:p>
        </p:txBody>
      </p:sp>
      <p:sp>
        <p:nvSpPr>
          <p:cNvPr id="439" name="Google Shape;439;p18">
            <a:extLst xmlns:a="http://schemas.openxmlformats.org/drawingml/2006/main">
              <a:ext uri="{FF2B5EF4-FFF2-40B4-BE49-F238E27FC236}">
                <a16:creationId xmlns:a16="http://schemas.microsoft.com/office/drawing/2014/main" id="{BD84D243-0706-4ECB-8BDE-CCD0CFF66D99}"/>
              </a:ext>
            </a:extLst>
          </p:cNvPr>
          <p:cNvSpPr>
            <a:spLocks xmlns:a="http://schemas.openxmlformats.org/drawingml/2006/main" noGrp="1"/>
          </p:cNvSpPr>
          <p:nvPr/>
        </p:nvSpPr>
        <p:spPr>
          <a:xfrm xmlns:a="http://schemas.openxmlformats.org/drawingml/2006/main">
            <a:off x="4892040" y="2779776"/>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0" name="Google Shape;440;p18">
            <a:extLst xmlns:a="http://schemas.openxmlformats.org/drawingml/2006/main">
              <a:ext uri="{FF2B5EF4-FFF2-40B4-BE49-F238E27FC236}">
                <a16:creationId xmlns:a16="http://schemas.microsoft.com/office/drawing/2014/main" id="{9C5519FC-525B-4B0C-8160-C849C521ABB4}"/>
              </a:ext>
            </a:extLst>
          </p:cNvPr>
          <p:cNvSpPr>
            <a:spLocks xmlns:a="http://schemas.openxmlformats.org/drawingml/2006/main" noGrp="1"/>
          </p:cNvSpPr>
          <p:nvPr/>
        </p:nvSpPr>
        <p:spPr>
          <a:xfrm xmlns:a="http://schemas.openxmlformats.org/drawingml/2006/main">
            <a:off x="5029200" y="2779776"/>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Chitta</a:t>
            </a:r>
            <a:r>
              <a:rPr sz="1150" b="1" i="0" u="none" cap="none">
                <a:solidFill>
                  <a:srgbClr val="1E2447"/>
                </a:solidFill>
                <a:latin typeface="Calibri"/>
                <a:ea typeface="Calibri"/>
                <a:cs typeface="Calibri"/>
              </a:rPr>
              <a:t>   </a:t>
            </a:r>
            <a:r>
              <a:rPr sz="900" b="0" i="0" u="none" cap="none">
                <a:solidFill>
                  <a:srgbClr val="5A6377"/>
                </a:solidFill>
                <a:latin typeface="Calibri"/>
                <a:ea typeface="Calibri"/>
                <a:cs typeface="Calibri"/>
              </a:rPr>
              <a:t>contemplation &amp; visualisation · direct apprehension</a:t>
            </a:r>
          </a:p>
        </p:txBody>
      </p:sp>
      <p:sp>
        <p:nvSpPr>
          <p:cNvPr id="441" name="Google Shape;441;p18">
            <a:extLst xmlns:a="http://schemas.openxmlformats.org/drawingml/2006/main">
              <a:ext uri="{FF2B5EF4-FFF2-40B4-BE49-F238E27FC236}">
                <a16:creationId xmlns:a16="http://schemas.microsoft.com/office/drawing/2014/main" id="{617665E1-C932-4F56-9689-726D460A92A2}"/>
              </a:ext>
            </a:extLst>
          </p:cNvPr>
          <p:cNvSpPr>
            <a:spLocks xmlns:a="http://schemas.openxmlformats.org/drawingml/2006/main" noGrp="1"/>
          </p:cNvSpPr>
          <p:nvPr/>
        </p:nvSpPr>
        <p:spPr>
          <a:xfrm xmlns:a="http://schemas.openxmlformats.org/drawingml/2006/main">
            <a:off x="4892040" y="3346704"/>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2" name="Google Shape;442;p18">
            <a:extLst xmlns:a="http://schemas.openxmlformats.org/drawingml/2006/main">
              <a:ext uri="{FF2B5EF4-FFF2-40B4-BE49-F238E27FC236}">
                <a16:creationId xmlns:a16="http://schemas.microsoft.com/office/drawing/2014/main" id="{88CA3D4A-3ADF-41F4-86A7-A2DEB5EC083C}"/>
              </a:ext>
            </a:extLst>
          </p:cNvPr>
          <p:cNvSpPr>
            <a:spLocks xmlns:a="http://schemas.openxmlformats.org/drawingml/2006/main" noGrp="1"/>
          </p:cNvSpPr>
          <p:nvPr/>
        </p:nvSpPr>
        <p:spPr>
          <a:xfrm xmlns:a="http://schemas.openxmlformats.org/drawingml/2006/main">
            <a:off x="5029200" y="3346704"/>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Vritti</a:t>
            </a:r>
            <a:r>
              <a:rPr sz="1150" b="1" i="0" u="none" cap="none">
                <a:solidFill>
                  <a:srgbClr val="1E2447"/>
                </a:solidFill>
                <a:latin typeface="Calibri"/>
                <a:ea typeface="Calibri"/>
                <a:cs typeface="Calibri"/>
              </a:rPr>
              <a:t>   </a:t>
            </a:r>
            <a:r>
              <a:rPr sz="900" b="0" i="0" u="none" cap="none">
                <a:solidFill>
                  <a:srgbClr val="5A6377"/>
                </a:solidFill>
                <a:latin typeface="Calibri"/>
                <a:ea typeface="Calibri"/>
                <a:cs typeface="Calibri"/>
              </a:rPr>
              <a:t>deliberation in refuge of justice–dharma–truth · analysis</a:t>
            </a:r>
          </a:p>
        </p:txBody>
      </p:sp>
      <p:sp>
        <p:nvSpPr>
          <p:cNvPr id="443" name="Google Shape;443;p18">
            <a:extLst xmlns:a="http://schemas.openxmlformats.org/drawingml/2006/main">
              <a:ext uri="{FF2B5EF4-FFF2-40B4-BE49-F238E27FC236}">
                <a16:creationId xmlns:a16="http://schemas.microsoft.com/office/drawing/2014/main" id="{0F893CF6-212B-42B7-A187-A405DECB25AC}"/>
              </a:ext>
            </a:extLst>
          </p:cNvPr>
          <p:cNvSpPr>
            <a:spLocks xmlns:a="http://schemas.openxmlformats.org/drawingml/2006/main" noGrp="1"/>
          </p:cNvSpPr>
          <p:nvPr/>
        </p:nvSpPr>
        <p:spPr>
          <a:xfrm xmlns:a="http://schemas.openxmlformats.org/drawingml/2006/main">
            <a:off x="4892040" y="3913632"/>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4" name="Google Shape;444;p18">
            <a:extLst xmlns:a="http://schemas.openxmlformats.org/drawingml/2006/main">
              <a:ext uri="{FF2B5EF4-FFF2-40B4-BE49-F238E27FC236}">
                <a16:creationId xmlns:a16="http://schemas.microsoft.com/office/drawing/2014/main" id="{AB0D39D1-8330-498C-B3C9-712CB43BCA59}"/>
              </a:ext>
            </a:extLst>
          </p:cNvPr>
          <p:cNvSpPr>
            <a:spLocks xmlns:a="http://schemas.openxmlformats.org/drawingml/2006/main" noGrp="1"/>
          </p:cNvSpPr>
          <p:nvPr/>
        </p:nvSpPr>
        <p:spPr>
          <a:xfrm xmlns:a="http://schemas.openxmlformats.org/drawingml/2006/main">
            <a:off x="5029200" y="3913632"/>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Mun</a:t>
            </a:r>
            <a:r>
              <a:rPr sz="1150" b="1" i="0" u="none" cap="none">
                <a:solidFill>
                  <a:srgbClr val="1E2447"/>
                </a:solidFill>
                <a:latin typeface="Calibri"/>
                <a:ea typeface="Calibri"/>
                <a:cs typeface="Calibri"/>
              </a:rPr>
              <a:t>   </a:t>
            </a:r>
            <a:r>
              <a:rPr sz="900" b="0" i="0" u="none" cap="none">
                <a:solidFill>
                  <a:srgbClr val="5A6377"/>
                </a:solidFill>
                <a:latin typeface="Calibri"/>
                <a:ea typeface="Calibri"/>
                <a:cs typeface="Calibri"/>
              </a:rPr>
              <a:t>taste &amp; selection — first acceptance of the proposal</a:t>
            </a:r>
          </a:p>
        </p:txBody>
      </p:sp>
      <p:sp>
        <p:nvSpPr>
          <p:cNvPr id="454" name="Google Shape;454;p18">
            <a:extLst xmlns:a="http://schemas.openxmlformats.org/drawingml/2006/main">
              <a:ext uri="{FF2B5EF4-FFF2-40B4-BE49-F238E27FC236}">
                <a16:creationId xmlns:a16="http://schemas.microsoft.com/office/drawing/2014/main" id="{42229DEC-31D7-46FC-920E-80EFFB0F4C62}"/>
              </a:ext>
            </a:extLst>
          </p:cNvPr>
          <p:cNvSpPr>
            <a:spLocks xmlns:a="http://schemas.openxmlformats.org/drawingml/2006/main" noGrp="1"/>
          </p:cNvSpPr>
          <p:nvPr/>
        </p:nvSpPr>
        <p:spPr>
          <a:xfrm xmlns:a="http://schemas.openxmlformats.org/drawingml/2006/main">
            <a:off x="5029200" y="2092984"/>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bliss</a:t>
            </a:r>
          </a:p>
        </p:txBody>
      </p:sp>
      <p:sp>
        <p:nvSpPr>
          <p:cNvPr id="455" name="Google Shape;455;p18">
            <a:extLst xmlns:a="http://schemas.openxmlformats.org/drawingml/2006/main">
              <a:ext uri="{FF2B5EF4-FFF2-40B4-BE49-F238E27FC236}">
                <a16:creationId xmlns:a16="http://schemas.microsoft.com/office/drawing/2014/main" id="{50497EFB-3B56-4C56-B17F-B5D6FF917133}"/>
              </a:ext>
            </a:extLst>
          </p:cNvPr>
          <p:cNvSpPr>
            <a:spLocks xmlns:a="http://schemas.openxmlformats.org/drawingml/2006/main" noGrp="1"/>
          </p:cNvSpPr>
          <p:nvPr/>
        </p:nvSpPr>
        <p:spPr>
          <a:xfrm xmlns:a="http://schemas.openxmlformats.org/drawingml/2006/main">
            <a:off x="5029200" y="2659912"/>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contentment</a:t>
            </a:r>
          </a:p>
        </p:txBody>
      </p:sp>
      <p:sp>
        <p:nvSpPr>
          <p:cNvPr id="456" name="Google Shape;456;p18">
            <a:extLst xmlns:a="http://schemas.openxmlformats.org/drawingml/2006/main">
              <a:ext uri="{FF2B5EF4-FFF2-40B4-BE49-F238E27FC236}">
                <a16:creationId xmlns:a16="http://schemas.microsoft.com/office/drawing/2014/main" id="{423B0847-A9B7-4FA3-A1EE-1496BB4189F6}"/>
              </a:ext>
            </a:extLst>
          </p:cNvPr>
          <p:cNvSpPr>
            <a:spLocks xmlns:a="http://schemas.openxmlformats.org/drawingml/2006/main" noGrp="1"/>
          </p:cNvSpPr>
          <p:nvPr/>
        </p:nvSpPr>
        <p:spPr>
          <a:xfrm xmlns:a="http://schemas.openxmlformats.org/drawingml/2006/main">
            <a:off x="5029200" y="3226840"/>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peace</a:t>
            </a:r>
          </a:p>
        </p:txBody>
      </p:sp>
      <p:sp>
        <p:nvSpPr>
          <p:cNvPr id="457" name="Google Shape;457;p18">
            <a:extLst xmlns:a="http://schemas.openxmlformats.org/drawingml/2006/main">
              <a:ext uri="{FF2B5EF4-FFF2-40B4-BE49-F238E27FC236}">
                <a16:creationId xmlns:a16="http://schemas.microsoft.com/office/drawing/2014/main" id="{C5C7BD53-143E-4687-91C3-C9872691A7D9}"/>
              </a:ext>
            </a:extLst>
          </p:cNvPr>
          <p:cNvSpPr>
            <a:spLocks xmlns:a="http://schemas.openxmlformats.org/drawingml/2006/main" noGrp="1"/>
          </p:cNvSpPr>
          <p:nvPr/>
        </p:nvSpPr>
        <p:spPr>
          <a:xfrm xmlns:a="http://schemas.openxmlformats.org/drawingml/2006/main">
            <a:off x="5029200" y="3793768"/>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happiness</a:t>
            </a:r>
          </a:p>
        </p:txBody>
      </p:sp>
      <p:cxnSp>
        <p:nvCxnSpPr>
          <p:cNvPr id="1380" name="Google Shape;445;p18"/>
          <p:cNvCxnSpPr/>
          <p:nvPr/>
        </p:nvCxnSpPr>
        <p:spPr>
          <a:xfrm xmlns:a="http://schemas.openxmlformats.org/drawingml/2006/main">
            <a:off x="4718304" y="1737360"/>
            <a:ext cx="0" cy="2514600"/>
          </a:xfrm>
          <a:prstGeom xmlns:a="http://schemas.openxmlformats.org/drawingml/2006/main" prst="straightConnector1">
            <a:avLst/>
          </a:prstGeom>
          <a:ln xmlns:a="http://schemas.openxmlformats.org/drawingml/2006/main" w="22225" cap="flat">
            <a:solidFill>
              <a:srgbClr val="3B4A7A"/>
            </a:solidFill>
            <a:prstDash val="solid"/>
            <a:round/>
            <a:headEnd type="triangle" w="med" len="med"/>
            <a:tailEnd type="none" w="sm" len="sm"/>
          </a:ln>
        </p:spPr>
      </p:cxnSp>
      <p:sp>
        <p:nvSpPr>
          <p:cNvPr id="446" name="Google Shape;446;p18">
            <a:extLst xmlns:a="http://schemas.openxmlformats.org/drawingml/2006/main">
              <a:ext uri="{FF2B5EF4-FFF2-40B4-BE49-F238E27FC236}">
                <a16:creationId xmlns:a16="http://schemas.microsoft.com/office/drawing/2014/main" id="{6B44C758-EC70-4A2A-97D3-7B86D0A2FA77}"/>
              </a:ext>
            </a:extLst>
          </p:cNvPr>
          <p:cNvSpPr>
            <a:spLocks xmlns:a="http://schemas.openxmlformats.org/drawingml/2006/main" noGrp="1"/>
          </p:cNvSpPr>
          <p:nvPr/>
        </p:nvSpPr>
        <p:spPr>
          <a:xfrm xmlns:a="http://schemas.openxmlformats.org/drawingml/2006/main" rot="-5400000">
            <a:off x="3218688"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3B4A7A"/>
                </a:solidFill>
                <a:latin typeface="Calibri"/>
                <a:ea typeface="Calibri"/>
                <a:cs typeface="Calibri"/>
              </a:rPr>
              <a:t>reflection (inward) · knowing deepens</a:t>
            </a:r>
          </a:p>
        </p:txBody>
      </p:sp>
      <p:cxnSp>
        <p:nvCxnSpPr>
          <p:cNvPr id="1382" name="Google Shape;447;p18"/>
          <p:cNvCxnSpPr/>
          <p:nvPr/>
        </p:nvCxnSpPr>
        <p:spPr>
          <a:xfrm xmlns:a="http://schemas.openxmlformats.org/drawingml/2006/main">
            <a:off x="8503920" y="1737360"/>
            <a:ext cx="0" cy="2514600"/>
          </a:xfrm>
          <a:prstGeom xmlns:a="http://schemas.openxmlformats.org/drawingml/2006/main" prst="straightConnector1">
            <a:avLst/>
          </a:prstGeom>
          <a:ln xmlns:a="http://schemas.openxmlformats.org/drawingml/2006/main" w="22225" cap="flat">
            <a:solidFill>
              <a:srgbClr val="9A6414"/>
            </a:solidFill>
            <a:prstDash val="solid"/>
            <a:round/>
            <a:headEnd type="none" w="sm" len="sm"/>
            <a:tailEnd type="triangle" w="med" len="med"/>
          </a:ln>
        </p:spPr>
      </p:cxnSp>
      <p:sp>
        <p:nvSpPr>
          <p:cNvPr id="448" name="Google Shape;448;p18">
            <a:extLst xmlns:a="http://schemas.openxmlformats.org/drawingml/2006/main">
              <a:ext uri="{FF2B5EF4-FFF2-40B4-BE49-F238E27FC236}">
                <a16:creationId xmlns:a16="http://schemas.microsoft.com/office/drawing/2014/main" id="{B58B41CB-21B3-4AF5-80AB-46A0B06BD451}"/>
              </a:ext>
            </a:extLst>
          </p:cNvPr>
          <p:cNvSpPr>
            <a:spLocks xmlns:a="http://schemas.openxmlformats.org/drawingml/2006/main" noGrp="1"/>
          </p:cNvSpPr>
          <p:nvPr/>
        </p:nvSpPr>
        <p:spPr>
          <a:xfrm xmlns:a="http://schemas.openxmlformats.org/drawingml/2006/main" rot="5400000">
            <a:off x="7315200"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9A6414"/>
                </a:solidFill>
                <a:latin typeface="Calibri"/>
                <a:ea typeface="Calibri"/>
                <a:cs typeface="Calibri"/>
              </a:rPr>
              <a:t>projection (outward) · evidenced in conduct</a:t>
            </a:r>
          </a:p>
        </p:txBody>
      </p:sp>
      <p:sp>
        <p:nvSpPr>
          <p:cNvPr id="449" name="Google Shape;449;p18">
            <a:extLst xmlns:a="http://schemas.openxmlformats.org/drawingml/2006/main">
              <a:ext uri="{FF2B5EF4-FFF2-40B4-BE49-F238E27FC236}">
                <a16:creationId xmlns:a16="http://schemas.microsoft.com/office/drawing/2014/main" id="{DD863381-420E-49B6-B4C5-0F4491A4B9C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Ultimate bliss: realisation at atma. Bliss: buddhi–atma harmony.  ·  PS pp. 119, 121  ·  MVD pp. 100–101  ·  JV pp. 61, 138</a:t>
            </a:r>
          </a:p>
        </p:txBody>
      </p:sp>
    </p:spTree>
    <p:extLst>
      <p:ext uri="{BB962C8B-B14F-4D97-AF65-F5344CB8AC3E}">
        <p14:creationId xmlns:p14="http://schemas.microsoft.com/office/powerpoint/2010/main" val="89581291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3E44556F-FFAA-4364-9956-D48D6721E20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E0CBC35E-C5A5-4B16-B492-57D972C51BD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AF54C0B0-85E4-49E9-83A7-62795312136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813CFFAE-CAA3-4077-9EC7-EA57CEAA6AA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§1.14 ·</a:t>
            </a:r>
            <a:r>
              <a:rPr sz="1050" b="1" i="0" u="none" cap="none">
                <a:solidFill>
                  <a:srgbClr val="9A6414"/>
                </a:solidFill>
                <a:latin typeface="Calibri"/>
                <a:ea typeface="Calibri"/>
                <a:cs typeface="Calibri"/>
              </a:rPr>
              <a:t> WHERE THE DRIVE TERMINATES</a:t>
            </a:r>
          </a:p>
        </p:txBody>
      </p:sp>
      <p:sp>
        <p:nvSpPr>
          <p:cNvPr id="459" name="Google Shape;459;p19">
            <a:extLst xmlns:a="http://schemas.openxmlformats.org/drawingml/2006/main">
              <a:ext uri="{FF2B5EF4-FFF2-40B4-BE49-F238E27FC236}">
                <a16:creationId xmlns:a16="http://schemas.microsoft.com/office/drawing/2014/main" id="{2FB1F990-D58B-46C0-8D32-E6CFC49EA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Realisation in Coexistence</a:t>
            </a:r>
          </a:p>
        </p:txBody>
      </p:sp>
      <p:sp>
        <p:nvSpPr>
          <p:cNvPr id="460" name="Google Shape;460;p19">
            <a:extLst xmlns:a="http://schemas.openxmlformats.org/drawingml/2006/main">
              <a:ext uri="{FF2B5EF4-FFF2-40B4-BE49-F238E27FC236}">
                <a16:creationId xmlns:a16="http://schemas.microsoft.com/office/drawing/2014/main" id="{6EE567CB-C287-48F8-9DDE-9E207640CCD8}"/>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coordinates three distinct roles: jeevan remains the knower, existence as coexistence remains the known, and threefold knowledge becomes evident through humane conduct.</a:t>
            </a:r>
          </a:p>
        </p:txBody>
      </p:sp>
      <p:sp>
        <p:nvSpPr>
          <p:cNvPr id="461" name="Google Shape;461;p19">
            <a:extLst xmlns:a="http://schemas.openxmlformats.org/drawingml/2006/main">
              <a:ext uri="{FF2B5EF4-FFF2-40B4-BE49-F238E27FC236}">
                <a16:creationId xmlns:a16="http://schemas.microsoft.com/office/drawing/2014/main" id="{F107F107-EDBD-4B52-A84D-04C7F5B570EF}"/>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6AA0518B-C5E5-42E8-BE2D-A29138460050}"/>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and ultimate bliss</a:t>
            </a:r>
          </a:p>
        </p:txBody>
      </p:sp>
      <p:sp>
        <p:nvSpPr>
          <p:cNvPr id="463" name="Google Shape;463;p19">
            <a:extLst xmlns:a="http://schemas.openxmlformats.org/drawingml/2006/main">
              <a:ext uri="{FF2B5EF4-FFF2-40B4-BE49-F238E27FC236}">
                <a16:creationId xmlns:a16="http://schemas.microsoft.com/office/drawing/2014/main" id="{63E107EF-D15F-4C4D-962F-F24AE958FBA5}"/>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Realisation at atma is named ultimate bliss. Bliss names the harmony of buddhi and atma. Understanding becomes evident through authentic work, behaviour and participation.</a:t>
            </a:r>
          </a:p>
        </p:txBody>
      </p:sp>
      <p:sp>
        <p:nvSpPr>
          <p:cNvPr id="464" name="Google Shape;464;p19">
            <a:extLst xmlns:a="http://schemas.openxmlformats.org/drawingml/2006/main">
              <a:ext uri="{FF2B5EF4-FFF2-40B4-BE49-F238E27FC236}">
                <a16:creationId xmlns:a16="http://schemas.microsoft.com/office/drawing/2014/main" id="{9B7DE713-59AA-4F77-BCF0-01F9F20D9DC6}"/>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6669B3E0-2682-41FD-8EA3-7BED5ABE11C6}"/>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Threefold knowledge</a:t>
            </a:r>
          </a:p>
        </p:txBody>
      </p:sp>
      <p:sp>
        <p:nvSpPr>
          <p:cNvPr id="466" name="Google Shape;466;p19">
            <a:extLst xmlns:a="http://schemas.openxmlformats.org/drawingml/2006/main">
              <a:ext uri="{FF2B5EF4-FFF2-40B4-BE49-F238E27FC236}">
                <a16:creationId xmlns:a16="http://schemas.microsoft.com/office/drawing/2014/main" id="{DD9A6462-D829-4777-9251-89B10AB3062A}"/>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Knowledge comprises the holistic view of coexistence, knowledge of jeevan, and knowledge of humane conduct. Projection makes that understanding evident.</a:t>
            </a:r>
          </a:p>
        </p:txBody>
      </p:sp>
      <p:sp>
        <p:nvSpPr>
          <p:cNvPr id="467" name="Google Shape;467;p19">
            <a:extLst xmlns:a="http://schemas.openxmlformats.org/drawingml/2006/main">
              <a:ext uri="{FF2B5EF4-FFF2-40B4-BE49-F238E27FC236}">
                <a16:creationId xmlns:a16="http://schemas.microsoft.com/office/drawing/2014/main" id="{E49F4ECE-1C51-4ABF-94A7-4BCBD16AD234}"/>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AAA692A1-C1A4-4E3B-AC2E-F7715A43D49A}"/>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jeevan remains distinct</a:t>
            </a:r>
          </a:p>
        </p:txBody>
      </p:sp>
      <p:sp>
        <p:nvSpPr>
          <p:cNvPr id="469" name="Google Shape;469;p19">
            <a:extLst xmlns:a="http://schemas.openxmlformats.org/drawingml/2006/main">
              <a:ext uri="{FF2B5EF4-FFF2-40B4-BE49-F238E27FC236}">
                <a16:creationId xmlns:a16="http://schemas.microsoft.com/office/drawing/2014/main" id="{2AA0D1F9-639E-41C6-8731-561245861D25}"/>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remains the knower and seer. Realisation clarifies its own nature and the coexistence in which it participates; it does not dissolve the individual unit.</a:t>
            </a:r>
          </a:p>
        </p:txBody>
      </p:sp>
      <p:sp>
        <p:nvSpPr>
          <p:cNvPr id="470" name="Google Shape;470;p19">
            <a:extLst xmlns:a="http://schemas.openxmlformats.org/drawingml/2006/main">
              <a:ext uri="{FF2B5EF4-FFF2-40B4-BE49-F238E27FC236}">
                <a16:creationId xmlns:a16="http://schemas.microsoft.com/office/drawing/2014/main" id="{140FBD89-3074-4D13-ACCF-7077ED924DA2}"/>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5203715C-DC2E-49AC-BCE7-981AADCEE35F}"/>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Known — coexistence</a:t>
            </a:r>
          </a:p>
        </p:txBody>
      </p:sp>
      <p:sp>
        <p:nvSpPr>
          <p:cNvPr id="472" name="Google Shape;472;p19">
            <a:extLst xmlns:a="http://schemas.openxmlformats.org/drawingml/2006/main">
              <a:ext uri="{FF2B5EF4-FFF2-40B4-BE49-F238E27FC236}">
                <a16:creationId xmlns:a16="http://schemas.microsoft.com/office/drawing/2014/main" id="{F20FBC56-FA15-4946-8DF4-32B35010C829}"/>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is existence as coexistence: Omnipresence and real units in mutuality. Knowledge, knower, and known become coherent without becoming identical.</a:t>
            </a:r>
          </a:p>
        </p:txBody>
      </p:sp>
      <p:sp>
        <p:nvSpPr>
          <p:cNvPr id="473" name="Google Shape;473;p19">
            <a:extLst xmlns:a="http://schemas.openxmlformats.org/drawingml/2006/main">
              <a:ext uri="{FF2B5EF4-FFF2-40B4-BE49-F238E27FC236}">
                <a16:creationId xmlns:a16="http://schemas.microsoft.com/office/drawing/2014/main" id="{0FDD0BB2-3B78-4E4C-9098-645E557571F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81, 116  ·  MVD pp. 100–101, 126, 328  ·  KD §§3.17–3.18  ·  Study </a:t>
            </a:r>
            <a:r>
              <a:rPr sz="950" b="0" i="1" u="none" cap="none">
                <a:solidFill>
                  <a:srgbClr val="5A6377"/>
                </a:solidFill>
                <a:latin typeface="Calibri"/>
                <a:ea typeface="Calibri"/>
                <a:cs typeface="Calibri"/>
              </a:rPr>
              <a:t>§§1.9, 1.14</a:t>
            </a:r>
          </a:p>
        </p:txBody>
      </p:sp>
    </p:spTree>
    <p:extLst>
      <p:ext uri="{BB962C8B-B14F-4D97-AF65-F5344CB8AC3E}">
        <p14:creationId xmlns:p14="http://schemas.microsoft.com/office/powerpoint/2010/main" val="42603607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§1.14</a:t>
            </a:r>
            <a:r>
              <a:rPr sz="1050" b="1" i="0" u="none" cap="none">
                <a:solidFill>
                  <a:srgbClr val="9A6414"/>
                </a:solidFill>
                <a:latin typeface="Calibri"/>
                <a:ea typeface="Calibri"/>
                <a:cs typeface="Calibri"/>
              </a:rPr>
              <a:t> · PRESENTATION, COMMUNICATION, EXPRESSION AND ART</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Understanding in Expression</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Jeevan’s sentient capacities become manifest through the body. Humans express and communicate them during awakening progression; in full awakening, these activities carry realised understanding into conduct.</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9455c43259144718">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Presentation</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Prakashan makes actuality evident through an accomplished and meaningful form. What is understood becomes available for another to attend to.</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3e519ae0af664ceb">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Communication</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Sampreshana indicates completeness: constitutional, activity and conduct completeness. Communication serves understanding and enabling another to understand.</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41428cec87e04a2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Expression</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Abhivyakti is mental, verbal and bodily activity for all-round resolution (abhyudaya). Understanding is evidenced in speech, work and humane behaviour.</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Kala: skilful expression. Kala-mulya: beauty and convenience supporting an object’s usefulness.
PS pp. 22, 56, 119, 206  ·  </a:t>
            </a:r>
            <a:r>
              <a:rPr sz="950" b="0" i="1" u="none" cap="none">
                <a:solidFill>
                  <a:srgbClr val="5A6377"/>
                </a:solidFill>
                <a:latin typeface="Calibri"/>
                <a:ea typeface="Calibri"/>
                <a:cs typeface="Calibri"/>
              </a:rPr>
              <a:t>SB pp. 52, 63, 66, 179  ·  MVD pp. 109–110, 328</a:t>
            </a:r>
          </a:p>
        </p:txBody>
      </p:sp>
    </p:spTree>
    <p:extLst>
      <p:ext uri="{BB962C8B-B14F-4D97-AF65-F5344CB8AC3E}">
        <p14:creationId xmlns:p14="http://schemas.microsoft.com/office/powerpoint/2010/main" val="1131588340"/>
      </p:ext>
    </p:extLst>
  </p:cSld>
</p:sld>
</file>

<file path=ppt/slides/slide27.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EF575E94-D49B-4B8D-8EE0-5306E7205D35}"/>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5B88FBC8-D433-4F9A-8C53-B0C14519A897}"/>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1575D4BC-1336-4A37-AF26-1F5F33D09DE0}"/>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F6651BC1-ADBC-471F-9055-FAC10F3F287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C059B4F9-7CFE-41C1-BAB7-147B1E13BBBA}"/>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F3360809-D0D7-419D-B3B9-8923367EBD77}"/>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D3AC2483-1899-40DF-A84D-0DE15B3AEFB2}"/>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ABF710EB-4EF3-42A6-B560-F90A523A0850}"/>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0C86002D-62CB-4B43-92C3-F2261FFFB582}"/>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796E9457-5CA1-420F-9E22-C4C9CF41A3A7}"/>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CONTINUITY THROUGH HUMANE PARTICIPATION</a:t>
            </a:r>
          </a:p>
        </p:txBody>
      </p:sp>
      <p:sp>
        <p:nvSpPr>
          <p:cNvPr id="519" name="Google Shape;519;p21">
            <a:extLst xmlns:a="http://schemas.openxmlformats.org/drawingml/2006/main">
              <a:ext uri="{FF2B5EF4-FFF2-40B4-BE49-F238E27FC236}">
                <a16:creationId xmlns:a16="http://schemas.microsoft.com/office/drawing/2014/main" id="{752F13C5-E89B-45E4-A048-FAF000A1F693}"/>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DB2CDE66-AE92-4A63-A7C0-7FB35517F5EC}"/>
              </a:ext>
            </a:extLst>
          </p:cNvPr>
          <p:cNvSpPr>
            <a:spLocks xmlns:a="http://schemas.openxmlformats.org/drawingml/2006/main" noGrp="1"/>
          </p:cNvSpPr>
          <p:nvPr/>
        </p:nvSpPr>
        <p:spPr>
          <a:xfrm xmlns:a="http://schemas.openxmlformats.org/drawingml/2006/main">
            <a:off x="640080" y="3050000"/>
            <a:ext cx="512064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Conduct completeness is realised understanding expressed continuously by the individual. Humane participation and education transmit it through an awakened tradition.</a:t>
            </a:r>
          </a:p>
        </p:txBody>
      </p:sp>
      <p:sp>
        <p:nvSpPr>
          <p:cNvPr id="600" name="Google Shape;600;p21">
            <a:extLst xmlns:a="http://schemas.openxmlformats.org/drawingml/2006/main">
              <a:ext uri="{FF2B5EF4-FFF2-40B4-BE49-F238E27FC236}">
                <a16:creationId xmlns:a16="http://schemas.microsoft.com/office/drawing/2014/main" id="{DD3901F6-8036-43ED-803F-43248530CCD2}"/>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7F1489A9-BB77-4837-93F1-47E7AC9BE4D2}"/>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DE4B8FF9-4927-4F34-9EB8-854606C66C6A}"/>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person</a:t>
            </a:r>
          </a:p>
        </p:txBody>
      </p:sp>
      <p:sp>
        <p:nvSpPr>
          <p:cNvPr id="603" name="Google Shape;603;p21">
            <a:extLst xmlns:a="http://schemas.openxmlformats.org/drawingml/2006/main">
              <a:ext uri="{FF2B5EF4-FFF2-40B4-BE49-F238E27FC236}">
                <a16:creationId xmlns:a16="http://schemas.microsoft.com/office/drawing/2014/main" id="{BE616FF1-9158-489A-8FCF-45CB660339C5}"/>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CD8A7FC8-77CA-4182-A2CB-C0DEE667FC5C}"/>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973106BD-4925-429D-9B6B-2AD26325A283}"/>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family</a:t>
            </a:r>
          </a:p>
        </p:txBody>
      </p:sp>
      <p:sp>
        <p:nvSpPr>
          <p:cNvPr id="606" name="Google Shape;606;p21">
            <a:extLst xmlns:a="http://schemas.openxmlformats.org/drawingml/2006/main">
              <a:ext uri="{FF2B5EF4-FFF2-40B4-BE49-F238E27FC236}">
                <a16:creationId xmlns:a16="http://schemas.microsoft.com/office/drawing/2014/main" id="{A5599050-D210-47C8-B146-6B5A24A94729}"/>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46D221E2-C857-412B-B8CB-226B70E4606D}"/>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B4C3ADBE-52C4-434E-BF82-608CEA945F02}"/>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trust in society</a:t>
            </a:r>
          </a:p>
        </p:txBody>
      </p:sp>
      <p:sp>
        <p:nvSpPr>
          <p:cNvPr id="609" name="Google Shape;609;p21">
            <a:extLst xmlns:a="http://schemas.openxmlformats.org/drawingml/2006/main">
              <a:ext uri="{FF2B5EF4-FFF2-40B4-BE49-F238E27FC236}">
                <a16:creationId xmlns:a16="http://schemas.microsoft.com/office/drawing/2014/main" id="{058120C0-5891-4799-A00C-98C62F5482A3}"/>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A9DD251C-A703-4D42-8F17-67F6E19B7FA0}"/>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AD69A8F9-077C-48D3-AA57-9B1F73B65A59}"/>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with all of nature</a:t>
            </a:r>
          </a:p>
        </p:txBody>
      </p:sp>
      <p:sp>
        <p:nvSpPr>
          <p:cNvPr id="522" name="Google Shape;522;p21">
            <a:extLst xmlns:a="http://schemas.openxmlformats.org/drawingml/2006/main">
              <a:ext uri="{FF2B5EF4-FFF2-40B4-BE49-F238E27FC236}">
                <a16:creationId xmlns:a16="http://schemas.microsoft.com/office/drawing/2014/main" id="{C68915DF-AED4-4750-935D-0C5066DF5744}"/>
              </a:ext>
            </a:extLst>
          </p:cNvPr>
          <p:cNvSpPr>
            <a:spLocks xmlns:a="http://schemas.openxmlformats.org/drawingml/2006/main" noGrp="1"/>
          </p:cNvSpPr>
          <p:nvPr/>
        </p:nvSpPr>
        <p:spPr>
          <a:xfrm xmlns:a="http://schemas.openxmlformats.org/drawingml/2006/main">
            <a:off x="640080" y="4663440"/>
            <a:ext cx="8001000" cy="42062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Five social systems:</a:t>
            </a:r>
            <a:r>
              <a:rPr sz="1150" b="0" i="0" u="none" cap="none">
                <a:solidFill>
                  <a:srgbClr val="8E9BC4"/>
                </a:solidFill>
                <a:latin typeface="Calibri"/>
                <a:ea typeface="Calibri"/>
                <a:cs typeface="Calibri"/>
              </a:rPr>
              <a:t> education–sanskar · justice–preservation · health–restraint · production–work · exchange–storage.  ·  Families and societies are relational achievements, not a further compositional tier (</a:t>
            </a:r>
            <a:r>
              <a:rPr sz="1150" b="0" i="0" u="none" cap="none">
                <a:solidFill>
                  <a:srgbClr val="8E9BC4"/>
                </a:solidFill>
                <a:latin typeface="Calibri"/>
                <a:ea typeface="Calibri"/>
                <a:cs typeface="Calibri"/>
              </a:rPr>
              <a:t>§1.13.3</a:t>
            </a:r>
            <a:r>
              <a:rPr sz="1150" b="0" i="0" u="none" cap="none">
                <a:solidFill>
                  <a:srgbClr val="8E9BC4"/>
                </a:solidFill>
                <a:latin typeface="Calibri"/>
                <a:ea typeface="Calibri"/>
                <a:cs typeface="Calibri"/>
              </a:rPr>
              <a:t>).</a:t>
            </a:r>
          </a:p>
        </p:txBody>
      </p:sp>
    </p:spTree>
    <p:extLst>
      <p:ext uri="{BB962C8B-B14F-4D97-AF65-F5344CB8AC3E}">
        <p14:creationId xmlns:p14="http://schemas.microsoft.com/office/powerpoint/2010/main" val="22285468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§1.16 · METHOD AND EVIDENCE</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Methods Establish Different Things</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uses several modes of warrant. They can support one another, but they do not establish the same thing. Publicly measurable physical claims remain answerable to instrument-based scientific inquiry.</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 establish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Cannot establish alone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Logical exposition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internal coherence and entailment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empirical truth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Study &amp; self-examination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intelligibility and first-person recognition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physical identification of jeevan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Experiment, practice &amp; conduct-evidence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effects in work, behaviour, and mutual satisfaction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measurement of sentience or the jeevan–body interface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the darshan’s claimed completion of knowing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agreement from other methods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No accepted measurement currently identifies the sentience threshold, the jeevan–body interface, or post-body reassociation. These remain open to instrument-based scientific inquiry.</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§1.16 · Method and evidence</a:t>
            </a:r>
          </a:p>
        </p:txBody>
      </p:sp>
    </p:spTree>
    <p:extLst>
      <p:ext uri="{BB962C8B-B14F-4D97-AF65-F5344CB8AC3E}">
        <p14:creationId xmlns:p14="http://schemas.microsoft.com/office/powerpoint/2010/main" val="1942334141"/>
      </p:ext>
    </p:extLst>
  </p:cSld>
</p:sld>
</file>

<file path=ppt/slides/slide29.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28" name="Google Shape;528;p22">
            <a:extLst xmlns:a="http://schemas.openxmlformats.org/drawingml/2006/main">
              <a:ext uri="{FF2B5EF4-FFF2-40B4-BE49-F238E27FC236}">
                <a16:creationId xmlns:a16="http://schemas.microsoft.com/office/drawing/2014/main" id="{E1C0CC4E-ACB6-4358-A791-7E698544184D}"/>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29" name="Google Shape;529;p22">
            <a:extLst xmlns:a="http://schemas.openxmlformats.org/drawingml/2006/main">
              <a:ext uri="{FF2B5EF4-FFF2-40B4-BE49-F238E27FC236}">
                <a16:creationId xmlns:a16="http://schemas.microsoft.com/office/drawing/2014/main" id="{6832F4B8-5752-48AC-ADEE-A7E51AC045AD}"/>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0" name="Google Shape;530;p22">
            <a:extLst xmlns:a="http://schemas.openxmlformats.org/drawingml/2006/main">
              <a:ext uri="{FF2B5EF4-FFF2-40B4-BE49-F238E27FC236}">
                <a16:creationId xmlns:a16="http://schemas.microsoft.com/office/drawing/2014/main" id="{47CA7A4C-4E57-4A71-B114-1EC5461B0F2A}"/>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1" name="Google Shape;531;p22">
            <a:extLst xmlns:a="http://schemas.openxmlformats.org/drawingml/2006/main">
              <a:ext uri="{FF2B5EF4-FFF2-40B4-BE49-F238E27FC236}">
                <a16:creationId xmlns:a16="http://schemas.microsoft.com/office/drawing/2014/main" id="{DFF39978-43C7-4870-B974-350C3D4735CA}"/>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WHAT MADHYASTH DARSHAN ESTABLISHES</a:t>
            </a:r>
          </a:p>
        </p:txBody>
      </p:sp>
      <p:sp>
        <p:nvSpPr>
          <p:cNvPr id="532" name="Google Shape;532;p22">
            <a:extLst xmlns:a="http://schemas.openxmlformats.org/drawingml/2006/main">
              <a:ext uri="{FF2B5EF4-FFF2-40B4-BE49-F238E27FC236}">
                <a16:creationId xmlns:a16="http://schemas.microsoft.com/office/drawing/2014/main" id="{6CC10D41-50EA-44E8-9A36-16DFEE707FE8}"/>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200" b="1" i="0" u="none" cap="none">
                <a:solidFill>
                  <a:srgbClr val="FFFFFF"/>
                </a:solidFill>
                <a:latin typeface="Cambria"/>
                <a:ea typeface="Cambria"/>
                <a:cs typeface="Cambria"/>
              </a:rPr>
              <a:t>The Questions, Answered</a:t>
            </a:r>
          </a:p>
        </p:txBody>
      </p:sp>
      <p:graphicFrame>
        <p:nvGraphicFramePr>
          <p:cNvPr id="541" name="Google Shape;533;p22"/>
          <p:cNvGraphicFramePr/>
          <p:nvPr/>
        </p:nvGraphicFramePr>
        <p:xfrm>
          <a:off xmlns:a="http://schemas.openxmlformats.org/drawingml/2006/main" x="640080" y="1508760"/>
          <a:ext xmlns:a="http://schemas.openxmlformats.org/drawingml/2006/main" cx="7863850" cy="2688300"/>
        </p:xfrm>
        <a:graphic xmlns:a="http://schemas.openxmlformats.org/drawingml/2006/main">
          <a:graphicData uri="http://schemas.openxmlformats.org/drawingml/2006/table">
            <a:tbl>
              <a:tblPr>
                <a:tableStyleId>{6C92A692-798E-4634-90B1-36CD3966BFCB}</a:tableStyleId>
              </a:tblPr>
              <a:tblGrid>
                <a:gridCol w="2377450"/>
                <a:gridCol w="5486400"/>
              </a:tblGrid>
              <a:tr h="347475">
                <a:tc>
                  <a:txBody>
                    <a:bodyPr/>
                    <a:lstStyle/>
                    <a:p>
                      <a:pPr marL="0" indent="0" algn="l">
                        <a:buNone/>
                      </a:pPr>
                      <a:r>
                        <a:rPr sz="1200" b="1" u="none" cap="none">
                          <a:solidFill>
                            <a:srgbClr val="FFFFFF"/>
                          </a:solidFill>
                          <a:latin typeface="Calibri"/>
                          <a:ea typeface="Calibri"/>
                          <a:cs typeface="Calibri"/>
                        </a:rPr>
                        <a:t>Question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c>
                  <a:txBody>
                    <a:bodyPr/>
                    <a:lstStyle/>
                    <a:p>
                      <a:pPr marL="0" indent="0" algn="l">
                        <a:buNone/>
                      </a:pPr>
                      <a:r>
                        <a:rPr sz="1200" b="1" u="none" cap="none">
                          <a:solidFill>
                            <a:srgbClr val="FFFFFF"/>
                          </a:solidFill>
                          <a:latin typeface="Calibri"/>
                          <a:ea typeface="Calibri"/>
                          <a:cs typeface="Calibri"/>
                        </a:rPr>
                        <a:t>Madhyasth Darshan answer</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r>
              <a:tr h="365750">
                <a:tc>
                  <a:txBody>
                    <a:bodyPr/>
                    <a:lstStyle/>
                    <a:p>
                      <a:pPr marL="0" indent="0" algn="l">
                        <a:buNone/>
                      </a:pPr>
                      <a:r>
                        <a:rPr sz="1200" u="none" cap="none">
                          <a:solidFill>
                            <a:srgbClr val="C9D4EF"/>
                          </a:solidFill>
                          <a:latin typeface="Calibri"/>
                          <a:ea typeface="Calibri"/>
                          <a:cs typeface="Calibri"/>
                        </a:rPr>
                        <a:t>What is 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Eternal coexistence: countless units saturated in all-pervasive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exists?</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Root atomic units; composite units and bodies; body–jeevan joint forms; and relational human assemblies — all saturated in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Does existence begin or end?</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No. Existence is perpetual; configurations form, transform, and decompose.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is the self?</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Jeevan: a constitutionally complete sentient atom working through the body.</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Is the world real?</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Yes. Units, mutual relationships, and definite material fulfilment are real within perpetual coexistence.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512075">
                <a:tc>
                  <a:txBody>
                    <a:bodyPr/>
                    <a:lstStyle/>
                    <a:p>
                      <a:pPr marL="0" indent="0" algn="l">
                        <a:buNone/>
                      </a:pPr>
                      <a:r>
                        <a:rPr sz="1200" u="none" cap="none">
                          <a:solidFill>
                            <a:srgbClr val="C9D4EF"/>
                          </a:solidFill>
                          <a:latin typeface="Calibri"/>
                          <a:ea typeface="Calibri"/>
                          <a:cs typeface="Calibri"/>
                        </a:rPr>
                        <a:t>How is it known?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Through logical exposition, study and self-examination, practice, realisation, and conduct-evidence; measurable physical claims still require instrument-based testing.</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bl>
          </a:graphicData>
        </a:graphic>
      </p:graphicFrame>
      <p:sp>
        <p:nvSpPr>
          <p:cNvPr id="534" name="Google Shape;534;p22">
            <a:extLst xmlns:a="http://schemas.openxmlformats.org/drawingml/2006/main">
              <a:ext uri="{FF2B5EF4-FFF2-40B4-BE49-F238E27FC236}">
                <a16:creationId xmlns:a16="http://schemas.microsoft.com/office/drawing/2014/main" id="{01012620-D920-4BA5-BC9C-ECC75D3B5E5D}"/>
              </a:ext>
            </a:extLst>
          </p:cNvPr>
          <p:cNvSpPr>
            <a:spLocks xmlns:a="http://schemas.openxmlformats.org/drawingml/2006/main" noGrp="1"/>
          </p:cNvSpPr>
          <p:nvPr/>
        </p:nvSpPr>
        <p:spPr>
          <a:xfrm xmlns:a="http://schemas.openxmlformats.org/drawingml/2006/main">
            <a:off x="640080" y="4526280"/>
            <a:ext cx="7863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8E9BC4"/>
                </a:solidFill>
                <a:latin typeface="Calibri"/>
                <a:ea typeface="Calibri"/>
                <a:cs typeface="Calibri"/>
              </a:rPr>
              <a:t>Fulfilment: resolution and authenticity expressed as humane conduct and participation in orderliness — §1.16. Evidence modes should not be conflated.</a:t>
            </a:r>
          </a:p>
        </p:txBody>
      </p:sp>
    </p:spTree>
    <p:extLst>
      <p:ext uri="{BB962C8B-B14F-4D97-AF65-F5344CB8AC3E}">
        <p14:creationId xmlns:p14="http://schemas.microsoft.com/office/powerpoint/2010/main" val="207476451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2026-09-20T13:52:29.6500000Z</dcterms:created>
  <dcterms:modified xsi:type="dcterms:W3CDTF">2026-09-20T13:52:29.6500000Z</dcterms:modified>
</coreProperties>
</file>