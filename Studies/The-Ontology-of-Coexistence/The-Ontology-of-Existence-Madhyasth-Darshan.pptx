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9a226058a14f9b" Type="http://schemas.openxmlformats.org/package/2006/relationships/metadata/core-properties" Target="docProps/core.xml"/><Relationship Id="R631289ebb1a54972" Type="http://schemas.openxmlformats.org/officeDocument/2006/relationships/officeDocument" Target="ppt/presentation.xml"/><Relationship Id="R8e04a235cc59434a"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9bb0289ef914a7d"/>
  </p:sldMasterIdLst>
  <p:notesMasterIdLst>
    <p:notesMasterId xmlns:r="http://schemas.openxmlformats.org/officeDocument/2006/relationships" r:id="Re04d1a3300924db2"/>
  </p:notesMasterIdLst>
  <p:sldIdLst>
    <p:sldId xmlns:r="http://schemas.openxmlformats.org/officeDocument/2006/relationships" id="256" r:id="R9e6536eda00144e7"/>
    <p:sldId xmlns:r="http://schemas.openxmlformats.org/officeDocument/2006/relationships" id="257" r:id="Rf76ddbaa01074479"/>
    <p:sldId xmlns:r="http://schemas.openxmlformats.org/officeDocument/2006/relationships" id="258" r:id="R16f4554795ad49bf"/>
    <p:sldId xmlns:r="http://schemas.openxmlformats.org/officeDocument/2006/relationships" id="259" r:id="R08a83617ae454b53"/>
    <p:sldId xmlns:r="http://schemas.openxmlformats.org/officeDocument/2006/relationships" id="260" r:id="Rec544795b4fd44b9"/>
    <p:sldId xmlns:r="http://schemas.openxmlformats.org/officeDocument/2006/relationships" id="261" r:id="Rc5dba0086a6d4f0a"/>
    <p:sldId xmlns:r="http://schemas.openxmlformats.org/officeDocument/2006/relationships" id="282" r:id="rId1"/>
    <p:sldId xmlns:r="http://schemas.openxmlformats.org/officeDocument/2006/relationships" id="262" r:id="Rb3528f1c2b0542e7"/>
    <p:sldId xmlns:r="http://schemas.openxmlformats.org/officeDocument/2006/relationships" id="263" r:id="Rdf430edcdf8c4c7b"/>
    <p:sldId xmlns:r="http://schemas.openxmlformats.org/officeDocument/2006/relationships" id="264" r:id="R2bfd8ef300f84303"/>
    <p:sldId xmlns:r="http://schemas.openxmlformats.org/officeDocument/2006/relationships" id="265" r:id="R70b4d4f668624d32"/>
    <p:sldId xmlns:r="http://schemas.openxmlformats.org/officeDocument/2006/relationships" id="273" r:id="Raa9afacfa71843bb"/>
    <p:sldId xmlns:r="http://schemas.openxmlformats.org/officeDocument/2006/relationships" id="266" r:id="R15c4811db8db4af7"/>
    <p:sldId xmlns:r="http://schemas.openxmlformats.org/officeDocument/2006/relationships" id="267" r:id="R2303327d17b0474d"/>
    <p:sldId xmlns:r="http://schemas.openxmlformats.org/officeDocument/2006/relationships" id="268" r:id="R3ad503f37e33485e"/>
    <p:sldId xmlns:r="http://schemas.openxmlformats.org/officeDocument/2006/relationships" id="269" r:id="R804308cb906d4b3b"/>
    <p:sldId xmlns:r="http://schemas.openxmlformats.org/officeDocument/2006/relationships" id="270" r:id="Rb18964d791fc47a3"/>
    <p:sldId xmlns:r="http://schemas.openxmlformats.org/officeDocument/2006/relationships" id="272" r:id="R288570690c0c4146"/>
    <p:sldId xmlns:r="http://schemas.openxmlformats.org/officeDocument/2006/relationships" id="278" r:id="R663600f2715b424b"/>
    <p:sldId xmlns:r="http://schemas.openxmlformats.org/officeDocument/2006/relationships" id="271" r:id="Ra3cc3f6f28864d7d"/>
    <p:sldId xmlns:r="http://schemas.openxmlformats.org/officeDocument/2006/relationships" id="274" r:id="R7ffc4e4ccaff4191"/>
    <p:sldId xmlns:r="http://schemas.openxmlformats.org/officeDocument/2006/relationships" id="275" r:id="R57f6c0ae66c045cc"/>
    <p:sldId xmlns:r="http://schemas.openxmlformats.org/officeDocument/2006/relationships" id="276" r:id="R0a144d2a29204b72"/>
    <p:sldId xmlns:r="http://schemas.openxmlformats.org/officeDocument/2006/relationships" id="279" r:id="R96f897ace9bc4afb"/>
    <p:sldId xmlns:r="http://schemas.openxmlformats.org/officeDocument/2006/relationships" id="280" r:id="R1213c328788d4229"/>
    <p:sldId xmlns:r="http://schemas.openxmlformats.org/officeDocument/2006/relationships" id="277" r:id="Rabe98989449740d8"/>
    <p:sldId xmlns:r="http://schemas.openxmlformats.org/officeDocument/2006/relationships" id="281" r:id="Rf16a6e1aacd4450c"/>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8a83617ae454b53" Type="http://schemas.openxmlformats.org/officeDocument/2006/relationships/slide" Target="slides/slide4.xml"/><Relationship Id="R09f0650515b04502" Type="http://schemas.openxmlformats.org/officeDocument/2006/relationships/theme" Target="theme/theme1.xml"/><Relationship Id="R0a144d2a29204b72" Type="http://schemas.openxmlformats.org/officeDocument/2006/relationships/slide" Target="slides/slide23.xml"/><Relationship Id="R1213c328788d4229" Type="http://schemas.openxmlformats.org/officeDocument/2006/relationships/slide" Target="slides/slide25.xml"/><Relationship Id="R15c4811db8db4af7" Type="http://schemas.openxmlformats.org/officeDocument/2006/relationships/slide" Target="slides/slide13.xml"/><Relationship Id="R16f4554795ad49bf" Type="http://schemas.openxmlformats.org/officeDocument/2006/relationships/slide" Target="slides/slide3.xml"/><Relationship Id="R2303327d17b0474d" Type="http://schemas.openxmlformats.org/officeDocument/2006/relationships/slide" Target="slides/slide14.xml"/><Relationship Id="R288570690c0c4146" Type="http://schemas.openxmlformats.org/officeDocument/2006/relationships/slide" Target="slides/slide18.xml"/><Relationship Id="R2bfd8ef300f84303" Type="http://schemas.openxmlformats.org/officeDocument/2006/relationships/slide" Target="slides/slide10.xml"/><Relationship Id="R3ad503f37e33485e" Type="http://schemas.openxmlformats.org/officeDocument/2006/relationships/slide" Target="slides/slide15.xml"/><Relationship Id="R57f6c0ae66c045cc" Type="http://schemas.openxmlformats.org/officeDocument/2006/relationships/slide" Target="slides/slide22.xml"/><Relationship Id="R5b2d989c52ee4a5c" Type="http://schemas.openxmlformats.org/officeDocument/2006/relationships/viewProps" Target="viewProps.xml"/><Relationship Id="R663600f2715b424b" Type="http://schemas.openxmlformats.org/officeDocument/2006/relationships/slide" Target="slides/slide19.xml"/><Relationship Id="R70b4d4f668624d32" Type="http://schemas.openxmlformats.org/officeDocument/2006/relationships/slide" Target="slides/slide11.xml"/><Relationship Id="R7ffc4e4ccaff4191" Type="http://schemas.openxmlformats.org/officeDocument/2006/relationships/slide" Target="slides/slide21.xml"/><Relationship Id="R804308cb906d4b3b" Type="http://schemas.openxmlformats.org/officeDocument/2006/relationships/slide" Target="slides/slide16.xml"/><Relationship Id="R91adafa22a33423a" Type="http://schemas.openxmlformats.org/officeDocument/2006/relationships/tableStyles" Target="tableStyles.xml"/><Relationship Id="R96f897ace9bc4afb" Type="http://schemas.openxmlformats.org/officeDocument/2006/relationships/slide" Target="slides/slide24.xml"/><Relationship Id="R9e6536eda00144e7" Type="http://schemas.openxmlformats.org/officeDocument/2006/relationships/slide" Target="slides/slide1.xml"/><Relationship Id="Ra3cc3f6f28864d7d" Type="http://schemas.openxmlformats.org/officeDocument/2006/relationships/slide" Target="slides/slide20.xml"/><Relationship Id="Raa9afacfa71843bb" Type="http://schemas.openxmlformats.org/officeDocument/2006/relationships/slide" Target="slides/slide12.xml"/><Relationship Id="Rabe98989449740d8" Type="http://schemas.openxmlformats.org/officeDocument/2006/relationships/slide" Target="slides/slide26.xml"/><Relationship Id="Rb18964d791fc47a3" Type="http://schemas.openxmlformats.org/officeDocument/2006/relationships/slide" Target="slides/slide17.xml"/><Relationship Id="Rb3528f1c2b0542e7" Type="http://schemas.openxmlformats.org/officeDocument/2006/relationships/slide" Target="slides/slide8.xml"/><Relationship Id="Rb9bb0289ef914a7d" Type="http://schemas.openxmlformats.org/officeDocument/2006/relationships/slideMaster" Target="slideMasters/slideMaster1.xml"/><Relationship Id="Rc5dba0086a6d4f0a" Type="http://schemas.openxmlformats.org/officeDocument/2006/relationships/slide" Target="slides/slide6.xml"/><Relationship Id="Rdea75d5655d34dec" Type="http://schemas.openxmlformats.org/officeDocument/2006/relationships/presProps" Target="presProps.xml"/><Relationship Id="Rdf430edcdf8c4c7b" Type="http://schemas.openxmlformats.org/officeDocument/2006/relationships/slide" Target="slides/slide9.xml"/><Relationship Id="Re04d1a3300924db2" Type="http://schemas.openxmlformats.org/officeDocument/2006/relationships/notesMaster" Target="notesMasters/notesMaster1.xml"/><Relationship Id="Rec544795b4fd44b9" Type="http://schemas.openxmlformats.org/officeDocument/2006/relationships/slide" Target="slides/slide5.xml"/><Relationship Id="Rf16a6e1aacd4450c" Type="http://schemas.openxmlformats.org/officeDocument/2006/relationships/slide" Target="slides/slide27.xml"/><Relationship Id="Rf76ddbaa01074479" Type="http://schemas.openxmlformats.org/officeDocument/2006/relationships/slide" Target="slides/slide2.xml"/><Relationship Id="rId1"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38df7a74ae9b4c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4d274a3502bb4c4f" Type="http://schemas.openxmlformats.org/officeDocument/2006/relationships/notesMaster" Target="../notesMasters/notesMaster1.xml"/><Relationship Id="Rbb0ad16afa364c7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cc041cbd3a14070" Type="http://schemas.openxmlformats.org/officeDocument/2006/relationships/notesMaster" Target="../notesMasters/notesMaster1.xml"/><Relationship Id="R9df12e2fa02f4d5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04fc047e2294fb1" Type="http://schemas.openxmlformats.org/officeDocument/2006/relationships/notesMaster" Target="../notesMasters/notesMaster1.xml"/><Relationship Id="Rba1789702074459b"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810b3e7b968747c8" Type="http://schemas.openxmlformats.org/officeDocument/2006/relationships/slide" Target="../slides/slide4.xml"/><Relationship Id="Rdd3f5deac7f0418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33d8795c08e452f" Type="http://schemas.openxmlformats.org/officeDocument/2006/relationships/notesMaster" Target="../notesMasters/notesMaster1.xml"/><Relationship Id="R87ced5fffc4446f5"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6d074a974284cc6" Type="http://schemas.openxmlformats.org/officeDocument/2006/relationships/slide" Target="../slides/slide6.xml"/><Relationship Id="R1c62b3af6b5e41ed"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171b84909bd14b52" Type="http://schemas.openxmlformats.org/officeDocument/2006/relationships/slide" Target="../slides/slide8.xml"/><Relationship Id="Rb98b1a2de1be416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0b876b2c76c4bc2" Type="http://schemas.openxmlformats.org/officeDocument/2006/relationships/slide" Target="../slides/slide9.xml"/><Relationship Id="R2f95dd43f9da45f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f2ce4ad4b094f15" Type="http://schemas.openxmlformats.org/officeDocument/2006/relationships/notesMaster" Target="../notesMasters/notesMaster1.xml"/><Relationship Id="Rce91246344764955"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2aed983d7d9947c3" Type="http://schemas.openxmlformats.org/officeDocument/2006/relationships/slide" Target="../slides/slide11.xml"/><Relationship Id="Rb9cb84fe21a94d1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f5ff876e3ee4731" Type="http://schemas.openxmlformats.org/officeDocument/2006/relationships/slide" Target="../slides/slide13.xml"/><Relationship Id="Rd44df243f573486e"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68b5466982654b48" Type="http://schemas.openxmlformats.org/officeDocument/2006/relationships/notesMaster" Target="../notesMasters/notesMaster1.xml"/><Relationship Id="Rb429769223484426"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8ff0245306114951" Type="http://schemas.openxmlformats.org/officeDocument/2006/relationships/notesMaster" Target="../notesMasters/notesMaster1.xml"/><Relationship Id="Re93cd98183d346bf"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27c04c87009042e4" Type="http://schemas.openxmlformats.org/officeDocument/2006/relationships/notesMaster" Target="../notesMasters/notesMaster1.xml"/><Relationship Id="R53718d6182bc41e4"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ae7b43190e644836" Type="http://schemas.openxmlformats.org/officeDocument/2006/relationships/notesMaster" Target="../notesMasters/notesMaster1.xml"/><Relationship Id="Rc0a5327a897f4b2e"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09136345d4a84fe5" Type="http://schemas.openxmlformats.org/officeDocument/2006/relationships/notesMaster" Target="../notesMasters/notesMaster1.xml"/><Relationship Id="R89d35c0923754c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422943f256144865" Type="http://schemas.openxmlformats.org/officeDocument/2006/relationships/slide" Target="../slides/slide18.xml"/><Relationship Id="Rd2e050ce8059405c"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357184ca90a64f54" Type="http://schemas.openxmlformats.org/officeDocument/2006/relationships/slide" Target="../slides/slide12.xml"/><Relationship Id="R6129d9fd09f249f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ca93d83a329b4caa" Type="http://schemas.openxmlformats.org/officeDocument/2006/relationships/notesMaster" Target="../notesMasters/notesMaster1.xml"/><Relationship Id="Rec6a005f8e2e4c4b"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29ff0d865c344c72" Type="http://schemas.openxmlformats.org/officeDocument/2006/relationships/slide" Target="../slides/slide22.xml"/><Relationship Id="R649bbec6c9d349f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66661a86df7547d8" Type="http://schemas.openxmlformats.org/officeDocument/2006/relationships/notesMaster" Target="../notesMasters/notesMaster1.xml"/><Relationship Id="Ra0611f2c54e24d95"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22a83107e4f04b3f" Type="http://schemas.openxmlformats.org/officeDocument/2006/relationships/notesMaster" Target="../notesMasters/notesMaster1.xml"/><Relationship Id="R8b938c7a5d304cb3"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3058a6ba35be4653" Type="http://schemas.openxmlformats.org/officeDocument/2006/relationships/slide" Target="../slides/slide19.xml"/><Relationship Id="Rc877b402e6e940c6"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430eca9b92ed45af" Type="http://schemas.openxmlformats.org/officeDocument/2006/relationships/notesMaster" Target="../notesMasters/notesMaster1.xml"/><Relationship Id="R81e5a4bf8d9c4b6a"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494d869b79f47df" Type="http://schemas.openxmlformats.org/officeDocument/2006/relationships/notesMaster" Target="../notesMasters/notesMaster1.xml"/><Relationship Id="Ra3463da3760e45b9"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6d1c47b3744148c5" Type="http://schemas.openxmlformats.org/officeDocument/2006/relationships/slide" Target="../slides/slide27.xml"/><Relationship Id="Rbfd180e62bee461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Each unit has a definite form, capacities, a way of participating among others, and an inseparable innateness. These show up in mutual relations across four orders of nature. And because no unit can be separated from the ground, existence itself neither begins nor ends.</a:t>
            </a:r>
          </a:p>
          <a:p xmlns:a="http://schemas.openxmlformats.org/drawingml/2006/main">
            <a:r>
              <a:t>Second: how development proceeds along two lines that must not be collapsed. One line builds larger configurations — particles, molecules, cells, bodies — but never exceeds the order of the things it is built from. The other is development in an atom that can become a complete sentient unit. Across both, activity is effort, motion, and result together — not three separate steps.</a:t>
            </a:r>
          </a:p>
          <a:p xmlns:a="http://schemas.openxmlformats.org/drawingml/2006/main">
            <a:r>
              <a:t>Third: how sentient living becomes awakened conduct — the human as a joint form of body and sentient unit, the faculties of that sentient unit, the four harmonies it can reach, and why the higher three are reached only through action actually performed: evaluation, realisation, and participation in humane order.</a:t>
            </a:r>
          </a:p>
          <a:p xmlns:a="http://schemas.openxmlformats.org/drawingml/2006/main">
            <a:r>
              <a:t>Please keep one distinction early: the body line and the sentient-unit line meet in animal and human living, but they are not the same process. That blocks the most common confusion — treating the body as the producer of the knower.</a:t>
            </a:r>
          </a:p>
          <a:p xmlns:a="http://schemas.openxmlformats.org/drawingml/2006/main">
            <a:r>
              <a:t>Each movement is marked in the small line at the top of its opening slide, so you can always tell where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transparent, permeating, non-transforming, immeasurable. Actionless energy: it acts not at all, yet every unit is energised and regulated in it. There is no place where it is absent.</a:t>
            </a:r>
          </a:p>
          <a:p xmlns:a="http://schemas.openxmlformats.org/drawingml/2006/main">
            <a:r>
              <a:t>Hold on to two of those words, because the next slide is built on them. *Transparent* and *permeating*. The texts say transparence, permeability, and pervasiveness taken together are what show the ground to be one indivisible reality. Permeating is the strong one: the ground does not merely surround a unit from outside, it passes through it. That will matter in about ninety seconds.</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How are ground and units related? The texts have one word for it: saturation. Every formful unit is soaked, submerged, and surrounded in Omnipresence.</a:t>
            </a:r>
          </a:p>
          <a:p xmlns:a="http://schemas.openxmlformats.org/drawingml/2006/main">
            <a:r>
              <a:t>Now, why is that true rather than merely asserted? Because the ground is permeating — the word from the last slide. Take a unit and divide it. Divide the fragments. Divide those. However far you go, every fragment is still soaked, still submerged, still surrounded. There is no cut you can make that leaves a piece standing outside the ground.</a:t>
            </a:r>
          </a:p>
          <a:p xmlns:a="http://schemas.openxmlformats.org/drawingml/2006/main">
            <a:r>
              <a:t>Two things follow immediately, and they are worth stating slowly.</a:t>
            </a:r>
          </a:p>
          <a:p xmlns:a="http://schemas.openxmlformats.org/drawingml/2006/main">
            <a:r>
              <a:t>One: a unit cannot be annihilated. To annihilate it you would need a fragment separated from what it is saturated in, and no division produces that.</a:t>
            </a:r>
          </a:p>
          <a:p xmlns:a="http://schemas.openxmlformats.org/drawingml/2006/main">
            <a:r>
              <a:t>Two: saturation is a condition, not an event. There is no moment at which units existed on their own and were later joined to the ground. If someone asks you *when* saturation happened, the answer is that the question does not apply.</a:t>
            </a:r>
          </a:p>
          <a:p xmlns:a="http://schemas.openxmlformats.org/drawingml/2006/main">
            <a:r>
              <a:t>Here is the part I want you to notice, because it is easy to read past. Soaked, submerged, surrounded are not three words for one relation. Each carries its own entailment, and the three cards on the slide follow them in order.</a:t>
            </a:r>
          </a:p>
          <a:p xmlns:a="http://schemas.openxmlformats.org/drawingml/2006/main">
            <a:r>
              <a:t>Soaked gives forcefulness. Being soaked *is* forcefulness — the unit is the bearer of definite relative power. On the force side of the same bond, the texts call this basic impulsion.</a:t>
            </a:r>
          </a:p>
          <a:p xmlns:a="http://schemas.openxmlformats.org/drawingml/2006/main">
            <a:r>
              <a:t>Submerged gives energy-fullness. The ground is on every side of the unit, so the unit is never devoid of the energy evident in its activity. The texts state the relation as a bare identity: unit-ness plus energy-fullness is activeness. And activity is never one thing at a time — always effort, motion, and result together.</a:t>
            </a:r>
          </a:p>
          <a:p xmlns:a="http://schemas.openxmlformats.org/drawingml/2006/main">
            <a:r>
              <a:t>Surrounded gives regulation. Because the formless reality stands between units, each is held at a definite distance from the others. That is where law and orderliness come from — not from a statute issued from outside. We will come back to this on slide 21.</a:t>
            </a:r>
          </a:p>
          <a:p xmlns:a="http://schemas.openxmlformats.org/drawingml/2006/main">
            <a:r>
              <a:t>Recognition and participation in orderliness follow from the same bond. And please hear the caution: this is a claim about what existence is like, not a proposed laboratory transfer mechanism. Nor does saturation destine any unit to become sentient.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What is every unit? Four inseparable aspects — not a static checklist pasted onto things, but how a definite bearer shows up in the world.</a:t>
            </a:r>
          </a:p>
          <a:p xmlns:a="http://schemas.openxmlformats.org/drawingml/2006/main">
            <a:r>
              <a:t>Form is real boundary and configuration. Take the peepal tree on the slide: one bounded living form with trunk, branches, leaves, and roots.</a:t>
            </a:r>
          </a:p>
          <a:p xmlns:a="http://schemas.openxmlformats.org/drawingml/2006/main">
            <a:r>
              <a:t>Properties — capacities and relative effects. In the peepal: nutrition, growth, repair, seed production, degeneration under definite conditions.</a:t>
            </a:r>
          </a:p>
          <a:p xmlns:a="http://schemas.openxmlformats.org/drawingml/2006/main">
            <a:r>
              <a:t>Essential nature is usefulness in context: vitalising while the living organisation holds; devitalising when it breaks down.</a:t>
            </a:r>
          </a:p>
          <a:p xmlns:a="http://schemas.openxmlformats.org/drawingml/2006/main">
            <a:r>
              <a:t>Innateness — dharma in this technical sense — is what cannot be separated from the unit, plus order-specific fulfilment. For the peepal: existence plus growth. Seed-conformance is how it conducts itself, not an extra label piled on top.</a:t>
            </a:r>
          </a:p>
          <a:p xmlns:a="http://schemas.openxmlformats.org/drawingml/2006/main">
            <a:r>
              <a:t>Form is real; what another unit encounters is its definite presentation in mutual facing. In non-sentient nature these aspects are definite. Misreading arises mainly in human living, when the sentient unit mistakes the body for the self.</a:t>
            </a:r>
          </a:p>
          <a:p xmlns:a="http://schemas.openxmlformats.org/drawingml/2006/main">
            <a:r>
              <a:t>And notice: the tree as a composite can die while its material constituents persist. Persistence of existence is not persistence of one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Nothing is isolated — that is the principle.</a:t>
            </a:r>
          </a:p>
          <a:p xmlns:a="http://schemas.openxmlformats.org/drawingml/2006/main">
            <a:r>
              <a:t>Existence holds relations between units, and in those relations complementarity becomes value in mutuality. In material, plant, and animal orders, recognition and fulfilment are definite. At the human order, evaluation can err when the body is mistaken for the self.</a:t>
            </a:r>
          </a:p>
          <a:p xmlns:a="http://schemas.openxmlformats.org/drawingml/2006/main">
            <a:r>
              <a:t>Two kinds of mutuality matter. A relationship is mutuality whose expectations are definite in the completeness of the bond — parent and child. An association or contact is mutuality where expectations are voluntary — neighbours who share a wall.</a:t>
            </a:r>
          </a:p>
          <a:p xmlns:a="http://schemas.openxmlformats.org/drawingml/2006/main">
            <a:r>
              <a:t>The slide names five value families: object, *jeevan*, human, established, and civic — the last is *shishta-mulya* in the source. Object values are two, utility and art, so the same list is often counted as six types: utility, art, *jeevan*, human, established, and civic. Established values are the ones that become evident when human relationships are recognised and fulfilled — trust, respect, affection, care, and so on. Civic values are how all of that is expressed in social participation.</a:t>
            </a:r>
          </a:p>
          <a:p xmlns:a="http://schemas.openxmlformats.org/drawingml/2006/main">
            <a:r>
              <a:t>At the human order the path runs: knowing, then believing, then recognising, then fulfilling. Awakening does not invent new faculties. It aligns this chain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xmlns:a="http://schemas.openxmlformats.org/drawingml/2006/main">
            <a:r>
              <a:t>We have now stated what exists and how it is ordered. Next: how development proceeds.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Start with the question the last three slides have been building toward: why does anything develop at all?</a:t>
            </a:r>
          </a:p>
          <a:p xmlns:a="http://schemas.openxmlformats.org/drawingml/2006/main">
            <a:r>
              <a:t>The answer the texts give is the completeness drive. Nature saturated in state-complete Omnipresence is oriented toward development and awakening, until realisation. “Oriented” is doing careful work there — it names a direction inherent in the order of coexistence, not a guarantee that every unit travels the whole way. Hold that, because everything in this movement is a specification of it.</a:t>
            </a:r>
          </a:p>
          <a:p xmlns:a="http://schemas.openxmlformats.org/drawingml/2006/main">
            <a:r>
              <a:t>That drive proceeds along two distinct lines, and Madhyasth Darshan insists they must not be collapsed.</a:t>
            </a:r>
          </a:p>
          <a:p xmlns:a="http://schemas.openxmlformats.org/drawingml/2006/main">
            <a:r>
              <a:t>Compositional progression joins particles, atoms, molecules, cells, and bodies into larger configurations. Separately, development in an atom can reach constitutional completeness as a sentient unit. These lines meet in living joint forms, but they remain distinct.</a:t>
            </a:r>
          </a:p>
          <a:p xmlns:a="http://schemas.openxmlformats.org/drawingml/2006/main">
            <a:r>
              <a:t>Across both, activity is one inseparable triad: effort, motion, and result — three aspects of one activity, not three sequential steps. When sodium and chlorine approach, the approach is effort and motion together; the stable salt crystal is the result.</a:t>
            </a:r>
          </a:p>
          <a:p xmlns:a="http://schemas.openxmlformats.org/drawingml/2006/main">
            <a:r>
              <a:t>The texts compress the engine this way: saturation is forcefulness; forcefulness is basic impulsion; impulsion is activity; activity is effort-motion-result; and that is development.</a:t>
            </a:r>
          </a:p>
          <a:p xmlns:a="http://schemas.openxmlformats.org/drawingml/2006/main">
            <a:r>
              <a:t>Each term has a goal: restfulness of effort, destination of motion, immortality of result. Development pervades nature; awakening occurs in the sentient. Non-sentient units participate by composing bodies and environments without each individually completing the drive.</a:t>
            </a:r>
          </a:p>
          <a:p xmlns:a="http://schemas.openxmlformats.org/drawingml/2006/main">
            <a:r>
              <a:t>The next slide shows why the composing line, however far it goes, never gets there on its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Now we name three milestones — T1, T2, and T3.</a:t>
            </a:r>
          </a:p>
          <a:p xmlns:a="http://schemas.openxmlformats.org/drawingml/2006/main">
            <a:r>
              <a:t>T1 is constitutional completeness: the immortality of result. A developing atom becomes a sentient unit — jeevan. Status shifts from physicochemical to what the texts call delusional — meaning the body is mistaken for the self. That is a stage label, not a psychiatric diagnosis.</a:t>
            </a:r>
          </a:p>
          <a:p xmlns:a="http://schemas.openxmlformats.org/drawingml/2006/main">
            <a:r>
              <a:t>T2 is activity completeness: restfulness of effort. Inner seeking settles into direct realisation and resolution. Status shifts toward awakened understanding.</a:t>
            </a:r>
          </a:p>
          <a:p xmlns:a="http://schemas.openxmlformats.org/drawingml/2006/main">
            <a:r>
              <a:t>T3 is conduct completeness: destination of motion. Understanding becomes authentic conduct — living proof.</a:t>
            </a:r>
          </a:p>
          <a:p xmlns:a="http://schemas.openxmlformats.org/drawingml/2006/main">
            <a:r>
              <a:t>Keep T2 and T3 apart. T2 is internal settlement. T3 is outer destination in conduct. And do not confuse T2’s restfulness with the ease of non-sentient natural complementarity.</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a:p xmlns:a="http://schemas.openxmlformats.org/drawingml/2006/main">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Let me consolidate, because this tradition uses four different vocabularies for what is fundamentally one thing, and mixing them up is the commonest way to get lost in it.</a:t>
            </a:r>
          </a:p>
          <a:p xmlns:a="http://schemas.openxmlformats.org/drawingml/2006/main">
            <a:r>
              <a:t>There is one drive: nature saturated in state-complete Omnipresence, oriented toward development and awakening until realisation. Everything on this table is a way of describing where something stands in that drive.</a:t>
            </a:r>
          </a:p>
          <a:p xmlns:a="http://schemas.openxmlformats.org/drawingml/2006/main">
            <a:r>
              <a:t>**Orders** — material, bio, animal, knowledge — say what *kind* of thing a unit is: its organisation, its essential nature, its innateness. Four orders.</a:t>
            </a:r>
          </a:p>
          <a:p xmlns:a="http://schemas.openxmlformats.org/drawingml/2006/main">
            <a:r>
              <a:t>**Progressions** — existential, way of existence, development, awakening — say how the drive *moves*. The first names the definite sequence in which the orders become manifest; the second, the conformance by which each order keeps its conduct; the third, physicochemical and atomic development up to T1; the fourth, qualitative development inside a complete sentient unit toward T2 and T3.</a:t>
            </a:r>
          </a:p>
          <a:p xmlns:a="http://schemas.openxmlformats.org/drawingml/2006/main">
            <a:r>
              <a:t>**Planes** — physicochemical, delusional, deific, divine — say how *far* something has come. These are the four we just saw across the top of the last slide. Before T1; T1 only; T2; T3.</a:t>
            </a:r>
          </a:p>
          <a:p xmlns:a="http://schemas.openxmlformats.org/drawingml/2006/main">
            <a:r>
              <a:t>**Human types** — animalistic, demonic, humane or discerning, deific, divine — say how a human *life is oriented*. Five of them, and they classify modes of consciousness and conduct. Not biological species. Not social classes. Not castes.</a:t>
            </a:r>
          </a:p>
          <a:p xmlns:a="http://schemas.openxmlformats.org/drawingml/2006/main">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hinge: where sentience enters.</a:t>
            </a:r>
          </a:p>
          <a:p xmlns:a="http://schemas.openxmlformats.org/drawingml/2006/main">
            <a:r>
              <a:t>It is constitutional completeness at the atomic level — not neural complexity, not molecular size, and not merely climbing the order chain.</a:t>
            </a:r>
          </a:p>
          <a:p xmlns:a="http://schemas.openxmlformats.org/drawingml/2006/main">
            <a:r>
              <a:t>The texts describe a developing atom that incorporates particles — complementary “hungry” and “overfull” completions — in a suitable environment. When the required constitution closes, particle count no longer increases or decreases.</a:t>
            </a:r>
          </a:p>
          <a:p xmlns:a="http://schemas.openxmlformats.org/drawingml/2006/main">
            <a:r>
              <a:t>Here is the criterion, and it is sharper than it first looks. In matter, qualitative change does not happen without quantitative change: an atom's kind and capacity track its particle number. Change what it can do and you have changed how many particles it has. Those two kinds of change are tied together — right up to completeness. Completeness is where they come apart. After it, qualitative activity continues while the particle count is fixed. That separation is the criterion.</a:t>
            </a:r>
          </a:p>
          <a:p xmlns:a="http://schemas.openxmlformats.org/drawingml/2006/main">
            <a:r>
              <a:t>So: before T1, still changing structure and particle count; non-sentient radiance and projection. After T1, released from molecular and weight bondage, carried by hope; qualitative change without quantitative change; a finer mode of recognition as the sentient unit.</a:t>
            </a:r>
          </a:p>
          <a:p xmlns:a="http://schemas.openxmlformats.org/drawingml/2006/main">
            <a:r>
              <a:t>T1 is irreversible because the completed constitution no longer decomposes. That is also the textual basis for continuity of the knower beyond a particular body — the constitution has closed, so the death of a body is not the end of the sentient unit. JV goes further and describes its subsequent association with another body. I will flag now what I will repeat under method and evidence: these are claims of the primary texts, grounded in constitutional completeness, and no accepted procedure measures any of it.</a:t>
            </a:r>
          </a:p>
          <a:p xmlns:a="http://schemas.openxmlformats.org/drawingml/2006/main">
            <a:r>
              <a:t>I want to be plain: this is an ontological account. No accepted empirical procedure currently identifies the threshold. We will return to that honesty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now turn to human living — movement three.</a:t>
            </a:r>
          </a:p>
          <a:p xmlns:a="http://schemas.openxmlformats.org/drawingml/2006/main">
            <a:r>
              <a:t>Animal and human living is a joint form. The sentient unit brings the full set of faculties and activities. The body supplies the species-specific medium.</a:t>
            </a:r>
          </a:p>
          <a:p xmlns:a="http://schemas.openxmlformats.org/drawingml/2006/main">
            <a:r>
              <a:t>On one side: the body — living composition, sense organs, brain, physical expression; decomposable. On the other: the sentient unit — constitutionally complete; faculties inherent; continuing when the joint form ends.</a:t>
            </a:r>
          </a:p>
          <a:p xmlns:a="http://schemas.openxmlformats.org/drawingml/2006/main">
            <a:r>
              <a:t>Animal bodily development limits expression. The human medium can support the full range, while mistaking the body for the self can still misdirect evaluation.</a:t>
            </a:r>
          </a:p>
          <a:p xmlns:a="http://schemas.openxmlformats.org/drawingml/2006/main">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sentient unit — jeevan — is a constitutionally complete atom.</a:t>
            </a:r>
          </a:p>
          <a:p xmlns:a="http://schemas.openxmlformats.org/drawingml/2006/main">
            <a:r>
              <a:t>Structurally, the centre is the core self. Around it: resolve, desire, thought, and hope — the texts’ buddhi, chitta, vritti, and mun.</a:t>
            </a:r>
          </a:p>
          <a:p xmlns:a="http://schemas.openxmlformats.org/drawingml/2006/main">
            <a:r>
              <a:t>Each works outward and inward. Hope selects and tastes. Thought analyses and deliberates. Desire visualises and contemplates. Resolve resolves and receives clear understanding. The core self authenticates and realises.</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peace, contentment, bliss. How does a person actually get them?</a:t>
            </a:r>
          </a:p>
          <a:p xmlns:a="http://schemas.openxmlformats.org/drawingml/2006/main">
            <a:r>
              <a:t>Let me put the shape of the answer first, because it is the hinge of this whole movement. Below the human order, fulfilment is definite — it needs no deciding. A molecule does not choose. A plant does not deliberate. Even the animal, which has a complete sentient unit, is carried by species-conformance to the fulfilment available through its body. Nothing there has to be *worked out*.</a:t>
            </a:r>
          </a:p>
          <a:p xmlns:a="http://schemas.openxmlformats.org/drawingml/2006/main">
            <a:r>
              <a:t>The human order is the one place where the higher harmonies are on offer and nothing delivers them automatically. And here is the part people resist: understanding does not deliver them either. Study is necessary. It is not sufficient. You can recognise the higher faculties, grasp the whole account, hold it clearly — and still not have peace, contentment, or bliss, because those are harmonies of the unit in *activity*, and there is no activity in knowing about activity.</a:t>
            </a:r>
          </a:p>
          <a:p xmlns:a="http://schemas.openxmlformats.org/drawingml/2006/main">
            <a:r>
              <a:t>What delivers them is performed action — specifically, action that fulfils relationships. Recognise the higher faculties; study until you understand; then act so that what you owe in each relationship is actually fulfilled. That third step is not optional decoration on the first two. It is where the harmony happens.</a:t>
            </a:r>
          </a:p>
          <a:p xmlns:a="http://schemas.openxmlformats.org/drawingml/2006/main">
            <a:r>
              <a:t>That is why the text bothers with the anatomy of action at all. Every activity done with desire has five limbs: doer, cause, objective, result, and effect. Effect means the act's reach or consequence — not a separate ledger of destiny. Desire is the aspiration; karma is the doing, activity together with aspiration; result is the fruit. And the text's own criterion: desire, doing, and result must *balance* for the desire to be truly accomplished. Wanting without doing is not accomplishment. Doing that misses the result is not accomplishment either.</a:t>
            </a:r>
          </a:p>
          <a:p xmlns:a="http://schemas.openxmlformats.org/drawingml/2006/main">
            <a:r>
              <a:t>So: understanding alone changes nothing. It is the doing that yields the fruit. Book knowledge is half the work — the other half is conduct that fulfils relationships.</a:t>
            </a:r>
          </a:p>
          <a:p xmlns:a="http://schemas.openxmlformats.org/drawingml/2006/main">
            <a:r>
              <a:t>Hold this beside the earlier triad of effort, motion, and result. This is the desire-laden framing of the same activity ontology in sentient living. The next slides show how desire and doing get reorganised under justice, innateness, and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are not passing moods, and they are not a fourth milestone after T1, T2, and T3.</a:t>
            </a:r>
          </a:p>
          <a:p xmlns:a="http://schemas.openxmlformats.org/drawingml/2006/main">
            <a:r>
              <a:t>They name harmonies within the sentient unit. Happiness: harmony of hope and thought. Peace: thought and desire. Contentment: desire and resolve. Bliss: resolve and the core self.</a:t>
            </a:r>
          </a:p>
          <a:p xmlns:a="http://schemas.openxmlformats.org/drawingml/2006/main">
            <a:r>
              <a:t>Now hold all four in view, because they are what the knowledge order is actually after. This is the answer to “what is a human life for?” in this system — and notice that only the first of the four is reachable by sensory living. Happiness, the harmony of hope and thought, an animal can have. Peace, contentment, and bliss it cannot even see.</a:t>
            </a:r>
          </a:p>
          <a:p xmlns:a="http://schemas.openxmlformats.org/drawingml/2006/main">
            <a:r>
              <a:t>The living cycle is: reflection feeds projection, and projection feeds deeper reflection — that is what living means here. Continuous happiness is harmony evidenced in resolved living, not a sensory spike.</a:t>
            </a:r>
          </a:p>
          <a:p xmlns:a="http://schemas.openxmlformats.org/drawingml/2006/main">
            <a:r>
              <a:t>The next two slides ask how a human being actually gets from the first harmony to the other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I have now told you twice that the composing line and the atomic line are different. This slide is where I owe you the reason.</a:t>
            </a:r>
          </a:p>
          <a:p xmlns:a="http://schemas.openxmlformats.org/drawingml/2006/main">
            <a:r>
              <a:t>Start with what is true: there is a natural inclination toward coexistence everywhere. Particles assemble into atoms, atoms into molecules, molecules into cells and bodies. That is real, and it builds a great deal.</a:t>
            </a:r>
          </a:p>
          <a:p xmlns:a="http://schemas.openxmlformats.org/drawingml/2006/main">
            <a:r>
              <a:t>Now the constraint. Whatever a thing is constituted of, it remains of the order of that constituent — however vast the formation. Three of the texts' own examples. Objects made from soil remain soil, no matter how elaborate the object. A body built from living cells remains of the order of the living cell. And the Earth entire is of the order of the atoms, molecules, and cells composing it.</a:t>
            </a:r>
          </a:p>
          <a:p xmlns:a="http://schemas.openxmlformats.org/drawingml/2006/main">
            <a:r>
              <a:t>So change of composition is recognised as development or decline *within* an order. It is never passage beyond the order. Compositional progression can give you an atom, then a molecule, then a cell, then a body of extraordinary complexity — and every one of those is still of the order of what it is made from.</a:t>
            </a:r>
          </a:p>
          <a:p xmlns:a="http://schemas.openxmlformats.org/drawingml/2006/main">
            <a:r>
              <a:t>That is the argument. Composition supplies bodies and environments, and it never reaches constitutional completeness, because reaching it would mean exceeding the order of your own constituents. Which is exactly why development in the atom has to be kept as a separate line.</a:t>
            </a:r>
          </a:p>
          <a:p xmlns:a="http://schemas.openxmlformats.org/drawingml/2006/main">
            <a:r>
              <a:t>Two smaller distinctions while we are here. In a mixture, components stay side by side and each keeps its own conduct — no new unit is formed. In a compound, definite proportion yields a genuinely new bounded unit, with its own form and its own capacities in mutuality. A compound is a real new unit; it is still not a step toward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explains the name Madhyasth — and it cashes a cheque I wrote back on slide 6.</a:t>
            </a:r>
          </a:p>
          <a:p xmlns:a="http://schemas.openxmlformats.org/drawingml/2006/main">
            <a:r>
              <a:t>Remember the third of the three terms: surrounded. Regulation is what surroundedness establishes. Because the formless reality stands between units, each is held at a definite distance from the others. Orderliness is self-regulation inherent in saturated units — not dispensed by a cosmic governor. That mediative regulation, which regulates and conserves every unit, gives the darshan its name.</a:t>
            </a:r>
          </a:p>
          <a:p xmlns:a="http://schemas.openxmlformats.org/drawingml/2006/main">
            <a:r>
              <a:t>The account works at three levels, and it is worth naming them: Omnipresence is the sustaining condition; within an atom, the nucleus is the mediative organisation that regulates generative and degenerative activity and conserves relative powers; and at larger scales, order-specific conformance is the definite conduct you can actually observe.</a:t>
            </a:r>
          </a:p>
          <a:p xmlns:a="http://schemas.openxmlformats.org/drawingml/2006/main">
            <a:r>
              <a:t>Conformance has order-specific modes. Material: structural or result conformance. Bio: seed-conformance. Animal: species-conformance, inherited from gestation. Human: *sanskar*-conformance — achieved through knowing, believing, recognising, and fulfilling, rather than inherited. That last one is why education and tradition matter so much here: they can reproduce confusion just as easily as they can support awakening.</a:t>
            </a:r>
          </a:p>
          <a:p xmlns:a="http://schemas.openxmlformats.org/drawingml/2006/main">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evaluation widens across six perspectives: pleasant, healthy, profit, justice, innateness or dharma as an evaluative lens, and truth. They move from sensation, body, and gain to relationship, orderliness, and coexistence.</a:t>
            </a:r>
          </a:p>
          <a:p xmlns:a="http://schemas.openxmlformats.org/drawingml/2006/main">
            <a:r>
              <a:t>Justice is both one of the six and the principle of fulfilled relationship. Dharma here means fitting the wider pattern — discipline in thought, not only outer conduct. Truth means alignment with the whole, grounded in realisation, not in liking or gain.</a:t>
            </a:r>
          </a:p>
          <a:p xmlns:a="http://schemas.openxmlformats.org/drawingml/2006/main">
            <a:r>
              <a:t>The graduated chain is: rule itself is justice; justice itself is dharma; dharma itself is truth; truth itself is coexistence.</a:t>
            </a:r>
          </a:p>
          <a:p xmlns:a="http://schemas.openxmlformats.org/drawingml/2006/main">
            <a:r>
              <a:t>Pleasure, health, and profit are not condemned. They remain legitimate in their domain. Awakening changes the organising refuge: they are subordinated under justice, dharma, and truth — not abandoned.</a:t>
            </a:r>
          </a:p>
          <a:p xmlns:a="http://schemas.openxmlformats.org/drawingml/2006/main">
            <a:r>
              <a:t>Keep this distinct from unit-innateness earlier. One word, two levels: what a unit cannot be separated from, versus how we evaluate thought and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turn now to knowing — how understanding widens, and how it happens in the sentient unit.</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Hope tastes and selects. Thought deliberates. Desire contemplates. Resolve clarifies and resolves. The core self realises — through truth. When each level is acted in alignment, it is felt as happiness, peace, contentment, and bliss.</a:t>
            </a:r>
          </a:p>
          <a:p xmlns:a="http://schemas.openxmlformats.org/drawingml/2006/main">
            <a:r>
              <a:t>The ladders meet at the top: coexistence known and lived is felt as bliss. Human error belongs to confused evaluation, not to fuzziness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Before the closing summary, I owe you an accounting of what kind of thing each part of this has been.</a:t>
            </a:r>
          </a:p>
          <a:p xmlns:a="http://schemas.openxmlformats.org/drawingml/2006/main">
            <a:r>
              <a:t>Different methods establish different things. They can support one another, but they are not interchangeable.</a:t>
            </a:r>
          </a:p>
          <a:p xmlns:a="http://schemas.openxmlformats.org/drawingml/2006/main">
            <a:r>
              <a:t>Logical exposition can show internal coherence. It cannot by itself prove empirical fact.</a:t>
            </a:r>
          </a:p>
          <a:p xmlns:a="http://schemas.openxmlformats.org/drawingml/2006/main">
            <a:r>
              <a:t>Study and self-examination can show intelligibility and first-person recognition. They cannot by themselves physically identify the sentient unit.</a:t>
            </a:r>
          </a:p>
          <a:p xmlns:a="http://schemas.openxmlformats.org/drawingml/2006/main">
            <a:r>
              <a:t>Practice and conduct-evidence can show effects in work, behaviour, and mutual satisfaction. They cannot by themselves measure T1 or the unit–body interface.</a:t>
            </a:r>
          </a:p>
          <a:p xmlns:a="http://schemas.openxmlformats.org/drawingml/2006/main">
            <a:r>
              <a:t>Realisation is this tradition’s claimed completion of knowing. It does not force agreement from other methods.</a:t>
            </a:r>
          </a:p>
          <a:p xmlns:a="http://schemas.openxmlformats.org/drawingml/2006/main">
            <a:r>
              <a:t>Publicly measurable physical claims remain answerable to instrument-based science. No accepted measurement currently identifies T1, the unit–body interface, or post-body reassociation — the last of those being the claim I flagged on slide 15, that the sentient unit continues when a body ends and may later associate with another. Stating that plainly is part of responsible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sentient unit bears the same five faculties and the same ten activities. What differs is the medium and what the unit does with it.</a:t>
            </a:r>
          </a:p>
          <a:p xmlns:a="http://schemas.openxmlformats.org/drawingml/2006/main">
            <a:r>
              <a:t>Take the animal case first, because it sets up the human one. An animal *jeevan* is complete — it has all five faculties. But its bodily medium is limited, so it acts for sensory satisfaction under species-conformance, and it reaches the first harmony and stops. Peace, contentment, and bliss are not failures on its part; they are simply not available through that body.</a:t>
            </a:r>
          </a:p>
          <a:p xmlns:a="http://schemas.openxmlformats.org/drawingml/2006/main">
            <a:r>
              <a:t>Now the human case. The human body *can* express all ten activities — that is what the developed nervous system is for. And yet, by default, human *jeevan* goes on evaluating by exactly the same sensory criteria the animal used. The equipment changed; the habit did not. That is the fork this slide names, and it answers one practical question — what makes me happy?</a:t>
            </a:r>
          </a:p>
          <a:p xmlns:a="http://schemas.openxmlformats.org/drawingml/2006/main">
            <a:r>
              <a:t>Under confusion, the body is mistaken for the self. Selection and evaluation organise around pleasure, health, and profit.</a:t>
            </a:r>
          </a:p>
          <a:p xmlns:a="http://schemas.openxmlformats.org/drawingml/2006/main">
            <a:r>
              <a:t>Under awakening, clear knowing regulates sensory life. Knowing and believing guide recognition and fulfilment toward justice, innateness, truth, and coexistence.</a:t>
            </a:r>
          </a:p>
          <a:p xmlns:a="http://schemas.openxmlformats.org/drawingml/2006/main">
            <a:r>
              <a:t>No faculty is missing, and sensation is not rejected. Confusion lets sensory criteria rule; awakening balances sensation with understanding, so understanding guides conduct.</a:t>
            </a:r>
          </a:p>
          <a:p xmlns:a="http://schemas.openxmlformats.org/drawingml/2006/main">
            <a:r>
              <a:t>When the same fork is resolved in a person and sustained across a tradition, it shows as resolution, prosperity, fearlessness, and coexistence.</a:t>
            </a:r>
          </a:p>
          <a:p xmlns:a="http://schemas.openxmlformats.org/drawingml/2006/main">
            <a:r>
              <a:t>And one thing awakening is *not*: it is not preferring the right things, and it is not having the right insight. The next slide is about why.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where the developmental drive comes to rest: realisation in coexistence.</a:t>
            </a:r>
          </a:p>
          <a:p xmlns:a="http://schemas.openxmlformats.org/drawingml/2006/main">
            <a:r>
              <a:t>The drive settles when relationships across nature are fulfilled and made evident — not because the ground becomes a knower, but because the awakened sentient unit realises and evidences the coexistence in which it has always existed.</a:t>
            </a:r>
          </a:p>
          <a:p xmlns:a="http://schemas.openxmlformats.org/drawingml/2006/main">
            <a:r>
              <a:t>Realisation is bliss. Truth itself is abundance — coexistence; realisation of abundance is bliss; bliss is the living of the sentient unit. What is realised is the ground the unit was always saturated in.</a:t>
            </a:r>
          </a:p>
          <a:p xmlns:a="http://schemas.openxmlformats.org/drawingml/2006/main">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drive comes to rest in awakened human beings — effort settled, understanding proven in daily conduct, and carried as a tradition.</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dimensions of continuity carry the tradition: education and formative culture; justice and preservation; health and restraint; production and work; exchange and storage.</a:t>
            </a:r>
          </a:p>
          <a:p xmlns:a="http://schemas.openxmlformats.org/drawingml/2006/main">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xmlns:a="http://schemas.openxmlformats.org/drawingml/2006/main">
            <a:r>
              <a:t>This is not an ideal bolted onto matter. On this account, the progression is designed to arrive here. Nature saturated in Omnipresence is bound for development until realisation. An awakened human tradition is what that progression delivers.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T1.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consequence of the last slide deserves its own moment, because it answers the second of our opening questions.</a:t>
            </a:r>
          </a:p>
          <a:p>
            <a:r>
              <a:t>If no division of a unit can put any fragment outside the ground, then nothing that exists can be annihilated. And nothing arises from non-being either. So existence does not begin and does not end. What begins and ends is composition — particular arrangements of units.</a:t>
            </a:r>
          </a:p>
          <a:p>
            <a:r>
              <a:t>Notice carefully what that does and does not claim. A compound decomposes. A body dies. Those organisations genuinely end. What continues is their constituents, in other relations. Perpetuity belongs to coexistence, not to any particular configuration.</a:t>
            </a:r>
          </a:p>
          <a:p>
            <a:r>
              <a:t>Second point, and this one matters for how you hear the rest of the session. The texts call Omnipresence the supreme cause, and that phrase invites a misreading. It is cause only in the sustaining sense — no activity exists apart from nature saturated in it. It starts no particular change. Composition, decomposition, development, conduct: all of that is the work of units acting on one another. So there is no creator in this account, and no ruler issuing instructions.</a:t>
            </a:r>
          </a:p>
          <a:p>
            <a:r>
              <a:t>Third, time. Time here is not a container existing alongside the ground and the units. Time is the duration of activity, reckoned from recurrent activities — a rotation, a year. The ground does not transform, so it is not temporal in the way unit-activity is measured.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0c55243afd4fa6"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82d98eee85044c16" Type="http://schemas.openxmlformats.org/officeDocument/2006/relationships/theme" Target="theme/theme2.xml"/><Relationship Id="Rfbe447850c1b4458"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fbe447850c1b445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f356ad71c37b44ed" Type="http://schemas.openxmlformats.org/officeDocument/2006/relationships/notesSlide" Target="../notesSlides/notesSlide1.xml"/><Relationship Id="Rf6d71d3f977e479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73e8f36c95904ad3" Type="http://schemas.openxmlformats.org/officeDocument/2006/relationships/notesSlide" Target="../notesSlides/notesSlide2.xml"/><Relationship Id="R7e318898b5434dc8"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a332cc18804fca" Type="http://schemas.openxmlformats.org/officeDocument/2006/relationships/notesSlide" Target="../notesSlides/notesSlide3.xml"/><Relationship Id="R38ee44a0fea7465d" Type="http://schemas.openxmlformats.org/officeDocument/2006/relationships/slideLayout" Target="../slideLayouts/slideLayout1.xml"/><Relationship Id="R88075c53ad06497a" Type="http://schemas.openxmlformats.org/officeDocument/2006/relationships/image" Target="../media/image.png"/></Relationships>
</file>

<file path=ppt/slides/_rels/slide4.xml.rels><?xml version='1.0' encoding='UTF-8' standalone='yes'?>
<Relationships xmlns="http://schemas.openxmlformats.org/package/2006/relationships"><Relationship Id="R40a95109814b47bb" Type="http://schemas.openxmlformats.org/officeDocument/2006/relationships/notesSlide" Target="../notesSlides/notesSlide4.xml"/><Relationship Id="R93b96b4631b84ad7" Type="http://schemas.openxmlformats.org/officeDocument/2006/relationships/slideLayout" Target="../slideLayouts/slideLayout1.xml"/><Relationship Id="Rcf6635e90225442b" Type="http://schemas.openxmlformats.org/officeDocument/2006/relationships/image" Target="../media/image2.png"/></Relationships>
</file>

<file path=ppt/slides/_rels/slide5.xml.rels><?xml version='1.0' encoding='UTF-8' standalone='yes'?>
<Relationships xmlns="http://schemas.openxmlformats.org/package/2006/relationships"><Relationship Id="R5c9e4bff839147d7" Type="http://schemas.openxmlformats.org/officeDocument/2006/relationships/notesSlide" Target="../notesSlides/notesSlide5.xml"/><Relationship Id="Ree168a48054a47c4"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0139d309b86a42f9" Type="http://schemas.openxmlformats.org/officeDocument/2006/relationships/slideLayout" Target="../slideLayouts/slideLayout1.xml"/><Relationship Id="Rc13c5b795fec4c49" Type="http://schemas.openxmlformats.org/officeDocument/2006/relationships/notesSlide" Target="../notesSlides/notesSlide6.xml"/><Relationship Id="Rc382a912f15544a8" Type="http://schemas.openxmlformats.org/officeDocument/2006/relationships/image" Target="../media/image5.png"/><Relationship Id="Rd188bf943b454c22" Type="http://schemas.openxmlformats.org/officeDocument/2006/relationships/image" Target="../media/image3.png"/><Relationship Id="Rf96316b55e144a25" Type="http://schemas.openxmlformats.org/officeDocument/2006/relationships/image" Target="../media/image4.png"/></Relationships>
</file>

<file path=ppt/slides/_rels/slide7.xml.rels><?xml version='1.0' encoding='UTF-8' standalone='yes'?>
<Relationships xmlns="http://schemas.openxmlformats.org/package/2006/relationships"><Relationship Id="R0139d309b86a42f9" Type="http://schemas.openxmlformats.org/officeDocument/2006/relationships/slideLayout" Target="../slideLayouts/slideLayout1.xml"/><Relationship Id="Rc382a912f15544a8" Type="http://schemas.openxmlformats.org/officeDocument/2006/relationships/image" Target="../media/image5.png"/><Relationship Id="Rd188bf943b454c22" Type="http://schemas.openxmlformats.org/officeDocument/2006/relationships/image" Target="../media/image3.png"/><Relationship Id="Rf96316b55e144a25" Type="http://schemas.openxmlformats.org/officeDocument/2006/relationships/image" Target="../media/image4.png"/><Relationship Id="rId5" Type="http://schemas.openxmlformats.org/officeDocument/2006/relationships/notesSlide" Target="../notesSlides/notesSlide27.xml"/></Relationships>
</file>

<file path=ppt/slides/_rels/slide8.xml.rels><?xml version='1.0' encoding='UTF-8' standalone='yes'?>
<Relationships xmlns="http://schemas.openxmlformats.org/package/2006/relationships"><Relationship Id="R16535ddee8df4731" Type="http://schemas.openxmlformats.org/officeDocument/2006/relationships/slideLayout" Target="../slideLayouts/slideLayout1.xml"/><Relationship Id="R7bc233cac8d64e6a"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9482716829964fae" Type="http://schemas.openxmlformats.org/officeDocument/2006/relationships/notesSlide" Target="../notesSlides/notesSlide8.xml"/><Relationship Id="Re870b8b7b8be479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76be7cf372c14c7c" Type="http://schemas.openxmlformats.org/officeDocument/2006/relationships/notesSlide" Target="../notesSlides/notesSlide9.xml"/><Relationship Id="R986ee9c211cd4bc5"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4cdbaa5bd77f4463" Type="http://schemas.openxmlformats.org/officeDocument/2006/relationships/slideLayout" Target="../slideLayouts/slideLayout1.xml"/><Relationship Id="Ra1b0e53605774d0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5884e92801fc4e80" Type="http://schemas.openxmlformats.org/officeDocument/2006/relationships/notesSlide" Target="../notesSlides/notesSlide18.xml"/><Relationship Id="R6beff98299a1454b"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44e180e7df254b9e" Type="http://schemas.openxmlformats.org/officeDocument/2006/relationships/slideLayout" Target="../slideLayouts/slideLayout1.xml"/><Relationship Id="Rbd4fbc2be7594b20"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38c40de2551f4400" Type="http://schemas.openxmlformats.org/officeDocument/2006/relationships/notesSlide" Target="../notesSlides/notesSlide12.xml"/><Relationship Id="R8cc4d7312e8c47f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09a48e264f244dd3" Type="http://schemas.openxmlformats.org/officeDocument/2006/relationships/slideLayout" Target="../slideLayouts/slideLayout1.xml"/><Relationship Id="Radd416f7348c4129"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471dc3602b5c4bfe" Type="http://schemas.openxmlformats.org/officeDocument/2006/relationships/slideLayout" Target="../slideLayouts/slideLayout1.xml"/><Relationship Id="Re8d9b87508984cf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1a35de793e2946f2" Type="http://schemas.openxmlformats.org/officeDocument/2006/relationships/notesSlide" Target="../notesSlides/notesSlide15.xml"/><Relationship Id="R2d0a3a6297de4b9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6643ab7ce3864161" Type="http://schemas.openxmlformats.org/officeDocument/2006/relationships/notesSlide" Target="../notesSlides/notesSlide17.xml"/><Relationship Id="R9f467c4a9eb2481d"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3e3a10034c264630" Type="http://schemas.openxmlformats.org/officeDocument/2006/relationships/slideLayout" Target="../slideLayouts/slideLayout1.xml"/><Relationship Id="Re5c415eaa8144a85"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6383becbe0364472" Type="http://schemas.openxmlformats.org/officeDocument/2006/relationships/slideLayout" Target="../slideLayouts/slideLayout1.xml"/><Relationship Id="R662a917898a74379"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6ce0f95b4a0e4515" Type="http://schemas.openxmlformats.org/officeDocument/2006/relationships/slideLayout" Target="../slideLayouts/slideLayout1.xml"/><Relationship Id="Rd1260cb246cc4c0c"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bdf28f1bbfa54624" Type="http://schemas.openxmlformats.org/officeDocument/2006/relationships/notesSlide" Target="../notesSlides/notesSlide20.xml"/><Relationship Id="Rc3f4fdd9193f43e2"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0a60c2d5663b44e1" Type="http://schemas.openxmlformats.org/officeDocument/2006/relationships/slideLayout" Target="../slideLayouts/slideLayout1.xml"/><Relationship Id="R2ade3001728645de"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46944b22458b43c7" Type="http://schemas.openxmlformats.org/officeDocument/2006/relationships/notesSlide" Target="../notesSlides/notesSlide24.xml"/><Relationship Id="Rbb9073f2fa694137"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68a65b4f3ae24d79" Type="http://schemas.openxmlformats.org/officeDocument/2006/relationships/slideLayout" Target="../slideLayouts/slideLayout1.xml"/><Relationship Id="Recbfbce180cc456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755b303a4c6448b7" Type="http://schemas.openxmlformats.org/officeDocument/2006/relationships/slideLayout" Target="../slideLayouts/slideLayout1.xml"/><Relationship Id="Rbfee4ed8e2364514"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015795aefe7f4d8a" Type="http://schemas.openxmlformats.org/officeDocument/2006/relationships/slideLayout" Target="../slideLayouts/slideLayout1.xml"/><Relationship Id="R900fed419a8245f9" Type="http://schemas.openxmlformats.org/officeDocument/2006/relationships/notesSlide" Target="../notesSlides/notesSlide26.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 Because no unit can be separated from the ground, existence neither begins nor ends.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configurations but never exceeds the order of its constituents,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the four harmonies, and why the higher three are reached only through performed action: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cf6635e90225442b"/>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transparent, permeating, non-transforming, immeasurable — actionless energy. Transparence, permeability, and pervasiveness together evidence it as one indivisible reality. It acts not at all, yet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pp. 46,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holds because the pervasive reality is permeating: however often a unit is divided, every fragment stays soaked, submerged, and surrounded. No division leaves a remainder outside the ground — so no unit can be annihilated, and saturation is a condition, never an event.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d188bf943b454c2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 → forcefulness</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Being soaked is forcefulness itself. The unit is the bearer of definite relative power; read on the force side, the same bond is what the texts call basic impulsion.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96316b55e144a2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 → energy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Energy-fullness: the pervasive reality is on every side, so the unit is never devoid of the energy evident in its activity. “Unit-ness (ikaitva) + energy-fullness = activeness,” and activity is always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382a912f15544a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 →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Surroundedness is what establishes regulation: units are held at definite distance from one another by the formless reality standing between them. Law follows from this, not from an external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Recognition and participation in orderliness follow from the same bond — an ontological entailment, not a measurable transfer mechanism; no unit is thereby destined for T1. — SB pp. 46, 57, 79, 243; MVD pp.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existent becomes non-existent, and nothing arises from non-being. Because no unit can be separated from what it is saturated in, what changes is composition and association — never existence itself.</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d188bf943b454c2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96316b55e144a2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nature saturated in it. It initiates no particular change — composition, decomposition, and conduct are the work of units. The ground is no creator and no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382a912f15544a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SB pp. 57, 70; MVD p. 40  ·  Study §§1.2, 1.14; full treatment of kaal in Nature of Time</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Its expression is definite in material, bio, and animal orders; human evaluation may err under body-identification.</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established, and civic (shishta). Object values are two — utility and art — so the same list is counted as six types: utility, art, jeevan, human, established, and 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 values arise as relationships are fulfilled; civic values express them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Nature saturated in state-complete Omnipresence is oriented toward development and awakening until realisation — the completeness drive. It proceeds along two distinct lines. Compositional progression joins particles, atoms, molecules, cells, and bodies into larger configurations. Development in an atom can reach constitutional completeness as jeevan. Across both, activity is one triad: effort, motion,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WHY COMPOSITION IS NOT DEVELOPMENT</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Composition Never Exceeds Its Constituents</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There is a natural inclination toward coexistence: particles assemble into atoms, atoms into molecules, molecules into cells and bodies. But whatever a thing is constituted of, it remains of the order of that constituent — however vast the formation.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Objects made from soil remain soil; a body built from pranic cells remains of the order of the pranic cell; the Earth entire is of the order of its atoms, molecules, and cells. Change of composition is development or decline within an order, never passage beyond it.</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&amp;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T1 · completeness</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However far composition goes, it stays within its constituents’ order. Constitutional completeness is reached only in the atom (§1.6).</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14, 260, 262, 264–265  ·  MVD p. 42 (mixture &amp; compound)  ·  JV p. 67 (inclination toward coexistence)</a:t>
            </a:r>
          </a:p>
        </p:txBody>
      </p:sp>
    </p:spTree>
    <p:extLst>
      <p:ext uri="{BB962C8B-B14F-4D97-AF65-F5344CB8AC3E}">
        <p14:creationId xmlns:p14="http://schemas.microsoft.com/office/powerpoint/2010/main" val="21364850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§1.9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(§1.5)</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 (§1.9.1)</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how the drive proceeds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One drive, described four ways. Orders say what kind of thing a unit is; progressions say how the drive moves; planes say how far it has come; human types say how a human life is oriented. T1 separates physicochemical from sentient standing; T2 and T3 are completeness within awakened jeevan —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§1.6, §§1.9.1–1.9.2  ·  Conceptual map, classification key  ·  MVD pp. 5, 8  ·  SB pp. 50–51</a:t>
            </a:r>
          </a:p>
        </p:txBody>
      </p:sp>
    </p:spTree>
    <p:extLst>
      <p:ext uri="{BB962C8B-B14F-4D97-AF65-F5344CB8AC3E}">
        <p14:creationId xmlns:p14="http://schemas.microsoft.com/office/powerpoint/2010/main" val="1131895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t>
            </a:r>
            <a:r>
              <a:rPr sz="1250" b="0" i="0" u="none" cap="none">
                <a:solidFill>
                  <a:srgbClr val="5A6377"/>
                </a:solidFill>
                <a:latin typeface="Calibri"/>
                <a:ea typeface="Calibri"/>
                <a:cs typeface="Calibri"/>
              </a:rPr>
              <a:t>A constitution-oriented developing atom</a:t>
            </a:r>
            <a:r>
              <a:rPr sz="1250" b="0" i="0" u="none" cap="none">
                <a:solidFill>
                  <a:srgbClr val="5A6377"/>
                </a:solidFill>
                <a:latin typeface="Calibri"/>
                <a:ea typeface="Calibri"/>
                <a:cs typeface="Calibri"/>
              </a:rPr>
              <a:t> takes in particles — hungry atoms and overfull atoms completing each other — within a suitable environment; </a:t>
            </a:r>
            <a:r>
              <a:rPr sz="1250" b="0" i="0" u="none" cap="none">
                <a:solidFill>
                  <a:srgbClr val="5A6377"/>
                </a:solidFill>
                <a:latin typeface="Calibri"/>
                <a:ea typeface="Calibri"/>
                <a:cs typeface="Calibri"/>
              </a:rPr>
              <a:t>once the required particles are in place, it closes. This is an ontological account; no accepted empirical procedure currently identifies the threshold.</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Qualitative change comes only with quantitative change: atomic kind and capacity track particle number</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the constitution is closed, so qualitative activity continues while particles no longer change — and that separation is the criterion. The closed constitution is also MD’s ground for jeevan continuing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also describes later association with another body; no accepted procedure measures this (§6.2).  ·  SB pp. 52, 55, 59, 80–81, 86, 92  ·  MVD pp. 8, 91, 117</a:t>
            </a:r>
          </a:p>
        </p:txBody>
      </p:sp>
    </p:spTree>
    <p:extLst>
      <p:ext uri="{BB962C8B-B14F-4D97-AF65-F5344CB8AC3E}">
        <p14:creationId xmlns:p14="http://schemas.microsoft.com/office/powerpoint/2010/main" val="21413563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All four are what the knowledge order seeks — and only the first is reached by sensory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An animal jeevan, limited by its bodily medium, acts for sensory satisfaction and reaches only the first harmony. Human jeevan has a body that can express all ten — yet by default it evaluates on the same sensory criteria.</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Peace, contentment, and bliss are not reached by preference or insight alone — they require the higher faculties recognised, studied, and acted on (§1.7.1).</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WHY KNOWING IS NOT ENOUGH</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Below the human order fulfilment is definite and needs no deciding. In animal living, jeevan acts for sensory satisfaction under species-conformance; peace, contentment, and bliss are not in view. In human living the higher harmonies must be reached — and study alone does not reach them. Book knowledge is half the work; the other half is conduct that fulfils relationships.</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pp. 1–2  ·  Study §1.7.1</a:t>
            </a:r>
          </a:p>
        </p:txBody>
      </p:sp>
    </p:spTree>
    <p:extLst>
      <p:ext uri="{BB962C8B-B14F-4D97-AF65-F5344CB8AC3E}">
        <p14:creationId xmlns:p14="http://schemas.microsoft.com/office/powerpoint/2010/main" val="29346030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Regulation is what surroundedness establishes: units are held at definite distance by the formless reality standing between them. Omnipresence issues no commands, yet each unit stays regulated through its own mediative organisation. </a:t>
            </a:r>
            <a:r>
              <a:rPr sz="1250" b="1" i="0" u="none" cap="none">
                <a:solidFill>
                  <a:srgbClr val="1E2447"/>
                </a:solidFill>
                <a:latin typeface="Calibri"/>
                <a:ea typeface="Calibri"/>
                <a:cs typeface="Calibri"/>
              </a:rPr>
              <a:t>This mediative (madhyasth) role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(achieved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862"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864"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 SB p. 81 (realisation and authenticity)  ·  SB p. 116; MVD p. 126 (threefold knowledge)  ·  KD §§3.17–3.18 (knowledge, knower, known)</a:t>
            </a:r>
          </a:p>
        </p:txBody>
      </p:sp>
    </p:spTree>
    <p:extLst>
      <p:ext uri="{BB962C8B-B14F-4D97-AF65-F5344CB8AC3E}">
        <p14:creationId xmlns:p14="http://schemas.microsoft.com/office/powerpoint/2010/main" val="426036076"/>
      </p:ext>
    </p:extLst>
  </p:cSld>
</p:sld>
</file>

<file path=ppt/slides/slide25.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as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  ·  Families and societies are relational achievements, not a further compositional tier (§1.10).</a:t>
            </a:r>
          </a:p>
        </p:txBody>
      </p:sp>
    </p:spTree>
    <p:extLst>
      <p:ext uri="{BB962C8B-B14F-4D97-AF65-F5344CB8AC3E}">
        <p14:creationId xmlns:p14="http://schemas.microsoft.com/office/powerpoint/2010/main" val="22285468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T1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procedure currently identifies T1,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2026-07-23T03:08:05.8890000Z</dcterms:created>
  <dcterms:modified xsi:type="dcterms:W3CDTF">2026-07-23T03:08:05.8890000Z</dcterms:modified>
</coreProperties>
</file>