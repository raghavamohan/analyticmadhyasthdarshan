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6" r:id="rId26"/>
    <p:sldId id="272" r:id="rId22"/>
    <p:sldId id="273" r:id="rId23"/>
    <p:sldId id="274" r:id="rId24"/>
    <p:sldId id="275" r:id="rId25"/>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C92A692-798E-4634-90B1-36CD3966BFCB}">
  <a:tblStyle styleId="{6C92A692-798E-4634-90B1-36CD3966BFC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5" Type="http://schemas.openxmlformats.org/officeDocument/2006/relationships/slide" Target="slides/slide20.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 Id="rId26" Type="http://schemas.openxmlformats.org/officeDocument/2006/relationships/slide" Target="slides/slide21.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This deck presents the ontology of existence as stated in Madhyasth Darshan, following Section 1 of the study The Ontology of Coexistence. The study is written from a scientist-technologist standpoint, but the darshan is stated on its own terms first. Core claim to land up front: existence is not matter alone, and not one undifferentiated absolute - it is the ever-present togetherness of Omnipotence and countless real units of nature, each saturated in that ground. Everything else in the deck unfolds from this one picture.</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 name="Google Shape;32;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stakes before the answers. The first five questions are the classic ontological battleground - shared with Advaita Vedanta, Western philosophy, and modern science. The sixth is the epistemic question the study also frames: how can what exists be known, and at what scope? Emphasise that Madhyasth Darshan does not answer these piecemeal: one picture (coexistence) answers all six. The epistemic question gets its payoff mid-deck - the epistemic ladder (what must be understood, from the unit alone up to the whole, to know form, gun, svabhav, and dharma), then realisation in coexistence as where the drive terminates - and the closing slide answers it with the staged method: study, experiment and practice, realisation with conduct-evidence. Flag that we will close the loop at the end.</a:t>
            </a:r>
            <a:endParaRPr/>
          </a:p>
        </p:txBody>
      </p:sp>
      <p:sp>
        <p:nvSpPr>
          <p:cNvPr id="33" name="Google Shape;33;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 name="Google Shape;6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two-pole structure is the foundation. Key points: Omnipotence is formless, all-pervasive, non-transforming, actionless energy - the translation prints Omnipotence, the study uses Omnipotence. SB lists several names for it (Uniform Energy, Space, Knowledge, Consciousness); caution the audience that Consciousness and Knowledge here do NOT mean a mind that knows - active sentience belongs to jeevan, not to the ground. Second key point: the poles were never separate - separation 'never happens'. Ground is state-complete (state-complete, changeless); saturated nature is state-dynamic (state-dynamic) - so ALL change is unit-activity. The diagram: units are bounded wholes; the distance between them is held in Omnipotence as Space.</a:t>
            </a:r>
            <a:endParaRPr/>
          </a:p>
        </p:txBody>
      </p:sp>
      <p:sp>
        <p:nvSpPr>
          <p:cNvPr id="62" name="Google Shape;6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Saturation (samprikt) is the ever-present bond - soaked, submerged, surrounded. The sponge-in-water and cell-in-nutrient images are illustrative, not identities. Stress that Omnipotence does not push units: it is not an efficient cause. Three endowments follow from the bond: recognition capability (complementarity is given, not created - capacity, ability, receptivity), activeness (inherent energy plus basic impulsion; quote 'Unit + Energy fullness = Activeness'), and inherent regulation (order comes from within, not from a cosmic command). Also worth saying aloud: manifestation is mutually dependent - without basic impulsion energy stays unmanifest; without energy no impulsion. Neither pole creates the other's existence, only its manifestation. NEW: the saturation bond itself is knowledge - samprikt, coexistence, and gyan name one fact (MVD pp. 32-33); the three endowments are how gyan is present on the unit side. Attribute mapping: permeative Omnipotence provisions activeness (JV p. 150); transparency in mutuality provisions recognition (SB p. 50); mediativeness provisions regulation (MVD p. 26). INTERPRETATION (settled): in MVD pp. 32-33 the referent of 'yahi... yahi gyan hai' is the saturated STATE - nature submerged, soaked, surrounded in Omnipotence, which the text names coexistence - not a reified 'bond' as a third item. The slide uses the texts' evidence language ('is evident as' - MVD: law and regulation are evident in coexistence only; JV p. 150: the endowments are the testimony of permeative Omnipotence). Avoid 'projects' for the ground - Omnipotence is actionless, and projection (outward) is jeevan's outward activity on slides 11 and 16; avoid predicating reflection of the ground too - the reflector model has the ATOM reflecting Omnipotence (slide 10). the identity claim itself - saturated coexistence IS knowledge, MVD pp. 32-33 - stays as presenter background and in the paper 1.2. If pressed, avoid 'the bond itself is knowledge'. It is an identity claim about the state, plus a separate consequence: from it, every unit has the three endowments. The knowledge identity holds for insentient AND sentient nature (MVD pp. 32-33) - insentient units abide in gyan as the three endowments (law and regulation evident, without knowing); the sentient atom ALONE additionally reflects the ground as active sentience - the capacity to know (the reflector model, slide 10; permeative gyan latent in Omnipotence actualised as chaitanya at T1). Careful wording: Omnipotence does not project - it is actionless; the unit reflects what is ever-present in the ground. What is exclusive to the sentient atom is the reflection of gyan as sentience, not the ground itself - every atom is saturated in and sustained by Omnipotence.</a:t>
            </a:r>
            <a:endParaRPr/>
          </a:p>
        </p:txBody>
      </p:sp>
      <p:sp>
        <p:nvSpPr>
          <p:cNvPr id="92" name="Google Shape;92;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unit at every order carries the same four-aspect signature. Walk the grid: form individuates; properties are effects in mutuality (generative, degenerative, mediative); essential nature is how usefulness participates in the unit's order; dharma is what a unit cannot be separated from - and since existence is coexistence, indestructibility is the ultimate dharma. Introduce 'ness' - what makes a unit the kind of unit it is. The state band matters for everything later: natural state moves to development, excited state to decline. Concrete anchor if useful: JV's peepal tree, whose fruits, seeds and leaves all exhibit peepal's properties, intrinsic nature and dharma - definite conduct. Context ladder worth noting: form is graspable from the unit alone; gun needs mutuality; svabhav needs the unit's order; dharma needs the whole - JV: 'dharma is understood on the basis of orderliness' (pp. 120-121), and the ultimate dharma follows from existence being coexistence.</a:t>
            </a:r>
            <a:endParaRPr/>
          </a:p>
        </p:txBody>
      </p:sp>
      <p:sp>
        <p:nvSpPr>
          <p:cNvPr id="119" name="Google Shape;11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 name="Google Shape;15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'Nothing is isolated - that is the principle.' Relationships are where complementarity is actualised as value. Draw the contrast carefully: a relationship  has expectations predetermined toward completeness (parent-child); a contact has voluntary expectations (neighbours sharing a wall). Translation note if asked: the published rendering of sampark is 'association'; the translator (Rakesh Gupta) has revised it to 'contact', which the slide uses - cite against either printing accordingly. The neighbours-sharing-a-wall example is the study's illustrative gloss, not primary text. Value  is differentiated: object values (utility and art) operate at every order; jeevan harmonies, human values, relationship values and expression values presuppose the knowledge order. The chain at the bottom is the crucial asymmetry: below the knowledge order, fulfilment is definite (structural, seed, species conformance); humans must ACHIEVE it through knowing, believing, recognising, fulfilling - which is why evaluation and error enter only at our order.</a:t>
            </a:r>
            <a:endParaRPr/>
          </a:p>
        </p:txBody>
      </p:sp>
      <p:sp>
        <p:nvSpPr>
          <p:cNvPr id="156" name="Google Shape;15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 name="Google Shape;18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stable orders - stress these are plateaus in development, not a human typology. Read the dharma column cumulatively: each higher order includes the dharmas below and adds one. The pivotal line is the boundary between pran and jeev: hope to live  is where sentience enters - hope is the defining activity of the sentient unit, expressed through mun. Material and pranic orders are insentient; jeevan first appears at the animal order. The knowledge order's six svabhav qualities (fortitude through compassion) are developed as human values. If asked about how orders emerge: that is existential progression, covered on the progressions slide.</a:t>
            </a:r>
            <a:endParaRPr/>
          </a:p>
        </p:txBody>
      </p:sp>
      <p:sp>
        <p:nvSpPr>
          <p:cNvPr id="187" name="Google Shape;18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 name="Google Shape;20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completeness drive is built into the design of existence, not an ethic bolted onto matter. Every activity is one inseparable triad - effort, motion, result are three joint aspects, not three sequential steps. Example from SB: sodium and chlorine ions approaching is effort and motion together; the stable salt crystal is the result. Read SB p. 62's compressed chain aloud if time allows - saturation itself is forcefulness, forcefulness is basic impulsion, impulsion is activity, activity is effort-motion-result, and that is development. Each triad term has a teleological goal (restfulness, destination, immortality), and the two atomic paths on the right set up the next slide: the insentient path completes result at T1; the sentient path continues to T2 and T3. NEW: state the drive's span with SB p. 51 - nature is oriented for development and awakening UNTIL realisation in Omnipotence; SB p. 91 calls this bound an existential truth. Role differentiation: development pervades all of nature, awakening occurs in the sentient - insentient units participate by composing bodies and environments without individually completing the drive.</a:t>
            </a:r>
            <a:endParaRPr/>
          </a:p>
        </p:txBody>
      </p:sp>
      <p:sp>
        <p:nvSpPr>
          <p:cNvPr id="201" name="Google Shape;20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 name="Google Shape;22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three transitions are developmental milestones mapped to plane shifts. T1: constitutional completeness - immortality of result - sentient jeevan appears; physicochemical to delusional. T2: activity completeness - restfulness of effort - internal cognitive seeking resolves into direct realisation and absolute resolution; delusional to deific. T3: conduct completeness - destination of motion - authentic conduct with living proof; deific to divine. Two cautions from the study: 'delusional' names a developmental stage, not psychiatric illness; and T2's vishram (settlement of internal effort) must not be conflated with the insentient natural-state ease from the unit slide, nor T3 collapsed into T2 - one is internal settlement, the other external destination. NEW: T3 Hindi term corrected to acharanpurnata (both MVD and SB use aacharan purnata; vyavahar purnata appears in neither). Close with the drive statement: the saturated realising the ground it is saturated in - that is the completeness drive.</a:t>
            </a:r>
            <a:endParaRPr/>
          </a:p>
        </p:txBody>
      </p:sp>
      <p:sp>
        <p:nvSpPr>
          <p:cNvPr id="224" name="Google Shape;22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 name="Google Shape;261;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T1 deserves its own slide because it is the sentience threshold - and it is constitutional, not neural complexity, molecular size, or position on the order chain. Molecules exhibit characteristics of development but not actual development. Mechanism: particle incorporation through hungry and overfull complementarity within a conducive environment; when the required particles integrate, the constitution closes. The bondage shift is the textual evidence (MVD p. 91): molecular-bondage and weight-bondage are released; hope-bondage defines the sentient mode. After T1: no change in particle count - qualitative change without quantitative change. Close with latency: the complete atom acts as a mediating reflector configuration - sentience is what was ever-present in Omnipotence, actualised - which becomes important in the comparison deck against emergence objections. NEW: T1 changes the drive's mode, not its direction - hope-bondage carries the same orientation. Epistemic upgrade: taste-recognition, impossible in insentient nature, first manifests in sentient nature (SB pp. 80-81) - recognition acquires the inner circuit of strengths and powers, the condition for knowing-believing-recognising-fulfilling at the knowledge order.</a:t>
            </a:r>
            <a:endParaRPr/>
          </a:p>
        </p:txBody>
      </p:sp>
      <p:sp>
        <p:nvSpPr>
          <p:cNvPr id="262" name="Google Shape;262;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 name="Google Shape;28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Jeevan's structure: atma is the nucleus; buddhi, chitta, vritti, mun are particles in the first through fourth orbits - this is MVD p. 78, and the study insists it is structural, not metaphor. Each faculty works through projection (outward) and reflection (inward) - walk one or two rows of the table, e.g. mun selects and tastes; buddhi resolves and is enlightened; atma authenticates and realises. Two cautions: this five-fold (faculties) must NOT be conflated with the kosha five-fold (developmental sheaths) - they do not align column-to-column. And the delusion structure: on the delusional plane atma is 'I' and the orbital four are 'mine'; awakening is the four coming into accordance with atma. Mistaking the body for the self is the root confusion. NEW: directional reading of the table - reflection (inward) is the knowing direction, the study circuit ratiocination in mun, deliberation in vritti, direct recognition in chitta, enlightenment in buddhi (MVD p. 126), terminating in anubhav in Omnipotence (MVD pp. 286-287); projection (outward) is the evidencing direction, the cascade from anubhav to pramanikta (MVD pp. 99-100). Delusional inversion: circuit driven body-upward, only 4.5 of ten activities effective, believing severed from knowing (JV pp. 73-74). Awakening staged by three statuses of buddhi: chitta-driven, buddhi-driven, atma-disciplined (MVD pp. 278-279).</a:t>
            </a:r>
            <a:endParaRPr/>
          </a:p>
        </p:txBody>
      </p:sp>
      <p:sp>
        <p:nvSpPr>
          <p:cNvPr id="282" name="Google Shape;28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jeevan values are not moods; they are names of harmony between faculty pairs - JV p. 138. Happiness: mun-vritti; peace: vritti-chitta; contentment: chitta-buddhi; bliss: buddhi-atma. Awakening is therefore FELT harmony, not just a plane label. Inward regulation - mediative atma at the nucleus disciplining the orbital faculties and the body - is the mechanism; note the study's point that the mediative nucleus at the atomic level and atma at the sentient centre are the same structural role at two scales, not mere analogy. The dark band carries the strong claim: jeevan persists across bodily birth and death, carrying impressions and its state of awakening. Be transparent: this is an ontological commitment of the darshan; its evidential status is examined in the comparison deck.</a:t>
            </a:r>
            <a:endParaRPr/>
          </a:p>
        </p:txBody>
      </p:sp>
      <p:sp>
        <p:nvSpPr>
          <p:cNvPr id="306" name="Google Shape;306;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3" name="Google Shape;34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coordinates that must not be collapsed. Progressions are how nature moves - four words the texts refuse to merge: existential progression (fixed order emergence on Earth), way of existence (definiteness of each order's conduct), development progression (atomic development up to T1), awakening progression (awakening within jeevan). Planes are where a unit currently stands. The mapping table shows the asymmetry: two orders share the physicochemical plane, while the knowledge order spans three planes - which is exactly why order and plane cannot be used interchangeably. The junction point is elegant: the order chain delivers the animal BODY from enriched pranic life, while atomic development delivers the jeevan atom; an animal is their joint presence. Five human types (servile to divya-manav) mark degrees of awakening.</a:t>
            </a:r>
            <a:endParaRPr/>
          </a:p>
        </p:txBody>
      </p:sp>
      <p:sp>
        <p:nvSpPr>
          <p:cNvPr id="344" name="Google Shape;344;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1" name="Google Shape;37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1" name="Google Shape;40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explains the darshan's name. Orderliness is self-regulation - swatah-saspurt - inherent in saturated units, not dispensed by a cosmic governor; MVD p. 26: Omnipotence is mediative, therefore nature saturated in it is regulated and conserved; the nucleus in every atom is the mediative activity. Regulation manifests as law through order-specific conformance modes - definite for the first three orders, achieved for humans through the knowing-believing-recognising-fulfilling chain. Justice enters only where evaluation and error are possible: it is the closure of the full relational cycle - recognise, fulfil values, evaluate, mutual satisfaction (MVD p. 311). Awakened evaluation reorganises refuge under justice, dharma and truth; the lower triad (pleasant, healthy, profitable) stays legitimate in its domain but is subordinated, not abandoned.</a:t>
            </a:r>
            <a:endParaRPr/>
          </a:p>
        </p:txBody>
      </p:sp>
      <p:sp>
        <p:nvSpPr>
          <p:cNvPr id="402" name="Google Shape;40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6" name="Google Shape;416;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ladders on this slide, and they meet. LEFT - the scope ladder: what must be understood to know each aspect of a unit. Read bottom-up: form is graspable from the unit alone; properties (gun) need mutuality (they are defined as effects units have on one another); essential nature (svabhav) needs the unit's order; dharma needs the whole - JV: dharma is understood on the basis of orderliness, and the ultimate dharma (indestructibility) follows from a whole-level fact, that existence is coexistence. Note the design choice if anyone compares with the jeevan atom diagram: there, inward means deeper (atma at the nucleus); here, HIGHER means wider context needed - dharma on the top rung is not far from the unit, it is the aspect whose understanding demands the widest horizon. RIGHT - how that knowing actually happens, within jeevan, ascending the faculties by reflection (inward): mun tastes and selects the proposal; vritti deliberates - in humane consciousness, in the refuge of justice, dharma, and truth (JV pp. 138-139); chitta contemplates and visualises - revelation, sakshatkar (JV p. 61); buddhi has enlightenment  - understanding is enlightenment of existence, jeevan, and humane conduct in buddhi (JV p. 120) - and resolve; atma realises - anubhav - and realisation takes place only through truth (MVD p. 137). Then the return arrow: realisation projects back down (outward) as authenticity - pramanikta - evidenced in conduct; MVD p. 101 describes the effects of atma realised in truth registering on the lower faculties. Where the ladders meet: the widest scopes - dharma and truth - are understood as bodh in buddhi and realised as anubhav in atma. The wider the scope of reality to be known, the deeper within jeevan the knowing must go.</a:t>
            </a:r>
            <a:endParaRPr/>
          </a:p>
        </p:txBody>
      </p:sp>
      <p:sp>
        <p:nvSpPr>
          <p:cNvPr id="417" name="Google Shape;417;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 name="Google Shape;45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telos slide - where the completeness drive terminates. The paper's 1.13 is Realisation in coexistence; the former four-senses taxonomy has been removed from the study - the vocabulary discipline now lives in Editorial Notes and the glossary (gyan names intelligibility in Omnipotence, the saturation bond - not a mind that knows; Realisation Knowledge for orderliness in every unit, 1.1; gyan udghatan for unfolding through awakened jeevan, 1.7; gyan-avastha for the fourth order, 1.5). Walk the slide: intro states the termination - not Omnipotence becoming a knower, but awakened jeevan enacting what was latent in the bond; realisation itself is the form of awakening, and recognition and fulfilment then constitute authenticity (SB p. 81). Card 1: realisation is anand - verity chain, MVD pp. 14-15 - and knowledge itself, since what is realised is the ground the unit was always saturated in. Cards 2-4: the AVD p. 217 identity - knowledge in projection (authenticity: gyan-vivek-vigyan, unfolding as gyan udghatan), knower in reflection (jeevan full of realisation; buddhi's reflection toward atma yields atma-bodh and realisation in coexistence together, MVD pp. 286-287), knowable as existence (nature saturated in Omnipotence). Guardrail: uniformity of knowledge, knower, and knowable in coexistence names coordinated roles in one bond - NOT merger into a universal knower; the knower remains distinct jeevan. This is the hinge against the Advaita chit reading (paper 5.6).</a:t>
            </a:r>
            <a:endParaRPr/>
          </a:p>
        </p:txBody>
      </p:sp>
      <p:sp>
        <p:nvSpPr>
          <p:cNvPr id="453" name="Google Shape;45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6" name="Google Shape;47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distinct conservation claims - keep them separate. Coexistence conservation: nothing arises from non-being (abhava), nothing is annihilated; only configurations change - jagat satat, the world is perpetual. Jeevan persistence: a further claim resting on constitutional completeness and immunity to decomposition. At the human scale the completeness drive becomes four societal goals: resolution, prosperity, fearlessness, coexistence - JV p. 61 links them to the internal values: resolution IS happiness realised, prosperity in family is peace, orderly living in society is contentment, evidencing understanding is bliss. Note the contrast: animal collectivity arises primarily from fear; human sociality builds on resolution and trust. These compose upward to undivided society and universal orderliness across five dimensions - education-character, justice-preservation, health-restraint, production-work, exchange-storage. NEW: close on continuity - the five dimensions sustained across generations as humane tradition, the continuity in which the drive's societal evidence goes on.</a:t>
            </a:r>
            <a:endParaRPr/>
          </a:p>
        </p:txBody>
      </p:sp>
      <p:sp>
        <p:nvSpPr>
          <p:cNvPr id="477" name="Google Shape;47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6" name="Google Shape;506;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culmination slide - give it time and let it land. The drive that opened on slide 8 in every atom ends here, in people. Effort settled in realisation is T2 (restfulness of effort, anubhav); understanding proven in daily conduct is T3. The four goals land at their four levels: resolution in every person, prosperity in every family (samriddhi), fearlessness and trust in society (abhay), coexistence with all of nature (sah-astitva). An undivided society  in universal orderliness is their composed form. Tradition: each generation raised into the same understanding through education-sanskar - the humane tradition  that carries on. Highlight the design point: this is not an ideal bolted onto matter - the ontology is such that the progression is designed to arrive here. Development is definite, laws inherent to being (MVD p. 5); the three completenesses are designed stages toward which units are meant (SB pp. 50-52); the drive is built into the design of existence (paper 1.6); nature saturated in Omnipotence is bound for development until realisation in Omnipotence (SB pp. 51, 91). An awakened human tradition is what existence's own progression delivers. Close the arc: what is saturated in the ground has come to realise the ground, and the whole of nature stands fulfilled and evident in coexistence (SB pp. 51, 81; JV p. 61; MVD pp. 14-15).</a:t>
            </a:r>
            <a:endParaRPr/>
          </a:p>
        </p:txBody>
      </p:sp>
      <p:sp>
        <p:nvSpPr>
          <p:cNvPr id="507" name="Google Shape;507;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loop on the opening questions. Existence is the eternal coexistence of Omnipotence and units; what exists is Omnipotence plus countable units; nothing existent begins - only configurations; jeevan is constitutionally immortal and does not end with the body; the world is real and perpetual; and it is known through staged study, experiment and practice, and realisation with conduct-evidence - with the epistemic ladder adding the scope answer: form known from the unit alone, properties in mutuality, essential nature in its order, dharma against the whole, truth on the basis of existence itself. Land the final line: the darshan's ultimate test is not intellectual assent but pramanikta - lived evidence in humane conduct. If continuing to the companion deck: the next session compares this ontology with Advaita Vedanta, modern philosophy, and modern science - including where each alliance falls and what remains open.</a:t>
            </a:r>
            <a:endParaRPr/>
          </a:p>
        </p:txBody>
      </p:sp>
      <p:sp>
        <p:nvSpPr>
          <p:cNvPr id="526" name="Google Shape;52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6.png"/></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447"/>
        </a:solidFill>
      </p:bgPr>
    </p:bg>
    <p:spTree>
      <p:nvGrpSpPr>
        <p:cNvPr id="15" name="Shape 15"/>
        <p:cNvGrpSpPr/>
        <p:nvPr/>
      </p:nvGrpSpPr>
      <p:grpSpPr>
        <a:xfrm>
          <a:off x="0" y="0"/>
          <a:ext cx="0" cy="0"/>
          <a:chOff x="0" y="0"/>
          <a:chExt cx="0" cy="0"/>
        </a:xfrm>
      </p:grpSpPr>
      <p:sp>
        <p:nvSpPr>
          <p:cNvPr id="16" name="Google Shape;16;p3"/>
          <p:cNvSpPr/>
          <p:nvPr/>
        </p:nvSpPr>
        <p:spPr>
          <a:xfrm>
            <a:off x="5852160" y="822960"/>
            <a:ext cx="3291840" cy="329184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6510528" y="1481328"/>
            <a:ext cx="1975104" cy="1975104"/>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7070141" y="2040941"/>
            <a:ext cx="855878" cy="85587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5394960" y="3566160"/>
            <a:ext cx="1097280" cy="109728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5614416" y="3785616"/>
            <a:ext cx="658368" cy="658368"/>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5800954" y="3972154"/>
            <a:ext cx="285293" cy="285293"/>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8138160" y="4023360"/>
            <a:ext cx="731520" cy="73152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a:off x="8284464" y="4169664"/>
            <a:ext cx="438912" cy="438912"/>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a:off x="8408822" y="4294022"/>
            <a:ext cx="190195" cy="190195"/>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a:off x="640080" y="1234440"/>
            <a:ext cx="58521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821E"/>
              </a:buClr>
              <a:buSzPts val="1200"/>
              <a:buFont typeface="Calibri"/>
              <a:buNone/>
            </a:pPr>
            <a:r>
              <a:rPr b="1" i="0" lang="en-US" sz="1200" u="none" cap="none" strike="noStrike">
                <a:solidFill>
                  <a:srgbClr val="C9821E"/>
                </a:solidFill>
                <a:latin typeface="Calibri"/>
                <a:ea typeface="Calibri"/>
                <a:cs typeface="Calibri"/>
                <a:sym typeface="Calibri"/>
              </a:rPr>
              <a:t>MADHYASTH DARSHAN  ·  CO-EXISTENTIALISM</a:t>
            </a:r>
            <a:endParaRPr b="0" i="0" sz="1200" u="none" cap="none" strike="noStrike">
              <a:solidFill>
                <a:schemeClr val="dk1"/>
              </a:solidFill>
              <a:latin typeface="Calibri"/>
              <a:ea typeface="Calibri"/>
              <a:cs typeface="Calibri"/>
              <a:sym typeface="Calibri"/>
            </a:endParaRPr>
          </a:p>
        </p:txBody>
      </p:sp>
      <p:sp>
        <p:nvSpPr>
          <p:cNvPr id="26" name="Google Shape;26;p3"/>
          <p:cNvSpPr/>
          <p:nvPr/>
        </p:nvSpPr>
        <p:spPr>
          <a:xfrm>
            <a:off x="640080" y="1572768"/>
            <a:ext cx="557784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mbria"/>
              <a:buNone/>
            </a:pPr>
            <a:r>
              <a:rPr b="1" i="0" lang="en-US" sz="4400" u="none" cap="none" strike="noStrike">
                <a:solidFill>
                  <a:srgbClr val="FFFFFF"/>
                </a:solidFill>
                <a:latin typeface="Cambria"/>
                <a:ea typeface="Cambria"/>
                <a:cs typeface="Cambria"/>
                <a:sym typeface="Cambria"/>
              </a:rPr>
              <a:t>The Ontology of Existence</a:t>
            </a:r>
            <a:endParaRPr b="0" i="0" sz="4400" u="none" cap="none" strike="noStrike">
              <a:solidFill>
                <a:schemeClr val="dk1"/>
              </a:solidFill>
              <a:latin typeface="Calibri"/>
              <a:ea typeface="Calibri"/>
              <a:cs typeface="Calibri"/>
              <a:sym typeface="Calibri"/>
            </a:endParaRPr>
          </a:p>
        </p:txBody>
      </p:sp>
      <p:sp>
        <p:nvSpPr>
          <p:cNvPr id="27" name="Google Shape;27;p3"/>
          <p:cNvSpPr/>
          <p:nvPr/>
        </p:nvSpPr>
        <p:spPr>
          <a:xfrm>
            <a:off x="640080" y="2880360"/>
            <a:ext cx="484632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4EF"/>
              </a:buClr>
              <a:buSzPts val="1600"/>
              <a:buFont typeface="Calibri"/>
              <a:buNone/>
            </a:pPr>
            <a:r>
              <a:rPr b="0" i="1" lang="en-US" sz="1600" u="none" cap="none" strike="noStrike">
                <a:solidFill>
                  <a:srgbClr val="C9D4EF"/>
                </a:solidFill>
                <a:latin typeface="Calibri"/>
                <a:ea typeface="Calibri"/>
                <a:cs typeface="Calibri"/>
                <a:sym typeface="Calibri"/>
              </a:rPr>
              <a:t>Existence understood as coexistence — nature saturated in Omnipotence</a:t>
            </a:r>
            <a:endParaRPr b="0" i="0" sz="1600" u="none" cap="none" strike="noStrike">
              <a:solidFill>
                <a:schemeClr val="dk1"/>
              </a:solidFill>
              <a:latin typeface="Calibri"/>
              <a:ea typeface="Calibri"/>
              <a:cs typeface="Calibri"/>
              <a:sym typeface="Calibri"/>
            </a:endParaRPr>
          </a:p>
        </p:txBody>
      </p:sp>
      <p:sp>
        <p:nvSpPr>
          <p:cNvPr id="28" name="Google Shape;28;p3"/>
          <p:cNvSpPr/>
          <p:nvPr/>
        </p:nvSpPr>
        <p:spPr>
          <a:xfrm>
            <a:off x="640080" y="4160520"/>
            <a:ext cx="5303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E9BC4"/>
              </a:buClr>
              <a:buSzPts val="1150"/>
              <a:buFont typeface="Calibri"/>
              <a:buNone/>
            </a:pPr>
            <a:r>
              <a:rPr b="0" i="0" lang="en-US" sz="1150" u="none" cap="none" strike="noStrike">
                <a:solidFill>
                  <a:srgbClr val="8E9BC4"/>
                </a:solidFill>
                <a:latin typeface="Calibri"/>
                <a:ea typeface="Calibri"/>
                <a:cs typeface="Calibri"/>
                <a:sym typeface="Calibri"/>
              </a:rPr>
              <a:t xml:space="preserve">Based on §1 of </a:t>
            </a:r>
            <a:r>
              <a:rPr b="0" i="1" lang="en-US" sz="1150" u="none" cap="none" strike="noStrike">
                <a:solidFill>
                  <a:srgbClr val="8E9BC4"/>
                </a:solidFill>
                <a:latin typeface="Calibri"/>
                <a:ea typeface="Calibri"/>
                <a:cs typeface="Calibri"/>
                <a:sym typeface="Calibri"/>
              </a:rPr>
              <a:t>The Ontology of Coexistence</a:t>
            </a:r>
            <a:r>
              <a:rPr b="0" i="0" lang="en-US" sz="1150" u="none" cap="none" strike="noStrike">
                <a:solidFill>
                  <a:srgbClr val="8E9BC4"/>
                </a:solidFill>
                <a:latin typeface="Calibri"/>
                <a:ea typeface="Calibri"/>
                <a:cs typeface="Calibri"/>
                <a:sym typeface="Calibri"/>
              </a:rPr>
              <a:t xml:space="preserve"> (AnalyticMadhyasthDarshan.org)</a:t>
            </a:r>
            <a:endParaRPr b="0" i="0" sz="1150" u="none" cap="none" strike="noStrike">
              <a:solidFill>
                <a:schemeClr val="dk1"/>
              </a:solidFill>
              <a:latin typeface="Calibri"/>
              <a:ea typeface="Calibri"/>
              <a:cs typeface="Calibri"/>
              <a:sym typeface="Calibri"/>
            </a:endParaRPr>
          </a:p>
        </p:txBody>
      </p:sp>
      <p:sp>
        <p:nvSpPr>
          <p:cNvPr id="29" name="Google Shape;29;p3"/>
          <p:cNvSpPr/>
          <p:nvPr/>
        </p:nvSpPr>
        <p:spPr>
          <a:xfrm>
            <a:off x="640080" y="4434840"/>
            <a:ext cx="5303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E9BC4"/>
              </a:buClr>
              <a:buSzPts val="1150"/>
              <a:buFont typeface="Calibri"/>
              <a:buNone/>
            </a:pPr>
            <a:r>
              <a:rPr b="0" i="0" lang="en-US" sz="1150" u="none" cap="none" strike="noStrike">
                <a:solidFill>
                  <a:srgbClr val="8E9BC4"/>
                </a:solidFill>
                <a:latin typeface="Calibri"/>
                <a:ea typeface="Calibri"/>
                <a:cs typeface="Calibri"/>
                <a:sym typeface="Calibri"/>
              </a:rPr>
              <a:t>Primary texts of Shri A. Nagraj — MVD · SB · JV (tr. Rakesh Gupta)</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 name="Shape 34"/>
        <p:cNvGrpSpPr/>
        <p:nvPr/>
      </p:nvGrpSpPr>
      <p:grpSpPr>
        <a:xfrm>
          <a:off x="0" y="0"/>
          <a:ext cx="0" cy="0"/>
          <a:chOff x="0" y="0"/>
          <a:chExt cx="0" cy="0"/>
        </a:xfrm>
      </p:grpSpPr>
      <p:sp>
        <p:nvSpPr>
          <p:cNvPr id="35" name="Google Shape;35;p4"/>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4"/>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FRAMING</a:t>
            </a:r>
            <a:endParaRPr b="0" i="0" sz="1050" u="none" cap="none" strike="noStrike">
              <a:solidFill>
                <a:schemeClr val="dk1"/>
              </a:solidFill>
              <a:latin typeface="Calibri"/>
              <a:ea typeface="Calibri"/>
              <a:cs typeface="Calibri"/>
              <a:sym typeface="Calibri"/>
            </a:endParaRPr>
          </a:p>
        </p:txBody>
      </p:sp>
      <p:sp>
        <p:nvSpPr>
          <p:cNvPr id="39" name="Google Shape;39;p4"/>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The Questions Ontology Must Answer</a:t>
            </a:r>
            <a:endParaRPr b="0" i="0" sz="3000" u="none" cap="none" strike="noStrike">
              <a:solidFill>
                <a:schemeClr val="dk1"/>
              </a:solidFill>
              <a:latin typeface="Calibri"/>
              <a:ea typeface="Calibri"/>
              <a:cs typeface="Calibri"/>
              <a:sym typeface="Calibri"/>
            </a:endParaRPr>
          </a:p>
        </p:txBody>
      </p:sp>
      <p:sp>
        <p:nvSpPr>
          <p:cNvPr id="40" name="Google Shape;40;p4"/>
          <p:cNvSpPr/>
          <p:nvPr/>
        </p:nvSpPr>
        <p:spPr>
          <a:xfrm>
            <a:off x="640080" y="1225296"/>
            <a:ext cx="365760" cy="36576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1" name="Google Shape;41;p4"/>
          <p:cNvPicPr preferRelativeResize="0"/>
          <p:nvPr/>
        </p:nvPicPr>
        <p:blipFill rotWithShape="1">
          <a:blip r:embed="rId3">
            <a:alphaModFix/>
          </a:blip>
          <a:srcRect b="0" l="0" r="0" t="0"/>
          <a:stretch/>
        </p:blipFill>
        <p:spPr>
          <a:xfrm>
            <a:off x="735178" y="1320394"/>
            <a:ext cx="175565" cy="175565"/>
          </a:xfrm>
          <a:prstGeom prst="rect">
            <a:avLst/>
          </a:prstGeom>
          <a:noFill/>
          <a:ln>
            <a:noFill/>
          </a:ln>
        </p:spPr>
      </p:pic>
      <p:sp>
        <p:nvSpPr>
          <p:cNvPr id="42" name="Google Shape;42;p4"/>
          <p:cNvSpPr/>
          <p:nvPr/>
        </p:nvSpPr>
        <p:spPr>
          <a:xfrm>
            <a:off x="1188720" y="1188720"/>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libri"/>
              <a:buNone/>
            </a:pPr>
            <a:r>
              <a:rPr b="1" i="0" lang="en-US" sz="1450" u="none" cap="none" strike="noStrike">
                <a:solidFill>
                  <a:srgbClr val="1E2447"/>
                </a:solidFill>
                <a:latin typeface="Calibri"/>
                <a:ea typeface="Calibri"/>
                <a:cs typeface="Calibri"/>
                <a:sym typeface="Calibri"/>
              </a:rPr>
              <a:t xml:space="preserve">What is Existence?  —  </a:t>
            </a:r>
            <a:r>
              <a:rPr b="0" i="0" lang="en-US" sz="1300" u="none" cap="none" strike="noStrike">
                <a:solidFill>
                  <a:srgbClr val="5A6377"/>
                </a:solidFill>
                <a:latin typeface="Calibri"/>
                <a:ea typeface="Calibri"/>
                <a:cs typeface="Calibri"/>
                <a:sym typeface="Calibri"/>
              </a:rPr>
              <a:t>Is there one fundamental reality, or many — and how are they related?</a:t>
            </a:r>
            <a:endParaRPr b="0" i="0" sz="1450" u="none" cap="none" strike="noStrike">
              <a:solidFill>
                <a:schemeClr val="dk1"/>
              </a:solidFill>
              <a:latin typeface="Calibri"/>
              <a:ea typeface="Calibri"/>
              <a:cs typeface="Calibri"/>
              <a:sym typeface="Calibri"/>
            </a:endParaRPr>
          </a:p>
        </p:txBody>
      </p:sp>
      <p:sp>
        <p:nvSpPr>
          <p:cNvPr id="43" name="Google Shape;43;p4"/>
          <p:cNvSpPr/>
          <p:nvPr/>
        </p:nvSpPr>
        <p:spPr>
          <a:xfrm>
            <a:off x="640080" y="1792224"/>
            <a:ext cx="365760" cy="36576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4" name="Google Shape;44;p4"/>
          <p:cNvPicPr preferRelativeResize="0"/>
          <p:nvPr/>
        </p:nvPicPr>
        <p:blipFill rotWithShape="1">
          <a:blip r:embed="rId3">
            <a:alphaModFix/>
          </a:blip>
          <a:srcRect b="0" l="0" r="0" t="0"/>
          <a:stretch/>
        </p:blipFill>
        <p:spPr>
          <a:xfrm>
            <a:off x="735178" y="1887322"/>
            <a:ext cx="175565" cy="175565"/>
          </a:xfrm>
          <a:prstGeom prst="rect">
            <a:avLst/>
          </a:prstGeom>
          <a:noFill/>
          <a:ln>
            <a:noFill/>
          </a:ln>
        </p:spPr>
      </p:pic>
      <p:sp>
        <p:nvSpPr>
          <p:cNvPr id="45" name="Google Shape;45;p4"/>
          <p:cNvSpPr/>
          <p:nvPr/>
        </p:nvSpPr>
        <p:spPr>
          <a:xfrm>
            <a:off x="1188720" y="1755648"/>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libri"/>
              <a:buNone/>
            </a:pPr>
            <a:r>
              <a:rPr b="1" i="0" lang="en-US" sz="1450" u="none" cap="none" strike="noStrike">
                <a:solidFill>
                  <a:srgbClr val="1E2447"/>
                </a:solidFill>
                <a:latin typeface="Calibri"/>
                <a:ea typeface="Calibri"/>
                <a:cs typeface="Calibri"/>
                <a:sym typeface="Calibri"/>
              </a:rPr>
              <a:t xml:space="preserve">What exists?  —  </a:t>
            </a:r>
            <a:r>
              <a:rPr b="0" i="0" lang="en-US" sz="1300" u="none" cap="none" strike="noStrike">
                <a:solidFill>
                  <a:srgbClr val="5A6377"/>
                </a:solidFill>
                <a:latin typeface="Calibri"/>
                <a:ea typeface="Calibri"/>
                <a:cs typeface="Calibri"/>
                <a:sym typeface="Calibri"/>
              </a:rPr>
              <a:t>What are the basic constituents of reality, and what is each of them?</a:t>
            </a:r>
            <a:endParaRPr b="0" i="0" sz="1450" u="none" cap="none" strike="noStrike">
              <a:solidFill>
                <a:schemeClr val="dk1"/>
              </a:solidFill>
              <a:latin typeface="Calibri"/>
              <a:ea typeface="Calibri"/>
              <a:cs typeface="Calibri"/>
              <a:sym typeface="Calibri"/>
            </a:endParaRPr>
          </a:p>
        </p:txBody>
      </p:sp>
      <p:sp>
        <p:nvSpPr>
          <p:cNvPr id="46" name="Google Shape;46;p4"/>
          <p:cNvSpPr/>
          <p:nvPr/>
        </p:nvSpPr>
        <p:spPr>
          <a:xfrm>
            <a:off x="640080" y="2359152"/>
            <a:ext cx="365760" cy="36576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7" name="Google Shape;47;p4"/>
          <p:cNvPicPr preferRelativeResize="0"/>
          <p:nvPr/>
        </p:nvPicPr>
        <p:blipFill rotWithShape="1">
          <a:blip r:embed="rId3">
            <a:alphaModFix/>
          </a:blip>
          <a:srcRect b="0" l="0" r="0" t="0"/>
          <a:stretch/>
        </p:blipFill>
        <p:spPr>
          <a:xfrm>
            <a:off x="735178" y="2454250"/>
            <a:ext cx="175565" cy="175565"/>
          </a:xfrm>
          <a:prstGeom prst="rect">
            <a:avLst/>
          </a:prstGeom>
          <a:noFill/>
          <a:ln>
            <a:noFill/>
          </a:ln>
        </p:spPr>
      </p:pic>
      <p:sp>
        <p:nvSpPr>
          <p:cNvPr id="48" name="Google Shape;48;p4"/>
          <p:cNvSpPr/>
          <p:nvPr/>
        </p:nvSpPr>
        <p:spPr>
          <a:xfrm>
            <a:off x="1188720" y="2322576"/>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libri"/>
              <a:buNone/>
            </a:pPr>
            <a:r>
              <a:rPr b="1" i="0" lang="en-US" sz="1450" u="none" cap="none" strike="noStrike">
                <a:solidFill>
                  <a:srgbClr val="1E2447"/>
                </a:solidFill>
                <a:latin typeface="Calibri"/>
                <a:ea typeface="Calibri"/>
                <a:cs typeface="Calibri"/>
                <a:sym typeface="Calibri"/>
              </a:rPr>
              <a:t xml:space="preserve">Does what exists begin?  —  </a:t>
            </a:r>
            <a:r>
              <a:rPr b="0" i="0" lang="en-US" sz="1300" u="none" cap="none" strike="noStrike">
                <a:solidFill>
                  <a:srgbClr val="5A6377"/>
                </a:solidFill>
                <a:latin typeface="Calibri"/>
                <a:ea typeface="Calibri"/>
                <a:cs typeface="Calibri"/>
                <a:sym typeface="Calibri"/>
              </a:rPr>
              <a:t>Did reality originate at some time — or is origination only of configurations?</a:t>
            </a:r>
            <a:endParaRPr b="0" i="0" sz="1450" u="none" cap="none" strike="noStrike">
              <a:solidFill>
                <a:schemeClr val="dk1"/>
              </a:solidFill>
              <a:latin typeface="Calibri"/>
              <a:ea typeface="Calibri"/>
              <a:cs typeface="Calibri"/>
              <a:sym typeface="Calibri"/>
            </a:endParaRPr>
          </a:p>
        </p:txBody>
      </p:sp>
      <p:sp>
        <p:nvSpPr>
          <p:cNvPr id="49" name="Google Shape;49;p4"/>
          <p:cNvSpPr/>
          <p:nvPr/>
        </p:nvSpPr>
        <p:spPr>
          <a:xfrm>
            <a:off x="640080" y="2926080"/>
            <a:ext cx="365760" cy="36576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0" name="Google Shape;50;p4"/>
          <p:cNvPicPr preferRelativeResize="0"/>
          <p:nvPr/>
        </p:nvPicPr>
        <p:blipFill rotWithShape="1">
          <a:blip r:embed="rId3">
            <a:alphaModFix/>
          </a:blip>
          <a:srcRect b="0" l="0" r="0" t="0"/>
          <a:stretch/>
        </p:blipFill>
        <p:spPr>
          <a:xfrm>
            <a:off x="735178" y="3021178"/>
            <a:ext cx="175565" cy="175565"/>
          </a:xfrm>
          <a:prstGeom prst="rect">
            <a:avLst/>
          </a:prstGeom>
          <a:noFill/>
          <a:ln>
            <a:noFill/>
          </a:ln>
        </p:spPr>
      </p:pic>
      <p:sp>
        <p:nvSpPr>
          <p:cNvPr id="51" name="Google Shape;51;p4"/>
          <p:cNvSpPr/>
          <p:nvPr/>
        </p:nvSpPr>
        <p:spPr>
          <a:xfrm>
            <a:off x="1188720" y="2889504"/>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libri"/>
              <a:buNone/>
            </a:pPr>
            <a:r>
              <a:rPr b="1" i="0" lang="en-US" sz="1450" u="none" cap="none" strike="noStrike">
                <a:solidFill>
                  <a:srgbClr val="1E2447"/>
                </a:solidFill>
                <a:latin typeface="Calibri"/>
                <a:ea typeface="Calibri"/>
                <a:cs typeface="Calibri"/>
                <a:sym typeface="Calibri"/>
              </a:rPr>
              <a:t xml:space="preserve">Does the self begin or end with the body?  —  </a:t>
            </a:r>
            <a:r>
              <a:rPr b="0" i="0" lang="en-US" sz="1300" u="none" cap="none" strike="noStrike">
                <a:solidFill>
                  <a:srgbClr val="5A6377"/>
                </a:solidFill>
                <a:latin typeface="Calibri"/>
                <a:ea typeface="Calibri"/>
                <a:cs typeface="Calibri"/>
                <a:sym typeface="Calibri"/>
              </a:rPr>
              <a:t>Is the individual self (jeevan) produced by the body and destroyed with it?</a:t>
            </a:r>
            <a:endParaRPr b="0" i="0" sz="1450" u="none" cap="none" strike="noStrike">
              <a:solidFill>
                <a:schemeClr val="dk1"/>
              </a:solidFill>
              <a:latin typeface="Calibri"/>
              <a:ea typeface="Calibri"/>
              <a:cs typeface="Calibri"/>
              <a:sym typeface="Calibri"/>
            </a:endParaRPr>
          </a:p>
        </p:txBody>
      </p:sp>
      <p:sp>
        <p:nvSpPr>
          <p:cNvPr id="52" name="Google Shape;52;p4"/>
          <p:cNvSpPr/>
          <p:nvPr/>
        </p:nvSpPr>
        <p:spPr>
          <a:xfrm>
            <a:off x="640080" y="3493008"/>
            <a:ext cx="365760" cy="36576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3" name="Google Shape;53;p4"/>
          <p:cNvPicPr preferRelativeResize="0"/>
          <p:nvPr/>
        </p:nvPicPr>
        <p:blipFill rotWithShape="1">
          <a:blip r:embed="rId3">
            <a:alphaModFix/>
          </a:blip>
          <a:srcRect b="0" l="0" r="0" t="0"/>
          <a:stretch/>
        </p:blipFill>
        <p:spPr>
          <a:xfrm>
            <a:off x="735178" y="3588106"/>
            <a:ext cx="175565" cy="175565"/>
          </a:xfrm>
          <a:prstGeom prst="rect">
            <a:avLst/>
          </a:prstGeom>
          <a:noFill/>
          <a:ln>
            <a:noFill/>
          </a:ln>
        </p:spPr>
      </p:pic>
      <p:sp>
        <p:nvSpPr>
          <p:cNvPr id="54" name="Google Shape;54;p4"/>
          <p:cNvSpPr/>
          <p:nvPr/>
        </p:nvSpPr>
        <p:spPr>
          <a:xfrm>
            <a:off x="1188720" y="3456432"/>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libri"/>
              <a:buNone/>
            </a:pPr>
            <a:r>
              <a:rPr b="1" i="0" lang="en-US" sz="1450" u="none" cap="none" strike="noStrike">
                <a:solidFill>
                  <a:srgbClr val="1E2447"/>
                </a:solidFill>
                <a:latin typeface="Calibri"/>
                <a:ea typeface="Calibri"/>
                <a:cs typeface="Calibri"/>
                <a:sym typeface="Calibri"/>
              </a:rPr>
              <a:t xml:space="preserve">Is the world finally real?  —  </a:t>
            </a:r>
            <a:r>
              <a:rPr b="0" i="0" lang="en-US" sz="1300" u="none" cap="none" strike="noStrike">
                <a:solidFill>
                  <a:srgbClr val="5A6377"/>
                </a:solidFill>
                <a:latin typeface="Calibri"/>
                <a:ea typeface="Calibri"/>
                <a:cs typeface="Calibri"/>
                <a:sym typeface="Calibri"/>
              </a:rPr>
              <a:t>Is the plural world of units an appearance, or real in its own right?</a:t>
            </a:r>
            <a:endParaRPr b="0" i="0" sz="1450" u="none" cap="none" strike="noStrike">
              <a:solidFill>
                <a:schemeClr val="dk1"/>
              </a:solidFill>
              <a:latin typeface="Calibri"/>
              <a:ea typeface="Calibri"/>
              <a:cs typeface="Calibri"/>
              <a:sym typeface="Calibri"/>
            </a:endParaRPr>
          </a:p>
        </p:txBody>
      </p:sp>
      <p:sp>
        <p:nvSpPr>
          <p:cNvPr id="55" name="Google Shape;55;p4"/>
          <p:cNvSpPr/>
          <p:nvPr/>
        </p:nvSpPr>
        <p:spPr>
          <a:xfrm>
            <a:off x="640080" y="4059936"/>
            <a:ext cx="365760" cy="36576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6" name="Google Shape;56;p4"/>
          <p:cNvPicPr preferRelativeResize="0"/>
          <p:nvPr/>
        </p:nvPicPr>
        <p:blipFill rotWithShape="1">
          <a:blip r:embed="rId3">
            <a:alphaModFix/>
          </a:blip>
          <a:srcRect b="0" l="0" r="0" t="0"/>
          <a:stretch/>
        </p:blipFill>
        <p:spPr>
          <a:xfrm>
            <a:off x="735178" y="4155034"/>
            <a:ext cx="175565" cy="175565"/>
          </a:xfrm>
          <a:prstGeom prst="rect">
            <a:avLst/>
          </a:prstGeom>
          <a:noFill/>
          <a:ln>
            <a:noFill/>
          </a:ln>
        </p:spPr>
      </p:pic>
      <p:sp>
        <p:nvSpPr>
          <p:cNvPr id="57" name="Google Shape;57;p4"/>
          <p:cNvSpPr/>
          <p:nvPr/>
        </p:nvSpPr>
        <p:spPr>
          <a:xfrm>
            <a:off x="1188720" y="4023360"/>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libri"/>
              <a:buNone/>
            </a:pPr>
            <a:r>
              <a:rPr b="1" i="0" lang="en-US" sz="1450" u="none" cap="none" strike="noStrike">
                <a:solidFill>
                  <a:srgbClr val="1E2447"/>
                </a:solidFill>
                <a:latin typeface="Calibri"/>
                <a:ea typeface="Calibri"/>
                <a:cs typeface="Calibri"/>
                <a:sym typeface="Calibri"/>
              </a:rPr>
              <a:t xml:space="preserve">How can what exists be known?  —  </a:t>
            </a:r>
            <a:r>
              <a:rPr b="0" i="0" lang="en-US" sz="1300" u="none" cap="none" strike="noStrike">
                <a:solidFill>
                  <a:srgbClr val="5A6377"/>
                </a:solidFill>
                <a:latin typeface="Calibri"/>
                <a:ea typeface="Calibri"/>
                <a:cs typeface="Calibri"/>
                <a:sym typeface="Calibri"/>
              </a:rPr>
              <a:t>What must be understood — and at what scope — to know each aspect of reality?</a:t>
            </a:r>
            <a:endParaRPr b="0" i="0" sz="1450" u="none" cap="none" strike="noStrike">
              <a:solidFill>
                <a:schemeClr val="dk1"/>
              </a:solidFill>
              <a:latin typeface="Calibri"/>
              <a:ea typeface="Calibri"/>
              <a:cs typeface="Calibri"/>
              <a:sym typeface="Calibri"/>
            </a:endParaRPr>
          </a:p>
        </p:txBody>
      </p:sp>
      <p:sp>
        <p:nvSpPr>
          <p:cNvPr id="58" name="Google Shape;58;p4"/>
          <p:cNvSpPr/>
          <p:nvPr/>
        </p:nvSpPr>
        <p:spPr>
          <a:xfrm>
            <a:off x="1188720" y="4645152"/>
            <a:ext cx="7406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250"/>
              <a:buFont typeface="Calibri"/>
              <a:buNone/>
            </a:pPr>
            <a:r>
              <a:rPr b="0" i="1" lang="en-US" sz="1250" u="none" cap="none" strike="noStrike">
                <a:solidFill>
                  <a:srgbClr val="9A6414"/>
                </a:solidFill>
                <a:latin typeface="Calibri"/>
                <a:ea typeface="Calibri"/>
                <a:cs typeface="Calibri"/>
                <a:sym typeface="Calibri"/>
              </a:rPr>
              <a:t>Madhyasth Darshan answers each from a single starting point: existence is coexistence.</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 name="Shape 63"/>
        <p:cNvGrpSpPr/>
        <p:nvPr/>
      </p:nvGrpSpPr>
      <p:grpSpPr>
        <a:xfrm>
          <a:off x="0" y="0"/>
          <a:ext cx="0" cy="0"/>
          <a:chOff x="0" y="0"/>
          <a:chExt cx="0" cy="0"/>
        </a:xfrm>
      </p:grpSpPr>
      <p:sp>
        <p:nvSpPr>
          <p:cNvPr id="64" name="Google Shape;64;p5"/>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5"/>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5"/>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5"/>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§1.1 · TWO INSEPARABLE ASPECTS</a:t>
            </a:r>
            <a:endParaRPr b="0" i="0" sz="1050" u="none" cap="none" strike="noStrike">
              <a:solidFill>
                <a:schemeClr val="dk1"/>
              </a:solidFill>
              <a:latin typeface="Calibri"/>
              <a:ea typeface="Calibri"/>
              <a:cs typeface="Calibri"/>
              <a:sym typeface="Calibri"/>
            </a:endParaRPr>
          </a:p>
        </p:txBody>
      </p:sp>
      <p:sp>
        <p:nvSpPr>
          <p:cNvPr id="68" name="Google Shape;68;p5"/>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Existence Is Coexistence</a:t>
            </a:r>
            <a:endParaRPr b="0" i="0" sz="3000" u="none" cap="none" strike="noStrike">
              <a:solidFill>
                <a:schemeClr val="dk1"/>
              </a:solidFill>
              <a:latin typeface="Calibri"/>
              <a:ea typeface="Calibri"/>
              <a:cs typeface="Calibri"/>
              <a:sym typeface="Calibri"/>
            </a:endParaRPr>
          </a:p>
        </p:txBody>
      </p:sp>
      <p:sp>
        <p:nvSpPr>
          <p:cNvPr id="69" name="Google Shape;69;p5"/>
          <p:cNvSpPr/>
          <p:nvPr/>
        </p:nvSpPr>
        <p:spPr>
          <a:xfrm>
            <a:off x="640080" y="1280160"/>
            <a:ext cx="4160520" cy="3474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447"/>
              </a:buClr>
              <a:buSzPts val="1500"/>
              <a:buFont typeface="Calibri"/>
              <a:buNone/>
            </a:pPr>
            <a:r>
              <a:rPr b="1" i="0" lang="en-US" sz="1500" u="none" cap="none" strike="noStrike">
                <a:solidFill>
                  <a:srgbClr val="1E2447"/>
                </a:solidFill>
                <a:latin typeface="Calibri"/>
                <a:ea typeface="Calibri"/>
                <a:cs typeface="Calibri"/>
                <a:sym typeface="Calibri"/>
              </a:rPr>
              <a:t>Omnipotence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A6377"/>
              </a:buClr>
              <a:buSzPts val="1250"/>
              <a:buFont typeface="Calibri"/>
              <a:buNone/>
            </a:pPr>
            <a:r>
              <a:rPr b="0" i="0" lang="en-US" sz="1250" u="none" cap="none" strike="noStrike">
                <a:solidFill>
                  <a:srgbClr val="5A6377"/>
                </a:solidFill>
                <a:latin typeface="Calibri"/>
                <a:ea typeface="Calibri"/>
                <a:cs typeface="Calibri"/>
                <a:sym typeface="Calibri"/>
              </a:rPr>
              <a:t>Formless, all-pervasive, non-transforming, immeasurable — actionless energy. It performs no actions, yet every unit is energised, regulated, and conserved in it. It has no absent place.</a:t>
            </a:r>
            <a:endParaRPr b="0" i="0" sz="1500" u="none" cap="none" strike="noStrike">
              <a:solidFill>
                <a:schemeClr val="dk1"/>
              </a:solidFill>
              <a:latin typeface="Calibri"/>
              <a:ea typeface="Calibri"/>
              <a:cs typeface="Calibri"/>
              <a:sym typeface="Calibri"/>
            </a:endParaRPr>
          </a:p>
          <a:p>
            <a:pPr indent="0" lvl="0" marL="0" marR="0" rtl="0" algn="l">
              <a:spcBef>
                <a:spcPts val="1000"/>
              </a:spcBef>
              <a:spcAft>
                <a:spcPts val="0"/>
              </a:spcAft>
              <a:buClr>
                <a:srgbClr val="1E2447"/>
              </a:buClr>
              <a:buSzPts val="1500"/>
              <a:buFont typeface="Calibri"/>
              <a:buNone/>
            </a:pPr>
            <a:r>
              <a:rPr b="1" i="0" lang="en-US" sz="1500" u="none" cap="none" strike="noStrike">
                <a:solidFill>
                  <a:srgbClr val="1E2447"/>
                </a:solidFill>
                <a:latin typeface="Calibri"/>
                <a:ea typeface="Calibri"/>
                <a:cs typeface="Calibri"/>
                <a:sym typeface="Calibri"/>
              </a:rPr>
              <a:t>Units of nature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A6377"/>
              </a:buClr>
              <a:buSzPts val="1250"/>
              <a:buFont typeface="Calibri"/>
              <a:buNone/>
            </a:pPr>
            <a:r>
              <a:rPr b="0" i="0" lang="en-US" sz="1250" u="none" cap="none" strike="noStrike">
                <a:solidFill>
                  <a:srgbClr val="5A6377"/>
                </a:solidFill>
                <a:latin typeface="Calibri"/>
                <a:ea typeface="Calibri"/>
                <a:cs typeface="Calibri"/>
                <a:sym typeface="Calibri"/>
              </a:rPr>
              <a:t>Formful, active, countable entities — each bounded from six directions, and each soaked, submerged, and surrounded in Omnipotence, with form, properties, essential nature, and dharma. At the smallest scale, every unit is built from the same basic building block: an atom — a core with parts orbiting it.</a:t>
            </a:r>
            <a:endParaRPr b="0" i="0" sz="1500" u="none" cap="none" strike="noStrike">
              <a:solidFill>
                <a:schemeClr val="dk1"/>
              </a:solidFill>
              <a:latin typeface="Calibri"/>
              <a:ea typeface="Calibri"/>
              <a:cs typeface="Calibri"/>
              <a:sym typeface="Calibri"/>
            </a:endParaRPr>
          </a:p>
          <a:p>
            <a:pPr indent="0" lvl="0" marL="0" marR="0" rtl="0" algn="l">
              <a:spcBef>
                <a:spcPts val="1000"/>
              </a:spcBef>
              <a:spcAft>
                <a:spcPts val="0"/>
              </a:spcAft>
              <a:buClr>
                <a:srgbClr val="1E2447"/>
              </a:buClr>
              <a:buSzPts val="1500"/>
              <a:buFont typeface="Calibri"/>
              <a:buNone/>
            </a:pPr>
            <a:r>
              <a:rPr b="1" i="0" lang="en-US" sz="1500" u="none" cap="none" strike="noStrike">
                <a:solidFill>
                  <a:srgbClr val="1E2447"/>
                </a:solidFill>
                <a:latin typeface="Calibri"/>
                <a:ea typeface="Calibri"/>
                <a:cs typeface="Calibri"/>
                <a:sym typeface="Calibri"/>
              </a:rPr>
              <a:t>Never two separate poles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A6377"/>
              </a:buClr>
              <a:buSzPts val="1250"/>
              <a:buFont typeface="Calibri"/>
              <a:buNone/>
            </a:pPr>
            <a:r>
              <a:rPr b="0" i="0" lang="en-US" sz="1250" u="none" cap="none" strike="noStrike">
                <a:solidFill>
                  <a:srgbClr val="5A6377"/>
                </a:solidFill>
                <a:latin typeface="Calibri"/>
                <a:ea typeface="Calibri"/>
                <a:cs typeface="Calibri"/>
                <a:sym typeface="Calibri"/>
              </a:rPr>
              <a:t>Separation of a unit from the saturated whole “never happens.” The ground is state-complete — without motion, wave, or pressure; nature saturated in it is state-dynamic — all change is unit-activity.</a:t>
            </a:r>
            <a:endParaRPr b="0" i="0" sz="1500" u="none" cap="none" strike="noStrike">
              <a:solidFill>
                <a:schemeClr val="dk1"/>
              </a:solidFill>
              <a:latin typeface="Calibri"/>
              <a:ea typeface="Calibri"/>
              <a:cs typeface="Calibri"/>
              <a:sym typeface="Calibri"/>
            </a:endParaRPr>
          </a:p>
        </p:txBody>
      </p:sp>
      <p:sp>
        <p:nvSpPr>
          <p:cNvPr id="70" name="Google Shape;70;p5"/>
          <p:cNvSpPr/>
          <p:nvPr/>
        </p:nvSpPr>
        <p:spPr>
          <a:xfrm>
            <a:off x="5074920" y="1280160"/>
            <a:ext cx="3566160" cy="3246120"/>
          </a:xfrm>
          <a:prstGeom prst="roundRect">
            <a:avLst>
              <a:gd fmla="val 3380"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5"/>
          <p:cNvSpPr/>
          <p:nvPr/>
        </p:nvSpPr>
        <p:spPr>
          <a:xfrm>
            <a:off x="5074920" y="1417320"/>
            <a:ext cx="3566160" cy="2743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D4EF"/>
              </a:buClr>
              <a:buSzPts val="1100"/>
              <a:buFont typeface="Calibri"/>
              <a:buNone/>
            </a:pPr>
            <a:r>
              <a:rPr b="1" i="0" lang="en-US" sz="1100" u="none" cap="none" strike="noStrike">
                <a:solidFill>
                  <a:srgbClr val="C9D4EF"/>
                </a:solidFill>
                <a:latin typeface="Calibri"/>
                <a:ea typeface="Calibri"/>
                <a:cs typeface="Calibri"/>
                <a:sym typeface="Calibri"/>
              </a:rPr>
              <a:t>OMNIPOTENCE — the pervasive ground</a:t>
            </a:r>
            <a:endParaRPr b="0" i="0" sz="1100" u="none" cap="none" strike="noStrike">
              <a:solidFill>
                <a:schemeClr val="dk1"/>
              </a:solidFill>
              <a:latin typeface="Calibri"/>
              <a:ea typeface="Calibri"/>
              <a:cs typeface="Calibri"/>
              <a:sym typeface="Calibri"/>
            </a:endParaRPr>
          </a:p>
        </p:txBody>
      </p:sp>
      <p:sp>
        <p:nvSpPr>
          <p:cNvPr id="72" name="Google Shape;72;p5"/>
          <p:cNvSpPr/>
          <p:nvPr/>
        </p:nvSpPr>
        <p:spPr>
          <a:xfrm>
            <a:off x="5440680" y="1965960"/>
            <a:ext cx="1051560" cy="1051560"/>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5"/>
          <p:cNvSpPr/>
          <p:nvPr/>
        </p:nvSpPr>
        <p:spPr>
          <a:xfrm>
            <a:off x="5650992" y="2176272"/>
            <a:ext cx="630936" cy="630936"/>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5"/>
          <p:cNvSpPr/>
          <p:nvPr/>
        </p:nvSpPr>
        <p:spPr>
          <a:xfrm>
            <a:off x="5829757" y="2355037"/>
            <a:ext cx="273406" cy="273406"/>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5"/>
          <p:cNvSpPr/>
          <p:nvPr/>
        </p:nvSpPr>
        <p:spPr>
          <a:xfrm>
            <a:off x="6812280" y="2240280"/>
            <a:ext cx="777240" cy="777240"/>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5"/>
          <p:cNvSpPr/>
          <p:nvPr/>
        </p:nvSpPr>
        <p:spPr>
          <a:xfrm>
            <a:off x="6967728" y="2395728"/>
            <a:ext cx="466344" cy="466344"/>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5"/>
          <p:cNvSpPr/>
          <p:nvPr/>
        </p:nvSpPr>
        <p:spPr>
          <a:xfrm>
            <a:off x="7099859" y="2527859"/>
            <a:ext cx="202082" cy="202082"/>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5"/>
          <p:cNvSpPr/>
          <p:nvPr/>
        </p:nvSpPr>
        <p:spPr>
          <a:xfrm>
            <a:off x="7635240" y="1783080"/>
            <a:ext cx="566928" cy="566928"/>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5"/>
          <p:cNvSpPr/>
          <p:nvPr/>
        </p:nvSpPr>
        <p:spPr>
          <a:xfrm>
            <a:off x="7748626" y="1896466"/>
            <a:ext cx="340157" cy="340157"/>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7845003" y="1992843"/>
            <a:ext cx="147401" cy="147401"/>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5"/>
          <p:cNvSpPr/>
          <p:nvPr/>
        </p:nvSpPr>
        <p:spPr>
          <a:xfrm>
            <a:off x="6035040" y="3200400"/>
            <a:ext cx="658368" cy="658368"/>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5"/>
          <p:cNvSpPr/>
          <p:nvPr/>
        </p:nvSpPr>
        <p:spPr>
          <a:xfrm>
            <a:off x="6166714" y="3332074"/>
            <a:ext cx="395021" cy="395021"/>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6278636" y="3443996"/>
            <a:ext cx="171176" cy="171176"/>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5"/>
          <p:cNvSpPr/>
          <p:nvPr/>
        </p:nvSpPr>
        <p:spPr>
          <a:xfrm>
            <a:off x="7315200" y="3246120"/>
            <a:ext cx="896112" cy="896112"/>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7494422" y="3425342"/>
            <a:ext cx="537667" cy="537667"/>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5"/>
          <p:cNvSpPr/>
          <p:nvPr/>
        </p:nvSpPr>
        <p:spPr>
          <a:xfrm>
            <a:off x="7646761" y="3577681"/>
            <a:ext cx="232989" cy="232989"/>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5"/>
          <p:cNvSpPr/>
          <p:nvPr/>
        </p:nvSpPr>
        <p:spPr>
          <a:xfrm>
            <a:off x="5257800" y="4114800"/>
            <a:ext cx="3200400" cy="4114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D4EF"/>
              </a:buClr>
              <a:buSzPts val="1000"/>
              <a:buFont typeface="Calibri"/>
              <a:buNone/>
            </a:pPr>
            <a:r>
              <a:rPr b="0" i="1" lang="en-US" sz="1000" u="none" cap="none" strike="noStrike">
                <a:solidFill>
                  <a:srgbClr val="C9D4EF"/>
                </a:solidFill>
                <a:latin typeface="Calibri"/>
                <a:ea typeface="Calibri"/>
                <a:cs typeface="Calibri"/>
                <a:sym typeface="Calibri"/>
              </a:rPr>
              <a:t>bounded units, each saturated in the ground; even the distance between units is held in Omnipotence as Space</a:t>
            </a:r>
            <a:endParaRPr b="0" i="0" sz="1000" u="none" cap="none" strike="noStrike">
              <a:solidFill>
                <a:schemeClr val="dk1"/>
              </a:solidFill>
              <a:latin typeface="Calibri"/>
              <a:ea typeface="Calibri"/>
              <a:cs typeface="Calibri"/>
              <a:sym typeface="Calibri"/>
            </a:endParaRPr>
          </a:p>
        </p:txBody>
      </p:sp>
      <p:sp>
        <p:nvSpPr>
          <p:cNvPr id="88" name="Google Shape;88;p5"/>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“Existence itself is eternally manifest in the form of coexistence” — SB p. 48  ·  MVD pp. 11, 34  ·  JV p. 18</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p6"/>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6"/>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6"/>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6"/>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§1.2 · THE THREE ENDOWMENTS</a:t>
            </a:r>
            <a:endParaRPr b="0" i="0" sz="1050" u="none" cap="none" strike="noStrike">
              <a:solidFill>
                <a:schemeClr val="dk1"/>
              </a:solidFill>
              <a:latin typeface="Calibri"/>
              <a:ea typeface="Calibri"/>
              <a:cs typeface="Calibri"/>
              <a:sym typeface="Calibri"/>
            </a:endParaRPr>
          </a:p>
        </p:txBody>
      </p:sp>
      <p:sp>
        <p:nvSpPr>
          <p:cNvPr id="98" name="Google Shape;98;p6"/>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Saturation: The Ground–Unit Bond</a:t>
            </a:r>
            <a:endParaRPr b="0" i="0" sz="3000" u="none" cap="none" strike="noStrike">
              <a:solidFill>
                <a:schemeClr val="dk1"/>
              </a:solidFill>
              <a:latin typeface="Calibri"/>
              <a:ea typeface="Calibri"/>
              <a:cs typeface="Calibri"/>
              <a:sym typeface="Calibri"/>
            </a:endParaRPr>
          </a:p>
        </p:txBody>
      </p:sp>
      <p:sp>
        <p:nvSpPr>
          <p:cNvPr id="99" name="Google Shape;99;p6"/>
          <p:cNvSpPr/>
          <p:nvPr/>
        </p:nvSpPr>
        <p:spPr>
          <a:xfrm>
            <a:off x="640080" y="1207008"/>
            <a:ext cx="79552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300"/>
              <a:buFont typeface="Calibri"/>
              <a:buNone/>
            </a:pPr>
            <a:r>
              <a:rPr b="0" i="0" lang="en-US" sz="1300" u="none" cap="none" strike="noStrike">
                <a:solidFill>
                  <a:srgbClr val="5A6377"/>
                </a:solidFill>
                <a:latin typeface="Calibri"/>
                <a:ea typeface="Calibri"/>
                <a:cs typeface="Calibri"/>
                <a:sym typeface="Calibri"/>
              </a:rPr>
              <a:t>Every formful unit is soaked, submerged, and surrounded in Omnipotence — like a sponge in water, never pushed by it. Saturated coexistence itself is knowledge; every unit receives three endowments through this bond.</a:t>
            </a:r>
            <a:endParaRPr b="0" i="0" sz="1300" u="none" cap="none" strike="noStrike">
              <a:solidFill>
                <a:schemeClr val="dk1"/>
              </a:solidFill>
              <a:latin typeface="Calibri"/>
              <a:ea typeface="Calibri"/>
              <a:cs typeface="Calibri"/>
              <a:sym typeface="Calibri"/>
            </a:endParaRPr>
          </a:p>
        </p:txBody>
      </p:sp>
      <p:sp>
        <p:nvSpPr>
          <p:cNvPr id="100" name="Google Shape;100;p6"/>
          <p:cNvSpPr/>
          <p:nvPr/>
        </p:nvSpPr>
        <p:spPr>
          <a:xfrm>
            <a:off x="640080" y="2011680"/>
            <a:ext cx="2615184" cy="2395728"/>
          </a:xfrm>
          <a:prstGeom prst="roundRect">
            <a:avLst>
              <a:gd fmla="val 381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6"/>
          <p:cNvSpPr/>
          <p:nvPr/>
        </p:nvSpPr>
        <p:spPr>
          <a:xfrm>
            <a:off x="841248" y="2212848"/>
            <a:ext cx="457200" cy="45720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2" name="Google Shape;102;p6"/>
          <p:cNvPicPr preferRelativeResize="0"/>
          <p:nvPr/>
        </p:nvPicPr>
        <p:blipFill rotWithShape="1">
          <a:blip r:embed="rId3">
            <a:alphaModFix/>
          </a:blip>
          <a:srcRect b="0" l="0" r="0" t="0"/>
          <a:stretch/>
        </p:blipFill>
        <p:spPr>
          <a:xfrm>
            <a:off x="960120" y="2331720"/>
            <a:ext cx="219456" cy="219456"/>
          </a:xfrm>
          <a:prstGeom prst="rect">
            <a:avLst/>
          </a:prstGeom>
          <a:noFill/>
          <a:ln>
            <a:noFill/>
          </a:ln>
        </p:spPr>
      </p:pic>
      <p:sp>
        <p:nvSpPr>
          <p:cNvPr id="103" name="Google Shape;103;p6"/>
          <p:cNvSpPr/>
          <p:nvPr/>
        </p:nvSpPr>
        <p:spPr>
          <a:xfrm>
            <a:off x="841248" y="2761488"/>
            <a:ext cx="224028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mbria"/>
              <a:buNone/>
            </a:pPr>
            <a:r>
              <a:rPr b="1" i="0" lang="en-US" sz="1450" u="none" cap="none" strike="noStrike">
                <a:solidFill>
                  <a:srgbClr val="1E2447"/>
                </a:solidFill>
                <a:latin typeface="Cambria"/>
                <a:ea typeface="Cambria"/>
                <a:cs typeface="Cambria"/>
                <a:sym typeface="Cambria"/>
              </a:rPr>
              <a:t>Recognition capability</a:t>
            </a:r>
            <a:endParaRPr b="0" i="0" sz="1450" u="none" cap="none" strike="noStrike">
              <a:solidFill>
                <a:schemeClr val="dk1"/>
              </a:solidFill>
              <a:latin typeface="Calibri"/>
              <a:ea typeface="Calibri"/>
              <a:cs typeface="Calibri"/>
              <a:sym typeface="Calibri"/>
            </a:endParaRPr>
          </a:p>
        </p:txBody>
      </p:sp>
      <p:sp>
        <p:nvSpPr>
          <p:cNvPr id="104" name="Google Shape;104;p6"/>
          <p:cNvSpPr/>
          <p:nvPr/>
        </p:nvSpPr>
        <p:spPr>
          <a:xfrm>
            <a:off x="841248" y="3090672"/>
            <a:ext cx="2240280" cy="12344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50"/>
              <a:buFont typeface="Calibri"/>
              <a:buNone/>
            </a:pPr>
            <a:r>
              <a:rPr b="0" i="0" lang="en-US" sz="1050" u="none" cap="none" strike="noStrike">
                <a:solidFill>
                  <a:srgbClr val="5A6377"/>
                </a:solidFill>
                <a:latin typeface="Calibri"/>
                <a:ea typeface="Calibri"/>
                <a:cs typeface="Calibri"/>
                <a:sym typeface="Calibri"/>
              </a:rPr>
              <a:t>Complementarity is given in coexistence, not created. Bounded units standing together in the ground are provisioned to recognise one another — with capacity, ability, and receptivity.</a:t>
            </a:r>
            <a:endParaRPr b="0" i="0" sz="1050" u="none" cap="none" strike="noStrike">
              <a:solidFill>
                <a:schemeClr val="dk1"/>
              </a:solidFill>
              <a:latin typeface="Calibri"/>
              <a:ea typeface="Calibri"/>
              <a:cs typeface="Calibri"/>
              <a:sym typeface="Calibri"/>
            </a:endParaRPr>
          </a:p>
        </p:txBody>
      </p:sp>
      <p:sp>
        <p:nvSpPr>
          <p:cNvPr id="105" name="Google Shape;105;p6"/>
          <p:cNvSpPr/>
          <p:nvPr/>
        </p:nvSpPr>
        <p:spPr>
          <a:xfrm>
            <a:off x="3392424" y="2011680"/>
            <a:ext cx="2615184" cy="2395728"/>
          </a:xfrm>
          <a:prstGeom prst="roundRect">
            <a:avLst>
              <a:gd fmla="val 381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6"/>
          <p:cNvSpPr/>
          <p:nvPr/>
        </p:nvSpPr>
        <p:spPr>
          <a:xfrm>
            <a:off x="3593592" y="2212848"/>
            <a:ext cx="457200" cy="45720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7" name="Google Shape;107;p6"/>
          <p:cNvPicPr preferRelativeResize="0"/>
          <p:nvPr/>
        </p:nvPicPr>
        <p:blipFill rotWithShape="1">
          <a:blip r:embed="rId4">
            <a:alphaModFix/>
          </a:blip>
          <a:srcRect b="0" l="0" r="0" t="0"/>
          <a:stretch/>
        </p:blipFill>
        <p:spPr>
          <a:xfrm>
            <a:off x="3712464" y="2331720"/>
            <a:ext cx="219456" cy="219456"/>
          </a:xfrm>
          <a:prstGeom prst="rect">
            <a:avLst/>
          </a:prstGeom>
          <a:noFill/>
          <a:ln>
            <a:noFill/>
          </a:ln>
        </p:spPr>
      </p:pic>
      <p:sp>
        <p:nvSpPr>
          <p:cNvPr id="108" name="Google Shape;108;p6"/>
          <p:cNvSpPr/>
          <p:nvPr/>
        </p:nvSpPr>
        <p:spPr>
          <a:xfrm>
            <a:off x="3593592" y="2761488"/>
            <a:ext cx="224028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mbria"/>
              <a:buNone/>
            </a:pPr>
            <a:r>
              <a:rPr b="1" i="0" lang="en-US" sz="1450" u="none" cap="none" strike="noStrike">
                <a:solidFill>
                  <a:srgbClr val="1E2447"/>
                </a:solidFill>
                <a:latin typeface="Cambria"/>
                <a:ea typeface="Cambria"/>
                <a:cs typeface="Cambria"/>
                <a:sym typeface="Cambria"/>
              </a:rPr>
              <a:t>Activeness</a:t>
            </a:r>
            <a:endParaRPr b="0" i="0" sz="1450" u="none" cap="none" strike="noStrike">
              <a:solidFill>
                <a:schemeClr val="dk1"/>
              </a:solidFill>
              <a:latin typeface="Calibri"/>
              <a:ea typeface="Calibri"/>
              <a:cs typeface="Calibri"/>
              <a:sym typeface="Calibri"/>
            </a:endParaRPr>
          </a:p>
        </p:txBody>
      </p:sp>
      <p:sp>
        <p:nvSpPr>
          <p:cNvPr id="109" name="Google Shape;109;p6"/>
          <p:cNvSpPr/>
          <p:nvPr/>
        </p:nvSpPr>
        <p:spPr>
          <a:xfrm>
            <a:off x="3593592" y="3090672"/>
            <a:ext cx="2240280" cy="12344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50"/>
              <a:buFont typeface="Calibri"/>
              <a:buNone/>
            </a:pPr>
            <a:r>
              <a:rPr b="0" i="0" lang="en-US" sz="1050" u="none" cap="none" strike="noStrike">
                <a:solidFill>
                  <a:srgbClr val="5A6377"/>
                </a:solidFill>
                <a:latin typeface="Calibri"/>
                <a:ea typeface="Calibri"/>
                <a:cs typeface="Calibri"/>
                <a:sym typeface="Calibri"/>
              </a:rPr>
              <a:t>“Unit + Energy fullness = Activeness.” Inherent energy and basic impulsion make every unit active — appearing as the inseparable triad of effort, motion, and result.</a:t>
            </a:r>
            <a:endParaRPr b="0" i="0" sz="1050" u="none" cap="none" strike="noStrike">
              <a:solidFill>
                <a:schemeClr val="dk1"/>
              </a:solidFill>
              <a:latin typeface="Calibri"/>
              <a:ea typeface="Calibri"/>
              <a:cs typeface="Calibri"/>
              <a:sym typeface="Calibri"/>
            </a:endParaRPr>
          </a:p>
        </p:txBody>
      </p:sp>
      <p:sp>
        <p:nvSpPr>
          <p:cNvPr id="110" name="Google Shape;110;p6"/>
          <p:cNvSpPr/>
          <p:nvPr/>
        </p:nvSpPr>
        <p:spPr>
          <a:xfrm>
            <a:off x="6144768" y="2011680"/>
            <a:ext cx="2615184" cy="2395728"/>
          </a:xfrm>
          <a:prstGeom prst="roundRect">
            <a:avLst>
              <a:gd fmla="val 381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6"/>
          <p:cNvSpPr/>
          <p:nvPr/>
        </p:nvSpPr>
        <p:spPr>
          <a:xfrm>
            <a:off x="6345936" y="2212848"/>
            <a:ext cx="457200" cy="45720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2" name="Google Shape;112;p6"/>
          <p:cNvPicPr preferRelativeResize="0"/>
          <p:nvPr/>
        </p:nvPicPr>
        <p:blipFill rotWithShape="1">
          <a:blip r:embed="rId5">
            <a:alphaModFix/>
          </a:blip>
          <a:srcRect b="0" l="0" r="0" t="0"/>
          <a:stretch/>
        </p:blipFill>
        <p:spPr>
          <a:xfrm>
            <a:off x="6464808" y="2331720"/>
            <a:ext cx="219456" cy="219456"/>
          </a:xfrm>
          <a:prstGeom prst="rect">
            <a:avLst/>
          </a:prstGeom>
          <a:noFill/>
          <a:ln>
            <a:noFill/>
          </a:ln>
        </p:spPr>
      </p:pic>
      <p:sp>
        <p:nvSpPr>
          <p:cNvPr id="113" name="Google Shape;113;p6"/>
          <p:cNvSpPr/>
          <p:nvPr/>
        </p:nvSpPr>
        <p:spPr>
          <a:xfrm>
            <a:off x="6345936" y="2761488"/>
            <a:ext cx="224028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mbria"/>
              <a:buNone/>
            </a:pPr>
            <a:r>
              <a:rPr b="1" i="0" lang="en-US" sz="1450" u="none" cap="none" strike="noStrike">
                <a:solidFill>
                  <a:srgbClr val="1E2447"/>
                </a:solidFill>
                <a:latin typeface="Cambria"/>
                <a:ea typeface="Cambria"/>
                <a:cs typeface="Cambria"/>
                <a:sym typeface="Cambria"/>
              </a:rPr>
              <a:t>Inherent regulation</a:t>
            </a:r>
            <a:endParaRPr b="0" i="0" sz="1450" u="none" cap="none" strike="noStrike">
              <a:solidFill>
                <a:schemeClr val="dk1"/>
              </a:solidFill>
              <a:latin typeface="Calibri"/>
              <a:ea typeface="Calibri"/>
              <a:cs typeface="Calibri"/>
              <a:sym typeface="Calibri"/>
            </a:endParaRPr>
          </a:p>
        </p:txBody>
      </p:sp>
      <p:sp>
        <p:nvSpPr>
          <p:cNvPr id="114" name="Google Shape;114;p6"/>
          <p:cNvSpPr/>
          <p:nvPr/>
        </p:nvSpPr>
        <p:spPr>
          <a:xfrm>
            <a:off x="6345936" y="3090672"/>
            <a:ext cx="2240280" cy="12344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50"/>
              <a:buFont typeface="Calibri"/>
              <a:buNone/>
            </a:pPr>
            <a:r>
              <a:rPr b="0" i="0" lang="en-US" sz="1050" u="none" cap="none" strike="noStrike">
                <a:solidFill>
                  <a:srgbClr val="5A6377"/>
                </a:solidFill>
                <a:latin typeface="Calibri"/>
                <a:ea typeface="Calibri"/>
                <a:cs typeface="Calibri"/>
                <a:sym typeface="Calibri"/>
              </a:rPr>
              <a:t>Saturation is where a unit gets regulatory order in it. Regulation manifests as law and orderliness — mediative, conserving every unit, never a statutory command from outside.</a:t>
            </a:r>
            <a:endParaRPr b="0" i="0" sz="1050" u="none" cap="none" strike="noStrike">
              <a:solidFill>
                <a:schemeClr val="dk1"/>
              </a:solidFill>
              <a:latin typeface="Calibri"/>
              <a:ea typeface="Calibri"/>
              <a:cs typeface="Calibri"/>
              <a:sym typeface="Calibri"/>
            </a:endParaRPr>
          </a:p>
        </p:txBody>
      </p:sp>
      <p:sp>
        <p:nvSpPr>
          <p:cNvPr id="115" name="Google Shape;115;p6"/>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Together, the three endowments prepare every unit for growth at its own level — only the fully-formed sentient atom feels this as a drive toward bliss. — SB pp. 49–62, 69; MVD pp. 26, 32–33, 40; JV p. 150</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7"/>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7"/>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7"/>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7"/>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§1.3</a:t>
            </a:r>
            <a:endParaRPr b="0" i="0" sz="1050" u="none" cap="none" strike="noStrike">
              <a:solidFill>
                <a:schemeClr val="dk1"/>
              </a:solidFill>
              <a:latin typeface="Calibri"/>
              <a:ea typeface="Calibri"/>
              <a:cs typeface="Calibri"/>
              <a:sym typeface="Calibri"/>
            </a:endParaRPr>
          </a:p>
        </p:txBody>
      </p:sp>
      <p:sp>
        <p:nvSpPr>
          <p:cNvPr id="125" name="Google Shape;125;p7"/>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What Every Unit Is: Four Inseparable Aspects</a:t>
            </a:r>
            <a:endParaRPr b="0" i="0" sz="3000" u="none" cap="none" strike="noStrike">
              <a:solidFill>
                <a:schemeClr val="dk1"/>
              </a:solidFill>
              <a:latin typeface="Calibri"/>
              <a:ea typeface="Calibri"/>
              <a:cs typeface="Calibri"/>
              <a:sym typeface="Calibri"/>
            </a:endParaRPr>
          </a:p>
        </p:txBody>
      </p:sp>
      <p:sp>
        <p:nvSpPr>
          <p:cNvPr id="126" name="Google Shape;126;p7"/>
          <p:cNvSpPr/>
          <p:nvPr/>
        </p:nvSpPr>
        <p:spPr>
          <a:xfrm>
            <a:off x="640080" y="1280160"/>
            <a:ext cx="3794760" cy="1188720"/>
          </a:xfrm>
          <a:prstGeom prst="roundRect">
            <a:avLst>
              <a:gd fmla="val 6923"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7"/>
          <p:cNvSpPr/>
          <p:nvPr/>
        </p:nvSpPr>
        <p:spPr>
          <a:xfrm>
            <a:off x="822960" y="1463040"/>
            <a:ext cx="310896" cy="31089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7"/>
          <p:cNvSpPr/>
          <p:nvPr/>
        </p:nvSpPr>
        <p:spPr>
          <a:xfrm>
            <a:off x="885139" y="1525219"/>
            <a:ext cx="186538" cy="186538"/>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7"/>
          <p:cNvSpPr/>
          <p:nvPr/>
        </p:nvSpPr>
        <p:spPr>
          <a:xfrm>
            <a:off x="937992" y="1578072"/>
            <a:ext cx="80833" cy="80833"/>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7"/>
          <p:cNvSpPr/>
          <p:nvPr/>
        </p:nvSpPr>
        <p:spPr>
          <a:xfrm>
            <a:off x="1261872" y="1389888"/>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Form</a:t>
            </a:r>
            <a:endParaRPr b="0" i="0" sz="1350" u="none" cap="none" strike="noStrike">
              <a:solidFill>
                <a:schemeClr val="dk1"/>
              </a:solidFill>
              <a:latin typeface="Calibri"/>
              <a:ea typeface="Calibri"/>
              <a:cs typeface="Calibri"/>
              <a:sym typeface="Calibri"/>
            </a:endParaRPr>
          </a:p>
        </p:txBody>
      </p:sp>
      <p:sp>
        <p:nvSpPr>
          <p:cNvPr id="131" name="Google Shape;131;p7"/>
          <p:cNvSpPr/>
          <p:nvPr/>
        </p:nvSpPr>
        <p:spPr>
          <a:xfrm>
            <a:off x="1261872" y="1682496"/>
            <a:ext cx="30632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Shape, volume, and density — by which a bounded unit is individuated. Shared across all orders.</a:t>
            </a:r>
            <a:endParaRPr b="0" i="0" sz="1030" u="none" cap="none" strike="noStrike">
              <a:solidFill>
                <a:schemeClr val="dk1"/>
              </a:solidFill>
              <a:latin typeface="Calibri"/>
              <a:ea typeface="Calibri"/>
              <a:cs typeface="Calibri"/>
              <a:sym typeface="Calibri"/>
            </a:endParaRPr>
          </a:p>
        </p:txBody>
      </p:sp>
      <p:sp>
        <p:nvSpPr>
          <p:cNvPr id="132" name="Google Shape;132;p7"/>
          <p:cNvSpPr/>
          <p:nvPr/>
        </p:nvSpPr>
        <p:spPr>
          <a:xfrm>
            <a:off x="4709160" y="1280160"/>
            <a:ext cx="3794760" cy="1188720"/>
          </a:xfrm>
          <a:prstGeom prst="roundRect">
            <a:avLst>
              <a:gd fmla="val 6923"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7"/>
          <p:cNvSpPr/>
          <p:nvPr/>
        </p:nvSpPr>
        <p:spPr>
          <a:xfrm>
            <a:off x="4892040" y="1463040"/>
            <a:ext cx="310896" cy="31089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7"/>
          <p:cNvSpPr/>
          <p:nvPr/>
        </p:nvSpPr>
        <p:spPr>
          <a:xfrm>
            <a:off x="4954219" y="1525219"/>
            <a:ext cx="186538" cy="186538"/>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7"/>
          <p:cNvSpPr/>
          <p:nvPr/>
        </p:nvSpPr>
        <p:spPr>
          <a:xfrm>
            <a:off x="5007072" y="1578072"/>
            <a:ext cx="80833" cy="80833"/>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
          <p:cNvSpPr/>
          <p:nvPr/>
        </p:nvSpPr>
        <p:spPr>
          <a:xfrm>
            <a:off x="5330952" y="1389888"/>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Properties</a:t>
            </a:r>
            <a:endParaRPr b="0" i="0" sz="1350" u="none" cap="none" strike="noStrike">
              <a:solidFill>
                <a:schemeClr val="dk1"/>
              </a:solidFill>
              <a:latin typeface="Calibri"/>
              <a:ea typeface="Calibri"/>
              <a:cs typeface="Calibri"/>
              <a:sym typeface="Calibri"/>
            </a:endParaRPr>
          </a:p>
        </p:txBody>
      </p:sp>
      <p:sp>
        <p:nvSpPr>
          <p:cNvPr id="137" name="Google Shape;137;p7"/>
          <p:cNvSpPr/>
          <p:nvPr/>
        </p:nvSpPr>
        <p:spPr>
          <a:xfrm>
            <a:off x="5330952" y="1682496"/>
            <a:ext cx="30632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Effects units have on one another in mutuality — generative, degenerative, and mediative (assisting creation, dissolution, sustainment).</a:t>
            </a:r>
            <a:endParaRPr b="0" i="0" sz="1030" u="none" cap="none" strike="noStrike">
              <a:solidFill>
                <a:schemeClr val="dk1"/>
              </a:solidFill>
              <a:latin typeface="Calibri"/>
              <a:ea typeface="Calibri"/>
              <a:cs typeface="Calibri"/>
              <a:sym typeface="Calibri"/>
            </a:endParaRPr>
          </a:p>
        </p:txBody>
      </p:sp>
      <p:sp>
        <p:nvSpPr>
          <p:cNvPr id="138" name="Google Shape;138;p7"/>
          <p:cNvSpPr/>
          <p:nvPr/>
        </p:nvSpPr>
        <p:spPr>
          <a:xfrm>
            <a:off x="640080" y="2606040"/>
            <a:ext cx="3794760" cy="1188720"/>
          </a:xfrm>
          <a:prstGeom prst="roundRect">
            <a:avLst>
              <a:gd fmla="val 6923"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7"/>
          <p:cNvSpPr/>
          <p:nvPr/>
        </p:nvSpPr>
        <p:spPr>
          <a:xfrm>
            <a:off x="822960" y="2788920"/>
            <a:ext cx="310896" cy="31089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7"/>
          <p:cNvSpPr/>
          <p:nvPr/>
        </p:nvSpPr>
        <p:spPr>
          <a:xfrm>
            <a:off x="885139" y="2851099"/>
            <a:ext cx="186538" cy="186538"/>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7"/>
          <p:cNvSpPr/>
          <p:nvPr/>
        </p:nvSpPr>
        <p:spPr>
          <a:xfrm>
            <a:off x="937992" y="2903952"/>
            <a:ext cx="80833" cy="80833"/>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1261872" y="2715768"/>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Essential nature</a:t>
            </a:r>
            <a:endParaRPr b="0" i="0" sz="1350" u="none" cap="none" strike="noStrike">
              <a:solidFill>
                <a:schemeClr val="dk1"/>
              </a:solidFill>
              <a:latin typeface="Calibri"/>
              <a:ea typeface="Calibri"/>
              <a:cs typeface="Calibri"/>
              <a:sym typeface="Calibri"/>
            </a:endParaRPr>
          </a:p>
        </p:txBody>
      </p:sp>
      <p:sp>
        <p:nvSpPr>
          <p:cNvPr id="143" name="Google Shape;143;p7"/>
          <p:cNvSpPr/>
          <p:nvPr/>
        </p:nvSpPr>
        <p:spPr>
          <a:xfrm>
            <a:off x="1261872" y="3008376"/>
            <a:ext cx="30632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How the usefulness of a unit’s properties participates in its order — its distinctive way of being (its “ness”).</a:t>
            </a:r>
            <a:endParaRPr b="0" i="0" sz="1030" u="none" cap="none" strike="noStrike">
              <a:solidFill>
                <a:schemeClr val="dk1"/>
              </a:solidFill>
              <a:latin typeface="Calibri"/>
              <a:ea typeface="Calibri"/>
              <a:cs typeface="Calibri"/>
              <a:sym typeface="Calibri"/>
            </a:endParaRPr>
          </a:p>
        </p:txBody>
      </p:sp>
      <p:sp>
        <p:nvSpPr>
          <p:cNvPr id="144" name="Google Shape;144;p7"/>
          <p:cNvSpPr/>
          <p:nvPr/>
        </p:nvSpPr>
        <p:spPr>
          <a:xfrm>
            <a:off x="4709160" y="2606040"/>
            <a:ext cx="3794760" cy="1188720"/>
          </a:xfrm>
          <a:prstGeom prst="roundRect">
            <a:avLst>
              <a:gd fmla="val 6923"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4892040" y="2788920"/>
            <a:ext cx="310896" cy="31089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7"/>
          <p:cNvSpPr/>
          <p:nvPr/>
        </p:nvSpPr>
        <p:spPr>
          <a:xfrm>
            <a:off x="4954219" y="2851099"/>
            <a:ext cx="186538" cy="186538"/>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7"/>
          <p:cNvSpPr/>
          <p:nvPr/>
        </p:nvSpPr>
        <p:spPr>
          <a:xfrm>
            <a:off x="5007072" y="2903952"/>
            <a:ext cx="80833" cy="80833"/>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7"/>
          <p:cNvSpPr/>
          <p:nvPr/>
        </p:nvSpPr>
        <p:spPr>
          <a:xfrm>
            <a:off x="5330952" y="2715768"/>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Dharma</a:t>
            </a:r>
            <a:endParaRPr b="0" i="0" sz="1350" u="none" cap="none" strike="noStrike">
              <a:solidFill>
                <a:schemeClr val="dk1"/>
              </a:solidFill>
              <a:latin typeface="Calibri"/>
              <a:ea typeface="Calibri"/>
              <a:cs typeface="Calibri"/>
              <a:sym typeface="Calibri"/>
            </a:endParaRPr>
          </a:p>
        </p:txBody>
      </p:sp>
      <p:sp>
        <p:nvSpPr>
          <p:cNvPr id="149" name="Google Shape;149;p7"/>
          <p:cNvSpPr/>
          <p:nvPr/>
        </p:nvSpPr>
        <p:spPr>
          <a:xfrm>
            <a:off x="5330952" y="3008376"/>
            <a:ext cx="30632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What a unit cannot be separated from — its innateness and fulfilment. Since existence is coexistence, indestructibility is the ultimate dharma.</a:t>
            </a:r>
            <a:endParaRPr b="0" i="0" sz="1030" u="none" cap="none" strike="noStrike">
              <a:solidFill>
                <a:schemeClr val="dk1"/>
              </a:solidFill>
              <a:latin typeface="Calibri"/>
              <a:ea typeface="Calibri"/>
              <a:cs typeface="Calibri"/>
              <a:sym typeface="Calibri"/>
            </a:endParaRPr>
          </a:p>
        </p:txBody>
      </p:sp>
      <p:sp>
        <p:nvSpPr>
          <p:cNvPr id="150" name="Google Shape;150;p7"/>
          <p:cNvSpPr/>
          <p:nvPr/>
        </p:nvSpPr>
        <p:spPr>
          <a:xfrm>
            <a:off x="640080" y="3977640"/>
            <a:ext cx="7863840" cy="749808"/>
          </a:xfrm>
          <a:prstGeom prst="roundRect">
            <a:avLst>
              <a:gd fmla="val 10976" name="adj"/>
            </a:avLst>
          </a:prstGeom>
          <a:solidFill>
            <a:srgbClr val="FAF1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7"/>
          <p:cNvSpPr/>
          <p:nvPr/>
        </p:nvSpPr>
        <p:spPr>
          <a:xfrm>
            <a:off x="868680" y="3977640"/>
            <a:ext cx="740664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200"/>
              <a:buFont typeface="Calibri"/>
              <a:buNone/>
            </a:pPr>
            <a:r>
              <a:rPr b="1" i="0" lang="en-US" sz="1200" u="none" cap="none" strike="noStrike">
                <a:solidFill>
                  <a:srgbClr val="9A6414"/>
                </a:solidFill>
                <a:latin typeface="Calibri"/>
                <a:ea typeface="Calibri"/>
                <a:cs typeface="Calibri"/>
                <a:sym typeface="Calibri"/>
              </a:rPr>
              <a:t>Natural state → development</a:t>
            </a:r>
            <a:r>
              <a:rPr b="0" i="0" lang="en-US" sz="1200" u="none" cap="none" strike="noStrike">
                <a:solidFill>
                  <a:srgbClr val="5A6377"/>
                </a:solidFill>
                <a:latin typeface="Calibri"/>
                <a:ea typeface="Calibri"/>
                <a:cs typeface="Calibri"/>
                <a:sym typeface="Calibri"/>
              </a:rPr>
              <a:t xml:space="preserve">  (fulfilment aligned with innateness)      </a:t>
            </a:r>
            <a:r>
              <a:rPr b="1" i="0" lang="en-US" sz="1200" u="none" cap="none" strike="noStrike">
                <a:solidFill>
                  <a:srgbClr val="9A6414"/>
                </a:solidFill>
                <a:latin typeface="Calibri"/>
                <a:ea typeface="Calibri"/>
                <a:cs typeface="Calibri"/>
                <a:sym typeface="Calibri"/>
              </a:rPr>
              <a:t>Excited state → decline</a:t>
            </a:r>
            <a:r>
              <a:rPr b="0" i="0" lang="en-US" sz="1200" u="none" cap="none" strike="noStrike">
                <a:solidFill>
                  <a:srgbClr val="5A6377"/>
                </a:solidFill>
                <a:latin typeface="Calibri"/>
                <a:ea typeface="Calibri"/>
                <a:cs typeface="Calibri"/>
                <a:sym typeface="Calibri"/>
              </a:rPr>
              <a:t xml:space="preserve">  — each unit is a whole along with its environment; when all relationships are fulfilled, it is at ease.</a:t>
            </a:r>
            <a:endParaRPr b="0" i="0" sz="1200" u="none" cap="none" strike="noStrike">
              <a:solidFill>
                <a:schemeClr val="dk1"/>
              </a:solidFill>
              <a:latin typeface="Calibri"/>
              <a:ea typeface="Calibri"/>
              <a:cs typeface="Calibri"/>
              <a:sym typeface="Calibri"/>
            </a:endParaRPr>
          </a:p>
        </p:txBody>
      </p:sp>
      <p:sp>
        <p:nvSpPr>
          <p:cNvPr id="152" name="Google Shape;152;p7"/>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MVD pp. 50–51, 112  ·  SB pp. 13–15, 50–54  ·  JV p. 113 (the peepal tree’s definite conduct)</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8"/>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8"/>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§1.4 · COMPLEMENTARITY AS VALUE</a:t>
            </a:r>
            <a:endParaRPr b="0" i="0" sz="1050" u="none" cap="none" strike="noStrike">
              <a:solidFill>
                <a:schemeClr val="dk1"/>
              </a:solidFill>
              <a:latin typeface="Calibri"/>
              <a:ea typeface="Calibri"/>
              <a:cs typeface="Calibri"/>
              <a:sym typeface="Calibri"/>
            </a:endParaRPr>
          </a:p>
        </p:txBody>
      </p:sp>
      <p:sp>
        <p:nvSpPr>
          <p:cNvPr id="162" name="Google Shape;162;p8"/>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Units in Relationships</a:t>
            </a:r>
            <a:endParaRPr b="0" i="0" sz="3000" u="none" cap="none" strike="noStrike">
              <a:solidFill>
                <a:schemeClr val="dk1"/>
              </a:solidFill>
              <a:latin typeface="Calibri"/>
              <a:ea typeface="Calibri"/>
              <a:cs typeface="Calibri"/>
              <a:sym typeface="Calibri"/>
            </a:endParaRPr>
          </a:p>
        </p:txBody>
      </p:sp>
      <p:sp>
        <p:nvSpPr>
          <p:cNvPr id="163" name="Google Shape;163;p8"/>
          <p:cNvSpPr/>
          <p:nvPr/>
        </p:nvSpPr>
        <p:spPr>
          <a:xfrm>
            <a:off x="640080" y="1207008"/>
            <a:ext cx="79552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300"/>
              <a:buFont typeface="Calibri"/>
              <a:buNone/>
            </a:pPr>
            <a:r>
              <a:rPr b="0" i="0" lang="en-US" sz="1300" u="none" cap="none" strike="noStrike">
                <a:solidFill>
                  <a:srgbClr val="5A6377"/>
                </a:solidFill>
                <a:latin typeface="Calibri"/>
                <a:ea typeface="Calibri"/>
                <a:cs typeface="Calibri"/>
                <a:sym typeface="Calibri"/>
              </a:rPr>
              <a:t>“Nothing is isolated — that is the principle” (JV p. 43). Complementarity is actualised as value in mutuality; the unit’s main drive is to recognise and fulfil its relationships.</a:t>
            </a:r>
            <a:endParaRPr b="0" i="0" sz="1300" u="none" cap="none" strike="noStrike">
              <a:solidFill>
                <a:schemeClr val="dk1"/>
              </a:solidFill>
              <a:latin typeface="Calibri"/>
              <a:ea typeface="Calibri"/>
              <a:cs typeface="Calibri"/>
              <a:sym typeface="Calibri"/>
            </a:endParaRPr>
          </a:p>
        </p:txBody>
      </p:sp>
      <p:sp>
        <p:nvSpPr>
          <p:cNvPr id="164" name="Google Shape;164;p8"/>
          <p:cNvSpPr/>
          <p:nvPr/>
        </p:nvSpPr>
        <p:spPr>
          <a:xfrm>
            <a:off x="640080" y="1874520"/>
            <a:ext cx="3794760" cy="1170432"/>
          </a:xfrm>
          <a:prstGeom prst="roundRect">
            <a:avLst>
              <a:gd fmla="val 7031"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841248" y="1993392"/>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00"/>
              <a:buFont typeface="Cambria"/>
              <a:buNone/>
            </a:pPr>
            <a:r>
              <a:rPr b="1" i="0" lang="en-US" sz="1400" u="none" cap="none" strike="noStrike">
                <a:solidFill>
                  <a:srgbClr val="1E2447"/>
                </a:solidFill>
                <a:latin typeface="Cambria"/>
                <a:ea typeface="Cambria"/>
                <a:cs typeface="Cambria"/>
                <a:sym typeface="Cambria"/>
              </a:rPr>
              <a:t>Relationship</a:t>
            </a:r>
            <a:endParaRPr b="0" i="0" sz="1400" u="none" cap="none" strike="noStrike">
              <a:solidFill>
                <a:schemeClr val="dk1"/>
              </a:solidFill>
              <a:latin typeface="Calibri"/>
              <a:ea typeface="Calibri"/>
              <a:cs typeface="Calibri"/>
              <a:sym typeface="Calibri"/>
            </a:endParaRPr>
          </a:p>
        </p:txBody>
      </p:sp>
      <p:sp>
        <p:nvSpPr>
          <p:cNvPr id="166" name="Google Shape;166;p8"/>
          <p:cNvSpPr/>
          <p:nvPr/>
        </p:nvSpPr>
        <p:spPr>
          <a:xfrm>
            <a:off x="841248" y="228600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0" lang="en-US" sz="1100" u="none" cap="none" strike="noStrike">
                <a:solidFill>
                  <a:srgbClr val="5A6377"/>
                </a:solidFill>
                <a:latin typeface="Calibri"/>
                <a:ea typeface="Calibri"/>
                <a:cs typeface="Calibri"/>
                <a:sym typeface="Calibri"/>
              </a:rPr>
              <a:t>Mutuality where expectations are predetermined in the sense of completeness — e.g. parent and child.</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709160" y="1874520"/>
            <a:ext cx="3794760" cy="1170432"/>
          </a:xfrm>
          <a:prstGeom prst="roundRect">
            <a:avLst>
              <a:gd fmla="val 7031"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8"/>
          <p:cNvSpPr/>
          <p:nvPr/>
        </p:nvSpPr>
        <p:spPr>
          <a:xfrm>
            <a:off x="4910328" y="1993392"/>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B4A7A"/>
              </a:buClr>
              <a:buSzPts val="1400"/>
              <a:buFont typeface="Cambria"/>
              <a:buNone/>
            </a:pPr>
            <a:r>
              <a:rPr b="1" i="0" lang="en-US" sz="1400" u="none" cap="none" strike="noStrike">
                <a:solidFill>
                  <a:srgbClr val="3B4A7A"/>
                </a:solidFill>
                <a:latin typeface="Cambria"/>
                <a:ea typeface="Cambria"/>
                <a:cs typeface="Cambria"/>
                <a:sym typeface="Cambria"/>
              </a:rPr>
              <a:t>Association</a:t>
            </a:r>
            <a:endParaRPr b="0" i="0" sz="1400" u="none" cap="none" strike="noStrike">
              <a:solidFill>
                <a:schemeClr val="dk1"/>
              </a:solidFill>
              <a:latin typeface="Calibri"/>
              <a:ea typeface="Calibri"/>
              <a:cs typeface="Calibri"/>
              <a:sym typeface="Calibri"/>
            </a:endParaRPr>
          </a:p>
        </p:txBody>
      </p:sp>
      <p:sp>
        <p:nvSpPr>
          <p:cNvPr id="169" name="Google Shape;169;p8"/>
          <p:cNvSpPr/>
          <p:nvPr/>
        </p:nvSpPr>
        <p:spPr>
          <a:xfrm>
            <a:off x="4910328" y="228600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0" lang="en-US" sz="1100" u="none" cap="none" strike="noStrike">
                <a:solidFill>
                  <a:srgbClr val="5A6377"/>
                </a:solidFill>
                <a:latin typeface="Calibri"/>
                <a:ea typeface="Calibri"/>
                <a:cs typeface="Calibri"/>
                <a:sym typeface="Calibri"/>
              </a:rPr>
              <a:t>Mutuality where expectations are voluntary — e.g. neighbours who share a wall.</a:t>
            </a:r>
            <a:endParaRPr b="0" i="0" sz="1100" u="none" cap="none" strike="noStrike">
              <a:solidFill>
                <a:schemeClr val="dk1"/>
              </a:solidFill>
              <a:latin typeface="Calibri"/>
              <a:ea typeface="Calibri"/>
              <a:cs typeface="Calibri"/>
              <a:sym typeface="Calibri"/>
            </a:endParaRPr>
          </a:p>
        </p:txBody>
      </p:sp>
      <p:sp>
        <p:nvSpPr>
          <p:cNvPr id="170" name="Google Shape;170;p8"/>
          <p:cNvSpPr/>
          <p:nvPr/>
        </p:nvSpPr>
        <p:spPr>
          <a:xfrm>
            <a:off x="640080" y="3246120"/>
            <a:ext cx="79552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libri"/>
              <a:buNone/>
            </a:pPr>
            <a:r>
              <a:rPr b="1" i="0" lang="en-US" sz="1250" u="none" cap="none" strike="noStrike">
                <a:solidFill>
                  <a:srgbClr val="1E2447"/>
                </a:solidFill>
                <a:latin typeface="Calibri"/>
                <a:ea typeface="Calibri"/>
                <a:cs typeface="Calibri"/>
                <a:sym typeface="Calibri"/>
              </a:rPr>
              <a:t xml:space="preserve">Essentiality is value.  </a:t>
            </a:r>
            <a:r>
              <a:rPr b="0" i="0" lang="en-US" sz="1200" u="none" cap="none" strike="noStrike">
                <a:solidFill>
                  <a:srgbClr val="5A6377"/>
                </a:solidFill>
                <a:latin typeface="Calibri"/>
                <a:ea typeface="Calibri"/>
                <a:cs typeface="Calibri"/>
                <a:sym typeface="Calibri"/>
              </a:rPr>
              <a:t>Object values — utility and art — operate at every order; jeevan values, human values, relationship values, and expression values presuppose the knowledge order.</a:t>
            </a:r>
            <a:endParaRPr b="0" i="0" sz="1250" u="none" cap="none" strike="noStrike">
              <a:solidFill>
                <a:schemeClr val="dk1"/>
              </a:solidFill>
              <a:latin typeface="Calibri"/>
              <a:ea typeface="Calibri"/>
              <a:cs typeface="Calibri"/>
              <a:sym typeface="Calibri"/>
            </a:endParaRPr>
          </a:p>
        </p:txBody>
      </p:sp>
      <p:sp>
        <p:nvSpPr>
          <p:cNvPr id="171" name="Google Shape;171;p8"/>
          <p:cNvSpPr/>
          <p:nvPr/>
        </p:nvSpPr>
        <p:spPr>
          <a:xfrm>
            <a:off x="64008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8"/>
          <p:cNvSpPr/>
          <p:nvPr/>
        </p:nvSpPr>
        <p:spPr>
          <a:xfrm>
            <a:off x="64008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Knowing</a:t>
            </a:r>
            <a:endParaRPr b="0" i="0" sz="1250" u="none" cap="none" strike="noStrike">
              <a:solidFill>
                <a:schemeClr val="dk1"/>
              </a:solidFill>
              <a:latin typeface="Calibri"/>
              <a:ea typeface="Calibri"/>
              <a:cs typeface="Calibri"/>
              <a:sym typeface="Calibri"/>
            </a:endParaRPr>
          </a:p>
        </p:txBody>
      </p:sp>
      <p:sp>
        <p:nvSpPr>
          <p:cNvPr id="173" name="Google Shape;173;p8"/>
          <p:cNvSpPr/>
          <p:nvPr/>
        </p:nvSpPr>
        <p:spPr>
          <a:xfrm>
            <a:off x="233172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174" name="Google Shape;174;p8"/>
          <p:cNvSpPr/>
          <p:nvPr/>
        </p:nvSpPr>
        <p:spPr>
          <a:xfrm>
            <a:off x="265176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265176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Believing</a:t>
            </a:r>
            <a:endParaRPr b="0" i="0" sz="1250" u="none" cap="none" strike="noStrike">
              <a:solidFill>
                <a:schemeClr val="dk1"/>
              </a:solidFill>
              <a:latin typeface="Calibri"/>
              <a:ea typeface="Calibri"/>
              <a:cs typeface="Calibri"/>
              <a:sym typeface="Calibri"/>
            </a:endParaRPr>
          </a:p>
        </p:txBody>
      </p:sp>
      <p:sp>
        <p:nvSpPr>
          <p:cNvPr id="176" name="Google Shape;176;p8"/>
          <p:cNvSpPr/>
          <p:nvPr/>
        </p:nvSpPr>
        <p:spPr>
          <a:xfrm>
            <a:off x="434340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177" name="Google Shape;177;p8"/>
          <p:cNvSpPr/>
          <p:nvPr/>
        </p:nvSpPr>
        <p:spPr>
          <a:xfrm>
            <a:off x="466344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8"/>
          <p:cNvSpPr/>
          <p:nvPr/>
        </p:nvSpPr>
        <p:spPr>
          <a:xfrm>
            <a:off x="466344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Recognising</a:t>
            </a:r>
            <a:endParaRPr b="0" i="0" sz="1250" u="none" cap="none" strike="noStrike">
              <a:solidFill>
                <a:schemeClr val="dk1"/>
              </a:solidFill>
              <a:latin typeface="Calibri"/>
              <a:ea typeface="Calibri"/>
              <a:cs typeface="Calibri"/>
              <a:sym typeface="Calibri"/>
            </a:endParaRPr>
          </a:p>
        </p:txBody>
      </p:sp>
      <p:sp>
        <p:nvSpPr>
          <p:cNvPr id="179" name="Google Shape;179;p8"/>
          <p:cNvSpPr/>
          <p:nvPr/>
        </p:nvSpPr>
        <p:spPr>
          <a:xfrm>
            <a:off x="635508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180" name="Google Shape;180;p8"/>
          <p:cNvSpPr/>
          <p:nvPr/>
        </p:nvSpPr>
        <p:spPr>
          <a:xfrm>
            <a:off x="667512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667512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Fulfilling</a:t>
            </a:r>
            <a:endParaRPr b="0" i="0" sz="1250" u="none" cap="none" strike="noStrike">
              <a:solidFill>
                <a:schemeClr val="dk1"/>
              </a:solidFill>
              <a:latin typeface="Calibri"/>
              <a:ea typeface="Calibri"/>
              <a:cs typeface="Calibri"/>
              <a:sym typeface="Calibri"/>
            </a:endParaRPr>
          </a:p>
        </p:txBody>
      </p:sp>
      <p:sp>
        <p:nvSpPr>
          <p:cNvPr id="182" name="Google Shape;182;p8"/>
          <p:cNvSpPr/>
          <p:nvPr/>
        </p:nvSpPr>
        <p:spPr>
          <a:xfrm>
            <a:off x="640080" y="4553712"/>
            <a:ext cx="79552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1" lang="en-US" sz="1100" u="none" cap="none" strike="noStrike">
                <a:solidFill>
                  <a:srgbClr val="5A6377"/>
                </a:solidFill>
                <a:latin typeface="Calibri"/>
                <a:ea typeface="Calibri"/>
                <a:cs typeface="Calibri"/>
                <a:sym typeface="Calibri"/>
              </a:rPr>
              <a:t>Below the knowledge order fulfilment is definite; at the human order it must be achieved through this chain.</a:t>
            </a:r>
            <a:endParaRPr b="0" i="0" sz="1100" u="none" cap="none" strike="noStrike">
              <a:solidFill>
                <a:schemeClr val="dk1"/>
              </a:solidFill>
              <a:latin typeface="Calibri"/>
              <a:ea typeface="Calibri"/>
              <a:cs typeface="Calibri"/>
              <a:sym typeface="Calibri"/>
            </a:endParaRPr>
          </a:p>
        </p:txBody>
      </p:sp>
      <p:sp>
        <p:nvSpPr>
          <p:cNvPr id="183" name="Google Shape;183;p8"/>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MVD pp. 61–62, 27  ·  SB pp. 50, 53, 61  ·  JV p. 69</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 name="Shape 188"/>
        <p:cNvGrpSpPr/>
        <p:nvPr/>
      </p:nvGrpSpPr>
      <p:grpSpPr>
        <a:xfrm>
          <a:off x="0" y="0"/>
          <a:ext cx="0" cy="0"/>
          <a:chOff x="0" y="0"/>
          <a:chExt cx="0" cy="0"/>
        </a:xfrm>
      </p:grpSpPr>
      <p:sp>
        <p:nvSpPr>
          <p:cNvPr id="189" name="Google Shape;189;p9"/>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9"/>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9"/>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§1.5</a:t>
            </a:r>
            <a:endParaRPr b="0" i="0" sz="1050" u="none" cap="none" strike="noStrike">
              <a:solidFill>
                <a:schemeClr val="dk1"/>
              </a:solidFill>
              <a:latin typeface="Calibri"/>
              <a:ea typeface="Calibri"/>
              <a:cs typeface="Calibri"/>
              <a:sym typeface="Calibri"/>
            </a:endParaRPr>
          </a:p>
        </p:txBody>
      </p:sp>
      <p:sp>
        <p:nvSpPr>
          <p:cNvPr id="193" name="Google Shape;193;p9"/>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The Four Orders of Nature</a:t>
            </a:r>
            <a:endParaRPr b="0" i="0" sz="3000" u="none" cap="none" strike="noStrike">
              <a:solidFill>
                <a:schemeClr val="dk1"/>
              </a:solidFill>
              <a:latin typeface="Calibri"/>
              <a:ea typeface="Calibri"/>
              <a:cs typeface="Calibri"/>
              <a:sym typeface="Calibri"/>
            </a:endParaRPr>
          </a:p>
        </p:txBody>
      </p:sp>
      <p:graphicFrame>
        <p:nvGraphicFramePr>
          <p:cNvPr id="194" name="Google Shape;194;p9"/>
          <p:cNvGraphicFramePr/>
          <p:nvPr/>
        </p:nvGraphicFramePr>
        <p:xfrm>
          <a:off x="640080" y="1325880"/>
          <a:ext cx="3000000" cy="3000000"/>
        </p:xfrm>
        <a:graphic>
          <a:graphicData uri="http://schemas.openxmlformats.org/drawingml/2006/table">
            <a:tbl>
              <a:tblPr>
                <a:noFill/>
                <a:tableStyleId>{6C92A692-798E-4634-90B1-36CD3966BFCB}</a:tableStyleId>
              </a:tblPr>
              <a:tblGrid>
                <a:gridCol w="1828800"/>
                <a:gridCol w="2651750"/>
                <a:gridCol w="2011675"/>
                <a:gridCol w="1371600"/>
              </a:tblGrid>
              <a:tr h="365750">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Order</a:t>
                      </a:r>
                      <a:endParaRPr sz="12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Essential nature</a:t>
                      </a:r>
                      <a:endParaRPr sz="12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Dharma (cumulative)</a:t>
                      </a:r>
                      <a:endParaRPr sz="12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Status</a:t>
                      </a:r>
                      <a:endParaRPr sz="12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r>
              <a:tr h="502925">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Material</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integration–disintegration</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existence</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insentient</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Bio (pranic)</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vitalising–devitalising</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 growth</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insentient</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Animal</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cruel–uncruel</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 hope to live</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sentient — jeevan appears</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685800">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Knowledge (human)</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fortitude, courage, generosity, kindness, grace, compassion</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 happiness</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sentient — awakening possible</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bl>
          </a:graphicData>
        </a:graphic>
      </p:graphicFrame>
      <p:sp>
        <p:nvSpPr>
          <p:cNvPr id="195" name="Google Shape;195;p9"/>
          <p:cNvSpPr/>
          <p:nvPr/>
        </p:nvSpPr>
        <p:spPr>
          <a:xfrm>
            <a:off x="640080" y="4069080"/>
            <a:ext cx="7863840" cy="658368"/>
          </a:xfrm>
          <a:prstGeom prst="roundRect">
            <a:avLst>
              <a:gd fmla="val 12500" name="adj"/>
            </a:avLst>
          </a:prstGeom>
          <a:solidFill>
            <a:srgbClr val="FAF1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9"/>
          <p:cNvSpPr/>
          <p:nvPr/>
        </p:nvSpPr>
        <p:spPr>
          <a:xfrm>
            <a:off x="868680" y="4069080"/>
            <a:ext cx="740664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150"/>
              <a:buFont typeface="Calibri"/>
              <a:buNone/>
            </a:pPr>
            <a:r>
              <a:rPr b="1" i="0" lang="en-US" sz="1150" u="none" cap="none" strike="noStrike">
                <a:solidFill>
                  <a:srgbClr val="9A6414"/>
                </a:solidFill>
                <a:latin typeface="Calibri"/>
                <a:ea typeface="Calibri"/>
                <a:cs typeface="Calibri"/>
                <a:sym typeface="Calibri"/>
              </a:rPr>
              <a:t xml:space="preserve">The sentience boundary lies between the bio and animal orders:  </a:t>
            </a:r>
            <a:r>
              <a:rPr b="0" i="0" lang="en-US" sz="1150" u="none" cap="none" strike="noStrike">
                <a:solidFill>
                  <a:srgbClr val="5A6377"/>
                </a:solidFill>
                <a:latin typeface="Calibri"/>
                <a:ea typeface="Calibri"/>
                <a:cs typeface="Calibri"/>
                <a:sym typeface="Calibri"/>
              </a:rPr>
              <a:t>hope to live is the defining activity of the sentient unit. Higher orders include the dharmas of lower orders cumulatively — each order a stable plateau, not a human typology.</a:t>
            </a:r>
            <a:endParaRPr b="0" i="0" sz="1150" u="none" cap="none" strike="noStrike">
              <a:solidFill>
                <a:schemeClr val="dk1"/>
              </a:solidFill>
              <a:latin typeface="Calibri"/>
              <a:ea typeface="Calibri"/>
              <a:cs typeface="Calibri"/>
              <a:sym typeface="Calibri"/>
            </a:endParaRPr>
          </a:p>
        </p:txBody>
      </p:sp>
      <p:sp>
        <p:nvSpPr>
          <p:cNvPr id="197" name="Google Shape;197;p9"/>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SB p. 179  ·  MVD pp. 5, 8, 13, 115  ·  JV p. 44</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 name="Shape 202"/>
        <p:cNvGrpSpPr/>
        <p:nvPr/>
      </p:nvGrpSpPr>
      <p:grpSpPr>
        <a:xfrm>
          <a:off x="0" y="0"/>
          <a:ext cx="0" cy="0"/>
          <a:chOff x="0" y="0"/>
          <a:chExt cx="0" cy="0"/>
        </a:xfrm>
      </p:grpSpPr>
      <p:sp>
        <p:nvSpPr>
          <p:cNvPr id="203" name="Google Shape;203;p10"/>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10"/>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0"/>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§1.6 · EFFORT · MOTION · RESULT</a:t>
            </a:r>
            <a:endParaRPr b="0" i="0" sz="1050" u="none" cap="none" strike="noStrike">
              <a:solidFill>
                <a:schemeClr val="dk1"/>
              </a:solidFill>
              <a:latin typeface="Calibri"/>
              <a:ea typeface="Calibri"/>
              <a:cs typeface="Calibri"/>
              <a:sym typeface="Calibri"/>
            </a:endParaRPr>
          </a:p>
        </p:txBody>
      </p:sp>
      <p:sp>
        <p:nvSpPr>
          <p:cNvPr id="207" name="Google Shape;207;p10"/>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The Completeness Drive</a:t>
            </a:r>
            <a:endParaRPr b="0" i="0" sz="3000" u="none" cap="none" strike="noStrike">
              <a:solidFill>
                <a:schemeClr val="dk1"/>
              </a:solidFill>
              <a:latin typeface="Calibri"/>
              <a:ea typeface="Calibri"/>
              <a:cs typeface="Calibri"/>
              <a:sym typeface="Calibri"/>
            </a:endParaRPr>
          </a:p>
        </p:txBody>
      </p:sp>
      <p:sp>
        <p:nvSpPr>
          <p:cNvPr id="208" name="Google Shape;208;p10"/>
          <p:cNvSpPr/>
          <p:nvPr/>
        </p:nvSpPr>
        <p:spPr>
          <a:xfrm>
            <a:off x="640080" y="1207008"/>
            <a:ext cx="795528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50"/>
              <a:buFont typeface="Calibri"/>
              <a:buNone/>
            </a:pPr>
            <a:r>
              <a:rPr b="0" i="0" lang="en-US" sz="1250" u="none" cap="none" strike="noStrike">
                <a:solidFill>
                  <a:srgbClr val="5A6377"/>
                </a:solidFill>
                <a:latin typeface="Calibri"/>
                <a:ea typeface="Calibri"/>
                <a:cs typeface="Calibri"/>
                <a:sym typeface="Calibri"/>
              </a:rPr>
              <a:t>Growth happens everywhere — particles into atoms, atoms into molecules, bodies, and societies. But that is only support and environment, not the deeper drive toward completeness. That drive continues only inside one special kind of atom, once it becomes whole and self-contained — that is where awakening happens. And every activity, at any level, is one inseparable triad — effort, motion, and result together, not three steps in a row.</a:t>
            </a:r>
            <a:endParaRPr b="0" i="0" sz="1250" u="none" cap="none" strike="noStrike">
              <a:solidFill>
                <a:schemeClr val="dk1"/>
              </a:solidFill>
              <a:latin typeface="Calibri"/>
              <a:ea typeface="Calibri"/>
              <a:cs typeface="Calibri"/>
              <a:sym typeface="Calibri"/>
            </a:endParaRPr>
          </a:p>
        </p:txBody>
      </p:sp>
      <p:sp>
        <p:nvSpPr>
          <p:cNvPr id="209" name="Google Shape;209;p10"/>
          <p:cNvSpPr/>
          <p:nvPr/>
        </p:nvSpPr>
        <p:spPr>
          <a:xfrm>
            <a:off x="1234440" y="2240280"/>
            <a:ext cx="1417320" cy="1417320"/>
          </a:xfrm>
          <a:prstGeom prst="ellipse">
            <a:avLst/>
          </a:prstGeom>
          <a:solidFill>
            <a:srgbClr val="3B4A7A"/>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0"/>
          <p:cNvSpPr/>
          <p:nvPr/>
        </p:nvSpPr>
        <p:spPr>
          <a:xfrm>
            <a:off x="1234440" y="2240280"/>
            <a:ext cx="1417320" cy="14173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Effort</a:t>
            </a:r>
            <a:endParaRPr b="0" i="0" sz="1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the internal side</a:t>
            </a:r>
            <a:endParaRPr b="0" i="0" sz="1200" u="none" cap="none" strike="noStrike">
              <a:solidFill>
                <a:schemeClr val="dk1"/>
              </a:solidFill>
              <a:latin typeface="Calibri"/>
              <a:ea typeface="Calibri"/>
              <a:cs typeface="Calibri"/>
              <a:sym typeface="Calibri"/>
            </a:endParaRPr>
          </a:p>
        </p:txBody>
      </p:sp>
      <p:sp>
        <p:nvSpPr>
          <p:cNvPr id="211" name="Google Shape;211;p10"/>
          <p:cNvSpPr/>
          <p:nvPr/>
        </p:nvSpPr>
        <p:spPr>
          <a:xfrm>
            <a:off x="1005840" y="3794760"/>
            <a:ext cx="18745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goal: restfulness of effort</a:t>
            </a:r>
            <a:endParaRPr b="0" i="0" sz="95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effort comes to rest in realisation</a:t>
            </a:r>
            <a:endParaRPr b="0" i="0" sz="950" u="none" cap="none" strike="noStrike">
              <a:solidFill>
                <a:schemeClr val="dk1"/>
              </a:solidFill>
              <a:latin typeface="Calibri"/>
              <a:ea typeface="Calibri"/>
              <a:cs typeface="Calibri"/>
              <a:sym typeface="Calibri"/>
            </a:endParaRPr>
          </a:p>
        </p:txBody>
      </p:sp>
      <p:sp>
        <p:nvSpPr>
          <p:cNvPr id="212" name="Google Shape;212;p10"/>
          <p:cNvSpPr/>
          <p:nvPr/>
        </p:nvSpPr>
        <p:spPr>
          <a:xfrm>
            <a:off x="3063240" y="2240280"/>
            <a:ext cx="1417320" cy="1417320"/>
          </a:xfrm>
          <a:prstGeom prst="ellipse">
            <a:avLst/>
          </a:prstGeom>
          <a:solidFill>
            <a:srgbClr val="3B4A7A"/>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0"/>
          <p:cNvSpPr/>
          <p:nvPr/>
        </p:nvSpPr>
        <p:spPr>
          <a:xfrm>
            <a:off x="3063240" y="2240280"/>
            <a:ext cx="1417320" cy="14173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Motion</a:t>
            </a:r>
            <a:endParaRPr b="0" i="0" sz="1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the external side</a:t>
            </a:r>
            <a:endParaRPr b="0" i="0" sz="1200" u="none" cap="none" strike="noStrike">
              <a:solidFill>
                <a:schemeClr val="dk1"/>
              </a:solidFill>
              <a:latin typeface="Calibri"/>
              <a:ea typeface="Calibri"/>
              <a:cs typeface="Calibri"/>
              <a:sym typeface="Calibri"/>
            </a:endParaRPr>
          </a:p>
        </p:txBody>
      </p:sp>
      <p:sp>
        <p:nvSpPr>
          <p:cNvPr id="214" name="Google Shape;214;p10"/>
          <p:cNvSpPr/>
          <p:nvPr/>
        </p:nvSpPr>
        <p:spPr>
          <a:xfrm>
            <a:off x="2834640" y="3794760"/>
            <a:ext cx="18745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goal: destination of motion</a:t>
            </a:r>
            <a:endParaRPr b="0" i="0" sz="95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motion arrives at right conduct</a:t>
            </a:r>
            <a:endParaRPr b="0" i="0" sz="950" u="none" cap="none" strike="noStrike">
              <a:solidFill>
                <a:schemeClr val="dk1"/>
              </a:solidFill>
              <a:latin typeface="Calibri"/>
              <a:ea typeface="Calibri"/>
              <a:cs typeface="Calibri"/>
              <a:sym typeface="Calibri"/>
            </a:endParaRPr>
          </a:p>
        </p:txBody>
      </p:sp>
      <p:sp>
        <p:nvSpPr>
          <p:cNvPr id="215" name="Google Shape;215;p10"/>
          <p:cNvSpPr/>
          <p:nvPr/>
        </p:nvSpPr>
        <p:spPr>
          <a:xfrm>
            <a:off x="4892040" y="2240280"/>
            <a:ext cx="1417320" cy="1417320"/>
          </a:xfrm>
          <a:prstGeom prst="ellipse">
            <a:avLst/>
          </a:prstGeom>
          <a:solidFill>
            <a:srgbClr val="C9821E"/>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92040" y="2240280"/>
            <a:ext cx="1417320" cy="14173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Result</a:t>
            </a:r>
            <a:endParaRPr b="0" i="0" sz="1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the stable outcome</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663440" y="3794760"/>
            <a:ext cx="18745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goal: immortality of result</a:t>
            </a:r>
            <a:endParaRPr b="0" i="0" sz="95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result becomes indestructible</a:t>
            </a:r>
            <a:endParaRPr b="0" i="0" sz="950" u="none" cap="none" strike="noStrike">
              <a:solidFill>
                <a:schemeClr val="dk1"/>
              </a:solidFill>
              <a:latin typeface="Calibri"/>
              <a:ea typeface="Calibri"/>
              <a:cs typeface="Calibri"/>
              <a:sym typeface="Calibri"/>
            </a:endParaRPr>
          </a:p>
        </p:txBody>
      </p:sp>
      <p:sp>
        <p:nvSpPr>
          <p:cNvPr id="218" name="Google Shape;218;p10"/>
          <p:cNvSpPr/>
          <p:nvPr/>
        </p:nvSpPr>
        <p:spPr>
          <a:xfrm>
            <a:off x="6720840" y="2148840"/>
            <a:ext cx="1965960" cy="2240280"/>
          </a:xfrm>
          <a:prstGeom prst="roundRect">
            <a:avLst>
              <a:gd fmla="val 4651"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6903720" y="2331720"/>
            <a:ext cx="1627632" cy="1920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447"/>
              </a:buClr>
              <a:buSzPts val="1250"/>
              <a:buFont typeface="Calibri"/>
              <a:buNone/>
            </a:pPr>
            <a:r>
              <a:rPr b="1" i="0" lang="en-US" sz="1250" u="none" cap="none" strike="noStrike">
                <a:solidFill>
                  <a:srgbClr val="1E2447"/>
                </a:solidFill>
                <a:latin typeface="Calibri"/>
                <a:ea typeface="Calibri"/>
                <a:cs typeface="Calibri"/>
                <a:sym typeface="Calibri"/>
              </a:rPr>
              <a:t>Two kinds of activity</a:t>
            </a:r>
            <a:endParaRPr b="0" i="0" sz="125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rgbClr val="5A6377"/>
              </a:buClr>
              <a:buSzPts val="1000"/>
              <a:buFont typeface="Calibri"/>
              <a:buNone/>
            </a:pPr>
            <a:r>
              <a:rPr b="0" i="0" lang="en-US" sz="1000" u="none" cap="none" strike="noStrike">
                <a:solidFill>
                  <a:srgbClr val="5A6377"/>
                </a:solidFill>
                <a:latin typeface="Calibri"/>
                <a:ea typeface="Calibri"/>
                <a:cs typeface="Calibri"/>
                <a:sym typeface="Calibri"/>
              </a:rPr>
              <a:t>Ordinary atom: works toward becoming complete and self-contained (T1).</a:t>
            </a:r>
            <a:endParaRPr b="0" i="0" sz="125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rgbClr val="5A6377"/>
              </a:buClr>
              <a:buSzPts val="1000"/>
              <a:buFont typeface="Calibri"/>
              <a:buNone/>
            </a:pPr>
            <a:r>
              <a:rPr b="0" i="0" lang="en-US" sz="1000" u="none" cap="none" strike="noStrike">
                <a:solidFill>
                  <a:srgbClr val="5A6377"/>
                </a:solidFill>
                <a:latin typeface="Calibri"/>
                <a:ea typeface="Calibri"/>
                <a:cs typeface="Calibri"/>
                <a:sym typeface="Calibri"/>
              </a:rPr>
              <a:t>Completed atom: continues inward and outward, toward T2 and T3.</a:t>
            </a:r>
            <a:endParaRPr b="0" i="0" sz="1250" u="none" cap="none" strike="noStrike">
              <a:solidFill>
                <a:schemeClr val="dk1"/>
              </a:solidFill>
              <a:latin typeface="Calibri"/>
              <a:ea typeface="Calibri"/>
              <a:cs typeface="Calibri"/>
              <a:sym typeface="Calibri"/>
            </a:endParaRPr>
          </a:p>
        </p:txBody>
      </p:sp>
      <p:sp>
        <p:nvSpPr>
          <p:cNvPr id="220" name="Google Shape;220;p10"/>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“Saturation … itself is forcefulness … basic impulsion … activity … effort-motion-result … development” — SB p. 62; also SB pp. 51, 53, 58, 71, 91; MVD p. 104</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 name="Shape 225"/>
        <p:cNvGrpSpPr/>
        <p:nvPr/>
      </p:nvGrpSpPr>
      <p:grpSpPr>
        <a:xfrm>
          <a:off x="0" y="0"/>
          <a:ext cx="0" cy="0"/>
          <a:chOff x="0" y="0"/>
          <a:chExt cx="0" cy="0"/>
        </a:xfrm>
      </p:grpSpPr>
      <p:sp>
        <p:nvSpPr>
          <p:cNvPr id="226" name="Google Shape;226;p11"/>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1"/>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1"/>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1"/>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§1.6</a:t>
            </a:r>
            <a:endParaRPr b="0" i="0" sz="1050" u="none" cap="none" strike="noStrike">
              <a:solidFill>
                <a:schemeClr val="dk1"/>
              </a:solidFill>
              <a:latin typeface="Calibri"/>
              <a:ea typeface="Calibri"/>
              <a:cs typeface="Calibri"/>
              <a:sym typeface="Calibri"/>
            </a:endParaRPr>
          </a:p>
        </p:txBody>
      </p:sp>
      <p:sp>
        <p:nvSpPr>
          <p:cNvPr id="230" name="Google Shape;230;p11"/>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Three Completeness Transitions: T1, T2, T3</a:t>
            </a:r>
            <a:endParaRPr b="0" i="0" sz="3000" u="none" cap="none" strike="noStrike">
              <a:solidFill>
                <a:schemeClr val="dk1"/>
              </a:solidFill>
              <a:latin typeface="Calibri"/>
              <a:ea typeface="Calibri"/>
              <a:cs typeface="Calibri"/>
              <a:sym typeface="Calibri"/>
            </a:endParaRPr>
          </a:p>
        </p:txBody>
      </p:sp>
      <p:sp>
        <p:nvSpPr>
          <p:cNvPr id="231" name="Google Shape;231;p11"/>
          <p:cNvSpPr/>
          <p:nvPr/>
        </p:nvSpPr>
        <p:spPr>
          <a:xfrm>
            <a:off x="475488" y="1463040"/>
            <a:ext cx="1664208" cy="960120"/>
          </a:xfrm>
          <a:prstGeom prst="roundRect">
            <a:avLst>
              <a:gd fmla="val 8571" name="adj"/>
            </a:avLst>
          </a:prstGeom>
          <a:solidFill>
            <a:srgbClr val="3B4A7A"/>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1"/>
          <p:cNvSpPr/>
          <p:nvPr/>
        </p:nvSpPr>
        <p:spPr>
          <a:xfrm>
            <a:off x="475488" y="1554480"/>
            <a:ext cx="1664208"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mbria"/>
              <a:buNone/>
            </a:pPr>
            <a:r>
              <a:rPr b="1" i="0" lang="en-US" sz="1250" u="none" cap="none" strike="noStrike">
                <a:solidFill>
                  <a:srgbClr val="FFFFFF"/>
                </a:solidFill>
                <a:latin typeface="Cambria"/>
                <a:ea typeface="Cambria"/>
                <a:cs typeface="Cambria"/>
                <a:sym typeface="Cambria"/>
              </a:rPr>
              <a:t>Physicochemical</a:t>
            </a:r>
            <a:endParaRPr b="0" i="0" sz="1250" u="none" cap="none" strike="noStrike">
              <a:solidFill>
                <a:schemeClr val="dk1"/>
              </a:solidFill>
              <a:latin typeface="Calibri"/>
              <a:ea typeface="Calibri"/>
              <a:cs typeface="Calibri"/>
              <a:sym typeface="Calibri"/>
            </a:endParaRPr>
          </a:p>
        </p:txBody>
      </p:sp>
      <p:sp>
        <p:nvSpPr>
          <p:cNvPr id="233" name="Google Shape;233;p11"/>
          <p:cNvSpPr/>
          <p:nvPr/>
        </p:nvSpPr>
        <p:spPr>
          <a:xfrm>
            <a:off x="530352" y="1874520"/>
            <a:ext cx="155448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D4EF"/>
              </a:buClr>
              <a:buSzPts val="880"/>
              <a:buFont typeface="Calibri"/>
              <a:buNone/>
            </a:pPr>
            <a:r>
              <a:rPr b="0" i="1" lang="en-US" sz="880" u="none" cap="none" strike="noStrike">
                <a:solidFill>
                  <a:srgbClr val="C9D4EF"/>
                </a:solidFill>
                <a:latin typeface="Calibri"/>
                <a:ea typeface="Calibri"/>
                <a:cs typeface="Calibri"/>
                <a:sym typeface="Calibri"/>
              </a:rPr>
              <a:t>insentient development</a:t>
            </a:r>
            <a:endParaRPr b="0" i="0" sz="880" u="none" cap="none" strike="noStrike">
              <a:solidFill>
                <a:schemeClr val="dk1"/>
              </a:solidFill>
              <a:latin typeface="Calibri"/>
              <a:ea typeface="Calibri"/>
              <a:cs typeface="Calibri"/>
              <a:sym typeface="Calibri"/>
            </a:endParaRPr>
          </a:p>
        </p:txBody>
      </p:sp>
      <p:sp>
        <p:nvSpPr>
          <p:cNvPr id="234" name="Google Shape;234;p11"/>
          <p:cNvSpPr/>
          <p:nvPr/>
        </p:nvSpPr>
        <p:spPr>
          <a:xfrm>
            <a:off x="2194560" y="1700784"/>
            <a:ext cx="457200" cy="457200"/>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1"/>
          <p:cNvSpPr/>
          <p:nvPr/>
        </p:nvSpPr>
        <p:spPr>
          <a:xfrm>
            <a:off x="2194560" y="1700784"/>
            <a:ext cx="457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T1</a:t>
            </a:r>
            <a:endParaRPr b="0" i="0" sz="1200" u="none" cap="none" strike="noStrike">
              <a:solidFill>
                <a:schemeClr val="dk1"/>
              </a:solidFill>
              <a:latin typeface="Calibri"/>
              <a:ea typeface="Calibri"/>
              <a:cs typeface="Calibri"/>
              <a:sym typeface="Calibri"/>
            </a:endParaRPr>
          </a:p>
        </p:txBody>
      </p:sp>
      <p:sp>
        <p:nvSpPr>
          <p:cNvPr id="236" name="Google Shape;236;p11"/>
          <p:cNvSpPr/>
          <p:nvPr/>
        </p:nvSpPr>
        <p:spPr>
          <a:xfrm>
            <a:off x="2706624" y="1463040"/>
            <a:ext cx="1664208" cy="960120"/>
          </a:xfrm>
          <a:prstGeom prst="roundRect">
            <a:avLst>
              <a:gd fmla="val 8571"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1"/>
          <p:cNvSpPr/>
          <p:nvPr/>
        </p:nvSpPr>
        <p:spPr>
          <a:xfrm>
            <a:off x="2706624" y="1554480"/>
            <a:ext cx="1664208"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mbria"/>
              <a:buNone/>
            </a:pPr>
            <a:r>
              <a:rPr b="1" i="0" lang="en-US" sz="1250" u="none" cap="none" strike="noStrike">
                <a:solidFill>
                  <a:srgbClr val="FFFFFF"/>
                </a:solidFill>
                <a:latin typeface="Cambria"/>
                <a:ea typeface="Cambria"/>
                <a:cs typeface="Cambria"/>
                <a:sym typeface="Cambria"/>
              </a:rPr>
              <a:t>Delusional</a:t>
            </a:r>
            <a:endParaRPr b="0" i="0" sz="1250" u="none" cap="none" strike="noStrike">
              <a:solidFill>
                <a:schemeClr val="dk1"/>
              </a:solidFill>
              <a:latin typeface="Calibri"/>
              <a:ea typeface="Calibri"/>
              <a:cs typeface="Calibri"/>
              <a:sym typeface="Calibri"/>
            </a:endParaRPr>
          </a:p>
        </p:txBody>
      </p:sp>
      <p:sp>
        <p:nvSpPr>
          <p:cNvPr id="238" name="Google Shape;238;p11"/>
          <p:cNvSpPr/>
          <p:nvPr/>
        </p:nvSpPr>
        <p:spPr>
          <a:xfrm>
            <a:off x="2761488" y="1874520"/>
            <a:ext cx="155448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D4EF"/>
              </a:buClr>
              <a:buSzPts val="880"/>
              <a:buFont typeface="Calibri"/>
              <a:buNone/>
            </a:pPr>
            <a:r>
              <a:rPr b="0" i="1" lang="en-US" sz="880" u="none" cap="none" strike="noStrike">
                <a:solidFill>
                  <a:srgbClr val="C9D4EF"/>
                </a:solidFill>
                <a:latin typeface="Calibri"/>
                <a:ea typeface="Calibri"/>
                <a:cs typeface="Calibri"/>
                <a:sym typeface="Calibri"/>
              </a:rPr>
              <a:t>sentient; body mistaken for self</a:t>
            </a:r>
            <a:endParaRPr b="0" i="0" sz="880" u="none" cap="none" strike="noStrike">
              <a:solidFill>
                <a:schemeClr val="dk1"/>
              </a:solidFill>
              <a:latin typeface="Calibri"/>
              <a:ea typeface="Calibri"/>
              <a:cs typeface="Calibri"/>
              <a:sym typeface="Calibri"/>
            </a:endParaRPr>
          </a:p>
        </p:txBody>
      </p:sp>
      <p:sp>
        <p:nvSpPr>
          <p:cNvPr id="239" name="Google Shape;239;p11"/>
          <p:cNvSpPr/>
          <p:nvPr/>
        </p:nvSpPr>
        <p:spPr>
          <a:xfrm>
            <a:off x="4425696" y="1700784"/>
            <a:ext cx="457200" cy="457200"/>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1"/>
          <p:cNvSpPr/>
          <p:nvPr/>
        </p:nvSpPr>
        <p:spPr>
          <a:xfrm>
            <a:off x="4425696" y="1700784"/>
            <a:ext cx="457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T2</a:t>
            </a:r>
            <a:endParaRPr b="0" i="0" sz="1200" u="none" cap="none" strike="noStrike">
              <a:solidFill>
                <a:schemeClr val="dk1"/>
              </a:solidFill>
              <a:latin typeface="Calibri"/>
              <a:ea typeface="Calibri"/>
              <a:cs typeface="Calibri"/>
              <a:sym typeface="Calibri"/>
            </a:endParaRPr>
          </a:p>
        </p:txBody>
      </p:sp>
      <p:sp>
        <p:nvSpPr>
          <p:cNvPr id="241" name="Google Shape;241;p11"/>
          <p:cNvSpPr/>
          <p:nvPr/>
        </p:nvSpPr>
        <p:spPr>
          <a:xfrm>
            <a:off x="4937760" y="1463040"/>
            <a:ext cx="1664208" cy="960120"/>
          </a:xfrm>
          <a:prstGeom prst="roundRect">
            <a:avLst>
              <a:gd fmla="val 8571"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1"/>
          <p:cNvSpPr/>
          <p:nvPr/>
        </p:nvSpPr>
        <p:spPr>
          <a:xfrm>
            <a:off x="4937760" y="1554480"/>
            <a:ext cx="1664208"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mbria"/>
              <a:buNone/>
            </a:pPr>
            <a:r>
              <a:rPr b="1" i="0" lang="en-US" sz="1250" u="none" cap="none" strike="noStrike">
                <a:solidFill>
                  <a:srgbClr val="FFFFFF"/>
                </a:solidFill>
                <a:latin typeface="Cambria"/>
                <a:ea typeface="Cambria"/>
                <a:cs typeface="Cambria"/>
                <a:sym typeface="Cambria"/>
              </a:rPr>
              <a:t>Deific</a:t>
            </a:r>
            <a:endParaRPr b="0" i="0" sz="1250" u="none" cap="none" strike="noStrike">
              <a:solidFill>
                <a:schemeClr val="dk1"/>
              </a:solidFill>
              <a:latin typeface="Calibri"/>
              <a:ea typeface="Calibri"/>
              <a:cs typeface="Calibri"/>
              <a:sym typeface="Calibri"/>
            </a:endParaRPr>
          </a:p>
        </p:txBody>
      </p:sp>
      <p:sp>
        <p:nvSpPr>
          <p:cNvPr id="243" name="Google Shape;243;p11"/>
          <p:cNvSpPr/>
          <p:nvPr/>
        </p:nvSpPr>
        <p:spPr>
          <a:xfrm>
            <a:off x="4992624" y="1874520"/>
            <a:ext cx="155448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D4EF"/>
              </a:buClr>
              <a:buSzPts val="880"/>
              <a:buFont typeface="Calibri"/>
              <a:buNone/>
            </a:pPr>
            <a:r>
              <a:rPr b="0" i="1" lang="en-US" sz="880" u="none" cap="none" strike="noStrike">
                <a:solidFill>
                  <a:srgbClr val="C9D4EF"/>
                </a:solidFill>
                <a:latin typeface="Calibri"/>
                <a:ea typeface="Calibri"/>
                <a:cs typeface="Calibri"/>
                <a:sym typeface="Calibri"/>
              </a:rPr>
              <a:t>awakening human</a:t>
            </a:r>
            <a:endParaRPr b="0" i="0" sz="880" u="none" cap="none" strike="noStrike">
              <a:solidFill>
                <a:schemeClr val="dk1"/>
              </a:solidFill>
              <a:latin typeface="Calibri"/>
              <a:ea typeface="Calibri"/>
              <a:cs typeface="Calibri"/>
              <a:sym typeface="Calibri"/>
            </a:endParaRPr>
          </a:p>
        </p:txBody>
      </p:sp>
      <p:sp>
        <p:nvSpPr>
          <p:cNvPr id="244" name="Google Shape;244;p11"/>
          <p:cNvSpPr/>
          <p:nvPr/>
        </p:nvSpPr>
        <p:spPr>
          <a:xfrm>
            <a:off x="6656832" y="1700784"/>
            <a:ext cx="457200" cy="457200"/>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6656832" y="1700784"/>
            <a:ext cx="457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T3</a:t>
            </a:r>
            <a:endParaRPr b="0" i="0" sz="1200" u="none" cap="none" strike="noStrike">
              <a:solidFill>
                <a:schemeClr val="dk1"/>
              </a:solidFill>
              <a:latin typeface="Calibri"/>
              <a:ea typeface="Calibri"/>
              <a:cs typeface="Calibri"/>
              <a:sym typeface="Calibri"/>
            </a:endParaRPr>
          </a:p>
        </p:txBody>
      </p:sp>
      <p:sp>
        <p:nvSpPr>
          <p:cNvPr id="246" name="Google Shape;246;p11"/>
          <p:cNvSpPr/>
          <p:nvPr/>
        </p:nvSpPr>
        <p:spPr>
          <a:xfrm>
            <a:off x="7168896" y="1463040"/>
            <a:ext cx="1664208" cy="960120"/>
          </a:xfrm>
          <a:prstGeom prst="roundRect">
            <a:avLst>
              <a:gd fmla="val 8571"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1"/>
          <p:cNvSpPr/>
          <p:nvPr/>
        </p:nvSpPr>
        <p:spPr>
          <a:xfrm>
            <a:off x="7168896" y="1554480"/>
            <a:ext cx="1664208"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mbria"/>
              <a:buNone/>
            </a:pPr>
            <a:r>
              <a:rPr b="1" i="0" lang="en-US" sz="1250" u="none" cap="none" strike="noStrike">
                <a:solidFill>
                  <a:srgbClr val="FFFFFF"/>
                </a:solidFill>
                <a:latin typeface="Cambria"/>
                <a:ea typeface="Cambria"/>
                <a:cs typeface="Cambria"/>
                <a:sym typeface="Cambria"/>
              </a:rPr>
              <a:t>Divine (complete)</a:t>
            </a:r>
            <a:endParaRPr b="0" i="0" sz="1250" u="none" cap="none" strike="noStrike">
              <a:solidFill>
                <a:schemeClr val="dk1"/>
              </a:solidFill>
              <a:latin typeface="Calibri"/>
              <a:ea typeface="Calibri"/>
              <a:cs typeface="Calibri"/>
              <a:sym typeface="Calibri"/>
            </a:endParaRPr>
          </a:p>
        </p:txBody>
      </p:sp>
      <p:sp>
        <p:nvSpPr>
          <p:cNvPr id="248" name="Google Shape;248;p11"/>
          <p:cNvSpPr/>
          <p:nvPr/>
        </p:nvSpPr>
        <p:spPr>
          <a:xfrm>
            <a:off x="7223760" y="1874520"/>
            <a:ext cx="155448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D4EF"/>
              </a:buClr>
              <a:buSzPts val="880"/>
              <a:buFont typeface="Calibri"/>
              <a:buNone/>
            </a:pPr>
            <a:r>
              <a:rPr b="0" i="1" lang="en-US" sz="880" u="none" cap="none" strike="noStrike">
                <a:solidFill>
                  <a:srgbClr val="C9D4EF"/>
                </a:solidFill>
                <a:latin typeface="Calibri"/>
                <a:ea typeface="Calibri"/>
                <a:cs typeface="Calibri"/>
                <a:sym typeface="Calibri"/>
              </a:rPr>
              <a:t>living proof of coexistence</a:t>
            </a:r>
            <a:endParaRPr b="0" i="0" sz="880" u="none" cap="none" strike="noStrike">
              <a:solidFill>
                <a:schemeClr val="dk1"/>
              </a:solidFill>
              <a:latin typeface="Calibri"/>
              <a:ea typeface="Calibri"/>
              <a:cs typeface="Calibri"/>
              <a:sym typeface="Calibri"/>
            </a:endParaRPr>
          </a:p>
        </p:txBody>
      </p:sp>
      <p:sp>
        <p:nvSpPr>
          <p:cNvPr id="249" name="Google Shape;249;p11"/>
          <p:cNvSpPr/>
          <p:nvPr/>
        </p:nvSpPr>
        <p:spPr>
          <a:xfrm>
            <a:off x="640080" y="2770632"/>
            <a:ext cx="384048" cy="38404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1"/>
          <p:cNvSpPr/>
          <p:nvPr/>
        </p:nvSpPr>
        <p:spPr>
          <a:xfrm>
            <a:off x="640080" y="2770632"/>
            <a:ext cx="384048"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50"/>
              <a:buFont typeface="Calibri"/>
              <a:buNone/>
            </a:pPr>
            <a:r>
              <a:rPr b="1" i="0" lang="en-US" sz="1150" u="none" cap="none" strike="noStrike">
                <a:solidFill>
                  <a:srgbClr val="FFFFFF"/>
                </a:solidFill>
                <a:latin typeface="Calibri"/>
                <a:ea typeface="Calibri"/>
                <a:cs typeface="Calibri"/>
                <a:sym typeface="Calibri"/>
              </a:rPr>
              <a:t>T1</a:t>
            </a:r>
            <a:endParaRPr b="0" i="0" sz="1150" u="none" cap="none" strike="noStrike">
              <a:solidFill>
                <a:schemeClr val="dk1"/>
              </a:solidFill>
              <a:latin typeface="Calibri"/>
              <a:ea typeface="Calibri"/>
              <a:cs typeface="Calibri"/>
              <a:sym typeface="Calibri"/>
            </a:endParaRPr>
          </a:p>
        </p:txBody>
      </p:sp>
      <p:sp>
        <p:nvSpPr>
          <p:cNvPr id="251" name="Google Shape;251;p11"/>
          <p:cNvSpPr/>
          <p:nvPr/>
        </p:nvSpPr>
        <p:spPr>
          <a:xfrm>
            <a:off x="1188720" y="2743200"/>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00"/>
              <a:buFont typeface="Calibri"/>
              <a:buNone/>
            </a:pPr>
            <a:r>
              <a:rPr b="0" i="0" lang="en-US" sz="1200" u="none" cap="none" strike="noStrike">
                <a:solidFill>
                  <a:srgbClr val="5A6377"/>
                </a:solidFill>
                <a:latin typeface="Calibri"/>
                <a:ea typeface="Calibri"/>
                <a:cs typeface="Calibri"/>
                <a:sym typeface="Calibri"/>
              </a:rPr>
              <a:t>Constitutional completeness — immortality of result; the atom becomes sentient jeevan</a:t>
            </a:r>
            <a:endParaRPr b="0" i="0" sz="1200" u="none" cap="none" strike="noStrike">
              <a:solidFill>
                <a:schemeClr val="dk1"/>
              </a:solidFill>
              <a:latin typeface="Calibri"/>
              <a:ea typeface="Calibri"/>
              <a:cs typeface="Calibri"/>
              <a:sym typeface="Calibri"/>
            </a:endParaRPr>
          </a:p>
        </p:txBody>
      </p:sp>
      <p:sp>
        <p:nvSpPr>
          <p:cNvPr id="252" name="Google Shape;252;p11"/>
          <p:cNvSpPr/>
          <p:nvPr/>
        </p:nvSpPr>
        <p:spPr>
          <a:xfrm>
            <a:off x="640080" y="3374136"/>
            <a:ext cx="384048" cy="38404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40080" y="3374136"/>
            <a:ext cx="384048"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50"/>
              <a:buFont typeface="Calibri"/>
              <a:buNone/>
            </a:pPr>
            <a:r>
              <a:rPr b="1" i="0" lang="en-US" sz="1150" u="none" cap="none" strike="noStrike">
                <a:solidFill>
                  <a:srgbClr val="FFFFFF"/>
                </a:solidFill>
                <a:latin typeface="Calibri"/>
                <a:ea typeface="Calibri"/>
                <a:cs typeface="Calibri"/>
                <a:sym typeface="Calibri"/>
              </a:rPr>
              <a:t>T2</a:t>
            </a:r>
            <a:endParaRPr b="0" i="0" sz="1150" u="none" cap="none" strike="noStrike">
              <a:solidFill>
                <a:schemeClr val="dk1"/>
              </a:solidFill>
              <a:latin typeface="Calibri"/>
              <a:ea typeface="Calibri"/>
              <a:cs typeface="Calibri"/>
              <a:sym typeface="Calibri"/>
            </a:endParaRPr>
          </a:p>
        </p:txBody>
      </p:sp>
      <p:sp>
        <p:nvSpPr>
          <p:cNvPr id="254" name="Google Shape;254;p11"/>
          <p:cNvSpPr/>
          <p:nvPr/>
        </p:nvSpPr>
        <p:spPr>
          <a:xfrm>
            <a:off x="1188720" y="3346704"/>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00"/>
              <a:buFont typeface="Calibri"/>
              <a:buNone/>
            </a:pPr>
            <a:r>
              <a:rPr b="0" i="0" lang="en-US" sz="1200" u="none" cap="none" strike="noStrike">
                <a:solidFill>
                  <a:srgbClr val="5A6377"/>
                </a:solidFill>
                <a:latin typeface="Calibri"/>
                <a:ea typeface="Calibri"/>
                <a:cs typeface="Calibri"/>
                <a:sym typeface="Calibri"/>
              </a:rPr>
              <a:t>Activity completeness — restfulness of effort; direct realisation and absolute resolution</a:t>
            </a:r>
            <a:endParaRPr b="0" i="0" sz="1200" u="none" cap="none" strike="noStrike">
              <a:solidFill>
                <a:schemeClr val="dk1"/>
              </a:solidFill>
              <a:latin typeface="Calibri"/>
              <a:ea typeface="Calibri"/>
              <a:cs typeface="Calibri"/>
              <a:sym typeface="Calibri"/>
            </a:endParaRPr>
          </a:p>
        </p:txBody>
      </p:sp>
      <p:sp>
        <p:nvSpPr>
          <p:cNvPr id="255" name="Google Shape;255;p11"/>
          <p:cNvSpPr/>
          <p:nvPr/>
        </p:nvSpPr>
        <p:spPr>
          <a:xfrm>
            <a:off x="640080" y="3977640"/>
            <a:ext cx="384048" cy="38404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11"/>
          <p:cNvSpPr/>
          <p:nvPr/>
        </p:nvSpPr>
        <p:spPr>
          <a:xfrm>
            <a:off x="640080" y="3977640"/>
            <a:ext cx="384048"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50"/>
              <a:buFont typeface="Calibri"/>
              <a:buNone/>
            </a:pPr>
            <a:r>
              <a:rPr b="1" i="0" lang="en-US" sz="1150" u="none" cap="none" strike="noStrike">
                <a:solidFill>
                  <a:srgbClr val="FFFFFF"/>
                </a:solidFill>
                <a:latin typeface="Calibri"/>
                <a:ea typeface="Calibri"/>
                <a:cs typeface="Calibri"/>
                <a:sym typeface="Calibri"/>
              </a:rPr>
              <a:t>T3</a:t>
            </a:r>
            <a:endParaRPr b="0" i="0" sz="1150" u="none" cap="none" strike="noStrike">
              <a:solidFill>
                <a:schemeClr val="dk1"/>
              </a:solidFill>
              <a:latin typeface="Calibri"/>
              <a:ea typeface="Calibri"/>
              <a:cs typeface="Calibri"/>
              <a:sym typeface="Calibri"/>
            </a:endParaRPr>
          </a:p>
        </p:txBody>
      </p:sp>
      <p:sp>
        <p:nvSpPr>
          <p:cNvPr id="257" name="Google Shape;257;p11"/>
          <p:cNvSpPr/>
          <p:nvPr/>
        </p:nvSpPr>
        <p:spPr>
          <a:xfrm>
            <a:off x="1188720" y="3950208"/>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00"/>
              <a:buFont typeface="Calibri"/>
              <a:buNone/>
            </a:pPr>
            <a:r>
              <a:rPr b="0" i="0" lang="en-US" sz="1200" u="none" cap="none" strike="noStrike">
                <a:solidFill>
                  <a:srgbClr val="5A6377"/>
                </a:solidFill>
                <a:latin typeface="Calibri"/>
                <a:ea typeface="Calibri"/>
                <a:cs typeface="Calibri"/>
                <a:sym typeface="Calibri"/>
              </a:rPr>
              <a:t>Conduct completeness — destination of motion; authentic conduct as living proof</a:t>
            </a:r>
            <a:endParaRPr b="0" i="0" sz="1200" u="none" cap="none" strike="noStrike">
              <a:solidFill>
                <a:schemeClr val="dk1"/>
              </a:solidFill>
              <a:latin typeface="Calibri"/>
              <a:ea typeface="Calibri"/>
              <a:cs typeface="Calibri"/>
              <a:sym typeface="Calibri"/>
            </a:endParaRPr>
          </a:p>
        </p:txBody>
      </p:sp>
      <p:sp>
        <p:nvSpPr>
          <p:cNvPr id="258" name="Google Shape;258;p11"/>
          <p:cNvSpPr/>
          <p:nvPr/>
        </p:nvSpPr>
        <p:spPr>
          <a:xfrm>
            <a:off x="640080" y="4572000"/>
            <a:ext cx="79552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0" i="1" lang="en-US" sz="1050" u="none" cap="none" strike="noStrike">
                <a:solidFill>
                  <a:srgbClr val="9A6414"/>
                </a:solidFill>
                <a:latin typeface="Calibri"/>
                <a:ea typeface="Calibri"/>
                <a:cs typeface="Calibri"/>
                <a:sym typeface="Calibri"/>
              </a:rPr>
              <a:t>T1 is where an ordinary atom becomes a completed, sentient atom. T2 and T3 continue only inside that completed atom — inner settling (T2) and outer destination (T3) are different completions of the same inner drive.</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 name="Shape 263"/>
        <p:cNvGrpSpPr/>
        <p:nvPr/>
      </p:nvGrpSpPr>
      <p:grpSpPr>
        <a:xfrm>
          <a:off x="0" y="0"/>
          <a:ext cx="0" cy="0"/>
          <a:chOff x="0" y="0"/>
          <a:chExt cx="0" cy="0"/>
        </a:xfrm>
      </p:grpSpPr>
      <p:sp>
        <p:nvSpPr>
          <p:cNvPr id="264" name="Google Shape;264;p12"/>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2"/>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2"/>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2"/>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§1.6.1</a:t>
            </a:r>
            <a:endParaRPr b="0" i="0" sz="1050" u="none" cap="none" strike="noStrike">
              <a:solidFill>
                <a:schemeClr val="dk1"/>
              </a:solidFill>
              <a:latin typeface="Calibri"/>
              <a:ea typeface="Calibri"/>
              <a:cs typeface="Calibri"/>
              <a:sym typeface="Calibri"/>
            </a:endParaRPr>
          </a:p>
        </p:txBody>
      </p:sp>
      <p:sp>
        <p:nvSpPr>
          <p:cNvPr id="268" name="Google Shape;268;p12"/>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T1 — The Irreversible Sentience Threshold</a:t>
            </a:r>
            <a:endParaRPr b="0" i="0" sz="3000" u="none" cap="none" strike="noStrike">
              <a:solidFill>
                <a:schemeClr val="dk1"/>
              </a:solidFill>
              <a:latin typeface="Calibri"/>
              <a:ea typeface="Calibri"/>
              <a:cs typeface="Calibri"/>
              <a:sym typeface="Calibri"/>
            </a:endParaRPr>
          </a:p>
        </p:txBody>
      </p:sp>
      <p:sp>
        <p:nvSpPr>
          <p:cNvPr id="269" name="Google Shape;269;p12"/>
          <p:cNvSpPr/>
          <p:nvPr/>
        </p:nvSpPr>
        <p:spPr>
          <a:xfrm>
            <a:off x="640080" y="1234440"/>
            <a:ext cx="795528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00"/>
              <a:buFont typeface="Calibri"/>
              <a:buNone/>
            </a:pPr>
            <a:r>
              <a:rPr b="1" i="0" lang="en-US" sz="1300" u="none" cap="none" strike="noStrike">
                <a:solidFill>
                  <a:srgbClr val="1E2447"/>
                </a:solidFill>
                <a:latin typeface="Calibri"/>
                <a:ea typeface="Calibri"/>
                <a:cs typeface="Calibri"/>
                <a:sym typeface="Calibri"/>
              </a:rPr>
              <a:t xml:space="preserve">Constitutional completeness at the atomic level, </a:t>
            </a:r>
            <a:r>
              <a:rPr b="0" i="0" lang="en-US" sz="1250" u="none" cap="none" strike="noStrike">
                <a:solidFill>
                  <a:srgbClr val="5A6377"/>
                </a:solidFill>
                <a:latin typeface="Calibri"/>
                <a:ea typeface="Calibri"/>
                <a:cs typeface="Calibri"/>
                <a:sym typeface="Calibri"/>
              </a:rPr>
              <a:t>not neural complexity, molecular size, or elevation along the order chain. A developing ordinary atom takes in particles — hungry atoms and overfull atoms completing each other — within a suitable environment; once the required particles are in place, it closes.</a:t>
            </a:r>
            <a:endParaRPr b="0" i="0" sz="1300" u="none" cap="none" strike="noStrike">
              <a:solidFill>
                <a:schemeClr val="dk1"/>
              </a:solidFill>
              <a:latin typeface="Calibri"/>
              <a:ea typeface="Calibri"/>
              <a:cs typeface="Calibri"/>
              <a:sym typeface="Calibri"/>
            </a:endParaRPr>
          </a:p>
        </p:txBody>
      </p:sp>
      <p:sp>
        <p:nvSpPr>
          <p:cNvPr id="270" name="Google Shape;270;p12"/>
          <p:cNvSpPr/>
          <p:nvPr/>
        </p:nvSpPr>
        <p:spPr>
          <a:xfrm>
            <a:off x="640080" y="2286000"/>
            <a:ext cx="3657600" cy="1691640"/>
          </a:xfrm>
          <a:prstGeom prst="roundRect">
            <a:avLst>
              <a:gd fmla="val 5405"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12"/>
          <p:cNvSpPr/>
          <p:nvPr/>
        </p:nvSpPr>
        <p:spPr>
          <a:xfrm>
            <a:off x="868680" y="2432304"/>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B4A7A"/>
              </a:buClr>
              <a:buSzPts val="1350"/>
              <a:buFont typeface="Cambria"/>
              <a:buNone/>
            </a:pPr>
            <a:r>
              <a:rPr b="1" i="0" lang="en-US" sz="1350" u="none" cap="none" strike="noStrike">
                <a:solidFill>
                  <a:srgbClr val="3B4A7A"/>
                </a:solidFill>
                <a:latin typeface="Cambria"/>
                <a:ea typeface="Cambria"/>
                <a:cs typeface="Cambria"/>
                <a:sym typeface="Cambria"/>
              </a:rPr>
              <a:t>Before T1 — evolving atom</a:t>
            </a:r>
            <a:endParaRPr b="0" i="0" sz="1350" u="none" cap="none" strike="noStrike">
              <a:solidFill>
                <a:schemeClr val="dk1"/>
              </a:solidFill>
              <a:latin typeface="Calibri"/>
              <a:ea typeface="Calibri"/>
              <a:cs typeface="Calibri"/>
              <a:sym typeface="Calibri"/>
            </a:endParaRPr>
          </a:p>
        </p:txBody>
      </p:sp>
      <p:sp>
        <p:nvSpPr>
          <p:cNvPr id="272" name="Google Shape;272;p12"/>
          <p:cNvSpPr/>
          <p:nvPr/>
        </p:nvSpPr>
        <p:spPr>
          <a:xfrm>
            <a:off x="868680" y="2743200"/>
            <a:ext cx="3246120" cy="11430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5A6377"/>
              </a:buClr>
              <a:buSzPts val="1050"/>
              <a:buFont typeface="Calibri"/>
              <a:buChar char="•"/>
            </a:pPr>
            <a:r>
              <a:rPr b="0" i="0" lang="en-US" sz="1050" u="none" cap="none" strike="noStrike">
                <a:solidFill>
                  <a:srgbClr val="5A6377"/>
                </a:solidFill>
                <a:latin typeface="Calibri"/>
                <a:ea typeface="Calibri"/>
                <a:cs typeface="Calibri"/>
                <a:sym typeface="Calibri"/>
              </a:rPr>
              <a:t>Still bound by molecular weight and structure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5A6377"/>
              </a:buClr>
              <a:buSzPts val="1050"/>
              <a:buFont typeface="Calibri"/>
              <a:buChar char="•"/>
            </a:pPr>
            <a:r>
              <a:rPr b="0" i="0" lang="en-US" sz="1050" u="none" cap="none" strike="noStrike">
                <a:solidFill>
                  <a:srgbClr val="5A6377"/>
                </a:solidFill>
                <a:latin typeface="Calibri"/>
                <a:ea typeface="Calibri"/>
                <a:cs typeface="Calibri"/>
                <a:sym typeface="Calibri"/>
              </a:rPr>
              <a:t>Particle count still changing; development in progress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5A6377"/>
              </a:buClr>
              <a:buSzPts val="1050"/>
              <a:buFont typeface="Calibri"/>
              <a:buChar char="•"/>
            </a:pPr>
            <a:r>
              <a:rPr b="0" i="0" lang="en-US" sz="1050" u="none" cap="none" strike="noStrike">
                <a:solidFill>
                  <a:srgbClr val="5A6377"/>
                </a:solidFill>
                <a:latin typeface="Calibri"/>
                <a:ea typeface="Calibri"/>
                <a:cs typeface="Calibri"/>
                <a:sym typeface="Calibri"/>
              </a:rPr>
              <a:t>Exhibits radiance and projection as an insentient unit</a:t>
            </a:r>
            <a:endParaRPr b="0" i="0" sz="1050" u="none" cap="none" strike="noStrike">
              <a:solidFill>
                <a:schemeClr val="dk1"/>
              </a:solidFill>
              <a:latin typeface="Calibri"/>
              <a:ea typeface="Calibri"/>
              <a:cs typeface="Calibri"/>
              <a:sym typeface="Calibri"/>
            </a:endParaRPr>
          </a:p>
        </p:txBody>
      </p:sp>
      <p:sp>
        <p:nvSpPr>
          <p:cNvPr id="273" name="Google Shape;273;p12"/>
          <p:cNvSpPr/>
          <p:nvPr/>
        </p:nvSpPr>
        <p:spPr>
          <a:xfrm>
            <a:off x="4846320" y="2286000"/>
            <a:ext cx="3657600" cy="1691640"/>
          </a:xfrm>
          <a:prstGeom prst="roundRect">
            <a:avLst>
              <a:gd fmla="val 5405" name="adj"/>
            </a:avLst>
          </a:prstGeom>
          <a:solidFill>
            <a:srgbClr val="FAF1DF"/>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2"/>
          <p:cNvSpPr/>
          <p:nvPr/>
        </p:nvSpPr>
        <p:spPr>
          <a:xfrm>
            <a:off x="5074920" y="2432304"/>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350"/>
              <a:buFont typeface="Cambria"/>
              <a:buNone/>
            </a:pPr>
            <a:r>
              <a:rPr b="1" i="0" lang="en-US" sz="1350" u="none" cap="none" strike="noStrike">
                <a:solidFill>
                  <a:srgbClr val="9A6414"/>
                </a:solidFill>
                <a:latin typeface="Cambria"/>
                <a:ea typeface="Cambria"/>
                <a:cs typeface="Cambria"/>
                <a:sym typeface="Cambria"/>
              </a:rPr>
              <a:t>After T1 — the completed atom</a:t>
            </a:r>
            <a:endParaRPr b="0" i="0" sz="1350" u="none" cap="none" strike="noStrike">
              <a:solidFill>
                <a:schemeClr val="dk1"/>
              </a:solidFill>
              <a:latin typeface="Calibri"/>
              <a:ea typeface="Calibri"/>
              <a:cs typeface="Calibri"/>
              <a:sym typeface="Calibri"/>
            </a:endParaRPr>
          </a:p>
        </p:txBody>
      </p:sp>
      <p:sp>
        <p:nvSpPr>
          <p:cNvPr id="275" name="Google Shape;275;p12"/>
          <p:cNvSpPr/>
          <p:nvPr/>
        </p:nvSpPr>
        <p:spPr>
          <a:xfrm>
            <a:off x="5074920" y="2743200"/>
            <a:ext cx="3246120" cy="128016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5A6377"/>
              </a:buClr>
              <a:buSzPts val="1050"/>
              <a:buFont typeface="Calibri"/>
              <a:buChar char="•"/>
            </a:pPr>
            <a:r>
              <a:rPr b="0" i="0" lang="en-US" sz="1050" u="none" cap="none" strike="noStrike">
                <a:solidFill>
                  <a:srgbClr val="5A6377"/>
                </a:solidFill>
                <a:latin typeface="Calibri"/>
                <a:ea typeface="Calibri"/>
                <a:cs typeface="Calibri"/>
                <a:sym typeface="Calibri"/>
              </a:rPr>
              <a:t>Freed from molecular weight and structure; now carried by hope instead — a new mode, not a new direction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5A6377"/>
              </a:buClr>
              <a:buSzPts val="1050"/>
              <a:buFont typeface="Calibri"/>
              <a:buChar char="•"/>
            </a:pPr>
            <a:r>
              <a:rPr b="0" i="0" lang="en-US" sz="1050" u="none" cap="none" strike="noStrike">
                <a:solidFill>
                  <a:srgbClr val="5A6377"/>
                </a:solidFill>
                <a:latin typeface="Calibri"/>
                <a:ea typeface="Calibri"/>
                <a:cs typeface="Calibri"/>
                <a:sym typeface="Calibri"/>
              </a:rPr>
              <a:t>No increase or decrease in particles: qualitative change without quantitative change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5A6377"/>
              </a:buClr>
              <a:buSzPts val="1050"/>
              <a:buFont typeface="Calibri"/>
              <a:buChar char="•"/>
            </a:pPr>
            <a:r>
              <a:rPr b="0" i="0" lang="en-US" sz="1050" u="none" cap="none" strike="noStrike">
                <a:solidFill>
                  <a:srgbClr val="5A6377"/>
                </a:solidFill>
                <a:latin typeface="Calibri"/>
                <a:ea typeface="Calibri"/>
                <a:cs typeface="Calibri"/>
                <a:sym typeface="Calibri"/>
              </a:rPr>
              <a:t>The background knowledge always present in the ground now becomes active awareness</a:t>
            </a:r>
            <a:endParaRPr b="0" i="0" sz="1050" u="none" cap="none" strike="noStrike">
              <a:solidFill>
                <a:schemeClr val="dk1"/>
              </a:solidFill>
              <a:latin typeface="Calibri"/>
              <a:ea typeface="Calibri"/>
              <a:cs typeface="Calibri"/>
              <a:sym typeface="Calibri"/>
            </a:endParaRPr>
          </a:p>
        </p:txBody>
      </p:sp>
      <p:sp>
        <p:nvSpPr>
          <p:cNvPr id="276" name="Google Shape;276;p12"/>
          <p:cNvSpPr/>
          <p:nvPr/>
        </p:nvSpPr>
        <p:spPr>
          <a:xfrm>
            <a:off x="4315968" y="2880360"/>
            <a:ext cx="50292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2400"/>
              <a:buFont typeface="Calibri"/>
              <a:buNone/>
            </a:pPr>
            <a:r>
              <a:rPr b="1" i="0" lang="en-US" sz="2400" u="none" cap="none" strike="noStrike">
                <a:solidFill>
                  <a:srgbClr val="C9821E"/>
                </a:solidFill>
                <a:latin typeface="Calibri"/>
                <a:ea typeface="Calibri"/>
                <a:cs typeface="Calibri"/>
                <a:sym typeface="Calibri"/>
              </a:rPr>
              <a:t>→</a:t>
            </a:r>
            <a:endParaRPr b="0" i="0" sz="2400" u="none" cap="none" strike="noStrike">
              <a:solidFill>
                <a:schemeClr val="dk1"/>
              </a:solidFill>
              <a:latin typeface="Calibri"/>
              <a:ea typeface="Calibri"/>
              <a:cs typeface="Calibri"/>
              <a:sym typeface="Calibri"/>
            </a:endParaRPr>
          </a:p>
        </p:txBody>
      </p:sp>
      <p:sp>
        <p:nvSpPr>
          <p:cNvPr id="277" name="Google Shape;277;p12"/>
          <p:cNvSpPr/>
          <p:nvPr/>
        </p:nvSpPr>
        <p:spPr>
          <a:xfrm>
            <a:off x="640080" y="4206240"/>
            <a:ext cx="79552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00"/>
              <a:buFont typeface="Calibri"/>
              <a:buNone/>
            </a:pPr>
            <a:r>
              <a:rPr b="0" i="1" lang="en-US" sz="1200" u="none" cap="none" strike="noStrike">
                <a:solidFill>
                  <a:srgbClr val="1E2447"/>
                </a:solidFill>
                <a:latin typeface="Calibri"/>
                <a:ea typeface="Calibri"/>
                <a:cs typeface="Calibri"/>
                <a:sym typeface="Calibri"/>
              </a:rPr>
              <a:t>T1 is irreversible: once complete, this atom cannot decompose — which is why it can outlast the body. A finer kind of recognition, impossible before this point, first appears here.</a:t>
            </a:r>
            <a:endParaRPr b="0" i="0" sz="1200" u="none" cap="none" strike="noStrike">
              <a:solidFill>
                <a:schemeClr val="dk1"/>
              </a:solidFill>
              <a:latin typeface="Calibri"/>
              <a:ea typeface="Calibri"/>
              <a:cs typeface="Calibri"/>
              <a:sym typeface="Calibri"/>
            </a:endParaRPr>
          </a:p>
        </p:txBody>
      </p:sp>
      <p:sp>
        <p:nvSpPr>
          <p:cNvPr id="278" name="Google Shape;278;p12"/>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SB pp. 52, 55, 59, 80–81, 92  ·  MVD pp. 8, 91, 117</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 name="Shape 283"/>
        <p:cNvGrpSpPr/>
        <p:nvPr/>
      </p:nvGrpSpPr>
      <p:grpSpPr>
        <a:xfrm>
          <a:off x="0" y="0"/>
          <a:ext cx="0" cy="0"/>
          <a:chOff x="0" y="0"/>
          <a:chExt cx="0" cy="0"/>
        </a:xfrm>
      </p:grpSpPr>
      <p:sp>
        <p:nvSpPr>
          <p:cNvPr id="284" name="Google Shape;284;p13"/>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3"/>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3"/>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3"/>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§1.7 · CONSTITUTIONALLY COMPLETE</a:t>
            </a:r>
            <a:endParaRPr b="0" i="0" sz="1050" u="none" cap="none" strike="noStrike">
              <a:solidFill>
                <a:schemeClr val="dk1"/>
              </a:solidFill>
              <a:latin typeface="Calibri"/>
              <a:ea typeface="Calibri"/>
              <a:cs typeface="Calibri"/>
              <a:sym typeface="Calibri"/>
            </a:endParaRPr>
          </a:p>
        </p:txBody>
      </p:sp>
      <p:sp>
        <p:nvSpPr>
          <p:cNvPr id="288" name="Google Shape;288;p13"/>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Jeevan: The Individual Self</a:t>
            </a:r>
            <a:endParaRPr b="0" i="0" sz="3000" u="none" cap="none" strike="noStrike">
              <a:solidFill>
                <a:schemeClr val="dk1"/>
              </a:solidFill>
              <a:latin typeface="Calibri"/>
              <a:ea typeface="Calibri"/>
              <a:cs typeface="Calibri"/>
              <a:sym typeface="Calibri"/>
            </a:endParaRPr>
          </a:p>
        </p:txBody>
      </p:sp>
      <p:sp>
        <p:nvSpPr>
          <p:cNvPr id="289" name="Google Shape;289;p13"/>
          <p:cNvSpPr/>
          <p:nvPr/>
        </p:nvSpPr>
        <p:spPr>
          <a:xfrm>
            <a:off x="1851660" y="2583180"/>
            <a:ext cx="960120" cy="96012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3"/>
          <p:cNvSpPr/>
          <p:nvPr/>
        </p:nvSpPr>
        <p:spPr>
          <a:xfrm>
            <a:off x="1828800" y="2464308"/>
            <a:ext cx="1005840" cy="219456"/>
          </a:xfrm>
          <a:prstGeom prst="rect">
            <a:avLst/>
          </a:prstGeom>
          <a:solidFill>
            <a:srgbClr val="FFFFFF"/>
          </a:solidFill>
          <a:ln>
            <a:noFill/>
          </a:ln>
        </p:spPr>
        <p:txBody>
          <a:bodyPr anchorCtr="0" anchor="ctr" bIns="0" lIns="0" spcFirstLastPara="1" rIns="0" wrap="square" tIns="0">
            <a:noAutofit/>
          </a:bodyPr>
          <a:lstStyle/>
          <a:p>
            <a:pPr indent="0" lvl="0" marL="0" marR="0" rtl="0" algn="ctr">
              <a:spcBef>
                <a:spcPts val="0"/>
              </a:spcBef>
              <a:spcAft>
                <a:spcPts val="0"/>
              </a:spcAft>
              <a:buClr>
                <a:srgbClr val="3B4A7A"/>
              </a:buClr>
              <a:buSzPts val="950"/>
              <a:buFont typeface="Calibri"/>
              <a:buNone/>
            </a:pPr>
            <a:r>
              <a:rPr b="1" i="1" lang="en-US" sz="950" u="none" cap="none" strike="noStrike">
                <a:solidFill>
                  <a:srgbClr val="3B4A7A"/>
                </a:solidFill>
                <a:latin typeface="Calibri"/>
                <a:ea typeface="Calibri"/>
                <a:cs typeface="Calibri"/>
                <a:sym typeface="Calibri"/>
              </a:rPr>
              <a:t>buddhi</a:t>
            </a:r>
            <a:endParaRPr b="0" i="0" sz="950" u="none" cap="none" strike="noStrike">
              <a:solidFill>
                <a:schemeClr val="dk1"/>
              </a:solidFill>
              <a:latin typeface="Calibri"/>
              <a:ea typeface="Calibri"/>
              <a:cs typeface="Calibri"/>
              <a:sym typeface="Calibri"/>
            </a:endParaRPr>
          </a:p>
        </p:txBody>
      </p:sp>
      <p:sp>
        <p:nvSpPr>
          <p:cNvPr id="291" name="Google Shape;291;p13"/>
          <p:cNvSpPr/>
          <p:nvPr/>
        </p:nvSpPr>
        <p:spPr>
          <a:xfrm>
            <a:off x="1623060" y="2354580"/>
            <a:ext cx="1417320" cy="1417320"/>
          </a:xfrm>
          <a:prstGeom prst="ellipse">
            <a:avLst/>
          </a:prstGeom>
          <a:noFill/>
          <a:ln cap="flat" cmpd="sng" w="15875">
            <a:solidFill>
              <a:srgbClr val="8E9BC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3"/>
          <p:cNvSpPr/>
          <p:nvPr/>
        </p:nvSpPr>
        <p:spPr>
          <a:xfrm>
            <a:off x="1828800" y="2235708"/>
            <a:ext cx="1005840" cy="219456"/>
          </a:xfrm>
          <a:prstGeom prst="rect">
            <a:avLst/>
          </a:prstGeom>
          <a:solidFill>
            <a:srgbClr val="FFFFFF"/>
          </a:solidFill>
          <a:ln>
            <a:noFill/>
          </a:ln>
        </p:spPr>
        <p:txBody>
          <a:bodyPr anchorCtr="0" anchor="ctr" bIns="0" lIns="0" spcFirstLastPara="1" rIns="0" wrap="square" tIns="0">
            <a:noAutofit/>
          </a:bodyPr>
          <a:lstStyle/>
          <a:p>
            <a:pPr indent="0" lvl="0" marL="0" marR="0" rtl="0" algn="ctr">
              <a:spcBef>
                <a:spcPts val="0"/>
              </a:spcBef>
              <a:spcAft>
                <a:spcPts val="0"/>
              </a:spcAft>
              <a:buClr>
                <a:srgbClr val="3B4A7A"/>
              </a:buClr>
              <a:buSzPts val="950"/>
              <a:buFont typeface="Calibri"/>
              <a:buNone/>
            </a:pPr>
            <a:r>
              <a:rPr b="1" i="1" lang="en-US" sz="950" u="none" cap="none" strike="noStrike">
                <a:solidFill>
                  <a:srgbClr val="3B4A7A"/>
                </a:solidFill>
                <a:latin typeface="Calibri"/>
                <a:ea typeface="Calibri"/>
                <a:cs typeface="Calibri"/>
                <a:sym typeface="Calibri"/>
              </a:rPr>
              <a:t>chitta</a:t>
            </a:r>
            <a:endParaRPr b="0" i="0" sz="950" u="none" cap="none" strike="noStrike">
              <a:solidFill>
                <a:schemeClr val="dk1"/>
              </a:solidFill>
              <a:latin typeface="Calibri"/>
              <a:ea typeface="Calibri"/>
              <a:cs typeface="Calibri"/>
              <a:sym typeface="Calibri"/>
            </a:endParaRPr>
          </a:p>
        </p:txBody>
      </p:sp>
      <p:sp>
        <p:nvSpPr>
          <p:cNvPr id="293" name="Google Shape;293;p13"/>
          <p:cNvSpPr/>
          <p:nvPr/>
        </p:nvSpPr>
        <p:spPr>
          <a:xfrm>
            <a:off x="1394460" y="2125980"/>
            <a:ext cx="1874520" cy="187452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3"/>
          <p:cNvSpPr/>
          <p:nvPr/>
        </p:nvSpPr>
        <p:spPr>
          <a:xfrm>
            <a:off x="1828800" y="2007108"/>
            <a:ext cx="1005840" cy="219456"/>
          </a:xfrm>
          <a:prstGeom prst="rect">
            <a:avLst/>
          </a:prstGeom>
          <a:solidFill>
            <a:srgbClr val="FFFFFF"/>
          </a:solidFill>
          <a:ln>
            <a:noFill/>
          </a:ln>
        </p:spPr>
        <p:txBody>
          <a:bodyPr anchorCtr="0" anchor="ctr" bIns="0" lIns="0" spcFirstLastPara="1" rIns="0" wrap="square" tIns="0">
            <a:noAutofit/>
          </a:bodyPr>
          <a:lstStyle/>
          <a:p>
            <a:pPr indent="0" lvl="0" marL="0" marR="0" rtl="0" algn="ctr">
              <a:spcBef>
                <a:spcPts val="0"/>
              </a:spcBef>
              <a:spcAft>
                <a:spcPts val="0"/>
              </a:spcAft>
              <a:buClr>
                <a:srgbClr val="3B4A7A"/>
              </a:buClr>
              <a:buSzPts val="950"/>
              <a:buFont typeface="Calibri"/>
              <a:buNone/>
            </a:pPr>
            <a:r>
              <a:rPr b="1" i="1" lang="en-US" sz="950" u="none" cap="none" strike="noStrike">
                <a:solidFill>
                  <a:srgbClr val="3B4A7A"/>
                </a:solidFill>
                <a:latin typeface="Calibri"/>
                <a:ea typeface="Calibri"/>
                <a:cs typeface="Calibri"/>
                <a:sym typeface="Calibri"/>
              </a:rPr>
              <a:t>vritti</a:t>
            </a:r>
            <a:endParaRPr b="0" i="0" sz="950" u="none" cap="none" strike="noStrike">
              <a:solidFill>
                <a:schemeClr val="dk1"/>
              </a:solidFill>
              <a:latin typeface="Calibri"/>
              <a:ea typeface="Calibri"/>
              <a:cs typeface="Calibri"/>
              <a:sym typeface="Calibri"/>
            </a:endParaRPr>
          </a:p>
        </p:txBody>
      </p:sp>
      <p:sp>
        <p:nvSpPr>
          <p:cNvPr id="295" name="Google Shape;295;p13"/>
          <p:cNvSpPr/>
          <p:nvPr/>
        </p:nvSpPr>
        <p:spPr>
          <a:xfrm>
            <a:off x="1165860" y="1897380"/>
            <a:ext cx="2331720" cy="2331720"/>
          </a:xfrm>
          <a:prstGeom prst="ellipse">
            <a:avLst/>
          </a:prstGeom>
          <a:noFill/>
          <a:ln cap="flat" cmpd="sng" w="15875">
            <a:solidFill>
              <a:srgbClr val="8E9BC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13"/>
          <p:cNvSpPr/>
          <p:nvPr/>
        </p:nvSpPr>
        <p:spPr>
          <a:xfrm>
            <a:off x="1828800" y="1778508"/>
            <a:ext cx="1005840" cy="219456"/>
          </a:xfrm>
          <a:prstGeom prst="rect">
            <a:avLst/>
          </a:prstGeom>
          <a:solidFill>
            <a:srgbClr val="FFFFFF"/>
          </a:solidFill>
          <a:ln>
            <a:noFill/>
          </a:ln>
        </p:spPr>
        <p:txBody>
          <a:bodyPr anchorCtr="0" anchor="ctr" bIns="0" lIns="0" spcFirstLastPara="1" rIns="0" wrap="square" tIns="0">
            <a:noAutofit/>
          </a:bodyPr>
          <a:lstStyle/>
          <a:p>
            <a:pPr indent="0" lvl="0" marL="0" marR="0" rtl="0" algn="ctr">
              <a:spcBef>
                <a:spcPts val="0"/>
              </a:spcBef>
              <a:spcAft>
                <a:spcPts val="0"/>
              </a:spcAft>
              <a:buClr>
                <a:srgbClr val="3B4A7A"/>
              </a:buClr>
              <a:buSzPts val="950"/>
              <a:buFont typeface="Calibri"/>
              <a:buNone/>
            </a:pPr>
            <a:r>
              <a:rPr b="1" i="1" lang="en-US" sz="950" u="none" cap="none" strike="noStrike">
                <a:solidFill>
                  <a:srgbClr val="3B4A7A"/>
                </a:solidFill>
                <a:latin typeface="Calibri"/>
                <a:ea typeface="Calibri"/>
                <a:cs typeface="Calibri"/>
                <a:sym typeface="Calibri"/>
              </a:rPr>
              <a:t>mun</a:t>
            </a:r>
            <a:endParaRPr b="0" i="0" sz="950" u="none" cap="none" strike="noStrike">
              <a:solidFill>
                <a:schemeClr val="dk1"/>
              </a:solidFill>
              <a:latin typeface="Calibri"/>
              <a:ea typeface="Calibri"/>
              <a:cs typeface="Calibri"/>
              <a:sym typeface="Calibri"/>
            </a:endParaRPr>
          </a:p>
        </p:txBody>
      </p:sp>
      <p:sp>
        <p:nvSpPr>
          <p:cNvPr id="297" name="Google Shape;297;p13"/>
          <p:cNvSpPr/>
          <p:nvPr/>
        </p:nvSpPr>
        <p:spPr>
          <a:xfrm>
            <a:off x="2084832" y="2816352"/>
            <a:ext cx="493776" cy="493776"/>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3"/>
          <p:cNvSpPr/>
          <p:nvPr/>
        </p:nvSpPr>
        <p:spPr>
          <a:xfrm>
            <a:off x="1874520" y="2926080"/>
            <a:ext cx="914400" cy="2743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atma</a:t>
            </a:r>
            <a:endParaRPr b="0" i="0" sz="1050" u="none" cap="none" strike="noStrike">
              <a:solidFill>
                <a:schemeClr val="dk1"/>
              </a:solidFill>
              <a:latin typeface="Calibri"/>
              <a:ea typeface="Calibri"/>
              <a:cs typeface="Calibri"/>
              <a:sym typeface="Calibri"/>
            </a:endParaRPr>
          </a:p>
        </p:txBody>
      </p:sp>
      <p:sp>
        <p:nvSpPr>
          <p:cNvPr id="299" name="Google Shape;299;p13"/>
          <p:cNvSpPr/>
          <p:nvPr/>
        </p:nvSpPr>
        <p:spPr>
          <a:xfrm>
            <a:off x="685800" y="4434840"/>
            <a:ext cx="33832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centre = core self (atma); the four rings around it are the other four faculties (MVD p. 78)</a:t>
            </a:r>
            <a:endParaRPr b="0" i="0" sz="950" u="none" cap="none" strike="noStrike">
              <a:solidFill>
                <a:schemeClr val="dk1"/>
              </a:solidFill>
              <a:latin typeface="Calibri"/>
              <a:ea typeface="Calibri"/>
              <a:cs typeface="Calibri"/>
              <a:sym typeface="Calibri"/>
            </a:endParaRPr>
          </a:p>
        </p:txBody>
      </p:sp>
      <p:graphicFrame>
        <p:nvGraphicFramePr>
          <p:cNvPr id="300" name="Google Shape;300;p13"/>
          <p:cNvGraphicFramePr/>
          <p:nvPr/>
        </p:nvGraphicFramePr>
        <p:xfrm>
          <a:off x="4480560" y="1371600"/>
          <a:ext cx="3000000" cy="3000000"/>
        </p:xfrm>
        <a:graphic>
          <a:graphicData uri="http://schemas.openxmlformats.org/drawingml/2006/table">
            <a:tbl>
              <a:tblPr>
                <a:noFill/>
                <a:tableStyleId>{6C92A692-798E-4634-90B1-36CD3966BFCB}</a:tableStyleId>
              </a:tblPr>
              <a:tblGrid>
                <a:gridCol w="1371600"/>
                <a:gridCol w="1417325"/>
                <a:gridCol w="1371600"/>
              </a:tblGrid>
              <a:tr h="329175">
                <a:tc>
                  <a:txBody>
                    <a:bodyPr/>
                    <a:lstStyle/>
                    <a:p>
                      <a:pPr indent="0" lvl="0" marL="0" marR="0" rtl="0" algn="l">
                        <a:spcBef>
                          <a:spcPts val="0"/>
                        </a:spcBef>
                        <a:spcAft>
                          <a:spcPts val="0"/>
                        </a:spcAft>
                        <a:buClr>
                          <a:srgbClr val="FFFFFF"/>
                        </a:buClr>
                        <a:buSzPts val="1050"/>
                        <a:buFont typeface="Calibri"/>
                        <a:buNone/>
                      </a:pPr>
                      <a:r>
                        <a:rPr b="1" lang="en-US" sz="1050" u="none" cap="none" strike="noStrike">
                          <a:solidFill>
                            <a:srgbClr val="FFFFFF"/>
                          </a:solidFill>
                          <a:latin typeface="Calibri"/>
                          <a:ea typeface="Calibri"/>
                          <a:cs typeface="Calibri"/>
                          <a:sym typeface="Calibri"/>
                        </a:rPr>
                        <a:t>Faculty / strength</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050"/>
                        <a:buFont typeface="Calibri"/>
                        <a:buNone/>
                      </a:pPr>
                      <a:r>
                        <a:rPr b="1" lang="en-US" sz="1050" u="none" cap="none" strike="noStrike">
                          <a:solidFill>
                            <a:srgbClr val="FFFFFF"/>
                          </a:solidFill>
                          <a:latin typeface="Calibri"/>
                          <a:ea typeface="Calibri"/>
                          <a:cs typeface="Calibri"/>
                          <a:sym typeface="Calibri"/>
                        </a:rPr>
                        <a:t>Projection (outward)</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050"/>
                        <a:buFont typeface="Calibri"/>
                        <a:buNone/>
                      </a:pPr>
                      <a:r>
                        <a:rPr b="1" lang="en-US" sz="1050" u="none" cap="none" strike="noStrike">
                          <a:solidFill>
                            <a:srgbClr val="FFFFFF"/>
                          </a:solidFill>
                          <a:latin typeface="Calibri"/>
                          <a:ea typeface="Calibri"/>
                          <a:cs typeface="Calibri"/>
                          <a:sym typeface="Calibri"/>
                        </a:rPr>
                        <a:t>Reflection (inward)</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r>
              <a:tr h="384050">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Hope (mun)</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selection</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taste</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84050">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Thought (vritti)</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analysis</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deliberation</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84050">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Desire (chitta)</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visualisation</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contemplation</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84050">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Resolve (buddhi)</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resolve</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enlightenment</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84050">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Core self (atma)</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authenticity</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realisation</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bl>
          </a:graphicData>
        </a:graphic>
      </p:graphicFrame>
      <p:sp>
        <p:nvSpPr>
          <p:cNvPr id="301" name="Google Shape;301;p13"/>
          <p:cNvSpPr/>
          <p:nvPr/>
        </p:nvSpPr>
        <p:spPr>
          <a:xfrm>
            <a:off x="4480560" y="3977640"/>
            <a:ext cx="41605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50"/>
              <a:buFont typeface="Calibri"/>
              <a:buNone/>
            </a:pPr>
            <a:r>
              <a:rPr b="0" i="0" lang="en-US" sz="1050" u="none" cap="none" strike="noStrike">
                <a:solidFill>
                  <a:srgbClr val="5A6377"/>
                </a:solidFill>
                <a:latin typeface="Calibri"/>
                <a:ea typeface="Calibri"/>
                <a:cs typeface="Calibri"/>
                <a:sym typeface="Calibri"/>
              </a:rPr>
              <a:t xml:space="preserve">Reflection is the knowing direction — the ascent of understanding toward realisation; projection is the evidencing direction — the descent from realisation into conduct. In the pre-awakening human only four and a half of the ten activities are effective. </a:t>
            </a:r>
            <a:r>
              <a:rPr b="0" i="1" lang="en-US" sz="1050" u="none" cap="none" strike="noStrike">
                <a:solidFill>
                  <a:srgbClr val="9A6414"/>
                </a:solidFill>
                <a:latin typeface="Calibri"/>
                <a:ea typeface="Calibri"/>
                <a:cs typeface="Calibri"/>
                <a:sym typeface="Calibri"/>
              </a:rPr>
              <a:t>On the delusional plane, atma is “I” and the orbital four are “mine.” Awakening is staged — partially awakened, half awakened, awakened — as the four come into accordance with atma.</a:t>
            </a:r>
            <a:endParaRPr b="0" i="0" sz="1050" u="none" cap="none" strike="noStrike">
              <a:solidFill>
                <a:schemeClr val="dk1"/>
              </a:solidFill>
              <a:latin typeface="Calibri"/>
              <a:ea typeface="Calibri"/>
              <a:cs typeface="Calibri"/>
              <a:sym typeface="Calibri"/>
            </a:endParaRPr>
          </a:p>
        </p:txBody>
      </p:sp>
      <p:sp>
        <p:nvSpPr>
          <p:cNvPr id="302" name="Google Shape;302;p13"/>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MVD pp. 13, 78, 126, 278–279, 286–287  ·  JV p. 92  ·  the five developmental sheaths are a distinct structure; awakening opens the fifth — MVD pp. 49–50</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7" name="Shape 307"/>
        <p:cNvGrpSpPr/>
        <p:nvPr/>
      </p:nvGrpSpPr>
      <p:grpSpPr>
        <a:xfrm>
          <a:off x="0" y="0"/>
          <a:ext cx="0" cy="0"/>
          <a:chOff x="0" y="0"/>
          <a:chExt cx="0" cy="0"/>
        </a:xfrm>
      </p:grpSpPr>
      <p:sp>
        <p:nvSpPr>
          <p:cNvPr id="308" name="Google Shape;308;p14"/>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14"/>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14"/>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4"/>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§1.8 · HARMONY WITHIN</a:t>
            </a:r>
            <a:endParaRPr b="0" i="0" sz="1050" u="none" cap="none" strike="noStrike">
              <a:solidFill>
                <a:schemeClr val="dk1"/>
              </a:solidFill>
              <a:latin typeface="Calibri"/>
              <a:ea typeface="Calibri"/>
              <a:cs typeface="Calibri"/>
              <a:sym typeface="Calibri"/>
            </a:endParaRPr>
          </a:p>
        </p:txBody>
      </p:sp>
      <p:sp>
        <p:nvSpPr>
          <p:cNvPr id="312" name="Google Shape;312;p14"/>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Jeevan Values and Persistence</a:t>
            </a:r>
            <a:endParaRPr b="0" i="0" sz="3000" u="none" cap="none" strike="noStrike">
              <a:solidFill>
                <a:schemeClr val="dk1"/>
              </a:solidFill>
              <a:latin typeface="Calibri"/>
              <a:ea typeface="Calibri"/>
              <a:cs typeface="Calibri"/>
              <a:sym typeface="Calibri"/>
            </a:endParaRPr>
          </a:p>
        </p:txBody>
      </p:sp>
      <p:sp>
        <p:nvSpPr>
          <p:cNvPr id="313" name="Google Shape;313;p14"/>
          <p:cNvSpPr/>
          <p:nvPr/>
        </p:nvSpPr>
        <p:spPr>
          <a:xfrm>
            <a:off x="640080" y="1371600"/>
            <a:ext cx="1874520" cy="1371600"/>
          </a:xfrm>
          <a:prstGeom prst="roundRect">
            <a:avLst>
              <a:gd fmla="val 666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14"/>
          <p:cNvSpPr/>
          <p:nvPr/>
        </p:nvSpPr>
        <p:spPr>
          <a:xfrm>
            <a:off x="822960" y="1536192"/>
            <a:ext cx="329184" cy="329184"/>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4"/>
          <p:cNvSpPr/>
          <p:nvPr/>
        </p:nvSpPr>
        <p:spPr>
          <a:xfrm>
            <a:off x="888797" y="1602029"/>
            <a:ext cx="197510" cy="19751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944758" y="1657990"/>
            <a:ext cx="85588" cy="85588"/>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4"/>
          <p:cNvSpPr/>
          <p:nvPr/>
        </p:nvSpPr>
        <p:spPr>
          <a:xfrm>
            <a:off x="804672" y="1938528"/>
            <a:ext cx="1572768"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Happiness</a:t>
            </a:r>
            <a:endParaRPr b="0" i="0" sz="1250" u="none" cap="none" strike="noStrike">
              <a:solidFill>
                <a:schemeClr val="dk1"/>
              </a:solidFill>
              <a:latin typeface="Calibri"/>
              <a:ea typeface="Calibri"/>
              <a:cs typeface="Calibri"/>
              <a:sym typeface="Calibri"/>
            </a:endParaRPr>
          </a:p>
        </p:txBody>
      </p:sp>
      <p:sp>
        <p:nvSpPr>
          <p:cNvPr id="318" name="Google Shape;318;p14"/>
          <p:cNvSpPr/>
          <p:nvPr/>
        </p:nvSpPr>
        <p:spPr>
          <a:xfrm>
            <a:off x="804672" y="2377440"/>
            <a:ext cx="1572768"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80"/>
              <a:buFont typeface="Calibri"/>
              <a:buNone/>
            </a:pPr>
            <a:r>
              <a:rPr b="0" i="1" lang="en-US" sz="980" u="none" cap="none" strike="noStrike">
                <a:solidFill>
                  <a:srgbClr val="5A6377"/>
                </a:solidFill>
                <a:latin typeface="Calibri"/>
                <a:ea typeface="Calibri"/>
                <a:cs typeface="Calibri"/>
                <a:sym typeface="Calibri"/>
              </a:rPr>
              <a:t>harmony between hope and thought</a:t>
            </a:r>
            <a:endParaRPr b="0" i="0" sz="980" u="none" cap="none" strike="noStrike">
              <a:solidFill>
                <a:schemeClr val="dk1"/>
              </a:solidFill>
              <a:latin typeface="Calibri"/>
              <a:ea typeface="Calibri"/>
              <a:cs typeface="Calibri"/>
              <a:sym typeface="Calibri"/>
            </a:endParaRPr>
          </a:p>
        </p:txBody>
      </p:sp>
      <p:sp>
        <p:nvSpPr>
          <p:cNvPr id="319" name="Google Shape;319;p14"/>
          <p:cNvSpPr/>
          <p:nvPr/>
        </p:nvSpPr>
        <p:spPr>
          <a:xfrm>
            <a:off x="2633472" y="1371600"/>
            <a:ext cx="1874520" cy="1371600"/>
          </a:xfrm>
          <a:prstGeom prst="roundRect">
            <a:avLst>
              <a:gd fmla="val 666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4"/>
          <p:cNvSpPr/>
          <p:nvPr/>
        </p:nvSpPr>
        <p:spPr>
          <a:xfrm>
            <a:off x="2816352" y="1536192"/>
            <a:ext cx="329184" cy="329184"/>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2882189" y="1602029"/>
            <a:ext cx="197510" cy="19751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4"/>
          <p:cNvSpPr/>
          <p:nvPr/>
        </p:nvSpPr>
        <p:spPr>
          <a:xfrm>
            <a:off x="2938150" y="1657990"/>
            <a:ext cx="85588" cy="85588"/>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798064" y="1938528"/>
            <a:ext cx="1572768"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Peace</a:t>
            </a:r>
            <a:endParaRPr b="0" i="0" sz="1250" u="none" cap="none" strike="noStrike">
              <a:solidFill>
                <a:schemeClr val="dk1"/>
              </a:solidFill>
              <a:latin typeface="Calibri"/>
              <a:ea typeface="Calibri"/>
              <a:cs typeface="Calibri"/>
              <a:sym typeface="Calibri"/>
            </a:endParaRPr>
          </a:p>
        </p:txBody>
      </p:sp>
      <p:sp>
        <p:nvSpPr>
          <p:cNvPr id="324" name="Google Shape;324;p14"/>
          <p:cNvSpPr/>
          <p:nvPr/>
        </p:nvSpPr>
        <p:spPr>
          <a:xfrm>
            <a:off x="2798064" y="2377440"/>
            <a:ext cx="1572768"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80"/>
              <a:buFont typeface="Calibri"/>
              <a:buNone/>
            </a:pPr>
            <a:r>
              <a:rPr b="0" i="1" lang="en-US" sz="980" u="none" cap="none" strike="noStrike">
                <a:solidFill>
                  <a:srgbClr val="5A6377"/>
                </a:solidFill>
                <a:latin typeface="Calibri"/>
                <a:ea typeface="Calibri"/>
                <a:cs typeface="Calibri"/>
                <a:sym typeface="Calibri"/>
              </a:rPr>
              <a:t>harmony between thought and desire</a:t>
            </a:r>
            <a:endParaRPr b="0" i="0" sz="980" u="none" cap="none" strike="noStrike">
              <a:solidFill>
                <a:schemeClr val="dk1"/>
              </a:solidFill>
              <a:latin typeface="Calibri"/>
              <a:ea typeface="Calibri"/>
              <a:cs typeface="Calibri"/>
              <a:sym typeface="Calibri"/>
            </a:endParaRPr>
          </a:p>
        </p:txBody>
      </p:sp>
      <p:sp>
        <p:nvSpPr>
          <p:cNvPr id="325" name="Google Shape;325;p14"/>
          <p:cNvSpPr/>
          <p:nvPr/>
        </p:nvSpPr>
        <p:spPr>
          <a:xfrm>
            <a:off x="4626864" y="1371600"/>
            <a:ext cx="1874520" cy="1371600"/>
          </a:xfrm>
          <a:prstGeom prst="roundRect">
            <a:avLst>
              <a:gd fmla="val 666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4"/>
          <p:cNvSpPr/>
          <p:nvPr/>
        </p:nvSpPr>
        <p:spPr>
          <a:xfrm>
            <a:off x="4809744" y="1536192"/>
            <a:ext cx="329184" cy="329184"/>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4875581" y="1602029"/>
            <a:ext cx="197510" cy="19751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4"/>
          <p:cNvSpPr/>
          <p:nvPr/>
        </p:nvSpPr>
        <p:spPr>
          <a:xfrm>
            <a:off x="4931542" y="1657990"/>
            <a:ext cx="85588" cy="85588"/>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4791456" y="1938528"/>
            <a:ext cx="1572768"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Contentment</a:t>
            </a:r>
            <a:endParaRPr b="0" i="0" sz="1250" u="none" cap="none" strike="noStrike">
              <a:solidFill>
                <a:schemeClr val="dk1"/>
              </a:solidFill>
              <a:latin typeface="Calibri"/>
              <a:ea typeface="Calibri"/>
              <a:cs typeface="Calibri"/>
              <a:sym typeface="Calibri"/>
            </a:endParaRPr>
          </a:p>
        </p:txBody>
      </p:sp>
      <p:sp>
        <p:nvSpPr>
          <p:cNvPr id="330" name="Google Shape;330;p14"/>
          <p:cNvSpPr/>
          <p:nvPr/>
        </p:nvSpPr>
        <p:spPr>
          <a:xfrm>
            <a:off x="4791456" y="2377440"/>
            <a:ext cx="1572768"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80"/>
              <a:buFont typeface="Calibri"/>
              <a:buNone/>
            </a:pPr>
            <a:r>
              <a:rPr b="0" i="1" lang="en-US" sz="980" u="none" cap="none" strike="noStrike">
                <a:solidFill>
                  <a:srgbClr val="5A6377"/>
                </a:solidFill>
                <a:latin typeface="Calibri"/>
                <a:ea typeface="Calibri"/>
                <a:cs typeface="Calibri"/>
                <a:sym typeface="Calibri"/>
              </a:rPr>
              <a:t>harmony between desire and resolve</a:t>
            </a:r>
            <a:endParaRPr b="0" i="0" sz="980" u="none" cap="none" strike="noStrike">
              <a:solidFill>
                <a:schemeClr val="dk1"/>
              </a:solidFill>
              <a:latin typeface="Calibri"/>
              <a:ea typeface="Calibri"/>
              <a:cs typeface="Calibri"/>
              <a:sym typeface="Calibri"/>
            </a:endParaRPr>
          </a:p>
        </p:txBody>
      </p:sp>
      <p:sp>
        <p:nvSpPr>
          <p:cNvPr id="331" name="Google Shape;331;p14"/>
          <p:cNvSpPr/>
          <p:nvPr/>
        </p:nvSpPr>
        <p:spPr>
          <a:xfrm>
            <a:off x="6620256" y="1371600"/>
            <a:ext cx="1874520" cy="1371600"/>
          </a:xfrm>
          <a:prstGeom prst="roundRect">
            <a:avLst>
              <a:gd fmla="val 6667" name="adj"/>
            </a:avLst>
          </a:prstGeom>
          <a:solidFill>
            <a:srgbClr val="FAF1DF"/>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14"/>
          <p:cNvSpPr/>
          <p:nvPr/>
        </p:nvSpPr>
        <p:spPr>
          <a:xfrm>
            <a:off x="6803136" y="1536192"/>
            <a:ext cx="329184" cy="329184"/>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6868973" y="1602029"/>
            <a:ext cx="197510" cy="19751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4"/>
          <p:cNvSpPr/>
          <p:nvPr/>
        </p:nvSpPr>
        <p:spPr>
          <a:xfrm>
            <a:off x="6924934" y="1657990"/>
            <a:ext cx="85588" cy="8558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6784848" y="1938528"/>
            <a:ext cx="1572768"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Bliss</a:t>
            </a:r>
            <a:endParaRPr b="0" i="0" sz="1250" u="none" cap="none" strike="noStrike">
              <a:solidFill>
                <a:schemeClr val="dk1"/>
              </a:solidFill>
              <a:latin typeface="Calibri"/>
              <a:ea typeface="Calibri"/>
              <a:cs typeface="Calibri"/>
              <a:sym typeface="Calibri"/>
            </a:endParaRPr>
          </a:p>
        </p:txBody>
      </p:sp>
      <p:sp>
        <p:nvSpPr>
          <p:cNvPr id="336" name="Google Shape;336;p14"/>
          <p:cNvSpPr/>
          <p:nvPr/>
        </p:nvSpPr>
        <p:spPr>
          <a:xfrm>
            <a:off x="6784848" y="2377440"/>
            <a:ext cx="1572768"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80"/>
              <a:buFont typeface="Calibri"/>
              <a:buNone/>
            </a:pPr>
            <a:r>
              <a:rPr b="0" i="1" lang="en-US" sz="980" u="none" cap="none" strike="noStrike">
                <a:solidFill>
                  <a:srgbClr val="5A6377"/>
                </a:solidFill>
                <a:latin typeface="Calibri"/>
                <a:ea typeface="Calibri"/>
                <a:cs typeface="Calibri"/>
                <a:sym typeface="Calibri"/>
              </a:rPr>
              <a:t>harmony between resolve and the core self</a:t>
            </a:r>
            <a:endParaRPr b="0" i="0" sz="980" u="none" cap="none" strike="noStrike">
              <a:solidFill>
                <a:schemeClr val="dk1"/>
              </a:solidFill>
              <a:latin typeface="Calibri"/>
              <a:ea typeface="Calibri"/>
              <a:cs typeface="Calibri"/>
              <a:sym typeface="Calibri"/>
            </a:endParaRPr>
          </a:p>
        </p:txBody>
      </p:sp>
      <p:sp>
        <p:nvSpPr>
          <p:cNvPr id="337" name="Google Shape;337;p14"/>
          <p:cNvSpPr/>
          <p:nvPr/>
        </p:nvSpPr>
        <p:spPr>
          <a:xfrm>
            <a:off x="640080" y="3017520"/>
            <a:ext cx="795528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libri"/>
              <a:buNone/>
            </a:pPr>
            <a:r>
              <a:rPr b="1" i="0" lang="en-US" sz="1250" u="none" cap="none" strike="noStrike">
                <a:solidFill>
                  <a:srgbClr val="1E2447"/>
                </a:solidFill>
                <a:latin typeface="Calibri"/>
                <a:ea typeface="Calibri"/>
                <a:cs typeface="Calibri"/>
                <a:sym typeface="Calibri"/>
              </a:rPr>
              <a:t xml:space="preserve">Awakening is felt harmony: </a:t>
            </a:r>
            <a:r>
              <a:rPr b="0" i="0" lang="en-US" sz="1250" u="none" cap="none" strike="noStrike">
                <a:solidFill>
                  <a:srgbClr val="5A6377"/>
                </a:solidFill>
                <a:latin typeface="Calibri"/>
                <a:ea typeface="Calibri"/>
                <a:cs typeface="Calibri"/>
                <a:sym typeface="Calibri"/>
              </a:rPr>
              <a:t>as the four surrounding faculties fall into line with the core self, the four values above are felt more fully. The core self quietly disciplines the other faculties and the body, channelling energy toward growth.</a:t>
            </a:r>
            <a:endParaRPr b="0" i="0" sz="1250" u="none" cap="none" strike="noStrike">
              <a:solidFill>
                <a:schemeClr val="dk1"/>
              </a:solidFill>
              <a:latin typeface="Calibri"/>
              <a:ea typeface="Calibri"/>
              <a:cs typeface="Calibri"/>
              <a:sym typeface="Calibri"/>
            </a:endParaRPr>
          </a:p>
        </p:txBody>
      </p:sp>
      <p:sp>
        <p:nvSpPr>
          <p:cNvPr id="338" name="Google Shape;338;p14"/>
          <p:cNvSpPr/>
          <p:nvPr/>
        </p:nvSpPr>
        <p:spPr>
          <a:xfrm>
            <a:off x="640080" y="3840480"/>
            <a:ext cx="7863840" cy="777240"/>
          </a:xfrm>
          <a:prstGeom prst="roundRect">
            <a:avLst>
              <a:gd fmla="val 10588"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914400" y="3840480"/>
            <a:ext cx="73152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50"/>
              <a:buFont typeface="Calibri"/>
              <a:buNone/>
            </a:pPr>
            <a:r>
              <a:rPr b="0" i="1" lang="en-US" sz="1350" u="none" cap="none" strike="noStrike">
                <a:solidFill>
                  <a:srgbClr val="FFFFFF"/>
                </a:solidFill>
                <a:latin typeface="Calibri"/>
                <a:ea typeface="Calibri"/>
                <a:cs typeface="Calibri"/>
                <a:sym typeface="Calibri"/>
              </a:rPr>
              <a:t>“Jeevan continues to exist even after death as it does while driving a body.”</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D4EF"/>
              </a:buClr>
              <a:buSzPts val="1050"/>
              <a:buFont typeface="Calibri"/>
              <a:buNone/>
            </a:pPr>
            <a:r>
              <a:rPr b="0" i="0" lang="en-US" sz="1050" u="none" cap="none" strike="noStrike">
                <a:solidFill>
                  <a:srgbClr val="C9D4EF"/>
                </a:solidFill>
                <a:latin typeface="Calibri"/>
                <a:ea typeface="Calibri"/>
                <a:cs typeface="Calibri"/>
                <a:sym typeface="Calibri"/>
              </a:rPr>
              <a:t>Being a complete, self-contained unit, jeevan persists across bodily birth and death, carrying its impressions and state of awakening.  — JV p. 20</a:t>
            </a:r>
            <a:endParaRPr b="0" i="0" sz="1350" u="none" cap="none" strike="noStrike">
              <a:solidFill>
                <a:schemeClr val="dk1"/>
              </a:solidFill>
              <a:latin typeface="Calibri"/>
              <a:ea typeface="Calibri"/>
              <a:cs typeface="Calibri"/>
              <a:sym typeface="Calibri"/>
            </a:endParaRPr>
          </a:p>
        </p:txBody>
      </p:sp>
      <p:sp>
        <p:nvSpPr>
          <p:cNvPr id="340" name="Google Shape;340;p14"/>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JV pp. 20, 138  ·  MVD pp. 77, 101, 277</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p15"/>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5"/>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5"/>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5"/>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§1.9 · TWO COORDINATES OF CHANGE</a:t>
            </a:r>
            <a:endParaRPr b="0" i="0" sz="1050" u="none" cap="none" strike="noStrike">
              <a:solidFill>
                <a:schemeClr val="dk1"/>
              </a:solidFill>
              <a:latin typeface="Calibri"/>
              <a:ea typeface="Calibri"/>
              <a:cs typeface="Calibri"/>
              <a:sym typeface="Calibri"/>
            </a:endParaRPr>
          </a:p>
        </p:txBody>
      </p:sp>
      <p:sp>
        <p:nvSpPr>
          <p:cNvPr id="350" name="Google Shape;350;p15"/>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Progressions and Planes</a:t>
            </a:r>
            <a:endParaRPr b="0" i="0" sz="3000" u="none" cap="none" strike="noStrike">
              <a:solidFill>
                <a:schemeClr val="dk1"/>
              </a:solidFill>
              <a:latin typeface="Calibri"/>
              <a:ea typeface="Calibri"/>
              <a:cs typeface="Calibri"/>
              <a:sym typeface="Calibri"/>
            </a:endParaRPr>
          </a:p>
        </p:txBody>
      </p:sp>
      <p:sp>
        <p:nvSpPr>
          <p:cNvPr id="351" name="Google Shape;351;p15"/>
          <p:cNvSpPr/>
          <p:nvPr/>
        </p:nvSpPr>
        <p:spPr>
          <a:xfrm>
            <a:off x="640080" y="1280160"/>
            <a:ext cx="39319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00"/>
              <a:buFont typeface="Cambria"/>
              <a:buNone/>
            </a:pPr>
            <a:r>
              <a:rPr b="1" i="0" lang="en-US" sz="1400" u="none" cap="none" strike="noStrike">
                <a:solidFill>
                  <a:srgbClr val="1E2447"/>
                </a:solidFill>
                <a:latin typeface="Cambria"/>
                <a:ea typeface="Cambria"/>
                <a:cs typeface="Cambria"/>
                <a:sym typeface="Cambria"/>
              </a:rPr>
              <a:t>Four progressions (how nature moves)</a:t>
            </a:r>
            <a:endParaRPr b="0" i="0" sz="1400" u="none" cap="none" strike="noStrike">
              <a:solidFill>
                <a:schemeClr val="dk1"/>
              </a:solidFill>
              <a:latin typeface="Calibri"/>
              <a:ea typeface="Calibri"/>
              <a:cs typeface="Calibri"/>
              <a:sym typeface="Calibri"/>
            </a:endParaRPr>
          </a:p>
        </p:txBody>
      </p:sp>
      <p:sp>
        <p:nvSpPr>
          <p:cNvPr id="352" name="Google Shape;352;p15"/>
          <p:cNvSpPr/>
          <p:nvPr/>
        </p:nvSpPr>
        <p:spPr>
          <a:xfrm>
            <a:off x="640080" y="1664208"/>
            <a:ext cx="310896" cy="310896"/>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5"/>
          <p:cNvSpPr/>
          <p:nvPr/>
        </p:nvSpPr>
        <p:spPr>
          <a:xfrm>
            <a:off x="640080" y="1664208"/>
            <a:ext cx="310896" cy="310896"/>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1</a:t>
            </a:r>
            <a:endParaRPr b="0" i="0" sz="1100" u="none" cap="none" strike="noStrike">
              <a:solidFill>
                <a:schemeClr val="dk1"/>
              </a:solidFill>
              <a:latin typeface="Calibri"/>
              <a:ea typeface="Calibri"/>
              <a:cs typeface="Calibri"/>
              <a:sym typeface="Calibri"/>
            </a:endParaRPr>
          </a:p>
        </p:txBody>
      </p:sp>
      <p:sp>
        <p:nvSpPr>
          <p:cNvPr id="354" name="Google Shape;354;p15"/>
          <p:cNvSpPr/>
          <p:nvPr/>
        </p:nvSpPr>
        <p:spPr>
          <a:xfrm>
            <a:off x="1078992" y="1645920"/>
            <a:ext cx="352044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080"/>
              <a:buFont typeface="Calibri"/>
              <a:buNone/>
            </a:pPr>
            <a:r>
              <a:rPr b="1" i="1" lang="en-US" sz="1080" u="none" cap="none" strike="noStrike">
                <a:solidFill>
                  <a:srgbClr val="1E2447"/>
                </a:solidFill>
                <a:latin typeface="Calibri"/>
                <a:ea typeface="Calibri"/>
                <a:cs typeface="Calibri"/>
                <a:sym typeface="Calibri"/>
              </a:rPr>
              <a:t xml:space="preserve">Existential progression — </a:t>
            </a:r>
            <a:r>
              <a:rPr b="0" i="0" lang="en-US" sz="1080" u="none" cap="none" strike="noStrike">
                <a:solidFill>
                  <a:srgbClr val="5A6377"/>
                </a:solidFill>
                <a:latin typeface="Calibri"/>
                <a:ea typeface="Calibri"/>
                <a:cs typeface="Calibri"/>
                <a:sym typeface="Calibri"/>
              </a:rPr>
              <a:t>the fixed order in which the orders emerge: material → pranic → animal → knowledge</a:t>
            </a:r>
            <a:endParaRPr b="0" i="0" sz="1080" u="none" cap="none" strike="noStrike">
              <a:solidFill>
                <a:schemeClr val="dk1"/>
              </a:solidFill>
              <a:latin typeface="Calibri"/>
              <a:ea typeface="Calibri"/>
              <a:cs typeface="Calibri"/>
              <a:sym typeface="Calibri"/>
            </a:endParaRPr>
          </a:p>
        </p:txBody>
      </p:sp>
      <p:sp>
        <p:nvSpPr>
          <p:cNvPr id="355" name="Google Shape;355;p15"/>
          <p:cNvSpPr/>
          <p:nvPr/>
        </p:nvSpPr>
        <p:spPr>
          <a:xfrm>
            <a:off x="640080" y="2322576"/>
            <a:ext cx="310896" cy="310896"/>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5"/>
          <p:cNvSpPr/>
          <p:nvPr/>
        </p:nvSpPr>
        <p:spPr>
          <a:xfrm>
            <a:off x="640080" y="2322576"/>
            <a:ext cx="310896" cy="310896"/>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2</a:t>
            </a:r>
            <a:endParaRPr b="0" i="0" sz="1100" u="none" cap="none" strike="noStrike">
              <a:solidFill>
                <a:schemeClr val="dk1"/>
              </a:solidFill>
              <a:latin typeface="Calibri"/>
              <a:ea typeface="Calibri"/>
              <a:cs typeface="Calibri"/>
              <a:sym typeface="Calibri"/>
            </a:endParaRPr>
          </a:p>
        </p:txBody>
      </p:sp>
      <p:sp>
        <p:nvSpPr>
          <p:cNvPr id="357" name="Google Shape;357;p15"/>
          <p:cNvSpPr/>
          <p:nvPr/>
        </p:nvSpPr>
        <p:spPr>
          <a:xfrm>
            <a:off x="1078992" y="2304288"/>
            <a:ext cx="352044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080"/>
              <a:buFont typeface="Calibri"/>
              <a:buNone/>
            </a:pPr>
            <a:r>
              <a:rPr b="1" i="1" lang="en-US" sz="1080" u="none" cap="none" strike="noStrike">
                <a:solidFill>
                  <a:srgbClr val="1E2447"/>
                </a:solidFill>
                <a:latin typeface="Calibri"/>
                <a:ea typeface="Calibri"/>
                <a:cs typeface="Calibri"/>
                <a:sym typeface="Calibri"/>
              </a:rPr>
              <a:t xml:space="preserve">Way of existence — </a:t>
            </a:r>
            <a:r>
              <a:rPr b="0" i="0" lang="en-US" sz="1080" u="none" cap="none" strike="noStrike">
                <a:solidFill>
                  <a:srgbClr val="5A6377"/>
                </a:solidFill>
                <a:latin typeface="Calibri"/>
                <a:ea typeface="Calibri"/>
                <a:cs typeface="Calibri"/>
                <a:sym typeface="Calibri"/>
              </a:rPr>
              <a:t>definiteness in each order’s proper conduct</a:t>
            </a:r>
            <a:endParaRPr b="0" i="0" sz="1080" u="none" cap="none" strike="noStrike">
              <a:solidFill>
                <a:schemeClr val="dk1"/>
              </a:solidFill>
              <a:latin typeface="Calibri"/>
              <a:ea typeface="Calibri"/>
              <a:cs typeface="Calibri"/>
              <a:sym typeface="Calibri"/>
            </a:endParaRPr>
          </a:p>
        </p:txBody>
      </p:sp>
      <p:sp>
        <p:nvSpPr>
          <p:cNvPr id="358" name="Google Shape;358;p15"/>
          <p:cNvSpPr/>
          <p:nvPr/>
        </p:nvSpPr>
        <p:spPr>
          <a:xfrm>
            <a:off x="640080" y="2980944"/>
            <a:ext cx="310896" cy="310896"/>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5"/>
          <p:cNvSpPr/>
          <p:nvPr/>
        </p:nvSpPr>
        <p:spPr>
          <a:xfrm>
            <a:off x="640080" y="2980944"/>
            <a:ext cx="310896" cy="310896"/>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3</a:t>
            </a:r>
            <a:endParaRPr b="0" i="0" sz="1100" u="none" cap="none" strike="noStrike">
              <a:solidFill>
                <a:schemeClr val="dk1"/>
              </a:solidFill>
              <a:latin typeface="Calibri"/>
              <a:ea typeface="Calibri"/>
              <a:cs typeface="Calibri"/>
              <a:sym typeface="Calibri"/>
            </a:endParaRPr>
          </a:p>
        </p:txBody>
      </p:sp>
      <p:sp>
        <p:nvSpPr>
          <p:cNvPr id="360" name="Google Shape;360;p15"/>
          <p:cNvSpPr/>
          <p:nvPr/>
        </p:nvSpPr>
        <p:spPr>
          <a:xfrm>
            <a:off x="1078992" y="2962656"/>
            <a:ext cx="352044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080"/>
              <a:buFont typeface="Calibri"/>
              <a:buNone/>
            </a:pPr>
            <a:r>
              <a:rPr b="1" i="1" lang="en-US" sz="1080" u="none" cap="none" strike="noStrike">
                <a:solidFill>
                  <a:srgbClr val="1E2447"/>
                </a:solidFill>
                <a:latin typeface="Calibri"/>
                <a:ea typeface="Calibri"/>
                <a:cs typeface="Calibri"/>
                <a:sym typeface="Calibri"/>
              </a:rPr>
              <a:t xml:space="preserve">Development progression — </a:t>
            </a:r>
            <a:r>
              <a:rPr b="0" i="0" lang="en-US" sz="1080" u="none" cap="none" strike="noStrike">
                <a:solidFill>
                  <a:srgbClr val="5A6377"/>
                </a:solidFill>
                <a:latin typeface="Calibri"/>
                <a:ea typeface="Calibri"/>
                <a:cs typeface="Calibri"/>
                <a:sym typeface="Calibri"/>
              </a:rPr>
              <a:t>atomic development up to constitutional completeness (T1)</a:t>
            </a:r>
            <a:endParaRPr b="0" i="0" sz="1080" u="none" cap="none" strike="noStrike">
              <a:solidFill>
                <a:schemeClr val="dk1"/>
              </a:solidFill>
              <a:latin typeface="Calibri"/>
              <a:ea typeface="Calibri"/>
              <a:cs typeface="Calibri"/>
              <a:sym typeface="Calibri"/>
            </a:endParaRPr>
          </a:p>
        </p:txBody>
      </p:sp>
      <p:sp>
        <p:nvSpPr>
          <p:cNvPr id="361" name="Google Shape;361;p15"/>
          <p:cNvSpPr/>
          <p:nvPr/>
        </p:nvSpPr>
        <p:spPr>
          <a:xfrm>
            <a:off x="640080" y="3639312"/>
            <a:ext cx="310896" cy="310896"/>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5"/>
          <p:cNvSpPr/>
          <p:nvPr/>
        </p:nvSpPr>
        <p:spPr>
          <a:xfrm>
            <a:off x="640080" y="3639312"/>
            <a:ext cx="310896" cy="310896"/>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4</a:t>
            </a:r>
            <a:endParaRPr b="0" i="0" sz="1100" u="none" cap="none" strike="noStrike">
              <a:solidFill>
                <a:schemeClr val="dk1"/>
              </a:solidFill>
              <a:latin typeface="Calibri"/>
              <a:ea typeface="Calibri"/>
              <a:cs typeface="Calibri"/>
              <a:sym typeface="Calibri"/>
            </a:endParaRPr>
          </a:p>
        </p:txBody>
      </p:sp>
      <p:sp>
        <p:nvSpPr>
          <p:cNvPr id="363" name="Google Shape;363;p15"/>
          <p:cNvSpPr/>
          <p:nvPr/>
        </p:nvSpPr>
        <p:spPr>
          <a:xfrm>
            <a:off x="1078992" y="3621024"/>
            <a:ext cx="352044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080"/>
              <a:buFont typeface="Calibri"/>
              <a:buNone/>
            </a:pPr>
            <a:r>
              <a:rPr b="1" i="1" lang="en-US" sz="1080" u="none" cap="none" strike="noStrike">
                <a:solidFill>
                  <a:srgbClr val="1E2447"/>
                </a:solidFill>
                <a:latin typeface="Calibri"/>
                <a:ea typeface="Calibri"/>
                <a:cs typeface="Calibri"/>
                <a:sym typeface="Calibri"/>
              </a:rPr>
              <a:t xml:space="preserve">Awakening progression — </a:t>
            </a:r>
            <a:r>
              <a:rPr b="0" i="0" lang="en-US" sz="1080" u="none" cap="none" strike="noStrike">
                <a:solidFill>
                  <a:srgbClr val="5A6377"/>
                </a:solidFill>
                <a:latin typeface="Calibri"/>
                <a:ea typeface="Calibri"/>
                <a:cs typeface="Calibri"/>
                <a:sym typeface="Calibri"/>
              </a:rPr>
              <a:t>awakening within jeevan toward fuller activity and conduct</a:t>
            </a:r>
            <a:endParaRPr b="0" i="0" sz="1080" u="none" cap="none" strike="noStrike">
              <a:solidFill>
                <a:schemeClr val="dk1"/>
              </a:solidFill>
              <a:latin typeface="Calibri"/>
              <a:ea typeface="Calibri"/>
              <a:cs typeface="Calibri"/>
              <a:sym typeface="Calibri"/>
            </a:endParaRPr>
          </a:p>
        </p:txBody>
      </p:sp>
      <p:sp>
        <p:nvSpPr>
          <p:cNvPr id="364" name="Google Shape;364;p15"/>
          <p:cNvSpPr/>
          <p:nvPr/>
        </p:nvSpPr>
        <p:spPr>
          <a:xfrm>
            <a:off x="640080" y="4224528"/>
            <a:ext cx="3977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980"/>
              <a:buFont typeface="Calibri"/>
              <a:buNone/>
            </a:pPr>
            <a:r>
              <a:rPr b="0" i="1" lang="en-US" sz="980" u="none" cap="none" strike="noStrike">
                <a:solidFill>
                  <a:srgbClr val="9A6414"/>
                </a:solidFill>
                <a:latin typeface="Calibri"/>
                <a:ea typeface="Calibri"/>
                <a:cs typeface="Calibri"/>
                <a:sym typeface="Calibri"/>
              </a:rPr>
              <a:t>The two axes meet at the pranic→animal junction: the order chain delivers the animal body; atomic completeness delivers the completed (jeevan) atom.</a:t>
            </a:r>
            <a:endParaRPr b="0" i="0" sz="980" u="none" cap="none" strike="noStrike">
              <a:solidFill>
                <a:schemeClr val="dk1"/>
              </a:solidFill>
              <a:latin typeface="Calibri"/>
              <a:ea typeface="Calibri"/>
              <a:cs typeface="Calibri"/>
              <a:sym typeface="Calibri"/>
            </a:endParaRPr>
          </a:p>
        </p:txBody>
      </p:sp>
      <p:sp>
        <p:nvSpPr>
          <p:cNvPr id="365" name="Google Shape;365;p15"/>
          <p:cNvSpPr/>
          <p:nvPr/>
        </p:nvSpPr>
        <p:spPr>
          <a:xfrm>
            <a:off x="4892040" y="1280160"/>
            <a:ext cx="3749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00"/>
              <a:buFont typeface="Cambria"/>
              <a:buNone/>
            </a:pPr>
            <a:r>
              <a:rPr b="1" i="0" lang="en-US" sz="1400" u="none" cap="none" strike="noStrike">
                <a:solidFill>
                  <a:srgbClr val="1E2447"/>
                </a:solidFill>
                <a:latin typeface="Cambria"/>
                <a:ea typeface="Cambria"/>
                <a:cs typeface="Cambria"/>
                <a:sym typeface="Cambria"/>
              </a:rPr>
              <a:t>Four planes (where a unit stands)</a:t>
            </a:r>
            <a:endParaRPr b="0" i="0" sz="1400" u="none" cap="none" strike="noStrike">
              <a:solidFill>
                <a:schemeClr val="dk1"/>
              </a:solidFill>
              <a:latin typeface="Calibri"/>
              <a:ea typeface="Calibri"/>
              <a:cs typeface="Calibri"/>
              <a:sym typeface="Calibri"/>
            </a:endParaRPr>
          </a:p>
        </p:txBody>
      </p:sp>
      <p:graphicFrame>
        <p:nvGraphicFramePr>
          <p:cNvPr id="366" name="Google Shape;366;p15"/>
          <p:cNvGraphicFramePr/>
          <p:nvPr/>
        </p:nvGraphicFramePr>
        <p:xfrm>
          <a:off x="4892040" y="1645920"/>
          <a:ext cx="3000000" cy="3000000"/>
        </p:xfrm>
        <a:graphic>
          <a:graphicData uri="http://schemas.openxmlformats.org/drawingml/2006/table">
            <a:tbl>
              <a:tblPr>
                <a:noFill/>
                <a:tableStyleId>{6C92A692-798E-4634-90B1-36CD3966BFCB}</a:tableStyleId>
              </a:tblPr>
              <a:tblGrid>
                <a:gridCol w="1554475"/>
                <a:gridCol w="2194550"/>
              </a:tblGrid>
              <a:tr h="310900">
                <a:tc>
                  <a:txBody>
                    <a:bodyPr/>
                    <a:lstStyle/>
                    <a:p>
                      <a:pPr indent="0" lvl="0" marL="0" marR="0" rtl="0" algn="l">
                        <a:spcBef>
                          <a:spcPts val="0"/>
                        </a:spcBef>
                        <a:spcAft>
                          <a:spcPts val="0"/>
                        </a:spcAft>
                        <a:buClr>
                          <a:srgbClr val="FFFFFF"/>
                        </a:buClr>
                        <a:buSzPts val="1080"/>
                        <a:buFont typeface="Calibri"/>
                        <a:buNone/>
                      </a:pPr>
                      <a:r>
                        <a:rPr b="1" lang="en-US" sz="1080" u="none" cap="none" strike="noStrike">
                          <a:solidFill>
                            <a:srgbClr val="FFFFFF"/>
                          </a:solidFill>
                          <a:latin typeface="Calibri"/>
                          <a:ea typeface="Calibri"/>
                          <a:cs typeface="Calibri"/>
                          <a:sym typeface="Calibri"/>
                        </a:rPr>
                        <a:t>Order</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080"/>
                        <a:buFont typeface="Calibri"/>
                        <a:buNone/>
                      </a:pPr>
                      <a:r>
                        <a:rPr b="1" lang="en-US" sz="1080" u="none" cap="none" strike="noStrike">
                          <a:solidFill>
                            <a:srgbClr val="FFFFFF"/>
                          </a:solidFill>
                          <a:latin typeface="Calibri"/>
                          <a:ea typeface="Calibri"/>
                          <a:cs typeface="Calibri"/>
                          <a:sym typeface="Calibri"/>
                        </a:rPr>
                        <a:t>Plane(s) occupied</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r>
              <a:tr h="384050">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Material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Physicochemical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84050">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Bio (pranic)</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Physicochemical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84050">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Animal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Delusional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457200">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Knowledge (human)</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Delusional → deific → divine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bl>
          </a:graphicData>
        </a:graphic>
      </p:graphicFrame>
      <p:sp>
        <p:nvSpPr>
          <p:cNvPr id="367" name="Google Shape;367;p15"/>
          <p:cNvSpPr/>
          <p:nvPr/>
        </p:nvSpPr>
        <p:spPr>
          <a:xfrm>
            <a:off x="4892040" y="3794760"/>
            <a:ext cx="374904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00"/>
              <a:buFont typeface="Calibri"/>
              <a:buNone/>
            </a:pPr>
            <a:r>
              <a:rPr b="0" i="0" lang="en-US" sz="1000" u="none" cap="none" strike="noStrike">
                <a:solidFill>
                  <a:srgbClr val="5A6377"/>
                </a:solidFill>
                <a:latin typeface="Calibri"/>
                <a:ea typeface="Calibri"/>
                <a:cs typeface="Calibri"/>
                <a:sym typeface="Calibri"/>
              </a:rPr>
              <a:t>Order names what a unit is; plane names how far its development has gone. Two orders map to one plane; one order spans three — the axes never line up one-to-one. Five human types — servile, brutal, discerning, deity-human, divine-human — mark degrees of awakening across the last three planes.</a:t>
            </a:r>
            <a:endParaRPr b="0" i="0" sz="1000" u="none" cap="none" strike="noStrike">
              <a:solidFill>
                <a:schemeClr val="dk1"/>
              </a:solidFill>
              <a:latin typeface="Calibri"/>
              <a:ea typeface="Calibri"/>
              <a:cs typeface="Calibri"/>
              <a:sym typeface="Calibri"/>
            </a:endParaRPr>
          </a:p>
        </p:txBody>
      </p:sp>
      <p:sp>
        <p:nvSpPr>
          <p:cNvPr id="368" name="Google Shape;368;p15"/>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MVD pp. 8, 13–14, 91, 160  ·  SB pp. 52, 76–78</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2" name="Shape 372"/>
        <p:cNvGrpSpPr/>
        <p:nvPr/>
      </p:nvGrpSpPr>
      <p:grpSpPr>
        <a:xfrm>
          <a:off x="0" y="0"/>
          <a:ext cx="0" cy="0"/>
          <a:chOff x="0" y="0"/>
          <a:chExt cx="0" cy="0"/>
        </a:xfrm>
      </p:grpSpPr>
      <p:sp>
        <p:nvSpPr>
          <p:cNvPr id="373" name="Google Shape;373;p16"/>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6"/>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6"/>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6"/>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§1.10 · COMPOSITION AND ASSEMBLIES</a:t>
            </a:r>
            <a:endParaRPr b="0" i="0" sz="1050" u="none" cap="none" strike="noStrike">
              <a:solidFill>
                <a:schemeClr val="dk1"/>
              </a:solidFill>
              <a:latin typeface="Calibri"/>
              <a:ea typeface="Calibri"/>
              <a:cs typeface="Calibri"/>
              <a:sym typeface="Calibri"/>
            </a:endParaRPr>
          </a:p>
        </p:txBody>
      </p:sp>
      <p:sp>
        <p:nvSpPr>
          <p:cNvPr id="377" name="Google Shape;377;p16"/>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From Atoms to Societies</a:t>
            </a:r>
            <a:endParaRPr b="0" i="0" sz="3000" u="none" cap="none" strike="noStrike">
              <a:solidFill>
                <a:schemeClr val="dk1"/>
              </a:solidFill>
              <a:latin typeface="Calibri"/>
              <a:ea typeface="Calibri"/>
              <a:cs typeface="Calibri"/>
              <a:sym typeface="Calibri"/>
            </a:endParaRPr>
          </a:p>
        </p:txBody>
      </p:sp>
      <p:sp>
        <p:nvSpPr>
          <p:cNvPr id="378" name="Google Shape;378;p16"/>
          <p:cNvSpPr/>
          <p:nvPr/>
        </p:nvSpPr>
        <p:spPr>
          <a:xfrm>
            <a:off x="640080" y="1207008"/>
            <a:ext cx="79552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300"/>
              <a:buFont typeface="Calibri"/>
              <a:buNone/>
            </a:pPr>
            <a:r>
              <a:rPr b="0" i="0" lang="en-US" sz="1300" u="none" cap="none" strike="noStrike">
                <a:solidFill>
                  <a:srgbClr val="5A6377"/>
                </a:solidFill>
                <a:latin typeface="Calibri"/>
                <a:ea typeface="Calibri"/>
                <a:cs typeface="Calibri"/>
                <a:sym typeface="Calibri"/>
              </a:rPr>
              <a:t>When complementary units fulfil their relationships, they compose into larger units. A natural inclination toward coexistence runs everywhere — each successful composition opens relationships at a higher tier.</a:t>
            </a:r>
            <a:endParaRPr b="0" i="0" sz="1300" u="none" cap="none" strike="noStrike">
              <a:solidFill>
                <a:schemeClr val="dk1"/>
              </a:solidFill>
              <a:latin typeface="Calibri"/>
              <a:ea typeface="Calibri"/>
              <a:cs typeface="Calibri"/>
              <a:sym typeface="Calibri"/>
            </a:endParaRPr>
          </a:p>
        </p:txBody>
      </p:sp>
      <p:sp>
        <p:nvSpPr>
          <p:cNvPr id="379" name="Google Shape;379;p16"/>
          <p:cNvSpPr/>
          <p:nvPr/>
        </p:nvSpPr>
        <p:spPr>
          <a:xfrm>
            <a:off x="640080" y="1874520"/>
            <a:ext cx="3794760" cy="1170432"/>
          </a:xfrm>
          <a:prstGeom prst="roundRect">
            <a:avLst>
              <a:gd fmla="val 7031"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16"/>
          <p:cNvSpPr/>
          <p:nvPr/>
        </p:nvSpPr>
        <p:spPr>
          <a:xfrm>
            <a:off x="841248" y="1993392"/>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00"/>
              <a:buFont typeface="Cambria"/>
              <a:buNone/>
            </a:pPr>
            <a:r>
              <a:rPr b="1" i="0" lang="en-US" sz="1400" u="none" cap="none" strike="noStrike">
                <a:solidFill>
                  <a:srgbClr val="1E2447"/>
                </a:solidFill>
                <a:latin typeface="Cambria"/>
                <a:ea typeface="Cambria"/>
                <a:cs typeface="Cambria"/>
                <a:sym typeface="Cambria"/>
              </a:rPr>
              <a:t>Mixture</a:t>
            </a:r>
            <a:endParaRPr b="0" i="0" sz="1400" u="none" cap="none" strike="noStrike">
              <a:solidFill>
                <a:schemeClr val="dk1"/>
              </a:solidFill>
              <a:latin typeface="Calibri"/>
              <a:ea typeface="Calibri"/>
              <a:cs typeface="Calibri"/>
              <a:sym typeface="Calibri"/>
            </a:endParaRPr>
          </a:p>
        </p:txBody>
      </p:sp>
      <p:sp>
        <p:nvSpPr>
          <p:cNvPr id="381" name="Google Shape;381;p16"/>
          <p:cNvSpPr/>
          <p:nvPr/>
        </p:nvSpPr>
        <p:spPr>
          <a:xfrm>
            <a:off x="841248" y="228600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0" lang="en-US" sz="1100" u="none" cap="none" strike="noStrike">
                <a:solidFill>
                  <a:srgbClr val="5A6377"/>
                </a:solidFill>
                <a:latin typeface="Calibri"/>
                <a:ea typeface="Calibri"/>
                <a:cs typeface="Calibri"/>
                <a:sym typeface="Calibri"/>
              </a:rPr>
              <a:t>Components stay side by side and each maintains its own conduct — no new unit is formed.</a:t>
            </a:r>
            <a:endParaRPr b="0" i="0" sz="1100" u="none" cap="none" strike="noStrike">
              <a:solidFill>
                <a:schemeClr val="dk1"/>
              </a:solidFill>
              <a:latin typeface="Calibri"/>
              <a:ea typeface="Calibri"/>
              <a:cs typeface="Calibri"/>
              <a:sym typeface="Calibri"/>
            </a:endParaRPr>
          </a:p>
        </p:txBody>
      </p:sp>
      <p:sp>
        <p:nvSpPr>
          <p:cNvPr id="382" name="Google Shape;382;p16"/>
          <p:cNvSpPr/>
          <p:nvPr/>
        </p:nvSpPr>
        <p:spPr>
          <a:xfrm>
            <a:off x="4709160" y="1874520"/>
            <a:ext cx="3794760" cy="1170432"/>
          </a:xfrm>
          <a:prstGeom prst="roundRect">
            <a:avLst>
              <a:gd fmla="val 7031"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6"/>
          <p:cNvSpPr/>
          <p:nvPr/>
        </p:nvSpPr>
        <p:spPr>
          <a:xfrm>
            <a:off x="4910328" y="1993392"/>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B4A7A"/>
              </a:buClr>
              <a:buSzPts val="1400"/>
              <a:buFont typeface="Cambria"/>
              <a:buNone/>
            </a:pPr>
            <a:r>
              <a:rPr b="1" i="0" lang="en-US" sz="1400" u="none" cap="none" strike="noStrike">
                <a:solidFill>
                  <a:srgbClr val="3B4A7A"/>
                </a:solidFill>
                <a:latin typeface="Cambria"/>
                <a:ea typeface="Cambria"/>
                <a:cs typeface="Cambria"/>
                <a:sym typeface="Cambria"/>
              </a:rPr>
              <a:t>Compound</a:t>
            </a:r>
            <a:endParaRPr b="0" i="0" sz="1400" u="none" cap="none" strike="noStrike">
              <a:solidFill>
                <a:schemeClr val="dk1"/>
              </a:solidFill>
              <a:latin typeface="Calibri"/>
              <a:ea typeface="Calibri"/>
              <a:cs typeface="Calibri"/>
              <a:sym typeface="Calibri"/>
            </a:endParaRPr>
          </a:p>
        </p:txBody>
      </p:sp>
      <p:sp>
        <p:nvSpPr>
          <p:cNvPr id="384" name="Google Shape;384;p16"/>
          <p:cNvSpPr/>
          <p:nvPr/>
        </p:nvSpPr>
        <p:spPr>
          <a:xfrm>
            <a:off x="4910328" y="228600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0" lang="en-US" sz="1100" u="none" cap="none" strike="noStrike">
                <a:solidFill>
                  <a:srgbClr val="5A6377"/>
                </a:solidFill>
                <a:latin typeface="Calibri"/>
                <a:ea typeface="Calibri"/>
                <a:cs typeface="Calibri"/>
                <a:sym typeface="Calibri"/>
              </a:rPr>
              <a:t>Components combine in definite proportion and present a genuinely new unit, with its own form, properties, essential nature, and dharma.</a:t>
            </a:r>
            <a:endParaRPr b="0" i="0" sz="1100" u="none" cap="none" strike="noStrike">
              <a:solidFill>
                <a:schemeClr val="dk1"/>
              </a:solidFill>
              <a:latin typeface="Calibri"/>
              <a:ea typeface="Calibri"/>
              <a:cs typeface="Calibri"/>
              <a:sym typeface="Calibri"/>
            </a:endParaRPr>
          </a:p>
        </p:txBody>
      </p:sp>
      <p:sp>
        <p:nvSpPr>
          <p:cNvPr id="385" name="Google Shape;385;p16"/>
          <p:cNvSpPr/>
          <p:nvPr/>
        </p:nvSpPr>
        <p:spPr>
          <a:xfrm>
            <a:off x="640080" y="3246120"/>
            <a:ext cx="79552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libri"/>
              <a:buNone/>
            </a:pPr>
            <a:r>
              <a:rPr b="1" i="0" lang="en-US" sz="1250" u="none" cap="none" strike="noStrike">
                <a:solidFill>
                  <a:srgbClr val="1E2447"/>
                </a:solidFill>
                <a:latin typeface="Calibri"/>
                <a:ea typeface="Calibri"/>
                <a:cs typeface="Calibri"/>
                <a:sym typeface="Calibri"/>
              </a:rPr>
              <a:t xml:space="preserve">Composition is not development.  </a:t>
            </a:r>
            <a:r>
              <a:rPr b="0" i="0" lang="en-US" sz="1200" u="none" cap="none" strike="noStrike">
                <a:solidFill>
                  <a:srgbClr val="5A6377"/>
                </a:solidFill>
                <a:latin typeface="Calibri"/>
                <a:ea typeface="Calibri"/>
                <a:cs typeface="Calibri"/>
                <a:sym typeface="Calibri"/>
              </a:rPr>
              <a:t>The developmental threshold is crossed only when an atom reaches constitutional completeness (T1); assemblies persist while relationships are fulfilled and decline when they are not.</a:t>
            </a:r>
            <a:endParaRPr b="0" i="0" sz="1250" u="none" cap="none" strike="noStrike">
              <a:solidFill>
                <a:schemeClr val="dk1"/>
              </a:solidFill>
              <a:latin typeface="Calibri"/>
              <a:ea typeface="Calibri"/>
              <a:cs typeface="Calibri"/>
              <a:sym typeface="Calibri"/>
            </a:endParaRPr>
          </a:p>
        </p:txBody>
      </p:sp>
      <p:sp>
        <p:nvSpPr>
          <p:cNvPr id="386" name="Google Shape;386;p16"/>
          <p:cNvSpPr/>
          <p:nvPr/>
        </p:nvSpPr>
        <p:spPr>
          <a:xfrm>
            <a:off x="64008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6"/>
          <p:cNvSpPr/>
          <p:nvPr/>
        </p:nvSpPr>
        <p:spPr>
          <a:xfrm>
            <a:off x="64008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Particles, atoms</a:t>
            </a:r>
            <a:endParaRPr b="0" i="0" sz="1250" u="none" cap="none" strike="noStrike">
              <a:solidFill>
                <a:schemeClr val="dk1"/>
              </a:solidFill>
              <a:latin typeface="Calibri"/>
              <a:ea typeface="Calibri"/>
              <a:cs typeface="Calibri"/>
              <a:sym typeface="Calibri"/>
            </a:endParaRPr>
          </a:p>
        </p:txBody>
      </p:sp>
      <p:sp>
        <p:nvSpPr>
          <p:cNvPr id="388" name="Google Shape;388;p16"/>
          <p:cNvSpPr/>
          <p:nvPr/>
        </p:nvSpPr>
        <p:spPr>
          <a:xfrm>
            <a:off x="233172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389" name="Google Shape;389;p16"/>
          <p:cNvSpPr/>
          <p:nvPr/>
        </p:nvSpPr>
        <p:spPr>
          <a:xfrm>
            <a:off x="265176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6"/>
          <p:cNvSpPr/>
          <p:nvPr/>
        </p:nvSpPr>
        <p:spPr>
          <a:xfrm>
            <a:off x="265176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Molecules</a:t>
            </a:r>
            <a:endParaRPr b="0" i="0" sz="1250" u="none" cap="none" strike="noStrike">
              <a:solidFill>
                <a:schemeClr val="dk1"/>
              </a:solidFill>
              <a:latin typeface="Calibri"/>
              <a:ea typeface="Calibri"/>
              <a:cs typeface="Calibri"/>
              <a:sym typeface="Calibri"/>
            </a:endParaRPr>
          </a:p>
        </p:txBody>
      </p:sp>
      <p:sp>
        <p:nvSpPr>
          <p:cNvPr id="391" name="Google Shape;391;p16"/>
          <p:cNvSpPr/>
          <p:nvPr/>
        </p:nvSpPr>
        <p:spPr>
          <a:xfrm>
            <a:off x="434340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392" name="Google Shape;392;p16"/>
          <p:cNvSpPr/>
          <p:nvPr/>
        </p:nvSpPr>
        <p:spPr>
          <a:xfrm>
            <a:off x="466344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6"/>
          <p:cNvSpPr/>
          <p:nvPr/>
        </p:nvSpPr>
        <p:spPr>
          <a:xfrm>
            <a:off x="466344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Cells &amp; bodies</a:t>
            </a:r>
            <a:endParaRPr b="0" i="0" sz="1250" u="none" cap="none" strike="noStrike">
              <a:solidFill>
                <a:schemeClr val="dk1"/>
              </a:solidFill>
              <a:latin typeface="Calibri"/>
              <a:ea typeface="Calibri"/>
              <a:cs typeface="Calibri"/>
              <a:sym typeface="Calibri"/>
            </a:endParaRPr>
          </a:p>
        </p:txBody>
      </p:sp>
      <p:sp>
        <p:nvSpPr>
          <p:cNvPr id="394" name="Google Shape;394;p16"/>
          <p:cNvSpPr/>
          <p:nvPr/>
        </p:nvSpPr>
        <p:spPr>
          <a:xfrm>
            <a:off x="635508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395" name="Google Shape;395;p16"/>
          <p:cNvSpPr/>
          <p:nvPr/>
        </p:nvSpPr>
        <p:spPr>
          <a:xfrm>
            <a:off x="667512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16"/>
          <p:cNvSpPr/>
          <p:nvPr/>
        </p:nvSpPr>
        <p:spPr>
          <a:xfrm>
            <a:off x="667512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Families, society</a:t>
            </a:r>
            <a:endParaRPr b="0" i="0" sz="1250" u="none" cap="none" strike="noStrike">
              <a:solidFill>
                <a:schemeClr val="dk1"/>
              </a:solidFill>
              <a:latin typeface="Calibri"/>
              <a:ea typeface="Calibri"/>
              <a:cs typeface="Calibri"/>
              <a:sym typeface="Calibri"/>
            </a:endParaRPr>
          </a:p>
        </p:txBody>
      </p:sp>
      <p:sp>
        <p:nvSpPr>
          <p:cNvPr id="397" name="Google Shape;397;p16"/>
          <p:cNvSpPr/>
          <p:nvPr/>
        </p:nvSpPr>
        <p:spPr>
          <a:xfrm>
            <a:off x="640080" y="4553712"/>
            <a:ext cx="79552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1" lang="en-US" sz="1100" u="none" cap="none" strike="noStrike">
                <a:solidFill>
                  <a:srgbClr val="5A6377"/>
                </a:solidFill>
                <a:latin typeface="Calibri"/>
                <a:ea typeface="Calibri"/>
                <a:cs typeface="Calibri"/>
                <a:sym typeface="Calibri"/>
              </a:rPr>
              <a:t>Human assemblies follow the same rule: their durability tracks relationship-fulfilment — not fear or extraction. This is the scaling step toward an undivided society.</a:t>
            </a:r>
            <a:endParaRPr b="0" i="0" sz="1100" u="none" cap="none" strike="noStrike">
              <a:solidFill>
                <a:schemeClr val="dk1"/>
              </a:solidFill>
              <a:latin typeface="Calibri"/>
              <a:ea typeface="Calibri"/>
              <a:cs typeface="Calibri"/>
              <a:sym typeface="Calibri"/>
            </a:endParaRPr>
          </a:p>
        </p:txBody>
      </p:sp>
      <p:sp>
        <p:nvSpPr>
          <p:cNvPr id="398" name="Google Shape;398;p16"/>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JV p. 67 (inclination toward coexistence)  ·  MVD p. 42 (mixture &amp; compound)  ·  SB p. 14 (persist or decline)</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p17"/>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7"/>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17"/>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7"/>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§§1.11–1.12 · WHY “MADHYASTH”</a:t>
            </a:r>
            <a:endParaRPr b="0" i="0" sz="1050" u="none" cap="none" strike="noStrike">
              <a:solidFill>
                <a:schemeClr val="dk1"/>
              </a:solidFill>
              <a:latin typeface="Calibri"/>
              <a:ea typeface="Calibri"/>
              <a:cs typeface="Calibri"/>
              <a:sym typeface="Calibri"/>
            </a:endParaRPr>
          </a:p>
        </p:txBody>
      </p:sp>
      <p:sp>
        <p:nvSpPr>
          <p:cNvPr id="408" name="Google Shape;408;p17"/>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Regulation, Law, and Justice</a:t>
            </a:r>
            <a:endParaRPr b="0" i="0" sz="3000" u="none" cap="none" strike="noStrike">
              <a:solidFill>
                <a:schemeClr val="dk1"/>
              </a:solidFill>
              <a:latin typeface="Calibri"/>
              <a:ea typeface="Calibri"/>
              <a:cs typeface="Calibri"/>
              <a:sym typeface="Calibri"/>
            </a:endParaRPr>
          </a:p>
        </p:txBody>
      </p:sp>
      <p:sp>
        <p:nvSpPr>
          <p:cNvPr id="409" name="Google Shape;409;p17"/>
          <p:cNvSpPr/>
          <p:nvPr/>
        </p:nvSpPr>
        <p:spPr>
          <a:xfrm>
            <a:off x="640080" y="1234440"/>
            <a:ext cx="79552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50"/>
              <a:buFont typeface="Calibri"/>
              <a:buNone/>
            </a:pPr>
            <a:r>
              <a:rPr b="0" i="0" lang="en-US" sz="1250" u="none" cap="none" strike="noStrike">
                <a:solidFill>
                  <a:srgbClr val="5A6377"/>
                </a:solidFill>
                <a:latin typeface="Calibri"/>
                <a:ea typeface="Calibri"/>
                <a:cs typeface="Calibri"/>
                <a:sym typeface="Calibri"/>
              </a:rPr>
              <a:t xml:space="preserve">Orderliness is self-regulation, inherent in saturated units — not dispensed by a cosmic governor. </a:t>
            </a:r>
            <a:r>
              <a:rPr b="1" i="0" lang="en-US" sz="1250" u="none" cap="none" strike="noStrike">
                <a:solidFill>
                  <a:srgbClr val="1E2447"/>
                </a:solidFill>
                <a:latin typeface="Calibri"/>
                <a:ea typeface="Calibri"/>
                <a:cs typeface="Calibri"/>
                <a:sym typeface="Calibri"/>
              </a:rPr>
              <a:t>This mediative (madhyasth) regulation, which regulates and conserves every unit, gives the darshan its name.</a:t>
            </a:r>
            <a:endParaRPr b="0" i="0" sz="1250" u="none" cap="none" strike="noStrike">
              <a:solidFill>
                <a:schemeClr val="dk1"/>
              </a:solidFill>
              <a:latin typeface="Calibri"/>
              <a:ea typeface="Calibri"/>
              <a:cs typeface="Calibri"/>
              <a:sym typeface="Calibri"/>
            </a:endParaRPr>
          </a:p>
        </p:txBody>
      </p:sp>
      <p:graphicFrame>
        <p:nvGraphicFramePr>
          <p:cNvPr id="410" name="Google Shape;410;p17"/>
          <p:cNvGraphicFramePr/>
          <p:nvPr/>
        </p:nvGraphicFramePr>
        <p:xfrm>
          <a:off x="640080" y="1965960"/>
          <a:ext cx="3000000" cy="3000000"/>
        </p:xfrm>
        <a:graphic>
          <a:graphicData uri="http://schemas.openxmlformats.org/drawingml/2006/table">
            <a:tbl>
              <a:tblPr>
                <a:noFill/>
                <a:tableStyleId>{6C92A692-798E-4634-90B1-36CD3966BFCB}</a:tableStyleId>
              </a:tblPr>
              <a:tblGrid>
                <a:gridCol w="1554475"/>
                <a:gridCol w="3017525"/>
                <a:gridCol w="3291850"/>
              </a:tblGrid>
              <a:tr h="310900">
                <a:tc>
                  <a:txBody>
                    <a:bodyPr/>
                    <a:lstStyle/>
                    <a:p>
                      <a:pPr indent="0" lvl="0" marL="0" marR="0" rtl="0" algn="l">
                        <a:spcBef>
                          <a:spcPts val="0"/>
                        </a:spcBef>
                        <a:spcAft>
                          <a:spcPts val="0"/>
                        </a:spcAft>
                        <a:buClr>
                          <a:srgbClr val="FFFFFF"/>
                        </a:buClr>
                        <a:buSzPts val="1080"/>
                        <a:buFont typeface="Calibri"/>
                        <a:buNone/>
                      </a:pPr>
                      <a:r>
                        <a:rPr b="1" lang="en-US" sz="1080" u="none" cap="none" strike="noStrike">
                          <a:solidFill>
                            <a:srgbClr val="FFFFFF"/>
                          </a:solidFill>
                          <a:latin typeface="Calibri"/>
                          <a:ea typeface="Calibri"/>
                          <a:cs typeface="Calibri"/>
                          <a:sym typeface="Calibri"/>
                        </a:rPr>
                        <a:t>Order</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080"/>
                        <a:buFont typeface="Calibri"/>
                        <a:buNone/>
                      </a:pPr>
                      <a:r>
                        <a:rPr b="1" lang="en-US" sz="1080" u="none" cap="none" strike="noStrike">
                          <a:solidFill>
                            <a:srgbClr val="FFFFFF"/>
                          </a:solidFill>
                          <a:latin typeface="Calibri"/>
                          <a:ea typeface="Calibri"/>
                          <a:cs typeface="Calibri"/>
                          <a:sym typeface="Calibri"/>
                        </a:rPr>
                        <a:t>Conformance mode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080"/>
                        <a:buFont typeface="Calibri"/>
                        <a:buNone/>
                      </a:pPr>
                      <a:r>
                        <a:rPr b="1" lang="en-US" sz="1080" u="none" cap="none" strike="noStrike">
                          <a:solidFill>
                            <a:srgbClr val="FFFFFF"/>
                          </a:solidFill>
                          <a:latin typeface="Calibri"/>
                          <a:ea typeface="Calibri"/>
                          <a:cs typeface="Calibri"/>
                          <a:sym typeface="Calibri"/>
                        </a:rPr>
                        <a:t>Definite or achieved</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r>
              <a:tr h="347475">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Material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result- / structural-conformance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definite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47475">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Bio (pranic)</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seed-conformance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definite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47475">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Animal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species-conformance (inherited from gestation)</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definite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457200">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Knowledge (human)</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learned conformance (character, upbringing)</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achieved: knowing → believing → recognising → fulfilling</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bl>
          </a:graphicData>
        </a:graphic>
      </p:graphicFrame>
      <p:sp>
        <p:nvSpPr>
          <p:cNvPr id="411" name="Google Shape;411;p17"/>
          <p:cNvSpPr/>
          <p:nvPr/>
        </p:nvSpPr>
        <p:spPr>
          <a:xfrm>
            <a:off x="640080" y="3977640"/>
            <a:ext cx="7863840" cy="731520"/>
          </a:xfrm>
          <a:prstGeom prst="roundRect">
            <a:avLst>
              <a:gd fmla="val 11250" name="adj"/>
            </a:avLst>
          </a:prstGeom>
          <a:solidFill>
            <a:srgbClr val="FAF1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7"/>
          <p:cNvSpPr/>
          <p:nvPr/>
        </p:nvSpPr>
        <p:spPr>
          <a:xfrm>
            <a:off x="868680" y="3977640"/>
            <a:ext cx="74066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100"/>
              <a:buFont typeface="Calibri"/>
              <a:buNone/>
            </a:pPr>
            <a:r>
              <a:rPr b="1" i="0" lang="en-US" sz="1100" u="none" cap="none" strike="noStrike">
                <a:solidFill>
                  <a:srgbClr val="9A6414"/>
                </a:solidFill>
                <a:latin typeface="Calibri"/>
                <a:ea typeface="Calibri"/>
                <a:cs typeface="Calibri"/>
                <a:sym typeface="Calibri"/>
              </a:rPr>
              <a:t xml:space="preserve">Justice </a:t>
            </a:r>
            <a:r>
              <a:rPr b="0" i="0" lang="en-US" sz="1100" u="none" cap="none" strike="noStrike">
                <a:solidFill>
                  <a:srgbClr val="5A6377"/>
                </a:solidFill>
                <a:latin typeface="Calibri"/>
                <a:ea typeface="Calibri"/>
                <a:cs typeface="Calibri"/>
                <a:sym typeface="Calibri"/>
              </a:rPr>
              <a:t>names the closure of the relational cycle at the knowledge order: recognising relationships, fulfilling values, evaluating, achieving mutual satisfaction. Of the six evaluative perspectives, awakened evaluation takes refuge in justice, dharma, and truth — subordinating, not abandoning, the pleasant, the healthy, and the profitable.</a:t>
            </a:r>
            <a:endParaRPr b="0" i="0" sz="1100" u="none" cap="none" strike="noStrike">
              <a:solidFill>
                <a:schemeClr val="dk1"/>
              </a:solidFill>
              <a:latin typeface="Calibri"/>
              <a:ea typeface="Calibri"/>
              <a:cs typeface="Calibri"/>
              <a:sym typeface="Calibri"/>
            </a:endParaRPr>
          </a:p>
        </p:txBody>
      </p:sp>
      <p:sp>
        <p:nvSpPr>
          <p:cNvPr id="413" name="Google Shape;413;p17"/>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SB p. 57  ·  MVD pp. 26–27, 67, 137, 311</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8" name="Shape 418"/>
        <p:cNvGrpSpPr/>
        <p:nvPr/>
      </p:nvGrpSpPr>
      <p:grpSpPr>
        <a:xfrm>
          <a:off x="0" y="0"/>
          <a:ext cx="0" cy="0"/>
          <a:chOff x="0" y="0"/>
          <a:chExt cx="0" cy="0"/>
        </a:xfrm>
      </p:grpSpPr>
      <p:sp>
        <p:nvSpPr>
          <p:cNvPr id="419" name="Google Shape;419;p18"/>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8"/>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8"/>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8"/>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§§1.3–1.4, 1.7, 1.12–1.13 · WHAT KNOWING NEEDS — AND HOW IT HAPPENS</a:t>
            </a:r>
            <a:endParaRPr b="0" i="0" sz="1050" u="none" cap="none" strike="noStrike">
              <a:solidFill>
                <a:schemeClr val="dk1"/>
              </a:solidFill>
              <a:latin typeface="Calibri"/>
              <a:ea typeface="Calibri"/>
              <a:cs typeface="Calibri"/>
              <a:sym typeface="Calibri"/>
            </a:endParaRPr>
          </a:p>
        </p:txBody>
      </p:sp>
      <p:sp>
        <p:nvSpPr>
          <p:cNvPr id="423" name="Google Shape;423;p18"/>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The Epistemic Ladder</a:t>
            </a:r>
            <a:endParaRPr b="0" i="0" sz="3000" u="none" cap="none" strike="noStrike">
              <a:solidFill>
                <a:schemeClr val="dk1"/>
              </a:solidFill>
              <a:latin typeface="Calibri"/>
              <a:ea typeface="Calibri"/>
              <a:cs typeface="Calibri"/>
              <a:sym typeface="Calibri"/>
            </a:endParaRPr>
          </a:p>
        </p:txBody>
      </p:sp>
      <p:sp>
        <p:nvSpPr>
          <p:cNvPr id="424" name="Google Shape;424;p18"/>
          <p:cNvSpPr/>
          <p:nvPr/>
        </p:nvSpPr>
        <p:spPr>
          <a:xfrm>
            <a:off x="548640" y="128016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What must be understood — scope</a:t>
            </a:r>
            <a:endParaRPr b="0" i="0" sz="1350" u="none" cap="none" strike="noStrike">
              <a:solidFill>
                <a:schemeClr val="dk1"/>
              </a:solidFill>
              <a:latin typeface="Calibri"/>
              <a:ea typeface="Calibri"/>
              <a:cs typeface="Calibri"/>
              <a:sym typeface="Calibri"/>
            </a:endParaRPr>
          </a:p>
        </p:txBody>
      </p:sp>
      <p:sp>
        <p:nvSpPr>
          <p:cNvPr id="450" name="Google Shape;450;p18"/>
          <p:cNvSpPr/>
          <p:nvPr/>
        </p:nvSpPr>
        <p:spPr>
          <a:xfrm>
            <a:off x="274320" y="1600000"/>
            <a:ext cx="4297680" cy="420000"/>
          </a:xfrm>
          <a:prstGeom prst="roundRect">
            <a:avLst>
              <a:gd fmla="val 14286" name="adj"/>
            </a:avLst>
          </a:prstGeom>
          <a:solidFill>
            <a:srgbClr val="9A6414"/>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 name="Google Shape;451;p18"/>
          <p:cNvSpPr/>
          <p:nvPr/>
        </p:nvSpPr>
        <p:spPr>
          <a:xfrm>
            <a:off x="274320" y="1600000"/>
            <a:ext cx="4297680" cy="4200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50"/>
              <a:buFont typeface="Calibri"/>
              <a:buNone/>
            </a:pPr>
            <a:r>
              <a:rPr b="1" i="0" lang="en-US" sz="1150" u="none" cap="none" strike="noStrike">
                <a:solidFill>
                  <a:srgbClr val="FFFFFF"/>
                </a:solidFill>
                <a:latin typeface="Calibri"/>
                <a:ea typeface="Calibri"/>
                <a:cs typeface="Calibri"/>
                <a:sym typeface="Calibri"/>
              </a:rPr>
              <a:t>coexistence itself  ·  the telos of knowing</a:t>
            </a:r>
            <a:endParaRPr b="0" i="0" sz="1150" u="none" cap="none" strike="noStrike">
              <a:solidFill>
                <a:schemeClr val="dk1"/>
              </a:solidFill>
              <a:latin typeface="Calibri"/>
              <a:ea typeface="Calibri"/>
              <a:cs typeface="Calibri"/>
              <a:sym typeface="Calibri"/>
            </a:endParaRPr>
          </a:p>
        </p:txBody>
      </p:sp>
      <p:sp>
        <p:nvSpPr>
          <p:cNvPr id="452" name="Google Shape;452;p18"/>
          <p:cNvSpPr/>
          <p:nvPr/>
        </p:nvSpPr>
        <p:spPr>
          <a:xfrm>
            <a:off x="594360" y="2050000"/>
            <a:ext cx="3657600" cy="420000"/>
          </a:xfrm>
          <a:prstGeom prst="roundRect">
            <a:avLst>
              <a:gd fmla="val 14286"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8"/>
          <p:cNvSpPr/>
          <p:nvPr/>
        </p:nvSpPr>
        <p:spPr>
          <a:xfrm>
            <a:off x="594360" y="2050000"/>
            <a:ext cx="3657600" cy="4200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relationships  ·  shared expectations weighed by justice, dharma, and truth (§1.12)</a:t>
            </a:r>
            <a:endParaRPr b="0" i="0" sz="1150" u="none" cap="none" strike="noStrike">
              <a:solidFill>
                <a:schemeClr val="dk1"/>
              </a:solidFill>
              <a:latin typeface="Calibri"/>
              <a:ea typeface="Calibri"/>
              <a:cs typeface="Calibri"/>
              <a:sym typeface="Calibri"/>
            </a:endParaRPr>
          </a:p>
        </p:txBody>
      </p:sp>
      <p:sp>
        <p:nvSpPr>
          <p:cNvPr id="425" name="Google Shape;425;p18"/>
          <p:cNvSpPr/>
          <p:nvPr/>
        </p:nvSpPr>
        <p:spPr>
          <a:xfrm>
            <a:off x="914400" y="2500000"/>
            <a:ext cx="3017520" cy="420000"/>
          </a:xfrm>
          <a:prstGeom prst="roundRect">
            <a:avLst>
              <a:gd fmla="val 14286" name="adj"/>
            </a:avLst>
          </a:prstGeom>
          <a:solidFill>
            <a:srgbClr val="FAF1DF"/>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8"/>
          <p:cNvSpPr/>
          <p:nvPr/>
        </p:nvSpPr>
        <p:spPr>
          <a:xfrm>
            <a:off x="914400" y="2500000"/>
            <a:ext cx="3017520" cy="4200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9A6414"/>
              </a:buClr>
              <a:buSzPts val="1150"/>
              <a:buFont typeface="Calibri"/>
              <a:buNone/>
            </a:pPr>
            <a:r>
              <a:rPr b="1" i="0" lang="en-US" sz="1150" u="none" cap="none" strike="noStrike">
                <a:solidFill>
                  <a:srgbClr val="9A6414"/>
                </a:solidFill>
                <a:latin typeface="Calibri"/>
                <a:ea typeface="Calibri"/>
                <a:cs typeface="Calibri"/>
                <a:sym typeface="Calibri"/>
              </a:rPr>
              <a:t>dharma  ·  needs the whole</a:t>
            </a:r>
            <a:endParaRPr b="0" i="0" sz="1150" u="none" cap="none" strike="noStrike">
              <a:solidFill>
                <a:schemeClr val="dk1"/>
              </a:solidFill>
              <a:latin typeface="Calibri"/>
              <a:ea typeface="Calibri"/>
              <a:cs typeface="Calibri"/>
              <a:sym typeface="Calibri"/>
            </a:endParaRPr>
          </a:p>
        </p:txBody>
      </p:sp>
      <p:sp>
        <p:nvSpPr>
          <p:cNvPr id="427" name="Google Shape;427;p18"/>
          <p:cNvSpPr/>
          <p:nvPr/>
        </p:nvSpPr>
        <p:spPr>
          <a:xfrm>
            <a:off x="1074420" y="2950000"/>
            <a:ext cx="2697480" cy="420000"/>
          </a:xfrm>
          <a:prstGeom prst="roundRect">
            <a:avLst>
              <a:gd fmla="val 14286"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8"/>
          <p:cNvSpPr/>
          <p:nvPr/>
        </p:nvSpPr>
        <p:spPr>
          <a:xfrm>
            <a:off x="1074420" y="2950000"/>
            <a:ext cx="2697480" cy="4200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essential nature  ·  needs its order</a:t>
            </a:r>
            <a:endParaRPr b="0" i="0" sz="1150" u="none" cap="none" strike="noStrike">
              <a:solidFill>
                <a:schemeClr val="dk1"/>
              </a:solidFill>
              <a:latin typeface="Calibri"/>
              <a:ea typeface="Calibri"/>
              <a:cs typeface="Calibri"/>
              <a:sym typeface="Calibri"/>
            </a:endParaRPr>
          </a:p>
        </p:txBody>
      </p:sp>
      <p:sp>
        <p:nvSpPr>
          <p:cNvPr id="429" name="Google Shape;429;p18"/>
          <p:cNvSpPr/>
          <p:nvPr/>
        </p:nvSpPr>
        <p:spPr>
          <a:xfrm>
            <a:off x="1234440" y="3400000"/>
            <a:ext cx="2377440" cy="420000"/>
          </a:xfrm>
          <a:prstGeom prst="roundRect">
            <a:avLst>
              <a:gd fmla="val 14286"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8"/>
          <p:cNvSpPr/>
          <p:nvPr/>
        </p:nvSpPr>
        <p:spPr>
          <a:xfrm>
            <a:off x="1234440" y="3400000"/>
            <a:ext cx="2377440" cy="4200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properties  ·  need mutuality</a:t>
            </a:r>
            <a:endParaRPr b="0" i="0" sz="1150" u="none" cap="none" strike="noStrike">
              <a:solidFill>
                <a:schemeClr val="dk1"/>
              </a:solidFill>
              <a:latin typeface="Calibri"/>
              <a:ea typeface="Calibri"/>
              <a:cs typeface="Calibri"/>
              <a:sym typeface="Calibri"/>
            </a:endParaRPr>
          </a:p>
        </p:txBody>
      </p:sp>
      <p:sp>
        <p:nvSpPr>
          <p:cNvPr id="431" name="Google Shape;431;p18"/>
          <p:cNvSpPr/>
          <p:nvPr/>
        </p:nvSpPr>
        <p:spPr>
          <a:xfrm>
            <a:off x="1554480" y="3850000"/>
            <a:ext cx="1737360" cy="420000"/>
          </a:xfrm>
          <a:prstGeom prst="roundRect">
            <a:avLst>
              <a:gd fmla="val 14286"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18"/>
          <p:cNvSpPr/>
          <p:nvPr/>
        </p:nvSpPr>
        <p:spPr>
          <a:xfrm>
            <a:off x="1554480" y="3850000"/>
            <a:ext cx="1737360" cy="4200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form  ·  the unit alone</a:t>
            </a:r>
            <a:endParaRPr b="0" i="0" sz="1150" u="none" cap="none" strike="noStrike">
              <a:solidFill>
                <a:schemeClr val="dk1"/>
              </a:solidFill>
              <a:latin typeface="Calibri"/>
              <a:ea typeface="Calibri"/>
              <a:cs typeface="Calibri"/>
              <a:sym typeface="Calibri"/>
            </a:endParaRPr>
          </a:p>
        </p:txBody>
      </p:sp>
      <p:sp>
        <p:nvSpPr>
          <p:cNvPr id="433" name="Google Shape;433;p18"/>
          <p:cNvSpPr/>
          <p:nvPr/>
        </p:nvSpPr>
        <p:spPr>
          <a:xfrm>
            <a:off x="274320" y="4300000"/>
            <a:ext cx="4297680" cy="40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each higher rung needs a wider context to understand the aspect; the top rung is a different kind of knowing — coexistence realised, not just a wider unit-aspect</a:t>
            </a:r>
            <a:endParaRPr b="0" i="0" sz="950" u="none" cap="none" strike="noStrike">
              <a:solidFill>
                <a:schemeClr val="dk1"/>
              </a:solidFill>
              <a:latin typeface="Calibri"/>
              <a:ea typeface="Calibri"/>
              <a:cs typeface="Calibri"/>
              <a:sym typeface="Calibri"/>
            </a:endParaRPr>
          </a:p>
        </p:txBody>
      </p:sp>
      <p:sp>
        <p:nvSpPr>
          <p:cNvPr id="434" name="Google Shape;434;p18"/>
          <p:cNvSpPr/>
          <p:nvPr/>
        </p:nvSpPr>
        <p:spPr>
          <a:xfrm>
            <a:off x="4892040" y="1280160"/>
            <a:ext cx="34290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How knowing happens — within jeevan</a:t>
            </a:r>
            <a:endParaRPr b="0" i="0" sz="1350" u="none" cap="none" strike="noStrike">
              <a:solidFill>
                <a:schemeClr val="dk1"/>
              </a:solidFill>
              <a:latin typeface="Calibri"/>
              <a:ea typeface="Calibri"/>
              <a:cs typeface="Calibri"/>
              <a:sym typeface="Calibri"/>
            </a:endParaRPr>
          </a:p>
        </p:txBody>
      </p:sp>
      <p:sp>
        <p:nvSpPr>
          <p:cNvPr id="435" name="Google Shape;435;p18"/>
          <p:cNvSpPr/>
          <p:nvPr/>
        </p:nvSpPr>
        <p:spPr>
          <a:xfrm>
            <a:off x="4892040" y="1645920"/>
            <a:ext cx="3429000" cy="457200"/>
          </a:xfrm>
          <a:prstGeom prst="roundRect">
            <a:avLst>
              <a:gd fmla="val 16000" name="adj"/>
            </a:avLst>
          </a:prstGeom>
          <a:solidFill>
            <a:srgbClr val="FAF1DF"/>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18"/>
          <p:cNvSpPr/>
          <p:nvPr/>
        </p:nvSpPr>
        <p:spPr>
          <a:xfrm>
            <a:off x="5029200" y="1645920"/>
            <a:ext cx="3200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150"/>
              <a:buFont typeface="Calibri"/>
              <a:buNone/>
            </a:pPr>
            <a:r>
              <a:rPr b="1" i="0" lang="en-US" sz="1150" u="none" cap="none" strike="noStrike">
                <a:solidFill>
                  <a:srgbClr val="9A6414"/>
                </a:solidFill>
                <a:latin typeface="Calibri"/>
                <a:ea typeface="Calibri"/>
                <a:cs typeface="Calibri"/>
                <a:sym typeface="Calibri"/>
              </a:rPr>
              <a:t xml:space="preserve">Core self (atma)   </a:t>
            </a:r>
            <a:r>
              <a:rPr b="0" i="0" lang="en-US" sz="900" u="none" cap="none" strike="noStrike">
                <a:solidFill>
                  <a:srgbClr val="5A6377"/>
                </a:solidFill>
                <a:latin typeface="Calibri"/>
                <a:ea typeface="Calibri"/>
                <a:cs typeface="Calibri"/>
                <a:sym typeface="Calibri"/>
              </a:rPr>
              <a:t>realisation — only through truth · authenticity</a:t>
            </a:r>
            <a:endParaRPr b="0" i="0" sz="1150" u="none" cap="none" strike="noStrike">
              <a:solidFill>
                <a:schemeClr val="dk1"/>
              </a:solidFill>
              <a:latin typeface="Calibri"/>
              <a:ea typeface="Calibri"/>
              <a:cs typeface="Calibri"/>
              <a:sym typeface="Calibri"/>
            </a:endParaRPr>
          </a:p>
        </p:txBody>
      </p:sp>
      <p:sp>
        <p:nvSpPr>
          <p:cNvPr id="437" name="Google Shape;437;p18"/>
          <p:cNvSpPr/>
          <p:nvPr/>
        </p:nvSpPr>
        <p:spPr>
          <a:xfrm>
            <a:off x="4892040" y="2212848"/>
            <a:ext cx="3429000" cy="457200"/>
          </a:xfrm>
          <a:prstGeom prst="roundRect">
            <a:avLst>
              <a:gd fmla="val 16000"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18"/>
          <p:cNvSpPr/>
          <p:nvPr/>
        </p:nvSpPr>
        <p:spPr>
          <a:xfrm>
            <a:off x="5029200" y="2212848"/>
            <a:ext cx="3200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 xml:space="preserve">Resolve (buddhi)   </a:t>
            </a:r>
            <a:r>
              <a:rPr b="0" i="0" lang="en-US" sz="900" u="none" cap="none" strike="noStrike">
                <a:solidFill>
                  <a:srgbClr val="5A6377"/>
                </a:solidFill>
                <a:latin typeface="Calibri"/>
                <a:ea typeface="Calibri"/>
                <a:cs typeface="Calibri"/>
                <a:sym typeface="Calibri"/>
              </a:rPr>
              <a:t>enlightenment of existence, jeevan, conduct · resolve</a:t>
            </a:r>
            <a:endParaRPr b="0" i="0" sz="1150" u="none" cap="none" strike="noStrike">
              <a:solidFill>
                <a:schemeClr val="dk1"/>
              </a:solidFill>
              <a:latin typeface="Calibri"/>
              <a:ea typeface="Calibri"/>
              <a:cs typeface="Calibri"/>
              <a:sym typeface="Calibri"/>
            </a:endParaRPr>
          </a:p>
        </p:txBody>
      </p:sp>
      <p:sp>
        <p:nvSpPr>
          <p:cNvPr id="439" name="Google Shape;439;p18"/>
          <p:cNvSpPr/>
          <p:nvPr/>
        </p:nvSpPr>
        <p:spPr>
          <a:xfrm>
            <a:off x="4892040" y="2779776"/>
            <a:ext cx="3429000" cy="457200"/>
          </a:xfrm>
          <a:prstGeom prst="roundRect">
            <a:avLst>
              <a:gd fmla="val 16000"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18"/>
          <p:cNvSpPr/>
          <p:nvPr/>
        </p:nvSpPr>
        <p:spPr>
          <a:xfrm>
            <a:off x="5029200" y="2779776"/>
            <a:ext cx="3200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 xml:space="preserve">Desire (chitta)   </a:t>
            </a:r>
            <a:r>
              <a:rPr b="0" i="0" lang="en-US" sz="900" u="none" cap="none" strike="noStrike">
                <a:solidFill>
                  <a:srgbClr val="5A6377"/>
                </a:solidFill>
                <a:latin typeface="Calibri"/>
                <a:ea typeface="Calibri"/>
                <a:cs typeface="Calibri"/>
                <a:sym typeface="Calibri"/>
              </a:rPr>
              <a:t>contemplation &amp; visualisation · direct recognition</a:t>
            </a:r>
            <a:endParaRPr b="0" i="0" sz="1150" u="none" cap="none" strike="noStrike">
              <a:solidFill>
                <a:schemeClr val="dk1"/>
              </a:solidFill>
              <a:latin typeface="Calibri"/>
              <a:ea typeface="Calibri"/>
              <a:cs typeface="Calibri"/>
              <a:sym typeface="Calibri"/>
            </a:endParaRPr>
          </a:p>
        </p:txBody>
      </p:sp>
      <p:sp>
        <p:nvSpPr>
          <p:cNvPr id="441" name="Google Shape;441;p18"/>
          <p:cNvSpPr/>
          <p:nvPr/>
        </p:nvSpPr>
        <p:spPr>
          <a:xfrm>
            <a:off x="4892040" y="3346704"/>
            <a:ext cx="3429000" cy="457200"/>
          </a:xfrm>
          <a:prstGeom prst="roundRect">
            <a:avLst>
              <a:gd fmla="val 16000"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18"/>
          <p:cNvSpPr/>
          <p:nvPr/>
        </p:nvSpPr>
        <p:spPr>
          <a:xfrm>
            <a:off x="5029200" y="3346704"/>
            <a:ext cx="3200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 xml:space="preserve">Thought (vritti)   </a:t>
            </a:r>
            <a:r>
              <a:rPr b="0" i="0" lang="en-US" sz="900" u="none" cap="none" strike="noStrike">
                <a:solidFill>
                  <a:srgbClr val="5A6377"/>
                </a:solidFill>
                <a:latin typeface="Calibri"/>
                <a:ea typeface="Calibri"/>
                <a:cs typeface="Calibri"/>
                <a:sym typeface="Calibri"/>
              </a:rPr>
              <a:t>deliberation in refuge of justice–dharma–truth · analysis</a:t>
            </a:r>
            <a:endParaRPr b="0" i="0" sz="1150" u="none" cap="none" strike="noStrike">
              <a:solidFill>
                <a:schemeClr val="dk1"/>
              </a:solidFill>
              <a:latin typeface="Calibri"/>
              <a:ea typeface="Calibri"/>
              <a:cs typeface="Calibri"/>
              <a:sym typeface="Calibri"/>
            </a:endParaRPr>
          </a:p>
        </p:txBody>
      </p:sp>
      <p:sp>
        <p:nvSpPr>
          <p:cNvPr id="443" name="Google Shape;443;p18"/>
          <p:cNvSpPr/>
          <p:nvPr/>
        </p:nvSpPr>
        <p:spPr>
          <a:xfrm>
            <a:off x="4892040" y="3913632"/>
            <a:ext cx="3429000" cy="457200"/>
          </a:xfrm>
          <a:prstGeom prst="roundRect">
            <a:avLst>
              <a:gd fmla="val 16000"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8"/>
          <p:cNvSpPr/>
          <p:nvPr/>
        </p:nvSpPr>
        <p:spPr>
          <a:xfrm>
            <a:off x="5029200" y="3913632"/>
            <a:ext cx="3200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 xml:space="preserve">Hope (mun)   </a:t>
            </a:r>
            <a:r>
              <a:rPr b="0" i="0" lang="en-US" sz="900" u="none" cap="none" strike="noStrike">
                <a:solidFill>
                  <a:srgbClr val="5A6377"/>
                </a:solidFill>
                <a:latin typeface="Calibri"/>
                <a:ea typeface="Calibri"/>
                <a:cs typeface="Calibri"/>
                <a:sym typeface="Calibri"/>
              </a:rPr>
              <a:t>taste &amp; selection — first acceptance of the proposal</a:t>
            </a:r>
            <a:endParaRPr b="0" i="0" sz="1150" u="none" cap="none" strike="noStrike">
              <a:solidFill>
                <a:schemeClr val="dk1"/>
              </a:solidFill>
              <a:latin typeface="Calibri"/>
              <a:ea typeface="Calibri"/>
              <a:cs typeface="Calibri"/>
              <a:sym typeface="Calibri"/>
            </a:endParaRPr>
          </a:p>
        </p:txBody>
      </p:sp>
      <p:sp>
        <p:nvSpPr>
          <p:cNvPr id="454" name="Google Shape;454;p18"/>
          <p:cNvSpPr/>
          <p:nvPr/>
        </p:nvSpPr>
        <p:spPr>
          <a:xfrm>
            <a:off x="5029200" y="2092984"/>
            <a:ext cx="3200400" cy="13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6414"/>
              </a:buClr>
              <a:buSzPts val="800"/>
              <a:buFont typeface="Calibri"/>
              <a:buNone/>
            </a:pPr>
            <a:r>
              <a:rPr b="0" i="1" lang="en-US" sz="800" u="none" cap="none" strike="noStrike">
                <a:solidFill>
                  <a:srgbClr val="9A6414"/>
                </a:solidFill>
                <a:latin typeface="Calibri"/>
                <a:ea typeface="Calibri"/>
                <a:cs typeface="Calibri"/>
                <a:sym typeface="Calibri"/>
              </a:rPr>
              <a:t>acted in alignment → bliss</a:t>
            </a:r>
            <a:endParaRPr b="0" i="0" sz="800" u="none" cap="none" strike="noStrike">
              <a:solidFill>
                <a:schemeClr val="dk1"/>
              </a:solidFill>
              <a:latin typeface="Calibri"/>
              <a:ea typeface="Calibri"/>
              <a:cs typeface="Calibri"/>
              <a:sym typeface="Calibri"/>
            </a:endParaRPr>
          </a:p>
        </p:txBody>
      </p:sp>
      <p:sp>
        <p:nvSpPr>
          <p:cNvPr id="455" name="Google Shape;455;p18"/>
          <p:cNvSpPr/>
          <p:nvPr/>
        </p:nvSpPr>
        <p:spPr>
          <a:xfrm>
            <a:off x="5029200" y="2659912"/>
            <a:ext cx="3200400" cy="13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6414"/>
              </a:buClr>
              <a:buSzPts val="800"/>
              <a:buFont typeface="Calibri"/>
              <a:buNone/>
            </a:pPr>
            <a:r>
              <a:rPr b="0" i="1" lang="en-US" sz="800" u="none" cap="none" strike="noStrike">
                <a:solidFill>
                  <a:srgbClr val="9A6414"/>
                </a:solidFill>
                <a:latin typeface="Calibri"/>
                <a:ea typeface="Calibri"/>
                <a:cs typeface="Calibri"/>
                <a:sym typeface="Calibri"/>
              </a:rPr>
              <a:t>acted in alignment → contentment</a:t>
            </a:r>
            <a:endParaRPr b="0" i="0" sz="800" u="none" cap="none" strike="noStrike">
              <a:solidFill>
                <a:schemeClr val="dk1"/>
              </a:solidFill>
              <a:latin typeface="Calibri"/>
              <a:ea typeface="Calibri"/>
              <a:cs typeface="Calibri"/>
              <a:sym typeface="Calibri"/>
            </a:endParaRPr>
          </a:p>
        </p:txBody>
      </p:sp>
      <p:sp>
        <p:nvSpPr>
          <p:cNvPr id="456" name="Google Shape;456;p18"/>
          <p:cNvSpPr/>
          <p:nvPr/>
        </p:nvSpPr>
        <p:spPr>
          <a:xfrm>
            <a:off x="5029200" y="3226840"/>
            <a:ext cx="3200400" cy="13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6414"/>
              </a:buClr>
              <a:buSzPts val="800"/>
              <a:buFont typeface="Calibri"/>
              <a:buNone/>
            </a:pPr>
            <a:r>
              <a:rPr b="0" i="1" lang="en-US" sz="800" u="none" cap="none" strike="noStrike">
                <a:solidFill>
                  <a:srgbClr val="9A6414"/>
                </a:solidFill>
                <a:latin typeface="Calibri"/>
                <a:ea typeface="Calibri"/>
                <a:cs typeface="Calibri"/>
                <a:sym typeface="Calibri"/>
              </a:rPr>
              <a:t>acted in alignment → peace</a:t>
            </a:r>
            <a:endParaRPr b="0" i="0" sz="800" u="none" cap="none" strike="noStrike">
              <a:solidFill>
                <a:schemeClr val="dk1"/>
              </a:solidFill>
              <a:latin typeface="Calibri"/>
              <a:ea typeface="Calibri"/>
              <a:cs typeface="Calibri"/>
              <a:sym typeface="Calibri"/>
            </a:endParaRPr>
          </a:p>
        </p:txBody>
      </p:sp>
      <p:sp>
        <p:nvSpPr>
          <p:cNvPr id="457" name="Google Shape;457;p18"/>
          <p:cNvSpPr/>
          <p:nvPr/>
        </p:nvSpPr>
        <p:spPr>
          <a:xfrm>
            <a:off x="5029200" y="3793768"/>
            <a:ext cx="3200400" cy="13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6414"/>
              </a:buClr>
              <a:buSzPts val="800"/>
              <a:buFont typeface="Calibri"/>
              <a:buNone/>
            </a:pPr>
            <a:r>
              <a:rPr b="0" i="1" lang="en-US" sz="800" u="none" cap="none" strike="noStrike">
                <a:solidFill>
                  <a:srgbClr val="9A6414"/>
                </a:solidFill>
                <a:latin typeface="Calibri"/>
                <a:ea typeface="Calibri"/>
                <a:cs typeface="Calibri"/>
                <a:sym typeface="Calibri"/>
              </a:rPr>
              <a:t>acted in alignment → happiness</a:t>
            </a:r>
            <a:endParaRPr b="0" i="0" sz="800" u="none" cap="none" strike="noStrike">
              <a:solidFill>
                <a:schemeClr val="dk1"/>
              </a:solidFill>
              <a:latin typeface="Calibri"/>
              <a:ea typeface="Calibri"/>
              <a:cs typeface="Calibri"/>
              <a:sym typeface="Calibri"/>
            </a:endParaRPr>
          </a:p>
        </p:txBody>
      </p:sp>
      <p:cxnSp>
        <p:nvCxnSpPr>
          <p:cNvPr id="445" name="Google Shape;445;p18"/>
          <p:cNvCxnSpPr/>
          <p:nvPr/>
        </p:nvCxnSpPr>
        <p:spPr>
          <a:xfrm>
            <a:off x="4718304" y="1737360"/>
            <a:ext cx="0" cy="2514600"/>
          </a:xfrm>
          <a:prstGeom prst="straightConnector1">
            <a:avLst/>
          </a:prstGeom>
          <a:noFill/>
          <a:ln cap="flat" cmpd="sng" w="22225">
            <a:solidFill>
              <a:srgbClr val="3B4A7A"/>
            </a:solidFill>
            <a:prstDash val="solid"/>
            <a:round/>
            <a:headEnd len="med" w="med" type="triangle"/>
            <a:tailEnd len="sm" w="sm" type="none"/>
          </a:ln>
        </p:spPr>
      </p:cxnSp>
      <p:sp>
        <p:nvSpPr>
          <p:cNvPr id="446" name="Google Shape;446;p18"/>
          <p:cNvSpPr/>
          <p:nvPr/>
        </p:nvSpPr>
        <p:spPr>
          <a:xfrm rot="-5400000">
            <a:off x="3218688" y="2852928"/>
            <a:ext cx="265176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3B4A7A"/>
              </a:buClr>
              <a:buSzPts val="850"/>
              <a:buFont typeface="Calibri"/>
              <a:buNone/>
            </a:pPr>
            <a:r>
              <a:rPr b="0" i="1" lang="en-US" sz="850" u="none" cap="none" strike="noStrike">
                <a:solidFill>
                  <a:srgbClr val="3B4A7A"/>
                </a:solidFill>
                <a:latin typeface="Calibri"/>
                <a:ea typeface="Calibri"/>
                <a:cs typeface="Calibri"/>
                <a:sym typeface="Calibri"/>
              </a:rPr>
              <a:t>reflection (inward) · knowing deepens</a:t>
            </a:r>
            <a:endParaRPr b="0" i="0" sz="850" u="none" cap="none" strike="noStrike">
              <a:solidFill>
                <a:schemeClr val="dk1"/>
              </a:solidFill>
              <a:latin typeface="Calibri"/>
              <a:ea typeface="Calibri"/>
              <a:cs typeface="Calibri"/>
              <a:sym typeface="Calibri"/>
            </a:endParaRPr>
          </a:p>
        </p:txBody>
      </p:sp>
      <p:cxnSp>
        <p:nvCxnSpPr>
          <p:cNvPr id="447" name="Google Shape;447;p18"/>
          <p:cNvCxnSpPr/>
          <p:nvPr/>
        </p:nvCxnSpPr>
        <p:spPr>
          <a:xfrm>
            <a:off x="8503920" y="1737360"/>
            <a:ext cx="0" cy="2514600"/>
          </a:xfrm>
          <a:prstGeom prst="straightConnector1">
            <a:avLst/>
          </a:prstGeom>
          <a:noFill/>
          <a:ln cap="flat" cmpd="sng" w="22225">
            <a:solidFill>
              <a:srgbClr val="9A6414"/>
            </a:solidFill>
            <a:prstDash val="solid"/>
            <a:round/>
            <a:headEnd len="sm" w="sm" type="none"/>
            <a:tailEnd len="med" w="med" type="triangle"/>
          </a:ln>
        </p:spPr>
      </p:cxnSp>
      <p:sp>
        <p:nvSpPr>
          <p:cNvPr id="448" name="Google Shape;448;p18"/>
          <p:cNvSpPr/>
          <p:nvPr/>
        </p:nvSpPr>
        <p:spPr>
          <a:xfrm rot="5400000">
            <a:off x="7315200" y="2852928"/>
            <a:ext cx="265176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6414"/>
              </a:buClr>
              <a:buSzPts val="850"/>
              <a:buFont typeface="Calibri"/>
              <a:buNone/>
            </a:pPr>
            <a:r>
              <a:rPr b="0" i="1" lang="en-US" sz="850" u="none" cap="none" strike="noStrike">
                <a:solidFill>
                  <a:srgbClr val="9A6414"/>
                </a:solidFill>
                <a:latin typeface="Calibri"/>
                <a:ea typeface="Calibri"/>
                <a:cs typeface="Calibri"/>
                <a:sym typeface="Calibri"/>
              </a:rPr>
              <a:t>projection (outward) · evidenced in conduct</a:t>
            </a:r>
            <a:endParaRPr b="0" i="0" sz="850" u="none" cap="none" strike="noStrike">
              <a:solidFill>
                <a:schemeClr val="dk1"/>
              </a:solidFill>
              <a:latin typeface="Calibri"/>
              <a:ea typeface="Calibri"/>
              <a:cs typeface="Calibri"/>
              <a:sym typeface="Calibri"/>
            </a:endParaRPr>
          </a:p>
        </p:txBody>
      </p:sp>
      <p:sp>
        <p:nvSpPr>
          <p:cNvPr id="449" name="Google Shape;449;p18"/>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The ladders meet at the top: coexistence itself, known and acted on in the core self, is felt as bliss — each lower pair, likewise, only when acted on, not merely known (§1.8, §1.13). MVD p. 11 · JV pp. 61, 120, 138 · MVD pp. 78, 101, 137</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4" name="Shape 454"/>
        <p:cNvGrpSpPr/>
        <p:nvPr/>
      </p:nvGrpSpPr>
      <p:grpSpPr>
        <a:xfrm>
          <a:off x="0" y="0"/>
          <a:ext cx="0" cy="0"/>
          <a:chOff x="0" y="0"/>
          <a:chExt cx="0" cy="0"/>
        </a:xfrm>
      </p:grpSpPr>
      <p:sp>
        <p:nvSpPr>
          <p:cNvPr id="455" name="Google Shape;455;p19"/>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9"/>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19"/>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9"/>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§1.13 · WHERE THE DRIVE TERMINATES</a:t>
            </a:r>
            <a:endParaRPr b="0" i="0" sz="1050" u="none" cap="none" strike="noStrike">
              <a:solidFill>
                <a:schemeClr val="dk1"/>
              </a:solidFill>
              <a:latin typeface="Calibri"/>
              <a:ea typeface="Calibri"/>
              <a:cs typeface="Calibri"/>
              <a:sym typeface="Calibri"/>
            </a:endParaRPr>
          </a:p>
        </p:txBody>
      </p:sp>
      <p:sp>
        <p:nvSpPr>
          <p:cNvPr id="459" name="Google Shape;459;p19"/>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Realisation in Coexistence</a:t>
            </a:r>
            <a:endParaRPr b="0" i="0" sz="3000" u="none" cap="none" strike="noStrike">
              <a:solidFill>
                <a:schemeClr val="dk1"/>
              </a:solidFill>
              <a:latin typeface="Calibri"/>
              <a:ea typeface="Calibri"/>
              <a:cs typeface="Calibri"/>
              <a:sym typeface="Calibri"/>
            </a:endParaRPr>
          </a:p>
        </p:txBody>
      </p:sp>
      <p:sp>
        <p:nvSpPr>
          <p:cNvPr id="460" name="Google Shape;460;p19"/>
          <p:cNvSpPr/>
          <p:nvPr/>
        </p:nvSpPr>
        <p:spPr>
          <a:xfrm>
            <a:off x="640080" y="1207008"/>
            <a:ext cx="79552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50"/>
              <a:buFont typeface="Calibri"/>
              <a:buNone/>
            </a:pPr>
            <a:r>
              <a:rPr b="0" i="0" lang="en-US" sz="1250" u="none" cap="none" strike="noStrike">
                <a:solidFill>
                  <a:srgbClr val="5A6377"/>
                </a:solidFill>
                <a:latin typeface="Calibri"/>
                <a:ea typeface="Calibri"/>
                <a:cs typeface="Calibri"/>
                <a:sym typeface="Calibri"/>
              </a:rPr>
              <a:t>The drive comes to rest when relationships across nature are fulfilled and made evident in coexistence — not because Omnipotence becomes a knower, but because awakened jeevan lives out what was always latent in the bond. Realisation itself is awakening; recognising and fulfilling then become its living proof.</a:t>
            </a:r>
            <a:endParaRPr b="0" i="0" sz="1250" u="none" cap="none" strike="noStrike">
              <a:solidFill>
                <a:schemeClr val="dk1"/>
              </a:solidFill>
              <a:latin typeface="Calibri"/>
              <a:ea typeface="Calibri"/>
              <a:cs typeface="Calibri"/>
              <a:sym typeface="Calibri"/>
            </a:endParaRPr>
          </a:p>
        </p:txBody>
      </p:sp>
      <p:sp>
        <p:nvSpPr>
          <p:cNvPr id="461" name="Google Shape;461;p19"/>
          <p:cNvSpPr/>
          <p:nvPr/>
        </p:nvSpPr>
        <p:spPr>
          <a:xfrm>
            <a:off x="640080" y="1828800"/>
            <a:ext cx="3794760" cy="1280160"/>
          </a:xfrm>
          <a:prstGeom prst="roundRect">
            <a:avLst>
              <a:gd fmla="val 6429"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9"/>
          <p:cNvSpPr/>
          <p:nvPr/>
        </p:nvSpPr>
        <p:spPr>
          <a:xfrm>
            <a:off x="841248" y="1947672"/>
            <a:ext cx="34290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Realisation is bliss</a:t>
            </a:r>
            <a:endParaRPr b="0" i="0" sz="1250" u="none" cap="none" strike="noStrike">
              <a:solidFill>
                <a:schemeClr val="dk1"/>
              </a:solidFill>
              <a:latin typeface="Calibri"/>
              <a:ea typeface="Calibri"/>
              <a:cs typeface="Calibri"/>
              <a:sym typeface="Calibri"/>
            </a:endParaRPr>
          </a:p>
        </p:txBody>
      </p:sp>
      <p:sp>
        <p:nvSpPr>
          <p:cNvPr id="463" name="Google Shape;463;p19"/>
          <p:cNvSpPr/>
          <p:nvPr/>
        </p:nvSpPr>
        <p:spPr>
          <a:xfrm>
            <a:off x="841248" y="2286000"/>
            <a:ext cx="34290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“Truth itself is abundance (coexistence), realisation of abundance itself is bliss, bliss itself is jeevan.” And it is knowledge itself: what is realised is the ground the unit was always soaked in.</a:t>
            </a:r>
            <a:endParaRPr b="0" i="0" sz="1030" u="none" cap="none" strike="noStrike">
              <a:solidFill>
                <a:schemeClr val="dk1"/>
              </a:solidFill>
              <a:latin typeface="Calibri"/>
              <a:ea typeface="Calibri"/>
              <a:cs typeface="Calibri"/>
              <a:sym typeface="Calibri"/>
            </a:endParaRPr>
          </a:p>
        </p:txBody>
      </p:sp>
      <p:sp>
        <p:nvSpPr>
          <p:cNvPr id="464" name="Google Shape;464;p19"/>
          <p:cNvSpPr/>
          <p:nvPr/>
        </p:nvSpPr>
        <p:spPr>
          <a:xfrm>
            <a:off x="4709160" y="1828800"/>
            <a:ext cx="3794760" cy="1280160"/>
          </a:xfrm>
          <a:prstGeom prst="roundRect">
            <a:avLst>
              <a:gd fmla="val 6429"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9"/>
          <p:cNvSpPr/>
          <p:nvPr/>
        </p:nvSpPr>
        <p:spPr>
          <a:xfrm>
            <a:off x="4910328" y="1947672"/>
            <a:ext cx="34290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Knowledge — in projection</a:t>
            </a:r>
            <a:endParaRPr b="0" i="0" sz="1250" u="none" cap="none" strike="noStrike">
              <a:solidFill>
                <a:schemeClr val="dk1"/>
              </a:solidFill>
              <a:latin typeface="Calibri"/>
              <a:ea typeface="Calibri"/>
              <a:cs typeface="Calibri"/>
              <a:sym typeface="Calibri"/>
            </a:endParaRPr>
          </a:p>
        </p:txBody>
      </p:sp>
      <p:sp>
        <p:nvSpPr>
          <p:cNvPr id="466" name="Google Shape;466;p19"/>
          <p:cNvSpPr/>
          <p:nvPr/>
        </p:nvSpPr>
        <p:spPr>
          <a:xfrm>
            <a:off x="4910328" y="2286000"/>
            <a:ext cx="34290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Realisation projected outward is authenticity — knowledge, wisdom, and science unfolding into conduct.</a:t>
            </a:r>
            <a:endParaRPr b="0" i="0" sz="1030" u="none" cap="none" strike="noStrike">
              <a:solidFill>
                <a:schemeClr val="dk1"/>
              </a:solidFill>
              <a:latin typeface="Calibri"/>
              <a:ea typeface="Calibri"/>
              <a:cs typeface="Calibri"/>
              <a:sym typeface="Calibri"/>
            </a:endParaRPr>
          </a:p>
        </p:txBody>
      </p:sp>
      <p:sp>
        <p:nvSpPr>
          <p:cNvPr id="467" name="Google Shape;467;p19"/>
          <p:cNvSpPr/>
          <p:nvPr/>
        </p:nvSpPr>
        <p:spPr>
          <a:xfrm>
            <a:off x="640080" y="3246120"/>
            <a:ext cx="3794760" cy="1280160"/>
          </a:xfrm>
          <a:prstGeom prst="roundRect">
            <a:avLst>
              <a:gd fmla="val 6429"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841248" y="3364992"/>
            <a:ext cx="34290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Knower — in reflection</a:t>
            </a:r>
            <a:endParaRPr b="0" i="0" sz="1250" u="none" cap="none" strike="noStrike">
              <a:solidFill>
                <a:schemeClr val="dk1"/>
              </a:solidFill>
              <a:latin typeface="Calibri"/>
              <a:ea typeface="Calibri"/>
              <a:cs typeface="Calibri"/>
              <a:sym typeface="Calibri"/>
            </a:endParaRPr>
          </a:p>
        </p:txBody>
      </p:sp>
      <p:sp>
        <p:nvSpPr>
          <p:cNvPr id="469" name="Google Shape;469;p19"/>
          <p:cNvSpPr/>
          <p:nvPr/>
        </p:nvSpPr>
        <p:spPr>
          <a:xfrm>
            <a:off x="841248" y="3703320"/>
            <a:ext cx="34290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The knower is jeevan filled with realisation. When resolve turns inward to the core self, self-realisation and realisation in coexistence arrive together.</a:t>
            </a:r>
            <a:endParaRPr b="0" i="0" sz="1030" u="none" cap="none" strike="noStrike">
              <a:solidFill>
                <a:schemeClr val="dk1"/>
              </a:solidFill>
              <a:latin typeface="Calibri"/>
              <a:ea typeface="Calibri"/>
              <a:cs typeface="Calibri"/>
              <a:sym typeface="Calibri"/>
            </a:endParaRPr>
          </a:p>
        </p:txBody>
      </p:sp>
      <p:sp>
        <p:nvSpPr>
          <p:cNvPr id="470" name="Google Shape;470;p19"/>
          <p:cNvSpPr/>
          <p:nvPr/>
        </p:nvSpPr>
        <p:spPr>
          <a:xfrm>
            <a:off x="4709160" y="3246120"/>
            <a:ext cx="3794760" cy="1280160"/>
          </a:xfrm>
          <a:prstGeom prst="roundRect">
            <a:avLst>
              <a:gd fmla="val 6429" name="adj"/>
            </a:avLst>
          </a:prstGeom>
          <a:solidFill>
            <a:srgbClr val="FAF1DF"/>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4910328" y="3364992"/>
            <a:ext cx="34290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250"/>
              <a:buFont typeface="Cambria"/>
              <a:buNone/>
            </a:pPr>
            <a:r>
              <a:rPr b="1" i="0" lang="en-US" sz="1250" u="none" cap="none" strike="noStrike">
                <a:solidFill>
                  <a:srgbClr val="9A6414"/>
                </a:solidFill>
                <a:latin typeface="Cambria"/>
                <a:ea typeface="Cambria"/>
                <a:cs typeface="Cambria"/>
                <a:sym typeface="Cambria"/>
              </a:rPr>
              <a:t>Knowable — and no merger</a:t>
            </a:r>
            <a:endParaRPr b="0" i="0" sz="1250" u="none" cap="none" strike="noStrike">
              <a:solidFill>
                <a:schemeClr val="dk1"/>
              </a:solidFill>
              <a:latin typeface="Calibri"/>
              <a:ea typeface="Calibri"/>
              <a:cs typeface="Calibri"/>
              <a:sym typeface="Calibri"/>
            </a:endParaRPr>
          </a:p>
        </p:txBody>
      </p:sp>
      <p:sp>
        <p:nvSpPr>
          <p:cNvPr id="472" name="Google Shape;472;p19"/>
          <p:cNvSpPr/>
          <p:nvPr/>
        </p:nvSpPr>
        <p:spPr>
          <a:xfrm>
            <a:off x="4910328" y="3703320"/>
            <a:ext cx="34290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What is known is existence itself — nature saturated in Omnipotence. Knowledge, knower, and known become uniform as roles in one bond — not a merger: the knower remains a distinct jeevan.</a:t>
            </a:r>
            <a:endParaRPr b="0" i="0" sz="1030" u="none" cap="none" strike="noStrike">
              <a:solidFill>
                <a:schemeClr val="dk1"/>
              </a:solidFill>
              <a:latin typeface="Calibri"/>
              <a:ea typeface="Calibri"/>
              <a:cs typeface="Calibri"/>
              <a:sym typeface="Calibri"/>
            </a:endParaRPr>
          </a:p>
        </p:txBody>
      </p:sp>
      <p:sp>
        <p:nvSpPr>
          <p:cNvPr id="473" name="Google Shape;473;p19"/>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“In the state of realisation in existence, uniformity in knowledge, knowable &amp; knower has been observed to be in the form of coexistence” — AVD p. 217 · SB p. 81 · MVD pp. 14–15</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8" name="Shape 478"/>
        <p:cNvGrpSpPr/>
        <p:nvPr/>
      </p:nvGrpSpPr>
      <p:grpSpPr>
        <a:xfrm>
          <a:off x="0" y="0"/>
          <a:ext cx="0" cy="0"/>
          <a:chOff x="0" y="0"/>
          <a:chExt cx="0" cy="0"/>
        </a:xfrm>
      </p:grpSpPr>
      <p:sp>
        <p:nvSpPr>
          <p:cNvPr id="479" name="Google Shape;479;p20"/>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20"/>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20"/>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20"/>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§§1.14–1.15 · THE PERPETUAL WORLD</a:t>
            </a:r>
            <a:endParaRPr b="0" i="0" sz="1050" u="none" cap="none" strike="noStrike">
              <a:solidFill>
                <a:schemeClr val="dk1"/>
              </a:solidFill>
              <a:latin typeface="Calibri"/>
              <a:ea typeface="Calibri"/>
              <a:cs typeface="Calibri"/>
              <a:sym typeface="Calibri"/>
            </a:endParaRPr>
          </a:p>
        </p:txBody>
      </p:sp>
      <p:sp>
        <p:nvSpPr>
          <p:cNvPr id="483" name="Google Shape;483;p20"/>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Conservation and Human Goals</a:t>
            </a:r>
            <a:endParaRPr b="0" i="0" sz="3000" u="none" cap="none" strike="noStrike">
              <a:solidFill>
                <a:schemeClr val="dk1"/>
              </a:solidFill>
              <a:latin typeface="Calibri"/>
              <a:ea typeface="Calibri"/>
              <a:cs typeface="Calibri"/>
              <a:sym typeface="Calibri"/>
            </a:endParaRPr>
          </a:p>
        </p:txBody>
      </p:sp>
      <p:sp>
        <p:nvSpPr>
          <p:cNvPr id="484" name="Google Shape;484;p20"/>
          <p:cNvSpPr/>
          <p:nvPr/>
        </p:nvSpPr>
        <p:spPr>
          <a:xfrm>
            <a:off x="640080" y="1325880"/>
            <a:ext cx="3794760" cy="1371600"/>
          </a:xfrm>
          <a:prstGeom prst="roundRect">
            <a:avLst>
              <a:gd fmla="val 666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20"/>
          <p:cNvSpPr/>
          <p:nvPr/>
        </p:nvSpPr>
        <p:spPr>
          <a:xfrm>
            <a:off x="868680" y="1463040"/>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Coexistence conservation</a:t>
            </a:r>
            <a:endParaRPr b="0" i="0" sz="1350" u="none" cap="none" strike="noStrike">
              <a:solidFill>
                <a:schemeClr val="dk1"/>
              </a:solidFill>
              <a:latin typeface="Calibri"/>
              <a:ea typeface="Calibri"/>
              <a:cs typeface="Calibri"/>
              <a:sym typeface="Calibri"/>
            </a:endParaRPr>
          </a:p>
        </p:txBody>
      </p:sp>
      <p:sp>
        <p:nvSpPr>
          <p:cNvPr id="486" name="Google Shape;486;p20"/>
          <p:cNvSpPr/>
          <p:nvPr/>
        </p:nvSpPr>
        <p:spPr>
          <a:xfrm>
            <a:off x="868680" y="1764792"/>
            <a:ext cx="33832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80"/>
              <a:buFont typeface="Calibri"/>
              <a:buNone/>
            </a:pPr>
            <a:r>
              <a:rPr b="0" i="0" lang="en-US" sz="1080" u="none" cap="none" strike="noStrike">
                <a:solidFill>
                  <a:srgbClr val="5A6377"/>
                </a:solidFill>
                <a:latin typeface="Calibri"/>
                <a:ea typeface="Calibri"/>
                <a:cs typeface="Calibri"/>
                <a:sym typeface="Calibri"/>
              </a:rPr>
              <a:t>What exists does not arise from non-being and cannot be annihilated; only configurations change. The world is perpetual.</a:t>
            </a:r>
            <a:endParaRPr b="0" i="0" sz="1080" u="none" cap="none" strike="noStrike">
              <a:solidFill>
                <a:schemeClr val="dk1"/>
              </a:solidFill>
              <a:latin typeface="Calibri"/>
              <a:ea typeface="Calibri"/>
              <a:cs typeface="Calibri"/>
              <a:sym typeface="Calibri"/>
            </a:endParaRPr>
          </a:p>
        </p:txBody>
      </p:sp>
      <p:sp>
        <p:nvSpPr>
          <p:cNvPr id="487" name="Google Shape;487;p20"/>
          <p:cNvSpPr/>
          <p:nvPr/>
        </p:nvSpPr>
        <p:spPr>
          <a:xfrm>
            <a:off x="4709160" y="1325880"/>
            <a:ext cx="3794760" cy="1371600"/>
          </a:xfrm>
          <a:prstGeom prst="roundRect">
            <a:avLst>
              <a:gd fmla="val 666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20"/>
          <p:cNvSpPr/>
          <p:nvPr/>
        </p:nvSpPr>
        <p:spPr>
          <a:xfrm>
            <a:off x="4937760" y="1463040"/>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Jeevan persistence</a:t>
            </a:r>
            <a:endParaRPr b="0" i="0" sz="1350" u="none" cap="none" strike="noStrike">
              <a:solidFill>
                <a:schemeClr val="dk1"/>
              </a:solidFill>
              <a:latin typeface="Calibri"/>
              <a:ea typeface="Calibri"/>
              <a:cs typeface="Calibri"/>
              <a:sym typeface="Calibri"/>
            </a:endParaRPr>
          </a:p>
        </p:txBody>
      </p:sp>
      <p:sp>
        <p:nvSpPr>
          <p:cNvPr id="489" name="Google Shape;489;p20"/>
          <p:cNvSpPr/>
          <p:nvPr/>
        </p:nvSpPr>
        <p:spPr>
          <a:xfrm>
            <a:off x="4937760" y="1764792"/>
            <a:ext cx="33832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80"/>
              <a:buFont typeface="Calibri"/>
              <a:buNone/>
            </a:pPr>
            <a:r>
              <a:rPr b="0" i="0" lang="en-US" sz="1080" u="none" cap="none" strike="noStrike">
                <a:solidFill>
                  <a:srgbClr val="5A6377"/>
                </a:solidFill>
                <a:latin typeface="Calibri"/>
                <a:ea typeface="Calibri"/>
                <a:cs typeface="Calibri"/>
                <a:sym typeface="Calibri"/>
              </a:rPr>
              <a:t>Being a complete, self-contained unit that cannot decompose, jeevan persists across bodily birth and death. Omnipotence stays unchanging; units stay in motion.</a:t>
            </a:r>
            <a:endParaRPr b="0" i="0" sz="1080" u="none" cap="none" strike="noStrike">
              <a:solidFill>
                <a:schemeClr val="dk1"/>
              </a:solidFill>
              <a:latin typeface="Calibri"/>
              <a:ea typeface="Calibri"/>
              <a:cs typeface="Calibri"/>
              <a:sym typeface="Calibri"/>
            </a:endParaRPr>
          </a:p>
        </p:txBody>
      </p:sp>
      <p:sp>
        <p:nvSpPr>
          <p:cNvPr id="490" name="Google Shape;490;p20"/>
          <p:cNvSpPr/>
          <p:nvPr/>
        </p:nvSpPr>
        <p:spPr>
          <a:xfrm>
            <a:off x="640080" y="2880360"/>
            <a:ext cx="79552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00"/>
              <a:buFont typeface="Calibri"/>
              <a:buNone/>
            </a:pPr>
            <a:r>
              <a:rPr b="0" i="0" lang="en-US" sz="1200" u="none" cap="none" strike="noStrike">
                <a:solidFill>
                  <a:srgbClr val="5A6377"/>
                </a:solidFill>
                <a:latin typeface="Calibri"/>
                <a:ea typeface="Calibri"/>
                <a:cs typeface="Calibri"/>
                <a:sym typeface="Calibri"/>
              </a:rPr>
              <a:t>At the human scale, the drive shows itself as four goals — rising from the person, through the family, to an undivided society in universal orderliness:</a:t>
            </a:r>
            <a:endParaRPr b="0" i="0" sz="1200" u="none" cap="none" strike="noStrike">
              <a:solidFill>
                <a:schemeClr val="dk1"/>
              </a:solidFill>
              <a:latin typeface="Calibri"/>
              <a:ea typeface="Calibri"/>
              <a:cs typeface="Calibri"/>
              <a:sym typeface="Calibri"/>
            </a:endParaRPr>
          </a:p>
        </p:txBody>
      </p:sp>
      <p:sp>
        <p:nvSpPr>
          <p:cNvPr id="491" name="Google Shape;491;p20"/>
          <p:cNvSpPr/>
          <p:nvPr/>
        </p:nvSpPr>
        <p:spPr>
          <a:xfrm>
            <a:off x="640080" y="3474720"/>
            <a:ext cx="1874520" cy="1051560"/>
          </a:xfrm>
          <a:prstGeom prst="roundRect">
            <a:avLst>
              <a:gd fmla="val 8696"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20"/>
          <p:cNvSpPr/>
          <p:nvPr/>
        </p:nvSpPr>
        <p:spPr>
          <a:xfrm>
            <a:off x="777240" y="3593592"/>
            <a:ext cx="1600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mbria"/>
              <a:buNone/>
            </a:pPr>
            <a:r>
              <a:rPr b="1" i="0" lang="en-US" sz="1300" u="none" cap="none" strike="noStrike">
                <a:solidFill>
                  <a:srgbClr val="FFFFFF"/>
                </a:solidFill>
                <a:latin typeface="Cambria"/>
                <a:ea typeface="Cambria"/>
                <a:cs typeface="Cambria"/>
                <a:sym typeface="Cambria"/>
              </a:rPr>
              <a:t>Resolution</a:t>
            </a:r>
            <a:endParaRPr b="0" i="0" sz="1300" u="none" cap="none" strike="noStrike">
              <a:solidFill>
                <a:schemeClr val="dk1"/>
              </a:solidFill>
              <a:latin typeface="Calibri"/>
              <a:ea typeface="Calibri"/>
              <a:cs typeface="Calibri"/>
              <a:sym typeface="Calibri"/>
            </a:endParaRPr>
          </a:p>
        </p:txBody>
      </p:sp>
      <p:sp>
        <p:nvSpPr>
          <p:cNvPr id="493" name="Google Shape;493;p20"/>
          <p:cNvSpPr/>
          <p:nvPr/>
        </p:nvSpPr>
        <p:spPr>
          <a:xfrm>
            <a:off x="777240" y="3886200"/>
            <a:ext cx="162763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4EF"/>
              </a:buClr>
              <a:buSzPts val="930"/>
              <a:buFont typeface="Calibri"/>
              <a:buNone/>
            </a:pPr>
            <a:r>
              <a:rPr b="0" i="1" lang="en-US" sz="930" u="none" cap="none" strike="noStrike">
                <a:solidFill>
                  <a:srgbClr val="C9D4EF"/>
                </a:solidFill>
                <a:latin typeface="Calibri"/>
                <a:ea typeface="Calibri"/>
                <a:cs typeface="Calibri"/>
                <a:sym typeface="Calibri"/>
              </a:rPr>
              <a:t>understanding settled, nothing left unresolved — happiness wherever we are resolved</a:t>
            </a:r>
            <a:endParaRPr b="0" i="0" sz="930" u="none" cap="none" strike="noStrike">
              <a:solidFill>
                <a:schemeClr val="dk1"/>
              </a:solidFill>
              <a:latin typeface="Calibri"/>
              <a:ea typeface="Calibri"/>
              <a:cs typeface="Calibri"/>
              <a:sym typeface="Calibri"/>
            </a:endParaRPr>
          </a:p>
        </p:txBody>
      </p:sp>
      <p:sp>
        <p:nvSpPr>
          <p:cNvPr id="494" name="Google Shape;494;p20"/>
          <p:cNvSpPr/>
          <p:nvPr/>
        </p:nvSpPr>
        <p:spPr>
          <a:xfrm>
            <a:off x="2633472" y="3474720"/>
            <a:ext cx="1874520" cy="1051560"/>
          </a:xfrm>
          <a:prstGeom prst="roundRect">
            <a:avLst>
              <a:gd fmla="val 8696"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0"/>
          <p:cNvSpPr/>
          <p:nvPr/>
        </p:nvSpPr>
        <p:spPr>
          <a:xfrm>
            <a:off x="2770632" y="3593592"/>
            <a:ext cx="1600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mbria"/>
              <a:buNone/>
            </a:pPr>
            <a:r>
              <a:rPr b="1" i="0" lang="en-US" sz="1300" u="none" cap="none" strike="noStrike">
                <a:solidFill>
                  <a:srgbClr val="FFFFFF"/>
                </a:solidFill>
                <a:latin typeface="Cambria"/>
                <a:ea typeface="Cambria"/>
                <a:cs typeface="Cambria"/>
                <a:sym typeface="Cambria"/>
              </a:rPr>
              <a:t>Prosperity</a:t>
            </a:r>
            <a:endParaRPr b="0" i="0" sz="1300" u="none" cap="none" strike="noStrike">
              <a:solidFill>
                <a:schemeClr val="dk1"/>
              </a:solidFill>
              <a:latin typeface="Calibri"/>
              <a:ea typeface="Calibri"/>
              <a:cs typeface="Calibri"/>
              <a:sym typeface="Calibri"/>
            </a:endParaRPr>
          </a:p>
        </p:txBody>
      </p:sp>
      <p:sp>
        <p:nvSpPr>
          <p:cNvPr id="496" name="Google Shape;496;p20"/>
          <p:cNvSpPr/>
          <p:nvPr/>
        </p:nvSpPr>
        <p:spPr>
          <a:xfrm>
            <a:off x="2770632" y="3886200"/>
            <a:ext cx="162763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4EF"/>
              </a:buClr>
              <a:buSzPts val="930"/>
              <a:buFont typeface="Calibri"/>
              <a:buNone/>
            </a:pPr>
            <a:r>
              <a:rPr b="0" i="1" lang="en-US" sz="930" u="none" cap="none" strike="noStrike">
                <a:solidFill>
                  <a:srgbClr val="C9D4EF"/>
                </a:solidFill>
                <a:latin typeface="Calibri"/>
                <a:ea typeface="Calibri"/>
                <a:cs typeface="Calibri"/>
                <a:sym typeface="Calibri"/>
              </a:rPr>
              <a:t>producing more than needed, used rightly — peace in the family</a:t>
            </a:r>
            <a:endParaRPr b="0" i="0" sz="930" u="none" cap="none" strike="noStrike">
              <a:solidFill>
                <a:schemeClr val="dk1"/>
              </a:solidFill>
              <a:latin typeface="Calibri"/>
              <a:ea typeface="Calibri"/>
              <a:cs typeface="Calibri"/>
              <a:sym typeface="Calibri"/>
            </a:endParaRPr>
          </a:p>
        </p:txBody>
      </p:sp>
      <p:sp>
        <p:nvSpPr>
          <p:cNvPr id="497" name="Google Shape;497;p20"/>
          <p:cNvSpPr/>
          <p:nvPr/>
        </p:nvSpPr>
        <p:spPr>
          <a:xfrm>
            <a:off x="4626864" y="3474720"/>
            <a:ext cx="1874520" cy="1051560"/>
          </a:xfrm>
          <a:prstGeom prst="roundRect">
            <a:avLst>
              <a:gd fmla="val 8696"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20"/>
          <p:cNvSpPr/>
          <p:nvPr/>
        </p:nvSpPr>
        <p:spPr>
          <a:xfrm>
            <a:off x="4764024" y="3593592"/>
            <a:ext cx="1600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mbria"/>
              <a:buNone/>
            </a:pPr>
            <a:r>
              <a:rPr b="1" i="0" lang="en-US" sz="1300" u="none" cap="none" strike="noStrike">
                <a:solidFill>
                  <a:srgbClr val="FFFFFF"/>
                </a:solidFill>
                <a:latin typeface="Cambria"/>
                <a:ea typeface="Cambria"/>
                <a:cs typeface="Cambria"/>
                <a:sym typeface="Cambria"/>
              </a:rPr>
              <a:t>Fearlessness</a:t>
            </a:r>
            <a:endParaRPr b="0" i="0" sz="1300" u="none" cap="none" strike="noStrike">
              <a:solidFill>
                <a:schemeClr val="dk1"/>
              </a:solidFill>
              <a:latin typeface="Calibri"/>
              <a:ea typeface="Calibri"/>
              <a:cs typeface="Calibri"/>
              <a:sym typeface="Calibri"/>
            </a:endParaRPr>
          </a:p>
        </p:txBody>
      </p:sp>
      <p:sp>
        <p:nvSpPr>
          <p:cNvPr id="499" name="Google Shape;499;p20"/>
          <p:cNvSpPr/>
          <p:nvPr/>
        </p:nvSpPr>
        <p:spPr>
          <a:xfrm>
            <a:off x="4764024" y="3886200"/>
            <a:ext cx="162763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4EF"/>
              </a:buClr>
              <a:buSzPts val="930"/>
              <a:buFont typeface="Calibri"/>
              <a:buNone/>
            </a:pPr>
            <a:r>
              <a:rPr b="0" i="1" lang="en-US" sz="930" u="none" cap="none" strike="noStrike">
                <a:solidFill>
                  <a:srgbClr val="C9D4EF"/>
                </a:solidFill>
                <a:latin typeface="Calibri"/>
                <a:ea typeface="Calibri"/>
                <a:cs typeface="Calibri"/>
                <a:sym typeface="Calibri"/>
              </a:rPr>
              <a:t>trust in the present and in society — contentment in orderly living</a:t>
            </a:r>
            <a:endParaRPr b="0" i="0" sz="930" u="none" cap="none" strike="noStrike">
              <a:solidFill>
                <a:schemeClr val="dk1"/>
              </a:solidFill>
              <a:latin typeface="Calibri"/>
              <a:ea typeface="Calibri"/>
              <a:cs typeface="Calibri"/>
              <a:sym typeface="Calibri"/>
            </a:endParaRPr>
          </a:p>
        </p:txBody>
      </p:sp>
      <p:sp>
        <p:nvSpPr>
          <p:cNvPr id="500" name="Google Shape;500;p20"/>
          <p:cNvSpPr/>
          <p:nvPr/>
        </p:nvSpPr>
        <p:spPr>
          <a:xfrm>
            <a:off x="6620256" y="3474720"/>
            <a:ext cx="1874520" cy="1051560"/>
          </a:xfrm>
          <a:prstGeom prst="roundRect">
            <a:avLst>
              <a:gd fmla="val 8696"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20"/>
          <p:cNvSpPr/>
          <p:nvPr/>
        </p:nvSpPr>
        <p:spPr>
          <a:xfrm>
            <a:off x="6757416" y="3593592"/>
            <a:ext cx="1600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mbria"/>
              <a:buNone/>
            </a:pPr>
            <a:r>
              <a:rPr b="1" i="0" lang="en-US" sz="1300" u="none" cap="none" strike="noStrike">
                <a:solidFill>
                  <a:srgbClr val="FFFFFF"/>
                </a:solidFill>
                <a:latin typeface="Cambria"/>
                <a:ea typeface="Cambria"/>
                <a:cs typeface="Cambria"/>
                <a:sym typeface="Cambria"/>
              </a:rPr>
              <a:t>Coexistence</a:t>
            </a:r>
            <a:endParaRPr b="0" i="0" sz="1300" u="none" cap="none" strike="noStrike">
              <a:solidFill>
                <a:schemeClr val="dk1"/>
              </a:solidFill>
              <a:latin typeface="Calibri"/>
              <a:ea typeface="Calibri"/>
              <a:cs typeface="Calibri"/>
              <a:sym typeface="Calibri"/>
            </a:endParaRPr>
          </a:p>
        </p:txBody>
      </p:sp>
      <p:sp>
        <p:nvSpPr>
          <p:cNvPr id="502" name="Google Shape;502;p20"/>
          <p:cNvSpPr/>
          <p:nvPr/>
        </p:nvSpPr>
        <p:spPr>
          <a:xfrm>
            <a:off x="6757416" y="3886200"/>
            <a:ext cx="162763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4EF"/>
              </a:buClr>
              <a:buSzPts val="930"/>
              <a:buFont typeface="Calibri"/>
              <a:buNone/>
            </a:pPr>
            <a:r>
              <a:rPr b="0" i="1" lang="en-US" sz="930" u="none" cap="none" strike="noStrike">
                <a:solidFill>
                  <a:srgbClr val="C9D4EF"/>
                </a:solidFill>
                <a:latin typeface="Calibri"/>
                <a:ea typeface="Calibri"/>
                <a:cs typeface="Calibri"/>
                <a:sym typeface="Calibri"/>
              </a:rPr>
              <a:t>with humans and with nature — bliss in evidencing understanding</a:t>
            </a:r>
            <a:endParaRPr b="0" i="0" sz="930" u="none" cap="none" strike="noStrike">
              <a:solidFill>
                <a:schemeClr val="dk1"/>
              </a:solidFill>
              <a:latin typeface="Calibri"/>
              <a:ea typeface="Calibri"/>
              <a:cs typeface="Calibri"/>
              <a:sym typeface="Calibri"/>
            </a:endParaRPr>
          </a:p>
        </p:txBody>
      </p:sp>
      <p:sp>
        <p:nvSpPr>
          <p:cNvPr id="503" name="Google Shape;503;p20"/>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“Resolution = Happiness…” — JV p. 61  ·  MVD p. 13  ·  universal orderliness runs across five dimensions: education-character · justice-preservation · health-restraint · production-work · exchange-storage (§1.15)</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447"/>
        </a:solidFill>
      </p:bgPr>
    </p:bg>
    <p:spTree>
      <p:nvGrpSpPr>
        <p:cNvPr id="508" name="Shape 508"/>
        <p:cNvGrpSpPr/>
        <p:nvPr/>
      </p:nvGrpSpPr>
      <p:grpSpPr>
        <a:xfrm>
          <a:off x="0" y="0"/>
          <a:ext cx="0" cy="0"/>
          <a:chOff x="0" y="0"/>
          <a:chExt cx="0" cy="0"/>
        </a:xfrm>
      </p:grpSpPr>
      <p:sp>
        <p:nvSpPr>
          <p:cNvPr id="509" name="Google Shape;509;p21"/>
          <p:cNvSpPr/>
          <p:nvPr/>
        </p:nvSpPr>
        <p:spPr>
          <a:xfrm>
            <a:off x="5852160" y="822960"/>
            <a:ext cx="3291840" cy="329184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1"/>
          <p:cNvSpPr/>
          <p:nvPr/>
        </p:nvSpPr>
        <p:spPr>
          <a:xfrm>
            <a:off x="6510528" y="1481328"/>
            <a:ext cx="1975104" cy="1975104"/>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1"/>
          <p:cNvSpPr/>
          <p:nvPr/>
        </p:nvSpPr>
        <p:spPr>
          <a:xfrm>
            <a:off x="7070141" y="2040941"/>
            <a:ext cx="855878" cy="85587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1"/>
          <p:cNvSpPr/>
          <p:nvPr/>
        </p:nvSpPr>
        <p:spPr>
          <a:xfrm>
            <a:off x="5394960" y="3566160"/>
            <a:ext cx="1097280" cy="109728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21"/>
          <p:cNvSpPr/>
          <p:nvPr/>
        </p:nvSpPr>
        <p:spPr>
          <a:xfrm>
            <a:off x="5614416" y="3785616"/>
            <a:ext cx="658368" cy="658368"/>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1"/>
          <p:cNvSpPr/>
          <p:nvPr/>
        </p:nvSpPr>
        <p:spPr>
          <a:xfrm>
            <a:off x="5800954" y="3972154"/>
            <a:ext cx="285293" cy="285293"/>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1"/>
          <p:cNvSpPr/>
          <p:nvPr/>
        </p:nvSpPr>
        <p:spPr>
          <a:xfrm>
            <a:off x="8138160" y="4023360"/>
            <a:ext cx="731520" cy="73152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21"/>
          <p:cNvSpPr/>
          <p:nvPr/>
        </p:nvSpPr>
        <p:spPr>
          <a:xfrm>
            <a:off x="8284464" y="4169664"/>
            <a:ext cx="438912" cy="438912"/>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21"/>
          <p:cNvSpPr/>
          <p:nvPr/>
        </p:nvSpPr>
        <p:spPr>
          <a:xfrm>
            <a:off x="8408822" y="4294022"/>
            <a:ext cx="190195" cy="190195"/>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21"/>
          <p:cNvSpPr/>
          <p:nvPr/>
        </p:nvSpPr>
        <p:spPr>
          <a:xfrm>
            <a:off x="640080" y="1234440"/>
            <a:ext cx="58521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821E"/>
              </a:buClr>
              <a:buSzPts val="1200"/>
              <a:buFont typeface="Calibri"/>
              <a:buNone/>
            </a:pPr>
            <a:r>
              <a:rPr b="1" i="0" lang="en-US" sz="1200" u="none" cap="none" strike="noStrike">
                <a:solidFill>
                  <a:srgbClr val="C9821E"/>
                </a:solidFill>
                <a:latin typeface="Calibri"/>
                <a:ea typeface="Calibri"/>
                <a:cs typeface="Calibri"/>
                <a:sym typeface="Calibri"/>
              </a:rPr>
              <a:t>THE CULMINATION  ·  BUILT INTO THE DESIGN</a:t>
            </a:r>
            <a:endParaRPr b="0" i="0" sz="1200" u="none" cap="none" strike="noStrike">
              <a:solidFill>
                <a:schemeClr val="dk1"/>
              </a:solidFill>
              <a:latin typeface="Calibri"/>
              <a:ea typeface="Calibri"/>
              <a:cs typeface="Calibri"/>
              <a:sym typeface="Calibri"/>
            </a:endParaRPr>
          </a:p>
        </p:txBody>
      </p:sp>
      <p:sp>
        <p:nvSpPr>
          <p:cNvPr id="519" name="Google Shape;519;p21"/>
          <p:cNvSpPr/>
          <p:nvPr/>
        </p:nvSpPr>
        <p:spPr>
          <a:xfrm>
            <a:off x="640080" y="1572768"/>
            <a:ext cx="557784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mbria"/>
              <a:buNone/>
            </a:pPr>
            <a:r>
              <a:rPr b="1" i="0" lang="en-US" sz="4400" u="none" cap="none" strike="noStrike">
                <a:solidFill>
                  <a:srgbClr val="FFFFFF"/>
                </a:solidFill>
                <a:latin typeface="Cambria"/>
                <a:ea typeface="Cambria"/>
                <a:cs typeface="Cambria"/>
                <a:sym typeface="Cambria"/>
              </a:rPr>
              <a:t>An Awakened Human Tradition</a:t>
            </a:r>
            <a:endParaRPr b="0" i="0" sz="4400" u="none" cap="none" strike="noStrike">
              <a:solidFill>
                <a:schemeClr val="dk1"/>
              </a:solidFill>
              <a:latin typeface="Calibri"/>
              <a:ea typeface="Calibri"/>
              <a:cs typeface="Calibri"/>
              <a:sym typeface="Calibri"/>
            </a:endParaRPr>
          </a:p>
        </p:txBody>
      </p:sp>
      <p:sp>
        <p:nvSpPr>
          <p:cNvPr id="520" name="Google Shape;520;p21"/>
          <p:cNvSpPr/>
          <p:nvPr/>
        </p:nvSpPr>
        <p:spPr>
          <a:xfrm>
            <a:off x="640080" y="3050000"/>
            <a:ext cx="484632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4EF"/>
              </a:buClr>
              <a:buSzPts val="1600"/>
              <a:buFont typeface="Calibri"/>
              <a:buNone/>
            </a:pPr>
            <a:r>
              <a:rPr b="0" i="1" lang="en-US" sz="1600" u="none" cap="none" strike="noStrike">
                <a:solidFill>
                  <a:srgbClr val="C9D4EF"/>
                </a:solidFill>
                <a:latin typeface="Calibri"/>
                <a:ea typeface="Calibri"/>
                <a:cs typeface="Calibri"/>
                <a:sym typeface="Calibri"/>
              </a:rPr>
              <a:t>The drive toward completeness, once it takes hold within one atom, comes to rest in awakened human beings — effort settled in realisation, understanding proven in daily conduct.</a:t>
            </a:r>
            <a:endParaRPr b="0" i="0" sz="1600" u="none" cap="none" strike="noStrike">
              <a:solidFill>
                <a:schemeClr val="dk1"/>
              </a:solidFill>
              <a:latin typeface="Calibri"/>
              <a:ea typeface="Calibri"/>
              <a:cs typeface="Calibri"/>
              <a:sym typeface="Calibri"/>
            </a:endParaRPr>
          </a:p>
        </p:txBody>
      </p:sp>
      <p:sp>
        <p:nvSpPr>
          <p:cNvPr id="521" name="Google Shape;521;p21"/>
          <p:cNvSpPr/>
          <p:nvPr/>
        </p:nvSpPr>
        <p:spPr>
          <a:xfrm>
            <a:off x="640080" y="4160520"/>
            <a:ext cx="53035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E9BC4"/>
              </a:buClr>
              <a:buSzPts val="1150"/>
              <a:buFont typeface="Calibri"/>
              <a:buNone/>
            </a:pPr>
            <a:r>
              <a:rPr b="0" i="0" lang="en-US" sz="1150" u="none" cap="none" strike="noStrike">
                <a:solidFill>
                  <a:srgbClr val="8E9BC4"/>
                </a:solidFill>
                <a:latin typeface="Calibri"/>
                <a:ea typeface="Calibri"/>
                <a:cs typeface="Calibri"/>
                <a:sym typeface="Calibri"/>
              </a:rPr>
              <a:t xml:space="preserve">They live as one undivided society — </a:t>
            </a:r>
            <a:r>
              <a:rPr b="0" i="1" lang="en-US" sz="1150" u="none" cap="none" strike="noStrike">
                <a:solidFill>
                  <a:srgbClr val="8E9BC4"/>
                </a:solidFill>
                <a:latin typeface="Calibri"/>
                <a:ea typeface="Calibri"/>
                <a:cs typeface="Calibri"/>
                <a:sym typeface="Calibri"/>
              </a:rPr>
              <a:t>resolution in every person, prosperity in every family, fearlessness and trust in society, coexistence with all of nature</a:t>
            </a:r>
            <a:r>
              <a:rPr b="0" i="0" lang="en-US" sz="1150" u="none" cap="none" strike="noStrike">
                <a:solidFill>
                  <a:srgbClr val="8E9BC4"/>
                </a:solidFill>
                <a:latin typeface="Calibri"/>
                <a:ea typeface="Calibri"/>
                <a:cs typeface="Calibri"/>
                <a:sym typeface="Calibri"/>
              </a:rPr>
              <a:t>.</a:t>
            </a:r>
            <a:endParaRPr b="0" i="0" sz="1150" u="none" cap="none" strike="noStrike">
              <a:solidFill>
                <a:schemeClr val="dk1"/>
              </a:solidFill>
              <a:latin typeface="Calibri"/>
              <a:ea typeface="Calibri"/>
              <a:cs typeface="Calibri"/>
              <a:sym typeface="Calibri"/>
            </a:endParaRPr>
          </a:p>
        </p:txBody>
      </p:sp>
      <p:sp>
        <p:nvSpPr>
          <p:cNvPr id="522" name="Google Shape;522;p21"/>
          <p:cNvSpPr/>
          <p:nvPr/>
        </p:nvSpPr>
        <p:spPr>
          <a:xfrm>
            <a:off x="640080" y="4650000"/>
            <a:ext cx="53035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E9BC4"/>
              </a:buClr>
              <a:buSzPts val="1150"/>
              <a:buFont typeface="Calibri"/>
              <a:buNone/>
            </a:pPr>
            <a:r>
              <a:rPr b="0" i="0" lang="en-US" sz="1150" u="none" cap="none" strike="noStrike">
                <a:solidFill>
                  <a:srgbClr val="8E9BC4"/>
                </a:solidFill>
                <a:latin typeface="Calibri"/>
                <a:ea typeface="Calibri"/>
                <a:cs typeface="Calibri"/>
                <a:sym typeface="Calibri"/>
              </a:rPr>
              <a:t>A humane tradition: each generation raised into the same understanding — universal orderliness sustained across education, justice, health, production, and exchange.</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447"/>
        </a:solidFill>
      </p:bgPr>
    </p:bg>
    <p:spTree>
      <p:nvGrpSpPr>
        <p:cNvPr id="527" name="Shape 527"/>
        <p:cNvGrpSpPr/>
        <p:nvPr/>
      </p:nvGrpSpPr>
      <p:grpSpPr>
        <a:xfrm>
          <a:off x="0" y="0"/>
          <a:ext cx="0" cy="0"/>
          <a:chOff x="0" y="0"/>
          <a:chExt cx="0" cy="0"/>
        </a:xfrm>
      </p:grpSpPr>
      <p:sp>
        <p:nvSpPr>
          <p:cNvPr id="528" name="Google Shape;528;p22"/>
          <p:cNvSpPr/>
          <p:nvPr/>
        </p:nvSpPr>
        <p:spPr>
          <a:xfrm>
            <a:off x="7635240" y="411480"/>
            <a:ext cx="1005840" cy="100584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22"/>
          <p:cNvSpPr/>
          <p:nvPr/>
        </p:nvSpPr>
        <p:spPr>
          <a:xfrm>
            <a:off x="7836408" y="612648"/>
            <a:ext cx="603504" cy="603504"/>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2"/>
          <p:cNvSpPr/>
          <p:nvPr/>
        </p:nvSpPr>
        <p:spPr>
          <a:xfrm>
            <a:off x="8007401" y="783641"/>
            <a:ext cx="261518" cy="26151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2"/>
          <p:cNvSpPr/>
          <p:nvPr/>
        </p:nvSpPr>
        <p:spPr>
          <a:xfrm>
            <a:off x="640080" y="457200"/>
            <a:ext cx="66751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821E"/>
              </a:buClr>
              <a:buSzPts val="1200"/>
              <a:buFont typeface="Calibri"/>
              <a:buNone/>
            </a:pPr>
            <a:r>
              <a:rPr b="1" i="0" lang="en-US" sz="1200" u="none" cap="none" strike="noStrike">
                <a:solidFill>
                  <a:srgbClr val="C9821E"/>
                </a:solidFill>
                <a:latin typeface="Calibri"/>
                <a:ea typeface="Calibri"/>
                <a:cs typeface="Calibri"/>
                <a:sym typeface="Calibri"/>
              </a:rPr>
              <a:t>WHAT MADHYASTH DARSHAN ESTABLISHES</a:t>
            </a:r>
            <a:endParaRPr b="0" i="0" sz="1200" u="none" cap="none" strike="noStrike">
              <a:solidFill>
                <a:schemeClr val="dk1"/>
              </a:solidFill>
              <a:latin typeface="Calibri"/>
              <a:ea typeface="Calibri"/>
              <a:cs typeface="Calibri"/>
              <a:sym typeface="Calibri"/>
            </a:endParaRPr>
          </a:p>
        </p:txBody>
      </p:sp>
      <p:sp>
        <p:nvSpPr>
          <p:cNvPr id="532" name="Google Shape;532;p22"/>
          <p:cNvSpPr/>
          <p:nvPr/>
        </p:nvSpPr>
        <p:spPr>
          <a:xfrm>
            <a:off x="640080" y="749808"/>
            <a:ext cx="6858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200"/>
              <a:buFont typeface="Cambria"/>
              <a:buNone/>
            </a:pPr>
            <a:r>
              <a:rPr b="1" i="0" lang="en-US" sz="3200" u="none" cap="none" strike="noStrike">
                <a:solidFill>
                  <a:srgbClr val="FFFFFF"/>
                </a:solidFill>
                <a:latin typeface="Cambria"/>
                <a:ea typeface="Cambria"/>
                <a:cs typeface="Cambria"/>
                <a:sym typeface="Cambria"/>
              </a:rPr>
              <a:t>The Questions, Answered</a:t>
            </a:r>
            <a:endParaRPr b="0" i="0" sz="3200" u="none" cap="none" strike="noStrike">
              <a:solidFill>
                <a:schemeClr val="dk1"/>
              </a:solidFill>
              <a:latin typeface="Calibri"/>
              <a:ea typeface="Calibri"/>
              <a:cs typeface="Calibri"/>
              <a:sym typeface="Calibri"/>
            </a:endParaRPr>
          </a:p>
        </p:txBody>
      </p:sp>
      <p:graphicFrame>
        <p:nvGraphicFramePr>
          <p:cNvPr id="533" name="Google Shape;533;p22"/>
          <p:cNvGraphicFramePr/>
          <p:nvPr/>
        </p:nvGraphicFramePr>
        <p:xfrm>
          <a:off x="640080" y="1508760"/>
          <a:ext cx="3000000" cy="3000000"/>
        </p:xfrm>
        <a:graphic>
          <a:graphicData uri="http://schemas.openxmlformats.org/drawingml/2006/table">
            <a:tbl>
              <a:tblPr>
                <a:noFill/>
                <a:tableStyleId>{6C92A692-798E-4634-90B1-36CD3966BFCB}</a:tableStyleId>
              </a:tblPr>
              <a:tblGrid>
                <a:gridCol w="2377450"/>
                <a:gridCol w="5486400"/>
              </a:tblGrid>
              <a:tr h="347475">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Question</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2B3560"/>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Madhyasth Darshan answer</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2B3560"/>
                    </a:solidFill>
                  </a:tcPr>
                </a:tc>
              </a:tr>
              <a:tr h="365750">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What is existence?</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The eternal coexistence of Omnipotence and units</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r>
              <a:tr h="365750">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What exists?</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Omnipotence and countable units of nature</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r>
              <a:tr h="365750">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Does it begin?</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No; only temporary configurations do</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r>
              <a:tr h="365750">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Does the self begin?</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Jeevan is immortal by its very nature; it does not end with the body</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r>
              <a:tr h="365750">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Is the world real?</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Yes — the world is perpetual</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r>
              <a:tr h="512075">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How can it be known?</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Staged study → practice → realisation, evidenced in conduct — each aspect known at its scope, from the unit alone to the whole</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r>
            </a:tbl>
          </a:graphicData>
        </a:graphic>
      </p:graphicFrame>
      <p:sp>
        <p:nvSpPr>
          <p:cNvPr id="534" name="Google Shape;534;p22"/>
          <p:cNvSpPr/>
          <p:nvPr/>
        </p:nvSpPr>
        <p:spPr>
          <a:xfrm>
            <a:off x="640080" y="4526280"/>
            <a:ext cx="78638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E9BC4"/>
              </a:buClr>
              <a:buSzPts val="1200"/>
              <a:buFont typeface="Calibri"/>
              <a:buNone/>
            </a:pPr>
            <a:r>
              <a:rPr b="0" i="1" lang="en-US" sz="1200" u="none" cap="none" strike="noStrike">
                <a:solidFill>
                  <a:srgbClr val="8E9BC4"/>
                </a:solidFill>
                <a:latin typeface="Calibri"/>
                <a:ea typeface="Calibri"/>
                <a:cs typeface="Calibri"/>
                <a:sym typeface="Calibri"/>
              </a:rPr>
              <a:t>Lived verification through humane conduct is the final proof of realisation — §1.16</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2" name="Shape 372"/>
        <p:cNvGrpSpPr/>
        <p:nvPr/>
      </p:nvGrpSpPr>
      <p:grpSpPr>
        <a:xfrm>
          <a:off x="0" y="0"/>
          <a:ext cx="0" cy="0"/>
          <a:chOff x="0" y="0"/>
          <a:chExt cx="0" cy="0"/>
        </a:xfrm>
      </p:grpSpPr>
      <p:sp>
        <p:nvSpPr>
          <p:cNvPr id="373" name="Google Shape;373;p16"/>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6"/>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6"/>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6"/>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§§1.7–1.8, 1.10, 1.12, 1.15 · WHERE THE LADDER COMPLETES — OR STALLS</a:t>
            </a:r>
            <a:endParaRPr b="0" i="0" sz="1050" u="none" cap="none" strike="noStrike">
              <a:solidFill>
                <a:schemeClr val="dk1"/>
              </a:solidFill>
              <a:latin typeface="Calibri"/>
              <a:ea typeface="Calibri"/>
              <a:cs typeface="Calibri"/>
              <a:sym typeface="Calibri"/>
            </a:endParaRPr>
          </a:p>
        </p:txBody>
      </p:sp>
      <p:sp>
        <p:nvSpPr>
          <p:cNvPr id="377" name="Google Shape;377;p16"/>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The Fork: What Makes Me Happy?</a:t>
            </a:r>
            <a:endParaRPr b="0" i="0" sz="3000" u="none" cap="none" strike="noStrike">
              <a:solidFill>
                <a:schemeClr val="dk1"/>
              </a:solidFill>
              <a:latin typeface="Calibri"/>
              <a:ea typeface="Calibri"/>
              <a:cs typeface="Calibri"/>
              <a:sym typeface="Calibri"/>
            </a:endParaRPr>
          </a:p>
        </p:txBody>
      </p:sp>
      <p:sp>
        <p:nvSpPr>
          <p:cNvPr id="378" name="Google Shape;378;p16"/>
          <p:cNvSpPr/>
          <p:nvPr/>
        </p:nvSpPr>
        <p:spPr>
          <a:xfrm>
            <a:off x="640080" y="1207008"/>
            <a:ext cx="79552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300"/>
              <a:buFont typeface="Calibri"/>
              <a:buNone/>
            </a:pPr>
            <a:r>
              <a:rPr b="0" i="0" lang="en-US" sz="1300" u="none" cap="none" strike="noStrike">
                <a:solidFill>
                  <a:srgbClr val="5A6377"/>
                </a:solidFill>
                <a:latin typeface="Calibri"/>
                <a:ea typeface="Calibri"/>
                <a:cs typeface="Calibri"/>
                <a:sym typeface="Calibri"/>
              </a:rPr>
              <a:t>Every jeevan, knowingly or not, is asking one question: what makes me happy? Its faculties — resolve, desire, thought, and hope — answer that question by pointing either toward the body or toward coexistence.</a:t>
            </a:r>
            <a:endParaRPr b="0" i="0" sz="1300" u="none" cap="none" strike="noStrike">
              <a:solidFill>
                <a:schemeClr val="dk1"/>
              </a:solidFill>
              <a:latin typeface="Calibri"/>
              <a:ea typeface="Calibri"/>
              <a:cs typeface="Calibri"/>
              <a:sym typeface="Calibri"/>
            </a:endParaRPr>
          </a:p>
        </p:txBody>
      </p:sp>
      <p:sp>
        <p:nvSpPr>
          <p:cNvPr id="379" name="Google Shape;379;p16"/>
          <p:cNvSpPr/>
          <p:nvPr/>
        </p:nvSpPr>
        <p:spPr>
          <a:xfrm>
            <a:off x="640080" y="1874520"/>
            <a:ext cx="3794760" cy="1170432"/>
          </a:xfrm>
          <a:prstGeom prst="roundRect">
            <a:avLst>
              <a:gd fmla="val 7031" name="adj"/>
            </a:avLst>
          </a:prstGeom>
          <a:solidFill>
            <a:srgbClr val="FAF1DF"/>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16"/>
          <p:cNvSpPr/>
          <p:nvPr/>
        </p:nvSpPr>
        <p:spPr>
          <a:xfrm>
            <a:off x="841248" y="1993392"/>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400"/>
              <a:buFont typeface="Cambria"/>
              <a:buNone/>
            </a:pPr>
            <a:r>
              <a:rPr b="1" i="0" lang="en-US" sz="1400" u="none" cap="none" strike="noStrike">
                <a:solidFill>
                  <a:srgbClr val="9A6414"/>
                </a:solidFill>
                <a:latin typeface="Cambria"/>
                <a:ea typeface="Cambria"/>
                <a:cs typeface="Cambria"/>
                <a:sym typeface="Cambria"/>
              </a:rPr>
              <a:t>Delusion</a:t>
            </a:r>
            <a:endParaRPr b="0" i="0" sz="1400" u="none" cap="none" strike="noStrike">
              <a:solidFill>
                <a:schemeClr val="dk1"/>
              </a:solidFill>
              <a:latin typeface="Calibri"/>
              <a:ea typeface="Calibri"/>
              <a:cs typeface="Calibri"/>
              <a:sym typeface="Calibri"/>
            </a:endParaRPr>
          </a:p>
        </p:txBody>
      </p:sp>
      <p:sp>
        <p:nvSpPr>
          <p:cNvPr id="381" name="Google Shape;381;p16"/>
          <p:cNvSpPr/>
          <p:nvPr/>
        </p:nvSpPr>
        <p:spPr>
          <a:xfrm>
            <a:off x="841248" y="228600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0" lang="en-US" sz="1100" u="none" cap="none" strike="noStrike">
                <a:solidFill>
                  <a:srgbClr val="5A6377"/>
                </a:solidFill>
                <a:latin typeface="Calibri"/>
                <a:ea typeface="Calibri"/>
                <a:cs typeface="Calibri"/>
                <a:sym typeface="Calibri"/>
              </a:rPr>
              <a:t>jeevan identifies as the body — resolve, desire, thought, and hope pull toward the body — accumulation, comfort, and safety</a:t>
            </a:r>
            <a:endParaRPr b="0" i="0" sz="1100" u="none" cap="none" strike="noStrike">
              <a:solidFill>
                <a:schemeClr val="dk1"/>
              </a:solidFill>
              <a:latin typeface="Calibri"/>
              <a:ea typeface="Calibri"/>
              <a:cs typeface="Calibri"/>
              <a:sym typeface="Calibri"/>
            </a:endParaRPr>
          </a:p>
        </p:txBody>
      </p:sp>
      <p:sp>
        <p:nvSpPr>
          <p:cNvPr id="382" name="Google Shape;382;p16"/>
          <p:cNvSpPr/>
          <p:nvPr/>
        </p:nvSpPr>
        <p:spPr>
          <a:xfrm>
            <a:off x="4709160" y="1874520"/>
            <a:ext cx="3794760" cy="1170432"/>
          </a:xfrm>
          <a:prstGeom prst="roundRect">
            <a:avLst>
              <a:gd fmla="val 7031"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6"/>
          <p:cNvSpPr/>
          <p:nvPr/>
        </p:nvSpPr>
        <p:spPr>
          <a:xfrm>
            <a:off x="4910328" y="1993392"/>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B4A7A"/>
              </a:buClr>
              <a:buSzPts val="1400"/>
              <a:buFont typeface="Cambria"/>
              <a:buNone/>
            </a:pPr>
            <a:r>
              <a:rPr b="1" i="0" lang="en-US" sz="1400" u="none" cap="none" strike="noStrike">
                <a:solidFill>
                  <a:srgbClr val="3B4A7A"/>
                </a:solidFill>
                <a:latin typeface="Cambria"/>
                <a:ea typeface="Cambria"/>
                <a:cs typeface="Cambria"/>
                <a:sym typeface="Cambria"/>
              </a:rPr>
              <a:t>Awakening</a:t>
            </a:r>
            <a:endParaRPr b="0" i="0" sz="1400" u="none" cap="none" strike="noStrike">
              <a:solidFill>
                <a:schemeClr val="dk1"/>
              </a:solidFill>
              <a:latin typeface="Calibri"/>
              <a:ea typeface="Calibri"/>
              <a:cs typeface="Calibri"/>
              <a:sym typeface="Calibri"/>
            </a:endParaRPr>
          </a:p>
        </p:txBody>
      </p:sp>
      <p:sp>
        <p:nvSpPr>
          <p:cNvPr id="384" name="Google Shape;384;p16"/>
          <p:cNvSpPr/>
          <p:nvPr/>
        </p:nvSpPr>
        <p:spPr>
          <a:xfrm>
            <a:off x="4910328" y="228600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0" lang="en-US" sz="1100" u="none" cap="none" strike="noStrike">
                <a:solidFill>
                  <a:srgbClr val="5A6377"/>
                </a:solidFill>
                <a:latin typeface="Calibri"/>
                <a:ea typeface="Calibri"/>
                <a:cs typeface="Calibri"/>
                <a:sym typeface="Calibri"/>
              </a:rPr>
              <a:t>jeevan knows its true nature and coexistence — resolve, desire, thought, and hope align around the core self — undivided society, universal orderliness</a:t>
            </a:r>
            <a:endParaRPr b="0" i="0" sz="1100" u="none" cap="none" strike="noStrike">
              <a:solidFill>
                <a:schemeClr val="dk1"/>
              </a:solidFill>
              <a:latin typeface="Calibri"/>
              <a:ea typeface="Calibri"/>
              <a:cs typeface="Calibri"/>
              <a:sym typeface="Calibri"/>
            </a:endParaRPr>
          </a:p>
        </p:txBody>
      </p:sp>
      <p:sp>
        <p:nvSpPr>
          <p:cNvPr id="385" name="Google Shape;385;p16"/>
          <p:cNvSpPr/>
          <p:nvPr/>
        </p:nvSpPr>
        <p:spPr>
          <a:xfrm>
            <a:off x="640080" y="3246120"/>
            <a:ext cx="79552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libri"/>
              <a:buNone/>
            </a:pPr>
            <a:r>
              <a:rPr b="1" i="0" lang="en-US" sz="1250" u="none" cap="none" strike="noStrike">
                <a:solidFill>
                  <a:srgbClr val="1E2447"/>
                </a:solidFill>
                <a:latin typeface="Calibri"/>
                <a:ea typeface="Calibri"/>
                <a:cs typeface="Calibri"/>
                <a:sym typeface="Calibri"/>
              </a:rPr>
              <a:t xml:space="preserve">Same faculties, opposite direction.  </a:t>
            </a:r>
            <a:r>
              <a:rPr b="0" i="0" lang="en-US" sz="1200" u="none" cap="none" strike="noStrike">
                <a:solidFill>
                  <a:srgbClr val="5A6377"/>
                </a:solidFill>
                <a:latin typeface="Calibri"/>
                <a:ea typeface="Calibri"/>
                <a:cs typeface="Calibri"/>
                <a:sym typeface="Calibri"/>
              </a:rPr>
              <a:t>The drive that builds the epistemic ladder (§1.7) runs toward the body in delusion and toward coexistence in awakening — the same faculties, run two ways.</a:t>
            </a:r>
            <a:endParaRPr b="0" i="0" sz="1250" u="none" cap="none" strike="noStrike">
              <a:solidFill>
                <a:schemeClr val="dk1"/>
              </a:solidFill>
              <a:latin typeface="Calibri"/>
              <a:ea typeface="Calibri"/>
              <a:cs typeface="Calibri"/>
              <a:sym typeface="Calibri"/>
            </a:endParaRPr>
          </a:p>
        </p:txBody>
      </p:sp>
      <p:sp>
        <p:nvSpPr>
          <p:cNvPr id="386" name="Google Shape;386;p16"/>
          <p:cNvSpPr/>
          <p:nvPr/>
        </p:nvSpPr>
        <p:spPr>
          <a:xfrm>
            <a:off x="64008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6"/>
          <p:cNvSpPr/>
          <p:nvPr/>
        </p:nvSpPr>
        <p:spPr>
          <a:xfrm>
            <a:off x="64008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Resolution</a:t>
            </a:r>
            <a:endParaRPr b="0" i="0" sz="1250" u="none" cap="none" strike="noStrike">
              <a:solidFill>
                <a:schemeClr val="dk1"/>
              </a:solidFill>
              <a:latin typeface="Calibri"/>
              <a:ea typeface="Calibri"/>
              <a:cs typeface="Calibri"/>
              <a:sym typeface="Calibri"/>
            </a:endParaRPr>
          </a:p>
        </p:txBody>
      </p:sp>
      <p:sp>
        <p:nvSpPr>
          <p:cNvPr id="388" name="Google Shape;388;p16"/>
          <p:cNvSpPr/>
          <p:nvPr/>
        </p:nvSpPr>
        <p:spPr>
          <a:xfrm>
            <a:off x="233172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389" name="Google Shape;389;p16"/>
          <p:cNvSpPr/>
          <p:nvPr/>
        </p:nvSpPr>
        <p:spPr>
          <a:xfrm>
            <a:off x="265176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6"/>
          <p:cNvSpPr/>
          <p:nvPr/>
        </p:nvSpPr>
        <p:spPr>
          <a:xfrm>
            <a:off x="265176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Prosperity</a:t>
            </a:r>
            <a:endParaRPr b="0" i="0" sz="1250" u="none" cap="none" strike="noStrike">
              <a:solidFill>
                <a:schemeClr val="dk1"/>
              </a:solidFill>
              <a:latin typeface="Calibri"/>
              <a:ea typeface="Calibri"/>
              <a:cs typeface="Calibri"/>
              <a:sym typeface="Calibri"/>
            </a:endParaRPr>
          </a:p>
        </p:txBody>
      </p:sp>
      <p:sp>
        <p:nvSpPr>
          <p:cNvPr id="391" name="Google Shape;391;p16"/>
          <p:cNvSpPr/>
          <p:nvPr/>
        </p:nvSpPr>
        <p:spPr>
          <a:xfrm>
            <a:off x="434340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392" name="Google Shape;392;p16"/>
          <p:cNvSpPr/>
          <p:nvPr/>
        </p:nvSpPr>
        <p:spPr>
          <a:xfrm>
            <a:off x="466344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6"/>
          <p:cNvSpPr/>
          <p:nvPr/>
        </p:nvSpPr>
        <p:spPr>
          <a:xfrm>
            <a:off x="466344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Fearlessness</a:t>
            </a:r>
            <a:endParaRPr b="0" i="0" sz="1250" u="none" cap="none" strike="noStrike">
              <a:solidFill>
                <a:schemeClr val="dk1"/>
              </a:solidFill>
              <a:latin typeface="Calibri"/>
              <a:ea typeface="Calibri"/>
              <a:cs typeface="Calibri"/>
              <a:sym typeface="Calibri"/>
            </a:endParaRPr>
          </a:p>
        </p:txBody>
      </p:sp>
      <p:sp>
        <p:nvSpPr>
          <p:cNvPr id="394" name="Google Shape;394;p16"/>
          <p:cNvSpPr/>
          <p:nvPr/>
        </p:nvSpPr>
        <p:spPr>
          <a:xfrm>
            <a:off x="635508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395" name="Google Shape;395;p16"/>
          <p:cNvSpPr/>
          <p:nvPr/>
        </p:nvSpPr>
        <p:spPr>
          <a:xfrm>
            <a:off x="667512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16"/>
          <p:cNvSpPr/>
          <p:nvPr/>
        </p:nvSpPr>
        <p:spPr>
          <a:xfrm>
            <a:off x="667512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Coexistence</a:t>
            </a:r>
            <a:endParaRPr b="0" i="0" sz="1250" u="none" cap="none" strike="noStrike">
              <a:solidFill>
                <a:schemeClr val="dk1"/>
              </a:solidFill>
              <a:latin typeface="Calibri"/>
              <a:ea typeface="Calibri"/>
              <a:cs typeface="Calibri"/>
              <a:sym typeface="Calibri"/>
            </a:endParaRPr>
          </a:p>
        </p:txBody>
      </p:sp>
      <p:sp>
        <p:nvSpPr>
          <p:cNvPr id="397" name="Google Shape;397;p16"/>
          <p:cNvSpPr/>
          <p:nvPr/>
        </p:nvSpPr>
        <p:spPr>
          <a:xfrm>
            <a:off x="640080" y="4553712"/>
            <a:ext cx="79552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1" lang="en-US" sz="1100" u="none" cap="none" strike="noStrike">
                <a:solidFill>
                  <a:srgbClr val="5A6377"/>
                </a:solidFill>
                <a:latin typeface="Calibri"/>
                <a:ea typeface="Calibri"/>
                <a:cs typeface="Calibri"/>
                <a:sym typeface="Calibri"/>
              </a:rPr>
              <a:t>The same fork resolved in the individual is evidenced across a human tradition — resolution, prosperity, fearlessness, and coexistence, sustained as tradition (§1.15).</a:t>
            </a:r>
            <a:endParaRPr b="0" i="0" sz="1100" u="none" cap="none" strike="noStrike">
              <a:solidFill>
                <a:schemeClr val="dk1"/>
              </a:solidFill>
              <a:latin typeface="Calibri"/>
              <a:ea typeface="Calibri"/>
              <a:cs typeface="Calibri"/>
              <a:sym typeface="Calibri"/>
            </a:endParaRPr>
          </a:p>
        </p:txBody>
      </p:sp>
      <p:sp>
        <p:nvSpPr>
          <p:cNvPr id="398" name="Google Shape;398;p16"/>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JV p. 93 (root of delusion: body mistaken for jeevan)  ·  MVD Ch. 17 (ego → stubbornness → delusion)  ·  JV p. 61; MVD p. 13 (§1.15)</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