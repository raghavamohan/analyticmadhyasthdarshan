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32023240484b455e" Type="http://schemas.openxmlformats.org/package/2006/relationships/metadata/core-properties" Target="docProps/core.xml"/><Relationship Id="R9cc06fd3986043d4" Type="http://schemas.openxmlformats.org/officeDocument/2006/relationships/extended-properties" Target="docProps/app.xml"/><Relationship Id="Rf0dbae3cd0844e63"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b763969d7a354eb0"/>
  </p:sldMasterIdLst>
  <p:notesMasterIdLst>
    <p:notesMasterId xmlns:r="http://schemas.openxmlformats.org/officeDocument/2006/relationships" r:id="Re089755d6eee4c05"/>
  </p:notesMasterIdLst>
  <p:sldIdLst>
    <p:sldId xmlns:r="http://schemas.openxmlformats.org/officeDocument/2006/relationships" id="256" r:id="Rcf1a2b7213d4431e"/>
    <p:sldId xmlns:r="http://schemas.openxmlformats.org/officeDocument/2006/relationships" id="257" r:id="R694c89ade17f41b8"/>
    <p:sldId xmlns:r="http://schemas.openxmlformats.org/officeDocument/2006/relationships" id="258" r:id="R00eb5efb8c5f4e44"/>
    <p:sldId xmlns:r="http://schemas.openxmlformats.org/officeDocument/2006/relationships" id="259" r:id="Rd90f309206424460"/>
    <p:sldId xmlns:r="http://schemas.openxmlformats.org/officeDocument/2006/relationships" id="260" r:id="Raf2baeef531a4f5e"/>
    <p:sldId xmlns:r="http://schemas.openxmlformats.org/officeDocument/2006/relationships" id="261" r:id="R698bb10d3d0c4344"/>
    <p:sldId xmlns:r="http://schemas.openxmlformats.org/officeDocument/2006/relationships" id="262" r:id="R93cb00fbbfea4ae6"/>
    <p:sldId xmlns:r="http://schemas.openxmlformats.org/officeDocument/2006/relationships" id="263" r:id="R47e7378bd44348b4"/>
    <p:sldId xmlns:r="http://schemas.openxmlformats.org/officeDocument/2006/relationships" id="264" r:id="R23b69067c47a47fe"/>
    <p:sldId xmlns:r="http://schemas.openxmlformats.org/officeDocument/2006/relationships" id="265" r:id="R46a5a279f5014553"/>
    <p:sldId xmlns:r="http://schemas.openxmlformats.org/officeDocument/2006/relationships" id="266" r:id="R7c87f677a3b74689"/>
    <p:sldId xmlns:r="http://schemas.openxmlformats.org/officeDocument/2006/relationships" id="267" r:id="Rbf1d92438c834905"/>
    <p:sldId xmlns:r="http://schemas.openxmlformats.org/officeDocument/2006/relationships" id="268" r:id="Ra974545b42484d04"/>
    <p:sldId xmlns:r="http://schemas.openxmlformats.org/officeDocument/2006/relationships" id="269" r:id="Re4bd29b4c7a04a69"/>
    <p:sldId xmlns:r="http://schemas.openxmlformats.org/officeDocument/2006/relationships" id="270" r:id="R369076999c8e4178"/>
    <p:sldId xmlns:r="http://schemas.openxmlformats.org/officeDocument/2006/relationships" id="271" r:id="R45e80e95324f49ac"/>
    <p:sldId xmlns:r="http://schemas.openxmlformats.org/officeDocument/2006/relationships" id="272" r:id="Rba502ed2c6e44fee"/>
    <p:sldId xmlns:r="http://schemas.openxmlformats.org/officeDocument/2006/relationships" id="273" r:id="R811c3c5282334a91"/>
    <p:sldId xmlns:r="http://schemas.openxmlformats.org/officeDocument/2006/relationships" id="274" r:id="Rd62664e70b01459e"/>
    <p:sldId xmlns:r="http://schemas.openxmlformats.org/officeDocument/2006/relationships" id="275" r:id="R3fce05a135364de6"/>
    <p:sldId xmlns:r="http://schemas.openxmlformats.org/officeDocument/2006/relationships" id="276" r:id="R341dd9382d6f4162"/>
    <p:sldId xmlns:r="http://schemas.openxmlformats.org/officeDocument/2006/relationships" id="277" r:id="Rac0e4792baf942b1"/>
    <p:sldId xmlns:r="http://schemas.openxmlformats.org/officeDocument/2006/relationships" id="278" r:id="R8b0e403157ef46e5"/>
    <p:sldId xmlns:r="http://schemas.openxmlformats.org/officeDocument/2006/relationships" id="279" r:id="R66b512dca57841c8"/>
    <p:sldId xmlns:r="http://schemas.openxmlformats.org/officeDocument/2006/relationships" id="280" r:id="Rdd31d43a6bb1483d"/>
    <p:sldId xmlns:r="http://schemas.openxmlformats.org/officeDocument/2006/relationships" id="281" r:id="R71b6723b939b4fe7"/>
    <p:sldId xmlns:r="http://schemas.openxmlformats.org/officeDocument/2006/relationships" id="282" r:id="R406d5014727442d4"/>
    <p:sldId xmlns:r="http://schemas.openxmlformats.org/officeDocument/2006/relationships" id="283" r:id="R8057b9684d57477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6C92A692-798E-4634-90B1-36CD3966BFCB}">
  <a:tblStyle styleId="{6C92A692-798E-4634-90B1-36CD3966BFC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0eb5efb8c5f4e44" Type="http://schemas.openxmlformats.org/officeDocument/2006/relationships/slide" Target="slides/slide3.xml"/><Relationship Id="R23b69067c47a47fe" Type="http://schemas.openxmlformats.org/officeDocument/2006/relationships/slide" Target="slides/slide9.xml"/><Relationship Id="R341dd9382d6f4162" Type="http://schemas.openxmlformats.org/officeDocument/2006/relationships/slide" Target="slides/slide21.xml"/><Relationship Id="R369076999c8e4178" Type="http://schemas.openxmlformats.org/officeDocument/2006/relationships/slide" Target="slides/slide15.xml"/><Relationship Id="R3fce05a135364de6" Type="http://schemas.openxmlformats.org/officeDocument/2006/relationships/slide" Target="slides/slide20.xml"/><Relationship Id="R406d5014727442d4" Type="http://schemas.openxmlformats.org/officeDocument/2006/relationships/slide" Target="slides/slide27.xml"/><Relationship Id="R45e80e95324f49ac" Type="http://schemas.openxmlformats.org/officeDocument/2006/relationships/slide" Target="slides/slide16.xml"/><Relationship Id="R46a5a279f5014553" Type="http://schemas.openxmlformats.org/officeDocument/2006/relationships/slide" Target="slides/slide10.xml"/><Relationship Id="R47e7378bd44348b4" Type="http://schemas.openxmlformats.org/officeDocument/2006/relationships/slide" Target="slides/slide8.xml"/><Relationship Id="R482338c1eccc48fe" Type="http://schemas.openxmlformats.org/officeDocument/2006/relationships/theme" Target="theme/theme1.xml"/><Relationship Id="R66b512dca57841c8" Type="http://schemas.openxmlformats.org/officeDocument/2006/relationships/slide" Target="slides/slide24.xml"/><Relationship Id="R694c89ade17f41b8" Type="http://schemas.openxmlformats.org/officeDocument/2006/relationships/slide" Target="slides/slide2.xml"/><Relationship Id="R698bb10d3d0c4344" Type="http://schemas.openxmlformats.org/officeDocument/2006/relationships/slide" Target="slides/slide6.xml"/><Relationship Id="R71b6723b939b4fe7" Type="http://schemas.openxmlformats.org/officeDocument/2006/relationships/slide" Target="slides/slide26.xml"/><Relationship Id="R7c87f677a3b74689" Type="http://schemas.openxmlformats.org/officeDocument/2006/relationships/slide" Target="slides/slide11.xml"/><Relationship Id="R8057b9684d574773" Type="http://schemas.openxmlformats.org/officeDocument/2006/relationships/slide" Target="slides/slide28.xml"/><Relationship Id="R811c3c5282334a91" Type="http://schemas.openxmlformats.org/officeDocument/2006/relationships/slide" Target="slides/slide18.xml"/><Relationship Id="R8b0e403157ef46e5" Type="http://schemas.openxmlformats.org/officeDocument/2006/relationships/slide" Target="slides/slide23.xml"/><Relationship Id="R93cb00fbbfea4ae6" Type="http://schemas.openxmlformats.org/officeDocument/2006/relationships/slide" Target="slides/slide7.xml"/><Relationship Id="R96a44c80ad064dba" Type="http://schemas.openxmlformats.org/officeDocument/2006/relationships/viewProps" Target="viewProps.xml"/><Relationship Id="Ra974545b42484d04" Type="http://schemas.openxmlformats.org/officeDocument/2006/relationships/slide" Target="slides/slide13.xml"/><Relationship Id="Rac0e4792baf942b1" Type="http://schemas.openxmlformats.org/officeDocument/2006/relationships/slide" Target="slides/slide22.xml"/><Relationship Id="Rad65dff658944e0e" Type="http://schemas.openxmlformats.org/officeDocument/2006/relationships/tableStyles" Target="tableStyles.xml"/><Relationship Id="Raf2baeef531a4f5e" Type="http://schemas.openxmlformats.org/officeDocument/2006/relationships/slide" Target="slides/slide5.xml"/><Relationship Id="Rb763969d7a354eb0" Type="http://schemas.openxmlformats.org/officeDocument/2006/relationships/slideMaster" Target="slideMasters/slideMaster1.xml"/><Relationship Id="Rba502ed2c6e44fee" Type="http://schemas.openxmlformats.org/officeDocument/2006/relationships/slide" Target="slides/slide17.xml"/><Relationship Id="Rbf1d92438c834905" Type="http://schemas.openxmlformats.org/officeDocument/2006/relationships/slide" Target="slides/slide12.xml"/><Relationship Id="Rcf1a2b7213d4431e" Type="http://schemas.openxmlformats.org/officeDocument/2006/relationships/slide" Target="slides/slide1.xml"/><Relationship Id="Rd62664e70b01459e" Type="http://schemas.openxmlformats.org/officeDocument/2006/relationships/slide" Target="slides/slide19.xml"/><Relationship Id="Rd90f309206424460" Type="http://schemas.openxmlformats.org/officeDocument/2006/relationships/slide" Target="slides/slide4.xml"/><Relationship Id="Rdd31d43a6bb1483d" Type="http://schemas.openxmlformats.org/officeDocument/2006/relationships/slide" Target="slides/slide25.xml"/><Relationship Id="Re089755d6eee4c05" Type="http://schemas.openxmlformats.org/officeDocument/2006/relationships/notesMaster" Target="notesMasters/notesMaster1.xml"/><Relationship Id="Re4bd29b4c7a04a69" Type="http://schemas.openxmlformats.org/officeDocument/2006/relationships/slide" Target="slides/slide14.xml"/><Relationship Id="Re51f943271f74da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a46cb6970b5343b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a3dfc178de834ca4" Type="http://schemas.openxmlformats.org/officeDocument/2006/relationships/slide" Target="../slides/slide1.xml"/><Relationship Id="Ra933ee13d6b8430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1cbdc0d0649348bb" Type="http://schemas.openxmlformats.org/officeDocument/2006/relationships/slide" Target="../slides/slide2.xml"/><Relationship Id="Rf99d8396718b4f6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a133d5102ce64f07" Type="http://schemas.openxmlformats.org/officeDocument/2006/relationships/notesMaster" Target="../notesMasters/notesMaster1.xml"/><Relationship Id="Rec807d329fcb4bc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030bfdd15f44ced" Type="http://schemas.openxmlformats.org/officeDocument/2006/relationships/slide" Target="../slides/slide4.xml"/><Relationship Id="Raf00d51871504d6f"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19f461d126e40fe" Type="http://schemas.openxmlformats.org/officeDocument/2006/relationships/slide" Target="../slides/slide5.xml"/><Relationship Id="R75e6898354614020"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e0e09dcc2a1948ea" Type="http://schemas.openxmlformats.org/officeDocument/2006/relationships/notesMaster" Target="../notesMasters/notesMaster1.xml"/><Relationship Id="Rfc643f7f959d4cff"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73bd10a910c74103" Type="http://schemas.openxmlformats.org/officeDocument/2006/relationships/notesMaster" Target="../notesMasters/notesMaster1.xml"/><Relationship Id="R9e322238c861430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0518731defc74d3a" Type="http://schemas.openxmlformats.org/officeDocument/2006/relationships/slide" Target="../slides/slide8.xml"/><Relationship Id="R8532ec9091084d8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160f690e8d447ec" Type="http://schemas.openxmlformats.org/officeDocument/2006/relationships/notesMaster" Target="../notesMasters/notesMaster1.xml"/><Relationship Id="R5a7f7d7674524c26"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9bb5edd7c1534775" Type="http://schemas.openxmlformats.org/officeDocument/2006/relationships/slide" Target="../slides/slide10.xml"/><Relationship Id="Rd81756918b3245f6"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58da1bba9544d69" Type="http://schemas.openxmlformats.org/officeDocument/2006/relationships/notesMaster" Target="../notesMasters/notesMaster1.xml"/><Relationship Id="Rcd5f2f2016394c1f"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fd8a229904a42b6" Type="http://schemas.openxmlformats.org/officeDocument/2006/relationships/notesMaster" Target="../notesMasters/notesMaster1.xml"/><Relationship Id="Rf33f2d36215a4378"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07b2228acf3e46e6" Type="http://schemas.openxmlformats.org/officeDocument/2006/relationships/notesMaster" Target="../notesMasters/notesMaster1.xml"/><Relationship Id="R42bb02fcf93d438c"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0ce060886af6415f" Type="http://schemas.openxmlformats.org/officeDocument/2006/relationships/notesMaster" Target="../notesMasters/notesMaster1.xml"/><Relationship Id="R1089e3447f7e4808"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8047346829204a56" Type="http://schemas.openxmlformats.org/officeDocument/2006/relationships/slide" Target="../slides/slide15.xml"/><Relationship Id="Rb2b9c9fc3fb24943"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e597c017ce54601" Type="http://schemas.openxmlformats.org/officeDocument/2006/relationships/slide" Target="../slides/slide16.xml"/><Relationship Id="Rfb2dd0381bdd457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29ab9179fd294169" Type="http://schemas.openxmlformats.org/officeDocument/2006/relationships/notesMaster" Target="../notesMasters/notesMaster1.xml"/><Relationship Id="R8274dd54b91a492f"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433734d25baf4586" Type="http://schemas.openxmlformats.org/officeDocument/2006/relationships/slide" Target="../slides/slide18.xml"/><Relationship Id="R9d7b2e18b1464e95"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3afaad4e4f574139" Type="http://schemas.openxmlformats.org/officeDocument/2006/relationships/notesMaster" Target="../notesMasters/notesMaster1.xml"/><Relationship Id="Rc9d9ba25c7394ea8"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a43d4ec1a5be4b3c" Type="http://schemas.openxmlformats.org/officeDocument/2006/relationships/notesMaster" Target="../notesMasters/notesMaster1.xml"/><Relationship Id="Re37cb4249ab94fa4"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5364ff129b5a4d21" Type="http://schemas.openxmlformats.org/officeDocument/2006/relationships/notesMaster" Target="../notesMasters/notesMaster1.xml"/><Relationship Id="R86e4b27c990647ca"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69faa9f5898c47fd" Type="http://schemas.openxmlformats.org/officeDocument/2006/relationships/slide" Target="../slides/slide22.xml"/><Relationship Id="Rd92bf3ae30f140e6"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9864bf41618146bf" Type="http://schemas.openxmlformats.org/officeDocument/2006/relationships/slide" Target="../slides/slide23.xml"/><Relationship Id="R9bbf0f72f71a4e1a"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4c606b7091084758" Type="http://schemas.openxmlformats.org/officeDocument/2006/relationships/slide" Target="../slides/slide24.xml"/><Relationship Id="Rc0ac0f86e15f4990"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1e234e24baeb4edf" Type="http://schemas.openxmlformats.org/officeDocument/2006/relationships/slide" Target="../slides/slide25.xml"/><Relationship Id="Ra92b991512d4449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09f686eeb5944140" Type="http://schemas.openxmlformats.org/officeDocument/2006/relationships/notesMaster" Target="../notesMasters/notesMaster1.xml"/><Relationship Id="Rf09bf5abcec14770"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aef1067eb86e42e6" Type="http://schemas.openxmlformats.org/officeDocument/2006/relationships/notesMaster" Target="../notesMasters/notesMaster1.xml"/><Relationship Id="Rde72d236d7ee4c34"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061ed2c799da4c0f" Type="http://schemas.openxmlformats.org/officeDocument/2006/relationships/notesMaster" Target="../notesMasters/notesMaster1.xml"/><Relationship Id="Ra6d7060163804a1c"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Welcome, and thank you for joining.</a:t>
            </a:r>
          </a:p>
          <a:p>
            <a:r>
              <a:t>You do not need any prior familiarity with Madhyasth Darshan, or with formal philosophy, to follow this session. I will use ordinary English first, and introduce source terms only when they help. Our aim is not persuasion or devotion. It is to examine one coherent account of reality — testing its definitions and internal consistency.</a:t>
            </a:r>
          </a:p>
          <a:p>
            <a:r>
              <a:t>Madhyasth Darshan — also called Co-existentialism — was propounded by Shri A. Nagraj. The name points to a thesis we will unpack later: order in nature is mediative and inherent, not imposed by an external governor.</a:t>
            </a:r>
          </a:p>
          <a:p>
            <a:r>
              <a:t>Here is the one claim to hold for the whole talk: existence is coexistence. Reality is the ever-present togetherness of a formless, all-pervasive ground and countless real, bounded units of nature, each saturated in that ground. Everything else — sentience, values, justice, society — unfolds from this picture.</a:t>
            </a:r>
          </a:p>
          <a:p>
            <a:r>
              <a:t>One word about vocabulary. The published translations often print “Omnipotence” for the ground; the slides and I will say Omnipresence. Same reality, different English label — you will see the translation's word only inside quotations.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Before the details, here is the map of the argument. One claim — existence is coexistence — moves through three parts.</a:t>
            </a:r>
          </a:p>
          <a:p>
            <a:r>
              <a:t>First: what is real, and how it is ordered. There is an all-pervasive ground and countable units, and two bonds — each unit to the ground, and each unit to the others. The second of those is complementarity, and it is given rather than made: because there are many bounded things in one ground, each stands in definite relation to the rest. Each unit has a definite form, capacities, a way of participating, and an inseparable innateness, and these show up in mutual relations across four orders of nature. Because no unit can be separated from the ground, existence itself neither begins nor ends.</a:t>
            </a:r>
          </a:p>
          <a:p>
            <a:r>
              <a:t>Second: how development proceeds along two lines that must not be collapsed. And the reason it proceeds at all — the drive is to fulfil that complementarity. One line builds larger configurations — particles, molecules, cells, bodies — but never exceeds the order of the things it is built from. The other is development in an atom that can become a complete sentient unit. Across both, activity is effort, motion, and result together — not three separate steps.</a:t>
            </a:r>
          </a:p>
          <a:p>
            <a:r>
              <a:t>Third: how sentient living becomes awakened conduct — the human as a joint form of body and sentient unit, the faculties of that sentient unit, the four harmonies it can reach, and why the higher three are reached only through action actually performed: evaluation, realisation, and participation in humane order.</a:t>
            </a:r>
          </a:p>
          <a:p>
            <a:r>
              <a:t>Please keep one distinction early: the body line and the sentient-unit line meet in animal and human living, but they are not the same process. That blocks the most common confusion — treating the body as the producer of the knower.</a:t>
            </a:r>
          </a:p>
          <a:p>
            <a:r>
              <a:t>Each movement is marked in the small line at the top of its opening slide, so you can always tell where we 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Any serious account of reality has to face a small set of questions. Let us name them before we give this tradition’s answers.</a:t>
            </a:r>
          </a:p>
          <a:p>
            <a:r>
              <a:t>What is existence? Is there one fundamental reality, or many — and how are they related?</a:t>
            </a:r>
          </a:p>
          <a:p>
            <a:r>
              <a:t>What exists? What are the basic constituents, and what is each of them?</a:t>
            </a:r>
          </a:p>
          <a:p>
            <a:r>
              <a:t>Does what exists begin? Did reality originate at some time — or do only configurations begin and end?</a:t>
            </a:r>
          </a:p>
          <a:p>
            <a:r>
              <a:t>Does the self begin or end with the body?</a:t>
            </a:r>
          </a:p>
          <a:p>
            <a:r>
              <a:t>Is the plural world finally real, or only an appearance?</a:t>
            </a:r>
          </a:p>
          <a:p>
            <a:r>
              <a:t>And sixth: how can what exists be known — what must be understood, and at what scope?</a:t>
            </a:r>
          </a:p>
          <a:p>
            <a:r>
              <a:t>Different traditions answer these differently. Madhyasth Darshan does not answer them with six separate doctrines. One picture — coexistence — is meant to answer all six at once.</a:t>
            </a:r>
          </a:p>
          <a:p>
            <a:r>
              <a:t>We will return to this list at the end with the answers filled in. Along the way you will also see how knowing widens, where the developmental drive comes to rest, and how different kinds of evidence are kept distinct.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This map is the organising picture for what follows. You do not need to memorise every node. Use it as a place to return when later slides feel dense.</a:t>
            </a:r>
          </a:p>
          <a:p>
            <a:r>
              <a:t>At the top: coexistence — the ground and countless units, inseparable without losing their distinction. Then, on the unit side: four aspects of every unit; relationships; four orders of nature; and two developmental lines.</a:t>
            </a:r>
          </a:p>
          <a:p>
            <a:r>
              <a:t>Notice the fork. Bodies belong to compositional building. The sentient unit is the result of a different line — development in an atom. The two meet in animal and human living.</a:t>
            </a:r>
          </a:p>
          <a:p>
            <a:r>
              <a:t>Later we will name three milestones on the sentient path: the arrival of sentience, then settlement of inner seeking, then authentic conduct. Those are not further material stages.</a:t>
            </a:r>
          </a:p>
          <a:p>
            <a:r>
              <a:t>Most of the deck is a zoom into one region of this map.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 now enter the foundations — what this account says exists.</a:t>
            </a:r>
          </a:p>
          <a:p>
            <a:r>
              <a:t>Existence has two inseparable aspects.</a:t>
            </a:r>
          </a:p>
          <a:p>
            <a:r>
              <a:t>First, the ground — Omnipresence. Formless, all-pervasive, transparent, permeating, non-transforming, immeasurable. Actionless energy: it acts not at all, yet every unit is energised and regulated in it. There is no place where it is absent.</a:t>
            </a:r>
          </a:p>
          <a:p>
            <a:r>
              <a:t>Hold on to two of those words, because the next slide is built on them. *Transparent* and *permeating*. The texts say transparence, permeability, and pervasiveness taken together are what show the ground to be one indivisible reality. Permeating is the strong one: the ground does not merely surround a unit from outside, it passes through it. That will matter in about ninety seconds.</a:t>
            </a:r>
          </a:p>
          <a:p>
            <a:r>
              <a:t>Second, units of nature. Formful, active, countable. Each is bounded and saturated in the ground. Each has form, capacities, a way of participating, and an inseparable innateness — we will walk those four shortly.</a:t>
            </a:r>
          </a:p>
          <a:p>
            <a:r>
              <a:t>Do not collapse levels. At the root, nature is analysed as atomic units — a centre with orbiting parts. Compounds and bodies are composite units. Body and sentient unit together are a joint form. Families and societies are relational assemblies.</a:t>
            </a:r>
          </a:p>
          <a:p>
            <a:r>
              <a:t>These two poles were never separate. Separation of a unit from the saturated whole never happens. The ground does not change. Nature saturated in it is dynamic. Therefore all change is unit-activity.</a:t>
            </a:r>
          </a:p>
          <a:p>
            <a:r>
              <a:t>One naming caution. The texts list many English names for the ground — including Knowledge and Consciousness. Those names do not mean a mind that knows. Active knowing belongs to the sentient unit, never to the ground.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How are ground and units related? The texts have one word for it: saturation. Every formful unit is soaked, submerged, and surrounded in Omnipresence.</a:t>
            </a:r>
          </a:p>
          <a:p>
            <a:r>
              <a:t>Now, why is that true rather than merely asserted? Because the ground is permeating — the word from the last slide. Take a unit and divide it. Divide the fragments. Divide those. However far you go, every fragment is still soaked, still submerged, still surrounded. There is no cut you can make that leaves a piece standing outside the ground.</a:t>
            </a:r>
          </a:p>
          <a:p>
            <a:r>
              <a:t>Two things follow immediately, and they are worth stating slowly.</a:t>
            </a:r>
          </a:p>
          <a:p>
            <a:r>
              <a:t>One: a unit cannot be annihilated. To annihilate it you would need a fragment separated from what it is saturated in, and no division produces that.</a:t>
            </a:r>
          </a:p>
          <a:p>
            <a:r>
              <a:t>Two: saturation is a condition, not an event. There is no moment at which units existed on their own and were later joined to the ground. If someone asks you *when* saturation happened, the answer is that the question does not apply.</a:t>
            </a:r>
          </a:p>
          <a:p>
            <a:r>
              <a:t>Here is the part I want you to notice, because it is easy to read past. Soaked, submerged, surrounded are not three words for one relation. Each carries its own entailment, and the three cards on the slide follow them in order.</a:t>
            </a:r>
          </a:p>
          <a:p>
            <a:r>
              <a:t>Soaked gives forcefulness. Being soaked *is* forcefulness — the unit is the bearer of definite relative power. On the force side of the same bond, the texts call this basic impulsion.</a:t>
            </a:r>
          </a:p>
          <a:p>
            <a:r>
              <a:t>Submerged gives energy-fullness. The ground is on every side of the unit, so the unit is never devoid of the energy evident in its activity. The texts state the relation as a bare identity: unit-ness plus energy-fullness is activeness. And activity is never one thing at a time — always effort, motion, and result together.</a:t>
            </a:r>
          </a:p>
          <a:p>
            <a:r>
              <a:t>Surrounded gives regulation. Because the formless reality stands between units, each is held at a definite distance from the others. That is where law and orderliness come from — not from a statute issued from outside. We will come back to this on slide 22.</a:t>
            </a:r>
          </a:p>
          <a:p>
            <a:r>
              <a:t>Recognition and participation in orderliness follow from the same bond, and slide 8 takes them up in their own right. And please hear the caution: this is a claim about what existence is like, not a proposed laboratory transfer mechanism. Nor does saturation destine any unit to become sentient.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One consequence of the last slide deserves its own moment, because it answers the second of our opening questions.</a:t>
            </a:r>
          </a:p>
          <a:p>
            <a:r>
              <a:t>If no division of a unit can put any fragment outside the ground, then nothing that exists can be annihilated. And nothing arises from non-being either. So existence does not begin and does not end. What begins and ends is composition — particular arrangements of units.</a:t>
            </a:r>
          </a:p>
          <a:p>
            <a:r>
              <a:t>Notice carefully what that does and does not claim. A compound decomposes. A body dies. Those organisations genuinely end. What continues is their constituents, in other relations. Perpetuity belongs to coexistence, not to any particular configuration.</a:t>
            </a:r>
          </a:p>
          <a:p>
            <a:r>
              <a:t>Second point, and this one matters for how you hear the rest of the session. The texts call Omnipresence the supreme cause, and that phrase invites a misreading. It is cause only in the sustaining sense — no activity exists apart from nature saturated in it. It starts no particular change. Composition, decomposition, and development occur as unit-activity in mutuality. Karma and humane conduct belong to the human joint form. So there is no creator in this account, and no ruler issuing instructions.</a:t>
            </a:r>
          </a:p>
          <a:p>
            <a:r>
              <a:t>Third, time. Time here is not a container existing alongside the ground and the units. Time is the duration of activity, reckoned from recurrent activities — a rotation, a year. The ground does not transform, so it is not temporal in the way unit-activity is measured.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So far the relation I have described runs between each unit and the ground. There is a second relation, and without it nothing else in this account works — not value, not relationship, not justice, and not the drive we are about to follow.</a:t>
            </a:r>
          </a:p>
          <a:p>
            <a:r>
              <a:t>Here is where it comes from. Existence is countless units, each with definite limits, in one pervasive reality. That fact — bounded plurality — is itself what makes recognition possible. The text puts it almost casually: “a provision for one unit to recognise another got manifest in existence.” Because there are many bounded things in one ground, each one stands in definite relation to the others.</a:t>
            </a:r>
          </a:p>
          <a:p>
            <a:r>
              <a:t>So complementarity is *given* in coexistence. Not created by us. Not agreed between parties. Not a value we project onto a neutral world. It is a feature of what exists.</a:t>
            </a:r>
          </a:p>
          <a:p>
            <a:r>
              <a:t>Three things follow, and they are the three cards.</a:t>
            </a:r>
          </a:p>
          <a:p>
            <a:r>
              <a:t>Recognition first. A unit recognises another by responding according to definite constitution, distance, force, and relation. No cognition is involved — please do not hear "recognition" as a mental act. Heat is accepted and redistributed by matter. Particles hold definite distance in an atom. Atoms combine in definite ways and not others. That is recognition in the insentient orders, and the texts name the equipment for it: capacity, ability, receptivity.</a:t>
            </a:r>
          </a:p>
          <a:p>
            <a:r>
              <a:t>Complementarity second. Nothing in nature exists in isolation, and each unit is a whole along with its environment. Now the consequence people find surprising: value, in the universal sense, is essentiality and participation in orderliness — the definite conduct through which a unit complements others. Usefulness is that essentiality as it appears in objects; it is not the whole of value. Value is ontological here. It is not assigned by an observer, and it is not a human invention layered on top of physics.</a:t>
            </a:r>
          </a:p>
          <a:p>
            <a:r>
              <a:t>Fulfilment third. Fulfilment is the participation that follows recognition, according to constitution and order. Below the human order it is definite — it happens. At the human order it must be achieved, through knowing and believing. Which is precisely why, at the human order alone, it can fail.</a:t>
            </a:r>
          </a:p>
          <a:p>
            <a:r>
              <a:t>And now the sentence I want you to carry through the rest of the session, because everything from here specifies it: the completeness drive is the drive to fulfil this complementarity. When we get to the composing line, the texts call it a natural inclination toward coexistence. When we get to the sentience threshold, it is hungry atoms and overfull atoms completing each other. When we get to justice, it is complementarity fulfilled knowingly between human beings. Same thing, three registers.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is every unit? Four inseparable aspects — not a static checklist pasted onto things, but how a definite bearer shows up in the world.</a:t>
            </a:r>
          </a:p>
          <a:p>
            <a:r>
              <a:t>Form is real boundary and configuration. Take the peepal tree on the slide: one bounded living form with trunk, branches, leaves, and roots.</a:t>
            </a:r>
          </a:p>
          <a:p>
            <a:r>
              <a:t>Properties — capacities and relative effects. In the peepal: nutrition, growth, repair, seed production, degeneration under definite conditions.</a:t>
            </a:r>
          </a:p>
          <a:p>
            <a:r>
              <a:t>Essential nature is usefulness in context: vitalising while the living organisation holds; devitalising when it breaks down.</a:t>
            </a:r>
          </a:p>
          <a:p>
            <a:r>
              <a:t>Innateness — dharma in this technical sense — is what cannot be separated from the unit, plus order-specific fulfilment. For the peepal: existence plus growth. Seed-conformance is how it conducts itself, not an extra label piled on top.</a:t>
            </a:r>
          </a:p>
          <a:p>
            <a:r>
              <a:t>Form is real; what another unit encounters is its definite presentation in mutual facing. In non-sentient nature these aspects are definite. Misreading arises mainly in human living, when the sentient unit mistakes the body for the self.</a:t>
            </a:r>
          </a:p>
          <a:p>
            <a:r>
              <a:t>And notice: the tree as a composite can die while its material constituents persist. Persistence of existence is not persistence of one configuration.</a:t>
            </a:r>
          </a:p>
          <a:p>
            <a:r>
              <a:t>The same unit is known in three complementary aspects, not three worlds. Inherent truth is what the unit is. Positional truth is how it stands among others. Existential truth is that it exists in Omnipresence.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complementarity we just established becomes evident through relationships among units — this slide is what it looks like in practice.</a:t>
            </a:r>
          </a:p>
          <a:p>
            <a:r>
              <a:t>In the material, plant, and animal orders its expression is definite: recognition happens, fulfilment happens. At the human order alone it has to be recognised, evaluated, and fulfilled — so at the human order alone it can be got wrong, and it is got wrong when the body is mistaken for the self.</a:t>
            </a:r>
          </a:p>
          <a:p>
            <a:r>
              <a:t>Two kinds of mutuality matter. A relationship is mutuality whose expectations are definite in the completeness of the bond — parent and child. A contact (*sampark*) is mutuality where expectations are voluntary — neighbours who share a wall.</a:t>
            </a:r>
          </a:p>
          <a:p>
            <a:r>
              <a:t>The slide names the thirty values: four *jeevan* values, six human values, nine established values, nine expressed values, and two object values. Established values become evident when human relationships are recognised and fulfilled — trust, respect, affection, care, and so on. Expressed values — *shishta-mulya* — are their corresponding powers in motion. The English translation of MVD renders those as civic values; they are relationship-expression, not a separate family of right-use of body, mind, and wealth.</a:t>
            </a:r>
          </a:p>
          <a:p>
            <a:r>
              <a:t>At the human order the path runs: knowing, then believing, then recognising, then fulfilling. Awakening does not invent new faculties. It aligns this chain with coexistence.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Units organise into four stable orders: material; bio or living-plant order; animal; and knowledge — the human order.</a:t>
            </a:r>
          </a:p>
          <a:p>
            <a:r>
              <a:t>Read the table downward. Innateness is cumulative. Matter has existence. The bio order adds growth. The animal order adds hope to live. The human order adds happiness. Higher orders include the lower ones.</a:t>
            </a:r>
          </a:p>
          <a:p>
            <a:r>
              <a:t>The pivotal boundary is between plant life and animal life. Material and bio orders are non-sentient. Hope to live is where sentience enters. The sentient unit is present in animal and human joint forms.</a:t>
            </a:r>
          </a:p>
          <a:p>
            <a:r>
              <a:t>In animals, bodily and brain development limits how much of that unit’s range can be expressed. In humans, the bodily medium can support the full range, but confusion can still misdirect evaluation. Neither body produces sentience. Please do not collapse either case into “mind emerging from matter alone.”</a:t>
            </a:r>
          </a:p>
          <a:p>
            <a:r>
              <a:t>We have now stated what exists and how it is ordered. Next: how development proceeds.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Start with the question the last three slides have been building toward: why does anything develop at all?</a:t>
            </a:r>
          </a:p>
          <a:p>
            <a:r>
              <a:t>The answer the texts give is the completeness drive. Nature saturated in state-complete Omnipresence is oriented toward development and awakening, until realisation. “Oriented” is doing careful work there — it names a direction inherent in the order of coexistence, not a guarantee that every unit travels the whole way.</a:t>
            </a:r>
          </a:p>
          <a:p>
            <a:r>
              <a:t>And here is the connection back to slide 8, which is the one I most want to land: that drive is the drive to fulfil complementarity. Complementarity is given; fulfilling it is what development *is*. Everything in this movement, and everything in the movement after it, is a specification of that one sentence.</a:t>
            </a:r>
          </a:p>
          <a:p>
            <a:r>
              <a:t>That drive proceeds along two distinct lines, and Madhyasth Darshan insists they must not be collapsed.</a:t>
            </a:r>
          </a:p>
          <a:p>
            <a:r>
              <a:t>Compositional progression joins particles, atoms, molecules, cells, and bodies into larger configurations. Separately, development in an atom can reach constitutional completeness as a sentient unit. These lines meet in living joint forms, but they remain distinct.</a:t>
            </a:r>
          </a:p>
          <a:p>
            <a:r>
              <a:t>Across both, activity is one inseparable triad: effort, motion, and result — three aspects of one activity, not three sequential steps. When sodium and chlorine approach, the approach is effort and motion together; the stable salt crystal is the result.</a:t>
            </a:r>
          </a:p>
          <a:p>
            <a:r>
              <a:t>The texts compress the engine this way: saturation is forcefulness; forcefulness is basic impulsion; impulsion is activity; activity is effort-motion-result; and that is development.</a:t>
            </a:r>
          </a:p>
          <a:p>
            <a:r>
              <a:t>Each term has a goal: restfulness of effort, destination of motion, immortality of result. Development pervades nature; awakening occurs in the sentient. Non-sentient units participate by composing bodies and environments without each individually completing the drive.</a:t>
            </a:r>
          </a:p>
          <a:p>
            <a:r>
              <a:t>The next slide follows both paths through their convergence in animal and human living.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completeness drive unfolds along two parallel paths.</a:t>
            </a:r>
          </a:p>
          <a:p>
            <a:r>
              <a:t>The first is the compositional path, *rachna*. Atoms and molecules form material-order structures. Under appropriate chemical and environmental conditions, pranic cells and biological formations appear. This is the material-to-biological order change, and both orders remain insentient.</a:t>
            </a:r>
          </a:p>
          <a:p>
            <a:r>
              <a:t>The second is the atomic path, *gathan*. A developing atom integrates the particle constitution required for completeness. At constitutional completeness, the texts classify that atom as sentient *jeevan*.</a:t>
            </a:r>
          </a:p>
          <a:p>
            <a:r>
              <a:t>The two paths meet in the animal order as a joint form: a biological body plus sentient *jeevan*. One does not manufacture the other; they work together.</a:t>
            </a:r>
          </a:p>
          <a:p>
            <a:r>
              <a:t>Development then continues along both aspects of the joint form. Bodily lineages develop through species-conforming biological organisation, while *jeevan*’s expression widens through those bodily media. In the animal order that expression remains limited by the body.</a:t>
            </a:r>
          </a:p>
          <a:p>
            <a:r>
              <a:t>The human body, in the knowledge order, is described as capable of evidencing all ten activities of *jeevan*. That does not mean the body owns those activities. It means the bodily medium is adequate for their expression. Once that capacity is present, the remaining development is awakening in *jeevan*, evidenced through understanding and conduct.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Now we name three milestones — T1, T2, and T3.</a:t>
            </a:r>
          </a:p>
          <a:p>
            <a:r>
              <a:t>T1 is constitutional completeness: the immortality of result. A developing atom becomes a sentient unit — jeevan. Status shifts from physicochemical to what the texts call delusional — meaning the body is mistaken for the self. That is a stage label, not a psychiatric diagnosis.</a:t>
            </a:r>
          </a:p>
          <a:p>
            <a:r>
              <a:t>T2 is activity completeness: restfulness of effort. Inner seeking settles into direct realisation and resolution. Status shifts toward awakened understanding.</a:t>
            </a:r>
          </a:p>
          <a:p>
            <a:r>
              <a:t>T3 is conduct completeness: destination of motion. Understanding becomes authentic conduct — living proof.</a:t>
            </a:r>
          </a:p>
          <a:p>
            <a:r>
              <a:t>Keep T2 and T3 apart. T2 is internal settlement. T3 is outer destination in conduct. And do not confuse T2’s restfulness with the ease of non-sentient natural complementarity.</a:t>
            </a:r>
          </a:p>
          <a:p>
            <a:r>
              <a:t>T1 is completeness of an atom’s constitution. T2 and T3 are not further material stages; they name completeness of activity and conduct in the awakened sentient unit. In one line: the saturated realises the ground it is saturated in.</a:t>
            </a:r>
          </a:p>
          <a:p>
            <a:r>
              <a:t>One naming point, since I have just used the words. Physicochemical, delusional, deific, divine — the band across the top of this slide — are what the texts call the four **planes**. A plane is the developmental standing a thing has reached. It is not a kind of thing, and it is not the same as an order of nature. The next slide sorts that out properly.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Let me consolidate, because this tradition uses four different vocabularies for what is fundamentally one thing, and mixing them up is the commonest way to get lost in it.</a:t>
            </a:r>
          </a:p>
          <a:p>
            <a:r>
              <a:t>There is one drive: nature saturated in state-complete Omnipresence, oriented toward development and awakening until realisation. Everything on this table is a way of describing where something stands in that drive.</a:t>
            </a:r>
          </a:p>
          <a:p>
            <a:r>
              <a:t>**Orders** — material, bio, animal, knowledge — say what *kind* of thing a unit is: its organisation, its essential nature, its innateness. Four orders.</a:t>
            </a:r>
          </a:p>
          <a:p>
            <a:r>
              <a:t>**Progressions** — existential, way of existence, development, awakening — say how the drive *moves*. The first names the definite sequence in which the orders become manifest; the second, the conformance by which each order keeps its conduct; the third, physicochemical and atomic development up to T1; the fourth, qualitative development inside a complete sentient unit toward T2 and T3.</a:t>
            </a:r>
          </a:p>
          <a:p>
            <a:r>
              <a:t>**Planes** — physicochemical, delusional, deific, divine — say how *far* something has come. These are the four we just saw across the top of the last slide. Before T1; T1 only; T2; T3.</a:t>
            </a:r>
          </a:p>
          <a:p>
            <a:r>
              <a:t>**Human types** — animalistic, demonic, humane or discerning, deific, divine — say how a human *life is oriented*. Five of them, and they classify modes of consciousness and conduct. Not biological species. Not social classes. Not castes.</a:t>
            </a:r>
          </a:p>
          <a:p>
            <a:r>
              <a:t>The one caution worth stating out loud: an order is not a plane. The knowledge order spans more than one plane — most human beings are in the knowledge order and on the delusional plane at the same time, and there is nothing insulting in that; it just means realisation has not happened yet. T1 separates physicochemical from sentient standing. T2 and T3 are completeness within an awakened sentient unit, and no fifth plane is added beyond them.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This is the claimed sentience threshold. The technical transitions slide names it T1; here the audience-facing question is how the texts say sentience enters.</a:t>
            </a:r>
          </a:p>
          <a:p>
            <a:r>
              <a:t>According to the primary texts, sentience appears when one developing atom reaches constitutional completeness — not through neural complexity, molecular size, or the material-to-biological order change.</a:t>
            </a:r>
          </a:p>
          <a:p>
            <a:r>
              <a:t>The described process begins with particle exchange. Hungry atoms can incorporate particles; overfull or undigested atoms seek to expel them. Under suitable mutuality, a developing atom integrates the full count required by its constitution. When that requirement is satisfied, the constitution closes and particle count no longer increases or decreases.</a:t>
            </a:r>
          </a:p>
          <a:p>
            <a:r>
              <a:t>The slide shows the before and after. Before sentience, the constitution remains open: particles are absorbed or expelled, molecular and weight bondage continue, and kind, capacity, and qualitative change track particle count. At the sentience threshold, all required particles are integrated. The count becomes fixed, molecular and weight bondage end, and qualitative activity continues. The texts classify that closed unit as sentient *jeevan*.</a:t>
            </a:r>
          </a:p>
          <a:p>
            <a:r>
              <a:t>That separation of qualitative from quantitative change is the stated criterion. MVD adds the visible signs of release from the molecular group, liberation from molecular- and weight-bondage, and establishment in hope-bondage.</a:t>
            </a:r>
          </a:p>
          <a:p>
            <a:r>
              <a:t>The transition to sentience is therefore a claim of reclassification at atomic closure: one atom becomes *jeevan*; a body does not become conscious by becoming more complex. The texts give a process and a criterion, but not an accepted physical measurement of this threshold or a causal explanation of why closure is sentience. We will return to that open bridge under method and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 now turn to human living — movement three.</a:t>
            </a:r>
          </a:p>
          <a:p>
            <a:r>
              <a:t>Animal and human living is a joint form. The sentient unit brings the full set of faculties and activities. The body supplies the species-specific medium.</a:t>
            </a:r>
          </a:p>
          <a:p>
            <a:r>
              <a:t>On one side: the body — living composition, sense organs, the brain (*medhas*), physical expression; decomposable. The brain receives and translates signals; it is the medium, not the knower. On the other: the sentient unit — constitutionally complete; faculties inherent; continuing when the joint form ends.</a:t>
            </a:r>
          </a:p>
          <a:p>
            <a:r>
              <a:t>Animal bodily development limits expression. The human medium can support the full range, while mistaking the body for the self can still misdirect evaluation.</a:t>
            </a:r>
          </a:p>
          <a:p>
            <a:r>
              <a:t>The body gates expression. The sentient unit is seer, doer, and enjoyer through the body. Animal limitation belongs to the medium. Human mis-evaluation belongs to that confusion. The body does not produce sentience, and those two problems are not the same problem.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sentient unit — jeevan — is a constitutionally complete atom.</a:t>
            </a:r>
          </a:p>
          <a:p>
            <a:r>
              <a:t>Structurally, the centre is the core self. Around it: resolve, desire, thought, and hope — the texts’ buddhi, chitta, vritti, and mun.</a:t>
            </a:r>
          </a:p>
          <a:p>
            <a:r>
              <a:t>Each works outward and inward. Hope selects and tastes. Thought analyses and deliberates. Desire visualises and contemplates — and directly apprehends. Resolve resolves and comprehends. The core self authenticates and realises.</a:t>
            </a:r>
          </a:p>
          <a:p>
            <a:r>
              <a:t>Guidance can descend from the core self through the faculties — higher-conformance — or sensory drive can push inward from the body — lower-conformance. Cognisance regulates sensitivity when the higher direction holds.</a:t>
            </a:r>
          </a:p>
          <a:p>
            <a:r>
              <a:t>All five faculties and ten activities belong to the sentient unit. Presence is not the same as expression or effective organisation. Animal bodies limit expression. Humans have the medium for the full range, yet under body-confusion only part of that range may be effectively organised.</a:t>
            </a:r>
          </a:p>
          <a:p>
            <a:r>
              <a:t>Study brings understanding. Practice tests and stabilises it. Practice does not manufacture faculties that were missing.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Happiness, peace, contentment, and bliss are not passing moods, and they are not a fourth milestone after T1, T2, and T3.</a:t>
            </a:r>
          </a:p>
          <a:p>
            <a:r>
              <a:t>They name harmonies within the sentient unit. Happiness: harmony of hope and thought. Peace: thought and desire. Contentment: desire and resolve. Bliss: resolve and the core self.</a:t>
            </a:r>
          </a:p>
          <a:p>
            <a:r>
              <a:t>Now hold all four in view, because they are what the knowledge order is actually after. This is the answer to “what is a human life for?” in this system — and notice that only the first of the four is reachable by sensory living. Happiness, the harmony of hope and thought, an animal can have. Peace, contentment, and bliss it cannot even see.</a:t>
            </a:r>
          </a:p>
          <a:p>
            <a:r>
              <a:t>The living cycle is: reflection feeds projection, and projection feeds deeper reflection — that is what living means here. Continuous happiness is harmony evidenced in resolved living, not a sensory spike.</a:t>
            </a:r>
          </a:p>
          <a:p>
            <a:r>
              <a:t>The next two slides ask how a human being actually gets from the first harmony to the other three.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Every sentient unit bears the same five faculties and the same ten activities. What differs is the medium and what the unit does with it.</a:t>
            </a:r>
          </a:p>
          <a:p>
            <a:r>
              <a:t>Take the animal case first, because it sets up the human one. An animal *jeevan* is complete — it has all five faculties. But its bodily medium is limited, so its activity remains within sensory satisfaction under species-conformance, and it reaches the first harmony and stops. Peace, contentment, and bliss are not failures on its part; they are simply not available through that body.</a:t>
            </a:r>
          </a:p>
          <a:p>
            <a:r>
              <a:t>Now the human case. The human body *can* express all ten activities — that is what the developed nervous system is for. And yet, by default, human *jeevan* goes on evaluating by exactly the same sensory criteria the animal used. The equipment changed; the habit did not. That is the fork this slide names, and it answers one practical question — what makes me happy?</a:t>
            </a:r>
          </a:p>
          <a:p>
            <a:r>
              <a:t>Under confusion, the body is mistaken for the self. Selection and evaluation organise around pleasure, health, and profit.</a:t>
            </a:r>
          </a:p>
          <a:p>
            <a:r>
              <a:t>Under awakening, clear knowing regulates sensory life. Knowing and believing guide recognition and fulfilment toward justice, innateness, truth, and coexistence.</a:t>
            </a:r>
          </a:p>
          <a:p>
            <a:r>
              <a:t>No faculty is missing, and sensation is not rejected. Confusion lets sensory criteria rule; awakening balances sensation with understanding, so understanding guides conduct.</a:t>
            </a:r>
          </a:p>
          <a:p>
            <a:r>
              <a:t>When the same fork is resolved in a person and sustained across a tradition, it shows as resolution, prosperity, fearlessness, and coexistence.</a:t>
            </a:r>
          </a:p>
          <a:p>
            <a:r>
              <a:t>And one thing awakening is *not*: it is not preferring the right things, and it is not having the right insight. The next slide is about why.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So: peace, contentment, bliss. How does a person actually get them?</a:t>
            </a:r>
          </a:p>
          <a:p>
            <a:r>
              <a:t>Let me put the shape of the answer first, because it is the hinge of this whole movement. Below the human order, fulfilment is definite — it needs no deciding. A molecule does not choose. A plant does not deliberate. Even the animal, which has a complete sentient unit, is carried by species-conformance to the fulfilment available through its body. Nothing there has to be *worked out*.</a:t>
            </a:r>
          </a:p>
          <a:p>
            <a:r>
              <a:t>The human order is the one place where complementarity has to be fulfilled *knowingly* — where the higher harmonies are on offer and nothing delivers them automatically. And here is the part people resist: understanding does not deliver them either. Study is necessary. It is not sufficient. You can recognise the higher faculties, grasp the whole account, hold it clearly — and still not have peace, contentment, or bliss, because those are harmonies of the unit in *activity*, and there is no activity in knowing about activity.</a:t>
            </a:r>
          </a:p>
          <a:p>
            <a:r>
              <a:t>What delivers them is performed action — specifically, action that fulfils relationships. Recognise the higher faculties; study until you understand; then act so that what you owe in each relationship is actually fulfilled. That third step is not optional decoration on the first two. It is where the harmony happens.</a:t>
            </a:r>
          </a:p>
          <a:p>
            <a:r>
              <a:t>That is why the text bothers with the anatomy of action at all. *Kriyā* names activity throughout nature; it is not thereby *karma*. Human activity joined to aspiration has five limbs: doer, cause, objective, result, and effect. Effect means the act's reach or consequence — not a separate ledger of destiny. Desire is the aspiration; karma is the doing, activity together with aspiration; result is the fruit. And the text's own criterion: desire, doing, and result must *balance* for the desire to be truly accomplished. Wanting without doing is not accomplishment. Doing that misses the result is not accomplishment either.</a:t>
            </a:r>
          </a:p>
          <a:p>
            <a:r>
              <a:t>So: understanding alone changes nothing. It is the doing that yields the fruit. Book knowledge is half the work — the other half is conduct that fulfils relationships.</a:t>
            </a:r>
          </a:p>
          <a:p>
            <a:r>
              <a:t>Hold this beside the earlier triad of effort, motion, and result. This is the desire-laden human framing of the same activity ontology. The next slides show how desire and doing get reorganised under justice, innateness, and truth.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This slide explains the name Madhyasth — and it cashes a cheque I wrote back on slide 6.</a:t>
            </a:r>
          </a:p>
          <a:p>
            <a:r>
              <a:t>Remember the third of the three terms: surrounded. Regulation is what surroundedness establishes. Because the formless reality stands between units, each is held at a definite distance from the others. Orderliness is self-regulation inherent in saturated units — not dispensed by a cosmic governor. That mediative regulation, which regulates and conserves every unit, gives the darshan its name.</a:t>
            </a:r>
          </a:p>
          <a:p>
            <a:r>
              <a:t>The account works at three levels, and it is worth naming them: Omnipresence is the sustaining condition; within an atom, the nucleus is the mediative organisation that regulates generative and degenerative activity and conserves relative powers; and at larger scales, order-specific conformance is the definite conduct you can actually observe.</a:t>
            </a:r>
          </a:p>
          <a:p>
            <a:r>
              <a:t>Conformance has order-specific modes. Material: structural or result conformance. Bio: seed-conformance. Animal: species-conformance, inherited from gestation. Human: *sanskar*-conformance — achieved through knowing, believing, recognising, and fulfilling, rather than inherited. That last one is why education and tradition matter so much here: they can reproduce confusion just as easily as they can support awakening.</a:t>
            </a:r>
          </a:p>
          <a:p>
            <a:r>
              <a:t>Material, bio, and animal regulation is definite. An animal body’s expressive limits do not introduce evaluative error. In human living, the sentient unit can judge wrongly when it mistakes the body for the self. Awakening aligns evaluation with coexistence. That is why justice becomes necessary at the human order.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Human evaluation widens across six perspectives: pleasant, healthy, profit, justice, innateness or dharma as an evaluative lens, and truth. They move from sensation, body, and gain to relationship, orderliness, and coexistence.</a:t>
            </a:r>
          </a:p>
          <a:p>
            <a:r>
              <a:t>Justice is both one of the six and the principle of fulfilled relationship. Dharma here means fitting the wider pattern — discipline in thought, not only outer conduct. Truth means alignment with the whole, grounded in realisation, not in liking or gain.</a:t>
            </a:r>
          </a:p>
          <a:p>
            <a:r>
              <a:t>The graduated chain is: rule itself is justice; justice itself is dharma; dharma itself is truth; truth itself is coexistence.</a:t>
            </a:r>
          </a:p>
          <a:p>
            <a:r>
              <a:t>Pleasure, health, and profit are not condemned. They remain legitimate in their domain. Awakening changes the organising refuge: they are subordinated under justice, dharma, and truth — not abandoned.</a:t>
            </a:r>
          </a:p>
          <a:p>
            <a:r>
              <a:t>Keep this distinct from unit-innateness earlier. One word, two levels: what a unit cannot be separated from, versus how we evaluate thought and resolution.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 turn now to knowing — how understanding widens, and how it happens in the sentient unit.</a:t>
            </a:r>
          </a:p>
          <a:p>
            <a:r>
              <a:t>On the left: what must be understood as mutual context widens. Form is real structure encountered in mutual facing. Capacities show as effects between units. Essential nature needs state, order, and context. Innateness is evidenced in whole-order fulfilment. Relationships are shared expectations weighed by justice, dharma, and truth. At the top is coexistence itself — not another observed detail, but the aim of knowing.</a:t>
            </a:r>
          </a:p>
          <a:p>
            <a:r>
              <a:t>On the right: how knowing happens within the sentient unit. Hope tastes and selects. Thought deliberates. Desire contemplates and directly apprehends. Resolve comprehends and resolves. The core self realises — through truth. When each level is acted in alignment, it is felt as happiness, peace, contentment, and bliss.</a:t>
            </a:r>
          </a:p>
          <a:p>
            <a:r>
              <a:t>The ladders meet at the top: coexistence known and lived is felt as bliss. Human error belongs to confused evaluation, not to fuzziness in the reality reflected.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This is where the developmental drive comes to rest: realisation in coexistence.</a:t>
            </a:r>
          </a:p>
          <a:p>
            <a:r>
              <a:t>The drive settles when relationships across nature are fulfilled and made evident — not because the ground becomes a knower, but because the awakened sentient unit realises and evidences the coexistence in which it has always existed.</a:t>
            </a:r>
          </a:p>
          <a:p>
            <a:r>
              <a:t>Realisation is bliss. Truth itself is abundance — coexistence; realisation of abundance is bliss; bliss is the living of the sentient unit. What is realised is the ground the unit was always saturated in.</a:t>
            </a:r>
          </a:p>
          <a:p>
            <a:r>
              <a:t>Three roles stay distinct: the sentient unit remains the knower; existence as coexistence remains the known; knowledge becomes evident as authentic conduct. They become coherent without becoming identical. The individual knower is not dissolved into a single universal Self.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drive comes to rest in awakened human beings — effort settled, understanding proven in daily conduct, and carried as a tradition.</a:t>
            </a:r>
          </a:p>
          <a:p>
            <a:r>
              <a:t>Effort settled in realisation is T2. Understanding proven in conduct is T3.</a:t>
            </a:r>
          </a:p>
          <a:p>
            <a:r>
              <a:t>Four goals at four levels: resolution in every person; prosperity in every family; fearlessness — trust — in society; coexistence with all of nature.</a:t>
            </a:r>
          </a:p>
          <a:p>
            <a:r>
              <a:t>Five dimensions of continuity carry the tradition: education and formative culture; justice and preservation; health and restraint; production and work; exchange and storage.</a:t>
            </a:r>
          </a:p>
          <a:p>
            <a:r>
              <a:t>And here is where the other half of the composition slide returns. Families and societies are not a further compositional tier — you cannot get a humane society by stacking bodies the way you stack molecules. They are relational achievements: they persist humanely while relationships are recognised, values fulfilled, evaluation completed, and mutual satisfaction achieved. Fear, force, or extraction can hold a group together for a while; on this account they do not make it an orderly society.</a:t>
            </a:r>
          </a:p>
          <a:p>
            <a:r>
              <a:t>This is not an ideal bolted onto matter. On this account, the progression is designed to arrive here. Nature saturated in Omnipresence is bound for development until realisation. An awakened human tradition is what that progression delivers.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Before the closing summary, I owe you an accounting of what kind of thing each part of this has been.</a:t>
            </a:r>
          </a:p>
          <a:p>
            <a:r>
              <a:t>Different methods establish different things. They can support one another, but they are not interchangeable.</a:t>
            </a:r>
          </a:p>
          <a:p>
            <a:r>
              <a:t>Logical exposition can show internal coherence. It cannot by itself prove empirical fact.</a:t>
            </a:r>
          </a:p>
          <a:p>
            <a:r>
              <a:t>Study and self-examination can show intelligibility and first-person recognition. They cannot by themselves physically identify the sentient unit.</a:t>
            </a:r>
          </a:p>
          <a:p>
            <a:r>
              <a:t>Practice and conduct-evidence can show effects in work, behaviour, and mutual satisfaction. They cannot by themselves measure the sentience threshold or the unit–body interface.</a:t>
            </a:r>
          </a:p>
          <a:p>
            <a:r>
              <a:t>Realisation is this tradition’s claimed completion of knowing. It does not force agreement from other methods.</a:t>
            </a:r>
          </a:p>
          <a:p>
            <a:r>
              <a:t>Publicly measurable physical claims remain answerable to instrument-based science. No accepted measurement currently identifies the sentience threshold, the unit–body interface, or post-body reassociation — the last of those being the claim I flagged on slide 16, that the sentient unit continues when a body ends and may later associate with another. Stating that plainly is part of responsible presentation.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Let us close the loop on the six questions.</a:t>
            </a:r>
          </a:p>
          <a:p>
            <a:r>
              <a:t>What is existence? Eternal coexistence: countless units saturated in all-pervasive Omnipresence.</a:t>
            </a:r>
          </a:p>
          <a:p>
            <a:r>
              <a:t>What exists? Root atomic units; composite units and bodies; body–sentient-unit joint forms; and relational human assemblies — all saturated in the ground.</a:t>
            </a:r>
          </a:p>
          <a:p>
            <a:r>
              <a:t>Does existence begin or end? No. Existence is perpetual. Configurations form, transform, and decompose.</a:t>
            </a:r>
          </a:p>
          <a:p>
            <a:r>
              <a:t>What is the self? The constitutionally complete sentient unit working through the body.</a:t>
            </a:r>
          </a:p>
          <a:p>
            <a:r>
              <a:t>Is the world real? Yes. Units, mutual relationships, and definite material fulfilment are real within perpetual coexistence.</a:t>
            </a:r>
          </a:p>
          <a:p>
            <a:r>
              <a:t>How is it known? Through logical exposition, study and self-examination, practice, realisation, and conduct-evidence — without conflating those with instrument measurement of the sentience threshold. The lived test is evidence in humane conduct.</a:t>
            </a:r>
          </a:p>
          <a:p>
            <a:r>
              <a:t>If we continue later, the natural next step is comparison with other traditions and with science — including open problems this study names for Madhyasth Darshan itself. Thank you.</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39af6634d6344ffc" Type="http://schemas.openxmlformats.org/officeDocument/2006/relationships/slideMaster" Target="../slideMasters/slideMaster1.xml"/></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a675a998e4142c7" Type="http://schemas.openxmlformats.org/officeDocument/2006/relationships/theme" Target="theme/theme2.xml"/><Relationship Id="R2110124672a94979" Type="http://schemas.openxmlformats.org/officeDocument/2006/relationships/slideLayout" Target="../slideLayouts/slideLayout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110124672a94979"/>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a4c884f7fb4646bd" Type="http://schemas.openxmlformats.org/officeDocument/2006/relationships/notesSlide" Target="../notesSlides/notesSlide1.xml"/><Relationship Id="Rc48c09b86270460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639312ecc0064098" Type="http://schemas.openxmlformats.org/officeDocument/2006/relationships/slideLayout" Target="../slideLayouts/slideLayout1.xml"/><Relationship Id="Ref311512898841b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7d244b533a54820" Type="http://schemas.openxmlformats.org/officeDocument/2006/relationships/image" Target="../media/image.png"/><Relationship Id="R0c2e33aaf2334210" Type="http://schemas.openxmlformats.org/officeDocument/2006/relationships/slideLayout" Target="../slideLayouts/slideLayout1.xml"/><Relationship Id="Rce9453802a2f47fc"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bc0a5e069664d65" Type="http://schemas.openxmlformats.org/officeDocument/2006/relationships/notesSlide" Target="../notesSlides/notesSlide4.xml"/><Relationship Id="Raa476ea641584eaa" Type="http://schemas.openxmlformats.org/officeDocument/2006/relationships/image" Target="../media/image2.png"/><Relationship Id="Rdd522fbda5e744fc"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3581139015a3404f" Type="http://schemas.openxmlformats.org/officeDocument/2006/relationships/notesSlide" Target="../notesSlides/notesSlide5.xml"/><Relationship Id="R81ba9c9db3334e2f"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568c85c70f744fe8" Type="http://schemas.openxmlformats.org/officeDocument/2006/relationships/image" Target="../media/image3.png"/><Relationship Id="Ra70e46a0510246ee" Type="http://schemas.openxmlformats.org/officeDocument/2006/relationships/notesSlide" Target="../notesSlides/notesSlide6.xml"/><Relationship Id="Rbeb856ebe720419c" Type="http://schemas.openxmlformats.org/officeDocument/2006/relationships/image" Target="../media/image4.png"/><Relationship Id="Rbf65f7d724a94252" Type="http://schemas.openxmlformats.org/officeDocument/2006/relationships/image" Target="../media/image5.png"/><Relationship Id="Rf31b6820eb624fe9"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526dd5ed2a5140a9" Type="http://schemas.openxmlformats.org/officeDocument/2006/relationships/image" Target="../media/image3.png"/><Relationship Id="R602b62206a6548d3" Type="http://schemas.openxmlformats.org/officeDocument/2006/relationships/notesSlide" Target="../notesSlides/notesSlide7.xml"/><Relationship Id="R835fd9b123634f6b" Type="http://schemas.openxmlformats.org/officeDocument/2006/relationships/image" Target="../media/image5.png"/><Relationship Id="R9680360313af4f98" Type="http://schemas.openxmlformats.org/officeDocument/2006/relationships/slideLayout" Target="../slideLayouts/slideLayout1.xml"/><Relationship Id="Ra44519b4fac24678" Type="http://schemas.openxmlformats.org/officeDocument/2006/relationships/image" Target="../media/image4.png"/></Relationships>
</file>

<file path=ppt/slides/_rels/slide8.xml.rels><?xml version='1.0' encoding='UTF-8' standalone='yes'?>
<Relationships xmlns="http://schemas.openxmlformats.org/package/2006/relationships"><Relationship Id="R20462c360d30410c" Type="http://schemas.openxmlformats.org/officeDocument/2006/relationships/notesSlide" Target="../notesSlides/notesSlide8.xml"/><Relationship Id="R7cf61c14e8514020" Type="http://schemas.openxmlformats.org/officeDocument/2006/relationships/image" Target="../media/image5.png"/><Relationship Id="Rb7a54a25afca4a24" Type="http://schemas.openxmlformats.org/officeDocument/2006/relationships/image" Target="../media/image3.png"/><Relationship Id="Rec4a061207d041be" Type="http://schemas.openxmlformats.org/officeDocument/2006/relationships/image" Target="../media/image4.png"/><Relationship Id="Rf0bb6d6331194a8a"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33a741c826ab4de9" Type="http://schemas.openxmlformats.org/officeDocument/2006/relationships/slideLayout" Target="../slideLayouts/slideLayout1.xml"/><Relationship Id="Ra1c8ff86e7b3443d"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7b4367f368f646cf" Type="http://schemas.openxmlformats.org/officeDocument/2006/relationships/notesSlide" Target="../notesSlides/notesSlide10.xml"/><Relationship Id="Rf1e7f7dcc06c482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9dde87abaa5546aa" Type="http://schemas.openxmlformats.org/officeDocument/2006/relationships/slideLayout" Target="../slideLayouts/slideLayout1.xml"/><Relationship Id="Rcdf3c77371d1455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25bb5e8419cd48fe" Type="http://schemas.openxmlformats.org/officeDocument/2006/relationships/slideLayout" Target="../slideLayouts/slideLayout1.xml"/><Relationship Id="R8723fc1201b04ebb"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5923db76a0cf47cb" Type="http://schemas.openxmlformats.org/officeDocument/2006/relationships/notesSlide" Target="../notesSlides/notesSlide13.xml"/><Relationship Id="Re87b38f6048a458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9c3acadf8d924586" Type="http://schemas.openxmlformats.org/officeDocument/2006/relationships/notesSlide" Target="../notesSlides/notesSlide14.xml"/><Relationship Id="Rf2e1a8089ac240f0"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22451c860fc14619" Type="http://schemas.openxmlformats.org/officeDocument/2006/relationships/notesSlide" Target="../notesSlides/notesSlide15.xml"/><Relationship Id="R4636d8d7ded74b1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ee5fc6975d3645bc" Type="http://schemas.openxmlformats.org/officeDocument/2006/relationships/slideLayout" Target="../slideLayouts/slideLayout1.xml"/><Relationship Id="Rf82e1f1edade42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6f54226ff3d429f" Type="http://schemas.openxmlformats.org/officeDocument/2006/relationships/slideLayout" Target="../slideLayouts/slideLayout1.xml"/><Relationship Id="R67c37f69abef417b"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42657e492fda469b" Type="http://schemas.openxmlformats.org/officeDocument/2006/relationships/slideLayout" Target="../slideLayouts/slideLayout1.xml"/><Relationship Id="R6494a7e3c2b947ff"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0a1a8c6ddb3f4902" Type="http://schemas.openxmlformats.org/officeDocument/2006/relationships/slideLayout" Target="../slideLayouts/slideLayout1.xml"/><Relationship Id="R16e74b9023d94d0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5570854e42a54e5b" Type="http://schemas.openxmlformats.org/officeDocument/2006/relationships/notesSlide" Target="../notesSlides/notesSlide20.xml"/><Relationship Id="R6c4f77c3f15047b3"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019bfd87f98e4298" Type="http://schemas.openxmlformats.org/officeDocument/2006/relationships/notesSlide" Target="../notesSlides/notesSlide21.xml"/><Relationship Id="R1bce6f4b55a348d8"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f57b2c2fb9a14120" Type="http://schemas.openxmlformats.org/officeDocument/2006/relationships/slideLayout" Target="../slideLayouts/slideLayout1.xml"/><Relationship Id="Rfd34e6122473477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0410ea97cd714013" Type="http://schemas.openxmlformats.org/officeDocument/2006/relationships/notesSlide" Target="../notesSlides/notesSlide23.xml"/><Relationship Id="Rc8a1976fb0a44e8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295c70726f3c4580" Type="http://schemas.openxmlformats.org/officeDocument/2006/relationships/notesSlide" Target="../notesSlides/notesSlide24.xml"/><Relationship Id="R8f0861ebc95044fa"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a568bb9feb1c4f7f" Type="http://schemas.openxmlformats.org/officeDocument/2006/relationships/slideLayout" Target="../slideLayouts/slideLayout1.xml"/><Relationship Id="Rf848703c2385477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9daf972afe1144aa" Type="http://schemas.openxmlformats.org/officeDocument/2006/relationships/notesSlide" Target="../notesSlides/notesSlide26.xml"/><Relationship Id="Re5ce04750f724d50"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1f999837042f49cd" Type="http://schemas.openxmlformats.org/officeDocument/2006/relationships/slideLayout" Target="../slideLayouts/slideLayout1.xml"/><Relationship Id="Rf9f09082e3e446c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5dea9b03ed814058" Type="http://schemas.openxmlformats.org/officeDocument/2006/relationships/slideLayout" Target="../slideLayouts/slideLayout1.xml"/><Relationship Id="R89c814a4c56d41cf" Type="http://schemas.openxmlformats.org/officeDocument/2006/relationships/notesSlide" Target="../notesSlides/notesSlide28.xml"/></Relationships>
</file>

<file path=ppt/slides/slide1.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4A09A56-C06A-4DA2-845C-533692C8CBAB}"/>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 name="Google Shape;17;p3">
            <a:extLst xmlns:a="http://schemas.openxmlformats.org/drawingml/2006/main">
              <a:ext uri="{FF2B5EF4-FFF2-40B4-BE49-F238E27FC236}">
                <a16:creationId xmlns:a16="http://schemas.microsoft.com/office/drawing/2014/main" id="{A3B3B8E0-C007-453E-9484-36F06E0A35B0}"/>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 name="Google Shape;18;p3">
            <a:extLst xmlns:a="http://schemas.openxmlformats.org/drawingml/2006/main">
              <a:ext uri="{FF2B5EF4-FFF2-40B4-BE49-F238E27FC236}">
                <a16:creationId xmlns:a16="http://schemas.microsoft.com/office/drawing/2014/main" id="{B4A6DC73-9DD4-429B-836E-5E745E260B3C}"/>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 name="Google Shape;19;p3">
            <a:extLst xmlns:a="http://schemas.openxmlformats.org/drawingml/2006/main">
              <a:ext uri="{FF2B5EF4-FFF2-40B4-BE49-F238E27FC236}">
                <a16:creationId xmlns:a16="http://schemas.microsoft.com/office/drawing/2014/main" id="{B0BD0DFE-9DD6-46B4-B39A-9F4A0F1D31A6}"/>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 name="Google Shape;20;p3">
            <a:extLst xmlns:a="http://schemas.openxmlformats.org/drawingml/2006/main">
              <a:ext uri="{FF2B5EF4-FFF2-40B4-BE49-F238E27FC236}">
                <a16:creationId xmlns:a16="http://schemas.microsoft.com/office/drawing/2014/main" id="{9219F2CE-12E2-48B8-AB73-64455BBD2244}"/>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 name="Google Shape;21;p3">
            <a:extLst xmlns:a="http://schemas.openxmlformats.org/drawingml/2006/main">
              <a:ext uri="{FF2B5EF4-FFF2-40B4-BE49-F238E27FC236}">
                <a16:creationId xmlns:a16="http://schemas.microsoft.com/office/drawing/2014/main" id="{D0EB3553-BDD7-423A-9C51-AA29ECAF64A1}"/>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 name="Google Shape;22;p3">
            <a:extLst xmlns:a="http://schemas.openxmlformats.org/drawingml/2006/main">
              <a:ext uri="{FF2B5EF4-FFF2-40B4-BE49-F238E27FC236}">
                <a16:creationId xmlns:a16="http://schemas.microsoft.com/office/drawing/2014/main" id="{E21ECBEE-405E-4661-9F92-E8EC229F4351}"/>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 name="Google Shape;23;p3">
            <a:extLst xmlns:a="http://schemas.openxmlformats.org/drawingml/2006/main">
              <a:ext uri="{FF2B5EF4-FFF2-40B4-BE49-F238E27FC236}">
                <a16:creationId xmlns:a16="http://schemas.microsoft.com/office/drawing/2014/main" id="{80F686B5-B839-4741-8B8A-BAF484A45156}"/>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 name="Google Shape;24;p3">
            <a:extLst xmlns:a="http://schemas.openxmlformats.org/drawingml/2006/main">
              <a:ext uri="{FF2B5EF4-FFF2-40B4-BE49-F238E27FC236}">
                <a16:creationId xmlns:a16="http://schemas.microsoft.com/office/drawing/2014/main" id="{80984AF5-2DA3-4FAF-A8C0-E7AAD625025C}"/>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 name="Google Shape;25;p3">
            <a:extLst xmlns:a="http://schemas.openxmlformats.org/drawingml/2006/main">
              <a:ext uri="{FF2B5EF4-FFF2-40B4-BE49-F238E27FC236}">
                <a16:creationId xmlns:a16="http://schemas.microsoft.com/office/drawing/2014/main" id="{A3539AB9-47D1-454A-A911-B689860E8D5D}"/>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MADHYASTH DARSHAN  ·  CO-EXISTENTIALISM</a:t>
            </a:r>
          </a:p>
        </p:txBody>
      </p:sp>
      <p:sp>
        <p:nvSpPr>
          <p:cNvPr id="26" name="Google Shape;26;p3">
            <a:extLst xmlns:a="http://schemas.openxmlformats.org/drawingml/2006/main">
              <a:ext uri="{FF2B5EF4-FFF2-40B4-BE49-F238E27FC236}">
                <a16:creationId xmlns:a16="http://schemas.microsoft.com/office/drawing/2014/main" id="{4259BFF1-9363-47E1-A6AB-E6AA2B108E5B}"/>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The Ontology of Existence</a:t>
            </a:r>
          </a:p>
        </p:txBody>
      </p:sp>
      <p:sp>
        <p:nvSpPr>
          <p:cNvPr id="27" name="Google Shape;27;p3">
            <a:extLst xmlns:a="http://schemas.openxmlformats.org/drawingml/2006/main">
              <a:ext uri="{FF2B5EF4-FFF2-40B4-BE49-F238E27FC236}">
                <a16:creationId xmlns:a16="http://schemas.microsoft.com/office/drawing/2014/main" id="{CAE154C3-CDBC-46AC-A25E-B0B4D1C3AFFE}"/>
              </a:ext>
            </a:extLst>
          </p:cNvPr>
          <p:cNvSpPr>
            <a:spLocks xmlns:a="http://schemas.openxmlformats.org/drawingml/2006/main" noGrp="1"/>
          </p:cNvSpPr>
          <p:nvPr/>
        </p:nvSpPr>
        <p:spPr>
          <a:xfrm xmlns:a="http://schemas.openxmlformats.org/drawingml/2006/main">
            <a:off x="640080" y="2880360"/>
            <a:ext cx="484632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Existence understood as coexistence — nature saturated in Omnipresence</a:t>
            </a:r>
          </a:p>
        </p:txBody>
      </p:sp>
      <p:sp>
        <p:nvSpPr>
          <p:cNvPr id="28" name="Google Shape;28;p3">
            <a:extLst xmlns:a="http://schemas.openxmlformats.org/drawingml/2006/main">
              <a:ext uri="{FF2B5EF4-FFF2-40B4-BE49-F238E27FC236}">
                <a16:creationId xmlns:a16="http://schemas.microsoft.com/office/drawing/2014/main" id="{D92F3F00-883E-4EC5-B822-4D33B8064E98}"/>
              </a:ext>
            </a:extLst>
          </p:cNvPr>
          <p:cNvSpPr>
            <a:spLocks xmlns:a="http://schemas.openxmlformats.org/drawingml/2006/main" noGrp="1"/>
          </p:cNvSpPr>
          <p:nvPr/>
        </p:nvSpPr>
        <p:spPr>
          <a:xfrm xmlns:a="http://schemas.openxmlformats.org/drawingml/2006/main">
            <a:off x="640080" y="416052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Based on §1 of </a:t>
            </a:r>
            <a:r>
              <a:rPr sz="1150" b="0" i="1" u="none" cap="none">
                <a:solidFill>
                  <a:srgbClr val="8E9BC4"/>
                </a:solidFill>
                <a:latin typeface="Calibri"/>
                <a:ea typeface="Calibri"/>
                <a:cs typeface="Calibri"/>
              </a:rPr>
              <a:t>The Ontology of Coexistence</a:t>
            </a:r>
            <a:r>
              <a:rPr sz="1150" b="0" i="0" u="none" cap="none">
                <a:solidFill>
                  <a:srgbClr val="8E9BC4"/>
                </a:solidFill>
                <a:latin typeface="Calibri"/>
                <a:ea typeface="Calibri"/>
                <a:cs typeface="Calibri"/>
              </a:rPr>
              <a:t> (AnalyticMadhyasthDarshan.org)</a:t>
            </a:r>
          </a:p>
        </p:txBody>
      </p:sp>
      <p:sp>
        <p:nvSpPr>
          <p:cNvPr id="29" name="Google Shape;29;p3">
            <a:extLst xmlns:a="http://schemas.openxmlformats.org/drawingml/2006/main">
              <a:ext uri="{FF2B5EF4-FFF2-40B4-BE49-F238E27FC236}">
                <a16:creationId xmlns:a16="http://schemas.microsoft.com/office/drawing/2014/main" id="{73567D25-621A-40E3-9A8D-B8ED3CD990BC}"/>
              </a:ext>
            </a:extLst>
          </p:cNvPr>
          <p:cNvSpPr>
            <a:spLocks xmlns:a="http://schemas.openxmlformats.org/drawingml/2006/main" noGrp="1"/>
          </p:cNvSpPr>
          <p:nvPr/>
        </p:nvSpPr>
        <p:spPr>
          <a:xfrm xmlns:a="http://schemas.openxmlformats.org/drawingml/2006/main">
            <a:off x="640080" y="4434840"/>
            <a:ext cx="5303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Primary texts of Shri A. Nagraj — MVD · KD · SB · JV (tr. Rakesh Gupta)</a:t>
            </a:r>
          </a:p>
        </p:txBody>
      </p:sp>
    </p:spTree>
    <p:extLst>
      <p:ext uri="{BB962C8B-B14F-4D97-AF65-F5344CB8AC3E}">
        <p14:creationId xmlns:p14="http://schemas.microsoft.com/office/powerpoint/2010/main" val="2746030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407FB59B-0731-4A56-B8E6-A8B8541F6E4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7A5D4389-AEF0-4FF7-8BFB-3657F16B2E3F}"/>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82B3B729-524D-490A-B013-78C3F9E43A3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2459094A-77C2-49CC-A82C-F47E70C3977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ORIENTATION</a:t>
            </a:r>
          </a:p>
        </p:txBody>
      </p:sp>
      <p:sp>
        <p:nvSpPr>
          <p:cNvPr id="39" name="Google Shape;39;p4">
            <a:extLst xmlns:a="http://schemas.openxmlformats.org/drawingml/2006/main">
              <a:ext uri="{FF2B5EF4-FFF2-40B4-BE49-F238E27FC236}">
                <a16:creationId xmlns:a16="http://schemas.microsoft.com/office/drawing/2014/main" id="{C0E8F0C6-D5F4-4C8B-80DF-D0AB102FD0B2}"/>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Argument in Three Movements</a:t>
            </a:r>
          </a:p>
        </p:txBody>
      </p:sp>
      <p:sp>
        <p:nvSpPr>
          <p:cNvPr id="40" name="Google Shape;40;p4">
            <a:extLst xmlns:a="http://schemas.openxmlformats.org/drawingml/2006/main">
              <a:ext uri="{FF2B5EF4-FFF2-40B4-BE49-F238E27FC236}">
                <a16:creationId xmlns:a16="http://schemas.microsoft.com/office/drawing/2014/main" id="{6EB86215-B35D-46A3-BBEC-975674A3FFEB}"/>
              </a:ext>
            </a:extLst>
          </p:cNvPr>
          <p:cNvSpPr>
            <a:spLocks xmlns:a="http://schemas.openxmlformats.org/drawingml/2006/main" noGrp="1"/>
          </p:cNvSpPr>
          <p:nvPr/>
        </p:nvSpPr>
        <p:spPr>
          <a:xfrm xmlns:a="http://schemas.openxmlformats.org/drawingml/2006/main">
            <a:off x="640080" y="13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1</a:t>
            </a:r>
          </a:p>
        </p:txBody>
      </p:sp>
      <p:sp>
        <p:nvSpPr>
          <p:cNvPr id="42" name="Google Shape;42;p4">
            <a:extLst xmlns:a="http://schemas.openxmlformats.org/drawingml/2006/main">
              <a:ext uri="{FF2B5EF4-FFF2-40B4-BE49-F238E27FC236}">
                <a16:creationId xmlns:a16="http://schemas.microsoft.com/office/drawing/2014/main" id="{A0471FC0-99A0-41F6-B54F-83FC6A43A62D}"/>
              </a:ext>
            </a:extLst>
          </p:cNvPr>
          <p:cNvSpPr>
            <a:spLocks xmlns:a="http://schemas.openxmlformats.org/drawingml/2006/main" noGrp="1"/>
          </p:cNvSpPr>
          <p:nvPr/>
        </p:nvSpPr>
        <p:spPr>
          <a:xfrm xmlns:a="http://schemas.openxmlformats.org/drawingml/2006/main">
            <a:off x="1188720" y="12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real, and how it is ordered  —  coexistence is the bond of an all-pervasive ground and countable units; each definite unit bears form, guna, svabhav, and dharma, whose expression becomes evident in mutuality across four orders. Because no unit can be separated from the ground, existence neither begins nor ends.</a:t>
            </a:r>
          </a:p>
        </p:txBody>
      </p:sp>
      <p:sp>
        <p:nvSpPr>
          <p:cNvPr id="43" name="Google Shape;43;p4">
            <a:extLst xmlns:a="http://schemas.openxmlformats.org/drawingml/2006/main">
              <a:ext uri="{FF2B5EF4-FFF2-40B4-BE49-F238E27FC236}">
                <a16:creationId xmlns:a16="http://schemas.microsoft.com/office/drawing/2014/main" id="{BB717CE8-BFA3-4DC4-B52C-38F268D47F1A}"/>
              </a:ext>
            </a:extLst>
          </p:cNvPr>
          <p:cNvSpPr>
            <a:spLocks xmlns:a="http://schemas.openxmlformats.org/drawingml/2006/main" noGrp="1"/>
          </p:cNvSpPr>
          <p:nvPr/>
        </p:nvSpPr>
        <p:spPr>
          <a:xfrm xmlns:a="http://schemas.openxmlformats.org/drawingml/2006/main">
            <a:off x="640080" y="235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2</a:t>
            </a:r>
          </a:p>
        </p:txBody>
      </p:sp>
      <p:sp>
        <p:nvSpPr>
          <p:cNvPr id="45" name="Google Shape;45;p4">
            <a:extLst xmlns:a="http://schemas.openxmlformats.org/drawingml/2006/main">
              <a:ext uri="{FF2B5EF4-FFF2-40B4-BE49-F238E27FC236}">
                <a16:creationId xmlns:a16="http://schemas.microsoft.com/office/drawing/2014/main" id="{57583903-856B-4342-A7DB-D8B6204C5357}"/>
              </a:ext>
            </a:extLst>
          </p:cNvPr>
          <p:cNvSpPr>
            <a:spLocks xmlns:a="http://schemas.openxmlformats.org/drawingml/2006/main" noGrp="1"/>
          </p:cNvSpPr>
          <p:nvPr/>
        </p:nvSpPr>
        <p:spPr>
          <a:xfrm xmlns:a="http://schemas.openxmlformats.org/drawingml/2006/main">
            <a:off x="1188720" y="231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two developmental lines proceed  —  compositional progression forms larger configurations but never exceeds the order of its constituents, while development in the atom can reach constitutional completeness as sentient jeevan. Every activity is effort–motion–result.</a:t>
            </a:r>
          </a:p>
        </p:txBody>
      </p:sp>
      <p:sp>
        <p:nvSpPr>
          <p:cNvPr id="46" name="Google Shape;46;p4">
            <a:extLst xmlns:a="http://schemas.openxmlformats.org/drawingml/2006/main">
              <a:ext uri="{FF2B5EF4-FFF2-40B4-BE49-F238E27FC236}">
                <a16:creationId xmlns:a16="http://schemas.microsoft.com/office/drawing/2014/main" id="{7A31A1C1-232D-437F-9F09-EB6EDF36DBF9}"/>
              </a:ext>
            </a:extLst>
          </p:cNvPr>
          <p:cNvSpPr>
            <a:spLocks xmlns:a="http://schemas.openxmlformats.org/drawingml/2006/main" noGrp="1"/>
          </p:cNvSpPr>
          <p:nvPr/>
        </p:nvSpPr>
        <p:spPr>
          <a:xfrm xmlns:a="http://schemas.openxmlformats.org/drawingml/2006/main">
            <a:off x="640080" y="340000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FFFFFF"/>
                </a:solidFill>
                <a:latin typeface="Calibri"/>
                <a:ea typeface="Calibri"/>
                <a:cs typeface="Calibri"/>
              </a:rPr>
              <a:t>3</a:t>
            </a:r>
          </a:p>
        </p:txBody>
      </p:sp>
      <p:sp>
        <p:nvSpPr>
          <p:cNvPr id="48" name="Google Shape;48;p4">
            <a:extLst xmlns:a="http://schemas.openxmlformats.org/drawingml/2006/main">
              <a:ext uri="{FF2B5EF4-FFF2-40B4-BE49-F238E27FC236}">
                <a16:creationId xmlns:a16="http://schemas.microsoft.com/office/drawing/2014/main" id="{6099E903-1DDB-4E54-A3AF-ADBD4D936960}"/>
              </a:ext>
            </a:extLst>
          </p:cNvPr>
          <p:cNvSpPr>
            <a:spLocks xmlns:a="http://schemas.openxmlformats.org/drawingml/2006/main" noGrp="1"/>
          </p:cNvSpPr>
          <p:nvPr/>
        </p:nvSpPr>
        <p:spPr>
          <a:xfrm xmlns:a="http://schemas.openxmlformats.org/drawingml/2006/main">
            <a:off x="1188720" y="3363424"/>
            <a:ext cx="7406640" cy="7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sentient living becomes awakened conduct  —  the human joint form, jeevan’s faculties, the four harmonies, and why the higher three are reached only through performed action: evaluation, realisation, and participation in humane order.</a:t>
            </a:r>
          </a:p>
        </p:txBody>
      </p:sp>
      <p:sp>
        <p:nvSpPr>
          <p:cNvPr id="58" name="Google Shape;58;p4">
            <a:extLst xmlns:a="http://schemas.openxmlformats.org/drawingml/2006/main">
              <a:ext uri="{FF2B5EF4-FFF2-40B4-BE49-F238E27FC236}">
                <a16:creationId xmlns:a16="http://schemas.microsoft.com/office/drawing/2014/main" id="{1BA00983-6D0E-4A72-A441-1F23D636A89B}"/>
              </a:ext>
            </a:extLst>
          </p:cNvPr>
          <p:cNvSpPr>
            <a:spLocks xmlns:a="http://schemas.openxmlformats.org/drawingml/2006/main" noGrp="1"/>
          </p:cNvSpPr>
          <p:nvPr/>
        </p:nvSpPr>
        <p:spPr>
          <a:xfrm xmlns:a="http://schemas.openxmlformats.org/drawingml/2006/main">
            <a:off x="1188720" y="4450000"/>
            <a:ext cx="740664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One claim — existence is coexistence — carried through three movements. The body’s compositional line and jeevan’s atomic line meet in animal and human living without becoming the same process.</a:t>
            </a:r>
          </a:p>
        </p:txBody>
      </p:sp>
    </p:spTree>
    <p:extLst>
      <p:ext uri="{BB962C8B-B14F-4D97-AF65-F5344CB8AC3E}">
        <p14:creationId xmlns:p14="http://schemas.microsoft.com/office/powerpoint/2010/main" val="6446782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8FCCB266-5F40-440C-BF26-D18600A574D1}"/>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6" name="Google Shape;36;p4">
            <a:extLst xmlns:a="http://schemas.openxmlformats.org/drawingml/2006/main">
              <a:ext uri="{FF2B5EF4-FFF2-40B4-BE49-F238E27FC236}">
                <a16:creationId xmlns:a16="http://schemas.microsoft.com/office/drawing/2014/main" id="{95DE7DFC-35F1-4422-8047-7D76784C85A6}"/>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 name="Google Shape;37;p4">
            <a:extLst xmlns:a="http://schemas.openxmlformats.org/drawingml/2006/main">
              <a:ext uri="{FF2B5EF4-FFF2-40B4-BE49-F238E27FC236}">
                <a16:creationId xmlns:a16="http://schemas.microsoft.com/office/drawing/2014/main" id="{64EBE0E3-0739-41BD-9183-9130958E8821}"/>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 name="Google Shape;38;p4">
            <a:extLst xmlns:a="http://schemas.openxmlformats.org/drawingml/2006/main">
              <a:ext uri="{FF2B5EF4-FFF2-40B4-BE49-F238E27FC236}">
                <a16:creationId xmlns:a16="http://schemas.microsoft.com/office/drawing/2014/main" id="{66B2D2AE-D123-43B5-B043-91CB3C41450F}"/>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FRAMING</a:t>
            </a:r>
          </a:p>
        </p:txBody>
      </p:sp>
      <p:sp>
        <p:nvSpPr>
          <p:cNvPr id="39" name="Google Shape;39;p4">
            <a:extLst xmlns:a="http://schemas.openxmlformats.org/drawingml/2006/main">
              <a:ext uri="{FF2B5EF4-FFF2-40B4-BE49-F238E27FC236}">
                <a16:creationId xmlns:a16="http://schemas.microsoft.com/office/drawing/2014/main" id="{4E7EAFE0-2838-4A32-8F3F-767921EF30F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Questions Ontology Must Answer</a:t>
            </a:r>
          </a:p>
        </p:txBody>
      </p:sp>
      <p:sp>
        <p:nvSpPr>
          <p:cNvPr id="40" name="Google Shape;40;p4">
            <a:extLst xmlns:a="http://schemas.openxmlformats.org/drawingml/2006/main">
              <a:ext uri="{FF2B5EF4-FFF2-40B4-BE49-F238E27FC236}">
                <a16:creationId xmlns:a16="http://schemas.microsoft.com/office/drawing/2014/main" id="{9D78BA76-8420-442B-A4F2-E3B5D8E34AEC}"/>
              </a:ext>
            </a:extLst>
          </p:cNvPr>
          <p:cNvSpPr>
            <a:spLocks xmlns:a="http://schemas.openxmlformats.org/drawingml/2006/main" noGrp="1"/>
          </p:cNvSpPr>
          <p:nvPr/>
        </p:nvSpPr>
        <p:spPr>
          <a:xfrm xmlns:a="http://schemas.openxmlformats.org/drawingml/2006/main">
            <a:off x="640080" y="122529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1" name="Google Shape;41;p4"/>
          <p:cNvPicPr>
            <a:picLocks xmlns:a="http://schemas.openxmlformats.org/drawingml/2006/main" noChangeAspect="1"/>
          </p:cNvPicPr>
          <p:nvPr/>
        </p:nvPicPr>
        <p:blipFill rotWithShape="1">
          <a:blip xmlns:r="http://schemas.openxmlformats.org/officeDocument/2006/relationships" xmlns:a="http://schemas.openxmlformats.org/drawingml/2006/main" r:embed="R07d244b533a54820">
            <a:alphaModFix/>
          </a:blip>
          <a:srcRect xmlns:a="http://schemas.openxmlformats.org/drawingml/2006/main" l="0" t="0" r="0" b="0"/>
          <a:stretch xmlns:a="http://schemas.openxmlformats.org/drawingml/2006/main"/>
        </p:blipFill>
        <p:spPr>
          <a:xfrm xmlns:a="http://schemas.openxmlformats.org/drawingml/2006/main">
            <a:off x="735178" y="1320394"/>
            <a:ext cx="175565" cy="175565"/>
          </a:xfrm>
          <a:prstGeom xmlns:a="http://schemas.openxmlformats.org/drawingml/2006/main" prst="rect">
            <a:avLst/>
          </a:prstGeom>
          <a:ln xmlns:a="http://schemas.openxmlformats.org/drawingml/2006/main">
            <a:noFill/>
          </a:ln>
        </p:spPr>
      </p:pic>
      <p:sp>
        <p:nvSpPr>
          <p:cNvPr id="42" name="Google Shape;42;p4">
            <a:extLst xmlns:a="http://schemas.openxmlformats.org/drawingml/2006/main">
              <a:ext uri="{FF2B5EF4-FFF2-40B4-BE49-F238E27FC236}">
                <a16:creationId xmlns:a16="http://schemas.microsoft.com/office/drawing/2014/main" id="{29D47B3C-2046-4A1E-AB81-7E472FEF3DF1}"/>
              </a:ext>
            </a:extLst>
          </p:cNvPr>
          <p:cNvSpPr>
            <a:spLocks xmlns:a="http://schemas.openxmlformats.org/drawingml/2006/main" noGrp="1"/>
          </p:cNvSpPr>
          <p:nvPr/>
        </p:nvSpPr>
        <p:spPr>
          <a:xfrm xmlns:a="http://schemas.openxmlformats.org/drawingml/2006/main">
            <a:off x="1188720" y="118872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is Existence?  —  </a:t>
            </a:r>
            <a:r>
              <a:rPr sz="1300" b="0" i="0" u="none" cap="none">
                <a:solidFill>
                  <a:srgbClr val="5A6377"/>
                </a:solidFill>
                <a:latin typeface="Calibri"/>
                <a:ea typeface="Calibri"/>
                <a:cs typeface="Calibri"/>
              </a:rPr>
              <a:t>Is there one fundamental reality, or many — and how are they related?</a:t>
            </a:r>
          </a:p>
        </p:txBody>
      </p:sp>
      <p:sp>
        <p:nvSpPr>
          <p:cNvPr id="43" name="Google Shape;43;p4">
            <a:extLst xmlns:a="http://schemas.openxmlformats.org/drawingml/2006/main">
              <a:ext uri="{FF2B5EF4-FFF2-40B4-BE49-F238E27FC236}">
                <a16:creationId xmlns:a16="http://schemas.microsoft.com/office/drawing/2014/main" id="{AA41F947-8974-42FA-960E-787E9A0814E7}"/>
              </a:ext>
            </a:extLst>
          </p:cNvPr>
          <p:cNvSpPr>
            <a:spLocks xmlns:a="http://schemas.openxmlformats.org/drawingml/2006/main" noGrp="1"/>
          </p:cNvSpPr>
          <p:nvPr/>
        </p:nvSpPr>
        <p:spPr>
          <a:xfrm xmlns:a="http://schemas.openxmlformats.org/drawingml/2006/main">
            <a:off x="640080" y="1792224"/>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4" name="Google Shape;44;p4"/>
          <p:cNvPicPr>
            <a:picLocks xmlns:a="http://schemas.openxmlformats.org/drawingml/2006/main" noChangeAspect="1"/>
          </p:cNvPicPr>
          <p:nvPr/>
        </p:nvPicPr>
        <p:blipFill rotWithShape="1">
          <a:blip xmlns:r="http://schemas.openxmlformats.org/officeDocument/2006/relationships" xmlns:a="http://schemas.openxmlformats.org/drawingml/2006/main" r:embed="R07d244b533a54820">
            <a:alphaModFix/>
          </a:blip>
          <a:srcRect xmlns:a="http://schemas.openxmlformats.org/drawingml/2006/main" l="0" t="0" r="0" b="0"/>
          <a:stretch xmlns:a="http://schemas.openxmlformats.org/drawingml/2006/main"/>
        </p:blipFill>
        <p:spPr>
          <a:xfrm xmlns:a="http://schemas.openxmlformats.org/drawingml/2006/main">
            <a:off x="735178" y="1887322"/>
            <a:ext cx="175565" cy="175565"/>
          </a:xfrm>
          <a:prstGeom xmlns:a="http://schemas.openxmlformats.org/drawingml/2006/main" prst="rect">
            <a:avLst/>
          </a:prstGeom>
          <a:ln xmlns:a="http://schemas.openxmlformats.org/drawingml/2006/main">
            <a:noFill/>
          </a:ln>
        </p:spPr>
      </p:pic>
      <p:sp>
        <p:nvSpPr>
          <p:cNvPr id="45" name="Google Shape;45;p4">
            <a:extLst xmlns:a="http://schemas.openxmlformats.org/drawingml/2006/main">
              <a:ext uri="{FF2B5EF4-FFF2-40B4-BE49-F238E27FC236}">
                <a16:creationId xmlns:a16="http://schemas.microsoft.com/office/drawing/2014/main" id="{061AC35B-7F8C-4BC9-B5F1-0CDD9C404D01}"/>
              </a:ext>
            </a:extLst>
          </p:cNvPr>
          <p:cNvSpPr>
            <a:spLocks xmlns:a="http://schemas.openxmlformats.org/drawingml/2006/main" noGrp="1"/>
          </p:cNvSpPr>
          <p:nvPr/>
        </p:nvSpPr>
        <p:spPr>
          <a:xfrm xmlns:a="http://schemas.openxmlformats.org/drawingml/2006/main">
            <a:off x="1188720" y="1755648"/>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What exists?  —  </a:t>
            </a:r>
            <a:r>
              <a:rPr sz="1300" b="0" i="0" u="none" cap="none">
                <a:solidFill>
                  <a:srgbClr val="5A6377"/>
                </a:solidFill>
                <a:latin typeface="Calibri"/>
                <a:ea typeface="Calibri"/>
                <a:cs typeface="Calibri"/>
              </a:rPr>
              <a:t>What are the basic constituents of reality, and what is each of them?</a:t>
            </a:r>
          </a:p>
        </p:txBody>
      </p:sp>
      <p:sp>
        <p:nvSpPr>
          <p:cNvPr id="46" name="Google Shape;46;p4">
            <a:extLst xmlns:a="http://schemas.openxmlformats.org/drawingml/2006/main">
              <a:ext uri="{FF2B5EF4-FFF2-40B4-BE49-F238E27FC236}">
                <a16:creationId xmlns:a16="http://schemas.microsoft.com/office/drawing/2014/main" id="{CDA87209-7084-4EBB-8BD0-52666EDF744C}"/>
              </a:ext>
            </a:extLst>
          </p:cNvPr>
          <p:cNvSpPr>
            <a:spLocks xmlns:a="http://schemas.openxmlformats.org/drawingml/2006/main" noGrp="1"/>
          </p:cNvSpPr>
          <p:nvPr/>
        </p:nvSpPr>
        <p:spPr>
          <a:xfrm xmlns:a="http://schemas.openxmlformats.org/drawingml/2006/main">
            <a:off x="640080" y="2359152"/>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77" name="Google Shape;47;p4"/>
          <p:cNvPicPr>
            <a:picLocks xmlns:a="http://schemas.openxmlformats.org/drawingml/2006/main" noChangeAspect="1"/>
          </p:cNvPicPr>
          <p:nvPr/>
        </p:nvPicPr>
        <p:blipFill rotWithShape="1">
          <a:blip xmlns:r="http://schemas.openxmlformats.org/officeDocument/2006/relationships" xmlns:a="http://schemas.openxmlformats.org/drawingml/2006/main" r:embed="R07d244b533a54820">
            <a:alphaModFix/>
          </a:blip>
          <a:srcRect xmlns:a="http://schemas.openxmlformats.org/drawingml/2006/main" l="0" t="0" r="0" b="0"/>
          <a:stretch xmlns:a="http://schemas.openxmlformats.org/drawingml/2006/main"/>
        </p:blipFill>
        <p:spPr>
          <a:xfrm xmlns:a="http://schemas.openxmlformats.org/drawingml/2006/main">
            <a:off x="735178" y="2454250"/>
            <a:ext cx="175565" cy="175565"/>
          </a:xfrm>
          <a:prstGeom xmlns:a="http://schemas.openxmlformats.org/drawingml/2006/main" prst="rect">
            <a:avLst/>
          </a:prstGeom>
          <a:ln xmlns:a="http://schemas.openxmlformats.org/drawingml/2006/main">
            <a:noFill/>
          </a:ln>
        </p:spPr>
      </p:pic>
      <p:sp>
        <p:nvSpPr>
          <p:cNvPr id="48" name="Google Shape;48;p4">
            <a:extLst xmlns:a="http://schemas.openxmlformats.org/drawingml/2006/main">
              <a:ext uri="{FF2B5EF4-FFF2-40B4-BE49-F238E27FC236}">
                <a16:creationId xmlns:a16="http://schemas.microsoft.com/office/drawing/2014/main" id="{91B6C431-D004-41A0-9A53-95F861AFE29B}"/>
              </a:ext>
            </a:extLst>
          </p:cNvPr>
          <p:cNvSpPr>
            <a:spLocks xmlns:a="http://schemas.openxmlformats.org/drawingml/2006/main" noGrp="1"/>
          </p:cNvSpPr>
          <p:nvPr/>
        </p:nvSpPr>
        <p:spPr>
          <a:xfrm xmlns:a="http://schemas.openxmlformats.org/drawingml/2006/main">
            <a:off x="1188720" y="2322576"/>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Does what exists begin?  —  </a:t>
            </a:r>
            <a:r>
              <a:rPr sz="1300" b="0" i="0" u="none" cap="none">
                <a:solidFill>
                  <a:srgbClr val="5A6377"/>
                </a:solidFill>
                <a:latin typeface="Calibri"/>
                <a:ea typeface="Calibri"/>
                <a:cs typeface="Calibri"/>
              </a:rPr>
              <a:t>Did reality originate at some time — or is origination only of configurations?</a:t>
            </a:r>
          </a:p>
        </p:txBody>
      </p:sp>
      <p:sp>
        <p:nvSpPr>
          <p:cNvPr id="49" name="Google Shape;49;p4">
            <a:extLst xmlns:a="http://schemas.openxmlformats.org/drawingml/2006/main">
              <a:ext uri="{FF2B5EF4-FFF2-40B4-BE49-F238E27FC236}">
                <a16:creationId xmlns:a16="http://schemas.microsoft.com/office/drawing/2014/main" id="{ED32D590-8DE8-4C5F-9DB7-133CF6872C0E}"/>
              </a:ext>
            </a:extLst>
          </p:cNvPr>
          <p:cNvSpPr>
            <a:spLocks xmlns:a="http://schemas.openxmlformats.org/drawingml/2006/main" noGrp="1"/>
          </p:cNvSpPr>
          <p:nvPr/>
        </p:nvSpPr>
        <p:spPr>
          <a:xfrm xmlns:a="http://schemas.openxmlformats.org/drawingml/2006/main">
            <a:off x="640080" y="2926080"/>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0" name="Google Shape;50;p4"/>
          <p:cNvPicPr>
            <a:picLocks xmlns:a="http://schemas.openxmlformats.org/drawingml/2006/main" noChangeAspect="1"/>
          </p:cNvPicPr>
          <p:nvPr/>
        </p:nvPicPr>
        <p:blipFill rotWithShape="1">
          <a:blip xmlns:r="http://schemas.openxmlformats.org/officeDocument/2006/relationships" xmlns:a="http://schemas.openxmlformats.org/drawingml/2006/main" r:embed="R07d244b533a54820">
            <a:alphaModFix/>
          </a:blip>
          <a:srcRect xmlns:a="http://schemas.openxmlformats.org/drawingml/2006/main" l="0" t="0" r="0" b="0"/>
          <a:stretch xmlns:a="http://schemas.openxmlformats.org/drawingml/2006/main"/>
        </p:blipFill>
        <p:spPr>
          <a:xfrm xmlns:a="http://schemas.openxmlformats.org/drawingml/2006/main">
            <a:off x="735178" y="3021178"/>
            <a:ext cx="175565" cy="175565"/>
          </a:xfrm>
          <a:prstGeom xmlns:a="http://schemas.openxmlformats.org/drawingml/2006/main" prst="rect">
            <a:avLst/>
          </a:prstGeom>
          <a:ln xmlns:a="http://schemas.openxmlformats.org/drawingml/2006/main">
            <a:noFill/>
          </a:ln>
        </p:spPr>
      </p:pic>
      <p:sp>
        <p:nvSpPr>
          <p:cNvPr id="51" name="Google Shape;51;p4">
            <a:extLst xmlns:a="http://schemas.openxmlformats.org/drawingml/2006/main">
              <a:ext uri="{FF2B5EF4-FFF2-40B4-BE49-F238E27FC236}">
                <a16:creationId xmlns:a16="http://schemas.microsoft.com/office/drawing/2014/main" id="{9D8201F8-92DE-4893-8387-B7A31B4880B6}"/>
              </a:ext>
            </a:extLst>
          </p:cNvPr>
          <p:cNvSpPr>
            <a:spLocks xmlns:a="http://schemas.openxmlformats.org/drawingml/2006/main" noGrp="1"/>
          </p:cNvSpPr>
          <p:nvPr/>
        </p:nvSpPr>
        <p:spPr>
          <a:xfrm xmlns:a="http://schemas.openxmlformats.org/drawingml/2006/main">
            <a:off x="1188720" y="2889504"/>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Does the self begin or end with the body?  —  </a:t>
            </a:r>
            <a:r>
              <a:rPr sz="1300" b="0" i="0" u="none" cap="none">
                <a:solidFill>
                  <a:srgbClr val="5A6377"/>
                </a:solidFill>
                <a:latin typeface="Calibri"/>
                <a:ea typeface="Calibri"/>
                <a:cs typeface="Calibri"/>
              </a:rPr>
              <a:t>Is the individual self (jeevan) produced by the body and destroyed with it?</a:t>
            </a:r>
          </a:p>
        </p:txBody>
      </p:sp>
      <p:sp>
        <p:nvSpPr>
          <p:cNvPr id="52" name="Google Shape;52;p4">
            <a:extLst xmlns:a="http://schemas.openxmlformats.org/drawingml/2006/main">
              <a:ext uri="{FF2B5EF4-FFF2-40B4-BE49-F238E27FC236}">
                <a16:creationId xmlns:a16="http://schemas.microsoft.com/office/drawing/2014/main" id="{FDDD7230-CA75-41A7-B897-DDFE7F3D7704}"/>
              </a:ext>
            </a:extLst>
          </p:cNvPr>
          <p:cNvSpPr>
            <a:spLocks xmlns:a="http://schemas.openxmlformats.org/drawingml/2006/main" noGrp="1"/>
          </p:cNvSpPr>
          <p:nvPr/>
        </p:nvSpPr>
        <p:spPr>
          <a:xfrm xmlns:a="http://schemas.openxmlformats.org/drawingml/2006/main">
            <a:off x="640080" y="3493008"/>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3" name="Google Shape;53;p4"/>
          <p:cNvPicPr>
            <a:picLocks xmlns:a="http://schemas.openxmlformats.org/drawingml/2006/main" noChangeAspect="1"/>
          </p:cNvPicPr>
          <p:nvPr/>
        </p:nvPicPr>
        <p:blipFill rotWithShape="1">
          <a:blip xmlns:r="http://schemas.openxmlformats.org/officeDocument/2006/relationships" xmlns:a="http://schemas.openxmlformats.org/drawingml/2006/main" r:embed="R07d244b533a54820">
            <a:alphaModFix/>
          </a:blip>
          <a:srcRect xmlns:a="http://schemas.openxmlformats.org/drawingml/2006/main" l="0" t="0" r="0" b="0"/>
          <a:stretch xmlns:a="http://schemas.openxmlformats.org/drawingml/2006/main"/>
        </p:blipFill>
        <p:spPr>
          <a:xfrm xmlns:a="http://schemas.openxmlformats.org/drawingml/2006/main">
            <a:off x="735178" y="3588106"/>
            <a:ext cx="175565" cy="175565"/>
          </a:xfrm>
          <a:prstGeom xmlns:a="http://schemas.openxmlformats.org/drawingml/2006/main" prst="rect">
            <a:avLst/>
          </a:prstGeom>
          <a:ln xmlns:a="http://schemas.openxmlformats.org/drawingml/2006/main">
            <a:noFill/>
          </a:ln>
        </p:spPr>
      </p:pic>
      <p:sp>
        <p:nvSpPr>
          <p:cNvPr id="54" name="Google Shape;54;p4">
            <a:extLst xmlns:a="http://schemas.openxmlformats.org/drawingml/2006/main">
              <a:ext uri="{FF2B5EF4-FFF2-40B4-BE49-F238E27FC236}">
                <a16:creationId xmlns:a16="http://schemas.microsoft.com/office/drawing/2014/main" id="{2AB4FEC0-77A6-4437-8E46-6AF495E78A17}"/>
              </a:ext>
            </a:extLst>
          </p:cNvPr>
          <p:cNvSpPr>
            <a:spLocks xmlns:a="http://schemas.openxmlformats.org/drawingml/2006/main" noGrp="1"/>
          </p:cNvSpPr>
          <p:nvPr/>
        </p:nvSpPr>
        <p:spPr>
          <a:xfrm xmlns:a="http://schemas.openxmlformats.org/drawingml/2006/main">
            <a:off x="1188720" y="3456432"/>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Is the world finally real?  —  </a:t>
            </a:r>
            <a:r>
              <a:rPr sz="1300" b="0" i="0" u="none" cap="none">
                <a:solidFill>
                  <a:srgbClr val="5A6377"/>
                </a:solidFill>
                <a:latin typeface="Calibri"/>
                <a:ea typeface="Calibri"/>
                <a:cs typeface="Calibri"/>
              </a:rPr>
              <a:t>Is the plural world of units an appearance, or real in its own right?</a:t>
            </a:r>
          </a:p>
        </p:txBody>
      </p:sp>
      <p:sp>
        <p:nvSpPr>
          <p:cNvPr id="55" name="Google Shape;55;p4">
            <a:extLst xmlns:a="http://schemas.openxmlformats.org/drawingml/2006/main">
              <a:ext uri="{FF2B5EF4-FFF2-40B4-BE49-F238E27FC236}">
                <a16:creationId xmlns:a16="http://schemas.microsoft.com/office/drawing/2014/main" id="{956BA3BE-2185-4167-87CC-EDA80D2FE614}"/>
              </a:ext>
            </a:extLst>
          </p:cNvPr>
          <p:cNvSpPr>
            <a:spLocks xmlns:a="http://schemas.openxmlformats.org/drawingml/2006/main" noGrp="1"/>
          </p:cNvSpPr>
          <p:nvPr/>
        </p:nvSpPr>
        <p:spPr>
          <a:xfrm xmlns:a="http://schemas.openxmlformats.org/drawingml/2006/main">
            <a:off x="640080" y="4059936"/>
            <a:ext cx="365760" cy="36576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86" name="Google Shape;56;p4"/>
          <p:cNvPicPr>
            <a:picLocks xmlns:a="http://schemas.openxmlformats.org/drawingml/2006/main" noChangeAspect="1"/>
          </p:cNvPicPr>
          <p:nvPr/>
        </p:nvPicPr>
        <p:blipFill rotWithShape="1">
          <a:blip xmlns:r="http://schemas.openxmlformats.org/officeDocument/2006/relationships" xmlns:a="http://schemas.openxmlformats.org/drawingml/2006/main" r:embed="R07d244b533a54820">
            <a:alphaModFix/>
          </a:blip>
          <a:srcRect xmlns:a="http://schemas.openxmlformats.org/drawingml/2006/main" l="0" t="0" r="0" b="0"/>
          <a:stretch xmlns:a="http://schemas.openxmlformats.org/drawingml/2006/main"/>
        </p:blipFill>
        <p:spPr>
          <a:xfrm xmlns:a="http://schemas.openxmlformats.org/drawingml/2006/main">
            <a:off x="735178" y="4155034"/>
            <a:ext cx="175565" cy="175565"/>
          </a:xfrm>
          <a:prstGeom xmlns:a="http://schemas.openxmlformats.org/drawingml/2006/main" prst="rect">
            <a:avLst/>
          </a:prstGeom>
          <a:ln xmlns:a="http://schemas.openxmlformats.org/drawingml/2006/main">
            <a:noFill/>
          </a:ln>
        </p:spPr>
      </p:pic>
      <p:sp>
        <p:nvSpPr>
          <p:cNvPr id="57" name="Google Shape;57;p4">
            <a:extLst xmlns:a="http://schemas.openxmlformats.org/drawingml/2006/main">
              <a:ext uri="{FF2B5EF4-FFF2-40B4-BE49-F238E27FC236}">
                <a16:creationId xmlns:a16="http://schemas.microsoft.com/office/drawing/2014/main" id="{5CDA41BD-579D-4DA4-8E39-03E520FBD973}"/>
              </a:ext>
            </a:extLst>
          </p:cNvPr>
          <p:cNvSpPr>
            <a:spLocks xmlns:a="http://schemas.openxmlformats.org/drawingml/2006/main" noGrp="1"/>
          </p:cNvSpPr>
          <p:nvPr/>
        </p:nvSpPr>
        <p:spPr>
          <a:xfrm xmlns:a="http://schemas.openxmlformats.org/drawingml/2006/main">
            <a:off x="1188720" y="402336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libri"/>
                <a:ea typeface="Calibri"/>
                <a:cs typeface="Calibri"/>
              </a:rPr>
              <a:t>How can what exists be known?  —  </a:t>
            </a:r>
            <a:r>
              <a:rPr sz="1300" b="0" i="0" u="none" cap="none">
                <a:solidFill>
                  <a:srgbClr val="5A6377"/>
                </a:solidFill>
                <a:latin typeface="Calibri"/>
                <a:ea typeface="Calibri"/>
                <a:cs typeface="Calibri"/>
              </a:rPr>
              <a:t>What must be understood — and at what scope — to know each aspect of reality?</a:t>
            </a:r>
          </a:p>
        </p:txBody>
      </p:sp>
      <p:sp>
        <p:nvSpPr>
          <p:cNvPr id="58" name="Google Shape;58;p4">
            <a:extLst xmlns:a="http://schemas.openxmlformats.org/drawingml/2006/main">
              <a:ext uri="{FF2B5EF4-FFF2-40B4-BE49-F238E27FC236}">
                <a16:creationId xmlns:a16="http://schemas.microsoft.com/office/drawing/2014/main" id="{6716F592-DC15-482D-9756-E73A8E09F557}"/>
              </a:ext>
            </a:extLst>
          </p:cNvPr>
          <p:cNvSpPr>
            <a:spLocks xmlns:a="http://schemas.openxmlformats.org/drawingml/2006/main" noGrp="1"/>
          </p:cNvSpPr>
          <p:nvPr/>
        </p:nvSpPr>
        <p:spPr>
          <a:xfrm xmlns:a="http://schemas.openxmlformats.org/drawingml/2006/main">
            <a:off x="1188720" y="4645152"/>
            <a:ext cx="7406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1" u="none" cap="none">
                <a:solidFill>
                  <a:srgbClr val="9A6414"/>
                </a:solidFill>
                <a:latin typeface="Calibri"/>
                <a:ea typeface="Calibri"/>
                <a:cs typeface="Calibri"/>
              </a:rPr>
              <a:t>Madhyasth Darshan answers each from a single starting point: existence is coexistence.</a:t>
            </a:r>
          </a:p>
        </p:txBody>
      </p:sp>
    </p:spTree>
    <p:extLst>
      <p:ext uri="{BB962C8B-B14F-4D97-AF65-F5344CB8AC3E}">
        <p14:creationId xmlns:p14="http://schemas.microsoft.com/office/powerpoint/2010/main" val="8033659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 name="Google Shape;189;p9">
            <a:extLst xmlns:a="http://schemas.openxmlformats.org/drawingml/2006/main">
              <a:ext uri="{FF2B5EF4-FFF2-40B4-BE49-F238E27FC236}">
                <a16:creationId xmlns:a16="http://schemas.microsoft.com/office/drawing/2014/main" id="{78BE2FDB-9993-4B89-879D-9F6E842BD146}"/>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0" name="Google Shape;190;p9">
            <a:extLst xmlns:a="http://schemas.openxmlformats.org/drawingml/2006/main">
              <a:ext uri="{FF2B5EF4-FFF2-40B4-BE49-F238E27FC236}">
                <a16:creationId xmlns:a16="http://schemas.microsoft.com/office/drawing/2014/main" id="{D486CE71-65E4-4998-B4FB-7953C76974E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1" name="Google Shape;191;p9">
            <a:extLst xmlns:a="http://schemas.openxmlformats.org/drawingml/2006/main">
              <a:ext uri="{FF2B5EF4-FFF2-40B4-BE49-F238E27FC236}">
                <a16:creationId xmlns:a16="http://schemas.microsoft.com/office/drawing/2014/main" id="{2D843C0E-0F2C-4F09-88EC-0FE70B332F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2" name="Google Shape;192;p9">
            <a:extLst xmlns:a="http://schemas.openxmlformats.org/drawingml/2006/main">
              <a:ext uri="{FF2B5EF4-FFF2-40B4-BE49-F238E27FC236}">
                <a16:creationId xmlns:a16="http://schemas.microsoft.com/office/drawing/2014/main" id="{7A562A57-A093-41DC-90A9-28722A21F2B0}"/>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
            </a:r>
          </a:p>
        </p:txBody>
      </p:sp>
      <p:sp>
        <p:nvSpPr>
          <p:cNvPr id="193" name="Google Shape;193;p9">
            <a:extLst xmlns:a="http://schemas.openxmlformats.org/drawingml/2006/main">
              <a:ext uri="{FF2B5EF4-FFF2-40B4-BE49-F238E27FC236}">
                <a16:creationId xmlns:a16="http://schemas.microsoft.com/office/drawing/2014/main" id="{E5CCBD08-FCA8-4F44-9B7F-A0AD7F3F647D}"/>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
            </a:r>
          </a:p>
        </p:txBody>
      </p:sp>
      <p:sp>
        <p:nvSpPr>
          <p:cNvPr id="196" name="Google Shape;196;p9">
            <a:extLst xmlns:a="http://schemas.openxmlformats.org/drawingml/2006/main">
              <a:ext uri="{FF2B5EF4-FFF2-40B4-BE49-F238E27FC236}">
                <a16:creationId xmlns:a16="http://schemas.microsoft.com/office/drawing/2014/main" id="{CBCFED84-4AED-4439-8BAD-7BC63416C034}"/>
              </a:ext>
            </a:extLst>
          </p:cNvPr>
          <p:cNvSpPr>
            <a:spLocks xmlns:a="http://schemas.openxmlformats.org/drawingml/2006/main" noGrp="1"/>
          </p:cNvSpPr>
          <p:nvPr/>
        </p:nvSpPr>
        <p:spPr>
          <a:xfrm xmlns:a="http://schemas.openxmlformats.org/drawingml/2006/main">
            <a:off x="868680" y="4069080"/>
            <a:ext cx="7406640" cy="6583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9A6414"/>
                </a:solidFill>
                <a:latin typeface="Calibri"/>
                <a:ea typeface="Calibri"/>
                <a:cs typeface="Calibri"/>
              </a:rPr>
              <a:t/>
            </a:r>
          </a:p>
        </p:txBody>
      </p:sp>
      <p:sp>
        <p:nvSpPr>
          <p:cNvPr id="197" name="Google Shape;197;p9">
            <a:extLst xmlns:a="http://schemas.openxmlformats.org/drawingml/2006/main">
              <a:ext uri="{FF2B5EF4-FFF2-40B4-BE49-F238E27FC236}">
                <a16:creationId xmlns:a16="http://schemas.microsoft.com/office/drawing/2014/main" id="{07F388A9-2EE4-4AC8-BEF3-C1967A5BA32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Conceptual map of §1 — a reference for the whole session; we return to it as each part is built  ·  Primary pointers: MVD, KD, SB, JV</a:t>
            </a: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aa476ea641584eaa"/>
          <a:stretch xmlns:a="http://schemas.openxmlformats.org/drawingml/2006/main"/>
        </p:blipFill>
        <p:spPr>
          <a:xfrm xmlns:a="http://schemas.openxmlformats.org/drawingml/2006/main" flipH="0" flipV="0">
            <a:off x="1429494" y="0"/>
            <a:ext cx="6285012" cy="4905375"/>
          </a:xfrm>
          <a:prstGeom xmlns:a="http://schemas.openxmlformats.org/drawingml/2006/main" prst="rect">
            <a:avLst/>
          </a:prstGeom>
        </p:spPr>
      </p:pic>
    </p:spTree>
    <p:extLst>
      <p:ext uri="{BB962C8B-B14F-4D97-AF65-F5344CB8AC3E}">
        <p14:creationId xmlns:p14="http://schemas.microsoft.com/office/powerpoint/2010/main" val="1131895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Google Shape;64;p5">
            <a:extLst xmlns:a="http://schemas.openxmlformats.org/drawingml/2006/main">
              <a:ext uri="{FF2B5EF4-FFF2-40B4-BE49-F238E27FC236}">
                <a16:creationId xmlns:a16="http://schemas.microsoft.com/office/drawing/2014/main" id="{CF9AD31F-1FDC-4184-BF9F-B33479EDBEE8}"/>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5" name="Google Shape;65;p5">
            <a:extLst xmlns:a="http://schemas.openxmlformats.org/drawingml/2006/main">
              <a:ext uri="{FF2B5EF4-FFF2-40B4-BE49-F238E27FC236}">
                <a16:creationId xmlns:a16="http://schemas.microsoft.com/office/drawing/2014/main" id="{10117106-F12F-4A8F-8B77-A83FADEA2A68}"/>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6" name="Google Shape;66;p5">
            <a:extLst xmlns:a="http://schemas.openxmlformats.org/drawingml/2006/main">
              <a:ext uri="{FF2B5EF4-FFF2-40B4-BE49-F238E27FC236}">
                <a16:creationId xmlns:a16="http://schemas.microsoft.com/office/drawing/2014/main" id="{1FB965B2-FB3F-4DBD-B108-41481400E39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7" name="Google Shape;67;p5">
            <a:extLst xmlns:a="http://schemas.openxmlformats.org/drawingml/2006/main">
              <a:ext uri="{FF2B5EF4-FFF2-40B4-BE49-F238E27FC236}">
                <a16:creationId xmlns:a16="http://schemas.microsoft.com/office/drawing/2014/main" id="{02762154-418C-4F41-BA0C-79B00719E57E}"/>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1  ·  §1.1 · TWO INSEPARABLE ASPECTS</a:t>
            </a:r>
          </a:p>
        </p:txBody>
      </p:sp>
      <p:sp>
        <p:nvSpPr>
          <p:cNvPr id="68" name="Google Shape;68;p5">
            <a:extLst xmlns:a="http://schemas.openxmlformats.org/drawingml/2006/main">
              <a:ext uri="{FF2B5EF4-FFF2-40B4-BE49-F238E27FC236}">
                <a16:creationId xmlns:a16="http://schemas.microsoft.com/office/drawing/2014/main" id="{28B0F4A7-FA42-4E2B-85D3-243578C6C2B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Existence Is Coexistence</a:t>
            </a:r>
          </a:p>
        </p:txBody>
      </p:sp>
      <p:sp>
        <p:nvSpPr>
          <p:cNvPr id="69" name="Google Shape;69;p5">
            <a:extLst xmlns:a="http://schemas.openxmlformats.org/drawingml/2006/main">
              <a:ext uri="{FF2B5EF4-FFF2-40B4-BE49-F238E27FC236}">
                <a16:creationId xmlns:a16="http://schemas.microsoft.com/office/drawing/2014/main" id="{8EE81CA6-0277-437D-B24C-93E306CB1675}"/>
              </a:ext>
            </a:extLst>
          </p:cNvPr>
          <p:cNvSpPr>
            <a:spLocks xmlns:a="http://schemas.openxmlformats.org/drawingml/2006/main" noGrp="1"/>
          </p:cNvSpPr>
          <p:nvPr/>
        </p:nvSpPr>
        <p:spPr>
          <a:xfrm xmlns:a="http://schemas.openxmlformats.org/drawingml/2006/main">
            <a:off x="640080" y="1280160"/>
            <a:ext cx="41605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500" b="1" i="0" u="none" cap="none">
                <a:solidFill>
                  <a:srgbClr val="1E2447"/>
                </a:solidFill>
                <a:latin typeface="Calibri"/>
                <a:ea typeface="Calibri"/>
                <a:cs typeface="Calibri"/>
              </a:rPr>
              <a:t>Omnipresence</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Formless, all-pervasive, transparent, permeating, non-transforming, immeasurable — actionless energy. Transparence, permeability, and pervasiveness together evidence it as one indivisible reality. It acts not at all, yet every unit is energised and regulated in it. It has no absent place.</a:t>
            </a:r>
          </a:p>
          <a:p xmlns:a="http://schemas.openxmlformats.org/drawingml/2006/main">
            <a:pPr marL="0" indent="0" algn="l">
              <a:spcBef>
                <a:spcPts val="1000"/>
              </a:spcBef>
              <a:spcAft>
                <a:spcPts val="0"/>
              </a:spcAft>
              <a:buNone/>
            </a:pPr>
            <a:r>
              <a:rPr sz="1500" b="1" i="0" u="none" cap="none">
                <a:solidFill>
                  <a:srgbClr val="1E2447"/>
                </a:solidFill>
                <a:latin typeface="Calibri"/>
                <a:ea typeface="Calibri"/>
                <a:cs typeface="Calibri"/>
              </a:rPr>
              <a:t>Units of nature</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Formful, active, countable entities — each bounded from six directions and saturated in Omnipresence, bearing form, guna, svabhav, and dharma, evident in definite mutuality. Root units, composite bodies, body–jeevan joint forms, and relational assemblies are distinct levels, not to be collapsed.</a:t>
            </a:r>
            <a:r>
              <a:rPr sz="1250" b="0" i="0" u="none" cap="none">
                <a:solidFill>
                  <a:srgbClr val="5A6377"/>
                </a:solidFill>
                <a:latin typeface="Calibri"/>
                <a:ea typeface="Calibri"/>
                <a:cs typeface="Calibri"/>
              </a:rPr>
              <a:t/>
            </a:r>
            <a:r>
              <a:rPr sz="1250" b="0" i="0" u="none" cap="none">
                <a:solidFill>
                  <a:srgbClr val="5A6377"/>
                </a:solidFill>
                <a:latin typeface="Calibri"/>
                <a:ea typeface="Calibri"/>
                <a:cs typeface="Calibri"/>
              </a:rPr>
              <a:t/>
            </a:r>
            <a:r>
              <a:rPr sz="1250" b="0" i="0" u="none" cap="none">
                <a:solidFill>
                  <a:srgbClr val="5A6377"/>
                </a:solidFill>
                <a:latin typeface="Calibri"/>
                <a:ea typeface="Calibri"/>
                <a:cs typeface="Calibri"/>
              </a:rPr>
              <a:t/>
            </a:r>
          </a:p>
          <a:p xmlns:a="http://schemas.openxmlformats.org/drawingml/2006/main">
            <a:pPr marL="0" indent="0" algn="l">
              <a:spcBef>
                <a:spcPts val="1000"/>
              </a:spcBef>
              <a:spcAft>
                <a:spcPts val="0"/>
              </a:spcAft>
              <a:buNone/>
            </a:pPr>
            <a:r>
              <a:rPr sz="1500" b="1" i="0" u="none" cap="none">
                <a:solidFill>
                  <a:srgbClr val="1E2447"/>
                </a:solidFill>
                <a:latin typeface="Calibri"/>
                <a:ea typeface="Calibri"/>
                <a:cs typeface="Calibri"/>
              </a:rPr>
              <a:t>Never two separate poles</a:t>
            </a:r>
          </a:p>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Separation of a unit from the saturated whole “never happens.” The ground is state-complete; nature saturated in it is state-dynamic — all change is unit-activity.</a:t>
            </a:r>
          </a:p>
        </p:txBody>
      </p:sp>
      <p:sp>
        <p:nvSpPr>
          <p:cNvPr id="70" name="Google Shape;70;p5">
            <a:extLst xmlns:a="http://schemas.openxmlformats.org/drawingml/2006/main">
              <a:ext uri="{FF2B5EF4-FFF2-40B4-BE49-F238E27FC236}">
                <a16:creationId xmlns:a16="http://schemas.microsoft.com/office/drawing/2014/main" id="{07B364FE-F3A9-4602-BE10-23EE13FC1C5A}"/>
              </a:ext>
            </a:extLst>
          </p:cNvPr>
          <p:cNvSpPr>
            <a:spLocks xmlns:a="http://schemas.openxmlformats.org/drawingml/2006/main" noGrp="1"/>
          </p:cNvSpPr>
          <p:nvPr/>
        </p:nvSpPr>
        <p:spPr>
          <a:xfrm xmlns:a="http://schemas.openxmlformats.org/drawingml/2006/main">
            <a:off x="5074920" y="1280160"/>
            <a:ext cx="3566160" cy="3246120"/>
          </a:xfrm>
          <a:prstGeom xmlns:a="http://schemas.openxmlformats.org/drawingml/2006/main" prst="roundRect">
            <a:avLst>
              <a:gd name="adj" fmla="val 3380"/>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1" name="Google Shape;71;p5">
            <a:extLst xmlns:a="http://schemas.openxmlformats.org/drawingml/2006/main">
              <a:ext uri="{FF2B5EF4-FFF2-40B4-BE49-F238E27FC236}">
                <a16:creationId xmlns:a16="http://schemas.microsoft.com/office/drawing/2014/main" id="{3CF11A51-F4D6-4164-8D76-DE824295982F}"/>
              </a:ext>
            </a:extLst>
          </p:cNvPr>
          <p:cNvSpPr>
            <a:spLocks xmlns:a="http://schemas.openxmlformats.org/drawingml/2006/main" noGrp="1"/>
          </p:cNvSpPr>
          <p:nvPr/>
        </p:nvSpPr>
        <p:spPr>
          <a:xfrm xmlns:a="http://schemas.openxmlformats.org/drawingml/2006/main">
            <a:off x="5074920" y="1417320"/>
            <a:ext cx="3566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00" b="1" i="0" u="none" cap="none">
                <a:solidFill>
                  <a:srgbClr val="C9D4EF"/>
                </a:solidFill>
                <a:latin typeface="Calibri"/>
                <a:ea typeface="Calibri"/>
                <a:cs typeface="Calibri"/>
              </a:rPr>
              <a:t>OMNIPRESENCE — the pervasive ground</a:t>
            </a:r>
          </a:p>
        </p:txBody>
      </p:sp>
      <p:sp>
        <p:nvSpPr>
          <p:cNvPr id="72" name="Google Shape;72;p5">
            <a:extLst xmlns:a="http://schemas.openxmlformats.org/drawingml/2006/main">
              <a:ext uri="{FF2B5EF4-FFF2-40B4-BE49-F238E27FC236}">
                <a16:creationId xmlns:a16="http://schemas.microsoft.com/office/drawing/2014/main" id="{F1BE36E1-5E3F-4DA1-9CFE-44A8E5A456C7}"/>
              </a:ext>
            </a:extLst>
          </p:cNvPr>
          <p:cNvSpPr>
            <a:spLocks xmlns:a="http://schemas.openxmlformats.org/drawingml/2006/main" noGrp="1"/>
          </p:cNvSpPr>
          <p:nvPr/>
        </p:nvSpPr>
        <p:spPr>
          <a:xfrm xmlns:a="http://schemas.openxmlformats.org/drawingml/2006/main">
            <a:off x="5440680" y="1965960"/>
            <a:ext cx="1051560" cy="1051560"/>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3" name="Google Shape;73;p5">
            <a:extLst xmlns:a="http://schemas.openxmlformats.org/drawingml/2006/main">
              <a:ext uri="{FF2B5EF4-FFF2-40B4-BE49-F238E27FC236}">
                <a16:creationId xmlns:a16="http://schemas.microsoft.com/office/drawing/2014/main" id="{CFD53BC4-8462-4A7A-8213-3F91CB8C5883}"/>
              </a:ext>
            </a:extLst>
          </p:cNvPr>
          <p:cNvSpPr>
            <a:spLocks xmlns:a="http://schemas.openxmlformats.org/drawingml/2006/main" noGrp="1"/>
          </p:cNvSpPr>
          <p:nvPr/>
        </p:nvSpPr>
        <p:spPr>
          <a:xfrm xmlns:a="http://schemas.openxmlformats.org/drawingml/2006/main">
            <a:off x="5650992" y="2176272"/>
            <a:ext cx="630936" cy="630936"/>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4" name="Google Shape;74;p5">
            <a:extLst xmlns:a="http://schemas.openxmlformats.org/drawingml/2006/main">
              <a:ext uri="{FF2B5EF4-FFF2-40B4-BE49-F238E27FC236}">
                <a16:creationId xmlns:a16="http://schemas.microsoft.com/office/drawing/2014/main" id="{F2A0E86B-7518-40E5-996B-6BDE3B14F3AC}"/>
              </a:ext>
            </a:extLst>
          </p:cNvPr>
          <p:cNvSpPr>
            <a:spLocks xmlns:a="http://schemas.openxmlformats.org/drawingml/2006/main" noGrp="1"/>
          </p:cNvSpPr>
          <p:nvPr/>
        </p:nvSpPr>
        <p:spPr>
          <a:xfrm xmlns:a="http://schemas.openxmlformats.org/drawingml/2006/main">
            <a:off x="5829757" y="2355037"/>
            <a:ext cx="273406" cy="27340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5" name="Google Shape;75;p5">
            <a:extLst xmlns:a="http://schemas.openxmlformats.org/drawingml/2006/main">
              <a:ext uri="{FF2B5EF4-FFF2-40B4-BE49-F238E27FC236}">
                <a16:creationId xmlns:a16="http://schemas.microsoft.com/office/drawing/2014/main" id="{5E77BB36-39BD-4E94-A3B8-0F28DBB8A42D}"/>
              </a:ext>
            </a:extLst>
          </p:cNvPr>
          <p:cNvSpPr>
            <a:spLocks xmlns:a="http://schemas.openxmlformats.org/drawingml/2006/main" noGrp="1"/>
          </p:cNvSpPr>
          <p:nvPr/>
        </p:nvSpPr>
        <p:spPr>
          <a:xfrm xmlns:a="http://schemas.openxmlformats.org/drawingml/2006/main">
            <a:off x="6812280" y="2240280"/>
            <a:ext cx="777240" cy="777240"/>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6" name="Google Shape;76;p5">
            <a:extLst xmlns:a="http://schemas.openxmlformats.org/drawingml/2006/main">
              <a:ext uri="{FF2B5EF4-FFF2-40B4-BE49-F238E27FC236}">
                <a16:creationId xmlns:a16="http://schemas.microsoft.com/office/drawing/2014/main" id="{6B8F9E46-D1B9-4DC0-A1E2-A8E161EF1971}"/>
              </a:ext>
            </a:extLst>
          </p:cNvPr>
          <p:cNvSpPr>
            <a:spLocks xmlns:a="http://schemas.openxmlformats.org/drawingml/2006/main" noGrp="1"/>
          </p:cNvSpPr>
          <p:nvPr/>
        </p:nvSpPr>
        <p:spPr>
          <a:xfrm xmlns:a="http://schemas.openxmlformats.org/drawingml/2006/main">
            <a:off x="6967728" y="2395728"/>
            <a:ext cx="466344" cy="466344"/>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7" name="Google Shape;77;p5">
            <a:extLst xmlns:a="http://schemas.openxmlformats.org/drawingml/2006/main">
              <a:ext uri="{FF2B5EF4-FFF2-40B4-BE49-F238E27FC236}">
                <a16:creationId xmlns:a16="http://schemas.microsoft.com/office/drawing/2014/main" id="{A9BE6228-332E-435A-8F5D-5376A8AC04EB}"/>
              </a:ext>
            </a:extLst>
          </p:cNvPr>
          <p:cNvSpPr>
            <a:spLocks xmlns:a="http://schemas.openxmlformats.org/drawingml/2006/main" noGrp="1"/>
          </p:cNvSpPr>
          <p:nvPr/>
        </p:nvSpPr>
        <p:spPr>
          <a:xfrm xmlns:a="http://schemas.openxmlformats.org/drawingml/2006/main">
            <a:off x="7099859" y="2527859"/>
            <a:ext cx="202082" cy="202082"/>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8" name="Google Shape;78;p5">
            <a:extLst xmlns:a="http://schemas.openxmlformats.org/drawingml/2006/main">
              <a:ext uri="{FF2B5EF4-FFF2-40B4-BE49-F238E27FC236}">
                <a16:creationId xmlns:a16="http://schemas.microsoft.com/office/drawing/2014/main" id="{BECED46B-A48B-4CA7-8EEB-5979D31A9C85}"/>
              </a:ext>
            </a:extLst>
          </p:cNvPr>
          <p:cNvSpPr>
            <a:spLocks xmlns:a="http://schemas.openxmlformats.org/drawingml/2006/main" noGrp="1"/>
          </p:cNvSpPr>
          <p:nvPr/>
        </p:nvSpPr>
        <p:spPr>
          <a:xfrm xmlns:a="http://schemas.openxmlformats.org/drawingml/2006/main">
            <a:off x="7635240" y="1783080"/>
            <a:ext cx="566928" cy="566928"/>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79" name="Google Shape;79;p5">
            <a:extLst xmlns:a="http://schemas.openxmlformats.org/drawingml/2006/main">
              <a:ext uri="{FF2B5EF4-FFF2-40B4-BE49-F238E27FC236}">
                <a16:creationId xmlns:a16="http://schemas.microsoft.com/office/drawing/2014/main" id="{967E3267-3033-46A1-9B03-D612835829CA}"/>
              </a:ext>
            </a:extLst>
          </p:cNvPr>
          <p:cNvSpPr>
            <a:spLocks xmlns:a="http://schemas.openxmlformats.org/drawingml/2006/main" noGrp="1"/>
          </p:cNvSpPr>
          <p:nvPr/>
        </p:nvSpPr>
        <p:spPr>
          <a:xfrm xmlns:a="http://schemas.openxmlformats.org/drawingml/2006/main">
            <a:off x="7748626" y="1896466"/>
            <a:ext cx="340157" cy="340157"/>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0" name="Google Shape;80;p5">
            <a:extLst xmlns:a="http://schemas.openxmlformats.org/drawingml/2006/main">
              <a:ext uri="{FF2B5EF4-FFF2-40B4-BE49-F238E27FC236}">
                <a16:creationId xmlns:a16="http://schemas.microsoft.com/office/drawing/2014/main" id="{42DCFFD6-4154-4D29-B043-16479E5425B0}"/>
              </a:ext>
            </a:extLst>
          </p:cNvPr>
          <p:cNvSpPr>
            <a:spLocks xmlns:a="http://schemas.openxmlformats.org/drawingml/2006/main" noGrp="1"/>
          </p:cNvSpPr>
          <p:nvPr/>
        </p:nvSpPr>
        <p:spPr>
          <a:xfrm xmlns:a="http://schemas.openxmlformats.org/drawingml/2006/main">
            <a:off x="7845003" y="1992843"/>
            <a:ext cx="147401" cy="147401"/>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1" name="Google Shape;81;p5">
            <a:extLst xmlns:a="http://schemas.openxmlformats.org/drawingml/2006/main">
              <a:ext uri="{FF2B5EF4-FFF2-40B4-BE49-F238E27FC236}">
                <a16:creationId xmlns:a16="http://schemas.microsoft.com/office/drawing/2014/main" id="{2243CC16-68B3-4646-877B-AB127F6652A9}"/>
              </a:ext>
            </a:extLst>
          </p:cNvPr>
          <p:cNvSpPr>
            <a:spLocks xmlns:a="http://schemas.openxmlformats.org/drawingml/2006/main" noGrp="1"/>
          </p:cNvSpPr>
          <p:nvPr/>
        </p:nvSpPr>
        <p:spPr>
          <a:xfrm xmlns:a="http://schemas.openxmlformats.org/drawingml/2006/main">
            <a:off x="6035040" y="3200400"/>
            <a:ext cx="658368" cy="658368"/>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2" name="Google Shape;82;p5">
            <a:extLst xmlns:a="http://schemas.openxmlformats.org/drawingml/2006/main">
              <a:ext uri="{FF2B5EF4-FFF2-40B4-BE49-F238E27FC236}">
                <a16:creationId xmlns:a16="http://schemas.microsoft.com/office/drawing/2014/main" id="{A95501B9-F291-422B-9577-4E7A124D08E9}"/>
              </a:ext>
            </a:extLst>
          </p:cNvPr>
          <p:cNvSpPr>
            <a:spLocks xmlns:a="http://schemas.openxmlformats.org/drawingml/2006/main" noGrp="1"/>
          </p:cNvSpPr>
          <p:nvPr/>
        </p:nvSpPr>
        <p:spPr>
          <a:xfrm xmlns:a="http://schemas.openxmlformats.org/drawingml/2006/main">
            <a:off x="6166714" y="3332074"/>
            <a:ext cx="395021" cy="395021"/>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3" name="Google Shape;83;p5">
            <a:extLst xmlns:a="http://schemas.openxmlformats.org/drawingml/2006/main">
              <a:ext uri="{FF2B5EF4-FFF2-40B4-BE49-F238E27FC236}">
                <a16:creationId xmlns:a16="http://schemas.microsoft.com/office/drawing/2014/main" id="{59535FAF-3BCF-4D16-BBE3-0838A2B90E5E}"/>
              </a:ext>
            </a:extLst>
          </p:cNvPr>
          <p:cNvSpPr>
            <a:spLocks xmlns:a="http://schemas.openxmlformats.org/drawingml/2006/main" noGrp="1"/>
          </p:cNvSpPr>
          <p:nvPr/>
        </p:nvSpPr>
        <p:spPr>
          <a:xfrm xmlns:a="http://schemas.openxmlformats.org/drawingml/2006/main">
            <a:off x="6278636" y="3443996"/>
            <a:ext cx="171176" cy="171176"/>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4" name="Google Shape;84;p5">
            <a:extLst xmlns:a="http://schemas.openxmlformats.org/drawingml/2006/main">
              <a:ext uri="{FF2B5EF4-FFF2-40B4-BE49-F238E27FC236}">
                <a16:creationId xmlns:a16="http://schemas.microsoft.com/office/drawing/2014/main" id="{E2D7A9DE-E3E4-4EEB-89B6-D04E44DFDF8D}"/>
              </a:ext>
            </a:extLst>
          </p:cNvPr>
          <p:cNvSpPr>
            <a:spLocks xmlns:a="http://schemas.openxmlformats.org/drawingml/2006/main" noGrp="1"/>
          </p:cNvSpPr>
          <p:nvPr/>
        </p:nvSpPr>
        <p:spPr>
          <a:xfrm xmlns:a="http://schemas.openxmlformats.org/drawingml/2006/main">
            <a:off x="7315200" y="3246120"/>
            <a:ext cx="896112" cy="896112"/>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5" name="Google Shape;85;p5">
            <a:extLst xmlns:a="http://schemas.openxmlformats.org/drawingml/2006/main">
              <a:ext uri="{FF2B5EF4-FFF2-40B4-BE49-F238E27FC236}">
                <a16:creationId xmlns:a16="http://schemas.microsoft.com/office/drawing/2014/main" id="{98AE6C74-6FE7-42CF-B920-3D93EE020872}"/>
              </a:ext>
            </a:extLst>
          </p:cNvPr>
          <p:cNvSpPr>
            <a:spLocks xmlns:a="http://schemas.openxmlformats.org/drawingml/2006/main" noGrp="1"/>
          </p:cNvSpPr>
          <p:nvPr/>
        </p:nvSpPr>
        <p:spPr>
          <a:xfrm xmlns:a="http://schemas.openxmlformats.org/drawingml/2006/main">
            <a:off x="7494422" y="3425342"/>
            <a:ext cx="537667" cy="537667"/>
          </a:xfrm>
          <a:prstGeom xmlns:a="http://schemas.openxmlformats.org/drawingml/2006/main" prst="ellipse">
            <a:avLst/>
          </a:prstGeom>
          <a:noFill xmlns:a="http://schemas.openxmlformats.org/drawingml/2006/main"/>
          <a:ln xmlns:a="http://schemas.openxmlformats.org/drawingml/2006/main" w="15875" cmpd="sng">
            <a:solidFill>
              <a:srgbClr val="5A68A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6" name="Google Shape;86;p5">
            <a:extLst xmlns:a="http://schemas.openxmlformats.org/drawingml/2006/main">
              <a:ext uri="{FF2B5EF4-FFF2-40B4-BE49-F238E27FC236}">
                <a16:creationId xmlns:a16="http://schemas.microsoft.com/office/drawing/2014/main" id="{17757948-703B-426E-B870-C36254C1E3EA}"/>
              </a:ext>
            </a:extLst>
          </p:cNvPr>
          <p:cNvSpPr>
            <a:spLocks xmlns:a="http://schemas.openxmlformats.org/drawingml/2006/main" noGrp="1"/>
          </p:cNvSpPr>
          <p:nvPr/>
        </p:nvSpPr>
        <p:spPr>
          <a:xfrm xmlns:a="http://schemas.openxmlformats.org/drawingml/2006/main">
            <a:off x="7646761" y="3577681"/>
            <a:ext cx="232989" cy="232989"/>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87" name="Google Shape;87;p5">
            <a:extLst xmlns:a="http://schemas.openxmlformats.org/drawingml/2006/main">
              <a:ext uri="{FF2B5EF4-FFF2-40B4-BE49-F238E27FC236}">
                <a16:creationId xmlns:a16="http://schemas.microsoft.com/office/drawing/2014/main" id="{5A0E0607-E161-4E03-AE4A-C1C661B17415}"/>
              </a:ext>
            </a:extLst>
          </p:cNvPr>
          <p:cNvSpPr>
            <a:spLocks xmlns:a="http://schemas.openxmlformats.org/drawingml/2006/main" noGrp="1"/>
          </p:cNvSpPr>
          <p:nvPr/>
        </p:nvSpPr>
        <p:spPr>
          <a:xfrm xmlns:a="http://schemas.openxmlformats.org/drawingml/2006/main">
            <a:off x="5257800" y="4114800"/>
            <a:ext cx="32004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000" b="0" i="1" u="none" cap="none">
                <a:solidFill>
                  <a:srgbClr val="C9D4EF"/>
                </a:solidFill>
                <a:latin typeface="Calibri"/>
                <a:ea typeface="Calibri"/>
                <a:cs typeface="Calibri"/>
              </a:rPr>
              <a:t>bounded units in definite mutual facing; form is reflected, while effects, essentiality, and fulfilment are evidenced in coexistence</a:t>
            </a:r>
          </a:p>
        </p:txBody>
      </p:sp>
      <p:sp>
        <p:nvSpPr>
          <p:cNvPr id="88" name="Google Shape;88;p5">
            <a:extLst xmlns:a="http://schemas.openxmlformats.org/drawingml/2006/main">
              <a:ext uri="{FF2B5EF4-FFF2-40B4-BE49-F238E27FC236}">
                <a16:creationId xmlns:a16="http://schemas.microsoft.com/office/drawing/2014/main" id="{D46B3FA3-763A-444D-9E80-B345C67D6CD7}"/>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“Existence itself is eternally manifest in the form of coexistence” — SB pp. 46, 48  ·  MVD pp. 11, 34  ·  JV p. 18</a:t>
            </a:r>
          </a:p>
        </p:txBody>
      </p:sp>
    </p:spTree>
    <p:extLst>
      <p:ext uri="{BB962C8B-B14F-4D97-AF65-F5344CB8AC3E}">
        <p14:creationId xmlns:p14="http://schemas.microsoft.com/office/powerpoint/2010/main" val="3819917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7E09CA70-3709-4185-A286-A0C79A3CD052}"/>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2FD50D5A-65A0-4F61-9AE8-297CD8BF0014}"/>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F0A7EF7D-982B-46DA-8DD8-E6CF99CE992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3858CC98-154A-4B7E-AFFA-BA5BA35680C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§1.2 · SOAKED · SUBMERGED · SURROUNDED</a:t>
            </a:r>
          </a:p>
        </p:txBody>
      </p:sp>
      <p:sp>
        <p:nvSpPr>
          <p:cNvPr id="98" name="Google Shape;98;p6">
            <a:extLst xmlns:a="http://schemas.openxmlformats.org/drawingml/2006/main">
              <a:ext uri="{FF2B5EF4-FFF2-40B4-BE49-F238E27FC236}">
                <a16:creationId xmlns:a16="http://schemas.microsoft.com/office/drawing/2014/main" id="{9174C86C-8A33-413C-96B8-C2699E1BE6C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Saturation: The Ground–Unit Bond</a:t>
            </a:r>
          </a:p>
        </p:txBody>
      </p:sp>
      <p:sp>
        <p:nvSpPr>
          <p:cNvPr id="99" name="Google Shape;99;p6">
            <a:extLst xmlns:a="http://schemas.openxmlformats.org/drawingml/2006/main">
              <a:ext uri="{FF2B5EF4-FFF2-40B4-BE49-F238E27FC236}">
                <a16:creationId xmlns:a16="http://schemas.microsoft.com/office/drawing/2014/main" id="{13839739-2064-4FB0-BDE7-EDAD103F9CAE}"/>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Saturation holds because the pervasive reality is permeating: however often a unit is divided, every fragment stays soaked, submerged, and surrounded. No division leaves a remainder outside the ground — so no unit can be annihilated, and saturation is a condition, never an event.</a:t>
            </a:r>
          </a:p>
        </p:txBody>
      </p:sp>
      <p:sp>
        <p:nvSpPr>
          <p:cNvPr id="100" name="Google Shape;100;p6">
            <a:extLst xmlns:a="http://schemas.openxmlformats.org/drawingml/2006/main">
              <a:ext uri="{FF2B5EF4-FFF2-40B4-BE49-F238E27FC236}">
                <a16:creationId xmlns:a16="http://schemas.microsoft.com/office/drawing/2014/main" id="{327DEA87-8D26-40AB-8462-BC68336B88F2}"/>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CB3BAE7F-4C87-4373-953F-C237568559FD}"/>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568c85c70f744fe8">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02D2D627-5AF5-47FA-8232-5A9E97879D36}"/>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Soaked → forcefulness</a:t>
            </a:r>
          </a:p>
        </p:txBody>
      </p:sp>
      <p:sp>
        <p:nvSpPr>
          <p:cNvPr id="104" name="Google Shape;104;p6">
            <a:extLst xmlns:a="http://schemas.openxmlformats.org/drawingml/2006/main">
              <a:ext uri="{FF2B5EF4-FFF2-40B4-BE49-F238E27FC236}">
                <a16:creationId xmlns:a16="http://schemas.microsoft.com/office/drawing/2014/main" id="{442FCA58-9151-49E2-85D7-AD46DE83D878}"/>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Being soaked is forcefulness itself. The unit is the bearer of definite relative power; read on the force side, the same bond is what the texts call basic impulsion.</a:t>
            </a:r>
          </a:p>
        </p:txBody>
      </p:sp>
      <p:sp>
        <p:nvSpPr>
          <p:cNvPr id="105" name="Google Shape;105;p6">
            <a:extLst xmlns:a="http://schemas.openxmlformats.org/drawingml/2006/main">
              <a:ext uri="{FF2B5EF4-FFF2-40B4-BE49-F238E27FC236}">
                <a16:creationId xmlns:a16="http://schemas.microsoft.com/office/drawing/2014/main" id="{BFB21583-45C3-4066-8C04-8D41606400F3}"/>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FE0963FB-0ABF-408C-B796-25F3570E91F4}"/>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beb856ebe720419c">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45AD0337-6E9F-4E07-A605-1EBFCB05343A}"/>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Submerged → energy</a:t>
            </a:r>
          </a:p>
        </p:txBody>
      </p:sp>
      <p:sp>
        <p:nvSpPr>
          <p:cNvPr id="109" name="Google Shape;109;p6">
            <a:extLst xmlns:a="http://schemas.openxmlformats.org/drawingml/2006/main">
              <a:ext uri="{FF2B5EF4-FFF2-40B4-BE49-F238E27FC236}">
                <a16:creationId xmlns:a16="http://schemas.microsoft.com/office/drawing/2014/main" id="{DCA2BB7D-29F2-470E-9C21-735047DE802B}"/>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Energy-fullness: the pervasive reality is on every side, so the unit is never devoid of the energy evident in its activity. “Unit-ness (ikaitva) + energy-fullness = activeness,” and activity is always effort, motion, and result.</a:t>
            </a:r>
          </a:p>
        </p:txBody>
      </p:sp>
      <p:sp>
        <p:nvSpPr>
          <p:cNvPr id="110" name="Google Shape;110;p6">
            <a:extLst xmlns:a="http://schemas.openxmlformats.org/drawingml/2006/main">
              <a:ext uri="{FF2B5EF4-FFF2-40B4-BE49-F238E27FC236}">
                <a16:creationId xmlns:a16="http://schemas.microsoft.com/office/drawing/2014/main" id="{8450D6FC-AF89-4184-B577-A101F82100A0}"/>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272AE6F5-3A10-43A6-8A9B-DACCA9D60ABB}"/>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bf65f7d724a94252">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5F84AE7E-4FE8-443E-9D4D-C2B305EA31A4}"/>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Surrounded → regulation</a:t>
            </a:r>
          </a:p>
        </p:txBody>
      </p:sp>
      <p:sp>
        <p:nvSpPr>
          <p:cNvPr id="114" name="Google Shape;114;p6">
            <a:extLst xmlns:a="http://schemas.openxmlformats.org/drawingml/2006/main">
              <a:ext uri="{FF2B5EF4-FFF2-40B4-BE49-F238E27FC236}">
                <a16:creationId xmlns:a16="http://schemas.microsoft.com/office/drawing/2014/main" id="{6AD95588-B95F-4284-90AE-532BA6D1F50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Surroundedness is what establishes regulation: units are held at definite distance from one another by the formless reality standing between them. Law follows from this, not from an external command.</a:t>
            </a:r>
          </a:p>
        </p:txBody>
      </p:sp>
      <p:sp>
        <p:nvSpPr>
          <p:cNvPr id="115" name="Google Shape;115;p6">
            <a:extLst xmlns:a="http://schemas.openxmlformats.org/drawingml/2006/main">
              <a:ext uri="{FF2B5EF4-FFF2-40B4-BE49-F238E27FC236}">
                <a16:creationId xmlns:a16="http://schemas.microsoft.com/office/drawing/2014/main" id="{62AA3251-112D-4D49-9F6A-820023242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The texts state the resulting chain as saturation → energy-fullness → forcefulness → recognition → participation in orderliness; recognition and fulfilment are taken up on slide 8. An ontological entailment, not a measurable transfer mechanism. — SB pp. 46, 57, 79, 243; MVD pp. 32–33, 40</a:t>
            </a:r>
          </a:p>
        </p:txBody>
      </p:sp>
    </p:spTree>
    <p:extLst>
      <p:ext uri="{BB962C8B-B14F-4D97-AF65-F5344CB8AC3E}">
        <p14:creationId xmlns:p14="http://schemas.microsoft.com/office/powerpoint/2010/main" val="11315883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7E09CA70-3709-4185-A286-A0C79A3CD052}"/>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2FD50D5A-65A0-4F61-9AE8-297CD8BF0014}"/>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F0A7EF7D-982B-46DA-8DD8-E6CF99CE992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3858CC98-154A-4B7E-AFFA-BA5BA35680C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§1.14 · PERPETUITY, CAUSE, AND TIME</a:t>
            </a:r>
          </a:p>
        </p:txBody>
      </p:sp>
      <p:sp>
        <p:nvSpPr>
          <p:cNvPr id="98" name="Google Shape;98;p6">
            <a:extLst xmlns:a="http://schemas.openxmlformats.org/drawingml/2006/main">
              <a:ext uri="{FF2B5EF4-FFF2-40B4-BE49-F238E27FC236}">
                <a16:creationId xmlns:a16="http://schemas.microsoft.com/office/drawing/2014/main" id="{9174C86C-8A33-413C-96B8-C2699E1BE6C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Existence Does Not Begin or End</a:t>
            </a:r>
          </a:p>
        </p:txBody>
      </p:sp>
      <p:sp>
        <p:nvSpPr>
          <p:cNvPr id="99" name="Google Shape;99;p6">
            <a:extLst xmlns:a="http://schemas.openxmlformats.org/drawingml/2006/main">
              <a:ext uri="{FF2B5EF4-FFF2-40B4-BE49-F238E27FC236}">
                <a16:creationId xmlns:a16="http://schemas.microsoft.com/office/drawing/2014/main" id="{13839739-2064-4FB0-BDE7-EDAD103F9CAE}"/>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Nothing existent becomes non-existent, and nothing arises from non-being. Because no unit can be separated from what it is saturated in, what changes is composition and association — never existence itself.</a:t>
            </a:r>
          </a:p>
        </p:txBody>
      </p:sp>
      <p:sp>
        <p:nvSpPr>
          <p:cNvPr id="100" name="Google Shape;100;p6">
            <a:extLst xmlns:a="http://schemas.openxmlformats.org/drawingml/2006/main">
              <a:ext uri="{FF2B5EF4-FFF2-40B4-BE49-F238E27FC236}">
                <a16:creationId xmlns:a16="http://schemas.microsoft.com/office/drawing/2014/main" id="{327DEA87-8D26-40AB-8462-BC68336B88F2}"/>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CB3BAE7F-4C87-4373-953F-C237568559FD}"/>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526dd5ed2a5140a9">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02D2D627-5AF5-47FA-8232-5A9E97879D36}"/>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Nothing is annihilated</a:t>
            </a:r>
          </a:p>
        </p:txBody>
      </p:sp>
      <p:sp>
        <p:nvSpPr>
          <p:cNvPr id="104" name="Google Shape;104;p6">
            <a:extLst xmlns:a="http://schemas.openxmlformats.org/drawingml/2006/main">
              <a:ext uri="{FF2B5EF4-FFF2-40B4-BE49-F238E27FC236}">
                <a16:creationId xmlns:a16="http://schemas.microsoft.com/office/drawing/2014/main" id="{442FCA58-9151-49E2-85D7-AD46DE83D878}"/>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A compound or body decomposes and that organisation ends, while its constituent units continue in other relations. Perpetuity belongs to coexistence, not to any one configuration.</a:t>
            </a:r>
          </a:p>
        </p:txBody>
      </p:sp>
      <p:sp>
        <p:nvSpPr>
          <p:cNvPr id="105" name="Google Shape;105;p6">
            <a:extLst xmlns:a="http://schemas.openxmlformats.org/drawingml/2006/main">
              <a:ext uri="{FF2B5EF4-FFF2-40B4-BE49-F238E27FC236}">
                <a16:creationId xmlns:a16="http://schemas.microsoft.com/office/drawing/2014/main" id="{BFB21583-45C3-4066-8C04-8D41606400F3}"/>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FE0963FB-0ABF-408C-B796-25F3570E91F4}"/>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a44519b4fac24678">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45AD0337-6E9F-4E07-A605-1EBFCB05343A}"/>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Sustaining ground</a:t>
            </a:r>
          </a:p>
        </p:txBody>
      </p:sp>
      <p:sp>
        <p:nvSpPr>
          <p:cNvPr id="109" name="Google Shape;109;p6">
            <a:extLst xmlns:a="http://schemas.openxmlformats.org/drawingml/2006/main">
              <a:ext uri="{FF2B5EF4-FFF2-40B4-BE49-F238E27FC236}">
                <a16:creationId xmlns:a16="http://schemas.microsoft.com/office/drawing/2014/main" id="{DCA2BB7D-29F2-470E-9C21-735047DE802B}"/>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Omnipresence is supreme cause only in the sustaining sense: no activity exists apart from saturated nature. It initiates no change — composition, decomposition, and development occur as unit-activity. Karma belongs to humans. The ground is no creator or ruler.</a:t>
            </a:r>
          </a:p>
        </p:txBody>
      </p:sp>
      <p:sp>
        <p:nvSpPr>
          <p:cNvPr id="110" name="Google Shape;110;p6">
            <a:extLst xmlns:a="http://schemas.openxmlformats.org/drawingml/2006/main">
              <a:ext uri="{FF2B5EF4-FFF2-40B4-BE49-F238E27FC236}">
                <a16:creationId xmlns:a16="http://schemas.microsoft.com/office/drawing/2014/main" id="{8450D6FC-AF89-4184-B577-A101F82100A0}"/>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272AE6F5-3A10-43A6-8A9B-DACCA9D60ABB}"/>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835fd9b123634f6b">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5F84AE7E-4FE8-443E-9D4D-C2B305EA31A4}"/>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Time follows activity</a:t>
            </a:r>
          </a:p>
        </p:txBody>
      </p:sp>
      <p:sp>
        <p:nvSpPr>
          <p:cNvPr id="114" name="Google Shape;114;p6">
            <a:extLst xmlns:a="http://schemas.openxmlformats.org/drawingml/2006/main">
              <a:ext uri="{FF2B5EF4-FFF2-40B4-BE49-F238E27FC236}">
                <a16:creationId xmlns:a16="http://schemas.microsoft.com/office/drawing/2014/main" id="{6AD95588-B95F-4284-90AE-532BA6D1F50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Time is the duration of activity, reckoned from recurrent unit-activity — not an independent container alongside Omnipresence and units. The ground, without transformation, is not temporal in that sense.</a:t>
            </a:r>
          </a:p>
        </p:txBody>
      </p:sp>
      <p:sp>
        <p:nvSpPr>
          <p:cNvPr id="115" name="Google Shape;115;p6">
            <a:extLst xmlns:a="http://schemas.openxmlformats.org/drawingml/2006/main">
              <a:ext uri="{FF2B5EF4-FFF2-40B4-BE49-F238E27FC236}">
                <a16:creationId xmlns:a16="http://schemas.microsoft.com/office/drawing/2014/main" id="{62AA3251-112D-4D49-9F6A-820023242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“Brahma is truth, the world is perpetual” affirms both the pervasive ground and the reality of the world without making any configuration permanent. — SB pp. 57, 70; MVD p. 40  ·  Study §§1.2, 1.14; full treatment of kaal in Nature of Time</a:t>
            </a:r>
          </a:p>
        </p:txBody>
      </p:sp>
    </p:spTree>
    <p:extLst>
      <p:ext uri="{BB962C8B-B14F-4D97-AF65-F5344CB8AC3E}">
        <p14:creationId xmlns:p14="http://schemas.microsoft.com/office/powerpoint/2010/main" val="11315883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Google Shape;94;p6">
            <a:extLst xmlns:a="http://schemas.openxmlformats.org/drawingml/2006/main">
              <a:ext uri="{FF2B5EF4-FFF2-40B4-BE49-F238E27FC236}">
                <a16:creationId xmlns:a16="http://schemas.microsoft.com/office/drawing/2014/main" id="{7E09CA70-3709-4185-A286-A0C79A3CD052}"/>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5" name="Google Shape;95;p6">
            <a:extLst xmlns:a="http://schemas.openxmlformats.org/drawingml/2006/main">
              <a:ext uri="{FF2B5EF4-FFF2-40B4-BE49-F238E27FC236}">
                <a16:creationId xmlns:a16="http://schemas.microsoft.com/office/drawing/2014/main" id="{2FD50D5A-65A0-4F61-9AE8-297CD8BF0014}"/>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6" name="Google Shape;96;p6">
            <a:extLst xmlns:a="http://schemas.openxmlformats.org/drawingml/2006/main">
              <a:ext uri="{FF2B5EF4-FFF2-40B4-BE49-F238E27FC236}">
                <a16:creationId xmlns:a16="http://schemas.microsoft.com/office/drawing/2014/main" id="{F0A7EF7D-982B-46DA-8DD8-E6CF99CE992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97" name="Google Shape;97;p6">
            <a:extLst xmlns:a="http://schemas.openxmlformats.org/drawingml/2006/main">
              <a:ext uri="{FF2B5EF4-FFF2-40B4-BE49-F238E27FC236}">
                <a16:creationId xmlns:a16="http://schemas.microsoft.com/office/drawing/2014/main" id="{3858CC98-154A-4B7E-AFFA-BA5BA35680C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§1.2 · §1.4 · THE SECOND BOND</a:t>
            </a:r>
          </a:p>
        </p:txBody>
      </p:sp>
      <p:sp>
        <p:nvSpPr>
          <p:cNvPr id="98" name="Google Shape;98;p6">
            <a:extLst xmlns:a="http://schemas.openxmlformats.org/drawingml/2006/main">
              <a:ext uri="{FF2B5EF4-FFF2-40B4-BE49-F238E27FC236}">
                <a16:creationId xmlns:a16="http://schemas.microsoft.com/office/drawing/2014/main" id="{9174C86C-8A33-413C-96B8-C2699E1BE6CE}"/>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Nature Is Complementary</a:t>
            </a:r>
          </a:p>
        </p:txBody>
      </p:sp>
      <p:sp>
        <p:nvSpPr>
          <p:cNvPr id="99" name="Google Shape;99;p6">
            <a:extLst xmlns:a="http://schemas.openxmlformats.org/drawingml/2006/main">
              <a:ext uri="{FF2B5EF4-FFF2-40B4-BE49-F238E27FC236}">
                <a16:creationId xmlns:a16="http://schemas.microsoft.com/office/drawing/2014/main" id="{13839739-2064-4FB0-BDE7-EDAD103F9CAE}"/>
              </a:ext>
            </a:extLst>
          </p:cNvPr>
          <p:cNvSpPr>
            <a:spLocks xmlns:a="http://schemas.openxmlformats.org/drawingml/2006/main" noGrp="1"/>
          </p:cNvSpPr>
          <p:nvPr/>
        </p:nvSpPr>
        <p:spPr>
          <a:xfrm xmlns:a="http://schemas.openxmlformats.org/drawingml/2006/main">
            <a:off x="640080" y="1207008"/>
            <a:ext cx="7955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Saturation binds every unit to the ground. A second relation binds units to one another. Bounded plurality — countless units, each with definite limits, in one pervasive reality — is itself what provisions recognition: “a provision for one unit to recognise another got manifest in existence.” Complementarity is given in coexistence. It is not created by us and not negotiated.</a:t>
            </a:r>
          </a:p>
        </p:txBody>
      </p:sp>
      <p:sp>
        <p:nvSpPr>
          <p:cNvPr id="100" name="Google Shape;100;p6">
            <a:extLst xmlns:a="http://schemas.openxmlformats.org/drawingml/2006/main">
              <a:ext uri="{FF2B5EF4-FFF2-40B4-BE49-F238E27FC236}">
                <a16:creationId xmlns:a16="http://schemas.microsoft.com/office/drawing/2014/main" id="{327DEA87-8D26-40AB-8462-BC68336B88F2}"/>
              </a:ext>
            </a:extLst>
          </p:cNvPr>
          <p:cNvSpPr>
            <a:spLocks xmlns:a="http://schemas.openxmlformats.org/drawingml/2006/main" noGrp="1"/>
          </p:cNvSpPr>
          <p:nvPr/>
        </p:nvSpPr>
        <p:spPr>
          <a:xfrm xmlns:a="http://schemas.openxmlformats.org/drawingml/2006/main">
            <a:off x="640080"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1" name="Google Shape;101;p6">
            <a:extLst xmlns:a="http://schemas.openxmlformats.org/drawingml/2006/main">
              <a:ext uri="{FF2B5EF4-FFF2-40B4-BE49-F238E27FC236}">
                <a16:creationId xmlns:a16="http://schemas.microsoft.com/office/drawing/2014/main" id="{CB3BAE7F-4C87-4373-953F-C237568559FD}"/>
              </a:ext>
            </a:extLst>
          </p:cNvPr>
          <p:cNvSpPr>
            <a:spLocks xmlns:a="http://schemas.openxmlformats.org/drawingml/2006/main" noGrp="1"/>
          </p:cNvSpPr>
          <p:nvPr/>
        </p:nvSpPr>
        <p:spPr>
          <a:xfrm xmlns:a="http://schemas.openxmlformats.org/drawingml/2006/main">
            <a:off x="841248"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27" name="Google Shape;102;p6"/>
          <p:cNvPicPr>
            <a:picLocks xmlns:a="http://schemas.openxmlformats.org/drawingml/2006/main" noChangeAspect="1"/>
          </p:cNvPicPr>
          <p:nvPr/>
        </p:nvPicPr>
        <p:blipFill rotWithShape="1">
          <a:blip xmlns:r="http://schemas.openxmlformats.org/officeDocument/2006/relationships" xmlns:a="http://schemas.openxmlformats.org/drawingml/2006/main" r:embed="Rb7a54a25afca4a24">
            <a:alphaModFix/>
          </a:blip>
          <a:srcRect xmlns:a="http://schemas.openxmlformats.org/drawingml/2006/main" l="0" t="0" r="0" b="0"/>
          <a:stretch xmlns:a="http://schemas.openxmlformats.org/drawingml/2006/main"/>
        </p:blipFill>
        <p:spPr>
          <a:xfrm xmlns:a="http://schemas.openxmlformats.org/drawingml/2006/main">
            <a:off x="960120" y="2331720"/>
            <a:ext cx="219456" cy="219456"/>
          </a:xfrm>
          <a:prstGeom xmlns:a="http://schemas.openxmlformats.org/drawingml/2006/main" prst="rect">
            <a:avLst/>
          </a:prstGeom>
          <a:ln xmlns:a="http://schemas.openxmlformats.org/drawingml/2006/main">
            <a:noFill/>
          </a:ln>
        </p:spPr>
      </p:pic>
      <p:sp>
        <p:nvSpPr>
          <p:cNvPr id="103" name="Google Shape;103;p6">
            <a:extLst xmlns:a="http://schemas.openxmlformats.org/drawingml/2006/main">
              <a:ext uri="{FF2B5EF4-FFF2-40B4-BE49-F238E27FC236}">
                <a16:creationId xmlns:a16="http://schemas.microsoft.com/office/drawing/2014/main" id="{02D2D627-5AF5-47FA-8232-5A9E97879D36}"/>
              </a:ext>
            </a:extLst>
          </p:cNvPr>
          <p:cNvSpPr>
            <a:spLocks xmlns:a="http://schemas.openxmlformats.org/drawingml/2006/main" noGrp="1"/>
          </p:cNvSpPr>
          <p:nvPr/>
        </p:nvSpPr>
        <p:spPr>
          <a:xfrm xmlns:a="http://schemas.openxmlformats.org/drawingml/2006/main">
            <a:off x="841248"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Recognition</a:t>
            </a:r>
          </a:p>
        </p:txBody>
      </p:sp>
      <p:sp>
        <p:nvSpPr>
          <p:cNvPr id="104" name="Google Shape;104;p6">
            <a:extLst xmlns:a="http://schemas.openxmlformats.org/drawingml/2006/main">
              <a:ext uri="{FF2B5EF4-FFF2-40B4-BE49-F238E27FC236}">
                <a16:creationId xmlns:a16="http://schemas.microsoft.com/office/drawing/2014/main" id="{442FCA58-9151-49E2-85D7-AD46DE83D878}"/>
              </a:ext>
            </a:extLst>
          </p:cNvPr>
          <p:cNvSpPr>
            <a:spLocks xmlns:a="http://schemas.openxmlformats.org/drawingml/2006/main" noGrp="1"/>
          </p:cNvSpPr>
          <p:nvPr/>
        </p:nvSpPr>
        <p:spPr>
          <a:xfrm xmlns:a="http://schemas.openxmlformats.org/drawingml/2006/main">
            <a:off x="841248"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A unit recognises another by responding according to definite constitution, distance, force, and relation — no cognition required. Heat accepted and redistributed; particles holding definite distance. The equipment is named: capacity, ability, receptivity.</a:t>
            </a:r>
          </a:p>
        </p:txBody>
      </p:sp>
      <p:sp>
        <p:nvSpPr>
          <p:cNvPr id="105" name="Google Shape;105;p6">
            <a:extLst xmlns:a="http://schemas.openxmlformats.org/drawingml/2006/main">
              <a:ext uri="{FF2B5EF4-FFF2-40B4-BE49-F238E27FC236}">
                <a16:creationId xmlns:a16="http://schemas.microsoft.com/office/drawing/2014/main" id="{BFB21583-45C3-4066-8C04-8D41606400F3}"/>
              </a:ext>
            </a:extLst>
          </p:cNvPr>
          <p:cNvSpPr>
            <a:spLocks xmlns:a="http://schemas.openxmlformats.org/drawingml/2006/main" noGrp="1"/>
          </p:cNvSpPr>
          <p:nvPr/>
        </p:nvSpPr>
        <p:spPr>
          <a:xfrm xmlns:a="http://schemas.openxmlformats.org/drawingml/2006/main">
            <a:off x="3392424"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06" name="Google Shape;106;p6">
            <a:extLst xmlns:a="http://schemas.openxmlformats.org/drawingml/2006/main">
              <a:ext uri="{FF2B5EF4-FFF2-40B4-BE49-F238E27FC236}">
                <a16:creationId xmlns:a16="http://schemas.microsoft.com/office/drawing/2014/main" id="{FE0963FB-0ABF-408C-B796-25F3570E91F4}"/>
              </a:ext>
            </a:extLst>
          </p:cNvPr>
          <p:cNvSpPr>
            <a:spLocks xmlns:a="http://schemas.openxmlformats.org/drawingml/2006/main" noGrp="1"/>
          </p:cNvSpPr>
          <p:nvPr/>
        </p:nvSpPr>
        <p:spPr>
          <a:xfrm xmlns:a="http://schemas.openxmlformats.org/drawingml/2006/main">
            <a:off x="3593592"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2" name="Google Shape;107;p6"/>
          <p:cNvPicPr>
            <a:picLocks xmlns:a="http://schemas.openxmlformats.org/drawingml/2006/main" noChangeAspect="1"/>
          </p:cNvPicPr>
          <p:nvPr/>
        </p:nvPicPr>
        <p:blipFill rotWithShape="1">
          <a:blip xmlns:r="http://schemas.openxmlformats.org/officeDocument/2006/relationships" xmlns:a="http://schemas.openxmlformats.org/drawingml/2006/main" r:embed="Rec4a061207d041be">
            <a:alphaModFix/>
          </a:blip>
          <a:srcRect xmlns:a="http://schemas.openxmlformats.org/drawingml/2006/main" l="0" t="0" r="0" b="0"/>
          <a:stretch xmlns:a="http://schemas.openxmlformats.org/drawingml/2006/main"/>
        </p:blipFill>
        <p:spPr>
          <a:xfrm xmlns:a="http://schemas.openxmlformats.org/drawingml/2006/main">
            <a:off x="3712464" y="2331720"/>
            <a:ext cx="219456" cy="219456"/>
          </a:xfrm>
          <a:prstGeom xmlns:a="http://schemas.openxmlformats.org/drawingml/2006/main" prst="rect">
            <a:avLst/>
          </a:prstGeom>
          <a:ln xmlns:a="http://schemas.openxmlformats.org/drawingml/2006/main">
            <a:noFill/>
          </a:ln>
        </p:spPr>
      </p:pic>
      <p:sp>
        <p:nvSpPr>
          <p:cNvPr id="108" name="Google Shape;108;p6">
            <a:extLst xmlns:a="http://schemas.openxmlformats.org/drawingml/2006/main">
              <a:ext uri="{FF2B5EF4-FFF2-40B4-BE49-F238E27FC236}">
                <a16:creationId xmlns:a16="http://schemas.microsoft.com/office/drawing/2014/main" id="{45AD0337-6E9F-4E07-A605-1EBFCB05343A}"/>
              </a:ext>
            </a:extLst>
          </p:cNvPr>
          <p:cNvSpPr>
            <a:spLocks xmlns:a="http://schemas.openxmlformats.org/drawingml/2006/main" noGrp="1"/>
          </p:cNvSpPr>
          <p:nvPr/>
        </p:nvSpPr>
        <p:spPr>
          <a:xfrm xmlns:a="http://schemas.openxmlformats.org/drawingml/2006/main">
            <a:off x="3593592"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Complementarity</a:t>
            </a:r>
          </a:p>
        </p:txBody>
      </p:sp>
      <p:sp>
        <p:nvSpPr>
          <p:cNvPr id="109" name="Google Shape;109;p6">
            <a:extLst xmlns:a="http://schemas.openxmlformats.org/drawingml/2006/main">
              <a:ext uri="{FF2B5EF4-FFF2-40B4-BE49-F238E27FC236}">
                <a16:creationId xmlns:a16="http://schemas.microsoft.com/office/drawing/2014/main" id="{DCA2BB7D-29F2-470E-9C21-735047DE802B}"/>
              </a:ext>
            </a:extLst>
          </p:cNvPr>
          <p:cNvSpPr>
            <a:spLocks xmlns:a="http://schemas.openxmlformats.org/drawingml/2006/main" noGrp="1"/>
          </p:cNvSpPr>
          <p:nvPr/>
        </p:nvSpPr>
        <p:spPr>
          <a:xfrm xmlns:a="http://schemas.openxmlformats.org/drawingml/2006/main">
            <a:off x="3593592"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Nothing exists in isolation, and each unit is a whole along with its environment. Value is essentiality and participation in orderliness — the definite conduct through which a unit complements others. Usefulness is that essentiality in objects, not the whole of value.</a:t>
            </a:r>
          </a:p>
        </p:txBody>
      </p:sp>
      <p:sp>
        <p:nvSpPr>
          <p:cNvPr id="110" name="Google Shape;110;p6">
            <a:extLst xmlns:a="http://schemas.openxmlformats.org/drawingml/2006/main">
              <a:ext uri="{FF2B5EF4-FFF2-40B4-BE49-F238E27FC236}">
                <a16:creationId xmlns:a16="http://schemas.microsoft.com/office/drawing/2014/main" id="{8450D6FC-AF89-4184-B577-A101F82100A0}"/>
              </a:ext>
            </a:extLst>
          </p:cNvPr>
          <p:cNvSpPr>
            <a:spLocks xmlns:a="http://schemas.openxmlformats.org/drawingml/2006/main" noGrp="1"/>
          </p:cNvSpPr>
          <p:nvPr/>
        </p:nvSpPr>
        <p:spPr>
          <a:xfrm xmlns:a="http://schemas.openxmlformats.org/drawingml/2006/main">
            <a:off x="6144768" y="2011680"/>
            <a:ext cx="2615184" cy="2395728"/>
          </a:xfrm>
          <a:prstGeom xmlns:a="http://schemas.openxmlformats.org/drawingml/2006/main" prst="roundRect">
            <a:avLst>
              <a:gd name="adj" fmla="val 381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11" name="Google Shape;111;p6">
            <a:extLst xmlns:a="http://schemas.openxmlformats.org/drawingml/2006/main">
              <a:ext uri="{FF2B5EF4-FFF2-40B4-BE49-F238E27FC236}">
                <a16:creationId xmlns:a16="http://schemas.microsoft.com/office/drawing/2014/main" id="{272AE6F5-3A10-43A6-8A9B-DACCA9D60ABB}"/>
              </a:ext>
            </a:extLst>
          </p:cNvPr>
          <p:cNvSpPr>
            <a:spLocks xmlns:a="http://schemas.openxmlformats.org/drawingml/2006/main" noGrp="1"/>
          </p:cNvSpPr>
          <p:nvPr/>
        </p:nvSpPr>
        <p:spPr>
          <a:xfrm xmlns:a="http://schemas.openxmlformats.org/drawingml/2006/main">
            <a:off x="6345936" y="2212848"/>
            <a:ext cx="457200" cy="457200"/>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pic>
        <p:nvPicPr>
          <p:cNvPr id="137" name="Google Shape;112;p6"/>
          <p:cNvPicPr>
            <a:picLocks xmlns:a="http://schemas.openxmlformats.org/drawingml/2006/main" noChangeAspect="1"/>
          </p:cNvPicPr>
          <p:nvPr/>
        </p:nvPicPr>
        <p:blipFill rotWithShape="1">
          <a:blip xmlns:r="http://schemas.openxmlformats.org/officeDocument/2006/relationships" xmlns:a="http://schemas.openxmlformats.org/drawingml/2006/main" r:embed="R7cf61c14e8514020">
            <a:alphaModFix/>
          </a:blip>
          <a:srcRect xmlns:a="http://schemas.openxmlformats.org/drawingml/2006/main" l="0" t="0" r="0" b="0"/>
          <a:stretch xmlns:a="http://schemas.openxmlformats.org/drawingml/2006/main"/>
        </p:blipFill>
        <p:spPr>
          <a:xfrm xmlns:a="http://schemas.openxmlformats.org/drawingml/2006/main">
            <a:off x="6464808" y="2331720"/>
            <a:ext cx="219456" cy="219456"/>
          </a:xfrm>
          <a:prstGeom xmlns:a="http://schemas.openxmlformats.org/drawingml/2006/main" prst="rect">
            <a:avLst/>
          </a:prstGeom>
          <a:ln xmlns:a="http://schemas.openxmlformats.org/drawingml/2006/main">
            <a:noFill/>
          </a:ln>
        </p:spPr>
      </p:pic>
      <p:sp>
        <p:nvSpPr>
          <p:cNvPr id="113" name="Google Shape;113;p6">
            <a:extLst xmlns:a="http://schemas.openxmlformats.org/drawingml/2006/main">
              <a:ext uri="{FF2B5EF4-FFF2-40B4-BE49-F238E27FC236}">
                <a16:creationId xmlns:a16="http://schemas.microsoft.com/office/drawing/2014/main" id="{5F84AE7E-4FE8-443E-9D4D-C2B305EA31A4}"/>
              </a:ext>
            </a:extLst>
          </p:cNvPr>
          <p:cNvSpPr>
            <a:spLocks xmlns:a="http://schemas.openxmlformats.org/drawingml/2006/main" noGrp="1"/>
          </p:cNvSpPr>
          <p:nvPr/>
        </p:nvSpPr>
        <p:spPr>
          <a:xfrm xmlns:a="http://schemas.openxmlformats.org/drawingml/2006/main">
            <a:off x="6345936" y="2761488"/>
            <a:ext cx="22402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50" b="1" i="0" u="none" cap="none">
                <a:solidFill>
                  <a:srgbClr val="1E2447"/>
                </a:solidFill>
                <a:latin typeface="Cambria"/>
                <a:ea typeface="Cambria"/>
                <a:cs typeface="Cambria"/>
              </a:rPr>
              <a:t>Fulfilment</a:t>
            </a:r>
          </a:p>
        </p:txBody>
      </p:sp>
      <p:sp>
        <p:nvSpPr>
          <p:cNvPr id="114" name="Google Shape;114;p6">
            <a:extLst xmlns:a="http://schemas.openxmlformats.org/drawingml/2006/main">
              <a:ext uri="{FF2B5EF4-FFF2-40B4-BE49-F238E27FC236}">
                <a16:creationId xmlns:a16="http://schemas.microsoft.com/office/drawing/2014/main" id="{6AD95588-B95F-4284-90AE-532BA6D1F501}"/>
              </a:ext>
            </a:extLst>
          </p:cNvPr>
          <p:cNvSpPr>
            <a:spLocks xmlns:a="http://schemas.openxmlformats.org/drawingml/2006/main" noGrp="1"/>
          </p:cNvSpPr>
          <p:nvPr/>
        </p:nvSpPr>
        <p:spPr>
          <a:xfrm xmlns:a="http://schemas.openxmlformats.org/drawingml/2006/main">
            <a:off x="6345936" y="3090672"/>
            <a:ext cx="22402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Fulfilment is the participation that follows recognition, according to constitution and order. Definite below the human order. At the human order it must be achieved through knowing and believing — which is why it can fail.</a:t>
            </a:r>
          </a:p>
        </p:txBody>
      </p:sp>
      <p:sp>
        <p:nvSpPr>
          <p:cNvPr id="115" name="Google Shape;115;p6">
            <a:extLst xmlns:a="http://schemas.openxmlformats.org/drawingml/2006/main">
              <a:ext uri="{FF2B5EF4-FFF2-40B4-BE49-F238E27FC236}">
                <a16:creationId xmlns:a16="http://schemas.microsoft.com/office/drawing/2014/main" id="{62AA3251-112D-4D49-9F6A-820023242B5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The completeness drive is the drive to fulfil this complementarity: composition is the natural inclination toward coexistence, </a:t>
            </a:r>
            <a:r>
              <a:rPr sz="950" b="0" i="1" u="none" cap="none">
                <a:solidFill>
                  <a:srgbClr val="5A6377"/>
                </a:solidFill>
                <a:latin typeface="Calibri"/>
                <a:ea typeface="Calibri"/>
                <a:cs typeface="Calibri"/>
              </a:rPr>
              <a:t>the sentience threshold is hungry and overfull atoms completing each other</a:t>
            </a:r>
            <a:r>
              <a:rPr sz="950" b="0" i="1" u="none" cap="none">
                <a:solidFill>
                  <a:srgbClr val="5A6377"/>
                </a:solidFill>
                <a:latin typeface="Calibri"/>
                <a:ea typeface="Calibri"/>
                <a:cs typeface="Calibri"/>
              </a:rPr>
              <a:t>, and justice is the human form of the same thing. — SB pp. 49–50, 53, 57, 62; MVD pp. 32, 62; JV pp. 43, 67, 69</a:t>
            </a:r>
          </a:p>
        </p:txBody>
      </p:sp>
    </p:spTree>
    <p:extLst>
      <p:ext uri="{BB962C8B-B14F-4D97-AF65-F5344CB8AC3E}">
        <p14:creationId xmlns:p14="http://schemas.microsoft.com/office/powerpoint/2010/main" val="11315883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Google Shape;121;p7">
            <a:extLst xmlns:a="http://schemas.openxmlformats.org/drawingml/2006/main">
              <a:ext uri="{FF2B5EF4-FFF2-40B4-BE49-F238E27FC236}">
                <a16:creationId xmlns:a16="http://schemas.microsoft.com/office/drawing/2014/main" id="{0569449A-A274-4E16-B333-34D5BF6BC468}"/>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2" name="Google Shape;122;p7">
            <a:extLst xmlns:a="http://schemas.openxmlformats.org/drawingml/2006/main">
              <a:ext uri="{FF2B5EF4-FFF2-40B4-BE49-F238E27FC236}">
                <a16:creationId xmlns:a16="http://schemas.microsoft.com/office/drawing/2014/main" id="{3AFB5F38-1232-4E65-9C9C-1D83AB32ACFF}"/>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3" name="Google Shape;123;p7">
            <a:extLst xmlns:a="http://schemas.openxmlformats.org/drawingml/2006/main">
              <a:ext uri="{FF2B5EF4-FFF2-40B4-BE49-F238E27FC236}">
                <a16:creationId xmlns:a16="http://schemas.microsoft.com/office/drawing/2014/main" id="{FF1B1BEA-AE4E-424A-BB17-1D5511850CCB}"/>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4" name="Google Shape;124;p7">
            <a:extLst xmlns:a="http://schemas.openxmlformats.org/drawingml/2006/main">
              <a:ext uri="{FF2B5EF4-FFF2-40B4-BE49-F238E27FC236}">
                <a16:creationId xmlns:a16="http://schemas.microsoft.com/office/drawing/2014/main" id="{6AC83D93-D9D8-41DE-88E0-DCC165A715AF}"/>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§1.3</a:t>
            </a:r>
          </a:p>
        </p:txBody>
      </p:sp>
      <p:sp>
        <p:nvSpPr>
          <p:cNvPr id="125" name="Google Shape;125;p7">
            <a:extLst xmlns:a="http://schemas.openxmlformats.org/drawingml/2006/main">
              <a:ext uri="{FF2B5EF4-FFF2-40B4-BE49-F238E27FC236}">
                <a16:creationId xmlns:a16="http://schemas.microsoft.com/office/drawing/2014/main" id="{5D78DF99-89E5-4140-8364-D7EDDB245235}"/>
              </a:ext>
            </a:extLst>
          </p:cNvPr>
          <p:cNvSpPr>
            <a:spLocks xmlns:a="http://schemas.openxmlformats.org/drawingml/2006/main" noGrp="1"/>
          </p:cNvSpPr>
          <p:nvPr/>
        </p:nvSpPr>
        <p:spPr>
          <a:xfrm xmlns:a="http://schemas.openxmlformats.org/drawingml/2006/main">
            <a:off x="960120" y="514350"/>
            <a:ext cx="772668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Form, Properties, Nature, and Dharma</a:t>
            </a:r>
          </a:p>
        </p:txBody>
      </p:sp>
      <p:sp>
        <p:nvSpPr>
          <p:cNvPr id="126" name="Google Shape;126;p7">
            <a:extLst xmlns:a="http://schemas.openxmlformats.org/drawingml/2006/main">
              <a:ext uri="{FF2B5EF4-FFF2-40B4-BE49-F238E27FC236}">
                <a16:creationId xmlns:a16="http://schemas.microsoft.com/office/drawing/2014/main" id="{F22EFADD-FB38-41E2-B926-6A30C43AF90D}"/>
              </a:ext>
            </a:extLst>
          </p:cNvPr>
          <p:cNvSpPr>
            <a:spLocks xmlns:a="http://schemas.openxmlformats.org/drawingml/2006/main" noGrp="1"/>
          </p:cNvSpPr>
          <p:nvPr/>
        </p:nvSpPr>
        <p:spPr>
          <a:xfrm xmlns:a="http://schemas.openxmlformats.org/drawingml/2006/main">
            <a:off x="64008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7" name="Google Shape;127;p7">
            <a:extLst xmlns:a="http://schemas.openxmlformats.org/drawingml/2006/main">
              <a:ext uri="{FF2B5EF4-FFF2-40B4-BE49-F238E27FC236}">
                <a16:creationId xmlns:a16="http://schemas.microsoft.com/office/drawing/2014/main" id="{3F928903-C6BA-4173-B798-65605EA410F9}"/>
              </a:ext>
            </a:extLst>
          </p:cNvPr>
          <p:cNvSpPr>
            <a:spLocks xmlns:a="http://schemas.openxmlformats.org/drawingml/2006/main" noGrp="1"/>
          </p:cNvSpPr>
          <p:nvPr/>
        </p:nvSpPr>
        <p:spPr>
          <a:xfrm xmlns:a="http://schemas.openxmlformats.org/drawingml/2006/main">
            <a:off x="82296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8" name="Google Shape;128;p7">
            <a:extLst xmlns:a="http://schemas.openxmlformats.org/drawingml/2006/main">
              <a:ext uri="{FF2B5EF4-FFF2-40B4-BE49-F238E27FC236}">
                <a16:creationId xmlns:a16="http://schemas.microsoft.com/office/drawing/2014/main" id="{0713A3FF-FCE5-4232-821E-146CB3B8BD6E}"/>
              </a:ext>
            </a:extLst>
          </p:cNvPr>
          <p:cNvSpPr>
            <a:spLocks xmlns:a="http://schemas.openxmlformats.org/drawingml/2006/main" noGrp="1"/>
          </p:cNvSpPr>
          <p:nvPr/>
        </p:nvSpPr>
        <p:spPr>
          <a:xfrm xmlns:a="http://schemas.openxmlformats.org/drawingml/2006/main">
            <a:off x="88513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29" name="Google Shape;129;p7">
            <a:extLst xmlns:a="http://schemas.openxmlformats.org/drawingml/2006/main">
              <a:ext uri="{FF2B5EF4-FFF2-40B4-BE49-F238E27FC236}">
                <a16:creationId xmlns:a16="http://schemas.microsoft.com/office/drawing/2014/main" id="{BC55DAA0-0B8E-474D-9049-67DCC4F87E59}"/>
              </a:ext>
            </a:extLst>
          </p:cNvPr>
          <p:cNvSpPr>
            <a:spLocks xmlns:a="http://schemas.openxmlformats.org/drawingml/2006/main" noGrp="1"/>
          </p:cNvSpPr>
          <p:nvPr/>
        </p:nvSpPr>
        <p:spPr>
          <a:xfrm xmlns:a="http://schemas.openxmlformats.org/drawingml/2006/main">
            <a:off x="93799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0" name="Google Shape;130;p7">
            <a:extLst xmlns:a="http://schemas.openxmlformats.org/drawingml/2006/main">
              <a:ext uri="{FF2B5EF4-FFF2-40B4-BE49-F238E27FC236}">
                <a16:creationId xmlns:a16="http://schemas.microsoft.com/office/drawing/2014/main" id="{3279881E-8015-4698-B672-C8EC5DD4EFD2}"/>
              </a:ext>
            </a:extLst>
          </p:cNvPr>
          <p:cNvSpPr>
            <a:spLocks xmlns:a="http://schemas.openxmlformats.org/drawingml/2006/main" noGrp="1"/>
          </p:cNvSpPr>
          <p:nvPr/>
        </p:nvSpPr>
        <p:spPr>
          <a:xfrm xmlns:a="http://schemas.openxmlformats.org/drawingml/2006/main">
            <a:off x="126187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Form</a:t>
            </a:r>
          </a:p>
        </p:txBody>
      </p:sp>
      <p:sp>
        <p:nvSpPr>
          <p:cNvPr id="131" name="Google Shape;131;p7">
            <a:extLst xmlns:a="http://schemas.openxmlformats.org/drawingml/2006/main">
              <a:ext uri="{FF2B5EF4-FFF2-40B4-BE49-F238E27FC236}">
                <a16:creationId xmlns:a16="http://schemas.microsoft.com/office/drawing/2014/main" id="{EE46E617-9E7A-47CE-AF1F-A7D00B26D4A0}"/>
              </a:ext>
            </a:extLst>
          </p:cNvPr>
          <p:cNvSpPr>
            <a:spLocks xmlns:a="http://schemas.openxmlformats.org/drawingml/2006/main" noGrp="1"/>
          </p:cNvSpPr>
          <p:nvPr/>
        </p:nvSpPr>
        <p:spPr>
          <a:xfrm xmlns:a="http://schemas.openxmlformats.org/drawingml/2006/main">
            <a:off x="126187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Real boundary and configuration. Example: this peepal tree is one bounded living form with a definite trunk, branches, leaves, and roots.</a:t>
            </a:r>
          </a:p>
        </p:txBody>
      </p:sp>
      <p:sp>
        <p:nvSpPr>
          <p:cNvPr id="132" name="Google Shape;132;p7">
            <a:extLst xmlns:a="http://schemas.openxmlformats.org/drawingml/2006/main">
              <a:ext uri="{FF2B5EF4-FFF2-40B4-BE49-F238E27FC236}">
                <a16:creationId xmlns:a16="http://schemas.microsoft.com/office/drawing/2014/main" id="{B3F006A5-0C82-4032-BFF7-E7C00B02D836}"/>
              </a:ext>
            </a:extLst>
          </p:cNvPr>
          <p:cNvSpPr>
            <a:spLocks xmlns:a="http://schemas.openxmlformats.org/drawingml/2006/main" noGrp="1"/>
          </p:cNvSpPr>
          <p:nvPr/>
        </p:nvSpPr>
        <p:spPr>
          <a:xfrm xmlns:a="http://schemas.openxmlformats.org/drawingml/2006/main">
            <a:off x="4709160" y="128016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3" name="Google Shape;133;p7">
            <a:extLst xmlns:a="http://schemas.openxmlformats.org/drawingml/2006/main">
              <a:ext uri="{FF2B5EF4-FFF2-40B4-BE49-F238E27FC236}">
                <a16:creationId xmlns:a16="http://schemas.microsoft.com/office/drawing/2014/main" id="{FBA67456-B9AC-4516-8676-E2B2ACC31A2C}"/>
              </a:ext>
            </a:extLst>
          </p:cNvPr>
          <p:cNvSpPr>
            <a:spLocks xmlns:a="http://schemas.openxmlformats.org/drawingml/2006/main" noGrp="1"/>
          </p:cNvSpPr>
          <p:nvPr/>
        </p:nvSpPr>
        <p:spPr>
          <a:xfrm xmlns:a="http://schemas.openxmlformats.org/drawingml/2006/main">
            <a:off x="4892040" y="146304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4" name="Google Shape;134;p7">
            <a:extLst xmlns:a="http://schemas.openxmlformats.org/drawingml/2006/main">
              <a:ext uri="{FF2B5EF4-FFF2-40B4-BE49-F238E27FC236}">
                <a16:creationId xmlns:a16="http://schemas.microsoft.com/office/drawing/2014/main" id="{402D276D-FADF-4712-AADA-5E15FD18B8F7}"/>
              </a:ext>
            </a:extLst>
          </p:cNvPr>
          <p:cNvSpPr>
            <a:spLocks xmlns:a="http://schemas.openxmlformats.org/drawingml/2006/main" noGrp="1"/>
          </p:cNvSpPr>
          <p:nvPr/>
        </p:nvSpPr>
        <p:spPr>
          <a:xfrm xmlns:a="http://schemas.openxmlformats.org/drawingml/2006/main">
            <a:off x="4954219" y="152521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5" name="Google Shape;135;p7">
            <a:extLst xmlns:a="http://schemas.openxmlformats.org/drawingml/2006/main">
              <a:ext uri="{FF2B5EF4-FFF2-40B4-BE49-F238E27FC236}">
                <a16:creationId xmlns:a16="http://schemas.microsoft.com/office/drawing/2014/main" id="{74BA38F1-4DC9-4B82-918B-A0F226961D01}"/>
              </a:ext>
            </a:extLst>
          </p:cNvPr>
          <p:cNvSpPr>
            <a:spLocks xmlns:a="http://schemas.openxmlformats.org/drawingml/2006/main" noGrp="1"/>
          </p:cNvSpPr>
          <p:nvPr/>
        </p:nvSpPr>
        <p:spPr>
          <a:xfrm xmlns:a="http://schemas.openxmlformats.org/drawingml/2006/main">
            <a:off x="5007072" y="157807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6" name="Google Shape;136;p7">
            <a:extLst xmlns:a="http://schemas.openxmlformats.org/drawingml/2006/main">
              <a:ext uri="{FF2B5EF4-FFF2-40B4-BE49-F238E27FC236}">
                <a16:creationId xmlns:a16="http://schemas.microsoft.com/office/drawing/2014/main" id="{7C820C43-92C7-48AA-8ACE-A42BB6B479D8}"/>
              </a:ext>
            </a:extLst>
          </p:cNvPr>
          <p:cNvSpPr>
            <a:spLocks xmlns:a="http://schemas.openxmlformats.org/drawingml/2006/main" noGrp="1"/>
          </p:cNvSpPr>
          <p:nvPr/>
        </p:nvSpPr>
        <p:spPr>
          <a:xfrm xmlns:a="http://schemas.openxmlformats.org/drawingml/2006/main">
            <a:off x="5330952" y="138988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Properties</a:t>
            </a:r>
          </a:p>
        </p:txBody>
      </p:sp>
      <p:sp>
        <p:nvSpPr>
          <p:cNvPr id="137" name="Google Shape;137;p7">
            <a:extLst xmlns:a="http://schemas.openxmlformats.org/drawingml/2006/main">
              <a:ext uri="{FF2B5EF4-FFF2-40B4-BE49-F238E27FC236}">
                <a16:creationId xmlns:a16="http://schemas.microsoft.com/office/drawing/2014/main" id="{6197620A-1878-4EB3-82D6-22E6EEAFF152}"/>
              </a:ext>
            </a:extLst>
          </p:cNvPr>
          <p:cNvSpPr>
            <a:spLocks xmlns:a="http://schemas.openxmlformats.org/drawingml/2006/main" noGrp="1"/>
          </p:cNvSpPr>
          <p:nvPr/>
        </p:nvSpPr>
        <p:spPr>
          <a:xfrm xmlns:a="http://schemas.openxmlformats.org/drawingml/2006/main">
            <a:off x="5330952" y="168249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Guna is capacity and relative effect. In the peepal: nutrition, growth, repair, seed production, and degeneration become evident under definite conditions.</a:t>
            </a:r>
          </a:p>
        </p:txBody>
      </p:sp>
      <p:sp>
        <p:nvSpPr>
          <p:cNvPr id="138" name="Google Shape;138;p7">
            <a:extLst xmlns:a="http://schemas.openxmlformats.org/drawingml/2006/main">
              <a:ext uri="{FF2B5EF4-FFF2-40B4-BE49-F238E27FC236}">
                <a16:creationId xmlns:a16="http://schemas.microsoft.com/office/drawing/2014/main" id="{ABAAA305-E921-4E2C-9495-F35ACED1541E}"/>
              </a:ext>
            </a:extLst>
          </p:cNvPr>
          <p:cNvSpPr>
            <a:spLocks xmlns:a="http://schemas.openxmlformats.org/drawingml/2006/main" noGrp="1"/>
          </p:cNvSpPr>
          <p:nvPr/>
        </p:nvSpPr>
        <p:spPr>
          <a:xfrm xmlns:a="http://schemas.openxmlformats.org/drawingml/2006/main">
            <a:off x="64008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39" name="Google Shape;139;p7">
            <a:extLst xmlns:a="http://schemas.openxmlformats.org/drawingml/2006/main">
              <a:ext uri="{FF2B5EF4-FFF2-40B4-BE49-F238E27FC236}">
                <a16:creationId xmlns:a16="http://schemas.microsoft.com/office/drawing/2014/main" id="{68872607-854C-40F0-8E05-997A43DC5F05}"/>
              </a:ext>
            </a:extLst>
          </p:cNvPr>
          <p:cNvSpPr>
            <a:spLocks xmlns:a="http://schemas.openxmlformats.org/drawingml/2006/main" noGrp="1"/>
          </p:cNvSpPr>
          <p:nvPr/>
        </p:nvSpPr>
        <p:spPr>
          <a:xfrm xmlns:a="http://schemas.openxmlformats.org/drawingml/2006/main">
            <a:off x="82296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0" name="Google Shape;140;p7">
            <a:extLst xmlns:a="http://schemas.openxmlformats.org/drawingml/2006/main">
              <a:ext uri="{FF2B5EF4-FFF2-40B4-BE49-F238E27FC236}">
                <a16:creationId xmlns:a16="http://schemas.microsoft.com/office/drawing/2014/main" id="{E8ECDDF5-B5FF-4101-A5F1-2C52F5D4AECB}"/>
              </a:ext>
            </a:extLst>
          </p:cNvPr>
          <p:cNvSpPr>
            <a:spLocks xmlns:a="http://schemas.openxmlformats.org/drawingml/2006/main" noGrp="1"/>
          </p:cNvSpPr>
          <p:nvPr/>
        </p:nvSpPr>
        <p:spPr>
          <a:xfrm xmlns:a="http://schemas.openxmlformats.org/drawingml/2006/main">
            <a:off x="88513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1" name="Google Shape;141;p7">
            <a:extLst xmlns:a="http://schemas.openxmlformats.org/drawingml/2006/main">
              <a:ext uri="{FF2B5EF4-FFF2-40B4-BE49-F238E27FC236}">
                <a16:creationId xmlns:a16="http://schemas.microsoft.com/office/drawing/2014/main" id="{23A623C9-754E-46F5-970A-0BC5E748AA8A}"/>
              </a:ext>
            </a:extLst>
          </p:cNvPr>
          <p:cNvSpPr>
            <a:spLocks xmlns:a="http://schemas.openxmlformats.org/drawingml/2006/main" noGrp="1"/>
          </p:cNvSpPr>
          <p:nvPr/>
        </p:nvSpPr>
        <p:spPr>
          <a:xfrm xmlns:a="http://schemas.openxmlformats.org/drawingml/2006/main">
            <a:off x="93799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2" name="Google Shape;142;p7">
            <a:extLst xmlns:a="http://schemas.openxmlformats.org/drawingml/2006/main">
              <a:ext uri="{FF2B5EF4-FFF2-40B4-BE49-F238E27FC236}">
                <a16:creationId xmlns:a16="http://schemas.microsoft.com/office/drawing/2014/main" id="{B6835301-94E6-408C-8C06-AAAE5CC2BEA1}"/>
              </a:ext>
            </a:extLst>
          </p:cNvPr>
          <p:cNvSpPr>
            <a:spLocks xmlns:a="http://schemas.openxmlformats.org/drawingml/2006/main" noGrp="1"/>
          </p:cNvSpPr>
          <p:nvPr/>
        </p:nvSpPr>
        <p:spPr>
          <a:xfrm xmlns:a="http://schemas.openxmlformats.org/drawingml/2006/main">
            <a:off x="126187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Essential nature</a:t>
            </a:r>
          </a:p>
        </p:txBody>
      </p:sp>
      <p:sp>
        <p:nvSpPr>
          <p:cNvPr id="143" name="Google Shape;143;p7">
            <a:extLst xmlns:a="http://schemas.openxmlformats.org/drawingml/2006/main">
              <a:ext uri="{FF2B5EF4-FFF2-40B4-BE49-F238E27FC236}">
                <a16:creationId xmlns:a16="http://schemas.microsoft.com/office/drawing/2014/main" id="{3010F32F-C47C-46C9-AE74-07AAECCD40F9}"/>
              </a:ext>
            </a:extLst>
          </p:cNvPr>
          <p:cNvSpPr>
            <a:spLocks xmlns:a="http://schemas.openxmlformats.org/drawingml/2006/main" noGrp="1"/>
          </p:cNvSpPr>
          <p:nvPr/>
        </p:nvSpPr>
        <p:spPr>
          <a:xfrm xmlns:a="http://schemas.openxmlformats.org/drawingml/2006/main">
            <a:off x="126187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Svabhav is usefulness in context. For the peepal: vitalising while its living organisation is maintained; devitalising when that organisation breaks down.</a:t>
            </a:r>
          </a:p>
        </p:txBody>
      </p:sp>
      <p:sp>
        <p:nvSpPr>
          <p:cNvPr id="144" name="Google Shape;144;p7">
            <a:extLst xmlns:a="http://schemas.openxmlformats.org/drawingml/2006/main">
              <a:ext uri="{FF2B5EF4-FFF2-40B4-BE49-F238E27FC236}">
                <a16:creationId xmlns:a16="http://schemas.microsoft.com/office/drawing/2014/main" id="{979C8C10-E5C9-40FA-BEFF-C9C37F38BCD2}"/>
              </a:ext>
            </a:extLst>
          </p:cNvPr>
          <p:cNvSpPr>
            <a:spLocks xmlns:a="http://schemas.openxmlformats.org/drawingml/2006/main" noGrp="1"/>
          </p:cNvSpPr>
          <p:nvPr/>
        </p:nvSpPr>
        <p:spPr>
          <a:xfrm xmlns:a="http://schemas.openxmlformats.org/drawingml/2006/main">
            <a:off x="4709160" y="2606040"/>
            <a:ext cx="3794760" cy="1188720"/>
          </a:xfrm>
          <a:prstGeom xmlns:a="http://schemas.openxmlformats.org/drawingml/2006/main" prst="roundRect">
            <a:avLst>
              <a:gd name="adj" fmla="val 6923"/>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5" name="Google Shape;145;p7">
            <a:extLst xmlns:a="http://schemas.openxmlformats.org/drawingml/2006/main">
              <a:ext uri="{FF2B5EF4-FFF2-40B4-BE49-F238E27FC236}">
                <a16:creationId xmlns:a16="http://schemas.microsoft.com/office/drawing/2014/main" id="{B7BE9008-3C5F-4DE6-B686-7614C71C891D}"/>
              </a:ext>
            </a:extLst>
          </p:cNvPr>
          <p:cNvSpPr>
            <a:spLocks xmlns:a="http://schemas.openxmlformats.org/drawingml/2006/main" noGrp="1"/>
          </p:cNvSpPr>
          <p:nvPr/>
        </p:nvSpPr>
        <p:spPr>
          <a:xfrm xmlns:a="http://schemas.openxmlformats.org/drawingml/2006/main">
            <a:off x="4892040" y="2788920"/>
            <a:ext cx="310896" cy="31089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6" name="Google Shape;146;p7">
            <a:extLst xmlns:a="http://schemas.openxmlformats.org/drawingml/2006/main">
              <a:ext uri="{FF2B5EF4-FFF2-40B4-BE49-F238E27FC236}">
                <a16:creationId xmlns:a16="http://schemas.microsoft.com/office/drawing/2014/main" id="{2544BADA-8352-4FD8-AAAE-F1A46BB7D4D9}"/>
              </a:ext>
            </a:extLst>
          </p:cNvPr>
          <p:cNvSpPr>
            <a:spLocks xmlns:a="http://schemas.openxmlformats.org/drawingml/2006/main" noGrp="1"/>
          </p:cNvSpPr>
          <p:nvPr/>
        </p:nvSpPr>
        <p:spPr>
          <a:xfrm xmlns:a="http://schemas.openxmlformats.org/drawingml/2006/main">
            <a:off x="4954219" y="2851099"/>
            <a:ext cx="186538" cy="186538"/>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7" name="Google Shape;147;p7">
            <a:extLst xmlns:a="http://schemas.openxmlformats.org/drawingml/2006/main">
              <a:ext uri="{FF2B5EF4-FFF2-40B4-BE49-F238E27FC236}">
                <a16:creationId xmlns:a16="http://schemas.microsoft.com/office/drawing/2014/main" id="{F167243D-1618-4FCA-9349-F9976377FB23}"/>
              </a:ext>
            </a:extLst>
          </p:cNvPr>
          <p:cNvSpPr>
            <a:spLocks xmlns:a="http://schemas.openxmlformats.org/drawingml/2006/main" noGrp="1"/>
          </p:cNvSpPr>
          <p:nvPr/>
        </p:nvSpPr>
        <p:spPr>
          <a:xfrm xmlns:a="http://schemas.openxmlformats.org/drawingml/2006/main">
            <a:off x="5007072" y="2903952"/>
            <a:ext cx="80833" cy="80833"/>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48" name="Google Shape;148;p7">
            <a:extLst xmlns:a="http://schemas.openxmlformats.org/drawingml/2006/main">
              <a:ext uri="{FF2B5EF4-FFF2-40B4-BE49-F238E27FC236}">
                <a16:creationId xmlns:a16="http://schemas.microsoft.com/office/drawing/2014/main" id="{7EA35A5F-6CC8-4E99-909D-22E5F8E152BE}"/>
              </a:ext>
            </a:extLst>
          </p:cNvPr>
          <p:cNvSpPr>
            <a:spLocks xmlns:a="http://schemas.openxmlformats.org/drawingml/2006/main" noGrp="1"/>
          </p:cNvSpPr>
          <p:nvPr/>
        </p:nvSpPr>
        <p:spPr>
          <a:xfrm xmlns:a="http://schemas.openxmlformats.org/drawingml/2006/main">
            <a:off x="5330952" y="2715768"/>
            <a:ext cx="3017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1E2447"/>
                </a:solidFill>
                <a:latin typeface="Cambria"/>
                <a:ea typeface="Cambria"/>
                <a:cs typeface="Cambria"/>
              </a:rPr>
              <a:t>Dharma</a:t>
            </a:r>
          </a:p>
        </p:txBody>
      </p:sp>
      <p:sp>
        <p:nvSpPr>
          <p:cNvPr id="149" name="Google Shape;149;p7">
            <a:extLst xmlns:a="http://schemas.openxmlformats.org/drawingml/2006/main">
              <a:ext uri="{FF2B5EF4-FFF2-40B4-BE49-F238E27FC236}">
                <a16:creationId xmlns:a16="http://schemas.microsoft.com/office/drawing/2014/main" id="{264C2BCA-8EAD-4F4B-A664-235EDD8F95DE}"/>
              </a:ext>
            </a:extLst>
          </p:cNvPr>
          <p:cNvSpPr>
            <a:spLocks xmlns:a="http://schemas.openxmlformats.org/drawingml/2006/main" noGrp="1"/>
          </p:cNvSpPr>
          <p:nvPr/>
        </p:nvSpPr>
        <p:spPr>
          <a:xfrm xmlns:a="http://schemas.openxmlformats.org/drawingml/2006/main">
            <a:off x="5330952" y="3008376"/>
            <a:ext cx="30632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Innateness and order-specific fulfilment. The peepal has existence + growth. Seed-conformance is its mode of conduct, not an additional dharma.</a:t>
            </a:r>
          </a:p>
        </p:txBody>
      </p:sp>
      <p:sp>
        <p:nvSpPr>
          <p:cNvPr id="150" name="Google Shape;150;p7">
            <a:extLst xmlns:a="http://schemas.openxmlformats.org/drawingml/2006/main">
              <a:ext uri="{FF2B5EF4-FFF2-40B4-BE49-F238E27FC236}">
                <a16:creationId xmlns:a16="http://schemas.microsoft.com/office/drawing/2014/main" id="{9E8F3EB5-A45D-439A-AC12-BFF96C206909}"/>
              </a:ext>
            </a:extLst>
          </p:cNvPr>
          <p:cNvSpPr>
            <a:spLocks xmlns:a="http://schemas.openxmlformats.org/drawingml/2006/main" noGrp="1"/>
          </p:cNvSpPr>
          <p:nvPr/>
        </p:nvSpPr>
        <p:spPr>
          <a:xfrm xmlns:a="http://schemas.openxmlformats.org/drawingml/2006/main">
            <a:off x="640080" y="3977640"/>
            <a:ext cx="7863840" cy="749808"/>
          </a:xfrm>
          <a:prstGeom xmlns:a="http://schemas.openxmlformats.org/drawingml/2006/main" prst="roundRect">
            <a:avLst>
              <a:gd name="adj" fmla="val 10976"/>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1" name="Google Shape;151;p7">
            <a:extLst xmlns:a="http://schemas.openxmlformats.org/drawingml/2006/main">
              <a:ext uri="{FF2B5EF4-FFF2-40B4-BE49-F238E27FC236}">
                <a16:creationId xmlns:a16="http://schemas.microsoft.com/office/drawing/2014/main" id="{A0B8B063-BA19-4446-84D1-9D5E60BA0CF4}"/>
              </a:ext>
            </a:extLst>
          </p:cNvPr>
          <p:cNvSpPr>
            <a:spLocks xmlns:a="http://schemas.openxmlformats.org/drawingml/2006/main" noGrp="1"/>
          </p:cNvSpPr>
          <p:nvPr/>
        </p:nvSpPr>
        <p:spPr>
          <a:xfrm xmlns:a="http://schemas.openxmlformats.org/drawingml/2006/main">
            <a:off x="868680" y="3977640"/>
            <a:ext cx="740664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9A6414"/>
                </a:solidFill>
                <a:latin typeface="Calibri"/>
                <a:ea typeface="Calibri"/>
                <a:cs typeface="Calibri"/>
              </a:rPr>
              <a:t>The tree as a composite form can die and decompose while its constituent material units persist and enter other compositions. Persistence of existence is not persistence of one configuration.</a:t>
            </a:r>
          </a:p>
        </p:txBody>
      </p:sp>
      <p:sp>
        <p:nvSpPr>
          <p:cNvPr id="152" name="Google Shape;152;p7">
            <a:extLst xmlns:a="http://schemas.openxmlformats.org/drawingml/2006/main">
              <a:ext uri="{FF2B5EF4-FFF2-40B4-BE49-F238E27FC236}">
                <a16:creationId xmlns:a16="http://schemas.microsoft.com/office/drawing/2014/main" id="{0AC48ED1-74CE-491C-8680-B52C6D12D91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11, 42, 47, 50–51  ·  SB pp. 55, 71, 86</a:t>
            </a:r>
          </a:p>
        </p:txBody>
      </p:sp>
    </p:spTree>
    <p:extLst>
      <p:ext uri="{BB962C8B-B14F-4D97-AF65-F5344CB8AC3E}">
        <p14:creationId xmlns:p14="http://schemas.microsoft.com/office/powerpoint/2010/main" val="7265482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 name="Google Shape;158;p8">
            <a:extLst xmlns:a="http://schemas.openxmlformats.org/drawingml/2006/main">
              <a:ext uri="{FF2B5EF4-FFF2-40B4-BE49-F238E27FC236}">
                <a16:creationId xmlns:a16="http://schemas.microsoft.com/office/drawing/2014/main" id="{F9F84B1D-6DC1-4215-A195-CAF7397FD448}"/>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59" name="Google Shape;159;p8">
            <a:extLst xmlns:a="http://schemas.openxmlformats.org/drawingml/2006/main">
              <a:ext uri="{FF2B5EF4-FFF2-40B4-BE49-F238E27FC236}">
                <a16:creationId xmlns:a16="http://schemas.microsoft.com/office/drawing/2014/main" id="{A834E3FE-30D5-4FCB-A5E0-5C23B0ABBE5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0" name="Google Shape;160;p8">
            <a:extLst xmlns:a="http://schemas.openxmlformats.org/drawingml/2006/main">
              <a:ext uri="{FF2B5EF4-FFF2-40B4-BE49-F238E27FC236}">
                <a16:creationId xmlns:a16="http://schemas.microsoft.com/office/drawing/2014/main" id="{8F6694AE-E9BE-4AF4-A66C-C7880F700EB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1" name="Google Shape;161;p8">
            <a:extLst xmlns:a="http://schemas.openxmlformats.org/drawingml/2006/main">
              <a:ext uri="{FF2B5EF4-FFF2-40B4-BE49-F238E27FC236}">
                <a16:creationId xmlns:a16="http://schemas.microsoft.com/office/drawing/2014/main" id="{5D20F6CF-695A-4151-A950-52AC4194D34E}"/>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§1.4 · COMPLEMENTARITY BECOMES VALUE</a:t>
            </a:r>
          </a:p>
        </p:txBody>
      </p:sp>
      <p:sp>
        <p:nvSpPr>
          <p:cNvPr id="162" name="Google Shape;162;p8">
            <a:extLst xmlns:a="http://schemas.openxmlformats.org/drawingml/2006/main">
              <a:ext uri="{FF2B5EF4-FFF2-40B4-BE49-F238E27FC236}">
                <a16:creationId xmlns:a16="http://schemas.microsoft.com/office/drawing/2014/main" id="{C5DD056F-A08E-4F2D-B92E-0DBA8EE8776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Units in Relationships</a:t>
            </a:r>
          </a:p>
        </p:txBody>
      </p:sp>
      <p:sp>
        <p:nvSpPr>
          <p:cNvPr id="163" name="Google Shape;163;p8">
            <a:extLst xmlns:a="http://schemas.openxmlformats.org/drawingml/2006/main">
              <a:ext uri="{FF2B5EF4-FFF2-40B4-BE49-F238E27FC236}">
                <a16:creationId xmlns:a16="http://schemas.microsoft.com/office/drawing/2014/main" id="{DEC51957-129A-43E2-8B54-6B0E245C25B1}"/>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The complementarity of slide 8 becomes evident through relationships among units. Its expression is definite in the material, bio, and animal orders. At the human order alone it must be recognised, evaluated, and fulfilled — so here alone it can be got wrong.</a:t>
            </a:r>
          </a:p>
        </p:txBody>
      </p:sp>
      <p:sp>
        <p:nvSpPr>
          <p:cNvPr id="164" name="Google Shape;164;p8">
            <a:extLst xmlns:a="http://schemas.openxmlformats.org/drawingml/2006/main">
              <a:ext uri="{FF2B5EF4-FFF2-40B4-BE49-F238E27FC236}">
                <a16:creationId xmlns:a16="http://schemas.microsoft.com/office/drawing/2014/main" id="{55F81FC9-9FE5-4D64-83C5-B9CD09FA0F07}"/>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5" name="Google Shape;165;p8">
            <a:extLst xmlns:a="http://schemas.openxmlformats.org/drawingml/2006/main">
              <a:ext uri="{FF2B5EF4-FFF2-40B4-BE49-F238E27FC236}">
                <a16:creationId xmlns:a16="http://schemas.microsoft.com/office/drawing/2014/main" id="{726D1099-0694-4291-A549-3F3CA5BBB846}"/>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1E2447"/>
                </a:solidFill>
                <a:latin typeface="Cambria"/>
                <a:ea typeface="Cambria"/>
                <a:cs typeface="Cambria"/>
              </a:rPr>
              <a:t>Relationship</a:t>
            </a:r>
          </a:p>
        </p:txBody>
      </p:sp>
      <p:sp>
        <p:nvSpPr>
          <p:cNvPr id="166" name="Google Shape;166;p8">
            <a:extLst xmlns:a="http://schemas.openxmlformats.org/drawingml/2006/main">
              <a:ext uri="{FF2B5EF4-FFF2-40B4-BE49-F238E27FC236}">
                <a16:creationId xmlns:a16="http://schemas.microsoft.com/office/drawing/2014/main" id="{F24C4CA3-F0EB-483B-BCA3-39B1047C9273}"/>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Mutuality whose expectations and fulfilment are definite in the relation's completeness — e.g. parent and child.</a:t>
            </a:r>
          </a:p>
        </p:txBody>
      </p:sp>
      <p:sp>
        <p:nvSpPr>
          <p:cNvPr id="167" name="Google Shape;167;p8">
            <a:extLst xmlns:a="http://schemas.openxmlformats.org/drawingml/2006/main">
              <a:ext uri="{FF2B5EF4-FFF2-40B4-BE49-F238E27FC236}">
                <a16:creationId xmlns:a16="http://schemas.microsoft.com/office/drawing/2014/main" id="{F87EA41D-F266-427C-B296-8A5DE68EA8C2}"/>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68" name="Google Shape;168;p8">
            <a:extLst xmlns:a="http://schemas.openxmlformats.org/drawingml/2006/main">
              <a:ext uri="{FF2B5EF4-FFF2-40B4-BE49-F238E27FC236}">
                <a16:creationId xmlns:a16="http://schemas.microsoft.com/office/drawing/2014/main" id="{60A8DB29-8139-41D5-B02E-FB03B7513242}"/>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Association</a:t>
            </a:r>
          </a:p>
        </p:txBody>
      </p:sp>
      <p:sp>
        <p:nvSpPr>
          <p:cNvPr id="169" name="Google Shape;169;p8">
            <a:extLst xmlns:a="http://schemas.openxmlformats.org/drawingml/2006/main">
              <a:ext uri="{FF2B5EF4-FFF2-40B4-BE49-F238E27FC236}">
                <a16:creationId xmlns:a16="http://schemas.microsoft.com/office/drawing/2014/main" id="{58D0CFD6-5F25-4801-94B8-9739BAA03AF7}"/>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Mutuality where expectations are voluntary — e.g. neighbours who share a wall.</a:t>
            </a:r>
          </a:p>
        </p:txBody>
      </p:sp>
      <p:sp>
        <p:nvSpPr>
          <p:cNvPr id="170" name="Google Shape;170;p8">
            <a:extLst xmlns:a="http://schemas.openxmlformats.org/drawingml/2006/main">
              <a:ext uri="{FF2B5EF4-FFF2-40B4-BE49-F238E27FC236}">
                <a16:creationId xmlns:a16="http://schemas.microsoft.com/office/drawing/2014/main" id="{1C053D7A-1774-40CE-865A-219A0A24EB1F}"/>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Thirty values: four jeevan, six human, nine established, nine expressed (shishta), and two object values. Established values are paired with expressed values in conduct.</a:t>
            </a:r>
          </a:p>
        </p:txBody>
      </p:sp>
      <p:sp>
        <p:nvSpPr>
          <p:cNvPr id="171" name="Google Shape;171;p8">
            <a:extLst xmlns:a="http://schemas.openxmlformats.org/drawingml/2006/main">
              <a:ext uri="{FF2B5EF4-FFF2-40B4-BE49-F238E27FC236}">
                <a16:creationId xmlns:a16="http://schemas.microsoft.com/office/drawing/2014/main" id="{6DC04A20-B918-49D0-976D-BB143E75280F}"/>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2" name="Google Shape;172;p8">
            <a:extLst xmlns:a="http://schemas.openxmlformats.org/drawingml/2006/main">
              <a:ext uri="{FF2B5EF4-FFF2-40B4-BE49-F238E27FC236}">
                <a16:creationId xmlns:a16="http://schemas.microsoft.com/office/drawing/2014/main" id="{7EF3F5F5-0E78-431C-9E98-48BD1377FB4F}"/>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Knowing</a:t>
            </a:r>
          </a:p>
        </p:txBody>
      </p:sp>
      <p:sp>
        <p:nvSpPr>
          <p:cNvPr id="173" name="Google Shape;173;p8">
            <a:extLst xmlns:a="http://schemas.openxmlformats.org/drawingml/2006/main">
              <a:ext uri="{FF2B5EF4-FFF2-40B4-BE49-F238E27FC236}">
                <a16:creationId xmlns:a16="http://schemas.microsoft.com/office/drawing/2014/main" id="{95912ACF-7BCA-480C-8FF9-60A356103978}"/>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4" name="Google Shape;174;p8">
            <a:extLst xmlns:a="http://schemas.openxmlformats.org/drawingml/2006/main">
              <a:ext uri="{FF2B5EF4-FFF2-40B4-BE49-F238E27FC236}">
                <a16:creationId xmlns:a16="http://schemas.microsoft.com/office/drawing/2014/main" id="{155904C9-1DD3-42F5-ABC1-BB9BE21D6DC3}"/>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5" name="Google Shape;175;p8">
            <a:extLst xmlns:a="http://schemas.openxmlformats.org/drawingml/2006/main">
              <a:ext uri="{FF2B5EF4-FFF2-40B4-BE49-F238E27FC236}">
                <a16:creationId xmlns:a16="http://schemas.microsoft.com/office/drawing/2014/main" id="{481CE8F5-930E-47CC-8DA6-8BBA7F52372C}"/>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Believing</a:t>
            </a:r>
          </a:p>
        </p:txBody>
      </p:sp>
      <p:sp>
        <p:nvSpPr>
          <p:cNvPr id="176" name="Google Shape;176;p8">
            <a:extLst xmlns:a="http://schemas.openxmlformats.org/drawingml/2006/main">
              <a:ext uri="{FF2B5EF4-FFF2-40B4-BE49-F238E27FC236}">
                <a16:creationId xmlns:a16="http://schemas.microsoft.com/office/drawing/2014/main" id="{924D7205-9C4A-4398-AEDB-A16F6BB592B9}"/>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77" name="Google Shape;177;p8">
            <a:extLst xmlns:a="http://schemas.openxmlformats.org/drawingml/2006/main">
              <a:ext uri="{FF2B5EF4-FFF2-40B4-BE49-F238E27FC236}">
                <a16:creationId xmlns:a16="http://schemas.microsoft.com/office/drawing/2014/main" id="{A7897A17-DDF7-4BA9-A872-FBAA48BA625A}"/>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78" name="Google Shape;178;p8">
            <a:extLst xmlns:a="http://schemas.openxmlformats.org/drawingml/2006/main">
              <a:ext uri="{FF2B5EF4-FFF2-40B4-BE49-F238E27FC236}">
                <a16:creationId xmlns:a16="http://schemas.microsoft.com/office/drawing/2014/main" id="{FC8B7616-7F8F-48DE-A376-C19FEF25E199}"/>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Recognising</a:t>
            </a:r>
          </a:p>
        </p:txBody>
      </p:sp>
      <p:sp>
        <p:nvSpPr>
          <p:cNvPr id="179" name="Google Shape;179;p8">
            <a:extLst xmlns:a="http://schemas.openxmlformats.org/drawingml/2006/main">
              <a:ext uri="{FF2B5EF4-FFF2-40B4-BE49-F238E27FC236}">
                <a16:creationId xmlns:a16="http://schemas.microsoft.com/office/drawing/2014/main" id="{B5301D89-98C7-4730-A3C7-45B491738060}"/>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180" name="Google Shape;180;p8">
            <a:extLst xmlns:a="http://schemas.openxmlformats.org/drawingml/2006/main">
              <a:ext uri="{FF2B5EF4-FFF2-40B4-BE49-F238E27FC236}">
                <a16:creationId xmlns:a16="http://schemas.microsoft.com/office/drawing/2014/main" id="{7D8FBE74-AD68-4587-88A8-38F7688A68AA}"/>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81" name="Google Shape;181;p8">
            <a:extLst xmlns:a="http://schemas.openxmlformats.org/drawingml/2006/main">
              <a:ext uri="{FF2B5EF4-FFF2-40B4-BE49-F238E27FC236}">
                <a16:creationId xmlns:a16="http://schemas.microsoft.com/office/drawing/2014/main" id="{7BCF193F-55BB-4B2F-8D67-9B8FDA5F3DC0}"/>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Fulfilling</a:t>
            </a:r>
          </a:p>
        </p:txBody>
      </p:sp>
      <p:sp>
        <p:nvSpPr>
          <p:cNvPr id="182" name="Google Shape;182;p8">
            <a:extLst xmlns:a="http://schemas.openxmlformats.org/drawingml/2006/main">
              <a:ext uri="{FF2B5EF4-FFF2-40B4-BE49-F238E27FC236}">
                <a16:creationId xmlns:a16="http://schemas.microsoft.com/office/drawing/2014/main" id="{39262F35-7220-4EB8-9BA0-C274AA53D0B7}"/>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Human evaluation may err; understanding aligns knowing → believing → recognising → fulfilling. Established values arise as relationships are fulfilled; expressed values carry them in conduct.</a:t>
            </a:r>
          </a:p>
        </p:txBody>
      </p:sp>
      <p:sp>
        <p:nvSpPr>
          <p:cNvPr id="183" name="Google Shape;183;p8">
            <a:extLst xmlns:a="http://schemas.openxmlformats.org/drawingml/2006/main">
              <a:ext uri="{FF2B5EF4-FFF2-40B4-BE49-F238E27FC236}">
                <a16:creationId xmlns:a16="http://schemas.microsoft.com/office/drawing/2014/main" id="{F7EB63A2-CA96-4FC1-B350-7EAC1CD701F7}"/>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61–62, 27  ·  SB pp. 50, 53, 61  ·  JV p. 69  ·  Paribhasha pp. 151, 154</a:t>
            </a:r>
          </a:p>
        </p:txBody>
      </p:sp>
    </p:spTree>
    <p:extLst>
      <p:ext uri="{BB962C8B-B14F-4D97-AF65-F5344CB8AC3E}">
        <p14:creationId xmlns:p14="http://schemas.microsoft.com/office/powerpoint/2010/main" val="20764785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 name="Google Shape;189;p9">
            <a:extLst xmlns:a="http://schemas.openxmlformats.org/drawingml/2006/main">
              <a:ext uri="{FF2B5EF4-FFF2-40B4-BE49-F238E27FC236}">
                <a16:creationId xmlns:a16="http://schemas.microsoft.com/office/drawing/2014/main" id="{78BE2FDB-9993-4B89-879D-9F6E842BD146}"/>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0" name="Google Shape;190;p9">
            <a:extLst xmlns:a="http://schemas.openxmlformats.org/drawingml/2006/main">
              <a:ext uri="{FF2B5EF4-FFF2-40B4-BE49-F238E27FC236}">
                <a16:creationId xmlns:a16="http://schemas.microsoft.com/office/drawing/2014/main" id="{D486CE71-65E4-4998-B4FB-7953C76974E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1" name="Google Shape;191;p9">
            <a:extLst xmlns:a="http://schemas.openxmlformats.org/drawingml/2006/main">
              <a:ext uri="{FF2B5EF4-FFF2-40B4-BE49-F238E27FC236}">
                <a16:creationId xmlns:a16="http://schemas.microsoft.com/office/drawing/2014/main" id="{2D843C0E-0F2C-4F09-88EC-0FE70B332F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2" name="Google Shape;192;p9">
            <a:extLst xmlns:a="http://schemas.openxmlformats.org/drawingml/2006/main">
              <a:ext uri="{FF2B5EF4-FFF2-40B4-BE49-F238E27FC236}">
                <a16:creationId xmlns:a16="http://schemas.microsoft.com/office/drawing/2014/main" id="{7A562A57-A093-41DC-90A9-28722A21F2B0}"/>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§1.5</a:t>
            </a:r>
          </a:p>
        </p:txBody>
      </p:sp>
      <p:sp>
        <p:nvSpPr>
          <p:cNvPr id="193" name="Google Shape;193;p9">
            <a:extLst xmlns:a="http://schemas.openxmlformats.org/drawingml/2006/main">
              <a:ext uri="{FF2B5EF4-FFF2-40B4-BE49-F238E27FC236}">
                <a16:creationId xmlns:a16="http://schemas.microsoft.com/office/drawing/2014/main" id="{E5CCBD08-FCA8-4F44-9B7F-A0AD7F3F647D}"/>
              </a:ext>
            </a:extLst>
          </p:cNvPr>
          <p:cNvSpPr>
            <a:spLocks xmlns:a="http://schemas.openxmlformats.org/drawingml/2006/main" noGrp="1"/>
          </p:cNvSpPr>
          <p:nvPr/>
        </p:nvSpPr>
        <p:spPr>
          <a:xfrm xmlns:a="http://schemas.openxmlformats.org/drawingml/2006/main">
            <a:off x="960120" y="514350"/>
            <a:ext cx="772668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Four Orders of Nature</a:t>
            </a:r>
          </a:p>
        </p:txBody>
      </p:sp>
      <p:graphicFrame>
        <p:nvGraphicFramePr>
          <p:cNvPr id="204" name="Google Shape;194;p9"/>
          <p:cNvGraphicFramePr/>
          <p:nvPr/>
        </p:nvGraphicFramePr>
        <p:xfrm>
          <a:off xmlns:a="http://schemas.openxmlformats.org/drawingml/2006/main" x="640080" y="1325880"/>
          <a:ext xmlns:a="http://schemas.openxmlformats.org/drawingml/2006/main" cx="7863825" cy="2560325"/>
        </p:xfrm>
        <a:graphic xmlns:a="http://schemas.openxmlformats.org/drawingml/2006/main">
          <a:graphicData uri="http://schemas.openxmlformats.org/drawingml/2006/table">
            <a:tbl>
              <a:tblPr>
                <a:tableStyleId>{6C92A692-798E-4634-90B1-36CD3966BFCB}</a:tableStyleId>
              </a:tblPr>
              <a:tblGrid>
                <a:gridCol w="1828800"/>
                <a:gridCol w="2651750"/>
                <a:gridCol w="2011675"/>
                <a:gridCol w="1371600"/>
              </a:tblGrid>
              <a:tr h="365750">
                <a:tc>
                  <a:txBody>
                    <a:bodyPr/>
                    <a:lstStyle/>
                    <a:p>
                      <a:pPr marL="0" indent="0" algn="l">
                        <a:buNone/>
                      </a:pPr>
                      <a:r>
                        <a:rPr sz="1200" b="1" u="none" cap="none">
                          <a:solidFill>
                            <a:srgbClr val="FFFFFF"/>
                          </a:solidFill>
                          <a:latin typeface="Calibri"/>
                          <a:ea typeface="Calibri"/>
                          <a:cs typeface="Calibri"/>
                        </a:rPr>
                        <a:t>Order</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200" b="1" u="none" cap="none">
                          <a:solidFill>
                            <a:srgbClr val="FFFFFF"/>
                          </a:solidFill>
                          <a:latin typeface="Calibri"/>
                          <a:ea typeface="Calibri"/>
                          <a:cs typeface="Calibri"/>
                        </a:rPr>
                        <a:t>Svabhav in mutuality</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200" b="1" u="none" cap="none">
                          <a:solidFill>
                            <a:srgbClr val="FFFFFF"/>
                          </a:solidFill>
                          <a:latin typeface="Calibri"/>
                          <a:ea typeface="Calibri"/>
                          <a:cs typeface="Calibri"/>
                        </a:rPr>
                        <a:t>Dharma (cumulative)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200" b="1" u="none" cap="none">
                          <a:solidFill>
                            <a:srgbClr val="FFFFFF"/>
                          </a:solidFill>
                          <a:latin typeface="Calibri"/>
                          <a:ea typeface="Calibri"/>
                          <a:cs typeface="Calibri"/>
                        </a:rPr>
                        <a:t>Status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502925">
                <a:tc>
                  <a:txBody>
                    <a:bodyPr/>
                    <a:lstStyle/>
                    <a:p>
                      <a:pPr marL="0" indent="0" algn="l">
                        <a:buNone/>
                      </a:pPr>
                      <a:r>
                        <a:rPr sz="1100" u="none" cap="none">
                          <a:solidFill>
                            <a:srgbClr val="1E2447"/>
                          </a:solidFill>
                          <a:latin typeface="Calibri"/>
                          <a:ea typeface="Calibri"/>
                          <a:cs typeface="Calibri"/>
                        </a:rPr>
                        <a:t>Material</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integration–disintegration</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existence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insentient · definite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02925">
                <a:tc>
                  <a:txBody>
                    <a:bodyPr/>
                    <a:lstStyle/>
                    <a:p>
                      <a:pPr marL="0" indent="0" algn="l">
                        <a:buNone/>
                      </a:pPr>
                      <a:r>
                        <a:rPr sz="1100" u="none" cap="none">
                          <a:solidFill>
                            <a:srgbClr val="1E2447"/>
                          </a:solidFill>
                          <a:latin typeface="Calibri"/>
                          <a:ea typeface="Calibri"/>
                          <a:cs typeface="Calibri"/>
                        </a:rPr>
                        <a:t>Bio (pranic)</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vitalising–devitalising</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 growth</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insentient · definite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02925">
                <a:tc>
                  <a:txBody>
                    <a:bodyPr/>
                    <a:lstStyle/>
                    <a:p>
                      <a:pPr marL="0" indent="0" algn="l">
                        <a:buNone/>
                      </a:pPr>
                      <a:r>
                        <a:rPr sz="1100" u="none" cap="none">
                          <a:solidFill>
                            <a:srgbClr val="1E2447"/>
                          </a:solidFill>
                          <a:latin typeface="Calibri"/>
                          <a:ea typeface="Calibri"/>
                          <a:cs typeface="Calibri"/>
                        </a:rPr>
                        <a:t>Animal</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cruel–uncruel</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 hope to live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sentient · bodily expression limited</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685800">
                <a:tc>
                  <a:txBody>
                    <a:bodyPr/>
                    <a:lstStyle/>
                    <a:p>
                      <a:pPr marL="0" indent="0" algn="l">
                        <a:buNone/>
                      </a:pPr>
                      <a:r>
                        <a:rPr sz="1100" u="none" cap="none">
                          <a:solidFill>
                            <a:srgbClr val="1E2447"/>
                          </a:solidFill>
                          <a:latin typeface="Calibri"/>
                          <a:ea typeface="Calibri"/>
                          <a:cs typeface="Calibri"/>
                        </a:rPr>
                        <a:t>Knowledge (human)</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fortitude, courage, generosity, kindness, grace, compassion</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 happiness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sentient · full bodily medium; awakening possible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195" name="Google Shape;195;p9">
            <a:extLst xmlns:a="http://schemas.openxmlformats.org/drawingml/2006/main">
              <a:ext uri="{FF2B5EF4-FFF2-40B4-BE49-F238E27FC236}">
                <a16:creationId xmlns:a16="http://schemas.microsoft.com/office/drawing/2014/main" id="{56045CEE-E3D1-4ECB-9CE3-C00365D94007}"/>
              </a:ext>
            </a:extLst>
          </p:cNvPr>
          <p:cNvSpPr>
            <a:spLocks xmlns:a="http://schemas.openxmlformats.org/drawingml/2006/main" noGrp="1"/>
          </p:cNvSpPr>
          <p:nvPr/>
        </p:nvSpPr>
        <p:spPr>
          <a:xfrm xmlns:a="http://schemas.openxmlformats.org/drawingml/2006/main">
            <a:off x="640080" y="4069080"/>
            <a:ext cx="7863840" cy="658368"/>
          </a:xfrm>
          <a:prstGeom xmlns:a="http://schemas.openxmlformats.org/drawingml/2006/main" prst="roundRect">
            <a:avLst>
              <a:gd name="adj" fmla="val 12500"/>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6" name="Google Shape;196;p9">
            <a:extLst xmlns:a="http://schemas.openxmlformats.org/drawingml/2006/main">
              <a:ext uri="{FF2B5EF4-FFF2-40B4-BE49-F238E27FC236}">
                <a16:creationId xmlns:a16="http://schemas.microsoft.com/office/drawing/2014/main" id="{CBCFED84-4AED-4439-8BAD-7BC63416C034}"/>
              </a:ext>
            </a:extLst>
          </p:cNvPr>
          <p:cNvSpPr>
            <a:spLocks xmlns:a="http://schemas.openxmlformats.org/drawingml/2006/main" noGrp="1"/>
          </p:cNvSpPr>
          <p:nvPr/>
        </p:nvSpPr>
        <p:spPr>
          <a:xfrm xmlns:a="http://schemas.openxmlformats.org/drawingml/2006/main">
            <a:off x="868680" y="4069080"/>
            <a:ext cx="7406640" cy="6583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9A6414"/>
                </a:solidFill>
                <a:latin typeface="Calibri"/>
                <a:ea typeface="Calibri"/>
                <a:cs typeface="Calibri"/>
              </a:rPr>
              <a:t>Jeevan is present in animal and human joint forms. In animals, bodily and brain development limits how its faculties can be expressed. In humans, the bodily medium supports the full range, but delusion can misdirect evaluation. Neither body produces sentience.</a:t>
            </a:r>
          </a:p>
        </p:txBody>
      </p:sp>
      <p:sp>
        <p:nvSpPr>
          <p:cNvPr id="197" name="Google Shape;197;p9">
            <a:extLst xmlns:a="http://schemas.openxmlformats.org/drawingml/2006/main">
              <a:ext uri="{FF2B5EF4-FFF2-40B4-BE49-F238E27FC236}">
                <a16:creationId xmlns:a16="http://schemas.microsoft.com/office/drawing/2014/main" id="{07F388A9-2EE4-4AC8-BEF3-C1967A5BA32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SB p. 179  ·  MVD pp. 5, 8, 13, 115  ·  JV p. 44</a:t>
            </a:r>
          </a:p>
        </p:txBody>
      </p:sp>
    </p:spTree>
    <p:extLst>
      <p:ext uri="{BB962C8B-B14F-4D97-AF65-F5344CB8AC3E}">
        <p14:creationId xmlns:p14="http://schemas.microsoft.com/office/powerpoint/2010/main" val="1131895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F0DA4043-B666-4E7D-A93C-E7625947B5A5}"/>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C0AF2011-663D-4F60-A3BA-D67A0D8A9ACF}"/>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28856720-58C7-47B1-AA1D-4F8C1A2B92D9}"/>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17341D54-7463-4E7E-A13B-67037ABA21FA}"/>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2  ·  §1.6 · TWO DEVELOPMENTS · ONE ACTIVITY STRUCTURE</a:t>
            </a:r>
          </a:p>
        </p:txBody>
      </p:sp>
      <p:sp>
        <p:nvSpPr>
          <p:cNvPr id="207" name="Google Shape;207;p10">
            <a:extLst xmlns:a="http://schemas.openxmlformats.org/drawingml/2006/main">
              <a:ext uri="{FF2B5EF4-FFF2-40B4-BE49-F238E27FC236}">
                <a16:creationId xmlns:a16="http://schemas.microsoft.com/office/drawing/2014/main" id="{EE953502-E474-4782-AC78-2593793D0EDD}"/>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Two Developments, One Activity Structure</a:t>
            </a:r>
          </a:p>
        </p:txBody>
      </p:sp>
      <p:sp>
        <p:nvSpPr>
          <p:cNvPr id="208" name="Google Shape;208;p10">
            <a:extLst xmlns:a="http://schemas.openxmlformats.org/drawingml/2006/main">
              <a:ext uri="{FF2B5EF4-FFF2-40B4-BE49-F238E27FC236}">
                <a16:creationId xmlns:a16="http://schemas.microsoft.com/office/drawing/2014/main" id="{988874DA-3F86-41E0-8A36-434B09CA06D0}"/>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Why does anything develop? Because nature saturated in state-complete Omnipresence is oriented toward development and awakening until realisation — and that drive is the drive to fulfil complementarity. It proceeds along two distinct lines. Compositional progression joins particles, atoms, molecules, cells, and bodies into larger configurations. Development in an atom can reach constitutional completeness as jeevan. Across both, activity is one triad: effort, motion, result.</a:t>
            </a:r>
          </a:p>
        </p:txBody>
      </p:sp>
      <p:sp>
        <p:nvSpPr>
          <p:cNvPr id="209" name="Google Shape;209;p10">
            <a:extLst xmlns:a="http://schemas.openxmlformats.org/drawingml/2006/main">
              <a:ext uri="{FF2B5EF4-FFF2-40B4-BE49-F238E27FC236}">
                <a16:creationId xmlns:a16="http://schemas.microsoft.com/office/drawing/2014/main" id="{3C4ACB12-DD4C-4631-BAC2-EC544D0D232A}"/>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E7B067CB-714B-4A16-BA1E-67E923D644F6}"/>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Effort</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internal side</a:t>
            </a:r>
          </a:p>
        </p:txBody>
      </p:sp>
      <p:sp>
        <p:nvSpPr>
          <p:cNvPr id="211" name="Google Shape;211;p10">
            <a:extLst xmlns:a="http://schemas.openxmlformats.org/drawingml/2006/main">
              <a:ext uri="{FF2B5EF4-FFF2-40B4-BE49-F238E27FC236}">
                <a16:creationId xmlns:a16="http://schemas.microsoft.com/office/drawing/2014/main" id="{74644F2C-CA1F-44E3-A3A8-36251A9E3FD7}"/>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restfulness of effort</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effort comes to rest in realisation</a:t>
            </a:r>
          </a:p>
        </p:txBody>
      </p:sp>
      <p:sp>
        <p:nvSpPr>
          <p:cNvPr id="212" name="Google Shape;212;p10">
            <a:extLst xmlns:a="http://schemas.openxmlformats.org/drawingml/2006/main">
              <a:ext uri="{FF2B5EF4-FFF2-40B4-BE49-F238E27FC236}">
                <a16:creationId xmlns:a16="http://schemas.microsoft.com/office/drawing/2014/main" id="{65CF61B0-F78C-4DFD-983F-71AC96683A02}"/>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52AEFF54-A97B-4FEA-B904-064D0F281819}"/>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Motion</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external side</a:t>
            </a:r>
          </a:p>
        </p:txBody>
      </p:sp>
      <p:sp>
        <p:nvSpPr>
          <p:cNvPr id="214" name="Google Shape;214;p10">
            <a:extLst xmlns:a="http://schemas.openxmlformats.org/drawingml/2006/main">
              <a:ext uri="{FF2B5EF4-FFF2-40B4-BE49-F238E27FC236}">
                <a16:creationId xmlns:a16="http://schemas.microsoft.com/office/drawing/2014/main" id="{8822A3BC-F6B8-4DD5-8BFE-02D0BD2D4324}"/>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destination of motion</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motion arrives at right conduct</a:t>
            </a:r>
          </a:p>
        </p:txBody>
      </p:sp>
      <p:sp>
        <p:nvSpPr>
          <p:cNvPr id="215" name="Google Shape;215;p10">
            <a:extLst xmlns:a="http://schemas.openxmlformats.org/drawingml/2006/main">
              <a:ext uri="{FF2B5EF4-FFF2-40B4-BE49-F238E27FC236}">
                <a16:creationId xmlns:a16="http://schemas.microsoft.com/office/drawing/2014/main" id="{C1E37470-8E82-4703-AFAB-9F00A17BA30F}"/>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B86AFFF0-4F74-485C-8823-F9CA80F2555D}"/>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Result</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stable outcome</a:t>
            </a:r>
          </a:p>
        </p:txBody>
      </p:sp>
      <p:sp>
        <p:nvSpPr>
          <p:cNvPr id="217" name="Google Shape;217;p10">
            <a:extLst xmlns:a="http://schemas.openxmlformats.org/drawingml/2006/main">
              <a:ext uri="{FF2B5EF4-FFF2-40B4-BE49-F238E27FC236}">
                <a16:creationId xmlns:a16="http://schemas.microsoft.com/office/drawing/2014/main" id="{12BF52F3-A9A4-4295-AA66-6894F712E14D}"/>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immortality of result</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result becomes indestructible</a:t>
            </a:r>
          </a:p>
        </p:txBody>
      </p:sp>
      <p:sp>
        <p:nvSpPr>
          <p:cNvPr id="218" name="Google Shape;218;p10">
            <a:extLst xmlns:a="http://schemas.openxmlformats.org/drawingml/2006/main">
              <a:ext uri="{FF2B5EF4-FFF2-40B4-BE49-F238E27FC236}">
                <a16:creationId xmlns:a16="http://schemas.microsoft.com/office/drawing/2014/main" id="{EF7F9E85-311A-4F2F-8331-F4E88266FE98}"/>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F7F8A9B1-F55C-4EAD-9545-C07227475411}"/>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38">
                <a:solidFill>
                  <a:srgbClr val="5F6B82"/>
                </a:solidFill>
              </a:defRPr>
            </a:pPr>
            <a:r>
              <a:rPr sz="938">
                <a:solidFill>
                  <a:srgbClr val="5F6B82"/>
                </a:solidFill>
              </a:rPr>
              <a:t>Two developmental lines</a:t>
            </a:r>
          </a:p>
          <a:p xmlns:a="http://schemas.openxmlformats.org/drawingml/2006/main">
            <a:pPr marL="0" indent="0" algn="l">
              <a:spcBef>
                <a:spcPts val="600"/>
              </a:spcBef>
              <a:spcAft>
                <a:spcPts val="0"/>
              </a:spcAft>
              <a:buNone/>
              <a:defRPr sz="938">
                <a:solidFill>
                  <a:srgbClr val="5F6B82"/>
                </a:solidFill>
              </a:defRPr>
            </a:pPr>
            <a:r>
              <a:rPr sz="938">
                <a:solidFill>
                  <a:srgbClr val="5F6B82"/>
                </a:solidFill>
              </a:rPr>
              <a:t>Compositional: larger configurations and bodies.</a:t>
            </a:r>
          </a:p>
          <a:p xmlns:a="http://schemas.openxmlformats.org/drawingml/2006/main">
            <a:pPr marL="0" indent="0" algn="l">
              <a:spcBef>
                <a:spcPts val="600"/>
              </a:spcBef>
              <a:spcAft>
                <a:spcPts val="0"/>
              </a:spcAft>
              <a:buNone/>
              <a:defRPr sz="938">
                <a:solidFill>
                  <a:srgbClr val="5F6B82"/>
                </a:solidFill>
              </a:defRPr>
            </a:pPr>
            <a:r>
              <a:rPr sz="938">
                <a:solidFill>
                  <a:srgbClr val="5F6B82"/>
                </a:solidFill>
              </a:rPr>
              <a:t>Atomic: some developing atoms reach sentience; T2/T3 concern awakened jeevan.</a:t>
            </a:r>
          </a:p>
        </p:txBody>
      </p:sp>
      <p:sp>
        <p:nvSpPr>
          <p:cNvPr id="220" name="Google Shape;220;p10">
            <a:extLst xmlns:a="http://schemas.openxmlformats.org/drawingml/2006/main">
              <a:ext uri="{FF2B5EF4-FFF2-40B4-BE49-F238E27FC236}">
                <a16:creationId xmlns:a16="http://schemas.microsoft.com/office/drawing/2014/main" id="{32D33D92-97E9-4667-A0CC-903566CC5E1C}"/>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“Saturation … itself is forcefulness … basic impulsion … activity … effort-motion-result … development” — SB p. 62; also SB pp. 51, 53, 58, 71, 91; MVD p. 104</a:t>
            </a:r>
          </a:p>
        </p:txBody>
      </p:sp>
    </p:spTree>
    <p:extLst>
      <p:ext uri="{BB962C8B-B14F-4D97-AF65-F5344CB8AC3E}">
        <p14:creationId xmlns:p14="http://schemas.microsoft.com/office/powerpoint/2010/main" val="9417557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898E7607-7F1C-424A-993A-F8E26F7A2463}"/>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7622CE7C-8573-4236-A346-EABC53B99E6B}"/>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7887E38F-E90F-4346-927D-FDEAD4A34A7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1D90A0E4-9D61-4F58-A708-5B7C5EA64AD1}"/>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§1.5–§1.6 · TWO PATHS, ONE JOINT FORM</a:t>
            </a:r>
          </a:p>
        </p:txBody>
      </p:sp>
      <p:sp>
        <p:nvSpPr>
          <p:cNvPr id="377" name="Google Shape;377;p16">
            <a:extLst xmlns:a="http://schemas.openxmlformats.org/drawingml/2006/main">
              <a:ext uri="{FF2B5EF4-FFF2-40B4-BE49-F238E27FC236}">
                <a16:creationId xmlns:a16="http://schemas.microsoft.com/office/drawing/2014/main" id="{AC36AA5B-8B8A-4C8C-A428-1480E49A706D}"/>
              </a:ext>
            </a:extLst>
          </p:cNvPr>
          <p:cNvSpPr>
            <a:spLocks xmlns:a="http://schemas.openxmlformats.org/drawingml/2006/main" noGrp="1"/>
          </p:cNvSpPr>
          <p:nvPr/>
        </p:nvSpPr>
        <p:spPr>
          <a:xfrm xmlns:a="http://schemas.openxmlformats.org/drawingml/2006/main">
            <a:off x="960120" y="514350"/>
            <a:ext cx="772668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Two Paths Meet in the Animal Order</a:t>
            </a:r>
          </a:p>
        </p:txBody>
      </p:sp>
      <p:sp>
        <p:nvSpPr>
          <p:cNvPr id="378" name="Google Shape;378;p16">
            <a:extLst xmlns:a="http://schemas.openxmlformats.org/drawingml/2006/main">
              <a:ext uri="{FF2B5EF4-FFF2-40B4-BE49-F238E27FC236}">
                <a16:creationId xmlns:a16="http://schemas.microsoft.com/office/drawing/2014/main" id="{A2051764-B773-4F19-A8A3-6C0C73553B97}"/>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5A6377"/>
                </a:solidFill>
                <a:latin typeface="Calibri"/>
                <a:ea typeface="Calibri"/>
                <a:cs typeface="Calibri"/>
              </a:rPr>
              <a:t>The completeness drive unfolds along two parallel paths.</a:t>
            </a:r>
            <a:r>
              <a:rPr sz="1300" b="0" i="0" u="none" cap="none">
                <a:solidFill>
                  <a:srgbClr val="5A6377"/>
                </a:solidFill>
                <a:latin typeface="Calibri"/>
                <a:ea typeface="Calibri"/>
                <a:cs typeface="Calibri"/>
              </a:rPr>
              <a:t> Rachna manifests material and biological formations; atomic development reaches constitutional completeness as sentient jeevan.</a:t>
            </a:r>
          </a:p>
        </p:txBody>
      </p:sp>
      <p:sp>
        <p:nvSpPr>
          <p:cNvPr id="379" name="Google Shape;379;p16">
            <a:extLst xmlns:a="http://schemas.openxmlformats.org/drawingml/2006/main">
              <a:ext uri="{FF2B5EF4-FFF2-40B4-BE49-F238E27FC236}">
                <a16:creationId xmlns:a16="http://schemas.microsoft.com/office/drawing/2014/main" id="{9E0ED97E-1E7D-46E0-9662-BD752F49CE00}"/>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EE95B374-AF07-4C85-8F67-58E3A5B71D8A}"/>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1E2447"/>
                </a:solidFill>
                <a:latin typeface="Cambria"/>
                <a:ea typeface="Cambria"/>
                <a:cs typeface="Cambria"/>
              </a:rPr>
              <a:t>Compositional path (rachna)</a:t>
            </a:r>
          </a:p>
        </p:txBody>
      </p:sp>
      <p:sp>
        <p:nvSpPr>
          <p:cNvPr id="381" name="Google Shape;381;p16">
            <a:extLst xmlns:a="http://schemas.openxmlformats.org/drawingml/2006/main">
              <a:ext uri="{FF2B5EF4-FFF2-40B4-BE49-F238E27FC236}">
                <a16:creationId xmlns:a16="http://schemas.microsoft.com/office/drawing/2014/main" id="{03ABC42C-3114-4DB8-918A-6C04812C2828}"/>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Atoms and molecules form material order; chemical and pranic-cell compositions manifest biological order. Both are insentient.</a:t>
            </a:r>
          </a:p>
        </p:txBody>
      </p:sp>
      <p:sp>
        <p:nvSpPr>
          <p:cNvPr id="382" name="Google Shape;382;p16">
            <a:extLst xmlns:a="http://schemas.openxmlformats.org/drawingml/2006/main">
              <a:ext uri="{FF2B5EF4-FFF2-40B4-BE49-F238E27FC236}">
                <a16:creationId xmlns:a16="http://schemas.microsoft.com/office/drawing/2014/main" id="{F064E783-3B6A-440D-8C41-E0BFE659AD65}"/>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42D431DD-E635-4D55-B438-17FDFFD27152}"/>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Atomic path (gathan)</a:t>
            </a:r>
          </a:p>
        </p:txBody>
      </p:sp>
      <p:sp>
        <p:nvSpPr>
          <p:cNvPr id="384" name="Google Shape;384;p16">
            <a:extLst xmlns:a="http://schemas.openxmlformats.org/drawingml/2006/main">
              <a:ext uri="{FF2B5EF4-FFF2-40B4-BE49-F238E27FC236}">
                <a16:creationId xmlns:a16="http://schemas.microsoft.com/office/drawing/2014/main" id="{84A2A0BA-02DB-46A8-9184-936EB5E2B4C3}"/>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A developing atom integrates its required particle constitution. At completeness, the texts classify it as sentient jeevan.</a:t>
            </a:r>
          </a:p>
        </p:txBody>
      </p:sp>
      <p:sp>
        <p:nvSpPr>
          <p:cNvPr id="385" name="Google Shape;385;p16">
            <a:extLst xmlns:a="http://schemas.openxmlformats.org/drawingml/2006/main">
              <a:ext uri="{FF2B5EF4-FFF2-40B4-BE49-F238E27FC236}">
                <a16:creationId xmlns:a16="http://schemas.microsoft.com/office/drawing/2014/main" id="{57CF42B5-94B9-4AE9-B060-6BC5C76524F6}"/>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The paths meet in animal order. Body lineages develop while jeevan’s expression widens; the human body can evidence all ten activities.</a:t>
            </a:r>
          </a:p>
        </p:txBody>
      </p:sp>
      <p:sp>
        <p:nvSpPr>
          <p:cNvPr id="386" name="Google Shape;386;p16">
            <a:extLst xmlns:a="http://schemas.openxmlformats.org/drawingml/2006/main">
              <a:ext uri="{FF2B5EF4-FFF2-40B4-BE49-F238E27FC236}">
                <a16:creationId xmlns:a16="http://schemas.microsoft.com/office/drawing/2014/main" id="{B129C209-3FF2-4016-A9B0-A8F5F3F3E7B0}"/>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6E5D0BC7-FC95-424C-85B1-8D68E7ECEA4E}"/>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Biological body</a:t>
            </a:r>
          </a:p>
        </p:txBody>
      </p:sp>
      <p:sp>
        <p:nvSpPr>
          <p:cNvPr id="388" name="Google Shape;388;p16">
            <a:extLst xmlns:a="http://schemas.openxmlformats.org/drawingml/2006/main">
              <a:ext uri="{FF2B5EF4-FFF2-40B4-BE49-F238E27FC236}">
                <a16:creationId xmlns:a16="http://schemas.microsoft.com/office/drawing/2014/main" id="{2F6A46CA-D8E1-4BD2-AA8E-221F5B906904}"/>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B468CC50-22BB-4266-A019-2EA79D2E3722}"/>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84AD2557-9213-4732-B37B-FE0F4371A016}"/>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Sentient jeevan</a:t>
            </a:r>
          </a:p>
        </p:txBody>
      </p:sp>
      <p:sp>
        <p:nvSpPr>
          <p:cNvPr id="391" name="Google Shape;391;p16">
            <a:extLst xmlns:a="http://schemas.openxmlformats.org/drawingml/2006/main">
              <a:ext uri="{FF2B5EF4-FFF2-40B4-BE49-F238E27FC236}">
                <a16:creationId xmlns:a16="http://schemas.microsoft.com/office/drawing/2014/main" id="{89D7FE30-7CBB-40BF-B52C-6DBBCAF63FFF}"/>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3302AF51-FAF2-4ECA-A54F-4AEFF4317013}"/>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4774C513-D57A-4D9C-9224-483EB9B04BF9}"/>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Animal order</a:t>
            </a:r>
          </a:p>
        </p:txBody>
      </p:sp>
      <p:sp>
        <p:nvSpPr>
          <p:cNvPr id="394" name="Google Shape;394;p16">
            <a:extLst xmlns:a="http://schemas.openxmlformats.org/drawingml/2006/main">
              <a:ext uri="{FF2B5EF4-FFF2-40B4-BE49-F238E27FC236}">
                <a16:creationId xmlns:a16="http://schemas.microsoft.com/office/drawing/2014/main" id="{82350748-5E36-4F6A-A071-97DA1C996930}"/>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13B9CA69-1149-4B06-8953-A5B2B9029404}"/>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30F2C252-C9A4-4D4B-96F6-0D00D394FC80}"/>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Human / knowledge order</a:t>
            </a:r>
          </a:p>
        </p:txBody>
      </p:sp>
      <p:sp>
        <p:nvSpPr>
          <p:cNvPr id="397" name="Google Shape;397;p16">
            <a:extLst xmlns:a="http://schemas.openxmlformats.org/drawingml/2006/main">
              <a:ext uri="{FF2B5EF4-FFF2-40B4-BE49-F238E27FC236}">
                <a16:creationId xmlns:a16="http://schemas.microsoft.com/office/drawing/2014/main" id="{C5FCA8E9-64AA-4FAA-9157-51830ED7C97D}"/>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Once the human medium is capable, further development is awakening in jeevan.</a:t>
            </a:r>
          </a:p>
        </p:txBody>
      </p:sp>
      <p:sp>
        <p:nvSpPr>
          <p:cNvPr id="398" name="Google Shape;398;p16">
            <a:extLst xmlns:a="http://schemas.openxmlformats.org/drawingml/2006/main">
              <a:ext uri="{FF2B5EF4-FFF2-40B4-BE49-F238E27FC236}">
                <a16:creationId xmlns:a16="http://schemas.microsoft.com/office/drawing/2014/main" id="{E3D8EB7A-97C6-4DFE-834E-074ED2732AB4}"/>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13, 26, 79–80  ·  SB pp. 55, 76–77  ·  Study §§1.5–1.6, 1.9</a:t>
            </a:r>
          </a:p>
        </p:txBody>
      </p:sp>
    </p:spTree>
    <p:extLst>
      <p:ext uri="{BB962C8B-B14F-4D97-AF65-F5344CB8AC3E}">
        <p14:creationId xmlns:p14="http://schemas.microsoft.com/office/powerpoint/2010/main" val="21364850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6" name="Google Shape;226;p11">
            <a:extLst xmlns:a="http://schemas.openxmlformats.org/drawingml/2006/main">
              <a:ext uri="{FF2B5EF4-FFF2-40B4-BE49-F238E27FC236}">
                <a16:creationId xmlns:a16="http://schemas.microsoft.com/office/drawing/2014/main" id="{92F6B0B2-9D5B-4730-A4CD-C04CFE632C6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7" name="Google Shape;227;p11">
            <a:extLst xmlns:a="http://schemas.openxmlformats.org/drawingml/2006/main">
              <a:ext uri="{FF2B5EF4-FFF2-40B4-BE49-F238E27FC236}">
                <a16:creationId xmlns:a16="http://schemas.microsoft.com/office/drawing/2014/main" id="{1FBFDF0F-6133-4579-804A-5BDD1B5D4E66}"/>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8" name="Google Shape;228;p11">
            <a:extLst xmlns:a="http://schemas.openxmlformats.org/drawingml/2006/main">
              <a:ext uri="{FF2B5EF4-FFF2-40B4-BE49-F238E27FC236}">
                <a16:creationId xmlns:a16="http://schemas.microsoft.com/office/drawing/2014/main" id="{535C89D7-6CD2-49BF-ACAC-13B8ABFDD72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29" name="Google Shape;229;p11">
            <a:extLst xmlns:a="http://schemas.openxmlformats.org/drawingml/2006/main">
              <a:ext uri="{FF2B5EF4-FFF2-40B4-BE49-F238E27FC236}">
                <a16:creationId xmlns:a16="http://schemas.microsoft.com/office/drawing/2014/main" id="{B205E6C7-0F4E-482A-B4ED-E38F92113271}"/>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§1.6</a:t>
            </a:r>
          </a:p>
        </p:txBody>
      </p:sp>
      <p:sp>
        <p:nvSpPr>
          <p:cNvPr id="230" name="Google Shape;230;p11">
            <a:extLst xmlns:a="http://schemas.openxmlformats.org/drawingml/2006/main">
              <a:ext uri="{FF2B5EF4-FFF2-40B4-BE49-F238E27FC236}">
                <a16:creationId xmlns:a16="http://schemas.microsoft.com/office/drawing/2014/main" id="{BD57645E-CAFE-4022-871D-FB44537B6D1B}"/>
              </a:ext>
            </a:extLst>
          </p:cNvPr>
          <p:cNvSpPr>
            <a:spLocks xmlns:a="http://schemas.openxmlformats.org/drawingml/2006/main" noGrp="1"/>
          </p:cNvSpPr>
          <p:nvPr/>
        </p:nvSpPr>
        <p:spPr>
          <a:xfrm xmlns:a="http://schemas.openxmlformats.org/drawingml/2006/main">
            <a:off x="960120" y="514350"/>
            <a:ext cx="772668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Three Transitions: T1, T2, T3</a:t>
            </a:r>
          </a:p>
        </p:txBody>
      </p:sp>
      <p:sp>
        <p:nvSpPr>
          <p:cNvPr id="231" name="Google Shape;231;p11">
            <a:extLst xmlns:a="http://schemas.openxmlformats.org/drawingml/2006/main">
              <a:ext uri="{FF2B5EF4-FFF2-40B4-BE49-F238E27FC236}">
                <a16:creationId xmlns:a16="http://schemas.microsoft.com/office/drawing/2014/main" id="{136C7C4F-16F0-469C-8D22-4FA5AF942130}"/>
              </a:ext>
            </a:extLst>
          </p:cNvPr>
          <p:cNvSpPr>
            <a:spLocks xmlns:a="http://schemas.openxmlformats.org/drawingml/2006/main" noGrp="1"/>
          </p:cNvSpPr>
          <p:nvPr/>
        </p:nvSpPr>
        <p:spPr>
          <a:xfrm xmlns:a="http://schemas.openxmlformats.org/drawingml/2006/main">
            <a:off x="475488" y="1463040"/>
            <a:ext cx="1664208" cy="960120"/>
          </a:xfrm>
          <a:prstGeom xmlns:a="http://schemas.openxmlformats.org/drawingml/2006/main" prst="roundRect">
            <a:avLst>
              <a:gd name="adj" fmla="val 8571"/>
            </a:avLst>
          </a:prstGeom>
          <a:solidFill xmlns:a="http://schemas.openxmlformats.org/drawingml/2006/main">
            <a:srgbClr val="3B4A7A"/>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2" name="Google Shape;232;p11">
            <a:extLst xmlns:a="http://schemas.openxmlformats.org/drawingml/2006/main">
              <a:ext uri="{FF2B5EF4-FFF2-40B4-BE49-F238E27FC236}">
                <a16:creationId xmlns:a16="http://schemas.microsoft.com/office/drawing/2014/main" id="{4938230F-1D84-4E5E-AFCC-F14F1B65EE6F}"/>
              </a:ext>
            </a:extLst>
          </p:cNvPr>
          <p:cNvSpPr>
            <a:spLocks xmlns:a="http://schemas.openxmlformats.org/drawingml/2006/main" noGrp="1"/>
          </p:cNvSpPr>
          <p:nvPr/>
        </p:nvSpPr>
        <p:spPr>
          <a:xfrm xmlns:a="http://schemas.openxmlformats.org/drawingml/2006/main">
            <a:off x="475488" y="1554480"/>
            <a:ext cx="1664208"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mbria"/>
                <a:ea typeface="Cambria"/>
                <a:cs typeface="Cambria"/>
              </a:rPr>
              <a:t>Physicochemical</a:t>
            </a:r>
          </a:p>
        </p:txBody>
      </p:sp>
      <p:sp>
        <p:nvSpPr>
          <p:cNvPr id="233" name="Google Shape;233;p11">
            <a:extLst xmlns:a="http://schemas.openxmlformats.org/drawingml/2006/main">
              <a:ext uri="{FF2B5EF4-FFF2-40B4-BE49-F238E27FC236}">
                <a16:creationId xmlns:a16="http://schemas.microsoft.com/office/drawing/2014/main" id="{C679FBFC-4912-4015-B213-A9F790D144A6}"/>
              </a:ext>
            </a:extLst>
          </p:cNvPr>
          <p:cNvSpPr>
            <a:spLocks xmlns:a="http://schemas.openxmlformats.org/drawingml/2006/main" noGrp="1"/>
          </p:cNvSpPr>
          <p:nvPr/>
        </p:nvSpPr>
        <p:spPr>
          <a:xfrm xmlns:a="http://schemas.openxmlformats.org/drawingml/2006/main">
            <a:off x="530352" y="1874520"/>
            <a:ext cx="15544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880" b="0" i="1" u="none" cap="none">
                <a:solidFill>
                  <a:srgbClr val="C9D4EF"/>
                </a:solidFill>
                <a:latin typeface="Calibri"/>
                <a:ea typeface="Calibri"/>
                <a:cs typeface="Calibri"/>
              </a:rPr>
              <a:t>only some developing atoms reach T1</a:t>
            </a:r>
          </a:p>
        </p:txBody>
      </p:sp>
      <p:sp>
        <p:nvSpPr>
          <p:cNvPr id="234" name="Google Shape;234;p11">
            <a:extLst xmlns:a="http://schemas.openxmlformats.org/drawingml/2006/main">
              <a:ext uri="{FF2B5EF4-FFF2-40B4-BE49-F238E27FC236}">
                <a16:creationId xmlns:a16="http://schemas.microsoft.com/office/drawing/2014/main" id="{4856528E-8D4B-459F-8076-49BFEABC11D5}"/>
              </a:ext>
            </a:extLst>
          </p:cNvPr>
          <p:cNvSpPr>
            <a:spLocks xmlns:a="http://schemas.openxmlformats.org/drawingml/2006/main" noGrp="1"/>
          </p:cNvSpPr>
          <p:nvPr/>
        </p:nvSpPr>
        <p:spPr>
          <a:xfrm xmlns:a="http://schemas.openxmlformats.org/drawingml/2006/main">
            <a:off x="2194560" y="1700784"/>
            <a:ext cx="457200" cy="457200"/>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5" name="Google Shape;235;p11">
            <a:extLst xmlns:a="http://schemas.openxmlformats.org/drawingml/2006/main">
              <a:ext uri="{FF2B5EF4-FFF2-40B4-BE49-F238E27FC236}">
                <a16:creationId xmlns:a16="http://schemas.microsoft.com/office/drawing/2014/main" id="{A5B348E2-62F6-4617-8C55-04EF1E275226}"/>
              </a:ext>
            </a:extLst>
          </p:cNvPr>
          <p:cNvSpPr>
            <a:spLocks xmlns:a="http://schemas.openxmlformats.org/drawingml/2006/main" noGrp="1"/>
          </p:cNvSpPr>
          <p:nvPr/>
        </p:nvSpPr>
        <p:spPr>
          <a:xfrm xmlns:a="http://schemas.openxmlformats.org/drawingml/2006/main">
            <a:off x="2194560" y="1700784"/>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T1</a:t>
            </a:r>
          </a:p>
        </p:txBody>
      </p:sp>
      <p:sp>
        <p:nvSpPr>
          <p:cNvPr id="236" name="Google Shape;236;p11">
            <a:extLst xmlns:a="http://schemas.openxmlformats.org/drawingml/2006/main">
              <a:ext uri="{FF2B5EF4-FFF2-40B4-BE49-F238E27FC236}">
                <a16:creationId xmlns:a16="http://schemas.microsoft.com/office/drawing/2014/main" id="{F766CD9E-37CA-468F-9950-3055B289D7BC}"/>
              </a:ext>
            </a:extLst>
          </p:cNvPr>
          <p:cNvSpPr>
            <a:spLocks xmlns:a="http://schemas.openxmlformats.org/drawingml/2006/main" noGrp="1"/>
          </p:cNvSpPr>
          <p:nvPr/>
        </p:nvSpPr>
        <p:spPr>
          <a:xfrm xmlns:a="http://schemas.openxmlformats.org/drawingml/2006/main">
            <a:off x="2706624" y="1463040"/>
            <a:ext cx="1664208" cy="960120"/>
          </a:xfrm>
          <a:prstGeom xmlns:a="http://schemas.openxmlformats.org/drawingml/2006/main" prst="roundRect">
            <a:avLst>
              <a:gd name="adj" fmla="val 8571"/>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37" name="Google Shape;237;p11">
            <a:extLst xmlns:a="http://schemas.openxmlformats.org/drawingml/2006/main">
              <a:ext uri="{FF2B5EF4-FFF2-40B4-BE49-F238E27FC236}">
                <a16:creationId xmlns:a16="http://schemas.microsoft.com/office/drawing/2014/main" id="{A59AD647-B81F-4FFF-A3CF-52E74E35517C}"/>
              </a:ext>
            </a:extLst>
          </p:cNvPr>
          <p:cNvSpPr>
            <a:spLocks xmlns:a="http://schemas.openxmlformats.org/drawingml/2006/main" noGrp="1"/>
          </p:cNvSpPr>
          <p:nvPr/>
        </p:nvSpPr>
        <p:spPr>
          <a:xfrm xmlns:a="http://schemas.openxmlformats.org/drawingml/2006/main">
            <a:off x="2706624" y="1554480"/>
            <a:ext cx="1664208"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mbria"/>
                <a:ea typeface="Cambria"/>
                <a:cs typeface="Cambria"/>
              </a:rPr>
              <a:t>Delusional</a:t>
            </a:r>
          </a:p>
        </p:txBody>
      </p:sp>
      <p:sp>
        <p:nvSpPr>
          <p:cNvPr id="238" name="Google Shape;238;p11">
            <a:extLst xmlns:a="http://schemas.openxmlformats.org/drawingml/2006/main">
              <a:ext uri="{FF2B5EF4-FFF2-40B4-BE49-F238E27FC236}">
                <a16:creationId xmlns:a16="http://schemas.microsoft.com/office/drawing/2014/main" id="{26EC659D-62D7-4BEF-97E8-6386704F5431}"/>
              </a:ext>
            </a:extLst>
          </p:cNvPr>
          <p:cNvSpPr>
            <a:spLocks xmlns:a="http://schemas.openxmlformats.org/drawingml/2006/main" noGrp="1"/>
          </p:cNvSpPr>
          <p:nvPr/>
        </p:nvSpPr>
        <p:spPr>
          <a:xfrm xmlns:a="http://schemas.openxmlformats.org/drawingml/2006/main">
            <a:off x="2761488" y="1874520"/>
            <a:ext cx="15544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880" b="0" i="1" u="none" cap="none">
                <a:solidFill>
                  <a:srgbClr val="C9D4EF"/>
                </a:solidFill>
                <a:latin typeface="Calibri"/>
                <a:ea typeface="Calibri"/>
                <a:cs typeface="Calibri"/>
              </a:rPr>
              <a:t>sentient; body mistaken for self</a:t>
            </a:r>
          </a:p>
        </p:txBody>
      </p:sp>
      <p:sp>
        <p:nvSpPr>
          <p:cNvPr id="239" name="Google Shape;239;p11">
            <a:extLst xmlns:a="http://schemas.openxmlformats.org/drawingml/2006/main">
              <a:ext uri="{FF2B5EF4-FFF2-40B4-BE49-F238E27FC236}">
                <a16:creationId xmlns:a16="http://schemas.microsoft.com/office/drawing/2014/main" id="{5EB8E91C-1A30-4588-9854-2ECBB5750043}"/>
              </a:ext>
            </a:extLst>
          </p:cNvPr>
          <p:cNvSpPr>
            <a:spLocks xmlns:a="http://schemas.openxmlformats.org/drawingml/2006/main" noGrp="1"/>
          </p:cNvSpPr>
          <p:nvPr/>
        </p:nvSpPr>
        <p:spPr>
          <a:xfrm xmlns:a="http://schemas.openxmlformats.org/drawingml/2006/main">
            <a:off x="4425696" y="1700784"/>
            <a:ext cx="457200" cy="457200"/>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0" name="Google Shape;240;p11">
            <a:extLst xmlns:a="http://schemas.openxmlformats.org/drawingml/2006/main">
              <a:ext uri="{FF2B5EF4-FFF2-40B4-BE49-F238E27FC236}">
                <a16:creationId xmlns:a16="http://schemas.microsoft.com/office/drawing/2014/main" id="{E4ED4E0D-90F8-406D-81BD-DA1065237C32}"/>
              </a:ext>
            </a:extLst>
          </p:cNvPr>
          <p:cNvSpPr>
            <a:spLocks xmlns:a="http://schemas.openxmlformats.org/drawingml/2006/main" noGrp="1"/>
          </p:cNvSpPr>
          <p:nvPr/>
        </p:nvSpPr>
        <p:spPr>
          <a:xfrm xmlns:a="http://schemas.openxmlformats.org/drawingml/2006/main">
            <a:off x="4425696" y="1700784"/>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T2</a:t>
            </a:r>
          </a:p>
        </p:txBody>
      </p:sp>
      <p:sp>
        <p:nvSpPr>
          <p:cNvPr id="241" name="Google Shape;241;p11">
            <a:extLst xmlns:a="http://schemas.openxmlformats.org/drawingml/2006/main">
              <a:ext uri="{FF2B5EF4-FFF2-40B4-BE49-F238E27FC236}">
                <a16:creationId xmlns:a16="http://schemas.microsoft.com/office/drawing/2014/main" id="{084B2DD8-6E6E-48F7-A30C-778CB7B13DFC}"/>
              </a:ext>
            </a:extLst>
          </p:cNvPr>
          <p:cNvSpPr>
            <a:spLocks xmlns:a="http://schemas.openxmlformats.org/drawingml/2006/main" noGrp="1"/>
          </p:cNvSpPr>
          <p:nvPr/>
        </p:nvSpPr>
        <p:spPr>
          <a:xfrm xmlns:a="http://schemas.openxmlformats.org/drawingml/2006/main">
            <a:off x="4937760" y="1463040"/>
            <a:ext cx="1664208" cy="960120"/>
          </a:xfrm>
          <a:prstGeom xmlns:a="http://schemas.openxmlformats.org/drawingml/2006/main" prst="roundRect">
            <a:avLst>
              <a:gd name="adj" fmla="val 8571"/>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2" name="Google Shape;242;p11">
            <a:extLst xmlns:a="http://schemas.openxmlformats.org/drawingml/2006/main">
              <a:ext uri="{FF2B5EF4-FFF2-40B4-BE49-F238E27FC236}">
                <a16:creationId xmlns:a16="http://schemas.microsoft.com/office/drawing/2014/main" id="{2A8CE34B-471B-463B-8366-BA6D4D4B9163}"/>
              </a:ext>
            </a:extLst>
          </p:cNvPr>
          <p:cNvSpPr>
            <a:spLocks xmlns:a="http://schemas.openxmlformats.org/drawingml/2006/main" noGrp="1"/>
          </p:cNvSpPr>
          <p:nvPr/>
        </p:nvSpPr>
        <p:spPr>
          <a:xfrm xmlns:a="http://schemas.openxmlformats.org/drawingml/2006/main">
            <a:off x="4937760" y="1554480"/>
            <a:ext cx="1664208"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mbria"/>
                <a:ea typeface="Cambria"/>
                <a:cs typeface="Cambria"/>
              </a:rPr>
              <a:t>Deific</a:t>
            </a:r>
          </a:p>
        </p:txBody>
      </p:sp>
      <p:sp>
        <p:nvSpPr>
          <p:cNvPr id="243" name="Google Shape;243;p11">
            <a:extLst xmlns:a="http://schemas.openxmlformats.org/drawingml/2006/main">
              <a:ext uri="{FF2B5EF4-FFF2-40B4-BE49-F238E27FC236}">
                <a16:creationId xmlns:a16="http://schemas.microsoft.com/office/drawing/2014/main" id="{8FF61272-1AF4-4BC0-8CA1-9C90210CDE5C}"/>
              </a:ext>
            </a:extLst>
          </p:cNvPr>
          <p:cNvSpPr>
            <a:spLocks xmlns:a="http://schemas.openxmlformats.org/drawingml/2006/main" noGrp="1"/>
          </p:cNvSpPr>
          <p:nvPr/>
        </p:nvSpPr>
        <p:spPr>
          <a:xfrm xmlns:a="http://schemas.openxmlformats.org/drawingml/2006/main">
            <a:off x="4992624" y="1874520"/>
            <a:ext cx="15544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880" b="0" i="1" u="none" cap="none">
                <a:solidFill>
                  <a:srgbClr val="C9D4EF"/>
                </a:solidFill>
                <a:latin typeface="Calibri"/>
                <a:ea typeface="Calibri"/>
                <a:cs typeface="Calibri"/>
              </a:rPr>
              <a:t>awakening human</a:t>
            </a:r>
          </a:p>
        </p:txBody>
      </p:sp>
      <p:sp>
        <p:nvSpPr>
          <p:cNvPr id="244" name="Google Shape;244;p11">
            <a:extLst xmlns:a="http://schemas.openxmlformats.org/drawingml/2006/main">
              <a:ext uri="{FF2B5EF4-FFF2-40B4-BE49-F238E27FC236}">
                <a16:creationId xmlns:a16="http://schemas.microsoft.com/office/drawing/2014/main" id="{B2D070AB-F905-4F6C-A090-B48D44A8E7FB}"/>
              </a:ext>
            </a:extLst>
          </p:cNvPr>
          <p:cNvSpPr>
            <a:spLocks xmlns:a="http://schemas.openxmlformats.org/drawingml/2006/main" noGrp="1"/>
          </p:cNvSpPr>
          <p:nvPr/>
        </p:nvSpPr>
        <p:spPr>
          <a:xfrm xmlns:a="http://schemas.openxmlformats.org/drawingml/2006/main">
            <a:off x="6656832" y="1700784"/>
            <a:ext cx="457200" cy="457200"/>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5" name="Google Shape;245;p11">
            <a:extLst xmlns:a="http://schemas.openxmlformats.org/drawingml/2006/main">
              <a:ext uri="{FF2B5EF4-FFF2-40B4-BE49-F238E27FC236}">
                <a16:creationId xmlns:a16="http://schemas.microsoft.com/office/drawing/2014/main" id="{A3E5E6CA-7981-48CD-B96F-7EC48B2100E1}"/>
              </a:ext>
            </a:extLst>
          </p:cNvPr>
          <p:cNvSpPr>
            <a:spLocks xmlns:a="http://schemas.openxmlformats.org/drawingml/2006/main" noGrp="1"/>
          </p:cNvSpPr>
          <p:nvPr/>
        </p:nvSpPr>
        <p:spPr>
          <a:xfrm xmlns:a="http://schemas.openxmlformats.org/drawingml/2006/main">
            <a:off x="6656832" y="1700784"/>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T3</a:t>
            </a:r>
          </a:p>
        </p:txBody>
      </p:sp>
      <p:sp>
        <p:nvSpPr>
          <p:cNvPr id="246" name="Google Shape;246;p11">
            <a:extLst xmlns:a="http://schemas.openxmlformats.org/drawingml/2006/main">
              <a:ext uri="{FF2B5EF4-FFF2-40B4-BE49-F238E27FC236}">
                <a16:creationId xmlns:a16="http://schemas.microsoft.com/office/drawing/2014/main" id="{BFC4C265-8EFE-487F-ABFA-4AAE7CD54188}"/>
              </a:ext>
            </a:extLst>
          </p:cNvPr>
          <p:cNvSpPr>
            <a:spLocks xmlns:a="http://schemas.openxmlformats.org/drawingml/2006/main" noGrp="1"/>
          </p:cNvSpPr>
          <p:nvPr/>
        </p:nvSpPr>
        <p:spPr>
          <a:xfrm xmlns:a="http://schemas.openxmlformats.org/drawingml/2006/main">
            <a:off x="7168896" y="1463040"/>
            <a:ext cx="1664208" cy="960120"/>
          </a:xfrm>
          <a:prstGeom xmlns:a="http://schemas.openxmlformats.org/drawingml/2006/main" prst="roundRect">
            <a:avLst>
              <a:gd name="adj" fmla="val 8571"/>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47" name="Google Shape;247;p11">
            <a:extLst xmlns:a="http://schemas.openxmlformats.org/drawingml/2006/main">
              <a:ext uri="{FF2B5EF4-FFF2-40B4-BE49-F238E27FC236}">
                <a16:creationId xmlns:a16="http://schemas.microsoft.com/office/drawing/2014/main" id="{726EB728-96D6-468B-A4CD-7522F14C17D8}"/>
              </a:ext>
            </a:extLst>
          </p:cNvPr>
          <p:cNvSpPr>
            <a:spLocks xmlns:a="http://schemas.openxmlformats.org/drawingml/2006/main" noGrp="1"/>
          </p:cNvSpPr>
          <p:nvPr/>
        </p:nvSpPr>
        <p:spPr>
          <a:xfrm xmlns:a="http://schemas.openxmlformats.org/drawingml/2006/main">
            <a:off x="7168896" y="1554480"/>
            <a:ext cx="1664208"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mbria"/>
                <a:ea typeface="Cambria"/>
                <a:cs typeface="Cambria"/>
              </a:rPr>
              <a:t>Divine (complete)</a:t>
            </a:r>
          </a:p>
        </p:txBody>
      </p:sp>
      <p:sp>
        <p:nvSpPr>
          <p:cNvPr id="248" name="Google Shape;248;p11">
            <a:extLst xmlns:a="http://schemas.openxmlformats.org/drawingml/2006/main">
              <a:ext uri="{FF2B5EF4-FFF2-40B4-BE49-F238E27FC236}">
                <a16:creationId xmlns:a16="http://schemas.microsoft.com/office/drawing/2014/main" id="{7E799F9F-A696-45A3-8952-26BD3BD803C1}"/>
              </a:ext>
            </a:extLst>
          </p:cNvPr>
          <p:cNvSpPr>
            <a:spLocks xmlns:a="http://schemas.openxmlformats.org/drawingml/2006/main" noGrp="1"/>
          </p:cNvSpPr>
          <p:nvPr/>
        </p:nvSpPr>
        <p:spPr>
          <a:xfrm xmlns:a="http://schemas.openxmlformats.org/drawingml/2006/main">
            <a:off x="7223760" y="1874520"/>
            <a:ext cx="15544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880" b="0" i="1" u="none" cap="none">
                <a:solidFill>
                  <a:srgbClr val="C9D4EF"/>
                </a:solidFill>
                <a:latin typeface="Calibri"/>
                <a:ea typeface="Calibri"/>
                <a:cs typeface="Calibri"/>
              </a:rPr>
              <a:t>living proof of coexistence</a:t>
            </a:r>
          </a:p>
        </p:txBody>
      </p:sp>
      <p:sp>
        <p:nvSpPr>
          <p:cNvPr id="249" name="Google Shape;249;p11">
            <a:extLst xmlns:a="http://schemas.openxmlformats.org/drawingml/2006/main">
              <a:ext uri="{FF2B5EF4-FFF2-40B4-BE49-F238E27FC236}">
                <a16:creationId xmlns:a16="http://schemas.microsoft.com/office/drawing/2014/main" id="{6B6BDCD0-FA8B-4D55-A4C2-63D899CA8920}"/>
              </a:ext>
            </a:extLst>
          </p:cNvPr>
          <p:cNvSpPr>
            <a:spLocks xmlns:a="http://schemas.openxmlformats.org/drawingml/2006/main" noGrp="1"/>
          </p:cNvSpPr>
          <p:nvPr/>
        </p:nvSpPr>
        <p:spPr>
          <a:xfrm xmlns:a="http://schemas.openxmlformats.org/drawingml/2006/main">
            <a:off x="640080" y="2770632"/>
            <a:ext cx="384048" cy="38404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0" name="Google Shape;250;p11">
            <a:extLst xmlns:a="http://schemas.openxmlformats.org/drawingml/2006/main">
              <a:ext uri="{FF2B5EF4-FFF2-40B4-BE49-F238E27FC236}">
                <a16:creationId xmlns:a16="http://schemas.microsoft.com/office/drawing/2014/main" id="{5A39170F-9417-4B44-AC88-9D3C49A24999}"/>
              </a:ext>
            </a:extLst>
          </p:cNvPr>
          <p:cNvSpPr>
            <a:spLocks xmlns:a="http://schemas.openxmlformats.org/drawingml/2006/main" noGrp="1"/>
          </p:cNvSpPr>
          <p:nvPr/>
        </p:nvSpPr>
        <p:spPr>
          <a:xfrm xmlns:a="http://schemas.openxmlformats.org/drawingml/2006/main">
            <a:off x="640080" y="2770632"/>
            <a:ext cx="384048"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FFFFFF"/>
                </a:solidFill>
                <a:latin typeface="Calibri"/>
                <a:ea typeface="Calibri"/>
                <a:cs typeface="Calibri"/>
              </a:rPr>
              <a:t>T1</a:t>
            </a:r>
          </a:p>
        </p:txBody>
      </p:sp>
      <p:sp>
        <p:nvSpPr>
          <p:cNvPr id="251" name="Google Shape;251;p11">
            <a:extLst xmlns:a="http://schemas.openxmlformats.org/drawingml/2006/main">
              <a:ext uri="{FF2B5EF4-FFF2-40B4-BE49-F238E27FC236}">
                <a16:creationId xmlns:a16="http://schemas.microsoft.com/office/drawing/2014/main" id="{F7B5D1C5-E2AE-48C6-8B84-66FC4D530303}"/>
              </a:ext>
            </a:extLst>
          </p:cNvPr>
          <p:cNvSpPr>
            <a:spLocks xmlns:a="http://schemas.openxmlformats.org/drawingml/2006/main" noGrp="1"/>
          </p:cNvSpPr>
          <p:nvPr/>
        </p:nvSpPr>
        <p:spPr>
          <a:xfrm xmlns:a="http://schemas.openxmlformats.org/drawingml/2006/main">
            <a:off x="1188720" y="2743200"/>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0" u="none" cap="none">
                <a:solidFill>
                  <a:srgbClr val="5A6377"/>
                </a:solidFill>
                <a:latin typeface="Calibri"/>
                <a:ea typeface="Calibri"/>
                <a:cs typeface="Calibri"/>
              </a:rPr>
              <a:t>Constitutional completeness — immortality of result; the atom becomes sentient jeevan</a:t>
            </a:r>
          </a:p>
        </p:txBody>
      </p:sp>
      <p:sp>
        <p:nvSpPr>
          <p:cNvPr id="252" name="Google Shape;252;p11">
            <a:extLst xmlns:a="http://schemas.openxmlformats.org/drawingml/2006/main">
              <a:ext uri="{FF2B5EF4-FFF2-40B4-BE49-F238E27FC236}">
                <a16:creationId xmlns:a16="http://schemas.microsoft.com/office/drawing/2014/main" id="{83BDFC2E-DA72-4DD2-915F-3F89D26436AC}"/>
              </a:ext>
            </a:extLst>
          </p:cNvPr>
          <p:cNvSpPr>
            <a:spLocks xmlns:a="http://schemas.openxmlformats.org/drawingml/2006/main" noGrp="1"/>
          </p:cNvSpPr>
          <p:nvPr/>
        </p:nvSpPr>
        <p:spPr>
          <a:xfrm xmlns:a="http://schemas.openxmlformats.org/drawingml/2006/main">
            <a:off x="640080" y="3374136"/>
            <a:ext cx="384048" cy="38404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3" name="Google Shape;253;p11">
            <a:extLst xmlns:a="http://schemas.openxmlformats.org/drawingml/2006/main">
              <a:ext uri="{FF2B5EF4-FFF2-40B4-BE49-F238E27FC236}">
                <a16:creationId xmlns:a16="http://schemas.microsoft.com/office/drawing/2014/main" id="{DC7A5696-0E7D-407F-9FAF-73C6217F0C7C}"/>
              </a:ext>
            </a:extLst>
          </p:cNvPr>
          <p:cNvSpPr>
            <a:spLocks xmlns:a="http://schemas.openxmlformats.org/drawingml/2006/main" noGrp="1"/>
          </p:cNvSpPr>
          <p:nvPr/>
        </p:nvSpPr>
        <p:spPr>
          <a:xfrm xmlns:a="http://schemas.openxmlformats.org/drawingml/2006/main">
            <a:off x="640080" y="3374136"/>
            <a:ext cx="384048"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FFFFFF"/>
                </a:solidFill>
                <a:latin typeface="Calibri"/>
                <a:ea typeface="Calibri"/>
                <a:cs typeface="Calibri"/>
              </a:rPr>
              <a:t>T2</a:t>
            </a:r>
          </a:p>
        </p:txBody>
      </p:sp>
      <p:sp>
        <p:nvSpPr>
          <p:cNvPr id="254" name="Google Shape;254;p11">
            <a:extLst xmlns:a="http://schemas.openxmlformats.org/drawingml/2006/main">
              <a:ext uri="{FF2B5EF4-FFF2-40B4-BE49-F238E27FC236}">
                <a16:creationId xmlns:a16="http://schemas.microsoft.com/office/drawing/2014/main" id="{663695CE-F971-4DC5-B46F-C77CA72A0A75}"/>
              </a:ext>
            </a:extLst>
          </p:cNvPr>
          <p:cNvSpPr>
            <a:spLocks xmlns:a="http://schemas.openxmlformats.org/drawingml/2006/main" noGrp="1"/>
          </p:cNvSpPr>
          <p:nvPr/>
        </p:nvSpPr>
        <p:spPr>
          <a:xfrm xmlns:a="http://schemas.openxmlformats.org/drawingml/2006/main">
            <a:off x="1188720" y="3346704"/>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0" u="none" cap="none">
                <a:solidFill>
                  <a:srgbClr val="5A6377"/>
                </a:solidFill>
                <a:latin typeface="Calibri"/>
                <a:ea typeface="Calibri"/>
                <a:cs typeface="Calibri"/>
              </a:rPr>
              <a:t>Activity completeness — restfulness of effort; direct realisation and absolute resolution</a:t>
            </a:r>
          </a:p>
        </p:txBody>
      </p:sp>
      <p:sp>
        <p:nvSpPr>
          <p:cNvPr id="255" name="Google Shape;255;p11">
            <a:extLst xmlns:a="http://schemas.openxmlformats.org/drawingml/2006/main">
              <a:ext uri="{FF2B5EF4-FFF2-40B4-BE49-F238E27FC236}">
                <a16:creationId xmlns:a16="http://schemas.microsoft.com/office/drawing/2014/main" id="{6DC74D46-B1D5-4DAB-9EF8-CB88C4910598}"/>
              </a:ext>
            </a:extLst>
          </p:cNvPr>
          <p:cNvSpPr>
            <a:spLocks xmlns:a="http://schemas.openxmlformats.org/drawingml/2006/main" noGrp="1"/>
          </p:cNvSpPr>
          <p:nvPr/>
        </p:nvSpPr>
        <p:spPr>
          <a:xfrm xmlns:a="http://schemas.openxmlformats.org/drawingml/2006/main">
            <a:off x="640080" y="3977640"/>
            <a:ext cx="384048" cy="38404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56" name="Google Shape;256;p11">
            <a:extLst xmlns:a="http://schemas.openxmlformats.org/drawingml/2006/main">
              <a:ext uri="{FF2B5EF4-FFF2-40B4-BE49-F238E27FC236}">
                <a16:creationId xmlns:a16="http://schemas.microsoft.com/office/drawing/2014/main" id="{786BC72A-C072-4422-9579-70B748800D93}"/>
              </a:ext>
            </a:extLst>
          </p:cNvPr>
          <p:cNvSpPr>
            <a:spLocks xmlns:a="http://schemas.openxmlformats.org/drawingml/2006/main" noGrp="1"/>
          </p:cNvSpPr>
          <p:nvPr/>
        </p:nvSpPr>
        <p:spPr>
          <a:xfrm xmlns:a="http://schemas.openxmlformats.org/drawingml/2006/main">
            <a:off x="640080" y="3977640"/>
            <a:ext cx="384048"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FFFFFF"/>
                </a:solidFill>
                <a:latin typeface="Calibri"/>
                <a:ea typeface="Calibri"/>
                <a:cs typeface="Calibri"/>
              </a:rPr>
              <a:t>T3</a:t>
            </a:r>
          </a:p>
        </p:txBody>
      </p:sp>
      <p:sp>
        <p:nvSpPr>
          <p:cNvPr id="257" name="Google Shape;257;p11">
            <a:extLst xmlns:a="http://schemas.openxmlformats.org/drawingml/2006/main">
              <a:ext uri="{FF2B5EF4-FFF2-40B4-BE49-F238E27FC236}">
                <a16:creationId xmlns:a16="http://schemas.microsoft.com/office/drawing/2014/main" id="{D6639B03-944A-412F-9EE4-A1FFCF5E75A8}"/>
              </a:ext>
            </a:extLst>
          </p:cNvPr>
          <p:cNvSpPr>
            <a:spLocks xmlns:a="http://schemas.openxmlformats.org/drawingml/2006/main" noGrp="1"/>
          </p:cNvSpPr>
          <p:nvPr/>
        </p:nvSpPr>
        <p:spPr>
          <a:xfrm xmlns:a="http://schemas.openxmlformats.org/drawingml/2006/main">
            <a:off x="1188720" y="3950208"/>
            <a:ext cx="7406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0" u="none" cap="none">
                <a:solidFill>
                  <a:srgbClr val="5A6377"/>
                </a:solidFill>
                <a:latin typeface="Calibri"/>
                <a:ea typeface="Calibri"/>
                <a:cs typeface="Calibri"/>
              </a:rPr>
              <a:t>Conduct completeness — destination of motion; authentic conduct as living proof</a:t>
            </a:r>
          </a:p>
        </p:txBody>
      </p:sp>
      <p:sp>
        <p:nvSpPr>
          <p:cNvPr id="258" name="Google Shape;258;p11">
            <a:extLst xmlns:a="http://schemas.openxmlformats.org/drawingml/2006/main">
              <a:ext uri="{FF2B5EF4-FFF2-40B4-BE49-F238E27FC236}">
                <a16:creationId xmlns:a16="http://schemas.microsoft.com/office/drawing/2014/main" id="{2C1A8288-A341-425A-B68F-6C122B0AB159}"/>
              </a:ext>
            </a:extLst>
          </p:cNvPr>
          <p:cNvSpPr>
            <a:spLocks xmlns:a="http://schemas.openxmlformats.org/drawingml/2006/main" noGrp="1"/>
          </p:cNvSpPr>
          <p:nvPr/>
        </p:nvSpPr>
        <p:spPr>
          <a:xfrm xmlns:a="http://schemas.openxmlformats.org/drawingml/2006/main">
            <a:off x="640080" y="4572000"/>
            <a:ext cx="79552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1" u="none" cap="none">
                <a:solidFill>
                  <a:srgbClr val="9A6414"/>
                </a:solidFill>
                <a:latin typeface="Calibri"/>
                <a:ea typeface="Calibri"/>
                <a:cs typeface="Calibri"/>
              </a:rPr>
              <a:t>T1 is constitutional completeness: a developing atom becomes sentient jeevan. The band above names the four planes — the developmental standing reached, not four kinds of thing. T2 and T3 are not further material stages; they name completeness of activity and conduct in awakened jeevan.</a:t>
            </a:r>
          </a:p>
        </p:txBody>
      </p:sp>
    </p:spTree>
    <p:extLst>
      <p:ext uri="{BB962C8B-B14F-4D97-AF65-F5344CB8AC3E}">
        <p14:creationId xmlns:p14="http://schemas.microsoft.com/office/powerpoint/2010/main" val="14135659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 name="Google Shape;189;p9">
            <a:extLst xmlns:a="http://schemas.openxmlformats.org/drawingml/2006/main">
              <a:ext uri="{FF2B5EF4-FFF2-40B4-BE49-F238E27FC236}">
                <a16:creationId xmlns:a16="http://schemas.microsoft.com/office/drawing/2014/main" id="{78BE2FDB-9993-4B89-879D-9F6E842BD146}"/>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0" name="Google Shape;190;p9">
            <a:extLst xmlns:a="http://schemas.openxmlformats.org/drawingml/2006/main">
              <a:ext uri="{FF2B5EF4-FFF2-40B4-BE49-F238E27FC236}">
                <a16:creationId xmlns:a16="http://schemas.microsoft.com/office/drawing/2014/main" id="{D486CE71-65E4-4998-B4FB-7953C76974ED}"/>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1" name="Google Shape;191;p9">
            <a:extLst xmlns:a="http://schemas.openxmlformats.org/drawingml/2006/main">
              <a:ext uri="{FF2B5EF4-FFF2-40B4-BE49-F238E27FC236}">
                <a16:creationId xmlns:a16="http://schemas.microsoft.com/office/drawing/2014/main" id="{2D843C0E-0F2C-4F09-88EC-0FE70B332F2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2" name="Google Shape;192;p9">
            <a:extLst xmlns:a="http://schemas.openxmlformats.org/drawingml/2006/main">
              <a:ext uri="{FF2B5EF4-FFF2-40B4-BE49-F238E27FC236}">
                <a16:creationId xmlns:a16="http://schemas.microsoft.com/office/drawing/2014/main" id="{7A562A57-A093-41DC-90A9-28722A21F2B0}"/>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§1.6 · §1.9 · THE COMPLETENESS DRIVE</a:t>
            </a:r>
          </a:p>
        </p:txBody>
      </p:sp>
      <p:sp>
        <p:nvSpPr>
          <p:cNvPr id="193" name="Google Shape;193;p9">
            <a:extLst xmlns:a="http://schemas.openxmlformats.org/drawingml/2006/main">
              <a:ext uri="{FF2B5EF4-FFF2-40B4-BE49-F238E27FC236}">
                <a16:creationId xmlns:a16="http://schemas.microsoft.com/office/drawing/2014/main" id="{E5CCBD08-FCA8-4F44-9B7F-A0AD7F3F647D}"/>
              </a:ext>
            </a:extLst>
          </p:cNvPr>
          <p:cNvSpPr>
            <a:spLocks xmlns:a="http://schemas.openxmlformats.org/drawingml/2006/main" noGrp="1"/>
          </p:cNvSpPr>
          <p:nvPr/>
        </p:nvSpPr>
        <p:spPr>
          <a:xfrm xmlns:a="http://schemas.openxmlformats.org/drawingml/2006/main">
            <a:off x="960120" y="514350"/>
            <a:ext cx="772668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2550" b="1" i="0" u="none" cap="none">
                <a:solidFill>
                  <a:srgbClr val="1E2447"/>
                </a:solidFill>
                <a:latin typeface="Cambria"/>
                <a:ea typeface="Cambria"/>
                <a:cs typeface="Cambria"/>
              </a:rPr>
              <a:t>One Drive, Four Vocabularies</a:t>
            </a:r>
          </a:p>
        </p:txBody>
      </p:sp>
      <p:graphicFrame>
        <p:nvGraphicFramePr>
          <p:cNvPr id="204" name="Google Shape;194;p9"/>
          <p:cNvGraphicFramePr/>
          <p:nvPr/>
        </p:nvGraphicFramePr>
        <p:xfrm>
          <a:off xmlns:a="http://schemas.openxmlformats.org/drawingml/2006/main" x="640080" y="1170432"/>
          <a:ext xmlns:a="http://schemas.openxmlformats.org/drawingml/2006/main" cx="7863825" cy="2560325"/>
        </p:xfrm>
        <a:graphic xmlns:a="http://schemas.openxmlformats.org/drawingml/2006/main">
          <a:graphicData uri="http://schemas.openxmlformats.org/drawingml/2006/table">
            <a:tbl>
              <a:tblPr>
                <a:tableStyleId>{6C92A692-798E-4634-90B1-36CD3966BFCB}</a:tableStyleId>
              </a:tblPr>
              <a:tblGrid>
                <a:gridCol w="1828800"/>
                <a:gridCol w="2651750"/>
                <a:gridCol w="2011675"/>
                <a:gridCol w="1371600"/>
              </a:tblGrid>
              <a:tr h="365750">
                <a:tc>
                  <a:txBody>
                    <a:bodyPr/>
                    <a:lstStyle/>
                    <a:p>
                      <a:pPr marL="0" indent="0" algn="l">
                        <a:buNone/>
                      </a:pPr>
                      <a:r>
                        <a:rPr sz="1200" b="1" u="none" cap="none">
                          <a:solidFill>
                            <a:srgbClr val="FFFFFF"/>
                          </a:solidFill>
                          <a:latin typeface="Calibri"/>
                          <a:ea typeface="Calibri"/>
                          <a:cs typeface="Calibri"/>
                        </a:rPr>
                        <a:t>Vocabulary</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200" b="1" u="none" cap="none">
                          <a:solidFill>
                            <a:srgbClr val="FFFFFF"/>
                          </a:solidFill>
                          <a:latin typeface="Calibri"/>
                          <a:ea typeface="Calibri"/>
                          <a:cs typeface="Calibri"/>
                        </a:rPr>
                        <a:t>Members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200" b="1" u="none" cap="none">
                          <a:solidFill>
                            <a:srgbClr val="FFFFFF"/>
                          </a:solidFill>
                          <a:latin typeface="Calibri"/>
                          <a:ea typeface="Calibri"/>
                          <a:cs typeface="Calibri"/>
                        </a:rPr>
                        <a:t>What it tracks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200" b="1" u="none" cap="none">
                          <a:solidFill>
                            <a:srgbClr val="FFFFFF"/>
                          </a:solidFill>
                          <a:latin typeface="Calibri"/>
                          <a:ea typeface="Calibri"/>
                          <a:cs typeface="Calibri"/>
                        </a:rPr>
                        <a:t>Do not confuse with</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502925">
                <a:tc>
                  <a:txBody>
                    <a:bodyPr/>
                    <a:lstStyle/>
                    <a:p>
                      <a:pPr marL="0" indent="0" algn="l">
                        <a:buNone/>
                      </a:pPr>
                      <a:r>
                        <a:rPr sz="1100" u="none" cap="none">
                          <a:solidFill>
                            <a:srgbClr val="1E2447"/>
                          </a:solidFill>
                          <a:latin typeface="Calibri"/>
                          <a:ea typeface="Calibri"/>
                          <a:cs typeface="Calibri"/>
                        </a:rPr>
                        <a:t>Orders (§1.5)</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material · bio · animal · knowledge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kind of manifestation</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planes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02925">
                <a:tc>
                  <a:txBody>
                    <a:bodyPr/>
                    <a:lstStyle/>
                    <a:p>
                      <a:pPr marL="0" indent="0" algn="l">
                        <a:buNone/>
                      </a:pPr>
                      <a:r>
                        <a:rPr sz="1100" u="none" cap="none">
                          <a:solidFill>
                            <a:srgbClr val="1E2447"/>
                          </a:solidFill>
                          <a:latin typeface="Calibri"/>
                          <a:ea typeface="Calibri"/>
                          <a:cs typeface="Calibri"/>
                        </a:rPr>
                        <a:t>Progressions (§1.9.1)</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existential · way of existence · development · awakening</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how the drive proceeds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planes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502925">
                <a:tc>
                  <a:txBody>
                    <a:bodyPr/>
                    <a:lstStyle/>
                    <a:p>
                      <a:pPr marL="0" indent="0" algn="l">
                        <a:buNone/>
                      </a:pPr>
                      <a:r>
                        <a:rPr sz="1100" u="none" cap="none">
                          <a:solidFill>
                            <a:srgbClr val="1E2447"/>
                          </a:solidFill>
                          <a:latin typeface="Calibri"/>
                          <a:ea typeface="Calibri"/>
                          <a:cs typeface="Calibri"/>
                        </a:rPr>
                        <a:t>Planes (§1.9.2)</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physicochemical · delusional · deific · divine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standing reached (T1 · T2 · T3)</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orders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685800">
                <a:tc>
                  <a:txBody>
                    <a:bodyPr/>
                    <a:lstStyle/>
                    <a:p>
                      <a:pPr marL="0" indent="0" algn="l">
                        <a:buNone/>
                      </a:pPr>
                      <a:r>
                        <a:rPr sz="1100" u="none" cap="none">
                          <a:solidFill>
                            <a:srgbClr val="1E2447"/>
                          </a:solidFill>
                          <a:latin typeface="Calibri"/>
                          <a:ea typeface="Calibri"/>
                          <a:cs typeface="Calibri"/>
                        </a:rPr>
                        <a:t>Human types (§1.9.2)</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animalistic · demonic · humane · deific · divine</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orientation of human living</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100" u="none" cap="none">
                          <a:solidFill>
                            <a:srgbClr val="1E2447"/>
                          </a:solidFill>
                          <a:latin typeface="Calibri"/>
                          <a:ea typeface="Calibri"/>
                          <a:cs typeface="Calibri"/>
                        </a:rPr>
                        <a:t>value families</a:t>
                      </a:r>
                    </a:p>
                  </a:txBody>
                  <a:tcPr marL="54875" marR="54875" marT="54875" marB="5487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195" name="Google Shape;195;p9">
            <a:extLst xmlns:a="http://schemas.openxmlformats.org/drawingml/2006/main">
              <a:ext uri="{FF2B5EF4-FFF2-40B4-BE49-F238E27FC236}">
                <a16:creationId xmlns:a16="http://schemas.microsoft.com/office/drawing/2014/main" id="{56045CEE-E3D1-4ECB-9CE3-C00365D94007}"/>
              </a:ext>
            </a:extLst>
          </p:cNvPr>
          <p:cNvSpPr>
            <a:spLocks xmlns:a="http://schemas.openxmlformats.org/drawingml/2006/main" noGrp="1"/>
          </p:cNvSpPr>
          <p:nvPr/>
        </p:nvSpPr>
        <p:spPr>
          <a:xfrm xmlns:a="http://schemas.openxmlformats.org/drawingml/2006/main">
            <a:off x="640080" y="4133087"/>
            <a:ext cx="7863840" cy="658368"/>
          </a:xfrm>
          <a:prstGeom xmlns:a="http://schemas.openxmlformats.org/drawingml/2006/main" prst="roundRect">
            <a:avLst>
              <a:gd name="adj" fmla="val 12500"/>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196" name="Google Shape;196;p9">
            <a:extLst xmlns:a="http://schemas.openxmlformats.org/drawingml/2006/main">
              <a:ext uri="{FF2B5EF4-FFF2-40B4-BE49-F238E27FC236}">
                <a16:creationId xmlns:a16="http://schemas.microsoft.com/office/drawing/2014/main" id="{CBCFED84-4AED-4439-8BAD-7BC63416C034}"/>
              </a:ext>
            </a:extLst>
          </p:cNvPr>
          <p:cNvSpPr>
            <a:spLocks xmlns:a="http://schemas.openxmlformats.org/drawingml/2006/main" noGrp="1"/>
          </p:cNvSpPr>
          <p:nvPr/>
        </p:nvSpPr>
        <p:spPr>
          <a:xfrm xmlns:a="http://schemas.openxmlformats.org/drawingml/2006/main">
            <a:off x="868680" y="4133087"/>
            <a:ext cx="7406640" cy="6583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9A6414"/>
                </a:solidFill>
                <a:latin typeface="Calibri"/>
                <a:ea typeface="Calibri"/>
                <a:cs typeface="Calibri"/>
              </a:rPr>
              <a:t>One drive, described four ways. Orders say what kind of thing a unit is; progressions say how the drive moves; planes say how far it has come; human types say how a human life is oriented. T1 separates physicochemical from sentient standing; T2 and T3 are completeness within awakened jeevan — no fifth plane is added.</a:t>
            </a:r>
          </a:p>
        </p:txBody>
      </p:sp>
      <p:sp>
        <p:nvSpPr>
          <p:cNvPr id="197" name="Google Shape;197;p9">
            <a:extLst xmlns:a="http://schemas.openxmlformats.org/drawingml/2006/main">
              <a:ext uri="{FF2B5EF4-FFF2-40B4-BE49-F238E27FC236}">
                <a16:creationId xmlns:a16="http://schemas.microsoft.com/office/drawing/2014/main" id="{07F388A9-2EE4-4AC8-BEF3-C1967A5BA32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Study §1.6, §§1.9.1–1.9.2  ·  Conceptual map, classification key  ·  MVD pp. 5, 8  ·  SB pp. 50–51</a:t>
            </a:r>
          </a:p>
        </p:txBody>
      </p:sp>
    </p:spTree>
    <p:extLst>
      <p:ext uri="{BB962C8B-B14F-4D97-AF65-F5344CB8AC3E}">
        <p14:creationId xmlns:p14="http://schemas.microsoft.com/office/powerpoint/2010/main" val="1131895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Google Shape;264;p12">
            <a:extLst xmlns:a="http://schemas.openxmlformats.org/drawingml/2006/main">
              <a:ext uri="{FF2B5EF4-FFF2-40B4-BE49-F238E27FC236}">
                <a16:creationId xmlns:a16="http://schemas.microsoft.com/office/drawing/2014/main" id="{31F24DF1-343F-4626-9A6C-364355E38A6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5" name="Google Shape;265;p12">
            <a:extLst xmlns:a="http://schemas.openxmlformats.org/drawingml/2006/main">
              <a:ext uri="{FF2B5EF4-FFF2-40B4-BE49-F238E27FC236}">
                <a16:creationId xmlns:a16="http://schemas.microsoft.com/office/drawing/2014/main" id="{43AB7693-7E8D-4A57-BC39-AB8AF60545C1}"/>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6" name="Google Shape;266;p12">
            <a:extLst xmlns:a="http://schemas.openxmlformats.org/drawingml/2006/main">
              <a:ext uri="{FF2B5EF4-FFF2-40B4-BE49-F238E27FC236}">
                <a16:creationId xmlns:a16="http://schemas.microsoft.com/office/drawing/2014/main" id="{30A460E3-D65D-48F0-B206-E0AD88EE63D2}"/>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7" name="Google Shape;267;p12">
            <a:extLst xmlns:a="http://schemas.openxmlformats.org/drawingml/2006/main">
              <a:ext uri="{FF2B5EF4-FFF2-40B4-BE49-F238E27FC236}">
                <a16:creationId xmlns:a16="http://schemas.microsoft.com/office/drawing/2014/main" id="{45014028-6252-4341-AD46-BDF3BC545E4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§1.6.1</a:t>
            </a:r>
          </a:p>
        </p:txBody>
      </p:sp>
      <p:sp>
        <p:nvSpPr>
          <p:cNvPr id="268" name="Google Shape;268;p12">
            <a:extLst xmlns:a="http://schemas.openxmlformats.org/drawingml/2006/main">
              <a:ext uri="{FF2B5EF4-FFF2-40B4-BE49-F238E27FC236}">
                <a16:creationId xmlns:a16="http://schemas.microsoft.com/office/drawing/2014/main" id="{CCDB9E2B-0461-4636-9BEE-2C6CC0F38C7F}"/>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Sentience — The Constitutional Threshold</a:t>
            </a:r>
          </a:p>
        </p:txBody>
      </p:sp>
      <p:sp>
        <p:nvSpPr>
          <p:cNvPr id="269" name="Google Shape;269;p12">
            <a:extLst xmlns:a="http://schemas.openxmlformats.org/drawingml/2006/main">
              <a:ext uri="{FF2B5EF4-FFF2-40B4-BE49-F238E27FC236}">
                <a16:creationId xmlns:a16="http://schemas.microsoft.com/office/drawing/2014/main" id="{BAD19D94-263F-4FC3-BB54-B9FF052B10C9}"/>
              </a:ext>
            </a:extLst>
          </p:cNvPr>
          <p:cNvSpPr>
            <a:spLocks xmlns:a="http://schemas.openxmlformats.org/drawingml/2006/main" noGrp="1"/>
          </p:cNvSpPr>
          <p:nvPr/>
        </p:nvSpPr>
        <p:spPr>
          <a:xfrm xmlns:a="http://schemas.openxmlformats.org/drawingml/2006/main">
            <a:off x="640080" y="1234440"/>
            <a:ext cx="79552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1E2447"/>
                </a:solidFill>
                <a:latin typeface="Calibri"/>
                <a:ea typeface="Calibri"/>
                <a:cs typeface="Calibri"/>
              </a:rPr>
              <a:t>According to the primary texts, sentience appears when one developing atom reaches constitutional completeness.</a:t>
            </a:r>
            <a:r>
              <a:rPr sz="1300" b="0" i="0" u="none" cap="none">
                <a:solidFill>
                  <a:srgbClr val="1E2447"/>
                </a:solidFill>
                <a:latin typeface="Calibri"/>
                <a:ea typeface="Calibri"/>
                <a:cs typeface="Calibri"/>
              </a:rPr>
              <a:t> Hungry and overfull atoms exchange particles until the required count is integrated. At closure, particle count stops changing while qualitative activity continues; the texts call that stable unit sentient jeevan. This is a stated criterion, not an accepted physical measurement or causal explanation of why closure is sentience.</a:t>
            </a:r>
          </a:p>
        </p:txBody>
      </p:sp>
      <p:sp>
        <p:nvSpPr>
          <p:cNvPr id="270" name="Google Shape;270;p12">
            <a:extLst xmlns:a="http://schemas.openxmlformats.org/drawingml/2006/main">
              <a:ext uri="{FF2B5EF4-FFF2-40B4-BE49-F238E27FC236}">
                <a16:creationId xmlns:a16="http://schemas.microsoft.com/office/drawing/2014/main" id="{C0213F39-D99F-48F2-9957-9418CC5ED26C}"/>
              </a:ext>
            </a:extLst>
          </p:cNvPr>
          <p:cNvSpPr>
            <a:spLocks xmlns:a="http://schemas.openxmlformats.org/drawingml/2006/main" noGrp="1"/>
          </p:cNvSpPr>
          <p:nvPr/>
        </p:nvSpPr>
        <p:spPr>
          <a:xfrm xmlns:a="http://schemas.openxmlformats.org/drawingml/2006/main">
            <a:off x="640080" y="2286000"/>
            <a:ext cx="3657600" cy="1691640"/>
          </a:xfrm>
          <a:prstGeom xmlns:a="http://schemas.openxmlformats.org/drawingml/2006/main" prst="roundRect">
            <a:avLst>
              <a:gd name="adj" fmla="val 5405"/>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1" name="Google Shape;271;p12">
            <a:extLst xmlns:a="http://schemas.openxmlformats.org/drawingml/2006/main">
              <a:ext uri="{FF2B5EF4-FFF2-40B4-BE49-F238E27FC236}">
                <a16:creationId xmlns:a16="http://schemas.microsoft.com/office/drawing/2014/main" id="{57967AD6-5336-4CF3-847E-5A8EA1E8FE5F}"/>
              </a:ext>
            </a:extLst>
          </p:cNvPr>
          <p:cNvSpPr>
            <a:spLocks xmlns:a="http://schemas.openxmlformats.org/drawingml/2006/main" noGrp="1"/>
          </p:cNvSpPr>
          <p:nvPr/>
        </p:nvSpPr>
        <p:spPr>
          <a:xfrm xmlns:a="http://schemas.openxmlformats.org/drawingml/2006/main">
            <a:off x="86868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3B4A7A"/>
                </a:solidFill>
                <a:latin typeface="Cambria"/>
                <a:ea typeface="Cambria"/>
                <a:cs typeface="Cambria"/>
              </a:rPr>
              <a:t>Before sentience — open constitution</a:t>
            </a:r>
          </a:p>
        </p:txBody>
      </p:sp>
      <p:sp>
        <p:nvSpPr>
          <p:cNvPr id="272" name="Google Shape;272;p12">
            <a:extLst xmlns:a="http://schemas.openxmlformats.org/drawingml/2006/main">
              <a:ext uri="{FF2B5EF4-FFF2-40B4-BE49-F238E27FC236}">
                <a16:creationId xmlns:a16="http://schemas.microsoft.com/office/drawing/2014/main" id="{79F1F4CE-AA65-4807-953F-298E3C8E3C16}"/>
              </a:ext>
            </a:extLst>
          </p:cNvPr>
          <p:cNvSpPr>
            <a:spLocks xmlns:a="http://schemas.openxmlformats.org/drawingml/2006/main" noGrp="1"/>
          </p:cNvSpPr>
          <p:nvPr/>
        </p:nvSpPr>
        <p:spPr>
          <a:xfrm xmlns:a="http://schemas.openxmlformats.org/drawingml/2006/main">
            <a:off x="868680" y="2743200"/>
            <a:ext cx="324612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Absorbs or expels particles; required count not yet complete</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Molecular and weight bondage continue</a:t>
            </a:r>
          </a:p>
          <a:p xmlns:a="http://schemas.openxmlformats.org/drawingml/2006/main">
            <a:pPr marL="342900" indent="-342900" algn="l">
              <a:spcBef>
                <a:spcPts val="0"/>
              </a:spcBef>
              <a:spcAft>
                <a:spcPts val="0"/>
              </a:spcAft>
              <a:buChar char="•"/>
            </a:pPr>
            <a:r>
              <a:rPr sz="1050" b="0" i="0" u="none" cap="none">
                <a:solidFill>
                  <a:srgbClr val="5A6377"/>
                </a:solidFill>
                <a:latin typeface="Calibri"/>
                <a:ea typeface="Calibri"/>
                <a:cs typeface="Calibri"/>
              </a:rPr>
              <a:t>Kind, capacity, and qualitative change track particle count</a:t>
            </a:r>
          </a:p>
        </p:txBody>
      </p:sp>
      <p:sp>
        <p:nvSpPr>
          <p:cNvPr id="273" name="Google Shape;273;p12">
            <a:extLst xmlns:a="http://schemas.openxmlformats.org/drawingml/2006/main">
              <a:ext uri="{FF2B5EF4-FFF2-40B4-BE49-F238E27FC236}">
                <a16:creationId xmlns:a16="http://schemas.microsoft.com/office/drawing/2014/main" id="{64E931F0-5A68-4993-9F13-C4B761F75C40}"/>
              </a:ext>
            </a:extLst>
          </p:cNvPr>
          <p:cNvSpPr>
            <a:spLocks xmlns:a="http://schemas.openxmlformats.org/drawingml/2006/main" noGrp="1"/>
          </p:cNvSpPr>
          <p:nvPr/>
        </p:nvSpPr>
        <p:spPr>
          <a:xfrm xmlns:a="http://schemas.openxmlformats.org/drawingml/2006/main">
            <a:off x="4846320" y="2286000"/>
            <a:ext cx="3657600" cy="1691640"/>
          </a:xfrm>
          <a:prstGeom xmlns:a="http://schemas.openxmlformats.org/drawingml/2006/main" prst="roundRect">
            <a:avLst>
              <a:gd name="adj" fmla="val 5405"/>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4" name="Google Shape;274;p12">
            <a:extLst xmlns:a="http://schemas.openxmlformats.org/drawingml/2006/main">
              <a:ext uri="{FF2B5EF4-FFF2-40B4-BE49-F238E27FC236}">
                <a16:creationId xmlns:a16="http://schemas.microsoft.com/office/drawing/2014/main" id="{03D17D49-5205-40E4-8929-28FBA11F0432}"/>
              </a:ext>
            </a:extLst>
          </p:cNvPr>
          <p:cNvSpPr>
            <a:spLocks xmlns:a="http://schemas.openxmlformats.org/drawingml/2006/main" noGrp="1"/>
          </p:cNvSpPr>
          <p:nvPr/>
        </p:nvSpPr>
        <p:spPr>
          <a:xfrm xmlns:a="http://schemas.openxmlformats.org/drawingml/2006/main">
            <a:off x="507492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9A6414"/>
                </a:solidFill>
                <a:latin typeface="Cambria"/>
                <a:ea typeface="Cambria"/>
                <a:cs typeface="Cambria"/>
              </a:rPr>
              <a:t>Sentience — constitution closes</a:t>
            </a:r>
          </a:p>
        </p:txBody>
      </p:sp>
      <p:sp>
        <p:nvSpPr>
          <p:cNvPr id="275" name="Google Shape;275;p12">
            <a:extLst xmlns:a="http://schemas.openxmlformats.org/drawingml/2006/main">
              <a:ext uri="{FF2B5EF4-FFF2-40B4-BE49-F238E27FC236}">
                <a16:creationId xmlns:a16="http://schemas.microsoft.com/office/drawing/2014/main" id="{806792A4-DAF7-4995-ADA5-97A4ACC0BE88}"/>
              </a:ext>
            </a:extLst>
          </p:cNvPr>
          <p:cNvSpPr>
            <a:spLocks xmlns:a="http://schemas.openxmlformats.org/drawingml/2006/main" noGrp="1"/>
          </p:cNvSpPr>
          <p:nvPr/>
        </p:nvSpPr>
        <p:spPr>
          <a:xfrm xmlns:a="http://schemas.openxmlformats.org/drawingml/2006/main">
            <a:off x="5074920" y="2743200"/>
            <a:ext cx="324612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defRPr sz="938">
                <a:solidFill>
                  <a:srgbClr val="5F6B82"/>
                </a:solidFill>
              </a:defRPr>
            </a:pPr>
            <a:r>
              <a:rPr sz="938">
                <a:solidFill>
                  <a:srgbClr val="5F6B82"/>
                </a:solidFill>
              </a:rPr>
              <a:t>All particles required by that constitution are integrated</a:t>
            </a:r>
          </a:p>
          <a:p xmlns:a="http://schemas.openxmlformats.org/drawingml/2006/main">
            <a:pPr marL="342900" indent="-342900" algn="l">
              <a:spcBef>
                <a:spcPts val="0"/>
              </a:spcBef>
              <a:spcAft>
                <a:spcPts val="0"/>
              </a:spcAft>
              <a:buChar char="•"/>
              <a:defRPr sz="938">
                <a:solidFill>
                  <a:srgbClr val="5F6B82"/>
                </a:solidFill>
              </a:defRPr>
            </a:pPr>
            <a:r>
              <a:rPr sz="938" b="0" i="0" u="none" cap="none">
                <a:solidFill>
                  <a:srgbClr val="5F6B82"/>
                </a:solidFill>
                <a:latin typeface="Calibri"/>
                <a:ea typeface="Calibri"/>
                <a:cs typeface="Calibri"/>
              </a:rPr>
              <a:t>Particle count no longer increases or decreases</a:t>
            </a:r>
          </a:p>
          <a:p xmlns:a="http://schemas.openxmlformats.org/drawingml/2006/main">
            <a:pPr marL="342900" indent="-342900" algn="l">
              <a:spcBef>
                <a:spcPts val="0"/>
              </a:spcBef>
              <a:spcAft>
                <a:spcPts val="0"/>
              </a:spcAft>
              <a:buChar char="•"/>
              <a:defRPr sz="938">
                <a:solidFill>
                  <a:srgbClr val="5F6B82"/>
                </a:solidFill>
              </a:defRPr>
            </a:pPr>
            <a:r>
              <a:rPr sz="938">
                <a:solidFill>
                  <a:srgbClr val="5F6B82"/>
                </a:solidFill>
              </a:rPr>
              <a:t>Leaves molecular and weight bondage; qualitative activity continues as jeevan</a:t>
            </a:r>
          </a:p>
        </p:txBody>
      </p:sp>
      <p:sp>
        <p:nvSpPr>
          <p:cNvPr id="276" name="Google Shape;276;p12">
            <a:extLst xmlns:a="http://schemas.openxmlformats.org/drawingml/2006/main">
              <a:ext uri="{FF2B5EF4-FFF2-40B4-BE49-F238E27FC236}">
                <a16:creationId xmlns:a16="http://schemas.microsoft.com/office/drawing/2014/main" id="{E6F80A38-F0FD-4914-9EAC-5969F611F70F}"/>
              </a:ext>
            </a:extLst>
          </p:cNvPr>
          <p:cNvSpPr>
            <a:spLocks xmlns:a="http://schemas.openxmlformats.org/drawingml/2006/main" noGrp="1"/>
          </p:cNvSpPr>
          <p:nvPr/>
        </p:nvSpPr>
        <p:spPr>
          <a:xfrm xmlns:a="http://schemas.openxmlformats.org/drawingml/2006/main">
            <a:off x="4315968" y="2880360"/>
            <a:ext cx="5029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2400" b="1" i="0" u="none" cap="none">
                <a:solidFill>
                  <a:srgbClr val="C9821E"/>
                </a:solidFill>
                <a:latin typeface="Calibri"/>
                <a:ea typeface="Calibri"/>
                <a:cs typeface="Calibri"/>
              </a:rPr>
              <a:t>→</a:t>
            </a:r>
          </a:p>
        </p:txBody>
      </p:sp>
      <p:sp>
        <p:nvSpPr>
          <p:cNvPr id="277" name="Google Shape;277;p12">
            <a:extLst xmlns:a="http://schemas.openxmlformats.org/drawingml/2006/main">
              <a:ext uri="{FF2B5EF4-FFF2-40B4-BE49-F238E27FC236}">
                <a16:creationId xmlns:a16="http://schemas.microsoft.com/office/drawing/2014/main" id="{FA084800-C991-44A7-8718-3023E79AF2C3}"/>
              </a:ext>
            </a:extLst>
          </p:cNvPr>
          <p:cNvSpPr>
            <a:spLocks xmlns:a="http://schemas.openxmlformats.org/drawingml/2006/main" noGrp="1"/>
          </p:cNvSpPr>
          <p:nvPr/>
        </p:nvSpPr>
        <p:spPr>
          <a:xfrm xmlns:a="http://schemas.openxmlformats.org/drawingml/2006/main">
            <a:off x="640080" y="4206240"/>
            <a:ext cx="7955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1E2447"/>
                </a:solidFill>
                <a:latin typeface="Calibri"/>
                <a:ea typeface="Calibri"/>
                <a:cs typeface="Calibri"/>
              </a:rPr>
              <a:t>The transition to sentience is the texts’ claim: one atom’s constitution closes and is reclassified as sentient — not a body becoming conscious through greater complexity. The threshold remains unmeasured.</a:t>
            </a:r>
          </a:p>
        </p:txBody>
      </p:sp>
      <p:sp>
        <p:nvSpPr>
          <p:cNvPr id="278" name="Google Shape;278;p12">
            <a:extLst xmlns:a="http://schemas.openxmlformats.org/drawingml/2006/main">
              <a:ext uri="{FF2B5EF4-FFF2-40B4-BE49-F238E27FC236}">
                <a16:creationId xmlns:a16="http://schemas.microsoft.com/office/drawing/2014/main" id="{55D6FE27-A431-49AB-BD4A-743E578D1DAD}"/>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SB pp. 55, 58–59, 71, 86  ·  MVD pp. 8, 91  ·  KD 3.3  ·  No accepted procedure identifies this threshold or explains why closure is sentience (§6.2.1).</a:t>
            </a:r>
          </a:p>
        </p:txBody>
      </p:sp>
    </p:spTree>
    <p:extLst>
      <p:ext uri="{BB962C8B-B14F-4D97-AF65-F5344CB8AC3E}">
        <p14:creationId xmlns:p14="http://schemas.microsoft.com/office/powerpoint/2010/main" val="21413563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Google Shape;264;p12">
            <a:extLst xmlns:a="http://schemas.openxmlformats.org/drawingml/2006/main">
              <a:ext uri="{FF2B5EF4-FFF2-40B4-BE49-F238E27FC236}">
                <a16:creationId xmlns:a16="http://schemas.microsoft.com/office/drawing/2014/main" id="{31F24DF1-343F-4626-9A6C-364355E38A6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5" name="Google Shape;265;p12">
            <a:extLst xmlns:a="http://schemas.openxmlformats.org/drawingml/2006/main">
              <a:ext uri="{FF2B5EF4-FFF2-40B4-BE49-F238E27FC236}">
                <a16:creationId xmlns:a16="http://schemas.microsoft.com/office/drawing/2014/main" id="{43AB7693-7E8D-4A57-BC39-AB8AF60545C1}"/>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6" name="Google Shape;266;p12">
            <a:extLst xmlns:a="http://schemas.openxmlformats.org/drawingml/2006/main">
              <a:ext uri="{FF2B5EF4-FFF2-40B4-BE49-F238E27FC236}">
                <a16:creationId xmlns:a16="http://schemas.microsoft.com/office/drawing/2014/main" id="{30A460E3-D65D-48F0-B206-E0AD88EE63D2}"/>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67" name="Google Shape;267;p12">
            <a:extLst xmlns:a="http://schemas.openxmlformats.org/drawingml/2006/main">
              <a:ext uri="{FF2B5EF4-FFF2-40B4-BE49-F238E27FC236}">
                <a16:creationId xmlns:a16="http://schemas.microsoft.com/office/drawing/2014/main" id="{45014028-6252-4341-AD46-BDF3BC545E44}"/>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MOVEMENT 3  ·  §1.7 · THE HUMAN JOINT FORM</a:t>
            </a:r>
          </a:p>
        </p:txBody>
      </p:sp>
      <p:sp>
        <p:nvSpPr>
          <p:cNvPr id="268" name="Google Shape;268;p12">
            <a:extLst xmlns:a="http://schemas.openxmlformats.org/drawingml/2006/main">
              <a:ext uri="{FF2B5EF4-FFF2-40B4-BE49-F238E27FC236}">
                <a16:creationId xmlns:a16="http://schemas.microsoft.com/office/drawing/2014/main" id="{CCDB9E2B-0461-4636-9BEE-2C6CC0F38C7F}"/>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Body and Jeevan: One Joint Form</a:t>
            </a:r>
          </a:p>
        </p:txBody>
      </p:sp>
      <p:sp>
        <p:nvSpPr>
          <p:cNvPr id="269" name="Google Shape;269;p12">
            <a:extLst xmlns:a="http://schemas.openxmlformats.org/drawingml/2006/main">
              <a:ext uri="{FF2B5EF4-FFF2-40B4-BE49-F238E27FC236}">
                <a16:creationId xmlns:a16="http://schemas.microsoft.com/office/drawing/2014/main" id="{BAD19D94-263F-4FC3-BB54-B9FF052B10C9}"/>
              </a:ext>
            </a:extLst>
          </p:cNvPr>
          <p:cNvSpPr>
            <a:spLocks xmlns:a="http://schemas.openxmlformats.org/drawingml/2006/main" noGrp="1"/>
          </p:cNvSpPr>
          <p:nvPr/>
        </p:nvSpPr>
        <p:spPr>
          <a:xfrm xmlns:a="http://schemas.openxmlformats.org/drawingml/2006/main">
            <a:off x="640080" y="1234440"/>
            <a:ext cx="79552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i="0" u="none" cap="none">
                <a:solidFill>
                  <a:srgbClr val="1E2447"/>
                </a:solidFill>
                <a:latin typeface="Calibri"/>
                <a:ea typeface="Calibri"/>
                <a:cs typeface="Calibri"/>
              </a:rPr>
              <a:t>Animal and human living is a joint form. Jeevan brings all ten activities; the body supplies the species-specific medium. Animal bodily and brain development limits their expression. The human medium supports the full range, while body-identification can still misdirect evaluation.</a:t>
            </a:r>
          </a:p>
        </p:txBody>
      </p:sp>
      <p:sp>
        <p:nvSpPr>
          <p:cNvPr id="270" name="Google Shape;270;p12">
            <a:extLst xmlns:a="http://schemas.openxmlformats.org/drawingml/2006/main">
              <a:ext uri="{FF2B5EF4-FFF2-40B4-BE49-F238E27FC236}">
                <a16:creationId xmlns:a16="http://schemas.microsoft.com/office/drawing/2014/main" id="{C0213F39-D99F-48F2-9957-9418CC5ED26C}"/>
              </a:ext>
            </a:extLst>
          </p:cNvPr>
          <p:cNvSpPr>
            <a:spLocks xmlns:a="http://schemas.openxmlformats.org/drawingml/2006/main" noGrp="1"/>
          </p:cNvSpPr>
          <p:nvPr/>
        </p:nvSpPr>
        <p:spPr>
          <a:xfrm xmlns:a="http://schemas.openxmlformats.org/drawingml/2006/main">
            <a:off x="640080" y="2286000"/>
            <a:ext cx="3657600" cy="1691640"/>
          </a:xfrm>
          <a:prstGeom xmlns:a="http://schemas.openxmlformats.org/drawingml/2006/main" prst="roundRect">
            <a:avLst>
              <a:gd name="adj" fmla="val 5405"/>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1" name="Google Shape;271;p12">
            <a:extLst xmlns:a="http://schemas.openxmlformats.org/drawingml/2006/main">
              <a:ext uri="{FF2B5EF4-FFF2-40B4-BE49-F238E27FC236}">
                <a16:creationId xmlns:a16="http://schemas.microsoft.com/office/drawing/2014/main" id="{57967AD6-5336-4CF3-847E-5A8EA1E8FE5F}"/>
              </a:ext>
            </a:extLst>
          </p:cNvPr>
          <p:cNvSpPr>
            <a:spLocks xmlns:a="http://schemas.openxmlformats.org/drawingml/2006/main" noGrp="1"/>
          </p:cNvSpPr>
          <p:nvPr/>
        </p:nvSpPr>
        <p:spPr>
          <a:xfrm xmlns:a="http://schemas.openxmlformats.org/drawingml/2006/main">
            <a:off x="86868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3B4A7A"/>
                </a:solidFill>
                <a:latin typeface="Cambria"/>
                <a:ea typeface="Cambria"/>
                <a:cs typeface="Cambria"/>
              </a:rPr>
              <a:t>Body — the medium</a:t>
            </a:r>
          </a:p>
        </p:txBody>
      </p:sp>
      <p:sp>
        <p:nvSpPr>
          <p:cNvPr id="272" name="Google Shape;272;p12">
            <a:extLst xmlns:a="http://schemas.openxmlformats.org/drawingml/2006/main">
              <a:ext uri="{FF2B5EF4-FFF2-40B4-BE49-F238E27FC236}">
                <a16:creationId xmlns:a16="http://schemas.microsoft.com/office/drawing/2014/main" id="{79F1F4CE-AA65-4807-953F-298E3C8E3C16}"/>
              </a:ext>
            </a:extLst>
          </p:cNvPr>
          <p:cNvSpPr>
            <a:spLocks xmlns:a="http://schemas.openxmlformats.org/drawingml/2006/main" noGrp="1"/>
          </p:cNvSpPr>
          <p:nvPr/>
        </p:nvSpPr>
        <p:spPr>
          <a:xfrm xmlns:a="http://schemas.openxmlformats.org/drawingml/2006/main">
            <a:off x="868680" y="2743200"/>
            <a:ext cx="324612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defRPr sz="1013">
                <a:solidFill>
                  <a:srgbClr val="5F6B82"/>
                </a:solidFill>
              </a:defRPr>
            </a:pPr>
            <a:r>
              <a:rPr sz="1013">
                <a:solidFill>
                  <a:srgbClr val="5F6B82"/>
                </a:solidFill>
              </a:rPr>
              <a:t>Pranic composition</a:t>
            </a:r>
          </a:p>
          <a:p xmlns:a="http://schemas.openxmlformats.org/drawingml/2006/main">
            <a:pPr marL="342900" indent="-342900" algn="l">
              <a:spcBef>
                <a:spcPts val="0"/>
              </a:spcBef>
              <a:spcAft>
                <a:spcPts val="0"/>
              </a:spcAft>
              <a:buChar char="•"/>
              <a:defRPr sz="1013">
                <a:solidFill>
                  <a:srgbClr val="5F6B82"/>
                </a:solidFill>
              </a:defRPr>
            </a:pPr>
            <a:r>
              <a:rPr sz="1013">
                <a:solidFill>
                  <a:srgbClr val="5F6B82"/>
                </a:solidFill>
              </a:rPr>
              <a:t>Sense organs, brain, and physical expression</a:t>
            </a:r>
          </a:p>
          <a:p xmlns:a="http://schemas.openxmlformats.org/drawingml/2006/main">
            <a:pPr marL="342900" indent="-342900" algn="l">
              <a:spcBef>
                <a:spcPts val="0"/>
              </a:spcBef>
              <a:spcAft>
                <a:spcPts val="0"/>
              </a:spcAft>
              <a:buChar char="•"/>
              <a:defRPr sz="1013">
                <a:solidFill>
                  <a:srgbClr val="5F6B82"/>
                </a:solidFill>
              </a:defRPr>
            </a:pPr>
            <a:r>
              <a:rPr sz="1013">
                <a:solidFill>
                  <a:srgbClr val="5F6B82"/>
                </a:solidFill>
              </a:rPr>
              <a:t>Animal: limited · Human: full medium; decomposable</a:t>
            </a:r>
          </a:p>
        </p:txBody>
      </p:sp>
      <p:sp>
        <p:nvSpPr>
          <p:cNvPr id="273" name="Google Shape;273;p12">
            <a:extLst xmlns:a="http://schemas.openxmlformats.org/drawingml/2006/main">
              <a:ext uri="{FF2B5EF4-FFF2-40B4-BE49-F238E27FC236}">
                <a16:creationId xmlns:a16="http://schemas.microsoft.com/office/drawing/2014/main" id="{64E931F0-5A68-4993-9F13-C4B761F75C40}"/>
              </a:ext>
            </a:extLst>
          </p:cNvPr>
          <p:cNvSpPr>
            <a:spLocks xmlns:a="http://schemas.openxmlformats.org/drawingml/2006/main" noGrp="1"/>
          </p:cNvSpPr>
          <p:nvPr/>
        </p:nvSpPr>
        <p:spPr>
          <a:xfrm xmlns:a="http://schemas.openxmlformats.org/drawingml/2006/main">
            <a:off x="4846320" y="2286000"/>
            <a:ext cx="3657600" cy="1691640"/>
          </a:xfrm>
          <a:prstGeom xmlns:a="http://schemas.openxmlformats.org/drawingml/2006/main" prst="roundRect">
            <a:avLst>
              <a:gd name="adj" fmla="val 5405"/>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74" name="Google Shape;274;p12">
            <a:extLst xmlns:a="http://schemas.openxmlformats.org/drawingml/2006/main">
              <a:ext uri="{FF2B5EF4-FFF2-40B4-BE49-F238E27FC236}">
                <a16:creationId xmlns:a16="http://schemas.microsoft.com/office/drawing/2014/main" id="{03D17D49-5205-40E4-8929-28FBA11F0432}"/>
              </a:ext>
            </a:extLst>
          </p:cNvPr>
          <p:cNvSpPr>
            <a:spLocks xmlns:a="http://schemas.openxmlformats.org/drawingml/2006/main" noGrp="1"/>
          </p:cNvSpPr>
          <p:nvPr/>
        </p:nvSpPr>
        <p:spPr>
          <a:xfrm xmlns:a="http://schemas.openxmlformats.org/drawingml/2006/main">
            <a:off x="5074920" y="2432304"/>
            <a:ext cx="3200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1" i="0" u="none" cap="none">
                <a:solidFill>
                  <a:srgbClr val="9A6414"/>
                </a:solidFill>
                <a:latin typeface="Cambria"/>
                <a:ea typeface="Cambria"/>
                <a:cs typeface="Cambria"/>
              </a:rPr>
              <a:t>Jeevan — the knower</a:t>
            </a:r>
          </a:p>
        </p:txBody>
      </p:sp>
      <p:sp>
        <p:nvSpPr>
          <p:cNvPr id="275" name="Google Shape;275;p12">
            <a:extLst xmlns:a="http://schemas.openxmlformats.org/drawingml/2006/main">
              <a:ext uri="{FF2B5EF4-FFF2-40B4-BE49-F238E27FC236}">
                <a16:creationId xmlns:a16="http://schemas.microsoft.com/office/drawing/2014/main" id="{806792A4-DAF7-4995-ADA5-97A4ACC0BE88}"/>
              </a:ext>
            </a:extLst>
          </p:cNvPr>
          <p:cNvSpPr>
            <a:spLocks xmlns:a="http://schemas.openxmlformats.org/drawingml/2006/main" noGrp="1"/>
          </p:cNvSpPr>
          <p:nvPr/>
        </p:nvSpPr>
        <p:spPr>
          <a:xfrm xmlns:a="http://schemas.openxmlformats.org/drawingml/2006/main">
            <a:off x="5074920" y="2743200"/>
            <a:ext cx="324612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342900" indent="-342900" algn="l">
              <a:spcBef>
                <a:spcPts val="0"/>
              </a:spcBef>
              <a:spcAft>
                <a:spcPts val="0"/>
              </a:spcAft>
              <a:buChar char="•"/>
              <a:defRPr sz="1013">
                <a:solidFill>
                  <a:srgbClr val="5F6B82"/>
                </a:solidFill>
              </a:defRPr>
            </a:pPr>
            <a:r>
              <a:rPr sz="1013">
                <a:solidFill>
                  <a:srgbClr val="5F6B82"/>
                </a:solidFill>
              </a:rPr>
              <a:t>Constitutionally complete sentient atom</a:t>
            </a:r>
          </a:p>
          <a:p xmlns:a="http://schemas.openxmlformats.org/drawingml/2006/main">
            <a:pPr marL="342900" indent="-342900" algn="l">
              <a:spcBef>
                <a:spcPts val="0"/>
              </a:spcBef>
              <a:spcAft>
                <a:spcPts val="0"/>
              </a:spcAft>
              <a:buChar char="•"/>
              <a:defRPr sz="1013">
                <a:solidFill>
                  <a:srgbClr val="5F6B82"/>
                </a:solidFill>
              </a:defRPr>
            </a:pPr>
            <a:r>
              <a:rPr sz="1013">
                <a:solidFill>
                  <a:srgbClr val="5F6B82"/>
                </a:solidFill>
              </a:rPr>
              <a:t>All five faculties and ten activities inherent</a:t>
            </a:r>
          </a:p>
          <a:p xmlns:a="http://schemas.openxmlformats.org/drawingml/2006/main">
            <a:pPr marL="342900" indent="-342900" algn="l">
              <a:spcBef>
                <a:spcPts val="0"/>
              </a:spcBef>
              <a:spcAft>
                <a:spcPts val="0"/>
              </a:spcAft>
              <a:buChar char="•"/>
              <a:defRPr sz="1013">
                <a:solidFill>
                  <a:srgbClr val="5F6B82"/>
                </a:solidFill>
              </a:defRPr>
            </a:pPr>
            <a:r>
              <a:rPr sz="1013">
                <a:solidFill>
                  <a:srgbClr val="5F6B82"/>
                </a:solidFill>
              </a:rPr>
              <a:t>Continues when the joint form ends</a:t>
            </a:r>
          </a:p>
        </p:txBody>
      </p:sp>
      <p:sp>
        <p:nvSpPr>
          <p:cNvPr id="276" name="Google Shape;276;p12">
            <a:extLst xmlns:a="http://schemas.openxmlformats.org/drawingml/2006/main">
              <a:ext uri="{FF2B5EF4-FFF2-40B4-BE49-F238E27FC236}">
                <a16:creationId xmlns:a16="http://schemas.microsoft.com/office/drawing/2014/main" id="{E6F80A38-F0FD-4914-9EAC-5969F611F70F}"/>
              </a:ext>
            </a:extLst>
          </p:cNvPr>
          <p:cNvSpPr>
            <a:spLocks xmlns:a="http://schemas.openxmlformats.org/drawingml/2006/main" noGrp="1"/>
          </p:cNvSpPr>
          <p:nvPr/>
        </p:nvSpPr>
        <p:spPr>
          <a:xfrm xmlns:a="http://schemas.openxmlformats.org/drawingml/2006/main">
            <a:off x="4315968" y="2880360"/>
            <a:ext cx="5029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2400" b="1" i="0" u="none" cap="none">
                <a:solidFill>
                  <a:srgbClr val="C9821E"/>
                </a:solidFill>
                <a:latin typeface="Calibri"/>
                <a:ea typeface="Calibri"/>
                <a:cs typeface="Calibri"/>
              </a:rPr>
              <a:t>⇄</a:t>
            </a:r>
          </a:p>
        </p:txBody>
      </p:sp>
      <p:sp>
        <p:nvSpPr>
          <p:cNvPr id="277" name="Google Shape;277;p12">
            <a:extLst xmlns:a="http://schemas.openxmlformats.org/drawingml/2006/main">
              <a:ext uri="{FF2B5EF4-FFF2-40B4-BE49-F238E27FC236}">
                <a16:creationId xmlns:a16="http://schemas.microsoft.com/office/drawing/2014/main" id="{FA084800-C991-44A7-8718-3023E79AF2C3}"/>
              </a:ext>
            </a:extLst>
          </p:cNvPr>
          <p:cNvSpPr>
            <a:spLocks xmlns:a="http://schemas.openxmlformats.org/drawingml/2006/main" noGrp="1"/>
          </p:cNvSpPr>
          <p:nvPr/>
        </p:nvSpPr>
        <p:spPr>
          <a:xfrm xmlns:a="http://schemas.openxmlformats.org/drawingml/2006/main">
            <a:off x="640080" y="4206240"/>
            <a:ext cx="7955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1E2447"/>
                </a:solidFill>
                <a:latin typeface="Calibri"/>
                <a:ea typeface="Calibri"/>
                <a:cs typeface="Calibri"/>
              </a:rPr>
              <a:t>The body gates expression; jeevan is seer–doer–enjoyer through it. Animal limitation belongs to the medium; human mis-evaluation belongs to body-delusion.</a:t>
            </a:r>
          </a:p>
        </p:txBody>
      </p:sp>
      <p:sp>
        <p:nvSpPr>
          <p:cNvPr id="278" name="Google Shape;278;p12">
            <a:extLst xmlns:a="http://schemas.openxmlformats.org/drawingml/2006/main">
              <a:ext uri="{FF2B5EF4-FFF2-40B4-BE49-F238E27FC236}">
                <a16:creationId xmlns:a16="http://schemas.microsoft.com/office/drawing/2014/main" id="{55D6FE27-A431-49AB-BD4A-743E578D1DAD}"/>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13, 115, 288–289 · SB pp. 91–92 · JV pp. 20, 54</a:t>
            </a:r>
          </a:p>
        </p:txBody>
      </p:sp>
    </p:spTree>
    <p:extLst>
      <p:ext uri="{BB962C8B-B14F-4D97-AF65-F5344CB8AC3E}">
        <p14:creationId xmlns:p14="http://schemas.microsoft.com/office/powerpoint/2010/main" val="21413563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 name="Google Shape;284;p13">
            <a:extLst xmlns:a="http://schemas.openxmlformats.org/drawingml/2006/main">
              <a:ext uri="{FF2B5EF4-FFF2-40B4-BE49-F238E27FC236}">
                <a16:creationId xmlns:a16="http://schemas.microsoft.com/office/drawing/2014/main" id="{1E5F56BB-9A34-4C85-9FA8-3973A3C8F591}"/>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85" name="Google Shape;285;p13">
            <a:extLst xmlns:a="http://schemas.openxmlformats.org/drawingml/2006/main">
              <a:ext uri="{FF2B5EF4-FFF2-40B4-BE49-F238E27FC236}">
                <a16:creationId xmlns:a16="http://schemas.microsoft.com/office/drawing/2014/main" id="{789B6EC8-4924-4167-914C-21CDEA4EF896}"/>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86" name="Google Shape;286;p13">
            <a:extLst xmlns:a="http://schemas.openxmlformats.org/drawingml/2006/main">
              <a:ext uri="{FF2B5EF4-FFF2-40B4-BE49-F238E27FC236}">
                <a16:creationId xmlns:a16="http://schemas.microsoft.com/office/drawing/2014/main" id="{64227F92-96D4-4E15-9F79-F545BF27D19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87" name="Google Shape;287;p13">
            <a:extLst xmlns:a="http://schemas.openxmlformats.org/drawingml/2006/main">
              <a:ext uri="{FF2B5EF4-FFF2-40B4-BE49-F238E27FC236}">
                <a16:creationId xmlns:a16="http://schemas.microsoft.com/office/drawing/2014/main" id="{1C5C8F2C-EDB9-4C04-9B75-C5DFEDCDDBE0}"/>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§1.7 · CONSTITUTIONALLY COMPLETE</a:t>
            </a:r>
          </a:p>
        </p:txBody>
      </p:sp>
      <p:sp>
        <p:nvSpPr>
          <p:cNvPr id="288" name="Google Shape;288;p13">
            <a:extLst xmlns:a="http://schemas.openxmlformats.org/drawingml/2006/main">
              <a:ext uri="{FF2B5EF4-FFF2-40B4-BE49-F238E27FC236}">
                <a16:creationId xmlns:a16="http://schemas.microsoft.com/office/drawing/2014/main" id="{9217C47C-53A4-41ED-8226-61D3CF3778D9}"/>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Jeevan: Five Faculties, Ten Activities</a:t>
            </a:r>
          </a:p>
        </p:txBody>
      </p:sp>
      <p:sp>
        <p:nvSpPr>
          <p:cNvPr id="289" name="Google Shape;289;p13">
            <a:extLst xmlns:a="http://schemas.openxmlformats.org/drawingml/2006/main">
              <a:ext uri="{FF2B5EF4-FFF2-40B4-BE49-F238E27FC236}">
                <a16:creationId xmlns:a16="http://schemas.microsoft.com/office/drawing/2014/main" id="{A7811749-9FD9-446E-9F16-BAE349C0EB31}"/>
              </a:ext>
            </a:extLst>
          </p:cNvPr>
          <p:cNvSpPr>
            <a:spLocks xmlns:a="http://schemas.openxmlformats.org/drawingml/2006/main" noGrp="1"/>
          </p:cNvSpPr>
          <p:nvPr/>
        </p:nvSpPr>
        <p:spPr>
          <a:xfrm xmlns:a="http://schemas.openxmlformats.org/drawingml/2006/main">
            <a:off x="1851660" y="2583180"/>
            <a:ext cx="960120" cy="96012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90" name="Google Shape;290;p13">
            <a:extLst xmlns:a="http://schemas.openxmlformats.org/drawingml/2006/main">
              <a:ext uri="{FF2B5EF4-FFF2-40B4-BE49-F238E27FC236}">
                <a16:creationId xmlns:a16="http://schemas.microsoft.com/office/drawing/2014/main" id="{B80053E0-F78A-42B8-B068-8EE096741EB1}"/>
              </a:ext>
            </a:extLst>
          </p:cNvPr>
          <p:cNvSpPr>
            <a:spLocks xmlns:a="http://schemas.openxmlformats.org/drawingml/2006/main" noGrp="1"/>
          </p:cNvSpPr>
          <p:nvPr/>
        </p:nvSpPr>
        <p:spPr>
          <a:xfrm xmlns:a="http://schemas.openxmlformats.org/drawingml/2006/main">
            <a:off x="1828800" y="2464308"/>
            <a:ext cx="1005840" cy="219456"/>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950" b="1" i="1" u="none" cap="none">
                <a:solidFill>
                  <a:srgbClr val="3B4A7A"/>
                </a:solidFill>
                <a:latin typeface="Calibri"/>
                <a:ea typeface="Calibri"/>
                <a:cs typeface="Calibri"/>
              </a:rPr>
              <a:t>buddhi</a:t>
            </a:r>
          </a:p>
        </p:txBody>
      </p:sp>
      <p:sp>
        <p:nvSpPr>
          <p:cNvPr id="291" name="Google Shape;291;p13">
            <a:extLst xmlns:a="http://schemas.openxmlformats.org/drawingml/2006/main">
              <a:ext uri="{FF2B5EF4-FFF2-40B4-BE49-F238E27FC236}">
                <a16:creationId xmlns:a16="http://schemas.microsoft.com/office/drawing/2014/main" id="{6CDC5A34-ED41-4857-A986-B809E855A59E}"/>
              </a:ext>
            </a:extLst>
          </p:cNvPr>
          <p:cNvSpPr>
            <a:spLocks xmlns:a="http://schemas.openxmlformats.org/drawingml/2006/main" noGrp="1"/>
          </p:cNvSpPr>
          <p:nvPr/>
        </p:nvSpPr>
        <p:spPr>
          <a:xfrm xmlns:a="http://schemas.openxmlformats.org/drawingml/2006/main">
            <a:off x="1623060" y="2354580"/>
            <a:ext cx="1417320" cy="1417320"/>
          </a:xfrm>
          <a:prstGeom xmlns:a="http://schemas.openxmlformats.org/drawingml/2006/main" prst="ellipse">
            <a:avLst/>
          </a:prstGeom>
          <a:noFill xmlns:a="http://schemas.openxmlformats.org/drawingml/2006/main"/>
          <a:ln xmlns:a="http://schemas.openxmlformats.org/drawingml/2006/main" w="15875" cmpd="sng">
            <a:solidFill>
              <a:srgbClr val="8E9BC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92" name="Google Shape;292;p13">
            <a:extLst xmlns:a="http://schemas.openxmlformats.org/drawingml/2006/main">
              <a:ext uri="{FF2B5EF4-FFF2-40B4-BE49-F238E27FC236}">
                <a16:creationId xmlns:a16="http://schemas.microsoft.com/office/drawing/2014/main" id="{62D17117-F8A0-4EE1-A91D-B5B85A030A63}"/>
              </a:ext>
            </a:extLst>
          </p:cNvPr>
          <p:cNvSpPr>
            <a:spLocks xmlns:a="http://schemas.openxmlformats.org/drawingml/2006/main" noGrp="1"/>
          </p:cNvSpPr>
          <p:nvPr/>
        </p:nvSpPr>
        <p:spPr>
          <a:xfrm xmlns:a="http://schemas.openxmlformats.org/drawingml/2006/main">
            <a:off x="1828800" y="2235708"/>
            <a:ext cx="1005840" cy="219456"/>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950" b="1" i="1" u="none" cap="none">
                <a:solidFill>
                  <a:srgbClr val="3B4A7A"/>
                </a:solidFill>
                <a:latin typeface="Calibri"/>
                <a:ea typeface="Calibri"/>
                <a:cs typeface="Calibri"/>
              </a:rPr>
              <a:t>chitta</a:t>
            </a:r>
          </a:p>
        </p:txBody>
      </p:sp>
      <p:sp>
        <p:nvSpPr>
          <p:cNvPr id="293" name="Google Shape;293;p13">
            <a:extLst xmlns:a="http://schemas.openxmlformats.org/drawingml/2006/main">
              <a:ext uri="{FF2B5EF4-FFF2-40B4-BE49-F238E27FC236}">
                <a16:creationId xmlns:a16="http://schemas.microsoft.com/office/drawing/2014/main" id="{BF98A95E-C47B-4496-B328-945B3D5A3301}"/>
              </a:ext>
            </a:extLst>
          </p:cNvPr>
          <p:cNvSpPr>
            <a:spLocks xmlns:a="http://schemas.openxmlformats.org/drawingml/2006/main" noGrp="1"/>
          </p:cNvSpPr>
          <p:nvPr/>
        </p:nvSpPr>
        <p:spPr>
          <a:xfrm xmlns:a="http://schemas.openxmlformats.org/drawingml/2006/main">
            <a:off x="1394460" y="2125980"/>
            <a:ext cx="1874520" cy="187452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94" name="Google Shape;294;p13">
            <a:extLst xmlns:a="http://schemas.openxmlformats.org/drawingml/2006/main">
              <a:ext uri="{FF2B5EF4-FFF2-40B4-BE49-F238E27FC236}">
                <a16:creationId xmlns:a16="http://schemas.microsoft.com/office/drawing/2014/main" id="{A75EA635-19EA-4538-B7E1-6FED769C3EB1}"/>
              </a:ext>
            </a:extLst>
          </p:cNvPr>
          <p:cNvSpPr>
            <a:spLocks xmlns:a="http://schemas.openxmlformats.org/drawingml/2006/main" noGrp="1"/>
          </p:cNvSpPr>
          <p:nvPr/>
        </p:nvSpPr>
        <p:spPr>
          <a:xfrm xmlns:a="http://schemas.openxmlformats.org/drawingml/2006/main">
            <a:off x="1828800" y="2007108"/>
            <a:ext cx="1005840" cy="219456"/>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950" b="1" i="1" u="none" cap="none">
                <a:solidFill>
                  <a:srgbClr val="3B4A7A"/>
                </a:solidFill>
                <a:latin typeface="Calibri"/>
                <a:ea typeface="Calibri"/>
                <a:cs typeface="Calibri"/>
              </a:rPr>
              <a:t>vritti</a:t>
            </a:r>
          </a:p>
        </p:txBody>
      </p:sp>
      <p:sp>
        <p:nvSpPr>
          <p:cNvPr id="295" name="Google Shape;295;p13">
            <a:extLst xmlns:a="http://schemas.openxmlformats.org/drawingml/2006/main">
              <a:ext uri="{FF2B5EF4-FFF2-40B4-BE49-F238E27FC236}">
                <a16:creationId xmlns:a16="http://schemas.microsoft.com/office/drawing/2014/main" id="{44BA07D9-B04E-436E-8BB7-DD9A217D133D}"/>
              </a:ext>
            </a:extLst>
          </p:cNvPr>
          <p:cNvSpPr>
            <a:spLocks xmlns:a="http://schemas.openxmlformats.org/drawingml/2006/main" noGrp="1"/>
          </p:cNvSpPr>
          <p:nvPr/>
        </p:nvSpPr>
        <p:spPr>
          <a:xfrm xmlns:a="http://schemas.openxmlformats.org/drawingml/2006/main">
            <a:off x="1165860" y="1897380"/>
            <a:ext cx="2331720" cy="2331720"/>
          </a:xfrm>
          <a:prstGeom xmlns:a="http://schemas.openxmlformats.org/drawingml/2006/main" prst="ellipse">
            <a:avLst/>
          </a:prstGeom>
          <a:noFill xmlns:a="http://schemas.openxmlformats.org/drawingml/2006/main"/>
          <a:ln xmlns:a="http://schemas.openxmlformats.org/drawingml/2006/main" w="15875" cmpd="sng">
            <a:solidFill>
              <a:srgbClr val="8E9BC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96" name="Google Shape;296;p13">
            <a:extLst xmlns:a="http://schemas.openxmlformats.org/drawingml/2006/main">
              <a:ext uri="{FF2B5EF4-FFF2-40B4-BE49-F238E27FC236}">
                <a16:creationId xmlns:a16="http://schemas.microsoft.com/office/drawing/2014/main" id="{779AF3AD-B505-451C-9CCB-C3C043B8104C}"/>
              </a:ext>
            </a:extLst>
          </p:cNvPr>
          <p:cNvSpPr>
            <a:spLocks xmlns:a="http://schemas.openxmlformats.org/drawingml/2006/main" noGrp="1"/>
          </p:cNvSpPr>
          <p:nvPr/>
        </p:nvSpPr>
        <p:spPr>
          <a:xfrm xmlns:a="http://schemas.openxmlformats.org/drawingml/2006/main">
            <a:off x="1828800" y="1778508"/>
            <a:ext cx="1005840" cy="219456"/>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950" b="1" i="1" u="none" cap="none">
                <a:solidFill>
                  <a:srgbClr val="3B4A7A"/>
                </a:solidFill>
                <a:latin typeface="Calibri"/>
                <a:ea typeface="Calibri"/>
                <a:cs typeface="Calibri"/>
              </a:rPr>
              <a:t>mun</a:t>
            </a:r>
          </a:p>
        </p:txBody>
      </p:sp>
      <p:sp>
        <p:nvSpPr>
          <p:cNvPr id="297" name="Google Shape;297;p13">
            <a:extLst xmlns:a="http://schemas.openxmlformats.org/drawingml/2006/main">
              <a:ext uri="{FF2B5EF4-FFF2-40B4-BE49-F238E27FC236}">
                <a16:creationId xmlns:a16="http://schemas.microsoft.com/office/drawing/2014/main" id="{C2363F2F-B9F7-41B6-BFD6-B03380A98FBE}"/>
              </a:ext>
            </a:extLst>
          </p:cNvPr>
          <p:cNvSpPr>
            <a:spLocks xmlns:a="http://schemas.openxmlformats.org/drawingml/2006/main" noGrp="1"/>
          </p:cNvSpPr>
          <p:nvPr/>
        </p:nvSpPr>
        <p:spPr>
          <a:xfrm xmlns:a="http://schemas.openxmlformats.org/drawingml/2006/main">
            <a:off x="2084832" y="2816352"/>
            <a:ext cx="493776" cy="493776"/>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98" name="Google Shape;298;p13">
            <a:extLst xmlns:a="http://schemas.openxmlformats.org/drawingml/2006/main">
              <a:ext uri="{FF2B5EF4-FFF2-40B4-BE49-F238E27FC236}">
                <a16:creationId xmlns:a16="http://schemas.microsoft.com/office/drawing/2014/main" id="{5D222F60-F7F1-44F5-ACE0-F3F1A86FC60B}"/>
              </a:ext>
            </a:extLst>
          </p:cNvPr>
          <p:cNvSpPr>
            <a:spLocks xmlns:a="http://schemas.openxmlformats.org/drawingml/2006/main" noGrp="1"/>
          </p:cNvSpPr>
          <p:nvPr/>
        </p:nvSpPr>
        <p:spPr>
          <a:xfrm xmlns:a="http://schemas.openxmlformats.org/drawingml/2006/main">
            <a:off x="1874520" y="2926080"/>
            <a:ext cx="914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050" b="1" i="0" u="none" cap="none">
                <a:solidFill>
                  <a:srgbClr val="FFFFFF"/>
                </a:solidFill>
                <a:latin typeface="Calibri"/>
                <a:ea typeface="Calibri"/>
                <a:cs typeface="Calibri"/>
              </a:rPr>
              <a:t>atma</a:t>
            </a:r>
          </a:p>
        </p:txBody>
      </p:sp>
      <p:sp>
        <p:nvSpPr>
          <p:cNvPr id="299" name="Google Shape;299;p13">
            <a:extLst xmlns:a="http://schemas.openxmlformats.org/drawingml/2006/main">
              <a:ext uri="{FF2B5EF4-FFF2-40B4-BE49-F238E27FC236}">
                <a16:creationId xmlns:a16="http://schemas.microsoft.com/office/drawing/2014/main" id="{147A2446-6FAA-46E7-8CA7-4BC2804DA439}"/>
              </a:ext>
            </a:extLst>
          </p:cNvPr>
          <p:cNvSpPr>
            <a:spLocks xmlns:a="http://schemas.openxmlformats.org/drawingml/2006/main" noGrp="1"/>
          </p:cNvSpPr>
          <p:nvPr/>
        </p:nvSpPr>
        <p:spPr>
          <a:xfrm xmlns:a="http://schemas.openxmlformats.org/drawingml/2006/main">
            <a:off x="685800" y="4434840"/>
            <a:ext cx="3383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centre = core self (atma); the four rings around it are the other four faculties (MVD p. 78)</a:t>
            </a:r>
          </a:p>
        </p:txBody>
      </p:sp>
      <p:graphicFrame>
        <p:nvGraphicFramePr>
          <p:cNvPr id="320" name="Google Shape;300;p13"/>
          <p:cNvGraphicFramePr/>
          <p:nvPr/>
        </p:nvGraphicFramePr>
        <p:xfrm>
          <a:off xmlns:a="http://schemas.openxmlformats.org/drawingml/2006/main" x="4480559" y="1271015"/>
          <a:ext xmlns:a="http://schemas.openxmlformats.org/drawingml/2006/main" cx="4160525" cy="2249425"/>
        </p:xfrm>
        <a:graphic xmlns:a="http://schemas.openxmlformats.org/drawingml/2006/main">
          <a:graphicData uri="http://schemas.openxmlformats.org/drawingml/2006/table">
            <a:tbl>
              <a:tblPr>
                <a:tableStyleId>{6C92A692-798E-4634-90B1-36CD3966BFCB}</a:tableStyleId>
              </a:tblPr>
              <a:tblGrid>
                <a:gridCol w="1371600"/>
                <a:gridCol w="1417325"/>
                <a:gridCol w="1371600"/>
              </a:tblGrid>
              <a:tr h="329175">
                <a:tc>
                  <a:txBody>
                    <a:bodyPr/>
                    <a:lstStyle/>
                    <a:p>
                      <a:pPr marL="0" indent="0" algn="l">
                        <a:buNone/>
                      </a:pPr>
                      <a:r>
                        <a:rPr sz="1050" b="1" u="none" cap="none">
                          <a:solidFill>
                            <a:srgbClr val="FFFFFF"/>
                          </a:solidFill>
                          <a:latin typeface="Calibri"/>
                          <a:ea typeface="Calibri"/>
                          <a:cs typeface="Calibri"/>
                        </a:rPr>
                        <a:t>Faculty / strength</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050" b="1" u="none" cap="none">
                          <a:solidFill>
                            <a:srgbClr val="FFFFFF"/>
                          </a:solidFill>
                          <a:latin typeface="Calibri"/>
                          <a:ea typeface="Calibri"/>
                          <a:cs typeface="Calibri"/>
                        </a:rPr>
                        <a:t>Projection (outward)</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050" b="1" u="none" cap="none">
                          <a:solidFill>
                            <a:srgbClr val="FFFFFF"/>
                          </a:solidFill>
                          <a:latin typeface="Calibri"/>
                          <a:ea typeface="Calibri"/>
                          <a:cs typeface="Calibri"/>
                        </a:rPr>
                        <a:t>Reflection (inward)</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384050">
                <a:tc>
                  <a:txBody>
                    <a:bodyPr/>
                    <a:lstStyle/>
                    <a:p>
                      <a:pPr marL="0" indent="0" algn="l">
                        <a:buNone/>
                      </a:pPr>
                      <a:r>
                        <a:rPr sz="1050" u="none" cap="none">
                          <a:solidFill>
                            <a:srgbClr val="1E2447"/>
                          </a:solidFill>
                          <a:latin typeface="Calibri"/>
                          <a:ea typeface="Calibri"/>
                          <a:cs typeface="Calibri"/>
                        </a:rPr>
                        <a:t>Hope (mun)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selection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taste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84050">
                <a:tc>
                  <a:txBody>
                    <a:bodyPr/>
                    <a:lstStyle/>
                    <a:p>
                      <a:pPr marL="0" indent="0" algn="l">
                        <a:buNone/>
                      </a:pPr>
                      <a:r>
                        <a:rPr sz="1050" u="none" cap="none">
                          <a:solidFill>
                            <a:srgbClr val="1E2447"/>
                          </a:solidFill>
                          <a:latin typeface="Calibri"/>
                          <a:ea typeface="Calibri"/>
                          <a:cs typeface="Calibri"/>
                        </a:rPr>
                        <a:t>Thought (vritti)</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analysis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deliberation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84050">
                <a:tc>
                  <a:txBody>
                    <a:bodyPr/>
                    <a:lstStyle/>
                    <a:p>
                      <a:pPr marL="0" indent="0" algn="l">
                        <a:buNone/>
                      </a:pPr>
                      <a:r>
                        <a:rPr sz="1050" u="none" cap="none">
                          <a:solidFill>
                            <a:srgbClr val="1E2447"/>
                          </a:solidFill>
                          <a:latin typeface="Calibri"/>
                          <a:ea typeface="Calibri"/>
                          <a:cs typeface="Calibri"/>
                        </a:rPr>
                        <a:t>Desire (chitta)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visualisation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contemplation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84050">
                <a:tc>
                  <a:txBody>
                    <a:bodyPr/>
                    <a:lstStyle/>
                    <a:p>
                      <a:pPr marL="0" indent="0" algn="l">
                        <a:buNone/>
                      </a:pPr>
                      <a:r>
                        <a:rPr sz="1050" u="none" cap="none">
                          <a:solidFill>
                            <a:srgbClr val="1E2447"/>
                          </a:solidFill>
                          <a:latin typeface="Calibri"/>
                          <a:ea typeface="Calibri"/>
                          <a:cs typeface="Calibri"/>
                        </a:rPr>
                        <a:t>Resolve (buddhi)</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resolve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comprehension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84050">
                <a:tc>
                  <a:txBody>
                    <a:bodyPr/>
                    <a:lstStyle/>
                    <a:p>
                      <a:pPr marL="0" indent="0" algn="l">
                        <a:buNone/>
                      </a:pPr>
                      <a:r>
                        <a:rPr sz="1050" u="none" cap="none">
                          <a:solidFill>
                            <a:srgbClr val="1E2447"/>
                          </a:solidFill>
                          <a:latin typeface="Calibri"/>
                          <a:ea typeface="Calibri"/>
                          <a:cs typeface="Calibri"/>
                        </a:rPr>
                        <a:t>Core self (atma)</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authenticity</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50" u="none" cap="none">
                          <a:solidFill>
                            <a:srgbClr val="1E2447"/>
                          </a:solidFill>
                          <a:latin typeface="Calibri"/>
                          <a:ea typeface="Calibri"/>
                          <a:cs typeface="Calibri"/>
                        </a:rPr>
                        <a:t>realisation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301" name="Google Shape;301;p13">
            <a:extLst xmlns:a="http://schemas.openxmlformats.org/drawingml/2006/main">
              <a:ext uri="{FF2B5EF4-FFF2-40B4-BE49-F238E27FC236}">
                <a16:creationId xmlns:a16="http://schemas.microsoft.com/office/drawing/2014/main" id="{0BAE59CB-DC58-45A3-A21C-9997882F3F6D}"/>
              </a:ext>
            </a:extLst>
          </p:cNvPr>
          <p:cNvSpPr>
            <a:spLocks xmlns:a="http://schemas.openxmlformats.org/drawingml/2006/main" noGrp="1"/>
          </p:cNvSpPr>
          <p:nvPr/>
        </p:nvSpPr>
        <p:spPr>
          <a:xfrm xmlns:a="http://schemas.openxmlformats.org/drawingml/2006/main">
            <a:off x="4480561" y="3683658"/>
            <a:ext cx="416052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0" i="0" u="none" cap="none">
                <a:solidFill>
                  <a:srgbClr val="5A6377"/>
                </a:solidFill>
                <a:latin typeface="Calibri"/>
                <a:ea typeface="Calibri"/>
                <a:cs typeface="Calibri"/>
              </a:rPr>
              <a:t>Jeevan is a constitutionally complete sentient atom. All five faculties and all ten activities belong to it. Animal bodies limit their expression. The human body can express the full range, yet delusion can leave only four and a half effectively organised. Study brings understanding; practice evidences and stabilises it — it does not create missing faculties.</a:t>
            </a:r>
          </a:p>
        </p:txBody>
      </p:sp>
      <p:sp>
        <p:nvSpPr>
          <p:cNvPr id="302" name="Google Shape;302;p13">
            <a:extLst xmlns:a="http://schemas.openxmlformats.org/drawingml/2006/main">
              <a:ext uri="{FF2B5EF4-FFF2-40B4-BE49-F238E27FC236}">
                <a16:creationId xmlns:a16="http://schemas.microsoft.com/office/drawing/2014/main" id="{A909FAFB-2298-487C-807A-90781ABFFDF3}"/>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MVD pp. 13, 78, 126, 278–279, 286–287 · JV p. 92</a:t>
            </a:r>
          </a:p>
        </p:txBody>
      </p:sp>
    </p:spTree>
    <p:extLst>
      <p:ext uri="{BB962C8B-B14F-4D97-AF65-F5344CB8AC3E}">
        <p14:creationId xmlns:p14="http://schemas.microsoft.com/office/powerpoint/2010/main" val="12002685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8" name="Google Shape;308;p14">
            <a:extLst xmlns:a="http://schemas.openxmlformats.org/drawingml/2006/main">
              <a:ext uri="{FF2B5EF4-FFF2-40B4-BE49-F238E27FC236}">
                <a16:creationId xmlns:a16="http://schemas.microsoft.com/office/drawing/2014/main" id="{72EA75BC-E9AE-4128-84B5-F01184800066}"/>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09" name="Google Shape;309;p14">
            <a:extLst xmlns:a="http://schemas.openxmlformats.org/drawingml/2006/main">
              <a:ext uri="{FF2B5EF4-FFF2-40B4-BE49-F238E27FC236}">
                <a16:creationId xmlns:a16="http://schemas.microsoft.com/office/drawing/2014/main" id="{C16F35D3-0C5D-48EE-B49C-3C5D0B07F8EA}"/>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0" name="Google Shape;310;p14">
            <a:extLst xmlns:a="http://schemas.openxmlformats.org/drawingml/2006/main">
              <a:ext uri="{FF2B5EF4-FFF2-40B4-BE49-F238E27FC236}">
                <a16:creationId xmlns:a16="http://schemas.microsoft.com/office/drawing/2014/main" id="{40E8D9C2-1FFC-4B26-A937-06F35C7F720B}"/>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1" name="Google Shape;311;p14">
            <a:extLst xmlns:a="http://schemas.openxmlformats.org/drawingml/2006/main">
              <a:ext uri="{FF2B5EF4-FFF2-40B4-BE49-F238E27FC236}">
                <a16:creationId xmlns:a16="http://schemas.microsoft.com/office/drawing/2014/main" id="{E9D23E7E-27AF-4FE8-8FA6-5A24921827FA}"/>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§1.8</a:t>
            </a:r>
            <a:r>
              <a:rPr sz="1050" b="1" i="0" u="none" cap="none">
                <a:solidFill>
                  <a:srgbClr val="9A6414"/>
                </a:solidFill>
                <a:latin typeface="Calibri"/>
                <a:ea typeface="Calibri"/>
                <a:cs typeface="Calibri"/>
              </a:rPr>
              <a:t> · FOUR HARMONIES WITHIN JEEVAN</a:t>
            </a:r>
          </a:p>
        </p:txBody>
      </p:sp>
      <p:sp>
        <p:nvSpPr>
          <p:cNvPr id="312" name="Google Shape;312;p14">
            <a:extLst xmlns:a="http://schemas.openxmlformats.org/drawingml/2006/main">
              <a:ext uri="{FF2B5EF4-FFF2-40B4-BE49-F238E27FC236}">
                <a16:creationId xmlns:a16="http://schemas.microsoft.com/office/drawing/2014/main" id="{0F6C2FCE-72A2-492A-B823-190D8D785DAA}"/>
              </a:ext>
            </a:extLst>
          </p:cNvPr>
          <p:cNvSpPr>
            <a:spLocks xmlns:a="http://schemas.openxmlformats.org/drawingml/2006/main" noGrp="1"/>
          </p:cNvSpPr>
          <p:nvPr/>
        </p:nvSpPr>
        <p:spPr>
          <a:xfrm xmlns:a="http://schemas.openxmlformats.org/drawingml/2006/main">
            <a:off x="960120" y="514350"/>
            <a:ext cx="772668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Four Harmonies Within Jeevan</a:t>
            </a:r>
          </a:p>
        </p:txBody>
      </p:sp>
      <p:sp>
        <p:nvSpPr>
          <p:cNvPr id="313" name="Google Shape;313;p14">
            <a:extLst xmlns:a="http://schemas.openxmlformats.org/drawingml/2006/main">
              <a:ext uri="{FF2B5EF4-FFF2-40B4-BE49-F238E27FC236}">
                <a16:creationId xmlns:a16="http://schemas.microsoft.com/office/drawing/2014/main" id="{80D45A9D-9C11-4BF0-A185-ED537EA7E961}"/>
              </a:ext>
            </a:extLst>
          </p:cNvPr>
          <p:cNvSpPr>
            <a:spLocks xmlns:a="http://schemas.openxmlformats.org/drawingml/2006/main" noGrp="1"/>
          </p:cNvSpPr>
          <p:nvPr/>
        </p:nvSpPr>
        <p:spPr>
          <a:xfrm xmlns:a="http://schemas.openxmlformats.org/drawingml/2006/main">
            <a:off x="640080" y="1371600"/>
            <a:ext cx="1874520" cy="1371600"/>
          </a:xfrm>
          <a:prstGeom xmlns:a="http://schemas.openxmlformats.org/drawingml/2006/main" prst="roundRect">
            <a:avLst>
              <a:gd name="adj" fmla="val 666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4" name="Google Shape;314;p14">
            <a:extLst xmlns:a="http://schemas.openxmlformats.org/drawingml/2006/main">
              <a:ext uri="{FF2B5EF4-FFF2-40B4-BE49-F238E27FC236}">
                <a16:creationId xmlns:a16="http://schemas.microsoft.com/office/drawing/2014/main" id="{8678B3DF-58B5-47F3-A97B-ECB7B2AEDAF3}"/>
              </a:ext>
            </a:extLst>
          </p:cNvPr>
          <p:cNvSpPr>
            <a:spLocks xmlns:a="http://schemas.openxmlformats.org/drawingml/2006/main" noGrp="1"/>
          </p:cNvSpPr>
          <p:nvPr/>
        </p:nvSpPr>
        <p:spPr>
          <a:xfrm xmlns:a="http://schemas.openxmlformats.org/drawingml/2006/main">
            <a:off x="822960"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5" name="Google Shape;315;p14">
            <a:extLst xmlns:a="http://schemas.openxmlformats.org/drawingml/2006/main">
              <a:ext uri="{FF2B5EF4-FFF2-40B4-BE49-F238E27FC236}">
                <a16:creationId xmlns:a16="http://schemas.microsoft.com/office/drawing/2014/main" id="{3FDA5AD1-D159-453D-9654-4378A29570F1}"/>
              </a:ext>
            </a:extLst>
          </p:cNvPr>
          <p:cNvSpPr>
            <a:spLocks xmlns:a="http://schemas.openxmlformats.org/drawingml/2006/main" noGrp="1"/>
          </p:cNvSpPr>
          <p:nvPr/>
        </p:nvSpPr>
        <p:spPr>
          <a:xfrm xmlns:a="http://schemas.openxmlformats.org/drawingml/2006/main">
            <a:off x="888797"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6" name="Google Shape;316;p14">
            <a:extLst xmlns:a="http://schemas.openxmlformats.org/drawingml/2006/main">
              <a:ext uri="{FF2B5EF4-FFF2-40B4-BE49-F238E27FC236}">
                <a16:creationId xmlns:a16="http://schemas.microsoft.com/office/drawing/2014/main" id="{75083F2E-CF5C-4F62-974A-978A75714E4D}"/>
              </a:ext>
            </a:extLst>
          </p:cNvPr>
          <p:cNvSpPr>
            <a:spLocks xmlns:a="http://schemas.openxmlformats.org/drawingml/2006/main" noGrp="1"/>
          </p:cNvSpPr>
          <p:nvPr/>
        </p:nvSpPr>
        <p:spPr>
          <a:xfrm xmlns:a="http://schemas.openxmlformats.org/drawingml/2006/main">
            <a:off x="944758" y="1657990"/>
            <a:ext cx="85588" cy="85588"/>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17" name="Google Shape;317;p14">
            <a:extLst xmlns:a="http://schemas.openxmlformats.org/drawingml/2006/main">
              <a:ext uri="{FF2B5EF4-FFF2-40B4-BE49-F238E27FC236}">
                <a16:creationId xmlns:a16="http://schemas.microsoft.com/office/drawing/2014/main" id="{FCC81FE8-0B43-4725-BB21-8B4B1A60D5E0}"/>
              </a:ext>
            </a:extLst>
          </p:cNvPr>
          <p:cNvSpPr>
            <a:spLocks xmlns:a="http://schemas.openxmlformats.org/drawingml/2006/main" noGrp="1"/>
          </p:cNvSpPr>
          <p:nvPr/>
        </p:nvSpPr>
        <p:spPr>
          <a:xfrm xmlns:a="http://schemas.openxmlformats.org/drawingml/2006/main">
            <a:off x="804672"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Happiness</a:t>
            </a:r>
          </a:p>
        </p:txBody>
      </p:sp>
      <p:sp>
        <p:nvSpPr>
          <p:cNvPr id="318" name="Google Shape;318;p14">
            <a:extLst xmlns:a="http://schemas.openxmlformats.org/drawingml/2006/main">
              <a:ext uri="{FF2B5EF4-FFF2-40B4-BE49-F238E27FC236}">
                <a16:creationId xmlns:a16="http://schemas.microsoft.com/office/drawing/2014/main" id="{D3238993-65D7-492E-ADF1-2258EA825CDE}"/>
              </a:ext>
            </a:extLst>
          </p:cNvPr>
          <p:cNvSpPr>
            <a:spLocks xmlns:a="http://schemas.openxmlformats.org/drawingml/2006/main" noGrp="1"/>
          </p:cNvSpPr>
          <p:nvPr/>
        </p:nvSpPr>
        <p:spPr>
          <a:xfrm xmlns:a="http://schemas.openxmlformats.org/drawingml/2006/main">
            <a:off x="804672"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harmony of mun–vritti</a:t>
            </a:r>
          </a:p>
        </p:txBody>
      </p:sp>
      <p:sp>
        <p:nvSpPr>
          <p:cNvPr id="319" name="Google Shape;319;p14">
            <a:extLst xmlns:a="http://schemas.openxmlformats.org/drawingml/2006/main">
              <a:ext uri="{FF2B5EF4-FFF2-40B4-BE49-F238E27FC236}">
                <a16:creationId xmlns:a16="http://schemas.microsoft.com/office/drawing/2014/main" id="{60F39B84-EE19-45D0-8768-9382241F42AA}"/>
              </a:ext>
            </a:extLst>
          </p:cNvPr>
          <p:cNvSpPr>
            <a:spLocks xmlns:a="http://schemas.openxmlformats.org/drawingml/2006/main" noGrp="1"/>
          </p:cNvSpPr>
          <p:nvPr/>
        </p:nvSpPr>
        <p:spPr>
          <a:xfrm xmlns:a="http://schemas.openxmlformats.org/drawingml/2006/main">
            <a:off x="2633472" y="1371600"/>
            <a:ext cx="1874520" cy="1371600"/>
          </a:xfrm>
          <a:prstGeom xmlns:a="http://schemas.openxmlformats.org/drawingml/2006/main" prst="roundRect">
            <a:avLst>
              <a:gd name="adj" fmla="val 666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0" name="Google Shape;320;p14">
            <a:extLst xmlns:a="http://schemas.openxmlformats.org/drawingml/2006/main">
              <a:ext uri="{FF2B5EF4-FFF2-40B4-BE49-F238E27FC236}">
                <a16:creationId xmlns:a16="http://schemas.microsoft.com/office/drawing/2014/main" id="{7FA0ED02-543E-4A13-95D2-6067839C7F83}"/>
              </a:ext>
            </a:extLst>
          </p:cNvPr>
          <p:cNvSpPr>
            <a:spLocks xmlns:a="http://schemas.openxmlformats.org/drawingml/2006/main" noGrp="1"/>
          </p:cNvSpPr>
          <p:nvPr/>
        </p:nvSpPr>
        <p:spPr>
          <a:xfrm xmlns:a="http://schemas.openxmlformats.org/drawingml/2006/main">
            <a:off x="2816352"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1" name="Google Shape;321;p14">
            <a:extLst xmlns:a="http://schemas.openxmlformats.org/drawingml/2006/main">
              <a:ext uri="{FF2B5EF4-FFF2-40B4-BE49-F238E27FC236}">
                <a16:creationId xmlns:a16="http://schemas.microsoft.com/office/drawing/2014/main" id="{05984975-9EF2-4B27-BC18-E34E61BF99CE}"/>
              </a:ext>
            </a:extLst>
          </p:cNvPr>
          <p:cNvSpPr>
            <a:spLocks xmlns:a="http://schemas.openxmlformats.org/drawingml/2006/main" noGrp="1"/>
          </p:cNvSpPr>
          <p:nvPr/>
        </p:nvSpPr>
        <p:spPr>
          <a:xfrm xmlns:a="http://schemas.openxmlformats.org/drawingml/2006/main">
            <a:off x="2882189"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2" name="Google Shape;322;p14">
            <a:extLst xmlns:a="http://schemas.openxmlformats.org/drawingml/2006/main">
              <a:ext uri="{FF2B5EF4-FFF2-40B4-BE49-F238E27FC236}">
                <a16:creationId xmlns:a16="http://schemas.microsoft.com/office/drawing/2014/main" id="{BF5CD7AA-6685-41E6-97B6-F613B103ED15}"/>
              </a:ext>
            </a:extLst>
          </p:cNvPr>
          <p:cNvSpPr>
            <a:spLocks xmlns:a="http://schemas.openxmlformats.org/drawingml/2006/main" noGrp="1"/>
          </p:cNvSpPr>
          <p:nvPr/>
        </p:nvSpPr>
        <p:spPr>
          <a:xfrm xmlns:a="http://schemas.openxmlformats.org/drawingml/2006/main">
            <a:off x="2938150" y="1657990"/>
            <a:ext cx="85588" cy="85588"/>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3" name="Google Shape;323;p14">
            <a:extLst xmlns:a="http://schemas.openxmlformats.org/drawingml/2006/main">
              <a:ext uri="{FF2B5EF4-FFF2-40B4-BE49-F238E27FC236}">
                <a16:creationId xmlns:a16="http://schemas.microsoft.com/office/drawing/2014/main" id="{B602BF87-099F-4048-8393-606BC4714DEC}"/>
              </a:ext>
            </a:extLst>
          </p:cNvPr>
          <p:cNvSpPr>
            <a:spLocks xmlns:a="http://schemas.openxmlformats.org/drawingml/2006/main" noGrp="1"/>
          </p:cNvSpPr>
          <p:nvPr/>
        </p:nvSpPr>
        <p:spPr>
          <a:xfrm xmlns:a="http://schemas.openxmlformats.org/drawingml/2006/main">
            <a:off x="2798064"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Peace</a:t>
            </a:r>
          </a:p>
        </p:txBody>
      </p:sp>
      <p:sp>
        <p:nvSpPr>
          <p:cNvPr id="324" name="Google Shape;324;p14">
            <a:extLst xmlns:a="http://schemas.openxmlformats.org/drawingml/2006/main">
              <a:ext uri="{FF2B5EF4-FFF2-40B4-BE49-F238E27FC236}">
                <a16:creationId xmlns:a16="http://schemas.microsoft.com/office/drawing/2014/main" id="{C57EE985-B72A-4CAD-8E04-D8480AA5134A}"/>
              </a:ext>
            </a:extLst>
          </p:cNvPr>
          <p:cNvSpPr>
            <a:spLocks xmlns:a="http://schemas.openxmlformats.org/drawingml/2006/main" noGrp="1"/>
          </p:cNvSpPr>
          <p:nvPr/>
        </p:nvSpPr>
        <p:spPr>
          <a:xfrm xmlns:a="http://schemas.openxmlformats.org/drawingml/2006/main">
            <a:off x="2798064"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harmony of vritti–chitta</a:t>
            </a:r>
          </a:p>
        </p:txBody>
      </p:sp>
      <p:sp>
        <p:nvSpPr>
          <p:cNvPr id="325" name="Google Shape;325;p14">
            <a:extLst xmlns:a="http://schemas.openxmlformats.org/drawingml/2006/main">
              <a:ext uri="{FF2B5EF4-FFF2-40B4-BE49-F238E27FC236}">
                <a16:creationId xmlns:a16="http://schemas.microsoft.com/office/drawing/2014/main" id="{0B376BFC-7CD1-4336-8594-75267473214F}"/>
              </a:ext>
            </a:extLst>
          </p:cNvPr>
          <p:cNvSpPr>
            <a:spLocks xmlns:a="http://schemas.openxmlformats.org/drawingml/2006/main" noGrp="1"/>
          </p:cNvSpPr>
          <p:nvPr/>
        </p:nvSpPr>
        <p:spPr>
          <a:xfrm xmlns:a="http://schemas.openxmlformats.org/drawingml/2006/main">
            <a:off x="4626864" y="1371600"/>
            <a:ext cx="1874520" cy="1371600"/>
          </a:xfrm>
          <a:prstGeom xmlns:a="http://schemas.openxmlformats.org/drawingml/2006/main" prst="roundRect">
            <a:avLst>
              <a:gd name="adj" fmla="val 6667"/>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6" name="Google Shape;326;p14">
            <a:extLst xmlns:a="http://schemas.openxmlformats.org/drawingml/2006/main">
              <a:ext uri="{FF2B5EF4-FFF2-40B4-BE49-F238E27FC236}">
                <a16:creationId xmlns:a16="http://schemas.microsoft.com/office/drawing/2014/main" id="{5D87A2CB-DCEF-43CE-896E-6381F18C8FAE}"/>
              </a:ext>
            </a:extLst>
          </p:cNvPr>
          <p:cNvSpPr>
            <a:spLocks xmlns:a="http://schemas.openxmlformats.org/drawingml/2006/main" noGrp="1"/>
          </p:cNvSpPr>
          <p:nvPr/>
        </p:nvSpPr>
        <p:spPr>
          <a:xfrm xmlns:a="http://schemas.openxmlformats.org/drawingml/2006/main">
            <a:off x="4809744"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7" name="Google Shape;327;p14">
            <a:extLst xmlns:a="http://schemas.openxmlformats.org/drawingml/2006/main">
              <a:ext uri="{FF2B5EF4-FFF2-40B4-BE49-F238E27FC236}">
                <a16:creationId xmlns:a16="http://schemas.microsoft.com/office/drawing/2014/main" id="{B089A3C9-77C2-4F30-A684-280DB0E7EF35}"/>
              </a:ext>
            </a:extLst>
          </p:cNvPr>
          <p:cNvSpPr>
            <a:spLocks xmlns:a="http://schemas.openxmlformats.org/drawingml/2006/main" noGrp="1"/>
          </p:cNvSpPr>
          <p:nvPr/>
        </p:nvSpPr>
        <p:spPr>
          <a:xfrm xmlns:a="http://schemas.openxmlformats.org/drawingml/2006/main">
            <a:off x="4875581"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8" name="Google Shape;328;p14">
            <a:extLst xmlns:a="http://schemas.openxmlformats.org/drawingml/2006/main">
              <a:ext uri="{FF2B5EF4-FFF2-40B4-BE49-F238E27FC236}">
                <a16:creationId xmlns:a16="http://schemas.microsoft.com/office/drawing/2014/main" id="{DBF1ECF8-04B7-4659-90D6-4B7D43CFB0FF}"/>
              </a:ext>
            </a:extLst>
          </p:cNvPr>
          <p:cNvSpPr>
            <a:spLocks xmlns:a="http://schemas.openxmlformats.org/drawingml/2006/main" noGrp="1"/>
          </p:cNvSpPr>
          <p:nvPr/>
        </p:nvSpPr>
        <p:spPr>
          <a:xfrm xmlns:a="http://schemas.openxmlformats.org/drawingml/2006/main">
            <a:off x="4931542" y="1657990"/>
            <a:ext cx="85588" cy="85588"/>
          </a:xfrm>
          <a:prstGeom xmlns:a="http://schemas.openxmlformats.org/drawingml/2006/main" prst="ellipse">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29" name="Google Shape;329;p14">
            <a:extLst xmlns:a="http://schemas.openxmlformats.org/drawingml/2006/main">
              <a:ext uri="{FF2B5EF4-FFF2-40B4-BE49-F238E27FC236}">
                <a16:creationId xmlns:a16="http://schemas.microsoft.com/office/drawing/2014/main" id="{0133C274-E784-4152-8DBC-45323A74CBEE}"/>
              </a:ext>
            </a:extLst>
          </p:cNvPr>
          <p:cNvSpPr>
            <a:spLocks xmlns:a="http://schemas.openxmlformats.org/drawingml/2006/main" noGrp="1"/>
          </p:cNvSpPr>
          <p:nvPr/>
        </p:nvSpPr>
        <p:spPr>
          <a:xfrm xmlns:a="http://schemas.openxmlformats.org/drawingml/2006/main">
            <a:off x="4791456"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Contentment</a:t>
            </a:r>
          </a:p>
        </p:txBody>
      </p:sp>
      <p:sp>
        <p:nvSpPr>
          <p:cNvPr id="330" name="Google Shape;330;p14">
            <a:extLst xmlns:a="http://schemas.openxmlformats.org/drawingml/2006/main">
              <a:ext uri="{FF2B5EF4-FFF2-40B4-BE49-F238E27FC236}">
                <a16:creationId xmlns:a16="http://schemas.microsoft.com/office/drawing/2014/main" id="{AAC31C75-25BF-46A1-A126-DCDE6C144CF6}"/>
              </a:ext>
            </a:extLst>
          </p:cNvPr>
          <p:cNvSpPr>
            <a:spLocks xmlns:a="http://schemas.openxmlformats.org/drawingml/2006/main" noGrp="1"/>
          </p:cNvSpPr>
          <p:nvPr/>
        </p:nvSpPr>
        <p:spPr>
          <a:xfrm xmlns:a="http://schemas.openxmlformats.org/drawingml/2006/main">
            <a:off x="4791456"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harmony of chitta–buddhi</a:t>
            </a:r>
          </a:p>
        </p:txBody>
      </p:sp>
      <p:sp>
        <p:nvSpPr>
          <p:cNvPr id="331" name="Google Shape;331;p14">
            <a:extLst xmlns:a="http://schemas.openxmlformats.org/drawingml/2006/main">
              <a:ext uri="{FF2B5EF4-FFF2-40B4-BE49-F238E27FC236}">
                <a16:creationId xmlns:a16="http://schemas.microsoft.com/office/drawing/2014/main" id="{AD588ADC-14AB-4D6E-BE51-B47D1FA91313}"/>
              </a:ext>
            </a:extLst>
          </p:cNvPr>
          <p:cNvSpPr>
            <a:spLocks xmlns:a="http://schemas.openxmlformats.org/drawingml/2006/main" noGrp="1"/>
          </p:cNvSpPr>
          <p:nvPr/>
        </p:nvSpPr>
        <p:spPr>
          <a:xfrm xmlns:a="http://schemas.openxmlformats.org/drawingml/2006/main">
            <a:off x="6620256" y="1371600"/>
            <a:ext cx="1874520" cy="1371600"/>
          </a:xfrm>
          <a:prstGeom xmlns:a="http://schemas.openxmlformats.org/drawingml/2006/main" prst="roundRect">
            <a:avLst>
              <a:gd name="adj" fmla="val 6667"/>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2" name="Google Shape;332;p14">
            <a:extLst xmlns:a="http://schemas.openxmlformats.org/drawingml/2006/main">
              <a:ext uri="{FF2B5EF4-FFF2-40B4-BE49-F238E27FC236}">
                <a16:creationId xmlns:a16="http://schemas.microsoft.com/office/drawing/2014/main" id="{64E5DA13-AAB6-40CB-9572-18B5D063B210}"/>
              </a:ext>
            </a:extLst>
          </p:cNvPr>
          <p:cNvSpPr>
            <a:spLocks xmlns:a="http://schemas.openxmlformats.org/drawingml/2006/main" noGrp="1"/>
          </p:cNvSpPr>
          <p:nvPr/>
        </p:nvSpPr>
        <p:spPr>
          <a:xfrm xmlns:a="http://schemas.openxmlformats.org/drawingml/2006/main">
            <a:off x="6803136" y="1536192"/>
            <a:ext cx="329184" cy="329184"/>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3" name="Google Shape;333;p14">
            <a:extLst xmlns:a="http://schemas.openxmlformats.org/drawingml/2006/main">
              <a:ext uri="{FF2B5EF4-FFF2-40B4-BE49-F238E27FC236}">
                <a16:creationId xmlns:a16="http://schemas.microsoft.com/office/drawing/2014/main" id="{370FE943-5D79-4AE6-8839-A869C8C2CFB5}"/>
              </a:ext>
            </a:extLst>
          </p:cNvPr>
          <p:cNvSpPr>
            <a:spLocks xmlns:a="http://schemas.openxmlformats.org/drawingml/2006/main" noGrp="1"/>
          </p:cNvSpPr>
          <p:nvPr/>
        </p:nvSpPr>
        <p:spPr>
          <a:xfrm xmlns:a="http://schemas.openxmlformats.org/drawingml/2006/main">
            <a:off x="6868973" y="1602029"/>
            <a:ext cx="197510" cy="19751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4" name="Google Shape;334;p14">
            <a:extLst xmlns:a="http://schemas.openxmlformats.org/drawingml/2006/main">
              <a:ext uri="{FF2B5EF4-FFF2-40B4-BE49-F238E27FC236}">
                <a16:creationId xmlns:a16="http://schemas.microsoft.com/office/drawing/2014/main" id="{0D0B3D8B-4050-4E23-960D-B46244A46C0C}"/>
              </a:ext>
            </a:extLst>
          </p:cNvPr>
          <p:cNvSpPr>
            <a:spLocks xmlns:a="http://schemas.openxmlformats.org/drawingml/2006/main" noGrp="1"/>
          </p:cNvSpPr>
          <p:nvPr/>
        </p:nvSpPr>
        <p:spPr>
          <a:xfrm xmlns:a="http://schemas.openxmlformats.org/drawingml/2006/main">
            <a:off x="6924934" y="1657990"/>
            <a:ext cx="85588" cy="8558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5" name="Google Shape;335;p14">
            <a:extLst xmlns:a="http://schemas.openxmlformats.org/drawingml/2006/main">
              <a:ext uri="{FF2B5EF4-FFF2-40B4-BE49-F238E27FC236}">
                <a16:creationId xmlns:a16="http://schemas.microsoft.com/office/drawing/2014/main" id="{2152B3A1-74C9-497A-BEF6-73BDD595E11F}"/>
              </a:ext>
            </a:extLst>
          </p:cNvPr>
          <p:cNvSpPr>
            <a:spLocks xmlns:a="http://schemas.openxmlformats.org/drawingml/2006/main" noGrp="1"/>
          </p:cNvSpPr>
          <p:nvPr/>
        </p:nvSpPr>
        <p:spPr>
          <a:xfrm xmlns:a="http://schemas.openxmlformats.org/drawingml/2006/main">
            <a:off x="6784848" y="1938528"/>
            <a:ext cx="1572768"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Bliss</a:t>
            </a:r>
          </a:p>
        </p:txBody>
      </p:sp>
      <p:sp>
        <p:nvSpPr>
          <p:cNvPr id="336" name="Google Shape;336;p14">
            <a:extLst xmlns:a="http://schemas.openxmlformats.org/drawingml/2006/main">
              <a:ext uri="{FF2B5EF4-FFF2-40B4-BE49-F238E27FC236}">
                <a16:creationId xmlns:a16="http://schemas.microsoft.com/office/drawing/2014/main" id="{959F3493-EF9B-4605-8AB3-D87384A62E0E}"/>
              </a:ext>
            </a:extLst>
          </p:cNvPr>
          <p:cNvSpPr>
            <a:spLocks xmlns:a="http://schemas.openxmlformats.org/drawingml/2006/main" noGrp="1"/>
          </p:cNvSpPr>
          <p:nvPr/>
        </p:nvSpPr>
        <p:spPr>
          <a:xfrm xmlns:a="http://schemas.openxmlformats.org/drawingml/2006/main">
            <a:off x="6784848" y="2377440"/>
            <a:ext cx="1572768"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80" b="0" i="1" u="none" cap="none">
                <a:solidFill>
                  <a:srgbClr val="5A6377"/>
                </a:solidFill>
                <a:latin typeface="Calibri"/>
                <a:ea typeface="Calibri"/>
                <a:cs typeface="Calibri"/>
              </a:rPr>
              <a:t>harmony of buddhi–atma</a:t>
            </a:r>
          </a:p>
        </p:txBody>
      </p:sp>
      <p:sp>
        <p:nvSpPr>
          <p:cNvPr id="337" name="Google Shape;337;p14">
            <a:extLst xmlns:a="http://schemas.openxmlformats.org/drawingml/2006/main">
              <a:ext uri="{FF2B5EF4-FFF2-40B4-BE49-F238E27FC236}">
                <a16:creationId xmlns:a16="http://schemas.microsoft.com/office/drawing/2014/main" id="{81146B51-B30E-430E-83DE-2585F3FC497B}"/>
              </a:ext>
            </a:extLst>
          </p:cNvPr>
          <p:cNvSpPr>
            <a:spLocks xmlns:a="http://schemas.openxmlformats.org/drawingml/2006/main" noGrp="1"/>
          </p:cNvSpPr>
          <p:nvPr/>
        </p:nvSpPr>
        <p:spPr>
          <a:xfrm xmlns:a="http://schemas.openxmlformats.org/drawingml/2006/main">
            <a:off x="640080" y="3017520"/>
            <a:ext cx="795528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Happiness, peace, contentment, and bliss name harmonies within jeevan, not passing moods and not a fourth sequence after T1–T3. All four are what the knowledge order seeks — and only the first is reached by sensory living.</a:t>
            </a:r>
          </a:p>
        </p:txBody>
      </p:sp>
      <p:sp>
        <p:nvSpPr>
          <p:cNvPr id="338" name="Google Shape;338;p14">
            <a:extLst xmlns:a="http://schemas.openxmlformats.org/drawingml/2006/main">
              <a:ext uri="{FF2B5EF4-FFF2-40B4-BE49-F238E27FC236}">
                <a16:creationId xmlns:a16="http://schemas.microsoft.com/office/drawing/2014/main" id="{473C8ADC-C7E0-4CFA-AE3E-B130B76CF47D}"/>
              </a:ext>
            </a:extLst>
          </p:cNvPr>
          <p:cNvSpPr>
            <a:spLocks xmlns:a="http://schemas.openxmlformats.org/drawingml/2006/main" noGrp="1"/>
          </p:cNvSpPr>
          <p:nvPr/>
        </p:nvSpPr>
        <p:spPr>
          <a:xfrm xmlns:a="http://schemas.openxmlformats.org/drawingml/2006/main">
            <a:off x="640080" y="3840480"/>
            <a:ext cx="7863840" cy="777240"/>
          </a:xfrm>
          <a:prstGeom xmlns:a="http://schemas.openxmlformats.org/drawingml/2006/main" prst="roundRect">
            <a:avLst>
              <a:gd name="adj" fmla="val 10588"/>
            </a:avLst>
          </a:prstGeom>
          <a:solidFill xmlns:a="http://schemas.openxmlformats.org/drawingml/2006/main">
            <a:srgbClr val="1E2447"/>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39" name="Google Shape;339;p14">
            <a:extLst xmlns:a="http://schemas.openxmlformats.org/drawingml/2006/main">
              <a:ext uri="{FF2B5EF4-FFF2-40B4-BE49-F238E27FC236}">
                <a16:creationId xmlns:a16="http://schemas.microsoft.com/office/drawing/2014/main" id="{D4AE49D8-4F4A-4571-9DC6-338A36BDECDE}"/>
              </a:ext>
            </a:extLst>
          </p:cNvPr>
          <p:cNvSpPr>
            <a:spLocks xmlns:a="http://schemas.openxmlformats.org/drawingml/2006/main" noGrp="1"/>
          </p:cNvSpPr>
          <p:nvPr/>
        </p:nvSpPr>
        <p:spPr>
          <a:xfrm xmlns:a="http://schemas.openxmlformats.org/drawingml/2006/main">
            <a:off x="914400" y="3840480"/>
            <a:ext cx="731520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50" b="0" i="1" u="none" cap="none">
                <a:solidFill>
                  <a:srgbClr val="FFFFFF"/>
                </a:solidFill>
                <a:latin typeface="Calibri"/>
                <a:ea typeface="Calibri"/>
                <a:cs typeface="Calibri"/>
              </a:rPr>
              <a:t>“Today we were evidenced in one issue, tomorrow in two, the day after in three.”</a:t>
            </a:r>
          </a:p>
          <a:p xmlns:a="http://schemas.openxmlformats.org/drawingml/2006/main">
            <a:pPr marL="0" indent="0" algn="l">
              <a:spcBef>
                <a:spcPts val="0"/>
              </a:spcBef>
              <a:spcAft>
                <a:spcPts val="0"/>
              </a:spcAft>
              <a:buNone/>
            </a:pPr>
            <a:r>
              <a:rPr sz="1050" b="0" i="0" u="none" cap="none">
                <a:solidFill>
                  <a:srgbClr val="C9D4EF"/>
                </a:solidFill>
                <a:latin typeface="Calibri"/>
                <a:ea typeface="Calibri"/>
                <a:cs typeface="Calibri"/>
              </a:rPr>
              <a:t>Reflection feeds projection, and projection feeds deeper reflection — this alone is what living means.  — KD §3.12, p. 112–113</a:t>
            </a:r>
          </a:p>
        </p:txBody>
      </p:sp>
      <p:sp>
        <p:nvSpPr>
          <p:cNvPr id="340" name="Google Shape;340;p14">
            <a:extLst xmlns:a="http://schemas.openxmlformats.org/drawingml/2006/main">
              <a:ext uri="{FF2B5EF4-FFF2-40B4-BE49-F238E27FC236}">
                <a16:creationId xmlns:a16="http://schemas.microsoft.com/office/drawing/2014/main" id="{171B8D50-50F5-4333-887C-5E6D88D574F4}"/>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KD §3.12, p. 110–113 (projection–reflection)  ·  JV p. 61 (values ladder)</a:t>
            </a:r>
          </a:p>
        </p:txBody>
      </p:sp>
    </p:spTree>
    <p:extLst>
      <p:ext uri="{BB962C8B-B14F-4D97-AF65-F5344CB8AC3E}">
        <p14:creationId xmlns:p14="http://schemas.microsoft.com/office/powerpoint/2010/main" val="10533636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Google Shape;373;p16">
            <a:extLst xmlns:a="http://schemas.openxmlformats.org/drawingml/2006/main">
              <a:ext uri="{FF2B5EF4-FFF2-40B4-BE49-F238E27FC236}">
                <a16:creationId xmlns:a16="http://schemas.microsoft.com/office/drawing/2014/main" id="{07581D21-511B-4790-91C9-D90747F67FC9}"/>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4" name="Google Shape;374;p16">
            <a:extLst xmlns:a="http://schemas.openxmlformats.org/drawingml/2006/main">
              <a:ext uri="{FF2B5EF4-FFF2-40B4-BE49-F238E27FC236}">
                <a16:creationId xmlns:a16="http://schemas.microsoft.com/office/drawing/2014/main" id="{8E847718-D958-49AA-B3E7-98F2B43898D2}"/>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5" name="Google Shape;375;p16">
            <a:extLst xmlns:a="http://schemas.openxmlformats.org/drawingml/2006/main">
              <a:ext uri="{FF2B5EF4-FFF2-40B4-BE49-F238E27FC236}">
                <a16:creationId xmlns:a16="http://schemas.microsoft.com/office/drawing/2014/main" id="{7CFD9781-4DCA-4BEB-9313-9ECFFDBEC68C}"/>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76" name="Google Shape;376;p16">
            <a:extLst xmlns:a="http://schemas.openxmlformats.org/drawingml/2006/main">
              <a:ext uri="{FF2B5EF4-FFF2-40B4-BE49-F238E27FC236}">
                <a16:creationId xmlns:a16="http://schemas.microsoft.com/office/drawing/2014/main" id="{BA84033F-9FDD-4767-B014-140006D1DEC8}"/>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 1.7–1.8, 1.10, 1.12, 1.15</a:t>
            </a:r>
            <a:r>
              <a:rPr sz="1050" b="1" i="0" u="none" cap="none">
                <a:solidFill>
                  <a:srgbClr val="9A6414"/>
                </a:solidFill>
                <a:latin typeface="Calibri"/>
                <a:ea typeface="Calibri"/>
                <a:cs typeface="Calibri"/>
              </a:rPr>
              <a:t> · WHERE THE LADDER COMPLETES — OR STALLS</a:t>
            </a:r>
          </a:p>
        </p:txBody>
      </p:sp>
      <p:sp>
        <p:nvSpPr>
          <p:cNvPr id="377" name="Google Shape;377;p16">
            <a:extLst xmlns:a="http://schemas.openxmlformats.org/drawingml/2006/main">
              <a:ext uri="{FF2B5EF4-FFF2-40B4-BE49-F238E27FC236}">
                <a16:creationId xmlns:a16="http://schemas.microsoft.com/office/drawing/2014/main" id="{FF685332-26F8-4B79-8236-35E8714723B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What Makes Me Happy?</a:t>
            </a:r>
          </a:p>
        </p:txBody>
      </p:sp>
      <p:sp>
        <p:nvSpPr>
          <p:cNvPr id="378" name="Google Shape;378;p16">
            <a:extLst xmlns:a="http://schemas.openxmlformats.org/drawingml/2006/main">
              <a:ext uri="{FF2B5EF4-FFF2-40B4-BE49-F238E27FC236}">
                <a16:creationId xmlns:a16="http://schemas.microsoft.com/office/drawing/2014/main" id="{A94A97B3-ABEF-4204-9496-E7445669F06A}"/>
              </a:ext>
            </a:extLst>
          </p:cNvPr>
          <p:cNvSpPr>
            <a:spLocks xmlns:a="http://schemas.openxmlformats.org/drawingml/2006/main" noGrp="1"/>
          </p:cNvSpPr>
          <p:nvPr/>
        </p:nvSpPr>
        <p:spPr>
          <a:xfrm xmlns:a="http://schemas.openxmlformats.org/drawingml/2006/main">
            <a:off x="640080" y="1207008"/>
            <a:ext cx="795528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0" i="0" u="none" cap="none">
                <a:solidFill>
                  <a:srgbClr val="5A6377"/>
                </a:solidFill>
                <a:latin typeface="Calibri"/>
                <a:ea typeface="Calibri"/>
                <a:cs typeface="Calibri"/>
              </a:rPr>
              <a:t>Every jeevan bears the same five faculties and ten activities. In animal living, bodily limits keep jeevan's activity within sensory satisfaction and the first harmony. The human body can express all ten — yet by default human evaluation uses the same sensory criteria.</a:t>
            </a:r>
          </a:p>
        </p:txBody>
      </p:sp>
      <p:sp>
        <p:nvSpPr>
          <p:cNvPr id="379" name="Google Shape;379;p16">
            <a:extLst xmlns:a="http://schemas.openxmlformats.org/drawingml/2006/main">
              <a:ext uri="{FF2B5EF4-FFF2-40B4-BE49-F238E27FC236}">
                <a16:creationId xmlns:a16="http://schemas.microsoft.com/office/drawing/2014/main" id="{DFC0D836-170F-4421-9FA1-2F712032196C}"/>
              </a:ext>
            </a:extLst>
          </p:cNvPr>
          <p:cNvSpPr>
            <a:spLocks xmlns:a="http://schemas.openxmlformats.org/drawingml/2006/main" noGrp="1"/>
          </p:cNvSpPr>
          <p:nvPr/>
        </p:nvSpPr>
        <p:spPr>
          <a:xfrm xmlns:a="http://schemas.openxmlformats.org/drawingml/2006/main">
            <a:off x="640080" y="1874520"/>
            <a:ext cx="3794760" cy="1170432"/>
          </a:xfrm>
          <a:prstGeom xmlns:a="http://schemas.openxmlformats.org/drawingml/2006/main" prst="roundRect">
            <a:avLst>
              <a:gd name="adj" fmla="val 7031"/>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0" name="Google Shape;380;p16">
            <a:extLst xmlns:a="http://schemas.openxmlformats.org/drawingml/2006/main">
              <a:ext uri="{FF2B5EF4-FFF2-40B4-BE49-F238E27FC236}">
                <a16:creationId xmlns:a16="http://schemas.microsoft.com/office/drawing/2014/main" id="{82CAD944-C0A1-4B77-ABF5-82128BDE6928}"/>
              </a:ext>
            </a:extLst>
          </p:cNvPr>
          <p:cNvSpPr>
            <a:spLocks xmlns:a="http://schemas.openxmlformats.org/drawingml/2006/main" noGrp="1"/>
          </p:cNvSpPr>
          <p:nvPr/>
        </p:nvSpPr>
        <p:spPr>
          <a:xfrm xmlns:a="http://schemas.openxmlformats.org/drawingml/2006/main">
            <a:off x="84124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9A6414"/>
                </a:solidFill>
                <a:latin typeface="Cambria"/>
                <a:ea typeface="Cambria"/>
                <a:cs typeface="Cambria"/>
              </a:rPr>
              <a:t>Delusion</a:t>
            </a:r>
          </a:p>
        </p:txBody>
      </p:sp>
      <p:sp>
        <p:nvSpPr>
          <p:cNvPr id="381" name="Google Shape;381;p16">
            <a:extLst xmlns:a="http://schemas.openxmlformats.org/drawingml/2006/main">
              <a:ext uri="{FF2B5EF4-FFF2-40B4-BE49-F238E27FC236}">
                <a16:creationId xmlns:a16="http://schemas.microsoft.com/office/drawing/2014/main" id="{31EF2D0D-4591-45F1-9A29-12B8369EBEE7}"/>
              </a:ext>
            </a:extLst>
          </p:cNvPr>
          <p:cNvSpPr>
            <a:spLocks xmlns:a="http://schemas.openxmlformats.org/drawingml/2006/main" noGrp="1"/>
          </p:cNvSpPr>
          <p:nvPr/>
        </p:nvSpPr>
        <p:spPr>
          <a:xfrm xmlns:a="http://schemas.openxmlformats.org/drawingml/2006/main">
            <a:off x="84124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Body-identification leaves sensitivity unguided by cognisance; selection and evaluation remain organised around pleasure, health, and profit.</a:t>
            </a:r>
          </a:p>
        </p:txBody>
      </p:sp>
      <p:sp>
        <p:nvSpPr>
          <p:cNvPr id="382" name="Google Shape;382;p16">
            <a:extLst xmlns:a="http://schemas.openxmlformats.org/drawingml/2006/main">
              <a:ext uri="{FF2B5EF4-FFF2-40B4-BE49-F238E27FC236}">
                <a16:creationId xmlns:a16="http://schemas.microsoft.com/office/drawing/2014/main" id="{3E21E7A9-BB7E-46F7-9B1C-98F8677948A5}"/>
              </a:ext>
            </a:extLst>
          </p:cNvPr>
          <p:cNvSpPr>
            <a:spLocks xmlns:a="http://schemas.openxmlformats.org/drawingml/2006/main" noGrp="1"/>
          </p:cNvSpPr>
          <p:nvPr/>
        </p:nvSpPr>
        <p:spPr>
          <a:xfrm xmlns:a="http://schemas.openxmlformats.org/drawingml/2006/main">
            <a:off x="4709160" y="1874520"/>
            <a:ext cx="3794760" cy="1170432"/>
          </a:xfrm>
          <a:prstGeom xmlns:a="http://schemas.openxmlformats.org/drawingml/2006/main" prst="roundRect">
            <a:avLst>
              <a:gd name="adj" fmla="val 703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3" name="Google Shape;383;p16">
            <a:extLst xmlns:a="http://schemas.openxmlformats.org/drawingml/2006/main">
              <a:ext uri="{FF2B5EF4-FFF2-40B4-BE49-F238E27FC236}">
                <a16:creationId xmlns:a16="http://schemas.microsoft.com/office/drawing/2014/main" id="{CF1A96A7-621E-47A6-80A9-081CEF352B63}"/>
              </a:ext>
            </a:extLst>
          </p:cNvPr>
          <p:cNvSpPr>
            <a:spLocks xmlns:a="http://schemas.openxmlformats.org/drawingml/2006/main" noGrp="1"/>
          </p:cNvSpPr>
          <p:nvPr/>
        </p:nvSpPr>
        <p:spPr>
          <a:xfrm xmlns:a="http://schemas.openxmlformats.org/drawingml/2006/main">
            <a:off x="4910328" y="1993392"/>
            <a:ext cx="3383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i="0" u="none" cap="none">
                <a:solidFill>
                  <a:srgbClr val="3B4A7A"/>
                </a:solidFill>
                <a:latin typeface="Cambria"/>
                <a:ea typeface="Cambria"/>
                <a:cs typeface="Cambria"/>
              </a:rPr>
              <a:t>Awakening</a:t>
            </a:r>
          </a:p>
        </p:txBody>
      </p:sp>
      <p:sp>
        <p:nvSpPr>
          <p:cNvPr id="384" name="Google Shape;384;p16">
            <a:extLst xmlns:a="http://schemas.openxmlformats.org/drawingml/2006/main">
              <a:ext uri="{FF2B5EF4-FFF2-40B4-BE49-F238E27FC236}">
                <a16:creationId xmlns:a16="http://schemas.microsoft.com/office/drawing/2014/main" id="{D5D8B566-06C7-4D2E-9500-8C90671D8286}"/>
              </a:ext>
            </a:extLst>
          </p:cNvPr>
          <p:cNvSpPr>
            <a:spLocks xmlns:a="http://schemas.openxmlformats.org/drawingml/2006/main" noGrp="1"/>
          </p:cNvSpPr>
          <p:nvPr/>
        </p:nvSpPr>
        <p:spPr>
          <a:xfrm xmlns:a="http://schemas.openxmlformats.org/drawingml/2006/main">
            <a:off x="4910328" y="2286000"/>
            <a:ext cx="3429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0" u="none" cap="none">
                <a:solidFill>
                  <a:srgbClr val="5A6377"/>
                </a:solidFill>
                <a:latin typeface="Calibri"/>
                <a:ea typeface="Calibri"/>
                <a:cs typeface="Calibri"/>
              </a:rPr>
              <a:t>Cognisance regulates sensitivity; knowing and believing guide recognition and fulfilment toward justice, dharma, truth, and coexistence.</a:t>
            </a:r>
          </a:p>
        </p:txBody>
      </p:sp>
      <p:sp>
        <p:nvSpPr>
          <p:cNvPr id="385" name="Google Shape;385;p16">
            <a:extLst xmlns:a="http://schemas.openxmlformats.org/drawingml/2006/main">
              <a:ext uri="{FF2B5EF4-FFF2-40B4-BE49-F238E27FC236}">
                <a16:creationId xmlns:a16="http://schemas.microsoft.com/office/drawing/2014/main" id="{64B63632-C860-427D-A076-5E2670107C55}"/>
              </a:ext>
            </a:extLst>
          </p:cNvPr>
          <p:cNvSpPr>
            <a:spLocks xmlns:a="http://schemas.openxmlformats.org/drawingml/2006/main" noGrp="1"/>
          </p:cNvSpPr>
          <p:nvPr/>
        </p:nvSpPr>
        <p:spPr>
          <a:xfrm xmlns:a="http://schemas.openxmlformats.org/drawingml/2006/main">
            <a:off x="640080" y="3246120"/>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No faculty is absent, and sensitivity is not rejected. Delusion lets sensory criteria rule; awakening balances sensitivity with cognisance, so understanding guides conduct.</a:t>
            </a:r>
          </a:p>
        </p:txBody>
      </p:sp>
      <p:sp>
        <p:nvSpPr>
          <p:cNvPr id="386" name="Google Shape;386;p16">
            <a:extLst xmlns:a="http://schemas.openxmlformats.org/drawingml/2006/main">
              <a:ext uri="{FF2B5EF4-FFF2-40B4-BE49-F238E27FC236}">
                <a16:creationId xmlns:a16="http://schemas.microsoft.com/office/drawing/2014/main" id="{43803F01-AD79-4037-B542-0CC5AC814A76}"/>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87" name="Google Shape;387;p16">
            <a:extLst xmlns:a="http://schemas.openxmlformats.org/drawingml/2006/main">
              <a:ext uri="{FF2B5EF4-FFF2-40B4-BE49-F238E27FC236}">
                <a16:creationId xmlns:a16="http://schemas.microsoft.com/office/drawing/2014/main" id="{44D7C5EC-8B49-47EE-A3C6-D6FB60F219A1}"/>
              </a:ext>
            </a:extLst>
          </p:cNvPr>
          <p:cNvSpPr>
            <a:spLocks xmlns:a="http://schemas.openxmlformats.org/drawingml/2006/main" noGrp="1"/>
          </p:cNvSpPr>
          <p:nvPr/>
        </p:nvSpPr>
        <p:spPr>
          <a:xfrm xmlns:a="http://schemas.openxmlformats.org/drawingml/2006/main">
            <a:off x="64008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Resolution</a:t>
            </a:r>
          </a:p>
        </p:txBody>
      </p:sp>
      <p:sp>
        <p:nvSpPr>
          <p:cNvPr id="388" name="Google Shape;388;p16">
            <a:extLst xmlns:a="http://schemas.openxmlformats.org/drawingml/2006/main">
              <a:ext uri="{FF2B5EF4-FFF2-40B4-BE49-F238E27FC236}">
                <a16:creationId xmlns:a16="http://schemas.microsoft.com/office/drawing/2014/main" id="{B018E786-2ABF-4703-8EF8-89DC0686BF66}"/>
              </a:ext>
            </a:extLst>
          </p:cNvPr>
          <p:cNvSpPr>
            <a:spLocks xmlns:a="http://schemas.openxmlformats.org/drawingml/2006/main" noGrp="1"/>
          </p:cNvSpPr>
          <p:nvPr/>
        </p:nvSpPr>
        <p:spPr>
          <a:xfrm xmlns:a="http://schemas.openxmlformats.org/drawingml/2006/main">
            <a:off x="233172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89" name="Google Shape;389;p16">
            <a:extLst xmlns:a="http://schemas.openxmlformats.org/drawingml/2006/main">
              <a:ext uri="{FF2B5EF4-FFF2-40B4-BE49-F238E27FC236}">
                <a16:creationId xmlns:a16="http://schemas.microsoft.com/office/drawing/2014/main" id="{59621292-E103-427A-ACBB-B76DE51ED83D}"/>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0" name="Google Shape;390;p16">
            <a:extLst xmlns:a="http://schemas.openxmlformats.org/drawingml/2006/main">
              <a:ext uri="{FF2B5EF4-FFF2-40B4-BE49-F238E27FC236}">
                <a16:creationId xmlns:a16="http://schemas.microsoft.com/office/drawing/2014/main" id="{33B307C8-11AE-485F-B9D0-04914905A78B}"/>
              </a:ext>
            </a:extLst>
          </p:cNvPr>
          <p:cNvSpPr>
            <a:spLocks xmlns:a="http://schemas.openxmlformats.org/drawingml/2006/main" noGrp="1"/>
          </p:cNvSpPr>
          <p:nvPr/>
        </p:nvSpPr>
        <p:spPr>
          <a:xfrm xmlns:a="http://schemas.openxmlformats.org/drawingml/2006/main">
            <a:off x="265176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Prosperity</a:t>
            </a:r>
          </a:p>
        </p:txBody>
      </p:sp>
      <p:sp>
        <p:nvSpPr>
          <p:cNvPr id="391" name="Google Shape;391;p16">
            <a:extLst xmlns:a="http://schemas.openxmlformats.org/drawingml/2006/main">
              <a:ext uri="{FF2B5EF4-FFF2-40B4-BE49-F238E27FC236}">
                <a16:creationId xmlns:a16="http://schemas.microsoft.com/office/drawing/2014/main" id="{F846937F-3004-4CED-8A78-D7931D0532DD}"/>
              </a:ext>
            </a:extLst>
          </p:cNvPr>
          <p:cNvSpPr>
            <a:spLocks xmlns:a="http://schemas.openxmlformats.org/drawingml/2006/main" noGrp="1"/>
          </p:cNvSpPr>
          <p:nvPr/>
        </p:nvSpPr>
        <p:spPr>
          <a:xfrm xmlns:a="http://schemas.openxmlformats.org/drawingml/2006/main">
            <a:off x="434340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2" name="Google Shape;392;p16">
            <a:extLst xmlns:a="http://schemas.openxmlformats.org/drawingml/2006/main">
              <a:ext uri="{FF2B5EF4-FFF2-40B4-BE49-F238E27FC236}">
                <a16:creationId xmlns:a16="http://schemas.microsoft.com/office/drawing/2014/main" id="{E1E865D9-FE0D-45CE-A1BD-4FBAF882CD1F}"/>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3" name="Google Shape;393;p16">
            <a:extLst xmlns:a="http://schemas.openxmlformats.org/drawingml/2006/main">
              <a:ext uri="{FF2B5EF4-FFF2-40B4-BE49-F238E27FC236}">
                <a16:creationId xmlns:a16="http://schemas.microsoft.com/office/drawing/2014/main" id="{1998CB01-B7AE-44FB-B5CC-A49E10AF4615}"/>
              </a:ext>
            </a:extLst>
          </p:cNvPr>
          <p:cNvSpPr>
            <a:spLocks xmlns:a="http://schemas.openxmlformats.org/drawingml/2006/main" noGrp="1"/>
          </p:cNvSpPr>
          <p:nvPr/>
        </p:nvSpPr>
        <p:spPr>
          <a:xfrm xmlns:a="http://schemas.openxmlformats.org/drawingml/2006/main">
            <a:off x="466344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Fearlessness</a:t>
            </a:r>
          </a:p>
        </p:txBody>
      </p:sp>
      <p:sp>
        <p:nvSpPr>
          <p:cNvPr id="394" name="Google Shape;394;p16">
            <a:extLst xmlns:a="http://schemas.openxmlformats.org/drawingml/2006/main">
              <a:ext uri="{FF2B5EF4-FFF2-40B4-BE49-F238E27FC236}">
                <a16:creationId xmlns:a16="http://schemas.microsoft.com/office/drawing/2014/main" id="{CB0DE84D-31EF-4F8D-B766-17ECF41955A0}"/>
              </a:ext>
            </a:extLst>
          </p:cNvPr>
          <p:cNvSpPr>
            <a:spLocks xmlns:a="http://schemas.openxmlformats.org/drawingml/2006/main" noGrp="1"/>
          </p:cNvSpPr>
          <p:nvPr/>
        </p:nvSpPr>
        <p:spPr>
          <a:xfrm xmlns:a="http://schemas.openxmlformats.org/drawingml/2006/main">
            <a:off x="6355080" y="3977640"/>
            <a:ext cx="3200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600" b="1" i="0" u="none" cap="none">
                <a:solidFill>
                  <a:srgbClr val="C9821E"/>
                </a:solidFill>
                <a:latin typeface="Calibri"/>
                <a:ea typeface="Calibri"/>
                <a:cs typeface="Calibri"/>
              </a:rPr>
              <a:t>→</a:t>
            </a:r>
          </a:p>
        </p:txBody>
      </p:sp>
      <p:sp>
        <p:nvSpPr>
          <p:cNvPr id="395" name="Google Shape;395;p16">
            <a:extLst xmlns:a="http://schemas.openxmlformats.org/drawingml/2006/main">
              <a:ext uri="{FF2B5EF4-FFF2-40B4-BE49-F238E27FC236}">
                <a16:creationId xmlns:a16="http://schemas.microsoft.com/office/drawing/2014/main" id="{3BCEB229-5C2D-420F-BBD6-927C6E2B3620}"/>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oundRect">
            <a:avLst>
              <a:gd name="adj" fmla="val 16364"/>
            </a:avLst>
          </a:prstGeom>
          <a:solidFill xmlns:a="http://schemas.openxmlformats.org/drawingml/2006/main">
            <a:srgbClr val="1E244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96" name="Google Shape;396;p16">
            <a:extLst xmlns:a="http://schemas.openxmlformats.org/drawingml/2006/main">
              <a:ext uri="{FF2B5EF4-FFF2-40B4-BE49-F238E27FC236}">
                <a16:creationId xmlns:a16="http://schemas.microsoft.com/office/drawing/2014/main" id="{7AA4D70B-6B5E-4ADA-8BFC-8C5D46324728}"/>
              </a:ext>
            </a:extLst>
          </p:cNvPr>
          <p:cNvSpPr>
            <a:spLocks xmlns:a="http://schemas.openxmlformats.org/drawingml/2006/main" noGrp="1"/>
          </p:cNvSpPr>
          <p:nvPr/>
        </p:nvSpPr>
        <p:spPr>
          <a:xfrm xmlns:a="http://schemas.openxmlformats.org/drawingml/2006/main">
            <a:off x="6675120" y="3977640"/>
            <a:ext cx="16916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50" b="1" i="0" u="none" cap="none">
                <a:solidFill>
                  <a:srgbClr val="FFFFFF"/>
                </a:solidFill>
                <a:latin typeface="Calibri"/>
                <a:ea typeface="Calibri"/>
                <a:cs typeface="Calibri"/>
              </a:rPr>
              <a:t>Coexistence</a:t>
            </a:r>
          </a:p>
        </p:txBody>
      </p:sp>
      <p:sp>
        <p:nvSpPr>
          <p:cNvPr id="397" name="Google Shape;397;p16">
            <a:extLst xmlns:a="http://schemas.openxmlformats.org/drawingml/2006/main">
              <a:ext uri="{FF2B5EF4-FFF2-40B4-BE49-F238E27FC236}">
                <a16:creationId xmlns:a16="http://schemas.microsoft.com/office/drawing/2014/main" id="{F9E1AF2F-A961-4897-A2B8-3FA63CEBF19D}"/>
              </a:ext>
            </a:extLst>
          </p:cNvPr>
          <p:cNvSpPr>
            <a:spLocks xmlns:a="http://schemas.openxmlformats.org/drawingml/2006/main" noGrp="1"/>
          </p:cNvSpPr>
          <p:nvPr/>
        </p:nvSpPr>
        <p:spPr>
          <a:xfrm xmlns:a="http://schemas.openxmlformats.org/drawingml/2006/main">
            <a:off x="640080" y="4553712"/>
            <a:ext cx="795528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0" i="1" u="none" cap="none">
                <a:solidFill>
                  <a:srgbClr val="5A6377"/>
                </a:solidFill>
                <a:latin typeface="Calibri"/>
                <a:ea typeface="Calibri"/>
                <a:cs typeface="Calibri"/>
              </a:rPr>
              <a:t>Peace, contentment, and bliss are not reached by preference or insight alone — they require the higher faculties recognised, studied, and acted on (§1.7.1).</a:t>
            </a:r>
          </a:p>
        </p:txBody>
      </p:sp>
      <p:sp>
        <p:nvSpPr>
          <p:cNvPr id="398" name="Google Shape;398;p16">
            <a:extLst xmlns:a="http://schemas.openxmlformats.org/drawingml/2006/main">
              <a:ext uri="{FF2B5EF4-FFF2-40B4-BE49-F238E27FC236}">
                <a16:creationId xmlns:a16="http://schemas.microsoft.com/office/drawing/2014/main" id="{8E42611A-F97C-40CD-AAA5-421BA477B91E}"/>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SB p. 64 (cognisance–sensitivity balance)  ·  JV pp. 73–74, 92–94 (four-and-a-half activities)  ·  MVD pp. 274–275</a:t>
            </a:r>
          </a:p>
        </p:txBody>
      </p:sp>
    </p:spTree>
    <p:extLst>
      <p:ext uri="{BB962C8B-B14F-4D97-AF65-F5344CB8AC3E}">
        <p14:creationId xmlns:p14="http://schemas.microsoft.com/office/powerpoint/2010/main" val="4439556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50BD95DB-7461-404F-9694-5EFD773998C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25949858-FAD2-4102-8CC1-2CD9F3AD5608}"/>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5A6F0C7B-FCDD-47B4-AA1A-839A972295F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080CFD91-ADB4-49D5-B6D7-B1C2C1B472D2}"/>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KD CH. 1 · WHY KNOWING IS NOT ENOUGH</a:t>
            </a:r>
          </a:p>
        </p:txBody>
      </p:sp>
      <p:sp>
        <p:nvSpPr>
          <p:cNvPr id="207" name="Google Shape;207;p10">
            <a:extLst xmlns:a="http://schemas.openxmlformats.org/drawingml/2006/main">
              <a:ext uri="{FF2B5EF4-FFF2-40B4-BE49-F238E27FC236}">
                <a16:creationId xmlns:a16="http://schemas.microsoft.com/office/drawing/2014/main" id="{748A9705-6995-4431-8E86-9E06E791CC19}"/>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Structure of Karma</a:t>
            </a:r>
          </a:p>
        </p:txBody>
      </p:sp>
      <p:sp>
        <p:nvSpPr>
          <p:cNvPr id="208" name="Google Shape;208;p10">
            <a:extLst xmlns:a="http://schemas.openxmlformats.org/drawingml/2006/main">
              <a:ext uri="{FF2B5EF4-FFF2-40B4-BE49-F238E27FC236}">
                <a16:creationId xmlns:a16="http://schemas.microsoft.com/office/drawing/2014/main" id="{EE459EAA-DCBF-4BA8-9E9D-97F36686AB2E}"/>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Below the human order, fulfilment is definite and needs no deciding. Animal jeevan's activity remains within sensory satisfaction under species-conformance; peace, contentment, and bliss are not in view. The human order is where complementarity must be fulfilled knowingly — study alone does not fulfil it. Book knowledge is half the work; the other half is conduct that fulfils relationships.</a:t>
            </a:r>
            <a:r>
              <a:rPr sz="1250" b="0" i="0" u="none" cap="none">
                <a:solidFill>
                  <a:srgbClr val="5A6377"/>
                </a:solidFill>
                <a:latin typeface="Calibri"/>
                <a:ea typeface="Calibri"/>
                <a:cs typeface="Calibri"/>
              </a:rPr>
              <a:t/>
            </a:r>
          </a:p>
        </p:txBody>
      </p:sp>
      <p:sp>
        <p:nvSpPr>
          <p:cNvPr id="209" name="Google Shape;209;p10">
            <a:extLst xmlns:a="http://schemas.openxmlformats.org/drawingml/2006/main">
              <a:ext uri="{FF2B5EF4-FFF2-40B4-BE49-F238E27FC236}">
                <a16:creationId xmlns:a16="http://schemas.microsoft.com/office/drawing/2014/main" id="{7E9929EE-8C6F-4A21-A8B2-80C9BEC65628}"/>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015DE0BF-2D27-49C6-9EA5-8E1DA7E28A00}"/>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Desire</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aspiration</a:t>
            </a:r>
          </a:p>
        </p:txBody>
      </p:sp>
      <p:sp>
        <p:nvSpPr>
          <p:cNvPr id="211" name="Google Shape;211;p10">
            <a:extLst xmlns:a="http://schemas.openxmlformats.org/drawingml/2006/main">
              <a:ext uri="{FF2B5EF4-FFF2-40B4-BE49-F238E27FC236}">
                <a16:creationId xmlns:a16="http://schemas.microsoft.com/office/drawing/2014/main" id="{F51B92A9-5B50-4D01-A23E-8518308D7153}"/>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something wished for</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desire seeks fulfilment</a:t>
            </a:r>
          </a:p>
        </p:txBody>
      </p:sp>
      <p:sp>
        <p:nvSpPr>
          <p:cNvPr id="212" name="Google Shape;212;p10">
            <a:extLst xmlns:a="http://schemas.openxmlformats.org/drawingml/2006/main">
              <a:ext uri="{FF2B5EF4-FFF2-40B4-BE49-F238E27FC236}">
                <a16:creationId xmlns:a16="http://schemas.microsoft.com/office/drawing/2014/main" id="{E13987FF-8A1F-40BB-9F0A-CAD971708991}"/>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D4388347-360E-4857-BCF7-8C11C5E1054C}"/>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Karma</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doing</a:t>
            </a:r>
          </a:p>
        </p:txBody>
      </p:sp>
      <p:sp>
        <p:nvSpPr>
          <p:cNvPr id="214" name="Google Shape;214;p10">
            <a:extLst xmlns:a="http://schemas.openxmlformats.org/drawingml/2006/main">
              <a:ext uri="{FF2B5EF4-FFF2-40B4-BE49-F238E27FC236}">
                <a16:creationId xmlns:a16="http://schemas.microsoft.com/office/drawing/2014/main" id="{E7324516-F827-427D-AE34-F9DC05C6CDBD}"/>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activity in the world</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human kriyā + aspiration = karma</a:t>
            </a:r>
          </a:p>
        </p:txBody>
      </p:sp>
      <p:sp>
        <p:nvSpPr>
          <p:cNvPr id="215" name="Google Shape;215;p10">
            <a:extLst xmlns:a="http://schemas.openxmlformats.org/drawingml/2006/main">
              <a:ext uri="{FF2B5EF4-FFF2-40B4-BE49-F238E27FC236}">
                <a16:creationId xmlns:a16="http://schemas.microsoft.com/office/drawing/2014/main" id="{3D4E993F-2500-4BC8-B404-72DAFA9D5275}"/>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64B022A1-A0F2-4B6A-A70C-8BF6646D268F}"/>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Result</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fruit</a:t>
            </a:r>
          </a:p>
        </p:txBody>
      </p:sp>
      <p:sp>
        <p:nvSpPr>
          <p:cNvPr id="217" name="Google Shape;217;p10">
            <a:extLst xmlns:a="http://schemas.openxmlformats.org/drawingml/2006/main">
              <a:ext uri="{FF2B5EF4-FFF2-40B4-BE49-F238E27FC236}">
                <a16:creationId xmlns:a16="http://schemas.microsoft.com/office/drawing/2014/main" id="{C89818CF-A4A5-4B97-801B-5B4F524E7DB4}"/>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satisfaction of desire</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balance of desire-karma-result</a:t>
            </a:r>
          </a:p>
        </p:txBody>
      </p:sp>
      <p:sp>
        <p:nvSpPr>
          <p:cNvPr id="218" name="Google Shape;218;p10">
            <a:extLst xmlns:a="http://schemas.openxmlformats.org/drawingml/2006/main">
              <a:ext uri="{FF2B5EF4-FFF2-40B4-BE49-F238E27FC236}">
                <a16:creationId xmlns:a16="http://schemas.microsoft.com/office/drawing/2014/main" id="{5A629A3F-BC91-4C5E-91C2-566270BD399B}"/>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C56FD9F9-3707-4514-B36F-43C235803170}"/>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Five limbs of karma</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Doer</a:t>
            </a:r>
            <a:r>
              <a:rPr sz="1000" b="0" i="0" u="none" cap="none">
                <a:solidFill>
                  <a:srgbClr val="5A6377"/>
                </a:solidFill>
                <a:latin typeface="Calibri"/>
                <a:ea typeface="Calibri"/>
                <a:cs typeface="Calibri"/>
              </a:rPr>
              <a:t> — who acts</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Cause</a:t>
            </a:r>
            <a:r>
              <a:rPr sz="1000" b="0" i="0" u="none" cap="none">
                <a:solidFill>
                  <a:srgbClr val="5A6377"/>
                </a:solidFill>
                <a:latin typeface="Calibri"/>
                <a:ea typeface="Calibri"/>
                <a:cs typeface="Calibri"/>
              </a:rPr>
              <a:t> — the need</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Objective</a:t>
            </a:r>
            <a:r>
              <a:rPr sz="1000" b="0" i="0" u="none" cap="none">
                <a:solidFill>
                  <a:srgbClr val="5A6377"/>
                </a:solidFill>
                <a:latin typeface="Calibri"/>
                <a:ea typeface="Calibri"/>
                <a:cs typeface="Calibri"/>
              </a:rPr>
              <a:t> — the aim</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Result</a:t>
            </a:r>
            <a:r>
              <a:rPr sz="1000" b="0" i="0" u="none" cap="none">
                <a:solidFill>
                  <a:srgbClr val="5A6377"/>
                </a:solidFill>
                <a:latin typeface="Calibri"/>
                <a:ea typeface="Calibri"/>
                <a:cs typeface="Calibri"/>
              </a:rPr>
              <a:t> — the fruit</a:t>
            </a:r>
          </a:p>
          <a:p xmlns:a="http://schemas.openxmlformats.org/drawingml/2006/main">
            <a:pPr marL="0" indent="0" algn="l">
              <a:spcBef>
                <a:spcPts val="500"/>
              </a:spcBef>
              <a:spcAft>
                <a:spcPts val="0"/>
              </a:spcAft>
              <a:buNone/>
            </a:pPr>
            <a:r>
              <a:rPr sz="1000" b="1" i="0" u="none" cap="none">
                <a:solidFill>
                  <a:srgbClr val="1E2447"/>
                </a:solidFill>
                <a:latin typeface="Calibri"/>
                <a:ea typeface="Calibri"/>
                <a:cs typeface="Calibri"/>
              </a:rPr>
              <a:t>Effect</a:t>
            </a:r>
            <a:r>
              <a:rPr sz="1000" b="0" i="0" u="none" cap="none">
                <a:solidFill>
                  <a:srgbClr val="5A6377"/>
                </a:solidFill>
                <a:latin typeface="Calibri"/>
                <a:ea typeface="Calibri"/>
                <a:cs typeface="Calibri"/>
              </a:rPr>
              <a:t> — its reach</a:t>
            </a:r>
          </a:p>
        </p:txBody>
      </p:sp>
      <p:sp>
        <p:nvSpPr>
          <p:cNvPr id="220" name="Google Shape;220;p10">
            <a:extLst xmlns:a="http://schemas.openxmlformats.org/drawingml/2006/main">
              <a:ext uri="{FF2B5EF4-FFF2-40B4-BE49-F238E27FC236}">
                <a16:creationId xmlns:a16="http://schemas.microsoft.com/office/drawing/2014/main" id="{CF9675E8-13F6-430E-81CA-CC0F4DDDDF8D}"/>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“Activity together with aspiration is karma itself … it is the balance of desire, karma, and result that is the accomplishment of the desire.” — KD Ch. 1, pp. 1–2  ·  Study §1.7.1</a:t>
            </a:r>
          </a:p>
        </p:txBody>
      </p:sp>
    </p:spTree>
    <p:extLst>
      <p:ext uri="{BB962C8B-B14F-4D97-AF65-F5344CB8AC3E}">
        <p14:creationId xmlns:p14="http://schemas.microsoft.com/office/powerpoint/2010/main" val="2934603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4" name="Google Shape;404;p17">
            <a:extLst xmlns:a="http://schemas.openxmlformats.org/drawingml/2006/main">
              <a:ext uri="{FF2B5EF4-FFF2-40B4-BE49-F238E27FC236}">
                <a16:creationId xmlns:a16="http://schemas.microsoft.com/office/drawing/2014/main" id="{A6DECDBA-1BF0-46C6-9FE2-83FA2D3F7263}"/>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05" name="Google Shape;405;p17">
            <a:extLst xmlns:a="http://schemas.openxmlformats.org/drawingml/2006/main">
              <a:ext uri="{FF2B5EF4-FFF2-40B4-BE49-F238E27FC236}">
                <a16:creationId xmlns:a16="http://schemas.microsoft.com/office/drawing/2014/main" id="{648CB187-D686-4707-81B7-2A5DDB05B039}"/>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06" name="Google Shape;406;p17">
            <a:extLst xmlns:a="http://schemas.openxmlformats.org/drawingml/2006/main">
              <a:ext uri="{FF2B5EF4-FFF2-40B4-BE49-F238E27FC236}">
                <a16:creationId xmlns:a16="http://schemas.microsoft.com/office/drawing/2014/main" id="{50E4A58E-1CD0-4392-97C8-B28C827C922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07" name="Google Shape;407;p17">
            <a:extLst xmlns:a="http://schemas.openxmlformats.org/drawingml/2006/main">
              <a:ext uri="{FF2B5EF4-FFF2-40B4-BE49-F238E27FC236}">
                <a16:creationId xmlns:a16="http://schemas.microsoft.com/office/drawing/2014/main" id="{ABCABD93-5ECC-4E09-A1F4-B59974ABDDC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§1.11 · REGULATION — WHAT SURROUNDEDNESS ESTABLISHES</a:t>
            </a:r>
          </a:p>
        </p:txBody>
      </p:sp>
      <p:sp>
        <p:nvSpPr>
          <p:cNvPr id="408" name="Google Shape;408;p17">
            <a:extLst xmlns:a="http://schemas.openxmlformats.org/drawingml/2006/main">
              <a:ext uri="{FF2B5EF4-FFF2-40B4-BE49-F238E27FC236}">
                <a16:creationId xmlns:a16="http://schemas.microsoft.com/office/drawing/2014/main" id="{891800AA-488D-4489-98EB-8B606D13F3F3}"/>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Regulation Endowment</a:t>
            </a:r>
          </a:p>
        </p:txBody>
      </p:sp>
      <p:sp>
        <p:nvSpPr>
          <p:cNvPr id="409" name="Google Shape;409;p17">
            <a:extLst xmlns:a="http://schemas.openxmlformats.org/drawingml/2006/main">
              <a:ext uri="{FF2B5EF4-FFF2-40B4-BE49-F238E27FC236}">
                <a16:creationId xmlns:a16="http://schemas.microsoft.com/office/drawing/2014/main" id="{76D228E5-3B3E-40F5-9DEF-B49F1687F3A7}"/>
              </a:ext>
            </a:extLst>
          </p:cNvPr>
          <p:cNvSpPr>
            <a:spLocks xmlns:a="http://schemas.openxmlformats.org/drawingml/2006/main" noGrp="1"/>
          </p:cNvSpPr>
          <p:nvPr/>
        </p:nvSpPr>
        <p:spPr>
          <a:xfrm xmlns:a="http://schemas.openxmlformats.org/drawingml/2006/main">
            <a:off x="640080" y="1234440"/>
            <a:ext cx="79552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Regulation is what surroundedness establishes: units are held at definite distance by the formless reality standing between them. Omnipresence issues no commands, yet each unit stays regulated through its own mediative organisation. </a:t>
            </a:r>
            <a:r>
              <a:rPr sz="1250" b="1" i="0" u="none" cap="none">
                <a:solidFill>
                  <a:srgbClr val="1E2447"/>
                </a:solidFill>
                <a:latin typeface="Calibri"/>
                <a:ea typeface="Calibri"/>
                <a:cs typeface="Calibri"/>
              </a:rPr>
              <a:t>This mediative (madhyasth) role gives the darshan its name.</a:t>
            </a:r>
          </a:p>
        </p:txBody>
      </p:sp>
      <p:graphicFrame>
        <p:nvGraphicFramePr>
          <p:cNvPr id="421" name="Google Shape;410;p17"/>
          <p:cNvGraphicFramePr/>
          <p:nvPr/>
        </p:nvGraphicFramePr>
        <p:xfrm>
          <a:off xmlns:a="http://schemas.openxmlformats.org/drawingml/2006/main" x="640080" y="1965960"/>
          <a:ext xmlns:a="http://schemas.openxmlformats.org/drawingml/2006/main" cx="7863850" cy="1810525"/>
        </p:xfrm>
        <a:graphic xmlns:a="http://schemas.openxmlformats.org/drawingml/2006/main">
          <a:graphicData uri="http://schemas.openxmlformats.org/drawingml/2006/table">
            <a:tbl>
              <a:tblPr>
                <a:tableStyleId>{6C92A692-798E-4634-90B1-36CD3966BFCB}</a:tableStyleId>
              </a:tblPr>
              <a:tblGrid>
                <a:gridCol w="1554475"/>
                <a:gridCol w="3017525"/>
                <a:gridCol w="3291850"/>
              </a:tblGrid>
              <a:tr h="310900">
                <a:tc>
                  <a:txBody>
                    <a:bodyPr/>
                    <a:lstStyle/>
                    <a:p>
                      <a:pPr marL="0" indent="0" algn="l">
                        <a:buNone/>
                      </a:pPr>
                      <a:r>
                        <a:rPr sz="1080" b="1" u="none" cap="none">
                          <a:solidFill>
                            <a:srgbClr val="FFFFFF"/>
                          </a:solidFill>
                          <a:latin typeface="Calibri"/>
                          <a:ea typeface="Calibri"/>
                          <a:cs typeface="Calibri"/>
                        </a:rPr>
                        <a:t>Order</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080" b="1" u="none" cap="none">
                          <a:solidFill>
                            <a:srgbClr val="FFFFFF"/>
                          </a:solidFill>
                          <a:latin typeface="Calibri"/>
                          <a:ea typeface="Calibri"/>
                          <a:cs typeface="Calibri"/>
                        </a:rPr>
                        <a:t>Conformance mode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080" b="1" u="none" cap="none">
                          <a:solidFill>
                            <a:srgbClr val="FFFFFF"/>
                          </a:solidFill>
                          <a:latin typeface="Calibri"/>
                          <a:ea typeface="Calibri"/>
                          <a:cs typeface="Calibri"/>
                        </a:rPr>
                        <a:t>Mode of fulfilment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347475">
                <a:tc>
                  <a:txBody>
                    <a:bodyPr/>
                    <a:lstStyle/>
                    <a:p>
                      <a:pPr marL="0" indent="0" algn="l">
                        <a:buNone/>
                      </a:pPr>
                      <a:r>
                        <a:rPr sz="1080" u="none" cap="none">
                          <a:solidFill>
                            <a:srgbClr val="1E2447"/>
                          </a:solidFill>
                          <a:latin typeface="Calibri"/>
                          <a:ea typeface="Calibri"/>
                          <a:cs typeface="Calibri"/>
                        </a:rPr>
                        <a:t>Material</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result- / structural-conformance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definite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47475">
                <a:tc>
                  <a:txBody>
                    <a:bodyPr/>
                    <a:lstStyle/>
                    <a:p>
                      <a:pPr marL="0" indent="0" algn="l">
                        <a:buNone/>
                      </a:pPr>
                      <a:r>
                        <a:rPr sz="1080" u="none" cap="none">
                          <a:solidFill>
                            <a:srgbClr val="1E2447"/>
                          </a:solidFill>
                          <a:latin typeface="Calibri"/>
                          <a:ea typeface="Calibri"/>
                          <a:cs typeface="Calibri"/>
                        </a:rPr>
                        <a:t>Bio (pranic)</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seed-conformance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definite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47475">
                <a:tc>
                  <a:txBody>
                    <a:bodyPr/>
                    <a:lstStyle/>
                    <a:p>
                      <a:pPr marL="0" indent="0" algn="l">
                        <a:buNone/>
                      </a:pPr>
                      <a:r>
                        <a:rPr sz="1080" u="none" cap="none">
                          <a:solidFill>
                            <a:srgbClr val="1E2447"/>
                          </a:solidFill>
                          <a:latin typeface="Calibri"/>
                          <a:ea typeface="Calibri"/>
                          <a:cs typeface="Calibri"/>
                        </a:rPr>
                        <a:t>Animal</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species-conformance (inherited from gestation)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definite; bodily expression limited</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indent="0" algn="l">
                        <a:buNone/>
                      </a:pPr>
                      <a:r>
                        <a:rPr sz="1080" u="none" cap="none">
                          <a:solidFill>
                            <a:srgbClr val="1E2447"/>
                          </a:solidFill>
                          <a:latin typeface="Calibri"/>
                          <a:ea typeface="Calibri"/>
                          <a:cs typeface="Calibri"/>
                        </a:rPr>
                        <a:t>Knowledge (human)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sanskar-conformance (achieved through understanding)</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evaluation may err; awakening aligns it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411" name="Google Shape;411;p17">
            <a:extLst xmlns:a="http://schemas.openxmlformats.org/drawingml/2006/main">
              <a:ext uri="{FF2B5EF4-FFF2-40B4-BE49-F238E27FC236}">
                <a16:creationId xmlns:a16="http://schemas.microsoft.com/office/drawing/2014/main" id="{418760E8-0E36-42A3-8A05-FA272B72896D}"/>
              </a:ext>
            </a:extLst>
          </p:cNvPr>
          <p:cNvSpPr>
            <a:spLocks xmlns:a="http://schemas.openxmlformats.org/drawingml/2006/main" noGrp="1"/>
          </p:cNvSpPr>
          <p:nvPr/>
        </p:nvSpPr>
        <p:spPr>
          <a:xfrm xmlns:a="http://schemas.openxmlformats.org/drawingml/2006/main">
            <a:off x="640080" y="3977640"/>
            <a:ext cx="7863840" cy="731520"/>
          </a:xfrm>
          <a:prstGeom xmlns:a="http://schemas.openxmlformats.org/drawingml/2006/main" prst="roundRect">
            <a:avLst>
              <a:gd name="adj" fmla="val 11250"/>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12" name="Google Shape;412;p17">
            <a:extLst xmlns:a="http://schemas.openxmlformats.org/drawingml/2006/main">
              <a:ext uri="{FF2B5EF4-FFF2-40B4-BE49-F238E27FC236}">
                <a16:creationId xmlns:a16="http://schemas.microsoft.com/office/drawing/2014/main" id="{8281FD63-9352-4E7E-B80A-DAC849910495}"/>
              </a:ext>
            </a:extLst>
          </p:cNvPr>
          <p:cNvSpPr>
            <a:spLocks xmlns:a="http://schemas.openxmlformats.org/drawingml/2006/main" noGrp="1"/>
          </p:cNvSpPr>
          <p:nvPr/>
        </p:nvSpPr>
        <p:spPr>
          <a:xfrm xmlns:a="http://schemas.openxmlformats.org/drawingml/2006/main">
            <a:off x="868680" y="3977640"/>
            <a:ext cx="74066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i="0" u="none" cap="none">
                <a:solidFill>
                  <a:srgbClr val="9A6414"/>
                </a:solidFill>
                <a:latin typeface="Calibri"/>
                <a:ea typeface="Calibri"/>
                <a:cs typeface="Calibri"/>
              </a:rPr>
              <a:t>In an atom the mediative nucleus regulates generative and degenerative activity and conserves relative powers. Material, bio, and animal regulation is definite; animal bodily development limits expression but does not introduce mis-evaluation. In human living, jeevan can judge wrongly when delusion mistakes the body for the self. Awakening aligns evaluation and fulfilment with coexistence.</a:t>
            </a:r>
          </a:p>
        </p:txBody>
      </p:sp>
      <p:sp>
        <p:nvSpPr>
          <p:cNvPr id="413" name="Google Shape;413;p17">
            <a:extLst xmlns:a="http://schemas.openxmlformats.org/drawingml/2006/main">
              <a:ext uri="{FF2B5EF4-FFF2-40B4-BE49-F238E27FC236}">
                <a16:creationId xmlns:a16="http://schemas.microsoft.com/office/drawing/2014/main" id="{D2D14E48-0F9E-414D-B0D5-18B438B9695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SB pp. 57, 79  ·  MVD pp. 26–27, 67, 137, 311  ·  KD p. 14 (law across family, nation, world)</a:t>
            </a:r>
          </a:p>
        </p:txBody>
      </p:sp>
    </p:spTree>
    <p:extLst>
      <p:ext uri="{BB962C8B-B14F-4D97-AF65-F5344CB8AC3E}">
        <p14:creationId xmlns:p14="http://schemas.microsoft.com/office/powerpoint/2010/main" val="194233414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 name="Google Shape;203;p10">
            <a:extLst xmlns:a="http://schemas.openxmlformats.org/drawingml/2006/main">
              <a:ext uri="{FF2B5EF4-FFF2-40B4-BE49-F238E27FC236}">
                <a16:creationId xmlns:a16="http://schemas.microsoft.com/office/drawing/2014/main" id="{A227E694-ACB1-4552-9B01-9BA14E563CEE}"/>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4" name="Google Shape;204;p10">
            <a:extLst xmlns:a="http://schemas.openxmlformats.org/drawingml/2006/main">
              <a:ext uri="{FF2B5EF4-FFF2-40B4-BE49-F238E27FC236}">
                <a16:creationId xmlns:a16="http://schemas.microsoft.com/office/drawing/2014/main" id="{A27B0F8F-D67F-402D-9A7D-CC96363D70A0}"/>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5" name="Google Shape;205;p10">
            <a:extLst xmlns:a="http://schemas.openxmlformats.org/drawingml/2006/main">
              <a:ext uri="{FF2B5EF4-FFF2-40B4-BE49-F238E27FC236}">
                <a16:creationId xmlns:a16="http://schemas.microsoft.com/office/drawing/2014/main" id="{094DB0CA-9CEE-40E8-B3E3-606F2F558633}"/>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06" name="Google Shape;206;p10">
            <a:extLst xmlns:a="http://schemas.openxmlformats.org/drawingml/2006/main">
              <a:ext uri="{FF2B5EF4-FFF2-40B4-BE49-F238E27FC236}">
                <a16:creationId xmlns:a16="http://schemas.microsoft.com/office/drawing/2014/main" id="{FC275619-7726-4132-9B6E-380017453A7C}"/>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§1.12 · EVALUATIVE PERSPECTIVES</a:t>
            </a:r>
          </a:p>
        </p:txBody>
      </p:sp>
      <p:sp>
        <p:nvSpPr>
          <p:cNvPr id="207" name="Google Shape;207;p10">
            <a:extLst xmlns:a="http://schemas.openxmlformats.org/drawingml/2006/main">
              <a:ext uri="{FF2B5EF4-FFF2-40B4-BE49-F238E27FC236}">
                <a16:creationId xmlns:a16="http://schemas.microsoft.com/office/drawing/2014/main" id="{FC8351DF-4D8B-4DEB-A7B3-FBE1FDA97F97}"/>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Six Evaluative Perspectives</a:t>
            </a:r>
          </a:p>
        </p:txBody>
      </p:sp>
      <p:sp>
        <p:nvSpPr>
          <p:cNvPr id="208" name="Google Shape;208;p10">
            <a:extLst xmlns:a="http://schemas.openxmlformats.org/drawingml/2006/main">
              <a:ext uri="{FF2B5EF4-FFF2-40B4-BE49-F238E27FC236}">
                <a16:creationId xmlns:a16="http://schemas.microsoft.com/office/drawing/2014/main" id="{FCB4F088-E7F6-4DE9-976F-1E0016290F4B}"/>
              </a:ext>
            </a:extLst>
          </p:cNvPr>
          <p:cNvSpPr>
            <a:spLocks xmlns:a="http://schemas.openxmlformats.org/drawingml/2006/main" noGrp="1"/>
          </p:cNvSpPr>
          <p:nvPr/>
        </p:nvSpPr>
        <p:spPr>
          <a:xfrm xmlns:a="http://schemas.openxmlformats.org/drawingml/2006/main">
            <a:off x="640080" y="1207008"/>
            <a:ext cx="79552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KD names six perspectives: pleasant, healthy, profit, justice, dharma, and truth. They widen from sensation, body, and gain to relationship, orderliness, and coexistence. Justice has a dual role: a member of the sixfold set and the principle of fulfilled relationship. The diagram highlights the final three.</a:t>
            </a:r>
          </a:p>
        </p:txBody>
      </p:sp>
      <p:sp>
        <p:nvSpPr>
          <p:cNvPr id="209" name="Google Shape;209;p10">
            <a:extLst xmlns:a="http://schemas.openxmlformats.org/drawingml/2006/main">
              <a:ext uri="{FF2B5EF4-FFF2-40B4-BE49-F238E27FC236}">
                <a16:creationId xmlns:a16="http://schemas.microsoft.com/office/drawing/2014/main" id="{577F7853-8B3D-4139-9CFE-636BD5FF4BCA}"/>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0" name="Google Shape;210;p10">
            <a:extLst xmlns:a="http://schemas.openxmlformats.org/drawingml/2006/main">
              <a:ext uri="{FF2B5EF4-FFF2-40B4-BE49-F238E27FC236}">
                <a16:creationId xmlns:a16="http://schemas.microsoft.com/office/drawing/2014/main" id="{1084CDE5-50F9-4276-867F-4FD62941EC84}"/>
              </a:ext>
            </a:extLst>
          </p:cNvPr>
          <p:cNvSpPr>
            <a:spLocks xmlns:a="http://schemas.openxmlformats.org/drawingml/2006/main" noGrp="1"/>
          </p:cNvSpPr>
          <p:nvPr/>
        </p:nvSpPr>
        <p:spPr>
          <a:xfrm xmlns:a="http://schemas.openxmlformats.org/drawingml/2006/main">
            <a:off x="12344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Justice</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relationship</a:t>
            </a:r>
          </a:p>
        </p:txBody>
      </p:sp>
      <p:sp>
        <p:nvSpPr>
          <p:cNvPr id="211" name="Google Shape;211;p10">
            <a:extLst xmlns:a="http://schemas.openxmlformats.org/drawingml/2006/main">
              <a:ext uri="{FF2B5EF4-FFF2-40B4-BE49-F238E27FC236}">
                <a16:creationId xmlns:a16="http://schemas.microsoft.com/office/drawing/2014/main" id="{60C9893A-91A5-4772-AED3-DCD9E751B981}"/>
              </a:ext>
            </a:extLst>
          </p:cNvPr>
          <p:cNvSpPr>
            <a:spLocks xmlns:a="http://schemas.openxmlformats.org/drawingml/2006/main" noGrp="1"/>
          </p:cNvSpPr>
          <p:nvPr/>
        </p:nvSpPr>
        <p:spPr>
          <a:xfrm xmlns:a="http://schemas.openxmlformats.org/drawingml/2006/main">
            <a:off x="10058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fulfil what’s owed</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recognise it, check what it requires</a:t>
            </a:r>
          </a:p>
        </p:txBody>
      </p:sp>
      <p:sp>
        <p:nvSpPr>
          <p:cNvPr id="212" name="Google Shape;212;p10">
            <a:extLst xmlns:a="http://schemas.openxmlformats.org/drawingml/2006/main">
              <a:ext uri="{FF2B5EF4-FFF2-40B4-BE49-F238E27FC236}">
                <a16:creationId xmlns:a16="http://schemas.microsoft.com/office/drawing/2014/main" id="{7DDB69DA-6C86-43C8-AB99-B8FC0A52B9B4}"/>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ellipse">
            <a:avLst/>
          </a:prstGeom>
          <a:solidFill xmlns:a="http://schemas.openxmlformats.org/drawingml/2006/main">
            <a:srgbClr val="3B4A7A"/>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3" name="Google Shape;213;p10">
            <a:extLst xmlns:a="http://schemas.openxmlformats.org/drawingml/2006/main">
              <a:ext uri="{FF2B5EF4-FFF2-40B4-BE49-F238E27FC236}">
                <a16:creationId xmlns:a16="http://schemas.microsoft.com/office/drawing/2014/main" id="{124E4E43-5036-40BE-9F52-0C7363326679}"/>
              </a:ext>
            </a:extLst>
          </p:cNvPr>
          <p:cNvSpPr>
            <a:spLocks xmlns:a="http://schemas.openxmlformats.org/drawingml/2006/main" noGrp="1"/>
          </p:cNvSpPr>
          <p:nvPr/>
        </p:nvSpPr>
        <p:spPr>
          <a:xfrm xmlns:a="http://schemas.openxmlformats.org/drawingml/2006/main">
            <a:off x="30632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Dharma</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orderliness</a:t>
            </a:r>
          </a:p>
        </p:txBody>
      </p:sp>
      <p:sp>
        <p:nvSpPr>
          <p:cNvPr id="214" name="Google Shape;214;p10">
            <a:extLst xmlns:a="http://schemas.openxmlformats.org/drawingml/2006/main">
              <a:ext uri="{FF2B5EF4-FFF2-40B4-BE49-F238E27FC236}">
                <a16:creationId xmlns:a16="http://schemas.microsoft.com/office/drawing/2014/main" id="{9D4DB499-FF49-40DA-9AE5-266D70C6EAA6}"/>
              </a:ext>
            </a:extLst>
          </p:cNvPr>
          <p:cNvSpPr>
            <a:spLocks xmlns:a="http://schemas.openxmlformats.org/drawingml/2006/main" noGrp="1"/>
          </p:cNvSpPr>
          <p:nvPr/>
        </p:nvSpPr>
        <p:spPr>
          <a:xfrm xmlns:a="http://schemas.openxmlformats.org/drawingml/2006/main">
            <a:off x="28346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fit the wider pattern</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discipline in thought, not just conduct</a:t>
            </a:r>
          </a:p>
        </p:txBody>
      </p:sp>
      <p:sp>
        <p:nvSpPr>
          <p:cNvPr id="215" name="Google Shape;215;p10">
            <a:extLst xmlns:a="http://schemas.openxmlformats.org/drawingml/2006/main">
              <a:ext uri="{FF2B5EF4-FFF2-40B4-BE49-F238E27FC236}">
                <a16:creationId xmlns:a16="http://schemas.microsoft.com/office/drawing/2014/main" id="{3EFCB717-BC3C-4902-96E7-34E87294B414}"/>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ellipse">
            <a:avLst/>
          </a:prstGeom>
          <a:solidFill xmlns:a="http://schemas.openxmlformats.org/drawingml/2006/main">
            <a:srgbClr val="C9821E"/>
          </a:solidFill>
          <a:ln xmlns:a="http://schemas.openxmlformats.org/drawingml/2006/main" w="254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6" name="Google Shape;216;p10">
            <a:extLst xmlns:a="http://schemas.openxmlformats.org/drawingml/2006/main">
              <a:ext uri="{FF2B5EF4-FFF2-40B4-BE49-F238E27FC236}">
                <a16:creationId xmlns:a16="http://schemas.microsoft.com/office/drawing/2014/main" id="{62D87294-2AD0-458F-8076-D9F44C0F3C14}"/>
              </a:ext>
            </a:extLst>
          </p:cNvPr>
          <p:cNvSpPr>
            <a:spLocks xmlns:a="http://schemas.openxmlformats.org/drawingml/2006/main" noGrp="1"/>
          </p:cNvSpPr>
          <p:nvPr/>
        </p:nvSpPr>
        <p:spPr>
          <a:xfrm xmlns:a="http://schemas.openxmlformats.org/drawingml/2006/main">
            <a:off x="4892040" y="2240280"/>
            <a:ext cx="1417320" cy="14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Satya</a:t>
            </a:r>
          </a:p>
          <a:p xmlns:a="http://schemas.openxmlformats.org/drawingml/2006/main">
            <a:pPr marL="0" indent="0" algn="ctr">
              <a:spcBef>
                <a:spcPts val="0"/>
              </a:spcBef>
              <a:spcAft>
                <a:spcPts val="0"/>
              </a:spcAft>
              <a:buNone/>
            </a:pPr>
            <a:r>
              <a:rPr sz="1200" b="1" i="0" u="none" cap="none">
                <a:solidFill>
                  <a:srgbClr val="FFFFFF"/>
                </a:solidFill>
                <a:latin typeface="Calibri"/>
                <a:ea typeface="Calibri"/>
                <a:cs typeface="Calibri"/>
              </a:rPr>
              <a:t>the architecture</a:t>
            </a:r>
          </a:p>
        </p:txBody>
      </p:sp>
      <p:sp>
        <p:nvSpPr>
          <p:cNvPr id="217" name="Google Shape;217;p10">
            <a:extLst xmlns:a="http://schemas.openxmlformats.org/drawingml/2006/main">
              <a:ext uri="{FF2B5EF4-FFF2-40B4-BE49-F238E27FC236}">
                <a16:creationId xmlns:a16="http://schemas.microsoft.com/office/drawing/2014/main" id="{4AC770B6-231B-43C5-A35F-E7957DACDC07}"/>
              </a:ext>
            </a:extLst>
          </p:cNvPr>
          <p:cNvSpPr>
            <a:spLocks xmlns:a="http://schemas.openxmlformats.org/drawingml/2006/main" noGrp="1"/>
          </p:cNvSpPr>
          <p:nvPr/>
        </p:nvSpPr>
        <p:spPr>
          <a:xfrm xmlns:a="http://schemas.openxmlformats.org/drawingml/2006/main">
            <a:off x="4663440" y="3794760"/>
            <a:ext cx="1874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goal: align with the whole</a:t>
            </a:r>
          </a:p>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grounded in realisation, not liking or gain</a:t>
            </a:r>
          </a:p>
        </p:txBody>
      </p:sp>
      <p:sp>
        <p:nvSpPr>
          <p:cNvPr id="218" name="Google Shape;218;p10">
            <a:extLst xmlns:a="http://schemas.openxmlformats.org/drawingml/2006/main">
              <a:ext uri="{FF2B5EF4-FFF2-40B4-BE49-F238E27FC236}">
                <a16:creationId xmlns:a16="http://schemas.microsoft.com/office/drawing/2014/main" id="{67BE35B1-9F7E-43AA-BCA7-CDCBC3E976D2}"/>
              </a:ext>
            </a:extLst>
          </p:cNvPr>
          <p:cNvSpPr>
            <a:spLocks xmlns:a="http://schemas.openxmlformats.org/drawingml/2006/main" noGrp="1"/>
          </p:cNvSpPr>
          <p:nvPr/>
        </p:nvSpPr>
        <p:spPr>
          <a:xfrm xmlns:a="http://schemas.openxmlformats.org/drawingml/2006/main">
            <a:off x="6720840" y="2148840"/>
            <a:ext cx="1965960" cy="2240280"/>
          </a:xfrm>
          <a:prstGeom xmlns:a="http://schemas.openxmlformats.org/drawingml/2006/main" prst="roundRect">
            <a:avLst>
              <a:gd name="adj" fmla="val 4651"/>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219" name="Google Shape;219;p10">
            <a:extLst xmlns:a="http://schemas.openxmlformats.org/drawingml/2006/main">
              <a:ext uri="{FF2B5EF4-FFF2-40B4-BE49-F238E27FC236}">
                <a16:creationId xmlns:a16="http://schemas.microsoft.com/office/drawing/2014/main" id="{2EBCC9FB-178B-4F48-8E46-B6AC0DA5D2F8}"/>
              </a:ext>
            </a:extLst>
          </p:cNvPr>
          <p:cNvSpPr>
            <a:spLocks xmlns:a="http://schemas.openxmlformats.org/drawingml/2006/main" noGrp="1"/>
          </p:cNvSpPr>
          <p:nvPr/>
        </p:nvSpPr>
        <p:spPr>
          <a:xfrm xmlns:a="http://schemas.openxmlformats.org/drawingml/2006/main">
            <a:off x="6903720" y="2331720"/>
            <a:ext cx="1627632" cy="1920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libri"/>
                <a:ea typeface="Calibri"/>
                <a:cs typeface="Calibri"/>
              </a:rPr>
              <a:t>One graduated chain</a:t>
            </a:r>
          </a:p>
          <a:p xmlns:a="http://schemas.openxmlformats.org/drawingml/2006/main">
            <a:pPr marL="0" indent="0" algn="l">
              <a:spcBef>
                <a:spcPts val="600"/>
              </a:spcBef>
              <a:spcAft>
                <a:spcPts val="0"/>
              </a:spcAft>
              <a:buNone/>
            </a:pPr>
            <a:r>
              <a:rPr sz="1000" b="0" i="1" u="none" cap="none">
                <a:solidFill>
                  <a:srgbClr val="5A6377"/>
                </a:solidFill>
                <a:latin typeface="Calibri"/>
                <a:ea typeface="Calibri"/>
                <a:cs typeface="Calibri"/>
              </a:rPr>
              <a:t>“Rule itself is justice, justice itself is dharma, dharma itself is truth, truth itself is coexistence.”</a:t>
            </a:r>
          </a:p>
          <a:p xmlns:a="http://schemas.openxmlformats.org/drawingml/2006/main">
            <a:pPr marL="0" indent="0" algn="l">
              <a:spcBef>
                <a:spcPts val="500"/>
              </a:spcBef>
              <a:spcAft>
                <a:spcPts val="0"/>
              </a:spcAft>
              <a:buNone/>
            </a:pPr>
            <a:r>
              <a:rPr sz="1000" b="0" i="0" u="none" cap="none">
                <a:solidFill>
                  <a:srgbClr val="5A6377"/>
                </a:solidFill>
                <a:latin typeface="Calibri"/>
                <a:ea typeface="Calibri"/>
                <a:cs typeface="Calibri"/>
              </a:rPr>
              <a:t>— KD p. 13</a:t>
            </a:r>
          </a:p>
        </p:txBody>
      </p:sp>
      <p:sp>
        <p:nvSpPr>
          <p:cNvPr id="230" name="Google Shape;230;p10">
            <a:extLst xmlns:a="http://schemas.openxmlformats.org/drawingml/2006/main">
              <a:ext uri="{FF2B5EF4-FFF2-40B4-BE49-F238E27FC236}">
                <a16:creationId xmlns:a16="http://schemas.microsoft.com/office/drawing/2014/main" id="{9268F224-4C3A-454A-A2D9-30300DB4E8B3}"/>
              </a:ext>
            </a:extLst>
          </p:cNvPr>
          <p:cNvSpPr>
            <a:spLocks xmlns:a="http://schemas.openxmlformats.org/drawingml/2006/main" noGrp="1"/>
          </p:cNvSpPr>
          <p:nvPr/>
        </p:nvSpPr>
        <p:spPr>
          <a:xfrm xmlns:a="http://schemas.openxmlformats.org/drawingml/2006/main">
            <a:off x="502920" y="4560000"/>
            <a:ext cx="8138160" cy="2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9A6414"/>
                </a:solidFill>
                <a:latin typeface="Calibri"/>
                <a:ea typeface="Calibri"/>
                <a:cs typeface="Calibri"/>
              </a:rPr>
              <a:t>KD distinguishes six perspectives; MVD also scales justice, dharma, and truth across relationship, social order, and coexistence.</a:t>
            </a:r>
          </a:p>
        </p:txBody>
      </p:sp>
      <p:sp>
        <p:nvSpPr>
          <p:cNvPr id="220" name="Google Shape;220;p10">
            <a:extLst xmlns:a="http://schemas.openxmlformats.org/drawingml/2006/main">
              <a:ext uri="{FF2B5EF4-FFF2-40B4-BE49-F238E27FC236}">
                <a16:creationId xmlns:a16="http://schemas.microsoft.com/office/drawing/2014/main" id="{8FBE3DC7-DB80-4DE6-B0B5-0F778F119380}"/>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25" b="0" i="1" u="none" cap="none">
                <a:solidFill>
                  <a:srgbClr val="5A6377"/>
                </a:solidFill>
                <a:latin typeface="Calibri"/>
                <a:ea typeface="Calibri"/>
                <a:cs typeface="Calibri"/>
              </a:rPr>
              <a:t>§1.12–§1.12.1 · KD pp. 10, 13, 60, 86</a:t>
            </a:r>
          </a:p>
        </p:txBody>
      </p:sp>
    </p:spTree>
    <p:extLst>
      <p:ext uri="{BB962C8B-B14F-4D97-AF65-F5344CB8AC3E}">
        <p14:creationId xmlns:p14="http://schemas.microsoft.com/office/powerpoint/2010/main" val="159218005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9" name="Google Shape;419;p18">
            <a:extLst xmlns:a="http://schemas.openxmlformats.org/drawingml/2006/main">
              <a:ext uri="{FF2B5EF4-FFF2-40B4-BE49-F238E27FC236}">
                <a16:creationId xmlns:a16="http://schemas.microsoft.com/office/drawing/2014/main" id="{AC19F2BA-9F1E-4A35-BBD0-E8FFB6791B4F}"/>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0" name="Google Shape;420;p18">
            <a:extLst xmlns:a="http://schemas.openxmlformats.org/drawingml/2006/main">
              <a:ext uri="{FF2B5EF4-FFF2-40B4-BE49-F238E27FC236}">
                <a16:creationId xmlns:a16="http://schemas.microsoft.com/office/drawing/2014/main" id="{5B4143EF-219D-46BC-904B-B59B34A724E6}"/>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1" name="Google Shape;421;p18">
            <a:extLst xmlns:a="http://schemas.openxmlformats.org/drawingml/2006/main">
              <a:ext uri="{FF2B5EF4-FFF2-40B4-BE49-F238E27FC236}">
                <a16:creationId xmlns:a16="http://schemas.microsoft.com/office/drawing/2014/main" id="{561CF8D0-7097-47DE-8D1B-22B21EE0610E}"/>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2" name="Google Shape;422;p18">
            <a:extLst xmlns:a="http://schemas.openxmlformats.org/drawingml/2006/main">
              <a:ext uri="{FF2B5EF4-FFF2-40B4-BE49-F238E27FC236}">
                <a16:creationId xmlns:a16="http://schemas.microsoft.com/office/drawing/2014/main" id="{8DA75099-9845-48B9-8CDE-83573C3CEB13}"/>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§§1.3–1.4, 1.7–1.13 · THE EPISTEMIC LADDER</a:t>
            </a:r>
          </a:p>
        </p:txBody>
      </p:sp>
      <p:sp>
        <p:nvSpPr>
          <p:cNvPr id="423" name="Google Shape;423;p18">
            <a:extLst xmlns:a="http://schemas.openxmlformats.org/drawingml/2006/main">
              <a:ext uri="{FF2B5EF4-FFF2-40B4-BE49-F238E27FC236}">
                <a16:creationId xmlns:a16="http://schemas.microsoft.com/office/drawing/2014/main" id="{A9BB04D9-3F67-41A2-8A26-AA19BA8992E7}"/>
              </a:ext>
            </a:extLst>
          </p:cNvPr>
          <p:cNvSpPr>
            <a:spLocks xmlns:a="http://schemas.openxmlformats.org/drawingml/2006/main" noGrp="1"/>
          </p:cNvSpPr>
          <p:nvPr/>
        </p:nvSpPr>
        <p:spPr>
          <a:xfrm xmlns:a="http://schemas.openxmlformats.org/drawingml/2006/main">
            <a:off x="960120" y="514350"/>
            <a:ext cx="772668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The Epistemic Ladder</a:t>
            </a:r>
          </a:p>
        </p:txBody>
      </p:sp>
      <p:sp>
        <p:nvSpPr>
          <p:cNvPr id="424" name="Google Shape;424;p18">
            <a:extLst xmlns:a="http://schemas.openxmlformats.org/drawingml/2006/main">
              <a:ext uri="{FF2B5EF4-FFF2-40B4-BE49-F238E27FC236}">
                <a16:creationId xmlns:a16="http://schemas.microsoft.com/office/drawing/2014/main" id="{F0E43322-0A7C-40FB-BD60-2F7922B40F04}"/>
              </a:ext>
            </a:extLst>
          </p:cNvPr>
          <p:cNvSpPr>
            <a:spLocks xmlns:a="http://schemas.openxmlformats.org/drawingml/2006/main" noGrp="1"/>
          </p:cNvSpPr>
          <p:nvPr/>
        </p:nvSpPr>
        <p:spPr>
          <a:xfrm xmlns:a="http://schemas.openxmlformats.org/drawingml/2006/main">
            <a:off x="548640" y="1280160"/>
            <a:ext cx="3749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350" b="1" i="0" u="none" cap="none">
                <a:solidFill>
                  <a:srgbClr val="1E2447"/>
                </a:solidFill>
                <a:latin typeface="Cambria"/>
                <a:ea typeface="Cambria"/>
                <a:cs typeface="Cambria"/>
              </a:rPr>
              <a:t>What must be understood — widening mutual context</a:t>
            </a:r>
          </a:p>
        </p:txBody>
      </p:sp>
      <p:sp>
        <p:nvSpPr>
          <p:cNvPr id="450" name="Google Shape;450;p18">
            <a:extLst xmlns:a="http://schemas.openxmlformats.org/drawingml/2006/main">
              <a:ext uri="{FF2B5EF4-FFF2-40B4-BE49-F238E27FC236}">
                <a16:creationId xmlns:a16="http://schemas.microsoft.com/office/drawing/2014/main" id="{A53A7AB2-1B4D-4CF8-B8AD-CA57930C99EB}"/>
              </a:ext>
            </a:extLst>
          </p:cNvPr>
          <p:cNvSpPr>
            <a:spLocks xmlns:a="http://schemas.openxmlformats.org/drawingml/2006/main" noGrp="1"/>
          </p:cNvSpPr>
          <p:nvPr/>
        </p:nvSpPr>
        <p:spPr>
          <a:xfrm xmlns:a="http://schemas.openxmlformats.org/drawingml/2006/main">
            <a:off x="274320" y="1600000"/>
            <a:ext cx="4297680" cy="420000"/>
          </a:xfrm>
          <a:prstGeom xmlns:a="http://schemas.openxmlformats.org/drawingml/2006/main" prst="roundRect">
            <a:avLst>
              <a:gd name="adj" fmla="val 14286"/>
            </a:avLst>
          </a:prstGeom>
          <a:solidFill xmlns:a="http://schemas.openxmlformats.org/drawingml/2006/main">
            <a:srgbClr val="9A6414"/>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1" name="Google Shape;451;p18">
            <a:extLst xmlns:a="http://schemas.openxmlformats.org/drawingml/2006/main">
              <a:ext uri="{FF2B5EF4-FFF2-40B4-BE49-F238E27FC236}">
                <a16:creationId xmlns:a16="http://schemas.microsoft.com/office/drawing/2014/main" id="{ED00F5D3-2ABA-4839-8328-84D8D7953D68}"/>
              </a:ext>
            </a:extLst>
          </p:cNvPr>
          <p:cNvSpPr>
            <a:spLocks xmlns:a="http://schemas.openxmlformats.org/drawingml/2006/main" noGrp="1"/>
          </p:cNvSpPr>
          <p:nvPr/>
        </p:nvSpPr>
        <p:spPr>
          <a:xfrm xmlns:a="http://schemas.openxmlformats.org/drawingml/2006/main">
            <a:off x="274320" y="1600000"/>
            <a:ext cx="429768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FFFFFF"/>
                </a:solidFill>
                <a:latin typeface="Calibri"/>
                <a:ea typeface="Calibri"/>
                <a:cs typeface="Calibri"/>
              </a:rPr>
              <a:t>coexistence itself  ·  the telos of knowing</a:t>
            </a:r>
          </a:p>
        </p:txBody>
      </p:sp>
      <p:sp>
        <p:nvSpPr>
          <p:cNvPr id="452" name="Google Shape;452;p18">
            <a:extLst xmlns:a="http://schemas.openxmlformats.org/drawingml/2006/main">
              <a:ext uri="{FF2B5EF4-FFF2-40B4-BE49-F238E27FC236}">
                <a16:creationId xmlns:a16="http://schemas.microsoft.com/office/drawing/2014/main" id="{0969169C-3236-4F16-BE9A-E3957D4A6A9E}"/>
              </a:ext>
            </a:extLst>
          </p:cNvPr>
          <p:cNvSpPr>
            <a:spLocks xmlns:a="http://schemas.openxmlformats.org/drawingml/2006/main" noGrp="1"/>
          </p:cNvSpPr>
          <p:nvPr/>
        </p:nvSpPr>
        <p:spPr>
          <a:xfrm xmlns:a="http://schemas.openxmlformats.org/drawingml/2006/main">
            <a:off x="594360" y="2050000"/>
            <a:ext cx="3657600" cy="420000"/>
          </a:xfrm>
          <a:prstGeom xmlns:a="http://schemas.openxmlformats.org/drawingml/2006/main" prst="roundRect">
            <a:avLst>
              <a:gd name="adj" fmla="val 14286"/>
            </a:avLst>
          </a:prstGeom>
          <a:solidFill xmlns:a="http://schemas.openxmlformats.org/drawingml/2006/main">
            <a:schemeClr val="accent3">
              <a:lumMod val="40000"/>
              <a:lumOff val="60000"/>
            </a:schemeClr>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3" name="Google Shape;453;p18">
            <a:extLst xmlns:a="http://schemas.openxmlformats.org/drawingml/2006/main">
              <a:ext uri="{FF2B5EF4-FFF2-40B4-BE49-F238E27FC236}">
                <a16:creationId xmlns:a16="http://schemas.microsoft.com/office/drawing/2014/main" id="{72FCC9B4-A8AC-48A4-9F01-C35B56BEBBB7}"/>
              </a:ext>
            </a:extLst>
          </p:cNvPr>
          <p:cNvSpPr>
            <a:spLocks xmlns:a="http://schemas.openxmlformats.org/drawingml/2006/main" noGrp="1"/>
          </p:cNvSpPr>
          <p:nvPr/>
        </p:nvSpPr>
        <p:spPr>
          <a:xfrm xmlns:a="http://schemas.openxmlformats.org/drawingml/2006/main">
            <a:off x="594360" y="2050000"/>
            <a:ext cx="365760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relationships  ·  shared expectations weighed by justice, dharma, and truth (§1.12)</a:t>
            </a:r>
          </a:p>
        </p:txBody>
      </p:sp>
      <p:sp>
        <p:nvSpPr>
          <p:cNvPr id="425" name="Google Shape;425;p18">
            <a:extLst xmlns:a="http://schemas.openxmlformats.org/drawingml/2006/main">
              <a:ext uri="{FF2B5EF4-FFF2-40B4-BE49-F238E27FC236}">
                <a16:creationId xmlns:a16="http://schemas.microsoft.com/office/drawing/2014/main" id="{F81FC8C1-6F3A-42F5-A7CB-13017A67F93B}"/>
              </a:ext>
            </a:extLst>
          </p:cNvPr>
          <p:cNvSpPr>
            <a:spLocks xmlns:a="http://schemas.openxmlformats.org/drawingml/2006/main" noGrp="1"/>
          </p:cNvSpPr>
          <p:nvPr/>
        </p:nvSpPr>
        <p:spPr>
          <a:xfrm xmlns:a="http://schemas.openxmlformats.org/drawingml/2006/main">
            <a:off x="914400" y="2500000"/>
            <a:ext cx="3017520" cy="420000"/>
          </a:xfrm>
          <a:prstGeom xmlns:a="http://schemas.openxmlformats.org/drawingml/2006/main" prst="roundRect">
            <a:avLst>
              <a:gd name="adj" fmla="val 14286"/>
            </a:avLst>
          </a:prstGeom>
          <a:solidFill xmlns:a="http://schemas.openxmlformats.org/drawingml/2006/main">
            <a:schemeClr val="accent3">
              <a:lumMod val="40000"/>
              <a:lumOff val="60000"/>
            </a:schemeClr>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6" name="Google Shape;426;p18">
            <a:extLst xmlns:a="http://schemas.openxmlformats.org/drawingml/2006/main">
              <a:ext uri="{FF2B5EF4-FFF2-40B4-BE49-F238E27FC236}">
                <a16:creationId xmlns:a16="http://schemas.microsoft.com/office/drawing/2014/main" id="{FFA15703-3322-44A6-8170-6B7B205EBB14}"/>
              </a:ext>
            </a:extLst>
          </p:cNvPr>
          <p:cNvSpPr>
            <a:spLocks xmlns:a="http://schemas.openxmlformats.org/drawingml/2006/main" noGrp="1"/>
          </p:cNvSpPr>
          <p:nvPr/>
        </p:nvSpPr>
        <p:spPr>
          <a:xfrm xmlns:a="http://schemas.openxmlformats.org/drawingml/2006/main">
            <a:off x="914400" y="2500000"/>
            <a:ext cx="301752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9A6414"/>
                </a:solidFill>
                <a:latin typeface="Calibri"/>
                <a:ea typeface="Calibri"/>
                <a:cs typeface="Calibri"/>
              </a:rPr>
              <a:t>dharma  ·  innateness evidenced in whole-order fulfilment</a:t>
            </a:r>
          </a:p>
        </p:txBody>
      </p:sp>
      <p:sp>
        <p:nvSpPr>
          <p:cNvPr id="427" name="Google Shape;427;p18">
            <a:extLst xmlns:a="http://schemas.openxmlformats.org/drawingml/2006/main">
              <a:ext uri="{FF2B5EF4-FFF2-40B4-BE49-F238E27FC236}">
                <a16:creationId xmlns:a16="http://schemas.microsoft.com/office/drawing/2014/main" id="{0361EBB0-84E5-479B-85C7-4C9B5804B9FA}"/>
              </a:ext>
            </a:extLst>
          </p:cNvPr>
          <p:cNvSpPr>
            <a:spLocks xmlns:a="http://schemas.openxmlformats.org/drawingml/2006/main" noGrp="1"/>
          </p:cNvSpPr>
          <p:nvPr/>
        </p:nvSpPr>
        <p:spPr>
          <a:xfrm xmlns:a="http://schemas.openxmlformats.org/drawingml/2006/main">
            <a:off x="1074420" y="2950000"/>
            <a:ext cx="2697480" cy="420000"/>
          </a:xfrm>
          <a:prstGeom xmlns:a="http://schemas.openxmlformats.org/drawingml/2006/main" prst="roundRect">
            <a:avLst>
              <a:gd name="adj" fmla="val 14286"/>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28" name="Google Shape;428;p18">
            <a:extLst xmlns:a="http://schemas.openxmlformats.org/drawingml/2006/main">
              <a:ext uri="{FF2B5EF4-FFF2-40B4-BE49-F238E27FC236}">
                <a16:creationId xmlns:a16="http://schemas.microsoft.com/office/drawing/2014/main" id="{0F84EEAC-434C-4925-9BB9-3DD284C2C194}"/>
              </a:ext>
            </a:extLst>
          </p:cNvPr>
          <p:cNvSpPr>
            <a:spLocks xmlns:a="http://schemas.openxmlformats.org/drawingml/2006/main" noGrp="1"/>
          </p:cNvSpPr>
          <p:nvPr/>
        </p:nvSpPr>
        <p:spPr>
          <a:xfrm xmlns:a="http://schemas.openxmlformats.org/drawingml/2006/main">
            <a:off x="1074420" y="2950000"/>
            <a:ext cx="269748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svabhav  ·  usefulness within state, plane &amp; order</a:t>
            </a:r>
          </a:p>
        </p:txBody>
      </p:sp>
      <p:sp>
        <p:nvSpPr>
          <p:cNvPr id="429" name="Google Shape;429;p18">
            <a:extLst xmlns:a="http://schemas.openxmlformats.org/drawingml/2006/main">
              <a:ext uri="{FF2B5EF4-FFF2-40B4-BE49-F238E27FC236}">
                <a16:creationId xmlns:a16="http://schemas.microsoft.com/office/drawing/2014/main" id="{FD2DC8FD-9A9A-4C9A-9564-EA41F5ECC05F}"/>
              </a:ext>
            </a:extLst>
          </p:cNvPr>
          <p:cNvSpPr>
            <a:spLocks xmlns:a="http://schemas.openxmlformats.org/drawingml/2006/main" noGrp="1"/>
          </p:cNvSpPr>
          <p:nvPr/>
        </p:nvSpPr>
        <p:spPr>
          <a:xfrm xmlns:a="http://schemas.openxmlformats.org/drawingml/2006/main">
            <a:off x="1234440" y="3400000"/>
            <a:ext cx="2377440" cy="420000"/>
          </a:xfrm>
          <a:prstGeom xmlns:a="http://schemas.openxmlformats.org/drawingml/2006/main" prst="roundRect">
            <a:avLst>
              <a:gd name="adj" fmla="val 14286"/>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0" name="Google Shape;430;p18">
            <a:extLst xmlns:a="http://schemas.openxmlformats.org/drawingml/2006/main">
              <a:ext uri="{FF2B5EF4-FFF2-40B4-BE49-F238E27FC236}">
                <a16:creationId xmlns:a16="http://schemas.microsoft.com/office/drawing/2014/main" id="{E64E419E-35C0-4FE7-813A-AD7269E90919}"/>
              </a:ext>
            </a:extLst>
          </p:cNvPr>
          <p:cNvSpPr>
            <a:spLocks xmlns:a="http://schemas.openxmlformats.org/drawingml/2006/main" noGrp="1"/>
          </p:cNvSpPr>
          <p:nvPr/>
        </p:nvSpPr>
        <p:spPr>
          <a:xfrm xmlns:a="http://schemas.openxmlformats.org/drawingml/2006/main">
            <a:off x="1234440" y="3400000"/>
            <a:ext cx="237744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guna  ·  effects evident in definite mutuality</a:t>
            </a:r>
          </a:p>
        </p:txBody>
      </p:sp>
      <p:sp>
        <p:nvSpPr>
          <p:cNvPr id="431" name="Google Shape;431;p18">
            <a:extLst xmlns:a="http://schemas.openxmlformats.org/drawingml/2006/main">
              <a:ext uri="{FF2B5EF4-FFF2-40B4-BE49-F238E27FC236}">
                <a16:creationId xmlns:a16="http://schemas.microsoft.com/office/drawing/2014/main" id="{A26EA2FC-59CD-418E-ADF4-5AF22119D2B2}"/>
              </a:ext>
            </a:extLst>
          </p:cNvPr>
          <p:cNvSpPr>
            <a:spLocks xmlns:a="http://schemas.openxmlformats.org/drawingml/2006/main" noGrp="1"/>
          </p:cNvSpPr>
          <p:nvPr/>
        </p:nvSpPr>
        <p:spPr>
          <a:xfrm xmlns:a="http://schemas.openxmlformats.org/drawingml/2006/main">
            <a:off x="1554480" y="3850000"/>
            <a:ext cx="1737360" cy="420000"/>
          </a:xfrm>
          <a:prstGeom xmlns:a="http://schemas.openxmlformats.org/drawingml/2006/main" prst="roundRect">
            <a:avLst>
              <a:gd name="adj" fmla="val 14286"/>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2" name="Google Shape;432;p18">
            <a:extLst xmlns:a="http://schemas.openxmlformats.org/drawingml/2006/main">
              <a:ext uri="{FF2B5EF4-FFF2-40B4-BE49-F238E27FC236}">
                <a16:creationId xmlns:a16="http://schemas.microsoft.com/office/drawing/2014/main" id="{14BA3C2D-3966-48F7-A294-E0FA8C17CF01}"/>
              </a:ext>
            </a:extLst>
          </p:cNvPr>
          <p:cNvSpPr>
            <a:spLocks xmlns:a="http://schemas.openxmlformats.org/drawingml/2006/main" noGrp="1"/>
          </p:cNvSpPr>
          <p:nvPr/>
        </p:nvSpPr>
        <p:spPr>
          <a:xfrm xmlns:a="http://schemas.openxmlformats.org/drawingml/2006/main">
            <a:off x="1554480" y="3850000"/>
            <a:ext cx="1737360" cy="4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150" b="1" i="0" u="none" cap="none">
                <a:solidFill>
                  <a:srgbClr val="1E2447"/>
                </a:solidFill>
                <a:latin typeface="Calibri"/>
                <a:ea typeface="Calibri"/>
                <a:cs typeface="Calibri"/>
              </a:rPr>
              <a:t>form  ·  real structure reflected in mutual facing</a:t>
            </a:r>
          </a:p>
        </p:txBody>
      </p:sp>
      <p:sp>
        <p:nvSpPr>
          <p:cNvPr id="433" name="Google Shape;433;p18">
            <a:extLst xmlns:a="http://schemas.openxmlformats.org/drawingml/2006/main">
              <a:ext uri="{FF2B5EF4-FFF2-40B4-BE49-F238E27FC236}">
                <a16:creationId xmlns:a16="http://schemas.microsoft.com/office/drawing/2014/main" id="{E31E0910-FFE3-4D4A-94D3-27A5C3C61D52}"/>
              </a:ext>
            </a:extLst>
          </p:cNvPr>
          <p:cNvSpPr>
            <a:spLocks xmlns:a="http://schemas.openxmlformats.org/drawingml/2006/main" noGrp="1"/>
          </p:cNvSpPr>
          <p:nvPr/>
        </p:nvSpPr>
        <p:spPr>
          <a:xfrm xmlns:a="http://schemas.openxmlformats.org/drawingml/2006/main">
            <a:off x="274320" y="4300000"/>
            <a:ext cx="4297680" cy="4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950" b="0" i="1" u="none" cap="none">
                <a:solidFill>
                  <a:srgbClr val="5A6377"/>
                </a:solidFill>
                <a:latin typeface="Calibri"/>
                <a:ea typeface="Calibri"/>
                <a:cs typeface="Calibri"/>
              </a:rPr>
              <a:t>each rung widens the mutual context in which a real unit is understood; the top is a different kind of knowing — coexistence realised, not merely another observed aspect</a:t>
            </a:r>
          </a:p>
        </p:txBody>
      </p:sp>
      <p:sp>
        <p:nvSpPr>
          <p:cNvPr id="434" name="Google Shape;434;p18">
            <a:extLst xmlns:a="http://schemas.openxmlformats.org/drawingml/2006/main">
              <a:ext uri="{FF2B5EF4-FFF2-40B4-BE49-F238E27FC236}">
                <a16:creationId xmlns:a16="http://schemas.microsoft.com/office/drawing/2014/main" id="{E220C89B-021D-4776-983A-E31A49AA1D9F}"/>
              </a:ext>
            </a:extLst>
          </p:cNvPr>
          <p:cNvSpPr>
            <a:spLocks xmlns:a="http://schemas.openxmlformats.org/drawingml/2006/main" noGrp="1"/>
          </p:cNvSpPr>
          <p:nvPr/>
        </p:nvSpPr>
        <p:spPr>
          <a:xfrm xmlns:a="http://schemas.openxmlformats.org/drawingml/2006/main">
            <a:off x="4892040" y="1280160"/>
            <a:ext cx="3429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350" b="1" i="0" u="none" cap="none">
                <a:solidFill>
                  <a:srgbClr val="1E2447"/>
                </a:solidFill>
                <a:latin typeface="Cambria"/>
                <a:ea typeface="Cambria"/>
                <a:cs typeface="Cambria"/>
              </a:rPr>
              <a:t>How knowing happens — within jeevan</a:t>
            </a:r>
          </a:p>
        </p:txBody>
      </p:sp>
      <p:sp>
        <p:nvSpPr>
          <p:cNvPr id="435" name="Google Shape;435;p18">
            <a:extLst xmlns:a="http://schemas.openxmlformats.org/drawingml/2006/main">
              <a:ext uri="{FF2B5EF4-FFF2-40B4-BE49-F238E27FC236}">
                <a16:creationId xmlns:a16="http://schemas.microsoft.com/office/drawing/2014/main" id="{79ECD1B1-07B3-4D0C-A1FD-E24C3F416BB2}"/>
              </a:ext>
            </a:extLst>
          </p:cNvPr>
          <p:cNvSpPr>
            <a:spLocks xmlns:a="http://schemas.openxmlformats.org/drawingml/2006/main" noGrp="1"/>
          </p:cNvSpPr>
          <p:nvPr/>
        </p:nvSpPr>
        <p:spPr>
          <a:xfrm xmlns:a="http://schemas.openxmlformats.org/drawingml/2006/main">
            <a:off x="4892040" y="1645920"/>
            <a:ext cx="3429000" cy="457200"/>
          </a:xfrm>
          <a:prstGeom xmlns:a="http://schemas.openxmlformats.org/drawingml/2006/main" prst="roundRect">
            <a:avLst>
              <a:gd name="adj" fmla="val 16000"/>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6" name="Google Shape;436;p18">
            <a:extLst xmlns:a="http://schemas.openxmlformats.org/drawingml/2006/main">
              <a:ext uri="{FF2B5EF4-FFF2-40B4-BE49-F238E27FC236}">
                <a16:creationId xmlns:a16="http://schemas.microsoft.com/office/drawing/2014/main" id="{3670FC36-729C-4187-B7C8-6A6C96F6092F}"/>
              </a:ext>
            </a:extLst>
          </p:cNvPr>
          <p:cNvSpPr>
            <a:spLocks xmlns:a="http://schemas.openxmlformats.org/drawingml/2006/main" noGrp="1"/>
          </p:cNvSpPr>
          <p:nvPr/>
        </p:nvSpPr>
        <p:spPr>
          <a:xfrm xmlns:a="http://schemas.openxmlformats.org/drawingml/2006/main">
            <a:off x="5029200" y="1645920"/>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9A6414"/>
                </a:solidFill>
                <a:latin typeface="Calibri"/>
                <a:ea typeface="Calibri"/>
                <a:cs typeface="Calibri"/>
              </a:rPr>
              <a:t>Core self (atma)   </a:t>
            </a:r>
            <a:r>
              <a:rPr sz="900" b="0" i="0" u="none" cap="none">
                <a:solidFill>
                  <a:srgbClr val="5A6377"/>
                </a:solidFill>
                <a:latin typeface="Calibri"/>
                <a:ea typeface="Calibri"/>
                <a:cs typeface="Calibri"/>
              </a:rPr>
              <a:t>realisation — only through truth · authenticity</a:t>
            </a:r>
          </a:p>
        </p:txBody>
      </p:sp>
      <p:sp>
        <p:nvSpPr>
          <p:cNvPr id="437" name="Google Shape;437;p18">
            <a:extLst xmlns:a="http://schemas.openxmlformats.org/drawingml/2006/main">
              <a:ext uri="{FF2B5EF4-FFF2-40B4-BE49-F238E27FC236}">
                <a16:creationId xmlns:a16="http://schemas.microsoft.com/office/drawing/2014/main" id="{2A893C6A-C0F2-4AE3-9C30-D6BA51DA39FA}"/>
              </a:ext>
            </a:extLst>
          </p:cNvPr>
          <p:cNvSpPr>
            <a:spLocks xmlns:a="http://schemas.openxmlformats.org/drawingml/2006/main" noGrp="1"/>
          </p:cNvSpPr>
          <p:nvPr/>
        </p:nvSpPr>
        <p:spPr>
          <a:xfrm xmlns:a="http://schemas.openxmlformats.org/drawingml/2006/main">
            <a:off x="4892040" y="2212848"/>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38" name="Google Shape;438;p18">
            <a:extLst xmlns:a="http://schemas.openxmlformats.org/drawingml/2006/main">
              <a:ext uri="{FF2B5EF4-FFF2-40B4-BE49-F238E27FC236}">
                <a16:creationId xmlns:a16="http://schemas.microsoft.com/office/drawing/2014/main" id="{13DBAC8B-BA37-4E22-A075-812F4996B776}"/>
              </a:ext>
            </a:extLst>
          </p:cNvPr>
          <p:cNvSpPr>
            <a:spLocks xmlns:a="http://schemas.openxmlformats.org/drawingml/2006/main" noGrp="1"/>
          </p:cNvSpPr>
          <p:nvPr/>
        </p:nvSpPr>
        <p:spPr>
          <a:xfrm xmlns:a="http://schemas.openxmlformats.org/drawingml/2006/main">
            <a:off x="5029200" y="2212848"/>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Resolve (buddhi)   </a:t>
            </a:r>
            <a:r>
              <a:rPr sz="900" b="0" i="0" u="none" cap="none">
                <a:solidFill>
                  <a:srgbClr val="5A6377"/>
                </a:solidFill>
                <a:latin typeface="Calibri"/>
                <a:ea typeface="Calibri"/>
                <a:cs typeface="Calibri"/>
              </a:rPr>
              <a:t>comprehension of existence, jeevan, conduct · resolve</a:t>
            </a:r>
          </a:p>
        </p:txBody>
      </p:sp>
      <p:sp>
        <p:nvSpPr>
          <p:cNvPr id="439" name="Google Shape;439;p18">
            <a:extLst xmlns:a="http://schemas.openxmlformats.org/drawingml/2006/main">
              <a:ext uri="{FF2B5EF4-FFF2-40B4-BE49-F238E27FC236}">
                <a16:creationId xmlns:a16="http://schemas.microsoft.com/office/drawing/2014/main" id="{BD84D243-0706-4ECB-8BDE-CCD0CFF66D99}"/>
              </a:ext>
            </a:extLst>
          </p:cNvPr>
          <p:cNvSpPr>
            <a:spLocks xmlns:a="http://schemas.openxmlformats.org/drawingml/2006/main" noGrp="1"/>
          </p:cNvSpPr>
          <p:nvPr/>
        </p:nvSpPr>
        <p:spPr>
          <a:xfrm xmlns:a="http://schemas.openxmlformats.org/drawingml/2006/main">
            <a:off x="4892040" y="2779776"/>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40" name="Google Shape;440;p18">
            <a:extLst xmlns:a="http://schemas.openxmlformats.org/drawingml/2006/main">
              <a:ext uri="{FF2B5EF4-FFF2-40B4-BE49-F238E27FC236}">
                <a16:creationId xmlns:a16="http://schemas.microsoft.com/office/drawing/2014/main" id="{9C5519FC-525B-4B0C-8160-C849C521ABB4}"/>
              </a:ext>
            </a:extLst>
          </p:cNvPr>
          <p:cNvSpPr>
            <a:spLocks xmlns:a="http://schemas.openxmlformats.org/drawingml/2006/main" noGrp="1"/>
          </p:cNvSpPr>
          <p:nvPr/>
        </p:nvSpPr>
        <p:spPr>
          <a:xfrm xmlns:a="http://schemas.openxmlformats.org/drawingml/2006/main">
            <a:off x="5029200" y="2779776"/>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Desire (chitta)   </a:t>
            </a:r>
            <a:r>
              <a:rPr sz="900" b="0" i="0" u="none" cap="none">
                <a:solidFill>
                  <a:srgbClr val="5A6377"/>
                </a:solidFill>
                <a:latin typeface="Calibri"/>
                <a:ea typeface="Calibri"/>
                <a:cs typeface="Calibri"/>
              </a:rPr>
              <a:t>contemplation &amp; visualisation · direct apprehension</a:t>
            </a:r>
          </a:p>
        </p:txBody>
      </p:sp>
      <p:sp>
        <p:nvSpPr>
          <p:cNvPr id="441" name="Google Shape;441;p18">
            <a:extLst xmlns:a="http://schemas.openxmlformats.org/drawingml/2006/main">
              <a:ext uri="{FF2B5EF4-FFF2-40B4-BE49-F238E27FC236}">
                <a16:creationId xmlns:a16="http://schemas.microsoft.com/office/drawing/2014/main" id="{617665E1-C932-4F56-9689-726D460A92A2}"/>
              </a:ext>
            </a:extLst>
          </p:cNvPr>
          <p:cNvSpPr>
            <a:spLocks xmlns:a="http://schemas.openxmlformats.org/drawingml/2006/main" noGrp="1"/>
          </p:cNvSpPr>
          <p:nvPr/>
        </p:nvSpPr>
        <p:spPr>
          <a:xfrm xmlns:a="http://schemas.openxmlformats.org/drawingml/2006/main">
            <a:off x="4892040" y="3346704"/>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42" name="Google Shape;442;p18">
            <a:extLst xmlns:a="http://schemas.openxmlformats.org/drawingml/2006/main">
              <a:ext uri="{FF2B5EF4-FFF2-40B4-BE49-F238E27FC236}">
                <a16:creationId xmlns:a16="http://schemas.microsoft.com/office/drawing/2014/main" id="{88CA3D4A-3ADF-41F4-86A7-A2DEB5EC083C}"/>
              </a:ext>
            </a:extLst>
          </p:cNvPr>
          <p:cNvSpPr>
            <a:spLocks xmlns:a="http://schemas.openxmlformats.org/drawingml/2006/main" noGrp="1"/>
          </p:cNvSpPr>
          <p:nvPr/>
        </p:nvSpPr>
        <p:spPr>
          <a:xfrm xmlns:a="http://schemas.openxmlformats.org/drawingml/2006/main">
            <a:off x="5029200" y="3346704"/>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Thought (vritti)   </a:t>
            </a:r>
            <a:r>
              <a:rPr sz="900" b="0" i="0" u="none" cap="none">
                <a:solidFill>
                  <a:srgbClr val="5A6377"/>
                </a:solidFill>
                <a:latin typeface="Calibri"/>
                <a:ea typeface="Calibri"/>
                <a:cs typeface="Calibri"/>
              </a:rPr>
              <a:t>deliberation in refuge of justice–dharma–truth · analysis</a:t>
            </a:r>
          </a:p>
        </p:txBody>
      </p:sp>
      <p:sp>
        <p:nvSpPr>
          <p:cNvPr id="443" name="Google Shape;443;p18">
            <a:extLst xmlns:a="http://schemas.openxmlformats.org/drawingml/2006/main">
              <a:ext uri="{FF2B5EF4-FFF2-40B4-BE49-F238E27FC236}">
                <a16:creationId xmlns:a16="http://schemas.microsoft.com/office/drawing/2014/main" id="{0F893CF6-212B-42B7-A187-A405DECB25AC}"/>
              </a:ext>
            </a:extLst>
          </p:cNvPr>
          <p:cNvSpPr>
            <a:spLocks xmlns:a="http://schemas.openxmlformats.org/drawingml/2006/main" noGrp="1"/>
          </p:cNvSpPr>
          <p:nvPr/>
        </p:nvSpPr>
        <p:spPr>
          <a:xfrm xmlns:a="http://schemas.openxmlformats.org/drawingml/2006/main">
            <a:off x="4892040" y="3913632"/>
            <a:ext cx="3429000" cy="457200"/>
          </a:xfrm>
          <a:prstGeom xmlns:a="http://schemas.openxmlformats.org/drawingml/2006/main" prst="roundRect">
            <a:avLst>
              <a:gd name="adj" fmla="val 16000"/>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44" name="Google Shape;444;p18">
            <a:extLst xmlns:a="http://schemas.openxmlformats.org/drawingml/2006/main">
              <a:ext uri="{FF2B5EF4-FFF2-40B4-BE49-F238E27FC236}">
                <a16:creationId xmlns:a16="http://schemas.microsoft.com/office/drawing/2014/main" id="{AB0D39D1-8330-498C-B3C9-712CB43BCA59}"/>
              </a:ext>
            </a:extLst>
          </p:cNvPr>
          <p:cNvSpPr>
            <a:spLocks xmlns:a="http://schemas.openxmlformats.org/drawingml/2006/main" noGrp="1"/>
          </p:cNvSpPr>
          <p:nvPr/>
        </p:nvSpPr>
        <p:spPr>
          <a:xfrm xmlns:a="http://schemas.openxmlformats.org/drawingml/2006/main">
            <a:off x="5029200" y="3913632"/>
            <a:ext cx="3200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1" i="0" u="none" cap="none">
                <a:solidFill>
                  <a:srgbClr val="1E2447"/>
                </a:solidFill>
                <a:latin typeface="Calibri"/>
                <a:ea typeface="Calibri"/>
                <a:cs typeface="Calibri"/>
              </a:rPr>
              <a:t>Hope (mun)   </a:t>
            </a:r>
            <a:r>
              <a:rPr sz="900" b="0" i="0" u="none" cap="none">
                <a:solidFill>
                  <a:srgbClr val="5A6377"/>
                </a:solidFill>
                <a:latin typeface="Calibri"/>
                <a:ea typeface="Calibri"/>
                <a:cs typeface="Calibri"/>
              </a:rPr>
              <a:t>taste &amp; selection — first acceptance of the proposal</a:t>
            </a:r>
          </a:p>
        </p:txBody>
      </p:sp>
      <p:sp>
        <p:nvSpPr>
          <p:cNvPr id="454" name="Google Shape;454;p18">
            <a:extLst xmlns:a="http://schemas.openxmlformats.org/drawingml/2006/main">
              <a:ext uri="{FF2B5EF4-FFF2-40B4-BE49-F238E27FC236}">
                <a16:creationId xmlns:a16="http://schemas.microsoft.com/office/drawing/2014/main" id="{42229DEC-31D7-46FC-920E-80EFFB0F4C62}"/>
              </a:ext>
            </a:extLst>
          </p:cNvPr>
          <p:cNvSpPr>
            <a:spLocks xmlns:a="http://schemas.openxmlformats.org/drawingml/2006/main" noGrp="1"/>
          </p:cNvSpPr>
          <p:nvPr/>
        </p:nvSpPr>
        <p:spPr>
          <a:xfrm xmlns:a="http://schemas.openxmlformats.org/drawingml/2006/main">
            <a:off x="5029200" y="2092984"/>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acted in alignment → bliss</a:t>
            </a:r>
          </a:p>
        </p:txBody>
      </p:sp>
      <p:sp>
        <p:nvSpPr>
          <p:cNvPr id="455" name="Google Shape;455;p18">
            <a:extLst xmlns:a="http://schemas.openxmlformats.org/drawingml/2006/main">
              <a:ext uri="{FF2B5EF4-FFF2-40B4-BE49-F238E27FC236}">
                <a16:creationId xmlns:a16="http://schemas.microsoft.com/office/drawing/2014/main" id="{50497EFB-3B56-4C56-B17F-B5D6FF917133}"/>
              </a:ext>
            </a:extLst>
          </p:cNvPr>
          <p:cNvSpPr>
            <a:spLocks xmlns:a="http://schemas.openxmlformats.org/drawingml/2006/main" noGrp="1"/>
          </p:cNvSpPr>
          <p:nvPr/>
        </p:nvSpPr>
        <p:spPr>
          <a:xfrm xmlns:a="http://schemas.openxmlformats.org/drawingml/2006/main">
            <a:off x="5029200" y="2659912"/>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acted in alignment → contentment</a:t>
            </a:r>
          </a:p>
        </p:txBody>
      </p:sp>
      <p:sp>
        <p:nvSpPr>
          <p:cNvPr id="456" name="Google Shape;456;p18">
            <a:extLst xmlns:a="http://schemas.openxmlformats.org/drawingml/2006/main">
              <a:ext uri="{FF2B5EF4-FFF2-40B4-BE49-F238E27FC236}">
                <a16:creationId xmlns:a16="http://schemas.microsoft.com/office/drawing/2014/main" id="{423B0847-A9B7-4FA3-A1EE-1496BB4189F6}"/>
              </a:ext>
            </a:extLst>
          </p:cNvPr>
          <p:cNvSpPr>
            <a:spLocks xmlns:a="http://schemas.openxmlformats.org/drawingml/2006/main" noGrp="1"/>
          </p:cNvSpPr>
          <p:nvPr/>
        </p:nvSpPr>
        <p:spPr>
          <a:xfrm xmlns:a="http://schemas.openxmlformats.org/drawingml/2006/main">
            <a:off x="5029200" y="3226840"/>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acted in alignment → peace</a:t>
            </a:r>
          </a:p>
        </p:txBody>
      </p:sp>
      <p:sp>
        <p:nvSpPr>
          <p:cNvPr id="457" name="Google Shape;457;p18">
            <a:extLst xmlns:a="http://schemas.openxmlformats.org/drawingml/2006/main">
              <a:ext uri="{FF2B5EF4-FFF2-40B4-BE49-F238E27FC236}">
                <a16:creationId xmlns:a16="http://schemas.microsoft.com/office/drawing/2014/main" id="{C5C7BD53-143E-4687-91C3-C9872691A7D9}"/>
              </a:ext>
            </a:extLst>
          </p:cNvPr>
          <p:cNvSpPr>
            <a:spLocks xmlns:a="http://schemas.openxmlformats.org/drawingml/2006/main" noGrp="1"/>
          </p:cNvSpPr>
          <p:nvPr/>
        </p:nvSpPr>
        <p:spPr>
          <a:xfrm xmlns:a="http://schemas.openxmlformats.org/drawingml/2006/main">
            <a:off x="5029200" y="3793768"/>
            <a:ext cx="3200400" cy="1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00" b="0" i="1" u="none" cap="none">
                <a:solidFill>
                  <a:srgbClr val="9A6414"/>
                </a:solidFill>
                <a:latin typeface="Calibri"/>
                <a:ea typeface="Calibri"/>
                <a:cs typeface="Calibri"/>
              </a:rPr>
              <a:t>acted in alignment → happiness</a:t>
            </a:r>
          </a:p>
        </p:txBody>
      </p:sp>
      <p:cxnSp>
        <p:nvCxnSpPr>
          <p:cNvPr id="1158" name="Google Shape;445;p18"/>
          <p:cNvCxnSpPr/>
          <p:nvPr/>
        </p:nvCxnSpPr>
        <p:spPr>
          <a:xfrm xmlns:a="http://schemas.openxmlformats.org/drawingml/2006/main">
            <a:off x="4718304" y="1737360"/>
            <a:ext cx="0" cy="2514600"/>
          </a:xfrm>
          <a:prstGeom xmlns:a="http://schemas.openxmlformats.org/drawingml/2006/main" prst="straightConnector1">
            <a:avLst/>
          </a:prstGeom>
          <a:ln xmlns:a="http://schemas.openxmlformats.org/drawingml/2006/main" w="22225" cap="flat">
            <a:solidFill>
              <a:srgbClr val="3B4A7A"/>
            </a:solidFill>
            <a:prstDash val="solid"/>
            <a:round/>
            <a:headEnd type="triangle" w="med" len="med"/>
            <a:tailEnd type="none" w="sm" len="sm"/>
          </a:ln>
        </p:spPr>
      </p:cxnSp>
      <p:sp>
        <p:nvSpPr>
          <p:cNvPr id="446" name="Google Shape;446;p18">
            <a:extLst xmlns:a="http://schemas.openxmlformats.org/drawingml/2006/main">
              <a:ext uri="{FF2B5EF4-FFF2-40B4-BE49-F238E27FC236}">
                <a16:creationId xmlns:a16="http://schemas.microsoft.com/office/drawing/2014/main" id="{6B44C758-EC70-4A2A-97D3-7B86D0A2FA77}"/>
              </a:ext>
            </a:extLst>
          </p:cNvPr>
          <p:cNvSpPr>
            <a:spLocks xmlns:a="http://schemas.openxmlformats.org/drawingml/2006/main" noGrp="1"/>
          </p:cNvSpPr>
          <p:nvPr/>
        </p:nvSpPr>
        <p:spPr>
          <a:xfrm xmlns:a="http://schemas.openxmlformats.org/drawingml/2006/main" rot="-5400000">
            <a:off x="3218688" y="2852928"/>
            <a:ext cx="26517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50" b="0" i="1" u="none" cap="none">
                <a:solidFill>
                  <a:srgbClr val="3B4A7A"/>
                </a:solidFill>
                <a:latin typeface="Calibri"/>
                <a:ea typeface="Calibri"/>
                <a:cs typeface="Calibri"/>
              </a:rPr>
              <a:t>reflection (inward) · knowing deepens</a:t>
            </a:r>
          </a:p>
        </p:txBody>
      </p:sp>
      <p:cxnSp>
        <p:nvCxnSpPr>
          <p:cNvPr id="1160" name="Google Shape;447;p18"/>
          <p:cNvCxnSpPr/>
          <p:nvPr/>
        </p:nvCxnSpPr>
        <p:spPr>
          <a:xfrm xmlns:a="http://schemas.openxmlformats.org/drawingml/2006/main">
            <a:off x="8503920" y="1737360"/>
            <a:ext cx="0" cy="2514600"/>
          </a:xfrm>
          <a:prstGeom xmlns:a="http://schemas.openxmlformats.org/drawingml/2006/main" prst="straightConnector1">
            <a:avLst/>
          </a:prstGeom>
          <a:ln xmlns:a="http://schemas.openxmlformats.org/drawingml/2006/main" w="22225" cap="flat">
            <a:solidFill>
              <a:srgbClr val="9A6414"/>
            </a:solidFill>
            <a:prstDash val="solid"/>
            <a:round/>
            <a:headEnd type="none" w="sm" len="sm"/>
            <a:tailEnd type="triangle" w="med" len="med"/>
          </a:ln>
        </p:spPr>
      </p:cxnSp>
      <p:sp>
        <p:nvSpPr>
          <p:cNvPr id="448" name="Google Shape;448;p18">
            <a:extLst xmlns:a="http://schemas.openxmlformats.org/drawingml/2006/main">
              <a:ext uri="{FF2B5EF4-FFF2-40B4-BE49-F238E27FC236}">
                <a16:creationId xmlns:a16="http://schemas.microsoft.com/office/drawing/2014/main" id="{B58B41CB-21B3-4AF5-80AB-46A0B06BD451}"/>
              </a:ext>
            </a:extLst>
          </p:cNvPr>
          <p:cNvSpPr>
            <a:spLocks xmlns:a="http://schemas.openxmlformats.org/drawingml/2006/main" noGrp="1"/>
          </p:cNvSpPr>
          <p:nvPr/>
        </p:nvSpPr>
        <p:spPr>
          <a:xfrm xmlns:a="http://schemas.openxmlformats.org/drawingml/2006/main" rot="5400000">
            <a:off x="7315200" y="2852928"/>
            <a:ext cx="26517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850" b="0" i="1" u="none" cap="none">
                <a:solidFill>
                  <a:srgbClr val="9A6414"/>
                </a:solidFill>
                <a:latin typeface="Calibri"/>
                <a:ea typeface="Calibri"/>
                <a:cs typeface="Calibri"/>
              </a:rPr>
              <a:t>projection (outward) · evidenced in conduct</a:t>
            </a:r>
          </a:p>
        </p:txBody>
      </p:sp>
      <p:sp>
        <p:nvSpPr>
          <p:cNvPr id="449" name="Google Shape;449;p18">
            <a:extLst xmlns:a="http://schemas.openxmlformats.org/drawingml/2006/main">
              <a:ext uri="{FF2B5EF4-FFF2-40B4-BE49-F238E27FC236}">
                <a16:creationId xmlns:a16="http://schemas.microsoft.com/office/drawing/2014/main" id="{DD863381-420E-49B6-B4C5-0F4491A4B9C3}"/>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The ladders meet at the top: coexistence itself, known and acted on in the core self, is felt as bliss — each lower pair, likewise, only when acted on, not merely known (§1.8, §1.13). MVD p. 11 · JV pp. 61, 120, 138 · MVD pp. 78, 101, 137</a:t>
            </a:r>
          </a:p>
        </p:txBody>
      </p:sp>
    </p:spTree>
    <p:extLst>
      <p:ext uri="{BB962C8B-B14F-4D97-AF65-F5344CB8AC3E}">
        <p14:creationId xmlns:p14="http://schemas.microsoft.com/office/powerpoint/2010/main" val="8958129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5" name="Google Shape;455;p19">
            <a:extLst xmlns:a="http://schemas.openxmlformats.org/drawingml/2006/main">
              <a:ext uri="{FF2B5EF4-FFF2-40B4-BE49-F238E27FC236}">
                <a16:creationId xmlns:a16="http://schemas.microsoft.com/office/drawing/2014/main" id="{3E44556F-FFAA-4364-9956-D48D6721E207}"/>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6" name="Google Shape;456;p19">
            <a:extLst xmlns:a="http://schemas.openxmlformats.org/drawingml/2006/main">
              <a:ext uri="{FF2B5EF4-FFF2-40B4-BE49-F238E27FC236}">
                <a16:creationId xmlns:a16="http://schemas.microsoft.com/office/drawing/2014/main" id="{E0CBC35E-C5A5-4B16-B492-57D972C51BD7}"/>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7" name="Google Shape;457;p19">
            <a:extLst xmlns:a="http://schemas.openxmlformats.org/drawingml/2006/main">
              <a:ext uri="{FF2B5EF4-FFF2-40B4-BE49-F238E27FC236}">
                <a16:creationId xmlns:a16="http://schemas.microsoft.com/office/drawing/2014/main" id="{AF54C0B0-85E4-49E9-83A7-627953121360}"/>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58" name="Google Shape;458;p19">
            <a:extLst xmlns:a="http://schemas.openxmlformats.org/drawingml/2006/main">
              <a:ext uri="{FF2B5EF4-FFF2-40B4-BE49-F238E27FC236}">
                <a16:creationId xmlns:a16="http://schemas.microsoft.com/office/drawing/2014/main" id="{813CFFAE-CAA3-4077-9EC7-EA57CEAA6AA3}"/>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§1.13 · WHERE THE DRIVE TERMINATES</a:t>
            </a:r>
          </a:p>
        </p:txBody>
      </p:sp>
      <p:sp>
        <p:nvSpPr>
          <p:cNvPr id="459" name="Google Shape;459;p19">
            <a:extLst xmlns:a="http://schemas.openxmlformats.org/drawingml/2006/main">
              <a:ext uri="{FF2B5EF4-FFF2-40B4-BE49-F238E27FC236}">
                <a16:creationId xmlns:a16="http://schemas.microsoft.com/office/drawing/2014/main" id="{2FB1F990-D58B-46C0-8D32-E6CFC49EA36A}"/>
              </a:ext>
            </a:extLst>
          </p:cNvPr>
          <p:cNvSpPr>
            <a:spLocks xmlns:a="http://schemas.openxmlformats.org/drawingml/2006/main" noGrp="1"/>
          </p:cNvSpPr>
          <p:nvPr/>
        </p:nvSpPr>
        <p:spPr>
          <a:xfrm xmlns:a="http://schemas.openxmlformats.org/drawingml/2006/main">
            <a:off x="960120" y="457200"/>
            <a:ext cx="77266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000" b="1" i="0" u="none" cap="none">
                <a:solidFill>
                  <a:srgbClr val="1E2447"/>
                </a:solidFill>
                <a:latin typeface="Cambria"/>
                <a:ea typeface="Cambria"/>
                <a:cs typeface="Cambria"/>
              </a:rPr>
              <a:t>Realisation in Coexistence</a:t>
            </a:r>
          </a:p>
        </p:txBody>
      </p:sp>
      <p:sp>
        <p:nvSpPr>
          <p:cNvPr id="460" name="Google Shape;460;p19">
            <a:extLst xmlns:a="http://schemas.openxmlformats.org/drawingml/2006/main">
              <a:ext uri="{FF2B5EF4-FFF2-40B4-BE49-F238E27FC236}">
                <a16:creationId xmlns:a16="http://schemas.microsoft.com/office/drawing/2014/main" id="{6EE567CB-C287-48F8-9DDE-9E207640CCD8}"/>
              </a:ext>
            </a:extLst>
          </p:cNvPr>
          <p:cNvSpPr>
            <a:spLocks xmlns:a="http://schemas.openxmlformats.org/drawingml/2006/main" noGrp="1"/>
          </p:cNvSpPr>
          <p:nvPr/>
        </p:nvSpPr>
        <p:spPr>
          <a:xfrm xmlns:a="http://schemas.openxmlformats.org/drawingml/2006/main">
            <a:off x="640080" y="1207008"/>
            <a:ext cx="7955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Realisation coordinates three distinct roles: jeevan remains the knower, existence as coexistence remains the known, and threefold knowledge becomes evident through humane conduct.</a:t>
            </a:r>
          </a:p>
        </p:txBody>
      </p:sp>
      <p:sp>
        <p:nvSpPr>
          <p:cNvPr id="461" name="Google Shape;461;p19">
            <a:extLst xmlns:a="http://schemas.openxmlformats.org/drawingml/2006/main">
              <a:ext uri="{FF2B5EF4-FFF2-40B4-BE49-F238E27FC236}">
                <a16:creationId xmlns:a16="http://schemas.microsoft.com/office/drawing/2014/main" id="{F107F107-EDBD-4B52-A84D-04C7F5B570EF}"/>
              </a:ext>
            </a:extLst>
          </p:cNvPr>
          <p:cNvSpPr>
            <a:spLocks xmlns:a="http://schemas.openxmlformats.org/drawingml/2006/main" noGrp="1"/>
          </p:cNvSpPr>
          <p:nvPr/>
        </p:nvSpPr>
        <p:spPr>
          <a:xfrm xmlns:a="http://schemas.openxmlformats.org/drawingml/2006/main">
            <a:off x="64008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2" name="Google Shape;462;p19">
            <a:extLst xmlns:a="http://schemas.openxmlformats.org/drawingml/2006/main">
              <a:ext uri="{FF2B5EF4-FFF2-40B4-BE49-F238E27FC236}">
                <a16:creationId xmlns:a16="http://schemas.microsoft.com/office/drawing/2014/main" id="{6AA0518B-C5E5-42E8-BE2D-A29138460050}"/>
              </a:ext>
            </a:extLst>
          </p:cNvPr>
          <p:cNvSpPr>
            <a:spLocks xmlns:a="http://schemas.openxmlformats.org/drawingml/2006/main" noGrp="1"/>
          </p:cNvSpPr>
          <p:nvPr/>
        </p:nvSpPr>
        <p:spPr>
          <a:xfrm xmlns:a="http://schemas.openxmlformats.org/drawingml/2006/main">
            <a:off x="84124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Realisation is bliss</a:t>
            </a:r>
          </a:p>
        </p:txBody>
      </p:sp>
      <p:sp>
        <p:nvSpPr>
          <p:cNvPr id="463" name="Google Shape;463;p19">
            <a:extLst xmlns:a="http://schemas.openxmlformats.org/drawingml/2006/main">
              <a:ext uri="{FF2B5EF4-FFF2-40B4-BE49-F238E27FC236}">
                <a16:creationId xmlns:a16="http://schemas.microsoft.com/office/drawing/2014/main" id="{63E107EF-D15F-4C4D-962F-F24AE958FBA5}"/>
              </a:ext>
            </a:extLst>
          </p:cNvPr>
          <p:cNvSpPr>
            <a:spLocks xmlns:a="http://schemas.openxmlformats.org/drawingml/2006/main" noGrp="1"/>
          </p:cNvSpPr>
          <p:nvPr/>
        </p:nvSpPr>
        <p:spPr>
          <a:xfrm xmlns:a="http://schemas.openxmlformats.org/drawingml/2006/main">
            <a:off x="84124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“Truth itself is abundance (coexistence), realisation of abundance itself is bliss, bliss itself is jeevan.” And it is knowledge itself: what is realised is the ground the unit was always soaked in.</a:t>
            </a:r>
          </a:p>
        </p:txBody>
      </p:sp>
      <p:sp>
        <p:nvSpPr>
          <p:cNvPr id="464" name="Google Shape;464;p19">
            <a:extLst xmlns:a="http://schemas.openxmlformats.org/drawingml/2006/main">
              <a:ext uri="{FF2B5EF4-FFF2-40B4-BE49-F238E27FC236}">
                <a16:creationId xmlns:a16="http://schemas.microsoft.com/office/drawing/2014/main" id="{9B7DE713-59AA-4F77-BCF0-01F9F20D9DC6}"/>
              </a:ext>
            </a:extLst>
          </p:cNvPr>
          <p:cNvSpPr>
            <a:spLocks xmlns:a="http://schemas.openxmlformats.org/drawingml/2006/main" noGrp="1"/>
          </p:cNvSpPr>
          <p:nvPr/>
        </p:nvSpPr>
        <p:spPr>
          <a:xfrm xmlns:a="http://schemas.openxmlformats.org/drawingml/2006/main">
            <a:off x="4709160" y="182880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5" name="Google Shape;465;p19">
            <a:extLst xmlns:a="http://schemas.openxmlformats.org/drawingml/2006/main">
              <a:ext uri="{FF2B5EF4-FFF2-40B4-BE49-F238E27FC236}">
                <a16:creationId xmlns:a16="http://schemas.microsoft.com/office/drawing/2014/main" id="{6669B3E0-2682-41FD-8EA3-7BED5ABE11C6}"/>
              </a:ext>
            </a:extLst>
          </p:cNvPr>
          <p:cNvSpPr>
            <a:spLocks xmlns:a="http://schemas.openxmlformats.org/drawingml/2006/main" noGrp="1"/>
          </p:cNvSpPr>
          <p:nvPr/>
        </p:nvSpPr>
        <p:spPr>
          <a:xfrm xmlns:a="http://schemas.openxmlformats.org/drawingml/2006/main">
            <a:off x="4910328" y="194767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Threefold knowledge</a:t>
            </a:r>
          </a:p>
        </p:txBody>
      </p:sp>
      <p:sp>
        <p:nvSpPr>
          <p:cNvPr id="466" name="Google Shape;466;p19">
            <a:extLst xmlns:a="http://schemas.openxmlformats.org/drawingml/2006/main">
              <a:ext uri="{FF2B5EF4-FFF2-40B4-BE49-F238E27FC236}">
                <a16:creationId xmlns:a16="http://schemas.microsoft.com/office/drawing/2014/main" id="{DD9A6462-D829-4777-9251-89B10AB3062A}"/>
              </a:ext>
            </a:extLst>
          </p:cNvPr>
          <p:cNvSpPr>
            <a:spLocks xmlns:a="http://schemas.openxmlformats.org/drawingml/2006/main" noGrp="1"/>
          </p:cNvSpPr>
          <p:nvPr/>
        </p:nvSpPr>
        <p:spPr>
          <a:xfrm xmlns:a="http://schemas.openxmlformats.org/drawingml/2006/main">
            <a:off x="4910328" y="228600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Knowledge comprises the holistic view of coexistence, knowledge of jeevan, and knowledge of humane conduct. Projection makes that understanding evident.</a:t>
            </a:r>
          </a:p>
        </p:txBody>
      </p:sp>
      <p:sp>
        <p:nvSpPr>
          <p:cNvPr id="467" name="Google Shape;467;p19">
            <a:extLst xmlns:a="http://schemas.openxmlformats.org/drawingml/2006/main">
              <a:ext uri="{FF2B5EF4-FFF2-40B4-BE49-F238E27FC236}">
                <a16:creationId xmlns:a16="http://schemas.microsoft.com/office/drawing/2014/main" id="{E49F4ECE-1C51-4ABF-94A7-4BCBD16AD234}"/>
              </a:ext>
            </a:extLst>
          </p:cNvPr>
          <p:cNvSpPr>
            <a:spLocks xmlns:a="http://schemas.openxmlformats.org/drawingml/2006/main" noGrp="1"/>
          </p:cNvSpPr>
          <p:nvPr/>
        </p:nvSpPr>
        <p:spPr>
          <a:xfrm xmlns:a="http://schemas.openxmlformats.org/drawingml/2006/main">
            <a:off x="640080" y="3246120"/>
            <a:ext cx="3794760" cy="1280160"/>
          </a:xfrm>
          <a:prstGeom xmlns:a="http://schemas.openxmlformats.org/drawingml/2006/main" prst="roundRect">
            <a:avLst>
              <a:gd name="adj" fmla="val 6429"/>
            </a:avLst>
          </a:prstGeom>
          <a:solidFill xmlns:a="http://schemas.openxmlformats.org/drawingml/2006/main">
            <a:srgbClr val="EEF1F8"/>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68" name="Google Shape;468;p19">
            <a:extLst xmlns:a="http://schemas.openxmlformats.org/drawingml/2006/main">
              <a:ext uri="{FF2B5EF4-FFF2-40B4-BE49-F238E27FC236}">
                <a16:creationId xmlns:a16="http://schemas.microsoft.com/office/drawing/2014/main" id="{AAA692A1-C1A4-4E3B-AC2E-F7715A43D49A}"/>
              </a:ext>
            </a:extLst>
          </p:cNvPr>
          <p:cNvSpPr>
            <a:spLocks xmlns:a="http://schemas.openxmlformats.org/drawingml/2006/main" noGrp="1"/>
          </p:cNvSpPr>
          <p:nvPr/>
        </p:nvSpPr>
        <p:spPr>
          <a:xfrm xmlns:a="http://schemas.openxmlformats.org/drawingml/2006/main">
            <a:off x="84124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1E2447"/>
                </a:solidFill>
                <a:latin typeface="Cambria"/>
                <a:ea typeface="Cambria"/>
                <a:cs typeface="Cambria"/>
              </a:rPr>
              <a:t>Knower — jeevan remains distinct</a:t>
            </a:r>
          </a:p>
        </p:txBody>
      </p:sp>
      <p:sp>
        <p:nvSpPr>
          <p:cNvPr id="469" name="Google Shape;469;p19">
            <a:extLst xmlns:a="http://schemas.openxmlformats.org/drawingml/2006/main">
              <a:ext uri="{FF2B5EF4-FFF2-40B4-BE49-F238E27FC236}">
                <a16:creationId xmlns:a16="http://schemas.microsoft.com/office/drawing/2014/main" id="{2AA0D1F9-639E-41C6-8731-561245861D25}"/>
              </a:ext>
            </a:extLst>
          </p:cNvPr>
          <p:cNvSpPr>
            <a:spLocks xmlns:a="http://schemas.openxmlformats.org/drawingml/2006/main" noGrp="1"/>
          </p:cNvSpPr>
          <p:nvPr/>
        </p:nvSpPr>
        <p:spPr>
          <a:xfrm xmlns:a="http://schemas.openxmlformats.org/drawingml/2006/main">
            <a:off x="84124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Jeevan remains the knower and seer. Realisation clarifies its own nature and the coexistence in which it participates; it does not dissolve the individual unit.</a:t>
            </a:r>
          </a:p>
        </p:txBody>
      </p:sp>
      <p:sp>
        <p:nvSpPr>
          <p:cNvPr id="470" name="Google Shape;470;p19">
            <a:extLst xmlns:a="http://schemas.openxmlformats.org/drawingml/2006/main">
              <a:ext uri="{FF2B5EF4-FFF2-40B4-BE49-F238E27FC236}">
                <a16:creationId xmlns:a16="http://schemas.microsoft.com/office/drawing/2014/main" id="{140FBD89-3074-4D13-ACCF-7077ED924DA2}"/>
              </a:ext>
            </a:extLst>
          </p:cNvPr>
          <p:cNvSpPr>
            <a:spLocks xmlns:a="http://schemas.openxmlformats.org/drawingml/2006/main" noGrp="1"/>
          </p:cNvSpPr>
          <p:nvPr/>
        </p:nvSpPr>
        <p:spPr>
          <a:xfrm xmlns:a="http://schemas.openxmlformats.org/drawingml/2006/main">
            <a:off x="4709160" y="3246120"/>
            <a:ext cx="3794760" cy="1280160"/>
          </a:xfrm>
          <a:prstGeom xmlns:a="http://schemas.openxmlformats.org/drawingml/2006/main" prst="roundRect">
            <a:avLst>
              <a:gd name="adj" fmla="val 6429"/>
            </a:avLst>
          </a:prstGeom>
          <a:solidFill xmlns:a="http://schemas.openxmlformats.org/drawingml/2006/main">
            <a:srgbClr val="FAF1DF"/>
          </a:solidFill>
          <a:ln xmlns:a="http://schemas.openxmlformats.org/drawingml/2006/main">
            <a:noFill/>
          </a:ln>
          <a:effectLst xmlns:a="http://schemas.openxmlformats.org/drawingml/2006/main">
            <a:outerShdw blurRad="88900" dist="25400" dir="2700000" algn="bl" rotWithShape="0">
              <a:srgbClr val="000000">
                <a:alpha val="1294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71" name="Google Shape;471;p19">
            <a:extLst xmlns:a="http://schemas.openxmlformats.org/drawingml/2006/main">
              <a:ext uri="{FF2B5EF4-FFF2-40B4-BE49-F238E27FC236}">
                <a16:creationId xmlns:a16="http://schemas.microsoft.com/office/drawing/2014/main" id="{5203715C-DC2E-49AC-BCE7-981AADCEE35F}"/>
              </a:ext>
            </a:extLst>
          </p:cNvPr>
          <p:cNvSpPr>
            <a:spLocks xmlns:a="http://schemas.openxmlformats.org/drawingml/2006/main" noGrp="1"/>
          </p:cNvSpPr>
          <p:nvPr/>
        </p:nvSpPr>
        <p:spPr>
          <a:xfrm xmlns:a="http://schemas.openxmlformats.org/drawingml/2006/main">
            <a:off x="4910328" y="3364992"/>
            <a:ext cx="34290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1" i="0" u="none" cap="none">
                <a:solidFill>
                  <a:srgbClr val="9A6414"/>
                </a:solidFill>
                <a:latin typeface="Cambria"/>
                <a:ea typeface="Cambria"/>
                <a:cs typeface="Cambria"/>
              </a:rPr>
              <a:t>Known — coexistence</a:t>
            </a:r>
          </a:p>
        </p:txBody>
      </p:sp>
      <p:sp>
        <p:nvSpPr>
          <p:cNvPr id="472" name="Google Shape;472;p19">
            <a:extLst xmlns:a="http://schemas.openxmlformats.org/drawingml/2006/main">
              <a:ext uri="{FF2B5EF4-FFF2-40B4-BE49-F238E27FC236}">
                <a16:creationId xmlns:a16="http://schemas.microsoft.com/office/drawing/2014/main" id="{F20FBC56-FA15-4946-8DF4-32B35010C829}"/>
              </a:ext>
            </a:extLst>
          </p:cNvPr>
          <p:cNvSpPr>
            <a:spLocks xmlns:a="http://schemas.openxmlformats.org/drawingml/2006/main" noGrp="1"/>
          </p:cNvSpPr>
          <p:nvPr/>
        </p:nvSpPr>
        <p:spPr>
          <a:xfrm xmlns:a="http://schemas.openxmlformats.org/drawingml/2006/main">
            <a:off x="4910328" y="3703320"/>
            <a:ext cx="342900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30" b="0" i="0" u="none" cap="none">
                <a:solidFill>
                  <a:srgbClr val="5A6377"/>
                </a:solidFill>
                <a:latin typeface="Calibri"/>
                <a:ea typeface="Calibri"/>
                <a:cs typeface="Calibri"/>
              </a:rPr>
              <a:t>The known is existence as coexistence: Omnipresence and real units in mutuality. Knowledge, knower, and known become coherent without becoming identical.</a:t>
            </a:r>
          </a:p>
        </p:txBody>
      </p:sp>
      <p:sp>
        <p:nvSpPr>
          <p:cNvPr id="473" name="Google Shape;473;p19">
            <a:extLst xmlns:a="http://schemas.openxmlformats.org/drawingml/2006/main">
              <a:ext uri="{FF2B5EF4-FFF2-40B4-BE49-F238E27FC236}">
                <a16:creationId xmlns:a16="http://schemas.microsoft.com/office/drawing/2014/main" id="{0FDD0BB2-3B78-4E4C-9098-645E557571F6}"/>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 SB p. 81 (realisation and authenticity)  ·  SB p. 116; MVD p. 126 (threefold knowledge)  ·  KD §§3.17–3.18 (knowledge, knower, known)</a:t>
            </a:r>
          </a:p>
        </p:txBody>
      </p:sp>
    </p:spTree>
    <p:extLst>
      <p:ext uri="{BB962C8B-B14F-4D97-AF65-F5344CB8AC3E}">
        <p14:creationId xmlns:p14="http://schemas.microsoft.com/office/powerpoint/2010/main" val="426036076"/>
      </p:ext>
    </p:extLst>
  </p:cSld>
</p:sld>
</file>

<file path=ppt/slides/slide26.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509" name="Google Shape;509;p21">
            <a:extLst xmlns:a="http://schemas.openxmlformats.org/drawingml/2006/main">
              <a:ext uri="{FF2B5EF4-FFF2-40B4-BE49-F238E27FC236}">
                <a16:creationId xmlns:a16="http://schemas.microsoft.com/office/drawing/2014/main" id="{EF575E94-D49B-4B8D-8EE0-5306E7205D35}"/>
              </a:ext>
            </a:extLst>
          </p:cNvPr>
          <p:cNvSpPr>
            <a:spLocks xmlns:a="http://schemas.openxmlformats.org/drawingml/2006/main" noGrp="1"/>
          </p:cNvSpPr>
          <p:nvPr/>
        </p:nvSpPr>
        <p:spPr>
          <a:xfrm xmlns:a="http://schemas.openxmlformats.org/drawingml/2006/main">
            <a:off x="5852160" y="822960"/>
            <a:ext cx="3291840" cy="3291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0" name="Google Shape;510;p21">
            <a:extLst xmlns:a="http://schemas.openxmlformats.org/drawingml/2006/main">
              <a:ext uri="{FF2B5EF4-FFF2-40B4-BE49-F238E27FC236}">
                <a16:creationId xmlns:a16="http://schemas.microsoft.com/office/drawing/2014/main" id="{5B88FBC8-D433-4F9A-8C53-B0C14519A897}"/>
              </a:ext>
            </a:extLst>
          </p:cNvPr>
          <p:cNvSpPr>
            <a:spLocks xmlns:a="http://schemas.openxmlformats.org/drawingml/2006/main" noGrp="1"/>
          </p:cNvSpPr>
          <p:nvPr/>
        </p:nvSpPr>
        <p:spPr>
          <a:xfrm xmlns:a="http://schemas.openxmlformats.org/drawingml/2006/main">
            <a:off x="6510528" y="1481328"/>
            <a:ext cx="1975104" cy="19751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1" name="Google Shape;511;p21">
            <a:extLst xmlns:a="http://schemas.openxmlformats.org/drawingml/2006/main">
              <a:ext uri="{FF2B5EF4-FFF2-40B4-BE49-F238E27FC236}">
                <a16:creationId xmlns:a16="http://schemas.microsoft.com/office/drawing/2014/main" id="{1575D4BC-1336-4A37-AF26-1F5F33D09DE0}"/>
              </a:ext>
            </a:extLst>
          </p:cNvPr>
          <p:cNvSpPr>
            <a:spLocks xmlns:a="http://schemas.openxmlformats.org/drawingml/2006/main" noGrp="1"/>
          </p:cNvSpPr>
          <p:nvPr/>
        </p:nvSpPr>
        <p:spPr>
          <a:xfrm xmlns:a="http://schemas.openxmlformats.org/drawingml/2006/main">
            <a:off x="7070141" y="2040941"/>
            <a:ext cx="855878" cy="85587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2" name="Google Shape;512;p21">
            <a:extLst xmlns:a="http://schemas.openxmlformats.org/drawingml/2006/main">
              <a:ext uri="{FF2B5EF4-FFF2-40B4-BE49-F238E27FC236}">
                <a16:creationId xmlns:a16="http://schemas.microsoft.com/office/drawing/2014/main" id="{F6651BC1-ADBC-471F-9055-FAC10F3F2876}"/>
              </a:ext>
            </a:extLst>
          </p:cNvPr>
          <p:cNvSpPr>
            <a:spLocks xmlns:a="http://schemas.openxmlformats.org/drawingml/2006/main" noGrp="1"/>
          </p:cNvSpPr>
          <p:nvPr/>
        </p:nvSpPr>
        <p:spPr>
          <a:xfrm xmlns:a="http://schemas.openxmlformats.org/drawingml/2006/main">
            <a:off x="5394960" y="3566160"/>
            <a:ext cx="1097280" cy="109728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3" name="Google Shape;513;p21">
            <a:extLst xmlns:a="http://schemas.openxmlformats.org/drawingml/2006/main">
              <a:ext uri="{FF2B5EF4-FFF2-40B4-BE49-F238E27FC236}">
                <a16:creationId xmlns:a16="http://schemas.microsoft.com/office/drawing/2014/main" id="{C059B4F9-7CFE-41C1-BAB7-147B1E13BBBA}"/>
              </a:ext>
            </a:extLst>
          </p:cNvPr>
          <p:cNvSpPr>
            <a:spLocks xmlns:a="http://schemas.openxmlformats.org/drawingml/2006/main" noGrp="1"/>
          </p:cNvSpPr>
          <p:nvPr/>
        </p:nvSpPr>
        <p:spPr>
          <a:xfrm xmlns:a="http://schemas.openxmlformats.org/drawingml/2006/main">
            <a:off x="5614416" y="3785616"/>
            <a:ext cx="658368" cy="658368"/>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4" name="Google Shape;514;p21">
            <a:extLst xmlns:a="http://schemas.openxmlformats.org/drawingml/2006/main">
              <a:ext uri="{FF2B5EF4-FFF2-40B4-BE49-F238E27FC236}">
                <a16:creationId xmlns:a16="http://schemas.microsoft.com/office/drawing/2014/main" id="{F3360809-D0D7-419D-B3B9-8923367EBD77}"/>
              </a:ext>
            </a:extLst>
          </p:cNvPr>
          <p:cNvSpPr>
            <a:spLocks xmlns:a="http://schemas.openxmlformats.org/drawingml/2006/main" noGrp="1"/>
          </p:cNvSpPr>
          <p:nvPr/>
        </p:nvSpPr>
        <p:spPr>
          <a:xfrm xmlns:a="http://schemas.openxmlformats.org/drawingml/2006/main">
            <a:off x="5800954" y="3972154"/>
            <a:ext cx="285293" cy="285293"/>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5" name="Google Shape;515;p21">
            <a:extLst xmlns:a="http://schemas.openxmlformats.org/drawingml/2006/main">
              <a:ext uri="{FF2B5EF4-FFF2-40B4-BE49-F238E27FC236}">
                <a16:creationId xmlns:a16="http://schemas.microsoft.com/office/drawing/2014/main" id="{D3AC2483-1899-40DF-A84D-0DE15B3AEFB2}"/>
              </a:ext>
            </a:extLst>
          </p:cNvPr>
          <p:cNvSpPr>
            <a:spLocks xmlns:a="http://schemas.openxmlformats.org/drawingml/2006/main" noGrp="1"/>
          </p:cNvSpPr>
          <p:nvPr/>
        </p:nvSpPr>
        <p:spPr>
          <a:xfrm xmlns:a="http://schemas.openxmlformats.org/drawingml/2006/main">
            <a:off x="8138160" y="4023360"/>
            <a:ext cx="731520" cy="73152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6" name="Google Shape;516;p21">
            <a:extLst xmlns:a="http://schemas.openxmlformats.org/drawingml/2006/main">
              <a:ext uri="{FF2B5EF4-FFF2-40B4-BE49-F238E27FC236}">
                <a16:creationId xmlns:a16="http://schemas.microsoft.com/office/drawing/2014/main" id="{ABF710EB-4EF3-42A6-B560-F90A523A0850}"/>
              </a:ext>
            </a:extLst>
          </p:cNvPr>
          <p:cNvSpPr>
            <a:spLocks xmlns:a="http://schemas.openxmlformats.org/drawingml/2006/main" noGrp="1"/>
          </p:cNvSpPr>
          <p:nvPr/>
        </p:nvSpPr>
        <p:spPr>
          <a:xfrm xmlns:a="http://schemas.openxmlformats.org/drawingml/2006/main">
            <a:off x="8284464" y="4169664"/>
            <a:ext cx="438912" cy="438912"/>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7" name="Google Shape;517;p21">
            <a:extLst xmlns:a="http://schemas.openxmlformats.org/drawingml/2006/main">
              <a:ext uri="{FF2B5EF4-FFF2-40B4-BE49-F238E27FC236}">
                <a16:creationId xmlns:a16="http://schemas.microsoft.com/office/drawing/2014/main" id="{0C86002D-62CB-4B43-92C3-F2261FFFB582}"/>
              </a:ext>
            </a:extLst>
          </p:cNvPr>
          <p:cNvSpPr>
            <a:spLocks xmlns:a="http://schemas.openxmlformats.org/drawingml/2006/main" noGrp="1"/>
          </p:cNvSpPr>
          <p:nvPr/>
        </p:nvSpPr>
        <p:spPr>
          <a:xfrm xmlns:a="http://schemas.openxmlformats.org/drawingml/2006/main">
            <a:off x="8408822" y="4294022"/>
            <a:ext cx="190195" cy="190195"/>
          </a:xfrm>
          <a:prstGeom xmlns:a="http://schemas.openxmlformats.org/drawingml/2006/main" prst="ellipse">
            <a:avLst/>
          </a:prstGeom>
          <a:solidFill xmlns:a="http://schemas.openxmlformats.org/drawingml/2006/main">
            <a:srgbClr val="C9D4E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18" name="Google Shape;518;p21">
            <a:extLst xmlns:a="http://schemas.openxmlformats.org/drawingml/2006/main">
              <a:ext uri="{FF2B5EF4-FFF2-40B4-BE49-F238E27FC236}">
                <a16:creationId xmlns:a16="http://schemas.microsoft.com/office/drawing/2014/main" id="{796E9457-5CA1-420F-9E22-C4C9CF41A3A7}"/>
              </a:ext>
            </a:extLst>
          </p:cNvPr>
          <p:cNvSpPr>
            <a:spLocks xmlns:a="http://schemas.openxmlformats.org/drawingml/2006/main" noGrp="1"/>
          </p:cNvSpPr>
          <p:nvPr/>
        </p:nvSpPr>
        <p:spPr>
          <a:xfrm xmlns:a="http://schemas.openxmlformats.org/drawingml/2006/main">
            <a:off x="640080" y="1234440"/>
            <a:ext cx="58521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THE CULMINATION  ·  BUILT INTO THE DESIGN</a:t>
            </a:r>
          </a:p>
        </p:txBody>
      </p:sp>
      <p:sp>
        <p:nvSpPr>
          <p:cNvPr id="519" name="Google Shape;519;p21">
            <a:extLst xmlns:a="http://schemas.openxmlformats.org/drawingml/2006/main">
              <a:ext uri="{FF2B5EF4-FFF2-40B4-BE49-F238E27FC236}">
                <a16:creationId xmlns:a16="http://schemas.microsoft.com/office/drawing/2014/main" id="{752F13C5-E89B-45E4-A048-FAF000A1F693}"/>
              </a:ext>
            </a:extLst>
          </p:cNvPr>
          <p:cNvSpPr>
            <a:spLocks xmlns:a="http://schemas.openxmlformats.org/drawingml/2006/main" noGrp="1"/>
          </p:cNvSpPr>
          <p:nvPr/>
        </p:nvSpPr>
        <p:spPr>
          <a:xfrm xmlns:a="http://schemas.openxmlformats.org/drawingml/2006/main">
            <a:off x="640080" y="1572768"/>
            <a:ext cx="5577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4400" b="1" i="0" u="none" cap="none">
                <a:solidFill>
                  <a:srgbClr val="FFFFFF"/>
                </a:solidFill>
                <a:latin typeface="Cambria"/>
                <a:ea typeface="Cambria"/>
                <a:cs typeface="Cambria"/>
              </a:rPr>
              <a:t>An Awakened Human Tradition</a:t>
            </a:r>
          </a:p>
        </p:txBody>
      </p:sp>
      <p:sp>
        <p:nvSpPr>
          <p:cNvPr id="520" name="Google Shape;520;p21">
            <a:extLst xmlns:a="http://schemas.openxmlformats.org/drawingml/2006/main">
              <a:ext uri="{FF2B5EF4-FFF2-40B4-BE49-F238E27FC236}">
                <a16:creationId xmlns:a16="http://schemas.microsoft.com/office/drawing/2014/main" id="{DB2CDE66-AE92-4A63-A7C0-7FB35517F5EC}"/>
              </a:ext>
            </a:extLst>
          </p:cNvPr>
          <p:cNvSpPr>
            <a:spLocks xmlns:a="http://schemas.openxmlformats.org/drawingml/2006/main" noGrp="1"/>
          </p:cNvSpPr>
          <p:nvPr/>
        </p:nvSpPr>
        <p:spPr>
          <a:xfrm xmlns:a="http://schemas.openxmlformats.org/drawingml/2006/main">
            <a:off x="640080" y="3050000"/>
            <a:ext cx="512064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b="0" i="1" u="none" cap="none">
                <a:solidFill>
                  <a:srgbClr val="C9D4EF"/>
                </a:solidFill>
                <a:latin typeface="Calibri"/>
                <a:ea typeface="Calibri"/>
                <a:cs typeface="Calibri"/>
              </a:rPr>
              <a:t>The drive toward completeness comes to rest in awakened human beings — effort settled, understanding proven in daily conduct and sustained as tradition.</a:t>
            </a:r>
          </a:p>
        </p:txBody>
      </p:sp>
      <p:sp>
        <p:nvSpPr>
          <p:cNvPr id="600" name="Google Shape;600;p21">
            <a:extLst xmlns:a="http://schemas.openxmlformats.org/drawingml/2006/main">
              <a:ext uri="{FF2B5EF4-FFF2-40B4-BE49-F238E27FC236}">
                <a16:creationId xmlns:a16="http://schemas.microsoft.com/office/drawing/2014/main" id="{DD3901F6-8036-43ED-803F-43248530CCD2}"/>
              </a:ext>
            </a:extLst>
          </p:cNvPr>
          <p:cNvSpPr>
            <a:spLocks xmlns:a="http://schemas.openxmlformats.org/drawingml/2006/main" noGrp="1"/>
          </p:cNvSpPr>
          <p:nvPr/>
        </p:nvSpPr>
        <p:spPr>
          <a:xfrm xmlns:a="http://schemas.openxmlformats.org/drawingml/2006/main">
            <a:off x="64008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1" name="Google Shape;601;p21">
            <a:extLst xmlns:a="http://schemas.openxmlformats.org/drawingml/2006/main">
              <a:ext uri="{FF2B5EF4-FFF2-40B4-BE49-F238E27FC236}">
                <a16:creationId xmlns:a16="http://schemas.microsoft.com/office/drawing/2014/main" id="{7F1489A9-BB77-4837-93F1-47E7AC9BE4D2}"/>
              </a:ext>
            </a:extLst>
          </p:cNvPr>
          <p:cNvSpPr>
            <a:spLocks xmlns:a="http://schemas.openxmlformats.org/drawingml/2006/main" noGrp="1"/>
          </p:cNvSpPr>
          <p:nvPr/>
        </p:nvSpPr>
        <p:spPr>
          <a:xfrm xmlns:a="http://schemas.openxmlformats.org/drawingml/2006/main">
            <a:off x="72237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Resolution</a:t>
            </a:r>
          </a:p>
        </p:txBody>
      </p:sp>
      <p:sp>
        <p:nvSpPr>
          <p:cNvPr id="602" name="Google Shape;602;p21">
            <a:extLst xmlns:a="http://schemas.openxmlformats.org/drawingml/2006/main">
              <a:ext uri="{FF2B5EF4-FFF2-40B4-BE49-F238E27FC236}">
                <a16:creationId xmlns:a16="http://schemas.microsoft.com/office/drawing/2014/main" id="{DE4B8FF9-4927-4F34-9EB8-854606C66C6A}"/>
              </a:ext>
            </a:extLst>
          </p:cNvPr>
          <p:cNvSpPr>
            <a:spLocks xmlns:a="http://schemas.openxmlformats.org/drawingml/2006/main" noGrp="1"/>
          </p:cNvSpPr>
          <p:nvPr/>
        </p:nvSpPr>
        <p:spPr>
          <a:xfrm xmlns:a="http://schemas.openxmlformats.org/drawingml/2006/main">
            <a:off x="72237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in every person</a:t>
            </a:r>
          </a:p>
        </p:txBody>
      </p:sp>
      <p:sp>
        <p:nvSpPr>
          <p:cNvPr id="603" name="Google Shape;603;p21">
            <a:extLst xmlns:a="http://schemas.openxmlformats.org/drawingml/2006/main">
              <a:ext uri="{FF2B5EF4-FFF2-40B4-BE49-F238E27FC236}">
                <a16:creationId xmlns:a16="http://schemas.microsoft.com/office/drawing/2014/main" id="{BE616FF1-9158-489A-8FCF-45CB660339C5}"/>
              </a:ext>
            </a:extLst>
          </p:cNvPr>
          <p:cNvSpPr>
            <a:spLocks xmlns:a="http://schemas.openxmlformats.org/drawingml/2006/main" noGrp="1"/>
          </p:cNvSpPr>
          <p:nvPr/>
        </p:nvSpPr>
        <p:spPr>
          <a:xfrm xmlns:a="http://schemas.openxmlformats.org/drawingml/2006/main">
            <a:off x="184880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4" name="Google Shape;604;p21">
            <a:extLst xmlns:a="http://schemas.openxmlformats.org/drawingml/2006/main">
              <a:ext uri="{FF2B5EF4-FFF2-40B4-BE49-F238E27FC236}">
                <a16:creationId xmlns:a16="http://schemas.microsoft.com/office/drawing/2014/main" id="{CD8A7FC8-77CA-4182-A2CB-C0DEE667FC5C}"/>
              </a:ext>
            </a:extLst>
          </p:cNvPr>
          <p:cNvSpPr>
            <a:spLocks xmlns:a="http://schemas.openxmlformats.org/drawingml/2006/main" noGrp="1"/>
          </p:cNvSpPr>
          <p:nvPr/>
        </p:nvSpPr>
        <p:spPr>
          <a:xfrm xmlns:a="http://schemas.openxmlformats.org/drawingml/2006/main">
            <a:off x="193109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Prosperity</a:t>
            </a:r>
          </a:p>
        </p:txBody>
      </p:sp>
      <p:sp>
        <p:nvSpPr>
          <p:cNvPr id="605" name="Google Shape;605;p21">
            <a:extLst xmlns:a="http://schemas.openxmlformats.org/drawingml/2006/main">
              <a:ext uri="{FF2B5EF4-FFF2-40B4-BE49-F238E27FC236}">
                <a16:creationId xmlns:a16="http://schemas.microsoft.com/office/drawing/2014/main" id="{973106BD-4925-429D-9B6B-2AD26325A283}"/>
              </a:ext>
            </a:extLst>
          </p:cNvPr>
          <p:cNvSpPr>
            <a:spLocks xmlns:a="http://schemas.openxmlformats.org/drawingml/2006/main" noGrp="1"/>
          </p:cNvSpPr>
          <p:nvPr/>
        </p:nvSpPr>
        <p:spPr>
          <a:xfrm xmlns:a="http://schemas.openxmlformats.org/drawingml/2006/main">
            <a:off x="193109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in every family</a:t>
            </a:r>
          </a:p>
        </p:txBody>
      </p:sp>
      <p:sp>
        <p:nvSpPr>
          <p:cNvPr id="606" name="Google Shape;606;p21">
            <a:extLst xmlns:a="http://schemas.openxmlformats.org/drawingml/2006/main">
              <a:ext uri="{FF2B5EF4-FFF2-40B4-BE49-F238E27FC236}">
                <a16:creationId xmlns:a16="http://schemas.microsoft.com/office/drawing/2014/main" id="{A5599050-D210-47C8-B146-6B5A24A94729}"/>
              </a:ext>
            </a:extLst>
          </p:cNvPr>
          <p:cNvSpPr>
            <a:spLocks xmlns:a="http://schemas.openxmlformats.org/drawingml/2006/main" noGrp="1"/>
          </p:cNvSpPr>
          <p:nvPr/>
        </p:nvSpPr>
        <p:spPr>
          <a:xfrm xmlns:a="http://schemas.openxmlformats.org/drawingml/2006/main">
            <a:off x="305752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07" name="Google Shape;607;p21">
            <a:extLst xmlns:a="http://schemas.openxmlformats.org/drawingml/2006/main">
              <a:ext uri="{FF2B5EF4-FFF2-40B4-BE49-F238E27FC236}">
                <a16:creationId xmlns:a16="http://schemas.microsoft.com/office/drawing/2014/main" id="{46D221E2-C857-412B-B8CB-226B70E4606D}"/>
              </a:ext>
            </a:extLst>
          </p:cNvPr>
          <p:cNvSpPr>
            <a:spLocks xmlns:a="http://schemas.openxmlformats.org/drawingml/2006/main" noGrp="1"/>
          </p:cNvSpPr>
          <p:nvPr/>
        </p:nvSpPr>
        <p:spPr>
          <a:xfrm xmlns:a="http://schemas.openxmlformats.org/drawingml/2006/main">
            <a:off x="313981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Fearlessness</a:t>
            </a:r>
          </a:p>
        </p:txBody>
      </p:sp>
      <p:sp>
        <p:nvSpPr>
          <p:cNvPr id="608" name="Google Shape;608;p21">
            <a:extLst xmlns:a="http://schemas.openxmlformats.org/drawingml/2006/main">
              <a:ext uri="{FF2B5EF4-FFF2-40B4-BE49-F238E27FC236}">
                <a16:creationId xmlns:a16="http://schemas.microsoft.com/office/drawing/2014/main" id="{B4C3ADBE-52C4-434E-BF82-608CEA945F02}"/>
              </a:ext>
            </a:extLst>
          </p:cNvPr>
          <p:cNvSpPr>
            <a:spLocks xmlns:a="http://schemas.openxmlformats.org/drawingml/2006/main" noGrp="1"/>
          </p:cNvSpPr>
          <p:nvPr/>
        </p:nvSpPr>
        <p:spPr>
          <a:xfrm xmlns:a="http://schemas.openxmlformats.org/drawingml/2006/main">
            <a:off x="313981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trust in society</a:t>
            </a:r>
          </a:p>
        </p:txBody>
      </p:sp>
      <p:sp>
        <p:nvSpPr>
          <p:cNvPr id="609" name="Google Shape;609;p21">
            <a:extLst xmlns:a="http://schemas.openxmlformats.org/drawingml/2006/main">
              <a:ext uri="{FF2B5EF4-FFF2-40B4-BE49-F238E27FC236}">
                <a16:creationId xmlns:a16="http://schemas.microsoft.com/office/drawing/2014/main" id="{058120C0-5891-4799-A00C-98C62F5482A3}"/>
              </a:ext>
            </a:extLst>
          </p:cNvPr>
          <p:cNvSpPr>
            <a:spLocks xmlns:a="http://schemas.openxmlformats.org/drawingml/2006/main" noGrp="1"/>
          </p:cNvSpPr>
          <p:nvPr/>
        </p:nvSpPr>
        <p:spPr>
          <a:xfrm xmlns:a="http://schemas.openxmlformats.org/drawingml/2006/main">
            <a:off x="4266240" y="3820000"/>
            <a:ext cx="1128720" cy="750000"/>
          </a:xfrm>
          <a:prstGeom xmlns:a="http://schemas.openxmlformats.org/drawingml/2006/main" prst="roundRect">
            <a:avLst>
              <a:gd name="adj" fmla="val 8696"/>
            </a:avLst>
          </a:prstGeom>
          <a:solidFill xmlns:a="http://schemas.openxmlformats.org/drawingml/2006/main">
            <a:srgbClr val="3B4A7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610" name="Google Shape;610;p21">
            <a:extLst xmlns:a="http://schemas.openxmlformats.org/drawingml/2006/main">
              <a:ext uri="{FF2B5EF4-FFF2-40B4-BE49-F238E27FC236}">
                <a16:creationId xmlns:a16="http://schemas.microsoft.com/office/drawing/2014/main" id="{A9DD251C-A703-4D42-8F17-67F6E19B7FA0}"/>
              </a:ext>
            </a:extLst>
          </p:cNvPr>
          <p:cNvSpPr>
            <a:spLocks xmlns:a="http://schemas.openxmlformats.org/drawingml/2006/main" noGrp="1"/>
          </p:cNvSpPr>
          <p:nvPr/>
        </p:nvSpPr>
        <p:spPr>
          <a:xfrm xmlns:a="http://schemas.openxmlformats.org/drawingml/2006/main">
            <a:off x="4348536" y="3902296"/>
            <a:ext cx="964128"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FFFFFF"/>
                </a:solidFill>
                <a:latin typeface="Cambria"/>
                <a:ea typeface="Cambria"/>
                <a:cs typeface="Cambria"/>
              </a:rPr>
              <a:t>Coexistence</a:t>
            </a:r>
          </a:p>
        </p:txBody>
      </p:sp>
      <p:sp>
        <p:nvSpPr>
          <p:cNvPr id="611" name="Google Shape;611;p21">
            <a:extLst xmlns:a="http://schemas.openxmlformats.org/drawingml/2006/main">
              <a:ext uri="{FF2B5EF4-FFF2-40B4-BE49-F238E27FC236}">
                <a16:creationId xmlns:a16="http://schemas.microsoft.com/office/drawing/2014/main" id="{AD69A8F9-077C-48D3-AA57-9B1F73B65A59}"/>
              </a:ext>
            </a:extLst>
          </p:cNvPr>
          <p:cNvSpPr>
            <a:spLocks xmlns:a="http://schemas.openxmlformats.org/drawingml/2006/main" noGrp="1"/>
          </p:cNvSpPr>
          <p:nvPr/>
        </p:nvSpPr>
        <p:spPr>
          <a:xfrm xmlns:a="http://schemas.openxmlformats.org/drawingml/2006/main">
            <a:off x="4348536" y="4222296"/>
            <a:ext cx="964128" cy="2654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900" b="0" i="1" u="none" cap="none">
                <a:solidFill>
                  <a:srgbClr val="C9D4EF"/>
                </a:solidFill>
                <a:latin typeface="Calibri"/>
                <a:ea typeface="Calibri"/>
                <a:cs typeface="Calibri"/>
              </a:rPr>
              <a:t>with all of nature</a:t>
            </a:r>
          </a:p>
        </p:txBody>
      </p:sp>
      <p:sp>
        <p:nvSpPr>
          <p:cNvPr id="522" name="Google Shape;522;p21">
            <a:extLst xmlns:a="http://schemas.openxmlformats.org/drawingml/2006/main">
              <a:ext uri="{FF2B5EF4-FFF2-40B4-BE49-F238E27FC236}">
                <a16:creationId xmlns:a16="http://schemas.microsoft.com/office/drawing/2014/main" id="{C68915DF-AED4-4750-935D-0C5066DF5744}"/>
              </a:ext>
            </a:extLst>
          </p:cNvPr>
          <p:cNvSpPr>
            <a:spLocks xmlns:a="http://schemas.openxmlformats.org/drawingml/2006/main" noGrp="1"/>
          </p:cNvSpPr>
          <p:nvPr/>
        </p:nvSpPr>
        <p:spPr>
          <a:xfrm xmlns:a="http://schemas.openxmlformats.org/drawingml/2006/main">
            <a:off x="640080" y="4663440"/>
            <a:ext cx="8001000"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50" b="0" i="0" u="none" cap="none">
                <a:solidFill>
                  <a:srgbClr val="8E9BC4"/>
                </a:solidFill>
                <a:latin typeface="Calibri"/>
                <a:ea typeface="Calibri"/>
                <a:cs typeface="Calibri"/>
              </a:rPr>
              <a:t>Five dimensions of continuity: education–sanskar · justice–preservation · health–restraint · production–work · exchange–storage.  ·  Families and societies are relational achievements, not a further compositional tier (§1.10).</a:t>
            </a:r>
          </a:p>
        </p:txBody>
      </p:sp>
    </p:spTree>
    <p:extLst>
      <p:ext uri="{BB962C8B-B14F-4D97-AF65-F5344CB8AC3E}">
        <p14:creationId xmlns:p14="http://schemas.microsoft.com/office/powerpoint/2010/main" val="2228546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4" name="Google Shape;404;p17">
            <a:extLst xmlns:a="http://schemas.openxmlformats.org/drawingml/2006/main">
              <a:ext uri="{FF2B5EF4-FFF2-40B4-BE49-F238E27FC236}">
                <a16:creationId xmlns:a16="http://schemas.microsoft.com/office/drawing/2014/main" id="{A6DECDBA-1BF0-46C6-9FE2-83FA2D3F7263}"/>
              </a:ext>
            </a:extLst>
          </p:cNvPr>
          <p:cNvSpPr>
            <a:spLocks xmlns:a="http://schemas.openxmlformats.org/drawingml/2006/main" noGrp="1"/>
          </p:cNvSpPr>
          <p:nvPr/>
        </p:nvSpPr>
        <p:spPr>
          <a:xfrm xmlns:a="http://schemas.openxmlformats.org/drawingml/2006/main">
            <a:off x="457200" y="384048"/>
            <a:ext cx="365760" cy="365760"/>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05" name="Google Shape;405;p17">
            <a:extLst xmlns:a="http://schemas.openxmlformats.org/drawingml/2006/main">
              <a:ext uri="{FF2B5EF4-FFF2-40B4-BE49-F238E27FC236}">
                <a16:creationId xmlns:a16="http://schemas.microsoft.com/office/drawing/2014/main" id="{648CB187-D686-4707-81B7-2A5DDB05B039}"/>
              </a:ext>
            </a:extLst>
          </p:cNvPr>
          <p:cNvSpPr>
            <a:spLocks xmlns:a="http://schemas.openxmlformats.org/drawingml/2006/main" noGrp="1"/>
          </p:cNvSpPr>
          <p:nvPr/>
        </p:nvSpPr>
        <p:spPr>
          <a:xfrm xmlns:a="http://schemas.openxmlformats.org/drawingml/2006/main">
            <a:off x="530352" y="457200"/>
            <a:ext cx="219456" cy="219456"/>
          </a:xfrm>
          <a:prstGeom xmlns:a="http://schemas.openxmlformats.org/drawingml/2006/main" prst="ellipse">
            <a:avLst/>
          </a:prstGeom>
          <a:noFill xmlns:a="http://schemas.openxmlformats.org/drawingml/2006/main"/>
          <a:ln xmlns:a="http://schemas.openxmlformats.org/drawingml/2006/main" w="15875" cmpd="sng">
            <a:solidFill>
              <a:srgbClr val="3B4A7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06" name="Google Shape;406;p17">
            <a:extLst xmlns:a="http://schemas.openxmlformats.org/drawingml/2006/main">
              <a:ext uri="{FF2B5EF4-FFF2-40B4-BE49-F238E27FC236}">
                <a16:creationId xmlns:a16="http://schemas.microsoft.com/office/drawing/2014/main" id="{50E4A58E-1CD0-4392-97C8-B28C827C922D}"/>
              </a:ext>
            </a:extLst>
          </p:cNvPr>
          <p:cNvSpPr>
            <a:spLocks xmlns:a="http://schemas.openxmlformats.org/drawingml/2006/main" noGrp="1"/>
          </p:cNvSpPr>
          <p:nvPr/>
        </p:nvSpPr>
        <p:spPr>
          <a:xfrm xmlns:a="http://schemas.openxmlformats.org/drawingml/2006/main">
            <a:off x="592531" y="519379"/>
            <a:ext cx="95098" cy="9509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07" name="Google Shape;407;p17">
            <a:extLst xmlns:a="http://schemas.openxmlformats.org/drawingml/2006/main">
              <a:ext uri="{FF2B5EF4-FFF2-40B4-BE49-F238E27FC236}">
                <a16:creationId xmlns:a16="http://schemas.microsoft.com/office/drawing/2014/main" id="{ABCABD93-5ECC-4E09-A1F4-B59974ABDDC6}"/>
              </a:ext>
            </a:extLst>
          </p:cNvPr>
          <p:cNvSpPr>
            <a:spLocks xmlns:a="http://schemas.openxmlformats.org/drawingml/2006/main" noGrp="1"/>
          </p:cNvSpPr>
          <p:nvPr/>
        </p:nvSpPr>
        <p:spPr>
          <a:xfrm xmlns:a="http://schemas.openxmlformats.org/drawingml/2006/main">
            <a:off x="960120" y="256032"/>
            <a:ext cx="768096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050" b="1" i="0" u="none" cap="none">
                <a:solidFill>
                  <a:srgbClr val="9A6414"/>
                </a:solidFill>
                <a:latin typeface="Calibri"/>
                <a:ea typeface="Calibri"/>
                <a:cs typeface="Calibri"/>
              </a:rPr>
              <a:t>§1.15–§1.16 · METHOD AND EVIDENCE</a:t>
            </a:r>
          </a:p>
        </p:txBody>
      </p:sp>
      <p:sp>
        <p:nvSpPr>
          <p:cNvPr id="408" name="Google Shape;408;p17">
            <a:extLst xmlns:a="http://schemas.openxmlformats.org/drawingml/2006/main">
              <a:ext uri="{FF2B5EF4-FFF2-40B4-BE49-F238E27FC236}">
                <a16:creationId xmlns:a16="http://schemas.microsoft.com/office/drawing/2014/main" id="{891800AA-488D-4489-98EB-8B606D13F3F3}"/>
              </a:ext>
            </a:extLst>
          </p:cNvPr>
          <p:cNvSpPr>
            <a:spLocks xmlns:a="http://schemas.openxmlformats.org/drawingml/2006/main" noGrp="1"/>
          </p:cNvSpPr>
          <p:nvPr/>
        </p:nvSpPr>
        <p:spPr>
          <a:xfrm xmlns:a="http://schemas.openxmlformats.org/drawingml/2006/main">
            <a:off x="960120" y="514350"/>
            <a:ext cx="772668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2550" b="1" i="0" u="none" cap="none">
                <a:solidFill>
                  <a:srgbClr val="1E2447"/>
                </a:solidFill>
                <a:latin typeface="Cambria"/>
                <a:ea typeface="Cambria"/>
                <a:cs typeface="Cambria"/>
              </a:rPr>
              <a:t>Different Methods Establish Different Things</a:t>
            </a:r>
          </a:p>
        </p:txBody>
      </p:sp>
      <p:sp>
        <p:nvSpPr>
          <p:cNvPr id="409" name="Google Shape;409;p17">
            <a:extLst xmlns:a="http://schemas.openxmlformats.org/drawingml/2006/main">
              <a:ext uri="{FF2B5EF4-FFF2-40B4-BE49-F238E27FC236}">
                <a16:creationId xmlns:a16="http://schemas.microsoft.com/office/drawing/2014/main" id="{76D228E5-3B3E-40F5-9DEF-B49F1687F3A7}"/>
              </a:ext>
            </a:extLst>
          </p:cNvPr>
          <p:cNvSpPr>
            <a:spLocks xmlns:a="http://schemas.openxmlformats.org/drawingml/2006/main" noGrp="1"/>
          </p:cNvSpPr>
          <p:nvPr/>
        </p:nvSpPr>
        <p:spPr>
          <a:xfrm xmlns:a="http://schemas.openxmlformats.org/drawingml/2006/main">
            <a:off x="640080" y="1234440"/>
            <a:ext cx="795528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50" b="0" i="0" u="none" cap="none">
                <a:solidFill>
                  <a:srgbClr val="5A6377"/>
                </a:solidFill>
                <a:latin typeface="Calibri"/>
                <a:ea typeface="Calibri"/>
                <a:cs typeface="Calibri"/>
              </a:rPr>
              <a:t>Madhyasth Darshan uses several modes of warrant. They can support one another, but they do not establish the same thing. Publicly measurable physical claims remain answerable to instrument-based scientific inquiry.</a:t>
            </a:r>
          </a:p>
        </p:txBody>
      </p:sp>
      <p:graphicFrame>
        <p:nvGraphicFramePr>
          <p:cNvPr id="421" name="Google Shape;410;p17"/>
          <p:cNvGraphicFramePr/>
          <p:nvPr/>
        </p:nvGraphicFramePr>
        <p:xfrm>
          <a:off xmlns:a="http://schemas.openxmlformats.org/drawingml/2006/main" x="640080" y="1965960"/>
          <a:ext xmlns:a="http://schemas.openxmlformats.org/drawingml/2006/main" cx="7863850" cy="1810525"/>
        </p:xfrm>
        <a:graphic xmlns:a="http://schemas.openxmlformats.org/drawingml/2006/main">
          <a:graphicData uri="http://schemas.openxmlformats.org/drawingml/2006/table">
            <a:tbl>
              <a:tblPr>
                <a:tableStyleId>{6C92A692-798E-4634-90B1-36CD3966BFCB}</a:tableStyleId>
              </a:tblPr>
              <a:tblGrid>
                <a:gridCol w="1554475"/>
                <a:gridCol w="3017525"/>
                <a:gridCol w="3291850"/>
              </a:tblGrid>
              <a:tr h="310900">
                <a:tc>
                  <a:txBody>
                    <a:bodyPr/>
                    <a:lstStyle/>
                    <a:p>
                      <a:pPr marL="0" indent="0" algn="l">
                        <a:buNone/>
                      </a:pPr>
                      <a:r>
                        <a:rPr sz="1080" b="1" u="none" cap="none">
                          <a:solidFill>
                            <a:srgbClr val="FFFFFF"/>
                          </a:solidFill>
                          <a:latin typeface="Calibri"/>
                          <a:ea typeface="Calibri"/>
                          <a:cs typeface="Calibri"/>
                        </a:rPr>
                        <a:t>Mode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080" b="1" u="none" cap="none">
                          <a:solidFill>
                            <a:srgbClr val="FFFFFF"/>
                          </a:solidFill>
                          <a:latin typeface="Calibri"/>
                          <a:ea typeface="Calibri"/>
                          <a:cs typeface="Calibri"/>
                        </a:rPr>
                        <a:t>Can establish</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c>
                  <a:txBody>
                    <a:bodyPr/>
                    <a:lstStyle/>
                    <a:p>
                      <a:pPr marL="0" indent="0" algn="l">
                        <a:buNone/>
                      </a:pPr>
                      <a:r>
                        <a:rPr sz="1080" b="1" u="none" cap="none">
                          <a:solidFill>
                            <a:srgbClr val="FFFFFF"/>
                          </a:solidFill>
                          <a:latin typeface="Calibri"/>
                          <a:ea typeface="Calibri"/>
                          <a:cs typeface="Calibri"/>
                        </a:rPr>
                        <a:t>Cannot establish alone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1E2447"/>
                    </a:solidFill>
                  </a:tcPr>
                </a:tc>
              </a:tr>
              <a:tr h="347475">
                <a:tc>
                  <a:txBody>
                    <a:bodyPr/>
                    <a:lstStyle/>
                    <a:p>
                      <a:pPr marL="0" indent="0" algn="l">
                        <a:buNone/>
                      </a:pPr>
                      <a:r>
                        <a:rPr sz="1080" u="none" cap="none">
                          <a:solidFill>
                            <a:srgbClr val="1E2447"/>
                          </a:solidFill>
                          <a:latin typeface="Calibri"/>
                          <a:ea typeface="Calibri"/>
                          <a:cs typeface="Calibri"/>
                        </a:rPr>
                        <a:t>Logical exposition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internal coherence and entailment</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empirical truth</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47475">
                <a:tc>
                  <a:txBody>
                    <a:bodyPr/>
                    <a:lstStyle/>
                    <a:p>
                      <a:pPr marL="0" indent="0" algn="l">
                        <a:buNone/>
                      </a:pPr>
                      <a:r>
                        <a:rPr sz="1080" u="none" cap="none">
                          <a:solidFill>
                            <a:srgbClr val="1E2447"/>
                          </a:solidFill>
                          <a:latin typeface="Calibri"/>
                          <a:ea typeface="Calibri"/>
                          <a:cs typeface="Calibri"/>
                        </a:rPr>
                        <a:t>Study &amp; self-examination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intelligibility and first-person recognition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physical identification of jeevan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347475">
                <a:tc>
                  <a:txBody>
                    <a:bodyPr/>
                    <a:lstStyle/>
                    <a:p>
                      <a:pPr marL="0" indent="0" algn="l">
                        <a:buNone/>
                      </a:pPr>
                      <a:r>
                        <a:rPr sz="1080" u="none" cap="none">
                          <a:solidFill>
                            <a:srgbClr val="1E2447"/>
                          </a:solidFill>
                          <a:latin typeface="Calibri"/>
                          <a:ea typeface="Calibri"/>
                          <a:cs typeface="Calibri"/>
                        </a:rPr>
                        <a:t>Experiment, practice &amp; conduct-evidence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effects in work, behaviour, and mutual satisfaction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measurement of sentience or the jeevan–body interface</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r h="457200">
                <a:tc>
                  <a:txBody>
                    <a:bodyPr/>
                    <a:lstStyle/>
                    <a:p>
                      <a:pPr marL="0" indent="0" algn="l">
                        <a:buNone/>
                      </a:pPr>
                      <a:r>
                        <a:rPr sz="1080" u="none" cap="none">
                          <a:solidFill>
                            <a:srgbClr val="1E2447"/>
                          </a:solidFill>
                          <a:latin typeface="Calibri"/>
                          <a:ea typeface="Calibri"/>
                          <a:cs typeface="Calibri"/>
                        </a:rPr>
                        <a:t>Realisation</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the darshan’s claimed completion of knowing</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c>
                  <a:txBody>
                    <a:bodyPr/>
                    <a:lstStyle/>
                    <a:p>
                      <a:pPr marL="0" indent="0" algn="l">
                        <a:buNone/>
                      </a:pPr>
                      <a:r>
                        <a:rPr sz="1080" u="none" cap="none">
                          <a:solidFill>
                            <a:srgbClr val="1E2447"/>
                          </a:solidFill>
                          <a:latin typeface="Calibri"/>
                          <a:ea typeface="Calibri"/>
                          <a:cs typeface="Calibri"/>
                        </a:rPr>
                        <a:t>agreement from other methods</a:t>
                      </a:r>
                    </a:p>
                  </a:txBody>
                  <a:tcPr marL="45725" marR="45725" marT="45725" marB="45725" anchor="ctr">
                    <a:lnL w="9525" cmpd="sng">
                      <a:solidFill>
                        <a:srgbClr val="C9D0E2"/>
                      </a:solidFill>
                      <a:prstDash val="solid"/>
                    </a:lnL>
                    <a:lnR w="9525" cmpd="sng">
                      <a:solidFill>
                        <a:srgbClr val="C9D0E2"/>
                      </a:solidFill>
                      <a:prstDash val="solid"/>
                    </a:lnR>
                    <a:lnT w="9525" cmpd="sng">
                      <a:solidFill>
                        <a:srgbClr val="C9D0E2"/>
                      </a:solidFill>
                      <a:prstDash val="solid"/>
                    </a:lnT>
                    <a:lnB w="9525" cmpd="sng">
                      <a:solidFill>
                        <a:srgbClr val="C9D0E2"/>
                      </a:solidFill>
                      <a:prstDash val="solid"/>
                    </a:lnB>
                    <a:solidFill>
                      <a:srgbClr val="FFFFFF"/>
                    </a:solidFill>
                  </a:tcPr>
                </a:tc>
              </a:tr>
            </a:tbl>
          </a:graphicData>
        </a:graphic>
      </p:graphicFrame>
      <p:sp>
        <p:nvSpPr>
          <p:cNvPr id="411" name="Google Shape;411;p17">
            <a:extLst xmlns:a="http://schemas.openxmlformats.org/drawingml/2006/main">
              <a:ext uri="{FF2B5EF4-FFF2-40B4-BE49-F238E27FC236}">
                <a16:creationId xmlns:a16="http://schemas.microsoft.com/office/drawing/2014/main" id="{418760E8-0E36-42A3-8A05-FA272B72896D}"/>
              </a:ext>
            </a:extLst>
          </p:cNvPr>
          <p:cNvSpPr>
            <a:spLocks xmlns:a="http://schemas.openxmlformats.org/drawingml/2006/main" noGrp="1"/>
          </p:cNvSpPr>
          <p:nvPr/>
        </p:nvSpPr>
        <p:spPr>
          <a:xfrm xmlns:a="http://schemas.openxmlformats.org/drawingml/2006/main">
            <a:off x="640080" y="3977640"/>
            <a:ext cx="7863840" cy="731520"/>
          </a:xfrm>
          <a:prstGeom xmlns:a="http://schemas.openxmlformats.org/drawingml/2006/main" prst="roundRect">
            <a:avLst>
              <a:gd name="adj" fmla="val 11250"/>
            </a:avLst>
          </a:prstGeom>
          <a:solidFill xmlns:a="http://schemas.openxmlformats.org/drawingml/2006/main">
            <a:srgbClr val="FAF1D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412" name="Google Shape;412;p17">
            <a:extLst xmlns:a="http://schemas.openxmlformats.org/drawingml/2006/main">
              <a:ext uri="{FF2B5EF4-FFF2-40B4-BE49-F238E27FC236}">
                <a16:creationId xmlns:a16="http://schemas.microsoft.com/office/drawing/2014/main" id="{8281FD63-9352-4E7E-B80A-DAC849910495}"/>
              </a:ext>
            </a:extLst>
          </p:cNvPr>
          <p:cNvSpPr>
            <a:spLocks xmlns:a="http://schemas.openxmlformats.org/drawingml/2006/main" noGrp="1"/>
          </p:cNvSpPr>
          <p:nvPr/>
        </p:nvSpPr>
        <p:spPr>
          <a:xfrm xmlns:a="http://schemas.openxmlformats.org/drawingml/2006/main">
            <a:off x="868680" y="3977640"/>
            <a:ext cx="74066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i="0" u="none" cap="none">
                <a:solidFill>
                  <a:srgbClr val="9A6414"/>
                </a:solidFill>
                <a:latin typeface="Calibri"/>
                <a:ea typeface="Calibri"/>
                <a:cs typeface="Calibri"/>
              </a:rPr>
              <a:t>No accepted measurement currently identifies the sentience threshold, the jeevan–body interface, or post-body reassociation. These remain open to instrument-based scientific inquiry.</a:t>
            </a:r>
          </a:p>
        </p:txBody>
      </p:sp>
      <p:sp>
        <p:nvSpPr>
          <p:cNvPr id="413" name="Google Shape;413;p17">
            <a:extLst xmlns:a="http://schemas.openxmlformats.org/drawingml/2006/main">
              <a:ext uri="{FF2B5EF4-FFF2-40B4-BE49-F238E27FC236}">
                <a16:creationId xmlns:a16="http://schemas.microsoft.com/office/drawing/2014/main" id="{D2D14E48-0F9E-414D-B0D5-18B438B9695A}"/>
              </a:ext>
            </a:extLst>
          </p:cNvPr>
          <p:cNvSpPr>
            <a:spLocks xmlns:a="http://schemas.openxmlformats.org/drawingml/2006/main" noGrp="1"/>
          </p:cNvSpPr>
          <p:nvPr/>
        </p:nvSpPr>
        <p:spPr>
          <a:xfrm xmlns:a="http://schemas.openxmlformats.org/drawingml/2006/main">
            <a:off x="502920" y="4828032"/>
            <a:ext cx="81381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950" b="0" i="1" u="none" cap="none">
                <a:solidFill>
                  <a:srgbClr val="5A6377"/>
                </a:solidFill>
                <a:latin typeface="Calibri"/>
                <a:ea typeface="Calibri"/>
                <a:cs typeface="Calibri"/>
              </a:rPr>
              <a:t>Study §1.15–§1.16 · Method and evidence</a:t>
            </a:r>
          </a:p>
        </p:txBody>
      </p:sp>
    </p:spTree>
    <p:extLst>
      <p:ext uri="{BB962C8B-B14F-4D97-AF65-F5344CB8AC3E}">
        <p14:creationId xmlns:p14="http://schemas.microsoft.com/office/powerpoint/2010/main" val="1942334141"/>
      </p:ext>
    </p:extLst>
  </p:cSld>
</p:sld>
</file>

<file path=ppt/slides/slide28.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sp>
        <p:nvSpPr>
          <p:cNvPr id="528" name="Google Shape;528;p22">
            <a:extLst xmlns:a="http://schemas.openxmlformats.org/drawingml/2006/main">
              <a:ext uri="{FF2B5EF4-FFF2-40B4-BE49-F238E27FC236}">
                <a16:creationId xmlns:a16="http://schemas.microsoft.com/office/drawing/2014/main" id="{E1C0CC4E-ACB6-4358-A791-7E698544184D}"/>
              </a:ext>
            </a:extLst>
          </p:cNvPr>
          <p:cNvSpPr>
            <a:spLocks xmlns:a="http://schemas.openxmlformats.org/drawingml/2006/main" noGrp="1"/>
          </p:cNvSpPr>
          <p:nvPr/>
        </p:nvSpPr>
        <p:spPr>
          <a:xfrm xmlns:a="http://schemas.openxmlformats.org/drawingml/2006/main">
            <a:off x="7635240" y="411480"/>
            <a:ext cx="1005840" cy="1005840"/>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29" name="Google Shape;529;p22">
            <a:extLst xmlns:a="http://schemas.openxmlformats.org/drawingml/2006/main">
              <a:ext uri="{FF2B5EF4-FFF2-40B4-BE49-F238E27FC236}">
                <a16:creationId xmlns:a16="http://schemas.microsoft.com/office/drawing/2014/main" id="{6832F4B8-5752-48AC-ADEE-A7E51AC045AD}"/>
              </a:ext>
            </a:extLst>
          </p:cNvPr>
          <p:cNvSpPr>
            <a:spLocks xmlns:a="http://schemas.openxmlformats.org/drawingml/2006/main" noGrp="1"/>
          </p:cNvSpPr>
          <p:nvPr/>
        </p:nvSpPr>
        <p:spPr>
          <a:xfrm xmlns:a="http://schemas.openxmlformats.org/drawingml/2006/main">
            <a:off x="7836408" y="612648"/>
            <a:ext cx="603504" cy="603504"/>
          </a:xfrm>
          <a:prstGeom xmlns:a="http://schemas.openxmlformats.org/drawingml/2006/main" prst="ellipse">
            <a:avLst/>
          </a:prstGeom>
          <a:noFill xmlns:a="http://schemas.openxmlformats.org/drawingml/2006/main"/>
          <a:ln xmlns:a="http://schemas.openxmlformats.org/drawingml/2006/main" w="15875" cmpd="sng">
            <a:solidFill>
              <a:srgbClr val="44507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30" name="Google Shape;530;p22">
            <a:extLst xmlns:a="http://schemas.openxmlformats.org/drawingml/2006/main">
              <a:ext uri="{FF2B5EF4-FFF2-40B4-BE49-F238E27FC236}">
                <a16:creationId xmlns:a16="http://schemas.microsoft.com/office/drawing/2014/main" id="{47CA7A4C-4E57-4A71-B114-1EC5461B0F2A}"/>
              </a:ext>
            </a:extLst>
          </p:cNvPr>
          <p:cNvSpPr>
            <a:spLocks xmlns:a="http://schemas.openxmlformats.org/drawingml/2006/main" noGrp="1"/>
          </p:cNvSpPr>
          <p:nvPr/>
        </p:nvSpPr>
        <p:spPr>
          <a:xfrm xmlns:a="http://schemas.openxmlformats.org/drawingml/2006/main">
            <a:off x="8007401" y="783641"/>
            <a:ext cx="261518" cy="261518"/>
          </a:xfrm>
          <a:prstGeom xmlns:a="http://schemas.openxmlformats.org/drawingml/2006/main" prst="ellipse">
            <a:avLst/>
          </a:prstGeom>
          <a:solidFill xmlns:a="http://schemas.openxmlformats.org/drawingml/2006/main">
            <a:srgbClr val="C9821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531" name="Google Shape;531;p22">
            <a:extLst xmlns:a="http://schemas.openxmlformats.org/drawingml/2006/main">
              <a:ext uri="{FF2B5EF4-FFF2-40B4-BE49-F238E27FC236}">
                <a16:creationId xmlns:a16="http://schemas.microsoft.com/office/drawing/2014/main" id="{DFF39978-43C7-4870-B974-350C3D4735CA}"/>
              </a:ext>
            </a:extLst>
          </p:cNvPr>
          <p:cNvSpPr>
            <a:spLocks xmlns:a="http://schemas.openxmlformats.org/drawingml/2006/main" noGrp="1"/>
          </p:cNvSpPr>
          <p:nvPr/>
        </p:nvSpPr>
        <p:spPr>
          <a:xfrm xmlns:a="http://schemas.openxmlformats.org/drawingml/2006/main">
            <a:off x="640080" y="457200"/>
            <a:ext cx="66751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9821E"/>
                </a:solidFill>
                <a:latin typeface="Calibri"/>
                <a:ea typeface="Calibri"/>
                <a:cs typeface="Calibri"/>
              </a:rPr>
              <a:t>WHAT MADHYASTH DARSHAN ESTABLISHES</a:t>
            </a:r>
          </a:p>
        </p:txBody>
      </p:sp>
      <p:sp>
        <p:nvSpPr>
          <p:cNvPr id="532" name="Google Shape;532;p22">
            <a:extLst xmlns:a="http://schemas.openxmlformats.org/drawingml/2006/main">
              <a:ext uri="{FF2B5EF4-FFF2-40B4-BE49-F238E27FC236}">
                <a16:creationId xmlns:a16="http://schemas.microsoft.com/office/drawing/2014/main" id="{6CC10D41-50EA-44E8-9A36-16DFEE707FE8}"/>
              </a:ext>
            </a:extLst>
          </p:cNvPr>
          <p:cNvSpPr>
            <a:spLocks xmlns:a="http://schemas.openxmlformats.org/drawingml/2006/main" noGrp="1"/>
          </p:cNvSpPr>
          <p:nvPr/>
        </p:nvSpPr>
        <p:spPr>
          <a:xfrm xmlns:a="http://schemas.openxmlformats.org/drawingml/2006/main">
            <a:off x="640080" y="749808"/>
            <a:ext cx="68580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3200" b="1" i="0" u="none" cap="none">
                <a:solidFill>
                  <a:srgbClr val="FFFFFF"/>
                </a:solidFill>
                <a:latin typeface="Cambria"/>
                <a:ea typeface="Cambria"/>
                <a:cs typeface="Cambria"/>
              </a:rPr>
              <a:t>The Questions, Answered</a:t>
            </a:r>
          </a:p>
        </p:txBody>
      </p:sp>
      <p:graphicFrame>
        <p:nvGraphicFramePr>
          <p:cNvPr id="541" name="Google Shape;533;p22"/>
          <p:cNvGraphicFramePr/>
          <p:nvPr/>
        </p:nvGraphicFramePr>
        <p:xfrm>
          <a:off xmlns:a="http://schemas.openxmlformats.org/drawingml/2006/main" x="640080" y="1508760"/>
          <a:ext xmlns:a="http://schemas.openxmlformats.org/drawingml/2006/main" cx="7863850" cy="2688300"/>
        </p:xfrm>
        <a:graphic xmlns:a="http://schemas.openxmlformats.org/drawingml/2006/main">
          <a:graphicData uri="http://schemas.openxmlformats.org/drawingml/2006/table">
            <a:tbl>
              <a:tblPr>
                <a:tableStyleId>{6C92A692-798E-4634-90B1-36CD3966BFCB}</a:tableStyleId>
              </a:tblPr>
              <a:tblGrid>
                <a:gridCol w="2377450"/>
                <a:gridCol w="5486400"/>
              </a:tblGrid>
              <a:tr h="347475">
                <a:tc>
                  <a:txBody>
                    <a:bodyPr/>
                    <a:lstStyle/>
                    <a:p>
                      <a:pPr marL="0" indent="0" algn="l">
                        <a:buNone/>
                      </a:pPr>
                      <a:r>
                        <a:rPr sz="1200" b="1" u="none" cap="none">
                          <a:solidFill>
                            <a:srgbClr val="FFFFFF"/>
                          </a:solidFill>
                          <a:latin typeface="Calibri"/>
                          <a:ea typeface="Calibri"/>
                          <a:cs typeface="Calibri"/>
                        </a:rPr>
                        <a:t>Question</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2B3560"/>
                    </a:solidFill>
                  </a:tcPr>
                </a:tc>
                <a:tc>
                  <a:txBody>
                    <a:bodyPr/>
                    <a:lstStyle/>
                    <a:p>
                      <a:pPr marL="0" indent="0" algn="l">
                        <a:buNone/>
                      </a:pPr>
                      <a:r>
                        <a:rPr sz="1200" b="1" u="none" cap="none">
                          <a:solidFill>
                            <a:srgbClr val="FFFFFF"/>
                          </a:solidFill>
                          <a:latin typeface="Calibri"/>
                          <a:ea typeface="Calibri"/>
                          <a:cs typeface="Calibri"/>
                        </a:rPr>
                        <a:t>Madhyasth Darshan answer</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2B3560"/>
                    </a:solidFill>
                  </a:tcPr>
                </a:tc>
              </a:tr>
              <a:tr h="365750">
                <a:tc>
                  <a:txBody>
                    <a:bodyPr/>
                    <a:lstStyle/>
                    <a:p>
                      <a:pPr marL="0" indent="0" algn="l">
                        <a:buNone/>
                      </a:pPr>
                      <a:r>
                        <a:rPr sz="1200" u="none" cap="none">
                          <a:solidFill>
                            <a:srgbClr val="C9D4EF"/>
                          </a:solidFill>
                          <a:latin typeface="Calibri"/>
                          <a:ea typeface="Calibri"/>
                          <a:cs typeface="Calibri"/>
                        </a:rPr>
                        <a:t>What is existence?</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c>
                  <a:txBody>
                    <a:bodyPr/>
                    <a:lstStyle/>
                    <a:p>
                      <a:pPr marL="0" indent="0" algn="l">
                        <a:buNone/>
                      </a:pPr>
                      <a:r>
                        <a:rPr sz="1200" u="none" cap="none">
                          <a:solidFill>
                            <a:srgbClr val="C9D4EF"/>
                          </a:solidFill>
                          <a:latin typeface="Calibri"/>
                          <a:ea typeface="Calibri"/>
                          <a:cs typeface="Calibri"/>
                        </a:rPr>
                        <a:t>Eternal coexistence: countless units saturated in all-pervasive Omnipresence.</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r>
              <a:tr h="365750">
                <a:tc>
                  <a:txBody>
                    <a:bodyPr/>
                    <a:lstStyle/>
                    <a:p>
                      <a:pPr marL="0" indent="0" algn="l">
                        <a:buNone/>
                      </a:pPr>
                      <a:r>
                        <a:rPr sz="1200" u="none" cap="none">
                          <a:solidFill>
                            <a:srgbClr val="C9D4EF"/>
                          </a:solidFill>
                          <a:latin typeface="Calibri"/>
                          <a:ea typeface="Calibri"/>
                          <a:cs typeface="Calibri"/>
                        </a:rPr>
                        <a:t>What exists?</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c>
                  <a:txBody>
                    <a:bodyPr/>
                    <a:lstStyle/>
                    <a:p>
                      <a:pPr marL="0" indent="0" algn="l">
                        <a:buNone/>
                      </a:pPr>
                      <a:r>
                        <a:rPr sz="1200" u="none" cap="none">
                          <a:solidFill>
                            <a:srgbClr val="C9D4EF"/>
                          </a:solidFill>
                          <a:latin typeface="Calibri"/>
                          <a:ea typeface="Calibri"/>
                          <a:cs typeface="Calibri"/>
                        </a:rPr>
                        <a:t>Root atomic units; composite units and bodies; body–jeevan joint forms; and relational human assemblies — all saturated in Omnipresence.</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r>
              <a:tr h="365750">
                <a:tc>
                  <a:txBody>
                    <a:bodyPr/>
                    <a:lstStyle/>
                    <a:p>
                      <a:pPr marL="0" indent="0" algn="l">
                        <a:buNone/>
                      </a:pPr>
                      <a:r>
                        <a:rPr sz="1200" u="none" cap="none">
                          <a:solidFill>
                            <a:srgbClr val="C9D4EF"/>
                          </a:solidFill>
                          <a:latin typeface="Calibri"/>
                          <a:ea typeface="Calibri"/>
                          <a:cs typeface="Calibri"/>
                        </a:rPr>
                        <a:t>Does existence begin or end?</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c>
                  <a:txBody>
                    <a:bodyPr/>
                    <a:lstStyle/>
                    <a:p>
                      <a:pPr marL="0" indent="0" algn="l">
                        <a:buNone/>
                      </a:pPr>
                      <a:r>
                        <a:rPr sz="1200" u="none" cap="none">
                          <a:solidFill>
                            <a:srgbClr val="C9D4EF"/>
                          </a:solidFill>
                          <a:latin typeface="Calibri"/>
                          <a:ea typeface="Calibri"/>
                          <a:cs typeface="Calibri"/>
                        </a:rPr>
                        <a:t>No. Existence is perpetual; configurations form, transform, and decompose.</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r>
              <a:tr h="365750">
                <a:tc>
                  <a:txBody>
                    <a:bodyPr/>
                    <a:lstStyle/>
                    <a:p>
                      <a:pPr marL="0" indent="0" algn="l">
                        <a:buNone/>
                      </a:pPr>
                      <a:r>
                        <a:rPr sz="1200" u="none" cap="none">
                          <a:solidFill>
                            <a:srgbClr val="C9D4EF"/>
                          </a:solidFill>
                          <a:latin typeface="Calibri"/>
                          <a:ea typeface="Calibri"/>
                          <a:cs typeface="Calibri"/>
                        </a:rPr>
                        <a:t>What is the self?</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c>
                  <a:txBody>
                    <a:bodyPr/>
                    <a:lstStyle/>
                    <a:p>
                      <a:pPr marL="0" indent="0" algn="l">
                        <a:buNone/>
                      </a:pPr>
                      <a:r>
                        <a:rPr sz="1200" u="none" cap="none">
                          <a:solidFill>
                            <a:srgbClr val="C9D4EF"/>
                          </a:solidFill>
                          <a:latin typeface="Calibri"/>
                          <a:ea typeface="Calibri"/>
                          <a:cs typeface="Calibri"/>
                        </a:rPr>
                        <a:t>Jeevan: a constitutionally complete sentient atom working through the body.</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r>
              <a:tr h="365750">
                <a:tc>
                  <a:txBody>
                    <a:bodyPr/>
                    <a:lstStyle/>
                    <a:p>
                      <a:pPr marL="0" indent="0" algn="l">
                        <a:buNone/>
                      </a:pPr>
                      <a:r>
                        <a:rPr sz="1200" u="none" cap="none">
                          <a:solidFill>
                            <a:srgbClr val="C9D4EF"/>
                          </a:solidFill>
                          <a:latin typeface="Calibri"/>
                          <a:ea typeface="Calibri"/>
                          <a:cs typeface="Calibri"/>
                        </a:rPr>
                        <a:t>Is the world real?</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c>
                  <a:txBody>
                    <a:bodyPr/>
                    <a:lstStyle/>
                    <a:p>
                      <a:pPr marL="0" indent="0" algn="l">
                        <a:buNone/>
                      </a:pPr>
                      <a:r>
                        <a:rPr sz="1200" u="none" cap="none">
                          <a:solidFill>
                            <a:srgbClr val="C9D4EF"/>
                          </a:solidFill>
                          <a:latin typeface="Calibri"/>
                          <a:ea typeface="Calibri"/>
                          <a:cs typeface="Calibri"/>
                        </a:rPr>
                        <a:t>Yes. Units, mutual relationships, and definite material fulfilment are real within perpetual coexistence.</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r>
              <a:tr h="512075">
                <a:tc>
                  <a:txBody>
                    <a:bodyPr/>
                    <a:lstStyle/>
                    <a:p>
                      <a:pPr marL="0" indent="0" algn="l">
                        <a:buNone/>
                      </a:pPr>
                      <a:r>
                        <a:rPr sz="1200" u="none" cap="none">
                          <a:solidFill>
                            <a:srgbClr val="C9D4EF"/>
                          </a:solidFill>
                          <a:latin typeface="Calibri"/>
                          <a:ea typeface="Calibri"/>
                          <a:cs typeface="Calibri"/>
                        </a:rPr>
                        <a:t>How is it known?</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c>
                  <a:txBody>
                    <a:bodyPr/>
                    <a:lstStyle/>
                    <a:p>
                      <a:pPr marL="0" indent="0" algn="l">
                        <a:buNone/>
                      </a:pPr>
                      <a:r>
                        <a:rPr sz="1200" u="none" cap="none">
                          <a:solidFill>
                            <a:srgbClr val="C9D4EF"/>
                          </a:solidFill>
                          <a:latin typeface="Calibri"/>
                          <a:ea typeface="Calibri"/>
                          <a:cs typeface="Calibri"/>
                        </a:rPr>
                        <a:t>Through logical exposition, study and self-examination, practice, realisation, and conduct-evidence; measurable physical claims still require instrument-based testing.</a:t>
                      </a:r>
                    </a:p>
                  </a:txBody>
                  <a:tcPr marL="54875" marR="54875" marT="54875" marB="54875" anchor="ctr">
                    <a:lnL w="9525" cmpd="sng">
                      <a:solidFill>
                        <a:srgbClr val="3B4A7A"/>
                      </a:solidFill>
                      <a:prstDash val="solid"/>
                    </a:lnL>
                    <a:lnR w="9525" cmpd="sng">
                      <a:solidFill>
                        <a:srgbClr val="3B4A7A"/>
                      </a:solidFill>
                      <a:prstDash val="solid"/>
                    </a:lnR>
                    <a:lnT w="9525" cmpd="sng">
                      <a:solidFill>
                        <a:srgbClr val="3B4A7A"/>
                      </a:solidFill>
                      <a:prstDash val="solid"/>
                    </a:lnT>
                    <a:lnB w="9525" cmpd="sng">
                      <a:solidFill>
                        <a:srgbClr val="3B4A7A"/>
                      </a:solidFill>
                      <a:prstDash val="solid"/>
                    </a:lnB>
                    <a:solidFill>
                      <a:srgbClr val="1E2447"/>
                    </a:solidFill>
                  </a:tcPr>
                </a:tc>
              </a:tr>
            </a:tbl>
          </a:graphicData>
        </a:graphic>
      </p:graphicFrame>
      <p:sp>
        <p:nvSpPr>
          <p:cNvPr id="534" name="Google Shape;534;p22">
            <a:extLst xmlns:a="http://schemas.openxmlformats.org/drawingml/2006/main">
              <a:ext uri="{FF2B5EF4-FFF2-40B4-BE49-F238E27FC236}">
                <a16:creationId xmlns:a16="http://schemas.microsoft.com/office/drawing/2014/main" id="{01012620-D920-4BA5-BC9C-ECC75D3B5E5D}"/>
              </a:ext>
            </a:extLst>
          </p:cNvPr>
          <p:cNvSpPr>
            <a:spLocks xmlns:a="http://schemas.openxmlformats.org/drawingml/2006/main" noGrp="1"/>
          </p:cNvSpPr>
          <p:nvPr/>
        </p:nvSpPr>
        <p:spPr>
          <a:xfrm xmlns:a="http://schemas.openxmlformats.org/drawingml/2006/main">
            <a:off x="640080" y="4526280"/>
            <a:ext cx="78638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200" b="0" i="1" u="none" cap="none">
                <a:solidFill>
                  <a:srgbClr val="8E9BC4"/>
                </a:solidFill>
                <a:latin typeface="Calibri"/>
                <a:ea typeface="Calibri"/>
                <a:cs typeface="Calibri"/>
              </a:rPr>
              <a:t>Fulfilment: resolution and authenticity expressed as humane conduct and participation in orderliness — §1.16. Evidence modes should not be conflated.</a:t>
            </a:r>
          </a:p>
        </p:txBody>
      </p:sp>
    </p:spTree>
    <p:extLst>
      <p:ext uri="{BB962C8B-B14F-4D97-AF65-F5344CB8AC3E}">
        <p14:creationId xmlns:p14="http://schemas.microsoft.com/office/powerpoint/2010/main" val="207476451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2026-07-28T03:57:19.7210000Z</dcterms:created>
  <dcterms:modified xsi:type="dcterms:W3CDTF">2026-07-28T03:57:19.7210000Z</dcterms:modified>
</coreProperties>
</file>