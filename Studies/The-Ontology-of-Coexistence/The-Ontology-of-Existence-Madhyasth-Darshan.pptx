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9a226058a14f9b" Type="http://schemas.openxmlformats.org/package/2006/relationships/metadata/core-properties" Target="docProps/core.xml"/><Relationship Id="R631289ebb1a54972" Type="http://schemas.openxmlformats.org/officeDocument/2006/relationships/officeDocument" Target="ppt/presentation.xml"/><Relationship Id="R8e04a235cc59434a"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b9bb0289ef914a7d"/>
  </p:sldMasterIdLst>
  <p:notesMasterIdLst>
    <p:notesMasterId xmlns:r="http://schemas.openxmlformats.org/officeDocument/2006/relationships" r:id="Re04d1a3300924db2"/>
  </p:notesMasterIdLst>
  <p:sldIdLst>
    <p:sldId xmlns:r="http://schemas.openxmlformats.org/officeDocument/2006/relationships" id="256" r:id="R9e6536eda00144e7"/>
    <p:sldId xmlns:r="http://schemas.openxmlformats.org/officeDocument/2006/relationships" id="257" r:id="Rf76ddbaa01074479"/>
    <p:sldId xmlns:r="http://schemas.openxmlformats.org/officeDocument/2006/relationships" id="258" r:id="R16f4554795ad49bf"/>
    <p:sldId xmlns:r="http://schemas.openxmlformats.org/officeDocument/2006/relationships" id="259" r:id="R08a83617ae454b53"/>
    <p:sldId xmlns:r="http://schemas.openxmlformats.org/officeDocument/2006/relationships" id="260" r:id="Rec544795b4fd44b9"/>
    <p:sldId xmlns:r="http://schemas.openxmlformats.org/officeDocument/2006/relationships" id="261" r:id="Rc5dba0086a6d4f0a"/>
    <p:sldId xmlns:r="http://schemas.openxmlformats.org/officeDocument/2006/relationships" id="282" r:id="rId1"/>
    <p:sldId xmlns:r="http://schemas.openxmlformats.org/officeDocument/2006/relationships" id="283" r:id="rId2"/>
    <p:sldId xmlns:r="http://schemas.openxmlformats.org/officeDocument/2006/relationships" id="262" r:id="Rb3528f1c2b0542e7"/>
    <p:sldId xmlns:r="http://schemas.openxmlformats.org/officeDocument/2006/relationships" id="263" r:id="Rdf430edcdf8c4c7b"/>
    <p:sldId xmlns:r="http://schemas.openxmlformats.org/officeDocument/2006/relationships" id="264" r:id="R2bfd8ef300f84303"/>
    <p:sldId xmlns:r="http://schemas.openxmlformats.org/officeDocument/2006/relationships" id="265" r:id="R70b4d4f668624d32"/>
    <p:sldId xmlns:r="http://schemas.openxmlformats.org/officeDocument/2006/relationships" id="273" r:id="Raa9afacfa71843bb"/>
    <p:sldId xmlns:r="http://schemas.openxmlformats.org/officeDocument/2006/relationships" id="266" r:id="R15c4811db8db4af7"/>
    <p:sldId xmlns:r="http://schemas.openxmlformats.org/officeDocument/2006/relationships" id="267" r:id="R2303327d17b0474d"/>
    <p:sldId xmlns:r="http://schemas.openxmlformats.org/officeDocument/2006/relationships" id="268" r:id="R3ad503f37e33485e"/>
    <p:sldId xmlns:r="http://schemas.openxmlformats.org/officeDocument/2006/relationships" id="269" r:id="R804308cb906d4b3b"/>
    <p:sldId xmlns:r="http://schemas.openxmlformats.org/officeDocument/2006/relationships" id="270" r:id="Rb18964d791fc47a3"/>
    <p:sldId xmlns:r="http://schemas.openxmlformats.org/officeDocument/2006/relationships" id="272" r:id="R288570690c0c4146"/>
    <p:sldId xmlns:r="http://schemas.openxmlformats.org/officeDocument/2006/relationships" id="278" r:id="R663600f2715b424b"/>
    <p:sldId xmlns:r="http://schemas.openxmlformats.org/officeDocument/2006/relationships" id="271" r:id="Ra3cc3f6f28864d7d"/>
    <p:sldId xmlns:r="http://schemas.openxmlformats.org/officeDocument/2006/relationships" id="274" r:id="R7ffc4e4ccaff4191"/>
    <p:sldId xmlns:r="http://schemas.openxmlformats.org/officeDocument/2006/relationships" id="275" r:id="R57f6c0ae66c045cc"/>
    <p:sldId xmlns:r="http://schemas.openxmlformats.org/officeDocument/2006/relationships" id="276" r:id="R0a144d2a29204b72"/>
    <p:sldId xmlns:r="http://schemas.openxmlformats.org/officeDocument/2006/relationships" id="279" r:id="R96f897ace9bc4afb"/>
    <p:sldId xmlns:r="http://schemas.openxmlformats.org/officeDocument/2006/relationships" id="280" r:id="R1213c328788d4229"/>
    <p:sldId xmlns:r="http://schemas.openxmlformats.org/officeDocument/2006/relationships" id="277" r:id="Rabe98989449740d8"/>
    <p:sldId xmlns:r="http://schemas.openxmlformats.org/officeDocument/2006/relationships" id="281" r:id="Rf16a6e1aacd4450c"/>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8a83617ae454b53" Type="http://schemas.openxmlformats.org/officeDocument/2006/relationships/slide" Target="slides/slide4.xml"/><Relationship Id="R09f0650515b04502" Type="http://schemas.openxmlformats.org/officeDocument/2006/relationships/theme" Target="theme/theme1.xml"/><Relationship Id="R0a144d2a29204b72" Type="http://schemas.openxmlformats.org/officeDocument/2006/relationships/slide" Target="slides/slide24.xml"/><Relationship Id="R1213c328788d4229" Type="http://schemas.openxmlformats.org/officeDocument/2006/relationships/slide" Target="slides/slide26.xml"/><Relationship Id="R15c4811db8db4af7" Type="http://schemas.openxmlformats.org/officeDocument/2006/relationships/slide" Target="slides/slide14.xml"/><Relationship Id="R16f4554795ad49bf" Type="http://schemas.openxmlformats.org/officeDocument/2006/relationships/slide" Target="slides/slide3.xml"/><Relationship Id="R2303327d17b0474d" Type="http://schemas.openxmlformats.org/officeDocument/2006/relationships/slide" Target="slides/slide15.xml"/><Relationship Id="R288570690c0c4146" Type="http://schemas.openxmlformats.org/officeDocument/2006/relationships/slide" Target="slides/slide19.xml"/><Relationship Id="R2bfd8ef300f84303" Type="http://schemas.openxmlformats.org/officeDocument/2006/relationships/slide" Target="slides/slide11.xml"/><Relationship Id="R3ad503f37e33485e" Type="http://schemas.openxmlformats.org/officeDocument/2006/relationships/slide" Target="slides/slide16.xml"/><Relationship Id="R57f6c0ae66c045cc" Type="http://schemas.openxmlformats.org/officeDocument/2006/relationships/slide" Target="slides/slide23.xml"/><Relationship Id="R5b2d989c52ee4a5c" Type="http://schemas.openxmlformats.org/officeDocument/2006/relationships/viewProps" Target="viewProps.xml"/><Relationship Id="R663600f2715b424b" Type="http://schemas.openxmlformats.org/officeDocument/2006/relationships/slide" Target="slides/slide20.xml"/><Relationship Id="R70b4d4f668624d32" Type="http://schemas.openxmlformats.org/officeDocument/2006/relationships/slide" Target="slides/slide12.xml"/><Relationship Id="R7ffc4e4ccaff4191" Type="http://schemas.openxmlformats.org/officeDocument/2006/relationships/slide" Target="slides/slide22.xml"/><Relationship Id="R804308cb906d4b3b" Type="http://schemas.openxmlformats.org/officeDocument/2006/relationships/slide" Target="slides/slide17.xml"/><Relationship Id="R91adafa22a33423a" Type="http://schemas.openxmlformats.org/officeDocument/2006/relationships/tableStyles" Target="tableStyles.xml"/><Relationship Id="R96f897ace9bc4afb" Type="http://schemas.openxmlformats.org/officeDocument/2006/relationships/slide" Target="slides/slide25.xml"/><Relationship Id="R9e6536eda00144e7" Type="http://schemas.openxmlformats.org/officeDocument/2006/relationships/slide" Target="slides/slide1.xml"/><Relationship Id="Ra3cc3f6f28864d7d" Type="http://schemas.openxmlformats.org/officeDocument/2006/relationships/slide" Target="slides/slide21.xml"/><Relationship Id="Raa9afacfa71843bb" Type="http://schemas.openxmlformats.org/officeDocument/2006/relationships/slide" Target="slides/slide13.xml"/><Relationship Id="Rabe98989449740d8" Type="http://schemas.openxmlformats.org/officeDocument/2006/relationships/slide" Target="slides/slide27.xml"/><Relationship Id="Rb18964d791fc47a3" Type="http://schemas.openxmlformats.org/officeDocument/2006/relationships/slide" Target="slides/slide18.xml"/><Relationship Id="Rb3528f1c2b0542e7" Type="http://schemas.openxmlformats.org/officeDocument/2006/relationships/slide" Target="slides/slide9.xml"/><Relationship Id="Rb9bb0289ef914a7d" Type="http://schemas.openxmlformats.org/officeDocument/2006/relationships/slideMaster" Target="slideMasters/slideMaster1.xml"/><Relationship Id="Rc5dba0086a6d4f0a" Type="http://schemas.openxmlformats.org/officeDocument/2006/relationships/slide" Target="slides/slide6.xml"/><Relationship Id="Rdea75d5655d34dec" Type="http://schemas.openxmlformats.org/officeDocument/2006/relationships/presProps" Target="presProps.xml"/><Relationship Id="Rdf430edcdf8c4c7b" Type="http://schemas.openxmlformats.org/officeDocument/2006/relationships/slide" Target="slides/slide10.xml"/><Relationship Id="Re04d1a3300924db2" Type="http://schemas.openxmlformats.org/officeDocument/2006/relationships/notesMaster" Target="notesMasters/notesMaster1.xml"/><Relationship Id="Rec544795b4fd44b9" Type="http://schemas.openxmlformats.org/officeDocument/2006/relationships/slide" Target="slides/slide5.xml"/><Relationship Id="Rf16a6e1aacd4450c" Type="http://schemas.openxmlformats.org/officeDocument/2006/relationships/slide" Target="slides/slide28.xml"/><Relationship Id="Rf76ddbaa01074479" Type="http://schemas.openxmlformats.org/officeDocument/2006/relationships/slide" Target="slides/slide2.xml"/><Relationship Id="rId1" Type="http://schemas.openxmlformats.org/officeDocument/2006/relationships/slide" Target="slides/slide7.xml"/><Relationship Id="rId2"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38df7a74ae9b4c5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Id="R4d274a3502bb4c4f" Type="http://schemas.openxmlformats.org/officeDocument/2006/relationships/notesMaster" Target="../notesMasters/notesMaster1.xml"/><Relationship Id="Rbb0ad16afa364c7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cc041cbd3a14070" Type="http://schemas.openxmlformats.org/officeDocument/2006/relationships/notesMaster" Target="../notesMasters/notesMaster1.xml"/><Relationship Id="R9df12e2fa02f4d5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504fc047e2294fb1" Type="http://schemas.openxmlformats.org/officeDocument/2006/relationships/notesMaster" Target="../notesMasters/notesMaster1.xml"/><Relationship Id="Rba1789702074459b"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810b3e7b968747c8" Type="http://schemas.openxmlformats.org/officeDocument/2006/relationships/slide" Target="../slides/slide4.xml"/><Relationship Id="Rdd3f5deac7f0418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233d8795c08e452f" Type="http://schemas.openxmlformats.org/officeDocument/2006/relationships/notesMaster" Target="../notesMasters/notesMaster1.xml"/><Relationship Id="R87ced5fffc4446f5"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6d074a974284cc6" Type="http://schemas.openxmlformats.org/officeDocument/2006/relationships/slide" Target="../slides/slide6.xml"/><Relationship Id="R1c62b3af6b5e41ed"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171b84909bd14b52" Type="http://schemas.openxmlformats.org/officeDocument/2006/relationships/slide" Target="../slides/slide9.xml"/><Relationship Id="Rb98b1a2de1be4163"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0b876b2c76c4bc2" Type="http://schemas.openxmlformats.org/officeDocument/2006/relationships/slide" Target="../slides/slide10.xml"/><Relationship Id="R2f95dd43f9da45f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4f2ce4ad4b094f15" Type="http://schemas.openxmlformats.org/officeDocument/2006/relationships/notesMaster" Target="../notesMasters/notesMaster1.xml"/><Relationship Id="Rce91246344764955"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2aed983d7d9947c3" Type="http://schemas.openxmlformats.org/officeDocument/2006/relationships/slide" Target="../slides/slide12.xml"/><Relationship Id="Rb9cb84fe21a94d1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f5ff876e3ee4731" Type="http://schemas.openxmlformats.org/officeDocument/2006/relationships/slide" Target="../slides/slide14.xml"/><Relationship Id="Rd44df243f573486e"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68b5466982654b48" Type="http://schemas.openxmlformats.org/officeDocument/2006/relationships/notesMaster" Target="../notesMasters/notesMaster1.xml"/><Relationship Id="Rb429769223484426"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8ff0245306114951" Type="http://schemas.openxmlformats.org/officeDocument/2006/relationships/notesMaster" Target="../notesMasters/notesMaster1.xml"/><Relationship Id="Re93cd98183d346bf"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27c04c87009042e4" Type="http://schemas.openxmlformats.org/officeDocument/2006/relationships/notesMaster" Target="../notesMasters/notesMaster1.xml"/><Relationship Id="R53718d6182bc41e4"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ae7b43190e644836" Type="http://schemas.openxmlformats.org/officeDocument/2006/relationships/notesMaster" Target="../notesMasters/notesMaster1.xml"/><Relationship Id="Rc0a5327a897f4b2e"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09136345d4a84fe5" Type="http://schemas.openxmlformats.org/officeDocument/2006/relationships/notesMaster" Target="../notesMasters/notesMaster1.xml"/><Relationship Id="R89d35c0923754c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422943f256144865" Type="http://schemas.openxmlformats.org/officeDocument/2006/relationships/slide" Target="../slides/slide19.xml"/><Relationship Id="Rd2e050ce8059405c"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357184ca90a64f54" Type="http://schemas.openxmlformats.org/officeDocument/2006/relationships/slide" Target="../slides/slide13.xml"/><Relationship Id="R6129d9fd09f249f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ca93d83a329b4caa" Type="http://schemas.openxmlformats.org/officeDocument/2006/relationships/notesMaster" Target="../notesMasters/notesMaster1.xml"/><Relationship Id="Rec6a005f8e2e4c4b"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29ff0d865c344c72" Type="http://schemas.openxmlformats.org/officeDocument/2006/relationships/slide" Target="../slides/slide23.xml"/><Relationship Id="R649bbec6c9d349ff"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66661a86df7547d8" Type="http://schemas.openxmlformats.org/officeDocument/2006/relationships/notesMaster" Target="../notesMasters/notesMaster1.xml"/><Relationship Id="Ra0611f2c54e24d95"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22a83107e4f04b3f" Type="http://schemas.openxmlformats.org/officeDocument/2006/relationships/notesMaster" Target="../notesMasters/notesMaster1.xml"/><Relationship Id="R8b938c7a5d304cb3"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3058a6ba35be4653" Type="http://schemas.openxmlformats.org/officeDocument/2006/relationships/slide" Target="../slides/slide20.xml"/><Relationship Id="Rc877b402e6e940c6"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430eca9b92ed45af" Type="http://schemas.openxmlformats.org/officeDocument/2006/relationships/notesMaster" Target="../notesMasters/notesMaster1.xml"/><Relationship Id="R81e5a4bf8d9c4b6a"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7494d869b79f47df" Type="http://schemas.openxmlformats.org/officeDocument/2006/relationships/notesMaster" Target="../notesMasters/notesMaster1.xml"/><Relationship Id="Ra3463da3760e45b9"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6d1c47b3744148c5" Type="http://schemas.openxmlformats.org/officeDocument/2006/relationships/slide" Target="../slides/slide28.xml"/><Relationship Id="Rbfd180e62bee461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Welcome, and thank you for joining.</a:t>
            </a:r>
          </a:p>
          <a:p xmlns:a="http://schemas.openxmlformats.org/drawingml/2006/main">
            <a:r>
              <a:t>You do not need any prior familiarity with Madhyasth Darshan, or with formal philosophy, to follow this session. I will use ordinary English first, and introduce source terms only when they help. Our aim is not persuasion or devotion. It is to examine one coherent account of reality — testing its definitions and internal consistency.</a:t>
            </a:r>
          </a:p>
          <a:p xmlns:a="http://schemas.openxmlformats.org/drawingml/2006/main">
            <a:r>
              <a:t>Madhyasth Darshan — also called Co-existentialism — was propounded by Shri A. Nagraj. The name points to a thesis we will unpack later: order in nature is mediative and inherent, not imposed by an external governor.</a:t>
            </a:r>
          </a:p>
          <a:p xmlns:a="http://schemas.openxmlformats.org/drawingml/2006/main">
            <a:r>
              <a:t>Here is the one claim to hold for the whole talk: existence is coexistence. Reality is the ever-present togetherness of a formless, all-pervasive ground and countless real, bounded units of nature, each saturated in that ground. Everything else — sentience, values, justice, society — unfolds from this picture.</a:t>
            </a:r>
          </a:p>
          <a:p xmlns:a="http://schemas.openxmlformats.org/drawingml/2006/main">
            <a:r>
              <a:t>One word about vocabulary. The published translations often print “Omnipotence” for the ground; the slides and I will say Omnipresence. Same reality, different English label — you will see the translation's word only inside 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details, here is the map of the argument. One claim — existence is coexistence — moves through three parts.</a:t>
            </a:r>
          </a:p>
          <a:p xmlns:a="http://schemas.openxmlformats.org/drawingml/2006/main">
            <a:r>
              <a:t>First: what is real, and how it is ordered. There is an all-pervasive ground and countable units, and two bonds — each unit to the ground, and each unit to the others. The second of those is complementarity, and it is given rather than made: because there are many bounded things in one ground, each stands in definite relation to the rest. Each unit has a definite form, capacities, a way of participating, and an inseparable innateness, and these show up in mutual relations across four orders of nature. Because no unit can be separated from the ground, existence itself neither begins nor ends.</a:t>
            </a:r>
          </a:p>
          <a:p xmlns:a="http://schemas.openxmlformats.org/drawingml/2006/main">
            <a:r>
              <a:t>Second: how development proceeds along two lines that must not be collapsed. And the reason it proceeds at all — the drive is to fulfil that complementarity. One line builds larger configurations — particles, molecules, cells, bodies — but never exceeds the order of the things it is built from. The other is development in an atom that can become a complete sentient unit. Across both, activity is effort, motion, and result together — not three separate steps.</a:t>
            </a:r>
          </a:p>
          <a:p xmlns:a="http://schemas.openxmlformats.org/drawingml/2006/main">
            <a:r>
              <a:t>Third: how sentient living becomes awakened conduct — the human as a joint form of body and sentient unit, the faculties of that sentient unit, the four harmonies it can reach, and why the higher three are reached only through action actually performed: evaluation, realisation, and participation in humane order.</a:t>
            </a:r>
          </a:p>
          <a:p xmlns:a="http://schemas.openxmlformats.org/drawingml/2006/main">
            <a:r>
              <a:t>Please keep one distinction early: the body line and the sentient-unit line meet in animal and human living, but they are not the same process. That blocks the most common confusion — treating the body as the producer of the knower.</a:t>
            </a:r>
          </a:p>
          <a:p xmlns:a="http://schemas.openxmlformats.org/drawingml/2006/main">
            <a:r>
              <a:t>Each movement is marked in the small line at the top of its opening slide, so you can always tell where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Any serious account of reality has to face a small set of questions. Let us name them before we give this tradition’s answers.</a:t>
            </a:r>
          </a:p>
          <a:p xmlns:a="http://schemas.openxmlformats.org/drawingml/2006/main">
            <a:r>
              <a:t>What is existence? Is there one fundamental reality, or many — and how are they related?</a:t>
            </a:r>
          </a:p>
          <a:p xmlns:a="http://schemas.openxmlformats.org/drawingml/2006/main">
            <a:r>
              <a:t>What exists? What are the basic constituents, and what is each of them?</a:t>
            </a:r>
          </a:p>
          <a:p xmlns:a="http://schemas.openxmlformats.org/drawingml/2006/main">
            <a:r>
              <a:t>Does what exists begin? Did reality originate at some time — or do only configurations begin and end?</a:t>
            </a:r>
          </a:p>
          <a:p xmlns:a="http://schemas.openxmlformats.org/drawingml/2006/main">
            <a:r>
              <a:t>Does the self begin or end with the body?</a:t>
            </a:r>
          </a:p>
          <a:p xmlns:a="http://schemas.openxmlformats.org/drawingml/2006/main">
            <a:r>
              <a:t>Is the plural world finally real, or only an appearance?</a:t>
            </a:r>
          </a:p>
          <a:p xmlns:a="http://schemas.openxmlformats.org/drawingml/2006/main">
            <a:r>
              <a:t>And sixth: how can what exists be known — what must be understood, and at what scope?</a:t>
            </a:r>
          </a:p>
          <a:p xmlns:a="http://schemas.openxmlformats.org/drawingml/2006/main">
            <a:r>
              <a:t>Different traditions answer these differently. Madhyasth Darshan does not answer them with six separate doctrines. One picture — coexistence — is meant to answer all six at once.</a:t>
            </a:r>
          </a:p>
          <a:p xmlns:a="http://schemas.openxmlformats.org/drawingml/2006/main">
            <a:r>
              <a:t>We will return to this list at the end with the answers filled in. Along the way you will also see how knowing widens, where the developmental drive comes to rest, and how different kinds of evidence are kept distinct.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map is the organising picture for what follows. You do not need to memorise every node. Use it as a place to return when later slides feel dense.</a:t>
            </a:r>
          </a:p>
          <a:p xmlns:a="http://schemas.openxmlformats.org/drawingml/2006/main">
            <a:r>
              <a:t>At the top: coexistence — the ground and countless units, inseparable without losing their distinction. Then, on the unit side: four aspects of every unit; relationships; four orders of nature; and two developmental lines.</a:t>
            </a:r>
          </a:p>
          <a:p xmlns:a="http://schemas.openxmlformats.org/drawingml/2006/main">
            <a:r>
              <a:t>Notice the fork. Bodies belong to compositional building. The sentient unit is the result of a different line — development in an atom. The two meet in animal and human living.</a:t>
            </a:r>
          </a:p>
          <a:p xmlns:a="http://schemas.openxmlformats.org/drawingml/2006/main">
            <a:r>
              <a:t>Later we will name three milestones on the sentient path: the arrival of sentience, then settlement of inner seeking, then authentic conduct. Those are not further material stages.</a:t>
            </a:r>
          </a:p>
          <a:p xmlns:a="http://schemas.openxmlformats.org/drawingml/2006/main">
            <a:r>
              <a:t>Most of the deck is a zoom into one region of this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 now enter the foundations — what this account says exists.</a:t>
            </a:r>
          </a:p>
          <a:p xmlns:a="http://schemas.openxmlformats.org/drawingml/2006/main">
            <a:r>
              <a:t>Existence has two inseparable aspects.</a:t>
            </a:r>
          </a:p>
          <a:p xmlns:a="http://schemas.openxmlformats.org/drawingml/2006/main">
            <a:r>
              <a:t>First, the ground — Omnipresence. Formless, all-pervasive, transparent, permeating, non-transforming, immeasurable. Actionless energy: it acts not at all, yet every unit is energised and regulated in it. There is no place where it is absent.</a:t>
            </a:r>
          </a:p>
          <a:p xmlns:a="http://schemas.openxmlformats.org/drawingml/2006/main">
            <a:r>
              <a:t>Hold on to two of those words, because the next slide is built on them. *Transparent* and *permeating*. The texts say transparence, permeability, and pervasiveness taken together are what show the ground to be one indivisible reality. Permeating is the strong one: the ground does not merely surround a unit from outside, it passes through it. That will matter in about ninety seconds.</a:t>
            </a:r>
          </a:p>
          <a:p xmlns:a="http://schemas.openxmlformats.org/drawingml/2006/main">
            <a:r>
              <a:t>Second, units of nature. Formful, active, countable. Each is bounded and saturated in the ground. Each has form, capacities, a way of participating, and an inseparable innateness — we will walk those four shortly.</a:t>
            </a:r>
          </a:p>
          <a:p xmlns:a="http://schemas.openxmlformats.org/drawingml/2006/main">
            <a:r>
              <a:t>Do not collapse levels. At the root, nature is analysed as atomic units — a centre with orbiting parts. Compounds and bodies are composite units. Body and sentient unit together are a joint form. Families and societies are relational assemblies.</a:t>
            </a:r>
          </a:p>
          <a:p xmlns:a="http://schemas.openxmlformats.org/drawingml/2006/main">
            <a:r>
              <a:t>These two poles were never separate. Separation of a unit from the saturated whole never happens. The ground does not change. Nature saturated in it is dynamic. Therefore all change is unit-activity.</a:t>
            </a:r>
          </a:p>
          <a:p xmlns:a="http://schemas.openxmlformats.org/drawingml/2006/main">
            <a:r>
              <a:t>One naming caution. The texts list many English names for the ground — including Knowledge and Consciousness. Those names do not mean a mind that knows. Active knowing belongs to the sentient unit, never to the ground.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How are ground and units related? The texts have one word for it: saturation. Every formful unit is soaked, submerged, and surrounded in Omnipresence.</a:t>
            </a:r>
          </a:p>
          <a:p xmlns:a="http://schemas.openxmlformats.org/drawingml/2006/main">
            <a:r>
              <a:t>Now, why is that true rather than merely asserted? Because the ground is permeating — the word from the last slide. Take a unit and divide it. Divide the fragments. Divide those. However far you go, every fragment is still soaked, still submerged, still surrounded. There is no cut you can make that leaves a piece standing outside the ground.</a:t>
            </a:r>
          </a:p>
          <a:p xmlns:a="http://schemas.openxmlformats.org/drawingml/2006/main">
            <a:r>
              <a:t>Two things follow immediately, and they are worth stating slowly.</a:t>
            </a:r>
          </a:p>
          <a:p xmlns:a="http://schemas.openxmlformats.org/drawingml/2006/main">
            <a:r>
              <a:t>One: a unit cannot be annihilated. To annihilate it you would need a fragment separated from what it is saturated in, and no division produces that.</a:t>
            </a:r>
          </a:p>
          <a:p xmlns:a="http://schemas.openxmlformats.org/drawingml/2006/main">
            <a:r>
              <a:t>Two: saturation is a condition, not an event. There is no moment at which units existed on their own and were later joined to the ground. If someone asks you *when* saturation happened, the answer is that the question does not apply.</a:t>
            </a:r>
          </a:p>
          <a:p xmlns:a="http://schemas.openxmlformats.org/drawingml/2006/main">
            <a:r>
              <a:t>Here is the part I want you to notice, because it is easy to read past. Soaked, submerged, surrounded are not three words for one relation. Each carries its own entailment, and the three cards on the slide follow them in order.</a:t>
            </a:r>
          </a:p>
          <a:p xmlns:a="http://schemas.openxmlformats.org/drawingml/2006/main">
            <a:r>
              <a:t>Soaked gives forcefulness. Being soaked *is* forcefulness — the unit is the bearer of definite relative power. On the force side of the same bond, the texts call this basic impulsion.</a:t>
            </a:r>
          </a:p>
          <a:p xmlns:a="http://schemas.openxmlformats.org/drawingml/2006/main">
            <a:r>
              <a:t>Submerged gives energy-fullness. The ground is on every side of the unit, so the unit is never devoid of the energy evident in its activity. The texts state the relation as a bare identity: unit-ness plus energy-fullness is activeness. And activity is never one thing at a time — always effort, motion, and result together.</a:t>
            </a:r>
          </a:p>
          <a:p xmlns:a="http://schemas.openxmlformats.org/drawingml/2006/main">
            <a:r>
              <a:t>Surrounded gives regulation. Because the formless reality stands between units, each is held at a definite distance from the others. That is where law and orderliness come from — not from a statute issued from outside. We will come back to this on slide 22.</a:t>
            </a:r>
          </a:p>
          <a:p xmlns:a="http://schemas.openxmlformats.org/drawingml/2006/main">
            <a:r>
              <a:t>Recognition and participation in orderliness follow from the same bond, and slide 8 takes them up in their own right. And please hear the caution: this is a claim about what existence is like, not a proposed laboratory transfer mechanism. Nor does saturation destine any unit to become sentient.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What is every unit? Four inseparable aspects — not a static checklist pasted onto things, but how a definite bearer shows up in the world.</a:t>
            </a:r>
          </a:p>
          <a:p xmlns:a="http://schemas.openxmlformats.org/drawingml/2006/main">
            <a:r>
              <a:t>Form is real boundary and configuration. Take the peepal tree on the slide: one bounded living form with trunk, branches, leaves, and roots.</a:t>
            </a:r>
          </a:p>
          <a:p xmlns:a="http://schemas.openxmlformats.org/drawingml/2006/main">
            <a:r>
              <a:t>Properties — capacities and relative effects. In the peepal: nutrition, growth, repair, seed production, degeneration under definite conditions.</a:t>
            </a:r>
          </a:p>
          <a:p xmlns:a="http://schemas.openxmlformats.org/drawingml/2006/main">
            <a:r>
              <a:t>Essential nature is usefulness in context: vitalising while the living organisation holds; devitalising when it breaks down.</a:t>
            </a:r>
          </a:p>
          <a:p xmlns:a="http://schemas.openxmlformats.org/drawingml/2006/main">
            <a:r>
              <a:t>Innateness — dharma in this technical sense — is what cannot be separated from the unit, plus order-specific fulfilment. For the peepal: existence plus growth. Seed-conformance is how it conducts itself, not an extra label piled on top.</a:t>
            </a:r>
          </a:p>
          <a:p xmlns:a="http://schemas.openxmlformats.org/drawingml/2006/main">
            <a:r>
              <a:t>Form is real; what another unit encounters is its definite presentation in mutual facing. In non-sentient nature these aspects are definite. Misreading arises mainly in human living, when the sentient unit mistakes the body for the self.</a:t>
            </a:r>
          </a:p>
          <a:p xmlns:a="http://schemas.openxmlformats.org/drawingml/2006/main">
            <a:r>
              <a:t>And notice: the tree as a composite can die while its material constituents persist. Persistence of existence is not persistence of one configuration.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complementarity we just established becomes evident through relationships among units — this slide is what it looks like in practice.</a:t>
            </a:r>
          </a:p>
          <a:p xmlns:a="http://schemas.openxmlformats.org/drawingml/2006/main">
            <a:r>
              <a:t>In the material, plant, and animal orders its expression is definite: recognition happens, fulfilment happens. At the human order alone it has to be recognised, evaluated, and fulfilled — so at the human order alone it can be got wrong, and it is got wrong when the body is mistaken for the self.</a:t>
            </a:r>
          </a:p>
          <a:p xmlns:a="http://schemas.openxmlformats.org/drawingml/2006/main">
            <a:r>
              <a:t>Two kinds of mutuality matter. A relationship is mutuality whose expectations are definite in the completeness of the bond — parent and child. An association or contact is mutuality where expectations are voluntary — neighbours who share a wall.</a:t>
            </a:r>
          </a:p>
          <a:p xmlns:a="http://schemas.openxmlformats.org/drawingml/2006/main">
            <a:r>
              <a:t>The slide names five value families: object, *jeevan*, human, established, and civic — the last is *shishta-mulya* in the source. Object values are two, utility and art, so the same list is often counted as six types: utility, art, *jeevan*, human, established, and civic. Established values are the ones that become evident when human relationships are recognised and fulfilled — trust, respect, affection, care, and so on. Civic values are how all of that is expressed in social participation.</a:t>
            </a:r>
          </a:p>
          <a:p xmlns:a="http://schemas.openxmlformats.org/drawingml/2006/main">
            <a:r>
              <a:t>At the human order the path runs: knowing, then believing, then recognising, then fulfilling. Awakening does not invent new faculties. It aligns this chain with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Units organise into four stable orders: material; bio or living-plant order; animal; and knowledge — the human order.</a:t>
            </a:r>
          </a:p>
          <a:p xmlns:a="http://schemas.openxmlformats.org/drawingml/2006/main">
            <a:r>
              <a:t>Read the table downward. Innateness is cumulative. Matter has existence. The bio order adds growth. The animal order adds hope to live. The human order adds happiness. Higher orders include the lower ones.</a:t>
            </a:r>
          </a:p>
          <a:p xmlns:a="http://schemas.openxmlformats.org/drawingml/2006/main">
            <a:r>
              <a:t>The pivotal boundary is between plant life and animal life. Material and bio orders are non-sentient. Hope to live is where sentience enters. The sentient unit is present in animal and human joint forms.</a:t>
            </a:r>
          </a:p>
          <a:p xmlns:a="http://schemas.openxmlformats.org/drawingml/2006/main">
            <a:r>
              <a:t>In animals, bodily and brain development limits how much of that unit’s range can be expressed. In humans, the bodily medium can support the full range, but confusion can still misdirect evaluation. Neither body produces sentience. Please do not collapse either case into “mind emerging from matter alone.”</a:t>
            </a:r>
          </a:p>
          <a:p xmlns:a="http://schemas.openxmlformats.org/drawingml/2006/main">
            <a:r>
              <a:t>We have now stated what exists and how it is ordered. Next: how development proceeds.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Start with the question the last three slides have been building toward: why does anything develop at all?</a:t>
            </a:r>
          </a:p>
          <a:p xmlns:a="http://schemas.openxmlformats.org/drawingml/2006/main">
            <a:r>
              <a:t>The answer the texts give is the completeness drive. Nature saturated in state-complete Omnipresence is oriented toward development and awakening, until realisation. “Oriented” is doing careful work there — it names a direction inherent in the order of coexistence, not a guarantee that every unit travels the whole way.</a:t>
            </a:r>
          </a:p>
          <a:p xmlns:a="http://schemas.openxmlformats.org/drawingml/2006/main">
            <a:r>
              <a:t>And here is the connection back to slide 8, which is the one I most want to land: that drive is the drive to fulfil complementarity. Complementarity is given; fulfilling it is what development *is*. Everything in this movement, and everything in the movement after it, is a specification of that one sentence.</a:t>
            </a:r>
          </a:p>
          <a:p xmlns:a="http://schemas.openxmlformats.org/drawingml/2006/main">
            <a:r>
              <a:t>That drive proceeds along two distinct lines, and Madhyasth Darshan insists they must not be collapsed.</a:t>
            </a:r>
          </a:p>
          <a:p xmlns:a="http://schemas.openxmlformats.org/drawingml/2006/main">
            <a:r>
              <a:t>Compositional progression joins particles, atoms, molecules, cells, and bodies into larger configurations. Separately, development in an atom can reach constitutional completeness as a sentient unit. These lines meet in living joint forms, but they remain distinct.</a:t>
            </a:r>
          </a:p>
          <a:p xmlns:a="http://schemas.openxmlformats.org/drawingml/2006/main">
            <a:r>
              <a:t>Across both, activity is one inseparable triad: effort, motion, and result — three aspects of one activity, not three sequential steps. When sodium and chlorine approach, the approach is effort and motion together; the stable salt crystal is the result.</a:t>
            </a:r>
          </a:p>
          <a:p xmlns:a="http://schemas.openxmlformats.org/drawingml/2006/main">
            <a:r>
              <a:t>The texts compress the engine this way: saturation is forcefulness; forcefulness is basic impulsion; impulsion is activity; activity is effort-motion-result; and that is development.</a:t>
            </a:r>
          </a:p>
          <a:p xmlns:a="http://schemas.openxmlformats.org/drawingml/2006/main">
            <a:r>
              <a:t>Each term has a goal: restfulness of effort, destination of motion, immortality of result. Development pervades nature; awakening occurs in the sentient. Non-sentient units participate by composing bodies and environments without each individually completing the drive.</a:t>
            </a:r>
          </a:p>
          <a:p xmlns:a="http://schemas.openxmlformats.org/drawingml/2006/main">
            <a:r>
              <a:t>The next slide shows why the composing line, however far it goes, never gets there on its 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Now we name three milestones — T1, T2, and T3.</a:t>
            </a:r>
          </a:p>
          <a:p xmlns:a="http://schemas.openxmlformats.org/drawingml/2006/main">
            <a:r>
              <a:t>T1 is constitutional completeness: the immortality of result. A developing atom becomes a sentient unit — jeevan. Status shifts from physicochemical to what the texts call delusional — meaning the body is mistaken for the self. That is a stage label, not a psychiatric diagnosis.</a:t>
            </a:r>
          </a:p>
          <a:p xmlns:a="http://schemas.openxmlformats.org/drawingml/2006/main">
            <a:r>
              <a:t>T2 is activity completeness: restfulness of effort. Inner seeking settles into direct realisation and resolution. Status shifts toward awakened understanding.</a:t>
            </a:r>
          </a:p>
          <a:p xmlns:a="http://schemas.openxmlformats.org/drawingml/2006/main">
            <a:r>
              <a:t>T3 is conduct completeness: destination of motion. Understanding becomes authentic conduct — living proof.</a:t>
            </a:r>
          </a:p>
          <a:p xmlns:a="http://schemas.openxmlformats.org/drawingml/2006/main">
            <a:r>
              <a:t>Keep T2 and T3 apart. T2 is internal settlement. T3 is outer destination in conduct. And do not confuse T2’s restfulness with the ease of non-sentient natural complementarity.</a:t>
            </a:r>
          </a:p>
          <a:p xmlns:a="http://schemas.openxmlformats.org/drawingml/2006/main">
            <a:r>
              <a:t>T1 is completeness of an atom’s constitution. T2 and T3 are not further material stages; they name completeness of activity and conduct in the awakened sentient unit. In one line: the saturated realises the ground it is saturated in.</a:t>
            </a:r>
          </a:p>
          <a:p xmlns:a="http://schemas.openxmlformats.org/drawingml/2006/main">
            <a:r>
              <a:t>One naming point, since I have just used the words. Physicochemical, delusional, deific, divine — the band across the top of this slide — are what the texts call the four **planes**. A plane is the developmental standing a thing has reached. It is not a kind of thing, and it is not the same as an order of nature. The next slide sorts that out properly.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Let me consolidate, because this tradition uses four different vocabularies for what is fundamentally one thing, and mixing them up is the commonest way to get lost in it.</a:t>
            </a:r>
          </a:p>
          <a:p xmlns:a="http://schemas.openxmlformats.org/drawingml/2006/main">
            <a:r>
              <a:t>There is one drive: nature saturated in state-complete Omnipresence, oriented toward development and awakening until realisation. Everything on this table is a way of describing where something stands in that drive.</a:t>
            </a:r>
          </a:p>
          <a:p xmlns:a="http://schemas.openxmlformats.org/drawingml/2006/main">
            <a:r>
              <a:t>**Orders** — material, bio, animal, knowledge — say what *kind* of thing a unit is: its organisation, its essential nature, its innateness. Four orders.</a:t>
            </a:r>
          </a:p>
          <a:p xmlns:a="http://schemas.openxmlformats.org/drawingml/2006/main">
            <a:r>
              <a:t>**Progressions** — existential, way of existence, development, awakening — say how the drive *moves*. The first names the definite sequence in which the orders become manifest; the second, the conformance by which each order keeps its conduct; the third, physicochemical and atomic development up to T1; the fourth, qualitative development inside a complete sentient unit toward T2 and T3.</a:t>
            </a:r>
          </a:p>
          <a:p xmlns:a="http://schemas.openxmlformats.org/drawingml/2006/main">
            <a:r>
              <a:t>**Planes** — physicochemical, delusional, deific, divine — say how *far* something has come. These are the four we just saw across the top of the last slide. Before T1; T1 only; T2; T3.</a:t>
            </a:r>
          </a:p>
          <a:p xmlns:a="http://schemas.openxmlformats.org/drawingml/2006/main">
            <a:r>
              <a:t>**Human types** — animalistic, demonic, humane or discerning, deific, divine — say how a human *life is oriented*. Five of them, and they classify modes of consciousness and conduct. Not biological species. Not social classes. Not castes.</a:t>
            </a:r>
          </a:p>
          <a:p xmlns:a="http://schemas.openxmlformats.org/drawingml/2006/main">
            <a:r>
              <a:t>The one caution worth stating out loud: an order is not a plane. The knowledge order spans more than one plane — most human beings are in the knowledge order and on the delusional plane at the same time, and there is nothing insulting in that; it just means realisation has not happened yet. T1 separates physicochemical from sentient standing. T2 and T3 are completeness within an awakened sentient unit, and no fifth plane is added beyond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T1 is the hinge: where sentience enters.</a:t>
            </a:r>
          </a:p>
          <a:p xmlns:a="http://schemas.openxmlformats.org/drawingml/2006/main">
            <a:r>
              <a:t>It is constitutional completeness at the atomic level — not neural complexity, not molecular size, and not merely climbing the order chain.</a:t>
            </a:r>
          </a:p>
          <a:p xmlns:a="http://schemas.openxmlformats.org/drawingml/2006/main">
            <a:r>
              <a:t>And complementarity is doing the work here too, which is worth saying out loud because it is the same principle as the composing line, not a different mechanism. The texts describe a developing atom that incorporates particles — “hungry” atoms and “overfull” atoms completing each other — in a suitable environment. Two incompletenesses fulfil one another. When the required constitution closes, particle count no longer increases or decreases.</a:t>
            </a:r>
          </a:p>
          <a:p xmlns:a="http://schemas.openxmlformats.org/drawingml/2006/main">
            <a:r>
              <a:t>Here is the criterion, and it is sharper than it first looks. In matter, qualitative change does not happen without quantitative change: an atom's kind and capacity track its particle number. Change what it can do and you have changed how many particles it has. Those two kinds of change are tied together — right up to completeness. Completeness is where they come apart. After it, qualitative activity continues while the particle count is fixed. That separation is the criterion.</a:t>
            </a:r>
          </a:p>
          <a:p xmlns:a="http://schemas.openxmlformats.org/drawingml/2006/main">
            <a:r>
              <a:t>So: before T1, still changing structure and particle count; non-sentient radiance and projection. After T1, released from molecular and weight bondage, carried by hope; qualitative change without quantitative change; a finer mode of recognition as the sentient unit.</a:t>
            </a:r>
          </a:p>
          <a:p xmlns:a="http://schemas.openxmlformats.org/drawingml/2006/main">
            <a:r>
              <a:t>T1 is irreversible because the completed constitution no longer decomposes. That is also the textual basis for continuity of the knower beyond a particular body — the constitution has closed, so the death of a body is not the end of the sentient unit. JV goes further and describes its subsequent association with another body. I will flag now what I will repeat under method and evidence: these are claims of the primary texts, grounded in constitutional completeness, and no accepted procedure measures any of it.</a:t>
            </a:r>
          </a:p>
          <a:p xmlns:a="http://schemas.openxmlformats.org/drawingml/2006/main">
            <a:r>
              <a:t>I want to be plain: this is an ontological account. No accepted empirical procedure currently identifies the threshold. We will return to that honesty under method and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 now turn to human living — movement three.</a:t>
            </a:r>
          </a:p>
          <a:p xmlns:a="http://schemas.openxmlformats.org/drawingml/2006/main">
            <a:r>
              <a:t>Animal and human living is a joint form. The sentient unit brings the full set of faculties and activities. The body supplies the species-specific medium.</a:t>
            </a:r>
          </a:p>
          <a:p xmlns:a="http://schemas.openxmlformats.org/drawingml/2006/main">
            <a:r>
              <a:t>On one side: the body — living composition, sense organs, brain, physical expression; decomposable. On the other: the sentient unit — constitutionally complete; faculties inherent; continuing when the joint form ends.</a:t>
            </a:r>
          </a:p>
          <a:p xmlns:a="http://schemas.openxmlformats.org/drawingml/2006/main">
            <a:r>
              <a:t>Animal bodily development limits expression. The human medium can support the full range, while mistaking the body for the self can still misdirect evaluation.</a:t>
            </a:r>
          </a:p>
          <a:p xmlns:a="http://schemas.openxmlformats.org/drawingml/2006/main">
            <a:r>
              <a:t>The body gates expression. The sentient unit is seer, doer, and enjoyer through the body. Animal limitation belongs to the medium. Human mis-evaluation belongs to that confusion. The body does not produce sentience, and those two problems are not the same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sentient unit — jeevan — is a constitutionally complete atom.</a:t>
            </a:r>
          </a:p>
          <a:p xmlns:a="http://schemas.openxmlformats.org/drawingml/2006/main">
            <a:r>
              <a:t>Structurally, the centre is the core self. Around it: resolve, desire, thought, and hope — the texts’ buddhi, chitta, vritti, and mun.</a:t>
            </a:r>
          </a:p>
          <a:p xmlns:a="http://schemas.openxmlformats.org/drawingml/2006/main">
            <a:r>
              <a:t>Each works outward and inward. Hope selects and tastes. Thought analyses and deliberates. Desire visualises and contemplates. Resolve resolves and receives clear understanding. The core self authenticates and realises.</a:t>
            </a:r>
          </a:p>
          <a:p xmlns:a="http://schemas.openxmlformats.org/drawingml/2006/main">
            <a:r>
              <a:t>All five faculties and ten activities belong to the sentient unit. Presence is not the same as expression or effective organisation. Animal bodies limit expression. Humans have the medium for the full range, yet under body-confusion only part of that range may be effectively organised.</a:t>
            </a:r>
          </a:p>
          <a:p xmlns:a="http://schemas.openxmlformats.org/drawingml/2006/main">
            <a:r>
              <a:t>Study brings understanding. Practice tests and stabilises it. Practice does not manufacture faculties that were missing.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peace, contentment, bliss. How does a person actually get them?</a:t>
            </a:r>
          </a:p>
          <a:p xmlns:a="http://schemas.openxmlformats.org/drawingml/2006/main">
            <a:r>
              <a:t>Let me put the shape of the answer first, because it is the hinge of this whole movement. Below the human order, fulfilment is definite — it needs no deciding. A molecule does not choose. A plant does not deliberate. Even the animal, which has a complete sentient unit, is carried by species-conformance to the fulfilment available through its body. Nothing there has to be *worked out*.</a:t>
            </a:r>
          </a:p>
          <a:p xmlns:a="http://schemas.openxmlformats.org/drawingml/2006/main">
            <a:r>
              <a:t>The human order is the one place where complementarity has to be fulfilled *knowingly* — where the higher harmonies are on offer and nothing delivers them automatically. And here is the part people resist: understanding does not deliver them either. Study is necessary. It is not sufficient. You can recognise the higher faculties, grasp the whole account, hold it clearly — and still not have peace, contentment, or bliss, because those are harmonies of the unit in *activity*, and there is no activity in knowing about activity.</a:t>
            </a:r>
          </a:p>
          <a:p xmlns:a="http://schemas.openxmlformats.org/drawingml/2006/main">
            <a:r>
              <a:t>What delivers them is performed action — specifically, action that fulfils relationships. Recognise the higher faculties; study until you understand; then act so that what you owe in each relationship is actually fulfilled. That third step is not optional decoration on the first two. It is where the harmony happens.</a:t>
            </a:r>
          </a:p>
          <a:p xmlns:a="http://schemas.openxmlformats.org/drawingml/2006/main">
            <a:r>
              <a:t>That is why the text bothers with the anatomy of action at all. Every activity done with desire has five limbs: doer, cause, objective, result, and effect. Effect means the act's reach or consequence — not a separate ledger of destiny. Desire is the aspiration; karma is the doing, activity together with aspiration; result is the fruit. And the text's own criterion: desire, doing, and result must *balance* for the desire to be truly accomplished. Wanting without doing is not accomplishment. Doing that misses the result is not accomplishment either.</a:t>
            </a:r>
          </a:p>
          <a:p xmlns:a="http://schemas.openxmlformats.org/drawingml/2006/main">
            <a:r>
              <a:t>So: understanding alone changes nothing. It is the doing that yields the fruit. Book knowledge is half the work — the other half is conduct that fulfils relationships.</a:t>
            </a:r>
          </a:p>
          <a:p xmlns:a="http://schemas.openxmlformats.org/drawingml/2006/main">
            <a:r>
              <a:t>Hold this beside the earlier triad of effort, motion, and result. This is the desire-laden framing of the same activity ontology in sentient living. The next slides show how desire and doing get reorganised under justice, innateness, and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Happiness, peace, contentment, and bliss are not passing moods, and they are not a fourth milestone after T1, T2, and T3.</a:t>
            </a:r>
          </a:p>
          <a:p xmlns:a="http://schemas.openxmlformats.org/drawingml/2006/main">
            <a:r>
              <a:t>They name harmonies within the sentient unit. Happiness: harmony of hope and thought. Peace: thought and desire. Contentment: desire and resolve. Bliss: resolve and the core self.</a:t>
            </a:r>
          </a:p>
          <a:p xmlns:a="http://schemas.openxmlformats.org/drawingml/2006/main">
            <a:r>
              <a:t>Now hold all four in view, because they are what the knowledge order is actually after. This is the answer to “what is a human life for?” in this system — and notice that only the first of the four is reachable by sensory living. Happiness, the harmony of hope and thought, an animal can have. Peace, contentment, and bliss it cannot even see.</a:t>
            </a:r>
          </a:p>
          <a:p xmlns:a="http://schemas.openxmlformats.org/drawingml/2006/main">
            <a:r>
              <a:t>The living cycle is: reflection feeds projection, and projection feeds deeper reflection — that is what living means here. Continuous happiness is harmony evidenced in resolved living, not a sensory spike.</a:t>
            </a:r>
          </a:p>
          <a:p xmlns:a="http://schemas.openxmlformats.org/drawingml/2006/main">
            <a:r>
              <a:t>The next two slides ask how a human being actually gets from the first harmony to the other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I have now told you twice that the composing line and the atomic line are different. This slide is where I owe you the reason.</a:t>
            </a:r>
          </a:p>
          <a:p xmlns:a="http://schemas.openxmlformats.org/drawingml/2006/main">
            <a:r>
              <a:t>Start with what is true, and notice it is complementarity doing the work: there is a natural inclination toward coexistence everywhere. That inclination is what leads particles into atoms, atoms into molecules, molecules into cells and bodies. It is real, and it builds a great deal.</a:t>
            </a:r>
          </a:p>
          <a:p xmlns:a="http://schemas.openxmlformats.org/drawingml/2006/main">
            <a:r>
              <a:t>Now the constraint. Whatever a thing is constituted of, it remains of the order of that constituent — however vast the formation. Three of the texts' own examples. Objects made from soil remain soil, no matter how elaborate the object. A body built from living cells remains of the order of the living cell. And the Earth entire is of the order of the atoms, molecules, and cells composing it.</a:t>
            </a:r>
          </a:p>
          <a:p xmlns:a="http://schemas.openxmlformats.org/drawingml/2006/main">
            <a:r>
              <a:t>So change of composition is recognised as development or decline *within* an order. It is never passage beyond the order. Compositional progression can give you an atom, then a molecule, then a cell, then a body of extraordinary complexity — and every one of those is still of the order of what it is made from.</a:t>
            </a:r>
          </a:p>
          <a:p xmlns:a="http://schemas.openxmlformats.org/drawingml/2006/main">
            <a:r>
              <a:t>That is the argument. Composition supplies bodies and environments, and it never reaches constitutional completeness, because reaching it would mean exceeding the order of your own constituents. Which is exactly why development in the atom has to be kept as a separate line.</a:t>
            </a:r>
          </a:p>
          <a:p xmlns:a="http://schemas.openxmlformats.org/drawingml/2006/main">
            <a:r>
              <a:t>Two smaller distinctions while we are here. In a mixture, components stay side by side and each keeps its own conduct — no new unit is formed. In a compound, definite proportion yields a genuinely new bounded unit, with its own form and its own capacities in mutuality. A compound is a real new unit; it is still not a step toward sentience.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explains the name Madhyasth — and it cashes a cheque I wrote back on slide 6.</a:t>
            </a:r>
          </a:p>
          <a:p xmlns:a="http://schemas.openxmlformats.org/drawingml/2006/main">
            <a:r>
              <a:t>Remember the third of the three terms: surrounded. Regulation is what surroundedness establishes. Because the formless reality stands between units, each is held at a definite distance from the others. Orderliness is self-regulation inherent in saturated units — not dispensed by a cosmic governor. That mediative regulation, which regulates and conserves every unit, gives the darshan its name.</a:t>
            </a:r>
          </a:p>
          <a:p xmlns:a="http://schemas.openxmlformats.org/drawingml/2006/main">
            <a:r>
              <a:t>The account works at three levels, and it is worth naming them: Omnipresence is the sustaining condition; within an atom, the nucleus is the mediative organisation that regulates generative and degenerative activity and conserves relative powers; and at larger scales, order-specific conformance is the definite conduct you can actually observe.</a:t>
            </a:r>
          </a:p>
          <a:p xmlns:a="http://schemas.openxmlformats.org/drawingml/2006/main">
            <a:r>
              <a:t>Conformance has order-specific modes. Material: structural or result conformance. Bio: seed-conformance. Animal: species-conformance, inherited from gestation. Human: *sanskar*-conformance — achieved through knowing, believing, recognising, and fulfilling, rather than inherited. That last one is why education and tradition matter so much here: they can reproduce confusion just as easily as they can support awakening.</a:t>
            </a:r>
          </a:p>
          <a:p xmlns:a="http://schemas.openxmlformats.org/drawingml/2006/main">
            <a:r>
              <a:t>Material, bio, and animal regulation is definite. An animal body’s expressive limits do not introduce evaluative error. In human living, the sentient unit can judge wrongly when it mistakes the body for the self. Awakening aligns evaluation with coexistence. That is why justice becomes necessary at the human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 evaluation widens across six perspectives: pleasant, healthy, profit, justice, innateness or dharma as an evaluative lens, and truth. They move from sensation, body, and gain to relationship, orderliness, and coexistence.</a:t>
            </a:r>
          </a:p>
          <a:p xmlns:a="http://schemas.openxmlformats.org/drawingml/2006/main">
            <a:r>
              <a:t>Justice is both one of the six and the principle of fulfilled relationship. Dharma here means fitting the wider pattern — discipline in thought, not only outer conduct. Truth means alignment with the whole, grounded in realisation, not in liking or gain.</a:t>
            </a:r>
          </a:p>
          <a:p xmlns:a="http://schemas.openxmlformats.org/drawingml/2006/main">
            <a:r>
              <a:t>The graduated chain is: rule itself is justice; justice itself is dharma; dharma itself is truth; truth itself is coexistence.</a:t>
            </a:r>
          </a:p>
          <a:p xmlns:a="http://schemas.openxmlformats.org/drawingml/2006/main">
            <a:r>
              <a:t>Pleasure, health, and profit are not condemned. They remain legitimate in their domain. Awakening changes the organising refuge: they are subordinated under justice, dharma, and truth — not abandoned.</a:t>
            </a:r>
          </a:p>
          <a:p xmlns:a="http://schemas.openxmlformats.org/drawingml/2006/main">
            <a:r>
              <a:t>Keep this distinct from unit-innateness earlier. One word, two levels: what a unit cannot be separated from, versus how we evaluate thought and resolution.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 turn now to knowing — how understanding widens, and how it happens in the sentient unit.</a:t>
            </a:r>
          </a:p>
          <a:p xmlns:a="http://schemas.openxmlformats.org/drawingml/2006/main">
            <a:r>
              <a:t>On the left: what must be understood as mutual context widens. Form is real structure encountered in mutual facing. Capacities show as effects between units. Essential nature needs state, order, and context. Innateness is evidenced in whole-order fulfilment. Relationships are shared expectations weighed by justice, dharma, and truth. At the top is coexistence itself — not another observed detail, but the aim of knowing.</a:t>
            </a:r>
          </a:p>
          <a:p xmlns:a="http://schemas.openxmlformats.org/drawingml/2006/main">
            <a:r>
              <a:t>On the right: how knowing happens within the sentient unit. Hope tastes and selects. Thought deliberates. Desire contemplates. Resolve clarifies and resolves. The core self realises — through truth. When each level is acted in alignment, it is felt as happiness, peace, contentment, and bliss.</a:t>
            </a:r>
          </a:p>
          <a:p xmlns:a="http://schemas.openxmlformats.org/drawingml/2006/main">
            <a:r>
              <a:t>The ladders meet at the top: coexistence known and lived is felt as bliss. Human error belongs to confused evaluation, not to fuzziness in the reality reflected.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Before the closing summary, I owe you an accounting of what kind of thing each part of this has been.</a:t>
            </a:r>
          </a:p>
          <a:p xmlns:a="http://schemas.openxmlformats.org/drawingml/2006/main">
            <a:r>
              <a:t>Different methods establish different things. They can support one another, but they are not interchangeable.</a:t>
            </a:r>
          </a:p>
          <a:p xmlns:a="http://schemas.openxmlformats.org/drawingml/2006/main">
            <a:r>
              <a:t>Logical exposition can show internal coherence. It cannot by itself prove empirical fact.</a:t>
            </a:r>
          </a:p>
          <a:p xmlns:a="http://schemas.openxmlformats.org/drawingml/2006/main">
            <a:r>
              <a:t>Study and self-examination can show intelligibility and first-person recognition. They cannot by themselves physically identify the sentient unit.</a:t>
            </a:r>
          </a:p>
          <a:p xmlns:a="http://schemas.openxmlformats.org/drawingml/2006/main">
            <a:r>
              <a:t>Practice and conduct-evidence can show effects in work, behaviour, and mutual satisfaction. They cannot by themselves measure T1 or the unit–body interface.</a:t>
            </a:r>
          </a:p>
          <a:p xmlns:a="http://schemas.openxmlformats.org/drawingml/2006/main">
            <a:r>
              <a:t>Realisation is this tradition’s claimed completion of knowing. It does not force agreement from other methods.</a:t>
            </a:r>
          </a:p>
          <a:p xmlns:a="http://schemas.openxmlformats.org/drawingml/2006/main">
            <a:r>
              <a:t>Publicly measurable physical claims remain answerable to instrument-based science. No accepted measurement currently identifies T1, the unit–body interface, or post-body reassociation — the last of those being the claim I flagged on slide 16, that the sentient unit continues when a body ends and may later associate with another. Stating that plainly is part of responsible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sentient unit bears the same five faculties and the same ten activities. What differs is the medium and what the unit does with it.</a:t>
            </a:r>
          </a:p>
          <a:p xmlns:a="http://schemas.openxmlformats.org/drawingml/2006/main">
            <a:r>
              <a:t>Take the animal case first, because it sets up the human one. An animal *jeevan* is complete — it has all five faculties. But its bodily medium is limited, so it acts for sensory satisfaction under species-conformance, and it reaches the first harmony and stops. Peace, contentment, and bliss are not failures on its part; they are simply not available through that body.</a:t>
            </a:r>
          </a:p>
          <a:p xmlns:a="http://schemas.openxmlformats.org/drawingml/2006/main">
            <a:r>
              <a:t>Now the human case. The human body *can* express all ten activities — that is what the developed nervous system is for. And yet, by default, human *jeevan* goes on evaluating by exactly the same sensory criteria the animal used. The equipment changed; the habit did not. That is the fork this slide names, and it answers one practical question — what makes me happy?</a:t>
            </a:r>
          </a:p>
          <a:p xmlns:a="http://schemas.openxmlformats.org/drawingml/2006/main">
            <a:r>
              <a:t>Under confusion, the body is mistaken for the self. Selection and evaluation organise around pleasure, health, and profit.</a:t>
            </a:r>
          </a:p>
          <a:p xmlns:a="http://schemas.openxmlformats.org/drawingml/2006/main">
            <a:r>
              <a:t>Under awakening, clear knowing regulates sensory life. Knowing and believing guide recognition and fulfilment toward justice, innateness, truth, and coexistence.</a:t>
            </a:r>
          </a:p>
          <a:p xmlns:a="http://schemas.openxmlformats.org/drawingml/2006/main">
            <a:r>
              <a:t>No faculty is missing, and sensation is not rejected. Confusion lets sensory criteria rule; awakening balances sensation with understanding, so understanding guides conduct.</a:t>
            </a:r>
          </a:p>
          <a:p xmlns:a="http://schemas.openxmlformats.org/drawingml/2006/main">
            <a:r>
              <a:t>When the same fork is resolved in a person and sustained across a tradition, it shows as resolution, prosperity, fearlessness, and coexistence.</a:t>
            </a:r>
          </a:p>
          <a:p xmlns:a="http://schemas.openxmlformats.org/drawingml/2006/main">
            <a:r>
              <a:t>And one thing awakening is *not*: it is not preferring the right things, and it is not having the right insight. The next slide is about why.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where the developmental drive comes to rest: realisation in coexistence.</a:t>
            </a:r>
          </a:p>
          <a:p xmlns:a="http://schemas.openxmlformats.org/drawingml/2006/main">
            <a:r>
              <a:t>The drive settles when relationships across nature are fulfilled and made evident — not because the ground becomes a knower, but because the awakened sentient unit realises and evidences the coexistence in which it has always existed.</a:t>
            </a:r>
          </a:p>
          <a:p xmlns:a="http://schemas.openxmlformats.org/drawingml/2006/main">
            <a:r>
              <a:t>Realisation is bliss. Truth itself is abundance — coexistence; realisation of abundance is bliss; bliss is the living of the sentient unit. What is realised is the ground the unit was always saturated in.</a:t>
            </a:r>
          </a:p>
          <a:p xmlns:a="http://schemas.openxmlformats.org/drawingml/2006/main">
            <a:r>
              <a:t>Three roles stay distinct: the sentient unit remains the knower; existence as coexistence remains the known; knowledge becomes evident as authentic conduct. They become coherent without becoming identical. The individual knower is not dissolved into a single universal 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drive comes to rest in awakened human beings — effort settled, understanding proven in daily conduct, and carried as a tradition.</a:t>
            </a:r>
          </a:p>
          <a:p xmlns:a="http://schemas.openxmlformats.org/drawingml/2006/main">
            <a:r>
              <a:t>Effort settled in realisation is T2. Understanding proven in conduct is T3.</a:t>
            </a:r>
          </a:p>
          <a:p xmlns:a="http://schemas.openxmlformats.org/drawingml/2006/main">
            <a:r>
              <a:t>Four goals at four levels: resolution in every person; prosperity in every family; fearlessness — trust — in society; coexistence with all of nature.</a:t>
            </a:r>
          </a:p>
          <a:p xmlns:a="http://schemas.openxmlformats.org/drawingml/2006/main">
            <a:r>
              <a:t>Five dimensions of continuity carry the tradition: education and formative culture; justice and preservation; health and restraint; production and work; exchange and storage.</a:t>
            </a:r>
          </a:p>
          <a:p xmlns:a="http://schemas.openxmlformats.org/drawingml/2006/main">
            <a:r>
              <a:t>And here is where the other half of the composition slide returns. Families and societies are not a further compositional tier — you cannot get a humane society by stacking bodies the way you stack molecules. They are relational achievements: they persist humanely while relationships are recognised, values fulfilled, evaluation completed, and mutual satisfaction achieved. Fear, force, or extraction can hold a group together for a while; on this account they do not make it an orderly society.</a:t>
            </a:r>
          </a:p>
          <a:p xmlns:a="http://schemas.openxmlformats.org/drawingml/2006/main">
            <a:r>
              <a:t>This is not an ideal bolted onto matter. On this account, the progression is designed to arrive here. Nature saturated in Omnipresence is bound for development until realisation. An awakened human tradition is what that progression delivers.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Let us close the loop on the six questions.</a:t>
            </a:r>
          </a:p>
          <a:p xmlns:a="http://schemas.openxmlformats.org/drawingml/2006/main">
            <a:r>
              <a:t>What is existence? Eternal coexistence: countless units saturated in all-pervasive Omnipresence.</a:t>
            </a:r>
          </a:p>
          <a:p xmlns:a="http://schemas.openxmlformats.org/drawingml/2006/main">
            <a:r>
              <a:t>What exists? Root atomic units; composite units and bodies; body–sentient-unit joint forms; and relational human assemblies — all saturated in the ground.</a:t>
            </a:r>
          </a:p>
          <a:p xmlns:a="http://schemas.openxmlformats.org/drawingml/2006/main">
            <a:r>
              <a:t>Does existence begin or end? No. Existence is perpetual. Configurations form, transform, and decompose.</a:t>
            </a:r>
          </a:p>
          <a:p xmlns:a="http://schemas.openxmlformats.org/drawingml/2006/main">
            <a:r>
              <a:t>What is the self? The constitutionally complete sentient unit working through the body.</a:t>
            </a:r>
          </a:p>
          <a:p xmlns:a="http://schemas.openxmlformats.org/drawingml/2006/main">
            <a:r>
              <a:t>Is the world real? Yes. Units, mutual relationships, and definite material fulfilment are real within perpetual coexistence.</a:t>
            </a:r>
          </a:p>
          <a:p xmlns:a="http://schemas.openxmlformats.org/drawingml/2006/main">
            <a:r>
              <a:t>How is it known? Through logical exposition, study and self-examination, practice, realisation, and conduct-evidence — without conflating those with instrument measurement of T1. The lived test is evidence in humane conduct.</a:t>
            </a:r>
          </a:p>
          <a:p xmlns:a="http://schemas.openxmlformats.org/drawingml/2006/main">
            <a:r>
              <a:t>If we continue later, the natural next step is comparison with other traditions and with science — including open problems this study names for Madhyasth Darshan itself. Thank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consequence of the last slide deserves its own moment, because it answers the second of our opening questions.</a:t>
            </a:r>
          </a:p>
          <a:p>
            <a:r>
              <a:t>If no division of a unit can put any fragment outside the ground, then nothing that exists can be annihilated. And nothing arises from non-being either. So existence does not begin and does not end. What begins and ends is composition — particular arrangements of units.</a:t>
            </a:r>
          </a:p>
          <a:p>
            <a:r>
              <a:t>Notice carefully what that does and does not claim. A compound decomposes. A body dies. Those organisations genuinely end. What continues is their constituents, in other relations. Perpetuity belongs to coexistence, not to any particular configuration.</a:t>
            </a:r>
          </a:p>
          <a:p>
            <a:r>
              <a:t>Second point, and this one matters for how you hear the rest of the session. The texts call Omnipresence the supreme cause, and that phrase invites a misreading. It is cause only in the sustaining sense — no activity exists apart from nature saturated in it. It starts no particular change. Composition, decomposition, development, conduct: all of that is the work of units acting on one another. So there is no creator in this account, and no ruler issuing instructions.</a:t>
            </a:r>
          </a:p>
          <a:p>
            <a:r>
              <a:t>Third, time. Time here is not a container existing alongside the ground and the units. Time is the duration of activity, reckoned from recurrent activities — a rotation, a year. The ground does not transform, so it is not temporal in the way unit-activity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the relation I have described runs between each unit and the ground. There is a second relation, and without it nothing else in this account works — not value, not relationship, not justice, and not the drive we are about to follow.</a:t>
            </a:r>
          </a:p>
          <a:p>
            <a:r>
              <a:t>Here is where it comes from. Existence is countless units, each with definite limits, in one pervasive reality. That fact — bounded plurality — is itself what makes recognition possible. The text puts it almost casually: “a provision for one unit to recognise another got manifest in existence.” Because there are many bounded things in one ground, each one stands in definite relation to the others.</a:t>
            </a:r>
          </a:p>
          <a:p>
            <a:r>
              <a:t>So complementarity is *given* in coexistence. Not created by us. Not agreed between parties. Not a value we project onto a neutral world. It is a feature of what exists.</a:t>
            </a:r>
          </a:p>
          <a:p>
            <a:r>
              <a:t>Three things follow, and they are the three cards.</a:t>
            </a:r>
          </a:p>
          <a:p>
            <a:r>
              <a:t>Recognition first. A unit recognises another by responding according to definite constitution, distance, force, and relation. No cognition is involved — please do not hear "recognition" as a mental act. Heat is accepted and redistributed by matter. Particles hold definite distance in an atom. Atoms combine in definite ways and not others. That is recognition in the insentient orders, and the texts name the equipment for it: capacity, ability, receptivity.</a:t>
            </a:r>
          </a:p>
          <a:p>
            <a:r>
              <a:t>Complementarity second. Nothing in nature exists in isolation, and each unit is a whole along with its environment. Now the consequence people find surprising: essentiality in every order is what value *is*, in the broad sense — the usefulness through which a unit is complementary to others. That means value is ontological here. It is not assigned by an observer, and it is not a human invention layered on top of physics.</a:t>
            </a:r>
          </a:p>
          <a:p>
            <a:r>
              <a:t>Fulfilment third. Fulfilment is the participation that follows recognition, according to constitution and order. Below the human order it is definite — it happens. At the human order it must be achieved, through knowing and believing. Which is precisely why, at the human order alone, it can fail.</a:t>
            </a:r>
          </a:p>
          <a:p>
            <a:r>
              <a:t>And now the sentence I want you to carry through the rest of the session, because everything from here specifies it: the completeness drive is the drive to fulfil this complementarity. When we get to the composing line, the texts call it a natural inclination toward coexistence. When we get to the sentience threshold, it is hungry atoms and overfull atoms completing each other. When we get to justice, it is complementarity fulfilled knowingly between human beings. Same thing, three registers.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bd0c55243afd4fa6" Type="http://schemas.openxmlformats.org/officeDocument/2006/relationships/slideMaster" Target="../slideMasters/slideMaster1.xml"/></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82d98eee85044c16" Type="http://schemas.openxmlformats.org/officeDocument/2006/relationships/theme" Target="theme/theme2.xml"/><Relationship Id="Rfbe447850c1b4458" Type="http://schemas.openxmlformats.org/officeDocument/2006/relationships/slideLayout" Target="../slideLayouts/slideLayout1.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fbe447850c1b4458"/>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Id="Rf356ad71c37b44ed" Type="http://schemas.openxmlformats.org/officeDocument/2006/relationships/notesSlide" Target="../notesSlides/notesSlide1.xml"/><Relationship Id="Rf6d71d3f977e479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73e8f36c95904ad3" Type="http://schemas.openxmlformats.org/officeDocument/2006/relationships/notesSlide" Target="../notesSlides/notesSlide2.xml"/><Relationship Id="R7e318898b5434dc8"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da332cc18804fca" Type="http://schemas.openxmlformats.org/officeDocument/2006/relationships/notesSlide" Target="../notesSlides/notesSlide3.xml"/><Relationship Id="R38ee44a0fea7465d" Type="http://schemas.openxmlformats.org/officeDocument/2006/relationships/slideLayout" Target="../slideLayouts/slideLayout1.xml"/><Relationship Id="R88075c53ad06497a" Type="http://schemas.openxmlformats.org/officeDocument/2006/relationships/image" Target="../media/image.png"/></Relationships>
</file>

<file path=ppt/slides/_rels/slide4.xml.rels><?xml version='1.0' encoding='UTF-8' standalone='yes'?>
<Relationships xmlns="http://schemas.openxmlformats.org/package/2006/relationships"><Relationship Id="R40a95109814b47bb" Type="http://schemas.openxmlformats.org/officeDocument/2006/relationships/notesSlide" Target="../notesSlides/notesSlide4.xml"/><Relationship Id="R93b96b4631b84ad7" Type="http://schemas.openxmlformats.org/officeDocument/2006/relationships/slideLayout" Target="../slideLayouts/slideLayout1.xml"/><Relationship Id="Rcf6635e90225442b" Type="http://schemas.openxmlformats.org/officeDocument/2006/relationships/image" Target="../media/image2.png"/></Relationships>
</file>

<file path=ppt/slides/_rels/slide5.xml.rels><?xml version='1.0' encoding='UTF-8' standalone='yes'?>
<Relationships xmlns="http://schemas.openxmlformats.org/package/2006/relationships"><Relationship Id="R5c9e4bff839147d7" Type="http://schemas.openxmlformats.org/officeDocument/2006/relationships/notesSlide" Target="../notesSlides/notesSlide5.xml"/><Relationship Id="Ree168a48054a47c4"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0139d309b86a42f9" Type="http://schemas.openxmlformats.org/officeDocument/2006/relationships/slideLayout" Target="../slideLayouts/slideLayout1.xml"/><Relationship Id="Rc13c5b795fec4c49" Type="http://schemas.openxmlformats.org/officeDocument/2006/relationships/notesSlide" Target="../notesSlides/notesSlide6.xml"/><Relationship Id="Rc382a912f15544a8" Type="http://schemas.openxmlformats.org/officeDocument/2006/relationships/image" Target="../media/image5.png"/><Relationship Id="Rd188bf943b454c22" Type="http://schemas.openxmlformats.org/officeDocument/2006/relationships/image" Target="../media/image3.png"/><Relationship Id="Rf96316b55e144a25" Type="http://schemas.openxmlformats.org/officeDocument/2006/relationships/image" Target="../media/image4.png"/></Relationships>
</file>

<file path=ppt/slides/_rels/slide7.xml.rels><?xml version='1.0' encoding='UTF-8' standalone='yes'?>
<Relationships xmlns="http://schemas.openxmlformats.org/package/2006/relationships"><Relationship Id="R0139d309b86a42f9" Type="http://schemas.openxmlformats.org/officeDocument/2006/relationships/slideLayout" Target="../slideLayouts/slideLayout1.xml"/><Relationship Id="Rc382a912f15544a8" Type="http://schemas.openxmlformats.org/officeDocument/2006/relationships/image" Target="../media/image5.png"/><Relationship Id="Rd188bf943b454c22" Type="http://schemas.openxmlformats.org/officeDocument/2006/relationships/image" Target="../media/image3.png"/><Relationship Id="Rf96316b55e144a25" Type="http://schemas.openxmlformats.org/officeDocument/2006/relationships/image" Target="../media/image4.png"/><Relationship Id="rId5" Type="http://schemas.openxmlformats.org/officeDocument/2006/relationships/notesSlide" Target="../notesSlides/notesSlide27.xml"/></Relationships>
</file>

<file path=ppt/slides/_rels/slide8.xml.rels><?xml version='1.0' encoding='UTF-8' standalone='yes'?>
<Relationships xmlns="http://schemas.openxmlformats.org/package/2006/relationships"><Relationship Id="R0139d309b86a42f9" Type="http://schemas.openxmlformats.org/officeDocument/2006/relationships/slideLayout" Target="../slideLayouts/slideLayout1.xml"/><Relationship Id="Rc382a912f15544a8" Type="http://schemas.openxmlformats.org/officeDocument/2006/relationships/image" Target="../media/image5.png"/><Relationship Id="Rd188bf943b454c22" Type="http://schemas.openxmlformats.org/officeDocument/2006/relationships/image" Target="../media/image3.png"/><Relationship Id="Rf96316b55e144a25" Type="http://schemas.openxmlformats.org/officeDocument/2006/relationships/image" Target="../media/image4.png"/><Relationship Id="rId5" Type="http://schemas.openxmlformats.org/officeDocument/2006/relationships/notesSlide" Target="../notesSlides/notesSlide28.xml"/></Relationships>
</file>

<file path=ppt/slides/_rels/slide9.xml.rels><?xml version='1.0' encoding='UTF-8' standalone='yes'?>
<Relationships xmlns="http://schemas.openxmlformats.org/package/2006/relationships"><Relationship Id="R16535ddee8df4731" Type="http://schemas.openxmlformats.org/officeDocument/2006/relationships/slideLayout" Target="../slideLayouts/slideLayout1.xml"/><Relationship Id="R7bc233cac8d64e6a"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9482716829964fae" Type="http://schemas.openxmlformats.org/officeDocument/2006/relationships/notesSlide" Target="../notesSlides/notesSlide8.xml"/><Relationship Id="Re870b8b7b8be479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76be7cf372c14c7c" Type="http://schemas.openxmlformats.org/officeDocument/2006/relationships/notesSlide" Target="../notesSlides/notesSlide9.xml"/><Relationship Id="R986ee9c211cd4bc5"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4cdbaa5bd77f4463" Type="http://schemas.openxmlformats.org/officeDocument/2006/relationships/slideLayout" Target="../slideLayouts/slideLayout1.xml"/><Relationship Id="Ra1b0e53605774d04"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5884e92801fc4e80" Type="http://schemas.openxmlformats.org/officeDocument/2006/relationships/notesSlide" Target="../notesSlides/notesSlide18.xml"/><Relationship Id="R6beff98299a1454b"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44e180e7df254b9e" Type="http://schemas.openxmlformats.org/officeDocument/2006/relationships/slideLayout" Target="../slideLayouts/slideLayout1.xml"/><Relationship Id="Rbd4fbc2be7594b20"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38c40de2551f4400" Type="http://schemas.openxmlformats.org/officeDocument/2006/relationships/notesSlide" Target="../notesSlides/notesSlide12.xml"/><Relationship Id="R8cc4d7312e8c47f6"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09a48e264f244dd3" Type="http://schemas.openxmlformats.org/officeDocument/2006/relationships/slideLayout" Target="../slideLayouts/slideLayout1.xml"/><Relationship Id="Radd416f7348c4129"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471dc3602b5c4bfe" Type="http://schemas.openxmlformats.org/officeDocument/2006/relationships/slideLayout" Target="../slideLayouts/slideLayout1.xml"/><Relationship Id="Re8d9b87508984cf4"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1a35de793e2946f2" Type="http://schemas.openxmlformats.org/officeDocument/2006/relationships/notesSlide" Target="../notesSlides/notesSlide15.xml"/><Relationship Id="R2d0a3a6297de4b9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6643ab7ce3864161" Type="http://schemas.openxmlformats.org/officeDocument/2006/relationships/notesSlide" Target="../notesSlides/notesSlide17.xml"/><Relationship Id="R9f467c4a9eb2481d"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3e3a10034c264630" Type="http://schemas.openxmlformats.org/officeDocument/2006/relationships/slideLayout" Target="../slideLayouts/slideLayout1.xml"/><Relationship Id="Re5c415eaa8144a85"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6383becbe0364472" Type="http://schemas.openxmlformats.org/officeDocument/2006/relationships/slideLayout" Target="../slideLayouts/slideLayout1.xml"/><Relationship Id="R662a917898a74379"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6ce0f95b4a0e4515" Type="http://schemas.openxmlformats.org/officeDocument/2006/relationships/slideLayout" Target="../slideLayouts/slideLayout1.xml"/><Relationship Id="Rd1260cb246cc4c0c"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bdf28f1bbfa54624" Type="http://schemas.openxmlformats.org/officeDocument/2006/relationships/notesSlide" Target="../notesSlides/notesSlide20.xml"/><Relationship Id="Rc3f4fdd9193f43e2"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0a60c2d5663b44e1" Type="http://schemas.openxmlformats.org/officeDocument/2006/relationships/slideLayout" Target="../slideLayouts/slideLayout1.xml"/><Relationship Id="R2ade3001728645de"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46944b22458b43c7" Type="http://schemas.openxmlformats.org/officeDocument/2006/relationships/notesSlide" Target="../notesSlides/notesSlide24.xml"/><Relationship Id="Rbb9073f2fa694137"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68a65b4f3ae24d79" Type="http://schemas.openxmlformats.org/officeDocument/2006/relationships/slideLayout" Target="../slideLayouts/slideLayout1.xml"/><Relationship Id="Recbfbce180cc4564"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755b303a4c6448b7" Type="http://schemas.openxmlformats.org/officeDocument/2006/relationships/slideLayout" Target="../slideLayouts/slideLayout1.xml"/><Relationship Id="Rbfee4ed8e2364514"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015795aefe7f4d8a" Type="http://schemas.openxmlformats.org/officeDocument/2006/relationships/slideLayout" Target="../slideLayouts/slideLayout1.xml"/><Relationship Id="R900fed419a8245f9" Type="http://schemas.openxmlformats.org/officeDocument/2006/relationships/notesSlide" Target="../notesSlides/notesSlide26.xml"/></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Omnipresence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definite unit bears form, guna, svabhav, and dharma, whose expression becomes evident in mutuality across four orders. Because no unit can be separated from the ground, existence neither begins nor ends.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configurations but never exceeds the order of its constituents,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the four harmonies, and why the higher three are reached only through performed action: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88075c53ad06497a">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a reference for the whole session; we return to it as each part is built  ·  Primary pointers: MVD, KD, SB,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cf6635e90225442b"/>
          <a:stretch xmlns:a="http://schemas.openxmlformats.org/drawingml/2006/main"/>
        </p:blipFill>
        <p:spPr>
          <a:xfrm xmlns:a="http://schemas.openxmlformats.org/drawingml/2006/main" flipH="0" flipV="0">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1  ·  §1.1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Omnipresence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transparent, permeating, non-transforming, immeasurable — actionless energy. Transparence, permeability, and pervasiveness together evidence it as one indivisible reality. It acts not at all, yet every unit is energised and regulated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saturated in Omnipresence, bearing form, guna, svabhav, and dharma, evident in definite mutuality. Root units, composite bodies, body–jeevan joint forms, and relational assemblies are distinct levels, not to be collapsed.</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r>
              <a:rPr sz="1250" b="0" i="0" u="none" cap="none">
                <a:solidFill>
                  <a:srgbClr val="5A6377"/>
                </a:solidFill>
                <a:latin typeface="Calibri"/>
                <a:ea typeface="Calibri"/>
                <a:cs typeface="Calibri"/>
              </a:rPr>
              <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OMNIPRESENCE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in definite mutual facing; form is reflected, while effects, essentiality, and fulfilment are evidenced in coexistence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pp. 46,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SOAKED · SUBMERGED · SURROUNDED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Saturation holds because the pervasive reality is permeating: however often a unit is divided, every fragment stays soaked, submerged, and surrounded. No division leaves a remainder outside the ground — so no unit can be annihilated, and saturation is a condition, never an event.</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d188bf943b454c2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Soaked → forcefulness</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Being soaked is forcefulness itself. The unit is the bearer of definite relative power; read on the force side, the same bond is what the texts call basic impulsion.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96316b55e144a25">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Submerged → energy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Energy-fullness: the pervasive reality is on every side, so the unit is never devoid of the energy evident in its activity. “Unit-ness (ikaitva) + energy-fullness = activeness,” and activity is always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c382a912f15544a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Surrounded →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Surroundedness is what establishes regulation: units are held at definite distance from one another by the formless reality standing between them. Law follows from this, not from an external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texts state the resulting chain as saturation → energy-fullness → forcefulness → recognition → participation in orderliness; recognition and fulfilment are taken up on slide 8. An ontological entailment, not a measurable transfer mechanism. — SB pp. 46, 57, 79, 243; MVD pp. 32–33, 40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§1.14 · PERPETUITY, CAUSE, AND TIME</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Does Not Begin or End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existent becomes non-existent, and nothing arises from non-being. Because no unit can be separated from what it is saturated in, what changes is composition and association — never existence itself.</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d188bf943b454c2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Nothing is annihilated</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compound or body decomposes and that organisation ends, while its constituent units continue in other relations. Perpetuity belongs to coexistence, not to any one configuration.</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96316b55e144a25">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Sustaining ground</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Omnipresence is supreme cause only in the sustaining sense: no activity exists apart from nature saturated in it. It initiates no particular change — composition, decomposition, and conduct are the work of units. The ground is no creator and no ruler.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c382a912f15544a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Time follows activity</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Time is the duration of activity, reckoned from recurrent unit-activity — not an independent container alongside Omnipresence and units. The ground, without transformation, is not temporal in that sense.</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“Brahma is truth, the world is perpetual” affirms both the pervasive ground and the reality of the world without making any configuration permanent. — SB pp. 57, 70; MVD p. 40  ·  Study §§1.2, 1.14; full treatment of kaal in Nature of Time</a:t>
            </a:r>
          </a:p>
        </p:txBody>
      </p:sp>
    </p:spTree>
    <p:extLst>
      <p:ext uri="{BB962C8B-B14F-4D97-AF65-F5344CB8AC3E}">
        <p14:creationId xmlns:p14="http://schemas.microsoft.com/office/powerpoint/2010/main" val="11315883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§1.4 · THE SECOND BOND</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Nature Is Complementary</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Saturation binds every unit to the ground. A second relation binds units to one another. Bounded plurality — countless units, each with definite limits, in one pervasive reality — is itself what provisions recognition: “a provision for one unit to recognise another got manifest in existence.” Complementarity is given in coexistence. It is not created by us and not negotiated.</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d188bf943b454c22">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A unit recognises another by responding according to definite constitution, distance, force, and relation — no cognition required. Heat accepted and redistributed; particles holding definite distance. The equipment is named: capacity, ability,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f96316b55e144a25">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Complementarity</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Nothing exists in isolation, and each unit is a whole along with its environment. Essentiality in every order is value in the broad sense — the usefulness through which a unit is complementary to others. Value is ontological, not assigned by an observer.</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c382a912f15544a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Fulfilment</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Fulfilment is the participation that follows recognition, according to constitution and order. Definite below the human order. At the human order it must be achieved through knowing and believing — which is why it can fail.</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completeness drive is the drive to fulfil this complementarity: composition is the natural inclination toward coexistence, T1 is hungry and overfull atoms completing each other, and justice is the human form of the same thing. — SB pp. 49–50, 53, 57, 62; MVD pp. 32, 62; JV pp. 43, 67, 69</a:t>
            </a:r>
          </a:p>
        </p:txBody>
      </p:sp>
    </p:spTree>
    <p:extLst>
      <p:ext uri="{BB962C8B-B14F-4D97-AF65-F5344CB8AC3E}">
        <p14:creationId xmlns:p14="http://schemas.microsoft.com/office/powerpoint/2010/main" val="113158834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Form, Properties, Nature, and Dharma</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 boundary and configuration. Example: this peepal tree is one bounded living form with a definite trunk, branches, leaves, and roots.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Guna is capacity and relative effect. In the peepal: nutrition, growth, repair, seed production, and degeneration become evident under definite conditions.</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Svabhav is usefulness in context. For the peepal: vitalising while its living organisation is maintained; devitalising when that organisation breaks down.</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Innateness and order-specific fulfilment. The peepal has existence + growth. Seed-conformance is its mode of conduct, not an additional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tree as a composite form can die and decompose while its constituent material units persist and enter other compositions. Persistence of existence is not persistence of one configuration.</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11, 42, 47, 50–51  ·  SB pp. 55, 71, 86</a:t>
            </a:r>
          </a:p>
        </p:txBody>
      </p:sp>
    </p:spTree>
    <p:extLst>
      <p:ext uri="{BB962C8B-B14F-4D97-AF65-F5344CB8AC3E}">
        <p14:creationId xmlns:p14="http://schemas.microsoft.com/office/powerpoint/2010/main" val="7265482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BECOMES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The complementarity of slide 8 becomes evident through relationships among units. Its expression is definite in the material, bio, and animal orders. At the human order alone it must be recognised, evaluated, and fulfilled — so here alone it can be got wrong.</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whose expectations and fulfilment are definite in the relation's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value families: object, jeevan, human, established, and civic (shishta). Object values are two — utility and art — so the same list is counted as six types: utility, art, jeevan, human, established, and civic.</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Human evaluation may err; understanding aligns knowing → believing → recognising → fulfilling. Established values arise as relationships are fulfilled; civic values express them socially.</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Svabhav in mutuality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 · definite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bodily expression limited</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full bodily medium;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Jeevan is present in animal and human joint forms. In animals, bodily and brain development limits how its faculties can be expressed. In humans, the bodily medium supports the full range, but delusion can misdirect evaluation. Neither body produces sentience.</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2  ·  §1.6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Why does anything develop? Because nature saturated in state-complete Omnipresence is oriented toward development and awakening until realisation — and that drive is the drive to fulfil complementarity. It proceeds along two distinct lines. Compositional progression joins particles, atoms, molecules, cells, and bodies into larger configurations. Development in an atom can reach constitutional completeness as jeevan. Across both, activity is one triad: effort, motion,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T1;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WHY COMPOSITION IS NOT DEVELOPMENT</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Composition Never Exceeds Its Constituents</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Complementarity drives the composing line: the texts call it a natural inclination toward coexistence, and it is what leads particles into atoms, atoms into molecules, molecules into cells and bodies. But whatever a thing is constituted of, it remains of the order of that constituent — however vast the formation.</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Mixture</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Components stay side by side and each maintains its own conduct — no new unit is formed.</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Compound</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Definite proportion yields a new bounded unit. Its real form and its guna, svabhav, and dharma are evidenced in the new unit's mutuality.</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Objects made from soil remain soil; a body built from pranic cells remains of the order of the pranic cell; the Earth entire is of the order of its atoms, molecules, and cells. Change of composition is development or decline within an order, never passage beyond it.</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Particles &amp; atoms</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Molecules</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Cells &amp; bodies</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T1 · completeness</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However far composition goes, it stays within its constituents’ order. Constitutional completeness is reached only in the atom (§1.6).</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14, 260, 262, 264–265  ·  MVD p. 42 (mixture &amp; compound)  ·  JV p. 67 (inclination toward coexistence)</a:t>
            </a:r>
          </a:p>
        </p:txBody>
      </p:sp>
    </p:spTree>
    <p:extLst>
      <p:ext uri="{BB962C8B-B14F-4D97-AF65-F5344CB8AC3E}">
        <p14:creationId xmlns:p14="http://schemas.microsoft.com/office/powerpoint/2010/main" val="213648502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The band above names the four planes — the developmental standing reached, not four kinds of thing.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§1.9 · THE COMPLETENESS DRIVE</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One Drive, Four Vocabularies</a:t>
            </a:r>
          </a:p>
        </p:txBody>
      </p:sp>
      <p:graphicFrame>
        <p:nvGraphicFramePr>
          <p:cNvPr id="204" name="Google Shape;194;p9"/>
          <p:cNvGraphicFramePr/>
          <p:nvPr/>
        </p:nvGraphicFramePr>
        <p:xfrm>
          <a:off xmlns:a="http://schemas.openxmlformats.org/drawingml/2006/main" x="640080" y="1170432"/>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Vocabulary</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Members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What it tracks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Do not confuse with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Orders (§1.5)</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material · bio · animal · knowledge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kind of manifestation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Progressions (§1.9.1)</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existential · way of existence · development · awakening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how the drive proceeds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planes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Planes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physicochemical · delusional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standing reached (T1 · T2 · T3)</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orders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Human types (§1.9.2)</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animalistic · demonic · humane · deific · divine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orientation of human living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value families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133087"/>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133087"/>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One drive, described four ways. Orders say what kind of thing a unit is; progressions say how the drive moves; planes say how far it has come; human types say how a human life is oriented. T1 separates physicochemical from sentient standing; T2 and T3 are completeness within awakened jeevan — no fifth plane is added.</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§1.6, §§1.9.1–1.9.2  ·  Conceptual map, classification key  ·  MVD pp. 5, 8  ·  SB pp. 50–51</a:t>
            </a:r>
          </a:p>
        </p:txBody>
      </p:sp>
    </p:spTree>
    <p:extLst>
      <p:ext uri="{BB962C8B-B14F-4D97-AF65-F5344CB8AC3E}">
        <p14:creationId xmlns:p14="http://schemas.microsoft.com/office/powerpoint/2010/main" val="11318954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T1 — The Irreversible Sentience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Constitutional completeness at the atomic level, </a:t>
            </a:r>
            <a:r>
              <a:rPr sz="1250" b="0" i="0" u="none" cap="none">
                <a:solidFill>
                  <a:srgbClr val="5A6377"/>
                </a:solidFill>
                <a:latin typeface="Calibri"/>
                <a:ea typeface="Calibri"/>
                <a:cs typeface="Calibri"/>
              </a:rPr>
              <a:t>not neural complexity, molecular size, or elevation along the order chain. </a:t>
            </a:r>
            <a:r>
              <a:rPr sz="1250" b="0" i="0" u="none" cap="none">
                <a:solidFill>
                  <a:srgbClr val="5A6377"/>
                </a:solidFill>
                <a:latin typeface="Calibri"/>
                <a:ea typeface="Calibri"/>
                <a:cs typeface="Calibri"/>
              </a:rPr>
              <a:t>Complementarity does the work here too: </a:t>
            </a:r>
            <a:r>
              <a:rPr sz="1250" b="0" i="0" u="none" cap="none">
                <a:solidFill>
                  <a:srgbClr val="5A6377"/>
                </a:solidFill>
                <a:latin typeface="Calibri"/>
                <a:ea typeface="Calibri"/>
                <a:cs typeface="Calibri"/>
              </a:rPr>
              <a:t>a constitution-oriented developing atom takes in particles — hungry atoms and overfull atoms completing each other — within a suitable environment; </a:t>
            </a:r>
            <a:r>
              <a:rPr sz="1250" b="0" i="0" u="none" cap="none">
                <a:solidFill>
                  <a:srgbClr val="5A6377"/>
                </a:solidFill>
                <a:latin typeface="Calibri"/>
                <a:ea typeface="Calibri"/>
                <a:cs typeface="Calibri"/>
              </a:rPr>
              <a:t>once the required particles are in place, it closes. This is an ontological account; no accepted empirical procedure currently identifies the threshold.</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T1 — evolving atom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Still bound by molecular weight and structure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Qualitative change comes only with quantitative change: atomic kind and capacity track particle number</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Exhibits radiance and projection as an insentient unit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After T1 — the completed atom</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Released from molecular and weight bondage; carried by hope</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No increase or decrease in particles: qualitative change without quantitative change</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Sentient jeevan shows a finer mode of recognition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T1 is irreversible: the constitution is closed, so qualitative activity continues while particles no longer change — and that separation is the criterion. The closed constitution is also MD’s ground for jeevan continuing beyond the body.</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also describes later association with another body; no accepted procedure measures this (§6.2).  ·  SB pp. 52, 55, 59, 80–81, 86, 92  ·  MVD pp. 8, 91, 117</a:t>
            </a:r>
          </a:p>
        </p:txBody>
      </p:sp>
    </p:spTree>
    <p:extLst>
      <p:ext uri="{BB962C8B-B14F-4D97-AF65-F5344CB8AC3E}">
        <p14:creationId xmlns:p14="http://schemas.microsoft.com/office/powerpoint/2010/main" val="21413563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3  ·  §1.7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Jeevan brings all ten activities; the body supplies the species-specific medium. Animal bodily and brain development limits their expression. The human medium supports the full range, while body-identification can still misdirect evaluation.</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Animal: limited · Human: full medium;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All five faculties and ten activities inherent</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gates expression; jeevan is seer–doer–enjoyer through it. Animal limitation belongs to the medium; human mis-evaluation belongs to body-delusion.</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All five faculties and all ten activities belong to it. Animal bodies limit their expression. The human body can express the full range, yet delusion can leave only four and a half effectively organised. Study brings understanding; practice evidences and stabilises it — it does not create missing faculties.</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§1.8</a:t>
            </a:r>
            <a:r>
              <a:rPr sz="1050" b="1" i="0" u="none" cap="none">
                <a:solidFill>
                  <a:srgbClr val="9A6414"/>
                </a:solidFill>
                <a:latin typeface="Calibri"/>
                <a:ea typeface="Calibri"/>
                <a:cs typeface="Calibri"/>
              </a:rPr>
              <a:t>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All four are what the knowledge order seeks — and only the first is reached by sensory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1.7–1.8, 1.10, 1.12, 1.15</a:t>
            </a:r>
            <a:r>
              <a:rPr sz="1050" b="1" i="0" u="none" cap="none">
                <a:solidFill>
                  <a:srgbClr val="9A6414"/>
                </a:solidFill>
                <a:latin typeface="Calibri"/>
                <a:ea typeface="Calibri"/>
                <a:cs typeface="Calibri"/>
              </a:rPr>
              <a:t>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jeevan bears the same five faculties and ten activities. An animal jeevan, limited by its bodily medium, acts for sensory satisfaction and reaches only the first harmony. Human jeevan has a body that can express all ten — yet by default it evaluates on the same sensory criteria.</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Body-identification leaves sensitivity unguided by cognisance; selection and evaluation remain organised around pleasure, health, and profit.</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Cognisance regulates sensitivity; knowing and believing guide recognition and fulfilment toward justice, dharma, truth, and coexistence.</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No faculty is absent, and sensitivity is not rejected. Delusion lets sensory criteria rule; awakening balances sensitivity with cognisance, so understanding guides conduct.</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Peace, contentment, and bliss are not reached by preference or insight alone — they require the higher faculties recognised, studied, and acted on (§1.7.1).</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64 (cognisance–sensitivity balance)  ·  JV pp. 73–74, 92–94 (four-and-a-half activities)  ·  MVD pp. 274–275</a:t>
            </a:r>
          </a:p>
        </p:txBody>
      </p:sp>
    </p:spTree>
    <p:extLst>
      <p:ext uri="{BB962C8B-B14F-4D97-AF65-F5344CB8AC3E}">
        <p14:creationId xmlns:p14="http://schemas.microsoft.com/office/powerpoint/2010/main" val="44395568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 1 · WHY KNOWING IS NOT ENOUGH</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Below the human order fulfilment is definite and needs no deciding. In animal living, jeevan acts for sensory satisfaction under species-conformance; peace, contentment, and bliss are not in view. The human order is where complementarity has to be fulfilled knowingly — and study alone does not fulfil it. Book knowledge is half the work; the other half is conduct that fulfils relationships.</a:t>
            </a:r>
            <a:r>
              <a:rPr sz="1250" b="0" i="0" u="none" cap="none">
                <a:solidFill>
                  <a:srgbClr val="5A6377"/>
                </a:solidFill>
                <a:latin typeface="Calibri"/>
                <a:ea typeface="Calibri"/>
                <a:cs typeface="Calibri"/>
              </a:rPr>
              <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activity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pp. 1–2  ·  Study §1.7.1</a:t>
            </a:r>
          </a:p>
        </p:txBody>
      </p:sp>
    </p:spTree>
    <p:extLst>
      <p:ext uri="{BB962C8B-B14F-4D97-AF65-F5344CB8AC3E}">
        <p14:creationId xmlns:p14="http://schemas.microsoft.com/office/powerpoint/2010/main" val="29346030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§1.11 · REGULATION — WHAT SURROUNDEDNESS ESTABLISHES</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Regulation is what surroundedness establishes: units are held at definite distance by the formless reality standing between them. Omnipresence issues no commands, yet each unit stays regulated through its own mediative organisation. </a:t>
            </a:r>
            <a:r>
              <a:rPr sz="1250" b="1" i="0" u="none" cap="none">
                <a:solidFill>
                  <a:srgbClr val="1E2447"/>
                </a:solidFill>
                <a:latin typeface="Calibri"/>
                <a:ea typeface="Calibri"/>
                <a:cs typeface="Calibri"/>
              </a:rPr>
              <a:t>This mediative (madhyasth) role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Mode of fulfilment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 bodily expression limited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sanskar-conformance (achieved through understanding)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evaluation may err; awakening aligns it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In an atom the mediative nucleus regulates generative and degenerative activity and conserves relative powers. Material, bio, and animal regulation is definite; animal bodily development limits expression but does not introduce mis-evaluation. In human living, jeevan can judge wrongly when delusion mistakes the body for the self. Awakening aligns evaluation and fulfilment with coexistence.</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57, 79  ·  MVD pp. 26–27, 67, 137, 311  ·  KD p. 14 (law across family, nation, world)</a:t>
            </a:r>
          </a:p>
        </p:txBody>
      </p:sp>
    </p:spTree>
    <p:extLst>
      <p:ext uri="{BB962C8B-B14F-4D97-AF65-F5344CB8AC3E}">
        <p14:creationId xmlns:p14="http://schemas.microsoft.com/office/powerpoint/2010/main" val="19423341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Evaluative Perspectives</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KD names six perspectives: pleasant, healthy, profit, justice, dharma, and truth. They widen from sensation, body, and gain to relationship, orderliness, and coexistence. Justice has a dual role: a member of the sixfold set and the principle of fulfilled relationship. The diagram highlights the final three.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KD distinguishes six perspectives; MVD also scales justice, dharma, and truth across relationship, social order, and coexistence.</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25" b="0" i="1" u="none" cap="none">
                <a:solidFill>
                  <a:srgbClr val="5A6377"/>
                </a:solidFill>
                <a:latin typeface="Calibri"/>
                <a:ea typeface="Calibri"/>
                <a:cs typeface="Calibri"/>
              </a:rPr>
              <a:t>§1.12–§1.12.1 · KD pp. 10, 13, 60, 86</a:t>
            </a:r>
          </a:p>
        </p:txBody>
      </p:sp>
    </p:spTree>
    <p:extLst>
      <p:ext uri="{BB962C8B-B14F-4D97-AF65-F5344CB8AC3E}">
        <p14:creationId xmlns:p14="http://schemas.microsoft.com/office/powerpoint/2010/main" val="159218005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1.7–1.13 · THE EPISTEMIC LADDER</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514350"/>
            <a:ext cx="7726680" cy="495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widening mutual context</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innateness evidenced in whole-order fulfilment</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svabhav  ·  usefulness within state, plane &amp;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guna  ·  effects evident in definite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real structure reflected in mutual facing</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rung widens the mutual context in which a real unit is understood; the top is a different kind of knowing — coexistence realised, not merely another observed 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862"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864"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coordinates three distinct roles: jeevan remains the knower, existence as coexistence remains the known, and threefold knowledge becomes evident through humane conduct.</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Threefold knowledge</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Knowledge comprises the holistic view of coexistence, knowledge of jeevan, and knowledge of humane conduct. Projection makes that understanding evident.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jeevan remains distinct</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Jeevan remains the knower and seer. Realisation clarifies its own nature and the coexistence in which it participates; it does not dissolve the individual unit.</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Known — coexistence</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known is existence as coexistence: Omnipresence and real units in mutuality. Knowledge, knower, and known become coherent without becoming identical.</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 SB p. 81 (realisation and authenticity)  ·  SB p. 116; MVD p. 126 (threefold knowledge)  ·  KD §§3.17–3.18 (knowledge, knower, known)</a:t>
            </a:r>
          </a:p>
        </p:txBody>
      </p:sp>
    </p:spTree>
    <p:extLst>
      <p:ext uri="{BB962C8B-B14F-4D97-AF65-F5344CB8AC3E}">
        <p14:creationId xmlns:p14="http://schemas.microsoft.com/office/powerpoint/2010/main" val="426036076"/>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512064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 and sustained as tradition.</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63440"/>
            <a:ext cx="8001000" cy="42062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Five dimensions of continuity: education–sanskar · justice–preservation · health–restraint · production–work · exchange–storage.  ·  Families and societies are relational achievements, not a further compositional tier (§1.10).</a:t>
            </a:r>
          </a:p>
        </p:txBody>
      </p:sp>
    </p:spTree>
    <p:extLst>
      <p:ext uri="{BB962C8B-B14F-4D97-AF65-F5344CB8AC3E}">
        <p14:creationId xmlns:p14="http://schemas.microsoft.com/office/powerpoint/2010/main" val="22285468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§1.15–§1.16 · METHOD AND EVIDENCE</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514350"/>
            <a:ext cx="7726680" cy="5143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2550" b="1" i="0" u="none" cap="none">
                <a:solidFill>
                  <a:srgbClr val="1E2447"/>
                </a:solidFill>
                <a:latin typeface="Cambria"/>
                <a:ea typeface="Cambria"/>
                <a:cs typeface="Cambria"/>
              </a:rPr>
              <a:t>Different Methods Establish Different Things</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uses several modes of warrant. They can support one another, but they do not establish the same thing. Publicly measurable physical claims remain answerable to instrument-based scientific inquiry.</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 establish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Cannot establish alone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Logical exposition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internal coherence and entailment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empirical truth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Study &amp; self-examination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intelligibility and first-person recognition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physical identification of jeevan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Experiment, practice &amp; conduct-evidence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effects in work, behaviour, and mutual satisfaction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measurement of T1 or the jeevan–body interface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the darshan’s claimed completion of knowing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agreement from other methods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No accepted measurement procedure currently identifies T1, the jeevan–body interface, or post-body reassociation. These remain open to instrument-based scientific inquiry.</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Study §1.15–§1.16 · Method and evidence</a:t>
            </a:r>
          </a:p>
        </p:txBody>
      </p:sp>
    </p:spTree>
    <p:extLst>
      <p:ext uri="{BB962C8B-B14F-4D97-AF65-F5344CB8AC3E}">
        <p14:creationId xmlns:p14="http://schemas.microsoft.com/office/powerpoint/2010/main" val="1942334141"/>
      </p:ext>
    </p:extLst>
  </p:cSld>
</p:sld>
</file>

<file path=ppt/slides/slide28.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Root atomic units; composite units and bodies; body–jeevan joint forms; and relational human assemblies — all saturated in Omnipresence.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mutual relationships, and definite material fulfilment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logical exposition, study and self-examination, practice, realisation, and conduct-evidence; measurable physical claims still require instrument-based testing.</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 Evidence modes should not be conflated.</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2026-07-23T03:08:05.8890000Z</dcterms:created>
  <dcterms:modified xsi:type="dcterms:W3CDTF">2026-07-23T03:08:05.8890000Z</dcterms:modified>
</coreProperties>
</file>