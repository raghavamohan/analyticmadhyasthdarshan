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a3fcd43810b94c8c" Type="http://schemas.openxmlformats.org/officeDocument/2006/relationships/officeDocument" Target="ppt/presentation.xml"/><Relationship Id="Rcbf9f893f0374b62" Type="http://schemas.openxmlformats.org/package/2006/relationships/metadata/core-properties" Target="docProps/core.xml"/><Relationship Id="Rf187584b88ae42d0"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388e00381139496b"/>
  </p:sldMasterIdLst>
  <p:notesMasterIdLst>
    <p:notesMasterId xmlns:r="http://schemas.openxmlformats.org/officeDocument/2006/relationships" r:id="Re4f21cfc0aca4d45"/>
  </p:notesMasterIdLst>
  <p:sldIdLst>
    <p:sldId xmlns:r="http://schemas.openxmlformats.org/officeDocument/2006/relationships" id="256" r:id="R41e9a533ec364630"/>
    <p:sldId xmlns:r="http://schemas.openxmlformats.org/officeDocument/2006/relationships" id="257" r:id="Rd034aae41c354bb3"/>
    <p:sldId xmlns:r="http://schemas.openxmlformats.org/officeDocument/2006/relationships" id="258" r:id="R38addf1f4b3e4b90"/>
    <p:sldId xmlns:r="http://schemas.openxmlformats.org/officeDocument/2006/relationships" id="259" r:id="Rd446b5a533c747a0"/>
    <p:sldId xmlns:r="http://schemas.openxmlformats.org/officeDocument/2006/relationships" id="260" r:id="Rd97751e356094ccd"/>
    <p:sldId xmlns:r="http://schemas.openxmlformats.org/officeDocument/2006/relationships" id="261" r:id="R99c4675820df4525"/>
    <p:sldId xmlns:r="http://schemas.openxmlformats.org/officeDocument/2006/relationships" id="262" r:id="R6be27b6a3cda4022"/>
    <p:sldId xmlns:r="http://schemas.openxmlformats.org/officeDocument/2006/relationships" id="263" r:id="R318dc95f784d44b2"/>
    <p:sldId xmlns:r="http://schemas.openxmlformats.org/officeDocument/2006/relationships" id="264" r:id="Rcd9382cc06474fa3"/>
    <p:sldId xmlns:r="http://schemas.openxmlformats.org/officeDocument/2006/relationships" id="265" r:id="Rb41dd1b3c3644845"/>
    <p:sldId xmlns:r="http://schemas.openxmlformats.org/officeDocument/2006/relationships" id="266" r:id="Rdb6b97e371e34923"/>
    <p:sldId xmlns:r="http://schemas.openxmlformats.org/officeDocument/2006/relationships" id="267" r:id="R48709f4e5a5341fe"/>
    <p:sldId xmlns:r="http://schemas.openxmlformats.org/officeDocument/2006/relationships" id="268" r:id="R47feca93d8a34b26"/>
    <p:sldId xmlns:r="http://schemas.openxmlformats.org/officeDocument/2006/relationships" id="269" r:id="Rece2015381aa477e"/>
    <p:sldId xmlns:r="http://schemas.openxmlformats.org/officeDocument/2006/relationships" id="270" r:id="R41973db7630746b6"/>
    <p:sldId xmlns:r="http://schemas.openxmlformats.org/officeDocument/2006/relationships" id="271" r:id="R80af74615ee443a9"/>
    <p:sldId xmlns:r="http://schemas.openxmlformats.org/officeDocument/2006/relationships" id="272" r:id="R10185a9b24a940e1"/>
    <p:sldId xmlns:r="http://schemas.openxmlformats.org/officeDocument/2006/relationships" id="273" r:id="R752431d326714fc3"/>
    <p:sldId xmlns:r="http://schemas.openxmlformats.org/officeDocument/2006/relationships" id="274" r:id="R87ad913278b442f3"/>
    <p:sldId xmlns:r="http://schemas.openxmlformats.org/officeDocument/2006/relationships" id="275" r:id="Rdd81a705775d40f9"/>
    <p:sldId xmlns:r="http://schemas.openxmlformats.org/officeDocument/2006/relationships" id="276" r:id="Rfd7adb97ba334329"/>
    <p:sldId xmlns:r="http://schemas.openxmlformats.org/officeDocument/2006/relationships" id="277" r:id="Rc880ecfc00ec4133"/>
    <p:sldId xmlns:r="http://schemas.openxmlformats.org/officeDocument/2006/relationships" id="278" r:id="R65f6b9533ce14d9d"/>
    <p:sldId xmlns:r="http://schemas.openxmlformats.org/officeDocument/2006/relationships" id="279" r:id="R71e70a94617d46b6"/>
    <p:sldId xmlns:r="http://schemas.openxmlformats.org/officeDocument/2006/relationships" id="280" r:id="R57fb06dbf93c4733"/>
    <p:sldId xmlns:r="http://schemas.openxmlformats.org/officeDocument/2006/relationships" id="281" r:id="Re4dda241596c419a"/>
    <p:sldId xmlns:r="http://schemas.openxmlformats.org/officeDocument/2006/relationships" id="282" r:id="Rd335dd17123d41f7"/>
    <p:sldId xmlns:r="http://schemas.openxmlformats.org/officeDocument/2006/relationships" id="283" r:id="R113f93d5b7a04046"/>
    <p:sldId xmlns:r="http://schemas.openxmlformats.org/officeDocument/2006/relationships" id="284" r:id="R32e1694d411e4a07"/>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0185a9b24a940e1" Type="http://schemas.openxmlformats.org/officeDocument/2006/relationships/slide" Target="slides/slide17.xml"/><Relationship Id="R113f93d5b7a04046" Type="http://schemas.openxmlformats.org/officeDocument/2006/relationships/slide" Target="slides/slide28.xml"/><Relationship Id="R2cf85f6ff9944c49" Type="http://schemas.openxmlformats.org/officeDocument/2006/relationships/theme" Target="theme/theme1.xml"/><Relationship Id="R318dc95f784d44b2" Type="http://schemas.openxmlformats.org/officeDocument/2006/relationships/slide" Target="slides/slide8.xml"/><Relationship Id="R32e1694d411e4a07" Type="http://schemas.openxmlformats.org/officeDocument/2006/relationships/slide" Target="slides/slide29.xml"/><Relationship Id="R388e00381139496b" Type="http://schemas.openxmlformats.org/officeDocument/2006/relationships/slideMaster" Target="slideMasters/slideMaster1.xml"/><Relationship Id="R38addf1f4b3e4b90" Type="http://schemas.openxmlformats.org/officeDocument/2006/relationships/slide" Target="slides/slide3.xml"/><Relationship Id="R41973db7630746b6" Type="http://schemas.openxmlformats.org/officeDocument/2006/relationships/slide" Target="slides/slide15.xml"/><Relationship Id="R41e9a533ec364630" Type="http://schemas.openxmlformats.org/officeDocument/2006/relationships/slide" Target="slides/slide1.xml"/><Relationship Id="R44c5e777b62e44b6" Type="http://schemas.openxmlformats.org/officeDocument/2006/relationships/presProps" Target="presProps.xml"/><Relationship Id="R47feca93d8a34b26" Type="http://schemas.openxmlformats.org/officeDocument/2006/relationships/slide" Target="slides/slide13.xml"/><Relationship Id="R48709f4e5a5341fe" Type="http://schemas.openxmlformats.org/officeDocument/2006/relationships/slide" Target="slides/slide12.xml"/><Relationship Id="R57fb06dbf93c4733" Type="http://schemas.openxmlformats.org/officeDocument/2006/relationships/slide" Target="slides/slide25.xml"/><Relationship Id="R65f6b9533ce14d9d" Type="http://schemas.openxmlformats.org/officeDocument/2006/relationships/slide" Target="slides/slide23.xml"/><Relationship Id="R6be27b6a3cda4022" Type="http://schemas.openxmlformats.org/officeDocument/2006/relationships/slide" Target="slides/slide7.xml"/><Relationship Id="R71e70a94617d46b6" Type="http://schemas.openxmlformats.org/officeDocument/2006/relationships/slide" Target="slides/slide24.xml"/><Relationship Id="R752431d326714fc3" Type="http://schemas.openxmlformats.org/officeDocument/2006/relationships/slide" Target="slides/slide18.xml"/><Relationship Id="R80af74615ee443a9" Type="http://schemas.openxmlformats.org/officeDocument/2006/relationships/slide" Target="slides/slide16.xml"/><Relationship Id="R87ad913278b442f3" Type="http://schemas.openxmlformats.org/officeDocument/2006/relationships/slide" Target="slides/slide19.xml"/><Relationship Id="R99c4675820df4525" Type="http://schemas.openxmlformats.org/officeDocument/2006/relationships/slide" Target="slides/slide6.xml"/><Relationship Id="R9c6c24abbf874ba7" Type="http://schemas.openxmlformats.org/officeDocument/2006/relationships/tableStyles" Target="tableStyles.xml"/><Relationship Id="R9d060822109540f5" Type="http://schemas.openxmlformats.org/officeDocument/2006/relationships/viewProps" Target="viewProps.xml"/><Relationship Id="Rb41dd1b3c3644845" Type="http://schemas.openxmlformats.org/officeDocument/2006/relationships/slide" Target="slides/slide10.xml"/><Relationship Id="Rc880ecfc00ec4133" Type="http://schemas.openxmlformats.org/officeDocument/2006/relationships/slide" Target="slides/slide22.xml"/><Relationship Id="Rcd9382cc06474fa3" Type="http://schemas.openxmlformats.org/officeDocument/2006/relationships/slide" Target="slides/slide9.xml"/><Relationship Id="Rd034aae41c354bb3" Type="http://schemas.openxmlformats.org/officeDocument/2006/relationships/slide" Target="slides/slide2.xml"/><Relationship Id="Rd335dd17123d41f7" Type="http://schemas.openxmlformats.org/officeDocument/2006/relationships/slide" Target="slides/slide27.xml"/><Relationship Id="Rd446b5a533c747a0" Type="http://schemas.openxmlformats.org/officeDocument/2006/relationships/slide" Target="slides/slide4.xml"/><Relationship Id="Rd97751e356094ccd" Type="http://schemas.openxmlformats.org/officeDocument/2006/relationships/slide" Target="slides/slide5.xml"/><Relationship Id="Rdb6b97e371e34923" Type="http://schemas.openxmlformats.org/officeDocument/2006/relationships/slide" Target="slides/slide11.xml"/><Relationship Id="Rdd81a705775d40f9" Type="http://schemas.openxmlformats.org/officeDocument/2006/relationships/slide" Target="slides/slide20.xml"/><Relationship Id="Re4dda241596c419a" Type="http://schemas.openxmlformats.org/officeDocument/2006/relationships/slide" Target="slides/slide26.xml"/><Relationship Id="Re4f21cfc0aca4d45" Type="http://schemas.openxmlformats.org/officeDocument/2006/relationships/notesMaster" Target="notesMasters/notesMaster1.xml"/><Relationship Id="Rece2015381aa477e" Type="http://schemas.openxmlformats.org/officeDocument/2006/relationships/slide" Target="slides/slide14.xml"/><Relationship Id="Rfd7adb97ba33432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65966ceb77f24f1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9011b09d212b412e" Type="http://schemas.openxmlformats.org/officeDocument/2006/relationships/notesMaster" Target="../notesMasters/notesMaster1.xml"/><Relationship Id="Rcb6b60894a464d6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e178634e3324c49" Type="http://schemas.openxmlformats.org/officeDocument/2006/relationships/slide" Target="../slides/slide2.xml"/><Relationship Id="R95f2875ba6f3403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75baa48cac74298" Type="http://schemas.openxmlformats.org/officeDocument/2006/relationships/notesMaster" Target="../notesMasters/notesMaster1.xml"/><Relationship Id="R62292192765b465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1c48a397a66405b" Type="http://schemas.openxmlformats.org/officeDocument/2006/relationships/slide" Target="../slides/slide4.xml"/><Relationship Id="R2b2565a20fc3471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38835eb720a4f6b" Type="http://schemas.openxmlformats.org/officeDocument/2006/relationships/notesMaster" Target="../notesMasters/notesMaster1.xml"/><Relationship Id="R39e419c2f5bf4ff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1c6e01ae1c06435c" Type="http://schemas.openxmlformats.org/officeDocument/2006/relationships/slide" Target="../slides/slide6.xml"/><Relationship Id="Rf83081eaaddc493f"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bd0a23073104fb1" Type="http://schemas.openxmlformats.org/officeDocument/2006/relationships/notesMaster" Target="../notesMasters/notesMaster1.xml"/><Relationship Id="R3a11473f6c79412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93598e610b2473b" Type="http://schemas.openxmlformats.org/officeDocument/2006/relationships/slide" Target="../slides/slide8.xml"/><Relationship Id="R68e87f550c6f4fd8"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ba6a9c6eb6d447bb" Type="http://schemas.openxmlformats.org/officeDocument/2006/relationships/slide" Target="../slides/slide9.xml"/><Relationship Id="Re78eb8e4e0c04f3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aa096c34b2b4d49" Type="http://schemas.openxmlformats.org/officeDocument/2006/relationships/notesMaster" Target="../notesMasters/notesMaster1.xml"/><Relationship Id="Rd88cd26fda474376"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b326f5f36bd84fa4" Type="http://schemas.openxmlformats.org/officeDocument/2006/relationships/notesMaster" Target="../notesMasters/notesMaster1.xml"/><Relationship Id="Rf1e0c7c5fba34abd"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13325c59ec354698" Type="http://schemas.openxmlformats.org/officeDocument/2006/relationships/notesMaster" Target="../notesMasters/notesMaster1.xml"/><Relationship Id="R7f42713998ec4f7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50383df3dcd440b" Type="http://schemas.openxmlformats.org/officeDocument/2006/relationships/notesMaster" Target="../notesMasters/notesMaster1.xml"/><Relationship Id="R62990079a07a433f"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092757e81554715" Type="http://schemas.openxmlformats.org/officeDocument/2006/relationships/slide" Target="../slides/slide14.xml"/><Relationship Id="R522339e5847a4cb9"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c892133563cf4ec8" Type="http://schemas.openxmlformats.org/officeDocument/2006/relationships/notesMaster" Target="../notesMasters/notesMaster1.xml"/><Relationship Id="Rf4d3ce87a783481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355c781b721148df" Type="http://schemas.openxmlformats.org/officeDocument/2006/relationships/notesMaster" Target="../notesMasters/notesMaster1.xml"/><Relationship Id="Rb751bc2e0a9f4cbe"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809fa3adbda45ce" Type="http://schemas.openxmlformats.org/officeDocument/2006/relationships/notesMaster" Target="../notesMasters/notesMaster1.xml"/><Relationship Id="Ra0809ac516884b14"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2e7f29c9872b40e2" Type="http://schemas.openxmlformats.org/officeDocument/2006/relationships/notesMaster" Target="../notesMasters/notesMaster1.xml"/><Relationship Id="R6142144f0f98426e"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f32c2e7ed2b4baa" Type="http://schemas.openxmlformats.org/officeDocument/2006/relationships/notesMaster" Target="../notesMasters/notesMaster1.xml"/><Relationship Id="Rf5de73810f2040b0"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c61a1903186a440c" Type="http://schemas.openxmlformats.org/officeDocument/2006/relationships/notesMaster" Target="../notesMasters/notesMaster1.xml"/><Relationship Id="Rf1fd0153a0424b35"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a97d9d45e5494496" Type="http://schemas.openxmlformats.org/officeDocument/2006/relationships/notesMaster" Target="../notesMasters/notesMaster1.xml"/><Relationship Id="Re0d8bf8d6942411c"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b4051537c1094624" Type="http://schemas.openxmlformats.org/officeDocument/2006/relationships/notesMaster" Target="../notesMasters/notesMaster1.xml"/><Relationship Id="Redc783cca5c7452c"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a7f6c420740443c2" Type="http://schemas.openxmlformats.org/officeDocument/2006/relationships/notesMaster" Target="../notesMasters/notesMaster1.xml"/><Relationship Id="Rdbbf0151d2b441e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a7f8a41aadae440e" Type="http://schemas.openxmlformats.org/officeDocument/2006/relationships/slide" Target="../slides/slide24.xml"/><Relationship Id="Rc6b691cf961e46d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8bb6b51b93044492" Type="http://schemas.openxmlformats.org/officeDocument/2006/relationships/notesMaster" Target="../notesMasters/notesMaster1.xml"/><Relationship Id="Rd01cef9418f84798"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3d15dacfc3f4fad" Type="http://schemas.openxmlformats.org/officeDocument/2006/relationships/slide" Target="../slides/slide26.xml"/><Relationship Id="R77921cd1e104434f"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d6c05fa8df2d4dd6" Type="http://schemas.openxmlformats.org/officeDocument/2006/relationships/notesMaster" Target="../notesMasters/notesMaster1.xml"/><Relationship Id="Rde5b2f918e66429a"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5bbec9b00fd94e68" Type="http://schemas.openxmlformats.org/officeDocument/2006/relationships/notesMaster" Target="../notesMasters/notesMaster1.xml"/><Relationship Id="Re5e5857d67f44d5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12c6615b1ebf4755" Type="http://schemas.openxmlformats.org/officeDocument/2006/relationships/slide" Target="../slides/slide29.xml"/><Relationship Id="R90faf132fea243a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Each unit is inseparable from the ground and stands in definite relations to other units. We examine saturation, the four aspects of a unit, the perpetual world, and the four orders of nature with their modes of conformance.</a:t>
            </a:r>
          </a:p>
          <a:p xmlns:a="http://schemas.openxmlformats.org/drawingml/2006/main">
            <a:r>
              <a:t>Second: how development proceeds along two lines. Composition forms molecules, cells and bodies. Development in an atom reaches constitutional completeness as the sentient unit, jeevan. Across both lines, activity includes effort, motion and result together.</a:t>
            </a:r>
          </a:p>
          <a:p xmlns:a="http://schemas.openxmlformats.org/drawingml/2006/main">
            <a:r>
              <a:t>Third: how sentient living becomes awakened conduct. The body supplies a medium for jeevan's faculties. We examine their harmonies, the difference between sensitivity and understanding, intentional action, and completeness in understanding and conduct. That prepares us to examine values, justice, realisation, expression and humane tradition.</a:t>
            </a:r>
          </a:p>
          <a:p xmlns:a="http://schemas.openxmlformats.org/drawingml/2006/main">
            <a:r>
              <a:t>The body line and the sentient-unit line meet in animal and human living. Their meeting, and the different contribution of each, is the connection we will keep returning 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 The same pervasive reality is also named jyoti, light; realisation in it is described as enduring prakash.</a:t>
            </a:r>
          </a:p>
          <a:p xmlns:a="http://schemas.openxmlformats.org/drawingml/2006/main">
            <a:r>
              <a:t>Two words make this relation clearer. *Permeating* concerns the unit: the pervasive reality passes through every unit, which remains saturated in it. *Transparent* concerns mutuality: units become manifest to one another through imaging, which provides a basis of recognition. Transparency, permeability, and pervasiveness together evidence one indivisible reality.</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Saturation names the inseparability of units and Omnipresence. Every formful unit is soaked, submerged, and surrounded in the same pervasive reality.</a:t>
            </a:r>
          </a:p>
          <a:p xmlns:a="http://schemas.openxmlformats.org/drawingml/2006/main">
            <a:r>
              <a:t>Picture a cloth immersed in water. Water is within the cloth, the cloth is submerged, and water surrounds it on every side. This illustration helps us picture the three relations. Its limit is equally simple: cloth can be removed from water, whereas a unit is always present in formless Omnipresence.</a:t>
            </a:r>
          </a:p>
          <a:p xmlns:a="http://schemas.openxmlformats.org/drawingml/2006/main">
            <a:r>
              <a:t>Soakedness means that the unit is endowed with energy and force. Submersion means that it is active and stands in mutual recognition with other units. Surroundedness means that it remains regulated in definite relations. We will meet this regulation again alongside the four orders of nature.</a:t>
            </a:r>
          </a:p>
          <a:p xmlns:a="http://schemas.openxmlformats.org/drawingml/2006/main">
            <a:r>
              <a:t>These are connected aspects of one saturation. Energy becomes evident in activity, recognition in mutuality, and regulation in definite conduct. The ground is named jyoti, light; each unit saturated in it is prakashman, manifest. The texts explicitly connect this manifestness with satta permeating the unit and its being endowed with force. Manifestness belongs to all units, including sentient jeevan.</a:t>
            </a:r>
          </a:p>
          <a:p xmlns:a="http://schemas.openxmlformats.org/drawingml/2006/main">
            <a:r>
              <a:t>Because the pervasive reality permeates every unit, dividing a unit leaves every fragment saturated. The texts connect this continuing presence with their doctrine that what exists is not annihilated. Particular arrangements can end while their constituents remain. We will return to that distinction when we consider perpetuity and time.</a:t>
            </a:r>
          </a:p>
          <a:p xmlns:a="http://schemas.openxmlformats.org/drawingml/2006/main">
            <a:r>
              <a:t>The next slide follows the relation between units: how they become manifest to one another and participate in complementarity.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unit is saturated in the ground. Units also stand in mutuality with one another. Complementarity names their definite participation in the wider order of coexistence.</a:t>
            </a:r>
          </a:p>
          <a:p xmlns:a="http://schemas.openxmlformats.org/drawingml/2006/main">
            <a:r>
              <a:t>Recognition begins with units becoming manifest in mutual facing. Their image, called pratibimb, provides a basis of mutual recognition. In insentient nature, recognition means definite responsiveness: heat is accepted and redistributed, particles maintain definite relations, and atoms combine under definite conditions. A unit's relative powers exert effects in these interactions. Human understanding involves the further knowing activities of jeevan.</a:t>
            </a:r>
          </a:p>
          <a:p xmlns:a="http://schemas.openxmlformats.org/drawingml/2006/main">
            <a:r>
              <a:t>Every unit is a whole along with its environment. It retains its own constitution while participating in definite relations. Value, in the universal sense, is essentiality and participation in orderliness — what a unit contributes through its conduct. Usefulness is that essentiality as it appears in objects.</a:t>
            </a:r>
          </a:p>
          <a:p xmlns:a="http://schemas.openxmlformats.org/drawingml/2006/main">
            <a:r>
              <a:t>Fulfilment is the participation that follows recognition, according to constitution and order. Below the human order it follows definite conformance. In human living, knowing and believing must guide recognition and fulfilment, and this can succeed or fail.</a:t>
            </a:r>
          </a:p>
          <a:p xmlns:a="http://schemas.openxmlformats.org/drawingml/2006/main">
            <a:r>
              <a:t>This gives development its direction in the account: fuller participation in complementarity. Later we will examine how that direction becomes conscious responsibility in human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is every unit? Four inseparable aspects — not a static checklist pasted onto things, but how a definite bearer shows up in the world.</a:t>
            </a:r>
          </a:p>
          <a:p xmlns:a="http://schemas.openxmlformats.org/drawingml/2006/main">
            <a:r>
              <a:t>Form is the real configuration of the unit: shape, volume, and density. The constituted unit is bimb. Its image in mutual facing is pratibimb, and being imaged is pratibimban. Take the peepal tree: one bounded living form with trunk, branches, leaves, and roots.</a:t>
            </a:r>
          </a:p>
          <a:p xmlns:a="http://schemas.openxmlformats.org/drawingml/2006/main">
            <a:r>
              <a:t>Properties are relative powers inseparable from their bearer. In the peepal, nutrition, repair, seed production, and degeneration become effective under definite conditions.</a:t>
            </a:r>
          </a:p>
          <a:p xmlns:a="http://schemas.openxmlformats.org/drawingml/2006/main">
            <a:r>
              <a:t>Essential nature is usefulness in mutuality. The peepal's effects are vitalising or devitalising according to the affected body and conditions. Its being alive or decomposing does not alone decide which effect it has on another body.</a:t>
            </a:r>
          </a:p>
          <a:p xmlns:a="http://schemas.openxmlformats.org/drawingml/2006/main">
            <a:r>
              <a:t>Dharma means inseparable innateness: what belongs to the unit and is fulfilled in its activity. For the peepal: existence plus growth. Seed-conformance is how it conducts itself, not an extra label piled on top.</a:t>
            </a:r>
          </a:p>
          <a:p xmlns:a="http://schemas.openxmlformats.org/drawingml/2006/main">
            <a:r>
              <a:t>The whole unit is manifest, or prakashman, with all four aspects, grounded in its saturation in satta. In the context of mutuality, prakash names a unit’s imaging. This describes how units are manifest to one another within the wider account of light and manifestness; completed human understanding also requires knowing their relations and fulfilment. An image alone does not deliver that understanding. Animal recognition of essential nature becomes evident in friendliness and opposition; human living brings the exchange of values and evaluation of dharma.</a:t>
            </a:r>
          </a:p>
          <a:p xmlns:a="http://schemas.openxmlformats.org/drawingml/2006/main">
            <a:r>
              <a:t>And notice: the tree as a composite can die while its material constituents persist. Persistence of existence is not persistence of one configuration.</a:t>
            </a:r>
          </a:p>
          <a:p xmlns:a="http://schemas.openxmlformats.org/drawingml/2006/main">
            <a:r>
              <a:t>Every unit also presents, communicates, and expresses its characteristic contribution according to its constitution and order. In human living these terms acquire the further meaning of purposefully making understanding available through speech, work, and behaviour. We will develop that meaning near the end.</a:t>
            </a:r>
          </a:p>
          <a:p xmlns:a="http://schemas.openxmlformats.org/drawingml/2006/main">
            <a:r>
              <a:t>The same unit is known through three complementary truths. Inherent truth is what the unit is. Positional truth is how it stands among others. Existential truth is that it exists in Omnipresence.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described units and their mutuality. Now consider what changes, what persists, and how time enters this account.</a:t>
            </a:r>
          </a:p>
          <a:p xmlns:a="http://schemas.openxmlformats.org/drawingml/2006/main">
            <a:r>
              <a:t>Time is the duration of activity, reckoned from recurrent activities — a rotation, a year. The ground does not transform, so it is not temporal in the way unit-activity is measured.</a:t>
            </a:r>
          </a:p>
          <a:p xmlns:a="http://schemas.openxmlformats.org/drawingml/2006/main">
            <a:r>
              <a:t>The texts call Omnipresence the supreme cause in a sustaining sense: every activity exists as nature saturated in it. Composition, decomposition and development occur through active units in mutuality. The ground remains unchanged.</a:t>
            </a:r>
          </a:p>
          <a:p xmlns:a="http://schemas.openxmlformats.org/drawingml/2006/main">
            <a:r>
              <a:t>Existence is perpetual. What exists neither arises from non-being nor disappears into it. Particular arrangements of units form and end. A compound decomposes and a body dies; their constituents continue in other relations. Perpetuity belongs to coexistence, while individual configurations have their own histories.</a:t>
            </a:r>
          </a:p>
          <a:p xmlns:a="http://schemas.openxmlformats.org/drawingml/2006/main">
            <a:r>
              <a:t>The persistence of one organised individual needs a further account of its constitution. When we reach the sentient unit, jeevan, constitutional completeness supplies Madhyasth Darshan's specific account of that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Sentience belongs to jeevan; the body provides its medium of expression.</a:t>
            </a:r>
          </a:p>
          <a:p xmlns:a="http://schemas.openxmlformats.org/drawingml/2006/main">
            <a:r>
              <a:t>Each order also has a characteristic way of maintaining definite conduct. That is the next part of the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orders have characteristic modes of conformance: ways in which conduct follows their constitution and organisation.</a:t>
            </a:r>
          </a:p>
          <a:p xmlns:a="http://schemas.openxmlformats.org/drawingml/2006/main">
            <a:r>
              <a:t>Material units follow result- or structure-conformance. Biological compositions follow seed-conformance. Animals follow species-conformance, including inherited conduct-patterns accepted from gestation. Human bodily composition remains species-conformant, while human conduct principally follows sanskar: acquired acceptances and dispositions.</a:t>
            </a:r>
          </a:p>
          <a:p xmlns:a="http://schemas.openxmlformats.org/drawingml/2006/main">
            <a:r>
              <a:t>These dispositions can express delusion or awakened understanding. Education and tradition can therefore reproduce confusion or make understanding and the disposition to live by it available.</a:t>
            </a:r>
          </a:p>
          <a:p xmlns:a="http://schemas.openxmlformats.org/drawingml/2006/main">
            <a:r>
              <a:t>This connects the orders with the regulation introduced through saturation. Omnipresence is the sustaining condition. Within an atom, the mediative nucleus regulates generative and degenerative activity and conserves relative powers. Across nature, order-specific conformance is the conduct through which regulation becomes evident.</a:t>
            </a:r>
          </a:p>
          <a:p xmlns:a="http://schemas.openxmlformats.org/drawingml/2006/main">
            <a:r>
              <a:t>This mediative role gives Madhyasth Darshan its name. Regulation is inherent in saturated nature. Material, biological and animal fulfilment follows definite conformance; human freedom of action introduces the need to understand and evaluate fulfilment.</a:t>
            </a:r>
          </a:p>
          <a:p xmlns:a="http://schemas.openxmlformats.org/drawingml/2006/main">
            <a:r>
              <a:t>We have now established the orders and their modes of conduct. The next movement examines the two lines of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second movement: development.</a:t>
            </a:r>
          </a:p>
          <a:p xmlns:a="http://schemas.openxmlformats.org/drawingml/2006/main">
            <a:r>
              <a:t>Nature saturated in state-complete Omnipresence is oriented toward development and awakening until realisation. The texts connect that direction with fulfilment in coexistence. Particular units participate according to their constitution and order.</a:t>
            </a:r>
          </a:p>
          <a:p xmlns:a="http://schemas.openxmlformats.org/drawingml/2006/main">
            <a:r>
              <a:t>Development proceeds along two distinct lines. Compositional progression forms larger configurations — molecules, cells, bodies and their environments. Development within an atom can reach constitutional completeness as a sentient unit. These lines meet in living joint forms.</a:t>
            </a:r>
          </a:p>
          <a:p xmlns:a="http://schemas.openxmlformats.org/drawingml/2006/main">
            <a:r>
              <a:t>Across both, activity includes effort, motion and result together. Effort is the active tendency, motion the state of change, and result the condition attained. These are three aspects of one activity. When sodium and chlorine combine, their activity includes effort and motion, with the resulting salt composition as the attained condition.</a:t>
            </a:r>
          </a:p>
          <a:p xmlns:a="http://schemas.openxmlformats.org/drawingml/2006/main">
            <a:r>
              <a:t>The texts connect saturation, forcefulness, basic impulsion and activity through this triad. They also name three developmental goals: restfulness of effort, destination of motion and immortality of result. Effort comes to rest in realisation, motion reaches its destination in right conduct, and the result becomes constitutionally stable as jeevan. We will return to those goals after examining the sentient unit's constitution, understanding and conduct.</a:t>
            </a:r>
          </a:p>
          <a:p xmlns:a="http://schemas.openxmlformats.org/drawingml/2006/main">
            <a:r>
              <a:t>First, let us follow the two developmental paths and see where they meet.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does sentience enter this account? The first threshold is constitutional completeness, which we will call T1.</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turn to human living — movement three.</a:t>
            </a:r>
          </a:p>
          <a:p xmlns:a="http://schemas.openxmlformats.org/drawingml/2006/main">
            <a:r>
              <a:t>Animal and human living is a joint form. The sentient unit, jeevan, brings the faculties of knowing and acting. The body supplies the species-specific medium through which they can be expressed.</a:t>
            </a:r>
          </a:p>
          <a:p xmlns:a="http://schemas.openxmlformats.org/drawingml/2006/main">
            <a:r>
              <a:t>As an illustration, the body is a vehicle and jeevan its conscious driver and knower. The illustration distinguishes their roles; it does not explain the physical mechanism of their interaction. The body supplies living composition, sense organs, the brain, and capacities for physical expression. The texts describe the brain as receiving and translating signals between jeevan and the body.</a:t>
            </a:r>
          </a:p>
          <a:p xmlns:a="http://schemas.openxmlformats.org/drawingml/2006/main">
            <a:r>
              <a:t>The body can decompose. Jeevan's constitution is complete: its particles no longer increase or decrease, while its qualitative activity continues. On this account jeevan persists when the joint form ends and can later associate with another body. The evidential questions about this interface and continuity return in our discussion of method.</a:t>
            </a:r>
          </a:p>
          <a:p xmlns:a="http://schemas.openxmlformats.org/drawingml/2006/main">
            <a:r>
              <a:t>Animal bodily development limits expression. The human medium supports the full range, while mistaking the body for the self can still misdirect evaluation. A limitation of bodily expression and an error of understanding are different conditions.</a:t>
            </a:r>
          </a:p>
          <a:p xmlns:a="http://schemas.openxmlformats.org/drawingml/2006/main">
            <a:r>
              <a:t>Jeevan is the seer, doer and enjoyer: it knows, acts through work and behaviour, and undergoes results. Awakening establishes understanding as the guide of doing and experiencing. The next slide identifies the faculties through which these activities occur.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sentient unit — jeevan — is a constitutionally complete atom.</a:t>
            </a:r>
          </a:p>
          <a:p xmlns:a="http://schemas.openxmlformats.org/drawingml/2006/main">
            <a:r>
              <a:t>Structurally, atma is the centre. Four faculties surround it: buddhi, chitta, vritti, and mun. The texts distinguish these faculties from their characteristic powers: evidence, resoluteness, desire, thought, and hope.</a:t>
            </a:r>
          </a:p>
          <a:p xmlns:a="http://schemas.openxmlformats.org/drawingml/2006/main">
            <a:r>
              <a:t>Each characteristic power has outward and inward activities. Mun selects and tastes; vritti analyses and deliberates; chitta visualises and contemplates, including direct apprehension; buddhi resolves and comprehends; atma evidences authenticity and realises. Tasting at mun has three orientations: sensory, value-based, and goal-based. Awakening changes which governs what is accepted. Projection expresses understanding through authenticity, resolve, visualisation, analysis, and selection into living conduct.</a:t>
            </a:r>
          </a:p>
          <a:p xmlns:a="http://schemas.openxmlformats.org/drawingml/2006/main">
            <a:r>
              <a:t>Here, reflection means pratyavartan, the inward activity of knowing. It differs from pratibimban, the imaging between units introduced on slides 7 and 8. Guidance can descend from the core self through the faculties, while sensory drive can press inward from the body. In awakening, cognisance regulates sensitivity.</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name four harmonies within jeevan.</a:t>
            </a:r>
          </a:p>
          <a:p xmlns:a="http://schemas.openxmlformats.org/drawingml/2006/main">
            <a:r>
              <a:t>Each harmony is experienced at the outer faculty of its pair. Happiness is borne at mun through harmony with vritti: hope accords with thought. Peace is borne at vritti through harmony with chitta: thought accords with desire. Contentment is borne at chitta through harmony with buddhi. Bliss is borne at buddhi through harmony with atma.</a:t>
            </a:r>
          </a:p>
          <a:p xmlns:a="http://schemas.openxmlformats.org/drawingml/2006/main">
            <a:r>
              <a:t>Realisation at atma is named ultimate bliss, or paramanand. Its effect reaches the remaining faculties. This distinguishes the location of realisation from the harmony between buddhi and atma.</a:t>
            </a:r>
          </a:p>
          <a:p xmlns:a="http://schemas.openxmlformats.org/drawingml/2006/main">
            <a:r>
              <a:t>These harmonies become evident through progressively fuller living. Resolution in the person corresponds to happiness. Resolution with prosperity corresponds to peace; these with fearlessness correspond to contentment; all three in coexistence correspond to bliss. Each fuller fulfilment includes the preceding content.</a:t>
            </a:r>
          </a:p>
          <a:p xmlns:a="http://schemas.openxmlformats.org/drawingml/2006/main">
            <a:r>
              <a:t>These are principal correspondences within one life. A value is not confined to one social setting, and acquiring goods does not automatically produce peace. Animal living expresses hope to live through its bodily medium; the account here concerns human understanding and its evidence in living.</a:t>
            </a:r>
          </a:p>
          <a:p xmlns:a="http://schemas.openxmlformats.org/drawingml/2006/main">
            <a:r>
              <a:t>Evidence in living widens from one issue to further issues. Inward reflection and outward expression deepen one another in living. Reflection deepens understanding, and projection makes it evident in conduct; further experience then becomes material for reflection.</a:t>
            </a:r>
          </a:p>
          <a:p xmlns:a="http://schemas.openxmlformats.org/drawingml/2006/main">
            <a:r>
              <a:t>The next two slides examine how understanding comes to guide sensory life, work and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jeevan bears five faculties and ten activities. Their expression depends on the bodily medium, and their effective organisation depends on understanding.</a:t>
            </a:r>
          </a:p>
          <a:p xmlns:a="http://schemas.openxmlformats.org/drawingml/2006/main">
            <a:r>
              <a:t>In animals, the bodily medium limits expression to hope-bound selection, taste-recognition and species-conformant conduct. The human body supplies the medium for the full circuit of understanding. That bodily provision makes awakening possible; it does not by itself establish it.</a:t>
            </a:r>
          </a:p>
          <a:p xmlns:a="http://schemas.openxmlformats.org/drawingml/2006/main">
            <a:r>
              <a:t>In deluded human living, the body is mistaken for the self. Four and a half activities are effectively organised around bodily sensitivity: selection, taste, analysis, visualisation, and restricted deliberation.</a:t>
            </a:r>
          </a:p>
          <a:p xmlns:a="http://schemas.openxmlformats.org/drawingml/2006/main">
            <a:r>
              <a:t>The restriction concerns deliberation's perspectives. There are six: pleasant–unpleasant, healthy–unhealthy, profit–loss, justice–injustice, dharma–adharma, and truth–untruth. The first three govern deluded evaluation. The remaining three have yet to guide it. In this restricted sense deliberation is called a half activity. This describes its governing criteria; it is not a measured fraction of a person's mental capacity.</a:t>
            </a:r>
          </a:p>
          <a:p xmlns:a="http://schemas.openxmlformats.org/drawingml/2006/main">
            <a:r>
              <a:t>Sensitivity means responsiveness through the body and senses. Cognisance means jeevan's understanding of relationship, value and orderliness. Awakening brings sensitivity under the guidance of that understanding. Pleasure, bodily health and material benefit retain their proper place within justice, resolved thought and truth.</a:t>
            </a:r>
          </a:p>
          <a:p xmlns:a="http://schemas.openxmlformats.org/drawingml/2006/main">
            <a:r>
              <a:t>All ten activities are present. Study supplies the content of understanding, and practice makes it effective in living. Its fuller expression is resolution, prosperity, fearlessness and coexistence, the four goals shown below. The next slide examines the action through which understanding is evidenced.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Understanding becomes evident through work and behaviour. Karma is activity with aspiration.</a:t>
            </a:r>
          </a:p>
          <a:p xmlns:a="http://schemas.openxmlformats.org/drawingml/2006/main">
            <a:r>
              <a:t>Every activity in nature includes effort, motion and result. In human action, desire names what is sought, karma the doing, and result the fruit. A desire is accomplished when desire, action and result are in balance.</a:t>
            </a:r>
          </a:p>
          <a:p xmlns:a="http://schemas.openxmlformats.org/drawingml/2006/main">
            <a:r>
              <a:t>Five limbs make an action clearer: the doer, cause, objective, result and effect. These distinguish who acts, the motivating need, the intended aim, what is attained, and the wider consequence. Wanting a result, acting toward it and checking what happened belong together.</a:t>
            </a:r>
          </a:p>
          <a:p xmlns:a="http://schemas.openxmlformats.org/drawingml/2006/main">
            <a:r>
              <a:t>Human freedom of action makes responsibility possible. The texts describe deluded humans as independent while performing actions but dependent while undergoing their results. A person may act from an incomplete understanding and then face a consequence they had not understood or accepted.</a:t>
            </a:r>
          </a:p>
          <a:p xmlns:a="http://schemas.openxmlformats.org/drawingml/2006/main">
            <a:r>
              <a:t>In awakened living, understanding precedes action, and results are evaluated and received within resolution. This is what independence in both doing and undergoing means here. Consequences still occur; their reception is guided by understanding rather than unresolved contradiction.</a:t>
            </a:r>
          </a:p>
          <a:p xmlns:a="http://schemas.openxmlformats.org/drawingml/2006/main">
            <a:r>
              <a:t>The harmonies within jeevan and their evidence in living therefore belong together. Study, practice, work, behaviour, result and purpose must become coherent. We can now distinguish completeness of understanding from its continuous expression in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bring constitution, understanding and conduct together through three milestones — T1, T2, and T3.</a:t>
            </a:r>
          </a:p>
          <a:p xmlns:a="http://schemas.openxmlformats.org/drawingml/2006/main">
            <a:r>
              <a:t>T1 is the constitutional completeness we examined earlier: the immortality of result. A developing atom becomes a sentient unit — jeevan. Its standing changes from physicochemical to sentient before realisation, on what the texts call the delusional plane. In human living, delusion means mistaking the body for the self. In animal living, expression is limited by the bodily medium. The plane name should not turn that limitation into a human error or a psychiatric diagnosis.</a:t>
            </a:r>
          </a:p>
          <a:p xmlns:a="http://schemas.openxmlformats.org/drawingml/2006/main">
            <a:r>
              <a:t>T2 is activity completeness: restfulness of effort. Knowing, believing, recognising and fulfilling become coherent through realisation and resolution. The search arising from body-identification settles into awakened understanding.</a:t>
            </a:r>
          </a:p>
          <a:p xmlns:a="http://schemas.openxmlformats.org/drawingml/2006/main">
            <a:r>
              <a:t>T3 is conduct completeness: destination of motion. That understanding becomes continuous in work, behaviour and participation — authentic conduct as living proof.</a:t>
            </a:r>
          </a:p>
          <a:p xmlns:a="http://schemas.openxmlformats.org/drawingml/2006/main">
            <a:r>
              <a:t>T2 concerns the settlement of understanding; T3 concerns its continuous evidence in conduct. Together they describe awakening within an already complete sentient constitution.</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vocabularies now help us distinguish the aspects of order and development we have examined.</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**Order and development** are described by four terms: existential progression, way of existence, development progression, and awakening progression. The first names the definite order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connect the faculties and harmonies of jeevan with values fulfilled in relationships.</a:t>
            </a:r>
          </a:p>
          <a:p xmlns:a="http://schemas.openxmlformats.org/drawingml/2006/main">
            <a:r>
              <a:t>A relationship carries definite expectations towards completeness — parent and child, for example. In a contact, or sampark, the particular exchange is voluntarily undertaken, as when neighbours agree to share the upkeep of a wall. Both remain answerable to justice and humane conduct.</a:t>
            </a:r>
          </a:p>
          <a:p xmlns:a="http://schemas.openxmlformats.org/drawingml/2006/main">
            <a:r>
              <a:t>The thirty values belong to five families. Four jeevan values are the harmonies we have examined: happiness, peace, contentment and bliss. Six human values are the humane qualities of fortitude, courage, generosity, kindness, grace and compassion. Nine established values include trust, respect, affection and care. Nine expressed values are their corresponding expressions in conduct. The two object values are usefulness and art value — the meaningful convenience and beauty that enhance usefulness.</a:t>
            </a:r>
          </a:p>
          <a:p xmlns:a="http://schemas.openxmlformats.org/drawingml/2006/main">
            <a:r>
              <a:t>The family tells us what evaluative role a value fulfils. The faculty tells us where the activity is borne in jeevan. The four harmonies are borne at mun, vritti, chitta and buddhi. The nine established values are borne three each at chitta, vritti and mun, with their corresponding expressions. Object values concern the useful material means through which work and bodily needs are supported.</a:t>
            </a:r>
          </a:p>
          <a:p xmlns:a="http://schemas.openxmlformats.org/drawingml/2006/main">
            <a:r>
              <a:t>Bearing a value and fulfilling it in a relationship are distinct. A person may intend to care for an ill parent, but care becomes effective through recognising the parent's needs, arranging suitable help, and checking the result. A useful object can support that care; attention, trust and respect concern how the people relate.</a:t>
            </a:r>
          </a:p>
          <a:p xmlns:a="http://schemas.openxmlformats.org/drawingml/2006/main">
            <a:r>
              <a:t>Knowing and believing therefore guide recognising and fulfilling. Established values become evident as relationships are fulfilled; expressed values carry them into conduct. The next slide examines how fulfilment is evaluated.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introduced six perspectives when examining restricted deliberation. Here they guide the evaluation of living: pleasant–unpleasant, healthy–unhealthy, profit–loss, justice–injustice, dharma–adharma, and truth–untruth.</a:t>
            </a:r>
          </a:p>
          <a:p xmlns:a="http://schemas.openxmlformats.org/drawingml/2006/main">
            <a:r>
              <a:t>The first three concern sensation, the body, and material production or exchange. The final three concern relationship, resolved thought and existence as coexistence.</a:t>
            </a:r>
          </a:p>
          <a:p xmlns:a="http://schemas.openxmlformats.org/drawingml/2006/main">
            <a:r>
              <a:t>Justice evaluates behaviour. As a completed relational activity, it means recognising relationships, fulfilling values, evaluating the fulfilment, and achieving mutual satisfaction. Trust or care contributes to justice when it is actually fulfilled in the relationship.</a:t>
            </a:r>
          </a:p>
          <a:p xmlns:a="http://schemas.openxmlformats.org/drawingml/2006/main">
            <a:r>
              <a:t>Dharma as an evaluative perspective concerns whether thought and policy support resolution and overall orderliness. This differs from unit dharma, the inseparable innateness introduced earlier. Truth concerns the coexistence that is understood through realisation.</a:t>
            </a:r>
          </a:p>
          <a:p xmlns:a="http://schemas.openxmlformats.org/drawingml/2006/main">
            <a:r>
              <a:t>The text connects these levels in a graduated chain: rule is justice, justice is dharma, dharma is truth, and truth is coexistence.</a:t>
            </a:r>
          </a:p>
          <a:p xmlns:a="http://schemas.openxmlformats.org/drawingml/2006/main">
            <a:r>
              <a:t>Pleasure, health and material benefit remain legitimate in their domains. Humane evaluation places them under justice, resolved thought and truth, so that the useful means of living serve fulfilled relationships and the human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brings the account of knowing together: what must be understood, and how understanding deepens within jeevan.</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Mun tastes and selects. Vritti deliberates. Chitta contemplates and directly apprehends. Buddhi comprehends and resolves. Atma realises in truth. Happiness, peace, contentment, and bliss name harmonies between paired faculties. Realisation at atma is named ultimate bliss.</a:t>
            </a:r>
          </a:p>
          <a:p xmlns:a="http://schemas.openxmlformats.org/drawingml/2006/main">
            <a:r>
              <a:t>Every unit is already manifest with all four aspects. The left-hand steps describe widening human understanding of that unit; they do not describe successive additions to its image. Inward reflection deepens knowing, and projection makes understanding evident through conduct. Bliss names the harmony of buddhi and atma; coexistence realised at atma is ultimate bliss.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the developmental drive comes to rest: realisation in coexistence.</a:t>
            </a:r>
          </a:p>
          <a:p xmlns:a="http://schemas.openxmlformats.org/drawingml/2006/main">
            <a:r>
              <a:t>Realisation settles jeevan's search arising from delusion. The awakened sentient unit understands the coexistence in which it has always existed and evidences that understanding through fulfilled relationships and humane conduct.</a:t>
            </a:r>
          </a:p>
          <a:p xmlns:a="http://schemas.openxmlformats.org/drawingml/2006/main">
            <a:r>
              <a:t>Realisation at atma is named ultimate bliss. Bliss names the harmony of buddhi and atma. What is known is existence as coexistence: nature saturated in Omnipresence. Understanding becomes evident as authenticity in work, behaviour, and participation. The next slide examines how it is presented, communicated, and expressed.</a:t>
            </a:r>
          </a:p>
          <a:p xmlns:a="http://schemas.openxmlformats.org/drawingml/2006/main">
            <a:r>
              <a:t>Three roles stay distinct: the sentient unit remains the knower; existence as coexistence remains the known; knowledge becomes evident as authentic conduct. Its threefold content is the holistic view of coexistence, knowledge of jeevan, and knowledge of humane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unit is prakashman, manifest through its form, properties, essential nature and dharma. Presentation, communication and expression describe this participation throughout nature. In sentient jeevan, manifestness includes its active faculties and the capacities it expresses through the body. Humans already communicate and express their capacities during awakening progression. With awakening, these activities carry realised understanding into meaningful presentation, communication and conduct. The three definitions here describe that fuller human fulfilment.</a:t>
            </a:r>
          </a:p>
          <a:p xmlns:a="http://schemas.openxmlformats.org/drawingml/2006/main">
            <a:r>
              <a:t>Presentation, prakashan, makes actuality evident through an accomplished and meaningful form. Something understood becomes available for another to attend to.</a:t>
            </a:r>
          </a:p>
          <a:p xmlns:a="http://schemas.openxmlformats.org/drawingml/2006/main">
            <a:r>
              <a:t>Communication, sampreshana, indicates completeness. The definition names constitutional completeness, activity completeness and conduct completeness. In human communication, words direct attention to the activity of units and its inherent meaning, serving understanding and enabling another to understand.</a:t>
            </a:r>
          </a:p>
          <a:p xmlns:a="http://schemas.openxmlformats.org/drawingml/2006/main">
            <a:r>
              <a:t>Expression, abhivyakti, is the mental, verbal and bodily activity through which one's existence is evidenced for all-round resolution, called abhyudaya. Understanding becomes evident in speech, work and humane behaviour.</a:t>
            </a:r>
          </a:p>
          <a:p xmlns:a="http://schemas.openxmlformats.org/drawingml/2006/main">
            <a:r>
              <a:t>Art, kala, is skilful expressive activity: it makes qualities evident and expression meaningful, joining usefulness with beauty. Art value, kala-mulya, is the value realised in an object when meaningful convenience and beauty enhance its usefulness. A well-made object can evidence that value; a clear explanation can evidence art in making understanding intelligible.</a:t>
            </a:r>
          </a:p>
          <a:p xmlns:a="http://schemas.openxmlformats.org/drawingml/2006/main">
            <a:r>
              <a:t>These are connected, overlapping aspects of sentient manifestation. Their fulfilment in awakened human living carries realised understanding through the body into conduct and the humane tradition.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Conduct completeness is realised understanding expressed continuously by the individual. Humane participation and education transmit it through an awakened tradition. Individual completeness contributes to social completeness; it does not wait for the entire society to be complete.</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social systems carry that continuity: education and formative culture; justice and preservation; health and restraint; production and work; exchange and storage. These differ from the four dimensions of a person's living — realisation, thought, behaviour and work.</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MD connects this social aim with human dharma as happiness, values fulfilled in relationships, and understanding expressed in conduct. Nature is oriented towards development and realisation; an awakened human tradition requires people to understand, practise, and transmit that understanding. The ontology gives this participation a purpose without making humane institutions automatic.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we have examined uses several modes of inquiry and evidence. Each answers a different question.</a:t>
            </a:r>
          </a:p>
          <a:p xmlns:a="http://schemas.openxmlformats.org/drawingml/2006/main">
            <a:r>
              <a:t>Logical exposition tests whether definitions and relationships form a coherent account. Study and self-examination test whether the proposal and the activities of knowing can be understood and recognised.</a:t>
            </a:r>
          </a:p>
          <a:p xmlns:a="http://schemas.openxmlformats.org/drawingml/2006/main">
            <a:r>
              <a:t>Experiment and practice in work and behaviour test whether understanding regulates action. Conduct-evidence makes relational consequences — fulfilled values, mutual satisfaction and participation — visible to others.</a:t>
            </a:r>
          </a:p>
          <a:p xmlns:a="http://schemas.openxmlformats.org/drawingml/2006/main">
            <a:r>
              <a:t>Realisation is Madhyasth Darshan's claimed completion of knowing coexistence, jeevan and humane conduct. Its status as first-person completion differs from publicly measurable physical evidence.</a:t>
            </a:r>
          </a:p>
          <a:p xmlns:a="http://schemas.openxmlformats.org/drawingml/2006/main">
            <a:r>
              <a:t>The sentience threshold, the jeevan–body interface, and post-body reassociation raise physical questions. No accepted measurement currently identifies them. The survival and reassociation account introduced with the joint form remains a claim to examine under that further standard.</a:t>
            </a:r>
          </a:p>
          <a:p xmlns:a="http://schemas.openxmlformats.org/drawingml/2006/main">
            <a:r>
              <a:t>These methods can support one another while retaining their different scope. Evidence of humane conduct does not by itself identify the sentient atom, just as internal coherence alone does not establish that a physical claim is 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bb6843d4c7a42fd"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ae7b0d24f2e480e" Type="http://schemas.openxmlformats.org/officeDocument/2006/relationships/theme" Target="theme/theme2.xml"/><Relationship Id="Rccf15baee49a48d0"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ccf15baee49a48d0"/>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3031d665379b4916" Type="http://schemas.openxmlformats.org/officeDocument/2006/relationships/slideLayout" Target="../slideLayouts/slideLayout1.xml"/><Relationship Id="Rba23f9bd52f14bcc"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09ddd85a35f4b3b" Type="http://schemas.openxmlformats.org/officeDocument/2006/relationships/notesSlide" Target="../notesSlides/notesSlide2.xml"/><Relationship Id="R14a0f3490353409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65cbbfcfc9a94a94" Type="http://schemas.openxmlformats.org/officeDocument/2006/relationships/slideLayout" Target="../slideLayouts/slideLayout1.xml"/><Relationship Id="Raa91937193f44a22" Type="http://schemas.openxmlformats.org/officeDocument/2006/relationships/notesSlide" Target="../notesSlides/notesSlide3.xml"/><Relationship Id="Rab090c9d22c0488e" Type="http://schemas.openxmlformats.org/officeDocument/2006/relationships/image" Target="../media/image.png"/></Relationships>
</file>

<file path=ppt/slides/_rels/slide4.xml.rels><?xml version='1.0' encoding='UTF-8' standalone='yes'?>
<Relationships xmlns="http://schemas.openxmlformats.org/package/2006/relationships"><Relationship Id="R4b860c7d98324352" Type="http://schemas.openxmlformats.org/officeDocument/2006/relationships/slideLayout" Target="../slideLayouts/slideLayout1.xml"/><Relationship Id="R6f640c4b95674b2d" Type="http://schemas.openxmlformats.org/officeDocument/2006/relationships/image" Target="../media/image2.png"/><Relationship Id="R85be754c28c744c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937cb85e09e840f0" Type="http://schemas.openxmlformats.org/officeDocument/2006/relationships/slideLayout" Target="../slideLayouts/slideLayout1.xml"/><Relationship Id="Rc48e5026250b442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60478028fed94430" Type="http://schemas.openxmlformats.org/officeDocument/2006/relationships/image" Target="../media/image3.png"/><Relationship Id="R730f6d8c24c74730" Type="http://schemas.openxmlformats.org/officeDocument/2006/relationships/image" Target="../media/image5.png"/><Relationship Id="R77bb050624ca48bf" Type="http://schemas.openxmlformats.org/officeDocument/2006/relationships/image" Target="../media/image4.png"/><Relationship Id="Ra5b3e970779e48fa" Type="http://schemas.openxmlformats.org/officeDocument/2006/relationships/slideLayout" Target="../slideLayouts/slideLayout1.xml"/><Relationship Id="Raf80355e4557492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6b9b199349e434b" Type="http://schemas.openxmlformats.org/officeDocument/2006/relationships/slideLayout" Target="../slideLayouts/slideLayout1.xml"/><Relationship Id="R3af91f88232c4d55" Type="http://schemas.openxmlformats.org/officeDocument/2006/relationships/image" Target="../media/image5.png"/><Relationship Id="R667e578a5fb349ff" Type="http://schemas.openxmlformats.org/officeDocument/2006/relationships/image" Target="../media/image4.png"/><Relationship Id="R83aca33a03a146e1" Type="http://schemas.openxmlformats.org/officeDocument/2006/relationships/image" Target="../media/image3.png"/><Relationship Id="Rcf2e05f86abd47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375425c0dd04763" Type="http://schemas.openxmlformats.org/officeDocument/2006/relationships/slideLayout" Target="../slideLayouts/slideLayout1.xml"/><Relationship Id="Rb6b4e44b36114bde"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e2e35b5b57240a8" Type="http://schemas.openxmlformats.org/officeDocument/2006/relationships/notesSlide" Target="../notesSlides/notesSlide9.xml"/><Relationship Id="R258b4be7ee2948e0" Type="http://schemas.openxmlformats.org/officeDocument/2006/relationships/image" Target="../media/image5.png"/><Relationship Id="R4309ea82831a4909" Type="http://schemas.openxmlformats.org/officeDocument/2006/relationships/image" Target="../media/image3.png"/><Relationship Id="R652459c6135e4133" Type="http://schemas.openxmlformats.org/officeDocument/2006/relationships/image" Target="../media/image4.png"/><Relationship Id="Re8d6be9f72e149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4ba1730e983e43dd" Type="http://schemas.openxmlformats.org/officeDocument/2006/relationships/slideLayout" Target="../slideLayouts/slideLayout1.xml"/><Relationship Id="R6ac05ba4b908409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29104c78c4394fb5" Type="http://schemas.openxmlformats.org/officeDocument/2006/relationships/slideLayout" Target="../slideLayouts/slideLayout1.xml"/><Relationship Id="Rdc0443b0530f44c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95b6605acc50484f" Type="http://schemas.openxmlformats.org/officeDocument/2006/relationships/notesSlide" Target="../notesSlides/notesSlide12.xml"/><Relationship Id="Rba15ca5883c8480e"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83a370c32b9f4bba" Type="http://schemas.openxmlformats.org/officeDocument/2006/relationships/notesSlide" Target="../notesSlides/notesSlide13.xml"/><Relationship Id="Rfa1dc5f2876b4dd9"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b2deaede4364b29" Type="http://schemas.openxmlformats.org/officeDocument/2006/relationships/notesSlide" Target="../notesSlides/notesSlide14.xml"/><Relationship Id="R94e09679f92c426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66daa67089ea4e76" Type="http://schemas.openxmlformats.org/officeDocument/2006/relationships/notesSlide" Target="../notesSlides/notesSlide15.xml"/><Relationship Id="R7cc78bfc1e33496b"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18b203794e247f9" Type="http://schemas.openxmlformats.org/officeDocument/2006/relationships/notesSlide" Target="../notesSlides/notesSlide16.xml"/><Relationship Id="R7ac8e5b179a9410b"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32567d516a1f4067" Type="http://schemas.openxmlformats.org/officeDocument/2006/relationships/notesSlide" Target="../notesSlides/notesSlide17.xml"/><Relationship Id="R8170bee6f41749c7"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e61c8c0227c46f0" Type="http://schemas.openxmlformats.org/officeDocument/2006/relationships/notesSlide" Target="../notesSlides/notesSlide18.xml"/><Relationship Id="R76e63b52e71c466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11e9f3cc030c41d3" Type="http://schemas.openxmlformats.org/officeDocument/2006/relationships/slideLayout" Target="../slideLayouts/slideLayout1.xml"/><Relationship Id="R3c83336df682480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36dca4562d34434" Type="http://schemas.openxmlformats.org/officeDocument/2006/relationships/slideLayout" Target="../slideLayouts/slideLayout1.xml"/><Relationship Id="R2c0494f7d5ef40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821ddcddfb174bb7" Type="http://schemas.openxmlformats.org/officeDocument/2006/relationships/notesSlide" Target="../notesSlides/notesSlide21.xml"/><Relationship Id="R910b6332d9fa46d4"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db0c3f82ea634bf7" Type="http://schemas.openxmlformats.org/officeDocument/2006/relationships/slideLayout" Target="../slideLayouts/slideLayout1.xml"/><Relationship Id="Re10cd7c64cb44f8e"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25b69546a2048b5" Type="http://schemas.openxmlformats.org/officeDocument/2006/relationships/notesSlide" Target="../notesSlides/notesSlide23.xml"/><Relationship Id="Re27fe790f700489d"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7a95db548fc4494" Type="http://schemas.openxmlformats.org/officeDocument/2006/relationships/notesSlide" Target="../notesSlides/notesSlide24.xml"/><Relationship Id="Rb4a9ca02c21a47c6"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0675bec54e8d45ce" Type="http://schemas.openxmlformats.org/officeDocument/2006/relationships/slideLayout" Target="../slideLayouts/slideLayout1.xml"/><Relationship Id="R976db75333a4459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6045b269b43d4b8a" Type="http://schemas.openxmlformats.org/officeDocument/2006/relationships/notesSlide" Target="../notesSlides/notesSlide26.xml"/><Relationship Id="Rac6e0b5be9014e0d" Type="http://schemas.openxmlformats.org/officeDocument/2006/relationships/image" Target="../media/image4.png"/><Relationship Id="Rbeef1ba50dab4717" Type="http://schemas.openxmlformats.org/officeDocument/2006/relationships/image" Target="../media/image3.png"/><Relationship Id="Re775de770ff140c8" Type="http://schemas.openxmlformats.org/officeDocument/2006/relationships/image" Target="../media/image5.png"/><Relationship Id="Rfa6b4237c76d44d2"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dec4452abb894ff9" Type="http://schemas.openxmlformats.org/officeDocument/2006/relationships/slideLayout" Target="../slideLayouts/slideLayout1.xml"/><Relationship Id="Rf1f552d98ea342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75172ed4ff04b0f" Type="http://schemas.openxmlformats.org/officeDocument/2006/relationships/notesSlide" Target="../notesSlides/notesSlide28.xml"/><Relationship Id="R7ace6e8a03374602"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089aa5148cde4c97" Type="http://schemas.openxmlformats.org/officeDocument/2006/relationships/notesSlide" Target="../notesSlides/notesSlide29.xml"/><Relationship Id="Raeb61e228f4148dc"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MVD, KD, SB, JV and Hindi Paribhasha Samhita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inseparability of the pervasive ground and real units. Each unit has form, properties, essential nature and dharma, expressed in mutuality across four orders. The darshan holds coexistence to be perpetual.</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 can form pranic organisation from material constituents. It does not by itself produce jeevan: development in the atom reaches constitutional completeness. Every activity includes effort, motion and 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the human joint form, jeevan’s faculties and harmonies, evaluation, realisation, and the expression of understanding through humane conduct.</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b090c9d22c0488e">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b090c9d22c0488e">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b090c9d22c0488e">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b090c9d22c0488e">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b090c9d22c0488e">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b090c9d22c0488e">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6f640c4b95674b2d"/>
          <a:stretch xmlns:a="http://schemas.openxmlformats.org/drawingml/2006/main"/>
        </p:blipFill>
        <p:spPr>
          <a:xfrm xmlns:a="http://schemas.openxmlformats.org/drawingml/2006/main" flipH="0" flipV="0">
            <a:off x="1698852" y="0"/>
            <a:ext cx="5746296"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and actionless. Also named jyoti (light), it permeates every unit and is transparent in mutuality. Saturated units are active and manifest (prakashman).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Units are manifest in mutual facing. Imaging provides a basis of recognition; relative powers exert effects.</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46, 48, 248–252  ·  MVD pp. 11, 32, 34  ·  </a:t>
            </a:r>
            <a:r>
              <a:rPr sz="950" b="0" i="1" u="none" cap="none">
                <a:solidFill>
                  <a:srgbClr val="5A6377"/>
                </a:solidFill>
                <a:latin typeface="Calibri"/>
                <a:ea typeface="Calibri"/>
                <a:cs typeface="Calibri"/>
              </a:rPr>
              <a:t>PS pp. 114, 137</a:t>
            </a:r>
            <a:r>
              <a:rPr sz="950" b="0" i="1" u="none" cap="none">
                <a:solidFill>
                  <a:srgbClr val="5A6377"/>
                </a:solidFill>
                <a:latin typeface="Calibri"/>
                <a:ea typeface="Calibri"/>
                <a:cs typeface="Calibri"/>
              </a:rPr>
              <a:t>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unit remains soaked, submerged and surrounded in Omnipresence. Dividing a unit leaves every fragment saturated. These three terms describe one inseparable relation and its connected consequences.</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0478028fed94430">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Permeation by satta grounds force-endowment and manifestness (prakashmanata). Each unit is energy-endowed, with definite relative powers.</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77bb050624ca48b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Units remain active in the pervasive ground. Their images in mutual facing provide a basis of recognition. Energy-endowment and activity belong together.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30f6d8c24c747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Units remain in definite relations. Each regulates its activity through its own mediative organisation, according to its constitution and order.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descriptions overlap. Imaging and recognition continue on slide 7.  ·  SB pp. 57, 69, 79, 248  ·  </a:t>
            </a:r>
            <a:r>
              <a:rPr sz="950" b="0" i="1" u="none" cap="none">
                <a:solidFill>
                  <a:srgbClr val="5A6377"/>
                </a:solidFill>
                <a:latin typeface="Calibri"/>
                <a:ea typeface="Calibri"/>
                <a:cs typeface="Calibri"/>
              </a:rPr>
              <a:t>AVD PDF pp. 115–116</a:t>
            </a:r>
            <a:r>
              <a:rPr sz="950" b="0" i="1" u="none" cap="none">
                <a:solidFill>
                  <a:srgbClr val="5A6377"/>
                </a:solidFill>
                <a:latin typeface="Calibri"/>
                <a:ea typeface="Calibri"/>
                <a:cs typeface="Calibri"/>
              </a:rPr>
              <a:t>  ·  PS pp. 114, 121</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§§1.2–1.3, 1.13.1</a:t>
            </a:r>
            <a:r>
              <a:rPr sz="1050" b="1" i="0" u="none" cap="none">
                <a:solidFill>
                  <a:srgbClr val="9A6414"/>
                </a:solidFill>
                <a:latin typeface="Calibri"/>
                <a:ea typeface="Calibri"/>
                <a:cs typeface="Calibri"/>
              </a:rPr>
              <a:t> · MANIFESTNESS AND MUTUAL RECOGNITION</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Units saturated in one pervasive reality stand in mutual facing. Imaging makes a unit manifest to another and provides a basis of recognition. Its relative powers also exert effects. Complementarity belongs to this coexistence and is fulfilled according to constitution and order.</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83aca33a03a146e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Image (pratibimb) is a basis of mutual recognition, including in insentient nature. Heat exchange and particle relations illustrate responsiveness. Human understanding requires the knowing activities of jeevan.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667e578a5fb349f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af91f88232c4d55">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Imaging supports recognition; human evaluation requires understanding.  ·  PS p. 121  ·  SB pp. 49–53, 248–252  ·  MVD p. 32  ·  JV pp. 43, 69</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constituted unit is bimb; its image is pratibimb. This peepal tree has a definite shape, volume and density, with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means relative powers and their effects. The peepal’s nutrition, repair, seed production and degeneration become effective in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mutuality. The peepal’s effects are vitalising or devitalising according to the affected body and conditions.</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Inseparable innateness, fulfilled according to the order. The peepal has existence and growth. Seed-conformance describes its conduct.</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whole unit is manifest (prakashman) with all four aspects through saturation in satta. In the imaging context, prakash names the unit’s being imaged. An image supports recognition; human understanding also requires relations and fulfilment. The tree can die while its material constituents persist.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45, 47, 50–51  ·  SB pp. 249–252, 256–257  ·  PS pp. 119, 121, 135</a:t>
            </a:r>
          </a:p>
        </p:txBody>
      </p:sp>
    </p:spTree>
    <p:extLst>
      <p:ext uri="{BB962C8B-B14F-4D97-AF65-F5344CB8AC3E}">
        <p14:creationId xmlns:p14="http://schemas.microsoft.com/office/powerpoint/2010/main" val="7265482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a:t>
            </a:r>
            <a:r>
              <a:rPr sz="1050" b="1" i="0" u="none" cap="none">
                <a:solidFill>
                  <a:srgbClr val="9A6414"/>
                </a:solidFill>
                <a:latin typeface="Calibri"/>
                <a:ea typeface="Calibri"/>
                <a:cs typeface="Calibri"/>
              </a:rPr>
              <a:t>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Madhyasth Darshan holds that what exists neither arises from non-being nor disappears into it. Configurations form, change and end within perpetual coexistence. Inseparability from the ground is part of this account, not an independent proof of every persistence claim.</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4309ea82831a4909">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652459c6135e4133">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258b4be7ee2948e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a:t>
            </a:r>
            <a:r>
              <a:rPr sz="950" b="0" i="1" u="none" cap="none">
                <a:solidFill>
                  <a:srgbClr val="5A6377"/>
                </a:solidFill>
                <a:latin typeface="Calibri"/>
                <a:ea typeface="Calibri"/>
                <a:cs typeface="Calibri"/>
              </a:rPr>
              <a:t>SB pp. 57, 70, 251; MVD p. 13</a:t>
            </a:r>
            <a:r>
              <a:rPr sz="950" b="0" i="1" u="none" cap="none">
                <a:solidFill>
                  <a:srgbClr val="5A6377"/>
                </a:solidFill>
                <a:latin typeface="Calibri"/>
                <a:ea typeface="Calibri"/>
                <a:cs typeface="Calibri"/>
              </a:rPr>
              <a:t>  ·  Study </a:t>
            </a:r>
            <a:r>
              <a:rPr sz="950" b="0" i="1" u="none" cap="none">
                <a:solidFill>
                  <a:srgbClr val="5A6377"/>
                </a:solidFill>
                <a:latin typeface="Calibri"/>
                <a:ea typeface="Calibri"/>
                <a:cs typeface="Calibri"/>
              </a:rPr>
              <a:t>§§1.2, 1.4</a:t>
            </a:r>
            <a:r>
              <a:rPr sz="950" b="0" i="1" u="none" cap="none">
                <a:solidFill>
                  <a:srgbClr val="5A6377"/>
                </a:solidFill>
                <a:latin typeface="Calibri"/>
                <a:ea typeface="Calibri"/>
                <a:cs typeface="Calibri"/>
              </a:rPr>
              <a:t>; full treatment of kaal in Nature of Time</a:t>
            </a:r>
          </a:p>
        </p:txBody>
      </p:sp>
    </p:spTree>
    <p:extLst>
      <p:ext uri="{BB962C8B-B14F-4D97-AF65-F5344CB8AC3E}">
        <p14:creationId xmlns:p14="http://schemas.microsoft.com/office/powerpoint/2010/main" val="11315883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r>
              <a:rPr sz="1050" b="1" i="0" u="none" cap="none">
                <a:solidFill>
                  <a:srgbClr val="9A6414"/>
                </a:solidFill>
                <a:latin typeface="Calibri"/>
                <a:ea typeface="Calibri"/>
                <a:cs typeface="Calibri"/>
              </a:rPr>
              <a:t>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Surroundedness is expressed in regulation. Omnipresence is the sustaining condition, while units regulate activity through their own mediative organisation. Each order has a characteristic mode of conformance.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(acquired dispositions)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a:t>
            </a:r>
            <a:r>
              <a:rPr sz="1050" b="1" i="0" u="none" cap="none">
                <a:solidFill>
                  <a:srgbClr val="9A6414"/>
                </a:solidFill>
                <a:latin typeface="Calibri"/>
                <a:ea typeface="Calibri"/>
                <a:cs typeface="Calibri"/>
              </a:rPr>
              <a:t>§§1.7, 1.11</a:t>
            </a:r>
            <a:r>
              <a:rPr sz="1050" b="1" i="0" u="none" cap="none">
                <a:solidFill>
                  <a:srgbClr val="9A6414"/>
                </a:solidFill>
                <a:latin typeface="Calibri"/>
                <a:ea typeface="Calibri"/>
                <a:cs typeface="Calibri"/>
              </a:rPr>
              <a:t>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texts describe nature as oriented toward development and awakening within coexistence. Composition forms molecules, cells and bodies. Development in an atom can reach constitutional completeness as jeevan. Across both lines, activity includes effort, motion and result together.</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constitution stabilises as jeevan</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constitutional completeness as sentient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§§1.6–1.7</a:t>
            </a:r>
            <a:r>
              <a:rPr sz="1050" b="1" i="0" u="none" cap="none">
                <a:solidFill>
                  <a:srgbClr val="9A6414"/>
                </a:solidFill>
                <a:latin typeface="Calibri"/>
                <a:ea typeface="Calibri"/>
                <a:cs typeface="Calibri"/>
              </a:rPr>
              <a:t>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a:t>
            </a:r>
            <a:r>
              <a:rPr sz="950" b="0" i="1" u="none" cap="none">
                <a:solidFill>
                  <a:srgbClr val="5A6377"/>
                </a:solidFill>
                <a:latin typeface="Calibri"/>
                <a:ea typeface="Calibri"/>
                <a:cs typeface="Calibri"/>
              </a:rPr>
              <a:t>§§1.6–1.7, 1.12</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§1.7.1 · T1: CONSTITUTIONAL COMPLETENESS</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a:t>
            </a: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a:t>
            </a:r>
            <a:r>
              <a:rPr sz="950" b="0" i="1" u="none" cap="none">
                <a:solidFill>
                  <a:srgbClr val="5A6377"/>
                </a:solidFill>
                <a:latin typeface="Calibri"/>
                <a:ea typeface="Calibri"/>
                <a:cs typeface="Calibri"/>
              </a:rPr>
              <a:t>JV PDF pp. 20, 55</a:t>
            </a:r>
          </a:p>
        </p:txBody>
      </p:sp>
    </p:spTree>
    <p:extLst>
      <p:ext uri="{BB962C8B-B14F-4D97-AF65-F5344CB8AC3E}">
        <p14:creationId xmlns:p14="http://schemas.microsoft.com/office/powerpoint/2010/main" val="2141356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bears all five faculties and ten activities. Animal bodies limit their expression; the human medium supports the full range. Inward reflection (pratyavartan) deepens knowing. Imaging between units (pratibimban) provides a basis of recognition.</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mun, with 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vritti, with 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chitta, with 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buddhi, with 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is cumulative: resolution; resolution with prosperity; both with fearlessness; all three in coexistence. These are principal correspondences, not separate compartments. Bliss is buddhi–atma harmony; realisation at atma is ultimate bliss (paramanand).</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Evidence in living widens from one issue to further issues.</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Inward reflection and outward expression deepen one another in living.  ·  KD §3.12, pp. 112–113 (working-English paraphrase)</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61, 138  ·  MVD pp. 100–101, 328–346  ·  KD §3.12 (projection and inward reflection)</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TEN INHERENT ACTIVITIES, FOUR-AND-A-HALF EFFECTIVE</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Sensitivity and Understanding</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 has five faculties and ten inherent activities. Human body-delusion organises four-and-a-half around sensitivity: taste, selection, visualisation, analysis and restricted deliberation.</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Deliberation relies on pleasant–unpleasant, healthy–unhealthy and profit–loss. Sensory criteria govern evaluation.</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guides sensitivity. Deliberation also considers justice–injustice, dharma–adharma and truth–untruth.</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of six perspectives explain the term “half activity”. This describes restricted deliberation, not a measured percentage of mental capacity.</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Understanding guides work, behaviour and relationships (§1.10).</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 and sensitivity)  ·  JV pp. 73–74, 92–94 (four-and-a-half activities)  ·  MVD p. 67 (six perspectives)</a:t>
            </a:r>
          </a:p>
        </p:txBody>
      </p:sp>
    </p:spTree>
    <p:extLst>
      <p:ext uri="{BB962C8B-B14F-4D97-AF65-F5344CB8AC3E}">
        <p14:creationId xmlns:p14="http://schemas.microsoft.com/office/powerpoint/2010/main" val="4439556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UNDERSTANDING EVIDENCED IN CONDUCT</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activity with aspiration is karma. In delusion, a person is free to act yet depends on the results. Awakened understanding guides both action and the acceptance and evaluation of its results.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Karma is activity with aspiration. Desire, action and result must balance for fulfilment.
KD Ch. 1, pp. 1–2 (paraphrase)  ·  MVD pp. 15, 27  ·  Study §1.10</a:t>
            </a:r>
          </a:p>
        </p:txBody>
      </p:sp>
    </p:spTree>
    <p:extLst>
      <p:ext uri="{BB962C8B-B14F-4D97-AF65-F5344CB8AC3E}">
        <p14:creationId xmlns:p14="http://schemas.microsoft.com/office/powerpoint/2010/main" val="2934603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before realisation</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1.11–1.12</a:t>
            </a:r>
            <a:r>
              <a:rPr sz="1050" b="1" i="0" u="none" cap="none">
                <a:solidFill>
                  <a:srgbClr val="9A6414"/>
                </a:solidFill>
                <a:latin typeface="Calibri"/>
                <a:ea typeface="Calibri"/>
                <a:cs typeface="Calibri"/>
              </a:rPr>
              <a:t>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a:t>
                      </a:r>
                      <a:r>
                        <a:rPr sz="1100" u="none" cap="none">
                          <a:solidFill>
                            <a:srgbClr val="1E2447"/>
                          </a:solidFill>
                          <a:latin typeface="Calibri"/>
                          <a:ea typeface="Calibri"/>
                          <a:cs typeface="Calibri"/>
                        </a:rPr>
                        <a:t>§1.6</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Order and development (</a:t>
                      </a:r>
                      <a:r>
                        <a:rPr sz="1100" u="none" cap="none">
                          <a:solidFill>
                            <a:srgbClr val="1E2447"/>
                          </a:solidFill>
                          <a:latin typeface="Calibri"/>
                          <a:ea typeface="Calibri"/>
                          <a:cs typeface="Calibri"/>
                        </a:rPr>
                        <a:t>§1.12.1</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sequence, conformance, development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 terms distinguish manifestation, conformance, development, and human orientation. Orders and planes answer different questions. T1 establishes sentient standing; T2 and T3 concern completeness of understanding and conduct within jeevan.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§§1.7, 1.11–1.12</a:t>
            </a:r>
            <a:r>
              <a:rPr sz="950" b="0" i="1" u="none" cap="none">
                <a:solidFill>
                  <a:srgbClr val="5A6377"/>
                </a:solidFill>
                <a:latin typeface="Calibri"/>
                <a:ea typeface="Calibri"/>
                <a:cs typeface="Calibri"/>
              </a:rPr>
              <a:t>  ·  Conceptual map, classification key  ·  MVD pp. 5, 8  ·  SB pp. 50–51</a:t>
            </a:r>
          </a:p>
        </p:txBody>
      </p:sp>
    </p:spTree>
    <p:extLst>
      <p:ext uri="{BB962C8B-B14F-4D97-AF65-F5344CB8AC3E}">
        <p14:creationId xmlns:p14="http://schemas.microsoft.com/office/powerpoint/2010/main" val="11318954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§1.13.1</a:t>
            </a:r>
            <a:r>
              <a:rPr sz="1050" b="1" i="0" u="none" cap="none">
                <a:solidFill>
                  <a:srgbClr val="9A6414"/>
                </a:solidFill>
                <a:latin typeface="Calibri"/>
                <a:ea typeface="Calibri"/>
                <a:cs typeface="Calibri"/>
              </a:rPr>
              <a:t>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Complementarity becomes evident in relationships. Material, bio and animal fulfilment follows definite conformance. Human beings must understand relationships, evaluate their values and fulfil them knowingly.</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Contact</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voluntarily undertaken exchange, such as neighbours sharing upkeep of a wall. Justice and humane duties still apply.</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Established values become evident in fulfilled relationships.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§1.13.2 ·</a:t>
            </a:r>
            <a:r>
              <a:rPr sz="1050" b="1" i="0" u="none" cap="none">
                <a:solidFill>
                  <a:srgbClr val="9A6414"/>
                </a:solidFill>
                <a:latin typeface="Calibri"/>
                <a:ea typeface="Calibri"/>
                <a:cs typeface="Calibri"/>
              </a:rPr>
              <a:t>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evaluation includes pleasant–unpleasant, healthy–unhealthy and profit–loss, together with justice–injustice, dharma–adharma and truth–untruth. The final three guide sensory criteria within a fuller understanding.</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fulfilled relationship</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recognition, evaluation, satisfaction</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resolved thought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participation in overall orderliness</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truth in coexistence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understanding existence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is justice, justice is dharma, dharma is truth, and truth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KD p. 13 (working-English paraphrase)</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§§1.13.2–1.13.3</a:t>
            </a:r>
            <a:r>
              <a:rPr sz="1125" b="0" i="1" u="none" cap="none">
                <a:solidFill>
                  <a:srgbClr val="5A6377"/>
                </a:solidFill>
                <a:latin typeface="Calibri"/>
                <a:ea typeface="Calibri"/>
                <a:cs typeface="Calibri"/>
              </a:rPr>
              <a:t>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1.8–1.9, 1.13–1.14</a:t>
            </a:r>
            <a:r>
              <a:rPr sz="1050" b="1" i="0" u="none" cap="none">
                <a:solidFill>
                  <a:srgbClr val="9A6414"/>
                </a:solidFill>
                <a:latin typeface="Calibri"/>
                <a:ea typeface="Calibri"/>
                <a:cs typeface="Calibri"/>
              </a:rPr>
              <a:t>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Widening the context of understanding</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aim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a:t>
            </a:r>
            <a:r>
              <a:rPr sz="1150" b="1" i="0" u="none" cap="none">
                <a:solidFill>
                  <a:srgbClr val="1E2447"/>
                </a:solidFill>
                <a:latin typeface="Calibri"/>
                <a:ea typeface="Calibri"/>
                <a:cs typeface="Calibri"/>
              </a:rPr>
              <a:t>§1.13.2</a:t>
            </a:r>
            <a:r>
              <a:rPr sz="1150" b="1" i="0" u="none" cap="none">
                <a:solidFill>
                  <a:srgbClr val="1E2447"/>
                </a:solidFill>
                <a:latin typeface="Calibri"/>
                <a:ea typeface="Calibri"/>
                <a:cs typeface="Calibri"/>
              </a:rPr>
              <a:t>)</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imaged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All four aspects belong to the manifest unit. These rungs widen the context of human understanding; an image alone does not deliver completed knowledge.</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Atma</a:t>
            </a:r>
            <a:r>
              <a:rPr sz="1150" b="1" i="0" u="none" cap="none">
                <a:solidFill>
                  <a:srgbClr val="9A6414"/>
                </a:solidFill>
                <a:latin typeface="Calibri"/>
                <a:ea typeface="Calibri"/>
                <a:cs typeface="Calibri"/>
              </a:rPr>
              <a:t>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Buddhi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Chitta</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Vritti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Mun</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343"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345"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Ultimate bliss: realisation at atma. Bliss: buddhi–atma harmony.  ·  PS pp. 119, 121  ·  MVD pp. 100–101  ·  JV pp. 61, 138</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a:t>
            </a:r>
            <a:r>
              <a:rPr sz="1050" b="1" i="0" u="none" cap="none">
                <a:solidFill>
                  <a:srgbClr val="9A6414"/>
                </a:solidFill>
                <a:latin typeface="Calibri"/>
                <a:ea typeface="Calibri"/>
                <a:cs typeface="Calibri"/>
              </a:rPr>
              <a:t>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and ultimate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at atma is named ultimate bliss. Bliss names the harmony of buddhi and atma. Understanding becomes evident through authentic work, behaviour and participation.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81, 116  ·  MVD pp. 100–101, 126, 328  ·  KD §§3.17–3.18  ·  Study </a:t>
            </a:r>
            <a:r>
              <a:rPr sz="950" b="0" i="1" u="none" cap="none">
                <a:solidFill>
                  <a:srgbClr val="5A6377"/>
                </a:solidFill>
                <a:latin typeface="Calibri"/>
                <a:ea typeface="Calibri"/>
                <a:cs typeface="Calibri"/>
              </a:rPr>
              <a:t>§§1.9, 1.14</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a:t>
            </a:r>
            <a:r>
              <a:rPr sz="1050" b="1" i="0" u="none" cap="none">
                <a:solidFill>
                  <a:srgbClr val="9A6414"/>
                </a:solidFill>
                <a:latin typeface="Calibri"/>
                <a:ea typeface="Calibri"/>
                <a:cs typeface="Calibri"/>
              </a:rPr>
              <a:t> · PRESENTATION, COMMUNICATION, EXPRESSION AND ART</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in Expression</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Jeevan’s sentient capacities become manifest through the body. Humans express and communicate them during awakening progression; in full awakening, these activities carry realised understanding into conduct.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beef1ba50dab4717">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Presentation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Prakashan makes actuality evident through an accomplished and meaningful form. What is understood becomes available for another to attend to.</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c6e0b5be9014e0d">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Communication</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Sampreshana indicates completeness: constitutional, activity and conduct completeness. Communication serves understanding and enabling another to understand.</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775de770ff140c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Expression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Abhivyakti is mental, verbal and bodily activity for all-round resolution (abhyudaya). Understanding is evidenced in speech, work and humane behaviour.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Kala: skilful expression. Kala-mulya: beauty and convenience supporting an object’s usefulness.
PS pp. 22, 56, 119, 206  ·  </a:t>
            </a:r>
            <a:r>
              <a:rPr sz="950" b="0" i="1" u="none" cap="none">
                <a:solidFill>
                  <a:srgbClr val="5A6377"/>
                </a:solidFill>
                <a:latin typeface="Calibri"/>
                <a:ea typeface="Calibri"/>
                <a:cs typeface="Calibri"/>
              </a:rPr>
              <a:t>SB pp. 52, 63, 66, 179  ·  MVD pp. 109–110, 328</a:t>
            </a:r>
          </a:p>
        </p:txBody>
      </p:sp>
    </p:spTree>
    <p:extLst>
      <p:ext uri="{BB962C8B-B14F-4D97-AF65-F5344CB8AC3E}">
        <p14:creationId xmlns:p14="http://schemas.microsoft.com/office/powerpoint/2010/main" val="1131588340"/>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CONTINUITY THROUGH HUMANE PARTICIPATION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Conduct completeness is realised understanding expressed continuously by the individual. Humane participation and education transmit it through an awakened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social systems:</a:t>
            </a:r>
            <a:r>
              <a:rPr sz="1150" b="0" i="0" u="none" cap="none">
                <a:solidFill>
                  <a:srgbClr val="8E9BC4"/>
                </a:solidFill>
                <a:latin typeface="Calibri"/>
                <a:ea typeface="Calibri"/>
                <a:cs typeface="Calibri"/>
              </a:rPr>
              <a:t> education–sanskar · justice–preservation · health–restraint · production–work · exchange–storage.  ·  Families and societies are relational achievements, not a further compositional tier (</a:t>
            </a:r>
            <a:r>
              <a:rPr sz="1150" b="0" i="0" u="none" cap="none">
                <a:solidFill>
                  <a:srgbClr val="8E9BC4"/>
                </a:solidFill>
                <a:latin typeface="Calibri"/>
                <a:ea typeface="Calibri"/>
                <a:cs typeface="Calibri"/>
              </a:rPr>
              <a:t>§1.13.3</a:t>
            </a:r>
            <a:r>
              <a:rPr sz="1150" b="0" i="0" u="none" cap="none">
                <a:solidFill>
                  <a:srgbClr val="8E9BC4"/>
                </a:solidFill>
                <a:latin typeface="Calibri"/>
                <a:ea typeface="Calibri"/>
                <a:cs typeface="Calibri"/>
              </a:rPr>
              <a:t>).</a:t>
            </a:r>
          </a:p>
        </p:txBody>
      </p:sp>
    </p:spTree>
    <p:extLst>
      <p:ext uri="{BB962C8B-B14F-4D97-AF65-F5344CB8AC3E}">
        <p14:creationId xmlns:p14="http://schemas.microsoft.com/office/powerpoint/2010/main" val="2228546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§1.16 · Method and evidence</a:t>
            </a:r>
          </a:p>
        </p:txBody>
      </p:sp>
    </p:spTree>
    <p:extLst>
      <p:ext uri="{BB962C8B-B14F-4D97-AF65-F5344CB8AC3E}">
        <p14:creationId xmlns:p14="http://schemas.microsoft.com/office/powerpoint/2010/main" val="1942334141"/>
      </p:ext>
    </p:extLst>
  </p:cSld>
</p:sld>
</file>

<file path=ppt/slides/slide29.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2026-09-20T08:49:44.8760000Z</dcterms:created>
  <dcterms:modified xsi:type="dcterms:W3CDTF">2026-09-20T08:49:44.8760000Z</dcterms:modified>
</coreProperties>
</file>