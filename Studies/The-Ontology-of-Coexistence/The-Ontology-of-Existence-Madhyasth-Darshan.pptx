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347be68aa3e4311" /><Relationship Type="http://schemas.openxmlformats.org/officeDocument/2006/relationships/extended-properties" Target="/docProps/app.xml" Id="R6563c05b9cfe4b0c" /><Relationship Type="http://schemas.openxmlformats.org/officeDocument/2006/relationships/officeDocument" Target="/ppt/presentation.xml" Id="R7ca60217f4e042da" /></Relationships>
</file>

<file path=ppt/presentation.xml><?xml version="1.0" encoding="utf-8"?>
<p:presentation xmlns:p="http://schemas.openxmlformats.org/presentationml/2006/main">
  <p:sldMasterIdLst>
    <p:sldMasterId xmlns:r="http://schemas.openxmlformats.org/officeDocument/2006/relationships" id="2147483648" r:id="R2e4f82c25fac4902"/>
  </p:sldMasterIdLst>
  <p:notesMasterIdLst>
    <p:notesMasterId xmlns:r="http://schemas.openxmlformats.org/officeDocument/2006/relationships" r:id="R788d91d943d54c43"/>
  </p:notesMasterIdLst>
  <p:sldIdLst>
    <p:sldId xmlns:r="http://schemas.openxmlformats.org/officeDocument/2006/relationships" id="256" r:id="R2d25d1b7a4d74bb6"/>
    <p:sldId xmlns:r="http://schemas.openxmlformats.org/officeDocument/2006/relationships" id="257" r:id="R94f21870a36c43c1"/>
    <p:sldId xmlns:r="http://schemas.openxmlformats.org/officeDocument/2006/relationships" id="258" r:id="R40a174403f19425d"/>
    <p:sldId xmlns:r="http://schemas.openxmlformats.org/officeDocument/2006/relationships" id="259" r:id="Rae061024d76342f5"/>
    <p:sldId xmlns:r="http://schemas.openxmlformats.org/officeDocument/2006/relationships" id="260" r:id="R7e5e7dd09d034233"/>
    <p:sldId xmlns:r="http://schemas.openxmlformats.org/officeDocument/2006/relationships" id="261" r:id="R5505fca6b53b4c6a"/>
    <p:sldId xmlns:r="http://schemas.openxmlformats.org/officeDocument/2006/relationships" id="262" r:id="R035796ecf8254620"/>
    <p:sldId xmlns:r="http://schemas.openxmlformats.org/officeDocument/2006/relationships" id="263" r:id="Rdb832b2c367e479c"/>
    <p:sldId xmlns:r="http://schemas.openxmlformats.org/officeDocument/2006/relationships" id="264" r:id="Rd75de82672214d49"/>
    <p:sldId xmlns:r="http://schemas.openxmlformats.org/officeDocument/2006/relationships" id="265" r:id="R03a42b395c6144af"/>
    <p:sldId xmlns:r="http://schemas.openxmlformats.org/officeDocument/2006/relationships" id="266" r:id="R9b8d1407da0546c2"/>
    <p:sldId xmlns:r="http://schemas.openxmlformats.org/officeDocument/2006/relationships" id="267" r:id="R601c976477774714"/>
    <p:sldId xmlns:r="http://schemas.openxmlformats.org/officeDocument/2006/relationships" id="268" r:id="R4298fecfb8f74a4c"/>
    <p:sldId xmlns:r="http://schemas.openxmlformats.org/officeDocument/2006/relationships" id="269" r:id="R4b10987da1c94598"/>
    <p:sldId xmlns:r="http://schemas.openxmlformats.org/officeDocument/2006/relationships" id="270" r:id="R77974004db9244a7"/>
    <p:sldId xmlns:r="http://schemas.openxmlformats.org/officeDocument/2006/relationships" id="271" r:id="R12c90905a2db465c"/>
    <p:sldId xmlns:r="http://schemas.openxmlformats.org/officeDocument/2006/relationships" id="272" r:id="R7fd3129de93c4f6e"/>
    <p:sldId xmlns:r="http://schemas.openxmlformats.org/officeDocument/2006/relationships" id="273" r:id="R2cfbe9d0c87c4812"/>
    <p:sldId xmlns:r="http://schemas.openxmlformats.org/officeDocument/2006/relationships" id="274" r:id="R4ef756abc53d471a"/>
    <p:sldId xmlns:r="http://schemas.openxmlformats.org/officeDocument/2006/relationships" id="275" r:id="Red4dccfc14f542d3"/>
    <p:sldId xmlns:r="http://schemas.openxmlformats.org/officeDocument/2006/relationships" id="276" r:id="R396f0dd1115448cb"/>
    <p:sldId xmlns:r="http://schemas.openxmlformats.org/officeDocument/2006/relationships" id="277" r:id="R1a8550259e634866"/>
    <p:sldId xmlns:r="http://schemas.openxmlformats.org/officeDocument/2006/relationships" id="278" r:id="Rf29199777d54422b"/>
    <p:sldId xmlns:r="http://schemas.openxmlformats.org/officeDocument/2006/relationships" id="279" r:id="R1ee5f107e9e849a4"/>
    <p:sldId xmlns:r="http://schemas.openxmlformats.org/officeDocument/2006/relationships" id="280" r:id="R8cecbc25ef9841f5"/>
    <p:sldId xmlns:r="http://schemas.openxmlformats.org/officeDocument/2006/relationships" id="281" r:id="R017b547987204fbb"/>
    <p:sldId xmlns:r="http://schemas.openxmlformats.org/officeDocument/2006/relationships" id="282" r:id="R1b596326f7ba4232"/>
    <p:sldId xmlns:r="http://schemas.openxmlformats.org/officeDocument/2006/relationships" id="283" r:id="R3c18fe2a55c6422d"/>
    <p:sldId xmlns:r="http://schemas.openxmlformats.org/officeDocument/2006/relationships" id="284" r:id="Re3bbc87702da4525"/>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0c09eba040ed4fde" /><Relationship Type="http://schemas.openxmlformats.org/officeDocument/2006/relationships/slideMaster" Target="/ppt/slideMasters/slideMaster1.xml" Id="R2e4f82c25fac4902" /><Relationship Type="http://schemas.openxmlformats.org/officeDocument/2006/relationships/notesMaster" Target="/ppt/notesMasters/notesMaster1.xml" Id="R788d91d943d54c43" /><Relationship Type="http://schemas.openxmlformats.org/officeDocument/2006/relationships/presProps" Target="/ppt/presProps.xml" Id="R877a89a71da24a4b" /><Relationship Type="http://schemas.openxmlformats.org/officeDocument/2006/relationships/viewProps" Target="/ppt/viewProps.xml" Id="R8172a51c2d4042a4" /><Relationship Type="http://schemas.openxmlformats.org/officeDocument/2006/relationships/tableStyles" Target="/ppt/tableStyles.xml" Id="Raf5a87c39f314649" /><Relationship Type="http://schemas.openxmlformats.org/officeDocument/2006/relationships/slide" Target="/ppt/slides/slide1.xml" Id="R2d25d1b7a4d74bb6" /><Relationship Type="http://schemas.openxmlformats.org/officeDocument/2006/relationships/slide" Target="/ppt/slides/slide2.xml" Id="R94f21870a36c43c1" /><Relationship Type="http://schemas.openxmlformats.org/officeDocument/2006/relationships/slide" Target="/ppt/slides/slide3.xml" Id="R40a174403f19425d" /><Relationship Type="http://schemas.openxmlformats.org/officeDocument/2006/relationships/slide" Target="/ppt/slides/slide4.xml" Id="Rae061024d76342f5" /><Relationship Type="http://schemas.openxmlformats.org/officeDocument/2006/relationships/slide" Target="/ppt/slides/slide5.xml" Id="R7e5e7dd09d034233" /><Relationship Type="http://schemas.openxmlformats.org/officeDocument/2006/relationships/slide" Target="/ppt/slides/slide6.xml" Id="R5505fca6b53b4c6a" /><Relationship Type="http://schemas.openxmlformats.org/officeDocument/2006/relationships/slide" Target="/ppt/slides/slide7.xml" Id="R035796ecf8254620" /><Relationship Type="http://schemas.openxmlformats.org/officeDocument/2006/relationships/slide" Target="/ppt/slides/slide8.xml" Id="Rdb832b2c367e479c" /><Relationship Type="http://schemas.openxmlformats.org/officeDocument/2006/relationships/slide" Target="/ppt/slides/slide9.xml" Id="Rd75de82672214d49" /><Relationship Type="http://schemas.openxmlformats.org/officeDocument/2006/relationships/slide" Target="/ppt/slides/slide10.xml" Id="R03a42b395c6144af" /><Relationship Type="http://schemas.openxmlformats.org/officeDocument/2006/relationships/slide" Target="/ppt/slides/slide11.xml" Id="R9b8d1407da0546c2" /><Relationship Type="http://schemas.openxmlformats.org/officeDocument/2006/relationships/slide" Target="/ppt/slides/slide12.xml" Id="R601c976477774714" /><Relationship Type="http://schemas.openxmlformats.org/officeDocument/2006/relationships/slide" Target="/ppt/slides/slide13.xml" Id="R4298fecfb8f74a4c" /><Relationship Type="http://schemas.openxmlformats.org/officeDocument/2006/relationships/slide" Target="/ppt/slides/slide14.xml" Id="R4b10987da1c94598" /><Relationship Type="http://schemas.openxmlformats.org/officeDocument/2006/relationships/slide" Target="/ppt/slides/slide15.xml" Id="R77974004db9244a7" /><Relationship Type="http://schemas.openxmlformats.org/officeDocument/2006/relationships/slide" Target="/ppt/slides/slide16.xml" Id="R12c90905a2db465c" /><Relationship Type="http://schemas.openxmlformats.org/officeDocument/2006/relationships/slide" Target="/ppt/slides/slide17.xml" Id="R7fd3129de93c4f6e" /><Relationship Type="http://schemas.openxmlformats.org/officeDocument/2006/relationships/slide" Target="/ppt/slides/slide18.xml" Id="R2cfbe9d0c87c4812" /><Relationship Type="http://schemas.openxmlformats.org/officeDocument/2006/relationships/slide" Target="/ppt/slides/slide19.xml" Id="R4ef756abc53d471a" /><Relationship Type="http://schemas.openxmlformats.org/officeDocument/2006/relationships/slide" Target="/ppt/slides/slide20.xml" Id="Red4dccfc14f542d3" /><Relationship Type="http://schemas.openxmlformats.org/officeDocument/2006/relationships/slide" Target="/ppt/slides/slide21.xml" Id="R396f0dd1115448cb" /><Relationship Type="http://schemas.openxmlformats.org/officeDocument/2006/relationships/slide" Target="/ppt/slides/slide22.xml" Id="R1a8550259e634866" /><Relationship Type="http://schemas.openxmlformats.org/officeDocument/2006/relationships/slide" Target="/ppt/slides/slide23.xml" Id="Rf29199777d54422b" /><Relationship Type="http://schemas.openxmlformats.org/officeDocument/2006/relationships/slide" Target="/ppt/slides/slide24.xml" Id="R1ee5f107e9e849a4" /><Relationship Type="http://schemas.openxmlformats.org/officeDocument/2006/relationships/slide" Target="/ppt/slides/slide25.xml" Id="R8cecbc25ef9841f5" /><Relationship Type="http://schemas.openxmlformats.org/officeDocument/2006/relationships/slide" Target="/ppt/slides/slide26.xml" Id="R017b547987204fbb" /><Relationship Type="http://schemas.openxmlformats.org/officeDocument/2006/relationships/slide" Target="/ppt/slides/slide27.xml" Id="R1b596326f7ba4232" /><Relationship Type="http://schemas.openxmlformats.org/officeDocument/2006/relationships/slide" Target="/ppt/slides/slide28.xml" Id="R3c18fe2a55c6422d" /><Relationship Type="http://schemas.openxmlformats.org/officeDocument/2006/relationships/slide" Target="/ppt/slides/slide29.xml" Id="Re3bbc87702da452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f3d0de4775840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39a4a93e4b4d4e" /><Relationship Type="http://schemas.openxmlformats.org/officeDocument/2006/relationships/notesMaster" Target="/ppt/notesMasters/notesMaster1.xml" Id="R0a1b3fb4ae4b4e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7c18cf4b405449b" /><Relationship Type="http://schemas.openxmlformats.org/officeDocument/2006/relationships/notesMaster" Target="/ppt/notesMasters/notesMaster1.xml" Id="R034b51a2e50a40d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2d0bc1ab81d4839" /><Relationship Type="http://schemas.openxmlformats.org/officeDocument/2006/relationships/notesMaster" Target="/ppt/notesMasters/notesMaster1.xml" Id="R65c4a1bd194044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b2b02b7828b4b73" /><Relationship Type="http://schemas.openxmlformats.org/officeDocument/2006/relationships/notesMaster" Target="/ppt/notesMasters/notesMaster1.xml" Id="Rfb0470ec093e46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49b261d230343a4" /><Relationship Type="http://schemas.openxmlformats.org/officeDocument/2006/relationships/notesMaster" Target="/ppt/notesMasters/notesMaster1.xml" Id="Re5e1830a505b4451"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33e131bdcc4b39" /><Relationship Type="http://schemas.openxmlformats.org/officeDocument/2006/relationships/notesMaster" Target="/ppt/notesMasters/notesMaster1.xml" Id="Rd4f712f76e754703" /></Relationships>
</file>

<file path=ppt/notesSlides/_rels/notesSlide7.xml.rels>&#65279;<?xml version="1.0" encoding="utf-8"?><Relationships xmlns="http://schemas.openxmlformats.org/package/2006/relationships"><Relationship Type="http://schemas.openxmlformats.org/officeDocument/2006/relationships/slide" Target="/ppt/slides/slide7.xml" Id="R9760316bd5864767" /><Relationship Type="http://schemas.openxmlformats.org/officeDocument/2006/relationships/notesMaster" Target="/ppt/notesMasters/notesMaster1.xml" Id="Rcd0311c3e2b14004"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236c2ccd0048ae" /><Relationship Type="http://schemas.openxmlformats.org/officeDocument/2006/relationships/notesMaster" Target="/ppt/notesMasters/notesMaster1.xml" Id="Rc73050d1a8324d46"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f8ea9002644411" /><Relationship Type="http://schemas.openxmlformats.org/officeDocument/2006/relationships/notesMaster" Target="/ppt/notesMasters/notesMaster1.xml" Id="R46983ceed5a9409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32577e8d4664ace" /><Relationship Type="http://schemas.openxmlformats.org/officeDocument/2006/relationships/notesMaster" Target="/ppt/notesMasters/notesMaster1.xml" Id="R06887f3867a0409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32ee2457a81449d" /><Relationship Type="http://schemas.openxmlformats.org/officeDocument/2006/relationships/notesMaster" Target="/ppt/notesMasters/notesMaster1.xml" Id="R5473a5e3dc574b2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e06ddffe6574d5c" /><Relationship Type="http://schemas.openxmlformats.org/officeDocument/2006/relationships/notesMaster" Target="/ppt/notesMasters/notesMaster1.xml" Id="R4a29529e12c944a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38f0b9c8fe1440c" /><Relationship Type="http://schemas.openxmlformats.org/officeDocument/2006/relationships/notesMaster" Target="/ppt/notesMasters/notesMaster1.xml" Id="R0a19042e846e445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d396911be3748c6" /><Relationship Type="http://schemas.openxmlformats.org/officeDocument/2006/relationships/notesMaster" Target="/ppt/notesMasters/notesMaster1.xml" Id="Rf666024d24384f3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3f454a18f0848a8" /><Relationship Type="http://schemas.openxmlformats.org/officeDocument/2006/relationships/notesMaster" Target="/ppt/notesMasters/notesMaster1.xml" Id="Raa6acd7616804b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587f28b7d604e03" /><Relationship Type="http://schemas.openxmlformats.org/officeDocument/2006/relationships/notesMaster" Target="/ppt/notesMasters/notesMaster1.xml" Id="R0b8e2258ff17463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1aa87030d474035" /><Relationship Type="http://schemas.openxmlformats.org/officeDocument/2006/relationships/notesMaster" Target="/ppt/notesMasters/notesMaster1.xml" Id="R4dd37be39b1244c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c95523504e24694" /><Relationship Type="http://schemas.openxmlformats.org/officeDocument/2006/relationships/notesMaster" Target="/ppt/notesMasters/notesMaster1.xml" Id="R8ed9068cb32a4ac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f1453f4a08247f4" /><Relationship Type="http://schemas.openxmlformats.org/officeDocument/2006/relationships/notesMaster" Target="/ppt/notesMasters/notesMaster1.xml" Id="R902f387d7c6544b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aff3397900b47ae" /><Relationship Type="http://schemas.openxmlformats.org/officeDocument/2006/relationships/notesMaster" Target="/ppt/notesMasters/notesMaster1.xml" Id="Rea2087b5d3fb41b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b003af07222451c" /><Relationship Type="http://schemas.openxmlformats.org/officeDocument/2006/relationships/notesMaster" Target="/ppt/notesMasters/notesMaster1.xml" Id="R24a336ad64c7428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9ad9a1c25ae4774" /><Relationship Type="http://schemas.openxmlformats.org/officeDocument/2006/relationships/notesMaster" Target="/ppt/notesMasters/notesMaster1.xml" Id="Ra5519356cc734eb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2b56ef822c4524" /><Relationship Type="http://schemas.openxmlformats.org/officeDocument/2006/relationships/notesMaster" Target="/ppt/notesMasters/notesMaster1.xml" Id="R48e31e6cb9b84af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a7aaddd18db443c" /><Relationship Type="http://schemas.openxmlformats.org/officeDocument/2006/relationships/notesMaster" Target="/ppt/notesMasters/notesMaster1.xml" Id="R4362c5e82686402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fb28b30858e4607" /><Relationship Type="http://schemas.openxmlformats.org/officeDocument/2006/relationships/notesMaster" Target="/ppt/notesMasters/notesMaster1.xml" Id="R8d34a82e106b4d4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e6c3dab1ba94d32" /><Relationship Type="http://schemas.openxmlformats.org/officeDocument/2006/relationships/notesMaster" Target="/ppt/notesMasters/notesMaster1.xml" Id="R2e0e0dccce7046a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eea6b71876a48d4" /><Relationship Type="http://schemas.openxmlformats.org/officeDocument/2006/relationships/notesMaster" Target="/ppt/notesMasters/notesMaster1.xml" Id="R637ffdf0d42e490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f9cf892643743a3" /><Relationship Type="http://schemas.openxmlformats.org/officeDocument/2006/relationships/notesMaster" Target="/ppt/notesMasters/notesMaster1.xml" Id="R71584ec0d439420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0a17974e8904e03" /><Relationship Type="http://schemas.openxmlformats.org/officeDocument/2006/relationships/notesMaster" Target="/ppt/notesMasters/notesMaster1.xml" Id="Rb2ad46db8e59499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and thank you for joining.</a:t>
            </a:r>
          </a:p>
          <a:p xmlns:a="http://schemas.openxmlformats.org/drawingml/2006/main">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xmlns:a="http://schemas.openxmlformats.org/drawingml/2006/main">
            <a:r>
              <a:t>Madhyasth Darshan — also called Co-existentialism — was propounded by Shri A. Nagraj. The name points to a thesis we will unpack later: order in nature is mediative and inherent, not imposed by an external governor.</a:t>
            </a:r>
          </a:p>
          <a:p xmlns:a="http://schemas.openxmlformats.org/drawingml/2006/main">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xmlns:a="http://schemas.openxmlformats.org/drawingml/2006/main">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details, here is the map of the argument. One claim — existence is coexistence — moves through three parts.</a:t>
            </a:r>
          </a:p>
          <a:p xmlns:a="http://schemas.openxmlformats.org/drawingml/2006/main">
            <a:r>
              <a:t>First: what is real, and how it is ordered. There is an all-pervasive ground and countable units, and two bonds — each unit to the ground, and each unit to the others. The second of those is complementarity: each unit stands in definite relations to the rest. Every unit has form, capacities, a way of participating, and an inseparable innateness, expressed across four orders of nature. The darshan connects their inseparability from the ground with its claim that existence neither begins nor ends.</a:t>
            </a:r>
          </a:p>
          <a:p xmlns:a="http://schemas.openxmlformats.org/drawingml/2006/main">
            <a:r>
              <a:t>Second: how development proceeds along two lines. Composition forms molecules, cells and bodies; material constituents can enter pranic organisation and return to the material order through disintegration. This does not by itself produce a sentient unit. Development in an atom reaches constitutional completeness as jeevan. Across both lines, activity includes effort, motion and result together.</a:t>
            </a:r>
          </a:p>
          <a:p xmlns:a="http://schemas.openxmlformats.org/drawingml/2006/main">
            <a:r>
              <a:t>Third: how sentient living becomes awakened conduct. We examine the human joint form, jeevan's faculties and harmonies, evaluation, realisation, and the expression of understanding through humane conduct.</a:t>
            </a:r>
          </a:p>
          <a:p xmlns:a="http://schemas.openxmlformats.org/drawingml/2006/main">
            <a:r>
              <a:t>Please keep one distinction early: the body line and the sentient-unit line meet in animal and human living, but they are not the same process. That blocks the most common confusion — treating the body as the producer of the knower.</a:t>
            </a:r>
          </a:p>
          <a:p xmlns:a="http://schemas.openxmlformats.org/drawingml/2006/main">
            <a:r>
              <a:t>Each movement is marked in the small line at the top of its opening slide, so you can always tell where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Any serious account of reality has to face a small set of questions. Let us name them before we give this tradition’s answers.</a:t>
            </a:r>
          </a:p>
          <a:p xmlns:a="http://schemas.openxmlformats.org/drawingml/2006/main">
            <a:r>
              <a:t>What is existence? Is there one fundamental reality, or many — and how are they related?</a:t>
            </a:r>
          </a:p>
          <a:p xmlns:a="http://schemas.openxmlformats.org/drawingml/2006/main">
            <a:r>
              <a:t>What exists? What are the basic constituents, and what is each of them?</a:t>
            </a:r>
          </a:p>
          <a:p xmlns:a="http://schemas.openxmlformats.org/drawingml/2006/main">
            <a:r>
              <a:t>Does what exists begin? Did reality originate at some time — or do only configurations begin and end?</a:t>
            </a:r>
          </a:p>
          <a:p xmlns:a="http://schemas.openxmlformats.org/drawingml/2006/main">
            <a:r>
              <a:t>Does the self begin or end with the body?</a:t>
            </a:r>
          </a:p>
          <a:p xmlns:a="http://schemas.openxmlformats.org/drawingml/2006/main">
            <a:r>
              <a:t>Is the plural world finally real, or only an appearance?</a:t>
            </a:r>
          </a:p>
          <a:p xmlns:a="http://schemas.openxmlformats.org/drawingml/2006/main">
            <a:r>
              <a:t>And sixth: how can what exists be known — what must be understood, and at what scope?</a:t>
            </a:r>
          </a:p>
          <a:p xmlns:a="http://schemas.openxmlformats.org/drawingml/2006/main">
            <a:r>
              <a:t>Different traditions answer these differently. Madhyasth Darshan does not answer them with six separate doctrines. One picture — coexistence — is meant to answer all six at once.</a:t>
            </a:r>
          </a:p>
          <a:p xmlns:a="http://schemas.openxmlformats.org/drawingml/2006/main">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map is the organising picture for what follows. You do not need to memorise every node. Use it as a place to return when later slides feel dense.</a:t>
            </a:r>
          </a:p>
          <a:p xmlns:a="http://schemas.openxmlformats.org/drawingml/2006/main">
            <a:r>
              <a:t>At the top: coexistence — the ground and countless units, inseparable without losing their distinction. Then, on the unit side: four aspects of every unit; relationships; four orders of nature; and two developmental lines.</a:t>
            </a:r>
          </a:p>
          <a:p xmlns:a="http://schemas.openxmlformats.org/drawingml/2006/main">
            <a:r>
              <a:t>Notice the fork. Bodies belong to compositional building. The sentient unit is the result of a different line — development in an atom. The two meet in animal and human living.</a:t>
            </a:r>
          </a:p>
          <a:p xmlns:a="http://schemas.openxmlformats.org/drawingml/2006/main">
            <a:r>
              <a:t>Later we will name three milestones on the sentient path: the arrival of sentience, then settlement of inner seeking, then authentic conduct. Those are not further material stages.</a:t>
            </a:r>
          </a:p>
          <a:p xmlns:a="http://schemas.openxmlformats.org/drawingml/2006/main">
            <a:r>
              <a:t>Most of the deck is a zoom into one region of this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enter the foundations — what this account says exists.</a:t>
            </a:r>
          </a:p>
          <a:p xmlns:a="http://schemas.openxmlformats.org/drawingml/2006/main">
            <a:r>
              <a:t>Existence has two inseparable aspects.</a:t>
            </a:r>
          </a:p>
          <a:p xmlns:a="http://schemas.openxmlformats.org/drawingml/2006/main">
            <a:r>
              <a:t>First, the ground — Omnipresence. Formless, all-pervasive, transparent, permeating, non-transforming, immeasurable. Actionless energy: it acts not at all, yet every unit is energised and regulated in it. There is no place where it is absent.</a:t>
            </a:r>
          </a:p>
          <a:p xmlns:a="http://schemas.openxmlformats.org/drawingml/2006/main">
            <a:r>
              <a:t>Two words make this relation clearer. *Permeating* concerns the unit: the pervasive reality passes through every unit, which remains saturated in it. *Transparent* concerns mutuality: units become manifest to one another through imaging, which provides a basis of recognition. Transparency, permeability, and pervasiveness together evidence one indivisible reality.</a:t>
            </a:r>
          </a:p>
          <a:p xmlns:a="http://schemas.openxmlformats.org/drawingml/2006/main">
            <a:r>
              <a:t>Second, units of nature. Formful, active, countable. Each is bounded and saturated in the ground. Each has form, capacities, a way of participating, and an inseparable innateness — we will walk those four shortly.</a:t>
            </a:r>
          </a:p>
          <a:p xmlns:a="http://schemas.openxmlformats.org/drawingml/2006/main">
            <a:r>
              <a:t>Do not collapse levels. At the root, nature is analysed as atomic units — a centre with orbiting parts. Compounds and bodies are composite units. Body and sentient unit together are a joint form. Families and societies are relational assemblies.</a:t>
            </a:r>
          </a:p>
          <a:p xmlns:a="http://schemas.openxmlformats.org/drawingml/2006/main">
            <a:r>
              <a:t>These two poles were never separate. Separation of a unit from the saturated whole never happens. The ground does not change. Nature saturated in it is dynamic. Therefore all change is unit-activity.</a:t>
            </a:r>
          </a:p>
          <a:p xmlns:a="http://schemas.openxmlformats.org/drawingml/2006/main">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Saturation names the inseparability of units and Omnipresence. Every formful unit is soaked, submerged, and surrounded in the same pervasive reality.</a:t>
            </a:r>
          </a:p>
          <a:p xmlns:a="http://schemas.openxmlformats.org/drawingml/2006/main">
            <a:r>
              <a:t>Because that reality is permeating, dividing a unit leaves every fragment saturated in it. There is no fragment outside the ground. This is why the texts connect saturation with non-annihilation, and why saturation names an ever-present condition.</a:t>
            </a:r>
          </a:p>
          <a:p xmlns:a="http://schemas.openxmlformats.org/drawingml/2006/main">
            <a:r>
              <a:t>The three descriptions have overlapping connections. Soakedness is evidenced as energy-fullness and forcefulness. The unit bears energy and definite relative power. The texts explicitly locate the root of its manifestness, or prakashmanata, in force-endowment while saturated in Omnipresence.</a:t>
            </a:r>
          </a:p>
          <a:p xmlns:a="http://schemas.openxmlformats.org/drawingml/2006/main">
            <a:r>
              <a:t>Submersion is expressed in activeness and recognition in mutuality. Units are present in the same pervasive reality and are imaged to one another. The formula linking unit-ness and energy-fullness with activeness belongs to this connected account.</a:t>
            </a:r>
          </a:p>
          <a:p xmlns:a="http://schemas.openxmlformats.org/drawingml/2006/main">
            <a:r>
              <a:t>Surroundedness is evidenced as regulation. Units remain in definite relations and regulate their activities through their own mediative organisation. Slide 22 develops this.</a:t>
            </a:r>
          </a:p>
          <a:p xmlns:a="http://schemas.openxmlformats.org/drawingml/2006/main">
            <a:r>
              <a:t>These descriptions belong together. The source passages connect them in more than one way, so each card should be read as part of one saturation. Slide 8 develops imaging and recognition. This is the darshan's ontological account; a quantitative physical mechanism would require further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consequence of the last slide deserves its own moment, because it answers the second of our opening questions.</a:t>
            </a:r>
          </a:p>
          <a:p xmlns:a="http://schemas.openxmlformats.org/drawingml/2006/main">
            <a:r>
              <a:t>Division leaves every fragment saturated in the ground. Madhyasth Darshan connects this inseparability with its claim that what exists is not annihilated and does not arise from non-being. Existence is perpetual; particular arrangements of units begin and end. The doctrine is explicit, although inseparability alone does not independently prove every claim of persistence.</a:t>
            </a:r>
          </a:p>
          <a:p xmlns:a="http://schemas.openxmlformats.org/drawingml/2006/main">
            <a:r>
              <a:t>Notice carefully what that does and does not claim. A compound decomposes. A body dies. Those organisations genuinely end. What continues is their constituents, in other relations. Perpetuity belongs to coexistence, not to any particular configuration.</a:t>
            </a:r>
          </a:p>
          <a:p xmlns:a="http://schemas.openxmlformats.org/drawingml/2006/main">
            <a:r>
              <a:t>Second point, and this one matters for how you hear the rest of the session. The texts call Omnipresence the supreme cause, and that phrase invites a misreading. It is cause only in the sustaining sense — no activity exists apart from nature saturated in it. It starts no particular change. Composition, decomposition, and development occur as unit-activity in mutuality. Karma and humane conduct belong to the human joint form. So there is no creator in this account, and no ruler issuing instructions.</a:t>
            </a:r>
          </a:p>
          <a:p xmlns:a="http://schemas.openxmlformats.org/drawingml/2006/main">
            <a:r>
              <a:t>Third, time. Time here is not a container existing alongside the ground and the units. Time is the duration of activity, reckoned from recurrent activities — a rotation, a year. The ground does not transform, so it is not temporal in the way unit-activity is 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the relation I have described runs between each unit and the ground. There is a second relation, and without it nothing else in this account works — not value, not relationship, not justice, and not the drive we are about to follow.</a:t>
            </a:r>
          </a:p>
          <a:p xmlns:a="http://schemas.openxmlformats.org/drawingml/2006/main">
            <a:r>
              <a:t>Here is where it comes from. Existence is countless units, each with definite limits, in one pervasive reality. That fact — bounded plurality — is itself what makes recognition possible. The text puts it almost casually: “a provision for one unit to recognise another got manifest in existence.” Because there are many bounded things in one ground, each one stands in definite relation to the others.</a:t>
            </a:r>
          </a:p>
          <a:p xmlns:a="http://schemas.openxmlformats.org/drawingml/2006/main">
            <a:r>
              <a:t>So complementarity is *given* in coexistence. Not created by us. Not agreed between parties. Not a value we project onto a neutral world. It is a feature of what exists.</a:t>
            </a:r>
          </a:p>
          <a:p xmlns:a="http://schemas.openxmlformats.org/drawingml/2006/main">
            <a:r>
              <a:t>Three things follow, and they are the three cards.</a:t>
            </a:r>
          </a:p>
          <a:p xmlns:a="http://schemas.openxmlformats.org/drawingml/2006/main">
            <a:r>
              <a:t>Recognition first. Units are imaged to one another in mutual facing. The image, called pratibimb, provides a basis of mutual recognition. This includes insentient units. Their relative powers also exert effects: heat exchange and particle relations illustrate responsiveness. Imaging and influence have distinct roles in the same mutuality. Neither implies that an insentient unit understands as a person does. Human understanding involves the knowing activities of jeevan.</a:t>
            </a:r>
          </a:p>
          <a:p xmlns:a="http://schemas.openxmlformats.org/drawingml/2006/main">
            <a:r>
              <a:t>Complementarity second. Nothing in nature exists in isolation, and each unit is a whole along with its environment. Now the consequence people find surprising: value, in the universal sense, is essentiality and participation in orderliness — the definite conduct through which a unit complements others. Usefulness is that essentiality as it appears in objects; it is not the whole of value. Value is ontological here. It is not assigned by an observer, and it is not a human invention layered on top of physics.</a:t>
            </a:r>
          </a:p>
          <a:p xmlns:a="http://schemas.openxmlformats.org/drawingml/2006/main">
            <a:r>
              <a:t>Fulfilment third. Fulfilment is the participation that follows recognition, according to constitution and order. Below the human order it is definite — it happens. At the human order it must be achieved, through knowing and believing. Which is precisely why, at the human order alone, it can fail.</a:t>
            </a:r>
          </a:p>
          <a:p xmlns:a="http://schemas.openxmlformats.org/drawingml/2006/main">
            <a:r>
              <a:t>And now the sentence I want you to carry through the rest of the session, because everything from here specifies it: the completeness drive is the drive to fulfil this complementarity. When we get to the composing line, the texts call it a natural inclination toward coexistence. When we get to the sentience threshold, it is hungry atoms and overfull atoms completing each other. When we get to justice, it is complementarity fulfilled knowingly between human beings. Same thing, three registers.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is every unit? Four inseparable aspects — not a static checklist pasted onto things, but how a definite bearer shows up in the world.</a:t>
            </a:r>
          </a:p>
          <a:p xmlns:a="http://schemas.openxmlformats.org/drawingml/2006/main">
            <a:r>
              <a:t>Form is the real configuration of the unit: shape, volume, and density. The constituted unit is bimb. Its image in mutual facing is pratibimb, and being imaged is pratibimban. Take the peepal tree: one bounded living form with trunk, branches, leaves, and roots.</a:t>
            </a:r>
          </a:p>
          <a:p xmlns:a="http://schemas.openxmlformats.org/drawingml/2006/main">
            <a:r>
              <a:t>Properties are relative powers inseparable from their bearer. In the peepal, nutrition, repair, seed production, and degeneration become effective under definite conditions.</a:t>
            </a:r>
          </a:p>
          <a:p xmlns:a="http://schemas.openxmlformats.org/drawingml/2006/main">
            <a:r>
              <a:t>Essential nature is usefulness in mutuality. The peepal's effects are vitalising or devitalising according to the affected body and conditions. Its being alive or decomposing does not alone decide which effect it has on another body.</a:t>
            </a:r>
          </a:p>
          <a:p xmlns:a="http://schemas.openxmlformats.org/drawingml/2006/main">
            <a:r>
              <a:t>Innateness — dharma in this technical sense — is what cannot be separated from the unit, plus order-specific fulfilment. For the peepal: existence plus growth. Seed-conformance is how it conducts itself, not an extra label piled on top.</a:t>
            </a:r>
          </a:p>
          <a:p xmlns:a="http://schemas.openxmlformats.org/drawingml/2006/main">
            <a:r>
              <a:t>The whole unit is manifest, or prakashman, with all four aspects. Imaging is central to prakash. This is a claim about how units are manifest to one another; completed human understanding also requires knowing their relations and fulfilment. An image alone does not deliver that understanding. Animal recognition of essential nature becomes evident in friendliness and opposition; human living brings the exchange of values and evaluation of dharma.</a:t>
            </a:r>
          </a:p>
          <a:p xmlns:a="http://schemas.openxmlformats.org/drawingml/2006/main">
            <a:r>
              <a:t>And notice: the tree as a composite can die while its material constituents persist. Persistence of existence is not persistence of one configuration.</a:t>
            </a:r>
          </a:p>
          <a:p xmlns:a="http://schemas.openxmlformats.org/drawingml/2006/main">
            <a:r>
              <a:t>The same unit is known in three complementary aspects, not three worlds. Inherent truth is what the unit is. Positional truth is how it stands among others. Existential truth is that it exists in Omnipresence.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complementarity we just established becomes evident through relationships among units — this slide is what it looks like in practice.</a:t>
            </a:r>
          </a:p>
          <a:p xmlns:a="http://schemas.openxmlformats.org/drawingml/2006/main">
            <a:r>
              <a:t>In the material, plant, and animal orders its expression is definite: recognition happens, fulfilment happens. At the human order alone it has to be recognised, evaluated, and fulfilled — so at the human order alone it can be got wrong, and it is got wrong when the body is mistaken for the self.</a:t>
            </a:r>
          </a:p>
          <a:p xmlns:a="http://schemas.openxmlformats.org/drawingml/2006/main">
            <a:r>
              <a:t>Two kinds of mutuality matter. A relationship carries definite expectations towards completeness — parent and child, for example. In a contact (*sampark*), the particular exchange is voluntarily undertaken, as when neighbours agree to share the upkeep of a wall. Both remain answerable to justice and humane conduct.</a:t>
            </a:r>
          </a:p>
          <a:p xmlns:a="http://schemas.openxmlformats.org/drawingml/2006/main">
            <a:r>
              <a:t>The slide names the thirty values: four *jeevan* values, six human values, nine established values, nine expressed values, and two object values. Established values become evident when human relationships are recognised and fulfilled — trust, respect, affection, care, and so on. Expressed values — *shishta-mulya* — are their corresponding powers in motion. The English translation of MVD renders those as civic values; they are relationship-expression, not a separate family of right-use of body, mind, and wealth.</a:t>
            </a:r>
          </a:p>
          <a:p xmlns:a="http://schemas.openxmlformats.org/drawingml/2006/main">
            <a:r>
              <a:t>At the human order the path runs: knowing, then believing, then recognising, then fulfilling. Awakening does not invent new faculties. It aligns this chain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Units organise into four stable orders: material; bio or living-plant order; animal; and knowledge — the human order.</a:t>
            </a:r>
          </a:p>
          <a:p xmlns:a="http://schemas.openxmlformats.org/drawingml/2006/main">
            <a:r>
              <a:t>Read the table downward. Innateness is cumulative. Matter has existence. The bio order adds growth. The animal order adds hope to live. The human order adds happiness. Higher orders include the lower ones.</a:t>
            </a:r>
          </a:p>
          <a:p xmlns:a="http://schemas.openxmlformats.org/drawingml/2006/main">
            <a:r>
              <a:t>The pivotal boundary is between plant life and animal life. Material and bio orders are non-sentient. Hope to live is where sentience enters. The sentient unit is present in animal and human joint forms.</a:t>
            </a:r>
          </a:p>
          <a:p xmlns:a="http://schemas.openxmlformats.org/drawingml/2006/main">
            <a:r>
              <a:t>In animals, bodily and brain development limits how much of that unit’s range can be expressed. In humans, the bodily medium can support the full range, but confusion can still misdirect evaluation. Neither body produces sentience. Please do not collapse either case into “mind emerging from matter alone.”</a:t>
            </a:r>
          </a:p>
          <a:p xmlns:a="http://schemas.openxmlformats.org/drawingml/2006/main">
            <a:r>
              <a:t>We have now stated what exists and how it is ordered. Next: how development proceeds.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the last three slides have been building toward: why does anything develop at all?</a:t>
            </a:r>
          </a:p>
          <a:p xmlns:a="http://schemas.openxmlformats.org/drawingml/2006/main">
            <a:r>
              <a:t>The answer the texts give is the completeness drive. Nature saturated in state-complete Omnipresence is oriented toward development and awakening, until realisation. “Oriented” is doing careful work there — it names a direction inherent in the order of coexistence, not a guarantee that every unit travels the whole way.</a:t>
            </a:r>
          </a:p>
          <a:p xmlns:a="http://schemas.openxmlformats.org/drawingml/2006/main">
            <a:r>
              <a:t>And here is the connection back to slide 8, which is the one I most want to land: that drive is the drive to fulfil complementarity. Complementarity is given; fulfilling it is what development *is*. Everything in this movement, and everything in the movement after it, is a specification of that one sentence.</a:t>
            </a:r>
          </a:p>
          <a:p xmlns:a="http://schemas.openxmlformats.org/drawingml/2006/main">
            <a:r>
              <a:t>That drive proceeds along two distinct lines, and Madhyasth Darshan insists they must not be collapsed.</a:t>
            </a:r>
          </a:p>
          <a:p xmlns:a="http://schemas.openxmlformats.org/drawingml/2006/main">
            <a:r>
              <a:t>Compositional progression joins particles, atoms, molecules, cells, and bodies into larger configurations. Separately, development in an atom can reach constitutional completeness as a sentient unit. These lines meet in living joint forms, but they remain distinct.</a:t>
            </a:r>
          </a:p>
          <a:p xmlns:a="http://schemas.openxmlformats.org/drawingml/2006/main">
            <a:r>
              <a:t>Across both, activity is one inseparable triad: effort, motion, and result — three aspects of one activity, not three sequential steps. When sodium and chlorine approach, the approach is effort and motion together; the stable salt crystal is the result.</a:t>
            </a:r>
          </a:p>
          <a:p xmlns:a="http://schemas.openxmlformats.org/drawingml/2006/main">
            <a:r>
              <a:t>The texts compress the engine this way: saturation is forcefulness; forcefulness is basic impulsion; impulsion is activity; activity is effort-motion-result; and that is development.</a:t>
            </a:r>
          </a:p>
          <a:p xmlns:a="http://schemas.openxmlformats.org/drawingml/2006/main">
            <a:r>
              <a:t>Each term has a goal: restfulness of effort, destination of motion, immortality of result. Development pervades nature; awakening occurs in the sentient. Non-sentient units participate by composing bodies and environments without each individually completing the drive.</a:t>
            </a:r>
          </a:p>
          <a:p xmlns:a="http://schemas.openxmlformats.org/drawingml/2006/main">
            <a:r>
              <a:t>The next slide follows both paths through their convergence in animal and human living.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completeness drive unfolds along two parallel paths.</a:t>
            </a:r>
          </a:p>
          <a:p xmlns:a="http://schemas.openxmlformats.org/drawingml/2006/main">
            <a:r>
              <a:t>The first is the compositional path, *rachna*. Atoms and molecules form material-order structures. Under appropriate chemical and environmental conditions, pranic cells and biological formations appear. This is the material-to-biological order change, and both orders remain insentient.</a:t>
            </a:r>
          </a:p>
          <a:p xmlns:a="http://schemas.openxmlformats.org/drawingml/2006/main">
            <a:r>
              <a:t>The second is the atomic path, *gathan*. A developing atom integrates the particle constitution required for completeness. At constitutional completeness, the texts classify that atom as sentient *jeevan*.</a:t>
            </a:r>
          </a:p>
          <a:p xmlns:a="http://schemas.openxmlformats.org/drawingml/2006/main">
            <a:r>
              <a:t>The two paths meet in the animal order as a joint form: a biological body plus sentient *jeevan*. One does not manufacture the other; they work together.</a:t>
            </a:r>
          </a:p>
          <a:p xmlns:a="http://schemas.openxmlformats.org/drawingml/2006/main">
            <a:r>
              <a:t>Development then continues along both aspects of the joint form. Bodily lineages develop through species-conforming biological organisation, while *jeevan*’s expression widens through those bodily media. In the animal order that expression remains limited by the body.</a:t>
            </a:r>
          </a:p>
          <a:p xmlns:a="http://schemas.openxmlformats.org/drawingml/2006/main">
            <a:r>
              <a:t>The human body, in the knowledge order, is described as capable of evidencing all ten activities of *jeevan*. That does not mean the body owns those activities. It means the bodily medium is adequate for their expression. Once that capacity is present, the remaining development is awakening in *jeevan*, evidenced through understanding and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name three milestones — T1, T2, and T3.</a:t>
            </a:r>
          </a:p>
          <a:p xmlns:a="http://schemas.openxmlformats.org/drawingml/2006/main">
            <a:r>
              <a:t>T1 is constitutional completeness: the immortality of result. A developing atom becomes a sentient unit — jeevan. Its standing changes from physicochemical to sentient before realisation, on what the texts call the delusional plane. In human living, delusion means mistaking the body for the self. In animal living, expression is limited by the bodily medium. The plane name should not turn that limitation into a human error or a psychiatric diagnosis.</a:t>
            </a:r>
          </a:p>
          <a:p xmlns:a="http://schemas.openxmlformats.org/drawingml/2006/main">
            <a:r>
              <a:t>T2 is activity completeness: restfulness of effort. Inner seeking settles into direct realisation and resolution. Status shifts toward awakened understanding.</a:t>
            </a:r>
          </a:p>
          <a:p xmlns:a="http://schemas.openxmlformats.org/drawingml/2006/main">
            <a:r>
              <a:t>T3 is conduct completeness: destination of motion. Understanding becomes authentic conduct — living proof.</a:t>
            </a:r>
          </a:p>
          <a:p xmlns:a="http://schemas.openxmlformats.org/drawingml/2006/main">
            <a:r>
              <a:t>Keep T2 and T3 apart. T2 is internal settlement. T3 is outer destination in conduct. And do not confuse T2’s restfulness with the ease of non-sentient natural complementarity.</a:t>
            </a:r>
          </a:p>
          <a:p xmlns:a="http://schemas.openxmlformats.org/drawingml/2006/main">
            <a:r>
              <a:t>T1 is completeness of an atom’s constitution. T2 and T3 are not further material stages; they name completeness of activity and conduct in the awakened sentient unit. In one line: the saturated realises the ground it is saturated in.</a:t>
            </a:r>
          </a:p>
          <a:p xmlns:a="http://schemas.openxmlformats.org/drawingml/2006/main">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me consolidate, because this tradition uses four different vocabularies for what is fundamentally one thing, and mixing them up is the commonest way to get lost in it.</a:t>
            </a:r>
          </a:p>
          <a:p xmlns:a="http://schemas.openxmlformats.org/drawingml/2006/main">
            <a:r>
              <a:t>There is one drive: nature saturated in state-complete Omnipresence, oriented toward development and awakening until realisation. Everything on this table is a way of describing where something stands in that drive.</a:t>
            </a:r>
          </a:p>
          <a:p xmlns:a="http://schemas.openxmlformats.org/drawingml/2006/main">
            <a:r>
              <a:t>**Orders** — material, bio, animal, knowledge — say what *kind* of thing a unit is: its organisation, its essential nature, its innateness. Four orders.</a:t>
            </a:r>
          </a:p>
          <a:p xmlns:a="http://schemas.openxmlformats.org/drawingml/2006/main">
            <a:r>
              <a:t>**Order and development** are described by four terms: existential progression, way of existence, development progression, and awakening progression. The first names the definite order in which the orders become manifest; the second, the conformance by which each order keeps its conduct; the third, physicochemical and atomic development up to T1; the fourth, qualitative development inside a complete sentient unit toward T2 and T3.</a:t>
            </a:r>
          </a:p>
          <a:p xmlns:a="http://schemas.openxmlformats.org/drawingml/2006/main">
            <a:r>
              <a:t>**Planes** — physicochemical, delusional, deific, divine — say how *far* something has come. These are the four we just saw across the top of the last slide. Before T1; T1 only; T2; T3.</a:t>
            </a:r>
          </a:p>
          <a:p xmlns:a="http://schemas.openxmlformats.org/drawingml/2006/main">
            <a:r>
              <a:t>**Human types** — animalistic, demonic, humane or discerning, deific, divine — say how a human *life is oriented*. Five of them, and they classify modes of consciousness and conduct. Not biological species. Not social classes. Not castes.</a:t>
            </a:r>
          </a:p>
          <a:p xmlns:a="http://schemas.openxmlformats.org/drawingml/2006/main">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claimed sentience threshold. The technical transitions slide names it T1; here the audience-facing question is how the texts say sentience enters.</a:t>
            </a:r>
          </a:p>
          <a:p xmlns:a="http://schemas.openxmlformats.org/drawingml/2006/main">
            <a:r>
              <a:t>According to the primary texts, sentience appears when one developing atom reaches constitutional completeness — not through neural complexity, molecular size, or the material-to-biological order change.</a:t>
            </a:r>
          </a:p>
          <a:p xmlns:a="http://schemas.openxmlformats.org/drawingml/2006/main">
            <a:r>
              <a:t>The described process begins with particle exchange. Hungry atoms can incorporate particles; overfull or undigested atoms seek to expel them. Under suitable mutuality, a developing atom integrates the full count required by its constitution. When that requirement is satisfied, the constitution closes and particle count no longer increases or decreases.</a:t>
            </a:r>
          </a:p>
          <a:p xmlns:a="http://schemas.openxmlformats.org/drawingml/2006/main">
            <a:r>
              <a:t>The slide shows the before and after. Before sentience, the constitution remains open: particles are absorbed or expelled, molecular and weight bondage continue, and kind, capacity, and qualitative change track particle count. At the sentience threshold, all required particles are integrated. The count becomes fixed, molecular and weight bondage end, and qualitative activity continues. The texts classify that closed unit as sentient *jeevan*.</a:t>
            </a:r>
          </a:p>
          <a:p xmlns:a="http://schemas.openxmlformats.org/drawingml/2006/main">
            <a:r>
              <a:t>That separation of qualitative from quantitative change is the stated criterion. MVD adds the visible signs of release from the molecular group, liberation from molecular- and weight-bondage, and establishment in hope-bondage.</a:t>
            </a:r>
          </a:p>
          <a:p xmlns:a="http://schemas.openxmlformats.org/drawingml/2006/main">
            <a:r>
              <a:t>The transition to sentience is therefore a claim of reclassification at atomic closure: one atom becomes *jeevan*; a body does not become conscious by becoming more complex. The texts give a process and a criterion, but not an accepted physical measurement of this threshold or a causal explanation of why closure is sentience. We will return to that open bridge under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turn to human living — movement three.</a:t>
            </a:r>
          </a:p>
          <a:p xmlns:a="http://schemas.openxmlformats.org/drawingml/2006/main">
            <a:r>
              <a:t>Animal and human living is a joint form. The sentient unit brings the full set of faculties and activities. The body supplies the species-specific medium.</a:t>
            </a:r>
          </a:p>
          <a:p xmlns:a="http://schemas.openxmlformats.org/drawingml/2006/main">
            <a:r>
              <a:t>On one side: the body — living composition, sense organs, the brain (*medhas*), physical expression; decomposable. The brain receives and translates signals; it is the medium, not the knower. On the other: the sentient unit — constitutionally complete; faculties inherent; continuing when the joint form ends.</a:t>
            </a:r>
          </a:p>
          <a:p xmlns:a="http://schemas.openxmlformats.org/drawingml/2006/main">
            <a:r>
              <a:t>Animal bodily development limits expression. The human medium can support the full range, while mistaking the body for the self can still misdirect evaluation.</a:t>
            </a:r>
          </a:p>
          <a:p xmlns:a="http://schemas.openxmlformats.org/drawingml/2006/main">
            <a:r>
              <a:t>The body gates expression. The sentient unit is seer, doer, and enjoyer through the body. Animal limitation belongs to the medium. Human mis-evaluation belongs to that confusion. The body does not produce sentience, and those two problems are not the same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sentient unit — jeevan — is a constitutionally complete atom.</a:t>
            </a:r>
          </a:p>
          <a:p xmlns:a="http://schemas.openxmlformats.org/drawingml/2006/main">
            <a:r>
              <a:t>Structurally, atma is the centre. Four faculties surround it: buddhi, chitta, vritti, and mun. The texts distinguish these faculties from their characteristic powers: evidence, resoluteness, desire, thought, and hope.</a:t>
            </a:r>
          </a:p>
          <a:p xmlns:a="http://schemas.openxmlformats.org/drawingml/2006/main">
            <a:r>
              <a:t>Each characteristic power has outward and inward activities. Mun selects and tastes; vritti analyses and deliberates; chitta visualises and contemplates, including direct apprehension; buddhi resolves and comprehends; atma evidences authenticity and realises. Tasting at mun has three orientations: sensory, value-based, and goal-based. Awakening changes which governs what is accepted. Projection expresses understanding through authenticity, resolve, visualisation, analysis, and selection into living conduct.</a:t>
            </a:r>
          </a:p>
          <a:p xmlns:a="http://schemas.openxmlformats.org/drawingml/2006/main">
            <a:r>
              <a:t>Here, reflection means pratyavartan, the inward activity of knowing. It differs from pratibimban, the imaging between units introduced on slides 8 and 9. Guidance can descend from the core self through the faculties, while sensory drive can press inward from the body. In awakening, cognisance regulates sensitivity.</a:t>
            </a:r>
          </a:p>
          <a:p xmlns:a="http://schemas.openxmlformats.org/drawingml/2006/main">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xmlns:a="http://schemas.openxmlformats.org/drawingml/2006/main">
            <a:r>
              <a:t>Study brings understanding. Practice tests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are not passing moods, and they are not a fourth milestone after T1, T2, and T3.</a:t>
            </a:r>
          </a:p>
          <a:p xmlns:a="http://schemas.openxmlformats.org/drawingml/2006/main">
            <a:r>
              <a:t>They name harmonies within the sentient unit. Happiness: harmony of hope and thought. Peace: thought and desire. Contentment: desire and resolve. Bliss: resolve and the core self.</a:t>
            </a:r>
          </a:p>
          <a:p xmlns:a="http://schemas.openxmlformats.org/drawingml/2006/main">
            <a:r>
              <a:t>These four harmonies belong to the knowledge-order account of awakening. Animal living expresses hope to live through its bodily medium. We should therefore keep animal sensory satisfaction distinct from the human development of these harmonies. Within the human account, bliss is borne at buddhi through harmony with atma. Realisation at atma is named ultimate bliss, or paramanand, whose effect reaches the remaining faculties.</a:t>
            </a:r>
          </a:p>
          <a:p xmlns:a="http://schemas.openxmlformats.org/drawingml/2006/main">
            <a:r>
              <a:t>Their fulfilment is cumulative: resolution; resolution with prosperity; these with fearlessness; and all three in coexistence. Each fuller fulfilment retains the preceding content. These are principal correspondences within one life, not separate compartments or a promise that acquiring goods automatically produces peace.</a:t>
            </a:r>
          </a:p>
          <a:p xmlns:a="http://schemas.openxmlformats.org/drawingml/2006/main">
            <a:r>
              <a:t>The living cycle is: reflection feeds projection, and projection feeds deeper reflection — that is what living means here. Continuous happiness is harmony evidenced in resolved living, not a sensory spike.</a:t>
            </a:r>
          </a:p>
          <a:p xmlns:a="http://schemas.openxmlformats.org/drawingml/2006/main">
            <a:r>
              <a:t>The next two slides examine how understanding comes to guide evaluation, work, and relationships.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sentient unit bears the same five faculties and the same ten activities. What differs is the medium and what the unit does with it.</a:t>
            </a:r>
          </a:p>
          <a:p xmlns:a="http://schemas.openxmlformats.org/drawingml/2006/main">
            <a:r>
              <a:t>Take the animal case first. An animal jeevan has all five faculties, but its bodily medium limits their expression. Its dharma is hope to live, expressed through sensory selection under species-conformance. The human medium supports the full range of activity and the possibility of awakening.</a:t>
            </a:r>
          </a:p>
          <a:p xmlns:a="http://schemas.openxmlformats.org/drawingml/2006/main">
            <a:r>
              <a:t>Now the human case. The human body *can* express all ten activities — that is what the developed nervous system is for. And yet, by default, human *jeevan* goes on evaluating by exactly the same sensory criteria the animal used. The equipment changed; the habit did not. That is the fork this slide names, and it answers one practical question — what makes me happy?</a:t>
            </a:r>
          </a:p>
          <a:p xmlns:a="http://schemas.openxmlformats.org/drawingml/2006/main">
            <a:r>
              <a:t>Under confusion, the body is mistaken for the self. Selection and evaluation organise around pleasure, health, and profit.</a:t>
            </a:r>
          </a:p>
          <a:p xmlns:a="http://schemas.openxmlformats.org/drawingml/2006/main">
            <a:r>
              <a:t>Under awakening, clear knowing regulates sensory life. Knowing and believing guide recognition and fulfilment toward justice, innateness, truth, and coexistence.</a:t>
            </a:r>
          </a:p>
          <a:p xmlns:a="http://schemas.openxmlformats.org/drawingml/2006/main">
            <a:r>
              <a:t>No faculty is missing, and sensation is not rejected. Confusion lets sensory criteria rule; awakening balances sensation with understanding, so understanding guides conduct.</a:t>
            </a:r>
          </a:p>
          <a:p xmlns:a="http://schemas.openxmlformats.org/drawingml/2006/main">
            <a:r>
              <a:t>When the same fork is resolved in a person and sustained across a tradition, it shows as resolution, prosperity, fearlessness, and coexistence.</a:t>
            </a:r>
          </a:p>
          <a:p xmlns:a="http://schemas.openxmlformats.org/drawingml/2006/main">
            <a:r>
              <a:t>Awakening requires more than preferring the right things or having an insight that does not guide conduct. The next slide explains how understanding becomes effective in living.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peace, contentment, bliss. How does a person actually get them?</a:t>
            </a:r>
          </a:p>
          <a:p xmlns:a="http://schemas.openxmlformats.org/drawingml/2006/main">
            <a:r>
              <a:t>Let me put the shape of the answer first, because it is the hinge of this whole movement. Below the human order, fulfilment is definite — it needs no deciding. A molecule does not choose. A plant does not deliberate. Even the animal, which has a complete sentient unit, is carried by species-conformance to the fulfilment available through its body. Nothing there has to be *worked out*.</a:t>
            </a:r>
          </a:p>
          <a:p xmlns:a="http://schemas.openxmlformats.org/drawingml/2006/main">
            <a:r>
              <a:t>The human order is the one place where complementarity has to be fulfilled *knowingly* — where the higher harmonies are on offer and nothing delivers them automatically. Study introduces the account; understanding must become coherent activity. Knowing is itself an activity of jeevan, and its authenticity is evidenced in work and behaviour. Book knowledge alone does not establish that completed coherence.</a:t>
            </a:r>
          </a:p>
          <a:p xmlns:a="http://schemas.openxmlformats.org/drawingml/2006/main">
            <a:r>
              <a:t>Understanding is evidenced as relationships are fulfilled. We study, practise, evaluate the result, and bring work and behaviour into alignment with what we understand. The harmony within jeevan and its evidence in living belong together.</a:t>
            </a:r>
          </a:p>
          <a:p xmlns:a="http://schemas.openxmlformats.org/drawingml/2006/main">
            <a:r>
              <a:t>That is why the text bothers with the anatomy of action at all. *Kriyā* names activity throughout nature; it is not thereby *karma*. Human activity joined to aspiration has five limbs: doer, cause, objective, result, and effect. Effect means the act's reach or consequence — not a separate ledger of destiny. Desire is the aspiration; karma is the doing, activity together with aspiration; result is the fruit. And the text's own criterion: desire, doing, and result must *balance* for the desire to be truly accomplished. Wanting without doing is not accomplishment. Doing that misses the result is not accomplishment either.</a:t>
            </a:r>
          </a:p>
          <a:p xmlns:a="http://schemas.openxmlformats.org/drawingml/2006/main">
            <a:r>
              <a:t>The intended result is accomplished through doing. Understanding guides that doing, and its authenticity is evidenced in conduct that fulfils relationships.</a:t>
            </a:r>
          </a:p>
          <a:p xmlns:a="http://schemas.openxmlformats.org/drawingml/2006/main">
            <a:r>
              <a:t>Hold this beside the earlier triad of effort, motion, and result. This is the desire-laden human framing of the same activity ontology. The next slides show how desire and doing get reorganised under justice, innateness, and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name Madhyasth — and it cashes a cheque I wrote back on slide 6.</a:t>
            </a:r>
          </a:p>
          <a:p xmlns:a="http://schemas.openxmlformats.org/drawingml/2006/main">
            <a:r>
              <a:t>Remember the third of the three terms: surrounded. Regulation is what surroundedness establishes. Because the formless reality stands between units, each is held at a definite distance from the others. Orderliness is self-regulation inherent in saturated units — not dispensed by a cosmic governor. That mediative regulation, which regulates and conserves every unit, gives the darshan its name.</a:t>
            </a:r>
          </a:p>
          <a:p xmlns:a="http://schemas.openxmlformats.org/drawingml/2006/main">
            <a:r>
              <a:t>The account works at three levels, and it is worth naming them: Omnipresence is the sustaining condition; within an atom, the nucleus is the mediative organisation that regulates generative and degenerative activity and conserves relative powers; and at larger scales, order-specific conformance is the definite conduct you can actually observe.</a:t>
            </a:r>
          </a:p>
          <a:p xmlns:a="http://schemas.openxmlformats.org/drawingml/2006/main">
            <a:r>
              <a:t>Conformance has order-specific modes. Material: structural or result conformance. Bio: seed-conformance. Animal: species-conformance, inherited from gestation. Human: *sanskar*-conformance — conduct follows acquired acceptances and dispositions. These can express delusion or awakened understanding. That is why education and tradition matter: they can reproduce confusion or support awakening.</a:t>
            </a:r>
          </a:p>
          <a:p xmlns:a="http://schemas.openxmlformats.org/drawingml/2006/main">
            <a:r>
              <a:t>Material, bio, and animal regulation is definite. An animal body’s expressive limits do not introduce evaluative error. In human living, the sentient unit can judge wrongly when it mistakes the body for the self. Awakening aligns evaluation with coexistence. That is why justice becomes necessary at the human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 evaluation widens across six perspectives: pleasant, healthy, profit, justice, innateness or dharma as an evaluative lens, and truth. They move from sensation, body, and gain to relationship, orderliness, and coexistence.</a:t>
            </a:r>
          </a:p>
          <a:p xmlns:a="http://schemas.openxmlformats.org/drawingml/2006/main">
            <a:r>
              <a:t>Justice is both one of the six and the principle of fulfilled relationship. Dharma here means fitting the wider pattern — discipline in thought, not only outer conduct. Truth means alignment with the whole, grounded in realisation, not in liking or gain.</a:t>
            </a:r>
          </a:p>
          <a:p xmlns:a="http://schemas.openxmlformats.org/drawingml/2006/main">
            <a:r>
              <a:t>The graduated chain is: rule itself is justice; justice itself is dharma; dharma itself is truth; truth itself is coexistence.</a:t>
            </a:r>
          </a:p>
          <a:p xmlns:a="http://schemas.openxmlformats.org/drawingml/2006/main">
            <a:r>
              <a:t>Pleasure, health, and profit are not condemned. They remain legitimate in their domain. Awakening changes the organising refuge: they are subordinated under justice, dharma, and truth — not abandoned.</a:t>
            </a:r>
          </a:p>
          <a:p xmlns:a="http://schemas.openxmlformats.org/drawingml/2006/main">
            <a:r>
              <a:t>Keep this distinct from unit-innateness earlier. One word, two levels: what a unit cannot be separated from, versus how we evaluate thought and resolution.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turn now to knowing — how understanding widens, and how it happens in the sentient unit.</a:t>
            </a:r>
          </a:p>
          <a:p xmlns:a="http://schemas.openxmlformats.org/drawingml/2006/main">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xmlns:a="http://schemas.openxmlformats.org/drawingml/2006/main">
            <a:r>
              <a:t>On the right: how knowing happens within the sentient unit. Mun tastes and selects. Vritti deliberates. Chitta contemplates and directly apprehends. Buddhi comprehends and resolves. Atma realises in truth. Happiness, peace, contentment, and bliss name harmonies between paired faculties. Realisation at atma is named ultimate bliss.</a:t>
            </a:r>
          </a:p>
          <a:p xmlns:a="http://schemas.openxmlformats.org/drawingml/2006/main">
            <a:r>
              <a:t>Every unit is already manifest with all four aspects. The left-hand steps describe widening human understanding of that unit; they do not describe successive additions to its image. Inward reflection deepens knowing, and projection makes understanding evident through conduct. Bliss names the harmony of buddhi and atma; coexistence realised at atma is ultimate bliss.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where the developmental drive comes to rest: realisation in coexistence.</a:t>
            </a:r>
          </a:p>
          <a:p xmlns:a="http://schemas.openxmlformats.org/drawingml/2006/main">
            <a:r>
              <a:t>The drive settles when relationships across nature are fulfilled and made evident — not because the ground becomes a knower, but because the awakened sentient unit realises and evidences the coexistence in which it has always existed.</a:t>
            </a:r>
          </a:p>
          <a:p xmlns:a="http://schemas.openxmlformats.org/drawingml/2006/main">
            <a:r>
              <a:t>Realisation at atma is named ultimate bliss. Bliss names the harmony of buddhi and atma. What is known is existence as coexistence: nature saturated in Omnipresence. Understanding becomes evident as authenticity in work, behaviour, and participation. The next slide examines how it is presented, communicated, and expressed.</a:t>
            </a:r>
          </a:p>
          <a:p xmlns:a="http://schemas.openxmlformats.org/drawingml/2006/main">
            <a:r>
              <a:t>Three roles stay distinct: the sentient unit remains the knower; existence as coexistence remains the known; knowledge becomes evident as authentic conduct. They become coherent without becoming identical. The individual knower is not dissolved into a single universal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does understanding become available in living? The primary texts use three connected terms: presentation, communication, and expression.</a:t>
            </a:r>
          </a:p>
          <a:p xmlns:a="http://schemas.openxmlformats.org/drawingml/2006/main">
            <a:r>
              <a:t>Presentation, prakashan, makes actuality evident through an accomplished and meaningful form. Something understood takes a form another can attend to.</a:t>
            </a:r>
          </a:p>
          <a:p xmlns:a="http://schemas.openxmlformats.org/drawingml/2006/main">
            <a:r>
              <a:t>Communication, sampreshana, indicates completeness. The definition names constitutional completeness, activity completeness, and conduct completeness. Communication serves understanding and enabling another to understand. Words direct attention to the activity of units and its inherent meaning, including their properties, essential nature, and dharma.</a:t>
            </a:r>
          </a:p>
          <a:p xmlns:a="http://schemas.openxmlformats.org/drawingml/2006/main">
            <a:r>
              <a:t>Expression, abhivyakti, is the mental, verbal, and bodily activity through which our existence is evidenced for all-round resolution, called abhyudaya. Understanding is expressed in speech, work, and humane behaviour.</a:t>
            </a:r>
          </a:p>
          <a:p xmlns:a="http://schemas.openxmlformats.org/drawingml/2006/main">
            <a:r>
              <a:t>Art, kala, concerns how these activities take an accomplished form. It makes qualities evident and expression meaningful, bringing usefulness together with beauty. In making an object, art value enhances usefulness. In communicating understanding, art serves intelligibility and the purpose of resolution.</a:t>
            </a:r>
          </a:p>
          <a:p xmlns:a="http://schemas.openxmlformats.org/drawingml/2006/main">
            <a:r>
              <a:t>These activities belong together in the participation of jeevan through the body. They carry understanding into the awakened human tradition on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Conduct completeness is realised understanding expressed continuously by the individual. Humane participation and education transmit it through an awakened tradition. Individual completeness contributes to social completeness; it does not wait for the entire society to be complete.</a:t>
            </a:r>
          </a:p>
          <a:p xmlns:a="http://schemas.openxmlformats.org/drawingml/2006/main">
            <a:r>
              <a:t>Effort settled in realisation is T2. Understanding proven in conduct is T3.</a:t>
            </a:r>
          </a:p>
          <a:p xmlns:a="http://schemas.openxmlformats.org/drawingml/2006/main">
            <a:r>
              <a:t>Four goals at four levels: resolution in every person; prosperity in every family; fearlessness — trust — in society; coexistence with all of nature.</a:t>
            </a:r>
          </a:p>
          <a:p xmlns:a="http://schemas.openxmlformats.org/drawingml/2006/main">
            <a:r>
              <a:t>Five social systems carry that continuity: education and formative culture; justice and preservation; health and restraint; production and work; exchange and storage. These differ from the four dimensions of a person's living — realisation, thought, behaviour and work.</a:t>
            </a:r>
          </a:p>
          <a:p xmlns:a="http://schemas.openxmlformats.org/drawingml/2006/main">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xmlns:a="http://schemas.openxmlformats.org/drawingml/2006/main">
            <a:r>
              <a:t>MD connects this social aim with human dharma as happiness, values fulfilled in relationships, and understanding expressed in conduct. Nature is oriented towards development and realisation; an awakened human tradition requires people to understand, practise, and transmit that understanding. The ontology gives this participation a purpose without making humane institutions automatic.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closing summary, I owe you an accounting of what kind of thing each part of this has been.</a:t>
            </a:r>
          </a:p>
          <a:p xmlns:a="http://schemas.openxmlformats.org/drawingml/2006/main">
            <a:r>
              <a:t>Different methods establish different things. They can support one another, but they are not interchangeable.</a:t>
            </a:r>
          </a:p>
          <a:p xmlns:a="http://schemas.openxmlformats.org/drawingml/2006/main">
            <a:r>
              <a:t>Logical exposition can show internal coherence. It cannot by itself prove empirical fact.</a:t>
            </a:r>
          </a:p>
          <a:p xmlns:a="http://schemas.openxmlformats.org/drawingml/2006/main">
            <a:r>
              <a:t>Study and self-examination can show intelligibility and first-person recognition. They cannot by themselves physically identify the sentient unit.</a:t>
            </a:r>
          </a:p>
          <a:p xmlns:a="http://schemas.openxmlformats.org/drawingml/2006/main">
            <a:r>
              <a:t>Practice and conduct-evidence can show effects in work, behaviour, and mutual satisfaction. They cannot by themselves measure the sentience threshold or the unit–body interface.</a:t>
            </a:r>
          </a:p>
          <a:p xmlns:a="http://schemas.openxmlformats.org/drawingml/2006/main">
            <a:r>
              <a:t>Realisation is this tradition’s claimed completion of knowing. It does not force agreement from other methods.</a:t>
            </a:r>
          </a:p>
          <a:p xmlns:a="http://schemas.openxmlformats.org/drawingml/2006/main">
            <a:r>
              <a:t>Publicly measurable physical claims remain answerable to instrument-based science. No accepted measurement currently identifies the sentience threshold, the unit–body interface, or post-body reassociation — the last of those being the claim I flagged on slide 16, that the sentient unit continues when a body ends and may later associate with another. Stating that plainly is part of responsible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close the loop on the six questions.</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body–sentient-unit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The constitutionally complete sentient unit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 without conflating those with instrument measurement of the sentience threshold. The lived test is evidence in humane conduct.</a:t>
            </a:r>
          </a:p>
          <a:p xmlns:a="http://schemas.openxmlformats.org/drawingml/2006/main">
            <a:r>
              <a:t>If we continue later, the natural next step is comparison with other traditions and with science — including open problems this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5bf9552f7284896"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3787ffb4c5c405d" /><Relationship Type="http://schemas.openxmlformats.org/officeDocument/2006/relationships/slideLayout" Target="/ppt/slideLayouts/slideLayout1.xml" Id="R6930d8afa9b84085"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6930d8afa9b84085"/>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27af974993049e5" /><Relationship Type="http://schemas.openxmlformats.org/officeDocument/2006/relationships/notesSlide" Target="/ppt/notesSlides/notesSlide1.xml" Id="Ra195f9d06f4b43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53caee882d549e1" /><Relationship Type="http://schemas.openxmlformats.org/officeDocument/2006/relationships/notesSlide" Target="/ppt/notesSlides/notesSlide2.xml" Id="R8844baf3e067472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6412f8746ff4c0d" /><Relationship Type="http://schemas.openxmlformats.org/officeDocument/2006/relationships/image" Target="/ppt/media/image.png" Id="R2ff6ae67d31449ab" /><Relationship Type="http://schemas.openxmlformats.org/officeDocument/2006/relationships/notesSlide" Target="/ppt/notesSlides/notesSlide3.xml" Id="R41ad86111cef4a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295973fe3dc4fa5" /><Relationship Type="http://schemas.openxmlformats.org/officeDocument/2006/relationships/image" Target="/ppt/media/image2.png" Id="R8bd1f18499af4986" /><Relationship Type="http://schemas.openxmlformats.org/officeDocument/2006/relationships/notesSlide" Target="/ppt/notesSlides/notesSlide4.xml" Id="R09d30186d05f4b6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c7cf1ce04064523" /><Relationship Type="http://schemas.openxmlformats.org/officeDocument/2006/relationships/notesSlide" Target="/ppt/notesSlides/notesSlide5.xml" Id="R17a028b0425b40f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c19d85b89fe4d7b" /><Relationship Type="http://schemas.openxmlformats.org/officeDocument/2006/relationships/image" Target="/ppt/media/image3.png" Id="R0fbef038adc44fce" /><Relationship Type="http://schemas.openxmlformats.org/officeDocument/2006/relationships/image" Target="/ppt/media/image4.png" Id="Rd7703b056a6d4494" /><Relationship Type="http://schemas.openxmlformats.org/officeDocument/2006/relationships/image" Target="/ppt/media/image5.png" Id="R2ced93fd8aa94665" /><Relationship Type="http://schemas.openxmlformats.org/officeDocument/2006/relationships/notesSlide" Target="/ppt/notesSlides/notesSlide6.xml" Id="Ra182be557d774a3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e49404e5bf3436b" /><Relationship Type="http://schemas.openxmlformats.org/officeDocument/2006/relationships/image" Target="/ppt/media/image3.png" Id="R64dcd851bab542d0" /><Relationship Type="http://schemas.openxmlformats.org/officeDocument/2006/relationships/image" Target="/ppt/media/image4.png" Id="Rdd30731170fd4984" /><Relationship Type="http://schemas.openxmlformats.org/officeDocument/2006/relationships/image" Target="/ppt/media/image5.png" Id="Rcc4b8ba560444ae2" /><Relationship Type="http://schemas.openxmlformats.org/officeDocument/2006/relationships/notesSlide" Target="/ppt/notesSlides/notesSlide7.xml" Id="R2c525f6ac3394f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66290a1a2cf44e7" /><Relationship Type="http://schemas.openxmlformats.org/officeDocument/2006/relationships/image" Target="/ppt/media/image3.png" Id="Rab97a9655a8b4633" /><Relationship Type="http://schemas.openxmlformats.org/officeDocument/2006/relationships/image" Target="/ppt/media/image4.png" Id="R88af4cc2af5d4a02" /><Relationship Type="http://schemas.openxmlformats.org/officeDocument/2006/relationships/image" Target="/ppt/media/image5.png" Id="R5d7a93f20973475c" /><Relationship Type="http://schemas.openxmlformats.org/officeDocument/2006/relationships/notesSlide" Target="/ppt/notesSlides/notesSlide8.xml" Id="R87a990b3eea04f5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9ac56c09c104f38" /><Relationship Type="http://schemas.openxmlformats.org/officeDocument/2006/relationships/notesSlide" Target="/ppt/notesSlides/notesSlide9.xml" Id="R9af50b6573c04aa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b36db0c19f64edc" /><Relationship Type="http://schemas.openxmlformats.org/officeDocument/2006/relationships/notesSlide" Target="/ppt/notesSlides/notesSlide10.xml" Id="R3a14ddffaff44c3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dc37ae9c4c34e9d" /><Relationship Type="http://schemas.openxmlformats.org/officeDocument/2006/relationships/notesSlide" Target="/ppt/notesSlides/notesSlide11.xml" Id="R48e291908c6e411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46047af66ad4984" /><Relationship Type="http://schemas.openxmlformats.org/officeDocument/2006/relationships/notesSlide" Target="/ppt/notesSlides/notesSlide12.xml" Id="R1bf2756a6f474a3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cf610606ea047d4" /><Relationship Type="http://schemas.openxmlformats.org/officeDocument/2006/relationships/notesSlide" Target="/ppt/notesSlides/notesSlide13.xml" Id="R18fa6a7f25a047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eed0f358c974687" /><Relationship Type="http://schemas.openxmlformats.org/officeDocument/2006/relationships/notesSlide" Target="/ppt/notesSlides/notesSlide14.xml" Id="Rfc377404b5674eb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deeb630a6d34e28" /><Relationship Type="http://schemas.openxmlformats.org/officeDocument/2006/relationships/notesSlide" Target="/ppt/notesSlides/notesSlide15.xml" Id="Rac30bc9e18b9430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5f6a3fae3014099" /><Relationship Type="http://schemas.openxmlformats.org/officeDocument/2006/relationships/notesSlide" Target="/ppt/notesSlides/notesSlide16.xml" Id="R6960e9e0e3314d0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2baf432d86646d2" /><Relationship Type="http://schemas.openxmlformats.org/officeDocument/2006/relationships/notesSlide" Target="/ppt/notesSlides/notesSlide17.xml" Id="R8929b5ac9f0c46f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f484fff76c746e6" /><Relationship Type="http://schemas.openxmlformats.org/officeDocument/2006/relationships/notesSlide" Target="/ppt/notesSlides/notesSlide18.xml" Id="R3c4429142d4e4d8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f6803ca2bda4b71" /><Relationship Type="http://schemas.openxmlformats.org/officeDocument/2006/relationships/notesSlide" Target="/ppt/notesSlides/notesSlide19.xml" Id="R062f34452a414a3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3d75f59a75d4092" /><Relationship Type="http://schemas.openxmlformats.org/officeDocument/2006/relationships/notesSlide" Target="/ppt/notesSlides/notesSlide20.xml" Id="R9a474eb8a2d1489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ffe54201a6e4b6d" /><Relationship Type="http://schemas.openxmlformats.org/officeDocument/2006/relationships/notesSlide" Target="/ppt/notesSlides/notesSlide21.xml" Id="R06a05f8f28b94b8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74652e584454244" /><Relationship Type="http://schemas.openxmlformats.org/officeDocument/2006/relationships/notesSlide" Target="/ppt/notesSlides/notesSlide22.xml" Id="R19f19d2d23f340c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5f49b7c4d7e4bb2" /><Relationship Type="http://schemas.openxmlformats.org/officeDocument/2006/relationships/notesSlide" Target="/ppt/notesSlides/notesSlide23.xml" Id="Re6fc99deb9f3491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79ed31780ac4986" /><Relationship Type="http://schemas.openxmlformats.org/officeDocument/2006/relationships/notesSlide" Target="/ppt/notesSlides/notesSlide24.xml" Id="R6562be673364453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5e3f0968dab4a70" /><Relationship Type="http://schemas.openxmlformats.org/officeDocument/2006/relationships/notesSlide" Target="/ppt/notesSlides/notesSlide25.xml" Id="R399d0529d4004d8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56dc9aad55d47ea" /><Relationship Type="http://schemas.openxmlformats.org/officeDocument/2006/relationships/image" Target="/ppt/media/image3.png" Id="R1cea122611994016" /><Relationship Type="http://schemas.openxmlformats.org/officeDocument/2006/relationships/image" Target="/ppt/media/image4.png" Id="R0af4dfdde2484c41" /><Relationship Type="http://schemas.openxmlformats.org/officeDocument/2006/relationships/image" Target="/ppt/media/image5.png" Id="Rdd193523ec034249" /><Relationship Type="http://schemas.openxmlformats.org/officeDocument/2006/relationships/notesSlide" Target="/ppt/notesSlides/notesSlide26.xml" Id="R633e0ea44a43484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2568a3420274566" /><Relationship Type="http://schemas.openxmlformats.org/officeDocument/2006/relationships/notesSlide" Target="/ppt/notesSlides/notesSlide27.xml" Id="R37beaf5a6e0f427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1f64c8786bc4915" /><Relationship Type="http://schemas.openxmlformats.org/officeDocument/2006/relationships/notesSlide" Target="/ppt/notesSlides/notesSlide28.xml" Id="R4dd0aa54f1a543f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0a75e7941594a9b" /><Relationship Type="http://schemas.openxmlformats.org/officeDocument/2006/relationships/notesSlide" Target="/ppt/notesSlides/notesSlide29.xml" Id="R1d449d38f78743c3"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MVD, KD, SB, JV and Hindi Paribhasha Samhita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inseparability of the pervasive ground and real units. Each unit has form, properties, essential nature and dharma, expressed in mutuality across four orders. The darshan holds coexistence to be perpetual.</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 can form pranic organisation from material constituents. It does not by itself produce jeevan: development in the atom reaches constitutional completeness. Every activity includes effort, motion and 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the human joint form, jeevan’s faculties and harmonies, evaluation, realisation, and the expression of understanding through humane conduct.</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2ff6ae67d31449a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2ff6ae67d31449a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2ff6ae67d31449a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2ff6ae67d31449a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2ff6ae67d31449a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2ff6ae67d31449a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8bd1f18499af4986"/>
          <a:stretch xmlns:a="http://schemas.openxmlformats.org/drawingml/2006/main"/>
        </p:blipFill>
        <p:spPr>
          <a:xfrm xmlns:a="http://schemas.openxmlformats.org/drawingml/2006/main" flipH="0" flipV="0">
            <a:off x="1698852" y="0"/>
            <a:ext cx="5746296"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and actionless. It permeates every unit and is transparent in mutuality, where units are imaged and recognised. Every unit is energised and regulated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Units are manifest in mutual facing. Imaging provides a basis of recognition; relative powers exert effects.</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46, 48, 248–252  ·  MVD pp. 11, 32, 34  ·  PS p. 114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pervasive reality permeates every unit. However often a unit is divided, every fragment remains soaked, submerged and surrounded. The texts connect this inseparability with their doctrine of non-annihilation. Saturation names an ever-present condition.</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0fbef038adc44fce">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Energy-fullness and forcefulness: the unit is endowed with energy and bears definite relative power. Force-endowment in saturation is the root of its manifestness (prakashmanata).</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d7703b056a6d4494">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Activeness and mutual recognition: units are present in one pervasive reality and become manifest to one another through imaging. Unit-ness with energy-fullness is activeness.</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2ced93fd8aa94665">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Regulation: units remain in definite relations within the pervasive reality. Their own mediative organisation evidences law and definite conduct.</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are overlapping descriptions of one saturation. Imaging and recognition continue on slide 8.  ·  SB pp. 57, 69, 79, 248  ·  MVD pp. 32–33, 40  ·  PS pp. 114, 121</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a:t>
            </a:r>
            <a:r>
              <a:rPr sz="1050" b="1" i="0" u="none" cap="none">
                <a:solidFill>
                  <a:srgbClr val="9A6414"/>
                </a:solidFill>
                <a:latin typeface="Calibri"/>
                <a:ea typeface="Calibri"/>
                <a:cs typeface="Calibri"/>
              </a:rPr>
              <a:t>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Madhyasth Darshan holds that what exists neither arises from non-being nor disappears into it. Configurations form, change and end within perpetual coexistence. Inseparability from the ground is part of this account, not an independent proof of every persistence claim.</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4dcd851bab542d0">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dd30731170fd4984">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saturated nature. It initiates no change — composition, decomposition, and development occur as unit-activity. Karma belongs to humans. The ground is no creator or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cc4b8ba560444ae2">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a:t>
            </a:r>
            <a:r>
              <a:rPr sz="950" b="0" i="1" u="none" cap="none">
                <a:solidFill>
                  <a:srgbClr val="5A6377"/>
                </a:solidFill>
                <a:latin typeface="Calibri"/>
                <a:ea typeface="Calibri"/>
                <a:cs typeface="Calibri"/>
              </a:rPr>
              <a:t>SB pp. 57, 70, 251; MVD p. 13</a:t>
            </a:r>
            <a:r>
              <a:rPr sz="950" b="0" i="1" u="none" cap="none">
                <a:solidFill>
                  <a:srgbClr val="5A6377"/>
                </a:solidFill>
                <a:latin typeface="Calibri"/>
                <a:ea typeface="Calibri"/>
                <a:cs typeface="Calibri"/>
              </a:rPr>
              <a:t>  ·  Study </a:t>
            </a:r>
            <a:r>
              <a:rPr sz="950" b="0" i="1" u="none" cap="none">
                <a:solidFill>
                  <a:srgbClr val="5A6377"/>
                </a:solidFill>
                <a:latin typeface="Calibri"/>
                <a:ea typeface="Calibri"/>
                <a:cs typeface="Calibri"/>
              </a:rPr>
              <a:t>§§1.2, 1.4</a:t>
            </a:r>
            <a:r>
              <a:rPr sz="950" b="0" i="1" u="none" cap="none">
                <a:solidFill>
                  <a:srgbClr val="5A6377"/>
                </a:solidFill>
                <a:latin typeface="Calibri"/>
                <a:ea typeface="Calibri"/>
                <a:cs typeface="Calibri"/>
              </a:rPr>
              <a:t>; full treatment of kaal in Nature of Time</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§§1.2–1.3, 1.13.1</a:t>
            </a:r>
            <a:r>
              <a:rPr sz="1050" b="1" i="0" u="none" cap="none">
                <a:solidFill>
                  <a:srgbClr val="9A6414"/>
                </a:solidFill>
                <a:latin typeface="Calibri"/>
                <a:ea typeface="Calibri"/>
                <a:cs typeface="Calibri"/>
              </a:rPr>
              <a:t> · MANIFESTNESS AND MUTUAL RECOGNITION</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Nature Is Complementary</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Units saturated in one pervasive reality stand in mutual facing. Imaging makes a unit manifest to another and provides a basis of recognition. Its relative powers also exert effects. Complementarity belongs to this coexistence and is fulfilled according to constitution and order.</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ab97a9655a8b4633">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Image (pratibimb) is a basis of mutual recognition, including in insentient nature. Heat exchange and particle relations illustrate responsiveness. Human understanding requires the knowing activities of jeevan.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88af4cc2af5d4a02">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Complementarity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Nothing exists in isolation, and each unit is a whole along with its environment. Value is essentiality and participation in orderliness — the definite conduct through which a unit complements others. Usefulness is that essentiality in objects, not the whole of value.</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5d7a93f20973475c">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Fulfilment</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Fulfilment is the participation that follows recognition, according to constitution and order. Definite below the human order. At the human order it must be achieved through knowing and believing — which is why it can fail.</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Imaging supports recognition; human evaluation requires understanding.  ·  PS p. 121  ·  SB pp. 49–53, 248–252  ·  MVD p. 32  ·  JV pp. 43, 69</a:t>
            </a:r>
          </a:p>
        </p:txBody>
      </p:sp>
    </p:spTree>
    <p:extLst>
      <p:ext uri="{BB962C8B-B14F-4D97-AF65-F5344CB8AC3E}">
        <p14:creationId xmlns:p14="http://schemas.microsoft.com/office/powerpoint/2010/main" val="11315883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constituted unit is bimb; its image is pratibimb. This peepal tree has a definite shape, volume and density, with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means relative powers and their effects. The peepal’s nutrition, repair, seed production and degeneration become effective in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mutuality. The peepal’s effects are vitalising or devitalising according to the affected body and conditions.</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whole unit is manifest (prakashman) with all four aspects. Imaging (pratibimban) is central to prakash. An image provides a basis of recognition; understanding the unit also requires its relations and fulfilment. The tree can die while its material constituents persist.</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45, 47, 50–51  ·  SB pp. 249–252, 256–257  ·  PS pp. 119, 121, 135</a:t>
            </a:r>
          </a:p>
        </p:txBody>
      </p:sp>
    </p:spTree>
    <p:extLst>
      <p:ext uri="{BB962C8B-B14F-4D97-AF65-F5344CB8AC3E}">
        <p14:creationId xmlns:p14="http://schemas.microsoft.com/office/powerpoint/2010/main" val="7265482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§1.13.1</a:t>
            </a:r>
            <a:r>
              <a:rPr sz="1050" b="1" i="0" u="none" cap="none">
                <a:solidFill>
                  <a:srgbClr val="9A6414"/>
                </a:solidFill>
                <a:latin typeface="Calibri"/>
                <a:ea typeface="Calibri"/>
                <a:cs typeface="Calibri"/>
              </a:rPr>
              <a:t> · COMPLEMENTARITY BECOMES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complementarity of slide 8 becomes evident through relationships among units. Its expression is definite in the material, bio, and animal orders. At the human order alone it must be recognised, evaluated, and fulfilled — so here alone it can be got wrong.</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Contact</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voluntarily undertaken exchange, such as neighbours sharing upkeep of a wall. Justice and humane duties still apply.</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Thirty values: four jeevan, six human, nine established, nine expressed (shishta), and two object values. Established values are paired with expressed values in conduct.</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a:t>
            </a:r>
            <a:r>
              <a:rPr sz="1100" b="0" i="1" u="none" cap="none">
                <a:solidFill>
                  <a:srgbClr val="5A6377"/>
                </a:solidFill>
                <a:latin typeface="Calibri"/>
                <a:ea typeface="Calibri"/>
                <a:cs typeface="Calibri"/>
              </a:rPr>
              <a:t>Established values become evident as relationships are fulfilled; expressed values carry them in conduct.</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  ·  Paribhasha pp. 151, 154</a:t>
            </a:r>
          </a:p>
        </p:txBody>
      </p:sp>
    </p:spTree>
    <p:extLst>
      <p:ext uri="{BB962C8B-B14F-4D97-AF65-F5344CB8AC3E}">
        <p14:creationId xmlns:p14="http://schemas.microsoft.com/office/powerpoint/2010/main" val="20764785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a:t>
            </a:r>
            <a:r>
              <a:rPr sz="1050" b="1" i="0" u="none" cap="none">
                <a:solidFill>
                  <a:srgbClr val="9A6414"/>
                </a:solidFill>
                <a:latin typeface="Calibri"/>
                <a:ea typeface="Calibri"/>
                <a:cs typeface="Calibri"/>
              </a:rPr>
              <a:t>§§1.7, 1.11</a:t>
            </a:r>
            <a:r>
              <a:rPr sz="1050" b="1" i="0" u="none" cap="none">
                <a:solidFill>
                  <a:srgbClr val="9A6414"/>
                </a:solidFill>
                <a:latin typeface="Calibri"/>
                <a:ea typeface="Calibri"/>
                <a:cs typeface="Calibri"/>
              </a:rPr>
              <a:t>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Why does anything develop? Because nature saturated in state-complete Omnipresence is oriented toward development and awakening until realisation — and that drive is the drive to fulfil complementarity. It proceeds along two distinct lines. Compositional progression joins particles, atoms, molecules, cells, and bodies into larger configurations. Development in an atom can reach constitutional completeness as jeevan. Across both, activity is one triad: effort, motion,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constitution stabilises as jeevan</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sentience;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§§1.6–1.7</a:t>
            </a:r>
            <a:r>
              <a:rPr sz="1050" b="1" i="0" u="none" cap="none">
                <a:solidFill>
                  <a:srgbClr val="9A6414"/>
                </a:solidFill>
                <a:latin typeface="Calibri"/>
                <a:ea typeface="Calibri"/>
                <a:cs typeface="Calibri"/>
              </a:rPr>
              <a:t> · TWO PATHS, ONE JOINT FORM</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Paths Meet in the Animal Order</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5A6377"/>
                </a:solidFill>
                <a:latin typeface="Calibri"/>
                <a:ea typeface="Calibri"/>
                <a:cs typeface="Calibri"/>
              </a:rPr>
              <a:t>The completeness drive unfolds along two parallel paths.</a:t>
            </a:r>
            <a:r>
              <a:rPr sz="1300" b="0" i="0" u="none" cap="none">
                <a:solidFill>
                  <a:srgbClr val="5A6377"/>
                </a:solidFill>
                <a:latin typeface="Calibri"/>
                <a:ea typeface="Calibri"/>
                <a:cs typeface="Calibri"/>
              </a:rPr>
              <a:t> Rachna manifests material and biological formations; atomic development reaches constitutional completeness as sentient jeevan.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Compositional path (rachna)</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Atoms and molecules form material order; chemical and pranic-cell compositions manifest biological order. Both are insentient.</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Atomic path (gathan)</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developing atom integrates its required particle constitution. At completeness, the texts classify it as sentient jeevan.</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paths meet in animal order. Body lineages develop while jeevan’s expression widens; the human body can evidence all ten activities.</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Biological body</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Sentient jeevan</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Animal order</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 knowledge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Once the human medium is capable, further development is awakening in jeevan.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26, 79–80  ·  SB pp. 55, 76–77  ·  Study </a:t>
            </a:r>
            <a:r>
              <a:rPr sz="950" b="0" i="1" u="none" cap="none">
                <a:solidFill>
                  <a:srgbClr val="5A6377"/>
                </a:solidFill>
                <a:latin typeface="Calibri"/>
                <a:ea typeface="Calibri"/>
                <a:cs typeface="Calibri"/>
              </a:rPr>
              <a:t>§§1.6–1.7, 1.12</a:t>
            </a:r>
          </a:p>
        </p:txBody>
      </p:sp>
    </p:spTree>
    <p:extLst>
      <p:ext uri="{BB962C8B-B14F-4D97-AF65-F5344CB8AC3E}">
        <p14:creationId xmlns:p14="http://schemas.microsoft.com/office/powerpoint/2010/main" val="21364850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1.11</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before realisation</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1.11–1.12</a:t>
            </a:r>
            <a:r>
              <a:rPr sz="1050" b="1" i="0" u="none" cap="none">
                <a:solidFill>
                  <a:srgbClr val="9A6414"/>
                </a:solidFill>
                <a:latin typeface="Calibri"/>
                <a:ea typeface="Calibri"/>
                <a:cs typeface="Calibri"/>
              </a:rPr>
              <a:t>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a:t>
                      </a:r>
                      <a:r>
                        <a:rPr sz="1100" u="none" cap="none">
                          <a:solidFill>
                            <a:srgbClr val="1E2447"/>
                          </a:solidFill>
                          <a:latin typeface="Calibri"/>
                          <a:ea typeface="Calibri"/>
                          <a:cs typeface="Calibri"/>
                        </a:rPr>
                        <a:t>§1.6</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Order and development (</a:t>
                      </a:r>
                      <a:r>
                        <a:rPr sz="1100" u="none" cap="none">
                          <a:solidFill>
                            <a:srgbClr val="1E2447"/>
                          </a:solidFill>
                          <a:latin typeface="Calibri"/>
                          <a:ea typeface="Calibri"/>
                          <a:cs typeface="Calibri"/>
                        </a:rPr>
                        <a:t>§1.12.1</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sequence, conformance, development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a:t>
                      </a:r>
                      <a:r>
                        <a:rPr sz="1100" u="none" cap="none">
                          <a:solidFill>
                            <a:srgbClr val="1E2447"/>
                          </a:solidFill>
                          <a:latin typeface="Calibri"/>
                          <a:ea typeface="Calibri"/>
                          <a:cs typeface="Calibri"/>
                        </a:rPr>
                        <a:t>§1.12.2</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a:t>
                      </a:r>
                      <a:r>
                        <a:rPr sz="1100" u="none" cap="none">
                          <a:solidFill>
                            <a:srgbClr val="1E2447"/>
                          </a:solidFill>
                          <a:latin typeface="Calibri"/>
                          <a:ea typeface="Calibri"/>
                          <a:cs typeface="Calibri"/>
                        </a:rPr>
                        <a:t>§1.12.2</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 terms distinguish manifestation, conformance, development, and human orientation. Orders and planes answer different questions. T1 establishes sentient standing; T2 and T3 concern completeness of understanding and conduct within jeevan.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§§1.7, 1.11–1.12</a:t>
            </a:r>
            <a:r>
              <a:rPr sz="950" b="0" i="1" u="none" cap="none">
                <a:solidFill>
                  <a:srgbClr val="5A6377"/>
                </a:solidFill>
                <a:latin typeface="Calibri"/>
                <a:ea typeface="Calibri"/>
                <a:cs typeface="Calibri"/>
              </a:rPr>
              <a:t>  ·  Conceptual map, classification key  ·  MVD pp. 5, 8  ·  SB pp. 50–51</a:t>
            </a:r>
          </a:p>
        </p:txBody>
      </p:sp>
    </p:spTree>
    <p:extLst>
      <p:ext uri="{BB962C8B-B14F-4D97-AF65-F5344CB8AC3E}">
        <p14:creationId xmlns:p14="http://schemas.microsoft.com/office/powerpoint/2010/main" val="11318954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Sentience — The Constitutional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According to the primary texts, sentience appears when one developing atom reaches constitutional completeness.</a:t>
            </a:r>
            <a:r>
              <a:rPr sz="1300" b="0" i="0" u="none" cap="none">
                <a:solidFill>
                  <a:srgbClr val="1E2447"/>
                </a:solidFill>
                <a:latin typeface="Calibri"/>
                <a:ea typeface="Calibri"/>
                <a:cs typeface="Calibri"/>
              </a:rPr>
              <a:t> Hungry and overfull atoms exchange particles until the required count is integrated. At closure, particle count stops changing while qualitative activity continues; the texts call that stable unit sentient jeevan. This is a stated criterion, not an accepted physical measurement or causal explanation of why closure is sentience.</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sentience — open constitution</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Absorbs or expels particles; required count not yet complete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Molecular and weight bondage continue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Kind, capacity, and qualitative change track particle count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Sentience — constitution closes</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All particles required by that constitution are integrated</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Particle count no longer increases or decreases</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Leaves molecular and weight bondage; qualitative activity continues as jeevan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transition to sentience is the texts’ claim: one atom’s constitution closes and is reclassified as sentient — not a body becoming conscious through greater complexity. The threshold remains unmeasured.</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55, 58–59, 71, 86  ·  MVD pp. 8, 91  ·  KD 3.3  ·  No accepted procedure identifies this threshold or explains why closure is sentience (§6.2.1).</a:t>
            </a:r>
          </a:p>
        </p:txBody>
      </p:sp>
    </p:spTree>
    <p:extLst>
      <p:ext uri="{BB962C8B-B14F-4D97-AF65-F5344CB8AC3E}">
        <p14:creationId xmlns:p14="http://schemas.microsoft.com/office/powerpoint/2010/main" val="21413563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a:t>
            </a: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a:t>
            </a:r>
            <a:r>
              <a:rPr sz="950" b="0" i="1" u="none" cap="none">
                <a:solidFill>
                  <a:srgbClr val="5A6377"/>
                </a:solidFill>
                <a:latin typeface="Calibri"/>
                <a:ea typeface="Calibri"/>
                <a:cs typeface="Calibri"/>
              </a:rPr>
              <a:t>JV PDF pp. 20, 55</a:t>
            </a:r>
          </a:p>
        </p:txBody>
      </p:sp>
    </p:spTree>
    <p:extLst>
      <p:ext uri="{BB962C8B-B14F-4D97-AF65-F5344CB8AC3E}">
        <p14:creationId xmlns:p14="http://schemas.microsoft.com/office/powerpoint/2010/main" val="21413563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comprehension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bears all five faculties and ten activities. Animal bodies limit their expression; the human medium supports the full range. Inward reflection (pratyavartan) deepens knowing. Imaging between units (pratibimban) provides a basis of recognition.</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is cumulative: resolution; resolution with prosperity; both with fearlessness; all three in coexistence. These are principal correspondences, not separate compartments. Bliss is buddhi–atma harmony; realisation at atma is ultimate bliss (paramanand).</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61, 138  ·  MVD pp. 100–101, 328–346  ·  KD §3.12 (projection and inward reflection)</a:t>
            </a:r>
          </a:p>
        </p:txBody>
      </p:sp>
    </p:spTree>
    <p:extLst>
      <p:ext uri="{BB962C8B-B14F-4D97-AF65-F5344CB8AC3E}">
        <p14:creationId xmlns:p14="http://schemas.microsoft.com/office/powerpoint/2010/main" val="10533636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§§1.8–1.9, 1.13,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five faculties and ten activities. Animal living expresses hope to live within the limits of its bodily medium. The human body supports the full range, while delusion can keep evaluation centred on pleasure, health and profit.</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Peace, contentment, and bliss concern coherent understanding expressed in living. Study and insight must guide work, behaviour, and relationships (</a:t>
            </a:r>
            <a:r>
              <a:rPr sz="1100" b="0" i="1" u="none" cap="none">
                <a:solidFill>
                  <a:srgbClr val="5A6377"/>
                </a:solidFill>
                <a:latin typeface="Calibri"/>
                <a:ea typeface="Calibri"/>
                <a:cs typeface="Calibri"/>
              </a:rPr>
              <a:t>§1.10</a:t>
            </a:r>
            <a:r>
              <a:rPr sz="1100" b="0" i="1" u="none" cap="none">
                <a:solidFill>
                  <a:srgbClr val="5A6377"/>
                </a:solidFill>
                <a:latin typeface="Calibri"/>
                <a:ea typeface="Calibri"/>
                <a:cs typeface="Calibri"/>
              </a:rPr>
              <a:t>).</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UNDERSTANDING EVIDENCED IN CONDUCT</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Below the human order, fulfilment follows definite conformance. In human living, understanding must become work and behaviour that fulfil relationships. Study, practice, result and purpose become coherent as knowing is evidenced in conduct.</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human kriyā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pp. 1–2  ·  Study </a:t>
            </a:r>
            <a:r>
              <a:rPr sz="950" b="0" i="1" u="none" cap="none">
                <a:solidFill>
                  <a:srgbClr val="5A6377"/>
                </a:solidFill>
                <a:latin typeface="Calibri"/>
                <a:ea typeface="Calibri"/>
                <a:cs typeface="Calibri"/>
              </a:rPr>
              <a:t>§1.10</a:t>
            </a:r>
          </a:p>
        </p:txBody>
      </p:sp>
    </p:spTree>
    <p:extLst>
      <p:ext uri="{BB962C8B-B14F-4D97-AF65-F5344CB8AC3E}">
        <p14:creationId xmlns:p14="http://schemas.microsoft.com/office/powerpoint/2010/main" val="29346030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r>
              <a:rPr sz="1050" b="1" i="0" u="none" cap="none">
                <a:solidFill>
                  <a:srgbClr val="9A6414"/>
                </a:solidFill>
                <a:latin typeface="Calibri"/>
                <a:ea typeface="Calibri"/>
                <a:cs typeface="Calibri"/>
              </a:rPr>
              <a:t>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Regulation is what surroundedness establishes: units are held at definite distance by the formless reality standing between them. Omnipresence issues no commands, yet each unit stays regulated through its own mediative organisation. </a:t>
            </a:r>
            <a:r>
              <a:rPr sz="1250" b="1" i="0" u="none" cap="none">
                <a:solidFill>
                  <a:srgbClr val="1E2447"/>
                </a:solidFill>
                <a:latin typeface="Calibri"/>
                <a:ea typeface="Calibri"/>
                <a:cs typeface="Calibri"/>
              </a:rPr>
              <a:t>This mediative (madhyasth) role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(acquired dispositions)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§1.13.2 ·</a:t>
            </a:r>
            <a:r>
              <a:rPr sz="1050" b="1" i="0" u="none" cap="none">
                <a:solidFill>
                  <a:srgbClr val="9A6414"/>
                </a:solidFill>
                <a:latin typeface="Calibri"/>
                <a:ea typeface="Calibri"/>
                <a:cs typeface="Calibri"/>
              </a:rPr>
              <a:t>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evaluation requires understanding what is recognised. Six perspectives range from pleasant, healthy and profitable to justice, dharma and truth. Justice also names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§§1.13.2–1.13.3</a:t>
            </a:r>
            <a:r>
              <a:rPr sz="1125" b="0" i="1" u="none" cap="none">
                <a:solidFill>
                  <a:srgbClr val="5A6377"/>
                </a:solidFill>
                <a:latin typeface="Calibri"/>
                <a:ea typeface="Calibri"/>
                <a:cs typeface="Calibri"/>
              </a:rPr>
              <a:t> · KD pp. 10, 13, 60, 86</a:t>
            </a:r>
          </a:p>
        </p:txBody>
      </p:sp>
    </p:spTree>
    <p:extLst>
      <p:ext uri="{BB962C8B-B14F-4D97-AF65-F5344CB8AC3E}">
        <p14:creationId xmlns:p14="http://schemas.microsoft.com/office/powerpoint/2010/main" val="1592180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1.8–1.9, 1.13–1.14</a:t>
            </a:r>
            <a:r>
              <a:rPr sz="1050" b="1" i="0" u="none" cap="none">
                <a:solidFill>
                  <a:srgbClr val="9A6414"/>
                </a:solidFill>
                <a:latin typeface="Calibri"/>
                <a:ea typeface="Calibri"/>
                <a:cs typeface="Calibri"/>
              </a:rPr>
              <a:t>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a:t>
            </a:r>
            <a:r>
              <a:rPr sz="1150" b="1" i="0" u="none" cap="none">
                <a:solidFill>
                  <a:srgbClr val="1E2447"/>
                </a:solidFill>
                <a:latin typeface="Calibri"/>
                <a:ea typeface="Calibri"/>
                <a:cs typeface="Calibri"/>
              </a:rPr>
              <a:t>§1.13.2</a:t>
            </a:r>
            <a:r>
              <a:rPr sz="1150" b="1" i="0" u="none" cap="none">
                <a:solidFill>
                  <a:srgbClr val="1E2447"/>
                </a:solidFill>
                <a:latin typeface="Calibri"/>
                <a:ea typeface="Calibri"/>
                <a:cs typeface="Calibri"/>
              </a:rPr>
              <a:t>)</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imaged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All four aspects belong to the manifest unit. These rungs widen the context of human understanding; an image alone does not deliver completed knowledge.</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Atma</a:t>
            </a:r>
            <a:r>
              <a:rPr sz="1150" b="1" i="0" u="none" cap="none">
                <a:solidFill>
                  <a:srgbClr val="9A6414"/>
                </a:solidFill>
                <a:latin typeface="Calibri"/>
                <a:ea typeface="Calibri"/>
                <a:cs typeface="Calibri"/>
              </a:rPr>
              <a:t>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Buddhi</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comprehension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Chitta</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contemplation &amp; visualisation · direct apprehension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Vritti</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Mun</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1269"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1271"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Ultimate bliss: realisation at atma. Bliss: buddhi–atma harmony.  ·  PS pp. 119, 121  ·  MVD pp. 100–101  ·  JV pp. 61, 138</a:t>
            </a:r>
          </a:p>
        </p:txBody>
      </p:sp>
    </p:spTree>
    <p:extLst>
      <p:ext uri="{BB962C8B-B14F-4D97-AF65-F5344CB8AC3E}">
        <p14:creationId xmlns:p14="http://schemas.microsoft.com/office/powerpoint/2010/main" val="8958129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a:t>
            </a:r>
            <a:r>
              <a:rPr sz="1050" b="1" i="0" u="none" cap="none">
                <a:solidFill>
                  <a:srgbClr val="9A6414"/>
                </a:solidFill>
                <a:latin typeface="Calibri"/>
                <a:ea typeface="Calibri"/>
                <a:cs typeface="Calibri"/>
              </a:rPr>
              <a:t>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and ultimate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at atma is named ultimate bliss. Bliss names the harmony of buddhi and atma. Understanding becomes evident through authentic work, behaviour and participation.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81, 116  ·  MVD pp. 100–101, 126, 328  ·  KD §§3.17–3.18  ·  Study </a:t>
            </a:r>
            <a:r>
              <a:rPr sz="950" b="0" i="1" u="none" cap="none">
                <a:solidFill>
                  <a:srgbClr val="5A6377"/>
                </a:solidFill>
                <a:latin typeface="Calibri"/>
                <a:ea typeface="Calibri"/>
                <a:cs typeface="Calibri"/>
              </a:rPr>
              <a:t>§§1.9, 1.14</a:t>
            </a:r>
          </a:p>
        </p:txBody>
      </p:sp>
    </p:spTree>
    <p:extLst>
      <p:ext uri="{BB962C8B-B14F-4D97-AF65-F5344CB8AC3E}">
        <p14:creationId xmlns:p14="http://schemas.microsoft.com/office/powerpoint/2010/main" val="42603607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a:t>
            </a:r>
            <a:r>
              <a:rPr sz="1050" b="1" i="0" u="none" cap="none">
                <a:solidFill>
                  <a:srgbClr val="9A6414"/>
                </a:solidFill>
                <a:latin typeface="Calibri"/>
                <a:ea typeface="Calibri"/>
                <a:cs typeface="Calibri"/>
              </a:rPr>
              <a:t> · PRESENTATION, COMMUNICATION, EXPRESSION AND ART</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in Expression</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Understanding takes form in presentation, communication and conduct. Art (kala) makes these expressions meaningful and brings usefulness together with beauty.</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1cea122611994016">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Presentation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Prakashan makes actuality evident through an accomplished and meaningful form. What is understood becomes available for another to attend to.</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0af4dfdde2484c4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Communication</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Sampreshana indicates completeness: constitutional, activity and conduct completeness. Communication serves understanding and enabling another to understand.</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dd193523ec034249">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Expression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Abhivyakti is mental, verbal and bodily activity for all-round resolution (abhyudaya). Understanding is evidenced in speech, work and humane behaviour.</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connected activities involve jeevan through the body.  ·  PS pp. 22, 56, 119, 206  ·  MVD pp. 109–110, 328</a:t>
            </a:r>
          </a:p>
        </p:txBody>
      </p:sp>
    </p:spTree>
    <p:extLst>
      <p:ext uri="{BB962C8B-B14F-4D97-AF65-F5344CB8AC3E}">
        <p14:creationId xmlns:p14="http://schemas.microsoft.com/office/powerpoint/2010/main" val="1131588340"/>
      </p:ext>
    </p:extLst>
  </p:cSld>
</p:sld>
</file>

<file path=ppt/slides/slide27.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CONTINUITY THROUGH HUMANE PARTICIPATION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Conduct completeness is realised understanding expressed continuously by the individual. Humane participation and education transmit it through an awakened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social systems:</a:t>
            </a:r>
            <a:r>
              <a:rPr sz="1150" b="0" i="0" u="none" cap="none">
                <a:solidFill>
                  <a:srgbClr val="8E9BC4"/>
                </a:solidFill>
                <a:latin typeface="Calibri"/>
                <a:ea typeface="Calibri"/>
                <a:cs typeface="Calibri"/>
              </a:rPr>
              <a:t> education–sanskar · justice–preservation · health–restraint · production–work · exchange–storage.  ·  Families and societies are relational achievements, not a further compositional tier (</a:t>
            </a:r>
            <a:r>
              <a:rPr sz="1150" b="0" i="0" u="none" cap="none">
                <a:solidFill>
                  <a:srgbClr val="8E9BC4"/>
                </a:solidFill>
                <a:latin typeface="Calibri"/>
                <a:ea typeface="Calibri"/>
                <a:cs typeface="Calibri"/>
              </a:rPr>
              <a:t>§1.13.3</a:t>
            </a:r>
            <a:r>
              <a:rPr sz="1150" b="0" i="0" u="none" cap="none">
                <a:solidFill>
                  <a:srgbClr val="8E9BC4"/>
                </a:solidFill>
                <a:latin typeface="Calibri"/>
                <a:ea typeface="Calibri"/>
                <a:cs typeface="Calibri"/>
              </a:rPr>
              <a:t>).</a:t>
            </a:r>
          </a:p>
        </p:txBody>
      </p:sp>
    </p:spTree>
    <p:extLst>
      <p:ext uri="{BB962C8B-B14F-4D97-AF65-F5344CB8AC3E}">
        <p14:creationId xmlns:p14="http://schemas.microsoft.com/office/powerpoint/2010/main" val="22285468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sentience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currently identifies the sentience threshold,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9.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2026-09-20T04:26:11.0010000Z</dcterms:created>
  <dcterms:modified xsi:type="dcterms:W3CDTF">2026-09-20T04:26:11.0010000Z</dcterms:modified>
</coreProperties>
</file>