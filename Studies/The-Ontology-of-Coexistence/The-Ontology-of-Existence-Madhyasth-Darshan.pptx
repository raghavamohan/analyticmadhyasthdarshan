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67a50427ef0463e" /><Relationship Type="http://schemas.openxmlformats.org/officeDocument/2006/relationships/extended-properties" Target="/docProps/app.xml" Id="R1b7c9decbe9f4a35" /><Relationship Type="http://schemas.openxmlformats.org/officeDocument/2006/relationships/officeDocument" Target="/ppt/presentation.xml" Id="Re7d13755d63e45f3" /></Relationships>
</file>

<file path=ppt/presentation.xml><?xml version="1.0" encoding="utf-8"?>
<p:presentation xmlns:p="http://schemas.openxmlformats.org/presentationml/2006/main">
  <p:sldMasterIdLst>
    <p:sldMasterId xmlns:r="http://schemas.openxmlformats.org/officeDocument/2006/relationships" id="2147483648" r:id="Rb91ecd57c18f44fa"/>
  </p:sldMasterIdLst>
  <p:notesMasterIdLst>
    <p:notesMasterId xmlns:r="http://schemas.openxmlformats.org/officeDocument/2006/relationships" r:id="R7fa3bd495e0b49eb"/>
  </p:notesMasterIdLst>
  <p:sldIdLst>
    <p:sldId xmlns:r="http://schemas.openxmlformats.org/officeDocument/2006/relationships" id="256" r:id="R1dc00366768b4809"/>
    <p:sldId xmlns:r="http://schemas.openxmlformats.org/officeDocument/2006/relationships" id="257" r:id="R77df621d77b94771"/>
    <p:sldId xmlns:r="http://schemas.openxmlformats.org/officeDocument/2006/relationships" id="258" r:id="Rf440affb8eaa4a18"/>
    <p:sldId xmlns:r="http://schemas.openxmlformats.org/officeDocument/2006/relationships" id="259" r:id="R3bbdeeb259bb4268"/>
    <p:sldId xmlns:r="http://schemas.openxmlformats.org/officeDocument/2006/relationships" id="260" r:id="R306efc7cb72847cb"/>
    <p:sldId xmlns:r="http://schemas.openxmlformats.org/officeDocument/2006/relationships" id="261" r:id="R1d0bb72d446a49e1"/>
    <p:sldId xmlns:r="http://schemas.openxmlformats.org/officeDocument/2006/relationships" id="262" r:id="Rdf891aebe67c4d4d"/>
    <p:sldId xmlns:r="http://schemas.openxmlformats.org/officeDocument/2006/relationships" id="263" r:id="Rdd0fb09cfe164f19"/>
    <p:sldId xmlns:r="http://schemas.openxmlformats.org/officeDocument/2006/relationships" id="264" r:id="Rb8697e9b048b4a67"/>
    <p:sldId xmlns:r="http://schemas.openxmlformats.org/officeDocument/2006/relationships" id="265" r:id="R2bf4fb0c86f249b4"/>
    <p:sldId xmlns:r="http://schemas.openxmlformats.org/officeDocument/2006/relationships" id="266" r:id="Rb4d0528c6db14641"/>
    <p:sldId xmlns:r="http://schemas.openxmlformats.org/officeDocument/2006/relationships" id="267" r:id="R08aaa8dc16d5497f"/>
    <p:sldId xmlns:r="http://schemas.openxmlformats.org/officeDocument/2006/relationships" id="268" r:id="Rca32c4b905ef4506"/>
    <p:sldId xmlns:r="http://schemas.openxmlformats.org/officeDocument/2006/relationships" id="269" r:id="Rb5a08fa31f8d4984"/>
    <p:sldId xmlns:r="http://schemas.openxmlformats.org/officeDocument/2006/relationships" id="270" r:id="R8bf8b992a4c24db6"/>
    <p:sldId xmlns:r="http://schemas.openxmlformats.org/officeDocument/2006/relationships" id="271" r:id="Rb8a883a0bd2640b3"/>
    <p:sldId xmlns:r="http://schemas.openxmlformats.org/officeDocument/2006/relationships" id="272" r:id="Rbb534527a15f4244"/>
    <p:sldId xmlns:r="http://schemas.openxmlformats.org/officeDocument/2006/relationships" id="273" r:id="R74d7e2e50b934347"/>
    <p:sldId xmlns:r="http://schemas.openxmlformats.org/officeDocument/2006/relationships" id="274" r:id="Rbaa4f3b2243a472a"/>
    <p:sldId xmlns:r="http://schemas.openxmlformats.org/officeDocument/2006/relationships" id="275" r:id="R01988b2c2ecd4636"/>
    <p:sldId xmlns:r="http://schemas.openxmlformats.org/officeDocument/2006/relationships" id="276" r:id="R9d272711c7014ad9"/>
    <p:sldId xmlns:r="http://schemas.openxmlformats.org/officeDocument/2006/relationships" id="277" r:id="R40549c780f104e00"/>
    <p:sldId xmlns:r="http://schemas.openxmlformats.org/officeDocument/2006/relationships" id="278" r:id="Re9f304428ede4039"/>
    <p:sldId xmlns:r="http://schemas.openxmlformats.org/officeDocument/2006/relationships" id="279" r:id="Rd1ebb91feb724730"/>
  </p:sldIdLst>
  <p:sldSz cx="9144000" cy="51435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6C92A692-798E-4634-90B1-36CD3966BFCB}">
  <a:tblStyle styleId="{6C92A692-798E-4634-90B1-36CD3966BFC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d452c5a11b704591" /><Relationship Type="http://schemas.openxmlformats.org/officeDocument/2006/relationships/slideMaster" Target="/ppt/slideMasters/slideMaster1.xml" Id="Rb91ecd57c18f44fa" /><Relationship Type="http://schemas.openxmlformats.org/officeDocument/2006/relationships/notesMaster" Target="/ppt/notesMasters/notesMaster1.xml" Id="R7fa3bd495e0b49eb" /><Relationship Type="http://schemas.openxmlformats.org/officeDocument/2006/relationships/presProps" Target="/ppt/presProps.xml" Id="Rbfb2692a1dec47d3" /><Relationship Type="http://schemas.openxmlformats.org/officeDocument/2006/relationships/viewProps" Target="/ppt/viewProps.xml" Id="R426b55857e81438d" /><Relationship Type="http://schemas.openxmlformats.org/officeDocument/2006/relationships/tableStyles" Target="/ppt/tableStyles.xml" Id="Ra37aefbf860d4eba" /><Relationship Type="http://schemas.openxmlformats.org/officeDocument/2006/relationships/slide" Target="/ppt/slides/slide1.xml" Id="R1dc00366768b4809" /><Relationship Type="http://schemas.openxmlformats.org/officeDocument/2006/relationships/slide" Target="/ppt/slides/slide2.xml" Id="R77df621d77b94771" /><Relationship Type="http://schemas.openxmlformats.org/officeDocument/2006/relationships/slide" Target="/ppt/slides/slide3.xml" Id="Rf440affb8eaa4a18" /><Relationship Type="http://schemas.openxmlformats.org/officeDocument/2006/relationships/slide" Target="/ppt/slides/slide4.xml" Id="R3bbdeeb259bb4268" /><Relationship Type="http://schemas.openxmlformats.org/officeDocument/2006/relationships/slide" Target="/ppt/slides/slide5.xml" Id="R306efc7cb72847cb" /><Relationship Type="http://schemas.openxmlformats.org/officeDocument/2006/relationships/slide" Target="/ppt/slides/slide6.xml" Id="R1d0bb72d446a49e1" /><Relationship Type="http://schemas.openxmlformats.org/officeDocument/2006/relationships/slide" Target="/ppt/slides/slide7.xml" Id="Rdf891aebe67c4d4d" /><Relationship Type="http://schemas.openxmlformats.org/officeDocument/2006/relationships/slide" Target="/ppt/slides/slide8.xml" Id="Rdd0fb09cfe164f19" /><Relationship Type="http://schemas.openxmlformats.org/officeDocument/2006/relationships/slide" Target="/ppt/slides/slide9.xml" Id="Rb8697e9b048b4a67" /><Relationship Type="http://schemas.openxmlformats.org/officeDocument/2006/relationships/slide" Target="/ppt/slides/slide10.xml" Id="R2bf4fb0c86f249b4" /><Relationship Type="http://schemas.openxmlformats.org/officeDocument/2006/relationships/slide" Target="/ppt/slides/slide11.xml" Id="Rb4d0528c6db14641" /><Relationship Type="http://schemas.openxmlformats.org/officeDocument/2006/relationships/slide" Target="/ppt/slides/slide12.xml" Id="R08aaa8dc16d5497f" /><Relationship Type="http://schemas.openxmlformats.org/officeDocument/2006/relationships/slide" Target="/ppt/slides/slide13.xml" Id="Rca32c4b905ef4506" /><Relationship Type="http://schemas.openxmlformats.org/officeDocument/2006/relationships/slide" Target="/ppt/slides/slide14.xml" Id="Rb5a08fa31f8d4984" /><Relationship Type="http://schemas.openxmlformats.org/officeDocument/2006/relationships/slide" Target="/ppt/slides/slide15.xml" Id="R8bf8b992a4c24db6" /><Relationship Type="http://schemas.openxmlformats.org/officeDocument/2006/relationships/slide" Target="/ppt/slides/slide16.xml" Id="Rb8a883a0bd2640b3" /><Relationship Type="http://schemas.openxmlformats.org/officeDocument/2006/relationships/slide" Target="/ppt/slides/slide17.xml" Id="Rbb534527a15f4244" /><Relationship Type="http://schemas.openxmlformats.org/officeDocument/2006/relationships/slide" Target="/ppt/slides/slide18.xml" Id="R74d7e2e50b934347" /><Relationship Type="http://schemas.openxmlformats.org/officeDocument/2006/relationships/slide" Target="/ppt/slides/slide19.xml" Id="Rbaa4f3b2243a472a" /><Relationship Type="http://schemas.openxmlformats.org/officeDocument/2006/relationships/slide" Target="/ppt/slides/slide20.xml" Id="R01988b2c2ecd4636" /><Relationship Type="http://schemas.openxmlformats.org/officeDocument/2006/relationships/slide" Target="/ppt/slides/slide21.xml" Id="R9d272711c7014ad9" /><Relationship Type="http://schemas.openxmlformats.org/officeDocument/2006/relationships/slide" Target="/ppt/slides/slide22.xml" Id="R40549c780f104e00" /><Relationship Type="http://schemas.openxmlformats.org/officeDocument/2006/relationships/slide" Target="/ppt/slides/slide23.xml" Id="Re9f304428ede4039" /><Relationship Type="http://schemas.openxmlformats.org/officeDocument/2006/relationships/slide" Target="/ppt/slides/slide24.xml" Id="Rd1ebb91feb7247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11643e5bc74f6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8222cfebd704241" /><Relationship Type="http://schemas.openxmlformats.org/officeDocument/2006/relationships/notesMaster" Target="/ppt/notesMasters/notesMaster1.xml" Id="R51fb94a120be49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83a3cfa32f46c3" /><Relationship Type="http://schemas.openxmlformats.org/officeDocument/2006/relationships/notesMaster" Target="/ppt/notesMasters/notesMaster1.xml" Id="R035139f354de47a5" /></Relationships>
</file>

<file path=ppt/notesSlides/_rels/notesSlide3.xml.rels>&#65279;<?xml version="1.0" encoding="utf-8"?><Relationships xmlns="http://schemas.openxmlformats.org/package/2006/relationships"><Relationship Type="http://schemas.openxmlformats.org/officeDocument/2006/relationships/slide" Target="/ppt/slides/slide3.xml" Id="R8dd25ae792b34b0f" /><Relationship Type="http://schemas.openxmlformats.org/officeDocument/2006/relationships/notesMaster" Target="/ppt/notesMasters/notesMaster1.xml" Id="R21678075d2f846d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f9c7b17e694923" /><Relationship Type="http://schemas.openxmlformats.org/officeDocument/2006/relationships/notesMaster" Target="/ppt/notesMasters/notesMaster1.xml" Id="Rb6f290fc64cb4d2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8a1516661144904" /><Relationship Type="http://schemas.openxmlformats.org/officeDocument/2006/relationships/notesMaster" Target="/ppt/notesMasters/notesMaster1.xml" Id="Rf0586dcbd55b472c" /></Relationships>
</file>

<file path=ppt/notesSlides/_rels/notesSlide6.xml.rels>&#65279;<?xml version="1.0" encoding="utf-8"?><Relationships xmlns="http://schemas.openxmlformats.org/package/2006/relationships"><Relationship Type="http://schemas.openxmlformats.org/officeDocument/2006/relationships/slide" Target="/ppt/slides/slide6.xml" Id="R98b6bc12bf1d4c16" /><Relationship Type="http://schemas.openxmlformats.org/officeDocument/2006/relationships/notesMaster" Target="/ppt/notesMasters/notesMaster1.xml" Id="Rb3c90c51e50b4cdd" /></Relationships>
</file>

<file path=ppt/notesSlides/_rels/notesSlide7.xml.rels>&#65279;<?xml version="1.0" encoding="utf-8"?><Relationships xmlns="http://schemas.openxmlformats.org/package/2006/relationships"><Relationship Type="http://schemas.openxmlformats.org/officeDocument/2006/relationships/slide" Target="/ppt/slides/slide7.xml" Id="R69e139fa410b4cc7" /><Relationship Type="http://schemas.openxmlformats.org/officeDocument/2006/relationships/notesMaster" Target="/ppt/notesMasters/notesMaster1.xml" Id="R1a8df46ad244407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f242fc3454e47d3" /><Relationship Type="http://schemas.openxmlformats.org/officeDocument/2006/relationships/notesMaster" Target="/ppt/notesMasters/notesMaster1.xml" Id="R4db4c83674f44e93" /></Relationships>
</file>

<file path=ppt/notesSlides/_rels/notesSlide9.xml.rels>&#65279;<?xml version="1.0" encoding="utf-8"?><Relationships xmlns="http://schemas.openxmlformats.org/package/2006/relationships"><Relationship Type="http://schemas.openxmlformats.org/officeDocument/2006/relationships/slide" Target="/ppt/slides/slide9.xml" Id="R776314d57dc64276" /><Relationship Type="http://schemas.openxmlformats.org/officeDocument/2006/relationships/notesMaster" Target="/ppt/notesMasters/notesMaster1.xml" Id="R58e998e055de45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444b5c15cf4cb1" /><Relationship Type="http://schemas.openxmlformats.org/officeDocument/2006/relationships/notesMaster" Target="/ppt/notesMasters/notesMaster1.xml" Id="R52e6b05f7c74426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08314047d0c458f" /><Relationship Type="http://schemas.openxmlformats.org/officeDocument/2006/relationships/notesMaster" Target="/ppt/notesMasters/notesMaster1.xml" Id="Raa2491551938400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0b4cb03e4a8461a" /><Relationship Type="http://schemas.openxmlformats.org/officeDocument/2006/relationships/notesMaster" Target="/ppt/notesMasters/notesMaster1.xml" Id="Rdeba7618d1bf44f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46e18c955184527" /><Relationship Type="http://schemas.openxmlformats.org/officeDocument/2006/relationships/notesMaster" Target="/ppt/notesMasters/notesMaster1.xml" Id="R2bca4e1ef17049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1a74266303a4cdd" /><Relationship Type="http://schemas.openxmlformats.org/officeDocument/2006/relationships/notesMaster" Target="/ppt/notesMasters/notesMaster1.xml" Id="R70f0806bdb5c4b2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b89b151297244ed" /><Relationship Type="http://schemas.openxmlformats.org/officeDocument/2006/relationships/notesMaster" Target="/ppt/notesMasters/notesMaster1.xml" Id="R35ca2ec10bcd460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aef389610834f2d" /><Relationship Type="http://schemas.openxmlformats.org/officeDocument/2006/relationships/notesMaster" Target="/ppt/notesMasters/notesMaster1.xml" Id="Rad37d391ae4f4559"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ae2f2250e034aed" /><Relationship Type="http://schemas.openxmlformats.org/officeDocument/2006/relationships/notesMaster" Target="/ppt/notesMasters/notesMaster1.xml" Id="Rd80aae5c76754d6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470934e1826446d" /><Relationship Type="http://schemas.openxmlformats.org/officeDocument/2006/relationships/notesMaster" Target="/ppt/notesMasters/notesMaster1.xml" Id="R15c3601a3c7f4d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93c434cb1ae84335" /><Relationship Type="http://schemas.openxmlformats.org/officeDocument/2006/relationships/notesMaster" Target="/ppt/notesMasters/notesMaster1.xml" Id="Rd870f4a1466a4fda"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81331d1f49a4465" /><Relationship Type="http://schemas.openxmlformats.org/officeDocument/2006/relationships/notesMaster" Target="/ppt/notesMasters/notesMaster1.xml" Id="R6484f45235754ce1"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57ff136fc6e4dea" /><Relationship Type="http://schemas.openxmlformats.org/officeDocument/2006/relationships/notesMaster" Target="/ppt/notesMasters/notesMaster1.xml" Id="R1b6dc53b485246a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edaa88d0032f4fea" /><Relationship Type="http://schemas.openxmlformats.org/officeDocument/2006/relationships/notesMaster" Target="/ppt/notesMasters/notesMaster1.xml" Id="R94d9958ca6394c9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1d532ef353a451b" /><Relationship Type="http://schemas.openxmlformats.org/officeDocument/2006/relationships/notesMaster" Target="/ppt/notesMasters/notesMaster1.xml" Id="Rbefddbb2c38640b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7bb598addcbb49ab" /><Relationship Type="http://schemas.openxmlformats.org/officeDocument/2006/relationships/notesMaster" Target="/ppt/notesMasters/notesMaster1.xml" Id="R7d9b3500116642a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Welcome. This deck presents the ontology of existence as stated in Madhyasth Darshan, following Section 1 of the study The Ontology of Coexistence. The study is written from a scientist-technologist standpoint, but the darshan is stated on its own terms first. Core claim to land up front: existence is not matter alone, and not one undifferentiated absolute - it is the ever-present togetherness of Omnipotence and countless real units of nature, each saturated in that ground. Everything else in the deck unfolds from this one picture.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Set up the stakes before the answers. The first five questions are the classic ontological battleground - shared with Advaita Vedanta, Western philosophy, and modern science. The sixth is the epistemic question the study also frames: how can what exists be known, and at what scope? Emphasise that Madhyasth Darshan does not answer these piecemeal: one picture (coexistence) answers all six. The epistemic question gets its payoff mid-deck - the epistemic ladder (what must be understood, from the unit alone up to the whole, to know form, gun, svabhav, and dharma), then realisation in coexistence as where the drive terminates - and the closing slide answers it with the staged method: study, experiment and practice, realisation with conduct-evidence. Flag that we will close the loop at the end.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Use this map as the deck’s organising view. Begin with coexistence: Omnipotence and countless units are inseparable without losing their distinction. Follow the unit-side structure through the four aspects, relationships, four orders, and two developmental lines. The body belongs to compositional progression; jeevan is the result of development in an atom. The two meet in the animal and human joint form. T1 marks sentience; T2 and T3 concern awakening and conduct in jeevan.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two-pole structure is the foundation. Key points: Omnipotence is formless, all-pervasive, non-transforming, actionless energy - the translation prints Omnipotence, the study uses Omnipotence. SB lists several names for it (Uniform Energy, Space, Knowledge, Consciousness); caution the audience that Consciousness and Knowledge here do NOT mean a mind that knows - active sentience belongs to jeevan, not to the ground. Second key point: the poles were never separate - separation 'never happens'. Ground is state-complete (state-complete, changeless); saturated nature is state-dynamic (state-dynamic) - so ALL change is unit-activity. The diagram: units are bounded wholes; the distance between them is held in Omnipotence as 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Saturation (samprikt) is the ever-present bond - soaked, submerged, surrounded. The sponge-in-water and cell-in-nutrient images are illustrative, not identities. Stress that Omnipotence does not push units: it is not an efficient cause. Three endowments follow from the bond: recognition capability (complementarity is given, not created - capacity, ability, receptivity), activeness (inherent energy plus basic impulsion; quote 'Unit + Energy fullness = Activeness'), and inherent regulation (order comes from within, not from a cosmic command). Also worth saying aloud: manifestation is mutually dependent - without basic impulsion energy stays unmanifest; without energy no impulsion. Neither pole creates the other's existence, only its manifestation. NEW: the saturation bond itself is knowledge - samprikt, coexistence, and gyan name one fact (MVD pp. 32-33); the three endowments are how gyan is present on the unit side. Attribute mapping: permeative Omnipotence provisions activeness (JV p. 150); transparency in mutuality provisions recognition (SB p. 50); mediativeness provisions regulation (MVD p. 26). INTERPRETATION (settled): in MVD pp. 32-33 the referent of 'yahi... yahi gyan hai' is the saturated STATE - nature submerged, soaked, surrounded in Omnipotence, which the text names coexistence - not a reified 'bond' as a third item. The slide uses the texts' evidence language ('is evident as' - MVD: law and regulation are evident in coexistence only; JV p. 150: the endowments are the testimony of permeative Omnipotence). Avoid 'projects' for the ground - Omnipotence is actionless, and projection (outward) is jeevan's outward activity on slides 11 and 16; avoid predicating reflection of the ground too - the reflector model has the ATOM reflecting Omnipotence (slide 10). the identity claim itself - saturated coexistence IS knowledge, MVD pp. 32-33 - stays as presenter background and in the paper 1.2. If pressed, avoid 'the bond itself is knowledge'. It is an identity claim about the state, plus a separate consequence: from it, every unit has the three endowments. The knowledge identity holds for insentient AND sentient nature (MVD pp. 32-33) - insentient units abide in gyan as the three endowments (law and regulation evident, without knowing); the sentient atom ALONE additionally reflects the ground as active sentience - the capacity to know (the reflector model, slide 10; permeative gyan latent in Omnipotence actualised as chaitanya at T1). Careful wording: Omnipotence does not project - it is actionless; the unit reflects what is ever-present in the ground. What is exclusive to the sentient atom is the reflection of gyan as sentience, not the ground itself - every atom is saturated in and sustained by Omnipotence.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Every unit at every order carries the same four-aspect signature. Walk the grid: form individuates; properties are effects in mutuality (generative, degenerative, mediative); essential nature is how usefulness participates in the unit's order; dharma is what a unit cannot be separated from - and since existence is coexistence, indestructibility is the ultimate dharma. Introduce 'ness' - what makes a unit the kind of unit it is. The state band matters for everything later: natural state moves to development, excited state to decline. Concrete anchor if useful: JV's peepal tree, whose fruits, seeds and leaves all exhibit peepal's properties, intrinsic nature and dharma - definite conduct. Context ladder worth noting: form is graspable from the unit alone; gun needs mutuality; svabhav needs the unit's order; dharma needs the whole - JV: 'dharma is understood on the basis of orderliness' (pp. 120-121), and the ultimate dharma follows from existence being coexistence.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'Nothing is isolated - that is the principle.' Relationships are where complementarity is actualised as value. Draw the contrast carefully: a relationship  has expectations predetermined toward completeness (parent-child); a contact has voluntary expectations (neighbours sharing a wall). Translation note if asked: the published rendering of sampark is 'association'; the translator (Rakesh Gupta) has revised it to 'contact', which the slide uses - cite against either printing accordingly. The neighbours-sharing-a-wall example is the study's illustrative gloss, not primary text. Value  is differentiated: object values (utility and art) operate at every order; jeevan harmonies, human values, relationship values and expression values presuppose the knowledge order. The chain at the bottom is the crucial asymmetry: below the knowledge order, fulfilment is definite (structural, seed, species conformance); humans must ACHIEVE it through knowing, believing, recognising, fulfilling - which is why evaluation and error enter only at our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Four stable orders - stress these are plateaus in development, not a human typology. Read the dharma column cumulatively: each higher order includes the dharmas below and adds one. The pivotal line is the boundary between pran and jeev: hope to live  is where sentience enters - hope is the defining activity of the sentient unit, expressed through mun. Material and pranic orders are insentient; jeevan first appears at the animal order. The knowledge order's six svabhav qualities (fortitude through compassion) are developed as human values. If asked about how orders emerge: that is existential progression, covered on the progressions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completeness drive is built into the design of existence, not an ethic bolted onto matter. Every activity is one inseparable triad - effort, motion, result are three joint aspects, not three sequential steps. Example from SB: sodium and chlorine ions approaching is effort and motion together; the stable salt crystal is the result. Read SB p. 62's compressed chain aloud if time allows - saturation itself is forcefulness, forcefulness is basic impulsion, impulsion is activity, activity is effort-motion-result, and that is development. Each triad term has a teleological goal (restfulness, destination, immortality), and the two atomic paths on the right set up the next slide: the insentient path completes result at T1; the sentient path continues to T2 and T3. NEW: state the drive's span with SB p. 51 - nature is oriented for development and awakening UNTIL realisation in Omnipotence; SB p. 91 calls this bound an existential truth. Role differentiation: development pervades all of nature, awakening occurs in the sentient - insentient units participate by composing bodies and environments without individually completing the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three transitions are developmental milestones mapped to plane shifts. T1: constitutional completeness - immortality of result - sentient jeevan appears; physicochemical to delusional. T2: activity completeness - restfulness of effort - internal cognitive seeking resolves into direct realisation and absolute resolution; delusional to deific. T3: conduct completeness - destination of motion - authentic conduct with living proof; deific to divine. Two cautions from the study: 'delusional' names a developmental stage, not psychiatric illness; and T2's vishram (settlement of internal effort) must not be conflated with the insentient natural-state ease from the unit slide, nor T3 collapsed into T2 - one is internal settlement, the other external destination. NEW: T3 Hindi term corrected to acharanpurnata (both MVD and SB use aacharan purnata; vyavahar purnata appears in neither). Close with the drive statement: the saturated realising the ground it is saturated in - that is the completeness drive.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T1 is the sentience threshold, and it is constitutional rather than neural, molecular, or a position higher on the order chain. The texts describe particle incorporation through hungry and overfull complementarity in a conducive environment; when the required constitution closes, particle count no longer increases or decreases. MVD describes a shift from molecular- and weight-bondage to hope-bondage. The point to retain is textual: the constitutionally complete atom is jeevan, has a finer mode of recognition, and does not decompose with the body.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closes a conceptual gap that can otherwise make the four orders look like a single emergence chain. The body is a pranic composition with organs and brain; jeevan is the constitutionally complete sentient atom. In animal and human living they operate as one joint form. Jeevan knows, decides, experiences, and acts through the bodily instrument. When the joint form ends, the body decomposes while jeevan continues.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Jeevan's structure: atma is the nucleus; buddhi, chitta, vritti, mun are particles in the first through fourth orbits - this is MVD p. 78, and the study insists it is structural, not metaphor. Each faculty works through projection (outward) and reflection (inward) - walk one or two rows of the table, e.g. mun selects and tastes; buddhi resolves and is enlightened; atma authenticates and realises. Two cautions: this five-fold (faculties) must NOT be conflated with the kosha five-fold (developmental sheaths) - they do not align column-to-column. And the delusion structure: on the delusional plane atma is 'I' and the orbital four are 'mine'; awakening is the four coming into accordance with atma. Mistaking the body for the self is the root confusion. NEW: directional reading of the table - reflection (inward) is the knowing direction, the study circuit ratiocination in mun, deliberation in vritti, direct recognition in chitta, enlightenment in buddhi (MVD p. 126), terminating in anubhav in Omnipotence (MVD pp. 286-287); projection (outward) is the evidencing direction, the cascade from anubhav to pramanikta (MVD pp. 99-100). Delusional inversion: circuit driven body-upward, only 4.5 of ten activities effective, believing severed from knowing (JV pp. 73-74). Awakening staged by three statuses of buddhi: chitta-driven, buddhi-driven, atma-disciplined (MVD pp. 278-279).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slide explains the darshan's name. Orderliness is self-regulation - swatah-saspurt - inherent in saturated units, not dispensed by a cosmic governor; MVD p. 26: Omnipotence is mediative, therefore nature saturated in it is regulated and conserved; the nucleus in every atom is the mediative activity. Regulation manifests as law through order-specific conformance modes - definite for the first three orders, achieved for humans through the knowing-believing-recognising-fulfilling chain. Justice enters only where evaluation and error are possible: it is the closure of the full relational cycle - recognise, fulfil values, evaluate, mutual satisfaction (MVD p. 311). Awakened evaluation reorganises refuge under justice, dharma and truth; the lower triad (pleasant, healthy, profitable) stays legitimate in its domain but is subordinated, not abandoned.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Two ladders on this slide, and they meet. LEFT - the scope ladder: what must be understood to know each aspect of a unit. Read bottom-up: form is graspable from the unit alone; properties (gun) need mutuality (they are defined as effects units have on one another); essential nature (svabhav) needs the unit's order; dharma needs the whole - JV: dharma is understood on the basis of orderliness, and the ultimate dharma (indestructibility) follows from a whole-level fact, that existence is coexistence. Note the design choice if anyone compares with the jeevan atom diagram: there, inward means deeper (atma at the nucleus); here, HIGHER means wider context needed - dharma on the top rung is not far from the unit, it is the aspect whose understanding demands the widest horizon. RIGHT - how that knowing actually happens, within jeevan, ascending the faculties by reflection (inward): mun tastes and selects the proposal; vritti deliberates - in humane consciousness, in the refuge of justice, dharma, and truth (JV pp. 138-139); chitta contemplates and visualises - revelation, sakshatkar (JV p. 61); buddhi has enlightenment  - understanding is enlightenment of existence, jeevan, and humane conduct in buddhi (JV p. 120) - and resolve; atma realises - anubhav - and realisation takes place only through truth (MVD p. 137). Then the return arrow: realisation projects back down (outward) as authenticity - pramanikta - evidenced in conduct; MVD p. 101 describes the effects of atma realised in truth registering on the lower faculties. Where the ladders meet: the widest scopes - dharma and truth - are understood as bodh in buddhi and realised as anubhav in atma. The wider the scope of reality to be known, the deeper within jeevan the knowing must go.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This is the telos slide - where the completeness drive terminates. The paper's 1.13 is Realisation in coexistence; the former four-senses taxonomy has been removed from the study - the vocabulary discipline now lives in Editorial Notes and the glossary (gyan names intelligibility in Omnipotence, the saturation bond - not a mind that knows; Realisation Knowledge for orderliness in every unit, 1.1; gyan udghatan for unfolding through awakened jeevan, 1.7; gyan-avastha for the fourth order, 1.5). Walk the slide: intro states the termination - not Omnipotence becoming a knower, but awakened jeevan enacting what was latent in the bond; realisation itself is the form of awakening, and recognition and fulfilment then constitute authenticity (SB p. 81). Card 1: realisation is anand - verity chain, MVD pp. 14-15 - and knowledge itself, since what is realised is the ground the unit was always saturated in. Cards 2-4: the AVD p. 217 identity - knowledge in projection (authenticity: gyan-vivek-vigyan, unfolding as gyan udghatan), knower in reflection (jeevan full of realisation; buddhi's reflection toward atma yields atma-bodh and realisation in coexistence together, MVD pp. 286-287), knowable as existence (nature saturated in Omnipotence). Guardrail: uniformity of knowledge, knower, and knowable in coexistence names coordinated roles in one bond - NOT merger into a universal knower; the knower remains distinct jeevan. This is the hinge against the Advaita chit reading (paper 5.6).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The culmination slide - give it time and let it land. The drive that opened on slide 8 in every atom ends here, in people. Effort settled in realisation is T2 (restfulness of effort, anubhav); understanding proven in daily conduct is T3. The four goals land at their four levels: resolution in every person, prosperity in every family (samriddhi), fearlessness and trust in society (abhay), coexistence with all of nature (sah-astitva). An undivided society  in universal orderliness is their composed form. Tradition: each generation raised into the same understanding through education-sanskar - the humane tradition  that carries on. Highlight the design point: this is not an ideal bolted onto matter - the ontology is such that the progression is designed to arrive here. Development is definite, laws inherent to being (MVD p. 5); the three completenesses are designed stages toward which units are meant (SB pp. 50-52); the drive is built into the design of existence (paper 1.6); nature saturated in Omnipotence is bound for development until realisation in Omnipotence (SB pp. 51, 91). An awakened human tradition is what existence's own progression delivers. Close the arc: what is saturated in the ground has come to realise the ground, and the whole of nature stands fulfilled and evident in coexistence (SB pp. 51, 81; JV p. 61; MVD pp. 14-15).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indent="0" algn="l">
              <a:spcBef>
                <a:spcPts val="0"/>
              </a:spcBef>
              <a:spcAft>
                <a:spcPts val="0"/>
              </a:spcAft>
              <a:buNone/>
            </a:pPr>
            <a:r>
              <a:t>Close the loop on the opening questions. Existence is the eternal coexistence of Omnipotence and units; what exists is Omnipotence plus countable units; nothing existent begins - only configurations; jeevan is constitutionally immortal and does not end with the body; the world is real and perpetual; and it is known through staged study, experiment and practice, and realisation with conduct-evidence - with the epistemic ladder adding the scope answer: form known from the unit alone, properties in mutuality, essential nature in its order, dharma against the whole, truth on the basis of existence itself. Land the final line: the darshan's ultimate test is not intellectual assent but pramanikta - lived evidence in humane conduct. If continuing to the companion deck: the next session compares this ontology with Advaita Vedanta, modern philosophy, and modern science - including where each alliance falls and what remains open.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a109901005a4b22" /></Relationships>
</file>

<file path=ppt/slideLayouts/slideLayout1.xml><?xml version="1.0" encoding="utf-8"?>
<p:sldLayout xmlns:p="http://schemas.openxmlformats.org/presentationml/2006/main" matchingName="DEFAULT">
  <p:cSld name="DEFAULT">
    <p:bg>
      <p:bgPr>
        <a:solidFill xmlns:a="http://schemas.openxmlformats.org/drawingml/2006/main">
          <a:schemeClr val="lt1"/>
        </a:solidFill>
      </p:bgPr>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05bc1aa96d648f6" /><Relationship Type="http://schemas.openxmlformats.org/officeDocument/2006/relationships/slideLayout" Target="/ppt/slideLayouts/slideLayout1.xml" Id="Rc146bc67c4fa4dd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c146bc67c4fa4dd1"/>
  </p:sldLayoutIdLst>
  <p:hf sldNum="0" hdr="0" ftr="0" dt="0"/>
  <p:txStyles>
    <p:title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1pPr>
      <a:lvl2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2pPr>
      <a:lvl3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3pPr>
      <a:lvl4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4pPr>
      <a:lvl5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5pPr>
      <a:lvl6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6pPr>
      <a:lvl7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7pPr>
      <a:lvl8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8pPr>
      <a:lvl9pPr xmlns:a="http://schemas.openxmlformats.org/drawingml/2006/main" algn="l">
        <a:lnSpc>
          <a:spcPct val="100000"/>
        </a:lnSpc>
        <a:spcBef>
          <a:spcPts val="0"/>
        </a:spcBef>
        <a:spcAft>
          <a:spcPts val="0"/>
        </a:spcAft>
        <a:buNone/>
        <a:defRPr sz="1400" b="0" i="0" u="non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64061f24624f4d" /><Relationship Type="http://schemas.openxmlformats.org/officeDocument/2006/relationships/notesSlide" Target="/ppt/notesSlides/notesSlide1.xml" Id="R16e6544817b74373"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eeaead6e97f4461" /><Relationship Type="http://schemas.openxmlformats.org/officeDocument/2006/relationships/notesSlide" Target="/ppt/notesSlides/notesSlide2.xml" Id="R5c4e04bcbb1c4c0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0cc3625b3e64270" /><Relationship Type="http://schemas.openxmlformats.org/officeDocument/2006/relationships/image" Target="/ppt/media/image.png" Id="Rddb9d766f3714bac" /><Relationship Type="http://schemas.openxmlformats.org/officeDocument/2006/relationships/notesSlide" Target="/ppt/notesSlides/notesSlide3.xml" Id="R1dc524251ee040e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60aa90a4277492d" /><Relationship Type="http://schemas.openxmlformats.org/officeDocument/2006/relationships/image" Target="/ppt/media/image2.png" Id="R61b7c944b53e42ef" /><Relationship Type="http://schemas.openxmlformats.org/officeDocument/2006/relationships/notesSlide" Target="/ppt/notesSlides/notesSlide4.xml" Id="R10a9de234a8d40e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5ff24bf49484032" /><Relationship Type="http://schemas.openxmlformats.org/officeDocument/2006/relationships/notesSlide" Target="/ppt/notesSlides/notesSlide5.xml" Id="R06c9c7587d25477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b1bdd2435d94538" /><Relationship Type="http://schemas.openxmlformats.org/officeDocument/2006/relationships/image" Target="/ppt/media/image3.png" Id="Rd154b8aa4131482a" /><Relationship Type="http://schemas.openxmlformats.org/officeDocument/2006/relationships/image" Target="/ppt/media/image4.png" Id="Rc5eb85f55fd6457a" /><Relationship Type="http://schemas.openxmlformats.org/officeDocument/2006/relationships/image" Target="/ppt/media/image5.png" Id="R84f61d41cc954bd3" /><Relationship Type="http://schemas.openxmlformats.org/officeDocument/2006/relationships/notesSlide" Target="/ppt/notesSlides/notesSlide6.xml" Id="R2daec472d5d1400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ea5edf94d07416a" /><Relationship Type="http://schemas.openxmlformats.org/officeDocument/2006/relationships/notesSlide" Target="/ppt/notesSlides/notesSlide7.xml" Id="R8cdb5d67fee04c1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643a07765ba402f" /><Relationship Type="http://schemas.openxmlformats.org/officeDocument/2006/relationships/notesSlide" Target="/ppt/notesSlides/notesSlide8.xml" Id="Rddffcfe0941442f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b8149245996c40f0" /><Relationship Type="http://schemas.openxmlformats.org/officeDocument/2006/relationships/notesSlide" Target="/ppt/notesSlides/notesSlide9.xml" Id="Ra629d749de6b4d0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a001dc2a964a4265" /><Relationship Type="http://schemas.openxmlformats.org/officeDocument/2006/relationships/notesSlide" Target="/ppt/notesSlides/notesSlide10.xml" Id="Rdfaded5bd4be466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c3e9352ba644c12" /><Relationship Type="http://schemas.openxmlformats.org/officeDocument/2006/relationships/notesSlide" Target="/ppt/notesSlides/notesSlide11.xml" Id="R95a82f7cefc442b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133f0846849414e" /><Relationship Type="http://schemas.openxmlformats.org/officeDocument/2006/relationships/notesSlide" Target="/ppt/notesSlides/notesSlide12.xml" Id="R73432426cbe44c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0a9864ec5a0446f" /><Relationship Type="http://schemas.openxmlformats.org/officeDocument/2006/relationships/notesSlide" Target="/ppt/notesSlides/notesSlide13.xml" Id="Raae0de8cf0374bc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f0c7b3cc368482d" /><Relationship Type="http://schemas.openxmlformats.org/officeDocument/2006/relationships/notesSlide" Target="/ppt/notesSlides/notesSlide14.xml" Id="R8c71609205744e7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c00e3b4c8b3e4851" /><Relationship Type="http://schemas.openxmlformats.org/officeDocument/2006/relationships/notesSlide" Target="/ppt/notesSlides/notesSlide15.xml" Id="R4620e06dcf634d0f"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2f2faf349ddb4785" /><Relationship Type="http://schemas.openxmlformats.org/officeDocument/2006/relationships/notesSlide" Target="/ppt/notesSlides/notesSlide16.xml" Id="Rc64b1d99e6344b20"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49f64f2d39934c4a" /><Relationship Type="http://schemas.openxmlformats.org/officeDocument/2006/relationships/notesSlide" Target="/ppt/notesSlides/notesSlide17.xml" Id="R85130246e529431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5e45f88da314d30" /><Relationship Type="http://schemas.openxmlformats.org/officeDocument/2006/relationships/notesSlide" Target="/ppt/notesSlides/notesSlide18.xml" Id="R4e3a00d7b676462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15bb67564774b69" /><Relationship Type="http://schemas.openxmlformats.org/officeDocument/2006/relationships/notesSlide" Target="/ppt/notesSlides/notesSlide19.xml" Id="R665362388a1845f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15c779773e04afc" /><Relationship Type="http://schemas.openxmlformats.org/officeDocument/2006/relationships/notesSlide" Target="/ppt/notesSlides/notesSlide20.xml" Id="Rbe46cd158407436b"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f31f6157dbe841b0" /><Relationship Type="http://schemas.openxmlformats.org/officeDocument/2006/relationships/notesSlide" Target="/ppt/notesSlides/notesSlide21.xml" Id="Rbbab63940c41429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6943a512bfb4277" /><Relationship Type="http://schemas.openxmlformats.org/officeDocument/2006/relationships/notesSlide" Target="/ppt/notesSlides/notesSlide22.xml" Id="Rdd40bf6b6a354f67"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a0e482524d54109" /><Relationship Type="http://schemas.openxmlformats.org/officeDocument/2006/relationships/notesSlide" Target="/ppt/notesSlides/notesSlide23.xml" Id="R4737ba8f3345460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ec96f59f8f64bd3" /><Relationship Type="http://schemas.openxmlformats.org/officeDocument/2006/relationships/notesSlide" Target="/ppt/notesSlides/notesSlide24.xml" Id="Rc2592c3bda5442fb" /></Relationships>
</file>

<file path=ppt/slides/slide1.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16" name="Google Shape;16;p3">
            <a:extLst xmlns:a="http://schemas.openxmlformats.org/drawingml/2006/main">
              <a:ext uri="{FF2B5EF4-FFF2-40B4-BE49-F238E27FC236}">
                <a16:creationId xmlns:a16="http://schemas.microsoft.com/office/drawing/2014/main" id="{C4A09A56-C06A-4DA2-845C-533692C8CBAB}"/>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 name="Google Shape;17;p3">
            <a:extLst xmlns:a="http://schemas.openxmlformats.org/drawingml/2006/main">
              <a:ext uri="{FF2B5EF4-FFF2-40B4-BE49-F238E27FC236}">
                <a16:creationId xmlns:a16="http://schemas.microsoft.com/office/drawing/2014/main" id="{A3B3B8E0-C007-453E-9484-36F06E0A35B0}"/>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 name="Google Shape;18;p3">
            <a:extLst xmlns:a="http://schemas.openxmlformats.org/drawingml/2006/main">
              <a:ext uri="{FF2B5EF4-FFF2-40B4-BE49-F238E27FC236}">
                <a16:creationId xmlns:a16="http://schemas.microsoft.com/office/drawing/2014/main" id="{B4A6DC73-9DD4-429B-836E-5E745E260B3C}"/>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 name="Google Shape;19;p3">
            <a:extLst xmlns:a="http://schemas.openxmlformats.org/drawingml/2006/main">
              <a:ext uri="{FF2B5EF4-FFF2-40B4-BE49-F238E27FC236}">
                <a16:creationId xmlns:a16="http://schemas.microsoft.com/office/drawing/2014/main" id="{B0BD0DFE-9DD6-46B4-B39A-9F4A0F1D31A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 name="Google Shape;20;p3">
            <a:extLst xmlns:a="http://schemas.openxmlformats.org/drawingml/2006/main">
              <a:ext uri="{FF2B5EF4-FFF2-40B4-BE49-F238E27FC236}">
                <a16:creationId xmlns:a16="http://schemas.microsoft.com/office/drawing/2014/main" id="{9219F2CE-12E2-48B8-AB73-64455BBD2244}"/>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 name="Google Shape;21;p3">
            <a:extLst xmlns:a="http://schemas.openxmlformats.org/drawingml/2006/main">
              <a:ext uri="{FF2B5EF4-FFF2-40B4-BE49-F238E27FC236}">
                <a16:creationId xmlns:a16="http://schemas.microsoft.com/office/drawing/2014/main" id="{D0EB3553-BDD7-423A-9C51-AA29ECAF64A1}"/>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 name="Google Shape;22;p3">
            <a:extLst xmlns:a="http://schemas.openxmlformats.org/drawingml/2006/main">
              <a:ext uri="{FF2B5EF4-FFF2-40B4-BE49-F238E27FC236}">
                <a16:creationId xmlns:a16="http://schemas.microsoft.com/office/drawing/2014/main" id="{E21ECBEE-405E-4661-9F92-E8EC229F4351}"/>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 name="Google Shape;23;p3">
            <a:extLst xmlns:a="http://schemas.openxmlformats.org/drawingml/2006/main">
              <a:ext uri="{FF2B5EF4-FFF2-40B4-BE49-F238E27FC236}">
                <a16:creationId xmlns:a16="http://schemas.microsoft.com/office/drawing/2014/main" id="{80F686B5-B839-4741-8B8A-BAF484A45156}"/>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 name="Google Shape;24;p3">
            <a:extLst xmlns:a="http://schemas.openxmlformats.org/drawingml/2006/main">
              <a:ext uri="{FF2B5EF4-FFF2-40B4-BE49-F238E27FC236}">
                <a16:creationId xmlns:a16="http://schemas.microsoft.com/office/drawing/2014/main" id="{80984AF5-2DA3-4FAF-A8C0-E7AAD625025C}"/>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 name="Google Shape;25;p3">
            <a:extLst xmlns:a="http://schemas.openxmlformats.org/drawingml/2006/main">
              <a:ext uri="{FF2B5EF4-FFF2-40B4-BE49-F238E27FC236}">
                <a16:creationId xmlns:a16="http://schemas.microsoft.com/office/drawing/2014/main" id="{A3539AB9-47D1-454A-A911-B689860E8D5D}"/>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MADHYASTH DARSHAN  ·  CO-EXISTENTIALISM</a:t>
            </a:r>
          </a:p>
        </p:txBody>
      </p:sp>
      <p:sp>
        <p:nvSpPr>
          <p:cNvPr id="26" name="Google Shape;26;p3">
            <a:extLst xmlns:a="http://schemas.openxmlformats.org/drawingml/2006/main">
              <a:ext uri="{FF2B5EF4-FFF2-40B4-BE49-F238E27FC236}">
                <a16:creationId xmlns:a16="http://schemas.microsoft.com/office/drawing/2014/main" id="{4259BFF1-9363-47E1-A6AB-E6AA2B108E5B}"/>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The Ontology of Existence</a:t>
            </a:r>
          </a:p>
        </p:txBody>
      </p:sp>
      <p:sp>
        <p:nvSpPr>
          <p:cNvPr id="27" name="Google Shape;27;p3">
            <a:extLst xmlns:a="http://schemas.openxmlformats.org/drawingml/2006/main">
              <a:ext uri="{FF2B5EF4-FFF2-40B4-BE49-F238E27FC236}">
                <a16:creationId xmlns:a16="http://schemas.microsoft.com/office/drawing/2014/main" id="{CAE154C3-CDBC-46AC-A25E-B0B4D1C3AFFE}"/>
              </a:ext>
            </a:extLst>
          </p:cNvPr>
          <p:cNvSpPr>
            <a:spLocks xmlns:a="http://schemas.openxmlformats.org/drawingml/2006/main" noGrp="1"/>
          </p:cNvSpPr>
          <p:nvPr/>
        </p:nvSpPr>
        <p:spPr>
          <a:xfrm xmlns:a="http://schemas.openxmlformats.org/drawingml/2006/main">
            <a:off x="640080" y="288036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Existence understood as coexistence — nature saturated in Omnipotence</a:t>
            </a:r>
          </a:p>
        </p:txBody>
      </p:sp>
      <p:sp>
        <p:nvSpPr>
          <p:cNvPr id="28" name="Google Shape;28;p3">
            <a:extLst xmlns:a="http://schemas.openxmlformats.org/drawingml/2006/main">
              <a:ext uri="{FF2B5EF4-FFF2-40B4-BE49-F238E27FC236}">
                <a16:creationId xmlns:a16="http://schemas.microsoft.com/office/drawing/2014/main" id="{D92F3F00-883E-4EC5-B822-4D33B8064E98}"/>
              </a:ext>
            </a:extLst>
          </p:cNvPr>
          <p:cNvSpPr>
            <a:spLocks xmlns:a="http://schemas.openxmlformats.org/drawingml/2006/main" noGrp="1"/>
          </p:cNvSpPr>
          <p:nvPr/>
        </p:nvSpPr>
        <p:spPr>
          <a:xfrm xmlns:a="http://schemas.openxmlformats.org/drawingml/2006/main">
            <a:off x="640080" y="416052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Based on §1 of </a:t>
            </a:r>
            <a:r>
              <a:rPr sz="1150" b="0" i="1" u="none" cap="none">
                <a:solidFill>
                  <a:srgbClr val="8E9BC4"/>
                </a:solidFill>
                <a:latin typeface="Calibri"/>
                <a:ea typeface="Calibri"/>
                <a:cs typeface="Calibri"/>
              </a:rPr>
              <a:t>The Ontology of Coexistence</a:t>
            </a:r>
            <a:r>
              <a:rPr sz="1150" b="0" i="0" u="none" cap="none">
                <a:solidFill>
                  <a:srgbClr val="8E9BC4"/>
                </a:solidFill>
                <a:latin typeface="Calibri"/>
                <a:ea typeface="Calibri"/>
                <a:cs typeface="Calibri"/>
              </a:rPr>
              <a:t> (AnalyticMadhyasthDarshan.org)</a:t>
            </a:r>
          </a:p>
        </p:txBody>
      </p:sp>
      <p:sp>
        <p:nvSpPr>
          <p:cNvPr id="29" name="Google Shape;29;p3">
            <a:extLst xmlns:a="http://schemas.openxmlformats.org/drawingml/2006/main">
              <a:ext uri="{FF2B5EF4-FFF2-40B4-BE49-F238E27FC236}">
                <a16:creationId xmlns:a16="http://schemas.microsoft.com/office/drawing/2014/main" id="{73567D25-621A-40E3-9A8D-B8ED3CD990BC}"/>
              </a:ext>
            </a:extLst>
          </p:cNvPr>
          <p:cNvSpPr>
            <a:spLocks xmlns:a="http://schemas.openxmlformats.org/drawingml/2006/main" noGrp="1"/>
          </p:cNvSpPr>
          <p:nvPr/>
        </p:nvSpPr>
        <p:spPr>
          <a:xfrm xmlns:a="http://schemas.openxmlformats.org/drawingml/2006/main">
            <a:off x="640080" y="4434840"/>
            <a:ext cx="5303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Primary texts of Shri A. Nagraj — MVD · KD · SB · JV (tr. Rakesh Gupta)</a:t>
            </a:r>
          </a:p>
        </p:txBody>
      </p:sp>
    </p:spTree>
    <p:extLst>
      <p:ext uri="{BB962C8B-B14F-4D97-AF65-F5344CB8AC3E}">
        <p14:creationId xmlns:p14="http://schemas.microsoft.com/office/powerpoint/2010/main" val="27460302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407FB59B-0731-4A56-B8E6-A8B8541F6E4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7A5D4389-AEF0-4FF7-8BFB-3657F16B2E3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82B3B729-524D-490A-B013-78C3F9E43A3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2459094A-77C2-49CC-A82C-F47E70C3977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ORIENTATION</a:t>
            </a:r>
          </a:p>
        </p:txBody>
      </p:sp>
      <p:sp>
        <p:nvSpPr>
          <p:cNvPr id="39" name="Google Shape;39;p4">
            <a:extLst xmlns:a="http://schemas.openxmlformats.org/drawingml/2006/main">
              <a:ext uri="{FF2B5EF4-FFF2-40B4-BE49-F238E27FC236}">
                <a16:creationId xmlns:a16="http://schemas.microsoft.com/office/drawing/2014/main" id="{C0E8F0C6-D5F4-4C8B-80DF-D0AB102FD0B2}"/>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Argument in Three Movements</a:t>
            </a:r>
          </a:p>
        </p:txBody>
      </p:sp>
      <p:sp>
        <p:nvSpPr>
          <p:cNvPr id="40" name="Google Shape;40;p4">
            <a:extLst xmlns:a="http://schemas.openxmlformats.org/drawingml/2006/main">
              <a:ext uri="{FF2B5EF4-FFF2-40B4-BE49-F238E27FC236}">
                <a16:creationId xmlns:a16="http://schemas.microsoft.com/office/drawing/2014/main" id="{6EB86215-B35D-46A3-BBEC-975674A3FFEB}"/>
              </a:ext>
            </a:extLst>
          </p:cNvPr>
          <p:cNvSpPr>
            <a:spLocks xmlns:a="http://schemas.openxmlformats.org/drawingml/2006/main" noGrp="1"/>
          </p:cNvSpPr>
          <p:nvPr/>
        </p:nvSpPr>
        <p:spPr>
          <a:xfrm xmlns:a="http://schemas.openxmlformats.org/drawingml/2006/main">
            <a:off x="640080" y="13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1</a:t>
            </a:r>
          </a:p>
        </p:txBody>
      </p:sp>
      <p:sp>
        <p:nvSpPr>
          <p:cNvPr id="42" name="Google Shape;42;p4">
            <a:extLst xmlns:a="http://schemas.openxmlformats.org/drawingml/2006/main">
              <a:ext uri="{FF2B5EF4-FFF2-40B4-BE49-F238E27FC236}">
                <a16:creationId xmlns:a16="http://schemas.microsoft.com/office/drawing/2014/main" id="{A0471FC0-99A0-41F6-B54F-83FC6A43A62D}"/>
              </a:ext>
            </a:extLst>
          </p:cNvPr>
          <p:cNvSpPr>
            <a:spLocks xmlns:a="http://schemas.openxmlformats.org/drawingml/2006/main" noGrp="1"/>
          </p:cNvSpPr>
          <p:nvPr/>
        </p:nvSpPr>
        <p:spPr>
          <a:xfrm xmlns:a="http://schemas.openxmlformats.org/drawingml/2006/main">
            <a:off x="1188720" y="12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real, and how it is ordered  —  coexistence is the bond of an all-pervasive ground and countable units; each unit has form, properties, essential nature, and dharma, and nature appears in four orders.</a:t>
            </a:r>
          </a:p>
        </p:txBody>
      </p:sp>
      <p:sp>
        <p:nvSpPr>
          <p:cNvPr id="43" name="Google Shape;43;p4">
            <a:extLst xmlns:a="http://schemas.openxmlformats.org/drawingml/2006/main">
              <a:ext uri="{FF2B5EF4-FFF2-40B4-BE49-F238E27FC236}">
                <a16:creationId xmlns:a16="http://schemas.microsoft.com/office/drawing/2014/main" id="{BB717CE8-BFA3-4DC4-B52C-38F268D47F1A}"/>
              </a:ext>
            </a:extLst>
          </p:cNvPr>
          <p:cNvSpPr>
            <a:spLocks xmlns:a="http://schemas.openxmlformats.org/drawingml/2006/main" noGrp="1"/>
          </p:cNvSpPr>
          <p:nvPr/>
        </p:nvSpPr>
        <p:spPr>
          <a:xfrm xmlns:a="http://schemas.openxmlformats.org/drawingml/2006/main">
            <a:off x="640080" y="235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2</a:t>
            </a:r>
          </a:p>
        </p:txBody>
      </p:sp>
      <p:sp>
        <p:nvSpPr>
          <p:cNvPr id="45" name="Google Shape;45;p4">
            <a:extLst xmlns:a="http://schemas.openxmlformats.org/drawingml/2006/main">
              <a:ext uri="{FF2B5EF4-FFF2-40B4-BE49-F238E27FC236}">
                <a16:creationId xmlns:a16="http://schemas.microsoft.com/office/drawing/2014/main" id="{57583903-856B-4342-A7DB-D8B6204C5357}"/>
              </a:ext>
            </a:extLst>
          </p:cNvPr>
          <p:cNvSpPr>
            <a:spLocks xmlns:a="http://schemas.openxmlformats.org/drawingml/2006/main" noGrp="1"/>
          </p:cNvSpPr>
          <p:nvPr/>
        </p:nvSpPr>
        <p:spPr>
          <a:xfrm xmlns:a="http://schemas.openxmlformats.org/drawingml/2006/main">
            <a:off x="1188720" y="231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two developmental lines proceed  —  compositional progression forms larger material and living configurations, while development in the atom can reach constitutional completeness as sentient jeevan. Every activity is effort–motion–result.</a:t>
            </a:r>
          </a:p>
        </p:txBody>
      </p:sp>
      <p:sp>
        <p:nvSpPr>
          <p:cNvPr id="46" name="Google Shape;46;p4">
            <a:extLst xmlns:a="http://schemas.openxmlformats.org/drawingml/2006/main">
              <a:ext uri="{FF2B5EF4-FFF2-40B4-BE49-F238E27FC236}">
                <a16:creationId xmlns:a16="http://schemas.microsoft.com/office/drawing/2014/main" id="{7A31A1C1-232D-437F-9F09-EB6EDF36DBF9}"/>
              </a:ext>
            </a:extLst>
          </p:cNvPr>
          <p:cNvSpPr>
            <a:spLocks xmlns:a="http://schemas.openxmlformats.org/drawingml/2006/main" noGrp="1"/>
          </p:cNvSpPr>
          <p:nvPr/>
        </p:nvSpPr>
        <p:spPr>
          <a:xfrm xmlns:a="http://schemas.openxmlformats.org/drawingml/2006/main">
            <a:off x="640080" y="340000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FFFFFF"/>
                </a:solidFill>
                <a:latin typeface="Calibri"/>
                <a:ea typeface="Calibri"/>
                <a:cs typeface="Calibri"/>
              </a:rPr>
              <a:t>3</a:t>
            </a:r>
          </a:p>
        </p:txBody>
      </p:sp>
      <p:sp>
        <p:nvSpPr>
          <p:cNvPr id="48" name="Google Shape;48;p4">
            <a:extLst xmlns:a="http://schemas.openxmlformats.org/drawingml/2006/main">
              <a:ext uri="{FF2B5EF4-FFF2-40B4-BE49-F238E27FC236}">
                <a16:creationId xmlns:a16="http://schemas.microsoft.com/office/drawing/2014/main" id="{6099E903-1DDB-4E54-A3AF-ADBD4D936960}"/>
              </a:ext>
            </a:extLst>
          </p:cNvPr>
          <p:cNvSpPr>
            <a:spLocks xmlns:a="http://schemas.openxmlformats.org/drawingml/2006/main" noGrp="1"/>
          </p:cNvSpPr>
          <p:nvPr/>
        </p:nvSpPr>
        <p:spPr>
          <a:xfrm xmlns:a="http://schemas.openxmlformats.org/drawingml/2006/main">
            <a:off x="1188720" y="3363424"/>
            <a:ext cx="7406640" cy="7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sentient living becomes awakened conduct  —  the human joint form, jeevan’s faculties and activities, the four harmonies, evaluation, realisation, and participation in humane order.</a:t>
            </a:r>
          </a:p>
        </p:txBody>
      </p:sp>
      <p:sp>
        <p:nvSpPr>
          <p:cNvPr id="58" name="Google Shape;58;p4">
            <a:extLst xmlns:a="http://schemas.openxmlformats.org/drawingml/2006/main">
              <a:ext uri="{FF2B5EF4-FFF2-40B4-BE49-F238E27FC236}">
                <a16:creationId xmlns:a16="http://schemas.microsoft.com/office/drawing/2014/main" id="{1BA00983-6D0E-4A72-A441-1F23D636A89B}"/>
              </a:ext>
            </a:extLst>
          </p:cNvPr>
          <p:cNvSpPr>
            <a:spLocks xmlns:a="http://schemas.openxmlformats.org/drawingml/2006/main" noGrp="1"/>
          </p:cNvSpPr>
          <p:nvPr/>
        </p:nvSpPr>
        <p:spPr>
          <a:xfrm xmlns:a="http://schemas.openxmlformats.org/drawingml/2006/main">
            <a:off x="1188720" y="4450000"/>
            <a:ext cx="740664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One claim — existence is coexistence — carried through three movements. The body’s compositional line and jeevan’s atomic line meet in animal and human living without becoming the same process.</a:t>
            </a:r>
          </a:p>
        </p:txBody>
      </p:sp>
    </p:spTree>
    <p:extLst>
      <p:ext uri="{BB962C8B-B14F-4D97-AF65-F5344CB8AC3E}">
        <p14:creationId xmlns:p14="http://schemas.microsoft.com/office/powerpoint/2010/main" val="644678258"/>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5" name="Google Shape;35;p4">
            <a:extLst xmlns:a="http://schemas.openxmlformats.org/drawingml/2006/main">
              <a:ext uri="{FF2B5EF4-FFF2-40B4-BE49-F238E27FC236}">
                <a16:creationId xmlns:a16="http://schemas.microsoft.com/office/drawing/2014/main" id="{8FCCB266-5F40-440C-BF26-D18600A574D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6" name="Google Shape;36;p4">
            <a:extLst xmlns:a="http://schemas.openxmlformats.org/drawingml/2006/main">
              <a:ext uri="{FF2B5EF4-FFF2-40B4-BE49-F238E27FC236}">
                <a16:creationId xmlns:a16="http://schemas.microsoft.com/office/drawing/2014/main" id="{95DE7DFC-35F1-4422-8047-7D76784C85A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 name="Google Shape;37;p4">
            <a:extLst xmlns:a="http://schemas.openxmlformats.org/drawingml/2006/main">
              <a:ext uri="{FF2B5EF4-FFF2-40B4-BE49-F238E27FC236}">
                <a16:creationId xmlns:a16="http://schemas.microsoft.com/office/drawing/2014/main" id="{64EBE0E3-0739-41BD-9183-9130958E8821}"/>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 name="Google Shape;38;p4">
            <a:extLst xmlns:a="http://schemas.openxmlformats.org/drawingml/2006/main">
              <a:ext uri="{FF2B5EF4-FFF2-40B4-BE49-F238E27FC236}">
                <a16:creationId xmlns:a16="http://schemas.microsoft.com/office/drawing/2014/main" id="{66B2D2AE-D123-43B5-B043-91CB3C41450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FRAMING</a:t>
            </a:r>
          </a:p>
        </p:txBody>
      </p:sp>
      <p:sp>
        <p:nvSpPr>
          <p:cNvPr id="39" name="Google Shape;39;p4">
            <a:extLst xmlns:a="http://schemas.openxmlformats.org/drawingml/2006/main">
              <a:ext uri="{FF2B5EF4-FFF2-40B4-BE49-F238E27FC236}">
                <a16:creationId xmlns:a16="http://schemas.microsoft.com/office/drawing/2014/main" id="{4E7EAFE0-2838-4A32-8F3F-767921EF30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Questions Ontology Must Answer</a:t>
            </a:r>
          </a:p>
        </p:txBody>
      </p:sp>
      <p:sp>
        <p:nvSpPr>
          <p:cNvPr id="40" name="Google Shape;40;p4">
            <a:extLst xmlns:a="http://schemas.openxmlformats.org/drawingml/2006/main">
              <a:ext uri="{FF2B5EF4-FFF2-40B4-BE49-F238E27FC236}">
                <a16:creationId xmlns:a16="http://schemas.microsoft.com/office/drawing/2014/main" id="{9D78BA76-8420-442B-A4F2-E3B5D8E34AEC}"/>
              </a:ext>
            </a:extLst>
          </p:cNvPr>
          <p:cNvSpPr>
            <a:spLocks xmlns:a="http://schemas.openxmlformats.org/drawingml/2006/main" noGrp="1"/>
          </p:cNvSpPr>
          <p:nvPr/>
        </p:nvSpPr>
        <p:spPr>
          <a:xfrm xmlns:a="http://schemas.openxmlformats.org/drawingml/2006/main">
            <a:off x="640080" y="122529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1" name="Google Shape;41;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1320394"/>
            <a:ext cx="175565" cy="175565"/>
          </a:xfrm>
          <a:prstGeom xmlns:a="http://schemas.openxmlformats.org/drawingml/2006/main" prst="rect">
            <a:avLst/>
          </a:prstGeom>
          <a:ln xmlns:a="http://schemas.openxmlformats.org/drawingml/2006/main">
            <a:noFill/>
          </a:ln>
        </p:spPr>
      </p:pic>
      <p:sp>
        <p:nvSpPr>
          <p:cNvPr id="42" name="Google Shape;42;p4">
            <a:extLst xmlns:a="http://schemas.openxmlformats.org/drawingml/2006/main">
              <a:ext uri="{FF2B5EF4-FFF2-40B4-BE49-F238E27FC236}">
                <a16:creationId xmlns:a16="http://schemas.microsoft.com/office/drawing/2014/main" id="{29D47B3C-2046-4A1E-AB81-7E472FEF3DF1}"/>
              </a:ext>
            </a:extLst>
          </p:cNvPr>
          <p:cNvSpPr>
            <a:spLocks xmlns:a="http://schemas.openxmlformats.org/drawingml/2006/main" noGrp="1"/>
          </p:cNvSpPr>
          <p:nvPr/>
        </p:nvSpPr>
        <p:spPr>
          <a:xfrm xmlns:a="http://schemas.openxmlformats.org/drawingml/2006/main">
            <a:off x="1188720" y="118872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is Existence?  —  </a:t>
            </a:r>
            <a:r>
              <a:rPr sz="1300" b="0" i="0" u="none" cap="none">
                <a:solidFill>
                  <a:srgbClr val="5A6377"/>
                </a:solidFill>
                <a:latin typeface="Calibri"/>
                <a:ea typeface="Calibri"/>
                <a:cs typeface="Calibri"/>
              </a:rPr>
              <a:t>Is there one fundamental reality, or many — and how are they related?</a:t>
            </a:r>
          </a:p>
        </p:txBody>
      </p:sp>
      <p:sp>
        <p:nvSpPr>
          <p:cNvPr id="43" name="Google Shape;43;p4">
            <a:extLst xmlns:a="http://schemas.openxmlformats.org/drawingml/2006/main">
              <a:ext uri="{FF2B5EF4-FFF2-40B4-BE49-F238E27FC236}">
                <a16:creationId xmlns:a16="http://schemas.microsoft.com/office/drawing/2014/main" id="{AA41F947-8974-42FA-960E-787E9A0814E7}"/>
              </a:ext>
            </a:extLst>
          </p:cNvPr>
          <p:cNvSpPr>
            <a:spLocks xmlns:a="http://schemas.openxmlformats.org/drawingml/2006/main" noGrp="1"/>
          </p:cNvSpPr>
          <p:nvPr/>
        </p:nvSpPr>
        <p:spPr>
          <a:xfrm xmlns:a="http://schemas.openxmlformats.org/drawingml/2006/main">
            <a:off x="640080" y="1792224"/>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4" name="Google Shape;44;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1887322"/>
            <a:ext cx="175565" cy="175565"/>
          </a:xfrm>
          <a:prstGeom xmlns:a="http://schemas.openxmlformats.org/drawingml/2006/main" prst="rect">
            <a:avLst/>
          </a:prstGeom>
          <a:ln xmlns:a="http://schemas.openxmlformats.org/drawingml/2006/main">
            <a:noFill/>
          </a:ln>
        </p:spPr>
      </p:pic>
      <p:sp>
        <p:nvSpPr>
          <p:cNvPr id="45" name="Google Shape;45;p4">
            <a:extLst xmlns:a="http://schemas.openxmlformats.org/drawingml/2006/main">
              <a:ext uri="{FF2B5EF4-FFF2-40B4-BE49-F238E27FC236}">
                <a16:creationId xmlns:a16="http://schemas.microsoft.com/office/drawing/2014/main" id="{061AC35B-7F8C-4BC9-B5F1-0CDD9C404D01}"/>
              </a:ext>
            </a:extLst>
          </p:cNvPr>
          <p:cNvSpPr>
            <a:spLocks xmlns:a="http://schemas.openxmlformats.org/drawingml/2006/main" noGrp="1"/>
          </p:cNvSpPr>
          <p:nvPr/>
        </p:nvSpPr>
        <p:spPr>
          <a:xfrm xmlns:a="http://schemas.openxmlformats.org/drawingml/2006/main">
            <a:off x="1188720" y="175564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What exists?  —  </a:t>
            </a:r>
            <a:r>
              <a:rPr sz="1300" b="0" i="0" u="none" cap="none">
                <a:solidFill>
                  <a:srgbClr val="5A6377"/>
                </a:solidFill>
                <a:latin typeface="Calibri"/>
                <a:ea typeface="Calibri"/>
                <a:cs typeface="Calibri"/>
              </a:rPr>
              <a:t>What are the basic constituents of reality, and what is each of them?</a:t>
            </a:r>
          </a:p>
        </p:txBody>
      </p:sp>
      <p:sp>
        <p:nvSpPr>
          <p:cNvPr id="46" name="Google Shape;46;p4">
            <a:extLst xmlns:a="http://schemas.openxmlformats.org/drawingml/2006/main">
              <a:ext uri="{FF2B5EF4-FFF2-40B4-BE49-F238E27FC236}">
                <a16:creationId xmlns:a16="http://schemas.microsoft.com/office/drawing/2014/main" id="{CDA87209-7084-4EBB-8BD0-52666EDF744C}"/>
              </a:ext>
            </a:extLst>
          </p:cNvPr>
          <p:cNvSpPr>
            <a:spLocks xmlns:a="http://schemas.openxmlformats.org/drawingml/2006/main" noGrp="1"/>
          </p:cNvSpPr>
          <p:nvPr/>
        </p:nvSpPr>
        <p:spPr>
          <a:xfrm xmlns:a="http://schemas.openxmlformats.org/drawingml/2006/main">
            <a:off x="640080" y="2359152"/>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77" name="Google Shape;47;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2454250"/>
            <a:ext cx="175565" cy="175565"/>
          </a:xfrm>
          <a:prstGeom xmlns:a="http://schemas.openxmlformats.org/drawingml/2006/main" prst="rect">
            <a:avLst/>
          </a:prstGeom>
          <a:ln xmlns:a="http://schemas.openxmlformats.org/drawingml/2006/main">
            <a:noFill/>
          </a:ln>
        </p:spPr>
      </p:pic>
      <p:sp>
        <p:nvSpPr>
          <p:cNvPr id="48" name="Google Shape;48;p4">
            <a:extLst xmlns:a="http://schemas.openxmlformats.org/drawingml/2006/main">
              <a:ext uri="{FF2B5EF4-FFF2-40B4-BE49-F238E27FC236}">
                <a16:creationId xmlns:a16="http://schemas.microsoft.com/office/drawing/2014/main" id="{91B6C431-D004-41A0-9A53-95F861AFE29B}"/>
              </a:ext>
            </a:extLst>
          </p:cNvPr>
          <p:cNvSpPr>
            <a:spLocks xmlns:a="http://schemas.openxmlformats.org/drawingml/2006/main" noGrp="1"/>
          </p:cNvSpPr>
          <p:nvPr/>
        </p:nvSpPr>
        <p:spPr>
          <a:xfrm xmlns:a="http://schemas.openxmlformats.org/drawingml/2006/main">
            <a:off x="1188720" y="2322576"/>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what exists begin?  —  </a:t>
            </a:r>
            <a:r>
              <a:rPr sz="1300" b="0" i="0" u="none" cap="none">
                <a:solidFill>
                  <a:srgbClr val="5A6377"/>
                </a:solidFill>
                <a:latin typeface="Calibri"/>
                <a:ea typeface="Calibri"/>
                <a:cs typeface="Calibri"/>
              </a:rPr>
              <a:t>Did reality originate at some time — or is origination only of configurations?</a:t>
            </a:r>
          </a:p>
        </p:txBody>
      </p:sp>
      <p:sp>
        <p:nvSpPr>
          <p:cNvPr id="49" name="Google Shape;49;p4">
            <a:extLst xmlns:a="http://schemas.openxmlformats.org/drawingml/2006/main">
              <a:ext uri="{FF2B5EF4-FFF2-40B4-BE49-F238E27FC236}">
                <a16:creationId xmlns:a16="http://schemas.microsoft.com/office/drawing/2014/main" id="{ED32D590-8DE8-4C5F-9DB7-133CF6872C0E}"/>
              </a:ext>
            </a:extLst>
          </p:cNvPr>
          <p:cNvSpPr>
            <a:spLocks xmlns:a="http://schemas.openxmlformats.org/drawingml/2006/main" noGrp="1"/>
          </p:cNvSpPr>
          <p:nvPr/>
        </p:nvSpPr>
        <p:spPr>
          <a:xfrm xmlns:a="http://schemas.openxmlformats.org/drawingml/2006/main">
            <a:off x="640080" y="2926080"/>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0" name="Google Shape;50;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3021178"/>
            <a:ext cx="175565" cy="175565"/>
          </a:xfrm>
          <a:prstGeom xmlns:a="http://schemas.openxmlformats.org/drawingml/2006/main" prst="rect">
            <a:avLst/>
          </a:prstGeom>
          <a:ln xmlns:a="http://schemas.openxmlformats.org/drawingml/2006/main">
            <a:noFill/>
          </a:ln>
        </p:spPr>
      </p:pic>
      <p:sp>
        <p:nvSpPr>
          <p:cNvPr id="51" name="Google Shape;51;p4">
            <a:extLst xmlns:a="http://schemas.openxmlformats.org/drawingml/2006/main">
              <a:ext uri="{FF2B5EF4-FFF2-40B4-BE49-F238E27FC236}">
                <a16:creationId xmlns:a16="http://schemas.microsoft.com/office/drawing/2014/main" id="{9D8201F8-92DE-4893-8387-B7A31B4880B6}"/>
              </a:ext>
            </a:extLst>
          </p:cNvPr>
          <p:cNvSpPr>
            <a:spLocks xmlns:a="http://schemas.openxmlformats.org/drawingml/2006/main" noGrp="1"/>
          </p:cNvSpPr>
          <p:nvPr/>
        </p:nvSpPr>
        <p:spPr>
          <a:xfrm xmlns:a="http://schemas.openxmlformats.org/drawingml/2006/main">
            <a:off x="1188720" y="28895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Does the self begin or end with the body?  —  </a:t>
            </a:r>
            <a:r>
              <a:rPr sz="1300" b="0" i="0" u="none" cap="none">
                <a:solidFill>
                  <a:srgbClr val="5A6377"/>
                </a:solidFill>
                <a:latin typeface="Calibri"/>
                <a:ea typeface="Calibri"/>
                <a:cs typeface="Calibri"/>
              </a:rPr>
              <a:t>Is the individual self (jeevan) produced by the body and destroyed with it?</a:t>
            </a:r>
          </a:p>
        </p:txBody>
      </p:sp>
      <p:sp>
        <p:nvSpPr>
          <p:cNvPr id="52" name="Google Shape;52;p4">
            <a:extLst xmlns:a="http://schemas.openxmlformats.org/drawingml/2006/main">
              <a:ext uri="{FF2B5EF4-FFF2-40B4-BE49-F238E27FC236}">
                <a16:creationId xmlns:a16="http://schemas.microsoft.com/office/drawing/2014/main" id="{FDDD7230-CA75-41A7-B897-DDFE7F3D7704}"/>
              </a:ext>
            </a:extLst>
          </p:cNvPr>
          <p:cNvSpPr>
            <a:spLocks xmlns:a="http://schemas.openxmlformats.org/drawingml/2006/main" noGrp="1"/>
          </p:cNvSpPr>
          <p:nvPr/>
        </p:nvSpPr>
        <p:spPr>
          <a:xfrm xmlns:a="http://schemas.openxmlformats.org/drawingml/2006/main">
            <a:off x="640080" y="3493008"/>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3" name="Google Shape;53;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3588106"/>
            <a:ext cx="175565" cy="175565"/>
          </a:xfrm>
          <a:prstGeom xmlns:a="http://schemas.openxmlformats.org/drawingml/2006/main" prst="rect">
            <a:avLst/>
          </a:prstGeom>
          <a:ln xmlns:a="http://schemas.openxmlformats.org/drawingml/2006/main">
            <a:noFill/>
          </a:ln>
        </p:spPr>
      </p:pic>
      <p:sp>
        <p:nvSpPr>
          <p:cNvPr id="54" name="Google Shape;54;p4">
            <a:extLst xmlns:a="http://schemas.openxmlformats.org/drawingml/2006/main">
              <a:ext uri="{FF2B5EF4-FFF2-40B4-BE49-F238E27FC236}">
                <a16:creationId xmlns:a16="http://schemas.microsoft.com/office/drawing/2014/main" id="{2AB4FEC0-77A6-4437-8E46-6AF495E78A17}"/>
              </a:ext>
            </a:extLst>
          </p:cNvPr>
          <p:cNvSpPr>
            <a:spLocks xmlns:a="http://schemas.openxmlformats.org/drawingml/2006/main" noGrp="1"/>
          </p:cNvSpPr>
          <p:nvPr/>
        </p:nvSpPr>
        <p:spPr>
          <a:xfrm xmlns:a="http://schemas.openxmlformats.org/drawingml/2006/main">
            <a:off x="1188720" y="3456432"/>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Is the world finally real?  —  </a:t>
            </a:r>
            <a:r>
              <a:rPr sz="1300" b="0" i="0" u="none" cap="none">
                <a:solidFill>
                  <a:srgbClr val="5A6377"/>
                </a:solidFill>
                <a:latin typeface="Calibri"/>
                <a:ea typeface="Calibri"/>
                <a:cs typeface="Calibri"/>
              </a:rPr>
              <a:t>Is the plural world of units an appearance, or real in its own right?</a:t>
            </a:r>
          </a:p>
        </p:txBody>
      </p:sp>
      <p:sp>
        <p:nvSpPr>
          <p:cNvPr id="55" name="Google Shape;55;p4">
            <a:extLst xmlns:a="http://schemas.openxmlformats.org/drawingml/2006/main">
              <a:ext uri="{FF2B5EF4-FFF2-40B4-BE49-F238E27FC236}">
                <a16:creationId xmlns:a16="http://schemas.microsoft.com/office/drawing/2014/main" id="{956BA3BE-2185-4167-87CC-EDA80D2FE614}"/>
              </a:ext>
            </a:extLst>
          </p:cNvPr>
          <p:cNvSpPr>
            <a:spLocks xmlns:a="http://schemas.openxmlformats.org/drawingml/2006/main" noGrp="1"/>
          </p:cNvSpPr>
          <p:nvPr/>
        </p:nvSpPr>
        <p:spPr>
          <a:xfrm xmlns:a="http://schemas.openxmlformats.org/drawingml/2006/main">
            <a:off x="640080" y="4059936"/>
            <a:ext cx="365760" cy="36576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86" name="Google Shape;56;p4"/>
          <p:cNvPicPr>
            <a:picLocks xmlns:a="http://schemas.openxmlformats.org/drawingml/2006/main" noChangeAspect="1"/>
          </p:cNvPicPr>
          <p:nvPr/>
        </p:nvPicPr>
        <p:blipFill rotWithShape="1">
          <a:blip xmlns:r="http://schemas.openxmlformats.org/officeDocument/2006/relationships" xmlns:a="http://schemas.openxmlformats.org/drawingml/2006/main" r:embed="Rddb9d766f3714bac">
            <a:alphaModFix/>
          </a:blip>
          <a:srcRect xmlns:a="http://schemas.openxmlformats.org/drawingml/2006/main" l="0" t="0" r="0" b="0"/>
          <a:stretch xmlns:a="http://schemas.openxmlformats.org/drawingml/2006/main"/>
        </p:blipFill>
        <p:spPr>
          <a:xfrm xmlns:a="http://schemas.openxmlformats.org/drawingml/2006/main">
            <a:off x="735178" y="4155034"/>
            <a:ext cx="175565" cy="175565"/>
          </a:xfrm>
          <a:prstGeom xmlns:a="http://schemas.openxmlformats.org/drawingml/2006/main" prst="rect">
            <a:avLst/>
          </a:prstGeom>
          <a:ln xmlns:a="http://schemas.openxmlformats.org/drawingml/2006/main">
            <a:noFill/>
          </a:ln>
        </p:spPr>
      </p:pic>
      <p:sp>
        <p:nvSpPr>
          <p:cNvPr id="57" name="Google Shape;57;p4">
            <a:extLst xmlns:a="http://schemas.openxmlformats.org/drawingml/2006/main">
              <a:ext uri="{FF2B5EF4-FFF2-40B4-BE49-F238E27FC236}">
                <a16:creationId xmlns:a16="http://schemas.microsoft.com/office/drawing/2014/main" id="{5CDA41BD-579D-4DA4-8E39-03E520FBD973}"/>
              </a:ext>
            </a:extLst>
          </p:cNvPr>
          <p:cNvSpPr>
            <a:spLocks xmlns:a="http://schemas.openxmlformats.org/drawingml/2006/main" noGrp="1"/>
          </p:cNvSpPr>
          <p:nvPr/>
        </p:nvSpPr>
        <p:spPr>
          <a:xfrm xmlns:a="http://schemas.openxmlformats.org/drawingml/2006/main">
            <a:off x="1188720" y="402336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libri"/>
                <a:ea typeface="Calibri"/>
                <a:cs typeface="Calibri"/>
              </a:rPr>
              <a:t>How can what exists be known?  —  </a:t>
            </a:r>
            <a:r>
              <a:rPr sz="1300" b="0" i="0" u="none" cap="none">
                <a:solidFill>
                  <a:srgbClr val="5A6377"/>
                </a:solidFill>
                <a:latin typeface="Calibri"/>
                <a:ea typeface="Calibri"/>
                <a:cs typeface="Calibri"/>
              </a:rPr>
              <a:t>What must be understood — and at what scope — to know each aspect of reality?</a:t>
            </a:r>
          </a:p>
        </p:txBody>
      </p:sp>
      <p:sp>
        <p:nvSpPr>
          <p:cNvPr id="58" name="Google Shape;58;p4">
            <a:extLst xmlns:a="http://schemas.openxmlformats.org/drawingml/2006/main">
              <a:ext uri="{FF2B5EF4-FFF2-40B4-BE49-F238E27FC236}">
                <a16:creationId xmlns:a16="http://schemas.microsoft.com/office/drawing/2014/main" id="{6716F592-DC15-482D-9756-E73A8E09F557}"/>
              </a:ext>
            </a:extLst>
          </p:cNvPr>
          <p:cNvSpPr>
            <a:spLocks xmlns:a="http://schemas.openxmlformats.org/drawingml/2006/main" noGrp="1"/>
          </p:cNvSpPr>
          <p:nvPr/>
        </p:nvSpPr>
        <p:spPr>
          <a:xfrm xmlns:a="http://schemas.openxmlformats.org/drawingml/2006/main">
            <a:off x="1188720" y="4645152"/>
            <a:ext cx="74066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1" u="none" cap="none">
                <a:solidFill>
                  <a:srgbClr val="9A6414"/>
                </a:solidFill>
                <a:latin typeface="Calibri"/>
                <a:ea typeface="Calibri"/>
                <a:cs typeface="Calibri"/>
              </a:rPr>
              <a:t>Madhyasth Darshan answers each from a single starting point: existence is coexistence.</a:t>
            </a:r>
          </a:p>
        </p:txBody>
      </p:sp>
    </p:spTree>
    <p:extLst>
      <p:ext uri="{BB962C8B-B14F-4D97-AF65-F5344CB8AC3E}">
        <p14:creationId xmlns:p14="http://schemas.microsoft.com/office/powerpoint/2010/main" val="80336593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
            </a: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Conceptual map of §1 · Primary pointers: MVD, KD, SB, and JV</a:t>
            </a:r>
          </a:p>
        </p:txBody>
      </p:sp>
      <p:pic>
        <p:nvPicPr>
          <p:cNvPr id="206" name=""/>
          <p:cNvPicPr>
            <a:picLocks xmlns:a="http://schemas.openxmlformats.org/drawingml/2006/main" noChangeAspect="1"/>
          </p:cNvPicPr>
          <p:nvPr/>
        </p:nvPicPr>
        <p:blipFill>
          <a:blip xmlns:r="http://schemas.openxmlformats.org/officeDocument/2006/relationships" xmlns:a="http://schemas.openxmlformats.org/drawingml/2006/main" r:embed="R61b7c944b53e42ef"/>
          <a:stretch xmlns:a="http://schemas.openxmlformats.org/drawingml/2006/main"/>
        </p:blipFill>
        <p:spPr>
          <a:xfrm xmlns:a="http://schemas.openxmlformats.org/drawingml/2006/main">
            <a:off x="1429494" y="0"/>
            <a:ext cx="6285012" cy="4905375"/>
          </a:xfrm>
          <a:prstGeom xmlns:a="http://schemas.openxmlformats.org/drawingml/2006/main" prst="rect">
            <a:avLst/>
          </a:prstGeom>
        </p:spPr>
      </p:pic>
    </p:spTree>
    <p:extLst>
      <p:ext uri="{BB962C8B-B14F-4D97-AF65-F5344CB8AC3E}">
        <p14:creationId xmlns:p14="http://schemas.microsoft.com/office/powerpoint/2010/main" val="11318954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4" name="Google Shape;64;p5">
            <a:extLst xmlns:a="http://schemas.openxmlformats.org/drawingml/2006/main">
              <a:ext uri="{FF2B5EF4-FFF2-40B4-BE49-F238E27FC236}">
                <a16:creationId xmlns:a16="http://schemas.microsoft.com/office/drawing/2014/main" id="{CF9AD31F-1FDC-4184-BF9F-B33479EDBEE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5" name="Google Shape;65;p5">
            <a:extLst xmlns:a="http://schemas.openxmlformats.org/drawingml/2006/main">
              <a:ext uri="{FF2B5EF4-FFF2-40B4-BE49-F238E27FC236}">
                <a16:creationId xmlns:a16="http://schemas.microsoft.com/office/drawing/2014/main" id="{10117106-F12F-4A8F-8B77-A83FADEA2A6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6" name="Google Shape;66;p5">
            <a:extLst xmlns:a="http://schemas.openxmlformats.org/drawingml/2006/main">
              <a:ext uri="{FF2B5EF4-FFF2-40B4-BE49-F238E27FC236}">
                <a16:creationId xmlns:a16="http://schemas.microsoft.com/office/drawing/2014/main" id="{1FB965B2-FB3F-4DBD-B108-41481400E3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7" name="Google Shape;67;p5">
            <a:extLst xmlns:a="http://schemas.openxmlformats.org/drawingml/2006/main">
              <a:ext uri="{FF2B5EF4-FFF2-40B4-BE49-F238E27FC236}">
                <a16:creationId xmlns:a16="http://schemas.microsoft.com/office/drawing/2014/main" id="{02762154-418C-4F41-BA0C-79B00719E57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 · TWO INSEPARABLE ASPECTS</a:t>
            </a:r>
          </a:p>
        </p:txBody>
      </p:sp>
      <p:sp>
        <p:nvSpPr>
          <p:cNvPr id="68" name="Google Shape;68;p5">
            <a:extLst xmlns:a="http://schemas.openxmlformats.org/drawingml/2006/main">
              <a:ext uri="{FF2B5EF4-FFF2-40B4-BE49-F238E27FC236}">
                <a16:creationId xmlns:a16="http://schemas.microsoft.com/office/drawing/2014/main" id="{28B0F4A7-FA42-4E2B-85D3-243578C6C2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Existence Is Coexistence</a:t>
            </a:r>
          </a:p>
        </p:txBody>
      </p:sp>
      <p:sp>
        <p:nvSpPr>
          <p:cNvPr id="69" name="Google Shape;69;p5">
            <a:extLst xmlns:a="http://schemas.openxmlformats.org/drawingml/2006/main">
              <a:ext uri="{FF2B5EF4-FFF2-40B4-BE49-F238E27FC236}">
                <a16:creationId xmlns:a16="http://schemas.microsoft.com/office/drawing/2014/main" id="{8EE81CA6-0277-437D-B24C-93E306CB1675}"/>
              </a:ext>
            </a:extLst>
          </p:cNvPr>
          <p:cNvSpPr>
            <a:spLocks xmlns:a="http://schemas.openxmlformats.org/drawingml/2006/main" noGrp="1"/>
          </p:cNvSpPr>
          <p:nvPr/>
        </p:nvSpPr>
        <p:spPr>
          <a:xfrm xmlns:a="http://schemas.openxmlformats.org/drawingml/2006/main">
            <a:off x="640080" y="1280160"/>
            <a:ext cx="4160520" cy="34747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500" b="1" i="0" u="none" cap="none">
                <a:solidFill>
                  <a:srgbClr val="1E2447"/>
                </a:solidFill>
                <a:latin typeface="Calibri"/>
                <a:ea typeface="Calibri"/>
                <a:cs typeface="Calibri"/>
              </a:rPr>
              <a:t>Omnipotence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Formless, all-pervasive, non-transforming, immeasurable — actionless energy. It performs no actions, yet every unit is energised, regulated, and conserved in it. It has no absent place.</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Units of nature</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Formful, active, countable entities — each bounded from six directions, and each soaked, submerged, and surrounded in Omnipotence, with form, properties, essential nature, and dharma. At the smallest scale, every unit is built from the same basic building block: an atom — a core with parts orbiting it.</a:t>
            </a:r>
          </a:p>
          <a:p xmlns:a="http://schemas.openxmlformats.org/drawingml/2006/main">
            <a:pPr marL="0" indent="0" algn="l">
              <a:spcBef>
                <a:spcPts val="1000"/>
              </a:spcBef>
              <a:spcAft>
                <a:spcPts val="0"/>
              </a:spcAft>
              <a:buNone/>
            </a:pPr>
            <a:r>
              <a:rPr sz="1500" b="1" i="0" u="none" cap="none">
                <a:solidFill>
                  <a:srgbClr val="1E2447"/>
                </a:solidFill>
                <a:latin typeface="Calibri"/>
                <a:ea typeface="Calibri"/>
                <a:cs typeface="Calibri"/>
              </a:rPr>
              <a:t>Never two separate poles</a:t>
            </a:r>
          </a:p>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Separation of a unit from the saturated whole “never happens.” The ground is state-complete — without motion, wave, or pressure; nature saturated in it is state-dynamic — all change is unit-activity.</a:t>
            </a:r>
          </a:p>
        </p:txBody>
      </p:sp>
      <p:sp>
        <p:nvSpPr>
          <p:cNvPr id="70" name="Google Shape;70;p5">
            <a:extLst xmlns:a="http://schemas.openxmlformats.org/drawingml/2006/main">
              <a:ext uri="{FF2B5EF4-FFF2-40B4-BE49-F238E27FC236}">
                <a16:creationId xmlns:a16="http://schemas.microsoft.com/office/drawing/2014/main" id="{07B364FE-F3A9-4602-BE10-23EE13FC1C5A}"/>
              </a:ext>
            </a:extLst>
          </p:cNvPr>
          <p:cNvSpPr>
            <a:spLocks xmlns:a="http://schemas.openxmlformats.org/drawingml/2006/main" noGrp="1"/>
          </p:cNvSpPr>
          <p:nvPr/>
        </p:nvSpPr>
        <p:spPr>
          <a:xfrm xmlns:a="http://schemas.openxmlformats.org/drawingml/2006/main">
            <a:off x="5074920" y="1280160"/>
            <a:ext cx="3566160" cy="3246120"/>
          </a:xfrm>
          <a:prstGeom xmlns:a="http://schemas.openxmlformats.org/drawingml/2006/main" prst="roundRect">
            <a:avLst>
              <a:gd name="adj" fmla="val 3380"/>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1" name="Google Shape;71;p5">
            <a:extLst xmlns:a="http://schemas.openxmlformats.org/drawingml/2006/main">
              <a:ext uri="{FF2B5EF4-FFF2-40B4-BE49-F238E27FC236}">
                <a16:creationId xmlns:a16="http://schemas.microsoft.com/office/drawing/2014/main" id="{3CF11A51-F4D6-4164-8D76-DE824295982F}"/>
              </a:ext>
            </a:extLst>
          </p:cNvPr>
          <p:cNvSpPr>
            <a:spLocks xmlns:a="http://schemas.openxmlformats.org/drawingml/2006/main" noGrp="1"/>
          </p:cNvSpPr>
          <p:nvPr/>
        </p:nvSpPr>
        <p:spPr>
          <a:xfrm xmlns:a="http://schemas.openxmlformats.org/drawingml/2006/main">
            <a:off x="5074920" y="1417320"/>
            <a:ext cx="3566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00" b="1" i="0" u="none" cap="none">
                <a:solidFill>
                  <a:srgbClr val="C9D4EF"/>
                </a:solidFill>
                <a:latin typeface="Calibri"/>
                <a:ea typeface="Calibri"/>
                <a:cs typeface="Calibri"/>
              </a:rPr>
              <a:t>OMNIPOTENCE — the pervasive ground</a:t>
            </a:r>
          </a:p>
        </p:txBody>
      </p:sp>
      <p:sp>
        <p:nvSpPr>
          <p:cNvPr id="72" name="Google Shape;72;p5">
            <a:extLst xmlns:a="http://schemas.openxmlformats.org/drawingml/2006/main">
              <a:ext uri="{FF2B5EF4-FFF2-40B4-BE49-F238E27FC236}">
                <a16:creationId xmlns:a16="http://schemas.microsoft.com/office/drawing/2014/main" id="{F1BE36E1-5E3F-4DA1-9CFE-44A8E5A456C7}"/>
              </a:ext>
            </a:extLst>
          </p:cNvPr>
          <p:cNvSpPr>
            <a:spLocks xmlns:a="http://schemas.openxmlformats.org/drawingml/2006/main" noGrp="1"/>
          </p:cNvSpPr>
          <p:nvPr/>
        </p:nvSpPr>
        <p:spPr>
          <a:xfrm xmlns:a="http://schemas.openxmlformats.org/drawingml/2006/main">
            <a:off x="5440680" y="1965960"/>
            <a:ext cx="1051560" cy="105156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3" name="Google Shape;73;p5">
            <a:extLst xmlns:a="http://schemas.openxmlformats.org/drawingml/2006/main">
              <a:ext uri="{FF2B5EF4-FFF2-40B4-BE49-F238E27FC236}">
                <a16:creationId xmlns:a16="http://schemas.microsoft.com/office/drawing/2014/main" id="{CFD53BC4-8462-4A7A-8213-3F91CB8C5883}"/>
              </a:ext>
            </a:extLst>
          </p:cNvPr>
          <p:cNvSpPr>
            <a:spLocks xmlns:a="http://schemas.openxmlformats.org/drawingml/2006/main" noGrp="1"/>
          </p:cNvSpPr>
          <p:nvPr/>
        </p:nvSpPr>
        <p:spPr>
          <a:xfrm xmlns:a="http://schemas.openxmlformats.org/drawingml/2006/main">
            <a:off x="5650992" y="2176272"/>
            <a:ext cx="630936" cy="630936"/>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4" name="Google Shape;74;p5">
            <a:extLst xmlns:a="http://schemas.openxmlformats.org/drawingml/2006/main">
              <a:ext uri="{FF2B5EF4-FFF2-40B4-BE49-F238E27FC236}">
                <a16:creationId xmlns:a16="http://schemas.microsoft.com/office/drawing/2014/main" id="{F2A0E86B-7518-40E5-996B-6BDE3B14F3AC}"/>
              </a:ext>
            </a:extLst>
          </p:cNvPr>
          <p:cNvSpPr>
            <a:spLocks xmlns:a="http://schemas.openxmlformats.org/drawingml/2006/main" noGrp="1"/>
          </p:cNvSpPr>
          <p:nvPr/>
        </p:nvSpPr>
        <p:spPr>
          <a:xfrm xmlns:a="http://schemas.openxmlformats.org/drawingml/2006/main">
            <a:off x="5829757" y="2355037"/>
            <a:ext cx="273406" cy="27340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5" name="Google Shape;75;p5">
            <a:extLst xmlns:a="http://schemas.openxmlformats.org/drawingml/2006/main">
              <a:ext uri="{FF2B5EF4-FFF2-40B4-BE49-F238E27FC236}">
                <a16:creationId xmlns:a16="http://schemas.microsoft.com/office/drawing/2014/main" id="{5E77BB36-39BD-4E94-A3B8-0F28DBB8A42D}"/>
              </a:ext>
            </a:extLst>
          </p:cNvPr>
          <p:cNvSpPr>
            <a:spLocks xmlns:a="http://schemas.openxmlformats.org/drawingml/2006/main" noGrp="1"/>
          </p:cNvSpPr>
          <p:nvPr/>
        </p:nvSpPr>
        <p:spPr>
          <a:xfrm xmlns:a="http://schemas.openxmlformats.org/drawingml/2006/main">
            <a:off x="6812280" y="2240280"/>
            <a:ext cx="777240" cy="777240"/>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6" name="Google Shape;76;p5">
            <a:extLst xmlns:a="http://schemas.openxmlformats.org/drawingml/2006/main">
              <a:ext uri="{FF2B5EF4-FFF2-40B4-BE49-F238E27FC236}">
                <a16:creationId xmlns:a16="http://schemas.microsoft.com/office/drawing/2014/main" id="{6B8F9E46-D1B9-4DC0-A1E2-A8E161EF1971}"/>
              </a:ext>
            </a:extLst>
          </p:cNvPr>
          <p:cNvSpPr>
            <a:spLocks xmlns:a="http://schemas.openxmlformats.org/drawingml/2006/main" noGrp="1"/>
          </p:cNvSpPr>
          <p:nvPr/>
        </p:nvSpPr>
        <p:spPr>
          <a:xfrm xmlns:a="http://schemas.openxmlformats.org/drawingml/2006/main">
            <a:off x="6967728" y="2395728"/>
            <a:ext cx="466344" cy="466344"/>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7" name="Google Shape;77;p5">
            <a:extLst xmlns:a="http://schemas.openxmlformats.org/drawingml/2006/main">
              <a:ext uri="{FF2B5EF4-FFF2-40B4-BE49-F238E27FC236}">
                <a16:creationId xmlns:a16="http://schemas.microsoft.com/office/drawing/2014/main" id="{A9BE6228-332E-435A-8F5D-5376A8AC04EB}"/>
              </a:ext>
            </a:extLst>
          </p:cNvPr>
          <p:cNvSpPr>
            <a:spLocks xmlns:a="http://schemas.openxmlformats.org/drawingml/2006/main" noGrp="1"/>
          </p:cNvSpPr>
          <p:nvPr/>
        </p:nvSpPr>
        <p:spPr>
          <a:xfrm xmlns:a="http://schemas.openxmlformats.org/drawingml/2006/main">
            <a:off x="7099859" y="2527859"/>
            <a:ext cx="202082" cy="202082"/>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8" name="Google Shape;78;p5">
            <a:extLst xmlns:a="http://schemas.openxmlformats.org/drawingml/2006/main">
              <a:ext uri="{FF2B5EF4-FFF2-40B4-BE49-F238E27FC236}">
                <a16:creationId xmlns:a16="http://schemas.microsoft.com/office/drawing/2014/main" id="{BECED46B-A48B-4CA7-8EEB-5979D31A9C85}"/>
              </a:ext>
            </a:extLst>
          </p:cNvPr>
          <p:cNvSpPr>
            <a:spLocks xmlns:a="http://schemas.openxmlformats.org/drawingml/2006/main" noGrp="1"/>
          </p:cNvSpPr>
          <p:nvPr/>
        </p:nvSpPr>
        <p:spPr>
          <a:xfrm xmlns:a="http://schemas.openxmlformats.org/drawingml/2006/main">
            <a:off x="7635240" y="1783080"/>
            <a:ext cx="566928" cy="56692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79" name="Google Shape;79;p5">
            <a:extLst xmlns:a="http://schemas.openxmlformats.org/drawingml/2006/main">
              <a:ext uri="{FF2B5EF4-FFF2-40B4-BE49-F238E27FC236}">
                <a16:creationId xmlns:a16="http://schemas.microsoft.com/office/drawing/2014/main" id="{967E3267-3033-46A1-9B03-D612835829CA}"/>
              </a:ext>
            </a:extLst>
          </p:cNvPr>
          <p:cNvSpPr>
            <a:spLocks xmlns:a="http://schemas.openxmlformats.org/drawingml/2006/main" noGrp="1"/>
          </p:cNvSpPr>
          <p:nvPr/>
        </p:nvSpPr>
        <p:spPr>
          <a:xfrm xmlns:a="http://schemas.openxmlformats.org/drawingml/2006/main">
            <a:off x="7748626" y="1896466"/>
            <a:ext cx="340157" cy="34015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0" name="Google Shape;80;p5">
            <a:extLst xmlns:a="http://schemas.openxmlformats.org/drawingml/2006/main">
              <a:ext uri="{FF2B5EF4-FFF2-40B4-BE49-F238E27FC236}">
                <a16:creationId xmlns:a16="http://schemas.microsoft.com/office/drawing/2014/main" id="{42DCFFD6-4154-4D29-B043-16479E5425B0}"/>
              </a:ext>
            </a:extLst>
          </p:cNvPr>
          <p:cNvSpPr>
            <a:spLocks xmlns:a="http://schemas.openxmlformats.org/drawingml/2006/main" noGrp="1"/>
          </p:cNvSpPr>
          <p:nvPr/>
        </p:nvSpPr>
        <p:spPr>
          <a:xfrm xmlns:a="http://schemas.openxmlformats.org/drawingml/2006/main">
            <a:off x="7845003" y="1992843"/>
            <a:ext cx="147401" cy="147401"/>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1" name="Google Shape;81;p5">
            <a:extLst xmlns:a="http://schemas.openxmlformats.org/drawingml/2006/main">
              <a:ext uri="{FF2B5EF4-FFF2-40B4-BE49-F238E27FC236}">
                <a16:creationId xmlns:a16="http://schemas.microsoft.com/office/drawing/2014/main" id="{2243CC16-68B3-4646-877B-AB127F6652A9}"/>
              </a:ext>
            </a:extLst>
          </p:cNvPr>
          <p:cNvSpPr>
            <a:spLocks xmlns:a="http://schemas.openxmlformats.org/drawingml/2006/main" noGrp="1"/>
          </p:cNvSpPr>
          <p:nvPr/>
        </p:nvSpPr>
        <p:spPr>
          <a:xfrm xmlns:a="http://schemas.openxmlformats.org/drawingml/2006/main">
            <a:off x="6035040" y="3200400"/>
            <a:ext cx="658368" cy="658368"/>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2" name="Google Shape;82;p5">
            <a:extLst xmlns:a="http://schemas.openxmlformats.org/drawingml/2006/main">
              <a:ext uri="{FF2B5EF4-FFF2-40B4-BE49-F238E27FC236}">
                <a16:creationId xmlns:a16="http://schemas.microsoft.com/office/drawing/2014/main" id="{A95501B9-F291-422B-9577-4E7A124D08E9}"/>
              </a:ext>
            </a:extLst>
          </p:cNvPr>
          <p:cNvSpPr>
            <a:spLocks xmlns:a="http://schemas.openxmlformats.org/drawingml/2006/main" noGrp="1"/>
          </p:cNvSpPr>
          <p:nvPr/>
        </p:nvSpPr>
        <p:spPr>
          <a:xfrm xmlns:a="http://schemas.openxmlformats.org/drawingml/2006/main">
            <a:off x="6166714" y="3332074"/>
            <a:ext cx="395021" cy="395021"/>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3" name="Google Shape;83;p5">
            <a:extLst xmlns:a="http://schemas.openxmlformats.org/drawingml/2006/main">
              <a:ext uri="{FF2B5EF4-FFF2-40B4-BE49-F238E27FC236}">
                <a16:creationId xmlns:a16="http://schemas.microsoft.com/office/drawing/2014/main" id="{59535FAF-3BCF-4D16-BBE3-0838A2B90E5E}"/>
              </a:ext>
            </a:extLst>
          </p:cNvPr>
          <p:cNvSpPr>
            <a:spLocks xmlns:a="http://schemas.openxmlformats.org/drawingml/2006/main" noGrp="1"/>
          </p:cNvSpPr>
          <p:nvPr/>
        </p:nvSpPr>
        <p:spPr>
          <a:xfrm xmlns:a="http://schemas.openxmlformats.org/drawingml/2006/main">
            <a:off x="6278636" y="3443996"/>
            <a:ext cx="171176" cy="171176"/>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4" name="Google Shape;84;p5">
            <a:extLst xmlns:a="http://schemas.openxmlformats.org/drawingml/2006/main">
              <a:ext uri="{FF2B5EF4-FFF2-40B4-BE49-F238E27FC236}">
                <a16:creationId xmlns:a16="http://schemas.microsoft.com/office/drawing/2014/main" id="{E2D7A9DE-E3E4-4EEB-89B6-D04E44DFDF8D}"/>
              </a:ext>
            </a:extLst>
          </p:cNvPr>
          <p:cNvSpPr>
            <a:spLocks xmlns:a="http://schemas.openxmlformats.org/drawingml/2006/main" noGrp="1"/>
          </p:cNvSpPr>
          <p:nvPr/>
        </p:nvSpPr>
        <p:spPr>
          <a:xfrm xmlns:a="http://schemas.openxmlformats.org/drawingml/2006/main">
            <a:off x="7315200" y="3246120"/>
            <a:ext cx="896112" cy="896112"/>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5" name="Google Shape;85;p5">
            <a:extLst xmlns:a="http://schemas.openxmlformats.org/drawingml/2006/main">
              <a:ext uri="{FF2B5EF4-FFF2-40B4-BE49-F238E27FC236}">
                <a16:creationId xmlns:a16="http://schemas.microsoft.com/office/drawing/2014/main" id="{98AE6C74-6FE7-42CF-B920-3D93EE020872}"/>
              </a:ext>
            </a:extLst>
          </p:cNvPr>
          <p:cNvSpPr>
            <a:spLocks xmlns:a="http://schemas.openxmlformats.org/drawingml/2006/main" noGrp="1"/>
          </p:cNvSpPr>
          <p:nvPr/>
        </p:nvSpPr>
        <p:spPr>
          <a:xfrm xmlns:a="http://schemas.openxmlformats.org/drawingml/2006/main">
            <a:off x="7494422" y="3425342"/>
            <a:ext cx="537667" cy="537667"/>
          </a:xfrm>
          <a:prstGeom xmlns:a="http://schemas.openxmlformats.org/drawingml/2006/main" prst="ellipse">
            <a:avLst/>
          </a:prstGeom>
          <a:noFill xmlns:a="http://schemas.openxmlformats.org/drawingml/2006/main"/>
          <a:ln xmlns:a="http://schemas.openxmlformats.org/drawingml/2006/main" w="15875" cmpd="sng">
            <a:solidFill>
              <a:srgbClr val="5A68A0"/>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6" name="Google Shape;86;p5">
            <a:extLst xmlns:a="http://schemas.openxmlformats.org/drawingml/2006/main">
              <a:ext uri="{FF2B5EF4-FFF2-40B4-BE49-F238E27FC236}">
                <a16:creationId xmlns:a16="http://schemas.microsoft.com/office/drawing/2014/main" id="{17757948-703B-426E-B870-C36254C1E3EA}"/>
              </a:ext>
            </a:extLst>
          </p:cNvPr>
          <p:cNvSpPr>
            <a:spLocks xmlns:a="http://schemas.openxmlformats.org/drawingml/2006/main" noGrp="1"/>
          </p:cNvSpPr>
          <p:nvPr/>
        </p:nvSpPr>
        <p:spPr>
          <a:xfrm xmlns:a="http://schemas.openxmlformats.org/drawingml/2006/main">
            <a:off x="7646761" y="3577681"/>
            <a:ext cx="232989" cy="232989"/>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87" name="Google Shape;87;p5">
            <a:extLst xmlns:a="http://schemas.openxmlformats.org/drawingml/2006/main">
              <a:ext uri="{FF2B5EF4-FFF2-40B4-BE49-F238E27FC236}">
                <a16:creationId xmlns:a16="http://schemas.microsoft.com/office/drawing/2014/main" id="{5A0E0607-E161-4E03-AE4A-C1C661B17415}"/>
              </a:ext>
            </a:extLst>
          </p:cNvPr>
          <p:cNvSpPr>
            <a:spLocks xmlns:a="http://schemas.openxmlformats.org/drawingml/2006/main" noGrp="1"/>
          </p:cNvSpPr>
          <p:nvPr/>
        </p:nvSpPr>
        <p:spPr>
          <a:xfrm xmlns:a="http://schemas.openxmlformats.org/drawingml/2006/main">
            <a:off x="5257800" y="4114800"/>
            <a:ext cx="320040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00" b="0" i="1" u="none" cap="none">
                <a:solidFill>
                  <a:srgbClr val="C9D4EF"/>
                </a:solidFill>
                <a:latin typeface="Calibri"/>
                <a:ea typeface="Calibri"/>
                <a:cs typeface="Calibri"/>
              </a:rPr>
              <a:t>bounded units, each saturated in the ground; even the distance between units is held in Omnipotence as Space</a:t>
            </a:r>
          </a:p>
        </p:txBody>
      </p:sp>
      <p:sp>
        <p:nvSpPr>
          <p:cNvPr id="88" name="Google Shape;88;p5">
            <a:extLst xmlns:a="http://schemas.openxmlformats.org/drawingml/2006/main">
              <a:ext uri="{FF2B5EF4-FFF2-40B4-BE49-F238E27FC236}">
                <a16:creationId xmlns:a16="http://schemas.microsoft.com/office/drawing/2014/main" id="{D46B3FA3-763A-444D-9E80-B345C67D6CD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“Existence itself is eternally manifest in the form of coexistence” — SB p. 48  ·  MVD pp. 11, 34  ·  JV p. 18</a:t>
            </a:r>
          </a:p>
        </p:txBody>
      </p:sp>
    </p:spTree>
    <p:extLst>
      <p:ext uri="{BB962C8B-B14F-4D97-AF65-F5344CB8AC3E}">
        <p14:creationId xmlns:p14="http://schemas.microsoft.com/office/powerpoint/2010/main" val="381991742"/>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4" name="Google Shape;94;p6">
            <a:extLst xmlns:a="http://schemas.openxmlformats.org/drawingml/2006/main">
              <a:ext uri="{FF2B5EF4-FFF2-40B4-BE49-F238E27FC236}">
                <a16:creationId xmlns:a16="http://schemas.microsoft.com/office/drawing/2014/main" id="{7E09CA70-3709-4185-A286-A0C79A3CD052}"/>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5" name="Google Shape;95;p6">
            <a:extLst xmlns:a="http://schemas.openxmlformats.org/drawingml/2006/main">
              <a:ext uri="{FF2B5EF4-FFF2-40B4-BE49-F238E27FC236}">
                <a16:creationId xmlns:a16="http://schemas.microsoft.com/office/drawing/2014/main" id="{2FD50D5A-65A0-4F61-9AE8-297CD8BF0014}"/>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6" name="Google Shape;96;p6">
            <a:extLst xmlns:a="http://schemas.openxmlformats.org/drawingml/2006/main">
              <a:ext uri="{FF2B5EF4-FFF2-40B4-BE49-F238E27FC236}">
                <a16:creationId xmlns:a16="http://schemas.microsoft.com/office/drawing/2014/main" id="{F0A7EF7D-982B-46DA-8DD8-E6CF99CE99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97" name="Google Shape;97;p6">
            <a:extLst xmlns:a="http://schemas.openxmlformats.org/drawingml/2006/main">
              <a:ext uri="{FF2B5EF4-FFF2-40B4-BE49-F238E27FC236}">
                <a16:creationId xmlns:a16="http://schemas.microsoft.com/office/drawing/2014/main" id="{3858CC98-154A-4B7E-AFFA-BA5BA35680C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§1.2 · THE THREE ENDOWMENTS</a:t>
            </a:r>
          </a:p>
        </p:txBody>
      </p:sp>
      <p:sp>
        <p:nvSpPr>
          <p:cNvPr id="98" name="Google Shape;98;p6">
            <a:extLst xmlns:a="http://schemas.openxmlformats.org/drawingml/2006/main">
              <a:ext uri="{FF2B5EF4-FFF2-40B4-BE49-F238E27FC236}">
                <a16:creationId xmlns:a16="http://schemas.microsoft.com/office/drawing/2014/main" id="{9174C86C-8A33-413C-96B8-C2699E1BE6CE}"/>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Saturation: The Ground–Unit Bond</a:t>
            </a:r>
          </a:p>
        </p:txBody>
      </p:sp>
      <p:sp>
        <p:nvSpPr>
          <p:cNvPr id="99" name="Google Shape;99;p6">
            <a:extLst xmlns:a="http://schemas.openxmlformats.org/drawingml/2006/main">
              <a:ext uri="{FF2B5EF4-FFF2-40B4-BE49-F238E27FC236}">
                <a16:creationId xmlns:a16="http://schemas.microsoft.com/office/drawing/2014/main" id="{13839739-2064-4FB0-BDE7-EDAD103F9CAE}"/>
              </a:ext>
            </a:extLst>
          </p:cNvPr>
          <p:cNvSpPr>
            <a:spLocks xmlns:a="http://schemas.openxmlformats.org/drawingml/2006/main" noGrp="1"/>
          </p:cNvSpPr>
          <p:nvPr/>
        </p:nvSpPr>
        <p:spPr>
          <a:xfrm xmlns:a="http://schemas.openxmlformats.org/drawingml/2006/main">
            <a:off x="640080" y="1207008"/>
            <a:ext cx="7955280" cy="6400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formful unit is soaked, submerged, and surrounded in Omnipotence. Saturation names the ever-present ground–unit bond, not a later transfer or action by the ground. Recognition capability, activeness, and inherent regulation are evident on the unit side within coexistence.</a:t>
            </a:r>
          </a:p>
        </p:txBody>
      </p:sp>
      <p:sp>
        <p:nvSpPr>
          <p:cNvPr id="100" name="Google Shape;100;p6">
            <a:extLst xmlns:a="http://schemas.openxmlformats.org/drawingml/2006/main">
              <a:ext uri="{FF2B5EF4-FFF2-40B4-BE49-F238E27FC236}">
                <a16:creationId xmlns:a16="http://schemas.microsoft.com/office/drawing/2014/main" id="{327DEA87-8D26-40AB-8462-BC68336B88F2}"/>
              </a:ext>
            </a:extLst>
          </p:cNvPr>
          <p:cNvSpPr>
            <a:spLocks xmlns:a="http://schemas.openxmlformats.org/drawingml/2006/main" noGrp="1"/>
          </p:cNvSpPr>
          <p:nvPr/>
        </p:nvSpPr>
        <p:spPr>
          <a:xfrm xmlns:a="http://schemas.openxmlformats.org/drawingml/2006/main">
            <a:off x="640080"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1" name="Google Shape;101;p6">
            <a:extLst xmlns:a="http://schemas.openxmlformats.org/drawingml/2006/main">
              <a:ext uri="{FF2B5EF4-FFF2-40B4-BE49-F238E27FC236}">
                <a16:creationId xmlns:a16="http://schemas.microsoft.com/office/drawing/2014/main" id="{CB3BAE7F-4C87-4373-953F-C237568559FD}"/>
              </a:ext>
            </a:extLst>
          </p:cNvPr>
          <p:cNvSpPr>
            <a:spLocks xmlns:a="http://schemas.openxmlformats.org/drawingml/2006/main" noGrp="1"/>
          </p:cNvSpPr>
          <p:nvPr/>
        </p:nvSpPr>
        <p:spPr>
          <a:xfrm xmlns:a="http://schemas.openxmlformats.org/drawingml/2006/main">
            <a:off x="841248"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27" name="Google Shape;102;p6"/>
          <p:cNvPicPr>
            <a:picLocks xmlns:a="http://schemas.openxmlformats.org/drawingml/2006/main" noChangeAspect="1"/>
          </p:cNvPicPr>
          <p:nvPr/>
        </p:nvPicPr>
        <p:blipFill rotWithShape="1">
          <a:blip xmlns:r="http://schemas.openxmlformats.org/officeDocument/2006/relationships" xmlns:a="http://schemas.openxmlformats.org/drawingml/2006/main" r:embed="Rd154b8aa4131482a">
            <a:alphaModFix/>
          </a:blip>
          <a:srcRect xmlns:a="http://schemas.openxmlformats.org/drawingml/2006/main" l="0" t="0" r="0" b="0"/>
          <a:stretch xmlns:a="http://schemas.openxmlformats.org/drawingml/2006/main"/>
        </p:blipFill>
        <p:spPr>
          <a:xfrm xmlns:a="http://schemas.openxmlformats.org/drawingml/2006/main">
            <a:off x="960120" y="2331720"/>
            <a:ext cx="219456" cy="219456"/>
          </a:xfrm>
          <a:prstGeom xmlns:a="http://schemas.openxmlformats.org/drawingml/2006/main" prst="rect">
            <a:avLst/>
          </a:prstGeom>
          <a:ln xmlns:a="http://schemas.openxmlformats.org/drawingml/2006/main">
            <a:noFill/>
          </a:ln>
        </p:spPr>
      </p:pic>
      <p:sp>
        <p:nvSpPr>
          <p:cNvPr id="103" name="Google Shape;103;p6">
            <a:extLst xmlns:a="http://schemas.openxmlformats.org/drawingml/2006/main">
              <a:ext uri="{FF2B5EF4-FFF2-40B4-BE49-F238E27FC236}">
                <a16:creationId xmlns:a16="http://schemas.microsoft.com/office/drawing/2014/main" id="{02D2D627-5AF5-47FA-8232-5A9E97879D36}"/>
              </a:ext>
            </a:extLst>
          </p:cNvPr>
          <p:cNvSpPr>
            <a:spLocks xmlns:a="http://schemas.openxmlformats.org/drawingml/2006/main" noGrp="1"/>
          </p:cNvSpPr>
          <p:nvPr/>
        </p:nvSpPr>
        <p:spPr>
          <a:xfrm xmlns:a="http://schemas.openxmlformats.org/drawingml/2006/main">
            <a:off x="841248"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Recognition capability</a:t>
            </a:r>
          </a:p>
        </p:txBody>
      </p:sp>
      <p:sp>
        <p:nvSpPr>
          <p:cNvPr id="104" name="Google Shape;104;p6">
            <a:extLst xmlns:a="http://schemas.openxmlformats.org/drawingml/2006/main">
              <a:ext uri="{FF2B5EF4-FFF2-40B4-BE49-F238E27FC236}">
                <a16:creationId xmlns:a16="http://schemas.microsoft.com/office/drawing/2014/main" id="{442FCA58-9151-49E2-85D7-AD46DE83D878}"/>
              </a:ext>
            </a:extLst>
          </p:cNvPr>
          <p:cNvSpPr>
            <a:spLocks xmlns:a="http://schemas.openxmlformats.org/drawingml/2006/main" noGrp="1"/>
          </p:cNvSpPr>
          <p:nvPr/>
        </p:nvSpPr>
        <p:spPr>
          <a:xfrm xmlns:a="http://schemas.openxmlformats.org/drawingml/2006/main">
            <a:off x="841248"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Complementarity is given in coexistence, not created. Bounded units standing together in the ground are able to recognise one another through capacity, ability, and receptivity.</a:t>
            </a:r>
          </a:p>
        </p:txBody>
      </p:sp>
      <p:sp>
        <p:nvSpPr>
          <p:cNvPr id="105" name="Google Shape;105;p6">
            <a:extLst xmlns:a="http://schemas.openxmlformats.org/drawingml/2006/main">
              <a:ext uri="{FF2B5EF4-FFF2-40B4-BE49-F238E27FC236}">
                <a16:creationId xmlns:a16="http://schemas.microsoft.com/office/drawing/2014/main" id="{BFB21583-45C3-4066-8C04-8D41606400F3}"/>
              </a:ext>
            </a:extLst>
          </p:cNvPr>
          <p:cNvSpPr>
            <a:spLocks xmlns:a="http://schemas.openxmlformats.org/drawingml/2006/main" noGrp="1"/>
          </p:cNvSpPr>
          <p:nvPr/>
        </p:nvSpPr>
        <p:spPr>
          <a:xfrm xmlns:a="http://schemas.openxmlformats.org/drawingml/2006/main">
            <a:off x="3392424"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06" name="Google Shape;106;p6">
            <a:extLst xmlns:a="http://schemas.openxmlformats.org/drawingml/2006/main">
              <a:ext uri="{FF2B5EF4-FFF2-40B4-BE49-F238E27FC236}">
                <a16:creationId xmlns:a16="http://schemas.microsoft.com/office/drawing/2014/main" id="{FE0963FB-0ABF-408C-B796-25F3570E91F4}"/>
              </a:ext>
            </a:extLst>
          </p:cNvPr>
          <p:cNvSpPr>
            <a:spLocks xmlns:a="http://schemas.openxmlformats.org/drawingml/2006/main" noGrp="1"/>
          </p:cNvSpPr>
          <p:nvPr/>
        </p:nvSpPr>
        <p:spPr>
          <a:xfrm xmlns:a="http://schemas.openxmlformats.org/drawingml/2006/main">
            <a:off x="3593592"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2" name="Google Shape;107;p6"/>
          <p:cNvPicPr>
            <a:picLocks xmlns:a="http://schemas.openxmlformats.org/drawingml/2006/main" noChangeAspect="1"/>
          </p:cNvPicPr>
          <p:nvPr/>
        </p:nvPicPr>
        <p:blipFill rotWithShape="1">
          <a:blip xmlns:r="http://schemas.openxmlformats.org/officeDocument/2006/relationships" xmlns:a="http://schemas.openxmlformats.org/drawingml/2006/main" r:embed="Rc5eb85f55fd6457a">
            <a:alphaModFix/>
          </a:blip>
          <a:srcRect xmlns:a="http://schemas.openxmlformats.org/drawingml/2006/main" l="0" t="0" r="0" b="0"/>
          <a:stretch xmlns:a="http://schemas.openxmlformats.org/drawingml/2006/main"/>
        </p:blipFill>
        <p:spPr>
          <a:xfrm xmlns:a="http://schemas.openxmlformats.org/drawingml/2006/main">
            <a:off x="3712464" y="2331720"/>
            <a:ext cx="219456" cy="219456"/>
          </a:xfrm>
          <a:prstGeom xmlns:a="http://schemas.openxmlformats.org/drawingml/2006/main" prst="rect">
            <a:avLst/>
          </a:prstGeom>
          <a:ln xmlns:a="http://schemas.openxmlformats.org/drawingml/2006/main">
            <a:noFill/>
          </a:ln>
        </p:spPr>
      </p:pic>
      <p:sp>
        <p:nvSpPr>
          <p:cNvPr id="108" name="Google Shape;108;p6">
            <a:extLst xmlns:a="http://schemas.openxmlformats.org/drawingml/2006/main">
              <a:ext uri="{FF2B5EF4-FFF2-40B4-BE49-F238E27FC236}">
                <a16:creationId xmlns:a16="http://schemas.microsoft.com/office/drawing/2014/main" id="{45AD0337-6E9F-4E07-A605-1EBFCB05343A}"/>
              </a:ext>
            </a:extLst>
          </p:cNvPr>
          <p:cNvSpPr>
            <a:spLocks xmlns:a="http://schemas.openxmlformats.org/drawingml/2006/main" noGrp="1"/>
          </p:cNvSpPr>
          <p:nvPr/>
        </p:nvSpPr>
        <p:spPr>
          <a:xfrm xmlns:a="http://schemas.openxmlformats.org/drawingml/2006/main">
            <a:off x="3593592"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Activeness</a:t>
            </a:r>
          </a:p>
        </p:txBody>
      </p:sp>
      <p:sp>
        <p:nvSpPr>
          <p:cNvPr id="109" name="Google Shape;109;p6">
            <a:extLst xmlns:a="http://schemas.openxmlformats.org/drawingml/2006/main">
              <a:ext uri="{FF2B5EF4-FFF2-40B4-BE49-F238E27FC236}">
                <a16:creationId xmlns:a16="http://schemas.microsoft.com/office/drawing/2014/main" id="{DCA2BB7D-29F2-470E-9C21-735047DE802B}"/>
              </a:ext>
            </a:extLst>
          </p:cNvPr>
          <p:cNvSpPr>
            <a:spLocks xmlns:a="http://schemas.openxmlformats.org/drawingml/2006/main" noGrp="1"/>
          </p:cNvSpPr>
          <p:nvPr/>
        </p:nvSpPr>
        <p:spPr>
          <a:xfrm xmlns:a="http://schemas.openxmlformats.org/drawingml/2006/main">
            <a:off x="3593592"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“Unit + Energy fullness = Activeness.” Inherent energy and basic impulsion make the unit active, appearing as the inseparable triad of effort, motion, and result.</a:t>
            </a:r>
          </a:p>
        </p:txBody>
      </p:sp>
      <p:sp>
        <p:nvSpPr>
          <p:cNvPr id="110" name="Google Shape;110;p6">
            <a:extLst xmlns:a="http://schemas.openxmlformats.org/drawingml/2006/main">
              <a:ext uri="{FF2B5EF4-FFF2-40B4-BE49-F238E27FC236}">
                <a16:creationId xmlns:a16="http://schemas.microsoft.com/office/drawing/2014/main" id="{8450D6FC-AF89-4184-B577-A101F82100A0}"/>
              </a:ext>
            </a:extLst>
          </p:cNvPr>
          <p:cNvSpPr>
            <a:spLocks xmlns:a="http://schemas.openxmlformats.org/drawingml/2006/main" noGrp="1"/>
          </p:cNvSpPr>
          <p:nvPr/>
        </p:nvSpPr>
        <p:spPr>
          <a:xfrm xmlns:a="http://schemas.openxmlformats.org/drawingml/2006/main">
            <a:off x="6144768" y="2011680"/>
            <a:ext cx="2615184" cy="2395728"/>
          </a:xfrm>
          <a:prstGeom xmlns:a="http://schemas.openxmlformats.org/drawingml/2006/main" prst="roundRect">
            <a:avLst>
              <a:gd name="adj" fmla="val 381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11" name="Google Shape;111;p6">
            <a:extLst xmlns:a="http://schemas.openxmlformats.org/drawingml/2006/main">
              <a:ext uri="{FF2B5EF4-FFF2-40B4-BE49-F238E27FC236}">
                <a16:creationId xmlns:a16="http://schemas.microsoft.com/office/drawing/2014/main" id="{272AE6F5-3A10-43A6-8A9B-DACCA9D60ABB}"/>
              </a:ext>
            </a:extLst>
          </p:cNvPr>
          <p:cNvSpPr>
            <a:spLocks xmlns:a="http://schemas.openxmlformats.org/drawingml/2006/main" noGrp="1"/>
          </p:cNvSpPr>
          <p:nvPr/>
        </p:nvSpPr>
        <p:spPr>
          <a:xfrm xmlns:a="http://schemas.openxmlformats.org/drawingml/2006/main">
            <a:off x="6345936" y="2212848"/>
            <a:ext cx="457200" cy="457200"/>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pic>
        <p:nvPicPr>
          <p:cNvPr id="137" name="Google Shape;112;p6"/>
          <p:cNvPicPr>
            <a:picLocks xmlns:a="http://schemas.openxmlformats.org/drawingml/2006/main" noChangeAspect="1"/>
          </p:cNvPicPr>
          <p:nvPr/>
        </p:nvPicPr>
        <p:blipFill rotWithShape="1">
          <a:blip xmlns:r="http://schemas.openxmlformats.org/officeDocument/2006/relationships" xmlns:a="http://schemas.openxmlformats.org/drawingml/2006/main" r:embed="R84f61d41cc954bd3">
            <a:alphaModFix/>
          </a:blip>
          <a:srcRect xmlns:a="http://schemas.openxmlformats.org/drawingml/2006/main" l="0" t="0" r="0" b="0"/>
          <a:stretch xmlns:a="http://schemas.openxmlformats.org/drawingml/2006/main"/>
        </p:blipFill>
        <p:spPr>
          <a:xfrm xmlns:a="http://schemas.openxmlformats.org/drawingml/2006/main">
            <a:off x="6464808" y="2331720"/>
            <a:ext cx="219456" cy="219456"/>
          </a:xfrm>
          <a:prstGeom xmlns:a="http://schemas.openxmlformats.org/drawingml/2006/main" prst="rect">
            <a:avLst/>
          </a:prstGeom>
          <a:ln xmlns:a="http://schemas.openxmlformats.org/drawingml/2006/main">
            <a:noFill/>
          </a:ln>
        </p:spPr>
      </p:pic>
      <p:sp>
        <p:nvSpPr>
          <p:cNvPr id="113" name="Google Shape;113;p6">
            <a:extLst xmlns:a="http://schemas.openxmlformats.org/drawingml/2006/main">
              <a:ext uri="{FF2B5EF4-FFF2-40B4-BE49-F238E27FC236}">
                <a16:creationId xmlns:a16="http://schemas.microsoft.com/office/drawing/2014/main" id="{5F84AE7E-4FE8-443E-9D4D-C2B305EA31A4}"/>
              </a:ext>
            </a:extLst>
          </p:cNvPr>
          <p:cNvSpPr>
            <a:spLocks xmlns:a="http://schemas.openxmlformats.org/drawingml/2006/main" noGrp="1"/>
          </p:cNvSpPr>
          <p:nvPr/>
        </p:nvSpPr>
        <p:spPr>
          <a:xfrm xmlns:a="http://schemas.openxmlformats.org/drawingml/2006/main">
            <a:off x="6345936" y="2761488"/>
            <a:ext cx="224028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50" b="1" i="0" u="none" cap="none">
                <a:solidFill>
                  <a:srgbClr val="1E2447"/>
                </a:solidFill>
                <a:latin typeface="Cambria"/>
                <a:ea typeface="Cambria"/>
                <a:cs typeface="Cambria"/>
              </a:rPr>
              <a:t>Inherent regulation</a:t>
            </a:r>
          </a:p>
        </p:txBody>
      </p:sp>
      <p:sp>
        <p:nvSpPr>
          <p:cNvPr id="114" name="Google Shape;114;p6">
            <a:extLst xmlns:a="http://schemas.openxmlformats.org/drawingml/2006/main">
              <a:ext uri="{FF2B5EF4-FFF2-40B4-BE49-F238E27FC236}">
                <a16:creationId xmlns:a16="http://schemas.microsoft.com/office/drawing/2014/main" id="{6AD95588-B95F-4284-90AE-532BA6D1F501}"/>
              </a:ext>
            </a:extLst>
          </p:cNvPr>
          <p:cNvSpPr>
            <a:spLocks xmlns:a="http://schemas.openxmlformats.org/drawingml/2006/main" noGrp="1"/>
          </p:cNvSpPr>
          <p:nvPr/>
        </p:nvSpPr>
        <p:spPr>
          <a:xfrm xmlns:a="http://schemas.openxmlformats.org/drawingml/2006/main">
            <a:off x="6345936" y="3090672"/>
            <a:ext cx="2240280" cy="12344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Inherent regulation appears as law and orderliness within the unit’s participation in coexistence — mediative and conserving, not an external statutory command.</a:t>
            </a:r>
          </a:p>
        </p:txBody>
      </p:sp>
      <p:sp>
        <p:nvSpPr>
          <p:cNvPr id="115" name="Google Shape;115;p6">
            <a:extLst xmlns:a="http://schemas.openxmlformats.org/drawingml/2006/main">
              <a:ext uri="{FF2B5EF4-FFF2-40B4-BE49-F238E27FC236}">
                <a16:creationId xmlns:a16="http://schemas.microsoft.com/office/drawing/2014/main" id="{62AA3251-112D-4D49-9F6A-820023242B5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These three endowments describe the unit side of the bond. They do not imply that every unit progresses to T1; constitutional completeness belongs to a specific line of atomic development. — SB pp. 49–62, 69; MVD pp. 26, 32–33, 40; JV p. 150</a:t>
            </a:r>
          </a:p>
        </p:txBody>
      </p:sp>
    </p:spTree>
    <p:extLst>
      <p:ext uri="{BB962C8B-B14F-4D97-AF65-F5344CB8AC3E}">
        <p14:creationId xmlns:p14="http://schemas.microsoft.com/office/powerpoint/2010/main" val="113158834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1" name="Google Shape;121;p7">
            <a:extLst xmlns:a="http://schemas.openxmlformats.org/drawingml/2006/main">
              <a:ext uri="{FF2B5EF4-FFF2-40B4-BE49-F238E27FC236}">
                <a16:creationId xmlns:a16="http://schemas.microsoft.com/office/drawing/2014/main" id="{0569449A-A274-4E16-B333-34D5BF6BC46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2" name="Google Shape;122;p7">
            <a:extLst xmlns:a="http://schemas.openxmlformats.org/drawingml/2006/main">
              <a:ext uri="{FF2B5EF4-FFF2-40B4-BE49-F238E27FC236}">
                <a16:creationId xmlns:a16="http://schemas.microsoft.com/office/drawing/2014/main" id="{3AFB5F38-1232-4E65-9C9C-1D83AB32ACF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3" name="Google Shape;123;p7">
            <a:extLst xmlns:a="http://schemas.openxmlformats.org/drawingml/2006/main">
              <a:ext uri="{FF2B5EF4-FFF2-40B4-BE49-F238E27FC236}">
                <a16:creationId xmlns:a16="http://schemas.microsoft.com/office/drawing/2014/main" id="{FF1B1BEA-AE4E-424A-BB17-1D5511850CC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4" name="Google Shape;124;p7">
            <a:extLst xmlns:a="http://schemas.openxmlformats.org/drawingml/2006/main">
              <a:ext uri="{FF2B5EF4-FFF2-40B4-BE49-F238E27FC236}">
                <a16:creationId xmlns:a16="http://schemas.microsoft.com/office/drawing/2014/main" id="{6AC83D93-D9D8-41DE-88E0-DCC165A715AF}"/>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a:t>
            </a:r>
          </a:p>
        </p:txBody>
      </p:sp>
      <p:sp>
        <p:nvSpPr>
          <p:cNvPr id="125" name="Google Shape;125;p7">
            <a:extLst xmlns:a="http://schemas.openxmlformats.org/drawingml/2006/main">
              <a:ext uri="{FF2B5EF4-FFF2-40B4-BE49-F238E27FC236}">
                <a16:creationId xmlns:a16="http://schemas.microsoft.com/office/drawing/2014/main" id="{5D78DF99-89E5-4140-8364-D7EDDB245235}"/>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What Every Unit Is: Four Inseparable Aspects</a:t>
            </a:r>
          </a:p>
        </p:txBody>
      </p:sp>
      <p:sp>
        <p:nvSpPr>
          <p:cNvPr id="126" name="Google Shape;126;p7">
            <a:extLst xmlns:a="http://schemas.openxmlformats.org/drawingml/2006/main">
              <a:ext uri="{FF2B5EF4-FFF2-40B4-BE49-F238E27FC236}">
                <a16:creationId xmlns:a16="http://schemas.microsoft.com/office/drawing/2014/main" id="{F22EFADD-FB38-41E2-B926-6A30C43AF90D}"/>
              </a:ext>
            </a:extLst>
          </p:cNvPr>
          <p:cNvSpPr>
            <a:spLocks xmlns:a="http://schemas.openxmlformats.org/drawingml/2006/main" noGrp="1"/>
          </p:cNvSpPr>
          <p:nvPr/>
        </p:nvSpPr>
        <p:spPr>
          <a:xfrm xmlns:a="http://schemas.openxmlformats.org/drawingml/2006/main">
            <a:off x="64008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7" name="Google Shape;127;p7">
            <a:extLst xmlns:a="http://schemas.openxmlformats.org/drawingml/2006/main">
              <a:ext uri="{FF2B5EF4-FFF2-40B4-BE49-F238E27FC236}">
                <a16:creationId xmlns:a16="http://schemas.microsoft.com/office/drawing/2014/main" id="{3F928903-C6BA-4173-B798-65605EA410F9}"/>
              </a:ext>
            </a:extLst>
          </p:cNvPr>
          <p:cNvSpPr>
            <a:spLocks xmlns:a="http://schemas.openxmlformats.org/drawingml/2006/main" noGrp="1"/>
          </p:cNvSpPr>
          <p:nvPr/>
        </p:nvSpPr>
        <p:spPr>
          <a:xfrm xmlns:a="http://schemas.openxmlformats.org/drawingml/2006/main">
            <a:off x="82296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8" name="Google Shape;128;p7">
            <a:extLst xmlns:a="http://schemas.openxmlformats.org/drawingml/2006/main">
              <a:ext uri="{FF2B5EF4-FFF2-40B4-BE49-F238E27FC236}">
                <a16:creationId xmlns:a16="http://schemas.microsoft.com/office/drawing/2014/main" id="{0713A3FF-FCE5-4232-821E-146CB3B8BD6E}"/>
              </a:ext>
            </a:extLst>
          </p:cNvPr>
          <p:cNvSpPr>
            <a:spLocks xmlns:a="http://schemas.openxmlformats.org/drawingml/2006/main" noGrp="1"/>
          </p:cNvSpPr>
          <p:nvPr/>
        </p:nvSpPr>
        <p:spPr>
          <a:xfrm xmlns:a="http://schemas.openxmlformats.org/drawingml/2006/main">
            <a:off x="88513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29" name="Google Shape;129;p7">
            <a:extLst xmlns:a="http://schemas.openxmlformats.org/drawingml/2006/main">
              <a:ext uri="{FF2B5EF4-FFF2-40B4-BE49-F238E27FC236}">
                <a16:creationId xmlns:a16="http://schemas.microsoft.com/office/drawing/2014/main" id="{BC55DAA0-0B8E-474D-9049-67DCC4F87E59}"/>
              </a:ext>
            </a:extLst>
          </p:cNvPr>
          <p:cNvSpPr>
            <a:spLocks xmlns:a="http://schemas.openxmlformats.org/drawingml/2006/main" noGrp="1"/>
          </p:cNvSpPr>
          <p:nvPr/>
        </p:nvSpPr>
        <p:spPr>
          <a:xfrm xmlns:a="http://schemas.openxmlformats.org/drawingml/2006/main">
            <a:off x="93799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0" name="Google Shape;130;p7">
            <a:extLst xmlns:a="http://schemas.openxmlformats.org/drawingml/2006/main">
              <a:ext uri="{FF2B5EF4-FFF2-40B4-BE49-F238E27FC236}">
                <a16:creationId xmlns:a16="http://schemas.microsoft.com/office/drawing/2014/main" id="{3279881E-8015-4698-B672-C8EC5DD4EFD2}"/>
              </a:ext>
            </a:extLst>
          </p:cNvPr>
          <p:cNvSpPr>
            <a:spLocks xmlns:a="http://schemas.openxmlformats.org/drawingml/2006/main" noGrp="1"/>
          </p:cNvSpPr>
          <p:nvPr/>
        </p:nvSpPr>
        <p:spPr>
          <a:xfrm xmlns:a="http://schemas.openxmlformats.org/drawingml/2006/main">
            <a:off x="126187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Form</a:t>
            </a:r>
          </a:p>
        </p:txBody>
      </p:sp>
      <p:sp>
        <p:nvSpPr>
          <p:cNvPr id="131" name="Google Shape;131;p7">
            <a:extLst xmlns:a="http://schemas.openxmlformats.org/drawingml/2006/main">
              <a:ext uri="{FF2B5EF4-FFF2-40B4-BE49-F238E27FC236}">
                <a16:creationId xmlns:a16="http://schemas.microsoft.com/office/drawing/2014/main" id="{EE46E617-9E7A-47CE-AF1F-A7D00B26D4A0}"/>
              </a:ext>
            </a:extLst>
          </p:cNvPr>
          <p:cNvSpPr>
            <a:spLocks xmlns:a="http://schemas.openxmlformats.org/drawingml/2006/main" noGrp="1"/>
          </p:cNvSpPr>
          <p:nvPr/>
        </p:nvSpPr>
        <p:spPr>
          <a:xfrm xmlns:a="http://schemas.openxmlformats.org/drawingml/2006/main">
            <a:off x="126187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Shape, volume, and density — by which a bounded unit is individuated. Shared across all orders.</a:t>
            </a:r>
          </a:p>
        </p:txBody>
      </p:sp>
      <p:sp>
        <p:nvSpPr>
          <p:cNvPr id="132" name="Google Shape;132;p7">
            <a:extLst xmlns:a="http://schemas.openxmlformats.org/drawingml/2006/main">
              <a:ext uri="{FF2B5EF4-FFF2-40B4-BE49-F238E27FC236}">
                <a16:creationId xmlns:a16="http://schemas.microsoft.com/office/drawing/2014/main" id="{B3F006A5-0C82-4032-BFF7-E7C00B02D836}"/>
              </a:ext>
            </a:extLst>
          </p:cNvPr>
          <p:cNvSpPr>
            <a:spLocks xmlns:a="http://schemas.openxmlformats.org/drawingml/2006/main" noGrp="1"/>
          </p:cNvSpPr>
          <p:nvPr/>
        </p:nvSpPr>
        <p:spPr>
          <a:xfrm xmlns:a="http://schemas.openxmlformats.org/drawingml/2006/main">
            <a:off x="4709160" y="128016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3" name="Google Shape;133;p7">
            <a:extLst xmlns:a="http://schemas.openxmlformats.org/drawingml/2006/main">
              <a:ext uri="{FF2B5EF4-FFF2-40B4-BE49-F238E27FC236}">
                <a16:creationId xmlns:a16="http://schemas.microsoft.com/office/drawing/2014/main" id="{FBA67456-B9AC-4516-8676-E2B2ACC31A2C}"/>
              </a:ext>
            </a:extLst>
          </p:cNvPr>
          <p:cNvSpPr>
            <a:spLocks xmlns:a="http://schemas.openxmlformats.org/drawingml/2006/main" noGrp="1"/>
          </p:cNvSpPr>
          <p:nvPr/>
        </p:nvSpPr>
        <p:spPr>
          <a:xfrm xmlns:a="http://schemas.openxmlformats.org/drawingml/2006/main">
            <a:off x="4892040" y="146304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4" name="Google Shape;134;p7">
            <a:extLst xmlns:a="http://schemas.openxmlformats.org/drawingml/2006/main">
              <a:ext uri="{FF2B5EF4-FFF2-40B4-BE49-F238E27FC236}">
                <a16:creationId xmlns:a16="http://schemas.microsoft.com/office/drawing/2014/main" id="{402D276D-FADF-4712-AADA-5E15FD18B8F7}"/>
              </a:ext>
            </a:extLst>
          </p:cNvPr>
          <p:cNvSpPr>
            <a:spLocks xmlns:a="http://schemas.openxmlformats.org/drawingml/2006/main" noGrp="1"/>
          </p:cNvSpPr>
          <p:nvPr/>
        </p:nvSpPr>
        <p:spPr>
          <a:xfrm xmlns:a="http://schemas.openxmlformats.org/drawingml/2006/main">
            <a:off x="4954219" y="152521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5" name="Google Shape;135;p7">
            <a:extLst xmlns:a="http://schemas.openxmlformats.org/drawingml/2006/main">
              <a:ext uri="{FF2B5EF4-FFF2-40B4-BE49-F238E27FC236}">
                <a16:creationId xmlns:a16="http://schemas.microsoft.com/office/drawing/2014/main" id="{74BA38F1-4DC9-4B82-918B-A0F226961D01}"/>
              </a:ext>
            </a:extLst>
          </p:cNvPr>
          <p:cNvSpPr>
            <a:spLocks xmlns:a="http://schemas.openxmlformats.org/drawingml/2006/main" noGrp="1"/>
          </p:cNvSpPr>
          <p:nvPr/>
        </p:nvSpPr>
        <p:spPr>
          <a:xfrm xmlns:a="http://schemas.openxmlformats.org/drawingml/2006/main">
            <a:off x="5007072" y="157807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6" name="Google Shape;136;p7">
            <a:extLst xmlns:a="http://schemas.openxmlformats.org/drawingml/2006/main">
              <a:ext uri="{FF2B5EF4-FFF2-40B4-BE49-F238E27FC236}">
                <a16:creationId xmlns:a16="http://schemas.microsoft.com/office/drawing/2014/main" id="{7C820C43-92C7-48AA-8ACE-A42BB6B479D8}"/>
              </a:ext>
            </a:extLst>
          </p:cNvPr>
          <p:cNvSpPr>
            <a:spLocks xmlns:a="http://schemas.openxmlformats.org/drawingml/2006/main" noGrp="1"/>
          </p:cNvSpPr>
          <p:nvPr/>
        </p:nvSpPr>
        <p:spPr>
          <a:xfrm xmlns:a="http://schemas.openxmlformats.org/drawingml/2006/main">
            <a:off x="5330952" y="138988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Properties</a:t>
            </a:r>
          </a:p>
        </p:txBody>
      </p:sp>
      <p:sp>
        <p:nvSpPr>
          <p:cNvPr id="137" name="Google Shape;137;p7">
            <a:extLst xmlns:a="http://schemas.openxmlformats.org/drawingml/2006/main">
              <a:ext uri="{FF2B5EF4-FFF2-40B4-BE49-F238E27FC236}">
                <a16:creationId xmlns:a16="http://schemas.microsoft.com/office/drawing/2014/main" id="{6197620A-1878-4EB3-82D6-22E6EEAFF152}"/>
              </a:ext>
            </a:extLst>
          </p:cNvPr>
          <p:cNvSpPr>
            <a:spLocks xmlns:a="http://schemas.openxmlformats.org/drawingml/2006/main" noGrp="1"/>
          </p:cNvSpPr>
          <p:nvPr/>
        </p:nvSpPr>
        <p:spPr>
          <a:xfrm xmlns:a="http://schemas.openxmlformats.org/drawingml/2006/main">
            <a:off x="5330952" y="168249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Effects units have on one another in mutuality — generative, degenerative, and mediative (assisting creation, dissolution, sustainment).</a:t>
            </a:r>
          </a:p>
        </p:txBody>
      </p:sp>
      <p:sp>
        <p:nvSpPr>
          <p:cNvPr id="138" name="Google Shape;138;p7">
            <a:extLst xmlns:a="http://schemas.openxmlformats.org/drawingml/2006/main">
              <a:ext uri="{FF2B5EF4-FFF2-40B4-BE49-F238E27FC236}">
                <a16:creationId xmlns:a16="http://schemas.microsoft.com/office/drawing/2014/main" id="{ABAAA305-E921-4E2C-9495-F35ACED1541E}"/>
              </a:ext>
            </a:extLst>
          </p:cNvPr>
          <p:cNvSpPr>
            <a:spLocks xmlns:a="http://schemas.openxmlformats.org/drawingml/2006/main" noGrp="1"/>
          </p:cNvSpPr>
          <p:nvPr/>
        </p:nvSpPr>
        <p:spPr>
          <a:xfrm xmlns:a="http://schemas.openxmlformats.org/drawingml/2006/main">
            <a:off x="64008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39" name="Google Shape;139;p7">
            <a:extLst xmlns:a="http://schemas.openxmlformats.org/drawingml/2006/main">
              <a:ext uri="{FF2B5EF4-FFF2-40B4-BE49-F238E27FC236}">
                <a16:creationId xmlns:a16="http://schemas.microsoft.com/office/drawing/2014/main" id="{68872607-854C-40F0-8E05-997A43DC5F05}"/>
              </a:ext>
            </a:extLst>
          </p:cNvPr>
          <p:cNvSpPr>
            <a:spLocks xmlns:a="http://schemas.openxmlformats.org/drawingml/2006/main" noGrp="1"/>
          </p:cNvSpPr>
          <p:nvPr/>
        </p:nvSpPr>
        <p:spPr>
          <a:xfrm xmlns:a="http://schemas.openxmlformats.org/drawingml/2006/main">
            <a:off x="82296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0" name="Google Shape;140;p7">
            <a:extLst xmlns:a="http://schemas.openxmlformats.org/drawingml/2006/main">
              <a:ext uri="{FF2B5EF4-FFF2-40B4-BE49-F238E27FC236}">
                <a16:creationId xmlns:a16="http://schemas.microsoft.com/office/drawing/2014/main" id="{E8ECDDF5-B5FF-4101-A5F1-2C52F5D4AECB}"/>
              </a:ext>
            </a:extLst>
          </p:cNvPr>
          <p:cNvSpPr>
            <a:spLocks xmlns:a="http://schemas.openxmlformats.org/drawingml/2006/main" noGrp="1"/>
          </p:cNvSpPr>
          <p:nvPr/>
        </p:nvSpPr>
        <p:spPr>
          <a:xfrm xmlns:a="http://schemas.openxmlformats.org/drawingml/2006/main">
            <a:off x="88513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1" name="Google Shape;141;p7">
            <a:extLst xmlns:a="http://schemas.openxmlformats.org/drawingml/2006/main">
              <a:ext uri="{FF2B5EF4-FFF2-40B4-BE49-F238E27FC236}">
                <a16:creationId xmlns:a16="http://schemas.microsoft.com/office/drawing/2014/main" id="{23A623C9-754E-46F5-970A-0BC5E748AA8A}"/>
              </a:ext>
            </a:extLst>
          </p:cNvPr>
          <p:cNvSpPr>
            <a:spLocks xmlns:a="http://schemas.openxmlformats.org/drawingml/2006/main" noGrp="1"/>
          </p:cNvSpPr>
          <p:nvPr/>
        </p:nvSpPr>
        <p:spPr>
          <a:xfrm xmlns:a="http://schemas.openxmlformats.org/drawingml/2006/main">
            <a:off x="93799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2" name="Google Shape;142;p7">
            <a:extLst xmlns:a="http://schemas.openxmlformats.org/drawingml/2006/main">
              <a:ext uri="{FF2B5EF4-FFF2-40B4-BE49-F238E27FC236}">
                <a16:creationId xmlns:a16="http://schemas.microsoft.com/office/drawing/2014/main" id="{B6835301-94E6-408C-8C06-AAAE5CC2BEA1}"/>
              </a:ext>
            </a:extLst>
          </p:cNvPr>
          <p:cNvSpPr>
            <a:spLocks xmlns:a="http://schemas.openxmlformats.org/drawingml/2006/main" noGrp="1"/>
          </p:cNvSpPr>
          <p:nvPr/>
        </p:nvSpPr>
        <p:spPr>
          <a:xfrm xmlns:a="http://schemas.openxmlformats.org/drawingml/2006/main">
            <a:off x="126187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Essential nature</a:t>
            </a:r>
          </a:p>
        </p:txBody>
      </p:sp>
      <p:sp>
        <p:nvSpPr>
          <p:cNvPr id="143" name="Google Shape;143;p7">
            <a:extLst xmlns:a="http://schemas.openxmlformats.org/drawingml/2006/main">
              <a:ext uri="{FF2B5EF4-FFF2-40B4-BE49-F238E27FC236}">
                <a16:creationId xmlns:a16="http://schemas.microsoft.com/office/drawing/2014/main" id="{3010F32F-C47C-46C9-AE74-07AAECCD40F9}"/>
              </a:ext>
            </a:extLst>
          </p:cNvPr>
          <p:cNvSpPr>
            <a:spLocks xmlns:a="http://schemas.openxmlformats.org/drawingml/2006/main" noGrp="1"/>
          </p:cNvSpPr>
          <p:nvPr/>
        </p:nvSpPr>
        <p:spPr>
          <a:xfrm xmlns:a="http://schemas.openxmlformats.org/drawingml/2006/main">
            <a:off x="126187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How the usefulness of a unit’s properties participates in its order — its distinctive way of being (its “ness”).</a:t>
            </a:r>
          </a:p>
        </p:txBody>
      </p:sp>
      <p:sp>
        <p:nvSpPr>
          <p:cNvPr id="144" name="Google Shape;144;p7">
            <a:extLst xmlns:a="http://schemas.openxmlformats.org/drawingml/2006/main">
              <a:ext uri="{FF2B5EF4-FFF2-40B4-BE49-F238E27FC236}">
                <a16:creationId xmlns:a16="http://schemas.microsoft.com/office/drawing/2014/main" id="{979C8C10-E5C9-40FA-BEFF-C9C37F38BCD2}"/>
              </a:ext>
            </a:extLst>
          </p:cNvPr>
          <p:cNvSpPr>
            <a:spLocks xmlns:a="http://schemas.openxmlformats.org/drawingml/2006/main" noGrp="1"/>
          </p:cNvSpPr>
          <p:nvPr/>
        </p:nvSpPr>
        <p:spPr>
          <a:xfrm xmlns:a="http://schemas.openxmlformats.org/drawingml/2006/main">
            <a:off x="4709160" y="2606040"/>
            <a:ext cx="3794760" cy="1188720"/>
          </a:xfrm>
          <a:prstGeom xmlns:a="http://schemas.openxmlformats.org/drawingml/2006/main" prst="roundRect">
            <a:avLst>
              <a:gd name="adj" fmla="val 6923"/>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5" name="Google Shape;145;p7">
            <a:extLst xmlns:a="http://schemas.openxmlformats.org/drawingml/2006/main">
              <a:ext uri="{FF2B5EF4-FFF2-40B4-BE49-F238E27FC236}">
                <a16:creationId xmlns:a16="http://schemas.microsoft.com/office/drawing/2014/main" id="{B7BE9008-3C5F-4DE6-B686-7614C71C891D}"/>
              </a:ext>
            </a:extLst>
          </p:cNvPr>
          <p:cNvSpPr>
            <a:spLocks xmlns:a="http://schemas.openxmlformats.org/drawingml/2006/main" noGrp="1"/>
          </p:cNvSpPr>
          <p:nvPr/>
        </p:nvSpPr>
        <p:spPr>
          <a:xfrm xmlns:a="http://schemas.openxmlformats.org/drawingml/2006/main">
            <a:off x="4892040" y="2788920"/>
            <a:ext cx="310896" cy="31089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6" name="Google Shape;146;p7">
            <a:extLst xmlns:a="http://schemas.openxmlformats.org/drawingml/2006/main">
              <a:ext uri="{FF2B5EF4-FFF2-40B4-BE49-F238E27FC236}">
                <a16:creationId xmlns:a16="http://schemas.microsoft.com/office/drawing/2014/main" id="{2544BADA-8352-4FD8-AAAE-F1A46BB7D4D9}"/>
              </a:ext>
            </a:extLst>
          </p:cNvPr>
          <p:cNvSpPr>
            <a:spLocks xmlns:a="http://schemas.openxmlformats.org/drawingml/2006/main" noGrp="1"/>
          </p:cNvSpPr>
          <p:nvPr/>
        </p:nvSpPr>
        <p:spPr>
          <a:xfrm xmlns:a="http://schemas.openxmlformats.org/drawingml/2006/main">
            <a:off x="4954219" y="2851099"/>
            <a:ext cx="186538" cy="186538"/>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7" name="Google Shape;147;p7">
            <a:extLst xmlns:a="http://schemas.openxmlformats.org/drawingml/2006/main">
              <a:ext uri="{FF2B5EF4-FFF2-40B4-BE49-F238E27FC236}">
                <a16:creationId xmlns:a16="http://schemas.microsoft.com/office/drawing/2014/main" id="{F167243D-1618-4FCA-9349-F9976377FB23}"/>
              </a:ext>
            </a:extLst>
          </p:cNvPr>
          <p:cNvSpPr>
            <a:spLocks xmlns:a="http://schemas.openxmlformats.org/drawingml/2006/main" noGrp="1"/>
          </p:cNvSpPr>
          <p:nvPr/>
        </p:nvSpPr>
        <p:spPr>
          <a:xfrm xmlns:a="http://schemas.openxmlformats.org/drawingml/2006/main">
            <a:off x="5007072" y="2903952"/>
            <a:ext cx="80833" cy="80833"/>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48" name="Google Shape;148;p7">
            <a:extLst xmlns:a="http://schemas.openxmlformats.org/drawingml/2006/main">
              <a:ext uri="{FF2B5EF4-FFF2-40B4-BE49-F238E27FC236}">
                <a16:creationId xmlns:a16="http://schemas.microsoft.com/office/drawing/2014/main" id="{7EA35A5F-6CC8-4E99-909D-22E5F8E152BE}"/>
              </a:ext>
            </a:extLst>
          </p:cNvPr>
          <p:cNvSpPr>
            <a:spLocks xmlns:a="http://schemas.openxmlformats.org/drawingml/2006/main" noGrp="1"/>
          </p:cNvSpPr>
          <p:nvPr/>
        </p:nvSpPr>
        <p:spPr>
          <a:xfrm xmlns:a="http://schemas.openxmlformats.org/drawingml/2006/main">
            <a:off x="5330952" y="2715768"/>
            <a:ext cx="30175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1E2447"/>
                </a:solidFill>
                <a:latin typeface="Cambria"/>
                <a:ea typeface="Cambria"/>
                <a:cs typeface="Cambria"/>
              </a:rPr>
              <a:t>Dharma</a:t>
            </a:r>
          </a:p>
        </p:txBody>
      </p:sp>
      <p:sp>
        <p:nvSpPr>
          <p:cNvPr id="149" name="Google Shape;149;p7">
            <a:extLst xmlns:a="http://schemas.openxmlformats.org/drawingml/2006/main">
              <a:ext uri="{FF2B5EF4-FFF2-40B4-BE49-F238E27FC236}">
                <a16:creationId xmlns:a16="http://schemas.microsoft.com/office/drawing/2014/main" id="{264C2BCA-8EAD-4F4B-A664-235EDD8F95DE}"/>
              </a:ext>
            </a:extLst>
          </p:cNvPr>
          <p:cNvSpPr>
            <a:spLocks xmlns:a="http://schemas.openxmlformats.org/drawingml/2006/main" noGrp="1"/>
          </p:cNvSpPr>
          <p:nvPr/>
        </p:nvSpPr>
        <p:spPr>
          <a:xfrm xmlns:a="http://schemas.openxmlformats.org/drawingml/2006/main">
            <a:off x="5330952" y="3008376"/>
            <a:ext cx="30632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a unit cannot be separated from — its innateness and fulfilment. Since existence is coexistence, indestructibility is the ultimate dharma.</a:t>
            </a:r>
          </a:p>
        </p:txBody>
      </p:sp>
      <p:sp>
        <p:nvSpPr>
          <p:cNvPr id="150" name="Google Shape;150;p7">
            <a:extLst xmlns:a="http://schemas.openxmlformats.org/drawingml/2006/main">
              <a:ext uri="{FF2B5EF4-FFF2-40B4-BE49-F238E27FC236}">
                <a16:creationId xmlns:a16="http://schemas.microsoft.com/office/drawing/2014/main" id="{9E8F3EB5-A45D-439A-AC12-BFF96C206909}"/>
              </a:ext>
            </a:extLst>
          </p:cNvPr>
          <p:cNvSpPr>
            <a:spLocks xmlns:a="http://schemas.openxmlformats.org/drawingml/2006/main" noGrp="1"/>
          </p:cNvSpPr>
          <p:nvPr/>
        </p:nvSpPr>
        <p:spPr>
          <a:xfrm xmlns:a="http://schemas.openxmlformats.org/drawingml/2006/main">
            <a:off x="640080" y="3977640"/>
            <a:ext cx="7863840" cy="749808"/>
          </a:xfrm>
          <a:prstGeom xmlns:a="http://schemas.openxmlformats.org/drawingml/2006/main" prst="roundRect">
            <a:avLst>
              <a:gd name="adj" fmla="val 10976"/>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1" name="Google Shape;151;p7">
            <a:extLst xmlns:a="http://schemas.openxmlformats.org/drawingml/2006/main">
              <a:ext uri="{FF2B5EF4-FFF2-40B4-BE49-F238E27FC236}">
                <a16:creationId xmlns:a16="http://schemas.microsoft.com/office/drawing/2014/main" id="{A0B8B063-BA19-4446-84D1-9D5E60BA0CF4}"/>
              </a:ext>
            </a:extLst>
          </p:cNvPr>
          <p:cNvSpPr>
            <a:spLocks xmlns:a="http://schemas.openxmlformats.org/drawingml/2006/main" noGrp="1"/>
          </p:cNvSpPr>
          <p:nvPr/>
        </p:nvSpPr>
        <p:spPr>
          <a:xfrm xmlns:a="http://schemas.openxmlformats.org/drawingml/2006/main">
            <a:off x="868680" y="3977640"/>
            <a:ext cx="740664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9A6414"/>
                </a:solidFill>
                <a:latin typeface="Calibri"/>
                <a:ea typeface="Calibri"/>
                <a:cs typeface="Calibri"/>
              </a:rPr>
              <a:t>Natural state → development</a:t>
            </a:r>
            <a:r>
              <a:rPr sz="1200" b="0" i="0" u="none" cap="none">
                <a:solidFill>
                  <a:srgbClr val="5A6377"/>
                </a:solidFill>
                <a:latin typeface="Calibri"/>
                <a:ea typeface="Calibri"/>
                <a:cs typeface="Calibri"/>
              </a:rPr>
              <a:t>  (fulfilment aligned with innateness)      </a:t>
            </a:r>
            <a:r>
              <a:rPr sz="1200" b="1" i="0" u="none" cap="none">
                <a:solidFill>
                  <a:srgbClr val="9A6414"/>
                </a:solidFill>
                <a:latin typeface="Calibri"/>
                <a:ea typeface="Calibri"/>
                <a:cs typeface="Calibri"/>
              </a:rPr>
              <a:t>Excited state → decline</a:t>
            </a:r>
            <a:r>
              <a:rPr sz="1200" b="0" i="0" u="none" cap="none">
                <a:solidFill>
                  <a:srgbClr val="5A6377"/>
                </a:solidFill>
                <a:latin typeface="Calibri"/>
                <a:ea typeface="Calibri"/>
                <a:cs typeface="Calibri"/>
              </a:rPr>
              <a:t>  — each unit is a whole along with its environment; when all relationships are fulfilled, it is at ease.</a:t>
            </a:r>
          </a:p>
        </p:txBody>
      </p:sp>
      <p:sp>
        <p:nvSpPr>
          <p:cNvPr id="152" name="Google Shape;152;p7">
            <a:extLst xmlns:a="http://schemas.openxmlformats.org/drawingml/2006/main">
              <a:ext uri="{FF2B5EF4-FFF2-40B4-BE49-F238E27FC236}">
                <a16:creationId xmlns:a16="http://schemas.microsoft.com/office/drawing/2014/main" id="{0AC48ED1-74CE-491C-8680-B52C6D12D91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50–51, 112  ·  SB pp. 13–15, 50–54  ·  JV p. 113 (the peepal tree’s definite conduct)</a:t>
            </a:r>
          </a:p>
        </p:txBody>
      </p:sp>
    </p:spTree>
    <p:extLst>
      <p:ext uri="{BB962C8B-B14F-4D97-AF65-F5344CB8AC3E}">
        <p14:creationId xmlns:p14="http://schemas.microsoft.com/office/powerpoint/2010/main" val="726548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8" name="Google Shape;158;p8">
            <a:extLst xmlns:a="http://schemas.openxmlformats.org/drawingml/2006/main">
              <a:ext uri="{FF2B5EF4-FFF2-40B4-BE49-F238E27FC236}">
                <a16:creationId xmlns:a16="http://schemas.microsoft.com/office/drawing/2014/main" id="{F9F84B1D-6DC1-4215-A195-CAF7397FD448}"/>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59" name="Google Shape;159;p8">
            <a:extLst xmlns:a="http://schemas.openxmlformats.org/drawingml/2006/main">
              <a:ext uri="{FF2B5EF4-FFF2-40B4-BE49-F238E27FC236}">
                <a16:creationId xmlns:a16="http://schemas.microsoft.com/office/drawing/2014/main" id="{A834E3FE-30D5-4FCB-A5E0-5C23B0ABBE5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0" name="Google Shape;160;p8">
            <a:extLst xmlns:a="http://schemas.openxmlformats.org/drawingml/2006/main">
              <a:ext uri="{FF2B5EF4-FFF2-40B4-BE49-F238E27FC236}">
                <a16:creationId xmlns:a16="http://schemas.microsoft.com/office/drawing/2014/main" id="{8F6694AE-E9BE-4AF4-A66C-C7880F700EB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1" name="Google Shape;161;p8">
            <a:extLst xmlns:a="http://schemas.openxmlformats.org/drawingml/2006/main">
              <a:ext uri="{FF2B5EF4-FFF2-40B4-BE49-F238E27FC236}">
                <a16:creationId xmlns:a16="http://schemas.microsoft.com/office/drawing/2014/main" id="{5D20F6CF-695A-4151-A950-52AC4194D34E}"/>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§1.4 · COMPLEMENTARITY AS VALUE</a:t>
            </a:r>
          </a:p>
        </p:txBody>
      </p:sp>
      <p:sp>
        <p:nvSpPr>
          <p:cNvPr id="162" name="Google Shape;162;p8">
            <a:extLst xmlns:a="http://schemas.openxmlformats.org/drawingml/2006/main">
              <a:ext uri="{FF2B5EF4-FFF2-40B4-BE49-F238E27FC236}">
                <a16:creationId xmlns:a16="http://schemas.microsoft.com/office/drawing/2014/main" id="{C5DD056F-A08E-4F2D-B92E-0DBA8EE8776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Units in Relationships</a:t>
            </a:r>
          </a:p>
        </p:txBody>
      </p:sp>
      <p:sp>
        <p:nvSpPr>
          <p:cNvPr id="163" name="Google Shape;163;p8">
            <a:extLst xmlns:a="http://schemas.openxmlformats.org/drawingml/2006/main">
              <a:ext uri="{FF2B5EF4-FFF2-40B4-BE49-F238E27FC236}">
                <a16:creationId xmlns:a16="http://schemas.microsoft.com/office/drawing/2014/main" id="{DEC51957-129A-43E2-8B54-6B0E245C25B1}"/>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“Nothing is isolated — that is the principle” (JV p. 43). Complementarity is actualised as value in mutuality; the unit’s main drive is to recognise and fulfil its relationships.</a:t>
            </a:r>
          </a:p>
        </p:txBody>
      </p:sp>
      <p:sp>
        <p:nvSpPr>
          <p:cNvPr id="164" name="Google Shape;164;p8">
            <a:extLst xmlns:a="http://schemas.openxmlformats.org/drawingml/2006/main">
              <a:ext uri="{FF2B5EF4-FFF2-40B4-BE49-F238E27FC236}">
                <a16:creationId xmlns:a16="http://schemas.microsoft.com/office/drawing/2014/main" id="{55F81FC9-9FE5-4D64-83C5-B9CD09FA0F07}"/>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5" name="Google Shape;165;p8">
            <a:extLst xmlns:a="http://schemas.openxmlformats.org/drawingml/2006/main">
              <a:ext uri="{FF2B5EF4-FFF2-40B4-BE49-F238E27FC236}">
                <a16:creationId xmlns:a16="http://schemas.microsoft.com/office/drawing/2014/main" id="{726D1099-0694-4291-A549-3F3CA5BBB846}"/>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Relationship</a:t>
            </a:r>
          </a:p>
        </p:txBody>
      </p:sp>
      <p:sp>
        <p:nvSpPr>
          <p:cNvPr id="166" name="Google Shape;166;p8">
            <a:extLst xmlns:a="http://schemas.openxmlformats.org/drawingml/2006/main">
              <a:ext uri="{FF2B5EF4-FFF2-40B4-BE49-F238E27FC236}">
                <a16:creationId xmlns:a16="http://schemas.microsoft.com/office/drawing/2014/main" id="{F24C4CA3-F0EB-483B-BCA3-39B1047C9273}"/>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predetermined in the sense of completeness — e.g. parent and child.</a:t>
            </a:r>
          </a:p>
        </p:txBody>
      </p:sp>
      <p:sp>
        <p:nvSpPr>
          <p:cNvPr id="167" name="Google Shape;167;p8">
            <a:extLst xmlns:a="http://schemas.openxmlformats.org/drawingml/2006/main">
              <a:ext uri="{FF2B5EF4-FFF2-40B4-BE49-F238E27FC236}">
                <a16:creationId xmlns:a16="http://schemas.microsoft.com/office/drawing/2014/main" id="{F87EA41D-F266-427C-B296-8A5DE68EA8C2}"/>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68" name="Google Shape;168;p8">
            <a:extLst xmlns:a="http://schemas.openxmlformats.org/drawingml/2006/main">
              <a:ext uri="{FF2B5EF4-FFF2-40B4-BE49-F238E27FC236}">
                <a16:creationId xmlns:a16="http://schemas.microsoft.com/office/drawing/2014/main" id="{60A8DB29-8139-41D5-B02E-FB03B751324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Association</a:t>
            </a:r>
          </a:p>
        </p:txBody>
      </p:sp>
      <p:sp>
        <p:nvSpPr>
          <p:cNvPr id="169" name="Google Shape;169;p8">
            <a:extLst xmlns:a="http://schemas.openxmlformats.org/drawingml/2006/main">
              <a:ext uri="{FF2B5EF4-FFF2-40B4-BE49-F238E27FC236}">
                <a16:creationId xmlns:a16="http://schemas.microsoft.com/office/drawing/2014/main" id="{58D0CFD6-5F25-4801-94B8-9739BAA03AF7}"/>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Mutuality where expectations are voluntary — e.g. neighbours who share a wall.</a:t>
            </a:r>
          </a:p>
        </p:txBody>
      </p:sp>
      <p:sp>
        <p:nvSpPr>
          <p:cNvPr id="170" name="Google Shape;170;p8">
            <a:extLst xmlns:a="http://schemas.openxmlformats.org/drawingml/2006/main">
              <a:ext uri="{FF2B5EF4-FFF2-40B4-BE49-F238E27FC236}">
                <a16:creationId xmlns:a16="http://schemas.microsoft.com/office/drawing/2014/main" id="{1C053D7A-1774-40CE-865A-219A0A24EB1F}"/>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Essentiality is value.  </a:t>
            </a:r>
            <a:r>
              <a:rPr sz="1200" b="0" i="0" u="none" cap="none">
                <a:solidFill>
                  <a:srgbClr val="5A6377"/>
                </a:solidFill>
                <a:latin typeface="Calibri"/>
                <a:ea typeface="Calibri"/>
                <a:cs typeface="Calibri"/>
              </a:rPr>
              <a:t>Object values — utility and art — operate at every order; jeevan values, human values, relationship values, and expression values presuppose the knowledge order.</a:t>
            </a:r>
          </a:p>
        </p:txBody>
      </p:sp>
      <p:sp>
        <p:nvSpPr>
          <p:cNvPr id="171" name="Google Shape;171;p8">
            <a:extLst xmlns:a="http://schemas.openxmlformats.org/drawingml/2006/main">
              <a:ext uri="{FF2B5EF4-FFF2-40B4-BE49-F238E27FC236}">
                <a16:creationId xmlns:a16="http://schemas.microsoft.com/office/drawing/2014/main" id="{6DC04A20-B918-49D0-976D-BB143E75280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2" name="Google Shape;172;p8">
            <a:extLst xmlns:a="http://schemas.openxmlformats.org/drawingml/2006/main">
              <a:ext uri="{FF2B5EF4-FFF2-40B4-BE49-F238E27FC236}">
                <a16:creationId xmlns:a16="http://schemas.microsoft.com/office/drawing/2014/main" id="{7EF3F5F5-0E78-431C-9E98-48BD1377FB4F}"/>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Knowing</a:t>
            </a:r>
          </a:p>
        </p:txBody>
      </p:sp>
      <p:sp>
        <p:nvSpPr>
          <p:cNvPr id="173" name="Google Shape;173;p8">
            <a:extLst xmlns:a="http://schemas.openxmlformats.org/drawingml/2006/main">
              <a:ext uri="{FF2B5EF4-FFF2-40B4-BE49-F238E27FC236}">
                <a16:creationId xmlns:a16="http://schemas.microsoft.com/office/drawing/2014/main" id="{95912ACF-7BCA-480C-8FF9-60A356103978}"/>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4" name="Google Shape;174;p8">
            <a:extLst xmlns:a="http://schemas.openxmlformats.org/drawingml/2006/main">
              <a:ext uri="{FF2B5EF4-FFF2-40B4-BE49-F238E27FC236}">
                <a16:creationId xmlns:a16="http://schemas.microsoft.com/office/drawing/2014/main" id="{155904C9-1DD3-42F5-ABC1-BB9BE21D6DC3}"/>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5" name="Google Shape;175;p8">
            <a:extLst xmlns:a="http://schemas.openxmlformats.org/drawingml/2006/main">
              <a:ext uri="{FF2B5EF4-FFF2-40B4-BE49-F238E27FC236}">
                <a16:creationId xmlns:a16="http://schemas.microsoft.com/office/drawing/2014/main" id="{481CE8F5-930E-47CC-8DA6-8BBA7F52372C}"/>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Believing</a:t>
            </a:r>
          </a:p>
        </p:txBody>
      </p:sp>
      <p:sp>
        <p:nvSpPr>
          <p:cNvPr id="176" name="Google Shape;176;p8">
            <a:extLst xmlns:a="http://schemas.openxmlformats.org/drawingml/2006/main">
              <a:ext uri="{FF2B5EF4-FFF2-40B4-BE49-F238E27FC236}">
                <a16:creationId xmlns:a16="http://schemas.microsoft.com/office/drawing/2014/main" id="{924D7205-9C4A-4398-AEDB-A16F6BB592B9}"/>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77" name="Google Shape;177;p8">
            <a:extLst xmlns:a="http://schemas.openxmlformats.org/drawingml/2006/main">
              <a:ext uri="{FF2B5EF4-FFF2-40B4-BE49-F238E27FC236}">
                <a16:creationId xmlns:a16="http://schemas.microsoft.com/office/drawing/2014/main" id="{A7897A17-DDF7-4BA9-A872-FBAA48BA625A}"/>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78" name="Google Shape;178;p8">
            <a:extLst xmlns:a="http://schemas.openxmlformats.org/drawingml/2006/main">
              <a:ext uri="{FF2B5EF4-FFF2-40B4-BE49-F238E27FC236}">
                <a16:creationId xmlns:a16="http://schemas.microsoft.com/office/drawing/2014/main" id="{FC8B7616-7F8F-48DE-A376-C19FEF25E19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Recognising</a:t>
            </a:r>
          </a:p>
        </p:txBody>
      </p:sp>
      <p:sp>
        <p:nvSpPr>
          <p:cNvPr id="179" name="Google Shape;179;p8">
            <a:extLst xmlns:a="http://schemas.openxmlformats.org/drawingml/2006/main">
              <a:ext uri="{FF2B5EF4-FFF2-40B4-BE49-F238E27FC236}">
                <a16:creationId xmlns:a16="http://schemas.microsoft.com/office/drawing/2014/main" id="{B5301D89-98C7-4730-A3C7-45B49173806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180" name="Google Shape;180;p8">
            <a:extLst xmlns:a="http://schemas.openxmlformats.org/drawingml/2006/main">
              <a:ext uri="{FF2B5EF4-FFF2-40B4-BE49-F238E27FC236}">
                <a16:creationId xmlns:a16="http://schemas.microsoft.com/office/drawing/2014/main" id="{7D8FBE74-AD68-4587-88A8-38F7688A68AA}"/>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81" name="Google Shape;181;p8">
            <a:extLst xmlns:a="http://schemas.openxmlformats.org/drawingml/2006/main">
              <a:ext uri="{FF2B5EF4-FFF2-40B4-BE49-F238E27FC236}">
                <a16:creationId xmlns:a16="http://schemas.microsoft.com/office/drawing/2014/main" id="{7BCF193F-55BB-4B2F-8D67-9B8FDA5F3DC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Fulfilling</a:t>
            </a:r>
          </a:p>
        </p:txBody>
      </p:sp>
      <p:sp>
        <p:nvSpPr>
          <p:cNvPr id="182" name="Google Shape;182;p8">
            <a:extLst xmlns:a="http://schemas.openxmlformats.org/drawingml/2006/main">
              <a:ext uri="{FF2B5EF4-FFF2-40B4-BE49-F238E27FC236}">
                <a16:creationId xmlns:a16="http://schemas.microsoft.com/office/drawing/2014/main" id="{39262F35-7220-4EB8-9BA0-C274AA53D0B7}"/>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Below the knowledge order fulfilment is definite; at the human order it must be achieved through this chain.</a:t>
            </a:r>
          </a:p>
        </p:txBody>
      </p:sp>
      <p:sp>
        <p:nvSpPr>
          <p:cNvPr id="183" name="Google Shape;183;p8">
            <a:extLst xmlns:a="http://schemas.openxmlformats.org/drawingml/2006/main">
              <a:ext uri="{FF2B5EF4-FFF2-40B4-BE49-F238E27FC236}">
                <a16:creationId xmlns:a16="http://schemas.microsoft.com/office/drawing/2014/main" id="{F7EB63A2-CA96-4FC1-B350-7EAC1CD701F7}"/>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61–62, 27  ·  SB pp. 50, 53, 61  ·  JV p. 69</a:t>
            </a:r>
          </a:p>
        </p:txBody>
      </p:sp>
    </p:spTree>
    <p:extLst>
      <p:ext uri="{BB962C8B-B14F-4D97-AF65-F5344CB8AC3E}">
        <p14:creationId xmlns:p14="http://schemas.microsoft.com/office/powerpoint/2010/main" val="207647850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Google Shape;189;p9">
            <a:extLst xmlns:a="http://schemas.openxmlformats.org/drawingml/2006/main">
              <a:ext uri="{FF2B5EF4-FFF2-40B4-BE49-F238E27FC236}">
                <a16:creationId xmlns:a16="http://schemas.microsoft.com/office/drawing/2014/main" id="{78BE2FDB-9993-4B89-879D-9F6E842BD14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0" name="Google Shape;190;p9">
            <a:extLst xmlns:a="http://schemas.openxmlformats.org/drawingml/2006/main">
              <a:ext uri="{FF2B5EF4-FFF2-40B4-BE49-F238E27FC236}">
                <a16:creationId xmlns:a16="http://schemas.microsoft.com/office/drawing/2014/main" id="{D486CE71-65E4-4998-B4FB-7953C76974ED}"/>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1" name="Google Shape;191;p9">
            <a:extLst xmlns:a="http://schemas.openxmlformats.org/drawingml/2006/main">
              <a:ext uri="{FF2B5EF4-FFF2-40B4-BE49-F238E27FC236}">
                <a16:creationId xmlns:a16="http://schemas.microsoft.com/office/drawing/2014/main" id="{2D843C0E-0F2C-4F09-88EC-0FE70B332F2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2" name="Google Shape;192;p9">
            <a:extLst xmlns:a="http://schemas.openxmlformats.org/drawingml/2006/main">
              <a:ext uri="{FF2B5EF4-FFF2-40B4-BE49-F238E27FC236}">
                <a16:creationId xmlns:a16="http://schemas.microsoft.com/office/drawing/2014/main" id="{7A562A57-A093-41DC-90A9-28722A21F2B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§1.5</a:t>
            </a:r>
          </a:p>
        </p:txBody>
      </p:sp>
      <p:sp>
        <p:nvSpPr>
          <p:cNvPr id="193" name="Google Shape;193;p9">
            <a:extLst xmlns:a="http://schemas.openxmlformats.org/drawingml/2006/main">
              <a:ext uri="{FF2B5EF4-FFF2-40B4-BE49-F238E27FC236}">
                <a16:creationId xmlns:a16="http://schemas.microsoft.com/office/drawing/2014/main" id="{E5CCBD08-FCA8-4F44-9B7F-A0AD7F3F647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Four Orders of Nature</a:t>
            </a:r>
          </a:p>
        </p:txBody>
      </p:sp>
      <p:graphicFrame>
        <p:nvGraphicFramePr>
          <p:cNvPr id="204" name="Google Shape;194;p9"/>
          <p:cNvGraphicFramePr/>
          <p:nvPr/>
        </p:nvGraphicFramePr>
        <p:xfrm>
          <a:off xmlns:a="http://schemas.openxmlformats.org/drawingml/2006/main" x="640080" y="1325880"/>
          <a:ext xmlns:a="http://schemas.openxmlformats.org/drawingml/2006/main" cx="7863825" cy="2560325"/>
        </p:xfrm>
        <a:graphic xmlns:a="http://schemas.openxmlformats.org/drawingml/2006/main">
          <a:graphicData uri="http://schemas.openxmlformats.org/drawingml/2006/table">
            <a:tbl>
              <a:tblPr>
                <a:tableStyleId>{6C92A692-798E-4634-90B1-36CD3966BFCB}</a:tableStyleId>
              </a:tblPr>
              <a:tblGrid>
                <a:gridCol w="1828800"/>
                <a:gridCol w="2651750"/>
                <a:gridCol w="2011675"/>
                <a:gridCol w="1371600"/>
              </a:tblGrid>
              <a:tr h="365750">
                <a:tc>
                  <a:txBody>
                    <a:bodyPr/>
                    <a:lstStyle/>
                    <a:p>
                      <a:pPr marL="0" indent="0" algn="l">
                        <a:buNone/>
                      </a:pPr>
                      <a:r>
                        <a:rPr sz="1200" b="1" u="none" cap="none">
                          <a:solidFill>
                            <a:srgbClr val="FFFFFF"/>
                          </a:solidFill>
                          <a:latin typeface="Calibri"/>
                          <a:ea typeface="Calibri"/>
                          <a:cs typeface="Calibri"/>
                        </a:rPr>
                        <a:t>Order</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Essential nature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Dharma (cumulative)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200" b="1" u="none" cap="none">
                          <a:solidFill>
                            <a:srgbClr val="FFFFFF"/>
                          </a:solidFill>
                          <a:latin typeface="Calibri"/>
                          <a:ea typeface="Calibri"/>
                          <a:cs typeface="Calibri"/>
                        </a:rPr>
                        <a:t>Status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502925">
                <a:tc>
                  <a:txBody>
                    <a:bodyPr/>
                    <a:lstStyle/>
                    <a:p>
                      <a:pPr marL="0" indent="0" algn="l">
                        <a:buNone/>
                      </a:pPr>
                      <a:r>
                        <a:rPr sz="1100" u="none" cap="none">
                          <a:solidFill>
                            <a:srgbClr val="1E2447"/>
                          </a:solidFill>
                          <a:latin typeface="Calibri"/>
                          <a:ea typeface="Calibri"/>
                          <a:cs typeface="Calibri"/>
                        </a:rPr>
                        <a:t>Material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integration–disintegration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existence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Bio (pranic)</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vitalising–devitalising</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growth</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insentient</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502925">
                <a:tc>
                  <a:txBody>
                    <a:bodyPr/>
                    <a:lstStyle/>
                    <a:p>
                      <a:pPr marL="0" indent="0" algn="l">
                        <a:buNone/>
                      </a:pPr>
                      <a:r>
                        <a:rPr sz="1100" u="none" cap="none">
                          <a:solidFill>
                            <a:srgbClr val="1E2447"/>
                          </a:solidFill>
                          <a:latin typeface="Calibri"/>
                          <a:ea typeface="Calibri"/>
                          <a:cs typeface="Calibri"/>
                        </a:rPr>
                        <a:t>Animal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cruel–uncruel</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hope to live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jeevan appears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685800">
                <a:tc>
                  <a:txBody>
                    <a:bodyPr/>
                    <a:lstStyle/>
                    <a:p>
                      <a:pPr marL="0" indent="0" algn="l">
                        <a:buNone/>
                      </a:pPr>
                      <a:r>
                        <a:rPr sz="1100" u="none" cap="none">
                          <a:solidFill>
                            <a:srgbClr val="1E2447"/>
                          </a:solidFill>
                          <a:latin typeface="Calibri"/>
                          <a:ea typeface="Calibri"/>
                          <a:cs typeface="Calibri"/>
                        </a:rPr>
                        <a:t>Knowledge (human)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fortitude, courage, generosity, kindness, grace, compassion</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 happiness</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100" u="none" cap="none">
                          <a:solidFill>
                            <a:srgbClr val="1E2447"/>
                          </a:solidFill>
                          <a:latin typeface="Calibri"/>
                          <a:ea typeface="Calibri"/>
                          <a:cs typeface="Calibri"/>
                        </a:rPr>
                        <a:t>sentient — awakening possible</a:t>
                      </a:r>
                    </a:p>
                  </a:txBody>
                  <a:tcPr marL="54875" marR="54875" marT="54875" marB="5487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195" name="Google Shape;195;p9">
            <a:extLst xmlns:a="http://schemas.openxmlformats.org/drawingml/2006/main">
              <a:ext uri="{FF2B5EF4-FFF2-40B4-BE49-F238E27FC236}">
                <a16:creationId xmlns:a16="http://schemas.microsoft.com/office/drawing/2014/main" id="{56045CEE-E3D1-4ECB-9CE3-C00365D94007}"/>
              </a:ext>
            </a:extLst>
          </p:cNvPr>
          <p:cNvSpPr>
            <a:spLocks xmlns:a="http://schemas.openxmlformats.org/drawingml/2006/main" noGrp="1"/>
          </p:cNvSpPr>
          <p:nvPr/>
        </p:nvSpPr>
        <p:spPr>
          <a:xfrm xmlns:a="http://schemas.openxmlformats.org/drawingml/2006/main">
            <a:off x="640080" y="4069080"/>
            <a:ext cx="7863840" cy="658368"/>
          </a:xfrm>
          <a:prstGeom xmlns:a="http://schemas.openxmlformats.org/drawingml/2006/main" prst="roundRect">
            <a:avLst>
              <a:gd name="adj" fmla="val 1250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196" name="Google Shape;196;p9">
            <a:extLst xmlns:a="http://schemas.openxmlformats.org/drawingml/2006/main">
              <a:ext uri="{FF2B5EF4-FFF2-40B4-BE49-F238E27FC236}">
                <a16:creationId xmlns:a16="http://schemas.microsoft.com/office/drawing/2014/main" id="{CBCFED84-4AED-4439-8BAD-7BC63416C034}"/>
              </a:ext>
            </a:extLst>
          </p:cNvPr>
          <p:cNvSpPr>
            <a:spLocks xmlns:a="http://schemas.openxmlformats.org/drawingml/2006/main" noGrp="1"/>
          </p:cNvSpPr>
          <p:nvPr/>
        </p:nvSpPr>
        <p:spPr>
          <a:xfrm xmlns:a="http://schemas.openxmlformats.org/drawingml/2006/main">
            <a:off x="868680" y="4069080"/>
            <a:ext cx="7406640" cy="65836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The sentience boundary lies between the bio and animal orders. The body develops along the compositional line; jeevan arises through development in an atom. They meet as a joint form in animal and human living — not by the body becoming sentient through complexity.</a:t>
            </a:r>
          </a:p>
        </p:txBody>
      </p:sp>
      <p:sp>
        <p:nvSpPr>
          <p:cNvPr id="197" name="Google Shape;197;p9">
            <a:extLst xmlns:a="http://schemas.openxmlformats.org/drawingml/2006/main">
              <a:ext uri="{FF2B5EF4-FFF2-40B4-BE49-F238E27FC236}">
                <a16:creationId xmlns:a16="http://schemas.microsoft.com/office/drawing/2014/main" id="{07F388A9-2EE4-4AC8-BEF3-C1967A5BA32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179  ·  MVD pp. 5, 8, 13, 115  ·  JV p. 44</a:t>
            </a:r>
          </a:p>
        </p:txBody>
      </p:sp>
    </p:spTree>
    <p:extLst>
      <p:ext uri="{BB962C8B-B14F-4D97-AF65-F5344CB8AC3E}">
        <p14:creationId xmlns:p14="http://schemas.microsoft.com/office/powerpoint/2010/main" val="11318954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F0DA4043-B666-4E7D-A93C-E7625947B5A5}"/>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C0AF2011-663D-4F60-A3BA-D67A0D8A9ACF}"/>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28856720-58C7-47B1-AA1D-4F8C1A2B92D9}"/>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17341D54-7463-4E7E-A13B-67037ABA21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 · TWO DEVELOPMENTS · ONE ACTIVITY STRUCTURE</a:t>
            </a:r>
          </a:p>
        </p:txBody>
      </p:sp>
      <p:sp>
        <p:nvSpPr>
          <p:cNvPr id="207" name="Google Shape;207;p10">
            <a:extLst xmlns:a="http://schemas.openxmlformats.org/drawingml/2006/main">
              <a:ext uri="{FF2B5EF4-FFF2-40B4-BE49-F238E27FC236}">
                <a16:creationId xmlns:a16="http://schemas.microsoft.com/office/drawing/2014/main" id="{EE953502-E474-4782-AC78-2593793D0ED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Two Developments, One Activity Structure</a:t>
            </a:r>
          </a:p>
        </p:txBody>
      </p:sp>
      <p:sp>
        <p:nvSpPr>
          <p:cNvPr id="208" name="Google Shape;208;p10">
            <a:extLst xmlns:a="http://schemas.openxmlformats.org/drawingml/2006/main">
              <a:ext uri="{FF2B5EF4-FFF2-40B4-BE49-F238E27FC236}">
                <a16:creationId xmlns:a16="http://schemas.microsoft.com/office/drawing/2014/main" id="{988874DA-3F86-41E0-8A36-434B09CA06D0}"/>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Madhyasth Darshan distinguishes two developments. Compositional progression joins particles, atoms, molecules, cells, and bodies into larger configurations. Development in an atom can reach constitutional completeness as jeevan. These lines meet in living joint forms but remain distinct. Across both, activity is one inseparable triad: effort, motion, and result.</a:t>
            </a:r>
          </a:p>
        </p:txBody>
      </p:sp>
      <p:sp>
        <p:nvSpPr>
          <p:cNvPr id="209" name="Google Shape;209;p10">
            <a:extLst xmlns:a="http://schemas.openxmlformats.org/drawingml/2006/main">
              <a:ext uri="{FF2B5EF4-FFF2-40B4-BE49-F238E27FC236}">
                <a16:creationId xmlns:a16="http://schemas.microsoft.com/office/drawing/2014/main" id="{3C4ACB12-DD4C-4631-BAC2-EC544D0D232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E7B067CB-714B-4A16-BA1E-67E923D644F6}"/>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Effort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internal side</a:t>
            </a:r>
          </a:p>
        </p:txBody>
      </p:sp>
      <p:sp>
        <p:nvSpPr>
          <p:cNvPr id="211" name="Google Shape;211;p10">
            <a:extLst xmlns:a="http://schemas.openxmlformats.org/drawingml/2006/main">
              <a:ext uri="{FF2B5EF4-FFF2-40B4-BE49-F238E27FC236}">
                <a16:creationId xmlns:a16="http://schemas.microsoft.com/office/drawing/2014/main" id="{74644F2C-CA1F-44E3-A3A8-36251A9E3FD7}"/>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restfulness of effort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effort comes to rest in realisation</a:t>
            </a:r>
          </a:p>
        </p:txBody>
      </p:sp>
      <p:sp>
        <p:nvSpPr>
          <p:cNvPr id="212" name="Google Shape;212;p10">
            <a:extLst xmlns:a="http://schemas.openxmlformats.org/drawingml/2006/main">
              <a:ext uri="{FF2B5EF4-FFF2-40B4-BE49-F238E27FC236}">
                <a16:creationId xmlns:a16="http://schemas.microsoft.com/office/drawing/2014/main" id="{65CF61B0-F78C-4DFD-983F-71AC96683A02}"/>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52AEFF54-A97B-4FEA-B904-064D0F28181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Motion</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external side</a:t>
            </a:r>
          </a:p>
        </p:txBody>
      </p:sp>
      <p:sp>
        <p:nvSpPr>
          <p:cNvPr id="214" name="Google Shape;214;p10">
            <a:extLst xmlns:a="http://schemas.openxmlformats.org/drawingml/2006/main">
              <a:ext uri="{FF2B5EF4-FFF2-40B4-BE49-F238E27FC236}">
                <a16:creationId xmlns:a16="http://schemas.microsoft.com/office/drawing/2014/main" id="{8822A3BC-F6B8-4DD5-8BFE-02D0BD2D4324}"/>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destination of motion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motion arrives at right conduct</a:t>
            </a:r>
          </a:p>
        </p:txBody>
      </p:sp>
      <p:sp>
        <p:nvSpPr>
          <p:cNvPr id="215" name="Google Shape;215;p10">
            <a:extLst xmlns:a="http://schemas.openxmlformats.org/drawingml/2006/main">
              <a:ext uri="{FF2B5EF4-FFF2-40B4-BE49-F238E27FC236}">
                <a16:creationId xmlns:a16="http://schemas.microsoft.com/office/drawing/2014/main" id="{C1E37470-8E82-4703-AFAB-9F00A17BA30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B86AFFF0-4F74-485C-8823-F9CA80F2555D}"/>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stable outcome</a:t>
            </a:r>
          </a:p>
        </p:txBody>
      </p:sp>
      <p:sp>
        <p:nvSpPr>
          <p:cNvPr id="217" name="Google Shape;217;p10">
            <a:extLst xmlns:a="http://schemas.openxmlformats.org/drawingml/2006/main">
              <a:ext uri="{FF2B5EF4-FFF2-40B4-BE49-F238E27FC236}">
                <a16:creationId xmlns:a16="http://schemas.microsoft.com/office/drawing/2014/main" id="{12BF52F3-A9A4-4295-AA66-6894F712E14D}"/>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immortality of result</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result becomes indestructible</a:t>
            </a:r>
          </a:p>
        </p:txBody>
      </p:sp>
      <p:sp>
        <p:nvSpPr>
          <p:cNvPr id="218" name="Google Shape;218;p10">
            <a:extLst xmlns:a="http://schemas.openxmlformats.org/drawingml/2006/main">
              <a:ext uri="{FF2B5EF4-FFF2-40B4-BE49-F238E27FC236}">
                <a16:creationId xmlns:a16="http://schemas.microsoft.com/office/drawing/2014/main" id="{EF7F9E85-311A-4F2F-8331-F4E88266FE98}"/>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F7F8A9B1-F55C-4EAD-9545-C07227475411}"/>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defRPr sz="938">
                <a:solidFill>
                  <a:srgbClr val="5F6B82"/>
                </a:solidFill>
              </a:defRPr>
            </a:pPr>
            <a:r>
              <a:rPr sz="938">
                <a:solidFill>
                  <a:srgbClr val="5F6B82"/>
                </a:solidFill>
              </a:rPr>
              <a:t>Two developmental lines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Compositional: larger configurations and bodies.</a:t>
            </a:r>
          </a:p>
          <a:p xmlns:a="http://schemas.openxmlformats.org/drawingml/2006/main">
            <a:pPr marL="0" indent="0" algn="l">
              <a:spcBef>
                <a:spcPts val="600"/>
              </a:spcBef>
              <a:spcAft>
                <a:spcPts val="0"/>
              </a:spcAft>
              <a:buNone/>
              <a:defRPr sz="938">
                <a:solidFill>
                  <a:srgbClr val="5F6B82"/>
                </a:solidFill>
              </a:defRPr>
            </a:pPr>
            <a:r>
              <a:rPr sz="938">
                <a:solidFill>
                  <a:srgbClr val="5F6B82"/>
                </a:solidFill>
              </a:rPr>
              <a:t>Atomic: some developing atoms reach T1; T2/T3 concern awakened jeevan.</a:t>
            </a:r>
          </a:p>
        </p:txBody>
      </p:sp>
      <p:sp>
        <p:nvSpPr>
          <p:cNvPr id="220" name="Google Shape;220;p10">
            <a:extLst xmlns:a="http://schemas.openxmlformats.org/drawingml/2006/main">
              <a:ext uri="{FF2B5EF4-FFF2-40B4-BE49-F238E27FC236}">
                <a16:creationId xmlns:a16="http://schemas.microsoft.com/office/drawing/2014/main" id="{32D33D92-97E9-4667-A0CC-903566CC5E1C}"/>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“Saturation … itself is forcefulness … basic impulsion … activity … effort-motion-result … development” — SB p. 62; also SB pp. 51, 53, 58, 71, 91; MVD p. 104</a:t>
            </a:r>
          </a:p>
        </p:txBody>
      </p:sp>
    </p:spTree>
    <p:extLst>
      <p:ext uri="{BB962C8B-B14F-4D97-AF65-F5344CB8AC3E}">
        <p14:creationId xmlns:p14="http://schemas.microsoft.com/office/powerpoint/2010/main" val="94175578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6" name="Google Shape;226;p11">
            <a:extLst xmlns:a="http://schemas.openxmlformats.org/drawingml/2006/main">
              <a:ext uri="{FF2B5EF4-FFF2-40B4-BE49-F238E27FC236}">
                <a16:creationId xmlns:a16="http://schemas.microsoft.com/office/drawing/2014/main" id="{92F6B0B2-9D5B-4730-A4CD-C04CFE632C6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7" name="Google Shape;227;p11">
            <a:extLst xmlns:a="http://schemas.openxmlformats.org/drawingml/2006/main">
              <a:ext uri="{FF2B5EF4-FFF2-40B4-BE49-F238E27FC236}">
                <a16:creationId xmlns:a16="http://schemas.microsoft.com/office/drawing/2014/main" id="{1FBFDF0F-6133-4579-804A-5BDD1B5D4E6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8" name="Google Shape;228;p11">
            <a:extLst xmlns:a="http://schemas.openxmlformats.org/drawingml/2006/main">
              <a:ext uri="{FF2B5EF4-FFF2-40B4-BE49-F238E27FC236}">
                <a16:creationId xmlns:a16="http://schemas.microsoft.com/office/drawing/2014/main" id="{535C89D7-6CD2-49BF-ACAC-13B8ABFDD72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29" name="Google Shape;229;p11">
            <a:extLst xmlns:a="http://schemas.openxmlformats.org/drawingml/2006/main">
              <a:ext uri="{FF2B5EF4-FFF2-40B4-BE49-F238E27FC236}">
                <a16:creationId xmlns:a16="http://schemas.microsoft.com/office/drawing/2014/main" id="{B205E6C7-0F4E-482A-B4ED-E38F9211327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a:t>
            </a:r>
          </a:p>
        </p:txBody>
      </p:sp>
      <p:sp>
        <p:nvSpPr>
          <p:cNvPr id="230" name="Google Shape;230;p11">
            <a:extLst xmlns:a="http://schemas.openxmlformats.org/drawingml/2006/main">
              <a:ext uri="{FF2B5EF4-FFF2-40B4-BE49-F238E27FC236}">
                <a16:creationId xmlns:a16="http://schemas.microsoft.com/office/drawing/2014/main" id="{BD57645E-CAFE-4022-871D-FB44537B6D1B}"/>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Three Completeness Transitions: T1, T2, T3</a:t>
            </a:r>
          </a:p>
        </p:txBody>
      </p:sp>
      <p:sp>
        <p:nvSpPr>
          <p:cNvPr id="231" name="Google Shape;231;p11">
            <a:extLst xmlns:a="http://schemas.openxmlformats.org/drawingml/2006/main">
              <a:ext uri="{FF2B5EF4-FFF2-40B4-BE49-F238E27FC236}">
                <a16:creationId xmlns:a16="http://schemas.microsoft.com/office/drawing/2014/main" id="{136C7C4F-16F0-469C-8D22-4FA5AF942130}"/>
              </a:ext>
            </a:extLst>
          </p:cNvPr>
          <p:cNvSpPr>
            <a:spLocks xmlns:a="http://schemas.openxmlformats.org/drawingml/2006/main" noGrp="1"/>
          </p:cNvSpPr>
          <p:nvPr/>
        </p:nvSpPr>
        <p:spPr>
          <a:xfrm xmlns:a="http://schemas.openxmlformats.org/drawingml/2006/main">
            <a:off x="475488" y="1463040"/>
            <a:ext cx="1664208" cy="960120"/>
          </a:xfrm>
          <a:prstGeom xmlns:a="http://schemas.openxmlformats.org/drawingml/2006/main" prst="roundRect">
            <a:avLst>
              <a:gd name="adj" fmla="val 8571"/>
            </a:avLst>
          </a:prstGeom>
          <a:solidFill xmlns:a="http://schemas.openxmlformats.org/drawingml/2006/main">
            <a:srgbClr val="3B4A7A"/>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2" name="Google Shape;232;p11">
            <a:extLst xmlns:a="http://schemas.openxmlformats.org/drawingml/2006/main">
              <a:ext uri="{FF2B5EF4-FFF2-40B4-BE49-F238E27FC236}">
                <a16:creationId xmlns:a16="http://schemas.microsoft.com/office/drawing/2014/main" id="{4938230F-1D84-4E5E-AFCC-F14F1B65EE6F}"/>
              </a:ext>
            </a:extLst>
          </p:cNvPr>
          <p:cNvSpPr>
            <a:spLocks xmlns:a="http://schemas.openxmlformats.org/drawingml/2006/main" noGrp="1"/>
          </p:cNvSpPr>
          <p:nvPr/>
        </p:nvSpPr>
        <p:spPr>
          <a:xfrm xmlns:a="http://schemas.openxmlformats.org/drawingml/2006/main">
            <a:off x="475488"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Physicochemical</a:t>
            </a:r>
          </a:p>
        </p:txBody>
      </p:sp>
      <p:sp>
        <p:nvSpPr>
          <p:cNvPr id="233" name="Google Shape;233;p11">
            <a:extLst xmlns:a="http://schemas.openxmlformats.org/drawingml/2006/main">
              <a:ext uri="{FF2B5EF4-FFF2-40B4-BE49-F238E27FC236}">
                <a16:creationId xmlns:a16="http://schemas.microsoft.com/office/drawing/2014/main" id="{C679FBFC-4912-4015-B213-A9F790D144A6}"/>
              </a:ext>
            </a:extLst>
          </p:cNvPr>
          <p:cNvSpPr>
            <a:spLocks xmlns:a="http://schemas.openxmlformats.org/drawingml/2006/main" noGrp="1"/>
          </p:cNvSpPr>
          <p:nvPr/>
        </p:nvSpPr>
        <p:spPr>
          <a:xfrm xmlns:a="http://schemas.openxmlformats.org/drawingml/2006/main">
            <a:off x="530352"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only some developing atoms reach T1</a:t>
            </a:r>
          </a:p>
        </p:txBody>
      </p:sp>
      <p:sp>
        <p:nvSpPr>
          <p:cNvPr id="234" name="Google Shape;234;p11">
            <a:extLst xmlns:a="http://schemas.openxmlformats.org/drawingml/2006/main">
              <a:ext uri="{FF2B5EF4-FFF2-40B4-BE49-F238E27FC236}">
                <a16:creationId xmlns:a16="http://schemas.microsoft.com/office/drawing/2014/main" id="{4856528E-8D4B-459F-8076-49BFEABC11D5}"/>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5" name="Google Shape;235;p11">
            <a:extLst xmlns:a="http://schemas.openxmlformats.org/drawingml/2006/main">
              <a:ext uri="{FF2B5EF4-FFF2-40B4-BE49-F238E27FC236}">
                <a16:creationId xmlns:a16="http://schemas.microsoft.com/office/drawing/2014/main" id="{A5B348E2-62F6-4617-8C55-04EF1E275226}"/>
              </a:ext>
            </a:extLst>
          </p:cNvPr>
          <p:cNvSpPr>
            <a:spLocks xmlns:a="http://schemas.openxmlformats.org/drawingml/2006/main" noGrp="1"/>
          </p:cNvSpPr>
          <p:nvPr/>
        </p:nvSpPr>
        <p:spPr>
          <a:xfrm xmlns:a="http://schemas.openxmlformats.org/drawingml/2006/main">
            <a:off x="2194560"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T1</a:t>
            </a:r>
          </a:p>
        </p:txBody>
      </p:sp>
      <p:sp>
        <p:nvSpPr>
          <p:cNvPr id="236" name="Google Shape;236;p11">
            <a:extLst xmlns:a="http://schemas.openxmlformats.org/drawingml/2006/main">
              <a:ext uri="{FF2B5EF4-FFF2-40B4-BE49-F238E27FC236}">
                <a16:creationId xmlns:a16="http://schemas.microsoft.com/office/drawing/2014/main" id="{F766CD9E-37CA-468F-9950-3055B289D7BC}"/>
              </a:ext>
            </a:extLst>
          </p:cNvPr>
          <p:cNvSpPr>
            <a:spLocks xmlns:a="http://schemas.openxmlformats.org/drawingml/2006/main" noGrp="1"/>
          </p:cNvSpPr>
          <p:nvPr/>
        </p:nvSpPr>
        <p:spPr>
          <a:xfrm xmlns:a="http://schemas.openxmlformats.org/drawingml/2006/main">
            <a:off x="2706624"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37" name="Google Shape;237;p11">
            <a:extLst xmlns:a="http://schemas.openxmlformats.org/drawingml/2006/main">
              <a:ext uri="{FF2B5EF4-FFF2-40B4-BE49-F238E27FC236}">
                <a16:creationId xmlns:a16="http://schemas.microsoft.com/office/drawing/2014/main" id="{A59AD647-B81F-4FFF-A3CF-52E74E35517C}"/>
              </a:ext>
            </a:extLst>
          </p:cNvPr>
          <p:cNvSpPr>
            <a:spLocks xmlns:a="http://schemas.openxmlformats.org/drawingml/2006/main" noGrp="1"/>
          </p:cNvSpPr>
          <p:nvPr/>
        </p:nvSpPr>
        <p:spPr>
          <a:xfrm xmlns:a="http://schemas.openxmlformats.org/drawingml/2006/main">
            <a:off x="2706624"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Delusional</a:t>
            </a:r>
          </a:p>
        </p:txBody>
      </p:sp>
      <p:sp>
        <p:nvSpPr>
          <p:cNvPr id="238" name="Google Shape;238;p11">
            <a:extLst xmlns:a="http://schemas.openxmlformats.org/drawingml/2006/main">
              <a:ext uri="{FF2B5EF4-FFF2-40B4-BE49-F238E27FC236}">
                <a16:creationId xmlns:a16="http://schemas.microsoft.com/office/drawing/2014/main" id="{26EC659D-62D7-4BEF-97E8-6386704F5431}"/>
              </a:ext>
            </a:extLst>
          </p:cNvPr>
          <p:cNvSpPr>
            <a:spLocks xmlns:a="http://schemas.openxmlformats.org/drawingml/2006/main" noGrp="1"/>
          </p:cNvSpPr>
          <p:nvPr/>
        </p:nvSpPr>
        <p:spPr>
          <a:xfrm xmlns:a="http://schemas.openxmlformats.org/drawingml/2006/main">
            <a:off x="2761488"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sentient; body mistaken for self</a:t>
            </a:r>
          </a:p>
        </p:txBody>
      </p:sp>
      <p:sp>
        <p:nvSpPr>
          <p:cNvPr id="239" name="Google Shape;239;p11">
            <a:extLst xmlns:a="http://schemas.openxmlformats.org/drawingml/2006/main">
              <a:ext uri="{FF2B5EF4-FFF2-40B4-BE49-F238E27FC236}">
                <a16:creationId xmlns:a16="http://schemas.microsoft.com/office/drawing/2014/main" id="{5EB8E91C-1A30-4588-9854-2ECBB5750043}"/>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0" name="Google Shape;240;p11">
            <a:extLst xmlns:a="http://schemas.openxmlformats.org/drawingml/2006/main">
              <a:ext uri="{FF2B5EF4-FFF2-40B4-BE49-F238E27FC236}">
                <a16:creationId xmlns:a16="http://schemas.microsoft.com/office/drawing/2014/main" id="{E4ED4E0D-90F8-406D-81BD-DA1065237C32}"/>
              </a:ext>
            </a:extLst>
          </p:cNvPr>
          <p:cNvSpPr>
            <a:spLocks xmlns:a="http://schemas.openxmlformats.org/drawingml/2006/main" noGrp="1"/>
          </p:cNvSpPr>
          <p:nvPr/>
        </p:nvSpPr>
        <p:spPr>
          <a:xfrm xmlns:a="http://schemas.openxmlformats.org/drawingml/2006/main">
            <a:off x="4425696"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T2</a:t>
            </a:r>
          </a:p>
        </p:txBody>
      </p:sp>
      <p:sp>
        <p:nvSpPr>
          <p:cNvPr id="241" name="Google Shape;241;p11">
            <a:extLst xmlns:a="http://schemas.openxmlformats.org/drawingml/2006/main">
              <a:ext uri="{FF2B5EF4-FFF2-40B4-BE49-F238E27FC236}">
                <a16:creationId xmlns:a16="http://schemas.microsoft.com/office/drawing/2014/main" id="{084B2DD8-6E6E-48F7-A30C-778CB7B13DFC}"/>
              </a:ext>
            </a:extLst>
          </p:cNvPr>
          <p:cNvSpPr>
            <a:spLocks xmlns:a="http://schemas.openxmlformats.org/drawingml/2006/main" noGrp="1"/>
          </p:cNvSpPr>
          <p:nvPr/>
        </p:nvSpPr>
        <p:spPr>
          <a:xfrm xmlns:a="http://schemas.openxmlformats.org/drawingml/2006/main">
            <a:off x="4937760"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2" name="Google Shape;242;p11">
            <a:extLst xmlns:a="http://schemas.openxmlformats.org/drawingml/2006/main">
              <a:ext uri="{FF2B5EF4-FFF2-40B4-BE49-F238E27FC236}">
                <a16:creationId xmlns:a16="http://schemas.microsoft.com/office/drawing/2014/main" id="{2A8CE34B-471B-463B-8366-BA6D4D4B9163}"/>
              </a:ext>
            </a:extLst>
          </p:cNvPr>
          <p:cNvSpPr>
            <a:spLocks xmlns:a="http://schemas.openxmlformats.org/drawingml/2006/main" noGrp="1"/>
          </p:cNvSpPr>
          <p:nvPr/>
        </p:nvSpPr>
        <p:spPr>
          <a:xfrm xmlns:a="http://schemas.openxmlformats.org/drawingml/2006/main">
            <a:off x="4937760"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Deific</a:t>
            </a:r>
          </a:p>
        </p:txBody>
      </p:sp>
      <p:sp>
        <p:nvSpPr>
          <p:cNvPr id="243" name="Google Shape;243;p11">
            <a:extLst xmlns:a="http://schemas.openxmlformats.org/drawingml/2006/main">
              <a:ext uri="{FF2B5EF4-FFF2-40B4-BE49-F238E27FC236}">
                <a16:creationId xmlns:a16="http://schemas.microsoft.com/office/drawing/2014/main" id="{8FF61272-1AF4-4BC0-8CA1-9C90210CDE5C}"/>
              </a:ext>
            </a:extLst>
          </p:cNvPr>
          <p:cNvSpPr>
            <a:spLocks xmlns:a="http://schemas.openxmlformats.org/drawingml/2006/main" noGrp="1"/>
          </p:cNvSpPr>
          <p:nvPr/>
        </p:nvSpPr>
        <p:spPr>
          <a:xfrm xmlns:a="http://schemas.openxmlformats.org/drawingml/2006/main">
            <a:off x="4992624"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awakening human</a:t>
            </a:r>
          </a:p>
        </p:txBody>
      </p:sp>
      <p:sp>
        <p:nvSpPr>
          <p:cNvPr id="244" name="Google Shape;244;p11">
            <a:extLst xmlns:a="http://schemas.openxmlformats.org/drawingml/2006/main">
              <a:ext uri="{FF2B5EF4-FFF2-40B4-BE49-F238E27FC236}">
                <a16:creationId xmlns:a16="http://schemas.microsoft.com/office/drawing/2014/main" id="{B2D070AB-F905-4F6C-A090-B48D44A8E7FB}"/>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5" name="Google Shape;245;p11">
            <a:extLst xmlns:a="http://schemas.openxmlformats.org/drawingml/2006/main">
              <a:ext uri="{FF2B5EF4-FFF2-40B4-BE49-F238E27FC236}">
                <a16:creationId xmlns:a16="http://schemas.microsoft.com/office/drawing/2014/main" id="{A3E5E6CA-7981-48CD-B96F-7EC48B2100E1}"/>
              </a:ext>
            </a:extLst>
          </p:cNvPr>
          <p:cNvSpPr>
            <a:spLocks xmlns:a="http://schemas.openxmlformats.org/drawingml/2006/main" noGrp="1"/>
          </p:cNvSpPr>
          <p:nvPr/>
        </p:nvSpPr>
        <p:spPr>
          <a:xfrm xmlns:a="http://schemas.openxmlformats.org/drawingml/2006/main">
            <a:off x="6656832" y="1700784"/>
            <a:ext cx="4572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T3</a:t>
            </a:r>
          </a:p>
        </p:txBody>
      </p:sp>
      <p:sp>
        <p:nvSpPr>
          <p:cNvPr id="246" name="Google Shape;246;p11">
            <a:extLst xmlns:a="http://schemas.openxmlformats.org/drawingml/2006/main">
              <a:ext uri="{FF2B5EF4-FFF2-40B4-BE49-F238E27FC236}">
                <a16:creationId xmlns:a16="http://schemas.microsoft.com/office/drawing/2014/main" id="{BFC4C265-8EFE-487F-ABFA-4AAE7CD54188}"/>
              </a:ext>
            </a:extLst>
          </p:cNvPr>
          <p:cNvSpPr>
            <a:spLocks xmlns:a="http://schemas.openxmlformats.org/drawingml/2006/main" noGrp="1"/>
          </p:cNvSpPr>
          <p:nvPr/>
        </p:nvSpPr>
        <p:spPr>
          <a:xfrm xmlns:a="http://schemas.openxmlformats.org/drawingml/2006/main">
            <a:off x="7168896" y="1463040"/>
            <a:ext cx="1664208" cy="960120"/>
          </a:xfrm>
          <a:prstGeom xmlns:a="http://schemas.openxmlformats.org/drawingml/2006/main" prst="roundRect">
            <a:avLst>
              <a:gd name="adj" fmla="val 8571"/>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47" name="Google Shape;247;p11">
            <a:extLst xmlns:a="http://schemas.openxmlformats.org/drawingml/2006/main">
              <a:ext uri="{FF2B5EF4-FFF2-40B4-BE49-F238E27FC236}">
                <a16:creationId xmlns:a16="http://schemas.microsoft.com/office/drawing/2014/main" id="{726EB728-96D6-468B-A4CD-7522F14C17D8}"/>
              </a:ext>
            </a:extLst>
          </p:cNvPr>
          <p:cNvSpPr>
            <a:spLocks xmlns:a="http://schemas.openxmlformats.org/drawingml/2006/main" noGrp="1"/>
          </p:cNvSpPr>
          <p:nvPr/>
        </p:nvSpPr>
        <p:spPr>
          <a:xfrm xmlns:a="http://schemas.openxmlformats.org/drawingml/2006/main">
            <a:off x="7168896" y="1554480"/>
            <a:ext cx="1664208"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mbria"/>
                <a:ea typeface="Cambria"/>
                <a:cs typeface="Cambria"/>
              </a:rPr>
              <a:t>Divine (complete)</a:t>
            </a:r>
          </a:p>
        </p:txBody>
      </p:sp>
      <p:sp>
        <p:nvSpPr>
          <p:cNvPr id="248" name="Google Shape;248;p11">
            <a:extLst xmlns:a="http://schemas.openxmlformats.org/drawingml/2006/main">
              <a:ext uri="{FF2B5EF4-FFF2-40B4-BE49-F238E27FC236}">
                <a16:creationId xmlns:a16="http://schemas.microsoft.com/office/drawing/2014/main" id="{7E799F9F-A696-45A3-8952-26BD3BD803C1}"/>
              </a:ext>
            </a:extLst>
          </p:cNvPr>
          <p:cNvSpPr>
            <a:spLocks xmlns:a="http://schemas.openxmlformats.org/drawingml/2006/main" noGrp="1"/>
          </p:cNvSpPr>
          <p:nvPr/>
        </p:nvSpPr>
        <p:spPr>
          <a:xfrm xmlns:a="http://schemas.openxmlformats.org/drawingml/2006/main">
            <a:off x="7223760" y="1874520"/>
            <a:ext cx="15544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880" b="0" i="1" u="none" cap="none">
                <a:solidFill>
                  <a:srgbClr val="C9D4EF"/>
                </a:solidFill>
                <a:latin typeface="Calibri"/>
                <a:ea typeface="Calibri"/>
                <a:cs typeface="Calibri"/>
              </a:rPr>
              <a:t>living proof of coexistence</a:t>
            </a:r>
          </a:p>
        </p:txBody>
      </p:sp>
      <p:sp>
        <p:nvSpPr>
          <p:cNvPr id="249" name="Google Shape;249;p11">
            <a:extLst xmlns:a="http://schemas.openxmlformats.org/drawingml/2006/main">
              <a:ext uri="{FF2B5EF4-FFF2-40B4-BE49-F238E27FC236}">
                <a16:creationId xmlns:a16="http://schemas.microsoft.com/office/drawing/2014/main" id="{6B6BDCD0-FA8B-4D55-A4C2-63D899CA8920}"/>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0" name="Google Shape;250;p11">
            <a:extLst xmlns:a="http://schemas.openxmlformats.org/drawingml/2006/main">
              <a:ext uri="{FF2B5EF4-FFF2-40B4-BE49-F238E27FC236}">
                <a16:creationId xmlns:a16="http://schemas.microsoft.com/office/drawing/2014/main" id="{5A39170F-9417-4B44-AC88-9D3C49A24999}"/>
              </a:ext>
            </a:extLst>
          </p:cNvPr>
          <p:cNvSpPr>
            <a:spLocks xmlns:a="http://schemas.openxmlformats.org/drawingml/2006/main" noGrp="1"/>
          </p:cNvSpPr>
          <p:nvPr/>
        </p:nvSpPr>
        <p:spPr>
          <a:xfrm xmlns:a="http://schemas.openxmlformats.org/drawingml/2006/main">
            <a:off x="640080" y="2770632"/>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T1</a:t>
            </a:r>
          </a:p>
        </p:txBody>
      </p:sp>
      <p:sp>
        <p:nvSpPr>
          <p:cNvPr id="251" name="Google Shape;251;p11">
            <a:extLst xmlns:a="http://schemas.openxmlformats.org/drawingml/2006/main">
              <a:ext uri="{FF2B5EF4-FFF2-40B4-BE49-F238E27FC236}">
                <a16:creationId xmlns:a16="http://schemas.microsoft.com/office/drawing/2014/main" id="{F7B5D1C5-E2AE-48C6-8B84-66FC4D530303}"/>
              </a:ext>
            </a:extLst>
          </p:cNvPr>
          <p:cNvSpPr>
            <a:spLocks xmlns:a="http://schemas.openxmlformats.org/drawingml/2006/main" noGrp="1"/>
          </p:cNvSpPr>
          <p:nvPr/>
        </p:nvSpPr>
        <p:spPr>
          <a:xfrm xmlns:a="http://schemas.openxmlformats.org/drawingml/2006/main">
            <a:off x="1188720" y="2743200"/>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Constitutional completeness — immortality of result; the atom becomes sentient jeevan</a:t>
            </a:r>
          </a:p>
        </p:txBody>
      </p:sp>
      <p:sp>
        <p:nvSpPr>
          <p:cNvPr id="252" name="Google Shape;252;p11">
            <a:extLst xmlns:a="http://schemas.openxmlformats.org/drawingml/2006/main">
              <a:ext uri="{FF2B5EF4-FFF2-40B4-BE49-F238E27FC236}">
                <a16:creationId xmlns:a16="http://schemas.microsoft.com/office/drawing/2014/main" id="{83BDFC2E-DA72-4DD2-915F-3F89D26436A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3" name="Google Shape;253;p11">
            <a:extLst xmlns:a="http://schemas.openxmlformats.org/drawingml/2006/main">
              <a:ext uri="{FF2B5EF4-FFF2-40B4-BE49-F238E27FC236}">
                <a16:creationId xmlns:a16="http://schemas.microsoft.com/office/drawing/2014/main" id="{DC7A5696-0E7D-407F-9FAF-73C6217F0C7C}"/>
              </a:ext>
            </a:extLst>
          </p:cNvPr>
          <p:cNvSpPr>
            <a:spLocks xmlns:a="http://schemas.openxmlformats.org/drawingml/2006/main" noGrp="1"/>
          </p:cNvSpPr>
          <p:nvPr/>
        </p:nvSpPr>
        <p:spPr>
          <a:xfrm xmlns:a="http://schemas.openxmlformats.org/drawingml/2006/main">
            <a:off x="640080" y="3374136"/>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T2</a:t>
            </a:r>
          </a:p>
        </p:txBody>
      </p:sp>
      <p:sp>
        <p:nvSpPr>
          <p:cNvPr id="254" name="Google Shape;254;p11">
            <a:extLst xmlns:a="http://schemas.openxmlformats.org/drawingml/2006/main">
              <a:ext uri="{FF2B5EF4-FFF2-40B4-BE49-F238E27FC236}">
                <a16:creationId xmlns:a16="http://schemas.microsoft.com/office/drawing/2014/main" id="{663695CE-F971-4DC5-B46F-C77CA72A0A75}"/>
              </a:ext>
            </a:extLst>
          </p:cNvPr>
          <p:cNvSpPr>
            <a:spLocks xmlns:a="http://schemas.openxmlformats.org/drawingml/2006/main" noGrp="1"/>
          </p:cNvSpPr>
          <p:nvPr/>
        </p:nvSpPr>
        <p:spPr>
          <a:xfrm xmlns:a="http://schemas.openxmlformats.org/drawingml/2006/main">
            <a:off x="1188720" y="3346704"/>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Activity completeness — restfulness of effort; direct realisation and absolute resolution</a:t>
            </a:r>
          </a:p>
        </p:txBody>
      </p:sp>
      <p:sp>
        <p:nvSpPr>
          <p:cNvPr id="255" name="Google Shape;255;p11">
            <a:extLst xmlns:a="http://schemas.openxmlformats.org/drawingml/2006/main">
              <a:ext uri="{FF2B5EF4-FFF2-40B4-BE49-F238E27FC236}">
                <a16:creationId xmlns:a16="http://schemas.microsoft.com/office/drawing/2014/main" id="{6DC74D46-B1D5-4DAB-9EF8-CB88C4910598}"/>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56" name="Google Shape;256;p11">
            <a:extLst xmlns:a="http://schemas.openxmlformats.org/drawingml/2006/main">
              <a:ext uri="{FF2B5EF4-FFF2-40B4-BE49-F238E27FC236}">
                <a16:creationId xmlns:a16="http://schemas.microsoft.com/office/drawing/2014/main" id="{786BC72A-C072-4422-9579-70B748800D93}"/>
              </a:ext>
            </a:extLst>
          </p:cNvPr>
          <p:cNvSpPr>
            <a:spLocks xmlns:a="http://schemas.openxmlformats.org/drawingml/2006/main" noGrp="1"/>
          </p:cNvSpPr>
          <p:nvPr/>
        </p:nvSpPr>
        <p:spPr>
          <a:xfrm xmlns:a="http://schemas.openxmlformats.org/drawingml/2006/main">
            <a:off x="640080" y="3977640"/>
            <a:ext cx="384048" cy="38404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T3</a:t>
            </a:r>
          </a:p>
        </p:txBody>
      </p:sp>
      <p:sp>
        <p:nvSpPr>
          <p:cNvPr id="257" name="Google Shape;257;p11">
            <a:extLst xmlns:a="http://schemas.openxmlformats.org/drawingml/2006/main">
              <a:ext uri="{FF2B5EF4-FFF2-40B4-BE49-F238E27FC236}">
                <a16:creationId xmlns:a16="http://schemas.microsoft.com/office/drawing/2014/main" id="{D6639B03-944A-412F-9EE4-A1FFCF5E75A8}"/>
              </a:ext>
            </a:extLst>
          </p:cNvPr>
          <p:cNvSpPr>
            <a:spLocks xmlns:a="http://schemas.openxmlformats.org/drawingml/2006/main" noGrp="1"/>
          </p:cNvSpPr>
          <p:nvPr/>
        </p:nvSpPr>
        <p:spPr>
          <a:xfrm xmlns:a="http://schemas.openxmlformats.org/drawingml/2006/main">
            <a:off x="1188720" y="3950208"/>
            <a:ext cx="7406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0" u="none" cap="none">
                <a:solidFill>
                  <a:srgbClr val="5A6377"/>
                </a:solidFill>
                <a:latin typeface="Calibri"/>
                <a:ea typeface="Calibri"/>
                <a:cs typeface="Calibri"/>
              </a:rPr>
              <a:t>Conduct completeness — destination of motion; authentic conduct as living proof</a:t>
            </a:r>
          </a:p>
        </p:txBody>
      </p:sp>
      <p:sp>
        <p:nvSpPr>
          <p:cNvPr id="258" name="Google Shape;258;p11">
            <a:extLst xmlns:a="http://schemas.openxmlformats.org/drawingml/2006/main">
              <a:ext uri="{FF2B5EF4-FFF2-40B4-BE49-F238E27FC236}">
                <a16:creationId xmlns:a16="http://schemas.microsoft.com/office/drawing/2014/main" id="{2C1A8288-A341-425A-B68F-6C122B0AB159}"/>
              </a:ext>
            </a:extLst>
          </p:cNvPr>
          <p:cNvSpPr>
            <a:spLocks xmlns:a="http://schemas.openxmlformats.org/drawingml/2006/main" noGrp="1"/>
          </p:cNvSpPr>
          <p:nvPr/>
        </p:nvSpPr>
        <p:spPr>
          <a:xfrm xmlns:a="http://schemas.openxmlformats.org/drawingml/2006/main">
            <a:off x="640080" y="4572000"/>
            <a:ext cx="795528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1" u="none" cap="none">
                <a:solidFill>
                  <a:srgbClr val="9A6414"/>
                </a:solidFill>
                <a:latin typeface="Calibri"/>
                <a:ea typeface="Calibri"/>
                <a:cs typeface="Calibri"/>
              </a:rPr>
              <a:t>T1 is constitutional completeness: a developing atom becomes sentient jeevan. T2 and T3 are not further material stages; they name completeness of activity and conduct in awakened jeevan.</a:t>
            </a:r>
          </a:p>
        </p:txBody>
      </p:sp>
    </p:spTree>
    <p:extLst>
      <p:ext uri="{BB962C8B-B14F-4D97-AF65-F5344CB8AC3E}">
        <p14:creationId xmlns:p14="http://schemas.microsoft.com/office/powerpoint/2010/main" val="141356590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§1.6.1</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T1 — The Irreversible Sentience Threshold</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Constitutional completeness at the atomic level, </a:t>
            </a:r>
            <a:r>
              <a:rPr sz="1250" b="0" i="0" u="none" cap="none">
                <a:solidFill>
                  <a:srgbClr val="5A6377"/>
                </a:solidFill>
                <a:latin typeface="Calibri"/>
                <a:ea typeface="Calibri"/>
                <a:cs typeface="Calibri"/>
              </a:rPr>
              <a:t>not neural complexity, molecular size, or elevation along the order chain. A developing ordinary atom takes in particles — hungry atoms and overfull atoms completing each other — within a suitable environment; once the required particles are in place, it closes.</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Before T1 — evolving atom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Still bound by molecular weight and structure</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Particle count still changing; development in progress</a:t>
            </a:r>
          </a:p>
          <a:p xmlns:a="http://schemas.openxmlformats.org/drawingml/2006/main">
            <a:pPr marL="342900" indent="-342900" algn="l">
              <a:spcBef>
                <a:spcPts val="0"/>
              </a:spcBef>
              <a:spcAft>
                <a:spcPts val="0"/>
              </a:spcAft>
              <a:buChar char="•"/>
            </a:pPr>
            <a:r>
              <a:rPr sz="1050" b="0" i="0" u="none" cap="none">
                <a:solidFill>
                  <a:srgbClr val="5A6377"/>
                </a:solidFill>
                <a:latin typeface="Calibri"/>
                <a:ea typeface="Calibri"/>
                <a:cs typeface="Calibri"/>
              </a:rPr>
              <a:t>Exhibits radiance and projection as an insentient unit</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After T1 — the completed atom</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Released from molecular and weight bondage; carried by hope</a:t>
            </a:r>
          </a:p>
          <a:p xmlns:a="http://schemas.openxmlformats.org/drawingml/2006/main">
            <a:pPr marL="342900" indent="-342900" algn="l">
              <a:spcBef>
                <a:spcPts val="0"/>
              </a:spcBef>
              <a:spcAft>
                <a:spcPts val="0"/>
              </a:spcAft>
              <a:buChar char="•"/>
              <a:defRPr sz="938">
                <a:solidFill>
                  <a:srgbClr val="5F6B82"/>
                </a:solidFill>
              </a:defRPr>
            </a:pPr>
            <a:r>
              <a:rPr sz="938" b="0" i="0" u="none" cap="none">
                <a:solidFill>
                  <a:srgbClr val="5F6B82"/>
                </a:solidFill>
                <a:latin typeface="Calibri"/>
                <a:ea typeface="Calibri"/>
                <a:cs typeface="Calibri"/>
              </a:rPr>
              <a:t>No increase or decrease in particles: qualitative change without quantitative change</a:t>
            </a:r>
          </a:p>
          <a:p xmlns:a="http://schemas.openxmlformats.org/drawingml/2006/main">
            <a:pPr marL="342900" indent="-342900" algn="l">
              <a:spcBef>
                <a:spcPts val="0"/>
              </a:spcBef>
              <a:spcAft>
                <a:spcPts val="0"/>
              </a:spcAft>
              <a:buChar char="•"/>
              <a:defRPr sz="938">
                <a:solidFill>
                  <a:srgbClr val="5F6B82"/>
                </a:solidFill>
              </a:defRPr>
            </a:pPr>
            <a:r>
              <a:rPr sz="938">
                <a:solidFill>
                  <a:srgbClr val="5F6B82"/>
                </a:solidFill>
              </a:rPr>
              <a:t>Sentient jeevan shows a finer mode of recognition</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T1 is irreversible because the atom’s constitution is complete and no longer decomposes. The completed constitution itself grounds jeevan’s continuity beyond the body.</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pp. 52, 55, 59, 80–81, 92  ·  MVD pp. 8, 91, 117</a:t>
            </a:r>
          </a:p>
        </p:txBody>
      </p:sp>
    </p:spTree>
    <p:extLst>
      <p:ext uri="{BB962C8B-B14F-4D97-AF65-F5344CB8AC3E}">
        <p14:creationId xmlns:p14="http://schemas.microsoft.com/office/powerpoint/2010/main" val="21413563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4" name="Google Shape;264;p12">
            <a:extLst xmlns:a="http://schemas.openxmlformats.org/drawingml/2006/main">
              <a:ext uri="{FF2B5EF4-FFF2-40B4-BE49-F238E27FC236}">
                <a16:creationId xmlns:a16="http://schemas.microsoft.com/office/drawing/2014/main" id="{31F24DF1-343F-4626-9A6C-364355E38A6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5" name="Google Shape;265;p12">
            <a:extLst xmlns:a="http://schemas.openxmlformats.org/drawingml/2006/main">
              <a:ext uri="{FF2B5EF4-FFF2-40B4-BE49-F238E27FC236}">
                <a16:creationId xmlns:a16="http://schemas.microsoft.com/office/drawing/2014/main" id="{43AB7693-7E8D-4A57-BC39-AB8AF60545C1}"/>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6" name="Google Shape;266;p12">
            <a:extLst xmlns:a="http://schemas.openxmlformats.org/drawingml/2006/main">
              <a:ext uri="{FF2B5EF4-FFF2-40B4-BE49-F238E27FC236}">
                <a16:creationId xmlns:a16="http://schemas.microsoft.com/office/drawing/2014/main" id="{30A460E3-D65D-48F0-B206-E0AD88EE63D2}"/>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67" name="Google Shape;267;p12">
            <a:extLst xmlns:a="http://schemas.openxmlformats.org/drawingml/2006/main">
              <a:ext uri="{FF2B5EF4-FFF2-40B4-BE49-F238E27FC236}">
                <a16:creationId xmlns:a16="http://schemas.microsoft.com/office/drawing/2014/main" id="{45014028-6252-4341-AD46-BDF3BC545E44}"/>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THE HUMAN JOINT FORM</a:t>
            </a:r>
          </a:p>
        </p:txBody>
      </p:sp>
      <p:sp>
        <p:nvSpPr>
          <p:cNvPr id="268" name="Google Shape;268;p12">
            <a:extLst xmlns:a="http://schemas.openxmlformats.org/drawingml/2006/main">
              <a:ext uri="{FF2B5EF4-FFF2-40B4-BE49-F238E27FC236}">
                <a16:creationId xmlns:a16="http://schemas.microsoft.com/office/drawing/2014/main" id="{CCDB9E2B-0461-4636-9BEE-2C6CC0F38C7F}"/>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Body and Jeevan: One Joint Form</a:t>
            </a:r>
          </a:p>
        </p:txBody>
      </p:sp>
      <p:sp>
        <p:nvSpPr>
          <p:cNvPr id="269" name="Google Shape;269;p12">
            <a:extLst xmlns:a="http://schemas.openxmlformats.org/drawingml/2006/main">
              <a:ext uri="{FF2B5EF4-FFF2-40B4-BE49-F238E27FC236}">
                <a16:creationId xmlns:a16="http://schemas.microsoft.com/office/drawing/2014/main" id="{BAD19D94-263F-4FC3-BB54-B9FF052B10C9}"/>
              </a:ext>
            </a:extLst>
          </p:cNvPr>
          <p:cNvSpPr>
            <a:spLocks xmlns:a="http://schemas.openxmlformats.org/drawingml/2006/main" noGrp="1"/>
          </p:cNvSpPr>
          <p:nvPr/>
        </p:nvSpPr>
        <p:spPr>
          <a:xfrm xmlns:a="http://schemas.openxmlformats.org/drawingml/2006/main">
            <a:off x="640080" y="1234440"/>
            <a:ext cx="7955280" cy="9144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1" i="0" u="none" cap="none">
                <a:solidFill>
                  <a:srgbClr val="1E2447"/>
                </a:solidFill>
                <a:latin typeface="Calibri"/>
                <a:ea typeface="Calibri"/>
                <a:cs typeface="Calibri"/>
              </a:rPr>
              <a:t>Animal and human living is a joint form. The body belongs to compositional progression; jeevan belongs to development in the atom. Their coordinated operation does not make the two processes identical, and bodily complexity alone does not produce sentience.</a:t>
            </a:r>
          </a:p>
        </p:txBody>
      </p:sp>
      <p:sp>
        <p:nvSpPr>
          <p:cNvPr id="270" name="Google Shape;270;p12">
            <a:extLst xmlns:a="http://schemas.openxmlformats.org/drawingml/2006/main">
              <a:ext uri="{FF2B5EF4-FFF2-40B4-BE49-F238E27FC236}">
                <a16:creationId xmlns:a16="http://schemas.microsoft.com/office/drawing/2014/main" id="{C0213F39-D99F-48F2-9957-9418CC5ED26C}"/>
              </a:ext>
            </a:extLst>
          </p:cNvPr>
          <p:cNvSpPr>
            <a:spLocks xmlns:a="http://schemas.openxmlformats.org/drawingml/2006/main" noGrp="1"/>
          </p:cNvSpPr>
          <p:nvPr/>
        </p:nvSpPr>
        <p:spPr>
          <a:xfrm xmlns:a="http://schemas.openxmlformats.org/drawingml/2006/main">
            <a:off x="640080" y="2286000"/>
            <a:ext cx="3657600" cy="1691640"/>
          </a:xfrm>
          <a:prstGeom xmlns:a="http://schemas.openxmlformats.org/drawingml/2006/main" prst="roundRect">
            <a:avLst>
              <a:gd name="adj" fmla="val 5405"/>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1" name="Google Shape;271;p12">
            <a:extLst xmlns:a="http://schemas.openxmlformats.org/drawingml/2006/main">
              <a:ext uri="{FF2B5EF4-FFF2-40B4-BE49-F238E27FC236}">
                <a16:creationId xmlns:a16="http://schemas.microsoft.com/office/drawing/2014/main" id="{57967AD6-5336-4CF3-847E-5A8EA1E8FE5F}"/>
              </a:ext>
            </a:extLst>
          </p:cNvPr>
          <p:cNvSpPr>
            <a:spLocks xmlns:a="http://schemas.openxmlformats.org/drawingml/2006/main" noGrp="1"/>
          </p:cNvSpPr>
          <p:nvPr/>
        </p:nvSpPr>
        <p:spPr>
          <a:xfrm xmlns:a="http://schemas.openxmlformats.org/drawingml/2006/main">
            <a:off x="86868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3B4A7A"/>
                </a:solidFill>
                <a:latin typeface="Cambria"/>
                <a:ea typeface="Cambria"/>
                <a:cs typeface="Cambria"/>
              </a:rPr>
              <a:t>Body — the medium</a:t>
            </a:r>
          </a:p>
        </p:txBody>
      </p:sp>
      <p:sp>
        <p:nvSpPr>
          <p:cNvPr id="272" name="Google Shape;272;p12">
            <a:extLst xmlns:a="http://schemas.openxmlformats.org/drawingml/2006/main">
              <a:ext uri="{FF2B5EF4-FFF2-40B4-BE49-F238E27FC236}">
                <a16:creationId xmlns:a16="http://schemas.microsoft.com/office/drawing/2014/main" id="{79F1F4CE-AA65-4807-953F-298E3C8E3C16}"/>
              </a:ext>
            </a:extLst>
          </p:cNvPr>
          <p:cNvSpPr>
            <a:spLocks xmlns:a="http://schemas.openxmlformats.org/drawingml/2006/main" noGrp="1"/>
          </p:cNvSpPr>
          <p:nvPr/>
        </p:nvSpPr>
        <p:spPr>
          <a:xfrm xmlns:a="http://schemas.openxmlformats.org/drawingml/2006/main">
            <a:off x="868680" y="2743200"/>
            <a:ext cx="3246120" cy="1143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Pranic composition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Sense organs, brain, and physical expression</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Species-conformant and decomposable</a:t>
            </a:r>
          </a:p>
        </p:txBody>
      </p:sp>
      <p:sp>
        <p:nvSpPr>
          <p:cNvPr id="273" name="Google Shape;273;p12">
            <a:extLst xmlns:a="http://schemas.openxmlformats.org/drawingml/2006/main">
              <a:ext uri="{FF2B5EF4-FFF2-40B4-BE49-F238E27FC236}">
                <a16:creationId xmlns:a16="http://schemas.microsoft.com/office/drawing/2014/main" id="{64E931F0-5A68-4993-9F13-C4B761F75C40}"/>
              </a:ext>
            </a:extLst>
          </p:cNvPr>
          <p:cNvSpPr>
            <a:spLocks xmlns:a="http://schemas.openxmlformats.org/drawingml/2006/main" noGrp="1"/>
          </p:cNvSpPr>
          <p:nvPr/>
        </p:nvSpPr>
        <p:spPr>
          <a:xfrm xmlns:a="http://schemas.openxmlformats.org/drawingml/2006/main">
            <a:off x="4846320" y="2286000"/>
            <a:ext cx="3657600" cy="1691640"/>
          </a:xfrm>
          <a:prstGeom xmlns:a="http://schemas.openxmlformats.org/drawingml/2006/main" prst="roundRect">
            <a:avLst>
              <a:gd name="adj" fmla="val 5405"/>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74" name="Google Shape;274;p12">
            <a:extLst xmlns:a="http://schemas.openxmlformats.org/drawingml/2006/main">
              <a:ext uri="{FF2B5EF4-FFF2-40B4-BE49-F238E27FC236}">
                <a16:creationId xmlns:a16="http://schemas.microsoft.com/office/drawing/2014/main" id="{03D17D49-5205-40E4-8929-28FBA11F0432}"/>
              </a:ext>
            </a:extLst>
          </p:cNvPr>
          <p:cNvSpPr>
            <a:spLocks xmlns:a="http://schemas.openxmlformats.org/drawingml/2006/main" noGrp="1"/>
          </p:cNvSpPr>
          <p:nvPr/>
        </p:nvSpPr>
        <p:spPr>
          <a:xfrm xmlns:a="http://schemas.openxmlformats.org/drawingml/2006/main">
            <a:off x="5074920" y="2432304"/>
            <a:ext cx="3200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1" i="0" u="none" cap="none">
                <a:solidFill>
                  <a:srgbClr val="9A6414"/>
                </a:solidFill>
                <a:latin typeface="Cambria"/>
                <a:ea typeface="Cambria"/>
                <a:cs typeface="Cambria"/>
              </a:rPr>
              <a:t>Jeevan — the knower</a:t>
            </a:r>
          </a:p>
        </p:txBody>
      </p:sp>
      <p:sp>
        <p:nvSpPr>
          <p:cNvPr id="275" name="Google Shape;275;p12">
            <a:extLst xmlns:a="http://schemas.openxmlformats.org/drawingml/2006/main">
              <a:ext uri="{FF2B5EF4-FFF2-40B4-BE49-F238E27FC236}">
                <a16:creationId xmlns:a16="http://schemas.microsoft.com/office/drawing/2014/main" id="{806792A4-DAF7-4995-ADA5-97A4ACC0BE88}"/>
              </a:ext>
            </a:extLst>
          </p:cNvPr>
          <p:cNvSpPr>
            <a:spLocks xmlns:a="http://schemas.openxmlformats.org/drawingml/2006/main" noGrp="1"/>
          </p:cNvSpPr>
          <p:nvPr/>
        </p:nvSpPr>
        <p:spPr>
          <a:xfrm xmlns:a="http://schemas.openxmlformats.org/drawingml/2006/main">
            <a:off x="5074920" y="2743200"/>
            <a:ext cx="3246120" cy="12801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Constitutionally complete sentient atom</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Hope, thought, desire, and resolve</a:t>
            </a:r>
          </a:p>
          <a:p xmlns:a="http://schemas.openxmlformats.org/drawingml/2006/main">
            <a:pPr marL="342900" indent="-342900" algn="l">
              <a:spcBef>
                <a:spcPts val="0"/>
              </a:spcBef>
              <a:spcAft>
                <a:spcPts val="0"/>
              </a:spcAft>
              <a:buChar char="•"/>
              <a:defRPr sz="1013">
                <a:solidFill>
                  <a:srgbClr val="5F6B82"/>
                </a:solidFill>
              </a:defRPr>
            </a:pPr>
            <a:r>
              <a:rPr sz="1013">
                <a:solidFill>
                  <a:srgbClr val="5F6B82"/>
                </a:solidFill>
              </a:rPr>
              <a:t>Continues when the joint form ends</a:t>
            </a:r>
          </a:p>
        </p:txBody>
      </p:sp>
      <p:sp>
        <p:nvSpPr>
          <p:cNvPr id="276" name="Google Shape;276;p12">
            <a:extLst xmlns:a="http://schemas.openxmlformats.org/drawingml/2006/main">
              <a:ext uri="{FF2B5EF4-FFF2-40B4-BE49-F238E27FC236}">
                <a16:creationId xmlns:a16="http://schemas.microsoft.com/office/drawing/2014/main" id="{E6F80A38-F0FD-4914-9EAC-5969F611F70F}"/>
              </a:ext>
            </a:extLst>
          </p:cNvPr>
          <p:cNvSpPr>
            <a:spLocks xmlns:a="http://schemas.openxmlformats.org/drawingml/2006/main" noGrp="1"/>
          </p:cNvSpPr>
          <p:nvPr/>
        </p:nvSpPr>
        <p:spPr>
          <a:xfrm xmlns:a="http://schemas.openxmlformats.org/drawingml/2006/main">
            <a:off x="4315968" y="2880360"/>
            <a:ext cx="50292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2400" b="1" i="0" u="none" cap="none">
                <a:solidFill>
                  <a:srgbClr val="C9821E"/>
                </a:solidFill>
                <a:latin typeface="Calibri"/>
                <a:ea typeface="Calibri"/>
                <a:cs typeface="Calibri"/>
              </a:rPr>
              <a:t>⇄</a:t>
            </a:r>
          </a:p>
        </p:txBody>
      </p:sp>
      <p:sp>
        <p:nvSpPr>
          <p:cNvPr id="277" name="Google Shape;277;p12">
            <a:extLst xmlns:a="http://schemas.openxmlformats.org/drawingml/2006/main">
              <a:ext uri="{FF2B5EF4-FFF2-40B4-BE49-F238E27FC236}">
                <a16:creationId xmlns:a16="http://schemas.microsoft.com/office/drawing/2014/main" id="{FA084800-C991-44A7-8718-3023E79AF2C3}"/>
              </a:ext>
            </a:extLst>
          </p:cNvPr>
          <p:cNvSpPr>
            <a:spLocks xmlns:a="http://schemas.openxmlformats.org/drawingml/2006/main" noGrp="1"/>
          </p:cNvSpPr>
          <p:nvPr/>
        </p:nvSpPr>
        <p:spPr>
          <a:xfrm xmlns:a="http://schemas.openxmlformats.org/drawingml/2006/main">
            <a:off x="640080" y="4206240"/>
            <a:ext cx="7955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1E2447"/>
                </a:solidFill>
                <a:latin typeface="Calibri"/>
                <a:ea typeface="Calibri"/>
                <a:cs typeface="Calibri"/>
              </a:rPr>
              <a:t>The body supplies the instrument; jeevan is seer–doer–enjoyer through it. Their coordinated operation is the human joint form.</a:t>
            </a:r>
          </a:p>
        </p:txBody>
      </p:sp>
      <p:sp>
        <p:nvSpPr>
          <p:cNvPr id="278" name="Google Shape;278;p12">
            <a:extLst xmlns:a="http://schemas.openxmlformats.org/drawingml/2006/main">
              <a:ext uri="{FF2B5EF4-FFF2-40B4-BE49-F238E27FC236}">
                <a16:creationId xmlns:a16="http://schemas.microsoft.com/office/drawing/2014/main" id="{55D6FE27-A431-49AB-BD4A-743E578D1DA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115, 288–289 · SB pp. 91–92 · JV pp. 20, 54</a:t>
            </a:r>
          </a:p>
        </p:txBody>
      </p:sp>
    </p:spTree>
    <p:extLst>
      <p:ext uri="{BB962C8B-B14F-4D97-AF65-F5344CB8AC3E}">
        <p14:creationId xmlns:p14="http://schemas.microsoft.com/office/powerpoint/2010/main" val="21413563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4" name="Google Shape;284;p13">
            <a:extLst xmlns:a="http://schemas.openxmlformats.org/drawingml/2006/main">
              <a:ext uri="{FF2B5EF4-FFF2-40B4-BE49-F238E27FC236}">
                <a16:creationId xmlns:a16="http://schemas.microsoft.com/office/drawing/2014/main" id="{1E5F56BB-9A34-4C85-9FA8-3973A3C8F591}"/>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5" name="Google Shape;285;p13">
            <a:extLst xmlns:a="http://schemas.openxmlformats.org/drawingml/2006/main">
              <a:ext uri="{FF2B5EF4-FFF2-40B4-BE49-F238E27FC236}">
                <a16:creationId xmlns:a16="http://schemas.microsoft.com/office/drawing/2014/main" id="{789B6EC8-4924-4167-914C-21CDEA4EF89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6" name="Google Shape;286;p13">
            <a:extLst xmlns:a="http://schemas.openxmlformats.org/drawingml/2006/main">
              <a:ext uri="{FF2B5EF4-FFF2-40B4-BE49-F238E27FC236}">
                <a16:creationId xmlns:a16="http://schemas.microsoft.com/office/drawing/2014/main" id="{64227F92-96D4-4E15-9F79-F545BF27D19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87" name="Google Shape;287;p13">
            <a:extLst xmlns:a="http://schemas.openxmlformats.org/drawingml/2006/main">
              <a:ext uri="{FF2B5EF4-FFF2-40B4-BE49-F238E27FC236}">
                <a16:creationId xmlns:a16="http://schemas.microsoft.com/office/drawing/2014/main" id="{1C5C8F2C-EDB9-4C04-9B75-C5DFEDCDDBE0}"/>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 · CONSTITUTIONALLY COMPLETE</a:t>
            </a:r>
          </a:p>
        </p:txBody>
      </p:sp>
      <p:sp>
        <p:nvSpPr>
          <p:cNvPr id="288" name="Google Shape;288;p13">
            <a:extLst xmlns:a="http://schemas.openxmlformats.org/drawingml/2006/main">
              <a:ext uri="{FF2B5EF4-FFF2-40B4-BE49-F238E27FC236}">
                <a16:creationId xmlns:a16="http://schemas.microsoft.com/office/drawing/2014/main" id="{9217C47C-53A4-41ED-8226-61D3CF3778D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Jeevan: Five Faculties, Ten Activities</a:t>
            </a:r>
          </a:p>
        </p:txBody>
      </p:sp>
      <p:sp>
        <p:nvSpPr>
          <p:cNvPr id="289" name="Google Shape;289;p13">
            <a:extLst xmlns:a="http://schemas.openxmlformats.org/drawingml/2006/main">
              <a:ext uri="{FF2B5EF4-FFF2-40B4-BE49-F238E27FC236}">
                <a16:creationId xmlns:a16="http://schemas.microsoft.com/office/drawing/2014/main" id="{A7811749-9FD9-446E-9F16-BAE349C0EB31}"/>
              </a:ext>
            </a:extLst>
          </p:cNvPr>
          <p:cNvSpPr>
            <a:spLocks xmlns:a="http://schemas.openxmlformats.org/drawingml/2006/main" noGrp="1"/>
          </p:cNvSpPr>
          <p:nvPr/>
        </p:nvSpPr>
        <p:spPr>
          <a:xfrm xmlns:a="http://schemas.openxmlformats.org/drawingml/2006/main">
            <a:off x="1851660" y="2583180"/>
            <a:ext cx="960120" cy="9601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0" name="Google Shape;290;p13">
            <a:extLst xmlns:a="http://schemas.openxmlformats.org/drawingml/2006/main">
              <a:ext uri="{FF2B5EF4-FFF2-40B4-BE49-F238E27FC236}">
                <a16:creationId xmlns:a16="http://schemas.microsoft.com/office/drawing/2014/main" id="{B80053E0-F78A-42B8-B068-8EE096741EB1}"/>
              </a:ext>
            </a:extLst>
          </p:cNvPr>
          <p:cNvSpPr>
            <a:spLocks xmlns:a="http://schemas.openxmlformats.org/drawingml/2006/main" noGrp="1"/>
          </p:cNvSpPr>
          <p:nvPr/>
        </p:nvSpPr>
        <p:spPr>
          <a:xfrm xmlns:a="http://schemas.openxmlformats.org/drawingml/2006/main">
            <a:off x="1828800" y="24643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buddhi</a:t>
            </a:r>
          </a:p>
        </p:txBody>
      </p:sp>
      <p:sp>
        <p:nvSpPr>
          <p:cNvPr id="291" name="Google Shape;291;p13">
            <a:extLst xmlns:a="http://schemas.openxmlformats.org/drawingml/2006/main">
              <a:ext uri="{FF2B5EF4-FFF2-40B4-BE49-F238E27FC236}">
                <a16:creationId xmlns:a16="http://schemas.microsoft.com/office/drawing/2014/main" id="{6CDC5A34-ED41-4857-A986-B809E855A59E}"/>
              </a:ext>
            </a:extLst>
          </p:cNvPr>
          <p:cNvSpPr>
            <a:spLocks xmlns:a="http://schemas.openxmlformats.org/drawingml/2006/main" noGrp="1"/>
          </p:cNvSpPr>
          <p:nvPr/>
        </p:nvSpPr>
        <p:spPr>
          <a:xfrm xmlns:a="http://schemas.openxmlformats.org/drawingml/2006/main">
            <a:off x="1623060" y="2354580"/>
            <a:ext cx="1417320" cy="14173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2" name="Google Shape;292;p13">
            <a:extLst xmlns:a="http://schemas.openxmlformats.org/drawingml/2006/main">
              <a:ext uri="{FF2B5EF4-FFF2-40B4-BE49-F238E27FC236}">
                <a16:creationId xmlns:a16="http://schemas.microsoft.com/office/drawing/2014/main" id="{62D17117-F8A0-4EE1-A91D-B5B85A030A63}"/>
              </a:ext>
            </a:extLst>
          </p:cNvPr>
          <p:cNvSpPr>
            <a:spLocks xmlns:a="http://schemas.openxmlformats.org/drawingml/2006/main" noGrp="1"/>
          </p:cNvSpPr>
          <p:nvPr/>
        </p:nvSpPr>
        <p:spPr>
          <a:xfrm xmlns:a="http://schemas.openxmlformats.org/drawingml/2006/main">
            <a:off x="1828800" y="22357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chitta</a:t>
            </a:r>
          </a:p>
        </p:txBody>
      </p:sp>
      <p:sp>
        <p:nvSpPr>
          <p:cNvPr id="293" name="Google Shape;293;p13">
            <a:extLst xmlns:a="http://schemas.openxmlformats.org/drawingml/2006/main">
              <a:ext uri="{FF2B5EF4-FFF2-40B4-BE49-F238E27FC236}">
                <a16:creationId xmlns:a16="http://schemas.microsoft.com/office/drawing/2014/main" id="{BF98A95E-C47B-4496-B328-945B3D5A3301}"/>
              </a:ext>
            </a:extLst>
          </p:cNvPr>
          <p:cNvSpPr>
            <a:spLocks xmlns:a="http://schemas.openxmlformats.org/drawingml/2006/main" noGrp="1"/>
          </p:cNvSpPr>
          <p:nvPr/>
        </p:nvSpPr>
        <p:spPr>
          <a:xfrm xmlns:a="http://schemas.openxmlformats.org/drawingml/2006/main">
            <a:off x="1394460" y="2125980"/>
            <a:ext cx="1874520" cy="187452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4" name="Google Shape;294;p13">
            <a:extLst xmlns:a="http://schemas.openxmlformats.org/drawingml/2006/main">
              <a:ext uri="{FF2B5EF4-FFF2-40B4-BE49-F238E27FC236}">
                <a16:creationId xmlns:a16="http://schemas.microsoft.com/office/drawing/2014/main" id="{A75EA635-19EA-4538-B7E1-6FED769C3EB1}"/>
              </a:ext>
            </a:extLst>
          </p:cNvPr>
          <p:cNvSpPr>
            <a:spLocks xmlns:a="http://schemas.openxmlformats.org/drawingml/2006/main" noGrp="1"/>
          </p:cNvSpPr>
          <p:nvPr/>
        </p:nvSpPr>
        <p:spPr>
          <a:xfrm xmlns:a="http://schemas.openxmlformats.org/drawingml/2006/main">
            <a:off x="1828800" y="20071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vritti</a:t>
            </a:r>
          </a:p>
        </p:txBody>
      </p:sp>
      <p:sp>
        <p:nvSpPr>
          <p:cNvPr id="295" name="Google Shape;295;p13">
            <a:extLst xmlns:a="http://schemas.openxmlformats.org/drawingml/2006/main">
              <a:ext uri="{FF2B5EF4-FFF2-40B4-BE49-F238E27FC236}">
                <a16:creationId xmlns:a16="http://schemas.microsoft.com/office/drawing/2014/main" id="{44BA07D9-B04E-436E-8BB7-DD9A217D133D}"/>
              </a:ext>
            </a:extLst>
          </p:cNvPr>
          <p:cNvSpPr>
            <a:spLocks xmlns:a="http://schemas.openxmlformats.org/drawingml/2006/main" noGrp="1"/>
          </p:cNvSpPr>
          <p:nvPr/>
        </p:nvSpPr>
        <p:spPr>
          <a:xfrm xmlns:a="http://schemas.openxmlformats.org/drawingml/2006/main">
            <a:off x="1165860" y="1897380"/>
            <a:ext cx="2331720" cy="2331720"/>
          </a:xfrm>
          <a:prstGeom xmlns:a="http://schemas.openxmlformats.org/drawingml/2006/main" prst="ellipse">
            <a:avLst/>
          </a:prstGeom>
          <a:noFill xmlns:a="http://schemas.openxmlformats.org/drawingml/2006/main"/>
          <a:ln xmlns:a="http://schemas.openxmlformats.org/drawingml/2006/main" w="15875" cmpd="sng">
            <a:solidFill>
              <a:srgbClr val="8E9BC4"/>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6" name="Google Shape;296;p13">
            <a:extLst xmlns:a="http://schemas.openxmlformats.org/drawingml/2006/main">
              <a:ext uri="{FF2B5EF4-FFF2-40B4-BE49-F238E27FC236}">
                <a16:creationId xmlns:a16="http://schemas.microsoft.com/office/drawing/2014/main" id="{779AF3AD-B505-451C-9CCB-C3C043B8104C}"/>
              </a:ext>
            </a:extLst>
          </p:cNvPr>
          <p:cNvSpPr>
            <a:spLocks xmlns:a="http://schemas.openxmlformats.org/drawingml/2006/main" noGrp="1"/>
          </p:cNvSpPr>
          <p:nvPr/>
        </p:nvSpPr>
        <p:spPr>
          <a:xfrm xmlns:a="http://schemas.openxmlformats.org/drawingml/2006/main">
            <a:off x="1828800" y="1778508"/>
            <a:ext cx="1005840" cy="219456"/>
          </a:xfrm>
          <a:prstGeom xmlns:a="http://schemas.openxmlformats.org/drawingml/2006/main" prst="rect">
            <a:avLst/>
          </a:prstGeom>
          <a:solidFill xmlns:a="http://schemas.openxmlformats.org/drawingml/2006/main">
            <a:srgbClr val="FFFFFF"/>
          </a:solidFill>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1" i="1" u="none" cap="none">
                <a:solidFill>
                  <a:srgbClr val="3B4A7A"/>
                </a:solidFill>
                <a:latin typeface="Calibri"/>
                <a:ea typeface="Calibri"/>
                <a:cs typeface="Calibri"/>
              </a:rPr>
              <a:t>mun</a:t>
            </a:r>
          </a:p>
        </p:txBody>
      </p:sp>
      <p:sp>
        <p:nvSpPr>
          <p:cNvPr id="297" name="Google Shape;297;p13">
            <a:extLst xmlns:a="http://schemas.openxmlformats.org/drawingml/2006/main">
              <a:ext uri="{FF2B5EF4-FFF2-40B4-BE49-F238E27FC236}">
                <a16:creationId xmlns:a16="http://schemas.microsoft.com/office/drawing/2014/main" id="{C2363F2F-B9F7-41B6-BFD6-B03380A98FBE}"/>
              </a:ext>
            </a:extLst>
          </p:cNvPr>
          <p:cNvSpPr>
            <a:spLocks xmlns:a="http://schemas.openxmlformats.org/drawingml/2006/main" noGrp="1"/>
          </p:cNvSpPr>
          <p:nvPr/>
        </p:nvSpPr>
        <p:spPr>
          <a:xfrm xmlns:a="http://schemas.openxmlformats.org/drawingml/2006/main">
            <a:off x="2084832" y="2816352"/>
            <a:ext cx="493776" cy="493776"/>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98" name="Google Shape;298;p13">
            <a:extLst xmlns:a="http://schemas.openxmlformats.org/drawingml/2006/main">
              <a:ext uri="{FF2B5EF4-FFF2-40B4-BE49-F238E27FC236}">
                <a16:creationId xmlns:a16="http://schemas.microsoft.com/office/drawing/2014/main" id="{5D222F60-F7F1-44F5-ACE0-F3F1A86FC60B}"/>
              </a:ext>
            </a:extLst>
          </p:cNvPr>
          <p:cNvSpPr>
            <a:spLocks xmlns:a="http://schemas.openxmlformats.org/drawingml/2006/main" noGrp="1"/>
          </p:cNvSpPr>
          <p:nvPr/>
        </p:nvSpPr>
        <p:spPr>
          <a:xfrm xmlns:a="http://schemas.openxmlformats.org/drawingml/2006/main">
            <a:off x="1874520" y="2926080"/>
            <a:ext cx="9144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050" b="1" i="0" u="none" cap="none">
                <a:solidFill>
                  <a:srgbClr val="FFFFFF"/>
                </a:solidFill>
                <a:latin typeface="Calibri"/>
                <a:ea typeface="Calibri"/>
                <a:cs typeface="Calibri"/>
              </a:rPr>
              <a:t>atma</a:t>
            </a:r>
          </a:p>
        </p:txBody>
      </p:sp>
      <p:sp>
        <p:nvSpPr>
          <p:cNvPr id="299" name="Google Shape;299;p13">
            <a:extLst xmlns:a="http://schemas.openxmlformats.org/drawingml/2006/main">
              <a:ext uri="{FF2B5EF4-FFF2-40B4-BE49-F238E27FC236}">
                <a16:creationId xmlns:a16="http://schemas.microsoft.com/office/drawing/2014/main" id="{147A2446-6FAA-46E7-8CA7-4BC2804DA439}"/>
              </a:ext>
            </a:extLst>
          </p:cNvPr>
          <p:cNvSpPr>
            <a:spLocks xmlns:a="http://schemas.openxmlformats.org/drawingml/2006/main" noGrp="1"/>
          </p:cNvSpPr>
          <p:nvPr/>
        </p:nvSpPr>
        <p:spPr>
          <a:xfrm xmlns:a="http://schemas.openxmlformats.org/drawingml/2006/main">
            <a:off x="685800" y="4434840"/>
            <a:ext cx="3383280" cy="41148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centre = core self (atma); the four rings around it are the other four faculties (MVD p. 78)</a:t>
            </a:r>
          </a:p>
        </p:txBody>
      </p:sp>
      <p:graphicFrame>
        <p:nvGraphicFramePr>
          <p:cNvPr id="320" name="Google Shape;300;p13"/>
          <p:cNvGraphicFramePr/>
          <p:nvPr/>
        </p:nvGraphicFramePr>
        <p:xfrm>
          <a:off xmlns:a="http://schemas.openxmlformats.org/drawingml/2006/main" x="4480559" y="1271015"/>
          <a:ext xmlns:a="http://schemas.openxmlformats.org/drawingml/2006/main" cx="4160525" cy="2249425"/>
        </p:xfrm>
        <a:graphic xmlns:a="http://schemas.openxmlformats.org/drawingml/2006/main">
          <a:graphicData uri="http://schemas.openxmlformats.org/drawingml/2006/table">
            <a:tbl>
              <a:tblPr>
                <a:tableStyleId>{6C92A692-798E-4634-90B1-36CD3966BFCB}</a:tableStyleId>
              </a:tblPr>
              <a:tblGrid>
                <a:gridCol w="1371600"/>
                <a:gridCol w="1417325"/>
                <a:gridCol w="1371600"/>
              </a:tblGrid>
              <a:tr h="329175">
                <a:tc>
                  <a:txBody>
                    <a:bodyPr/>
                    <a:lstStyle/>
                    <a:p>
                      <a:pPr marL="0" indent="0" algn="l">
                        <a:buNone/>
                      </a:pPr>
                      <a:r>
                        <a:rPr sz="1050" b="1" u="none" cap="none">
                          <a:solidFill>
                            <a:srgbClr val="FFFFFF"/>
                          </a:solidFill>
                          <a:latin typeface="Calibri"/>
                          <a:ea typeface="Calibri"/>
                          <a:cs typeface="Calibri"/>
                        </a:rPr>
                        <a:t>Faculty / strength</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Projection (outward)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50" b="1" u="none" cap="none">
                          <a:solidFill>
                            <a:srgbClr val="FFFFFF"/>
                          </a:solidFill>
                          <a:latin typeface="Calibri"/>
                          <a:ea typeface="Calibri"/>
                          <a:cs typeface="Calibri"/>
                        </a:rPr>
                        <a:t>Reflection (inward)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84050">
                <a:tc>
                  <a:txBody>
                    <a:bodyPr/>
                    <a:lstStyle/>
                    <a:p>
                      <a:pPr marL="0" indent="0" algn="l">
                        <a:buNone/>
                      </a:pPr>
                      <a:r>
                        <a:rPr sz="1050" u="none" cap="none">
                          <a:solidFill>
                            <a:srgbClr val="1E2447"/>
                          </a:solidFill>
                          <a:latin typeface="Calibri"/>
                          <a:ea typeface="Calibri"/>
                          <a:cs typeface="Calibri"/>
                        </a:rPr>
                        <a:t>Hope (mun)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selection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taste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Thought (vritti)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analysis</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deliberation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Desire (chitta)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visualisation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contemplation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Resolve (buddhi)</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resolve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enlightenment</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84050">
                <a:tc>
                  <a:txBody>
                    <a:bodyPr/>
                    <a:lstStyle/>
                    <a:p>
                      <a:pPr marL="0" indent="0" algn="l">
                        <a:buNone/>
                      </a:pPr>
                      <a:r>
                        <a:rPr sz="1050" u="none" cap="none">
                          <a:solidFill>
                            <a:srgbClr val="1E2447"/>
                          </a:solidFill>
                          <a:latin typeface="Calibri"/>
                          <a:ea typeface="Calibri"/>
                          <a:cs typeface="Calibri"/>
                        </a:rPr>
                        <a:t>Core self (atma)</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authenticity</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50" u="none" cap="none">
                          <a:solidFill>
                            <a:srgbClr val="1E2447"/>
                          </a:solidFill>
                          <a:latin typeface="Calibri"/>
                          <a:ea typeface="Calibri"/>
                          <a:cs typeface="Calibri"/>
                        </a:rPr>
                        <a:t>realisation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301" name="Google Shape;301;p13">
            <a:extLst xmlns:a="http://schemas.openxmlformats.org/drawingml/2006/main">
              <a:ext uri="{FF2B5EF4-FFF2-40B4-BE49-F238E27FC236}">
                <a16:creationId xmlns:a16="http://schemas.microsoft.com/office/drawing/2014/main" id="{0BAE59CB-DC58-45A3-A21C-9997882F3F6D}"/>
              </a:ext>
            </a:extLst>
          </p:cNvPr>
          <p:cNvSpPr>
            <a:spLocks xmlns:a="http://schemas.openxmlformats.org/drawingml/2006/main" noGrp="1"/>
          </p:cNvSpPr>
          <p:nvPr/>
        </p:nvSpPr>
        <p:spPr>
          <a:xfrm xmlns:a="http://schemas.openxmlformats.org/drawingml/2006/main">
            <a:off x="4480561" y="3683658"/>
            <a:ext cx="4160520" cy="82296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0" i="0" u="none" cap="none">
                <a:solidFill>
                  <a:srgbClr val="5A6377"/>
                </a:solidFill>
                <a:latin typeface="Calibri"/>
                <a:ea typeface="Calibri"/>
                <a:cs typeface="Calibri"/>
              </a:rPr>
              <a:t>Jeevan is a constitutionally complete sentient atom. Its five faculties — mun, vritti, chitta, buddhi, and atma — carry ten activities through reflection (knowing) and projection (evidencing). Before awakening, four and a half activities are effective; awakening brings the faculties into accordance with atma and opens full activity.</a:t>
            </a:r>
          </a:p>
        </p:txBody>
      </p:sp>
      <p:sp>
        <p:nvSpPr>
          <p:cNvPr id="302" name="Google Shape;302;p13">
            <a:extLst xmlns:a="http://schemas.openxmlformats.org/drawingml/2006/main">
              <a:ext uri="{FF2B5EF4-FFF2-40B4-BE49-F238E27FC236}">
                <a16:creationId xmlns:a16="http://schemas.microsoft.com/office/drawing/2014/main" id="{A909FAFB-2298-487C-807A-90781ABFFDF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MVD pp. 13, 78, 126, 278–279, 286–287 · JV p. 92</a:t>
            </a:r>
          </a:p>
        </p:txBody>
      </p:sp>
    </p:spTree>
    <p:extLst>
      <p:ext uri="{BB962C8B-B14F-4D97-AF65-F5344CB8AC3E}">
        <p14:creationId xmlns:p14="http://schemas.microsoft.com/office/powerpoint/2010/main" val="120026850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50BD95DB-7461-404F-9694-5EFD773998C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25949858-FAD2-4102-8CC1-2CD9F3AD5608}"/>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5A6F0C7B-FCDD-47B4-AA1A-839A972295F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080CFD91-ADB4-49D5-B6D7-B1C2C1B472D2}"/>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KD CH.1 · KARMA</a:t>
            </a:r>
          </a:p>
        </p:txBody>
      </p:sp>
      <p:sp>
        <p:nvSpPr>
          <p:cNvPr id="207" name="Google Shape;207;p10">
            <a:extLst xmlns:a="http://schemas.openxmlformats.org/drawingml/2006/main">
              <a:ext uri="{FF2B5EF4-FFF2-40B4-BE49-F238E27FC236}">
                <a16:creationId xmlns:a16="http://schemas.microsoft.com/office/drawing/2014/main" id="{748A9705-6995-4431-8E86-9E06E791CC19}"/>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Structure of Karma</a:t>
            </a:r>
          </a:p>
        </p:txBody>
      </p:sp>
      <p:sp>
        <p:nvSpPr>
          <p:cNvPr id="208" name="Google Shape;208;p10">
            <a:extLst xmlns:a="http://schemas.openxmlformats.org/drawingml/2006/main">
              <a:ext uri="{FF2B5EF4-FFF2-40B4-BE49-F238E27FC236}">
                <a16:creationId xmlns:a16="http://schemas.microsoft.com/office/drawing/2014/main" id="{EE459EAA-DCBF-4BA8-9E9D-97F36686AB2E}"/>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Every karma — every activity done with desire — carries five limbs: doer, cause, objective, result, and effect. Understanding alone changes nothing; it is the doing that yields the fruit. Desire, karma, and result must balance for the desire to be truly accomplished — book knowledge is only half the work.</a:t>
            </a:r>
          </a:p>
        </p:txBody>
      </p:sp>
      <p:sp>
        <p:nvSpPr>
          <p:cNvPr id="209" name="Google Shape;209;p10">
            <a:extLst xmlns:a="http://schemas.openxmlformats.org/drawingml/2006/main">
              <a:ext uri="{FF2B5EF4-FFF2-40B4-BE49-F238E27FC236}">
                <a16:creationId xmlns:a16="http://schemas.microsoft.com/office/drawing/2014/main" id="{7E9929EE-8C6F-4A21-A8B2-80C9BEC65628}"/>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015DE0BF-2D27-49C6-9EA5-8E1DA7E28A00}"/>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Desire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aspiration</a:t>
            </a:r>
          </a:p>
        </p:txBody>
      </p:sp>
      <p:sp>
        <p:nvSpPr>
          <p:cNvPr id="211" name="Google Shape;211;p10">
            <a:extLst xmlns:a="http://schemas.openxmlformats.org/drawingml/2006/main">
              <a:ext uri="{FF2B5EF4-FFF2-40B4-BE49-F238E27FC236}">
                <a16:creationId xmlns:a16="http://schemas.microsoft.com/office/drawing/2014/main" id="{F51B92A9-5B50-4D01-A23E-8518308D7153}"/>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something wished for</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desire seeks fulfilment</a:t>
            </a:r>
          </a:p>
        </p:txBody>
      </p:sp>
      <p:sp>
        <p:nvSpPr>
          <p:cNvPr id="212" name="Google Shape;212;p10">
            <a:extLst xmlns:a="http://schemas.openxmlformats.org/drawingml/2006/main">
              <a:ext uri="{FF2B5EF4-FFF2-40B4-BE49-F238E27FC236}">
                <a16:creationId xmlns:a16="http://schemas.microsoft.com/office/drawing/2014/main" id="{E13987FF-8A1F-40BB-9F0A-CAD971708991}"/>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D4388347-360E-4857-BCF7-8C11C5E1054C}"/>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Karma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doing</a:t>
            </a:r>
          </a:p>
        </p:txBody>
      </p:sp>
      <p:sp>
        <p:nvSpPr>
          <p:cNvPr id="214" name="Google Shape;214;p10">
            <a:extLst xmlns:a="http://schemas.openxmlformats.org/drawingml/2006/main">
              <a:ext uri="{FF2B5EF4-FFF2-40B4-BE49-F238E27FC236}">
                <a16:creationId xmlns:a16="http://schemas.microsoft.com/office/drawing/2014/main" id="{E7324516-F827-427D-AE34-F9DC05C6CDBD}"/>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activity in the world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activity + aspiration = karma</a:t>
            </a:r>
          </a:p>
        </p:txBody>
      </p:sp>
      <p:sp>
        <p:nvSpPr>
          <p:cNvPr id="215" name="Google Shape;215;p10">
            <a:extLst xmlns:a="http://schemas.openxmlformats.org/drawingml/2006/main">
              <a:ext uri="{FF2B5EF4-FFF2-40B4-BE49-F238E27FC236}">
                <a16:creationId xmlns:a16="http://schemas.microsoft.com/office/drawing/2014/main" id="{3D4E993F-2500-4BC8-B404-72DAFA9D5275}"/>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4B022A1-A0F2-4B6A-A70C-8BF6646D268F}"/>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Result</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fruit</a:t>
            </a:r>
          </a:p>
        </p:txBody>
      </p:sp>
      <p:sp>
        <p:nvSpPr>
          <p:cNvPr id="217" name="Google Shape;217;p10">
            <a:extLst xmlns:a="http://schemas.openxmlformats.org/drawingml/2006/main">
              <a:ext uri="{FF2B5EF4-FFF2-40B4-BE49-F238E27FC236}">
                <a16:creationId xmlns:a16="http://schemas.microsoft.com/office/drawing/2014/main" id="{C89818CF-A4A5-4B97-801B-5B4F524E7DB4}"/>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satisfaction of desire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balance of desire-karma-result</a:t>
            </a:r>
          </a:p>
        </p:txBody>
      </p:sp>
      <p:sp>
        <p:nvSpPr>
          <p:cNvPr id="218" name="Google Shape;218;p10">
            <a:extLst xmlns:a="http://schemas.openxmlformats.org/drawingml/2006/main">
              <a:ext uri="{FF2B5EF4-FFF2-40B4-BE49-F238E27FC236}">
                <a16:creationId xmlns:a16="http://schemas.microsoft.com/office/drawing/2014/main" id="{5A629A3F-BC91-4C5E-91C2-566270BD399B}"/>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C56FD9F9-3707-4514-B36F-43C235803170}"/>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Five limbs of karma</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Doer</a:t>
            </a:r>
            <a:r>
              <a:rPr sz="1000" b="0" i="0" u="none" cap="none">
                <a:solidFill>
                  <a:srgbClr val="5A6377"/>
                </a:solidFill>
                <a:latin typeface="Calibri"/>
                <a:ea typeface="Calibri"/>
                <a:cs typeface="Calibri"/>
              </a:rPr>
              <a:t> — who acts</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Cause</a:t>
            </a:r>
            <a:r>
              <a:rPr sz="1000" b="0" i="0" u="none" cap="none">
                <a:solidFill>
                  <a:srgbClr val="5A6377"/>
                </a:solidFill>
                <a:latin typeface="Calibri"/>
                <a:ea typeface="Calibri"/>
                <a:cs typeface="Calibri"/>
              </a:rPr>
              <a:t> — the need</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Objective</a:t>
            </a:r>
            <a:r>
              <a:rPr sz="1000" b="0" i="0" u="none" cap="none">
                <a:solidFill>
                  <a:srgbClr val="5A6377"/>
                </a:solidFill>
                <a:latin typeface="Calibri"/>
                <a:ea typeface="Calibri"/>
                <a:cs typeface="Calibri"/>
              </a:rPr>
              <a:t> — the aim</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Result</a:t>
            </a:r>
            <a:r>
              <a:rPr sz="1000" b="0" i="0" u="none" cap="none">
                <a:solidFill>
                  <a:srgbClr val="5A6377"/>
                </a:solidFill>
                <a:latin typeface="Calibri"/>
                <a:ea typeface="Calibri"/>
                <a:cs typeface="Calibri"/>
              </a:rPr>
              <a:t> — the fruit</a:t>
            </a:r>
          </a:p>
          <a:p xmlns:a="http://schemas.openxmlformats.org/drawingml/2006/main">
            <a:pPr marL="0" indent="0" algn="l">
              <a:spcBef>
                <a:spcPts val="500"/>
              </a:spcBef>
              <a:spcAft>
                <a:spcPts val="0"/>
              </a:spcAft>
              <a:buNone/>
            </a:pPr>
            <a:r>
              <a:rPr sz="1000" b="1" i="0" u="none" cap="none">
                <a:solidFill>
                  <a:srgbClr val="1E2447"/>
                </a:solidFill>
                <a:latin typeface="Calibri"/>
                <a:ea typeface="Calibri"/>
                <a:cs typeface="Calibri"/>
              </a:rPr>
              <a:t>Effect</a:t>
            </a:r>
            <a:r>
              <a:rPr sz="1000" b="0" i="0" u="none" cap="none">
                <a:solidFill>
                  <a:srgbClr val="5A6377"/>
                </a:solidFill>
                <a:latin typeface="Calibri"/>
                <a:ea typeface="Calibri"/>
                <a:cs typeface="Calibri"/>
              </a:rPr>
              <a:t> — its reach</a:t>
            </a:r>
          </a:p>
        </p:txBody>
      </p:sp>
      <p:sp>
        <p:nvSpPr>
          <p:cNvPr id="220" name="Google Shape;220;p10">
            <a:extLst xmlns:a="http://schemas.openxmlformats.org/drawingml/2006/main">
              <a:ext uri="{FF2B5EF4-FFF2-40B4-BE49-F238E27FC236}">
                <a16:creationId xmlns:a16="http://schemas.microsoft.com/office/drawing/2014/main" id="{CF9675E8-13F6-430E-81CA-CC0F4DDDDF8D}"/>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“Activity together with aspiration is karma itself … it is the balance of desire, karma, and result that is the accomplishment of the desire.” — KD Ch. 1, p. 1–2</a:t>
            </a:r>
          </a:p>
        </p:txBody>
      </p:sp>
    </p:spTree>
    <p:extLst>
      <p:ext uri="{BB962C8B-B14F-4D97-AF65-F5344CB8AC3E}">
        <p14:creationId xmlns:p14="http://schemas.microsoft.com/office/powerpoint/2010/main" val="29346030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8" name="Google Shape;308;p14">
            <a:extLst xmlns:a="http://schemas.openxmlformats.org/drawingml/2006/main">
              <a:ext uri="{FF2B5EF4-FFF2-40B4-BE49-F238E27FC236}">
                <a16:creationId xmlns:a16="http://schemas.microsoft.com/office/drawing/2014/main" id="{72EA75BC-E9AE-4128-84B5-F01184800066}"/>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09" name="Google Shape;309;p14">
            <a:extLst xmlns:a="http://schemas.openxmlformats.org/drawingml/2006/main">
              <a:ext uri="{FF2B5EF4-FFF2-40B4-BE49-F238E27FC236}">
                <a16:creationId xmlns:a16="http://schemas.microsoft.com/office/drawing/2014/main" id="{C16F35D3-0C5D-48EE-B49C-3C5D0B07F8EA}"/>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0" name="Google Shape;310;p14">
            <a:extLst xmlns:a="http://schemas.openxmlformats.org/drawingml/2006/main">
              <a:ext uri="{FF2B5EF4-FFF2-40B4-BE49-F238E27FC236}">
                <a16:creationId xmlns:a16="http://schemas.microsoft.com/office/drawing/2014/main" id="{40E8D9C2-1FFC-4B26-A937-06F35C7F720B}"/>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1" name="Google Shape;311;p14">
            <a:extLst xmlns:a="http://schemas.openxmlformats.org/drawingml/2006/main">
              <a:ext uri="{FF2B5EF4-FFF2-40B4-BE49-F238E27FC236}">
                <a16:creationId xmlns:a16="http://schemas.microsoft.com/office/drawing/2014/main" id="{E9D23E7E-27AF-4FE8-8FA6-5A24921827FA}"/>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§1.9 · FOUR HARMONIES WITHIN JEEVAN</a:t>
            </a:r>
          </a:p>
        </p:txBody>
      </p:sp>
      <p:sp>
        <p:nvSpPr>
          <p:cNvPr id="312" name="Google Shape;312;p14">
            <a:extLst xmlns:a="http://schemas.openxmlformats.org/drawingml/2006/main">
              <a:ext uri="{FF2B5EF4-FFF2-40B4-BE49-F238E27FC236}">
                <a16:creationId xmlns:a16="http://schemas.microsoft.com/office/drawing/2014/main" id="{0F6C2FCE-72A2-492A-B823-190D8D785DA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Four Harmonies Within Jeevan</a:t>
            </a:r>
          </a:p>
        </p:txBody>
      </p:sp>
      <p:sp>
        <p:nvSpPr>
          <p:cNvPr id="313" name="Google Shape;313;p14">
            <a:extLst xmlns:a="http://schemas.openxmlformats.org/drawingml/2006/main">
              <a:ext uri="{FF2B5EF4-FFF2-40B4-BE49-F238E27FC236}">
                <a16:creationId xmlns:a16="http://schemas.microsoft.com/office/drawing/2014/main" id="{80D45A9D-9C11-4BF0-A185-ED537EA7E961}"/>
              </a:ext>
            </a:extLst>
          </p:cNvPr>
          <p:cNvSpPr>
            <a:spLocks xmlns:a="http://schemas.openxmlformats.org/drawingml/2006/main" noGrp="1"/>
          </p:cNvSpPr>
          <p:nvPr/>
        </p:nvSpPr>
        <p:spPr>
          <a:xfrm xmlns:a="http://schemas.openxmlformats.org/drawingml/2006/main">
            <a:off x="640080"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4" name="Google Shape;314;p14">
            <a:extLst xmlns:a="http://schemas.openxmlformats.org/drawingml/2006/main">
              <a:ext uri="{FF2B5EF4-FFF2-40B4-BE49-F238E27FC236}">
                <a16:creationId xmlns:a16="http://schemas.microsoft.com/office/drawing/2014/main" id="{8678B3DF-58B5-47F3-A97B-ECB7B2AEDAF3}"/>
              </a:ext>
            </a:extLst>
          </p:cNvPr>
          <p:cNvSpPr>
            <a:spLocks xmlns:a="http://schemas.openxmlformats.org/drawingml/2006/main" noGrp="1"/>
          </p:cNvSpPr>
          <p:nvPr/>
        </p:nvSpPr>
        <p:spPr>
          <a:xfrm xmlns:a="http://schemas.openxmlformats.org/drawingml/2006/main">
            <a:off x="822960"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5" name="Google Shape;315;p14">
            <a:extLst xmlns:a="http://schemas.openxmlformats.org/drawingml/2006/main">
              <a:ext uri="{FF2B5EF4-FFF2-40B4-BE49-F238E27FC236}">
                <a16:creationId xmlns:a16="http://schemas.microsoft.com/office/drawing/2014/main" id="{3FDA5AD1-D159-453D-9654-4378A29570F1}"/>
              </a:ext>
            </a:extLst>
          </p:cNvPr>
          <p:cNvSpPr>
            <a:spLocks xmlns:a="http://schemas.openxmlformats.org/drawingml/2006/main" noGrp="1"/>
          </p:cNvSpPr>
          <p:nvPr/>
        </p:nvSpPr>
        <p:spPr>
          <a:xfrm xmlns:a="http://schemas.openxmlformats.org/drawingml/2006/main">
            <a:off x="888797"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6" name="Google Shape;316;p14">
            <a:extLst xmlns:a="http://schemas.openxmlformats.org/drawingml/2006/main">
              <a:ext uri="{FF2B5EF4-FFF2-40B4-BE49-F238E27FC236}">
                <a16:creationId xmlns:a16="http://schemas.microsoft.com/office/drawing/2014/main" id="{75083F2E-CF5C-4F62-974A-978A75714E4D}"/>
              </a:ext>
            </a:extLst>
          </p:cNvPr>
          <p:cNvSpPr>
            <a:spLocks xmlns:a="http://schemas.openxmlformats.org/drawingml/2006/main" noGrp="1"/>
          </p:cNvSpPr>
          <p:nvPr/>
        </p:nvSpPr>
        <p:spPr>
          <a:xfrm xmlns:a="http://schemas.openxmlformats.org/drawingml/2006/main">
            <a:off x="944758"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17" name="Google Shape;317;p14">
            <a:extLst xmlns:a="http://schemas.openxmlformats.org/drawingml/2006/main">
              <a:ext uri="{FF2B5EF4-FFF2-40B4-BE49-F238E27FC236}">
                <a16:creationId xmlns:a16="http://schemas.microsoft.com/office/drawing/2014/main" id="{FCC81FE8-0B43-4725-BB21-8B4B1A60D5E0}"/>
              </a:ext>
            </a:extLst>
          </p:cNvPr>
          <p:cNvSpPr>
            <a:spLocks xmlns:a="http://schemas.openxmlformats.org/drawingml/2006/main" noGrp="1"/>
          </p:cNvSpPr>
          <p:nvPr/>
        </p:nvSpPr>
        <p:spPr>
          <a:xfrm xmlns:a="http://schemas.openxmlformats.org/drawingml/2006/main">
            <a:off x="804672"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Happiness</a:t>
            </a:r>
          </a:p>
        </p:txBody>
      </p:sp>
      <p:sp>
        <p:nvSpPr>
          <p:cNvPr id="318" name="Google Shape;318;p14">
            <a:extLst xmlns:a="http://schemas.openxmlformats.org/drawingml/2006/main">
              <a:ext uri="{FF2B5EF4-FFF2-40B4-BE49-F238E27FC236}">
                <a16:creationId xmlns:a16="http://schemas.microsoft.com/office/drawing/2014/main" id="{D3238993-65D7-492E-ADF1-2258EA825CDE}"/>
              </a:ext>
            </a:extLst>
          </p:cNvPr>
          <p:cNvSpPr>
            <a:spLocks xmlns:a="http://schemas.openxmlformats.org/drawingml/2006/main" noGrp="1"/>
          </p:cNvSpPr>
          <p:nvPr/>
        </p:nvSpPr>
        <p:spPr>
          <a:xfrm xmlns:a="http://schemas.openxmlformats.org/drawingml/2006/main">
            <a:off x="804672"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mun–vritti</a:t>
            </a:r>
          </a:p>
        </p:txBody>
      </p:sp>
      <p:sp>
        <p:nvSpPr>
          <p:cNvPr id="319" name="Google Shape;319;p14">
            <a:extLst xmlns:a="http://schemas.openxmlformats.org/drawingml/2006/main">
              <a:ext uri="{FF2B5EF4-FFF2-40B4-BE49-F238E27FC236}">
                <a16:creationId xmlns:a16="http://schemas.microsoft.com/office/drawing/2014/main" id="{60F39B84-EE19-45D0-8768-9382241F42AA}"/>
              </a:ext>
            </a:extLst>
          </p:cNvPr>
          <p:cNvSpPr>
            <a:spLocks xmlns:a="http://schemas.openxmlformats.org/drawingml/2006/main" noGrp="1"/>
          </p:cNvSpPr>
          <p:nvPr/>
        </p:nvSpPr>
        <p:spPr>
          <a:xfrm xmlns:a="http://schemas.openxmlformats.org/drawingml/2006/main">
            <a:off x="2633472"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0" name="Google Shape;320;p14">
            <a:extLst xmlns:a="http://schemas.openxmlformats.org/drawingml/2006/main">
              <a:ext uri="{FF2B5EF4-FFF2-40B4-BE49-F238E27FC236}">
                <a16:creationId xmlns:a16="http://schemas.microsoft.com/office/drawing/2014/main" id="{7FA0ED02-543E-4A13-95D2-6067839C7F83}"/>
              </a:ext>
            </a:extLst>
          </p:cNvPr>
          <p:cNvSpPr>
            <a:spLocks xmlns:a="http://schemas.openxmlformats.org/drawingml/2006/main" noGrp="1"/>
          </p:cNvSpPr>
          <p:nvPr/>
        </p:nvSpPr>
        <p:spPr>
          <a:xfrm xmlns:a="http://schemas.openxmlformats.org/drawingml/2006/main">
            <a:off x="2816352"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1" name="Google Shape;321;p14">
            <a:extLst xmlns:a="http://schemas.openxmlformats.org/drawingml/2006/main">
              <a:ext uri="{FF2B5EF4-FFF2-40B4-BE49-F238E27FC236}">
                <a16:creationId xmlns:a16="http://schemas.microsoft.com/office/drawing/2014/main" id="{05984975-9EF2-4B27-BC18-E34E61BF99CE}"/>
              </a:ext>
            </a:extLst>
          </p:cNvPr>
          <p:cNvSpPr>
            <a:spLocks xmlns:a="http://schemas.openxmlformats.org/drawingml/2006/main" noGrp="1"/>
          </p:cNvSpPr>
          <p:nvPr/>
        </p:nvSpPr>
        <p:spPr>
          <a:xfrm xmlns:a="http://schemas.openxmlformats.org/drawingml/2006/main">
            <a:off x="2882189"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2" name="Google Shape;322;p14">
            <a:extLst xmlns:a="http://schemas.openxmlformats.org/drawingml/2006/main">
              <a:ext uri="{FF2B5EF4-FFF2-40B4-BE49-F238E27FC236}">
                <a16:creationId xmlns:a16="http://schemas.microsoft.com/office/drawing/2014/main" id="{BF5CD7AA-6685-41E6-97B6-F613B103ED15}"/>
              </a:ext>
            </a:extLst>
          </p:cNvPr>
          <p:cNvSpPr>
            <a:spLocks xmlns:a="http://schemas.openxmlformats.org/drawingml/2006/main" noGrp="1"/>
          </p:cNvSpPr>
          <p:nvPr/>
        </p:nvSpPr>
        <p:spPr>
          <a:xfrm xmlns:a="http://schemas.openxmlformats.org/drawingml/2006/main">
            <a:off x="2938150"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3" name="Google Shape;323;p14">
            <a:extLst xmlns:a="http://schemas.openxmlformats.org/drawingml/2006/main">
              <a:ext uri="{FF2B5EF4-FFF2-40B4-BE49-F238E27FC236}">
                <a16:creationId xmlns:a16="http://schemas.microsoft.com/office/drawing/2014/main" id="{B602BF87-099F-4048-8393-606BC4714DEC}"/>
              </a:ext>
            </a:extLst>
          </p:cNvPr>
          <p:cNvSpPr>
            <a:spLocks xmlns:a="http://schemas.openxmlformats.org/drawingml/2006/main" noGrp="1"/>
          </p:cNvSpPr>
          <p:nvPr/>
        </p:nvSpPr>
        <p:spPr>
          <a:xfrm xmlns:a="http://schemas.openxmlformats.org/drawingml/2006/main">
            <a:off x="2798064"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Peace</a:t>
            </a:r>
          </a:p>
        </p:txBody>
      </p:sp>
      <p:sp>
        <p:nvSpPr>
          <p:cNvPr id="324" name="Google Shape;324;p14">
            <a:extLst xmlns:a="http://schemas.openxmlformats.org/drawingml/2006/main">
              <a:ext uri="{FF2B5EF4-FFF2-40B4-BE49-F238E27FC236}">
                <a16:creationId xmlns:a16="http://schemas.microsoft.com/office/drawing/2014/main" id="{C57EE985-B72A-4CAD-8E04-D8480AA5134A}"/>
              </a:ext>
            </a:extLst>
          </p:cNvPr>
          <p:cNvSpPr>
            <a:spLocks xmlns:a="http://schemas.openxmlformats.org/drawingml/2006/main" noGrp="1"/>
          </p:cNvSpPr>
          <p:nvPr/>
        </p:nvSpPr>
        <p:spPr>
          <a:xfrm xmlns:a="http://schemas.openxmlformats.org/drawingml/2006/main">
            <a:off x="2798064"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vritti–chitta</a:t>
            </a:r>
          </a:p>
        </p:txBody>
      </p:sp>
      <p:sp>
        <p:nvSpPr>
          <p:cNvPr id="325" name="Google Shape;325;p14">
            <a:extLst xmlns:a="http://schemas.openxmlformats.org/drawingml/2006/main">
              <a:ext uri="{FF2B5EF4-FFF2-40B4-BE49-F238E27FC236}">
                <a16:creationId xmlns:a16="http://schemas.microsoft.com/office/drawing/2014/main" id="{0B376BFC-7CD1-4336-8594-75267473214F}"/>
              </a:ext>
            </a:extLst>
          </p:cNvPr>
          <p:cNvSpPr>
            <a:spLocks xmlns:a="http://schemas.openxmlformats.org/drawingml/2006/main" noGrp="1"/>
          </p:cNvSpPr>
          <p:nvPr/>
        </p:nvSpPr>
        <p:spPr>
          <a:xfrm xmlns:a="http://schemas.openxmlformats.org/drawingml/2006/main">
            <a:off x="4626864" y="1371600"/>
            <a:ext cx="1874520" cy="1371600"/>
          </a:xfrm>
          <a:prstGeom xmlns:a="http://schemas.openxmlformats.org/drawingml/2006/main" prst="roundRect">
            <a:avLst>
              <a:gd name="adj" fmla="val 6667"/>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6" name="Google Shape;326;p14">
            <a:extLst xmlns:a="http://schemas.openxmlformats.org/drawingml/2006/main">
              <a:ext uri="{FF2B5EF4-FFF2-40B4-BE49-F238E27FC236}">
                <a16:creationId xmlns:a16="http://schemas.microsoft.com/office/drawing/2014/main" id="{5D87A2CB-DCEF-43CE-896E-6381F18C8FAE}"/>
              </a:ext>
            </a:extLst>
          </p:cNvPr>
          <p:cNvSpPr>
            <a:spLocks xmlns:a="http://schemas.openxmlformats.org/drawingml/2006/main" noGrp="1"/>
          </p:cNvSpPr>
          <p:nvPr/>
        </p:nvSpPr>
        <p:spPr>
          <a:xfrm xmlns:a="http://schemas.openxmlformats.org/drawingml/2006/main">
            <a:off x="4809744"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7" name="Google Shape;327;p14">
            <a:extLst xmlns:a="http://schemas.openxmlformats.org/drawingml/2006/main">
              <a:ext uri="{FF2B5EF4-FFF2-40B4-BE49-F238E27FC236}">
                <a16:creationId xmlns:a16="http://schemas.microsoft.com/office/drawing/2014/main" id="{B089A3C9-77C2-4F30-A684-280DB0E7EF35}"/>
              </a:ext>
            </a:extLst>
          </p:cNvPr>
          <p:cNvSpPr>
            <a:spLocks xmlns:a="http://schemas.openxmlformats.org/drawingml/2006/main" noGrp="1"/>
          </p:cNvSpPr>
          <p:nvPr/>
        </p:nvSpPr>
        <p:spPr>
          <a:xfrm xmlns:a="http://schemas.openxmlformats.org/drawingml/2006/main">
            <a:off x="4875581"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8" name="Google Shape;328;p14">
            <a:extLst xmlns:a="http://schemas.openxmlformats.org/drawingml/2006/main">
              <a:ext uri="{FF2B5EF4-FFF2-40B4-BE49-F238E27FC236}">
                <a16:creationId xmlns:a16="http://schemas.microsoft.com/office/drawing/2014/main" id="{DBF1ECF8-04B7-4659-90D6-4B7D43CFB0FF}"/>
              </a:ext>
            </a:extLst>
          </p:cNvPr>
          <p:cNvSpPr>
            <a:spLocks xmlns:a="http://schemas.openxmlformats.org/drawingml/2006/main" noGrp="1"/>
          </p:cNvSpPr>
          <p:nvPr/>
        </p:nvSpPr>
        <p:spPr>
          <a:xfrm xmlns:a="http://schemas.openxmlformats.org/drawingml/2006/main">
            <a:off x="4931542" y="1657990"/>
            <a:ext cx="85588" cy="85588"/>
          </a:xfrm>
          <a:prstGeom xmlns:a="http://schemas.openxmlformats.org/drawingml/2006/main" prst="ellipse">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29" name="Google Shape;329;p14">
            <a:extLst xmlns:a="http://schemas.openxmlformats.org/drawingml/2006/main">
              <a:ext uri="{FF2B5EF4-FFF2-40B4-BE49-F238E27FC236}">
                <a16:creationId xmlns:a16="http://schemas.microsoft.com/office/drawing/2014/main" id="{0133C274-E784-4152-8DBC-45323A74CBEE}"/>
              </a:ext>
            </a:extLst>
          </p:cNvPr>
          <p:cNvSpPr>
            <a:spLocks xmlns:a="http://schemas.openxmlformats.org/drawingml/2006/main" noGrp="1"/>
          </p:cNvSpPr>
          <p:nvPr/>
        </p:nvSpPr>
        <p:spPr>
          <a:xfrm xmlns:a="http://schemas.openxmlformats.org/drawingml/2006/main">
            <a:off x="4791456"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Contentment</a:t>
            </a:r>
          </a:p>
        </p:txBody>
      </p:sp>
      <p:sp>
        <p:nvSpPr>
          <p:cNvPr id="330" name="Google Shape;330;p14">
            <a:extLst xmlns:a="http://schemas.openxmlformats.org/drawingml/2006/main">
              <a:ext uri="{FF2B5EF4-FFF2-40B4-BE49-F238E27FC236}">
                <a16:creationId xmlns:a16="http://schemas.microsoft.com/office/drawing/2014/main" id="{AAC31C75-25BF-46A1-A126-DCDE6C144CF6}"/>
              </a:ext>
            </a:extLst>
          </p:cNvPr>
          <p:cNvSpPr>
            <a:spLocks xmlns:a="http://schemas.openxmlformats.org/drawingml/2006/main" noGrp="1"/>
          </p:cNvSpPr>
          <p:nvPr/>
        </p:nvSpPr>
        <p:spPr>
          <a:xfrm xmlns:a="http://schemas.openxmlformats.org/drawingml/2006/main">
            <a:off x="4791456"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chitta–buddhi</a:t>
            </a:r>
          </a:p>
        </p:txBody>
      </p:sp>
      <p:sp>
        <p:nvSpPr>
          <p:cNvPr id="331" name="Google Shape;331;p14">
            <a:extLst xmlns:a="http://schemas.openxmlformats.org/drawingml/2006/main">
              <a:ext uri="{FF2B5EF4-FFF2-40B4-BE49-F238E27FC236}">
                <a16:creationId xmlns:a16="http://schemas.microsoft.com/office/drawing/2014/main" id="{AD588ADC-14AB-4D6E-BE51-B47D1FA91313}"/>
              </a:ext>
            </a:extLst>
          </p:cNvPr>
          <p:cNvSpPr>
            <a:spLocks xmlns:a="http://schemas.openxmlformats.org/drawingml/2006/main" noGrp="1"/>
          </p:cNvSpPr>
          <p:nvPr/>
        </p:nvSpPr>
        <p:spPr>
          <a:xfrm xmlns:a="http://schemas.openxmlformats.org/drawingml/2006/main">
            <a:off x="6620256" y="1371600"/>
            <a:ext cx="1874520" cy="1371600"/>
          </a:xfrm>
          <a:prstGeom xmlns:a="http://schemas.openxmlformats.org/drawingml/2006/main" prst="roundRect">
            <a:avLst>
              <a:gd name="adj" fmla="val 6667"/>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2" name="Google Shape;332;p14">
            <a:extLst xmlns:a="http://schemas.openxmlformats.org/drawingml/2006/main">
              <a:ext uri="{FF2B5EF4-FFF2-40B4-BE49-F238E27FC236}">
                <a16:creationId xmlns:a16="http://schemas.microsoft.com/office/drawing/2014/main" id="{64E5DA13-AAB6-40CB-9572-18B5D063B210}"/>
              </a:ext>
            </a:extLst>
          </p:cNvPr>
          <p:cNvSpPr>
            <a:spLocks xmlns:a="http://schemas.openxmlformats.org/drawingml/2006/main" noGrp="1"/>
          </p:cNvSpPr>
          <p:nvPr/>
        </p:nvSpPr>
        <p:spPr>
          <a:xfrm xmlns:a="http://schemas.openxmlformats.org/drawingml/2006/main">
            <a:off x="6803136" y="1536192"/>
            <a:ext cx="329184" cy="329184"/>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3" name="Google Shape;333;p14">
            <a:extLst xmlns:a="http://schemas.openxmlformats.org/drawingml/2006/main">
              <a:ext uri="{FF2B5EF4-FFF2-40B4-BE49-F238E27FC236}">
                <a16:creationId xmlns:a16="http://schemas.microsoft.com/office/drawing/2014/main" id="{370FE943-5D79-4AE6-8839-A869C8C2CFB5}"/>
              </a:ext>
            </a:extLst>
          </p:cNvPr>
          <p:cNvSpPr>
            <a:spLocks xmlns:a="http://schemas.openxmlformats.org/drawingml/2006/main" noGrp="1"/>
          </p:cNvSpPr>
          <p:nvPr/>
        </p:nvSpPr>
        <p:spPr>
          <a:xfrm xmlns:a="http://schemas.openxmlformats.org/drawingml/2006/main">
            <a:off x="6868973" y="1602029"/>
            <a:ext cx="197510" cy="19751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4" name="Google Shape;334;p14">
            <a:extLst xmlns:a="http://schemas.openxmlformats.org/drawingml/2006/main">
              <a:ext uri="{FF2B5EF4-FFF2-40B4-BE49-F238E27FC236}">
                <a16:creationId xmlns:a16="http://schemas.microsoft.com/office/drawing/2014/main" id="{0D0B3D8B-4050-4E23-960D-B46244A46C0C}"/>
              </a:ext>
            </a:extLst>
          </p:cNvPr>
          <p:cNvSpPr>
            <a:spLocks xmlns:a="http://schemas.openxmlformats.org/drawingml/2006/main" noGrp="1"/>
          </p:cNvSpPr>
          <p:nvPr/>
        </p:nvSpPr>
        <p:spPr>
          <a:xfrm xmlns:a="http://schemas.openxmlformats.org/drawingml/2006/main">
            <a:off x="6924934" y="1657990"/>
            <a:ext cx="85588" cy="8558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5" name="Google Shape;335;p14">
            <a:extLst xmlns:a="http://schemas.openxmlformats.org/drawingml/2006/main">
              <a:ext uri="{FF2B5EF4-FFF2-40B4-BE49-F238E27FC236}">
                <a16:creationId xmlns:a16="http://schemas.microsoft.com/office/drawing/2014/main" id="{2152B3A1-74C9-497A-BEF6-73BDD595E11F}"/>
              </a:ext>
            </a:extLst>
          </p:cNvPr>
          <p:cNvSpPr>
            <a:spLocks xmlns:a="http://schemas.openxmlformats.org/drawingml/2006/main" noGrp="1"/>
          </p:cNvSpPr>
          <p:nvPr/>
        </p:nvSpPr>
        <p:spPr>
          <a:xfrm xmlns:a="http://schemas.openxmlformats.org/drawingml/2006/main">
            <a:off x="6784848" y="1938528"/>
            <a:ext cx="1572768"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Bliss</a:t>
            </a:r>
          </a:p>
        </p:txBody>
      </p:sp>
      <p:sp>
        <p:nvSpPr>
          <p:cNvPr id="336" name="Google Shape;336;p14">
            <a:extLst xmlns:a="http://schemas.openxmlformats.org/drawingml/2006/main">
              <a:ext uri="{FF2B5EF4-FFF2-40B4-BE49-F238E27FC236}">
                <a16:creationId xmlns:a16="http://schemas.microsoft.com/office/drawing/2014/main" id="{959F3493-EF9B-4605-8AB3-D87384A62E0E}"/>
              </a:ext>
            </a:extLst>
          </p:cNvPr>
          <p:cNvSpPr>
            <a:spLocks xmlns:a="http://schemas.openxmlformats.org/drawingml/2006/main" noGrp="1"/>
          </p:cNvSpPr>
          <p:nvPr/>
        </p:nvSpPr>
        <p:spPr>
          <a:xfrm xmlns:a="http://schemas.openxmlformats.org/drawingml/2006/main">
            <a:off x="6784848" y="2377440"/>
            <a:ext cx="1572768" cy="32918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80" b="0" i="1" u="none" cap="none">
                <a:solidFill>
                  <a:srgbClr val="5A6377"/>
                </a:solidFill>
                <a:latin typeface="Calibri"/>
                <a:ea typeface="Calibri"/>
                <a:cs typeface="Calibri"/>
              </a:rPr>
              <a:t>harmony of buddhi–atma</a:t>
            </a:r>
          </a:p>
        </p:txBody>
      </p:sp>
      <p:sp>
        <p:nvSpPr>
          <p:cNvPr id="337" name="Google Shape;337;p14">
            <a:extLst xmlns:a="http://schemas.openxmlformats.org/drawingml/2006/main">
              <a:ext uri="{FF2B5EF4-FFF2-40B4-BE49-F238E27FC236}">
                <a16:creationId xmlns:a16="http://schemas.microsoft.com/office/drawing/2014/main" id="{81146B51-B30E-430E-83DE-2585F3FC497B}"/>
              </a:ext>
            </a:extLst>
          </p:cNvPr>
          <p:cNvSpPr>
            <a:spLocks xmlns:a="http://schemas.openxmlformats.org/drawingml/2006/main" noGrp="1"/>
          </p:cNvSpPr>
          <p:nvPr/>
        </p:nvSpPr>
        <p:spPr>
          <a:xfrm xmlns:a="http://schemas.openxmlformats.org/drawingml/2006/main">
            <a:off x="640080" y="3017520"/>
            <a:ext cx="795528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Happiness, peace, contentment, and bliss name harmonies within jeevan, not passing moods and not a fourth sequence after T1–T3. Evidenced outwardly, they support resolution, prosperity, fearlessness, and coexistence in human living.</a:t>
            </a:r>
          </a:p>
        </p:txBody>
      </p:sp>
      <p:sp>
        <p:nvSpPr>
          <p:cNvPr id="338" name="Google Shape;338;p14">
            <a:extLst xmlns:a="http://schemas.openxmlformats.org/drawingml/2006/main">
              <a:ext uri="{FF2B5EF4-FFF2-40B4-BE49-F238E27FC236}">
                <a16:creationId xmlns:a16="http://schemas.microsoft.com/office/drawing/2014/main" id="{473C8ADC-C7E0-4CFA-AE3E-B130B76CF47D}"/>
              </a:ext>
            </a:extLst>
          </p:cNvPr>
          <p:cNvSpPr>
            <a:spLocks xmlns:a="http://schemas.openxmlformats.org/drawingml/2006/main" noGrp="1"/>
          </p:cNvSpPr>
          <p:nvPr/>
        </p:nvSpPr>
        <p:spPr>
          <a:xfrm xmlns:a="http://schemas.openxmlformats.org/drawingml/2006/main">
            <a:off x="640080" y="3840480"/>
            <a:ext cx="7863840" cy="777240"/>
          </a:xfrm>
          <a:prstGeom xmlns:a="http://schemas.openxmlformats.org/drawingml/2006/main" prst="roundRect">
            <a:avLst>
              <a:gd name="adj" fmla="val 10588"/>
            </a:avLst>
          </a:prstGeom>
          <a:solidFill xmlns:a="http://schemas.openxmlformats.org/drawingml/2006/main">
            <a:srgbClr val="1E2447"/>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39" name="Google Shape;339;p14">
            <a:extLst xmlns:a="http://schemas.openxmlformats.org/drawingml/2006/main">
              <a:ext uri="{FF2B5EF4-FFF2-40B4-BE49-F238E27FC236}">
                <a16:creationId xmlns:a16="http://schemas.microsoft.com/office/drawing/2014/main" id="{D4AE49D8-4F4A-4571-9DC6-338A36BDECDE}"/>
              </a:ext>
            </a:extLst>
          </p:cNvPr>
          <p:cNvSpPr>
            <a:spLocks xmlns:a="http://schemas.openxmlformats.org/drawingml/2006/main" noGrp="1"/>
          </p:cNvSpPr>
          <p:nvPr/>
        </p:nvSpPr>
        <p:spPr>
          <a:xfrm xmlns:a="http://schemas.openxmlformats.org/drawingml/2006/main">
            <a:off x="914400" y="3840480"/>
            <a:ext cx="731520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50" b="0" i="1" u="none" cap="none">
                <a:solidFill>
                  <a:srgbClr val="FFFFFF"/>
                </a:solidFill>
                <a:latin typeface="Calibri"/>
                <a:ea typeface="Calibri"/>
                <a:cs typeface="Calibri"/>
              </a:rPr>
              <a:t>“Today we were evidenced in one issue, tomorrow in two, the day after in three.”</a:t>
            </a:r>
          </a:p>
          <a:p xmlns:a="http://schemas.openxmlformats.org/drawingml/2006/main">
            <a:pPr marL="0" indent="0" algn="l">
              <a:spcBef>
                <a:spcPts val="0"/>
              </a:spcBef>
              <a:spcAft>
                <a:spcPts val="0"/>
              </a:spcAft>
              <a:buNone/>
            </a:pPr>
            <a:r>
              <a:rPr sz="1050" b="0" i="0" u="none" cap="none">
                <a:solidFill>
                  <a:srgbClr val="C9D4EF"/>
                </a:solidFill>
                <a:latin typeface="Calibri"/>
                <a:ea typeface="Calibri"/>
                <a:cs typeface="Calibri"/>
              </a:rPr>
              <a:t>Reflection feeds projection, and projection feeds deeper reflection — this alone is what living means.  — KD §3.12, p. 112–113</a:t>
            </a:r>
          </a:p>
        </p:txBody>
      </p:sp>
      <p:sp>
        <p:nvSpPr>
          <p:cNvPr id="340" name="Google Shape;340;p14">
            <a:extLst xmlns:a="http://schemas.openxmlformats.org/drawingml/2006/main">
              <a:ext uri="{FF2B5EF4-FFF2-40B4-BE49-F238E27FC236}">
                <a16:creationId xmlns:a16="http://schemas.microsoft.com/office/drawing/2014/main" id="{171B8D50-50F5-4333-887C-5E6D88D574F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KD §3.12, p. 110–113 (projection–reflection)  ·  JV p. 61 (values ladder)</a:t>
            </a:r>
          </a:p>
        </p:txBody>
      </p:sp>
    </p:spTree>
    <p:extLst>
      <p:ext uri="{BB962C8B-B14F-4D97-AF65-F5344CB8AC3E}">
        <p14:creationId xmlns:p14="http://schemas.microsoft.com/office/powerpoint/2010/main" val="105336366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898E7607-7F1C-424A-993A-F8E26F7A24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7622CE7C-8573-4236-A346-EABC53B99E6B}"/>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887E38F-E90F-4346-927D-FDEAD4A34A7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1D90A0E4-9D61-4F58-A708-5B7C5EA64AD1}"/>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§1.10 · COMPOSITION AND ASSEMBLIES</a:t>
            </a:r>
          </a:p>
        </p:txBody>
      </p:sp>
      <p:sp>
        <p:nvSpPr>
          <p:cNvPr id="377" name="Google Shape;377;p16">
            <a:extLst xmlns:a="http://schemas.openxmlformats.org/drawingml/2006/main">
              <a:ext uri="{FF2B5EF4-FFF2-40B4-BE49-F238E27FC236}">
                <a16:creationId xmlns:a16="http://schemas.microsoft.com/office/drawing/2014/main" id="{AC36AA5B-8B8A-4C8C-A428-1480E49A706D}"/>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From Atoms to Societies</a:t>
            </a:r>
          </a:p>
        </p:txBody>
      </p:sp>
      <p:sp>
        <p:nvSpPr>
          <p:cNvPr id="378" name="Google Shape;378;p16">
            <a:extLst xmlns:a="http://schemas.openxmlformats.org/drawingml/2006/main">
              <a:ext uri="{FF2B5EF4-FFF2-40B4-BE49-F238E27FC236}">
                <a16:creationId xmlns:a16="http://schemas.microsoft.com/office/drawing/2014/main" id="{A2051764-B773-4F19-A8A3-6C0C73553B97}"/>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When complementary units fulfil their relationships, they compose into larger units. A natural inclination toward coexistence runs everywhere — each successful composition opens relationships at a higher tier.</a:t>
            </a:r>
          </a:p>
        </p:txBody>
      </p:sp>
      <p:sp>
        <p:nvSpPr>
          <p:cNvPr id="379" name="Google Shape;379;p16">
            <a:extLst xmlns:a="http://schemas.openxmlformats.org/drawingml/2006/main">
              <a:ext uri="{FF2B5EF4-FFF2-40B4-BE49-F238E27FC236}">
                <a16:creationId xmlns:a16="http://schemas.microsoft.com/office/drawing/2014/main" id="{9E0ED97E-1E7D-46E0-9662-BD752F49CE00}"/>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EE95B374-AF07-4C85-8F67-58E3A5B71D8A}"/>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1E2447"/>
                </a:solidFill>
                <a:latin typeface="Cambria"/>
                <a:ea typeface="Cambria"/>
                <a:cs typeface="Cambria"/>
              </a:rPr>
              <a:t>Mixture</a:t>
            </a:r>
          </a:p>
        </p:txBody>
      </p:sp>
      <p:sp>
        <p:nvSpPr>
          <p:cNvPr id="381" name="Google Shape;381;p16">
            <a:extLst xmlns:a="http://schemas.openxmlformats.org/drawingml/2006/main">
              <a:ext uri="{FF2B5EF4-FFF2-40B4-BE49-F238E27FC236}">
                <a16:creationId xmlns:a16="http://schemas.microsoft.com/office/drawing/2014/main" id="{03ABC42C-3114-4DB8-918A-6C04812C2828}"/>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stay side by side and each maintains its own conduct — no new unit is formed.</a:t>
            </a:r>
          </a:p>
        </p:txBody>
      </p:sp>
      <p:sp>
        <p:nvSpPr>
          <p:cNvPr id="382" name="Google Shape;382;p16">
            <a:extLst xmlns:a="http://schemas.openxmlformats.org/drawingml/2006/main">
              <a:ext uri="{FF2B5EF4-FFF2-40B4-BE49-F238E27FC236}">
                <a16:creationId xmlns:a16="http://schemas.microsoft.com/office/drawing/2014/main" id="{F064E783-3B6A-440D-8C41-E0BFE659AD6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42D431DD-E635-4D55-B438-17FDFFD27152}"/>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Compound</a:t>
            </a:r>
          </a:p>
        </p:txBody>
      </p:sp>
      <p:sp>
        <p:nvSpPr>
          <p:cNvPr id="384" name="Google Shape;384;p16">
            <a:extLst xmlns:a="http://schemas.openxmlformats.org/drawingml/2006/main">
              <a:ext uri="{FF2B5EF4-FFF2-40B4-BE49-F238E27FC236}">
                <a16:creationId xmlns:a16="http://schemas.microsoft.com/office/drawing/2014/main" id="{84A2A0BA-02DB-46A8-9184-936EB5E2B4C3}"/>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Components combine in definite proportion and present a genuinely new unit, with its own form, properties, essential nature, and dharma.</a:t>
            </a:r>
          </a:p>
        </p:txBody>
      </p:sp>
      <p:sp>
        <p:nvSpPr>
          <p:cNvPr id="385" name="Google Shape;385;p16">
            <a:extLst xmlns:a="http://schemas.openxmlformats.org/drawingml/2006/main">
              <a:ext uri="{FF2B5EF4-FFF2-40B4-BE49-F238E27FC236}">
                <a16:creationId xmlns:a16="http://schemas.microsoft.com/office/drawing/2014/main" id="{57CF42B5-94B9-4AE9-B060-6BC5C76524F6}"/>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Composition is not development.  </a:t>
            </a:r>
            <a:r>
              <a:rPr sz="1200" b="0" i="0" u="none" cap="none">
                <a:solidFill>
                  <a:srgbClr val="5A6377"/>
                </a:solidFill>
                <a:latin typeface="Calibri"/>
                <a:ea typeface="Calibri"/>
                <a:cs typeface="Calibri"/>
              </a:rPr>
              <a:t>The developmental threshold is crossed only when an atom reaches constitutional completeness (T1); assemblies persist while relationships are fulfilled and decline when they are not.</a:t>
            </a:r>
          </a:p>
        </p:txBody>
      </p:sp>
      <p:sp>
        <p:nvSpPr>
          <p:cNvPr id="386" name="Google Shape;386;p16">
            <a:extLst xmlns:a="http://schemas.openxmlformats.org/drawingml/2006/main">
              <a:ext uri="{FF2B5EF4-FFF2-40B4-BE49-F238E27FC236}">
                <a16:creationId xmlns:a16="http://schemas.microsoft.com/office/drawing/2014/main" id="{B129C209-3FF2-4016-A9B0-A8F5F3F3E7B0}"/>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6E5D0BC7-FC95-424C-85B1-8D68E7ECEA4E}"/>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Particles, atoms</a:t>
            </a:r>
          </a:p>
        </p:txBody>
      </p:sp>
      <p:sp>
        <p:nvSpPr>
          <p:cNvPr id="388" name="Google Shape;388;p16">
            <a:extLst xmlns:a="http://schemas.openxmlformats.org/drawingml/2006/main">
              <a:ext uri="{FF2B5EF4-FFF2-40B4-BE49-F238E27FC236}">
                <a16:creationId xmlns:a16="http://schemas.microsoft.com/office/drawing/2014/main" id="{2F6A46CA-D8E1-4BD2-AA8E-221F5B906904}"/>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B468CC50-22BB-4266-A019-2EA79D2E3722}"/>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84AD2557-9213-4732-B37B-FE0F4371A016}"/>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Molecules</a:t>
            </a:r>
          </a:p>
        </p:txBody>
      </p:sp>
      <p:sp>
        <p:nvSpPr>
          <p:cNvPr id="391" name="Google Shape;391;p16">
            <a:extLst xmlns:a="http://schemas.openxmlformats.org/drawingml/2006/main">
              <a:ext uri="{FF2B5EF4-FFF2-40B4-BE49-F238E27FC236}">
                <a16:creationId xmlns:a16="http://schemas.microsoft.com/office/drawing/2014/main" id="{89D7FE30-7CBB-40BF-B52C-6DBBCAF63FFF}"/>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3302AF51-FAF2-4ECA-A54F-4AEFF4317013}"/>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4774C513-D57A-4D9C-9224-483EB9B04BF9}"/>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Cells &amp; bodies</a:t>
            </a:r>
          </a:p>
        </p:txBody>
      </p:sp>
      <p:sp>
        <p:nvSpPr>
          <p:cNvPr id="394" name="Google Shape;394;p16">
            <a:extLst xmlns:a="http://schemas.openxmlformats.org/drawingml/2006/main">
              <a:ext uri="{FF2B5EF4-FFF2-40B4-BE49-F238E27FC236}">
                <a16:creationId xmlns:a16="http://schemas.microsoft.com/office/drawing/2014/main" id="{82350748-5E36-4F6A-A071-97DA1C99693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13B9CA69-1149-4B06-8953-A5B2B9029404}"/>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30F2C252-C9A4-4D4B-96F6-0D00D394FC8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Human assemblies</a:t>
            </a:r>
          </a:p>
        </p:txBody>
      </p:sp>
      <p:sp>
        <p:nvSpPr>
          <p:cNvPr id="397" name="Google Shape;397;p16">
            <a:extLst xmlns:a="http://schemas.openxmlformats.org/drawingml/2006/main">
              <a:ext uri="{FF2B5EF4-FFF2-40B4-BE49-F238E27FC236}">
                <a16:creationId xmlns:a16="http://schemas.microsoft.com/office/drawing/2014/main" id="{C5FCA8E9-64AA-4FAA-9157-51830ED7C97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Families and societies are not physicochemical compounds. Their humane order is achieved through relationship-fulfilment, evaluation, and mutual satisfaction — not through chemically definite proportion.</a:t>
            </a:r>
          </a:p>
        </p:txBody>
      </p:sp>
      <p:sp>
        <p:nvSpPr>
          <p:cNvPr id="398" name="Google Shape;398;p16">
            <a:extLst xmlns:a="http://schemas.openxmlformats.org/drawingml/2006/main">
              <a:ext uri="{FF2B5EF4-FFF2-40B4-BE49-F238E27FC236}">
                <a16:creationId xmlns:a16="http://schemas.microsoft.com/office/drawing/2014/main" id="{E3D8EB7A-97C6-4DFE-834E-074ED2732AB4}"/>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67 (inclination toward coexistence)  ·  MVD p. 42 (mixture &amp; compound)  ·  SB p. 14 (persist or decline)</a:t>
            </a:r>
          </a:p>
        </p:txBody>
      </p:sp>
    </p:spTree>
    <p:extLst>
      <p:ext uri="{BB962C8B-B14F-4D97-AF65-F5344CB8AC3E}">
        <p14:creationId xmlns:p14="http://schemas.microsoft.com/office/powerpoint/2010/main" val="2136485024"/>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04" name="Google Shape;404;p17">
            <a:extLst xmlns:a="http://schemas.openxmlformats.org/drawingml/2006/main">
              <a:ext uri="{FF2B5EF4-FFF2-40B4-BE49-F238E27FC236}">
                <a16:creationId xmlns:a16="http://schemas.microsoft.com/office/drawing/2014/main" id="{A6DECDBA-1BF0-46C6-9FE2-83FA2D3F7263}"/>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5" name="Google Shape;405;p17">
            <a:extLst xmlns:a="http://schemas.openxmlformats.org/drawingml/2006/main">
              <a:ext uri="{FF2B5EF4-FFF2-40B4-BE49-F238E27FC236}">
                <a16:creationId xmlns:a16="http://schemas.microsoft.com/office/drawing/2014/main" id="{648CB187-D686-4707-81B7-2A5DDB05B039}"/>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6" name="Google Shape;406;p17">
            <a:extLst xmlns:a="http://schemas.openxmlformats.org/drawingml/2006/main">
              <a:ext uri="{FF2B5EF4-FFF2-40B4-BE49-F238E27FC236}">
                <a16:creationId xmlns:a16="http://schemas.microsoft.com/office/drawing/2014/main" id="{50E4A58E-1CD0-4392-97C8-B28C827C922D}"/>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07" name="Google Shape;407;p17">
            <a:extLst xmlns:a="http://schemas.openxmlformats.org/drawingml/2006/main">
              <a:ext uri="{FF2B5EF4-FFF2-40B4-BE49-F238E27FC236}">
                <a16:creationId xmlns:a16="http://schemas.microsoft.com/office/drawing/2014/main" id="{ABCABD93-5ECC-4E09-A1F4-B59974ABDDC6}"/>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§1.11 · THE THIRD ENDOWMENT</a:t>
            </a:r>
          </a:p>
        </p:txBody>
      </p:sp>
      <p:sp>
        <p:nvSpPr>
          <p:cNvPr id="408" name="Google Shape;408;p17">
            <a:extLst xmlns:a="http://schemas.openxmlformats.org/drawingml/2006/main">
              <a:ext uri="{FF2B5EF4-FFF2-40B4-BE49-F238E27FC236}">
                <a16:creationId xmlns:a16="http://schemas.microsoft.com/office/drawing/2014/main" id="{891800AA-488D-4489-98EB-8B606D13F3F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Regulation Endowment</a:t>
            </a:r>
          </a:p>
        </p:txBody>
      </p:sp>
      <p:sp>
        <p:nvSpPr>
          <p:cNvPr id="409" name="Google Shape;409;p17">
            <a:extLst xmlns:a="http://schemas.openxmlformats.org/drawingml/2006/main">
              <a:ext uri="{FF2B5EF4-FFF2-40B4-BE49-F238E27FC236}">
                <a16:creationId xmlns:a16="http://schemas.microsoft.com/office/drawing/2014/main" id="{76D228E5-3B3E-40F5-9DEF-B49F1687F3A7}"/>
              </a:ext>
            </a:extLst>
          </p:cNvPr>
          <p:cNvSpPr>
            <a:spLocks xmlns:a="http://schemas.openxmlformats.org/drawingml/2006/main" noGrp="1"/>
          </p:cNvSpPr>
          <p:nvPr/>
        </p:nvSpPr>
        <p:spPr>
          <a:xfrm xmlns:a="http://schemas.openxmlformats.org/drawingml/2006/main">
            <a:off x="640080" y="1234440"/>
            <a:ext cx="79552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Orderliness is self-regulation, inherent in saturated units — not dispensed by a cosmic governor. </a:t>
            </a:r>
            <a:r>
              <a:rPr sz="1250" b="1" i="0" u="none" cap="none">
                <a:solidFill>
                  <a:srgbClr val="1E2447"/>
                </a:solidFill>
                <a:latin typeface="Calibri"/>
                <a:ea typeface="Calibri"/>
                <a:cs typeface="Calibri"/>
              </a:rPr>
              <a:t>This mediative (madhyasth) regulation, which regulates and conserves every unit, gives the darshan its name.</a:t>
            </a:r>
          </a:p>
        </p:txBody>
      </p:sp>
      <p:graphicFrame>
        <p:nvGraphicFramePr>
          <p:cNvPr id="421" name="Google Shape;410;p17"/>
          <p:cNvGraphicFramePr/>
          <p:nvPr/>
        </p:nvGraphicFramePr>
        <p:xfrm>
          <a:off xmlns:a="http://schemas.openxmlformats.org/drawingml/2006/main" x="640080" y="1965960"/>
          <a:ext xmlns:a="http://schemas.openxmlformats.org/drawingml/2006/main" cx="7863850" cy="1810525"/>
        </p:xfrm>
        <a:graphic xmlns:a="http://schemas.openxmlformats.org/drawingml/2006/main">
          <a:graphicData uri="http://schemas.openxmlformats.org/drawingml/2006/table">
            <a:tbl>
              <a:tblPr>
                <a:tableStyleId>{6C92A692-798E-4634-90B1-36CD3966BFCB}</a:tableStyleId>
              </a:tblPr>
              <a:tblGrid>
                <a:gridCol w="1554475"/>
                <a:gridCol w="3017525"/>
                <a:gridCol w="3291850"/>
              </a:tblGrid>
              <a:tr h="310900">
                <a:tc>
                  <a:txBody>
                    <a:bodyPr/>
                    <a:lstStyle/>
                    <a:p>
                      <a:pPr marL="0" indent="0" algn="l">
                        <a:buNone/>
                      </a:pPr>
                      <a:r>
                        <a:rPr sz="1080" b="1" u="none" cap="none">
                          <a:solidFill>
                            <a:srgbClr val="FFFFFF"/>
                          </a:solidFill>
                          <a:latin typeface="Calibri"/>
                          <a:ea typeface="Calibri"/>
                          <a:cs typeface="Calibri"/>
                        </a:rPr>
                        <a:t>Order</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Conformance mode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c>
                  <a:txBody>
                    <a:bodyPr/>
                    <a:lstStyle/>
                    <a:p>
                      <a:pPr marL="0" indent="0" algn="l">
                        <a:buNone/>
                      </a:pPr>
                      <a:r>
                        <a:rPr sz="1080" b="1" u="none" cap="none">
                          <a:solidFill>
                            <a:srgbClr val="FFFFFF"/>
                          </a:solidFill>
                          <a:latin typeface="Calibri"/>
                          <a:ea typeface="Calibri"/>
                          <a:cs typeface="Calibri"/>
                        </a:rPr>
                        <a:t>Definite or achieved</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1E2447"/>
                    </a:solidFill>
                  </a:tcPr>
                </a:tc>
              </a:tr>
              <a:tr h="347475">
                <a:tc>
                  <a:txBody>
                    <a:bodyPr/>
                    <a:lstStyle/>
                    <a:p>
                      <a:pPr marL="0" indent="0" algn="l">
                        <a:buNone/>
                      </a:pPr>
                      <a:r>
                        <a:rPr sz="1080" u="none" cap="none">
                          <a:solidFill>
                            <a:srgbClr val="1E2447"/>
                          </a:solidFill>
                          <a:latin typeface="Calibri"/>
                          <a:ea typeface="Calibri"/>
                          <a:cs typeface="Calibri"/>
                        </a:rPr>
                        <a:t>Material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result- / structural-conformance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Bio (pranic)</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seed-conformance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347475">
                <a:tc>
                  <a:txBody>
                    <a:bodyPr/>
                    <a:lstStyle/>
                    <a:p>
                      <a:pPr marL="0" indent="0" algn="l">
                        <a:buNone/>
                      </a:pPr>
                      <a:r>
                        <a:rPr sz="1080" u="none" cap="none">
                          <a:solidFill>
                            <a:srgbClr val="1E2447"/>
                          </a:solidFill>
                          <a:latin typeface="Calibri"/>
                          <a:ea typeface="Calibri"/>
                          <a:cs typeface="Calibri"/>
                        </a:rPr>
                        <a:t>Animal</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species-conformance (inherited from gestation)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definite</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r h="457200">
                <a:tc>
                  <a:txBody>
                    <a:bodyPr/>
                    <a:lstStyle/>
                    <a:p>
                      <a:pPr marL="0" indent="0" algn="l">
                        <a:buNone/>
                      </a:pPr>
                      <a:r>
                        <a:rPr sz="1080" u="none" cap="none">
                          <a:solidFill>
                            <a:srgbClr val="1E2447"/>
                          </a:solidFill>
                          <a:latin typeface="Calibri"/>
                          <a:ea typeface="Calibri"/>
                          <a:cs typeface="Calibri"/>
                        </a:rPr>
                        <a:t>Knowledge (human)</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learned conformance (character, upbringing)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c>
                  <a:txBody>
                    <a:bodyPr/>
                    <a:lstStyle/>
                    <a:p>
                      <a:pPr marL="0" indent="0" algn="l">
                        <a:buNone/>
                      </a:pPr>
                      <a:r>
                        <a:rPr sz="1080" u="none" cap="none">
                          <a:solidFill>
                            <a:srgbClr val="1E2447"/>
                          </a:solidFill>
                          <a:latin typeface="Calibri"/>
                          <a:ea typeface="Calibri"/>
                          <a:cs typeface="Calibri"/>
                        </a:rPr>
                        <a:t>achieved: knowing → believing → recognising → fulfilling</a:t>
                      </a:r>
                    </a:p>
                  </a:txBody>
                  <a:tcPr marL="45725" marR="45725" marT="45725" marB="45725" anchor="ctr">
                    <a:lnL w="9525" cmpd="sng">
                      <a:solidFill>
                        <a:srgbClr val="C9D0E2"/>
                      </a:solidFill>
                      <a:prstDash val="solid"/>
                    </a:lnL>
                    <a:lnR w="9525" cmpd="sng">
                      <a:solidFill>
                        <a:srgbClr val="C9D0E2"/>
                      </a:solidFill>
                      <a:prstDash val="solid"/>
                    </a:lnR>
                    <a:lnT w="9525" cmpd="sng">
                      <a:solidFill>
                        <a:srgbClr val="C9D0E2"/>
                      </a:solidFill>
                      <a:prstDash val="solid"/>
                    </a:lnT>
                    <a:lnB w="9525" cmpd="sng">
                      <a:solidFill>
                        <a:srgbClr val="C9D0E2"/>
                      </a:solidFill>
                      <a:prstDash val="solid"/>
                    </a:lnB>
                    <a:solidFill>
                      <a:srgbClr val="FFFFFF"/>
                    </a:solidFill>
                  </a:tcPr>
                </a:tc>
              </a:tr>
            </a:tbl>
          </a:graphicData>
        </a:graphic>
      </p:graphicFrame>
      <p:sp>
        <p:nvSpPr>
          <p:cNvPr id="411" name="Google Shape;411;p17">
            <a:extLst xmlns:a="http://schemas.openxmlformats.org/drawingml/2006/main">
              <a:ext uri="{FF2B5EF4-FFF2-40B4-BE49-F238E27FC236}">
                <a16:creationId xmlns:a16="http://schemas.microsoft.com/office/drawing/2014/main" id="{418760E8-0E36-42A3-8A05-FA272B72896D}"/>
              </a:ext>
            </a:extLst>
          </p:cNvPr>
          <p:cNvSpPr>
            <a:spLocks xmlns:a="http://schemas.openxmlformats.org/drawingml/2006/main" noGrp="1"/>
          </p:cNvSpPr>
          <p:nvPr/>
        </p:nvSpPr>
        <p:spPr>
          <a:xfrm xmlns:a="http://schemas.openxmlformats.org/drawingml/2006/main">
            <a:off x="640080" y="3977640"/>
            <a:ext cx="7863840" cy="731520"/>
          </a:xfrm>
          <a:prstGeom xmlns:a="http://schemas.openxmlformats.org/drawingml/2006/main" prst="roundRect">
            <a:avLst>
              <a:gd name="adj" fmla="val 11250"/>
            </a:avLst>
          </a:prstGeom>
          <a:solidFill xmlns:a="http://schemas.openxmlformats.org/drawingml/2006/main">
            <a:srgbClr val="FAF1D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12" name="Google Shape;412;p17">
            <a:extLst xmlns:a="http://schemas.openxmlformats.org/drawingml/2006/main">
              <a:ext uri="{FF2B5EF4-FFF2-40B4-BE49-F238E27FC236}">
                <a16:creationId xmlns:a16="http://schemas.microsoft.com/office/drawing/2014/main" id="{8281FD63-9352-4E7E-B80A-DAC849910495}"/>
              </a:ext>
            </a:extLst>
          </p:cNvPr>
          <p:cNvSpPr>
            <a:spLocks xmlns:a="http://schemas.openxmlformats.org/drawingml/2006/main" noGrp="1"/>
          </p:cNvSpPr>
          <p:nvPr/>
        </p:nvSpPr>
        <p:spPr>
          <a:xfrm xmlns:a="http://schemas.openxmlformats.org/drawingml/2006/main">
            <a:off x="868680" y="3977640"/>
            <a:ext cx="7406640" cy="7315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1" i="0" u="none" cap="none">
                <a:solidFill>
                  <a:srgbClr val="9A6414"/>
                </a:solidFill>
                <a:latin typeface="Calibri"/>
                <a:ea typeface="Calibri"/>
                <a:cs typeface="Calibri"/>
              </a:rPr>
              <a:t>The regulation endowment </a:t>
            </a:r>
            <a:r>
              <a:rPr sz="1100" b="0" i="0" u="none" cap="none">
                <a:solidFill>
                  <a:srgbClr val="5A6377"/>
                </a:solidFill>
                <a:latin typeface="Calibri"/>
                <a:ea typeface="Calibri"/>
                <a:cs typeface="Calibri"/>
              </a:rPr>
              <a:t>is each jeevan’s own capacity to evaluate and fulfil relationships — not granted from outside. At family and society scale, this same regulation becomes visible as law. But statutory codification is not automatically justice: conduct can satisfy legality while still diverging from it.</a:t>
            </a:r>
          </a:p>
        </p:txBody>
      </p:sp>
      <p:sp>
        <p:nvSpPr>
          <p:cNvPr id="413" name="Google Shape;413;p17">
            <a:extLst xmlns:a="http://schemas.openxmlformats.org/drawingml/2006/main">
              <a:ext uri="{FF2B5EF4-FFF2-40B4-BE49-F238E27FC236}">
                <a16:creationId xmlns:a16="http://schemas.microsoft.com/office/drawing/2014/main" id="{D2D14E48-0F9E-414D-B0D5-18B438B9695A}"/>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SB p. 57  ·  MVD pp. 26–27, 67, 137, 311  ·  KD p. 14 (law across family, nation, world)</a:t>
            </a:r>
          </a:p>
        </p:txBody>
      </p:sp>
    </p:spTree>
    <p:extLst>
      <p:ext uri="{BB962C8B-B14F-4D97-AF65-F5344CB8AC3E}">
        <p14:creationId xmlns:p14="http://schemas.microsoft.com/office/powerpoint/2010/main" val="1942334141"/>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3" name="Google Shape;203;p10">
            <a:extLst xmlns:a="http://schemas.openxmlformats.org/drawingml/2006/main">
              <a:ext uri="{FF2B5EF4-FFF2-40B4-BE49-F238E27FC236}">
                <a16:creationId xmlns:a16="http://schemas.microsoft.com/office/drawing/2014/main" id="{A227E694-ACB1-4552-9B01-9BA14E563CEE}"/>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4" name="Google Shape;204;p10">
            <a:extLst xmlns:a="http://schemas.openxmlformats.org/drawingml/2006/main">
              <a:ext uri="{FF2B5EF4-FFF2-40B4-BE49-F238E27FC236}">
                <a16:creationId xmlns:a16="http://schemas.microsoft.com/office/drawing/2014/main" id="{A27B0F8F-D67F-402D-9A7D-CC96363D70A0}"/>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5" name="Google Shape;205;p10">
            <a:extLst xmlns:a="http://schemas.openxmlformats.org/drawingml/2006/main">
              <a:ext uri="{FF2B5EF4-FFF2-40B4-BE49-F238E27FC236}">
                <a16:creationId xmlns:a16="http://schemas.microsoft.com/office/drawing/2014/main" id="{094DB0CA-9CEE-40E8-B3E3-606F2F558633}"/>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06" name="Google Shape;206;p10">
            <a:extLst xmlns:a="http://schemas.openxmlformats.org/drawingml/2006/main">
              <a:ext uri="{FF2B5EF4-FFF2-40B4-BE49-F238E27FC236}">
                <a16:creationId xmlns:a16="http://schemas.microsoft.com/office/drawing/2014/main" id="{FC275619-7726-4132-9B6E-380017453A7C}"/>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§1.12 · EVALUATIVE PERSPECTIVES</a:t>
            </a:r>
          </a:p>
        </p:txBody>
      </p:sp>
      <p:sp>
        <p:nvSpPr>
          <p:cNvPr id="207" name="Google Shape;207;p10">
            <a:extLst xmlns:a="http://schemas.openxmlformats.org/drawingml/2006/main">
              <a:ext uri="{FF2B5EF4-FFF2-40B4-BE49-F238E27FC236}">
                <a16:creationId xmlns:a16="http://schemas.microsoft.com/office/drawing/2014/main" id="{FC8351DF-4D8B-4DEB-A7B3-FBE1FDA97F9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Justice, Dharma, Satya</a:t>
            </a:r>
          </a:p>
        </p:txBody>
      </p:sp>
      <p:sp>
        <p:nvSpPr>
          <p:cNvPr id="208" name="Google Shape;208;p10">
            <a:extLst xmlns:a="http://schemas.openxmlformats.org/drawingml/2006/main">
              <a:ext uri="{FF2B5EF4-FFF2-40B4-BE49-F238E27FC236}">
                <a16:creationId xmlns:a16="http://schemas.microsoft.com/office/drawing/2014/main" id="{FCB4F088-E7F6-4DE9-976F-1E0016290F4B}"/>
              </a:ext>
            </a:extLst>
          </p:cNvPr>
          <p:cNvSpPr>
            <a:spLocks xmlns:a="http://schemas.openxmlformats.org/drawingml/2006/main" noGrp="1"/>
          </p:cNvSpPr>
          <p:nvPr/>
        </p:nvSpPr>
        <p:spPr>
          <a:xfrm xmlns:a="http://schemas.openxmlformats.org/drawingml/2006/main">
            <a:off x="640080" y="1207008"/>
            <a:ext cx="7955280" cy="777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Evaluating an action rightly needs three widening perspectives. Justice asks whether one relationship is being fulfilled. Dharma asks whether the action fits the overall orderliness. Satya asks whether it holds up against the entire coexistence architecture.</a:t>
            </a:r>
          </a:p>
        </p:txBody>
      </p:sp>
      <p:sp>
        <p:nvSpPr>
          <p:cNvPr id="209" name="Google Shape;209;p10">
            <a:extLst xmlns:a="http://schemas.openxmlformats.org/drawingml/2006/main">
              <a:ext uri="{FF2B5EF4-FFF2-40B4-BE49-F238E27FC236}">
                <a16:creationId xmlns:a16="http://schemas.microsoft.com/office/drawing/2014/main" id="{577F7853-8B3D-4139-9CFE-636BD5FF4BCA}"/>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0" name="Google Shape;210;p10">
            <a:extLst xmlns:a="http://schemas.openxmlformats.org/drawingml/2006/main">
              <a:ext uri="{FF2B5EF4-FFF2-40B4-BE49-F238E27FC236}">
                <a16:creationId xmlns:a16="http://schemas.microsoft.com/office/drawing/2014/main" id="{1084CDE5-50F9-4276-867F-4FD62941EC84}"/>
              </a:ext>
            </a:extLst>
          </p:cNvPr>
          <p:cNvSpPr>
            <a:spLocks xmlns:a="http://schemas.openxmlformats.org/drawingml/2006/main" noGrp="1"/>
          </p:cNvSpPr>
          <p:nvPr/>
        </p:nvSpPr>
        <p:spPr>
          <a:xfrm xmlns:a="http://schemas.openxmlformats.org/drawingml/2006/main">
            <a:off x="12344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Justice</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relationship</a:t>
            </a:r>
          </a:p>
        </p:txBody>
      </p:sp>
      <p:sp>
        <p:nvSpPr>
          <p:cNvPr id="211" name="Google Shape;211;p10">
            <a:extLst xmlns:a="http://schemas.openxmlformats.org/drawingml/2006/main">
              <a:ext uri="{FF2B5EF4-FFF2-40B4-BE49-F238E27FC236}">
                <a16:creationId xmlns:a16="http://schemas.microsoft.com/office/drawing/2014/main" id="{60C9893A-91A5-4772-AED3-DCD9E751B981}"/>
              </a:ext>
            </a:extLst>
          </p:cNvPr>
          <p:cNvSpPr>
            <a:spLocks xmlns:a="http://schemas.openxmlformats.org/drawingml/2006/main" noGrp="1"/>
          </p:cNvSpPr>
          <p:nvPr/>
        </p:nvSpPr>
        <p:spPr>
          <a:xfrm xmlns:a="http://schemas.openxmlformats.org/drawingml/2006/main">
            <a:off x="10058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fulfil what’s owed</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recognise it, check what it requires</a:t>
            </a:r>
          </a:p>
        </p:txBody>
      </p:sp>
      <p:sp>
        <p:nvSpPr>
          <p:cNvPr id="212" name="Google Shape;212;p10">
            <a:extLst xmlns:a="http://schemas.openxmlformats.org/drawingml/2006/main">
              <a:ext uri="{FF2B5EF4-FFF2-40B4-BE49-F238E27FC236}">
                <a16:creationId xmlns:a16="http://schemas.microsoft.com/office/drawing/2014/main" id="{7DDB69DA-6C86-43C8-AB99-B8FC0A52B9B4}"/>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ellipse">
            <a:avLst/>
          </a:prstGeom>
          <a:solidFill xmlns:a="http://schemas.openxmlformats.org/drawingml/2006/main">
            <a:srgbClr val="3B4A7A"/>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3" name="Google Shape;213;p10">
            <a:extLst xmlns:a="http://schemas.openxmlformats.org/drawingml/2006/main">
              <a:ext uri="{FF2B5EF4-FFF2-40B4-BE49-F238E27FC236}">
                <a16:creationId xmlns:a16="http://schemas.microsoft.com/office/drawing/2014/main" id="{124E4E43-5036-40BE-9F52-0C7363326679}"/>
              </a:ext>
            </a:extLst>
          </p:cNvPr>
          <p:cNvSpPr>
            <a:spLocks xmlns:a="http://schemas.openxmlformats.org/drawingml/2006/main" noGrp="1"/>
          </p:cNvSpPr>
          <p:nvPr/>
        </p:nvSpPr>
        <p:spPr>
          <a:xfrm xmlns:a="http://schemas.openxmlformats.org/drawingml/2006/main">
            <a:off x="30632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Dharma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orderliness</a:t>
            </a:r>
          </a:p>
        </p:txBody>
      </p:sp>
      <p:sp>
        <p:nvSpPr>
          <p:cNvPr id="214" name="Google Shape;214;p10">
            <a:extLst xmlns:a="http://schemas.openxmlformats.org/drawingml/2006/main">
              <a:ext uri="{FF2B5EF4-FFF2-40B4-BE49-F238E27FC236}">
                <a16:creationId xmlns:a16="http://schemas.microsoft.com/office/drawing/2014/main" id="{9D4DB499-FF49-40DA-9AE5-266D70C6EAA6}"/>
              </a:ext>
            </a:extLst>
          </p:cNvPr>
          <p:cNvSpPr>
            <a:spLocks xmlns:a="http://schemas.openxmlformats.org/drawingml/2006/main" noGrp="1"/>
          </p:cNvSpPr>
          <p:nvPr/>
        </p:nvSpPr>
        <p:spPr>
          <a:xfrm xmlns:a="http://schemas.openxmlformats.org/drawingml/2006/main">
            <a:off x="28346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fit the wider pattern</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discipline in thought, not just conduct</a:t>
            </a:r>
          </a:p>
        </p:txBody>
      </p:sp>
      <p:sp>
        <p:nvSpPr>
          <p:cNvPr id="215" name="Google Shape;215;p10">
            <a:extLst xmlns:a="http://schemas.openxmlformats.org/drawingml/2006/main">
              <a:ext uri="{FF2B5EF4-FFF2-40B4-BE49-F238E27FC236}">
                <a16:creationId xmlns:a16="http://schemas.microsoft.com/office/drawing/2014/main" id="{3EFCB717-BC3C-4902-96E7-34E87294B4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ellipse">
            <a:avLst/>
          </a:prstGeom>
          <a:solidFill xmlns:a="http://schemas.openxmlformats.org/drawingml/2006/main">
            <a:srgbClr val="C9821E"/>
          </a:solidFill>
          <a:ln xmlns:a="http://schemas.openxmlformats.org/drawingml/2006/main" w="25400" cmpd="sng">
            <a:solidFill>
              <a:srgbClr val="FFFFFF"/>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6" name="Google Shape;216;p10">
            <a:extLst xmlns:a="http://schemas.openxmlformats.org/drawingml/2006/main">
              <a:ext uri="{FF2B5EF4-FFF2-40B4-BE49-F238E27FC236}">
                <a16:creationId xmlns:a16="http://schemas.microsoft.com/office/drawing/2014/main" id="{62D87294-2AD0-458F-8076-D9F44C0F3C14}"/>
              </a:ext>
            </a:extLst>
          </p:cNvPr>
          <p:cNvSpPr>
            <a:spLocks xmlns:a="http://schemas.openxmlformats.org/drawingml/2006/main" noGrp="1"/>
          </p:cNvSpPr>
          <p:nvPr/>
        </p:nvSpPr>
        <p:spPr>
          <a:xfrm xmlns:a="http://schemas.openxmlformats.org/drawingml/2006/main">
            <a:off x="4892040" y="2240280"/>
            <a:ext cx="1417320" cy="1417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Satya</a:t>
            </a:r>
          </a:p>
          <a:p xmlns:a="http://schemas.openxmlformats.org/drawingml/2006/main">
            <a:pPr marL="0" indent="0" algn="ctr">
              <a:spcBef>
                <a:spcPts val="0"/>
              </a:spcBef>
              <a:spcAft>
                <a:spcPts val="0"/>
              </a:spcAft>
              <a:buNone/>
            </a:pPr>
            <a:r>
              <a:rPr sz="1200" b="1" i="0" u="none" cap="none">
                <a:solidFill>
                  <a:srgbClr val="FFFFFF"/>
                </a:solidFill>
                <a:latin typeface="Calibri"/>
                <a:ea typeface="Calibri"/>
                <a:cs typeface="Calibri"/>
              </a:rPr>
              <a:t>the architecture</a:t>
            </a:r>
          </a:p>
        </p:txBody>
      </p:sp>
      <p:sp>
        <p:nvSpPr>
          <p:cNvPr id="217" name="Google Shape;217;p10">
            <a:extLst xmlns:a="http://schemas.openxmlformats.org/drawingml/2006/main">
              <a:ext uri="{FF2B5EF4-FFF2-40B4-BE49-F238E27FC236}">
                <a16:creationId xmlns:a16="http://schemas.microsoft.com/office/drawing/2014/main" id="{4AC770B6-231B-43C5-A35F-E7957DACDC07}"/>
              </a:ext>
            </a:extLst>
          </p:cNvPr>
          <p:cNvSpPr>
            <a:spLocks xmlns:a="http://schemas.openxmlformats.org/drawingml/2006/main" noGrp="1"/>
          </p:cNvSpPr>
          <p:nvPr/>
        </p:nvSpPr>
        <p:spPr>
          <a:xfrm xmlns:a="http://schemas.openxmlformats.org/drawingml/2006/main">
            <a:off x="4663440" y="3794760"/>
            <a:ext cx="187452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goal: align with the whole</a:t>
            </a:r>
          </a:p>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grounded in realisation, not liking or gain</a:t>
            </a:r>
          </a:p>
        </p:txBody>
      </p:sp>
      <p:sp>
        <p:nvSpPr>
          <p:cNvPr id="218" name="Google Shape;218;p10">
            <a:extLst xmlns:a="http://schemas.openxmlformats.org/drawingml/2006/main">
              <a:ext uri="{FF2B5EF4-FFF2-40B4-BE49-F238E27FC236}">
                <a16:creationId xmlns:a16="http://schemas.microsoft.com/office/drawing/2014/main" id="{67BE35B1-9F7E-43AA-BCA7-CDCBC3E976D2}"/>
              </a:ext>
            </a:extLst>
          </p:cNvPr>
          <p:cNvSpPr>
            <a:spLocks xmlns:a="http://schemas.openxmlformats.org/drawingml/2006/main" noGrp="1"/>
          </p:cNvSpPr>
          <p:nvPr/>
        </p:nvSpPr>
        <p:spPr>
          <a:xfrm xmlns:a="http://schemas.openxmlformats.org/drawingml/2006/main">
            <a:off x="6720840" y="2148840"/>
            <a:ext cx="1965960" cy="2240280"/>
          </a:xfrm>
          <a:prstGeom xmlns:a="http://schemas.openxmlformats.org/drawingml/2006/main" prst="roundRect">
            <a:avLst>
              <a:gd name="adj" fmla="val 465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219" name="Google Shape;219;p10">
            <a:extLst xmlns:a="http://schemas.openxmlformats.org/drawingml/2006/main">
              <a:ext uri="{FF2B5EF4-FFF2-40B4-BE49-F238E27FC236}">
                <a16:creationId xmlns:a16="http://schemas.microsoft.com/office/drawing/2014/main" id="{2EBCC9FB-178B-4F48-8E46-B6AC0DA5D2F8}"/>
              </a:ext>
            </a:extLst>
          </p:cNvPr>
          <p:cNvSpPr>
            <a:spLocks xmlns:a="http://schemas.openxmlformats.org/drawingml/2006/main" noGrp="1"/>
          </p:cNvSpPr>
          <p:nvPr/>
        </p:nvSpPr>
        <p:spPr>
          <a:xfrm xmlns:a="http://schemas.openxmlformats.org/drawingml/2006/main">
            <a:off x="6903720" y="2331720"/>
            <a:ext cx="1627632" cy="19202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One graduated chain</a:t>
            </a:r>
          </a:p>
          <a:p xmlns:a="http://schemas.openxmlformats.org/drawingml/2006/main">
            <a:pPr marL="0" indent="0" algn="l">
              <a:spcBef>
                <a:spcPts val="600"/>
              </a:spcBef>
              <a:spcAft>
                <a:spcPts val="0"/>
              </a:spcAft>
              <a:buNone/>
            </a:pPr>
            <a:r>
              <a:rPr sz="1000" b="0" i="1" u="none" cap="none">
                <a:solidFill>
                  <a:srgbClr val="5A6377"/>
                </a:solidFill>
                <a:latin typeface="Calibri"/>
                <a:ea typeface="Calibri"/>
                <a:cs typeface="Calibri"/>
              </a:rPr>
              <a:t>“Rule itself is justice, justice itself is dharma, dharma itself is truth, truth itself is coexistence.”</a:t>
            </a:r>
          </a:p>
          <a:p xmlns:a="http://schemas.openxmlformats.org/drawingml/2006/main">
            <a:pPr marL="0" indent="0" algn="l">
              <a:spcBef>
                <a:spcPts val="500"/>
              </a:spcBef>
              <a:spcAft>
                <a:spcPts val="0"/>
              </a:spcAft>
              <a:buNone/>
            </a:pPr>
            <a:r>
              <a:rPr sz="1000" b="0" i="0" u="none" cap="none">
                <a:solidFill>
                  <a:srgbClr val="5A6377"/>
                </a:solidFill>
                <a:latin typeface="Calibri"/>
                <a:ea typeface="Calibri"/>
                <a:cs typeface="Calibri"/>
              </a:rPr>
              <a:t>— KD p. 13</a:t>
            </a:r>
          </a:p>
        </p:txBody>
      </p:sp>
      <p:sp>
        <p:nvSpPr>
          <p:cNvPr id="230" name="Google Shape;230;p10">
            <a:extLst xmlns:a="http://schemas.openxmlformats.org/drawingml/2006/main">
              <a:ext uri="{FF2B5EF4-FFF2-40B4-BE49-F238E27FC236}">
                <a16:creationId xmlns:a16="http://schemas.microsoft.com/office/drawing/2014/main" id="{9268F224-4C3A-454A-A2D9-30300DB4E8B3}"/>
              </a:ext>
            </a:extLst>
          </p:cNvPr>
          <p:cNvSpPr>
            <a:spLocks xmlns:a="http://schemas.openxmlformats.org/drawingml/2006/main" noGrp="1"/>
          </p:cNvSpPr>
          <p:nvPr/>
        </p:nvSpPr>
        <p:spPr>
          <a:xfrm xmlns:a="http://schemas.openxmlformats.org/drawingml/2006/main">
            <a:off x="502920" y="4560000"/>
            <a:ext cx="8138160" cy="2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9A6414"/>
                </a:solidFill>
                <a:latin typeface="Calibri"/>
                <a:ea typeface="Calibri"/>
                <a:cs typeface="Calibri"/>
              </a:rPr>
              <a:t>Footnote: the same principle scales up — MVD names it justice within one order, dharma between nations, truth at cosmic scale (p. 161–162).</a:t>
            </a:r>
          </a:p>
        </p:txBody>
      </p:sp>
      <p:sp>
        <p:nvSpPr>
          <p:cNvPr id="220" name="Google Shape;220;p10">
            <a:extLst xmlns:a="http://schemas.openxmlformats.org/drawingml/2006/main">
              <a:ext uri="{FF2B5EF4-FFF2-40B4-BE49-F238E27FC236}">
                <a16:creationId xmlns:a16="http://schemas.microsoft.com/office/drawing/2014/main" id="{8FBE3DC7-DB80-4DE6-B0B5-0F778F119380}"/>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§1.12, §1.12.1 (justice, dharma, truth)  ·  KD p. 10 (six perspectives), p. 13 (chain), p. 60, 86 (universal expectation of justice)</a:t>
            </a:r>
          </a:p>
        </p:txBody>
      </p:sp>
    </p:spTree>
    <p:extLst>
      <p:ext uri="{BB962C8B-B14F-4D97-AF65-F5344CB8AC3E}">
        <p14:creationId xmlns:p14="http://schemas.microsoft.com/office/powerpoint/2010/main" val="159218005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19" name="Google Shape;419;p18">
            <a:extLst xmlns:a="http://schemas.openxmlformats.org/drawingml/2006/main">
              <a:ext uri="{FF2B5EF4-FFF2-40B4-BE49-F238E27FC236}">
                <a16:creationId xmlns:a16="http://schemas.microsoft.com/office/drawing/2014/main" id="{AC19F2BA-9F1E-4A35-BBD0-E8FFB6791B4F}"/>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0" name="Google Shape;420;p18">
            <a:extLst xmlns:a="http://schemas.openxmlformats.org/drawingml/2006/main">
              <a:ext uri="{FF2B5EF4-FFF2-40B4-BE49-F238E27FC236}">
                <a16:creationId xmlns:a16="http://schemas.microsoft.com/office/drawing/2014/main" id="{5B4143EF-219D-46BC-904B-B59B34A724E6}"/>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1" name="Google Shape;421;p18">
            <a:extLst xmlns:a="http://schemas.openxmlformats.org/drawingml/2006/main">
              <a:ext uri="{FF2B5EF4-FFF2-40B4-BE49-F238E27FC236}">
                <a16:creationId xmlns:a16="http://schemas.microsoft.com/office/drawing/2014/main" id="{561CF8D0-7097-47DE-8D1B-22B21EE0610E}"/>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2" name="Google Shape;422;p18">
            <a:extLst xmlns:a="http://schemas.openxmlformats.org/drawingml/2006/main">
              <a:ext uri="{FF2B5EF4-FFF2-40B4-BE49-F238E27FC236}">
                <a16:creationId xmlns:a16="http://schemas.microsoft.com/office/drawing/2014/main" id="{8DA75099-9845-48B9-8CDE-83573C3CEB1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§§1.3–1.4, 1.7, 1.12–1.13 · WHAT KNOWING NEEDS — AND HOW IT HAPPENS</a:t>
            </a:r>
          </a:p>
        </p:txBody>
      </p:sp>
      <p:sp>
        <p:nvSpPr>
          <p:cNvPr id="423" name="Google Shape;423;p18">
            <a:extLst xmlns:a="http://schemas.openxmlformats.org/drawingml/2006/main">
              <a:ext uri="{FF2B5EF4-FFF2-40B4-BE49-F238E27FC236}">
                <a16:creationId xmlns:a16="http://schemas.microsoft.com/office/drawing/2014/main" id="{A9BB04D9-3F67-41A2-8A26-AA19BA8992E7}"/>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Epistemic Ladder</a:t>
            </a:r>
          </a:p>
        </p:txBody>
      </p:sp>
      <p:sp>
        <p:nvSpPr>
          <p:cNvPr id="424" name="Google Shape;424;p18">
            <a:extLst xmlns:a="http://schemas.openxmlformats.org/drawingml/2006/main">
              <a:ext uri="{FF2B5EF4-FFF2-40B4-BE49-F238E27FC236}">
                <a16:creationId xmlns:a16="http://schemas.microsoft.com/office/drawing/2014/main" id="{F0E43322-0A7C-40FB-BD60-2F7922B40F04}"/>
              </a:ext>
            </a:extLst>
          </p:cNvPr>
          <p:cNvSpPr>
            <a:spLocks xmlns:a="http://schemas.openxmlformats.org/drawingml/2006/main" noGrp="1"/>
          </p:cNvSpPr>
          <p:nvPr/>
        </p:nvSpPr>
        <p:spPr>
          <a:xfrm xmlns:a="http://schemas.openxmlformats.org/drawingml/2006/main">
            <a:off x="548640" y="1280160"/>
            <a:ext cx="374904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What must be understood — scope</a:t>
            </a:r>
          </a:p>
        </p:txBody>
      </p:sp>
      <p:sp>
        <p:nvSpPr>
          <p:cNvPr id="450" name="Google Shape;450;p18">
            <a:extLst xmlns:a="http://schemas.openxmlformats.org/drawingml/2006/main">
              <a:ext uri="{FF2B5EF4-FFF2-40B4-BE49-F238E27FC236}">
                <a16:creationId xmlns:a16="http://schemas.microsoft.com/office/drawing/2014/main" id="{A53A7AB2-1B4D-4CF8-B8AD-CA57930C99EB}"/>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oundRect">
            <a:avLst>
              <a:gd name="adj" fmla="val 14286"/>
            </a:avLst>
          </a:prstGeom>
          <a:solidFill xmlns:a="http://schemas.openxmlformats.org/drawingml/2006/main">
            <a:srgbClr val="9A6414"/>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1" name="Google Shape;451;p18">
            <a:extLst xmlns:a="http://schemas.openxmlformats.org/drawingml/2006/main">
              <a:ext uri="{FF2B5EF4-FFF2-40B4-BE49-F238E27FC236}">
                <a16:creationId xmlns:a16="http://schemas.microsoft.com/office/drawing/2014/main" id="{ED00F5D3-2ABA-4839-8328-84D8D7953D68}"/>
              </a:ext>
            </a:extLst>
          </p:cNvPr>
          <p:cNvSpPr>
            <a:spLocks xmlns:a="http://schemas.openxmlformats.org/drawingml/2006/main" noGrp="1"/>
          </p:cNvSpPr>
          <p:nvPr/>
        </p:nvSpPr>
        <p:spPr>
          <a:xfrm xmlns:a="http://schemas.openxmlformats.org/drawingml/2006/main">
            <a:off x="274320" y="1600000"/>
            <a:ext cx="42976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FFFFFF"/>
                </a:solidFill>
                <a:latin typeface="Calibri"/>
                <a:ea typeface="Calibri"/>
                <a:cs typeface="Calibri"/>
              </a:rPr>
              <a:t>coexistence itself  ·  the telos of knowing</a:t>
            </a:r>
          </a:p>
        </p:txBody>
      </p:sp>
      <p:sp>
        <p:nvSpPr>
          <p:cNvPr id="452" name="Google Shape;452;p18">
            <a:extLst xmlns:a="http://schemas.openxmlformats.org/drawingml/2006/main">
              <a:ext uri="{FF2B5EF4-FFF2-40B4-BE49-F238E27FC236}">
                <a16:creationId xmlns:a16="http://schemas.microsoft.com/office/drawing/2014/main" id="{0969169C-3236-4F16-BE9A-E3957D4A6A9E}"/>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3" name="Google Shape;453;p18">
            <a:extLst xmlns:a="http://schemas.openxmlformats.org/drawingml/2006/main">
              <a:ext uri="{FF2B5EF4-FFF2-40B4-BE49-F238E27FC236}">
                <a16:creationId xmlns:a16="http://schemas.microsoft.com/office/drawing/2014/main" id="{72FCC9B4-A8AC-48A4-9F01-C35B56BEBBB7}"/>
              </a:ext>
            </a:extLst>
          </p:cNvPr>
          <p:cNvSpPr>
            <a:spLocks xmlns:a="http://schemas.openxmlformats.org/drawingml/2006/main" noGrp="1"/>
          </p:cNvSpPr>
          <p:nvPr/>
        </p:nvSpPr>
        <p:spPr>
          <a:xfrm xmlns:a="http://schemas.openxmlformats.org/drawingml/2006/main">
            <a:off x="594360" y="2050000"/>
            <a:ext cx="365760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relationships  ·  shared expectations weighed by justice, dharma, and truth (§1.12)</a:t>
            </a:r>
          </a:p>
        </p:txBody>
      </p:sp>
      <p:sp>
        <p:nvSpPr>
          <p:cNvPr id="425" name="Google Shape;425;p18">
            <a:extLst xmlns:a="http://schemas.openxmlformats.org/drawingml/2006/main">
              <a:ext uri="{FF2B5EF4-FFF2-40B4-BE49-F238E27FC236}">
                <a16:creationId xmlns:a16="http://schemas.microsoft.com/office/drawing/2014/main" id="{F81FC8C1-6F3A-42F5-A7CB-13017A67F93B}"/>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oundRect">
            <a:avLst>
              <a:gd name="adj" fmla="val 14286"/>
            </a:avLst>
          </a:prstGeom>
          <a:solidFill xmlns:a="http://schemas.openxmlformats.org/drawingml/2006/main">
            <a:schemeClr val="accent3">
              <a:lumMod val="40000"/>
              <a:lumOff val="60000"/>
            </a:schemeClr>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6" name="Google Shape;426;p18">
            <a:extLst xmlns:a="http://schemas.openxmlformats.org/drawingml/2006/main">
              <a:ext uri="{FF2B5EF4-FFF2-40B4-BE49-F238E27FC236}">
                <a16:creationId xmlns:a16="http://schemas.microsoft.com/office/drawing/2014/main" id="{FFA15703-3322-44A6-8170-6B7B205EBB14}"/>
              </a:ext>
            </a:extLst>
          </p:cNvPr>
          <p:cNvSpPr>
            <a:spLocks xmlns:a="http://schemas.openxmlformats.org/drawingml/2006/main" noGrp="1"/>
          </p:cNvSpPr>
          <p:nvPr/>
        </p:nvSpPr>
        <p:spPr>
          <a:xfrm xmlns:a="http://schemas.openxmlformats.org/drawingml/2006/main">
            <a:off x="914400" y="2500000"/>
            <a:ext cx="301752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9A6414"/>
                </a:solidFill>
                <a:latin typeface="Calibri"/>
                <a:ea typeface="Calibri"/>
                <a:cs typeface="Calibri"/>
              </a:rPr>
              <a:t>dharma  ·  needs the whole</a:t>
            </a:r>
          </a:p>
        </p:txBody>
      </p:sp>
      <p:sp>
        <p:nvSpPr>
          <p:cNvPr id="427" name="Google Shape;427;p18">
            <a:extLst xmlns:a="http://schemas.openxmlformats.org/drawingml/2006/main">
              <a:ext uri="{FF2B5EF4-FFF2-40B4-BE49-F238E27FC236}">
                <a16:creationId xmlns:a16="http://schemas.microsoft.com/office/drawing/2014/main" id="{0361EBB0-84E5-479B-85C7-4C9B5804B9FA}"/>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28" name="Google Shape;428;p18">
            <a:extLst xmlns:a="http://schemas.openxmlformats.org/drawingml/2006/main">
              <a:ext uri="{FF2B5EF4-FFF2-40B4-BE49-F238E27FC236}">
                <a16:creationId xmlns:a16="http://schemas.microsoft.com/office/drawing/2014/main" id="{0F84EEAC-434C-4925-9BB9-3DD284C2C194}"/>
              </a:ext>
            </a:extLst>
          </p:cNvPr>
          <p:cNvSpPr>
            <a:spLocks xmlns:a="http://schemas.openxmlformats.org/drawingml/2006/main" noGrp="1"/>
          </p:cNvSpPr>
          <p:nvPr/>
        </p:nvSpPr>
        <p:spPr>
          <a:xfrm xmlns:a="http://schemas.openxmlformats.org/drawingml/2006/main">
            <a:off x="1074420" y="2950000"/>
            <a:ext cx="269748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essential nature  ·  needs its order</a:t>
            </a:r>
          </a:p>
        </p:txBody>
      </p:sp>
      <p:sp>
        <p:nvSpPr>
          <p:cNvPr id="429" name="Google Shape;429;p18">
            <a:extLst xmlns:a="http://schemas.openxmlformats.org/drawingml/2006/main">
              <a:ext uri="{FF2B5EF4-FFF2-40B4-BE49-F238E27FC236}">
                <a16:creationId xmlns:a16="http://schemas.microsoft.com/office/drawing/2014/main" id="{FD2DC8FD-9A9A-4C9A-9564-EA41F5ECC05F}"/>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0" name="Google Shape;430;p18">
            <a:extLst xmlns:a="http://schemas.openxmlformats.org/drawingml/2006/main">
              <a:ext uri="{FF2B5EF4-FFF2-40B4-BE49-F238E27FC236}">
                <a16:creationId xmlns:a16="http://schemas.microsoft.com/office/drawing/2014/main" id="{E64E419E-35C0-4FE7-813A-AD7269E90919}"/>
              </a:ext>
            </a:extLst>
          </p:cNvPr>
          <p:cNvSpPr>
            <a:spLocks xmlns:a="http://schemas.openxmlformats.org/drawingml/2006/main" noGrp="1"/>
          </p:cNvSpPr>
          <p:nvPr/>
        </p:nvSpPr>
        <p:spPr>
          <a:xfrm xmlns:a="http://schemas.openxmlformats.org/drawingml/2006/main">
            <a:off x="1234440" y="3400000"/>
            <a:ext cx="237744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properties  ·  need mutuality</a:t>
            </a:r>
          </a:p>
        </p:txBody>
      </p:sp>
      <p:sp>
        <p:nvSpPr>
          <p:cNvPr id="431" name="Google Shape;431;p18">
            <a:extLst xmlns:a="http://schemas.openxmlformats.org/drawingml/2006/main">
              <a:ext uri="{FF2B5EF4-FFF2-40B4-BE49-F238E27FC236}">
                <a16:creationId xmlns:a16="http://schemas.microsoft.com/office/drawing/2014/main" id="{A26EA2FC-59CD-418E-ADF4-5AF22119D2B2}"/>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oundRect">
            <a:avLst>
              <a:gd name="adj" fmla="val 14286"/>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2" name="Google Shape;432;p18">
            <a:extLst xmlns:a="http://schemas.openxmlformats.org/drawingml/2006/main">
              <a:ext uri="{FF2B5EF4-FFF2-40B4-BE49-F238E27FC236}">
                <a16:creationId xmlns:a16="http://schemas.microsoft.com/office/drawing/2014/main" id="{14BA3C2D-3966-48F7-A294-E0FA8C17CF01}"/>
              </a:ext>
            </a:extLst>
          </p:cNvPr>
          <p:cNvSpPr>
            <a:spLocks xmlns:a="http://schemas.openxmlformats.org/drawingml/2006/main" noGrp="1"/>
          </p:cNvSpPr>
          <p:nvPr/>
        </p:nvSpPr>
        <p:spPr>
          <a:xfrm xmlns:a="http://schemas.openxmlformats.org/drawingml/2006/main">
            <a:off x="1554480" y="3850000"/>
            <a:ext cx="1737360" cy="4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150" b="1" i="0" u="none" cap="none">
                <a:solidFill>
                  <a:srgbClr val="1E2447"/>
                </a:solidFill>
                <a:latin typeface="Calibri"/>
                <a:ea typeface="Calibri"/>
                <a:cs typeface="Calibri"/>
              </a:rPr>
              <a:t>form  ·  the unit alone</a:t>
            </a:r>
          </a:p>
        </p:txBody>
      </p:sp>
      <p:sp>
        <p:nvSpPr>
          <p:cNvPr id="433" name="Google Shape;433;p18">
            <a:extLst xmlns:a="http://schemas.openxmlformats.org/drawingml/2006/main">
              <a:ext uri="{FF2B5EF4-FFF2-40B4-BE49-F238E27FC236}">
                <a16:creationId xmlns:a16="http://schemas.microsoft.com/office/drawing/2014/main" id="{E31E0910-FFE3-4D4A-94D3-27A5C3C61D52}"/>
              </a:ext>
            </a:extLst>
          </p:cNvPr>
          <p:cNvSpPr>
            <a:spLocks xmlns:a="http://schemas.openxmlformats.org/drawingml/2006/main" noGrp="1"/>
          </p:cNvSpPr>
          <p:nvPr/>
        </p:nvSpPr>
        <p:spPr>
          <a:xfrm xmlns:a="http://schemas.openxmlformats.org/drawingml/2006/main">
            <a:off x="274320" y="4300000"/>
            <a:ext cx="4297680" cy="40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950" b="0" i="1" u="none" cap="none">
                <a:solidFill>
                  <a:srgbClr val="5A6377"/>
                </a:solidFill>
                <a:latin typeface="Calibri"/>
                <a:ea typeface="Calibri"/>
                <a:cs typeface="Calibri"/>
              </a:rPr>
              <a:t>each higher rung needs a wider context to understand the aspect; the top rung is a different kind of knowing — coexistence </a:t>
            </a:r>
            <a:r>
              <a:rPr sz="950" b="0" i="1" u="none" cap="none">
                <a:solidFill>
                  <a:srgbClr val="5A6377"/>
                </a:solidFill>
                <a:latin typeface="Calibri"/>
                <a:ea typeface="Calibri"/>
                <a:cs typeface="Calibri"/>
              </a:rPr>
              <a:t>realised</a:t>
            </a:r>
            <a:r>
              <a:rPr sz="950" b="0" i="1" u="none" cap="none">
                <a:solidFill>
                  <a:srgbClr val="5A6377"/>
                </a:solidFill>
                <a:latin typeface="Calibri"/>
                <a:ea typeface="Calibri"/>
                <a:cs typeface="Calibri"/>
              </a:rPr>
              <a:t>, not just a wider unit-aspect</a:t>
            </a:r>
          </a:p>
        </p:txBody>
      </p:sp>
      <p:sp>
        <p:nvSpPr>
          <p:cNvPr id="434" name="Google Shape;434;p18">
            <a:extLst xmlns:a="http://schemas.openxmlformats.org/drawingml/2006/main">
              <a:ext uri="{FF2B5EF4-FFF2-40B4-BE49-F238E27FC236}">
                <a16:creationId xmlns:a16="http://schemas.microsoft.com/office/drawing/2014/main" id="{E220C89B-021D-4776-983A-E31A49AA1D9F}"/>
              </a:ext>
            </a:extLst>
          </p:cNvPr>
          <p:cNvSpPr>
            <a:spLocks xmlns:a="http://schemas.openxmlformats.org/drawingml/2006/main" noGrp="1"/>
          </p:cNvSpPr>
          <p:nvPr/>
        </p:nvSpPr>
        <p:spPr>
          <a:xfrm xmlns:a="http://schemas.openxmlformats.org/drawingml/2006/main">
            <a:off x="4892040" y="1280160"/>
            <a:ext cx="342900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1350" b="1" i="0" u="none" cap="none">
                <a:solidFill>
                  <a:srgbClr val="1E2447"/>
                </a:solidFill>
                <a:latin typeface="Cambria"/>
                <a:ea typeface="Cambria"/>
                <a:cs typeface="Cambria"/>
              </a:rPr>
              <a:t>How knowing happens — within jeevan</a:t>
            </a:r>
          </a:p>
        </p:txBody>
      </p:sp>
      <p:sp>
        <p:nvSpPr>
          <p:cNvPr id="435" name="Google Shape;435;p18">
            <a:extLst xmlns:a="http://schemas.openxmlformats.org/drawingml/2006/main">
              <a:ext uri="{FF2B5EF4-FFF2-40B4-BE49-F238E27FC236}">
                <a16:creationId xmlns:a16="http://schemas.microsoft.com/office/drawing/2014/main" id="{79ECD1B1-07B3-4D0C-A1FD-E24C3F416BB2}"/>
              </a:ext>
            </a:extLst>
          </p:cNvPr>
          <p:cNvSpPr>
            <a:spLocks xmlns:a="http://schemas.openxmlformats.org/drawingml/2006/main" noGrp="1"/>
          </p:cNvSpPr>
          <p:nvPr/>
        </p:nvSpPr>
        <p:spPr>
          <a:xfrm xmlns:a="http://schemas.openxmlformats.org/drawingml/2006/main">
            <a:off x="4892040" y="1645920"/>
            <a:ext cx="3429000" cy="457200"/>
          </a:xfrm>
          <a:prstGeom xmlns:a="http://schemas.openxmlformats.org/drawingml/2006/main" prst="roundRect">
            <a:avLst>
              <a:gd name="adj" fmla="val 16000"/>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6" name="Google Shape;436;p18">
            <a:extLst xmlns:a="http://schemas.openxmlformats.org/drawingml/2006/main">
              <a:ext uri="{FF2B5EF4-FFF2-40B4-BE49-F238E27FC236}">
                <a16:creationId xmlns:a16="http://schemas.microsoft.com/office/drawing/2014/main" id="{3670FC36-729C-4187-B7C8-6A6C96F6092F}"/>
              </a:ext>
            </a:extLst>
          </p:cNvPr>
          <p:cNvSpPr>
            <a:spLocks xmlns:a="http://schemas.openxmlformats.org/drawingml/2006/main" noGrp="1"/>
          </p:cNvSpPr>
          <p:nvPr/>
        </p:nvSpPr>
        <p:spPr>
          <a:xfrm xmlns:a="http://schemas.openxmlformats.org/drawingml/2006/main">
            <a:off x="5029200" y="1645920"/>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9A6414"/>
                </a:solidFill>
                <a:latin typeface="Calibri"/>
                <a:ea typeface="Calibri"/>
                <a:cs typeface="Calibri"/>
              </a:rPr>
              <a:t>Core self (atma)   </a:t>
            </a:r>
            <a:r>
              <a:rPr sz="900" b="0" i="0" u="none" cap="none">
                <a:solidFill>
                  <a:srgbClr val="5A6377"/>
                </a:solidFill>
                <a:latin typeface="Calibri"/>
                <a:ea typeface="Calibri"/>
                <a:cs typeface="Calibri"/>
              </a:rPr>
              <a:t>realisation — only through truth · authenticity</a:t>
            </a:r>
          </a:p>
        </p:txBody>
      </p:sp>
      <p:sp>
        <p:nvSpPr>
          <p:cNvPr id="437" name="Google Shape;437;p18">
            <a:extLst xmlns:a="http://schemas.openxmlformats.org/drawingml/2006/main">
              <a:ext uri="{FF2B5EF4-FFF2-40B4-BE49-F238E27FC236}">
                <a16:creationId xmlns:a16="http://schemas.microsoft.com/office/drawing/2014/main" id="{2A893C6A-C0F2-4AE3-9C30-D6BA51DA39FA}"/>
              </a:ext>
            </a:extLst>
          </p:cNvPr>
          <p:cNvSpPr>
            <a:spLocks xmlns:a="http://schemas.openxmlformats.org/drawingml/2006/main" noGrp="1"/>
          </p:cNvSpPr>
          <p:nvPr/>
        </p:nvSpPr>
        <p:spPr>
          <a:xfrm xmlns:a="http://schemas.openxmlformats.org/drawingml/2006/main">
            <a:off x="4892040" y="2212848"/>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38" name="Google Shape;438;p18">
            <a:extLst xmlns:a="http://schemas.openxmlformats.org/drawingml/2006/main">
              <a:ext uri="{FF2B5EF4-FFF2-40B4-BE49-F238E27FC236}">
                <a16:creationId xmlns:a16="http://schemas.microsoft.com/office/drawing/2014/main" id="{13DBAC8B-BA37-4E22-A075-812F4996B776}"/>
              </a:ext>
            </a:extLst>
          </p:cNvPr>
          <p:cNvSpPr>
            <a:spLocks xmlns:a="http://schemas.openxmlformats.org/drawingml/2006/main" noGrp="1"/>
          </p:cNvSpPr>
          <p:nvPr/>
        </p:nvSpPr>
        <p:spPr>
          <a:xfrm xmlns:a="http://schemas.openxmlformats.org/drawingml/2006/main">
            <a:off x="5029200" y="2212848"/>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Resolve (buddhi)   </a:t>
            </a:r>
            <a:r>
              <a:rPr sz="900" b="0" i="0" u="none" cap="none">
                <a:solidFill>
                  <a:srgbClr val="5A6377"/>
                </a:solidFill>
                <a:latin typeface="Calibri"/>
                <a:ea typeface="Calibri"/>
                <a:cs typeface="Calibri"/>
              </a:rPr>
              <a:t>enlightenment of existence, jeevan, conduct · resolve</a:t>
            </a:r>
          </a:p>
        </p:txBody>
      </p:sp>
      <p:sp>
        <p:nvSpPr>
          <p:cNvPr id="439" name="Google Shape;439;p18">
            <a:extLst xmlns:a="http://schemas.openxmlformats.org/drawingml/2006/main">
              <a:ext uri="{FF2B5EF4-FFF2-40B4-BE49-F238E27FC236}">
                <a16:creationId xmlns:a16="http://schemas.microsoft.com/office/drawing/2014/main" id="{BD84D243-0706-4ECB-8BDE-CCD0CFF66D99}"/>
              </a:ext>
            </a:extLst>
          </p:cNvPr>
          <p:cNvSpPr>
            <a:spLocks xmlns:a="http://schemas.openxmlformats.org/drawingml/2006/main" noGrp="1"/>
          </p:cNvSpPr>
          <p:nvPr/>
        </p:nvSpPr>
        <p:spPr>
          <a:xfrm xmlns:a="http://schemas.openxmlformats.org/drawingml/2006/main">
            <a:off x="4892040" y="2779776"/>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0" name="Google Shape;440;p18">
            <a:extLst xmlns:a="http://schemas.openxmlformats.org/drawingml/2006/main">
              <a:ext uri="{FF2B5EF4-FFF2-40B4-BE49-F238E27FC236}">
                <a16:creationId xmlns:a16="http://schemas.microsoft.com/office/drawing/2014/main" id="{9C5519FC-525B-4B0C-8160-C849C521ABB4}"/>
              </a:ext>
            </a:extLst>
          </p:cNvPr>
          <p:cNvSpPr>
            <a:spLocks xmlns:a="http://schemas.openxmlformats.org/drawingml/2006/main" noGrp="1"/>
          </p:cNvSpPr>
          <p:nvPr/>
        </p:nvSpPr>
        <p:spPr>
          <a:xfrm xmlns:a="http://schemas.openxmlformats.org/drawingml/2006/main">
            <a:off x="5029200" y="2779776"/>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Desire (chitta)   </a:t>
            </a:r>
            <a:r>
              <a:rPr sz="900" b="0" i="0" u="none" cap="none">
                <a:solidFill>
                  <a:srgbClr val="5A6377"/>
                </a:solidFill>
                <a:latin typeface="Calibri"/>
                <a:ea typeface="Calibri"/>
                <a:cs typeface="Calibri"/>
              </a:rPr>
              <a:t>contemplation &amp; visualisation · direct recognition</a:t>
            </a:r>
          </a:p>
        </p:txBody>
      </p:sp>
      <p:sp>
        <p:nvSpPr>
          <p:cNvPr id="441" name="Google Shape;441;p18">
            <a:extLst xmlns:a="http://schemas.openxmlformats.org/drawingml/2006/main">
              <a:ext uri="{FF2B5EF4-FFF2-40B4-BE49-F238E27FC236}">
                <a16:creationId xmlns:a16="http://schemas.microsoft.com/office/drawing/2014/main" id="{617665E1-C932-4F56-9689-726D460A92A2}"/>
              </a:ext>
            </a:extLst>
          </p:cNvPr>
          <p:cNvSpPr>
            <a:spLocks xmlns:a="http://schemas.openxmlformats.org/drawingml/2006/main" noGrp="1"/>
          </p:cNvSpPr>
          <p:nvPr/>
        </p:nvSpPr>
        <p:spPr>
          <a:xfrm xmlns:a="http://schemas.openxmlformats.org/drawingml/2006/main">
            <a:off x="4892040" y="3346704"/>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2" name="Google Shape;442;p18">
            <a:extLst xmlns:a="http://schemas.openxmlformats.org/drawingml/2006/main">
              <a:ext uri="{FF2B5EF4-FFF2-40B4-BE49-F238E27FC236}">
                <a16:creationId xmlns:a16="http://schemas.microsoft.com/office/drawing/2014/main" id="{88CA3D4A-3ADF-41F4-86A7-A2DEB5EC083C}"/>
              </a:ext>
            </a:extLst>
          </p:cNvPr>
          <p:cNvSpPr>
            <a:spLocks xmlns:a="http://schemas.openxmlformats.org/drawingml/2006/main" noGrp="1"/>
          </p:cNvSpPr>
          <p:nvPr/>
        </p:nvSpPr>
        <p:spPr>
          <a:xfrm xmlns:a="http://schemas.openxmlformats.org/drawingml/2006/main">
            <a:off x="5029200" y="3346704"/>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Thought (vritti)   </a:t>
            </a:r>
            <a:r>
              <a:rPr sz="900" b="0" i="0" u="none" cap="none">
                <a:solidFill>
                  <a:srgbClr val="5A6377"/>
                </a:solidFill>
                <a:latin typeface="Calibri"/>
                <a:ea typeface="Calibri"/>
                <a:cs typeface="Calibri"/>
              </a:rPr>
              <a:t>deliberation in refuge of justice–dharma–truth · analysis</a:t>
            </a:r>
          </a:p>
        </p:txBody>
      </p:sp>
      <p:sp>
        <p:nvSpPr>
          <p:cNvPr id="443" name="Google Shape;443;p18">
            <a:extLst xmlns:a="http://schemas.openxmlformats.org/drawingml/2006/main">
              <a:ext uri="{FF2B5EF4-FFF2-40B4-BE49-F238E27FC236}">
                <a16:creationId xmlns:a16="http://schemas.microsoft.com/office/drawing/2014/main" id="{0F893CF6-212B-42B7-A187-A405DECB25AC}"/>
              </a:ext>
            </a:extLst>
          </p:cNvPr>
          <p:cNvSpPr>
            <a:spLocks xmlns:a="http://schemas.openxmlformats.org/drawingml/2006/main" noGrp="1"/>
          </p:cNvSpPr>
          <p:nvPr/>
        </p:nvSpPr>
        <p:spPr>
          <a:xfrm xmlns:a="http://schemas.openxmlformats.org/drawingml/2006/main">
            <a:off x="4892040" y="3913632"/>
            <a:ext cx="3429000" cy="457200"/>
          </a:xfrm>
          <a:prstGeom xmlns:a="http://schemas.openxmlformats.org/drawingml/2006/main" prst="roundRect">
            <a:avLst>
              <a:gd name="adj" fmla="val 16000"/>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44" name="Google Shape;444;p18">
            <a:extLst xmlns:a="http://schemas.openxmlformats.org/drawingml/2006/main">
              <a:ext uri="{FF2B5EF4-FFF2-40B4-BE49-F238E27FC236}">
                <a16:creationId xmlns:a16="http://schemas.microsoft.com/office/drawing/2014/main" id="{AB0D39D1-8330-498C-B3C9-712CB43BCA59}"/>
              </a:ext>
            </a:extLst>
          </p:cNvPr>
          <p:cNvSpPr>
            <a:spLocks xmlns:a="http://schemas.openxmlformats.org/drawingml/2006/main" noGrp="1"/>
          </p:cNvSpPr>
          <p:nvPr/>
        </p:nvSpPr>
        <p:spPr>
          <a:xfrm xmlns:a="http://schemas.openxmlformats.org/drawingml/2006/main">
            <a:off x="5029200" y="3913632"/>
            <a:ext cx="3200400" cy="4572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1" i="0" u="none" cap="none">
                <a:solidFill>
                  <a:srgbClr val="1E2447"/>
                </a:solidFill>
                <a:latin typeface="Calibri"/>
                <a:ea typeface="Calibri"/>
                <a:cs typeface="Calibri"/>
              </a:rPr>
              <a:t>Hope (mun)   </a:t>
            </a:r>
            <a:r>
              <a:rPr sz="900" b="0" i="0" u="none" cap="none">
                <a:solidFill>
                  <a:srgbClr val="5A6377"/>
                </a:solidFill>
                <a:latin typeface="Calibri"/>
                <a:ea typeface="Calibri"/>
                <a:cs typeface="Calibri"/>
              </a:rPr>
              <a:t>taste &amp; selection — first acceptance of the proposal</a:t>
            </a:r>
          </a:p>
        </p:txBody>
      </p:sp>
      <p:sp>
        <p:nvSpPr>
          <p:cNvPr id="454" name="Google Shape;454;p18">
            <a:extLst xmlns:a="http://schemas.openxmlformats.org/drawingml/2006/main">
              <a:ext uri="{FF2B5EF4-FFF2-40B4-BE49-F238E27FC236}">
                <a16:creationId xmlns:a16="http://schemas.microsoft.com/office/drawing/2014/main" id="{42229DEC-31D7-46FC-920E-80EFFB0F4C62}"/>
              </a:ext>
            </a:extLst>
          </p:cNvPr>
          <p:cNvSpPr>
            <a:spLocks xmlns:a="http://schemas.openxmlformats.org/drawingml/2006/main" noGrp="1"/>
          </p:cNvSpPr>
          <p:nvPr/>
        </p:nvSpPr>
        <p:spPr>
          <a:xfrm xmlns:a="http://schemas.openxmlformats.org/drawingml/2006/main">
            <a:off x="5029200" y="2092984"/>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bliss</a:t>
            </a:r>
          </a:p>
        </p:txBody>
      </p:sp>
      <p:sp>
        <p:nvSpPr>
          <p:cNvPr id="455" name="Google Shape;455;p18">
            <a:extLst xmlns:a="http://schemas.openxmlformats.org/drawingml/2006/main">
              <a:ext uri="{FF2B5EF4-FFF2-40B4-BE49-F238E27FC236}">
                <a16:creationId xmlns:a16="http://schemas.microsoft.com/office/drawing/2014/main" id="{50497EFB-3B56-4C56-B17F-B5D6FF917133}"/>
              </a:ext>
            </a:extLst>
          </p:cNvPr>
          <p:cNvSpPr>
            <a:spLocks xmlns:a="http://schemas.openxmlformats.org/drawingml/2006/main" noGrp="1"/>
          </p:cNvSpPr>
          <p:nvPr/>
        </p:nvSpPr>
        <p:spPr>
          <a:xfrm xmlns:a="http://schemas.openxmlformats.org/drawingml/2006/main">
            <a:off x="5029200" y="2659912"/>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contentment</a:t>
            </a:r>
          </a:p>
        </p:txBody>
      </p:sp>
      <p:sp>
        <p:nvSpPr>
          <p:cNvPr id="456" name="Google Shape;456;p18">
            <a:extLst xmlns:a="http://schemas.openxmlformats.org/drawingml/2006/main">
              <a:ext uri="{FF2B5EF4-FFF2-40B4-BE49-F238E27FC236}">
                <a16:creationId xmlns:a16="http://schemas.microsoft.com/office/drawing/2014/main" id="{423B0847-A9B7-4FA3-A1EE-1496BB4189F6}"/>
              </a:ext>
            </a:extLst>
          </p:cNvPr>
          <p:cNvSpPr>
            <a:spLocks xmlns:a="http://schemas.openxmlformats.org/drawingml/2006/main" noGrp="1"/>
          </p:cNvSpPr>
          <p:nvPr/>
        </p:nvSpPr>
        <p:spPr>
          <a:xfrm xmlns:a="http://schemas.openxmlformats.org/drawingml/2006/main">
            <a:off x="5029200" y="3226840"/>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peace</a:t>
            </a:r>
          </a:p>
        </p:txBody>
      </p:sp>
      <p:sp>
        <p:nvSpPr>
          <p:cNvPr id="457" name="Google Shape;457;p18">
            <a:extLst xmlns:a="http://schemas.openxmlformats.org/drawingml/2006/main">
              <a:ext uri="{FF2B5EF4-FFF2-40B4-BE49-F238E27FC236}">
                <a16:creationId xmlns:a16="http://schemas.microsoft.com/office/drawing/2014/main" id="{C5C7BD53-143E-4687-91C3-C9872691A7D9}"/>
              </a:ext>
            </a:extLst>
          </p:cNvPr>
          <p:cNvSpPr>
            <a:spLocks xmlns:a="http://schemas.openxmlformats.org/drawingml/2006/main" noGrp="1"/>
          </p:cNvSpPr>
          <p:nvPr/>
        </p:nvSpPr>
        <p:spPr>
          <a:xfrm xmlns:a="http://schemas.openxmlformats.org/drawingml/2006/main">
            <a:off x="5029200" y="3793768"/>
            <a:ext cx="3200400" cy="13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00" b="0" i="1" u="none" cap="none">
                <a:solidFill>
                  <a:srgbClr val="9A6414"/>
                </a:solidFill>
                <a:latin typeface="Calibri"/>
                <a:ea typeface="Calibri"/>
                <a:cs typeface="Calibri"/>
              </a:rPr>
              <a:t>acted in alignment → happiness</a:t>
            </a:r>
          </a:p>
        </p:txBody>
      </p:sp>
      <p:cxnSp>
        <p:nvCxnSpPr>
          <p:cNvPr id="529" name="Google Shape;445;p18"/>
          <p:cNvCxnSpPr/>
          <p:nvPr/>
        </p:nvCxnSpPr>
        <p:spPr>
          <a:xfrm xmlns:a="http://schemas.openxmlformats.org/drawingml/2006/main">
            <a:off x="4718304" y="1737360"/>
            <a:ext cx="0" cy="2514600"/>
          </a:xfrm>
          <a:prstGeom xmlns:a="http://schemas.openxmlformats.org/drawingml/2006/main" prst="straightConnector1">
            <a:avLst/>
          </a:prstGeom>
          <a:ln xmlns:a="http://schemas.openxmlformats.org/drawingml/2006/main" w="22225" cap="flat">
            <a:solidFill>
              <a:srgbClr val="3B4A7A"/>
            </a:solidFill>
            <a:prstDash val="solid"/>
            <a:round/>
            <a:headEnd type="triangle" w="med" len="med"/>
            <a:tailEnd type="none" w="sm" len="sm"/>
          </a:ln>
        </p:spPr>
      </p:cxnSp>
      <p:sp>
        <p:nvSpPr>
          <p:cNvPr id="446" name="Google Shape;446;p18">
            <a:extLst xmlns:a="http://schemas.openxmlformats.org/drawingml/2006/main">
              <a:ext uri="{FF2B5EF4-FFF2-40B4-BE49-F238E27FC236}">
                <a16:creationId xmlns:a16="http://schemas.microsoft.com/office/drawing/2014/main" id="{6B44C758-EC70-4A2A-97D3-7B86D0A2FA77}"/>
              </a:ext>
            </a:extLst>
          </p:cNvPr>
          <p:cNvSpPr>
            <a:spLocks xmlns:a="http://schemas.openxmlformats.org/drawingml/2006/main" noGrp="1"/>
          </p:cNvSpPr>
          <p:nvPr/>
        </p:nvSpPr>
        <p:spPr>
          <a:xfrm xmlns:a="http://schemas.openxmlformats.org/drawingml/2006/main" rot="-5400000">
            <a:off x="3218688"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3B4A7A"/>
                </a:solidFill>
                <a:latin typeface="Calibri"/>
                <a:ea typeface="Calibri"/>
                <a:cs typeface="Calibri"/>
              </a:rPr>
              <a:t>reflection (inward) · knowing deepens</a:t>
            </a:r>
          </a:p>
        </p:txBody>
      </p:sp>
      <p:cxnSp>
        <p:nvCxnSpPr>
          <p:cNvPr id="531" name="Google Shape;447;p18"/>
          <p:cNvCxnSpPr/>
          <p:nvPr/>
        </p:nvCxnSpPr>
        <p:spPr>
          <a:xfrm xmlns:a="http://schemas.openxmlformats.org/drawingml/2006/main">
            <a:off x="8503920" y="1737360"/>
            <a:ext cx="0" cy="2514600"/>
          </a:xfrm>
          <a:prstGeom xmlns:a="http://schemas.openxmlformats.org/drawingml/2006/main" prst="straightConnector1">
            <a:avLst/>
          </a:prstGeom>
          <a:ln xmlns:a="http://schemas.openxmlformats.org/drawingml/2006/main" w="22225" cap="flat">
            <a:solidFill>
              <a:srgbClr val="9A6414"/>
            </a:solidFill>
            <a:prstDash val="solid"/>
            <a:round/>
            <a:headEnd type="none" w="sm" len="sm"/>
            <a:tailEnd type="triangle" w="med" len="med"/>
          </a:ln>
        </p:spPr>
      </p:cxnSp>
      <p:sp>
        <p:nvSpPr>
          <p:cNvPr id="448" name="Google Shape;448;p18">
            <a:extLst xmlns:a="http://schemas.openxmlformats.org/drawingml/2006/main">
              <a:ext uri="{FF2B5EF4-FFF2-40B4-BE49-F238E27FC236}">
                <a16:creationId xmlns:a16="http://schemas.microsoft.com/office/drawing/2014/main" id="{B58B41CB-21B3-4AF5-80AB-46A0B06BD451}"/>
              </a:ext>
            </a:extLst>
          </p:cNvPr>
          <p:cNvSpPr>
            <a:spLocks xmlns:a="http://schemas.openxmlformats.org/drawingml/2006/main" noGrp="1"/>
          </p:cNvSpPr>
          <p:nvPr/>
        </p:nvSpPr>
        <p:spPr>
          <a:xfrm xmlns:a="http://schemas.openxmlformats.org/drawingml/2006/main" rot="5400000">
            <a:off x="7315200" y="2852928"/>
            <a:ext cx="26517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ctr">
              <a:spcBef>
                <a:spcPts val="0"/>
              </a:spcBef>
              <a:spcAft>
                <a:spcPts val="0"/>
              </a:spcAft>
              <a:buNone/>
            </a:pPr>
            <a:r>
              <a:rPr sz="850" b="0" i="1" u="none" cap="none">
                <a:solidFill>
                  <a:srgbClr val="9A6414"/>
                </a:solidFill>
                <a:latin typeface="Calibri"/>
                <a:ea typeface="Calibri"/>
                <a:cs typeface="Calibri"/>
              </a:rPr>
              <a:t>projection (outward) · evidenced in conduct</a:t>
            </a:r>
          </a:p>
        </p:txBody>
      </p:sp>
      <p:sp>
        <p:nvSpPr>
          <p:cNvPr id="449" name="Google Shape;449;p18">
            <a:extLst xmlns:a="http://schemas.openxmlformats.org/drawingml/2006/main">
              <a:ext uri="{FF2B5EF4-FFF2-40B4-BE49-F238E27FC236}">
                <a16:creationId xmlns:a16="http://schemas.microsoft.com/office/drawing/2014/main" id="{DD863381-420E-49B6-B4C5-0F4491A4B9C3}"/>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The ladders meet at the top: coexistence itself, known and acted on in the core self, is felt as bliss — each lower pair, likewise, only when acted on, not merely known (§1.8, §1.13). MVD p. 11 · JV pp. 61, 120, 138 · MVD pp. 78, 101, 137</a:t>
            </a:r>
          </a:p>
        </p:txBody>
      </p:sp>
    </p:spTree>
    <p:extLst>
      <p:ext uri="{BB962C8B-B14F-4D97-AF65-F5344CB8AC3E}">
        <p14:creationId xmlns:p14="http://schemas.microsoft.com/office/powerpoint/2010/main" val="89581291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3" name="Google Shape;373;p16">
            <a:extLst xmlns:a="http://schemas.openxmlformats.org/drawingml/2006/main">
              <a:ext uri="{FF2B5EF4-FFF2-40B4-BE49-F238E27FC236}">
                <a16:creationId xmlns:a16="http://schemas.microsoft.com/office/drawing/2014/main" id="{07581D21-511B-4790-91C9-D90747F67FC9}"/>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4" name="Google Shape;374;p16">
            <a:extLst xmlns:a="http://schemas.openxmlformats.org/drawingml/2006/main">
              <a:ext uri="{FF2B5EF4-FFF2-40B4-BE49-F238E27FC236}">
                <a16:creationId xmlns:a16="http://schemas.microsoft.com/office/drawing/2014/main" id="{8E847718-D958-49AA-B3E7-98F2B43898D2}"/>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5" name="Google Shape;375;p16">
            <a:extLst xmlns:a="http://schemas.openxmlformats.org/drawingml/2006/main">
              <a:ext uri="{FF2B5EF4-FFF2-40B4-BE49-F238E27FC236}">
                <a16:creationId xmlns:a16="http://schemas.microsoft.com/office/drawing/2014/main" id="{7CFD9781-4DCA-4BEB-9313-9ECFFDBEC68C}"/>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76" name="Google Shape;376;p16">
            <a:extLst xmlns:a="http://schemas.openxmlformats.org/drawingml/2006/main">
              <a:ext uri="{FF2B5EF4-FFF2-40B4-BE49-F238E27FC236}">
                <a16:creationId xmlns:a16="http://schemas.microsoft.com/office/drawing/2014/main" id="{BA84033F-9FDD-4767-B014-140006D1DEC8}"/>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§§1.7–1.8, 1.10, 1.12, 1.15 · WHERE THE LADDER COMPLETES — OR STALLS</a:t>
            </a:r>
          </a:p>
        </p:txBody>
      </p:sp>
      <p:sp>
        <p:nvSpPr>
          <p:cNvPr id="377" name="Google Shape;377;p16">
            <a:extLst xmlns:a="http://schemas.openxmlformats.org/drawingml/2006/main">
              <a:ext uri="{FF2B5EF4-FFF2-40B4-BE49-F238E27FC236}">
                <a16:creationId xmlns:a16="http://schemas.microsoft.com/office/drawing/2014/main" id="{FF685332-26F8-4B79-8236-35E8714723B3}"/>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The Fork: What Makes Me Happy?</a:t>
            </a:r>
          </a:p>
        </p:txBody>
      </p:sp>
      <p:sp>
        <p:nvSpPr>
          <p:cNvPr id="378" name="Google Shape;378;p16">
            <a:extLst xmlns:a="http://schemas.openxmlformats.org/drawingml/2006/main">
              <a:ext uri="{FF2B5EF4-FFF2-40B4-BE49-F238E27FC236}">
                <a16:creationId xmlns:a16="http://schemas.microsoft.com/office/drawing/2014/main" id="{A94A97B3-ABEF-4204-9496-E7445669F06A}"/>
              </a:ext>
            </a:extLst>
          </p:cNvPr>
          <p:cNvSpPr>
            <a:spLocks xmlns:a="http://schemas.openxmlformats.org/drawingml/2006/main" noGrp="1"/>
          </p:cNvSpPr>
          <p:nvPr/>
        </p:nvSpPr>
        <p:spPr>
          <a:xfrm xmlns:a="http://schemas.openxmlformats.org/drawingml/2006/main">
            <a:off x="640080" y="1207008"/>
            <a:ext cx="795528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300" b="0" i="0" u="none" cap="none">
                <a:solidFill>
                  <a:srgbClr val="5A6377"/>
                </a:solidFill>
                <a:latin typeface="Calibri"/>
                <a:ea typeface="Calibri"/>
                <a:cs typeface="Calibri"/>
              </a:rPr>
              <a:t>Every </a:t>
            </a:r>
            <a:r>
              <a:rPr sz="1300" b="0" i="0" u="none" cap="none">
                <a:solidFill>
                  <a:srgbClr val="5A6377"/>
                </a:solidFill>
                <a:latin typeface="Calibri"/>
                <a:ea typeface="Calibri"/>
                <a:cs typeface="Calibri"/>
              </a:rPr>
              <a:t>jeevan</a:t>
            </a:r>
            <a:r>
              <a:rPr sz="1300" b="0" i="0" u="none" cap="none">
                <a:solidFill>
                  <a:srgbClr val="5A6377"/>
                </a:solidFill>
                <a:latin typeface="Calibri"/>
                <a:ea typeface="Calibri"/>
                <a:cs typeface="Calibri"/>
              </a:rPr>
              <a:t>, knowingly or not, is asking one question: what makes me happy? Its faculties — resolve, desire, thought, and hope — answer that question by pointing either toward the body or toward coexistence.</a:t>
            </a:r>
          </a:p>
        </p:txBody>
      </p:sp>
      <p:sp>
        <p:nvSpPr>
          <p:cNvPr id="379" name="Google Shape;379;p16">
            <a:extLst xmlns:a="http://schemas.openxmlformats.org/drawingml/2006/main">
              <a:ext uri="{FF2B5EF4-FFF2-40B4-BE49-F238E27FC236}">
                <a16:creationId xmlns:a16="http://schemas.microsoft.com/office/drawing/2014/main" id="{DFC0D836-170F-4421-9FA1-2F712032196C}"/>
              </a:ext>
            </a:extLst>
          </p:cNvPr>
          <p:cNvSpPr>
            <a:spLocks xmlns:a="http://schemas.openxmlformats.org/drawingml/2006/main" noGrp="1"/>
          </p:cNvSpPr>
          <p:nvPr/>
        </p:nvSpPr>
        <p:spPr>
          <a:xfrm xmlns:a="http://schemas.openxmlformats.org/drawingml/2006/main">
            <a:off x="640080" y="1874520"/>
            <a:ext cx="3794760" cy="1170432"/>
          </a:xfrm>
          <a:prstGeom xmlns:a="http://schemas.openxmlformats.org/drawingml/2006/main" prst="roundRect">
            <a:avLst>
              <a:gd name="adj" fmla="val 7031"/>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0" name="Google Shape;380;p16">
            <a:extLst xmlns:a="http://schemas.openxmlformats.org/drawingml/2006/main">
              <a:ext uri="{FF2B5EF4-FFF2-40B4-BE49-F238E27FC236}">
                <a16:creationId xmlns:a16="http://schemas.microsoft.com/office/drawing/2014/main" id="{82CAD944-C0A1-4B77-ABF5-82128BDE6928}"/>
              </a:ext>
            </a:extLst>
          </p:cNvPr>
          <p:cNvSpPr>
            <a:spLocks xmlns:a="http://schemas.openxmlformats.org/drawingml/2006/main" noGrp="1"/>
          </p:cNvSpPr>
          <p:nvPr/>
        </p:nvSpPr>
        <p:spPr>
          <a:xfrm xmlns:a="http://schemas.openxmlformats.org/drawingml/2006/main">
            <a:off x="84124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9A6414"/>
                </a:solidFill>
                <a:latin typeface="Cambria"/>
                <a:ea typeface="Cambria"/>
                <a:cs typeface="Cambria"/>
              </a:rPr>
              <a:t>Delusion</a:t>
            </a:r>
          </a:p>
        </p:txBody>
      </p:sp>
      <p:sp>
        <p:nvSpPr>
          <p:cNvPr id="381" name="Google Shape;381;p16">
            <a:extLst xmlns:a="http://schemas.openxmlformats.org/drawingml/2006/main">
              <a:ext uri="{FF2B5EF4-FFF2-40B4-BE49-F238E27FC236}">
                <a16:creationId xmlns:a16="http://schemas.microsoft.com/office/drawing/2014/main" id="{31EF2D0D-4591-45F1-9A29-12B8369EBEE7}"/>
              </a:ext>
            </a:extLst>
          </p:cNvPr>
          <p:cNvSpPr>
            <a:spLocks xmlns:a="http://schemas.openxmlformats.org/drawingml/2006/main" noGrp="1"/>
          </p:cNvSpPr>
          <p:nvPr/>
        </p:nvSpPr>
        <p:spPr>
          <a:xfrm xmlns:a="http://schemas.openxmlformats.org/drawingml/2006/main">
            <a:off x="84124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identifies as the body — resolve, desire, thought, and hope pull toward the body — accumulation, comfort, and safety</a:t>
            </a:r>
          </a:p>
        </p:txBody>
      </p:sp>
      <p:sp>
        <p:nvSpPr>
          <p:cNvPr id="382" name="Google Shape;382;p16">
            <a:extLst xmlns:a="http://schemas.openxmlformats.org/drawingml/2006/main">
              <a:ext uri="{FF2B5EF4-FFF2-40B4-BE49-F238E27FC236}">
                <a16:creationId xmlns:a16="http://schemas.microsoft.com/office/drawing/2014/main" id="{3E21E7A9-BB7E-46F7-9B1C-98F8677948A5}"/>
              </a:ext>
            </a:extLst>
          </p:cNvPr>
          <p:cNvSpPr>
            <a:spLocks xmlns:a="http://schemas.openxmlformats.org/drawingml/2006/main" noGrp="1"/>
          </p:cNvSpPr>
          <p:nvPr/>
        </p:nvSpPr>
        <p:spPr>
          <a:xfrm xmlns:a="http://schemas.openxmlformats.org/drawingml/2006/main">
            <a:off x="4709160" y="1874520"/>
            <a:ext cx="3794760" cy="1170432"/>
          </a:xfrm>
          <a:prstGeom xmlns:a="http://schemas.openxmlformats.org/drawingml/2006/main" prst="roundRect">
            <a:avLst>
              <a:gd name="adj" fmla="val 7031"/>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3" name="Google Shape;383;p16">
            <a:extLst xmlns:a="http://schemas.openxmlformats.org/drawingml/2006/main">
              <a:ext uri="{FF2B5EF4-FFF2-40B4-BE49-F238E27FC236}">
                <a16:creationId xmlns:a16="http://schemas.microsoft.com/office/drawing/2014/main" id="{CF1A96A7-621E-47A6-80A9-081CEF352B63}"/>
              </a:ext>
            </a:extLst>
          </p:cNvPr>
          <p:cNvSpPr>
            <a:spLocks xmlns:a="http://schemas.openxmlformats.org/drawingml/2006/main" noGrp="1"/>
          </p:cNvSpPr>
          <p:nvPr/>
        </p:nvSpPr>
        <p:spPr>
          <a:xfrm xmlns:a="http://schemas.openxmlformats.org/drawingml/2006/main">
            <a:off x="4910328" y="1993392"/>
            <a:ext cx="338328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400" b="1" i="0" u="none" cap="none">
                <a:solidFill>
                  <a:srgbClr val="3B4A7A"/>
                </a:solidFill>
                <a:latin typeface="Cambria"/>
                <a:ea typeface="Cambria"/>
                <a:cs typeface="Cambria"/>
              </a:rPr>
              <a:t>Awakening</a:t>
            </a:r>
          </a:p>
        </p:txBody>
      </p:sp>
      <p:sp>
        <p:nvSpPr>
          <p:cNvPr id="384" name="Google Shape;384;p16">
            <a:extLst xmlns:a="http://schemas.openxmlformats.org/drawingml/2006/main">
              <a:ext uri="{FF2B5EF4-FFF2-40B4-BE49-F238E27FC236}">
                <a16:creationId xmlns:a16="http://schemas.microsoft.com/office/drawing/2014/main" id="{D5D8B566-06C7-4D2E-9500-8C90671D8286}"/>
              </a:ext>
            </a:extLst>
          </p:cNvPr>
          <p:cNvSpPr>
            <a:spLocks xmlns:a="http://schemas.openxmlformats.org/drawingml/2006/main" noGrp="1"/>
          </p:cNvSpPr>
          <p:nvPr/>
        </p:nvSpPr>
        <p:spPr>
          <a:xfrm xmlns:a="http://schemas.openxmlformats.org/drawingml/2006/main">
            <a:off x="4910328" y="2286000"/>
            <a:ext cx="342900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0" u="none" cap="none">
                <a:solidFill>
                  <a:srgbClr val="5A6377"/>
                </a:solidFill>
                <a:latin typeface="Calibri"/>
                <a:ea typeface="Calibri"/>
                <a:cs typeface="Calibri"/>
              </a:rPr>
              <a:t>jeevan knows its true nature and coexistence — resolve, desire, thought, and hope align around the core self — undivided society, universal orderliness</a:t>
            </a:r>
          </a:p>
        </p:txBody>
      </p:sp>
      <p:sp>
        <p:nvSpPr>
          <p:cNvPr id="385" name="Google Shape;385;p16">
            <a:extLst xmlns:a="http://schemas.openxmlformats.org/drawingml/2006/main">
              <a:ext uri="{FF2B5EF4-FFF2-40B4-BE49-F238E27FC236}">
                <a16:creationId xmlns:a16="http://schemas.microsoft.com/office/drawing/2014/main" id="{64B63632-C860-427D-A076-5E2670107C55}"/>
              </a:ext>
            </a:extLst>
          </p:cNvPr>
          <p:cNvSpPr>
            <a:spLocks xmlns:a="http://schemas.openxmlformats.org/drawingml/2006/main" noGrp="1"/>
          </p:cNvSpPr>
          <p:nvPr/>
        </p:nvSpPr>
        <p:spPr>
          <a:xfrm xmlns:a="http://schemas.openxmlformats.org/drawingml/2006/main">
            <a:off x="640080" y="3246120"/>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libri"/>
                <a:ea typeface="Calibri"/>
                <a:cs typeface="Calibri"/>
              </a:rPr>
              <a:t>Same faculties, opposite direction.  </a:t>
            </a:r>
            <a:r>
              <a:rPr sz="1200" b="0" i="0" u="none" cap="none">
                <a:solidFill>
                  <a:srgbClr val="5A6377"/>
                </a:solidFill>
                <a:latin typeface="Calibri"/>
                <a:ea typeface="Calibri"/>
                <a:cs typeface="Calibri"/>
              </a:rPr>
              <a:t>The drive that builds the epistemic ladder (§1.7) runs toward the body in delusion and toward coexistence in awakening — the same faculties, run two ways.</a:t>
            </a:r>
          </a:p>
        </p:txBody>
      </p:sp>
      <p:sp>
        <p:nvSpPr>
          <p:cNvPr id="386" name="Google Shape;386;p16">
            <a:extLst xmlns:a="http://schemas.openxmlformats.org/drawingml/2006/main">
              <a:ext uri="{FF2B5EF4-FFF2-40B4-BE49-F238E27FC236}">
                <a16:creationId xmlns:a16="http://schemas.microsoft.com/office/drawing/2014/main" id="{43803F01-AD79-4037-B542-0CC5AC814A76}"/>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87" name="Google Shape;387;p16">
            <a:extLst xmlns:a="http://schemas.openxmlformats.org/drawingml/2006/main">
              <a:ext uri="{FF2B5EF4-FFF2-40B4-BE49-F238E27FC236}">
                <a16:creationId xmlns:a16="http://schemas.microsoft.com/office/drawing/2014/main" id="{44D7C5EC-8B49-47EE-A3C6-D6FB60F219A1}"/>
              </a:ext>
            </a:extLst>
          </p:cNvPr>
          <p:cNvSpPr>
            <a:spLocks xmlns:a="http://schemas.openxmlformats.org/drawingml/2006/main" noGrp="1"/>
          </p:cNvSpPr>
          <p:nvPr/>
        </p:nvSpPr>
        <p:spPr>
          <a:xfrm xmlns:a="http://schemas.openxmlformats.org/drawingml/2006/main">
            <a:off x="64008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Resolution</a:t>
            </a:r>
          </a:p>
        </p:txBody>
      </p:sp>
      <p:sp>
        <p:nvSpPr>
          <p:cNvPr id="388" name="Google Shape;388;p16">
            <a:extLst xmlns:a="http://schemas.openxmlformats.org/drawingml/2006/main">
              <a:ext uri="{FF2B5EF4-FFF2-40B4-BE49-F238E27FC236}">
                <a16:creationId xmlns:a16="http://schemas.microsoft.com/office/drawing/2014/main" id="{B018E786-2ABF-4703-8EF8-89DC0686BF66}"/>
              </a:ext>
            </a:extLst>
          </p:cNvPr>
          <p:cNvSpPr>
            <a:spLocks xmlns:a="http://schemas.openxmlformats.org/drawingml/2006/main" noGrp="1"/>
          </p:cNvSpPr>
          <p:nvPr/>
        </p:nvSpPr>
        <p:spPr>
          <a:xfrm xmlns:a="http://schemas.openxmlformats.org/drawingml/2006/main">
            <a:off x="233172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89" name="Google Shape;389;p16">
            <a:extLst xmlns:a="http://schemas.openxmlformats.org/drawingml/2006/main">
              <a:ext uri="{FF2B5EF4-FFF2-40B4-BE49-F238E27FC236}">
                <a16:creationId xmlns:a16="http://schemas.microsoft.com/office/drawing/2014/main" id="{59621292-E103-427A-ACBB-B76DE51ED83D}"/>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0" name="Google Shape;390;p16">
            <a:extLst xmlns:a="http://schemas.openxmlformats.org/drawingml/2006/main">
              <a:ext uri="{FF2B5EF4-FFF2-40B4-BE49-F238E27FC236}">
                <a16:creationId xmlns:a16="http://schemas.microsoft.com/office/drawing/2014/main" id="{33B307C8-11AE-485F-B9D0-04914905A78B}"/>
              </a:ext>
            </a:extLst>
          </p:cNvPr>
          <p:cNvSpPr>
            <a:spLocks xmlns:a="http://schemas.openxmlformats.org/drawingml/2006/main" noGrp="1"/>
          </p:cNvSpPr>
          <p:nvPr/>
        </p:nvSpPr>
        <p:spPr>
          <a:xfrm xmlns:a="http://schemas.openxmlformats.org/drawingml/2006/main">
            <a:off x="265176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Prosperity</a:t>
            </a:r>
          </a:p>
        </p:txBody>
      </p:sp>
      <p:sp>
        <p:nvSpPr>
          <p:cNvPr id="391" name="Google Shape;391;p16">
            <a:extLst xmlns:a="http://schemas.openxmlformats.org/drawingml/2006/main">
              <a:ext uri="{FF2B5EF4-FFF2-40B4-BE49-F238E27FC236}">
                <a16:creationId xmlns:a16="http://schemas.microsoft.com/office/drawing/2014/main" id="{F846937F-3004-4CED-8A78-D7931D0532DD}"/>
              </a:ext>
            </a:extLst>
          </p:cNvPr>
          <p:cNvSpPr>
            <a:spLocks xmlns:a="http://schemas.openxmlformats.org/drawingml/2006/main" noGrp="1"/>
          </p:cNvSpPr>
          <p:nvPr/>
        </p:nvSpPr>
        <p:spPr>
          <a:xfrm xmlns:a="http://schemas.openxmlformats.org/drawingml/2006/main">
            <a:off x="434340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2" name="Google Shape;392;p16">
            <a:extLst xmlns:a="http://schemas.openxmlformats.org/drawingml/2006/main">
              <a:ext uri="{FF2B5EF4-FFF2-40B4-BE49-F238E27FC236}">
                <a16:creationId xmlns:a16="http://schemas.microsoft.com/office/drawing/2014/main" id="{E1E865D9-FE0D-45CE-A1BD-4FBAF882CD1F}"/>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3" name="Google Shape;393;p16">
            <a:extLst xmlns:a="http://schemas.openxmlformats.org/drawingml/2006/main">
              <a:ext uri="{FF2B5EF4-FFF2-40B4-BE49-F238E27FC236}">
                <a16:creationId xmlns:a16="http://schemas.microsoft.com/office/drawing/2014/main" id="{1998CB01-B7AE-44FB-B5CC-A49E10AF4615}"/>
              </a:ext>
            </a:extLst>
          </p:cNvPr>
          <p:cNvSpPr>
            <a:spLocks xmlns:a="http://schemas.openxmlformats.org/drawingml/2006/main" noGrp="1"/>
          </p:cNvSpPr>
          <p:nvPr/>
        </p:nvSpPr>
        <p:spPr>
          <a:xfrm xmlns:a="http://schemas.openxmlformats.org/drawingml/2006/main">
            <a:off x="466344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Fearlessness</a:t>
            </a:r>
          </a:p>
        </p:txBody>
      </p:sp>
      <p:sp>
        <p:nvSpPr>
          <p:cNvPr id="394" name="Google Shape;394;p16">
            <a:extLst xmlns:a="http://schemas.openxmlformats.org/drawingml/2006/main">
              <a:ext uri="{FF2B5EF4-FFF2-40B4-BE49-F238E27FC236}">
                <a16:creationId xmlns:a16="http://schemas.microsoft.com/office/drawing/2014/main" id="{CB0DE84D-31EF-4F8D-B766-17ECF41955A0}"/>
              </a:ext>
            </a:extLst>
          </p:cNvPr>
          <p:cNvSpPr>
            <a:spLocks xmlns:a="http://schemas.openxmlformats.org/drawingml/2006/main" noGrp="1"/>
          </p:cNvSpPr>
          <p:nvPr/>
        </p:nvSpPr>
        <p:spPr>
          <a:xfrm xmlns:a="http://schemas.openxmlformats.org/drawingml/2006/main">
            <a:off x="6355080" y="3977640"/>
            <a:ext cx="3200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600" b="1" i="0" u="none" cap="none">
                <a:solidFill>
                  <a:srgbClr val="C9821E"/>
                </a:solidFill>
                <a:latin typeface="Calibri"/>
                <a:ea typeface="Calibri"/>
                <a:cs typeface="Calibri"/>
              </a:rPr>
              <a:t>→</a:t>
            </a:r>
          </a:p>
        </p:txBody>
      </p:sp>
      <p:sp>
        <p:nvSpPr>
          <p:cNvPr id="395" name="Google Shape;395;p16">
            <a:extLst xmlns:a="http://schemas.openxmlformats.org/drawingml/2006/main">
              <a:ext uri="{FF2B5EF4-FFF2-40B4-BE49-F238E27FC236}">
                <a16:creationId xmlns:a16="http://schemas.microsoft.com/office/drawing/2014/main" id="{3BCEB229-5C2D-420F-BBD6-927C6E2B3620}"/>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oundRect">
            <a:avLst>
              <a:gd name="adj" fmla="val 16364"/>
            </a:avLst>
          </a:prstGeom>
          <a:solidFill xmlns:a="http://schemas.openxmlformats.org/drawingml/2006/main">
            <a:srgbClr val="1E2447"/>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396" name="Google Shape;396;p16">
            <a:extLst xmlns:a="http://schemas.openxmlformats.org/drawingml/2006/main">
              <a:ext uri="{FF2B5EF4-FFF2-40B4-BE49-F238E27FC236}">
                <a16:creationId xmlns:a16="http://schemas.microsoft.com/office/drawing/2014/main" id="{7AA4D70B-6B5E-4ADA-8BFC-8C5D46324728}"/>
              </a:ext>
            </a:extLst>
          </p:cNvPr>
          <p:cNvSpPr>
            <a:spLocks xmlns:a="http://schemas.openxmlformats.org/drawingml/2006/main" noGrp="1"/>
          </p:cNvSpPr>
          <p:nvPr/>
        </p:nvSpPr>
        <p:spPr>
          <a:xfrm xmlns:a="http://schemas.openxmlformats.org/drawingml/2006/main">
            <a:off x="6675120" y="3977640"/>
            <a:ext cx="169164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p xmlns:a="http://schemas.openxmlformats.org/drawingml/2006/main">
            <a:pPr marL="0" indent="0" algn="ctr">
              <a:spcBef>
                <a:spcPts val="0"/>
              </a:spcBef>
              <a:spcAft>
                <a:spcPts val="0"/>
              </a:spcAft>
              <a:buNone/>
            </a:pPr>
            <a:r>
              <a:rPr sz="1250" b="1" i="0" u="none" cap="none">
                <a:solidFill>
                  <a:srgbClr val="FFFFFF"/>
                </a:solidFill>
                <a:latin typeface="Calibri"/>
                <a:ea typeface="Calibri"/>
                <a:cs typeface="Calibri"/>
              </a:rPr>
              <a:t>Coexistence</a:t>
            </a:r>
          </a:p>
        </p:txBody>
      </p:sp>
      <p:sp>
        <p:nvSpPr>
          <p:cNvPr id="397" name="Google Shape;397;p16">
            <a:extLst xmlns:a="http://schemas.openxmlformats.org/drawingml/2006/main">
              <a:ext uri="{FF2B5EF4-FFF2-40B4-BE49-F238E27FC236}">
                <a16:creationId xmlns:a16="http://schemas.microsoft.com/office/drawing/2014/main" id="{F9E1AF2F-A961-4897-A2B8-3FA63CEBF19D}"/>
              </a:ext>
            </a:extLst>
          </p:cNvPr>
          <p:cNvSpPr>
            <a:spLocks xmlns:a="http://schemas.openxmlformats.org/drawingml/2006/main" noGrp="1"/>
          </p:cNvSpPr>
          <p:nvPr/>
        </p:nvSpPr>
        <p:spPr>
          <a:xfrm xmlns:a="http://schemas.openxmlformats.org/drawingml/2006/main">
            <a:off x="640080" y="4553712"/>
            <a:ext cx="795528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00" b="0" i="1" u="none" cap="none">
                <a:solidFill>
                  <a:srgbClr val="5A6377"/>
                </a:solidFill>
                <a:latin typeface="Calibri"/>
                <a:ea typeface="Calibri"/>
                <a:cs typeface="Calibri"/>
              </a:rPr>
              <a:t>The same fork resolved in the individual is evidenced across a human tradition — resolution, prosperity, fearlessness, and coexistence, sustained as tradition (§1.15).</a:t>
            </a:r>
          </a:p>
        </p:txBody>
      </p:sp>
      <p:sp>
        <p:nvSpPr>
          <p:cNvPr id="398" name="Google Shape;398;p16">
            <a:extLst xmlns:a="http://schemas.openxmlformats.org/drawingml/2006/main">
              <a:ext uri="{FF2B5EF4-FFF2-40B4-BE49-F238E27FC236}">
                <a16:creationId xmlns:a16="http://schemas.microsoft.com/office/drawing/2014/main" id="{8E42611A-F97C-40CD-AAA5-421BA477B91E}"/>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JV p. 93 (root of delusion: body mistaken for jeevan)  ·  MVD Ch. 17 (ego → stubbornness → delusion)  ·  JV p. 61; MVD p. 13 (§1.15)</a:t>
            </a:r>
          </a:p>
        </p:txBody>
      </p:sp>
    </p:spTree>
    <p:extLst>
      <p:ext uri="{BB962C8B-B14F-4D97-AF65-F5344CB8AC3E}">
        <p14:creationId xmlns:p14="http://schemas.microsoft.com/office/powerpoint/2010/main" val="443955683"/>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55" name="Google Shape;455;p19">
            <a:extLst xmlns:a="http://schemas.openxmlformats.org/drawingml/2006/main">
              <a:ext uri="{FF2B5EF4-FFF2-40B4-BE49-F238E27FC236}">
                <a16:creationId xmlns:a16="http://schemas.microsoft.com/office/drawing/2014/main" id="{3E44556F-FFAA-4364-9956-D48D6721E207}"/>
              </a:ext>
            </a:extLst>
          </p:cNvPr>
          <p:cNvSpPr>
            <a:spLocks xmlns:a="http://schemas.openxmlformats.org/drawingml/2006/main" noGrp="1"/>
          </p:cNvSpPr>
          <p:nvPr/>
        </p:nvSpPr>
        <p:spPr>
          <a:xfrm xmlns:a="http://schemas.openxmlformats.org/drawingml/2006/main">
            <a:off x="457200" y="384048"/>
            <a:ext cx="365760" cy="365760"/>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6" name="Google Shape;456;p19">
            <a:extLst xmlns:a="http://schemas.openxmlformats.org/drawingml/2006/main">
              <a:ext uri="{FF2B5EF4-FFF2-40B4-BE49-F238E27FC236}">
                <a16:creationId xmlns:a16="http://schemas.microsoft.com/office/drawing/2014/main" id="{E0CBC35E-C5A5-4B16-B492-57D972C51BD7}"/>
              </a:ext>
            </a:extLst>
          </p:cNvPr>
          <p:cNvSpPr>
            <a:spLocks xmlns:a="http://schemas.openxmlformats.org/drawingml/2006/main" noGrp="1"/>
          </p:cNvSpPr>
          <p:nvPr/>
        </p:nvSpPr>
        <p:spPr>
          <a:xfrm xmlns:a="http://schemas.openxmlformats.org/drawingml/2006/main">
            <a:off x="530352" y="457200"/>
            <a:ext cx="219456" cy="219456"/>
          </a:xfrm>
          <a:prstGeom xmlns:a="http://schemas.openxmlformats.org/drawingml/2006/main" prst="ellipse">
            <a:avLst/>
          </a:prstGeom>
          <a:noFill xmlns:a="http://schemas.openxmlformats.org/drawingml/2006/main"/>
          <a:ln xmlns:a="http://schemas.openxmlformats.org/drawingml/2006/main" w="15875" cmpd="sng">
            <a:solidFill>
              <a:srgbClr val="3B4A7A"/>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7" name="Google Shape;457;p19">
            <a:extLst xmlns:a="http://schemas.openxmlformats.org/drawingml/2006/main">
              <a:ext uri="{FF2B5EF4-FFF2-40B4-BE49-F238E27FC236}">
                <a16:creationId xmlns:a16="http://schemas.microsoft.com/office/drawing/2014/main" id="{AF54C0B0-85E4-49E9-83A7-627953121360}"/>
              </a:ext>
            </a:extLst>
          </p:cNvPr>
          <p:cNvSpPr>
            <a:spLocks xmlns:a="http://schemas.openxmlformats.org/drawingml/2006/main" noGrp="1"/>
          </p:cNvSpPr>
          <p:nvPr/>
        </p:nvSpPr>
        <p:spPr>
          <a:xfrm xmlns:a="http://schemas.openxmlformats.org/drawingml/2006/main">
            <a:off x="592531" y="519379"/>
            <a:ext cx="95098" cy="9509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58" name="Google Shape;458;p19">
            <a:extLst xmlns:a="http://schemas.openxmlformats.org/drawingml/2006/main">
              <a:ext uri="{FF2B5EF4-FFF2-40B4-BE49-F238E27FC236}">
                <a16:creationId xmlns:a16="http://schemas.microsoft.com/office/drawing/2014/main" id="{813CFFAE-CAA3-4077-9EC7-EA57CEAA6AA3}"/>
              </a:ext>
            </a:extLst>
          </p:cNvPr>
          <p:cNvSpPr>
            <a:spLocks xmlns:a="http://schemas.openxmlformats.org/drawingml/2006/main" noGrp="1"/>
          </p:cNvSpPr>
          <p:nvPr/>
        </p:nvSpPr>
        <p:spPr>
          <a:xfrm xmlns:a="http://schemas.openxmlformats.org/drawingml/2006/main">
            <a:off x="960120" y="256032"/>
            <a:ext cx="7680960" cy="237744"/>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9A6414"/>
                </a:solidFill>
                <a:latin typeface="Calibri"/>
                <a:ea typeface="Calibri"/>
                <a:cs typeface="Calibri"/>
              </a:rPr>
              <a:t>§1.13 · WHERE THE DRIVE TERMINATES</a:t>
            </a:r>
          </a:p>
        </p:txBody>
      </p:sp>
      <p:sp>
        <p:nvSpPr>
          <p:cNvPr id="459" name="Google Shape;459;p19">
            <a:extLst xmlns:a="http://schemas.openxmlformats.org/drawingml/2006/main">
              <a:ext uri="{FF2B5EF4-FFF2-40B4-BE49-F238E27FC236}">
                <a16:creationId xmlns:a16="http://schemas.microsoft.com/office/drawing/2014/main" id="{2FB1F990-D58B-46C0-8D32-E6CFC49EA36A}"/>
              </a:ext>
            </a:extLst>
          </p:cNvPr>
          <p:cNvSpPr>
            <a:spLocks xmlns:a="http://schemas.openxmlformats.org/drawingml/2006/main" noGrp="1"/>
          </p:cNvSpPr>
          <p:nvPr/>
        </p:nvSpPr>
        <p:spPr>
          <a:xfrm xmlns:a="http://schemas.openxmlformats.org/drawingml/2006/main">
            <a:off x="960120" y="457200"/>
            <a:ext cx="7726680" cy="56692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000" b="1" i="0" u="none" cap="none">
                <a:solidFill>
                  <a:srgbClr val="1E2447"/>
                </a:solidFill>
                <a:latin typeface="Cambria"/>
                <a:ea typeface="Cambria"/>
                <a:cs typeface="Cambria"/>
              </a:rPr>
              <a:t>Realisation in Coexistence</a:t>
            </a:r>
          </a:p>
        </p:txBody>
      </p:sp>
      <p:sp>
        <p:nvSpPr>
          <p:cNvPr id="460" name="Google Shape;460;p19">
            <a:extLst xmlns:a="http://schemas.openxmlformats.org/drawingml/2006/main">
              <a:ext uri="{FF2B5EF4-FFF2-40B4-BE49-F238E27FC236}">
                <a16:creationId xmlns:a16="http://schemas.microsoft.com/office/drawing/2014/main" id="{6EE567CB-C287-48F8-9DDE-9E207640CCD8}"/>
              </a:ext>
            </a:extLst>
          </p:cNvPr>
          <p:cNvSpPr>
            <a:spLocks xmlns:a="http://schemas.openxmlformats.org/drawingml/2006/main" noGrp="1"/>
          </p:cNvSpPr>
          <p:nvPr/>
        </p:nvSpPr>
        <p:spPr>
          <a:xfrm xmlns:a="http://schemas.openxmlformats.org/drawingml/2006/main">
            <a:off x="640080" y="1207008"/>
            <a:ext cx="7955280" cy="5029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0" i="0" u="none" cap="none">
                <a:solidFill>
                  <a:srgbClr val="5A6377"/>
                </a:solidFill>
                <a:latin typeface="Calibri"/>
                <a:ea typeface="Calibri"/>
                <a:cs typeface="Calibri"/>
              </a:rPr>
              <a:t>The drive comes to rest when relationships across nature are fulfilled and made evident in coexistence — not because Omnipotence becomes a knower, but because awakened jeevan realises and evidences the coexistence in which it has always existed. Recognising and fulfilling become its living proof.</a:t>
            </a:r>
          </a:p>
        </p:txBody>
      </p:sp>
      <p:sp>
        <p:nvSpPr>
          <p:cNvPr id="461" name="Google Shape;461;p19">
            <a:extLst xmlns:a="http://schemas.openxmlformats.org/drawingml/2006/main">
              <a:ext uri="{FF2B5EF4-FFF2-40B4-BE49-F238E27FC236}">
                <a16:creationId xmlns:a16="http://schemas.microsoft.com/office/drawing/2014/main" id="{F107F107-EDBD-4B52-A84D-04C7F5B570EF}"/>
              </a:ext>
            </a:extLst>
          </p:cNvPr>
          <p:cNvSpPr>
            <a:spLocks xmlns:a="http://schemas.openxmlformats.org/drawingml/2006/main" noGrp="1"/>
          </p:cNvSpPr>
          <p:nvPr/>
        </p:nvSpPr>
        <p:spPr>
          <a:xfrm xmlns:a="http://schemas.openxmlformats.org/drawingml/2006/main">
            <a:off x="64008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2" name="Google Shape;462;p19">
            <a:extLst xmlns:a="http://schemas.openxmlformats.org/drawingml/2006/main">
              <a:ext uri="{FF2B5EF4-FFF2-40B4-BE49-F238E27FC236}">
                <a16:creationId xmlns:a16="http://schemas.microsoft.com/office/drawing/2014/main" id="{6AA0518B-C5E5-42E8-BE2D-A29138460050}"/>
              </a:ext>
            </a:extLst>
          </p:cNvPr>
          <p:cNvSpPr>
            <a:spLocks xmlns:a="http://schemas.openxmlformats.org/drawingml/2006/main" noGrp="1"/>
          </p:cNvSpPr>
          <p:nvPr/>
        </p:nvSpPr>
        <p:spPr>
          <a:xfrm xmlns:a="http://schemas.openxmlformats.org/drawingml/2006/main">
            <a:off x="84124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Realisation is bliss</a:t>
            </a:r>
          </a:p>
        </p:txBody>
      </p:sp>
      <p:sp>
        <p:nvSpPr>
          <p:cNvPr id="463" name="Google Shape;463;p19">
            <a:extLst xmlns:a="http://schemas.openxmlformats.org/drawingml/2006/main">
              <a:ext uri="{FF2B5EF4-FFF2-40B4-BE49-F238E27FC236}">
                <a16:creationId xmlns:a16="http://schemas.microsoft.com/office/drawing/2014/main" id="{63E107EF-D15F-4C4D-962F-F24AE958FBA5}"/>
              </a:ext>
            </a:extLst>
          </p:cNvPr>
          <p:cNvSpPr>
            <a:spLocks xmlns:a="http://schemas.openxmlformats.org/drawingml/2006/main" noGrp="1"/>
          </p:cNvSpPr>
          <p:nvPr/>
        </p:nvSpPr>
        <p:spPr>
          <a:xfrm xmlns:a="http://schemas.openxmlformats.org/drawingml/2006/main">
            <a:off x="84124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“Truth itself is abundance (coexistence), realisation of abundance itself is bliss, bliss itself is jeevan.” And it is knowledge itself: what is realised is the ground the unit was always soaked in.</a:t>
            </a:r>
          </a:p>
        </p:txBody>
      </p:sp>
      <p:sp>
        <p:nvSpPr>
          <p:cNvPr id="464" name="Google Shape;464;p19">
            <a:extLst xmlns:a="http://schemas.openxmlformats.org/drawingml/2006/main">
              <a:ext uri="{FF2B5EF4-FFF2-40B4-BE49-F238E27FC236}">
                <a16:creationId xmlns:a16="http://schemas.microsoft.com/office/drawing/2014/main" id="{9B7DE713-59AA-4F77-BCF0-01F9F20D9DC6}"/>
              </a:ext>
            </a:extLst>
          </p:cNvPr>
          <p:cNvSpPr>
            <a:spLocks xmlns:a="http://schemas.openxmlformats.org/drawingml/2006/main" noGrp="1"/>
          </p:cNvSpPr>
          <p:nvPr/>
        </p:nvSpPr>
        <p:spPr>
          <a:xfrm xmlns:a="http://schemas.openxmlformats.org/drawingml/2006/main">
            <a:off x="4709160" y="182880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5" name="Google Shape;465;p19">
            <a:extLst xmlns:a="http://schemas.openxmlformats.org/drawingml/2006/main">
              <a:ext uri="{FF2B5EF4-FFF2-40B4-BE49-F238E27FC236}">
                <a16:creationId xmlns:a16="http://schemas.microsoft.com/office/drawing/2014/main" id="{6669B3E0-2682-41FD-8EA3-7BED5ABE11C6}"/>
              </a:ext>
            </a:extLst>
          </p:cNvPr>
          <p:cNvSpPr>
            <a:spLocks xmlns:a="http://schemas.openxmlformats.org/drawingml/2006/main" noGrp="1"/>
          </p:cNvSpPr>
          <p:nvPr/>
        </p:nvSpPr>
        <p:spPr>
          <a:xfrm xmlns:a="http://schemas.openxmlformats.org/drawingml/2006/main">
            <a:off x="4910328" y="194767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Knowledge — in projection</a:t>
            </a:r>
          </a:p>
        </p:txBody>
      </p:sp>
      <p:sp>
        <p:nvSpPr>
          <p:cNvPr id="466" name="Google Shape;466;p19">
            <a:extLst xmlns:a="http://schemas.openxmlformats.org/drawingml/2006/main">
              <a:ext uri="{FF2B5EF4-FFF2-40B4-BE49-F238E27FC236}">
                <a16:creationId xmlns:a16="http://schemas.microsoft.com/office/drawing/2014/main" id="{DD9A6462-D829-4777-9251-89B10AB3062A}"/>
              </a:ext>
            </a:extLst>
          </p:cNvPr>
          <p:cNvSpPr>
            <a:spLocks xmlns:a="http://schemas.openxmlformats.org/drawingml/2006/main" noGrp="1"/>
          </p:cNvSpPr>
          <p:nvPr/>
        </p:nvSpPr>
        <p:spPr>
          <a:xfrm xmlns:a="http://schemas.openxmlformats.org/drawingml/2006/main">
            <a:off x="4910328" y="228600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Realisation projected outward is authenticity — knowledge, wisdom, and science unfolding into conduct.</a:t>
            </a:r>
          </a:p>
        </p:txBody>
      </p:sp>
      <p:sp>
        <p:nvSpPr>
          <p:cNvPr id="467" name="Google Shape;467;p19">
            <a:extLst xmlns:a="http://schemas.openxmlformats.org/drawingml/2006/main">
              <a:ext uri="{FF2B5EF4-FFF2-40B4-BE49-F238E27FC236}">
                <a16:creationId xmlns:a16="http://schemas.microsoft.com/office/drawing/2014/main" id="{E49F4ECE-1C51-4ABF-94A7-4BCBD16AD234}"/>
              </a:ext>
            </a:extLst>
          </p:cNvPr>
          <p:cNvSpPr>
            <a:spLocks xmlns:a="http://schemas.openxmlformats.org/drawingml/2006/main" noGrp="1"/>
          </p:cNvSpPr>
          <p:nvPr/>
        </p:nvSpPr>
        <p:spPr>
          <a:xfrm xmlns:a="http://schemas.openxmlformats.org/drawingml/2006/main">
            <a:off x="640080" y="3246120"/>
            <a:ext cx="3794760" cy="1280160"/>
          </a:xfrm>
          <a:prstGeom xmlns:a="http://schemas.openxmlformats.org/drawingml/2006/main" prst="roundRect">
            <a:avLst>
              <a:gd name="adj" fmla="val 6429"/>
            </a:avLst>
          </a:prstGeom>
          <a:solidFill xmlns:a="http://schemas.openxmlformats.org/drawingml/2006/main">
            <a:srgbClr val="EEF1F8"/>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68" name="Google Shape;468;p19">
            <a:extLst xmlns:a="http://schemas.openxmlformats.org/drawingml/2006/main">
              <a:ext uri="{FF2B5EF4-FFF2-40B4-BE49-F238E27FC236}">
                <a16:creationId xmlns:a16="http://schemas.microsoft.com/office/drawing/2014/main" id="{AAA692A1-C1A4-4E3B-AC2E-F7715A43D49A}"/>
              </a:ext>
            </a:extLst>
          </p:cNvPr>
          <p:cNvSpPr>
            <a:spLocks xmlns:a="http://schemas.openxmlformats.org/drawingml/2006/main" noGrp="1"/>
          </p:cNvSpPr>
          <p:nvPr/>
        </p:nvSpPr>
        <p:spPr>
          <a:xfrm xmlns:a="http://schemas.openxmlformats.org/drawingml/2006/main">
            <a:off x="84124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1E2447"/>
                </a:solidFill>
                <a:latin typeface="Cambria"/>
                <a:ea typeface="Cambria"/>
                <a:cs typeface="Cambria"/>
              </a:rPr>
              <a:t>Knower — in reflection</a:t>
            </a:r>
          </a:p>
        </p:txBody>
      </p:sp>
      <p:sp>
        <p:nvSpPr>
          <p:cNvPr id="469" name="Google Shape;469;p19">
            <a:extLst xmlns:a="http://schemas.openxmlformats.org/drawingml/2006/main">
              <a:ext uri="{FF2B5EF4-FFF2-40B4-BE49-F238E27FC236}">
                <a16:creationId xmlns:a16="http://schemas.microsoft.com/office/drawing/2014/main" id="{2AA0D1F9-639E-41C6-8731-561245861D25}"/>
              </a:ext>
            </a:extLst>
          </p:cNvPr>
          <p:cNvSpPr>
            <a:spLocks xmlns:a="http://schemas.openxmlformats.org/drawingml/2006/main" noGrp="1"/>
          </p:cNvSpPr>
          <p:nvPr/>
        </p:nvSpPr>
        <p:spPr>
          <a:xfrm xmlns:a="http://schemas.openxmlformats.org/drawingml/2006/main">
            <a:off x="84124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The knower is jeevan filled with realisation. When resolve turns inward to the core self, self-realisation and realisation in coexistence arrive together.</a:t>
            </a:r>
          </a:p>
        </p:txBody>
      </p:sp>
      <p:sp>
        <p:nvSpPr>
          <p:cNvPr id="470" name="Google Shape;470;p19">
            <a:extLst xmlns:a="http://schemas.openxmlformats.org/drawingml/2006/main">
              <a:ext uri="{FF2B5EF4-FFF2-40B4-BE49-F238E27FC236}">
                <a16:creationId xmlns:a16="http://schemas.microsoft.com/office/drawing/2014/main" id="{140FBD89-3074-4D13-ACCF-7077ED924DA2}"/>
              </a:ext>
            </a:extLst>
          </p:cNvPr>
          <p:cNvSpPr>
            <a:spLocks xmlns:a="http://schemas.openxmlformats.org/drawingml/2006/main" noGrp="1"/>
          </p:cNvSpPr>
          <p:nvPr/>
        </p:nvSpPr>
        <p:spPr>
          <a:xfrm xmlns:a="http://schemas.openxmlformats.org/drawingml/2006/main">
            <a:off x="4709160" y="3246120"/>
            <a:ext cx="3794760" cy="1280160"/>
          </a:xfrm>
          <a:prstGeom xmlns:a="http://schemas.openxmlformats.org/drawingml/2006/main" prst="roundRect">
            <a:avLst>
              <a:gd name="adj" fmla="val 6429"/>
            </a:avLst>
          </a:prstGeom>
          <a:solidFill xmlns:a="http://schemas.openxmlformats.org/drawingml/2006/main">
            <a:srgbClr val="FAF1DF"/>
          </a:solidFill>
          <a:ln xmlns:a="http://schemas.openxmlformats.org/drawingml/2006/main">
            <a:noFill/>
          </a:ln>
          <a:effectLst xmlns:a="http://schemas.openxmlformats.org/drawingml/2006/main">
            <a:outerShdw blurRad="88900" dist="25400" dir="2700000" algn="bl" rotWithShape="0">
              <a:srgbClr val="000000">
                <a:alpha val="12941"/>
              </a:srgbClr>
            </a:outerShdw>
          </a:effectLst>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471" name="Google Shape;471;p19">
            <a:extLst xmlns:a="http://schemas.openxmlformats.org/drawingml/2006/main">
              <a:ext uri="{FF2B5EF4-FFF2-40B4-BE49-F238E27FC236}">
                <a16:creationId xmlns:a16="http://schemas.microsoft.com/office/drawing/2014/main" id="{5203715C-DC2E-49AC-BCE7-981AADCEE35F}"/>
              </a:ext>
            </a:extLst>
          </p:cNvPr>
          <p:cNvSpPr>
            <a:spLocks xmlns:a="http://schemas.openxmlformats.org/drawingml/2006/main" noGrp="1"/>
          </p:cNvSpPr>
          <p:nvPr/>
        </p:nvSpPr>
        <p:spPr>
          <a:xfrm xmlns:a="http://schemas.openxmlformats.org/drawingml/2006/main">
            <a:off x="4910328" y="3364992"/>
            <a:ext cx="3429000" cy="2926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50" b="1" i="0" u="none" cap="none">
                <a:solidFill>
                  <a:srgbClr val="9A6414"/>
                </a:solidFill>
                <a:latin typeface="Cambria"/>
                <a:ea typeface="Cambria"/>
                <a:cs typeface="Cambria"/>
              </a:rPr>
              <a:t>Knowable — and no merger</a:t>
            </a:r>
          </a:p>
        </p:txBody>
      </p:sp>
      <p:sp>
        <p:nvSpPr>
          <p:cNvPr id="472" name="Google Shape;472;p19">
            <a:extLst xmlns:a="http://schemas.openxmlformats.org/drawingml/2006/main">
              <a:ext uri="{FF2B5EF4-FFF2-40B4-BE49-F238E27FC236}">
                <a16:creationId xmlns:a16="http://schemas.microsoft.com/office/drawing/2014/main" id="{F20FBC56-FA15-4946-8DF4-32B35010C829}"/>
              </a:ext>
            </a:extLst>
          </p:cNvPr>
          <p:cNvSpPr>
            <a:spLocks xmlns:a="http://schemas.openxmlformats.org/drawingml/2006/main" noGrp="1"/>
          </p:cNvSpPr>
          <p:nvPr/>
        </p:nvSpPr>
        <p:spPr>
          <a:xfrm xmlns:a="http://schemas.openxmlformats.org/drawingml/2006/main">
            <a:off x="4910328" y="3703320"/>
            <a:ext cx="3429000" cy="7498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30" b="0" i="0" u="none" cap="none">
                <a:solidFill>
                  <a:srgbClr val="5A6377"/>
                </a:solidFill>
                <a:latin typeface="Calibri"/>
                <a:ea typeface="Calibri"/>
                <a:cs typeface="Calibri"/>
              </a:rPr>
              <a:t>What is known is existence itself — nature saturated in Omnipotence. Knowledge, knower, and known become uniform as roles in one bond — not a merger: the knower remains a distinct jeevan.</a:t>
            </a:r>
          </a:p>
        </p:txBody>
      </p:sp>
      <p:sp>
        <p:nvSpPr>
          <p:cNvPr id="473" name="Google Shape;473;p19">
            <a:extLst xmlns:a="http://schemas.openxmlformats.org/drawingml/2006/main">
              <a:ext uri="{FF2B5EF4-FFF2-40B4-BE49-F238E27FC236}">
                <a16:creationId xmlns:a16="http://schemas.microsoft.com/office/drawing/2014/main" id="{0FDD0BB2-3B78-4E4C-9098-645E557571F6}"/>
              </a:ext>
            </a:extLst>
          </p:cNvPr>
          <p:cNvSpPr>
            <a:spLocks xmlns:a="http://schemas.openxmlformats.org/drawingml/2006/main" noGrp="1"/>
          </p:cNvSpPr>
          <p:nvPr/>
        </p:nvSpPr>
        <p:spPr>
          <a:xfrm xmlns:a="http://schemas.openxmlformats.org/drawingml/2006/main">
            <a:off x="502920" y="4828032"/>
            <a:ext cx="8138160" cy="256032"/>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950" b="0" i="1" u="none" cap="none">
                <a:solidFill>
                  <a:srgbClr val="5A6377"/>
                </a:solidFill>
                <a:latin typeface="Calibri"/>
                <a:ea typeface="Calibri"/>
                <a:cs typeface="Calibri"/>
              </a:rPr>
              <a:t>“In the state of realisation in existence, uniformity in knowledge, knowable &amp; knower has been observed to be in the form of coexistence” — AVD p. 217 · SB p. 81 · MVD pp. 14–15</a:t>
            </a:r>
          </a:p>
        </p:txBody>
      </p:sp>
    </p:spTree>
    <p:extLst>
      <p:ext uri="{BB962C8B-B14F-4D97-AF65-F5344CB8AC3E}">
        <p14:creationId xmlns:p14="http://schemas.microsoft.com/office/powerpoint/2010/main" val="426036076"/>
      </p:ext>
    </p:extLst>
  </p:cSld>
</p:sld>
</file>

<file path=ppt/slides/slide23.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09" name="Google Shape;509;p21">
            <a:extLst xmlns:a="http://schemas.openxmlformats.org/drawingml/2006/main">
              <a:ext uri="{FF2B5EF4-FFF2-40B4-BE49-F238E27FC236}">
                <a16:creationId xmlns:a16="http://schemas.microsoft.com/office/drawing/2014/main" id="{EF575E94-D49B-4B8D-8EE0-5306E7205D35}"/>
              </a:ext>
            </a:extLst>
          </p:cNvPr>
          <p:cNvSpPr>
            <a:spLocks xmlns:a="http://schemas.openxmlformats.org/drawingml/2006/main" noGrp="1"/>
          </p:cNvSpPr>
          <p:nvPr/>
        </p:nvSpPr>
        <p:spPr>
          <a:xfrm xmlns:a="http://schemas.openxmlformats.org/drawingml/2006/main">
            <a:off x="5852160" y="822960"/>
            <a:ext cx="3291840" cy="3291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0" name="Google Shape;510;p21">
            <a:extLst xmlns:a="http://schemas.openxmlformats.org/drawingml/2006/main">
              <a:ext uri="{FF2B5EF4-FFF2-40B4-BE49-F238E27FC236}">
                <a16:creationId xmlns:a16="http://schemas.microsoft.com/office/drawing/2014/main" id="{5B88FBC8-D433-4F9A-8C53-B0C14519A897}"/>
              </a:ext>
            </a:extLst>
          </p:cNvPr>
          <p:cNvSpPr>
            <a:spLocks xmlns:a="http://schemas.openxmlformats.org/drawingml/2006/main" noGrp="1"/>
          </p:cNvSpPr>
          <p:nvPr/>
        </p:nvSpPr>
        <p:spPr>
          <a:xfrm xmlns:a="http://schemas.openxmlformats.org/drawingml/2006/main">
            <a:off x="6510528" y="1481328"/>
            <a:ext cx="1975104" cy="19751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1" name="Google Shape;511;p21">
            <a:extLst xmlns:a="http://schemas.openxmlformats.org/drawingml/2006/main">
              <a:ext uri="{FF2B5EF4-FFF2-40B4-BE49-F238E27FC236}">
                <a16:creationId xmlns:a16="http://schemas.microsoft.com/office/drawing/2014/main" id="{1575D4BC-1336-4A37-AF26-1F5F33D09DE0}"/>
              </a:ext>
            </a:extLst>
          </p:cNvPr>
          <p:cNvSpPr>
            <a:spLocks xmlns:a="http://schemas.openxmlformats.org/drawingml/2006/main" noGrp="1"/>
          </p:cNvSpPr>
          <p:nvPr/>
        </p:nvSpPr>
        <p:spPr>
          <a:xfrm xmlns:a="http://schemas.openxmlformats.org/drawingml/2006/main">
            <a:off x="7070141" y="2040941"/>
            <a:ext cx="855878" cy="85587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2" name="Google Shape;512;p21">
            <a:extLst xmlns:a="http://schemas.openxmlformats.org/drawingml/2006/main">
              <a:ext uri="{FF2B5EF4-FFF2-40B4-BE49-F238E27FC236}">
                <a16:creationId xmlns:a16="http://schemas.microsoft.com/office/drawing/2014/main" id="{F6651BC1-ADBC-471F-9055-FAC10F3F2876}"/>
              </a:ext>
            </a:extLst>
          </p:cNvPr>
          <p:cNvSpPr>
            <a:spLocks xmlns:a="http://schemas.openxmlformats.org/drawingml/2006/main" noGrp="1"/>
          </p:cNvSpPr>
          <p:nvPr/>
        </p:nvSpPr>
        <p:spPr>
          <a:xfrm xmlns:a="http://schemas.openxmlformats.org/drawingml/2006/main">
            <a:off x="5394960" y="3566160"/>
            <a:ext cx="1097280" cy="109728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3" name="Google Shape;513;p21">
            <a:extLst xmlns:a="http://schemas.openxmlformats.org/drawingml/2006/main">
              <a:ext uri="{FF2B5EF4-FFF2-40B4-BE49-F238E27FC236}">
                <a16:creationId xmlns:a16="http://schemas.microsoft.com/office/drawing/2014/main" id="{C059B4F9-7CFE-41C1-BAB7-147B1E13BBBA}"/>
              </a:ext>
            </a:extLst>
          </p:cNvPr>
          <p:cNvSpPr>
            <a:spLocks xmlns:a="http://schemas.openxmlformats.org/drawingml/2006/main" noGrp="1"/>
          </p:cNvSpPr>
          <p:nvPr/>
        </p:nvSpPr>
        <p:spPr>
          <a:xfrm xmlns:a="http://schemas.openxmlformats.org/drawingml/2006/main">
            <a:off x="5614416" y="3785616"/>
            <a:ext cx="658368" cy="658368"/>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4" name="Google Shape;514;p21">
            <a:extLst xmlns:a="http://schemas.openxmlformats.org/drawingml/2006/main">
              <a:ext uri="{FF2B5EF4-FFF2-40B4-BE49-F238E27FC236}">
                <a16:creationId xmlns:a16="http://schemas.microsoft.com/office/drawing/2014/main" id="{F3360809-D0D7-419D-B3B9-8923367EBD77}"/>
              </a:ext>
            </a:extLst>
          </p:cNvPr>
          <p:cNvSpPr>
            <a:spLocks xmlns:a="http://schemas.openxmlformats.org/drawingml/2006/main" noGrp="1"/>
          </p:cNvSpPr>
          <p:nvPr/>
        </p:nvSpPr>
        <p:spPr>
          <a:xfrm xmlns:a="http://schemas.openxmlformats.org/drawingml/2006/main">
            <a:off x="5800954" y="3972154"/>
            <a:ext cx="285293" cy="285293"/>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5" name="Google Shape;515;p21">
            <a:extLst xmlns:a="http://schemas.openxmlformats.org/drawingml/2006/main">
              <a:ext uri="{FF2B5EF4-FFF2-40B4-BE49-F238E27FC236}">
                <a16:creationId xmlns:a16="http://schemas.microsoft.com/office/drawing/2014/main" id="{D3AC2483-1899-40DF-A84D-0DE15B3AEFB2}"/>
              </a:ext>
            </a:extLst>
          </p:cNvPr>
          <p:cNvSpPr>
            <a:spLocks xmlns:a="http://schemas.openxmlformats.org/drawingml/2006/main" noGrp="1"/>
          </p:cNvSpPr>
          <p:nvPr/>
        </p:nvSpPr>
        <p:spPr>
          <a:xfrm xmlns:a="http://schemas.openxmlformats.org/drawingml/2006/main">
            <a:off x="8138160" y="4023360"/>
            <a:ext cx="731520" cy="73152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6" name="Google Shape;516;p21">
            <a:extLst xmlns:a="http://schemas.openxmlformats.org/drawingml/2006/main">
              <a:ext uri="{FF2B5EF4-FFF2-40B4-BE49-F238E27FC236}">
                <a16:creationId xmlns:a16="http://schemas.microsoft.com/office/drawing/2014/main" id="{ABF710EB-4EF3-42A6-B560-F90A523A0850}"/>
              </a:ext>
            </a:extLst>
          </p:cNvPr>
          <p:cNvSpPr>
            <a:spLocks xmlns:a="http://schemas.openxmlformats.org/drawingml/2006/main" noGrp="1"/>
          </p:cNvSpPr>
          <p:nvPr/>
        </p:nvSpPr>
        <p:spPr>
          <a:xfrm xmlns:a="http://schemas.openxmlformats.org/drawingml/2006/main">
            <a:off x="8284464" y="4169664"/>
            <a:ext cx="438912" cy="438912"/>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7" name="Google Shape;517;p21">
            <a:extLst xmlns:a="http://schemas.openxmlformats.org/drawingml/2006/main">
              <a:ext uri="{FF2B5EF4-FFF2-40B4-BE49-F238E27FC236}">
                <a16:creationId xmlns:a16="http://schemas.microsoft.com/office/drawing/2014/main" id="{0C86002D-62CB-4B43-92C3-F2261FFFB582}"/>
              </a:ext>
            </a:extLst>
          </p:cNvPr>
          <p:cNvSpPr>
            <a:spLocks xmlns:a="http://schemas.openxmlformats.org/drawingml/2006/main" noGrp="1"/>
          </p:cNvSpPr>
          <p:nvPr/>
        </p:nvSpPr>
        <p:spPr>
          <a:xfrm xmlns:a="http://schemas.openxmlformats.org/drawingml/2006/main">
            <a:off x="8408822" y="4294022"/>
            <a:ext cx="190195" cy="190195"/>
          </a:xfrm>
          <a:prstGeom xmlns:a="http://schemas.openxmlformats.org/drawingml/2006/main" prst="ellipse">
            <a:avLst/>
          </a:prstGeom>
          <a:solidFill xmlns:a="http://schemas.openxmlformats.org/drawingml/2006/main">
            <a:srgbClr val="C9D4EF"/>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18" name="Google Shape;518;p21">
            <a:extLst xmlns:a="http://schemas.openxmlformats.org/drawingml/2006/main">
              <a:ext uri="{FF2B5EF4-FFF2-40B4-BE49-F238E27FC236}">
                <a16:creationId xmlns:a16="http://schemas.microsoft.com/office/drawing/2014/main" id="{796E9457-5CA1-420F-9E22-C4C9CF41A3A7}"/>
              </a:ext>
            </a:extLst>
          </p:cNvPr>
          <p:cNvSpPr>
            <a:spLocks xmlns:a="http://schemas.openxmlformats.org/drawingml/2006/main" noGrp="1"/>
          </p:cNvSpPr>
          <p:nvPr/>
        </p:nvSpPr>
        <p:spPr>
          <a:xfrm xmlns:a="http://schemas.openxmlformats.org/drawingml/2006/main">
            <a:off x="640080" y="1234440"/>
            <a:ext cx="585216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THE CULMINATION  ·  BUILT INTO THE DESIGN</a:t>
            </a:r>
          </a:p>
        </p:txBody>
      </p:sp>
      <p:sp>
        <p:nvSpPr>
          <p:cNvPr id="519" name="Google Shape;519;p21">
            <a:extLst xmlns:a="http://schemas.openxmlformats.org/drawingml/2006/main">
              <a:ext uri="{FF2B5EF4-FFF2-40B4-BE49-F238E27FC236}">
                <a16:creationId xmlns:a16="http://schemas.microsoft.com/office/drawing/2014/main" id="{752F13C5-E89B-45E4-A048-FAF000A1F693}"/>
              </a:ext>
            </a:extLst>
          </p:cNvPr>
          <p:cNvSpPr>
            <a:spLocks xmlns:a="http://schemas.openxmlformats.org/drawingml/2006/main" noGrp="1"/>
          </p:cNvSpPr>
          <p:nvPr/>
        </p:nvSpPr>
        <p:spPr>
          <a:xfrm xmlns:a="http://schemas.openxmlformats.org/drawingml/2006/main">
            <a:off x="640080" y="1572768"/>
            <a:ext cx="5577840" cy="13716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4400" b="1" i="0" u="none" cap="none">
                <a:solidFill>
                  <a:srgbClr val="FFFFFF"/>
                </a:solidFill>
                <a:latin typeface="Cambria"/>
                <a:ea typeface="Cambria"/>
                <a:cs typeface="Cambria"/>
              </a:rPr>
              <a:t>An Awakened Human Tradition</a:t>
            </a:r>
          </a:p>
        </p:txBody>
      </p:sp>
      <p:sp>
        <p:nvSpPr>
          <p:cNvPr id="520" name="Google Shape;520;p21">
            <a:extLst xmlns:a="http://schemas.openxmlformats.org/drawingml/2006/main">
              <a:ext uri="{FF2B5EF4-FFF2-40B4-BE49-F238E27FC236}">
                <a16:creationId xmlns:a16="http://schemas.microsoft.com/office/drawing/2014/main" id="{DB2CDE66-AE92-4A63-A7C0-7FB35517F5EC}"/>
              </a:ext>
            </a:extLst>
          </p:cNvPr>
          <p:cNvSpPr>
            <a:spLocks xmlns:a="http://schemas.openxmlformats.org/drawingml/2006/main" noGrp="1"/>
          </p:cNvSpPr>
          <p:nvPr/>
        </p:nvSpPr>
        <p:spPr>
          <a:xfrm xmlns:a="http://schemas.openxmlformats.org/drawingml/2006/main">
            <a:off x="640080" y="3050000"/>
            <a:ext cx="4846320" cy="685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600" b="0" i="1" u="none" cap="none">
                <a:solidFill>
                  <a:srgbClr val="C9D4EF"/>
                </a:solidFill>
                <a:latin typeface="Calibri"/>
                <a:ea typeface="Calibri"/>
                <a:cs typeface="Calibri"/>
              </a:rPr>
              <a:t>The drive toward completeness comes to rest in awakened human beings — effort settled, understanding proven in daily conduct.</a:t>
            </a:r>
          </a:p>
        </p:txBody>
      </p:sp>
      <p:sp>
        <p:nvSpPr>
          <p:cNvPr id="600" name="Google Shape;600;p21">
            <a:extLst xmlns:a="http://schemas.openxmlformats.org/drawingml/2006/main">
              <a:ext uri="{FF2B5EF4-FFF2-40B4-BE49-F238E27FC236}">
                <a16:creationId xmlns:a16="http://schemas.microsoft.com/office/drawing/2014/main" id="{DD3901F6-8036-43ED-803F-43248530CCD2}"/>
              </a:ext>
            </a:extLst>
          </p:cNvPr>
          <p:cNvSpPr>
            <a:spLocks xmlns:a="http://schemas.openxmlformats.org/drawingml/2006/main" noGrp="1"/>
          </p:cNvSpPr>
          <p:nvPr/>
        </p:nvSpPr>
        <p:spPr>
          <a:xfrm xmlns:a="http://schemas.openxmlformats.org/drawingml/2006/main">
            <a:off x="64008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1" name="Google Shape;601;p21">
            <a:extLst xmlns:a="http://schemas.openxmlformats.org/drawingml/2006/main">
              <a:ext uri="{FF2B5EF4-FFF2-40B4-BE49-F238E27FC236}">
                <a16:creationId xmlns:a16="http://schemas.microsoft.com/office/drawing/2014/main" id="{7F1489A9-BB77-4837-93F1-47E7AC9BE4D2}"/>
              </a:ext>
            </a:extLst>
          </p:cNvPr>
          <p:cNvSpPr>
            <a:spLocks xmlns:a="http://schemas.openxmlformats.org/drawingml/2006/main" noGrp="1"/>
          </p:cNvSpPr>
          <p:nvPr/>
        </p:nvSpPr>
        <p:spPr>
          <a:xfrm xmlns:a="http://schemas.openxmlformats.org/drawingml/2006/main">
            <a:off x="72237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Resolution</a:t>
            </a:r>
          </a:p>
        </p:txBody>
      </p:sp>
      <p:sp>
        <p:nvSpPr>
          <p:cNvPr id="602" name="Google Shape;602;p21">
            <a:extLst xmlns:a="http://schemas.openxmlformats.org/drawingml/2006/main">
              <a:ext uri="{FF2B5EF4-FFF2-40B4-BE49-F238E27FC236}">
                <a16:creationId xmlns:a16="http://schemas.microsoft.com/office/drawing/2014/main" id="{DE4B8FF9-4927-4F34-9EB8-854606C66C6A}"/>
              </a:ext>
            </a:extLst>
          </p:cNvPr>
          <p:cNvSpPr>
            <a:spLocks xmlns:a="http://schemas.openxmlformats.org/drawingml/2006/main" noGrp="1"/>
          </p:cNvSpPr>
          <p:nvPr/>
        </p:nvSpPr>
        <p:spPr>
          <a:xfrm xmlns:a="http://schemas.openxmlformats.org/drawingml/2006/main">
            <a:off x="72237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person</a:t>
            </a:r>
          </a:p>
        </p:txBody>
      </p:sp>
      <p:sp>
        <p:nvSpPr>
          <p:cNvPr id="603" name="Google Shape;603;p21">
            <a:extLst xmlns:a="http://schemas.openxmlformats.org/drawingml/2006/main">
              <a:ext uri="{FF2B5EF4-FFF2-40B4-BE49-F238E27FC236}">
                <a16:creationId xmlns:a16="http://schemas.microsoft.com/office/drawing/2014/main" id="{BE616FF1-9158-489A-8FCF-45CB660339C5}"/>
              </a:ext>
            </a:extLst>
          </p:cNvPr>
          <p:cNvSpPr>
            <a:spLocks xmlns:a="http://schemas.openxmlformats.org/drawingml/2006/main" noGrp="1"/>
          </p:cNvSpPr>
          <p:nvPr/>
        </p:nvSpPr>
        <p:spPr>
          <a:xfrm xmlns:a="http://schemas.openxmlformats.org/drawingml/2006/main">
            <a:off x="184880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4" name="Google Shape;604;p21">
            <a:extLst xmlns:a="http://schemas.openxmlformats.org/drawingml/2006/main">
              <a:ext uri="{FF2B5EF4-FFF2-40B4-BE49-F238E27FC236}">
                <a16:creationId xmlns:a16="http://schemas.microsoft.com/office/drawing/2014/main" id="{CD8A7FC8-77CA-4182-A2CB-C0DEE667FC5C}"/>
              </a:ext>
            </a:extLst>
          </p:cNvPr>
          <p:cNvSpPr>
            <a:spLocks xmlns:a="http://schemas.openxmlformats.org/drawingml/2006/main" noGrp="1"/>
          </p:cNvSpPr>
          <p:nvPr/>
        </p:nvSpPr>
        <p:spPr>
          <a:xfrm xmlns:a="http://schemas.openxmlformats.org/drawingml/2006/main">
            <a:off x="193109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Prosperity</a:t>
            </a:r>
          </a:p>
        </p:txBody>
      </p:sp>
      <p:sp>
        <p:nvSpPr>
          <p:cNvPr id="605" name="Google Shape;605;p21">
            <a:extLst xmlns:a="http://schemas.openxmlformats.org/drawingml/2006/main">
              <a:ext uri="{FF2B5EF4-FFF2-40B4-BE49-F238E27FC236}">
                <a16:creationId xmlns:a16="http://schemas.microsoft.com/office/drawing/2014/main" id="{973106BD-4925-429D-9B6B-2AD26325A283}"/>
              </a:ext>
            </a:extLst>
          </p:cNvPr>
          <p:cNvSpPr>
            <a:spLocks xmlns:a="http://schemas.openxmlformats.org/drawingml/2006/main" noGrp="1"/>
          </p:cNvSpPr>
          <p:nvPr/>
        </p:nvSpPr>
        <p:spPr>
          <a:xfrm xmlns:a="http://schemas.openxmlformats.org/drawingml/2006/main">
            <a:off x="193109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in every family</a:t>
            </a:r>
          </a:p>
        </p:txBody>
      </p:sp>
      <p:sp>
        <p:nvSpPr>
          <p:cNvPr id="606" name="Google Shape;606;p21">
            <a:extLst xmlns:a="http://schemas.openxmlformats.org/drawingml/2006/main">
              <a:ext uri="{FF2B5EF4-FFF2-40B4-BE49-F238E27FC236}">
                <a16:creationId xmlns:a16="http://schemas.microsoft.com/office/drawing/2014/main" id="{A5599050-D210-47C8-B146-6B5A24A94729}"/>
              </a:ext>
            </a:extLst>
          </p:cNvPr>
          <p:cNvSpPr>
            <a:spLocks xmlns:a="http://schemas.openxmlformats.org/drawingml/2006/main" noGrp="1"/>
          </p:cNvSpPr>
          <p:nvPr/>
        </p:nvSpPr>
        <p:spPr>
          <a:xfrm xmlns:a="http://schemas.openxmlformats.org/drawingml/2006/main">
            <a:off x="305752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07" name="Google Shape;607;p21">
            <a:extLst xmlns:a="http://schemas.openxmlformats.org/drawingml/2006/main">
              <a:ext uri="{FF2B5EF4-FFF2-40B4-BE49-F238E27FC236}">
                <a16:creationId xmlns:a16="http://schemas.microsoft.com/office/drawing/2014/main" id="{46D221E2-C857-412B-B8CB-226B70E4606D}"/>
              </a:ext>
            </a:extLst>
          </p:cNvPr>
          <p:cNvSpPr>
            <a:spLocks xmlns:a="http://schemas.openxmlformats.org/drawingml/2006/main" noGrp="1"/>
          </p:cNvSpPr>
          <p:nvPr/>
        </p:nvSpPr>
        <p:spPr>
          <a:xfrm xmlns:a="http://schemas.openxmlformats.org/drawingml/2006/main">
            <a:off x="313981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Fearlessness</a:t>
            </a:r>
          </a:p>
        </p:txBody>
      </p:sp>
      <p:sp>
        <p:nvSpPr>
          <p:cNvPr id="608" name="Google Shape;608;p21">
            <a:extLst xmlns:a="http://schemas.openxmlformats.org/drawingml/2006/main">
              <a:ext uri="{FF2B5EF4-FFF2-40B4-BE49-F238E27FC236}">
                <a16:creationId xmlns:a16="http://schemas.microsoft.com/office/drawing/2014/main" id="{B4C3ADBE-52C4-434E-BF82-608CEA945F02}"/>
              </a:ext>
            </a:extLst>
          </p:cNvPr>
          <p:cNvSpPr>
            <a:spLocks xmlns:a="http://schemas.openxmlformats.org/drawingml/2006/main" noGrp="1"/>
          </p:cNvSpPr>
          <p:nvPr/>
        </p:nvSpPr>
        <p:spPr>
          <a:xfrm xmlns:a="http://schemas.openxmlformats.org/drawingml/2006/main">
            <a:off x="313981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trust in society</a:t>
            </a:r>
          </a:p>
        </p:txBody>
      </p:sp>
      <p:sp>
        <p:nvSpPr>
          <p:cNvPr id="609" name="Google Shape;609;p21">
            <a:extLst xmlns:a="http://schemas.openxmlformats.org/drawingml/2006/main">
              <a:ext uri="{FF2B5EF4-FFF2-40B4-BE49-F238E27FC236}">
                <a16:creationId xmlns:a16="http://schemas.microsoft.com/office/drawing/2014/main" id="{058120C0-5891-4799-A00C-98C62F5482A3}"/>
              </a:ext>
            </a:extLst>
          </p:cNvPr>
          <p:cNvSpPr>
            <a:spLocks xmlns:a="http://schemas.openxmlformats.org/drawingml/2006/main" noGrp="1"/>
          </p:cNvSpPr>
          <p:nvPr/>
        </p:nvSpPr>
        <p:spPr>
          <a:xfrm xmlns:a="http://schemas.openxmlformats.org/drawingml/2006/main">
            <a:off x="4266240" y="3820000"/>
            <a:ext cx="1128720" cy="750000"/>
          </a:xfrm>
          <a:prstGeom xmlns:a="http://schemas.openxmlformats.org/drawingml/2006/main" prst="roundRect">
            <a:avLst>
              <a:gd name="adj" fmla="val 8696"/>
            </a:avLst>
          </a:prstGeom>
          <a:solidFill xmlns:a="http://schemas.openxmlformats.org/drawingml/2006/main">
            <a:srgbClr val="3B4A7A"/>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610" name="Google Shape;610;p21">
            <a:extLst xmlns:a="http://schemas.openxmlformats.org/drawingml/2006/main">
              <a:ext uri="{FF2B5EF4-FFF2-40B4-BE49-F238E27FC236}">
                <a16:creationId xmlns:a16="http://schemas.microsoft.com/office/drawing/2014/main" id="{A9DD251C-A703-4D42-8F17-67F6E19B7FA0}"/>
              </a:ext>
            </a:extLst>
          </p:cNvPr>
          <p:cNvSpPr>
            <a:spLocks xmlns:a="http://schemas.openxmlformats.org/drawingml/2006/main" noGrp="1"/>
          </p:cNvSpPr>
          <p:nvPr/>
        </p:nvSpPr>
        <p:spPr>
          <a:xfrm xmlns:a="http://schemas.openxmlformats.org/drawingml/2006/main">
            <a:off x="4348536" y="3902296"/>
            <a:ext cx="964128" cy="32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050" b="1" i="0" u="none" cap="none">
                <a:solidFill>
                  <a:srgbClr val="FFFFFF"/>
                </a:solidFill>
                <a:latin typeface="Cambria"/>
                <a:ea typeface="Cambria"/>
                <a:cs typeface="Cambria"/>
              </a:rPr>
              <a:t>Coexistence</a:t>
            </a:r>
          </a:p>
        </p:txBody>
      </p:sp>
      <p:sp>
        <p:nvSpPr>
          <p:cNvPr id="611" name="Google Shape;611;p21">
            <a:extLst xmlns:a="http://schemas.openxmlformats.org/drawingml/2006/main">
              <a:ext uri="{FF2B5EF4-FFF2-40B4-BE49-F238E27FC236}">
                <a16:creationId xmlns:a16="http://schemas.microsoft.com/office/drawing/2014/main" id="{AD69A8F9-077C-48D3-AA57-9B1F73B65A59}"/>
              </a:ext>
            </a:extLst>
          </p:cNvPr>
          <p:cNvSpPr>
            <a:spLocks xmlns:a="http://schemas.openxmlformats.org/drawingml/2006/main" noGrp="1"/>
          </p:cNvSpPr>
          <p:nvPr/>
        </p:nvSpPr>
        <p:spPr>
          <a:xfrm xmlns:a="http://schemas.openxmlformats.org/drawingml/2006/main">
            <a:off x="4348536" y="4222296"/>
            <a:ext cx="964128" cy="265408"/>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t">
            <a:noAutofit/>
          </a:bodyPr>
          <a:lstStyle xmlns:a="http://schemas.openxmlformats.org/drawingml/2006/main"/>
          <a:p xmlns:a="http://schemas.openxmlformats.org/drawingml/2006/main">
            <a:pPr marL="0" indent="0" algn="l">
              <a:spcBef>
                <a:spcPts val="0"/>
              </a:spcBef>
              <a:spcAft>
                <a:spcPts val="0"/>
              </a:spcAft>
              <a:buNone/>
            </a:pPr>
            <a:r>
              <a:rPr sz="900" b="0" i="1" u="none" cap="none">
                <a:solidFill>
                  <a:srgbClr val="C9D4EF"/>
                </a:solidFill>
                <a:latin typeface="Calibri"/>
                <a:ea typeface="Calibri"/>
                <a:cs typeface="Calibri"/>
              </a:rPr>
              <a:t>with all of nature</a:t>
            </a:r>
          </a:p>
        </p:txBody>
      </p:sp>
      <p:sp>
        <p:nvSpPr>
          <p:cNvPr id="522" name="Google Shape;522;p21">
            <a:extLst xmlns:a="http://schemas.openxmlformats.org/drawingml/2006/main">
              <a:ext uri="{FF2B5EF4-FFF2-40B4-BE49-F238E27FC236}">
                <a16:creationId xmlns:a16="http://schemas.microsoft.com/office/drawing/2014/main" id="{C68915DF-AED4-4750-935D-0C5066DF5744}"/>
              </a:ext>
            </a:extLst>
          </p:cNvPr>
          <p:cNvSpPr>
            <a:spLocks xmlns:a="http://schemas.openxmlformats.org/drawingml/2006/main" noGrp="1"/>
          </p:cNvSpPr>
          <p:nvPr/>
        </p:nvSpPr>
        <p:spPr>
          <a:xfrm xmlns:a="http://schemas.openxmlformats.org/drawingml/2006/main">
            <a:off x="640080" y="4650000"/>
            <a:ext cx="4754880" cy="450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150" b="0" i="0" u="none" cap="none">
                <a:solidFill>
                  <a:srgbClr val="8E9BC4"/>
                </a:solidFill>
                <a:latin typeface="Calibri"/>
                <a:ea typeface="Calibri"/>
                <a:cs typeface="Calibri"/>
              </a:rPr>
              <a:t>A humane tradition: each generation raised into the same understanding — universal orderliness sustained across education, justice, health, production, and exchange.</a:t>
            </a:r>
          </a:p>
        </p:txBody>
      </p:sp>
    </p:spTree>
    <p:extLst>
      <p:ext uri="{BB962C8B-B14F-4D97-AF65-F5344CB8AC3E}">
        <p14:creationId xmlns:p14="http://schemas.microsoft.com/office/powerpoint/2010/main" val="222854684"/>
      </p:ext>
    </p:extLst>
  </p:cSld>
</p:sld>
</file>

<file path=ppt/slides/slide24.xml><?xml version="1.0" encoding="utf-8"?>
<p:sld xmlns:p="http://schemas.openxmlformats.org/presentationml/2006/main">
  <p:cSld>
    <p:bg>
      <p:bgPr>
        <a:solidFill xmlns:a="http://schemas.openxmlformats.org/drawingml/2006/main">
          <a:srgbClr val="1E2447"/>
        </a:solidFill>
      </p:bgPr>
    </p:bg>
    <p:spTree>
      <p:nvGrpSpPr>
        <p:cNvPr id="1" name=""/>
        <p:cNvGrpSpPr/>
        <p:nvPr/>
      </p:nvGrpSpPr>
      <p:grpSpPr>
        <a:xfrm xmlns:a="http://schemas.openxmlformats.org/drawingml/2006/main"/>
      </p:grpSpPr>
      <p:sp>
        <p:nvSpPr>
          <p:cNvPr id="528" name="Google Shape;528;p22">
            <a:extLst xmlns:a="http://schemas.openxmlformats.org/drawingml/2006/main">
              <a:ext uri="{FF2B5EF4-FFF2-40B4-BE49-F238E27FC236}">
                <a16:creationId xmlns:a16="http://schemas.microsoft.com/office/drawing/2014/main" id="{E1C0CC4E-ACB6-4358-A791-7E698544184D}"/>
              </a:ext>
            </a:extLst>
          </p:cNvPr>
          <p:cNvSpPr>
            <a:spLocks xmlns:a="http://schemas.openxmlformats.org/drawingml/2006/main" noGrp="1"/>
          </p:cNvSpPr>
          <p:nvPr/>
        </p:nvSpPr>
        <p:spPr>
          <a:xfrm xmlns:a="http://schemas.openxmlformats.org/drawingml/2006/main">
            <a:off x="7635240" y="411480"/>
            <a:ext cx="1005840" cy="1005840"/>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29" name="Google Shape;529;p22">
            <a:extLst xmlns:a="http://schemas.openxmlformats.org/drawingml/2006/main">
              <a:ext uri="{FF2B5EF4-FFF2-40B4-BE49-F238E27FC236}">
                <a16:creationId xmlns:a16="http://schemas.microsoft.com/office/drawing/2014/main" id="{6832F4B8-5752-48AC-ADEE-A7E51AC045AD}"/>
              </a:ext>
            </a:extLst>
          </p:cNvPr>
          <p:cNvSpPr>
            <a:spLocks xmlns:a="http://schemas.openxmlformats.org/drawingml/2006/main" noGrp="1"/>
          </p:cNvSpPr>
          <p:nvPr/>
        </p:nvSpPr>
        <p:spPr>
          <a:xfrm xmlns:a="http://schemas.openxmlformats.org/drawingml/2006/main">
            <a:off x="7836408" y="612648"/>
            <a:ext cx="603504" cy="603504"/>
          </a:xfrm>
          <a:prstGeom xmlns:a="http://schemas.openxmlformats.org/drawingml/2006/main" prst="ellipse">
            <a:avLst/>
          </a:prstGeom>
          <a:noFill xmlns:a="http://schemas.openxmlformats.org/drawingml/2006/main"/>
          <a:ln xmlns:a="http://schemas.openxmlformats.org/drawingml/2006/main" w="15875" cmpd="sng">
            <a:solidFill>
              <a:srgbClr val="44507E"/>
            </a:solidFill>
            <a:prstDash val="solid"/>
            <a:headEnd type="none" w="sm" len="sm"/>
            <a:tailEnd type="none" w="sm" len="sm"/>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0" name="Google Shape;530;p22">
            <a:extLst xmlns:a="http://schemas.openxmlformats.org/drawingml/2006/main">
              <a:ext uri="{FF2B5EF4-FFF2-40B4-BE49-F238E27FC236}">
                <a16:creationId xmlns:a16="http://schemas.microsoft.com/office/drawing/2014/main" id="{47CA7A4C-4E57-4A71-B114-1EC5461B0F2A}"/>
              </a:ext>
            </a:extLst>
          </p:cNvPr>
          <p:cNvSpPr>
            <a:spLocks xmlns:a="http://schemas.openxmlformats.org/drawingml/2006/main" noGrp="1"/>
          </p:cNvSpPr>
          <p:nvPr/>
        </p:nvSpPr>
        <p:spPr>
          <a:xfrm xmlns:a="http://schemas.openxmlformats.org/drawingml/2006/main">
            <a:off x="8007401" y="783641"/>
            <a:ext cx="261518" cy="261518"/>
          </a:xfrm>
          <a:prstGeom xmlns:a="http://schemas.openxmlformats.org/drawingml/2006/main" prst="ellipse">
            <a:avLst/>
          </a:prstGeom>
          <a:solidFill xmlns:a="http://schemas.openxmlformats.org/drawingml/2006/main">
            <a:srgbClr val="C9821E"/>
          </a:solidFill>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p xmlns:a="http://schemas.openxmlformats.org/drawingml/2006/main">
            <a:pPr marL="0" indent="0" algn="l">
              <a:spcBef>
                <a:spcPts val="0"/>
              </a:spcBef>
              <a:spcAft>
                <a:spcPts val="0"/>
              </a:spcAft>
              <a:buNone/>
            </a:pPr>
          </a:p>
        </p:txBody>
      </p:sp>
      <p:sp>
        <p:nvSpPr>
          <p:cNvPr id="531" name="Google Shape;531;p22">
            <a:extLst xmlns:a="http://schemas.openxmlformats.org/drawingml/2006/main">
              <a:ext uri="{FF2B5EF4-FFF2-40B4-BE49-F238E27FC236}">
                <a16:creationId xmlns:a16="http://schemas.microsoft.com/office/drawing/2014/main" id="{DFF39978-43C7-4870-B974-350C3D4735CA}"/>
              </a:ext>
            </a:extLst>
          </p:cNvPr>
          <p:cNvSpPr>
            <a:spLocks xmlns:a="http://schemas.openxmlformats.org/drawingml/2006/main" noGrp="1"/>
          </p:cNvSpPr>
          <p:nvPr/>
        </p:nvSpPr>
        <p:spPr>
          <a:xfrm xmlns:a="http://schemas.openxmlformats.org/drawingml/2006/main">
            <a:off x="640080" y="457200"/>
            <a:ext cx="6675120" cy="27432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1" i="0" u="none" cap="none">
                <a:solidFill>
                  <a:srgbClr val="C9821E"/>
                </a:solidFill>
                <a:latin typeface="Calibri"/>
                <a:ea typeface="Calibri"/>
                <a:cs typeface="Calibri"/>
              </a:rPr>
              <a:t>WHAT MADHYASTH DARSHAN ESTABLISHES</a:t>
            </a:r>
          </a:p>
        </p:txBody>
      </p:sp>
      <p:sp>
        <p:nvSpPr>
          <p:cNvPr id="532" name="Google Shape;532;p22">
            <a:extLst xmlns:a="http://schemas.openxmlformats.org/drawingml/2006/main">
              <a:ext uri="{FF2B5EF4-FFF2-40B4-BE49-F238E27FC236}">
                <a16:creationId xmlns:a16="http://schemas.microsoft.com/office/drawing/2014/main" id="{6CC10D41-50EA-44E8-9A36-16DFEE707FE8}"/>
              </a:ext>
            </a:extLst>
          </p:cNvPr>
          <p:cNvSpPr>
            <a:spLocks xmlns:a="http://schemas.openxmlformats.org/drawingml/2006/main" noGrp="1"/>
          </p:cNvSpPr>
          <p:nvPr/>
        </p:nvSpPr>
        <p:spPr>
          <a:xfrm xmlns:a="http://schemas.openxmlformats.org/drawingml/2006/main">
            <a:off x="640080" y="749808"/>
            <a:ext cx="6858000" cy="5486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3200" b="1" i="0" u="none" cap="none">
                <a:solidFill>
                  <a:srgbClr val="FFFFFF"/>
                </a:solidFill>
                <a:latin typeface="Cambria"/>
                <a:ea typeface="Cambria"/>
                <a:cs typeface="Cambria"/>
              </a:rPr>
              <a:t>The Questions, Answered</a:t>
            </a:r>
          </a:p>
        </p:txBody>
      </p:sp>
      <p:graphicFrame>
        <p:nvGraphicFramePr>
          <p:cNvPr id="541" name="Google Shape;533;p22"/>
          <p:cNvGraphicFramePr/>
          <p:nvPr/>
        </p:nvGraphicFramePr>
        <p:xfrm>
          <a:off xmlns:a="http://schemas.openxmlformats.org/drawingml/2006/main" x="640080" y="1508760"/>
          <a:ext xmlns:a="http://schemas.openxmlformats.org/drawingml/2006/main" cx="7863850" cy="2688300"/>
        </p:xfrm>
        <a:graphic xmlns:a="http://schemas.openxmlformats.org/drawingml/2006/main">
          <a:graphicData uri="http://schemas.openxmlformats.org/drawingml/2006/table">
            <a:tbl>
              <a:tblPr>
                <a:tableStyleId>{6C92A692-798E-4634-90B1-36CD3966BFCB}</a:tableStyleId>
              </a:tblPr>
              <a:tblGrid>
                <a:gridCol w="2377450"/>
                <a:gridCol w="5486400"/>
              </a:tblGrid>
              <a:tr h="347475">
                <a:tc>
                  <a:txBody>
                    <a:bodyPr/>
                    <a:lstStyle/>
                    <a:p>
                      <a:pPr marL="0" indent="0" algn="l">
                        <a:buNone/>
                      </a:pPr>
                      <a:r>
                        <a:rPr sz="1200" b="1" u="none" cap="none">
                          <a:solidFill>
                            <a:srgbClr val="FFFFFF"/>
                          </a:solidFill>
                          <a:latin typeface="Calibri"/>
                          <a:ea typeface="Calibri"/>
                          <a:cs typeface="Calibri"/>
                        </a:rPr>
                        <a:t>Question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c>
                  <a:txBody>
                    <a:bodyPr/>
                    <a:lstStyle/>
                    <a:p>
                      <a:pPr marL="0" indent="0" algn="l">
                        <a:buNone/>
                      </a:pPr>
                      <a:r>
                        <a:rPr sz="1200" b="1" u="none" cap="none">
                          <a:solidFill>
                            <a:srgbClr val="FFFFFF"/>
                          </a:solidFill>
                          <a:latin typeface="Calibri"/>
                          <a:ea typeface="Calibri"/>
                          <a:cs typeface="Calibri"/>
                        </a:rPr>
                        <a:t>Madhyasth Darshan answer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2B3560"/>
                    </a:solidFill>
                  </a:tcPr>
                </a:tc>
              </a:tr>
              <a:tr h="365750">
                <a:tc>
                  <a:txBody>
                    <a:bodyPr/>
                    <a:lstStyle/>
                    <a:p>
                      <a:pPr marL="0" indent="0" algn="l">
                        <a:buNone/>
                      </a:pPr>
                      <a:r>
                        <a:rPr sz="1200" u="none" cap="none">
                          <a:solidFill>
                            <a:srgbClr val="C9D4EF"/>
                          </a:solidFill>
                          <a:latin typeface="Calibri"/>
                          <a:ea typeface="Calibri"/>
                          <a:cs typeface="Calibri"/>
                        </a:rPr>
                        <a:t>What is 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Eternal coexistence: countless units saturated in all-pervasive Omnipotence.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exists?</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Formless Omnipotence and countless formful units, irreducibly together.</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Does existence begin or end?</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No. Existence is perpetual; configurations form, transform, and decompose.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What is the self?</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Jeevan: a constitutionally complete sentient atom working through the body.</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365750">
                <a:tc>
                  <a:txBody>
                    <a:bodyPr/>
                    <a:lstStyle/>
                    <a:p>
                      <a:pPr marL="0" indent="0" algn="l">
                        <a:buNone/>
                      </a:pPr>
                      <a:r>
                        <a:rPr sz="1200" u="none" cap="none">
                          <a:solidFill>
                            <a:srgbClr val="C9D4EF"/>
                          </a:solidFill>
                          <a:latin typeface="Calibri"/>
                          <a:ea typeface="Calibri"/>
                          <a:cs typeface="Calibri"/>
                        </a:rPr>
                        <a:t>Is the world real?</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Yes. Units and their relationships are real within perpetual coexistence.</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r h="512075">
                <a:tc>
                  <a:txBody>
                    <a:bodyPr/>
                    <a:lstStyle/>
                    <a:p>
                      <a:pPr marL="0" indent="0" algn="l">
                        <a:buNone/>
                      </a:pPr>
                      <a:r>
                        <a:rPr sz="1200" u="none" cap="none">
                          <a:solidFill>
                            <a:srgbClr val="C9D4EF"/>
                          </a:solidFill>
                          <a:latin typeface="Calibri"/>
                          <a:ea typeface="Calibri"/>
                          <a:cs typeface="Calibri"/>
                        </a:rPr>
                        <a:t>How is it known?</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c>
                  <a:txBody>
                    <a:bodyPr/>
                    <a:lstStyle/>
                    <a:p>
                      <a:pPr marL="0" indent="0" algn="l">
                        <a:buNone/>
                      </a:pPr>
                      <a:r>
                        <a:rPr sz="1200" u="none" cap="none">
                          <a:solidFill>
                            <a:srgbClr val="C9D4EF"/>
                          </a:solidFill>
                          <a:latin typeface="Calibri"/>
                          <a:ea typeface="Calibri"/>
                          <a:cs typeface="Calibri"/>
                        </a:rPr>
                        <a:t>Through study, self-examination, practice, realisation, and evidence in conduct.</a:t>
                      </a:r>
                    </a:p>
                  </a:txBody>
                  <a:tcPr marL="54875" marR="54875" marT="54875" marB="54875" anchor="ctr">
                    <a:lnL w="9525" cmpd="sng">
                      <a:solidFill>
                        <a:srgbClr val="3B4A7A"/>
                      </a:solidFill>
                      <a:prstDash val="solid"/>
                    </a:lnL>
                    <a:lnR w="9525" cmpd="sng">
                      <a:solidFill>
                        <a:srgbClr val="3B4A7A"/>
                      </a:solidFill>
                      <a:prstDash val="solid"/>
                    </a:lnR>
                    <a:lnT w="9525" cmpd="sng">
                      <a:solidFill>
                        <a:srgbClr val="3B4A7A"/>
                      </a:solidFill>
                      <a:prstDash val="solid"/>
                    </a:lnT>
                    <a:lnB w="9525" cmpd="sng">
                      <a:solidFill>
                        <a:srgbClr val="3B4A7A"/>
                      </a:solidFill>
                      <a:prstDash val="solid"/>
                    </a:lnB>
                    <a:solidFill>
                      <a:srgbClr val="1E2447"/>
                    </a:solidFill>
                  </a:tcPr>
                </a:tc>
              </a:tr>
            </a:tbl>
          </a:graphicData>
        </a:graphic>
      </p:graphicFrame>
      <p:sp>
        <p:nvSpPr>
          <p:cNvPr id="534" name="Google Shape;534;p22">
            <a:extLst xmlns:a="http://schemas.openxmlformats.org/drawingml/2006/main">
              <a:ext uri="{FF2B5EF4-FFF2-40B4-BE49-F238E27FC236}">
                <a16:creationId xmlns:a16="http://schemas.microsoft.com/office/drawing/2014/main" id="{01012620-D920-4BA5-BC9C-ECC75D3B5E5D}"/>
              </a:ext>
            </a:extLst>
          </p:cNvPr>
          <p:cNvSpPr>
            <a:spLocks xmlns:a="http://schemas.openxmlformats.org/drawingml/2006/main" noGrp="1"/>
          </p:cNvSpPr>
          <p:nvPr/>
        </p:nvSpPr>
        <p:spPr>
          <a:xfrm xmlns:a="http://schemas.openxmlformats.org/drawingml/2006/main">
            <a:off x="640080" y="4526280"/>
            <a:ext cx="7863840" cy="32004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0" tIns="0" rIns="0" bIns="0" anchor="ctr">
            <a:noAutofit/>
          </a:bodyPr>
          <a:lstStyle xmlns:a="http://schemas.openxmlformats.org/drawingml/2006/main"/>
          <a:p xmlns:a="http://schemas.openxmlformats.org/drawingml/2006/main">
            <a:pPr marL="0" indent="0" algn="l">
              <a:spcBef>
                <a:spcPts val="0"/>
              </a:spcBef>
              <a:spcAft>
                <a:spcPts val="0"/>
              </a:spcAft>
              <a:buNone/>
            </a:pPr>
            <a:r>
              <a:rPr sz="1200" b="0" i="1" u="none" cap="none">
                <a:solidFill>
                  <a:srgbClr val="8E9BC4"/>
                </a:solidFill>
                <a:latin typeface="Calibri"/>
                <a:ea typeface="Calibri"/>
                <a:cs typeface="Calibri"/>
              </a:rPr>
              <a:t>Fulfilment: resolution and authenticity expressed as humane conduct and participation in orderliness — §1.16</a:t>
            </a:r>
          </a:p>
        </p:txBody>
      </p:sp>
    </p:spTree>
    <p:extLst>
      <p:ext uri="{BB962C8B-B14F-4D97-AF65-F5344CB8AC3E}">
        <p14:creationId xmlns:p14="http://schemas.microsoft.com/office/powerpoint/2010/main" val="2074764510"/>
      </p:ext>
    </p:extLst>
  </p:cSld>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2026-07-16T00:35:29.4750000Z</dcterms:created>
  <dcterms:modified xsi:type="dcterms:W3CDTF">2026-07-16T00:35:29.4750000Z</dcterms:modified>
</coreProperties>
</file>