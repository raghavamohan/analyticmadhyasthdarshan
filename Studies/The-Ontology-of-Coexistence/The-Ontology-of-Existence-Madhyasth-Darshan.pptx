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023240484b455e" /><Relationship Type="http://schemas.openxmlformats.org/officeDocument/2006/relationships/extended-properties" Target="/docProps/app.xml" Id="R9cc06fd3986043d4" /><Relationship Type="http://schemas.openxmlformats.org/officeDocument/2006/relationships/officeDocument" Target="/ppt/presentation.xml" Id="Rf0dbae3cd0844e63" /></Relationships>
</file>

<file path=ppt/presentation.xml><?xml version="1.0" encoding="utf-8"?>
<p:presentation xmlns:p="http://schemas.openxmlformats.org/presentationml/2006/main">
  <p:sldMasterIdLst>
    <p:sldMasterId xmlns:r="http://schemas.openxmlformats.org/officeDocument/2006/relationships" id="2147483648" r:id="Rb763969d7a354eb0"/>
  </p:sldMasterIdLst>
  <p:notesMasterIdLst>
    <p:notesMasterId xmlns:r="http://schemas.openxmlformats.org/officeDocument/2006/relationships" r:id="Re089755d6eee4c05"/>
  </p:notesMasterIdLst>
  <p:sldIdLst>
    <p:sldId xmlns:r="http://schemas.openxmlformats.org/officeDocument/2006/relationships" id="256" r:id="Rcf1a2b7213d4431e"/>
    <p:sldId xmlns:r="http://schemas.openxmlformats.org/officeDocument/2006/relationships" id="257" r:id="R694c89ade17f41b8"/>
    <p:sldId xmlns:r="http://schemas.openxmlformats.org/officeDocument/2006/relationships" id="258" r:id="R00eb5efb8c5f4e44"/>
    <p:sldId xmlns:r="http://schemas.openxmlformats.org/officeDocument/2006/relationships" id="259" r:id="Rd90f309206424460"/>
    <p:sldId xmlns:r="http://schemas.openxmlformats.org/officeDocument/2006/relationships" id="260" r:id="Raf2baeef531a4f5e"/>
    <p:sldId xmlns:r="http://schemas.openxmlformats.org/officeDocument/2006/relationships" id="261" r:id="R698bb10d3d0c4344"/>
    <p:sldId xmlns:r="http://schemas.openxmlformats.org/officeDocument/2006/relationships" id="262" r:id="R93cb00fbbfea4ae6"/>
    <p:sldId xmlns:r="http://schemas.openxmlformats.org/officeDocument/2006/relationships" id="263" r:id="R47e7378bd44348b4"/>
    <p:sldId xmlns:r="http://schemas.openxmlformats.org/officeDocument/2006/relationships" id="264" r:id="R23b69067c47a47fe"/>
    <p:sldId xmlns:r="http://schemas.openxmlformats.org/officeDocument/2006/relationships" id="265" r:id="R46a5a279f5014553"/>
    <p:sldId xmlns:r="http://schemas.openxmlformats.org/officeDocument/2006/relationships" id="266" r:id="R7c87f677a3b74689"/>
    <p:sldId xmlns:r="http://schemas.openxmlformats.org/officeDocument/2006/relationships" id="267" r:id="Rbf1d92438c834905"/>
    <p:sldId xmlns:r="http://schemas.openxmlformats.org/officeDocument/2006/relationships" id="268" r:id="Ra974545b42484d04"/>
    <p:sldId xmlns:r="http://schemas.openxmlformats.org/officeDocument/2006/relationships" id="269" r:id="Re4bd29b4c7a04a69"/>
    <p:sldId xmlns:r="http://schemas.openxmlformats.org/officeDocument/2006/relationships" id="270" r:id="R369076999c8e4178"/>
    <p:sldId xmlns:r="http://schemas.openxmlformats.org/officeDocument/2006/relationships" id="271" r:id="R45e80e95324f49ac"/>
    <p:sldId xmlns:r="http://schemas.openxmlformats.org/officeDocument/2006/relationships" id="272" r:id="Rba502ed2c6e44fee"/>
    <p:sldId xmlns:r="http://schemas.openxmlformats.org/officeDocument/2006/relationships" id="273" r:id="R811c3c5282334a91"/>
    <p:sldId xmlns:r="http://schemas.openxmlformats.org/officeDocument/2006/relationships" id="274" r:id="Rd62664e70b01459e"/>
    <p:sldId xmlns:r="http://schemas.openxmlformats.org/officeDocument/2006/relationships" id="275" r:id="R3fce05a135364de6"/>
    <p:sldId xmlns:r="http://schemas.openxmlformats.org/officeDocument/2006/relationships" id="276" r:id="R341dd9382d6f4162"/>
    <p:sldId xmlns:r="http://schemas.openxmlformats.org/officeDocument/2006/relationships" id="277" r:id="Rac0e4792baf942b1"/>
    <p:sldId xmlns:r="http://schemas.openxmlformats.org/officeDocument/2006/relationships" id="278" r:id="R8b0e403157ef46e5"/>
    <p:sldId xmlns:r="http://schemas.openxmlformats.org/officeDocument/2006/relationships" id="279" r:id="R66b512dca57841c8"/>
    <p:sldId xmlns:r="http://schemas.openxmlformats.org/officeDocument/2006/relationships" id="280" r:id="Rdd31d43a6bb1483d"/>
    <p:sldId xmlns:r="http://schemas.openxmlformats.org/officeDocument/2006/relationships" id="281" r:id="R71b6723b939b4fe7"/>
    <p:sldId xmlns:r="http://schemas.openxmlformats.org/officeDocument/2006/relationships" id="282" r:id="R406d5014727442d4"/>
    <p:sldId xmlns:r="http://schemas.openxmlformats.org/officeDocument/2006/relationships" id="283" r:id="R8057b9684d574773"/>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482338c1eccc48fe" /><Relationship Type="http://schemas.openxmlformats.org/officeDocument/2006/relationships/slideMaster" Target="/ppt/slideMasters/slideMaster1.xml" Id="Rb763969d7a354eb0" /><Relationship Type="http://schemas.openxmlformats.org/officeDocument/2006/relationships/notesMaster" Target="/ppt/notesMasters/notesMaster1.xml" Id="Re089755d6eee4c05" /><Relationship Type="http://schemas.openxmlformats.org/officeDocument/2006/relationships/presProps" Target="/ppt/presProps.xml" Id="Re51f943271f74da6" /><Relationship Type="http://schemas.openxmlformats.org/officeDocument/2006/relationships/viewProps" Target="/ppt/viewProps.xml" Id="R96a44c80ad064dba" /><Relationship Type="http://schemas.openxmlformats.org/officeDocument/2006/relationships/tableStyles" Target="/ppt/tableStyles.xml" Id="Rad65dff658944e0e" /><Relationship Type="http://schemas.openxmlformats.org/officeDocument/2006/relationships/slide" Target="/ppt/slides/slide1.xml" Id="Rcf1a2b7213d4431e" /><Relationship Type="http://schemas.openxmlformats.org/officeDocument/2006/relationships/slide" Target="/ppt/slides/slide2.xml" Id="R694c89ade17f41b8" /><Relationship Type="http://schemas.openxmlformats.org/officeDocument/2006/relationships/slide" Target="/ppt/slides/slide3.xml" Id="R00eb5efb8c5f4e44" /><Relationship Type="http://schemas.openxmlformats.org/officeDocument/2006/relationships/slide" Target="/ppt/slides/slide4.xml" Id="Rd90f309206424460" /><Relationship Type="http://schemas.openxmlformats.org/officeDocument/2006/relationships/slide" Target="/ppt/slides/slide5.xml" Id="Raf2baeef531a4f5e" /><Relationship Type="http://schemas.openxmlformats.org/officeDocument/2006/relationships/slide" Target="/ppt/slides/slide6.xml" Id="R698bb10d3d0c4344" /><Relationship Type="http://schemas.openxmlformats.org/officeDocument/2006/relationships/slide" Target="/ppt/slides/slide7.xml" Id="R93cb00fbbfea4ae6" /><Relationship Type="http://schemas.openxmlformats.org/officeDocument/2006/relationships/slide" Target="/ppt/slides/slide8.xml" Id="R47e7378bd44348b4" /><Relationship Type="http://schemas.openxmlformats.org/officeDocument/2006/relationships/slide" Target="/ppt/slides/slide9.xml" Id="R23b69067c47a47fe" /><Relationship Type="http://schemas.openxmlformats.org/officeDocument/2006/relationships/slide" Target="/ppt/slides/slide10.xml" Id="R46a5a279f5014553" /><Relationship Type="http://schemas.openxmlformats.org/officeDocument/2006/relationships/slide" Target="/ppt/slides/slide11.xml" Id="R7c87f677a3b74689" /><Relationship Type="http://schemas.openxmlformats.org/officeDocument/2006/relationships/slide" Target="/ppt/slides/slide12.xml" Id="Rbf1d92438c834905" /><Relationship Type="http://schemas.openxmlformats.org/officeDocument/2006/relationships/slide" Target="/ppt/slides/slide13.xml" Id="Ra974545b42484d04" /><Relationship Type="http://schemas.openxmlformats.org/officeDocument/2006/relationships/slide" Target="/ppt/slides/slide14.xml" Id="Re4bd29b4c7a04a69" /><Relationship Type="http://schemas.openxmlformats.org/officeDocument/2006/relationships/slide" Target="/ppt/slides/slide15.xml" Id="R369076999c8e4178" /><Relationship Type="http://schemas.openxmlformats.org/officeDocument/2006/relationships/slide" Target="/ppt/slides/slide16.xml" Id="R45e80e95324f49ac" /><Relationship Type="http://schemas.openxmlformats.org/officeDocument/2006/relationships/slide" Target="/ppt/slides/slide17.xml" Id="Rba502ed2c6e44fee" /><Relationship Type="http://schemas.openxmlformats.org/officeDocument/2006/relationships/slide" Target="/ppt/slides/slide18.xml" Id="R811c3c5282334a91" /><Relationship Type="http://schemas.openxmlformats.org/officeDocument/2006/relationships/slide" Target="/ppt/slides/slide19.xml" Id="Rd62664e70b01459e" /><Relationship Type="http://schemas.openxmlformats.org/officeDocument/2006/relationships/slide" Target="/ppt/slides/slide20.xml" Id="R3fce05a135364de6" /><Relationship Type="http://schemas.openxmlformats.org/officeDocument/2006/relationships/slide" Target="/ppt/slides/slide21.xml" Id="R341dd9382d6f4162" /><Relationship Type="http://schemas.openxmlformats.org/officeDocument/2006/relationships/slide" Target="/ppt/slides/slide22.xml" Id="Rac0e4792baf942b1" /><Relationship Type="http://schemas.openxmlformats.org/officeDocument/2006/relationships/slide" Target="/ppt/slides/slide23.xml" Id="R8b0e403157ef46e5" /><Relationship Type="http://schemas.openxmlformats.org/officeDocument/2006/relationships/slide" Target="/ppt/slides/slide24.xml" Id="R66b512dca57841c8" /><Relationship Type="http://schemas.openxmlformats.org/officeDocument/2006/relationships/slide" Target="/ppt/slides/slide25.xml" Id="Rdd31d43a6bb1483d" /><Relationship Type="http://schemas.openxmlformats.org/officeDocument/2006/relationships/slide" Target="/ppt/slides/slide26.xml" Id="R71b6723b939b4fe7" /><Relationship Type="http://schemas.openxmlformats.org/officeDocument/2006/relationships/slide" Target="/ppt/slides/slide27.xml" Id="R406d5014727442d4" /><Relationship Type="http://schemas.openxmlformats.org/officeDocument/2006/relationships/slide" Target="/ppt/slides/slide28.xml" Id="R8057b9684d5747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6cb6970b5343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3dfc178de834ca4" /><Relationship Type="http://schemas.openxmlformats.org/officeDocument/2006/relationships/notesMaster" Target="/ppt/notesMasters/notesMaster1.xml" Id="Ra933ee13d6b843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bdc0d0649348bb" /><Relationship Type="http://schemas.openxmlformats.org/officeDocument/2006/relationships/notesMaster" Target="/ppt/notesMasters/notesMaster1.xml" Id="Rf99d8396718b4f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807d329fcb4bc6" /><Relationship Type="http://schemas.openxmlformats.org/officeDocument/2006/relationships/notesMaster" Target="/ppt/notesMasters/notesMaster1.xml" Id="Ra133d5102ce64f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30bfdd15f44ced" /><Relationship Type="http://schemas.openxmlformats.org/officeDocument/2006/relationships/notesMaster" Target="/ppt/notesMasters/notesMaster1.xml" Id="Raf00d51871504d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9f461d126e40fe" /><Relationship Type="http://schemas.openxmlformats.org/officeDocument/2006/relationships/notesMaster" Target="/ppt/notesMasters/notesMaster1.xml" Id="R75e68983546140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643f7f959d4cff" /><Relationship Type="http://schemas.openxmlformats.org/officeDocument/2006/relationships/notesMaster" Target="/ppt/notesMasters/notesMaster1.xml" Id="Re0e09dcc2a1948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322238c8614304" /><Relationship Type="http://schemas.openxmlformats.org/officeDocument/2006/relationships/notesMaster" Target="/ppt/notesMasters/notesMaster1.xml" Id="R73bd10a910c741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18731defc74d3a" /><Relationship Type="http://schemas.openxmlformats.org/officeDocument/2006/relationships/notesMaster" Target="/ppt/notesMasters/notesMaster1.xml" Id="R8532ec9091084d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a7f7d7674524c26" /><Relationship Type="http://schemas.openxmlformats.org/officeDocument/2006/relationships/notesMaster" Target="/ppt/notesMasters/notesMaster1.xml" Id="R3160f690e8d447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b5edd7c1534775" /><Relationship Type="http://schemas.openxmlformats.org/officeDocument/2006/relationships/notesMaster" Target="/ppt/notesMasters/notesMaster1.xml" Id="Rd81756918b3245f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d5f2f2016394c1f" /><Relationship Type="http://schemas.openxmlformats.org/officeDocument/2006/relationships/notesMaster" Target="/ppt/notesMasters/notesMaster1.xml" Id="R158da1bba9544d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33f2d36215a4378" /><Relationship Type="http://schemas.openxmlformats.org/officeDocument/2006/relationships/notesMaster" Target="/ppt/notesMasters/notesMaster1.xml" Id="R7fd8a229904a42b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bb02fcf93d438c" /><Relationship Type="http://schemas.openxmlformats.org/officeDocument/2006/relationships/notesMaster" Target="/ppt/notesMasters/notesMaster1.xml" Id="R07b2228acf3e46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089e3447f7e4808" /><Relationship Type="http://schemas.openxmlformats.org/officeDocument/2006/relationships/notesMaster" Target="/ppt/notesMasters/notesMaster1.xml" Id="R0ce060886af641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47346829204a56" /><Relationship Type="http://schemas.openxmlformats.org/officeDocument/2006/relationships/notesMaster" Target="/ppt/notesMasters/notesMaster1.xml" Id="Rb2b9c9fc3fb249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e597c017ce54601" /><Relationship Type="http://schemas.openxmlformats.org/officeDocument/2006/relationships/notesMaster" Target="/ppt/notesMasters/notesMaster1.xml" Id="Rfb2dd0381bdd457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274dd54b91a492f" /><Relationship Type="http://schemas.openxmlformats.org/officeDocument/2006/relationships/notesMaster" Target="/ppt/notesMasters/notesMaster1.xml" Id="R29ab9179fd29416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3734d25baf4586" /><Relationship Type="http://schemas.openxmlformats.org/officeDocument/2006/relationships/notesMaster" Target="/ppt/notesMasters/notesMaster1.xml" Id="R9d7b2e18b1464e9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9d9ba25c7394ea8" /><Relationship Type="http://schemas.openxmlformats.org/officeDocument/2006/relationships/notesMaster" Target="/ppt/notesMasters/notesMaster1.xml" Id="R3afaad4e4f57413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7cb4249ab94fa4" /><Relationship Type="http://schemas.openxmlformats.org/officeDocument/2006/relationships/notesMaster" Target="/ppt/notesMasters/notesMaster1.xml" Id="Ra43d4ec1a5be4b3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6e4b27c990647ca" /><Relationship Type="http://schemas.openxmlformats.org/officeDocument/2006/relationships/notesMaster" Target="/ppt/notesMasters/notesMaster1.xml" Id="R5364ff129b5a4d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faa9f5898c47fd" /><Relationship Type="http://schemas.openxmlformats.org/officeDocument/2006/relationships/notesMaster" Target="/ppt/notesMasters/notesMaster1.xml" Id="Rd92bf3ae30f140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64bf41618146bf" /><Relationship Type="http://schemas.openxmlformats.org/officeDocument/2006/relationships/notesMaster" Target="/ppt/notesMasters/notesMaster1.xml" Id="R9bbf0f72f71a4e1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606b7091084758" /><Relationship Type="http://schemas.openxmlformats.org/officeDocument/2006/relationships/notesMaster" Target="/ppt/notesMasters/notesMaster1.xml" Id="Rc0ac0f86e15f499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e234e24baeb4edf" /><Relationship Type="http://schemas.openxmlformats.org/officeDocument/2006/relationships/notesMaster" Target="/ppt/notesMasters/notesMaster1.xml" Id="Ra92b991512d4449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09bf5abcec14770" /><Relationship Type="http://schemas.openxmlformats.org/officeDocument/2006/relationships/notesMaster" Target="/ppt/notesMasters/notesMaster1.xml" Id="R09f686eeb594414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e72d236d7ee4c34" /><Relationship Type="http://schemas.openxmlformats.org/officeDocument/2006/relationships/notesMaster" Target="/ppt/notesMasters/notesMaster1.xml" Id="Raef1067eb86e42e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6d7060163804a1c" /><Relationship Type="http://schemas.openxmlformats.org/officeDocument/2006/relationships/notesMaster" Target="/ppt/notesMasters/notesMaster1.xml" Id="R061ed2c799da4c0f"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Welcome, and thank you for joining.</a:t>
            </a:r>
          </a:p>
          <a:p>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a:r>
              <a:t>Madhyasth Darshan — also called Co-existentialism — was propounded by Shri A. Nagraj. The name points to a thesis we will unpack later: order in nature is mediative and inherent, not imposed by an external governor.</a:t>
            </a:r>
          </a:p>
          <a:p>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details, here is the map of the argument. One claim — existence is coexistence — moves through three parts.</a:t>
            </a:r>
          </a:p>
          <a:p>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a:r>
              <a:t>Please keep one distinction early: the body line and the sentient-unit line meet in animal and human living, but they are not the same process. That blocks the most common confusion — treating the body as the producer of the knower.</a:t>
            </a:r>
          </a:p>
          <a:p>
            <a:r>
              <a:t>Each movement is marked in the small line at the top of its opening slide, so you can always tell where we are.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Any serious account of reality has to face a small set of questions. Let us name them before we give this tradition’s answers.</a:t>
            </a:r>
          </a:p>
          <a:p>
            <a:r>
              <a:t>What is existence? Is there one fundamental reality, or many — and how are they related?</a:t>
            </a:r>
          </a:p>
          <a:p>
            <a:r>
              <a:t>What exists? What are the basic constituents, and what is each of them?</a:t>
            </a:r>
          </a:p>
          <a:p>
            <a:r>
              <a:t>Does what exists begin? Did reality originate at some time — or do only configurations begin and end?</a:t>
            </a:r>
          </a:p>
          <a:p>
            <a:r>
              <a:t>Does the self begin or end with the body?</a:t>
            </a:r>
          </a:p>
          <a:p>
            <a:r>
              <a:t>Is the plural world finally real, or only an appearance?</a:t>
            </a:r>
          </a:p>
          <a:p>
            <a:r>
              <a:t>And sixth: how can what exists be known — what must be understood, and at what scope?</a:t>
            </a:r>
          </a:p>
          <a:p>
            <a:r>
              <a:t>Different traditions answer these differently. Madhyasth Darshan does not answer them with six separate doctrines. One picture — coexistence — is meant to answer all six at once.</a:t>
            </a:r>
          </a:p>
          <a:p>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map is the organising picture for what follows. You do not need to memorise every node. Use it as a place to return when later slides feel dense.</a:t>
            </a:r>
          </a:p>
          <a:p>
            <a:r>
              <a:t>At the top: coexistence — the ground and countless units, inseparable without losing their distinction. Then, on the unit side: four aspects of every unit; relationships; four orders of nature; and two developmental lines.</a:t>
            </a:r>
          </a:p>
          <a:p>
            <a:r>
              <a:t>Notice the fork. Bodies belong to compositional building. The sentient unit is the result of a different line — development in an atom. The two meet in animal and human living.</a:t>
            </a:r>
          </a:p>
          <a:p>
            <a:r>
              <a:t>Later we will name three milestones on the sentient path: the arrival of sentience, then settlement of inner seeking, then authentic conduct. Those are not further material stages.</a:t>
            </a:r>
          </a:p>
          <a:p>
            <a:r>
              <a:t>Most of the deck is a zoom into one region of this map.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enter the foundations — what this account says exists.</a:t>
            </a:r>
          </a:p>
          <a:p>
            <a:r>
              <a:t>Existence has two inseparable aspects.</a:t>
            </a:r>
          </a:p>
          <a:p>
            <a:r>
              <a:t>First, the ground — Omnipresence. Formless, all-pervasive, transparent, permeating, non-transforming, immeasurable. Actionless energy: it acts not at all, yet every unit is energised and regulated in it. There is no place where it is absent.</a:t>
            </a:r>
          </a:p>
          <a:p>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a:r>
              <a:t>Second, units of nature. Formful, active, countable. Each is bounded and saturated in the ground. Each has form, capacities, a way of participating, and an inseparable innateness — we will walk those four shortly.</a:t>
            </a:r>
          </a:p>
          <a:p>
            <a:r>
              <a:t>Do not collapse levels. At the root, nature is analysed as atomic units — a centre with orbiting parts. Compounds and bodies are composite units. Body and sentient unit together are a joint form. Families and societies are relational assemblies.</a:t>
            </a:r>
          </a:p>
          <a:p>
            <a:r>
              <a:t>These two poles were never separate. Separation of a unit from the saturated whole never happens. The ground does not change. Nature saturated in it is dynamic. Therefore all change is unit-activity.</a:t>
            </a:r>
          </a:p>
          <a:p>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are ground and units related? The texts have one word for it: saturation. Every formful unit is soaked, submerged, and surrounded in Omnipresence.</a:t>
            </a:r>
          </a:p>
          <a:p>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a:r>
              <a:t>Two things follow immediately, and they are worth stating slowly.</a:t>
            </a:r>
          </a:p>
          <a:p>
            <a:r>
              <a:t>One: a unit cannot be annihilated. To annihilate it you would need a fragment separated from what it is saturated in, and no division produces that.</a:t>
            </a:r>
          </a:p>
          <a:p>
            <a:r>
              <a:t>Two: saturation is a condition, not an event. There is no moment at which units existed on their own and were later joined to the ground. If someone asks you *when* saturation happened, the answer is that the question does not apply.</a:t>
            </a:r>
          </a:p>
          <a:p>
            <a:r>
              <a:t>Here is the part I want you to notice, because it is easy to read past. Soaked, submerged, surrounded are not three words for one relation. Each carries its own entailment, and the three cards on the slide follow them in order.</a:t>
            </a:r>
          </a:p>
          <a:p>
            <a:r>
              <a:t>Soaked gives forcefulness. Being soaked *is* forcefulness — the unit is the bearer of definite relative power. On the force side of the same bond, the texts call this basic impulsion.</a:t>
            </a:r>
          </a:p>
          <a:p>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a:r>
              <a:t>Surrounded gives regulation. Because the formless reality stands between units, each is held at a definite distance from the others. That is where law and orderliness come from — not from a statute issued from outside. We will come back to this on slide 22.</a:t>
            </a:r>
          </a:p>
          <a:p>
            <a:r>
              <a:t>Recognition and participation in orderliness follow from the same bond, and slide 8 takes them up in their own right. And please hear the caution: this is a claim about what existence is like, not a proposed laboratory transfer mechanism. Nor does saturation destine any unit to become sentient.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consequence of the last slide deserves its own moment, because it answers the second of our opening questions.</a:t>
            </a:r>
          </a:p>
          <a:p>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a:r>
              <a:t>Notice carefully what that does and does not claim. A compound decomposes. A body dies. Those organisations genuinely end. What continues is their constituents, in other relations. Perpetuity belongs to coexistence, not to any particular configuration.</a:t>
            </a:r>
          </a:p>
          <a:p>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far the relation I have described runs between each unit and the ground. There is a second relation, and without it nothing else in this account works — not value, not relationship, not justice, and not the drive we are about to follow.</a:t>
            </a:r>
          </a:p>
          <a:p>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a:r>
              <a:t>So complementarity is *given* in coexistence. Not created by us. Not agreed between parties. Not a value we project onto a neutral world. It is a feature of what exists.</a:t>
            </a:r>
          </a:p>
          <a:p>
            <a:r>
              <a:t>Three things follow, and they are the three cards.</a:t>
            </a:r>
          </a:p>
          <a:p>
            <a:r>
              <a:t>Recognition first. A unit recognises another by responding according to definite constitution, distance, force, and relation. No cognition is involved — please do not hear "recognition" as a mental act. Heat is accepted and redistributed by matter. Particles hold definite distance in an atom. Atoms combine in definite ways and not others. That is recognition in the insentient orders, and the texts name the equipment for it: capacity, ability, receptivity.</a:t>
            </a:r>
          </a:p>
          <a:p>
            <a:r>
              <a:t>Complementarity second. Nothing in nature exists in isolation, and each unit is a whole along with its environment. Now the consequence people find surprising: essentiality in every order is what value *is*, in the broad sense — the usefulness through which a unit is complementary to others. That means value is ontological here. It is not assigned by an observer, and it is not a human invention layered on top of physics.</a:t>
            </a:r>
          </a:p>
          <a:p>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is every unit? Four inseparable aspects — not a static checklist pasted onto things, but how a definite bearer shows up in the world.</a:t>
            </a:r>
          </a:p>
          <a:p>
            <a:r>
              <a:t>Form is real boundary and configuration. Take the peepal tree on the slide: one bounded living form with trunk, branches, leaves, and roots.</a:t>
            </a:r>
          </a:p>
          <a:p>
            <a:r>
              <a:t>Properties — capacities and relative effects. In the peepal: nutrition, growth, repair, seed production, degeneration under definite conditions.</a:t>
            </a:r>
          </a:p>
          <a:p>
            <a:r>
              <a:t>Essential nature is usefulness in context: vitalising while the living organisation holds; devitalising when it breaks down.</a:t>
            </a:r>
          </a:p>
          <a:p>
            <a:r>
              <a:t>Innateness — dharma in this technical sense — is what cannot be separated from the unit, plus order-specific fulfilment. For the peepal: existence plus growth. Seed-conformance is how it conducts itself, not an extra label piled on top.</a:t>
            </a:r>
          </a:p>
          <a:p>
            <a:r>
              <a:t>Form is real; what another unit encounters is its definite presentation in mutual facing. In non-sentient nature these aspects are definite. Misreading arises mainly in human living, when the sentient unit mistakes the body for the self.</a:t>
            </a:r>
          </a:p>
          <a:p>
            <a:r>
              <a:t>And notice: the tree as a composite can die while its material constituents persist. Persistence of existence is not persistence of one configuration.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complementarity we just established becomes evident through relationships among units — this slide is what it looks like in practice.</a:t>
            </a:r>
          </a:p>
          <a:p>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a:r>
              <a:t>Two kinds of mutuality matter. A relationship is mutuality whose expectations are definite in the completeness of the bond — parent and child. An association or contact is mutuality where expectations are voluntary — neighbours who share a wall.</a:t>
            </a:r>
          </a:p>
          <a:p>
            <a:r>
              <a:t>The slide names five value families: object, *jeevan*, human, established, and civic — the last is *shishta-mulya* in the source. Object values are two, utility and art, so the same list is often counted as six types: utility, art, *jeevan*, human, established, and civic. Established values are the ones that become evident when human relationships are recognised and fulfilled — trust, respect, affection, care, and so on. Civic values are how all of that is expressed in social participation.</a:t>
            </a:r>
          </a:p>
          <a:p>
            <a:r>
              <a:t>At the human order the path runs: knowing, then believing, then recognising, then fulfilling. Awakening does not invent new faculties. It aligns this chain with coexistence.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Units organise into four stable orders: material; bio or living-plant order; animal; and knowledge — the human order.</a:t>
            </a:r>
          </a:p>
          <a:p>
            <a:r>
              <a:t>Read the table downward. Innateness is cumulative. Matter has existence. The bio order adds growth. The animal order adds hope to live. The human order adds happiness. Higher orders include the lower ones.</a:t>
            </a:r>
          </a:p>
          <a:p>
            <a:r>
              <a:t>The pivotal boundary is between plant life and animal life. Material and bio orders are non-sentient. Hope to live is where sentience enters. The sentient unit is present in animal and human joint forms.</a:t>
            </a:r>
          </a:p>
          <a:p>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a:r>
              <a:t>We have now stated what exists and how it is ordered. Next: how development proceeds.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the question the last three slides have been building toward: why does anything develop at all?</a:t>
            </a:r>
          </a:p>
          <a:p>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a:r>
              <a:t>That drive proceeds along two distinct lines, and Madhyasth Darshan insists they must not be collapsed.</a:t>
            </a:r>
          </a:p>
          <a:p>
            <a:r>
              <a:t>Compositional progression joins particles, atoms, molecules, cells, and bodies into larger configurations. Separately, development in an atom can reach constitutional completeness as a sentient unit. These lines meet in living joint forms, but they remain distinct.</a:t>
            </a:r>
          </a:p>
          <a:p>
            <a:r>
              <a:t>Across both, activity is one inseparable triad: effort, motion, and result — three aspects of one activity, not three sequential steps. When sodium and chlorine approach, the approach is effort and motion together; the stable salt crystal is the result.</a:t>
            </a:r>
          </a:p>
          <a:p>
            <a:r>
              <a:t>The texts compress the engine this way: saturation is forcefulness; forcefulness is basic impulsion; impulsion is activity; activity is effort-motion-result; and that is development.</a:t>
            </a:r>
          </a:p>
          <a:p>
            <a:r>
              <a:t>Each term has a goal: restfulness of effort, destination of motion, immortality of result. Development pervades nature; awakening occurs in the sentient. Non-sentient units participate by composing bodies and environments without each individually completing the drive.</a:t>
            </a:r>
          </a:p>
          <a:p>
            <a:r>
              <a:t>The next slide follows both paths through their convergence in animal and human living.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completeness drive unfolds along two parallel paths.</a:t>
            </a:r>
          </a:p>
          <a:p>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a:r>
              <a:t>The second is the atomic path, *gathan*. A developing atom integrates the particle constitution required for completeness. At constitutional completeness, the texts classify that atom as sentient *jeevan*.</a:t>
            </a:r>
          </a:p>
          <a:p>
            <a:r>
              <a:t>The two paths meet in the animal order as a joint form: a biological body plus sentient *jeevan*. One does not manufacture the other; they work together.</a:t>
            </a:r>
          </a:p>
          <a:p>
            <a:r>
              <a:t>Development then continues along both aspects of the joint form. Bodily lineages develop through species-conforming biological organisation, while *jeevan*’s expression widens through those bodily media. In the animal order that expression remains limited by the body.</a:t>
            </a:r>
          </a:p>
          <a:p>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Now we name three milestones — T1, T2, and T3.</a:t>
            </a:r>
          </a:p>
          <a:p>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a:r>
              <a:t>T2 is activity completeness: restfulness of effort. Inner seeking settles into direct realisation and resolution. Status shifts toward awakened understanding.</a:t>
            </a:r>
          </a:p>
          <a:p>
            <a:r>
              <a:t>T3 is conduct completeness: destination of motion. Understanding becomes authentic conduct — living proof.</a:t>
            </a:r>
          </a:p>
          <a:p>
            <a:r>
              <a:t>Keep T2 and T3 apart. T2 is internal settlement. T3 is outer destination in conduct. And do not confuse T2’s restfulness with the ease of non-sentient natural complementarity.</a:t>
            </a:r>
          </a:p>
          <a:p>
            <a:r>
              <a:t>T1 is completeness of an atom’s constitution. T2 and T3 are not further material stages; they name completeness of activity and conduct in the awakened sentient unit. In one line: the saturated realises the ground it is saturated in.</a:t>
            </a:r>
          </a:p>
          <a:p>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me consolidate, because this tradition uses four different vocabularies for what is fundamentally one thing, and mixing them up is the commonest way to get lost in it.</a:t>
            </a:r>
          </a:p>
          <a:p>
            <a:r>
              <a:t>There is one drive: nature saturated in state-complete Omnipresence, oriented toward development and awakening until realisation. Everything on this table is a way of describing where something stands in that drive.</a:t>
            </a:r>
          </a:p>
          <a:p>
            <a:r>
              <a:t>**Orders** — material, bio, animal, knowledge — say what *kind* of thing a unit is: its organisation, its essential nature, its innateness. Four orders.</a:t>
            </a:r>
          </a:p>
          <a:p>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a:r>
              <a:t>**Planes** — physicochemical, delusional, deific, divine — say how *far* something has come. These are the four we just saw across the top of the last slide. Before T1; T1 only; T2; T3.</a:t>
            </a:r>
          </a:p>
          <a:p>
            <a:r>
              <a:t>**Human types** — animalistic, demonic, humane or discerning, deific, divine — say how a human *life is oriented*. Five of them, and they classify modes of consciousness and conduct. Not biological species. Not social classes. Not castes.</a:t>
            </a:r>
          </a:p>
          <a:p>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the claimed sentience threshold. The technical transitions slide names it T1; here the audience-facing question is how the texts say sentience enters.</a:t>
            </a:r>
          </a:p>
          <a:p>
            <a:r>
              <a:t>According to the primary texts, sentience appears when one developing atom reaches constitutional completeness — not through neural complexity, molecular size, or the material-to-biological order change.</a:t>
            </a:r>
          </a:p>
          <a:p>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a:r>
              <a:t>That separation of qualitative from quantitative change is the stated criterion. MVD adds the visible signs of release from the molecular group, liberation from molecular- and weight-bondage, and establishment in hope-bondage.</a:t>
            </a:r>
          </a:p>
          <a:p>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turn to human living — movement three.</a:t>
            </a:r>
          </a:p>
          <a:p>
            <a:r>
              <a:t>Animal and human living is a joint form. The sentient unit brings the full set of faculties and activities. The body supplies the species-specific medium.</a:t>
            </a:r>
          </a:p>
          <a:p>
            <a:r>
              <a:t>On one side: the body — living composition, sense organs, brain, physical expression; decomposable. On the other: the sentient unit — constitutionally complete; faculties inherent; continuing when the joint form ends.</a:t>
            </a:r>
          </a:p>
          <a:p>
            <a:r>
              <a:t>Animal bodily development limits expression. The human medium can support the full range, while mistaking the body for the self can still misdirect evaluation.</a:t>
            </a:r>
          </a:p>
          <a:p>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sentient unit — jeevan — is a constitutionally complete atom.</a:t>
            </a:r>
          </a:p>
          <a:p>
            <a:r>
              <a:t>Structurally, the centre is the core self. Around it: resolve, desire, thought, and hope — the texts’ buddhi, chitta, vritti, and mun.</a:t>
            </a:r>
          </a:p>
          <a:p>
            <a:r>
              <a:t>Each works outward and inward. Hope selects and tastes. Thought analyses and deliberates. Desire visualises and contemplates. Resolve resolves and receives clear understanding. The core self authenticates and realises.</a:t>
            </a:r>
          </a:p>
          <a:p>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a:r>
              <a:t>Study brings understanding. Practice tests and stabilises it. Practice does not manufacture faculties that were missing.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Happiness, peace, contentment, and bliss are not passing moods, and they are not a fourth milestone after T1, T2, and T3.</a:t>
            </a:r>
          </a:p>
          <a:p>
            <a:r>
              <a:t>They name harmonies within the sentient unit. Happiness: harmony of hope and thought. Peace: thought and desire. Contentment: desire and resolve. Bliss: resolve and the core self.</a:t>
            </a:r>
          </a:p>
          <a:p>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a:r>
              <a:t>The living cycle is: reflection feeds projection, and projection feeds deeper reflection — that is what living means here. Continuous happiness is harmony evidenced in resolved living, not a sensory spike.</a:t>
            </a:r>
          </a:p>
          <a:p>
            <a:r>
              <a:t>The next two slides ask how a human being actually gets from the first harmony to the other three.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sentient unit bears the same five faculties and the same ten activities. What differs is the medium and what the unit does with it.</a:t>
            </a:r>
          </a:p>
          <a:p>
            <a:r>
              <a:t>Take the animal case first, because it sets up the human one. An animal *jeevan* is complete — it has all five faculties. But its bodily medium is limited, so its activity remains within sensory satisfaction under species-conformance, and it reaches the first harmony and stops. Peace, contentment, and bliss are not failures on its part; they are simply not available through that body.</a:t>
            </a:r>
          </a:p>
          <a:p>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a:r>
              <a:t>Under confusion, the body is mistaken for the self. Selection and evaluation organise around pleasure, health, and profit.</a:t>
            </a:r>
          </a:p>
          <a:p>
            <a:r>
              <a:t>Under awakening, clear knowing regulates sensory life. Knowing and believing guide recognition and fulfilment toward justice, innateness, truth, and coexistence.</a:t>
            </a:r>
          </a:p>
          <a:p>
            <a:r>
              <a:t>No faculty is missing, and sensation is not rejected. Confusion lets sensory criteria rule; awakening balances sensation with understanding, so understanding guides conduct.</a:t>
            </a:r>
          </a:p>
          <a:p>
            <a:r>
              <a:t>When the same fork is resolved in a person and sustained across a tradition, it shows as resolution, prosperity, fearlessness, and coexistence.</a:t>
            </a:r>
          </a:p>
          <a:p>
            <a:r>
              <a:t>And one thing awakening is *not*: it is not preferring the right things, and it is not having the right insight. The next slide is about why.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peace, contentment, bliss. How does a person actually get them?</a:t>
            </a:r>
          </a:p>
          <a:p>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a:r>
              <a:t>The human order is the one place where complementarity has to be fulfilled *knowingly* —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a:r>
              <a:t>So: understanding alone changes nothing. It is the doing that yields the fruit. Book knowledge is half the work — the other half is conduct that fulfils relationships.</a:t>
            </a:r>
          </a:p>
          <a:p>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slide explains the name Madhyasth — and it cashes a cheque I wrote back on slide 6.</a:t>
            </a:r>
          </a:p>
          <a:p>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Human evaluation widens across six perspectives: pleasant, healthy, profit, justice, innateness or dharma as an evaluative lens, and truth. They move from sensation, body, and gain to relationship, orderliness, and coexistence.</a:t>
            </a:r>
          </a:p>
          <a:p>
            <a:r>
              <a:t>Justice is both one of the six and the principle of fulfilled relationship. Dharma here means fitting the wider pattern — discipline in thought, not only outer conduct. Truth means alignment with the whole, grounded in realisation, not in liking or gain.</a:t>
            </a:r>
          </a:p>
          <a:p>
            <a:r>
              <a:t>The graduated chain is: rule itself is justice; justice itself is dharma; dharma itself is truth; truth itself is coexistence.</a:t>
            </a:r>
          </a:p>
          <a:p>
            <a:r>
              <a:t>Pleasure, health, and profit are not condemned. They remain legitimate in their domain. Awakening changes the organising refuge: they are subordinated under justice, dharma, and truth — not abandoned.</a:t>
            </a:r>
          </a:p>
          <a:p>
            <a:r>
              <a:t>Keep this distinct from unit-innateness earlier. One word, two levels: what a unit cannot be separated from, versus how we evaluate thought and resolution.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turn now to knowing — how understanding widens, and how it happens in the sentient unit.</a:t>
            </a:r>
          </a:p>
          <a:p>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a:r>
              <a:t>The ladders meet at the top: coexistence known and lived is felt as bliss. Human error belongs to confused evaluation, not to fuzziness in the reality reflected.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where the developmental drive comes to rest: realisation in coexistence.</a:t>
            </a:r>
          </a:p>
          <a:p>
            <a:r>
              <a:t>The drive settles when relationships across nature are fulfilled and made evident — not because the ground becomes a knower, but because the awakened sentient unit realises and evidences the coexistence in which it has always existed.</a:t>
            </a:r>
          </a:p>
          <a:p>
            <a:r>
              <a:t>Realisation is bliss. Truth itself is abundance — coexistence; realisation of abundance is bliss; bliss is the living of the sentient unit. What is realised is the ground the unit was always saturated in.</a:t>
            </a:r>
          </a:p>
          <a:p>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drive comes to rest in awakened human beings — effort settled, understanding proven in daily conduct, and carried as a tradition.</a:t>
            </a:r>
          </a:p>
          <a:p>
            <a:r>
              <a:t>Effort settled in realisation is T2. Understanding proven in conduct is T3.</a:t>
            </a:r>
          </a:p>
          <a:p>
            <a:r>
              <a:t>Four goals at four levels: resolution in every person; prosperity in every family; fearlessness — trust — in society; coexistence with all of nature.</a:t>
            </a:r>
          </a:p>
          <a:p>
            <a:r>
              <a:t>Five dimensions of continuity carry the tradition: education and formative culture; justice and preservation; health and restraint; production and work; exchange and storage.</a:t>
            </a:r>
          </a:p>
          <a:p>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closing summary, I owe you an accounting of what kind of thing each part of this has been.</a:t>
            </a:r>
          </a:p>
          <a:p>
            <a:r>
              <a:t>Different methods establish different things. They can support one another, but they are not interchangeable.</a:t>
            </a:r>
          </a:p>
          <a:p>
            <a:r>
              <a:t>Logical exposition can show internal coherence. It cannot by itself prove empirical fact.</a:t>
            </a:r>
          </a:p>
          <a:p>
            <a:r>
              <a:t>Study and self-examination can show intelligibility and first-person recognition. They cannot by themselves physically identify the sentient unit.</a:t>
            </a:r>
          </a:p>
          <a:p>
            <a:r>
              <a:t>Practice and conduct-evidence can show effects in work, behaviour, and mutual satisfaction. They cannot by themselves measure the sentience threshold or the unit–body interface.</a:t>
            </a:r>
          </a:p>
          <a:p>
            <a:r>
              <a:t>Realisation is this tradition’s claimed completion of knowing. It does not force agreement from other methods.</a:t>
            </a:r>
          </a:p>
          <a:p>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us close the loop on the six questions.</a:t>
            </a:r>
          </a:p>
          <a:p>
            <a:r>
              <a:t>What is existence? Eternal coexistence: countless units saturated in all-pervasive Omnipresence.</a:t>
            </a:r>
          </a:p>
          <a:p>
            <a:r>
              <a:t>What exists? Root atomic units; composite units and bodies; body–sentient-unit joint forms; and relational human assemblies — all saturated in the ground.</a:t>
            </a:r>
          </a:p>
          <a:p>
            <a:r>
              <a:t>Does existence begin or end? No. Existence is perpetual. Configurations form, transform, and decompose.</a:t>
            </a:r>
          </a:p>
          <a:p>
            <a:r>
              <a:t>What is the self? The constitutionally complete sentient unit working through the body.</a:t>
            </a:r>
          </a:p>
          <a:p>
            <a:r>
              <a:t>Is the world real? Yes. Units, mutual relationships, and definite material fulfilment are real within perpetual coexistence.</a:t>
            </a:r>
          </a:p>
          <a:p>
            <a:r>
              <a:t>How is it known? Through logical exposition, study and self-examination, practice, realisation, and conduct-evidence — without conflating those with instrument measurement of the sentience threshold. The lived test is evidence in humane conduct.</a:t>
            </a:r>
          </a:p>
          <a:p>
            <a:r>
              <a:t>If we continue later, the natural next step is comparison with other traditions and with science — including open problems this study names for Madhyasth Darshan itself. Thank you.</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af6634d6344ffc"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a675a998e4142c7" /><Relationship Type="http://schemas.openxmlformats.org/officeDocument/2006/relationships/slideLayout" Target="/ppt/slideLayouts/slideLayout1.xml" Id="R2110124672a9497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110124672a94979"/>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8c09b862704605" /><Relationship Type="http://schemas.openxmlformats.org/officeDocument/2006/relationships/notesSlide" Target="/ppt/notesSlides/notesSlide1.xml" Id="Ra4c884f7fb4646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39312ecc0064098" /><Relationship Type="http://schemas.openxmlformats.org/officeDocument/2006/relationships/notesSlide" Target="/ppt/notesSlides/notesSlide2.xml" Id="Ref311512898841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2e33aaf2334210" /><Relationship Type="http://schemas.openxmlformats.org/officeDocument/2006/relationships/image" Target="/ppt/media/image.png" Id="R07d244b533a54820" /><Relationship Type="http://schemas.openxmlformats.org/officeDocument/2006/relationships/notesSlide" Target="/ppt/notesSlides/notesSlide3.xml" Id="Rce9453802a2f47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d522fbda5e744fc" /><Relationship Type="http://schemas.openxmlformats.org/officeDocument/2006/relationships/image" Target="/ppt/media/image2.png" Id="Raa476ea641584eaa" /><Relationship Type="http://schemas.openxmlformats.org/officeDocument/2006/relationships/notesSlide" Target="/ppt/notesSlides/notesSlide4.xml" Id="R0bc0a5e069664d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1ba9c9db3334e2f" /><Relationship Type="http://schemas.openxmlformats.org/officeDocument/2006/relationships/notesSlide" Target="/ppt/notesSlides/notesSlide5.xml" Id="R3581139015a340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31b6820eb624fe9" /><Relationship Type="http://schemas.openxmlformats.org/officeDocument/2006/relationships/image" Target="/ppt/media/image3.png" Id="R568c85c70f744fe8" /><Relationship Type="http://schemas.openxmlformats.org/officeDocument/2006/relationships/image" Target="/ppt/media/image4.png" Id="Rbeb856ebe720419c" /><Relationship Type="http://schemas.openxmlformats.org/officeDocument/2006/relationships/image" Target="/ppt/media/image5.png" Id="Rbf65f7d724a94252" /><Relationship Type="http://schemas.openxmlformats.org/officeDocument/2006/relationships/notesSlide" Target="/ppt/notesSlides/notesSlide6.xml" Id="Ra70e46a0510246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80360313af4f98" /><Relationship Type="http://schemas.openxmlformats.org/officeDocument/2006/relationships/image" Target="/ppt/media/image3.png" Id="R526dd5ed2a5140a9" /><Relationship Type="http://schemas.openxmlformats.org/officeDocument/2006/relationships/image" Target="/ppt/media/image4.png" Id="Ra44519b4fac24678" /><Relationship Type="http://schemas.openxmlformats.org/officeDocument/2006/relationships/image" Target="/ppt/media/image5.png" Id="R835fd9b123634f6b" /><Relationship Type="http://schemas.openxmlformats.org/officeDocument/2006/relationships/notesSlide" Target="/ppt/notesSlides/notesSlide7.xml" Id="R602b62206a6548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bb6d6331194a8a" /><Relationship Type="http://schemas.openxmlformats.org/officeDocument/2006/relationships/image" Target="/ppt/media/image3.png" Id="Rb7a54a25afca4a24" /><Relationship Type="http://schemas.openxmlformats.org/officeDocument/2006/relationships/image" Target="/ppt/media/image4.png" Id="Rec4a061207d041be" /><Relationship Type="http://schemas.openxmlformats.org/officeDocument/2006/relationships/image" Target="/ppt/media/image5.png" Id="R7cf61c14e8514020" /><Relationship Type="http://schemas.openxmlformats.org/officeDocument/2006/relationships/notesSlide" Target="/ppt/notesSlides/notesSlide8.xml" Id="R20462c360d3041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a741c826ab4de9" /><Relationship Type="http://schemas.openxmlformats.org/officeDocument/2006/relationships/notesSlide" Target="/ppt/notesSlides/notesSlide9.xml" Id="Ra1c8ff86e7b344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1e7f7dcc06c4824" /><Relationship Type="http://schemas.openxmlformats.org/officeDocument/2006/relationships/notesSlide" Target="/ppt/notesSlides/notesSlide10.xml" Id="R7b4367f368f646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dde87abaa5546aa" /><Relationship Type="http://schemas.openxmlformats.org/officeDocument/2006/relationships/notesSlide" Target="/ppt/notesSlides/notesSlide11.xml" Id="Rcdf3c77371d145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5bb5e8419cd48fe" /><Relationship Type="http://schemas.openxmlformats.org/officeDocument/2006/relationships/notesSlide" Target="/ppt/notesSlides/notesSlide12.xml" Id="R8723fc1201b04e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7b38f6048a4581" /><Relationship Type="http://schemas.openxmlformats.org/officeDocument/2006/relationships/notesSlide" Target="/ppt/notesSlides/notesSlide13.xml" Id="R5923db76a0cf47c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e1a8089ac240f0" /><Relationship Type="http://schemas.openxmlformats.org/officeDocument/2006/relationships/notesSlide" Target="/ppt/notesSlides/notesSlide14.xml" Id="R9c3acadf8d92458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636d8d7ded74b14" /><Relationship Type="http://schemas.openxmlformats.org/officeDocument/2006/relationships/notesSlide" Target="/ppt/notesSlides/notesSlide15.xml" Id="R22451c860fc1461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e5fc6975d3645bc" /><Relationship Type="http://schemas.openxmlformats.org/officeDocument/2006/relationships/notesSlide" Target="/ppt/notesSlides/notesSlide16.xml" Id="Rf82e1f1edade421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6f54226ff3d429f" /><Relationship Type="http://schemas.openxmlformats.org/officeDocument/2006/relationships/notesSlide" Target="/ppt/notesSlides/notesSlide17.xml" Id="R67c37f69abef417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2657e492fda469b" /><Relationship Type="http://schemas.openxmlformats.org/officeDocument/2006/relationships/notesSlide" Target="/ppt/notesSlides/notesSlide18.xml" Id="R6494a7e3c2b947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a1a8c6ddb3f4902" /><Relationship Type="http://schemas.openxmlformats.org/officeDocument/2006/relationships/notesSlide" Target="/ppt/notesSlides/notesSlide19.xml" Id="R16e74b9023d94d0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4f77c3f15047b3" /><Relationship Type="http://schemas.openxmlformats.org/officeDocument/2006/relationships/notesSlide" Target="/ppt/notesSlides/notesSlide20.xml" Id="R5570854e42a54e5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bce6f4b55a348d8" /><Relationship Type="http://schemas.openxmlformats.org/officeDocument/2006/relationships/notesSlide" Target="/ppt/notesSlides/notesSlide21.xml" Id="R019bfd87f98e429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57b2c2fb9a14120" /><Relationship Type="http://schemas.openxmlformats.org/officeDocument/2006/relationships/notesSlide" Target="/ppt/notesSlides/notesSlide22.xml" Id="Rfd34e6122473477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8a1976fb0a44e84" /><Relationship Type="http://schemas.openxmlformats.org/officeDocument/2006/relationships/notesSlide" Target="/ppt/notesSlides/notesSlide23.xml" Id="R0410ea97cd7140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f0861ebc95044fa" /><Relationship Type="http://schemas.openxmlformats.org/officeDocument/2006/relationships/notesSlide" Target="/ppt/notesSlides/notesSlide24.xml" Id="R295c70726f3c458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568bb9feb1c4f7f" /><Relationship Type="http://schemas.openxmlformats.org/officeDocument/2006/relationships/notesSlide" Target="/ppt/notesSlides/notesSlide25.xml" Id="Rf848703c2385477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5ce04750f724d50" /><Relationship Type="http://schemas.openxmlformats.org/officeDocument/2006/relationships/notesSlide" Target="/ppt/notesSlides/notesSlide26.xml" Id="R9daf972afe1144a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f999837042f49cd" /><Relationship Type="http://schemas.openxmlformats.org/officeDocument/2006/relationships/notesSlide" Target="/ppt/notesSlides/notesSlide27.xml" Id="Rf9f09082e3e446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dea9b03ed814058" /><Relationship Type="http://schemas.openxmlformats.org/officeDocument/2006/relationships/notesSlide" Target="/ppt/notesSlides/notesSlide28.xml" Id="R89c814a4c56d41cf"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aa476ea641584eaa"/>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68c85c70f744fe8">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eb856ebe720419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f65f7d724a94252">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texts state the resulting chain as saturation → energy-fullness → forcefulness → recognition → participation in orderliness; recognition and fulfilment are taken up on slide 8. An ontological entailment, not a measurable transfer mechanism. — SB pp. 46, 57, 79, 243; MVD pp. 32–33, 40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26dd5ed2a5140a9">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44519b4fac24678">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35fd9b123634f6b">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§1.4 · THE SECOND BOND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binds every unit to the ground. A second relation binds units to one another. Bounded plurality — countless units, each with definite limits, in one pervasive reality — is itself what provisions recognition: “a provision for one unit to recognise another got manifest in existence.” Complementarity is given in coexistence. It is not created by us and not negotiated.</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7a54a25afca4a2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unit recognises another by responding according to definite constitution, distance, force, and relation — no cognition required. Heat accepted and redistributed; particles holding definite distance. The equipment is named: capacity, ability,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ec4a061207d041be">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Essentiality in every order is value in the broad sense — the usefulness through which a unit is complementary to others. Value is ontological, not assigned by an observer.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cf61c14e851402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completeness drive is the drive to fulfil this complementarity: composition is the natural inclination toward coexistence, </a:t>
            </a:r>
            <a:r>
              <a:rPr sz="950" b="0" i="1" u="none" cap="none">
                <a:solidFill>
                  <a:srgbClr val="5A6377"/>
                </a:solidFill>
                <a:latin typeface="Calibri"/>
                <a:ea typeface="Calibri"/>
                <a:cs typeface="Calibri"/>
              </a:rPr>
              <a:t>the sentience threshold is hungry and overfull atoms completing each other</a:t>
            </a:r>
            <a:r>
              <a:rPr sz="950" b="0" i="1" u="none" cap="none">
                <a:solidFill>
                  <a:srgbClr val="5A6377"/>
                </a:solidFill>
                <a:latin typeface="Calibri"/>
                <a:ea typeface="Calibri"/>
                <a:cs typeface="Calibri"/>
              </a:rPr>
              <a:t>, and justice is the human form of the same thing. — SB pp. 49–50, 53, 57, 62; MVD pp. 32, 62; JV pp. 43, 67,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established, and civic (shishta). Object values are two — utility and art — so the same list is counted as six types: utility, art, jeevan, human, established, and 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civic values express them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animal living, bodily limits keep jeevan's activity within sensory satisfaction and the first harmony. The human body can express all ten — yet by default human evaluation uses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Animal jeevan's activity remains within sensory satisfaction under species-conformance; peace, contentment, and bliss are not in view. The human order is where complementarity must be fulfilled knowingly — study alone does not fulfil it.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158"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160"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2026-07-28T03:57:19.7210000Z</dcterms:created>
  <dcterms:modified xsi:type="dcterms:W3CDTF">2026-07-28T03:57:19.7210000Z</dcterms:modified>
</coreProperties>
</file>