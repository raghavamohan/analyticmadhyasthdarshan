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C92A692-798E-4634-90B1-36CD3966BFCB}">
  <a:tblStyle styleId="{6C92A692-798E-4634-90B1-36CD3966BFC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 name="Google Shape;3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endParaRPr/>
          </a:p>
        </p:txBody>
      </p:sp>
      <p:sp>
        <p:nvSpPr>
          <p:cNvPr id="33" name="Google Shape;3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endParaRPr/>
          </a:p>
        </p:txBody>
      </p:sp>
      <p:sp>
        <p:nvSpPr>
          <p:cNvPr id="62" name="Google Shape;6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Saturation (samprikt) is the ever-present bond - soaked, submerged, surrounded. The sponge-in-water and cell-in-nutrient images are illustrative, not identities. Stress that Omnipotence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Omnipotence provisions activeness (JV p. 150); transparency in mutuality provisions recognition (SB p. 50); mediativeness provisions regulation (MVD p. 26). INTERPRETATION (settled): in MVD pp. 32-33 the referent of 'yahi... yahi gyan hai' is the saturated STATE - nature submerged, soaked, surrounded in Omnipotence, which the text names coexistence - not a reified 'bond' as a third item. The slide uses the texts' evidence language ('is evident as' - MVD: law and regulation are evident in coexistence only; JV p. 150: the endowments are the testimony of permeative Omnipotence). Avoid 'projects' for the ground - Omnipotence is actionless, and projection (outward) is jeevan's outward activity on slides 11 and 16; avoid predicating reflection of the ground too - the reflector model has the ATOM reflecting Omnipotence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Omnipotence actualised as chaitanya at T1). Careful wording: Omnipotence does not project - it is actionless; the unit reflects what is ever-present in the ground. What is exclusive to the sentient atom is the reflection of gyan as sentience, not the ground itself - every atom is saturated in and sustained by Omnipotence.</a:t>
            </a:r>
            <a:endParaRPr/>
          </a:p>
        </p:txBody>
      </p:sp>
      <p:sp>
        <p:nvSpPr>
          <p:cNvPr id="92" name="Google Shape;9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endParaRPr/>
          </a:p>
        </p:txBody>
      </p:sp>
      <p:sp>
        <p:nvSpPr>
          <p:cNvPr id="119" name="Google Shape;11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'Nothing is isolated - that is the principle.' Relationships are where complementarity is actualised as value. Draw the contrast carefully: a relationship  has expectations predetermined toward completeness (parent-child); a contact has voluntary expectations (neighbours sharing a wall). Translation note if asked: the published rendering of sampark is 'association'; the translator (Rakesh Gupta) has revised it to 'contact', which the slide uses - cite against either printing accordingly. The neighbours-sharing-a-wall example is the study's illustrative gloss, not primary text. Value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endParaRPr/>
          </a:p>
        </p:txBody>
      </p:sp>
      <p:sp>
        <p:nvSpPr>
          <p:cNvPr id="156" name="Google Shape;15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stable orders - stress these are plateaus in development, not a human typology. Read the dharma column cumulatively: each higher order includes the dharmas below and adds one. The pivotal line is the boundary between pran and jeev: hope to live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existential progression, covered on the progressions slide.</a:t>
            </a:r>
            <a:endParaRPr/>
          </a:p>
        </p:txBody>
      </p:sp>
      <p:sp>
        <p:nvSpPr>
          <p:cNvPr id="187" name="Google Shape;18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endParaRPr/>
          </a:p>
        </p:txBody>
      </p:sp>
      <p:sp>
        <p:nvSpPr>
          <p:cNvPr id="201" name="Google Shape;2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endParaRPr/>
          </a:p>
        </p:txBody>
      </p:sp>
      <p:sp>
        <p:nvSpPr>
          <p:cNvPr id="224" name="Google Shape;2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T1 deserves its own slide because it is the sentience threshold - and it is constitutional, not neural complexity, molecular size, or position on the order chain. Molecules exhibit characteristics of development but not actual development. Mechanism: particle incorporation through hungry and overfull complementarity within a conducive environment; when the required particles integrate, the constitution closes. The bondage shift is the textual evidence (MVD p. 91): molecular-bondage and weight-bondage are released; hope-bondage defines the sentient mode. After T1: no change in particle count - qualitative change without quantitative change. Close with latency: the complete atom acts as a mediating reflector configuration - sentience is what was ever-present in Omnipotence, actualised - which becomes important in the comparison deck against emergence objections. NEW: T1 changes the drive's mode, not its direction - hope-bondage carries the same orientation. Epistemic upgrade: taste-recognition, impossible in insentient nature, first manifests in sentient nature (SB pp. 80-81) - recognition acquires the inner circuit of strengths and powers, the condition for knowing-believing-recognising-fulfilling at the knowledge order.</a:t>
            </a:r>
            <a:endParaRPr/>
          </a:p>
        </p:txBody>
      </p:sp>
      <p:sp>
        <p:nvSpPr>
          <p:cNvPr id="262" name="Google Shape;26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Jeevan's structure: atma is the nucleus; buddhi, chitta, vritti, mun are particles in the first through fourth orbits - this is MVD p. 78, and the study insists it is structural, not metaphor. Each faculty works through projection (outward) and reflection (inward)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(inward) is the knowing direction, the study circuit ratiocination in mun, deliberation in vritti, direct recognition in chitta, enlightenment in buddhi (MVD p. 126), terminating in anubhav in Omnipotence (MVD pp. 286-287); projection (outward)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endParaRPr/>
          </a:p>
        </p:txBody>
      </p:sp>
      <p:sp>
        <p:nvSpPr>
          <p:cNvPr id="282" name="Google Shape;28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jeevan values are not moods; they are names of harmony between faculty pairs - JV p. 138. Happiness: mun-vritti; peace: vritti-chitta; contentment: chitta-buddhi; bliss: buddhi-atma. Awakening is therefore FELT harmony, not just a plane label. Inward regulation - mediative atma at the nucleus disciplining the orbital faculties and the body - is the mechanism; note the study's point that the mediative nucleus at the atomic level and atma at the sentient centre are the same structural role at two scales, not mere analogy. The dark band carries the strong claim: jeevan persists across bodily birth and death, carrying impressions and its state of awakening. Be transparent: this is an ontological commitment of the darshan; its evidential status is examined in the comparison deck.</a:t>
            </a:r>
            <a:endParaRPr/>
          </a:p>
        </p:txBody>
      </p:sp>
      <p:sp>
        <p:nvSpPr>
          <p:cNvPr id="306" name="Google Shape;30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coordinates that must not be collapsed. Progressions are how nature moves - four words the texts refuse to merge: existential progression (fixed order emergence on Earth), way of existence (definiteness of each order's conduct), development progression (atomic development up to T1), awakening progression (awakening within jeevan). Planes are where a unit currently stands. The mapping table shows the asymmetry: two orders share the physicochemical plane, while the knowledge order spans three planes - which is exactly why order and plane cannot be used interchangeably. The junction point is elegant: the order chain delivers the animal BODY from enriched pranic life, while atomic development delivers the jeevan atom; an animal is their joint presence. Five human types (servile to divya-manav) mark degrees of awakening.</a:t>
            </a:r>
            <a:endParaRPr/>
          </a:p>
        </p:txBody>
      </p:sp>
      <p:sp>
        <p:nvSpPr>
          <p:cNvPr id="344" name="Google Shape;3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1" name="Google Shape;37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endParaRPr/>
          </a:p>
        </p:txBody>
      </p:sp>
      <p:sp>
        <p:nvSpPr>
          <p:cNvPr id="402" name="Google Shape;40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6" name="Google Shape;41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ladders on this slide, and they meet. LEFT - the scope ladder: what must be understood to know each aspect of a unit. Read bottom-up: form is graspable from the unit alone; properties (gun) need mutuality (they are defined as effects units have on one another); essential nature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(inward): mun tastes and selects the proposal; vritti deliberates - in humane consciousness, in the refuge of justice, dharma, and truth (JV pp. 138-139); chitta contemplates and visualises - revelation, sakshatkar (JV p. 61); buddhi has enlightenment  - understanding is enlightenment of existence, jeevan, and humane conduct in buddhi (JV p. 120) - and resolve; atma realises - anubhav - and realisation takes place only through truth (MVD p. 137). Then the return arrow: realisation projects back down (outward)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endParaRPr/>
          </a:p>
        </p:txBody>
      </p:sp>
      <p:sp>
        <p:nvSpPr>
          <p:cNvPr id="417" name="Google Shape;41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endParaRPr/>
          </a:p>
        </p:txBody>
      </p:sp>
      <p:sp>
        <p:nvSpPr>
          <p:cNvPr id="453" name="Google Shape;45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distinct conservation claims - keep them separate. Coexistence conservation: nothing arises from non-being (abhava), nothing is annihilated; only configurations change - jagat satat, the world is perpetual. Jeevan persistence: a further claim resting on constitutional completeness and immunity to decomposition. At the human scale the completeness drive becomes four societal goals: resolution, prosperity, fearlessness, coexistence - JV p. 61 links them to the internal values: resolution IS happiness realised, prosperity in family is peace, orderly living in society is contentment, evidencing understanding is bliss. Note the contrast: animal collectivity arises primarily from fear; human sociality builds on resolution and trust. These compose upward to undivided society and universal orderliness across five dimensions - education-character, justice-preservation, health-restraint, production-work, exchange-storage. NEW: close on continuity - the five dimensions sustained across generations as humane tradition, the continuity in which the drive's societal evidence goes on.</a:t>
            </a:r>
            <a:endParaRPr/>
          </a:p>
        </p:txBody>
      </p:sp>
      <p:sp>
        <p:nvSpPr>
          <p:cNvPr id="477" name="Google Shape;47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endParaRPr/>
          </a:p>
        </p:txBody>
      </p:sp>
      <p:sp>
        <p:nvSpPr>
          <p:cNvPr id="507" name="Google Shape;50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loop on the opening questions. Existence is the eternal coexistence of Omnipotence and units; what exists is Omnipotence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properties in mutuality, essential nature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endParaRPr/>
          </a:p>
        </p:txBody>
      </p:sp>
      <p:sp>
        <p:nvSpPr>
          <p:cNvPr id="526" name="Google Shape;52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15" name="Shape 15"/>
        <p:cNvGrpSpPr/>
        <p:nvPr/>
      </p:nvGrpSpPr>
      <p:grpSpPr>
        <a:xfrm>
          <a:off x="0" y="0"/>
          <a:ext cx="0" cy="0"/>
          <a:chOff x="0" y="0"/>
          <a:chExt cx="0" cy="0"/>
        </a:xfrm>
      </p:grpSpPr>
      <p:sp>
        <p:nvSpPr>
          <p:cNvPr id="16" name="Google Shape;16;p3"/>
          <p:cNvSpPr/>
          <p:nvPr/>
        </p:nvSpPr>
        <p:spPr>
          <a:xfrm>
            <a:off x="5852160" y="822960"/>
            <a:ext cx="3291840" cy="3291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6510528" y="1481328"/>
            <a:ext cx="1975104" cy="19751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7070141" y="2040941"/>
            <a:ext cx="855878" cy="85587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5394960" y="3566160"/>
            <a:ext cx="1097280" cy="109728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5614416" y="3785616"/>
            <a:ext cx="658368" cy="658368"/>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5800954" y="3972154"/>
            <a:ext cx="285293" cy="285293"/>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8138160" y="4023360"/>
            <a:ext cx="731520" cy="73152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a:off x="8284464" y="4169664"/>
            <a:ext cx="438912" cy="438912"/>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a:off x="8408822" y="4294022"/>
            <a:ext cx="190195" cy="190195"/>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640080" y="1234440"/>
            <a:ext cx="5852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MADHYASTH DARSHAN  ·  CO-EXISTENTIALISM</a:t>
            </a:r>
            <a:endParaRPr b="0" i="0" sz="1200" u="none" cap="none" strike="noStrike">
              <a:solidFill>
                <a:schemeClr val="dk1"/>
              </a:solidFill>
              <a:latin typeface="Calibri"/>
              <a:ea typeface="Calibri"/>
              <a:cs typeface="Calibri"/>
              <a:sym typeface="Calibri"/>
            </a:endParaRPr>
          </a:p>
        </p:txBody>
      </p:sp>
      <p:sp>
        <p:nvSpPr>
          <p:cNvPr id="26" name="Google Shape;26;p3"/>
          <p:cNvSpPr/>
          <p:nvPr/>
        </p:nvSpPr>
        <p:spPr>
          <a:xfrm>
            <a:off x="640080" y="1572768"/>
            <a:ext cx="557784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The Ontology of Existence</a:t>
            </a:r>
            <a:endParaRPr b="0" i="0" sz="4400" u="none" cap="none" strike="noStrike">
              <a:solidFill>
                <a:schemeClr val="dk1"/>
              </a:solidFill>
              <a:latin typeface="Calibri"/>
              <a:ea typeface="Calibri"/>
              <a:cs typeface="Calibri"/>
              <a:sym typeface="Calibri"/>
            </a:endParaRPr>
          </a:p>
        </p:txBody>
      </p:sp>
      <p:sp>
        <p:nvSpPr>
          <p:cNvPr id="27" name="Google Shape;27;p3"/>
          <p:cNvSpPr/>
          <p:nvPr/>
        </p:nvSpPr>
        <p:spPr>
          <a:xfrm>
            <a:off x="640080" y="2880360"/>
            <a:ext cx="48463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1600"/>
              <a:buFont typeface="Calibri"/>
              <a:buNone/>
            </a:pPr>
            <a:r>
              <a:rPr b="0" i="1" lang="en-US" sz="1600" u="none" cap="none" strike="noStrike">
                <a:solidFill>
                  <a:srgbClr val="C9D4EF"/>
                </a:solidFill>
                <a:latin typeface="Calibri"/>
                <a:ea typeface="Calibri"/>
                <a:cs typeface="Calibri"/>
                <a:sym typeface="Calibri"/>
              </a:rPr>
              <a:t>Existence understood as coexistence — nature saturated in Omnipotence</a:t>
            </a:r>
            <a:endParaRPr b="0" i="0" sz="1600" u="none" cap="none" strike="noStrike">
              <a:solidFill>
                <a:schemeClr val="dk1"/>
              </a:solidFill>
              <a:latin typeface="Calibri"/>
              <a:ea typeface="Calibri"/>
              <a:cs typeface="Calibri"/>
              <a:sym typeface="Calibri"/>
            </a:endParaRPr>
          </a:p>
        </p:txBody>
      </p:sp>
      <p:sp>
        <p:nvSpPr>
          <p:cNvPr id="28" name="Google Shape;28;p3"/>
          <p:cNvSpPr/>
          <p:nvPr/>
        </p:nvSpPr>
        <p:spPr>
          <a:xfrm>
            <a:off x="640080" y="4160520"/>
            <a:ext cx="5303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Based on §1 of </a:t>
            </a:r>
            <a:r>
              <a:rPr b="0" i="1" lang="en-US" sz="1150" u="none" cap="none" strike="noStrike">
                <a:solidFill>
                  <a:srgbClr val="8E9BC4"/>
                </a:solidFill>
                <a:latin typeface="Calibri"/>
                <a:ea typeface="Calibri"/>
                <a:cs typeface="Calibri"/>
                <a:sym typeface="Calibri"/>
              </a:rPr>
              <a:t>The Ontology of Coexistence</a:t>
            </a:r>
            <a:r>
              <a:rPr b="0" i="0" lang="en-US" sz="1150" u="none" cap="none" strike="noStrike">
                <a:solidFill>
                  <a:srgbClr val="8E9BC4"/>
                </a:solidFill>
                <a:latin typeface="Calibri"/>
                <a:ea typeface="Calibri"/>
                <a:cs typeface="Calibri"/>
                <a:sym typeface="Calibri"/>
              </a:rPr>
              <a:t> (AnalyticMadhyasthDarshan.org)</a:t>
            </a:r>
            <a:endParaRPr b="0" i="0" sz="1150" u="none" cap="none" strike="noStrike">
              <a:solidFill>
                <a:schemeClr val="dk1"/>
              </a:solidFill>
              <a:latin typeface="Calibri"/>
              <a:ea typeface="Calibri"/>
              <a:cs typeface="Calibri"/>
              <a:sym typeface="Calibri"/>
            </a:endParaRPr>
          </a:p>
        </p:txBody>
      </p:sp>
      <p:sp>
        <p:nvSpPr>
          <p:cNvPr id="29" name="Google Shape;29;p3"/>
          <p:cNvSpPr/>
          <p:nvPr/>
        </p:nvSpPr>
        <p:spPr>
          <a:xfrm>
            <a:off x="640080" y="4434840"/>
            <a:ext cx="5303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Primary texts of Shri A. Nagraj — MVD · SB · JV (tr. Rakesh Gupta)</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 name="Shape 34"/>
        <p:cNvGrpSpPr/>
        <p:nvPr/>
      </p:nvGrpSpPr>
      <p:grpSpPr>
        <a:xfrm>
          <a:off x="0" y="0"/>
          <a:ext cx="0" cy="0"/>
          <a:chOff x="0" y="0"/>
          <a:chExt cx="0" cy="0"/>
        </a:xfrm>
      </p:grpSpPr>
      <p:sp>
        <p:nvSpPr>
          <p:cNvPr id="35" name="Google Shape;35;p4"/>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FRAMING</a:t>
            </a:r>
            <a:endParaRPr b="0" i="0" sz="1050" u="none" cap="none" strike="noStrike">
              <a:solidFill>
                <a:schemeClr val="dk1"/>
              </a:solidFill>
              <a:latin typeface="Calibri"/>
              <a:ea typeface="Calibri"/>
              <a:cs typeface="Calibri"/>
              <a:sym typeface="Calibri"/>
            </a:endParaRPr>
          </a:p>
        </p:txBody>
      </p:sp>
      <p:sp>
        <p:nvSpPr>
          <p:cNvPr id="39" name="Google Shape;39;p4"/>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Questions Ontology Must Answer</a:t>
            </a:r>
            <a:endParaRPr b="0" i="0" sz="3000" u="none" cap="none" strike="noStrike">
              <a:solidFill>
                <a:schemeClr val="dk1"/>
              </a:solidFill>
              <a:latin typeface="Calibri"/>
              <a:ea typeface="Calibri"/>
              <a:cs typeface="Calibri"/>
              <a:sym typeface="Calibri"/>
            </a:endParaRPr>
          </a:p>
        </p:txBody>
      </p:sp>
      <p:sp>
        <p:nvSpPr>
          <p:cNvPr id="40" name="Google Shape;40;p4"/>
          <p:cNvSpPr/>
          <p:nvPr/>
        </p:nvSpPr>
        <p:spPr>
          <a:xfrm>
            <a:off x="640080" y="1225296"/>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 name="Google Shape;41;p4"/>
          <p:cNvPicPr preferRelativeResize="0"/>
          <p:nvPr/>
        </p:nvPicPr>
        <p:blipFill rotWithShape="1">
          <a:blip r:embed="rId3">
            <a:alphaModFix/>
          </a:blip>
          <a:srcRect b="0" l="0" r="0" t="0"/>
          <a:stretch/>
        </p:blipFill>
        <p:spPr>
          <a:xfrm>
            <a:off x="735178" y="1320394"/>
            <a:ext cx="175565" cy="175565"/>
          </a:xfrm>
          <a:prstGeom prst="rect">
            <a:avLst/>
          </a:prstGeom>
          <a:noFill/>
          <a:ln>
            <a:noFill/>
          </a:ln>
        </p:spPr>
      </p:pic>
      <p:sp>
        <p:nvSpPr>
          <p:cNvPr id="42" name="Google Shape;42;p4"/>
          <p:cNvSpPr/>
          <p:nvPr/>
        </p:nvSpPr>
        <p:spPr>
          <a:xfrm>
            <a:off x="1188720" y="118872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What is Existence?  —  </a:t>
            </a:r>
            <a:r>
              <a:rPr b="0" i="0" lang="en-US" sz="1300" u="none" cap="none" strike="noStrike">
                <a:solidFill>
                  <a:srgbClr val="5A6377"/>
                </a:solidFill>
                <a:latin typeface="Calibri"/>
                <a:ea typeface="Calibri"/>
                <a:cs typeface="Calibri"/>
                <a:sym typeface="Calibri"/>
              </a:rPr>
              <a:t>Is there one fundamental reality, or many — and how are they related?</a:t>
            </a:r>
            <a:endParaRPr b="0" i="0" sz="1450" u="none" cap="none" strike="noStrike">
              <a:solidFill>
                <a:schemeClr val="dk1"/>
              </a:solidFill>
              <a:latin typeface="Calibri"/>
              <a:ea typeface="Calibri"/>
              <a:cs typeface="Calibri"/>
              <a:sym typeface="Calibri"/>
            </a:endParaRPr>
          </a:p>
        </p:txBody>
      </p:sp>
      <p:sp>
        <p:nvSpPr>
          <p:cNvPr id="43" name="Google Shape;43;p4"/>
          <p:cNvSpPr/>
          <p:nvPr/>
        </p:nvSpPr>
        <p:spPr>
          <a:xfrm>
            <a:off x="640080" y="1792224"/>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 name="Google Shape;44;p4"/>
          <p:cNvPicPr preferRelativeResize="0"/>
          <p:nvPr/>
        </p:nvPicPr>
        <p:blipFill rotWithShape="1">
          <a:blip r:embed="rId3">
            <a:alphaModFix/>
          </a:blip>
          <a:srcRect b="0" l="0" r="0" t="0"/>
          <a:stretch/>
        </p:blipFill>
        <p:spPr>
          <a:xfrm>
            <a:off x="735178" y="1887322"/>
            <a:ext cx="175565" cy="175565"/>
          </a:xfrm>
          <a:prstGeom prst="rect">
            <a:avLst/>
          </a:prstGeom>
          <a:noFill/>
          <a:ln>
            <a:noFill/>
          </a:ln>
        </p:spPr>
      </p:pic>
      <p:sp>
        <p:nvSpPr>
          <p:cNvPr id="45" name="Google Shape;45;p4"/>
          <p:cNvSpPr/>
          <p:nvPr/>
        </p:nvSpPr>
        <p:spPr>
          <a:xfrm>
            <a:off x="1188720" y="1755648"/>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What exists?  —  </a:t>
            </a:r>
            <a:r>
              <a:rPr b="0" i="0" lang="en-US" sz="1300" u="none" cap="none" strike="noStrike">
                <a:solidFill>
                  <a:srgbClr val="5A6377"/>
                </a:solidFill>
                <a:latin typeface="Calibri"/>
                <a:ea typeface="Calibri"/>
                <a:cs typeface="Calibri"/>
                <a:sym typeface="Calibri"/>
              </a:rPr>
              <a:t>What are the basic constituents of reality, and what is each of them?</a:t>
            </a:r>
            <a:endParaRPr b="0" i="0" sz="1450" u="none" cap="none" strike="noStrike">
              <a:solidFill>
                <a:schemeClr val="dk1"/>
              </a:solidFill>
              <a:latin typeface="Calibri"/>
              <a:ea typeface="Calibri"/>
              <a:cs typeface="Calibri"/>
              <a:sym typeface="Calibri"/>
            </a:endParaRPr>
          </a:p>
        </p:txBody>
      </p:sp>
      <p:sp>
        <p:nvSpPr>
          <p:cNvPr id="46" name="Google Shape;46;p4"/>
          <p:cNvSpPr/>
          <p:nvPr/>
        </p:nvSpPr>
        <p:spPr>
          <a:xfrm>
            <a:off x="640080" y="2359152"/>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7" name="Google Shape;47;p4"/>
          <p:cNvPicPr preferRelativeResize="0"/>
          <p:nvPr/>
        </p:nvPicPr>
        <p:blipFill rotWithShape="1">
          <a:blip r:embed="rId3">
            <a:alphaModFix/>
          </a:blip>
          <a:srcRect b="0" l="0" r="0" t="0"/>
          <a:stretch/>
        </p:blipFill>
        <p:spPr>
          <a:xfrm>
            <a:off x="735178" y="2454250"/>
            <a:ext cx="175565" cy="175565"/>
          </a:xfrm>
          <a:prstGeom prst="rect">
            <a:avLst/>
          </a:prstGeom>
          <a:noFill/>
          <a:ln>
            <a:noFill/>
          </a:ln>
        </p:spPr>
      </p:pic>
      <p:sp>
        <p:nvSpPr>
          <p:cNvPr id="48" name="Google Shape;48;p4"/>
          <p:cNvSpPr/>
          <p:nvPr/>
        </p:nvSpPr>
        <p:spPr>
          <a:xfrm>
            <a:off x="1188720" y="2322576"/>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Does what exists begin?  —  </a:t>
            </a:r>
            <a:r>
              <a:rPr b="0" i="0" lang="en-US" sz="1300" u="none" cap="none" strike="noStrike">
                <a:solidFill>
                  <a:srgbClr val="5A6377"/>
                </a:solidFill>
                <a:latin typeface="Calibri"/>
                <a:ea typeface="Calibri"/>
                <a:cs typeface="Calibri"/>
                <a:sym typeface="Calibri"/>
              </a:rPr>
              <a:t>Did reality originate at some time — or is origination only of configurations?</a:t>
            </a:r>
            <a:endParaRPr b="0" i="0" sz="1450" u="none" cap="none" strike="noStrike">
              <a:solidFill>
                <a:schemeClr val="dk1"/>
              </a:solidFill>
              <a:latin typeface="Calibri"/>
              <a:ea typeface="Calibri"/>
              <a:cs typeface="Calibri"/>
              <a:sym typeface="Calibri"/>
            </a:endParaRPr>
          </a:p>
        </p:txBody>
      </p:sp>
      <p:sp>
        <p:nvSpPr>
          <p:cNvPr id="49" name="Google Shape;49;p4"/>
          <p:cNvSpPr/>
          <p:nvPr/>
        </p:nvSpPr>
        <p:spPr>
          <a:xfrm>
            <a:off x="640080" y="2926080"/>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0" name="Google Shape;50;p4"/>
          <p:cNvPicPr preferRelativeResize="0"/>
          <p:nvPr/>
        </p:nvPicPr>
        <p:blipFill rotWithShape="1">
          <a:blip r:embed="rId3">
            <a:alphaModFix/>
          </a:blip>
          <a:srcRect b="0" l="0" r="0" t="0"/>
          <a:stretch/>
        </p:blipFill>
        <p:spPr>
          <a:xfrm>
            <a:off x="735178" y="3021178"/>
            <a:ext cx="175565" cy="175565"/>
          </a:xfrm>
          <a:prstGeom prst="rect">
            <a:avLst/>
          </a:prstGeom>
          <a:noFill/>
          <a:ln>
            <a:noFill/>
          </a:ln>
        </p:spPr>
      </p:pic>
      <p:sp>
        <p:nvSpPr>
          <p:cNvPr id="51" name="Google Shape;51;p4"/>
          <p:cNvSpPr/>
          <p:nvPr/>
        </p:nvSpPr>
        <p:spPr>
          <a:xfrm>
            <a:off x="1188720" y="2889504"/>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Does the self begin or end with the body?  —  </a:t>
            </a:r>
            <a:r>
              <a:rPr b="0" i="0" lang="en-US" sz="1300" u="none" cap="none" strike="noStrike">
                <a:solidFill>
                  <a:srgbClr val="5A6377"/>
                </a:solidFill>
                <a:latin typeface="Calibri"/>
                <a:ea typeface="Calibri"/>
                <a:cs typeface="Calibri"/>
                <a:sym typeface="Calibri"/>
              </a:rPr>
              <a:t>Is the individual self (jeevan) produced by the body and destroyed with it?</a:t>
            </a:r>
            <a:endParaRPr b="0" i="0" sz="1450" u="none" cap="none" strike="noStrike">
              <a:solidFill>
                <a:schemeClr val="dk1"/>
              </a:solidFill>
              <a:latin typeface="Calibri"/>
              <a:ea typeface="Calibri"/>
              <a:cs typeface="Calibri"/>
              <a:sym typeface="Calibri"/>
            </a:endParaRPr>
          </a:p>
        </p:txBody>
      </p:sp>
      <p:sp>
        <p:nvSpPr>
          <p:cNvPr id="52" name="Google Shape;52;p4"/>
          <p:cNvSpPr/>
          <p:nvPr/>
        </p:nvSpPr>
        <p:spPr>
          <a:xfrm>
            <a:off x="640080" y="3493008"/>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 name="Google Shape;53;p4"/>
          <p:cNvPicPr preferRelativeResize="0"/>
          <p:nvPr/>
        </p:nvPicPr>
        <p:blipFill rotWithShape="1">
          <a:blip r:embed="rId3">
            <a:alphaModFix/>
          </a:blip>
          <a:srcRect b="0" l="0" r="0" t="0"/>
          <a:stretch/>
        </p:blipFill>
        <p:spPr>
          <a:xfrm>
            <a:off x="735178" y="3588106"/>
            <a:ext cx="175565" cy="175565"/>
          </a:xfrm>
          <a:prstGeom prst="rect">
            <a:avLst/>
          </a:prstGeom>
          <a:noFill/>
          <a:ln>
            <a:noFill/>
          </a:ln>
        </p:spPr>
      </p:pic>
      <p:sp>
        <p:nvSpPr>
          <p:cNvPr id="54" name="Google Shape;54;p4"/>
          <p:cNvSpPr/>
          <p:nvPr/>
        </p:nvSpPr>
        <p:spPr>
          <a:xfrm>
            <a:off x="1188720" y="3456432"/>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Is the world finally real?  —  </a:t>
            </a:r>
            <a:r>
              <a:rPr b="0" i="0" lang="en-US" sz="1300" u="none" cap="none" strike="noStrike">
                <a:solidFill>
                  <a:srgbClr val="5A6377"/>
                </a:solidFill>
                <a:latin typeface="Calibri"/>
                <a:ea typeface="Calibri"/>
                <a:cs typeface="Calibri"/>
                <a:sym typeface="Calibri"/>
              </a:rPr>
              <a:t>Is the plural world of units an appearance, or real in its own right?</a:t>
            </a:r>
            <a:endParaRPr b="0" i="0" sz="1450" u="none" cap="none" strike="noStrike">
              <a:solidFill>
                <a:schemeClr val="dk1"/>
              </a:solidFill>
              <a:latin typeface="Calibri"/>
              <a:ea typeface="Calibri"/>
              <a:cs typeface="Calibri"/>
              <a:sym typeface="Calibri"/>
            </a:endParaRPr>
          </a:p>
        </p:txBody>
      </p:sp>
      <p:sp>
        <p:nvSpPr>
          <p:cNvPr id="55" name="Google Shape;55;p4"/>
          <p:cNvSpPr/>
          <p:nvPr/>
        </p:nvSpPr>
        <p:spPr>
          <a:xfrm>
            <a:off x="640080" y="4059936"/>
            <a:ext cx="365760" cy="36576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6" name="Google Shape;56;p4"/>
          <p:cNvPicPr preferRelativeResize="0"/>
          <p:nvPr/>
        </p:nvPicPr>
        <p:blipFill rotWithShape="1">
          <a:blip r:embed="rId3">
            <a:alphaModFix/>
          </a:blip>
          <a:srcRect b="0" l="0" r="0" t="0"/>
          <a:stretch/>
        </p:blipFill>
        <p:spPr>
          <a:xfrm>
            <a:off x="735178" y="4155034"/>
            <a:ext cx="175565" cy="175565"/>
          </a:xfrm>
          <a:prstGeom prst="rect">
            <a:avLst/>
          </a:prstGeom>
          <a:noFill/>
          <a:ln>
            <a:noFill/>
          </a:ln>
        </p:spPr>
      </p:pic>
      <p:sp>
        <p:nvSpPr>
          <p:cNvPr id="57" name="Google Shape;57;p4"/>
          <p:cNvSpPr/>
          <p:nvPr/>
        </p:nvSpPr>
        <p:spPr>
          <a:xfrm>
            <a:off x="1188720" y="402336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libri"/>
              <a:buNone/>
            </a:pPr>
            <a:r>
              <a:rPr b="1" i="0" lang="en-US" sz="1450" u="none" cap="none" strike="noStrike">
                <a:solidFill>
                  <a:srgbClr val="1E2447"/>
                </a:solidFill>
                <a:latin typeface="Calibri"/>
                <a:ea typeface="Calibri"/>
                <a:cs typeface="Calibri"/>
                <a:sym typeface="Calibri"/>
              </a:rPr>
              <a:t>How can what exists be known?  —  </a:t>
            </a:r>
            <a:r>
              <a:rPr b="0" i="0" lang="en-US" sz="1300" u="none" cap="none" strike="noStrike">
                <a:solidFill>
                  <a:srgbClr val="5A6377"/>
                </a:solidFill>
                <a:latin typeface="Calibri"/>
                <a:ea typeface="Calibri"/>
                <a:cs typeface="Calibri"/>
                <a:sym typeface="Calibri"/>
              </a:rPr>
              <a:t>What must be understood — and at what scope — to know each aspect of reality?</a:t>
            </a:r>
            <a:endParaRPr b="0" i="0" sz="1450" u="none" cap="none" strike="noStrike">
              <a:solidFill>
                <a:schemeClr val="dk1"/>
              </a:solidFill>
              <a:latin typeface="Calibri"/>
              <a:ea typeface="Calibri"/>
              <a:cs typeface="Calibri"/>
              <a:sym typeface="Calibri"/>
            </a:endParaRPr>
          </a:p>
        </p:txBody>
      </p:sp>
      <p:sp>
        <p:nvSpPr>
          <p:cNvPr id="58" name="Google Shape;58;p4"/>
          <p:cNvSpPr/>
          <p:nvPr/>
        </p:nvSpPr>
        <p:spPr>
          <a:xfrm>
            <a:off x="1188720" y="4645152"/>
            <a:ext cx="7406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50"/>
              <a:buFont typeface="Calibri"/>
              <a:buNone/>
            </a:pPr>
            <a:r>
              <a:rPr b="0" i="1" lang="en-US" sz="1250" u="none" cap="none" strike="noStrike">
                <a:solidFill>
                  <a:srgbClr val="9A6414"/>
                </a:solidFill>
                <a:latin typeface="Calibri"/>
                <a:ea typeface="Calibri"/>
                <a:cs typeface="Calibri"/>
                <a:sym typeface="Calibri"/>
              </a:rPr>
              <a:t>Madhyasth Darshan answers each from a single starting point: existence is coexistence.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 name="Shape 63"/>
        <p:cNvGrpSpPr/>
        <p:nvPr/>
      </p:nvGrpSpPr>
      <p:grpSpPr>
        <a:xfrm>
          <a:off x="0" y="0"/>
          <a:ext cx="0" cy="0"/>
          <a:chOff x="0" y="0"/>
          <a:chExt cx="0" cy="0"/>
        </a:xfrm>
      </p:grpSpPr>
      <p:sp>
        <p:nvSpPr>
          <p:cNvPr id="64" name="Google Shape;64;p5"/>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5"/>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 · TWO INSEPARABLE ASPECTS</a:t>
            </a:r>
            <a:endParaRPr b="0" i="0" sz="1050" u="none" cap="none" strike="noStrike">
              <a:solidFill>
                <a:schemeClr val="dk1"/>
              </a:solidFill>
              <a:latin typeface="Calibri"/>
              <a:ea typeface="Calibri"/>
              <a:cs typeface="Calibri"/>
              <a:sym typeface="Calibri"/>
            </a:endParaRPr>
          </a:p>
        </p:txBody>
      </p:sp>
      <p:sp>
        <p:nvSpPr>
          <p:cNvPr id="68" name="Google Shape;68;p5"/>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Existence Is Coexistence</a:t>
            </a:r>
            <a:endParaRPr b="0" i="0" sz="3000" u="none" cap="none" strike="noStrike">
              <a:solidFill>
                <a:schemeClr val="dk1"/>
              </a:solidFill>
              <a:latin typeface="Calibri"/>
              <a:ea typeface="Calibri"/>
              <a:cs typeface="Calibri"/>
              <a:sym typeface="Calibri"/>
            </a:endParaRPr>
          </a:p>
        </p:txBody>
      </p:sp>
      <p:sp>
        <p:nvSpPr>
          <p:cNvPr id="69" name="Google Shape;69;p5"/>
          <p:cNvSpPr/>
          <p:nvPr/>
        </p:nvSpPr>
        <p:spPr>
          <a:xfrm>
            <a:off x="640080" y="1280160"/>
            <a:ext cx="4160520" cy="3474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Omnipotence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Formless, all-pervasive, non-transforming, immeasurable — actionless energy. It performs no actions, yet every unit is energised, regulated, and conserved in it. It has no absent place.</a:t>
            </a:r>
            <a:endParaRPr b="0" i="0" sz="1500" u="none" cap="none" strike="noStrike">
              <a:solidFill>
                <a:schemeClr val="dk1"/>
              </a:solidFill>
              <a:latin typeface="Calibri"/>
              <a:ea typeface="Calibri"/>
              <a:cs typeface="Calibri"/>
              <a:sym typeface="Calibri"/>
            </a:endParaRPr>
          </a:p>
          <a:p>
            <a:pPr indent="0" lvl="0" marL="0" marR="0" rtl="0" algn="l">
              <a:spcBef>
                <a:spcPts val="100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Units of nature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Formful, active, countable entities — each bounded from six directions, and each soaked, submerged, and surrounded in Omnipotence, with form, properties, essential nature, and dharma.</a:t>
            </a:r>
            <a:endParaRPr b="0" i="0" sz="1500" u="none" cap="none" strike="noStrike">
              <a:solidFill>
                <a:schemeClr val="dk1"/>
              </a:solidFill>
              <a:latin typeface="Calibri"/>
              <a:ea typeface="Calibri"/>
              <a:cs typeface="Calibri"/>
              <a:sym typeface="Calibri"/>
            </a:endParaRPr>
          </a:p>
          <a:p>
            <a:pPr indent="0" lvl="0" marL="0" marR="0" rtl="0" algn="l">
              <a:spcBef>
                <a:spcPts val="1000"/>
              </a:spcBef>
              <a:spcAft>
                <a:spcPts val="0"/>
              </a:spcAft>
              <a:buClr>
                <a:srgbClr val="1E2447"/>
              </a:buClr>
              <a:buSzPts val="1500"/>
              <a:buFont typeface="Calibri"/>
              <a:buNone/>
            </a:pPr>
            <a:r>
              <a:rPr b="1" i="0" lang="en-US" sz="1500" u="none" cap="none" strike="noStrike">
                <a:solidFill>
                  <a:srgbClr val="1E2447"/>
                </a:solidFill>
                <a:latin typeface="Calibri"/>
                <a:ea typeface="Calibri"/>
                <a:cs typeface="Calibri"/>
                <a:sym typeface="Calibri"/>
              </a:rPr>
              <a:t>Never two separate poles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Separation of a unit from the saturated whole “never happens.” The ground is state-complete — without motion, wave, or pressure; nature saturated in it is state-dynamic — all change is unit-activity.</a:t>
            </a:r>
            <a:endParaRPr b="0" i="0" sz="1500" u="none" cap="none" strike="noStrike">
              <a:solidFill>
                <a:schemeClr val="dk1"/>
              </a:solidFill>
              <a:latin typeface="Calibri"/>
              <a:ea typeface="Calibri"/>
              <a:cs typeface="Calibri"/>
              <a:sym typeface="Calibri"/>
            </a:endParaRPr>
          </a:p>
        </p:txBody>
      </p:sp>
      <p:sp>
        <p:nvSpPr>
          <p:cNvPr id="70" name="Google Shape;70;p5"/>
          <p:cNvSpPr/>
          <p:nvPr/>
        </p:nvSpPr>
        <p:spPr>
          <a:xfrm>
            <a:off x="5074920" y="1280160"/>
            <a:ext cx="3566160" cy="3246120"/>
          </a:xfrm>
          <a:prstGeom prst="roundRect">
            <a:avLst>
              <a:gd fmla="val 3380"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5074920" y="1417320"/>
            <a:ext cx="3566160" cy="274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1100"/>
              <a:buFont typeface="Calibri"/>
              <a:buNone/>
            </a:pPr>
            <a:r>
              <a:rPr b="1" i="0" lang="en-US" sz="1100" u="none" cap="none" strike="noStrike">
                <a:solidFill>
                  <a:srgbClr val="C9D4EF"/>
                </a:solidFill>
                <a:latin typeface="Calibri"/>
                <a:ea typeface="Calibri"/>
                <a:cs typeface="Calibri"/>
                <a:sym typeface="Calibri"/>
              </a:rPr>
              <a:t>OMNIPOTENCE — the pervasive ground</a:t>
            </a:r>
            <a:endParaRPr b="0" i="0" sz="1100" u="none" cap="none" strike="noStrike">
              <a:solidFill>
                <a:schemeClr val="dk1"/>
              </a:solidFill>
              <a:latin typeface="Calibri"/>
              <a:ea typeface="Calibri"/>
              <a:cs typeface="Calibri"/>
              <a:sym typeface="Calibri"/>
            </a:endParaRPr>
          </a:p>
        </p:txBody>
      </p:sp>
      <p:sp>
        <p:nvSpPr>
          <p:cNvPr id="72" name="Google Shape;72;p5"/>
          <p:cNvSpPr/>
          <p:nvPr/>
        </p:nvSpPr>
        <p:spPr>
          <a:xfrm>
            <a:off x="5440680" y="1965960"/>
            <a:ext cx="1051560" cy="1051560"/>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5"/>
          <p:cNvSpPr/>
          <p:nvPr/>
        </p:nvSpPr>
        <p:spPr>
          <a:xfrm>
            <a:off x="5650992" y="2176272"/>
            <a:ext cx="630936" cy="630936"/>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5"/>
          <p:cNvSpPr/>
          <p:nvPr/>
        </p:nvSpPr>
        <p:spPr>
          <a:xfrm>
            <a:off x="5829757" y="2355037"/>
            <a:ext cx="273406" cy="273406"/>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5"/>
          <p:cNvSpPr/>
          <p:nvPr/>
        </p:nvSpPr>
        <p:spPr>
          <a:xfrm>
            <a:off x="6812280" y="2240280"/>
            <a:ext cx="777240" cy="777240"/>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5"/>
          <p:cNvSpPr/>
          <p:nvPr/>
        </p:nvSpPr>
        <p:spPr>
          <a:xfrm>
            <a:off x="6967728" y="2395728"/>
            <a:ext cx="466344" cy="466344"/>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7099859" y="2527859"/>
            <a:ext cx="202082" cy="202082"/>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5"/>
          <p:cNvSpPr/>
          <p:nvPr/>
        </p:nvSpPr>
        <p:spPr>
          <a:xfrm>
            <a:off x="7635240" y="1783080"/>
            <a:ext cx="566928" cy="566928"/>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7748626" y="1896466"/>
            <a:ext cx="340157" cy="340157"/>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7845003" y="1992843"/>
            <a:ext cx="147401" cy="147401"/>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5"/>
          <p:cNvSpPr/>
          <p:nvPr/>
        </p:nvSpPr>
        <p:spPr>
          <a:xfrm>
            <a:off x="6035040" y="3200400"/>
            <a:ext cx="658368" cy="658368"/>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5"/>
          <p:cNvSpPr/>
          <p:nvPr/>
        </p:nvSpPr>
        <p:spPr>
          <a:xfrm>
            <a:off x="6166714" y="3332074"/>
            <a:ext cx="395021" cy="395021"/>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6278636" y="3443996"/>
            <a:ext cx="171176" cy="171176"/>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5"/>
          <p:cNvSpPr/>
          <p:nvPr/>
        </p:nvSpPr>
        <p:spPr>
          <a:xfrm>
            <a:off x="7315200" y="3246120"/>
            <a:ext cx="896112" cy="896112"/>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7494422" y="3425342"/>
            <a:ext cx="537667" cy="537667"/>
          </a:xfrm>
          <a:prstGeom prst="ellipse">
            <a:avLst/>
          </a:prstGeom>
          <a:noFill/>
          <a:ln cap="flat" cmpd="sng" w="15875">
            <a:solidFill>
              <a:srgbClr val="5A68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5"/>
          <p:cNvSpPr/>
          <p:nvPr/>
        </p:nvSpPr>
        <p:spPr>
          <a:xfrm>
            <a:off x="7646761" y="3577681"/>
            <a:ext cx="232989" cy="232989"/>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5"/>
          <p:cNvSpPr/>
          <p:nvPr/>
        </p:nvSpPr>
        <p:spPr>
          <a:xfrm>
            <a:off x="5257800" y="4114800"/>
            <a:ext cx="320040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1000"/>
              <a:buFont typeface="Calibri"/>
              <a:buNone/>
            </a:pPr>
            <a:r>
              <a:rPr b="0" i="1" lang="en-US" sz="1000" u="none" cap="none" strike="noStrike">
                <a:solidFill>
                  <a:srgbClr val="C9D4EF"/>
                </a:solidFill>
                <a:latin typeface="Calibri"/>
                <a:ea typeface="Calibri"/>
                <a:cs typeface="Calibri"/>
                <a:sym typeface="Calibri"/>
              </a:rPr>
              <a:t>bounded units, each saturated in the ground; even the distance between units is held in Omnipotence as Space</a:t>
            </a:r>
            <a:endParaRPr b="0" i="0" sz="1000" u="none" cap="none" strike="noStrike">
              <a:solidFill>
                <a:schemeClr val="dk1"/>
              </a:solidFill>
              <a:latin typeface="Calibri"/>
              <a:ea typeface="Calibri"/>
              <a:cs typeface="Calibri"/>
              <a:sym typeface="Calibri"/>
            </a:endParaRPr>
          </a:p>
        </p:txBody>
      </p:sp>
      <p:sp>
        <p:nvSpPr>
          <p:cNvPr id="88" name="Google Shape;88;p5"/>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“Existence itself is eternally manifest in the form of coexistence” — SB p. 48  ·  MVD pp. 11, 34  ·  JV p. 18</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6"/>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6"/>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6"/>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§1.2 · THE THREE ENDOWMENTS</a:t>
            </a:r>
            <a:endParaRPr b="0" i="0" sz="1050" u="none" cap="none" strike="noStrike">
              <a:solidFill>
                <a:schemeClr val="dk1"/>
              </a:solidFill>
              <a:latin typeface="Calibri"/>
              <a:ea typeface="Calibri"/>
              <a:cs typeface="Calibri"/>
              <a:sym typeface="Calibri"/>
            </a:endParaRPr>
          </a:p>
        </p:txBody>
      </p:sp>
      <p:sp>
        <p:nvSpPr>
          <p:cNvPr id="98" name="Google Shape;98;p6"/>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Saturation: The Ground–Unit Bond</a:t>
            </a:r>
            <a:endParaRPr b="0" i="0" sz="3000" u="none" cap="none" strike="noStrike">
              <a:solidFill>
                <a:schemeClr val="dk1"/>
              </a:solidFill>
              <a:latin typeface="Calibri"/>
              <a:ea typeface="Calibri"/>
              <a:cs typeface="Calibri"/>
              <a:sym typeface="Calibri"/>
            </a:endParaRPr>
          </a:p>
        </p:txBody>
      </p:sp>
      <p:sp>
        <p:nvSpPr>
          <p:cNvPr id="99" name="Google Shape;99;p6"/>
          <p:cNvSpPr/>
          <p:nvPr/>
        </p:nvSpPr>
        <p:spPr>
          <a:xfrm>
            <a:off x="640080" y="1207008"/>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Every formful unit is soaked, submerged, and surrounded in Omnipotence — like a sponge in water, never pushed by it. Saturated coexistence itself is knowledge; every unit receives three endowments through this bond.</a:t>
            </a:r>
            <a:endParaRPr b="0" i="0" sz="1300" u="none" cap="none" strike="noStrike">
              <a:solidFill>
                <a:schemeClr val="dk1"/>
              </a:solidFill>
              <a:latin typeface="Calibri"/>
              <a:ea typeface="Calibri"/>
              <a:cs typeface="Calibri"/>
              <a:sym typeface="Calibri"/>
            </a:endParaRPr>
          </a:p>
        </p:txBody>
      </p:sp>
      <p:sp>
        <p:nvSpPr>
          <p:cNvPr id="100" name="Google Shape;100;p6"/>
          <p:cNvSpPr/>
          <p:nvPr/>
        </p:nvSpPr>
        <p:spPr>
          <a:xfrm>
            <a:off x="640080"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841248"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2" name="Google Shape;102;p6"/>
          <p:cNvPicPr preferRelativeResize="0"/>
          <p:nvPr/>
        </p:nvPicPr>
        <p:blipFill rotWithShape="1">
          <a:blip r:embed="rId3">
            <a:alphaModFix/>
          </a:blip>
          <a:srcRect b="0" l="0" r="0" t="0"/>
          <a:stretch/>
        </p:blipFill>
        <p:spPr>
          <a:xfrm>
            <a:off x="960120" y="2331720"/>
            <a:ext cx="219456" cy="219456"/>
          </a:xfrm>
          <a:prstGeom prst="rect">
            <a:avLst/>
          </a:prstGeom>
          <a:noFill/>
          <a:ln>
            <a:noFill/>
          </a:ln>
        </p:spPr>
      </p:pic>
      <p:sp>
        <p:nvSpPr>
          <p:cNvPr id="103" name="Google Shape;103;p6"/>
          <p:cNvSpPr/>
          <p:nvPr/>
        </p:nvSpPr>
        <p:spPr>
          <a:xfrm>
            <a:off x="841248"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Recognition capability</a:t>
            </a:r>
            <a:endParaRPr b="0" i="0" sz="1450" u="none" cap="none" strike="noStrike">
              <a:solidFill>
                <a:schemeClr val="dk1"/>
              </a:solidFill>
              <a:latin typeface="Calibri"/>
              <a:ea typeface="Calibri"/>
              <a:cs typeface="Calibri"/>
              <a:sym typeface="Calibri"/>
            </a:endParaRPr>
          </a:p>
        </p:txBody>
      </p:sp>
      <p:sp>
        <p:nvSpPr>
          <p:cNvPr id="104" name="Google Shape;104;p6"/>
          <p:cNvSpPr/>
          <p:nvPr/>
        </p:nvSpPr>
        <p:spPr>
          <a:xfrm>
            <a:off x="841248"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Complementarity is given in coexistence, not created. Bounded units standing together in the ground are provisioned to recognise one another — with capacity, ability, and receptivity.</a:t>
            </a:r>
            <a:endParaRPr b="0" i="0" sz="1050" u="none" cap="none" strike="noStrike">
              <a:solidFill>
                <a:schemeClr val="dk1"/>
              </a:solidFill>
              <a:latin typeface="Calibri"/>
              <a:ea typeface="Calibri"/>
              <a:cs typeface="Calibri"/>
              <a:sym typeface="Calibri"/>
            </a:endParaRPr>
          </a:p>
        </p:txBody>
      </p:sp>
      <p:sp>
        <p:nvSpPr>
          <p:cNvPr id="105" name="Google Shape;105;p6"/>
          <p:cNvSpPr/>
          <p:nvPr/>
        </p:nvSpPr>
        <p:spPr>
          <a:xfrm>
            <a:off x="3392424"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3593592"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7" name="Google Shape;107;p6"/>
          <p:cNvPicPr preferRelativeResize="0"/>
          <p:nvPr/>
        </p:nvPicPr>
        <p:blipFill rotWithShape="1">
          <a:blip r:embed="rId4">
            <a:alphaModFix/>
          </a:blip>
          <a:srcRect b="0" l="0" r="0" t="0"/>
          <a:stretch/>
        </p:blipFill>
        <p:spPr>
          <a:xfrm>
            <a:off x="3712464" y="2331720"/>
            <a:ext cx="219456" cy="219456"/>
          </a:xfrm>
          <a:prstGeom prst="rect">
            <a:avLst/>
          </a:prstGeom>
          <a:noFill/>
          <a:ln>
            <a:noFill/>
          </a:ln>
        </p:spPr>
      </p:pic>
      <p:sp>
        <p:nvSpPr>
          <p:cNvPr id="108" name="Google Shape;108;p6"/>
          <p:cNvSpPr/>
          <p:nvPr/>
        </p:nvSpPr>
        <p:spPr>
          <a:xfrm>
            <a:off x="3593592"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Activeness</a:t>
            </a:r>
            <a:endParaRPr b="0" i="0" sz="1450" u="none" cap="none" strike="noStrike">
              <a:solidFill>
                <a:schemeClr val="dk1"/>
              </a:solidFill>
              <a:latin typeface="Calibri"/>
              <a:ea typeface="Calibri"/>
              <a:cs typeface="Calibri"/>
              <a:sym typeface="Calibri"/>
            </a:endParaRPr>
          </a:p>
        </p:txBody>
      </p:sp>
      <p:sp>
        <p:nvSpPr>
          <p:cNvPr id="109" name="Google Shape;109;p6"/>
          <p:cNvSpPr/>
          <p:nvPr/>
        </p:nvSpPr>
        <p:spPr>
          <a:xfrm>
            <a:off x="3593592"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“Unit + Energy fullness = Activeness.” Inherent energy and basic impulsion make every unit active — appearing as the inseparable triad of effort, motion, and result.</a:t>
            </a:r>
            <a:endParaRPr b="0" i="0" sz="1050" u="none" cap="none" strike="noStrike">
              <a:solidFill>
                <a:schemeClr val="dk1"/>
              </a:solidFill>
              <a:latin typeface="Calibri"/>
              <a:ea typeface="Calibri"/>
              <a:cs typeface="Calibri"/>
              <a:sym typeface="Calibri"/>
            </a:endParaRPr>
          </a:p>
        </p:txBody>
      </p:sp>
      <p:sp>
        <p:nvSpPr>
          <p:cNvPr id="110" name="Google Shape;110;p6"/>
          <p:cNvSpPr/>
          <p:nvPr/>
        </p:nvSpPr>
        <p:spPr>
          <a:xfrm>
            <a:off x="6144768" y="2011680"/>
            <a:ext cx="2615184" cy="2395728"/>
          </a:xfrm>
          <a:prstGeom prst="roundRect">
            <a:avLst>
              <a:gd fmla="val 381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6345936" y="2212848"/>
            <a:ext cx="457200" cy="457200"/>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2" name="Google Shape;112;p6"/>
          <p:cNvPicPr preferRelativeResize="0"/>
          <p:nvPr/>
        </p:nvPicPr>
        <p:blipFill rotWithShape="1">
          <a:blip r:embed="rId5">
            <a:alphaModFix/>
          </a:blip>
          <a:srcRect b="0" l="0" r="0" t="0"/>
          <a:stretch/>
        </p:blipFill>
        <p:spPr>
          <a:xfrm>
            <a:off x="6464808" y="2331720"/>
            <a:ext cx="219456" cy="219456"/>
          </a:xfrm>
          <a:prstGeom prst="rect">
            <a:avLst/>
          </a:prstGeom>
          <a:noFill/>
          <a:ln>
            <a:noFill/>
          </a:ln>
        </p:spPr>
      </p:pic>
      <p:sp>
        <p:nvSpPr>
          <p:cNvPr id="113" name="Google Shape;113;p6"/>
          <p:cNvSpPr/>
          <p:nvPr/>
        </p:nvSpPr>
        <p:spPr>
          <a:xfrm>
            <a:off x="6345936" y="2761488"/>
            <a:ext cx="22402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50"/>
              <a:buFont typeface="Cambria"/>
              <a:buNone/>
            </a:pPr>
            <a:r>
              <a:rPr b="1" i="0" lang="en-US" sz="1450" u="none" cap="none" strike="noStrike">
                <a:solidFill>
                  <a:srgbClr val="1E2447"/>
                </a:solidFill>
                <a:latin typeface="Cambria"/>
                <a:ea typeface="Cambria"/>
                <a:cs typeface="Cambria"/>
                <a:sym typeface="Cambria"/>
              </a:rPr>
              <a:t>Inherent regulation</a:t>
            </a:r>
            <a:endParaRPr b="0" i="0" sz="1450" u="none" cap="none" strike="noStrike">
              <a:solidFill>
                <a:schemeClr val="dk1"/>
              </a:solidFill>
              <a:latin typeface="Calibri"/>
              <a:ea typeface="Calibri"/>
              <a:cs typeface="Calibri"/>
              <a:sym typeface="Calibri"/>
            </a:endParaRPr>
          </a:p>
        </p:txBody>
      </p:sp>
      <p:sp>
        <p:nvSpPr>
          <p:cNvPr id="114" name="Google Shape;114;p6"/>
          <p:cNvSpPr/>
          <p:nvPr/>
        </p:nvSpPr>
        <p:spPr>
          <a:xfrm>
            <a:off x="6345936" y="3090672"/>
            <a:ext cx="2240280" cy="12344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Saturation is where a unit gets regulatory order in it. Regulation manifests as law and orderliness — mediative, conserving every unit, never a statutory command from outside.</a:t>
            </a:r>
            <a:endParaRPr b="0" i="0" sz="1050" u="none" cap="none" strike="noStrike">
              <a:solidFill>
                <a:schemeClr val="dk1"/>
              </a:solidFill>
              <a:latin typeface="Calibri"/>
              <a:ea typeface="Calibri"/>
              <a:cs typeface="Calibri"/>
              <a:sym typeface="Calibri"/>
            </a:endParaRPr>
          </a:p>
        </p:txBody>
      </p:sp>
      <p:sp>
        <p:nvSpPr>
          <p:cNvPr id="115" name="Google Shape;115;p6"/>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Together the three endowments ground each unit’s completeness drive — permeative, so activeness · transparent, so recognition · mediative, so regulation — SB pp. 49–62, 69; MVD pp. 26, 32–33, 40; JV p. 150</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7"/>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7"/>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§1.3</a:t>
            </a:r>
            <a:endParaRPr b="0" i="0" sz="1050" u="none" cap="none" strike="noStrike">
              <a:solidFill>
                <a:schemeClr val="dk1"/>
              </a:solidFill>
              <a:latin typeface="Calibri"/>
              <a:ea typeface="Calibri"/>
              <a:cs typeface="Calibri"/>
              <a:sym typeface="Calibri"/>
            </a:endParaRPr>
          </a:p>
        </p:txBody>
      </p:sp>
      <p:sp>
        <p:nvSpPr>
          <p:cNvPr id="125" name="Google Shape;125;p7"/>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What Every Unit Is: Four Inseparable Aspects</a:t>
            </a:r>
            <a:endParaRPr b="0" i="0" sz="3000" u="none" cap="none" strike="noStrike">
              <a:solidFill>
                <a:schemeClr val="dk1"/>
              </a:solidFill>
              <a:latin typeface="Calibri"/>
              <a:ea typeface="Calibri"/>
              <a:cs typeface="Calibri"/>
              <a:sym typeface="Calibri"/>
            </a:endParaRPr>
          </a:p>
        </p:txBody>
      </p:sp>
      <p:sp>
        <p:nvSpPr>
          <p:cNvPr id="126" name="Google Shape;126;p7"/>
          <p:cNvSpPr/>
          <p:nvPr/>
        </p:nvSpPr>
        <p:spPr>
          <a:xfrm>
            <a:off x="640080" y="128016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822960" y="146304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7"/>
          <p:cNvSpPr/>
          <p:nvPr/>
        </p:nvSpPr>
        <p:spPr>
          <a:xfrm>
            <a:off x="885139" y="152521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7"/>
          <p:cNvSpPr/>
          <p:nvPr/>
        </p:nvSpPr>
        <p:spPr>
          <a:xfrm>
            <a:off x="937992" y="157807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7"/>
          <p:cNvSpPr/>
          <p:nvPr/>
        </p:nvSpPr>
        <p:spPr>
          <a:xfrm>
            <a:off x="1261872" y="138988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Form</a:t>
            </a:r>
            <a:endParaRPr b="0" i="0" sz="1350" u="none" cap="none" strike="noStrike">
              <a:solidFill>
                <a:schemeClr val="dk1"/>
              </a:solidFill>
              <a:latin typeface="Calibri"/>
              <a:ea typeface="Calibri"/>
              <a:cs typeface="Calibri"/>
              <a:sym typeface="Calibri"/>
            </a:endParaRPr>
          </a:p>
        </p:txBody>
      </p:sp>
      <p:sp>
        <p:nvSpPr>
          <p:cNvPr id="131" name="Google Shape;131;p7"/>
          <p:cNvSpPr/>
          <p:nvPr/>
        </p:nvSpPr>
        <p:spPr>
          <a:xfrm>
            <a:off x="1261872" y="168249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Shape, volume, and density — by which a bounded unit is individuated. Shared across all orders.</a:t>
            </a:r>
            <a:endParaRPr b="0" i="0" sz="1030" u="none" cap="none" strike="noStrike">
              <a:solidFill>
                <a:schemeClr val="dk1"/>
              </a:solidFill>
              <a:latin typeface="Calibri"/>
              <a:ea typeface="Calibri"/>
              <a:cs typeface="Calibri"/>
              <a:sym typeface="Calibri"/>
            </a:endParaRPr>
          </a:p>
        </p:txBody>
      </p:sp>
      <p:sp>
        <p:nvSpPr>
          <p:cNvPr id="132" name="Google Shape;132;p7"/>
          <p:cNvSpPr/>
          <p:nvPr/>
        </p:nvSpPr>
        <p:spPr>
          <a:xfrm>
            <a:off x="4709160" y="128016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4892040" y="146304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4954219" y="152521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
          <p:cNvSpPr/>
          <p:nvPr/>
        </p:nvSpPr>
        <p:spPr>
          <a:xfrm>
            <a:off x="5007072" y="157807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5330952" y="138988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Properties</a:t>
            </a:r>
            <a:endParaRPr b="0" i="0" sz="1350" u="none" cap="none" strike="noStrike">
              <a:solidFill>
                <a:schemeClr val="dk1"/>
              </a:solidFill>
              <a:latin typeface="Calibri"/>
              <a:ea typeface="Calibri"/>
              <a:cs typeface="Calibri"/>
              <a:sym typeface="Calibri"/>
            </a:endParaRPr>
          </a:p>
        </p:txBody>
      </p:sp>
      <p:sp>
        <p:nvSpPr>
          <p:cNvPr id="137" name="Google Shape;137;p7"/>
          <p:cNvSpPr/>
          <p:nvPr/>
        </p:nvSpPr>
        <p:spPr>
          <a:xfrm>
            <a:off x="5330952" y="168249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Effects units have on one another in mutuality — generative, degenerative, and mediative (assisting creation, dissolution, sustainment).</a:t>
            </a:r>
            <a:endParaRPr b="0" i="0" sz="1030" u="none" cap="none" strike="noStrike">
              <a:solidFill>
                <a:schemeClr val="dk1"/>
              </a:solidFill>
              <a:latin typeface="Calibri"/>
              <a:ea typeface="Calibri"/>
              <a:cs typeface="Calibri"/>
              <a:sym typeface="Calibri"/>
            </a:endParaRPr>
          </a:p>
        </p:txBody>
      </p:sp>
      <p:sp>
        <p:nvSpPr>
          <p:cNvPr id="138" name="Google Shape;138;p7"/>
          <p:cNvSpPr/>
          <p:nvPr/>
        </p:nvSpPr>
        <p:spPr>
          <a:xfrm>
            <a:off x="640080" y="260604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822960" y="278892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7"/>
          <p:cNvSpPr/>
          <p:nvPr/>
        </p:nvSpPr>
        <p:spPr>
          <a:xfrm>
            <a:off x="885139" y="285109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7"/>
          <p:cNvSpPr/>
          <p:nvPr/>
        </p:nvSpPr>
        <p:spPr>
          <a:xfrm>
            <a:off x="937992" y="290395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1261872" y="271576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Essential nature</a:t>
            </a:r>
            <a:endParaRPr b="0" i="0" sz="1350" u="none" cap="none" strike="noStrike">
              <a:solidFill>
                <a:schemeClr val="dk1"/>
              </a:solidFill>
              <a:latin typeface="Calibri"/>
              <a:ea typeface="Calibri"/>
              <a:cs typeface="Calibri"/>
              <a:sym typeface="Calibri"/>
            </a:endParaRPr>
          </a:p>
        </p:txBody>
      </p:sp>
      <p:sp>
        <p:nvSpPr>
          <p:cNvPr id="143" name="Google Shape;143;p7"/>
          <p:cNvSpPr/>
          <p:nvPr/>
        </p:nvSpPr>
        <p:spPr>
          <a:xfrm>
            <a:off x="1261872" y="300837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How the usefulness of a unit’s properties participates in its order — its distinctive way of being (its “ness”).</a:t>
            </a:r>
            <a:endParaRPr b="0" i="0" sz="1030" u="none" cap="none" strike="noStrike">
              <a:solidFill>
                <a:schemeClr val="dk1"/>
              </a:solidFill>
              <a:latin typeface="Calibri"/>
              <a:ea typeface="Calibri"/>
              <a:cs typeface="Calibri"/>
              <a:sym typeface="Calibri"/>
            </a:endParaRPr>
          </a:p>
        </p:txBody>
      </p:sp>
      <p:sp>
        <p:nvSpPr>
          <p:cNvPr id="144" name="Google Shape;144;p7"/>
          <p:cNvSpPr/>
          <p:nvPr/>
        </p:nvSpPr>
        <p:spPr>
          <a:xfrm>
            <a:off x="4709160" y="2606040"/>
            <a:ext cx="3794760" cy="1188720"/>
          </a:xfrm>
          <a:prstGeom prst="roundRect">
            <a:avLst>
              <a:gd fmla="val 6923"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4892040" y="2788920"/>
            <a:ext cx="310896" cy="31089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a:off x="4954219" y="2851099"/>
            <a:ext cx="186538" cy="186538"/>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7"/>
          <p:cNvSpPr/>
          <p:nvPr/>
        </p:nvSpPr>
        <p:spPr>
          <a:xfrm>
            <a:off x="5007072" y="2903952"/>
            <a:ext cx="80833" cy="80833"/>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7"/>
          <p:cNvSpPr/>
          <p:nvPr/>
        </p:nvSpPr>
        <p:spPr>
          <a:xfrm>
            <a:off x="5330952" y="2715768"/>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Dharma</a:t>
            </a:r>
            <a:endParaRPr b="0" i="0" sz="1350" u="none" cap="none" strike="noStrike">
              <a:solidFill>
                <a:schemeClr val="dk1"/>
              </a:solidFill>
              <a:latin typeface="Calibri"/>
              <a:ea typeface="Calibri"/>
              <a:cs typeface="Calibri"/>
              <a:sym typeface="Calibri"/>
            </a:endParaRPr>
          </a:p>
        </p:txBody>
      </p:sp>
      <p:sp>
        <p:nvSpPr>
          <p:cNvPr id="149" name="Google Shape;149;p7"/>
          <p:cNvSpPr/>
          <p:nvPr/>
        </p:nvSpPr>
        <p:spPr>
          <a:xfrm>
            <a:off x="5330952" y="3008376"/>
            <a:ext cx="30632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What a unit cannot be separated from — its innateness and fulfilment. Since existence is coexistence, indestructibility is the ultimate dharma.</a:t>
            </a:r>
            <a:endParaRPr b="0" i="0" sz="1030" u="none" cap="none" strike="noStrike">
              <a:solidFill>
                <a:schemeClr val="dk1"/>
              </a:solidFill>
              <a:latin typeface="Calibri"/>
              <a:ea typeface="Calibri"/>
              <a:cs typeface="Calibri"/>
              <a:sym typeface="Calibri"/>
            </a:endParaRPr>
          </a:p>
        </p:txBody>
      </p:sp>
      <p:sp>
        <p:nvSpPr>
          <p:cNvPr id="150" name="Google Shape;150;p7"/>
          <p:cNvSpPr/>
          <p:nvPr/>
        </p:nvSpPr>
        <p:spPr>
          <a:xfrm>
            <a:off x="640080" y="3977640"/>
            <a:ext cx="7863840" cy="749808"/>
          </a:xfrm>
          <a:prstGeom prst="roundRect">
            <a:avLst>
              <a:gd fmla="val 10976"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7"/>
          <p:cNvSpPr/>
          <p:nvPr/>
        </p:nvSpPr>
        <p:spPr>
          <a:xfrm>
            <a:off x="868680" y="3977640"/>
            <a:ext cx="740664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00"/>
              <a:buFont typeface="Calibri"/>
              <a:buNone/>
            </a:pPr>
            <a:r>
              <a:rPr b="1" i="0" lang="en-US" sz="1200" u="none" cap="none" strike="noStrike">
                <a:solidFill>
                  <a:srgbClr val="9A6414"/>
                </a:solidFill>
                <a:latin typeface="Calibri"/>
                <a:ea typeface="Calibri"/>
                <a:cs typeface="Calibri"/>
                <a:sym typeface="Calibri"/>
              </a:rPr>
              <a:t>Natural state → development</a:t>
            </a:r>
            <a:r>
              <a:rPr b="0" i="0" lang="en-US" sz="1200" u="none" cap="none" strike="noStrike">
                <a:solidFill>
                  <a:srgbClr val="5A6377"/>
                </a:solidFill>
                <a:latin typeface="Calibri"/>
                <a:ea typeface="Calibri"/>
                <a:cs typeface="Calibri"/>
                <a:sym typeface="Calibri"/>
              </a:rPr>
              <a:t>  (fulfilment aligned with innateness)      </a:t>
            </a:r>
            <a:r>
              <a:rPr b="1" i="0" lang="en-US" sz="1200" u="none" cap="none" strike="noStrike">
                <a:solidFill>
                  <a:srgbClr val="9A6414"/>
                </a:solidFill>
                <a:latin typeface="Calibri"/>
                <a:ea typeface="Calibri"/>
                <a:cs typeface="Calibri"/>
                <a:sym typeface="Calibri"/>
              </a:rPr>
              <a:t>Excited state → decline</a:t>
            </a:r>
            <a:r>
              <a:rPr b="0" i="0" lang="en-US" sz="1200" u="none" cap="none" strike="noStrike">
                <a:solidFill>
                  <a:srgbClr val="5A6377"/>
                </a:solidFill>
                <a:latin typeface="Calibri"/>
                <a:ea typeface="Calibri"/>
                <a:cs typeface="Calibri"/>
                <a:sym typeface="Calibri"/>
              </a:rPr>
              <a:t>  — each unit is a whole along with its environment; when all relationships are fulfilled, it is at ease.</a:t>
            </a:r>
            <a:endParaRPr b="0" i="0" sz="1200" u="none" cap="none" strike="noStrike">
              <a:solidFill>
                <a:schemeClr val="dk1"/>
              </a:solidFill>
              <a:latin typeface="Calibri"/>
              <a:ea typeface="Calibri"/>
              <a:cs typeface="Calibri"/>
              <a:sym typeface="Calibri"/>
            </a:endParaRPr>
          </a:p>
        </p:txBody>
      </p:sp>
      <p:sp>
        <p:nvSpPr>
          <p:cNvPr id="152" name="Google Shape;152;p7"/>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50–51, 112  ·  SB pp. 13–15, 50–54  ·  JV p. 113 (the peepal tree’s definite conduct)</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8"/>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8"/>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§1.4 · COMPLEMENTARITY AS VALUE</a:t>
            </a:r>
            <a:endParaRPr b="0" i="0" sz="1050" u="none" cap="none" strike="noStrike">
              <a:solidFill>
                <a:schemeClr val="dk1"/>
              </a:solidFill>
              <a:latin typeface="Calibri"/>
              <a:ea typeface="Calibri"/>
              <a:cs typeface="Calibri"/>
              <a:sym typeface="Calibri"/>
            </a:endParaRPr>
          </a:p>
        </p:txBody>
      </p:sp>
      <p:sp>
        <p:nvSpPr>
          <p:cNvPr id="162" name="Google Shape;162;p8"/>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Units in Relationships</a:t>
            </a:r>
            <a:endParaRPr b="0" i="0" sz="3000" u="none" cap="none" strike="noStrike">
              <a:solidFill>
                <a:schemeClr val="dk1"/>
              </a:solidFill>
              <a:latin typeface="Calibri"/>
              <a:ea typeface="Calibri"/>
              <a:cs typeface="Calibri"/>
              <a:sym typeface="Calibri"/>
            </a:endParaRPr>
          </a:p>
        </p:txBody>
      </p:sp>
      <p:sp>
        <p:nvSpPr>
          <p:cNvPr id="163" name="Google Shape;163;p8"/>
          <p:cNvSpPr/>
          <p:nvPr/>
        </p:nvSpPr>
        <p:spPr>
          <a:xfrm>
            <a:off x="640080" y="1207008"/>
            <a:ext cx="7955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“Nothing is isolated — that is the principle” (JV p. 43). Complementarity is actualised as value in mutuality; the unit’s main drive is to recognise and fulfil its relationships.</a:t>
            </a:r>
            <a:endParaRPr b="0" i="0" sz="1300" u="none" cap="none" strike="noStrike">
              <a:solidFill>
                <a:schemeClr val="dk1"/>
              </a:solidFill>
              <a:latin typeface="Calibri"/>
              <a:ea typeface="Calibri"/>
              <a:cs typeface="Calibri"/>
              <a:sym typeface="Calibri"/>
            </a:endParaRPr>
          </a:p>
        </p:txBody>
      </p:sp>
      <p:sp>
        <p:nvSpPr>
          <p:cNvPr id="164" name="Google Shape;164;p8"/>
          <p:cNvSpPr/>
          <p:nvPr/>
        </p:nvSpPr>
        <p:spPr>
          <a:xfrm>
            <a:off x="64008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84124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Relationship</a:t>
            </a:r>
            <a:endParaRPr b="0" i="0" sz="1400" u="none" cap="none" strike="noStrike">
              <a:solidFill>
                <a:schemeClr val="dk1"/>
              </a:solidFill>
              <a:latin typeface="Calibri"/>
              <a:ea typeface="Calibri"/>
              <a:cs typeface="Calibri"/>
              <a:sym typeface="Calibri"/>
            </a:endParaRPr>
          </a:p>
        </p:txBody>
      </p:sp>
      <p:sp>
        <p:nvSpPr>
          <p:cNvPr id="166" name="Google Shape;166;p8"/>
          <p:cNvSpPr/>
          <p:nvPr/>
        </p:nvSpPr>
        <p:spPr>
          <a:xfrm>
            <a:off x="84124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Mutuality where expectations are predetermined in the sense of completeness — e.g. parent and child.</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70916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8"/>
          <p:cNvSpPr/>
          <p:nvPr/>
        </p:nvSpPr>
        <p:spPr>
          <a:xfrm>
            <a:off x="491032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400"/>
              <a:buFont typeface="Cambria"/>
              <a:buNone/>
            </a:pPr>
            <a:r>
              <a:rPr b="1" i="0" lang="en-US" sz="1400" u="none" cap="none" strike="noStrike">
                <a:solidFill>
                  <a:srgbClr val="3B4A7A"/>
                </a:solidFill>
                <a:latin typeface="Cambria"/>
                <a:ea typeface="Cambria"/>
                <a:cs typeface="Cambria"/>
                <a:sym typeface="Cambria"/>
              </a:rPr>
              <a:t>Contact</a:t>
            </a:r>
            <a:endParaRPr b="0" i="0" sz="1400" u="none" cap="none" strike="noStrike">
              <a:solidFill>
                <a:schemeClr val="dk1"/>
              </a:solidFill>
              <a:latin typeface="Calibri"/>
              <a:ea typeface="Calibri"/>
              <a:cs typeface="Calibri"/>
              <a:sym typeface="Calibri"/>
            </a:endParaRPr>
          </a:p>
        </p:txBody>
      </p:sp>
      <p:sp>
        <p:nvSpPr>
          <p:cNvPr id="169" name="Google Shape;169;p8"/>
          <p:cNvSpPr/>
          <p:nvPr/>
        </p:nvSpPr>
        <p:spPr>
          <a:xfrm>
            <a:off x="491032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Mutuality where expectations are voluntary — e.g. neighbours who share a wall.</a:t>
            </a:r>
            <a:endParaRPr b="0" i="0" sz="1100" u="none" cap="none" strike="noStrike">
              <a:solidFill>
                <a:schemeClr val="dk1"/>
              </a:solidFill>
              <a:latin typeface="Calibri"/>
              <a:ea typeface="Calibri"/>
              <a:cs typeface="Calibri"/>
              <a:sym typeface="Calibri"/>
            </a:endParaRPr>
          </a:p>
        </p:txBody>
      </p:sp>
      <p:sp>
        <p:nvSpPr>
          <p:cNvPr id="170" name="Google Shape;170;p8"/>
          <p:cNvSpPr/>
          <p:nvPr/>
        </p:nvSpPr>
        <p:spPr>
          <a:xfrm>
            <a:off x="640080" y="324612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Essentiality is value.  </a:t>
            </a:r>
            <a:r>
              <a:rPr b="0" i="0" lang="en-US" sz="1200" u="none" cap="none" strike="noStrike">
                <a:solidFill>
                  <a:srgbClr val="5A6377"/>
                </a:solidFill>
                <a:latin typeface="Calibri"/>
                <a:ea typeface="Calibri"/>
                <a:cs typeface="Calibri"/>
                <a:sym typeface="Calibri"/>
              </a:rPr>
              <a:t>Object values — utility and art — operate at every order; jeevan values, human values, relationship values, and expression values presuppose the knowledge order.</a:t>
            </a:r>
            <a:endParaRPr b="0" i="0" sz="1250" u="none" cap="none" strike="noStrike">
              <a:solidFill>
                <a:schemeClr val="dk1"/>
              </a:solidFill>
              <a:latin typeface="Calibri"/>
              <a:ea typeface="Calibri"/>
              <a:cs typeface="Calibri"/>
              <a:sym typeface="Calibri"/>
            </a:endParaRPr>
          </a:p>
        </p:txBody>
      </p:sp>
      <p:sp>
        <p:nvSpPr>
          <p:cNvPr id="171" name="Google Shape;171;p8"/>
          <p:cNvSpPr/>
          <p:nvPr/>
        </p:nvSpPr>
        <p:spPr>
          <a:xfrm>
            <a:off x="64008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64008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Knowing</a:t>
            </a:r>
            <a:endParaRPr b="0" i="0" sz="1250" u="none" cap="none" strike="noStrike">
              <a:solidFill>
                <a:schemeClr val="dk1"/>
              </a:solidFill>
              <a:latin typeface="Calibri"/>
              <a:ea typeface="Calibri"/>
              <a:cs typeface="Calibri"/>
              <a:sym typeface="Calibri"/>
            </a:endParaRPr>
          </a:p>
        </p:txBody>
      </p:sp>
      <p:sp>
        <p:nvSpPr>
          <p:cNvPr id="173" name="Google Shape;173;p8"/>
          <p:cNvSpPr/>
          <p:nvPr/>
        </p:nvSpPr>
        <p:spPr>
          <a:xfrm>
            <a:off x="233172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74" name="Google Shape;174;p8"/>
          <p:cNvSpPr/>
          <p:nvPr/>
        </p:nvSpPr>
        <p:spPr>
          <a:xfrm>
            <a:off x="265176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265176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Believing</a:t>
            </a:r>
            <a:endParaRPr b="0" i="0" sz="1250" u="none" cap="none" strike="noStrike">
              <a:solidFill>
                <a:schemeClr val="dk1"/>
              </a:solidFill>
              <a:latin typeface="Calibri"/>
              <a:ea typeface="Calibri"/>
              <a:cs typeface="Calibri"/>
              <a:sym typeface="Calibri"/>
            </a:endParaRPr>
          </a:p>
        </p:txBody>
      </p:sp>
      <p:sp>
        <p:nvSpPr>
          <p:cNvPr id="176" name="Google Shape;176;p8"/>
          <p:cNvSpPr/>
          <p:nvPr/>
        </p:nvSpPr>
        <p:spPr>
          <a:xfrm>
            <a:off x="434340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77" name="Google Shape;177;p8"/>
          <p:cNvSpPr/>
          <p:nvPr/>
        </p:nvSpPr>
        <p:spPr>
          <a:xfrm>
            <a:off x="466344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
          <p:cNvSpPr/>
          <p:nvPr/>
        </p:nvSpPr>
        <p:spPr>
          <a:xfrm>
            <a:off x="466344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Recognising</a:t>
            </a:r>
            <a:endParaRPr b="0" i="0" sz="1250" u="none" cap="none" strike="noStrike">
              <a:solidFill>
                <a:schemeClr val="dk1"/>
              </a:solidFill>
              <a:latin typeface="Calibri"/>
              <a:ea typeface="Calibri"/>
              <a:cs typeface="Calibri"/>
              <a:sym typeface="Calibri"/>
            </a:endParaRPr>
          </a:p>
        </p:txBody>
      </p:sp>
      <p:sp>
        <p:nvSpPr>
          <p:cNvPr id="179" name="Google Shape;179;p8"/>
          <p:cNvSpPr/>
          <p:nvPr/>
        </p:nvSpPr>
        <p:spPr>
          <a:xfrm>
            <a:off x="635508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180" name="Google Shape;180;p8"/>
          <p:cNvSpPr/>
          <p:nvPr/>
        </p:nvSpPr>
        <p:spPr>
          <a:xfrm>
            <a:off x="667512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667512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Fulfilling</a:t>
            </a:r>
            <a:endParaRPr b="0" i="0" sz="1250" u="none" cap="none" strike="noStrike">
              <a:solidFill>
                <a:schemeClr val="dk1"/>
              </a:solidFill>
              <a:latin typeface="Calibri"/>
              <a:ea typeface="Calibri"/>
              <a:cs typeface="Calibri"/>
              <a:sym typeface="Calibri"/>
            </a:endParaRPr>
          </a:p>
        </p:txBody>
      </p:sp>
      <p:sp>
        <p:nvSpPr>
          <p:cNvPr id="182" name="Google Shape;182;p8"/>
          <p:cNvSpPr/>
          <p:nvPr/>
        </p:nvSpPr>
        <p:spPr>
          <a:xfrm>
            <a:off x="640080" y="4553712"/>
            <a:ext cx="79552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1" lang="en-US" sz="1100" u="none" cap="none" strike="noStrike">
                <a:solidFill>
                  <a:srgbClr val="5A6377"/>
                </a:solidFill>
                <a:latin typeface="Calibri"/>
                <a:ea typeface="Calibri"/>
                <a:cs typeface="Calibri"/>
                <a:sym typeface="Calibri"/>
              </a:rPr>
              <a:t>Below the knowledge order fulfilment is definite; at the human order it must be achieved through this chain.</a:t>
            </a:r>
            <a:endParaRPr b="0" i="0" sz="1100" u="none" cap="none" strike="noStrike">
              <a:solidFill>
                <a:schemeClr val="dk1"/>
              </a:solidFill>
              <a:latin typeface="Calibri"/>
              <a:ea typeface="Calibri"/>
              <a:cs typeface="Calibri"/>
              <a:sym typeface="Calibri"/>
            </a:endParaRPr>
          </a:p>
        </p:txBody>
      </p:sp>
      <p:sp>
        <p:nvSpPr>
          <p:cNvPr id="183" name="Google Shape;183;p8"/>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61–62, 27  ·  SB pp. 50, 53, 61  ·  JV p. 69</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sp>
        <p:nvSpPr>
          <p:cNvPr id="189" name="Google Shape;189;p9"/>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9"/>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9"/>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§1.5</a:t>
            </a:r>
            <a:endParaRPr b="0" i="0" sz="1050" u="none" cap="none" strike="noStrike">
              <a:solidFill>
                <a:schemeClr val="dk1"/>
              </a:solidFill>
              <a:latin typeface="Calibri"/>
              <a:ea typeface="Calibri"/>
              <a:cs typeface="Calibri"/>
              <a:sym typeface="Calibri"/>
            </a:endParaRPr>
          </a:p>
        </p:txBody>
      </p:sp>
      <p:sp>
        <p:nvSpPr>
          <p:cNvPr id="193" name="Google Shape;193;p9"/>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Four Orders of Nature</a:t>
            </a:r>
            <a:endParaRPr b="0" i="0" sz="3000" u="none" cap="none" strike="noStrike">
              <a:solidFill>
                <a:schemeClr val="dk1"/>
              </a:solidFill>
              <a:latin typeface="Calibri"/>
              <a:ea typeface="Calibri"/>
              <a:cs typeface="Calibri"/>
              <a:sym typeface="Calibri"/>
            </a:endParaRPr>
          </a:p>
        </p:txBody>
      </p:sp>
      <p:graphicFrame>
        <p:nvGraphicFramePr>
          <p:cNvPr id="194" name="Google Shape;194;p9"/>
          <p:cNvGraphicFramePr/>
          <p:nvPr/>
        </p:nvGraphicFramePr>
        <p:xfrm>
          <a:off x="640080" y="1325880"/>
          <a:ext cx="3000000" cy="3000000"/>
        </p:xfrm>
        <a:graphic>
          <a:graphicData uri="http://schemas.openxmlformats.org/drawingml/2006/table">
            <a:tbl>
              <a:tblPr>
                <a:noFill/>
                <a:tableStyleId>{6C92A692-798E-4634-90B1-36CD3966BFCB}</a:tableStyleId>
              </a:tblPr>
              <a:tblGrid>
                <a:gridCol w="1828800"/>
                <a:gridCol w="2651750"/>
                <a:gridCol w="2011675"/>
                <a:gridCol w="1371600"/>
              </a:tblGrid>
              <a:tr h="365750">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Order</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Essential nature</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Dharma (cumulative)</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Status</a:t>
                      </a:r>
                      <a:endParaRPr sz="12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Material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integration–disintegration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existence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insentient</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Bio (pranic)</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vitalising–devitalising</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growth</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insentient</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502925">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Animal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cruel–uncruel</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hope to live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sentient — jeevan appears</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685800">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Knowledge (human)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fortitude, courage, generosity, kindness, grace, compassion</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 happiness</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100"/>
                        <a:buFont typeface="Calibri"/>
                        <a:buNone/>
                      </a:pPr>
                      <a:r>
                        <a:rPr lang="en-US" sz="1100" u="none" cap="none" strike="noStrike">
                          <a:solidFill>
                            <a:srgbClr val="1E2447"/>
                          </a:solidFill>
                          <a:latin typeface="Calibri"/>
                          <a:ea typeface="Calibri"/>
                          <a:cs typeface="Calibri"/>
                          <a:sym typeface="Calibri"/>
                        </a:rPr>
                        <a:t>sentient — awakening possible</a:t>
                      </a:r>
                      <a:endParaRPr sz="1100" u="none" cap="none" strike="noStrike">
                        <a:latin typeface="Calibri"/>
                        <a:ea typeface="Calibri"/>
                        <a:cs typeface="Calibri"/>
                        <a:sym typeface="Calibri"/>
                      </a:endParaRPr>
                    </a:p>
                  </a:txBody>
                  <a:tcPr marT="54875" marB="54875" marR="54875" marL="5487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195" name="Google Shape;195;p9"/>
          <p:cNvSpPr/>
          <p:nvPr/>
        </p:nvSpPr>
        <p:spPr>
          <a:xfrm>
            <a:off x="640080" y="4069080"/>
            <a:ext cx="7863840" cy="658368"/>
          </a:xfrm>
          <a:prstGeom prst="roundRect">
            <a:avLst>
              <a:gd fmla="val 12500"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9"/>
          <p:cNvSpPr/>
          <p:nvPr/>
        </p:nvSpPr>
        <p:spPr>
          <a:xfrm>
            <a:off x="868680" y="4069080"/>
            <a:ext cx="74066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The sentience boundary lies between the bio and animal orders:  </a:t>
            </a:r>
            <a:r>
              <a:rPr b="0" i="0" lang="en-US" sz="1150" u="none" cap="none" strike="noStrike">
                <a:solidFill>
                  <a:srgbClr val="5A6377"/>
                </a:solidFill>
                <a:latin typeface="Calibri"/>
                <a:ea typeface="Calibri"/>
                <a:cs typeface="Calibri"/>
                <a:sym typeface="Calibri"/>
              </a:rPr>
              <a:t>hope to live is the defining activity of the sentient unit. Higher orders include the dharmas of lower orders cumulatively — each order a stable plateau, not a human typology.</a:t>
            </a:r>
            <a:endParaRPr b="0" i="0" sz="1150" u="none" cap="none" strike="noStrike">
              <a:solidFill>
                <a:schemeClr val="dk1"/>
              </a:solidFill>
              <a:latin typeface="Calibri"/>
              <a:ea typeface="Calibri"/>
              <a:cs typeface="Calibri"/>
              <a:sym typeface="Calibri"/>
            </a:endParaRPr>
          </a:p>
        </p:txBody>
      </p:sp>
      <p:sp>
        <p:nvSpPr>
          <p:cNvPr id="197" name="Google Shape;197;p9"/>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 179  ·  MVD pp. 5, 8, 13, 115  ·  JV p. 44</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10"/>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0"/>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0"/>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 · EFFORT · MOTION · RESULT</a:t>
            </a:r>
            <a:endParaRPr b="0" i="0" sz="1050" u="none" cap="none" strike="noStrike">
              <a:solidFill>
                <a:schemeClr val="dk1"/>
              </a:solidFill>
              <a:latin typeface="Calibri"/>
              <a:ea typeface="Calibri"/>
              <a:cs typeface="Calibri"/>
              <a:sym typeface="Calibri"/>
            </a:endParaRPr>
          </a:p>
        </p:txBody>
      </p:sp>
      <p:sp>
        <p:nvSpPr>
          <p:cNvPr id="207" name="Google Shape;207;p10"/>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Completeness Drive</a:t>
            </a:r>
            <a:endParaRPr b="0" i="0" sz="3000" u="none" cap="none" strike="noStrike">
              <a:solidFill>
                <a:schemeClr val="dk1"/>
              </a:solidFill>
              <a:latin typeface="Calibri"/>
              <a:ea typeface="Calibri"/>
              <a:cs typeface="Calibri"/>
              <a:sym typeface="Calibri"/>
            </a:endParaRPr>
          </a:p>
        </p:txBody>
      </p:sp>
      <p:sp>
        <p:nvSpPr>
          <p:cNvPr id="208" name="Google Shape;208;p10"/>
          <p:cNvSpPr/>
          <p:nvPr/>
        </p:nvSpPr>
        <p:spPr>
          <a:xfrm>
            <a:off x="640080" y="1207008"/>
            <a:ext cx="7955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Every unit, saturated in Omnipotence, carries a drive toward completeness — built into existence itself, not an ethic added to matter. The drive does not stop until what is soaked in the ground comes to realise the ground. All of nature develops; awakening happens in the sentient. And every activity is one inseparable triad — effort, motion, and result together, not three steps in a row.</a:t>
            </a:r>
            <a:endParaRPr b="0" i="0" sz="1250" u="none" cap="none" strike="noStrike">
              <a:solidFill>
                <a:schemeClr val="dk1"/>
              </a:solidFill>
              <a:latin typeface="Calibri"/>
              <a:ea typeface="Calibri"/>
              <a:cs typeface="Calibri"/>
              <a:sym typeface="Calibri"/>
            </a:endParaRPr>
          </a:p>
        </p:txBody>
      </p:sp>
      <p:sp>
        <p:nvSpPr>
          <p:cNvPr id="209" name="Google Shape;209;p10"/>
          <p:cNvSpPr/>
          <p:nvPr/>
        </p:nvSpPr>
        <p:spPr>
          <a:xfrm>
            <a:off x="1234440" y="2240280"/>
            <a:ext cx="1417320" cy="1417320"/>
          </a:xfrm>
          <a:prstGeom prst="ellipse">
            <a:avLst/>
          </a:prstGeom>
          <a:solidFill>
            <a:srgbClr val="3B4A7A"/>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12344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Effort</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internal side</a:t>
            </a:r>
            <a:endParaRPr b="0" i="0" sz="1200" u="none" cap="none" strike="noStrike">
              <a:solidFill>
                <a:schemeClr val="dk1"/>
              </a:solidFill>
              <a:latin typeface="Calibri"/>
              <a:ea typeface="Calibri"/>
              <a:cs typeface="Calibri"/>
              <a:sym typeface="Calibri"/>
            </a:endParaRPr>
          </a:p>
        </p:txBody>
      </p:sp>
      <p:sp>
        <p:nvSpPr>
          <p:cNvPr id="211" name="Google Shape;211;p10"/>
          <p:cNvSpPr/>
          <p:nvPr/>
        </p:nvSpPr>
        <p:spPr>
          <a:xfrm>
            <a:off x="10058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restfulness of effort</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effort comes to rest in realisation</a:t>
            </a:r>
            <a:endParaRPr b="0" i="0" sz="950" u="none" cap="none" strike="noStrike">
              <a:solidFill>
                <a:schemeClr val="dk1"/>
              </a:solidFill>
              <a:latin typeface="Calibri"/>
              <a:ea typeface="Calibri"/>
              <a:cs typeface="Calibri"/>
              <a:sym typeface="Calibri"/>
            </a:endParaRPr>
          </a:p>
        </p:txBody>
      </p:sp>
      <p:sp>
        <p:nvSpPr>
          <p:cNvPr id="212" name="Google Shape;212;p10"/>
          <p:cNvSpPr/>
          <p:nvPr/>
        </p:nvSpPr>
        <p:spPr>
          <a:xfrm>
            <a:off x="3063240" y="2240280"/>
            <a:ext cx="1417320" cy="1417320"/>
          </a:xfrm>
          <a:prstGeom prst="ellipse">
            <a:avLst/>
          </a:prstGeom>
          <a:solidFill>
            <a:srgbClr val="3B4A7A"/>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0"/>
          <p:cNvSpPr/>
          <p:nvPr/>
        </p:nvSpPr>
        <p:spPr>
          <a:xfrm>
            <a:off x="30632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Motion</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external side</a:t>
            </a:r>
            <a:endParaRPr b="0" i="0" sz="1200" u="none" cap="none" strike="noStrike">
              <a:solidFill>
                <a:schemeClr val="dk1"/>
              </a:solidFill>
              <a:latin typeface="Calibri"/>
              <a:ea typeface="Calibri"/>
              <a:cs typeface="Calibri"/>
              <a:sym typeface="Calibri"/>
            </a:endParaRPr>
          </a:p>
        </p:txBody>
      </p:sp>
      <p:sp>
        <p:nvSpPr>
          <p:cNvPr id="214" name="Google Shape;214;p10"/>
          <p:cNvSpPr/>
          <p:nvPr/>
        </p:nvSpPr>
        <p:spPr>
          <a:xfrm>
            <a:off x="28346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destination of motion</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motion arrives at right conduct</a:t>
            </a:r>
            <a:endParaRPr b="0" i="0" sz="950" u="none" cap="none" strike="noStrike">
              <a:solidFill>
                <a:schemeClr val="dk1"/>
              </a:solidFill>
              <a:latin typeface="Calibri"/>
              <a:ea typeface="Calibri"/>
              <a:cs typeface="Calibri"/>
              <a:sym typeface="Calibri"/>
            </a:endParaRPr>
          </a:p>
        </p:txBody>
      </p:sp>
      <p:sp>
        <p:nvSpPr>
          <p:cNvPr id="215" name="Google Shape;215;p10"/>
          <p:cNvSpPr/>
          <p:nvPr/>
        </p:nvSpPr>
        <p:spPr>
          <a:xfrm>
            <a:off x="4892040" y="2240280"/>
            <a:ext cx="1417320" cy="1417320"/>
          </a:xfrm>
          <a:prstGeom prst="ellipse">
            <a:avLst/>
          </a:prstGeom>
          <a:solidFill>
            <a:srgbClr val="C9821E"/>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92040" y="2240280"/>
            <a:ext cx="1417320" cy="1417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Result</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the stable outcome</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663440" y="3794760"/>
            <a:ext cx="187452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goal: immortality of result</a:t>
            </a:r>
            <a:endParaRPr b="0" i="0" sz="95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result becomes indestructible</a:t>
            </a:r>
            <a:endParaRPr b="0" i="0" sz="950" u="none" cap="none" strike="noStrike">
              <a:solidFill>
                <a:schemeClr val="dk1"/>
              </a:solidFill>
              <a:latin typeface="Calibri"/>
              <a:ea typeface="Calibri"/>
              <a:cs typeface="Calibri"/>
              <a:sym typeface="Calibri"/>
            </a:endParaRPr>
          </a:p>
        </p:txBody>
      </p:sp>
      <p:sp>
        <p:nvSpPr>
          <p:cNvPr id="218" name="Google Shape;218;p10"/>
          <p:cNvSpPr/>
          <p:nvPr/>
        </p:nvSpPr>
        <p:spPr>
          <a:xfrm>
            <a:off x="6720840" y="2148840"/>
            <a:ext cx="1965960" cy="2240280"/>
          </a:xfrm>
          <a:prstGeom prst="roundRect">
            <a:avLst>
              <a:gd fmla="val 465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6903720" y="2331720"/>
            <a:ext cx="1627632" cy="1920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Two atomic paths</a:t>
            </a:r>
            <a:endParaRPr b="0" i="0" sz="12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Insentient atom: triad drives exchange toward constitutional completeness (T1).</a:t>
            </a:r>
            <a:endParaRPr b="0" i="0" sz="12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Jeevan atom: triad works through projection–reflection toward T2 and T3.</a:t>
            </a:r>
            <a:endParaRPr b="0" i="0" sz="1250" u="none" cap="none" strike="noStrike">
              <a:solidFill>
                <a:schemeClr val="dk1"/>
              </a:solidFill>
              <a:latin typeface="Calibri"/>
              <a:ea typeface="Calibri"/>
              <a:cs typeface="Calibri"/>
              <a:sym typeface="Calibri"/>
            </a:endParaRPr>
          </a:p>
        </p:txBody>
      </p:sp>
      <p:sp>
        <p:nvSpPr>
          <p:cNvPr id="220" name="Google Shape;220;p10"/>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“Saturation … itself is forcefulness … basic impulsion … activity … effort-motion-result … development” — SB p. 62; also SB pp. 51, 53, 58, 71, 91; MVD p. 104</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p11"/>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1"/>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1"/>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a:t>
            </a:r>
            <a:endParaRPr b="0" i="0" sz="1050" u="none" cap="none" strike="noStrike">
              <a:solidFill>
                <a:schemeClr val="dk1"/>
              </a:solidFill>
              <a:latin typeface="Calibri"/>
              <a:ea typeface="Calibri"/>
              <a:cs typeface="Calibri"/>
              <a:sym typeface="Calibri"/>
            </a:endParaRPr>
          </a:p>
        </p:txBody>
      </p:sp>
      <p:sp>
        <p:nvSpPr>
          <p:cNvPr id="230" name="Google Shape;230;p11"/>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Three Completeness Transitions: T1, T2, T3</a:t>
            </a:r>
            <a:endParaRPr b="0" i="0" sz="3000" u="none" cap="none" strike="noStrike">
              <a:solidFill>
                <a:schemeClr val="dk1"/>
              </a:solidFill>
              <a:latin typeface="Calibri"/>
              <a:ea typeface="Calibri"/>
              <a:cs typeface="Calibri"/>
              <a:sym typeface="Calibri"/>
            </a:endParaRPr>
          </a:p>
        </p:txBody>
      </p:sp>
      <p:sp>
        <p:nvSpPr>
          <p:cNvPr id="231" name="Google Shape;231;p11"/>
          <p:cNvSpPr/>
          <p:nvPr/>
        </p:nvSpPr>
        <p:spPr>
          <a:xfrm>
            <a:off x="475488" y="1463040"/>
            <a:ext cx="1664208" cy="960120"/>
          </a:xfrm>
          <a:prstGeom prst="roundRect">
            <a:avLst>
              <a:gd fmla="val 8571" name="adj"/>
            </a:avLst>
          </a:prstGeom>
          <a:solidFill>
            <a:srgbClr val="3B4A7A"/>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1"/>
          <p:cNvSpPr/>
          <p:nvPr/>
        </p:nvSpPr>
        <p:spPr>
          <a:xfrm>
            <a:off x="475488"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Physicochemical</a:t>
            </a:r>
            <a:endParaRPr b="0" i="0" sz="1250" u="none" cap="none" strike="noStrike">
              <a:solidFill>
                <a:schemeClr val="dk1"/>
              </a:solidFill>
              <a:latin typeface="Calibri"/>
              <a:ea typeface="Calibri"/>
              <a:cs typeface="Calibri"/>
              <a:sym typeface="Calibri"/>
            </a:endParaRPr>
          </a:p>
        </p:txBody>
      </p:sp>
      <p:sp>
        <p:nvSpPr>
          <p:cNvPr id="233" name="Google Shape;233;p11"/>
          <p:cNvSpPr/>
          <p:nvPr/>
        </p:nvSpPr>
        <p:spPr>
          <a:xfrm>
            <a:off x="530352"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insentient development</a:t>
            </a:r>
            <a:endParaRPr b="0" i="0" sz="880" u="none" cap="none" strike="noStrike">
              <a:solidFill>
                <a:schemeClr val="dk1"/>
              </a:solidFill>
              <a:latin typeface="Calibri"/>
              <a:ea typeface="Calibri"/>
              <a:cs typeface="Calibri"/>
              <a:sym typeface="Calibri"/>
            </a:endParaRPr>
          </a:p>
        </p:txBody>
      </p:sp>
      <p:sp>
        <p:nvSpPr>
          <p:cNvPr id="234" name="Google Shape;234;p11"/>
          <p:cNvSpPr/>
          <p:nvPr/>
        </p:nvSpPr>
        <p:spPr>
          <a:xfrm>
            <a:off x="2194560"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1"/>
          <p:cNvSpPr/>
          <p:nvPr/>
        </p:nvSpPr>
        <p:spPr>
          <a:xfrm>
            <a:off x="2194560"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T1</a:t>
            </a:r>
            <a:endParaRPr b="0" i="0" sz="1200" u="none" cap="none" strike="noStrike">
              <a:solidFill>
                <a:schemeClr val="dk1"/>
              </a:solidFill>
              <a:latin typeface="Calibri"/>
              <a:ea typeface="Calibri"/>
              <a:cs typeface="Calibri"/>
              <a:sym typeface="Calibri"/>
            </a:endParaRPr>
          </a:p>
        </p:txBody>
      </p:sp>
      <p:sp>
        <p:nvSpPr>
          <p:cNvPr id="236" name="Google Shape;236;p11"/>
          <p:cNvSpPr/>
          <p:nvPr/>
        </p:nvSpPr>
        <p:spPr>
          <a:xfrm>
            <a:off x="2706624"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1"/>
          <p:cNvSpPr/>
          <p:nvPr/>
        </p:nvSpPr>
        <p:spPr>
          <a:xfrm>
            <a:off x="2706624"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Delusional</a:t>
            </a:r>
            <a:endParaRPr b="0" i="0" sz="1250" u="none" cap="none" strike="noStrike">
              <a:solidFill>
                <a:schemeClr val="dk1"/>
              </a:solidFill>
              <a:latin typeface="Calibri"/>
              <a:ea typeface="Calibri"/>
              <a:cs typeface="Calibri"/>
              <a:sym typeface="Calibri"/>
            </a:endParaRPr>
          </a:p>
        </p:txBody>
      </p:sp>
      <p:sp>
        <p:nvSpPr>
          <p:cNvPr id="238" name="Google Shape;238;p11"/>
          <p:cNvSpPr/>
          <p:nvPr/>
        </p:nvSpPr>
        <p:spPr>
          <a:xfrm>
            <a:off x="2761488"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sentient; body mistaken for self</a:t>
            </a:r>
            <a:endParaRPr b="0" i="0" sz="880" u="none" cap="none" strike="noStrike">
              <a:solidFill>
                <a:schemeClr val="dk1"/>
              </a:solidFill>
              <a:latin typeface="Calibri"/>
              <a:ea typeface="Calibri"/>
              <a:cs typeface="Calibri"/>
              <a:sym typeface="Calibri"/>
            </a:endParaRPr>
          </a:p>
        </p:txBody>
      </p:sp>
      <p:sp>
        <p:nvSpPr>
          <p:cNvPr id="239" name="Google Shape;239;p11"/>
          <p:cNvSpPr/>
          <p:nvPr/>
        </p:nvSpPr>
        <p:spPr>
          <a:xfrm>
            <a:off x="4425696"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1"/>
          <p:cNvSpPr/>
          <p:nvPr/>
        </p:nvSpPr>
        <p:spPr>
          <a:xfrm>
            <a:off x="4425696"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T2</a:t>
            </a:r>
            <a:endParaRPr b="0" i="0" sz="1200" u="none" cap="none" strike="noStrike">
              <a:solidFill>
                <a:schemeClr val="dk1"/>
              </a:solidFill>
              <a:latin typeface="Calibri"/>
              <a:ea typeface="Calibri"/>
              <a:cs typeface="Calibri"/>
              <a:sym typeface="Calibri"/>
            </a:endParaRPr>
          </a:p>
        </p:txBody>
      </p:sp>
      <p:sp>
        <p:nvSpPr>
          <p:cNvPr id="241" name="Google Shape;241;p11"/>
          <p:cNvSpPr/>
          <p:nvPr/>
        </p:nvSpPr>
        <p:spPr>
          <a:xfrm>
            <a:off x="4937760"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1"/>
          <p:cNvSpPr/>
          <p:nvPr/>
        </p:nvSpPr>
        <p:spPr>
          <a:xfrm>
            <a:off x="4937760"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Deific</a:t>
            </a:r>
            <a:endParaRPr b="0" i="0" sz="1250" u="none" cap="none" strike="noStrike">
              <a:solidFill>
                <a:schemeClr val="dk1"/>
              </a:solidFill>
              <a:latin typeface="Calibri"/>
              <a:ea typeface="Calibri"/>
              <a:cs typeface="Calibri"/>
              <a:sym typeface="Calibri"/>
            </a:endParaRPr>
          </a:p>
        </p:txBody>
      </p:sp>
      <p:sp>
        <p:nvSpPr>
          <p:cNvPr id="243" name="Google Shape;243;p11"/>
          <p:cNvSpPr/>
          <p:nvPr/>
        </p:nvSpPr>
        <p:spPr>
          <a:xfrm>
            <a:off x="4992624"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awakening human</a:t>
            </a:r>
            <a:endParaRPr b="0" i="0" sz="880" u="none" cap="none" strike="noStrike">
              <a:solidFill>
                <a:schemeClr val="dk1"/>
              </a:solidFill>
              <a:latin typeface="Calibri"/>
              <a:ea typeface="Calibri"/>
              <a:cs typeface="Calibri"/>
              <a:sym typeface="Calibri"/>
            </a:endParaRPr>
          </a:p>
        </p:txBody>
      </p:sp>
      <p:sp>
        <p:nvSpPr>
          <p:cNvPr id="244" name="Google Shape;244;p11"/>
          <p:cNvSpPr/>
          <p:nvPr/>
        </p:nvSpPr>
        <p:spPr>
          <a:xfrm>
            <a:off x="6656832" y="1700784"/>
            <a:ext cx="457200" cy="457200"/>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6656832" y="1700784"/>
            <a:ext cx="45720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T3</a:t>
            </a:r>
            <a:endParaRPr b="0" i="0" sz="1200" u="none" cap="none" strike="noStrike">
              <a:solidFill>
                <a:schemeClr val="dk1"/>
              </a:solidFill>
              <a:latin typeface="Calibri"/>
              <a:ea typeface="Calibri"/>
              <a:cs typeface="Calibri"/>
              <a:sym typeface="Calibri"/>
            </a:endParaRPr>
          </a:p>
        </p:txBody>
      </p:sp>
      <p:sp>
        <p:nvSpPr>
          <p:cNvPr id="246" name="Google Shape;246;p11"/>
          <p:cNvSpPr/>
          <p:nvPr/>
        </p:nvSpPr>
        <p:spPr>
          <a:xfrm>
            <a:off x="7168896" y="1463040"/>
            <a:ext cx="1664208" cy="960120"/>
          </a:xfrm>
          <a:prstGeom prst="roundRect">
            <a:avLst>
              <a:gd fmla="val 8571"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1"/>
          <p:cNvSpPr/>
          <p:nvPr/>
        </p:nvSpPr>
        <p:spPr>
          <a:xfrm>
            <a:off x="7168896" y="1554480"/>
            <a:ext cx="1664208"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mbria"/>
              <a:buNone/>
            </a:pPr>
            <a:r>
              <a:rPr b="1" i="0" lang="en-US" sz="1250" u="none" cap="none" strike="noStrike">
                <a:solidFill>
                  <a:srgbClr val="FFFFFF"/>
                </a:solidFill>
                <a:latin typeface="Cambria"/>
                <a:ea typeface="Cambria"/>
                <a:cs typeface="Cambria"/>
                <a:sym typeface="Cambria"/>
              </a:rPr>
              <a:t>Divine (complete)</a:t>
            </a:r>
            <a:endParaRPr b="0" i="0" sz="1250" u="none" cap="none" strike="noStrike">
              <a:solidFill>
                <a:schemeClr val="dk1"/>
              </a:solidFill>
              <a:latin typeface="Calibri"/>
              <a:ea typeface="Calibri"/>
              <a:cs typeface="Calibri"/>
              <a:sym typeface="Calibri"/>
            </a:endParaRPr>
          </a:p>
        </p:txBody>
      </p:sp>
      <p:sp>
        <p:nvSpPr>
          <p:cNvPr id="248" name="Google Shape;248;p11"/>
          <p:cNvSpPr/>
          <p:nvPr/>
        </p:nvSpPr>
        <p:spPr>
          <a:xfrm>
            <a:off x="7223760" y="1874520"/>
            <a:ext cx="155448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D4EF"/>
              </a:buClr>
              <a:buSzPts val="880"/>
              <a:buFont typeface="Calibri"/>
              <a:buNone/>
            </a:pPr>
            <a:r>
              <a:rPr b="0" i="1" lang="en-US" sz="880" u="none" cap="none" strike="noStrike">
                <a:solidFill>
                  <a:srgbClr val="C9D4EF"/>
                </a:solidFill>
                <a:latin typeface="Calibri"/>
                <a:ea typeface="Calibri"/>
                <a:cs typeface="Calibri"/>
                <a:sym typeface="Calibri"/>
              </a:rPr>
              <a:t>living proof of coexistence</a:t>
            </a:r>
            <a:endParaRPr b="0" i="0" sz="880" u="none" cap="none" strike="noStrike">
              <a:solidFill>
                <a:schemeClr val="dk1"/>
              </a:solidFill>
              <a:latin typeface="Calibri"/>
              <a:ea typeface="Calibri"/>
              <a:cs typeface="Calibri"/>
              <a:sym typeface="Calibri"/>
            </a:endParaRPr>
          </a:p>
        </p:txBody>
      </p:sp>
      <p:sp>
        <p:nvSpPr>
          <p:cNvPr id="249" name="Google Shape;249;p11"/>
          <p:cNvSpPr/>
          <p:nvPr/>
        </p:nvSpPr>
        <p:spPr>
          <a:xfrm>
            <a:off x="640080" y="2770632"/>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1"/>
          <p:cNvSpPr/>
          <p:nvPr/>
        </p:nvSpPr>
        <p:spPr>
          <a:xfrm>
            <a:off x="640080" y="2770632"/>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T1</a:t>
            </a:r>
            <a:endParaRPr b="0" i="0" sz="1150" u="none" cap="none" strike="noStrike">
              <a:solidFill>
                <a:schemeClr val="dk1"/>
              </a:solidFill>
              <a:latin typeface="Calibri"/>
              <a:ea typeface="Calibri"/>
              <a:cs typeface="Calibri"/>
              <a:sym typeface="Calibri"/>
            </a:endParaRPr>
          </a:p>
        </p:txBody>
      </p:sp>
      <p:sp>
        <p:nvSpPr>
          <p:cNvPr id="251" name="Google Shape;251;p11"/>
          <p:cNvSpPr/>
          <p:nvPr/>
        </p:nvSpPr>
        <p:spPr>
          <a:xfrm>
            <a:off x="1188720" y="2743200"/>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Constitutional completeness — immortality of result; the atom becomes sentient jeevan</a:t>
            </a:r>
            <a:endParaRPr b="0" i="0" sz="1200" u="none" cap="none" strike="noStrike">
              <a:solidFill>
                <a:schemeClr val="dk1"/>
              </a:solidFill>
              <a:latin typeface="Calibri"/>
              <a:ea typeface="Calibri"/>
              <a:cs typeface="Calibri"/>
              <a:sym typeface="Calibri"/>
            </a:endParaRPr>
          </a:p>
        </p:txBody>
      </p:sp>
      <p:sp>
        <p:nvSpPr>
          <p:cNvPr id="252" name="Google Shape;252;p11"/>
          <p:cNvSpPr/>
          <p:nvPr/>
        </p:nvSpPr>
        <p:spPr>
          <a:xfrm>
            <a:off x="640080" y="3374136"/>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40080" y="3374136"/>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T2</a:t>
            </a:r>
            <a:endParaRPr b="0" i="0" sz="1150" u="none" cap="none" strike="noStrike">
              <a:solidFill>
                <a:schemeClr val="dk1"/>
              </a:solidFill>
              <a:latin typeface="Calibri"/>
              <a:ea typeface="Calibri"/>
              <a:cs typeface="Calibri"/>
              <a:sym typeface="Calibri"/>
            </a:endParaRPr>
          </a:p>
        </p:txBody>
      </p:sp>
      <p:sp>
        <p:nvSpPr>
          <p:cNvPr id="254" name="Google Shape;254;p11"/>
          <p:cNvSpPr/>
          <p:nvPr/>
        </p:nvSpPr>
        <p:spPr>
          <a:xfrm>
            <a:off x="1188720" y="3346704"/>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Activity completeness — restfulness of effort; direct realisation and absolute resolution</a:t>
            </a:r>
            <a:endParaRPr b="0" i="0" sz="1200" u="none" cap="none" strike="noStrike">
              <a:solidFill>
                <a:schemeClr val="dk1"/>
              </a:solidFill>
              <a:latin typeface="Calibri"/>
              <a:ea typeface="Calibri"/>
              <a:cs typeface="Calibri"/>
              <a:sym typeface="Calibri"/>
            </a:endParaRPr>
          </a:p>
        </p:txBody>
      </p:sp>
      <p:sp>
        <p:nvSpPr>
          <p:cNvPr id="255" name="Google Shape;255;p11"/>
          <p:cNvSpPr/>
          <p:nvPr/>
        </p:nvSpPr>
        <p:spPr>
          <a:xfrm>
            <a:off x="640080" y="3977640"/>
            <a:ext cx="384048" cy="38404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1"/>
          <p:cNvSpPr/>
          <p:nvPr/>
        </p:nvSpPr>
        <p:spPr>
          <a:xfrm>
            <a:off x="640080" y="3977640"/>
            <a:ext cx="384048" cy="38404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50"/>
              <a:buFont typeface="Calibri"/>
              <a:buNone/>
            </a:pPr>
            <a:r>
              <a:rPr b="1" i="0" lang="en-US" sz="1150" u="none" cap="none" strike="noStrike">
                <a:solidFill>
                  <a:srgbClr val="FFFFFF"/>
                </a:solidFill>
                <a:latin typeface="Calibri"/>
                <a:ea typeface="Calibri"/>
                <a:cs typeface="Calibri"/>
                <a:sym typeface="Calibri"/>
              </a:rPr>
              <a:t>T3</a:t>
            </a:r>
            <a:endParaRPr b="0" i="0" sz="1150" u="none" cap="none" strike="noStrike">
              <a:solidFill>
                <a:schemeClr val="dk1"/>
              </a:solidFill>
              <a:latin typeface="Calibri"/>
              <a:ea typeface="Calibri"/>
              <a:cs typeface="Calibri"/>
              <a:sym typeface="Calibri"/>
            </a:endParaRPr>
          </a:p>
        </p:txBody>
      </p:sp>
      <p:sp>
        <p:nvSpPr>
          <p:cNvPr id="257" name="Google Shape;257;p11"/>
          <p:cNvSpPr/>
          <p:nvPr/>
        </p:nvSpPr>
        <p:spPr>
          <a:xfrm>
            <a:off x="1188720" y="3950208"/>
            <a:ext cx="7406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Conduct completeness — destination of motion; authentic conduct as living proof</a:t>
            </a:r>
            <a:endParaRPr b="0" i="0" sz="1200" u="none" cap="none" strike="noStrike">
              <a:solidFill>
                <a:schemeClr val="dk1"/>
              </a:solidFill>
              <a:latin typeface="Calibri"/>
              <a:ea typeface="Calibri"/>
              <a:cs typeface="Calibri"/>
              <a:sym typeface="Calibri"/>
            </a:endParaRPr>
          </a:p>
        </p:txBody>
      </p:sp>
      <p:sp>
        <p:nvSpPr>
          <p:cNvPr id="258" name="Google Shape;258;p11"/>
          <p:cNvSpPr/>
          <p:nvPr/>
        </p:nvSpPr>
        <p:spPr>
          <a:xfrm>
            <a:off x="640080" y="4572000"/>
            <a:ext cx="79552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0" i="1" lang="en-US" sz="1050" u="none" cap="none" strike="noStrike">
                <a:solidFill>
                  <a:srgbClr val="9A6414"/>
                </a:solidFill>
                <a:latin typeface="Calibri"/>
                <a:ea typeface="Calibri"/>
                <a:cs typeface="Calibri"/>
                <a:sym typeface="Calibri"/>
              </a:rPr>
              <a:t>T1 completes the insentient path; T2 and T3 belong to the sentient path — inner settling (T2) and outer destination (T3) are different completions. What is saturated in the ground comes to realise the ground: that is the completeness drive.</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 name="Shape 263"/>
        <p:cNvGrpSpPr/>
        <p:nvPr/>
      </p:nvGrpSpPr>
      <p:grpSpPr>
        <a:xfrm>
          <a:off x="0" y="0"/>
          <a:ext cx="0" cy="0"/>
          <a:chOff x="0" y="0"/>
          <a:chExt cx="0" cy="0"/>
        </a:xfrm>
      </p:grpSpPr>
      <p:sp>
        <p:nvSpPr>
          <p:cNvPr id="264" name="Google Shape;264;p12"/>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2"/>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2"/>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2"/>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§1.6.1</a:t>
            </a:r>
            <a:endParaRPr b="0" i="0" sz="1050" u="none" cap="none" strike="noStrike">
              <a:solidFill>
                <a:schemeClr val="dk1"/>
              </a:solidFill>
              <a:latin typeface="Calibri"/>
              <a:ea typeface="Calibri"/>
              <a:cs typeface="Calibri"/>
              <a:sym typeface="Calibri"/>
            </a:endParaRPr>
          </a:p>
        </p:txBody>
      </p:sp>
      <p:sp>
        <p:nvSpPr>
          <p:cNvPr id="268" name="Google Shape;268;p12"/>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T1 — The Irreversible Sentience Threshold</a:t>
            </a:r>
            <a:endParaRPr b="0" i="0" sz="3000" u="none" cap="none" strike="noStrike">
              <a:solidFill>
                <a:schemeClr val="dk1"/>
              </a:solidFill>
              <a:latin typeface="Calibri"/>
              <a:ea typeface="Calibri"/>
              <a:cs typeface="Calibri"/>
              <a:sym typeface="Calibri"/>
            </a:endParaRPr>
          </a:p>
        </p:txBody>
      </p:sp>
      <p:sp>
        <p:nvSpPr>
          <p:cNvPr id="269" name="Google Shape;269;p12"/>
          <p:cNvSpPr/>
          <p:nvPr/>
        </p:nvSpPr>
        <p:spPr>
          <a:xfrm>
            <a:off x="640080" y="1234440"/>
            <a:ext cx="795528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00"/>
              <a:buFont typeface="Calibri"/>
              <a:buNone/>
            </a:pPr>
            <a:r>
              <a:rPr b="1" i="0" lang="en-US" sz="1300" u="none" cap="none" strike="noStrike">
                <a:solidFill>
                  <a:srgbClr val="1E2447"/>
                </a:solidFill>
                <a:latin typeface="Calibri"/>
                <a:ea typeface="Calibri"/>
                <a:cs typeface="Calibri"/>
                <a:sym typeface="Calibri"/>
              </a:rPr>
              <a:t>Constitutional completeness at the atomic level, </a:t>
            </a:r>
            <a:r>
              <a:rPr b="0" i="0" lang="en-US" sz="1250" u="none" cap="none" strike="noStrike">
                <a:solidFill>
                  <a:srgbClr val="5A6377"/>
                </a:solidFill>
                <a:latin typeface="Calibri"/>
                <a:ea typeface="Calibri"/>
                <a:cs typeface="Calibri"/>
                <a:sym typeface="Calibri"/>
              </a:rPr>
              <a:t>not neural complexity, molecular size, or elevation along the order chain. An evolving insentient atom incorporates particles through hungry and overfull complementarity within a conducive environment; when the required particles integrate, the constitution closes.</a:t>
            </a:r>
            <a:endParaRPr b="0" i="0" sz="1300" u="none" cap="none" strike="noStrike">
              <a:solidFill>
                <a:schemeClr val="dk1"/>
              </a:solidFill>
              <a:latin typeface="Calibri"/>
              <a:ea typeface="Calibri"/>
              <a:cs typeface="Calibri"/>
              <a:sym typeface="Calibri"/>
            </a:endParaRPr>
          </a:p>
        </p:txBody>
      </p:sp>
      <p:sp>
        <p:nvSpPr>
          <p:cNvPr id="270" name="Google Shape;270;p12"/>
          <p:cNvSpPr/>
          <p:nvPr/>
        </p:nvSpPr>
        <p:spPr>
          <a:xfrm>
            <a:off x="640080" y="2286000"/>
            <a:ext cx="3657600" cy="1691640"/>
          </a:xfrm>
          <a:prstGeom prst="roundRect">
            <a:avLst>
              <a:gd fmla="val 5405"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2"/>
          <p:cNvSpPr/>
          <p:nvPr/>
        </p:nvSpPr>
        <p:spPr>
          <a:xfrm>
            <a:off x="868680" y="243230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350"/>
              <a:buFont typeface="Cambria"/>
              <a:buNone/>
            </a:pPr>
            <a:r>
              <a:rPr b="1" i="0" lang="en-US" sz="1350" u="none" cap="none" strike="noStrike">
                <a:solidFill>
                  <a:srgbClr val="3B4A7A"/>
                </a:solidFill>
                <a:latin typeface="Cambria"/>
                <a:ea typeface="Cambria"/>
                <a:cs typeface="Cambria"/>
                <a:sym typeface="Cambria"/>
              </a:rPr>
              <a:t>Before T1 — evolving atom</a:t>
            </a:r>
            <a:endParaRPr b="0" i="0" sz="1350" u="none" cap="none" strike="noStrike">
              <a:solidFill>
                <a:schemeClr val="dk1"/>
              </a:solidFill>
              <a:latin typeface="Calibri"/>
              <a:ea typeface="Calibri"/>
              <a:cs typeface="Calibri"/>
              <a:sym typeface="Calibri"/>
            </a:endParaRPr>
          </a:p>
        </p:txBody>
      </p:sp>
      <p:sp>
        <p:nvSpPr>
          <p:cNvPr id="272" name="Google Shape;272;p12"/>
          <p:cNvSpPr/>
          <p:nvPr/>
        </p:nvSpPr>
        <p:spPr>
          <a:xfrm>
            <a:off x="868680" y="2743200"/>
            <a:ext cx="3246120" cy="11430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Carries molecular-bondage and weight-bondage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Particle count still changing; development in progress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Exhibits radiance and projection as an insentient unit</a:t>
            </a:r>
            <a:endParaRPr b="0" i="0" sz="1050" u="none" cap="none" strike="noStrike">
              <a:solidFill>
                <a:schemeClr val="dk1"/>
              </a:solidFill>
              <a:latin typeface="Calibri"/>
              <a:ea typeface="Calibri"/>
              <a:cs typeface="Calibri"/>
              <a:sym typeface="Calibri"/>
            </a:endParaRPr>
          </a:p>
        </p:txBody>
      </p:sp>
      <p:sp>
        <p:nvSpPr>
          <p:cNvPr id="273" name="Google Shape;273;p12"/>
          <p:cNvSpPr/>
          <p:nvPr/>
        </p:nvSpPr>
        <p:spPr>
          <a:xfrm>
            <a:off x="4846320" y="2286000"/>
            <a:ext cx="3657600" cy="1691640"/>
          </a:xfrm>
          <a:prstGeom prst="roundRect">
            <a:avLst>
              <a:gd fmla="val 5405"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2"/>
          <p:cNvSpPr/>
          <p:nvPr/>
        </p:nvSpPr>
        <p:spPr>
          <a:xfrm>
            <a:off x="5074920" y="2432304"/>
            <a:ext cx="3200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350"/>
              <a:buFont typeface="Cambria"/>
              <a:buNone/>
            </a:pPr>
            <a:r>
              <a:rPr b="1" i="0" lang="en-US" sz="1350" u="none" cap="none" strike="noStrike">
                <a:solidFill>
                  <a:srgbClr val="9A6414"/>
                </a:solidFill>
                <a:latin typeface="Cambria"/>
                <a:ea typeface="Cambria"/>
                <a:cs typeface="Cambria"/>
                <a:sym typeface="Cambria"/>
              </a:rPr>
              <a:t>After T1 — jeevan atom</a:t>
            </a:r>
            <a:endParaRPr b="0" i="0" sz="1350" u="none" cap="none" strike="noStrike">
              <a:solidFill>
                <a:schemeClr val="dk1"/>
              </a:solidFill>
              <a:latin typeface="Calibri"/>
              <a:ea typeface="Calibri"/>
              <a:cs typeface="Calibri"/>
              <a:sym typeface="Calibri"/>
            </a:endParaRPr>
          </a:p>
        </p:txBody>
      </p:sp>
      <p:sp>
        <p:nvSpPr>
          <p:cNvPr id="275" name="Google Shape;275;p12"/>
          <p:cNvSpPr/>
          <p:nvPr/>
        </p:nvSpPr>
        <p:spPr>
          <a:xfrm>
            <a:off x="5074920" y="2743200"/>
            <a:ext cx="3246120" cy="128016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Liberated from molecular- and weight-bondage; hope-bondage carries the drive — a new mode, not a new direction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No increase or decrease in particles: qualitative change without quantitative change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5A6377"/>
              </a:buClr>
              <a:buSzPts val="1050"/>
              <a:buFont typeface="Calibri"/>
              <a:buChar char="•"/>
            </a:pPr>
            <a:r>
              <a:rPr b="0" i="0" lang="en-US" sz="1050" u="none" cap="none" strike="noStrike">
                <a:solidFill>
                  <a:srgbClr val="5A6377"/>
                </a:solidFill>
                <a:latin typeface="Calibri"/>
                <a:ea typeface="Calibri"/>
                <a:cs typeface="Calibri"/>
                <a:sym typeface="Calibri"/>
              </a:rPr>
              <a:t>Reflects the knowledge latent in the ground as active sentience — latency actualised</a:t>
            </a:r>
            <a:endParaRPr b="0" i="0" sz="1050" u="none" cap="none" strike="noStrike">
              <a:solidFill>
                <a:schemeClr val="dk1"/>
              </a:solidFill>
              <a:latin typeface="Calibri"/>
              <a:ea typeface="Calibri"/>
              <a:cs typeface="Calibri"/>
              <a:sym typeface="Calibri"/>
            </a:endParaRPr>
          </a:p>
        </p:txBody>
      </p:sp>
      <p:sp>
        <p:nvSpPr>
          <p:cNvPr id="276" name="Google Shape;276;p12"/>
          <p:cNvSpPr/>
          <p:nvPr/>
        </p:nvSpPr>
        <p:spPr>
          <a:xfrm>
            <a:off x="4315968" y="2880360"/>
            <a:ext cx="50292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2400"/>
              <a:buFont typeface="Calibri"/>
              <a:buNone/>
            </a:pPr>
            <a:r>
              <a:rPr b="1" i="0" lang="en-US" sz="2400" u="none" cap="none" strike="noStrike">
                <a:solidFill>
                  <a:srgbClr val="C9821E"/>
                </a:solidFill>
                <a:latin typeface="Calibri"/>
                <a:ea typeface="Calibri"/>
                <a:cs typeface="Calibri"/>
                <a:sym typeface="Calibri"/>
              </a:rPr>
              <a:t>→</a:t>
            </a:r>
            <a:endParaRPr b="0" i="0" sz="2400" u="none" cap="none" strike="noStrike">
              <a:solidFill>
                <a:schemeClr val="dk1"/>
              </a:solidFill>
              <a:latin typeface="Calibri"/>
              <a:ea typeface="Calibri"/>
              <a:cs typeface="Calibri"/>
              <a:sym typeface="Calibri"/>
            </a:endParaRPr>
          </a:p>
        </p:txBody>
      </p:sp>
      <p:sp>
        <p:nvSpPr>
          <p:cNvPr id="277" name="Google Shape;277;p12"/>
          <p:cNvSpPr/>
          <p:nvPr/>
        </p:nvSpPr>
        <p:spPr>
          <a:xfrm>
            <a:off x="640080" y="4206240"/>
            <a:ext cx="79552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00"/>
              <a:buFont typeface="Calibri"/>
              <a:buNone/>
            </a:pPr>
            <a:r>
              <a:rPr b="0" i="1" lang="en-US" sz="1200" u="none" cap="none" strike="noStrike">
                <a:solidFill>
                  <a:srgbClr val="1E2447"/>
                </a:solidFill>
                <a:latin typeface="Calibri"/>
                <a:ea typeface="Calibri"/>
                <a:cs typeface="Calibri"/>
                <a:sym typeface="Calibri"/>
              </a:rPr>
              <a:t>T1 is irreversible at the atomic level: the jeevan atom is immune to decomposition — the ontological basis for jeevan’s persistence. Taste-recognition, impossible in insentient nature, first manifests here — recognition gains its inner circuit.</a:t>
            </a:r>
            <a:endParaRPr b="0" i="0" sz="1200" u="none" cap="none" strike="noStrike">
              <a:solidFill>
                <a:schemeClr val="dk1"/>
              </a:solidFill>
              <a:latin typeface="Calibri"/>
              <a:ea typeface="Calibri"/>
              <a:cs typeface="Calibri"/>
              <a:sym typeface="Calibri"/>
            </a:endParaRPr>
          </a:p>
        </p:txBody>
      </p:sp>
      <p:sp>
        <p:nvSpPr>
          <p:cNvPr id="278" name="Google Shape;278;p12"/>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pp. 52, 55, 59, 80–81, 92  ·  MVD pp. 8, 91, 117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3"/>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3"/>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3"/>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§1.7 · CONSTITUTIONALLY COMPLETE</a:t>
            </a:r>
            <a:endParaRPr b="0" i="0" sz="1050" u="none" cap="none" strike="noStrike">
              <a:solidFill>
                <a:schemeClr val="dk1"/>
              </a:solidFill>
              <a:latin typeface="Calibri"/>
              <a:ea typeface="Calibri"/>
              <a:cs typeface="Calibri"/>
              <a:sym typeface="Calibri"/>
            </a:endParaRPr>
          </a:p>
        </p:txBody>
      </p:sp>
      <p:sp>
        <p:nvSpPr>
          <p:cNvPr id="288" name="Google Shape;288;p13"/>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Jeevan: The Sentient Atom</a:t>
            </a:r>
            <a:endParaRPr b="0" i="0" sz="3000" u="none" cap="none" strike="noStrike">
              <a:solidFill>
                <a:schemeClr val="dk1"/>
              </a:solidFill>
              <a:latin typeface="Calibri"/>
              <a:ea typeface="Calibri"/>
              <a:cs typeface="Calibri"/>
              <a:sym typeface="Calibri"/>
            </a:endParaRPr>
          </a:p>
        </p:txBody>
      </p:sp>
      <p:sp>
        <p:nvSpPr>
          <p:cNvPr id="289" name="Google Shape;289;p13"/>
          <p:cNvSpPr/>
          <p:nvPr/>
        </p:nvSpPr>
        <p:spPr>
          <a:xfrm>
            <a:off x="1851660" y="2583180"/>
            <a:ext cx="960120" cy="96012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3"/>
          <p:cNvSpPr/>
          <p:nvPr/>
        </p:nvSpPr>
        <p:spPr>
          <a:xfrm>
            <a:off x="1828800" y="24643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buddhi</a:t>
            </a:r>
            <a:endParaRPr b="0" i="0" sz="950" u="none" cap="none" strike="noStrike">
              <a:solidFill>
                <a:schemeClr val="dk1"/>
              </a:solidFill>
              <a:latin typeface="Calibri"/>
              <a:ea typeface="Calibri"/>
              <a:cs typeface="Calibri"/>
              <a:sym typeface="Calibri"/>
            </a:endParaRPr>
          </a:p>
        </p:txBody>
      </p:sp>
      <p:sp>
        <p:nvSpPr>
          <p:cNvPr id="291" name="Google Shape;291;p13"/>
          <p:cNvSpPr/>
          <p:nvPr/>
        </p:nvSpPr>
        <p:spPr>
          <a:xfrm>
            <a:off x="1623060" y="2354580"/>
            <a:ext cx="1417320" cy="1417320"/>
          </a:xfrm>
          <a:prstGeom prst="ellipse">
            <a:avLst/>
          </a:prstGeom>
          <a:noFill/>
          <a:ln cap="flat" cmpd="sng" w="15875">
            <a:solidFill>
              <a:srgbClr val="8E9BC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3"/>
          <p:cNvSpPr/>
          <p:nvPr/>
        </p:nvSpPr>
        <p:spPr>
          <a:xfrm>
            <a:off x="1828800" y="22357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chitta</a:t>
            </a:r>
            <a:endParaRPr b="0" i="0" sz="950" u="none" cap="none" strike="noStrike">
              <a:solidFill>
                <a:schemeClr val="dk1"/>
              </a:solidFill>
              <a:latin typeface="Calibri"/>
              <a:ea typeface="Calibri"/>
              <a:cs typeface="Calibri"/>
              <a:sym typeface="Calibri"/>
            </a:endParaRPr>
          </a:p>
        </p:txBody>
      </p:sp>
      <p:sp>
        <p:nvSpPr>
          <p:cNvPr id="293" name="Google Shape;293;p13"/>
          <p:cNvSpPr/>
          <p:nvPr/>
        </p:nvSpPr>
        <p:spPr>
          <a:xfrm>
            <a:off x="1394460" y="2125980"/>
            <a:ext cx="1874520" cy="187452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3"/>
          <p:cNvSpPr/>
          <p:nvPr/>
        </p:nvSpPr>
        <p:spPr>
          <a:xfrm>
            <a:off x="1828800" y="20071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vritti</a:t>
            </a:r>
            <a:endParaRPr b="0" i="0" sz="950" u="none" cap="none" strike="noStrike">
              <a:solidFill>
                <a:schemeClr val="dk1"/>
              </a:solidFill>
              <a:latin typeface="Calibri"/>
              <a:ea typeface="Calibri"/>
              <a:cs typeface="Calibri"/>
              <a:sym typeface="Calibri"/>
            </a:endParaRPr>
          </a:p>
        </p:txBody>
      </p:sp>
      <p:sp>
        <p:nvSpPr>
          <p:cNvPr id="295" name="Google Shape;295;p13"/>
          <p:cNvSpPr/>
          <p:nvPr/>
        </p:nvSpPr>
        <p:spPr>
          <a:xfrm>
            <a:off x="1165860" y="1897380"/>
            <a:ext cx="2331720" cy="2331720"/>
          </a:xfrm>
          <a:prstGeom prst="ellipse">
            <a:avLst/>
          </a:prstGeom>
          <a:noFill/>
          <a:ln cap="flat" cmpd="sng" w="15875">
            <a:solidFill>
              <a:srgbClr val="8E9BC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3"/>
          <p:cNvSpPr/>
          <p:nvPr/>
        </p:nvSpPr>
        <p:spPr>
          <a:xfrm>
            <a:off x="1828800" y="1778508"/>
            <a:ext cx="1005840" cy="219456"/>
          </a:xfrm>
          <a:prstGeom prst="rect">
            <a:avLst/>
          </a:prstGeom>
          <a:solidFill>
            <a:srgbClr val="FFFFFF"/>
          </a:solid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950"/>
              <a:buFont typeface="Calibri"/>
              <a:buNone/>
            </a:pPr>
            <a:r>
              <a:rPr b="1" i="1" lang="en-US" sz="950" u="none" cap="none" strike="noStrike">
                <a:solidFill>
                  <a:srgbClr val="3B4A7A"/>
                </a:solidFill>
                <a:latin typeface="Calibri"/>
                <a:ea typeface="Calibri"/>
                <a:cs typeface="Calibri"/>
                <a:sym typeface="Calibri"/>
              </a:rPr>
              <a:t>mun</a:t>
            </a:r>
            <a:endParaRPr b="0" i="0" sz="950" u="none" cap="none" strike="noStrike">
              <a:solidFill>
                <a:schemeClr val="dk1"/>
              </a:solidFill>
              <a:latin typeface="Calibri"/>
              <a:ea typeface="Calibri"/>
              <a:cs typeface="Calibri"/>
              <a:sym typeface="Calibri"/>
            </a:endParaRPr>
          </a:p>
        </p:txBody>
      </p:sp>
      <p:sp>
        <p:nvSpPr>
          <p:cNvPr id="297" name="Google Shape;297;p13"/>
          <p:cNvSpPr/>
          <p:nvPr/>
        </p:nvSpPr>
        <p:spPr>
          <a:xfrm>
            <a:off x="2084832" y="2816352"/>
            <a:ext cx="493776" cy="493776"/>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3"/>
          <p:cNvSpPr/>
          <p:nvPr/>
        </p:nvSpPr>
        <p:spPr>
          <a:xfrm>
            <a:off x="1874520" y="2926080"/>
            <a:ext cx="914400" cy="274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atma</a:t>
            </a:r>
            <a:endParaRPr b="0" i="0" sz="1050" u="none" cap="none" strike="noStrike">
              <a:solidFill>
                <a:schemeClr val="dk1"/>
              </a:solidFill>
              <a:latin typeface="Calibri"/>
              <a:ea typeface="Calibri"/>
              <a:cs typeface="Calibri"/>
              <a:sym typeface="Calibri"/>
            </a:endParaRPr>
          </a:p>
        </p:txBody>
      </p:sp>
      <p:sp>
        <p:nvSpPr>
          <p:cNvPr id="299" name="Google Shape;299;p13"/>
          <p:cNvSpPr/>
          <p:nvPr/>
        </p:nvSpPr>
        <p:spPr>
          <a:xfrm>
            <a:off x="685800" y="4434840"/>
            <a:ext cx="33832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nucleus = atma; particles in the four orbits are the four faculties (MVD p. 78)</a:t>
            </a:r>
            <a:endParaRPr b="0" i="0" sz="950" u="none" cap="none" strike="noStrike">
              <a:solidFill>
                <a:schemeClr val="dk1"/>
              </a:solidFill>
              <a:latin typeface="Calibri"/>
              <a:ea typeface="Calibri"/>
              <a:cs typeface="Calibri"/>
              <a:sym typeface="Calibri"/>
            </a:endParaRPr>
          </a:p>
        </p:txBody>
      </p:sp>
      <p:graphicFrame>
        <p:nvGraphicFramePr>
          <p:cNvPr id="300" name="Google Shape;300;p13"/>
          <p:cNvGraphicFramePr/>
          <p:nvPr/>
        </p:nvGraphicFramePr>
        <p:xfrm>
          <a:off x="4480560" y="1371600"/>
          <a:ext cx="3000000" cy="3000000"/>
        </p:xfrm>
        <a:graphic>
          <a:graphicData uri="http://schemas.openxmlformats.org/drawingml/2006/table">
            <a:tbl>
              <a:tblPr>
                <a:noFill/>
                <a:tableStyleId>{6C92A692-798E-4634-90B1-36CD3966BFCB}</a:tableStyleId>
              </a:tblPr>
              <a:tblGrid>
                <a:gridCol w="1371600"/>
                <a:gridCol w="1417325"/>
                <a:gridCol w="1371600"/>
              </a:tblGrid>
              <a:tr h="329175">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Faculty / strength</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Projection (outward)</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50"/>
                        <a:buFont typeface="Calibri"/>
                        <a:buNone/>
                      </a:pPr>
                      <a:r>
                        <a:rPr b="1" lang="en-US" sz="1050" u="none" cap="none" strike="noStrike">
                          <a:solidFill>
                            <a:srgbClr val="FFFFFF"/>
                          </a:solidFill>
                          <a:latin typeface="Calibri"/>
                          <a:ea typeface="Calibri"/>
                          <a:cs typeface="Calibri"/>
                          <a:sym typeface="Calibri"/>
                        </a:rPr>
                        <a:t>Reflection (inward)</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Mun / hope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selection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taste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Vritti / thought</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analysis</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deliberation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Chitta / desire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visualisation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contemplation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Buddhi</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resolve</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enlightenment</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Atma</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authenticity</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50"/>
                        <a:buFont typeface="Calibri"/>
                        <a:buNone/>
                      </a:pPr>
                      <a:r>
                        <a:rPr lang="en-US" sz="1050" u="none" cap="none" strike="noStrike">
                          <a:solidFill>
                            <a:srgbClr val="1E2447"/>
                          </a:solidFill>
                          <a:latin typeface="Calibri"/>
                          <a:ea typeface="Calibri"/>
                          <a:cs typeface="Calibri"/>
                          <a:sym typeface="Calibri"/>
                        </a:rPr>
                        <a:t>realisation</a:t>
                      </a:r>
                      <a:endParaRPr sz="105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301" name="Google Shape;301;p13"/>
          <p:cNvSpPr/>
          <p:nvPr/>
        </p:nvSpPr>
        <p:spPr>
          <a:xfrm>
            <a:off x="4480560" y="3977640"/>
            <a:ext cx="41605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50"/>
              <a:buFont typeface="Calibri"/>
              <a:buNone/>
            </a:pPr>
            <a:r>
              <a:rPr b="0" i="0" lang="en-US" sz="1050" u="none" cap="none" strike="noStrike">
                <a:solidFill>
                  <a:srgbClr val="5A6377"/>
                </a:solidFill>
                <a:latin typeface="Calibri"/>
                <a:ea typeface="Calibri"/>
                <a:cs typeface="Calibri"/>
                <a:sym typeface="Calibri"/>
              </a:rPr>
              <a:t>Reflection is the knowing direction — the ascent of understanding toward realisation; projection is the evidencing direction — the descent from realisation into conduct. In the pre-awakening human only four and a half of the ten activities are effective. </a:t>
            </a:r>
            <a:r>
              <a:rPr b="0" i="1" lang="en-US" sz="1050" u="none" cap="none" strike="noStrike">
                <a:solidFill>
                  <a:srgbClr val="9A6414"/>
                </a:solidFill>
                <a:latin typeface="Calibri"/>
                <a:ea typeface="Calibri"/>
                <a:cs typeface="Calibri"/>
                <a:sym typeface="Calibri"/>
              </a:rPr>
              <a:t>On the delusional plane, atma is “I” and the orbital four are “mine.” Awakening is staged — partially awakened, half awakened, awakened — as the four come into accordance with atma.</a:t>
            </a:r>
            <a:endParaRPr b="0" i="0" sz="1050" u="none" cap="none" strike="noStrike">
              <a:solidFill>
                <a:schemeClr val="dk1"/>
              </a:solidFill>
              <a:latin typeface="Calibri"/>
              <a:ea typeface="Calibri"/>
              <a:cs typeface="Calibri"/>
              <a:sym typeface="Calibri"/>
            </a:endParaRPr>
          </a:p>
        </p:txBody>
      </p:sp>
      <p:sp>
        <p:nvSpPr>
          <p:cNvPr id="302" name="Google Shape;302;p13"/>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13, 78, 126, 278–279, 286–287  ·  JV p. 92  ·  the five developmental sheaths are a distinct structure; awakening opens the fifth — MVD pp. 49–50</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4"/>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4"/>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4"/>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4"/>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§1.8 · HARMONY WITHIN</a:t>
            </a:r>
            <a:endParaRPr b="0" i="0" sz="1050" u="none" cap="none" strike="noStrike">
              <a:solidFill>
                <a:schemeClr val="dk1"/>
              </a:solidFill>
              <a:latin typeface="Calibri"/>
              <a:ea typeface="Calibri"/>
              <a:cs typeface="Calibri"/>
              <a:sym typeface="Calibri"/>
            </a:endParaRPr>
          </a:p>
        </p:txBody>
      </p:sp>
      <p:sp>
        <p:nvSpPr>
          <p:cNvPr id="312" name="Google Shape;312;p14"/>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Jeevan Values and Persistence</a:t>
            </a:r>
            <a:endParaRPr b="0" i="0" sz="3000" u="none" cap="none" strike="noStrike">
              <a:solidFill>
                <a:schemeClr val="dk1"/>
              </a:solidFill>
              <a:latin typeface="Calibri"/>
              <a:ea typeface="Calibri"/>
              <a:cs typeface="Calibri"/>
              <a:sym typeface="Calibri"/>
            </a:endParaRPr>
          </a:p>
        </p:txBody>
      </p:sp>
      <p:sp>
        <p:nvSpPr>
          <p:cNvPr id="313" name="Google Shape;313;p14"/>
          <p:cNvSpPr/>
          <p:nvPr/>
        </p:nvSpPr>
        <p:spPr>
          <a:xfrm>
            <a:off x="640080"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4"/>
          <p:cNvSpPr/>
          <p:nvPr/>
        </p:nvSpPr>
        <p:spPr>
          <a:xfrm>
            <a:off x="822960"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888797"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944758"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04672"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Happiness</a:t>
            </a:r>
            <a:endParaRPr b="0" i="0" sz="1250" u="none" cap="none" strike="noStrike">
              <a:solidFill>
                <a:schemeClr val="dk1"/>
              </a:solidFill>
              <a:latin typeface="Calibri"/>
              <a:ea typeface="Calibri"/>
              <a:cs typeface="Calibri"/>
              <a:sym typeface="Calibri"/>
            </a:endParaRPr>
          </a:p>
        </p:txBody>
      </p:sp>
      <p:sp>
        <p:nvSpPr>
          <p:cNvPr id="318" name="Google Shape;318;p14"/>
          <p:cNvSpPr/>
          <p:nvPr/>
        </p:nvSpPr>
        <p:spPr>
          <a:xfrm>
            <a:off x="804672"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of mun and vritti</a:t>
            </a:r>
            <a:endParaRPr b="0" i="0" sz="980" u="none" cap="none" strike="noStrike">
              <a:solidFill>
                <a:schemeClr val="dk1"/>
              </a:solidFill>
              <a:latin typeface="Calibri"/>
              <a:ea typeface="Calibri"/>
              <a:cs typeface="Calibri"/>
              <a:sym typeface="Calibri"/>
            </a:endParaRPr>
          </a:p>
        </p:txBody>
      </p:sp>
      <p:sp>
        <p:nvSpPr>
          <p:cNvPr id="319" name="Google Shape;319;p14"/>
          <p:cNvSpPr/>
          <p:nvPr/>
        </p:nvSpPr>
        <p:spPr>
          <a:xfrm>
            <a:off x="2633472"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2816352"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2882189"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2938150"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798064"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Peace</a:t>
            </a:r>
            <a:endParaRPr b="0" i="0" sz="1250" u="none" cap="none" strike="noStrike">
              <a:solidFill>
                <a:schemeClr val="dk1"/>
              </a:solidFill>
              <a:latin typeface="Calibri"/>
              <a:ea typeface="Calibri"/>
              <a:cs typeface="Calibri"/>
              <a:sym typeface="Calibri"/>
            </a:endParaRPr>
          </a:p>
        </p:txBody>
      </p:sp>
      <p:sp>
        <p:nvSpPr>
          <p:cNvPr id="324" name="Google Shape;324;p14"/>
          <p:cNvSpPr/>
          <p:nvPr/>
        </p:nvSpPr>
        <p:spPr>
          <a:xfrm>
            <a:off x="2798064"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of vritti and chitta</a:t>
            </a:r>
            <a:endParaRPr b="0" i="0" sz="980" u="none" cap="none" strike="noStrike">
              <a:solidFill>
                <a:schemeClr val="dk1"/>
              </a:solidFill>
              <a:latin typeface="Calibri"/>
              <a:ea typeface="Calibri"/>
              <a:cs typeface="Calibri"/>
              <a:sym typeface="Calibri"/>
            </a:endParaRPr>
          </a:p>
        </p:txBody>
      </p:sp>
      <p:sp>
        <p:nvSpPr>
          <p:cNvPr id="325" name="Google Shape;325;p14"/>
          <p:cNvSpPr/>
          <p:nvPr/>
        </p:nvSpPr>
        <p:spPr>
          <a:xfrm>
            <a:off x="4626864" y="1371600"/>
            <a:ext cx="187452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4"/>
          <p:cNvSpPr/>
          <p:nvPr/>
        </p:nvSpPr>
        <p:spPr>
          <a:xfrm>
            <a:off x="4809744"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4875581"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4"/>
          <p:cNvSpPr/>
          <p:nvPr/>
        </p:nvSpPr>
        <p:spPr>
          <a:xfrm>
            <a:off x="4931542" y="1657990"/>
            <a:ext cx="85588" cy="85588"/>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4791456"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Contentment</a:t>
            </a:r>
            <a:endParaRPr b="0" i="0" sz="1250" u="none" cap="none" strike="noStrike">
              <a:solidFill>
                <a:schemeClr val="dk1"/>
              </a:solidFill>
              <a:latin typeface="Calibri"/>
              <a:ea typeface="Calibri"/>
              <a:cs typeface="Calibri"/>
              <a:sym typeface="Calibri"/>
            </a:endParaRPr>
          </a:p>
        </p:txBody>
      </p:sp>
      <p:sp>
        <p:nvSpPr>
          <p:cNvPr id="330" name="Google Shape;330;p14"/>
          <p:cNvSpPr/>
          <p:nvPr/>
        </p:nvSpPr>
        <p:spPr>
          <a:xfrm>
            <a:off x="4791456"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of chitta and buddhi</a:t>
            </a:r>
            <a:endParaRPr b="0" i="0" sz="980" u="none" cap="none" strike="noStrike">
              <a:solidFill>
                <a:schemeClr val="dk1"/>
              </a:solidFill>
              <a:latin typeface="Calibri"/>
              <a:ea typeface="Calibri"/>
              <a:cs typeface="Calibri"/>
              <a:sym typeface="Calibri"/>
            </a:endParaRPr>
          </a:p>
        </p:txBody>
      </p:sp>
      <p:sp>
        <p:nvSpPr>
          <p:cNvPr id="331" name="Google Shape;331;p14"/>
          <p:cNvSpPr/>
          <p:nvPr/>
        </p:nvSpPr>
        <p:spPr>
          <a:xfrm>
            <a:off x="6620256" y="1371600"/>
            <a:ext cx="1874520" cy="1371600"/>
          </a:xfrm>
          <a:prstGeom prst="roundRect">
            <a:avLst>
              <a:gd fmla="val 6667"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4"/>
          <p:cNvSpPr/>
          <p:nvPr/>
        </p:nvSpPr>
        <p:spPr>
          <a:xfrm>
            <a:off x="6803136" y="1536192"/>
            <a:ext cx="329184" cy="329184"/>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6868973" y="1602029"/>
            <a:ext cx="197510" cy="19751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4"/>
          <p:cNvSpPr/>
          <p:nvPr/>
        </p:nvSpPr>
        <p:spPr>
          <a:xfrm>
            <a:off x="6924934" y="1657990"/>
            <a:ext cx="85588" cy="8558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6784848" y="1938528"/>
            <a:ext cx="1572768"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Bliss</a:t>
            </a:r>
            <a:endParaRPr b="0" i="0" sz="1250" u="none" cap="none" strike="noStrike">
              <a:solidFill>
                <a:schemeClr val="dk1"/>
              </a:solidFill>
              <a:latin typeface="Calibri"/>
              <a:ea typeface="Calibri"/>
              <a:cs typeface="Calibri"/>
              <a:sym typeface="Calibri"/>
            </a:endParaRPr>
          </a:p>
        </p:txBody>
      </p:sp>
      <p:sp>
        <p:nvSpPr>
          <p:cNvPr id="336" name="Google Shape;336;p14"/>
          <p:cNvSpPr/>
          <p:nvPr/>
        </p:nvSpPr>
        <p:spPr>
          <a:xfrm>
            <a:off x="6784848" y="2377440"/>
            <a:ext cx="1572768"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80"/>
              <a:buFont typeface="Calibri"/>
              <a:buNone/>
            </a:pPr>
            <a:r>
              <a:rPr b="0" i="1" lang="en-US" sz="980" u="none" cap="none" strike="noStrike">
                <a:solidFill>
                  <a:srgbClr val="5A6377"/>
                </a:solidFill>
                <a:latin typeface="Calibri"/>
                <a:ea typeface="Calibri"/>
                <a:cs typeface="Calibri"/>
                <a:sym typeface="Calibri"/>
              </a:rPr>
              <a:t>harmony of buddhi and atma</a:t>
            </a:r>
            <a:endParaRPr b="0" i="0" sz="980" u="none" cap="none" strike="noStrike">
              <a:solidFill>
                <a:schemeClr val="dk1"/>
              </a:solidFill>
              <a:latin typeface="Calibri"/>
              <a:ea typeface="Calibri"/>
              <a:cs typeface="Calibri"/>
              <a:sym typeface="Calibri"/>
            </a:endParaRPr>
          </a:p>
        </p:txBody>
      </p:sp>
      <p:sp>
        <p:nvSpPr>
          <p:cNvPr id="337" name="Google Shape;337;p14"/>
          <p:cNvSpPr/>
          <p:nvPr/>
        </p:nvSpPr>
        <p:spPr>
          <a:xfrm>
            <a:off x="640080" y="3017520"/>
            <a:ext cx="79552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Awakening is felt harmony: </a:t>
            </a:r>
            <a:r>
              <a:rPr b="0" i="0" lang="en-US" sz="1250" u="none" cap="none" strike="noStrike">
                <a:solidFill>
                  <a:srgbClr val="5A6377"/>
                </a:solidFill>
                <a:latin typeface="Calibri"/>
                <a:ea typeface="Calibri"/>
                <a:cs typeface="Calibri"/>
                <a:sym typeface="Calibri"/>
              </a:rPr>
              <a:t>as the orbital faculties come into accordance with atma, the four jeevan values register in the lower faculties. Inward regulation — mediative atma disciplining faculties and body — channels jeevan’s energies toward development.</a:t>
            </a:r>
            <a:endParaRPr b="0" i="0" sz="1250" u="none" cap="none" strike="noStrike">
              <a:solidFill>
                <a:schemeClr val="dk1"/>
              </a:solidFill>
              <a:latin typeface="Calibri"/>
              <a:ea typeface="Calibri"/>
              <a:cs typeface="Calibri"/>
              <a:sym typeface="Calibri"/>
            </a:endParaRPr>
          </a:p>
        </p:txBody>
      </p:sp>
      <p:sp>
        <p:nvSpPr>
          <p:cNvPr id="338" name="Google Shape;338;p14"/>
          <p:cNvSpPr/>
          <p:nvPr/>
        </p:nvSpPr>
        <p:spPr>
          <a:xfrm>
            <a:off x="640080" y="3840480"/>
            <a:ext cx="7863840" cy="777240"/>
          </a:xfrm>
          <a:prstGeom prst="roundRect">
            <a:avLst>
              <a:gd fmla="val 10588"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914400" y="3840480"/>
            <a:ext cx="73152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50"/>
              <a:buFont typeface="Calibri"/>
              <a:buNone/>
            </a:pPr>
            <a:r>
              <a:rPr b="0" i="1" lang="en-US" sz="1350" u="none" cap="none" strike="noStrike">
                <a:solidFill>
                  <a:srgbClr val="FFFFFF"/>
                </a:solidFill>
                <a:latin typeface="Calibri"/>
                <a:ea typeface="Calibri"/>
                <a:cs typeface="Calibri"/>
                <a:sym typeface="Calibri"/>
              </a:rPr>
              <a:t>“Jeevan continues to exist even after death as it does while driving a body.”</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D4EF"/>
              </a:buClr>
              <a:buSzPts val="1050"/>
              <a:buFont typeface="Calibri"/>
              <a:buNone/>
            </a:pPr>
            <a:r>
              <a:rPr b="0" i="0" lang="en-US" sz="1050" u="none" cap="none" strike="noStrike">
                <a:solidFill>
                  <a:srgbClr val="C9D4EF"/>
                </a:solidFill>
                <a:latin typeface="Calibri"/>
                <a:ea typeface="Calibri"/>
                <a:cs typeface="Calibri"/>
                <a:sym typeface="Calibri"/>
              </a:rPr>
              <a:t>Constitutionally complete, jeevan persists across bodily birth and death, carrying impressions and its state of awakening.  — JV p. 20</a:t>
            </a:r>
            <a:endParaRPr b="0" i="0" sz="1350" u="none" cap="none" strike="noStrike">
              <a:solidFill>
                <a:schemeClr val="dk1"/>
              </a:solidFill>
              <a:latin typeface="Calibri"/>
              <a:ea typeface="Calibri"/>
              <a:cs typeface="Calibri"/>
              <a:sym typeface="Calibri"/>
            </a:endParaRPr>
          </a:p>
        </p:txBody>
      </p:sp>
      <p:sp>
        <p:nvSpPr>
          <p:cNvPr id="340" name="Google Shape;340;p14"/>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JV pp. 20, 138  ·  MVD pp. 77, 101, 277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15"/>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5"/>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5"/>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5"/>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§1.9 · TWO COORDINATES OF CHANGE</a:t>
            </a:r>
            <a:endParaRPr b="0" i="0" sz="1050" u="none" cap="none" strike="noStrike">
              <a:solidFill>
                <a:schemeClr val="dk1"/>
              </a:solidFill>
              <a:latin typeface="Calibri"/>
              <a:ea typeface="Calibri"/>
              <a:cs typeface="Calibri"/>
              <a:sym typeface="Calibri"/>
            </a:endParaRPr>
          </a:p>
        </p:txBody>
      </p:sp>
      <p:sp>
        <p:nvSpPr>
          <p:cNvPr id="350" name="Google Shape;350;p15"/>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Progressions and Planes</a:t>
            </a:r>
            <a:endParaRPr b="0" i="0" sz="3000" u="none" cap="none" strike="noStrike">
              <a:solidFill>
                <a:schemeClr val="dk1"/>
              </a:solidFill>
              <a:latin typeface="Calibri"/>
              <a:ea typeface="Calibri"/>
              <a:cs typeface="Calibri"/>
              <a:sym typeface="Calibri"/>
            </a:endParaRPr>
          </a:p>
        </p:txBody>
      </p:sp>
      <p:sp>
        <p:nvSpPr>
          <p:cNvPr id="351" name="Google Shape;351;p15"/>
          <p:cNvSpPr/>
          <p:nvPr/>
        </p:nvSpPr>
        <p:spPr>
          <a:xfrm>
            <a:off x="640080" y="1280160"/>
            <a:ext cx="39319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Four progressions (how nature moves)</a:t>
            </a:r>
            <a:endParaRPr b="0" i="0" sz="1400" u="none" cap="none" strike="noStrike">
              <a:solidFill>
                <a:schemeClr val="dk1"/>
              </a:solidFill>
              <a:latin typeface="Calibri"/>
              <a:ea typeface="Calibri"/>
              <a:cs typeface="Calibri"/>
              <a:sym typeface="Calibri"/>
            </a:endParaRPr>
          </a:p>
        </p:txBody>
      </p:sp>
      <p:sp>
        <p:nvSpPr>
          <p:cNvPr id="352" name="Google Shape;352;p15"/>
          <p:cNvSpPr/>
          <p:nvPr/>
        </p:nvSpPr>
        <p:spPr>
          <a:xfrm>
            <a:off x="640080" y="1664208"/>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5"/>
          <p:cNvSpPr/>
          <p:nvPr/>
        </p:nvSpPr>
        <p:spPr>
          <a:xfrm>
            <a:off x="640080" y="1664208"/>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354" name="Google Shape;354;p15"/>
          <p:cNvSpPr/>
          <p:nvPr/>
        </p:nvSpPr>
        <p:spPr>
          <a:xfrm>
            <a:off x="1078992" y="1645920"/>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Existential progression — </a:t>
            </a:r>
            <a:r>
              <a:rPr b="0" i="0" lang="en-US" sz="1080" u="none" cap="none" strike="noStrike">
                <a:solidFill>
                  <a:srgbClr val="5A6377"/>
                </a:solidFill>
                <a:latin typeface="Calibri"/>
                <a:ea typeface="Calibri"/>
                <a:cs typeface="Calibri"/>
                <a:sym typeface="Calibri"/>
              </a:rPr>
              <a:t>the fixed order in which the orders emerge: material → pranic → animal → knowledge</a:t>
            </a:r>
            <a:endParaRPr b="0" i="0" sz="1080" u="none" cap="none" strike="noStrike">
              <a:solidFill>
                <a:schemeClr val="dk1"/>
              </a:solidFill>
              <a:latin typeface="Calibri"/>
              <a:ea typeface="Calibri"/>
              <a:cs typeface="Calibri"/>
              <a:sym typeface="Calibri"/>
            </a:endParaRPr>
          </a:p>
        </p:txBody>
      </p:sp>
      <p:sp>
        <p:nvSpPr>
          <p:cNvPr id="355" name="Google Shape;355;p15"/>
          <p:cNvSpPr/>
          <p:nvPr/>
        </p:nvSpPr>
        <p:spPr>
          <a:xfrm>
            <a:off x="640080" y="2322576"/>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5"/>
          <p:cNvSpPr/>
          <p:nvPr/>
        </p:nvSpPr>
        <p:spPr>
          <a:xfrm>
            <a:off x="640080" y="2322576"/>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357" name="Google Shape;357;p15"/>
          <p:cNvSpPr/>
          <p:nvPr/>
        </p:nvSpPr>
        <p:spPr>
          <a:xfrm>
            <a:off x="1078992" y="2304288"/>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Way of existence — </a:t>
            </a:r>
            <a:r>
              <a:rPr b="0" i="0" lang="en-US" sz="1080" u="none" cap="none" strike="noStrike">
                <a:solidFill>
                  <a:srgbClr val="5A6377"/>
                </a:solidFill>
                <a:latin typeface="Calibri"/>
                <a:ea typeface="Calibri"/>
                <a:cs typeface="Calibri"/>
                <a:sym typeface="Calibri"/>
              </a:rPr>
              <a:t>definiteness in each order’s proper conduct</a:t>
            </a:r>
            <a:endParaRPr b="0" i="0" sz="1080" u="none" cap="none" strike="noStrike">
              <a:solidFill>
                <a:schemeClr val="dk1"/>
              </a:solidFill>
              <a:latin typeface="Calibri"/>
              <a:ea typeface="Calibri"/>
              <a:cs typeface="Calibri"/>
              <a:sym typeface="Calibri"/>
            </a:endParaRPr>
          </a:p>
        </p:txBody>
      </p:sp>
      <p:sp>
        <p:nvSpPr>
          <p:cNvPr id="358" name="Google Shape;358;p15"/>
          <p:cNvSpPr/>
          <p:nvPr/>
        </p:nvSpPr>
        <p:spPr>
          <a:xfrm>
            <a:off x="640080" y="2980944"/>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5"/>
          <p:cNvSpPr/>
          <p:nvPr/>
        </p:nvSpPr>
        <p:spPr>
          <a:xfrm>
            <a:off x="640080" y="2980944"/>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360" name="Google Shape;360;p15"/>
          <p:cNvSpPr/>
          <p:nvPr/>
        </p:nvSpPr>
        <p:spPr>
          <a:xfrm>
            <a:off x="1078992" y="2962656"/>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Development progression — </a:t>
            </a:r>
            <a:r>
              <a:rPr b="0" i="0" lang="en-US" sz="1080" u="none" cap="none" strike="noStrike">
                <a:solidFill>
                  <a:srgbClr val="5A6377"/>
                </a:solidFill>
                <a:latin typeface="Calibri"/>
                <a:ea typeface="Calibri"/>
                <a:cs typeface="Calibri"/>
                <a:sym typeface="Calibri"/>
              </a:rPr>
              <a:t>atomic development up to constitutional completeness (T1)</a:t>
            </a:r>
            <a:endParaRPr b="0" i="0" sz="1080" u="none" cap="none" strike="noStrike">
              <a:solidFill>
                <a:schemeClr val="dk1"/>
              </a:solidFill>
              <a:latin typeface="Calibri"/>
              <a:ea typeface="Calibri"/>
              <a:cs typeface="Calibri"/>
              <a:sym typeface="Calibri"/>
            </a:endParaRPr>
          </a:p>
        </p:txBody>
      </p:sp>
      <p:sp>
        <p:nvSpPr>
          <p:cNvPr id="361" name="Google Shape;361;p15"/>
          <p:cNvSpPr/>
          <p:nvPr/>
        </p:nvSpPr>
        <p:spPr>
          <a:xfrm>
            <a:off x="640080" y="3639312"/>
            <a:ext cx="310896" cy="310896"/>
          </a:xfrm>
          <a:prstGeom prst="ellipse">
            <a:avLst/>
          </a:prstGeom>
          <a:solidFill>
            <a:srgbClr val="3B4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5"/>
          <p:cNvSpPr/>
          <p:nvPr/>
        </p:nvSpPr>
        <p:spPr>
          <a:xfrm>
            <a:off x="640080" y="3639312"/>
            <a:ext cx="310896"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4</a:t>
            </a:r>
            <a:endParaRPr b="0" i="0" sz="1100" u="none" cap="none" strike="noStrike">
              <a:solidFill>
                <a:schemeClr val="dk1"/>
              </a:solidFill>
              <a:latin typeface="Calibri"/>
              <a:ea typeface="Calibri"/>
              <a:cs typeface="Calibri"/>
              <a:sym typeface="Calibri"/>
            </a:endParaRPr>
          </a:p>
        </p:txBody>
      </p:sp>
      <p:sp>
        <p:nvSpPr>
          <p:cNvPr id="363" name="Google Shape;363;p15"/>
          <p:cNvSpPr/>
          <p:nvPr/>
        </p:nvSpPr>
        <p:spPr>
          <a:xfrm>
            <a:off x="1078992" y="3621024"/>
            <a:ext cx="352044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080"/>
              <a:buFont typeface="Calibri"/>
              <a:buNone/>
            </a:pPr>
            <a:r>
              <a:rPr b="1" i="1" lang="en-US" sz="1080" u="none" cap="none" strike="noStrike">
                <a:solidFill>
                  <a:srgbClr val="1E2447"/>
                </a:solidFill>
                <a:latin typeface="Calibri"/>
                <a:ea typeface="Calibri"/>
                <a:cs typeface="Calibri"/>
                <a:sym typeface="Calibri"/>
              </a:rPr>
              <a:t>Awakening progression — </a:t>
            </a:r>
            <a:r>
              <a:rPr b="0" i="0" lang="en-US" sz="1080" u="none" cap="none" strike="noStrike">
                <a:solidFill>
                  <a:srgbClr val="5A6377"/>
                </a:solidFill>
                <a:latin typeface="Calibri"/>
                <a:ea typeface="Calibri"/>
                <a:cs typeface="Calibri"/>
                <a:sym typeface="Calibri"/>
              </a:rPr>
              <a:t>awakening within jeevan toward fuller activity and conduct</a:t>
            </a:r>
            <a:endParaRPr b="0" i="0" sz="1080" u="none" cap="none" strike="noStrike">
              <a:solidFill>
                <a:schemeClr val="dk1"/>
              </a:solidFill>
              <a:latin typeface="Calibri"/>
              <a:ea typeface="Calibri"/>
              <a:cs typeface="Calibri"/>
              <a:sym typeface="Calibri"/>
            </a:endParaRPr>
          </a:p>
        </p:txBody>
      </p:sp>
      <p:sp>
        <p:nvSpPr>
          <p:cNvPr id="364" name="Google Shape;364;p15"/>
          <p:cNvSpPr/>
          <p:nvPr/>
        </p:nvSpPr>
        <p:spPr>
          <a:xfrm>
            <a:off x="640080" y="4224528"/>
            <a:ext cx="397764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980"/>
              <a:buFont typeface="Calibri"/>
              <a:buNone/>
            </a:pPr>
            <a:r>
              <a:rPr b="0" i="1" lang="en-US" sz="980" u="none" cap="none" strike="noStrike">
                <a:solidFill>
                  <a:srgbClr val="9A6414"/>
                </a:solidFill>
                <a:latin typeface="Calibri"/>
                <a:ea typeface="Calibri"/>
                <a:cs typeface="Calibri"/>
                <a:sym typeface="Calibri"/>
              </a:rPr>
              <a:t>The two axes meet at the pranic→animal junction: the order chain delivers the animal body; atomic completeness delivers the jeevan atom.</a:t>
            </a:r>
            <a:endParaRPr b="0" i="0" sz="980" u="none" cap="none" strike="noStrike">
              <a:solidFill>
                <a:schemeClr val="dk1"/>
              </a:solidFill>
              <a:latin typeface="Calibri"/>
              <a:ea typeface="Calibri"/>
              <a:cs typeface="Calibri"/>
              <a:sym typeface="Calibri"/>
            </a:endParaRPr>
          </a:p>
        </p:txBody>
      </p:sp>
      <p:sp>
        <p:nvSpPr>
          <p:cNvPr id="365" name="Google Shape;365;p15"/>
          <p:cNvSpPr/>
          <p:nvPr/>
        </p:nvSpPr>
        <p:spPr>
          <a:xfrm>
            <a:off x="4892040" y="1280160"/>
            <a:ext cx="3749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Four planes (where a unit stands)</a:t>
            </a:r>
            <a:endParaRPr b="0" i="0" sz="1400" u="none" cap="none" strike="noStrike">
              <a:solidFill>
                <a:schemeClr val="dk1"/>
              </a:solidFill>
              <a:latin typeface="Calibri"/>
              <a:ea typeface="Calibri"/>
              <a:cs typeface="Calibri"/>
              <a:sym typeface="Calibri"/>
            </a:endParaRPr>
          </a:p>
        </p:txBody>
      </p:sp>
      <p:graphicFrame>
        <p:nvGraphicFramePr>
          <p:cNvPr id="366" name="Google Shape;366;p15"/>
          <p:cNvGraphicFramePr/>
          <p:nvPr/>
        </p:nvGraphicFramePr>
        <p:xfrm>
          <a:off x="4892040" y="1645920"/>
          <a:ext cx="3000000" cy="3000000"/>
        </p:xfrm>
        <a:graphic>
          <a:graphicData uri="http://schemas.openxmlformats.org/drawingml/2006/table">
            <a:tbl>
              <a:tblPr>
                <a:noFill/>
                <a:tableStyleId>{6C92A692-798E-4634-90B1-36CD3966BFCB}</a:tableStyleId>
              </a:tblPr>
              <a:tblGrid>
                <a:gridCol w="1554475"/>
                <a:gridCol w="2194550"/>
              </a:tblGrid>
              <a:tr h="310900">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Order</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Plane(s) occupied</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Material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Physicochemical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Bio (pranic)</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Physicochemical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8405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Animal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Delusional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45720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Knowledge (human)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Delusional → deific → divine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367" name="Google Shape;367;p15"/>
          <p:cNvSpPr/>
          <p:nvPr/>
        </p:nvSpPr>
        <p:spPr>
          <a:xfrm>
            <a:off x="4892040" y="3794760"/>
            <a:ext cx="374904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00"/>
              <a:buFont typeface="Calibri"/>
              <a:buNone/>
            </a:pPr>
            <a:r>
              <a:rPr b="0" i="0" lang="en-US" sz="1000" u="none" cap="none" strike="noStrike">
                <a:solidFill>
                  <a:srgbClr val="5A6377"/>
                </a:solidFill>
                <a:latin typeface="Calibri"/>
                <a:ea typeface="Calibri"/>
                <a:cs typeface="Calibri"/>
                <a:sym typeface="Calibri"/>
              </a:rPr>
              <a:t>Order names what a unit is; plane names how far its development has gone. Two orders map to one plane; one order spans three — the axes never line up one-to-one. Five human types — servile, brutal, discerning, deity-human, divine-human — mark degrees of awakening across the last three planes.</a:t>
            </a:r>
            <a:endParaRPr b="0" i="0" sz="1000" u="none" cap="none" strike="noStrike">
              <a:solidFill>
                <a:schemeClr val="dk1"/>
              </a:solidFill>
              <a:latin typeface="Calibri"/>
              <a:ea typeface="Calibri"/>
              <a:cs typeface="Calibri"/>
              <a:sym typeface="Calibri"/>
            </a:endParaRPr>
          </a:p>
        </p:txBody>
      </p:sp>
      <p:sp>
        <p:nvSpPr>
          <p:cNvPr id="368" name="Google Shape;368;p15"/>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MVD pp. 8, 13–14, 91, 160  ·  SB pp. 52, 76–78</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16"/>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6"/>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6"/>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6"/>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§1.10 · COMPOSITION AND ASSEMBLIES</a:t>
            </a:r>
            <a:endParaRPr b="0" i="0" sz="1050" u="none" cap="none" strike="noStrike">
              <a:solidFill>
                <a:schemeClr val="dk1"/>
              </a:solidFill>
              <a:latin typeface="Calibri"/>
              <a:ea typeface="Calibri"/>
              <a:cs typeface="Calibri"/>
              <a:sym typeface="Calibri"/>
            </a:endParaRPr>
          </a:p>
        </p:txBody>
      </p:sp>
      <p:sp>
        <p:nvSpPr>
          <p:cNvPr id="377" name="Google Shape;377;p16"/>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From Atoms to Societies</a:t>
            </a:r>
            <a:endParaRPr b="0" i="0" sz="3000" u="none" cap="none" strike="noStrike">
              <a:solidFill>
                <a:schemeClr val="dk1"/>
              </a:solidFill>
              <a:latin typeface="Calibri"/>
              <a:ea typeface="Calibri"/>
              <a:cs typeface="Calibri"/>
              <a:sym typeface="Calibri"/>
            </a:endParaRPr>
          </a:p>
        </p:txBody>
      </p:sp>
      <p:sp>
        <p:nvSpPr>
          <p:cNvPr id="378" name="Google Shape;378;p16"/>
          <p:cNvSpPr/>
          <p:nvPr/>
        </p:nvSpPr>
        <p:spPr>
          <a:xfrm>
            <a:off x="640080" y="1207008"/>
            <a:ext cx="79552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300"/>
              <a:buFont typeface="Calibri"/>
              <a:buNone/>
            </a:pPr>
            <a:r>
              <a:rPr b="0" i="0" lang="en-US" sz="1300" u="none" cap="none" strike="noStrike">
                <a:solidFill>
                  <a:srgbClr val="5A6377"/>
                </a:solidFill>
                <a:latin typeface="Calibri"/>
                <a:ea typeface="Calibri"/>
                <a:cs typeface="Calibri"/>
                <a:sym typeface="Calibri"/>
              </a:rPr>
              <a:t>When complementary units fulfil their relationships, they compose into larger units. A natural inclination toward coexistence runs everywhere — each successful composition opens relationships at a higher tier.</a:t>
            </a:r>
            <a:endParaRPr b="0" i="0" sz="1300" u="none" cap="none" strike="noStrike">
              <a:solidFill>
                <a:schemeClr val="dk1"/>
              </a:solidFill>
              <a:latin typeface="Calibri"/>
              <a:ea typeface="Calibri"/>
              <a:cs typeface="Calibri"/>
              <a:sym typeface="Calibri"/>
            </a:endParaRPr>
          </a:p>
        </p:txBody>
      </p:sp>
      <p:sp>
        <p:nvSpPr>
          <p:cNvPr id="379" name="Google Shape;379;p16"/>
          <p:cNvSpPr/>
          <p:nvPr/>
        </p:nvSpPr>
        <p:spPr>
          <a:xfrm>
            <a:off x="64008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6"/>
          <p:cNvSpPr/>
          <p:nvPr/>
        </p:nvSpPr>
        <p:spPr>
          <a:xfrm>
            <a:off x="84124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400"/>
              <a:buFont typeface="Cambria"/>
              <a:buNone/>
            </a:pPr>
            <a:r>
              <a:rPr b="1" i="0" lang="en-US" sz="1400" u="none" cap="none" strike="noStrike">
                <a:solidFill>
                  <a:srgbClr val="1E2447"/>
                </a:solidFill>
                <a:latin typeface="Cambria"/>
                <a:ea typeface="Cambria"/>
                <a:cs typeface="Cambria"/>
                <a:sym typeface="Cambria"/>
              </a:rPr>
              <a:t>Mixture</a:t>
            </a:r>
            <a:endParaRPr b="0" i="0" sz="1400" u="none" cap="none" strike="noStrike">
              <a:solidFill>
                <a:schemeClr val="dk1"/>
              </a:solidFill>
              <a:latin typeface="Calibri"/>
              <a:ea typeface="Calibri"/>
              <a:cs typeface="Calibri"/>
              <a:sym typeface="Calibri"/>
            </a:endParaRPr>
          </a:p>
        </p:txBody>
      </p:sp>
      <p:sp>
        <p:nvSpPr>
          <p:cNvPr id="381" name="Google Shape;381;p16"/>
          <p:cNvSpPr/>
          <p:nvPr/>
        </p:nvSpPr>
        <p:spPr>
          <a:xfrm>
            <a:off x="84124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Components stay side by side and each maintains its own conduct — no new unit is formed.</a:t>
            </a:r>
            <a:endParaRPr b="0" i="0" sz="1100" u="none" cap="none" strike="noStrike">
              <a:solidFill>
                <a:schemeClr val="dk1"/>
              </a:solidFill>
              <a:latin typeface="Calibri"/>
              <a:ea typeface="Calibri"/>
              <a:cs typeface="Calibri"/>
              <a:sym typeface="Calibri"/>
            </a:endParaRPr>
          </a:p>
        </p:txBody>
      </p:sp>
      <p:sp>
        <p:nvSpPr>
          <p:cNvPr id="382" name="Google Shape;382;p16"/>
          <p:cNvSpPr/>
          <p:nvPr/>
        </p:nvSpPr>
        <p:spPr>
          <a:xfrm>
            <a:off x="4709160" y="1874520"/>
            <a:ext cx="3794760" cy="1170432"/>
          </a:xfrm>
          <a:prstGeom prst="roundRect">
            <a:avLst>
              <a:gd fmla="val 7031"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6"/>
          <p:cNvSpPr/>
          <p:nvPr/>
        </p:nvSpPr>
        <p:spPr>
          <a:xfrm>
            <a:off x="4910328" y="1993392"/>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B4A7A"/>
              </a:buClr>
              <a:buSzPts val="1400"/>
              <a:buFont typeface="Cambria"/>
              <a:buNone/>
            </a:pPr>
            <a:r>
              <a:rPr b="1" i="0" lang="en-US" sz="1400" u="none" cap="none" strike="noStrike">
                <a:solidFill>
                  <a:srgbClr val="3B4A7A"/>
                </a:solidFill>
                <a:latin typeface="Cambria"/>
                <a:ea typeface="Cambria"/>
                <a:cs typeface="Cambria"/>
                <a:sym typeface="Cambria"/>
              </a:rPr>
              <a:t>Compound</a:t>
            </a:r>
            <a:endParaRPr b="0" i="0" sz="1400" u="none" cap="none" strike="noStrike">
              <a:solidFill>
                <a:schemeClr val="dk1"/>
              </a:solidFill>
              <a:latin typeface="Calibri"/>
              <a:ea typeface="Calibri"/>
              <a:cs typeface="Calibri"/>
              <a:sym typeface="Calibri"/>
            </a:endParaRPr>
          </a:p>
        </p:txBody>
      </p:sp>
      <p:sp>
        <p:nvSpPr>
          <p:cNvPr id="384" name="Google Shape;384;p16"/>
          <p:cNvSpPr/>
          <p:nvPr/>
        </p:nvSpPr>
        <p:spPr>
          <a:xfrm>
            <a:off x="4910328" y="228600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0" lang="en-US" sz="1100" u="none" cap="none" strike="noStrike">
                <a:solidFill>
                  <a:srgbClr val="5A6377"/>
                </a:solidFill>
                <a:latin typeface="Calibri"/>
                <a:ea typeface="Calibri"/>
                <a:cs typeface="Calibri"/>
                <a:sym typeface="Calibri"/>
              </a:rPr>
              <a:t>Components combine in definite proportion and present a genuinely new unit, with its own form, properties, essential nature, and dharma.</a:t>
            </a:r>
            <a:endParaRPr b="0" i="0" sz="1100" u="none" cap="none" strike="noStrike">
              <a:solidFill>
                <a:schemeClr val="dk1"/>
              </a:solidFill>
              <a:latin typeface="Calibri"/>
              <a:ea typeface="Calibri"/>
              <a:cs typeface="Calibri"/>
              <a:sym typeface="Calibri"/>
            </a:endParaRPr>
          </a:p>
        </p:txBody>
      </p:sp>
      <p:sp>
        <p:nvSpPr>
          <p:cNvPr id="385" name="Google Shape;385;p16"/>
          <p:cNvSpPr/>
          <p:nvPr/>
        </p:nvSpPr>
        <p:spPr>
          <a:xfrm>
            <a:off x="640080" y="324612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libri"/>
              <a:buNone/>
            </a:pPr>
            <a:r>
              <a:rPr b="1" i="0" lang="en-US" sz="1250" u="none" cap="none" strike="noStrike">
                <a:solidFill>
                  <a:srgbClr val="1E2447"/>
                </a:solidFill>
                <a:latin typeface="Calibri"/>
                <a:ea typeface="Calibri"/>
                <a:cs typeface="Calibri"/>
                <a:sym typeface="Calibri"/>
              </a:rPr>
              <a:t>Composition is not development.  </a:t>
            </a:r>
            <a:r>
              <a:rPr b="0" i="0" lang="en-US" sz="1200" u="none" cap="none" strike="noStrike">
                <a:solidFill>
                  <a:srgbClr val="5A6377"/>
                </a:solidFill>
                <a:latin typeface="Calibri"/>
                <a:ea typeface="Calibri"/>
                <a:cs typeface="Calibri"/>
                <a:sym typeface="Calibri"/>
              </a:rPr>
              <a:t>The developmental threshold is crossed only when an atom reaches constitutional completeness (T1); assemblies persist while relationships are fulfilled and decline when they are not.</a:t>
            </a:r>
            <a:endParaRPr b="0" i="0" sz="1250" u="none" cap="none" strike="noStrike">
              <a:solidFill>
                <a:schemeClr val="dk1"/>
              </a:solidFill>
              <a:latin typeface="Calibri"/>
              <a:ea typeface="Calibri"/>
              <a:cs typeface="Calibri"/>
              <a:sym typeface="Calibri"/>
            </a:endParaRPr>
          </a:p>
        </p:txBody>
      </p:sp>
      <p:sp>
        <p:nvSpPr>
          <p:cNvPr id="386" name="Google Shape;386;p16"/>
          <p:cNvSpPr/>
          <p:nvPr/>
        </p:nvSpPr>
        <p:spPr>
          <a:xfrm>
            <a:off x="64008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6"/>
          <p:cNvSpPr/>
          <p:nvPr/>
        </p:nvSpPr>
        <p:spPr>
          <a:xfrm>
            <a:off x="64008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Particles, atoms</a:t>
            </a:r>
            <a:endParaRPr b="0" i="0" sz="1250" u="none" cap="none" strike="noStrike">
              <a:solidFill>
                <a:schemeClr val="dk1"/>
              </a:solidFill>
              <a:latin typeface="Calibri"/>
              <a:ea typeface="Calibri"/>
              <a:cs typeface="Calibri"/>
              <a:sym typeface="Calibri"/>
            </a:endParaRPr>
          </a:p>
        </p:txBody>
      </p:sp>
      <p:sp>
        <p:nvSpPr>
          <p:cNvPr id="388" name="Google Shape;388;p16"/>
          <p:cNvSpPr/>
          <p:nvPr/>
        </p:nvSpPr>
        <p:spPr>
          <a:xfrm>
            <a:off x="233172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89" name="Google Shape;389;p16"/>
          <p:cNvSpPr/>
          <p:nvPr/>
        </p:nvSpPr>
        <p:spPr>
          <a:xfrm>
            <a:off x="265176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6"/>
          <p:cNvSpPr/>
          <p:nvPr/>
        </p:nvSpPr>
        <p:spPr>
          <a:xfrm>
            <a:off x="265176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Molecules</a:t>
            </a:r>
            <a:endParaRPr b="0" i="0" sz="1250" u="none" cap="none" strike="noStrike">
              <a:solidFill>
                <a:schemeClr val="dk1"/>
              </a:solidFill>
              <a:latin typeface="Calibri"/>
              <a:ea typeface="Calibri"/>
              <a:cs typeface="Calibri"/>
              <a:sym typeface="Calibri"/>
            </a:endParaRPr>
          </a:p>
        </p:txBody>
      </p:sp>
      <p:sp>
        <p:nvSpPr>
          <p:cNvPr id="391" name="Google Shape;391;p16"/>
          <p:cNvSpPr/>
          <p:nvPr/>
        </p:nvSpPr>
        <p:spPr>
          <a:xfrm>
            <a:off x="434340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2" name="Google Shape;392;p16"/>
          <p:cNvSpPr/>
          <p:nvPr/>
        </p:nvSpPr>
        <p:spPr>
          <a:xfrm>
            <a:off x="466344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6"/>
          <p:cNvSpPr/>
          <p:nvPr/>
        </p:nvSpPr>
        <p:spPr>
          <a:xfrm>
            <a:off x="466344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Cells &amp; bodies</a:t>
            </a:r>
            <a:endParaRPr b="0" i="0" sz="1250" u="none" cap="none" strike="noStrike">
              <a:solidFill>
                <a:schemeClr val="dk1"/>
              </a:solidFill>
              <a:latin typeface="Calibri"/>
              <a:ea typeface="Calibri"/>
              <a:cs typeface="Calibri"/>
              <a:sym typeface="Calibri"/>
            </a:endParaRPr>
          </a:p>
        </p:txBody>
      </p:sp>
      <p:sp>
        <p:nvSpPr>
          <p:cNvPr id="394" name="Google Shape;394;p16"/>
          <p:cNvSpPr/>
          <p:nvPr/>
        </p:nvSpPr>
        <p:spPr>
          <a:xfrm>
            <a:off x="6355080" y="3977640"/>
            <a:ext cx="3200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9821E"/>
              </a:buClr>
              <a:buSzPts val="1600"/>
              <a:buFont typeface="Calibri"/>
              <a:buNone/>
            </a:pPr>
            <a:r>
              <a:rPr b="1" i="0" lang="en-US" sz="1600" u="none" cap="none" strike="noStrike">
                <a:solidFill>
                  <a:srgbClr val="C9821E"/>
                </a:solidFill>
                <a:latin typeface="Calibri"/>
                <a:ea typeface="Calibri"/>
                <a:cs typeface="Calibri"/>
                <a:sym typeface="Calibri"/>
              </a:rPr>
              <a:t>→</a:t>
            </a:r>
            <a:endParaRPr b="0" i="0" sz="1600" u="none" cap="none" strike="noStrike">
              <a:solidFill>
                <a:schemeClr val="dk1"/>
              </a:solidFill>
              <a:latin typeface="Calibri"/>
              <a:ea typeface="Calibri"/>
              <a:cs typeface="Calibri"/>
              <a:sym typeface="Calibri"/>
            </a:endParaRPr>
          </a:p>
        </p:txBody>
      </p:sp>
      <p:sp>
        <p:nvSpPr>
          <p:cNvPr id="395" name="Google Shape;395;p16"/>
          <p:cNvSpPr/>
          <p:nvPr/>
        </p:nvSpPr>
        <p:spPr>
          <a:xfrm>
            <a:off x="6675120" y="3977640"/>
            <a:ext cx="1691640" cy="502920"/>
          </a:xfrm>
          <a:prstGeom prst="roundRect">
            <a:avLst>
              <a:gd fmla="val 16364" name="adj"/>
            </a:avLst>
          </a:prstGeom>
          <a:solidFill>
            <a:srgbClr val="1E244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6"/>
          <p:cNvSpPr/>
          <p:nvPr/>
        </p:nvSpPr>
        <p:spPr>
          <a:xfrm>
            <a:off x="6675120" y="3977640"/>
            <a:ext cx="1691640"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50"/>
              <a:buFont typeface="Calibri"/>
              <a:buNone/>
            </a:pPr>
            <a:r>
              <a:rPr b="1" i="0" lang="en-US" sz="1250" u="none" cap="none" strike="noStrike">
                <a:solidFill>
                  <a:srgbClr val="FFFFFF"/>
                </a:solidFill>
                <a:latin typeface="Calibri"/>
                <a:ea typeface="Calibri"/>
                <a:cs typeface="Calibri"/>
                <a:sym typeface="Calibri"/>
              </a:rPr>
              <a:t>Families, society</a:t>
            </a:r>
            <a:endParaRPr b="0" i="0" sz="1250" u="none" cap="none" strike="noStrike">
              <a:solidFill>
                <a:schemeClr val="dk1"/>
              </a:solidFill>
              <a:latin typeface="Calibri"/>
              <a:ea typeface="Calibri"/>
              <a:cs typeface="Calibri"/>
              <a:sym typeface="Calibri"/>
            </a:endParaRPr>
          </a:p>
        </p:txBody>
      </p:sp>
      <p:sp>
        <p:nvSpPr>
          <p:cNvPr id="397" name="Google Shape;397;p16"/>
          <p:cNvSpPr/>
          <p:nvPr/>
        </p:nvSpPr>
        <p:spPr>
          <a:xfrm>
            <a:off x="640080" y="4553712"/>
            <a:ext cx="79552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100"/>
              <a:buFont typeface="Calibri"/>
              <a:buNone/>
            </a:pPr>
            <a:r>
              <a:rPr b="0" i="1" lang="en-US" sz="1100" u="none" cap="none" strike="noStrike">
                <a:solidFill>
                  <a:srgbClr val="5A6377"/>
                </a:solidFill>
                <a:latin typeface="Calibri"/>
                <a:ea typeface="Calibri"/>
                <a:cs typeface="Calibri"/>
                <a:sym typeface="Calibri"/>
              </a:rPr>
              <a:t>Human assemblies follow the same rule: their durability tracks relationship-fulfilment — not fear or extraction. This is the scaling step toward an undivided society.</a:t>
            </a:r>
            <a:endParaRPr b="0" i="0" sz="1100" u="none" cap="none" strike="noStrike">
              <a:solidFill>
                <a:schemeClr val="dk1"/>
              </a:solidFill>
              <a:latin typeface="Calibri"/>
              <a:ea typeface="Calibri"/>
              <a:cs typeface="Calibri"/>
              <a:sym typeface="Calibri"/>
            </a:endParaRPr>
          </a:p>
        </p:txBody>
      </p:sp>
      <p:sp>
        <p:nvSpPr>
          <p:cNvPr id="398" name="Google Shape;398;p16"/>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JV p. 67 (inclination toward coexistence)  ·  MVD p. 42 (mixture &amp; compound)  ·  SB p. 14 (persist or decline)</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17"/>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7"/>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7"/>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7"/>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§§1.11–1.12 · WHY “MADHYASTH”</a:t>
            </a:r>
            <a:endParaRPr b="0" i="0" sz="1050" u="none" cap="none" strike="noStrike">
              <a:solidFill>
                <a:schemeClr val="dk1"/>
              </a:solidFill>
              <a:latin typeface="Calibri"/>
              <a:ea typeface="Calibri"/>
              <a:cs typeface="Calibri"/>
              <a:sym typeface="Calibri"/>
            </a:endParaRPr>
          </a:p>
        </p:txBody>
      </p:sp>
      <p:sp>
        <p:nvSpPr>
          <p:cNvPr id="408" name="Google Shape;408;p17"/>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Regulation, Law, and Justice</a:t>
            </a:r>
            <a:endParaRPr b="0" i="0" sz="3000" u="none" cap="none" strike="noStrike">
              <a:solidFill>
                <a:schemeClr val="dk1"/>
              </a:solidFill>
              <a:latin typeface="Calibri"/>
              <a:ea typeface="Calibri"/>
              <a:cs typeface="Calibri"/>
              <a:sym typeface="Calibri"/>
            </a:endParaRPr>
          </a:p>
        </p:txBody>
      </p:sp>
      <p:sp>
        <p:nvSpPr>
          <p:cNvPr id="409" name="Google Shape;409;p17"/>
          <p:cNvSpPr/>
          <p:nvPr/>
        </p:nvSpPr>
        <p:spPr>
          <a:xfrm>
            <a:off x="640080" y="1234440"/>
            <a:ext cx="79552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Orderliness is self-regulation, inherent in saturated units — not dispensed by a cosmic governor. </a:t>
            </a:r>
            <a:r>
              <a:rPr b="1" i="0" lang="en-US" sz="1250" u="none" cap="none" strike="noStrike">
                <a:solidFill>
                  <a:srgbClr val="1E2447"/>
                </a:solidFill>
                <a:latin typeface="Calibri"/>
                <a:ea typeface="Calibri"/>
                <a:cs typeface="Calibri"/>
                <a:sym typeface="Calibri"/>
              </a:rPr>
              <a:t>This mediative (madhyasth) regulation, which regulates and conserves every unit, gives the darshan its name.</a:t>
            </a:r>
            <a:endParaRPr b="0" i="0" sz="1250" u="none" cap="none" strike="noStrike">
              <a:solidFill>
                <a:schemeClr val="dk1"/>
              </a:solidFill>
              <a:latin typeface="Calibri"/>
              <a:ea typeface="Calibri"/>
              <a:cs typeface="Calibri"/>
              <a:sym typeface="Calibri"/>
            </a:endParaRPr>
          </a:p>
        </p:txBody>
      </p:sp>
      <p:graphicFrame>
        <p:nvGraphicFramePr>
          <p:cNvPr id="410" name="Google Shape;410;p17"/>
          <p:cNvGraphicFramePr/>
          <p:nvPr/>
        </p:nvGraphicFramePr>
        <p:xfrm>
          <a:off x="640080" y="1965960"/>
          <a:ext cx="3000000" cy="3000000"/>
        </p:xfrm>
        <a:graphic>
          <a:graphicData uri="http://schemas.openxmlformats.org/drawingml/2006/table">
            <a:tbl>
              <a:tblPr>
                <a:noFill/>
                <a:tableStyleId>{6C92A692-798E-4634-90B1-36CD3966BFCB}</a:tableStyleId>
              </a:tblPr>
              <a:tblGrid>
                <a:gridCol w="1554475"/>
                <a:gridCol w="3017525"/>
                <a:gridCol w="3291850"/>
              </a:tblGrid>
              <a:tr h="310900">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Order</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Conformance mode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FFFFFF"/>
                        </a:buClr>
                        <a:buSzPts val="1080"/>
                        <a:buFont typeface="Calibri"/>
                        <a:buNone/>
                      </a:pPr>
                      <a:r>
                        <a:rPr b="1" lang="en-US" sz="1080" u="none" cap="none" strike="noStrike">
                          <a:solidFill>
                            <a:srgbClr val="FFFFFF"/>
                          </a:solidFill>
                          <a:latin typeface="Calibri"/>
                          <a:ea typeface="Calibri"/>
                          <a:cs typeface="Calibri"/>
                          <a:sym typeface="Calibri"/>
                        </a:rPr>
                        <a:t>Definite or achieved</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1E2447"/>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Material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result- / structural-conformance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Bio (pranic)</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seed-conformance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347475">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Animal</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species-conformance (inherited from gestation)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definite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r h="457200">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Knowledge (human)</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sanskar-conformance</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E2447"/>
                        </a:buClr>
                        <a:buSzPts val="1080"/>
                        <a:buFont typeface="Calibri"/>
                        <a:buNone/>
                      </a:pPr>
                      <a:r>
                        <a:rPr lang="en-US" sz="1080" u="none" cap="none" strike="noStrike">
                          <a:solidFill>
                            <a:srgbClr val="1E2447"/>
                          </a:solidFill>
                          <a:latin typeface="Calibri"/>
                          <a:ea typeface="Calibri"/>
                          <a:cs typeface="Calibri"/>
                          <a:sym typeface="Calibri"/>
                        </a:rPr>
                        <a:t>achieved: knowing → believing → recognising → fulfilling</a:t>
                      </a:r>
                      <a:endParaRPr sz="1080" u="none" cap="none" strike="noStrike">
                        <a:latin typeface="Calibri"/>
                        <a:ea typeface="Calibri"/>
                        <a:cs typeface="Calibri"/>
                        <a:sym typeface="Calibri"/>
                      </a:endParaRPr>
                    </a:p>
                  </a:txBody>
                  <a:tcPr marT="45725" marB="45725" marR="45725" marL="45725" anchor="ctr">
                    <a:lnL cap="flat" cmpd="sng" w="9525">
                      <a:solidFill>
                        <a:srgbClr val="C9D0E2"/>
                      </a:solidFill>
                      <a:prstDash val="solid"/>
                      <a:round/>
                      <a:headEnd len="sm" w="sm" type="none"/>
                      <a:tailEnd len="sm" w="sm" type="none"/>
                    </a:lnL>
                    <a:lnR cap="flat" cmpd="sng" w="9525">
                      <a:solidFill>
                        <a:srgbClr val="C9D0E2"/>
                      </a:solidFill>
                      <a:prstDash val="solid"/>
                      <a:round/>
                      <a:headEnd len="sm" w="sm" type="none"/>
                      <a:tailEnd len="sm" w="sm" type="none"/>
                    </a:lnR>
                    <a:lnT cap="flat" cmpd="sng" w="9525">
                      <a:solidFill>
                        <a:srgbClr val="C9D0E2"/>
                      </a:solidFill>
                      <a:prstDash val="solid"/>
                      <a:round/>
                      <a:headEnd len="sm" w="sm" type="none"/>
                      <a:tailEnd len="sm" w="sm" type="none"/>
                    </a:lnT>
                    <a:lnB cap="flat" cmpd="sng" w="9525">
                      <a:solidFill>
                        <a:srgbClr val="C9D0E2"/>
                      </a:solidFill>
                      <a:prstDash val="solid"/>
                      <a:round/>
                      <a:headEnd len="sm" w="sm" type="none"/>
                      <a:tailEnd len="sm" w="sm" type="none"/>
                    </a:lnB>
                    <a:solidFill>
                      <a:srgbClr val="FFFFFF"/>
                    </a:solidFill>
                  </a:tcPr>
                </a:tc>
              </a:tr>
            </a:tbl>
          </a:graphicData>
        </a:graphic>
      </p:graphicFrame>
      <p:sp>
        <p:nvSpPr>
          <p:cNvPr id="411" name="Google Shape;411;p17"/>
          <p:cNvSpPr/>
          <p:nvPr/>
        </p:nvSpPr>
        <p:spPr>
          <a:xfrm>
            <a:off x="640080" y="3977640"/>
            <a:ext cx="7863840" cy="731520"/>
          </a:xfrm>
          <a:prstGeom prst="roundRect">
            <a:avLst>
              <a:gd fmla="val 11250" name="adj"/>
            </a:avLst>
          </a:prstGeom>
          <a:solidFill>
            <a:srgbClr val="FAF1D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7"/>
          <p:cNvSpPr/>
          <p:nvPr/>
        </p:nvSpPr>
        <p:spPr>
          <a:xfrm>
            <a:off x="868680" y="3977640"/>
            <a:ext cx="740664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00"/>
              <a:buFont typeface="Calibri"/>
              <a:buNone/>
            </a:pPr>
            <a:r>
              <a:rPr b="1" i="0" lang="en-US" sz="1100" u="none" cap="none" strike="noStrike">
                <a:solidFill>
                  <a:srgbClr val="9A6414"/>
                </a:solidFill>
                <a:latin typeface="Calibri"/>
                <a:ea typeface="Calibri"/>
                <a:cs typeface="Calibri"/>
                <a:sym typeface="Calibri"/>
              </a:rPr>
              <a:t>Justice </a:t>
            </a:r>
            <a:r>
              <a:rPr b="0" i="0" lang="en-US" sz="1100" u="none" cap="none" strike="noStrike">
                <a:solidFill>
                  <a:srgbClr val="5A6377"/>
                </a:solidFill>
                <a:latin typeface="Calibri"/>
                <a:ea typeface="Calibri"/>
                <a:cs typeface="Calibri"/>
                <a:sym typeface="Calibri"/>
              </a:rPr>
              <a:t>names the closure of the relational cycle at the knowledge order: recognising relationships, fulfilling values, evaluating, achieving mutual satisfaction. Of the six evaluative perspectives, awakened evaluation takes refuge in justice, dharma, and truth — subordinating, not abandoning, the pleasant, the healthy, and the profitable.</a:t>
            </a:r>
            <a:endParaRPr b="0" i="0" sz="1100" u="none" cap="none" strike="noStrike">
              <a:solidFill>
                <a:schemeClr val="dk1"/>
              </a:solidFill>
              <a:latin typeface="Calibri"/>
              <a:ea typeface="Calibri"/>
              <a:cs typeface="Calibri"/>
              <a:sym typeface="Calibri"/>
            </a:endParaRPr>
          </a:p>
        </p:txBody>
      </p:sp>
      <p:sp>
        <p:nvSpPr>
          <p:cNvPr id="413" name="Google Shape;413;p17"/>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SB p. 57  ·  MVD pp. 26–27, 67, 137, 311</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18"/>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8"/>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8"/>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8"/>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§§1.3, 1.7, 1.12 · WHAT KNOWING NEEDS — AND HOW IT HAPPENS</a:t>
            </a:r>
            <a:endParaRPr b="0" i="0" sz="1050" u="none" cap="none" strike="noStrike">
              <a:solidFill>
                <a:schemeClr val="dk1"/>
              </a:solidFill>
              <a:latin typeface="Calibri"/>
              <a:ea typeface="Calibri"/>
              <a:cs typeface="Calibri"/>
              <a:sym typeface="Calibri"/>
            </a:endParaRPr>
          </a:p>
        </p:txBody>
      </p:sp>
      <p:sp>
        <p:nvSpPr>
          <p:cNvPr id="423" name="Google Shape;423;p18"/>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The Epistemic Ladder</a:t>
            </a:r>
            <a:endParaRPr b="0" i="0" sz="3000" u="none" cap="none" strike="noStrike">
              <a:solidFill>
                <a:schemeClr val="dk1"/>
              </a:solidFill>
              <a:latin typeface="Calibri"/>
              <a:ea typeface="Calibri"/>
              <a:cs typeface="Calibri"/>
              <a:sym typeface="Calibri"/>
            </a:endParaRPr>
          </a:p>
        </p:txBody>
      </p:sp>
      <p:sp>
        <p:nvSpPr>
          <p:cNvPr id="424" name="Google Shape;424;p18"/>
          <p:cNvSpPr/>
          <p:nvPr/>
        </p:nvSpPr>
        <p:spPr>
          <a:xfrm>
            <a:off x="548640" y="128016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What must be understood — scope</a:t>
            </a:r>
            <a:endParaRPr b="0" i="0" sz="1350" u="none" cap="none" strike="noStrike">
              <a:solidFill>
                <a:schemeClr val="dk1"/>
              </a:solidFill>
              <a:latin typeface="Calibri"/>
              <a:ea typeface="Calibri"/>
              <a:cs typeface="Calibri"/>
              <a:sym typeface="Calibri"/>
            </a:endParaRPr>
          </a:p>
        </p:txBody>
      </p:sp>
      <p:sp>
        <p:nvSpPr>
          <p:cNvPr id="425" name="Google Shape;425;p18"/>
          <p:cNvSpPr/>
          <p:nvPr/>
        </p:nvSpPr>
        <p:spPr>
          <a:xfrm>
            <a:off x="594360" y="1664208"/>
            <a:ext cx="3657600" cy="512064"/>
          </a:xfrm>
          <a:prstGeom prst="roundRect">
            <a:avLst>
              <a:gd fmla="val 14286"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8"/>
          <p:cNvSpPr/>
          <p:nvPr/>
        </p:nvSpPr>
        <p:spPr>
          <a:xfrm>
            <a:off x="594360" y="1664208"/>
            <a:ext cx="3657600" cy="51206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dharma  ·  needs the whole</a:t>
            </a:r>
            <a:endParaRPr b="0" i="0" sz="1150" u="none" cap="none" strike="noStrike">
              <a:solidFill>
                <a:schemeClr val="dk1"/>
              </a:solidFill>
              <a:latin typeface="Calibri"/>
              <a:ea typeface="Calibri"/>
              <a:cs typeface="Calibri"/>
              <a:sym typeface="Calibri"/>
            </a:endParaRPr>
          </a:p>
        </p:txBody>
      </p:sp>
      <p:sp>
        <p:nvSpPr>
          <p:cNvPr id="427" name="Google Shape;427;p18"/>
          <p:cNvSpPr/>
          <p:nvPr/>
        </p:nvSpPr>
        <p:spPr>
          <a:xfrm>
            <a:off x="914400" y="2286000"/>
            <a:ext cx="3017520" cy="512064"/>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8"/>
          <p:cNvSpPr/>
          <p:nvPr/>
        </p:nvSpPr>
        <p:spPr>
          <a:xfrm>
            <a:off x="914400" y="2286000"/>
            <a:ext cx="3017520" cy="51206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essential nature  ·  needs its order</a:t>
            </a:r>
            <a:endParaRPr b="0" i="0" sz="1150" u="none" cap="none" strike="noStrike">
              <a:solidFill>
                <a:schemeClr val="dk1"/>
              </a:solidFill>
              <a:latin typeface="Calibri"/>
              <a:ea typeface="Calibri"/>
              <a:cs typeface="Calibri"/>
              <a:sym typeface="Calibri"/>
            </a:endParaRPr>
          </a:p>
        </p:txBody>
      </p:sp>
      <p:sp>
        <p:nvSpPr>
          <p:cNvPr id="429" name="Google Shape;429;p18"/>
          <p:cNvSpPr/>
          <p:nvPr/>
        </p:nvSpPr>
        <p:spPr>
          <a:xfrm>
            <a:off x="1234440" y="2907792"/>
            <a:ext cx="2377440" cy="512064"/>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8"/>
          <p:cNvSpPr/>
          <p:nvPr/>
        </p:nvSpPr>
        <p:spPr>
          <a:xfrm>
            <a:off x="1234440" y="2907792"/>
            <a:ext cx="2377440" cy="51206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properties  ·  need mutuality</a:t>
            </a:r>
            <a:endParaRPr b="0" i="0" sz="1150" u="none" cap="none" strike="noStrike">
              <a:solidFill>
                <a:schemeClr val="dk1"/>
              </a:solidFill>
              <a:latin typeface="Calibri"/>
              <a:ea typeface="Calibri"/>
              <a:cs typeface="Calibri"/>
              <a:sym typeface="Calibri"/>
            </a:endParaRPr>
          </a:p>
        </p:txBody>
      </p:sp>
      <p:sp>
        <p:nvSpPr>
          <p:cNvPr id="431" name="Google Shape;431;p18"/>
          <p:cNvSpPr/>
          <p:nvPr/>
        </p:nvSpPr>
        <p:spPr>
          <a:xfrm>
            <a:off x="1554480" y="3529584"/>
            <a:ext cx="1737360" cy="512064"/>
          </a:xfrm>
          <a:prstGeom prst="roundRect">
            <a:avLst>
              <a:gd fmla="val 14286"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8"/>
          <p:cNvSpPr/>
          <p:nvPr/>
        </p:nvSpPr>
        <p:spPr>
          <a:xfrm>
            <a:off x="1554480" y="3529584"/>
            <a:ext cx="1737360" cy="51206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form  ·  the unit alone</a:t>
            </a:r>
            <a:endParaRPr b="0" i="0" sz="1150" u="none" cap="none" strike="noStrike">
              <a:solidFill>
                <a:schemeClr val="dk1"/>
              </a:solidFill>
              <a:latin typeface="Calibri"/>
              <a:ea typeface="Calibri"/>
              <a:cs typeface="Calibri"/>
              <a:sym typeface="Calibri"/>
            </a:endParaRPr>
          </a:p>
        </p:txBody>
      </p:sp>
      <p:sp>
        <p:nvSpPr>
          <p:cNvPr id="433" name="Google Shape;433;p18"/>
          <p:cNvSpPr/>
          <p:nvPr/>
        </p:nvSpPr>
        <p:spPr>
          <a:xfrm>
            <a:off x="548640" y="4224528"/>
            <a:ext cx="374904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a higher rung means a wider context is needed to understand the aspect — not distance from the unit</a:t>
            </a:r>
            <a:endParaRPr b="0" i="0" sz="950" u="none" cap="none" strike="noStrike">
              <a:solidFill>
                <a:schemeClr val="dk1"/>
              </a:solidFill>
              <a:latin typeface="Calibri"/>
              <a:ea typeface="Calibri"/>
              <a:cs typeface="Calibri"/>
              <a:sym typeface="Calibri"/>
            </a:endParaRPr>
          </a:p>
        </p:txBody>
      </p:sp>
      <p:sp>
        <p:nvSpPr>
          <p:cNvPr id="434" name="Google Shape;434;p18"/>
          <p:cNvSpPr/>
          <p:nvPr/>
        </p:nvSpPr>
        <p:spPr>
          <a:xfrm>
            <a:off x="4892040" y="1280160"/>
            <a:ext cx="3429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How knowing happens — within jeevan</a:t>
            </a:r>
            <a:endParaRPr b="0" i="0" sz="1350" u="none" cap="none" strike="noStrike">
              <a:solidFill>
                <a:schemeClr val="dk1"/>
              </a:solidFill>
              <a:latin typeface="Calibri"/>
              <a:ea typeface="Calibri"/>
              <a:cs typeface="Calibri"/>
              <a:sym typeface="Calibri"/>
            </a:endParaRPr>
          </a:p>
        </p:txBody>
      </p:sp>
      <p:sp>
        <p:nvSpPr>
          <p:cNvPr id="435" name="Google Shape;435;p18"/>
          <p:cNvSpPr/>
          <p:nvPr/>
        </p:nvSpPr>
        <p:spPr>
          <a:xfrm>
            <a:off x="4892040" y="1645920"/>
            <a:ext cx="3429000" cy="457200"/>
          </a:xfrm>
          <a:prstGeom prst="roundRect">
            <a:avLst>
              <a:gd fmla="val 16000"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8"/>
          <p:cNvSpPr/>
          <p:nvPr/>
        </p:nvSpPr>
        <p:spPr>
          <a:xfrm>
            <a:off x="5029200" y="1645920"/>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150"/>
              <a:buFont typeface="Calibri"/>
              <a:buNone/>
            </a:pPr>
            <a:r>
              <a:rPr b="1" i="0" lang="en-US" sz="1150" u="none" cap="none" strike="noStrike">
                <a:solidFill>
                  <a:srgbClr val="9A6414"/>
                </a:solidFill>
                <a:latin typeface="Calibri"/>
                <a:ea typeface="Calibri"/>
                <a:cs typeface="Calibri"/>
                <a:sym typeface="Calibri"/>
              </a:rPr>
              <a:t>Atma   </a:t>
            </a:r>
            <a:r>
              <a:rPr b="0" i="0" lang="en-US" sz="900" u="none" cap="none" strike="noStrike">
                <a:solidFill>
                  <a:srgbClr val="5A6377"/>
                </a:solidFill>
                <a:latin typeface="Calibri"/>
                <a:ea typeface="Calibri"/>
                <a:cs typeface="Calibri"/>
                <a:sym typeface="Calibri"/>
              </a:rPr>
              <a:t>realisation — only through truth · authenticity</a:t>
            </a:r>
            <a:endParaRPr b="0" i="0" sz="1150" u="none" cap="none" strike="noStrike">
              <a:solidFill>
                <a:schemeClr val="dk1"/>
              </a:solidFill>
              <a:latin typeface="Calibri"/>
              <a:ea typeface="Calibri"/>
              <a:cs typeface="Calibri"/>
              <a:sym typeface="Calibri"/>
            </a:endParaRPr>
          </a:p>
        </p:txBody>
      </p:sp>
      <p:sp>
        <p:nvSpPr>
          <p:cNvPr id="437" name="Google Shape;437;p18"/>
          <p:cNvSpPr/>
          <p:nvPr/>
        </p:nvSpPr>
        <p:spPr>
          <a:xfrm>
            <a:off x="4892040" y="2212848"/>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8"/>
          <p:cNvSpPr/>
          <p:nvPr/>
        </p:nvSpPr>
        <p:spPr>
          <a:xfrm>
            <a:off x="5029200" y="2212848"/>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Buddhi   </a:t>
            </a:r>
            <a:r>
              <a:rPr b="0" i="0" lang="en-US" sz="900" u="none" cap="none" strike="noStrike">
                <a:solidFill>
                  <a:srgbClr val="5A6377"/>
                </a:solidFill>
                <a:latin typeface="Calibri"/>
                <a:ea typeface="Calibri"/>
                <a:cs typeface="Calibri"/>
                <a:sym typeface="Calibri"/>
              </a:rPr>
              <a:t>enlightenment of existence, jeevan, conduct · resolve</a:t>
            </a:r>
            <a:endParaRPr b="0" i="0" sz="1150" u="none" cap="none" strike="noStrike">
              <a:solidFill>
                <a:schemeClr val="dk1"/>
              </a:solidFill>
              <a:latin typeface="Calibri"/>
              <a:ea typeface="Calibri"/>
              <a:cs typeface="Calibri"/>
              <a:sym typeface="Calibri"/>
            </a:endParaRPr>
          </a:p>
        </p:txBody>
      </p:sp>
      <p:sp>
        <p:nvSpPr>
          <p:cNvPr id="439" name="Google Shape;439;p18"/>
          <p:cNvSpPr/>
          <p:nvPr/>
        </p:nvSpPr>
        <p:spPr>
          <a:xfrm>
            <a:off x="4892040" y="2779776"/>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18"/>
          <p:cNvSpPr/>
          <p:nvPr/>
        </p:nvSpPr>
        <p:spPr>
          <a:xfrm>
            <a:off x="5029200" y="2779776"/>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Chitta   </a:t>
            </a:r>
            <a:r>
              <a:rPr b="0" i="0" lang="en-US" sz="900" u="none" cap="none" strike="noStrike">
                <a:solidFill>
                  <a:srgbClr val="5A6377"/>
                </a:solidFill>
                <a:latin typeface="Calibri"/>
                <a:ea typeface="Calibri"/>
                <a:cs typeface="Calibri"/>
                <a:sym typeface="Calibri"/>
              </a:rPr>
              <a:t>contemplation &amp; visualisation · direct recognition</a:t>
            </a:r>
            <a:endParaRPr b="0" i="0" sz="1150" u="none" cap="none" strike="noStrike">
              <a:solidFill>
                <a:schemeClr val="dk1"/>
              </a:solidFill>
              <a:latin typeface="Calibri"/>
              <a:ea typeface="Calibri"/>
              <a:cs typeface="Calibri"/>
              <a:sym typeface="Calibri"/>
            </a:endParaRPr>
          </a:p>
        </p:txBody>
      </p:sp>
      <p:sp>
        <p:nvSpPr>
          <p:cNvPr id="441" name="Google Shape;441;p18"/>
          <p:cNvSpPr/>
          <p:nvPr/>
        </p:nvSpPr>
        <p:spPr>
          <a:xfrm>
            <a:off x="4892040" y="3346704"/>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8"/>
          <p:cNvSpPr/>
          <p:nvPr/>
        </p:nvSpPr>
        <p:spPr>
          <a:xfrm>
            <a:off x="5029200" y="3346704"/>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Vritti   </a:t>
            </a:r>
            <a:r>
              <a:rPr b="0" i="0" lang="en-US" sz="900" u="none" cap="none" strike="noStrike">
                <a:solidFill>
                  <a:srgbClr val="5A6377"/>
                </a:solidFill>
                <a:latin typeface="Calibri"/>
                <a:ea typeface="Calibri"/>
                <a:cs typeface="Calibri"/>
                <a:sym typeface="Calibri"/>
              </a:rPr>
              <a:t>deliberation in refuge of justice–dharma–truth · analysis</a:t>
            </a:r>
            <a:endParaRPr b="0" i="0" sz="1150" u="none" cap="none" strike="noStrike">
              <a:solidFill>
                <a:schemeClr val="dk1"/>
              </a:solidFill>
              <a:latin typeface="Calibri"/>
              <a:ea typeface="Calibri"/>
              <a:cs typeface="Calibri"/>
              <a:sym typeface="Calibri"/>
            </a:endParaRPr>
          </a:p>
        </p:txBody>
      </p:sp>
      <p:sp>
        <p:nvSpPr>
          <p:cNvPr id="443" name="Google Shape;443;p18"/>
          <p:cNvSpPr/>
          <p:nvPr/>
        </p:nvSpPr>
        <p:spPr>
          <a:xfrm>
            <a:off x="4892040" y="3913632"/>
            <a:ext cx="3429000" cy="457200"/>
          </a:xfrm>
          <a:prstGeom prst="roundRect">
            <a:avLst>
              <a:gd fmla="val 16000"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8"/>
          <p:cNvSpPr/>
          <p:nvPr/>
        </p:nvSpPr>
        <p:spPr>
          <a:xfrm>
            <a:off x="5029200" y="3913632"/>
            <a:ext cx="3200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150"/>
              <a:buFont typeface="Calibri"/>
              <a:buNone/>
            </a:pPr>
            <a:r>
              <a:rPr b="1" i="0" lang="en-US" sz="1150" u="none" cap="none" strike="noStrike">
                <a:solidFill>
                  <a:srgbClr val="1E2447"/>
                </a:solidFill>
                <a:latin typeface="Calibri"/>
                <a:ea typeface="Calibri"/>
                <a:cs typeface="Calibri"/>
                <a:sym typeface="Calibri"/>
              </a:rPr>
              <a:t>Mun   </a:t>
            </a:r>
            <a:r>
              <a:rPr b="0" i="0" lang="en-US" sz="900" u="none" cap="none" strike="noStrike">
                <a:solidFill>
                  <a:srgbClr val="5A6377"/>
                </a:solidFill>
                <a:latin typeface="Calibri"/>
                <a:ea typeface="Calibri"/>
                <a:cs typeface="Calibri"/>
                <a:sym typeface="Calibri"/>
              </a:rPr>
              <a:t>taste &amp; selection — first acceptance of the proposal</a:t>
            </a:r>
            <a:endParaRPr b="0" i="0" sz="1150" u="none" cap="none" strike="noStrike">
              <a:solidFill>
                <a:schemeClr val="dk1"/>
              </a:solidFill>
              <a:latin typeface="Calibri"/>
              <a:ea typeface="Calibri"/>
              <a:cs typeface="Calibri"/>
              <a:sym typeface="Calibri"/>
            </a:endParaRPr>
          </a:p>
        </p:txBody>
      </p:sp>
      <p:cxnSp>
        <p:nvCxnSpPr>
          <p:cNvPr id="445" name="Google Shape;445;p18"/>
          <p:cNvCxnSpPr/>
          <p:nvPr/>
        </p:nvCxnSpPr>
        <p:spPr>
          <a:xfrm>
            <a:off x="4718304" y="1737360"/>
            <a:ext cx="0" cy="2514600"/>
          </a:xfrm>
          <a:prstGeom prst="straightConnector1">
            <a:avLst/>
          </a:prstGeom>
          <a:noFill/>
          <a:ln cap="flat" cmpd="sng" w="22225">
            <a:solidFill>
              <a:srgbClr val="3B4A7A"/>
            </a:solidFill>
            <a:prstDash val="solid"/>
            <a:round/>
            <a:headEnd len="med" w="med" type="triangle"/>
            <a:tailEnd len="sm" w="sm" type="none"/>
          </a:ln>
        </p:spPr>
      </p:cxnSp>
      <p:sp>
        <p:nvSpPr>
          <p:cNvPr id="446" name="Google Shape;446;p18"/>
          <p:cNvSpPr/>
          <p:nvPr/>
        </p:nvSpPr>
        <p:spPr>
          <a:xfrm rot="-5400000">
            <a:off x="3218688" y="2852928"/>
            <a:ext cx="26517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B4A7A"/>
              </a:buClr>
              <a:buSzPts val="850"/>
              <a:buFont typeface="Calibri"/>
              <a:buNone/>
            </a:pPr>
            <a:r>
              <a:rPr b="0" i="1" lang="en-US" sz="850" u="none" cap="none" strike="noStrike">
                <a:solidFill>
                  <a:srgbClr val="3B4A7A"/>
                </a:solidFill>
                <a:latin typeface="Calibri"/>
                <a:ea typeface="Calibri"/>
                <a:cs typeface="Calibri"/>
                <a:sym typeface="Calibri"/>
              </a:rPr>
              <a:t>reflection (inward) · knowing deepens</a:t>
            </a:r>
            <a:endParaRPr b="0" i="0" sz="850" u="none" cap="none" strike="noStrike">
              <a:solidFill>
                <a:schemeClr val="dk1"/>
              </a:solidFill>
              <a:latin typeface="Calibri"/>
              <a:ea typeface="Calibri"/>
              <a:cs typeface="Calibri"/>
              <a:sym typeface="Calibri"/>
            </a:endParaRPr>
          </a:p>
        </p:txBody>
      </p:sp>
      <p:cxnSp>
        <p:nvCxnSpPr>
          <p:cNvPr id="447" name="Google Shape;447;p18"/>
          <p:cNvCxnSpPr/>
          <p:nvPr/>
        </p:nvCxnSpPr>
        <p:spPr>
          <a:xfrm>
            <a:off x="8503920" y="1737360"/>
            <a:ext cx="0" cy="2514600"/>
          </a:xfrm>
          <a:prstGeom prst="straightConnector1">
            <a:avLst/>
          </a:prstGeom>
          <a:noFill/>
          <a:ln cap="flat" cmpd="sng" w="22225">
            <a:solidFill>
              <a:srgbClr val="9A6414"/>
            </a:solidFill>
            <a:prstDash val="solid"/>
            <a:round/>
            <a:headEnd len="sm" w="sm" type="none"/>
            <a:tailEnd len="med" w="med" type="triangle"/>
          </a:ln>
        </p:spPr>
      </p:cxnSp>
      <p:sp>
        <p:nvSpPr>
          <p:cNvPr id="448" name="Google Shape;448;p18"/>
          <p:cNvSpPr/>
          <p:nvPr/>
        </p:nvSpPr>
        <p:spPr>
          <a:xfrm rot="5400000">
            <a:off x="7315200" y="2852928"/>
            <a:ext cx="265176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4"/>
              </a:buClr>
              <a:buSzPts val="850"/>
              <a:buFont typeface="Calibri"/>
              <a:buNone/>
            </a:pPr>
            <a:r>
              <a:rPr b="0" i="1" lang="en-US" sz="850" u="none" cap="none" strike="noStrike">
                <a:solidFill>
                  <a:srgbClr val="9A6414"/>
                </a:solidFill>
                <a:latin typeface="Calibri"/>
                <a:ea typeface="Calibri"/>
                <a:cs typeface="Calibri"/>
                <a:sym typeface="Calibri"/>
              </a:rPr>
              <a:t>projection (outward) · evidenced in conduct</a:t>
            </a:r>
            <a:endParaRPr b="0" i="0" sz="850" u="none" cap="none" strike="noStrike">
              <a:solidFill>
                <a:schemeClr val="dk1"/>
              </a:solidFill>
              <a:latin typeface="Calibri"/>
              <a:ea typeface="Calibri"/>
              <a:cs typeface="Calibri"/>
              <a:sym typeface="Calibri"/>
            </a:endParaRPr>
          </a:p>
        </p:txBody>
      </p:sp>
      <p:sp>
        <p:nvSpPr>
          <p:cNvPr id="449" name="Google Shape;449;p18"/>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The ladders meet: the widest scopes are understood as enlightenment in buddhi, realised in atma — JV pp. 61, 120, 138 · MVD pp. 78, 101, 137</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9"/>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9"/>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9"/>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9"/>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§1.13 · WHERE THE DRIVE TERMINATES</a:t>
            </a:r>
            <a:endParaRPr b="0" i="0" sz="1050" u="none" cap="none" strike="noStrike">
              <a:solidFill>
                <a:schemeClr val="dk1"/>
              </a:solidFill>
              <a:latin typeface="Calibri"/>
              <a:ea typeface="Calibri"/>
              <a:cs typeface="Calibri"/>
              <a:sym typeface="Calibri"/>
            </a:endParaRPr>
          </a:p>
        </p:txBody>
      </p:sp>
      <p:sp>
        <p:nvSpPr>
          <p:cNvPr id="459" name="Google Shape;459;p19"/>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Realisation in Coexistence</a:t>
            </a:r>
            <a:endParaRPr b="0" i="0" sz="3000" u="none" cap="none" strike="noStrike">
              <a:solidFill>
                <a:schemeClr val="dk1"/>
              </a:solidFill>
              <a:latin typeface="Calibri"/>
              <a:ea typeface="Calibri"/>
              <a:cs typeface="Calibri"/>
              <a:sym typeface="Calibri"/>
            </a:endParaRPr>
          </a:p>
        </p:txBody>
      </p:sp>
      <p:sp>
        <p:nvSpPr>
          <p:cNvPr id="460" name="Google Shape;460;p19"/>
          <p:cNvSpPr/>
          <p:nvPr/>
        </p:nvSpPr>
        <p:spPr>
          <a:xfrm>
            <a:off x="640080" y="1207008"/>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50"/>
              <a:buFont typeface="Calibri"/>
              <a:buNone/>
            </a:pPr>
            <a:r>
              <a:rPr b="0" i="0" lang="en-US" sz="1250" u="none" cap="none" strike="noStrike">
                <a:solidFill>
                  <a:srgbClr val="5A6377"/>
                </a:solidFill>
                <a:latin typeface="Calibri"/>
                <a:ea typeface="Calibri"/>
                <a:cs typeface="Calibri"/>
                <a:sym typeface="Calibri"/>
              </a:rPr>
              <a:t>The drive comes to rest when relationships across nature are fulfilled and made evident in coexistence — not because Omnipotence becomes a knower, but because awakened jeevan lives out what was always latent in the bond. Realisation itself is awakening; recognising and fulfilling then become its living proof.</a:t>
            </a:r>
            <a:endParaRPr b="0" i="0" sz="1250" u="none" cap="none" strike="noStrike">
              <a:solidFill>
                <a:schemeClr val="dk1"/>
              </a:solidFill>
              <a:latin typeface="Calibri"/>
              <a:ea typeface="Calibri"/>
              <a:cs typeface="Calibri"/>
              <a:sym typeface="Calibri"/>
            </a:endParaRPr>
          </a:p>
        </p:txBody>
      </p:sp>
      <p:sp>
        <p:nvSpPr>
          <p:cNvPr id="461" name="Google Shape;461;p19"/>
          <p:cNvSpPr/>
          <p:nvPr/>
        </p:nvSpPr>
        <p:spPr>
          <a:xfrm>
            <a:off x="640080" y="182880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9"/>
          <p:cNvSpPr/>
          <p:nvPr/>
        </p:nvSpPr>
        <p:spPr>
          <a:xfrm>
            <a:off x="841248" y="194767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Realisation is bliss</a:t>
            </a:r>
            <a:endParaRPr b="0" i="0" sz="1250" u="none" cap="none" strike="noStrike">
              <a:solidFill>
                <a:schemeClr val="dk1"/>
              </a:solidFill>
              <a:latin typeface="Calibri"/>
              <a:ea typeface="Calibri"/>
              <a:cs typeface="Calibri"/>
              <a:sym typeface="Calibri"/>
            </a:endParaRPr>
          </a:p>
        </p:txBody>
      </p:sp>
      <p:sp>
        <p:nvSpPr>
          <p:cNvPr id="463" name="Google Shape;463;p19"/>
          <p:cNvSpPr/>
          <p:nvPr/>
        </p:nvSpPr>
        <p:spPr>
          <a:xfrm>
            <a:off x="841248" y="228600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“Truth itself is abundance (coexistence), realisation of abundance itself is bliss, bliss itself is jeevan.” And it is knowledge itself: what is realised is the ground the unit was always soaked in.</a:t>
            </a:r>
            <a:endParaRPr b="0" i="0" sz="1030" u="none" cap="none" strike="noStrike">
              <a:solidFill>
                <a:schemeClr val="dk1"/>
              </a:solidFill>
              <a:latin typeface="Calibri"/>
              <a:ea typeface="Calibri"/>
              <a:cs typeface="Calibri"/>
              <a:sym typeface="Calibri"/>
            </a:endParaRPr>
          </a:p>
        </p:txBody>
      </p:sp>
      <p:sp>
        <p:nvSpPr>
          <p:cNvPr id="464" name="Google Shape;464;p19"/>
          <p:cNvSpPr/>
          <p:nvPr/>
        </p:nvSpPr>
        <p:spPr>
          <a:xfrm>
            <a:off x="4709160" y="182880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9"/>
          <p:cNvSpPr/>
          <p:nvPr/>
        </p:nvSpPr>
        <p:spPr>
          <a:xfrm>
            <a:off x="4910328" y="194767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Knowledge — in projection</a:t>
            </a:r>
            <a:endParaRPr b="0" i="0" sz="1250" u="none" cap="none" strike="noStrike">
              <a:solidFill>
                <a:schemeClr val="dk1"/>
              </a:solidFill>
              <a:latin typeface="Calibri"/>
              <a:ea typeface="Calibri"/>
              <a:cs typeface="Calibri"/>
              <a:sym typeface="Calibri"/>
            </a:endParaRPr>
          </a:p>
        </p:txBody>
      </p:sp>
      <p:sp>
        <p:nvSpPr>
          <p:cNvPr id="466" name="Google Shape;466;p19"/>
          <p:cNvSpPr/>
          <p:nvPr/>
        </p:nvSpPr>
        <p:spPr>
          <a:xfrm>
            <a:off x="4910328" y="228600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Realisation projected outward is authenticity — knowledge, wisdom, and science unfolding into conduct.</a:t>
            </a:r>
            <a:endParaRPr b="0" i="0" sz="1030" u="none" cap="none" strike="noStrike">
              <a:solidFill>
                <a:schemeClr val="dk1"/>
              </a:solidFill>
              <a:latin typeface="Calibri"/>
              <a:ea typeface="Calibri"/>
              <a:cs typeface="Calibri"/>
              <a:sym typeface="Calibri"/>
            </a:endParaRPr>
          </a:p>
        </p:txBody>
      </p:sp>
      <p:sp>
        <p:nvSpPr>
          <p:cNvPr id="467" name="Google Shape;467;p19"/>
          <p:cNvSpPr/>
          <p:nvPr/>
        </p:nvSpPr>
        <p:spPr>
          <a:xfrm>
            <a:off x="640080" y="3246120"/>
            <a:ext cx="3794760" cy="1280160"/>
          </a:xfrm>
          <a:prstGeom prst="roundRect">
            <a:avLst>
              <a:gd fmla="val 6429"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841248" y="336499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250"/>
              <a:buFont typeface="Cambria"/>
              <a:buNone/>
            </a:pPr>
            <a:r>
              <a:rPr b="1" i="0" lang="en-US" sz="1250" u="none" cap="none" strike="noStrike">
                <a:solidFill>
                  <a:srgbClr val="1E2447"/>
                </a:solidFill>
                <a:latin typeface="Cambria"/>
                <a:ea typeface="Cambria"/>
                <a:cs typeface="Cambria"/>
                <a:sym typeface="Cambria"/>
              </a:rPr>
              <a:t>Knower — in reflection</a:t>
            </a:r>
            <a:endParaRPr b="0" i="0" sz="1250" u="none" cap="none" strike="noStrike">
              <a:solidFill>
                <a:schemeClr val="dk1"/>
              </a:solidFill>
              <a:latin typeface="Calibri"/>
              <a:ea typeface="Calibri"/>
              <a:cs typeface="Calibri"/>
              <a:sym typeface="Calibri"/>
            </a:endParaRPr>
          </a:p>
        </p:txBody>
      </p:sp>
      <p:sp>
        <p:nvSpPr>
          <p:cNvPr id="469" name="Google Shape;469;p19"/>
          <p:cNvSpPr/>
          <p:nvPr/>
        </p:nvSpPr>
        <p:spPr>
          <a:xfrm>
            <a:off x="841248" y="370332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The knower is jeevan filled with realisation. When buddhi reflects toward atma, self-realisation and realisation in coexistence arrive together.</a:t>
            </a:r>
            <a:endParaRPr b="0" i="0" sz="1030" u="none" cap="none" strike="noStrike">
              <a:solidFill>
                <a:schemeClr val="dk1"/>
              </a:solidFill>
              <a:latin typeface="Calibri"/>
              <a:ea typeface="Calibri"/>
              <a:cs typeface="Calibri"/>
              <a:sym typeface="Calibri"/>
            </a:endParaRPr>
          </a:p>
        </p:txBody>
      </p:sp>
      <p:sp>
        <p:nvSpPr>
          <p:cNvPr id="470" name="Google Shape;470;p19"/>
          <p:cNvSpPr/>
          <p:nvPr/>
        </p:nvSpPr>
        <p:spPr>
          <a:xfrm>
            <a:off x="4709160" y="3246120"/>
            <a:ext cx="3794760" cy="1280160"/>
          </a:xfrm>
          <a:prstGeom prst="roundRect">
            <a:avLst>
              <a:gd fmla="val 6429" name="adj"/>
            </a:avLst>
          </a:prstGeom>
          <a:solidFill>
            <a:srgbClr val="FAF1DF"/>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4910328" y="3364992"/>
            <a:ext cx="34290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250"/>
              <a:buFont typeface="Cambria"/>
              <a:buNone/>
            </a:pPr>
            <a:r>
              <a:rPr b="1" i="0" lang="en-US" sz="1250" u="none" cap="none" strike="noStrike">
                <a:solidFill>
                  <a:srgbClr val="9A6414"/>
                </a:solidFill>
                <a:latin typeface="Cambria"/>
                <a:ea typeface="Cambria"/>
                <a:cs typeface="Cambria"/>
                <a:sym typeface="Cambria"/>
              </a:rPr>
              <a:t>Knowable — and no merger</a:t>
            </a:r>
            <a:endParaRPr b="0" i="0" sz="1250" u="none" cap="none" strike="noStrike">
              <a:solidFill>
                <a:schemeClr val="dk1"/>
              </a:solidFill>
              <a:latin typeface="Calibri"/>
              <a:ea typeface="Calibri"/>
              <a:cs typeface="Calibri"/>
              <a:sym typeface="Calibri"/>
            </a:endParaRPr>
          </a:p>
        </p:txBody>
      </p:sp>
      <p:sp>
        <p:nvSpPr>
          <p:cNvPr id="472" name="Google Shape;472;p19"/>
          <p:cNvSpPr/>
          <p:nvPr/>
        </p:nvSpPr>
        <p:spPr>
          <a:xfrm>
            <a:off x="4910328" y="3703320"/>
            <a:ext cx="34290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30"/>
              <a:buFont typeface="Calibri"/>
              <a:buNone/>
            </a:pPr>
            <a:r>
              <a:rPr b="0" i="0" lang="en-US" sz="1030" u="none" cap="none" strike="noStrike">
                <a:solidFill>
                  <a:srgbClr val="5A6377"/>
                </a:solidFill>
                <a:latin typeface="Calibri"/>
                <a:ea typeface="Calibri"/>
                <a:cs typeface="Calibri"/>
                <a:sym typeface="Calibri"/>
              </a:rPr>
              <a:t>What is known is existence itself — nature saturated in Omnipotence. Knowledge, knower, and known become uniform as roles in one bond — not a merger: the knower remains a distinct jeevan.</a:t>
            </a:r>
            <a:endParaRPr b="0" i="0" sz="1030" u="none" cap="none" strike="noStrike">
              <a:solidFill>
                <a:schemeClr val="dk1"/>
              </a:solidFill>
              <a:latin typeface="Calibri"/>
              <a:ea typeface="Calibri"/>
              <a:cs typeface="Calibri"/>
              <a:sym typeface="Calibri"/>
            </a:endParaRPr>
          </a:p>
        </p:txBody>
      </p:sp>
      <p:sp>
        <p:nvSpPr>
          <p:cNvPr id="473" name="Google Shape;473;p19"/>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“In the state of realisation in existence, uniformity in knowledge, knowable &amp; knower has been observed to be in the form of coexistence” — AVD p. 217 · SB p. 81 · MVD pp. 14–15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8" name="Shape 478"/>
        <p:cNvGrpSpPr/>
        <p:nvPr/>
      </p:nvGrpSpPr>
      <p:grpSpPr>
        <a:xfrm>
          <a:off x="0" y="0"/>
          <a:ext cx="0" cy="0"/>
          <a:chOff x="0" y="0"/>
          <a:chExt cx="0" cy="0"/>
        </a:xfrm>
      </p:grpSpPr>
      <p:sp>
        <p:nvSpPr>
          <p:cNvPr id="479" name="Google Shape;479;p20"/>
          <p:cNvSpPr/>
          <p:nvPr/>
        </p:nvSpPr>
        <p:spPr>
          <a:xfrm>
            <a:off x="457200" y="384048"/>
            <a:ext cx="365760" cy="365760"/>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0"/>
          <p:cNvSpPr/>
          <p:nvPr/>
        </p:nvSpPr>
        <p:spPr>
          <a:xfrm>
            <a:off x="530352" y="457200"/>
            <a:ext cx="219456" cy="219456"/>
          </a:xfrm>
          <a:prstGeom prst="ellipse">
            <a:avLst/>
          </a:prstGeom>
          <a:noFill/>
          <a:ln cap="flat" cmpd="sng" w="15875">
            <a:solidFill>
              <a:srgbClr val="3B4A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0"/>
          <p:cNvSpPr/>
          <p:nvPr/>
        </p:nvSpPr>
        <p:spPr>
          <a:xfrm>
            <a:off x="592531" y="519379"/>
            <a:ext cx="95098" cy="9509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0"/>
          <p:cNvSpPr/>
          <p:nvPr/>
        </p:nvSpPr>
        <p:spPr>
          <a:xfrm>
            <a:off x="960120" y="256032"/>
            <a:ext cx="768096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A6414"/>
              </a:buClr>
              <a:buSzPts val="1050"/>
              <a:buFont typeface="Calibri"/>
              <a:buNone/>
            </a:pPr>
            <a:r>
              <a:rPr b="1" i="0" lang="en-US" sz="1050" u="none" cap="none" strike="noStrike">
                <a:solidFill>
                  <a:srgbClr val="9A6414"/>
                </a:solidFill>
                <a:latin typeface="Calibri"/>
                <a:ea typeface="Calibri"/>
                <a:cs typeface="Calibri"/>
                <a:sym typeface="Calibri"/>
              </a:rPr>
              <a:t>§§1.14–1.15 · THE PERPETUAL WORLD</a:t>
            </a:r>
            <a:endParaRPr b="0" i="0" sz="1050" u="none" cap="none" strike="noStrike">
              <a:solidFill>
                <a:schemeClr val="dk1"/>
              </a:solidFill>
              <a:latin typeface="Calibri"/>
              <a:ea typeface="Calibri"/>
              <a:cs typeface="Calibri"/>
              <a:sym typeface="Calibri"/>
            </a:endParaRPr>
          </a:p>
        </p:txBody>
      </p:sp>
      <p:sp>
        <p:nvSpPr>
          <p:cNvPr id="483" name="Google Shape;483;p20"/>
          <p:cNvSpPr/>
          <p:nvPr/>
        </p:nvSpPr>
        <p:spPr>
          <a:xfrm>
            <a:off x="960120" y="457200"/>
            <a:ext cx="77266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3000"/>
              <a:buFont typeface="Cambria"/>
              <a:buNone/>
            </a:pPr>
            <a:r>
              <a:rPr b="1" i="0" lang="en-US" sz="3000" u="none" cap="none" strike="noStrike">
                <a:solidFill>
                  <a:srgbClr val="1E2447"/>
                </a:solidFill>
                <a:latin typeface="Cambria"/>
                <a:ea typeface="Cambria"/>
                <a:cs typeface="Cambria"/>
                <a:sym typeface="Cambria"/>
              </a:rPr>
              <a:t>Conservation and Human Goals</a:t>
            </a:r>
            <a:endParaRPr b="0" i="0" sz="3000" u="none" cap="none" strike="noStrike">
              <a:solidFill>
                <a:schemeClr val="dk1"/>
              </a:solidFill>
              <a:latin typeface="Calibri"/>
              <a:ea typeface="Calibri"/>
              <a:cs typeface="Calibri"/>
              <a:sym typeface="Calibri"/>
            </a:endParaRPr>
          </a:p>
        </p:txBody>
      </p:sp>
      <p:sp>
        <p:nvSpPr>
          <p:cNvPr id="484" name="Google Shape;484;p20"/>
          <p:cNvSpPr/>
          <p:nvPr/>
        </p:nvSpPr>
        <p:spPr>
          <a:xfrm>
            <a:off x="640080" y="1325880"/>
            <a:ext cx="379476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0"/>
          <p:cNvSpPr/>
          <p:nvPr/>
        </p:nvSpPr>
        <p:spPr>
          <a:xfrm>
            <a:off x="868680" y="1463040"/>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Coexistence conservation</a:t>
            </a:r>
            <a:endParaRPr b="0" i="0" sz="1350" u="none" cap="none" strike="noStrike">
              <a:solidFill>
                <a:schemeClr val="dk1"/>
              </a:solidFill>
              <a:latin typeface="Calibri"/>
              <a:ea typeface="Calibri"/>
              <a:cs typeface="Calibri"/>
              <a:sym typeface="Calibri"/>
            </a:endParaRPr>
          </a:p>
        </p:txBody>
      </p:sp>
      <p:sp>
        <p:nvSpPr>
          <p:cNvPr id="486" name="Google Shape;486;p20"/>
          <p:cNvSpPr/>
          <p:nvPr/>
        </p:nvSpPr>
        <p:spPr>
          <a:xfrm>
            <a:off x="868680" y="1764792"/>
            <a:ext cx="33832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80"/>
              <a:buFont typeface="Calibri"/>
              <a:buNone/>
            </a:pPr>
            <a:r>
              <a:rPr b="0" i="0" lang="en-US" sz="1080" u="none" cap="none" strike="noStrike">
                <a:solidFill>
                  <a:srgbClr val="5A6377"/>
                </a:solidFill>
                <a:latin typeface="Calibri"/>
                <a:ea typeface="Calibri"/>
                <a:cs typeface="Calibri"/>
                <a:sym typeface="Calibri"/>
              </a:rPr>
              <a:t>What exists does not arise from non-being and cannot be annihilated; only configurations change. The world is perpetual.</a:t>
            </a:r>
            <a:endParaRPr b="0" i="0" sz="1080" u="none" cap="none" strike="noStrike">
              <a:solidFill>
                <a:schemeClr val="dk1"/>
              </a:solidFill>
              <a:latin typeface="Calibri"/>
              <a:ea typeface="Calibri"/>
              <a:cs typeface="Calibri"/>
              <a:sym typeface="Calibri"/>
            </a:endParaRPr>
          </a:p>
        </p:txBody>
      </p:sp>
      <p:sp>
        <p:nvSpPr>
          <p:cNvPr id="487" name="Google Shape;487;p20"/>
          <p:cNvSpPr/>
          <p:nvPr/>
        </p:nvSpPr>
        <p:spPr>
          <a:xfrm>
            <a:off x="4709160" y="1325880"/>
            <a:ext cx="3794760" cy="1371600"/>
          </a:xfrm>
          <a:prstGeom prst="roundRect">
            <a:avLst>
              <a:gd fmla="val 6667" name="adj"/>
            </a:avLst>
          </a:prstGeom>
          <a:solidFill>
            <a:srgbClr val="EEF1F8"/>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0"/>
          <p:cNvSpPr/>
          <p:nvPr/>
        </p:nvSpPr>
        <p:spPr>
          <a:xfrm>
            <a:off x="4937760" y="1463040"/>
            <a:ext cx="3383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447"/>
              </a:buClr>
              <a:buSzPts val="1350"/>
              <a:buFont typeface="Cambria"/>
              <a:buNone/>
            </a:pPr>
            <a:r>
              <a:rPr b="1" i="0" lang="en-US" sz="1350" u="none" cap="none" strike="noStrike">
                <a:solidFill>
                  <a:srgbClr val="1E2447"/>
                </a:solidFill>
                <a:latin typeface="Cambria"/>
                <a:ea typeface="Cambria"/>
                <a:cs typeface="Cambria"/>
                <a:sym typeface="Cambria"/>
              </a:rPr>
              <a:t>Jeevan persistence</a:t>
            </a:r>
            <a:endParaRPr b="0" i="0" sz="1350" u="none" cap="none" strike="noStrike">
              <a:solidFill>
                <a:schemeClr val="dk1"/>
              </a:solidFill>
              <a:latin typeface="Calibri"/>
              <a:ea typeface="Calibri"/>
              <a:cs typeface="Calibri"/>
              <a:sym typeface="Calibri"/>
            </a:endParaRPr>
          </a:p>
        </p:txBody>
      </p:sp>
      <p:sp>
        <p:nvSpPr>
          <p:cNvPr id="489" name="Google Shape;489;p20"/>
          <p:cNvSpPr/>
          <p:nvPr/>
        </p:nvSpPr>
        <p:spPr>
          <a:xfrm>
            <a:off x="4937760" y="1764792"/>
            <a:ext cx="338328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080"/>
              <a:buFont typeface="Calibri"/>
              <a:buNone/>
            </a:pPr>
            <a:r>
              <a:rPr b="0" i="0" lang="en-US" sz="1080" u="none" cap="none" strike="noStrike">
                <a:solidFill>
                  <a:srgbClr val="5A6377"/>
                </a:solidFill>
                <a:latin typeface="Calibri"/>
                <a:ea typeface="Calibri"/>
                <a:cs typeface="Calibri"/>
                <a:sym typeface="Calibri"/>
              </a:rPr>
              <a:t>Constitutionally complete and immune to decomposition, jeevan persists across bodily birth and death. Omnipotence stays state-complete; units stay state-dynamic.</a:t>
            </a:r>
            <a:endParaRPr b="0" i="0" sz="1080" u="none" cap="none" strike="noStrike">
              <a:solidFill>
                <a:schemeClr val="dk1"/>
              </a:solidFill>
              <a:latin typeface="Calibri"/>
              <a:ea typeface="Calibri"/>
              <a:cs typeface="Calibri"/>
              <a:sym typeface="Calibri"/>
            </a:endParaRPr>
          </a:p>
        </p:txBody>
      </p:sp>
      <p:sp>
        <p:nvSpPr>
          <p:cNvPr id="490" name="Google Shape;490;p20"/>
          <p:cNvSpPr/>
          <p:nvPr/>
        </p:nvSpPr>
        <p:spPr>
          <a:xfrm>
            <a:off x="640080" y="2880360"/>
            <a:ext cx="79552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1200"/>
              <a:buFont typeface="Calibri"/>
              <a:buNone/>
            </a:pPr>
            <a:r>
              <a:rPr b="0" i="0" lang="en-US" sz="1200" u="none" cap="none" strike="noStrike">
                <a:solidFill>
                  <a:srgbClr val="5A6377"/>
                </a:solidFill>
                <a:latin typeface="Calibri"/>
                <a:ea typeface="Calibri"/>
                <a:cs typeface="Calibri"/>
                <a:sym typeface="Calibri"/>
              </a:rPr>
              <a:t>At the human scale, the drive shows itself as four goals — rising from the person, through the family, to an undivided society in universal orderliness:</a:t>
            </a:r>
            <a:endParaRPr b="0" i="0" sz="1200" u="none" cap="none" strike="noStrike">
              <a:solidFill>
                <a:schemeClr val="dk1"/>
              </a:solidFill>
              <a:latin typeface="Calibri"/>
              <a:ea typeface="Calibri"/>
              <a:cs typeface="Calibri"/>
              <a:sym typeface="Calibri"/>
            </a:endParaRPr>
          </a:p>
        </p:txBody>
      </p:sp>
      <p:sp>
        <p:nvSpPr>
          <p:cNvPr id="491" name="Google Shape;491;p20"/>
          <p:cNvSpPr/>
          <p:nvPr/>
        </p:nvSpPr>
        <p:spPr>
          <a:xfrm>
            <a:off x="640080"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20"/>
          <p:cNvSpPr/>
          <p:nvPr/>
        </p:nvSpPr>
        <p:spPr>
          <a:xfrm>
            <a:off x="777240"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Resolution</a:t>
            </a:r>
            <a:endParaRPr b="0" i="0" sz="1300" u="none" cap="none" strike="noStrike">
              <a:solidFill>
                <a:schemeClr val="dk1"/>
              </a:solidFill>
              <a:latin typeface="Calibri"/>
              <a:ea typeface="Calibri"/>
              <a:cs typeface="Calibri"/>
              <a:sym typeface="Calibri"/>
            </a:endParaRPr>
          </a:p>
        </p:txBody>
      </p:sp>
      <p:sp>
        <p:nvSpPr>
          <p:cNvPr id="493" name="Google Shape;493;p20"/>
          <p:cNvSpPr/>
          <p:nvPr/>
        </p:nvSpPr>
        <p:spPr>
          <a:xfrm>
            <a:off x="777240"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understanding settled, nothing left unresolved — happiness wherever we are resolved</a:t>
            </a:r>
            <a:endParaRPr b="0" i="0" sz="930" u="none" cap="none" strike="noStrike">
              <a:solidFill>
                <a:schemeClr val="dk1"/>
              </a:solidFill>
              <a:latin typeface="Calibri"/>
              <a:ea typeface="Calibri"/>
              <a:cs typeface="Calibri"/>
              <a:sym typeface="Calibri"/>
            </a:endParaRPr>
          </a:p>
        </p:txBody>
      </p:sp>
      <p:sp>
        <p:nvSpPr>
          <p:cNvPr id="494" name="Google Shape;494;p20"/>
          <p:cNvSpPr/>
          <p:nvPr/>
        </p:nvSpPr>
        <p:spPr>
          <a:xfrm>
            <a:off x="2633472"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0"/>
          <p:cNvSpPr/>
          <p:nvPr/>
        </p:nvSpPr>
        <p:spPr>
          <a:xfrm>
            <a:off x="2770632"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Prosperity</a:t>
            </a:r>
            <a:endParaRPr b="0" i="0" sz="1300" u="none" cap="none" strike="noStrike">
              <a:solidFill>
                <a:schemeClr val="dk1"/>
              </a:solidFill>
              <a:latin typeface="Calibri"/>
              <a:ea typeface="Calibri"/>
              <a:cs typeface="Calibri"/>
              <a:sym typeface="Calibri"/>
            </a:endParaRPr>
          </a:p>
        </p:txBody>
      </p:sp>
      <p:sp>
        <p:nvSpPr>
          <p:cNvPr id="496" name="Google Shape;496;p20"/>
          <p:cNvSpPr/>
          <p:nvPr/>
        </p:nvSpPr>
        <p:spPr>
          <a:xfrm>
            <a:off x="2770632"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producing more than needed, used rightly — peace in the family</a:t>
            </a:r>
            <a:endParaRPr b="0" i="0" sz="930" u="none" cap="none" strike="noStrike">
              <a:solidFill>
                <a:schemeClr val="dk1"/>
              </a:solidFill>
              <a:latin typeface="Calibri"/>
              <a:ea typeface="Calibri"/>
              <a:cs typeface="Calibri"/>
              <a:sym typeface="Calibri"/>
            </a:endParaRPr>
          </a:p>
        </p:txBody>
      </p:sp>
      <p:sp>
        <p:nvSpPr>
          <p:cNvPr id="497" name="Google Shape;497;p20"/>
          <p:cNvSpPr/>
          <p:nvPr/>
        </p:nvSpPr>
        <p:spPr>
          <a:xfrm>
            <a:off x="4626864"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0"/>
          <p:cNvSpPr/>
          <p:nvPr/>
        </p:nvSpPr>
        <p:spPr>
          <a:xfrm>
            <a:off x="4764024"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Fearlessness</a:t>
            </a:r>
            <a:endParaRPr b="0" i="0" sz="1300" u="none" cap="none" strike="noStrike">
              <a:solidFill>
                <a:schemeClr val="dk1"/>
              </a:solidFill>
              <a:latin typeface="Calibri"/>
              <a:ea typeface="Calibri"/>
              <a:cs typeface="Calibri"/>
              <a:sym typeface="Calibri"/>
            </a:endParaRPr>
          </a:p>
        </p:txBody>
      </p:sp>
      <p:sp>
        <p:nvSpPr>
          <p:cNvPr id="499" name="Google Shape;499;p20"/>
          <p:cNvSpPr/>
          <p:nvPr/>
        </p:nvSpPr>
        <p:spPr>
          <a:xfrm>
            <a:off x="4764024"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trust in the present and in society — contentment in orderly living</a:t>
            </a:r>
            <a:endParaRPr b="0" i="0" sz="930" u="none" cap="none" strike="noStrike">
              <a:solidFill>
                <a:schemeClr val="dk1"/>
              </a:solidFill>
              <a:latin typeface="Calibri"/>
              <a:ea typeface="Calibri"/>
              <a:cs typeface="Calibri"/>
              <a:sym typeface="Calibri"/>
            </a:endParaRPr>
          </a:p>
        </p:txBody>
      </p:sp>
      <p:sp>
        <p:nvSpPr>
          <p:cNvPr id="500" name="Google Shape;500;p20"/>
          <p:cNvSpPr/>
          <p:nvPr/>
        </p:nvSpPr>
        <p:spPr>
          <a:xfrm>
            <a:off x="6620256" y="3474720"/>
            <a:ext cx="1874520" cy="1051560"/>
          </a:xfrm>
          <a:prstGeom prst="roundRect">
            <a:avLst>
              <a:gd fmla="val 8696" name="adj"/>
            </a:avLst>
          </a:prstGeom>
          <a:solidFill>
            <a:srgbClr val="1E2447"/>
          </a:solidFill>
          <a:ln>
            <a:noFill/>
          </a:ln>
          <a:effectLst>
            <a:outerShdw blurRad="88900" rotWithShape="0" algn="bl" dir="2700000" dist="25400">
              <a:srgbClr val="000000">
                <a:alpha val="12941"/>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0"/>
          <p:cNvSpPr/>
          <p:nvPr/>
        </p:nvSpPr>
        <p:spPr>
          <a:xfrm>
            <a:off x="6757416" y="3593592"/>
            <a:ext cx="1600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Coexistence</a:t>
            </a:r>
            <a:endParaRPr b="0" i="0" sz="1300" u="none" cap="none" strike="noStrike">
              <a:solidFill>
                <a:schemeClr val="dk1"/>
              </a:solidFill>
              <a:latin typeface="Calibri"/>
              <a:ea typeface="Calibri"/>
              <a:cs typeface="Calibri"/>
              <a:sym typeface="Calibri"/>
            </a:endParaRPr>
          </a:p>
        </p:txBody>
      </p:sp>
      <p:sp>
        <p:nvSpPr>
          <p:cNvPr id="502" name="Google Shape;502;p20"/>
          <p:cNvSpPr/>
          <p:nvPr/>
        </p:nvSpPr>
        <p:spPr>
          <a:xfrm>
            <a:off x="6757416" y="3886200"/>
            <a:ext cx="162763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930"/>
              <a:buFont typeface="Calibri"/>
              <a:buNone/>
            </a:pPr>
            <a:r>
              <a:rPr b="0" i="1" lang="en-US" sz="930" u="none" cap="none" strike="noStrike">
                <a:solidFill>
                  <a:srgbClr val="C9D4EF"/>
                </a:solidFill>
                <a:latin typeface="Calibri"/>
                <a:ea typeface="Calibri"/>
                <a:cs typeface="Calibri"/>
                <a:sym typeface="Calibri"/>
              </a:rPr>
              <a:t>with humans and with nature — bliss in evidencing understanding</a:t>
            </a:r>
            <a:endParaRPr b="0" i="0" sz="930" u="none" cap="none" strike="noStrike">
              <a:solidFill>
                <a:schemeClr val="dk1"/>
              </a:solidFill>
              <a:latin typeface="Calibri"/>
              <a:ea typeface="Calibri"/>
              <a:cs typeface="Calibri"/>
              <a:sym typeface="Calibri"/>
            </a:endParaRPr>
          </a:p>
        </p:txBody>
      </p:sp>
      <p:sp>
        <p:nvSpPr>
          <p:cNvPr id="503" name="Google Shape;503;p20"/>
          <p:cNvSpPr/>
          <p:nvPr/>
        </p:nvSpPr>
        <p:spPr>
          <a:xfrm>
            <a:off x="502920" y="4828032"/>
            <a:ext cx="8138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7"/>
              </a:buClr>
              <a:buSzPts val="950"/>
              <a:buFont typeface="Calibri"/>
              <a:buNone/>
            </a:pPr>
            <a:r>
              <a:rPr b="0" i="1" lang="en-US" sz="950" u="none" cap="none" strike="noStrike">
                <a:solidFill>
                  <a:srgbClr val="5A6377"/>
                </a:solidFill>
                <a:latin typeface="Calibri"/>
                <a:ea typeface="Calibri"/>
                <a:cs typeface="Calibri"/>
                <a:sym typeface="Calibri"/>
              </a:rPr>
              <a:t>“Resolution = Happiness…” — JV p. 61  ·  MVD p. 13  ·  universal orderliness runs across five dimensions: education-character · justice-preservation · health-restraint · production-work · exchange-storage (§1.15)</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508" name="Shape 508"/>
        <p:cNvGrpSpPr/>
        <p:nvPr/>
      </p:nvGrpSpPr>
      <p:grpSpPr>
        <a:xfrm>
          <a:off x="0" y="0"/>
          <a:ext cx="0" cy="0"/>
          <a:chOff x="0" y="0"/>
          <a:chExt cx="0" cy="0"/>
        </a:xfrm>
      </p:grpSpPr>
      <p:sp>
        <p:nvSpPr>
          <p:cNvPr id="509" name="Google Shape;509;p21"/>
          <p:cNvSpPr/>
          <p:nvPr/>
        </p:nvSpPr>
        <p:spPr>
          <a:xfrm>
            <a:off x="5852160" y="822960"/>
            <a:ext cx="3291840" cy="3291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1"/>
          <p:cNvSpPr/>
          <p:nvPr/>
        </p:nvSpPr>
        <p:spPr>
          <a:xfrm>
            <a:off x="6510528" y="1481328"/>
            <a:ext cx="1975104" cy="19751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1"/>
          <p:cNvSpPr/>
          <p:nvPr/>
        </p:nvSpPr>
        <p:spPr>
          <a:xfrm>
            <a:off x="7070141" y="2040941"/>
            <a:ext cx="855878" cy="85587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1"/>
          <p:cNvSpPr/>
          <p:nvPr/>
        </p:nvSpPr>
        <p:spPr>
          <a:xfrm>
            <a:off x="5394960" y="3566160"/>
            <a:ext cx="1097280" cy="109728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1"/>
          <p:cNvSpPr/>
          <p:nvPr/>
        </p:nvSpPr>
        <p:spPr>
          <a:xfrm>
            <a:off x="5614416" y="3785616"/>
            <a:ext cx="658368" cy="658368"/>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1"/>
          <p:cNvSpPr/>
          <p:nvPr/>
        </p:nvSpPr>
        <p:spPr>
          <a:xfrm>
            <a:off x="5800954" y="3972154"/>
            <a:ext cx="285293" cy="285293"/>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1"/>
          <p:cNvSpPr/>
          <p:nvPr/>
        </p:nvSpPr>
        <p:spPr>
          <a:xfrm>
            <a:off x="8138160" y="4023360"/>
            <a:ext cx="731520" cy="73152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1"/>
          <p:cNvSpPr/>
          <p:nvPr/>
        </p:nvSpPr>
        <p:spPr>
          <a:xfrm>
            <a:off x="8284464" y="4169664"/>
            <a:ext cx="438912" cy="438912"/>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1"/>
          <p:cNvSpPr/>
          <p:nvPr/>
        </p:nvSpPr>
        <p:spPr>
          <a:xfrm>
            <a:off x="8408822" y="4294022"/>
            <a:ext cx="190195" cy="190195"/>
          </a:xfrm>
          <a:prstGeom prst="ellipse">
            <a:avLst/>
          </a:prstGeom>
          <a:solidFill>
            <a:srgbClr val="C9D4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1"/>
          <p:cNvSpPr/>
          <p:nvPr/>
        </p:nvSpPr>
        <p:spPr>
          <a:xfrm>
            <a:off x="640080" y="1234440"/>
            <a:ext cx="58521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THE CULMINATION  ·  BUILT INTO THE DESIGN</a:t>
            </a:r>
            <a:endParaRPr b="0" i="0" sz="1200" u="none" cap="none" strike="noStrike">
              <a:solidFill>
                <a:schemeClr val="dk1"/>
              </a:solidFill>
              <a:latin typeface="Calibri"/>
              <a:ea typeface="Calibri"/>
              <a:cs typeface="Calibri"/>
              <a:sym typeface="Calibri"/>
            </a:endParaRPr>
          </a:p>
        </p:txBody>
      </p:sp>
      <p:sp>
        <p:nvSpPr>
          <p:cNvPr id="519" name="Google Shape;519;p21"/>
          <p:cNvSpPr/>
          <p:nvPr/>
        </p:nvSpPr>
        <p:spPr>
          <a:xfrm>
            <a:off x="640080" y="1572768"/>
            <a:ext cx="557784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mbria"/>
              <a:buNone/>
            </a:pPr>
            <a:r>
              <a:rPr b="1" i="0" lang="en-US" sz="4400" u="none" cap="none" strike="noStrike">
                <a:solidFill>
                  <a:srgbClr val="FFFFFF"/>
                </a:solidFill>
                <a:latin typeface="Cambria"/>
                <a:ea typeface="Cambria"/>
                <a:cs typeface="Cambria"/>
                <a:sym typeface="Cambria"/>
              </a:rPr>
              <a:t>An Awakened Human Tradition</a:t>
            </a:r>
            <a:endParaRPr b="0" i="0" sz="4400" u="none" cap="none" strike="noStrike">
              <a:solidFill>
                <a:schemeClr val="dk1"/>
              </a:solidFill>
              <a:latin typeface="Calibri"/>
              <a:ea typeface="Calibri"/>
              <a:cs typeface="Calibri"/>
              <a:sym typeface="Calibri"/>
            </a:endParaRPr>
          </a:p>
        </p:txBody>
      </p:sp>
      <p:sp>
        <p:nvSpPr>
          <p:cNvPr id="520" name="Google Shape;520;p21"/>
          <p:cNvSpPr/>
          <p:nvPr/>
        </p:nvSpPr>
        <p:spPr>
          <a:xfrm>
            <a:off x="640080" y="3050000"/>
            <a:ext cx="484632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4EF"/>
              </a:buClr>
              <a:buSzPts val="1600"/>
              <a:buFont typeface="Calibri"/>
              <a:buNone/>
            </a:pPr>
            <a:r>
              <a:rPr b="0" i="1" lang="en-US" sz="1600" u="none" cap="none" strike="noStrike">
                <a:solidFill>
                  <a:srgbClr val="C9D4EF"/>
                </a:solidFill>
                <a:latin typeface="Calibri"/>
                <a:ea typeface="Calibri"/>
                <a:cs typeface="Calibri"/>
                <a:sym typeface="Calibri"/>
              </a:rPr>
              <a:t>The drive that began in every atom comes to rest in awakened human beings — effort settled in realisation, understanding proven in daily conduct. What was soaked in the ground has come to realise the ground.</a:t>
            </a:r>
            <a:endParaRPr b="0" i="0" sz="1600" u="none" cap="none" strike="noStrike">
              <a:solidFill>
                <a:schemeClr val="dk1"/>
              </a:solidFill>
              <a:latin typeface="Calibri"/>
              <a:ea typeface="Calibri"/>
              <a:cs typeface="Calibri"/>
              <a:sym typeface="Calibri"/>
            </a:endParaRPr>
          </a:p>
        </p:txBody>
      </p:sp>
      <p:sp>
        <p:nvSpPr>
          <p:cNvPr id="521" name="Google Shape;521;p21"/>
          <p:cNvSpPr/>
          <p:nvPr/>
        </p:nvSpPr>
        <p:spPr>
          <a:xfrm>
            <a:off x="640080" y="4160520"/>
            <a:ext cx="53035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They live as one undivided society — </a:t>
            </a:r>
            <a:r>
              <a:rPr b="0" i="1" lang="en-US" sz="1150" u="none" cap="none" strike="noStrike">
                <a:solidFill>
                  <a:srgbClr val="8E9BC4"/>
                </a:solidFill>
                <a:latin typeface="Calibri"/>
                <a:ea typeface="Calibri"/>
                <a:cs typeface="Calibri"/>
                <a:sym typeface="Calibri"/>
              </a:rPr>
              <a:t>resolution in every person, prosperity in every family, fearlessness and trust in society, coexistence with all of nature</a:t>
            </a:r>
            <a:r>
              <a:rPr b="0" i="0" lang="en-US" sz="1150" u="none" cap="none" strike="noStrike">
                <a:solidFill>
                  <a:srgbClr val="8E9BC4"/>
                </a:solidFill>
                <a:latin typeface="Calibri"/>
                <a:ea typeface="Calibri"/>
                <a:cs typeface="Calibri"/>
                <a:sym typeface="Calibri"/>
              </a:rPr>
              <a:t>.</a:t>
            </a:r>
            <a:endParaRPr b="0" i="0" sz="1150" u="none" cap="none" strike="noStrike">
              <a:solidFill>
                <a:schemeClr val="dk1"/>
              </a:solidFill>
              <a:latin typeface="Calibri"/>
              <a:ea typeface="Calibri"/>
              <a:cs typeface="Calibri"/>
              <a:sym typeface="Calibri"/>
            </a:endParaRPr>
          </a:p>
        </p:txBody>
      </p:sp>
      <p:sp>
        <p:nvSpPr>
          <p:cNvPr id="522" name="Google Shape;522;p21"/>
          <p:cNvSpPr/>
          <p:nvPr/>
        </p:nvSpPr>
        <p:spPr>
          <a:xfrm>
            <a:off x="640080" y="4650000"/>
            <a:ext cx="530352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150"/>
              <a:buFont typeface="Calibri"/>
              <a:buNone/>
            </a:pPr>
            <a:r>
              <a:rPr b="0" i="0" lang="en-US" sz="1150" u="none" cap="none" strike="noStrike">
                <a:solidFill>
                  <a:srgbClr val="8E9BC4"/>
                </a:solidFill>
                <a:latin typeface="Calibri"/>
                <a:ea typeface="Calibri"/>
                <a:cs typeface="Calibri"/>
                <a:sym typeface="Calibri"/>
              </a:rPr>
              <a:t>A humane tradition: each generation raised into the same understanding — universal orderliness sustained across education, justice, health, production, and exchange.</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447"/>
        </a:solidFill>
      </p:bgPr>
    </p:bg>
    <p:spTree>
      <p:nvGrpSpPr>
        <p:cNvPr id="527" name="Shape 527"/>
        <p:cNvGrpSpPr/>
        <p:nvPr/>
      </p:nvGrpSpPr>
      <p:grpSpPr>
        <a:xfrm>
          <a:off x="0" y="0"/>
          <a:ext cx="0" cy="0"/>
          <a:chOff x="0" y="0"/>
          <a:chExt cx="0" cy="0"/>
        </a:xfrm>
      </p:grpSpPr>
      <p:sp>
        <p:nvSpPr>
          <p:cNvPr id="528" name="Google Shape;528;p22"/>
          <p:cNvSpPr/>
          <p:nvPr/>
        </p:nvSpPr>
        <p:spPr>
          <a:xfrm>
            <a:off x="7635240" y="411480"/>
            <a:ext cx="1005840" cy="1005840"/>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2"/>
          <p:cNvSpPr/>
          <p:nvPr/>
        </p:nvSpPr>
        <p:spPr>
          <a:xfrm>
            <a:off x="7836408" y="612648"/>
            <a:ext cx="603504" cy="603504"/>
          </a:xfrm>
          <a:prstGeom prst="ellipse">
            <a:avLst/>
          </a:prstGeom>
          <a:noFill/>
          <a:ln cap="flat" cmpd="sng" w="15875">
            <a:solidFill>
              <a:srgbClr val="44507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2"/>
          <p:cNvSpPr/>
          <p:nvPr/>
        </p:nvSpPr>
        <p:spPr>
          <a:xfrm>
            <a:off x="8007401" y="783641"/>
            <a:ext cx="261518" cy="261518"/>
          </a:xfrm>
          <a:prstGeom prst="ellipse">
            <a:avLst/>
          </a:prstGeom>
          <a:solidFill>
            <a:srgbClr val="C982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2"/>
          <p:cNvSpPr/>
          <p:nvPr/>
        </p:nvSpPr>
        <p:spPr>
          <a:xfrm>
            <a:off x="640080" y="457200"/>
            <a:ext cx="66751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821E"/>
              </a:buClr>
              <a:buSzPts val="1200"/>
              <a:buFont typeface="Calibri"/>
              <a:buNone/>
            </a:pPr>
            <a:r>
              <a:rPr b="1" i="0" lang="en-US" sz="1200" u="none" cap="none" strike="noStrike">
                <a:solidFill>
                  <a:srgbClr val="C9821E"/>
                </a:solidFill>
                <a:latin typeface="Calibri"/>
                <a:ea typeface="Calibri"/>
                <a:cs typeface="Calibri"/>
                <a:sym typeface="Calibri"/>
              </a:rPr>
              <a:t>WHAT MADHYASTH DARSHAN ESTABLISHES</a:t>
            </a:r>
            <a:endParaRPr b="0" i="0" sz="1200" u="none" cap="none" strike="noStrike">
              <a:solidFill>
                <a:schemeClr val="dk1"/>
              </a:solidFill>
              <a:latin typeface="Calibri"/>
              <a:ea typeface="Calibri"/>
              <a:cs typeface="Calibri"/>
              <a:sym typeface="Calibri"/>
            </a:endParaRPr>
          </a:p>
        </p:txBody>
      </p:sp>
      <p:sp>
        <p:nvSpPr>
          <p:cNvPr id="532" name="Google Shape;532;p22"/>
          <p:cNvSpPr/>
          <p:nvPr/>
        </p:nvSpPr>
        <p:spPr>
          <a:xfrm>
            <a:off x="640080" y="749808"/>
            <a:ext cx="6858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The Questions, Answered</a:t>
            </a:r>
            <a:endParaRPr b="0" i="0" sz="3200" u="none" cap="none" strike="noStrike">
              <a:solidFill>
                <a:schemeClr val="dk1"/>
              </a:solidFill>
              <a:latin typeface="Calibri"/>
              <a:ea typeface="Calibri"/>
              <a:cs typeface="Calibri"/>
              <a:sym typeface="Calibri"/>
            </a:endParaRPr>
          </a:p>
        </p:txBody>
      </p:sp>
      <p:graphicFrame>
        <p:nvGraphicFramePr>
          <p:cNvPr id="533" name="Google Shape;533;p22"/>
          <p:cNvGraphicFramePr/>
          <p:nvPr/>
        </p:nvGraphicFramePr>
        <p:xfrm>
          <a:off x="640080" y="1508760"/>
          <a:ext cx="3000000" cy="3000000"/>
        </p:xfrm>
        <a:graphic>
          <a:graphicData uri="http://schemas.openxmlformats.org/drawingml/2006/table">
            <a:tbl>
              <a:tblPr>
                <a:noFill/>
                <a:tableStyleId>{6C92A692-798E-4634-90B1-36CD3966BFCB}</a:tableStyleId>
              </a:tblPr>
              <a:tblGrid>
                <a:gridCol w="2377450"/>
                <a:gridCol w="5486400"/>
              </a:tblGrid>
              <a:tr h="347475">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Question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2B3560"/>
                    </a:solidFill>
                  </a:tcPr>
                </a:tc>
                <a:tc>
                  <a:txBody>
                    <a:bodyPr/>
                    <a:lstStyle/>
                    <a:p>
                      <a:pPr indent="0" lvl="0" marL="0" marR="0" rtl="0" algn="l">
                        <a:spcBef>
                          <a:spcPts val="0"/>
                        </a:spcBef>
                        <a:spcAft>
                          <a:spcPts val="0"/>
                        </a:spcAft>
                        <a:buClr>
                          <a:srgbClr val="FFFFFF"/>
                        </a:buClr>
                        <a:buSzPts val="1200"/>
                        <a:buFont typeface="Calibri"/>
                        <a:buNone/>
                      </a:pPr>
                      <a:r>
                        <a:rPr b="1" lang="en-US" sz="1200" u="none" cap="none" strike="noStrike">
                          <a:solidFill>
                            <a:srgbClr val="FFFFFF"/>
                          </a:solidFill>
                          <a:latin typeface="Calibri"/>
                          <a:ea typeface="Calibri"/>
                          <a:cs typeface="Calibri"/>
                          <a:sym typeface="Calibri"/>
                        </a:rPr>
                        <a:t>Madhyasth Darshan answer</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2B3560"/>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What is existence?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The eternal coexistence of Omnipotence and units</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What exists?</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Omnipotence and countable units of nature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Does it begin?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No; only temporary configurations do</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Does the self begin?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Jeevan is constitutionally immortal; it does not end with the body</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365750">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Is the world real?</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Yes — the world is perpetual</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r h="512075">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How can it be known?</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c>
                  <a:txBody>
                    <a:bodyPr/>
                    <a:lstStyle/>
                    <a:p>
                      <a:pPr indent="0" lvl="0" marL="0" marR="0" rtl="0" algn="l">
                        <a:spcBef>
                          <a:spcPts val="0"/>
                        </a:spcBef>
                        <a:spcAft>
                          <a:spcPts val="0"/>
                        </a:spcAft>
                        <a:buClr>
                          <a:srgbClr val="C9D4EF"/>
                        </a:buClr>
                        <a:buSzPts val="1200"/>
                        <a:buFont typeface="Calibri"/>
                        <a:buNone/>
                      </a:pPr>
                      <a:r>
                        <a:rPr lang="en-US" sz="1200" u="none" cap="none" strike="noStrike">
                          <a:solidFill>
                            <a:srgbClr val="C9D4EF"/>
                          </a:solidFill>
                          <a:latin typeface="Calibri"/>
                          <a:ea typeface="Calibri"/>
                          <a:cs typeface="Calibri"/>
                          <a:sym typeface="Calibri"/>
                        </a:rPr>
                        <a:t>Staged study → practice → realisation, evidenced in conduct — each aspect known at its scope, from the unit alone to the whole</a:t>
                      </a:r>
                      <a:endParaRPr sz="1200" u="none" cap="none" strike="noStrike">
                        <a:latin typeface="Calibri"/>
                        <a:ea typeface="Calibri"/>
                        <a:cs typeface="Calibri"/>
                        <a:sym typeface="Calibri"/>
                      </a:endParaRPr>
                    </a:p>
                  </a:txBody>
                  <a:tcPr marT="54875" marB="54875" marR="54875" marL="54875" anchor="ctr">
                    <a:lnL cap="flat" cmpd="sng" w="9525">
                      <a:solidFill>
                        <a:srgbClr val="3B4A7A"/>
                      </a:solidFill>
                      <a:prstDash val="solid"/>
                      <a:round/>
                      <a:headEnd len="sm" w="sm" type="none"/>
                      <a:tailEnd len="sm" w="sm" type="none"/>
                    </a:lnL>
                    <a:lnR cap="flat" cmpd="sng" w="9525">
                      <a:solidFill>
                        <a:srgbClr val="3B4A7A"/>
                      </a:solidFill>
                      <a:prstDash val="solid"/>
                      <a:round/>
                      <a:headEnd len="sm" w="sm" type="none"/>
                      <a:tailEnd len="sm" w="sm" type="none"/>
                    </a:lnR>
                    <a:lnT cap="flat" cmpd="sng" w="9525">
                      <a:solidFill>
                        <a:srgbClr val="3B4A7A"/>
                      </a:solidFill>
                      <a:prstDash val="solid"/>
                      <a:round/>
                      <a:headEnd len="sm" w="sm" type="none"/>
                      <a:tailEnd len="sm" w="sm" type="none"/>
                    </a:lnT>
                    <a:lnB cap="flat" cmpd="sng" w="9525">
                      <a:solidFill>
                        <a:srgbClr val="3B4A7A"/>
                      </a:solidFill>
                      <a:prstDash val="solid"/>
                      <a:round/>
                      <a:headEnd len="sm" w="sm" type="none"/>
                      <a:tailEnd len="sm" w="sm" type="none"/>
                    </a:lnB>
                    <a:solidFill>
                      <a:srgbClr val="1E2447"/>
                    </a:solidFill>
                  </a:tcPr>
                </a:tc>
              </a:tr>
            </a:tbl>
          </a:graphicData>
        </a:graphic>
      </p:graphicFrame>
      <p:sp>
        <p:nvSpPr>
          <p:cNvPr id="534" name="Google Shape;534;p22"/>
          <p:cNvSpPr/>
          <p:nvPr/>
        </p:nvSpPr>
        <p:spPr>
          <a:xfrm>
            <a:off x="640080" y="4526280"/>
            <a:ext cx="786384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BC4"/>
              </a:buClr>
              <a:buSzPts val="1200"/>
              <a:buFont typeface="Calibri"/>
              <a:buNone/>
            </a:pPr>
            <a:r>
              <a:rPr b="0" i="1" lang="en-US" sz="1200" u="none" cap="none" strike="noStrike">
                <a:solidFill>
                  <a:srgbClr val="8E9BC4"/>
                </a:solidFill>
                <a:latin typeface="Calibri"/>
                <a:ea typeface="Calibri"/>
                <a:cs typeface="Calibri"/>
                <a:sym typeface="Calibri"/>
              </a:rPr>
              <a:t>Lived verification through humane conduct is the final proof of realisation — §1.16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