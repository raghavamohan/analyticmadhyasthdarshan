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12d6ccb728c43bd" /><Relationship Type="http://schemas.openxmlformats.org/officeDocument/2006/relationships/extended-properties" Target="/docProps/app.xml" Id="R48ab265b1994464a" /><Relationship Type="http://schemas.openxmlformats.org/officeDocument/2006/relationships/officeDocument" Target="/ppt/presentation.xml" Id="R4972fd94964f4a53" /></Relationships>
</file>

<file path=ppt/presentation.xml><?xml version="1.0" encoding="utf-8"?>
<p:presentation xmlns:p="http://schemas.openxmlformats.org/presentationml/2006/main">
  <p:sldMasterIdLst>
    <p:sldMasterId xmlns:r="http://schemas.openxmlformats.org/officeDocument/2006/relationships" id="2147483648" r:id="R8aa192d6767647f9"/>
  </p:sldMasterIdLst>
  <p:notesMasterIdLst>
    <p:notesMasterId xmlns:r="http://schemas.openxmlformats.org/officeDocument/2006/relationships" r:id="Rb4341bb645f7433e"/>
  </p:notesMasterIdLst>
  <p:sldIdLst>
    <p:sldId xmlns:r="http://schemas.openxmlformats.org/officeDocument/2006/relationships" id="256" r:id="Rd248599913654893"/>
    <p:sldId xmlns:r="http://schemas.openxmlformats.org/officeDocument/2006/relationships" id="257" r:id="R08550a15d9c747f7"/>
    <p:sldId xmlns:r="http://schemas.openxmlformats.org/officeDocument/2006/relationships" id="258" r:id="Rdb914a694ee14a1a"/>
    <p:sldId xmlns:r="http://schemas.openxmlformats.org/officeDocument/2006/relationships" id="259" r:id="Re6885e39753641b6"/>
    <p:sldId xmlns:r="http://schemas.openxmlformats.org/officeDocument/2006/relationships" id="260" r:id="R10f3b66ea3e54e18"/>
    <p:sldId xmlns:r="http://schemas.openxmlformats.org/officeDocument/2006/relationships" id="261" r:id="R0c4ad2eed2b74b8b"/>
    <p:sldId xmlns:r="http://schemas.openxmlformats.org/officeDocument/2006/relationships" id="262" r:id="R54de75f1ffed4157"/>
    <p:sldId xmlns:r="http://schemas.openxmlformats.org/officeDocument/2006/relationships" id="263" r:id="R02a0e6f6e4664a49"/>
    <p:sldId xmlns:r="http://schemas.openxmlformats.org/officeDocument/2006/relationships" id="264" r:id="R965215b63ca84630"/>
    <p:sldId xmlns:r="http://schemas.openxmlformats.org/officeDocument/2006/relationships" id="265" r:id="Rfbb586be29e64bc7"/>
    <p:sldId xmlns:r="http://schemas.openxmlformats.org/officeDocument/2006/relationships" id="266" r:id="Rb44394de6eeb4c88"/>
    <p:sldId xmlns:r="http://schemas.openxmlformats.org/officeDocument/2006/relationships" id="267" r:id="Rb2e8ef7b4c814f30"/>
    <p:sldId xmlns:r="http://schemas.openxmlformats.org/officeDocument/2006/relationships" id="268" r:id="R80614fa788604d43"/>
    <p:sldId xmlns:r="http://schemas.openxmlformats.org/officeDocument/2006/relationships" id="269" r:id="Rf03ca450f683412d"/>
    <p:sldId xmlns:r="http://schemas.openxmlformats.org/officeDocument/2006/relationships" id="270" r:id="R345ffbb5d36f481c"/>
    <p:sldId xmlns:r="http://schemas.openxmlformats.org/officeDocument/2006/relationships" id="271" r:id="R867bd1da647d4aa2"/>
    <p:sldId xmlns:r="http://schemas.openxmlformats.org/officeDocument/2006/relationships" id="272" r:id="R8e9e5d2a8a214f5a"/>
    <p:sldId xmlns:r="http://schemas.openxmlformats.org/officeDocument/2006/relationships" id="273" r:id="Rcc93124099f24238"/>
  </p:sldIdLst>
  <p:sldSz cx="9144000" cy="51435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xmlns:r="http://schemas.openxmlformats.org/officeDocument/2006/relationships" def="{C412159E-9D9A-4F1B-BDD3-5D94F5A31A33}">
  <a:tblStyle styleId="{C412159E-9D9A-4F1B-BDD3-5D94F5A31A33}"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&#65279;<?xml version="1.0" encoding="utf-8"?><Relationships xmlns="http://schemas.openxmlformats.org/package/2006/relationships"><Relationship Type="http://schemas.openxmlformats.org/officeDocument/2006/relationships/theme" Target="/ppt/theme/theme1.xml" Id="R83965fed301e4b2f" /><Relationship Type="http://schemas.openxmlformats.org/officeDocument/2006/relationships/slideMaster" Target="/ppt/slideMasters/slideMaster1.xml" Id="R8aa192d6767647f9" /><Relationship Type="http://schemas.openxmlformats.org/officeDocument/2006/relationships/notesMaster" Target="/ppt/notesMasters/notesMaster1.xml" Id="Rb4341bb645f7433e" /><Relationship Type="http://schemas.openxmlformats.org/officeDocument/2006/relationships/presProps" Target="/ppt/presProps.xml" Id="R2e33c1e3be504cb5" /><Relationship Type="http://schemas.openxmlformats.org/officeDocument/2006/relationships/tableStyles" Target="/ppt/tableStyles.xml" Id="R264d94adbcf4484a" /><Relationship Type="http://schemas.openxmlformats.org/officeDocument/2006/relationships/slide" Target="/ppt/slides/slide1.xml" Id="Rd248599913654893" /><Relationship Type="http://schemas.openxmlformats.org/officeDocument/2006/relationships/slide" Target="/ppt/slides/slide2.xml" Id="R08550a15d9c747f7" /><Relationship Type="http://schemas.openxmlformats.org/officeDocument/2006/relationships/slide" Target="/ppt/slides/slide3.xml" Id="Rdb914a694ee14a1a" /><Relationship Type="http://schemas.openxmlformats.org/officeDocument/2006/relationships/slide" Target="/ppt/slides/slide4.xml" Id="Re6885e39753641b6" /><Relationship Type="http://schemas.openxmlformats.org/officeDocument/2006/relationships/slide" Target="/ppt/slides/slide5.xml" Id="R10f3b66ea3e54e18" /><Relationship Type="http://schemas.openxmlformats.org/officeDocument/2006/relationships/slide" Target="/ppt/slides/slide6.xml" Id="R0c4ad2eed2b74b8b" /><Relationship Type="http://schemas.openxmlformats.org/officeDocument/2006/relationships/slide" Target="/ppt/slides/slide7.xml" Id="R54de75f1ffed4157" /><Relationship Type="http://schemas.openxmlformats.org/officeDocument/2006/relationships/slide" Target="/ppt/slides/slide8.xml" Id="R02a0e6f6e4664a49" /><Relationship Type="http://schemas.openxmlformats.org/officeDocument/2006/relationships/slide" Target="/ppt/slides/slide9.xml" Id="R965215b63ca84630" /><Relationship Type="http://schemas.openxmlformats.org/officeDocument/2006/relationships/slide" Target="/ppt/slides/slide10.xml" Id="Rfbb586be29e64bc7" /><Relationship Type="http://schemas.openxmlformats.org/officeDocument/2006/relationships/slide" Target="/ppt/slides/slide11.xml" Id="Rb44394de6eeb4c88" /><Relationship Type="http://schemas.openxmlformats.org/officeDocument/2006/relationships/slide" Target="/ppt/slides/slide12.xml" Id="Rb2e8ef7b4c814f30" /><Relationship Type="http://schemas.openxmlformats.org/officeDocument/2006/relationships/slide" Target="/ppt/slides/slide13.xml" Id="R80614fa788604d43" /><Relationship Type="http://schemas.openxmlformats.org/officeDocument/2006/relationships/slide" Target="/ppt/slides/slide14.xml" Id="Rf03ca450f683412d" /><Relationship Type="http://schemas.openxmlformats.org/officeDocument/2006/relationships/slide" Target="/ppt/slides/slide15.xml" Id="R345ffbb5d36f481c" /><Relationship Type="http://schemas.openxmlformats.org/officeDocument/2006/relationships/slide" Target="/ppt/slides/slide16.xml" Id="R867bd1da647d4aa2" /><Relationship Type="http://schemas.openxmlformats.org/officeDocument/2006/relationships/slide" Target="/ppt/slides/slide17.xml" Id="R8e9e5d2a8a214f5a" /><Relationship Type="http://schemas.openxmlformats.org/officeDocument/2006/relationships/slide" Target="/ppt/slides/slide18.xml" Id="Rcc93124099f2423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242a64bec9d43e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94072b9d3cf43b5" /><Relationship Type="http://schemas.openxmlformats.org/officeDocument/2006/relationships/notesMaster" Target="/ppt/notesMasters/notesMaster1.xml" Id="R95d7a967905c4e1b" /></Relationships>
</file>

<file path=ppt/notesSlides/_rels/notesSlide2.xml.rels>&#65279;<?xml version="1.0" encoding="utf-8"?><Relationships xmlns="http://schemas.openxmlformats.org/package/2006/relationships"><Relationship Type="http://schemas.openxmlformats.org/officeDocument/2006/relationships/slide" Target="/ppt/slides/slide2.xml" Id="R950137836af44e4d" /><Relationship Type="http://schemas.openxmlformats.org/officeDocument/2006/relationships/notesMaster" Target="/ppt/notesMasters/notesMaster1.xml" Id="R7af992afb8bf4269" /></Relationships>
</file>

<file path=ppt/notesSlides/_rels/notesSlide3.xml.rels>&#65279;<?xml version="1.0" encoding="utf-8"?><Relationships xmlns="http://schemas.openxmlformats.org/package/2006/relationships"><Relationship Type="http://schemas.openxmlformats.org/officeDocument/2006/relationships/slide" Target="/ppt/slides/slide3.xml" Id="R8b310703c1134b15" /><Relationship Type="http://schemas.openxmlformats.org/officeDocument/2006/relationships/notesMaster" Target="/ppt/notesMasters/notesMaster1.xml" Id="Rd829929d065a40ce" /></Relationships>
</file>

<file path=ppt/notesSlides/_rels/notesSlide4.xml.rels>&#65279;<?xml version="1.0" encoding="utf-8"?><Relationships xmlns="http://schemas.openxmlformats.org/package/2006/relationships"><Relationship Type="http://schemas.openxmlformats.org/officeDocument/2006/relationships/slide" Target="/ppt/slides/slide4.xml" Id="R497db3fdac444dd0" /><Relationship Type="http://schemas.openxmlformats.org/officeDocument/2006/relationships/notesMaster" Target="/ppt/notesMasters/notesMaster1.xml" Id="R358715e1ce9a428e" /></Relationships>
</file>

<file path=ppt/notesSlides/_rels/notesSlide5.xml.rels>&#65279;<?xml version="1.0" encoding="utf-8"?><Relationships xmlns="http://schemas.openxmlformats.org/package/2006/relationships"><Relationship Type="http://schemas.openxmlformats.org/officeDocument/2006/relationships/slide" Target="/ppt/slides/slide5.xml" Id="R428d40e7727c4ca6" /><Relationship Type="http://schemas.openxmlformats.org/officeDocument/2006/relationships/notesMaster" Target="/ppt/notesMasters/notesMaster1.xml" Id="Ra0899e334c934b93" /></Relationships>
</file>

<file path=ppt/notesSlides/_rels/notesSlide6.xml.rels>&#65279;<?xml version="1.0" encoding="utf-8"?><Relationships xmlns="http://schemas.openxmlformats.org/package/2006/relationships"><Relationship Type="http://schemas.openxmlformats.org/officeDocument/2006/relationships/slide" Target="/ppt/slides/slide6.xml" Id="R483f1aee945546a9" /><Relationship Type="http://schemas.openxmlformats.org/officeDocument/2006/relationships/notesMaster" Target="/ppt/notesMasters/notesMaster1.xml" Id="R1db23a5966434a76" /></Relationships>
</file>

<file path=ppt/notesSlides/_rels/notesSlide7.xml.rels>&#65279;<?xml version="1.0" encoding="utf-8"?><Relationships xmlns="http://schemas.openxmlformats.org/package/2006/relationships"><Relationship Type="http://schemas.openxmlformats.org/officeDocument/2006/relationships/slide" Target="/ppt/slides/slide7.xml" Id="R2a3a1663b8de42dc" /><Relationship Type="http://schemas.openxmlformats.org/officeDocument/2006/relationships/notesMaster" Target="/ppt/notesMasters/notesMaster1.xml" Id="Rc47b7803fa824671" /></Relationships>
</file>

<file path=ppt/notesSlides/_rels/notesSlide8.xml.rels>&#65279;<?xml version="1.0" encoding="utf-8"?><Relationships xmlns="http://schemas.openxmlformats.org/package/2006/relationships"><Relationship Type="http://schemas.openxmlformats.org/officeDocument/2006/relationships/slide" Target="/ppt/slides/slide8.xml" Id="R31bb73ac0a514f78" /><Relationship Type="http://schemas.openxmlformats.org/officeDocument/2006/relationships/notesMaster" Target="/ppt/notesMasters/notesMaster1.xml" Id="R0a6c84f372874969" /></Relationships>
</file>

<file path=ppt/notesSlides/_rels/notesSlide9.xml.rels>&#65279;<?xml version="1.0" encoding="utf-8"?><Relationships xmlns="http://schemas.openxmlformats.org/package/2006/relationships"><Relationship Type="http://schemas.openxmlformats.org/officeDocument/2006/relationships/slide" Target="/ppt/slides/slide9.xml" Id="R7ae0de99a58f4e18" /><Relationship Type="http://schemas.openxmlformats.org/officeDocument/2006/relationships/notesMaster" Target="/ppt/notesMasters/notesMaster1.xml" Id="Rbc468ceccd284ec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85f47f4e2514253" /><Relationship Type="http://schemas.openxmlformats.org/officeDocument/2006/relationships/notesMaster" Target="/ppt/notesMasters/notesMaster1.xml" Id="R8ec6bf44b2954d5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c5b6bb36c6145cb" /><Relationship Type="http://schemas.openxmlformats.org/officeDocument/2006/relationships/notesMaster" Target="/ppt/notesMasters/notesMaster1.xml" Id="R06c26b489f9a47d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70d39b0596d4cac" /><Relationship Type="http://schemas.openxmlformats.org/officeDocument/2006/relationships/notesMaster" Target="/ppt/notesMasters/notesMaster1.xml" Id="R7f5bee19c1594d2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a2794d069784e3a" /><Relationship Type="http://schemas.openxmlformats.org/officeDocument/2006/relationships/notesMaster" Target="/ppt/notesMasters/notesMaster1.xml" Id="R643433ef0262488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c5729166da64796" /><Relationship Type="http://schemas.openxmlformats.org/officeDocument/2006/relationships/notesMaster" Target="/ppt/notesMasters/notesMaster1.xml" Id="Rb430b0adf2f4457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eeafee23cec47d9" /><Relationship Type="http://schemas.openxmlformats.org/officeDocument/2006/relationships/notesMaster" Target="/ppt/notesMasters/notesMaster1.xml" Id="R2611829217bd4de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7fc4b45a4e14a3b" /><Relationship Type="http://schemas.openxmlformats.org/officeDocument/2006/relationships/notesMaster" Target="/ppt/notesMasters/notesMaster1.xml" Id="Re297621463ba45f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95683812b9343e2" /><Relationship Type="http://schemas.openxmlformats.org/officeDocument/2006/relationships/notesMaster" Target="/ppt/notesMasters/notesMaster1.xml" Id="Rb20e97b105ce470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fcccc8250fe40b2" /><Relationship Type="http://schemas.openxmlformats.org/officeDocument/2006/relationships/notesMaster" Target="/ppt/notesMasters/notesMaster1.xml" Id="R370db463fb6542b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companion deck begins after Madhyasth Darshan has been stated on its own terms. Its task is comparative: Advaita Vedanta, contemporary metaphysical families, and empirical science are placed beside MD without treating them as one opposing camp. The aim is rigorous understanding rather than persuasion. The revised study now compares through common criteria and ends with three evidential bridge problems for MD itself.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Method controls the whole deck. The comparison does not begin by asking which pair forms an alliance. It first distinguishes kinds of answer and then applies ten common criteria. Madhyasth Darshan uses study, experiment and practice, realisation, and conduct-evidence. Advaita uses shabda, reasoning, and contemplative discrimination. Philosophy uses conceptual and phenomenological argument. Science uses observation, instrumentation, modelling, intervention, replication, and public criticism. These standards differ, but structured comparison remains possible.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Present Advaita without the shortcut that the world is simply unreal. At vyavahara it is the shared arena of bodies, duties, scripture, reasoning, and liberation. Mithya means dependent and sublatable, not sheer nothing. The decisive comparison with MD concerns final ontological weight: Advaita denies independent being to name-form at paramartha, whereas MD retains real units, relationships, and the world at the highest understanding.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revised causal account avoids assigning Samkhya’s real transformation doctrine to Advaita. The clay teaching establishes effect–cause non-difference: the effect has no being apart from its cause. Later Advaita uses vivarta for apparent name-form without alteration of Brahman. Maya and adhyasa explain dependence and mistaken identification; witness inquiry discloses the Self as Brahman. Ethics is not merely discarded after knowledge: disciplined action and loka-sangraha remain meaningful in embodied life, although agency is not ultimate.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Physicalism is not a single doctrine and it is not identical with empirical science. Identity theory, functionalism, non-reductive physicalism, emergentism, and illusionism make different commitments. Causal closure is a metaphysical interpretation of physical explanation and creates a real challenge for jeevan–body operation. The hard problem creates a counter-pressure but does not identify which non-reductive ontology is correct. The deck should keep both pressures in 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These positions are not steps on a ladder toward MD. Hylomorphism is useful for joint embodiment, Leibniz for plural persistence, process philosophy for relational becoming, and panpsychist or neutral-monist views for questioning a purely structural physical inventory. None reproduces coexistence as actionless Omnipresence with permanently distinct units, saturation, and a constitutionally complete sentient atom.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revised science section is deliberately restrained. Predictive processing and self-model theory explain aspects of embodied regulation and first-person organisation. Competing consciousness programmes propose testable mechanisms, but no consensus identifies a complete theory of consciousness. Brain-death criteria establish the irreversible end of measurable personal function; they do not, by themselves, prove a complete metaphysics of the bearer. MD therefore faces a demand for discriminating evidence, while science should not be made to assert more than its methods establish.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Cosmology and conservation discipline the discussion but do not confirm MD. A finite reconstructed cosmic history does not settle whether existence as a whole began. Conservation laws are structural features of specific physical theories, not direct evidence for perpetual MD units or personal survival. The former claim that niyati-kram directly contradicts evolution has been removed. MD names an ordered relation among natural orders; evolutionary biology explains branching histories within living populations. The missing work is a precise mapping and a possible discriminating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slide replaces the former alliance triangle. The ten criteria are: ontological primitives; one–many structure and individuation; dependence between ground and particulars; world status and persistence; causation and transformation; consciousness, selfhood, and survival; time and cosmic history; method and evidence; value, ethics, and telos; and exposure to empirical or experiential correction. Pairwise agreements remain useful only when the specific criterion is named.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first comparison table separates the philosophical inventory from scientific measurement. MD posits co-eternal Omnipresence and units; Advaita gives final reality only to Brahman; contemporary metaphysics contains several different inventories. The central self question is not merely whether experience occurs, but what individuates its bearer and whether that bearer persists. Science contributes evidence about measurable continuity and dependence but does not automatically decide the full metaphysical inventory.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Causal language must remain precise. MD’s satta is mahakaran in the sustaining sense, not an efficient maker; units really transform. Advaita teaches effect–cause non-difference and later vivarta at vyavahara, while causal plurality is not final at paramartha. Physical explanation uses several formal and historical resources rather than one universal efficient-cause doctrine. Conservation cannot be converted into direct confirmation of either Advaita or 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methods are neither interchangeable nor beyond comparison. MD’s conduct-evidence is a substantial practical standard: understanding should become visible as resolution, justice, mutual fulfilment, and participation in orderliness. Advaita claims a distinct role for Upanishadic shabda supported by reasoning and contemplation. Philosophy tests coherence and explanatory adequacy. Science tests public operational consequences. The revision keeps these warrants distinct so that success at one level is not misreported as success at every 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Shared vocabulary can obscure the central difference. Advaita’s Sat, Chit, and Ananda are not separable components but descriptions of one partless Brahman. MD distributes the relevant functions: beingness is coexistence, Omnipresence is the ground of intelligibility, and active knowing belongs to jeevan. Bliss is realised harmony in awakened living. The limited agreement concerns resistance to reducing the first person to an observed brain-state, not a common ontology of consciousness.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slide removes the old one-to-one arrows. Brahman and satta can be compared as formless and non-transforming only if their different relation to plurality is kept explicit. Atman is not equivalent to MD’s atma: Advaita’s Self is Brahman, while MD’s atma is a faculty within a distinct jeevan. Jiva and deluded jeevan share a practical problem of ignorance, but liberation has opposite implications for individuality. Maya, adhyasa, mithya, governing Ishvara, and dissolution of separate self do not transfer into 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former six-objection slide has been replaced. First, the texts clearly locate sentience in a constitutionally complete jeevan, but do not give a public procedure for identifying that constitution in contemporary physical terms. Second, persistence and reassociation follow within MD from gathanpurnata, not generic conservation; independent evidence and a measurable account of jeevan–body joint operation remain open. Third, conduct-evidence must be kept distinct from physical measurement, and niyati-kram requires a careful mapping to evolutionary explanation. The review is therefore limited to these three evidential pressures.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Advaita’s strengths include its answer to non-being, first-person disciplines, and parsimony. From MD’s standpoint its cost is the final subordination of world-plurality and separate individuality, but Advaita has a coherent answer through its standpoint structure. Physicalist theories gain precision and continuity with public science while facing the hard problem and internal disagreement. Empirical science supplies indispensable correction and mechanism without itself becoming a complete ontology. Contemporary philosophy adds further pressures from animalism, panpsychist combination, hylomorphism, and processual persistence.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MD’s internal strength is integrative: coexistence, real units, beginninglessness, self, value, relationship, and humane conduct form one picture. The revision does not treat that internal coherence as proof against rivals. Constitutional completeness is textually specific, which is stronger than an undefined appeal to emergence, but it lacks a public identifier. Persistence is grounded in that completeness within MD, yet reassociation and joint operation remain unconfirmed. Niyati-kram and evolution should be compared through explicit levels and possible discriminating consequences.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Close by returning to the distinctive two-term ontology rather than two refusals. MD keeps Omnipresence and real units co-eternal, locates change in units, preserves distinct jeevan, and gives final weight to relationships, values, and nature. Alignments are limited to particular questions: scientific realism on mind-independent nature, Advaita on resistance to reductive accounts of the knower, and several modern alternatives on the inadequacy of a simple substance picture. The unfinished work is the public evidential bridge named in Section 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0e7d3d58f724bf4"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4b7b27aa6574d63" /><Relationship Type="http://schemas.openxmlformats.org/officeDocument/2006/relationships/slideLayout" Target="/ppt/slideLayouts/slideLayout1.xml" Id="Re48c6f1c50264849"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e48c6f1c50264849"/>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59f2a09e0964137" /><Relationship Type="http://schemas.openxmlformats.org/officeDocument/2006/relationships/notesSlide" Target="/ppt/notesSlides/notesSlide1.xml" Id="R894a8640ff934ad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74738d2f0604a7f" /><Relationship Type="http://schemas.openxmlformats.org/officeDocument/2006/relationships/notesSlide" Target="/ppt/notesSlides/notesSlide2.xml" Id="Rdc40fc098bc44be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aeb59887ba9492c" /><Relationship Type="http://schemas.openxmlformats.org/officeDocument/2006/relationships/notesSlide" Target="/ppt/notesSlides/notesSlide3.xml" Id="R831b1604e331467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43bf4af57d949c4" /><Relationship Type="http://schemas.openxmlformats.org/officeDocument/2006/relationships/notesSlide" Target="/ppt/notesSlides/notesSlide4.xml" Id="R881118b0a1044b5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07989ee0bc94e0c" /><Relationship Type="http://schemas.openxmlformats.org/officeDocument/2006/relationships/notesSlide" Target="/ppt/notesSlides/notesSlide5.xml" Id="Rea14933fcd4b4c4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a8ac7a81aab4e2d" /><Relationship Type="http://schemas.openxmlformats.org/officeDocument/2006/relationships/notesSlide" Target="/ppt/notesSlides/notesSlide6.xml" Id="Rf09cf95574b0413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124de2cd3fd4ca3" /><Relationship Type="http://schemas.openxmlformats.org/officeDocument/2006/relationships/notesSlide" Target="/ppt/notesSlides/notesSlide7.xml" Id="R87eafa76dc7d458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ba8c9361ad14333" /><Relationship Type="http://schemas.openxmlformats.org/officeDocument/2006/relationships/notesSlide" Target="/ppt/notesSlides/notesSlide8.xml" Id="Ra2b1a2fb43a246c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7199bb1356540c1" /><Relationship Type="http://schemas.openxmlformats.org/officeDocument/2006/relationships/notesSlide" Target="/ppt/notesSlides/notesSlide9.xml" Id="R4968d7449b6641f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2fe99a084014572" /><Relationship Type="http://schemas.openxmlformats.org/officeDocument/2006/relationships/notesSlide" Target="/ppt/notesSlides/notesSlide10.xml" Id="R28be82e7cd424df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230cef285a3457c" /><Relationship Type="http://schemas.openxmlformats.org/officeDocument/2006/relationships/notesSlide" Target="/ppt/notesSlides/notesSlide11.xml" Id="Rbe5aaaeb908544e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984526eb8d54ffa" /><Relationship Type="http://schemas.openxmlformats.org/officeDocument/2006/relationships/notesSlide" Target="/ppt/notesSlides/notesSlide12.xml" Id="R43b2b2e18f764cb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5b0d0432f3a40b5" /><Relationship Type="http://schemas.openxmlformats.org/officeDocument/2006/relationships/notesSlide" Target="/ppt/notesSlides/notesSlide13.xml" Id="R76523d48b6894a8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fce7b94c310482b" /><Relationship Type="http://schemas.openxmlformats.org/officeDocument/2006/relationships/notesSlide" Target="/ppt/notesSlides/notesSlide14.xml" Id="R45f2175c431c4f3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15d996eb3b14dfe" /><Relationship Type="http://schemas.openxmlformats.org/officeDocument/2006/relationships/notesSlide" Target="/ppt/notesSlides/notesSlide15.xml" Id="R13c185ae8797487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b0a981c69a442b9" /><Relationship Type="http://schemas.openxmlformats.org/officeDocument/2006/relationships/notesSlide" Target="/ppt/notesSlides/notesSlide16.xml" Id="R937ca189812b490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5ad5578b90346f2" /><Relationship Type="http://schemas.openxmlformats.org/officeDocument/2006/relationships/notesSlide" Target="/ppt/notesSlides/notesSlide17.xml" Id="R23d52fe7552e44b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145728b1536498b" /><Relationship Type="http://schemas.openxmlformats.org/officeDocument/2006/relationships/notesSlide" Target="/ppt/notesSlides/notesSlide18.xml" Id="R456acbe47f4346cb"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972CBC78-3C9D-4E44-9F6F-31D7F4AD8461}"/>
              </a:ext>
            </a:extLst>
          </p:cNvPr>
          <p:cNvSpPr>
            <a:spLocks xmlns:a="http://schemas.openxmlformats.org/drawingml/2006/main" noGrp="1"/>
          </p:cNvSpPr>
          <p:nvPr/>
        </p:nvSpPr>
        <p:spPr>
          <a:xfrm xmlns:a="http://schemas.openxmlformats.org/drawingml/2006/main">
            <a:off x="6126480" y="914400"/>
            <a:ext cx="2286000" cy="228600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 name="Google Shape;17;p3">
            <a:extLst xmlns:a="http://schemas.openxmlformats.org/drawingml/2006/main">
              <a:ext uri="{FF2B5EF4-FFF2-40B4-BE49-F238E27FC236}">
                <a16:creationId xmlns:a16="http://schemas.microsoft.com/office/drawing/2014/main" id="{6BE7B54B-4E94-470B-8242-2CAD2407BE86}"/>
              </a:ext>
            </a:extLst>
          </p:cNvPr>
          <p:cNvSpPr>
            <a:spLocks xmlns:a="http://schemas.openxmlformats.org/drawingml/2006/main" noGrp="1"/>
          </p:cNvSpPr>
          <p:nvPr/>
        </p:nvSpPr>
        <p:spPr>
          <a:xfrm xmlns:a="http://schemas.openxmlformats.org/drawingml/2006/main">
            <a:off x="6583680" y="1371600"/>
            <a:ext cx="1371600" cy="137160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 name="Google Shape;18;p3">
            <a:extLst xmlns:a="http://schemas.openxmlformats.org/drawingml/2006/main">
              <a:ext uri="{FF2B5EF4-FFF2-40B4-BE49-F238E27FC236}">
                <a16:creationId xmlns:a16="http://schemas.microsoft.com/office/drawing/2014/main" id="{779673F3-6F52-41F5-BFE1-0AD60488970A}"/>
              </a:ext>
            </a:extLst>
          </p:cNvPr>
          <p:cNvSpPr>
            <a:spLocks xmlns:a="http://schemas.openxmlformats.org/drawingml/2006/main" noGrp="1"/>
          </p:cNvSpPr>
          <p:nvPr/>
        </p:nvSpPr>
        <p:spPr>
          <a:xfrm xmlns:a="http://schemas.openxmlformats.org/drawingml/2006/main">
            <a:off x="6972300" y="1760220"/>
            <a:ext cx="594360" cy="5943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 name="Google Shape;19;p3">
            <a:extLst xmlns:a="http://schemas.openxmlformats.org/drawingml/2006/main">
              <a:ext uri="{FF2B5EF4-FFF2-40B4-BE49-F238E27FC236}">
                <a16:creationId xmlns:a16="http://schemas.microsoft.com/office/drawing/2014/main" id="{559B206A-EB3C-4818-BE74-F018F0B6FE12}"/>
              </a:ext>
            </a:extLst>
          </p:cNvPr>
          <p:cNvSpPr>
            <a:spLocks xmlns:a="http://schemas.openxmlformats.org/drawingml/2006/main" noGrp="1"/>
          </p:cNvSpPr>
          <p:nvPr/>
        </p:nvSpPr>
        <p:spPr>
          <a:xfrm xmlns:a="http://schemas.openxmlformats.org/drawingml/2006/main">
            <a:off x="5623560" y="3429000"/>
            <a:ext cx="914400" cy="91440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 name="Google Shape;20;p3">
            <a:extLst xmlns:a="http://schemas.openxmlformats.org/drawingml/2006/main">
              <a:ext uri="{FF2B5EF4-FFF2-40B4-BE49-F238E27FC236}">
                <a16:creationId xmlns:a16="http://schemas.microsoft.com/office/drawing/2014/main" id="{C3D3C4F2-844F-4940-BB27-536FA64BE71A}"/>
              </a:ext>
            </a:extLst>
          </p:cNvPr>
          <p:cNvSpPr>
            <a:spLocks xmlns:a="http://schemas.openxmlformats.org/drawingml/2006/main" noGrp="1"/>
          </p:cNvSpPr>
          <p:nvPr/>
        </p:nvSpPr>
        <p:spPr>
          <a:xfrm xmlns:a="http://schemas.openxmlformats.org/drawingml/2006/main">
            <a:off x="5806440" y="3611880"/>
            <a:ext cx="548640" cy="5486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 name="Google Shape;21;p3">
            <a:extLst xmlns:a="http://schemas.openxmlformats.org/drawingml/2006/main">
              <a:ext uri="{FF2B5EF4-FFF2-40B4-BE49-F238E27FC236}">
                <a16:creationId xmlns:a16="http://schemas.microsoft.com/office/drawing/2014/main" id="{F2A6A5AD-B9CA-4DEB-B03C-B5D1EA44C804}"/>
              </a:ext>
            </a:extLst>
          </p:cNvPr>
          <p:cNvSpPr>
            <a:spLocks xmlns:a="http://schemas.openxmlformats.org/drawingml/2006/main" noGrp="1"/>
          </p:cNvSpPr>
          <p:nvPr/>
        </p:nvSpPr>
        <p:spPr>
          <a:xfrm xmlns:a="http://schemas.openxmlformats.org/drawingml/2006/main">
            <a:off x="5961888" y="3767328"/>
            <a:ext cx="237744" cy="237744"/>
          </a:xfrm>
          <a:prstGeom xmlns:a="http://schemas.openxmlformats.org/drawingml/2006/main" prst="ellipse">
            <a:avLst/>
          </a:prstGeom>
          <a:solidFill xmlns:a="http://schemas.openxmlformats.org/drawingml/2006/main">
            <a:srgbClr val="6D2E46"/>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 name="Google Shape;22;p3">
            <a:extLst xmlns:a="http://schemas.openxmlformats.org/drawingml/2006/main">
              <a:ext uri="{FF2B5EF4-FFF2-40B4-BE49-F238E27FC236}">
                <a16:creationId xmlns:a16="http://schemas.microsoft.com/office/drawing/2014/main" id="{F2575DC7-36C9-4984-8541-6DA4BE1E3225}"/>
              </a:ext>
            </a:extLst>
          </p:cNvPr>
          <p:cNvSpPr>
            <a:spLocks xmlns:a="http://schemas.openxmlformats.org/drawingml/2006/main" noGrp="1"/>
          </p:cNvSpPr>
          <p:nvPr/>
        </p:nvSpPr>
        <p:spPr>
          <a:xfrm xmlns:a="http://schemas.openxmlformats.org/drawingml/2006/main">
            <a:off x="8092440" y="3703320"/>
            <a:ext cx="777240" cy="7772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 name="Google Shape;23;p3">
            <a:extLst xmlns:a="http://schemas.openxmlformats.org/drawingml/2006/main">
              <a:ext uri="{FF2B5EF4-FFF2-40B4-BE49-F238E27FC236}">
                <a16:creationId xmlns:a16="http://schemas.microsoft.com/office/drawing/2014/main" id="{C4FE0CF1-6DB3-4F76-B6F7-DCC991F935E5}"/>
              </a:ext>
            </a:extLst>
          </p:cNvPr>
          <p:cNvSpPr>
            <a:spLocks xmlns:a="http://schemas.openxmlformats.org/drawingml/2006/main" noGrp="1"/>
          </p:cNvSpPr>
          <p:nvPr/>
        </p:nvSpPr>
        <p:spPr>
          <a:xfrm xmlns:a="http://schemas.openxmlformats.org/drawingml/2006/main">
            <a:off x="8247888" y="3858768"/>
            <a:ext cx="466344" cy="46634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 name="Google Shape;24;p3">
            <a:extLst xmlns:a="http://schemas.openxmlformats.org/drawingml/2006/main">
              <a:ext uri="{FF2B5EF4-FFF2-40B4-BE49-F238E27FC236}">
                <a16:creationId xmlns:a16="http://schemas.microsoft.com/office/drawing/2014/main" id="{D2405A84-16E3-4F37-AA51-40E54A6ED9A9}"/>
              </a:ext>
            </a:extLst>
          </p:cNvPr>
          <p:cNvSpPr>
            <a:spLocks xmlns:a="http://schemas.openxmlformats.org/drawingml/2006/main" noGrp="1"/>
          </p:cNvSpPr>
          <p:nvPr/>
        </p:nvSpPr>
        <p:spPr>
          <a:xfrm xmlns:a="http://schemas.openxmlformats.org/drawingml/2006/main">
            <a:off x="8380019" y="3990899"/>
            <a:ext cx="202082" cy="202082"/>
          </a:xfrm>
          <a:prstGeom xmlns:a="http://schemas.openxmlformats.org/drawingml/2006/main" prst="ellipse">
            <a:avLst/>
          </a:prstGeom>
          <a:solidFill xmlns:a="http://schemas.openxmlformats.org/drawingml/2006/main">
            <a:srgbClr val="31606B"/>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 name="Google Shape;25;p3">
            <a:extLst xmlns:a="http://schemas.openxmlformats.org/drawingml/2006/main">
              <a:ext uri="{FF2B5EF4-FFF2-40B4-BE49-F238E27FC236}">
                <a16:creationId xmlns:a16="http://schemas.microsoft.com/office/drawing/2014/main" id="{0F53CE42-21E9-4688-9E94-B10B3F44996B}"/>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C9821E"/>
              </a:buClr>
              <a:buSzPts val="1200"/>
              <a:buFont typeface="Calibri"/>
              <a:buNone/>
            </a:pPr>
            <a:r>
              <a:rPr sz="1200" b="1" i="0" u="none" cap="none">
                <a:solidFill>
                  <a:srgbClr val="C9821E"/>
                </a:solidFill>
                <a:latin typeface="Calibri"/>
                <a:ea typeface="Calibri"/>
                <a:cs typeface="Calibri"/>
              </a:rPr>
              <a:t>MADHYASTH DARSHAN IN DIALOGUE  ·  §§2–7</a:t>
            </a:r>
          </a:p>
        </p:txBody>
      </p:sp>
      <p:sp>
        <p:nvSpPr>
          <p:cNvPr id="26" name="Google Shape;26;p3">
            <a:extLst xmlns:a="http://schemas.openxmlformats.org/drawingml/2006/main">
              <a:ext uri="{FF2B5EF4-FFF2-40B4-BE49-F238E27FC236}">
                <a16:creationId xmlns:a16="http://schemas.microsoft.com/office/drawing/2014/main" id="{370B1332-BC45-449D-B468-B5A2194E1DC7}"/>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4200"/>
              <a:buFont typeface="Cambria"/>
              <a:buNone/>
            </a:pPr>
            <a:r>
              <a:rPr sz="4200" b="1" i="0" u="none" cap="none">
                <a:solidFill>
                  <a:srgbClr val="FFFFFF"/>
                </a:solidFill>
                <a:latin typeface="Cambria"/>
                <a:ea typeface="Cambria"/>
                <a:cs typeface="Cambria"/>
              </a:rPr>
              <a:t>Coexistence in Comparison</a:t>
            </a:r>
          </a:p>
        </p:txBody>
      </p:sp>
      <p:sp>
        <p:nvSpPr>
          <p:cNvPr id="27" name="Google Shape;27;p3">
            <a:extLst xmlns:a="http://schemas.openxmlformats.org/drawingml/2006/main">
              <a:ext uri="{FF2B5EF4-FFF2-40B4-BE49-F238E27FC236}">
                <a16:creationId xmlns:a16="http://schemas.microsoft.com/office/drawing/2014/main" id="{AD497982-B133-45E1-914D-EF547F8932E5}"/>
              </a:ext>
            </a:extLst>
          </p:cNvPr>
          <p:cNvSpPr>
            <a:spLocks xmlns:a="http://schemas.openxmlformats.org/drawingml/2006/main" noGrp="1"/>
          </p:cNvSpPr>
          <p:nvPr/>
        </p:nvSpPr>
        <p:spPr>
          <a:xfrm xmlns:a="http://schemas.openxmlformats.org/drawingml/2006/main">
            <a:off x="640080" y="2880360"/>
            <a:ext cx="512064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C9D4EF"/>
              </a:buClr>
              <a:buSzPts val="1600"/>
              <a:buFont typeface="Calibri"/>
              <a:buNone/>
            </a:pPr>
            <a:r>
              <a:rPr sz="1600" b="0" i="1" u="none" cap="none">
                <a:solidFill>
                  <a:srgbClr val="C9D4EF"/>
                </a:solidFill>
                <a:latin typeface="Calibri"/>
                <a:ea typeface="Calibri"/>
                <a:cs typeface="Calibri"/>
              </a:rPr>
              <a:t>Advaita Vedanta  ·  Contemporary Philosophy  ·  Empirical Science</a:t>
            </a:r>
          </a:p>
        </p:txBody>
      </p:sp>
      <p:sp>
        <p:nvSpPr>
          <p:cNvPr id="28" name="Google Shape;28;p3">
            <a:extLst xmlns:a="http://schemas.openxmlformats.org/drawingml/2006/main">
              <a:ext uri="{FF2B5EF4-FFF2-40B4-BE49-F238E27FC236}">
                <a16:creationId xmlns:a16="http://schemas.microsoft.com/office/drawing/2014/main" id="{A0FB1C01-3273-4BCD-8ADF-FD9ECDAEFE22}"/>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8E9BC4"/>
              </a:buClr>
              <a:buSzPts val="1150"/>
              <a:buFont typeface="Calibri"/>
              <a:buNone/>
            </a:pPr>
            <a:r>
              <a:rPr sz="1150" b="0" i="0" u="none" cap="none">
                <a:solidFill>
                  <a:srgbClr val="8E9BC4"/>
                </a:solidFill>
                <a:latin typeface="Calibri"/>
                <a:ea typeface="Calibri"/>
                <a:cs typeface="Calibri"/>
              </a:rPr>
              <a:t>A criterion-by-criterion comparison of ontology, evidence, value, and open questions</a:t>
            </a:r>
          </a:p>
        </p:txBody>
      </p:sp>
      <p:sp>
        <p:nvSpPr>
          <p:cNvPr id="29" name="Google Shape;29;p3">
            <a:extLst xmlns:a="http://schemas.openxmlformats.org/drawingml/2006/main">
              <a:ext uri="{FF2B5EF4-FFF2-40B4-BE49-F238E27FC236}">
                <a16:creationId xmlns:a16="http://schemas.microsoft.com/office/drawing/2014/main" id="{8C1967C7-754B-421D-9C5B-72658542A9ED}"/>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8E9BC4"/>
              </a:buClr>
              <a:buSzPts val="1150"/>
              <a:buFont typeface="Calibri"/>
              <a:buNone/>
            </a:pPr>
            <a:r>
              <a:rPr sz="1150" b="0" i="0" u="none" cap="none">
                <a:solidFill>
                  <a:srgbClr val="8E9BC4"/>
                </a:solidFill>
                <a:latin typeface="Calibri"/>
                <a:ea typeface="Calibri"/>
                <a:cs typeface="Calibri"/>
              </a:rPr>
              <a:t>Companion to The Ontology of Coexistence  ·  revised July 2026</a:t>
            </a:r>
          </a:p>
        </p:txBody>
      </p:sp>
    </p:spTree>
    <p:extLst>
      <p:ext uri="{BB962C8B-B14F-4D97-AF65-F5344CB8AC3E}">
        <p14:creationId xmlns:p14="http://schemas.microsoft.com/office/powerpoint/2010/main" val="183126262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DCD07A57-BEF2-4102-AEBE-0E0E80F92C5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 name="Google Shape;36;p4">
            <a:extLst xmlns:a="http://schemas.openxmlformats.org/drawingml/2006/main">
              <a:ext uri="{FF2B5EF4-FFF2-40B4-BE49-F238E27FC236}">
                <a16:creationId xmlns:a16="http://schemas.microsoft.com/office/drawing/2014/main" id="{906A4E0C-240D-4EB5-A26C-206136ED65D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 name="Google Shape;37;p4">
            <a:extLst xmlns:a="http://schemas.openxmlformats.org/drawingml/2006/main">
              <a:ext uri="{FF2B5EF4-FFF2-40B4-BE49-F238E27FC236}">
                <a16:creationId xmlns:a16="http://schemas.microsoft.com/office/drawing/2014/main" id="{BC066C91-38EC-4D55-BD2C-4CDBE76ACD2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 name="Google Shape;38;p4">
            <a:extLst xmlns:a="http://schemas.openxmlformats.org/drawingml/2006/main">
              <a:ext uri="{FF2B5EF4-FFF2-40B4-BE49-F238E27FC236}">
                <a16:creationId xmlns:a16="http://schemas.microsoft.com/office/drawing/2014/main" id="{C3EFF230-FAA3-4139-84BD-D93D808805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METHOD  ·  §§5.1, 5.3.5</a:t>
            </a:r>
          </a:p>
        </p:txBody>
      </p:sp>
      <p:sp>
        <p:nvSpPr>
          <p:cNvPr id="39" name="Google Shape;39;p4">
            <a:extLst xmlns:a="http://schemas.openxmlformats.org/drawingml/2006/main">
              <a:ext uri="{FF2B5EF4-FFF2-40B4-BE49-F238E27FC236}">
                <a16:creationId xmlns:a16="http://schemas.microsoft.com/office/drawing/2014/main" id="{1C18F4F9-F648-4088-8440-AAE26AE2D77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Compare answers at the same level</a:t>
            </a:r>
          </a:p>
        </p:txBody>
      </p:sp>
      <p:sp>
        <p:nvSpPr>
          <p:cNvPr id="40" name="Google Shape;40;p4">
            <a:extLst xmlns:a="http://schemas.openxmlformats.org/drawingml/2006/main">
              <a:ext uri="{FF2B5EF4-FFF2-40B4-BE49-F238E27FC236}">
                <a16:creationId xmlns:a16="http://schemas.microsoft.com/office/drawing/2014/main" id="{FC987DEB-04F6-40D1-A9FD-20FFC7A463F3}"/>
              </a:ext>
            </a:extLst>
          </p:cNvPr>
          <p:cNvSpPr>
            <a:spLocks xmlns:a="http://schemas.openxmlformats.org/drawingml/2006/main" noGrp="1"/>
          </p:cNvSpPr>
          <p:nvPr/>
        </p:nvSpPr>
        <p:spPr>
          <a:xfrm xmlns:a="http://schemas.openxmlformats.org/drawingml/2006/main">
            <a:off x="640080" y="1280160"/>
            <a:ext cx="795528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250"/>
              <a:buFont typeface="Calibri"/>
              <a:buNone/>
            </a:pPr>
            <a:r>
              <a:rPr sz="1250" b="1" i="0" u="none" cap="none">
                <a:solidFill>
                  <a:srgbClr val="1E2447"/>
                </a:solidFill>
                <a:latin typeface="Calibri"/>
                <a:ea typeface="Calibri"/>
                <a:cs typeface="Calibri"/>
              </a:rPr>
              <a:t>Each view is first stated in its own vocabulary. Darshanas join ontology, knowledge, liberation, and conduct; philosophical theories isolate particular problems; science supplies empirically constrained models that admit more than one metaphysical interpretation.</a:t>
            </a:r>
          </a:p>
        </p:txBody>
      </p:sp>
      <p:sp>
        <p:nvSpPr>
          <p:cNvPr id="41" name="Google Shape;41;p4">
            <a:extLst xmlns:a="http://schemas.openxmlformats.org/drawingml/2006/main">
              <a:ext uri="{FF2B5EF4-FFF2-40B4-BE49-F238E27FC236}">
                <a16:creationId xmlns:a16="http://schemas.microsoft.com/office/drawing/2014/main" id="{4C988050-D4A5-41F7-A471-55B0F725EEF9}"/>
              </a:ext>
            </a:extLst>
          </p:cNvPr>
          <p:cNvSpPr>
            <a:spLocks xmlns:a="http://schemas.openxmlformats.org/drawingml/2006/main" noGrp="1"/>
          </p:cNvSpPr>
          <p:nvPr/>
        </p:nvSpPr>
        <p:spPr>
          <a:xfrm xmlns:a="http://schemas.openxmlformats.org/drawingml/2006/main">
            <a:off x="640080"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 name="Google Shape;42;p4">
            <a:extLst xmlns:a="http://schemas.openxmlformats.org/drawingml/2006/main">
              <a:ext uri="{FF2B5EF4-FFF2-40B4-BE49-F238E27FC236}">
                <a16:creationId xmlns:a16="http://schemas.microsoft.com/office/drawing/2014/main" id="{25F64A6B-BFD6-4C38-8AB1-C301E752AEDC}"/>
              </a:ext>
            </a:extLst>
          </p:cNvPr>
          <p:cNvSpPr>
            <a:spLocks xmlns:a="http://schemas.openxmlformats.org/drawingml/2006/main" noGrp="1"/>
          </p:cNvSpPr>
          <p:nvPr/>
        </p:nvSpPr>
        <p:spPr>
          <a:xfrm xmlns:a="http://schemas.openxmlformats.org/drawingml/2006/main">
            <a:off x="841248"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Own terms first</a:t>
            </a:r>
          </a:p>
        </p:txBody>
      </p:sp>
      <p:sp>
        <p:nvSpPr>
          <p:cNvPr id="43" name="Google Shape;43;p4">
            <a:extLst xmlns:a="http://schemas.openxmlformats.org/drawingml/2006/main">
              <a:ext uri="{FF2B5EF4-FFF2-40B4-BE49-F238E27FC236}">
                <a16:creationId xmlns:a16="http://schemas.microsoft.com/office/drawing/2014/main" id="{8B319A5B-B4DB-4249-9108-CE733EB746DB}"/>
              </a:ext>
            </a:extLst>
          </p:cNvPr>
          <p:cNvSpPr>
            <a:spLocks xmlns:a="http://schemas.openxmlformats.org/drawingml/2006/main" noGrp="1"/>
          </p:cNvSpPr>
          <p:nvPr/>
        </p:nvSpPr>
        <p:spPr>
          <a:xfrm xmlns:a="http://schemas.openxmlformats.org/drawingml/2006/main">
            <a:off x="841248"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Do not force a darshana, a metaphysical theory, and an empirical model into the same explanatory role.</a:t>
            </a:r>
          </a:p>
        </p:txBody>
      </p:sp>
      <p:sp>
        <p:nvSpPr>
          <p:cNvPr id="44" name="Google Shape;44;p4">
            <a:extLst xmlns:a="http://schemas.openxmlformats.org/drawingml/2006/main">
              <a:ext uri="{FF2B5EF4-FFF2-40B4-BE49-F238E27FC236}">
                <a16:creationId xmlns:a16="http://schemas.microsoft.com/office/drawing/2014/main" id="{37D64640-FCFE-4602-98E1-6A030FD81039}"/>
              </a:ext>
            </a:extLst>
          </p:cNvPr>
          <p:cNvSpPr>
            <a:spLocks xmlns:a="http://schemas.openxmlformats.org/drawingml/2006/main" noGrp="1"/>
          </p:cNvSpPr>
          <p:nvPr/>
        </p:nvSpPr>
        <p:spPr>
          <a:xfrm xmlns:a="http://schemas.openxmlformats.org/drawingml/2006/main">
            <a:off x="3392424"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5" name="Google Shape;45;p4">
            <a:extLst xmlns:a="http://schemas.openxmlformats.org/drawingml/2006/main">
              <a:ext uri="{FF2B5EF4-FFF2-40B4-BE49-F238E27FC236}">
                <a16:creationId xmlns:a16="http://schemas.microsoft.com/office/drawing/2014/main" id="{73D2BABD-6B0B-4400-A210-437B15BCDE77}"/>
              </a:ext>
            </a:extLst>
          </p:cNvPr>
          <p:cNvSpPr>
            <a:spLocks xmlns:a="http://schemas.openxmlformats.org/drawingml/2006/main" noGrp="1"/>
          </p:cNvSpPr>
          <p:nvPr/>
        </p:nvSpPr>
        <p:spPr>
          <a:xfrm xmlns:a="http://schemas.openxmlformats.org/drawingml/2006/main">
            <a:off x="3593592"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Ten common criteria</a:t>
            </a:r>
          </a:p>
        </p:txBody>
      </p:sp>
      <p:sp>
        <p:nvSpPr>
          <p:cNvPr id="46" name="Google Shape;46;p4">
            <a:extLst xmlns:a="http://schemas.openxmlformats.org/drawingml/2006/main">
              <a:ext uri="{FF2B5EF4-FFF2-40B4-BE49-F238E27FC236}">
                <a16:creationId xmlns:a16="http://schemas.microsoft.com/office/drawing/2014/main" id="{DE596CD7-43CE-4333-A13B-065D7FA9FC52}"/>
              </a:ext>
            </a:extLst>
          </p:cNvPr>
          <p:cNvSpPr>
            <a:spLocks xmlns:a="http://schemas.openxmlformats.org/drawingml/2006/main" noGrp="1"/>
          </p:cNvSpPr>
          <p:nvPr/>
        </p:nvSpPr>
        <p:spPr>
          <a:xfrm xmlns:a="http://schemas.openxmlformats.org/drawingml/2006/main">
            <a:off x="3593592"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Compare primitives, individuation, dependence, world, change, self, time, evidence, value, and correction.</a:t>
            </a:r>
          </a:p>
        </p:txBody>
      </p:sp>
      <p:sp>
        <p:nvSpPr>
          <p:cNvPr id="47" name="Google Shape;47;p4">
            <a:extLst xmlns:a="http://schemas.openxmlformats.org/drawingml/2006/main">
              <a:ext uri="{FF2B5EF4-FFF2-40B4-BE49-F238E27FC236}">
                <a16:creationId xmlns:a16="http://schemas.microsoft.com/office/drawing/2014/main" id="{5FE4DCBA-59F9-4F78-946C-DCCB5B7320E3}"/>
              </a:ext>
            </a:extLst>
          </p:cNvPr>
          <p:cNvSpPr>
            <a:spLocks xmlns:a="http://schemas.openxmlformats.org/drawingml/2006/main" noGrp="1"/>
          </p:cNvSpPr>
          <p:nvPr/>
        </p:nvSpPr>
        <p:spPr>
          <a:xfrm xmlns:a="http://schemas.openxmlformats.org/drawingml/2006/main">
            <a:off x="6144768"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8" name="Google Shape;48;p4">
            <a:extLst xmlns:a="http://schemas.openxmlformats.org/drawingml/2006/main">
              <a:ext uri="{FF2B5EF4-FFF2-40B4-BE49-F238E27FC236}">
                <a16:creationId xmlns:a16="http://schemas.microsoft.com/office/drawing/2014/main" id="{0A151303-D1D0-432C-A09A-6D63DDCB996B}"/>
              </a:ext>
            </a:extLst>
          </p:cNvPr>
          <p:cNvSpPr>
            <a:spLocks xmlns:a="http://schemas.openxmlformats.org/drawingml/2006/main" noGrp="1"/>
          </p:cNvSpPr>
          <p:nvPr/>
        </p:nvSpPr>
        <p:spPr>
          <a:xfrm xmlns:a="http://schemas.openxmlformats.org/drawingml/2006/main">
            <a:off x="6345936"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Four forms of warrant</a:t>
            </a:r>
          </a:p>
        </p:txBody>
      </p:sp>
      <p:sp>
        <p:nvSpPr>
          <p:cNvPr id="49" name="Google Shape;49;p4">
            <a:extLst xmlns:a="http://schemas.openxmlformats.org/drawingml/2006/main">
              <a:ext uri="{FF2B5EF4-FFF2-40B4-BE49-F238E27FC236}">
                <a16:creationId xmlns:a16="http://schemas.microsoft.com/office/drawing/2014/main" id="{561A8BA4-6B53-48AD-88B0-6361DE99448A}"/>
              </a:ext>
            </a:extLst>
          </p:cNvPr>
          <p:cNvSpPr>
            <a:spLocks xmlns:a="http://schemas.openxmlformats.org/drawingml/2006/main" noGrp="1"/>
          </p:cNvSpPr>
          <p:nvPr/>
        </p:nvSpPr>
        <p:spPr>
          <a:xfrm xmlns:a="http://schemas.openxmlformats.org/drawingml/2006/main">
            <a:off x="6345936"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Keep logical grounding, first-person verification, conduct-evidence, and instrument-based confirmation distinct.</a:t>
            </a:r>
          </a:p>
        </p:txBody>
      </p:sp>
      <p:sp>
        <p:nvSpPr>
          <p:cNvPr id="50" name="Google Shape;50;p4">
            <a:extLst xmlns:a="http://schemas.openxmlformats.org/drawingml/2006/main">
              <a:ext uri="{FF2B5EF4-FFF2-40B4-BE49-F238E27FC236}">
                <a16:creationId xmlns:a16="http://schemas.microsoft.com/office/drawing/2014/main" id="{D060ABEA-F205-4F7E-83BE-27B5763BBBC4}"/>
              </a:ext>
            </a:extLst>
          </p:cNvPr>
          <p:cNvSpPr>
            <a:spLocks xmlns:a="http://schemas.openxmlformats.org/drawingml/2006/main" noGrp="1"/>
          </p:cNvSpPr>
          <p:nvPr/>
        </p:nvSpPr>
        <p:spPr>
          <a:xfrm xmlns:a="http://schemas.openxmlformats.org/drawingml/2006/main">
            <a:off x="640080" y="3749040"/>
            <a:ext cx="7863840" cy="868680"/>
          </a:xfrm>
          <a:prstGeom xmlns:a="http://schemas.openxmlformats.org/drawingml/2006/main" prst="roundRect">
            <a:avLst>
              <a:gd name="adj" fmla="val 9474"/>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 name="Google Shape;51;p4">
            <a:extLst xmlns:a="http://schemas.openxmlformats.org/drawingml/2006/main">
              <a:ext uri="{FF2B5EF4-FFF2-40B4-BE49-F238E27FC236}">
                <a16:creationId xmlns:a16="http://schemas.microsoft.com/office/drawing/2014/main" id="{1FF618BC-0883-4EC5-A594-F3454BA3ABF6}"/>
              </a:ext>
            </a:extLst>
          </p:cNvPr>
          <p:cNvSpPr>
            <a:spLocks xmlns:a="http://schemas.openxmlformats.org/drawingml/2006/main" noGrp="1"/>
          </p:cNvSpPr>
          <p:nvPr/>
        </p:nvSpPr>
        <p:spPr>
          <a:xfrm xmlns:a="http://schemas.openxmlformats.org/drawingml/2006/main">
            <a:off x="868680" y="3749040"/>
            <a:ext cx="740664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1" i="0" u="none" cap="none">
                <a:solidFill>
                  <a:srgbClr val="9A6414"/>
                </a:solidFill>
                <a:latin typeface="Calibri"/>
                <a:ea typeface="Calibri"/>
                <a:cs typeface="Calibri"/>
              </a:rPr>
              <a:t>Structured comparison: no single method settles every claim, but each view can be tested for coherence, source fidelity, explanatory reach, and fit with public knowledge.</a:t>
            </a:r>
          </a:p>
        </p:txBody>
      </p:sp>
      <p:sp>
        <p:nvSpPr>
          <p:cNvPr id="52" name="Google Shape;52;p4">
            <a:extLst xmlns:a="http://schemas.openxmlformats.org/drawingml/2006/main">
              <a:ext uri="{FF2B5EF4-FFF2-40B4-BE49-F238E27FC236}">
                <a16:creationId xmlns:a16="http://schemas.microsoft.com/office/drawing/2014/main" id="{D419B27F-8559-42A9-A284-0A3B0B50771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MD sources: MVD, SB, JV, and Hindi-checked KD  ·  Advaita and modern sources as cited in the study</a:t>
            </a:r>
          </a:p>
        </p:txBody>
      </p:sp>
    </p:spTree>
    <p:extLst>
      <p:ext uri="{BB962C8B-B14F-4D97-AF65-F5344CB8AC3E}">
        <p14:creationId xmlns:p14="http://schemas.microsoft.com/office/powerpoint/2010/main" val="21698099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8" name="Google Shape;58;p5">
            <a:extLst xmlns:a="http://schemas.openxmlformats.org/drawingml/2006/main">
              <a:ext uri="{FF2B5EF4-FFF2-40B4-BE49-F238E27FC236}">
                <a16:creationId xmlns:a16="http://schemas.microsoft.com/office/drawing/2014/main" id="{58F3CA36-905B-440F-8344-0A05AF4A26E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9" name="Google Shape;59;p5">
            <a:extLst xmlns:a="http://schemas.openxmlformats.org/drawingml/2006/main">
              <a:ext uri="{FF2B5EF4-FFF2-40B4-BE49-F238E27FC236}">
                <a16:creationId xmlns:a16="http://schemas.microsoft.com/office/drawing/2014/main" id="{921CBE96-594F-49A2-92B4-233DE73A12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0" name="Google Shape;60;p5">
            <a:extLst xmlns:a="http://schemas.openxmlformats.org/drawingml/2006/main">
              <a:ext uri="{FF2B5EF4-FFF2-40B4-BE49-F238E27FC236}">
                <a16:creationId xmlns:a16="http://schemas.microsoft.com/office/drawing/2014/main" id="{57B0FE74-8459-4218-8838-39C2821A7006}"/>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1" name="Google Shape;61;p5">
            <a:extLst xmlns:a="http://schemas.openxmlformats.org/drawingml/2006/main">
              <a:ext uri="{FF2B5EF4-FFF2-40B4-BE49-F238E27FC236}">
                <a16:creationId xmlns:a16="http://schemas.microsoft.com/office/drawing/2014/main" id="{9C28337B-8556-4B59-9DB7-26DE2278BDA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§§2.1–2.4  ·  BRAHMAN AND WORLD STATUS</a:t>
            </a:r>
          </a:p>
        </p:txBody>
      </p:sp>
      <p:sp>
        <p:nvSpPr>
          <p:cNvPr id="62" name="Google Shape;62;p5">
            <a:extLst xmlns:a="http://schemas.openxmlformats.org/drawingml/2006/main">
              <a:ext uri="{FF2B5EF4-FFF2-40B4-BE49-F238E27FC236}">
                <a16:creationId xmlns:a16="http://schemas.microsoft.com/office/drawing/2014/main" id="{5310FD23-366C-4D02-84E4-1700A447090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Advaita: robust world, dependent being</a:t>
            </a:r>
          </a:p>
        </p:txBody>
      </p:sp>
      <p:sp>
        <p:nvSpPr>
          <p:cNvPr id="63" name="Google Shape;63;p5">
            <a:extLst xmlns:a="http://schemas.openxmlformats.org/drawingml/2006/main">
              <a:ext uri="{FF2B5EF4-FFF2-40B4-BE49-F238E27FC236}">
                <a16:creationId xmlns:a16="http://schemas.microsoft.com/office/drawing/2014/main" id="{641AF86E-4782-483F-81A8-3E045D15C33D}"/>
              </a:ext>
            </a:extLst>
          </p:cNvPr>
          <p:cNvSpPr>
            <a:spLocks xmlns:a="http://schemas.openxmlformats.org/drawingml/2006/main" noGrp="1"/>
          </p:cNvSpPr>
          <p:nvPr/>
        </p:nvSpPr>
        <p:spPr>
          <a:xfrm xmlns:a="http://schemas.openxmlformats.org/drawingml/2006/main">
            <a:off x="640080" y="1280160"/>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250"/>
              <a:buFont typeface="Calibri"/>
              <a:buNone/>
            </a:pPr>
            <a:r>
              <a:rPr sz="1250" b="1" i="0" u="none" cap="none">
                <a:solidFill>
                  <a:srgbClr val="6D2E46"/>
                </a:solidFill>
                <a:latin typeface="Calibri"/>
                <a:ea typeface="Calibri"/>
                <a:cs typeface="Calibri"/>
              </a:rPr>
              <a:t>Advaita holds Brahman alone to be absolute reality. The empirical world is shared, law-governed, ethically serious, and indispensable to liberation; it is mithya because it has no independent being at paramartha.</a:t>
            </a:r>
          </a:p>
        </p:txBody>
      </p:sp>
      <p:graphicFrame>
        <p:nvGraphicFramePr>
          <p:cNvPr id="74" name="Google Shape;64;p5"/>
          <p:cNvGraphicFramePr/>
          <p:nvPr/>
        </p:nvGraphicFramePr>
        <p:xfrm>
          <a:off xmlns:a="http://schemas.openxmlformats.org/drawingml/2006/main" x="640080" y="22402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2011675"/>
                <a:gridCol w="2834650"/>
                <a:gridCol w="3017525"/>
              </a:tblGrid>
              <a:tr h="329175">
                <a:tc>
                  <a:txBody>
                    <a:bodyPr/>
                    <a:lstStyle/>
                    <a:p>
                      <a:pPr marL="0" marR="0" indent="0" algn="l">
                        <a:spcBef>
                          <a:spcPts val="0"/>
                        </a:spcBef>
                        <a:spcAft>
                          <a:spcPts val="0"/>
                        </a:spcAft>
                        <a:buClr>
                          <a:srgbClr val="FFFFFF"/>
                        </a:buClr>
                        <a:buSzPts val="1100"/>
                        <a:buFont typeface="Calibri"/>
                        <a:buNone/>
                      </a:pPr>
                      <a:r>
                        <a:rPr sz="1100" b="1" u="none" cap="none">
                          <a:solidFill>
                            <a:srgbClr val="FFFFFF"/>
                          </a:solidFill>
                          <a:latin typeface="Calibri"/>
                          <a:ea typeface="Calibri"/>
                          <a:cs typeface="Calibri"/>
                        </a:rPr>
                        <a:t>Tier</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6D2E46"/>
                    </a:solidFill>
                  </a:tcPr>
                </a:tc>
                <a:tc>
                  <a:txBody>
                    <a:bodyPr/>
                    <a:lstStyle/>
                    <a:p>
                      <a:pPr marL="0" marR="0" indent="0" algn="l">
                        <a:spcBef>
                          <a:spcPts val="0"/>
                        </a:spcBef>
                        <a:spcAft>
                          <a:spcPts val="0"/>
                        </a:spcAft>
                        <a:buClr>
                          <a:srgbClr val="FFFFFF"/>
                        </a:buClr>
                        <a:buSzPts val="1100"/>
                        <a:buFont typeface="Calibri"/>
                        <a:buNone/>
                      </a:pPr>
                      <a:r>
                        <a:rPr sz="1100" b="1" u="none" cap="none">
                          <a:solidFill>
                            <a:srgbClr val="FFFFFF"/>
                          </a:solidFill>
                          <a:latin typeface="Calibri"/>
                          <a:ea typeface="Calibri"/>
                          <a:cs typeface="Calibri"/>
                        </a:rPr>
                        <a:t>What is presented?</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6D2E46"/>
                    </a:solidFill>
                  </a:tcPr>
                </a:tc>
                <a:tc>
                  <a:txBody>
                    <a:bodyPr/>
                    <a:lstStyle/>
                    <a:p>
                      <a:pPr marL="0" marR="0" indent="0" algn="l">
                        <a:spcBef>
                          <a:spcPts val="0"/>
                        </a:spcBef>
                        <a:spcAft>
                          <a:spcPts val="0"/>
                        </a:spcAft>
                        <a:buClr>
                          <a:srgbClr val="FFFFFF"/>
                        </a:buClr>
                        <a:buSzPts val="1100"/>
                        <a:buFont typeface="Calibri"/>
                        <a:buNone/>
                      </a:pPr>
                      <a:r>
                        <a:rPr sz="1100" b="1" u="none" cap="none">
                          <a:solidFill>
                            <a:srgbClr val="FFFFFF"/>
                          </a:solidFill>
                          <a:latin typeface="Calibri"/>
                          <a:ea typeface="Calibri"/>
                          <a:cs typeface="Calibri"/>
                        </a:rPr>
                        <a:t>Status and sublation</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6D2E46"/>
                    </a:solidFill>
                  </a:tcPr>
                </a:tc>
              </a:tr>
              <a:tr h="457200">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Apparent (pratibhasika)</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Private error, dream, misperception</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Sublated by correction or waking</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r>
              <a:tr h="566925">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Empirical (vyavahara)</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Bodies, minds, Ishvara, causes, duties, science</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Shared and operationally valid; sublated by brahma-jnana</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r>
              <a:tr h="457200">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Absolute (paramartha)</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Brahman without a second</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Name-form has no independent being</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r>
            </a:tbl>
          </a:graphicData>
        </a:graphic>
      </p:graphicFrame>
      <p:sp>
        <p:nvSpPr>
          <p:cNvPr id="65" name="Google Shape;65;p5">
            <a:extLst xmlns:a="http://schemas.openxmlformats.org/drawingml/2006/main">
              <a:ext uri="{FF2B5EF4-FFF2-40B4-BE49-F238E27FC236}">
                <a16:creationId xmlns:a16="http://schemas.microsoft.com/office/drawing/2014/main" id="{129DDA08-6C54-4CC3-8895-F4CA20CE1F0C}"/>
              </a:ext>
            </a:extLst>
          </p:cNvPr>
          <p:cNvSpPr>
            <a:spLocks xmlns:a="http://schemas.openxmlformats.org/drawingml/2006/main" noGrp="1"/>
          </p:cNvSpPr>
          <p:nvPr/>
        </p:nvSpPr>
        <p:spPr>
          <a:xfrm xmlns:a="http://schemas.openxmlformats.org/drawingml/2006/main">
            <a:off x="640080" y="4251960"/>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150"/>
              <a:buFont typeface="Calibri"/>
              <a:buNone/>
            </a:pPr>
            <a:r>
              <a:rPr sz="1150" b="1" i="0" u="none" cap="none">
                <a:solidFill>
                  <a:srgbClr val="6D2E46"/>
                </a:solidFill>
                <a:latin typeface="Calibri"/>
                <a:ea typeface="Calibri"/>
                <a:cs typeface="Calibri"/>
              </a:rPr>
              <a:t>Sat–Chit–Ananda names one partless Brahman. The three tiers explain private error, shared experience, and non-dual realisation without reducing vyavahara to hallucination.</a:t>
            </a:r>
          </a:p>
        </p:txBody>
      </p:sp>
      <p:sp>
        <p:nvSpPr>
          <p:cNvPr id="66" name="Google Shape;66;p5">
            <a:extLst xmlns:a="http://schemas.openxmlformats.org/drawingml/2006/main">
              <a:ext uri="{FF2B5EF4-FFF2-40B4-BE49-F238E27FC236}">
                <a16:creationId xmlns:a16="http://schemas.microsoft.com/office/drawing/2014/main" id="{76C70AF0-1969-4028-B7ED-048F7663FA9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CU 6.2.1–2, 6.8.7  ·  MU 7  ·  VC vv. 251, 574  ·  study §§2.1–2.4</a:t>
            </a:r>
          </a:p>
        </p:txBody>
      </p:sp>
    </p:spTree>
    <p:extLst>
      <p:ext uri="{BB962C8B-B14F-4D97-AF65-F5344CB8AC3E}">
        <p14:creationId xmlns:p14="http://schemas.microsoft.com/office/powerpoint/2010/main" val="32309450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2" name="Google Shape;72;p6">
            <a:extLst xmlns:a="http://schemas.openxmlformats.org/drawingml/2006/main">
              <a:ext uri="{FF2B5EF4-FFF2-40B4-BE49-F238E27FC236}">
                <a16:creationId xmlns:a16="http://schemas.microsoft.com/office/drawing/2014/main" id="{BE3FEC1A-C792-436B-8041-66DEAC70325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3" name="Google Shape;73;p6">
            <a:extLst xmlns:a="http://schemas.openxmlformats.org/drawingml/2006/main">
              <a:ext uri="{FF2B5EF4-FFF2-40B4-BE49-F238E27FC236}">
                <a16:creationId xmlns:a16="http://schemas.microsoft.com/office/drawing/2014/main" id="{1172C087-36E6-4C5C-9CF1-2846E52CB91E}"/>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4" name="Google Shape;74;p6">
            <a:extLst xmlns:a="http://schemas.openxmlformats.org/drawingml/2006/main">
              <a:ext uri="{FF2B5EF4-FFF2-40B4-BE49-F238E27FC236}">
                <a16:creationId xmlns:a16="http://schemas.microsoft.com/office/drawing/2014/main" id="{D94BB7D0-4B22-4B0A-985E-F2B2C0003C36}"/>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5" name="Google Shape;75;p6">
            <a:extLst xmlns:a="http://schemas.openxmlformats.org/drawingml/2006/main">
              <a:ext uri="{FF2B5EF4-FFF2-40B4-BE49-F238E27FC236}">
                <a16:creationId xmlns:a16="http://schemas.microsoft.com/office/drawing/2014/main" id="{45D59775-DB7C-4927-B2CF-937B99D6B95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§§2.5–2.11  ·  DEPENDENCE, WITNESS, LIBERATION</a:t>
            </a:r>
          </a:p>
        </p:txBody>
      </p:sp>
      <p:sp>
        <p:nvSpPr>
          <p:cNvPr id="76" name="Google Shape;76;p6">
            <a:extLst xmlns:a="http://schemas.openxmlformats.org/drawingml/2006/main">
              <a:ext uri="{FF2B5EF4-FFF2-40B4-BE49-F238E27FC236}">
                <a16:creationId xmlns:a16="http://schemas.microsoft.com/office/drawing/2014/main" id="{9CAAF8E6-C529-4B3C-A5FF-C9013CC6324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Advaita’s causal and epistemic structure</a:t>
            </a:r>
          </a:p>
        </p:txBody>
      </p:sp>
      <p:sp>
        <p:nvSpPr>
          <p:cNvPr id="77" name="Google Shape;77;p6">
            <a:extLst xmlns:a="http://schemas.openxmlformats.org/drawingml/2006/main">
              <a:ext uri="{FF2B5EF4-FFF2-40B4-BE49-F238E27FC236}">
                <a16:creationId xmlns:a16="http://schemas.microsoft.com/office/drawing/2014/main" id="{59770620-85E9-49F3-8DF6-F2CB5F846368}"/>
              </a:ext>
            </a:extLst>
          </p:cNvPr>
          <p:cNvSpPr>
            <a:spLocks xmlns:a="http://schemas.openxmlformats.org/drawingml/2006/main" noGrp="1"/>
          </p:cNvSpPr>
          <p:nvPr/>
        </p:nvSpPr>
        <p:spPr>
          <a:xfrm xmlns:a="http://schemas.openxmlformats.org/drawingml/2006/main">
            <a:off x="640080" y="1325880"/>
            <a:ext cx="3794760" cy="1481328"/>
          </a:xfrm>
          <a:prstGeom xmlns:a="http://schemas.openxmlformats.org/drawingml/2006/main" prst="roundRect">
            <a:avLst>
              <a:gd name="adj" fmla="val 5556"/>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8" name="Google Shape;78;p6">
            <a:extLst xmlns:a="http://schemas.openxmlformats.org/drawingml/2006/main">
              <a:ext uri="{FF2B5EF4-FFF2-40B4-BE49-F238E27FC236}">
                <a16:creationId xmlns:a16="http://schemas.microsoft.com/office/drawing/2014/main" id="{ABF1593C-2DBA-4ABD-A96E-A6407E00CDCF}"/>
              </a:ext>
            </a:extLst>
          </p:cNvPr>
          <p:cNvSpPr>
            <a:spLocks xmlns:a="http://schemas.openxmlformats.org/drawingml/2006/main" noGrp="1"/>
          </p:cNvSpPr>
          <p:nvPr/>
        </p:nvSpPr>
        <p:spPr>
          <a:xfrm xmlns:a="http://schemas.openxmlformats.org/drawingml/2006/main">
            <a:off x="841248" y="1453896"/>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350"/>
              <a:buFont typeface="Cambria"/>
              <a:buNone/>
            </a:pPr>
            <a:r>
              <a:rPr sz="1350" b="1" i="0" u="none" cap="none">
                <a:solidFill>
                  <a:srgbClr val="6D2E46"/>
                </a:solidFill>
                <a:latin typeface="Cambria"/>
                <a:ea typeface="Cambria"/>
                <a:cs typeface="Cambria"/>
              </a:rPr>
              <a:t>Effect–cause non-difference</a:t>
            </a:r>
          </a:p>
        </p:txBody>
      </p:sp>
      <p:sp>
        <p:nvSpPr>
          <p:cNvPr id="79" name="Google Shape;79;p6">
            <a:extLst xmlns:a="http://schemas.openxmlformats.org/drawingml/2006/main">
              <a:ext uri="{FF2B5EF4-FFF2-40B4-BE49-F238E27FC236}">
                <a16:creationId xmlns:a16="http://schemas.microsoft.com/office/drawing/2014/main" id="{E6381160-B5DB-4FC8-A835-7D90258E5F08}"/>
              </a:ext>
            </a:extLst>
          </p:cNvPr>
          <p:cNvSpPr>
            <a:spLocks xmlns:a="http://schemas.openxmlformats.org/drawingml/2006/main" noGrp="1"/>
          </p:cNvSpPr>
          <p:nvPr/>
        </p:nvSpPr>
        <p:spPr>
          <a:xfrm xmlns:a="http://schemas.openxmlformats.org/drawingml/2006/main">
            <a:off x="841248" y="1783080"/>
            <a:ext cx="3429000" cy="9326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The effect has no being apart from its cause. Later Advaita calls name-form on changeless Brahman vivarta—not a second real transformation.</a:t>
            </a:r>
          </a:p>
        </p:txBody>
      </p:sp>
      <p:sp>
        <p:nvSpPr>
          <p:cNvPr id="80" name="Google Shape;80;p6">
            <a:extLst xmlns:a="http://schemas.openxmlformats.org/drawingml/2006/main">
              <a:ext uri="{FF2B5EF4-FFF2-40B4-BE49-F238E27FC236}">
                <a16:creationId xmlns:a16="http://schemas.microsoft.com/office/drawing/2014/main" id="{8515BA5B-2BDA-4E3A-9685-CD83D594BCC9}"/>
              </a:ext>
            </a:extLst>
          </p:cNvPr>
          <p:cNvSpPr>
            <a:spLocks xmlns:a="http://schemas.openxmlformats.org/drawingml/2006/main" noGrp="1"/>
          </p:cNvSpPr>
          <p:nvPr/>
        </p:nvSpPr>
        <p:spPr>
          <a:xfrm xmlns:a="http://schemas.openxmlformats.org/drawingml/2006/main">
            <a:off x="4709160" y="1325880"/>
            <a:ext cx="3794760" cy="1481328"/>
          </a:xfrm>
          <a:prstGeom xmlns:a="http://schemas.openxmlformats.org/drawingml/2006/main" prst="roundRect">
            <a:avLst>
              <a:gd name="adj" fmla="val 5556"/>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1" name="Google Shape;81;p6">
            <a:extLst xmlns:a="http://schemas.openxmlformats.org/drawingml/2006/main">
              <a:ext uri="{FF2B5EF4-FFF2-40B4-BE49-F238E27FC236}">
                <a16:creationId xmlns:a16="http://schemas.microsoft.com/office/drawing/2014/main" id="{4052F00E-C402-4B10-9B92-CF0529604C6E}"/>
              </a:ext>
            </a:extLst>
          </p:cNvPr>
          <p:cNvSpPr>
            <a:spLocks xmlns:a="http://schemas.openxmlformats.org/drawingml/2006/main" noGrp="1"/>
          </p:cNvSpPr>
          <p:nvPr/>
        </p:nvSpPr>
        <p:spPr>
          <a:xfrm xmlns:a="http://schemas.openxmlformats.org/drawingml/2006/main">
            <a:off x="4910328" y="1453896"/>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350"/>
              <a:buFont typeface="Cambria"/>
              <a:buNone/>
            </a:pPr>
            <a:r>
              <a:rPr sz="1350" b="1" i="0" u="none" cap="none">
                <a:solidFill>
                  <a:srgbClr val="6D2E46"/>
                </a:solidFill>
                <a:latin typeface="Cambria"/>
                <a:ea typeface="Cambria"/>
                <a:cs typeface="Cambria"/>
              </a:rPr>
              <a:t>Maya and adhyasa</a:t>
            </a:r>
          </a:p>
        </p:txBody>
      </p:sp>
      <p:sp>
        <p:nvSpPr>
          <p:cNvPr id="82" name="Google Shape;82;p6">
            <a:extLst xmlns:a="http://schemas.openxmlformats.org/drawingml/2006/main">
              <a:ext uri="{FF2B5EF4-FFF2-40B4-BE49-F238E27FC236}">
                <a16:creationId xmlns:a16="http://schemas.microsoft.com/office/drawing/2014/main" id="{6AFE96EC-7EC6-4F04-8369-346CAEEFBA1B}"/>
              </a:ext>
            </a:extLst>
          </p:cNvPr>
          <p:cNvSpPr>
            <a:spLocks xmlns:a="http://schemas.openxmlformats.org/drawingml/2006/main" noGrp="1"/>
          </p:cNvSpPr>
          <p:nvPr/>
        </p:nvSpPr>
        <p:spPr>
          <a:xfrm xmlns:a="http://schemas.openxmlformats.org/drawingml/2006/main">
            <a:off x="4910328" y="1783080"/>
            <a:ext cx="3429000" cy="9326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Later accounts speak of concealment and projection; Shankara’s load-bearing claim is superimposition and the dependent status of name-form.</a:t>
            </a:r>
          </a:p>
        </p:txBody>
      </p:sp>
      <p:sp>
        <p:nvSpPr>
          <p:cNvPr id="83" name="Google Shape;83;p6">
            <a:extLst xmlns:a="http://schemas.openxmlformats.org/drawingml/2006/main">
              <a:ext uri="{FF2B5EF4-FFF2-40B4-BE49-F238E27FC236}">
                <a16:creationId xmlns:a16="http://schemas.microsoft.com/office/drawing/2014/main" id="{551EDC4C-B601-4B99-BA05-81228680348C}"/>
              </a:ext>
            </a:extLst>
          </p:cNvPr>
          <p:cNvSpPr>
            <a:spLocks xmlns:a="http://schemas.openxmlformats.org/drawingml/2006/main" noGrp="1"/>
          </p:cNvSpPr>
          <p:nvPr/>
        </p:nvSpPr>
        <p:spPr>
          <a:xfrm xmlns:a="http://schemas.openxmlformats.org/drawingml/2006/main">
            <a:off x="640080" y="2971800"/>
            <a:ext cx="3794760" cy="1481328"/>
          </a:xfrm>
          <a:prstGeom xmlns:a="http://schemas.openxmlformats.org/drawingml/2006/main" prst="roundRect">
            <a:avLst>
              <a:gd name="adj" fmla="val 5556"/>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4" name="Google Shape;84;p6">
            <a:extLst xmlns:a="http://schemas.openxmlformats.org/drawingml/2006/main">
              <a:ext uri="{FF2B5EF4-FFF2-40B4-BE49-F238E27FC236}">
                <a16:creationId xmlns:a16="http://schemas.microsoft.com/office/drawing/2014/main" id="{08ED678B-CAAB-4762-A3D4-14A54322283C}"/>
              </a:ext>
            </a:extLst>
          </p:cNvPr>
          <p:cNvSpPr>
            <a:spLocks xmlns:a="http://schemas.openxmlformats.org/drawingml/2006/main" noGrp="1"/>
          </p:cNvSpPr>
          <p:nvPr/>
        </p:nvSpPr>
        <p:spPr>
          <a:xfrm xmlns:a="http://schemas.openxmlformats.org/drawingml/2006/main">
            <a:off x="841248" y="3099816"/>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350"/>
              <a:buFont typeface="Cambria"/>
              <a:buNone/>
            </a:pPr>
            <a:r>
              <a:rPr sz="1350" b="1" i="0" u="none" cap="none">
                <a:solidFill>
                  <a:srgbClr val="6D2E46"/>
                </a:solidFill>
                <a:latin typeface="Cambria"/>
                <a:ea typeface="Cambria"/>
                <a:cs typeface="Cambria"/>
              </a:rPr>
              <a:t>Witness-consciousness</a:t>
            </a:r>
          </a:p>
        </p:txBody>
      </p:sp>
      <p:sp>
        <p:nvSpPr>
          <p:cNvPr id="85" name="Google Shape;85;p6">
            <a:extLst xmlns:a="http://schemas.openxmlformats.org/drawingml/2006/main">
              <a:ext uri="{FF2B5EF4-FFF2-40B4-BE49-F238E27FC236}">
                <a16:creationId xmlns:a16="http://schemas.microsoft.com/office/drawing/2014/main" id="{86492237-FF84-4407-BDB5-8AE57FB08AB9}"/>
              </a:ext>
            </a:extLst>
          </p:cNvPr>
          <p:cNvSpPr>
            <a:spLocks xmlns:a="http://schemas.openxmlformats.org/drawingml/2006/main" noGrp="1"/>
          </p:cNvSpPr>
          <p:nvPr/>
        </p:nvSpPr>
        <p:spPr>
          <a:xfrm xmlns:a="http://schemas.openxmlformats.org/drawingml/2006/main">
            <a:off x="841248" y="3429000"/>
            <a:ext cx="3429000" cy="9326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Seer–seen discrimination and three-state analysis disclose non-objectifiable awareness, finally Brahman rather than an individual substance.</a:t>
            </a:r>
          </a:p>
        </p:txBody>
      </p:sp>
      <p:sp>
        <p:nvSpPr>
          <p:cNvPr id="86" name="Google Shape;86;p6">
            <a:extLst xmlns:a="http://schemas.openxmlformats.org/drawingml/2006/main">
              <a:ext uri="{FF2B5EF4-FFF2-40B4-BE49-F238E27FC236}">
                <a16:creationId xmlns:a16="http://schemas.microsoft.com/office/drawing/2014/main" id="{1840FB16-D1DD-40AF-9C23-C7375900FA6B}"/>
              </a:ext>
            </a:extLst>
          </p:cNvPr>
          <p:cNvSpPr>
            <a:spLocks xmlns:a="http://schemas.openxmlformats.org/drawingml/2006/main" noGrp="1"/>
          </p:cNvSpPr>
          <p:nvPr/>
        </p:nvSpPr>
        <p:spPr>
          <a:xfrm xmlns:a="http://schemas.openxmlformats.org/drawingml/2006/main">
            <a:off x="4709160" y="2971800"/>
            <a:ext cx="3794760" cy="1481328"/>
          </a:xfrm>
          <a:prstGeom xmlns:a="http://schemas.openxmlformats.org/drawingml/2006/main" prst="roundRect">
            <a:avLst>
              <a:gd name="adj" fmla="val 5556"/>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7" name="Google Shape;87;p6">
            <a:extLst xmlns:a="http://schemas.openxmlformats.org/drawingml/2006/main">
              <a:ext uri="{FF2B5EF4-FFF2-40B4-BE49-F238E27FC236}">
                <a16:creationId xmlns:a16="http://schemas.microsoft.com/office/drawing/2014/main" id="{EA480CE3-67A1-485E-B0F3-0799FE2234CF}"/>
              </a:ext>
            </a:extLst>
          </p:cNvPr>
          <p:cNvSpPr>
            <a:spLocks xmlns:a="http://schemas.openxmlformats.org/drawingml/2006/main" noGrp="1"/>
          </p:cNvSpPr>
          <p:nvPr/>
        </p:nvSpPr>
        <p:spPr>
          <a:xfrm xmlns:a="http://schemas.openxmlformats.org/drawingml/2006/main">
            <a:off x="4910328" y="3099816"/>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350"/>
              <a:buFont typeface="Cambria"/>
              <a:buNone/>
            </a:pPr>
            <a:r>
              <a:rPr sz="1350" b="1" i="0" u="none" cap="none">
                <a:solidFill>
                  <a:srgbClr val="6D2E46"/>
                </a:solidFill>
                <a:latin typeface="Cambria"/>
                <a:ea typeface="Cambria"/>
                <a:cs typeface="Cambria"/>
              </a:rPr>
              <a:t>Liberation and conduct</a:t>
            </a:r>
          </a:p>
        </p:txBody>
      </p:sp>
      <p:sp>
        <p:nvSpPr>
          <p:cNvPr id="88" name="Google Shape;88;p6">
            <a:extLst xmlns:a="http://schemas.openxmlformats.org/drawingml/2006/main">
              <a:ext uri="{FF2B5EF4-FFF2-40B4-BE49-F238E27FC236}">
                <a16:creationId xmlns:a16="http://schemas.microsoft.com/office/drawing/2014/main" id="{4C74F918-5400-4E2C-BE0E-2A044BD72011}"/>
              </a:ext>
            </a:extLst>
          </p:cNvPr>
          <p:cNvSpPr>
            <a:spLocks xmlns:a="http://schemas.openxmlformats.org/drawingml/2006/main" noGrp="1"/>
          </p:cNvSpPr>
          <p:nvPr/>
        </p:nvSpPr>
        <p:spPr>
          <a:xfrm xmlns:a="http://schemas.openxmlformats.org/drawingml/2006/main">
            <a:off x="4910328" y="3429000"/>
            <a:ext cx="3429000" cy="9326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Shabda, reasoning, and contemplation remove ignorance. Dharma and loka-sangraha remain meaningful expressions of knowledge in embodied life.</a:t>
            </a:r>
          </a:p>
        </p:txBody>
      </p:sp>
      <p:sp>
        <p:nvSpPr>
          <p:cNvPr id="89" name="Google Shape;89;p6">
            <a:extLst xmlns:a="http://schemas.openxmlformats.org/drawingml/2006/main">
              <a:ext uri="{FF2B5EF4-FFF2-40B4-BE49-F238E27FC236}">
                <a16:creationId xmlns:a16="http://schemas.microsoft.com/office/drawing/2014/main" id="{734778C3-8B12-466D-81A8-3CF737654E7F}"/>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BS 2.1.14 with Shankara  ·  DDV vv. 1–5  ·  MU vv. 3–7  ·  BG 3.8, 3.20–26  ·  study §§2.5–2.11</a:t>
            </a:r>
          </a:p>
        </p:txBody>
      </p:sp>
    </p:spTree>
    <p:extLst>
      <p:ext uri="{BB962C8B-B14F-4D97-AF65-F5344CB8AC3E}">
        <p14:creationId xmlns:p14="http://schemas.microsoft.com/office/powerpoint/2010/main" val="58210085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5" name="Google Shape;95;p7">
            <a:extLst xmlns:a="http://schemas.openxmlformats.org/drawingml/2006/main">
              <a:ext uri="{FF2B5EF4-FFF2-40B4-BE49-F238E27FC236}">
                <a16:creationId xmlns:a16="http://schemas.microsoft.com/office/drawing/2014/main" id="{2BE5CE71-FA13-47A3-BEF0-A489EEA95DA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6" name="Google Shape;96;p7">
            <a:extLst xmlns:a="http://schemas.openxmlformats.org/drawingml/2006/main">
              <a:ext uri="{FF2B5EF4-FFF2-40B4-BE49-F238E27FC236}">
                <a16:creationId xmlns:a16="http://schemas.microsoft.com/office/drawing/2014/main" id="{70BB1ECA-D6BF-4F1E-8561-79F85312571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7" name="Google Shape;97;p7">
            <a:extLst xmlns:a="http://schemas.openxmlformats.org/drawingml/2006/main">
              <a:ext uri="{FF2B5EF4-FFF2-40B4-BE49-F238E27FC236}">
                <a16:creationId xmlns:a16="http://schemas.microsoft.com/office/drawing/2014/main" id="{F291A038-A60D-4B03-89D2-BAF2307F71D6}"/>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8" name="Google Shape;98;p7">
            <a:extLst xmlns:a="http://schemas.openxmlformats.org/drawingml/2006/main">
              <a:ext uri="{FF2B5EF4-FFF2-40B4-BE49-F238E27FC236}">
                <a16:creationId xmlns:a16="http://schemas.microsoft.com/office/drawing/2014/main" id="{C3A613B5-36E3-48FE-A4A5-604F9FD829E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§§3.1–3.4  ·  PHYSICALIST FAMILY</a:t>
            </a:r>
          </a:p>
        </p:txBody>
      </p:sp>
      <p:sp>
        <p:nvSpPr>
          <p:cNvPr id="99" name="Google Shape;99;p7">
            <a:extLst xmlns:a="http://schemas.openxmlformats.org/drawingml/2006/main">
              <a:ext uri="{FF2B5EF4-FFF2-40B4-BE49-F238E27FC236}">
                <a16:creationId xmlns:a16="http://schemas.microsoft.com/office/drawing/2014/main" id="{09CDA1E4-AAE8-4B62-8071-A50B5CA7C1E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Physicalism is one family—not science</a:t>
            </a:r>
          </a:p>
        </p:txBody>
      </p:sp>
      <p:sp>
        <p:nvSpPr>
          <p:cNvPr id="100" name="Google Shape;100;p7">
            <a:extLst xmlns:a="http://schemas.openxmlformats.org/drawingml/2006/main">
              <a:ext uri="{FF2B5EF4-FFF2-40B4-BE49-F238E27FC236}">
                <a16:creationId xmlns:a16="http://schemas.microsoft.com/office/drawing/2014/main" id="{E1C511D0-D8A6-4B8B-AF13-9FA3D61AA61D}"/>
              </a:ext>
            </a:extLst>
          </p:cNvPr>
          <p:cNvSpPr>
            <a:spLocks xmlns:a="http://schemas.openxmlformats.org/drawingml/2006/main" noGrp="1"/>
          </p:cNvSpPr>
          <p:nvPr/>
        </p:nvSpPr>
        <p:spPr>
          <a:xfrm xmlns:a="http://schemas.openxmlformats.org/drawingml/2006/main">
            <a:off x="640080" y="128016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250"/>
              <a:buFont typeface="Calibri"/>
              <a:buNone/>
            </a:pPr>
            <a:r>
              <a:rPr sz="1250" b="1" i="0" u="none" cap="none">
                <a:solidFill>
                  <a:srgbClr val="31606B"/>
                </a:solidFill>
                <a:latin typeface="Calibri"/>
                <a:ea typeface="Calibri"/>
                <a:cs typeface="Calibri"/>
              </a:rPr>
              <a:t>Physicalist positions share physical dependence, but differ over reduction, functional role, higher-level organisation, and causal powers. Causal closure pressures a distinct jeevan; the hard problem pressures reductive sufficiency.</a:t>
            </a:r>
          </a:p>
        </p:txBody>
      </p:sp>
      <p:sp>
        <p:nvSpPr>
          <p:cNvPr id="101" name="Google Shape;101;p7">
            <a:extLst xmlns:a="http://schemas.openxmlformats.org/drawingml/2006/main">
              <a:ext uri="{FF2B5EF4-FFF2-40B4-BE49-F238E27FC236}">
                <a16:creationId xmlns:a16="http://schemas.microsoft.com/office/drawing/2014/main" id="{7CBE39CF-68CA-48FA-B523-75A1CC830F66}"/>
              </a:ext>
            </a:extLst>
          </p:cNvPr>
          <p:cNvSpPr>
            <a:spLocks xmlns:a="http://schemas.openxmlformats.org/drawingml/2006/main" noGrp="1"/>
          </p:cNvSpPr>
          <p:nvPr/>
        </p:nvSpPr>
        <p:spPr>
          <a:xfrm xmlns:a="http://schemas.openxmlformats.org/drawingml/2006/main">
            <a:off x="640080" y="2103120"/>
            <a:ext cx="7863840" cy="713232"/>
          </a:xfrm>
          <a:prstGeom xmlns:a="http://schemas.openxmlformats.org/drawingml/2006/main" prst="roundRect">
            <a:avLst>
              <a:gd name="adj" fmla="val 11538"/>
            </a:avLst>
          </a:prstGeom>
          <a:solidFill xmlns:a="http://schemas.openxmlformats.org/drawingml/2006/main">
            <a:srgbClr val="EAF1F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2" name="Google Shape;102;p7">
            <a:extLst xmlns:a="http://schemas.openxmlformats.org/drawingml/2006/main">
              <a:ext uri="{FF2B5EF4-FFF2-40B4-BE49-F238E27FC236}">
                <a16:creationId xmlns:a16="http://schemas.microsoft.com/office/drawing/2014/main" id="{34211F3E-1F98-4714-A5E3-BC4F25E0F7E8}"/>
              </a:ext>
            </a:extLst>
          </p:cNvPr>
          <p:cNvSpPr>
            <a:spLocks xmlns:a="http://schemas.openxmlformats.org/drawingml/2006/main" noGrp="1"/>
          </p:cNvSpPr>
          <p:nvPr/>
        </p:nvSpPr>
        <p:spPr>
          <a:xfrm xmlns:a="http://schemas.openxmlformats.org/drawingml/2006/main">
            <a:off x="868680" y="2103120"/>
            <a:ext cx="7406640" cy="7132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150"/>
              <a:buFont typeface="Calibri"/>
              <a:buNone/>
            </a:pPr>
            <a:r>
              <a:rPr sz="1150" b="1" i="0" u="none" cap="none">
                <a:solidFill>
                  <a:srgbClr val="31606B"/>
                </a:solidFill>
                <a:latin typeface="Calibri"/>
                <a:ea typeface="Calibri"/>
                <a:cs typeface="Calibri"/>
              </a:rPr>
              <a:t>The explanatory fork: brain–experience correlation is secure, yet why processing is accompanied by subjectivity remains disputed. That gap is neither proof of jeevan nor proof that matter-only explanation will succeed.</a:t>
            </a:r>
          </a:p>
        </p:txBody>
      </p:sp>
      <p:sp>
        <p:nvSpPr>
          <p:cNvPr id="103" name="Google Shape;103;p7">
            <a:extLst xmlns:a="http://schemas.openxmlformats.org/drawingml/2006/main">
              <a:ext uri="{FF2B5EF4-FFF2-40B4-BE49-F238E27FC236}">
                <a16:creationId xmlns:a16="http://schemas.microsoft.com/office/drawing/2014/main" id="{3478ABA9-6DBC-488F-97FB-EDD9B6FFB9BA}"/>
              </a:ext>
            </a:extLst>
          </p:cNvPr>
          <p:cNvSpPr>
            <a:spLocks xmlns:a="http://schemas.openxmlformats.org/drawingml/2006/main" noGrp="1"/>
          </p:cNvSpPr>
          <p:nvPr/>
        </p:nvSpPr>
        <p:spPr>
          <a:xfrm xmlns:a="http://schemas.openxmlformats.org/drawingml/2006/main">
            <a:off x="640080" y="3017520"/>
            <a:ext cx="2615184" cy="1463040"/>
          </a:xfrm>
          <a:prstGeom xmlns:a="http://schemas.openxmlformats.org/drawingml/2006/main" prst="roundRect">
            <a:avLst>
              <a:gd name="adj" fmla="val 625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4" name="Google Shape;104;p7">
            <a:extLst xmlns:a="http://schemas.openxmlformats.org/drawingml/2006/main">
              <a:ext uri="{FF2B5EF4-FFF2-40B4-BE49-F238E27FC236}">
                <a16:creationId xmlns:a16="http://schemas.microsoft.com/office/drawing/2014/main" id="{F6B46871-5E84-41D1-9824-3152A91D918A}"/>
              </a:ext>
            </a:extLst>
          </p:cNvPr>
          <p:cNvSpPr>
            <a:spLocks xmlns:a="http://schemas.openxmlformats.org/drawingml/2006/main" noGrp="1"/>
          </p:cNvSpPr>
          <p:nvPr/>
        </p:nvSpPr>
        <p:spPr>
          <a:xfrm xmlns:a="http://schemas.openxmlformats.org/drawingml/2006/main">
            <a:off x="822960" y="3145536"/>
            <a:ext cx="2286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300"/>
              <a:buFont typeface="Cambria"/>
              <a:buNone/>
            </a:pPr>
            <a:r>
              <a:rPr sz="1300" b="1" i="0" u="none" cap="none">
                <a:solidFill>
                  <a:srgbClr val="1E2447"/>
                </a:solidFill>
                <a:latin typeface="Cambria"/>
                <a:ea typeface="Cambria"/>
                <a:cs typeface="Cambria"/>
              </a:rPr>
              <a:t>Reductive and identity views</a:t>
            </a:r>
          </a:p>
        </p:txBody>
      </p:sp>
      <p:sp>
        <p:nvSpPr>
          <p:cNvPr id="105" name="Google Shape;105;p7">
            <a:extLst xmlns:a="http://schemas.openxmlformats.org/drawingml/2006/main">
              <a:ext uri="{FF2B5EF4-FFF2-40B4-BE49-F238E27FC236}">
                <a16:creationId xmlns:a16="http://schemas.microsoft.com/office/drawing/2014/main" id="{3A30417E-DBFB-4CAF-B098-5CD2116A7014}"/>
              </a:ext>
            </a:extLst>
          </p:cNvPr>
          <p:cNvSpPr>
            <a:spLocks xmlns:a="http://schemas.openxmlformats.org/drawingml/2006/main" noGrp="1"/>
          </p:cNvSpPr>
          <p:nvPr/>
        </p:nvSpPr>
        <p:spPr>
          <a:xfrm xmlns:a="http://schemas.openxmlformats.org/drawingml/2006/main">
            <a:off x="822960" y="3456432"/>
            <a:ext cx="2286000" cy="9601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80"/>
              <a:buFont typeface="Calibri"/>
              <a:buNone/>
            </a:pPr>
            <a:r>
              <a:rPr sz="980" b="0" i="0" u="none" cap="none">
                <a:solidFill>
                  <a:srgbClr val="5A6377"/>
                </a:solidFill>
                <a:latin typeface="Calibri"/>
                <a:ea typeface="Calibri"/>
                <a:cs typeface="Calibri"/>
              </a:rPr>
              <a:t>Mental phenomena are identical with, or reducible to, physical states and processes.</a:t>
            </a:r>
          </a:p>
        </p:txBody>
      </p:sp>
      <p:sp>
        <p:nvSpPr>
          <p:cNvPr id="106" name="Google Shape;106;p7">
            <a:extLst xmlns:a="http://schemas.openxmlformats.org/drawingml/2006/main">
              <a:ext uri="{FF2B5EF4-FFF2-40B4-BE49-F238E27FC236}">
                <a16:creationId xmlns:a16="http://schemas.microsoft.com/office/drawing/2014/main" id="{51893B08-112D-4A01-A69A-7AE50DD7DA62}"/>
              </a:ext>
            </a:extLst>
          </p:cNvPr>
          <p:cNvSpPr>
            <a:spLocks xmlns:a="http://schemas.openxmlformats.org/drawingml/2006/main" noGrp="1"/>
          </p:cNvSpPr>
          <p:nvPr/>
        </p:nvSpPr>
        <p:spPr>
          <a:xfrm xmlns:a="http://schemas.openxmlformats.org/drawingml/2006/main">
            <a:off x="3392424" y="3017520"/>
            <a:ext cx="2615184" cy="1463040"/>
          </a:xfrm>
          <a:prstGeom xmlns:a="http://schemas.openxmlformats.org/drawingml/2006/main" prst="roundRect">
            <a:avLst>
              <a:gd name="adj" fmla="val 625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7" name="Google Shape;107;p7">
            <a:extLst xmlns:a="http://schemas.openxmlformats.org/drawingml/2006/main">
              <a:ext uri="{FF2B5EF4-FFF2-40B4-BE49-F238E27FC236}">
                <a16:creationId xmlns:a16="http://schemas.microsoft.com/office/drawing/2014/main" id="{F76DA5EF-C092-45D2-9D0C-2A2BC2E3F9BE}"/>
              </a:ext>
            </a:extLst>
          </p:cNvPr>
          <p:cNvSpPr>
            <a:spLocks xmlns:a="http://schemas.openxmlformats.org/drawingml/2006/main" noGrp="1"/>
          </p:cNvSpPr>
          <p:nvPr/>
        </p:nvSpPr>
        <p:spPr>
          <a:xfrm xmlns:a="http://schemas.openxmlformats.org/drawingml/2006/main">
            <a:off x="3575304" y="3145536"/>
            <a:ext cx="2286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300"/>
              <a:buFont typeface="Cambria"/>
              <a:buNone/>
            </a:pPr>
            <a:r>
              <a:rPr sz="1300" b="1" i="0" u="none" cap="none">
                <a:solidFill>
                  <a:srgbClr val="1E2447"/>
                </a:solidFill>
                <a:latin typeface="Cambria"/>
                <a:ea typeface="Cambria"/>
                <a:cs typeface="Cambria"/>
              </a:rPr>
              <a:t>Functional and non-reductive views</a:t>
            </a:r>
          </a:p>
        </p:txBody>
      </p:sp>
      <p:sp>
        <p:nvSpPr>
          <p:cNvPr id="108" name="Google Shape;108;p7">
            <a:extLst xmlns:a="http://schemas.openxmlformats.org/drawingml/2006/main">
              <a:ext uri="{FF2B5EF4-FFF2-40B4-BE49-F238E27FC236}">
                <a16:creationId xmlns:a16="http://schemas.microsoft.com/office/drawing/2014/main" id="{E2CCDE9F-7633-4C68-8B60-F1C9ADE0225D}"/>
              </a:ext>
            </a:extLst>
          </p:cNvPr>
          <p:cNvSpPr>
            <a:spLocks xmlns:a="http://schemas.openxmlformats.org/drawingml/2006/main" noGrp="1"/>
          </p:cNvSpPr>
          <p:nvPr/>
        </p:nvSpPr>
        <p:spPr>
          <a:xfrm xmlns:a="http://schemas.openxmlformats.org/drawingml/2006/main">
            <a:off x="3575304" y="3456432"/>
            <a:ext cx="2286000" cy="9601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80"/>
              <a:buFont typeface="Calibri"/>
              <a:buNone/>
            </a:pPr>
            <a:r>
              <a:rPr sz="980" b="0" i="0" u="none" cap="none">
                <a:solidFill>
                  <a:srgbClr val="5A6377"/>
                </a:solidFill>
                <a:latin typeface="Calibri"/>
                <a:ea typeface="Calibri"/>
                <a:cs typeface="Calibri"/>
              </a:rPr>
              <a:t>Mental states are individuated by role or higher-level organisation while remaining physically dependent.</a:t>
            </a:r>
          </a:p>
        </p:txBody>
      </p:sp>
      <p:sp>
        <p:nvSpPr>
          <p:cNvPr id="109" name="Google Shape;109;p7">
            <a:extLst xmlns:a="http://schemas.openxmlformats.org/drawingml/2006/main">
              <a:ext uri="{FF2B5EF4-FFF2-40B4-BE49-F238E27FC236}">
                <a16:creationId xmlns:a16="http://schemas.microsoft.com/office/drawing/2014/main" id="{5501242C-A45C-4036-B742-A2BD3193E902}"/>
              </a:ext>
            </a:extLst>
          </p:cNvPr>
          <p:cNvSpPr>
            <a:spLocks xmlns:a="http://schemas.openxmlformats.org/drawingml/2006/main" noGrp="1"/>
          </p:cNvSpPr>
          <p:nvPr/>
        </p:nvSpPr>
        <p:spPr>
          <a:xfrm xmlns:a="http://schemas.openxmlformats.org/drawingml/2006/main">
            <a:off x="6144768" y="3017520"/>
            <a:ext cx="2615184" cy="1463040"/>
          </a:xfrm>
          <a:prstGeom xmlns:a="http://schemas.openxmlformats.org/drawingml/2006/main" prst="roundRect">
            <a:avLst>
              <a:gd name="adj" fmla="val 625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0" name="Google Shape;110;p7">
            <a:extLst xmlns:a="http://schemas.openxmlformats.org/drawingml/2006/main">
              <a:ext uri="{FF2B5EF4-FFF2-40B4-BE49-F238E27FC236}">
                <a16:creationId xmlns:a16="http://schemas.microsoft.com/office/drawing/2014/main" id="{C4B92D01-D585-4483-B6B3-4D1D5D5F68F7}"/>
              </a:ext>
            </a:extLst>
          </p:cNvPr>
          <p:cNvSpPr>
            <a:spLocks xmlns:a="http://schemas.openxmlformats.org/drawingml/2006/main" noGrp="1"/>
          </p:cNvSpPr>
          <p:nvPr/>
        </p:nvSpPr>
        <p:spPr>
          <a:xfrm xmlns:a="http://schemas.openxmlformats.org/drawingml/2006/main">
            <a:off x="6327648" y="3145536"/>
            <a:ext cx="2286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300"/>
              <a:buFont typeface="Cambria"/>
              <a:buNone/>
            </a:pPr>
            <a:r>
              <a:rPr sz="1300" b="1" i="0" u="none" cap="none">
                <a:solidFill>
                  <a:srgbClr val="1E2447"/>
                </a:solidFill>
                <a:latin typeface="Cambria"/>
                <a:ea typeface="Cambria"/>
                <a:cs typeface="Cambria"/>
              </a:rPr>
              <a:t>Emergent and eliminative replies</a:t>
            </a:r>
          </a:p>
        </p:txBody>
      </p:sp>
      <p:sp>
        <p:nvSpPr>
          <p:cNvPr id="111" name="Google Shape;111;p7">
            <a:extLst xmlns:a="http://schemas.openxmlformats.org/drawingml/2006/main">
              <a:ext uri="{FF2B5EF4-FFF2-40B4-BE49-F238E27FC236}">
                <a16:creationId xmlns:a16="http://schemas.microsoft.com/office/drawing/2014/main" id="{6F764066-BAA1-4F4B-B709-8EB50F249509}"/>
              </a:ext>
            </a:extLst>
          </p:cNvPr>
          <p:cNvSpPr>
            <a:spLocks xmlns:a="http://schemas.openxmlformats.org/drawingml/2006/main" noGrp="1"/>
          </p:cNvSpPr>
          <p:nvPr/>
        </p:nvSpPr>
        <p:spPr>
          <a:xfrm xmlns:a="http://schemas.openxmlformats.org/drawingml/2006/main">
            <a:off x="6327648" y="3456432"/>
            <a:ext cx="2286000" cy="9601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80"/>
              <a:buFont typeface="Calibri"/>
              <a:buNone/>
            </a:pPr>
            <a:r>
              <a:rPr sz="980" b="0" i="0" u="none" cap="none">
                <a:solidFill>
                  <a:srgbClr val="5A6377"/>
                </a:solidFill>
                <a:latin typeface="Calibri"/>
                <a:ea typeface="Calibri"/>
                <a:cs typeface="Calibri"/>
              </a:rPr>
              <a:t>Emergence posits novel organisation or powers; illusionism redescribes phenomenal reports rather than adding a separate bearer.</a:t>
            </a:r>
          </a:p>
        </p:txBody>
      </p:sp>
      <p:sp>
        <p:nvSpPr>
          <p:cNvPr id="112" name="Google Shape;112;p7">
            <a:extLst xmlns:a="http://schemas.openxmlformats.org/drawingml/2006/main">
              <a:ext uri="{FF2B5EF4-FFF2-40B4-BE49-F238E27FC236}">
                <a16:creationId xmlns:a16="http://schemas.microsoft.com/office/drawing/2014/main" id="{055C2558-2701-4BF9-9B8E-66EB25ACADD2}"/>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Nagel 1974  ·  Chalmers 1995  ·  Kim 2005  ·  Dennett 1991  ·  Frankish 2016  ·  study §§3.1–3.4</a:t>
            </a:r>
          </a:p>
        </p:txBody>
      </p:sp>
    </p:spTree>
    <p:extLst>
      <p:ext uri="{BB962C8B-B14F-4D97-AF65-F5344CB8AC3E}">
        <p14:creationId xmlns:p14="http://schemas.microsoft.com/office/powerpoint/2010/main" val="195051687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8" name="Google Shape;118;p8">
            <a:extLst xmlns:a="http://schemas.openxmlformats.org/drawingml/2006/main">
              <a:ext uri="{FF2B5EF4-FFF2-40B4-BE49-F238E27FC236}">
                <a16:creationId xmlns:a16="http://schemas.microsoft.com/office/drawing/2014/main" id="{1A895B51-C849-4643-AAF7-6C69466BD16C}"/>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9" name="Google Shape;119;p8">
            <a:extLst xmlns:a="http://schemas.openxmlformats.org/drawingml/2006/main">
              <a:ext uri="{FF2B5EF4-FFF2-40B4-BE49-F238E27FC236}">
                <a16:creationId xmlns:a16="http://schemas.microsoft.com/office/drawing/2014/main" id="{4F0C9323-EC89-4514-9EF9-2E58BF18204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0" name="Google Shape;120;p8">
            <a:extLst xmlns:a="http://schemas.openxmlformats.org/drawingml/2006/main">
              <a:ext uri="{FF2B5EF4-FFF2-40B4-BE49-F238E27FC236}">
                <a16:creationId xmlns:a16="http://schemas.microsoft.com/office/drawing/2014/main" id="{73BBF4D5-F78F-4A94-B9DF-442AD0E22B4A}"/>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1" name="Google Shape;121;p8">
            <a:extLst xmlns:a="http://schemas.openxmlformats.org/drawingml/2006/main">
              <a:ext uri="{FF2B5EF4-FFF2-40B4-BE49-F238E27FC236}">
                <a16:creationId xmlns:a16="http://schemas.microsoft.com/office/drawing/2014/main" id="{8FC7FC4E-1F36-4BFA-ABC3-CFB3F08A8C5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§§3.3, 3.6  ·  PLURAL MODERN ONTOLOGIES</a:t>
            </a:r>
          </a:p>
        </p:txBody>
      </p:sp>
      <p:sp>
        <p:nvSpPr>
          <p:cNvPr id="122" name="Google Shape;122;p8">
            <a:extLst xmlns:a="http://schemas.openxmlformats.org/drawingml/2006/main">
              <a:ext uri="{FF2B5EF4-FFF2-40B4-BE49-F238E27FC236}">
                <a16:creationId xmlns:a16="http://schemas.microsoft.com/office/drawing/2014/main" id="{BAF8B54E-46E2-4A75-ADAD-8E0A0D15B65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Modern alternatives: partial analogies</a:t>
            </a:r>
          </a:p>
        </p:txBody>
      </p:sp>
      <p:graphicFrame>
        <p:nvGraphicFramePr>
          <p:cNvPr id="132" name="Google Shape;123;p8"/>
          <p:cNvGraphicFramePr/>
          <p:nvPr/>
        </p:nvGraphicFramePr>
        <p:xfrm>
          <a:off xmlns:a="http://schemas.openxmlformats.org/drawingml/2006/main" x="64008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965950"/>
                <a:gridCol w="2926075"/>
                <a:gridCol w="2971800"/>
              </a:tblGrid>
              <a:tr h="310900">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Approach</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31606B"/>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Partial analogy with MD</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31606B"/>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Decisive divergence</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31606B"/>
                    </a:solidFill>
                  </a:tcPr>
                </a:tc>
              </a:tr>
              <a:tr h="53035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Hylomorphism</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Living body as a matter–form compound; joint embodiment</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No co-eternal satta–unit saturation or jeevan atom</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r h="45720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Spinoza</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Pervasive ground and finite modes</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Modes are not co-eternal units on a par with substance</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r h="45720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Leibniz</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Plural, persisting individual centres</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Windowless monads; harmony is divinely pre-established</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r h="45720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Process philosophy</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Relations and becoming are fundamental</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Occasions perish; no permanent jeevan individual</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r h="45720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Panpsychism / neutral monism</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Rejects a simple matter-only intrinsic nature</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Experience or neutral reality is distributed or constitutive, not MD’s threshold</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bl>
          </a:graphicData>
        </a:graphic>
      </p:graphicFrame>
      <p:sp>
        <p:nvSpPr>
          <p:cNvPr id="124" name="Google Shape;124;p8">
            <a:extLst xmlns:a="http://schemas.openxmlformats.org/drawingml/2006/main">
              <a:ext uri="{FF2B5EF4-FFF2-40B4-BE49-F238E27FC236}">
                <a16:creationId xmlns:a16="http://schemas.microsoft.com/office/drawing/2014/main" id="{2E1D08F6-4C7C-4B20-9F71-FD51215297EB}"/>
              </a:ext>
            </a:extLst>
          </p:cNvPr>
          <p:cNvSpPr>
            <a:spLocks xmlns:a="http://schemas.openxmlformats.org/drawingml/2006/main" noGrp="1"/>
          </p:cNvSpPr>
          <p:nvPr/>
        </p:nvSpPr>
        <p:spPr>
          <a:xfrm xmlns:a="http://schemas.openxmlformats.org/drawingml/2006/main">
            <a:off x="640080" y="4434840"/>
            <a:ext cx="795528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00"/>
              <a:buFont typeface="Calibri"/>
              <a:buNone/>
            </a:pPr>
            <a:r>
              <a:rPr sz="1100" b="0" i="1" u="none" cap="none">
                <a:solidFill>
                  <a:srgbClr val="9A6414"/>
                </a:solidFill>
                <a:latin typeface="Calibri"/>
                <a:ea typeface="Calibri"/>
                <a:cs typeface="Calibri"/>
              </a:rPr>
              <a:t>Each view illuminates one MD commitment while differing on ground, individuation, persistence, or the bearer of experience.</a:t>
            </a:r>
          </a:p>
        </p:txBody>
      </p:sp>
      <p:sp>
        <p:nvSpPr>
          <p:cNvPr id="125" name="Google Shape;125;p8">
            <a:extLst xmlns:a="http://schemas.openxmlformats.org/drawingml/2006/main">
              <a:ext uri="{FF2B5EF4-FFF2-40B4-BE49-F238E27FC236}">
                <a16:creationId xmlns:a16="http://schemas.microsoft.com/office/drawing/2014/main" id="{8F6458A2-C589-4BD1-926D-113CE0223C3F}"/>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Aquinas ST I q. 75–76  ·  Spinoza, Ethics I–II  ·  Leibniz, Monadology  ·  Whitehead 1929  ·  study §§3.3, 3.6</a:t>
            </a:r>
          </a:p>
        </p:txBody>
      </p:sp>
    </p:spTree>
    <p:extLst>
      <p:ext uri="{BB962C8B-B14F-4D97-AF65-F5344CB8AC3E}">
        <p14:creationId xmlns:p14="http://schemas.microsoft.com/office/powerpoint/2010/main" val="55611825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1" name="Google Shape;131;p9">
            <a:extLst xmlns:a="http://schemas.openxmlformats.org/drawingml/2006/main">
              <a:ext uri="{FF2B5EF4-FFF2-40B4-BE49-F238E27FC236}">
                <a16:creationId xmlns:a16="http://schemas.microsoft.com/office/drawing/2014/main" id="{E1331CDE-6BCB-42F0-865E-D0B4F06182F4}"/>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2" name="Google Shape;132;p9">
            <a:extLst xmlns:a="http://schemas.openxmlformats.org/drawingml/2006/main">
              <a:ext uri="{FF2B5EF4-FFF2-40B4-BE49-F238E27FC236}">
                <a16:creationId xmlns:a16="http://schemas.microsoft.com/office/drawing/2014/main" id="{3301D72D-23BD-4735-AC96-14DA87CE24A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3" name="Google Shape;133;p9">
            <a:extLst xmlns:a="http://schemas.openxmlformats.org/drawingml/2006/main">
              <a:ext uri="{FF2B5EF4-FFF2-40B4-BE49-F238E27FC236}">
                <a16:creationId xmlns:a16="http://schemas.microsoft.com/office/drawing/2014/main" id="{E7C28B51-5B99-4460-8B66-898D6471C0F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4" name="Google Shape;134;p9">
            <a:extLst xmlns:a="http://schemas.openxmlformats.org/drawingml/2006/main">
              <a:ext uri="{FF2B5EF4-FFF2-40B4-BE49-F238E27FC236}">
                <a16:creationId xmlns:a16="http://schemas.microsoft.com/office/drawing/2014/main" id="{3302182E-E02F-490C-928C-253AC214C74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§§4.1, 4.5–4.7  ·  EVIDENCE AND INTERPRETATION</a:t>
            </a:r>
          </a:p>
        </p:txBody>
      </p:sp>
      <p:sp>
        <p:nvSpPr>
          <p:cNvPr id="135" name="Google Shape;135;p9">
            <a:extLst xmlns:a="http://schemas.openxmlformats.org/drawingml/2006/main">
              <a:ext uri="{FF2B5EF4-FFF2-40B4-BE49-F238E27FC236}">
                <a16:creationId xmlns:a16="http://schemas.microsoft.com/office/drawing/2014/main" id="{AA05804D-6525-4C44-BDE2-838D9C5EDF6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Science maps function, not full ontology</a:t>
            </a:r>
          </a:p>
        </p:txBody>
      </p:sp>
      <p:sp>
        <p:nvSpPr>
          <p:cNvPr id="136" name="Google Shape;136;p9">
            <a:extLst xmlns:a="http://schemas.openxmlformats.org/drawingml/2006/main">
              <a:ext uri="{FF2B5EF4-FFF2-40B4-BE49-F238E27FC236}">
                <a16:creationId xmlns:a16="http://schemas.microsoft.com/office/drawing/2014/main" id="{D334106A-98C5-4087-B9F2-217ED252C90A}"/>
              </a:ext>
            </a:extLst>
          </p:cNvPr>
          <p:cNvSpPr>
            <a:spLocks xmlns:a="http://schemas.openxmlformats.org/drawingml/2006/main" noGrp="1"/>
          </p:cNvSpPr>
          <p:nvPr/>
        </p:nvSpPr>
        <p:spPr>
          <a:xfrm xmlns:a="http://schemas.openxmlformats.org/drawingml/2006/main">
            <a:off x="640080" y="1325880"/>
            <a:ext cx="3794760" cy="1536192"/>
          </a:xfrm>
          <a:prstGeom xmlns:a="http://schemas.openxmlformats.org/drawingml/2006/main" prst="roundRect">
            <a:avLst>
              <a:gd name="adj" fmla="val 5357"/>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7" name="Google Shape;137;p9">
            <a:extLst xmlns:a="http://schemas.openxmlformats.org/drawingml/2006/main">
              <a:ext uri="{FF2B5EF4-FFF2-40B4-BE49-F238E27FC236}">
                <a16:creationId xmlns:a16="http://schemas.microsoft.com/office/drawing/2014/main" id="{2CF0D5C2-1AE2-436E-8B2E-18F2109FA701}"/>
              </a:ext>
            </a:extLst>
          </p:cNvPr>
          <p:cNvSpPr>
            <a:spLocks xmlns:a="http://schemas.openxmlformats.org/drawingml/2006/main" noGrp="1"/>
          </p:cNvSpPr>
          <p:nvPr/>
        </p:nvSpPr>
        <p:spPr>
          <a:xfrm xmlns:a="http://schemas.openxmlformats.org/drawingml/2006/main">
            <a:off x="841248" y="1444752"/>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250"/>
              <a:buFont typeface="Cambria"/>
              <a:buNone/>
            </a:pPr>
            <a:r>
              <a:rPr sz="1250" b="1" i="0" u="none" cap="none">
                <a:solidFill>
                  <a:srgbClr val="31606B"/>
                </a:solidFill>
                <a:latin typeface="Cambria"/>
                <a:ea typeface="Cambria"/>
                <a:cs typeface="Cambria"/>
              </a:rPr>
              <a:t>Self-models and predictive processing</a:t>
            </a:r>
          </a:p>
        </p:txBody>
      </p:sp>
      <p:sp>
        <p:nvSpPr>
          <p:cNvPr id="138" name="Google Shape;138;p9">
            <a:extLst xmlns:a="http://schemas.openxmlformats.org/drawingml/2006/main">
              <a:ext uri="{FF2B5EF4-FFF2-40B4-BE49-F238E27FC236}">
                <a16:creationId xmlns:a16="http://schemas.microsoft.com/office/drawing/2014/main" id="{46A2BF81-DFC4-43A1-A462-49C24B004C61}"/>
              </a:ext>
            </a:extLst>
          </p:cNvPr>
          <p:cNvSpPr>
            <a:spLocks xmlns:a="http://schemas.openxmlformats.org/drawingml/2006/main" noGrp="1"/>
          </p:cNvSpPr>
          <p:nvPr/>
        </p:nvSpPr>
        <p:spPr>
          <a:xfrm xmlns:a="http://schemas.openxmlformats.org/drawingml/2006/main">
            <a:off x="841248" y="1746504"/>
            <a:ext cx="3429000" cy="1051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60"/>
              <a:buFont typeface="Calibri"/>
              <a:buNone/>
            </a:pPr>
            <a:r>
              <a:rPr sz="960" b="0" i="0" u="none" cap="none">
                <a:solidFill>
                  <a:srgbClr val="5A6377"/>
                </a:solidFill>
                <a:latin typeface="Calibri"/>
                <a:ea typeface="Calibri"/>
                <a:cs typeface="Calibri"/>
              </a:rPr>
              <a:t>Neural and embodied models explain ownership, perspective, prediction, and regulation. They show dependence of measurable personal capacities on living organisation.</a:t>
            </a:r>
          </a:p>
        </p:txBody>
      </p:sp>
      <p:sp>
        <p:nvSpPr>
          <p:cNvPr id="139" name="Google Shape;139;p9">
            <a:extLst xmlns:a="http://schemas.openxmlformats.org/drawingml/2006/main">
              <a:ext uri="{FF2B5EF4-FFF2-40B4-BE49-F238E27FC236}">
                <a16:creationId xmlns:a16="http://schemas.microsoft.com/office/drawing/2014/main" id="{EEF63AEC-6728-4417-A8DF-58C21FFE78AA}"/>
              </a:ext>
            </a:extLst>
          </p:cNvPr>
          <p:cNvSpPr>
            <a:spLocks xmlns:a="http://schemas.openxmlformats.org/drawingml/2006/main" noGrp="1"/>
          </p:cNvSpPr>
          <p:nvPr/>
        </p:nvSpPr>
        <p:spPr>
          <a:xfrm xmlns:a="http://schemas.openxmlformats.org/drawingml/2006/main">
            <a:off x="4709160" y="1325880"/>
            <a:ext cx="3794760" cy="1536192"/>
          </a:xfrm>
          <a:prstGeom xmlns:a="http://schemas.openxmlformats.org/drawingml/2006/main" prst="roundRect">
            <a:avLst>
              <a:gd name="adj" fmla="val 5357"/>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0" name="Google Shape;140;p9">
            <a:extLst xmlns:a="http://schemas.openxmlformats.org/drawingml/2006/main">
              <a:ext uri="{FF2B5EF4-FFF2-40B4-BE49-F238E27FC236}">
                <a16:creationId xmlns:a16="http://schemas.microsoft.com/office/drawing/2014/main" id="{07192331-3A96-4E09-8C58-402ED4F9D2B1}"/>
              </a:ext>
            </a:extLst>
          </p:cNvPr>
          <p:cNvSpPr>
            <a:spLocks xmlns:a="http://schemas.openxmlformats.org/drawingml/2006/main" noGrp="1"/>
          </p:cNvSpPr>
          <p:nvPr/>
        </p:nvSpPr>
        <p:spPr>
          <a:xfrm xmlns:a="http://schemas.openxmlformats.org/drawingml/2006/main">
            <a:off x="4910328" y="1444752"/>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250"/>
              <a:buFont typeface="Cambria"/>
              <a:buNone/>
            </a:pPr>
            <a:r>
              <a:rPr sz="1250" b="1" i="0" u="none" cap="none">
                <a:solidFill>
                  <a:srgbClr val="31606B"/>
                </a:solidFill>
                <a:latin typeface="Cambria"/>
                <a:ea typeface="Cambria"/>
                <a:cs typeface="Cambria"/>
              </a:rPr>
              <a:t>Consciousness programmes</a:t>
            </a:r>
          </a:p>
        </p:txBody>
      </p:sp>
      <p:sp>
        <p:nvSpPr>
          <p:cNvPr id="141" name="Google Shape;141;p9">
            <a:extLst xmlns:a="http://schemas.openxmlformats.org/drawingml/2006/main">
              <a:ext uri="{FF2B5EF4-FFF2-40B4-BE49-F238E27FC236}">
                <a16:creationId xmlns:a16="http://schemas.microsoft.com/office/drawing/2014/main" id="{34CECB25-B397-42D2-9A0E-FB84F0F20300}"/>
              </a:ext>
            </a:extLst>
          </p:cNvPr>
          <p:cNvSpPr>
            <a:spLocks xmlns:a="http://schemas.openxmlformats.org/drawingml/2006/main" noGrp="1"/>
          </p:cNvSpPr>
          <p:nvPr/>
        </p:nvSpPr>
        <p:spPr>
          <a:xfrm xmlns:a="http://schemas.openxmlformats.org/drawingml/2006/main">
            <a:off x="4910328" y="1746504"/>
            <a:ext cx="3429000" cy="1051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60"/>
              <a:buFont typeface="Calibri"/>
              <a:buNone/>
            </a:pPr>
            <a:r>
              <a:rPr sz="960" b="0" i="0" u="none" cap="none">
                <a:solidFill>
                  <a:srgbClr val="5A6377"/>
                </a:solidFill>
                <a:latin typeface="Calibri"/>
                <a:ea typeface="Calibri"/>
                <a:cs typeface="Calibri"/>
              </a:rPr>
              <a:t>IIT, global-workspace, recurrent-processing, higher-order, and predictive approaches expose different mechanisms and predictions; no programme has settled the bearer question.</a:t>
            </a:r>
          </a:p>
        </p:txBody>
      </p:sp>
      <p:sp>
        <p:nvSpPr>
          <p:cNvPr id="142" name="Google Shape;142;p9">
            <a:extLst xmlns:a="http://schemas.openxmlformats.org/drawingml/2006/main">
              <a:ext uri="{FF2B5EF4-FFF2-40B4-BE49-F238E27FC236}">
                <a16:creationId xmlns:a16="http://schemas.microsoft.com/office/drawing/2014/main" id="{579B75A9-0ABE-45AB-AD3D-7E0993482D10}"/>
              </a:ext>
            </a:extLst>
          </p:cNvPr>
          <p:cNvSpPr>
            <a:spLocks xmlns:a="http://schemas.openxmlformats.org/drawingml/2006/main" noGrp="1"/>
          </p:cNvSpPr>
          <p:nvPr/>
        </p:nvSpPr>
        <p:spPr>
          <a:xfrm xmlns:a="http://schemas.openxmlformats.org/drawingml/2006/main">
            <a:off x="640080" y="3017520"/>
            <a:ext cx="3794760" cy="1536192"/>
          </a:xfrm>
          <a:prstGeom xmlns:a="http://schemas.openxmlformats.org/drawingml/2006/main" prst="roundRect">
            <a:avLst>
              <a:gd name="adj" fmla="val 5357"/>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3" name="Google Shape;143;p9">
            <a:extLst xmlns:a="http://schemas.openxmlformats.org/drawingml/2006/main">
              <a:ext uri="{FF2B5EF4-FFF2-40B4-BE49-F238E27FC236}">
                <a16:creationId xmlns:a16="http://schemas.microsoft.com/office/drawing/2014/main" id="{C3F9347A-4A38-4852-AF4A-308C965B7428}"/>
              </a:ext>
            </a:extLst>
          </p:cNvPr>
          <p:cNvSpPr>
            <a:spLocks xmlns:a="http://schemas.openxmlformats.org/drawingml/2006/main" noGrp="1"/>
          </p:cNvSpPr>
          <p:nvPr/>
        </p:nvSpPr>
        <p:spPr>
          <a:xfrm xmlns:a="http://schemas.openxmlformats.org/drawingml/2006/main">
            <a:off x="841248" y="3136392"/>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250"/>
              <a:buFont typeface="Cambria"/>
              <a:buNone/>
            </a:pPr>
            <a:r>
              <a:rPr sz="1250" b="1" i="0" u="none" cap="none">
                <a:solidFill>
                  <a:srgbClr val="31606B"/>
                </a:solidFill>
                <a:latin typeface="Cambria"/>
                <a:ea typeface="Cambria"/>
                <a:cs typeface="Cambria"/>
              </a:rPr>
              <a:t>Brain death and continuity</a:t>
            </a:r>
          </a:p>
        </p:txBody>
      </p:sp>
      <p:sp>
        <p:nvSpPr>
          <p:cNvPr id="144" name="Google Shape;144;p9">
            <a:extLst xmlns:a="http://schemas.openxmlformats.org/drawingml/2006/main">
              <a:ext uri="{FF2B5EF4-FFF2-40B4-BE49-F238E27FC236}">
                <a16:creationId xmlns:a16="http://schemas.microsoft.com/office/drawing/2014/main" id="{CB912D13-91ED-4BDA-AB03-2F36C7CC7586}"/>
              </a:ext>
            </a:extLst>
          </p:cNvPr>
          <p:cNvSpPr>
            <a:spLocks xmlns:a="http://schemas.openxmlformats.org/drawingml/2006/main" noGrp="1"/>
          </p:cNvSpPr>
          <p:nvPr/>
        </p:nvSpPr>
        <p:spPr>
          <a:xfrm xmlns:a="http://schemas.openxmlformats.org/drawingml/2006/main">
            <a:off x="841248" y="3438144"/>
            <a:ext cx="3429000" cy="1051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60"/>
              <a:buFont typeface="Calibri"/>
              <a:buNone/>
            </a:pPr>
            <a:r>
              <a:rPr sz="960" b="0" i="0" u="none" cap="none">
                <a:solidFill>
                  <a:srgbClr val="5A6377"/>
                </a:solidFill>
                <a:latin typeface="Calibri"/>
                <a:ea typeface="Calibri"/>
                <a:cs typeface="Calibri"/>
              </a:rPr>
              <a:t>Accepted criteria mark irreversible loss of measurable organismal and personal function. No public post-death continuity has been established.</a:t>
            </a:r>
          </a:p>
        </p:txBody>
      </p:sp>
      <p:sp>
        <p:nvSpPr>
          <p:cNvPr id="145" name="Google Shape;145;p9">
            <a:extLst xmlns:a="http://schemas.openxmlformats.org/drawingml/2006/main">
              <a:ext uri="{FF2B5EF4-FFF2-40B4-BE49-F238E27FC236}">
                <a16:creationId xmlns:a16="http://schemas.microsoft.com/office/drawing/2014/main" id="{2AB936FE-0D3E-455B-9786-A8D16706384F}"/>
              </a:ext>
            </a:extLst>
          </p:cNvPr>
          <p:cNvSpPr>
            <a:spLocks xmlns:a="http://schemas.openxmlformats.org/drawingml/2006/main" noGrp="1"/>
          </p:cNvSpPr>
          <p:nvPr/>
        </p:nvSpPr>
        <p:spPr>
          <a:xfrm xmlns:a="http://schemas.openxmlformats.org/drawingml/2006/main">
            <a:off x="4709160" y="3017520"/>
            <a:ext cx="3794760" cy="1536192"/>
          </a:xfrm>
          <a:prstGeom xmlns:a="http://schemas.openxmlformats.org/drawingml/2006/main" prst="roundRect">
            <a:avLst>
              <a:gd name="adj" fmla="val 535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6" name="Google Shape;146;p9">
            <a:extLst xmlns:a="http://schemas.openxmlformats.org/drawingml/2006/main">
              <a:ext uri="{FF2B5EF4-FFF2-40B4-BE49-F238E27FC236}">
                <a16:creationId xmlns:a16="http://schemas.microsoft.com/office/drawing/2014/main" id="{14FB7A6B-0FE5-4594-9277-BCCC023247A0}"/>
              </a:ext>
            </a:extLst>
          </p:cNvPr>
          <p:cNvSpPr>
            <a:spLocks xmlns:a="http://schemas.openxmlformats.org/drawingml/2006/main" noGrp="1"/>
          </p:cNvSpPr>
          <p:nvPr/>
        </p:nvSpPr>
        <p:spPr>
          <a:xfrm xmlns:a="http://schemas.openxmlformats.org/drawingml/2006/main">
            <a:off x="4910328" y="3136392"/>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250"/>
              <a:buFont typeface="Cambria"/>
              <a:buNone/>
            </a:pPr>
            <a:r>
              <a:rPr sz="1250" b="1" i="0" u="none" cap="none">
                <a:solidFill>
                  <a:srgbClr val="9A6414"/>
                </a:solidFill>
                <a:latin typeface="Cambria"/>
                <a:ea typeface="Cambria"/>
                <a:cs typeface="Cambria"/>
              </a:rPr>
              <a:t>What remains metaphysical</a:t>
            </a:r>
          </a:p>
        </p:txBody>
      </p:sp>
      <p:sp>
        <p:nvSpPr>
          <p:cNvPr id="147" name="Google Shape;147;p9">
            <a:extLst xmlns:a="http://schemas.openxmlformats.org/drawingml/2006/main">
              <a:ext uri="{FF2B5EF4-FFF2-40B4-BE49-F238E27FC236}">
                <a16:creationId xmlns:a16="http://schemas.microsoft.com/office/drawing/2014/main" id="{ED7685CD-F91C-4BE7-9F5C-28F0A74459A6}"/>
              </a:ext>
            </a:extLst>
          </p:cNvPr>
          <p:cNvSpPr>
            <a:spLocks xmlns:a="http://schemas.openxmlformats.org/drawingml/2006/main" noGrp="1"/>
          </p:cNvSpPr>
          <p:nvPr/>
        </p:nvSpPr>
        <p:spPr>
          <a:xfrm xmlns:a="http://schemas.openxmlformats.org/drawingml/2006/main">
            <a:off x="4910328" y="3438144"/>
            <a:ext cx="3429000" cy="1051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60"/>
              <a:buFont typeface="Calibri"/>
              <a:buNone/>
            </a:pPr>
            <a:r>
              <a:rPr sz="960" b="0" i="0" u="none" cap="none">
                <a:solidFill>
                  <a:srgbClr val="5A6377"/>
                </a:solidFill>
                <a:latin typeface="Calibri"/>
                <a:ea typeface="Calibri"/>
                <a:cs typeface="Calibri"/>
              </a:rPr>
              <a:t>Mechanisms constrain MD but do not by themselves decide whether organismal continuity exhausts the subject of experience.</a:t>
            </a:r>
          </a:p>
        </p:txBody>
      </p:sp>
      <p:sp>
        <p:nvSpPr>
          <p:cNvPr id="148" name="Google Shape;148;p9">
            <a:extLst xmlns:a="http://schemas.openxmlformats.org/drawingml/2006/main">
              <a:ext uri="{FF2B5EF4-FFF2-40B4-BE49-F238E27FC236}">
                <a16:creationId xmlns:a16="http://schemas.microsoft.com/office/drawing/2014/main" id="{F353EF8F-5D13-4AE9-B57F-5FC6E241B49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Metzinger 2003  ·  Friston 2010  ·  Clark 2016  ·  Seth 2021  ·  adversarial consciousness research  ·  study §§4.5–4.6</a:t>
            </a:r>
          </a:p>
        </p:txBody>
      </p:sp>
    </p:spTree>
    <p:extLst>
      <p:ext uri="{BB962C8B-B14F-4D97-AF65-F5344CB8AC3E}">
        <p14:creationId xmlns:p14="http://schemas.microsoft.com/office/powerpoint/2010/main" val="44809257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4" name="Google Shape;154;p10">
            <a:extLst xmlns:a="http://schemas.openxmlformats.org/drawingml/2006/main">
              <a:ext uri="{FF2B5EF4-FFF2-40B4-BE49-F238E27FC236}">
                <a16:creationId xmlns:a16="http://schemas.microsoft.com/office/drawing/2014/main" id="{0A864194-86A9-4494-99BC-CE427A8944BC}"/>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5" name="Google Shape;155;p10">
            <a:extLst xmlns:a="http://schemas.openxmlformats.org/drawingml/2006/main">
              <a:ext uri="{FF2B5EF4-FFF2-40B4-BE49-F238E27FC236}">
                <a16:creationId xmlns:a16="http://schemas.microsoft.com/office/drawing/2014/main" id="{1C845DD1-CF3A-4E1B-8E8E-9BC9D7FAC61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6" name="Google Shape;156;p10">
            <a:extLst xmlns:a="http://schemas.openxmlformats.org/drawingml/2006/main">
              <a:ext uri="{FF2B5EF4-FFF2-40B4-BE49-F238E27FC236}">
                <a16:creationId xmlns:a16="http://schemas.microsoft.com/office/drawing/2014/main" id="{3684E78C-B669-4EBD-B098-04A17DD5B7D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7" name="Google Shape;157;p10">
            <a:extLst xmlns:a="http://schemas.openxmlformats.org/drawingml/2006/main">
              <a:ext uri="{FF2B5EF4-FFF2-40B4-BE49-F238E27FC236}">
                <a16:creationId xmlns:a16="http://schemas.microsoft.com/office/drawing/2014/main" id="{9D4E7F7D-CB81-4984-860E-2602750C320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§§4.2–4.4  ·  CONSTRAINT, NOT CONFIRMATION</a:t>
            </a:r>
          </a:p>
        </p:txBody>
      </p:sp>
      <p:sp>
        <p:nvSpPr>
          <p:cNvPr id="158" name="Google Shape;158;p10">
            <a:extLst xmlns:a="http://schemas.openxmlformats.org/drawingml/2006/main">
              <a:ext uri="{FF2B5EF4-FFF2-40B4-BE49-F238E27FC236}">
                <a16:creationId xmlns:a16="http://schemas.microsoft.com/office/drawing/2014/main" id="{4FEE7B19-1BC5-41EA-BF6F-668A5D4C04F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Science constrains; it does not confirm</a:t>
            </a:r>
          </a:p>
        </p:txBody>
      </p:sp>
      <p:sp>
        <p:nvSpPr>
          <p:cNvPr id="159" name="Google Shape;159;p10">
            <a:extLst xmlns:a="http://schemas.openxmlformats.org/drawingml/2006/main">
              <a:ext uri="{FF2B5EF4-FFF2-40B4-BE49-F238E27FC236}">
                <a16:creationId xmlns:a16="http://schemas.microsoft.com/office/drawing/2014/main" id="{AB029DE1-D112-441A-B4B2-19BC1A5B93DF}"/>
              </a:ext>
            </a:extLst>
          </p:cNvPr>
          <p:cNvSpPr>
            <a:spLocks xmlns:a="http://schemas.openxmlformats.org/drawingml/2006/main" noGrp="1"/>
          </p:cNvSpPr>
          <p:nvPr/>
        </p:nvSpPr>
        <p:spPr>
          <a:xfrm xmlns:a="http://schemas.openxmlformats.org/drawingml/2006/main">
            <a:off x="640080" y="1325880"/>
            <a:ext cx="3794760" cy="1600200"/>
          </a:xfrm>
          <a:prstGeom xmlns:a="http://schemas.openxmlformats.org/drawingml/2006/main" prst="roundRect">
            <a:avLst>
              <a:gd name="adj" fmla="val 5714"/>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0" name="Google Shape;160;p10">
            <a:extLst xmlns:a="http://schemas.openxmlformats.org/drawingml/2006/main">
              <a:ext uri="{FF2B5EF4-FFF2-40B4-BE49-F238E27FC236}">
                <a16:creationId xmlns:a16="http://schemas.microsoft.com/office/drawing/2014/main" id="{AB26AD8A-E0AE-4B83-B765-0A7C1B438E39}"/>
              </a:ext>
            </a:extLst>
          </p:cNvPr>
          <p:cNvSpPr>
            <a:spLocks xmlns:a="http://schemas.openxmlformats.org/drawingml/2006/main" noGrp="1"/>
          </p:cNvSpPr>
          <p:nvPr/>
        </p:nvSpPr>
        <p:spPr>
          <a:xfrm xmlns:a="http://schemas.openxmlformats.org/drawingml/2006/main">
            <a:off x="868680" y="1463040"/>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350"/>
              <a:buFont typeface="Cambria"/>
              <a:buNone/>
            </a:pPr>
            <a:r>
              <a:rPr sz="1350" b="1" i="0" u="none" cap="none">
                <a:solidFill>
                  <a:srgbClr val="31606B"/>
                </a:solidFill>
                <a:latin typeface="Cambria"/>
                <a:ea typeface="Cambria"/>
                <a:cs typeface="Cambria"/>
              </a:rPr>
              <a:t>Did existence begin?</a:t>
            </a:r>
          </a:p>
        </p:txBody>
      </p:sp>
      <p:sp>
        <p:nvSpPr>
          <p:cNvPr id="161" name="Google Shape;161;p10">
            <a:extLst xmlns:a="http://schemas.openxmlformats.org/drawingml/2006/main">
              <a:ext uri="{FF2B5EF4-FFF2-40B4-BE49-F238E27FC236}">
                <a16:creationId xmlns:a16="http://schemas.microsoft.com/office/drawing/2014/main" id="{062BDE82-0D13-452C-8FBD-593E44F72E6B}"/>
              </a:ext>
            </a:extLst>
          </p:cNvPr>
          <p:cNvSpPr>
            <a:spLocks xmlns:a="http://schemas.openxmlformats.org/drawingml/2006/main" noGrp="1"/>
          </p:cNvSpPr>
          <p:nvPr/>
        </p:nvSpPr>
        <p:spPr>
          <a:xfrm xmlns:a="http://schemas.openxmlformats.org/drawingml/2006/main">
            <a:off x="868680" y="1764792"/>
            <a:ext cx="3383280" cy="10972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ΛCDM reconstructs a hot dense early universe, not necessarily an absolute beginning. Bounce, cyclic, and inflationary models remain competing programmes—not proof of jagat satat.</a:t>
            </a:r>
          </a:p>
        </p:txBody>
      </p:sp>
      <p:sp>
        <p:nvSpPr>
          <p:cNvPr id="162" name="Google Shape;162;p10">
            <a:extLst xmlns:a="http://schemas.openxmlformats.org/drawingml/2006/main">
              <a:ext uri="{FF2B5EF4-FFF2-40B4-BE49-F238E27FC236}">
                <a16:creationId xmlns:a16="http://schemas.microsoft.com/office/drawing/2014/main" id="{FBA659D2-D5C9-42B5-BB32-251E9120A94C}"/>
              </a:ext>
            </a:extLst>
          </p:cNvPr>
          <p:cNvSpPr>
            <a:spLocks xmlns:a="http://schemas.openxmlformats.org/drawingml/2006/main" noGrp="1"/>
          </p:cNvSpPr>
          <p:nvPr/>
        </p:nvSpPr>
        <p:spPr>
          <a:xfrm xmlns:a="http://schemas.openxmlformats.org/drawingml/2006/main">
            <a:off x="4709160" y="1325880"/>
            <a:ext cx="3794760" cy="1600200"/>
          </a:xfrm>
          <a:prstGeom xmlns:a="http://schemas.openxmlformats.org/drawingml/2006/main" prst="roundRect">
            <a:avLst>
              <a:gd name="adj" fmla="val 5714"/>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3" name="Google Shape;163;p10">
            <a:extLst xmlns:a="http://schemas.openxmlformats.org/drawingml/2006/main">
              <a:ext uri="{FF2B5EF4-FFF2-40B4-BE49-F238E27FC236}">
                <a16:creationId xmlns:a16="http://schemas.microsoft.com/office/drawing/2014/main" id="{B0AA42E0-3A0B-43F7-A27B-B9889EB9780A}"/>
              </a:ext>
            </a:extLst>
          </p:cNvPr>
          <p:cNvSpPr>
            <a:spLocks xmlns:a="http://schemas.openxmlformats.org/drawingml/2006/main" noGrp="1"/>
          </p:cNvSpPr>
          <p:nvPr/>
        </p:nvSpPr>
        <p:spPr>
          <a:xfrm xmlns:a="http://schemas.openxmlformats.org/drawingml/2006/main">
            <a:off x="4937760" y="1463040"/>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350"/>
              <a:buFont typeface="Cambria"/>
              <a:buNone/>
            </a:pPr>
            <a:r>
              <a:rPr sz="1350" b="1" i="0" u="none" cap="none">
                <a:solidFill>
                  <a:srgbClr val="31606B"/>
                </a:solidFill>
                <a:latin typeface="Cambria"/>
                <a:ea typeface="Cambria"/>
                <a:cs typeface="Cambria"/>
              </a:rPr>
              <a:t>What persists?</a:t>
            </a:r>
          </a:p>
        </p:txBody>
      </p:sp>
      <p:sp>
        <p:nvSpPr>
          <p:cNvPr id="164" name="Google Shape;164;p10">
            <a:extLst xmlns:a="http://schemas.openxmlformats.org/drawingml/2006/main">
              <a:ext uri="{FF2B5EF4-FFF2-40B4-BE49-F238E27FC236}">
                <a16:creationId xmlns:a16="http://schemas.microsoft.com/office/drawing/2014/main" id="{96EE7C51-F8CC-42D3-B002-F8751E40D81C}"/>
              </a:ext>
            </a:extLst>
          </p:cNvPr>
          <p:cNvSpPr>
            <a:spLocks xmlns:a="http://schemas.openxmlformats.org/drawingml/2006/main" noGrp="1"/>
          </p:cNvSpPr>
          <p:nvPr/>
        </p:nvSpPr>
        <p:spPr>
          <a:xfrm xmlns:a="http://schemas.openxmlformats.org/drawingml/2006/main">
            <a:off x="4937760" y="1764792"/>
            <a:ext cx="3383280" cy="10972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QFT tracks fields, excitations, symmetries, and conserved quantities. Transformation without everyday annihilation is a parallel, but fields are not bounded ikai and satta is not a dynamical field.</a:t>
            </a:r>
          </a:p>
        </p:txBody>
      </p:sp>
      <p:sp>
        <p:nvSpPr>
          <p:cNvPr id="165" name="Google Shape;165;p10">
            <a:extLst xmlns:a="http://schemas.openxmlformats.org/drawingml/2006/main">
              <a:ext uri="{FF2B5EF4-FFF2-40B4-BE49-F238E27FC236}">
                <a16:creationId xmlns:a16="http://schemas.microsoft.com/office/drawing/2014/main" id="{7E820FAC-C2C0-4A2A-91B5-5DD1DC98D2B5}"/>
              </a:ext>
            </a:extLst>
          </p:cNvPr>
          <p:cNvSpPr>
            <a:spLocks xmlns:a="http://schemas.openxmlformats.org/drawingml/2006/main" noGrp="1"/>
          </p:cNvSpPr>
          <p:nvPr/>
        </p:nvSpPr>
        <p:spPr>
          <a:xfrm xmlns:a="http://schemas.openxmlformats.org/drawingml/2006/main">
            <a:off x="640080" y="3154680"/>
            <a:ext cx="7863840" cy="868680"/>
          </a:xfrm>
          <a:prstGeom xmlns:a="http://schemas.openxmlformats.org/drawingml/2006/main" prst="roundRect">
            <a:avLst>
              <a:gd name="adj" fmla="val 9474"/>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6" name="Google Shape;166;p10">
            <a:extLst xmlns:a="http://schemas.openxmlformats.org/drawingml/2006/main">
              <a:ext uri="{FF2B5EF4-FFF2-40B4-BE49-F238E27FC236}">
                <a16:creationId xmlns:a16="http://schemas.microsoft.com/office/drawing/2014/main" id="{86BA682D-A97C-4AC8-83DA-B8872A2F509B}"/>
              </a:ext>
            </a:extLst>
          </p:cNvPr>
          <p:cNvSpPr>
            <a:spLocks xmlns:a="http://schemas.openxmlformats.org/drawingml/2006/main" noGrp="1"/>
          </p:cNvSpPr>
          <p:nvPr/>
        </p:nvSpPr>
        <p:spPr>
          <a:xfrm xmlns:a="http://schemas.openxmlformats.org/drawingml/2006/main">
            <a:off x="868680" y="3154680"/>
            <a:ext cx="740664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1" i="0" u="none" cap="none">
                <a:solidFill>
                  <a:srgbClr val="9A6414"/>
                </a:solidFill>
                <a:latin typeface="Calibri"/>
                <a:ea typeface="Calibri"/>
                <a:cs typeface="Calibri"/>
              </a:rPr>
              <a:t>Discipline of comparison: use ‘parallel to,’ ‘consonant with,’ or ‘in tension with’ unless a shared operational criterion has been established.</a:t>
            </a:r>
          </a:p>
        </p:txBody>
      </p:sp>
      <p:sp>
        <p:nvSpPr>
          <p:cNvPr id="167" name="Google Shape;167;p10">
            <a:extLst xmlns:a="http://schemas.openxmlformats.org/drawingml/2006/main">
              <a:ext uri="{FF2B5EF4-FFF2-40B4-BE49-F238E27FC236}">
                <a16:creationId xmlns:a16="http://schemas.microsoft.com/office/drawing/2014/main" id="{F53974B1-CC0C-40CD-962E-7E16AEEEA46E}"/>
              </a:ext>
            </a:extLst>
          </p:cNvPr>
          <p:cNvSpPr>
            <a:spLocks xmlns:a="http://schemas.openxmlformats.org/drawingml/2006/main" noGrp="1"/>
          </p:cNvSpPr>
          <p:nvPr/>
        </p:nvSpPr>
        <p:spPr>
          <a:xfrm xmlns:a="http://schemas.openxmlformats.org/drawingml/2006/main">
            <a:off x="640080" y="4206240"/>
            <a:ext cx="795528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100"/>
              <a:buFont typeface="Calibri"/>
              <a:buNone/>
            </a:pPr>
            <a:r>
              <a:rPr sz="1100" b="0" i="1" u="none" cap="none">
                <a:solidFill>
                  <a:srgbClr val="1E2447"/>
                </a:solidFill>
                <a:latin typeface="Calibri"/>
                <a:ea typeface="Calibri"/>
                <a:cs typeface="Calibri"/>
              </a:rPr>
              <a:t>Niyati-kram and evolution work at different descriptive levels. The open task is to map MD’s ordered relations to descent, variation, selection, drift, development, and contingency.</a:t>
            </a:r>
          </a:p>
        </p:txBody>
      </p:sp>
      <p:sp>
        <p:nvSpPr>
          <p:cNvPr id="168" name="Google Shape;168;p10">
            <a:extLst xmlns:a="http://schemas.openxmlformats.org/drawingml/2006/main">
              <a:ext uri="{FF2B5EF4-FFF2-40B4-BE49-F238E27FC236}">
                <a16:creationId xmlns:a16="http://schemas.microsoft.com/office/drawing/2014/main" id="{389F4060-DC5A-4820-9211-C62C5A253DF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Ashtekar &amp; Singh 2011  ·  Penrose 2010  ·  Guth 2007  ·  Weinberg 1995  ·  modern evolutionary synthesis  ·  study §§4.2–4.4, 6.2.3</a:t>
            </a:r>
          </a:p>
        </p:txBody>
      </p:sp>
    </p:spTree>
    <p:extLst>
      <p:ext uri="{BB962C8B-B14F-4D97-AF65-F5344CB8AC3E}">
        <p14:creationId xmlns:p14="http://schemas.microsoft.com/office/powerpoint/2010/main" val="100227046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3" name="Google Shape;253;p16">
            <a:extLst xmlns:a="http://schemas.openxmlformats.org/drawingml/2006/main">
              <a:ext uri="{FF2B5EF4-FFF2-40B4-BE49-F238E27FC236}">
                <a16:creationId xmlns:a16="http://schemas.microsoft.com/office/drawing/2014/main" id="{D80A23E5-7455-4A28-863C-2F23900827CB}"/>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4" name="Google Shape;254;p16">
            <a:extLst xmlns:a="http://schemas.openxmlformats.org/drawingml/2006/main">
              <a:ext uri="{FF2B5EF4-FFF2-40B4-BE49-F238E27FC236}">
                <a16:creationId xmlns:a16="http://schemas.microsoft.com/office/drawing/2014/main" id="{4B6436A7-82A9-4CCF-8667-543BF9044DA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5" name="Google Shape;255;p16">
            <a:extLst xmlns:a="http://schemas.openxmlformats.org/drawingml/2006/main">
              <a:ext uri="{FF2B5EF4-FFF2-40B4-BE49-F238E27FC236}">
                <a16:creationId xmlns:a16="http://schemas.microsoft.com/office/drawing/2014/main" id="{7BA6A51D-854F-497A-8115-9AF6BECF369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6" name="Google Shape;256;p16">
            <a:extLst xmlns:a="http://schemas.openxmlformats.org/drawingml/2006/main">
              <a:ext uri="{FF2B5EF4-FFF2-40B4-BE49-F238E27FC236}">
                <a16:creationId xmlns:a16="http://schemas.microsoft.com/office/drawing/2014/main" id="{D3914DA2-4B45-4648-948A-BD7CDD2D196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§5.1  ·  COMMON AXES BEFORE ALIGNMENTS</a:t>
            </a:r>
          </a:p>
        </p:txBody>
      </p:sp>
      <p:sp>
        <p:nvSpPr>
          <p:cNvPr id="257" name="Google Shape;257;p16">
            <a:extLst xmlns:a="http://schemas.openxmlformats.org/drawingml/2006/main">
              <a:ext uri="{FF2B5EF4-FFF2-40B4-BE49-F238E27FC236}">
                <a16:creationId xmlns:a16="http://schemas.microsoft.com/office/drawing/2014/main" id="{13505023-DE39-405D-9088-4C8E470AC6F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Ten criteria prevent false alliances</a:t>
            </a:r>
          </a:p>
        </p:txBody>
      </p:sp>
      <p:sp>
        <p:nvSpPr>
          <p:cNvPr id="258" name="Google Shape;258;p16">
            <a:extLst xmlns:a="http://schemas.openxmlformats.org/drawingml/2006/main">
              <a:ext uri="{FF2B5EF4-FFF2-40B4-BE49-F238E27FC236}">
                <a16:creationId xmlns:a16="http://schemas.microsoft.com/office/drawing/2014/main" id="{DA654844-0A68-4621-A1E9-327AFBD38A6F}"/>
              </a:ext>
            </a:extLst>
          </p:cNvPr>
          <p:cNvSpPr>
            <a:spLocks xmlns:a="http://schemas.openxmlformats.org/drawingml/2006/main" noGrp="1"/>
          </p:cNvSpPr>
          <p:nvPr/>
        </p:nvSpPr>
        <p:spPr>
          <a:xfrm xmlns:a="http://schemas.openxmlformats.org/drawingml/2006/main">
            <a:off x="640080" y="1325880"/>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9" name="Google Shape;259;p16">
            <a:extLst xmlns:a="http://schemas.openxmlformats.org/drawingml/2006/main">
              <a:ext uri="{FF2B5EF4-FFF2-40B4-BE49-F238E27FC236}">
                <a16:creationId xmlns:a16="http://schemas.microsoft.com/office/drawing/2014/main" id="{0B9CA541-DCB6-4492-901B-249628711BF2}"/>
              </a:ext>
            </a:extLst>
          </p:cNvPr>
          <p:cNvSpPr>
            <a:spLocks xmlns:a="http://schemas.openxmlformats.org/drawingml/2006/main" noGrp="1"/>
          </p:cNvSpPr>
          <p:nvPr/>
        </p:nvSpPr>
        <p:spPr>
          <a:xfrm xmlns:a="http://schemas.openxmlformats.org/drawingml/2006/main">
            <a:off x="786384" y="1453896"/>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0" name="Google Shape;260;p16">
            <a:extLst xmlns:a="http://schemas.openxmlformats.org/drawingml/2006/main">
              <a:ext uri="{FF2B5EF4-FFF2-40B4-BE49-F238E27FC236}">
                <a16:creationId xmlns:a16="http://schemas.microsoft.com/office/drawing/2014/main" id="{46A122EF-5A7C-4857-9748-AA93523A3E11}"/>
              </a:ext>
            </a:extLst>
          </p:cNvPr>
          <p:cNvSpPr>
            <a:spLocks xmlns:a="http://schemas.openxmlformats.org/drawingml/2006/main" noGrp="1"/>
          </p:cNvSpPr>
          <p:nvPr/>
        </p:nvSpPr>
        <p:spPr>
          <a:xfrm xmlns:a="http://schemas.openxmlformats.org/drawingml/2006/main">
            <a:off x="786384" y="1453896"/>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1–2</a:t>
            </a:r>
          </a:p>
        </p:txBody>
      </p:sp>
      <p:sp>
        <p:nvSpPr>
          <p:cNvPr id="261" name="Google Shape;261;p16">
            <a:extLst xmlns:a="http://schemas.openxmlformats.org/drawingml/2006/main">
              <a:ext uri="{FF2B5EF4-FFF2-40B4-BE49-F238E27FC236}">
                <a16:creationId xmlns:a16="http://schemas.microsoft.com/office/drawing/2014/main" id="{8F7F9B68-1806-493D-9707-8787B3D25B8F}"/>
              </a:ext>
            </a:extLst>
          </p:cNvPr>
          <p:cNvSpPr>
            <a:spLocks xmlns:a="http://schemas.openxmlformats.org/drawingml/2006/main" noGrp="1"/>
          </p:cNvSpPr>
          <p:nvPr/>
        </p:nvSpPr>
        <p:spPr>
          <a:xfrm xmlns:a="http://schemas.openxmlformats.org/drawingml/2006/main">
            <a:off x="1298448" y="1399032"/>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Primitives and individuation</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What is fundamental, and what makes one being distinct?</a:t>
            </a:r>
          </a:p>
        </p:txBody>
      </p:sp>
      <p:sp>
        <p:nvSpPr>
          <p:cNvPr id="262" name="Google Shape;262;p16">
            <a:extLst xmlns:a="http://schemas.openxmlformats.org/drawingml/2006/main">
              <a:ext uri="{FF2B5EF4-FFF2-40B4-BE49-F238E27FC236}">
                <a16:creationId xmlns:a16="http://schemas.microsoft.com/office/drawing/2014/main" id="{D02B6860-8F77-4189-A1A7-286B483A217D}"/>
              </a:ext>
            </a:extLst>
          </p:cNvPr>
          <p:cNvSpPr>
            <a:spLocks xmlns:a="http://schemas.openxmlformats.org/drawingml/2006/main" noGrp="1"/>
          </p:cNvSpPr>
          <p:nvPr/>
        </p:nvSpPr>
        <p:spPr>
          <a:xfrm xmlns:a="http://schemas.openxmlformats.org/drawingml/2006/main">
            <a:off x="4709160" y="1325880"/>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3" name="Google Shape;263;p16">
            <a:extLst xmlns:a="http://schemas.openxmlformats.org/drawingml/2006/main">
              <a:ext uri="{FF2B5EF4-FFF2-40B4-BE49-F238E27FC236}">
                <a16:creationId xmlns:a16="http://schemas.microsoft.com/office/drawing/2014/main" id="{797A3BFF-F6B9-4BD2-8462-658667DA1081}"/>
              </a:ext>
            </a:extLst>
          </p:cNvPr>
          <p:cNvSpPr>
            <a:spLocks xmlns:a="http://schemas.openxmlformats.org/drawingml/2006/main" noGrp="1"/>
          </p:cNvSpPr>
          <p:nvPr/>
        </p:nvSpPr>
        <p:spPr>
          <a:xfrm xmlns:a="http://schemas.openxmlformats.org/drawingml/2006/main">
            <a:off x="4855464" y="1453896"/>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4" name="Google Shape;264;p16">
            <a:extLst xmlns:a="http://schemas.openxmlformats.org/drawingml/2006/main">
              <a:ext uri="{FF2B5EF4-FFF2-40B4-BE49-F238E27FC236}">
                <a16:creationId xmlns:a16="http://schemas.microsoft.com/office/drawing/2014/main" id="{47A64D9D-0B2F-47F4-B859-DA307A4C6364}"/>
              </a:ext>
            </a:extLst>
          </p:cNvPr>
          <p:cNvSpPr>
            <a:spLocks xmlns:a="http://schemas.openxmlformats.org/drawingml/2006/main" noGrp="1"/>
          </p:cNvSpPr>
          <p:nvPr/>
        </p:nvSpPr>
        <p:spPr>
          <a:xfrm xmlns:a="http://schemas.openxmlformats.org/drawingml/2006/main">
            <a:off x="4855464" y="1453896"/>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3</a:t>
            </a:r>
          </a:p>
        </p:txBody>
      </p:sp>
      <p:sp>
        <p:nvSpPr>
          <p:cNvPr id="265" name="Google Shape;265;p16">
            <a:extLst xmlns:a="http://schemas.openxmlformats.org/drawingml/2006/main">
              <a:ext uri="{FF2B5EF4-FFF2-40B4-BE49-F238E27FC236}">
                <a16:creationId xmlns:a16="http://schemas.microsoft.com/office/drawing/2014/main" id="{F041C07E-5702-4914-BA43-869CFB1C474C}"/>
              </a:ext>
            </a:extLst>
          </p:cNvPr>
          <p:cNvSpPr>
            <a:spLocks xmlns:a="http://schemas.openxmlformats.org/drawingml/2006/main" noGrp="1"/>
          </p:cNvSpPr>
          <p:nvPr/>
        </p:nvSpPr>
        <p:spPr>
          <a:xfrm xmlns:a="http://schemas.openxmlformats.org/drawingml/2006/main">
            <a:off x="5367528" y="1399032"/>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Ground and particulars</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Does the ground produce, constitute, sustain, or sublate particulars?</a:t>
            </a:r>
          </a:p>
        </p:txBody>
      </p:sp>
      <p:sp>
        <p:nvSpPr>
          <p:cNvPr id="266" name="Google Shape;266;p16">
            <a:extLst xmlns:a="http://schemas.openxmlformats.org/drawingml/2006/main">
              <a:ext uri="{FF2B5EF4-FFF2-40B4-BE49-F238E27FC236}">
                <a16:creationId xmlns:a16="http://schemas.microsoft.com/office/drawing/2014/main" id="{7D9EB267-C5A8-407B-8E54-5641A7A5859A}"/>
              </a:ext>
            </a:extLst>
          </p:cNvPr>
          <p:cNvSpPr>
            <a:spLocks xmlns:a="http://schemas.openxmlformats.org/drawingml/2006/main" noGrp="1"/>
          </p:cNvSpPr>
          <p:nvPr/>
        </p:nvSpPr>
        <p:spPr>
          <a:xfrm xmlns:a="http://schemas.openxmlformats.org/drawingml/2006/main">
            <a:off x="640080" y="2450592"/>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7" name="Google Shape;267;p16">
            <a:extLst xmlns:a="http://schemas.openxmlformats.org/drawingml/2006/main">
              <a:ext uri="{FF2B5EF4-FFF2-40B4-BE49-F238E27FC236}">
                <a16:creationId xmlns:a16="http://schemas.microsoft.com/office/drawing/2014/main" id="{942CF14B-4D62-48CA-89D4-8270A804760A}"/>
              </a:ext>
            </a:extLst>
          </p:cNvPr>
          <p:cNvSpPr>
            <a:spLocks xmlns:a="http://schemas.openxmlformats.org/drawingml/2006/main" noGrp="1"/>
          </p:cNvSpPr>
          <p:nvPr/>
        </p:nvSpPr>
        <p:spPr>
          <a:xfrm xmlns:a="http://schemas.openxmlformats.org/drawingml/2006/main">
            <a:off x="786384" y="2578608"/>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8" name="Google Shape;268;p16">
            <a:extLst xmlns:a="http://schemas.openxmlformats.org/drawingml/2006/main">
              <a:ext uri="{FF2B5EF4-FFF2-40B4-BE49-F238E27FC236}">
                <a16:creationId xmlns:a16="http://schemas.microsoft.com/office/drawing/2014/main" id="{37DE098A-7493-4B89-A469-DE811C64AC90}"/>
              </a:ext>
            </a:extLst>
          </p:cNvPr>
          <p:cNvSpPr>
            <a:spLocks xmlns:a="http://schemas.openxmlformats.org/drawingml/2006/main" noGrp="1"/>
          </p:cNvSpPr>
          <p:nvPr/>
        </p:nvSpPr>
        <p:spPr>
          <a:xfrm xmlns:a="http://schemas.openxmlformats.org/drawingml/2006/main">
            <a:off x="786384" y="2578608"/>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4–5</a:t>
            </a:r>
          </a:p>
        </p:txBody>
      </p:sp>
      <p:sp>
        <p:nvSpPr>
          <p:cNvPr id="269" name="Google Shape;269;p16">
            <a:extLst xmlns:a="http://schemas.openxmlformats.org/drawingml/2006/main">
              <a:ext uri="{FF2B5EF4-FFF2-40B4-BE49-F238E27FC236}">
                <a16:creationId xmlns:a16="http://schemas.microsoft.com/office/drawing/2014/main" id="{3976B953-A17E-41CB-89F6-54A376594A08}"/>
              </a:ext>
            </a:extLst>
          </p:cNvPr>
          <p:cNvSpPr>
            <a:spLocks xmlns:a="http://schemas.openxmlformats.org/drawingml/2006/main" noGrp="1"/>
          </p:cNvSpPr>
          <p:nvPr/>
        </p:nvSpPr>
        <p:spPr>
          <a:xfrm xmlns:a="http://schemas.openxmlformats.org/drawingml/2006/main">
            <a:off x="1298448" y="2523744"/>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World and change</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What remains real, and what persists or transforms?</a:t>
            </a:r>
          </a:p>
        </p:txBody>
      </p:sp>
      <p:sp>
        <p:nvSpPr>
          <p:cNvPr id="270" name="Google Shape;270;p16">
            <a:extLst xmlns:a="http://schemas.openxmlformats.org/drawingml/2006/main">
              <a:ext uri="{FF2B5EF4-FFF2-40B4-BE49-F238E27FC236}">
                <a16:creationId xmlns:a16="http://schemas.microsoft.com/office/drawing/2014/main" id="{D2AF33B8-5A0C-4914-AF84-8B03022FC5A4}"/>
              </a:ext>
            </a:extLst>
          </p:cNvPr>
          <p:cNvSpPr>
            <a:spLocks xmlns:a="http://schemas.openxmlformats.org/drawingml/2006/main" noGrp="1"/>
          </p:cNvSpPr>
          <p:nvPr/>
        </p:nvSpPr>
        <p:spPr>
          <a:xfrm xmlns:a="http://schemas.openxmlformats.org/drawingml/2006/main">
            <a:off x="4709160" y="2450592"/>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1" name="Google Shape;271;p16">
            <a:extLst xmlns:a="http://schemas.openxmlformats.org/drawingml/2006/main">
              <a:ext uri="{FF2B5EF4-FFF2-40B4-BE49-F238E27FC236}">
                <a16:creationId xmlns:a16="http://schemas.microsoft.com/office/drawing/2014/main" id="{9D2E03FA-1B83-4C83-8917-4D1A48035106}"/>
              </a:ext>
            </a:extLst>
          </p:cNvPr>
          <p:cNvSpPr>
            <a:spLocks xmlns:a="http://schemas.openxmlformats.org/drawingml/2006/main" noGrp="1"/>
          </p:cNvSpPr>
          <p:nvPr/>
        </p:nvSpPr>
        <p:spPr>
          <a:xfrm xmlns:a="http://schemas.openxmlformats.org/drawingml/2006/main">
            <a:off x="4855464" y="2578608"/>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2" name="Google Shape;272;p16">
            <a:extLst xmlns:a="http://schemas.openxmlformats.org/drawingml/2006/main">
              <a:ext uri="{FF2B5EF4-FFF2-40B4-BE49-F238E27FC236}">
                <a16:creationId xmlns:a16="http://schemas.microsoft.com/office/drawing/2014/main" id="{8307FBEF-3D3E-4D15-B4EA-BFB3FF828EFE}"/>
              </a:ext>
            </a:extLst>
          </p:cNvPr>
          <p:cNvSpPr>
            <a:spLocks xmlns:a="http://schemas.openxmlformats.org/drawingml/2006/main" noGrp="1"/>
          </p:cNvSpPr>
          <p:nvPr/>
        </p:nvSpPr>
        <p:spPr>
          <a:xfrm xmlns:a="http://schemas.openxmlformats.org/drawingml/2006/main">
            <a:off x="4855464" y="2578608"/>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6</a:t>
            </a:r>
          </a:p>
        </p:txBody>
      </p:sp>
      <p:sp>
        <p:nvSpPr>
          <p:cNvPr id="273" name="Google Shape;273;p16">
            <a:extLst xmlns:a="http://schemas.openxmlformats.org/drawingml/2006/main">
              <a:ext uri="{FF2B5EF4-FFF2-40B4-BE49-F238E27FC236}">
                <a16:creationId xmlns:a16="http://schemas.microsoft.com/office/drawing/2014/main" id="{EF99F09C-E873-4280-95A5-986F1D003592}"/>
              </a:ext>
            </a:extLst>
          </p:cNvPr>
          <p:cNvSpPr>
            <a:spLocks xmlns:a="http://schemas.openxmlformats.org/drawingml/2006/main" noGrp="1"/>
          </p:cNvSpPr>
          <p:nvPr/>
        </p:nvSpPr>
        <p:spPr>
          <a:xfrm xmlns:a="http://schemas.openxmlformats.org/drawingml/2006/main">
            <a:off x="5367528" y="2523744"/>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Self and survival</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What bears experience, and does it persist?</a:t>
            </a:r>
          </a:p>
        </p:txBody>
      </p:sp>
      <p:sp>
        <p:nvSpPr>
          <p:cNvPr id="274" name="Google Shape;274;p16">
            <a:extLst xmlns:a="http://schemas.openxmlformats.org/drawingml/2006/main">
              <a:ext uri="{FF2B5EF4-FFF2-40B4-BE49-F238E27FC236}">
                <a16:creationId xmlns:a16="http://schemas.microsoft.com/office/drawing/2014/main" id="{0F775B15-0072-49F3-A9FB-2D7772C14AE2}"/>
              </a:ext>
            </a:extLst>
          </p:cNvPr>
          <p:cNvSpPr>
            <a:spLocks xmlns:a="http://schemas.openxmlformats.org/drawingml/2006/main" noGrp="1"/>
          </p:cNvSpPr>
          <p:nvPr/>
        </p:nvSpPr>
        <p:spPr>
          <a:xfrm xmlns:a="http://schemas.openxmlformats.org/drawingml/2006/main">
            <a:off x="640080" y="3575304"/>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5" name="Google Shape;275;p16">
            <a:extLst xmlns:a="http://schemas.openxmlformats.org/drawingml/2006/main">
              <a:ext uri="{FF2B5EF4-FFF2-40B4-BE49-F238E27FC236}">
                <a16:creationId xmlns:a16="http://schemas.microsoft.com/office/drawing/2014/main" id="{8C560D40-9C19-4981-A099-3F2813636A8C}"/>
              </a:ext>
            </a:extLst>
          </p:cNvPr>
          <p:cNvSpPr>
            <a:spLocks xmlns:a="http://schemas.openxmlformats.org/drawingml/2006/main" noGrp="1"/>
          </p:cNvSpPr>
          <p:nvPr/>
        </p:nvSpPr>
        <p:spPr>
          <a:xfrm xmlns:a="http://schemas.openxmlformats.org/drawingml/2006/main">
            <a:off x="786384" y="3703320"/>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6" name="Google Shape;276;p16">
            <a:extLst xmlns:a="http://schemas.openxmlformats.org/drawingml/2006/main">
              <a:ext uri="{FF2B5EF4-FFF2-40B4-BE49-F238E27FC236}">
                <a16:creationId xmlns:a16="http://schemas.microsoft.com/office/drawing/2014/main" id="{111916EA-B2F1-4F01-B41D-A96CE8425096}"/>
              </a:ext>
            </a:extLst>
          </p:cNvPr>
          <p:cNvSpPr>
            <a:spLocks xmlns:a="http://schemas.openxmlformats.org/drawingml/2006/main" noGrp="1"/>
          </p:cNvSpPr>
          <p:nvPr/>
        </p:nvSpPr>
        <p:spPr>
          <a:xfrm xmlns:a="http://schemas.openxmlformats.org/drawingml/2006/main">
            <a:off x="786384" y="3703320"/>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7–8</a:t>
            </a:r>
          </a:p>
        </p:txBody>
      </p:sp>
      <p:sp>
        <p:nvSpPr>
          <p:cNvPr id="277" name="Google Shape;277;p16">
            <a:extLst xmlns:a="http://schemas.openxmlformats.org/drawingml/2006/main">
              <a:ext uri="{FF2B5EF4-FFF2-40B4-BE49-F238E27FC236}">
                <a16:creationId xmlns:a16="http://schemas.microsoft.com/office/drawing/2014/main" id="{9748ECDB-C5CE-4D0A-A32F-58D41D3E4015}"/>
              </a:ext>
            </a:extLst>
          </p:cNvPr>
          <p:cNvSpPr>
            <a:spLocks xmlns:a="http://schemas.openxmlformats.org/drawingml/2006/main" noGrp="1"/>
          </p:cNvSpPr>
          <p:nvPr/>
        </p:nvSpPr>
        <p:spPr>
          <a:xfrm xmlns:a="http://schemas.openxmlformats.org/drawingml/2006/main">
            <a:off x="1298448" y="3648456"/>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Time and evidence</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How is history understood, and how are claims warranted?</a:t>
            </a:r>
          </a:p>
        </p:txBody>
      </p:sp>
      <p:sp>
        <p:nvSpPr>
          <p:cNvPr id="278" name="Google Shape;278;p16">
            <a:extLst xmlns:a="http://schemas.openxmlformats.org/drawingml/2006/main">
              <a:ext uri="{FF2B5EF4-FFF2-40B4-BE49-F238E27FC236}">
                <a16:creationId xmlns:a16="http://schemas.microsoft.com/office/drawing/2014/main" id="{42D8443D-61CD-4807-82B3-F2A0F9A9558E}"/>
              </a:ext>
            </a:extLst>
          </p:cNvPr>
          <p:cNvSpPr>
            <a:spLocks xmlns:a="http://schemas.openxmlformats.org/drawingml/2006/main" noGrp="1"/>
          </p:cNvSpPr>
          <p:nvPr/>
        </p:nvSpPr>
        <p:spPr>
          <a:xfrm xmlns:a="http://schemas.openxmlformats.org/drawingml/2006/main">
            <a:off x="4709160" y="3575304"/>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9" name="Google Shape;279;p16">
            <a:extLst xmlns:a="http://schemas.openxmlformats.org/drawingml/2006/main">
              <a:ext uri="{FF2B5EF4-FFF2-40B4-BE49-F238E27FC236}">
                <a16:creationId xmlns:a16="http://schemas.microsoft.com/office/drawing/2014/main" id="{196494C5-B516-458B-BE9B-CD47C9246DD1}"/>
              </a:ext>
            </a:extLst>
          </p:cNvPr>
          <p:cNvSpPr>
            <a:spLocks xmlns:a="http://schemas.openxmlformats.org/drawingml/2006/main" noGrp="1"/>
          </p:cNvSpPr>
          <p:nvPr/>
        </p:nvSpPr>
        <p:spPr>
          <a:xfrm xmlns:a="http://schemas.openxmlformats.org/drawingml/2006/main">
            <a:off x="4855464" y="3703320"/>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0" name="Google Shape;280;p16">
            <a:extLst xmlns:a="http://schemas.openxmlformats.org/drawingml/2006/main">
              <a:ext uri="{FF2B5EF4-FFF2-40B4-BE49-F238E27FC236}">
                <a16:creationId xmlns:a16="http://schemas.microsoft.com/office/drawing/2014/main" id="{BEFD6F10-6A71-4792-A51B-CC60FB65B3C2}"/>
              </a:ext>
            </a:extLst>
          </p:cNvPr>
          <p:cNvSpPr>
            <a:spLocks xmlns:a="http://schemas.openxmlformats.org/drawingml/2006/main" noGrp="1"/>
          </p:cNvSpPr>
          <p:nvPr/>
        </p:nvSpPr>
        <p:spPr>
          <a:xfrm xmlns:a="http://schemas.openxmlformats.org/drawingml/2006/main">
            <a:off x="4855464" y="3703320"/>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9–10</a:t>
            </a:r>
          </a:p>
        </p:txBody>
      </p:sp>
      <p:sp>
        <p:nvSpPr>
          <p:cNvPr id="281" name="Google Shape;281;p16">
            <a:extLst xmlns:a="http://schemas.openxmlformats.org/drawingml/2006/main">
              <a:ext uri="{FF2B5EF4-FFF2-40B4-BE49-F238E27FC236}">
                <a16:creationId xmlns:a16="http://schemas.microsoft.com/office/drawing/2014/main" id="{54195CA7-EA16-483C-A14D-D1CBF036C300}"/>
              </a:ext>
            </a:extLst>
          </p:cNvPr>
          <p:cNvSpPr>
            <a:spLocks xmlns:a="http://schemas.openxmlformats.org/drawingml/2006/main" noGrp="1"/>
          </p:cNvSpPr>
          <p:nvPr/>
        </p:nvSpPr>
        <p:spPr>
          <a:xfrm xmlns:a="http://schemas.openxmlformats.org/drawingml/2006/main">
            <a:off x="5367528" y="3648456"/>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Value and correction</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Is purpose real, and what could revise the view?</a:t>
            </a:r>
          </a:p>
        </p:txBody>
      </p:sp>
      <p:sp>
        <p:nvSpPr>
          <p:cNvPr id="282" name="Google Shape;282;p16">
            <a:extLst xmlns:a="http://schemas.openxmlformats.org/drawingml/2006/main">
              <a:ext uri="{FF2B5EF4-FFF2-40B4-BE49-F238E27FC236}">
                <a16:creationId xmlns:a16="http://schemas.microsoft.com/office/drawing/2014/main" id="{42971A78-404A-4E25-BA25-E15B2FA4D2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Limited agreements emerge only after the axes are clear. No pair shares an entire ontology against a third.</a:t>
            </a:r>
          </a:p>
        </p:txBody>
      </p:sp>
    </p:spTree>
    <p:extLst>
      <p:ext uri="{BB962C8B-B14F-4D97-AF65-F5344CB8AC3E}">
        <p14:creationId xmlns:p14="http://schemas.microsoft.com/office/powerpoint/2010/main" val="109576889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7" name="Google Shape;197;p12">
            <a:extLst xmlns:a="http://schemas.openxmlformats.org/drawingml/2006/main">
              <a:ext uri="{FF2B5EF4-FFF2-40B4-BE49-F238E27FC236}">
                <a16:creationId xmlns:a16="http://schemas.microsoft.com/office/drawing/2014/main" id="{4D5794B4-A3DB-4F2A-AD30-473D60CFFC7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8" name="Google Shape;198;p12">
            <a:extLst xmlns:a="http://schemas.openxmlformats.org/drawingml/2006/main">
              <a:ext uri="{FF2B5EF4-FFF2-40B4-BE49-F238E27FC236}">
                <a16:creationId xmlns:a16="http://schemas.microsoft.com/office/drawing/2014/main" id="{D64CACBC-ADED-47E0-8005-727ADD10303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9" name="Google Shape;199;p12">
            <a:extLst xmlns:a="http://schemas.openxmlformats.org/drawingml/2006/main">
              <a:ext uri="{FF2B5EF4-FFF2-40B4-BE49-F238E27FC236}">
                <a16:creationId xmlns:a16="http://schemas.microsoft.com/office/drawing/2014/main" id="{1799FDDD-04BC-482F-83D4-868C9A796B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0" name="Google Shape;200;p12">
            <a:extLst xmlns:a="http://schemas.openxmlformats.org/drawingml/2006/main">
              <a:ext uri="{FF2B5EF4-FFF2-40B4-BE49-F238E27FC236}">
                <a16:creationId xmlns:a16="http://schemas.microsoft.com/office/drawing/2014/main" id="{D0A7DF22-3444-412E-AB96-E989947132A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§§5.2–5.3  ·  FOUNDATIONS</a:t>
            </a:r>
          </a:p>
        </p:txBody>
      </p:sp>
      <p:sp>
        <p:nvSpPr>
          <p:cNvPr id="201" name="Google Shape;201;p12">
            <a:extLst xmlns:a="http://schemas.openxmlformats.org/drawingml/2006/main">
              <a:ext uri="{FF2B5EF4-FFF2-40B4-BE49-F238E27FC236}">
                <a16:creationId xmlns:a16="http://schemas.microsoft.com/office/drawing/2014/main" id="{41DDB6B4-1758-4784-9A6C-95DADA3C8D1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Ground, self, and matter divide the views</a:t>
            </a:r>
          </a:p>
        </p:txBody>
      </p:sp>
      <p:graphicFrame>
        <p:nvGraphicFramePr>
          <p:cNvPr id="210" name="Google Shape;202;p12"/>
          <p:cNvGraphicFramePr/>
          <p:nvPr/>
        </p:nvGraphicFramePr>
        <p:xfrm>
          <a:off xmlns:a="http://schemas.openxmlformats.org/drawingml/2006/main" x="502920" y="1298448"/>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463050"/>
                <a:gridCol w="2331725"/>
                <a:gridCol w="2148850"/>
                <a:gridCol w="2194550"/>
              </a:tblGrid>
              <a:tr h="292600">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Aspect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Madhyasth Darshan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Advaita Vedanta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Contemporary metaphysics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Fundamental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Omnipresence plus real units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Brahman alone at paramartha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Physical, experiential, neutral, form–matter, or process primitives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Individuation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Bounded units; jeevan permanently distinct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Individuality conditioned; true Self is Brahman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Organism, continuity, soul-form, monad, subject, or process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Sentient bearer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Constitutionally complete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Atman is non-dual Brahman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Physical organisation or a rival non-reductive bearer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Matter and body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Real jada units compose jeevan’s instrument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Name-form valid at vyavahara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Mind-independent physical or embodied organisation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Survival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Yes, grounded in gathanpurnata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Not as a separate individual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Generally no; some soul-form or monadic views allow persistence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11475">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Ground relation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Saturation, not production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Effect has no being apart from Brahman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Reduction, constitution, grounding, modes, or process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03" name="Google Shape;203;p12">
            <a:extLst xmlns:a="http://schemas.openxmlformats.org/drawingml/2006/main">
              <a:ext uri="{FF2B5EF4-FFF2-40B4-BE49-F238E27FC236}">
                <a16:creationId xmlns:a16="http://schemas.microsoft.com/office/drawing/2014/main" id="{B72C114B-C0D9-43E5-9BD3-960A79EF549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Science measures organismal, neural, cognitive, and social continuities; whether those exhaust the bearer or establish survival remains a metaphysical question.</a:t>
            </a:r>
          </a:p>
        </p:txBody>
      </p:sp>
    </p:spTree>
    <p:extLst>
      <p:ext uri="{BB962C8B-B14F-4D97-AF65-F5344CB8AC3E}">
        <p14:creationId xmlns:p14="http://schemas.microsoft.com/office/powerpoint/2010/main" val="143629077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7" name="Google Shape;197;p12">
            <a:extLst xmlns:a="http://schemas.openxmlformats.org/drawingml/2006/main">
              <a:ext uri="{FF2B5EF4-FFF2-40B4-BE49-F238E27FC236}">
                <a16:creationId xmlns:a16="http://schemas.microsoft.com/office/drawing/2014/main" id="{4D5794B4-A3DB-4F2A-AD30-473D60CFFC7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8" name="Google Shape;198;p12">
            <a:extLst xmlns:a="http://schemas.openxmlformats.org/drawingml/2006/main">
              <a:ext uri="{FF2B5EF4-FFF2-40B4-BE49-F238E27FC236}">
                <a16:creationId xmlns:a16="http://schemas.microsoft.com/office/drawing/2014/main" id="{D64CACBC-ADED-47E0-8005-727ADD10303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9" name="Google Shape;199;p12">
            <a:extLst xmlns:a="http://schemas.openxmlformats.org/drawingml/2006/main">
              <a:ext uri="{FF2B5EF4-FFF2-40B4-BE49-F238E27FC236}">
                <a16:creationId xmlns:a16="http://schemas.microsoft.com/office/drawing/2014/main" id="{1799FDDD-04BC-482F-83D4-868C9A796B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0" name="Google Shape;200;p12">
            <a:extLst xmlns:a="http://schemas.openxmlformats.org/drawingml/2006/main">
              <a:ext uri="{FF2B5EF4-FFF2-40B4-BE49-F238E27FC236}">
                <a16:creationId xmlns:a16="http://schemas.microsoft.com/office/drawing/2014/main" id="{D0A7DF22-3444-412E-AB96-E989947132A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§§5.2–5.4  ·  WORLD, CHANGE, TIME</a:t>
            </a:r>
          </a:p>
        </p:txBody>
      </p:sp>
      <p:sp>
        <p:nvSpPr>
          <p:cNvPr id="201" name="Google Shape;201;p12">
            <a:extLst xmlns:a="http://schemas.openxmlformats.org/drawingml/2006/main">
              <a:ext uri="{FF2B5EF4-FFF2-40B4-BE49-F238E27FC236}">
                <a16:creationId xmlns:a16="http://schemas.microsoft.com/office/drawing/2014/main" id="{41DDB6B4-1758-4784-9A6C-95DADA3C8D1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What finally persists divides the views</a:t>
            </a:r>
          </a:p>
        </p:txBody>
      </p:sp>
      <p:graphicFrame>
        <p:nvGraphicFramePr>
          <p:cNvPr id="210" name="Google Shape;202;p12"/>
          <p:cNvGraphicFramePr/>
          <p:nvPr/>
        </p:nvGraphicFramePr>
        <p:xfrm>
          <a:off xmlns:a="http://schemas.openxmlformats.org/drawingml/2006/main" x="502920" y="1298448"/>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463050"/>
                <a:gridCol w="2331725"/>
                <a:gridCol w="2148850"/>
                <a:gridCol w="2194550"/>
              </a:tblGrid>
              <a:tr h="292600">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Aspect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Madhyasth Darshan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Advaita Vedanta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Contemporary metaphysics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World status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Perpetual; retains final ontological weight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Robust at vyavahara; no independent being at paramartha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Realism, idealism, structuralism, and instrumentalism vary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Change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Real transformation of units; satta actionless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Effect–cause non-difference and vivarta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Dynamics, emergence, process, or form–matter change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Causation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Sustaining mahakaran; units act in mutuality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Causal teaching at vyavahara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Laws, constraints, mechanisms, probabilities, or higher-level causes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Beginning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No existence from abhava; configurations change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Brahman beginningless; empirical cycles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Cosmic history and absolute beginning receive different answers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Time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Duration of unit-activity; satta timeless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Valid at vyavahara; Brahman timeless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Eternalist, presentist, relational, and process accounts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11475">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Value and telos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Values structural; humane conduct evidences awakening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Dharma and loka-sangraha; moksha through knowledge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Ontology alone does not fix ethics; naturalisms and realisms compete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03" name="Google Shape;203;p12">
            <a:extLst xmlns:a="http://schemas.openxmlformats.org/drawingml/2006/main">
              <a:ext uri="{FF2B5EF4-FFF2-40B4-BE49-F238E27FC236}">
                <a16:creationId xmlns:a16="http://schemas.microsoft.com/office/drawing/2014/main" id="{B72C114B-C0D9-43E5-9BD3-960A79EF549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Empirical science reconstructs histories through dynamics, probabilities, boundary conditions, mechanisms, and selection; it does not by itself choose one complete metaphysics.</a:t>
            </a:r>
          </a:p>
        </p:txBody>
      </p:sp>
    </p:spTree>
    <p:extLst>
      <p:ext uri="{BB962C8B-B14F-4D97-AF65-F5344CB8AC3E}">
        <p14:creationId xmlns:p14="http://schemas.microsoft.com/office/powerpoint/2010/main" val="143629077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3" name="Google Shape;223;p14">
            <a:extLst xmlns:a="http://schemas.openxmlformats.org/drawingml/2006/main">
              <a:ext uri="{FF2B5EF4-FFF2-40B4-BE49-F238E27FC236}">
                <a16:creationId xmlns:a16="http://schemas.microsoft.com/office/drawing/2014/main" id="{35987D8A-E87A-48B9-BDFC-CB3F1DFB82B4}"/>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4" name="Google Shape;224;p14">
            <a:extLst xmlns:a="http://schemas.openxmlformats.org/drawingml/2006/main">
              <a:ext uri="{FF2B5EF4-FFF2-40B4-BE49-F238E27FC236}">
                <a16:creationId xmlns:a16="http://schemas.microsoft.com/office/drawing/2014/main" id="{9A09CFDA-4CD9-4CFA-801A-40232AE23F3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5" name="Google Shape;225;p14">
            <a:extLst xmlns:a="http://schemas.openxmlformats.org/drawingml/2006/main">
              <a:ext uri="{FF2B5EF4-FFF2-40B4-BE49-F238E27FC236}">
                <a16:creationId xmlns:a16="http://schemas.microsoft.com/office/drawing/2014/main" id="{ADDA4E60-AF76-4D0B-8DB2-528B8A5962C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6" name="Google Shape;226;p14">
            <a:extLst xmlns:a="http://schemas.openxmlformats.org/drawingml/2006/main">
              <a:ext uri="{FF2B5EF4-FFF2-40B4-BE49-F238E27FC236}">
                <a16:creationId xmlns:a16="http://schemas.microsoft.com/office/drawing/2014/main" id="{56BBE441-B753-44B6-A015-38AFD24E881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§§5.3.5–5.3.6  ·  WARRANT AND VALUE</a:t>
            </a:r>
          </a:p>
        </p:txBody>
      </p:sp>
      <p:sp>
        <p:nvSpPr>
          <p:cNvPr id="227" name="Google Shape;227;p14">
            <a:extLst xmlns:a="http://schemas.openxmlformats.org/drawingml/2006/main">
              <a:ext uri="{FF2B5EF4-FFF2-40B4-BE49-F238E27FC236}">
                <a16:creationId xmlns:a16="http://schemas.microsoft.com/office/drawing/2014/main" id="{DAFA6E44-1301-44A6-9A75-CB59FC453C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Methods expose different kinds of claim</a:t>
            </a:r>
          </a:p>
        </p:txBody>
      </p:sp>
      <p:graphicFrame>
        <p:nvGraphicFramePr>
          <p:cNvPr id="237" name="Google Shape;228;p14"/>
          <p:cNvGraphicFramePr/>
          <p:nvPr/>
        </p:nvGraphicFramePr>
        <p:xfrm>
          <a:off xmlns:a="http://schemas.openxmlformats.org/drawingml/2006/main" x="50292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554475"/>
                <a:gridCol w="2057400"/>
                <a:gridCol w="2468875"/>
                <a:gridCol w="2057400"/>
              </a:tblGrid>
              <a:tr h="329175">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View</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Principal method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6D2E46"/>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Claimed reach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3B4A7A"/>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Exposed boundary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31606B"/>
                    </a:solidFill>
                  </a:tcPr>
                </a:tc>
              </a:tr>
              <a:tr h="548650">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Madhyasth Darshan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Study → experiment/practice → realisation → conduct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Coexistence, jeevan, humane 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Needs public criteria for gathanpurnata and persistence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777250">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Advaita Vedanta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Shabda, reasoning, contemplative discrimination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Non-dual identity; removal of superimposition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Authority and sublation criteria are not shared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48650">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Contemporary philosophy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Argument, phenomenology, explanatory comparison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Coherence and comparative plausibility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Persistent disagreement; few decisive tests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29" name="Google Shape;229;p14">
            <a:extLst xmlns:a="http://schemas.openxmlformats.org/drawingml/2006/main">
              <a:ext uri="{FF2B5EF4-FFF2-40B4-BE49-F238E27FC236}">
                <a16:creationId xmlns:a16="http://schemas.microsoft.com/office/drawing/2014/main" id="{ADCC82A9-01D4-4C99-8A79-7EDE266B8EEB}"/>
              </a:ext>
            </a:extLst>
          </p:cNvPr>
          <p:cNvSpPr>
            <a:spLocks xmlns:a="http://schemas.openxmlformats.org/drawingml/2006/main" noGrp="1"/>
          </p:cNvSpPr>
          <p:nvPr/>
        </p:nvSpPr>
        <p:spPr>
          <a:xfrm xmlns:a="http://schemas.openxmlformats.org/drawingml/2006/main">
            <a:off x="640080" y="416052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200"/>
              <a:buFont typeface="Calibri"/>
              <a:buNone/>
            </a:pPr>
            <a:r>
              <a:rPr sz="1200" b="1" i="1" u="none" cap="none">
                <a:solidFill>
                  <a:srgbClr val="9A6414"/>
                </a:solidFill>
                <a:latin typeface="Calibri"/>
                <a:ea typeface="Calibri"/>
                <a:cs typeface="Calibri"/>
              </a:rPr>
              <a:t>Empirical science: observation, instrumentation, modelling, intervention, replication, and criticism establish public mechanisms and constraints—not a complete metaphysics or ultimate value.</a:t>
            </a:r>
          </a:p>
        </p:txBody>
      </p:sp>
      <p:sp>
        <p:nvSpPr>
          <p:cNvPr id="230" name="Google Shape;230;p14">
            <a:extLst xmlns:a="http://schemas.openxmlformats.org/drawingml/2006/main">
              <a:ext uri="{FF2B5EF4-FFF2-40B4-BE49-F238E27FC236}">
                <a16:creationId xmlns:a16="http://schemas.microsoft.com/office/drawing/2014/main" id="{C63E2E3B-1B7C-4BA1-A626-4CAC99037C9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Comparison remains possible when each claim states its method, reach, and what could count against it.</a:t>
            </a:r>
          </a:p>
        </p:txBody>
      </p:sp>
    </p:spTree>
    <p:extLst>
      <p:ext uri="{BB962C8B-B14F-4D97-AF65-F5344CB8AC3E}">
        <p14:creationId xmlns:p14="http://schemas.microsoft.com/office/powerpoint/2010/main" val="92932568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9" name="Google Shape;209;p13">
            <a:extLst xmlns:a="http://schemas.openxmlformats.org/drawingml/2006/main">
              <a:ext uri="{FF2B5EF4-FFF2-40B4-BE49-F238E27FC236}">
                <a16:creationId xmlns:a16="http://schemas.microsoft.com/office/drawing/2014/main" id="{72C76C8D-3167-4CCF-B581-AFF0701A23D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0" name="Google Shape;210;p13">
            <a:extLst xmlns:a="http://schemas.openxmlformats.org/drawingml/2006/main">
              <a:ext uri="{FF2B5EF4-FFF2-40B4-BE49-F238E27FC236}">
                <a16:creationId xmlns:a16="http://schemas.microsoft.com/office/drawing/2014/main" id="{21E18DD7-D151-4044-B4F3-9689597B1FF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1" name="Google Shape;211;p13">
            <a:extLst xmlns:a="http://schemas.openxmlformats.org/drawingml/2006/main">
              <a:ext uri="{FF2B5EF4-FFF2-40B4-BE49-F238E27FC236}">
                <a16:creationId xmlns:a16="http://schemas.microsoft.com/office/drawing/2014/main" id="{E91D1584-E2DD-4DF9-A9CA-29E10A1B8F0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2" name="Google Shape;212;p13">
            <a:extLst xmlns:a="http://schemas.openxmlformats.org/drawingml/2006/main">
              <a:ext uri="{FF2B5EF4-FFF2-40B4-BE49-F238E27FC236}">
                <a16:creationId xmlns:a16="http://schemas.microsoft.com/office/drawing/2014/main" id="{0A336E97-8631-4B8D-B59A-57D86909B1D7}"/>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§5.6  ·  UNIFIED AND DISTRIBUTED READINGS</a:t>
            </a:r>
          </a:p>
        </p:txBody>
      </p:sp>
      <p:sp>
        <p:nvSpPr>
          <p:cNvPr id="213" name="Google Shape;213;p13">
            <a:extLst xmlns:a="http://schemas.openxmlformats.org/drawingml/2006/main">
              <a:ext uri="{FF2B5EF4-FFF2-40B4-BE49-F238E27FC236}">
                <a16:creationId xmlns:a16="http://schemas.microsoft.com/office/drawing/2014/main" id="{7A597201-CB19-4834-A5BA-D8197E8B1FFB}"/>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Sat–Chit–Ananda: one term, two structures</a:t>
            </a:r>
          </a:p>
        </p:txBody>
      </p:sp>
      <p:graphicFrame>
        <p:nvGraphicFramePr>
          <p:cNvPr id="224" name="Google Shape;214;p13"/>
          <p:cNvGraphicFramePr/>
          <p:nvPr/>
        </p:nvGraphicFramePr>
        <p:xfrm>
          <a:off xmlns:a="http://schemas.openxmlformats.org/drawingml/2006/main" x="64008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417325"/>
                <a:gridCol w="3200400"/>
                <a:gridCol w="3246125"/>
              </a:tblGrid>
              <a:tr h="329175">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Concept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Advaita Vedanta</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6D2E46"/>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Madhyasth Darshan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3B4A7A"/>
                    </a:solidFill>
                  </a:tcPr>
                </a:tc>
              </a:tr>
              <a:tr h="566925">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Sat (being)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Brahman alone is absolute being; world is dependent, not sheer nothing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Astitva is coexistence of Omnipresence and countless real units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66925">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Chit (awareness)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Brahman is self-luminous awareness; the Self is not an object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Omnipresence is intelligibility-ground; active sentience belongs to jeevan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66925">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Ananda (fullness / bliss)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Intrinsic limitlessness and fullness of Brahman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Realised harmony in awakened jeevan, evidenced in conduct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15" name="Google Shape;215;p13">
            <a:extLst xmlns:a="http://schemas.openxmlformats.org/drawingml/2006/main">
              <a:ext uri="{FF2B5EF4-FFF2-40B4-BE49-F238E27FC236}">
                <a16:creationId xmlns:a16="http://schemas.microsoft.com/office/drawing/2014/main" id="{D6355F4E-DF49-4E10-A92A-D59EF021B466}"/>
              </a:ext>
            </a:extLst>
          </p:cNvPr>
          <p:cNvSpPr>
            <a:spLocks xmlns:a="http://schemas.openxmlformats.org/drawingml/2006/main" noGrp="1"/>
          </p:cNvSpPr>
          <p:nvPr/>
        </p:nvSpPr>
        <p:spPr>
          <a:xfrm xmlns:a="http://schemas.openxmlformats.org/drawingml/2006/main">
            <a:off x="640080" y="3840480"/>
            <a:ext cx="7863840" cy="822960"/>
          </a:xfrm>
          <a:prstGeom xmlns:a="http://schemas.openxmlformats.org/drawingml/2006/main" prst="roundRect">
            <a:avLst>
              <a:gd name="adj" fmla="val 10000"/>
            </a:avLst>
          </a:prstGeom>
          <a:solidFill xmlns:a="http://schemas.openxmlformats.org/drawingml/2006/main">
            <a:srgbClr val="EEF1F8"/>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6" name="Google Shape;216;p13">
            <a:extLst xmlns:a="http://schemas.openxmlformats.org/drawingml/2006/main">
              <a:ext uri="{FF2B5EF4-FFF2-40B4-BE49-F238E27FC236}">
                <a16:creationId xmlns:a16="http://schemas.microsoft.com/office/drawing/2014/main" id="{FDF6C29C-647F-43CC-883E-C3C01EF9B4EE}"/>
              </a:ext>
            </a:extLst>
          </p:cNvPr>
          <p:cNvSpPr>
            <a:spLocks xmlns:a="http://schemas.openxmlformats.org/drawingml/2006/main" noGrp="1"/>
          </p:cNvSpPr>
          <p:nvPr/>
        </p:nvSpPr>
        <p:spPr>
          <a:xfrm xmlns:a="http://schemas.openxmlformats.org/drawingml/2006/main">
            <a:off x="868680" y="3840480"/>
            <a:ext cx="740664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150"/>
              <a:buFont typeface="Calibri"/>
              <a:buNone/>
            </a:pPr>
            <a:r>
              <a:rPr sz="1150" b="1" i="0" u="none" cap="none">
                <a:solidFill>
                  <a:srgbClr val="1E2447"/>
                </a:solidFill>
                <a:latin typeface="Calibri"/>
                <a:ea typeface="Calibri"/>
                <a:cs typeface="Calibri"/>
              </a:rPr>
              <a:t>Limited alignment: neither view reduces the knower to an observed brain-state. The decisive divergence is one impersonal Self versus many permanently distinct jeevan units.</a:t>
            </a:r>
          </a:p>
        </p:txBody>
      </p:sp>
      <p:sp>
        <p:nvSpPr>
          <p:cNvPr id="217" name="Google Shape;217;p13">
            <a:extLst xmlns:a="http://schemas.openxmlformats.org/drawingml/2006/main">
              <a:ext uri="{FF2B5EF4-FFF2-40B4-BE49-F238E27FC236}">
                <a16:creationId xmlns:a16="http://schemas.microsoft.com/office/drawing/2014/main" id="{AC445F3B-FF35-40A3-AAEC-2D4E6D6ABA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CU 6.2.1  ·  TU 2.1.1  ·  DDV vv. 1–5  ·  VC v. 217  ·  MVD §§1.8, 1.13  ·  study §5.6</a:t>
            </a:r>
          </a:p>
        </p:txBody>
      </p:sp>
    </p:spTree>
    <p:extLst>
      <p:ext uri="{BB962C8B-B14F-4D97-AF65-F5344CB8AC3E}">
        <p14:creationId xmlns:p14="http://schemas.microsoft.com/office/powerpoint/2010/main" val="148998606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6" name="Google Shape;236;p15">
            <a:extLst xmlns:a="http://schemas.openxmlformats.org/drawingml/2006/main">
              <a:ext uri="{FF2B5EF4-FFF2-40B4-BE49-F238E27FC236}">
                <a16:creationId xmlns:a16="http://schemas.microsoft.com/office/drawing/2014/main" id="{2E5744EC-14F4-401E-82F2-2DC00DE85DC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7" name="Google Shape;237;p15">
            <a:extLst xmlns:a="http://schemas.openxmlformats.org/drawingml/2006/main">
              <a:ext uri="{FF2B5EF4-FFF2-40B4-BE49-F238E27FC236}">
                <a16:creationId xmlns:a16="http://schemas.microsoft.com/office/drawing/2014/main" id="{0CF0A71F-CD7E-4EA0-AD53-2CA43E0E9C1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8" name="Google Shape;238;p15">
            <a:extLst xmlns:a="http://schemas.openxmlformats.org/drawingml/2006/main">
              <a:ext uri="{FF2B5EF4-FFF2-40B4-BE49-F238E27FC236}">
                <a16:creationId xmlns:a16="http://schemas.microsoft.com/office/drawing/2014/main" id="{1E131137-0D7A-4C4D-BF3A-933EA353BDC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9" name="Google Shape;239;p15">
            <a:extLst xmlns:a="http://schemas.openxmlformats.org/drawingml/2006/main">
              <a:ext uri="{FF2B5EF4-FFF2-40B4-BE49-F238E27FC236}">
                <a16:creationId xmlns:a16="http://schemas.microsoft.com/office/drawing/2014/main" id="{80DD06F5-BDC7-48CE-9DF3-485313F923B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§5.7  ·  ANALOGY WITHOUT IDENTITY</a:t>
            </a:r>
          </a:p>
        </p:txBody>
      </p:sp>
      <p:sp>
        <p:nvSpPr>
          <p:cNvPr id="240" name="Google Shape;240;p15">
            <a:extLst xmlns:a="http://schemas.openxmlformats.org/drawingml/2006/main">
              <a:ext uri="{FF2B5EF4-FFF2-40B4-BE49-F238E27FC236}">
                <a16:creationId xmlns:a16="http://schemas.microsoft.com/office/drawing/2014/main" id="{D20835B4-EEB0-4A9C-8BAA-2CA649A1D37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Analogy is not ontological equivalence</a:t>
            </a:r>
          </a:p>
        </p:txBody>
      </p:sp>
      <p:sp>
        <p:nvSpPr>
          <p:cNvPr id="241" name="Google Shape;241;p15">
            <a:extLst xmlns:a="http://schemas.openxmlformats.org/drawingml/2006/main">
              <a:ext uri="{FF2B5EF4-FFF2-40B4-BE49-F238E27FC236}">
                <a16:creationId xmlns:a16="http://schemas.microsoft.com/office/drawing/2014/main" id="{ADFEE009-D952-4BAF-B456-10EE8165AD35}"/>
              </a:ext>
            </a:extLst>
          </p:cNvPr>
          <p:cNvSpPr>
            <a:spLocks xmlns:a="http://schemas.openxmlformats.org/drawingml/2006/main" noGrp="1"/>
          </p:cNvSpPr>
          <p:nvPr/>
        </p:nvSpPr>
        <p:spPr>
          <a:xfrm xmlns:a="http://schemas.openxmlformats.org/drawingml/2006/main">
            <a:off x="640080" y="1325880"/>
            <a:ext cx="3794760" cy="3154680"/>
          </a:xfrm>
          <a:prstGeom xmlns:a="http://schemas.openxmlformats.org/drawingml/2006/main" prst="roundRect">
            <a:avLst>
              <a:gd name="adj" fmla="val 2899"/>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2" name="Google Shape;242;p15">
            <a:extLst xmlns:a="http://schemas.openxmlformats.org/drawingml/2006/main">
              <a:ext uri="{FF2B5EF4-FFF2-40B4-BE49-F238E27FC236}">
                <a16:creationId xmlns:a16="http://schemas.microsoft.com/office/drawing/2014/main" id="{7896E55B-D5E4-4A13-9568-3359F3AB7B5C}"/>
              </a:ext>
            </a:extLst>
          </p:cNvPr>
          <p:cNvSpPr>
            <a:spLocks xmlns:a="http://schemas.openxmlformats.org/drawingml/2006/main" noGrp="1"/>
          </p:cNvSpPr>
          <p:nvPr/>
        </p:nvSpPr>
        <p:spPr>
          <a:xfrm xmlns:a="http://schemas.openxmlformats.org/drawingml/2006/main">
            <a:off x="868680" y="1463040"/>
            <a:ext cx="329184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400"/>
              <a:buFont typeface="Cambria"/>
              <a:buNone/>
            </a:pPr>
            <a:r>
              <a:rPr sz="1400" b="1" i="0" u="none" cap="none">
                <a:solidFill>
                  <a:srgbClr val="6D2E46"/>
                </a:solidFill>
                <a:latin typeface="Cambria"/>
                <a:ea typeface="Cambria"/>
                <a:cs typeface="Cambria"/>
              </a:rPr>
              <a:t>Limited structural analogies</a:t>
            </a:r>
          </a:p>
        </p:txBody>
      </p:sp>
      <p:sp>
        <p:nvSpPr>
          <p:cNvPr id="243" name="Google Shape;243;p15">
            <a:extLst xmlns:a="http://schemas.openxmlformats.org/drawingml/2006/main">
              <a:ext uri="{FF2B5EF4-FFF2-40B4-BE49-F238E27FC236}">
                <a16:creationId xmlns:a16="http://schemas.microsoft.com/office/drawing/2014/main" id="{2153181A-318C-4C0B-983A-FCA4D1DA2C46}"/>
              </a:ext>
            </a:extLst>
          </p:cNvPr>
          <p:cNvSpPr>
            <a:spLocks xmlns:a="http://schemas.openxmlformats.org/drawingml/2006/main" noGrp="1"/>
          </p:cNvSpPr>
          <p:nvPr/>
        </p:nvSpPr>
        <p:spPr>
          <a:xfrm xmlns:a="http://schemas.openxmlformats.org/drawingml/2006/main">
            <a:off x="868680" y="1828800"/>
            <a:ext cx="3383280" cy="2560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342900" marR="0" indent="-342900" algn="l">
              <a:spcBef>
                <a:spcPts val="0"/>
              </a:spcBef>
              <a:spcAft>
                <a:spcPts val="0"/>
              </a:spcAft>
              <a:buClr>
                <a:srgbClr val="5A6377"/>
              </a:buClr>
              <a:buSzPts val="1030"/>
              <a:buFont typeface="Calibri"/>
              <a:buChar char="•"/>
            </a:pPr>
            <a:r>
              <a:rPr sz="1030" b="0" i="0" u="none" cap="none">
                <a:solidFill>
                  <a:srgbClr val="5A6377"/>
                </a:solidFill>
                <a:latin typeface="Calibri"/>
                <a:ea typeface="Calibri"/>
                <a:cs typeface="Calibri"/>
              </a:rPr>
              <a:t>Brahman / satta — both are described as formless and non-transforming, but their one–many structures differ</a:t>
            </a:r>
          </a:p>
          <a:p xmlns:a="http://schemas.openxmlformats.org/drawingml/2006/main">
            <a:pPr marL="342900" marR="0" indent="-342900" algn="l">
              <a:spcBef>
                <a:spcPts val="600"/>
              </a:spcBef>
              <a:spcAft>
                <a:spcPts val="0"/>
              </a:spcAft>
              <a:buClr>
                <a:srgbClr val="5A6377"/>
              </a:buClr>
              <a:buSzPts val="1030"/>
              <a:buFont typeface="Calibri"/>
              <a:buChar char="•"/>
            </a:pPr>
            <a:r>
              <a:rPr sz="1030" b="0" i="0" u="none" cap="none">
                <a:solidFill>
                  <a:srgbClr val="5A6377"/>
                </a:solidFill>
                <a:latin typeface="Calibri"/>
                <a:ea typeface="Calibri"/>
                <a:cs typeface="Calibri"/>
              </a:rPr>
              <a:t>Witness inquiry / jeevan inquiry — the knower is not exhausted by the gross body</a:t>
            </a:r>
          </a:p>
          <a:p xmlns:a="http://schemas.openxmlformats.org/drawingml/2006/main">
            <a:pPr marL="342900" marR="0" indent="-342900" algn="l">
              <a:spcBef>
                <a:spcPts val="600"/>
              </a:spcBef>
              <a:spcAft>
                <a:spcPts val="0"/>
              </a:spcAft>
              <a:buClr>
                <a:srgbClr val="5A6377"/>
              </a:buClr>
              <a:buSzPts val="1030"/>
              <a:buFont typeface="Calibri"/>
              <a:buChar char="•"/>
            </a:pPr>
            <a:r>
              <a:rPr sz="1030" b="0" i="0" u="none" cap="none">
                <a:solidFill>
                  <a:srgbClr val="5A6377"/>
                </a:solidFill>
                <a:latin typeface="Calibri"/>
                <a:ea typeface="Calibri"/>
                <a:cs typeface="Calibri"/>
              </a:rPr>
              <a:t>Jiva / deluded jeevan — embodied ignorance is practically central, but individuality has different status</a:t>
            </a:r>
          </a:p>
          <a:p xmlns:a="http://schemas.openxmlformats.org/drawingml/2006/main">
            <a:pPr marL="342900" marR="0" indent="-342900" algn="l">
              <a:spcBef>
                <a:spcPts val="600"/>
              </a:spcBef>
              <a:spcAft>
                <a:spcPts val="0"/>
              </a:spcAft>
              <a:buClr>
                <a:srgbClr val="5A6377"/>
              </a:buClr>
              <a:buSzPts val="1030"/>
              <a:buFont typeface="Calibri"/>
              <a:buChar char="•"/>
            </a:pPr>
            <a:r>
              <a:rPr sz="1030" b="0" i="0" u="none" cap="none">
                <a:solidFill>
                  <a:srgbClr val="5A6377"/>
                </a:solidFill>
                <a:latin typeface="Calibri"/>
                <a:ea typeface="Calibri"/>
                <a:cs typeface="Calibri"/>
              </a:rPr>
              <a:t>Jagat / nature — the changing world is the field of duty and inquiry</a:t>
            </a:r>
          </a:p>
        </p:txBody>
      </p:sp>
      <p:sp>
        <p:nvSpPr>
          <p:cNvPr id="244" name="Google Shape;244;p15">
            <a:extLst xmlns:a="http://schemas.openxmlformats.org/drawingml/2006/main">
              <a:ext uri="{FF2B5EF4-FFF2-40B4-BE49-F238E27FC236}">
                <a16:creationId xmlns:a16="http://schemas.microsoft.com/office/drawing/2014/main" id="{3B40FFA7-9907-4B70-A843-F18EFB61E9DE}"/>
              </a:ext>
            </a:extLst>
          </p:cNvPr>
          <p:cNvSpPr>
            <a:spLocks xmlns:a="http://schemas.openxmlformats.org/drawingml/2006/main" noGrp="1"/>
          </p:cNvSpPr>
          <p:nvPr/>
        </p:nvSpPr>
        <p:spPr>
          <a:xfrm xmlns:a="http://schemas.openxmlformats.org/drawingml/2006/main">
            <a:off x="4709160" y="1325880"/>
            <a:ext cx="3794760" cy="3154680"/>
          </a:xfrm>
          <a:prstGeom xmlns:a="http://schemas.openxmlformats.org/drawingml/2006/main" prst="roundRect">
            <a:avLst>
              <a:gd name="adj" fmla="val 289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5" name="Google Shape;245;p15">
            <a:extLst xmlns:a="http://schemas.openxmlformats.org/drawingml/2006/main">
              <a:ext uri="{FF2B5EF4-FFF2-40B4-BE49-F238E27FC236}">
                <a16:creationId xmlns:a16="http://schemas.microsoft.com/office/drawing/2014/main" id="{A88BD6AB-8922-425A-929C-B36C2031CD6F}"/>
              </a:ext>
            </a:extLst>
          </p:cNvPr>
          <p:cNvSpPr>
            <a:spLocks xmlns:a="http://schemas.openxmlformats.org/drawingml/2006/main" noGrp="1"/>
          </p:cNvSpPr>
          <p:nvPr/>
        </p:nvSpPr>
        <p:spPr>
          <a:xfrm xmlns:a="http://schemas.openxmlformats.org/drawingml/2006/main">
            <a:off x="4937760" y="1463040"/>
            <a:ext cx="3383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Categories that do not transfer</a:t>
            </a:r>
          </a:p>
        </p:txBody>
      </p:sp>
      <p:sp>
        <p:nvSpPr>
          <p:cNvPr id="246" name="Google Shape;246;p15">
            <a:extLst xmlns:a="http://schemas.openxmlformats.org/drawingml/2006/main">
              <a:ext uri="{FF2B5EF4-FFF2-40B4-BE49-F238E27FC236}">
                <a16:creationId xmlns:a16="http://schemas.microsoft.com/office/drawing/2014/main" id="{13C439ED-FF6A-4270-98F4-3381BD395857}"/>
              </a:ext>
            </a:extLst>
          </p:cNvPr>
          <p:cNvSpPr>
            <a:spLocks xmlns:a="http://schemas.openxmlformats.org/drawingml/2006/main" noGrp="1"/>
          </p:cNvSpPr>
          <p:nvPr/>
        </p:nvSpPr>
        <p:spPr>
          <a:xfrm xmlns:a="http://schemas.openxmlformats.org/drawingml/2006/main">
            <a:off x="4937760" y="1828800"/>
            <a:ext cx="3429000" cy="2606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342900" marR="0" indent="-342900" algn="l">
              <a:spcBef>
                <a:spcPts val="0"/>
              </a:spcBef>
              <a:spcAft>
                <a:spcPts val="0"/>
              </a:spcAft>
              <a:buClr>
                <a:srgbClr val="5A6377"/>
              </a:buClr>
              <a:buSzPts val="1000"/>
              <a:buFont typeface="Calibri"/>
              <a:buChar char="•"/>
            </a:pPr>
            <a:r>
              <a:rPr sz="1000" b="0" i="0" u="none" cap="none">
                <a:solidFill>
                  <a:srgbClr val="5A6377"/>
                </a:solidFill>
                <a:latin typeface="Calibri"/>
                <a:ea typeface="Calibri"/>
                <a:cs typeface="Calibri"/>
              </a:rPr>
              <a:t>Atman ≠ atma — Advaita’s Self is Brahman; MD’s atma is a faculty within jeevan</a:t>
            </a:r>
          </a:p>
          <a:p xmlns:a="http://schemas.openxmlformats.org/drawingml/2006/main">
            <a:pPr marL="342900" marR="0" indent="-342900" algn="l">
              <a:spcBef>
                <a:spcPts val="500"/>
              </a:spcBef>
              <a:spcAft>
                <a:spcPts val="0"/>
              </a:spcAft>
              <a:buClr>
                <a:srgbClr val="5A6377"/>
              </a:buClr>
              <a:buSzPts val="1000"/>
              <a:buFont typeface="Calibri"/>
              <a:buChar char="•"/>
            </a:pPr>
            <a:r>
              <a:rPr sz="1000" b="0" i="0" u="none" cap="none">
                <a:solidFill>
                  <a:srgbClr val="5A6377"/>
                </a:solidFill>
                <a:latin typeface="Calibri"/>
                <a:ea typeface="Calibri"/>
                <a:cs typeface="Calibri"/>
              </a:rPr>
              <a:t>Maya / adhyasa — MD has no cosmic projection or ontological superimposition</a:t>
            </a:r>
          </a:p>
          <a:p xmlns:a="http://schemas.openxmlformats.org/drawingml/2006/main">
            <a:pPr marL="342900" marR="0" indent="-342900" algn="l">
              <a:spcBef>
                <a:spcPts val="500"/>
              </a:spcBef>
              <a:spcAft>
                <a:spcPts val="0"/>
              </a:spcAft>
              <a:buClr>
                <a:srgbClr val="5A6377"/>
              </a:buClr>
              <a:buSzPts val="1000"/>
              <a:buFont typeface="Calibri"/>
              <a:buChar char="•"/>
            </a:pPr>
            <a:r>
              <a:rPr sz="1000" b="0" i="0" u="none" cap="none">
                <a:solidFill>
                  <a:srgbClr val="5A6377"/>
                </a:solidFill>
                <a:latin typeface="Calibri"/>
                <a:ea typeface="Calibri"/>
                <a:cs typeface="Calibri"/>
              </a:rPr>
              <a:t>Mithya — MD retains final reality of units and relationships</a:t>
            </a:r>
          </a:p>
          <a:p xmlns:a="http://schemas.openxmlformats.org/drawingml/2006/main">
            <a:pPr marL="342900" marR="0" indent="-342900" algn="l">
              <a:spcBef>
                <a:spcPts val="500"/>
              </a:spcBef>
              <a:spcAft>
                <a:spcPts val="0"/>
              </a:spcAft>
              <a:buClr>
                <a:srgbClr val="5A6377"/>
              </a:buClr>
              <a:buSzPts val="1000"/>
              <a:buFont typeface="Calibri"/>
              <a:buChar char="•"/>
            </a:pPr>
            <a:r>
              <a:rPr sz="1000" b="0" i="0" u="none" cap="none">
                <a:solidFill>
                  <a:srgbClr val="5A6377"/>
                </a:solidFill>
                <a:latin typeface="Calibri"/>
                <a:ea typeface="Calibri"/>
                <a:cs typeface="Calibri"/>
              </a:rPr>
              <a:t>Ishvara — MD’s satta is actionless, not a governing maker</a:t>
            </a:r>
          </a:p>
          <a:p xmlns:a="http://schemas.openxmlformats.org/drawingml/2006/main">
            <a:pPr marL="342900" marR="0" indent="-342900" algn="l">
              <a:spcBef>
                <a:spcPts val="500"/>
              </a:spcBef>
              <a:spcAft>
                <a:spcPts val="0"/>
              </a:spcAft>
              <a:buClr>
                <a:srgbClr val="5A6377"/>
              </a:buClr>
              <a:buSzPts val="1000"/>
              <a:buFont typeface="Calibri"/>
              <a:buChar char="•"/>
            </a:pPr>
            <a:r>
              <a:rPr sz="1000" b="0" i="0" u="none" cap="none">
                <a:solidFill>
                  <a:srgbClr val="5A6377"/>
                </a:solidFill>
                <a:latin typeface="Calibri"/>
                <a:ea typeface="Calibri"/>
                <a:cs typeface="Calibri"/>
              </a:rPr>
              <a:t>Moksha / kaivalya — MD awakening preserves distinct jeevan</a:t>
            </a:r>
          </a:p>
        </p:txBody>
      </p:sp>
      <p:sp>
        <p:nvSpPr>
          <p:cNvPr id="247" name="Google Shape;247;p15">
            <a:extLst xmlns:a="http://schemas.openxmlformats.org/drawingml/2006/main">
              <a:ext uri="{FF2B5EF4-FFF2-40B4-BE49-F238E27FC236}">
                <a16:creationId xmlns:a16="http://schemas.microsoft.com/office/drawing/2014/main" id="{4A17B45A-7343-4684-8C49-845A3687684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Surface analogies can orient study; one-to-one translations distort the foundational claims of both systems.</a:t>
            </a:r>
          </a:p>
        </p:txBody>
      </p:sp>
    </p:spTree>
    <p:extLst>
      <p:ext uri="{BB962C8B-B14F-4D97-AF65-F5344CB8AC3E}">
        <p14:creationId xmlns:p14="http://schemas.microsoft.com/office/powerpoint/2010/main" val="180599399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DCD07A57-BEF2-4102-AEBE-0E0E80F92C5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 name="Google Shape;36;p4">
            <a:extLst xmlns:a="http://schemas.openxmlformats.org/drawingml/2006/main">
              <a:ext uri="{FF2B5EF4-FFF2-40B4-BE49-F238E27FC236}">
                <a16:creationId xmlns:a16="http://schemas.microsoft.com/office/drawing/2014/main" id="{906A4E0C-240D-4EB5-A26C-206136ED65D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 name="Google Shape;37;p4">
            <a:extLst xmlns:a="http://schemas.openxmlformats.org/drawingml/2006/main">
              <a:ext uri="{FF2B5EF4-FFF2-40B4-BE49-F238E27FC236}">
                <a16:creationId xmlns:a16="http://schemas.microsoft.com/office/drawing/2014/main" id="{BC066C91-38EC-4D55-BD2C-4CDBE76ACD2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 name="Google Shape;38;p4">
            <a:extLst xmlns:a="http://schemas.openxmlformats.org/drawingml/2006/main">
              <a:ext uri="{FF2B5EF4-FFF2-40B4-BE49-F238E27FC236}">
                <a16:creationId xmlns:a16="http://schemas.microsoft.com/office/drawing/2014/main" id="{C3EFF230-FAA3-4139-84BD-D93D808805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§6.2  ·  THREE OPEN PROBLEMS</a:t>
            </a:r>
          </a:p>
        </p:txBody>
      </p:sp>
      <p:sp>
        <p:nvSpPr>
          <p:cNvPr id="39" name="Google Shape;39;p4">
            <a:extLst xmlns:a="http://schemas.openxmlformats.org/drawingml/2006/main">
              <a:ext uri="{FF2B5EF4-FFF2-40B4-BE49-F238E27FC236}">
                <a16:creationId xmlns:a16="http://schemas.microsoft.com/office/drawing/2014/main" id="{1C18F4F9-F648-4088-8440-AAE26AE2D77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The open task is an evidential bridge</a:t>
            </a:r>
          </a:p>
        </p:txBody>
      </p:sp>
      <p:sp>
        <p:nvSpPr>
          <p:cNvPr id="40" name="Google Shape;40;p4">
            <a:extLst xmlns:a="http://schemas.openxmlformats.org/drawingml/2006/main">
              <a:ext uri="{FF2B5EF4-FFF2-40B4-BE49-F238E27FC236}">
                <a16:creationId xmlns:a16="http://schemas.microsoft.com/office/drawing/2014/main" id="{FC987DEB-04F6-40D1-A9FD-20FFC7A463F3}"/>
              </a:ext>
            </a:extLst>
          </p:cNvPr>
          <p:cNvSpPr>
            <a:spLocks xmlns:a="http://schemas.openxmlformats.org/drawingml/2006/main" noGrp="1"/>
          </p:cNvSpPr>
          <p:nvPr/>
        </p:nvSpPr>
        <p:spPr>
          <a:xfrm xmlns:a="http://schemas.openxmlformats.org/drawingml/2006/main">
            <a:off x="640080" y="1280160"/>
            <a:ext cx="795528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250"/>
              <a:buFont typeface="Calibri"/>
              <a:buNone/>
            </a:pPr>
            <a:r>
              <a:rPr sz="1250" b="1" i="0" u="none" cap="none">
                <a:solidFill>
                  <a:srgbClr val="1E2447"/>
                </a:solidFill>
                <a:latin typeface="Calibri"/>
                <a:ea typeface="Calibri"/>
                <a:cs typeface="Calibri"/>
              </a:rPr>
              <a:t>These are pressures of public identification and comparison, not missing primary-text doctrine.</a:t>
            </a:r>
          </a:p>
        </p:txBody>
      </p:sp>
      <p:sp>
        <p:nvSpPr>
          <p:cNvPr id="41" name="Google Shape;41;p4">
            <a:extLst xmlns:a="http://schemas.openxmlformats.org/drawingml/2006/main">
              <a:ext uri="{FF2B5EF4-FFF2-40B4-BE49-F238E27FC236}">
                <a16:creationId xmlns:a16="http://schemas.microsoft.com/office/drawing/2014/main" id="{4C988050-D4A5-41F7-A471-55B0F725EEF9}"/>
              </a:ext>
            </a:extLst>
          </p:cNvPr>
          <p:cNvSpPr>
            <a:spLocks xmlns:a="http://schemas.openxmlformats.org/drawingml/2006/main" noGrp="1"/>
          </p:cNvSpPr>
          <p:nvPr/>
        </p:nvSpPr>
        <p:spPr>
          <a:xfrm xmlns:a="http://schemas.openxmlformats.org/drawingml/2006/main">
            <a:off x="640080"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 name="Google Shape;42;p4">
            <a:extLst xmlns:a="http://schemas.openxmlformats.org/drawingml/2006/main">
              <a:ext uri="{FF2B5EF4-FFF2-40B4-BE49-F238E27FC236}">
                <a16:creationId xmlns:a16="http://schemas.microsoft.com/office/drawing/2014/main" id="{25F64A6B-BFD6-4C38-8AB1-C301E752AEDC}"/>
              </a:ext>
            </a:extLst>
          </p:cNvPr>
          <p:cNvSpPr>
            <a:spLocks xmlns:a="http://schemas.openxmlformats.org/drawingml/2006/main" noGrp="1"/>
          </p:cNvSpPr>
          <p:nvPr/>
        </p:nvSpPr>
        <p:spPr>
          <a:xfrm xmlns:a="http://schemas.openxmlformats.org/drawingml/2006/main">
            <a:off x="841248"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6.2.1  ·  Identify completeness</a:t>
            </a:r>
          </a:p>
        </p:txBody>
      </p:sp>
      <p:sp>
        <p:nvSpPr>
          <p:cNvPr id="43" name="Google Shape;43;p4">
            <a:extLst xmlns:a="http://schemas.openxmlformats.org/drawingml/2006/main">
              <a:ext uri="{FF2B5EF4-FFF2-40B4-BE49-F238E27FC236}">
                <a16:creationId xmlns:a16="http://schemas.microsoft.com/office/drawing/2014/main" id="{8B319A5B-B4DB-4249-9108-CE733EB746DB}"/>
              </a:ext>
            </a:extLst>
          </p:cNvPr>
          <p:cNvSpPr>
            <a:spLocks xmlns:a="http://schemas.openxmlformats.org/drawingml/2006/main" noGrp="1"/>
          </p:cNvSpPr>
          <p:nvPr/>
        </p:nvSpPr>
        <p:spPr>
          <a:xfrm xmlns:a="http://schemas.openxmlformats.org/drawingml/2006/main">
            <a:off x="841248"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What observation would distinguish a closed, weight-free, hope-bound jeevan constitution from known physical and chemical organisation?</a:t>
            </a:r>
          </a:p>
        </p:txBody>
      </p:sp>
      <p:sp>
        <p:nvSpPr>
          <p:cNvPr id="44" name="Google Shape;44;p4">
            <a:extLst xmlns:a="http://schemas.openxmlformats.org/drawingml/2006/main">
              <a:ext uri="{FF2B5EF4-FFF2-40B4-BE49-F238E27FC236}">
                <a16:creationId xmlns:a16="http://schemas.microsoft.com/office/drawing/2014/main" id="{37D64640-FCFE-4602-98E1-6A030FD81039}"/>
              </a:ext>
            </a:extLst>
          </p:cNvPr>
          <p:cNvSpPr>
            <a:spLocks xmlns:a="http://schemas.openxmlformats.org/drawingml/2006/main" noGrp="1"/>
          </p:cNvSpPr>
          <p:nvPr/>
        </p:nvSpPr>
        <p:spPr>
          <a:xfrm xmlns:a="http://schemas.openxmlformats.org/drawingml/2006/main">
            <a:off x="3392424"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5" name="Google Shape;45;p4">
            <a:extLst xmlns:a="http://schemas.openxmlformats.org/drawingml/2006/main">
              <a:ext uri="{FF2B5EF4-FFF2-40B4-BE49-F238E27FC236}">
                <a16:creationId xmlns:a16="http://schemas.microsoft.com/office/drawing/2014/main" id="{73D2BABD-6B0B-4400-A210-437B15BCDE77}"/>
              </a:ext>
            </a:extLst>
          </p:cNvPr>
          <p:cNvSpPr>
            <a:spLocks xmlns:a="http://schemas.openxmlformats.org/drawingml/2006/main" noGrp="1"/>
          </p:cNvSpPr>
          <p:nvPr/>
        </p:nvSpPr>
        <p:spPr>
          <a:xfrm xmlns:a="http://schemas.openxmlformats.org/drawingml/2006/main">
            <a:off x="3593592"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6.2.2  ·  Test persistence</a:t>
            </a:r>
          </a:p>
        </p:txBody>
      </p:sp>
      <p:sp>
        <p:nvSpPr>
          <p:cNvPr id="46" name="Google Shape;46;p4">
            <a:extLst xmlns:a="http://schemas.openxmlformats.org/drawingml/2006/main">
              <a:ext uri="{FF2B5EF4-FFF2-40B4-BE49-F238E27FC236}">
                <a16:creationId xmlns:a16="http://schemas.microsoft.com/office/drawing/2014/main" id="{DE596CD7-43CE-4333-A13B-065D7FA9FC52}"/>
              </a:ext>
            </a:extLst>
          </p:cNvPr>
          <p:cNvSpPr>
            <a:spLocks xmlns:a="http://schemas.openxmlformats.org/drawingml/2006/main" noGrp="1"/>
          </p:cNvSpPr>
          <p:nvPr/>
        </p:nvSpPr>
        <p:spPr>
          <a:xfrm xmlns:a="http://schemas.openxmlformats.org/drawingml/2006/main">
            <a:off x="3593592"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What evidence could distinguish jeevan–body joint operation, post-death continuity, or reassociation from a brain-only account?</a:t>
            </a:r>
          </a:p>
        </p:txBody>
      </p:sp>
      <p:sp>
        <p:nvSpPr>
          <p:cNvPr id="47" name="Google Shape;47;p4">
            <a:extLst xmlns:a="http://schemas.openxmlformats.org/drawingml/2006/main">
              <a:ext uri="{FF2B5EF4-FFF2-40B4-BE49-F238E27FC236}">
                <a16:creationId xmlns:a16="http://schemas.microsoft.com/office/drawing/2014/main" id="{5FE4DCBA-59F9-4F78-946C-DCCB5B7320E3}"/>
              </a:ext>
            </a:extLst>
          </p:cNvPr>
          <p:cNvSpPr>
            <a:spLocks xmlns:a="http://schemas.openxmlformats.org/drawingml/2006/main" noGrp="1"/>
          </p:cNvSpPr>
          <p:nvPr/>
        </p:nvSpPr>
        <p:spPr>
          <a:xfrm xmlns:a="http://schemas.openxmlformats.org/drawingml/2006/main">
            <a:off x="6144768"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8" name="Google Shape;48;p4">
            <a:extLst xmlns:a="http://schemas.openxmlformats.org/drawingml/2006/main">
              <a:ext uri="{FF2B5EF4-FFF2-40B4-BE49-F238E27FC236}">
                <a16:creationId xmlns:a16="http://schemas.microsoft.com/office/drawing/2014/main" id="{0A151303-D1D0-432C-A09A-6D63DDCB996B}"/>
              </a:ext>
            </a:extLst>
          </p:cNvPr>
          <p:cNvSpPr>
            <a:spLocks xmlns:a="http://schemas.openxmlformats.org/drawingml/2006/main" noGrp="1"/>
          </p:cNvSpPr>
          <p:nvPr/>
        </p:nvSpPr>
        <p:spPr>
          <a:xfrm xmlns:a="http://schemas.openxmlformats.org/drawingml/2006/main">
            <a:off x="6345936"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6.2.3  ·  Separate evidence levels</a:t>
            </a:r>
          </a:p>
        </p:txBody>
      </p:sp>
      <p:sp>
        <p:nvSpPr>
          <p:cNvPr id="49" name="Google Shape;49;p4">
            <a:extLst xmlns:a="http://schemas.openxmlformats.org/drawingml/2006/main">
              <a:ext uri="{FF2B5EF4-FFF2-40B4-BE49-F238E27FC236}">
                <a16:creationId xmlns:a16="http://schemas.microsoft.com/office/drawing/2014/main" id="{561A8BA4-6B53-48AD-88B0-6361DE99448A}"/>
              </a:ext>
            </a:extLst>
          </p:cNvPr>
          <p:cNvSpPr>
            <a:spLocks xmlns:a="http://schemas.openxmlformats.org/drawingml/2006/main" noGrp="1"/>
          </p:cNvSpPr>
          <p:nvPr/>
        </p:nvSpPr>
        <p:spPr>
          <a:xfrm xmlns:a="http://schemas.openxmlformats.org/drawingml/2006/main">
            <a:off x="6345936"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Keep logical, first-person, conduct, and instrument evidence distinct; map niyati-kram to evolutionary explanation without declaring a direct contradiction.</a:t>
            </a:r>
          </a:p>
        </p:txBody>
      </p:sp>
      <p:sp>
        <p:nvSpPr>
          <p:cNvPr id="50" name="Google Shape;50;p4">
            <a:extLst xmlns:a="http://schemas.openxmlformats.org/drawingml/2006/main">
              <a:ext uri="{FF2B5EF4-FFF2-40B4-BE49-F238E27FC236}">
                <a16:creationId xmlns:a16="http://schemas.microsoft.com/office/drawing/2014/main" id="{D060ABEA-F205-4F7E-83BE-27B5763BBBC4}"/>
              </a:ext>
            </a:extLst>
          </p:cNvPr>
          <p:cNvSpPr>
            <a:spLocks xmlns:a="http://schemas.openxmlformats.org/drawingml/2006/main" noGrp="1"/>
          </p:cNvSpPr>
          <p:nvPr/>
        </p:nvSpPr>
        <p:spPr>
          <a:xfrm xmlns:a="http://schemas.openxmlformats.org/drawingml/2006/main">
            <a:off x="640080" y="3749040"/>
            <a:ext cx="7863840" cy="868680"/>
          </a:xfrm>
          <a:prstGeom xmlns:a="http://schemas.openxmlformats.org/drawingml/2006/main" prst="roundRect">
            <a:avLst>
              <a:gd name="adj" fmla="val 9474"/>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 name="Google Shape;51;p4">
            <a:extLst xmlns:a="http://schemas.openxmlformats.org/drawingml/2006/main">
              <a:ext uri="{FF2B5EF4-FFF2-40B4-BE49-F238E27FC236}">
                <a16:creationId xmlns:a16="http://schemas.microsoft.com/office/drawing/2014/main" id="{1FF618BC-0883-4EC5-A594-F3454BA3ABF6}"/>
              </a:ext>
            </a:extLst>
          </p:cNvPr>
          <p:cNvSpPr>
            <a:spLocks xmlns:a="http://schemas.openxmlformats.org/drawingml/2006/main" noGrp="1"/>
          </p:cNvSpPr>
          <p:nvPr/>
        </p:nvSpPr>
        <p:spPr>
          <a:xfrm xmlns:a="http://schemas.openxmlformats.org/drawingml/2006/main">
            <a:off x="868680" y="3749040"/>
            <a:ext cx="740664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1" i="0" u="none" cap="none">
                <a:solidFill>
                  <a:srgbClr val="9A6414"/>
                </a:solidFill>
                <a:latin typeface="Calibri"/>
                <a:ea typeface="Calibri"/>
                <a:cs typeface="Calibri"/>
              </a:rPr>
              <a:t>MD’s own case rests on constitutional completeness—not generic conservation. The unanswered question is independent identification and testing.</a:t>
            </a:r>
          </a:p>
        </p:txBody>
      </p:sp>
      <p:sp>
        <p:nvSpPr>
          <p:cNvPr id="52" name="Google Shape;52;p4">
            <a:extLst xmlns:a="http://schemas.openxmlformats.org/drawingml/2006/main">
              <a:ext uri="{FF2B5EF4-FFF2-40B4-BE49-F238E27FC236}">
                <a16:creationId xmlns:a16="http://schemas.microsoft.com/office/drawing/2014/main" id="{D419B27F-8559-42A9-A284-0A3B0B50771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MVD p. 91, 115, 288–289  ·  SB pp. 55, 59, 114  ·  JV pp. 20, 54  ·  study §6.2</a:t>
            </a:r>
          </a:p>
        </p:txBody>
      </p:sp>
    </p:spTree>
    <p:extLst>
      <p:ext uri="{BB962C8B-B14F-4D97-AF65-F5344CB8AC3E}">
        <p14:creationId xmlns:p14="http://schemas.microsoft.com/office/powerpoint/2010/main" val="21698099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8" name="Google Shape;288;p17">
            <a:extLst xmlns:a="http://schemas.openxmlformats.org/drawingml/2006/main">
              <a:ext uri="{FF2B5EF4-FFF2-40B4-BE49-F238E27FC236}">
                <a16:creationId xmlns:a16="http://schemas.microsoft.com/office/drawing/2014/main" id="{DD5D8857-45E4-4707-B498-7332E0A69CE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9" name="Google Shape;289;p17">
            <a:extLst xmlns:a="http://schemas.openxmlformats.org/drawingml/2006/main">
              <a:ext uri="{FF2B5EF4-FFF2-40B4-BE49-F238E27FC236}">
                <a16:creationId xmlns:a16="http://schemas.microsoft.com/office/drawing/2014/main" id="{F024B643-9073-4623-AF32-F34D6357C9B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0" name="Google Shape;290;p17">
            <a:extLst xmlns:a="http://schemas.openxmlformats.org/drawingml/2006/main">
              <a:ext uri="{FF2B5EF4-FFF2-40B4-BE49-F238E27FC236}">
                <a16:creationId xmlns:a16="http://schemas.microsoft.com/office/drawing/2014/main" id="{6BEE49E1-92C2-471E-A037-E7C3D2ACD11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1" name="Google Shape;291;p17">
            <a:extLst xmlns:a="http://schemas.openxmlformats.org/drawingml/2006/main">
              <a:ext uri="{FF2B5EF4-FFF2-40B4-BE49-F238E27FC236}">
                <a16:creationId xmlns:a16="http://schemas.microsoft.com/office/drawing/2014/main" id="{9D0345D5-8718-463D-A316-A7ABA04E5819}"/>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§§6.3–6.4  ·  RIVAL STRENGTHS AND LIMITS</a:t>
            </a:r>
          </a:p>
        </p:txBody>
      </p:sp>
      <p:sp>
        <p:nvSpPr>
          <p:cNvPr id="292" name="Google Shape;292;p17">
            <a:extLst xmlns:a="http://schemas.openxmlformats.org/drawingml/2006/main">
              <a:ext uri="{FF2B5EF4-FFF2-40B4-BE49-F238E27FC236}">
                <a16:creationId xmlns:a16="http://schemas.microsoft.com/office/drawing/2014/main" id="{3046B58E-C4F6-455B-B6CC-2A810443F6B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Rivals impose different constraints</a:t>
            </a:r>
          </a:p>
        </p:txBody>
      </p:sp>
      <p:graphicFrame>
        <p:nvGraphicFramePr>
          <p:cNvPr id="302" name="Google Shape;293;p17"/>
          <p:cNvGraphicFramePr/>
          <p:nvPr/>
        </p:nvGraphicFramePr>
        <p:xfrm>
          <a:off xmlns:a="http://schemas.openxmlformats.org/drawingml/2006/main" x="50292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234450"/>
                <a:gridCol w="2331725"/>
                <a:gridCol w="2377450"/>
                <a:gridCol w="2194550"/>
              </a:tblGrid>
              <a:tr h="310900">
                <a:tc>
                  <a:txBody>
                    <a:bodyPr/>
                    <a:lstStyle/>
                    <a:p>
                      <a:pPr marL="0" marR="0" indent="0" algn="l">
                        <a:spcBef>
                          <a:spcPts val="0"/>
                        </a:spcBef>
                        <a:spcAft>
                          <a:spcPts val="0"/>
                        </a:spcAft>
                        <a:buClr>
                          <a:schemeClr val="dk1"/>
                        </a:buClr>
                        <a:buSzPts val="1050"/>
                        <a:buFont typeface="Calibri"/>
                        <a:buNone/>
                      </a:pPr>
                      <a:r>
                        <a:rPr sz="1100" b="1">
                          <a:solidFill>
                            <a:srgbClr val="FFFFFF"/>
                          </a:solidFill>
                          <a:latin typeface="Calibri"/>
                          <a:ea typeface="Calibri"/>
                          <a:cs typeface="Calibri"/>
                        </a:rPr>
                        <a:t>View</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Strengths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Exposed limit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What remains genuinely at issue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868675">
                <a:tc>
                  <a:txBody>
                    <a:bodyPr/>
                    <a:lstStyle/>
                    <a:p>
                      <a:pPr marL="0" marR="0" indent="0" algn="l">
                        <a:spcBef>
                          <a:spcPts val="0"/>
                        </a:spcBef>
                        <a:spcAft>
                          <a:spcPts val="0"/>
                        </a:spcAft>
                        <a:buClr>
                          <a:srgbClr val="6D2E46"/>
                        </a:buClr>
                        <a:buSzPts val="930"/>
                        <a:buFont typeface="Calibri"/>
                        <a:buNone/>
                      </a:pPr>
                      <a:r>
                        <a:rPr sz="930" b="1" u="none" cap="none">
                          <a:solidFill>
                            <a:srgbClr val="6D2E46"/>
                          </a:solidFill>
                          <a:latin typeface="Calibri"/>
                          <a:ea typeface="Calibri"/>
                          <a:cs typeface="Calibri"/>
                        </a:rPr>
                        <a:t>Advaita Vedanta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Non-being argument; disciplined first-person method; ontological parsimony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Final weight of world, relationships, and individuality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Its reply is coherent; the disagreement concerns sublation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868675">
                <a:tc>
                  <a:txBody>
                    <a:bodyPr/>
                    <a:lstStyle/>
                    <a:p>
                      <a:pPr marL="0" marR="0" indent="0" algn="l">
                        <a:spcBef>
                          <a:spcPts val="0"/>
                        </a:spcBef>
                        <a:spcAft>
                          <a:spcPts val="0"/>
                        </a:spcAft>
                        <a:buClr>
                          <a:srgbClr val="31606B"/>
                        </a:buClr>
                        <a:buSzPts val="930"/>
                        <a:buFont typeface="Calibri"/>
                        <a:buNone/>
                      </a:pPr>
                      <a:r>
                        <a:rPr sz="930" b="1" u="none" cap="none">
                          <a:solidFill>
                            <a:srgbClr val="31606B"/>
                          </a:solidFill>
                          <a:latin typeface="Calibri"/>
                          <a:ea typeface="Calibri"/>
                          <a:cs typeface="Calibri"/>
                        </a:rPr>
                        <a:t>Physicalist family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Mechanism, causal discipline, continuity with public science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Hard problem; no single settled theory of self or consciousness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An explanatory gap neither proves jeevan nor settles matter-only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868675">
                <a:tc>
                  <a:txBody>
                    <a:bodyPr/>
                    <a:lstStyle/>
                    <a:p>
                      <a:pPr marL="0" marR="0" indent="0" algn="l">
                        <a:spcBef>
                          <a:spcPts val="0"/>
                        </a:spcBef>
                        <a:spcAft>
                          <a:spcPts val="0"/>
                        </a:spcAft>
                        <a:buClr>
                          <a:srgbClr val="3B4A7A"/>
                        </a:buClr>
                        <a:buSzPts val="930"/>
                        <a:buFont typeface="Calibri"/>
                        <a:buNone/>
                      </a:pPr>
                      <a:r>
                        <a:rPr sz="930" b="1" u="none" cap="none">
                          <a:solidFill>
                            <a:srgbClr val="3B4A7A"/>
                          </a:solidFill>
                          <a:latin typeface="Calibri"/>
                          <a:ea typeface="Calibri"/>
                          <a:cs typeface="Calibri"/>
                        </a:rPr>
                        <a:t>Empirical science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Public measurement, correction, history, and brain-dependence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Does not alone choose complete metaphysics or ultimate value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Operational evidence remains a decisive constraint on MD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94" name="Google Shape;294;p17">
            <a:extLst xmlns:a="http://schemas.openxmlformats.org/drawingml/2006/main">
              <a:ext uri="{FF2B5EF4-FFF2-40B4-BE49-F238E27FC236}">
                <a16:creationId xmlns:a16="http://schemas.microsoft.com/office/drawing/2014/main" id="{ABCF4426-7556-488A-83F5-1BD9AAA2FDB0}"/>
              </a:ext>
            </a:extLst>
          </p:cNvPr>
          <p:cNvSpPr>
            <a:spLocks xmlns:a="http://schemas.openxmlformats.org/drawingml/2006/main" noGrp="1"/>
          </p:cNvSpPr>
          <p:nvPr/>
        </p:nvSpPr>
        <p:spPr>
          <a:xfrm xmlns:a="http://schemas.openxmlformats.org/drawingml/2006/main">
            <a:off x="640080" y="4434840"/>
            <a:ext cx="795528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0" i="1" u="none" cap="none">
                <a:solidFill>
                  <a:srgbClr val="9A6414"/>
                </a:solidFill>
                <a:latin typeface="Calibri"/>
                <a:ea typeface="Calibri"/>
                <a:cs typeface="Calibri"/>
              </a:rPr>
              <a:t>No single modern front opposes MD: Advaita, physicalist theories, and empirical science test different commitments.</a:t>
            </a:r>
          </a:p>
        </p:txBody>
      </p:sp>
      <p:sp>
        <p:nvSpPr>
          <p:cNvPr id="295" name="Google Shape;295;p17">
            <a:extLst xmlns:a="http://schemas.openxmlformats.org/drawingml/2006/main">
              <a:ext uri="{FF2B5EF4-FFF2-40B4-BE49-F238E27FC236}">
                <a16:creationId xmlns:a16="http://schemas.microsoft.com/office/drawing/2014/main" id="{37D33F07-8759-4C56-A394-4782EF46B6C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The comparison is strongest when each rival’s achievement is granted before its exposed limit is named.</a:t>
            </a:r>
          </a:p>
        </p:txBody>
      </p:sp>
    </p:spTree>
    <p:extLst>
      <p:ext uri="{BB962C8B-B14F-4D97-AF65-F5344CB8AC3E}">
        <p14:creationId xmlns:p14="http://schemas.microsoft.com/office/powerpoint/2010/main" val="123618605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8" name="Google Shape;288;p17">
            <a:extLst xmlns:a="http://schemas.openxmlformats.org/drawingml/2006/main">
              <a:ext uri="{FF2B5EF4-FFF2-40B4-BE49-F238E27FC236}">
                <a16:creationId xmlns:a16="http://schemas.microsoft.com/office/drawing/2014/main" id="{DD5D8857-45E4-4707-B498-7332E0A69CE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9" name="Google Shape;289;p17">
            <a:extLst xmlns:a="http://schemas.openxmlformats.org/drawingml/2006/main">
              <a:ext uri="{FF2B5EF4-FFF2-40B4-BE49-F238E27FC236}">
                <a16:creationId xmlns:a16="http://schemas.microsoft.com/office/drawing/2014/main" id="{F024B643-9073-4623-AF32-F34D6357C9B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0" name="Google Shape;290;p17">
            <a:extLst xmlns:a="http://schemas.openxmlformats.org/drawingml/2006/main">
              <a:ext uri="{FF2B5EF4-FFF2-40B4-BE49-F238E27FC236}">
                <a16:creationId xmlns:a16="http://schemas.microsoft.com/office/drawing/2014/main" id="{6BEE49E1-92C2-471E-A037-E7C3D2ACD11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1" name="Google Shape;291;p17">
            <a:extLst xmlns:a="http://schemas.openxmlformats.org/drawingml/2006/main">
              <a:ext uri="{FF2B5EF4-FFF2-40B4-BE49-F238E27FC236}">
                <a16:creationId xmlns:a16="http://schemas.microsoft.com/office/drawing/2014/main" id="{9D0345D5-8718-463D-A316-A7ABA04E5819}"/>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§§6.1–6.2  ·  MD’S STRENGTH AND OPEN BRIDGE</a:t>
            </a:r>
          </a:p>
        </p:txBody>
      </p:sp>
      <p:sp>
        <p:nvSpPr>
          <p:cNvPr id="292" name="Google Shape;292;p17">
            <a:extLst xmlns:a="http://schemas.openxmlformats.org/drawingml/2006/main">
              <a:ext uri="{FF2B5EF4-FFF2-40B4-BE49-F238E27FC236}">
                <a16:creationId xmlns:a16="http://schemas.microsoft.com/office/drawing/2014/main" id="{3046B58E-C4F6-455B-B6CC-2A810443F6B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Coherence does not remove evidence duties</a:t>
            </a:r>
          </a:p>
        </p:txBody>
      </p:sp>
      <p:graphicFrame>
        <p:nvGraphicFramePr>
          <p:cNvPr id="302" name="Google Shape;293;p17"/>
          <p:cNvGraphicFramePr/>
          <p:nvPr/>
        </p:nvGraphicFramePr>
        <p:xfrm>
          <a:off xmlns:a="http://schemas.openxmlformats.org/drawingml/2006/main" x="50292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234450"/>
                <a:gridCol w="2331725"/>
                <a:gridCol w="2377450"/>
                <a:gridCol w="2194550"/>
              </a:tblGrid>
              <a:tr h="310900">
                <a:tc>
                  <a:txBody>
                    <a:bodyPr/>
                    <a:lstStyle/>
                    <a:p>
                      <a:pPr marL="0" marR="0" indent="0" algn="l">
                        <a:spcBef>
                          <a:spcPts val="0"/>
                        </a:spcBef>
                        <a:spcAft>
                          <a:spcPts val="0"/>
                        </a:spcAft>
                        <a:buClr>
                          <a:schemeClr val="dk1"/>
                        </a:buClr>
                        <a:buSzPts val="1050"/>
                        <a:buFont typeface="Calibri"/>
                        <a:buNone/>
                      </a:pPr>
                      <a:r>
                        <a:rPr sz="1100" b="1">
                          <a:solidFill>
                            <a:srgbClr val="FFFFFF"/>
                          </a:solidFill>
                          <a:latin typeface="Calibri"/>
                          <a:ea typeface="Calibri"/>
                          <a:cs typeface="Calibri"/>
                        </a:rPr>
                        <a:t>Focus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Internal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Open obligation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Productive next step</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868675">
                <a:tc>
                  <a:txBody>
                    <a:bodyPr/>
                    <a:lstStyle/>
                    <a:p>
                      <a:pPr marL="0" marR="0" indent="0" algn="l">
                        <a:spcBef>
                          <a:spcPts val="0"/>
                        </a:spcBef>
                        <a:spcAft>
                          <a:spcPts val="0"/>
                        </a:spcAft>
                        <a:buClr>
                          <a:srgbClr val="6D2E46"/>
                        </a:buClr>
                        <a:buSzPts val="930"/>
                        <a:buFont typeface="Calibri"/>
                        <a:buNone/>
                      </a:pPr>
                      <a:r>
                        <a:rPr sz="930" b="1" u="none" cap="none">
                          <a:solidFill>
                            <a:srgbClr val="6D2E46"/>
                          </a:solidFill>
                          <a:latin typeface="Calibri"/>
                          <a:ea typeface="Calibri"/>
                          <a:cs typeface="Calibri"/>
                        </a:rPr>
                        <a:t>MD ontology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One two-term picture keeps world, self, value, and relations real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Complexity and stronger claims require independent warrant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State discriminating consequences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868675">
                <a:tc>
                  <a:txBody>
                    <a:bodyPr/>
                    <a:lstStyle/>
                    <a:p>
                      <a:pPr marL="0" marR="0" indent="0" algn="l">
                        <a:spcBef>
                          <a:spcPts val="0"/>
                        </a:spcBef>
                        <a:spcAft>
                          <a:spcPts val="0"/>
                        </a:spcAft>
                        <a:buClr>
                          <a:srgbClr val="31606B"/>
                        </a:buClr>
                        <a:buSzPts val="930"/>
                        <a:buFont typeface="Calibri"/>
                        <a:buNone/>
                      </a:pPr>
                      <a:r>
                        <a:rPr sz="930" b="1" u="none" cap="none">
                          <a:solidFill>
                            <a:srgbClr val="31606B"/>
                          </a:solidFill>
                          <a:latin typeface="Calibri"/>
                          <a:ea typeface="Calibri"/>
                          <a:cs typeface="Calibri"/>
                        </a:rPr>
                        <a:t>Constitutional completeness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A definite primary-text threshold—not biological emergence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No public identifier in current physical terms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Specify measurable or method-specific criteria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868675">
                <a:tc>
                  <a:txBody>
                    <a:bodyPr/>
                    <a:lstStyle/>
                    <a:p>
                      <a:pPr marL="0" marR="0" indent="0" algn="l">
                        <a:spcBef>
                          <a:spcPts val="0"/>
                        </a:spcBef>
                        <a:spcAft>
                          <a:spcPts val="0"/>
                        </a:spcAft>
                        <a:buClr>
                          <a:srgbClr val="3B4A7A"/>
                        </a:buClr>
                        <a:buSzPts val="930"/>
                        <a:buFont typeface="Calibri"/>
                        <a:buNone/>
                      </a:pPr>
                      <a:r>
                        <a:rPr sz="930" b="1" u="none" cap="none">
                          <a:solidFill>
                            <a:srgbClr val="3B4A7A"/>
                          </a:solidFill>
                          <a:latin typeface="Calibri"/>
                          <a:ea typeface="Calibri"/>
                          <a:cs typeface="Calibri"/>
                        </a:rPr>
                        <a:t>Persistence and evolution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Gathanpurnata grounds survival within MD; order levels are distinct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Reassociation and niyati mapping remain unconfirmed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Compare neuroscience and evolution without category conflation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94" name="Google Shape;294;p17">
            <a:extLst xmlns:a="http://schemas.openxmlformats.org/drawingml/2006/main">
              <a:ext uri="{FF2B5EF4-FFF2-40B4-BE49-F238E27FC236}">
                <a16:creationId xmlns:a16="http://schemas.microsoft.com/office/drawing/2014/main" id="{ABCF4426-7556-488A-83F5-1BD9AAA2FDB0}"/>
              </a:ext>
            </a:extLst>
          </p:cNvPr>
          <p:cNvSpPr>
            <a:spLocks xmlns:a="http://schemas.openxmlformats.org/drawingml/2006/main" noGrp="1"/>
          </p:cNvSpPr>
          <p:nvPr/>
        </p:nvSpPr>
        <p:spPr>
          <a:xfrm xmlns:a="http://schemas.openxmlformats.org/drawingml/2006/main">
            <a:off x="640080" y="4434840"/>
            <a:ext cx="795528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0" i="1" u="none" cap="none">
                <a:solidFill>
                  <a:srgbClr val="9A6414"/>
                </a:solidFill>
                <a:latin typeface="Calibri"/>
                <a:ea typeface="Calibri"/>
                <a:cs typeface="Calibri"/>
              </a:rPr>
              <a:t>Conduct-evidence is substantial practical evidence; it is not yet a physical detector for jeevan.</a:t>
            </a:r>
          </a:p>
        </p:txBody>
      </p:sp>
      <p:sp>
        <p:nvSpPr>
          <p:cNvPr id="295" name="Google Shape;295;p17">
            <a:extLst xmlns:a="http://schemas.openxmlformats.org/drawingml/2006/main">
              <a:ext uri="{FF2B5EF4-FFF2-40B4-BE49-F238E27FC236}">
                <a16:creationId xmlns:a16="http://schemas.microsoft.com/office/drawing/2014/main" id="{37D33F07-8759-4C56-A394-4782EF46B6C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Further work should state what could discriminate MD’s stronger claims from rival explanations.</a:t>
            </a:r>
          </a:p>
        </p:txBody>
      </p:sp>
    </p:spTree>
    <p:extLst>
      <p:ext uri="{BB962C8B-B14F-4D97-AF65-F5344CB8AC3E}">
        <p14:creationId xmlns:p14="http://schemas.microsoft.com/office/powerpoint/2010/main" val="1236186054"/>
      </p:ext>
    </p:extLst>
  </p:cSld>
</p:sld>
</file>

<file path=ppt/slides/slide18.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301" name="Google Shape;301;p18">
            <a:extLst xmlns:a="http://schemas.openxmlformats.org/drawingml/2006/main">
              <a:ext uri="{FF2B5EF4-FFF2-40B4-BE49-F238E27FC236}">
                <a16:creationId xmlns:a16="http://schemas.microsoft.com/office/drawing/2014/main" id="{C01A7261-F1EF-4518-A4C2-8CA5AC332E0A}"/>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2" name="Google Shape;302;p18">
            <a:extLst xmlns:a="http://schemas.openxmlformats.org/drawingml/2006/main">
              <a:ext uri="{FF2B5EF4-FFF2-40B4-BE49-F238E27FC236}">
                <a16:creationId xmlns:a16="http://schemas.microsoft.com/office/drawing/2014/main" id="{6A380B8E-3197-4607-8B78-C4C3BD0B381C}"/>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3" name="Google Shape;303;p18">
            <a:extLst xmlns:a="http://schemas.openxmlformats.org/drawingml/2006/main">
              <a:ext uri="{FF2B5EF4-FFF2-40B4-BE49-F238E27FC236}">
                <a16:creationId xmlns:a16="http://schemas.microsoft.com/office/drawing/2014/main" id="{03B9B1A9-FB0F-467A-AAFD-06AE6CD9094F}"/>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4" name="Google Shape;304;p18">
            <a:extLst xmlns:a="http://schemas.openxmlformats.org/drawingml/2006/main">
              <a:ext uri="{FF2B5EF4-FFF2-40B4-BE49-F238E27FC236}">
                <a16:creationId xmlns:a16="http://schemas.microsoft.com/office/drawing/2014/main" id="{755E71A2-279E-4364-AF53-A0003F907C37}"/>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C9821E"/>
              </a:buClr>
              <a:buSzPts val="1200"/>
              <a:buFont typeface="Calibri"/>
              <a:buNone/>
            </a:pPr>
            <a:r>
              <a:rPr sz="1200" b="1" i="0" u="none" cap="none">
                <a:solidFill>
                  <a:srgbClr val="C9821E"/>
                </a:solidFill>
                <a:latin typeface="Calibri"/>
                <a:ea typeface="Calibri"/>
                <a:cs typeface="Calibri"/>
              </a:rPr>
              <a:t>WHAT THE COMPARISON ESTABLISHES</a:t>
            </a:r>
          </a:p>
        </p:txBody>
      </p:sp>
      <p:sp>
        <p:nvSpPr>
          <p:cNvPr id="305" name="Google Shape;305;p18">
            <a:extLst xmlns:a="http://schemas.openxmlformats.org/drawingml/2006/main">
              <a:ext uri="{FF2B5EF4-FFF2-40B4-BE49-F238E27FC236}">
                <a16:creationId xmlns:a16="http://schemas.microsoft.com/office/drawing/2014/main" id="{97D13B9B-8C69-4239-891D-CAEB066296E0}"/>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3200"/>
              <a:buFont typeface="Cambria"/>
              <a:buNone/>
            </a:pPr>
            <a:r>
              <a:rPr sz="3200" b="1" i="0" u="none" cap="none">
                <a:solidFill>
                  <a:srgbClr val="FFFFFF"/>
                </a:solidFill>
                <a:latin typeface="Cambria"/>
                <a:ea typeface="Cambria"/>
                <a:cs typeface="Cambria"/>
              </a:rPr>
              <a:t>Limited alignments, one open bridge</a:t>
            </a:r>
          </a:p>
        </p:txBody>
      </p:sp>
      <p:sp>
        <p:nvSpPr>
          <p:cNvPr id="306" name="Google Shape;306;p18">
            <a:extLst xmlns:a="http://schemas.openxmlformats.org/drawingml/2006/main">
              <a:ext uri="{FF2B5EF4-FFF2-40B4-BE49-F238E27FC236}">
                <a16:creationId xmlns:a16="http://schemas.microsoft.com/office/drawing/2014/main" id="{5BB0C871-0853-48EE-8EE2-34464150655A}"/>
              </a:ext>
            </a:extLst>
          </p:cNvPr>
          <p:cNvSpPr>
            <a:spLocks xmlns:a="http://schemas.openxmlformats.org/drawingml/2006/main" noGrp="1"/>
          </p:cNvSpPr>
          <p:nvPr/>
        </p:nvSpPr>
        <p:spPr>
          <a:xfrm xmlns:a="http://schemas.openxmlformats.org/drawingml/2006/main">
            <a:off x="640080" y="1554480"/>
            <a:ext cx="3840480" cy="1371600"/>
          </a:xfrm>
          <a:prstGeom xmlns:a="http://schemas.openxmlformats.org/drawingml/2006/main" prst="roundRect">
            <a:avLst>
              <a:gd name="adj" fmla="val 6667"/>
            </a:avLst>
          </a:prstGeom>
          <a:solidFill xmlns:a="http://schemas.openxmlformats.org/drawingml/2006/main">
            <a:srgbClr val="2B356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7" name="Google Shape;307;p18">
            <a:extLst xmlns:a="http://schemas.openxmlformats.org/drawingml/2006/main">
              <a:ext uri="{FF2B5EF4-FFF2-40B4-BE49-F238E27FC236}">
                <a16:creationId xmlns:a16="http://schemas.microsoft.com/office/drawing/2014/main" id="{15A136D0-7330-4697-9C31-9194B7A1A6FD}"/>
              </a:ext>
            </a:extLst>
          </p:cNvPr>
          <p:cNvSpPr>
            <a:spLocks xmlns:a="http://schemas.openxmlformats.org/drawingml/2006/main" noGrp="1"/>
          </p:cNvSpPr>
          <p:nvPr/>
        </p:nvSpPr>
        <p:spPr>
          <a:xfrm xmlns:a="http://schemas.openxmlformats.org/drawingml/2006/main">
            <a:off x="868680" y="1691640"/>
            <a:ext cx="34290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indent="0" algn="l">
              <a:spcBef>
                <a:spcPts val="0"/>
              </a:spcBef>
              <a:spcAft>
                <a:spcPts val="0"/>
              </a:spcAft>
              <a:buClr>
                <a:srgbClr val="C9D4EF"/>
              </a:buClr>
              <a:buSzPts val="1350"/>
              <a:buFont typeface="Calibri"/>
              <a:buNone/>
            </a:pPr>
            <a:r>
              <a:rPr sz="1350" b="1" i="0" u="none" cap="none">
                <a:solidFill>
                  <a:srgbClr val="C9D4EF"/>
                </a:solidFill>
                <a:latin typeface="Calibri"/>
                <a:ea typeface="Calibri"/>
                <a:cs typeface="Calibri"/>
              </a:rPr>
              <a:t>MD’s distinctive result</a:t>
            </a:r>
          </a:p>
          <a:p xmlns:a="http://schemas.openxmlformats.org/drawingml/2006/main">
            <a:pPr marL="0" marR="0" indent="0" algn="l">
              <a:spcBef>
                <a:spcPts val="400"/>
              </a:spcBef>
              <a:spcAft>
                <a:spcPts val="0"/>
              </a:spcAft>
              <a:buClr>
                <a:srgbClr val="AEB9DC"/>
              </a:buClr>
              <a:buSzPts val="1050"/>
              <a:buFont typeface="Calibri"/>
              <a:buNone/>
            </a:pPr>
            <a:r>
              <a:rPr sz="1050" b="0" i="0" u="none" cap="none">
                <a:solidFill>
                  <a:srgbClr val="AEB9DC"/>
                </a:solidFill>
                <a:latin typeface="Calibri"/>
                <a:ea typeface="Calibri"/>
                <a:cs typeface="Calibri"/>
              </a:rPr>
              <a:t>Coexistence retains formless Omnipresence and countless real units; change belongs to units, jeevan remains distinct, and world, relationships, and values retain final weight.</a:t>
            </a:r>
          </a:p>
        </p:txBody>
      </p:sp>
      <p:sp>
        <p:nvSpPr>
          <p:cNvPr id="308" name="Google Shape;308;p18">
            <a:extLst xmlns:a="http://schemas.openxmlformats.org/drawingml/2006/main">
              <a:ext uri="{FF2B5EF4-FFF2-40B4-BE49-F238E27FC236}">
                <a16:creationId xmlns:a16="http://schemas.microsoft.com/office/drawing/2014/main" id="{48DD9D6D-23C8-48C9-83E9-8306CEE54662}"/>
              </a:ext>
            </a:extLst>
          </p:cNvPr>
          <p:cNvSpPr>
            <a:spLocks xmlns:a="http://schemas.openxmlformats.org/drawingml/2006/main" noGrp="1"/>
          </p:cNvSpPr>
          <p:nvPr/>
        </p:nvSpPr>
        <p:spPr>
          <a:xfrm xmlns:a="http://schemas.openxmlformats.org/drawingml/2006/main">
            <a:off x="4663440" y="1554480"/>
            <a:ext cx="3840480" cy="1371600"/>
          </a:xfrm>
          <a:prstGeom xmlns:a="http://schemas.openxmlformats.org/drawingml/2006/main" prst="roundRect">
            <a:avLst>
              <a:gd name="adj" fmla="val 6667"/>
            </a:avLst>
          </a:prstGeom>
          <a:solidFill xmlns:a="http://schemas.openxmlformats.org/drawingml/2006/main">
            <a:srgbClr val="2B356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9" name="Google Shape;309;p18">
            <a:extLst xmlns:a="http://schemas.openxmlformats.org/drawingml/2006/main">
              <a:ext uri="{FF2B5EF4-FFF2-40B4-BE49-F238E27FC236}">
                <a16:creationId xmlns:a16="http://schemas.microsoft.com/office/drawing/2014/main" id="{A6150235-0DEF-42E2-BF61-EF4FE9DA7C68}"/>
              </a:ext>
            </a:extLst>
          </p:cNvPr>
          <p:cNvSpPr>
            <a:spLocks xmlns:a="http://schemas.openxmlformats.org/drawingml/2006/main" noGrp="1"/>
          </p:cNvSpPr>
          <p:nvPr/>
        </p:nvSpPr>
        <p:spPr>
          <a:xfrm xmlns:a="http://schemas.openxmlformats.org/drawingml/2006/main">
            <a:off x="4892040" y="1691640"/>
            <a:ext cx="34290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indent="0" algn="l">
              <a:spcBef>
                <a:spcPts val="0"/>
              </a:spcBef>
              <a:spcAft>
                <a:spcPts val="0"/>
              </a:spcAft>
              <a:buClr>
                <a:srgbClr val="C9D4EF"/>
              </a:buClr>
              <a:buSzPts val="1350"/>
              <a:buFont typeface="Calibri"/>
              <a:buNone/>
            </a:pPr>
            <a:r>
              <a:rPr sz="1350" b="1" i="0" u="none" cap="none">
                <a:solidFill>
                  <a:srgbClr val="C9D4EF"/>
                </a:solidFill>
                <a:latin typeface="Calibri"/>
                <a:ea typeface="Calibri"/>
                <a:cs typeface="Calibri"/>
              </a:rPr>
              <a:t>Question-specific alignments</a:t>
            </a:r>
          </a:p>
          <a:p xmlns:a="http://schemas.openxmlformats.org/drawingml/2006/main">
            <a:pPr marL="0" marR="0" indent="0" algn="l">
              <a:spcBef>
                <a:spcPts val="400"/>
              </a:spcBef>
              <a:spcAft>
                <a:spcPts val="0"/>
              </a:spcAft>
              <a:buClr>
                <a:srgbClr val="AEB9DC"/>
              </a:buClr>
              <a:buSzPts val="1050"/>
              <a:buFont typeface="Calibri"/>
              <a:buNone/>
            </a:pPr>
            <a:r>
              <a:rPr sz="1050" b="0" i="0" u="none" cap="none">
                <a:solidFill>
                  <a:srgbClr val="AEB9DC"/>
                </a:solidFill>
                <a:latin typeface="Calibri"/>
                <a:ea typeface="Calibri"/>
                <a:cs typeface="Calibri"/>
              </a:rPr>
              <a:t>With scientific realism on mind-independent nature; with Advaita against reductive accounts of the knower; with modern alternatives against a simple substance inventory.</a:t>
            </a:r>
          </a:p>
        </p:txBody>
      </p:sp>
      <p:sp>
        <p:nvSpPr>
          <p:cNvPr id="310" name="Google Shape;310;p18">
            <a:extLst xmlns:a="http://schemas.openxmlformats.org/drawingml/2006/main">
              <a:ext uri="{FF2B5EF4-FFF2-40B4-BE49-F238E27FC236}">
                <a16:creationId xmlns:a16="http://schemas.microsoft.com/office/drawing/2014/main" id="{EF48C9D1-719E-44C1-A28A-F9BEDFBB91FE}"/>
              </a:ext>
            </a:extLst>
          </p:cNvPr>
          <p:cNvSpPr>
            <a:spLocks xmlns:a="http://schemas.openxmlformats.org/drawingml/2006/main" noGrp="1"/>
          </p:cNvSpPr>
          <p:nvPr/>
        </p:nvSpPr>
        <p:spPr>
          <a:xfrm xmlns:a="http://schemas.openxmlformats.org/drawingml/2006/main">
            <a:off x="640080" y="3200400"/>
            <a:ext cx="786384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C9821E"/>
              </a:buClr>
              <a:buSzPts val="1900"/>
              <a:buFont typeface="Cambria"/>
              <a:buNone/>
            </a:pPr>
            <a:r>
              <a:rPr sz="1900" b="1" i="1" u="none" cap="none">
                <a:solidFill>
                  <a:srgbClr val="C9821E"/>
                </a:solidFill>
                <a:latin typeface="Cambria"/>
                <a:ea typeface="Cambria"/>
                <a:cs typeface="Cambria"/>
              </a:rPr>
              <a:t>“Brahma is truth, the world is perpetual.”  — MVD, p. 13</a:t>
            </a:r>
          </a:p>
        </p:txBody>
      </p:sp>
      <p:sp>
        <p:nvSpPr>
          <p:cNvPr id="311" name="Google Shape;311;p18">
            <a:extLst xmlns:a="http://schemas.openxmlformats.org/drawingml/2006/main">
              <a:ext uri="{FF2B5EF4-FFF2-40B4-BE49-F238E27FC236}">
                <a16:creationId xmlns:a16="http://schemas.microsoft.com/office/drawing/2014/main" id="{0FF34789-DF76-4D36-A765-D8C7E874AEB0}"/>
              </a:ext>
            </a:extLst>
          </p:cNvPr>
          <p:cNvSpPr>
            <a:spLocks xmlns:a="http://schemas.openxmlformats.org/drawingml/2006/main" noGrp="1"/>
          </p:cNvSpPr>
          <p:nvPr/>
        </p:nvSpPr>
        <p:spPr>
          <a:xfrm xmlns:a="http://schemas.openxmlformats.org/drawingml/2006/main">
            <a:off x="914400" y="3840480"/>
            <a:ext cx="731520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8E9BC4"/>
              </a:buClr>
              <a:buSzPts val="1150"/>
              <a:buFont typeface="Calibri"/>
              <a:buNone/>
            </a:pPr>
            <a:r>
              <a:rPr sz="1150" b="0" i="0" u="none" cap="none">
                <a:solidFill>
                  <a:srgbClr val="8E9BC4"/>
                </a:solidFill>
                <a:latin typeface="Calibri"/>
                <a:ea typeface="Calibri"/>
                <a:cs typeface="Calibri"/>
              </a:rPr>
              <a:t>What remains open: public identification of constitutional completeness; independent evidence for jeevan’s persistence and joint operation; and a clearer separation of evidence levels with an evolutionary mapping. Science constrains the bridge—it is not physicalism, and no stable alliance follows.</a:t>
            </a:r>
          </a:p>
        </p:txBody>
      </p:sp>
    </p:spTree>
    <p:extLst>
      <p:ext uri="{BB962C8B-B14F-4D97-AF65-F5344CB8AC3E}">
        <p14:creationId xmlns:p14="http://schemas.microsoft.com/office/powerpoint/2010/main" val="745187757"/>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2026-07-16T12:14:10.2100000Z</dcterms:created>
  <dcterms:modified xsi:type="dcterms:W3CDTF">2026-07-16T12:14:10.2100000Z</dcterms:modified>
</coreProperties>
</file>