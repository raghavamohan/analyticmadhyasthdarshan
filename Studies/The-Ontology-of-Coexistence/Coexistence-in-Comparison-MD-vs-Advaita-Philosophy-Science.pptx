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412159E-9D9A-4F1B-BDD3-5D94F5A31A33}">
  <a:tblStyle styleId="{C412159E-9D9A-4F1B-BDD3-5D94F5A31A3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This is the companion deck to the ontology presentation. There we stated Madhyasth Darshan's ontology on its own terms - Sections 1 of the study. Here we place it in dialogue with three rivals: Advaita Vedanta (the nearest non-physicalist rival sharing Indian vocabulary), modern Western philosophy (especially philosophy of mind), and modern science. Set expectations honestly at the outset: the aim of the study is rigorous comparative understanding - testing definitions, internal consistency, and fit with public knowledge - not persuasion or devotional endorsement. No single tradition wins every dispute, and the study itself says so. We will also cover the critical review: open problems for Madhyasth Darshan itself.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" name="Google Shape;32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Method before content. The study reads each tradition on its own terms first - MD in Section 1, Advaita in Section 2, philosophy and science in Sections 3 and 4 - then compares in Section 5 and critically reviews in Section 6. Three fault lines organise everything: is existence exhausted by matter and mechanism; does the world retain final ontological weight; is an immortal individual self established. And one methodological honesty: the three systems use different criteria of knowing - conduct-evidence, scriptural realisation, public measurement - so the dispute is partially incommensurable. No neutral tribunal settles it; comparative work can still test internal consistency, fit with public knowledge, and whether posits are distinguished from bare assertion. SB's own framing: neither matter emerging from consciousness nor consciousness from matter has been seen - what is evident is that the two are inseparably present.</a:t>
            </a:r>
            <a:endParaRPr/>
          </a:p>
        </p:txBody>
      </p:sp>
      <p:sp>
        <p:nvSpPr>
          <p:cNvPr id="33" name="Google Shape;33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" name="Google Shape;55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State Advaita fairly - it is the nearest rival sharing Upanishadic vocabulary. Core claim: existence in the strictest sense is Brahman alone, one without a second (CU 6.2.1); the true Self is identical with Brahman. Advaita and MD agree on one deep move: existence cannot arise from non-existence (CU 6.2.2). The three-tier framework is the load-bearing machinery: pratibhasika (private errors like rope-snake, sublated by correction), vyavahara (the shared, law-governed empirical world - robust for bodies, ethics, science, scripture), paramartha (Brahman alone). At vyavahara the world is NOT a hallucination; it is mithya - dependent appearance, neither absolutely real nor sheer nothing - sublated only by brahma-jnana. Brahman's nature: Sat-Chit-Ananda - being, consciousness, bliss - three names of one partless reality. This framework is what makes Advaita coherent AND what MD will dispute: whether sublation is the last word on the world.</a:t>
            </a:r>
            <a:endParaRPr/>
          </a:p>
        </p:txBody>
      </p:sp>
      <p:sp>
        <p:nvSpPr>
          <p:cNvPr id="56" name="Google Shape;56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" name="Google Shape;69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Four pieces of Advaita machinery the comparison needs. Maya and adhyasa: multiplicity rests on Brahman through superimposition, like a snake seen on a rope; Maya conceals (avarana) and projects (vikshepa); VC distinguishes cosmic Maya from individual Avidya. Causal doctrine: satkaryavada (effect pre-exists in cause - the clay teaching) plus vivartavada - creation is APPARENT transformation of name-form on changeless Brahman. Witness-consciousness: the Drig-Drishya-Viveka discriminates seer from seen - whatever can be observed (body, sensations, thoughts) is seen and therefore not the seer; what remains is Sakshin, and in the Mandukya's three-state analysis, turiya. At liberation the witness is discovered as non-personal Brahman. Temporality: Brahman is beyond becoming; time is valid at vyavahara, sublated at paramartha - and classical Advaita treats vyavahara itself as beginningless (creation-dissolution cycles without a first moment). MD will agree the seer is not the seen brain-state but locate the knower in many immortal jeevan, not one universal Self.</a:t>
            </a:r>
            <a:endParaRPr/>
          </a:p>
        </p:txBody>
      </p:sp>
      <p:sp>
        <p:nvSpPr>
          <p:cNvPr id="70" name="Google Shape;70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2" name="Google Shape;92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physicalist baseline: every real concrete phenomenon is physical (Strawson's formulation); minds are functions, models, or processes of physical systems; methodological naturalism sets the evidence standard; scientific realism treats the world as mind-independent. The sharpest weapon is causal closure (Kim): every physical event has a sufficient physical cause - so an immortal jeevan working through the body must either inject force (measurable, violating closure) or be epiphenomenal. That is the live dispute. Against it stands the hard problem (Chalmers, Nagel): brains correlate with experience, but why any physical process has an inside at all remains unexplained. Responses split three ways: panpsychism (Strawson - experience cannot emerge from wholly non-experiential matter; closest to MD, but MD does not make every particle a subject, and panpsychism inherits the combination problem); emergentism (new properties at organisational thresholds - shares 'threshold grammar' with gathanpurnata); illusionism/eliminativism (deny or re-describe phenomenal consciousness). MD reads the gap as ontological incompleteness of matter-only accounts; physicalists read it as a gap in current theory, not proof of extra-physical being.</a:t>
            </a:r>
            <a:endParaRPr/>
          </a:p>
        </p:txBody>
      </p:sp>
      <p:sp>
        <p:nvSpPr>
          <p:cNvPr id="93" name="Google Shape;93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Before the twentieth-century mind-brain focus, Western metaphysics built several ground-plus-particulars schemes that partially map onto coexistence - a ladder of analogues, not a timeline. Hylomorphism: soul as form of the living body parallels the jeevan-shareer joint form; gathanpurnata resembles substantial completion. Spinoza: one substance with modes keeps a pervasive ground and finite particulars - but modes are not ontologically on a par with the whole, whereas MD's satta and units are co-eternally real. Leibniz: monads are the tightest analogue to plural immortal jeevan - simple, individual, non-perishing - but windowless, whereas jeevan works through bodies in definite relationships. Process philosophy: relational realism, becoming, activity-based time - but occasions perpetually perish, gaining only objective immortality, against MD's persisting individual. Neutral monism: a common ground beneath mind and matter. The punchline: each captures a fragment; none names saturation, latency, or a constitutionally complete sentient atom.</a:t>
            </a:r>
            <a:endParaRPr/>
          </a:p>
        </p:txBody>
      </p:sp>
      <p:sp>
        <p:nvSpPr>
          <p:cNvPr id="116" name="Google Shape;116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Science operationalises the physicalist baseline. Predictive processing and self-model theory (Metzinger, Friston, Clark, Seth): the self is a hierarchical generative model minimising prediction error; selfhood is the brain's best guess about its own embodiment - functionally real control structure, not dismissed as mere illusion. The operational end of the person is brain death. This is nearly the opposite of the jeevan ontology - the self as a real sentient unit USING the body versus a model GENERATED by the body. Consciousness science: IIT ties consciousness to integrated information with a threshold producing qualitative difference - a useful physicalist mirror of gathanpurnata's threshold grammar - but IIT is pan-experiential in many formulations and silent on immortal units. Autopoiesis parallels self-maintaining completeness but describes biological organisation, not ontological saturation. Key honest point: consciousness science has NO settled account - rival programs, partial adversarial results, no consensus - and no third-person metric for latency in satta. MD's counter throughout: predictive models explain how a body self-regulates; they do not settle WHAT works through the brain.</a:t>
            </a:r>
            <a:endParaRPr/>
          </a:p>
        </p:txBody>
      </p:sp>
      <p:sp>
        <p:nvSpPr>
          <p:cNvPr id="129" name="Google Shape;129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Cosmology: Lambda-CDM gives the observable universe a hot dense beginning ~13.8 billion years ago - but it does not by itself answer whether existence as a whole began. Non-singular programs - loop quantum bounce, Penrose's conformal cyclic cosmology, eternal inflation - explore a beginningless substrate. The study is strict about the epistemic status: these are competing speculative programs; the most claimed is CONCEPTUAL RESONANCE with jagat satat, never proof. Quantum field theory: annihilation and pair creation are not passages into or out of non-being; particles are excitations of conserved fields - broadly consonant with vastu persisting through roop-change. But two cautions: fields are mathematical-physical entities, not bounded ikai; and comparing satta to a physical field is misleading - a dynamical field carries energy-momentum and propagates waves, nothing like actionless kriya-shunya satta. Also flag: evolution vs niyati-kram is a genuine structural tension (fixed guaranteed order emergence versus contingent variation and selection) that the study leaves unresolved - covered again in open problems.</a:t>
            </a:r>
            <a:endParaRPr/>
          </a:p>
        </p:txBody>
      </p:sp>
      <p:sp>
        <p:nvSpPr>
          <p:cNvPr id="152" name="Google Shape;152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" name="Google Shape;17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This is the organising insight of Section 5.1: no single tradition wins every dispute; each PAIR agrees on something the third denies. MD and Advaita against physicalism: both refuse to treat consciousness, value, and self as brain-generated epiphenomena; both reject the predictive self-model as the whole story - though they disagree sharply on what the 'more' is. MD and science against Advaita: both treat the world as real and worth studying - matter, bodies, relationships and ecological order are not finally mithya; jagat satat allies with scientific realism against sublation - though science affirms neither Omnipresence nor immortal jeevan. Advaita and science against MD: both set a high bar against an established immortal individual self - Advaita because separate individuality was never ultimately real, science because the self is a biological process ending at brain death. Practical takeaway: comparative clarity depends on naming WHICH question is at stake - matter-only reduction, world-reality, or individual immortality - before arguing.</a:t>
            </a:r>
            <a:endParaRPr/>
          </a:p>
        </p:txBody>
      </p:sp>
      <p:sp>
        <p:nvSpPr>
          <p:cNvPr id="172" name="Google Shape;172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4" name="Google Shape;19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master table of Section 5.2, condensed. Walk the rows briskly - most were argued on earlier slides. Existence: coexistence of Omnipresence and units / Brahman alone / concrete physical reality. Beginning: none of the three has existence arising from non-being, but for different reasons - MD denies origination from abhava; Advaita's Brahman does not begin and vyavahara is beginningless; physics finds particular systems beginning while the substrate is unsettled. The self row is the sharpest three-way split: many immortal jeevan / jiva ultimately Brahman / biological-cognitive process ending at brain death. World: perpetual / mithya at paramartha / real physically. Method: staged study-practice-realisation / scripture-reasoning-contemplation / observation-modelling-replication. Ethics: conduct evidences understanding / preparation for liberation / naturalised. Time is treated in the separate Nature of Time study - mention it exists but do not open it here.</a:t>
            </a:r>
            <a:endParaRPr/>
          </a:p>
        </p:txBody>
      </p:sp>
      <p:sp>
        <p:nvSpPr>
          <p:cNvPr id="195" name="Google Shape;195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Advaita and MD can SOUND alike - both speak of being, consciousness, and bliss. The contrast is what those words name and whether the world survives them. Sat: for Advaita, Brahman alone is being and the world is finally negated; for MD, beingness is the coexistence of formless Omnipresence AND countless real units. Chit: Advaita's pure awareness is identical to the inner Self; MD distributes - Omnipresence is intelligibility-ground (a condition, not a knower), while ACTIVE sentience belongs to the jeevan unit. Ananda: Brahman's intrinsic nature versus harmony realised within awakened jeevan (bliss as buddhi-atma harmony). The witness fork underneath: both traditions refuse to reduce the first person to observed brain-states - against physicalism they stand together. Against each other the dispute is whether irreducible awareness is one or many - impersonal ground, or immortal persons in coexistence. That single question - one knower or many - is arguably the deepest fork between the two Indian systems.</a:t>
            </a:r>
            <a:endParaRPr/>
          </a:p>
        </p:txBody>
      </p:sp>
      <p:sp>
        <p:nvSpPr>
          <p:cNvPr id="207" name="Google Shape;207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0" name="Google Shape;22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Causal doctrine is the deepest structural difference on the beginninglessness axis. Advaita: satkaryavada from its Samkhya background - the effect pre-exists in the cause, as pot in clay - and vivartavada at the empirical level: apparent transformation of name-form on a changeless Brahman; the cause never really transforms. MD: denies single-material-cause reduction and linear efficient-cause chains. Satta is mahakaran - the supreme SUSTAINING cause, ground of activity, never efficient trigger; units do the causal work of change through the single inseparable triad effort-motion-result, with cyclical, order-specific activity and sanskar-mediated human cycles. Conservation of vastu through roop-change resembles parinamavada at the unit level, but the study is careful: the full picture is not reducible to a parinamavada label. Physicalism: strict efficient causation under conservation laws - no teleology, no supreme ground. The slogan that separates all three: Brahma is truth, the world is perpetual - real transformation of real units, where Advaita projects and physicalism dynamises fields.</a:t>
            </a:r>
            <a:endParaRPr/>
          </a:p>
        </p:txBody>
      </p:sp>
      <p:sp>
        <p:nvSpPr>
          <p:cNvPr id="221" name="Google Shape;221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3" name="Google Shape;233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Advaita structural fork in one slide. Left: four close analogues - Brahman and satta share formless, pervasive, non-transforming, actionless character; Atman and atma both name the innermost core of the self; jiva and deluded jeevan both name the embodied self bound by ignorance; jagat and the world of units both point to the changing universe. Right: categories Advaita NEEDS that MD explicitly rejects - Maya (no cosmic power of illusion; ignorance is just absence of understanding, resolved by education); adhyasa (no ontological superimposition - the ground-unit relation is saturation, real and mutual; note MD's homonym adhyasa in the animal order means gestational conduct-inheritance, totally different); mithya (no intermediate ontological status - everything that exists is real and indestructible); Ishvara as cosmic governor (orderliness is self-regulation; satta stays actionless - though MVD keeps 'God is omnipresent, deities are many'); kaivalya as dissolution of individuality (jeevan units remain eternally distinct; the goal is jagriti - awakened coexistence). Bottom line from the study: surface analogues exist, but a one-to-one mapping is impossible without distorting one system or the other.</a:t>
            </a:r>
            <a:endParaRPr/>
          </a:p>
        </p:txBody>
      </p:sp>
      <p:sp>
        <p:nvSpPr>
          <p:cNvPr id="234" name="Google Shape;234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0" name="Google Shape;250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study's most distinctive feature: it turns the critical lens on Madhyasth Darshan itself (Section 6.2). Six numbered open problems. 6.2.1 Latency: the Saturation-Reflector reading avoids strong emergence but converts the hard problem into a SELECTION problem (why does particle-count stability channel gyan into active chaitanya, rather than some other structural invariant?) and a GROUNDING problem (what makes satta as gyan experiential ground at all?). 6.2.2 Nagarjuna: mutual dependence for manifestation invites the svabhava critique - MD answers by asserting a rival eternalist position, not by defeating Madhyamaka on its own terms; the study calls this the gravest philosophical threat. 6.2.3: quantity conservation does not entail THIS jeevan's post-death continuity - a further metaphysical commitment; and liberation from weight-bondage sits uneasily with particle physics. 6.2.4: jeevan-body interaction - the texts suggest state-and-order transmission within a joint form rather than a ghostly piston injecting energy, but Kim-style causal closure remains open. 6.2.5: constitutional completeness is not operationalizable - no public criteria yet. 6.2.6: fixed order versus evolutionary contingency, unresolved. Present these as the research agenda, not as embarrassments - the study treats internal coherence (6.1) as genuine but explicitly says premises are not thereby established against rivals.</a:t>
            </a:r>
            <a:endParaRPr/>
          </a:p>
        </p:txBody>
      </p:sp>
      <p:sp>
        <p:nvSpPr>
          <p:cNvPr id="251" name="Google Shape;251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5" name="Google Shape;28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Even-handedness both ways (Sections 6.3-6.4). Advaita's strengths: a powerful answer to non-being, a rigorous first-person method (DDV, three-state analysis), and parsimony - one partless Brahman, no plural immortal substances. Its limit from the MD side: making the world mithya at paramartha makes it harder to ground the FINAL weight of relationships, nature, society, conduct. Nagraj's native objection: how can jeeva and jagat, originated from Truth-Knowledge-Infinite Brahman, be an illusion? Advaita's reply (three tiers, vivartavada) is coherent within Advaita; MD denies sublation is the last word - a genuine disagreement, not a defeat. Physicalism's strengths: public evidence, correction, mechanism; causal closure and brain death are genuine pressures on jeevan, not rhetoric. Its exposed limit: the hard problem persists, and consciousness science has no consensus. The strongest physicalist reply is predictive processing - it meets MD partway on embodiment and regulation, and deserves the same seriousness as Advaita's loka-sangraha defence. And the symmetric ledger: MD's own cost is ontological complexity - many immortal units, saturation, tiered gyan/chaitanya. The study's line: neither system is free of trade-offs.</a:t>
            </a:r>
            <a:endParaRPr/>
          </a:p>
        </p:txBody>
      </p:sp>
      <p:sp>
        <p:nvSpPr>
          <p:cNvPr id="286" name="Google Shape;286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8" name="Google Shape;29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Close on the conclusion of Section 7. Against physicalism, MD refuses matter-only reduction: consciousness, value, selfhood and ethical relation are not exhaustively brain-generated - yet the world of units remains fully real for study and responsibility. Against Advaita, it refuses world-negation at the highest level: the perpetual world, distinct immortal jeevan, and ontologically real relationships and values retain final weight. The comparative slogan: Brahma is truth, the world is perpetual. Be honest to the end: latency's selection and grounding problems, the conservation-to-immortality inference, and the Madhyamaka/anatta challenge remain open - the study says so explicitly. And the criteria of knowing remain partially incommensurable: conduct-evidence, scriptural realisation, and public measurement each set their own bar. Suggested discussion prompts: which fault line does the audience find most decisive; what public criteria could ever distinguish jeevan-mediated from brain-only activity; and does distributed Sat-Chit-Ananda preserve or lose what Advaita's unity secures?</a:t>
            </a:r>
            <a:endParaRPr/>
          </a:p>
        </p:txBody>
      </p:sp>
      <p:sp>
        <p:nvSpPr>
          <p:cNvPr id="299" name="Google Shape;299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447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6126480" y="914400"/>
            <a:ext cx="2286000" cy="2286000"/>
          </a:xfrm>
          <a:prstGeom prst="ellipse">
            <a:avLst/>
          </a:prstGeom>
          <a:noFill/>
          <a:ln cap="flat" cmpd="sng" w="15875">
            <a:solidFill>
              <a:srgbClr val="44507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6583680" y="1371600"/>
            <a:ext cx="1371600" cy="1371600"/>
          </a:xfrm>
          <a:prstGeom prst="ellipse">
            <a:avLst/>
          </a:prstGeom>
          <a:noFill/>
          <a:ln cap="flat" cmpd="sng" w="15875">
            <a:solidFill>
              <a:srgbClr val="44507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6972300" y="1760220"/>
            <a:ext cx="594360" cy="594360"/>
          </a:xfrm>
          <a:prstGeom prst="ellipse">
            <a:avLst/>
          </a:prstGeom>
          <a:solidFill>
            <a:srgbClr val="C9821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3"/>
          <p:cNvSpPr/>
          <p:nvPr/>
        </p:nvSpPr>
        <p:spPr>
          <a:xfrm>
            <a:off x="5623560" y="3429000"/>
            <a:ext cx="914400" cy="914400"/>
          </a:xfrm>
          <a:prstGeom prst="ellipse">
            <a:avLst/>
          </a:prstGeom>
          <a:noFill/>
          <a:ln cap="flat" cmpd="sng" w="15875">
            <a:solidFill>
              <a:srgbClr val="44507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3"/>
          <p:cNvSpPr/>
          <p:nvPr/>
        </p:nvSpPr>
        <p:spPr>
          <a:xfrm>
            <a:off x="5806440" y="3611880"/>
            <a:ext cx="548640" cy="548640"/>
          </a:xfrm>
          <a:prstGeom prst="ellipse">
            <a:avLst/>
          </a:prstGeom>
          <a:noFill/>
          <a:ln cap="flat" cmpd="sng" w="15875">
            <a:solidFill>
              <a:srgbClr val="44507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5961888" y="3767328"/>
            <a:ext cx="237744" cy="237744"/>
          </a:xfrm>
          <a:prstGeom prst="ellipse">
            <a:avLst/>
          </a:prstGeom>
          <a:solidFill>
            <a:srgbClr val="6D2E4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3"/>
          <p:cNvSpPr/>
          <p:nvPr/>
        </p:nvSpPr>
        <p:spPr>
          <a:xfrm>
            <a:off x="8092440" y="3703320"/>
            <a:ext cx="777240" cy="777240"/>
          </a:xfrm>
          <a:prstGeom prst="ellipse">
            <a:avLst/>
          </a:prstGeom>
          <a:noFill/>
          <a:ln cap="flat" cmpd="sng" w="15875">
            <a:solidFill>
              <a:srgbClr val="44507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47888" y="3858768"/>
            <a:ext cx="466344" cy="466344"/>
          </a:xfrm>
          <a:prstGeom prst="ellipse">
            <a:avLst/>
          </a:prstGeom>
          <a:noFill/>
          <a:ln cap="flat" cmpd="sng" w="15875">
            <a:solidFill>
              <a:srgbClr val="44507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p3"/>
          <p:cNvSpPr/>
          <p:nvPr/>
        </p:nvSpPr>
        <p:spPr>
          <a:xfrm>
            <a:off x="8380019" y="3990899"/>
            <a:ext cx="202082" cy="202082"/>
          </a:xfrm>
          <a:prstGeom prst="ellipse">
            <a:avLst/>
          </a:prstGeom>
          <a:solidFill>
            <a:srgbClr val="31606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" name="Google Shape;25;p3"/>
          <p:cNvSpPr/>
          <p:nvPr/>
        </p:nvSpPr>
        <p:spPr>
          <a:xfrm>
            <a:off x="640080" y="1234440"/>
            <a:ext cx="5852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821E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9821E"/>
                </a:solidFill>
                <a:latin typeface="Calibri"/>
                <a:ea typeface="Calibri"/>
                <a:cs typeface="Calibri"/>
                <a:sym typeface="Calibri"/>
              </a:rPr>
              <a:t>MADHYASTH DARSHAN IN DIALOGUE  ·  §§2–6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3"/>
          <p:cNvSpPr/>
          <p:nvPr/>
        </p:nvSpPr>
        <p:spPr>
          <a:xfrm>
            <a:off x="640080" y="1572768"/>
            <a:ext cx="55778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Cambria"/>
              <a:buNone/>
            </a:pPr>
            <a:r>
              <a:rPr b="1" i="0" lang="en-US" sz="42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Coexistence in Comparison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3"/>
          <p:cNvSpPr/>
          <p:nvPr/>
        </p:nvSpPr>
        <p:spPr>
          <a:xfrm>
            <a:off x="640080" y="2880360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D4EF"/>
              </a:buClr>
              <a:buSzPts val="1600"/>
              <a:buFont typeface="Calibri"/>
              <a:buNone/>
            </a:pPr>
            <a:r>
              <a:rPr b="0" i="1" lang="en-US" sz="1600" u="none" cap="none" strike="noStrike">
                <a:solidFill>
                  <a:srgbClr val="C9D4EF"/>
                </a:solidFill>
                <a:latin typeface="Calibri"/>
                <a:ea typeface="Calibri"/>
                <a:cs typeface="Calibri"/>
                <a:sym typeface="Calibri"/>
              </a:rPr>
              <a:t>Advaita Vedanta  ·  Modern Philosophy  ·  Modern Science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3"/>
          <p:cNvSpPr/>
          <p:nvPr/>
        </p:nvSpPr>
        <p:spPr>
          <a:xfrm>
            <a:off x="640080" y="4160520"/>
            <a:ext cx="5303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E9BC4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8E9BC4"/>
                </a:solidFill>
                <a:latin typeface="Calibri"/>
                <a:ea typeface="Calibri"/>
                <a:cs typeface="Calibri"/>
                <a:sym typeface="Calibri"/>
              </a:rPr>
              <a:t>Based on §§2–6 of </a:t>
            </a:r>
            <a:r>
              <a:rPr b="0" i="1" lang="en-US" sz="1150" u="none" cap="none" strike="noStrike">
                <a:solidFill>
                  <a:srgbClr val="8E9BC4"/>
                </a:solidFill>
                <a:latin typeface="Calibri"/>
                <a:ea typeface="Calibri"/>
                <a:cs typeface="Calibri"/>
                <a:sym typeface="Calibri"/>
              </a:rPr>
              <a:t>The Ontology of Coexistence</a:t>
            </a:r>
            <a:r>
              <a:rPr b="0" i="0" lang="en-US" sz="1150" u="none" cap="none" strike="noStrike">
                <a:solidFill>
                  <a:srgbClr val="8E9BC4"/>
                </a:solidFill>
                <a:latin typeface="Calibri"/>
                <a:ea typeface="Calibri"/>
                <a:cs typeface="Calibri"/>
                <a:sym typeface="Calibri"/>
              </a:rPr>
              <a:t> (AnalyticMadhyasthDarshan.org)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3"/>
          <p:cNvSpPr/>
          <p:nvPr/>
        </p:nvSpPr>
        <p:spPr>
          <a:xfrm>
            <a:off x="640080" y="4434840"/>
            <a:ext cx="5303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E9BC4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8E9BC4"/>
                </a:solidFill>
                <a:latin typeface="Calibri"/>
                <a:ea typeface="Calibri"/>
                <a:cs typeface="Calibri"/>
                <a:sym typeface="Calibri"/>
              </a:rPr>
              <a:t>Comparative understanding — not persuasion or devotional endorsement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4"/>
          <p:cNvSpPr/>
          <p:nvPr/>
        </p:nvSpPr>
        <p:spPr>
          <a:xfrm>
            <a:off x="457200" y="384048"/>
            <a:ext cx="365760" cy="365760"/>
          </a:xfrm>
          <a:prstGeom prst="ellipse">
            <a:avLst/>
          </a:prstGeom>
          <a:noFill/>
          <a:ln cap="flat" cmpd="sng" w="15875">
            <a:solidFill>
              <a:srgbClr val="3B4A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4"/>
          <p:cNvSpPr/>
          <p:nvPr/>
        </p:nvSpPr>
        <p:spPr>
          <a:xfrm>
            <a:off x="530352" y="457200"/>
            <a:ext cx="219456" cy="219456"/>
          </a:xfrm>
          <a:prstGeom prst="ellipse">
            <a:avLst/>
          </a:prstGeom>
          <a:noFill/>
          <a:ln cap="flat" cmpd="sng" w="15875">
            <a:solidFill>
              <a:srgbClr val="3B4A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4"/>
          <p:cNvSpPr/>
          <p:nvPr/>
        </p:nvSpPr>
        <p:spPr>
          <a:xfrm>
            <a:off x="592531" y="519379"/>
            <a:ext cx="95098" cy="95098"/>
          </a:xfrm>
          <a:prstGeom prst="ellipse">
            <a:avLst/>
          </a:prstGeom>
          <a:solidFill>
            <a:srgbClr val="C9821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4"/>
          <p:cNvSpPr/>
          <p:nvPr/>
        </p:nvSpPr>
        <p:spPr>
          <a:xfrm>
            <a:off x="960120" y="256032"/>
            <a:ext cx="7680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6414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9A6414"/>
                </a:solidFill>
                <a:latin typeface="Calibri"/>
                <a:ea typeface="Calibri"/>
                <a:cs typeface="Calibri"/>
                <a:sym typeface="Calibri"/>
              </a:rPr>
              <a:t>METHOD · §5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960120" y="457200"/>
            <a:ext cx="77266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447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1E2447"/>
                </a:solidFill>
                <a:latin typeface="Cambria"/>
                <a:ea typeface="Cambria"/>
                <a:cs typeface="Cambria"/>
                <a:sym typeface="Cambria"/>
              </a:rPr>
              <a:t>How the Comparison Is Run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640080" y="1280160"/>
            <a:ext cx="79552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447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E2447"/>
                </a:solidFill>
                <a:latin typeface="Calibri"/>
                <a:ea typeface="Calibri"/>
                <a:cs typeface="Calibri"/>
                <a:sym typeface="Calibri"/>
              </a:rPr>
              <a:t>Own terms first, comparison after.  </a:t>
            </a:r>
            <a:r>
              <a:rPr b="0" i="0" lang="en-US" sz="125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Each tradition is stated in its own vocabulary (§§1–4) before synthesis (§5) and critical review (§6). SB itself frames the starting datum: neither matter-from-consciousness nor consciousness-from-matter has been observed — what is evident is their inseparable presence (SB, p. 48).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640080" y="2286000"/>
            <a:ext cx="2615184" cy="1234440"/>
          </a:xfrm>
          <a:prstGeom prst="roundRect">
            <a:avLst>
              <a:gd fmla="val 7407" name="adj"/>
            </a:avLst>
          </a:prstGeom>
          <a:solidFill>
            <a:srgbClr val="EEF1F8"/>
          </a:solidFill>
          <a:ln>
            <a:noFill/>
          </a:ln>
          <a:effectLst>
            <a:outerShdw blurRad="88900" rotWithShape="0" algn="bl" dir="27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4"/>
          <p:cNvSpPr/>
          <p:nvPr/>
        </p:nvSpPr>
        <p:spPr>
          <a:xfrm>
            <a:off x="841248" y="2423160"/>
            <a:ext cx="2240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447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1E2447"/>
                </a:solidFill>
                <a:latin typeface="Cambria"/>
                <a:ea typeface="Cambria"/>
                <a:cs typeface="Cambria"/>
                <a:sym typeface="Cambria"/>
              </a:rPr>
              <a:t>Matter-only?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841248" y="2724912"/>
            <a:ext cx="22402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377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Is existence exhausted by matter and mechanism?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3392424" y="2286000"/>
            <a:ext cx="2615184" cy="1234440"/>
          </a:xfrm>
          <a:prstGeom prst="roundRect">
            <a:avLst>
              <a:gd fmla="val 7407" name="adj"/>
            </a:avLst>
          </a:prstGeom>
          <a:solidFill>
            <a:srgbClr val="EEF1F8"/>
          </a:solidFill>
          <a:ln>
            <a:noFill/>
          </a:ln>
          <a:effectLst>
            <a:outerShdw blurRad="88900" rotWithShape="0" algn="bl" dir="27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4"/>
          <p:cNvSpPr/>
          <p:nvPr/>
        </p:nvSpPr>
        <p:spPr>
          <a:xfrm>
            <a:off x="3593592" y="2423160"/>
            <a:ext cx="2240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447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1E2447"/>
                </a:solidFill>
                <a:latin typeface="Cambria"/>
                <a:ea typeface="Cambria"/>
                <a:cs typeface="Cambria"/>
                <a:sym typeface="Cambria"/>
              </a:rPr>
              <a:t>World finally real?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3593592" y="2724912"/>
            <a:ext cx="22402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377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Does the world retain final ontological weight at the highest truth?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6144768" y="2286000"/>
            <a:ext cx="2615184" cy="1234440"/>
          </a:xfrm>
          <a:prstGeom prst="roundRect">
            <a:avLst>
              <a:gd fmla="val 7407" name="adj"/>
            </a:avLst>
          </a:prstGeom>
          <a:solidFill>
            <a:srgbClr val="EEF1F8"/>
          </a:solidFill>
          <a:ln>
            <a:noFill/>
          </a:ln>
          <a:effectLst>
            <a:outerShdw blurRad="88900" rotWithShape="0" algn="bl" dir="27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4"/>
          <p:cNvSpPr/>
          <p:nvPr/>
        </p:nvSpPr>
        <p:spPr>
          <a:xfrm>
            <a:off x="6345936" y="2423160"/>
            <a:ext cx="2240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447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1E2447"/>
                </a:solidFill>
                <a:latin typeface="Cambria"/>
                <a:ea typeface="Cambria"/>
                <a:cs typeface="Cambria"/>
                <a:sym typeface="Cambria"/>
              </a:rPr>
              <a:t>Immortal self?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4"/>
          <p:cNvSpPr/>
          <p:nvPr/>
        </p:nvSpPr>
        <p:spPr>
          <a:xfrm>
            <a:off x="6345936" y="2724912"/>
            <a:ext cx="22402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377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Is an immortal individual self established?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4"/>
          <p:cNvSpPr/>
          <p:nvPr/>
        </p:nvSpPr>
        <p:spPr>
          <a:xfrm>
            <a:off x="640080" y="3749040"/>
            <a:ext cx="7863840" cy="868680"/>
          </a:xfrm>
          <a:prstGeom prst="roundRect">
            <a:avLst>
              <a:gd fmla="val 9474" name="adj"/>
            </a:avLst>
          </a:prstGeom>
          <a:solidFill>
            <a:srgbClr val="FAF1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4"/>
          <p:cNvSpPr/>
          <p:nvPr/>
        </p:nvSpPr>
        <p:spPr>
          <a:xfrm>
            <a:off x="868680" y="3749040"/>
            <a:ext cx="740664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6414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9A6414"/>
                </a:solidFill>
                <a:latin typeface="Calibri"/>
                <a:ea typeface="Calibri"/>
                <a:cs typeface="Calibri"/>
                <a:sym typeface="Calibri"/>
              </a:rPr>
              <a:t>Partial incommensurability:  </a:t>
            </a:r>
            <a:r>
              <a:rPr b="0" i="0" lang="en-US" sz="115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the traditions use different criteria of knowing — conduct-evidence, scriptural realisation, public measurement — so no single neutral tribunal settles them. Comparison tests internal consistency, fit with public knowledge, and honesty about posits (§5.3.5).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502920" y="4828032"/>
            <a:ext cx="8138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377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Scope: comparison based on the translated corpus (MVD, SB, JV, tr. Rakesh Gupta) and cited primary/secondary Western and Advaita sources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5"/>
          <p:cNvSpPr/>
          <p:nvPr/>
        </p:nvSpPr>
        <p:spPr>
          <a:xfrm>
            <a:off x="457200" y="384048"/>
            <a:ext cx="365760" cy="365760"/>
          </a:xfrm>
          <a:prstGeom prst="ellipse">
            <a:avLst/>
          </a:prstGeom>
          <a:noFill/>
          <a:ln cap="flat" cmpd="sng" w="15875">
            <a:solidFill>
              <a:srgbClr val="3B4A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5"/>
          <p:cNvSpPr/>
          <p:nvPr/>
        </p:nvSpPr>
        <p:spPr>
          <a:xfrm>
            <a:off x="530352" y="457200"/>
            <a:ext cx="219456" cy="219456"/>
          </a:xfrm>
          <a:prstGeom prst="ellipse">
            <a:avLst/>
          </a:prstGeom>
          <a:noFill/>
          <a:ln cap="flat" cmpd="sng" w="15875">
            <a:solidFill>
              <a:srgbClr val="3B4A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5"/>
          <p:cNvSpPr/>
          <p:nvPr/>
        </p:nvSpPr>
        <p:spPr>
          <a:xfrm>
            <a:off x="592531" y="519379"/>
            <a:ext cx="95098" cy="95098"/>
          </a:xfrm>
          <a:prstGeom prst="ellipse">
            <a:avLst/>
          </a:prstGeom>
          <a:solidFill>
            <a:srgbClr val="C9821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5"/>
          <p:cNvSpPr/>
          <p:nvPr/>
        </p:nvSpPr>
        <p:spPr>
          <a:xfrm>
            <a:off x="960120" y="256032"/>
            <a:ext cx="7680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6414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9A6414"/>
                </a:solidFill>
                <a:latin typeface="Calibri"/>
                <a:ea typeface="Calibri"/>
                <a:cs typeface="Calibri"/>
                <a:sym typeface="Calibri"/>
              </a:rPr>
              <a:t>§2 · THE NEAREST RIVAL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5"/>
          <p:cNvSpPr/>
          <p:nvPr/>
        </p:nvSpPr>
        <p:spPr>
          <a:xfrm>
            <a:off x="960120" y="457200"/>
            <a:ext cx="77266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447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1E2447"/>
                </a:solidFill>
                <a:latin typeface="Cambria"/>
                <a:ea typeface="Cambria"/>
                <a:cs typeface="Cambria"/>
                <a:sym typeface="Cambria"/>
              </a:rPr>
              <a:t>Advaita Vedanta: Brahman and Three Tiers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5"/>
          <p:cNvSpPr/>
          <p:nvPr/>
        </p:nvSpPr>
        <p:spPr>
          <a:xfrm>
            <a:off x="640080" y="1280160"/>
            <a:ext cx="79552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E46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6D2E46"/>
                </a:solidFill>
                <a:latin typeface="Calibri"/>
                <a:ea typeface="Calibri"/>
                <a:cs typeface="Calibri"/>
                <a:sym typeface="Calibri"/>
              </a:rPr>
              <a:t>“One only, without a second” (CU 6.2.1).  </a:t>
            </a:r>
            <a:r>
              <a:rPr b="0" i="0" lang="en-US" sz="125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Absolutely, only non-dual Brahman — Sat-Chit-Ananda: being, consciousness, bliss — exists. The world of name-form is mithya: dependent appearance, neither absolutely real nor sheer nothing. Like MD, Advaita refuses origination from non-being.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4" name="Google Shape;64;p5"/>
          <p:cNvGraphicFramePr/>
          <p:nvPr/>
        </p:nvGraphicFramePr>
        <p:xfrm>
          <a:off x="640080" y="224028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{C412159E-9D9A-4F1B-BDD3-5D94F5A31A33}</a:tableStyleId>
              </a:tblPr>
              <a:tblGrid>
                <a:gridCol w="2011675"/>
                <a:gridCol w="2834650"/>
                <a:gridCol w="3017525"/>
              </a:tblGrid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Tier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4875" marB="54875" marR="54875" marL="54875" anchor="ctr">
                    <a:lnL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What exists?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4875" marB="54875" marR="54875" marL="54875" anchor="ctr">
                    <a:lnL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Status / sublation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4875" marB="54875" marR="54875" marL="54875" anchor="ctr">
                    <a:lnL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D2E4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Apparent (pratibhasika)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4875" marB="54875" marR="54875" marL="54875" anchor="ctr">
                    <a:lnL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Rope-snake, dream objects, private errors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4875" marB="54875" marR="54875" marL="54875" anchor="ctr">
                    <a:lnL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Sublated by waking or correction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4875" marB="54875" marR="54875" marL="54875" anchor="ctr">
                    <a:lnL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66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Empirical (vyavahara)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4875" marB="54875" marR="54875" marL="54875" anchor="ctr">
                    <a:lnL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Bodies, minds, Ishvara, causes, duties, science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4875" marB="54875" marR="54875" marL="54875" anchor="ctr">
                    <a:lnL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Shared, law-governed, operationally valid; sublated only by brahma-jnana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4875" marB="54875" marR="54875" marL="54875" anchor="ctr">
                    <a:lnL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Absolute (paramartha)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4875" marB="54875" marR="54875" marL="54875" anchor="ctr">
                    <a:lnL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Brahman alone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4875" marB="54875" marR="54875" marL="54875" anchor="ctr">
                    <a:lnL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World is mithya — dependent appearance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4875" marB="54875" marR="54875" marL="54875" anchor="ctr">
                    <a:lnL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C9D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Google Shape;65;p5"/>
          <p:cNvSpPr/>
          <p:nvPr/>
        </p:nvSpPr>
        <p:spPr>
          <a:xfrm>
            <a:off x="640080" y="4251960"/>
            <a:ext cx="79552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E46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6D2E46"/>
                </a:solidFill>
                <a:latin typeface="Calibri"/>
                <a:ea typeface="Calibri"/>
                <a:cs typeface="Calibri"/>
                <a:sym typeface="Calibri"/>
              </a:rPr>
              <a:t>Liberation (moksha) </a:t>
            </a:r>
            <a:r>
              <a:rPr b="0" i="0" lang="en-US" sz="115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is recognition of pre-existing identity with Brahman — tat tvam asi — in which the illusion of separate individuality is dispelled; ethics at vyavahara purifies the mind for that end and remains binding where life is lived (loka-sangraha).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5"/>
          <p:cNvSpPr/>
          <p:nvPr/>
        </p:nvSpPr>
        <p:spPr>
          <a:xfrm>
            <a:off x="502920" y="4828032"/>
            <a:ext cx="8138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377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CU 6.2.1–2, 6.8.7  ·  TU 2.1.1  ·  VC vv. 20, 152, 217, 244, 574  ·  BG 3.8, 13.1–2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6"/>
          <p:cNvSpPr/>
          <p:nvPr/>
        </p:nvSpPr>
        <p:spPr>
          <a:xfrm>
            <a:off x="457200" y="384048"/>
            <a:ext cx="365760" cy="365760"/>
          </a:xfrm>
          <a:prstGeom prst="ellipse">
            <a:avLst/>
          </a:prstGeom>
          <a:noFill/>
          <a:ln cap="flat" cmpd="sng" w="15875">
            <a:solidFill>
              <a:srgbClr val="3B4A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6"/>
          <p:cNvSpPr/>
          <p:nvPr/>
        </p:nvSpPr>
        <p:spPr>
          <a:xfrm>
            <a:off x="530352" y="457200"/>
            <a:ext cx="219456" cy="219456"/>
          </a:xfrm>
          <a:prstGeom prst="ellipse">
            <a:avLst/>
          </a:prstGeom>
          <a:noFill/>
          <a:ln cap="flat" cmpd="sng" w="15875">
            <a:solidFill>
              <a:srgbClr val="3B4A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6"/>
          <p:cNvSpPr/>
          <p:nvPr/>
        </p:nvSpPr>
        <p:spPr>
          <a:xfrm>
            <a:off x="592531" y="519379"/>
            <a:ext cx="95098" cy="95098"/>
          </a:xfrm>
          <a:prstGeom prst="ellipse">
            <a:avLst/>
          </a:prstGeom>
          <a:solidFill>
            <a:srgbClr val="C9821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6"/>
          <p:cNvSpPr/>
          <p:nvPr/>
        </p:nvSpPr>
        <p:spPr>
          <a:xfrm>
            <a:off x="960120" y="256032"/>
            <a:ext cx="7680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6414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9A6414"/>
                </a:solidFill>
                <a:latin typeface="Calibri"/>
                <a:ea typeface="Calibri"/>
                <a:cs typeface="Calibri"/>
                <a:sym typeface="Calibri"/>
              </a:rPr>
              <a:t>§§2.4–2.7 · MAYA, CAUSATION, WITNESS, TIME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6"/>
          <p:cNvSpPr/>
          <p:nvPr/>
        </p:nvSpPr>
        <p:spPr>
          <a:xfrm>
            <a:off x="960120" y="457200"/>
            <a:ext cx="77266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447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1E2447"/>
                </a:solidFill>
                <a:latin typeface="Cambria"/>
                <a:ea typeface="Cambria"/>
                <a:cs typeface="Cambria"/>
                <a:sym typeface="Cambria"/>
              </a:rPr>
              <a:t>Advaita’s Machinery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6"/>
          <p:cNvSpPr/>
          <p:nvPr/>
        </p:nvSpPr>
        <p:spPr>
          <a:xfrm>
            <a:off x="640080" y="1325880"/>
            <a:ext cx="3794760" cy="1481328"/>
          </a:xfrm>
          <a:prstGeom prst="roundRect">
            <a:avLst>
              <a:gd fmla="val 5556" name="adj"/>
            </a:avLst>
          </a:prstGeom>
          <a:solidFill>
            <a:srgbClr val="F5EBEF"/>
          </a:solidFill>
          <a:ln>
            <a:noFill/>
          </a:ln>
          <a:effectLst>
            <a:outerShdw blurRad="88900" rotWithShape="0" algn="bl" dir="27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6"/>
          <p:cNvSpPr/>
          <p:nvPr/>
        </p:nvSpPr>
        <p:spPr>
          <a:xfrm>
            <a:off x="841248" y="1453896"/>
            <a:ext cx="3429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E46"/>
              </a:buClr>
              <a:buSzPts val="1350"/>
              <a:buFont typeface="Cambria"/>
              <a:buNone/>
            </a:pPr>
            <a:r>
              <a:rPr b="1" i="0" lang="en-US" sz="1350" u="none" cap="none" strike="noStrike">
                <a:solidFill>
                  <a:srgbClr val="6D2E46"/>
                </a:solidFill>
                <a:latin typeface="Cambria"/>
                <a:ea typeface="Cambria"/>
                <a:cs typeface="Cambria"/>
                <a:sym typeface="Cambria"/>
              </a:rPr>
              <a:t>Maya &amp; adhyasa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6"/>
          <p:cNvSpPr/>
          <p:nvPr/>
        </p:nvSpPr>
        <p:spPr>
          <a:xfrm>
            <a:off x="841248" y="1783080"/>
            <a:ext cx="3429000" cy="932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377"/>
              </a:buClr>
              <a:buSzPts val="1030"/>
              <a:buFont typeface="Calibri"/>
              <a:buNone/>
            </a:pPr>
            <a:r>
              <a:rPr b="0" i="0" lang="en-US" sz="103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Multiplicity is superimposed on Brahman like snake on rope; Maya conceals (avarana) and projects (vikshepa). Individual avidya superimposes body–mind on the Self.</a:t>
            </a:r>
            <a:endParaRPr b="0" i="0" sz="10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6"/>
          <p:cNvSpPr/>
          <p:nvPr/>
        </p:nvSpPr>
        <p:spPr>
          <a:xfrm>
            <a:off x="4709160" y="1325880"/>
            <a:ext cx="3794760" cy="1481328"/>
          </a:xfrm>
          <a:prstGeom prst="roundRect">
            <a:avLst>
              <a:gd fmla="val 5556" name="adj"/>
            </a:avLst>
          </a:prstGeom>
          <a:solidFill>
            <a:srgbClr val="F5EBEF"/>
          </a:solidFill>
          <a:ln>
            <a:noFill/>
          </a:ln>
          <a:effectLst>
            <a:outerShdw blurRad="88900" rotWithShape="0" algn="bl" dir="27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6"/>
          <p:cNvSpPr/>
          <p:nvPr/>
        </p:nvSpPr>
        <p:spPr>
          <a:xfrm>
            <a:off x="4910328" y="1453896"/>
            <a:ext cx="3429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E46"/>
              </a:buClr>
              <a:buSzPts val="1350"/>
              <a:buFont typeface="Cambria"/>
              <a:buNone/>
            </a:pPr>
            <a:r>
              <a:rPr b="1" i="0" lang="en-US" sz="1350" u="none" cap="none" strike="noStrike">
                <a:solidFill>
                  <a:srgbClr val="6D2E46"/>
                </a:solidFill>
                <a:latin typeface="Cambria"/>
                <a:ea typeface="Cambria"/>
                <a:cs typeface="Cambria"/>
                <a:sym typeface="Cambria"/>
              </a:rPr>
              <a:t>Satkaryavada + vivartavada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6"/>
          <p:cNvSpPr/>
          <p:nvPr/>
        </p:nvSpPr>
        <p:spPr>
          <a:xfrm>
            <a:off x="4910328" y="1783080"/>
            <a:ext cx="3429000" cy="932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377"/>
              </a:buClr>
              <a:buSzPts val="1030"/>
              <a:buFont typeface="Calibri"/>
              <a:buNone/>
            </a:pPr>
            <a:r>
              <a:rPr b="0" i="0" lang="en-US" sz="103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The effect pre-exists in the cause (clay–pot); creation is apparent transformation of name-form on changeless Brahman — Brahman never changes.</a:t>
            </a:r>
            <a:endParaRPr b="0" i="0" sz="10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6"/>
          <p:cNvSpPr/>
          <p:nvPr/>
        </p:nvSpPr>
        <p:spPr>
          <a:xfrm>
            <a:off x="640080" y="2971800"/>
            <a:ext cx="3794760" cy="1481328"/>
          </a:xfrm>
          <a:prstGeom prst="roundRect">
            <a:avLst>
              <a:gd fmla="val 5556" name="adj"/>
            </a:avLst>
          </a:prstGeom>
          <a:solidFill>
            <a:srgbClr val="F5EBEF"/>
          </a:solidFill>
          <a:ln>
            <a:noFill/>
          </a:ln>
          <a:effectLst>
            <a:outerShdw blurRad="88900" rotWithShape="0" algn="bl" dir="27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6"/>
          <p:cNvSpPr/>
          <p:nvPr/>
        </p:nvSpPr>
        <p:spPr>
          <a:xfrm>
            <a:off x="841248" y="3099816"/>
            <a:ext cx="3429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E46"/>
              </a:buClr>
              <a:buSzPts val="1350"/>
              <a:buFont typeface="Cambria"/>
              <a:buNone/>
            </a:pPr>
            <a:r>
              <a:rPr b="1" i="0" lang="en-US" sz="1350" u="none" cap="none" strike="noStrike">
                <a:solidFill>
                  <a:srgbClr val="6D2E46"/>
                </a:solidFill>
                <a:latin typeface="Cambria"/>
                <a:ea typeface="Cambria"/>
                <a:cs typeface="Cambria"/>
                <a:sym typeface="Cambria"/>
              </a:rPr>
              <a:t>Witness (Sakshin / turiya)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6"/>
          <p:cNvSpPr/>
          <p:nvPr/>
        </p:nvSpPr>
        <p:spPr>
          <a:xfrm>
            <a:off x="841248" y="3429000"/>
            <a:ext cx="3429000" cy="932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377"/>
              </a:buClr>
              <a:buSzPts val="1030"/>
              <a:buFont typeface="Calibri"/>
              <a:buNone/>
            </a:pPr>
            <a:r>
              <a:rPr b="0" i="0" lang="en-US" sz="103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Whatever can be observed — body, sensations, thoughts — is seen, hence not the seer (DDV). The witness beyond waking, dream, deep sleep is finally Brahman itself.</a:t>
            </a:r>
            <a:endParaRPr b="0" i="0" sz="10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6"/>
          <p:cNvSpPr/>
          <p:nvPr/>
        </p:nvSpPr>
        <p:spPr>
          <a:xfrm>
            <a:off x="4709160" y="2971800"/>
            <a:ext cx="3794760" cy="1481328"/>
          </a:xfrm>
          <a:prstGeom prst="roundRect">
            <a:avLst>
              <a:gd fmla="val 5556" name="adj"/>
            </a:avLst>
          </a:prstGeom>
          <a:solidFill>
            <a:srgbClr val="F5EBEF"/>
          </a:solidFill>
          <a:ln>
            <a:noFill/>
          </a:ln>
          <a:effectLst>
            <a:outerShdw blurRad="88900" rotWithShape="0" algn="bl" dir="27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6"/>
          <p:cNvSpPr/>
          <p:nvPr/>
        </p:nvSpPr>
        <p:spPr>
          <a:xfrm>
            <a:off x="4910328" y="3099816"/>
            <a:ext cx="3429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E46"/>
              </a:buClr>
              <a:buSzPts val="1350"/>
              <a:buFont typeface="Cambria"/>
              <a:buNone/>
            </a:pPr>
            <a:r>
              <a:rPr b="1" i="0" lang="en-US" sz="1350" u="none" cap="none" strike="noStrike">
                <a:solidFill>
                  <a:srgbClr val="6D2E46"/>
                </a:solidFill>
                <a:latin typeface="Cambria"/>
                <a:ea typeface="Cambria"/>
                <a:cs typeface="Cambria"/>
                <a:sym typeface="Cambria"/>
              </a:rPr>
              <a:t>Time &amp; beginninglessness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6"/>
          <p:cNvSpPr/>
          <p:nvPr/>
        </p:nvSpPr>
        <p:spPr>
          <a:xfrm>
            <a:off x="4910328" y="3429000"/>
            <a:ext cx="3429000" cy="932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377"/>
              </a:buClr>
              <a:buSzPts val="1030"/>
              <a:buFont typeface="Calibri"/>
              <a:buNone/>
            </a:pPr>
            <a:r>
              <a:rPr b="0" i="0" lang="en-US" sz="103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Brahman is outside temporal becoming; vyavahara is beginningless and law-governed — time is operationally valid, sublated when the timeless Self is known.</a:t>
            </a:r>
            <a:endParaRPr b="0" i="0" sz="10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6"/>
          <p:cNvSpPr/>
          <p:nvPr/>
        </p:nvSpPr>
        <p:spPr>
          <a:xfrm>
            <a:off x="502920" y="4828032"/>
            <a:ext cx="8138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377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VC vv. 243–244, 251, 393  ·  DDV vv. 1–5  ·  MU vv. 3–7  ·  BS 2.1.14 with Śaṅkara’s bhāṣya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7"/>
          <p:cNvSpPr/>
          <p:nvPr/>
        </p:nvSpPr>
        <p:spPr>
          <a:xfrm>
            <a:off x="457200" y="384048"/>
            <a:ext cx="365760" cy="365760"/>
          </a:xfrm>
          <a:prstGeom prst="ellipse">
            <a:avLst/>
          </a:prstGeom>
          <a:noFill/>
          <a:ln cap="flat" cmpd="sng" w="15875">
            <a:solidFill>
              <a:srgbClr val="3B4A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7"/>
          <p:cNvSpPr/>
          <p:nvPr/>
        </p:nvSpPr>
        <p:spPr>
          <a:xfrm>
            <a:off x="530352" y="457200"/>
            <a:ext cx="219456" cy="219456"/>
          </a:xfrm>
          <a:prstGeom prst="ellipse">
            <a:avLst/>
          </a:prstGeom>
          <a:noFill/>
          <a:ln cap="flat" cmpd="sng" w="15875">
            <a:solidFill>
              <a:srgbClr val="3B4A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7"/>
          <p:cNvSpPr/>
          <p:nvPr/>
        </p:nvSpPr>
        <p:spPr>
          <a:xfrm>
            <a:off x="592531" y="519379"/>
            <a:ext cx="95098" cy="95098"/>
          </a:xfrm>
          <a:prstGeom prst="ellipse">
            <a:avLst/>
          </a:prstGeom>
          <a:solidFill>
            <a:srgbClr val="C9821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7"/>
          <p:cNvSpPr/>
          <p:nvPr/>
        </p:nvSpPr>
        <p:spPr>
          <a:xfrm>
            <a:off x="960120" y="256032"/>
            <a:ext cx="7680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6414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9A6414"/>
                </a:solidFill>
                <a:latin typeface="Calibri"/>
                <a:ea typeface="Calibri"/>
                <a:cs typeface="Calibri"/>
                <a:sym typeface="Calibri"/>
              </a:rPr>
              <a:t>§3 · HARD PROBLEM AND REPLIES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7"/>
          <p:cNvSpPr/>
          <p:nvPr/>
        </p:nvSpPr>
        <p:spPr>
          <a:xfrm>
            <a:off x="960120" y="457200"/>
            <a:ext cx="77266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447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1E2447"/>
                </a:solidFill>
                <a:latin typeface="Cambria"/>
                <a:ea typeface="Cambria"/>
                <a:cs typeface="Cambria"/>
                <a:sym typeface="Cambria"/>
              </a:rPr>
              <a:t>Modern Philosophy: Physicalism’s Baseline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7"/>
          <p:cNvSpPr/>
          <p:nvPr/>
        </p:nvSpPr>
        <p:spPr>
          <a:xfrm>
            <a:off x="640080" y="1280160"/>
            <a:ext cx="79552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1606B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31606B"/>
                </a:solidFill>
                <a:latin typeface="Calibri"/>
                <a:ea typeface="Calibri"/>
                <a:cs typeface="Calibri"/>
                <a:sym typeface="Calibri"/>
              </a:rPr>
              <a:t>What exists: </a:t>
            </a:r>
            <a:r>
              <a:rPr b="0" i="0" lang="en-US" sz="125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physical things, fields, organisms, brains, processes; minds as functions or models, not separate substances. Causal closure: every physical event has a sufficient physical cause — the standing objection to an immortal jeevan working through the body.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7"/>
          <p:cNvSpPr/>
          <p:nvPr/>
        </p:nvSpPr>
        <p:spPr>
          <a:xfrm>
            <a:off x="640080" y="2103120"/>
            <a:ext cx="7863840" cy="713232"/>
          </a:xfrm>
          <a:prstGeom prst="roundRect">
            <a:avLst>
              <a:gd fmla="val 11538" name="adj"/>
            </a:avLst>
          </a:prstGeom>
          <a:solidFill>
            <a:srgbClr val="EAF1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7"/>
          <p:cNvSpPr/>
          <p:nvPr/>
        </p:nvSpPr>
        <p:spPr>
          <a:xfrm>
            <a:off x="868680" y="2103120"/>
            <a:ext cx="7406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1606B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31606B"/>
                </a:solidFill>
                <a:latin typeface="Calibri"/>
                <a:ea typeface="Calibri"/>
                <a:cs typeface="Calibri"/>
                <a:sym typeface="Calibri"/>
              </a:rPr>
              <a:t>The hard problem:  </a:t>
            </a:r>
            <a:r>
              <a:rPr b="0" i="0" lang="en-US" sz="115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brains demonstrably correlate with experience — but why any physical process should have an inside at all remains unexplained (Chalmers 1995; Nagel 1974).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7"/>
          <p:cNvSpPr/>
          <p:nvPr/>
        </p:nvSpPr>
        <p:spPr>
          <a:xfrm>
            <a:off x="640080" y="3017520"/>
            <a:ext cx="2615184" cy="1463040"/>
          </a:xfrm>
          <a:prstGeom prst="roundRect">
            <a:avLst>
              <a:gd fmla="val 6250" name="adj"/>
            </a:avLst>
          </a:prstGeom>
          <a:solidFill>
            <a:srgbClr val="EEF1F8"/>
          </a:solidFill>
          <a:ln>
            <a:noFill/>
          </a:ln>
          <a:effectLst>
            <a:outerShdw blurRad="88900" rotWithShape="0" algn="bl" dir="27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7"/>
          <p:cNvSpPr/>
          <p:nvPr/>
        </p:nvSpPr>
        <p:spPr>
          <a:xfrm>
            <a:off x="822960" y="3145536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447"/>
              </a:buClr>
              <a:buSzPts val="1300"/>
              <a:buFont typeface="Cambria"/>
              <a:buNone/>
            </a:pPr>
            <a:r>
              <a:rPr b="1" i="0" lang="en-US" sz="1300" u="none" cap="none" strike="noStrike">
                <a:solidFill>
                  <a:srgbClr val="1E2447"/>
                </a:solidFill>
                <a:latin typeface="Cambria"/>
                <a:ea typeface="Cambria"/>
                <a:cs typeface="Cambria"/>
                <a:sym typeface="Cambria"/>
              </a:rPr>
              <a:t>Panpsychism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7"/>
          <p:cNvSpPr/>
          <p:nvPr/>
        </p:nvSpPr>
        <p:spPr>
          <a:xfrm>
            <a:off x="822960" y="3456432"/>
            <a:ext cx="2286000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377"/>
              </a:buClr>
              <a:buSzPts val="980"/>
              <a:buFont typeface="Calibri"/>
              <a:buNone/>
            </a:pPr>
            <a:r>
              <a:rPr b="0" i="0" lang="en-US" sz="98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Experience cannot emerge from the wholly non-experiential (Strawson). Closest to MD — but MD does not make every particle a subject.</a:t>
            </a:r>
            <a:endParaRPr b="0" i="0" sz="9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7"/>
          <p:cNvSpPr/>
          <p:nvPr/>
        </p:nvSpPr>
        <p:spPr>
          <a:xfrm>
            <a:off x="3392424" y="3017520"/>
            <a:ext cx="2615184" cy="1463040"/>
          </a:xfrm>
          <a:prstGeom prst="roundRect">
            <a:avLst>
              <a:gd fmla="val 6250" name="adj"/>
            </a:avLst>
          </a:prstGeom>
          <a:solidFill>
            <a:srgbClr val="EEF1F8"/>
          </a:solidFill>
          <a:ln>
            <a:noFill/>
          </a:ln>
          <a:effectLst>
            <a:outerShdw blurRad="88900" rotWithShape="0" algn="bl" dir="27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7"/>
          <p:cNvSpPr/>
          <p:nvPr/>
        </p:nvSpPr>
        <p:spPr>
          <a:xfrm>
            <a:off x="3575304" y="3145536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447"/>
              </a:buClr>
              <a:buSzPts val="1300"/>
              <a:buFont typeface="Cambria"/>
              <a:buNone/>
            </a:pPr>
            <a:r>
              <a:rPr b="1" i="0" lang="en-US" sz="1300" u="none" cap="none" strike="noStrike">
                <a:solidFill>
                  <a:srgbClr val="1E2447"/>
                </a:solidFill>
                <a:latin typeface="Cambria"/>
                <a:ea typeface="Cambria"/>
                <a:cs typeface="Cambria"/>
                <a:sym typeface="Cambria"/>
              </a:rPr>
              <a:t>Emergentism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7"/>
          <p:cNvSpPr/>
          <p:nvPr/>
        </p:nvSpPr>
        <p:spPr>
          <a:xfrm>
            <a:off x="3575304" y="3456432"/>
            <a:ext cx="2286000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377"/>
              </a:buClr>
              <a:buSzPts val="980"/>
              <a:buFont typeface="Calibri"/>
              <a:buNone/>
            </a:pPr>
            <a:r>
              <a:rPr b="0" i="0" lang="en-US" sz="98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New properties at organisational thresholds. Shares threshold grammar with gathanpurnata; MD denies strong emergence from dead matter.</a:t>
            </a:r>
            <a:endParaRPr b="0" i="0" sz="9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7"/>
          <p:cNvSpPr/>
          <p:nvPr/>
        </p:nvSpPr>
        <p:spPr>
          <a:xfrm>
            <a:off x="6144768" y="3017520"/>
            <a:ext cx="2615184" cy="1463040"/>
          </a:xfrm>
          <a:prstGeom prst="roundRect">
            <a:avLst>
              <a:gd fmla="val 6250" name="adj"/>
            </a:avLst>
          </a:prstGeom>
          <a:solidFill>
            <a:srgbClr val="EEF1F8"/>
          </a:solidFill>
          <a:ln>
            <a:noFill/>
          </a:ln>
          <a:effectLst>
            <a:outerShdw blurRad="88900" rotWithShape="0" algn="bl" dir="27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7"/>
          <p:cNvSpPr/>
          <p:nvPr/>
        </p:nvSpPr>
        <p:spPr>
          <a:xfrm>
            <a:off x="6327648" y="3145536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447"/>
              </a:buClr>
              <a:buSzPts val="1300"/>
              <a:buFont typeface="Cambria"/>
              <a:buNone/>
            </a:pPr>
            <a:r>
              <a:rPr b="1" i="0" lang="en-US" sz="1300" u="none" cap="none" strike="noStrike">
                <a:solidFill>
                  <a:srgbClr val="1E2447"/>
                </a:solidFill>
                <a:latin typeface="Cambria"/>
                <a:ea typeface="Cambria"/>
                <a:cs typeface="Cambria"/>
                <a:sym typeface="Cambria"/>
              </a:rPr>
              <a:t>Illusionism / eliminativism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7"/>
          <p:cNvSpPr/>
          <p:nvPr/>
        </p:nvSpPr>
        <p:spPr>
          <a:xfrm>
            <a:off x="6327648" y="3456432"/>
            <a:ext cx="2286000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377"/>
              </a:buClr>
              <a:buSzPts val="980"/>
              <a:buFont typeface="Calibri"/>
              <a:buNone/>
            </a:pPr>
            <a:r>
              <a:rPr b="0" i="0" lang="en-US" sz="98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Phenomenal consciousness re-described as introspective mis-model (Frankish; Dennett). MD treats experience as jeevan’s activity, not a brain-model illusion.</a:t>
            </a:r>
            <a:endParaRPr b="0" i="0" sz="9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7"/>
          <p:cNvSpPr/>
          <p:nvPr/>
        </p:nvSpPr>
        <p:spPr>
          <a:xfrm>
            <a:off x="502920" y="4828032"/>
            <a:ext cx="8138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377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Strawson 2006  ·  Chalmers 1995  ·  Nagel 1974  ·  Kim 2005  ·  Frankish 2016  ·  Dennett 1991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8"/>
          <p:cNvSpPr/>
          <p:nvPr/>
        </p:nvSpPr>
        <p:spPr>
          <a:xfrm>
            <a:off x="457200" y="384048"/>
            <a:ext cx="365760" cy="365760"/>
          </a:xfrm>
          <a:prstGeom prst="ellipse">
            <a:avLst/>
          </a:prstGeom>
          <a:noFill/>
          <a:ln cap="flat" cmpd="sng" w="15875">
            <a:solidFill>
              <a:srgbClr val="3B4A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8"/>
          <p:cNvSpPr/>
          <p:nvPr/>
        </p:nvSpPr>
        <p:spPr>
          <a:xfrm>
            <a:off x="530352" y="457200"/>
            <a:ext cx="219456" cy="219456"/>
          </a:xfrm>
          <a:prstGeom prst="ellipse">
            <a:avLst/>
          </a:prstGeom>
          <a:noFill/>
          <a:ln cap="flat" cmpd="sng" w="15875">
            <a:solidFill>
              <a:srgbClr val="3B4A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8"/>
          <p:cNvSpPr/>
          <p:nvPr/>
        </p:nvSpPr>
        <p:spPr>
          <a:xfrm>
            <a:off x="592531" y="519379"/>
            <a:ext cx="95098" cy="95098"/>
          </a:xfrm>
          <a:prstGeom prst="ellipse">
            <a:avLst/>
          </a:prstGeom>
          <a:solidFill>
            <a:srgbClr val="C9821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8"/>
          <p:cNvSpPr/>
          <p:nvPr/>
        </p:nvSpPr>
        <p:spPr>
          <a:xfrm>
            <a:off x="960120" y="256032"/>
            <a:ext cx="7680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6414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9A6414"/>
                </a:solidFill>
                <a:latin typeface="Calibri"/>
                <a:ea typeface="Calibri"/>
                <a:cs typeface="Calibri"/>
                <a:sym typeface="Calibri"/>
              </a:rPr>
              <a:t>§3.6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8"/>
          <p:cNvSpPr/>
          <p:nvPr/>
        </p:nvSpPr>
        <p:spPr>
          <a:xfrm>
            <a:off x="960120" y="457200"/>
            <a:ext cx="77266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447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1E2447"/>
                </a:solidFill>
                <a:latin typeface="Cambria"/>
                <a:ea typeface="Cambria"/>
                <a:cs typeface="Cambria"/>
                <a:sym typeface="Cambria"/>
              </a:rPr>
              <a:t>Western Analogues: A Ladder, Not a Match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23" name="Google Shape;123;p8"/>
          <p:cNvGraphicFramePr/>
          <p:nvPr/>
        </p:nvGraphicFramePr>
        <p:xfrm>
          <a:off x="640080" y="132588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{C412159E-9D9A-4F1B-BDD3-5D94F5A31A33}</a:tableStyleId>
              </a:tblPr>
              <a:tblGrid>
                <a:gridCol w="1965950"/>
                <a:gridCol w="2926075"/>
                <a:gridCol w="2971800"/>
              </a:tblGrid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Scheme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1606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Shared with coexistence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1606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Decisive divergence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1606B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Hylomorphism (Aristotle, Aquinas)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Soul-as-form of the body ≈ jeevan–shareer joint form; completion of constitution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Prime matter + one rational soul per body; no saturation, no plural co-eternal ground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Spinoza: substance &amp; modes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One pervasive ground with finite particulars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Modes are not on a par with substance; MD’s units are co-eternally real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Leibniz: monads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Plural, simple, immortal individuals in harmony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Monads are windowless; jeevan fulfils real relationships through bodies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Whitehead: process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Relational realism; time internal to becoming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Occasions perpetually perish; jeevan is a persisting immortal individual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Neutral monism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Common ground beneath mind and matter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tiered gyan/chaitanya, no constitutional threshold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6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4" name="Google Shape;124;p8"/>
          <p:cNvSpPr/>
          <p:nvPr/>
        </p:nvSpPr>
        <p:spPr>
          <a:xfrm>
            <a:off x="640080" y="4434840"/>
            <a:ext cx="79552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6414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9A6414"/>
                </a:solidFill>
                <a:latin typeface="Calibri"/>
                <a:ea typeface="Calibri"/>
                <a:cs typeface="Calibri"/>
                <a:sym typeface="Calibri"/>
              </a:rPr>
              <a:t>Each scheme captures a fragment of ground-plus-units; none names saturation, latency in satta, or the constitutionally complete sentient atom.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8"/>
          <p:cNvSpPr/>
          <p:nvPr/>
        </p:nvSpPr>
        <p:spPr>
          <a:xfrm>
            <a:off x="502920" y="4828032"/>
            <a:ext cx="8138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377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Aquinas ST I q. 75–76  ·  Spinoza, Ethics I–II  ·  Leibniz, Monadology §§1–14, 78–81  ·  Whitehead 1929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9"/>
          <p:cNvSpPr/>
          <p:nvPr/>
        </p:nvSpPr>
        <p:spPr>
          <a:xfrm>
            <a:off x="457200" y="384048"/>
            <a:ext cx="365760" cy="365760"/>
          </a:xfrm>
          <a:prstGeom prst="ellipse">
            <a:avLst/>
          </a:prstGeom>
          <a:noFill/>
          <a:ln cap="flat" cmpd="sng" w="15875">
            <a:solidFill>
              <a:srgbClr val="3B4A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9"/>
          <p:cNvSpPr/>
          <p:nvPr/>
        </p:nvSpPr>
        <p:spPr>
          <a:xfrm>
            <a:off x="530352" y="457200"/>
            <a:ext cx="219456" cy="219456"/>
          </a:xfrm>
          <a:prstGeom prst="ellipse">
            <a:avLst/>
          </a:prstGeom>
          <a:noFill/>
          <a:ln cap="flat" cmpd="sng" w="15875">
            <a:solidFill>
              <a:srgbClr val="3B4A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9"/>
          <p:cNvSpPr/>
          <p:nvPr/>
        </p:nvSpPr>
        <p:spPr>
          <a:xfrm>
            <a:off x="592531" y="519379"/>
            <a:ext cx="95098" cy="95098"/>
          </a:xfrm>
          <a:prstGeom prst="ellipse">
            <a:avLst/>
          </a:prstGeom>
          <a:solidFill>
            <a:srgbClr val="C9821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9"/>
          <p:cNvSpPr/>
          <p:nvPr/>
        </p:nvSpPr>
        <p:spPr>
          <a:xfrm>
            <a:off x="960120" y="256032"/>
            <a:ext cx="7680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6414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9A6414"/>
                </a:solidFill>
                <a:latin typeface="Calibri"/>
                <a:ea typeface="Calibri"/>
                <a:cs typeface="Calibri"/>
                <a:sym typeface="Calibri"/>
              </a:rPr>
              <a:t>§4.1–4.2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9"/>
          <p:cNvSpPr/>
          <p:nvPr/>
        </p:nvSpPr>
        <p:spPr>
          <a:xfrm>
            <a:off x="960120" y="457200"/>
            <a:ext cx="77266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447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1E2447"/>
                </a:solidFill>
                <a:latin typeface="Cambria"/>
                <a:ea typeface="Cambria"/>
                <a:cs typeface="Cambria"/>
                <a:sym typeface="Cambria"/>
              </a:rPr>
              <a:t>Modern Science: Self-Models and Thresholds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9"/>
          <p:cNvSpPr/>
          <p:nvPr/>
        </p:nvSpPr>
        <p:spPr>
          <a:xfrm>
            <a:off x="640080" y="1325880"/>
            <a:ext cx="3794760" cy="1536192"/>
          </a:xfrm>
          <a:prstGeom prst="roundRect">
            <a:avLst>
              <a:gd fmla="val 5357" name="adj"/>
            </a:avLst>
          </a:prstGeom>
          <a:solidFill>
            <a:srgbClr val="EAF1F2"/>
          </a:solidFill>
          <a:ln>
            <a:noFill/>
          </a:ln>
          <a:effectLst>
            <a:outerShdw blurRad="88900" rotWithShape="0" algn="bl" dir="27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9"/>
          <p:cNvSpPr/>
          <p:nvPr/>
        </p:nvSpPr>
        <p:spPr>
          <a:xfrm>
            <a:off x="841248" y="1444752"/>
            <a:ext cx="3429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1606B"/>
              </a:buClr>
              <a:buSzPts val="1250"/>
              <a:buFont typeface="Cambria"/>
              <a:buNone/>
            </a:pPr>
            <a:r>
              <a:rPr b="1" i="0" lang="en-US" sz="1250" u="none" cap="none" strike="noStrike">
                <a:solidFill>
                  <a:srgbClr val="31606B"/>
                </a:solidFill>
                <a:latin typeface="Cambria"/>
                <a:ea typeface="Cambria"/>
                <a:cs typeface="Cambria"/>
                <a:sym typeface="Cambria"/>
              </a:rPr>
              <a:t>Predictive processing / self-model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9"/>
          <p:cNvSpPr/>
          <p:nvPr/>
        </p:nvSpPr>
        <p:spPr>
          <a:xfrm>
            <a:off x="841248" y="1746504"/>
            <a:ext cx="342900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377"/>
              </a:buClr>
              <a:buSzPts val="960"/>
              <a:buFont typeface="Calibri"/>
              <a:buNone/>
            </a:pPr>
            <a:r>
              <a:rPr b="0" i="0" lang="en-US" sz="96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The self as a hierarchical generative model minimising prediction error; selfhood as the brain’s “best guess” of its embodiment. Operational end of person: brain death.</a:t>
            </a:r>
            <a:endParaRPr b="0" i="0" sz="9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9"/>
          <p:cNvSpPr/>
          <p:nvPr/>
        </p:nvSpPr>
        <p:spPr>
          <a:xfrm>
            <a:off x="4709160" y="1325880"/>
            <a:ext cx="3794760" cy="1536192"/>
          </a:xfrm>
          <a:prstGeom prst="roundRect">
            <a:avLst>
              <a:gd fmla="val 5357" name="adj"/>
            </a:avLst>
          </a:prstGeom>
          <a:solidFill>
            <a:srgbClr val="EAF1F2"/>
          </a:solidFill>
          <a:ln>
            <a:noFill/>
          </a:ln>
          <a:effectLst>
            <a:outerShdw blurRad="88900" rotWithShape="0" algn="bl" dir="27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9"/>
          <p:cNvSpPr/>
          <p:nvPr/>
        </p:nvSpPr>
        <p:spPr>
          <a:xfrm>
            <a:off x="4910328" y="1444752"/>
            <a:ext cx="3429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1606B"/>
              </a:buClr>
              <a:buSzPts val="1250"/>
              <a:buFont typeface="Cambria"/>
              <a:buNone/>
            </a:pPr>
            <a:r>
              <a:rPr b="1" i="0" lang="en-US" sz="1250" u="none" cap="none" strike="noStrike">
                <a:solidFill>
                  <a:srgbClr val="31606B"/>
                </a:solidFill>
                <a:latin typeface="Cambria"/>
                <a:ea typeface="Cambria"/>
                <a:cs typeface="Cambria"/>
                <a:sym typeface="Cambria"/>
              </a:rPr>
              <a:t>IIT (integrated information)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9"/>
          <p:cNvSpPr/>
          <p:nvPr/>
        </p:nvSpPr>
        <p:spPr>
          <a:xfrm>
            <a:off x="4910328" y="1746504"/>
            <a:ext cx="342900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377"/>
              </a:buClr>
              <a:buSzPts val="960"/>
              <a:buFont typeface="Calibri"/>
              <a:buNone/>
            </a:pPr>
            <a:r>
              <a:rPr b="0" i="0" lang="en-US" sz="96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Consciousness tied to integrated information (Φ); a quantitative threshold yields a qualitative difference — a physicalist mirror of gathanpurnata’s threshold grammar, but pan-experiential and silent on immortal units.</a:t>
            </a:r>
            <a:endParaRPr b="0" i="0" sz="9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9"/>
          <p:cNvSpPr/>
          <p:nvPr/>
        </p:nvSpPr>
        <p:spPr>
          <a:xfrm>
            <a:off x="640080" y="3017520"/>
            <a:ext cx="3794760" cy="1536192"/>
          </a:xfrm>
          <a:prstGeom prst="roundRect">
            <a:avLst>
              <a:gd fmla="val 5357" name="adj"/>
            </a:avLst>
          </a:prstGeom>
          <a:solidFill>
            <a:srgbClr val="EAF1F2"/>
          </a:solidFill>
          <a:ln>
            <a:noFill/>
          </a:ln>
          <a:effectLst>
            <a:outerShdw blurRad="88900" rotWithShape="0" algn="bl" dir="27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"/>
          <p:cNvSpPr/>
          <p:nvPr/>
        </p:nvSpPr>
        <p:spPr>
          <a:xfrm>
            <a:off x="841248" y="3136392"/>
            <a:ext cx="3429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1606B"/>
              </a:buClr>
              <a:buSzPts val="1250"/>
              <a:buFont typeface="Cambria"/>
              <a:buNone/>
            </a:pPr>
            <a:r>
              <a:rPr b="1" i="0" lang="en-US" sz="1250" u="none" cap="none" strike="noStrike">
                <a:solidFill>
                  <a:srgbClr val="31606B"/>
                </a:solidFill>
                <a:latin typeface="Cambria"/>
                <a:ea typeface="Cambria"/>
                <a:cs typeface="Cambria"/>
                <a:sym typeface="Cambria"/>
              </a:rPr>
              <a:t>Autopoiesis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9"/>
          <p:cNvSpPr/>
          <p:nvPr/>
        </p:nvSpPr>
        <p:spPr>
          <a:xfrm>
            <a:off x="841248" y="3438144"/>
            <a:ext cx="342900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377"/>
              </a:buClr>
              <a:buSzPts val="960"/>
              <a:buFont typeface="Calibri"/>
              <a:buNone/>
            </a:pPr>
            <a:r>
              <a:rPr b="0" i="0" lang="en-US" sz="96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Living organisation as a self-producing network maintaining its own boundary — parallels self-maintaining completeness, but names biological closure, not saturation in satta.</a:t>
            </a:r>
            <a:endParaRPr b="0" i="0" sz="9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9"/>
          <p:cNvSpPr/>
          <p:nvPr/>
        </p:nvSpPr>
        <p:spPr>
          <a:xfrm>
            <a:off x="4709160" y="3017520"/>
            <a:ext cx="3794760" cy="1536192"/>
          </a:xfrm>
          <a:prstGeom prst="roundRect">
            <a:avLst>
              <a:gd fmla="val 5357" name="adj"/>
            </a:avLst>
          </a:prstGeom>
          <a:solidFill>
            <a:srgbClr val="FAF1DF"/>
          </a:solidFill>
          <a:ln>
            <a:noFill/>
          </a:ln>
          <a:effectLst>
            <a:outerShdw blurRad="88900" rotWithShape="0" algn="bl" dir="27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9"/>
          <p:cNvSpPr/>
          <p:nvPr/>
        </p:nvSpPr>
        <p:spPr>
          <a:xfrm>
            <a:off x="4910328" y="3136392"/>
            <a:ext cx="3429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6414"/>
              </a:buClr>
              <a:buSzPts val="1250"/>
              <a:buFont typeface="Cambria"/>
              <a:buNone/>
            </a:pPr>
            <a:r>
              <a:rPr b="1" i="0" lang="en-US" sz="1250" u="none" cap="none" strike="noStrike">
                <a:solidFill>
                  <a:srgbClr val="9A6414"/>
                </a:solidFill>
                <a:latin typeface="Cambria"/>
                <a:ea typeface="Cambria"/>
                <a:cs typeface="Cambria"/>
                <a:sym typeface="Cambria"/>
              </a:rPr>
              <a:t>MD’s counter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9"/>
          <p:cNvSpPr/>
          <p:nvPr/>
        </p:nvSpPr>
        <p:spPr>
          <a:xfrm>
            <a:off x="4910328" y="3438144"/>
            <a:ext cx="342900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377"/>
              </a:buClr>
              <a:buSzPts val="960"/>
              <a:buFont typeface="Calibri"/>
              <a:buNone/>
            </a:pPr>
            <a:r>
              <a:rPr b="0" i="0" lang="en-US" sz="96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Predictive models explain how a body self-regulates; they do not settle whether the regulator is only neural tissue or a distinct jeevan working through the brain. Latency: sentience actualised from ever-present ground, not generated from dead matter.</a:t>
            </a:r>
            <a:endParaRPr b="0" i="0" sz="9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9"/>
          <p:cNvSpPr/>
          <p:nvPr/>
        </p:nvSpPr>
        <p:spPr>
          <a:xfrm>
            <a:off x="502920" y="4828032"/>
            <a:ext cx="8138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377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Metzinger 2003  ·  Friston 2010  ·  Clark 2016  ·  Seth 2021  ·  Tononi 2012  ·  Maturana &amp; Varela 1980  ·  no consensus across rival programs (§4.2)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"/>
          <p:cNvSpPr/>
          <p:nvPr/>
        </p:nvSpPr>
        <p:spPr>
          <a:xfrm>
            <a:off x="457200" y="384048"/>
            <a:ext cx="365760" cy="365760"/>
          </a:xfrm>
          <a:prstGeom prst="ellipse">
            <a:avLst/>
          </a:prstGeom>
          <a:noFill/>
          <a:ln cap="flat" cmpd="sng" w="15875">
            <a:solidFill>
              <a:srgbClr val="3B4A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"/>
          <p:cNvSpPr/>
          <p:nvPr/>
        </p:nvSpPr>
        <p:spPr>
          <a:xfrm>
            <a:off x="530352" y="457200"/>
            <a:ext cx="219456" cy="219456"/>
          </a:xfrm>
          <a:prstGeom prst="ellipse">
            <a:avLst/>
          </a:prstGeom>
          <a:noFill/>
          <a:ln cap="flat" cmpd="sng" w="15875">
            <a:solidFill>
              <a:srgbClr val="3B4A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10"/>
          <p:cNvSpPr/>
          <p:nvPr/>
        </p:nvSpPr>
        <p:spPr>
          <a:xfrm>
            <a:off x="592531" y="519379"/>
            <a:ext cx="95098" cy="95098"/>
          </a:xfrm>
          <a:prstGeom prst="ellipse">
            <a:avLst/>
          </a:prstGeom>
          <a:solidFill>
            <a:srgbClr val="C9821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10"/>
          <p:cNvSpPr/>
          <p:nvPr/>
        </p:nvSpPr>
        <p:spPr>
          <a:xfrm>
            <a:off x="960120" y="256032"/>
            <a:ext cx="7680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6414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9A6414"/>
                </a:solidFill>
                <a:latin typeface="Calibri"/>
                <a:ea typeface="Calibri"/>
                <a:cs typeface="Calibri"/>
                <a:sym typeface="Calibri"/>
              </a:rPr>
              <a:t>§4.3–4.6 · RESONANCE, NOT PROOF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0"/>
          <p:cNvSpPr/>
          <p:nvPr/>
        </p:nvSpPr>
        <p:spPr>
          <a:xfrm>
            <a:off x="960120" y="457200"/>
            <a:ext cx="77266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447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1E2447"/>
                </a:solidFill>
                <a:latin typeface="Cambria"/>
                <a:ea typeface="Cambria"/>
                <a:cs typeface="Cambria"/>
                <a:sym typeface="Cambria"/>
              </a:rPr>
              <a:t>Cosmology and Conservation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0"/>
          <p:cNvSpPr/>
          <p:nvPr/>
        </p:nvSpPr>
        <p:spPr>
          <a:xfrm>
            <a:off x="640080" y="1325880"/>
            <a:ext cx="3794760" cy="1600200"/>
          </a:xfrm>
          <a:prstGeom prst="roundRect">
            <a:avLst>
              <a:gd fmla="val 5714" name="adj"/>
            </a:avLst>
          </a:prstGeom>
          <a:solidFill>
            <a:srgbClr val="EAF1F2"/>
          </a:solidFill>
          <a:ln>
            <a:noFill/>
          </a:ln>
          <a:effectLst>
            <a:outerShdw blurRad="88900" rotWithShape="0" algn="bl" dir="27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10"/>
          <p:cNvSpPr/>
          <p:nvPr/>
        </p:nvSpPr>
        <p:spPr>
          <a:xfrm>
            <a:off x="868680" y="1463040"/>
            <a:ext cx="3383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1606B"/>
              </a:buClr>
              <a:buSzPts val="1350"/>
              <a:buFont typeface="Cambria"/>
              <a:buNone/>
            </a:pPr>
            <a:r>
              <a:rPr b="1" i="0" lang="en-US" sz="1350" u="none" cap="none" strike="noStrike">
                <a:solidFill>
                  <a:srgbClr val="31606B"/>
                </a:solidFill>
                <a:latin typeface="Cambria"/>
                <a:ea typeface="Cambria"/>
                <a:cs typeface="Cambria"/>
                <a:sym typeface="Cambria"/>
              </a:rPr>
              <a:t>Did existence begin?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0"/>
          <p:cNvSpPr/>
          <p:nvPr/>
        </p:nvSpPr>
        <p:spPr>
          <a:xfrm>
            <a:off x="868680" y="1764792"/>
            <a:ext cx="338328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377"/>
              </a:buClr>
              <a:buSzPts val="1030"/>
              <a:buFont typeface="Calibri"/>
              <a:buNone/>
            </a:pPr>
            <a:r>
              <a:rPr b="0" i="0" lang="en-US" sz="103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ΛCDM: the observable universe expands from a hot dense state ~13.8 Ga — a beginning for our epoch, not necessarily for existence. Bounce, cyclic, and eternal-inflation programs explore a beginningless substrate — speculative, not consensus.</a:t>
            </a:r>
            <a:endParaRPr b="0" i="0" sz="10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0"/>
          <p:cNvSpPr/>
          <p:nvPr/>
        </p:nvSpPr>
        <p:spPr>
          <a:xfrm>
            <a:off x="4709160" y="1325880"/>
            <a:ext cx="3794760" cy="1600200"/>
          </a:xfrm>
          <a:prstGeom prst="roundRect">
            <a:avLst>
              <a:gd fmla="val 5714" name="adj"/>
            </a:avLst>
          </a:prstGeom>
          <a:solidFill>
            <a:srgbClr val="EAF1F2"/>
          </a:solidFill>
          <a:ln>
            <a:noFill/>
          </a:ln>
          <a:effectLst>
            <a:outerShdw blurRad="88900" rotWithShape="0" algn="bl" dir="27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10"/>
          <p:cNvSpPr/>
          <p:nvPr/>
        </p:nvSpPr>
        <p:spPr>
          <a:xfrm>
            <a:off x="4937760" y="1463040"/>
            <a:ext cx="3383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1606B"/>
              </a:buClr>
              <a:buSzPts val="1350"/>
              <a:buFont typeface="Cambria"/>
              <a:buNone/>
            </a:pPr>
            <a:r>
              <a:rPr b="1" i="0" lang="en-US" sz="1350" u="none" cap="none" strike="noStrike">
                <a:solidFill>
                  <a:srgbClr val="31606B"/>
                </a:solidFill>
                <a:latin typeface="Cambria"/>
                <a:ea typeface="Cambria"/>
                <a:cs typeface="Cambria"/>
                <a:sym typeface="Cambria"/>
              </a:rPr>
              <a:t>What persists?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0"/>
          <p:cNvSpPr/>
          <p:nvPr/>
        </p:nvSpPr>
        <p:spPr>
          <a:xfrm>
            <a:off x="4937760" y="1764792"/>
            <a:ext cx="338328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377"/>
              </a:buClr>
              <a:buSzPts val="1030"/>
              <a:buFont typeface="Calibri"/>
              <a:buNone/>
            </a:pPr>
            <a:r>
              <a:rPr b="0" i="0" lang="en-US" sz="103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In QFT, annihilation transforms excitations under strict conservation — no passage into non-being. Broadly consonant with vastu persisting through roop-change; but fields are not bounded ikai, and dynamical fields are nothing like actionless satta.</a:t>
            </a:r>
            <a:endParaRPr b="0" i="0" sz="10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0"/>
          <p:cNvSpPr/>
          <p:nvPr/>
        </p:nvSpPr>
        <p:spPr>
          <a:xfrm>
            <a:off x="640080" y="3154680"/>
            <a:ext cx="7863840" cy="868680"/>
          </a:xfrm>
          <a:prstGeom prst="roundRect">
            <a:avLst>
              <a:gd fmla="val 9474" name="adj"/>
            </a:avLst>
          </a:prstGeom>
          <a:solidFill>
            <a:srgbClr val="FAF1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"/>
          <p:cNvSpPr/>
          <p:nvPr/>
        </p:nvSpPr>
        <p:spPr>
          <a:xfrm>
            <a:off x="868680" y="3154680"/>
            <a:ext cx="740664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6414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9A6414"/>
                </a:solidFill>
                <a:latin typeface="Calibri"/>
                <a:ea typeface="Calibri"/>
                <a:cs typeface="Calibri"/>
                <a:sym typeface="Calibri"/>
              </a:rPr>
              <a:t>Discipline of the study:  </a:t>
            </a:r>
            <a:r>
              <a:rPr b="0" i="0" lang="en-US" sz="115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comparisons with physics use “consonant with,” “parallel to,” or “in tension with” — never “supported by” unless evidence warrants. Conceptual resonance with beginningless cosmologies is not proof of jagat satat (§6.2.5).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0"/>
          <p:cNvSpPr/>
          <p:nvPr/>
        </p:nvSpPr>
        <p:spPr>
          <a:xfrm>
            <a:off x="640080" y="4206240"/>
            <a:ext cx="79552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447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1E2447"/>
                </a:solidFill>
                <a:latin typeface="Calibri"/>
                <a:ea typeface="Calibri"/>
                <a:cs typeface="Calibri"/>
                <a:sym typeface="Calibri"/>
              </a:rPr>
              <a:t>Standing tension: niyati-kram’s fixed, guaranteed order-emergence vs. evolution’s contingent variation and selection — unresolved (§6.2.6).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0"/>
          <p:cNvSpPr/>
          <p:nvPr/>
        </p:nvSpPr>
        <p:spPr>
          <a:xfrm>
            <a:off x="502920" y="4828032"/>
            <a:ext cx="8138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377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Ashtekar &amp; Singh 2011  ·  Penrose 2010  ·  Guth 2007  ·  Weinberg 1995  ·  Carroll 2010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"/>
          <p:cNvSpPr/>
          <p:nvPr/>
        </p:nvSpPr>
        <p:spPr>
          <a:xfrm>
            <a:off x="457200" y="384048"/>
            <a:ext cx="365760" cy="365760"/>
          </a:xfrm>
          <a:prstGeom prst="ellipse">
            <a:avLst/>
          </a:prstGeom>
          <a:noFill/>
          <a:ln cap="flat" cmpd="sng" w="15875">
            <a:solidFill>
              <a:srgbClr val="3B4A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"/>
          <p:cNvSpPr/>
          <p:nvPr/>
        </p:nvSpPr>
        <p:spPr>
          <a:xfrm>
            <a:off x="530352" y="457200"/>
            <a:ext cx="219456" cy="219456"/>
          </a:xfrm>
          <a:prstGeom prst="ellipse">
            <a:avLst/>
          </a:prstGeom>
          <a:noFill/>
          <a:ln cap="flat" cmpd="sng" w="15875">
            <a:solidFill>
              <a:srgbClr val="3B4A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11"/>
          <p:cNvSpPr/>
          <p:nvPr/>
        </p:nvSpPr>
        <p:spPr>
          <a:xfrm>
            <a:off x="592531" y="519379"/>
            <a:ext cx="95098" cy="95098"/>
          </a:xfrm>
          <a:prstGeom prst="ellipse">
            <a:avLst/>
          </a:prstGeom>
          <a:solidFill>
            <a:srgbClr val="C9821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1"/>
          <p:cNvSpPr/>
          <p:nvPr/>
        </p:nvSpPr>
        <p:spPr>
          <a:xfrm>
            <a:off x="960120" y="256032"/>
            <a:ext cx="7680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6414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9A6414"/>
                </a:solidFill>
                <a:latin typeface="Calibri"/>
                <a:ea typeface="Calibri"/>
                <a:cs typeface="Calibri"/>
                <a:sym typeface="Calibri"/>
              </a:rPr>
              <a:t>§5.1 · EACH PAIR VS. THE THIRD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1"/>
          <p:cNvSpPr/>
          <p:nvPr/>
        </p:nvSpPr>
        <p:spPr>
          <a:xfrm>
            <a:off x="960120" y="457200"/>
            <a:ext cx="77266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447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1E2447"/>
                </a:solidFill>
                <a:latin typeface="Cambria"/>
                <a:ea typeface="Cambria"/>
                <a:cs typeface="Cambria"/>
                <a:sym typeface="Cambria"/>
              </a:rPr>
              <a:t>Where the Alliances Fall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9" name="Google Shape;179;p11"/>
          <p:cNvCxnSpPr/>
          <p:nvPr/>
        </p:nvCxnSpPr>
        <p:spPr>
          <a:xfrm flipH="1">
            <a:off x="1965960" y="2377440"/>
            <a:ext cx="2011680" cy="1234440"/>
          </a:xfrm>
          <a:prstGeom prst="straightConnector1">
            <a:avLst/>
          </a:prstGeom>
          <a:noFill/>
          <a:ln cap="flat" cmpd="sng" w="19050">
            <a:solidFill>
              <a:srgbClr val="AAB3CC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0" name="Google Shape;180;p11"/>
          <p:cNvCxnSpPr/>
          <p:nvPr/>
        </p:nvCxnSpPr>
        <p:spPr>
          <a:xfrm>
            <a:off x="5166360" y="2377440"/>
            <a:ext cx="2011680" cy="1234440"/>
          </a:xfrm>
          <a:prstGeom prst="straightConnector1">
            <a:avLst/>
          </a:prstGeom>
          <a:noFill/>
          <a:ln cap="flat" cmpd="sng" w="19050">
            <a:solidFill>
              <a:srgbClr val="AAB3CC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1" name="Google Shape;181;p11"/>
          <p:cNvCxnSpPr/>
          <p:nvPr/>
        </p:nvCxnSpPr>
        <p:spPr>
          <a:xfrm>
            <a:off x="2606040" y="4023360"/>
            <a:ext cx="3977640" cy="0"/>
          </a:xfrm>
          <a:prstGeom prst="straightConnector1">
            <a:avLst/>
          </a:prstGeom>
          <a:noFill/>
          <a:ln cap="flat" cmpd="sng" w="19050">
            <a:solidFill>
              <a:srgbClr val="AAB3C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2" name="Google Shape;182;p11"/>
          <p:cNvSpPr/>
          <p:nvPr/>
        </p:nvSpPr>
        <p:spPr>
          <a:xfrm>
            <a:off x="3913632" y="1371600"/>
            <a:ext cx="1371600" cy="1005840"/>
          </a:xfrm>
          <a:prstGeom prst="ellipse">
            <a:avLst/>
          </a:prstGeom>
          <a:solidFill>
            <a:srgbClr val="1E2447"/>
          </a:solidFill>
          <a:ln>
            <a:noFill/>
          </a:ln>
          <a:effectLst>
            <a:outerShdw blurRad="88900" rotWithShape="0" algn="bl" dir="27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11"/>
          <p:cNvSpPr/>
          <p:nvPr/>
        </p:nvSpPr>
        <p:spPr>
          <a:xfrm>
            <a:off x="3913632" y="1371600"/>
            <a:ext cx="13716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Madhyasth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Darshan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1"/>
          <p:cNvSpPr/>
          <p:nvPr/>
        </p:nvSpPr>
        <p:spPr>
          <a:xfrm>
            <a:off x="1234440" y="3520440"/>
            <a:ext cx="1371600" cy="1005840"/>
          </a:xfrm>
          <a:prstGeom prst="ellipse">
            <a:avLst/>
          </a:prstGeom>
          <a:solidFill>
            <a:srgbClr val="6D2E46"/>
          </a:solidFill>
          <a:ln>
            <a:noFill/>
          </a:ln>
          <a:effectLst>
            <a:outerShdw blurRad="88900" rotWithShape="0" algn="bl" dir="27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11"/>
          <p:cNvSpPr/>
          <p:nvPr/>
        </p:nvSpPr>
        <p:spPr>
          <a:xfrm>
            <a:off x="1234440" y="3520440"/>
            <a:ext cx="13716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Advaita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Vedanta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1"/>
          <p:cNvSpPr/>
          <p:nvPr/>
        </p:nvSpPr>
        <p:spPr>
          <a:xfrm>
            <a:off x="6583680" y="3520440"/>
            <a:ext cx="1371600" cy="1005840"/>
          </a:xfrm>
          <a:prstGeom prst="ellipse">
            <a:avLst/>
          </a:prstGeom>
          <a:solidFill>
            <a:srgbClr val="31606B"/>
          </a:solidFill>
          <a:ln>
            <a:noFill/>
          </a:ln>
          <a:effectLst>
            <a:outerShdw blurRad="88900" rotWithShape="0" algn="bl" dir="27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11"/>
          <p:cNvSpPr/>
          <p:nvPr/>
        </p:nvSpPr>
        <p:spPr>
          <a:xfrm>
            <a:off x="6583680" y="3520440"/>
            <a:ext cx="13716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Physicalism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&amp; Science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1"/>
          <p:cNvSpPr/>
          <p:nvPr/>
        </p:nvSpPr>
        <p:spPr>
          <a:xfrm>
            <a:off x="502920" y="2084832"/>
            <a:ext cx="23774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B4A7A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3B4A7A"/>
                </a:solidFill>
                <a:latin typeface="Calibri"/>
                <a:ea typeface="Calibri"/>
                <a:cs typeface="Calibri"/>
                <a:sym typeface="Calibri"/>
              </a:rPr>
              <a:t>vs. physicalism: consciousness, value, and self are not brain-generated epiphenomena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1"/>
          <p:cNvSpPr/>
          <p:nvPr/>
        </p:nvSpPr>
        <p:spPr>
          <a:xfrm>
            <a:off x="6309360" y="2084832"/>
            <a:ext cx="23317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B4A7A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3B4A7A"/>
                </a:solidFill>
                <a:latin typeface="Calibri"/>
                <a:ea typeface="Calibri"/>
                <a:cs typeface="Calibri"/>
                <a:sym typeface="Calibri"/>
              </a:rPr>
              <a:t>vs. Advaita: the world is real and worth studying — not finally mithya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1"/>
          <p:cNvSpPr/>
          <p:nvPr/>
        </p:nvSpPr>
        <p:spPr>
          <a:xfrm>
            <a:off x="2926080" y="4160520"/>
            <a:ext cx="33375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B4A7A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3B4A7A"/>
                </a:solidFill>
                <a:latin typeface="Calibri"/>
                <a:ea typeface="Calibri"/>
                <a:cs typeface="Calibri"/>
                <a:sym typeface="Calibri"/>
              </a:rPr>
              <a:t>vs. MD: an immortal individual self is not established — on different grounds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1"/>
          <p:cNvSpPr/>
          <p:nvPr/>
        </p:nvSpPr>
        <p:spPr>
          <a:xfrm>
            <a:off x="502920" y="4828032"/>
            <a:ext cx="8138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377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Comparative clarity requires naming the question at stake: matter-only reduction, world-reality, or individual immortality (§5.1)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2"/>
          <p:cNvSpPr/>
          <p:nvPr/>
        </p:nvSpPr>
        <p:spPr>
          <a:xfrm>
            <a:off x="457200" y="384048"/>
            <a:ext cx="365760" cy="365760"/>
          </a:xfrm>
          <a:prstGeom prst="ellipse">
            <a:avLst/>
          </a:prstGeom>
          <a:noFill/>
          <a:ln cap="flat" cmpd="sng" w="15875">
            <a:solidFill>
              <a:srgbClr val="3B4A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12"/>
          <p:cNvSpPr/>
          <p:nvPr/>
        </p:nvSpPr>
        <p:spPr>
          <a:xfrm>
            <a:off x="530352" y="457200"/>
            <a:ext cx="219456" cy="219456"/>
          </a:xfrm>
          <a:prstGeom prst="ellipse">
            <a:avLst/>
          </a:prstGeom>
          <a:noFill/>
          <a:ln cap="flat" cmpd="sng" w="15875">
            <a:solidFill>
              <a:srgbClr val="3B4A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12"/>
          <p:cNvSpPr/>
          <p:nvPr/>
        </p:nvSpPr>
        <p:spPr>
          <a:xfrm>
            <a:off x="592531" y="519379"/>
            <a:ext cx="95098" cy="95098"/>
          </a:xfrm>
          <a:prstGeom prst="ellipse">
            <a:avLst/>
          </a:prstGeom>
          <a:solidFill>
            <a:srgbClr val="C9821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2"/>
          <p:cNvSpPr/>
          <p:nvPr/>
        </p:nvSpPr>
        <p:spPr>
          <a:xfrm>
            <a:off x="960120" y="256032"/>
            <a:ext cx="7680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6414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9A6414"/>
                </a:solidFill>
                <a:latin typeface="Calibri"/>
                <a:ea typeface="Calibri"/>
                <a:cs typeface="Calibri"/>
                <a:sym typeface="Calibri"/>
              </a:rPr>
              <a:t>§5.2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2"/>
          <p:cNvSpPr/>
          <p:nvPr/>
        </p:nvSpPr>
        <p:spPr>
          <a:xfrm>
            <a:off x="960120" y="457200"/>
            <a:ext cx="77266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447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1E2447"/>
                </a:solidFill>
                <a:latin typeface="Cambria"/>
                <a:ea typeface="Cambria"/>
                <a:cs typeface="Cambria"/>
                <a:sym typeface="Cambria"/>
              </a:rPr>
              <a:t>Cross-Tradition Summary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02" name="Google Shape;202;p12"/>
          <p:cNvGraphicFramePr/>
          <p:nvPr/>
        </p:nvGraphicFramePr>
        <p:xfrm>
          <a:off x="502920" y="129844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{C412159E-9D9A-4F1B-BDD3-5D94F5A31A33}</a:tableStyleId>
              </a:tblPr>
              <a:tblGrid>
                <a:gridCol w="1463050"/>
                <a:gridCol w="2331725"/>
                <a:gridCol w="2148850"/>
                <a:gridCol w="2194550"/>
              </a:tblGrid>
              <a:tr h="292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Question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44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Madhyasth Darshan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44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Advaita Vedanta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44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Modern physicalist approaches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44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960"/>
                        <a:buFont typeface="Calibri"/>
                        <a:buNone/>
                      </a:pPr>
                      <a:r>
                        <a:rPr lang="en-US" sz="96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What is existence?</a:t>
                      </a:r>
                      <a:endParaRPr sz="96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960"/>
                        <a:buFont typeface="Calibri"/>
                        <a:buNone/>
                      </a:pPr>
                      <a:r>
                        <a:rPr lang="en-US" sz="96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Coexistence: Omnipresence plus all units held in it</a:t>
                      </a:r>
                      <a:endParaRPr sz="96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960"/>
                        <a:buFont typeface="Calibri"/>
                        <a:buNone/>
                      </a:pPr>
                      <a:r>
                        <a:rPr lang="en-US" sz="96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Brahman alone, one without a second</a:t>
                      </a:r>
                      <a:endParaRPr sz="96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960"/>
                        <a:buFont typeface="Calibri"/>
                        <a:buNone/>
                      </a:pPr>
                      <a:r>
                        <a:rPr lang="en-US" sz="96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Concrete physical reality, studied empirically</a:t>
                      </a:r>
                      <a:endParaRPr sz="96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960"/>
                        <a:buFont typeface="Calibri"/>
                        <a:buNone/>
                      </a:pPr>
                      <a:r>
                        <a:rPr lang="en-US" sz="96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Does it begin?</a:t>
                      </a:r>
                      <a:endParaRPr sz="96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960"/>
                        <a:buFont typeface="Calibri"/>
                        <a:buNone/>
                      </a:pPr>
                      <a:r>
                        <a:rPr lang="en-US" sz="96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— nothing from non-existence; configurations do</a:t>
                      </a:r>
                      <a:endParaRPr sz="96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960"/>
                        <a:buFont typeface="Calibri"/>
                        <a:buNone/>
                      </a:pPr>
                      <a:r>
                        <a:rPr lang="en-US" sz="96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Brahman beginningless; name-form at vyavahara</a:t>
                      </a:r>
                      <a:endParaRPr sz="96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960"/>
                        <a:buFont typeface="Calibri"/>
                        <a:buNone/>
                      </a:pPr>
                      <a:r>
                        <a:rPr lang="en-US" sz="96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Systems begin/end; substrate unsettled</a:t>
                      </a:r>
                      <a:endParaRPr sz="96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960"/>
                        <a:buFont typeface="Calibri"/>
                        <a:buNone/>
                      </a:pPr>
                      <a:r>
                        <a:rPr lang="en-US" sz="96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individual self?</a:t>
                      </a:r>
                      <a:endParaRPr sz="96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960"/>
                        <a:buFont typeface="Calibri"/>
                        <a:buNone/>
                      </a:pPr>
                      <a:r>
                        <a:rPr lang="en-US" sz="96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Jeevan neither begins at birth nor dies with the body</a:t>
                      </a:r>
                      <a:endParaRPr sz="96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960"/>
                        <a:buFont typeface="Calibri"/>
                        <a:buNone/>
                      </a:pPr>
                      <a:r>
                        <a:rPr lang="en-US" sz="96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Jiva is ultimately Brahman; separateness dispelled</a:t>
                      </a:r>
                      <a:endParaRPr sz="96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960"/>
                        <a:buFont typeface="Calibri"/>
                        <a:buNone/>
                      </a:pPr>
                      <a:r>
                        <a:rPr lang="en-US" sz="96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Develops with brain; ends at brain death</a:t>
                      </a:r>
                      <a:endParaRPr sz="96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960"/>
                        <a:buFont typeface="Calibri"/>
                        <a:buNone/>
                      </a:pPr>
                      <a:r>
                        <a:rPr lang="en-US" sz="96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World finally real?</a:t>
                      </a:r>
                      <a:endParaRPr sz="96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960"/>
                        <a:buFont typeface="Calibri"/>
                        <a:buNone/>
                      </a:pPr>
                      <a:r>
                        <a:rPr lang="en-US" sz="96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 — “Brahma is truth, the world is perpetual”</a:t>
                      </a:r>
                      <a:endParaRPr sz="96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960"/>
                        <a:buFont typeface="Calibri"/>
                        <a:buNone/>
                      </a:pPr>
                      <a:r>
                        <a:rPr lang="en-US" sz="96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Empirically valid but ultimately mithya</a:t>
                      </a:r>
                      <a:endParaRPr sz="96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960"/>
                        <a:buFont typeface="Calibri"/>
                        <a:buNone/>
                      </a:pPr>
                      <a:r>
                        <a:rPr lang="en-US" sz="96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Yes, as physical reality</a:t>
                      </a:r>
                      <a:endParaRPr sz="96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960"/>
                        <a:buFont typeface="Calibri"/>
                        <a:buNone/>
                      </a:pPr>
                      <a:r>
                        <a:rPr lang="en-US" sz="96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Method of knowing</a:t>
                      </a:r>
                      <a:endParaRPr sz="96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960"/>
                        <a:buFont typeface="Calibri"/>
                        <a:buNone/>
                      </a:pPr>
                      <a:r>
                        <a:rPr lang="en-US" sz="96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Study → experiment/practice → realisation with conduct-evidence</a:t>
                      </a:r>
                      <a:endParaRPr sz="96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960"/>
                        <a:buFont typeface="Calibri"/>
                        <a:buNone/>
                      </a:pPr>
                      <a:r>
                        <a:rPr lang="en-US" sz="96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Scripture, reasoning, contemplative discrimination</a:t>
                      </a:r>
                      <a:endParaRPr sz="96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960"/>
                        <a:buFont typeface="Calibri"/>
                        <a:buNone/>
                      </a:pPr>
                      <a:r>
                        <a:rPr lang="en-US" sz="96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Observation, modelling, public evidence</a:t>
                      </a:r>
                      <a:endParaRPr sz="96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960"/>
                        <a:buFont typeface="Calibri"/>
                        <a:buNone/>
                      </a:pPr>
                      <a:r>
                        <a:rPr lang="en-US" sz="96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Ethical consequence</a:t>
                      </a:r>
                      <a:endParaRPr sz="96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960"/>
                        <a:buFont typeface="Calibri"/>
                        <a:buNone/>
                      </a:pPr>
                      <a:r>
                        <a:rPr lang="en-US" sz="96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Humane conduct evidences coexistence</a:t>
                      </a:r>
                      <a:endParaRPr sz="96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960"/>
                        <a:buFont typeface="Calibri"/>
                        <a:buNone/>
                      </a:pPr>
                      <a:r>
                        <a:rPr lang="en-US" sz="96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Ethics prepares the mind for liberation</a:t>
                      </a:r>
                      <a:endParaRPr sz="96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960"/>
                        <a:buFont typeface="Calibri"/>
                        <a:buNone/>
                      </a:pPr>
                      <a:r>
                        <a:rPr lang="en-US" sz="96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Naturalism, social/normative theory</a:t>
                      </a:r>
                      <a:endParaRPr sz="96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12"/>
          <p:cNvSpPr/>
          <p:nvPr/>
        </p:nvSpPr>
        <p:spPr>
          <a:xfrm>
            <a:off x="502920" y="4828032"/>
            <a:ext cx="8138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377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Time (kaal vs. spacetime) is treated in the companion study Nature of Time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13"/>
          <p:cNvSpPr/>
          <p:nvPr/>
        </p:nvSpPr>
        <p:spPr>
          <a:xfrm>
            <a:off x="457200" y="384048"/>
            <a:ext cx="365760" cy="365760"/>
          </a:xfrm>
          <a:prstGeom prst="ellipse">
            <a:avLst/>
          </a:prstGeom>
          <a:noFill/>
          <a:ln cap="flat" cmpd="sng" w="15875">
            <a:solidFill>
              <a:srgbClr val="3B4A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13"/>
          <p:cNvSpPr/>
          <p:nvPr/>
        </p:nvSpPr>
        <p:spPr>
          <a:xfrm>
            <a:off x="530352" y="457200"/>
            <a:ext cx="219456" cy="219456"/>
          </a:xfrm>
          <a:prstGeom prst="ellipse">
            <a:avLst/>
          </a:prstGeom>
          <a:noFill/>
          <a:ln cap="flat" cmpd="sng" w="15875">
            <a:solidFill>
              <a:srgbClr val="3B4A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13"/>
          <p:cNvSpPr/>
          <p:nvPr/>
        </p:nvSpPr>
        <p:spPr>
          <a:xfrm>
            <a:off x="592531" y="519379"/>
            <a:ext cx="95098" cy="95098"/>
          </a:xfrm>
          <a:prstGeom prst="ellipse">
            <a:avLst/>
          </a:prstGeom>
          <a:solidFill>
            <a:srgbClr val="C9821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3"/>
          <p:cNvSpPr/>
          <p:nvPr/>
        </p:nvSpPr>
        <p:spPr>
          <a:xfrm>
            <a:off x="960120" y="256032"/>
            <a:ext cx="7680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6414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9A6414"/>
                </a:solidFill>
                <a:latin typeface="Calibri"/>
                <a:ea typeface="Calibri"/>
                <a:cs typeface="Calibri"/>
                <a:sym typeface="Calibri"/>
              </a:rPr>
              <a:t>§5.6 · UNIFIED VS. DISTRIBUTED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3"/>
          <p:cNvSpPr/>
          <p:nvPr/>
        </p:nvSpPr>
        <p:spPr>
          <a:xfrm>
            <a:off x="960120" y="457200"/>
            <a:ext cx="77266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447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1E2447"/>
                </a:solidFill>
                <a:latin typeface="Cambria"/>
                <a:ea typeface="Cambria"/>
                <a:cs typeface="Cambria"/>
                <a:sym typeface="Cambria"/>
              </a:rPr>
              <a:t>Sat–Chit–Ananda: One or Many?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14" name="Google Shape;214;p13"/>
          <p:cNvGraphicFramePr/>
          <p:nvPr/>
        </p:nvGraphicFramePr>
        <p:xfrm>
          <a:off x="640080" y="132588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{C412159E-9D9A-4F1B-BDD3-5D94F5A31A33}</a:tableStyleId>
              </a:tblPr>
              <a:tblGrid>
                <a:gridCol w="1417325"/>
                <a:gridCol w="3200400"/>
                <a:gridCol w="3246125"/>
              </a:tblGrid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Concept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4875" marB="54875" marR="54875" marL="5487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44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Advaita (unified non-dualism)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4875" marB="54875" marR="54875" marL="5487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Madhyasth Darshan (distributed coexistence)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4875" marB="54875" marR="54875" marL="5487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B4A7A"/>
                    </a:solidFill>
                  </a:tcPr>
                </a:tc>
              </a:tr>
              <a:tr h="566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1030"/>
                        <a:buFont typeface="Calibri"/>
                        <a:buNone/>
                      </a:pPr>
                      <a:r>
                        <a:rPr lang="en-US" sz="103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Sat (being)</a:t>
                      </a:r>
                      <a:endParaRPr sz="103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4875" marB="54875" marR="54875" marL="5487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1030"/>
                        <a:buFont typeface="Calibri"/>
                        <a:buNone/>
                      </a:pPr>
                      <a:r>
                        <a:rPr lang="en-US" sz="103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Brahman alone is Sat; the world is dependent appearance, ultimately negated</a:t>
                      </a:r>
                      <a:endParaRPr sz="103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4875" marB="54875" marR="54875" marL="5487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1030"/>
                        <a:buFont typeface="Calibri"/>
                        <a:buNone/>
                      </a:pPr>
                      <a:r>
                        <a:rPr lang="en-US" sz="103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Beingness (astitva) is coexistence of formless Omnipresence and countless real units</a:t>
                      </a:r>
                      <a:endParaRPr sz="103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4875" marB="54875" marR="54875" marL="5487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66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1030"/>
                        <a:buFont typeface="Calibri"/>
                        <a:buNone/>
                      </a:pPr>
                      <a:r>
                        <a:rPr lang="en-US" sz="103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Chit (consciousness)</a:t>
                      </a:r>
                      <a:endParaRPr sz="103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4875" marB="54875" marR="54875" marL="5487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1030"/>
                        <a:buFont typeface="Calibri"/>
                        <a:buNone/>
                      </a:pPr>
                      <a:r>
                        <a:rPr lang="en-US" sz="103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Pure awareness identical to the inner Self; names and forms are inert</a:t>
                      </a:r>
                      <a:endParaRPr sz="103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4875" marB="54875" marR="54875" marL="5487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1030"/>
                        <a:buFont typeface="Calibri"/>
                        <a:buNone/>
                      </a:pPr>
                      <a:r>
                        <a:rPr lang="en-US" sz="103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Omnipresence is intelligibility-ground; active sentience (chaitanya) belongs to jeevan</a:t>
                      </a:r>
                      <a:endParaRPr sz="103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4875" marB="54875" marR="54875" marL="5487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66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1030"/>
                        <a:buFont typeface="Calibri"/>
                        <a:buNone/>
                      </a:pPr>
                      <a:r>
                        <a:rPr lang="en-US" sz="103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Ananda (bliss)</a:t>
                      </a:r>
                      <a:endParaRPr sz="103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4875" marB="54875" marR="54875" marL="5487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1030"/>
                        <a:buFont typeface="Calibri"/>
                        <a:buNone/>
                      </a:pPr>
                      <a:r>
                        <a:rPr lang="en-US" sz="103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Intrinsic nature of Brahman; sensory joy a distorted reflection</a:t>
                      </a:r>
                      <a:endParaRPr sz="103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4875" marB="54875" marR="54875" marL="5487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1030"/>
                        <a:buFont typeface="Calibri"/>
                        <a:buNone/>
                      </a:pPr>
                      <a:r>
                        <a:rPr lang="en-US" sz="103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Harmony realised within awakened jeevan — bliss as buddhi–atma harmony in conduct</a:t>
                      </a:r>
                      <a:endParaRPr sz="103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4875" marB="54875" marR="54875" marL="5487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5" name="Google Shape;215;p13"/>
          <p:cNvSpPr/>
          <p:nvPr/>
        </p:nvSpPr>
        <p:spPr>
          <a:xfrm>
            <a:off x="640080" y="3840480"/>
            <a:ext cx="7863840" cy="822960"/>
          </a:xfrm>
          <a:prstGeom prst="roundRect">
            <a:avLst>
              <a:gd fmla="val 10000" name="adj"/>
            </a:avLst>
          </a:prstGeom>
          <a:solidFill>
            <a:srgbClr val="EEF1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3"/>
          <p:cNvSpPr/>
          <p:nvPr/>
        </p:nvSpPr>
        <p:spPr>
          <a:xfrm>
            <a:off x="868680" y="3840480"/>
            <a:ext cx="74066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447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2447"/>
                </a:solidFill>
                <a:latin typeface="Calibri"/>
                <a:ea typeface="Calibri"/>
                <a:cs typeface="Calibri"/>
                <a:sym typeface="Calibri"/>
              </a:rPr>
              <a:t>The witness fork:  </a:t>
            </a:r>
            <a:r>
              <a:rPr b="0" i="0" lang="en-US" sz="115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both refuse to reduce the seer to the seen brain-state — together against physicalism. Against each other: is irreducible awareness one (impersonal Sakshin, finally Brahman) or many (immortal jeevan units, each capable of gyan udghatan)?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3"/>
          <p:cNvSpPr/>
          <p:nvPr/>
        </p:nvSpPr>
        <p:spPr>
          <a:xfrm>
            <a:off x="502920" y="4828032"/>
            <a:ext cx="8138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377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§§5.3.1–5.3.3, 5.6  ·  DDV vv. 1–5  ·  VC v. 217  ·  MD §§1.8, 1.13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4"/>
          <p:cNvSpPr/>
          <p:nvPr/>
        </p:nvSpPr>
        <p:spPr>
          <a:xfrm>
            <a:off x="457200" y="384048"/>
            <a:ext cx="365760" cy="365760"/>
          </a:xfrm>
          <a:prstGeom prst="ellipse">
            <a:avLst/>
          </a:prstGeom>
          <a:noFill/>
          <a:ln cap="flat" cmpd="sng" w="15875">
            <a:solidFill>
              <a:srgbClr val="3B4A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14"/>
          <p:cNvSpPr/>
          <p:nvPr/>
        </p:nvSpPr>
        <p:spPr>
          <a:xfrm>
            <a:off x="530352" y="457200"/>
            <a:ext cx="219456" cy="219456"/>
          </a:xfrm>
          <a:prstGeom prst="ellipse">
            <a:avLst/>
          </a:prstGeom>
          <a:noFill/>
          <a:ln cap="flat" cmpd="sng" w="15875">
            <a:solidFill>
              <a:srgbClr val="3B4A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14"/>
          <p:cNvSpPr/>
          <p:nvPr/>
        </p:nvSpPr>
        <p:spPr>
          <a:xfrm>
            <a:off x="592531" y="519379"/>
            <a:ext cx="95098" cy="95098"/>
          </a:xfrm>
          <a:prstGeom prst="ellipse">
            <a:avLst/>
          </a:prstGeom>
          <a:solidFill>
            <a:srgbClr val="C9821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14"/>
          <p:cNvSpPr/>
          <p:nvPr/>
        </p:nvSpPr>
        <p:spPr>
          <a:xfrm>
            <a:off x="960120" y="256032"/>
            <a:ext cx="7680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6414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9A6414"/>
                </a:solidFill>
                <a:latin typeface="Calibri"/>
                <a:ea typeface="Calibri"/>
                <a:cs typeface="Calibri"/>
                <a:sym typeface="Calibri"/>
              </a:rPr>
              <a:t>§5.4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4"/>
          <p:cNvSpPr/>
          <p:nvPr/>
        </p:nvSpPr>
        <p:spPr>
          <a:xfrm>
            <a:off x="960120" y="457200"/>
            <a:ext cx="77266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447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1E2447"/>
                </a:solidFill>
                <a:latin typeface="Cambria"/>
                <a:ea typeface="Cambria"/>
                <a:cs typeface="Cambria"/>
                <a:sym typeface="Cambria"/>
              </a:rPr>
              <a:t>Causal Doctrine: Three Architectures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28" name="Google Shape;228;p14"/>
          <p:cNvGraphicFramePr/>
          <p:nvPr/>
        </p:nvGraphicFramePr>
        <p:xfrm>
          <a:off x="502920" y="132588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{C412159E-9D9A-4F1B-BDD3-5D94F5A31A33}</a:tableStyleId>
              </a:tblPr>
              <a:tblGrid>
                <a:gridCol w="1554475"/>
                <a:gridCol w="2057400"/>
                <a:gridCol w="2468875"/>
                <a:gridCol w="2057400"/>
              </a:tblGrid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Aspect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44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Advaita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Madhyasth Darshan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B4A7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Modern physicalism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1606B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980"/>
                        <a:buFont typeface="Calibri"/>
                        <a:buNone/>
                      </a:pPr>
                      <a:r>
                        <a:rPr lang="en-US" sz="98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Effect in cause?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980"/>
                        <a:buFont typeface="Calibri"/>
                        <a:buNone/>
                      </a:pPr>
                      <a:r>
                        <a:rPr lang="en-US" sz="98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 — satkaryavada (clay–pot)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980"/>
                        <a:buFont typeface="Calibri"/>
                        <a:buNone/>
                      </a:pPr>
                      <a:r>
                        <a:rPr lang="en-US" sz="98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Units eternal; change is transformation within coexistence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980"/>
                        <a:buFont typeface="Calibri"/>
                        <a:buNone/>
                      </a:pPr>
                      <a:r>
                        <a:rPr lang="en-US" sz="98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Conservation laws; particles as field excitations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7772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980"/>
                        <a:buFont typeface="Calibri"/>
                        <a:buNone/>
                      </a:pPr>
                      <a:r>
                        <a:rPr lang="en-US" sz="98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Does the cause transform?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980"/>
                        <a:buFont typeface="Calibri"/>
                        <a:buNone/>
                      </a:pPr>
                      <a:r>
                        <a:rPr lang="en-US" sz="98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— Brahman changeless; vivarta (apparent change)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980"/>
                        <a:buFont typeface="Calibri"/>
                        <a:buNone/>
                      </a:pPr>
                      <a:r>
                        <a:rPr lang="en-US" sz="98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Satta non-transforming (mahakaran, sustaining); units transform via shram–gati–parinam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980"/>
                        <a:buFont typeface="Calibri"/>
                        <a:buNone/>
                      </a:pPr>
                      <a:r>
                        <a:rPr lang="en-US" sz="98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Fields and spacetime are dynamical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980"/>
                        <a:buFont typeface="Calibri"/>
                        <a:buNone/>
                      </a:pPr>
                      <a:r>
                        <a:rPr lang="en-US" sz="98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Origination vs. change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980"/>
                        <a:buFont typeface="Calibri"/>
                        <a:buNone/>
                      </a:pPr>
                      <a:r>
                        <a:rPr lang="en-US" sz="98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Name-form originates at vyavahara; Brahman does not begin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980"/>
                        <a:buFont typeface="Calibri"/>
                        <a:buNone/>
                      </a:pPr>
                      <a:r>
                        <a:rPr lang="en-US" sz="98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origination from abhava; development and awakening within coexistence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980"/>
                        <a:buFont typeface="Calibri"/>
                        <a:buNone/>
                      </a:pPr>
                      <a:r>
                        <a:rPr lang="en-US" sz="98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Local systems begin and end; substrate unsettled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9" name="Google Shape;229;p14"/>
          <p:cNvSpPr/>
          <p:nvPr/>
        </p:nvSpPr>
        <p:spPr>
          <a:xfrm>
            <a:off x="640080" y="4160520"/>
            <a:ext cx="79552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6414"/>
              </a:buClr>
              <a:buSzPts val="1200"/>
              <a:buFont typeface="Calibri"/>
              <a:buNone/>
            </a:pPr>
            <a:r>
              <a:rPr b="1" i="1" lang="en-US" sz="1200" u="none" cap="none" strike="noStrike">
                <a:solidFill>
                  <a:srgbClr val="9A6414"/>
                </a:solidFill>
                <a:latin typeface="Calibri"/>
                <a:ea typeface="Calibri"/>
                <a:cs typeface="Calibri"/>
                <a:sym typeface="Calibri"/>
              </a:rPr>
              <a:t>“Brahma is truth, the world is perpetual” </a:t>
            </a:r>
            <a:r>
              <a:rPr b="0" i="0" lang="en-US" sz="120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— real transformation of real units, where Advaita projects appearance and physicalism dynamises fields.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4"/>
          <p:cNvSpPr/>
          <p:nvPr/>
        </p:nvSpPr>
        <p:spPr>
          <a:xfrm>
            <a:off x="502920" y="4828032"/>
            <a:ext cx="8138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377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VC v. 251  ·  MVD pp. 13, 288–289  ·  SB pp. 49, 58, 62  ·  §§5.3.4, 5.4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5"/>
          <p:cNvSpPr/>
          <p:nvPr/>
        </p:nvSpPr>
        <p:spPr>
          <a:xfrm>
            <a:off x="457200" y="384048"/>
            <a:ext cx="365760" cy="365760"/>
          </a:xfrm>
          <a:prstGeom prst="ellipse">
            <a:avLst/>
          </a:prstGeom>
          <a:noFill/>
          <a:ln cap="flat" cmpd="sng" w="15875">
            <a:solidFill>
              <a:srgbClr val="3B4A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15"/>
          <p:cNvSpPr/>
          <p:nvPr/>
        </p:nvSpPr>
        <p:spPr>
          <a:xfrm>
            <a:off x="530352" y="457200"/>
            <a:ext cx="219456" cy="219456"/>
          </a:xfrm>
          <a:prstGeom prst="ellipse">
            <a:avLst/>
          </a:prstGeom>
          <a:noFill/>
          <a:ln cap="flat" cmpd="sng" w="15875">
            <a:solidFill>
              <a:srgbClr val="3B4A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15"/>
          <p:cNvSpPr/>
          <p:nvPr/>
        </p:nvSpPr>
        <p:spPr>
          <a:xfrm>
            <a:off x="592531" y="519379"/>
            <a:ext cx="95098" cy="95098"/>
          </a:xfrm>
          <a:prstGeom prst="ellipse">
            <a:avLst/>
          </a:prstGeom>
          <a:solidFill>
            <a:srgbClr val="C9821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15"/>
          <p:cNvSpPr/>
          <p:nvPr/>
        </p:nvSpPr>
        <p:spPr>
          <a:xfrm>
            <a:off x="960120" y="256032"/>
            <a:ext cx="7680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6414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9A6414"/>
                </a:solidFill>
                <a:latin typeface="Calibri"/>
                <a:ea typeface="Calibri"/>
                <a:cs typeface="Calibri"/>
                <a:sym typeface="Calibri"/>
              </a:rPr>
              <a:t>§5.7 · ANALOGUES VS. UNMAPPABLES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5"/>
          <p:cNvSpPr/>
          <p:nvPr/>
        </p:nvSpPr>
        <p:spPr>
          <a:xfrm>
            <a:off x="960120" y="457200"/>
            <a:ext cx="77266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447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1E2447"/>
                </a:solidFill>
                <a:latin typeface="Cambria"/>
                <a:ea typeface="Cambria"/>
                <a:cs typeface="Cambria"/>
                <a:sym typeface="Cambria"/>
              </a:rPr>
              <a:t>The Advaita Fork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5"/>
          <p:cNvSpPr/>
          <p:nvPr/>
        </p:nvSpPr>
        <p:spPr>
          <a:xfrm>
            <a:off x="640080" y="1325880"/>
            <a:ext cx="3794760" cy="3154680"/>
          </a:xfrm>
          <a:prstGeom prst="roundRect">
            <a:avLst>
              <a:gd fmla="val 2899" name="adj"/>
            </a:avLst>
          </a:prstGeom>
          <a:solidFill>
            <a:srgbClr val="F5EBEF"/>
          </a:solidFill>
          <a:ln>
            <a:noFill/>
          </a:ln>
          <a:effectLst>
            <a:outerShdw blurRad="88900" rotWithShape="0" algn="bl" dir="27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15"/>
          <p:cNvSpPr/>
          <p:nvPr/>
        </p:nvSpPr>
        <p:spPr>
          <a:xfrm>
            <a:off x="868680" y="1463040"/>
            <a:ext cx="32918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E46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6D2E46"/>
                </a:solidFill>
                <a:latin typeface="Cambria"/>
                <a:ea typeface="Cambria"/>
                <a:cs typeface="Cambria"/>
                <a:sym typeface="Cambria"/>
              </a:rPr>
              <a:t>Close analogues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5"/>
          <p:cNvSpPr/>
          <p:nvPr/>
        </p:nvSpPr>
        <p:spPr>
          <a:xfrm>
            <a:off x="868680" y="1828800"/>
            <a:ext cx="338328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5A6377"/>
              </a:buClr>
              <a:buSzPts val="1030"/>
              <a:buFont typeface="Calibri"/>
              <a:buChar char="•"/>
            </a:pPr>
            <a:r>
              <a:rPr b="0" i="0" lang="en-US" sz="103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Brahman ↔ Satta — formless, pervasive, non-transforming, actionless ground</a:t>
            </a:r>
            <a:endParaRPr b="0" i="0" sz="10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5A6377"/>
              </a:buClr>
              <a:buSzPts val="1030"/>
              <a:buFont typeface="Calibri"/>
              <a:buChar char="•"/>
            </a:pPr>
            <a:r>
              <a:rPr b="0" i="0" lang="en-US" sz="103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Atman ↔ Atma — innermost core of the self and of realisation</a:t>
            </a:r>
            <a:endParaRPr b="0" i="0" sz="10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5A6377"/>
              </a:buClr>
              <a:buSzPts val="1030"/>
              <a:buFont typeface="Calibri"/>
              <a:buChar char="•"/>
            </a:pPr>
            <a:r>
              <a:rPr b="0" i="0" lang="en-US" sz="103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Jiva ↔ deluded jeevan — embodied self bound by ignorance, seeking release</a:t>
            </a:r>
            <a:endParaRPr b="0" i="0" sz="10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5A6377"/>
              </a:buClr>
              <a:buSzPts val="1030"/>
              <a:buFont typeface="Calibri"/>
              <a:buChar char="•"/>
            </a:pPr>
            <a:r>
              <a:rPr b="0" i="0" lang="en-US" sz="103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Jagat ↔ nature/units — the physical universe of change, name, and form</a:t>
            </a:r>
            <a:endParaRPr b="0" i="0" sz="10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5"/>
          <p:cNvSpPr/>
          <p:nvPr/>
        </p:nvSpPr>
        <p:spPr>
          <a:xfrm>
            <a:off x="4709160" y="1325880"/>
            <a:ext cx="3794760" cy="3154680"/>
          </a:xfrm>
          <a:prstGeom prst="roundRect">
            <a:avLst>
              <a:gd fmla="val 2899" name="adj"/>
            </a:avLst>
          </a:prstGeom>
          <a:solidFill>
            <a:srgbClr val="EEF1F8"/>
          </a:solidFill>
          <a:ln>
            <a:noFill/>
          </a:ln>
          <a:effectLst>
            <a:outerShdw blurRad="88900" rotWithShape="0" algn="bl" dir="27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15"/>
          <p:cNvSpPr/>
          <p:nvPr/>
        </p:nvSpPr>
        <p:spPr>
          <a:xfrm>
            <a:off x="4937760" y="1463040"/>
            <a:ext cx="33832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447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1E2447"/>
                </a:solidFill>
                <a:latin typeface="Cambria"/>
                <a:ea typeface="Cambria"/>
                <a:cs typeface="Cambria"/>
                <a:sym typeface="Cambria"/>
              </a:rPr>
              <a:t>Rejected by Madhyasth Darshan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5"/>
          <p:cNvSpPr/>
          <p:nvPr/>
        </p:nvSpPr>
        <p:spPr>
          <a:xfrm>
            <a:off x="4937760" y="1828800"/>
            <a:ext cx="3429000" cy="2606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5A6377"/>
              </a:buClr>
              <a:buSzPts val="100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Maya — no cosmic power of illusion; ignorance is absence of understanding, resolved by study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5A6377"/>
              </a:buClr>
              <a:buSzPts val="100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Adhyasa — no superimposition; ground–unit relation is real saturation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5A6377"/>
              </a:buClr>
              <a:buSzPts val="100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Mithya — no intermediate status; whatever exists is real and indestructible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5A6377"/>
              </a:buClr>
              <a:buSzPts val="100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Ishvara as governor — orderliness is self-regulation; satta stays actionless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5A6377"/>
              </a:buClr>
              <a:buSzPts val="100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Kaivalya — jeevan units stay eternally distinct; the goal is awakened coexistence (jagriti)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5"/>
          <p:cNvSpPr/>
          <p:nvPr/>
        </p:nvSpPr>
        <p:spPr>
          <a:xfrm>
            <a:off x="502920" y="4828032"/>
            <a:ext cx="8138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377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“A true one-to-one mapping is impossible without distorting the foundational claims of either system” — §5.7.5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6"/>
          <p:cNvSpPr/>
          <p:nvPr/>
        </p:nvSpPr>
        <p:spPr>
          <a:xfrm>
            <a:off x="457200" y="384048"/>
            <a:ext cx="365760" cy="365760"/>
          </a:xfrm>
          <a:prstGeom prst="ellipse">
            <a:avLst/>
          </a:prstGeom>
          <a:noFill/>
          <a:ln cap="flat" cmpd="sng" w="15875">
            <a:solidFill>
              <a:srgbClr val="3B4A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16"/>
          <p:cNvSpPr/>
          <p:nvPr/>
        </p:nvSpPr>
        <p:spPr>
          <a:xfrm>
            <a:off x="530352" y="457200"/>
            <a:ext cx="219456" cy="219456"/>
          </a:xfrm>
          <a:prstGeom prst="ellipse">
            <a:avLst/>
          </a:prstGeom>
          <a:noFill/>
          <a:ln cap="flat" cmpd="sng" w="15875">
            <a:solidFill>
              <a:srgbClr val="3B4A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16"/>
          <p:cNvSpPr/>
          <p:nvPr/>
        </p:nvSpPr>
        <p:spPr>
          <a:xfrm>
            <a:off x="592531" y="519379"/>
            <a:ext cx="95098" cy="95098"/>
          </a:xfrm>
          <a:prstGeom prst="ellipse">
            <a:avLst/>
          </a:prstGeom>
          <a:solidFill>
            <a:srgbClr val="C9821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16"/>
          <p:cNvSpPr/>
          <p:nvPr/>
        </p:nvSpPr>
        <p:spPr>
          <a:xfrm>
            <a:off x="960120" y="256032"/>
            <a:ext cx="7680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6414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9A6414"/>
                </a:solidFill>
                <a:latin typeface="Calibri"/>
                <a:ea typeface="Calibri"/>
                <a:cs typeface="Calibri"/>
                <a:sym typeface="Calibri"/>
              </a:rPr>
              <a:t>§6.2 · THE STUDY’S OWN LENS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6"/>
          <p:cNvSpPr/>
          <p:nvPr/>
        </p:nvSpPr>
        <p:spPr>
          <a:xfrm>
            <a:off x="960120" y="457200"/>
            <a:ext cx="77266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447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1E2447"/>
                </a:solidFill>
                <a:latin typeface="Cambria"/>
                <a:ea typeface="Cambria"/>
                <a:cs typeface="Cambria"/>
                <a:sym typeface="Cambria"/>
              </a:rPr>
              <a:t>Critical Review: Open Problems for MD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6"/>
          <p:cNvSpPr/>
          <p:nvPr/>
        </p:nvSpPr>
        <p:spPr>
          <a:xfrm>
            <a:off x="640080" y="1325880"/>
            <a:ext cx="3794760" cy="987552"/>
          </a:xfrm>
          <a:prstGeom prst="roundRect">
            <a:avLst>
              <a:gd fmla="val 8333" name="adj"/>
            </a:avLst>
          </a:prstGeom>
          <a:solidFill>
            <a:srgbClr val="EEF1F8"/>
          </a:solidFill>
          <a:ln>
            <a:noFill/>
          </a:ln>
          <a:effectLst>
            <a:outerShdw blurRad="88900" rotWithShape="0" algn="bl" dir="27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16"/>
          <p:cNvSpPr/>
          <p:nvPr/>
        </p:nvSpPr>
        <p:spPr>
          <a:xfrm>
            <a:off x="786384" y="1453896"/>
            <a:ext cx="402336" cy="402336"/>
          </a:xfrm>
          <a:prstGeom prst="ellipse">
            <a:avLst/>
          </a:prstGeom>
          <a:solidFill>
            <a:srgbClr val="C9821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16"/>
          <p:cNvSpPr/>
          <p:nvPr/>
        </p:nvSpPr>
        <p:spPr>
          <a:xfrm>
            <a:off x="786384" y="1453896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6.2.1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6"/>
          <p:cNvSpPr/>
          <p:nvPr/>
        </p:nvSpPr>
        <p:spPr>
          <a:xfrm>
            <a:off x="1298448" y="1399032"/>
            <a:ext cx="3017520" cy="8595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377"/>
              </a:buClr>
              <a:buSzPts val="930"/>
              <a:buFont typeface="Calibri"/>
              <a:buNone/>
            </a:pPr>
            <a:r>
              <a:rPr b="0" i="0" lang="en-US" sz="93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Latency relocates, not solves: selection (why this threshold?) and grounding (why is satta-as-gyan experiential?) remain owed.</a:t>
            </a:r>
            <a:endParaRPr b="0" i="0" sz="9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6"/>
          <p:cNvSpPr/>
          <p:nvPr/>
        </p:nvSpPr>
        <p:spPr>
          <a:xfrm>
            <a:off x="4709160" y="1325880"/>
            <a:ext cx="3794760" cy="987552"/>
          </a:xfrm>
          <a:prstGeom prst="roundRect">
            <a:avLst>
              <a:gd fmla="val 8333" name="adj"/>
            </a:avLst>
          </a:prstGeom>
          <a:solidFill>
            <a:srgbClr val="EEF1F8"/>
          </a:solidFill>
          <a:ln>
            <a:noFill/>
          </a:ln>
          <a:effectLst>
            <a:outerShdw blurRad="88900" rotWithShape="0" algn="bl" dir="27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16"/>
          <p:cNvSpPr/>
          <p:nvPr/>
        </p:nvSpPr>
        <p:spPr>
          <a:xfrm>
            <a:off x="4855464" y="1453896"/>
            <a:ext cx="402336" cy="402336"/>
          </a:xfrm>
          <a:prstGeom prst="ellipse">
            <a:avLst/>
          </a:prstGeom>
          <a:solidFill>
            <a:srgbClr val="C9821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16"/>
          <p:cNvSpPr/>
          <p:nvPr/>
        </p:nvSpPr>
        <p:spPr>
          <a:xfrm>
            <a:off x="4855464" y="1453896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6.2.2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6"/>
          <p:cNvSpPr/>
          <p:nvPr/>
        </p:nvSpPr>
        <p:spPr>
          <a:xfrm>
            <a:off x="5367528" y="1399032"/>
            <a:ext cx="3017520" cy="8595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377"/>
              </a:buClr>
              <a:buSzPts val="930"/>
              <a:buFont typeface="Calibri"/>
              <a:buNone/>
            </a:pPr>
            <a:r>
              <a:rPr b="0" i="0" lang="en-US" sz="93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Nagarjuna’s svabhava critique: mutual dependence invites emptiness; MD asserts a rival eternalism rather than refuting Madhyamaka.</a:t>
            </a:r>
            <a:endParaRPr b="0" i="0" sz="9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6"/>
          <p:cNvSpPr/>
          <p:nvPr/>
        </p:nvSpPr>
        <p:spPr>
          <a:xfrm>
            <a:off x="640080" y="2450592"/>
            <a:ext cx="3794760" cy="987552"/>
          </a:xfrm>
          <a:prstGeom prst="roundRect">
            <a:avLst>
              <a:gd fmla="val 8333" name="adj"/>
            </a:avLst>
          </a:prstGeom>
          <a:solidFill>
            <a:srgbClr val="EEF1F8"/>
          </a:solidFill>
          <a:ln>
            <a:noFill/>
          </a:ln>
          <a:effectLst>
            <a:outerShdw blurRad="88900" rotWithShape="0" algn="bl" dir="27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16"/>
          <p:cNvSpPr/>
          <p:nvPr/>
        </p:nvSpPr>
        <p:spPr>
          <a:xfrm>
            <a:off x="786384" y="2578608"/>
            <a:ext cx="402336" cy="402336"/>
          </a:xfrm>
          <a:prstGeom prst="ellipse">
            <a:avLst/>
          </a:prstGeom>
          <a:solidFill>
            <a:srgbClr val="C9821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16"/>
          <p:cNvSpPr/>
          <p:nvPr/>
        </p:nvSpPr>
        <p:spPr>
          <a:xfrm>
            <a:off x="786384" y="2578608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6.2.3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6"/>
          <p:cNvSpPr/>
          <p:nvPr/>
        </p:nvSpPr>
        <p:spPr>
          <a:xfrm>
            <a:off x="1298448" y="2523744"/>
            <a:ext cx="3017520" cy="8595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377"/>
              </a:buClr>
              <a:buSzPts val="930"/>
              <a:buFont typeface="Calibri"/>
              <a:buNone/>
            </a:pPr>
            <a:r>
              <a:rPr b="0" i="0" lang="en-US" sz="93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Conservation ≠ immortality: vastu-persistence does not entail this jeevan’s post-death continuity; weight-bondage release strains particle physics.</a:t>
            </a:r>
            <a:endParaRPr b="0" i="0" sz="9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6"/>
          <p:cNvSpPr/>
          <p:nvPr/>
        </p:nvSpPr>
        <p:spPr>
          <a:xfrm>
            <a:off x="4709160" y="2450592"/>
            <a:ext cx="3794760" cy="987552"/>
          </a:xfrm>
          <a:prstGeom prst="roundRect">
            <a:avLst>
              <a:gd fmla="val 8333" name="adj"/>
            </a:avLst>
          </a:prstGeom>
          <a:solidFill>
            <a:srgbClr val="EEF1F8"/>
          </a:solidFill>
          <a:ln>
            <a:noFill/>
          </a:ln>
          <a:effectLst>
            <a:outerShdw blurRad="88900" rotWithShape="0" algn="bl" dir="27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16"/>
          <p:cNvSpPr/>
          <p:nvPr/>
        </p:nvSpPr>
        <p:spPr>
          <a:xfrm>
            <a:off x="4855464" y="2578608"/>
            <a:ext cx="402336" cy="402336"/>
          </a:xfrm>
          <a:prstGeom prst="ellipse">
            <a:avLst/>
          </a:prstGeom>
          <a:solidFill>
            <a:srgbClr val="C9821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p16"/>
          <p:cNvSpPr/>
          <p:nvPr/>
        </p:nvSpPr>
        <p:spPr>
          <a:xfrm>
            <a:off x="4855464" y="2578608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6.2.4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6"/>
          <p:cNvSpPr/>
          <p:nvPr/>
        </p:nvSpPr>
        <p:spPr>
          <a:xfrm>
            <a:off x="5367528" y="2523744"/>
            <a:ext cx="3017520" cy="8595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377"/>
              </a:buClr>
              <a:buSzPts val="930"/>
              <a:buFont typeface="Calibri"/>
              <a:buNone/>
            </a:pPr>
            <a:r>
              <a:rPr b="0" i="0" lang="en-US" sz="93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Jeevan–body interaction: state-and-order transmission in a joint form spares the crude Cartesian piston — but Kim-style causal closure stays open.</a:t>
            </a:r>
            <a:endParaRPr b="0" i="0" sz="9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6"/>
          <p:cNvSpPr/>
          <p:nvPr/>
        </p:nvSpPr>
        <p:spPr>
          <a:xfrm>
            <a:off x="640080" y="3575304"/>
            <a:ext cx="3794760" cy="987552"/>
          </a:xfrm>
          <a:prstGeom prst="roundRect">
            <a:avLst>
              <a:gd fmla="val 8333" name="adj"/>
            </a:avLst>
          </a:prstGeom>
          <a:solidFill>
            <a:srgbClr val="EEF1F8"/>
          </a:solidFill>
          <a:ln>
            <a:noFill/>
          </a:ln>
          <a:effectLst>
            <a:outerShdw blurRad="88900" rotWithShape="0" algn="bl" dir="27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16"/>
          <p:cNvSpPr/>
          <p:nvPr/>
        </p:nvSpPr>
        <p:spPr>
          <a:xfrm>
            <a:off x="786384" y="3703320"/>
            <a:ext cx="402336" cy="402336"/>
          </a:xfrm>
          <a:prstGeom prst="ellipse">
            <a:avLst/>
          </a:prstGeom>
          <a:solidFill>
            <a:srgbClr val="C9821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16"/>
          <p:cNvSpPr/>
          <p:nvPr/>
        </p:nvSpPr>
        <p:spPr>
          <a:xfrm>
            <a:off x="786384" y="3703320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6.2.5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6"/>
          <p:cNvSpPr/>
          <p:nvPr/>
        </p:nvSpPr>
        <p:spPr>
          <a:xfrm>
            <a:off x="1298448" y="3648456"/>
            <a:ext cx="3017520" cy="8595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377"/>
              </a:buClr>
              <a:buSzPts val="930"/>
              <a:buFont typeface="Calibri"/>
              <a:buNone/>
            </a:pPr>
            <a:r>
              <a:rPr b="0" i="0" lang="en-US" sz="93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No operationalization: constitutional completeness is not presently measurable; realisation and conduct are cited, science requires public testability.</a:t>
            </a:r>
            <a:endParaRPr b="0" i="0" sz="9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6"/>
          <p:cNvSpPr/>
          <p:nvPr/>
        </p:nvSpPr>
        <p:spPr>
          <a:xfrm>
            <a:off x="4709160" y="3575304"/>
            <a:ext cx="3794760" cy="987552"/>
          </a:xfrm>
          <a:prstGeom prst="roundRect">
            <a:avLst>
              <a:gd fmla="val 8333" name="adj"/>
            </a:avLst>
          </a:prstGeom>
          <a:solidFill>
            <a:srgbClr val="EEF1F8"/>
          </a:solidFill>
          <a:ln>
            <a:noFill/>
          </a:ln>
          <a:effectLst>
            <a:outerShdw blurRad="88900" rotWithShape="0" algn="bl" dir="27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16"/>
          <p:cNvSpPr/>
          <p:nvPr/>
        </p:nvSpPr>
        <p:spPr>
          <a:xfrm>
            <a:off x="4855464" y="3703320"/>
            <a:ext cx="402336" cy="402336"/>
          </a:xfrm>
          <a:prstGeom prst="ellipse">
            <a:avLst/>
          </a:prstGeom>
          <a:solidFill>
            <a:srgbClr val="C9821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16"/>
          <p:cNvSpPr/>
          <p:nvPr/>
        </p:nvSpPr>
        <p:spPr>
          <a:xfrm>
            <a:off x="4855464" y="3703320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6.2.6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6"/>
          <p:cNvSpPr/>
          <p:nvPr/>
        </p:nvSpPr>
        <p:spPr>
          <a:xfrm>
            <a:off x="5367528" y="3648456"/>
            <a:ext cx="3017520" cy="8595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377"/>
              </a:buClr>
              <a:buSzPts val="930"/>
              <a:buFont typeface="Calibri"/>
              <a:buNone/>
            </a:pPr>
            <a:r>
              <a:rPr b="0" i="0" lang="en-US" sz="93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Fixed order vs. contingency: niyati-kram’s guaranteed emergence stands in direct tension with evolutionary biology — unresolved.</a:t>
            </a:r>
            <a:endParaRPr b="0" i="0" sz="9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6"/>
          <p:cNvSpPr/>
          <p:nvPr/>
        </p:nvSpPr>
        <p:spPr>
          <a:xfrm>
            <a:off x="502920" y="4828032"/>
            <a:ext cx="8138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377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Internal coherence is granted (§6.1) — but coherence within premises does not establish those premises against rivals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17"/>
          <p:cNvSpPr/>
          <p:nvPr/>
        </p:nvSpPr>
        <p:spPr>
          <a:xfrm>
            <a:off x="457200" y="384048"/>
            <a:ext cx="365760" cy="365760"/>
          </a:xfrm>
          <a:prstGeom prst="ellipse">
            <a:avLst/>
          </a:prstGeom>
          <a:noFill/>
          <a:ln cap="flat" cmpd="sng" w="15875">
            <a:solidFill>
              <a:srgbClr val="3B4A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17"/>
          <p:cNvSpPr/>
          <p:nvPr/>
        </p:nvSpPr>
        <p:spPr>
          <a:xfrm>
            <a:off x="530352" y="457200"/>
            <a:ext cx="219456" cy="219456"/>
          </a:xfrm>
          <a:prstGeom prst="ellipse">
            <a:avLst/>
          </a:prstGeom>
          <a:noFill/>
          <a:ln cap="flat" cmpd="sng" w="15875">
            <a:solidFill>
              <a:srgbClr val="3B4A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17"/>
          <p:cNvSpPr/>
          <p:nvPr/>
        </p:nvSpPr>
        <p:spPr>
          <a:xfrm>
            <a:off x="592531" y="519379"/>
            <a:ext cx="95098" cy="95098"/>
          </a:xfrm>
          <a:prstGeom prst="ellipse">
            <a:avLst/>
          </a:prstGeom>
          <a:solidFill>
            <a:srgbClr val="C9821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p17"/>
          <p:cNvSpPr/>
          <p:nvPr/>
        </p:nvSpPr>
        <p:spPr>
          <a:xfrm>
            <a:off x="960120" y="256032"/>
            <a:ext cx="7680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6414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9A6414"/>
                </a:solidFill>
                <a:latin typeface="Calibri"/>
                <a:ea typeface="Calibri"/>
                <a:cs typeface="Calibri"/>
                <a:sym typeface="Calibri"/>
              </a:rPr>
              <a:t>§§6.3–6.4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7"/>
          <p:cNvSpPr/>
          <p:nvPr/>
        </p:nvSpPr>
        <p:spPr>
          <a:xfrm>
            <a:off x="960120" y="457200"/>
            <a:ext cx="77266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447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1E2447"/>
                </a:solidFill>
                <a:latin typeface="Cambria"/>
                <a:ea typeface="Cambria"/>
                <a:cs typeface="Cambria"/>
                <a:sym typeface="Cambria"/>
              </a:rPr>
              <a:t>Strengths and Limits — Both Ways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93" name="Google Shape;293;p17"/>
          <p:cNvGraphicFramePr/>
          <p:nvPr/>
        </p:nvGraphicFramePr>
        <p:xfrm>
          <a:off x="502920" y="132588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{C412159E-9D9A-4F1B-BDD3-5D94F5A31A33}</a:tableStyleId>
              </a:tblPr>
              <a:tblGrid>
                <a:gridCol w="1234450"/>
                <a:gridCol w="2331725"/>
                <a:gridCol w="2377450"/>
                <a:gridCol w="2194550"/>
              </a:tblGrid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alibri"/>
                        <a:buNone/>
                      </a:pPr>
                      <a:r>
                        <a:t/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44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Strengths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44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Exposed limit (from MD’s reading)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44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Cost of the rival’s parsimony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447"/>
                    </a:solidFill>
                  </a:tcPr>
                </a:tc>
              </a:tr>
              <a:tr h="868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D2E46"/>
                        </a:buClr>
                        <a:buSzPts val="930"/>
                        <a:buFont typeface="Calibri"/>
                        <a:buNone/>
                      </a:pPr>
                      <a:r>
                        <a:rPr b="1" lang="en-US" sz="930" u="none" cap="none" strike="noStrike">
                          <a:solidFill>
                            <a:srgbClr val="6D2E4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Advaita</a:t>
                      </a:r>
                      <a:endParaRPr sz="93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930"/>
                        <a:buFont typeface="Calibri"/>
                        <a:buNone/>
                      </a:pPr>
                      <a:r>
                        <a:rPr lang="en-US" sz="93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Answer to non-being; rigorous first-person method (DDV, three states); parsimonious one-Brahman ontology</a:t>
                      </a:r>
                      <a:endParaRPr sz="93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930"/>
                        <a:buFont typeface="Calibri"/>
                        <a:buNone/>
                      </a:pPr>
                      <a:r>
                        <a:rPr lang="en-US" sz="93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World-subordination: mithya at paramartha weakens the final weight of relationships, nature, conduct</a:t>
                      </a:r>
                      <a:endParaRPr sz="93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930"/>
                        <a:buFont typeface="Calibri"/>
                        <a:buNone/>
                      </a:pPr>
                      <a:r>
                        <a:rPr lang="en-US" sz="93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Individuality dissolved: many awakened knowers reduced to one impersonal Self</a:t>
                      </a:r>
                      <a:endParaRPr sz="93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868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606B"/>
                        </a:buClr>
                        <a:buSzPts val="930"/>
                        <a:buFont typeface="Calibri"/>
                        <a:buNone/>
                      </a:pPr>
                      <a:r>
                        <a:rPr b="1" lang="en-US" sz="930" u="none" cap="none" strike="noStrike">
                          <a:solidFill>
                            <a:srgbClr val="31606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Physicalism / science</a:t>
                      </a:r>
                      <a:endParaRPr sz="93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930"/>
                        <a:buFont typeface="Calibri"/>
                        <a:buNone/>
                      </a:pPr>
                      <a:r>
                        <a:rPr lang="en-US" sz="93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evidence, correction, precise mechanism; causal closure and brain death are genuine pressures on jeevan</a:t>
                      </a:r>
                      <a:endParaRPr sz="93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930"/>
                        <a:buFont typeface="Calibri"/>
                        <a:buNone/>
                      </a:pPr>
                      <a:r>
                        <a:rPr lang="en-US" sz="93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Hard problem persists; rival threshold programs without consensus; gap ≠ disproof of matter-only either</a:t>
                      </a:r>
                      <a:endParaRPr sz="93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930"/>
                        <a:buFont typeface="Calibri"/>
                        <a:buNone/>
                      </a:pPr>
                      <a:r>
                        <a:rPr lang="en-US" sz="93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First-person realisation and individual survival excluded from what is measurable</a:t>
                      </a:r>
                      <a:endParaRPr sz="93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868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B4A7A"/>
                        </a:buClr>
                        <a:buSzPts val="930"/>
                        <a:buFont typeface="Calibri"/>
                        <a:buNone/>
                      </a:pPr>
                      <a:r>
                        <a:rPr b="1" lang="en-US" sz="930" u="none" cap="none" strike="noStrike">
                          <a:solidFill>
                            <a:srgbClr val="3B4A7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Madhyasth Darshan</a:t>
                      </a:r>
                      <a:endParaRPr sz="93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930"/>
                        <a:buFont typeface="Calibri"/>
                        <a:buNone/>
                      </a:pPr>
                      <a:r>
                        <a:rPr lang="en-US" sz="93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One picture answers all framing questions; world, values, and self all real; latency avoids emergence-from-nothing</a:t>
                      </a:r>
                      <a:endParaRPr sz="93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930"/>
                        <a:buFont typeface="Calibri"/>
                        <a:buNone/>
                      </a:pPr>
                      <a:r>
                        <a:rPr lang="en-US" sz="93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Selection and grounding owed; no operational criteria; Nagarjuna unanswered on its own terms</a:t>
                      </a:r>
                      <a:endParaRPr sz="93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447"/>
                        </a:buClr>
                        <a:buSzPts val="930"/>
                        <a:buFont typeface="Calibri"/>
                        <a:buNone/>
                      </a:pPr>
                      <a:r>
                        <a:rPr lang="en-US" sz="930" u="none" cap="none" strike="noStrike">
                          <a:solidFill>
                            <a:srgbClr val="1E24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Ontological complexity: many immortal units, saturation, tiered gyan/chaitanya</a:t>
                      </a:r>
                      <a:endParaRPr sz="93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45725" marL="45725" anchor="ctr">
                    <a:lnL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D0E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4" name="Google Shape;294;p17"/>
          <p:cNvSpPr/>
          <p:nvPr/>
        </p:nvSpPr>
        <p:spPr>
          <a:xfrm>
            <a:off x="640080" y="4434840"/>
            <a:ext cx="79552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6414"/>
              </a:buClr>
              <a:buSzPts val="1150"/>
              <a:buFont typeface="Calibri"/>
              <a:buNone/>
            </a:pPr>
            <a:r>
              <a:rPr b="0" i="1" lang="en-US" sz="1150" u="none" cap="none" strike="noStrike">
                <a:solidFill>
                  <a:srgbClr val="9A6414"/>
                </a:solidFill>
                <a:latin typeface="Calibri"/>
                <a:ea typeface="Calibri"/>
                <a:cs typeface="Calibri"/>
                <a:sym typeface="Calibri"/>
              </a:rPr>
              <a:t>“Neither system is free of trade-offs” — the study’s verdict applies to all three.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7"/>
          <p:cNvSpPr/>
          <p:nvPr/>
        </p:nvSpPr>
        <p:spPr>
          <a:xfrm>
            <a:off x="502920" y="4828032"/>
            <a:ext cx="8138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377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5A6377"/>
                </a:solidFill>
                <a:latin typeface="Calibri"/>
                <a:ea typeface="Calibri"/>
                <a:cs typeface="Calibri"/>
                <a:sym typeface="Calibri"/>
              </a:rPr>
              <a:t>Nagraj’s native objection: how can jeeva and jagat, originated from Brahman, be an illusion? — MVD, The Alternative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447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18"/>
          <p:cNvSpPr/>
          <p:nvPr/>
        </p:nvSpPr>
        <p:spPr>
          <a:xfrm>
            <a:off x="7635240" y="411480"/>
            <a:ext cx="1005840" cy="1005840"/>
          </a:xfrm>
          <a:prstGeom prst="ellipse">
            <a:avLst/>
          </a:prstGeom>
          <a:noFill/>
          <a:ln cap="flat" cmpd="sng" w="15875">
            <a:solidFill>
              <a:srgbClr val="44507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18"/>
          <p:cNvSpPr/>
          <p:nvPr/>
        </p:nvSpPr>
        <p:spPr>
          <a:xfrm>
            <a:off x="7836408" y="612648"/>
            <a:ext cx="603504" cy="603504"/>
          </a:xfrm>
          <a:prstGeom prst="ellipse">
            <a:avLst/>
          </a:prstGeom>
          <a:noFill/>
          <a:ln cap="flat" cmpd="sng" w="15875">
            <a:solidFill>
              <a:srgbClr val="44507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18"/>
          <p:cNvSpPr/>
          <p:nvPr/>
        </p:nvSpPr>
        <p:spPr>
          <a:xfrm>
            <a:off x="8007401" y="783641"/>
            <a:ext cx="261518" cy="261518"/>
          </a:xfrm>
          <a:prstGeom prst="ellipse">
            <a:avLst/>
          </a:prstGeom>
          <a:solidFill>
            <a:srgbClr val="C9821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18"/>
          <p:cNvSpPr/>
          <p:nvPr/>
        </p:nvSpPr>
        <p:spPr>
          <a:xfrm>
            <a:off x="640080" y="457200"/>
            <a:ext cx="6675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821E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9821E"/>
                </a:solidFill>
                <a:latin typeface="Calibri"/>
                <a:ea typeface="Calibri"/>
                <a:cs typeface="Calibri"/>
                <a:sym typeface="Calibri"/>
              </a:rPr>
              <a:t>WHAT THE COMPARISON ESTABLISHES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8"/>
          <p:cNvSpPr/>
          <p:nvPr/>
        </p:nvSpPr>
        <p:spPr>
          <a:xfrm>
            <a:off x="640080" y="749808"/>
            <a:ext cx="6858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Two Refusals, One Slogan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8"/>
          <p:cNvSpPr/>
          <p:nvPr/>
        </p:nvSpPr>
        <p:spPr>
          <a:xfrm>
            <a:off x="640080" y="1554480"/>
            <a:ext cx="3840480" cy="1371600"/>
          </a:xfrm>
          <a:prstGeom prst="roundRect">
            <a:avLst>
              <a:gd fmla="val 6667" name="adj"/>
            </a:avLst>
          </a:prstGeom>
          <a:solidFill>
            <a:srgbClr val="2B356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18"/>
          <p:cNvSpPr/>
          <p:nvPr/>
        </p:nvSpPr>
        <p:spPr>
          <a:xfrm>
            <a:off x="868680" y="1691640"/>
            <a:ext cx="34290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D4E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C9D4EF"/>
                </a:solidFill>
                <a:latin typeface="Calibri"/>
                <a:ea typeface="Calibri"/>
                <a:cs typeface="Calibri"/>
                <a:sym typeface="Calibri"/>
              </a:rPr>
              <a:t>Against physicalism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AEB9DC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No matter-only reduction: consciousness, value, and selfhood are not exhaustively brain-generated epiphenomena — yet the world stays fully real for study.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8"/>
          <p:cNvSpPr/>
          <p:nvPr/>
        </p:nvSpPr>
        <p:spPr>
          <a:xfrm>
            <a:off x="4663440" y="1554480"/>
            <a:ext cx="3840480" cy="1371600"/>
          </a:xfrm>
          <a:prstGeom prst="roundRect">
            <a:avLst>
              <a:gd fmla="val 6667" name="adj"/>
            </a:avLst>
          </a:prstGeom>
          <a:solidFill>
            <a:srgbClr val="2B356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18"/>
          <p:cNvSpPr/>
          <p:nvPr/>
        </p:nvSpPr>
        <p:spPr>
          <a:xfrm>
            <a:off x="4892040" y="1691640"/>
            <a:ext cx="34290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D4E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C9D4EF"/>
                </a:solidFill>
                <a:latin typeface="Calibri"/>
                <a:ea typeface="Calibri"/>
                <a:cs typeface="Calibri"/>
                <a:sym typeface="Calibri"/>
              </a:rPr>
              <a:t>Against Advaita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AEB9DC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No world-negation at the highest level: the perpetual world, distinct immortal jeevan, and real relationships and values retain final weight.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8"/>
          <p:cNvSpPr/>
          <p:nvPr/>
        </p:nvSpPr>
        <p:spPr>
          <a:xfrm>
            <a:off x="640080" y="3200400"/>
            <a:ext cx="78638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9821E"/>
              </a:buClr>
              <a:buSzPts val="1900"/>
              <a:buFont typeface="Cambria"/>
              <a:buNone/>
            </a:pPr>
            <a:r>
              <a:rPr b="1" i="1" lang="en-US" sz="1900" u="none" cap="none" strike="noStrike">
                <a:solidFill>
                  <a:srgbClr val="C9821E"/>
                </a:solidFill>
                <a:latin typeface="Cambria"/>
                <a:ea typeface="Cambria"/>
                <a:cs typeface="Cambria"/>
                <a:sym typeface="Cambria"/>
              </a:rPr>
              <a:t>“Brahma is truth, the world is perpetual.”  — MVD, p. 13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8"/>
          <p:cNvSpPr/>
          <p:nvPr/>
        </p:nvSpPr>
        <p:spPr>
          <a:xfrm>
            <a:off x="914400" y="3840480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E9BC4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8E9BC4"/>
                </a:solidFill>
                <a:latin typeface="Calibri"/>
                <a:ea typeface="Calibri"/>
                <a:cs typeface="Calibri"/>
                <a:sym typeface="Calibri"/>
              </a:rPr>
              <a:t>Open, and stated openly: latency’s selection and grounding problems, the conservation-to-immortality inference, and the Madhyamaka / anatta challenge (§6.2) — under partially incommensurable criteria of knowing (§5.3.5).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