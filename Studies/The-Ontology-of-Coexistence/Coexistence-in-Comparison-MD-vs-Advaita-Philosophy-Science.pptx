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387853aff74c04" /><Relationship Type="http://schemas.openxmlformats.org/officeDocument/2006/relationships/extended-properties" Target="/docProps/app.xml" Id="Rf41d6d75321a41cb" /><Relationship Type="http://schemas.openxmlformats.org/officeDocument/2006/relationships/officeDocument" Target="/ppt/presentation.xml" Id="R7aefdf0d802a4cf7" /></Relationships>
</file>

<file path=ppt/presentation.xml><?xml version="1.0" encoding="utf-8"?>
<p:presentation xmlns:p="http://schemas.openxmlformats.org/presentationml/2006/main">
  <p:sldMasterIdLst>
    <p:sldMasterId xmlns:r="http://schemas.openxmlformats.org/officeDocument/2006/relationships" id="2147483648" r:id="Rc7ee847b1e474d4f"/>
  </p:sldMasterIdLst>
  <p:notesMasterIdLst>
    <p:notesMasterId xmlns:r="http://schemas.openxmlformats.org/officeDocument/2006/relationships" r:id="R5897c84b1fd54ffd"/>
  </p:notesMasterIdLst>
  <p:sldIdLst>
    <p:sldId xmlns:r="http://schemas.openxmlformats.org/officeDocument/2006/relationships" id="256" r:id="Rdc507d658f4b449e"/>
    <p:sldId xmlns:r="http://schemas.openxmlformats.org/officeDocument/2006/relationships" id="257" r:id="Reb0e7a9cf82743a1"/>
    <p:sldId xmlns:r="http://schemas.openxmlformats.org/officeDocument/2006/relationships" id="258" r:id="Ree88f61ce30545ea"/>
    <p:sldId xmlns:r="http://schemas.openxmlformats.org/officeDocument/2006/relationships" id="259" r:id="R5b07acc491994275"/>
    <p:sldId xmlns:r="http://schemas.openxmlformats.org/officeDocument/2006/relationships" id="260" r:id="Re48ded498c4e457e"/>
    <p:sldId xmlns:r="http://schemas.openxmlformats.org/officeDocument/2006/relationships" id="261" r:id="R5fe1f94cd3344581"/>
    <p:sldId xmlns:r="http://schemas.openxmlformats.org/officeDocument/2006/relationships" id="262" r:id="Rc0416133ae11430e"/>
    <p:sldId xmlns:r="http://schemas.openxmlformats.org/officeDocument/2006/relationships" id="263" r:id="Rc22b61ce53de4b08"/>
    <p:sldId xmlns:r="http://schemas.openxmlformats.org/officeDocument/2006/relationships" id="264" r:id="R0de0883bcf634d55"/>
    <p:sldId xmlns:r="http://schemas.openxmlformats.org/officeDocument/2006/relationships" id="265" r:id="Rb1f8fef939304cac"/>
    <p:sldId xmlns:r="http://schemas.openxmlformats.org/officeDocument/2006/relationships" id="266" r:id="R580d0017e77a4111"/>
    <p:sldId xmlns:r="http://schemas.openxmlformats.org/officeDocument/2006/relationships" id="267" r:id="R6a12b88d96a749ed"/>
    <p:sldId xmlns:r="http://schemas.openxmlformats.org/officeDocument/2006/relationships" id="268" r:id="Rc7d9dde61ce64160"/>
    <p:sldId xmlns:r="http://schemas.openxmlformats.org/officeDocument/2006/relationships" id="269" r:id="R831ffedd3cd647f3"/>
    <p:sldId xmlns:r="http://schemas.openxmlformats.org/officeDocument/2006/relationships" id="270" r:id="R9ca6398018b646a9"/>
    <p:sldId xmlns:r="http://schemas.openxmlformats.org/officeDocument/2006/relationships" id="271" r:id="R0a1f6d2506664fd0"/>
    <p:sldId xmlns:r="http://schemas.openxmlformats.org/officeDocument/2006/relationships" id="272" r:id="R18505049fc7944b9"/>
    <p:sldId xmlns:r="http://schemas.openxmlformats.org/officeDocument/2006/relationships" id="273" r:id="R2da5b987f0044e6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C412159E-9D9A-4F1B-BDD3-5D94F5A31A33}">
  <a:tblStyle styleId="{C412159E-9D9A-4F1B-BDD3-5D94F5A31A3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936fd63e15d34311" /><Relationship Type="http://schemas.openxmlformats.org/officeDocument/2006/relationships/slideMaster" Target="/ppt/slideMasters/slideMaster1.xml" Id="Rc7ee847b1e474d4f" /><Relationship Type="http://schemas.openxmlformats.org/officeDocument/2006/relationships/notesMaster" Target="/ppt/notesMasters/notesMaster1.xml" Id="R5897c84b1fd54ffd" /><Relationship Type="http://schemas.openxmlformats.org/officeDocument/2006/relationships/presProps" Target="/ppt/presProps.xml" Id="R82c653aeaebd4f7a" /><Relationship Type="http://schemas.openxmlformats.org/officeDocument/2006/relationships/tableStyles" Target="/ppt/tableStyles.xml" Id="Rd6b03e1916de4a80" /><Relationship Type="http://schemas.openxmlformats.org/officeDocument/2006/relationships/slide" Target="/ppt/slides/slide1.xml" Id="Rdc507d658f4b449e" /><Relationship Type="http://schemas.openxmlformats.org/officeDocument/2006/relationships/slide" Target="/ppt/slides/slide2.xml" Id="Reb0e7a9cf82743a1" /><Relationship Type="http://schemas.openxmlformats.org/officeDocument/2006/relationships/slide" Target="/ppt/slides/slide3.xml" Id="Ree88f61ce30545ea" /><Relationship Type="http://schemas.openxmlformats.org/officeDocument/2006/relationships/slide" Target="/ppt/slides/slide4.xml" Id="R5b07acc491994275" /><Relationship Type="http://schemas.openxmlformats.org/officeDocument/2006/relationships/slide" Target="/ppt/slides/slide5.xml" Id="Re48ded498c4e457e" /><Relationship Type="http://schemas.openxmlformats.org/officeDocument/2006/relationships/slide" Target="/ppt/slides/slide6.xml" Id="R5fe1f94cd3344581" /><Relationship Type="http://schemas.openxmlformats.org/officeDocument/2006/relationships/slide" Target="/ppt/slides/slide7.xml" Id="Rc0416133ae11430e" /><Relationship Type="http://schemas.openxmlformats.org/officeDocument/2006/relationships/slide" Target="/ppt/slides/slide8.xml" Id="Rc22b61ce53de4b08" /><Relationship Type="http://schemas.openxmlformats.org/officeDocument/2006/relationships/slide" Target="/ppt/slides/slide9.xml" Id="R0de0883bcf634d55" /><Relationship Type="http://schemas.openxmlformats.org/officeDocument/2006/relationships/slide" Target="/ppt/slides/slide10.xml" Id="Rb1f8fef939304cac" /><Relationship Type="http://schemas.openxmlformats.org/officeDocument/2006/relationships/slide" Target="/ppt/slides/slide11.xml" Id="R580d0017e77a4111" /><Relationship Type="http://schemas.openxmlformats.org/officeDocument/2006/relationships/slide" Target="/ppt/slides/slide12.xml" Id="R6a12b88d96a749ed" /><Relationship Type="http://schemas.openxmlformats.org/officeDocument/2006/relationships/slide" Target="/ppt/slides/slide13.xml" Id="Rc7d9dde61ce64160" /><Relationship Type="http://schemas.openxmlformats.org/officeDocument/2006/relationships/slide" Target="/ppt/slides/slide14.xml" Id="R831ffedd3cd647f3" /><Relationship Type="http://schemas.openxmlformats.org/officeDocument/2006/relationships/slide" Target="/ppt/slides/slide15.xml" Id="R9ca6398018b646a9" /><Relationship Type="http://schemas.openxmlformats.org/officeDocument/2006/relationships/slide" Target="/ppt/slides/slide16.xml" Id="R0a1f6d2506664fd0" /><Relationship Type="http://schemas.openxmlformats.org/officeDocument/2006/relationships/slide" Target="/ppt/slides/slide17.xml" Id="R18505049fc7944b9" /><Relationship Type="http://schemas.openxmlformats.org/officeDocument/2006/relationships/slide" Target="/ppt/slides/slide18.xml" Id="R2da5b987f0044e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40642001b74e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4ee8b180b54293" /><Relationship Type="http://schemas.openxmlformats.org/officeDocument/2006/relationships/notesMaster" Target="/ppt/notesMasters/notesMaster1.xml" Id="Rb6c1b822c99143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1ff6e6cf3a4e3c" /><Relationship Type="http://schemas.openxmlformats.org/officeDocument/2006/relationships/notesMaster" Target="/ppt/notesMasters/notesMaster1.xml" Id="R454f2005c14645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a42d8847ea456b" /><Relationship Type="http://schemas.openxmlformats.org/officeDocument/2006/relationships/notesMaster" Target="/ppt/notesMasters/notesMaster1.xml" Id="R56ed0caf4b1942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fc10744f1c4c81" /><Relationship Type="http://schemas.openxmlformats.org/officeDocument/2006/relationships/notesMaster" Target="/ppt/notesMasters/notesMaster1.xml" Id="Rd98f23dc174942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f4abdd29334dab" /><Relationship Type="http://schemas.openxmlformats.org/officeDocument/2006/relationships/notesMaster" Target="/ppt/notesMasters/notesMaster1.xml" Id="Rbd09401a41d24a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3b800d4dc04d7c" /><Relationship Type="http://schemas.openxmlformats.org/officeDocument/2006/relationships/notesMaster" Target="/ppt/notesMasters/notesMaster1.xml" Id="R850eda90437741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72ecd5004142c9" /><Relationship Type="http://schemas.openxmlformats.org/officeDocument/2006/relationships/notesMaster" Target="/ppt/notesMasters/notesMaster1.xml" Id="Re450c12490dc45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55f1378a2d4ee4" /><Relationship Type="http://schemas.openxmlformats.org/officeDocument/2006/relationships/notesMaster" Target="/ppt/notesMasters/notesMaster1.xml" Id="R71bce20daf844a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4815bcd45245a2" /><Relationship Type="http://schemas.openxmlformats.org/officeDocument/2006/relationships/notesMaster" Target="/ppt/notesMasters/notesMaster1.xml" Id="R377cdfd4b03749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8fe80ff81e499f" /><Relationship Type="http://schemas.openxmlformats.org/officeDocument/2006/relationships/notesMaster" Target="/ppt/notesMasters/notesMaster1.xml" Id="R2769db8efd0241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1663f701c446cb" /><Relationship Type="http://schemas.openxmlformats.org/officeDocument/2006/relationships/notesMaster" Target="/ppt/notesMasters/notesMaster1.xml" Id="R081542cefd9849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6d784a29854ca5" /><Relationship Type="http://schemas.openxmlformats.org/officeDocument/2006/relationships/notesMaster" Target="/ppt/notesMasters/notesMaster1.xml" Id="Rbce6e732d1154a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61be6405dc42af" /><Relationship Type="http://schemas.openxmlformats.org/officeDocument/2006/relationships/notesMaster" Target="/ppt/notesMasters/notesMaster1.xml" Id="Rdc5996ec23af48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512ba604384b60" /><Relationship Type="http://schemas.openxmlformats.org/officeDocument/2006/relationships/notesMaster" Target="/ppt/notesMasters/notesMaster1.xml" Id="R45192320b1e748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a7dd5c493b4138" /><Relationship Type="http://schemas.openxmlformats.org/officeDocument/2006/relationships/notesMaster" Target="/ppt/notesMasters/notesMaster1.xml" Id="R4a2d083e875d43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975f30f9ac14173" /><Relationship Type="http://schemas.openxmlformats.org/officeDocument/2006/relationships/notesMaster" Target="/ppt/notesMasters/notesMaster1.xml" Id="R3cb31b25e65f4f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a4f50505c44d08" /><Relationship Type="http://schemas.openxmlformats.org/officeDocument/2006/relationships/notesMaster" Target="/ppt/notesMasters/notesMaster1.xml" Id="Rb0a5f456d80d42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44b6a09a1f4660" /><Relationship Type="http://schemas.openxmlformats.org/officeDocument/2006/relationships/notesMaster" Target="/ppt/notesMasters/notesMaster1.xml" Id="Ra18565ef43b040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This companion deck begins after Madhyasth Darshan has been stated on its own terms. Its task is comparative: Advaita Vedanta, contemporary metaphysical families, and empirical science are placed beside MD without treating them as one opposing camp. The aim is rigorous understanding rather than persuasion. Common criteria reveal both agreements and differences. Four questions remain for MD: identifying jeevan, explaining persistence, relating kinds of evidence, and grounding obligation.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Method controls the whole deck. The comparison does not begin by asking which pair forms an alliance. It first distinguishes kinds of answer and then applies ten common criteria. Madhyasth Darshan uses study, experiment and practice, realisation, and conduct-evidence. Advaita uses shabda, reasoning, and contemplative discrimination. Philosophy uses conceptual and phenomenological argument. Science uses observation, instrumentation, modelling, intervention, replication, and public criticism. These standards differ, but structured comparison remains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Present Advaita without the shortcut that the world is simply unreal. At vyavahara it is the shared arena of bodies, duties, scripture, reasoning, and liberation. Mithya means dependent and sublatable, not sheer nothing. The decisive comparison with MD concerns final ontological weight: Advaita denies independent being to name-form at paramartha, whereas MD retains real units, relationships, and the world at the highest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Advaita’s causal account differs from Samkhya’s doctrine of real transformation. The clay teaching establishes effect–cause non-difference: the effect has no being apart from its cause. Later Advaita uses vivarta for apparent name-form without alteration of Brahman. Maya and adhyasa explain dependence and mistaken identification; witness inquiry discloses the Self as Brahman. Ethics is not merely discarded after knowledge: disciplined action and loka-sangraha remain meaningful in embodied life, although agency is not ultimate.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Physicalism is not a single doctrine and is not identical with empirical science. Physicalist versions of functionalism require mental roles to be physically realised; functionalism by itself does not entail that premise. Weak emergence preserves dependence on lower-level physics, while strong emergence proposes irreducible causal powers. Illusionism challenges the phenomenal properties attributed to experience while retaining access and report. Eliminative materialism makes a different claim about folk-psychological categories such as belief and desire. Causal closure creates a serious challenge for jeevan–body operation. The hard problem creates a counter-pressure but does not select which non-reductive ontology is correct.</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study §§3.1–3.4, including Kim 2005, Frankish 2016 and Churchland 1986.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Aquinas explains a living human as one substance whose rational soul is its form; MD describes joint living of a pranic body and a constitutionally complete jeevan. Aquinas allows the soul to subsist after death, while distinguishing it from a complete human person. Leibniz offers an analogy of plurality and persistence, but his monads are partless and windowless; jeevan has a nucleus and orbital constitution. Perception belongs to monads generally, whereas MD restricts sentience to jeevan. Panpsychism can overlap with physicalism, as in Strawson’s account; neutral monism instead derives mental and physical descriptions from common constituents. Neither is equivalent to MD’s actionless satta and distinct sentient units. These comparisons concern specified axes.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Aquinas, Summa Theologiae I q.75–76; Leibniz, Monadology §§1–3, 6–7, 14, 18–19, 78–81; Strawson 2006; study §§3.3, 3.6.1–3.6.3, 3.6.5.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Predictive processing and self-model theory explain aspects of embodied regulation and first-person organisation. Competing consciousness programmes propose testable mechanisms, but no consensus identifies a complete theory of consciousness. The cited United States consensus guideline treats brain death as death of the person, assessed through permanent loss of brain function as a whole and specified clinical criteria. This does not independently settle whether a non-physical subject survives; accepted measurement has not established such continuity. MD therefore faces a demand for discriminating evidence, while science should not be made to assert more than its methods establish.</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AAN/AAP/CNS/SCCM 2023; study §§4.5–4.6.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Cosmology and conservation discipline the discussion but do not confirm MD. A finite reconstructed cosmic history does not settle whether existence as a whole began. In QFT, particle–antiparticle annihilation and pair creation change field states; particle number need not be conserved. Conservation concerns the quantities and conditions specified by a physical theory, not perpetual MD units or personal survival. MD’s niyati-kram names an ordered relation among natural orders; evolutionary biology explains branching histories within living populations. A precise mapping and possible discriminating tests are still needed.</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study §§4.2–4.4, 6.2.3.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ten criteria are: ontological primitives; one–many structure and individuation; dependence between ground and particulars; world status and persistence; causation and transformation; consciousness, selfhood, and survival; time and cosmic history; method and evidence; value, ethics, and telos; and exposure to empirical or experiential correction. Pairwise agreements remain useful only when the specific criterion is named.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table distinguishes empirical bodily death from ultimate individuality. MD holds jeevan to remain permanently distinct. Advaita accepts the empirical jiva’s continuity through rebirth until liberation; ultimately the Self is Brahman and was never separate. Bodily death does not itself produce liberating knowledge. Contemporary metaphysics offers several accounts of the bearer and its continuity. Scientific measures of organismal and cognitive continuity constrain these accounts without automatically settling their full metaphysical claims.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Bhagavad Gita 2.22 with Shankara; Brahma Sutra Bhashya 4.1.15; study §§2.6, 2.9, 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Causal language must remain precise. MD’s satta is mahakaran in the sustaining sense, not an efficient maker; units really transform. Advaita teaches effect–cause non-difference and later vivarta at vyavahara, while causal plurality is not final at paramartha. Physical explanation uses several formal and historical resources rather than one universal efficient-cause doctrine. Conservation cannot be converted into direct confirmation of either Advaita or MD. Physicalism alone does not determine an ethical theory; moral realism, constructivism, contractualism and other approaches require additional premises.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study §§3.5, 5.2–5.3.6.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methods are neither interchangeable nor beyond comparison. MD’s conduct-evidence is a substantial practical standard: understanding should become visible as resolution, justice, mutual fulfilment, and participation in orderliness. Advaita claims a distinct role for Upanishadic shabda supported by reasoning and contemplation. Philosophy tests coherence and explanatory adequacy. Science tests public operational consequences. Keeping these warrants distinct prevents success at one level from being misreported as success at every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Shared vocabulary can obscure the central difference. Advaita’s Sat, Chit, and Ananda are not separable components but descriptions of one partless Brahman. MD distributes the relevant functions: beingness is coexistence, Omnipresence is the ground of intelligibility, and active knowing belongs to jeevan. In MD’s faculty sequence, bliss is harmony between buddhi and atma and belongs to buddhi; ultimate bliss is realisation at atma. Awakened understanding is evidenced in conduct. These distinctions prevent a direct identity between MD’s bliss and Advaita’s partless fullness. The limited agreement concerns resistance to reducing the first person to an observed brain-state.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TU 2.1.1, 2.7; JV PDF p.138; MVD pp.100–101; study §§1.9, 1.14,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Brahman and satta can be compared as formless and non-transforming only if their different relation to plurality is kept explicit. Atman is not equivalent to MD’s atma: Advaita’s Self is Brahman, while MD’s atma is a faculty within a distinct jeevan. Jiva and deluded jeevan share a practical problem of ignorance, but liberation has different implications for individuality. Advaita sublates the belief in independently real individuality: ultimately the Self is Brahman, rather than a distinct individual knower. This is removal of ignorance, not the causal destruction of a previously independent self. MD’s awakening preserves permanently distinct jeevan. Maya, adhyasa, mithya and governing Ishvara therefore cannot be transferred into MD as equivalent categories.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study §§2.9,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Four questions organise the further work. First, the primary account locates sentience in constitutional completeness, but independent identification in contemporary physical terms remains open. Its atomic, imaging and five-force claims also require a justified choice between literal and analogical readings. Second, MD grounds persistence in a constitution that no longer gains or loses particles, rather than generic physical conservation. What individuates this jeevan, and how do sanskar, memory, joint bodily operation and reassociation bear on its continuity? Third, conduct-evidence must be distinguished from physical measurement; niyati-kram and evolutionary history need explicit comparison. Fourth, MD connects obligation to happiness as human dharma, essentiality as value, and definite expectations within relationships. These premises need justification: coexistence alone does not establish what a person ought to do.</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MVD pp.91, 115; SB pp.55, 59, 84–85, 114, 251–252; JV PDF pp.20, 55; study §§1.7.1, 1.9, 6.2.1–6.2.4.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Advaita’s strengths include its answer to non-being, first-person disciplines, and parsimony. From MD’s standpoint its cost is the final subordination of world-plurality and separate individuality, but Advaita has a coherent answer through its standpoint structure. Physicalist theories gain precision and continuity with public science while facing the hard problem and internal disagreement. Empirical science supplies indispensable correction and mechanism without itself becoming a complete ontology. Contemporary philosophy adds further pressures from animalism, panpsychist combination, hylomorphism, and processual 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MD’s internal strength is integrative: coexistence, real units, beginninglessness, self, value, relationship, and humane conduct form one picture. Internal coherence does not establish these claims against rivals. Constitutional completeness is a specific primary-text proposal, but it lacks a public identifier. Persistence is grounded in that completeness within MD, yet reassociation and joint operation remain unconfirmed. Niyati-kram and evolution should be compared through explicit levels and possible discriminating consequences. The normative account also needs justification for the premises connecting happiness, essentiality, relationship expectations and obligation; coexistence alone cannot supply that inference.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study §§6.1–6.2.4.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MD keeps Omnipresence and real units co-eternal, locates change in units, preserves distinct jeevan, and gives final weight to relationships, values, and nature. Agreements concern particular questions: scientific realism also affirms mind-independent nature, while Advaita and several non-reductive philosophies resist reducing experience to a physical description. They disagree about the number, constitution and persistence of its bearers. Four questions remain: public identification of constitutional completeness; individuation, persistence and joint operation with a body; the relation between conduct-evidence, scientific measurement and evolutionary history; and the premises connecting coexistence to obligation.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 study §§6.2.1–6.2.4,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0b8c9df4704407"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8b25ca72c14bef" /><Relationship Type="http://schemas.openxmlformats.org/officeDocument/2006/relationships/slideLayout" Target="/ppt/slideLayouts/slideLayout1.xml" Id="R4af9946c4e20445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af9946c4e20445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133fed8d494d35" /><Relationship Type="http://schemas.openxmlformats.org/officeDocument/2006/relationships/notesSlide" Target="/ppt/notesSlides/notesSlide1.xml" Id="R32a6fe1bcdaa4d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e754185e7d439e" /><Relationship Type="http://schemas.openxmlformats.org/officeDocument/2006/relationships/notesSlide" Target="/ppt/notesSlides/notesSlide2.xml" Id="Ra6c000a553594f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083cfe916d4d07" /><Relationship Type="http://schemas.openxmlformats.org/officeDocument/2006/relationships/notesSlide" Target="/ppt/notesSlides/notesSlide3.xml" Id="R27f88d5ac0284a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6aa4ec2da34791" /><Relationship Type="http://schemas.openxmlformats.org/officeDocument/2006/relationships/notesSlide" Target="/ppt/notesSlides/notesSlide4.xml" Id="Rd8677a236a2647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fc2539f1894fdf" /><Relationship Type="http://schemas.openxmlformats.org/officeDocument/2006/relationships/notesSlide" Target="/ppt/notesSlides/notesSlide5.xml" Id="R56af43a641714d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b0c2db14e34ed0" /><Relationship Type="http://schemas.openxmlformats.org/officeDocument/2006/relationships/notesSlide" Target="/ppt/notesSlides/notesSlide6.xml" Id="R8b4155bc3b4c4a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7309ef045d4240" /><Relationship Type="http://schemas.openxmlformats.org/officeDocument/2006/relationships/notesSlide" Target="/ppt/notesSlides/notesSlide7.xml" Id="Re4422b8241204d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51114a12604430" /><Relationship Type="http://schemas.openxmlformats.org/officeDocument/2006/relationships/notesSlide" Target="/ppt/notesSlides/notesSlide8.xml" Id="Rd4f8407af64e46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260d6b294f4478" /><Relationship Type="http://schemas.openxmlformats.org/officeDocument/2006/relationships/notesSlide" Target="/ppt/notesSlides/notesSlide9.xml" Id="R41e6767a2fb547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49440d1e694309" /><Relationship Type="http://schemas.openxmlformats.org/officeDocument/2006/relationships/notesSlide" Target="/ppt/notesSlides/notesSlide10.xml" Id="R5b529af2aa1144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b88d44f6a64371" /><Relationship Type="http://schemas.openxmlformats.org/officeDocument/2006/relationships/notesSlide" Target="/ppt/notesSlides/notesSlide11.xml" Id="Rb24f4a8b75a748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da32ed48884836" /><Relationship Type="http://schemas.openxmlformats.org/officeDocument/2006/relationships/notesSlide" Target="/ppt/notesSlides/notesSlide12.xml" Id="R07f5a14349bc4e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3caf0ee606e48b0" /><Relationship Type="http://schemas.openxmlformats.org/officeDocument/2006/relationships/notesSlide" Target="/ppt/notesSlides/notesSlide13.xml" Id="Rca50752f364a4d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970e94098774d6f" /><Relationship Type="http://schemas.openxmlformats.org/officeDocument/2006/relationships/notesSlide" Target="/ppt/notesSlides/notesSlide14.xml" Id="Rdebfb3c2531f40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9fabdf80cf49c7" /><Relationship Type="http://schemas.openxmlformats.org/officeDocument/2006/relationships/notesSlide" Target="/ppt/notesSlides/notesSlide15.xml" Id="Ra2b42d0adcd940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8cb1d9ef16048da" /><Relationship Type="http://schemas.openxmlformats.org/officeDocument/2006/relationships/notesSlide" Target="/ppt/notesSlides/notesSlide16.xml" Id="R9632a8106eb447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4b36755b2bc4461" /><Relationship Type="http://schemas.openxmlformats.org/officeDocument/2006/relationships/notesSlide" Target="/ppt/notesSlides/notesSlide17.xml" Id="R2c90074cf47c4c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dae0948737c429a" /><Relationship Type="http://schemas.openxmlformats.org/officeDocument/2006/relationships/notesSlide" Target="/ppt/notesSlides/notesSlide18.xml" Id="Rf0bcdae588064ad1" /></Relationships>
</file>

<file path=ppt/slides/slide1.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972CBC78-3C9D-4E44-9F6F-31D7F4AD8461}"/>
              </a:ext>
            </a:extLst>
          </p:cNvPr>
          <p:cNvSpPr>
            <a:spLocks xmlns:a="http://schemas.openxmlformats.org/drawingml/2006/main" noGrp="1"/>
          </p:cNvSpPr>
          <p:nvPr/>
        </p:nvSpPr>
        <p:spPr>
          <a:xfrm xmlns:a="http://schemas.openxmlformats.org/drawingml/2006/main">
            <a:off x="6126480" y="914400"/>
            <a:ext cx="2286000" cy="228600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6BE7B54B-4E94-470B-8242-2CAD2407BE86}"/>
              </a:ext>
            </a:extLst>
          </p:cNvPr>
          <p:cNvSpPr>
            <a:spLocks xmlns:a="http://schemas.openxmlformats.org/drawingml/2006/main" noGrp="1"/>
          </p:cNvSpPr>
          <p:nvPr/>
        </p:nvSpPr>
        <p:spPr>
          <a:xfrm xmlns:a="http://schemas.openxmlformats.org/drawingml/2006/main">
            <a:off x="6583680" y="1371600"/>
            <a:ext cx="1371600" cy="137160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779673F3-6F52-41F5-BFE1-0AD60488970A}"/>
              </a:ext>
            </a:extLst>
          </p:cNvPr>
          <p:cNvSpPr>
            <a:spLocks xmlns:a="http://schemas.openxmlformats.org/drawingml/2006/main" noGrp="1"/>
          </p:cNvSpPr>
          <p:nvPr/>
        </p:nvSpPr>
        <p:spPr>
          <a:xfrm xmlns:a="http://schemas.openxmlformats.org/drawingml/2006/main">
            <a:off x="6972300" y="1760220"/>
            <a:ext cx="594360" cy="594360"/>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 name="Google Shape;19;p3">
            <a:extLst xmlns:a="http://schemas.openxmlformats.org/drawingml/2006/main">
              <a:ext uri="{FF2B5EF4-FFF2-40B4-BE49-F238E27FC236}">
                <a16:creationId xmlns:a16="http://schemas.microsoft.com/office/drawing/2014/main" id="{559B206A-EB3C-4818-BE74-F018F0B6FE12}"/>
              </a:ext>
            </a:extLst>
          </p:cNvPr>
          <p:cNvSpPr>
            <a:spLocks xmlns:a="http://schemas.openxmlformats.org/drawingml/2006/main" noGrp="1"/>
          </p:cNvSpPr>
          <p:nvPr/>
        </p:nvSpPr>
        <p:spPr>
          <a:xfrm xmlns:a="http://schemas.openxmlformats.org/drawingml/2006/main">
            <a:off x="5623560" y="3429000"/>
            <a:ext cx="914400" cy="91440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 name="Google Shape;20;p3">
            <a:extLst xmlns:a="http://schemas.openxmlformats.org/drawingml/2006/main">
              <a:ext uri="{FF2B5EF4-FFF2-40B4-BE49-F238E27FC236}">
                <a16:creationId xmlns:a16="http://schemas.microsoft.com/office/drawing/2014/main" id="{C3D3C4F2-844F-4940-BB27-536FA64BE71A}"/>
              </a:ext>
            </a:extLst>
          </p:cNvPr>
          <p:cNvSpPr>
            <a:spLocks xmlns:a="http://schemas.openxmlformats.org/drawingml/2006/main" noGrp="1"/>
          </p:cNvSpPr>
          <p:nvPr/>
        </p:nvSpPr>
        <p:spPr>
          <a:xfrm xmlns:a="http://schemas.openxmlformats.org/drawingml/2006/main">
            <a:off x="5806440" y="3611880"/>
            <a:ext cx="548640" cy="5486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F2A6A5AD-B9CA-4DEB-B03C-B5D1EA44C804}"/>
              </a:ext>
            </a:extLst>
          </p:cNvPr>
          <p:cNvSpPr>
            <a:spLocks xmlns:a="http://schemas.openxmlformats.org/drawingml/2006/main" noGrp="1"/>
          </p:cNvSpPr>
          <p:nvPr/>
        </p:nvSpPr>
        <p:spPr>
          <a:xfrm xmlns:a="http://schemas.openxmlformats.org/drawingml/2006/main">
            <a:off x="5961888" y="3767328"/>
            <a:ext cx="237744" cy="237744"/>
          </a:xfrm>
          <a:prstGeom xmlns:a="http://schemas.openxmlformats.org/drawingml/2006/main" prst="ellipse">
            <a:avLst/>
          </a:prstGeom>
          <a:solidFill xmlns:a="http://schemas.openxmlformats.org/drawingml/2006/main">
            <a:srgbClr val="6D2E46"/>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 name="Google Shape;22;p3">
            <a:extLst xmlns:a="http://schemas.openxmlformats.org/drawingml/2006/main">
              <a:ext uri="{FF2B5EF4-FFF2-40B4-BE49-F238E27FC236}">
                <a16:creationId xmlns:a16="http://schemas.microsoft.com/office/drawing/2014/main" id="{F2575DC7-36C9-4984-8541-6DA4BE1E3225}"/>
              </a:ext>
            </a:extLst>
          </p:cNvPr>
          <p:cNvSpPr>
            <a:spLocks xmlns:a="http://schemas.openxmlformats.org/drawingml/2006/main" noGrp="1"/>
          </p:cNvSpPr>
          <p:nvPr/>
        </p:nvSpPr>
        <p:spPr>
          <a:xfrm xmlns:a="http://schemas.openxmlformats.org/drawingml/2006/main">
            <a:off x="8092440" y="3703320"/>
            <a:ext cx="777240" cy="7772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 name="Google Shape;23;p3">
            <a:extLst xmlns:a="http://schemas.openxmlformats.org/drawingml/2006/main">
              <a:ext uri="{FF2B5EF4-FFF2-40B4-BE49-F238E27FC236}">
                <a16:creationId xmlns:a16="http://schemas.microsoft.com/office/drawing/2014/main" id="{C4FE0CF1-6DB3-4F76-B6F7-DCC991F935E5}"/>
              </a:ext>
            </a:extLst>
          </p:cNvPr>
          <p:cNvSpPr>
            <a:spLocks xmlns:a="http://schemas.openxmlformats.org/drawingml/2006/main" noGrp="1"/>
          </p:cNvSpPr>
          <p:nvPr/>
        </p:nvSpPr>
        <p:spPr>
          <a:xfrm xmlns:a="http://schemas.openxmlformats.org/drawingml/2006/main">
            <a:off x="8247888" y="3858768"/>
            <a:ext cx="466344" cy="46634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 name="Google Shape;24;p3">
            <a:extLst xmlns:a="http://schemas.openxmlformats.org/drawingml/2006/main">
              <a:ext uri="{FF2B5EF4-FFF2-40B4-BE49-F238E27FC236}">
                <a16:creationId xmlns:a16="http://schemas.microsoft.com/office/drawing/2014/main" id="{D2405A84-16E3-4F37-AA51-40E54A6ED9A9}"/>
              </a:ext>
            </a:extLst>
          </p:cNvPr>
          <p:cNvSpPr>
            <a:spLocks xmlns:a="http://schemas.openxmlformats.org/drawingml/2006/main" noGrp="1"/>
          </p:cNvSpPr>
          <p:nvPr/>
        </p:nvSpPr>
        <p:spPr>
          <a:xfrm xmlns:a="http://schemas.openxmlformats.org/drawingml/2006/main">
            <a:off x="8380019" y="3990899"/>
            <a:ext cx="202082" cy="202082"/>
          </a:xfrm>
          <a:prstGeom xmlns:a="http://schemas.openxmlformats.org/drawingml/2006/main" prst="ellipse">
            <a:avLst/>
          </a:prstGeom>
          <a:solidFill xmlns:a="http://schemas.openxmlformats.org/drawingml/2006/main">
            <a:srgbClr val="31606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 name="Google Shape;25;p3">
            <a:extLst xmlns:a="http://schemas.openxmlformats.org/drawingml/2006/main">
              <a:ext uri="{FF2B5EF4-FFF2-40B4-BE49-F238E27FC236}">
                <a16:creationId xmlns:a16="http://schemas.microsoft.com/office/drawing/2014/main" id="{0F53CE42-21E9-4688-9E94-B10B3F44996B}"/>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C9821E"/>
              </a:buClr>
              <a:buSzPts val="1200"/>
              <a:buFont typeface="Calibri"/>
              <a:buNone/>
            </a:pPr>
            <a:r>
              <a:rPr sz="1200" b="1" i="0" u="none" cap="none">
                <a:solidFill>
                  <a:srgbClr val="C9821E"/>
                </a:solidFill>
                <a:latin typeface="Calibri"/>
                <a:ea typeface="Calibri"/>
                <a:cs typeface="Calibri"/>
              </a:rPr>
              <a:t>MADHYASTH DARSHAN IN DIALOGUE  ·  §§2–7</a:t>
            </a:r>
          </a:p>
        </p:txBody>
      </p:sp>
      <p:sp>
        <p:nvSpPr>
          <p:cNvPr id="26" name="Google Shape;26;p3">
            <a:extLst xmlns:a="http://schemas.openxmlformats.org/drawingml/2006/main">
              <a:ext uri="{FF2B5EF4-FFF2-40B4-BE49-F238E27FC236}">
                <a16:creationId xmlns:a16="http://schemas.microsoft.com/office/drawing/2014/main" id="{370B1332-BC45-449D-B468-B5A2194E1DC7}"/>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4200"/>
              <a:buFont typeface="Cambria"/>
              <a:buNone/>
            </a:pPr>
            <a:r>
              <a:rPr sz="4200" b="1" i="0" u="none" cap="none">
                <a:solidFill>
                  <a:srgbClr val="FFFFFF"/>
                </a:solidFill>
                <a:latin typeface="Cambria"/>
                <a:ea typeface="Cambria"/>
                <a:cs typeface="Cambria"/>
              </a:rPr>
              <a:t>Coexistence in Comparison</a:t>
            </a:r>
          </a:p>
        </p:txBody>
      </p:sp>
      <p:sp>
        <p:nvSpPr>
          <p:cNvPr id="27" name="Google Shape;27;p3">
            <a:extLst xmlns:a="http://schemas.openxmlformats.org/drawingml/2006/main">
              <a:ext uri="{FF2B5EF4-FFF2-40B4-BE49-F238E27FC236}">
                <a16:creationId xmlns:a16="http://schemas.microsoft.com/office/drawing/2014/main" id="{AD497982-B133-45E1-914D-EF547F8932E5}"/>
              </a:ext>
            </a:extLst>
          </p:cNvPr>
          <p:cNvSpPr>
            <a:spLocks xmlns:a="http://schemas.openxmlformats.org/drawingml/2006/main" noGrp="1"/>
          </p:cNvSpPr>
          <p:nvPr/>
        </p:nvSpPr>
        <p:spPr>
          <a:xfrm xmlns:a="http://schemas.openxmlformats.org/drawingml/2006/main">
            <a:off x="640080" y="3063240"/>
            <a:ext cx="51206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C9D4EF"/>
              </a:buClr>
              <a:buSzPts val="1600"/>
              <a:buFont typeface="Calibri"/>
              <a:buNone/>
            </a:pPr>
            <a:r>
              <a:rPr sz="1600" b="0" i="1" u="none" cap="none">
                <a:solidFill>
                  <a:srgbClr val="C9D4EF"/>
                </a:solidFill>
                <a:latin typeface="Calibri"/>
                <a:ea typeface="Calibri"/>
                <a:cs typeface="Calibri"/>
              </a:rPr>
              <a:t>Advaita Vedanta  ·  Contemporary Philosophy  ·  Empirical Science</a:t>
            </a:r>
          </a:p>
        </p:txBody>
      </p:sp>
      <p:sp>
        <p:nvSpPr>
          <p:cNvPr id="28" name="Google Shape;28;p3">
            <a:extLst xmlns:a="http://schemas.openxmlformats.org/drawingml/2006/main">
              <a:ext uri="{FF2B5EF4-FFF2-40B4-BE49-F238E27FC236}">
                <a16:creationId xmlns:a16="http://schemas.microsoft.com/office/drawing/2014/main" id="{A0FB1C01-3273-4BCD-8ADF-FD9ECDAEFE22}"/>
              </a:ext>
            </a:extLst>
          </p:cNvPr>
          <p:cNvSpPr>
            <a:spLocks xmlns:a="http://schemas.openxmlformats.org/drawingml/2006/main" noGrp="1"/>
          </p:cNvSpPr>
          <p:nvPr/>
        </p:nvSpPr>
        <p:spPr>
          <a:xfrm xmlns:a="http://schemas.openxmlformats.org/drawingml/2006/main">
            <a:off x="640080" y="416052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8E9BC4"/>
              </a:buClr>
              <a:buSzPts val="1150"/>
              <a:buFont typeface="Calibri"/>
              <a:buNone/>
            </a:pPr>
            <a:r>
              <a:rPr sz="1150" b="0" i="0" u="none" cap="none">
                <a:solidFill>
                  <a:srgbClr val="8E9BC4"/>
                </a:solidFill>
                <a:latin typeface="Calibri"/>
                <a:ea typeface="Calibri"/>
                <a:cs typeface="Calibri"/>
              </a:rPr>
              <a:t>A criterion-by-criterion comparison of ontology, evidence, value, and open questions</a:t>
            </a:r>
          </a:p>
        </p:txBody>
      </p:sp>
      <p:sp>
        <p:nvSpPr>
          <p:cNvPr id="29" name="Google Shape;29;p3">
            <a:extLst xmlns:a="http://schemas.openxmlformats.org/drawingml/2006/main">
              <a:ext uri="{FF2B5EF4-FFF2-40B4-BE49-F238E27FC236}">
                <a16:creationId xmlns:a16="http://schemas.microsoft.com/office/drawing/2014/main" id="{8C1967C7-754B-421D-9C5B-72658542A9ED}"/>
              </a:ext>
            </a:extLst>
          </p:cNvPr>
          <p:cNvSpPr>
            <a:spLocks xmlns:a="http://schemas.openxmlformats.org/drawingml/2006/main" noGrp="1"/>
          </p:cNvSpPr>
          <p:nvPr/>
        </p:nvSpPr>
        <p:spPr>
          <a:xfrm xmlns:a="http://schemas.openxmlformats.org/drawingml/2006/main">
            <a:off x="640080" y="44348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8E9BC4"/>
              </a:buClr>
              <a:buSzPts val="1150"/>
              <a:buFont typeface="Calibri"/>
              <a:buNone/>
            </a:pPr>
            <a:r>
              <a:rPr sz="1150" b="0" i="0" u="none" cap="none">
                <a:solidFill>
                  <a:srgbClr val="8E9BC4"/>
                </a:solidFill>
                <a:latin typeface="Calibri"/>
                <a:ea typeface="Calibri"/>
                <a:cs typeface="Calibri"/>
              </a:rPr>
              <a:t>Companion to The Ontology of Coexistence  ·  </a:t>
            </a:r>
            <a:r>
              <a:rPr sz="1150" b="0" i="0" u="none" cap="none">
                <a:solidFill>
                  <a:srgbClr val="8E9BC4"/>
                </a:solidFill>
                <a:latin typeface="Calibri"/>
                <a:ea typeface="Calibri"/>
                <a:cs typeface="Calibri"/>
              </a:rPr>
              <a:t>revised September 2026</a:t>
            </a:r>
          </a:p>
        </p:txBody>
      </p:sp>
    </p:spTree>
    <p:extLst>
      <p:ext uri="{BB962C8B-B14F-4D97-AF65-F5344CB8AC3E}">
        <p14:creationId xmlns:p14="http://schemas.microsoft.com/office/powerpoint/2010/main" val="18312626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DCD07A57-BEF2-4102-AEBE-0E0E80F92C5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 name="Google Shape;36;p4">
            <a:extLst xmlns:a="http://schemas.openxmlformats.org/drawingml/2006/main">
              <a:ext uri="{FF2B5EF4-FFF2-40B4-BE49-F238E27FC236}">
                <a16:creationId xmlns:a16="http://schemas.microsoft.com/office/drawing/2014/main" id="{906A4E0C-240D-4EB5-A26C-206136ED65D6}"/>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 name="Google Shape;37;p4">
            <a:extLst xmlns:a="http://schemas.openxmlformats.org/drawingml/2006/main">
              <a:ext uri="{FF2B5EF4-FFF2-40B4-BE49-F238E27FC236}">
                <a16:creationId xmlns:a16="http://schemas.microsoft.com/office/drawing/2014/main" id="{BC066C91-38EC-4D55-BD2C-4CDBE76ACD2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C3EFF230-FAA3-4139-84BD-D93D808805D2}"/>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METHOD  ·  §§5.1, 5.3.5</a:t>
            </a:r>
          </a:p>
        </p:txBody>
      </p:sp>
      <p:sp>
        <p:nvSpPr>
          <p:cNvPr id="39" name="Google Shape;39;p4">
            <a:extLst xmlns:a="http://schemas.openxmlformats.org/drawingml/2006/main">
              <a:ext uri="{FF2B5EF4-FFF2-40B4-BE49-F238E27FC236}">
                <a16:creationId xmlns:a16="http://schemas.microsoft.com/office/drawing/2014/main" id="{1C18F4F9-F648-4088-8440-AAE26AE2D77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Compare answers at the same level</a:t>
            </a:r>
          </a:p>
        </p:txBody>
      </p:sp>
      <p:sp>
        <p:nvSpPr>
          <p:cNvPr id="40" name="Google Shape;40;p4">
            <a:extLst xmlns:a="http://schemas.openxmlformats.org/drawingml/2006/main">
              <a:ext uri="{FF2B5EF4-FFF2-40B4-BE49-F238E27FC236}">
                <a16:creationId xmlns:a16="http://schemas.microsoft.com/office/drawing/2014/main" id="{FC987DEB-04F6-40D1-A9FD-20FFC7A463F3}"/>
              </a:ext>
            </a:extLst>
          </p:cNvPr>
          <p:cNvSpPr>
            <a:spLocks xmlns:a="http://schemas.openxmlformats.org/drawingml/2006/main" noGrp="1"/>
          </p:cNvSpPr>
          <p:nvPr/>
        </p:nvSpPr>
        <p:spPr>
          <a:xfrm xmlns:a="http://schemas.openxmlformats.org/drawingml/2006/main">
            <a:off x="640080" y="1280160"/>
            <a:ext cx="795528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250"/>
              <a:buFont typeface="Calibri"/>
              <a:buNone/>
            </a:pPr>
            <a:r>
              <a:rPr sz="1250" b="1" i="0" u="none" cap="none">
                <a:solidFill>
                  <a:srgbClr val="1E2447"/>
                </a:solidFill>
                <a:latin typeface="Calibri"/>
                <a:ea typeface="Calibri"/>
                <a:cs typeface="Calibri"/>
              </a:rPr>
              <a:t>Each view is first stated in its own vocabulary. Darshanas join ontology, knowledge, liberation, and conduct; philosophical theories isolate particular problems; science supplies empirically constrained models that admit more than one metaphysical interpretation.</a:t>
            </a:r>
          </a:p>
        </p:txBody>
      </p:sp>
      <p:sp>
        <p:nvSpPr>
          <p:cNvPr id="41" name="Google Shape;41;p4">
            <a:extLst xmlns:a="http://schemas.openxmlformats.org/drawingml/2006/main">
              <a:ext uri="{FF2B5EF4-FFF2-40B4-BE49-F238E27FC236}">
                <a16:creationId xmlns:a16="http://schemas.microsoft.com/office/drawing/2014/main" id="{4C988050-D4A5-41F7-A471-55B0F725EEF9}"/>
              </a:ext>
            </a:extLst>
          </p:cNvPr>
          <p:cNvSpPr>
            <a:spLocks xmlns:a="http://schemas.openxmlformats.org/drawingml/2006/main" noGrp="1"/>
          </p:cNvSpPr>
          <p:nvPr/>
        </p:nvSpPr>
        <p:spPr>
          <a:xfrm xmlns:a="http://schemas.openxmlformats.org/drawingml/2006/main">
            <a:off x="640080" y="2286000"/>
            <a:ext cx="2615184" cy="1234440"/>
          </a:xfrm>
          <a:prstGeom xmlns:a="http://schemas.openxmlformats.org/drawingml/2006/main" prst="roundRect">
            <a:avLst>
              <a:gd name="adj" fmla="val 740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 name="Google Shape;42;p4">
            <a:extLst xmlns:a="http://schemas.openxmlformats.org/drawingml/2006/main">
              <a:ext uri="{FF2B5EF4-FFF2-40B4-BE49-F238E27FC236}">
                <a16:creationId xmlns:a16="http://schemas.microsoft.com/office/drawing/2014/main" id="{25F64A6B-BFD6-4C38-8AB1-C301E752AEDC}"/>
              </a:ext>
            </a:extLst>
          </p:cNvPr>
          <p:cNvSpPr>
            <a:spLocks xmlns:a="http://schemas.openxmlformats.org/drawingml/2006/main" noGrp="1"/>
          </p:cNvSpPr>
          <p:nvPr/>
        </p:nvSpPr>
        <p:spPr>
          <a:xfrm xmlns:a="http://schemas.openxmlformats.org/drawingml/2006/main">
            <a:off x="841248" y="2423160"/>
            <a:ext cx="2240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Own terms first</a:t>
            </a:r>
          </a:p>
        </p:txBody>
      </p:sp>
      <p:sp>
        <p:nvSpPr>
          <p:cNvPr id="43" name="Google Shape;43;p4">
            <a:extLst xmlns:a="http://schemas.openxmlformats.org/drawingml/2006/main">
              <a:ext uri="{FF2B5EF4-FFF2-40B4-BE49-F238E27FC236}">
                <a16:creationId xmlns:a16="http://schemas.microsoft.com/office/drawing/2014/main" id="{8B319A5B-B4DB-4249-9108-CE733EB746DB}"/>
              </a:ext>
            </a:extLst>
          </p:cNvPr>
          <p:cNvSpPr>
            <a:spLocks xmlns:a="http://schemas.openxmlformats.org/drawingml/2006/main" noGrp="1"/>
          </p:cNvSpPr>
          <p:nvPr/>
        </p:nvSpPr>
        <p:spPr>
          <a:xfrm xmlns:a="http://schemas.openxmlformats.org/drawingml/2006/main">
            <a:off x="841248" y="2724912"/>
            <a:ext cx="2240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50"/>
              <a:buFont typeface="Calibri"/>
              <a:buNone/>
            </a:pPr>
            <a:r>
              <a:rPr sz="1050" b="0" i="0" u="none" cap="none">
                <a:solidFill>
                  <a:srgbClr val="5A6377"/>
                </a:solidFill>
                <a:latin typeface="Calibri"/>
                <a:ea typeface="Calibri"/>
                <a:cs typeface="Calibri"/>
              </a:rPr>
              <a:t>Do not force a darshana, a metaphysical theory, and an empirical model into the same explanatory role.</a:t>
            </a:r>
          </a:p>
        </p:txBody>
      </p:sp>
      <p:sp>
        <p:nvSpPr>
          <p:cNvPr id="44" name="Google Shape;44;p4">
            <a:extLst xmlns:a="http://schemas.openxmlformats.org/drawingml/2006/main">
              <a:ext uri="{FF2B5EF4-FFF2-40B4-BE49-F238E27FC236}">
                <a16:creationId xmlns:a16="http://schemas.microsoft.com/office/drawing/2014/main" id="{37D64640-FCFE-4602-98E1-6A030FD81039}"/>
              </a:ext>
            </a:extLst>
          </p:cNvPr>
          <p:cNvSpPr>
            <a:spLocks xmlns:a="http://schemas.openxmlformats.org/drawingml/2006/main" noGrp="1"/>
          </p:cNvSpPr>
          <p:nvPr/>
        </p:nvSpPr>
        <p:spPr>
          <a:xfrm xmlns:a="http://schemas.openxmlformats.org/drawingml/2006/main">
            <a:off x="3392424" y="2286000"/>
            <a:ext cx="2615184" cy="1234440"/>
          </a:xfrm>
          <a:prstGeom xmlns:a="http://schemas.openxmlformats.org/drawingml/2006/main" prst="roundRect">
            <a:avLst>
              <a:gd name="adj" fmla="val 740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 name="Google Shape;45;p4">
            <a:extLst xmlns:a="http://schemas.openxmlformats.org/drawingml/2006/main">
              <a:ext uri="{FF2B5EF4-FFF2-40B4-BE49-F238E27FC236}">
                <a16:creationId xmlns:a16="http://schemas.microsoft.com/office/drawing/2014/main" id="{73D2BABD-6B0B-4400-A210-437B15BCDE77}"/>
              </a:ext>
            </a:extLst>
          </p:cNvPr>
          <p:cNvSpPr>
            <a:spLocks xmlns:a="http://schemas.openxmlformats.org/drawingml/2006/main" noGrp="1"/>
          </p:cNvSpPr>
          <p:nvPr/>
        </p:nvSpPr>
        <p:spPr>
          <a:xfrm xmlns:a="http://schemas.openxmlformats.org/drawingml/2006/main">
            <a:off x="3593592" y="2423160"/>
            <a:ext cx="2240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Ten common criteria</a:t>
            </a:r>
          </a:p>
        </p:txBody>
      </p:sp>
      <p:sp>
        <p:nvSpPr>
          <p:cNvPr id="46" name="Google Shape;46;p4">
            <a:extLst xmlns:a="http://schemas.openxmlformats.org/drawingml/2006/main">
              <a:ext uri="{FF2B5EF4-FFF2-40B4-BE49-F238E27FC236}">
                <a16:creationId xmlns:a16="http://schemas.microsoft.com/office/drawing/2014/main" id="{DE596CD7-43CE-4333-A13B-065D7FA9FC52}"/>
              </a:ext>
            </a:extLst>
          </p:cNvPr>
          <p:cNvSpPr>
            <a:spLocks xmlns:a="http://schemas.openxmlformats.org/drawingml/2006/main" noGrp="1"/>
          </p:cNvSpPr>
          <p:nvPr/>
        </p:nvSpPr>
        <p:spPr>
          <a:xfrm xmlns:a="http://schemas.openxmlformats.org/drawingml/2006/main">
            <a:off x="3593592" y="2724912"/>
            <a:ext cx="2240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50"/>
              <a:buFont typeface="Calibri"/>
              <a:buNone/>
            </a:pPr>
            <a:r>
              <a:rPr sz="1050" b="0" i="0" u="none" cap="none">
                <a:solidFill>
                  <a:srgbClr val="5A6377"/>
                </a:solidFill>
                <a:latin typeface="Calibri"/>
                <a:ea typeface="Calibri"/>
                <a:cs typeface="Calibri"/>
              </a:rPr>
              <a:t>Compare primitives, individuation, dependence, world, change, self, time, evidence, value, and correction.</a:t>
            </a:r>
          </a:p>
        </p:txBody>
      </p:sp>
      <p:sp>
        <p:nvSpPr>
          <p:cNvPr id="47" name="Google Shape;47;p4">
            <a:extLst xmlns:a="http://schemas.openxmlformats.org/drawingml/2006/main">
              <a:ext uri="{FF2B5EF4-FFF2-40B4-BE49-F238E27FC236}">
                <a16:creationId xmlns:a16="http://schemas.microsoft.com/office/drawing/2014/main" id="{5FE4DCBA-59F9-4F78-946C-DCCB5B7320E3}"/>
              </a:ext>
            </a:extLst>
          </p:cNvPr>
          <p:cNvSpPr>
            <a:spLocks xmlns:a="http://schemas.openxmlformats.org/drawingml/2006/main" noGrp="1"/>
          </p:cNvSpPr>
          <p:nvPr/>
        </p:nvSpPr>
        <p:spPr>
          <a:xfrm xmlns:a="http://schemas.openxmlformats.org/drawingml/2006/main">
            <a:off x="6144768" y="2286000"/>
            <a:ext cx="2615184" cy="1234440"/>
          </a:xfrm>
          <a:prstGeom xmlns:a="http://schemas.openxmlformats.org/drawingml/2006/main" prst="roundRect">
            <a:avLst>
              <a:gd name="adj" fmla="val 740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 name="Google Shape;48;p4">
            <a:extLst xmlns:a="http://schemas.openxmlformats.org/drawingml/2006/main">
              <a:ext uri="{FF2B5EF4-FFF2-40B4-BE49-F238E27FC236}">
                <a16:creationId xmlns:a16="http://schemas.microsoft.com/office/drawing/2014/main" id="{0A151303-D1D0-432C-A09A-6D63DDCB996B}"/>
              </a:ext>
            </a:extLst>
          </p:cNvPr>
          <p:cNvSpPr>
            <a:spLocks xmlns:a="http://schemas.openxmlformats.org/drawingml/2006/main" noGrp="1"/>
          </p:cNvSpPr>
          <p:nvPr/>
        </p:nvSpPr>
        <p:spPr>
          <a:xfrm xmlns:a="http://schemas.openxmlformats.org/drawingml/2006/main">
            <a:off x="6345936" y="2423160"/>
            <a:ext cx="2240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Four forms of warrant</a:t>
            </a:r>
          </a:p>
        </p:txBody>
      </p:sp>
      <p:sp>
        <p:nvSpPr>
          <p:cNvPr id="49" name="Google Shape;49;p4">
            <a:extLst xmlns:a="http://schemas.openxmlformats.org/drawingml/2006/main">
              <a:ext uri="{FF2B5EF4-FFF2-40B4-BE49-F238E27FC236}">
                <a16:creationId xmlns:a16="http://schemas.microsoft.com/office/drawing/2014/main" id="{561A8BA4-6B53-48AD-88B0-6361DE99448A}"/>
              </a:ext>
            </a:extLst>
          </p:cNvPr>
          <p:cNvSpPr>
            <a:spLocks xmlns:a="http://schemas.openxmlformats.org/drawingml/2006/main" noGrp="1"/>
          </p:cNvSpPr>
          <p:nvPr/>
        </p:nvSpPr>
        <p:spPr>
          <a:xfrm xmlns:a="http://schemas.openxmlformats.org/drawingml/2006/main">
            <a:off x="6345936" y="2724912"/>
            <a:ext cx="2240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50"/>
              <a:buFont typeface="Calibri"/>
              <a:buNone/>
            </a:pPr>
            <a:r>
              <a:rPr sz="1050" b="0" i="0" u="none" cap="none">
                <a:solidFill>
                  <a:srgbClr val="5A6377"/>
                </a:solidFill>
                <a:latin typeface="Calibri"/>
                <a:ea typeface="Calibri"/>
                <a:cs typeface="Calibri"/>
              </a:rPr>
              <a:t>Keep logical grounding, first-person verification, conduct-evidence, and instrument-based confirmation distinct.</a:t>
            </a:r>
          </a:p>
        </p:txBody>
      </p:sp>
      <p:sp>
        <p:nvSpPr>
          <p:cNvPr id="50" name="Google Shape;50;p4">
            <a:extLst xmlns:a="http://schemas.openxmlformats.org/drawingml/2006/main">
              <a:ext uri="{FF2B5EF4-FFF2-40B4-BE49-F238E27FC236}">
                <a16:creationId xmlns:a16="http://schemas.microsoft.com/office/drawing/2014/main" id="{D060ABEA-F205-4F7E-83BE-27B5763BBBC4}"/>
              </a:ext>
            </a:extLst>
          </p:cNvPr>
          <p:cNvSpPr>
            <a:spLocks xmlns:a="http://schemas.openxmlformats.org/drawingml/2006/main" noGrp="1"/>
          </p:cNvSpPr>
          <p:nvPr/>
        </p:nvSpPr>
        <p:spPr>
          <a:xfrm xmlns:a="http://schemas.openxmlformats.org/drawingml/2006/main">
            <a:off x="640080" y="3749040"/>
            <a:ext cx="7863840" cy="868680"/>
          </a:xfrm>
          <a:prstGeom xmlns:a="http://schemas.openxmlformats.org/drawingml/2006/main" prst="roundRect">
            <a:avLst>
              <a:gd name="adj" fmla="val 9474"/>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4">
            <a:extLst xmlns:a="http://schemas.openxmlformats.org/drawingml/2006/main">
              <a:ext uri="{FF2B5EF4-FFF2-40B4-BE49-F238E27FC236}">
                <a16:creationId xmlns:a16="http://schemas.microsoft.com/office/drawing/2014/main" id="{1FF618BC-0883-4EC5-A594-F3454BA3ABF6}"/>
              </a:ext>
            </a:extLst>
          </p:cNvPr>
          <p:cNvSpPr>
            <a:spLocks xmlns:a="http://schemas.openxmlformats.org/drawingml/2006/main" noGrp="1"/>
          </p:cNvSpPr>
          <p:nvPr/>
        </p:nvSpPr>
        <p:spPr>
          <a:xfrm xmlns:a="http://schemas.openxmlformats.org/drawingml/2006/main">
            <a:off x="868680" y="3749040"/>
            <a:ext cx="7406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150"/>
              <a:buFont typeface="Calibri"/>
              <a:buNone/>
            </a:pPr>
            <a:r>
              <a:rPr sz="1150" b="1" i="0" u="none" cap="none">
                <a:solidFill>
                  <a:srgbClr val="9A6414"/>
                </a:solidFill>
                <a:latin typeface="Calibri"/>
                <a:ea typeface="Calibri"/>
                <a:cs typeface="Calibri"/>
              </a:rPr>
              <a:t>Structured comparison: no single method settles every claim, but each view can be tested for coherence, source fidelity, explanatory reach, and fit with public knowledge.</a:t>
            </a:r>
          </a:p>
        </p:txBody>
      </p:sp>
      <p:sp>
        <p:nvSpPr>
          <p:cNvPr id="52" name="Google Shape;52;p4">
            <a:extLst xmlns:a="http://schemas.openxmlformats.org/drawingml/2006/main">
              <a:ext uri="{FF2B5EF4-FFF2-40B4-BE49-F238E27FC236}">
                <a16:creationId xmlns:a16="http://schemas.microsoft.com/office/drawing/2014/main" id="{D419B27F-8559-42A9-A284-0A3B0B50771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MD sources: MVD, SB, JV, and Hindi-checked KD  ·  Advaita and modern sources as cited in the study</a:t>
            </a:r>
          </a:p>
        </p:txBody>
      </p:sp>
    </p:spTree>
    <p:extLst>
      <p:ext uri="{BB962C8B-B14F-4D97-AF65-F5344CB8AC3E}">
        <p14:creationId xmlns:p14="http://schemas.microsoft.com/office/powerpoint/2010/main" val="2169809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Google Shape;58;p5">
            <a:extLst xmlns:a="http://schemas.openxmlformats.org/drawingml/2006/main">
              <a:ext uri="{FF2B5EF4-FFF2-40B4-BE49-F238E27FC236}">
                <a16:creationId xmlns:a16="http://schemas.microsoft.com/office/drawing/2014/main" id="{58F3CA36-905B-440F-8344-0A05AF4A26E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 name="Google Shape;59;p5">
            <a:extLst xmlns:a="http://schemas.openxmlformats.org/drawingml/2006/main">
              <a:ext uri="{FF2B5EF4-FFF2-40B4-BE49-F238E27FC236}">
                <a16:creationId xmlns:a16="http://schemas.microsoft.com/office/drawing/2014/main" id="{921CBE96-594F-49A2-92B4-233DE73A12A0}"/>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 name="Google Shape;60;p5">
            <a:extLst xmlns:a="http://schemas.openxmlformats.org/drawingml/2006/main">
              <a:ext uri="{FF2B5EF4-FFF2-40B4-BE49-F238E27FC236}">
                <a16:creationId xmlns:a16="http://schemas.microsoft.com/office/drawing/2014/main" id="{57B0FE74-8459-4218-8838-39C2821A7006}"/>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9C28337B-8556-4B59-9DB7-26DE2278BDA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§§2.1–2.4  ·  BRAHMAN AND WORLD STATUS</a:t>
            </a:r>
          </a:p>
        </p:txBody>
      </p:sp>
      <p:sp>
        <p:nvSpPr>
          <p:cNvPr id="62" name="Google Shape;62;p5">
            <a:extLst xmlns:a="http://schemas.openxmlformats.org/drawingml/2006/main">
              <a:ext uri="{FF2B5EF4-FFF2-40B4-BE49-F238E27FC236}">
                <a16:creationId xmlns:a16="http://schemas.microsoft.com/office/drawing/2014/main" id="{5310FD23-366C-4D02-84E4-1700A447090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Advaita: robust world, dependent being</a:t>
            </a:r>
          </a:p>
        </p:txBody>
      </p:sp>
      <p:sp>
        <p:nvSpPr>
          <p:cNvPr id="63" name="Google Shape;63;p5">
            <a:extLst xmlns:a="http://schemas.openxmlformats.org/drawingml/2006/main">
              <a:ext uri="{FF2B5EF4-FFF2-40B4-BE49-F238E27FC236}">
                <a16:creationId xmlns:a16="http://schemas.microsoft.com/office/drawing/2014/main" id="{641AF86E-4782-483F-81A8-3E045D15C33D}"/>
              </a:ext>
            </a:extLst>
          </p:cNvPr>
          <p:cNvSpPr>
            <a:spLocks xmlns:a="http://schemas.openxmlformats.org/drawingml/2006/main" noGrp="1"/>
          </p:cNvSpPr>
          <p:nvPr/>
        </p:nvSpPr>
        <p:spPr>
          <a:xfrm xmlns:a="http://schemas.openxmlformats.org/drawingml/2006/main">
            <a:off x="640080" y="1280160"/>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250"/>
              <a:buFont typeface="Calibri"/>
              <a:buNone/>
            </a:pPr>
            <a:r>
              <a:rPr sz="1250" b="1" i="0" u="none" cap="none">
                <a:solidFill>
                  <a:srgbClr val="6D2E46"/>
                </a:solidFill>
                <a:latin typeface="Calibri"/>
                <a:ea typeface="Calibri"/>
                <a:cs typeface="Calibri"/>
              </a:rPr>
              <a:t>Advaita holds Brahman alone to be absolute reality. The empirical world is shared, law-governed, ethically serious, and indispensable to liberation; it is mithya because it has no independent being at paramartha.</a:t>
            </a:r>
          </a:p>
        </p:txBody>
      </p:sp>
      <p:graphicFrame>
        <p:nvGraphicFramePr>
          <p:cNvPr id="74" name="Google Shape;64;p5"/>
          <p:cNvGraphicFramePr/>
          <p:nvPr/>
        </p:nvGraphicFramePr>
        <p:xfrm>
          <a:off xmlns:a="http://schemas.openxmlformats.org/drawingml/2006/main" x="640080" y="2240280"/>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2011675"/>
                <a:gridCol w="2834650"/>
                <a:gridCol w="3017525"/>
              </a:tblGrid>
              <a:tr h="329175">
                <a:tc>
                  <a:txBody>
                    <a:bodyPr/>
                    <a:lstStyle/>
                    <a:p>
                      <a:pPr marL="0" marR="0" indent="0" algn="l">
                        <a:spcBef>
                          <a:spcPts val="0"/>
                        </a:spcBef>
                        <a:spcAft>
                          <a:spcPts val="0"/>
                        </a:spcAft>
                        <a:buClr>
                          <a:srgbClr val="FFFFFF"/>
                        </a:buClr>
                        <a:buSzPts val="1100"/>
                        <a:buFont typeface="Calibri"/>
                        <a:buNone/>
                      </a:pPr>
                      <a:r>
                        <a:rPr sz="1100" b="1" u="none" cap="none">
                          <a:solidFill>
                            <a:srgbClr val="FFFFFF"/>
                          </a:solidFill>
                          <a:latin typeface="Calibri"/>
                          <a:ea typeface="Calibri"/>
                          <a:cs typeface="Calibri"/>
                        </a:rPr>
                        <a:t>Tier</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6D2E46"/>
                    </a:solidFill>
                  </a:tcPr>
                </a:tc>
                <a:tc>
                  <a:txBody>
                    <a:bodyPr/>
                    <a:lstStyle/>
                    <a:p>
                      <a:pPr marL="0" marR="0" indent="0" algn="l">
                        <a:spcBef>
                          <a:spcPts val="0"/>
                        </a:spcBef>
                        <a:spcAft>
                          <a:spcPts val="0"/>
                        </a:spcAft>
                        <a:buClr>
                          <a:srgbClr val="FFFFFF"/>
                        </a:buClr>
                        <a:buSzPts val="1100"/>
                        <a:buFont typeface="Calibri"/>
                        <a:buNone/>
                      </a:pPr>
                      <a:r>
                        <a:rPr sz="1100" b="1" u="none" cap="none">
                          <a:solidFill>
                            <a:srgbClr val="FFFFFF"/>
                          </a:solidFill>
                          <a:latin typeface="Calibri"/>
                          <a:ea typeface="Calibri"/>
                          <a:cs typeface="Calibri"/>
                        </a:rPr>
                        <a:t>What is presented?</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6D2E46"/>
                    </a:solidFill>
                  </a:tcPr>
                </a:tc>
                <a:tc>
                  <a:txBody>
                    <a:bodyPr/>
                    <a:lstStyle/>
                    <a:p>
                      <a:pPr marL="0" marR="0" indent="0" algn="l">
                        <a:spcBef>
                          <a:spcPts val="0"/>
                        </a:spcBef>
                        <a:spcAft>
                          <a:spcPts val="0"/>
                        </a:spcAft>
                        <a:buClr>
                          <a:srgbClr val="FFFFFF"/>
                        </a:buClr>
                        <a:buSzPts val="1100"/>
                        <a:buFont typeface="Calibri"/>
                        <a:buNone/>
                      </a:pPr>
                      <a:r>
                        <a:rPr sz="1100" b="1" u="none" cap="none">
                          <a:solidFill>
                            <a:srgbClr val="FFFFFF"/>
                          </a:solidFill>
                          <a:latin typeface="Calibri"/>
                          <a:ea typeface="Calibri"/>
                          <a:cs typeface="Calibri"/>
                        </a:rPr>
                        <a:t>Status and sublation</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6D2E46"/>
                    </a:solidFill>
                  </a:tcPr>
                </a:tc>
              </a:tr>
              <a:tr h="457200">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Apparent (pratibhasika)</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Private error, dream, misperception</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Sublated by correction or waking</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r>
              <a:tr h="566925">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Empirical (vyavahara)</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Bodies, minds, Ishvara, causes, duties, science</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Shared and operationally valid; sublated by brahma-jnana</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r>
              <a:tr h="457200">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Absolute (paramartha)</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Brahman without a second</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c>
                  <a:txBody>
                    <a:bodyPr/>
                    <a:lstStyle/>
                    <a:p>
                      <a:pPr marL="0" marR="0" indent="0" algn="l">
                        <a:spcBef>
                          <a:spcPts val="0"/>
                        </a:spcBef>
                        <a:spcAft>
                          <a:spcPts val="0"/>
                        </a:spcAft>
                        <a:buClr>
                          <a:srgbClr val="1E2447"/>
                        </a:buClr>
                        <a:buSzPts val="1100"/>
                        <a:buFont typeface="Calibri"/>
                        <a:buNone/>
                      </a:pPr>
                      <a:r>
                        <a:rPr sz="1100" u="none" cap="none">
                          <a:solidFill>
                            <a:srgbClr val="1E2447"/>
                          </a:solidFill>
                          <a:latin typeface="Calibri"/>
                          <a:ea typeface="Calibri"/>
                          <a:cs typeface="Calibri"/>
                        </a:rPr>
                        <a:t>Name-form has no independent being</a:t>
                      </a:r>
                    </a:p>
                  </a:txBody>
                  <a:tcPr marL="54875" marR="54875" marT="54875" marB="54875" anchor="ctr">
                    <a:lnL w="9525" cmpd="sng">
                      <a:solidFill>
                        <a:srgbClr val="DCC9D2"/>
                      </a:solidFill>
                      <a:prstDash val="solid"/>
                    </a:lnL>
                    <a:lnR w="9525" cmpd="sng">
                      <a:solidFill>
                        <a:srgbClr val="DCC9D2"/>
                      </a:solidFill>
                      <a:prstDash val="solid"/>
                    </a:lnR>
                    <a:lnT w="9525" cmpd="sng">
                      <a:solidFill>
                        <a:srgbClr val="DCC9D2"/>
                      </a:solidFill>
                      <a:prstDash val="solid"/>
                    </a:lnT>
                    <a:lnB w="9525" cmpd="sng">
                      <a:solidFill>
                        <a:srgbClr val="DCC9D2"/>
                      </a:solidFill>
                      <a:prstDash val="solid"/>
                    </a:lnB>
                    <a:solidFill>
                      <a:srgbClr val="FFFFFF"/>
                    </a:solidFill>
                  </a:tcPr>
                </a:tc>
              </a:tr>
            </a:tbl>
          </a:graphicData>
        </a:graphic>
      </p:graphicFrame>
      <p:sp>
        <p:nvSpPr>
          <p:cNvPr id="65" name="Google Shape;65;p5">
            <a:extLst xmlns:a="http://schemas.openxmlformats.org/drawingml/2006/main">
              <a:ext uri="{FF2B5EF4-FFF2-40B4-BE49-F238E27FC236}">
                <a16:creationId xmlns:a16="http://schemas.microsoft.com/office/drawing/2014/main" id="{129DDA08-6C54-4CC3-8895-F4CA20CE1F0C}"/>
              </a:ext>
            </a:extLst>
          </p:cNvPr>
          <p:cNvSpPr>
            <a:spLocks xmlns:a="http://schemas.openxmlformats.org/drawingml/2006/main" noGrp="1"/>
          </p:cNvSpPr>
          <p:nvPr/>
        </p:nvSpPr>
        <p:spPr>
          <a:xfrm xmlns:a="http://schemas.openxmlformats.org/drawingml/2006/main">
            <a:off x="640080" y="4251960"/>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150"/>
              <a:buFont typeface="Calibri"/>
              <a:buNone/>
            </a:pPr>
            <a:r>
              <a:rPr sz="1150" b="1" i="0" u="none" cap="none">
                <a:solidFill>
                  <a:srgbClr val="6D2E46"/>
                </a:solidFill>
                <a:latin typeface="Calibri"/>
                <a:ea typeface="Calibri"/>
                <a:cs typeface="Calibri"/>
              </a:rPr>
              <a:t>Sat–Chit–Ananda names one partless Brahman. The three tiers explain private error, shared experience, and non-dual realisation without reducing vyavahara to hallucination.</a:t>
            </a:r>
          </a:p>
        </p:txBody>
      </p:sp>
      <p:sp>
        <p:nvSpPr>
          <p:cNvPr id="66" name="Google Shape;66;p5">
            <a:extLst xmlns:a="http://schemas.openxmlformats.org/drawingml/2006/main">
              <a:ext uri="{FF2B5EF4-FFF2-40B4-BE49-F238E27FC236}">
                <a16:creationId xmlns:a16="http://schemas.microsoft.com/office/drawing/2014/main" id="{76C70AF0-1969-4028-B7ED-048F7663FA9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CU 6.2.1–2, 6.8.7  ·  MU 7  ·  VC vv. 251, 574  ·  study §§2.1–2.4</a:t>
            </a:r>
          </a:p>
        </p:txBody>
      </p:sp>
    </p:spTree>
    <p:extLst>
      <p:ext uri="{BB962C8B-B14F-4D97-AF65-F5344CB8AC3E}">
        <p14:creationId xmlns:p14="http://schemas.microsoft.com/office/powerpoint/2010/main" val="3230945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Google Shape;72;p6">
            <a:extLst xmlns:a="http://schemas.openxmlformats.org/drawingml/2006/main">
              <a:ext uri="{FF2B5EF4-FFF2-40B4-BE49-F238E27FC236}">
                <a16:creationId xmlns:a16="http://schemas.microsoft.com/office/drawing/2014/main" id="{BE3FEC1A-C792-436B-8041-66DEAC70325E}"/>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3" name="Google Shape;73;p6">
            <a:extLst xmlns:a="http://schemas.openxmlformats.org/drawingml/2006/main">
              <a:ext uri="{FF2B5EF4-FFF2-40B4-BE49-F238E27FC236}">
                <a16:creationId xmlns:a16="http://schemas.microsoft.com/office/drawing/2014/main" id="{1172C087-36E6-4C5C-9CF1-2846E52CB91E}"/>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4" name="Google Shape;74;p6">
            <a:extLst xmlns:a="http://schemas.openxmlformats.org/drawingml/2006/main">
              <a:ext uri="{FF2B5EF4-FFF2-40B4-BE49-F238E27FC236}">
                <a16:creationId xmlns:a16="http://schemas.microsoft.com/office/drawing/2014/main" id="{D94BB7D0-4B22-4B0A-985E-F2B2C0003C36}"/>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5" name="Google Shape;75;p6">
            <a:extLst xmlns:a="http://schemas.openxmlformats.org/drawingml/2006/main">
              <a:ext uri="{FF2B5EF4-FFF2-40B4-BE49-F238E27FC236}">
                <a16:creationId xmlns:a16="http://schemas.microsoft.com/office/drawing/2014/main" id="{45D59775-DB7C-4927-B2CF-937B99D6B951}"/>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§§2.5–2.11  ·  DEPENDENCE, WITNESS, LIBERATION</a:t>
            </a:r>
          </a:p>
        </p:txBody>
      </p:sp>
      <p:sp>
        <p:nvSpPr>
          <p:cNvPr id="76" name="Google Shape;76;p6">
            <a:extLst xmlns:a="http://schemas.openxmlformats.org/drawingml/2006/main">
              <a:ext uri="{FF2B5EF4-FFF2-40B4-BE49-F238E27FC236}">
                <a16:creationId xmlns:a16="http://schemas.microsoft.com/office/drawing/2014/main" id="{9CAAF8E6-C529-4B3C-A5FF-C9013CC63249}"/>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Advaita’s causal and epistemic structure</a:t>
            </a:r>
          </a:p>
        </p:txBody>
      </p:sp>
      <p:sp>
        <p:nvSpPr>
          <p:cNvPr id="77" name="Google Shape;77;p6">
            <a:extLst xmlns:a="http://schemas.openxmlformats.org/drawingml/2006/main">
              <a:ext uri="{FF2B5EF4-FFF2-40B4-BE49-F238E27FC236}">
                <a16:creationId xmlns:a16="http://schemas.microsoft.com/office/drawing/2014/main" id="{59770620-85E9-49F3-8DF6-F2CB5F846368}"/>
              </a:ext>
            </a:extLst>
          </p:cNvPr>
          <p:cNvSpPr>
            <a:spLocks xmlns:a="http://schemas.openxmlformats.org/drawingml/2006/main" noGrp="1"/>
          </p:cNvSpPr>
          <p:nvPr/>
        </p:nvSpPr>
        <p:spPr>
          <a:xfrm xmlns:a="http://schemas.openxmlformats.org/drawingml/2006/main">
            <a:off x="640080" y="1325880"/>
            <a:ext cx="3794760" cy="1481328"/>
          </a:xfrm>
          <a:prstGeom xmlns:a="http://schemas.openxmlformats.org/drawingml/2006/main" prst="roundRect">
            <a:avLst>
              <a:gd name="adj" fmla="val 5556"/>
            </a:avLst>
          </a:prstGeom>
          <a:solidFill xmlns:a="http://schemas.openxmlformats.org/drawingml/2006/main">
            <a:srgbClr val="F5EBE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8" name="Google Shape;78;p6">
            <a:extLst xmlns:a="http://schemas.openxmlformats.org/drawingml/2006/main">
              <a:ext uri="{FF2B5EF4-FFF2-40B4-BE49-F238E27FC236}">
                <a16:creationId xmlns:a16="http://schemas.microsoft.com/office/drawing/2014/main" id="{ABF1593C-2DBA-4ABD-A96E-A6407E00CDCF}"/>
              </a:ext>
            </a:extLst>
          </p:cNvPr>
          <p:cNvSpPr>
            <a:spLocks xmlns:a="http://schemas.openxmlformats.org/drawingml/2006/main" noGrp="1"/>
          </p:cNvSpPr>
          <p:nvPr/>
        </p:nvSpPr>
        <p:spPr>
          <a:xfrm xmlns:a="http://schemas.openxmlformats.org/drawingml/2006/main">
            <a:off x="841248" y="1453896"/>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350"/>
              <a:buFont typeface="Cambria"/>
              <a:buNone/>
            </a:pPr>
            <a:r>
              <a:rPr sz="1350" b="1" i="0" u="none" cap="none">
                <a:solidFill>
                  <a:srgbClr val="6D2E46"/>
                </a:solidFill>
                <a:latin typeface="Cambria"/>
                <a:ea typeface="Cambria"/>
                <a:cs typeface="Cambria"/>
              </a:rPr>
              <a:t>Effect–cause non-difference</a:t>
            </a:r>
          </a:p>
        </p:txBody>
      </p:sp>
      <p:sp>
        <p:nvSpPr>
          <p:cNvPr id="79" name="Google Shape;79;p6">
            <a:extLst xmlns:a="http://schemas.openxmlformats.org/drawingml/2006/main">
              <a:ext uri="{FF2B5EF4-FFF2-40B4-BE49-F238E27FC236}">
                <a16:creationId xmlns:a16="http://schemas.microsoft.com/office/drawing/2014/main" id="{E6381160-B5DB-4FC8-A835-7D90258E5F08}"/>
              </a:ext>
            </a:extLst>
          </p:cNvPr>
          <p:cNvSpPr>
            <a:spLocks xmlns:a="http://schemas.openxmlformats.org/drawingml/2006/main" noGrp="1"/>
          </p:cNvSpPr>
          <p:nvPr/>
        </p:nvSpPr>
        <p:spPr>
          <a:xfrm xmlns:a="http://schemas.openxmlformats.org/drawingml/2006/main">
            <a:off x="841248" y="1783080"/>
            <a:ext cx="3429000" cy="9326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30"/>
              <a:buFont typeface="Calibri"/>
              <a:buNone/>
            </a:pPr>
            <a:r>
              <a:rPr sz="1030" b="0" i="0" u="none" cap="none">
                <a:solidFill>
                  <a:srgbClr val="5A6377"/>
                </a:solidFill>
                <a:latin typeface="Calibri"/>
                <a:ea typeface="Calibri"/>
                <a:cs typeface="Calibri"/>
              </a:rPr>
              <a:t>The effect has no being apart from its cause. Later Advaita calls name-form on changeless Brahman vivarta—not a second real transformation.</a:t>
            </a:r>
          </a:p>
        </p:txBody>
      </p:sp>
      <p:sp>
        <p:nvSpPr>
          <p:cNvPr id="80" name="Google Shape;80;p6">
            <a:extLst xmlns:a="http://schemas.openxmlformats.org/drawingml/2006/main">
              <a:ext uri="{FF2B5EF4-FFF2-40B4-BE49-F238E27FC236}">
                <a16:creationId xmlns:a16="http://schemas.microsoft.com/office/drawing/2014/main" id="{8515BA5B-2BDA-4E3A-9685-CD83D594BCC9}"/>
              </a:ext>
            </a:extLst>
          </p:cNvPr>
          <p:cNvSpPr>
            <a:spLocks xmlns:a="http://schemas.openxmlformats.org/drawingml/2006/main" noGrp="1"/>
          </p:cNvSpPr>
          <p:nvPr/>
        </p:nvSpPr>
        <p:spPr>
          <a:xfrm xmlns:a="http://schemas.openxmlformats.org/drawingml/2006/main">
            <a:off x="4709160" y="1325880"/>
            <a:ext cx="3794760" cy="1481328"/>
          </a:xfrm>
          <a:prstGeom xmlns:a="http://schemas.openxmlformats.org/drawingml/2006/main" prst="roundRect">
            <a:avLst>
              <a:gd name="adj" fmla="val 5556"/>
            </a:avLst>
          </a:prstGeom>
          <a:solidFill xmlns:a="http://schemas.openxmlformats.org/drawingml/2006/main">
            <a:srgbClr val="F5EBE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1" name="Google Shape;81;p6">
            <a:extLst xmlns:a="http://schemas.openxmlformats.org/drawingml/2006/main">
              <a:ext uri="{FF2B5EF4-FFF2-40B4-BE49-F238E27FC236}">
                <a16:creationId xmlns:a16="http://schemas.microsoft.com/office/drawing/2014/main" id="{4052F00E-C402-4B10-9B92-CF0529604C6E}"/>
              </a:ext>
            </a:extLst>
          </p:cNvPr>
          <p:cNvSpPr>
            <a:spLocks xmlns:a="http://schemas.openxmlformats.org/drawingml/2006/main" noGrp="1"/>
          </p:cNvSpPr>
          <p:nvPr/>
        </p:nvSpPr>
        <p:spPr>
          <a:xfrm xmlns:a="http://schemas.openxmlformats.org/drawingml/2006/main">
            <a:off x="4910328" y="1453896"/>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350"/>
              <a:buFont typeface="Cambria"/>
              <a:buNone/>
            </a:pPr>
            <a:r>
              <a:rPr sz="1350" b="1" i="0" u="none" cap="none">
                <a:solidFill>
                  <a:srgbClr val="6D2E46"/>
                </a:solidFill>
                <a:latin typeface="Cambria"/>
                <a:ea typeface="Cambria"/>
                <a:cs typeface="Cambria"/>
              </a:rPr>
              <a:t>Maya and adhyasa</a:t>
            </a:r>
          </a:p>
        </p:txBody>
      </p:sp>
      <p:sp>
        <p:nvSpPr>
          <p:cNvPr id="82" name="Google Shape;82;p6">
            <a:extLst xmlns:a="http://schemas.openxmlformats.org/drawingml/2006/main">
              <a:ext uri="{FF2B5EF4-FFF2-40B4-BE49-F238E27FC236}">
                <a16:creationId xmlns:a16="http://schemas.microsoft.com/office/drawing/2014/main" id="{6AFE96EC-7EC6-4F04-8369-346CAEEFBA1B}"/>
              </a:ext>
            </a:extLst>
          </p:cNvPr>
          <p:cNvSpPr>
            <a:spLocks xmlns:a="http://schemas.openxmlformats.org/drawingml/2006/main" noGrp="1"/>
          </p:cNvSpPr>
          <p:nvPr/>
        </p:nvSpPr>
        <p:spPr>
          <a:xfrm xmlns:a="http://schemas.openxmlformats.org/drawingml/2006/main">
            <a:off x="4910328" y="1783080"/>
            <a:ext cx="3429000" cy="9326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30"/>
              <a:buFont typeface="Calibri"/>
              <a:buNone/>
            </a:pPr>
            <a:r>
              <a:rPr sz="1030" b="0" i="0" u="none" cap="none">
                <a:solidFill>
                  <a:srgbClr val="5A6377"/>
                </a:solidFill>
                <a:latin typeface="Calibri"/>
                <a:ea typeface="Calibri"/>
                <a:cs typeface="Calibri"/>
              </a:rPr>
              <a:t>Later accounts speak of concealment and projection; Shankara’s load-bearing claim is superimposition and the dependent status of name-form.</a:t>
            </a:r>
          </a:p>
        </p:txBody>
      </p:sp>
      <p:sp>
        <p:nvSpPr>
          <p:cNvPr id="83" name="Google Shape;83;p6">
            <a:extLst xmlns:a="http://schemas.openxmlformats.org/drawingml/2006/main">
              <a:ext uri="{FF2B5EF4-FFF2-40B4-BE49-F238E27FC236}">
                <a16:creationId xmlns:a16="http://schemas.microsoft.com/office/drawing/2014/main" id="{551EDC4C-B601-4B99-BA05-81228680348C}"/>
              </a:ext>
            </a:extLst>
          </p:cNvPr>
          <p:cNvSpPr>
            <a:spLocks xmlns:a="http://schemas.openxmlformats.org/drawingml/2006/main" noGrp="1"/>
          </p:cNvSpPr>
          <p:nvPr/>
        </p:nvSpPr>
        <p:spPr>
          <a:xfrm xmlns:a="http://schemas.openxmlformats.org/drawingml/2006/main">
            <a:off x="640080" y="2971800"/>
            <a:ext cx="3794760" cy="1481328"/>
          </a:xfrm>
          <a:prstGeom xmlns:a="http://schemas.openxmlformats.org/drawingml/2006/main" prst="roundRect">
            <a:avLst>
              <a:gd name="adj" fmla="val 5556"/>
            </a:avLst>
          </a:prstGeom>
          <a:solidFill xmlns:a="http://schemas.openxmlformats.org/drawingml/2006/main">
            <a:srgbClr val="F5EBE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4" name="Google Shape;84;p6">
            <a:extLst xmlns:a="http://schemas.openxmlformats.org/drawingml/2006/main">
              <a:ext uri="{FF2B5EF4-FFF2-40B4-BE49-F238E27FC236}">
                <a16:creationId xmlns:a16="http://schemas.microsoft.com/office/drawing/2014/main" id="{08ED678B-CAAB-4762-A3D4-14A54322283C}"/>
              </a:ext>
            </a:extLst>
          </p:cNvPr>
          <p:cNvSpPr>
            <a:spLocks xmlns:a="http://schemas.openxmlformats.org/drawingml/2006/main" noGrp="1"/>
          </p:cNvSpPr>
          <p:nvPr/>
        </p:nvSpPr>
        <p:spPr>
          <a:xfrm xmlns:a="http://schemas.openxmlformats.org/drawingml/2006/main">
            <a:off x="841248" y="3099816"/>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350"/>
              <a:buFont typeface="Cambria"/>
              <a:buNone/>
            </a:pPr>
            <a:r>
              <a:rPr sz="1350" b="1" i="0" u="none" cap="none">
                <a:solidFill>
                  <a:srgbClr val="6D2E46"/>
                </a:solidFill>
                <a:latin typeface="Cambria"/>
                <a:ea typeface="Cambria"/>
                <a:cs typeface="Cambria"/>
              </a:rPr>
              <a:t>Witness-consciousness</a:t>
            </a:r>
          </a:p>
        </p:txBody>
      </p:sp>
      <p:sp>
        <p:nvSpPr>
          <p:cNvPr id="85" name="Google Shape;85;p6">
            <a:extLst xmlns:a="http://schemas.openxmlformats.org/drawingml/2006/main">
              <a:ext uri="{FF2B5EF4-FFF2-40B4-BE49-F238E27FC236}">
                <a16:creationId xmlns:a16="http://schemas.microsoft.com/office/drawing/2014/main" id="{86492237-FF84-4407-BDB5-8AE57FB08AB9}"/>
              </a:ext>
            </a:extLst>
          </p:cNvPr>
          <p:cNvSpPr>
            <a:spLocks xmlns:a="http://schemas.openxmlformats.org/drawingml/2006/main" noGrp="1"/>
          </p:cNvSpPr>
          <p:nvPr/>
        </p:nvSpPr>
        <p:spPr>
          <a:xfrm xmlns:a="http://schemas.openxmlformats.org/drawingml/2006/main">
            <a:off x="841248" y="3429000"/>
            <a:ext cx="3429000" cy="9326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30"/>
              <a:buFont typeface="Calibri"/>
              <a:buNone/>
            </a:pPr>
            <a:r>
              <a:rPr sz="1030" b="0" i="0" u="none" cap="none">
                <a:solidFill>
                  <a:srgbClr val="5A6377"/>
                </a:solidFill>
                <a:latin typeface="Calibri"/>
                <a:ea typeface="Calibri"/>
                <a:cs typeface="Calibri"/>
              </a:rPr>
              <a:t>Seer–seen discrimination and three-state analysis disclose non-objectifiable awareness, finally Brahman rather than an individual substance.</a:t>
            </a:r>
          </a:p>
        </p:txBody>
      </p:sp>
      <p:sp>
        <p:nvSpPr>
          <p:cNvPr id="86" name="Google Shape;86;p6">
            <a:extLst xmlns:a="http://schemas.openxmlformats.org/drawingml/2006/main">
              <a:ext uri="{FF2B5EF4-FFF2-40B4-BE49-F238E27FC236}">
                <a16:creationId xmlns:a16="http://schemas.microsoft.com/office/drawing/2014/main" id="{1840FB16-D1DD-40AF-9C23-C7375900FA6B}"/>
              </a:ext>
            </a:extLst>
          </p:cNvPr>
          <p:cNvSpPr>
            <a:spLocks xmlns:a="http://schemas.openxmlformats.org/drawingml/2006/main" noGrp="1"/>
          </p:cNvSpPr>
          <p:nvPr/>
        </p:nvSpPr>
        <p:spPr>
          <a:xfrm xmlns:a="http://schemas.openxmlformats.org/drawingml/2006/main">
            <a:off x="4709160" y="2971800"/>
            <a:ext cx="3794760" cy="1481328"/>
          </a:xfrm>
          <a:prstGeom xmlns:a="http://schemas.openxmlformats.org/drawingml/2006/main" prst="roundRect">
            <a:avLst>
              <a:gd name="adj" fmla="val 5556"/>
            </a:avLst>
          </a:prstGeom>
          <a:solidFill xmlns:a="http://schemas.openxmlformats.org/drawingml/2006/main">
            <a:srgbClr val="F5EBE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7" name="Google Shape;87;p6">
            <a:extLst xmlns:a="http://schemas.openxmlformats.org/drawingml/2006/main">
              <a:ext uri="{FF2B5EF4-FFF2-40B4-BE49-F238E27FC236}">
                <a16:creationId xmlns:a16="http://schemas.microsoft.com/office/drawing/2014/main" id="{EA480CE3-67A1-485E-B0F3-0799FE2234CF}"/>
              </a:ext>
            </a:extLst>
          </p:cNvPr>
          <p:cNvSpPr>
            <a:spLocks xmlns:a="http://schemas.openxmlformats.org/drawingml/2006/main" noGrp="1"/>
          </p:cNvSpPr>
          <p:nvPr/>
        </p:nvSpPr>
        <p:spPr>
          <a:xfrm xmlns:a="http://schemas.openxmlformats.org/drawingml/2006/main">
            <a:off x="4910328" y="3099816"/>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350"/>
              <a:buFont typeface="Cambria"/>
              <a:buNone/>
            </a:pPr>
            <a:r>
              <a:rPr sz="1350" b="1" i="0" u="none" cap="none">
                <a:solidFill>
                  <a:srgbClr val="6D2E46"/>
                </a:solidFill>
                <a:latin typeface="Cambria"/>
                <a:ea typeface="Cambria"/>
                <a:cs typeface="Cambria"/>
              </a:rPr>
              <a:t>Liberation and conduct</a:t>
            </a:r>
          </a:p>
        </p:txBody>
      </p:sp>
      <p:sp>
        <p:nvSpPr>
          <p:cNvPr id="88" name="Google Shape;88;p6">
            <a:extLst xmlns:a="http://schemas.openxmlformats.org/drawingml/2006/main">
              <a:ext uri="{FF2B5EF4-FFF2-40B4-BE49-F238E27FC236}">
                <a16:creationId xmlns:a16="http://schemas.microsoft.com/office/drawing/2014/main" id="{4C74F918-5400-4E2C-BE0E-2A044BD72011}"/>
              </a:ext>
            </a:extLst>
          </p:cNvPr>
          <p:cNvSpPr>
            <a:spLocks xmlns:a="http://schemas.openxmlformats.org/drawingml/2006/main" noGrp="1"/>
          </p:cNvSpPr>
          <p:nvPr/>
        </p:nvSpPr>
        <p:spPr>
          <a:xfrm xmlns:a="http://schemas.openxmlformats.org/drawingml/2006/main">
            <a:off x="4910328" y="3429000"/>
            <a:ext cx="3429000" cy="9326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30"/>
              <a:buFont typeface="Calibri"/>
              <a:buNone/>
            </a:pPr>
            <a:r>
              <a:rPr sz="1030" b="0" i="0" u="none" cap="none">
                <a:solidFill>
                  <a:srgbClr val="5A6377"/>
                </a:solidFill>
                <a:latin typeface="Calibri"/>
                <a:ea typeface="Calibri"/>
                <a:cs typeface="Calibri"/>
              </a:rPr>
              <a:t>Shabda, reasoning, and contemplation remove ignorance. Dharma and loka-sangraha remain meaningful expressions of knowledge in embodied life.</a:t>
            </a:r>
          </a:p>
        </p:txBody>
      </p:sp>
      <p:sp>
        <p:nvSpPr>
          <p:cNvPr id="89" name="Google Shape;89;p6">
            <a:extLst xmlns:a="http://schemas.openxmlformats.org/drawingml/2006/main">
              <a:ext uri="{FF2B5EF4-FFF2-40B4-BE49-F238E27FC236}">
                <a16:creationId xmlns:a16="http://schemas.microsoft.com/office/drawing/2014/main" id="{734778C3-8B12-466D-81A8-3CF737654E7F}"/>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BS 2.1.14 with Shankara  ·  DDV vv. 1–5  ·  MU vv. 3–7  ·  BG 3.8, 3.20–26  ·  study §§2.5–2.11</a:t>
            </a:r>
          </a:p>
        </p:txBody>
      </p:sp>
    </p:spTree>
    <p:extLst>
      <p:ext uri="{BB962C8B-B14F-4D97-AF65-F5344CB8AC3E}">
        <p14:creationId xmlns:p14="http://schemas.microsoft.com/office/powerpoint/2010/main" val="582100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7">
            <a:extLst xmlns:a="http://schemas.openxmlformats.org/drawingml/2006/main">
              <a:ext uri="{FF2B5EF4-FFF2-40B4-BE49-F238E27FC236}">
                <a16:creationId xmlns:a16="http://schemas.microsoft.com/office/drawing/2014/main" id="{2BE5CE71-FA13-47A3-BEF0-A489EEA95DA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6" name="Google Shape;96;p7">
            <a:extLst xmlns:a="http://schemas.openxmlformats.org/drawingml/2006/main">
              <a:ext uri="{FF2B5EF4-FFF2-40B4-BE49-F238E27FC236}">
                <a16:creationId xmlns:a16="http://schemas.microsoft.com/office/drawing/2014/main" id="{70BB1ECA-D6BF-4F1E-8561-79F85312571F}"/>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7" name="Google Shape;97;p7">
            <a:extLst xmlns:a="http://schemas.openxmlformats.org/drawingml/2006/main">
              <a:ext uri="{FF2B5EF4-FFF2-40B4-BE49-F238E27FC236}">
                <a16:creationId xmlns:a16="http://schemas.microsoft.com/office/drawing/2014/main" id="{F291A038-A60D-4B03-89D2-BAF2307F71D6}"/>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8" name="Google Shape;98;p7">
            <a:extLst xmlns:a="http://schemas.openxmlformats.org/drawingml/2006/main">
              <a:ext uri="{FF2B5EF4-FFF2-40B4-BE49-F238E27FC236}">
                <a16:creationId xmlns:a16="http://schemas.microsoft.com/office/drawing/2014/main" id="{C3A613B5-36E3-48FE-A4A5-604F9FD829EC}"/>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§§3.1–3.4  ·  PHYSICALIST FAMILY</a:t>
            </a:r>
          </a:p>
        </p:txBody>
      </p:sp>
      <p:sp>
        <p:nvSpPr>
          <p:cNvPr id="99" name="Google Shape;99;p7">
            <a:extLst xmlns:a="http://schemas.openxmlformats.org/drawingml/2006/main">
              <a:ext uri="{FF2B5EF4-FFF2-40B4-BE49-F238E27FC236}">
                <a16:creationId xmlns:a16="http://schemas.microsoft.com/office/drawing/2014/main" id="{09CDA1E4-AAE8-4B62-8071-A50B5CA7C1E8}"/>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Physicalism is one family—not science</a:t>
            </a:r>
          </a:p>
        </p:txBody>
      </p:sp>
      <p:sp>
        <p:nvSpPr>
          <p:cNvPr id="100" name="Google Shape;100;p7">
            <a:extLst xmlns:a="http://schemas.openxmlformats.org/drawingml/2006/main">
              <a:ext uri="{FF2B5EF4-FFF2-40B4-BE49-F238E27FC236}">
                <a16:creationId xmlns:a16="http://schemas.microsoft.com/office/drawing/2014/main" id="{E1C511D0-D8A6-4B8B-AF13-9FA3D61AA61D}"/>
              </a:ext>
            </a:extLst>
          </p:cNvPr>
          <p:cNvSpPr>
            <a:spLocks xmlns:a="http://schemas.openxmlformats.org/drawingml/2006/main" noGrp="1"/>
          </p:cNvSpPr>
          <p:nvPr/>
        </p:nvSpPr>
        <p:spPr>
          <a:xfrm xmlns:a="http://schemas.openxmlformats.org/drawingml/2006/main">
            <a:off x="640080" y="1280160"/>
            <a:ext cx="7955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250"/>
              <a:buFont typeface="Calibri"/>
              <a:buNone/>
            </a:pPr>
            <a:r>
              <a:rPr sz="1250" b="1" i="0" u="none" cap="none">
                <a:solidFill>
                  <a:srgbClr val="31606B"/>
                </a:solidFill>
                <a:latin typeface="Calibri"/>
                <a:ea typeface="Calibri"/>
                <a:cs typeface="Calibri"/>
              </a:rPr>
              <a:t>Physicalist positions share physical dependence, but differ over reduction, functional role, higher-level organisation, and causal powers. Causal closure pressures a distinct jeevan; the hard problem pressures reductive sufficiency.</a:t>
            </a:r>
          </a:p>
        </p:txBody>
      </p:sp>
      <p:sp>
        <p:nvSpPr>
          <p:cNvPr id="101" name="Google Shape;101;p7">
            <a:extLst xmlns:a="http://schemas.openxmlformats.org/drawingml/2006/main">
              <a:ext uri="{FF2B5EF4-FFF2-40B4-BE49-F238E27FC236}">
                <a16:creationId xmlns:a16="http://schemas.microsoft.com/office/drawing/2014/main" id="{7CBE39CF-68CA-48FA-B523-75A1CC830F66}"/>
              </a:ext>
            </a:extLst>
          </p:cNvPr>
          <p:cNvSpPr>
            <a:spLocks xmlns:a="http://schemas.openxmlformats.org/drawingml/2006/main" noGrp="1"/>
          </p:cNvSpPr>
          <p:nvPr/>
        </p:nvSpPr>
        <p:spPr>
          <a:xfrm xmlns:a="http://schemas.openxmlformats.org/drawingml/2006/main">
            <a:off x="640080" y="2103120"/>
            <a:ext cx="7863840" cy="713232"/>
          </a:xfrm>
          <a:prstGeom xmlns:a="http://schemas.openxmlformats.org/drawingml/2006/main" prst="roundRect">
            <a:avLst>
              <a:gd name="adj" fmla="val 11538"/>
            </a:avLst>
          </a:prstGeom>
          <a:solidFill xmlns:a="http://schemas.openxmlformats.org/drawingml/2006/main">
            <a:srgbClr val="EAF1F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2" name="Google Shape;102;p7">
            <a:extLst xmlns:a="http://schemas.openxmlformats.org/drawingml/2006/main">
              <a:ext uri="{FF2B5EF4-FFF2-40B4-BE49-F238E27FC236}">
                <a16:creationId xmlns:a16="http://schemas.microsoft.com/office/drawing/2014/main" id="{34211F3E-1F98-4714-A5E3-BC4F25E0F7E8}"/>
              </a:ext>
            </a:extLst>
          </p:cNvPr>
          <p:cNvSpPr>
            <a:spLocks xmlns:a="http://schemas.openxmlformats.org/drawingml/2006/main" noGrp="1"/>
          </p:cNvSpPr>
          <p:nvPr/>
        </p:nvSpPr>
        <p:spPr>
          <a:xfrm xmlns:a="http://schemas.openxmlformats.org/drawingml/2006/main">
            <a:off x="868680" y="2103120"/>
            <a:ext cx="7406640" cy="7132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150"/>
              <a:buFont typeface="Calibri"/>
              <a:buNone/>
            </a:pPr>
            <a:r>
              <a:rPr sz="1150" b="1" i="0" u="none" cap="none">
                <a:solidFill>
                  <a:srgbClr val="31606B"/>
                </a:solidFill>
                <a:latin typeface="Calibri"/>
                <a:ea typeface="Calibri"/>
                <a:cs typeface="Calibri"/>
              </a:rPr>
              <a:t>The explanatory fork: brain–experience correlation is secure, yet why processing is accompanied by subjectivity remains disputed. That gap is neither proof of jeevan nor proof that matter-only explanation will succeed.</a:t>
            </a:r>
          </a:p>
        </p:txBody>
      </p:sp>
      <p:sp>
        <p:nvSpPr>
          <p:cNvPr id="103" name="Google Shape;103;p7">
            <a:extLst xmlns:a="http://schemas.openxmlformats.org/drawingml/2006/main">
              <a:ext uri="{FF2B5EF4-FFF2-40B4-BE49-F238E27FC236}">
                <a16:creationId xmlns:a16="http://schemas.microsoft.com/office/drawing/2014/main" id="{3478ABA9-6DBC-488F-97FB-EDD9B6FFB9BA}"/>
              </a:ext>
            </a:extLst>
          </p:cNvPr>
          <p:cNvSpPr>
            <a:spLocks xmlns:a="http://schemas.openxmlformats.org/drawingml/2006/main" noGrp="1"/>
          </p:cNvSpPr>
          <p:nvPr/>
        </p:nvSpPr>
        <p:spPr>
          <a:xfrm xmlns:a="http://schemas.openxmlformats.org/drawingml/2006/main">
            <a:off x="640080" y="3017520"/>
            <a:ext cx="2615184" cy="1463040"/>
          </a:xfrm>
          <a:prstGeom xmlns:a="http://schemas.openxmlformats.org/drawingml/2006/main" prst="roundRect">
            <a:avLst>
              <a:gd name="adj" fmla="val 625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4" name="Google Shape;104;p7">
            <a:extLst xmlns:a="http://schemas.openxmlformats.org/drawingml/2006/main">
              <a:ext uri="{FF2B5EF4-FFF2-40B4-BE49-F238E27FC236}">
                <a16:creationId xmlns:a16="http://schemas.microsoft.com/office/drawing/2014/main" id="{F6B46871-5E84-41D1-9824-3152A91D918A}"/>
              </a:ext>
            </a:extLst>
          </p:cNvPr>
          <p:cNvSpPr>
            <a:spLocks xmlns:a="http://schemas.openxmlformats.org/drawingml/2006/main" noGrp="1"/>
          </p:cNvSpPr>
          <p:nvPr/>
        </p:nvSpPr>
        <p:spPr>
          <a:xfrm xmlns:a="http://schemas.openxmlformats.org/drawingml/2006/main">
            <a:off x="822960" y="3145536"/>
            <a:ext cx="2286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300"/>
              <a:buFont typeface="Cambria"/>
              <a:buNone/>
            </a:pPr>
            <a:r>
              <a:rPr sz="1300" b="1" i="0" u="none" cap="none">
                <a:solidFill>
                  <a:srgbClr val="1E2447"/>
                </a:solidFill>
                <a:latin typeface="Cambria"/>
                <a:ea typeface="Cambria"/>
                <a:cs typeface="Cambria"/>
              </a:rPr>
              <a:t>Reductive and identity views</a:t>
            </a:r>
          </a:p>
        </p:txBody>
      </p:sp>
      <p:sp>
        <p:nvSpPr>
          <p:cNvPr id="105" name="Google Shape;105;p7">
            <a:extLst xmlns:a="http://schemas.openxmlformats.org/drawingml/2006/main">
              <a:ext uri="{FF2B5EF4-FFF2-40B4-BE49-F238E27FC236}">
                <a16:creationId xmlns:a16="http://schemas.microsoft.com/office/drawing/2014/main" id="{3A30417E-DBFB-4CAF-B098-5CD2116A7014}"/>
              </a:ext>
            </a:extLst>
          </p:cNvPr>
          <p:cNvSpPr>
            <a:spLocks xmlns:a="http://schemas.openxmlformats.org/drawingml/2006/main" noGrp="1"/>
          </p:cNvSpPr>
          <p:nvPr/>
        </p:nvSpPr>
        <p:spPr>
          <a:xfrm xmlns:a="http://schemas.openxmlformats.org/drawingml/2006/main">
            <a:off x="822960" y="3456432"/>
            <a:ext cx="2286000" cy="96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80"/>
              <a:buFont typeface="Calibri"/>
              <a:buNone/>
            </a:pPr>
            <a:r>
              <a:rPr sz="980" b="0" i="0" u="none" cap="none">
                <a:solidFill>
                  <a:srgbClr val="5A6377"/>
                </a:solidFill>
                <a:latin typeface="Calibri"/>
                <a:ea typeface="Calibri"/>
                <a:cs typeface="Calibri"/>
              </a:rPr>
              <a:t>Mental phenomena are identical with, or reducible to, physical states and processes.</a:t>
            </a:r>
          </a:p>
        </p:txBody>
      </p:sp>
      <p:sp>
        <p:nvSpPr>
          <p:cNvPr id="106" name="Google Shape;106;p7">
            <a:extLst xmlns:a="http://schemas.openxmlformats.org/drawingml/2006/main">
              <a:ext uri="{FF2B5EF4-FFF2-40B4-BE49-F238E27FC236}">
                <a16:creationId xmlns:a16="http://schemas.microsoft.com/office/drawing/2014/main" id="{51893B08-112D-4A01-A69A-7AE50DD7DA62}"/>
              </a:ext>
            </a:extLst>
          </p:cNvPr>
          <p:cNvSpPr>
            <a:spLocks xmlns:a="http://schemas.openxmlformats.org/drawingml/2006/main" noGrp="1"/>
          </p:cNvSpPr>
          <p:nvPr/>
        </p:nvSpPr>
        <p:spPr>
          <a:xfrm xmlns:a="http://schemas.openxmlformats.org/drawingml/2006/main">
            <a:off x="3392424" y="3017520"/>
            <a:ext cx="2615184" cy="1463040"/>
          </a:xfrm>
          <a:prstGeom xmlns:a="http://schemas.openxmlformats.org/drawingml/2006/main" prst="roundRect">
            <a:avLst>
              <a:gd name="adj" fmla="val 625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7" name="Google Shape;107;p7">
            <a:extLst xmlns:a="http://schemas.openxmlformats.org/drawingml/2006/main">
              <a:ext uri="{FF2B5EF4-FFF2-40B4-BE49-F238E27FC236}">
                <a16:creationId xmlns:a16="http://schemas.microsoft.com/office/drawing/2014/main" id="{F76DA5EF-C092-45D2-9D0C-2A2BC2E3F9BE}"/>
              </a:ext>
            </a:extLst>
          </p:cNvPr>
          <p:cNvSpPr>
            <a:spLocks xmlns:a="http://schemas.openxmlformats.org/drawingml/2006/main" noGrp="1"/>
          </p:cNvSpPr>
          <p:nvPr/>
        </p:nvSpPr>
        <p:spPr>
          <a:xfrm xmlns:a="http://schemas.openxmlformats.org/drawingml/2006/main">
            <a:off x="3575304" y="3145536"/>
            <a:ext cx="2286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300"/>
              <a:buFont typeface="Cambria"/>
              <a:buNone/>
            </a:pPr>
            <a:r>
              <a:rPr sz="1300" b="1" i="0" u="none" cap="none">
                <a:solidFill>
                  <a:srgbClr val="1E2447"/>
                </a:solidFill>
                <a:latin typeface="Cambria"/>
                <a:ea typeface="Cambria"/>
                <a:cs typeface="Cambria"/>
              </a:rPr>
              <a:t>Functional and non-reductive views</a:t>
            </a:r>
          </a:p>
        </p:txBody>
      </p:sp>
      <p:sp>
        <p:nvSpPr>
          <p:cNvPr id="108" name="Google Shape;108;p7">
            <a:extLst xmlns:a="http://schemas.openxmlformats.org/drawingml/2006/main">
              <a:ext uri="{FF2B5EF4-FFF2-40B4-BE49-F238E27FC236}">
                <a16:creationId xmlns:a16="http://schemas.microsoft.com/office/drawing/2014/main" id="{E2CCDE9F-7633-4C68-8B60-F1C9ADE0225D}"/>
              </a:ext>
            </a:extLst>
          </p:cNvPr>
          <p:cNvSpPr>
            <a:spLocks xmlns:a="http://schemas.openxmlformats.org/drawingml/2006/main" noGrp="1"/>
          </p:cNvSpPr>
          <p:nvPr/>
        </p:nvSpPr>
        <p:spPr>
          <a:xfrm xmlns:a="http://schemas.openxmlformats.org/drawingml/2006/main">
            <a:off x="3575304" y="3456432"/>
            <a:ext cx="2286000" cy="96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80"/>
              <a:buFont typeface="Calibri"/>
              <a:buNone/>
            </a:pPr>
            <a:r>
              <a:rPr sz="980" b="0" i="0" u="none" cap="none">
                <a:solidFill>
                  <a:srgbClr val="5A6377"/>
                </a:solidFill>
                <a:latin typeface="Calibri"/>
                <a:ea typeface="Calibri"/>
                <a:cs typeface="Calibri"/>
              </a:rPr>
              <a:t>Physicalist versions ground mental roles and higher-level organisation in physical realisations.</a:t>
            </a:r>
          </a:p>
        </p:txBody>
      </p:sp>
      <p:sp>
        <p:nvSpPr>
          <p:cNvPr id="109" name="Google Shape;109;p7">
            <a:extLst xmlns:a="http://schemas.openxmlformats.org/drawingml/2006/main">
              <a:ext uri="{FF2B5EF4-FFF2-40B4-BE49-F238E27FC236}">
                <a16:creationId xmlns:a16="http://schemas.microsoft.com/office/drawing/2014/main" id="{5501242C-A45C-4036-B742-A2BD3193E902}"/>
              </a:ext>
            </a:extLst>
          </p:cNvPr>
          <p:cNvSpPr>
            <a:spLocks xmlns:a="http://schemas.openxmlformats.org/drawingml/2006/main" noGrp="1"/>
          </p:cNvSpPr>
          <p:nvPr/>
        </p:nvSpPr>
        <p:spPr>
          <a:xfrm xmlns:a="http://schemas.openxmlformats.org/drawingml/2006/main">
            <a:off x="6144768" y="3017520"/>
            <a:ext cx="2615184" cy="1463040"/>
          </a:xfrm>
          <a:prstGeom xmlns:a="http://schemas.openxmlformats.org/drawingml/2006/main" prst="roundRect">
            <a:avLst>
              <a:gd name="adj" fmla="val 625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0" name="Google Shape;110;p7">
            <a:extLst xmlns:a="http://schemas.openxmlformats.org/drawingml/2006/main">
              <a:ext uri="{FF2B5EF4-FFF2-40B4-BE49-F238E27FC236}">
                <a16:creationId xmlns:a16="http://schemas.microsoft.com/office/drawing/2014/main" id="{C4B92D01-D585-4483-B6B3-4D1D5D5F68F7}"/>
              </a:ext>
            </a:extLst>
          </p:cNvPr>
          <p:cNvSpPr>
            <a:spLocks xmlns:a="http://schemas.openxmlformats.org/drawingml/2006/main" noGrp="1"/>
          </p:cNvSpPr>
          <p:nvPr/>
        </p:nvSpPr>
        <p:spPr>
          <a:xfrm xmlns:a="http://schemas.openxmlformats.org/drawingml/2006/main">
            <a:off x="6327648" y="3145536"/>
            <a:ext cx="2286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300"/>
              <a:buFont typeface="Cambria"/>
              <a:buNone/>
            </a:pPr>
            <a:r>
              <a:rPr sz="1300" b="1" i="0" u="none" cap="none">
                <a:solidFill>
                  <a:srgbClr val="1E2447"/>
                </a:solidFill>
                <a:latin typeface="Cambria"/>
                <a:ea typeface="Cambria"/>
                <a:cs typeface="Cambria"/>
              </a:rPr>
              <a:t>Emergence and illusionism</a:t>
            </a:r>
          </a:p>
        </p:txBody>
      </p:sp>
      <p:sp>
        <p:nvSpPr>
          <p:cNvPr id="111" name="Google Shape;111;p7">
            <a:extLst xmlns:a="http://schemas.openxmlformats.org/drawingml/2006/main">
              <a:ext uri="{FF2B5EF4-FFF2-40B4-BE49-F238E27FC236}">
                <a16:creationId xmlns:a16="http://schemas.microsoft.com/office/drawing/2014/main" id="{6F764066-BAA1-4F4B-B709-8EB50F249509}"/>
              </a:ext>
            </a:extLst>
          </p:cNvPr>
          <p:cNvSpPr>
            <a:spLocks xmlns:a="http://schemas.openxmlformats.org/drawingml/2006/main" noGrp="1"/>
          </p:cNvSpPr>
          <p:nvPr/>
        </p:nvSpPr>
        <p:spPr>
          <a:xfrm xmlns:a="http://schemas.openxmlformats.org/drawingml/2006/main">
            <a:off x="6327648" y="3456432"/>
            <a:ext cx="2286000" cy="96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80"/>
              <a:buFont typeface="Calibri"/>
              <a:buNone/>
            </a:pPr>
            <a:r>
              <a:rPr sz="980" b="0" i="0" u="none" cap="none">
                <a:solidFill>
                  <a:srgbClr val="5A6377"/>
                </a:solidFill>
                <a:latin typeface="Calibri"/>
                <a:ea typeface="Calibri"/>
                <a:cs typeface="Calibri"/>
              </a:rPr>
              <a:t>Weak emergence preserves physical dependence. Illusionism explains why experience seems to have phenomenal properties.</a:t>
            </a:r>
          </a:p>
        </p:txBody>
      </p:sp>
      <p:sp>
        <p:nvSpPr>
          <p:cNvPr id="112" name="Google Shape;112;p7">
            <a:extLst xmlns:a="http://schemas.openxmlformats.org/drawingml/2006/main">
              <a:ext uri="{FF2B5EF4-FFF2-40B4-BE49-F238E27FC236}">
                <a16:creationId xmlns:a16="http://schemas.microsoft.com/office/drawing/2014/main" id="{055C2558-2701-4BF9-9B8E-66EB25ACADD2}"/>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Nagel 1974  ·  Chalmers 1995  ·  Kim 2005  ·  Dennett 1991  ·  Frankish 2016  ·  study §§3.1–3.4</a:t>
            </a:r>
          </a:p>
        </p:txBody>
      </p:sp>
    </p:spTree>
    <p:extLst>
      <p:ext uri="{BB962C8B-B14F-4D97-AF65-F5344CB8AC3E}">
        <p14:creationId xmlns:p14="http://schemas.microsoft.com/office/powerpoint/2010/main" val="19505168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 name="Google Shape;118;p8">
            <a:extLst xmlns:a="http://schemas.openxmlformats.org/drawingml/2006/main">
              <a:ext uri="{FF2B5EF4-FFF2-40B4-BE49-F238E27FC236}">
                <a16:creationId xmlns:a16="http://schemas.microsoft.com/office/drawing/2014/main" id="{1A895B51-C849-4643-AAF7-6C69466BD16C}"/>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9" name="Google Shape;119;p8">
            <a:extLst xmlns:a="http://schemas.openxmlformats.org/drawingml/2006/main">
              <a:ext uri="{FF2B5EF4-FFF2-40B4-BE49-F238E27FC236}">
                <a16:creationId xmlns:a16="http://schemas.microsoft.com/office/drawing/2014/main" id="{4F0C9323-EC89-4514-9EF9-2E58BF182040}"/>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0" name="Google Shape;120;p8">
            <a:extLst xmlns:a="http://schemas.openxmlformats.org/drawingml/2006/main">
              <a:ext uri="{FF2B5EF4-FFF2-40B4-BE49-F238E27FC236}">
                <a16:creationId xmlns:a16="http://schemas.microsoft.com/office/drawing/2014/main" id="{73BBF4D5-F78F-4A94-B9DF-442AD0E22B4A}"/>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1" name="Google Shape;121;p8">
            <a:extLst xmlns:a="http://schemas.openxmlformats.org/drawingml/2006/main">
              <a:ext uri="{FF2B5EF4-FFF2-40B4-BE49-F238E27FC236}">
                <a16:creationId xmlns:a16="http://schemas.microsoft.com/office/drawing/2014/main" id="{8FC7FC4E-1F36-4BFA-ABC3-CFB3F08A8C50}"/>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§§3.3, 3.6  ·  PLURAL MODERN ONTOLOGIES</a:t>
            </a:r>
          </a:p>
        </p:txBody>
      </p:sp>
      <p:sp>
        <p:nvSpPr>
          <p:cNvPr id="122" name="Google Shape;122;p8">
            <a:extLst xmlns:a="http://schemas.openxmlformats.org/drawingml/2006/main">
              <a:ext uri="{FF2B5EF4-FFF2-40B4-BE49-F238E27FC236}">
                <a16:creationId xmlns:a16="http://schemas.microsoft.com/office/drawing/2014/main" id="{BAF8B54E-46E2-4A75-ADAD-8E0A0D15B65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Modern alternatives: partial analogies</a:t>
            </a:r>
          </a:p>
        </p:txBody>
      </p:sp>
      <p:graphicFrame>
        <p:nvGraphicFramePr>
          <p:cNvPr id="132" name="Google Shape;123;p8"/>
          <p:cNvGraphicFramePr/>
          <p:nvPr/>
        </p:nvGraphicFramePr>
        <p:xfrm>
          <a:off xmlns:a="http://schemas.openxmlformats.org/drawingml/2006/main" x="640080" y="1325880"/>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965950"/>
                <a:gridCol w="2926075"/>
                <a:gridCol w="2971800"/>
              </a:tblGrid>
              <a:tr h="310900">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Approach</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31606B"/>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Point of comparison</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31606B"/>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Decisive divergence</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31606B"/>
                    </a:solidFill>
                  </a:tcPr>
                </a:tc>
              </a:tr>
              <a:tr h="530350">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Hylomorphism</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The unity of embodied living</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Soul as bodily form; MD joins jeevan and pranic body</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r>
              <a:tr h="457200">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Spinoza</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Pervasive ground and finite modes</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Modes are not co-eternal units on a par with substance</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r>
              <a:tr h="457200">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Leibniz</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Plural, persisting individual centres</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Partless, windowless monads; pre-established harmony</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r>
              <a:tr h="457200">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Process philosophy</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Relations and becoming are fundamental</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Occasions perish; no permanent jeevan individual</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r>
              <a:tr h="457200">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Panpsychism / neutral monism</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Experience or neutral constituents at the base</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c>
                  <a:txBody>
                    <a:bodyPr/>
                    <a:lstStyle/>
                    <a:p>
                      <a:pPr marL="0" marR="0" indent="0" algn="l">
                        <a:spcBef>
                          <a:spcPts val="0"/>
                        </a:spcBef>
                        <a:spcAft>
                          <a:spcPts val="0"/>
                        </a:spcAft>
                        <a:buClr>
                          <a:srgbClr val="1E2447"/>
                        </a:buClr>
                        <a:buSzPts val="1000"/>
                        <a:buFont typeface="Calibri"/>
                        <a:buNone/>
                      </a:pPr>
                      <a:r>
                        <a:rPr sz="1000" u="none" cap="none">
                          <a:solidFill>
                            <a:srgbClr val="1E2447"/>
                          </a:solidFill>
                          <a:latin typeface="Calibri"/>
                          <a:ea typeface="Calibri"/>
                          <a:cs typeface="Calibri"/>
                        </a:rPr>
                        <a:t>Constitution or combination differs from MD’s sentient-atom threshold</a:t>
                      </a:r>
                    </a:p>
                  </a:txBody>
                  <a:tcPr marL="45725" marR="45725" marT="45725" marB="45725" anchor="ctr">
                    <a:lnL w="9525" cmpd="sng">
                      <a:solidFill>
                        <a:srgbClr val="C9D6D9"/>
                      </a:solidFill>
                      <a:prstDash val="solid"/>
                    </a:lnL>
                    <a:lnR w="9525" cmpd="sng">
                      <a:solidFill>
                        <a:srgbClr val="C9D6D9"/>
                      </a:solidFill>
                      <a:prstDash val="solid"/>
                    </a:lnR>
                    <a:lnT w="9525" cmpd="sng">
                      <a:solidFill>
                        <a:srgbClr val="C9D6D9"/>
                      </a:solidFill>
                      <a:prstDash val="solid"/>
                    </a:lnT>
                    <a:lnB w="9525" cmpd="sng">
                      <a:solidFill>
                        <a:srgbClr val="C9D6D9"/>
                      </a:solidFill>
                      <a:prstDash val="solid"/>
                    </a:lnB>
                    <a:solidFill>
                      <a:srgbClr val="FFFFFF"/>
                    </a:solidFill>
                  </a:tcPr>
                </a:tc>
              </a:tr>
            </a:tbl>
          </a:graphicData>
        </a:graphic>
      </p:graphicFrame>
      <p:sp>
        <p:nvSpPr>
          <p:cNvPr id="124" name="Google Shape;124;p8">
            <a:extLst xmlns:a="http://schemas.openxmlformats.org/drawingml/2006/main">
              <a:ext uri="{FF2B5EF4-FFF2-40B4-BE49-F238E27FC236}">
                <a16:creationId xmlns:a16="http://schemas.microsoft.com/office/drawing/2014/main" id="{2E1D08F6-4C7C-4B20-9F71-FD51215297EB}"/>
              </a:ext>
            </a:extLst>
          </p:cNvPr>
          <p:cNvSpPr>
            <a:spLocks xmlns:a="http://schemas.openxmlformats.org/drawingml/2006/main" noGrp="1"/>
          </p:cNvSpPr>
          <p:nvPr/>
        </p:nvSpPr>
        <p:spPr>
          <a:xfrm xmlns:a="http://schemas.openxmlformats.org/drawingml/2006/main">
            <a:off x="640080" y="4434840"/>
            <a:ext cx="795528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100"/>
              <a:buFont typeface="Calibri"/>
              <a:buNone/>
            </a:pPr>
            <a:r>
              <a:rPr sz="1100" b="0" i="1" u="none" cap="none">
                <a:solidFill>
                  <a:srgbClr val="9A6414"/>
                </a:solidFill>
                <a:latin typeface="Calibri"/>
                <a:ea typeface="Calibri"/>
                <a:cs typeface="Calibri"/>
              </a:rPr>
              <a:t>Each view illuminates one MD commitment while differing on ground, individuation, persistence, or the bearer of experience.</a:t>
            </a:r>
          </a:p>
        </p:txBody>
      </p:sp>
      <p:sp>
        <p:nvSpPr>
          <p:cNvPr id="125" name="Google Shape;125;p8">
            <a:extLst xmlns:a="http://schemas.openxmlformats.org/drawingml/2006/main">
              <a:ext uri="{FF2B5EF4-FFF2-40B4-BE49-F238E27FC236}">
                <a16:creationId xmlns:a16="http://schemas.microsoft.com/office/drawing/2014/main" id="{8F6458A2-C589-4BD1-926D-113CE0223C3F}"/>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Aquinas ST I q. 75–76  ·  Spinoza, Ethics I–II  ·  Leibniz, Monadology  ·  Whitehead 1929  ·  study §§3.3, 3.6</a:t>
            </a:r>
          </a:p>
        </p:txBody>
      </p:sp>
    </p:spTree>
    <p:extLst>
      <p:ext uri="{BB962C8B-B14F-4D97-AF65-F5344CB8AC3E}">
        <p14:creationId xmlns:p14="http://schemas.microsoft.com/office/powerpoint/2010/main" val="5561182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 name="Google Shape;131;p9">
            <a:extLst xmlns:a="http://schemas.openxmlformats.org/drawingml/2006/main">
              <a:ext uri="{FF2B5EF4-FFF2-40B4-BE49-F238E27FC236}">
                <a16:creationId xmlns:a16="http://schemas.microsoft.com/office/drawing/2014/main" id="{E1331CDE-6BCB-42F0-865E-D0B4F06182F4}"/>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2" name="Google Shape;132;p9">
            <a:extLst xmlns:a="http://schemas.openxmlformats.org/drawingml/2006/main">
              <a:ext uri="{FF2B5EF4-FFF2-40B4-BE49-F238E27FC236}">
                <a16:creationId xmlns:a16="http://schemas.microsoft.com/office/drawing/2014/main" id="{3301D72D-23BD-4735-AC96-14DA87CE24A3}"/>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3" name="Google Shape;133;p9">
            <a:extLst xmlns:a="http://schemas.openxmlformats.org/drawingml/2006/main">
              <a:ext uri="{FF2B5EF4-FFF2-40B4-BE49-F238E27FC236}">
                <a16:creationId xmlns:a16="http://schemas.microsoft.com/office/drawing/2014/main" id="{E7C28B51-5B99-4460-8B66-898D6471C0F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4" name="Google Shape;134;p9">
            <a:extLst xmlns:a="http://schemas.openxmlformats.org/drawingml/2006/main">
              <a:ext uri="{FF2B5EF4-FFF2-40B4-BE49-F238E27FC236}">
                <a16:creationId xmlns:a16="http://schemas.microsoft.com/office/drawing/2014/main" id="{3302182E-E02F-490C-928C-253AC214C74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§§4.1, 4.5–4.7  ·  EVIDENCE AND INTERPRETATION</a:t>
            </a:r>
          </a:p>
        </p:txBody>
      </p:sp>
      <p:sp>
        <p:nvSpPr>
          <p:cNvPr id="135" name="Google Shape;135;p9">
            <a:extLst xmlns:a="http://schemas.openxmlformats.org/drawingml/2006/main">
              <a:ext uri="{FF2B5EF4-FFF2-40B4-BE49-F238E27FC236}">
                <a16:creationId xmlns:a16="http://schemas.microsoft.com/office/drawing/2014/main" id="{AA05804D-6525-4C44-BDE2-838D9C5EDF61}"/>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Science maps function, not full ontology</a:t>
            </a:r>
          </a:p>
        </p:txBody>
      </p:sp>
      <p:sp>
        <p:nvSpPr>
          <p:cNvPr id="136" name="Google Shape;136;p9">
            <a:extLst xmlns:a="http://schemas.openxmlformats.org/drawingml/2006/main">
              <a:ext uri="{FF2B5EF4-FFF2-40B4-BE49-F238E27FC236}">
                <a16:creationId xmlns:a16="http://schemas.microsoft.com/office/drawing/2014/main" id="{D334106A-98C5-4087-B9F2-217ED252C90A}"/>
              </a:ext>
            </a:extLst>
          </p:cNvPr>
          <p:cNvSpPr>
            <a:spLocks xmlns:a="http://schemas.openxmlformats.org/drawingml/2006/main" noGrp="1"/>
          </p:cNvSpPr>
          <p:nvPr/>
        </p:nvSpPr>
        <p:spPr>
          <a:xfrm xmlns:a="http://schemas.openxmlformats.org/drawingml/2006/main">
            <a:off x="640080" y="1325880"/>
            <a:ext cx="3794760" cy="1536192"/>
          </a:xfrm>
          <a:prstGeom xmlns:a="http://schemas.openxmlformats.org/drawingml/2006/main" prst="roundRect">
            <a:avLst>
              <a:gd name="adj" fmla="val 5357"/>
            </a:avLst>
          </a:prstGeom>
          <a:solidFill xmlns:a="http://schemas.openxmlformats.org/drawingml/2006/main">
            <a:srgbClr val="EAF1F2"/>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7" name="Google Shape;137;p9">
            <a:extLst xmlns:a="http://schemas.openxmlformats.org/drawingml/2006/main">
              <a:ext uri="{FF2B5EF4-FFF2-40B4-BE49-F238E27FC236}">
                <a16:creationId xmlns:a16="http://schemas.microsoft.com/office/drawing/2014/main" id="{2CF0D5C2-1AE2-436E-8B2E-18F2109FA701}"/>
              </a:ext>
            </a:extLst>
          </p:cNvPr>
          <p:cNvSpPr>
            <a:spLocks xmlns:a="http://schemas.openxmlformats.org/drawingml/2006/main" noGrp="1"/>
          </p:cNvSpPr>
          <p:nvPr/>
        </p:nvSpPr>
        <p:spPr>
          <a:xfrm xmlns:a="http://schemas.openxmlformats.org/drawingml/2006/main">
            <a:off x="841248" y="1444752"/>
            <a:ext cx="3429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250"/>
              <a:buFont typeface="Cambria"/>
              <a:buNone/>
            </a:pPr>
            <a:r>
              <a:rPr sz="1250" b="1" i="0" u="none" cap="none">
                <a:solidFill>
                  <a:srgbClr val="31606B"/>
                </a:solidFill>
                <a:latin typeface="Cambria"/>
                <a:ea typeface="Cambria"/>
                <a:cs typeface="Cambria"/>
              </a:rPr>
              <a:t>Self-models and predictive processing</a:t>
            </a:r>
          </a:p>
        </p:txBody>
      </p:sp>
      <p:sp>
        <p:nvSpPr>
          <p:cNvPr id="138" name="Google Shape;138;p9">
            <a:extLst xmlns:a="http://schemas.openxmlformats.org/drawingml/2006/main">
              <a:ext uri="{FF2B5EF4-FFF2-40B4-BE49-F238E27FC236}">
                <a16:creationId xmlns:a16="http://schemas.microsoft.com/office/drawing/2014/main" id="{46A2BF81-DFC4-43A1-A462-49C24B004C61}"/>
              </a:ext>
            </a:extLst>
          </p:cNvPr>
          <p:cNvSpPr>
            <a:spLocks xmlns:a="http://schemas.openxmlformats.org/drawingml/2006/main" noGrp="1"/>
          </p:cNvSpPr>
          <p:nvPr/>
        </p:nvSpPr>
        <p:spPr>
          <a:xfrm xmlns:a="http://schemas.openxmlformats.org/drawingml/2006/main">
            <a:off x="841248" y="1746504"/>
            <a:ext cx="3429000" cy="1051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60"/>
              <a:buFont typeface="Calibri"/>
              <a:buNone/>
            </a:pPr>
            <a:r>
              <a:rPr sz="960" b="0" i="0" u="none" cap="none">
                <a:solidFill>
                  <a:srgbClr val="5A6377"/>
                </a:solidFill>
                <a:latin typeface="Calibri"/>
                <a:ea typeface="Calibri"/>
                <a:cs typeface="Calibri"/>
              </a:rPr>
              <a:t>Neural and embodied models explain ownership, perspective, prediction, and regulation. They show dependence of measurable personal capacities on living organisation.</a:t>
            </a:r>
          </a:p>
        </p:txBody>
      </p:sp>
      <p:sp>
        <p:nvSpPr>
          <p:cNvPr id="139" name="Google Shape;139;p9">
            <a:extLst xmlns:a="http://schemas.openxmlformats.org/drawingml/2006/main">
              <a:ext uri="{FF2B5EF4-FFF2-40B4-BE49-F238E27FC236}">
                <a16:creationId xmlns:a16="http://schemas.microsoft.com/office/drawing/2014/main" id="{EEF63AEC-6728-4417-A8DF-58C21FFE78AA}"/>
              </a:ext>
            </a:extLst>
          </p:cNvPr>
          <p:cNvSpPr>
            <a:spLocks xmlns:a="http://schemas.openxmlformats.org/drawingml/2006/main" noGrp="1"/>
          </p:cNvSpPr>
          <p:nvPr/>
        </p:nvSpPr>
        <p:spPr>
          <a:xfrm xmlns:a="http://schemas.openxmlformats.org/drawingml/2006/main">
            <a:off x="4709160" y="1325880"/>
            <a:ext cx="3794760" cy="1536192"/>
          </a:xfrm>
          <a:prstGeom xmlns:a="http://schemas.openxmlformats.org/drawingml/2006/main" prst="roundRect">
            <a:avLst>
              <a:gd name="adj" fmla="val 5357"/>
            </a:avLst>
          </a:prstGeom>
          <a:solidFill xmlns:a="http://schemas.openxmlformats.org/drawingml/2006/main">
            <a:srgbClr val="EAF1F2"/>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0" name="Google Shape;140;p9">
            <a:extLst xmlns:a="http://schemas.openxmlformats.org/drawingml/2006/main">
              <a:ext uri="{FF2B5EF4-FFF2-40B4-BE49-F238E27FC236}">
                <a16:creationId xmlns:a16="http://schemas.microsoft.com/office/drawing/2014/main" id="{07192331-3A96-4E09-8C58-402ED4F9D2B1}"/>
              </a:ext>
            </a:extLst>
          </p:cNvPr>
          <p:cNvSpPr>
            <a:spLocks xmlns:a="http://schemas.openxmlformats.org/drawingml/2006/main" noGrp="1"/>
          </p:cNvSpPr>
          <p:nvPr/>
        </p:nvSpPr>
        <p:spPr>
          <a:xfrm xmlns:a="http://schemas.openxmlformats.org/drawingml/2006/main">
            <a:off x="4910328" y="1444752"/>
            <a:ext cx="3429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250"/>
              <a:buFont typeface="Cambria"/>
              <a:buNone/>
            </a:pPr>
            <a:r>
              <a:rPr sz="1250" b="1" i="0" u="none" cap="none">
                <a:solidFill>
                  <a:srgbClr val="31606B"/>
                </a:solidFill>
                <a:latin typeface="Cambria"/>
                <a:ea typeface="Cambria"/>
                <a:cs typeface="Cambria"/>
              </a:rPr>
              <a:t>Consciousness programmes</a:t>
            </a:r>
          </a:p>
        </p:txBody>
      </p:sp>
      <p:sp>
        <p:nvSpPr>
          <p:cNvPr id="141" name="Google Shape;141;p9">
            <a:extLst xmlns:a="http://schemas.openxmlformats.org/drawingml/2006/main">
              <a:ext uri="{FF2B5EF4-FFF2-40B4-BE49-F238E27FC236}">
                <a16:creationId xmlns:a16="http://schemas.microsoft.com/office/drawing/2014/main" id="{34CECB25-B397-42D2-9A0E-FB84F0F20300}"/>
              </a:ext>
            </a:extLst>
          </p:cNvPr>
          <p:cNvSpPr>
            <a:spLocks xmlns:a="http://schemas.openxmlformats.org/drawingml/2006/main" noGrp="1"/>
          </p:cNvSpPr>
          <p:nvPr/>
        </p:nvSpPr>
        <p:spPr>
          <a:xfrm xmlns:a="http://schemas.openxmlformats.org/drawingml/2006/main">
            <a:off x="4910328" y="1746504"/>
            <a:ext cx="3429000" cy="1051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60"/>
              <a:buFont typeface="Calibri"/>
              <a:buNone/>
            </a:pPr>
            <a:r>
              <a:rPr sz="960" b="0" i="0" u="none" cap="none">
                <a:solidFill>
                  <a:srgbClr val="5A6377"/>
                </a:solidFill>
                <a:latin typeface="Calibri"/>
                <a:ea typeface="Calibri"/>
                <a:cs typeface="Calibri"/>
              </a:rPr>
              <a:t>IIT, global-workspace, recurrent-processing, higher-order, and predictive approaches expose different mechanisms and predictions; no programme has settled the bearer question.</a:t>
            </a:r>
          </a:p>
        </p:txBody>
      </p:sp>
      <p:sp>
        <p:nvSpPr>
          <p:cNvPr id="142" name="Google Shape;142;p9">
            <a:extLst xmlns:a="http://schemas.openxmlformats.org/drawingml/2006/main">
              <a:ext uri="{FF2B5EF4-FFF2-40B4-BE49-F238E27FC236}">
                <a16:creationId xmlns:a16="http://schemas.microsoft.com/office/drawing/2014/main" id="{579B75A9-0ABE-45AB-AD3D-7E0993482D10}"/>
              </a:ext>
            </a:extLst>
          </p:cNvPr>
          <p:cNvSpPr>
            <a:spLocks xmlns:a="http://schemas.openxmlformats.org/drawingml/2006/main" noGrp="1"/>
          </p:cNvSpPr>
          <p:nvPr/>
        </p:nvSpPr>
        <p:spPr>
          <a:xfrm xmlns:a="http://schemas.openxmlformats.org/drawingml/2006/main">
            <a:off x="640080" y="3017520"/>
            <a:ext cx="3794760" cy="1536192"/>
          </a:xfrm>
          <a:prstGeom xmlns:a="http://schemas.openxmlformats.org/drawingml/2006/main" prst="roundRect">
            <a:avLst>
              <a:gd name="adj" fmla="val 5357"/>
            </a:avLst>
          </a:prstGeom>
          <a:solidFill xmlns:a="http://schemas.openxmlformats.org/drawingml/2006/main">
            <a:srgbClr val="EAF1F2"/>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3" name="Google Shape;143;p9">
            <a:extLst xmlns:a="http://schemas.openxmlformats.org/drawingml/2006/main">
              <a:ext uri="{FF2B5EF4-FFF2-40B4-BE49-F238E27FC236}">
                <a16:creationId xmlns:a16="http://schemas.microsoft.com/office/drawing/2014/main" id="{C3F9347A-4A38-4852-AF4A-308C965B7428}"/>
              </a:ext>
            </a:extLst>
          </p:cNvPr>
          <p:cNvSpPr>
            <a:spLocks xmlns:a="http://schemas.openxmlformats.org/drawingml/2006/main" noGrp="1"/>
          </p:cNvSpPr>
          <p:nvPr/>
        </p:nvSpPr>
        <p:spPr>
          <a:xfrm xmlns:a="http://schemas.openxmlformats.org/drawingml/2006/main">
            <a:off x="841248" y="3136392"/>
            <a:ext cx="3429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250"/>
              <a:buFont typeface="Cambria"/>
              <a:buNone/>
            </a:pPr>
            <a:r>
              <a:rPr sz="1250" b="1" i="0" u="none" cap="none">
                <a:solidFill>
                  <a:srgbClr val="31606B"/>
                </a:solidFill>
                <a:latin typeface="Cambria"/>
                <a:ea typeface="Cambria"/>
                <a:cs typeface="Cambria"/>
              </a:rPr>
              <a:t>Brain death and continuity</a:t>
            </a:r>
          </a:p>
        </p:txBody>
      </p:sp>
      <p:sp>
        <p:nvSpPr>
          <p:cNvPr id="144" name="Google Shape;144;p9">
            <a:extLst xmlns:a="http://schemas.openxmlformats.org/drawingml/2006/main">
              <a:ext uri="{FF2B5EF4-FFF2-40B4-BE49-F238E27FC236}">
                <a16:creationId xmlns:a16="http://schemas.microsoft.com/office/drawing/2014/main" id="{CB912D13-91ED-4BDA-AB03-2F36C7CC7586}"/>
              </a:ext>
            </a:extLst>
          </p:cNvPr>
          <p:cNvSpPr>
            <a:spLocks xmlns:a="http://schemas.openxmlformats.org/drawingml/2006/main" noGrp="1"/>
          </p:cNvSpPr>
          <p:nvPr/>
        </p:nvSpPr>
        <p:spPr>
          <a:xfrm xmlns:a="http://schemas.openxmlformats.org/drawingml/2006/main">
            <a:off x="841248" y="3438144"/>
            <a:ext cx="3429000" cy="1051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60"/>
              <a:buFont typeface="Calibri"/>
              <a:buNone/>
            </a:pPr>
            <a:r>
              <a:rPr sz="960" b="0" i="0" u="none" cap="none">
                <a:solidFill>
                  <a:srgbClr val="5A6377"/>
                </a:solidFill>
                <a:latin typeface="Calibri"/>
                <a:ea typeface="Calibri"/>
                <a:cs typeface="Calibri"/>
              </a:rPr>
              <a:t>Clinical brain-death criteria concern permanent loss of brain function as a whole. Post-death subject continuity remains unestablished.</a:t>
            </a:r>
          </a:p>
        </p:txBody>
      </p:sp>
      <p:sp>
        <p:nvSpPr>
          <p:cNvPr id="145" name="Google Shape;145;p9">
            <a:extLst xmlns:a="http://schemas.openxmlformats.org/drawingml/2006/main">
              <a:ext uri="{FF2B5EF4-FFF2-40B4-BE49-F238E27FC236}">
                <a16:creationId xmlns:a16="http://schemas.microsoft.com/office/drawing/2014/main" id="{2AB936FE-0D3E-455B-9786-A8D16706384F}"/>
              </a:ext>
            </a:extLst>
          </p:cNvPr>
          <p:cNvSpPr>
            <a:spLocks xmlns:a="http://schemas.openxmlformats.org/drawingml/2006/main" noGrp="1"/>
          </p:cNvSpPr>
          <p:nvPr/>
        </p:nvSpPr>
        <p:spPr>
          <a:xfrm xmlns:a="http://schemas.openxmlformats.org/drawingml/2006/main">
            <a:off x="4709160" y="3017520"/>
            <a:ext cx="3794760" cy="1536192"/>
          </a:xfrm>
          <a:prstGeom xmlns:a="http://schemas.openxmlformats.org/drawingml/2006/main" prst="roundRect">
            <a:avLst>
              <a:gd name="adj" fmla="val 5357"/>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6" name="Google Shape;146;p9">
            <a:extLst xmlns:a="http://schemas.openxmlformats.org/drawingml/2006/main">
              <a:ext uri="{FF2B5EF4-FFF2-40B4-BE49-F238E27FC236}">
                <a16:creationId xmlns:a16="http://schemas.microsoft.com/office/drawing/2014/main" id="{14FB7A6B-0FE5-4594-9277-BCCC023247A0}"/>
              </a:ext>
            </a:extLst>
          </p:cNvPr>
          <p:cNvSpPr>
            <a:spLocks xmlns:a="http://schemas.openxmlformats.org/drawingml/2006/main" noGrp="1"/>
          </p:cNvSpPr>
          <p:nvPr/>
        </p:nvSpPr>
        <p:spPr>
          <a:xfrm xmlns:a="http://schemas.openxmlformats.org/drawingml/2006/main">
            <a:off x="4910328" y="3136392"/>
            <a:ext cx="3429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250"/>
              <a:buFont typeface="Cambria"/>
              <a:buNone/>
            </a:pPr>
            <a:r>
              <a:rPr sz="1250" b="1" i="0" u="none" cap="none">
                <a:solidFill>
                  <a:srgbClr val="9A6414"/>
                </a:solidFill>
                <a:latin typeface="Cambria"/>
                <a:ea typeface="Cambria"/>
                <a:cs typeface="Cambria"/>
              </a:rPr>
              <a:t>What remains metaphysical</a:t>
            </a:r>
          </a:p>
        </p:txBody>
      </p:sp>
      <p:sp>
        <p:nvSpPr>
          <p:cNvPr id="147" name="Google Shape;147;p9">
            <a:extLst xmlns:a="http://schemas.openxmlformats.org/drawingml/2006/main">
              <a:ext uri="{FF2B5EF4-FFF2-40B4-BE49-F238E27FC236}">
                <a16:creationId xmlns:a16="http://schemas.microsoft.com/office/drawing/2014/main" id="{ED7685CD-F91C-4BE7-9F5C-28F0A74459A6}"/>
              </a:ext>
            </a:extLst>
          </p:cNvPr>
          <p:cNvSpPr>
            <a:spLocks xmlns:a="http://schemas.openxmlformats.org/drawingml/2006/main" noGrp="1"/>
          </p:cNvSpPr>
          <p:nvPr/>
        </p:nvSpPr>
        <p:spPr>
          <a:xfrm xmlns:a="http://schemas.openxmlformats.org/drawingml/2006/main">
            <a:off x="4910328" y="3438144"/>
            <a:ext cx="3429000" cy="1051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60"/>
              <a:buFont typeface="Calibri"/>
              <a:buNone/>
            </a:pPr>
            <a:r>
              <a:rPr sz="960" b="0" i="0" u="none" cap="none">
                <a:solidFill>
                  <a:srgbClr val="5A6377"/>
                </a:solidFill>
                <a:latin typeface="Calibri"/>
                <a:ea typeface="Calibri"/>
                <a:cs typeface="Calibri"/>
              </a:rPr>
              <a:t>Mechanisms constrain MD but do not by themselves decide whether organismal continuity exhausts the subject of experience.</a:t>
            </a:r>
          </a:p>
        </p:txBody>
      </p:sp>
      <p:sp>
        <p:nvSpPr>
          <p:cNvPr id="148" name="Google Shape;148;p9">
            <a:extLst xmlns:a="http://schemas.openxmlformats.org/drawingml/2006/main">
              <a:ext uri="{FF2B5EF4-FFF2-40B4-BE49-F238E27FC236}">
                <a16:creationId xmlns:a16="http://schemas.microsoft.com/office/drawing/2014/main" id="{F353EF8F-5D13-4AE9-B57F-5FC6E241B49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Metzinger 2003  ·  Friston 2010  ·  Clark 2016  ·  Seth 2021  ·  adversarial consciousness research  ·  study §§4.5–4.6</a:t>
            </a:r>
          </a:p>
        </p:txBody>
      </p:sp>
    </p:spTree>
    <p:extLst>
      <p:ext uri="{BB962C8B-B14F-4D97-AF65-F5344CB8AC3E}">
        <p14:creationId xmlns:p14="http://schemas.microsoft.com/office/powerpoint/2010/main" val="4480925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 name="Google Shape;154;p10">
            <a:extLst xmlns:a="http://schemas.openxmlformats.org/drawingml/2006/main">
              <a:ext uri="{FF2B5EF4-FFF2-40B4-BE49-F238E27FC236}">
                <a16:creationId xmlns:a16="http://schemas.microsoft.com/office/drawing/2014/main" id="{0A864194-86A9-4494-99BC-CE427A8944BC}"/>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5" name="Google Shape;155;p10">
            <a:extLst xmlns:a="http://schemas.openxmlformats.org/drawingml/2006/main">
              <a:ext uri="{FF2B5EF4-FFF2-40B4-BE49-F238E27FC236}">
                <a16:creationId xmlns:a16="http://schemas.microsoft.com/office/drawing/2014/main" id="{1C845DD1-CF3A-4E1B-8E8E-9BC9D7FAC619}"/>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6" name="Google Shape;156;p10">
            <a:extLst xmlns:a="http://schemas.openxmlformats.org/drawingml/2006/main">
              <a:ext uri="{FF2B5EF4-FFF2-40B4-BE49-F238E27FC236}">
                <a16:creationId xmlns:a16="http://schemas.microsoft.com/office/drawing/2014/main" id="{3684E78C-B669-4EBD-B098-04A17DD5B7D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7" name="Google Shape;157;p10">
            <a:extLst xmlns:a="http://schemas.openxmlformats.org/drawingml/2006/main">
              <a:ext uri="{FF2B5EF4-FFF2-40B4-BE49-F238E27FC236}">
                <a16:creationId xmlns:a16="http://schemas.microsoft.com/office/drawing/2014/main" id="{9D4E7F7D-CB81-4984-860E-2602750C320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§§4.2–4.4  ·  CONSTRAINT, NOT CONFIRMATION</a:t>
            </a:r>
          </a:p>
        </p:txBody>
      </p:sp>
      <p:sp>
        <p:nvSpPr>
          <p:cNvPr id="158" name="Google Shape;158;p10">
            <a:extLst xmlns:a="http://schemas.openxmlformats.org/drawingml/2006/main">
              <a:ext uri="{FF2B5EF4-FFF2-40B4-BE49-F238E27FC236}">
                <a16:creationId xmlns:a16="http://schemas.microsoft.com/office/drawing/2014/main" id="{4FEE7B19-1BC5-41EA-BF6F-668A5D4C04F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Science constrains; it does not confirm</a:t>
            </a:r>
          </a:p>
        </p:txBody>
      </p:sp>
      <p:sp>
        <p:nvSpPr>
          <p:cNvPr id="159" name="Google Shape;159;p10">
            <a:extLst xmlns:a="http://schemas.openxmlformats.org/drawingml/2006/main">
              <a:ext uri="{FF2B5EF4-FFF2-40B4-BE49-F238E27FC236}">
                <a16:creationId xmlns:a16="http://schemas.microsoft.com/office/drawing/2014/main" id="{AB029DE1-D112-441A-B4B2-19BC1A5B93DF}"/>
              </a:ext>
            </a:extLst>
          </p:cNvPr>
          <p:cNvSpPr>
            <a:spLocks xmlns:a="http://schemas.openxmlformats.org/drawingml/2006/main" noGrp="1"/>
          </p:cNvSpPr>
          <p:nvPr/>
        </p:nvSpPr>
        <p:spPr>
          <a:xfrm xmlns:a="http://schemas.openxmlformats.org/drawingml/2006/main">
            <a:off x="640080" y="1325880"/>
            <a:ext cx="3794760" cy="1600200"/>
          </a:xfrm>
          <a:prstGeom xmlns:a="http://schemas.openxmlformats.org/drawingml/2006/main" prst="roundRect">
            <a:avLst>
              <a:gd name="adj" fmla="val 5714"/>
            </a:avLst>
          </a:prstGeom>
          <a:solidFill xmlns:a="http://schemas.openxmlformats.org/drawingml/2006/main">
            <a:srgbClr val="EAF1F2"/>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0" name="Google Shape;160;p10">
            <a:extLst xmlns:a="http://schemas.openxmlformats.org/drawingml/2006/main">
              <a:ext uri="{FF2B5EF4-FFF2-40B4-BE49-F238E27FC236}">
                <a16:creationId xmlns:a16="http://schemas.microsoft.com/office/drawing/2014/main" id="{AB26AD8A-E0AE-4B83-B765-0A7C1B438E39}"/>
              </a:ext>
            </a:extLst>
          </p:cNvPr>
          <p:cNvSpPr>
            <a:spLocks xmlns:a="http://schemas.openxmlformats.org/drawingml/2006/main" noGrp="1"/>
          </p:cNvSpPr>
          <p:nvPr/>
        </p:nvSpPr>
        <p:spPr>
          <a:xfrm xmlns:a="http://schemas.openxmlformats.org/drawingml/2006/main">
            <a:off x="868680" y="1463040"/>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350"/>
              <a:buFont typeface="Cambria"/>
              <a:buNone/>
            </a:pPr>
            <a:r>
              <a:rPr sz="1350" b="1" i="0" u="none" cap="none">
                <a:solidFill>
                  <a:srgbClr val="31606B"/>
                </a:solidFill>
                <a:latin typeface="Cambria"/>
                <a:ea typeface="Cambria"/>
                <a:cs typeface="Cambria"/>
              </a:rPr>
              <a:t>Did existence begin?</a:t>
            </a:r>
          </a:p>
        </p:txBody>
      </p:sp>
      <p:sp>
        <p:nvSpPr>
          <p:cNvPr id="161" name="Google Shape;161;p10">
            <a:extLst xmlns:a="http://schemas.openxmlformats.org/drawingml/2006/main">
              <a:ext uri="{FF2B5EF4-FFF2-40B4-BE49-F238E27FC236}">
                <a16:creationId xmlns:a16="http://schemas.microsoft.com/office/drawing/2014/main" id="{062BDE82-0D13-452C-8FBD-593E44F72E6B}"/>
              </a:ext>
            </a:extLst>
          </p:cNvPr>
          <p:cNvSpPr>
            <a:spLocks xmlns:a="http://schemas.openxmlformats.org/drawingml/2006/main" noGrp="1"/>
          </p:cNvSpPr>
          <p:nvPr/>
        </p:nvSpPr>
        <p:spPr>
          <a:xfrm xmlns:a="http://schemas.openxmlformats.org/drawingml/2006/main">
            <a:off x="868680" y="1764792"/>
            <a:ext cx="338328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30"/>
              <a:buFont typeface="Calibri"/>
              <a:buNone/>
            </a:pPr>
            <a:r>
              <a:rPr sz="1030" b="0" i="0" u="none" cap="none">
                <a:solidFill>
                  <a:srgbClr val="5A6377"/>
                </a:solidFill>
                <a:latin typeface="Calibri"/>
                <a:ea typeface="Calibri"/>
                <a:cs typeface="Calibri"/>
              </a:rPr>
              <a:t>ΛCDM reconstructs a hot dense early universe, not necessarily an absolute beginning. Bounce, cyclic, and inflationary models remain competing programmes—not proof of jagat satat.</a:t>
            </a:r>
          </a:p>
        </p:txBody>
      </p:sp>
      <p:sp>
        <p:nvSpPr>
          <p:cNvPr id="162" name="Google Shape;162;p10">
            <a:extLst xmlns:a="http://schemas.openxmlformats.org/drawingml/2006/main">
              <a:ext uri="{FF2B5EF4-FFF2-40B4-BE49-F238E27FC236}">
                <a16:creationId xmlns:a16="http://schemas.microsoft.com/office/drawing/2014/main" id="{FBA659D2-D5C9-42B5-BB32-251E9120A94C}"/>
              </a:ext>
            </a:extLst>
          </p:cNvPr>
          <p:cNvSpPr>
            <a:spLocks xmlns:a="http://schemas.openxmlformats.org/drawingml/2006/main" noGrp="1"/>
          </p:cNvSpPr>
          <p:nvPr/>
        </p:nvSpPr>
        <p:spPr>
          <a:xfrm xmlns:a="http://schemas.openxmlformats.org/drawingml/2006/main">
            <a:off x="4709160" y="1325880"/>
            <a:ext cx="3794760" cy="1600200"/>
          </a:xfrm>
          <a:prstGeom xmlns:a="http://schemas.openxmlformats.org/drawingml/2006/main" prst="roundRect">
            <a:avLst>
              <a:gd name="adj" fmla="val 5714"/>
            </a:avLst>
          </a:prstGeom>
          <a:solidFill xmlns:a="http://schemas.openxmlformats.org/drawingml/2006/main">
            <a:srgbClr val="EAF1F2"/>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3" name="Google Shape;163;p10">
            <a:extLst xmlns:a="http://schemas.openxmlformats.org/drawingml/2006/main">
              <a:ext uri="{FF2B5EF4-FFF2-40B4-BE49-F238E27FC236}">
                <a16:creationId xmlns:a16="http://schemas.microsoft.com/office/drawing/2014/main" id="{B0AA42E0-3A0B-43F7-A27B-B9889EB9780A}"/>
              </a:ext>
            </a:extLst>
          </p:cNvPr>
          <p:cNvSpPr>
            <a:spLocks xmlns:a="http://schemas.openxmlformats.org/drawingml/2006/main" noGrp="1"/>
          </p:cNvSpPr>
          <p:nvPr/>
        </p:nvSpPr>
        <p:spPr>
          <a:xfrm xmlns:a="http://schemas.openxmlformats.org/drawingml/2006/main">
            <a:off x="4937760" y="1463040"/>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31606B"/>
              </a:buClr>
              <a:buSzPts val="1350"/>
              <a:buFont typeface="Cambria"/>
              <a:buNone/>
            </a:pPr>
            <a:r>
              <a:rPr sz="1350" b="1" i="0" u="none" cap="none">
                <a:solidFill>
                  <a:srgbClr val="31606B"/>
                </a:solidFill>
                <a:latin typeface="Cambria"/>
                <a:ea typeface="Cambria"/>
                <a:cs typeface="Cambria"/>
              </a:rPr>
              <a:t>What persists?</a:t>
            </a:r>
          </a:p>
        </p:txBody>
      </p:sp>
      <p:sp>
        <p:nvSpPr>
          <p:cNvPr id="164" name="Google Shape;164;p10">
            <a:extLst xmlns:a="http://schemas.openxmlformats.org/drawingml/2006/main">
              <a:ext uri="{FF2B5EF4-FFF2-40B4-BE49-F238E27FC236}">
                <a16:creationId xmlns:a16="http://schemas.microsoft.com/office/drawing/2014/main" id="{96EE7C51-F8CC-42D3-B002-F8751E40D81C}"/>
              </a:ext>
            </a:extLst>
          </p:cNvPr>
          <p:cNvSpPr>
            <a:spLocks xmlns:a="http://schemas.openxmlformats.org/drawingml/2006/main" noGrp="1"/>
          </p:cNvSpPr>
          <p:nvPr/>
        </p:nvSpPr>
        <p:spPr>
          <a:xfrm xmlns:a="http://schemas.openxmlformats.org/drawingml/2006/main">
            <a:off x="4937760" y="1764792"/>
            <a:ext cx="338328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30"/>
              <a:buFont typeface="Calibri"/>
              <a:buNone/>
            </a:pPr>
            <a:r>
              <a:rPr sz="1030" b="0" i="0" u="none" cap="none">
                <a:solidFill>
                  <a:srgbClr val="5A6377"/>
                </a:solidFill>
                <a:latin typeface="Calibri"/>
                <a:ea typeface="Calibri"/>
                <a:cs typeface="Calibri"/>
              </a:rPr>
              <a:t>QFT permits changing particle numbers while preserving appropriate conserved quantities. This neither proves perpetual ikai nor identifies satta with a physical field.</a:t>
            </a:r>
          </a:p>
        </p:txBody>
      </p:sp>
      <p:sp>
        <p:nvSpPr>
          <p:cNvPr id="165" name="Google Shape;165;p10">
            <a:extLst xmlns:a="http://schemas.openxmlformats.org/drawingml/2006/main">
              <a:ext uri="{FF2B5EF4-FFF2-40B4-BE49-F238E27FC236}">
                <a16:creationId xmlns:a16="http://schemas.microsoft.com/office/drawing/2014/main" id="{7E820FAC-C2C0-4A2A-91B5-5DD1DC98D2B5}"/>
              </a:ext>
            </a:extLst>
          </p:cNvPr>
          <p:cNvSpPr>
            <a:spLocks xmlns:a="http://schemas.openxmlformats.org/drawingml/2006/main" noGrp="1"/>
          </p:cNvSpPr>
          <p:nvPr/>
        </p:nvSpPr>
        <p:spPr>
          <a:xfrm xmlns:a="http://schemas.openxmlformats.org/drawingml/2006/main">
            <a:off x="640080" y="3154680"/>
            <a:ext cx="7863840" cy="868680"/>
          </a:xfrm>
          <a:prstGeom xmlns:a="http://schemas.openxmlformats.org/drawingml/2006/main" prst="roundRect">
            <a:avLst>
              <a:gd name="adj" fmla="val 9474"/>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6" name="Google Shape;166;p10">
            <a:extLst xmlns:a="http://schemas.openxmlformats.org/drawingml/2006/main">
              <a:ext uri="{FF2B5EF4-FFF2-40B4-BE49-F238E27FC236}">
                <a16:creationId xmlns:a16="http://schemas.microsoft.com/office/drawing/2014/main" id="{86BA682D-A97C-4AC8-83DA-B8872A2F509B}"/>
              </a:ext>
            </a:extLst>
          </p:cNvPr>
          <p:cNvSpPr>
            <a:spLocks xmlns:a="http://schemas.openxmlformats.org/drawingml/2006/main" noGrp="1"/>
          </p:cNvSpPr>
          <p:nvPr/>
        </p:nvSpPr>
        <p:spPr>
          <a:xfrm xmlns:a="http://schemas.openxmlformats.org/drawingml/2006/main">
            <a:off x="868680" y="3154680"/>
            <a:ext cx="7406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150"/>
              <a:buFont typeface="Calibri"/>
              <a:buNone/>
            </a:pPr>
            <a:r>
              <a:rPr sz="1150" b="1" i="0" u="none" cap="none">
                <a:solidFill>
                  <a:srgbClr val="9A6414"/>
                </a:solidFill>
                <a:latin typeface="Calibri"/>
                <a:ea typeface="Calibri"/>
                <a:cs typeface="Calibri"/>
              </a:rPr>
              <a:t>Discipline of comparison: use ‘parallel to,’ ‘consonant with,’ or ‘in tension with’ unless a shared operational criterion has been established.</a:t>
            </a:r>
          </a:p>
        </p:txBody>
      </p:sp>
      <p:sp>
        <p:nvSpPr>
          <p:cNvPr id="167" name="Google Shape;167;p10">
            <a:extLst xmlns:a="http://schemas.openxmlformats.org/drawingml/2006/main">
              <a:ext uri="{FF2B5EF4-FFF2-40B4-BE49-F238E27FC236}">
                <a16:creationId xmlns:a16="http://schemas.microsoft.com/office/drawing/2014/main" id="{F53974B1-CC0C-40CD-962E-7E16AEEEA46E}"/>
              </a:ext>
            </a:extLst>
          </p:cNvPr>
          <p:cNvSpPr>
            <a:spLocks xmlns:a="http://schemas.openxmlformats.org/drawingml/2006/main" noGrp="1"/>
          </p:cNvSpPr>
          <p:nvPr/>
        </p:nvSpPr>
        <p:spPr>
          <a:xfrm xmlns:a="http://schemas.openxmlformats.org/drawingml/2006/main">
            <a:off x="640080" y="4206240"/>
            <a:ext cx="79552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100"/>
              <a:buFont typeface="Calibri"/>
              <a:buNone/>
            </a:pPr>
            <a:r>
              <a:rPr sz="1100" b="0" i="1" u="none" cap="none">
                <a:solidFill>
                  <a:srgbClr val="1E2447"/>
                </a:solidFill>
                <a:latin typeface="Calibri"/>
                <a:ea typeface="Calibri"/>
                <a:cs typeface="Calibri"/>
              </a:rPr>
              <a:t>Niyati-kram and evolution work at different descriptive levels. The open task is to map MD’s ordered relations to descent, variation, selection, drift, development, and contingency.</a:t>
            </a:r>
          </a:p>
        </p:txBody>
      </p:sp>
      <p:sp>
        <p:nvSpPr>
          <p:cNvPr id="168" name="Google Shape;168;p10">
            <a:extLst xmlns:a="http://schemas.openxmlformats.org/drawingml/2006/main">
              <a:ext uri="{FF2B5EF4-FFF2-40B4-BE49-F238E27FC236}">
                <a16:creationId xmlns:a16="http://schemas.microsoft.com/office/drawing/2014/main" id="{389F4060-DC5A-4820-9211-C62C5A253DF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Ashtekar &amp; Singh 2011  ·  Penrose 2010  ·  Guth 2007  ·  Weinberg 1995  ·  modern evolutionary synthesis  ·  study §§4.2–4.4, 6.2.3</a:t>
            </a:r>
          </a:p>
        </p:txBody>
      </p:sp>
    </p:spTree>
    <p:extLst>
      <p:ext uri="{BB962C8B-B14F-4D97-AF65-F5344CB8AC3E}">
        <p14:creationId xmlns:p14="http://schemas.microsoft.com/office/powerpoint/2010/main" val="10022704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3" name="Google Shape;253;p16">
            <a:extLst xmlns:a="http://schemas.openxmlformats.org/drawingml/2006/main">
              <a:ext uri="{FF2B5EF4-FFF2-40B4-BE49-F238E27FC236}">
                <a16:creationId xmlns:a16="http://schemas.microsoft.com/office/drawing/2014/main" id="{D80A23E5-7455-4A28-863C-2F23900827CB}"/>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4" name="Google Shape;254;p16">
            <a:extLst xmlns:a="http://schemas.openxmlformats.org/drawingml/2006/main">
              <a:ext uri="{FF2B5EF4-FFF2-40B4-BE49-F238E27FC236}">
                <a16:creationId xmlns:a16="http://schemas.microsoft.com/office/drawing/2014/main" id="{4B6436A7-82A9-4CCF-8667-543BF9044DA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5" name="Google Shape;255;p16">
            <a:extLst xmlns:a="http://schemas.openxmlformats.org/drawingml/2006/main">
              <a:ext uri="{FF2B5EF4-FFF2-40B4-BE49-F238E27FC236}">
                <a16:creationId xmlns:a16="http://schemas.microsoft.com/office/drawing/2014/main" id="{7BA6A51D-854F-497A-8115-9AF6BECF369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6" name="Google Shape;256;p16">
            <a:extLst xmlns:a="http://schemas.openxmlformats.org/drawingml/2006/main">
              <a:ext uri="{FF2B5EF4-FFF2-40B4-BE49-F238E27FC236}">
                <a16:creationId xmlns:a16="http://schemas.microsoft.com/office/drawing/2014/main" id="{D3914DA2-4B45-4648-948A-BD7CDD2D196C}"/>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§5.1  ·  COMMON AXES BEFORE ALIGNMENTS</a:t>
            </a:r>
          </a:p>
        </p:txBody>
      </p:sp>
      <p:sp>
        <p:nvSpPr>
          <p:cNvPr id="257" name="Google Shape;257;p16">
            <a:extLst xmlns:a="http://schemas.openxmlformats.org/drawingml/2006/main">
              <a:ext uri="{FF2B5EF4-FFF2-40B4-BE49-F238E27FC236}">
                <a16:creationId xmlns:a16="http://schemas.microsoft.com/office/drawing/2014/main" id="{13505023-DE39-405D-9088-4C8E470AC6F2}"/>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Ten criteria prevent false alliances</a:t>
            </a:r>
          </a:p>
        </p:txBody>
      </p:sp>
      <p:sp>
        <p:nvSpPr>
          <p:cNvPr id="258" name="Google Shape;258;p16">
            <a:extLst xmlns:a="http://schemas.openxmlformats.org/drawingml/2006/main">
              <a:ext uri="{FF2B5EF4-FFF2-40B4-BE49-F238E27FC236}">
                <a16:creationId xmlns:a16="http://schemas.microsoft.com/office/drawing/2014/main" id="{DA654844-0A68-4621-A1E9-327AFBD38A6F}"/>
              </a:ext>
            </a:extLst>
          </p:cNvPr>
          <p:cNvSpPr>
            <a:spLocks xmlns:a="http://schemas.openxmlformats.org/drawingml/2006/main" noGrp="1"/>
          </p:cNvSpPr>
          <p:nvPr/>
        </p:nvSpPr>
        <p:spPr>
          <a:xfrm xmlns:a="http://schemas.openxmlformats.org/drawingml/2006/main">
            <a:off x="640080" y="1325880"/>
            <a:ext cx="3794760" cy="987552"/>
          </a:xfrm>
          <a:prstGeom xmlns:a="http://schemas.openxmlformats.org/drawingml/2006/main" prst="roundRect">
            <a:avLst>
              <a:gd name="adj" fmla="val 833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9" name="Google Shape;259;p16">
            <a:extLst xmlns:a="http://schemas.openxmlformats.org/drawingml/2006/main">
              <a:ext uri="{FF2B5EF4-FFF2-40B4-BE49-F238E27FC236}">
                <a16:creationId xmlns:a16="http://schemas.microsoft.com/office/drawing/2014/main" id="{0B9CA541-DCB6-4492-901B-249628711BF2}"/>
              </a:ext>
            </a:extLst>
          </p:cNvPr>
          <p:cNvSpPr>
            <a:spLocks xmlns:a="http://schemas.openxmlformats.org/drawingml/2006/main" noGrp="1"/>
          </p:cNvSpPr>
          <p:nvPr/>
        </p:nvSpPr>
        <p:spPr>
          <a:xfrm xmlns:a="http://schemas.openxmlformats.org/drawingml/2006/main">
            <a:off x="786384" y="1453896"/>
            <a:ext cx="402336" cy="40233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0" name="Google Shape;260;p16">
            <a:extLst xmlns:a="http://schemas.openxmlformats.org/drawingml/2006/main">
              <a:ext uri="{FF2B5EF4-FFF2-40B4-BE49-F238E27FC236}">
                <a16:creationId xmlns:a16="http://schemas.microsoft.com/office/drawing/2014/main" id="{46A122EF-5A7C-4857-9748-AA93523A3E11}"/>
              </a:ext>
            </a:extLst>
          </p:cNvPr>
          <p:cNvSpPr>
            <a:spLocks xmlns:a="http://schemas.openxmlformats.org/drawingml/2006/main" noGrp="1"/>
          </p:cNvSpPr>
          <p:nvPr/>
        </p:nvSpPr>
        <p:spPr>
          <a:xfrm xmlns:a="http://schemas.openxmlformats.org/drawingml/2006/main">
            <a:off x="786384" y="1453896"/>
            <a:ext cx="40233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850"/>
              <a:buFont typeface="Calibri"/>
              <a:buNone/>
            </a:pPr>
            <a:r>
              <a:rPr sz="850" b="1" i="0" u="none" cap="none">
                <a:solidFill>
                  <a:srgbClr val="FFFFFF"/>
                </a:solidFill>
                <a:latin typeface="Calibri"/>
                <a:ea typeface="Calibri"/>
                <a:cs typeface="Calibri"/>
              </a:rPr>
              <a:t>1–2</a:t>
            </a:r>
          </a:p>
        </p:txBody>
      </p:sp>
      <p:sp>
        <p:nvSpPr>
          <p:cNvPr id="261" name="Google Shape;261;p16">
            <a:extLst xmlns:a="http://schemas.openxmlformats.org/drawingml/2006/main">
              <a:ext uri="{FF2B5EF4-FFF2-40B4-BE49-F238E27FC236}">
                <a16:creationId xmlns:a16="http://schemas.microsoft.com/office/drawing/2014/main" id="{8F7F9B68-1806-493D-9707-8787B3D25B8F}"/>
              </a:ext>
            </a:extLst>
          </p:cNvPr>
          <p:cNvSpPr>
            <a:spLocks xmlns:a="http://schemas.openxmlformats.org/drawingml/2006/main" noGrp="1"/>
          </p:cNvSpPr>
          <p:nvPr/>
        </p:nvSpPr>
        <p:spPr>
          <a:xfrm xmlns:a="http://schemas.openxmlformats.org/drawingml/2006/main">
            <a:off x="1298448" y="1399032"/>
            <a:ext cx="3017520" cy="8595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Primitives and individuation</a:t>
            </a:r>
          </a:p>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What is fundamental, and what makes one being distinct?</a:t>
            </a:r>
          </a:p>
        </p:txBody>
      </p:sp>
      <p:sp>
        <p:nvSpPr>
          <p:cNvPr id="262" name="Google Shape;262;p16">
            <a:extLst xmlns:a="http://schemas.openxmlformats.org/drawingml/2006/main">
              <a:ext uri="{FF2B5EF4-FFF2-40B4-BE49-F238E27FC236}">
                <a16:creationId xmlns:a16="http://schemas.microsoft.com/office/drawing/2014/main" id="{D02B6860-8F77-4189-A1A7-286B483A217D}"/>
              </a:ext>
            </a:extLst>
          </p:cNvPr>
          <p:cNvSpPr>
            <a:spLocks xmlns:a="http://schemas.openxmlformats.org/drawingml/2006/main" noGrp="1"/>
          </p:cNvSpPr>
          <p:nvPr/>
        </p:nvSpPr>
        <p:spPr>
          <a:xfrm xmlns:a="http://schemas.openxmlformats.org/drawingml/2006/main">
            <a:off x="4709160" y="1325880"/>
            <a:ext cx="3794760" cy="987552"/>
          </a:xfrm>
          <a:prstGeom xmlns:a="http://schemas.openxmlformats.org/drawingml/2006/main" prst="roundRect">
            <a:avLst>
              <a:gd name="adj" fmla="val 833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3" name="Google Shape;263;p16">
            <a:extLst xmlns:a="http://schemas.openxmlformats.org/drawingml/2006/main">
              <a:ext uri="{FF2B5EF4-FFF2-40B4-BE49-F238E27FC236}">
                <a16:creationId xmlns:a16="http://schemas.microsoft.com/office/drawing/2014/main" id="{797A3BFF-F6B9-4BD2-8462-658667DA1081}"/>
              </a:ext>
            </a:extLst>
          </p:cNvPr>
          <p:cNvSpPr>
            <a:spLocks xmlns:a="http://schemas.openxmlformats.org/drawingml/2006/main" noGrp="1"/>
          </p:cNvSpPr>
          <p:nvPr/>
        </p:nvSpPr>
        <p:spPr>
          <a:xfrm xmlns:a="http://schemas.openxmlformats.org/drawingml/2006/main">
            <a:off x="4855464" y="1453896"/>
            <a:ext cx="402336" cy="40233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4" name="Google Shape;264;p16">
            <a:extLst xmlns:a="http://schemas.openxmlformats.org/drawingml/2006/main">
              <a:ext uri="{FF2B5EF4-FFF2-40B4-BE49-F238E27FC236}">
                <a16:creationId xmlns:a16="http://schemas.microsoft.com/office/drawing/2014/main" id="{47A64D9D-0B2F-47F4-B859-DA307A4C6364}"/>
              </a:ext>
            </a:extLst>
          </p:cNvPr>
          <p:cNvSpPr>
            <a:spLocks xmlns:a="http://schemas.openxmlformats.org/drawingml/2006/main" noGrp="1"/>
          </p:cNvSpPr>
          <p:nvPr/>
        </p:nvSpPr>
        <p:spPr>
          <a:xfrm xmlns:a="http://schemas.openxmlformats.org/drawingml/2006/main">
            <a:off x="4855464" y="1453896"/>
            <a:ext cx="40233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850"/>
              <a:buFont typeface="Calibri"/>
              <a:buNone/>
            </a:pPr>
            <a:r>
              <a:rPr sz="850" b="1" i="0" u="none" cap="none">
                <a:solidFill>
                  <a:srgbClr val="FFFFFF"/>
                </a:solidFill>
                <a:latin typeface="Calibri"/>
                <a:ea typeface="Calibri"/>
                <a:cs typeface="Calibri"/>
              </a:rPr>
              <a:t>3</a:t>
            </a:r>
          </a:p>
        </p:txBody>
      </p:sp>
      <p:sp>
        <p:nvSpPr>
          <p:cNvPr id="265" name="Google Shape;265;p16">
            <a:extLst xmlns:a="http://schemas.openxmlformats.org/drawingml/2006/main">
              <a:ext uri="{FF2B5EF4-FFF2-40B4-BE49-F238E27FC236}">
                <a16:creationId xmlns:a16="http://schemas.microsoft.com/office/drawing/2014/main" id="{F041C07E-5702-4914-BA43-869CFB1C474C}"/>
              </a:ext>
            </a:extLst>
          </p:cNvPr>
          <p:cNvSpPr>
            <a:spLocks xmlns:a="http://schemas.openxmlformats.org/drawingml/2006/main" noGrp="1"/>
          </p:cNvSpPr>
          <p:nvPr/>
        </p:nvSpPr>
        <p:spPr>
          <a:xfrm xmlns:a="http://schemas.openxmlformats.org/drawingml/2006/main">
            <a:off x="5367528" y="1399032"/>
            <a:ext cx="3017520" cy="8595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Ground and particulars</a:t>
            </a:r>
          </a:p>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Does the ground produce, constitute, sustain, or sublate particulars?</a:t>
            </a:r>
          </a:p>
        </p:txBody>
      </p:sp>
      <p:sp>
        <p:nvSpPr>
          <p:cNvPr id="266" name="Google Shape;266;p16">
            <a:extLst xmlns:a="http://schemas.openxmlformats.org/drawingml/2006/main">
              <a:ext uri="{FF2B5EF4-FFF2-40B4-BE49-F238E27FC236}">
                <a16:creationId xmlns:a16="http://schemas.microsoft.com/office/drawing/2014/main" id="{7D9EB267-C5A8-407B-8E54-5641A7A5859A}"/>
              </a:ext>
            </a:extLst>
          </p:cNvPr>
          <p:cNvSpPr>
            <a:spLocks xmlns:a="http://schemas.openxmlformats.org/drawingml/2006/main" noGrp="1"/>
          </p:cNvSpPr>
          <p:nvPr/>
        </p:nvSpPr>
        <p:spPr>
          <a:xfrm xmlns:a="http://schemas.openxmlformats.org/drawingml/2006/main">
            <a:off x="640080" y="2450592"/>
            <a:ext cx="3794760" cy="987552"/>
          </a:xfrm>
          <a:prstGeom xmlns:a="http://schemas.openxmlformats.org/drawingml/2006/main" prst="roundRect">
            <a:avLst>
              <a:gd name="adj" fmla="val 833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7" name="Google Shape;267;p16">
            <a:extLst xmlns:a="http://schemas.openxmlformats.org/drawingml/2006/main">
              <a:ext uri="{FF2B5EF4-FFF2-40B4-BE49-F238E27FC236}">
                <a16:creationId xmlns:a16="http://schemas.microsoft.com/office/drawing/2014/main" id="{942CF14B-4D62-48CA-89D4-8270A804760A}"/>
              </a:ext>
            </a:extLst>
          </p:cNvPr>
          <p:cNvSpPr>
            <a:spLocks xmlns:a="http://schemas.openxmlformats.org/drawingml/2006/main" noGrp="1"/>
          </p:cNvSpPr>
          <p:nvPr/>
        </p:nvSpPr>
        <p:spPr>
          <a:xfrm xmlns:a="http://schemas.openxmlformats.org/drawingml/2006/main">
            <a:off x="786384" y="2578608"/>
            <a:ext cx="402336" cy="40233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8" name="Google Shape;268;p16">
            <a:extLst xmlns:a="http://schemas.openxmlformats.org/drawingml/2006/main">
              <a:ext uri="{FF2B5EF4-FFF2-40B4-BE49-F238E27FC236}">
                <a16:creationId xmlns:a16="http://schemas.microsoft.com/office/drawing/2014/main" id="{37DE098A-7493-4B89-A469-DE811C64AC90}"/>
              </a:ext>
            </a:extLst>
          </p:cNvPr>
          <p:cNvSpPr>
            <a:spLocks xmlns:a="http://schemas.openxmlformats.org/drawingml/2006/main" noGrp="1"/>
          </p:cNvSpPr>
          <p:nvPr/>
        </p:nvSpPr>
        <p:spPr>
          <a:xfrm xmlns:a="http://schemas.openxmlformats.org/drawingml/2006/main">
            <a:off x="786384" y="2578608"/>
            <a:ext cx="40233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850"/>
              <a:buFont typeface="Calibri"/>
              <a:buNone/>
            </a:pPr>
            <a:r>
              <a:rPr sz="850" b="1" i="0" u="none" cap="none">
                <a:solidFill>
                  <a:srgbClr val="FFFFFF"/>
                </a:solidFill>
                <a:latin typeface="Calibri"/>
                <a:ea typeface="Calibri"/>
                <a:cs typeface="Calibri"/>
              </a:rPr>
              <a:t>4–5</a:t>
            </a:r>
          </a:p>
        </p:txBody>
      </p:sp>
      <p:sp>
        <p:nvSpPr>
          <p:cNvPr id="269" name="Google Shape;269;p16">
            <a:extLst xmlns:a="http://schemas.openxmlformats.org/drawingml/2006/main">
              <a:ext uri="{FF2B5EF4-FFF2-40B4-BE49-F238E27FC236}">
                <a16:creationId xmlns:a16="http://schemas.microsoft.com/office/drawing/2014/main" id="{3976B953-A17E-41CB-89F6-54A376594A08}"/>
              </a:ext>
            </a:extLst>
          </p:cNvPr>
          <p:cNvSpPr>
            <a:spLocks xmlns:a="http://schemas.openxmlformats.org/drawingml/2006/main" noGrp="1"/>
          </p:cNvSpPr>
          <p:nvPr/>
        </p:nvSpPr>
        <p:spPr>
          <a:xfrm xmlns:a="http://schemas.openxmlformats.org/drawingml/2006/main">
            <a:off x="1298448" y="2523744"/>
            <a:ext cx="3017520" cy="8595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World and change</a:t>
            </a:r>
          </a:p>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What remains real, and what persists or transforms?</a:t>
            </a:r>
          </a:p>
        </p:txBody>
      </p:sp>
      <p:sp>
        <p:nvSpPr>
          <p:cNvPr id="270" name="Google Shape;270;p16">
            <a:extLst xmlns:a="http://schemas.openxmlformats.org/drawingml/2006/main">
              <a:ext uri="{FF2B5EF4-FFF2-40B4-BE49-F238E27FC236}">
                <a16:creationId xmlns:a16="http://schemas.microsoft.com/office/drawing/2014/main" id="{D2AF33B8-5A0C-4914-AF84-8B03022FC5A4}"/>
              </a:ext>
            </a:extLst>
          </p:cNvPr>
          <p:cNvSpPr>
            <a:spLocks xmlns:a="http://schemas.openxmlformats.org/drawingml/2006/main" noGrp="1"/>
          </p:cNvSpPr>
          <p:nvPr/>
        </p:nvSpPr>
        <p:spPr>
          <a:xfrm xmlns:a="http://schemas.openxmlformats.org/drawingml/2006/main">
            <a:off x="4709160" y="2450592"/>
            <a:ext cx="3794760" cy="987552"/>
          </a:xfrm>
          <a:prstGeom xmlns:a="http://schemas.openxmlformats.org/drawingml/2006/main" prst="roundRect">
            <a:avLst>
              <a:gd name="adj" fmla="val 833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1" name="Google Shape;271;p16">
            <a:extLst xmlns:a="http://schemas.openxmlformats.org/drawingml/2006/main">
              <a:ext uri="{FF2B5EF4-FFF2-40B4-BE49-F238E27FC236}">
                <a16:creationId xmlns:a16="http://schemas.microsoft.com/office/drawing/2014/main" id="{9D2E03FA-1B83-4C83-8917-4D1A48035106}"/>
              </a:ext>
            </a:extLst>
          </p:cNvPr>
          <p:cNvSpPr>
            <a:spLocks xmlns:a="http://schemas.openxmlformats.org/drawingml/2006/main" noGrp="1"/>
          </p:cNvSpPr>
          <p:nvPr/>
        </p:nvSpPr>
        <p:spPr>
          <a:xfrm xmlns:a="http://schemas.openxmlformats.org/drawingml/2006/main">
            <a:off x="4855464" y="2578608"/>
            <a:ext cx="402336" cy="40233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16">
            <a:extLst xmlns:a="http://schemas.openxmlformats.org/drawingml/2006/main">
              <a:ext uri="{FF2B5EF4-FFF2-40B4-BE49-F238E27FC236}">
                <a16:creationId xmlns:a16="http://schemas.microsoft.com/office/drawing/2014/main" id="{8307FBEF-3D3E-4D15-B4EA-BFB3FF828EFE}"/>
              </a:ext>
            </a:extLst>
          </p:cNvPr>
          <p:cNvSpPr>
            <a:spLocks xmlns:a="http://schemas.openxmlformats.org/drawingml/2006/main" noGrp="1"/>
          </p:cNvSpPr>
          <p:nvPr/>
        </p:nvSpPr>
        <p:spPr>
          <a:xfrm xmlns:a="http://schemas.openxmlformats.org/drawingml/2006/main">
            <a:off x="4855464" y="2578608"/>
            <a:ext cx="40233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850"/>
              <a:buFont typeface="Calibri"/>
              <a:buNone/>
            </a:pPr>
            <a:r>
              <a:rPr sz="850" b="1" i="0" u="none" cap="none">
                <a:solidFill>
                  <a:srgbClr val="FFFFFF"/>
                </a:solidFill>
                <a:latin typeface="Calibri"/>
                <a:ea typeface="Calibri"/>
                <a:cs typeface="Calibri"/>
              </a:rPr>
              <a:t>6</a:t>
            </a:r>
          </a:p>
        </p:txBody>
      </p:sp>
      <p:sp>
        <p:nvSpPr>
          <p:cNvPr id="273" name="Google Shape;273;p16">
            <a:extLst xmlns:a="http://schemas.openxmlformats.org/drawingml/2006/main">
              <a:ext uri="{FF2B5EF4-FFF2-40B4-BE49-F238E27FC236}">
                <a16:creationId xmlns:a16="http://schemas.microsoft.com/office/drawing/2014/main" id="{EF99F09C-E873-4280-95A5-986F1D003592}"/>
              </a:ext>
            </a:extLst>
          </p:cNvPr>
          <p:cNvSpPr>
            <a:spLocks xmlns:a="http://schemas.openxmlformats.org/drawingml/2006/main" noGrp="1"/>
          </p:cNvSpPr>
          <p:nvPr/>
        </p:nvSpPr>
        <p:spPr>
          <a:xfrm xmlns:a="http://schemas.openxmlformats.org/drawingml/2006/main">
            <a:off x="5367528" y="2523744"/>
            <a:ext cx="3017520" cy="8595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Self and survival</a:t>
            </a:r>
          </a:p>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What bears experience, and does it persist?</a:t>
            </a:r>
          </a:p>
        </p:txBody>
      </p:sp>
      <p:sp>
        <p:nvSpPr>
          <p:cNvPr id="274" name="Google Shape;274;p16">
            <a:extLst xmlns:a="http://schemas.openxmlformats.org/drawingml/2006/main">
              <a:ext uri="{FF2B5EF4-FFF2-40B4-BE49-F238E27FC236}">
                <a16:creationId xmlns:a16="http://schemas.microsoft.com/office/drawing/2014/main" id="{0F775B15-0072-49F3-A9FB-2D7772C14AE2}"/>
              </a:ext>
            </a:extLst>
          </p:cNvPr>
          <p:cNvSpPr>
            <a:spLocks xmlns:a="http://schemas.openxmlformats.org/drawingml/2006/main" noGrp="1"/>
          </p:cNvSpPr>
          <p:nvPr/>
        </p:nvSpPr>
        <p:spPr>
          <a:xfrm xmlns:a="http://schemas.openxmlformats.org/drawingml/2006/main">
            <a:off x="640080" y="3575304"/>
            <a:ext cx="3794760" cy="987552"/>
          </a:xfrm>
          <a:prstGeom xmlns:a="http://schemas.openxmlformats.org/drawingml/2006/main" prst="roundRect">
            <a:avLst>
              <a:gd name="adj" fmla="val 833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5" name="Google Shape;275;p16">
            <a:extLst xmlns:a="http://schemas.openxmlformats.org/drawingml/2006/main">
              <a:ext uri="{FF2B5EF4-FFF2-40B4-BE49-F238E27FC236}">
                <a16:creationId xmlns:a16="http://schemas.microsoft.com/office/drawing/2014/main" id="{8C560D40-9C19-4981-A099-3F2813636A8C}"/>
              </a:ext>
            </a:extLst>
          </p:cNvPr>
          <p:cNvSpPr>
            <a:spLocks xmlns:a="http://schemas.openxmlformats.org/drawingml/2006/main" noGrp="1"/>
          </p:cNvSpPr>
          <p:nvPr/>
        </p:nvSpPr>
        <p:spPr>
          <a:xfrm xmlns:a="http://schemas.openxmlformats.org/drawingml/2006/main">
            <a:off x="786384" y="3703320"/>
            <a:ext cx="402336" cy="40233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6" name="Google Shape;276;p16">
            <a:extLst xmlns:a="http://schemas.openxmlformats.org/drawingml/2006/main">
              <a:ext uri="{FF2B5EF4-FFF2-40B4-BE49-F238E27FC236}">
                <a16:creationId xmlns:a16="http://schemas.microsoft.com/office/drawing/2014/main" id="{111916EA-B2F1-4F01-B41D-A96CE8425096}"/>
              </a:ext>
            </a:extLst>
          </p:cNvPr>
          <p:cNvSpPr>
            <a:spLocks xmlns:a="http://schemas.openxmlformats.org/drawingml/2006/main" noGrp="1"/>
          </p:cNvSpPr>
          <p:nvPr/>
        </p:nvSpPr>
        <p:spPr>
          <a:xfrm xmlns:a="http://schemas.openxmlformats.org/drawingml/2006/main">
            <a:off x="786384" y="3703320"/>
            <a:ext cx="40233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850"/>
              <a:buFont typeface="Calibri"/>
              <a:buNone/>
            </a:pPr>
            <a:r>
              <a:rPr sz="850" b="1" i="0" u="none" cap="none">
                <a:solidFill>
                  <a:srgbClr val="FFFFFF"/>
                </a:solidFill>
                <a:latin typeface="Calibri"/>
                <a:ea typeface="Calibri"/>
                <a:cs typeface="Calibri"/>
              </a:rPr>
              <a:t>7–8</a:t>
            </a:r>
          </a:p>
        </p:txBody>
      </p:sp>
      <p:sp>
        <p:nvSpPr>
          <p:cNvPr id="277" name="Google Shape;277;p16">
            <a:extLst xmlns:a="http://schemas.openxmlformats.org/drawingml/2006/main">
              <a:ext uri="{FF2B5EF4-FFF2-40B4-BE49-F238E27FC236}">
                <a16:creationId xmlns:a16="http://schemas.microsoft.com/office/drawing/2014/main" id="{9748ECDB-C5CE-4D0A-A32F-58D41D3E4015}"/>
              </a:ext>
            </a:extLst>
          </p:cNvPr>
          <p:cNvSpPr>
            <a:spLocks xmlns:a="http://schemas.openxmlformats.org/drawingml/2006/main" noGrp="1"/>
          </p:cNvSpPr>
          <p:nvPr/>
        </p:nvSpPr>
        <p:spPr>
          <a:xfrm xmlns:a="http://schemas.openxmlformats.org/drawingml/2006/main">
            <a:off x="1298448" y="3648456"/>
            <a:ext cx="3017520" cy="8595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Time and evidence</a:t>
            </a:r>
          </a:p>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How is history understood, and how are claims warranted?</a:t>
            </a:r>
          </a:p>
        </p:txBody>
      </p:sp>
      <p:sp>
        <p:nvSpPr>
          <p:cNvPr id="278" name="Google Shape;278;p16">
            <a:extLst xmlns:a="http://schemas.openxmlformats.org/drawingml/2006/main">
              <a:ext uri="{FF2B5EF4-FFF2-40B4-BE49-F238E27FC236}">
                <a16:creationId xmlns:a16="http://schemas.microsoft.com/office/drawing/2014/main" id="{42D8443D-61CD-4807-82B3-F2A0F9A9558E}"/>
              </a:ext>
            </a:extLst>
          </p:cNvPr>
          <p:cNvSpPr>
            <a:spLocks xmlns:a="http://schemas.openxmlformats.org/drawingml/2006/main" noGrp="1"/>
          </p:cNvSpPr>
          <p:nvPr/>
        </p:nvSpPr>
        <p:spPr>
          <a:xfrm xmlns:a="http://schemas.openxmlformats.org/drawingml/2006/main">
            <a:off x="4709160" y="3575304"/>
            <a:ext cx="3794760" cy="987552"/>
          </a:xfrm>
          <a:prstGeom xmlns:a="http://schemas.openxmlformats.org/drawingml/2006/main" prst="roundRect">
            <a:avLst>
              <a:gd name="adj" fmla="val 833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9" name="Google Shape;279;p16">
            <a:extLst xmlns:a="http://schemas.openxmlformats.org/drawingml/2006/main">
              <a:ext uri="{FF2B5EF4-FFF2-40B4-BE49-F238E27FC236}">
                <a16:creationId xmlns:a16="http://schemas.microsoft.com/office/drawing/2014/main" id="{196494C5-B516-458B-BE9B-CD47C9246DD1}"/>
              </a:ext>
            </a:extLst>
          </p:cNvPr>
          <p:cNvSpPr>
            <a:spLocks xmlns:a="http://schemas.openxmlformats.org/drawingml/2006/main" noGrp="1"/>
          </p:cNvSpPr>
          <p:nvPr/>
        </p:nvSpPr>
        <p:spPr>
          <a:xfrm xmlns:a="http://schemas.openxmlformats.org/drawingml/2006/main">
            <a:off x="4855464" y="3703320"/>
            <a:ext cx="402336" cy="40233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0" name="Google Shape;280;p16">
            <a:extLst xmlns:a="http://schemas.openxmlformats.org/drawingml/2006/main">
              <a:ext uri="{FF2B5EF4-FFF2-40B4-BE49-F238E27FC236}">
                <a16:creationId xmlns:a16="http://schemas.microsoft.com/office/drawing/2014/main" id="{BEFD6F10-6A71-4792-A51B-CC60FB65B3C2}"/>
              </a:ext>
            </a:extLst>
          </p:cNvPr>
          <p:cNvSpPr>
            <a:spLocks xmlns:a="http://schemas.openxmlformats.org/drawingml/2006/main" noGrp="1"/>
          </p:cNvSpPr>
          <p:nvPr/>
        </p:nvSpPr>
        <p:spPr>
          <a:xfrm xmlns:a="http://schemas.openxmlformats.org/drawingml/2006/main">
            <a:off x="4855464" y="3703320"/>
            <a:ext cx="40233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850"/>
              <a:buFont typeface="Calibri"/>
              <a:buNone/>
            </a:pPr>
            <a:r>
              <a:rPr sz="850" b="1" i="0" u="none" cap="none">
                <a:solidFill>
                  <a:srgbClr val="FFFFFF"/>
                </a:solidFill>
                <a:latin typeface="Calibri"/>
                <a:ea typeface="Calibri"/>
                <a:cs typeface="Calibri"/>
              </a:rPr>
              <a:t>9–10</a:t>
            </a:r>
          </a:p>
        </p:txBody>
      </p:sp>
      <p:sp>
        <p:nvSpPr>
          <p:cNvPr id="281" name="Google Shape;281;p16">
            <a:extLst xmlns:a="http://schemas.openxmlformats.org/drawingml/2006/main">
              <a:ext uri="{FF2B5EF4-FFF2-40B4-BE49-F238E27FC236}">
                <a16:creationId xmlns:a16="http://schemas.microsoft.com/office/drawing/2014/main" id="{54195CA7-EA16-483C-A14D-D1CBF036C300}"/>
              </a:ext>
            </a:extLst>
          </p:cNvPr>
          <p:cNvSpPr>
            <a:spLocks xmlns:a="http://schemas.openxmlformats.org/drawingml/2006/main" noGrp="1"/>
          </p:cNvSpPr>
          <p:nvPr/>
        </p:nvSpPr>
        <p:spPr>
          <a:xfrm xmlns:a="http://schemas.openxmlformats.org/drawingml/2006/main">
            <a:off x="5367528" y="3648456"/>
            <a:ext cx="3017520" cy="8595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Value and correction</a:t>
            </a:r>
          </a:p>
          <a:p xmlns:a="http://schemas.openxmlformats.org/drawingml/2006/main">
            <a:pPr marL="0" marR="0" indent="0" algn="l">
              <a:spcBef>
                <a:spcPts val="0"/>
              </a:spcBef>
              <a:spcAft>
                <a:spcPts val="0"/>
              </a:spcAft>
              <a:buClr>
                <a:srgbClr val="5A6377"/>
              </a:buClr>
              <a:buSzPts val="930"/>
              <a:buFont typeface="Calibri"/>
              <a:buNone/>
            </a:pPr>
            <a:r>
              <a:rPr sz="930" b="0" i="0" u="none" cap="none">
                <a:solidFill>
                  <a:srgbClr val="5A6377"/>
                </a:solidFill>
                <a:latin typeface="Calibri"/>
                <a:ea typeface="Calibri"/>
                <a:cs typeface="Calibri"/>
              </a:rPr>
              <a:t>Is purpose real, and what could revise the view?</a:t>
            </a:r>
          </a:p>
        </p:txBody>
      </p:sp>
      <p:sp>
        <p:nvSpPr>
          <p:cNvPr id="282" name="Google Shape;282;p16">
            <a:extLst xmlns:a="http://schemas.openxmlformats.org/drawingml/2006/main">
              <a:ext uri="{FF2B5EF4-FFF2-40B4-BE49-F238E27FC236}">
                <a16:creationId xmlns:a16="http://schemas.microsoft.com/office/drawing/2014/main" id="{42971A78-404A-4E25-BA25-E15B2FA4D21C}"/>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Limited agreements emerge only after the axes are clear. No pair shares an entire ontology against a third.</a:t>
            </a:r>
          </a:p>
        </p:txBody>
      </p:sp>
    </p:spTree>
    <p:extLst>
      <p:ext uri="{BB962C8B-B14F-4D97-AF65-F5344CB8AC3E}">
        <p14:creationId xmlns:p14="http://schemas.microsoft.com/office/powerpoint/2010/main" val="10957688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 name="Google Shape;197;p12">
            <a:extLst xmlns:a="http://schemas.openxmlformats.org/drawingml/2006/main">
              <a:ext uri="{FF2B5EF4-FFF2-40B4-BE49-F238E27FC236}">
                <a16:creationId xmlns:a16="http://schemas.microsoft.com/office/drawing/2014/main" id="{4D5794B4-A3DB-4F2A-AD30-473D60CFFC7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12">
            <a:extLst xmlns:a="http://schemas.openxmlformats.org/drawingml/2006/main">
              <a:ext uri="{FF2B5EF4-FFF2-40B4-BE49-F238E27FC236}">
                <a16:creationId xmlns:a16="http://schemas.microsoft.com/office/drawing/2014/main" id="{D64CACBC-ADED-47E0-8005-727ADD103031}"/>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9" name="Google Shape;199;p12">
            <a:extLst xmlns:a="http://schemas.openxmlformats.org/drawingml/2006/main">
              <a:ext uri="{FF2B5EF4-FFF2-40B4-BE49-F238E27FC236}">
                <a16:creationId xmlns:a16="http://schemas.microsoft.com/office/drawing/2014/main" id="{1799FDDD-04BC-482F-83D4-868C9A796BF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0" name="Google Shape;200;p12">
            <a:extLst xmlns:a="http://schemas.openxmlformats.org/drawingml/2006/main">
              <a:ext uri="{FF2B5EF4-FFF2-40B4-BE49-F238E27FC236}">
                <a16:creationId xmlns:a16="http://schemas.microsoft.com/office/drawing/2014/main" id="{D0A7DF22-3444-412E-AB96-E989947132A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§§5.2–5.3  ·  FOUNDATIONS</a:t>
            </a:r>
          </a:p>
        </p:txBody>
      </p:sp>
      <p:sp>
        <p:nvSpPr>
          <p:cNvPr id="201" name="Google Shape;201;p12">
            <a:extLst xmlns:a="http://schemas.openxmlformats.org/drawingml/2006/main">
              <a:ext uri="{FF2B5EF4-FFF2-40B4-BE49-F238E27FC236}">
                <a16:creationId xmlns:a16="http://schemas.microsoft.com/office/drawing/2014/main" id="{41DDB6B4-1758-4784-9A6C-95DADA3C8D1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Ground, self, and matter divide the views</a:t>
            </a:r>
          </a:p>
        </p:txBody>
      </p:sp>
      <p:graphicFrame>
        <p:nvGraphicFramePr>
          <p:cNvPr id="210" name="Google Shape;202;p12"/>
          <p:cNvGraphicFramePr/>
          <p:nvPr/>
        </p:nvGraphicFramePr>
        <p:xfrm>
          <a:off xmlns:a="http://schemas.openxmlformats.org/drawingml/2006/main" x="502920" y="1298448"/>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463050"/>
                <a:gridCol w="2331725"/>
                <a:gridCol w="2148850"/>
                <a:gridCol w="2194550"/>
              </a:tblGrid>
              <a:tr h="292600">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Aspect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Madhyasth Darshan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Advaita Vedanta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Contemporary metaphysics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Fundamental</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Omnipresence plus real units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Brahman alone at paramartha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Physical, experiential, neutral, form–matter, or process primitives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Individuation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Bounded units; jeevan permanently distinct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Individuality conditioned; true Self is Brahman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Organism, continuity, soul-form, monad, subject, or process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Sentient bearer</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Constitutionally complete jeevan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Atman is non-dual Brahman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Physical organisation or a rival non-reductive bearer</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Matter and body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Real jada units compose jeevan’s instrument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Name-form valid at vyavahara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Physical organisation, embodied form, or mind-dependent ideas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02925">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Survival</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Yes, grounded in gathanpurnata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Rebirth empirically; nondual Self</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Physicalists usually deny survival; some soul or monad views allow it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11475">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Ground relation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Saturation, not production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Effect has no being apart from Brahman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Reduction, constitution, grounding, modes, or process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203" name="Google Shape;203;p12">
            <a:extLst xmlns:a="http://schemas.openxmlformats.org/drawingml/2006/main">
              <a:ext uri="{FF2B5EF4-FFF2-40B4-BE49-F238E27FC236}">
                <a16:creationId xmlns:a16="http://schemas.microsoft.com/office/drawing/2014/main" id="{B72C114B-C0D9-43E5-9BD3-960A79EF549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Science measures organismal, neural, cognitive, and social continuities; whether those exhaust the bearer or establish survival remains a metaphysical question.</a:t>
            </a:r>
          </a:p>
        </p:txBody>
      </p:sp>
    </p:spTree>
    <p:extLst>
      <p:ext uri="{BB962C8B-B14F-4D97-AF65-F5344CB8AC3E}">
        <p14:creationId xmlns:p14="http://schemas.microsoft.com/office/powerpoint/2010/main" val="14362907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 name="Google Shape;197;p12">
            <a:extLst xmlns:a="http://schemas.openxmlformats.org/drawingml/2006/main">
              <a:ext uri="{FF2B5EF4-FFF2-40B4-BE49-F238E27FC236}">
                <a16:creationId xmlns:a16="http://schemas.microsoft.com/office/drawing/2014/main" id="{4D5794B4-A3DB-4F2A-AD30-473D60CFFC7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12">
            <a:extLst xmlns:a="http://schemas.openxmlformats.org/drawingml/2006/main">
              <a:ext uri="{FF2B5EF4-FFF2-40B4-BE49-F238E27FC236}">
                <a16:creationId xmlns:a16="http://schemas.microsoft.com/office/drawing/2014/main" id="{D64CACBC-ADED-47E0-8005-727ADD103031}"/>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9" name="Google Shape;199;p12">
            <a:extLst xmlns:a="http://schemas.openxmlformats.org/drawingml/2006/main">
              <a:ext uri="{FF2B5EF4-FFF2-40B4-BE49-F238E27FC236}">
                <a16:creationId xmlns:a16="http://schemas.microsoft.com/office/drawing/2014/main" id="{1799FDDD-04BC-482F-83D4-868C9A796BF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0" name="Google Shape;200;p12">
            <a:extLst xmlns:a="http://schemas.openxmlformats.org/drawingml/2006/main">
              <a:ext uri="{FF2B5EF4-FFF2-40B4-BE49-F238E27FC236}">
                <a16:creationId xmlns:a16="http://schemas.microsoft.com/office/drawing/2014/main" id="{D0A7DF22-3444-412E-AB96-E989947132A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§§5.2–5.4  ·  WORLD, CHANGE, TIME</a:t>
            </a:r>
          </a:p>
        </p:txBody>
      </p:sp>
      <p:sp>
        <p:nvSpPr>
          <p:cNvPr id="201" name="Google Shape;201;p12">
            <a:extLst xmlns:a="http://schemas.openxmlformats.org/drawingml/2006/main">
              <a:ext uri="{FF2B5EF4-FFF2-40B4-BE49-F238E27FC236}">
                <a16:creationId xmlns:a16="http://schemas.microsoft.com/office/drawing/2014/main" id="{41DDB6B4-1758-4784-9A6C-95DADA3C8D1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What finally persists divides the views</a:t>
            </a:r>
          </a:p>
        </p:txBody>
      </p:sp>
      <p:graphicFrame>
        <p:nvGraphicFramePr>
          <p:cNvPr id="210" name="Google Shape;202;p12"/>
          <p:cNvGraphicFramePr/>
          <p:nvPr/>
        </p:nvGraphicFramePr>
        <p:xfrm>
          <a:off xmlns:a="http://schemas.openxmlformats.org/drawingml/2006/main" x="502920" y="1298448"/>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463050"/>
                <a:gridCol w="2331725"/>
                <a:gridCol w="2148850"/>
                <a:gridCol w="2194550"/>
              </a:tblGrid>
              <a:tr h="292600">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Aspect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Madhyasth Darshan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Advaita Vedanta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00"/>
                        <a:buFont typeface="Calibri"/>
                        <a:buNone/>
                      </a:pPr>
                      <a:r>
                        <a:rPr sz="1000" b="1" u="none" cap="none">
                          <a:solidFill>
                            <a:srgbClr val="FFFFFF"/>
                          </a:solidFill>
                          <a:latin typeface="Calibri"/>
                          <a:ea typeface="Calibri"/>
                          <a:cs typeface="Calibri"/>
                        </a:rPr>
                        <a:t>Contemporary metaphysics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World status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Perpetual; retains final ontological weight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Robust at vyavahara; no independent being at paramartha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Scientific realism, idealism, structural realism, instrumentalism</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Change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Real transformation of units; satta actionless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Effect–cause non-difference and vivarta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Dynamics, emergence, process, or form–matter change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Causation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Sustaining mahakaran; units act in mutuality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Causal teaching at vyavahara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Laws, constraints, mechanisms, probabilities, or higher-level causes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Beginning</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No existence from abhava; configurations change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Brahman beginningless; empirical cycles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Cosmic history and absolute beginning receive different answers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02925">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Time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Duration of unit-activity; satta timeless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Valid at vyavahara; Brahman timeless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Eternalist, presentist, relational, and process accounts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11475">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Value and telos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Values structural; humane conduct evidences awakening</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Dharma and loka-sangraha; moksha through knowledge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60"/>
                        <a:buFont typeface="Calibri"/>
                        <a:buNone/>
                      </a:pPr>
                      <a:r>
                        <a:rPr sz="960" u="none" cap="none">
                          <a:solidFill>
                            <a:srgbClr val="1E2447"/>
                          </a:solidFill>
                          <a:latin typeface="Calibri"/>
                          <a:ea typeface="Calibri"/>
                          <a:cs typeface="Calibri"/>
                        </a:rPr>
                        <a:t>Physicalism alone fixes no ethics; realist and constructivist ethics differ</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203" name="Google Shape;203;p12">
            <a:extLst xmlns:a="http://schemas.openxmlformats.org/drawingml/2006/main">
              <a:ext uri="{FF2B5EF4-FFF2-40B4-BE49-F238E27FC236}">
                <a16:creationId xmlns:a16="http://schemas.microsoft.com/office/drawing/2014/main" id="{B72C114B-C0D9-43E5-9BD3-960A79EF549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Empirical science reconstructs histories through dynamics, probabilities, boundary conditions, mechanisms, and selection; it does not by itself choose one complete metaphysics.</a:t>
            </a:r>
          </a:p>
        </p:txBody>
      </p:sp>
    </p:spTree>
    <p:extLst>
      <p:ext uri="{BB962C8B-B14F-4D97-AF65-F5344CB8AC3E}">
        <p14:creationId xmlns:p14="http://schemas.microsoft.com/office/powerpoint/2010/main" val="14362907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3" name="Google Shape;223;p14">
            <a:extLst xmlns:a="http://schemas.openxmlformats.org/drawingml/2006/main">
              <a:ext uri="{FF2B5EF4-FFF2-40B4-BE49-F238E27FC236}">
                <a16:creationId xmlns:a16="http://schemas.microsoft.com/office/drawing/2014/main" id="{35987D8A-E87A-48B9-BDFC-CB3F1DFB82B4}"/>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4" name="Google Shape;224;p14">
            <a:extLst xmlns:a="http://schemas.openxmlformats.org/drawingml/2006/main">
              <a:ext uri="{FF2B5EF4-FFF2-40B4-BE49-F238E27FC236}">
                <a16:creationId xmlns:a16="http://schemas.microsoft.com/office/drawing/2014/main" id="{9A09CFDA-4CD9-4CFA-801A-40232AE23F3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5" name="Google Shape;225;p14">
            <a:extLst xmlns:a="http://schemas.openxmlformats.org/drawingml/2006/main">
              <a:ext uri="{FF2B5EF4-FFF2-40B4-BE49-F238E27FC236}">
                <a16:creationId xmlns:a16="http://schemas.microsoft.com/office/drawing/2014/main" id="{ADDA4E60-AF76-4D0B-8DB2-528B8A5962C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6" name="Google Shape;226;p14">
            <a:extLst xmlns:a="http://schemas.openxmlformats.org/drawingml/2006/main">
              <a:ext uri="{FF2B5EF4-FFF2-40B4-BE49-F238E27FC236}">
                <a16:creationId xmlns:a16="http://schemas.microsoft.com/office/drawing/2014/main" id="{56BBE441-B753-44B6-A015-38AFD24E881E}"/>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§§5.3.5–5.3.6  ·  WARRANT AND VALUE</a:t>
            </a:r>
          </a:p>
        </p:txBody>
      </p:sp>
      <p:sp>
        <p:nvSpPr>
          <p:cNvPr id="227" name="Google Shape;227;p14">
            <a:extLst xmlns:a="http://schemas.openxmlformats.org/drawingml/2006/main">
              <a:ext uri="{FF2B5EF4-FFF2-40B4-BE49-F238E27FC236}">
                <a16:creationId xmlns:a16="http://schemas.microsoft.com/office/drawing/2014/main" id="{DAFA6E44-1301-44A6-9A75-CB59FC453C7D}"/>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Methods expose different kinds of claim</a:t>
            </a:r>
          </a:p>
        </p:txBody>
      </p:sp>
      <p:graphicFrame>
        <p:nvGraphicFramePr>
          <p:cNvPr id="237" name="Google Shape;228;p14"/>
          <p:cNvGraphicFramePr/>
          <p:nvPr/>
        </p:nvGraphicFramePr>
        <p:xfrm>
          <a:off xmlns:a="http://schemas.openxmlformats.org/drawingml/2006/main" x="502920" y="1325880"/>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554475"/>
                <a:gridCol w="2057400"/>
                <a:gridCol w="2468875"/>
                <a:gridCol w="2057400"/>
              </a:tblGrid>
              <a:tr h="329175">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View</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Principal method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6D2E46"/>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Claimed reach</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3B4A7A"/>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Exposed boundary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31606B"/>
                    </a:solidFill>
                  </a:tcPr>
                </a:tc>
              </a:tr>
              <a:tr h="548650">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Madhyasth Darshan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Study → experiment/practice → realisation → conduct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Coexistence, jeevan, humane order</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Needs public criteria for gathanpurnata and persistence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777250">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Advaita Vedanta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Shabda, reasoning, contemplative discrimination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Non-dual identity; removal of superimposition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Authority and sublation criteria are not shared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48650">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Contemporary philosophy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Argument, phenomenology, explanatory comparison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Coherence and comparative plausibility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80"/>
                        <a:buFont typeface="Calibri"/>
                        <a:buNone/>
                      </a:pPr>
                      <a:r>
                        <a:rPr sz="980" u="none" cap="none">
                          <a:solidFill>
                            <a:srgbClr val="1E2447"/>
                          </a:solidFill>
                          <a:latin typeface="Calibri"/>
                          <a:ea typeface="Calibri"/>
                          <a:cs typeface="Calibri"/>
                        </a:rPr>
                        <a:t>Persistent disagreement; few decisive tests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229" name="Google Shape;229;p14">
            <a:extLst xmlns:a="http://schemas.openxmlformats.org/drawingml/2006/main">
              <a:ext uri="{FF2B5EF4-FFF2-40B4-BE49-F238E27FC236}">
                <a16:creationId xmlns:a16="http://schemas.microsoft.com/office/drawing/2014/main" id="{ADCC82A9-01D4-4C99-8A79-7EDE266B8EEB}"/>
              </a:ext>
            </a:extLst>
          </p:cNvPr>
          <p:cNvSpPr>
            <a:spLocks xmlns:a="http://schemas.openxmlformats.org/drawingml/2006/main" noGrp="1"/>
          </p:cNvSpPr>
          <p:nvPr/>
        </p:nvSpPr>
        <p:spPr>
          <a:xfrm xmlns:a="http://schemas.openxmlformats.org/drawingml/2006/main">
            <a:off x="640080" y="4160520"/>
            <a:ext cx="79552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200"/>
              <a:buFont typeface="Calibri"/>
              <a:buNone/>
            </a:pPr>
            <a:r>
              <a:rPr sz="1200" b="1" i="1" u="none" cap="none">
                <a:solidFill>
                  <a:srgbClr val="9A6414"/>
                </a:solidFill>
                <a:latin typeface="Calibri"/>
                <a:ea typeface="Calibri"/>
                <a:cs typeface="Calibri"/>
              </a:rPr>
              <a:t>Empirical science: observation, instrumentation, modelling, intervention, replication, and criticism establish public mechanisms and constraints—not a complete metaphysics or ultimate value.</a:t>
            </a:r>
          </a:p>
        </p:txBody>
      </p:sp>
      <p:sp>
        <p:nvSpPr>
          <p:cNvPr id="230" name="Google Shape;230;p14">
            <a:extLst xmlns:a="http://schemas.openxmlformats.org/drawingml/2006/main">
              <a:ext uri="{FF2B5EF4-FFF2-40B4-BE49-F238E27FC236}">
                <a16:creationId xmlns:a16="http://schemas.microsoft.com/office/drawing/2014/main" id="{C63E2E3B-1B7C-4BA1-A626-4CAC99037C9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Comparison remains possible when each claim states its method, reach, and what could count against it.</a:t>
            </a:r>
          </a:p>
        </p:txBody>
      </p:sp>
    </p:spTree>
    <p:extLst>
      <p:ext uri="{BB962C8B-B14F-4D97-AF65-F5344CB8AC3E}">
        <p14:creationId xmlns:p14="http://schemas.microsoft.com/office/powerpoint/2010/main" val="9293256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 name="Google Shape;209;p13">
            <a:extLst xmlns:a="http://schemas.openxmlformats.org/drawingml/2006/main">
              <a:ext uri="{FF2B5EF4-FFF2-40B4-BE49-F238E27FC236}">
                <a16:creationId xmlns:a16="http://schemas.microsoft.com/office/drawing/2014/main" id="{72C76C8D-3167-4CCF-B581-AFF0701A23D6}"/>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0" name="Google Shape;210;p13">
            <a:extLst xmlns:a="http://schemas.openxmlformats.org/drawingml/2006/main">
              <a:ext uri="{FF2B5EF4-FFF2-40B4-BE49-F238E27FC236}">
                <a16:creationId xmlns:a16="http://schemas.microsoft.com/office/drawing/2014/main" id="{21E18DD7-D151-4044-B4F3-9689597B1FF8}"/>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1" name="Google Shape;211;p13">
            <a:extLst xmlns:a="http://schemas.openxmlformats.org/drawingml/2006/main">
              <a:ext uri="{FF2B5EF4-FFF2-40B4-BE49-F238E27FC236}">
                <a16:creationId xmlns:a16="http://schemas.microsoft.com/office/drawing/2014/main" id="{E91D1584-E2DD-4DF9-A9CA-29E10A1B8F0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2" name="Google Shape;212;p13">
            <a:extLst xmlns:a="http://schemas.openxmlformats.org/drawingml/2006/main">
              <a:ext uri="{FF2B5EF4-FFF2-40B4-BE49-F238E27FC236}">
                <a16:creationId xmlns:a16="http://schemas.microsoft.com/office/drawing/2014/main" id="{0A336E97-8631-4B8D-B59A-57D86909B1D7}"/>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§5.6  ·  UNIFIED AND DISTRIBUTED READINGS</a:t>
            </a:r>
          </a:p>
        </p:txBody>
      </p:sp>
      <p:sp>
        <p:nvSpPr>
          <p:cNvPr id="213" name="Google Shape;213;p13">
            <a:extLst xmlns:a="http://schemas.openxmlformats.org/drawingml/2006/main">
              <a:ext uri="{FF2B5EF4-FFF2-40B4-BE49-F238E27FC236}">
                <a16:creationId xmlns:a16="http://schemas.microsoft.com/office/drawing/2014/main" id="{7A597201-CB19-4834-A5BA-D8197E8B1FFB}"/>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Sat–Chit–Ananda: one term, two structures</a:t>
            </a:r>
          </a:p>
        </p:txBody>
      </p:sp>
      <p:graphicFrame>
        <p:nvGraphicFramePr>
          <p:cNvPr id="224" name="Google Shape;214;p13"/>
          <p:cNvGraphicFramePr/>
          <p:nvPr/>
        </p:nvGraphicFramePr>
        <p:xfrm>
          <a:off xmlns:a="http://schemas.openxmlformats.org/drawingml/2006/main" x="640080" y="1325880"/>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417325"/>
                <a:gridCol w="3200400"/>
                <a:gridCol w="3246125"/>
              </a:tblGrid>
              <a:tr h="329175">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Concept</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Advaita Vedanta</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6D2E46"/>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Madhyasth Darshan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3B4A7A"/>
                    </a:solidFill>
                  </a:tcPr>
                </a:tc>
              </a:tr>
              <a:tr h="566925">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Sat (being)</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Brahman alone is absolute being; world is dependent, not sheer nothing</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Astitva is coexistence of Omnipresence and countless real units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66925">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Chit (awareness)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Brahman is self-luminous awareness; the Self is not an object</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Omnipresence is intelligibility-ground; active sentience belongs to jeevan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66925">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Ananda (fullness / bliss)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Intrinsic limitlessness and fullness of Brahman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1030"/>
                        <a:buFont typeface="Calibri"/>
                        <a:buNone/>
                      </a:pPr>
                      <a:r>
                        <a:rPr sz="1030" u="none" cap="none">
                          <a:solidFill>
                            <a:srgbClr val="1E2447"/>
                          </a:solidFill>
                          <a:latin typeface="Calibri"/>
                          <a:ea typeface="Calibri"/>
                          <a:cs typeface="Calibri"/>
                        </a:rPr>
                        <a:t>Bliss: buddhi–atma harmony. Ultimate bliss: realisation at atma.</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215" name="Google Shape;215;p13">
            <a:extLst xmlns:a="http://schemas.openxmlformats.org/drawingml/2006/main">
              <a:ext uri="{FF2B5EF4-FFF2-40B4-BE49-F238E27FC236}">
                <a16:creationId xmlns:a16="http://schemas.microsoft.com/office/drawing/2014/main" id="{D6355F4E-DF49-4E10-A92A-D59EF021B466}"/>
              </a:ext>
            </a:extLst>
          </p:cNvPr>
          <p:cNvSpPr>
            <a:spLocks xmlns:a="http://schemas.openxmlformats.org/drawingml/2006/main" noGrp="1"/>
          </p:cNvSpPr>
          <p:nvPr/>
        </p:nvSpPr>
        <p:spPr>
          <a:xfrm xmlns:a="http://schemas.openxmlformats.org/drawingml/2006/main">
            <a:off x="640080" y="3840480"/>
            <a:ext cx="7863840" cy="822960"/>
          </a:xfrm>
          <a:prstGeom xmlns:a="http://schemas.openxmlformats.org/drawingml/2006/main" prst="roundRect">
            <a:avLst>
              <a:gd name="adj" fmla="val 10000"/>
            </a:avLst>
          </a:prstGeom>
          <a:solidFill xmlns:a="http://schemas.openxmlformats.org/drawingml/2006/main">
            <a:srgbClr val="EEF1F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6" name="Google Shape;216;p13">
            <a:extLst xmlns:a="http://schemas.openxmlformats.org/drawingml/2006/main">
              <a:ext uri="{FF2B5EF4-FFF2-40B4-BE49-F238E27FC236}">
                <a16:creationId xmlns:a16="http://schemas.microsoft.com/office/drawing/2014/main" id="{FDF6C29C-647F-43CC-883E-C3C01EF9B4EE}"/>
              </a:ext>
            </a:extLst>
          </p:cNvPr>
          <p:cNvSpPr>
            <a:spLocks xmlns:a="http://schemas.openxmlformats.org/drawingml/2006/main" noGrp="1"/>
          </p:cNvSpPr>
          <p:nvPr/>
        </p:nvSpPr>
        <p:spPr>
          <a:xfrm xmlns:a="http://schemas.openxmlformats.org/drawingml/2006/main">
            <a:off x="868680" y="3840480"/>
            <a:ext cx="74066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150"/>
              <a:buFont typeface="Calibri"/>
              <a:buNone/>
            </a:pPr>
            <a:r>
              <a:rPr sz="1150" b="1" i="0" u="none" cap="none">
                <a:solidFill>
                  <a:srgbClr val="1E2447"/>
                </a:solidFill>
                <a:latin typeface="Calibri"/>
                <a:ea typeface="Calibri"/>
                <a:cs typeface="Calibri"/>
              </a:rPr>
              <a:t>Limited alignment: neither view reduces the knower to an observed brain-state. The decisive divergence is one impersonal Self versus many permanently distinct jeevan units.</a:t>
            </a:r>
          </a:p>
        </p:txBody>
      </p:sp>
      <p:sp>
        <p:nvSpPr>
          <p:cNvPr id="217" name="Google Shape;217;p13">
            <a:extLst xmlns:a="http://schemas.openxmlformats.org/drawingml/2006/main">
              <a:ext uri="{FF2B5EF4-FFF2-40B4-BE49-F238E27FC236}">
                <a16:creationId xmlns:a16="http://schemas.microsoft.com/office/drawing/2014/main" id="{AC445F3B-FF35-40A3-AAEC-2D4E6D6ABA2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CU 6.2.1  ·  </a:t>
            </a:r>
            <a:r>
              <a:rPr sz="950" b="0" i="1" u="none" cap="none">
                <a:solidFill>
                  <a:srgbClr val="5A6377"/>
                </a:solidFill>
                <a:latin typeface="Calibri"/>
                <a:ea typeface="Calibri"/>
                <a:cs typeface="Calibri"/>
              </a:rPr>
              <a:t>TU 2.1.1, 2.7</a:t>
            </a:r>
            <a:r>
              <a:rPr sz="950" b="0" i="1" u="none" cap="none">
                <a:solidFill>
                  <a:srgbClr val="5A6377"/>
                </a:solidFill>
                <a:latin typeface="Calibri"/>
                <a:ea typeface="Calibri"/>
                <a:cs typeface="Calibri"/>
              </a:rPr>
              <a:t>  ·  DDV vv. 1–5  ·  VC v. 217  ·  </a:t>
            </a:r>
            <a:r>
              <a:rPr sz="950" b="0" i="1" u="none" cap="none">
                <a:solidFill>
                  <a:srgbClr val="5A6377"/>
                </a:solidFill>
                <a:latin typeface="Calibri"/>
                <a:ea typeface="Calibri"/>
                <a:cs typeface="Calibri"/>
              </a:rPr>
              <a:t>Study §§1.9, 1.14</a:t>
            </a:r>
            <a:r>
              <a:rPr sz="950" b="0" i="1" u="none" cap="none">
                <a:solidFill>
                  <a:srgbClr val="5A6377"/>
                </a:solidFill>
                <a:latin typeface="Calibri"/>
                <a:ea typeface="Calibri"/>
                <a:cs typeface="Calibri"/>
              </a:rPr>
              <a:t>  ·  study §5.6</a:t>
            </a:r>
          </a:p>
        </p:txBody>
      </p:sp>
    </p:spTree>
    <p:extLst>
      <p:ext uri="{BB962C8B-B14F-4D97-AF65-F5344CB8AC3E}">
        <p14:creationId xmlns:p14="http://schemas.microsoft.com/office/powerpoint/2010/main" val="14899860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6" name="Google Shape;236;p15">
            <a:extLst xmlns:a="http://schemas.openxmlformats.org/drawingml/2006/main">
              <a:ext uri="{FF2B5EF4-FFF2-40B4-BE49-F238E27FC236}">
                <a16:creationId xmlns:a16="http://schemas.microsoft.com/office/drawing/2014/main" id="{2E5744EC-14F4-401E-82F2-2DC00DE85DC8}"/>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15">
            <a:extLst xmlns:a="http://schemas.openxmlformats.org/drawingml/2006/main">
              <a:ext uri="{FF2B5EF4-FFF2-40B4-BE49-F238E27FC236}">
                <a16:creationId xmlns:a16="http://schemas.microsoft.com/office/drawing/2014/main" id="{0CF0A71F-CD7E-4EA0-AD53-2CA43E0E9C17}"/>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8" name="Google Shape;238;p15">
            <a:extLst xmlns:a="http://schemas.openxmlformats.org/drawingml/2006/main">
              <a:ext uri="{FF2B5EF4-FFF2-40B4-BE49-F238E27FC236}">
                <a16:creationId xmlns:a16="http://schemas.microsoft.com/office/drawing/2014/main" id="{1E131137-0D7A-4C4D-BF3A-933EA353BDC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9" name="Google Shape;239;p15">
            <a:extLst xmlns:a="http://schemas.openxmlformats.org/drawingml/2006/main">
              <a:ext uri="{FF2B5EF4-FFF2-40B4-BE49-F238E27FC236}">
                <a16:creationId xmlns:a16="http://schemas.microsoft.com/office/drawing/2014/main" id="{80DD06F5-BDC7-48CE-9DF3-485313F923BB}"/>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§5.7  ·  ANALOGY WITHOUT IDENTITY</a:t>
            </a:r>
          </a:p>
        </p:txBody>
      </p:sp>
      <p:sp>
        <p:nvSpPr>
          <p:cNvPr id="240" name="Google Shape;240;p15">
            <a:extLst xmlns:a="http://schemas.openxmlformats.org/drawingml/2006/main">
              <a:ext uri="{FF2B5EF4-FFF2-40B4-BE49-F238E27FC236}">
                <a16:creationId xmlns:a16="http://schemas.microsoft.com/office/drawing/2014/main" id="{D20835B4-EEB0-4A9C-8BAA-2CA649A1D37C}"/>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Analogy is not ontological equivalence</a:t>
            </a:r>
          </a:p>
        </p:txBody>
      </p:sp>
      <p:sp>
        <p:nvSpPr>
          <p:cNvPr id="241" name="Google Shape;241;p15">
            <a:extLst xmlns:a="http://schemas.openxmlformats.org/drawingml/2006/main">
              <a:ext uri="{FF2B5EF4-FFF2-40B4-BE49-F238E27FC236}">
                <a16:creationId xmlns:a16="http://schemas.microsoft.com/office/drawing/2014/main" id="{ADFEE009-D952-4BAF-B456-10EE8165AD35}"/>
              </a:ext>
            </a:extLst>
          </p:cNvPr>
          <p:cNvSpPr>
            <a:spLocks xmlns:a="http://schemas.openxmlformats.org/drawingml/2006/main" noGrp="1"/>
          </p:cNvSpPr>
          <p:nvPr/>
        </p:nvSpPr>
        <p:spPr>
          <a:xfrm xmlns:a="http://schemas.openxmlformats.org/drawingml/2006/main">
            <a:off x="640080" y="1325880"/>
            <a:ext cx="3794760" cy="3154680"/>
          </a:xfrm>
          <a:prstGeom xmlns:a="http://schemas.openxmlformats.org/drawingml/2006/main" prst="roundRect">
            <a:avLst>
              <a:gd name="adj" fmla="val 2899"/>
            </a:avLst>
          </a:prstGeom>
          <a:solidFill xmlns:a="http://schemas.openxmlformats.org/drawingml/2006/main">
            <a:srgbClr val="F5EBE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2" name="Google Shape;242;p15">
            <a:extLst xmlns:a="http://schemas.openxmlformats.org/drawingml/2006/main">
              <a:ext uri="{FF2B5EF4-FFF2-40B4-BE49-F238E27FC236}">
                <a16:creationId xmlns:a16="http://schemas.microsoft.com/office/drawing/2014/main" id="{7896E55B-D5E4-4A13-9568-3359F3AB7B5C}"/>
              </a:ext>
            </a:extLst>
          </p:cNvPr>
          <p:cNvSpPr>
            <a:spLocks xmlns:a="http://schemas.openxmlformats.org/drawingml/2006/main" noGrp="1"/>
          </p:cNvSpPr>
          <p:nvPr/>
        </p:nvSpPr>
        <p:spPr>
          <a:xfrm xmlns:a="http://schemas.openxmlformats.org/drawingml/2006/main">
            <a:off x="868680" y="1463040"/>
            <a:ext cx="3291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6D2E46"/>
              </a:buClr>
              <a:buSzPts val="1400"/>
              <a:buFont typeface="Cambria"/>
              <a:buNone/>
            </a:pPr>
            <a:r>
              <a:rPr sz="1400" b="1" i="0" u="none" cap="none">
                <a:solidFill>
                  <a:srgbClr val="6D2E46"/>
                </a:solidFill>
                <a:latin typeface="Cambria"/>
                <a:ea typeface="Cambria"/>
                <a:cs typeface="Cambria"/>
              </a:rPr>
              <a:t>Limited structural analogies</a:t>
            </a:r>
          </a:p>
        </p:txBody>
      </p:sp>
      <p:sp>
        <p:nvSpPr>
          <p:cNvPr id="243" name="Google Shape;243;p15">
            <a:extLst xmlns:a="http://schemas.openxmlformats.org/drawingml/2006/main">
              <a:ext uri="{FF2B5EF4-FFF2-40B4-BE49-F238E27FC236}">
                <a16:creationId xmlns:a16="http://schemas.microsoft.com/office/drawing/2014/main" id="{2153181A-318C-4C0B-983A-FCA4D1DA2C46}"/>
              </a:ext>
            </a:extLst>
          </p:cNvPr>
          <p:cNvSpPr>
            <a:spLocks xmlns:a="http://schemas.openxmlformats.org/drawingml/2006/main" noGrp="1"/>
          </p:cNvSpPr>
          <p:nvPr/>
        </p:nvSpPr>
        <p:spPr>
          <a:xfrm xmlns:a="http://schemas.openxmlformats.org/drawingml/2006/main">
            <a:off x="868680" y="1828800"/>
            <a:ext cx="338328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342900" marR="0" indent="-342900" algn="l">
              <a:spcBef>
                <a:spcPts val="0"/>
              </a:spcBef>
              <a:spcAft>
                <a:spcPts val="0"/>
              </a:spcAft>
              <a:buClr>
                <a:srgbClr val="5A6377"/>
              </a:buClr>
              <a:buSzPts val="1030"/>
              <a:buFont typeface="Calibri"/>
              <a:buChar char="•"/>
            </a:pPr>
            <a:r>
              <a:rPr sz="1030" b="0" i="0" u="none" cap="none">
                <a:solidFill>
                  <a:srgbClr val="5A6377"/>
                </a:solidFill>
                <a:latin typeface="Calibri"/>
                <a:ea typeface="Calibri"/>
                <a:cs typeface="Calibri"/>
              </a:rPr>
              <a:t>Brahman / satta — both are described as formless and non-transforming, but their one–many structures differ</a:t>
            </a:r>
          </a:p>
          <a:p xmlns:a="http://schemas.openxmlformats.org/drawingml/2006/main">
            <a:pPr marL="342900" marR="0" indent="-342900" algn="l">
              <a:spcBef>
                <a:spcPts val="600"/>
              </a:spcBef>
              <a:spcAft>
                <a:spcPts val="0"/>
              </a:spcAft>
              <a:buClr>
                <a:srgbClr val="5A6377"/>
              </a:buClr>
              <a:buSzPts val="1030"/>
              <a:buFont typeface="Calibri"/>
              <a:buChar char="•"/>
            </a:pPr>
            <a:r>
              <a:rPr sz="1030" b="0" i="0" u="none" cap="none">
                <a:solidFill>
                  <a:srgbClr val="5A6377"/>
                </a:solidFill>
                <a:latin typeface="Calibri"/>
                <a:ea typeface="Calibri"/>
                <a:cs typeface="Calibri"/>
              </a:rPr>
              <a:t>Witness inquiry / jeevan inquiry — the knower is not exhausted by the gross body</a:t>
            </a:r>
          </a:p>
          <a:p xmlns:a="http://schemas.openxmlformats.org/drawingml/2006/main">
            <a:pPr marL="342900" marR="0" indent="-342900" algn="l">
              <a:spcBef>
                <a:spcPts val="600"/>
              </a:spcBef>
              <a:spcAft>
                <a:spcPts val="0"/>
              </a:spcAft>
              <a:buClr>
                <a:srgbClr val="5A6377"/>
              </a:buClr>
              <a:buSzPts val="1030"/>
              <a:buFont typeface="Calibri"/>
              <a:buChar char="•"/>
            </a:pPr>
            <a:r>
              <a:rPr sz="1030" b="0" i="0" u="none" cap="none">
                <a:solidFill>
                  <a:srgbClr val="5A6377"/>
                </a:solidFill>
                <a:latin typeface="Calibri"/>
                <a:ea typeface="Calibri"/>
                <a:cs typeface="Calibri"/>
              </a:rPr>
              <a:t>Jiva / deluded jeevan — embodied ignorance is practically central, but individuality has different status</a:t>
            </a:r>
          </a:p>
          <a:p xmlns:a="http://schemas.openxmlformats.org/drawingml/2006/main">
            <a:pPr marL="342900" marR="0" indent="-342900" algn="l">
              <a:spcBef>
                <a:spcPts val="600"/>
              </a:spcBef>
              <a:spcAft>
                <a:spcPts val="0"/>
              </a:spcAft>
              <a:buClr>
                <a:srgbClr val="5A6377"/>
              </a:buClr>
              <a:buSzPts val="1030"/>
              <a:buFont typeface="Calibri"/>
              <a:buChar char="•"/>
            </a:pPr>
            <a:r>
              <a:rPr sz="1030" b="0" i="0" u="none" cap="none">
                <a:solidFill>
                  <a:srgbClr val="5A6377"/>
                </a:solidFill>
                <a:latin typeface="Calibri"/>
                <a:ea typeface="Calibri"/>
                <a:cs typeface="Calibri"/>
              </a:rPr>
              <a:t>Jagat / nature — the changing world is the field of duty and inquiry</a:t>
            </a:r>
          </a:p>
        </p:txBody>
      </p:sp>
      <p:sp>
        <p:nvSpPr>
          <p:cNvPr id="244" name="Google Shape;244;p15">
            <a:extLst xmlns:a="http://schemas.openxmlformats.org/drawingml/2006/main">
              <a:ext uri="{FF2B5EF4-FFF2-40B4-BE49-F238E27FC236}">
                <a16:creationId xmlns:a16="http://schemas.microsoft.com/office/drawing/2014/main" id="{3B40FFA7-9907-4B70-A843-F18EFB61E9DE}"/>
              </a:ext>
            </a:extLst>
          </p:cNvPr>
          <p:cNvSpPr>
            <a:spLocks xmlns:a="http://schemas.openxmlformats.org/drawingml/2006/main" noGrp="1"/>
          </p:cNvSpPr>
          <p:nvPr/>
        </p:nvSpPr>
        <p:spPr>
          <a:xfrm xmlns:a="http://schemas.openxmlformats.org/drawingml/2006/main">
            <a:off x="4709160" y="1325880"/>
            <a:ext cx="3794760" cy="3154680"/>
          </a:xfrm>
          <a:prstGeom xmlns:a="http://schemas.openxmlformats.org/drawingml/2006/main" prst="roundRect">
            <a:avLst>
              <a:gd name="adj" fmla="val 289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5" name="Google Shape;245;p15">
            <a:extLst xmlns:a="http://schemas.openxmlformats.org/drawingml/2006/main">
              <a:ext uri="{FF2B5EF4-FFF2-40B4-BE49-F238E27FC236}">
                <a16:creationId xmlns:a16="http://schemas.microsoft.com/office/drawing/2014/main" id="{A88BD6AB-8922-425A-929C-B36C2031CD6F}"/>
              </a:ext>
            </a:extLst>
          </p:cNvPr>
          <p:cNvSpPr>
            <a:spLocks xmlns:a="http://schemas.openxmlformats.org/drawingml/2006/main" noGrp="1"/>
          </p:cNvSpPr>
          <p:nvPr/>
        </p:nvSpPr>
        <p:spPr>
          <a:xfrm xmlns:a="http://schemas.openxmlformats.org/drawingml/2006/main">
            <a:off x="4937760" y="1463040"/>
            <a:ext cx="3383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Categories that do not transfer</a:t>
            </a:r>
          </a:p>
        </p:txBody>
      </p:sp>
      <p:sp>
        <p:nvSpPr>
          <p:cNvPr id="246" name="Google Shape;246;p15">
            <a:extLst xmlns:a="http://schemas.openxmlformats.org/drawingml/2006/main">
              <a:ext uri="{FF2B5EF4-FFF2-40B4-BE49-F238E27FC236}">
                <a16:creationId xmlns:a16="http://schemas.microsoft.com/office/drawing/2014/main" id="{13C439ED-FF6A-4270-98F4-3381BD395857}"/>
              </a:ext>
            </a:extLst>
          </p:cNvPr>
          <p:cNvSpPr>
            <a:spLocks xmlns:a="http://schemas.openxmlformats.org/drawingml/2006/main" noGrp="1"/>
          </p:cNvSpPr>
          <p:nvPr/>
        </p:nvSpPr>
        <p:spPr>
          <a:xfrm xmlns:a="http://schemas.openxmlformats.org/drawingml/2006/main">
            <a:off x="4937760" y="1828800"/>
            <a:ext cx="3429000" cy="2606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342900" marR="0" indent="-342900" algn="l">
              <a:spcBef>
                <a:spcPts val="0"/>
              </a:spcBef>
              <a:spcAft>
                <a:spcPts val="0"/>
              </a:spcAft>
              <a:buClr>
                <a:srgbClr val="5A6377"/>
              </a:buClr>
              <a:buSzPts val="1000"/>
              <a:buFont typeface="Calibri"/>
              <a:buChar char="•"/>
            </a:pPr>
            <a:r>
              <a:rPr sz="1000" b="0" i="0" u="none" cap="none">
                <a:solidFill>
                  <a:srgbClr val="5A6377"/>
                </a:solidFill>
                <a:latin typeface="Calibri"/>
                <a:ea typeface="Calibri"/>
                <a:cs typeface="Calibri"/>
              </a:rPr>
              <a:t>Atman ≠ atma — Advaita’s Self is Brahman; MD’s atma is a faculty within jeevan</a:t>
            </a:r>
          </a:p>
          <a:p xmlns:a="http://schemas.openxmlformats.org/drawingml/2006/main">
            <a:pPr marL="342900" marR="0" indent="-342900" algn="l">
              <a:spcBef>
                <a:spcPts val="500"/>
              </a:spcBef>
              <a:spcAft>
                <a:spcPts val="0"/>
              </a:spcAft>
              <a:buClr>
                <a:srgbClr val="5A6377"/>
              </a:buClr>
              <a:buSzPts val="1000"/>
              <a:buFont typeface="Calibri"/>
              <a:buChar char="•"/>
            </a:pPr>
            <a:r>
              <a:rPr sz="1000" b="0" i="0" u="none" cap="none">
                <a:solidFill>
                  <a:srgbClr val="5A6377"/>
                </a:solidFill>
                <a:latin typeface="Calibri"/>
                <a:ea typeface="Calibri"/>
                <a:cs typeface="Calibri"/>
              </a:rPr>
              <a:t>Maya / adhyasa — MD has no cosmic projection or ontological superimposition</a:t>
            </a:r>
          </a:p>
          <a:p xmlns:a="http://schemas.openxmlformats.org/drawingml/2006/main">
            <a:pPr marL="342900" marR="0" indent="-342900" algn="l">
              <a:spcBef>
                <a:spcPts val="500"/>
              </a:spcBef>
              <a:spcAft>
                <a:spcPts val="0"/>
              </a:spcAft>
              <a:buClr>
                <a:srgbClr val="5A6377"/>
              </a:buClr>
              <a:buSzPts val="1000"/>
              <a:buFont typeface="Calibri"/>
              <a:buChar char="•"/>
            </a:pPr>
            <a:r>
              <a:rPr sz="1000" b="0" i="0" u="none" cap="none">
                <a:solidFill>
                  <a:srgbClr val="5A6377"/>
                </a:solidFill>
                <a:latin typeface="Calibri"/>
                <a:ea typeface="Calibri"/>
                <a:cs typeface="Calibri"/>
              </a:rPr>
              <a:t>Mithya — MD retains final reality of units and relationships</a:t>
            </a:r>
          </a:p>
          <a:p xmlns:a="http://schemas.openxmlformats.org/drawingml/2006/main">
            <a:pPr marL="342900" marR="0" indent="-342900" algn="l">
              <a:spcBef>
                <a:spcPts val="500"/>
              </a:spcBef>
              <a:spcAft>
                <a:spcPts val="0"/>
              </a:spcAft>
              <a:buClr>
                <a:srgbClr val="5A6377"/>
              </a:buClr>
              <a:buSzPts val="1000"/>
              <a:buFont typeface="Calibri"/>
              <a:buChar char="•"/>
            </a:pPr>
            <a:r>
              <a:rPr sz="1000" b="0" i="0" u="none" cap="none">
                <a:solidFill>
                  <a:srgbClr val="5A6377"/>
                </a:solidFill>
                <a:latin typeface="Calibri"/>
                <a:ea typeface="Calibri"/>
                <a:cs typeface="Calibri"/>
              </a:rPr>
              <a:t>Ishvara — MD’s satta is actionless, not a governing maker</a:t>
            </a:r>
          </a:p>
          <a:p xmlns:a="http://schemas.openxmlformats.org/drawingml/2006/main">
            <a:pPr marL="342900" marR="0" indent="-342900" algn="l">
              <a:spcBef>
                <a:spcPts val="500"/>
              </a:spcBef>
              <a:spcAft>
                <a:spcPts val="0"/>
              </a:spcAft>
              <a:buClr>
                <a:srgbClr val="5A6377"/>
              </a:buClr>
              <a:buSzPts val="1000"/>
              <a:buFont typeface="Calibri"/>
              <a:buChar char="•"/>
            </a:pPr>
            <a:r>
              <a:rPr sz="1000" b="0" i="0" u="none" cap="none">
                <a:solidFill>
                  <a:srgbClr val="5A6377"/>
                </a:solidFill>
                <a:latin typeface="Calibri"/>
                <a:ea typeface="Calibri"/>
                <a:cs typeface="Calibri"/>
              </a:rPr>
              <a:t>Moksha — MD awakening preserves distinct jeevan</a:t>
            </a:r>
          </a:p>
        </p:txBody>
      </p:sp>
      <p:sp>
        <p:nvSpPr>
          <p:cNvPr id="247" name="Google Shape;247;p15">
            <a:extLst xmlns:a="http://schemas.openxmlformats.org/drawingml/2006/main">
              <a:ext uri="{FF2B5EF4-FFF2-40B4-BE49-F238E27FC236}">
                <a16:creationId xmlns:a16="http://schemas.microsoft.com/office/drawing/2014/main" id="{4A17B45A-7343-4684-8C49-845A3687684E}"/>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Surface analogies can orient study; one-to-one translations distort the foundational claims of both systems.</a:t>
            </a:r>
          </a:p>
        </p:txBody>
      </p:sp>
    </p:spTree>
    <p:extLst>
      <p:ext uri="{BB962C8B-B14F-4D97-AF65-F5344CB8AC3E}">
        <p14:creationId xmlns:p14="http://schemas.microsoft.com/office/powerpoint/2010/main" val="18059939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DCD07A57-BEF2-4102-AEBE-0E0E80F92C5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 name="Google Shape;36;p4">
            <a:extLst xmlns:a="http://schemas.openxmlformats.org/drawingml/2006/main">
              <a:ext uri="{FF2B5EF4-FFF2-40B4-BE49-F238E27FC236}">
                <a16:creationId xmlns:a16="http://schemas.microsoft.com/office/drawing/2014/main" id="{906A4E0C-240D-4EB5-A26C-206136ED65D6}"/>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 name="Google Shape;37;p4">
            <a:extLst xmlns:a="http://schemas.openxmlformats.org/drawingml/2006/main">
              <a:ext uri="{FF2B5EF4-FFF2-40B4-BE49-F238E27FC236}">
                <a16:creationId xmlns:a16="http://schemas.microsoft.com/office/drawing/2014/main" id="{BC066C91-38EC-4D55-BD2C-4CDBE76ACD2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C3EFF230-FAA3-4139-84BD-D93D808805D2}"/>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§6.2  ·  FOUR OPEN QUESTIONS</a:t>
            </a:r>
          </a:p>
        </p:txBody>
      </p:sp>
      <p:sp>
        <p:nvSpPr>
          <p:cNvPr id="39" name="Google Shape;39;p4">
            <a:extLst xmlns:a="http://schemas.openxmlformats.org/drawingml/2006/main">
              <a:ext uri="{FF2B5EF4-FFF2-40B4-BE49-F238E27FC236}">
                <a16:creationId xmlns:a16="http://schemas.microsoft.com/office/drawing/2014/main" id="{1C18F4F9-F648-4088-8440-AAE26AE2D77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Four questions remain open</a:t>
            </a:r>
          </a:p>
        </p:txBody>
      </p:sp>
      <p:sp>
        <p:nvSpPr>
          <p:cNvPr id="40" name="Google Shape;40;p4">
            <a:extLst xmlns:a="http://schemas.openxmlformats.org/drawingml/2006/main">
              <a:ext uri="{FF2B5EF4-FFF2-40B4-BE49-F238E27FC236}">
                <a16:creationId xmlns:a16="http://schemas.microsoft.com/office/drawing/2014/main" id="{FC987DEB-04F6-40D1-A9FD-20FFC7A463F3}"/>
              </a:ext>
            </a:extLst>
          </p:cNvPr>
          <p:cNvSpPr>
            <a:spLocks xmlns:a="http://schemas.openxmlformats.org/drawingml/2006/main" noGrp="1"/>
          </p:cNvSpPr>
          <p:nvPr/>
        </p:nvSpPr>
        <p:spPr>
          <a:xfrm xmlns:a="http://schemas.openxmlformats.org/drawingml/2006/main">
            <a:off x="640080" y="1280160"/>
            <a:ext cx="795528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250"/>
              <a:buFont typeface="Calibri"/>
              <a:buNone/>
            </a:pPr>
            <a:r>
              <a:rPr sz="1250" b="1" i="0" u="none" cap="none">
                <a:solidFill>
                  <a:srgbClr val="1E2447"/>
                </a:solidFill>
                <a:latin typeface="Calibri"/>
                <a:ea typeface="Calibri"/>
                <a:cs typeface="Calibri"/>
              </a:rPr>
              <a:t>Identifying jeevan, explaining persistence, comparing evidence and grounding obligation remain open.</a:t>
            </a:r>
          </a:p>
        </p:txBody>
      </p:sp>
      <p:sp>
        <p:nvSpPr>
          <p:cNvPr id="41" name="Google Shape;41;p4">
            <a:extLst xmlns:a="http://schemas.openxmlformats.org/drawingml/2006/main">
              <a:ext uri="{FF2B5EF4-FFF2-40B4-BE49-F238E27FC236}">
                <a16:creationId xmlns:a16="http://schemas.microsoft.com/office/drawing/2014/main" id="{4C988050-D4A5-41F7-A471-55B0F725EEF9}"/>
              </a:ext>
            </a:extLst>
          </p:cNvPr>
          <p:cNvSpPr>
            <a:spLocks xmlns:a="http://schemas.openxmlformats.org/drawingml/2006/main" noGrp="1"/>
          </p:cNvSpPr>
          <p:nvPr/>
        </p:nvSpPr>
        <p:spPr>
          <a:xfrm xmlns:a="http://schemas.openxmlformats.org/drawingml/2006/main">
            <a:off x="640080" y="2286000"/>
            <a:ext cx="2615184" cy="1234440"/>
          </a:xfrm>
          <a:prstGeom xmlns:a="http://schemas.openxmlformats.org/drawingml/2006/main" prst="roundRect">
            <a:avLst>
              <a:gd name="adj" fmla="val 740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 name="Google Shape;42;p4">
            <a:extLst xmlns:a="http://schemas.openxmlformats.org/drawingml/2006/main">
              <a:ext uri="{FF2B5EF4-FFF2-40B4-BE49-F238E27FC236}">
                <a16:creationId xmlns:a16="http://schemas.microsoft.com/office/drawing/2014/main" id="{25F64A6B-BFD6-4C38-8AB1-C301E752AEDC}"/>
              </a:ext>
            </a:extLst>
          </p:cNvPr>
          <p:cNvSpPr>
            <a:spLocks xmlns:a="http://schemas.openxmlformats.org/drawingml/2006/main" noGrp="1"/>
          </p:cNvSpPr>
          <p:nvPr/>
        </p:nvSpPr>
        <p:spPr>
          <a:xfrm xmlns:a="http://schemas.openxmlformats.org/drawingml/2006/main">
            <a:off x="841248" y="2423160"/>
            <a:ext cx="2240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6.2.1  ·  Identify completeness</a:t>
            </a:r>
          </a:p>
        </p:txBody>
      </p:sp>
      <p:sp>
        <p:nvSpPr>
          <p:cNvPr id="43" name="Google Shape;43;p4">
            <a:extLst xmlns:a="http://schemas.openxmlformats.org/drawingml/2006/main">
              <a:ext uri="{FF2B5EF4-FFF2-40B4-BE49-F238E27FC236}">
                <a16:creationId xmlns:a16="http://schemas.microsoft.com/office/drawing/2014/main" id="{8B319A5B-B4DB-4249-9108-CE733EB746DB}"/>
              </a:ext>
            </a:extLst>
          </p:cNvPr>
          <p:cNvSpPr>
            <a:spLocks xmlns:a="http://schemas.openxmlformats.org/drawingml/2006/main" noGrp="1"/>
          </p:cNvSpPr>
          <p:nvPr/>
        </p:nvSpPr>
        <p:spPr>
          <a:xfrm xmlns:a="http://schemas.openxmlformats.org/drawingml/2006/main">
            <a:off x="841248" y="2724912"/>
            <a:ext cx="2240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50"/>
              <a:buFont typeface="Calibri"/>
              <a:buNone/>
            </a:pPr>
            <a:r>
              <a:rPr sz="1050" b="0" i="0" u="none" cap="none">
                <a:solidFill>
                  <a:srgbClr val="5A6377"/>
                </a:solidFill>
                <a:latin typeface="Calibri"/>
                <a:ea typeface="Calibri"/>
                <a:cs typeface="Calibri"/>
              </a:rPr>
              <a:t>How could jeevan be identified? How do MD’s atomic and five-force claims relate to measured physical interactions?</a:t>
            </a:r>
          </a:p>
        </p:txBody>
      </p:sp>
      <p:sp>
        <p:nvSpPr>
          <p:cNvPr id="44" name="Google Shape;44;p4">
            <a:extLst xmlns:a="http://schemas.openxmlformats.org/drawingml/2006/main">
              <a:ext uri="{FF2B5EF4-FFF2-40B4-BE49-F238E27FC236}">
                <a16:creationId xmlns:a16="http://schemas.microsoft.com/office/drawing/2014/main" id="{37D64640-FCFE-4602-98E1-6A030FD81039}"/>
              </a:ext>
            </a:extLst>
          </p:cNvPr>
          <p:cNvSpPr>
            <a:spLocks xmlns:a="http://schemas.openxmlformats.org/drawingml/2006/main" noGrp="1"/>
          </p:cNvSpPr>
          <p:nvPr/>
        </p:nvSpPr>
        <p:spPr>
          <a:xfrm xmlns:a="http://schemas.openxmlformats.org/drawingml/2006/main">
            <a:off x="3392424" y="2286000"/>
            <a:ext cx="2615184" cy="1234440"/>
          </a:xfrm>
          <a:prstGeom xmlns:a="http://schemas.openxmlformats.org/drawingml/2006/main" prst="roundRect">
            <a:avLst>
              <a:gd name="adj" fmla="val 740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 name="Google Shape;45;p4">
            <a:extLst xmlns:a="http://schemas.openxmlformats.org/drawingml/2006/main">
              <a:ext uri="{FF2B5EF4-FFF2-40B4-BE49-F238E27FC236}">
                <a16:creationId xmlns:a16="http://schemas.microsoft.com/office/drawing/2014/main" id="{73D2BABD-6B0B-4400-A210-437B15BCDE77}"/>
              </a:ext>
            </a:extLst>
          </p:cNvPr>
          <p:cNvSpPr>
            <a:spLocks xmlns:a="http://schemas.openxmlformats.org/drawingml/2006/main" noGrp="1"/>
          </p:cNvSpPr>
          <p:nvPr/>
        </p:nvSpPr>
        <p:spPr>
          <a:xfrm xmlns:a="http://schemas.openxmlformats.org/drawingml/2006/main">
            <a:off x="3593592" y="2423160"/>
            <a:ext cx="2240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6.2.2  ·  Test persistence</a:t>
            </a:r>
          </a:p>
        </p:txBody>
      </p:sp>
      <p:sp>
        <p:nvSpPr>
          <p:cNvPr id="46" name="Google Shape;46;p4">
            <a:extLst xmlns:a="http://schemas.openxmlformats.org/drawingml/2006/main">
              <a:ext uri="{FF2B5EF4-FFF2-40B4-BE49-F238E27FC236}">
                <a16:creationId xmlns:a16="http://schemas.microsoft.com/office/drawing/2014/main" id="{DE596CD7-43CE-4333-A13B-065D7FA9FC52}"/>
              </a:ext>
            </a:extLst>
          </p:cNvPr>
          <p:cNvSpPr>
            <a:spLocks xmlns:a="http://schemas.openxmlformats.org/drawingml/2006/main" noGrp="1"/>
          </p:cNvSpPr>
          <p:nvPr/>
        </p:nvSpPr>
        <p:spPr>
          <a:xfrm xmlns:a="http://schemas.openxmlformats.org/drawingml/2006/main">
            <a:off x="3593592" y="2724912"/>
            <a:ext cx="2240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50"/>
              <a:buFont typeface="Calibri"/>
              <a:buNone/>
            </a:pPr>
            <a:r>
              <a:rPr sz="1050" b="0" i="0" u="none" cap="none">
                <a:solidFill>
                  <a:srgbClr val="5A6377"/>
                </a:solidFill>
                <a:latin typeface="Calibri"/>
                <a:ea typeface="Calibri"/>
                <a:cs typeface="Calibri"/>
              </a:rPr>
              <a:t>What individuates this jeevan? What evidence could establish joint bodily operation, personal continuity and reassociation?</a:t>
            </a:r>
          </a:p>
        </p:txBody>
      </p:sp>
      <p:sp>
        <p:nvSpPr>
          <p:cNvPr id="47" name="Google Shape;47;p4">
            <a:extLst xmlns:a="http://schemas.openxmlformats.org/drawingml/2006/main">
              <a:ext uri="{FF2B5EF4-FFF2-40B4-BE49-F238E27FC236}">
                <a16:creationId xmlns:a16="http://schemas.microsoft.com/office/drawing/2014/main" id="{5FE4DCBA-59F9-4F78-946C-DCCB5B7320E3}"/>
              </a:ext>
            </a:extLst>
          </p:cNvPr>
          <p:cNvSpPr>
            <a:spLocks xmlns:a="http://schemas.openxmlformats.org/drawingml/2006/main" noGrp="1"/>
          </p:cNvSpPr>
          <p:nvPr/>
        </p:nvSpPr>
        <p:spPr>
          <a:xfrm xmlns:a="http://schemas.openxmlformats.org/drawingml/2006/main">
            <a:off x="6144768" y="2286000"/>
            <a:ext cx="2615184" cy="1234440"/>
          </a:xfrm>
          <a:prstGeom xmlns:a="http://schemas.openxmlformats.org/drawingml/2006/main" prst="roundRect">
            <a:avLst>
              <a:gd name="adj" fmla="val 740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 name="Google Shape;48;p4">
            <a:extLst xmlns:a="http://schemas.openxmlformats.org/drawingml/2006/main">
              <a:ext uri="{FF2B5EF4-FFF2-40B4-BE49-F238E27FC236}">
                <a16:creationId xmlns:a16="http://schemas.microsoft.com/office/drawing/2014/main" id="{0A151303-D1D0-432C-A09A-6D63DDCB996B}"/>
              </a:ext>
            </a:extLst>
          </p:cNvPr>
          <p:cNvSpPr>
            <a:spLocks xmlns:a="http://schemas.openxmlformats.org/drawingml/2006/main" noGrp="1"/>
          </p:cNvSpPr>
          <p:nvPr/>
        </p:nvSpPr>
        <p:spPr>
          <a:xfrm xmlns:a="http://schemas.openxmlformats.org/drawingml/2006/main">
            <a:off x="6345936" y="2423160"/>
            <a:ext cx="2240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1400"/>
              <a:buFont typeface="Cambria"/>
              <a:buNone/>
            </a:pPr>
            <a:r>
              <a:rPr sz="1400" b="1" i="0" u="none" cap="none">
                <a:solidFill>
                  <a:srgbClr val="1E2447"/>
                </a:solidFill>
                <a:latin typeface="Cambria"/>
                <a:ea typeface="Cambria"/>
                <a:cs typeface="Cambria"/>
              </a:rPr>
              <a:t>6.2.3  ·  Separate evidence levels</a:t>
            </a:r>
          </a:p>
        </p:txBody>
      </p:sp>
      <p:sp>
        <p:nvSpPr>
          <p:cNvPr id="49" name="Google Shape;49;p4">
            <a:extLst xmlns:a="http://schemas.openxmlformats.org/drawingml/2006/main">
              <a:ext uri="{FF2B5EF4-FFF2-40B4-BE49-F238E27FC236}">
                <a16:creationId xmlns:a16="http://schemas.microsoft.com/office/drawing/2014/main" id="{561A8BA4-6B53-48AD-88B0-6361DE99448A}"/>
              </a:ext>
            </a:extLst>
          </p:cNvPr>
          <p:cNvSpPr>
            <a:spLocks xmlns:a="http://schemas.openxmlformats.org/drawingml/2006/main" noGrp="1"/>
          </p:cNvSpPr>
          <p:nvPr/>
        </p:nvSpPr>
        <p:spPr>
          <a:xfrm xmlns:a="http://schemas.openxmlformats.org/drawingml/2006/main">
            <a:off x="6345936" y="2724912"/>
            <a:ext cx="2240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1050"/>
              <a:buFont typeface="Calibri"/>
              <a:buNone/>
            </a:pPr>
            <a:r>
              <a:rPr sz="1050" b="0" i="0" u="none" cap="none">
                <a:solidFill>
                  <a:srgbClr val="5A6377"/>
                </a:solidFill>
                <a:latin typeface="Calibri"/>
                <a:ea typeface="Calibri"/>
                <a:cs typeface="Calibri"/>
              </a:rPr>
              <a:t>Keep logical, first-person, conduct, and instrument evidence distinct; map niyati-kram to evolutionary explanation without declaring a direct contradiction.</a:t>
            </a:r>
          </a:p>
        </p:txBody>
      </p:sp>
      <p:sp>
        <p:nvSpPr>
          <p:cNvPr id="50" name="Google Shape;50;p4">
            <a:extLst xmlns:a="http://schemas.openxmlformats.org/drawingml/2006/main">
              <a:ext uri="{FF2B5EF4-FFF2-40B4-BE49-F238E27FC236}">
                <a16:creationId xmlns:a16="http://schemas.microsoft.com/office/drawing/2014/main" id="{D060ABEA-F205-4F7E-83BE-27B5763BBBC4}"/>
              </a:ext>
            </a:extLst>
          </p:cNvPr>
          <p:cNvSpPr>
            <a:spLocks xmlns:a="http://schemas.openxmlformats.org/drawingml/2006/main" noGrp="1"/>
          </p:cNvSpPr>
          <p:nvPr/>
        </p:nvSpPr>
        <p:spPr>
          <a:xfrm xmlns:a="http://schemas.openxmlformats.org/drawingml/2006/main">
            <a:off x="640080" y="3749040"/>
            <a:ext cx="7863840" cy="868680"/>
          </a:xfrm>
          <a:prstGeom xmlns:a="http://schemas.openxmlformats.org/drawingml/2006/main" prst="roundRect">
            <a:avLst>
              <a:gd name="adj" fmla="val 9474"/>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4">
            <a:extLst xmlns:a="http://schemas.openxmlformats.org/drawingml/2006/main">
              <a:ext uri="{FF2B5EF4-FFF2-40B4-BE49-F238E27FC236}">
                <a16:creationId xmlns:a16="http://schemas.microsoft.com/office/drawing/2014/main" id="{1FF618BC-0883-4EC5-A594-F3454BA3ABF6}"/>
              </a:ext>
            </a:extLst>
          </p:cNvPr>
          <p:cNvSpPr>
            <a:spLocks xmlns:a="http://schemas.openxmlformats.org/drawingml/2006/main" noGrp="1"/>
          </p:cNvSpPr>
          <p:nvPr/>
        </p:nvSpPr>
        <p:spPr>
          <a:xfrm xmlns:a="http://schemas.openxmlformats.org/drawingml/2006/main">
            <a:off x="868680" y="3749040"/>
            <a:ext cx="7406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150"/>
              <a:buFont typeface="Calibri"/>
              <a:buNone/>
            </a:pPr>
            <a:r>
              <a:rPr sz="1150" b="1" i="0" u="none" cap="none">
                <a:solidFill>
                  <a:srgbClr val="9A6414"/>
                </a:solidFill>
                <a:latin typeface="Calibri"/>
                <a:ea typeface="Calibri"/>
                <a:cs typeface="Calibri"/>
              </a:rPr>
              <a:t>6.2.4  ·  Value: justify happiness, relationship duties and fulfilment. Coexistence alone does not establish what a person ought to do.</a:t>
            </a:r>
          </a:p>
        </p:txBody>
      </p:sp>
      <p:sp>
        <p:nvSpPr>
          <p:cNvPr id="52" name="Google Shape;52;p4">
            <a:extLst xmlns:a="http://schemas.openxmlformats.org/drawingml/2006/main">
              <a:ext uri="{FF2B5EF4-FFF2-40B4-BE49-F238E27FC236}">
                <a16:creationId xmlns:a16="http://schemas.microsoft.com/office/drawing/2014/main" id="{D419B27F-8559-42A9-A284-0A3B0B50771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MVD p. 91, 115, 288–289  ·  SB pp. 55, 59, 114  ·  </a:t>
            </a:r>
            <a:r>
              <a:rPr sz="950" b="0" i="1" u="none" cap="none">
                <a:solidFill>
                  <a:srgbClr val="5A6377"/>
                </a:solidFill>
                <a:latin typeface="Calibri"/>
                <a:ea typeface="Calibri"/>
                <a:cs typeface="Calibri"/>
              </a:rPr>
              <a:t>JV PDF pp. 20, 55</a:t>
            </a:r>
            <a:r>
              <a:rPr sz="950" b="0" i="1" u="none" cap="none">
                <a:solidFill>
                  <a:srgbClr val="5A6377"/>
                </a:solidFill>
                <a:latin typeface="Calibri"/>
                <a:ea typeface="Calibri"/>
                <a:cs typeface="Calibri"/>
              </a:rPr>
              <a:t>  ·  study §6.2</a:t>
            </a:r>
          </a:p>
        </p:txBody>
      </p:sp>
    </p:spTree>
    <p:extLst>
      <p:ext uri="{BB962C8B-B14F-4D97-AF65-F5344CB8AC3E}">
        <p14:creationId xmlns:p14="http://schemas.microsoft.com/office/powerpoint/2010/main" val="2169809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8" name="Google Shape;288;p17">
            <a:extLst xmlns:a="http://schemas.openxmlformats.org/drawingml/2006/main">
              <a:ext uri="{FF2B5EF4-FFF2-40B4-BE49-F238E27FC236}">
                <a16:creationId xmlns:a16="http://schemas.microsoft.com/office/drawing/2014/main" id="{DD5D8857-45E4-4707-B498-7332E0A69CE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9" name="Google Shape;289;p17">
            <a:extLst xmlns:a="http://schemas.openxmlformats.org/drawingml/2006/main">
              <a:ext uri="{FF2B5EF4-FFF2-40B4-BE49-F238E27FC236}">
                <a16:creationId xmlns:a16="http://schemas.microsoft.com/office/drawing/2014/main" id="{F024B643-9073-4623-AF32-F34D6357C9B8}"/>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0" name="Google Shape;290;p17">
            <a:extLst xmlns:a="http://schemas.openxmlformats.org/drawingml/2006/main">
              <a:ext uri="{FF2B5EF4-FFF2-40B4-BE49-F238E27FC236}">
                <a16:creationId xmlns:a16="http://schemas.microsoft.com/office/drawing/2014/main" id="{6BEE49E1-92C2-471E-A037-E7C3D2ACD11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1" name="Google Shape;291;p17">
            <a:extLst xmlns:a="http://schemas.openxmlformats.org/drawingml/2006/main">
              <a:ext uri="{FF2B5EF4-FFF2-40B4-BE49-F238E27FC236}">
                <a16:creationId xmlns:a16="http://schemas.microsoft.com/office/drawing/2014/main" id="{9D0345D5-8718-463D-A316-A7ABA04E5819}"/>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§§6.3–6.4  ·  RIVAL STRENGTHS AND LIMITS</a:t>
            </a:r>
          </a:p>
        </p:txBody>
      </p:sp>
      <p:sp>
        <p:nvSpPr>
          <p:cNvPr id="292" name="Google Shape;292;p17">
            <a:extLst xmlns:a="http://schemas.openxmlformats.org/drawingml/2006/main">
              <a:ext uri="{FF2B5EF4-FFF2-40B4-BE49-F238E27FC236}">
                <a16:creationId xmlns:a16="http://schemas.microsoft.com/office/drawing/2014/main" id="{3046B58E-C4F6-455B-B6CC-2A810443F6B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Rivals impose different constraints</a:t>
            </a:r>
          </a:p>
        </p:txBody>
      </p:sp>
      <p:graphicFrame>
        <p:nvGraphicFramePr>
          <p:cNvPr id="302" name="Google Shape;293;p17"/>
          <p:cNvGraphicFramePr/>
          <p:nvPr/>
        </p:nvGraphicFramePr>
        <p:xfrm>
          <a:off xmlns:a="http://schemas.openxmlformats.org/drawingml/2006/main" x="502920" y="1325880"/>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234450"/>
                <a:gridCol w="2331725"/>
                <a:gridCol w="2377450"/>
                <a:gridCol w="2194550"/>
              </a:tblGrid>
              <a:tr h="310900">
                <a:tc>
                  <a:txBody>
                    <a:bodyPr/>
                    <a:lstStyle/>
                    <a:p>
                      <a:pPr marL="0" marR="0" indent="0" algn="l">
                        <a:spcBef>
                          <a:spcPts val="0"/>
                        </a:spcBef>
                        <a:spcAft>
                          <a:spcPts val="0"/>
                        </a:spcAft>
                        <a:buClr>
                          <a:schemeClr val="dk1"/>
                        </a:buClr>
                        <a:buSzPts val="1050"/>
                        <a:buFont typeface="Calibri"/>
                        <a:buNone/>
                      </a:pPr>
                      <a:r>
                        <a:rPr sz="1100" b="1">
                          <a:solidFill>
                            <a:srgbClr val="FFFFFF"/>
                          </a:solidFill>
                          <a:latin typeface="Calibri"/>
                          <a:ea typeface="Calibri"/>
                          <a:cs typeface="Calibri"/>
                        </a:rPr>
                        <a:t>View</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Strengths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Exposed limit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What remains genuinely at issue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868675">
                <a:tc>
                  <a:txBody>
                    <a:bodyPr/>
                    <a:lstStyle/>
                    <a:p>
                      <a:pPr marL="0" marR="0" indent="0" algn="l">
                        <a:spcBef>
                          <a:spcPts val="0"/>
                        </a:spcBef>
                        <a:spcAft>
                          <a:spcPts val="0"/>
                        </a:spcAft>
                        <a:buClr>
                          <a:srgbClr val="6D2E46"/>
                        </a:buClr>
                        <a:buSzPts val="930"/>
                        <a:buFont typeface="Calibri"/>
                        <a:buNone/>
                      </a:pPr>
                      <a:r>
                        <a:rPr sz="930" b="1" u="none" cap="none">
                          <a:solidFill>
                            <a:srgbClr val="6D2E46"/>
                          </a:solidFill>
                          <a:latin typeface="Calibri"/>
                          <a:ea typeface="Calibri"/>
                          <a:cs typeface="Calibri"/>
                        </a:rPr>
                        <a:t>Advaita Vedanta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Non-being argument; disciplined first-person method; ontological parsimony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Final weight of world, relationships, and individuality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Its reply is coherent; the disagreement concerns sublation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868675">
                <a:tc>
                  <a:txBody>
                    <a:bodyPr/>
                    <a:lstStyle/>
                    <a:p>
                      <a:pPr marL="0" marR="0" indent="0" algn="l">
                        <a:spcBef>
                          <a:spcPts val="0"/>
                        </a:spcBef>
                        <a:spcAft>
                          <a:spcPts val="0"/>
                        </a:spcAft>
                        <a:buClr>
                          <a:srgbClr val="31606B"/>
                        </a:buClr>
                        <a:buSzPts val="930"/>
                        <a:buFont typeface="Calibri"/>
                        <a:buNone/>
                      </a:pPr>
                      <a:r>
                        <a:rPr sz="930" b="1" u="none" cap="none">
                          <a:solidFill>
                            <a:srgbClr val="31606B"/>
                          </a:solidFill>
                          <a:latin typeface="Calibri"/>
                          <a:ea typeface="Calibri"/>
                          <a:cs typeface="Calibri"/>
                        </a:rPr>
                        <a:t>Physicalist family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Mechanism, causal discipline, continuity with public science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Hard problem; no single settled theory of self or consciousness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An explanatory gap neither proves jeevan nor settles matter-only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868675">
                <a:tc>
                  <a:txBody>
                    <a:bodyPr/>
                    <a:lstStyle/>
                    <a:p>
                      <a:pPr marL="0" marR="0" indent="0" algn="l">
                        <a:spcBef>
                          <a:spcPts val="0"/>
                        </a:spcBef>
                        <a:spcAft>
                          <a:spcPts val="0"/>
                        </a:spcAft>
                        <a:buClr>
                          <a:srgbClr val="3B4A7A"/>
                        </a:buClr>
                        <a:buSzPts val="930"/>
                        <a:buFont typeface="Calibri"/>
                        <a:buNone/>
                      </a:pPr>
                      <a:r>
                        <a:rPr sz="930" b="1" u="none" cap="none">
                          <a:solidFill>
                            <a:srgbClr val="3B4A7A"/>
                          </a:solidFill>
                          <a:latin typeface="Calibri"/>
                          <a:ea typeface="Calibri"/>
                          <a:cs typeface="Calibri"/>
                        </a:rPr>
                        <a:t>Empirical science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Public measurement, correction, history, and brain-dependence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Does not alone choose complete metaphysics or ultimate value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Operational evidence remains a decisive constraint on MD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294" name="Google Shape;294;p17">
            <a:extLst xmlns:a="http://schemas.openxmlformats.org/drawingml/2006/main">
              <a:ext uri="{FF2B5EF4-FFF2-40B4-BE49-F238E27FC236}">
                <a16:creationId xmlns:a16="http://schemas.microsoft.com/office/drawing/2014/main" id="{ABCF4426-7556-488A-83F5-1BD9AAA2FDB0}"/>
              </a:ext>
            </a:extLst>
          </p:cNvPr>
          <p:cNvSpPr>
            <a:spLocks xmlns:a="http://schemas.openxmlformats.org/drawingml/2006/main" noGrp="1"/>
          </p:cNvSpPr>
          <p:nvPr/>
        </p:nvSpPr>
        <p:spPr>
          <a:xfrm xmlns:a="http://schemas.openxmlformats.org/drawingml/2006/main">
            <a:off x="640080" y="4434840"/>
            <a:ext cx="795528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150"/>
              <a:buFont typeface="Calibri"/>
              <a:buNone/>
            </a:pPr>
            <a:r>
              <a:rPr sz="1150" b="0" i="1" u="none" cap="none">
                <a:solidFill>
                  <a:srgbClr val="9A6414"/>
                </a:solidFill>
                <a:latin typeface="Calibri"/>
                <a:ea typeface="Calibri"/>
                <a:cs typeface="Calibri"/>
              </a:rPr>
              <a:t>No single modern front opposes MD: Advaita, physicalist theories, and empirical science test different commitments.</a:t>
            </a:r>
          </a:p>
        </p:txBody>
      </p:sp>
      <p:sp>
        <p:nvSpPr>
          <p:cNvPr id="295" name="Google Shape;295;p17">
            <a:extLst xmlns:a="http://schemas.openxmlformats.org/drawingml/2006/main">
              <a:ext uri="{FF2B5EF4-FFF2-40B4-BE49-F238E27FC236}">
                <a16:creationId xmlns:a16="http://schemas.microsoft.com/office/drawing/2014/main" id="{37D33F07-8759-4C56-A394-4782EF46B6C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The comparison is strongest when each rival’s achievement is granted before its exposed limit is named.</a:t>
            </a:r>
          </a:p>
        </p:txBody>
      </p:sp>
    </p:spTree>
    <p:extLst>
      <p:ext uri="{BB962C8B-B14F-4D97-AF65-F5344CB8AC3E}">
        <p14:creationId xmlns:p14="http://schemas.microsoft.com/office/powerpoint/2010/main" val="12361860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8" name="Google Shape;288;p17">
            <a:extLst xmlns:a="http://schemas.openxmlformats.org/drawingml/2006/main">
              <a:ext uri="{FF2B5EF4-FFF2-40B4-BE49-F238E27FC236}">
                <a16:creationId xmlns:a16="http://schemas.microsoft.com/office/drawing/2014/main" id="{DD5D8857-45E4-4707-B498-7332E0A69CE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9" name="Google Shape;289;p17">
            <a:extLst xmlns:a="http://schemas.openxmlformats.org/drawingml/2006/main">
              <a:ext uri="{FF2B5EF4-FFF2-40B4-BE49-F238E27FC236}">
                <a16:creationId xmlns:a16="http://schemas.microsoft.com/office/drawing/2014/main" id="{F024B643-9073-4623-AF32-F34D6357C9B8}"/>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0" name="Google Shape;290;p17">
            <a:extLst xmlns:a="http://schemas.openxmlformats.org/drawingml/2006/main">
              <a:ext uri="{FF2B5EF4-FFF2-40B4-BE49-F238E27FC236}">
                <a16:creationId xmlns:a16="http://schemas.microsoft.com/office/drawing/2014/main" id="{6BEE49E1-92C2-471E-A037-E7C3D2ACD11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1" name="Google Shape;291;p17">
            <a:extLst xmlns:a="http://schemas.openxmlformats.org/drawingml/2006/main">
              <a:ext uri="{FF2B5EF4-FFF2-40B4-BE49-F238E27FC236}">
                <a16:creationId xmlns:a16="http://schemas.microsoft.com/office/drawing/2014/main" id="{9D0345D5-8718-463D-A316-A7ABA04E5819}"/>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050"/>
              <a:buFont typeface="Calibri"/>
              <a:buNone/>
            </a:pPr>
            <a:r>
              <a:rPr sz="1050" b="1" i="0" u="none" cap="none">
                <a:solidFill>
                  <a:srgbClr val="9A6414"/>
                </a:solidFill>
                <a:latin typeface="Calibri"/>
                <a:ea typeface="Calibri"/>
                <a:cs typeface="Calibri"/>
              </a:rPr>
              <a:t>§§6.1–6.2  ·  MD’S STRENGTH AND OPEN QUESTIONS</a:t>
            </a:r>
          </a:p>
        </p:txBody>
      </p:sp>
      <p:sp>
        <p:nvSpPr>
          <p:cNvPr id="292" name="Google Shape;292;p17">
            <a:extLst xmlns:a="http://schemas.openxmlformats.org/drawingml/2006/main">
              <a:ext uri="{FF2B5EF4-FFF2-40B4-BE49-F238E27FC236}">
                <a16:creationId xmlns:a16="http://schemas.microsoft.com/office/drawing/2014/main" id="{3046B58E-C4F6-455B-B6CC-2A810443F6B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1E2447"/>
              </a:buClr>
              <a:buSzPts val="3000"/>
              <a:buFont typeface="Cambria"/>
              <a:buNone/>
            </a:pPr>
            <a:r>
              <a:rPr sz="3000" b="1" i="0" u="none" cap="none">
                <a:solidFill>
                  <a:srgbClr val="1E2447"/>
                </a:solidFill>
                <a:latin typeface="Cambria"/>
                <a:ea typeface="Cambria"/>
                <a:cs typeface="Cambria"/>
              </a:rPr>
              <a:t>Coherence leaves questions open</a:t>
            </a:r>
          </a:p>
        </p:txBody>
      </p:sp>
      <p:graphicFrame>
        <p:nvGraphicFramePr>
          <p:cNvPr id="302" name="Google Shape;293;p17"/>
          <p:cNvGraphicFramePr/>
          <p:nvPr/>
        </p:nvGraphicFramePr>
        <p:xfrm>
          <a:off xmlns:a="http://schemas.openxmlformats.org/drawingml/2006/main" x="502920" y="1325880"/>
          <a:ext xmlns:a="http://schemas.openxmlformats.org/drawingml/2006/main" cx="3000000" cy="3000000"/>
        </p:xfrm>
        <a:graphic xmlns:a="http://schemas.openxmlformats.org/drawingml/2006/main">
          <a:graphicData uri="http://schemas.openxmlformats.org/drawingml/2006/table">
            <a:tbl>
              <a:tblPr>
                <a:tableStyleId>{C412159E-9D9A-4F1B-BDD3-5D94F5A31A33}</a:tableStyleId>
              </a:tblPr>
              <a:tblGrid>
                <a:gridCol w="1234450"/>
                <a:gridCol w="2331725"/>
                <a:gridCol w="2377450"/>
                <a:gridCol w="2194550"/>
              </a:tblGrid>
              <a:tr h="310900">
                <a:tc>
                  <a:txBody>
                    <a:bodyPr/>
                    <a:lstStyle/>
                    <a:p>
                      <a:pPr marL="0" marR="0" indent="0" algn="l">
                        <a:spcBef>
                          <a:spcPts val="0"/>
                        </a:spcBef>
                        <a:spcAft>
                          <a:spcPts val="0"/>
                        </a:spcAft>
                        <a:buClr>
                          <a:schemeClr val="dk1"/>
                        </a:buClr>
                        <a:buSzPts val="1050"/>
                        <a:buFont typeface="Calibri"/>
                        <a:buNone/>
                      </a:pPr>
                      <a:r>
                        <a:rPr sz="1100" b="1">
                          <a:solidFill>
                            <a:srgbClr val="FFFFFF"/>
                          </a:solidFill>
                          <a:latin typeface="Calibri"/>
                          <a:ea typeface="Calibri"/>
                          <a:cs typeface="Calibri"/>
                        </a:rPr>
                        <a:t>Focus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Internal strength</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Open obligation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marR="0" indent="0" algn="l">
                        <a:spcBef>
                          <a:spcPts val="0"/>
                        </a:spcBef>
                        <a:spcAft>
                          <a:spcPts val="0"/>
                        </a:spcAft>
                        <a:buClr>
                          <a:srgbClr val="FFFFFF"/>
                        </a:buClr>
                        <a:buSzPts val="1050"/>
                        <a:buFont typeface="Calibri"/>
                        <a:buNone/>
                      </a:pPr>
                      <a:r>
                        <a:rPr sz="1050" b="1" u="none" cap="none">
                          <a:solidFill>
                            <a:srgbClr val="FFFFFF"/>
                          </a:solidFill>
                          <a:latin typeface="Calibri"/>
                          <a:ea typeface="Calibri"/>
                          <a:cs typeface="Calibri"/>
                        </a:rPr>
                        <a:t>Productive next step</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868675">
                <a:tc>
                  <a:txBody>
                    <a:bodyPr/>
                    <a:lstStyle/>
                    <a:p>
                      <a:pPr marL="0" marR="0" indent="0" algn="l">
                        <a:spcBef>
                          <a:spcPts val="0"/>
                        </a:spcBef>
                        <a:spcAft>
                          <a:spcPts val="0"/>
                        </a:spcAft>
                        <a:buClr>
                          <a:srgbClr val="6D2E46"/>
                        </a:buClr>
                        <a:buSzPts val="930"/>
                        <a:buFont typeface="Calibri"/>
                        <a:buNone/>
                      </a:pPr>
                      <a:r>
                        <a:rPr sz="930" b="1" u="none" cap="none">
                          <a:solidFill>
                            <a:srgbClr val="6D2E46"/>
                          </a:solidFill>
                          <a:latin typeface="Calibri"/>
                          <a:ea typeface="Calibri"/>
                          <a:cs typeface="Calibri"/>
                        </a:rPr>
                        <a:t>MD ontology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One two-term picture keeps world, self, value, and relations real</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Happiness, value and relational duties need independent justification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Explain and test the premises of humane obligation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868675">
                <a:tc>
                  <a:txBody>
                    <a:bodyPr/>
                    <a:lstStyle/>
                    <a:p>
                      <a:pPr marL="0" marR="0" indent="0" algn="l">
                        <a:spcBef>
                          <a:spcPts val="0"/>
                        </a:spcBef>
                        <a:spcAft>
                          <a:spcPts val="0"/>
                        </a:spcAft>
                        <a:buClr>
                          <a:srgbClr val="31606B"/>
                        </a:buClr>
                        <a:buSzPts val="930"/>
                        <a:buFont typeface="Calibri"/>
                        <a:buNone/>
                      </a:pPr>
                      <a:r>
                        <a:rPr sz="930" b="1" u="none" cap="none">
                          <a:solidFill>
                            <a:srgbClr val="31606B"/>
                          </a:solidFill>
                          <a:latin typeface="Calibri"/>
                          <a:ea typeface="Calibri"/>
                          <a:cs typeface="Calibri"/>
                        </a:rPr>
                        <a:t>Constitutional completeness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A definite primary-text threshold—not biological emergence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No public identifier in current physical terms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Specify measurable or method-specific criteria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868675">
                <a:tc>
                  <a:txBody>
                    <a:bodyPr/>
                    <a:lstStyle/>
                    <a:p>
                      <a:pPr marL="0" marR="0" indent="0" algn="l">
                        <a:spcBef>
                          <a:spcPts val="0"/>
                        </a:spcBef>
                        <a:spcAft>
                          <a:spcPts val="0"/>
                        </a:spcAft>
                        <a:buClr>
                          <a:srgbClr val="3B4A7A"/>
                        </a:buClr>
                        <a:buSzPts val="930"/>
                        <a:buFont typeface="Calibri"/>
                        <a:buNone/>
                      </a:pPr>
                      <a:r>
                        <a:rPr sz="930" b="1" u="none" cap="none">
                          <a:solidFill>
                            <a:srgbClr val="3B4A7A"/>
                          </a:solidFill>
                          <a:latin typeface="Calibri"/>
                          <a:ea typeface="Calibri"/>
                          <a:cs typeface="Calibri"/>
                        </a:rPr>
                        <a:t>Persistence and evolution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Gathanpurnata grounds survival within MD; order levels are distinct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Reassociation and niyati mapping remain unconfirmed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marR="0" indent="0" algn="l">
                        <a:spcBef>
                          <a:spcPts val="0"/>
                        </a:spcBef>
                        <a:spcAft>
                          <a:spcPts val="0"/>
                        </a:spcAft>
                        <a:buClr>
                          <a:srgbClr val="1E2447"/>
                        </a:buClr>
                        <a:buSzPts val="930"/>
                        <a:buFont typeface="Calibri"/>
                        <a:buNone/>
                      </a:pPr>
                      <a:r>
                        <a:rPr sz="930" u="none" cap="none">
                          <a:solidFill>
                            <a:srgbClr val="1E2447"/>
                          </a:solidFill>
                          <a:latin typeface="Calibri"/>
                          <a:ea typeface="Calibri"/>
                          <a:cs typeface="Calibri"/>
                        </a:rPr>
                        <a:t>Compare neuroscience and evolution without category conflation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294" name="Google Shape;294;p17">
            <a:extLst xmlns:a="http://schemas.openxmlformats.org/drawingml/2006/main">
              <a:ext uri="{FF2B5EF4-FFF2-40B4-BE49-F238E27FC236}">
                <a16:creationId xmlns:a16="http://schemas.microsoft.com/office/drawing/2014/main" id="{ABCF4426-7556-488A-83F5-1BD9AAA2FDB0}"/>
              </a:ext>
            </a:extLst>
          </p:cNvPr>
          <p:cNvSpPr>
            <a:spLocks xmlns:a="http://schemas.openxmlformats.org/drawingml/2006/main" noGrp="1"/>
          </p:cNvSpPr>
          <p:nvPr/>
        </p:nvSpPr>
        <p:spPr>
          <a:xfrm xmlns:a="http://schemas.openxmlformats.org/drawingml/2006/main">
            <a:off x="640080" y="4434840"/>
            <a:ext cx="795528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9A6414"/>
              </a:buClr>
              <a:buSzPts val="1150"/>
              <a:buFont typeface="Calibri"/>
              <a:buNone/>
            </a:pPr>
            <a:r>
              <a:rPr sz="1150" b="0" i="1" u="none" cap="none">
                <a:solidFill>
                  <a:srgbClr val="9A6414"/>
                </a:solidFill>
                <a:latin typeface="Calibri"/>
                <a:ea typeface="Calibri"/>
                <a:cs typeface="Calibri"/>
              </a:rPr>
              <a:t>Conduct-evidence is substantial practical evidence; it is not yet a physical detector for jeevan.</a:t>
            </a:r>
          </a:p>
        </p:txBody>
      </p:sp>
      <p:sp>
        <p:nvSpPr>
          <p:cNvPr id="295" name="Google Shape;295;p17">
            <a:extLst xmlns:a="http://schemas.openxmlformats.org/drawingml/2006/main">
              <a:ext uri="{FF2B5EF4-FFF2-40B4-BE49-F238E27FC236}">
                <a16:creationId xmlns:a16="http://schemas.microsoft.com/office/drawing/2014/main" id="{37D33F07-8759-4C56-A394-4782EF46B6C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5A6377"/>
              </a:buClr>
              <a:buSzPts val="950"/>
              <a:buFont typeface="Calibri"/>
              <a:buNone/>
            </a:pPr>
            <a:r>
              <a:rPr sz="950" b="0" i="1" u="none" cap="none">
                <a:solidFill>
                  <a:srgbClr val="5A6377"/>
                </a:solidFill>
                <a:latin typeface="Calibri"/>
                <a:ea typeface="Calibri"/>
                <a:cs typeface="Calibri"/>
              </a:rPr>
              <a:t>Further work should state what could discriminate MD’s stronger claims from rival explanations.</a:t>
            </a:r>
          </a:p>
        </p:txBody>
      </p:sp>
    </p:spTree>
    <p:extLst>
      <p:ext uri="{BB962C8B-B14F-4D97-AF65-F5344CB8AC3E}">
        <p14:creationId xmlns:p14="http://schemas.microsoft.com/office/powerpoint/2010/main" val="1236186054"/>
      </p:ext>
    </p:extLst>
  </p:cSld>
</p:sld>
</file>

<file path=ppt/slides/slide18.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301" name="Google Shape;301;p18">
            <a:extLst xmlns:a="http://schemas.openxmlformats.org/drawingml/2006/main">
              <a:ext uri="{FF2B5EF4-FFF2-40B4-BE49-F238E27FC236}">
                <a16:creationId xmlns:a16="http://schemas.microsoft.com/office/drawing/2014/main" id="{C01A7261-F1EF-4518-A4C2-8CA5AC332E0A}"/>
              </a:ext>
            </a:extLst>
          </p:cNvPr>
          <p:cNvSpPr>
            <a:spLocks xmlns:a="http://schemas.openxmlformats.org/drawingml/2006/main" noGrp="1"/>
          </p:cNvSpPr>
          <p:nvPr/>
        </p:nvSpPr>
        <p:spPr>
          <a:xfrm xmlns:a="http://schemas.openxmlformats.org/drawingml/2006/main">
            <a:off x="7635240" y="411480"/>
            <a:ext cx="1005840" cy="1005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2" name="Google Shape;302;p18">
            <a:extLst xmlns:a="http://schemas.openxmlformats.org/drawingml/2006/main">
              <a:ext uri="{FF2B5EF4-FFF2-40B4-BE49-F238E27FC236}">
                <a16:creationId xmlns:a16="http://schemas.microsoft.com/office/drawing/2014/main" id="{6A380B8E-3197-4607-8B78-C4C3BD0B381C}"/>
              </a:ext>
            </a:extLst>
          </p:cNvPr>
          <p:cNvSpPr>
            <a:spLocks xmlns:a="http://schemas.openxmlformats.org/drawingml/2006/main" noGrp="1"/>
          </p:cNvSpPr>
          <p:nvPr/>
        </p:nvSpPr>
        <p:spPr>
          <a:xfrm xmlns:a="http://schemas.openxmlformats.org/drawingml/2006/main">
            <a:off x="7836408" y="612648"/>
            <a:ext cx="603504" cy="6035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3" name="Google Shape;303;p18">
            <a:extLst xmlns:a="http://schemas.openxmlformats.org/drawingml/2006/main">
              <a:ext uri="{FF2B5EF4-FFF2-40B4-BE49-F238E27FC236}">
                <a16:creationId xmlns:a16="http://schemas.microsoft.com/office/drawing/2014/main" id="{03B9B1A9-FB0F-467A-AAFD-06AE6CD9094F}"/>
              </a:ext>
            </a:extLst>
          </p:cNvPr>
          <p:cNvSpPr>
            <a:spLocks xmlns:a="http://schemas.openxmlformats.org/drawingml/2006/main" noGrp="1"/>
          </p:cNvSpPr>
          <p:nvPr/>
        </p:nvSpPr>
        <p:spPr>
          <a:xfrm xmlns:a="http://schemas.openxmlformats.org/drawingml/2006/main">
            <a:off x="8007401" y="783641"/>
            <a:ext cx="261518" cy="26151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4" name="Google Shape;304;p18">
            <a:extLst xmlns:a="http://schemas.openxmlformats.org/drawingml/2006/main">
              <a:ext uri="{FF2B5EF4-FFF2-40B4-BE49-F238E27FC236}">
                <a16:creationId xmlns:a16="http://schemas.microsoft.com/office/drawing/2014/main" id="{755E71A2-279E-4364-AF53-A0003F907C37}"/>
              </a:ext>
            </a:extLst>
          </p:cNvPr>
          <p:cNvSpPr>
            <a:spLocks xmlns:a="http://schemas.openxmlformats.org/drawingml/2006/main" noGrp="1"/>
          </p:cNvSpPr>
          <p:nvPr/>
        </p:nvSpPr>
        <p:spPr>
          <a:xfrm xmlns:a="http://schemas.openxmlformats.org/drawingml/2006/main">
            <a:off x="640080" y="457200"/>
            <a:ext cx="66751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C9821E"/>
              </a:buClr>
              <a:buSzPts val="1200"/>
              <a:buFont typeface="Calibri"/>
              <a:buNone/>
            </a:pPr>
            <a:r>
              <a:rPr sz="1200" b="1" i="0" u="none" cap="none">
                <a:solidFill>
                  <a:srgbClr val="C9821E"/>
                </a:solidFill>
                <a:latin typeface="Calibri"/>
                <a:ea typeface="Calibri"/>
                <a:cs typeface="Calibri"/>
              </a:rPr>
              <a:t>WHAT THE COMPARISON ESTABLISHES</a:t>
            </a:r>
          </a:p>
        </p:txBody>
      </p:sp>
      <p:sp>
        <p:nvSpPr>
          <p:cNvPr id="305" name="Google Shape;305;p18">
            <a:extLst xmlns:a="http://schemas.openxmlformats.org/drawingml/2006/main">
              <a:ext uri="{FF2B5EF4-FFF2-40B4-BE49-F238E27FC236}">
                <a16:creationId xmlns:a16="http://schemas.microsoft.com/office/drawing/2014/main" id="{97D13B9B-8C69-4239-891D-CAEB066296E0}"/>
              </a:ext>
            </a:extLst>
          </p:cNvPr>
          <p:cNvSpPr>
            <a:spLocks xmlns:a="http://schemas.openxmlformats.org/drawingml/2006/main" noGrp="1"/>
          </p:cNvSpPr>
          <p:nvPr/>
        </p:nvSpPr>
        <p:spPr>
          <a:xfrm xmlns:a="http://schemas.openxmlformats.org/drawingml/2006/main">
            <a:off x="640080" y="749808"/>
            <a:ext cx="68580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3200"/>
              <a:buFont typeface="Cambria"/>
              <a:buNone/>
            </a:pPr>
            <a:r>
              <a:rPr sz="3200" b="1" i="0" u="none" cap="none">
                <a:solidFill>
                  <a:srgbClr val="FFFFFF"/>
                </a:solidFill>
                <a:latin typeface="Cambria"/>
                <a:ea typeface="Cambria"/>
                <a:cs typeface="Cambria"/>
              </a:rPr>
              <a:t>Agreements and open questions</a:t>
            </a:r>
          </a:p>
        </p:txBody>
      </p:sp>
      <p:sp>
        <p:nvSpPr>
          <p:cNvPr id="306" name="Google Shape;306;p18">
            <a:extLst xmlns:a="http://schemas.openxmlformats.org/drawingml/2006/main">
              <a:ext uri="{FF2B5EF4-FFF2-40B4-BE49-F238E27FC236}">
                <a16:creationId xmlns:a16="http://schemas.microsoft.com/office/drawing/2014/main" id="{5BB0C871-0853-48EE-8EE2-34464150655A}"/>
              </a:ext>
            </a:extLst>
          </p:cNvPr>
          <p:cNvSpPr>
            <a:spLocks xmlns:a="http://schemas.openxmlformats.org/drawingml/2006/main" noGrp="1"/>
          </p:cNvSpPr>
          <p:nvPr/>
        </p:nvSpPr>
        <p:spPr>
          <a:xfrm xmlns:a="http://schemas.openxmlformats.org/drawingml/2006/main">
            <a:off x="640080" y="1554480"/>
            <a:ext cx="3840480" cy="1371600"/>
          </a:xfrm>
          <a:prstGeom xmlns:a="http://schemas.openxmlformats.org/drawingml/2006/main" prst="roundRect">
            <a:avLst>
              <a:gd name="adj" fmla="val 6667"/>
            </a:avLst>
          </a:prstGeom>
          <a:solidFill xmlns:a="http://schemas.openxmlformats.org/drawingml/2006/main">
            <a:srgbClr val="2B356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7" name="Google Shape;307;p18">
            <a:extLst xmlns:a="http://schemas.openxmlformats.org/drawingml/2006/main">
              <a:ext uri="{FF2B5EF4-FFF2-40B4-BE49-F238E27FC236}">
                <a16:creationId xmlns:a16="http://schemas.microsoft.com/office/drawing/2014/main" id="{15A136D0-7330-4697-9C31-9194B7A1A6FD}"/>
              </a:ext>
            </a:extLst>
          </p:cNvPr>
          <p:cNvSpPr>
            <a:spLocks xmlns:a="http://schemas.openxmlformats.org/drawingml/2006/main" noGrp="1"/>
          </p:cNvSpPr>
          <p:nvPr/>
        </p:nvSpPr>
        <p:spPr>
          <a:xfrm xmlns:a="http://schemas.openxmlformats.org/drawingml/2006/main">
            <a:off x="868680" y="1691640"/>
            <a:ext cx="3429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l">
              <a:spcBef>
                <a:spcPts val="0"/>
              </a:spcBef>
              <a:spcAft>
                <a:spcPts val="0"/>
              </a:spcAft>
              <a:buClr>
                <a:srgbClr val="C9D4EF"/>
              </a:buClr>
              <a:buSzPts val="1350"/>
              <a:buFont typeface="Calibri"/>
              <a:buNone/>
            </a:pPr>
            <a:r>
              <a:rPr sz="1350" b="1" i="0" u="none" cap="none">
                <a:solidFill>
                  <a:srgbClr val="C9D4EF"/>
                </a:solidFill>
                <a:latin typeface="Calibri"/>
                <a:ea typeface="Calibri"/>
                <a:cs typeface="Calibri"/>
              </a:rPr>
              <a:t>MD’s distinctive result</a:t>
            </a:r>
          </a:p>
          <a:p xmlns:a="http://schemas.openxmlformats.org/drawingml/2006/main">
            <a:pPr marL="0" marR="0" indent="0" algn="l">
              <a:spcBef>
                <a:spcPts val="400"/>
              </a:spcBef>
              <a:spcAft>
                <a:spcPts val="0"/>
              </a:spcAft>
              <a:buClr>
                <a:srgbClr val="AEB9DC"/>
              </a:buClr>
              <a:buSzPts val="1050"/>
              <a:buFont typeface="Calibri"/>
              <a:buNone/>
            </a:pPr>
            <a:r>
              <a:rPr sz="1050" b="0" i="0" u="none" cap="none">
                <a:solidFill>
                  <a:srgbClr val="AEB9DC"/>
                </a:solidFill>
                <a:latin typeface="Calibri"/>
                <a:ea typeface="Calibri"/>
                <a:cs typeface="Calibri"/>
              </a:rPr>
              <a:t>Coexistence retains formless Omnipresence and countless real units; change belongs to units, jeevan remains distinct, and world, relationships, and values retain final weight.</a:t>
            </a:r>
          </a:p>
        </p:txBody>
      </p:sp>
      <p:sp>
        <p:nvSpPr>
          <p:cNvPr id="308" name="Google Shape;308;p18">
            <a:extLst xmlns:a="http://schemas.openxmlformats.org/drawingml/2006/main">
              <a:ext uri="{FF2B5EF4-FFF2-40B4-BE49-F238E27FC236}">
                <a16:creationId xmlns:a16="http://schemas.microsoft.com/office/drawing/2014/main" id="{48DD9D6D-23C8-48C9-83E9-8306CEE54662}"/>
              </a:ext>
            </a:extLst>
          </p:cNvPr>
          <p:cNvSpPr>
            <a:spLocks xmlns:a="http://schemas.openxmlformats.org/drawingml/2006/main" noGrp="1"/>
          </p:cNvSpPr>
          <p:nvPr/>
        </p:nvSpPr>
        <p:spPr>
          <a:xfrm xmlns:a="http://schemas.openxmlformats.org/drawingml/2006/main">
            <a:off x="4663440" y="1554480"/>
            <a:ext cx="3840480" cy="1371600"/>
          </a:xfrm>
          <a:prstGeom xmlns:a="http://schemas.openxmlformats.org/drawingml/2006/main" prst="roundRect">
            <a:avLst>
              <a:gd name="adj" fmla="val 6667"/>
            </a:avLst>
          </a:prstGeom>
          <a:solidFill xmlns:a="http://schemas.openxmlformats.org/drawingml/2006/main">
            <a:srgbClr val="2B356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9" name="Google Shape;309;p18">
            <a:extLst xmlns:a="http://schemas.openxmlformats.org/drawingml/2006/main">
              <a:ext uri="{FF2B5EF4-FFF2-40B4-BE49-F238E27FC236}">
                <a16:creationId xmlns:a16="http://schemas.microsoft.com/office/drawing/2014/main" id="{A6150235-0DEF-42E2-BF61-EF4FE9DA7C68}"/>
              </a:ext>
            </a:extLst>
          </p:cNvPr>
          <p:cNvSpPr>
            <a:spLocks xmlns:a="http://schemas.openxmlformats.org/drawingml/2006/main" noGrp="1"/>
          </p:cNvSpPr>
          <p:nvPr/>
        </p:nvSpPr>
        <p:spPr>
          <a:xfrm xmlns:a="http://schemas.openxmlformats.org/drawingml/2006/main">
            <a:off x="4892040" y="1691640"/>
            <a:ext cx="3429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l">
              <a:spcBef>
                <a:spcPts val="0"/>
              </a:spcBef>
              <a:spcAft>
                <a:spcPts val="0"/>
              </a:spcAft>
              <a:buClr>
                <a:srgbClr val="C9D4EF"/>
              </a:buClr>
              <a:buSzPts val="1350"/>
              <a:buFont typeface="Calibri"/>
              <a:buNone/>
            </a:pPr>
            <a:r>
              <a:rPr sz="1350" b="1" i="0" u="none" cap="none">
                <a:solidFill>
                  <a:srgbClr val="C9D4EF"/>
                </a:solidFill>
                <a:latin typeface="Calibri"/>
                <a:ea typeface="Calibri"/>
                <a:cs typeface="Calibri"/>
              </a:rPr>
              <a:t>Question-specific alignments</a:t>
            </a:r>
          </a:p>
          <a:p xmlns:a="http://schemas.openxmlformats.org/drawingml/2006/main">
            <a:pPr marL="0" marR="0" indent="0" algn="l">
              <a:spcBef>
                <a:spcPts val="400"/>
              </a:spcBef>
              <a:spcAft>
                <a:spcPts val="0"/>
              </a:spcAft>
              <a:buClr>
                <a:srgbClr val="AEB9DC"/>
              </a:buClr>
              <a:buSzPts val="1050"/>
              <a:buFont typeface="Calibri"/>
              <a:buNone/>
            </a:pPr>
            <a:r>
              <a:rPr sz="1050" b="0" i="0" u="none" cap="none">
                <a:solidFill>
                  <a:srgbClr val="AEB9DC"/>
                </a:solidFill>
                <a:latin typeface="Calibri"/>
                <a:ea typeface="Calibri"/>
                <a:cs typeface="Calibri"/>
              </a:rPr>
              <a:t>With scientific realism on mind-independent nature; with Advaita and some modern alternatives on irreducible experience. Each agreement leaves major ontological differences.</a:t>
            </a:r>
          </a:p>
        </p:txBody>
      </p:sp>
      <p:sp>
        <p:nvSpPr>
          <p:cNvPr id="310" name="Google Shape;310;p18">
            <a:extLst xmlns:a="http://schemas.openxmlformats.org/drawingml/2006/main">
              <a:ext uri="{FF2B5EF4-FFF2-40B4-BE49-F238E27FC236}">
                <a16:creationId xmlns:a16="http://schemas.microsoft.com/office/drawing/2014/main" id="{EF48C9D1-719E-44C1-A28A-F9BEDFBB91FE}"/>
              </a:ext>
            </a:extLst>
          </p:cNvPr>
          <p:cNvSpPr>
            <a:spLocks xmlns:a="http://schemas.openxmlformats.org/drawingml/2006/main" noGrp="1"/>
          </p:cNvSpPr>
          <p:nvPr/>
        </p:nvSpPr>
        <p:spPr>
          <a:xfrm xmlns:a="http://schemas.openxmlformats.org/drawingml/2006/main">
            <a:off x="640080" y="3200400"/>
            <a:ext cx="78638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C9821E"/>
              </a:buClr>
              <a:buSzPts val="1900"/>
              <a:buFont typeface="Cambria"/>
              <a:buNone/>
            </a:pPr>
            <a:r>
              <a:rPr sz="1900" b="1" i="1" u="none" cap="none">
                <a:solidFill>
                  <a:srgbClr val="C9821E"/>
                </a:solidFill>
                <a:latin typeface="Cambria"/>
                <a:ea typeface="Cambria"/>
                <a:cs typeface="Cambria"/>
              </a:rPr>
              <a:t>“Brahma is truth, the world is perpetual.”  — MVD, p. 13</a:t>
            </a:r>
          </a:p>
        </p:txBody>
      </p:sp>
      <p:sp>
        <p:nvSpPr>
          <p:cNvPr id="311" name="Google Shape;311;p18">
            <a:extLst xmlns:a="http://schemas.openxmlformats.org/drawingml/2006/main">
              <a:ext uri="{FF2B5EF4-FFF2-40B4-BE49-F238E27FC236}">
                <a16:creationId xmlns:a16="http://schemas.microsoft.com/office/drawing/2014/main" id="{0FF34789-DF76-4D36-A765-D8C7E874AEB0}"/>
              </a:ext>
            </a:extLst>
          </p:cNvPr>
          <p:cNvSpPr>
            <a:spLocks xmlns:a="http://schemas.openxmlformats.org/drawingml/2006/main" noGrp="1"/>
          </p:cNvSpPr>
          <p:nvPr/>
        </p:nvSpPr>
        <p:spPr>
          <a:xfrm xmlns:a="http://schemas.openxmlformats.org/drawingml/2006/main">
            <a:off x="914400" y="3840480"/>
            <a:ext cx="73152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8E9BC4"/>
              </a:buClr>
              <a:buSzPts val="1150"/>
              <a:buFont typeface="Calibri"/>
              <a:buNone/>
            </a:pPr>
            <a:r>
              <a:rPr sz="1150" b="0" i="0" u="none" cap="none">
                <a:solidFill>
                  <a:srgbClr val="8E9BC4"/>
                </a:solidFill>
                <a:latin typeface="Calibri"/>
                <a:ea typeface="Calibri"/>
                <a:cs typeface="Calibri"/>
              </a:rPr>
              <a:t>Open questions: identify constitutional completeness; test persistence and joint operation; relate evidence to evolutionary history; justify value and relational duties.</a:t>
            </a:r>
          </a:p>
        </p:txBody>
      </p:sp>
    </p:spTree>
    <p:extLst>
      <p:ext uri="{BB962C8B-B14F-4D97-AF65-F5344CB8AC3E}">
        <p14:creationId xmlns:p14="http://schemas.microsoft.com/office/powerpoint/2010/main" val="745187757"/>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2026-09-20T07:24:48.3000000Z</dcterms:created>
  <dcterms:modified xsi:type="dcterms:W3CDTF">2026-09-20T07:24:48.3000000Z</dcterms:modified>
</coreProperties>
</file>