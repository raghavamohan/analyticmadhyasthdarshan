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target 0:20 in.
Welcome, set the frame in one breath before the title lands: "Madhyasth Darshan is usually met through its human programme — justice in relationships, family-based order, humane education. This talk takes the other road: it asks whether that teaching rests on a small, checkable logical core, and tries to write that core down."
Say the promise plainly: this is a RECONSTRUCTION — not a proof the darshan is true, not a reduction of it to one formula. It is "a checkable map of what depends on what." Keep that phrase; you return to it at the end.
Housekeeping: 45 minutes, then 15 for discussion. Tell them the four-part shape is coming so they can relax and follow. The dark field with gold points is the thesis in a picture — one omnipresent medium, countless real units saturated in it. Point at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 ~1:40 (target 2:00 in).
Plant the tension: the texts speak PIECEWISE — hungry/overfull atoms, then cells, then organisms, then families and undivided society, across different books. A newcomer hears a bundle of separate doctrines.
The wager: these are the SAME move at different tiers. And the direction is the reverse of what people expect — not "humans are like atoms." The universal structure is asserted FIRST (quote SB: "Each unit is a whole along with its environment"); the human being is simply its hardest, highest instance.
Walk the three cards — the paper's own ground rules, which matter more than any single result: (1) articulation not extrapolation; (2) the math is a lens for clarity, not a proof machine — silent exactly where the darshan parts from science (the reality of satta and jeevan); (3) it keeps the seams visible — you'll see this formalized two slides on. Transition: "So — four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 ~1:20 (target 3:20 in).
Walk the four parts quickly; they map onto the four sections of the talk. Flag roughly where the break points are.
Then slow down and read the caveat aloud, word for word — the most important sentence in the talk, and your shield in Q&amp;A: "This is not a proof that Madhyasth Darshan is true, nor a reduction of its teaching to one formula. It is a reconstruction — the paper's own construction, warranted by citations."
Say why it's load-bearing: the two things the darshan cares about most — a real omnipresent medium, and jeevan as a real entity — are exactly the two the math CANNOT prove. The formalism shows what depends on what; it doesn't smuggle posits in through pretty diagrams. Promise you'll name every heavy posit near the end.
PACING NOTE: total material runs ~45-48 min. If you're behind at the 36-min checkpoint, the compressible slides are 20 (Time), 21 (Stability), and 24 (cut to two items). Transition: "Let's start with the picture you can hold before any symbols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 DIVIDER — ~15 sec. "Before we open the machinery, here is the whole idea in a form you can hold in your head."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SCHEMA — ~2:00 (target 5:35 in).
Lead with the textual warrant so no one thinks universality is your invention. Read MVD p.11: every saturated unit has the same four-tuple signature and the same orderliness. Manav Karm Darshan does the same with "Effort – Motion – Result," developed from the atom upward.
Three rows: the SAME assembly move as (1) hungry/overfull atoms bonding, (2) cells composing into organisms, (3) individuals organizing into society. Different books, one structure.
Right rail is the point to hammer: this is ARTICULATION, not extrapolation. Not "humans resemble atoms" — the general law is stated first, the human case is its hardest instance. This inversion is what lets the structure be carried to systems Nagraj never analysed (economy, institution) — you'll use that in Part IV. Honest flag: the closure at the human tier is a DECLARED ANALOGY, not a literal molecule-like compound; you'll be precise about that at composition. Transition: "Here's the whole move in four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MOVES — ~2:00 (target 7:35 in). The spine of the whole talk in one slide. Walk left to right; everything after is elaboration.
1 GROUND. Two things exist: one actionless medium, satta, and countless real units. Every unit is SATURATED — soaked, submerged, surrounded. Surprising claim: saturation, and nothing added, makes each unit active. No push from the medium.
2 COUPLE. Units join by COMPLEMENTARITY, not competition — hungry atom meets overfull one, deficiency meets surplus. "There is no conflict in existence."
3 CLOSE &amp; RECUR. When a coupling closes a NEW boundary, that's literally a new unit one tier up, new conduct — components "discard their own conducts and present another." Output is again a unit, so the move repeats: particles→atoms→molecules→planets; cells→organisms; person→family→society.
4 TURN REFLEXIVE (gold card, special). Carry closure up to constitutional completeness. There, uniquely, activity takes activity ITSELF as object. That reflexive turn is jeevan. Only here: evaluation, justice, the possibility of error.
Emphasize the caption: steps 1-3 are ONE schema; step 4 is a DIFFERENT, reflexive move — not a fourth firing of the same rule. Transition: "Let me show the whole arc in a single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 ~1:45 (target 9:20 in). Run the whole paper in miniature.
Top row: (1) two atoms, one hungry one overfull; (2) they couple and close into a MOLECULE with new conduct; (3) same move continues up planetary and biological lines; (4) carried up the development line, a composite atom reaches CONSTITUTIONAL COMPLETENESS — "both effort and motion become inexhaustible"; (5) at that fixed point the same activity turns reflexive — that is jeevan.
Payoff strip answers the obvious objection before it's raised: if constitution is already complete at the turn, what develops? The CURRENCY changes. Below the turn, development is constitutional — you're short of particles, supplied from outside. At/above, it's realizational — nothing acquired from outside; the jeevan's own activity turns inward, aligning faculties. Same engine (A2), same triad — only currency shifts from particles to understanding. Best thing to say when someone asks "how can something already complete still grow?" Transition: "Before the kernel — one slide on the discipline that keeps this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AXES — ~2:10 (target 11:30 in). The intellectual conscience of the paper; give it real time.
Every notion is tagged on TWO independent axes. Axis 1 PROVENANCE (where from?): textual assertion, formal reconstruction (the paper's own move, like κ), or mathematical analogy (the CT, the physics readings). Axis 2 STANDING (what does the formalism buy?): established WITHIN the model, a taught datum the texts fix and the model can't generate, or an open metaphysical posit — asserted, not proven.
Why two and not one? They come apart — read the bottom band slowly: satta and jeevan are BOTH textual assertions AND open posits; κ is a reconstruction established within the model (but "theorem" = result inside the reconstruction, not proof about the world); the six value-kinds are asserted and stay DATA.
Honest punchline: when you later see a clean diagram of jeevan or of undivided society, remember these are open posits dressed in structure. The diagram organizes the posit; it doesn't vindicate it. This slide earns you the right to show the math without overclaiming. Transition into Part II: "With that discipline in hand — the kernel. It's smaller than you'd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 DIVIDER — ~15 sec. "This is the smallest core that still organizes the whole ontology: three primitives, two axioms, one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PRIMITIVES — ~2:15 (target 14:00 in). ~15 min in.
Only three things are primitive; take them one at a time with the field diagram as anchor.
O — satta, "Omnipresence." One, real, all-pervasive; stress ACTIONLESS. State-complete while everything else is state-dynamic. Firewall preview: O is NOT a unit — no statement about units applies to it. Point at the dark field: that's O.
U — units, ikai. Real, co-eternal, COUNTABLE — "Nature is in the form of entities that can be counted." Key commitment: a unit is a CARRIER — it bears activity; it is not built out of activity/process/occasions. This carrier-primacy resists reducing jeevan to a role later. Point at the gold dots.
SATURATION — the single ground relation. Every unit soaked/submerged/surrounded in the one medium — "no provision in existence to separate units from Omnipresence." Two cautions: constitutive CO-LOCATION, the first ontological relation, distinct from unit-to-unit coupling; and NOT a physical drawing of energy out of O.
Bottom, the elegant part: ACTIVENESS is deliberately NOT a fourth primitive — "Unit + Energy fullness = Activeness"; it falls out as a theorem next slide. The kernel stays minimal on purpose. Transition: "Two axioms turn these three into a working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AXIOMS — ~2:30 (target 16:30 in). The two axioms are the whole engine; downstream is definition or data.
A1 ENDOWMENT (left). Through saturation ALONE, O gives every carrier three invariants, distinguishable but inseparable: (a) ACTIVENESS — inexhaustible energy as the triad: effort/motion/result (shram, gati, parinam); (b) RECOGNITION — a unit's activity is legible to others, "by law" — this opens mutuality; (c) REGULATION — the same lawfulness disciplines conduct in the natural state; shows up as structural/seed/species/sanskar conformance.
Then the FIREWALL — part of the axiom, doctrinally essential, read carefully: O is NEVER an input to, nor a summand of, a unit's activity. Provisions energy, legibility, regulation with no push, no update term, no depletion. This is how an omnipresent, energizing medium stays ACTIONLESS. If you say "O acts on the unit" or "the unit draws from O," you've broken the doctrine. The nucleus in an atom, atma in a jeevan, LOCALIZE regulation without O ever becoming an agent.
A2 ORIENTATION (right). Activity aims at DEVELOPMENT AND COMPLETENESS — explicitly NOT indefinite "more." A choice of telos; where the darshan diverges from optimization framings. Terminal form is TIERED: the atomic line culminates at constitutional completeness — where jeevan appears (T1). The realized goals (restfulness of effort, destination of motion, immortality of result) are jeevan's awakening targets, not something the first three orders consciously attain.
Q&amp;A flag: A2's teleology is one of the heaviest posits — a physicist presses here. Acknowledge now; name it explicitly at the end. Transition: "One move turns these axioms into a whole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κ, COMPOUND-CLOSURE — ~2:30 (target 19:00 in). Read the notation as plain English.
The inference rule (left), top to bottom: IF saturated units at some order, AND their ports are complementary (C_o holds), AND their coupling closes a new motion-path — THEN κ delivers a new unit, one tier up, new signature. The horizontal line is just "therefore." The small line κ = closure(φ(ρ(...))) maps onto the anatomy on the right.
Anatomy: ρ recognition spots the complementarity and fixes the expectation profile (who owes what); φ fulfilment executes, results flow; closure tests whether it settles into ONE new bounded thing.
That test gives two outcomes (bottom), doctrinally important: COMPOUND (yaugik) CLOSES — new boundary, components "discard their own conducts and present another"; a molecule is a new unit, not two atoms side by side. MIXTURE (mishran) — fulfilment happens, results flow, but NO new boundary; components keep their conducts. Hence "composition is not development" — piling up never crosses an order plateau.
Land this: because κ's OUTPUT is again a unit, the rule re-applies — that iteration builds the tiered hierarchy. Same schema reappears in typed forms: literal in physics/chemistry, compositional in biology, and — honestly — a DECLARED ANALOGY at the human/social tier. Transition: "Iterate κ up the development line and something categorically new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REFLEXIVE TURN — ~2:00 (target 21:00 in). The hinge of the entire system — where matter becomes mind, in the darshan's terms.
Set up with the diagram. An ORDINARY unit acts and produces a result — activity pointed outward (top). Carry κ up the development line to a composite atom at constitutional completeness. THERE, uniquely, the unit's activity can take ACTIVITY ITSELF as its object — it turns back on itself (the loop). That reflexive re-application IS jeevan, the sentient unit.
What it buys and costs: only a reflexive activity can take a coupling as its OBJECT — so only here do EVALUATION, JUSTICE, and the POSSIBILITY OF FAILURE appear. Rocks and cells can't get it wrong; jeevan can. That's the price of reflexivity.
STATUS FLAG (left) — don't skip; it's slide 8's honesty in action. Reflexivity is NOT a second literal firing of κ, and NOT derived from A1/A2. It's the paper's INTERPRETIVE MODEL of the knowledge order — tagged "open posit conditioned on T1." So the next slide's jeevan diagram organizes a posit, it doesn't prove one.
If asked "why exactly at constitutional completeness?" — the selection predicate (which configuration crosses T1) is TAUGHT DATA the kernel hosts but doesn't derive; it's on the open-problems slide. Transition into Part III: "So what does the reconstructed structure look like in practice? First, the 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III DIVIDER — ~15 sec. "Now the working reconstruction. Longest stretch; toolkit first, then tier by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 TOOLKIT — ~1:15 (target ~22:30 in). MD-PRACTITIONER CUT: keep this DELIBERATELY LIGHT — you're only naming three words here; the two worked-example slides that follow do the real teaching in MD terms. Don't belabour the abstractions.
Reframe: CT stops asking "what is X made of?" and asks "how does X relate to everything else?" Objects are things; arrows are relationships; you can chain arrows. Done.
Three ideas: ALGEBRA (build UP) — built up by a rule, the home of "generated"; the paper encodes units of nature as the algebra generated by κ, so definitions over units (value, transmission, evaluation) become definitions by RECURSION on how a unit was built. COALGEBRA (unfold DOWN) — a carrier plus a map that unfolds behaviour, WITHOUT collapsing carrier into behaviour; the technical guardian of a doctrine — it keeps a unit a SUBSTANCE and jeevan a real entity, not a role. Remember this at the spine slide. COLIMIT (glue SIDEWAYS) — joins pieces into one whole along what they share; literally families gluing into society.
Up, down, sideways: generation, carrier, gluing — the entire spine. Everything richer (fibrations, Petri nets, traces) is optional annotation. Transition: "These three words will feel abstract — so let's see each one in the darshan's own terms. First, algebra."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ALGEBRA IN ACTION — ~1:30 (target ~24:00 in). NEW for the MD-practitioner cut. Purpose: make "the algebra generated by κ" concrete in the darshan's own chemistry, so the formal word lands on something they already teach.
Open by cashing out the word: ALGEBRA just means "built up by a rule," and our rule is κ. Saying "units of nature are the algebra generated by κ" is only saying what the darshan already says — to understand any composite, ask how it was assembled from what. Then run the two outcomes of a fulfilled coupling side by side.
COMPOUND (left), the yaugik case — the literal atomic example from the texts. A hungry (deficient) atom and an overfull (surplus) atom are complementary (MVD p.8); their coupling CLOSES a new motion-path; out comes a new unit one tier up — water — with a FRESH signature. The vivid doctrinal line to say aloud: the components "discard their own conducts, and present another kind of conduct" (MVD p.42) — hydrogen's and oxygen's conduct is gone; water's conduct is present. This is a genuine rung of development (vikas): closure crossed an order-plateau.
MIXTURE (right), the mishran case — iron filings stirred into sulfur (use salt-in-water if the room prefers). Fulfilment φ still delivers a RESULT — they interpenetrate, disperse — but NOTHING closes; no new boundary. Components "maintain their respective conducts" (MVD p.42): a magnet still lifts the iron straight back out; you can un-mix. No new unit was minted. This is why the texts insist "composition is not development" (SB pp.75-76) — piling things together, however much, never crosses an order-plateau.
BOTTOM BAND is the point to leave them with: in the formal encoding a compound sits ON the inductive sort (it has a build-history κ(...) you can recurse on); a mixture is typed OFF it (a mere aggregate). So the algebra is just a precise way of writing the darshan's own law — vikas by closure, never by accumulation. Contrast for emphasis: modern "more is progress" is exactly the mixture illusion. Transition: "That was building UP. Now the dual direction — how a unit, once built, unfolds its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COALGEBRA IN ACTION — ~1:40 (target ~25:40 in). NEW for the MD-practitioner cut, and the more important of the two: it is where the formalism defends a doctrine practitioners hold dearest — that jeevan is REAL and not reducible to conduct or body.
Cash out the word first: a COALGEBRA is a CARRIER together with a map that UNFOLDS its behaviour — you read off one step of activity and it hands you the next state, and you can keep going. Say plainly: the darshan's ikai IS exactly such a carrier — it bears activity (the triad, its couplings); it is never built out of activity. Carrier-primacy is stipulated, not derived.
LEFT diagram — the unfolding. Walk s0 → s1 → s2 → … : at each state the unit emits its conduct — for any unit, the triad effort→motion→result and its recognition–fulfilment couplings; for a JEEVAN specifically, that conduct runs through projection–reflection (paravartan–pratyavartan) across the faculties atma·buddhi·chitta·vritti·mun. Keep paravartan/pratyavartan for jeevan only — don't apply it to a bare atom. Crucial visual point: the chain has a "…" — it NEVER terminates in a final object. You can observe a person's choices and conduct endlessly and never reach a last state that "is" them.
RIGHT — the payoff, say slowly, this is the whole reason coalgebra was chosen. (1) The theory REFUSES the "final coalgebra" — a technical way of forbidding the move that lets observed behaviour BECOME the thing; the carrier stays prior to and larger than its behaviour-stream. (2) So jeevan stays a real ikai — a substantial gathanpurna parmanu, co-eternal, NOT the sum of its aachran, NOT a function of the body, NOT a "role." (3) The vivid contrast for a modern audience: behaviourism/functionalism says "you are what you do" — that is exactly collapsing the carrier into behaviour; MD, and this reading, says you HAVE conduct but are not identical to it.
One more practitioner point if asked: because the carrier is never merged into structure, you never get a "collective jeevan" — composing jeevan yields an assembly OF jeevan, never a larger jeevan (SB p.92; KD 3.2–3.3). Society is glued jeevan, not a super-jeevan. That is the same carrier-primacy at social scale.
BOTTOM BAND ties the two new slides together: algebra = UP (how composed), coalgebra = DOWN (how it behaves), and neither one reduces the ikai; it is prior to both. A1 grounds THAT the behaviour is there and lawful; O contributes no term, staying actionless. Transition: "With those two directions concrete, the rest of the reconstruction is filling in the tiers — starting with what distinguishes the four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&amp; REGULATION LADDER — ~2:15 (target ~28:00 in).
SIGNATURE (top): every unit carries a four-tuple — form, properties, essential nature (svabhav), dharma — minted FRESH at each tier. The FORM is definitional; the per-order VALUES are taught data (material svabhav = integration–disintegration; human = fortitude, courage, generosity, kindness, grace, compassion). Don't recite all; say the tuple is universal, fillers taught.
TABLE — the regulation ladder: ONE law, four CONFORMANCE regimes, differing in how a method survives. Material: structural, definite. Bio: adds selection, seed (beej), definite. Animal: adds sensation/hope, species (vansh), definite. Knowledge: adds knowing/believing/evaluation/CHOICE, sanskar — and the mode flips to ACHIEVED.
Bottom band, say with emphasis: the first three orders are DEFINITE and inerrant — run by constitution, literally cannot err. Only the knowledge order is "achieved" — routes through a self-model (the reflexive turn) and CAN misfire. That's the formal reason the human tier is the unique unfinished one — "This comprises only humans, who are yet to achieve orderliness."
If asked: the ladder isn't new axioms — it's A1's regulation read across the orders, ending in atma's inward regulation and justice. Transition: "Zoom into a single coupling."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COUPLING ANATOMY — ~2:15 (target ~30:15 in). We defined κ = closure(φ(ρ(...))); now the phases with real content.
ρ RECOGNITION: A1(b) between units — identifying a coupling and fixing its expectation profile (what each partner gives/receives). φ FULFILMENT: the coupling executing — "to evidence use, right-use, and purposeful-use"; note three grades of use; misuse and mere use aren't fulfilment. μ EVALUATION: ONLY at the knowledge order (needs reflexivity) — value delivered vs. value inherent; return to it on the justice slide.
Caption = the definition to remember: the closed cycle ρ→φ→μ→mutual satisfaction is JUSTICE. Foreshadow.
Left — CAPACITY GATE keeps it realistic: fulfilment is modulated by capacity (kshamata), ability (yogyata), receptivity (patrata). φ is realised at the level these permit — you can recognise a relationship and still fail to fulfil it. In the material order the conversion of capacity into effort is "ascending" (agreshan); its shortfall is frustration (kshobh) — which at the human tier becomes "the yearning for restfulness" that drives awakening. Nice thread to Part IV if time.
Right — LINK BACK TO κ: ρ and φ are the two phases of EVERY coupling at every order; κ is just what a fulfilled coupling becomes when it CLOSES. Generative move and coupling anatomy are one thing seen twice. Transition: "Now the tier the paper is really about — jeevan and its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JEEVAN &amp; BODY — ~2:30 (target ~32:45 in). ~33 min in — checkpoint. The doctrinal heart; point at the diagram as you speak.
CONSTITUTION. Jeevan isn't vague spirit — its constitution IS an atom's nucleus-and-orbit structure. Read center out: nucleus ATMA; first orbit BUDDHI, second CHITTA, third VRITTI, fourth MUN. Operates through projection–reflection (paravartan/pratyavartan) — resolve/thought projected out into conduct; result/evaluation reflected back in.
FUNCTIONS (right top): atma authenticity/realisation; buddhi resolve/enlightenment; chitta visualisation/contemplation; vritti analysis/deliberation; mun selection/taste. Gesture, don't recite all ten.
Two doctrinal cautions this project cares about: (1) atma is MEDIATIVE — faculties and body are naturally regulated BY it; effort that RESISTS is discord; the inward parallel to the atomic nucleus. Don't say atma "acts on" as an external agent. (2) The HARMONIES (teal) are NON-SCALAR — mun–vritti = HAPPINESS; vritti–chitta = PEACE; chitta–buddhi = CONTENTMENT; buddhi–atma = BLISS. Not quantities on one scale — a gain in one can't license damage to another. This non-scalarity becomes the AI-alignment point in Part IV.
EXPRESSION-GATE (gold) answers "animal vs human?" Not the jeevan — the BODY it operates. Capability is intrinsic and complete; how much FUNCTIONS is fixed by the body. So the human tier is gated TWICE — understanding that can fail AND a body that must be human (only a developed medhas-body opens the fifth kosha, vigyanmaya, discernment). "Unfinished" ≠ "incomplete jeevan": constitution is done; realization is gated.
Scope: which jeevan animates which body is a selection predicate the kernel HOSTS but doesn't fix — data. Death/continuity deferred to a separate study; here the dyad matters only as the asymmetry that evaluation belongs to jeevan, never the body alone. Transition: "When jeevan's cycle closes well, it has a name — and it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JUSTICE &amp; GOALS — ~2:15 (target ~35:00 in).
Definition first, read the caption verbatim: "Recognising relationships, fulfilling values, evaluating, and achieving mutual satisfaction is justice." So JUSTICE isn't a virtue added on top — it's the knowledge-order coupling's full anatomy, the CLOSED cycle ρ→φ→μ→mutual satisfaction (walk the loop). And what precedes it at this order: ν→β, knowing then believing/accepting. A human can know without accepting, accept without recognising a present relationship, or recognise without fulfilling — those BROKEN composites are the formal locations of delusion.
Tie back to κ: because justice is the human-tier coupling's full anatomy, compound-closure at the human tier (an organization) fires exactly when this cycle closes COLLECTIVELY. Name the value it deposits: TRUST (vishwas) is the value-name of a successful fulfilment. Justice is the operation; trust is what it leaves behind.
Scale it (right): when the cycle closes at connected scales it EVIDENCES four goals — resolution (person), prosperity (family), fearlessness (society), coexistence (universal order). Jeevan's own goal throughout is happiness.
Keep it honest — say it: these are PROVISIONS of coexistence, NOT automatic outcomes. Delusion, accumulation detached from right-use, and fear-based sociality remain live failures. Assembling institutions doesn't manufacture the goals — they appear only when the cycle, karma-and-authenticity, and the five social dimensions close together and transmit through humane tradition. Transition: "Two structural pieces remain — how time enters, and why the natural state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 ~1:45 (target ~36:30 in). Lighter slide; crisp. COMPRESSIBLE if behind.
Whole claim: time is the DURATION OF ACTIVITY — not a container, not a cause, a measure. The grading δ (left) formalizes only the modest part: each unit-execution gets a duration; the no-change (identity) execution is zero; sequential executions add (⊕). Doctrinal guard: the identity is a UNIT's no-change execution — NOT satta. Because O is not a unit and performs no activity, δ(O) is UNDEFINED, not zero — O isn't a zero-duration event; duration just doesn't apply.
Slogan (right, gold): kriya-shunya ⇒ kaal-shunya — no activity, no time. O being "at all times" names its OMNIPRESENCE with every active unit, not becoming inside O. O is timeless by being outside the domain where duration applies.
Bottom row makes time modest — time does NOT: select a path (A2's orientation does), supply energy (A1 does), orient toward completeness (A2). Time only records how long. Cleanly separates four things others collapse into "cause": ontological provision, local activity, temporal measure, teleological orientation.
Two honesty flags: (1) the grading is SEQUENTIAL only — concurrency needs a separate rule (open problem); (2) the richer "present has causal efficacy; past/future are traces" claim is an interpretive model in a separate Nature-of-Time study, not a theorem of the monoid. Transition: "Last structural piece — why anything stays in its natural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STATE / ATTRACTOR — ~1:45 (target ~38:00 in). Math light; the philosophical point matters. COMPRESSIBLE if behind.
Natural vs excited: natural = couplings fulfilled under conducive conditions; excited = otherwise. The texts attach a direction: natural → development; excited → decline.
Formalization (left): a conditional LYAPUNOV analogy — K_o measures deviation from the natural set N_o; zero exactly on N_o; during UNFORCED relaxation K_o doesn't increase (drifts back). Caution: N_o is an ACTIVE regime, not inactivity — activeness continues at K_o=0. Natural state ≠ stillness.
Guardrails (right) — why this isn't physics-envy: the inequality is LOCAL (perturbation, bad environment, error can raise it); NO global monotonicity theorem; T1 (passage to sentience) is a GUARDED irreversible threshold kept SEPARATE — not an attractor every trajectory approaches. Most units just cycle in their natural regime forever.
Bottom band — the real content, say slowly: minimizing K_o IS optimization mathematically; the paper doesn't pretend otherwise. What distinguishes the darshan is the MEANING of the target — restoration to a qualitative, order-relative natural set, NOT indefinite increase of one quantity. Hamilton's least-action is a CONTRAST, not the law; neither it nor Lyapunov is in the texts — K_o and the attractor reading are analogies. And at the knowledge order NO single scalar suffices: fulfilment, justice, harmony, conduct-evidence, participation form a PREORDER — improving one can't silently compensate for wrecking another. This non-scalarity is the through-line to the AI-alignment remark. Also: development need NOT oppose entropy — local organization can rise while total entropy rises; no anti-entropic law posited. Transition into Part IV: "Step back — does this pattern hold at every tier, and how does it sit next to frameworks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IV DIVIDER — ~15 sec. ~38 min in. "Last stretch — the payoff and the honesty. Where this reaches, and where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AT EVERY TIER — ~2:15 (target ~40:00 in). If behind, this is safe to take briskly. The "proof of universality" slide — visual payoff of the reconstruction.
Frame: universality isn't rhetorical — the SAME column-shape repeats, and each column is ASSERTED for its order in the texts, not carried by metaphor from human life. Say it's abridged: the paper's table has thirteen rows; you kept seven.
Walk a couple of rows horizontally: REGULATION structural→seed→species→sanskar+justice (one law, four regimes). ASSEMBLY literal compound (matter) → compositional (bio) → herd/lineage (animal) → conduct-compound ANALOGY (human, the gold cell — not a literal new unit). FAILURE MODE: material order essentially none (even "excitation" can be complementary — an expelled particle feeds a hungry one); bio death/decomposition; species stress; human delusion → exploitation, war, ecological overdraw. Failure enters the world with reflexivity.
Land the closing line — the thesis of the slide: every row is RICHER at the top but never ABSENT below — value is "the essentiality of units in every plane and order." What first appears WITH HUMANS is not value but the EVALUATION of value — and with evaluation, the possibility of error. That's why the human tier is both highest and the only one that can go wrong. Transition: "Because the pattern is so clean, it's easy to mis-hear as something familiar. Four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IT'S NOT — ~1:40 (target ~41:40 in). ~42 min in — checkpoint, keep momentum. Each blocks a specific misreading. COMPRESSIBLE: cut to items 1 and 2 if behind.
1 NOT INDEFINITE INCREASE. "Development" ≠ growth/maximization: conduct in the first three orders is DEFINITE; object-usefulness CONSTANT; "more" is the diagnosed PATHOLOGY. Completeness is a qualitative terminal condition. Concede fairly: a terminal state CAN be represented by minimizing distance to it — the claim isn't that optimization is unrepresentable, it's that indefinite quantitative increase isn't the target.
2 NOT STRUGGLE OR SELECTION. Engine is COMPLEMENTARITY — offering and acceptance — opposed to conflict and survival-of-the-fittest. Decomposition is the LOSS of structure, not a creative designer.
3 NOT BOTTOM-UP EMERGENCE ALONE. Capacities are PROVISIONED in existence, manifest when composition reaches the right tier; O energises every tier AT ONCE. A pure-emergence reading drops O and makes energisation appear from nowhere — magic.
4 NOT VALUE-AS-EPIPHENOMENON. Value isn't a late human overlay — it's the content of fulfilment at EVERY tier; the human innovation is a SECOND-ORDER operation (evaluation), in jeevan, "not bodily or mechanical."
For a general academic room, #1 and #2 matter most. Transition: "So where does it sit among frameworks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FRAMEWORKS — ~1:15 (target ~43:00 in). MD-PRACTITIONER CUT: COMPRESS hard — this audience cares little for Koestler/autopoiesis/thermo. Name the row headers, land the TWO distinctive commitments at the bottom, move on. This is where you reclaim the time the two worked-example slides cost.
Across the table briskly: HOLARCHY (Koestler) shares whole-and-part; lacks O, value in relations, transmission. AUTOPOIESIS shares persistence-by-self-production; living systems ONLY, whereas this runs atoms→societies and grounds persistence in FULFILMENT. MULTILEVEL SELECTION shares nested wholes persisting/failing; engine is COMPETITIVE and STOCHASTIC, here complementary and definite. THERMODYNAMIC self-org shares "structure from flows"; needs free-energy THROUGHPUT, here units are energised CONSTITUTIVELY (the O difference). CATEGORY-THEORETIC COMPOSITION shares the whole notation; SILENT on WHICH compositions occur — complementarity is the selection rule the bare notation lacks. Nice reflexive point: even the math we use doesn't tell you what couples with what.
Payoff — two genuinely distinctive commitments (bottom), the ones you'd defend to the death: (1) the MEDIUM O — constitutive, energising, regulating at every tier at once; a precondition OF physics, not an aether within it. (2) VALUE EVERYWHERE — universal content of relations, with EVALUATION only at the top tier. The fork: drop the first and you must find energy/regulation INSIDE units; drop the second and you must reconstruct value as preference or fitness. Transition: "Two slides left — the formal spine, then an honest accounting of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SPINE — ~1:40 (target ~44:40 in). Recall the toolkit; this is where those three ideas do their job.
One dual-facing spine carries the load (diagram): UP, algebra — generation by κ (builds the hierarchy). DOWN, coalgebra — the carrier and its behaviour. SIDEWAYS, colimit — gluing.
The DOWNWARD reading is doctrinally load-bearing (right, top): the carrier is NOT quotiented by behaviour, and the theory REFUSES the final coalgebra — so the carrier exceeds its behaviour. That's the technical move that keeps a unit SUBSTANTIAL and jeevan a real entity rather than a functional role, while O stays actionless (A1 grounds that the behaviour exists and is lawful, contributing no term to the unfolding). This is the anti-structuralist commitment held by choice, and it's a boundary of the tools — a purely structuralist reading would re-describe jeevan as a role; the paper refuses that.
The SIDEWAYS reading encodes UNDIVIDED SOCIETY (akhand samaj): families glue along shared members, coherent exactly when local value-structures AGREE on overlaps — a descent/compatibility condition. This is the ONE place the encoding adds an OBSERVATION rather than restating doctrine.
Telos band — the punchline of the whole talk's "reach": undivided society isn't an incidental output, it's the TELOS the structure is driven toward. The four human goals are the shared value-content every jeevan aspires to; the darshan ASSERTS the substantive premise (jeevan identical in all humans; "united in the right, divided in the wrong") — so the diagram glues coherently in the awakened case and degenerates in delusion. The CONTENT of the shared values stays taught data; that the aspiration is one is what the texts assert. Transition: "One honest slide to close — where does it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 ~1:15 (target ~46:00). The slide that earns the whole talk's credibility. Don't rush it even at time — this is what an academic audience respects most.
Left column — four honest limits: (1) the formalism is INTERPRETIVE — the symbols aren't in the texts, they're the paper's compression. (2) the RESIDUAL PREMISE — universal coupling rests on no-isolation (JV p.43), adopted not derived; the one place the kernel leans beyond its two axioms. (3) TRANSLATION RISK — KD is a machine-assisted WORKING translation, cited as corroboration only, to be verified against the Hindi before release; several key terms carry translators' choices. (4) NO EMPIRICAL CONTACT — nothing yields a measurement or prediction; quote the paper on itself: "Elegant diagrams can create an illusion of proof; the conditional framing and this list are the safeguard."
Right, top — THE HEAVY POSITS, NAMED (this is the promise you made on slides 3, 8, 11): A2's teleology; the mediative regulation in A1; and two selection predicates the kernel HOSTS but doesn't derive — which atomic configuration reaches T1, and which jeevan animates which body. "A physicist critic will press exactly there." Naming them disarms the toughest objections.
Right, bottom — a sample of open problems, to show it's a live research programme, not a closed system.
Transition to conclusion: "So let me pull the thread back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~1:00 (target ~47:00). If you compressed the toolkit and frameworks slides as advised, you land near 45–47. Bring it home; slow, deliberate.
Open with the paper's own summary line: "Read from first principles, Madhyasth Darshan's ground is coexistence itself: one actionless medium and countless real units, bound by saturation." Then compress the arc in one breath — A1 provisions activeness/recognition/regulation; A2 supplies orientation to completeness; complementarity and closure organize matter, biology, and the declared analogy of humane social order; the reflexive turn opens the knowledge order where knowing, believing, recognising, fulfilling, evaluating, and transmitting must cohere.
Three takeaways (the cards) — say each in a sentence: (1) ONE SCHEMA, FOUR ORDERS — articulated, not extrapolated. (2) SENTIENCE IS A REFLEXIVE TURN — the sole locus of evaluation and of error. (3) HONESTY BY CONSTRUCTION — provenance × standing; a checkable map of what depends on what.
Close on the italic line, which is the whole ethic of the project: the reconstruction is strongest when every claim keeps its provenance, role, and standing visible — especially where a mathematical analogy organizes an open metaphysical posit without establishing it. Then: "I'd love your questions." Hand 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 15 minutes. Anticipated questions with crisp lines. Always re-anchor to the two-axis honesty: the model shows what depends on what; it does not prove the posits.
1 "Isn't this just mysticism dressed in category theory?" — The paper explicitly says the math proves NOTHING about satta or jeevan; it's a lens for clarity. The two-axis audit tags exactly these as OPEN POSITS. The value is showing what depends on what, and where analogy ends — not vindication.
2 "Is satta just space / a field / the quantum vacuum?" — No. O is a precondition OF physics, not an entity within it; ACTIONLESS, contributing no term to any unfolding (the firewall, A1). A field carries energy-momentum and acts; O doesn't. Drop O and you must put energy and regulation INSIDE the units.
3 "How is A2's teleology not wishful thinking?" — It's flagged as an ADOPTED teleology — one of the named heavy posits, warranted textually, not derived. And it's a specific choice: completeness, NOT indefinite "more." You're free to reject it; the paper is clear it's a posit.
4 "Why is sentience exactly at constitutional completeness — isn't that arbitrary?" — The selection predicate (which configuration crosses T1) is TAUGHT DATA the kernel hosts but doesn't derive — explicitly an open problem. The claim is structural (sentience is a reflexive turn), not a mechanism.
5 "Does the society-gluing colimit say anything, or restate the doctrine?" — It adds ONE genuine observation: the descent/compatibility condition — gluing is coherent only if overlapping value-assignments AGREE. The darshan supplies the substantive premise (jeevan identical in all; united in the right, divided in the wrong).
6 (phil-of-mind room) "How does this differ from IIT or panpsychism?" — Value + evaluation only at the TOP tier (not micro-experience everywhere); the carrier-coalgebra keeps jeevan SUBSTANTIAL, not an informational/functional role; and the combination problem is sidestepped because sentience is an ATOMIC threshold (T1), not a sum of micro-minds.
7 "Testability?" — Frankly none yet — "no empirical contact." Open problems include finding physical variables for K_o and whether the analogy yields testable dynamics. Be honest; don't overclaim.
8 "Isn't 'no conflict / complementarity' empirically false — predation, competition exist?" — The claim is about the assembly ENGINE and a choice of telos, not a denial that competition occurs. Failure modes (excitation, decomposition, delusion) model exactly those breakdowns. And the social criterion (P3) is for HUMANE, coercion-free order — not a law of empirical survival; coercive systems can persist for a time by enforcement.
9 "Why category theory rather than set theory / logic?" — Because the content is relational and compositional: κ iterates (algebra), units must stay substantial (coalgebra — refusing the final coalgebra is the key move), and society is a gluing (colimit). CT names those three cleanly. But note: even CT is SILENT on which compositions occur — complementarity is the selection rule it lacks.
If a question exceeds scope, say so and point to the companion studies (Ontology of Coexistence; How Undivided Society Is Established; Nature of Time; Knowledge, Knower, and Known). Closing: thank them; point to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3D"/>
        </a:solidFill>
      </p:bgPr>
    </p:bg>
    <p:spTree>
      <p:nvGrpSpPr>
        <p:cNvPr id="1" name=""/>
        <p:cNvGrpSpPr/>
        <p:nvPr/>
      </p:nvGrpSpPr>
      <p:grpSpPr>
        <a:xfrm>
          <a:off x="0" y="0"/>
          <a:ext cx="0" cy="0"/>
          <a:chOff x="0" y="0"/>
          <a:chExt cx="0" cy="0"/>
        </a:xfrm>
      </p:grpSpPr>
      <p:sp>
        <p:nvSpPr>
          <p:cNvPr id="2" name="Shape 0"/>
          <p:cNvSpPr/>
          <p:nvPr/>
        </p:nvSpPr>
        <p:spPr>
          <a:xfrm>
            <a:off x="822960" y="1097280"/>
            <a:ext cx="91440" cy="91440"/>
          </a:xfrm>
          <a:prstGeom prst="ellipse">
            <a:avLst/>
          </a:prstGeom>
          <a:solidFill>
            <a:srgbClr val="E3B857">
              <a:alpha val="65000"/>
            </a:srgbClr>
          </a:solidFill>
          <a:ln/>
        </p:spPr>
      </p:sp>
      <p:sp>
        <p:nvSpPr>
          <p:cNvPr id="3" name="Shape 1"/>
          <p:cNvSpPr/>
          <p:nvPr/>
        </p:nvSpPr>
        <p:spPr>
          <a:xfrm>
            <a:off x="1920240" y="3566160"/>
            <a:ext cx="54864" cy="54864"/>
          </a:xfrm>
          <a:prstGeom prst="ellipse">
            <a:avLst/>
          </a:prstGeom>
          <a:solidFill>
            <a:srgbClr val="E3B857">
              <a:alpha val="65000"/>
            </a:srgbClr>
          </a:solidFill>
          <a:ln/>
        </p:spPr>
      </p:sp>
      <p:sp>
        <p:nvSpPr>
          <p:cNvPr id="4" name="Shape 2"/>
          <p:cNvSpPr/>
          <p:nvPr/>
        </p:nvSpPr>
        <p:spPr>
          <a:xfrm>
            <a:off x="1371600" y="5303520"/>
            <a:ext cx="73152" cy="73152"/>
          </a:xfrm>
          <a:prstGeom prst="ellipse">
            <a:avLst/>
          </a:prstGeom>
          <a:solidFill>
            <a:srgbClr val="E3B857">
              <a:alpha val="65000"/>
            </a:srgbClr>
          </a:solidFill>
          <a:ln/>
        </p:spPr>
      </p:sp>
      <p:sp>
        <p:nvSpPr>
          <p:cNvPr id="5" name="Shape 3"/>
          <p:cNvSpPr/>
          <p:nvPr/>
        </p:nvSpPr>
        <p:spPr>
          <a:xfrm>
            <a:off x="3108960" y="1554480"/>
            <a:ext cx="45720" cy="45720"/>
          </a:xfrm>
          <a:prstGeom prst="ellipse">
            <a:avLst/>
          </a:prstGeom>
          <a:solidFill>
            <a:srgbClr val="E3B857">
              <a:alpha val="65000"/>
            </a:srgbClr>
          </a:solidFill>
          <a:ln/>
        </p:spPr>
      </p:sp>
      <p:sp>
        <p:nvSpPr>
          <p:cNvPr id="6" name="Shape 4"/>
          <p:cNvSpPr/>
          <p:nvPr/>
        </p:nvSpPr>
        <p:spPr>
          <a:xfrm>
            <a:off x="3840480" y="4754880"/>
            <a:ext cx="64008" cy="64008"/>
          </a:xfrm>
          <a:prstGeom prst="ellipse">
            <a:avLst/>
          </a:prstGeom>
          <a:solidFill>
            <a:srgbClr val="E3B857">
              <a:alpha val="65000"/>
            </a:srgbClr>
          </a:solidFill>
          <a:ln/>
        </p:spPr>
      </p:sp>
      <p:sp>
        <p:nvSpPr>
          <p:cNvPr id="7" name="Shape 5"/>
          <p:cNvSpPr/>
          <p:nvPr/>
        </p:nvSpPr>
        <p:spPr>
          <a:xfrm>
            <a:off x="10058400" y="1280160"/>
            <a:ext cx="82296" cy="82296"/>
          </a:xfrm>
          <a:prstGeom prst="ellipse">
            <a:avLst/>
          </a:prstGeom>
          <a:solidFill>
            <a:srgbClr val="E3B857">
              <a:alpha val="65000"/>
            </a:srgbClr>
          </a:solidFill>
          <a:ln/>
        </p:spPr>
      </p:sp>
      <p:sp>
        <p:nvSpPr>
          <p:cNvPr id="8" name="Shape 6"/>
          <p:cNvSpPr/>
          <p:nvPr/>
        </p:nvSpPr>
        <p:spPr>
          <a:xfrm>
            <a:off x="11247120" y="2834640"/>
            <a:ext cx="54864" cy="54864"/>
          </a:xfrm>
          <a:prstGeom prst="ellipse">
            <a:avLst/>
          </a:prstGeom>
          <a:solidFill>
            <a:srgbClr val="E3B857">
              <a:alpha val="65000"/>
            </a:srgbClr>
          </a:solidFill>
          <a:ln/>
        </p:spPr>
      </p:sp>
      <p:sp>
        <p:nvSpPr>
          <p:cNvPr id="9" name="Shape 7"/>
          <p:cNvSpPr/>
          <p:nvPr/>
        </p:nvSpPr>
        <p:spPr>
          <a:xfrm>
            <a:off x="9509760" y="5120640"/>
            <a:ext cx="64008" cy="64008"/>
          </a:xfrm>
          <a:prstGeom prst="ellipse">
            <a:avLst/>
          </a:prstGeom>
          <a:solidFill>
            <a:srgbClr val="E3B857">
              <a:alpha val="65000"/>
            </a:srgbClr>
          </a:solidFill>
          <a:ln/>
        </p:spPr>
      </p:sp>
      <p:sp>
        <p:nvSpPr>
          <p:cNvPr id="10" name="Shape 8"/>
          <p:cNvSpPr/>
          <p:nvPr/>
        </p:nvSpPr>
        <p:spPr>
          <a:xfrm>
            <a:off x="11521440" y="5486400"/>
            <a:ext cx="45720" cy="45720"/>
          </a:xfrm>
          <a:prstGeom prst="ellipse">
            <a:avLst/>
          </a:prstGeom>
          <a:solidFill>
            <a:srgbClr val="E3B857">
              <a:alpha val="65000"/>
            </a:srgbClr>
          </a:solidFill>
          <a:ln/>
        </p:spPr>
      </p:sp>
      <p:sp>
        <p:nvSpPr>
          <p:cNvPr id="11" name="Shape 9"/>
          <p:cNvSpPr/>
          <p:nvPr/>
        </p:nvSpPr>
        <p:spPr>
          <a:xfrm>
            <a:off x="10698480" y="4206240"/>
            <a:ext cx="91440" cy="91440"/>
          </a:xfrm>
          <a:prstGeom prst="ellipse">
            <a:avLst/>
          </a:prstGeom>
          <a:solidFill>
            <a:srgbClr val="E3B857">
              <a:alpha val="65000"/>
            </a:srgbClr>
          </a:solidFill>
          <a:ln/>
        </p:spPr>
      </p:sp>
      <p:sp>
        <p:nvSpPr>
          <p:cNvPr id="12" name="Shape 10"/>
          <p:cNvSpPr/>
          <p:nvPr/>
        </p:nvSpPr>
        <p:spPr>
          <a:xfrm>
            <a:off x="6035040" y="640080"/>
            <a:ext cx="45720" cy="45720"/>
          </a:xfrm>
          <a:prstGeom prst="ellipse">
            <a:avLst/>
          </a:prstGeom>
          <a:solidFill>
            <a:srgbClr val="E3B857">
              <a:alpha val="65000"/>
            </a:srgbClr>
          </a:solidFill>
          <a:ln/>
        </p:spPr>
      </p:sp>
      <p:sp>
        <p:nvSpPr>
          <p:cNvPr id="13" name="Shape 11"/>
          <p:cNvSpPr/>
          <p:nvPr/>
        </p:nvSpPr>
        <p:spPr>
          <a:xfrm>
            <a:off x="7132320" y="6126480"/>
            <a:ext cx="54864" cy="54864"/>
          </a:xfrm>
          <a:prstGeom prst="ellipse">
            <a:avLst/>
          </a:prstGeom>
          <a:solidFill>
            <a:srgbClr val="E3B857">
              <a:alpha val="65000"/>
            </a:srgbClr>
          </a:solidFill>
          <a:ln/>
        </p:spPr>
      </p:sp>
      <p:sp>
        <p:nvSpPr>
          <p:cNvPr id="14" name="Shape 12"/>
          <p:cNvSpPr/>
          <p:nvPr/>
        </p:nvSpPr>
        <p:spPr>
          <a:xfrm>
            <a:off x="8503920" y="822960"/>
            <a:ext cx="64008" cy="64008"/>
          </a:xfrm>
          <a:prstGeom prst="ellipse">
            <a:avLst/>
          </a:prstGeom>
          <a:solidFill>
            <a:srgbClr val="E3B857">
              <a:alpha val="65000"/>
            </a:srgbClr>
          </a:solidFill>
          <a:ln/>
        </p:spPr>
      </p:sp>
      <p:sp>
        <p:nvSpPr>
          <p:cNvPr id="15" name="Shape 13"/>
          <p:cNvSpPr/>
          <p:nvPr/>
        </p:nvSpPr>
        <p:spPr>
          <a:xfrm>
            <a:off x="4663440" y="6309360"/>
            <a:ext cx="45720" cy="45720"/>
          </a:xfrm>
          <a:prstGeom prst="ellipse">
            <a:avLst/>
          </a:prstGeom>
          <a:solidFill>
            <a:srgbClr val="E3B857">
              <a:alpha val="65000"/>
            </a:srgbClr>
          </a:solidFill>
          <a:ln/>
        </p:spPr>
      </p:sp>
      <p:sp>
        <p:nvSpPr>
          <p:cNvPr id="16" name="Text 14"/>
          <p:cNvSpPr/>
          <p:nvPr/>
        </p:nvSpPr>
        <p:spPr>
          <a:xfrm>
            <a:off x="822960" y="1874520"/>
            <a:ext cx="10515600" cy="320040"/>
          </a:xfrm>
          <a:prstGeom prst="rect">
            <a:avLst/>
          </a:prstGeom>
          <a:noFill/>
          <a:ln/>
        </p:spPr>
        <p:txBody>
          <a:bodyPr wrap="square" rtlCol="0" anchor="ctr"/>
          <a:lstStyle/>
          <a:p>
            <a:pPr indent="0" marL="0">
              <a:buNone/>
            </a:pPr>
            <a:r>
              <a:rPr lang="en-US" sz="1300" b="1" spc="400" kern="0" dirty="0">
                <a:solidFill>
                  <a:srgbClr val="E3B857"/>
                </a:solidFill>
                <a:latin typeface="Calibri" pitchFamily="34" charset="0"/>
                <a:ea typeface="Calibri" pitchFamily="34" charset="-122"/>
                <a:cs typeface="Calibri" pitchFamily="34" charset="-120"/>
              </a:rPr>
              <a:t>A LAYERED FORMAL RECONSTRUCTION</a:t>
            </a:r>
            <a:endParaRPr lang="en-US" sz="1300" dirty="0"/>
          </a:p>
        </p:txBody>
      </p:sp>
      <p:sp>
        <p:nvSpPr>
          <p:cNvPr id="17" name="Text 15"/>
          <p:cNvSpPr/>
          <p:nvPr/>
        </p:nvSpPr>
        <p:spPr>
          <a:xfrm>
            <a:off x="777240" y="2240280"/>
            <a:ext cx="10607040" cy="1188720"/>
          </a:xfrm>
          <a:prstGeom prst="rect">
            <a:avLst/>
          </a:prstGeom>
          <a:noFill/>
          <a:ln/>
        </p:spPr>
        <p:txBody>
          <a:bodyPr wrap="square" rtlCol="0" anchor="ctr"/>
          <a:lstStyle/>
          <a:p>
            <a:pPr indent="0" marL="0">
              <a:lnSpc>
                <a:spcPct val="98000"/>
              </a:lnSpc>
              <a:buNone/>
            </a:pPr>
            <a:r>
              <a:rPr lang="en-US" sz="4600" b="1" dirty="0">
                <a:solidFill>
                  <a:srgbClr val="F2EEE3"/>
                </a:solidFill>
                <a:latin typeface="Cambria" pitchFamily="34" charset="0"/>
                <a:ea typeface="Cambria" pitchFamily="34" charset="-122"/>
                <a:cs typeface="Cambria" pitchFamily="34" charset="-120"/>
              </a:rPr>
              <a:t>Coexistence From First Principles</a:t>
            </a:r>
            <a:endParaRPr lang="en-US" sz="4600" dirty="0"/>
          </a:p>
        </p:txBody>
      </p:sp>
      <p:sp>
        <p:nvSpPr>
          <p:cNvPr id="18" name="Text 16"/>
          <p:cNvSpPr/>
          <p:nvPr/>
        </p:nvSpPr>
        <p:spPr>
          <a:xfrm>
            <a:off x="822960" y="3611880"/>
            <a:ext cx="10515600" cy="548640"/>
          </a:xfrm>
          <a:prstGeom prst="rect">
            <a:avLst/>
          </a:prstGeom>
          <a:noFill/>
          <a:ln/>
        </p:spPr>
        <p:txBody>
          <a:bodyPr wrap="square" rtlCol="0" anchor="ctr"/>
          <a:lstStyle/>
          <a:p>
            <a:pPr indent="0" marL="0">
              <a:buNone/>
            </a:pPr>
            <a:r>
              <a:rPr lang="en-US" sz="2000" i="1" dirty="0">
                <a:solidFill>
                  <a:srgbClr val="A7ACD0"/>
                </a:solidFill>
                <a:latin typeface="Cambria" pitchFamily="34" charset="0"/>
                <a:ea typeface="Cambria" pitchFamily="34" charset="-122"/>
                <a:cs typeface="Cambria" pitchFamily="34" charset="-120"/>
              </a:rPr>
              <a:t>The kernel and reconstructed structure of Madhyasth Darshan</a:t>
            </a:r>
            <a:endParaRPr lang="en-US" sz="2000" dirty="0"/>
          </a:p>
        </p:txBody>
      </p:sp>
      <p:sp>
        <p:nvSpPr>
          <p:cNvPr id="19" name="Shape 17"/>
          <p:cNvSpPr/>
          <p:nvPr/>
        </p:nvSpPr>
        <p:spPr>
          <a:xfrm>
            <a:off x="841248" y="4434840"/>
            <a:ext cx="2926080" cy="0"/>
          </a:xfrm>
          <a:prstGeom prst="line">
            <a:avLst/>
          </a:prstGeom>
          <a:noFill/>
          <a:ln w="19050">
            <a:solidFill>
              <a:srgbClr val="E3B857"/>
            </a:solidFill>
            <a:prstDash val="solid"/>
          </a:ln>
        </p:spPr>
      </p:sp>
      <p:sp>
        <p:nvSpPr>
          <p:cNvPr id="20" name="Text 18"/>
          <p:cNvSpPr/>
          <p:nvPr/>
        </p:nvSpPr>
        <p:spPr>
          <a:xfrm>
            <a:off x="822960" y="4617720"/>
            <a:ext cx="9692640" cy="640080"/>
          </a:xfrm>
          <a:prstGeom prst="rect">
            <a:avLst/>
          </a:prstGeom>
          <a:noFill/>
          <a:ln/>
        </p:spPr>
        <p:txBody>
          <a:bodyPr wrap="square" rtlCol="0" anchor="ctr"/>
          <a:lstStyle/>
          <a:p>
            <a:pPr indent="0" marL="0">
              <a:buNone/>
            </a:pPr>
            <a:r>
              <a:rPr lang="en-US" sz="1500" dirty="0">
                <a:solidFill>
                  <a:srgbClr val="A7ACD0"/>
                </a:solidFill>
                <a:latin typeface="Calibri" pitchFamily="34" charset="0"/>
                <a:ea typeface="Calibri" pitchFamily="34" charset="-122"/>
                <a:cs typeface="Calibri" pitchFamily="34" charset="-120"/>
              </a:rPr>
              <a:t>A checkable map of what depends on what — </a:t>
            </a:r>
            <a:pPr indent="0" marL="0">
              <a:buNone/>
            </a:pPr>
            <a:r>
              <a:rPr lang="en-US" sz="1500" b="1" dirty="0">
                <a:solidFill>
                  <a:srgbClr val="F2EEE3"/>
                </a:solidFill>
                <a:latin typeface="Calibri" pitchFamily="34" charset="0"/>
                <a:ea typeface="Calibri" pitchFamily="34" charset="-122"/>
                <a:cs typeface="Calibri" pitchFamily="34" charset="-120"/>
              </a:rPr>
              <a:t>three primitives, two axioms, one closure schema</a:t>
            </a:r>
            <a:pPr indent="0" marL="0">
              <a:buNone/>
            </a:pPr>
            <a:r>
              <a:rPr lang="en-US" sz="1500" dirty="0">
                <a:solidFill>
                  <a:srgbClr val="A7ACD0"/>
                </a:solidFill>
                <a:latin typeface="Calibri" pitchFamily="34" charset="0"/>
                <a:ea typeface="Calibri" pitchFamily="34" charset="-122"/>
                <a:cs typeface="Calibri" pitchFamily="34" charset="-120"/>
              </a:rPr>
              <a:t>, carried from atoms to societies.</a:t>
            </a:r>
            <a:endParaRPr lang="en-US" sz="1500" dirty="0"/>
          </a:p>
        </p:txBody>
      </p:sp>
      <p:sp>
        <p:nvSpPr>
          <p:cNvPr id="21" name="Text 19"/>
          <p:cNvSpPr/>
          <p:nvPr/>
        </p:nvSpPr>
        <p:spPr>
          <a:xfrm>
            <a:off x="822960" y="5943600"/>
            <a:ext cx="10515600" cy="320040"/>
          </a:xfrm>
          <a:prstGeom prst="rect">
            <a:avLst/>
          </a:prstGeom>
          <a:noFill/>
          <a:ln/>
        </p:spPr>
        <p:txBody>
          <a:bodyPr wrap="square" rtlCol="0" anchor="ctr"/>
          <a:lstStyle/>
          <a:p>
            <a:pPr indent="0" marL="0">
              <a:buNone/>
            </a:pPr>
            <a:r>
              <a:rPr lang="en-US" sz="1150" dirty="0">
                <a:solidFill>
                  <a:srgbClr val="A7ACD0"/>
                </a:solidFill>
                <a:latin typeface="Calibri" pitchFamily="34" charset="0"/>
                <a:ea typeface="Calibri" pitchFamily="34" charset="-122"/>
                <a:cs typeface="Calibri" pitchFamily="34" charset="-120"/>
              </a:rPr>
              <a:t>AnalyticMadhyasthDarshan.org  ·  study of A. Nagraj's Madhyasth Darshan  ·  MD-practitioner edition  ·  Draft, July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WHY THIS PAPER EXISTS</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Can a spiritual philosophy carry a logical skeleton?</a:t>
            </a:r>
            <a:endParaRPr lang="en-US" sz="2900" dirty="0"/>
          </a:p>
        </p:txBody>
      </p:sp>
      <p:sp>
        <p:nvSpPr>
          <p:cNvPr id="4" name="Text 2"/>
          <p:cNvSpPr/>
          <p:nvPr/>
        </p:nvSpPr>
        <p:spPr>
          <a:xfrm>
            <a:off x="548640" y="1600200"/>
            <a:ext cx="5577840" cy="1097280"/>
          </a:xfrm>
          <a:prstGeom prst="rect">
            <a:avLst/>
          </a:prstGeom>
          <a:noFill/>
          <a:ln/>
        </p:spPr>
        <p:txBody>
          <a:bodyPr wrap="square" rtlCol="0" anchor="t"/>
          <a:lstStyle/>
          <a:p>
            <a:pPr indent="0" marL="0">
              <a:lnSpc>
                <a:spcPct val="105000"/>
              </a:lnSpc>
              <a:buNone/>
            </a:pPr>
            <a:r>
              <a:rPr lang="en-US" sz="1600" dirty="0">
                <a:solidFill>
                  <a:srgbClr val="202340"/>
                </a:solidFill>
                <a:latin typeface="Calibri" pitchFamily="34" charset="0"/>
                <a:ea typeface="Calibri" pitchFamily="34" charset="-122"/>
                <a:cs typeface="Calibri" pitchFamily="34" charset="-120"/>
              </a:rPr>
              <a:t>The texts assert </a:t>
            </a:r>
            <a:pPr indent="0" marL="0">
              <a:lnSpc>
                <a:spcPct val="105000"/>
              </a:lnSpc>
              <a:buNone/>
            </a:pPr>
            <a:r>
              <a:rPr lang="en-US" sz="1600" b="1" dirty="0">
                <a:solidFill>
                  <a:srgbClr val="B8842B"/>
                </a:solidFill>
                <a:latin typeface="Calibri" pitchFamily="34" charset="0"/>
                <a:ea typeface="Calibri" pitchFamily="34" charset="-122"/>
                <a:cs typeface="Calibri" pitchFamily="34" charset="-120"/>
              </a:rPr>
              <a:t>piecewise</a:t>
            </a:r>
            <a:pPr indent="0" marL="0">
              <a:lnSpc>
                <a:spcPct val="105000"/>
              </a:lnSpc>
              <a:buNone/>
            </a:pPr>
            <a:r>
              <a:rPr lang="en-US" sz="1600" dirty="0">
                <a:solidFill>
                  <a:srgbClr val="202340"/>
                </a:solidFill>
                <a:latin typeface="Calibri" pitchFamily="34" charset="0"/>
                <a:ea typeface="Calibri" pitchFamily="34" charset="-122"/>
                <a:cs typeface="Calibri" pitchFamily="34" charset="-120"/>
              </a:rPr>
              <a:t> — atoms here, cells there, human society elsewhere. Read that way, the darshan looks like a family of separate teachings.</a:t>
            </a:r>
            <a:endParaRPr lang="en-US" sz="1600" dirty="0"/>
          </a:p>
        </p:txBody>
      </p:sp>
      <p:sp>
        <p:nvSpPr>
          <p:cNvPr id="5" name="Text 3"/>
          <p:cNvSpPr/>
          <p:nvPr/>
        </p:nvSpPr>
        <p:spPr>
          <a:xfrm>
            <a:off x="548640" y="2788920"/>
            <a:ext cx="5577840" cy="1371600"/>
          </a:xfrm>
          <a:prstGeom prst="rect">
            <a:avLst/>
          </a:prstGeom>
          <a:noFill/>
          <a:ln/>
        </p:spPr>
        <p:txBody>
          <a:bodyPr wrap="square" rtlCol="0" anchor="t"/>
          <a:lstStyle/>
          <a:p>
            <a:pPr indent="0" marL="0">
              <a:lnSpc>
                <a:spcPct val="105000"/>
              </a:lnSpc>
              <a:buNone/>
            </a:pPr>
            <a:r>
              <a:rPr lang="en-US" sz="1600" b="1" dirty="0">
                <a:solidFill>
                  <a:srgbClr val="B8842B"/>
                </a:solidFill>
                <a:latin typeface="Calibri" pitchFamily="34" charset="0"/>
                <a:ea typeface="Calibri" pitchFamily="34" charset="-122"/>
                <a:cs typeface="Calibri" pitchFamily="34" charset="-120"/>
              </a:rPr>
              <a:t>The claim of this paper: </a:t>
            </a:r>
            <a:pPr indent="0" marL="0">
              <a:lnSpc>
                <a:spcPct val="105000"/>
              </a:lnSpc>
              <a:buNone/>
            </a:pPr>
            <a:r>
              <a:rPr lang="en-US" sz="1600" dirty="0">
                <a:solidFill>
                  <a:srgbClr val="202340"/>
                </a:solidFill>
                <a:latin typeface="Calibri" pitchFamily="34" charset="0"/>
                <a:ea typeface="Calibri" pitchFamily="34" charset="-122"/>
                <a:cs typeface="Calibri" pitchFamily="34" charset="-120"/>
              </a:rPr>
              <a:t>one structure runs underneath all of it. The general case is stated first; the human case is organized as its </a:t>
            </a:r>
            <a:pPr indent="0" marL="0">
              <a:lnSpc>
                <a:spcPct val="105000"/>
              </a:lnSpc>
              <a:buNone/>
            </a:pPr>
            <a:r>
              <a:rPr lang="en-US" sz="1600" i="1" dirty="0">
                <a:solidFill>
                  <a:srgbClr val="202340"/>
                </a:solidFill>
                <a:latin typeface="Calibri" pitchFamily="34" charset="0"/>
                <a:ea typeface="Calibri" pitchFamily="34" charset="-122"/>
                <a:cs typeface="Calibri" pitchFamily="34" charset="-120"/>
              </a:rPr>
              <a:t>most demanding instance</a:t>
            </a:r>
            <a:pPr indent="0" marL="0">
              <a:lnSpc>
                <a:spcPct val="105000"/>
              </a:lnSpc>
              <a:buNone/>
            </a:pPr>
            <a:r>
              <a:rPr lang="en-US" sz="1600" dirty="0">
                <a:solidFill>
                  <a:srgbClr val="202340"/>
                </a:solidFill>
                <a:latin typeface="Calibri" pitchFamily="34" charset="0"/>
                <a:ea typeface="Calibri" pitchFamily="34" charset="-122"/>
                <a:cs typeface="Calibri" pitchFamily="34" charset="-120"/>
              </a:rPr>
              <a:t>, not the source of the rest.</a:t>
            </a:r>
            <a:endParaRPr lang="en-US" sz="1600" dirty="0"/>
          </a:p>
        </p:txBody>
      </p:sp>
      <p:sp>
        <p:nvSpPr>
          <p:cNvPr id="6" name="Shape 4"/>
          <p:cNvSpPr/>
          <p:nvPr/>
        </p:nvSpPr>
        <p:spPr>
          <a:xfrm>
            <a:off x="6446520" y="1600200"/>
            <a:ext cx="5193792" cy="1417320"/>
          </a:xfrm>
          <a:prstGeom prst="roundRect">
            <a:avLst>
              <a:gd name="adj" fmla="val 3871"/>
            </a:avLst>
          </a:prstGeom>
          <a:solidFill>
            <a:srgbClr val="F5F6FB"/>
          </a:solidFill>
          <a:ln w="12700">
            <a:solidFill>
              <a:srgbClr val="E1E3EF"/>
            </a:solidFill>
            <a:prstDash val="solid"/>
          </a:ln>
        </p:spPr>
      </p:sp>
      <p:sp>
        <p:nvSpPr>
          <p:cNvPr id="7" name="Shape 5"/>
          <p:cNvSpPr/>
          <p:nvPr/>
        </p:nvSpPr>
        <p:spPr>
          <a:xfrm>
            <a:off x="6675120" y="1856232"/>
            <a:ext cx="146304" cy="146304"/>
          </a:xfrm>
          <a:prstGeom prst="ellipse">
            <a:avLst/>
          </a:prstGeom>
          <a:solidFill>
            <a:srgbClr val="B8842B"/>
          </a:solidFill>
          <a:ln/>
        </p:spPr>
      </p:sp>
      <p:sp>
        <p:nvSpPr>
          <p:cNvPr id="8" name="Text 6"/>
          <p:cNvSpPr/>
          <p:nvPr/>
        </p:nvSpPr>
        <p:spPr>
          <a:xfrm>
            <a:off x="6949440" y="1746504"/>
            <a:ext cx="4572000" cy="365760"/>
          </a:xfrm>
          <a:prstGeom prst="rect">
            <a:avLst/>
          </a:prstGeom>
          <a:noFill/>
          <a:ln/>
        </p:spPr>
        <p:txBody>
          <a:bodyPr wrap="square" rtlCol="0" anchor="ctr"/>
          <a:lstStyle/>
          <a:p>
            <a:pPr indent="0" marL="0">
              <a:buNone/>
            </a:pPr>
            <a:r>
              <a:rPr lang="en-US" sz="1600" b="1" dirty="0">
                <a:solidFill>
                  <a:srgbClr val="16183D"/>
                </a:solidFill>
                <a:latin typeface="Cambria" pitchFamily="34" charset="0"/>
                <a:ea typeface="Cambria" pitchFamily="34" charset="-122"/>
                <a:cs typeface="Cambria" pitchFamily="34" charset="-120"/>
              </a:rPr>
              <a:t>Articulate, don't extrapolate</a:t>
            </a:r>
            <a:endParaRPr lang="en-US" sz="1600" dirty="0"/>
          </a:p>
        </p:txBody>
      </p:sp>
      <p:sp>
        <p:nvSpPr>
          <p:cNvPr id="9" name="Text 7"/>
          <p:cNvSpPr/>
          <p:nvPr/>
        </p:nvSpPr>
        <p:spPr>
          <a:xfrm>
            <a:off x="6949440" y="2148840"/>
            <a:ext cx="4526280" cy="777240"/>
          </a:xfrm>
          <a:prstGeom prst="rect">
            <a:avLst/>
          </a:prstGeom>
          <a:noFill/>
          <a:ln/>
        </p:spPr>
        <p:txBody>
          <a:bodyPr wrap="square" rtlCol="0" anchor="t"/>
          <a:lstStyle/>
          <a:p>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State in one structure what the texts assert about atoms, cells, organisms, and human collectives.</a:t>
            </a:r>
            <a:endParaRPr lang="en-US" sz="1250" dirty="0"/>
          </a:p>
        </p:txBody>
      </p:sp>
      <p:sp>
        <p:nvSpPr>
          <p:cNvPr id="10" name="Shape 8"/>
          <p:cNvSpPr/>
          <p:nvPr/>
        </p:nvSpPr>
        <p:spPr>
          <a:xfrm>
            <a:off x="6446520" y="3172968"/>
            <a:ext cx="5193792" cy="1417320"/>
          </a:xfrm>
          <a:prstGeom prst="roundRect">
            <a:avLst>
              <a:gd name="adj" fmla="val 3871"/>
            </a:avLst>
          </a:prstGeom>
          <a:solidFill>
            <a:srgbClr val="F5F6FB"/>
          </a:solidFill>
          <a:ln w="12700">
            <a:solidFill>
              <a:srgbClr val="E1E3EF"/>
            </a:solidFill>
            <a:prstDash val="solid"/>
          </a:ln>
        </p:spPr>
      </p:sp>
      <p:sp>
        <p:nvSpPr>
          <p:cNvPr id="11" name="Shape 9"/>
          <p:cNvSpPr/>
          <p:nvPr/>
        </p:nvSpPr>
        <p:spPr>
          <a:xfrm>
            <a:off x="6675120" y="3429000"/>
            <a:ext cx="146304" cy="146304"/>
          </a:xfrm>
          <a:prstGeom prst="ellipse">
            <a:avLst/>
          </a:prstGeom>
          <a:solidFill>
            <a:srgbClr val="B8842B"/>
          </a:solidFill>
          <a:ln/>
        </p:spPr>
      </p:sp>
      <p:sp>
        <p:nvSpPr>
          <p:cNvPr id="12" name="Text 10"/>
          <p:cNvSpPr/>
          <p:nvPr/>
        </p:nvSpPr>
        <p:spPr>
          <a:xfrm>
            <a:off x="6949440" y="3319272"/>
            <a:ext cx="4572000" cy="365760"/>
          </a:xfrm>
          <a:prstGeom prst="rect">
            <a:avLst/>
          </a:prstGeom>
          <a:noFill/>
          <a:ln/>
        </p:spPr>
        <p:txBody>
          <a:bodyPr wrap="square" rtlCol="0" anchor="ctr"/>
          <a:lstStyle/>
          <a:p>
            <a:pPr indent="0" marL="0">
              <a:buNone/>
            </a:pPr>
            <a:r>
              <a:rPr lang="en-US" sz="1600" b="1" dirty="0">
                <a:solidFill>
                  <a:srgbClr val="16183D"/>
                </a:solidFill>
                <a:latin typeface="Cambria" pitchFamily="34" charset="0"/>
                <a:ea typeface="Cambria" pitchFamily="34" charset="-122"/>
                <a:cs typeface="Cambria" pitchFamily="34" charset="-120"/>
              </a:rPr>
              <a:t>A lens, not a proof machine</a:t>
            </a:r>
            <a:endParaRPr lang="en-US" sz="1600" dirty="0"/>
          </a:p>
        </p:txBody>
      </p:sp>
      <p:sp>
        <p:nvSpPr>
          <p:cNvPr id="13" name="Text 11"/>
          <p:cNvSpPr/>
          <p:nvPr/>
        </p:nvSpPr>
        <p:spPr>
          <a:xfrm>
            <a:off x="6949440" y="3721608"/>
            <a:ext cx="4526280" cy="777240"/>
          </a:xfrm>
          <a:prstGeom prst="rect">
            <a:avLst/>
          </a:prstGeom>
          <a:noFill/>
          <a:ln/>
        </p:spPr>
        <p:txBody>
          <a:bodyPr wrap="square" rtlCol="0" anchor="t"/>
          <a:lstStyle/>
          <a:p>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The formalism clarifies; it proves nothing about the reality of the medium or of jeevan.</a:t>
            </a:r>
            <a:endParaRPr lang="en-US" sz="1250" dirty="0"/>
          </a:p>
        </p:txBody>
      </p:sp>
      <p:sp>
        <p:nvSpPr>
          <p:cNvPr id="14" name="Shape 12"/>
          <p:cNvSpPr/>
          <p:nvPr/>
        </p:nvSpPr>
        <p:spPr>
          <a:xfrm>
            <a:off x="6446520" y="4745736"/>
            <a:ext cx="5193792" cy="1417320"/>
          </a:xfrm>
          <a:prstGeom prst="roundRect">
            <a:avLst>
              <a:gd name="adj" fmla="val 3871"/>
            </a:avLst>
          </a:prstGeom>
          <a:solidFill>
            <a:srgbClr val="F5F6FB"/>
          </a:solidFill>
          <a:ln w="12700">
            <a:solidFill>
              <a:srgbClr val="E1E3EF"/>
            </a:solidFill>
            <a:prstDash val="solid"/>
          </a:ln>
        </p:spPr>
      </p:sp>
      <p:sp>
        <p:nvSpPr>
          <p:cNvPr id="15" name="Shape 13"/>
          <p:cNvSpPr/>
          <p:nvPr/>
        </p:nvSpPr>
        <p:spPr>
          <a:xfrm>
            <a:off x="6675120" y="5001768"/>
            <a:ext cx="146304" cy="146304"/>
          </a:xfrm>
          <a:prstGeom prst="ellipse">
            <a:avLst/>
          </a:prstGeom>
          <a:solidFill>
            <a:srgbClr val="B8842B"/>
          </a:solidFill>
          <a:ln/>
        </p:spPr>
      </p:sp>
      <p:sp>
        <p:nvSpPr>
          <p:cNvPr id="16" name="Text 14"/>
          <p:cNvSpPr/>
          <p:nvPr/>
        </p:nvSpPr>
        <p:spPr>
          <a:xfrm>
            <a:off x="6949440" y="4892040"/>
            <a:ext cx="4572000" cy="365760"/>
          </a:xfrm>
          <a:prstGeom prst="rect">
            <a:avLst/>
          </a:prstGeom>
          <a:noFill/>
          <a:ln/>
        </p:spPr>
        <p:txBody>
          <a:bodyPr wrap="square" rtlCol="0" anchor="ctr"/>
          <a:lstStyle/>
          <a:p>
            <a:pPr indent="0" marL="0">
              <a:buNone/>
            </a:pPr>
            <a:r>
              <a:rPr lang="en-US" sz="1600" b="1" dirty="0">
                <a:solidFill>
                  <a:srgbClr val="16183D"/>
                </a:solidFill>
                <a:latin typeface="Cambria" pitchFamily="34" charset="0"/>
                <a:ea typeface="Cambria" pitchFamily="34" charset="-122"/>
                <a:cs typeface="Cambria" pitchFamily="34" charset="-120"/>
              </a:rPr>
              <a:t>Keep the seams visible</a:t>
            </a:r>
            <a:endParaRPr lang="en-US" sz="1600" dirty="0"/>
          </a:p>
        </p:txBody>
      </p:sp>
      <p:sp>
        <p:nvSpPr>
          <p:cNvPr id="17" name="Text 15"/>
          <p:cNvSpPr/>
          <p:nvPr/>
        </p:nvSpPr>
        <p:spPr>
          <a:xfrm>
            <a:off x="6949440" y="5294376"/>
            <a:ext cx="4526280" cy="777240"/>
          </a:xfrm>
          <a:prstGeom prst="rect">
            <a:avLst/>
          </a:prstGeom>
          <a:noFill/>
          <a:ln/>
        </p:spPr>
        <p:txBody>
          <a:bodyPr wrap="square" rtlCol="0" anchor="t"/>
          <a:lstStyle/>
          <a:p>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Every claim keeps its textual source, its role in the model, and its epistemic standing on show.</a:t>
            </a:r>
            <a:endParaRPr lang="en-US" sz="1250" dirty="0"/>
          </a:p>
        </p:txBody>
      </p:sp>
      <p:sp>
        <p:nvSpPr>
          <p:cNvPr id="18" name="Text 16"/>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02</a:t>
            </a:r>
            <a:endParaRPr lang="en-US" sz="900" dirty="0"/>
          </a:p>
        </p:txBody>
      </p:sp>
      <p:sp>
        <p:nvSpPr>
          <p:cNvPr id="19" name="Text 17"/>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The question</a:t>
            </a:r>
            <a:endParaRPr lang="en-US" sz="900" dirty="0"/>
          </a:p>
        </p:txBody>
      </p:sp>
      <p:sp>
        <p:nvSpPr>
          <p:cNvPr id="20" name="Text 18"/>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HOW TO FOLLOW THE NEXT 45 MINUTES</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Four parts — and one caveat to hold throughout</a:t>
            </a:r>
            <a:endParaRPr lang="en-US" sz="2900" dirty="0"/>
          </a:p>
        </p:txBody>
      </p:sp>
      <p:sp>
        <p:nvSpPr>
          <p:cNvPr id="4" name="Shape 2"/>
          <p:cNvSpPr/>
          <p:nvPr/>
        </p:nvSpPr>
        <p:spPr>
          <a:xfrm>
            <a:off x="548640" y="1554480"/>
            <a:ext cx="2670048" cy="2743200"/>
          </a:xfrm>
          <a:prstGeom prst="roundRect">
            <a:avLst>
              <a:gd name="adj" fmla="val 2055"/>
            </a:avLst>
          </a:prstGeom>
          <a:solidFill>
            <a:srgbClr val="16183D"/>
          </a:solidFill>
          <a:ln/>
        </p:spPr>
      </p:sp>
      <p:sp>
        <p:nvSpPr>
          <p:cNvPr id="5" name="Text 3"/>
          <p:cNvSpPr/>
          <p:nvPr/>
        </p:nvSpPr>
        <p:spPr>
          <a:xfrm>
            <a:off x="548640" y="1783080"/>
            <a:ext cx="2670048" cy="822960"/>
          </a:xfrm>
          <a:prstGeom prst="rect">
            <a:avLst/>
          </a:prstGeom>
          <a:noFill/>
          <a:ln/>
        </p:spPr>
        <p:txBody>
          <a:bodyPr wrap="square" rtlCol="0" anchor="ctr"/>
          <a:lstStyle/>
          <a:p>
            <a:pPr algn="ctr" indent="0" marL="0">
              <a:buNone/>
            </a:pPr>
            <a:r>
              <a:rPr lang="en-US" sz="4400" b="1" dirty="0">
                <a:solidFill>
                  <a:srgbClr val="E3B857"/>
                </a:solidFill>
                <a:latin typeface="Cambria" pitchFamily="34" charset="0"/>
                <a:ea typeface="Cambria" pitchFamily="34" charset="-122"/>
                <a:cs typeface="Cambria" pitchFamily="34" charset="-120"/>
              </a:rPr>
              <a:t>I</a:t>
            </a:r>
            <a:endParaRPr lang="en-US" sz="4400" dirty="0"/>
          </a:p>
        </p:txBody>
      </p:sp>
      <p:sp>
        <p:nvSpPr>
          <p:cNvPr id="6" name="Text 4"/>
          <p:cNvSpPr/>
          <p:nvPr/>
        </p:nvSpPr>
        <p:spPr>
          <a:xfrm>
            <a:off x="731520" y="2697480"/>
            <a:ext cx="2304288" cy="457200"/>
          </a:xfrm>
          <a:prstGeom prst="rect">
            <a:avLst/>
          </a:prstGeom>
          <a:noFill/>
          <a:ln/>
        </p:spPr>
        <p:txBody>
          <a:bodyPr wrap="square" rtlCol="0" anchor="ctr"/>
          <a:lstStyle/>
          <a:p>
            <a:pPr algn="ctr" indent="0" marL="0">
              <a:buNone/>
            </a:pPr>
            <a:r>
              <a:rPr lang="en-US" sz="1700" b="1" dirty="0">
                <a:solidFill>
                  <a:srgbClr val="F2EEE3"/>
                </a:solidFill>
                <a:latin typeface="Cambria" pitchFamily="34" charset="0"/>
                <a:ea typeface="Cambria" pitchFamily="34" charset="-122"/>
                <a:cs typeface="Cambria" pitchFamily="34" charset="-120"/>
              </a:rPr>
              <a:t>The picture</a:t>
            </a:r>
            <a:endParaRPr lang="en-US" sz="1700" dirty="0"/>
          </a:p>
        </p:txBody>
      </p:sp>
      <p:sp>
        <p:nvSpPr>
          <p:cNvPr id="7" name="Text 5"/>
          <p:cNvSpPr/>
          <p:nvPr/>
        </p:nvSpPr>
        <p:spPr>
          <a:xfrm>
            <a:off x="749808" y="3200400"/>
            <a:ext cx="2267712" cy="1005840"/>
          </a:xfrm>
          <a:prstGeom prst="rect">
            <a:avLst/>
          </a:prstGeom>
          <a:noFill/>
          <a:ln/>
        </p:spPr>
        <p:txBody>
          <a:bodyPr wrap="square" rtlCol="0" anchor="t"/>
          <a:lstStyle/>
          <a:p>
            <a:pPr algn="ctr" indent="0" marL="0">
              <a:lnSpc>
                <a:spcPct val="102000"/>
              </a:lnSpc>
              <a:buNone/>
            </a:pPr>
            <a:r>
              <a:rPr lang="en-US" sz="1200" dirty="0">
                <a:solidFill>
                  <a:srgbClr val="A7ACD0"/>
                </a:solidFill>
                <a:latin typeface="Calibri" pitchFamily="34" charset="0"/>
                <a:ea typeface="Calibri" pitchFamily="34" charset="-122"/>
                <a:cs typeface="Calibri" pitchFamily="34" charset="-120"/>
              </a:rPr>
              <a:t>Before any formalism: the whole thing in four moves, and the discipline that keeps it honest.</a:t>
            </a:r>
            <a:endParaRPr lang="en-US" sz="1200" dirty="0"/>
          </a:p>
        </p:txBody>
      </p:sp>
      <p:sp>
        <p:nvSpPr>
          <p:cNvPr id="8" name="Shape 6"/>
          <p:cNvSpPr/>
          <p:nvPr/>
        </p:nvSpPr>
        <p:spPr>
          <a:xfrm>
            <a:off x="3346704" y="1554480"/>
            <a:ext cx="2670048" cy="2743200"/>
          </a:xfrm>
          <a:prstGeom prst="roundRect">
            <a:avLst>
              <a:gd name="adj" fmla="val 2055"/>
            </a:avLst>
          </a:prstGeom>
          <a:solidFill>
            <a:srgbClr val="16183D"/>
          </a:solidFill>
          <a:ln/>
        </p:spPr>
      </p:sp>
      <p:sp>
        <p:nvSpPr>
          <p:cNvPr id="9" name="Text 7"/>
          <p:cNvSpPr/>
          <p:nvPr/>
        </p:nvSpPr>
        <p:spPr>
          <a:xfrm>
            <a:off x="3346704" y="1783080"/>
            <a:ext cx="2670048" cy="822960"/>
          </a:xfrm>
          <a:prstGeom prst="rect">
            <a:avLst/>
          </a:prstGeom>
          <a:noFill/>
          <a:ln/>
        </p:spPr>
        <p:txBody>
          <a:bodyPr wrap="square" rtlCol="0" anchor="ctr"/>
          <a:lstStyle/>
          <a:p>
            <a:pPr algn="ctr" indent="0" marL="0">
              <a:buNone/>
            </a:pPr>
            <a:r>
              <a:rPr lang="en-US" sz="4400" b="1" dirty="0">
                <a:solidFill>
                  <a:srgbClr val="E3B857"/>
                </a:solidFill>
                <a:latin typeface="Cambria" pitchFamily="34" charset="0"/>
                <a:ea typeface="Cambria" pitchFamily="34" charset="-122"/>
                <a:cs typeface="Cambria" pitchFamily="34" charset="-120"/>
              </a:rPr>
              <a:t>II</a:t>
            </a:r>
            <a:endParaRPr lang="en-US" sz="4400" dirty="0"/>
          </a:p>
        </p:txBody>
      </p:sp>
      <p:sp>
        <p:nvSpPr>
          <p:cNvPr id="10" name="Text 8"/>
          <p:cNvSpPr/>
          <p:nvPr/>
        </p:nvSpPr>
        <p:spPr>
          <a:xfrm>
            <a:off x="3529584" y="2697480"/>
            <a:ext cx="2304288" cy="457200"/>
          </a:xfrm>
          <a:prstGeom prst="rect">
            <a:avLst/>
          </a:prstGeom>
          <a:noFill/>
          <a:ln/>
        </p:spPr>
        <p:txBody>
          <a:bodyPr wrap="square" rtlCol="0" anchor="ctr"/>
          <a:lstStyle/>
          <a:p>
            <a:pPr algn="ctr" indent="0" marL="0">
              <a:buNone/>
            </a:pPr>
            <a:r>
              <a:rPr lang="en-US" sz="1700" b="1" dirty="0">
                <a:solidFill>
                  <a:srgbClr val="F2EEE3"/>
                </a:solidFill>
                <a:latin typeface="Cambria" pitchFamily="34" charset="0"/>
                <a:ea typeface="Cambria" pitchFamily="34" charset="-122"/>
                <a:cs typeface="Cambria" pitchFamily="34" charset="-120"/>
              </a:rPr>
              <a:t>The kernel</a:t>
            </a:r>
            <a:endParaRPr lang="en-US" sz="1700" dirty="0"/>
          </a:p>
        </p:txBody>
      </p:sp>
      <p:sp>
        <p:nvSpPr>
          <p:cNvPr id="11" name="Text 9"/>
          <p:cNvSpPr/>
          <p:nvPr/>
        </p:nvSpPr>
        <p:spPr>
          <a:xfrm>
            <a:off x="3547872" y="3200400"/>
            <a:ext cx="2267712" cy="1005840"/>
          </a:xfrm>
          <a:prstGeom prst="rect">
            <a:avLst/>
          </a:prstGeom>
          <a:noFill/>
          <a:ln/>
        </p:spPr>
        <p:txBody>
          <a:bodyPr wrap="square" rtlCol="0" anchor="t"/>
          <a:lstStyle/>
          <a:p>
            <a:pPr algn="ctr" indent="0" marL="0">
              <a:lnSpc>
                <a:spcPct val="102000"/>
              </a:lnSpc>
              <a:buNone/>
            </a:pPr>
            <a:r>
              <a:rPr lang="en-US" sz="1200" dirty="0">
                <a:solidFill>
                  <a:srgbClr val="A7ACD0"/>
                </a:solidFill>
                <a:latin typeface="Calibri" pitchFamily="34" charset="0"/>
                <a:ea typeface="Calibri" pitchFamily="34" charset="-122"/>
                <a:cs typeface="Calibri" pitchFamily="34" charset="-120"/>
              </a:rPr>
              <a:t>Three primitives, two axioms, one generative move, and the reflexive turn that opens sentience.</a:t>
            </a:r>
            <a:endParaRPr lang="en-US" sz="1200" dirty="0"/>
          </a:p>
        </p:txBody>
      </p:sp>
      <p:sp>
        <p:nvSpPr>
          <p:cNvPr id="12" name="Shape 10"/>
          <p:cNvSpPr/>
          <p:nvPr/>
        </p:nvSpPr>
        <p:spPr>
          <a:xfrm>
            <a:off x="6144768" y="1554480"/>
            <a:ext cx="2670048" cy="2743200"/>
          </a:xfrm>
          <a:prstGeom prst="roundRect">
            <a:avLst>
              <a:gd name="adj" fmla="val 2055"/>
            </a:avLst>
          </a:prstGeom>
          <a:solidFill>
            <a:srgbClr val="16183D"/>
          </a:solidFill>
          <a:ln/>
        </p:spPr>
      </p:sp>
      <p:sp>
        <p:nvSpPr>
          <p:cNvPr id="13" name="Text 11"/>
          <p:cNvSpPr/>
          <p:nvPr/>
        </p:nvSpPr>
        <p:spPr>
          <a:xfrm>
            <a:off x="6144768" y="1783080"/>
            <a:ext cx="2670048" cy="822960"/>
          </a:xfrm>
          <a:prstGeom prst="rect">
            <a:avLst/>
          </a:prstGeom>
          <a:noFill/>
          <a:ln/>
        </p:spPr>
        <p:txBody>
          <a:bodyPr wrap="square" rtlCol="0" anchor="ctr"/>
          <a:lstStyle/>
          <a:p>
            <a:pPr algn="ctr" indent="0" marL="0">
              <a:buNone/>
            </a:pPr>
            <a:r>
              <a:rPr lang="en-US" sz="4400" b="1" dirty="0">
                <a:solidFill>
                  <a:srgbClr val="E3B857"/>
                </a:solidFill>
                <a:latin typeface="Cambria" pitchFamily="34" charset="0"/>
                <a:ea typeface="Cambria" pitchFamily="34" charset="-122"/>
                <a:cs typeface="Cambria" pitchFamily="34" charset="-120"/>
              </a:rPr>
              <a:t>III</a:t>
            </a:r>
            <a:endParaRPr lang="en-US" sz="4400" dirty="0"/>
          </a:p>
        </p:txBody>
      </p:sp>
      <p:sp>
        <p:nvSpPr>
          <p:cNvPr id="14" name="Text 12"/>
          <p:cNvSpPr/>
          <p:nvPr/>
        </p:nvSpPr>
        <p:spPr>
          <a:xfrm>
            <a:off x="6327648" y="2697480"/>
            <a:ext cx="2304288" cy="457200"/>
          </a:xfrm>
          <a:prstGeom prst="rect">
            <a:avLst/>
          </a:prstGeom>
          <a:noFill/>
          <a:ln/>
        </p:spPr>
        <p:txBody>
          <a:bodyPr wrap="square" rtlCol="0" anchor="ctr"/>
          <a:lstStyle/>
          <a:p>
            <a:pPr algn="ctr" indent="0" marL="0">
              <a:buNone/>
            </a:pPr>
            <a:r>
              <a:rPr lang="en-US" sz="1700" b="1" dirty="0">
                <a:solidFill>
                  <a:srgbClr val="F2EEE3"/>
                </a:solidFill>
                <a:latin typeface="Cambria" pitchFamily="34" charset="0"/>
                <a:ea typeface="Cambria" pitchFamily="34" charset="-122"/>
                <a:cs typeface="Cambria" pitchFamily="34" charset="-120"/>
              </a:rPr>
              <a:t>The structure</a:t>
            </a:r>
            <a:endParaRPr lang="en-US" sz="1700" dirty="0"/>
          </a:p>
        </p:txBody>
      </p:sp>
      <p:sp>
        <p:nvSpPr>
          <p:cNvPr id="15" name="Text 13"/>
          <p:cNvSpPr/>
          <p:nvPr/>
        </p:nvSpPr>
        <p:spPr>
          <a:xfrm>
            <a:off x="6345936" y="3200400"/>
            <a:ext cx="2267712" cy="1005840"/>
          </a:xfrm>
          <a:prstGeom prst="rect">
            <a:avLst/>
          </a:prstGeom>
          <a:noFill/>
          <a:ln/>
        </p:spPr>
        <p:txBody>
          <a:bodyPr wrap="square" rtlCol="0" anchor="t"/>
          <a:lstStyle/>
          <a:p>
            <a:pPr algn="ctr" indent="0" marL="0">
              <a:lnSpc>
                <a:spcPct val="102000"/>
              </a:lnSpc>
              <a:buNone/>
            </a:pPr>
            <a:r>
              <a:rPr lang="en-US" sz="1200" dirty="0">
                <a:solidFill>
                  <a:srgbClr val="A7ACD0"/>
                </a:solidFill>
                <a:latin typeface="Calibri" pitchFamily="34" charset="0"/>
                <a:ea typeface="Calibri" pitchFamily="34" charset="-122"/>
                <a:cs typeface="Calibri" pitchFamily="34" charset="-120"/>
              </a:rPr>
              <a:t>Orders, coupling, jeevan and body, justice, time, stability — the reconstruction in working form.</a:t>
            </a:r>
            <a:endParaRPr lang="en-US" sz="1200" dirty="0"/>
          </a:p>
        </p:txBody>
      </p:sp>
      <p:sp>
        <p:nvSpPr>
          <p:cNvPr id="16" name="Shape 14"/>
          <p:cNvSpPr/>
          <p:nvPr/>
        </p:nvSpPr>
        <p:spPr>
          <a:xfrm>
            <a:off x="8942832" y="1554480"/>
            <a:ext cx="2670048" cy="2743200"/>
          </a:xfrm>
          <a:prstGeom prst="roundRect">
            <a:avLst>
              <a:gd name="adj" fmla="val 2055"/>
            </a:avLst>
          </a:prstGeom>
          <a:solidFill>
            <a:srgbClr val="16183D"/>
          </a:solidFill>
          <a:ln/>
        </p:spPr>
      </p:sp>
      <p:sp>
        <p:nvSpPr>
          <p:cNvPr id="17" name="Text 15"/>
          <p:cNvSpPr/>
          <p:nvPr/>
        </p:nvSpPr>
        <p:spPr>
          <a:xfrm>
            <a:off x="8942832" y="1783080"/>
            <a:ext cx="2670048" cy="822960"/>
          </a:xfrm>
          <a:prstGeom prst="rect">
            <a:avLst/>
          </a:prstGeom>
          <a:noFill/>
          <a:ln/>
        </p:spPr>
        <p:txBody>
          <a:bodyPr wrap="square" rtlCol="0" anchor="ctr"/>
          <a:lstStyle/>
          <a:p>
            <a:pPr algn="ctr" indent="0" marL="0">
              <a:buNone/>
            </a:pPr>
            <a:r>
              <a:rPr lang="en-US" sz="4400" b="1" dirty="0">
                <a:solidFill>
                  <a:srgbClr val="E3B857"/>
                </a:solidFill>
                <a:latin typeface="Cambria" pitchFamily="34" charset="0"/>
                <a:ea typeface="Cambria" pitchFamily="34" charset="-122"/>
                <a:cs typeface="Cambria" pitchFamily="34" charset="-120"/>
              </a:rPr>
              <a:t>IV</a:t>
            </a:r>
            <a:endParaRPr lang="en-US" sz="4400" dirty="0"/>
          </a:p>
        </p:txBody>
      </p:sp>
      <p:sp>
        <p:nvSpPr>
          <p:cNvPr id="18" name="Text 16"/>
          <p:cNvSpPr/>
          <p:nvPr/>
        </p:nvSpPr>
        <p:spPr>
          <a:xfrm>
            <a:off x="9125712" y="2697480"/>
            <a:ext cx="2304288" cy="457200"/>
          </a:xfrm>
          <a:prstGeom prst="rect">
            <a:avLst/>
          </a:prstGeom>
          <a:noFill/>
          <a:ln/>
        </p:spPr>
        <p:txBody>
          <a:bodyPr wrap="square" rtlCol="0" anchor="ctr"/>
          <a:lstStyle/>
          <a:p>
            <a:pPr algn="ctr" indent="0" marL="0">
              <a:buNone/>
            </a:pPr>
            <a:r>
              <a:rPr lang="en-US" sz="1700" b="1" dirty="0">
                <a:solidFill>
                  <a:srgbClr val="F2EEE3"/>
                </a:solidFill>
                <a:latin typeface="Cambria" pitchFamily="34" charset="0"/>
                <a:ea typeface="Cambria" pitchFamily="34" charset="-122"/>
                <a:cs typeface="Cambria" pitchFamily="34" charset="-120"/>
              </a:rPr>
              <a:t>Reach &amp; honesty</a:t>
            </a:r>
            <a:endParaRPr lang="en-US" sz="1700" dirty="0"/>
          </a:p>
        </p:txBody>
      </p:sp>
      <p:sp>
        <p:nvSpPr>
          <p:cNvPr id="19" name="Text 17"/>
          <p:cNvSpPr/>
          <p:nvPr/>
        </p:nvSpPr>
        <p:spPr>
          <a:xfrm>
            <a:off x="9144000" y="3200400"/>
            <a:ext cx="2267712" cy="1005840"/>
          </a:xfrm>
          <a:prstGeom prst="rect">
            <a:avLst/>
          </a:prstGeom>
          <a:noFill/>
          <a:ln/>
        </p:spPr>
        <p:txBody>
          <a:bodyPr wrap="square" rtlCol="0" anchor="t"/>
          <a:lstStyle/>
          <a:p>
            <a:pPr algn="ctr" indent="0" marL="0">
              <a:lnSpc>
                <a:spcPct val="102000"/>
              </a:lnSpc>
              <a:buNone/>
            </a:pPr>
            <a:r>
              <a:rPr lang="en-US" sz="1200" dirty="0">
                <a:solidFill>
                  <a:srgbClr val="A7ACD0"/>
                </a:solidFill>
                <a:latin typeface="Calibri" pitchFamily="34" charset="0"/>
                <a:ea typeface="Calibri" pitchFamily="34" charset="-122"/>
                <a:cs typeface="Calibri" pitchFamily="34" charset="-120"/>
              </a:rPr>
              <a:t>The pattern at every tier, comparisons, the formal spine, and where the model stops.</a:t>
            </a:r>
            <a:endParaRPr lang="en-US" sz="1200" dirty="0"/>
          </a:p>
        </p:txBody>
      </p:sp>
      <p:sp>
        <p:nvSpPr>
          <p:cNvPr id="20" name="Shape 18"/>
          <p:cNvSpPr/>
          <p:nvPr/>
        </p:nvSpPr>
        <p:spPr>
          <a:xfrm>
            <a:off x="548640" y="4663440"/>
            <a:ext cx="11091672" cy="1417320"/>
          </a:xfrm>
          <a:prstGeom prst="roundRect">
            <a:avLst>
              <a:gd name="adj" fmla="val 3871"/>
            </a:avLst>
          </a:prstGeom>
          <a:solidFill>
            <a:srgbClr val="F5F6FB"/>
          </a:solidFill>
          <a:ln w="15875">
            <a:solidFill>
              <a:srgbClr val="B8842B"/>
            </a:solidFill>
            <a:prstDash val="solid"/>
          </a:ln>
        </p:spPr>
      </p:sp>
      <p:sp>
        <p:nvSpPr>
          <p:cNvPr id="21" name="Text 19"/>
          <p:cNvSpPr/>
          <p:nvPr/>
        </p:nvSpPr>
        <p:spPr>
          <a:xfrm>
            <a:off x="777240" y="4828032"/>
            <a:ext cx="2743200" cy="274320"/>
          </a:xfrm>
          <a:prstGeom prst="rect">
            <a:avLst/>
          </a:prstGeom>
          <a:noFill/>
          <a:ln/>
        </p:spPr>
        <p:txBody>
          <a:bodyPr wrap="square" rtlCol="0" anchor="ctr"/>
          <a:lstStyle/>
          <a:p>
            <a:pPr indent="0" marL="0">
              <a:buNone/>
            </a:pPr>
            <a:r>
              <a:rPr lang="en-US" sz="1100" b="1" spc="200" kern="0" dirty="0">
                <a:solidFill>
                  <a:srgbClr val="B8842B"/>
                </a:solidFill>
                <a:latin typeface="Calibri" pitchFamily="34" charset="0"/>
                <a:ea typeface="Calibri" pitchFamily="34" charset="-122"/>
                <a:cs typeface="Calibri" pitchFamily="34" charset="-120"/>
              </a:rPr>
              <a:t>THE CAVEAT</a:t>
            </a:r>
            <a:endParaRPr lang="en-US" sz="1100" dirty="0"/>
          </a:p>
        </p:txBody>
      </p:sp>
      <p:sp>
        <p:nvSpPr>
          <p:cNvPr id="22" name="Text 20"/>
          <p:cNvSpPr/>
          <p:nvPr/>
        </p:nvSpPr>
        <p:spPr>
          <a:xfrm>
            <a:off x="777240" y="5138928"/>
            <a:ext cx="10607040" cy="868680"/>
          </a:xfrm>
          <a:prstGeom prst="rect">
            <a:avLst/>
          </a:prstGeom>
          <a:noFill/>
          <a:ln/>
        </p:spPr>
        <p:txBody>
          <a:bodyPr wrap="square" rtlCol="0" anchor="t"/>
          <a:lstStyle/>
          <a:p>
            <a:pPr indent="0" marL="0">
              <a:lnSpc>
                <a:spcPct val="105000"/>
              </a:lnSpc>
              <a:buNone/>
            </a:pPr>
            <a:r>
              <a:rPr lang="en-US" sz="1450" b="1" dirty="0">
                <a:solidFill>
                  <a:srgbClr val="16183D"/>
                </a:solidFill>
                <a:latin typeface="Calibri" pitchFamily="34" charset="0"/>
                <a:ea typeface="Calibri" pitchFamily="34" charset="-122"/>
                <a:cs typeface="Calibri" pitchFamily="34" charset="-120"/>
              </a:rPr>
              <a:t>This is not a proof that Madhyasth Darshan is true, nor a reduction of its teaching to one formula. </a:t>
            </a:r>
            <a:pPr indent="0" marL="0">
              <a:lnSpc>
                <a:spcPct val="105000"/>
              </a:lnSpc>
              <a:buNone/>
            </a:pPr>
            <a:r>
              <a:rPr lang="en-US" sz="1450" dirty="0">
                <a:solidFill>
                  <a:srgbClr val="202340"/>
                </a:solidFill>
                <a:latin typeface="Calibri" pitchFamily="34" charset="0"/>
                <a:ea typeface="Calibri" pitchFamily="34" charset="-122"/>
                <a:cs typeface="Calibri" pitchFamily="34" charset="-120"/>
              </a:rPr>
              <a:t>It is a reconstruction — warranted by citations, but the paper's own construction. The formalism organizes an open metaphysical posit; it never establishes it.</a:t>
            </a:r>
            <a:endParaRPr lang="en-US" sz="1450" dirty="0"/>
          </a:p>
        </p:txBody>
      </p:sp>
      <p:sp>
        <p:nvSpPr>
          <p:cNvPr id="23" name="Text 21"/>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03</a:t>
            </a:r>
            <a:endParaRPr lang="en-US" sz="900" dirty="0"/>
          </a:p>
        </p:txBody>
      </p:sp>
      <p:sp>
        <p:nvSpPr>
          <p:cNvPr id="24" name="Text 22"/>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Roadmap</a:t>
            </a:r>
            <a:endParaRPr lang="en-US" sz="900" dirty="0"/>
          </a:p>
        </p:txBody>
      </p:sp>
      <p:sp>
        <p:nvSpPr>
          <p:cNvPr id="25" name="Text 23"/>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3D"/>
        </a:solidFill>
      </p:bgPr>
    </p:bg>
    <p:spTree>
      <p:nvGrpSpPr>
        <p:cNvPr id="1" name=""/>
        <p:cNvGrpSpPr/>
        <p:nvPr/>
      </p:nvGrpSpPr>
      <p:grpSpPr>
        <a:xfrm>
          <a:off x="0" y="0"/>
          <a:ext cx="0" cy="0"/>
          <a:chOff x="0" y="0"/>
          <a:chExt cx="0" cy="0"/>
        </a:xfrm>
      </p:grpSpPr>
      <p:sp>
        <p:nvSpPr>
          <p:cNvPr id="2" name="Shape 0"/>
          <p:cNvSpPr/>
          <p:nvPr/>
        </p:nvSpPr>
        <p:spPr>
          <a:xfrm>
            <a:off x="822960" y="1097280"/>
            <a:ext cx="91440" cy="91440"/>
          </a:xfrm>
          <a:prstGeom prst="ellipse">
            <a:avLst/>
          </a:prstGeom>
          <a:solidFill>
            <a:srgbClr val="E3B857">
              <a:alpha val="65000"/>
            </a:srgbClr>
          </a:solidFill>
          <a:ln/>
        </p:spPr>
      </p:sp>
      <p:sp>
        <p:nvSpPr>
          <p:cNvPr id="3" name="Shape 1"/>
          <p:cNvSpPr/>
          <p:nvPr/>
        </p:nvSpPr>
        <p:spPr>
          <a:xfrm>
            <a:off x="1920240" y="3566160"/>
            <a:ext cx="54864" cy="54864"/>
          </a:xfrm>
          <a:prstGeom prst="ellipse">
            <a:avLst/>
          </a:prstGeom>
          <a:solidFill>
            <a:srgbClr val="E3B857">
              <a:alpha val="65000"/>
            </a:srgbClr>
          </a:solidFill>
          <a:ln/>
        </p:spPr>
      </p:sp>
      <p:sp>
        <p:nvSpPr>
          <p:cNvPr id="4" name="Shape 2"/>
          <p:cNvSpPr/>
          <p:nvPr/>
        </p:nvSpPr>
        <p:spPr>
          <a:xfrm>
            <a:off x="1371600" y="5303520"/>
            <a:ext cx="73152" cy="73152"/>
          </a:xfrm>
          <a:prstGeom prst="ellipse">
            <a:avLst/>
          </a:prstGeom>
          <a:solidFill>
            <a:srgbClr val="E3B857">
              <a:alpha val="65000"/>
            </a:srgbClr>
          </a:solidFill>
          <a:ln/>
        </p:spPr>
      </p:sp>
      <p:sp>
        <p:nvSpPr>
          <p:cNvPr id="5" name="Shape 3"/>
          <p:cNvSpPr/>
          <p:nvPr/>
        </p:nvSpPr>
        <p:spPr>
          <a:xfrm>
            <a:off x="3108960" y="1554480"/>
            <a:ext cx="45720" cy="45720"/>
          </a:xfrm>
          <a:prstGeom prst="ellipse">
            <a:avLst/>
          </a:prstGeom>
          <a:solidFill>
            <a:srgbClr val="E3B857">
              <a:alpha val="65000"/>
            </a:srgbClr>
          </a:solidFill>
          <a:ln/>
        </p:spPr>
      </p:sp>
      <p:sp>
        <p:nvSpPr>
          <p:cNvPr id="6" name="Shape 4"/>
          <p:cNvSpPr/>
          <p:nvPr/>
        </p:nvSpPr>
        <p:spPr>
          <a:xfrm>
            <a:off x="3840480" y="4754880"/>
            <a:ext cx="64008" cy="64008"/>
          </a:xfrm>
          <a:prstGeom prst="ellipse">
            <a:avLst/>
          </a:prstGeom>
          <a:solidFill>
            <a:srgbClr val="E3B857">
              <a:alpha val="65000"/>
            </a:srgbClr>
          </a:solidFill>
          <a:ln/>
        </p:spPr>
      </p:sp>
      <p:sp>
        <p:nvSpPr>
          <p:cNvPr id="7" name="Shape 5"/>
          <p:cNvSpPr/>
          <p:nvPr/>
        </p:nvSpPr>
        <p:spPr>
          <a:xfrm>
            <a:off x="10058400" y="1280160"/>
            <a:ext cx="82296" cy="82296"/>
          </a:xfrm>
          <a:prstGeom prst="ellipse">
            <a:avLst/>
          </a:prstGeom>
          <a:solidFill>
            <a:srgbClr val="E3B857">
              <a:alpha val="65000"/>
            </a:srgbClr>
          </a:solidFill>
          <a:ln/>
        </p:spPr>
      </p:sp>
      <p:sp>
        <p:nvSpPr>
          <p:cNvPr id="8" name="Shape 6"/>
          <p:cNvSpPr/>
          <p:nvPr/>
        </p:nvSpPr>
        <p:spPr>
          <a:xfrm>
            <a:off x="11247120" y="2834640"/>
            <a:ext cx="54864" cy="54864"/>
          </a:xfrm>
          <a:prstGeom prst="ellipse">
            <a:avLst/>
          </a:prstGeom>
          <a:solidFill>
            <a:srgbClr val="E3B857">
              <a:alpha val="65000"/>
            </a:srgbClr>
          </a:solidFill>
          <a:ln/>
        </p:spPr>
      </p:sp>
      <p:sp>
        <p:nvSpPr>
          <p:cNvPr id="9" name="Shape 7"/>
          <p:cNvSpPr/>
          <p:nvPr/>
        </p:nvSpPr>
        <p:spPr>
          <a:xfrm>
            <a:off x="9509760" y="5120640"/>
            <a:ext cx="64008" cy="64008"/>
          </a:xfrm>
          <a:prstGeom prst="ellipse">
            <a:avLst/>
          </a:prstGeom>
          <a:solidFill>
            <a:srgbClr val="E3B857">
              <a:alpha val="65000"/>
            </a:srgbClr>
          </a:solidFill>
          <a:ln/>
        </p:spPr>
      </p:sp>
      <p:sp>
        <p:nvSpPr>
          <p:cNvPr id="10" name="Shape 8"/>
          <p:cNvSpPr/>
          <p:nvPr/>
        </p:nvSpPr>
        <p:spPr>
          <a:xfrm>
            <a:off x="11521440" y="5486400"/>
            <a:ext cx="45720" cy="45720"/>
          </a:xfrm>
          <a:prstGeom prst="ellipse">
            <a:avLst/>
          </a:prstGeom>
          <a:solidFill>
            <a:srgbClr val="E3B857">
              <a:alpha val="65000"/>
            </a:srgbClr>
          </a:solidFill>
          <a:ln/>
        </p:spPr>
      </p:sp>
      <p:sp>
        <p:nvSpPr>
          <p:cNvPr id="11" name="Shape 9"/>
          <p:cNvSpPr/>
          <p:nvPr/>
        </p:nvSpPr>
        <p:spPr>
          <a:xfrm>
            <a:off x="10698480" y="4206240"/>
            <a:ext cx="91440" cy="91440"/>
          </a:xfrm>
          <a:prstGeom prst="ellipse">
            <a:avLst/>
          </a:prstGeom>
          <a:solidFill>
            <a:srgbClr val="E3B857">
              <a:alpha val="65000"/>
            </a:srgbClr>
          </a:solidFill>
          <a:ln/>
        </p:spPr>
      </p:sp>
      <p:sp>
        <p:nvSpPr>
          <p:cNvPr id="12" name="Shape 10"/>
          <p:cNvSpPr/>
          <p:nvPr/>
        </p:nvSpPr>
        <p:spPr>
          <a:xfrm>
            <a:off x="6035040" y="640080"/>
            <a:ext cx="45720" cy="45720"/>
          </a:xfrm>
          <a:prstGeom prst="ellipse">
            <a:avLst/>
          </a:prstGeom>
          <a:solidFill>
            <a:srgbClr val="E3B857">
              <a:alpha val="65000"/>
            </a:srgbClr>
          </a:solidFill>
          <a:ln/>
        </p:spPr>
      </p:sp>
      <p:sp>
        <p:nvSpPr>
          <p:cNvPr id="13" name="Shape 11"/>
          <p:cNvSpPr/>
          <p:nvPr/>
        </p:nvSpPr>
        <p:spPr>
          <a:xfrm>
            <a:off x="7132320" y="6126480"/>
            <a:ext cx="54864" cy="54864"/>
          </a:xfrm>
          <a:prstGeom prst="ellipse">
            <a:avLst/>
          </a:prstGeom>
          <a:solidFill>
            <a:srgbClr val="E3B857">
              <a:alpha val="65000"/>
            </a:srgbClr>
          </a:solidFill>
          <a:ln/>
        </p:spPr>
      </p:sp>
      <p:sp>
        <p:nvSpPr>
          <p:cNvPr id="14" name="Shape 12"/>
          <p:cNvSpPr/>
          <p:nvPr/>
        </p:nvSpPr>
        <p:spPr>
          <a:xfrm>
            <a:off x="8503920" y="822960"/>
            <a:ext cx="64008" cy="64008"/>
          </a:xfrm>
          <a:prstGeom prst="ellipse">
            <a:avLst/>
          </a:prstGeom>
          <a:solidFill>
            <a:srgbClr val="E3B857">
              <a:alpha val="65000"/>
            </a:srgbClr>
          </a:solidFill>
          <a:ln/>
        </p:spPr>
      </p:sp>
      <p:sp>
        <p:nvSpPr>
          <p:cNvPr id="15" name="Shape 13"/>
          <p:cNvSpPr/>
          <p:nvPr/>
        </p:nvSpPr>
        <p:spPr>
          <a:xfrm>
            <a:off x="4663440" y="6309360"/>
            <a:ext cx="45720" cy="45720"/>
          </a:xfrm>
          <a:prstGeom prst="ellipse">
            <a:avLst/>
          </a:prstGeom>
          <a:solidFill>
            <a:srgbClr val="E3B857">
              <a:alpha val="65000"/>
            </a:srgbClr>
          </a:solidFill>
          <a:ln/>
        </p:spPr>
      </p:sp>
      <p:sp>
        <p:nvSpPr>
          <p:cNvPr id="16" name="Text 14"/>
          <p:cNvSpPr/>
          <p:nvPr/>
        </p:nvSpPr>
        <p:spPr>
          <a:xfrm>
            <a:off x="822960" y="2286000"/>
            <a:ext cx="5486400" cy="365760"/>
          </a:xfrm>
          <a:prstGeom prst="rect">
            <a:avLst/>
          </a:prstGeom>
          <a:noFill/>
          <a:ln/>
        </p:spPr>
        <p:txBody>
          <a:bodyPr wrap="square" rtlCol="0" anchor="ctr"/>
          <a:lstStyle/>
          <a:p>
            <a:pPr indent="0" marL="0">
              <a:buNone/>
            </a:pPr>
            <a:r>
              <a:rPr lang="en-US" sz="1400" b="1" spc="500" kern="0" dirty="0">
                <a:solidFill>
                  <a:srgbClr val="E3B857"/>
                </a:solidFill>
                <a:latin typeface="Calibri" pitchFamily="34" charset="0"/>
                <a:ea typeface="Calibri" pitchFamily="34" charset="-122"/>
                <a:cs typeface="Calibri" pitchFamily="34" charset="-120"/>
              </a:rPr>
              <a:t>PART I</a:t>
            </a:r>
            <a:endParaRPr lang="en-US" sz="1400" dirty="0"/>
          </a:p>
        </p:txBody>
      </p:sp>
      <p:sp>
        <p:nvSpPr>
          <p:cNvPr id="17" name="Text 15"/>
          <p:cNvSpPr/>
          <p:nvPr/>
        </p:nvSpPr>
        <p:spPr>
          <a:xfrm>
            <a:off x="804672" y="2697480"/>
            <a:ext cx="10424160" cy="1280160"/>
          </a:xfrm>
          <a:prstGeom prst="rect">
            <a:avLst/>
          </a:prstGeom>
          <a:noFill/>
          <a:ln/>
        </p:spPr>
        <p:txBody>
          <a:bodyPr wrap="square" rtlCol="0" anchor="ctr"/>
          <a:lstStyle/>
          <a:p>
            <a:pPr indent="0" marL="0">
              <a:lnSpc>
                <a:spcPct val="98000"/>
              </a:lnSpc>
              <a:buNone/>
            </a:pPr>
            <a:r>
              <a:rPr lang="en-US" sz="4000" b="1" dirty="0">
                <a:solidFill>
                  <a:srgbClr val="F2EEE3"/>
                </a:solidFill>
                <a:latin typeface="Cambria" pitchFamily="34" charset="0"/>
                <a:ea typeface="Cambria" pitchFamily="34" charset="-122"/>
                <a:cs typeface="Cambria" pitchFamily="34" charset="-120"/>
              </a:rPr>
              <a:t>The picture before the formalism</a:t>
            </a:r>
            <a:endParaRPr lang="en-US" sz="4000" dirty="0"/>
          </a:p>
        </p:txBody>
      </p:sp>
      <p:sp>
        <p:nvSpPr>
          <p:cNvPr id="18" name="Shape 16"/>
          <p:cNvSpPr/>
          <p:nvPr/>
        </p:nvSpPr>
        <p:spPr>
          <a:xfrm>
            <a:off x="841248" y="3977640"/>
            <a:ext cx="2377440" cy="0"/>
          </a:xfrm>
          <a:prstGeom prst="line">
            <a:avLst/>
          </a:prstGeom>
          <a:noFill/>
          <a:ln w="19050">
            <a:solidFill>
              <a:srgbClr val="E3B857"/>
            </a:solidFill>
            <a:prstDash val="solid"/>
          </a:ln>
        </p:spPr>
      </p:sp>
      <p:sp>
        <p:nvSpPr>
          <p:cNvPr id="19" name="Text 17"/>
          <p:cNvSpPr/>
          <p:nvPr/>
        </p:nvSpPr>
        <p:spPr>
          <a:xfrm>
            <a:off x="822960" y="4160520"/>
            <a:ext cx="9692640" cy="822960"/>
          </a:xfrm>
          <a:prstGeom prst="rect">
            <a:avLst/>
          </a:prstGeom>
          <a:noFill/>
          <a:ln/>
        </p:spPr>
        <p:txBody>
          <a:bodyPr wrap="square" rtlCol="0" anchor="ctr"/>
          <a:lstStyle/>
          <a:p>
            <a:pPr indent="0" marL="0">
              <a:lnSpc>
                <a:spcPct val="105000"/>
              </a:lnSpc>
              <a:buNone/>
            </a:pPr>
            <a:r>
              <a:rPr lang="en-US" sz="1500" dirty="0">
                <a:solidFill>
                  <a:srgbClr val="A7ACD0"/>
                </a:solidFill>
                <a:latin typeface="Calibri" pitchFamily="34" charset="0"/>
                <a:ea typeface="Calibri" pitchFamily="34" charset="-122"/>
                <a:cs typeface="Calibri" pitchFamily="34" charset="-120"/>
              </a:rPr>
              <a:t>One schema across four orders; the whole move in four steps; a worked example; and the discipline that keeps the reconstruction from overclaiming.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 · THE REFRAME</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One schema, asserted across the orders</a:t>
            </a:r>
            <a:endParaRPr lang="en-US" sz="2900" dirty="0"/>
          </a:p>
        </p:txBody>
      </p:sp>
      <p:sp>
        <p:nvSpPr>
          <p:cNvPr id="4" name="Text 2"/>
          <p:cNvSpPr/>
          <p:nvPr/>
        </p:nvSpPr>
        <p:spPr>
          <a:xfrm>
            <a:off x="548640" y="1554480"/>
            <a:ext cx="11091672" cy="914400"/>
          </a:xfrm>
          <a:prstGeom prst="rect">
            <a:avLst/>
          </a:prstGeom>
          <a:noFill/>
          <a:ln/>
        </p:spPr>
        <p:txBody>
          <a:bodyPr wrap="square" rtlCol="0" anchor="t"/>
          <a:lstStyle/>
          <a:p>
            <a:pPr indent="0" marL="0">
              <a:lnSpc>
                <a:spcPct val="105000"/>
              </a:lnSpc>
              <a:buNone/>
            </a:pPr>
            <a:r>
              <a:rPr lang="en-US" sz="1550" dirty="0">
                <a:solidFill>
                  <a:srgbClr val="202340"/>
                </a:solidFill>
                <a:latin typeface="Calibri" pitchFamily="34" charset="0"/>
                <a:ea typeface="Calibri" pitchFamily="34" charset="-122"/>
                <a:cs typeface="Calibri" pitchFamily="34" charset="-120"/>
              </a:rPr>
              <a:t>The texts state the universality directly. </a:t>
            </a:r>
            <a:pPr indent="0" marL="0">
              <a:lnSpc>
                <a:spcPct val="105000"/>
              </a:lnSpc>
              <a:buNone/>
            </a:pPr>
            <a:r>
              <a:rPr lang="en-US" sz="1550" i="1" dirty="0">
                <a:solidFill>
                  <a:srgbClr val="16183D"/>
                </a:solidFill>
                <a:latin typeface="Calibri" pitchFamily="34" charset="0"/>
                <a:ea typeface="Calibri" pitchFamily="34" charset="-122"/>
                <a:cs typeface="Calibri" pitchFamily="34" charset="-120"/>
              </a:rPr>
              <a:t>“All units saturated in the Omnipresence have form, properties, essential nature &amp; dharma, and inherent orderliness”</a:t>
            </a:r>
            <a:pPr indent="0" marL="0">
              <a:lnSpc>
                <a:spcPct val="105000"/>
              </a:lnSpc>
              <a:buNone/>
            </a:pPr>
            <a:r>
              <a:rPr lang="en-US" sz="1550" dirty="0">
                <a:solidFill>
                  <a:srgbClr val="202340"/>
                </a:solidFill>
                <a:latin typeface="Calibri" pitchFamily="34" charset="0"/>
                <a:ea typeface="Calibri" pitchFamily="34" charset="-122"/>
                <a:cs typeface="Calibri" pitchFamily="34" charset="-120"/>
              </a:rPr>
              <a:t>  (MVD p. 11). The task is therefore </a:t>
            </a:r>
            <a:pPr indent="0" marL="0">
              <a:lnSpc>
                <a:spcPct val="105000"/>
              </a:lnSpc>
              <a:buNone/>
            </a:pPr>
            <a:r>
              <a:rPr lang="en-US" sz="1550" b="1" dirty="0">
                <a:solidFill>
                  <a:srgbClr val="B8842B"/>
                </a:solidFill>
                <a:latin typeface="Calibri" pitchFamily="34" charset="0"/>
                <a:ea typeface="Calibri" pitchFamily="34" charset="-122"/>
                <a:cs typeface="Calibri" pitchFamily="34" charset="-120"/>
              </a:rPr>
              <a:t>articulation</a:t>
            </a:r>
            <a:pPr indent="0" marL="0">
              <a:lnSpc>
                <a:spcPct val="105000"/>
              </a:lnSpc>
              <a:buNone/>
            </a:pPr>
            <a:r>
              <a:rPr lang="en-US" sz="1550" dirty="0">
                <a:solidFill>
                  <a:srgbClr val="202340"/>
                </a:solidFill>
                <a:latin typeface="Calibri" pitchFamily="34" charset="0"/>
                <a:ea typeface="Calibri" pitchFamily="34" charset="-122"/>
                <a:cs typeface="Calibri" pitchFamily="34" charset="-120"/>
              </a:rPr>
              <a:t> — one structure for what is asserted piecewise.</a:t>
            </a:r>
            <a:endParaRPr lang="en-US" sz="1550" dirty="0"/>
          </a:p>
        </p:txBody>
      </p:sp>
      <p:sp>
        <p:nvSpPr>
          <p:cNvPr id="5" name="Shape 3"/>
          <p:cNvSpPr/>
          <p:nvPr/>
        </p:nvSpPr>
        <p:spPr>
          <a:xfrm>
            <a:off x="548640" y="2697480"/>
            <a:ext cx="7680960" cy="841248"/>
          </a:xfrm>
          <a:prstGeom prst="roundRect">
            <a:avLst>
              <a:gd name="adj" fmla="val 5435"/>
            </a:avLst>
          </a:prstGeom>
          <a:solidFill>
            <a:srgbClr val="F5F6FB"/>
          </a:solidFill>
          <a:ln w="12700">
            <a:solidFill>
              <a:srgbClr val="E1E3EF"/>
            </a:solidFill>
            <a:prstDash val="solid"/>
          </a:ln>
        </p:spPr>
      </p:sp>
      <p:sp>
        <p:nvSpPr>
          <p:cNvPr id="6" name="Text 4"/>
          <p:cNvSpPr/>
          <p:nvPr/>
        </p:nvSpPr>
        <p:spPr>
          <a:xfrm>
            <a:off x="777240" y="2807208"/>
            <a:ext cx="2468880" cy="640080"/>
          </a:xfrm>
          <a:prstGeom prst="rect">
            <a:avLst/>
          </a:prstGeom>
          <a:noFill/>
          <a:ln/>
        </p:spPr>
        <p:txBody>
          <a:bodyPr wrap="square" rtlCol="0" anchor="ctr"/>
          <a:lstStyle/>
          <a:p>
            <a:pPr indent="0" marL="0">
              <a:buNone/>
            </a:pPr>
            <a:r>
              <a:rPr lang="en-US" sz="1500" b="1" dirty="0">
                <a:solidFill>
                  <a:srgbClr val="16183D"/>
                </a:solidFill>
                <a:latin typeface="Cambria" pitchFamily="34" charset="0"/>
                <a:ea typeface="Cambria" pitchFamily="34" charset="-122"/>
                <a:cs typeface="Cambria" pitchFamily="34" charset="-120"/>
              </a:rPr>
              <a:t>Atoms &amp; molecules</a:t>
            </a:r>
            <a:endParaRPr lang="en-US" sz="1500" dirty="0"/>
          </a:p>
        </p:txBody>
      </p:sp>
      <p:sp>
        <p:nvSpPr>
          <p:cNvPr id="7" name="Text 5"/>
          <p:cNvSpPr/>
          <p:nvPr/>
        </p:nvSpPr>
        <p:spPr>
          <a:xfrm>
            <a:off x="3246120" y="2807208"/>
            <a:ext cx="3840480" cy="640080"/>
          </a:xfrm>
          <a:prstGeom prst="rect">
            <a:avLst/>
          </a:prstGeom>
          <a:noFill/>
          <a:ln/>
        </p:spPr>
        <p:txBody>
          <a:bodyPr wrap="square" rtlCol="0" anchor="ctr"/>
          <a:lstStyle/>
          <a:p>
            <a:pPr indent="0" marL="0">
              <a:buNone/>
            </a:pPr>
            <a:r>
              <a:rPr lang="en-US" sz="1300" dirty="0">
                <a:solidFill>
                  <a:srgbClr val="202340"/>
                </a:solidFill>
                <a:latin typeface="Calibri" pitchFamily="34" charset="0"/>
                <a:ea typeface="Calibri" pitchFamily="34" charset="-122"/>
                <a:cs typeface="Calibri" pitchFamily="34" charset="-120"/>
              </a:rPr>
              <a:t>hungry / overfull atoms bond into molecules</a:t>
            </a:r>
            <a:endParaRPr lang="en-US" sz="1300" dirty="0"/>
          </a:p>
        </p:txBody>
      </p:sp>
      <p:sp>
        <p:nvSpPr>
          <p:cNvPr id="8" name="Text 6"/>
          <p:cNvSpPr/>
          <p:nvPr/>
        </p:nvSpPr>
        <p:spPr>
          <a:xfrm>
            <a:off x="7086600" y="2807208"/>
            <a:ext cx="1005840" cy="640080"/>
          </a:xfrm>
          <a:prstGeom prst="rect">
            <a:avLst/>
          </a:prstGeom>
          <a:noFill/>
          <a:ln/>
        </p:spPr>
        <p:txBody>
          <a:bodyPr wrap="square" rtlCol="0" anchor="ctr"/>
          <a:lstStyle/>
          <a:p>
            <a:pPr algn="r" indent="0" marL="0">
              <a:buNone/>
            </a:pPr>
            <a:r>
              <a:rPr lang="en-US" sz="900" dirty="0">
                <a:solidFill>
                  <a:srgbClr val="6A6E93"/>
                </a:solidFill>
                <a:latin typeface="Courier New" pitchFamily="34" charset="0"/>
                <a:ea typeface="Courier New" pitchFamily="34" charset="-122"/>
                <a:cs typeface="Courier New" pitchFamily="34" charset="-120"/>
              </a:rPr>
              <a:t>MVD p. 8, 42</a:t>
            </a:r>
            <a:endParaRPr lang="en-US" sz="900" dirty="0"/>
          </a:p>
        </p:txBody>
      </p:sp>
      <p:sp>
        <p:nvSpPr>
          <p:cNvPr id="9" name="Shape 7"/>
          <p:cNvSpPr/>
          <p:nvPr/>
        </p:nvSpPr>
        <p:spPr>
          <a:xfrm>
            <a:off x="548640" y="3648456"/>
            <a:ext cx="7680960" cy="841248"/>
          </a:xfrm>
          <a:prstGeom prst="roundRect">
            <a:avLst>
              <a:gd name="adj" fmla="val 5435"/>
            </a:avLst>
          </a:prstGeom>
          <a:solidFill>
            <a:srgbClr val="F5F6FB"/>
          </a:solidFill>
          <a:ln w="12700">
            <a:solidFill>
              <a:srgbClr val="E1E3EF"/>
            </a:solidFill>
            <a:prstDash val="solid"/>
          </a:ln>
        </p:spPr>
      </p:sp>
      <p:sp>
        <p:nvSpPr>
          <p:cNvPr id="10" name="Text 8"/>
          <p:cNvSpPr/>
          <p:nvPr/>
        </p:nvSpPr>
        <p:spPr>
          <a:xfrm>
            <a:off x="777240" y="3758184"/>
            <a:ext cx="2468880" cy="640080"/>
          </a:xfrm>
          <a:prstGeom prst="rect">
            <a:avLst/>
          </a:prstGeom>
          <a:noFill/>
          <a:ln/>
        </p:spPr>
        <p:txBody>
          <a:bodyPr wrap="square" rtlCol="0" anchor="ctr"/>
          <a:lstStyle/>
          <a:p>
            <a:pPr indent="0" marL="0">
              <a:buNone/>
            </a:pPr>
            <a:r>
              <a:rPr lang="en-US" sz="1500" b="1" dirty="0">
                <a:solidFill>
                  <a:srgbClr val="16183D"/>
                </a:solidFill>
                <a:latin typeface="Cambria" pitchFamily="34" charset="0"/>
                <a:ea typeface="Cambria" pitchFamily="34" charset="-122"/>
                <a:cs typeface="Cambria" pitchFamily="34" charset="-120"/>
              </a:rPr>
              <a:t>Cells &amp; organisms</a:t>
            </a:r>
            <a:endParaRPr lang="en-US" sz="1500" dirty="0"/>
          </a:p>
        </p:txBody>
      </p:sp>
      <p:sp>
        <p:nvSpPr>
          <p:cNvPr id="11" name="Text 9"/>
          <p:cNvSpPr/>
          <p:nvPr/>
        </p:nvSpPr>
        <p:spPr>
          <a:xfrm>
            <a:off x="3246120" y="3758184"/>
            <a:ext cx="3840480" cy="640080"/>
          </a:xfrm>
          <a:prstGeom prst="rect">
            <a:avLst/>
          </a:prstGeom>
          <a:noFill/>
          <a:ln/>
        </p:spPr>
        <p:txBody>
          <a:bodyPr wrap="square" rtlCol="0" anchor="ctr"/>
          <a:lstStyle/>
          <a:p>
            <a:pPr indent="0" marL="0">
              <a:buNone/>
            </a:pPr>
            <a:r>
              <a:rPr lang="en-US" sz="1300" dirty="0">
                <a:solidFill>
                  <a:srgbClr val="202340"/>
                </a:solidFill>
                <a:latin typeface="Calibri" pitchFamily="34" charset="0"/>
                <a:ea typeface="Calibri" pitchFamily="34" charset="-122"/>
                <a:cs typeface="Calibri" pitchFamily="34" charset="-120"/>
              </a:rPr>
              <a:t>cells compose into living bodies</a:t>
            </a:r>
            <a:endParaRPr lang="en-US" sz="1300" dirty="0"/>
          </a:p>
        </p:txBody>
      </p:sp>
      <p:sp>
        <p:nvSpPr>
          <p:cNvPr id="12" name="Text 10"/>
          <p:cNvSpPr/>
          <p:nvPr/>
        </p:nvSpPr>
        <p:spPr>
          <a:xfrm>
            <a:off x="7086600" y="3758184"/>
            <a:ext cx="1005840" cy="640080"/>
          </a:xfrm>
          <a:prstGeom prst="rect">
            <a:avLst/>
          </a:prstGeom>
          <a:noFill/>
          <a:ln/>
        </p:spPr>
        <p:txBody>
          <a:bodyPr wrap="square" rtlCol="0" anchor="ctr"/>
          <a:lstStyle/>
          <a:p>
            <a:pPr algn="r" indent="0" marL="0">
              <a:buNone/>
            </a:pPr>
            <a:r>
              <a:rPr lang="en-US" sz="900" dirty="0">
                <a:solidFill>
                  <a:srgbClr val="6A6E93"/>
                </a:solidFill>
                <a:latin typeface="Courier New" pitchFamily="34" charset="0"/>
                <a:ea typeface="Courier New" pitchFamily="34" charset="-122"/>
                <a:cs typeface="Courier New" pitchFamily="34" charset="-120"/>
              </a:rPr>
              <a:t>JV p. 82; SB p. 16</a:t>
            </a:r>
            <a:endParaRPr lang="en-US" sz="900" dirty="0"/>
          </a:p>
        </p:txBody>
      </p:sp>
      <p:sp>
        <p:nvSpPr>
          <p:cNvPr id="13" name="Shape 11"/>
          <p:cNvSpPr/>
          <p:nvPr/>
        </p:nvSpPr>
        <p:spPr>
          <a:xfrm>
            <a:off x="548640" y="4599432"/>
            <a:ext cx="7680960" cy="841248"/>
          </a:xfrm>
          <a:prstGeom prst="roundRect">
            <a:avLst>
              <a:gd name="adj" fmla="val 5435"/>
            </a:avLst>
          </a:prstGeom>
          <a:solidFill>
            <a:srgbClr val="F5F6FB"/>
          </a:solidFill>
          <a:ln w="12700">
            <a:solidFill>
              <a:srgbClr val="E1E3EF"/>
            </a:solidFill>
            <a:prstDash val="solid"/>
          </a:ln>
        </p:spPr>
      </p:sp>
      <p:sp>
        <p:nvSpPr>
          <p:cNvPr id="14" name="Text 12"/>
          <p:cNvSpPr/>
          <p:nvPr/>
        </p:nvSpPr>
        <p:spPr>
          <a:xfrm>
            <a:off x="777240" y="4709160"/>
            <a:ext cx="2468880" cy="640080"/>
          </a:xfrm>
          <a:prstGeom prst="rect">
            <a:avLst/>
          </a:prstGeom>
          <a:noFill/>
          <a:ln/>
        </p:spPr>
        <p:txBody>
          <a:bodyPr wrap="square" rtlCol="0" anchor="ctr"/>
          <a:lstStyle/>
          <a:p>
            <a:pPr indent="0" marL="0">
              <a:buNone/>
            </a:pPr>
            <a:r>
              <a:rPr lang="en-US" sz="1500" b="1" dirty="0">
                <a:solidFill>
                  <a:srgbClr val="16183D"/>
                </a:solidFill>
                <a:latin typeface="Cambria" pitchFamily="34" charset="0"/>
                <a:ea typeface="Cambria" pitchFamily="34" charset="-122"/>
                <a:cs typeface="Cambria" pitchFamily="34" charset="-120"/>
              </a:rPr>
              <a:t>Human collectives</a:t>
            </a:r>
            <a:endParaRPr lang="en-US" sz="1500" dirty="0"/>
          </a:p>
        </p:txBody>
      </p:sp>
      <p:sp>
        <p:nvSpPr>
          <p:cNvPr id="15" name="Text 13"/>
          <p:cNvSpPr/>
          <p:nvPr/>
        </p:nvSpPr>
        <p:spPr>
          <a:xfrm>
            <a:off x="3246120" y="4709160"/>
            <a:ext cx="3840480" cy="640080"/>
          </a:xfrm>
          <a:prstGeom prst="rect">
            <a:avLst/>
          </a:prstGeom>
          <a:noFill/>
          <a:ln/>
        </p:spPr>
        <p:txBody>
          <a:bodyPr wrap="square" rtlCol="0" anchor="ctr"/>
          <a:lstStyle/>
          <a:p>
            <a:pPr indent="0" marL="0">
              <a:buNone/>
            </a:pPr>
            <a:r>
              <a:rPr lang="en-US" sz="1300" dirty="0">
                <a:solidFill>
                  <a:srgbClr val="202340"/>
                </a:solidFill>
                <a:latin typeface="Calibri" pitchFamily="34" charset="0"/>
                <a:ea typeface="Calibri" pitchFamily="34" charset="-122"/>
                <a:cs typeface="Calibri" pitchFamily="34" charset="-120"/>
              </a:rPr>
              <a:t>individuals organize into families, undivided society</a:t>
            </a:r>
            <a:endParaRPr lang="en-US" sz="1300" dirty="0"/>
          </a:p>
        </p:txBody>
      </p:sp>
      <p:sp>
        <p:nvSpPr>
          <p:cNvPr id="16" name="Text 14"/>
          <p:cNvSpPr/>
          <p:nvPr/>
        </p:nvSpPr>
        <p:spPr>
          <a:xfrm>
            <a:off x="7086600" y="4709160"/>
            <a:ext cx="1005840" cy="640080"/>
          </a:xfrm>
          <a:prstGeom prst="rect">
            <a:avLst/>
          </a:prstGeom>
          <a:noFill/>
          <a:ln/>
        </p:spPr>
        <p:txBody>
          <a:bodyPr wrap="square" rtlCol="0" anchor="ctr"/>
          <a:lstStyle/>
          <a:p>
            <a:pPr algn="r" indent="0" marL="0">
              <a:buNone/>
            </a:pPr>
            <a:r>
              <a:rPr lang="en-US" sz="900" dirty="0">
                <a:solidFill>
                  <a:srgbClr val="6A6E93"/>
                </a:solidFill>
                <a:latin typeface="Courier New" pitchFamily="34" charset="0"/>
                <a:ea typeface="Courier New" pitchFamily="34" charset="-122"/>
                <a:cs typeface="Courier New" pitchFamily="34" charset="-120"/>
              </a:rPr>
              <a:t>MVD p. 55, 161</a:t>
            </a:r>
            <a:endParaRPr lang="en-US" sz="900" dirty="0"/>
          </a:p>
        </p:txBody>
      </p:sp>
      <p:sp>
        <p:nvSpPr>
          <p:cNvPr id="17" name="Shape 15"/>
          <p:cNvSpPr/>
          <p:nvPr/>
        </p:nvSpPr>
        <p:spPr>
          <a:xfrm>
            <a:off x="8503920" y="2697480"/>
            <a:ext cx="3136392" cy="2852928"/>
          </a:xfrm>
          <a:prstGeom prst="roundRect">
            <a:avLst>
              <a:gd name="adj" fmla="val 1923"/>
            </a:avLst>
          </a:prstGeom>
          <a:solidFill>
            <a:srgbClr val="16183D"/>
          </a:solidFill>
          <a:ln/>
        </p:spPr>
      </p:sp>
      <p:sp>
        <p:nvSpPr>
          <p:cNvPr id="18" name="Text 16"/>
          <p:cNvSpPr/>
          <p:nvPr/>
        </p:nvSpPr>
        <p:spPr>
          <a:xfrm>
            <a:off x="8732520" y="2880360"/>
            <a:ext cx="2697480" cy="365760"/>
          </a:xfrm>
          <a:prstGeom prst="rect">
            <a:avLst/>
          </a:prstGeom>
          <a:noFill/>
          <a:ln/>
        </p:spPr>
        <p:txBody>
          <a:bodyPr wrap="square" rtlCol="0" anchor="ctr"/>
          <a:lstStyle/>
          <a:p>
            <a:pPr indent="0" marL="0">
              <a:buNone/>
            </a:pPr>
            <a:r>
              <a:rPr lang="en-US" sz="1600" b="1" dirty="0">
                <a:solidFill>
                  <a:srgbClr val="E3B857"/>
                </a:solidFill>
                <a:latin typeface="Cambria" pitchFamily="34" charset="0"/>
                <a:ea typeface="Cambria" pitchFamily="34" charset="-122"/>
                <a:cs typeface="Cambria" pitchFamily="34" charset="-120"/>
              </a:rPr>
              <a:t>The direction matters</a:t>
            </a:r>
            <a:endParaRPr lang="en-US" sz="1600" dirty="0"/>
          </a:p>
        </p:txBody>
      </p:sp>
      <p:sp>
        <p:nvSpPr>
          <p:cNvPr id="19" name="Text 17"/>
          <p:cNvSpPr/>
          <p:nvPr/>
        </p:nvSpPr>
        <p:spPr>
          <a:xfrm>
            <a:off x="8732520" y="3310128"/>
            <a:ext cx="2697480" cy="457200"/>
          </a:xfrm>
          <a:prstGeom prst="rect">
            <a:avLst/>
          </a:prstGeom>
          <a:noFill/>
          <a:ln/>
        </p:spPr>
        <p:txBody>
          <a:bodyPr wrap="square" rtlCol="0" anchor="t"/>
          <a:lstStyle/>
          <a:p>
            <a:pPr indent="0" marL="0">
              <a:buNone/>
            </a:pPr>
            <a:r>
              <a:rPr lang="en-US" sz="1350" dirty="0">
                <a:solidFill>
                  <a:srgbClr val="A7ACD0"/>
                </a:solidFill>
                <a:latin typeface="Calibri" pitchFamily="34" charset="0"/>
                <a:ea typeface="Calibri" pitchFamily="34" charset="-122"/>
                <a:cs typeface="Calibri" pitchFamily="34" charset="-120"/>
              </a:rPr>
              <a:t>Not </a:t>
            </a:r>
            <a:pPr indent="0" marL="0">
              <a:buNone/>
            </a:pPr>
            <a:r>
              <a:rPr lang="en-US" sz="1350" i="1" dirty="0">
                <a:solidFill>
                  <a:srgbClr val="F2EEE3"/>
                </a:solidFill>
                <a:latin typeface="Calibri" pitchFamily="34" charset="0"/>
                <a:ea typeface="Calibri" pitchFamily="34" charset="-122"/>
                <a:cs typeface="Calibri" pitchFamily="34" charset="-120"/>
              </a:rPr>
              <a:t>“humans are like atoms.”</a:t>
            </a:r>
            <a:endParaRPr lang="en-US" sz="1350" dirty="0"/>
          </a:p>
        </p:txBody>
      </p:sp>
      <p:sp>
        <p:nvSpPr>
          <p:cNvPr id="20" name="Text 18"/>
          <p:cNvSpPr/>
          <p:nvPr/>
        </p:nvSpPr>
        <p:spPr>
          <a:xfrm>
            <a:off x="8732520" y="3840480"/>
            <a:ext cx="2697480" cy="1097280"/>
          </a:xfrm>
          <a:prstGeom prst="rect">
            <a:avLst/>
          </a:prstGeom>
          <a:noFill/>
          <a:ln/>
        </p:spPr>
        <p:txBody>
          <a:bodyPr wrap="square" rtlCol="0" anchor="t"/>
          <a:lstStyle/>
          <a:p>
            <a:pPr indent="0" marL="0">
              <a:lnSpc>
                <a:spcPct val="105000"/>
              </a:lnSpc>
              <a:buNone/>
            </a:pPr>
            <a:r>
              <a:rPr lang="en-US" sz="1350" dirty="0">
                <a:solidFill>
                  <a:srgbClr val="A7ACD0"/>
                </a:solidFill>
                <a:latin typeface="Calibri" pitchFamily="34" charset="0"/>
                <a:ea typeface="Calibri" pitchFamily="34" charset="-122"/>
                <a:cs typeface="Calibri" pitchFamily="34" charset="-120"/>
              </a:rPr>
              <a:t>The universal structure is asserted </a:t>
            </a:r>
            <a:pPr indent="0" marL="0">
              <a:lnSpc>
                <a:spcPct val="105000"/>
              </a:lnSpc>
              <a:buNone/>
            </a:pPr>
            <a:r>
              <a:rPr lang="en-US" sz="1350" b="1" dirty="0">
                <a:solidFill>
                  <a:srgbClr val="E3B857"/>
                </a:solidFill>
                <a:latin typeface="Calibri" pitchFamily="34" charset="0"/>
                <a:ea typeface="Calibri" pitchFamily="34" charset="-122"/>
                <a:cs typeface="Calibri" pitchFamily="34" charset="-120"/>
              </a:rPr>
              <a:t>first</a:t>
            </a:r>
            <a:pPr indent="0" marL="0">
              <a:lnSpc>
                <a:spcPct val="105000"/>
              </a:lnSpc>
              <a:buNone/>
            </a:pPr>
            <a:r>
              <a:rPr lang="en-US" sz="1350" dirty="0">
                <a:solidFill>
                  <a:srgbClr val="A7ACD0"/>
                </a:solidFill>
                <a:latin typeface="Calibri" pitchFamily="34" charset="0"/>
                <a:ea typeface="Calibri" pitchFamily="34" charset="-122"/>
                <a:cs typeface="Calibri" pitchFamily="34" charset="-120"/>
              </a:rPr>
              <a:t>; the human being is its most demanding instance.</a:t>
            </a:r>
            <a:endParaRPr lang="en-US" sz="1350" dirty="0"/>
          </a:p>
        </p:txBody>
      </p:sp>
      <p:sp>
        <p:nvSpPr>
          <p:cNvPr id="21" name="Text 19"/>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05</a:t>
            </a:r>
            <a:endParaRPr lang="en-US" sz="900" dirty="0"/>
          </a:p>
        </p:txBody>
      </p:sp>
      <p:sp>
        <p:nvSpPr>
          <p:cNvPr id="22" name="Text 20"/>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One schema across the orders</a:t>
            </a:r>
            <a:endParaRPr lang="en-US" sz="900" dirty="0"/>
          </a:p>
        </p:txBody>
      </p:sp>
      <p:sp>
        <p:nvSpPr>
          <p:cNvPr id="23" name="Text 21"/>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 · THE WHOLE THING IN MINIATURE</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Ground, couple, close, and turn reflexive</a:t>
            </a:r>
            <a:endParaRPr lang="en-US" sz="2900" dirty="0"/>
          </a:p>
        </p:txBody>
      </p:sp>
      <p:sp>
        <p:nvSpPr>
          <p:cNvPr id="4" name="Shape 2"/>
          <p:cNvSpPr/>
          <p:nvPr/>
        </p:nvSpPr>
        <p:spPr>
          <a:xfrm>
            <a:off x="548640" y="1691640"/>
            <a:ext cx="2670048" cy="3703320"/>
          </a:xfrm>
          <a:prstGeom prst="roundRect">
            <a:avLst>
              <a:gd name="adj" fmla="val 2055"/>
            </a:avLst>
          </a:prstGeom>
          <a:solidFill>
            <a:srgbClr val="FFFFFF"/>
          </a:solidFill>
          <a:ln w="12700">
            <a:solidFill>
              <a:srgbClr val="E1E3EF"/>
            </a:solidFill>
            <a:prstDash val="solid"/>
          </a:ln>
        </p:spPr>
      </p:sp>
      <p:sp>
        <p:nvSpPr>
          <p:cNvPr id="5" name="Shape 3"/>
          <p:cNvSpPr/>
          <p:nvPr/>
        </p:nvSpPr>
        <p:spPr>
          <a:xfrm>
            <a:off x="804672" y="1938528"/>
            <a:ext cx="384048" cy="384048"/>
          </a:xfrm>
          <a:prstGeom prst="ellipse">
            <a:avLst/>
          </a:prstGeom>
          <a:solidFill>
            <a:srgbClr val="3E7C8C"/>
          </a:solidFill>
          <a:ln/>
        </p:spPr>
      </p:sp>
      <p:sp>
        <p:nvSpPr>
          <p:cNvPr id="6" name="Text 4"/>
          <p:cNvSpPr/>
          <p:nvPr/>
        </p:nvSpPr>
        <p:spPr>
          <a:xfrm>
            <a:off x="804672" y="1938528"/>
            <a:ext cx="384048" cy="38404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325880" y="1947672"/>
            <a:ext cx="1755648" cy="457200"/>
          </a:xfrm>
          <a:prstGeom prst="rect">
            <a:avLst/>
          </a:prstGeom>
          <a:noFill/>
          <a:ln/>
        </p:spPr>
        <p:txBody>
          <a:bodyPr wrap="square" rtlCol="0" anchor="ctr"/>
          <a:lstStyle/>
          <a:p>
            <a:pPr indent="0" marL="0">
              <a:buNone/>
            </a:pPr>
            <a:r>
              <a:rPr lang="en-US" sz="1700" b="1" dirty="0">
                <a:solidFill>
                  <a:srgbClr val="16183D"/>
                </a:solidFill>
                <a:latin typeface="Cambria" pitchFamily="34" charset="0"/>
                <a:ea typeface="Cambria" pitchFamily="34" charset="-122"/>
                <a:cs typeface="Cambria" pitchFamily="34" charset="-120"/>
              </a:rPr>
              <a:t>Ground</a:t>
            </a:r>
            <a:endParaRPr lang="en-US" sz="1700" dirty="0"/>
          </a:p>
        </p:txBody>
      </p:sp>
      <p:sp>
        <p:nvSpPr>
          <p:cNvPr id="8" name="Text 6"/>
          <p:cNvSpPr/>
          <p:nvPr/>
        </p:nvSpPr>
        <p:spPr>
          <a:xfrm>
            <a:off x="804672" y="2606040"/>
            <a:ext cx="2194560" cy="2651760"/>
          </a:xfrm>
          <a:prstGeom prst="rect">
            <a:avLst/>
          </a:prstGeom>
          <a:noFill/>
          <a:ln/>
        </p:spPr>
        <p:txBody>
          <a:bodyPr wrap="square" rtlCol="0" anchor="t"/>
          <a:lstStyle/>
          <a:p>
            <a:pPr indent="0" marL="0">
              <a:lnSpc>
                <a:spcPct val="106000"/>
              </a:lnSpc>
              <a:buNone/>
            </a:pPr>
            <a:r>
              <a:rPr lang="en-US" sz="1250" dirty="0">
                <a:solidFill>
                  <a:srgbClr val="202340"/>
                </a:solidFill>
                <a:latin typeface="Calibri" pitchFamily="34" charset="0"/>
                <a:ea typeface="Calibri" pitchFamily="34" charset="-122"/>
                <a:cs typeface="Calibri" pitchFamily="34" charset="-120"/>
              </a:rPr>
              <a:t>One omnipresent, actionless medium (satta) and countless real units. Each is saturated — soaked, submerged, surrounded — and thereby active.</a:t>
            </a:r>
            <a:endParaRPr lang="en-US" sz="1250" dirty="0"/>
          </a:p>
        </p:txBody>
      </p:sp>
      <p:sp>
        <p:nvSpPr>
          <p:cNvPr id="9" name="Shape 7"/>
          <p:cNvSpPr/>
          <p:nvPr/>
        </p:nvSpPr>
        <p:spPr>
          <a:xfrm>
            <a:off x="3223260" y="3246120"/>
            <a:ext cx="128016" cy="457200"/>
          </a:xfrm>
          <a:prstGeom prst="rightArrow">
            <a:avLst/>
          </a:prstGeom>
          <a:solidFill>
            <a:srgbClr val="6A6E93"/>
          </a:solidFill>
          <a:ln/>
        </p:spPr>
      </p:sp>
      <p:sp>
        <p:nvSpPr>
          <p:cNvPr id="10" name="Shape 8"/>
          <p:cNvSpPr/>
          <p:nvPr/>
        </p:nvSpPr>
        <p:spPr>
          <a:xfrm>
            <a:off x="3346704" y="1691640"/>
            <a:ext cx="2670048" cy="3703320"/>
          </a:xfrm>
          <a:prstGeom prst="roundRect">
            <a:avLst>
              <a:gd name="adj" fmla="val 2055"/>
            </a:avLst>
          </a:prstGeom>
          <a:solidFill>
            <a:srgbClr val="FFFFFF"/>
          </a:solidFill>
          <a:ln w="12700">
            <a:solidFill>
              <a:srgbClr val="E1E3EF"/>
            </a:solidFill>
            <a:prstDash val="solid"/>
          </a:ln>
        </p:spPr>
      </p:sp>
      <p:sp>
        <p:nvSpPr>
          <p:cNvPr id="11" name="Shape 9"/>
          <p:cNvSpPr/>
          <p:nvPr/>
        </p:nvSpPr>
        <p:spPr>
          <a:xfrm>
            <a:off x="3602736" y="1938528"/>
            <a:ext cx="384048" cy="384048"/>
          </a:xfrm>
          <a:prstGeom prst="ellipse">
            <a:avLst/>
          </a:prstGeom>
          <a:solidFill>
            <a:srgbClr val="3E7C8C"/>
          </a:solidFill>
          <a:ln/>
        </p:spPr>
      </p:sp>
      <p:sp>
        <p:nvSpPr>
          <p:cNvPr id="12" name="Text 10"/>
          <p:cNvSpPr/>
          <p:nvPr/>
        </p:nvSpPr>
        <p:spPr>
          <a:xfrm>
            <a:off x="3602736" y="1938528"/>
            <a:ext cx="384048" cy="38404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123944" y="1947672"/>
            <a:ext cx="1755648" cy="457200"/>
          </a:xfrm>
          <a:prstGeom prst="rect">
            <a:avLst/>
          </a:prstGeom>
          <a:noFill/>
          <a:ln/>
        </p:spPr>
        <p:txBody>
          <a:bodyPr wrap="square" rtlCol="0" anchor="ctr"/>
          <a:lstStyle/>
          <a:p>
            <a:pPr indent="0" marL="0">
              <a:buNone/>
            </a:pPr>
            <a:r>
              <a:rPr lang="en-US" sz="1700" b="1" dirty="0">
                <a:solidFill>
                  <a:srgbClr val="16183D"/>
                </a:solidFill>
                <a:latin typeface="Cambria" pitchFamily="34" charset="0"/>
                <a:ea typeface="Cambria" pitchFamily="34" charset="-122"/>
                <a:cs typeface="Cambria" pitchFamily="34" charset="-120"/>
              </a:rPr>
              <a:t>Couple</a:t>
            </a:r>
            <a:endParaRPr lang="en-US" sz="1700" dirty="0"/>
          </a:p>
        </p:txBody>
      </p:sp>
      <p:sp>
        <p:nvSpPr>
          <p:cNvPr id="14" name="Text 12"/>
          <p:cNvSpPr/>
          <p:nvPr/>
        </p:nvSpPr>
        <p:spPr>
          <a:xfrm>
            <a:off x="3602736" y="2606040"/>
            <a:ext cx="2194560" cy="2651760"/>
          </a:xfrm>
          <a:prstGeom prst="rect">
            <a:avLst/>
          </a:prstGeom>
          <a:noFill/>
          <a:ln/>
        </p:spPr>
        <p:txBody>
          <a:bodyPr wrap="square" rtlCol="0" anchor="t"/>
          <a:lstStyle/>
          <a:p>
            <a:pPr indent="0" marL="0">
              <a:lnSpc>
                <a:spcPct val="106000"/>
              </a:lnSpc>
              <a:buNone/>
            </a:pPr>
            <a:r>
              <a:rPr lang="en-US" sz="1250" dirty="0">
                <a:solidFill>
                  <a:srgbClr val="202340"/>
                </a:solidFill>
                <a:latin typeface="Calibri" pitchFamily="34" charset="0"/>
                <a:ea typeface="Calibri" pitchFamily="34" charset="-122"/>
                <a:cs typeface="Calibri" pitchFamily="34" charset="-120"/>
              </a:rPr>
              <a:t>Units couple by complementarity — one's result is another's input. The material instance: deficiency meets surplus. Never competition.</a:t>
            </a:r>
            <a:endParaRPr lang="en-US" sz="1250" dirty="0"/>
          </a:p>
        </p:txBody>
      </p:sp>
      <p:sp>
        <p:nvSpPr>
          <p:cNvPr id="15" name="Shape 13"/>
          <p:cNvSpPr/>
          <p:nvPr/>
        </p:nvSpPr>
        <p:spPr>
          <a:xfrm>
            <a:off x="6021324" y="3246120"/>
            <a:ext cx="128016" cy="457200"/>
          </a:xfrm>
          <a:prstGeom prst="rightArrow">
            <a:avLst/>
          </a:prstGeom>
          <a:solidFill>
            <a:srgbClr val="6A6E93"/>
          </a:solidFill>
          <a:ln/>
        </p:spPr>
      </p:sp>
      <p:sp>
        <p:nvSpPr>
          <p:cNvPr id="16" name="Shape 14"/>
          <p:cNvSpPr/>
          <p:nvPr/>
        </p:nvSpPr>
        <p:spPr>
          <a:xfrm>
            <a:off x="6144768" y="1691640"/>
            <a:ext cx="2670048" cy="3703320"/>
          </a:xfrm>
          <a:prstGeom prst="roundRect">
            <a:avLst>
              <a:gd name="adj" fmla="val 2055"/>
            </a:avLst>
          </a:prstGeom>
          <a:solidFill>
            <a:srgbClr val="FFFFFF"/>
          </a:solidFill>
          <a:ln w="12700">
            <a:solidFill>
              <a:srgbClr val="E1E3EF"/>
            </a:solidFill>
            <a:prstDash val="solid"/>
          </a:ln>
        </p:spPr>
      </p:sp>
      <p:sp>
        <p:nvSpPr>
          <p:cNvPr id="17" name="Shape 15"/>
          <p:cNvSpPr/>
          <p:nvPr/>
        </p:nvSpPr>
        <p:spPr>
          <a:xfrm>
            <a:off x="6400800" y="1938528"/>
            <a:ext cx="384048" cy="384048"/>
          </a:xfrm>
          <a:prstGeom prst="ellipse">
            <a:avLst/>
          </a:prstGeom>
          <a:solidFill>
            <a:srgbClr val="3E7C8C"/>
          </a:solidFill>
          <a:ln/>
        </p:spPr>
      </p:sp>
      <p:sp>
        <p:nvSpPr>
          <p:cNvPr id="18" name="Text 16"/>
          <p:cNvSpPr/>
          <p:nvPr/>
        </p:nvSpPr>
        <p:spPr>
          <a:xfrm>
            <a:off x="6400800" y="1938528"/>
            <a:ext cx="384048" cy="38404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6922008" y="1947672"/>
            <a:ext cx="1755648" cy="457200"/>
          </a:xfrm>
          <a:prstGeom prst="rect">
            <a:avLst/>
          </a:prstGeom>
          <a:noFill/>
          <a:ln/>
        </p:spPr>
        <p:txBody>
          <a:bodyPr wrap="square" rtlCol="0" anchor="ctr"/>
          <a:lstStyle/>
          <a:p>
            <a:pPr indent="0" marL="0">
              <a:buNone/>
            </a:pPr>
            <a:r>
              <a:rPr lang="en-US" sz="1700" b="1" dirty="0">
                <a:solidFill>
                  <a:srgbClr val="16183D"/>
                </a:solidFill>
                <a:latin typeface="Cambria" pitchFamily="34" charset="0"/>
                <a:ea typeface="Cambria" pitchFamily="34" charset="-122"/>
                <a:cs typeface="Cambria" pitchFamily="34" charset="-120"/>
              </a:rPr>
              <a:t>Close &amp; recur</a:t>
            </a:r>
            <a:endParaRPr lang="en-US" sz="1700" dirty="0"/>
          </a:p>
        </p:txBody>
      </p:sp>
      <p:sp>
        <p:nvSpPr>
          <p:cNvPr id="20" name="Text 18"/>
          <p:cNvSpPr/>
          <p:nvPr/>
        </p:nvSpPr>
        <p:spPr>
          <a:xfrm>
            <a:off x="6400800" y="2606040"/>
            <a:ext cx="2194560" cy="2651760"/>
          </a:xfrm>
          <a:prstGeom prst="rect">
            <a:avLst/>
          </a:prstGeom>
          <a:noFill/>
          <a:ln/>
        </p:spPr>
        <p:txBody>
          <a:bodyPr wrap="square" rtlCol="0" anchor="t"/>
          <a:lstStyle/>
          <a:p>
            <a:pPr indent="0" marL="0">
              <a:lnSpc>
                <a:spcPct val="106000"/>
              </a:lnSpc>
              <a:buNone/>
            </a:pPr>
            <a:r>
              <a:rPr lang="en-US" sz="1250" dirty="0">
                <a:solidFill>
                  <a:srgbClr val="202340"/>
                </a:solidFill>
                <a:latin typeface="Calibri" pitchFamily="34" charset="0"/>
                <a:ea typeface="Calibri" pitchFamily="34" charset="-122"/>
                <a:cs typeface="Calibri" pitchFamily="34" charset="-120"/>
              </a:rPr>
              <a:t>When a coupling closes a new boundary, it is a new unit, one tier up, with a fresh signature. The schema re-applies — atoms, molecules, organisms, societies.</a:t>
            </a:r>
            <a:endParaRPr lang="en-US" sz="1250" dirty="0"/>
          </a:p>
        </p:txBody>
      </p:sp>
      <p:sp>
        <p:nvSpPr>
          <p:cNvPr id="21" name="Shape 19"/>
          <p:cNvSpPr/>
          <p:nvPr/>
        </p:nvSpPr>
        <p:spPr>
          <a:xfrm>
            <a:off x="8819388" y="3246120"/>
            <a:ext cx="128016" cy="457200"/>
          </a:xfrm>
          <a:prstGeom prst="rightArrow">
            <a:avLst/>
          </a:prstGeom>
          <a:solidFill>
            <a:srgbClr val="6A6E93"/>
          </a:solidFill>
          <a:ln/>
        </p:spPr>
      </p:sp>
      <p:sp>
        <p:nvSpPr>
          <p:cNvPr id="22" name="Shape 20"/>
          <p:cNvSpPr/>
          <p:nvPr/>
        </p:nvSpPr>
        <p:spPr>
          <a:xfrm>
            <a:off x="8942832" y="1691640"/>
            <a:ext cx="2670048" cy="3703320"/>
          </a:xfrm>
          <a:prstGeom prst="roundRect">
            <a:avLst>
              <a:gd name="adj" fmla="val 2055"/>
            </a:avLst>
          </a:prstGeom>
          <a:solidFill>
            <a:srgbClr val="F5F6FB"/>
          </a:solidFill>
          <a:ln w="19050">
            <a:solidFill>
              <a:srgbClr val="B8842B"/>
            </a:solidFill>
            <a:prstDash val="solid"/>
          </a:ln>
        </p:spPr>
      </p:sp>
      <p:sp>
        <p:nvSpPr>
          <p:cNvPr id="23" name="Shape 21"/>
          <p:cNvSpPr/>
          <p:nvPr/>
        </p:nvSpPr>
        <p:spPr>
          <a:xfrm>
            <a:off x="9198864" y="1938528"/>
            <a:ext cx="384048" cy="384048"/>
          </a:xfrm>
          <a:prstGeom prst="ellipse">
            <a:avLst/>
          </a:prstGeom>
          <a:solidFill>
            <a:srgbClr val="B8842B"/>
          </a:solidFill>
          <a:ln/>
        </p:spPr>
      </p:sp>
      <p:sp>
        <p:nvSpPr>
          <p:cNvPr id="24" name="Text 22"/>
          <p:cNvSpPr/>
          <p:nvPr/>
        </p:nvSpPr>
        <p:spPr>
          <a:xfrm>
            <a:off x="9198864" y="1938528"/>
            <a:ext cx="384048" cy="38404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9720072" y="1947672"/>
            <a:ext cx="1755648" cy="457200"/>
          </a:xfrm>
          <a:prstGeom prst="rect">
            <a:avLst/>
          </a:prstGeom>
          <a:noFill/>
          <a:ln/>
        </p:spPr>
        <p:txBody>
          <a:bodyPr wrap="square" rtlCol="0" anchor="ctr"/>
          <a:lstStyle/>
          <a:p>
            <a:pPr indent="0" marL="0">
              <a:buNone/>
            </a:pPr>
            <a:r>
              <a:rPr lang="en-US" sz="1700" b="1" dirty="0">
                <a:solidFill>
                  <a:srgbClr val="16183D"/>
                </a:solidFill>
                <a:latin typeface="Cambria" pitchFamily="34" charset="0"/>
                <a:ea typeface="Cambria" pitchFamily="34" charset="-122"/>
                <a:cs typeface="Cambria" pitchFamily="34" charset="-120"/>
              </a:rPr>
              <a:t>Turn reflexive</a:t>
            </a:r>
            <a:endParaRPr lang="en-US" sz="1700" dirty="0"/>
          </a:p>
        </p:txBody>
      </p:sp>
      <p:sp>
        <p:nvSpPr>
          <p:cNvPr id="26" name="Text 24"/>
          <p:cNvSpPr/>
          <p:nvPr/>
        </p:nvSpPr>
        <p:spPr>
          <a:xfrm>
            <a:off x="9198864" y="2606040"/>
            <a:ext cx="2194560" cy="2651760"/>
          </a:xfrm>
          <a:prstGeom prst="rect">
            <a:avLst/>
          </a:prstGeom>
          <a:noFill/>
          <a:ln/>
        </p:spPr>
        <p:txBody>
          <a:bodyPr wrap="square" rtlCol="0" anchor="t"/>
          <a:lstStyle/>
          <a:p>
            <a:pPr indent="0" marL="0">
              <a:lnSpc>
                <a:spcPct val="106000"/>
              </a:lnSpc>
              <a:buNone/>
            </a:pPr>
            <a:r>
              <a:rPr lang="en-US" sz="1250" dirty="0">
                <a:solidFill>
                  <a:srgbClr val="202340"/>
                </a:solidFill>
                <a:latin typeface="Calibri" pitchFamily="34" charset="0"/>
                <a:ea typeface="Calibri" pitchFamily="34" charset="-122"/>
                <a:cs typeface="Calibri" pitchFamily="34" charset="-120"/>
              </a:rPr>
              <a:t>At constitutional completeness, activity can take activity itself as its object. That reflexive turn is jeevan — and with it, evaluation, justice, and the possibility of failure.</a:t>
            </a:r>
            <a:endParaRPr lang="en-US" sz="1250" dirty="0"/>
          </a:p>
        </p:txBody>
      </p:sp>
      <p:sp>
        <p:nvSpPr>
          <p:cNvPr id="27" name="Text 25"/>
          <p:cNvSpPr/>
          <p:nvPr/>
        </p:nvSpPr>
        <p:spPr>
          <a:xfrm>
            <a:off x="548640" y="5623560"/>
            <a:ext cx="11091672" cy="365760"/>
          </a:xfrm>
          <a:prstGeom prst="rect">
            <a:avLst/>
          </a:prstGeom>
          <a:noFill/>
          <a:ln/>
        </p:spPr>
        <p:txBody>
          <a:bodyPr wrap="square" rtlCol="0" anchor="ctr"/>
          <a:lstStyle/>
          <a:p>
            <a:pPr algn="ctr" indent="0" marL="0">
              <a:buNone/>
            </a:pPr>
            <a:r>
              <a:rPr lang="en-US" sz="1300" i="1" dirty="0">
                <a:solidFill>
                  <a:srgbClr val="6A6E93"/>
                </a:solidFill>
                <a:latin typeface="Calibri" pitchFamily="34" charset="0"/>
                <a:ea typeface="Calibri" pitchFamily="34" charset="-122"/>
                <a:cs typeface="Calibri" pitchFamily="34" charset="-120"/>
              </a:rPr>
              <a:t>One closure schema builds the tiers; a distinct reflexive move opens the knowledge order.</a:t>
            </a:r>
            <a:endParaRPr lang="en-US" sz="1300" dirty="0"/>
          </a:p>
        </p:txBody>
      </p:sp>
      <p:sp>
        <p:nvSpPr>
          <p:cNvPr id="28" name="Text 26"/>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06</a:t>
            </a:r>
            <a:endParaRPr lang="en-US" sz="900" dirty="0"/>
          </a:p>
        </p:txBody>
      </p:sp>
      <p:sp>
        <p:nvSpPr>
          <p:cNvPr id="29" name="Text 27"/>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The four moves</a:t>
            </a:r>
            <a:endParaRPr lang="en-US" sz="900" dirty="0"/>
          </a:p>
        </p:txBody>
      </p:sp>
      <p:sp>
        <p:nvSpPr>
          <p:cNvPr id="30" name="Text 28"/>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 · THE PAPER IN MINIATURE</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A worked example: from two atoms to jeevan</a:t>
            </a:r>
            <a:endParaRPr lang="en-US" sz="2900" dirty="0"/>
          </a:p>
        </p:txBody>
      </p:sp>
      <p:sp>
        <p:nvSpPr>
          <p:cNvPr id="4" name="Shape 2"/>
          <p:cNvSpPr/>
          <p:nvPr/>
        </p:nvSpPr>
        <p:spPr>
          <a:xfrm>
            <a:off x="548640" y="2331720"/>
            <a:ext cx="1874520" cy="1737360"/>
          </a:xfrm>
          <a:prstGeom prst="roundRect">
            <a:avLst>
              <a:gd name="adj" fmla="val 3158"/>
            </a:avLst>
          </a:prstGeom>
          <a:solidFill>
            <a:srgbClr val="F5F6FB"/>
          </a:solidFill>
          <a:ln w="12700">
            <a:solidFill>
              <a:srgbClr val="E1E3EF"/>
            </a:solidFill>
            <a:prstDash val="solid"/>
          </a:ln>
        </p:spPr>
      </p:sp>
      <p:sp>
        <p:nvSpPr>
          <p:cNvPr id="5" name="Text 3"/>
          <p:cNvSpPr/>
          <p:nvPr/>
        </p:nvSpPr>
        <p:spPr>
          <a:xfrm>
            <a:off x="640080" y="2496312"/>
            <a:ext cx="1691640" cy="640080"/>
          </a:xfrm>
          <a:prstGeom prst="rect">
            <a:avLst/>
          </a:prstGeom>
          <a:noFill/>
          <a:ln/>
        </p:spPr>
        <p:txBody>
          <a:bodyPr wrap="square" rtlCol="0" anchor="t"/>
          <a:lstStyle/>
          <a:p>
            <a:pPr algn="ctr" indent="0" marL="0">
              <a:lnSpc>
                <a:spcPct val="95000"/>
              </a:lnSpc>
              <a:buNone/>
            </a:pPr>
            <a:r>
              <a:rPr lang="en-US" sz="1400" b="1" dirty="0">
                <a:solidFill>
                  <a:srgbClr val="16183D"/>
                </a:solidFill>
                <a:latin typeface="Cambria" pitchFamily="34" charset="0"/>
                <a:ea typeface="Cambria" pitchFamily="34" charset="-122"/>
                <a:cs typeface="Cambria" pitchFamily="34" charset="-120"/>
              </a:rPr>
              <a:t>Two atoms</a:t>
            </a:r>
            <a:endParaRPr lang="en-US" sz="1400" dirty="0"/>
          </a:p>
        </p:txBody>
      </p:sp>
      <p:sp>
        <p:nvSpPr>
          <p:cNvPr id="6" name="Text 4"/>
          <p:cNvSpPr/>
          <p:nvPr/>
        </p:nvSpPr>
        <p:spPr>
          <a:xfrm>
            <a:off x="658368" y="3154680"/>
            <a:ext cx="1655064" cy="548640"/>
          </a:xfrm>
          <a:prstGeom prst="rect">
            <a:avLst/>
          </a:prstGeom>
          <a:noFill/>
          <a:ln/>
        </p:spPr>
        <p:txBody>
          <a:bodyPr wrap="square" rtlCol="0" anchor="t"/>
          <a:lstStyle/>
          <a:p>
            <a:pPr algn="ctr" indent="0" marL="0">
              <a:lnSpc>
                <a:spcPct val="100000"/>
              </a:lnSpc>
              <a:buNone/>
            </a:pPr>
            <a:r>
              <a:rPr lang="en-US" sz="1100" dirty="0">
                <a:solidFill>
                  <a:srgbClr val="202340"/>
                </a:solidFill>
                <a:latin typeface="Calibri" pitchFamily="34" charset="0"/>
                <a:ea typeface="Calibri" pitchFamily="34" charset="-122"/>
                <a:cs typeface="Calibri" pitchFamily="34" charset="-120"/>
              </a:rPr>
              <a:t>one hungry, one overfull</a:t>
            </a:r>
            <a:endParaRPr lang="en-US" sz="1100" dirty="0"/>
          </a:p>
        </p:txBody>
      </p:sp>
      <p:sp>
        <p:nvSpPr>
          <p:cNvPr id="7" name="Text 5"/>
          <p:cNvSpPr/>
          <p:nvPr/>
        </p:nvSpPr>
        <p:spPr>
          <a:xfrm>
            <a:off x="658368" y="3721608"/>
            <a:ext cx="1655064" cy="274320"/>
          </a:xfrm>
          <a:prstGeom prst="rect">
            <a:avLst/>
          </a:prstGeom>
          <a:noFill/>
          <a:ln/>
        </p:spPr>
        <p:txBody>
          <a:bodyPr wrap="square" rtlCol="0" anchor="ctr"/>
          <a:lstStyle/>
          <a:p>
            <a:pPr algn="ctr" indent="0" marL="0">
              <a:buNone/>
            </a:pPr>
            <a:r>
              <a:rPr lang="en-US" sz="850" dirty="0">
                <a:solidFill>
                  <a:srgbClr val="6A6E93"/>
                </a:solidFill>
                <a:latin typeface="Courier New" pitchFamily="34" charset="0"/>
                <a:ea typeface="Courier New" pitchFamily="34" charset="-122"/>
                <a:cs typeface="Courier New" pitchFamily="34" charset="-120"/>
              </a:rPr>
              <a:t>MVD p. 8</a:t>
            </a:r>
            <a:endParaRPr lang="en-US" sz="850" dirty="0"/>
          </a:p>
        </p:txBody>
      </p:sp>
      <p:sp>
        <p:nvSpPr>
          <p:cNvPr id="8" name="Shape 6"/>
          <p:cNvSpPr/>
          <p:nvPr/>
        </p:nvSpPr>
        <p:spPr>
          <a:xfrm>
            <a:off x="2487625" y="3044952"/>
            <a:ext cx="300838" cy="310896"/>
          </a:xfrm>
          <a:prstGeom prst="rightArrow">
            <a:avLst/>
          </a:prstGeom>
          <a:solidFill>
            <a:srgbClr val="B8842B"/>
          </a:solidFill>
          <a:ln/>
        </p:spPr>
      </p:sp>
      <p:sp>
        <p:nvSpPr>
          <p:cNvPr id="9" name="Shape 7"/>
          <p:cNvSpPr/>
          <p:nvPr/>
        </p:nvSpPr>
        <p:spPr>
          <a:xfrm>
            <a:off x="2852928" y="2331720"/>
            <a:ext cx="1874520" cy="1737360"/>
          </a:xfrm>
          <a:prstGeom prst="roundRect">
            <a:avLst>
              <a:gd name="adj" fmla="val 3158"/>
            </a:avLst>
          </a:prstGeom>
          <a:solidFill>
            <a:srgbClr val="F5F6FB"/>
          </a:solidFill>
          <a:ln w="12700">
            <a:solidFill>
              <a:srgbClr val="E1E3EF"/>
            </a:solidFill>
            <a:prstDash val="solid"/>
          </a:ln>
        </p:spPr>
      </p:sp>
      <p:sp>
        <p:nvSpPr>
          <p:cNvPr id="10" name="Text 8"/>
          <p:cNvSpPr/>
          <p:nvPr/>
        </p:nvSpPr>
        <p:spPr>
          <a:xfrm>
            <a:off x="2944368" y="2496312"/>
            <a:ext cx="1691640" cy="640080"/>
          </a:xfrm>
          <a:prstGeom prst="rect">
            <a:avLst/>
          </a:prstGeom>
          <a:noFill/>
          <a:ln/>
        </p:spPr>
        <p:txBody>
          <a:bodyPr wrap="square" rtlCol="0" anchor="t"/>
          <a:lstStyle/>
          <a:p>
            <a:pPr algn="ctr" indent="0" marL="0">
              <a:lnSpc>
                <a:spcPct val="95000"/>
              </a:lnSpc>
              <a:buNone/>
            </a:pPr>
            <a:r>
              <a:rPr lang="en-US" sz="1400" b="1" dirty="0">
                <a:solidFill>
                  <a:srgbClr val="16183D"/>
                </a:solidFill>
                <a:latin typeface="Cambria" pitchFamily="34" charset="0"/>
                <a:ea typeface="Cambria" pitchFamily="34" charset="-122"/>
                <a:cs typeface="Cambria" pitchFamily="34" charset="-120"/>
              </a:rPr>
              <a:t>Molecule</a:t>
            </a:r>
            <a:endParaRPr lang="en-US" sz="1400" dirty="0"/>
          </a:p>
        </p:txBody>
      </p:sp>
      <p:sp>
        <p:nvSpPr>
          <p:cNvPr id="11" name="Text 9"/>
          <p:cNvSpPr/>
          <p:nvPr/>
        </p:nvSpPr>
        <p:spPr>
          <a:xfrm>
            <a:off x="2962656" y="3154680"/>
            <a:ext cx="1655064" cy="548640"/>
          </a:xfrm>
          <a:prstGeom prst="rect">
            <a:avLst/>
          </a:prstGeom>
          <a:noFill/>
          <a:ln/>
        </p:spPr>
        <p:txBody>
          <a:bodyPr wrap="square" rtlCol="0" anchor="t"/>
          <a:lstStyle/>
          <a:p>
            <a:pPr algn="ctr" indent="0" marL="0">
              <a:lnSpc>
                <a:spcPct val="100000"/>
              </a:lnSpc>
              <a:buNone/>
            </a:pPr>
            <a:r>
              <a:rPr lang="en-US" sz="1100" dirty="0">
                <a:solidFill>
                  <a:srgbClr val="202340"/>
                </a:solidFill>
                <a:latin typeface="Calibri" pitchFamily="34" charset="0"/>
                <a:ea typeface="Calibri" pitchFamily="34" charset="-122"/>
                <a:cs typeface="Calibri" pitchFamily="34" charset="-120"/>
              </a:rPr>
              <a:t>new boundary, new conduct</a:t>
            </a:r>
            <a:endParaRPr lang="en-US" sz="1100" dirty="0"/>
          </a:p>
        </p:txBody>
      </p:sp>
      <p:sp>
        <p:nvSpPr>
          <p:cNvPr id="12" name="Text 10"/>
          <p:cNvSpPr/>
          <p:nvPr/>
        </p:nvSpPr>
        <p:spPr>
          <a:xfrm>
            <a:off x="2962656" y="3721608"/>
            <a:ext cx="1655064" cy="274320"/>
          </a:xfrm>
          <a:prstGeom prst="rect">
            <a:avLst/>
          </a:prstGeom>
          <a:noFill/>
          <a:ln/>
        </p:spPr>
        <p:txBody>
          <a:bodyPr wrap="square" rtlCol="0" anchor="ctr"/>
          <a:lstStyle/>
          <a:p>
            <a:pPr algn="ctr" indent="0" marL="0">
              <a:buNone/>
            </a:pPr>
            <a:r>
              <a:rPr lang="en-US" sz="850" dirty="0">
                <a:solidFill>
                  <a:srgbClr val="6A6E93"/>
                </a:solidFill>
                <a:latin typeface="Courier New" pitchFamily="34" charset="0"/>
                <a:ea typeface="Courier New" pitchFamily="34" charset="-122"/>
                <a:cs typeface="Courier New" pitchFamily="34" charset="-120"/>
              </a:rPr>
              <a:t>MVD p. 42</a:t>
            </a:r>
            <a:endParaRPr lang="en-US" sz="850" dirty="0"/>
          </a:p>
        </p:txBody>
      </p:sp>
      <p:sp>
        <p:nvSpPr>
          <p:cNvPr id="13" name="Shape 11"/>
          <p:cNvSpPr/>
          <p:nvPr/>
        </p:nvSpPr>
        <p:spPr>
          <a:xfrm>
            <a:off x="4791913" y="3044952"/>
            <a:ext cx="300838" cy="310896"/>
          </a:xfrm>
          <a:prstGeom prst="rightArrow">
            <a:avLst/>
          </a:prstGeom>
          <a:solidFill>
            <a:srgbClr val="B8842B"/>
          </a:solidFill>
          <a:ln/>
        </p:spPr>
      </p:sp>
      <p:sp>
        <p:nvSpPr>
          <p:cNvPr id="14" name="Shape 12"/>
          <p:cNvSpPr/>
          <p:nvPr/>
        </p:nvSpPr>
        <p:spPr>
          <a:xfrm>
            <a:off x="5157216" y="2331720"/>
            <a:ext cx="1874520" cy="1737360"/>
          </a:xfrm>
          <a:prstGeom prst="roundRect">
            <a:avLst>
              <a:gd name="adj" fmla="val 3158"/>
            </a:avLst>
          </a:prstGeom>
          <a:solidFill>
            <a:srgbClr val="F5F6FB"/>
          </a:solidFill>
          <a:ln w="12700">
            <a:solidFill>
              <a:srgbClr val="E1E3EF"/>
            </a:solidFill>
            <a:prstDash val="solid"/>
          </a:ln>
        </p:spPr>
      </p:sp>
      <p:sp>
        <p:nvSpPr>
          <p:cNvPr id="15" name="Text 13"/>
          <p:cNvSpPr/>
          <p:nvPr/>
        </p:nvSpPr>
        <p:spPr>
          <a:xfrm>
            <a:off x="5248656" y="2496312"/>
            <a:ext cx="1691640" cy="640080"/>
          </a:xfrm>
          <a:prstGeom prst="rect">
            <a:avLst/>
          </a:prstGeom>
          <a:noFill/>
          <a:ln/>
        </p:spPr>
        <p:txBody>
          <a:bodyPr wrap="square" rtlCol="0" anchor="t"/>
          <a:lstStyle/>
          <a:p>
            <a:pPr algn="ctr" indent="0" marL="0">
              <a:lnSpc>
                <a:spcPct val="95000"/>
              </a:lnSpc>
              <a:buNone/>
            </a:pPr>
            <a:r>
              <a:rPr lang="en-US" sz="1400" b="1" dirty="0">
                <a:solidFill>
                  <a:srgbClr val="16183D"/>
                </a:solidFill>
                <a:latin typeface="Cambria" pitchFamily="34" charset="0"/>
                <a:ea typeface="Cambria" pitchFamily="34" charset="-122"/>
                <a:cs typeface="Cambria" pitchFamily="34" charset="-120"/>
              </a:rPr>
              <a:t>Higher lines</a:t>
            </a:r>
            <a:endParaRPr lang="en-US" sz="1400" dirty="0"/>
          </a:p>
        </p:txBody>
      </p:sp>
      <p:sp>
        <p:nvSpPr>
          <p:cNvPr id="16" name="Text 14"/>
          <p:cNvSpPr/>
          <p:nvPr/>
        </p:nvSpPr>
        <p:spPr>
          <a:xfrm>
            <a:off x="5266944" y="3154680"/>
            <a:ext cx="1655064" cy="548640"/>
          </a:xfrm>
          <a:prstGeom prst="rect">
            <a:avLst/>
          </a:prstGeom>
          <a:noFill/>
          <a:ln/>
        </p:spPr>
        <p:txBody>
          <a:bodyPr wrap="square" rtlCol="0" anchor="t"/>
          <a:lstStyle/>
          <a:p>
            <a:pPr algn="ctr" indent="0" marL="0">
              <a:lnSpc>
                <a:spcPct val="100000"/>
              </a:lnSpc>
              <a:buNone/>
            </a:pPr>
            <a:r>
              <a:rPr lang="en-US" sz="1100" dirty="0">
                <a:solidFill>
                  <a:srgbClr val="202340"/>
                </a:solidFill>
                <a:latin typeface="Calibri" pitchFamily="34" charset="0"/>
                <a:ea typeface="Calibri" pitchFamily="34" charset="-122"/>
                <a:cs typeface="Calibri" pitchFamily="34" charset="-120"/>
              </a:rPr>
              <a:t>planetary &amp; biological</a:t>
            </a:r>
            <a:endParaRPr lang="en-US" sz="1100" dirty="0"/>
          </a:p>
        </p:txBody>
      </p:sp>
      <p:sp>
        <p:nvSpPr>
          <p:cNvPr id="17" name="Text 15"/>
          <p:cNvSpPr/>
          <p:nvPr/>
        </p:nvSpPr>
        <p:spPr>
          <a:xfrm>
            <a:off x="5266944" y="3721608"/>
            <a:ext cx="1655064" cy="274320"/>
          </a:xfrm>
          <a:prstGeom prst="rect">
            <a:avLst/>
          </a:prstGeom>
          <a:noFill/>
          <a:ln/>
        </p:spPr>
        <p:txBody>
          <a:bodyPr wrap="square" rtlCol="0" anchor="ctr"/>
          <a:lstStyle/>
          <a:p>
            <a:pPr algn="ctr" indent="0" marL="0">
              <a:buNone/>
            </a:pPr>
            <a:r>
              <a:rPr lang="en-US" sz="850" dirty="0">
                <a:solidFill>
                  <a:srgbClr val="6A6E93"/>
                </a:solidFill>
                <a:latin typeface="Courier New" pitchFamily="34" charset="0"/>
                <a:ea typeface="Courier New" pitchFamily="34" charset="-122"/>
                <a:cs typeface="Courier New" pitchFamily="34" charset="-120"/>
              </a:rPr>
              <a:t>order-specific</a:t>
            </a:r>
            <a:endParaRPr lang="en-US" sz="850" dirty="0"/>
          </a:p>
        </p:txBody>
      </p:sp>
      <p:sp>
        <p:nvSpPr>
          <p:cNvPr id="18" name="Shape 16"/>
          <p:cNvSpPr/>
          <p:nvPr/>
        </p:nvSpPr>
        <p:spPr>
          <a:xfrm>
            <a:off x="7096201" y="3044952"/>
            <a:ext cx="300838" cy="310896"/>
          </a:xfrm>
          <a:prstGeom prst="rightArrow">
            <a:avLst/>
          </a:prstGeom>
          <a:solidFill>
            <a:srgbClr val="B8842B"/>
          </a:solidFill>
          <a:ln/>
        </p:spPr>
      </p:sp>
      <p:sp>
        <p:nvSpPr>
          <p:cNvPr id="19" name="Shape 17"/>
          <p:cNvSpPr/>
          <p:nvPr/>
        </p:nvSpPr>
        <p:spPr>
          <a:xfrm>
            <a:off x="7461504" y="2331720"/>
            <a:ext cx="1874520" cy="1737360"/>
          </a:xfrm>
          <a:prstGeom prst="roundRect">
            <a:avLst>
              <a:gd name="adj" fmla="val 3158"/>
            </a:avLst>
          </a:prstGeom>
          <a:solidFill>
            <a:srgbClr val="F5F6FB"/>
          </a:solidFill>
          <a:ln w="12700">
            <a:solidFill>
              <a:srgbClr val="E1E3EF"/>
            </a:solidFill>
            <a:prstDash val="solid"/>
          </a:ln>
        </p:spPr>
      </p:sp>
      <p:sp>
        <p:nvSpPr>
          <p:cNvPr id="20" name="Text 18"/>
          <p:cNvSpPr/>
          <p:nvPr/>
        </p:nvSpPr>
        <p:spPr>
          <a:xfrm>
            <a:off x="7552944" y="2496312"/>
            <a:ext cx="1691640" cy="640080"/>
          </a:xfrm>
          <a:prstGeom prst="rect">
            <a:avLst/>
          </a:prstGeom>
          <a:noFill/>
          <a:ln/>
        </p:spPr>
        <p:txBody>
          <a:bodyPr wrap="square" rtlCol="0" anchor="t"/>
          <a:lstStyle/>
          <a:p>
            <a:pPr algn="ctr" indent="0" marL="0">
              <a:lnSpc>
                <a:spcPct val="95000"/>
              </a:lnSpc>
              <a:buNone/>
            </a:pPr>
            <a:r>
              <a:rPr lang="en-US" sz="1400" b="1" dirty="0">
                <a:solidFill>
                  <a:srgbClr val="16183D"/>
                </a:solidFill>
                <a:latin typeface="Cambria" pitchFamily="34" charset="0"/>
                <a:ea typeface="Cambria" pitchFamily="34" charset="-122"/>
                <a:cs typeface="Cambria" pitchFamily="34" charset="-120"/>
              </a:rPr>
              <a:t>Constitutional</a:t>
            </a:r>
            <a:endParaRPr lang="en-US" sz="1400" dirty="0"/>
          </a:p>
          <a:p>
            <a:pPr algn="ctr" indent="0" marL="0">
              <a:lnSpc>
                <a:spcPct val="95000"/>
              </a:lnSpc>
              <a:buNone/>
            </a:pPr>
            <a:r>
              <a:rPr lang="en-US" sz="1400" b="1" dirty="0">
                <a:solidFill>
                  <a:srgbClr val="16183D"/>
                </a:solidFill>
                <a:latin typeface="Cambria" pitchFamily="34" charset="0"/>
                <a:ea typeface="Cambria" pitchFamily="34" charset="-122"/>
                <a:cs typeface="Cambria" pitchFamily="34" charset="-120"/>
              </a:rPr>
              <a:t>completeness</a:t>
            </a:r>
            <a:endParaRPr lang="en-US" sz="1400" dirty="0"/>
          </a:p>
        </p:txBody>
      </p:sp>
      <p:sp>
        <p:nvSpPr>
          <p:cNvPr id="21" name="Text 19"/>
          <p:cNvSpPr/>
          <p:nvPr/>
        </p:nvSpPr>
        <p:spPr>
          <a:xfrm>
            <a:off x="7571232" y="3154680"/>
            <a:ext cx="1655064" cy="548640"/>
          </a:xfrm>
          <a:prstGeom prst="rect">
            <a:avLst/>
          </a:prstGeom>
          <a:noFill/>
          <a:ln/>
        </p:spPr>
        <p:txBody>
          <a:bodyPr wrap="square" rtlCol="0" anchor="t"/>
          <a:lstStyle/>
          <a:p>
            <a:pPr algn="ctr" indent="0" marL="0">
              <a:lnSpc>
                <a:spcPct val="100000"/>
              </a:lnSpc>
              <a:buNone/>
            </a:pPr>
            <a:r>
              <a:rPr lang="en-US" sz="1100" dirty="0">
                <a:solidFill>
                  <a:srgbClr val="202340"/>
                </a:solidFill>
                <a:latin typeface="Calibri" pitchFamily="34" charset="0"/>
                <a:ea typeface="Calibri" pitchFamily="34" charset="-122"/>
                <a:cs typeface="Calibri" pitchFamily="34" charset="-120"/>
              </a:rPr>
              <a:t>effort &amp; motion inexhaustible</a:t>
            </a:r>
            <a:endParaRPr lang="en-US" sz="1100" dirty="0"/>
          </a:p>
        </p:txBody>
      </p:sp>
      <p:sp>
        <p:nvSpPr>
          <p:cNvPr id="22" name="Text 20"/>
          <p:cNvSpPr/>
          <p:nvPr/>
        </p:nvSpPr>
        <p:spPr>
          <a:xfrm>
            <a:off x="7571232" y="3721608"/>
            <a:ext cx="1655064" cy="274320"/>
          </a:xfrm>
          <a:prstGeom prst="rect">
            <a:avLst/>
          </a:prstGeom>
          <a:noFill/>
          <a:ln/>
        </p:spPr>
        <p:txBody>
          <a:bodyPr wrap="square" rtlCol="0" anchor="ctr"/>
          <a:lstStyle/>
          <a:p>
            <a:pPr algn="ctr" indent="0" marL="0">
              <a:buNone/>
            </a:pPr>
            <a:r>
              <a:rPr lang="en-US" sz="850" dirty="0">
                <a:solidFill>
                  <a:srgbClr val="6A6E93"/>
                </a:solidFill>
                <a:latin typeface="Courier New" pitchFamily="34" charset="0"/>
                <a:ea typeface="Courier New" pitchFamily="34" charset="-122"/>
                <a:cs typeface="Courier New" pitchFamily="34" charset="-120"/>
              </a:rPr>
              <a:t>SB p. 61</a:t>
            </a:r>
            <a:endParaRPr lang="en-US" sz="850" dirty="0"/>
          </a:p>
        </p:txBody>
      </p:sp>
      <p:sp>
        <p:nvSpPr>
          <p:cNvPr id="23" name="Shape 21"/>
          <p:cNvSpPr/>
          <p:nvPr/>
        </p:nvSpPr>
        <p:spPr>
          <a:xfrm>
            <a:off x="9400489" y="3044952"/>
            <a:ext cx="300838" cy="310896"/>
          </a:xfrm>
          <a:prstGeom prst="rightArrow">
            <a:avLst/>
          </a:prstGeom>
          <a:solidFill>
            <a:srgbClr val="B8842B"/>
          </a:solidFill>
          <a:ln/>
        </p:spPr>
      </p:sp>
      <p:sp>
        <p:nvSpPr>
          <p:cNvPr id="24" name="Shape 22"/>
          <p:cNvSpPr/>
          <p:nvPr/>
        </p:nvSpPr>
        <p:spPr>
          <a:xfrm>
            <a:off x="9765792" y="2331720"/>
            <a:ext cx="1874520" cy="1737360"/>
          </a:xfrm>
          <a:prstGeom prst="roundRect">
            <a:avLst>
              <a:gd name="adj" fmla="val 3158"/>
            </a:avLst>
          </a:prstGeom>
          <a:solidFill>
            <a:srgbClr val="16183D"/>
          </a:solidFill>
          <a:ln w="12700">
            <a:solidFill>
              <a:srgbClr val="16183D"/>
            </a:solidFill>
            <a:prstDash val="solid"/>
          </a:ln>
        </p:spPr>
      </p:sp>
      <p:sp>
        <p:nvSpPr>
          <p:cNvPr id="25" name="Text 23"/>
          <p:cNvSpPr/>
          <p:nvPr/>
        </p:nvSpPr>
        <p:spPr>
          <a:xfrm>
            <a:off x="9857232" y="2496312"/>
            <a:ext cx="1691640" cy="640080"/>
          </a:xfrm>
          <a:prstGeom prst="rect">
            <a:avLst/>
          </a:prstGeom>
          <a:noFill/>
          <a:ln/>
        </p:spPr>
        <p:txBody>
          <a:bodyPr wrap="square" rtlCol="0" anchor="t"/>
          <a:lstStyle/>
          <a:p>
            <a:pPr algn="ctr" indent="0" marL="0">
              <a:lnSpc>
                <a:spcPct val="95000"/>
              </a:lnSpc>
              <a:buNone/>
            </a:pPr>
            <a:r>
              <a:rPr lang="en-US" sz="1400" b="1" dirty="0">
                <a:solidFill>
                  <a:srgbClr val="E3B857"/>
                </a:solidFill>
                <a:latin typeface="Cambria" pitchFamily="34" charset="0"/>
                <a:ea typeface="Cambria" pitchFamily="34" charset="-122"/>
                <a:cs typeface="Cambria" pitchFamily="34" charset="-120"/>
              </a:rPr>
              <a:t>Jeevan</a:t>
            </a:r>
            <a:endParaRPr lang="en-US" sz="1400" dirty="0"/>
          </a:p>
        </p:txBody>
      </p:sp>
      <p:sp>
        <p:nvSpPr>
          <p:cNvPr id="26" name="Text 24"/>
          <p:cNvSpPr/>
          <p:nvPr/>
        </p:nvSpPr>
        <p:spPr>
          <a:xfrm>
            <a:off x="9875520" y="3154680"/>
            <a:ext cx="1655064" cy="548640"/>
          </a:xfrm>
          <a:prstGeom prst="rect">
            <a:avLst/>
          </a:prstGeom>
          <a:noFill/>
          <a:ln/>
        </p:spPr>
        <p:txBody>
          <a:bodyPr wrap="square" rtlCol="0" anchor="t"/>
          <a:lstStyle/>
          <a:p>
            <a:pPr algn="ctr" indent="0" marL="0">
              <a:lnSpc>
                <a:spcPct val="100000"/>
              </a:lnSpc>
              <a:buNone/>
            </a:pPr>
            <a:r>
              <a:rPr lang="en-US" sz="1100" dirty="0">
                <a:solidFill>
                  <a:srgbClr val="F2EEE3"/>
                </a:solidFill>
                <a:latin typeface="Calibri" pitchFamily="34" charset="0"/>
                <a:ea typeface="Calibri" pitchFamily="34" charset="-122"/>
                <a:cs typeface="Calibri" pitchFamily="34" charset="-120"/>
              </a:rPr>
              <a:t>activity turns reflexive</a:t>
            </a:r>
            <a:endParaRPr lang="en-US" sz="1100" dirty="0"/>
          </a:p>
        </p:txBody>
      </p:sp>
      <p:sp>
        <p:nvSpPr>
          <p:cNvPr id="27" name="Text 25"/>
          <p:cNvSpPr/>
          <p:nvPr/>
        </p:nvSpPr>
        <p:spPr>
          <a:xfrm>
            <a:off x="9875520" y="3721608"/>
            <a:ext cx="1655064" cy="274320"/>
          </a:xfrm>
          <a:prstGeom prst="rect">
            <a:avLst/>
          </a:prstGeom>
          <a:noFill/>
          <a:ln/>
        </p:spPr>
        <p:txBody>
          <a:bodyPr wrap="square" rtlCol="0" anchor="ctr"/>
          <a:lstStyle/>
          <a:p>
            <a:pPr algn="ctr" indent="0" marL="0">
              <a:buNone/>
            </a:pPr>
            <a:r>
              <a:rPr lang="en-US" sz="850" dirty="0">
                <a:solidFill>
                  <a:srgbClr val="A7ACD0"/>
                </a:solidFill>
                <a:latin typeface="Courier New" pitchFamily="34" charset="0"/>
                <a:ea typeface="Courier New" pitchFamily="34" charset="-122"/>
                <a:cs typeface="Courier New" pitchFamily="34" charset="-120"/>
              </a:rPr>
              <a:t>SB p. 61</a:t>
            </a:r>
            <a:endParaRPr lang="en-US" sz="850" dirty="0"/>
          </a:p>
        </p:txBody>
      </p:sp>
      <p:sp>
        <p:nvSpPr>
          <p:cNvPr id="28" name="Shape 26"/>
          <p:cNvSpPr/>
          <p:nvPr/>
        </p:nvSpPr>
        <p:spPr>
          <a:xfrm>
            <a:off x="548640" y="4526280"/>
            <a:ext cx="5449824" cy="1417320"/>
          </a:xfrm>
          <a:prstGeom prst="roundRect">
            <a:avLst>
              <a:gd name="adj" fmla="val 3871"/>
            </a:avLst>
          </a:prstGeom>
          <a:solidFill>
            <a:srgbClr val="F5F6FB"/>
          </a:solidFill>
          <a:ln w="12700">
            <a:solidFill>
              <a:srgbClr val="E1E3EF"/>
            </a:solidFill>
            <a:prstDash val="solid"/>
          </a:ln>
        </p:spPr>
      </p:sp>
      <p:sp>
        <p:nvSpPr>
          <p:cNvPr id="29" name="Text 27"/>
          <p:cNvSpPr/>
          <p:nvPr/>
        </p:nvSpPr>
        <p:spPr>
          <a:xfrm>
            <a:off x="749808" y="4681728"/>
            <a:ext cx="5029200" cy="365760"/>
          </a:xfrm>
          <a:prstGeom prst="rect">
            <a:avLst/>
          </a:prstGeom>
          <a:noFill/>
          <a:ln/>
        </p:spPr>
        <p:txBody>
          <a:bodyPr wrap="square" rtlCol="0" anchor="ctr"/>
          <a:lstStyle/>
          <a:p>
            <a:pPr indent="0" marL="0">
              <a:buNone/>
            </a:pPr>
            <a:r>
              <a:rPr lang="en-US" sz="1500" b="1" dirty="0">
                <a:solidFill>
                  <a:srgbClr val="3E7C8C"/>
                </a:solidFill>
                <a:latin typeface="Cambria" pitchFamily="34" charset="0"/>
                <a:ea typeface="Cambria" pitchFamily="34" charset="-122"/>
                <a:cs typeface="Cambria" pitchFamily="34" charset="-120"/>
              </a:rPr>
              <a:t>Below the turn — development</a:t>
            </a:r>
            <a:endParaRPr lang="en-US" sz="1500" dirty="0"/>
          </a:p>
        </p:txBody>
      </p:sp>
      <p:sp>
        <p:nvSpPr>
          <p:cNvPr id="30" name="Text 28"/>
          <p:cNvSpPr/>
          <p:nvPr/>
        </p:nvSpPr>
        <p:spPr>
          <a:xfrm>
            <a:off x="749808" y="5029200"/>
            <a:ext cx="5074920" cy="868680"/>
          </a:xfrm>
          <a:prstGeom prst="rect">
            <a:avLst/>
          </a:prstGeom>
          <a:noFill/>
          <a:ln/>
        </p:spPr>
        <p:txBody>
          <a:bodyPr wrap="square" rtlCol="0" anchor="t"/>
          <a:lstStyle/>
          <a:p>
            <a:pPr indent="0" marL="0">
              <a:lnSpc>
                <a:spcPct val="103000"/>
              </a:lnSpc>
              <a:buNone/>
            </a:pPr>
            <a:r>
              <a:rPr lang="en-US" sz="1250" dirty="0">
                <a:solidFill>
                  <a:srgbClr val="202340"/>
                </a:solidFill>
                <a:latin typeface="Calibri" pitchFamily="34" charset="0"/>
                <a:ea typeface="Calibri" pitchFamily="34" charset="-122"/>
                <a:cs typeface="Calibri" pitchFamily="34" charset="-120"/>
              </a:rPr>
              <a:t>Deficiency is met from OUTSIDE: surplus particles supplied by complementary units through closure. Currency: particles-and-bonding.</a:t>
            </a:r>
            <a:endParaRPr lang="en-US" sz="1250" dirty="0"/>
          </a:p>
        </p:txBody>
      </p:sp>
      <p:sp>
        <p:nvSpPr>
          <p:cNvPr id="31" name="Shape 29"/>
          <p:cNvSpPr/>
          <p:nvPr/>
        </p:nvSpPr>
        <p:spPr>
          <a:xfrm>
            <a:off x="6190488" y="4526280"/>
            <a:ext cx="5449824" cy="1417320"/>
          </a:xfrm>
          <a:prstGeom prst="roundRect">
            <a:avLst>
              <a:gd name="adj" fmla="val 3871"/>
            </a:avLst>
          </a:prstGeom>
          <a:solidFill>
            <a:srgbClr val="F5F6FB"/>
          </a:solidFill>
          <a:ln w="15875">
            <a:solidFill>
              <a:srgbClr val="B8842B"/>
            </a:solidFill>
            <a:prstDash val="solid"/>
          </a:ln>
        </p:spPr>
      </p:sp>
      <p:sp>
        <p:nvSpPr>
          <p:cNvPr id="32" name="Text 30"/>
          <p:cNvSpPr/>
          <p:nvPr/>
        </p:nvSpPr>
        <p:spPr>
          <a:xfrm>
            <a:off x="6391656" y="4681728"/>
            <a:ext cx="5029200" cy="365760"/>
          </a:xfrm>
          <a:prstGeom prst="rect">
            <a:avLst/>
          </a:prstGeom>
          <a:noFill/>
          <a:ln/>
        </p:spPr>
        <p:txBody>
          <a:bodyPr wrap="square" rtlCol="0" anchor="ctr"/>
          <a:lstStyle/>
          <a:p>
            <a:pPr indent="0" marL="0">
              <a:buNone/>
            </a:pPr>
            <a:r>
              <a:rPr lang="en-US" sz="1500" b="1" dirty="0">
                <a:solidFill>
                  <a:srgbClr val="B8842B"/>
                </a:solidFill>
                <a:latin typeface="Cambria" pitchFamily="34" charset="0"/>
                <a:ea typeface="Cambria" pitchFamily="34" charset="-122"/>
                <a:cs typeface="Cambria" pitchFamily="34" charset="-120"/>
              </a:rPr>
              <a:t>At &amp; above the turn — realization</a:t>
            </a:r>
            <a:endParaRPr lang="en-US" sz="1500" dirty="0"/>
          </a:p>
        </p:txBody>
      </p:sp>
      <p:sp>
        <p:nvSpPr>
          <p:cNvPr id="33" name="Text 31"/>
          <p:cNvSpPr/>
          <p:nvPr/>
        </p:nvSpPr>
        <p:spPr>
          <a:xfrm>
            <a:off x="6391656" y="5029200"/>
            <a:ext cx="5074920" cy="868680"/>
          </a:xfrm>
          <a:prstGeom prst="rect">
            <a:avLst/>
          </a:prstGeom>
          <a:noFill/>
          <a:ln/>
        </p:spPr>
        <p:txBody>
          <a:bodyPr wrap="square" rtlCol="0" anchor="t"/>
          <a:lstStyle/>
          <a:p>
            <a:pPr indent="0" marL="0">
              <a:lnSpc>
                <a:spcPct val="103000"/>
              </a:lnSpc>
              <a:buNone/>
            </a:pPr>
            <a:r>
              <a:rPr lang="en-US" sz="1250" dirty="0">
                <a:solidFill>
                  <a:srgbClr val="202340"/>
                </a:solidFill>
                <a:latin typeface="Calibri" pitchFamily="34" charset="0"/>
                <a:ea typeface="Calibri" pitchFamily="34" charset="-122"/>
                <a:cs typeface="Calibri" pitchFamily="34" charset="-120"/>
              </a:rPr>
              <a:t>Constitution is already complete. Remaining deficiency is met by the jeevan's own activity turning INWARD. Currency: understanding-and-alignment.</a:t>
            </a:r>
            <a:endParaRPr lang="en-US" sz="1250" dirty="0"/>
          </a:p>
        </p:txBody>
      </p:sp>
      <p:sp>
        <p:nvSpPr>
          <p:cNvPr id="34" name="Text 32"/>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07</a:t>
            </a:r>
            <a:endParaRPr lang="en-US" sz="900" dirty="0"/>
          </a:p>
        </p:txBody>
      </p:sp>
      <p:sp>
        <p:nvSpPr>
          <p:cNvPr id="35" name="Text 33"/>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A worked example</a:t>
            </a:r>
            <a:endParaRPr lang="en-US" sz="900" dirty="0"/>
          </a:p>
        </p:txBody>
      </p:sp>
      <p:sp>
        <p:nvSpPr>
          <p:cNvPr id="36" name="Text 34"/>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 · THE DISCIPLINE</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Every claim carries a status on two axes</a:t>
            </a:r>
            <a:endParaRPr lang="en-US" sz="2900" dirty="0"/>
          </a:p>
        </p:txBody>
      </p:sp>
      <p:sp>
        <p:nvSpPr>
          <p:cNvPr id="4" name="Text 2"/>
          <p:cNvSpPr/>
          <p:nvPr/>
        </p:nvSpPr>
        <p:spPr>
          <a:xfrm>
            <a:off x="548640" y="1536192"/>
            <a:ext cx="11091672" cy="640080"/>
          </a:xfrm>
          <a:prstGeom prst="rect">
            <a:avLst/>
          </a:prstGeom>
          <a:noFill/>
          <a:ln/>
        </p:spPr>
        <p:txBody>
          <a:bodyPr wrap="square" rtlCol="0" anchor="t"/>
          <a:lstStyle/>
          <a:p>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The paper refuses to let elegance stand in for evidence. Each notion is tagged twice — where it comes from, and what the formalism actually establishes.</a:t>
            </a:r>
            <a:endParaRPr lang="en-US" sz="1500" dirty="0"/>
          </a:p>
        </p:txBody>
      </p:sp>
      <p:sp>
        <p:nvSpPr>
          <p:cNvPr id="5" name="Shape 3"/>
          <p:cNvSpPr/>
          <p:nvPr/>
        </p:nvSpPr>
        <p:spPr>
          <a:xfrm>
            <a:off x="548640" y="2286000"/>
            <a:ext cx="5449824" cy="2423160"/>
          </a:xfrm>
          <a:prstGeom prst="roundRect">
            <a:avLst>
              <a:gd name="adj" fmla="val 2264"/>
            </a:avLst>
          </a:prstGeom>
          <a:solidFill>
            <a:srgbClr val="F5F6FB"/>
          </a:solidFill>
          <a:ln w="15875">
            <a:solidFill>
              <a:srgbClr val="3E7C8C"/>
            </a:solidFill>
            <a:prstDash val="solid"/>
          </a:ln>
        </p:spPr>
      </p:sp>
      <p:sp>
        <p:nvSpPr>
          <p:cNvPr id="6" name="Text 4"/>
          <p:cNvSpPr/>
          <p:nvPr/>
        </p:nvSpPr>
        <p:spPr>
          <a:xfrm>
            <a:off x="768096" y="2450592"/>
            <a:ext cx="5029200" cy="384048"/>
          </a:xfrm>
          <a:prstGeom prst="rect">
            <a:avLst/>
          </a:prstGeom>
          <a:noFill/>
          <a:ln/>
        </p:spPr>
        <p:txBody>
          <a:bodyPr wrap="square" rtlCol="0" anchor="ctr"/>
          <a:lstStyle/>
          <a:p>
            <a:pPr indent="0" marL="0">
              <a:buNone/>
            </a:pPr>
            <a:r>
              <a:rPr lang="en-US" sz="1700" b="1" dirty="0">
                <a:solidFill>
                  <a:srgbClr val="3E7C8C"/>
                </a:solidFill>
                <a:latin typeface="Cambria" pitchFamily="34" charset="0"/>
                <a:ea typeface="Cambria" pitchFamily="34" charset="-122"/>
                <a:cs typeface="Cambria" pitchFamily="34" charset="-120"/>
              </a:rPr>
              <a:t>Textual provenance</a:t>
            </a:r>
            <a:endParaRPr lang="en-US" sz="1700" dirty="0"/>
          </a:p>
        </p:txBody>
      </p:sp>
      <p:sp>
        <p:nvSpPr>
          <p:cNvPr id="7" name="Shape 5"/>
          <p:cNvSpPr/>
          <p:nvPr/>
        </p:nvSpPr>
        <p:spPr>
          <a:xfrm>
            <a:off x="804672" y="2980944"/>
            <a:ext cx="118872" cy="118872"/>
          </a:xfrm>
          <a:prstGeom prst="ellipse">
            <a:avLst/>
          </a:prstGeom>
          <a:solidFill>
            <a:srgbClr val="3E7C8C"/>
          </a:solidFill>
          <a:ln/>
        </p:spPr>
      </p:sp>
      <p:sp>
        <p:nvSpPr>
          <p:cNvPr id="8" name="Text 6"/>
          <p:cNvSpPr/>
          <p:nvPr/>
        </p:nvSpPr>
        <p:spPr>
          <a:xfrm>
            <a:off x="1051560" y="2889504"/>
            <a:ext cx="4800600" cy="502920"/>
          </a:xfrm>
          <a:prstGeom prst="rect">
            <a:avLst/>
          </a:prstGeom>
          <a:noFill/>
          <a:ln/>
        </p:spPr>
        <p:txBody>
          <a:bodyPr wrap="square" rtlCol="0" anchor="t"/>
          <a:lstStyle/>
          <a:p>
            <a:pPr indent="0" marL="0">
              <a:lnSpc>
                <a:spcPct val="100000"/>
              </a:lnSpc>
              <a:buNone/>
            </a:pPr>
            <a:r>
              <a:rPr lang="en-US" sz="1250" b="1" dirty="0">
                <a:solidFill>
                  <a:srgbClr val="16183D"/>
                </a:solidFill>
                <a:latin typeface="Calibri" pitchFamily="34" charset="0"/>
                <a:ea typeface="Calibri" pitchFamily="34" charset="-122"/>
                <a:cs typeface="Calibri" pitchFamily="34" charset="-120"/>
              </a:rPr>
              <a:t>Textual assertion — </a:t>
            </a:r>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stated in MVD / SB / JV / KD</a:t>
            </a:r>
            <a:endParaRPr lang="en-US" sz="1250" dirty="0"/>
          </a:p>
        </p:txBody>
      </p:sp>
      <p:sp>
        <p:nvSpPr>
          <p:cNvPr id="9" name="Shape 7"/>
          <p:cNvSpPr/>
          <p:nvPr/>
        </p:nvSpPr>
        <p:spPr>
          <a:xfrm>
            <a:off x="804672" y="3529584"/>
            <a:ext cx="118872" cy="118872"/>
          </a:xfrm>
          <a:prstGeom prst="ellipse">
            <a:avLst/>
          </a:prstGeom>
          <a:solidFill>
            <a:srgbClr val="3E7C8C"/>
          </a:solidFill>
          <a:ln/>
        </p:spPr>
      </p:sp>
      <p:sp>
        <p:nvSpPr>
          <p:cNvPr id="10" name="Text 8"/>
          <p:cNvSpPr/>
          <p:nvPr/>
        </p:nvSpPr>
        <p:spPr>
          <a:xfrm>
            <a:off x="1051560" y="3438144"/>
            <a:ext cx="4800600" cy="502920"/>
          </a:xfrm>
          <a:prstGeom prst="rect">
            <a:avLst/>
          </a:prstGeom>
          <a:noFill/>
          <a:ln/>
        </p:spPr>
        <p:txBody>
          <a:bodyPr wrap="square" rtlCol="0" anchor="t"/>
          <a:lstStyle/>
          <a:p>
            <a:pPr indent="0" marL="0">
              <a:lnSpc>
                <a:spcPct val="100000"/>
              </a:lnSpc>
              <a:buNone/>
            </a:pPr>
            <a:r>
              <a:rPr lang="en-US" sz="1250" b="1" dirty="0">
                <a:solidFill>
                  <a:srgbClr val="16183D"/>
                </a:solidFill>
                <a:latin typeface="Calibri" pitchFamily="34" charset="0"/>
                <a:ea typeface="Calibri" pitchFamily="34" charset="-122"/>
                <a:cs typeface="Calibri" pitchFamily="34" charset="-120"/>
              </a:rPr>
              <a:t>Formal reconstruction — </a:t>
            </a:r>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the paper's own kernel-level organization</a:t>
            </a:r>
            <a:endParaRPr lang="en-US" sz="1250" dirty="0"/>
          </a:p>
        </p:txBody>
      </p:sp>
      <p:sp>
        <p:nvSpPr>
          <p:cNvPr id="11" name="Shape 9"/>
          <p:cNvSpPr/>
          <p:nvPr/>
        </p:nvSpPr>
        <p:spPr>
          <a:xfrm>
            <a:off x="804672" y="4078224"/>
            <a:ext cx="118872" cy="118872"/>
          </a:xfrm>
          <a:prstGeom prst="ellipse">
            <a:avLst/>
          </a:prstGeom>
          <a:solidFill>
            <a:srgbClr val="3E7C8C"/>
          </a:solidFill>
          <a:ln/>
        </p:spPr>
      </p:sp>
      <p:sp>
        <p:nvSpPr>
          <p:cNvPr id="12" name="Text 10"/>
          <p:cNvSpPr/>
          <p:nvPr/>
        </p:nvSpPr>
        <p:spPr>
          <a:xfrm>
            <a:off x="1051560" y="3986784"/>
            <a:ext cx="4800600" cy="502920"/>
          </a:xfrm>
          <a:prstGeom prst="rect">
            <a:avLst/>
          </a:prstGeom>
          <a:noFill/>
          <a:ln/>
        </p:spPr>
        <p:txBody>
          <a:bodyPr wrap="square" rtlCol="0" anchor="t"/>
          <a:lstStyle/>
          <a:p>
            <a:pPr indent="0" marL="0">
              <a:lnSpc>
                <a:spcPct val="100000"/>
              </a:lnSpc>
              <a:buNone/>
            </a:pPr>
            <a:r>
              <a:rPr lang="en-US" sz="1250" b="1" dirty="0">
                <a:solidFill>
                  <a:srgbClr val="16183D"/>
                </a:solidFill>
                <a:latin typeface="Calibri" pitchFamily="34" charset="0"/>
                <a:ea typeface="Calibri" pitchFamily="34" charset="-122"/>
                <a:cs typeface="Calibri" pitchFamily="34" charset="-120"/>
              </a:rPr>
              <a:t>Mathematical analogy — </a:t>
            </a:r>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the categorical spine, the physical readings</a:t>
            </a:r>
            <a:endParaRPr lang="en-US" sz="1250" dirty="0"/>
          </a:p>
        </p:txBody>
      </p:sp>
      <p:sp>
        <p:nvSpPr>
          <p:cNvPr id="13" name="Shape 11"/>
          <p:cNvSpPr/>
          <p:nvPr/>
        </p:nvSpPr>
        <p:spPr>
          <a:xfrm>
            <a:off x="6190488" y="2286000"/>
            <a:ext cx="5449824" cy="2423160"/>
          </a:xfrm>
          <a:prstGeom prst="roundRect">
            <a:avLst>
              <a:gd name="adj" fmla="val 2264"/>
            </a:avLst>
          </a:prstGeom>
          <a:solidFill>
            <a:srgbClr val="F5F6FB"/>
          </a:solidFill>
          <a:ln w="15875">
            <a:solidFill>
              <a:srgbClr val="B8842B"/>
            </a:solidFill>
            <a:prstDash val="solid"/>
          </a:ln>
        </p:spPr>
      </p:sp>
      <p:sp>
        <p:nvSpPr>
          <p:cNvPr id="14" name="Text 12"/>
          <p:cNvSpPr/>
          <p:nvPr/>
        </p:nvSpPr>
        <p:spPr>
          <a:xfrm>
            <a:off x="6409944" y="2450592"/>
            <a:ext cx="5029200" cy="384048"/>
          </a:xfrm>
          <a:prstGeom prst="rect">
            <a:avLst/>
          </a:prstGeom>
          <a:noFill/>
          <a:ln/>
        </p:spPr>
        <p:txBody>
          <a:bodyPr wrap="square" rtlCol="0" anchor="ctr"/>
          <a:lstStyle/>
          <a:p>
            <a:pPr indent="0" marL="0">
              <a:buNone/>
            </a:pPr>
            <a:r>
              <a:rPr lang="en-US" sz="1700" b="1" dirty="0">
                <a:solidFill>
                  <a:srgbClr val="B8842B"/>
                </a:solidFill>
                <a:latin typeface="Cambria" pitchFamily="34" charset="0"/>
                <a:ea typeface="Cambria" pitchFamily="34" charset="-122"/>
                <a:cs typeface="Cambria" pitchFamily="34" charset="-120"/>
              </a:rPr>
              <a:t>Epistemic standing</a:t>
            </a:r>
            <a:endParaRPr lang="en-US" sz="1700" dirty="0"/>
          </a:p>
        </p:txBody>
      </p:sp>
      <p:sp>
        <p:nvSpPr>
          <p:cNvPr id="15" name="Shape 13"/>
          <p:cNvSpPr/>
          <p:nvPr/>
        </p:nvSpPr>
        <p:spPr>
          <a:xfrm>
            <a:off x="6446520" y="2980944"/>
            <a:ext cx="118872" cy="118872"/>
          </a:xfrm>
          <a:prstGeom prst="ellipse">
            <a:avLst/>
          </a:prstGeom>
          <a:solidFill>
            <a:srgbClr val="B8842B"/>
          </a:solidFill>
          <a:ln/>
        </p:spPr>
      </p:sp>
      <p:sp>
        <p:nvSpPr>
          <p:cNvPr id="16" name="Text 14"/>
          <p:cNvSpPr/>
          <p:nvPr/>
        </p:nvSpPr>
        <p:spPr>
          <a:xfrm>
            <a:off x="6693408" y="2889504"/>
            <a:ext cx="4800600" cy="502920"/>
          </a:xfrm>
          <a:prstGeom prst="rect">
            <a:avLst/>
          </a:prstGeom>
          <a:noFill/>
          <a:ln/>
        </p:spPr>
        <p:txBody>
          <a:bodyPr wrap="square" rtlCol="0" anchor="t"/>
          <a:lstStyle/>
          <a:p>
            <a:pPr indent="0" marL="0">
              <a:lnSpc>
                <a:spcPct val="100000"/>
              </a:lnSpc>
              <a:buNone/>
            </a:pPr>
            <a:r>
              <a:rPr lang="en-US" sz="1250" b="1" dirty="0">
                <a:solidFill>
                  <a:srgbClr val="16183D"/>
                </a:solidFill>
                <a:latin typeface="Calibri" pitchFamily="34" charset="0"/>
                <a:ea typeface="Calibri" pitchFamily="34" charset="-122"/>
                <a:cs typeface="Calibri" pitchFamily="34" charset="-120"/>
              </a:rPr>
              <a:t>Established in the model — </a:t>
            </a:r>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a result of the reconstruction</a:t>
            </a:r>
            <a:endParaRPr lang="en-US" sz="1250" dirty="0"/>
          </a:p>
        </p:txBody>
      </p:sp>
      <p:sp>
        <p:nvSpPr>
          <p:cNvPr id="17" name="Shape 15"/>
          <p:cNvSpPr/>
          <p:nvPr/>
        </p:nvSpPr>
        <p:spPr>
          <a:xfrm>
            <a:off x="6446520" y="3529584"/>
            <a:ext cx="118872" cy="118872"/>
          </a:xfrm>
          <a:prstGeom prst="ellipse">
            <a:avLst/>
          </a:prstGeom>
          <a:solidFill>
            <a:srgbClr val="B8842B"/>
          </a:solidFill>
          <a:ln/>
        </p:spPr>
      </p:sp>
      <p:sp>
        <p:nvSpPr>
          <p:cNvPr id="18" name="Text 16"/>
          <p:cNvSpPr/>
          <p:nvPr/>
        </p:nvSpPr>
        <p:spPr>
          <a:xfrm>
            <a:off x="6693408" y="3438144"/>
            <a:ext cx="4800600" cy="502920"/>
          </a:xfrm>
          <a:prstGeom prst="rect">
            <a:avLst/>
          </a:prstGeom>
          <a:noFill/>
          <a:ln/>
        </p:spPr>
        <p:txBody>
          <a:bodyPr wrap="square" rtlCol="0" anchor="t"/>
          <a:lstStyle/>
          <a:p>
            <a:pPr indent="0" marL="0">
              <a:lnSpc>
                <a:spcPct val="100000"/>
              </a:lnSpc>
              <a:buNone/>
            </a:pPr>
            <a:r>
              <a:rPr lang="en-US" sz="1250" b="1" dirty="0">
                <a:solidFill>
                  <a:srgbClr val="16183D"/>
                </a:solidFill>
                <a:latin typeface="Calibri" pitchFamily="34" charset="0"/>
                <a:ea typeface="Calibri" pitchFamily="34" charset="-122"/>
                <a:cs typeface="Calibri" pitchFamily="34" charset="-120"/>
              </a:rPr>
              <a:t>Taught datum — </a:t>
            </a:r>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content the texts fix; the model can't produce it</a:t>
            </a:r>
            <a:endParaRPr lang="en-US" sz="1250" dirty="0"/>
          </a:p>
        </p:txBody>
      </p:sp>
      <p:sp>
        <p:nvSpPr>
          <p:cNvPr id="19" name="Shape 17"/>
          <p:cNvSpPr/>
          <p:nvPr/>
        </p:nvSpPr>
        <p:spPr>
          <a:xfrm>
            <a:off x="6446520" y="4078224"/>
            <a:ext cx="118872" cy="118872"/>
          </a:xfrm>
          <a:prstGeom prst="ellipse">
            <a:avLst/>
          </a:prstGeom>
          <a:solidFill>
            <a:srgbClr val="B8842B"/>
          </a:solidFill>
          <a:ln/>
        </p:spPr>
      </p:sp>
      <p:sp>
        <p:nvSpPr>
          <p:cNvPr id="20" name="Text 18"/>
          <p:cNvSpPr/>
          <p:nvPr/>
        </p:nvSpPr>
        <p:spPr>
          <a:xfrm>
            <a:off x="6693408" y="3986784"/>
            <a:ext cx="4800600" cy="502920"/>
          </a:xfrm>
          <a:prstGeom prst="rect">
            <a:avLst/>
          </a:prstGeom>
          <a:noFill/>
          <a:ln/>
        </p:spPr>
        <p:txBody>
          <a:bodyPr wrap="square" rtlCol="0" anchor="t"/>
          <a:lstStyle/>
          <a:p>
            <a:pPr indent="0" marL="0">
              <a:lnSpc>
                <a:spcPct val="100000"/>
              </a:lnSpc>
              <a:buNone/>
            </a:pPr>
            <a:r>
              <a:rPr lang="en-US" sz="1250" b="1" dirty="0">
                <a:solidFill>
                  <a:srgbClr val="16183D"/>
                </a:solidFill>
                <a:latin typeface="Calibri" pitchFamily="34" charset="0"/>
                <a:ea typeface="Calibri" pitchFamily="34" charset="-122"/>
                <a:cs typeface="Calibri" pitchFamily="34" charset="-120"/>
              </a:rPr>
              <a:t>Open metaphysical posit — </a:t>
            </a:r>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asserted, not established</a:t>
            </a:r>
            <a:endParaRPr lang="en-US" sz="1250" dirty="0"/>
          </a:p>
        </p:txBody>
      </p:sp>
      <p:sp>
        <p:nvSpPr>
          <p:cNvPr id="21" name="Shape 19"/>
          <p:cNvSpPr/>
          <p:nvPr/>
        </p:nvSpPr>
        <p:spPr>
          <a:xfrm>
            <a:off x="548640" y="4892040"/>
            <a:ext cx="11091672" cy="1188720"/>
          </a:xfrm>
          <a:prstGeom prst="roundRect">
            <a:avLst>
              <a:gd name="adj" fmla="val 4615"/>
            </a:avLst>
          </a:prstGeom>
          <a:solidFill>
            <a:srgbClr val="16183D"/>
          </a:solidFill>
          <a:ln/>
        </p:spPr>
      </p:sp>
      <p:sp>
        <p:nvSpPr>
          <p:cNvPr id="22" name="Text 20"/>
          <p:cNvSpPr/>
          <p:nvPr/>
        </p:nvSpPr>
        <p:spPr>
          <a:xfrm>
            <a:off x="777240" y="5029200"/>
            <a:ext cx="2194560" cy="365760"/>
          </a:xfrm>
          <a:prstGeom prst="rect">
            <a:avLst/>
          </a:prstGeom>
          <a:noFill/>
          <a:ln/>
        </p:spPr>
        <p:txBody>
          <a:bodyPr wrap="square" rtlCol="0" anchor="ctr"/>
          <a:lstStyle/>
          <a:p>
            <a:pPr indent="0" marL="0">
              <a:buNone/>
            </a:pPr>
            <a:r>
              <a:rPr lang="en-US" sz="1500" b="1" dirty="0">
                <a:solidFill>
                  <a:srgbClr val="E3B857"/>
                </a:solidFill>
                <a:latin typeface="Cambria" pitchFamily="34" charset="0"/>
                <a:ea typeface="Cambria" pitchFamily="34" charset="-122"/>
                <a:cs typeface="Cambria" pitchFamily="34" charset="-120"/>
              </a:rPr>
              <a:t>The axes cross:</a:t>
            </a:r>
            <a:endParaRPr lang="en-US" sz="1500" dirty="0"/>
          </a:p>
        </p:txBody>
      </p:sp>
      <p:sp>
        <p:nvSpPr>
          <p:cNvPr id="23" name="Text 21"/>
          <p:cNvSpPr/>
          <p:nvPr/>
        </p:nvSpPr>
        <p:spPr>
          <a:xfrm>
            <a:off x="777240" y="5413248"/>
            <a:ext cx="10607040" cy="594360"/>
          </a:xfrm>
          <a:prstGeom prst="rect">
            <a:avLst/>
          </a:prstGeom>
          <a:noFill/>
          <a:ln/>
        </p:spPr>
        <p:txBody>
          <a:bodyPr wrap="square" rtlCol="0" anchor="t"/>
          <a:lstStyle/>
          <a:p>
            <a:pPr indent="0" marL="0">
              <a:lnSpc>
                <a:spcPct val="105000"/>
              </a:lnSpc>
              <a:buNone/>
            </a:pPr>
            <a:r>
              <a:rPr lang="en-US" sz="1350" dirty="0">
                <a:solidFill>
                  <a:srgbClr val="F2EEE3"/>
                </a:solidFill>
                <a:latin typeface="Calibri" pitchFamily="34" charset="0"/>
                <a:ea typeface="Calibri" pitchFamily="34" charset="-122"/>
                <a:cs typeface="Calibri" pitchFamily="34" charset="-120"/>
              </a:rPr>
              <a:t>satta and jeevan are textual assertions AND open posits   ·   </a:t>
            </a:r>
            <a:pPr indent="0" marL="0">
              <a:lnSpc>
                <a:spcPct val="105000"/>
              </a:lnSpc>
              <a:buNone/>
            </a:pPr>
            <a:r>
              <a:rPr lang="en-US" sz="1350" b="1" dirty="0">
                <a:solidFill>
                  <a:srgbClr val="E3B857"/>
                </a:solidFill>
                <a:latin typeface="Calibri" pitchFamily="34" charset="0"/>
                <a:ea typeface="Calibri" pitchFamily="34" charset="-122"/>
                <a:cs typeface="Calibri" pitchFamily="34" charset="-120"/>
              </a:rPr>
              <a:t>κ</a:t>
            </a:r>
            <a:pPr indent="0" marL="0">
              <a:lnSpc>
                <a:spcPct val="105000"/>
              </a:lnSpc>
              <a:buNone/>
            </a:pPr>
            <a:r>
              <a:rPr lang="en-US" sz="1350" dirty="0">
                <a:solidFill>
                  <a:srgbClr val="F2EEE3"/>
                </a:solidFill>
                <a:latin typeface="Calibri" pitchFamily="34" charset="0"/>
                <a:ea typeface="Calibri" pitchFamily="34" charset="-122"/>
                <a:cs typeface="Calibri" pitchFamily="34" charset="-120"/>
              </a:rPr>
              <a:t> is a reconstruction established within the model   ·   the six value-kinds are assertions that stay taught data.</a:t>
            </a:r>
            <a:endParaRPr lang="en-US" sz="1350" dirty="0"/>
          </a:p>
        </p:txBody>
      </p:sp>
      <p:sp>
        <p:nvSpPr>
          <p:cNvPr id="24" name="Text 22"/>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08</a:t>
            </a:r>
            <a:endParaRPr lang="en-US" sz="900" dirty="0"/>
          </a:p>
        </p:txBody>
      </p:sp>
      <p:sp>
        <p:nvSpPr>
          <p:cNvPr id="25" name="Text 23"/>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Two honesty axes</a:t>
            </a:r>
            <a:endParaRPr lang="en-US" sz="900" dirty="0"/>
          </a:p>
        </p:txBody>
      </p:sp>
      <p:sp>
        <p:nvSpPr>
          <p:cNvPr id="26" name="Text 24"/>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83D"/>
        </a:solidFill>
      </p:bgPr>
    </p:bg>
    <p:spTree>
      <p:nvGrpSpPr>
        <p:cNvPr id="1" name=""/>
        <p:cNvGrpSpPr/>
        <p:nvPr/>
      </p:nvGrpSpPr>
      <p:grpSpPr>
        <a:xfrm>
          <a:off x="0" y="0"/>
          <a:ext cx="0" cy="0"/>
          <a:chOff x="0" y="0"/>
          <a:chExt cx="0" cy="0"/>
        </a:xfrm>
      </p:grpSpPr>
      <p:sp>
        <p:nvSpPr>
          <p:cNvPr id="2" name="Shape 0"/>
          <p:cNvSpPr/>
          <p:nvPr/>
        </p:nvSpPr>
        <p:spPr>
          <a:xfrm>
            <a:off x="822960" y="1097280"/>
            <a:ext cx="91440" cy="91440"/>
          </a:xfrm>
          <a:prstGeom prst="ellipse">
            <a:avLst/>
          </a:prstGeom>
          <a:solidFill>
            <a:srgbClr val="E3B857">
              <a:alpha val="65000"/>
            </a:srgbClr>
          </a:solidFill>
          <a:ln/>
        </p:spPr>
      </p:sp>
      <p:sp>
        <p:nvSpPr>
          <p:cNvPr id="3" name="Shape 1"/>
          <p:cNvSpPr/>
          <p:nvPr/>
        </p:nvSpPr>
        <p:spPr>
          <a:xfrm>
            <a:off x="1920240" y="3566160"/>
            <a:ext cx="54864" cy="54864"/>
          </a:xfrm>
          <a:prstGeom prst="ellipse">
            <a:avLst/>
          </a:prstGeom>
          <a:solidFill>
            <a:srgbClr val="E3B857">
              <a:alpha val="65000"/>
            </a:srgbClr>
          </a:solidFill>
          <a:ln/>
        </p:spPr>
      </p:sp>
      <p:sp>
        <p:nvSpPr>
          <p:cNvPr id="4" name="Shape 2"/>
          <p:cNvSpPr/>
          <p:nvPr/>
        </p:nvSpPr>
        <p:spPr>
          <a:xfrm>
            <a:off x="1371600" y="5303520"/>
            <a:ext cx="73152" cy="73152"/>
          </a:xfrm>
          <a:prstGeom prst="ellipse">
            <a:avLst/>
          </a:prstGeom>
          <a:solidFill>
            <a:srgbClr val="E3B857">
              <a:alpha val="65000"/>
            </a:srgbClr>
          </a:solidFill>
          <a:ln/>
        </p:spPr>
      </p:sp>
      <p:sp>
        <p:nvSpPr>
          <p:cNvPr id="5" name="Shape 3"/>
          <p:cNvSpPr/>
          <p:nvPr/>
        </p:nvSpPr>
        <p:spPr>
          <a:xfrm>
            <a:off x="3108960" y="1554480"/>
            <a:ext cx="45720" cy="45720"/>
          </a:xfrm>
          <a:prstGeom prst="ellipse">
            <a:avLst/>
          </a:prstGeom>
          <a:solidFill>
            <a:srgbClr val="E3B857">
              <a:alpha val="65000"/>
            </a:srgbClr>
          </a:solidFill>
          <a:ln/>
        </p:spPr>
      </p:sp>
      <p:sp>
        <p:nvSpPr>
          <p:cNvPr id="6" name="Shape 4"/>
          <p:cNvSpPr/>
          <p:nvPr/>
        </p:nvSpPr>
        <p:spPr>
          <a:xfrm>
            <a:off x="3840480" y="4754880"/>
            <a:ext cx="64008" cy="64008"/>
          </a:xfrm>
          <a:prstGeom prst="ellipse">
            <a:avLst/>
          </a:prstGeom>
          <a:solidFill>
            <a:srgbClr val="E3B857">
              <a:alpha val="65000"/>
            </a:srgbClr>
          </a:solidFill>
          <a:ln/>
        </p:spPr>
      </p:sp>
      <p:sp>
        <p:nvSpPr>
          <p:cNvPr id="7" name="Shape 5"/>
          <p:cNvSpPr/>
          <p:nvPr/>
        </p:nvSpPr>
        <p:spPr>
          <a:xfrm>
            <a:off x="10058400" y="1280160"/>
            <a:ext cx="82296" cy="82296"/>
          </a:xfrm>
          <a:prstGeom prst="ellipse">
            <a:avLst/>
          </a:prstGeom>
          <a:solidFill>
            <a:srgbClr val="E3B857">
              <a:alpha val="65000"/>
            </a:srgbClr>
          </a:solidFill>
          <a:ln/>
        </p:spPr>
      </p:sp>
      <p:sp>
        <p:nvSpPr>
          <p:cNvPr id="8" name="Shape 6"/>
          <p:cNvSpPr/>
          <p:nvPr/>
        </p:nvSpPr>
        <p:spPr>
          <a:xfrm>
            <a:off x="11247120" y="2834640"/>
            <a:ext cx="54864" cy="54864"/>
          </a:xfrm>
          <a:prstGeom prst="ellipse">
            <a:avLst/>
          </a:prstGeom>
          <a:solidFill>
            <a:srgbClr val="E3B857">
              <a:alpha val="65000"/>
            </a:srgbClr>
          </a:solidFill>
          <a:ln/>
        </p:spPr>
      </p:sp>
      <p:sp>
        <p:nvSpPr>
          <p:cNvPr id="9" name="Shape 7"/>
          <p:cNvSpPr/>
          <p:nvPr/>
        </p:nvSpPr>
        <p:spPr>
          <a:xfrm>
            <a:off x="9509760" y="5120640"/>
            <a:ext cx="64008" cy="64008"/>
          </a:xfrm>
          <a:prstGeom prst="ellipse">
            <a:avLst/>
          </a:prstGeom>
          <a:solidFill>
            <a:srgbClr val="E3B857">
              <a:alpha val="65000"/>
            </a:srgbClr>
          </a:solidFill>
          <a:ln/>
        </p:spPr>
      </p:sp>
      <p:sp>
        <p:nvSpPr>
          <p:cNvPr id="10" name="Shape 8"/>
          <p:cNvSpPr/>
          <p:nvPr/>
        </p:nvSpPr>
        <p:spPr>
          <a:xfrm>
            <a:off x="11521440" y="5486400"/>
            <a:ext cx="45720" cy="45720"/>
          </a:xfrm>
          <a:prstGeom prst="ellipse">
            <a:avLst/>
          </a:prstGeom>
          <a:solidFill>
            <a:srgbClr val="E3B857">
              <a:alpha val="65000"/>
            </a:srgbClr>
          </a:solidFill>
          <a:ln/>
        </p:spPr>
      </p:sp>
      <p:sp>
        <p:nvSpPr>
          <p:cNvPr id="11" name="Shape 9"/>
          <p:cNvSpPr/>
          <p:nvPr/>
        </p:nvSpPr>
        <p:spPr>
          <a:xfrm>
            <a:off x="10698480" y="4206240"/>
            <a:ext cx="91440" cy="91440"/>
          </a:xfrm>
          <a:prstGeom prst="ellipse">
            <a:avLst/>
          </a:prstGeom>
          <a:solidFill>
            <a:srgbClr val="E3B857">
              <a:alpha val="65000"/>
            </a:srgbClr>
          </a:solidFill>
          <a:ln/>
        </p:spPr>
      </p:sp>
      <p:sp>
        <p:nvSpPr>
          <p:cNvPr id="12" name="Shape 10"/>
          <p:cNvSpPr/>
          <p:nvPr/>
        </p:nvSpPr>
        <p:spPr>
          <a:xfrm>
            <a:off x="6035040" y="640080"/>
            <a:ext cx="45720" cy="45720"/>
          </a:xfrm>
          <a:prstGeom prst="ellipse">
            <a:avLst/>
          </a:prstGeom>
          <a:solidFill>
            <a:srgbClr val="E3B857">
              <a:alpha val="65000"/>
            </a:srgbClr>
          </a:solidFill>
          <a:ln/>
        </p:spPr>
      </p:sp>
      <p:sp>
        <p:nvSpPr>
          <p:cNvPr id="13" name="Shape 11"/>
          <p:cNvSpPr/>
          <p:nvPr/>
        </p:nvSpPr>
        <p:spPr>
          <a:xfrm>
            <a:off x="7132320" y="6126480"/>
            <a:ext cx="54864" cy="54864"/>
          </a:xfrm>
          <a:prstGeom prst="ellipse">
            <a:avLst/>
          </a:prstGeom>
          <a:solidFill>
            <a:srgbClr val="E3B857">
              <a:alpha val="65000"/>
            </a:srgbClr>
          </a:solidFill>
          <a:ln/>
        </p:spPr>
      </p:sp>
      <p:sp>
        <p:nvSpPr>
          <p:cNvPr id="14" name="Shape 12"/>
          <p:cNvSpPr/>
          <p:nvPr/>
        </p:nvSpPr>
        <p:spPr>
          <a:xfrm>
            <a:off x="8503920" y="822960"/>
            <a:ext cx="64008" cy="64008"/>
          </a:xfrm>
          <a:prstGeom prst="ellipse">
            <a:avLst/>
          </a:prstGeom>
          <a:solidFill>
            <a:srgbClr val="E3B857">
              <a:alpha val="65000"/>
            </a:srgbClr>
          </a:solidFill>
          <a:ln/>
        </p:spPr>
      </p:sp>
      <p:sp>
        <p:nvSpPr>
          <p:cNvPr id="15" name="Shape 13"/>
          <p:cNvSpPr/>
          <p:nvPr/>
        </p:nvSpPr>
        <p:spPr>
          <a:xfrm>
            <a:off x="4663440" y="6309360"/>
            <a:ext cx="45720" cy="45720"/>
          </a:xfrm>
          <a:prstGeom prst="ellipse">
            <a:avLst/>
          </a:prstGeom>
          <a:solidFill>
            <a:srgbClr val="E3B857">
              <a:alpha val="65000"/>
            </a:srgbClr>
          </a:solidFill>
          <a:ln/>
        </p:spPr>
      </p:sp>
      <p:sp>
        <p:nvSpPr>
          <p:cNvPr id="16" name="Text 14"/>
          <p:cNvSpPr/>
          <p:nvPr/>
        </p:nvSpPr>
        <p:spPr>
          <a:xfrm>
            <a:off x="822960" y="2286000"/>
            <a:ext cx="5486400" cy="365760"/>
          </a:xfrm>
          <a:prstGeom prst="rect">
            <a:avLst/>
          </a:prstGeom>
          <a:noFill/>
          <a:ln/>
        </p:spPr>
        <p:txBody>
          <a:bodyPr wrap="square" rtlCol="0" anchor="ctr"/>
          <a:lstStyle/>
          <a:p>
            <a:pPr indent="0" marL="0">
              <a:buNone/>
            </a:pPr>
            <a:r>
              <a:rPr lang="en-US" sz="1400" b="1" spc="500" kern="0" dirty="0">
                <a:solidFill>
                  <a:srgbClr val="E3B857"/>
                </a:solidFill>
                <a:latin typeface="Calibri" pitchFamily="34" charset="0"/>
                <a:ea typeface="Calibri" pitchFamily="34" charset="-122"/>
                <a:cs typeface="Calibri" pitchFamily="34" charset="-120"/>
              </a:rPr>
              <a:t>PART II</a:t>
            </a:r>
            <a:endParaRPr lang="en-US" sz="1400" dirty="0"/>
          </a:p>
        </p:txBody>
      </p:sp>
      <p:sp>
        <p:nvSpPr>
          <p:cNvPr id="17" name="Text 15"/>
          <p:cNvSpPr/>
          <p:nvPr/>
        </p:nvSpPr>
        <p:spPr>
          <a:xfrm>
            <a:off x="804672" y="2697480"/>
            <a:ext cx="10424160" cy="1280160"/>
          </a:xfrm>
          <a:prstGeom prst="rect">
            <a:avLst/>
          </a:prstGeom>
          <a:noFill/>
          <a:ln/>
        </p:spPr>
        <p:txBody>
          <a:bodyPr wrap="square" rtlCol="0" anchor="ctr"/>
          <a:lstStyle/>
          <a:p>
            <a:pPr indent="0" marL="0">
              <a:lnSpc>
                <a:spcPct val="98000"/>
              </a:lnSpc>
              <a:buNone/>
            </a:pPr>
            <a:r>
              <a:rPr lang="en-US" sz="4000" b="1" dirty="0">
                <a:solidFill>
                  <a:srgbClr val="F2EEE3"/>
                </a:solidFill>
                <a:latin typeface="Cambria" pitchFamily="34" charset="0"/>
                <a:ea typeface="Cambria" pitchFamily="34" charset="-122"/>
                <a:cs typeface="Cambria" pitchFamily="34" charset="-120"/>
              </a:rPr>
              <a:t>The kernel</a:t>
            </a:r>
            <a:endParaRPr lang="en-US" sz="4000" dirty="0"/>
          </a:p>
        </p:txBody>
      </p:sp>
      <p:sp>
        <p:nvSpPr>
          <p:cNvPr id="18" name="Shape 16"/>
          <p:cNvSpPr/>
          <p:nvPr/>
        </p:nvSpPr>
        <p:spPr>
          <a:xfrm>
            <a:off x="841248" y="3977640"/>
            <a:ext cx="2377440" cy="0"/>
          </a:xfrm>
          <a:prstGeom prst="line">
            <a:avLst/>
          </a:prstGeom>
          <a:noFill/>
          <a:ln w="19050">
            <a:solidFill>
              <a:srgbClr val="E3B857"/>
            </a:solidFill>
            <a:prstDash val="solid"/>
          </a:ln>
        </p:spPr>
      </p:sp>
      <p:sp>
        <p:nvSpPr>
          <p:cNvPr id="19" name="Text 17"/>
          <p:cNvSpPr/>
          <p:nvPr/>
        </p:nvSpPr>
        <p:spPr>
          <a:xfrm>
            <a:off x="822960" y="4160520"/>
            <a:ext cx="9692640" cy="822960"/>
          </a:xfrm>
          <a:prstGeom prst="rect">
            <a:avLst/>
          </a:prstGeom>
          <a:noFill/>
          <a:ln/>
        </p:spPr>
        <p:txBody>
          <a:bodyPr wrap="square" rtlCol="0" anchor="ctr"/>
          <a:lstStyle/>
          <a:p>
            <a:pPr indent="0" marL="0">
              <a:lnSpc>
                <a:spcPct val="105000"/>
              </a:lnSpc>
              <a:buNone/>
            </a:pPr>
            <a:r>
              <a:rPr lang="en-US" sz="1500" dirty="0">
                <a:solidFill>
                  <a:srgbClr val="A7ACD0"/>
                </a:solidFill>
                <a:latin typeface="Calibri" pitchFamily="34" charset="0"/>
                <a:ea typeface="Calibri" pitchFamily="34" charset="-122"/>
                <a:cs typeface="Calibri" pitchFamily="34" charset="-120"/>
              </a:rPr>
              <a:t>Three primitives, two axioms, one generative move — and the reflexive turn where sentience enters. Everything else in the darshan's ontology is organized from here.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 · THE KERNEL</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Three primitives</a:t>
            </a:r>
            <a:endParaRPr lang="en-US" sz="2900" dirty="0"/>
          </a:p>
        </p:txBody>
      </p:sp>
      <p:sp>
        <p:nvSpPr>
          <p:cNvPr id="4" name="Shape 2"/>
          <p:cNvSpPr/>
          <p:nvPr/>
        </p:nvSpPr>
        <p:spPr>
          <a:xfrm>
            <a:off x="7635240" y="1600200"/>
            <a:ext cx="4005072" cy="3703320"/>
          </a:xfrm>
          <a:prstGeom prst="roundRect">
            <a:avLst>
              <a:gd name="adj" fmla="val 1975"/>
            </a:avLst>
          </a:prstGeom>
          <a:solidFill>
            <a:srgbClr val="16183D"/>
          </a:solidFill>
          <a:ln/>
        </p:spPr>
      </p:sp>
      <p:sp>
        <p:nvSpPr>
          <p:cNvPr id="5" name="Text 3"/>
          <p:cNvSpPr/>
          <p:nvPr/>
        </p:nvSpPr>
        <p:spPr>
          <a:xfrm>
            <a:off x="7818120" y="1737360"/>
            <a:ext cx="3657600" cy="320040"/>
          </a:xfrm>
          <a:prstGeom prst="rect">
            <a:avLst/>
          </a:prstGeom>
          <a:noFill/>
          <a:ln/>
        </p:spPr>
        <p:txBody>
          <a:bodyPr wrap="square" rtlCol="0" anchor="ctr"/>
          <a:lstStyle/>
          <a:p>
            <a:pPr indent="0" marL="0">
              <a:buNone/>
            </a:pPr>
            <a:r>
              <a:rPr lang="en-US" sz="1400" b="1" dirty="0">
                <a:solidFill>
                  <a:srgbClr val="E3B857"/>
                </a:solidFill>
                <a:latin typeface="Cambria" pitchFamily="34" charset="0"/>
                <a:ea typeface="Cambria" pitchFamily="34" charset="-122"/>
                <a:cs typeface="Cambria" pitchFamily="34" charset="-120"/>
              </a:rPr>
              <a:t>O  —  satta</a:t>
            </a:r>
            <a:endParaRPr lang="en-US" sz="1400" dirty="0"/>
          </a:p>
        </p:txBody>
      </p:sp>
      <p:sp>
        <p:nvSpPr>
          <p:cNvPr id="6" name="Text 4"/>
          <p:cNvSpPr/>
          <p:nvPr/>
        </p:nvSpPr>
        <p:spPr>
          <a:xfrm>
            <a:off x="7818120" y="2048256"/>
            <a:ext cx="3657600" cy="274320"/>
          </a:xfrm>
          <a:prstGeom prst="rect">
            <a:avLst/>
          </a:prstGeom>
          <a:noFill/>
          <a:ln/>
        </p:spPr>
        <p:txBody>
          <a:bodyPr wrap="square" rtlCol="0" anchor="ctr"/>
          <a:lstStyle/>
          <a:p>
            <a:pPr indent="0" marL="0">
              <a:buNone/>
            </a:pPr>
            <a:r>
              <a:rPr lang="en-US" sz="1100" i="1" dirty="0">
                <a:solidFill>
                  <a:srgbClr val="A7ACD0"/>
                </a:solidFill>
                <a:latin typeface="Calibri" pitchFamily="34" charset="0"/>
                <a:ea typeface="Calibri" pitchFamily="34" charset="-122"/>
                <a:cs typeface="Calibri" pitchFamily="34" charset="-120"/>
              </a:rPr>
              <a:t>the medium (actionless)</a:t>
            </a:r>
            <a:endParaRPr lang="en-US" sz="1100" dirty="0"/>
          </a:p>
        </p:txBody>
      </p:sp>
      <p:sp>
        <p:nvSpPr>
          <p:cNvPr id="7" name="Shape 5"/>
          <p:cNvSpPr/>
          <p:nvPr/>
        </p:nvSpPr>
        <p:spPr>
          <a:xfrm>
            <a:off x="8321040" y="2926080"/>
            <a:ext cx="219456" cy="219456"/>
          </a:xfrm>
          <a:prstGeom prst="ellipse">
            <a:avLst/>
          </a:prstGeom>
          <a:solidFill>
            <a:srgbClr val="E3B857"/>
          </a:solidFill>
          <a:ln/>
        </p:spPr>
      </p:sp>
      <p:sp>
        <p:nvSpPr>
          <p:cNvPr id="8" name="Shape 6"/>
          <p:cNvSpPr/>
          <p:nvPr/>
        </p:nvSpPr>
        <p:spPr>
          <a:xfrm>
            <a:off x="9509760" y="2743200"/>
            <a:ext cx="219456" cy="219456"/>
          </a:xfrm>
          <a:prstGeom prst="ellipse">
            <a:avLst/>
          </a:prstGeom>
          <a:solidFill>
            <a:srgbClr val="E3B857"/>
          </a:solidFill>
          <a:ln/>
        </p:spPr>
      </p:sp>
      <p:sp>
        <p:nvSpPr>
          <p:cNvPr id="9" name="Shape 7"/>
          <p:cNvSpPr/>
          <p:nvPr/>
        </p:nvSpPr>
        <p:spPr>
          <a:xfrm>
            <a:off x="10607040" y="3108960"/>
            <a:ext cx="219456" cy="219456"/>
          </a:xfrm>
          <a:prstGeom prst="ellipse">
            <a:avLst/>
          </a:prstGeom>
          <a:solidFill>
            <a:srgbClr val="E3B857"/>
          </a:solidFill>
          <a:ln/>
        </p:spPr>
      </p:sp>
      <p:sp>
        <p:nvSpPr>
          <p:cNvPr id="10" name="Shape 8"/>
          <p:cNvSpPr/>
          <p:nvPr/>
        </p:nvSpPr>
        <p:spPr>
          <a:xfrm>
            <a:off x="8778240" y="3840480"/>
            <a:ext cx="219456" cy="219456"/>
          </a:xfrm>
          <a:prstGeom prst="ellipse">
            <a:avLst/>
          </a:prstGeom>
          <a:solidFill>
            <a:srgbClr val="E3B857"/>
          </a:solidFill>
          <a:ln/>
        </p:spPr>
      </p:sp>
      <p:sp>
        <p:nvSpPr>
          <p:cNvPr id="11" name="Shape 9"/>
          <p:cNvSpPr/>
          <p:nvPr/>
        </p:nvSpPr>
        <p:spPr>
          <a:xfrm>
            <a:off x="9966960" y="4114800"/>
            <a:ext cx="219456" cy="219456"/>
          </a:xfrm>
          <a:prstGeom prst="ellipse">
            <a:avLst/>
          </a:prstGeom>
          <a:solidFill>
            <a:srgbClr val="E3B857"/>
          </a:solidFill>
          <a:ln/>
        </p:spPr>
      </p:sp>
      <p:sp>
        <p:nvSpPr>
          <p:cNvPr id="12" name="Shape 10"/>
          <p:cNvSpPr/>
          <p:nvPr/>
        </p:nvSpPr>
        <p:spPr>
          <a:xfrm>
            <a:off x="10881360" y="3657600"/>
            <a:ext cx="219456" cy="219456"/>
          </a:xfrm>
          <a:prstGeom prst="ellipse">
            <a:avLst/>
          </a:prstGeom>
          <a:solidFill>
            <a:srgbClr val="E3B857"/>
          </a:solidFill>
          <a:ln/>
        </p:spPr>
      </p:sp>
      <p:sp>
        <p:nvSpPr>
          <p:cNvPr id="13" name="Shape 11"/>
          <p:cNvSpPr/>
          <p:nvPr/>
        </p:nvSpPr>
        <p:spPr>
          <a:xfrm>
            <a:off x="8412480" y="4663440"/>
            <a:ext cx="219456" cy="219456"/>
          </a:xfrm>
          <a:prstGeom prst="ellipse">
            <a:avLst/>
          </a:prstGeom>
          <a:solidFill>
            <a:srgbClr val="E3B857"/>
          </a:solidFill>
          <a:ln/>
        </p:spPr>
      </p:sp>
      <p:sp>
        <p:nvSpPr>
          <p:cNvPr id="14" name="Shape 12"/>
          <p:cNvSpPr/>
          <p:nvPr/>
        </p:nvSpPr>
        <p:spPr>
          <a:xfrm>
            <a:off x="9601200" y="4846320"/>
            <a:ext cx="219456" cy="219456"/>
          </a:xfrm>
          <a:prstGeom prst="ellipse">
            <a:avLst/>
          </a:prstGeom>
          <a:solidFill>
            <a:srgbClr val="E3B857"/>
          </a:solidFill>
          <a:ln/>
        </p:spPr>
      </p:sp>
      <p:sp>
        <p:nvSpPr>
          <p:cNvPr id="15" name="Shape 13"/>
          <p:cNvSpPr/>
          <p:nvPr/>
        </p:nvSpPr>
        <p:spPr>
          <a:xfrm>
            <a:off x="10698480" y="4572000"/>
            <a:ext cx="219456" cy="219456"/>
          </a:xfrm>
          <a:prstGeom prst="ellipse">
            <a:avLst/>
          </a:prstGeom>
          <a:solidFill>
            <a:srgbClr val="E3B857"/>
          </a:solidFill>
          <a:ln/>
        </p:spPr>
      </p:sp>
      <p:sp>
        <p:nvSpPr>
          <p:cNvPr id="16" name="Shape 14"/>
          <p:cNvSpPr/>
          <p:nvPr/>
        </p:nvSpPr>
        <p:spPr>
          <a:xfrm>
            <a:off x="9144000" y="2651760"/>
            <a:ext cx="219456" cy="219456"/>
          </a:xfrm>
          <a:prstGeom prst="ellipse">
            <a:avLst/>
          </a:prstGeom>
          <a:solidFill>
            <a:srgbClr val="E3B857"/>
          </a:solidFill>
          <a:ln/>
        </p:spPr>
      </p:sp>
      <p:sp>
        <p:nvSpPr>
          <p:cNvPr id="17" name="Text 15"/>
          <p:cNvSpPr/>
          <p:nvPr/>
        </p:nvSpPr>
        <p:spPr>
          <a:xfrm>
            <a:off x="7818120" y="4956048"/>
            <a:ext cx="3657600" cy="320040"/>
          </a:xfrm>
          <a:prstGeom prst="rect">
            <a:avLst/>
          </a:prstGeom>
          <a:noFill/>
          <a:ln/>
        </p:spPr>
        <p:txBody>
          <a:bodyPr wrap="square" rtlCol="0" anchor="ctr"/>
          <a:lstStyle/>
          <a:p>
            <a:pPr algn="l" indent="0" marL="0">
              <a:buNone/>
            </a:pPr>
            <a:r>
              <a:rPr lang="en-US" sz="1100" dirty="0">
                <a:solidFill>
                  <a:srgbClr val="A7ACD0"/>
                </a:solidFill>
                <a:latin typeface="Calibri" pitchFamily="34" charset="0"/>
                <a:ea typeface="Calibri" pitchFamily="34" charset="-122"/>
                <a:cs typeface="Calibri" pitchFamily="34" charset="-120"/>
              </a:rPr>
              <a:t>units (ikai) saturated in the one medium</a:t>
            </a:r>
            <a:endParaRPr lang="en-US" sz="1100" dirty="0"/>
          </a:p>
        </p:txBody>
      </p:sp>
      <p:sp>
        <p:nvSpPr>
          <p:cNvPr id="18" name="Shape 16"/>
          <p:cNvSpPr/>
          <p:nvPr/>
        </p:nvSpPr>
        <p:spPr>
          <a:xfrm>
            <a:off x="548640" y="1645920"/>
            <a:ext cx="6858000" cy="1133856"/>
          </a:xfrm>
          <a:prstGeom prst="roundRect">
            <a:avLst>
              <a:gd name="adj" fmla="val 4032"/>
            </a:avLst>
          </a:prstGeom>
          <a:solidFill>
            <a:srgbClr val="F5F6FB"/>
          </a:solidFill>
          <a:ln w="12700">
            <a:solidFill>
              <a:srgbClr val="E1E3EF"/>
            </a:solidFill>
            <a:prstDash val="solid"/>
          </a:ln>
        </p:spPr>
      </p:sp>
      <p:sp>
        <p:nvSpPr>
          <p:cNvPr id="19" name="Shape 17"/>
          <p:cNvSpPr/>
          <p:nvPr/>
        </p:nvSpPr>
        <p:spPr>
          <a:xfrm>
            <a:off x="548640" y="1645920"/>
            <a:ext cx="822960" cy="1133856"/>
          </a:xfrm>
          <a:prstGeom prst="roundRect">
            <a:avLst>
              <a:gd name="adj" fmla="val 5556"/>
            </a:avLst>
          </a:prstGeom>
          <a:solidFill>
            <a:srgbClr val="16183D"/>
          </a:solidFill>
          <a:ln/>
        </p:spPr>
      </p:sp>
      <p:sp>
        <p:nvSpPr>
          <p:cNvPr id="20" name="Text 18"/>
          <p:cNvSpPr/>
          <p:nvPr/>
        </p:nvSpPr>
        <p:spPr>
          <a:xfrm>
            <a:off x="548640" y="1901952"/>
            <a:ext cx="822960" cy="640080"/>
          </a:xfrm>
          <a:prstGeom prst="rect">
            <a:avLst/>
          </a:prstGeom>
          <a:noFill/>
          <a:ln/>
        </p:spPr>
        <p:txBody>
          <a:bodyPr wrap="square" rtlCol="0" anchor="ctr"/>
          <a:lstStyle/>
          <a:p>
            <a:pPr algn="ctr" indent="0" marL="0">
              <a:buNone/>
            </a:pPr>
            <a:r>
              <a:rPr lang="en-US" sz="2600" b="1" dirty="0">
                <a:solidFill>
                  <a:srgbClr val="E3B857"/>
                </a:solidFill>
                <a:latin typeface="Cambria" pitchFamily="34" charset="0"/>
                <a:ea typeface="Cambria" pitchFamily="34" charset="-122"/>
                <a:cs typeface="Cambria" pitchFamily="34" charset="-120"/>
              </a:rPr>
              <a:t>O</a:t>
            </a:r>
            <a:endParaRPr lang="en-US" sz="2600" dirty="0"/>
          </a:p>
        </p:txBody>
      </p:sp>
      <p:sp>
        <p:nvSpPr>
          <p:cNvPr id="21" name="Text 19"/>
          <p:cNvSpPr/>
          <p:nvPr/>
        </p:nvSpPr>
        <p:spPr>
          <a:xfrm>
            <a:off x="1508760" y="1755648"/>
            <a:ext cx="5760720" cy="320040"/>
          </a:xfrm>
          <a:prstGeom prst="rect">
            <a:avLst/>
          </a:prstGeom>
          <a:noFill/>
          <a:ln/>
        </p:spPr>
        <p:txBody>
          <a:bodyPr wrap="square" rtlCol="0" anchor="ctr"/>
          <a:lstStyle/>
          <a:p>
            <a:pPr indent="0" marL="0">
              <a:buNone/>
            </a:pPr>
            <a:r>
              <a:rPr lang="en-US" sz="1500" b="1" i="1" dirty="0">
                <a:solidFill>
                  <a:srgbClr val="16183D"/>
                </a:solidFill>
                <a:latin typeface="Cambria" pitchFamily="34" charset="0"/>
                <a:ea typeface="Cambria" pitchFamily="34" charset="-122"/>
                <a:cs typeface="Cambria" pitchFamily="34" charset="-120"/>
              </a:rPr>
              <a:t>satta · Omnipresence</a:t>
            </a:r>
            <a:endParaRPr lang="en-US" sz="1500" dirty="0"/>
          </a:p>
        </p:txBody>
      </p:sp>
      <p:sp>
        <p:nvSpPr>
          <p:cNvPr id="22" name="Text 20"/>
          <p:cNvSpPr/>
          <p:nvPr/>
        </p:nvSpPr>
        <p:spPr>
          <a:xfrm>
            <a:off x="1508760" y="2057400"/>
            <a:ext cx="5760720" cy="566928"/>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One, real, all-pervasive, ACTIONLESS, state-complete, energy- and knowledge-natured (gyan). Not a unit; no statement over units applies to it.</a:t>
            </a:r>
            <a:endParaRPr lang="en-US" sz="1150" dirty="0"/>
          </a:p>
        </p:txBody>
      </p:sp>
      <p:sp>
        <p:nvSpPr>
          <p:cNvPr id="23" name="Text 21"/>
          <p:cNvSpPr/>
          <p:nvPr/>
        </p:nvSpPr>
        <p:spPr>
          <a:xfrm>
            <a:off x="1508760" y="2542032"/>
            <a:ext cx="5760720" cy="201168"/>
          </a:xfrm>
          <a:prstGeom prst="rect">
            <a:avLst/>
          </a:prstGeom>
          <a:noFill/>
          <a:ln/>
        </p:spPr>
        <p:txBody>
          <a:bodyPr wrap="square" rtlCol="0" anchor="ctr"/>
          <a:lstStyle/>
          <a:p>
            <a:pPr indent="0" marL="0">
              <a:buNone/>
            </a:pPr>
            <a:r>
              <a:rPr lang="en-US" sz="850" dirty="0">
                <a:solidFill>
                  <a:srgbClr val="6A6E93"/>
                </a:solidFill>
                <a:latin typeface="Courier New" pitchFamily="34" charset="0"/>
                <a:ea typeface="Courier New" pitchFamily="34" charset="-122"/>
                <a:cs typeface="Courier New" pitchFamily="34" charset="-120"/>
              </a:rPr>
              <a:t>JV p. 31; MVD p. 12</a:t>
            </a:r>
            <a:endParaRPr lang="en-US" sz="850" dirty="0"/>
          </a:p>
        </p:txBody>
      </p:sp>
      <p:sp>
        <p:nvSpPr>
          <p:cNvPr id="24" name="Shape 22"/>
          <p:cNvSpPr/>
          <p:nvPr/>
        </p:nvSpPr>
        <p:spPr>
          <a:xfrm>
            <a:off x="548640" y="2871216"/>
            <a:ext cx="6858000" cy="1133856"/>
          </a:xfrm>
          <a:prstGeom prst="roundRect">
            <a:avLst>
              <a:gd name="adj" fmla="val 4032"/>
            </a:avLst>
          </a:prstGeom>
          <a:solidFill>
            <a:srgbClr val="F5F6FB"/>
          </a:solidFill>
          <a:ln w="12700">
            <a:solidFill>
              <a:srgbClr val="E1E3EF"/>
            </a:solidFill>
            <a:prstDash val="solid"/>
          </a:ln>
        </p:spPr>
      </p:sp>
      <p:sp>
        <p:nvSpPr>
          <p:cNvPr id="25" name="Shape 23"/>
          <p:cNvSpPr/>
          <p:nvPr/>
        </p:nvSpPr>
        <p:spPr>
          <a:xfrm>
            <a:off x="548640" y="2871216"/>
            <a:ext cx="822960" cy="1133856"/>
          </a:xfrm>
          <a:prstGeom prst="roundRect">
            <a:avLst>
              <a:gd name="adj" fmla="val 5556"/>
            </a:avLst>
          </a:prstGeom>
          <a:solidFill>
            <a:srgbClr val="16183D"/>
          </a:solidFill>
          <a:ln/>
        </p:spPr>
      </p:sp>
      <p:sp>
        <p:nvSpPr>
          <p:cNvPr id="26" name="Text 24"/>
          <p:cNvSpPr/>
          <p:nvPr/>
        </p:nvSpPr>
        <p:spPr>
          <a:xfrm>
            <a:off x="548640" y="3127248"/>
            <a:ext cx="822960" cy="640080"/>
          </a:xfrm>
          <a:prstGeom prst="rect">
            <a:avLst/>
          </a:prstGeom>
          <a:noFill/>
          <a:ln/>
        </p:spPr>
        <p:txBody>
          <a:bodyPr wrap="square" rtlCol="0" anchor="ctr"/>
          <a:lstStyle/>
          <a:p>
            <a:pPr algn="ctr" indent="0" marL="0">
              <a:buNone/>
            </a:pPr>
            <a:r>
              <a:rPr lang="en-US" sz="2600" b="1" dirty="0">
                <a:solidFill>
                  <a:srgbClr val="E3B857"/>
                </a:solidFill>
                <a:latin typeface="Cambria" pitchFamily="34" charset="0"/>
                <a:ea typeface="Cambria" pitchFamily="34" charset="-122"/>
                <a:cs typeface="Cambria" pitchFamily="34" charset="-120"/>
              </a:rPr>
              <a:t>U</a:t>
            </a:r>
            <a:endParaRPr lang="en-US" sz="2600" dirty="0"/>
          </a:p>
        </p:txBody>
      </p:sp>
      <p:sp>
        <p:nvSpPr>
          <p:cNvPr id="27" name="Text 25"/>
          <p:cNvSpPr/>
          <p:nvPr/>
        </p:nvSpPr>
        <p:spPr>
          <a:xfrm>
            <a:off x="1508760" y="2980944"/>
            <a:ext cx="5760720" cy="320040"/>
          </a:xfrm>
          <a:prstGeom prst="rect">
            <a:avLst/>
          </a:prstGeom>
          <a:noFill/>
          <a:ln/>
        </p:spPr>
        <p:txBody>
          <a:bodyPr wrap="square" rtlCol="0" anchor="ctr"/>
          <a:lstStyle/>
          <a:p>
            <a:pPr indent="0" marL="0">
              <a:buNone/>
            </a:pPr>
            <a:r>
              <a:rPr lang="en-US" sz="1500" b="1" i="1" dirty="0">
                <a:solidFill>
                  <a:srgbClr val="16183D"/>
                </a:solidFill>
                <a:latin typeface="Cambria" pitchFamily="34" charset="0"/>
                <a:ea typeface="Cambria" pitchFamily="34" charset="-122"/>
                <a:cs typeface="Cambria" pitchFamily="34" charset="-120"/>
              </a:rPr>
              <a:t>units · ikai</a:t>
            </a:r>
            <a:endParaRPr lang="en-US" sz="1500" dirty="0"/>
          </a:p>
        </p:txBody>
      </p:sp>
      <p:sp>
        <p:nvSpPr>
          <p:cNvPr id="28" name="Text 26"/>
          <p:cNvSpPr/>
          <p:nvPr/>
        </p:nvSpPr>
        <p:spPr>
          <a:xfrm>
            <a:off x="1508760" y="3282696"/>
            <a:ext cx="5760720" cy="566928"/>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Real, co-eternal, countable CARRIERS. A unit bears a state and an activity — it is never built from activity or process.</a:t>
            </a:r>
            <a:endParaRPr lang="en-US" sz="1150" dirty="0"/>
          </a:p>
        </p:txBody>
      </p:sp>
      <p:sp>
        <p:nvSpPr>
          <p:cNvPr id="29" name="Text 27"/>
          <p:cNvSpPr/>
          <p:nvPr/>
        </p:nvSpPr>
        <p:spPr>
          <a:xfrm>
            <a:off x="1508760" y="3767328"/>
            <a:ext cx="5760720" cy="201168"/>
          </a:xfrm>
          <a:prstGeom prst="rect">
            <a:avLst/>
          </a:prstGeom>
          <a:noFill/>
          <a:ln/>
        </p:spPr>
        <p:txBody>
          <a:bodyPr wrap="square" rtlCol="0" anchor="ctr"/>
          <a:lstStyle/>
          <a:p>
            <a:pPr indent="0" marL="0">
              <a:buNone/>
            </a:pPr>
            <a:r>
              <a:rPr lang="en-US" sz="850" dirty="0">
                <a:solidFill>
                  <a:srgbClr val="6A6E93"/>
                </a:solidFill>
                <a:latin typeface="Courier New" pitchFamily="34" charset="0"/>
                <a:ea typeface="Courier New" pitchFamily="34" charset="-122"/>
                <a:cs typeface="Courier New" pitchFamily="34" charset="-120"/>
              </a:rPr>
              <a:t>JV p. 45</a:t>
            </a:r>
            <a:endParaRPr lang="en-US" sz="850" dirty="0"/>
          </a:p>
        </p:txBody>
      </p:sp>
      <p:sp>
        <p:nvSpPr>
          <p:cNvPr id="30" name="Shape 28"/>
          <p:cNvSpPr/>
          <p:nvPr/>
        </p:nvSpPr>
        <p:spPr>
          <a:xfrm>
            <a:off x="548640" y="4096512"/>
            <a:ext cx="6858000" cy="1133856"/>
          </a:xfrm>
          <a:prstGeom prst="roundRect">
            <a:avLst>
              <a:gd name="adj" fmla="val 4032"/>
            </a:avLst>
          </a:prstGeom>
          <a:solidFill>
            <a:srgbClr val="F5F6FB"/>
          </a:solidFill>
          <a:ln w="12700">
            <a:solidFill>
              <a:srgbClr val="E1E3EF"/>
            </a:solidFill>
            <a:prstDash val="solid"/>
          </a:ln>
        </p:spPr>
      </p:sp>
      <p:sp>
        <p:nvSpPr>
          <p:cNvPr id="31" name="Shape 29"/>
          <p:cNvSpPr/>
          <p:nvPr/>
        </p:nvSpPr>
        <p:spPr>
          <a:xfrm>
            <a:off x="548640" y="4096512"/>
            <a:ext cx="822960" cy="1133856"/>
          </a:xfrm>
          <a:prstGeom prst="roundRect">
            <a:avLst>
              <a:gd name="adj" fmla="val 5556"/>
            </a:avLst>
          </a:prstGeom>
          <a:solidFill>
            <a:srgbClr val="16183D"/>
          </a:solidFill>
          <a:ln/>
        </p:spPr>
      </p:sp>
      <p:sp>
        <p:nvSpPr>
          <p:cNvPr id="32" name="Text 30"/>
          <p:cNvSpPr/>
          <p:nvPr/>
        </p:nvSpPr>
        <p:spPr>
          <a:xfrm>
            <a:off x="548640" y="4352544"/>
            <a:ext cx="822960" cy="640080"/>
          </a:xfrm>
          <a:prstGeom prst="rect">
            <a:avLst/>
          </a:prstGeom>
          <a:noFill/>
          <a:ln/>
        </p:spPr>
        <p:txBody>
          <a:bodyPr wrap="square" rtlCol="0" anchor="ctr"/>
          <a:lstStyle/>
          <a:p>
            <a:pPr algn="ctr" indent="0" marL="0">
              <a:buNone/>
            </a:pPr>
            <a:r>
              <a:rPr lang="en-US" sz="2600" b="1" dirty="0">
                <a:solidFill>
                  <a:srgbClr val="E3B857"/>
                </a:solidFill>
                <a:latin typeface="Cambria" pitchFamily="34" charset="0"/>
                <a:ea typeface="Cambria" pitchFamily="34" charset="-122"/>
                <a:cs typeface="Cambria" pitchFamily="34" charset="-120"/>
              </a:rPr>
              <a:t>—</a:t>
            </a:r>
            <a:endParaRPr lang="en-US" sz="2600" dirty="0"/>
          </a:p>
        </p:txBody>
      </p:sp>
      <p:sp>
        <p:nvSpPr>
          <p:cNvPr id="33" name="Text 31"/>
          <p:cNvSpPr/>
          <p:nvPr/>
        </p:nvSpPr>
        <p:spPr>
          <a:xfrm>
            <a:off x="1508760" y="4206240"/>
            <a:ext cx="5760720" cy="320040"/>
          </a:xfrm>
          <a:prstGeom prst="rect">
            <a:avLst/>
          </a:prstGeom>
          <a:noFill/>
          <a:ln/>
        </p:spPr>
        <p:txBody>
          <a:bodyPr wrap="square" rtlCol="0" anchor="ctr"/>
          <a:lstStyle/>
          <a:p>
            <a:pPr indent="0" marL="0">
              <a:buNone/>
            </a:pPr>
            <a:r>
              <a:rPr lang="en-US" sz="1500" b="1" i="1" dirty="0">
                <a:solidFill>
                  <a:srgbClr val="16183D"/>
                </a:solidFill>
                <a:latin typeface="Cambria" pitchFamily="34" charset="0"/>
                <a:ea typeface="Cambria" pitchFamily="34" charset="-122"/>
                <a:cs typeface="Cambria" pitchFamily="34" charset="-120"/>
              </a:rPr>
              <a:t>saturation</a:t>
            </a:r>
            <a:endParaRPr lang="en-US" sz="1500" dirty="0"/>
          </a:p>
        </p:txBody>
      </p:sp>
      <p:sp>
        <p:nvSpPr>
          <p:cNvPr id="34" name="Text 32"/>
          <p:cNvSpPr/>
          <p:nvPr/>
        </p:nvSpPr>
        <p:spPr>
          <a:xfrm>
            <a:off x="1508760" y="4507992"/>
            <a:ext cx="5760720" cy="566928"/>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The one ground relation: every unit soaked, submerged, surrounded in the single O. Constitutive co-location, not a drawing of energy from O.</a:t>
            </a:r>
            <a:endParaRPr lang="en-US" sz="1150" dirty="0"/>
          </a:p>
        </p:txBody>
      </p:sp>
      <p:sp>
        <p:nvSpPr>
          <p:cNvPr id="35" name="Text 33"/>
          <p:cNvSpPr/>
          <p:nvPr/>
        </p:nvSpPr>
        <p:spPr>
          <a:xfrm>
            <a:off x="1508760" y="4992624"/>
            <a:ext cx="5760720" cy="201168"/>
          </a:xfrm>
          <a:prstGeom prst="rect">
            <a:avLst/>
          </a:prstGeom>
          <a:noFill/>
          <a:ln/>
        </p:spPr>
        <p:txBody>
          <a:bodyPr wrap="square" rtlCol="0" anchor="ctr"/>
          <a:lstStyle/>
          <a:p>
            <a:pPr indent="0" marL="0">
              <a:buNone/>
            </a:pPr>
            <a:r>
              <a:rPr lang="en-US" sz="850" dirty="0">
                <a:solidFill>
                  <a:srgbClr val="6A6E93"/>
                </a:solidFill>
                <a:latin typeface="Courier New" pitchFamily="34" charset="0"/>
                <a:ea typeface="Courier New" pitchFamily="34" charset="-122"/>
                <a:cs typeface="Courier New" pitchFamily="34" charset="-120"/>
              </a:rPr>
              <a:t>JV p. 18; SB p. 49</a:t>
            </a:r>
            <a:endParaRPr lang="en-US" sz="850" dirty="0"/>
          </a:p>
        </p:txBody>
      </p:sp>
      <p:sp>
        <p:nvSpPr>
          <p:cNvPr id="36" name="Text 34"/>
          <p:cNvSpPr/>
          <p:nvPr/>
        </p:nvSpPr>
        <p:spPr>
          <a:xfrm>
            <a:off x="548640" y="5486400"/>
            <a:ext cx="11091672" cy="548640"/>
          </a:xfrm>
          <a:prstGeom prst="rect">
            <a:avLst/>
          </a:prstGeom>
          <a:noFill/>
          <a:ln/>
        </p:spPr>
        <p:txBody>
          <a:bodyPr wrap="square" rtlCol="0" anchor="t"/>
          <a:lstStyle/>
          <a:p>
            <a:pPr indent="0" marL="0">
              <a:lnSpc>
                <a:spcPct val="102000"/>
              </a:lnSpc>
              <a:buNone/>
            </a:pPr>
            <a:r>
              <a:rPr lang="en-US" sz="1300" b="1" i="1" dirty="0">
                <a:solidFill>
                  <a:srgbClr val="B8842B"/>
                </a:solidFill>
                <a:latin typeface="Calibri" pitchFamily="34" charset="0"/>
                <a:ea typeface="Calibri" pitchFamily="34" charset="-122"/>
                <a:cs typeface="Calibri" pitchFamily="34" charset="-120"/>
              </a:rPr>
              <a:t>Activeness is NOT a primitive. </a:t>
            </a:r>
            <a:pPr indent="0" marL="0">
              <a:lnSpc>
                <a:spcPct val="102000"/>
              </a:lnSpc>
              <a:buNone/>
            </a:pPr>
            <a:r>
              <a:rPr lang="en-US" sz="1300" i="1" dirty="0">
                <a:solidFill>
                  <a:srgbClr val="202340"/>
                </a:solidFill>
                <a:latin typeface="Calibri" pitchFamily="34" charset="0"/>
                <a:ea typeface="Calibri" pitchFamily="34" charset="-122"/>
                <a:cs typeface="Calibri" pitchFamily="34" charset="-120"/>
              </a:rPr>
              <a:t>“Unit + Energy fullness = Activeness” (SB p. 69) — a co-presence conferred by saturation, recovered as a theorem, not a fourth building block.</a:t>
            </a:r>
            <a:endParaRPr lang="en-US" sz="1300" dirty="0"/>
          </a:p>
        </p:txBody>
      </p:sp>
      <p:sp>
        <p:nvSpPr>
          <p:cNvPr id="37" name="Text 35"/>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10</a:t>
            </a:r>
            <a:endParaRPr lang="en-US" sz="900" dirty="0"/>
          </a:p>
        </p:txBody>
      </p:sp>
      <p:sp>
        <p:nvSpPr>
          <p:cNvPr id="38" name="Text 36"/>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Three primitives</a:t>
            </a:r>
            <a:endParaRPr lang="en-US" sz="900" dirty="0"/>
          </a:p>
        </p:txBody>
      </p:sp>
      <p:sp>
        <p:nvSpPr>
          <p:cNvPr id="39" name="Text 37"/>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 · THE KERNEL</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Two axioms — endowment and orientation</a:t>
            </a:r>
            <a:endParaRPr lang="en-US" sz="2900" dirty="0"/>
          </a:p>
        </p:txBody>
      </p:sp>
      <p:sp>
        <p:nvSpPr>
          <p:cNvPr id="4" name="Shape 2"/>
          <p:cNvSpPr/>
          <p:nvPr/>
        </p:nvSpPr>
        <p:spPr>
          <a:xfrm>
            <a:off x="548640" y="1572768"/>
            <a:ext cx="5486400" cy="4343400"/>
          </a:xfrm>
          <a:prstGeom prst="roundRect">
            <a:avLst>
              <a:gd name="adj" fmla="val 1263"/>
            </a:avLst>
          </a:prstGeom>
          <a:solidFill>
            <a:srgbClr val="F5F6FB"/>
          </a:solidFill>
          <a:ln w="19050">
            <a:solidFill>
              <a:srgbClr val="3E7C8C"/>
            </a:solidFill>
            <a:prstDash val="solid"/>
          </a:ln>
        </p:spPr>
      </p:sp>
      <p:sp>
        <p:nvSpPr>
          <p:cNvPr id="5" name="Text 3"/>
          <p:cNvSpPr/>
          <p:nvPr/>
        </p:nvSpPr>
        <p:spPr>
          <a:xfrm>
            <a:off x="777240" y="1737360"/>
            <a:ext cx="1005840" cy="502920"/>
          </a:xfrm>
          <a:prstGeom prst="rect">
            <a:avLst/>
          </a:prstGeom>
          <a:noFill/>
          <a:ln/>
        </p:spPr>
        <p:txBody>
          <a:bodyPr wrap="square" rtlCol="0" anchor="ctr"/>
          <a:lstStyle/>
          <a:p>
            <a:pPr indent="0" marL="0">
              <a:buNone/>
            </a:pPr>
            <a:r>
              <a:rPr lang="en-US" sz="3000" b="1" dirty="0">
                <a:solidFill>
                  <a:srgbClr val="3E7C8C"/>
                </a:solidFill>
                <a:latin typeface="Cambria" pitchFamily="34" charset="0"/>
                <a:ea typeface="Cambria" pitchFamily="34" charset="-122"/>
                <a:cs typeface="Cambria" pitchFamily="34" charset="-120"/>
              </a:rPr>
              <a:t>A1</a:t>
            </a:r>
            <a:endParaRPr lang="en-US" sz="3000" dirty="0"/>
          </a:p>
        </p:txBody>
      </p:sp>
      <p:sp>
        <p:nvSpPr>
          <p:cNvPr id="6" name="Text 4"/>
          <p:cNvSpPr/>
          <p:nvPr/>
        </p:nvSpPr>
        <p:spPr>
          <a:xfrm>
            <a:off x="1783080" y="1810512"/>
            <a:ext cx="4114800" cy="502920"/>
          </a:xfrm>
          <a:prstGeom prst="rect">
            <a:avLst/>
          </a:prstGeom>
          <a:noFill/>
          <a:ln/>
        </p:spPr>
        <p:txBody>
          <a:bodyPr wrap="square" rtlCol="0" anchor="ctr"/>
          <a:lstStyle/>
          <a:p>
            <a:pPr indent="0" marL="0">
              <a:buNone/>
            </a:pPr>
            <a:r>
              <a:rPr lang="en-US" sz="1650" b="1" dirty="0">
                <a:solidFill>
                  <a:srgbClr val="16183D"/>
                </a:solidFill>
                <a:latin typeface="Cambria" pitchFamily="34" charset="0"/>
                <a:ea typeface="Cambria" pitchFamily="34" charset="-122"/>
                <a:cs typeface="Cambria" pitchFamily="34" charset="-120"/>
              </a:rPr>
              <a:t>Endowment — the satta firewall</a:t>
            </a:r>
            <a:endParaRPr lang="en-US" sz="1650" dirty="0"/>
          </a:p>
        </p:txBody>
      </p:sp>
      <p:sp>
        <p:nvSpPr>
          <p:cNvPr id="7" name="Text 5"/>
          <p:cNvSpPr/>
          <p:nvPr/>
        </p:nvSpPr>
        <p:spPr>
          <a:xfrm>
            <a:off x="777240" y="2377440"/>
            <a:ext cx="5029200" cy="457200"/>
          </a:xfrm>
          <a:prstGeom prst="rect">
            <a:avLst/>
          </a:prstGeom>
          <a:noFill/>
          <a:ln/>
        </p:spPr>
        <p:txBody>
          <a:bodyPr wrap="square" rtlCol="0" anchor="t"/>
          <a:lstStyle/>
          <a:p>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Through saturation, O endows each carrier with three inseparable invariants:</a:t>
            </a:r>
            <a:endParaRPr lang="en-US" sz="1250" dirty="0"/>
          </a:p>
        </p:txBody>
      </p:sp>
      <p:sp>
        <p:nvSpPr>
          <p:cNvPr id="8" name="Shape 6"/>
          <p:cNvSpPr/>
          <p:nvPr/>
        </p:nvSpPr>
        <p:spPr>
          <a:xfrm>
            <a:off x="822960" y="2926080"/>
            <a:ext cx="118872" cy="118872"/>
          </a:xfrm>
          <a:prstGeom prst="ellipse">
            <a:avLst/>
          </a:prstGeom>
          <a:solidFill>
            <a:srgbClr val="3E7C8C"/>
          </a:solidFill>
          <a:ln/>
        </p:spPr>
      </p:sp>
      <p:sp>
        <p:nvSpPr>
          <p:cNvPr id="9" name="Text 7"/>
          <p:cNvSpPr/>
          <p:nvPr/>
        </p:nvSpPr>
        <p:spPr>
          <a:xfrm>
            <a:off x="1078992" y="2843784"/>
            <a:ext cx="4754880" cy="457200"/>
          </a:xfrm>
          <a:prstGeom prst="rect">
            <a:avLst/>
          </a:prstGeom>
          <a:noFill/>
          <a:ln/>
        </p:spPr>
        <p:txBody>
          <a:bodyPr wrap="square" rtlCol="0" anchor="t"/>
          <a:lstStyle/>
          <a:p>
            <a:pPr indent="0" marL="0">
              <a:lnSpc>
                <a:spcPct val="100000"/>
              </a:lnSpc>
              <a:buNone/>
            </a:pPr>
            <a:r>
              <a:rPr lang="en-US" sz="1250" b="1" dirty="0">
                <a:solidFill>
                  <a:srgbClr val="2E5E6B"/>
                </a:solidFill>
                <a:latin typeface="Calibri" pitchFamily="34" charset="0"/>
                <a:ea typeface="Calibri" pitchFamily="34" charset="-122"/>
                <a:cs typeface="Calibri" pitchFamily="34" charset="-120"/>
              </a:rPr>
              <a:t>(a) Activeness </a:t>
            </a:r>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the triad — effort (shram), motion (gati), result (parinam)</a:t>
            </a:r>
            <a:endParaRPr lang="en-US" sz="1250" dirty="0"/>
          </a:p>
        </p:txBody>
      </p:sp>
      <p:sp>
        <p:nvSpPr>
          <p:cNvPr id="10" name="Shape 8"/>
          <p:cNvSpPr/>
          <p:nvPr/>
        </p:nvSpPr>
        <p:spPr>
          <a:xfrm>
            <a:off x="822960" y="3438144"/>
            <a:ext cx="118872" cy="118872"/>
          </a:xfrm>
          <a:prstGeom prst="ellipse">
            <a:avLst/>
          </a:prstGeom>
          <a:solidFill>
            <a:srgbClr val="3E7C8C"/>
          </a:solidFill>
          <a:ln/>
        </p:spPr>
      </p:sp>
      <p:sp>
        <p:nvSpPr>
          <p:cNvPr id="11" name="Text 9"/>
          <p:cNvSpPr/>
          <p:nvPr/>
        </p:nvSpPr>
        <p:spPr>
          <a:xfrm>
            <a:off x="1078992" y="3355848"/>
            <a:ext cx="4754880" cy="457200"/>
          </a:xfrm>
          <a:prstGeom prst="rect">
            <a:avLst/>
          </a:prstGeom>
          <a:noFill/>
          <a:ln/>
        </p:spPr>
        <p:txBody>
          <a:bodyPr wrap="square" rtlCol="0" anchor="t"/>
          <a:lstStyle/>
          <a:p>
            <a:pPr indent="0" marL="0">
              <a:lnSpc>
                <a:spcPct val="100000"/>
              </a:lnSpc>
              <a:buNone/>
            </a:pPr>
            <a:r>
              <a:rPr lang="en-US" sz="1250" b="1" dirty="0">
                <a:solidFill>
                  <a:srgbClr val="2E5E6B"/>
                </a:solidFill>
                <a:latin typeface="Calibri" pitchFamily="34" charset="0"/>
                <a:ea typeface="Calibri" pitchFamily="34" charset="-122"/>
                <a:cs typeface="Calibri" pitchFamily="34" charset="-120"/>
              </a:rPr>
              <a:t>(b) Recognition </a:t>
            </a:r>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activity is unit-to-unit legible, by law</a:t>
            </a:r>
            <a:endParaRPr lang="en-US" sz="1250" dirty="0"/>
          </a:p>
        </p:txBody>
      </p:sp>
      <p:sp>
        <p:nvSpPr>
          <p:cNvPr id="12" name="Shape 10"/>
          <p:cNvSpPr/>
          <p:nvPr/>
        </p:nvSpPr>
        <p:spPr>
          <a:xfrm>
            <a:off x="822960" y="3950208"/>
            <a:ext cx="118872" cy="118872"/>
          </a:xfrm>
          <a:prstGeom prst="ellipse">
            <a:avLst/>
          </a:prstGeom>
          <a:solidFill>
            <a:srgbClr val="3E7C8C"/>
          </a:solidFill>
          <a:ln/>
        </p:spPr>
      </p:sp>
      <p:sp>
        <p:nvSpPr>
          <p:cNvPr id="13" name="Text 11"/>
          <p:cNvSpPr/>
          <p:nvPr/>
        </p:nvSpPr>
        <p:spPr>
          <a:xfrm>
            <a:off x="1078992" y="3867912"/>
            <a:ext cx="4754880" cy="457200"/>
          </a:xfrm>
          <a:prstGeom prst="rect">
            <a:avLst/>
          </a:prstGeom>
          <a:noFill/>
          <a:ln/>
        </p:spPr>
        <p:txBody>
          <a:bodyPr wrap="square" rtlCol="0" anchor="t"/>
          <a:lstStyle/>
          <a:p>
            <a:pPr indent="0" marL="0">
              <a:lnSpc>
                <a:spcPct val="100000"/>
              </a:lnSpc>
              <a:buNone/>
            </a:pPr>
            <a:r>
              <a:rPr lang="en-US" sz="1250" b="1" dirty="0">
                <a:solidFill>
                  <a:srgbClr val="2E5E6B"/>
                </a:solidFill>
                <a:latin typeface="Calibri" pitchFamily="34" charset="0"/>
                <a:ea typeface="Calibri" pitchFamily="34" charset="-122"/>
                <a:cs typeface="Calibri" pitchFamily="34" charset="-120"/>
              </a:rPr>
              <a:t>(c) Regulation </a:t>
            </a:r>
            <a:pPr indent="0" marL="0">
              <a:lnSpc>
                <a:spcPct val="100000"/>
              </a:lnSpc>
              <a:buNone/>
            </a:pPr>
            <a:r>
              <a:rPr lang="en-US" sz="1250" dirty="0">
                <a:solidFill>
                  <a:srgbClr val="202340"/>
                </a:solidFill>
                <a:latin typeface="Calibri" pitchFamily="34" charset="0"/>
                <a:ea typeface="Calibri" pitchFamily="34" charset="-122"/>
                <a:cs typeface="Calibri" pitchFamily="34" charset="-120"/>
              </a:rPr>
              <a:t>lawfulness disciplines a unit's natural-state conduct</a:t>
            </a:r>
            <a:endParaRPr lang="en-US" sz="1250" dirty="0"/>
          </a:p>
        </p:txBody>
      </p:sp>
      <p:sp>
        <p:nvSpPr>
          <p:cNvPr id="14" name="Shape 12"/>
          <p:cNvSpPr/>
          <p:nvPr/>
        </p:nvSpPr>
        <p:spPr>
          <a:xfrm>
            <a:off x="777240" y="4526280"/>
            <a:ext cx="5029200" cy="1234440"/>
          </a:xfrm>
          <a:prstGeom prst="roundRect">
            <a:avLst>
              <a:gd name="adj" fmla="val 3704"/>
            </a:avLst>
          </a:prstGeom>
          <a:solidFill>
            <a:srgbClr val="16183D"/>
          </a:solidFill>
          <a:ln/>
        </p:spPr>
      </p:sp>
      <p:sp>
        <p:nvSpPr>
          <p:cNvPr id="15" name="Text 13"/>
          <p:cNvSpPr/>
          <p:nvPr/>
        </p:nvSpPr>
        <p:spPr>
          <a:xfrm>
            <a:off x="960120" y="4645152"/>
            <a:ext cx="2743200" cy="256032"/>
          </a:xfrm>
          <a:prstGeom prst="rect">
            <a:avLst/>
          </a:prstGeom>
          <a:noFill/>
          <a:ln/>
        </p:spPr>
        <p:txBody>
          <a:bodyPr wrap="square" rtlCol="0" anchor="ctr"/>
          <a:lstStyle/>
          <a:p>
            <a:pPr indent="0" marL="0">
              <a:buNone/>
            </a:pPr>
            <a:r>
              <a:rPr lang="en-US" sz="1000" b="1" spc="200" kern="0" dirty="0">
                <a:solidFill>
                  <a:srgbClr val="E3B857"/>
                </a:solidFill>
                <a:latin typeface="Calibri" pitchFamily="34" charset="0"/>
                <a:ea typeface="Calibri" pitchFamily="34" charset="-122"/>
                <a:cs typeface="Calibri" pitchFamily="34" charset="-120"/>
              </a:rPr>
              <a:t>THE FIREWALL</a:t>
            </a:r>
            <a:endParaRPr lang="en-US" sz="1000" dirty="0"/>
          </a:p>
        </p:txBody>
      </p:sp>
      <p:sp>
        <p:nvSpPr>
          <p:cNvPr id="16" name="Text 14"/>
          <p:cNvSpPr/>
          <p:nvPr/>
        </p:nvSpPr>
        <p:spPr>
          <a:xfrm>
            <a:off x="960120" y="4901184"/>
            <a:ext cx="4663440" cy="822960"/>
          </a:xfrm>
          <a:prstGeom prst="rect">
            <a:avLst/>
          </a:prstGeom>
          <a:noFill/>
          <a:ln/>
        </p:spPr>
        <p:txBody>
          <a:bodyPr wrap="square" rtlCol="0" anchor="t"/>
          <a:lstStyle/>
          <a:p>
            <a:pPr indent="0" marL="0">
              <a:lnSpc>
                <a:spcPct val="102000"/>
              </a:lnSpc>
              <a:buNone/>
            </a:pPr>
            <a:r>
              <a:rPr lang="en-US" sz="1150" dirty="0">
                <a:solidFill>
                  <a:srgbClr val="F2EEE3"/>
                </a:solidFill>
                <a:latin typeface="Calibri" pitchFamily="34" charset="0"/>
                <a:ea typeface="Calibri" pitchFamily="34" charset="-122"/>
                <a:cs typeface="Calibri" pitchFamily="34" charset="-120"/>
              </a:rPr>
              <a:t>O is never an input to, nor a summand of, a unit's activity. It provisions energy, legibility, and regulation — with no push, no update term, no depletion.</a:t>
            </a:r>
            <a:endParaRPr lang="en-US" sz="1150" dirty="0"/>
          </a:p>
        </p:txBody>
      </p:sp>
      <p:sp>
        <p:nvSpPr>
          <p:cNvPr id="17" name="Shape 15"/>
          <p:cNvSpPr/>
          <p:nvPr/>
        </p:nvSpPr>
        <p:spPr>
          <a:xfrm>
            <a:off x="6190488" y="1572768"/>
            <a:ext cx="5449824" cy="4343400"/>
          </a:xfrm>
          <a:prstGeom prst="roundRect">
            <a:avLst>
              <a:gd name="adj" fmla="val 1263"/>
            </a:avLst>
          </a:prstGeom>
          <a:solidFill>
            <a:srgbClr val="F5F6FB"/>
          </a:solidFill>
          <a:ln w="19050">
            <a:solidFill>
              <a:srgbClr val="B8842B"/>
            </a:solidFill>
            <a:prstDash val="solid"/>
          </a:ln>
        </p:spPr>
      </p:sp>
      <p:sp>
        <p:nvSpPr>
          <p:cNvPr id="18" name="Text 16"/>
          <p:cNvSpPr/>
          <p:nvPr/>
        </p:nvSpPr>
        <p:spPr>
          <a:xfrm>
            <a:off x="6419088" y="1737360"/>
            <a:ext cx="1005840" cy="502920"/>
          </a:xfrm>
          <a:prstGeom prst="rect">
            <a:avLst/>
          </a:prstGeom>
          <a:noFill/>
          <a:ln/>
        </p:spPr>
        <p:txBody>
          <a:bodyPr wrap="square" rtlCol="0" anchor="ctr"/>
          <a:lstStyle/>
          <a:p>
            <a:pPr indent="0" marL="0">
              <a:buNone/>
            </a:pPr>
            <a:r>
              <a:rPr lang="en-US" sz="3000" b="1" dirty="0">
                <a:solidFill>
                  <a:srgbClr val="B8842B"/>
                </a:solidFill>
                <a:latin typeface="Cambria" pitchFamily="34" charset="0"/>
                <a:ea typeface="Cambria" pitchFamily="34" charset="-122"/>
                <a:cs typeface="Cambria" pitchFamily="34" charset="-120"/>
              </a:rPr>
              <a:t>A2</a:t>
            </a:r>
            <a:endParaRPr lang="en-US" sz="3000" dirty="0"/>
          </a:p>
        </p:txBody>
      </p:sp>
      <p:sp>
        <p:nvSpPr>
          <p:cNvPr id="19" name="Text 17"/>
          <p:cNvSpPr/>
          <p:nvPr/>
        </p:nvSpPr>
        <p:spPr>
          <a:xfrm>
            <a:off x="7424928" y="1810512"/>
            <a:ext cx="4023360" cy="502920"/>
          </a:xfrm>
          <a:prstGeom prst="rect">
            <a:avLst/>
          </a:prstGeom>
          <a:noFill/>
          <a:ln/>
        </p:spPr>
        <p:txBody>
          <a:bodyPr wrap="square" rtlCol="0" anchor="ctr"/>
          <a:lstStyle/>
          <a:p>
            <a:pPr indent="0" marL="0">
              <a:buNone/>
            </a:pPr>
            <a:r>
              <a:rPr lang="en-US" sz="1650" b="1" dirty="0">
                <a:solidFill>
                  <a:srgbClr val="16183D"/>
                </a:solidFill>
                <a:latin typeface="Cambria" pitchFamily="34" charset="0"/>
                <a:ea typeface="Cambria" pitchFamily="34" charset="-122"/>
                <a:cs typeface="Cambria" pitchFamily="34" charset="-120"/>
              </a:rPr>
              <a:t>Completeness-orientation</a:t>
            </a:r>
            <a:endParaRPr lang="en-US" sz="1650" dirty="0"/>
          </a:p>
        </p:txBody>
      </p:sp>
      <p:sp>
        <p:nvSpPr>
          <p:cNvPr id="20" name="Text 18"/>
          <p:cNvSpPr/>
          <p:nvPr/>
        </p:nvSpPr>
        <p:spPr>
          <a:xfrm>
            <a:off x="6419088" y="2395728"/>
            <a:ext cx="5029200" cy="1234440"/>
          </a:xfrm>
          <a:prstGeom prst="rect">
            <a:avLst/>
          </a:prstGeom>
          <a:noFill/>
          <a:ln/>
        </p:spPr>
        <p:txBody>
          <a:bodyPr wrap="square" rtlCol="0" anchor="t"/>
          <a:lstStyle/>
          <a:p>
            <a:pPr indent="0" marL="0">
              <a:lnSpc>
                <a:spcPct val="105000"/>
              </a:lnSpc>
              <a:buNone/>
            </a:pPr>
            <a:r>
              <a:rPr lang="en-US" sz="1250" dirty="0">
                <a:solidFill>
                  <a:srgbClr val="202340"/>
                </a:solidFill>
                <a:latin typeface="Calibri" pitchFamily="34" charset="0"/>
                <a:ea typeface="Calibri" pitchFamily="34" charset="-122"/>
                <a:cs typeface="Calibri" pitchFamily="34" charset="-120"/>
              </a:rPr>
              <a:t>Every unit's activity is directed toward </a:t>
            </a:r>
            <a:pPr indent="0" marL="0">
              <a:lnSpc>
                <a:spcPct val="105000"/>
              </a:lnSpc>
              <a:buNone/>
            </a:pPr>
            <a:r>
              <a:rPr lang="en-US" sz="1250" b="1" dirty="0">
                <a:solidFill>
                  <a:srgbClr val="B8842B"/>
                </a:solidFill>
                <a:latin typeface="Calibri" pitchFamily="34" charset="0"/>
                <a:ea typeface="Calibri" pitchFamily="34" charset="-122"/>
                <a:cs typeface="Calibri" pitchFamily="34" charset="-120"/>
              </a:rPr>
              <a:t>development and completeness</a:t>
            </a:r>
            <a:pPr indent="0" marL="0">
              <a:lnSpc>
                <a:spcPct val="105000"/>
              </a:lnSpc>
              <a:buNone/>
            </a:pPr>
            <a:r>
              <a:rPr lang="en-US" sz="1250" dirty="0">
                <a:solidFill>
                  <a:srgbClr val="202340"/>
                </a:solidFill>
                <a:latin typeface="Calibri" pitchFamily="34" charset="0"/>
                <a:ea typeface="Calibri" pitchFamily="34" charset="-122"/>
                <a:cs typeface="Calibri" pitchFamily="34" charset="-120"/>
              </a:rPr>
              <a:t> — not toward indefinite quantitative increase. </a:t>
            </a:r>
            <a:pPr indent="0" marL="0">
              <a:lnSpc>
                <a:spcPct val="105000"/>
              </a:lnSpc>
              <a:buNone/>
            </a:pPr>
            <a:r>
              <a:rPr lang="en-US" sz="1250" i="1" dirty="0">
                <a:solidFill>
                  <a:srgbClr val="16183D"/>
                </a:solidFill>
                <a:latin typeface="Calibri" pitchFamily="34" charset="0"/>
                <a:ea typeface="Calibri" pitchFamily="34" charset="-122"/>
                <a:cs typeface="Calibri" pitchFamily="34" charset="-120"/>
              </a:rPr>
              <a:t>“each unit… is active and developing solely for completeness” (SB p. 51).</a:t>
            </a:r>
            <a:endParaRPr lang="en-US" sz="1250" dirty="0"/>
          </a:p>
        </p:txBody>
      </p:sp>
      <p:sp>
        <p:nvSpPr>
          <p:cNvPr id="21" name="Text 19"/>
          <p:cNvSpPr/>
          <p:nvPr/>
        </p:nvSpPr>
        <p:spPr>
          <a:xfrm>
            <a:off x="6419088" y="3657600"/>
            <a:ext cx="5029200" cy="2103120"/>
          </a:xfrm>
          <a:prstGeom prst="rect">
            <a:avLst/>
          </a:prstGeom>
          <a:noFill/>
          <a:ln/>
        </p:spPr>
        <p:txBody>
          <a:bodyPr wrap="square" rtlCol="0" anchor="t"/>
          <a:lstStyle/>
          <a:p>
            <a:pPr indent="0" marL="0">
              <a:lnSpc>
                <a:spcPct val="105000"/>
              </a:lnSpc>
              <a:buNone/>
            </a:pPr>
            <a:r>
              <a:rPr lang="en-US" sz="1250" b="1" dirty="0">
                <a:solidFill>
                  <a:srgbClr val="B8842B"/>
                </a:solidFill>
                <a:latin typeface="Calibri" pitchFamily="34" charset="0"/>
                <a:ea typeface="Calibri" pitchFamily="34" charset="-122"/>
                <a:cs typeface="Calibri" pitchFamily="34" charset="-120"/>
              </a:rPr>
              <a:t>Terminal form is TIERED. </a:t>
            </a:r>
            <a:pPr indent="0" marL="0">
              <a:lnSpc>
                <a:spcPct val="105000"/>
              </a:lnSpc>
              <a:buNone/>
            </a:pPr>
            <a:r>
              <a:rPr lang="en-US" sz="1250" dirty="0">
                <a:solidFill>
                  <a:srgbClr val="202340"/>
                </a:solidFill>
                <a:latin typeface="Calibri" pitchFamily="34" charset="0"/>
                <a:ea typeface="Calibri" pitchFamily="34" charset="-122"/>
                <a:cs typeface="Calibri" pitchFamily="34" charset="-120"/>
              </a:rPr>
              <a:t>The atomic line culminates at </a:t>
            </a:r>
            <a:pPr indent="0" marL="0">
              <a:lnSpc>
                <a:spcPct val="105000"/>
              </a:lnSpc>
              <a:buNone/>
            </a:pPr>
            <a:r>
              <a:rPr lang="en-US" sz="1250" b="1" dirty="0">
                <a:solidFill>
                  <a:srgbClr val="16183D"/>
                </a:solidFill>
                <a:latin typeface="Calibri" pitchFamily="34" charset="0"/>
                <a:ea typeface="Calibri" pitchFamily="34" charset="-122"/>
                <a:cs typeface="Calibri" pitchFamily="34" charset="-120"/>
              </a:rPr>
              <a:t>constitutional completeness</a:t>
            </a:r>
            <a:pPr indent="0" marL="0">
              <a:lnSpc>
                <a:spcPct val="105000"/>
              </a:lnSpc>
              <a:buNone/>
            </a:pPr>
            <a:r>
              <a:rPr lang="en-US" sz="1250" dirty="0">
                <a:solidFill>
                  <a:srgbClr val="202340"/>
                </a:solidFill>
                <a:latin typeface="Calibri" pitchFamily="34" charset="0"/>
                <a:ea typeface="Calibri" pitchFamily="34" charset="-122"/>
                <a:cs typeface="Calibri" pitchFamily="34" charset="-120"/>
              </a:rPr>
              <a:t> — the threshold where jeevan appears (T1). The realized goals — restfulness of effort, destination of motion, immortality of result — are the awakening targets of jeevan.</a:t>
            </a:r>
            <a:endParaRPr lang="en-US" sz="1250" dirty="0"/>
          </a:p>
        </p:txBody>
      </p:sp>
      <p:sp>
        <p:nvSpPr>
          <p:cNvPr id="22" name="Text 20"/>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11</a:t>
            </a:r>
            <a:endParaRPr lang="en-US" sz="900" dirty="0"/>
          </a:p>
        </p:txBody>
      </p:sp>
      <p:sp>
        <p:nvSpPr>
          <p:cNvPr id="23" name="Text 21"/>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Two axioms</a:t>
            </a:r>
            <a:endParaRPr lang="en-US" sz="900" dirty="0"/>
          </a:p>
        </p:txBody>
      </p:sp>
      <p:sp>
        <p:nvSpPr>
          <p:cNvPr id="24" name="Text 22"/>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 · THE GENERATIVE MOVE</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κ — compound-closure</a:t>
            </a:r>
            <a:endParaRPr lang="en-US" sz="2900" dirty="0"/>
          </a:p>
        </p:txBody>
      </p:sp>
      <p:sp>
        <p:nvSpPr>
          <p:cNvPr id="4" name="Text 2"/>
          <p:cNvSpPr/>
          <p:nvPr/>
        </p:nvSpPr>
        <p:spPr>
          <a:xfrm>
            <a:off x="548640" y="1536192"/>
            <a:ext cx="11091672" cy="731520"/>
          </a:xfrm>
          <a:prstGeom prst="rect">
            <a:avLst/>
          </a:prstGeom>
          <a:noFill/>
          <a:ln/>
        </p:spPr>
        <p:txBody>
          <a:bodyPr wrap="square" rtlCol="0" anchor="t"/>
          <a:lstStyle/>
          <a:p>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Given saturated units whose ports are </a:t>
            </a:r>
            <a:pPr indent="0" marL="0">
              <a:lnSpc>
                <a:spcPct val="103000"/>
              </a:lnSpc>
              <a:buNone/>
            </a:pPr>
            <a:r>
              <a:rPr lang="en-US" sz="1500" b="1" dirty="0">
                <a:solidFill>
                  <a:srgbClr val="B8842B"/>
                </a:solidFill>
                <a:latin typeface="Calibri" pitchFamily="34" charset="0"/>
                <a:ea typeface="Calibri" pitchFamily="34" charset="-122"/>
                <a:cs typeface="Calibri" pitchFamily="34" charset="-120"/>
              </a:rPr>
              <a:t>complementary</a:t>
            </a:r>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 their activities couple; when the coupling closes a new motion-path, they present one bounded whole — a new unit, one tier up, with a fresh signature.</a:t>
            </a:r>
            <a:endParaRPr lang="en-US" sz="1500" dirty="0"/>
          </a:p>
        </p:txBody>
      </p:sp>
      <p:sp>
        <p:nvSpPr>
          <p:cNvPr id="5" name="Shape 3"/>
          <p:cNvSpPr/>
          <p:nvPr/>
        </p:nvSpPr>
        <p:spPr>
          <a:xfrm>
            <a:off x="548640" y="2331720"/>
            <a:ext cx="6675120" cy="1783080"/>
          </a:xfrm>
          <a:prstGeom prst="roundRect">
            <a:avLst>
              <a:gd name="adj" fmla="val 3077"/>
            </a:avLst>
          </a:prstGeom>
          <a:solidFill>
            <a:srgbClr val="16183D"/>
          </a:solidFill>
          <a:ln/>
        </p:spPr>
      </p:sp>
      <p:sp>
        <p:nvSpPr>
          <p:cNvPr id="6" name="Text 4"/>
          <p:cNvSpPr/>
          <p:nvPr/>
        </p:nvSpPr>
        <p:spPr>
          <a:xfrm>
            <a:off x="777240" y="2578608"/>
            <a:ext cx="6217920" cy="457200"/>
          </a:xfrm>
          <a:prstGeom prst="rect">
            <a:avLst/>
          </a:prstGeom>
          <a:noFill/>
          <a:ln/>
        </p:spPr>
        <p:txBody>
          <a:bodyPr wrap="square" rtlCol="0" anchor="ctr"/>
          <a:lstStyle/>
          <a:p>
            <a:pPr algn="ctr" indent="0" marL="0">
              <a:buNone/>
            </a:pPr>
            <a:r>
              <a:rPr lang="en-US" sz="1150" dirty="0">
                <a:solidFill>
                  <a:srgbClr val="F2EEE3"/>
                </a:solidFill>
                <a:latin typeface="Courier New" pitchFamily="34" charset="0"/>
                <a:ea typeface="Courier New" pitchFamily="34" charset="-122"/>
                <a:cs typeface="Courier New" pitchFamily="34" charset="-120"/>
              </a:rPr>
              <a:t>u₁, …, uₙ ∈ U_o  saturated in O        C_o(u₁, …, uₙ)        closure of a new motion-path</a:t>
            </a:r>
            <a:endParaRPr lang="en-US" sz="1150" dirty="0"/>
          </a:p>
        </p:txBody>
      </p:sp>
      <p:sp>
        <p:nvSpPr>
          <p:cNvPr id="7" name="Shape 5"/>
          <p:cNvSpPr/>
          <p:nvPr/>
        </p:nvSpPr>
        <p:spPr>
          <a:xfrm>
            <a:off x="1005840" y="3200400"/>
            <a:ext cx="5760720" cy="0"/>
          </a:xfrm>
          <a:prstGeom prst="line">
            <a:avLst/>
          </a:prstGeom>
          <a:noFill/>
          <a:ln w="19050">
            <a:solidFill>
              <a:srgbClr val="E3B857"/>
            </a:solidFill>
            <a:prstDash val="solid"/>
          </a:ln>
        </p:spPr>
      </p:sp>
      <p:sp>
        <p:nvSpPr>
          <p:cNvPr id="8" name="Text 6"/>
          <p:cNvSpPr/>
          <p:nvPr/>
        </p:nvSpPr>
        <p:spPr>
          <a:xfrm>
            <a:off x="777240" y="3310128"/>
            <a:ext cx="6217920" cy="457200"/>
          </a:xfrm>
          <a:prstGeom prst="rect">
            <a:avLst/>
          </a:prstGeom>
          <a:noFill/>
          <a:ln/>
        </p:spPr>
        <p:txBody>
          <a:bodyPr wrap="square" rtlCol="0" anchor="ctr"/>
          <a:lstStyle/>
          <a:p>
            <a:pPr algn="ctr" indent="0" marL="0">
              <a:buNone/>
            </a:pPr>
            <a:r>
              <a:rPr lang="en-US" sz="1250" b="1" dirty="0">
                <a:solidFill>
                  <a:srgbClr val="E3B857"/>
                </a:solidFill>
                <a:latin typeface="Courier New" pitchFamily="34" charset="0"/>
                <a:ea typeface="Courier New" pitchFamily="34" charset="-122"/>
                <a:cs typeface="Courier New" pitchFamily="34" charset="-120"/>
              </a:rPr>
              <a:t>κ(u₁, …, uₙ) ∈ U    —    a new unit, new signature, +1 tier</a:t>
            </a:r>
            <a:endParaRPr lang="en-US" sz="1250" dirty="0"/>
          </a:p>
        </p:txBody>
      </p:sp>
      <p:sp>
        <p:nvSpPr>
          <p:cNvPr id="9" name="Text 7"/>
          <p:cNvSpPr/>
          <p:nvPr/>
        </p:nvSpPr>
        <p:spPr>
          <a:xfrm>
            <a:off x="777240" y="3794760"/>
            <a:ext cx="6217920" cy="274320"/>
          </a:xfrm>
          <a:prstGeom prst="rect">
            <a:avLst/>
          </a:prstGeom>
          <a:noFill/>
          <a:ln/>
        </p:spPr>
        <p:txBody>
          <a:bodyPr wrap="square" rtlCol="0" anchor="ctr"/>
          <a:lstStyle/>
          <a:p>
            <a:pPr algn="ctr" indent="0" marL="0">
              <a:buNone/>
            </a:pPr>
            <a:r>
              <a:rPr lang="en-US" sz="1150" dirty="0">
                <a:solidFill>
                  <a:srgbClr val="A7ACD0"/>
                </a:solidFill>
                <a:latin typeface="Courier New" pitchFamily="34" charset="0"/>
                <a:ea typeface="Courier New" pitchFamily="34" charset="-122"/>
                <a:cs typeface="Courier New" pitchFamily="34" charset="-120"/>
              </a:rPr>
              <a:t>κ_o(u₁,…,uₙ)  =  closure( φ_o( ρ_o(u₁,…,uₙ) ) )</a:t>
            </a:r>
            <a:endParaRPr lang="en-US" sz="1150" dirty="0"/>
          </a:p>
        </p:txBody>
      </p:sp>
      <p:sp>
        <p:nvSpPr>
          <p:cNvPr id="10" name="Shape 8"/>
          <p:cNvSpPr/>
          <p:nvPr/>
        </p:nvSpPr>
        <p:spPr>
          <a:xfrm>
            <a:off x="7406640" y="2331720"/>
            <a:ext cx="4233672" cy="1783080"/>
          </a:xfrm>
          <a:prstGeom prst="roundRect">
            <a:avLst>
              <a:gd name="adj" fmla="val 3077"/>
            </a:avLst>
          </a:prstGeom>
          <a:solidFill>
            <a:srgbClr val="F5F6FB"/>
          </a:solidFill>
          <a:ln w="12700">
            <a:solidFill>
              <a:srgbClr val="E1E3EF"/>
            </a:solidFill>
            <a:prstDash val="solid"/>
          </a:ln>
        </p:spPr>
      </p:sp>
      <p:sp>
        <p:nvSpPr>
          <p:cNvPr id="11" name="Text 9"/>
          <p:cNvSpPr/>
          <p:nvPr/>
        </p:nvSpPr>
        <p:spPr>
          <a:xfrm>
            <a:off x="7607808" y="2450592"/>
            <a:ext cx="3840480" cy="320040"/>
          </a:xfrm>
          <a:prstGeom prst="rect">
            <a:avLst/>
          </a:prstGeom>
          <a:noFill/>
          <a:ln/>
        </p:spPr>
        <p:txBody>
          <a:bodyPr wrap="square" rtlCol="0" anchor="ctr"/>
          <a:lstStyle/>
          <a:p>
            <a:pPr indent="0" marL="0">
              <a:buNone/>
            </a:pPr>
            <a:r>
              <a:rPr lang="en-US" sz="1400" b="1" dirty="0">
                <a:solidFill>
                  <a:srgbClr val="16183D"/>
                </a:solidFill>
                <a:latin typeface="Cambria" pitchFamily="34" charset="0"/>
                <a:ea typeface="Cambria" pitchFamily="34" charset="-122"/>
                <a:cs typeface="Cambria" pitchFamily="34" charset="-120"/>
              </a:rPr>
              <a:t>The anatomy of a coupling</a:t>
            </a:r>
            <a:endParaRPr lang="en-US" sz="1400" dirty="0"/>
          </a:p>
        </p:txBody>
      </p:sp>
      <p:sp>
        <p:nvSpPr>
          <p:cNvPr id="12" name="Text 10"/>
          <p:cNvSpPr/>
          <p:nvPr/>
        </p:nvSpPr>
        <p:spPr>
          <a:xfrm>
            <a:off x="7607808" y="2816352"/>
            <a:ext cx="3840480" cy="411480"/>
          </a:xfrm>
          <a:prstGeom prst="rect">
            <a:avLst/>
          </a:prstGeom>
          <a:noFill/>
          <a:ln/>
        </p:spPr>
        <p:txBody>
          <a:bodyPr wrap="square" rtlCol="0" anchor="t"/>
          <a:lstStyle/>
          <a:p>
            <a:pPr indent="0" marL="0">
              <a:lnSpc>
                <a:spcPct val="98000"/>
              </a:lnSpc>
              <a:buNone/>
            </a:pPr>
            <a:r>
              <a:rPr lang="en-US" sz="1150" b="1" dirty="0">
                <a:solidFill>
                  <a:srgbClr val="B8842B"/>
                </a:solidFill>
                <a:latin typeface="Courier New" pitchFamily="34" charset="0"/>
                <a:ea typeface="Courier New" pitchFamily="34" charset="-122"/>
                <a:cs typeface="Courier New" pitchFamily="34" charset="-120"/>
              </a:rPr>
              <a:t>ρ  recognition  </a:t>
            </a:r>
            <a:pPr indent="0" marL="0">
              <a:lnSpc>
                <a:spcPct val="98000"/>
              </a:lnSpc>
              <a:buNone/>
            </a:pPr>
            <a:r>
              <a:rPr lang="en-US" sz="1150" dirty="0">
                <a:solidFill>
                  <a:srgbClr val="202340"/>
                </a:solidFill>
                <a:latin typeface="Calibri" pitchFamily="34" charset="0"/>
                <a:ea typeface="Calibri" pitchFamily="34" charset="-122"/>
                <a:cs typeface="Calibri" pitchFamily="34" charset="-120"/>
              </a:rPr>
              <a:t>identifies C_o holds; fixes the expectation profile</a:t>
            </a:r>
            <a:endParaRPr lang="en-US" sz="1150" dirty="0"/>
          </a:p>
        </p:txBody>
      </p:sp>
      <p:sp>
        <p:nvSpPr>
          <p:cNvPr id="13" name="Text 11"/>
          <p:cNvSpPr/>
          <p:nvPr/>
        </p:nvSpPr>
        <p:spPr>
          <a:xfrm>
            <a:off x="7607808" y="3236976"/>
            <a:ext cx="3840480" cy="411480"/>
          </a:xfrm>
          <a:prstGeom prst="rect">
            <a:avLst/>
          </a:prstGeom>
          <a:noFill/>
          <a:ln/>
        </p:spPr>
        <p:txBody>
          <a:bodyPr wrap="square" rtlCol="0" anchor="t"/>
          <a:lstStyle/>
          <a:p>
            <a:pPr indent="0" marL="0">
              <a:lnSpc>
                <a:spcPct val="98000"/>
              </a:lnSpc>
              <a:buNone/>
            </a:pPr>
            <a:r>
              <a:rPr lang="en-US" sz="1150" b="1" dirty="0">
                <a:solidFill>
                  <a:srgbClr val="B8842B"/>
                </a:solidFill>
                <a:latin typeface="Courier New" pitchFamily="34" charset="0"/>
                <a:ea typeface="Courier New" pitchFamily="34" charset="-122"/>
                <a:cs typeface="Courier New" pitchFamily="34" charset="-120"/>
              </a:rPr>
              <a:t>φ  fulfilment  </a:t>
            </a:r>
            <a:pPr indent="0" marL="0">
              <a:lnSpc>
                <a:spcPct val="98000"/>
              </a:lnSpc>
              <a:buNone/>
            </a:pPr>
            <a:r>
              <a:rPr lang="en-US" sz="1150" dirty="0">
                <a:solidFill>
                  <a:srgbClr val="202340"/>
                </a:solidFill>
                <a:latin typeface="Calibri" pitchFamily="34" charset="0"/>
                <a:ea typeface="Calibri" pitchFamily="34" charset="-122"/>
                <a:cs typeface="Calibri" pitchFamily="34" charset="-120"/>
              </a:rPr>
              <a:t>executes; results flow along that profile</a:t>
            </a:r>
            <a:endParaRPr lang="en-US" sz="1150" dirty="0"/>
          </a:p>
        </p:txBody>
      </p:sp>
      <p:sp>
        <p:nvSpPr>
          <p:cNvPr id="14" name="Text 12"/>
          <p:cNvSpPr/>
          <p:nvPr/>
        </p:nvSpPr>
        <p:spPr>
          <a:xfrm>
            <a:off x="7607808" y="3657600"/>
            <a:ext cx="3840480" cy="411480"/>
          </a:xfrm>
          <a:prstGeom prst="rect">
            <a:avLst/>
          </a:prstGeom>
          <a:noFill/>
          <a:ln/>
        </p:spPr>
        <p:txBody>
          <a:bodyPr wrap="square" rtlCol="0" anchor="t"/>
          <a:lstStyle/>
          <a:p>
            <a:pPr indent="0" marL="0">
              <a:lnSpc>
                <a:spcPct val="98000"/>
              </a:lnSpc>
              <a:buNone/>
            </a:pPr>
            <a:r>
              <a:rPr lang="en-US" sz="1150" b="1" dirty="0">
                <a:solidFill>
                  <a:srgbClr val="B8842B"/>
                </a:solidFill>
                <a:latin typeface="Courier New" pitchFamily="34" charset="0"/>
                <a:ea typeface="Courier New" pitchFamily="34" charset="-122"/>
                <a:cs typeface="Courier New" pitchFamily="34" charset="-120"/>
              </a:rPr>
              <a:t>closure  </a:t>
            </a:r>
            <a:pPr indent="0" marL="0">
              <a:lnSpc>
                <a:spcPct val="98000"/>
              </a:lnSpc>
              <a:buNone/>
            </a:pPr>
            <a:r>
              <a:rPr lang="en-US" sz="1150" dirty="0">
                <a:solidFill>
                  <a:srgbClr val="202340"/>
                </a:solidFill>
                <a:latin typeface="Calibri" pitchFamily="34" charset="0"/>
                <a:ea typeface="Calibri" pitchFamily="34" charset="-122"/>
                <a:cs typeface="Calibri" pitchFamily="34" charset="-120"/>
              </a:rPr>
              <a:t>does it settle into one new bounded path?</a:t>
            </a:r>
            <a:endParaRPr lang="en-US" sz="1150" dirty="0"/>
          </a:p>
        </p:txBody>
      </p:sp>
      <p:sp>
        <p:nvSpPr>
          <p:cNvPr id="15" name="Shape 13"/>
          <p:cNvSpPr/>
          <p:nvPr/>
        </p:nvSpPr>
        <p:spPr>
          <a:xfrm>
            <a:off x="548640" y="4343400"/>
            <a:ext cx="5449824" cy="1600200"/>
          </a:xfrm>
          <a:prstGeom prst="roundRect">
            <a:avLst>
              <a:gd name="adj" fmla="val 3429"/>
            </a:avLst>
          </a:prstGeom>
          <a:solidFill>
            <a:srgbClr val="F5F6FB"/>
          </a:solidFill>
          <a:ln w="15875">
            <a:solidFill>
              <a:srgbClr val="3E7C8C"/>
            </a:solidFill>
            <a:prstDash val="solid"/>
          </a:ln>
        </p:spPr>
      </p:sp>
      <p:sp>
        <p:nvSpPr>
          <p:cNvPr id="16" name="Text 14"/>
          <p:cNvSpPr/>
          <p:nvPr/>
        </p:nvSpPr>
        <p:spPr>
          <a:xfrm>
            <a:off x="749808" y="4480560"/>
            <a:ext cx="5029200" cy="365760"/>
          </a:xfrm>
          <a:prstGeom prst="rect">
            <a:avLst/>
          </a:prstGeom>
          <a:noFill/>
          <a:ln/>
        </p:spPr>
        <p:txBody>
          <a:bodyPr wrap="square" rtlCol="0" anchor="ctr"/>
          <a:lstStyle/>
          <a:p>
            <a:pPr indent="0" marL="0">
              <a:buNone/>
            </a:pPr>
            <a:r>
              <a:rPr lang="en-US" sz="1450" b="1" dirty="0">
                <a:solidFill>
                  <a:srgbClr val="3E7C8C"/>
                </a:solidFill>
                <a:latin typeface="Cambria" pitchFamily="34" charset="0"/>
                <a:ea typeface="Cambria" pitchFamily="34" charset="-122"/>
                <a:cs typeface="Cambria" pitchFamily="34" charset="-120"/>
              </a:rPr>
              <a:t>Compound (yaugik) — closes</a:t>
            </a:r>
            <a:endParaRPr lang="en-US" sz="1450" dirty="0"/>
          </a:p>
        </p:txBody>
      </p:sp>
      <p:sp>
        <p:nvSpPr>
          <p:cNvPr id="17" name="Text 15"/>
          <p:cNvSpPr/>
          <p:nvPr/>
        </p:nvSpPr>
        <p:spPr>
          <a:xfrm>
            <a:off x="749808" y="4828032"/>
            <a:ext cx="5029200" cy="1005840"/>
          </a:xfrm>
          <a:prstGeom prst="rect">
            <a:avLst/>
          </a:prstGeom>
          <a:noFill/>
          <a:ln/>
        </p:spPr>
        <p:txBody>
          <a:bodyPr wrap="square" rtlCol="0" anchor="t"/>
          <a:lstStyle/>
          <a:p>
            <a:pPr indent="0" marL="0">
              <a:lnSpc>
                <a:spcPct val="103000"/>
              </a:lnSpc>
              <a:buNone/>
            </a:pPr>
            <a:r>
              <a:rPr lang="en-US" sz="1250" dirty="0">
                <a:solidFill>
                  <a:srgbClr val="202340"/>
                </a:solidFill>
                <a:latin typeface="Calibri" pitchFamily="34" charset="0"/>
                <a:ea typeface="Calibri" pitchFamily="34" charset="-122"/>
                <a:cs typeface="Calibri" pitchFamily="34" charset="-120"/>
              </a:rPr>
              <a:t>A new boundary forms. Components “discard their own conducts and present another kind of conduct.” A new unit exists.</a:t>
            </a:r>
            <a:endParaRPr lang="en-US" sz="1250" dirty="0"/>
          </a:p>
        </p:txBody>
      </p:sp>
      <p:sp>
        <p:nvSpPr>
          <p:cNvPr id="18" name="Shape 16"/>
          <p:cNvSpPr/>
          <p:nvPr/>
        </p:nvSpPr>
        <p:spPr>
          <a:xfrm>
            <a:off x="6190488" y="4343400"/>
            <a:ext cx="5449824" cy="1600200"/>
          </a:xfrm>
          <a:prstGeom prst="roundRect">
            <a:avLst>
              <a:gd name="adj" fmla="val 3429"/>
            </a:avLst>
          </a:prstGeom>
          <a:solidFill>
            <a:srgbClr val="F5F6FB"/>
          </a:solidFill>
          <a:ln w="15875">
            <a:solidFill>
              <a:srgbClr val="E1E3EF"/>
            </a:solidFill>
            <a:prstDash val="solid"/>
          </a:ln>
        </p:spPr>
      </p:sp>
      <p:sp>
        <p:nvSpPr>
          <p:cNvPr id="19" name="Text 17"/>
          <p:cNvSpPr/>
          <p:nvPr/>
        </p:nvSpPr>
        <p:spPr>
          <a:xfrm>
            <a:off x="6391656" y="4480560"/>
            <a:ext cx="5029200" cy="365760"/>
          </a:xfrm>
          <a:prstGeom prst="rect">
            <a:avLst/>
          </a:prstGeom>
          <a:noFill/>
          <a:ln/>
        </p:spPr>
        <p:txBody>
          <a:bodyPr wrap="square" rtlCol="0" anchor="ctr"/>
          <a:lstStyle/>
          <a:p>
            <a:pPr indent="0" marL="0">
              <a:buNone/>
            </a:pPr>
            <a:r>
              <a:rPr lang="en-US" sz="1450" b="1" dirty="0">
                <a:solidFill>
                  <a:srgbClr val="6A6E93"/>
                </a:solidFill>
                <a:latin typeface="Cambria" pitchFamily="34" charset="0"/>
                <a:ea typeface="Cambria" pitchFamily="34" charset="-122"/>
                <a:cs typeface="Cambria" pitchFamily="34" charset="-120"/>
              </a:rPr>
              <a:t>Mixture (mishran) — does not</a:t>
            </a:r>
            <a:endParaRPr lang="en-US" sz="1450" dirty="0"/>
          </a:p>
        </p:txBody>
      </p:sp>
      <p:sp>
        <p:nvSpPr>
          <p:cNvPr id="20" name="Text 18"/>
          <p:cNvSpPr/>
          <p:nvPr/>
        </p:nvSpPr>
        <p:spPr>
          <a:xfrm>
            <a:off x="6391656" y="4828032"/>
            <a:ext cx="5029200" cy="1005840"/>
          </a:xfrm>
          <a:prstGeom prst="rect">
            <a:avLst/>
          </a:prstGeom>
          <a:noFill/>
          <a:ln/>
        </p:spPr>
        <p:txBody>
          <a:bodyPr wrap="square" rtlCol="0" anchor="t"/>
          <a:lstStyle/>
          <a:p>
            <a:pPr indent="0" marL="0">
              <a:lnSpc>
                <a:spcPct val="103000"/>
              </a:lnSpc>
              <a:buNone/>
            </a:pPr>
            <a:r>
              <a:rPr lang="en-US" sz="1250" dirty="0">
                <a:solidFill>
                  <a:srgbClr val="202340"/>
                </a:solidFill>
                <a:latin typeface="Calibri" pitchFamily="34" charset="0"/>
                <a:ea typeface="Calibri" pitchFamily="34" charset="-122"/>
                <a:cs typeface="Calibri" pitchFamily="34" charset="-120"/>
              </a:rPr>
              <a:t>φ still delivers results, but no new boundary. Components keep their conducts. This is why “composition is not development.”</a:t>
            </a:r>
            <a:endParaRPr lang="en-US" sz="1250" dirty="0"/>
          </a:p>
        </p:txBody>
      </p:sp>
      <p:sp>
        <p:nvSpPr>
          <p:cNvPr id="21" name="Text 19"/>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12</a:t>
            </a:r>
            <a:endParaRPr lang="en-US" sz="900" dirty="0"/>
          </a:p>
        </p:txBody>
      </p:sp>
      <p:sp>
        <p:nvSpPr>
          <p:cNvPr id="22" name="Text 20"/>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The generative move κ</a:t>
            </a:r>
            <a:endParaRPr lang="en-US" sz="900" dirty="0"/>
          </a:p>
        </p:txBody>
      </p:sp>
      <p:sp>
        <p:nvSpPr>
          <p:cNvPr id="23" name="Text 21"/>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 · WHERE SENTIENCE ENTERS</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The reflexive turn — κ reaches a fixed point</a:t>
            </a:r>
            <a:endParaRPr lang="en-US" sz="2900" dirty="0"/>
          </a:p>
        </p:txBody>
      </p:sp>
      <p:sp>
        <p:nvSpPr>
          <p:cNvPr id="4" name="Text 2"/>
          <p:cNvSpPr/>
          <p:nvPr/>
        </p:nvSpPr>
        <p:spPr>
          <a:xfrm>
            <a:off x="548640" y="1572768"/>
            <a:ext cx="5623560" cy="1234440"/>
          </a:xfrm>
          <a:prstGeom prst="rect">
            <a:avLst/>
          </a:prstGeom>
          <a:noFill/>
          <a:ln/>
        </p:spPr>
        <p:txBody>
          <a:bodyPr wrap="square" rtlCol="0" anchor="t"/>
          <a:lstStyle/>
          <a:p>
            <a:pPr indent="0" marL="0">
              <a:lnSpc>
                <a:spcPct val="105000"/>
              </a:lnSpc>
              <a:buNone/>
            </a:pPr>
            <a:r>
              <a:rPr lang="en-US" sz="1500" dirty="0">
                <a:solidFill>
                  <a:srgbClr val="202340"/>
                </a:solidFill>
                <a:latin typeface="Calibri" pitchFamily="34" charset="0"/>
                <a:ea typeface="Calibri" pitchFamily="34" charset="-122"/>
                <a:cs typeface="Calibri" pitchFamily="34" charset="-120"/>
              </a:rPr>
              <a:t>Iterate κ along the development progression (vikas-kram) until a composite atom reaches its A2 terminal — </a:t>
            </a:r>
            <a:pPr indent="0" marL="0">
              <a:lnSpc>
                <a:spcPct val="105000"/>
              </a:lnSpc>
              <a:buNone/>
            </a:pPr>
            <a:r>
              <a:rPr lang="en-US" sz="1500" b="1" dirty="0">
                <a:solidFill>
                  <a:srgbClr val="B8842B"/>
                </a:solidFill>
                <a:latin typeface="Calibri" pitchFamily="34" charset="0"/>
                <a:ea typeface="Calibri" pitchFamily="34" charset="-122"/>
                <a:cs typeface="Calibri" pitchFamily="34" charset="-120"/>
              </a:rPr>
              <a:t>constitutional completeness</a:t>
            </a:r>
            <a:pPr indent="0" marL="0">
              <a:lnSpc>
                <a:spcPct val="105000"/>
              </a:lnSpc>
              <a:buNone/>
            </a:pPr>
            <a:r>
              <a:rPr lang="en-US" sz="1500" dirty="0">
                <a:solidFill>
                  <a:srgbClr val="202340"/>
                </a:solidFill>
                <a:latin typeface="Calibri" pitchFamily="34" charset="0"/>
                <a:ea typeface="Calibri" pitchFamily="34" charset="-122"/>
                <a:cs typeface="Calibri" pitchFamily="34" charset="-120"/>
              </a:rPr>
              <a:t>, after which “both effort and motion become inexhaustible” (SB p. 61).</a:t>
            </a:r>
            <a:endParaRPr lang="en-US" sz="1500" dirty="0"/>
          </a:p>
        </p:txBody>
      </p:sp>
      <p:sp>
        <p:nvSpPr>
          <p:cNvPr id="5" name="Text 3"/>
          <p:cNvSpPr/>
          <p:nvPr/>
        </p:nvSpPr>
        <p:spPr>
          <a:xfrm>
            <a:off x="548640" y="2880360"/>
            <a:ext cx="5623560" cy="1554480"/>
          </a:xfrm>
          <a:prstGeom prst="rect">
            <a:avLst/>
          </a:prstGeom>
          <a:noFill/>
          <a:ln/>
        </p:spPr>
        <p:txBody>
          <a:bodyPr wrap="square" rtlCol="0" anchor="t"/>
          <a:lstStyle/>
          <a:p>
            <a:pPr indent="0" marL="0">
              <a:lnSpc>
                <a:spcPct val="105000"/>
              </a:lnSpc>
              <a:buNone/>
            </a:pPr>
            <a:r>
              <a:rPr lang="en-US" sz="1500" dirty="0">
                <a:solidFill>
                  <a:srgbClr val="202340"/>
                </a:solidFill>
                <a:latin typeface="Calibri" pitchFamily="34" charset="0"/>
                <a:ea typeface="Calibri" pitchFamily="34" charset="-122"/>
                <a:cs typeface="Calibri" pitchFamily="34" charset="-120"/>
              </a:rPr>
              <a:t>At that fixed point the unit's activity can take </a:t>
            </a:r>
            <a:pPr indent="0" marL="0">
              <a:lnSpc>
                <a:spcPct val="105000"/>
              </a:lnSpc>
              <a:buNone/>
            </a:pPr>
            <a:r>
              <a:rPr lang="en-US" sz="1500" b="1" i="1" dirty="0">
                <a:solidFill>
                  <a:srgbClr val="16183D"/>
                </a:solidFill>
                <a:latin typeface="Calibri" pitchFamily="34" charset="0"/>
                <a:ea typeface="Calibri" pitchFamily="34" charset="-122"/>
                <a:cs typeface="Calibri" pitchFamily="34" charset="-120"/>
              </a:rPr>
              <a:t>activity itself</a:t>
            </a:r>
            <a:pPr indent="0" marL="0">
              <a:lnSpc>
                <a:spcPct val="105000"/>
              </a:lnSpc>
              <a:buNone/>
            </a:pPr>
            <a:r>
              <a:rPr lang="en-US" sz="1500" dirty="0">
                <a:solidFill>
                  <a:srgbClr val="202340"/>
                </a:solidFill>
                <a:latin typeface="Calibri" pitchFamily="34" charset="0"/>
                <a:ea typeface="Calibri" pitchFamily="34" charset="-122"/>
                <a:cs typeface="Calibri" pitchFamily="34" charset="-120"/>
              </a:rPr>
              <a:t> as its object. This reflexive re-application is </a:t>
            </a:r>
            <a:pPr indent="0" marL="0">
              <a:lnSpc>
                <a:spcPct val="105000"/>
              </a:lnSpc>
              <a:buNone/>
            </a:pPr>
            <a:r>
              <a:rPr lang="en-US" sz="1500" b="1" dirty="0">
                <a:solidFill>
                  <a:srgbClr val="B8842B"/>
                </a:solidFill>
                <a:latin typeface="Calibri" pitchFamily="34" charset="0"/>
                <a:ea typeface="Calibri" pitchFamily="34" charset="-122"/>
                <a:cs typeface="Calibri" pitchFamily="34" charset="-120"/>
              </a:rPr>
              <a:t>jeevan</a:t>
            </a:r>
            <a:pPr indent="0" marL="0">
              <a:lnSpc>
                <a:spcPct val="105000"/>
              </a:lnSpc>
              <a:buNone/>
            </a:pPr>
            <a:r>
              <a:rPr lang="en-US" sz="1500" dirty="0">
                <a:solidFill>
                  <a:srgbClr val="202340"/>
                </a:solidFill>
                <a:latin typeface="Calibri" pitchFamily="34" charset="0"/>
                <a:ea typeface="Calibri" pitchFamily="34" charset="-122"/>
                <a:cs typeface="Calibri" pitchFamily="34" charset="-120"/>
              </a:rPr>
              <a:t> — the sentient unit, and the sole locus of evaluation and of possible failure.</a:t>
            </a:r>
            <a:endParaRPr lang="en-US" sz="1500" dirty="0"/>
          </a:p>
        </p:txBody>
      </p:sp>
      <p:sp>
        <p:nvSpPr>
          <p:cNvPr id="6" name="Shape 4"/>
          <p:cNvSpPr/>
          <p:nvPr/>
        </p:nvSpPr>
        <p:spPr>
          <a:xfrm>
            <a:off x="548640" y="4572000"/>
            <a:ext cx="5623560" cy="1371600"/>
          </a:xfrm>
          <a:prstGeom prst="roundRect">
            <a:avLst>
              <a:gd name="adj" fmla="val 4000"/>
            </a:avLst>
          </a:prstGeom>
          <a:solidFill>
            <a:srgbClr val="F5F6FB"/>
          </a:solidFill>
          <a:ln w="15875">
            <a:solidFill>
              <a:srgbClr val="B8842B"/>
            </a:solidFill>
            <a:prstDash val="solid"/>
          </a:ln>
        </p:spPr>
      </p:sp>
      <p:sp>
        <p:nvSpPr>
          <p:cNvPr id="7" name="Text 5"/>
          <p:cNvSpPr/>
          <p:nvPr/>
        </p:nvSpPr>
        <p:spPr>
          <a:xfrm>
            <a:off x="749808" y="4700016"/>
            <a:ext cx="2743200" cy="274320"/>
          </a:xfrm>
          <a:prstGeom prst="rect">
            <a:avLst/>
          </a:prstGeom>
          <a:noFill/>
          <a:ln/>
        </p:spPr>
        <p:txBody>
          <a:bodyPr wrap="square" rtlCol="0" anchor="ctr"/>
          <a:lstStyle/>
          <a:p>
            <a:pPr indent="0" marL="0">
              <a:buNone/>
            </a:pPr>
            <a:r>
              <a:rPr lang="en-US" sz="1050" b="1" spc="200" kern="0" dirty="0">
                <a:solidFill>
                  <a:srgbClr val="B8842B"/>
                </a:solidFill>
                <a:latin typeface="Calibri" pitchFamily="34" charset="0"/>
                <a:ea typeface="Calibri" pitchFamily="34" charset="-122"/>
                <a:cs typeface="Calibri" pitchFamily="34" charset="-120"/>
              </a:rPr>
              <a:t>Status flag</a:t>
            </a:r>
            <a:endParaRPr lang="en-US" sz="1050" dirty="0"/>
          </a:p>
        </p:txBody>
      </p:sp>
      <p:sp>
        <p:nvSpPr>
          <p:cNvPr id="8" name="Text 6"/>
          <p:cNvSpPr/>
          <p:nvPr/>
        </p:nvSpPr>
        <p:spPr>
          <a:xfrm>
            <a:off x="749808" y="4956048"/>
            <a:ext cx="5257800" cy="914400"/>
          </a:xfrm>
          <a:prstGeom prst="rect">
            <a:avLst/>
          </a:prstGeom>
          <a:noFill/>
          <a:ln/>
        </p:spPr>
        <p:txBody>
          <a:bodyPr wrap="square" rtlCol="0" anchor="t"/>
          <a:lstStyle/>
          <a:p>
            <a:pPr indent="0" marL="0">
              <a:lnSpc>
                <a:spcPct val="103000"/>
              </a:lnSpc>
              <a:buNone/>
            </a:pPr>
            <a:r>
              <a:rPr lang="en-US" sz="1250" dirty="0">
                <a:solidFill>
                  <a:srgbClr val="202340"/>
                </a:solidFill>
                <a:latin typeface="Calibri" pitchFamily="34" charset="0"/>
                <a:ea typeface="Calibri" pitchFamily="34" charset="-122"/>
                <a:cs typeface="Calibri" pitchFamily="34" charset="-120"/>
              </a:rPr>
              <a:t>Reflexivity is a DISTINCT move — not a second literal firing of κ. It is the paper's interpretive MODEL of the knowledge order — an organizing reading, flagged as such, not a derived theorem.</a:t>
            </a:r>
            <a:endParaRPr lang="en-US" sz="1250" dirty="0"/>
          </a:p>
        </p:txBody>
      </p:sp>
      <p:sp>
        <p:nvSpPr>
          <p:cNvPr id="9" name="Shape 7"/>
          <p:cNvSpPr/>
          <p:nvPr/>
        </p:nvSpPr>
        <p:spPr>
          <a:xfrm>
            <a:off x="6446520" y="1600200"/>
            <a:ext cx="5193792" cy="4343400"/>
          </a:xfrm>
          <a:prstGeom prst="roundRect">
            <a:avLst>
              <a:gd name="adj" fmla="val 1684"/>
            </a:avLst>
          </a:prstGeom>
          <a:solidFill>
            <a:srgbClr val="16183D"/>
          </a:solidFill>
          <a:ln/>
        </p:spPr>
      </p:sp>
      <p:sp>
        <p:nvSpPr>
          <p:cNvPr id="10" name="Text 8"/>
          <p:cNvSpPr/>
          <p:nvPr/>
        </p:nvSpPr>
        <p:spPr>
          <a:xfrm>
            <a:off x="6675120" y="1783080"/>
            <a:ext cx="2286000" cy="274320"/>
          </a:xfrm>
          <a:prstGeom prst="rect">
            <a:avLst/>
          </a:prstGeom>
          <a:noFill/>
          <a:ln/>
        </p:spPr>
        <p:txBody>
          <a:bodyPr wrap="square" rtlCol="0" anchor="ctr"/>
          <a:lstStyle/>
          <a:p>
            <a:pPr indent="0" marL="0">
              <a:buNone/>
            </a:pPr>
            <a:r>
              <a:rPr lang="en-US" sz="1100" dirty="0">
                <a:solidFill>
                  <a:srgbClr val="A7ACD0"/>
                </a:solidFill>
                <a:latin typeface="Calibri" pitchFamily="34" charset="0"/>
                <a:ea typeface="Calibri" pitchFamily="34" charset="-122"/>
                <a:cs typeface="Calibri" pitchFamily="34" charset="-120"/>
              </a:rPr>
              <a:t>ordinary unit</a:t>
            </a:r>
            <a:endParaRPr lang="en-US" sz="1100" dirty="0"/>
          </a:p>
        </p:txBody>
      </p:sp>
      <p:sp>
        <p:nvSpPr>
          <p:cNvPr id="11" name="Shape 9"/>
          <p:cNvSpPr/>
          <p:nvPr/>
        </p:nvSpPr>
        <p:spPr>
          <a:xfrm>
            <a:off x="7223760" y="2240280"/>
            <a:ext cx="457200" cy="457200"/>
          </a:xfrm>
          <a:prstGeom prst="ellipse">
            <a:avLst/>
          </a:prstGeom>
          <a:solidFill>
            <a:srgbClr val="3E7C8C"/>
          </a:solidFill>
          <a:ln/>
        </p:spPr>
      </p:sp>
      <p:sp>
        <p:nvSpPr>
          <p:cNvPr id="12" name="Text 10"/>
          <p:cNvSpPr/>
          <p:nvPr/>
        </p:nvSpPr>
        <p:spPr>
          <a:xfrm>
            <a:off x="7223760" y="2240280"/>
            <a:ext cx="457200" cy="4572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act</a:t>
            </a:r>
            <a:endParaRPr lang="en-US" sz="1000" dirty="0"/>
          </a:p>
        </p:txBody>
      </p:sp>
      <p:sp>
        <p:nvSpPr>
          <p:cNvPr id="13" name="Shape 11"/>
          <p:cNvSpPr/>
          <p:nvPr/>
        </p:nvSpPr>
        <p:spPr>
          <a:xfrm>
            <a:off x="7863840" y="2377440"/>
            <a:ext cx="1005840" cy="201168"/>
          </a:xfrm>
          <a:prstGeom prst="rightArrow">
            <a:avLst/>
          </a:prstGeom>
          <a:solidFill>
            <a:srgbClr val="A7ACD0"/>
          </a:solidFill>
          <a:ln/>
        </p:spPr>
      </p:sp>
      <p:sp>
        <p:nvSpPr>
          <p:cNvPr id="14" name="Text 12"/>
          <p:cNvSpPr/>
          <p:nvPr/>
        </p:nvSpPr>
        <p:spPr>
          <a:xfrm>
            <a:off x="8915400" y="2286000"/>
            <a:ext cx="1280160" cy="365760"/>
          </a:xfrm>
          <a:prstGeom prst="rect">
            <a:avLst/>
          </a:prstGeom>
          <a:noFill/>
          <a:ln/>
        </p:spPr>
        <p:txBody>
          <a:bodyPr wrap="square" rtlCol="0" anchor="ctr"/>
          <a:lstStyle/>
          <a:p>
            <a:pPr indent="0" marL="0">
              <a:buNone/>
            </a:pPr>
            <a:r>
              <a:rPr lang="en-US" sz="1100" dirty="0">
                <a:solidFill>
                  <a:srgbClr val="F2EEE3"/>
                </a:solidFill>
                <a:latin typeface="Calibri" pitchFamily="34" charset="0"/>
                <a:ea typeface="Calibri" pitchFamily="34" charset="-122"/>
                <a:cs typeface="Calibri" pitchFamily="34" charset="-120"/>
              </a:rPr>
              <a:t>result</a:t>
            </a:r>
            <a:endParaRPr lang="en-US" sz="1100" dirty="0"/>
          </a:p>
        </p:txBody>
      </p:sp>
      <p:sp>
        <p:nvSpPr>
          <p:cNvPr id="15" name="Shape 13"/>
          <p:cNvSpPr/>
          <p:nvPr/>
        </p:nvSpPr>
        <p:spPr>
          <a:xfrm>
            <a:off x="6675120" y="3063240"/>
            <a:ext cx="4709160" cy="0"/>
          </a:xfrm>
          <a:prstGeom prst="line">
            <a:avLst/>
          </a:prstGeom>
          <a:noFill/>
          <a:ln w="12700">
            <a:solidFill>
              <a:srgbClr val="3A3E6E"/>
            </a:solidFill>
            <a:prstDash val="solid"/>
          </a:ln>
        </p:spPr>
      </p:sp>
      <p:sp>
        <p:nvSpPr>
          <p:cNvPr id="16" name="Text 14"/>
          <p:cNvSpPr/>
          <p:nvPr/>
        </p:nvSpPr>
        <p:spPr>
          <a:xfrm>
            <a:off x="6675120" y="3200400"/>
            <a:ext cx="4572000" cy="274320"/>
          </a:xfrm>
          <a:prstGeom prst="rect">
            <a:avLst/>
          </a:prstGeom>
          <a:noFill/>
          <a:ln/>
        </p:spPr>
        <p:txBody>
          <a:bodyPr wrap="square" rtlCol="0" anchor="ctr"/>
          <a:lstStyle/>
          <a:p>
            <a:pPr indent="0" marL="0">
              <a:buNone/>
            </a:pPr>
            <a:r>
              <a:rPr lang="en-US" sz="1100" b="1" dirty="0">
                <a:solidFill>
                  <a:srgbClr val="E3B857"/>
                </a:solidFill>
                <a:latin typeface="Calibri" pitchFamily="34" charset="0"/>
                <a:ea typeface="Calibri" pitchFamily="34" charset="-122"/>
                <a:cs typeface="Calibri" pitchFamily="34" charset="-120"/>
              </a:rPr>
              <a:t>jeevan — activity turned on itself</a:t>
            </a:r>
            <a:endParaRPr lang="en-US" sz="1100" dirty="0"/>
          </a:p>
        </p:txBody>
      </p:sp>
      <p:sp>
        <p:nvSpPr>
          <p:cNvPr id="17" name="Shape 15"/>
          <p:cNvSpPr/>
          <p:nvPr/>
        </p:nvSpPr>
        <p:spPr>
          <a:xfrm>
            <a:off x="8092440" y="3520440"/>
            <a:ext cx="1737360" cy="1737360"/>
          </a:xfrm>
          <a:prstGeom prst="ellipse">
            <a:avLst/>
          </a:prstGeom>
          <a:solidFill>
            <a:srgbClr val="16183D"/>
          </a:solidFill>
          <a:ln w="31750">
            <a:solidFill>
              <a:srgbClr val="E3B857"/>
            </a:solidFill>
            <a:prstDash val="solid"/>
          </a:ln>
        </p:spPr>
      </p:sp>
      <p:sp>
        <p:nvSpPr>
          <p:cNvPr id="18" name="Shape 16"/>
          <p:cNvSpPr/>
          <p:nvPr/>
        </p:nvSpPr>
        <p:spPr>
          <a:xfrm>
            <a:off x="8595360" y="4023360"/>
            <a:ext cx="731520" cy="731520"/>
          </a:xfrm>
          <a:prstGeom prst="ellipse">
            <a:avLst/>
          </a:prstGeom>
          <a:solidFill>
            <a:srgbClr val="B8842B"/>
          </a:solidFill>
          <a:ln/>
        </p:spPr>
      </p:sp>
      <p:sp>
        <p:nvSpPr>
          <p:cNvPr id="19" name="Text 17"/>
          <p:cNvSpPr/>
          <p:nvPr/>
        </p:nvSpPr>
        <p:spPr>
          <a:xfrm>
            <a:off x="8595360" y="4160520"/>
            <a:ext cx="73152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a:t>
            </a:r>
            <a:endParaRPr lang="en-US" sz="1200" dirty="0"/>
          </a:p>
        </p:txBody>
      </p:sp>
      <p:sp>
        <p:nvSpPr>
          <p:cNvPr id="20" name="Shape 18"/>
          <p:cNvSpPr/>
          <p:nvPr/>
        </p:nvSpPr>
        <p:spPr>
          <a:xfrm rot="8100000">
            <a:off x="9646920" y="3383280"/>
            <a:ext cx="502920" cy="256032"/>
          </a:xfrm>
          <a:prstGeom prst="rightArrow">
            <a:avLst/>
          </a:prstGeom>
          <a:solidFill>
            <a:srgbClr val="E3B857"/>
          </a:solidFill>
          <a:ln/>
        </p:spPr>
      </p:sp>
      <p:sp>
        <p:nvSpPr>
          <p:cNvPr id="21" name="Text 19"/>
          <p:cNvSpPr/>
          <p:nvPr/>
        </p:nvSpPr>
        <p:spPr>
          <a:xfrm>
            <a:off x="6629400" y="4023360"/>
            <a:ext cx="1417320" cy="822960"/>
          </a:xfrm>
          <a:prstGeom prst="rect">
            <a:avLst/>
          </a:prstGeom>
          <a:noFill/>
          <a:ln/>
        </p:spPr>
        <p:txBody>
          <a:bodyPr wrap="square" rtlCol="0" anchor="ctr"/>
          <a:lstStyle/>
          <a:p>
            <a:pPr algn="r" indent="0" marL="0">
              <a:lnSpc>
                <a:spcPct val="95000"/>
              </a:lnSpc>
              <a:buNone/>
            </a:pPr>
            <a:r>
              <a:rPr lang="en-US" sz="1050" dirty="0">
                <a:solidFill>
                  <a:srgbClr val="F2EEE3"/>
                </a:solidFill>
                <a:latin typeface="Calibri" pitchFamily="34" charset="0"/>
                <a:ea typeface="Calibri" pitchFamily="34" charset="-122"/>
                <a:cs typeface="Calibri" pitchFamily="34" charset="-120"/>
              </a:rPr>
              <a:t>takes its own</a:t>
            </a:r>
            <a:endParaRPr lang="en-US" sz="1050" dirty="0"/>
          </a:p>
          <a:p>
            <a:pPr algn="r" indent="0" marL="0">
              <a:lnSpc>
                <a:spcPct val="95000"/>
              </a:lnSpc>
              <a:buNone/>
            </a:pPr>
            <a:r>
              <a:rPr lang="en-US" sz="1050" dirty="0">
                <a:solidFill>
                  <a:srgbClr val="F2EEE3"/>
                </a:solidFill>
                <a:latin typeface="Calibri" pitchFamily="34" charset="0"/>
                <a:ea typeface="Calibri" pitchFamily="34" charset="-122"/>
                <a:cs typeface="Calibri" pitchFamily="34" charset="-120"/>
              </a:rPr>
              <a:t>activity as object</a:t>
            </a:r>
            <a:endParaRPr lang="en-US" sz="1050" dirty="0"/>
          </a:p>
        </p:txBody>
      </p:sp>
      <p:sp>
        <p:nvSpPr>
          <p:cNvPr id="22" name="Text 20"/>
          <p:cNvSpPr/>
          <p:nvPr/>
        </p:nvSpPr>
        <p:spPr>
          <a:xfrm>
            <a:off x="6675120" y="5440680"/>
            <a:ext cx="4709160" cy="365760"/>
          </a:xfrm>
          <a:prstGeom prst="rect">
            <a:avLst/>
          </a:prstGeom>
          <a:noFill/>
          <a:ln/>
        </p:spPr>
        <p:txBody>
          <a:bodyPr wrap="square" rtlCol="0" anchor="ctr"/>
          <a:lstStyle/>
          <a:p>
            <a:pPr algn="ctr" indent="0" marL="0">
              <a:buNone/>
            </a:pPr>
            <a:r>
              <a:rPr lang="en-US" sz="1200" i="1" dirty="0">
                <a:solidFill>
                  <a:srgbClr val="E3B857"/>
                </a:solidFill>
                <a:latin typeface="Calibri" pitchFamily="34" charset="0"/>
                <a:ea typeface="Calibri" pitchFamily="34" charset="-122"/>
                <a:cs typeface="Calibri" pitchFamily="34" charset="-120"/>
              </a:rPr>
              <a:t>⇒ evaluation · justice · the possibility of error</a:t>
            </a:r>
            <a:endParaRPr lang="en-US" sz="1200" dirty="0"/>
          </a:p>
        </p:txBody>
      </p:sp>
      <p:sp>
        <p:nvSpPr>
          <p:cNvPr id="23" name="Text 21"/>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13</a:t>
            </a:r>
            <a:endParaRPr lang="en-US" sz="900" dirty="0"/>
          </a:p>
        </p:txBody>
      </p:sp>
      <p:sp>
        <p:nvSpPr>
          <p:cNvPr id="24" name="Text 22"/>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The reflexive turn</a:t>
            </a:r>
            <a:endParaRPr lang="en-US" sz="900" dirty="0"/>
          </a:p>
        </p:txBody>
      </p:sp>
      <p:sp>
        <p:nvSpPr>
          <p:cNvPr id="25" name="Text 23"/>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83D"/>
        </a:solidFill>
      </p:bgPr>
    </p:bg>
    <p:spTree>
      <p:nvGrpSpPr>
        <p:cNvPr id="1" name=""/>
        <p:cNvGrpSpPr/>
        <p:nvPr/>
      </p:nvGrpSpPr>
      <p:grpSpPr>
        <a:xfrm>
          <a:off x="0" y="0"/>
          <a:ext cx="0" cy="0"/>
          <a:chOff x="0" y="0"/>
          <a:chExt cx="0" cy="0"/>
        </a:xfrm>
      </p:grpSpPr>
      <p:sp>
        <p:nvSpPr>
          <p:cNvPr id="2" name="Shape 0"/>
          <p:cNvSpPr/>
          <p:nvPr/>
        </p:nvSpPr>
        <p:spPr>
          <a:xfrm>
            <a:off x="822960" y="1097280"/>
            <a:ext cx="91440" cy="91440"/>
          </a:xfrm>
          <a:prstGeom prst="ellipse">
            <a:avLst/>
          </a:prstGeom>
          <a:solidFill>
            <a:srgbClr val="E3B857">
              <a:alpha val="65000"/>
            </a:srgbClr>
          </a:solidFill>
          <a:ln/>
        </p:spPr>
      </p:sp>
      <p:sp>
        <p:nvSpPr>
          <p:cNvPr id="3" name="Shape 1"/>
          <p:cNvSpPr/>
          <p:nvPr/>
        </p:nvSpPr>
        <p:spPr>
          <a:xfrm>
            <a:off x="1920240" y="3566160"/>
            <a:ext cx="54864" cy="54864"/>
          </a:xfrm>
          <a:prstGeom prst="ellipse">
            <a:avLst/>
          </a:prstGeom>
          <a:solidFill>
            <a:srgbClr val="E3B857">
              <a:alpha val="65000"/>
            </a:srgbClr>
          </a:solidFill>
          <a:ln/>
        </p:spPr>
      </p:sp>
      <p:sp>
        <p:nvSpPr>
          <p:cNvPr id="4" name="Shape 2"/>
          <p:cNvSpPr/>
          <p:nvPr/>
        </p:nvSpPr>
        <p:spPr>
          <a:xfrm>
            <a:off x="1371600" y="5303520"/>
            <a:ext cx="73152" cy="73152"/>
          </a:xfrm>
          <a:prstGeom prst="ellipse">
            <a:avLst/>
          </a:prstGeom>
          <a:solidFill>
            <a:srgbClr val="E3B857">
              <a:alpha val="65000"/>
            </a:srgbClr>
          </a:solidFill>
          <a:ln/>
        </p:spPr>
      </p:sp>
      <p:sp>
        <p:nvSpPr>
          <p:cNvPr id="5" name="Shape 3"/>
          <p:cNvSpPr/>
          <p:nvPr/>
        </p:nvSpPr>
        <p:spPr>
          <a:xfrm>
            <a:off x="3108960" y="1554480"/>
            <a:ext cx="45720" cy="45720"/>
          </a:xfrm>
          <a:prstGeom prst="ellipse">
            <a:avLst/>
          </a:prstGeom>
          <a:solidFill>
            <a:srgbClr val="E3B857">
              <a:alpha val="65000"/>
            </a:srgbClr>
          </a:solidFill>
          <a:ln/>
        </p:spPr>
      </p:sp>
      <p:sp>
        <p:nvSpPr>
          <p:cNvPr id="6" name="Shape 4"/>
          <p:cNvSpPr/>
          <p:nvPr/>
        </p:nvSpPr>
        <p:spPr>
          <a:xfrm>
            <a:off x="3840480" y="4754880"/>
            <a:ext cx="64008" cy="64008"/>
          </a:xfrm>
          <a:prstGeom prst="ellipse">
            <a:avLst/>
          </a:prstGeom>
          <a:solidFill>
            <a:srgbClr val="E3B857">
              <a:alpha val="65000"/>
            </a:srgbClr>
          </a:solidFill>
          <a:ln/>
        </p:spPr>
      </p:sp>
      <p:sp>
        <p:nvSpPr>
          <p:cNvPr id="7" name="Shape 5"/>
          <p:cNvSpPr/>
          <p:nvPr/>
        </p:nvSpPr>
        <p:spPr>
          <a:xfrm>
            <a:off x="10058400" y="1280160"/>
            <a:ext cx="82296" cy="82296"/>
          </a:xfrm>
          <a:prstGeom prst="ellipse">
            <a:avLst/>
          </a:prstGeom>
          <a:solidFill>
            <a:srgbClr val="E3B857">
              <a:alpha val="65000"/>
            </a:srgbClr>
          </a:solidFill>
          <a:ln/>
        </p:spPr>
      </p:sp>
      <p:sp>
        <p:nvSpPr>
          <p:cNvPr id="8" name="Shape 6"/>
          <p:cNvSpPr/>
          <p:nvPr/>
        </p:nvSpPr>
        <p:spPr>
          <a:xfrm>
            <a:off x="11247120" y="2834640"/>
            <a:ext cx="54864" cy="54864"/>
          </a:xfrm>
          <a:prstGeom prst="ellipse">
            <a:avLst/>
          </a:prstGeom>
          <a:solidFill>
            <a:srgbClr val="E3B857">
              <a:alpha val="65000"/>
            </a:srgbClr>
          </a:solidFill>
          <a:ln/>
        </p:spPr>
      </p:sp>
      <p:sp>
        <p:nvSpPr>
          <p:cNvPr id="9" name="Shape 7"/>
          <p:cNvSpPr/>
          <p:nvPr/>
        </p:nvSpPr>
        <p:spPr>
          <a:xfrm>
            <a:off x="9509760" y="5120640"/>
            <a:ext cx="64008" cy="64008"/>
          </a:xfrm>
          <a:prstGeom prst="ellipse">
            <a:avLst/>
          </a:prstGeom>
          <a:solidFill>
            <a:srgbClr val="E3B857">
              <a:alpha val="65000"/>
            </a:srgbClr>
          </a:solidFill>
          <a:ln/>
        </p:spPr>
      </p:sp>
      <p:sp>
        <p:nvSpPr>
          <p:cNvPr id="10" name="Shape 8"/>
          <p:cNvSpPr/>
          <p:nvPr/>
        </p:nvSpPr>
        <p:spPr>
          <a:xfrm>
            <a:off x="11521440" y="5486400"/>
            <a:ext cx="45720" cy="45720"/>
          </a:xfrm>
          <a:prstGeom prst="ellipse">
            <a:avLst/>
          </a:prstGeom>
          <a:solidFill>
            <a:srgbClr val="E3B857">
              <a:alpha val="65000"/>
            </a:srgbClr>
          </a:solidFill>
          <a:ln/>
        </p:spPr>
      </p:sp>
      <p:sp>
        <p:nvSpPr>
          <p:cNvPr id="11" name="Shape 9"/>
          <p:cNvSpPr/>
          <p:nvPr/>
        </p:nvSpPr>
        <p:spPr>
          <a:xfrm>
            <a:off x="10698480" y="4206240"/>
            <a:ext cx="91440" cy="91440"/>
          </a:xfrm>
          <a:prstGeom prst="ellipse">
            <a:avLst/>
          </a:prstGeom>
          <a:solidFill>
            <a:srgbClr val="E3B857">
              <a:alpha val="65000"/>
            </a:srgbClr>
          </a:solidFill>
          <a:ln/>
        </p:spPr>
      </p:sp>
      <p:sp>
        <p:nvSpPr>
          <p:cNvPr id="12" name="Shape 10"/>
          <p:cNvSpPr/>
          <p:nvPr/>
        </p:nvSpPr>
        <p:spPr>
          <a:xfrm>
            <a:off x="6035040" y="640080"/>
            <a:ext cx="45720" cy="45720"/>
          </a:xfrm>
          <a:prstGeom prst="ellipse">
            <a:avLst/>
          </a:prstGeom>
          <a:solidFill>
            <a:srgbClr val="E3B857">
              <a:alpha val="65000"/>
            </a:srgbClr>
          </a:solidFill>
          <a:ln/>
        </p:spPr>
      </p:sp>
      <p:sp>
        <p:nvSpPr>
          <p:cNvPr id="13" name="Shape 11"/>
          <p:cNvSpPr/>
          <p:nvPr/>
        </p:nvSpPr>
        <p:spPr>
          <a:xfrm>
            <a:off x="7132320" y="6126480"/>
            <a:ext cx="54864" cy="54864"/>
          </a:xfrm>
          <a:prstGeom prst="ellipse">
            <a:avLst/>
          </a:prstGeom>
          <a:solidFill>
            <a:srgbClr val="E3B857">
              <a:alpha val="65000"/>
            </a:srgbClr>
          </a:solidFill>
          <a:ln/>
        </p:spPr>
      </p:sp>
      <p:sp>
        <p:nvSpPr>
          <p:cNvPr id="14" name="Shape 12"/>
          <p:cNvSpPr/>
          <p:nvPr/>
        </p:nvSpPr>
        <p:spPr>
          <a:xfrm>
            <a:off x="8503920" y="822960"/>
            <a:ext cx="64008" cy="64008"/>
          </a:xfrm>
          <a:prstGeom prst="ellipse">
            <a:avLst/>
          </a:prstGeom>
          <a:solidFill>
            <a:srgbClr val="E3B857">
              <a:alpha val="65000"/>
            </a:srgbClr>
          </a:solidFill>
          <a:ln/>
        </p:spPr>
      </p:sp>
      <p:sp>
        <p:nvSpPr>
          <p:cNvPr id="15" name="Shape 13"/>
          <p:cNvSpPr/>
          <p:nvPr/>
        </p:nvSpPr>
        <p:spPr>
          <a:xfrm>
            <a:off x="4663440" y="6309360"/>
            <a:ext cx="45720" cy="45720"/>
          </a:xfrm>
          <a:prstGeom prst="ellipse">
            <a:avLst/>
          </a:prstGeom>
          <a:solidFill>
            <a:srgbClr val="E3B857">
              <a:alpha val="65000"/>
            </a:srgbClr>
          </a:solidFill>
          <a:ln/>
        </p:spPr>
      </p:sp>
      <p:sp>
        <p:nvSpPr>
          <p:cNvPr id="16" name="Text 14"/>
          <p:cNvSpPr/>
          <p:nvPr/>
        </p:nvSpPr>
        <p:spPr>
          <a:xfrm>
            <a:off x="822960" y="2286000"/>
            <a:ext cx="5486400" cy="365760"/>
          </a:xfrm>
          <a:prstGeom prst="rect">
            <a:avLst/>
          </a:prstGeom>
          <a:noFill/>
          <a:ln/>
        </p:spPr>
        <p:txBody>
          <a:bodyPr wrap="square" rtlCol="0" anchor="ctr"/>
          <a:lstStyle/>
          <a:p>
            <a:pPr indent="0" marL="0">
              <a:buNone/>
            </a:pPr>
            <a:r>
              <a:rPr lang="en-US" sz="1400" b="1" spc="500" kern="0" dirty="0">
                <a:solidFill>
                  <a:srgbClr val="E3B857"/>
                </a:solidFill>
                <a:latin typeface="Calibri" pitchFamily="34" charset="0"/>
                <a:ea typeface="Calibri" pitchFamily="34" charset="-122"/>
                <a:cs typeface="Calibri" pitchFamily="34" charset="-120"/>
              </a:rPr>
              <a:t>PART III</a:t>
            </a:r>
            <a:endParaRPr lang="en-US" sz="1400" dirty="0"/>
          </a:p>
        </p:txBody>
      </p:sp>
      <p:sp>
        <p:nvSpPr>
          <p:cNvPr id="17" name="Text 15"/>
          <p:cNvSpPr/>
          <p:nvPr/>
        </p:nvSpPr>
        <p:spPr>
          <a:xfrm>
            <a:off x="804672" y="2697480"/>
            <a:ext cx="10424160" cy="1280160"/>
          </a:xfrm>
          <a:prstGeom prst="rect">
            <a:avLst/>
          </a:prstGeom>
          <a:noFill/>
          <a:ln/>
        </p:spPr>
        <p:txBody>
          <a:bodyPr wrap="square" rtlCol="0" anchor="ctr"/>
          <a:lstStyle/>
          <a:p>
            <a:pPr indent="0" marL="0">
              <a:lnSpc>
                <a:spcPct val="98000"/>
              </a:lnSpc>
              <a:buNone/>
            </a:pPr>
            <a:r>
              <a:rPr lang="en-US" sz="4000" b="1" dirty="0">
                <a:solidFill>
                  <a:srgbClr val="F2EEE3"/>
                </a:solidFill>
                <a:latin typeface="Cambria" pitchFamily="34" charset="0"/>
                <a:ea typeface="Cambria" pitchFamily="34" charset="-122"/>
                <a:cs typeface="Cambria" pitchFamily="34" charset="-120"/>
              </a:rPr>
              <a:t>The reconstructed structure</a:t>
            </a:r>
            <a:endParaRPr lang="en-US" sz="4000" dirty="0"/>
          </a:p>
        </p:txBody>
      </p:sp>
      <p:sp>
        <p:nvSpPr>
          <p:cNvPr id="18" name="Shape 16"/>
          <p:cNvSpPr/>
          <p:nvPr/>
        </p:nvSpPr>
        <p:spPr>
          <a:xfrm>
            <a:off x="841248" y="3977640"/>
            <a:ext cx="2377440" cy="0"/>
          </a:xfrm>
          <a:prstGeom prst="line">
            <a:avLst/>
          </a:prstGeom>
          <a:noFill/>
          <a:ln w="19050">
            <a:solidFill>
              <a:srgbClr val="E3B857"/>
            </a:solidFill>
            <a:prstDash val="solid"/>
          </a:ln>
        </p:spPr>
      </p:sp>
      <p:sp>
        <p:nvSpPr>
          <p:cNvPr id="19" name="Text 17"/>
          <p:cNvSpPr/>
          <p:nvPr/>
        </p:nvSpPr>
        <p:spPr>
          <a:xfrm>
            <a:off x="822960" y="4160520"/>
            <a:ext cx="9692640" cy="822960"/>
          </a:xfrm>
          <a:prstGeom prst="rect">
            <a:avLst/>
          </a:prstGeom>
          <a:noFill/>
          <a:ln/>
        </p:spPr>
        <p:txBody>
          <a:bodyPr wrap="square" rtlCol="0" anchor="ctr"/>
          <a:lstStyle/>
          <a:p>
            <a:pPr indent="0" marL="0">
              <a:lnSpc>
                <a:spcPct val="105000"/>
              </a:lnSpc>
              <a:buNone/>
            </a:pPr>
            <a:r>
              <a:rPr lang="en-US" sz="1500" dirty="0">
                <a:solidFill>
                  <a:srgbClr val="A7ACD0"/>
                </a:solidFill>
                <a:latin typeface="Calibri" pitchFamily="34" charset="0"/>
                <a:ea typeface="Calibri" pitchFamily="34" charset="-122"/>
                <a:cs typeface="Calibri" pitchFamily="34" charset="-120"/>
              </a:rPr>
              <a:t>Orders and the regulation ladder, the anatomy of coupling, jeevan and its body, justice and the human goals, time, and stability — the working body of the model.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III · A MINIMAL TOOLKIT</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Category theory, in just enough words</a:t>
            </a:r>
            <a:endParaRPr lang="en-US" sz="2900" dirty="0"/>
          </a:p>
        </p:txBody>
      </p:sp>
      <p:sp>
        <p:nvSpPr>
          <p:cNvPr id="4" name="Text 2"/>
          <p:cNvSpPr/>
          <p:nvPr/>
        </p:nvSpPr>
        <p:spPr>
          <a:xfrm>
            <a:off x="548640" y="1554480"/>
            <a:ext cx="11091672" cy="640080"/>
          </a:xfrm>
          <a:prstGeom prst="rect">
            <a:avLst/>
          </a:prstGeom>
          <a:noFill/>
          <a:ln/>
        </p:spPr>
        <p:txBody>
          <a:bodyPr wrap="square" rtlCol="0" anchor="t"/>
          <a:lstStyle/>
          <a:p>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Category theory swaps </a:t>
            </a:r>
            <a:pPr indent="0" marL="0">
              <a:lnSpc>
                <a:spcPct val="103000"/>
              </a:lnSpc>
              <a:buNone/>
            </a:pPr>
            <a:r>
              <a:rPr lang="en-US" sz="1500" i="1" dirty="0">
                <a:solidFill>
                  <a:srgbClr val="16183D"/>
                </a:solidFill>
                <a:latin typeface="Calibri" pitchFamily="34" charset="0"/>
                <a:ea typeface="Calibri" pitchFamily="34" charset="-122"/>
                <a:cs typeface="Calibri" pitchFamily="34" charset="-120"/>
              </a:rPr>
              <a:t>“what is each thing made of?”</a:t>
            </a:r>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 for </a:t>
            </a:r>
            <a:pPr indent="0" marL="0">
              <a:lnSpc>
                <a:spcPct val="103000"/>
              </a:lnSpc>
              <a:buNone/>
            </a:pPr>
            <a:r>
              <a:rPr lang="en-US" sz="1500" i="1" dirty="0">
                <a:solidFill>
                  <a:srgbClr val="16183D"/>
                </a:solidFill>
                <a:latin typeface="Calibri" pitchFamily="34" charset="0"/>
                <a:ea typeface="Calibri" pitchFamily="34" charset="-122"/>
                <a:cs typeface="Calibri" pitchFamily="34" charset="-120"/>
              </a:rPr>
              <a:t>“how does each thing relate to everything else?”</a:t>
            </a:r>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  Three ideas carry the whole spine — the rest is optional.</a:t>
            </a:r>
            <a:endParaRPr lang="en-US" sz="1500" dirty="0"/>
          </a:p>
        </p:txBody>
      </p:sp>
      <p:sp>
        <p:nvSpPr>
          <p:cNvPr id="5" name="Shape 3"/>
          <p:cNvSpPr/>
          <p:nvPr/>
        </p:nvSpPr>
        <p:spPr>
          <a:xfrm>
            <a:off x="548640" y="2377440"/>
            <a:ext cx="3538728" cy="3246120"/>
          </a:xfrm>
          <a:prstGeom prst="roundRect">
            <a:avLst>
              <a:gd name="adj" fmla="val 1972"/>
            </a:avLst>
          </a:prstGeom>
          <a:solidFill>
            <a:srgbClr val="F5F6FB"/>
          </a:solidFill>
          <a:ln w="15875">
            <a:solidFill>
              <a:srgbClr val="3E7C8C"/>
            </a:solidFill>
            <a:prstDash val="solid"/>
          </a:ln>
        </p:spPr>
      </p:sp>
      <p:sp>
        <p:nvSpPr>
          <p:cNvPr id="6" name="Shape 4"/>
          <p:cNvSpPr/>
          <p:nvPr/>
        </p:nvSpPr>
        <p:spPr>
          <a:xfrm>
            <a:off x="822960" y="2651760"/>
            <a:ext cx="658368" cy="658368"/>
          </a:xfrm>
          <a:prstGeom prst="ellipse">
            <a:avLst/>
          </a:prstGeom>
          <a:solidFill>
            <a:srgbClr val="3E7C8C"/>
          </a:solidFill>
          <a:ln/>
        </p:spPr>
      </p:sp>
      <p:sp>
        <p:nvSpPr>
          <p:cNvPr id="7" name="Text 5"/>
          <p:cNvSpPr/>
          <p:nvPr/>
        </p:nvSpPr>
        <p:spPr>
          <a:xfrm>
            <a:off x="822960" y="2651760"/>
            <a:ext cx="658368" cy="6583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600200" y="2670048"/>
            <a:ext cx="2350008" cy="384048"/>
          </a:xfrm>
          <a:prstGeom prst="rect">
            <a:avLst/>
          </a:prstGeom>
          <a:noFill/>
          <a:ln/>
        </p:spPr>
        <p:txBody>
          <a:bodyPr wrap="square" rtlCol="0" anchor="ctr"/>
          <a:lstStyle/>
          <a:p>
            <a:pPr indent="0" marL="0">
              <a:buNone/>
            </a:pPr>
            <a:r>
              <a:rPr lang="en-US" sz="1900" b="1" dirty="0">
                <a:solidFill>
                  <a:srgbClr val="16183D"/>
                </a:solidFill>
                <a:latin typeface="Cambria" pitchFamily="34" charset="0"/>
                <a:ea typeface="Cambria" pitchFamily="34" charset="-122"/>
                <a:cs typeface="Cambria" pitchFamily="34" charset="-120"/>
              </a:rPr>
              <a:t>Algebra</a:t>
            </a:r>
            <a:endParaRPr lang="en-US" sz="1900" dirty="0"/>
          </a:p>
        </p:txBody>
      </p:sp>
      <p:sp>
        <p:nvSpPr>
          <p:cNvPr id="9" name="Text 7"/>
          <p:cNvSpPr/>
          <p:nvPr/>
        </p:nvSpPr>
        <p:spPr>
          <a:xfrm>
            <a:off x="1600200" y="3035808"/>
            <a:ext cx="2350008" cy="274320"/>
          </a:xfrm>
          <a:prstGeom prst="rect">
            <a:avLst/>
          </a:prstGeom>
          <a:noFill/>
          <a:ln/>
        </p:spPr>
        <p:txBody>
          <a:bodyPr wrap="square" rtlCol="0" anchor="ctr"/>
          <a:lstStyle/>
          <a:p>
            <a:pPr indent="0" marL="0">
              <a:buNone/>
            </a:pPr>
            <a:r>
              <a:rPr lang="en-US" sz="1100" b="1" spc="200" kern="0" dirty="0">
                <a:solidFill>
                  <a:srgbClr val="3E7C8C"/>
                </a:solidFill>
                <a:latin typeface="Calibri" pitchFamily="34" charset="0"/>
                <a:ea typeface="Calibri" pitchFamily="34" charset="-122"/>
                <a:cs typeface="Calibri" pitchFamily="34" charset="-120"/>
              </a:rPr>
              <a:t>build UP</a:t>
            </a:r>
            <a:endParaRPr lang="en-US" sz="1100" dirty="0"/>
          </a:p>
        </p:txBody>
      </p:sp>
      <p:sp>
        <p:nvSpPr>
          <p:cNvPr id="10" name="Text 8"/>
          <p:cNvSpPr/>
          <p:nvPr/>
        </p:nvSpPr>
        <p:spPr>
          <a:xfrm>
            <a:off x="841248" y="3611880"/>
            <a:ext cx="2953512" cy="1874520"/>
          </a:xfrm>
          <a:prstGeom prst="rect">
            <a:avLst/>
          </a:prstGeom>
          <a:noFill/>
          <a:ln/>
        </p:spPr>
        <p:txBody>
          <a:bodyPr wrap="square" rtlCol="0" anchor="t"/>
          <a:lstStyle/>
          <a:p>
            <a:pPr indent="0" marL="0">
              <a:lnSpc>
                <a:spcPct val="105000"/>
              </a:lnSpc>
              <a:buNone/>
            </a:pPr>
            <a:r>
              <a:rPr lang="en-US" sz="1250" dirty="0">
                <a:solidFill>
                  <a:srgbClr val="202340"/>
                </a:solidFill>
                <a:latin typeface="Calibri" pitchFamily="34" charset="0"/>
                <a:ea typeface="Calibri" pitchFamily="34" charset="-122"/>
                <a:cs typeface="Calibri" pitchFamily="34" charset="-120"/>
              </a:rPr>
              <a:t>A thing built up by a rule — the home of “generated.” Units of nature = the algebra generated by κ, so definitions become recursion on how a unit was built.</a:t>
            </a:r>
            <a:endParaRPr lang="en-US" sz="1250" dirty="0"/>
          </a:p>
        </p:txBody>
      </p:sp>
      <p:sp>
        <p:nvSpPr>
          <p:cNvPr id="11" name="Shape 9"/>
          <p:cNvSpPr/>
          <p:nvPr/>
        </p:nvSpPr>
        <p:spPr>
          <a:xfrm>
            <a:off x="4325112" y="2377440"/>
            <a:ext cx="3538728" cy="3246120"/>
          </a:xfrm>
          <a:prstGeom prst="roundRect">
            <a:avLst>
              <a:gd name="adj" fmla="val 1972"/>
            </a:avLst>
          </a:prstGeom>
          <a:solidFill>
            <a:srgbClr val="F5F6FB"/>
          </a:solidFill>
          <a:ln w="15875">
            <a:solidFill>
              <a:srgbClr val="B8842B"/>
            </a:solidFill>
            <a:prstDash val="solid"/>
          </a:ln>
        </p:spPr>
      </p:sp>
      <p:sp>
        <p:nvSpPr>
          <p:cNvPr id="12" name="Shape 10"/>
          <p:cNvSpPr/>
          <p:nvPr/>
        </p:nvSpPr>
        <p:spPr>
          <a:xfrm>
            <a:off x="4599432" y="2651760"/>
            <a:ext cx="658368" cy="658368"/>
          </a:xfrm>
          <a:prstGeom prst="ellipse">
            <a:avLst/>
          </a:prstGeom>
          <a:solidFill>
            <a:srgbClr val="B8842B"/>
          </a:solidFill>
          <a:ln/>
        </p:spPr>
      </p:sp>
      <p:sp>
        <p:nvSpPr>
          <p:cNvPr id="13" name="Text 11"/>
          <p:cNvSpPr/>
          <p:nvPr/>
        </p:nvSpPr>
        <p:spPr>
          <a:xfrm>
            <a:off x="4599432" y="2651760"/>
            <a:ext cx="658368" cy="6583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5376672" y="2670048"/>
            <a:ext cx="2350008" cy="384048"/>
          </a:xfrm>
          <a:prstGeom prst="rect">
            <a:avLst/>
          </a:prstGeom>
          <a:noFill/>
          <a:ln/>
        </p:spPr>
        <p:txBody>
          <a:bodyPr wrap="square" rtlCol="0" anchor="ctr"/>
          <a:lstStyle/>
          <a:p>
            <a:pPr indent="0" marL="0">
              <a:buNone/>
            </a:pPr>
            <a:r>
              <a:rPr lang="en-US" sz="1900" b="1" dirty="0">
                <a:solidFill>
                  <a:srgbClr val="16183D"/>
                </a:solidFill>
                <a:latin typeface="Cambria" pitchFamily="34" charset="0"/>
                <a:ea typeface="Cambria" pitchFamily="34" charset="-122"/>
                <a:cs typeface="Cambria" pitchFamily="34" charset="-120"/>
              </a:rPr>
              <a:t>Coalgebra</a:t>
            </a:r>
            <a:endParaRPr lang="en-US" sz="1900" dirty="0"/>
          </a:p>
        </p:txBody>
      </p:sp>
      <p:sp>
        <p:nvSpPr>
          <p:cNvPr id="15" name="Text 13"/>
          <p:cNvSpPr/>
          <p:nvPr/>
        </p:nvSpPr>
        <p:spPr>
          <a:xfrm>
            <a:off x="5376672" y="3035808"/>
            <a:ext cx="2350008" cy="274320"/>
          </a:xfrm>
          <a:prstGeom prst="rect">
            <a:avLst/>
          </a:prstGeom>
          <a:noFill/>
          <a:ln/>
        </p:spPr>
        <p:txBody>
          <a:bodyPr wrap="square" rtlCol="0" anchor="ctr"/>
          <a:lstStyle/>
          <a:p>
            <a:pPr indent="0" marL="0">
              <a:buNone/>
            </a:pPr>
            <a:r>
              <a:rPr lang="en-US" sz="1100" b="1" spc="200" kern="0" dirty="0">
                <a:solidFill>
                  <a:srgbClr val="B8842B"/>
                </a:solidFill>
                <a:latin typeface="Calibri" pitchFamily="34" charset="0"/>
                <a:ea typeface="Calibri" pitchFamily="34" charset="-122"/>
                <a:cs typeface="Calibri" pitchFamily="34" charset="-120"/>
              </a:rPr>
              <a:t>unfold DOWN</a:t>
            </a:r>
            <a:endParaRPr lang="en-US" sz="1100" dirty="0"/>
          </a:p>
        </p:txBody>
      </p:sp>
      <p:sp>
        <p:nvSpPr>
          <p:cNvPr id="16" name="Text 14"/>
          <p:cNvSpPr/>
          <p:nvPr/>
        </p:nvSpPr>
        <p:spPr>
          <a:xfrm>
            <a:off x="4617720" y="3611880"/>
            <a:ext cx="2953512" cy="1874520"/>
          </a:xfrm>
          <a:prstGeom prst="rect">
            <a:avLst/>
          </a:prstGeom>
          <a:noFill/>
          <a:ln/>
        </p:spPr>
        <p:txBody>
          <a:bodyPr wrap="square" rtlCol="0" anchor="t"/>
          <a:lstStyle/>
          <a:p>
            <a:pPr indent="0" marL="0">
              <a:lnSpc>
                <a:spcPct val="105000"/>
              </a:lnSpc>
              <a:buNone/>
            </a:pPr>
            <a:r>
              <a:rPr lang="en-US" sz="1250" dirty="0">
                <a:solidFill>
                  <a:srgbClr val="202340"/>
                </a:solidFill>
                <a:latin typeface="Calibri" pitchFamily="34" charset="0"/>
                <a:ea typeface="Calibri" pitchFamily="34" charset="-122"/>
                <a:cs typeface="Calibri" pitchFamily="34" charset="-120"/>
              </a:rPr>
              <a:t>A carrier plus a map that unfolds its behaviour — WITHOUT identifying the carrier with that behaviour. Keeps a unit a substance that bears activity, not a bundle of relations.</a:t>
            </a:r>
            <a:endParaRPr lang="en-US" sz="1250" dirty="0"/>
          </a:p>
        </p:txBody>
      </p:sp>
      <p:sp>
        <p:nvSpPr>
          <p:cNvPr id="17" name="Shape 15"/>
          <p:cNvSpPr/>
          <p:nvPr/>
        </p:nvSpPr>
        <p:spPr>
          <a:xfrm>
            <a:off x="8101584" y="2377440"/>
            <a:ext cx="3538728" cy="3246120"/>
          </a:xfrm>
          <a:prstGeom prst="roundRect">
            <a:avLst>
              <a:gd name="adj" fmla="val 1972"/>
            </a:avLst>
          </a:prstGeom>
          <a:solidFill>
            <a:srgbClr val="F5F6FB"/>
          </a:solidFill>
          <a:ln w="15875">
            <a:solidFill>
              <a:srgbClr val="2E5E6B"/>
            </a:solidFill>
            <a:prstDash val="solid"/>
          </a:ln>
        </p:spPr>
      </p:sp>
      <p:sp>
        <p:nvSpPr>
          <p:cNvPr id="18" name="Shape 16"/>
          <p:cNvSpPr/>
          <p:nvPr/>
        </p:nvSpPr>
        <p:spPr>
          <a:xfrm>
            <a:off x="8375904" y="2651760"/>
            <a:ext cx="658368" cy="658368"/>
          </a:xfrm>
          <a:prstGeom prst="ellipse">
            <a:avLst/>
          </a:prstGeom>
          <a:solidFill>
            <a:srgbClr val="2E5E6B"/>
          </a:solidFill>
          <a:ln/>
        </p:spPr>
      </p:sp>
      <p:sp>
        <p:nvSpPr>
          <p:cNvPr id="19" name="Text 17"/>
          <p:cNvSpPr/>
          <p:nvPr/>
        </p:nvSpPr>
        <p:spPr>
          <a:xfrm>
            <a:off x="8375904" y="2651760"/>
            <a:ext cx="658368" cy="6583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0" name="Text 18"/>
          <p:cNvSpPr/>
          <p:nvPr/>
        </p:nvSpPr>
        <p:spPr>
          <a:xfrm>
            <a:off x="9153144" y="2670048"/>
            <a:ext cx="2350008" cy="384048"/>
          </a:xfrm>
          <a:prstGeom prst="rect">
            <a:avLst/>
          </a:prstGeom>
          <a:noFill/>
          <a:ln/>
        </p:spPr>
        <p:txBody>
          <a:bodyPr wrap="square" rtlCol="0" anchor="ctr"/>
          <a:lstStyle/>
          <a:p>
            <a:pPr indent="0" marL="0">
              <a:buNone/>
            </a:pPr>
            <a:r>
              <a:rPr lang="en-US" sz="1900" b="1" dirty="0">
                <a:solidFill>
                  <a:srgbClr val="16183D"/>
                </a:solidFill>
                <a:latin typeface="Cambria" pitchFamily="34" charset="0"/>
                <a:ea typeface="Cambria" pitchFamily="34" charset="-122"/>
                <a:cs typeface="Cambria" pitchFamily="34" charset="-120"/>
              </a:rPr>
              <a:t>Colimit</a:t>
            </a:r>
            <a:endParaRPr lang="en-US" sz="1900" dirty="0"/>
          </a:p>
        </p:txBody>
      </p:sp>
      <p:sp>
        <p:nvSpPr>
          <p:cNvPr id="21" name="Text 19"/>
          <p:cNvSpPr/>
          <p:nvPr/>
        </p:nvSpPr>
        <p:spPr>
          <a:xfrm>
            <a:off x="9153144" y="3035808"/>
            <a:ext cx="2350008" cy="274320"/>
          </a:xfrm>
          <a:prstGeom prst="rect">
            <a:avLst/>
          </a:prstGeom>
          <a:noFill/>
          <a:ln/>
        </p:spPr>
        <p:txBody>
          <a:bodyPr wrap="square" rtlCol="0" anchor="ctr"/>
          <a:lstStyle/>
          <a:p>
            <a:pPr indent="0" marL="0">
              <a:buNone/>
            </a:pPr>
            <a:r>
              <a:rPr lang="en-US" sz="1100" b="1" spc="200" kern="0" dirty="0">
                <a:solidFill>
                  <a:srgbClr val="2E5E6B"/>
                </a:solidFill>
                <a:latin typeface="Calibri" pitchFamily="34" charset="0"/>
                <a:ea typeface="Calibri" pitchFamily="34" charset="-122"/>
                <a:cs typeface="Calibri" pitchFamily="34" charset="-120"/>
              </a:rPr>
              <a:t>glue SIDEWAYS</a:t>
            </a:r>
            <a:endParaRPr lang="en-US" sz="1100" dirty="0"/>
          </a:p>
        </p:txBody>
      </p:sp>
      <p:sp>
        <p:nvSpPr>
          <p:cNvPr id="22" name="Text 20"/>
          <p:cNvSpPr/>
          <p:nvPr/>
        </p:nvSpPr>
        <p:spPr>
          <a:xfrm>
            <a:off x="8394192" y="3611880"/>
            <a:ext cx="2953512" cy="1874520"/>
          </a:xfrm>
          <a:prstGeom prst="rect">
            <a:avLst/>
          </a:prstGeom>
          <a:noFill/>
          <a:ln/>
        </p:spPr>
        <p:txBody>
          <a:bodyPr wrap="square" rtlCol="0" anchor="t"/>
          <a:lstStyle/>
          <a:p>
            <a:pPr indent="0" marL="0">
              <a:lnSpc>
                <a:spcPct val="105000"/>
              </a:lnSpc>
              <a:buNone/>
            </a:pPr>
            <a:r>
              <a:rPr lang="en-US" sz="1250" dirty="0">
                <a:solidFill>
                  <a:srgbClr val="202340"/>
                </a:solidFill>
                <a:latin typeface="Calibri" pitchFamily="34" charset="0"/>
                <a:ea typeface="Calibri" pitchFamily="34" charset="-122"/>
                <a:cs typeface="Calibri" pitchFamily="34" charset="-120"/>
              </a:rPr>
              <a:t>Joins pieces into one whole along what they share — the shape of families joining into one society.</a:t>
            </a:r>
            <a:endParaRPr lang="en-US" sz="1250" dirty="0"/>
          </a:p>
        </p:txBody>
      </p:sp>
      <p:sp>
        <p:nvSpPr>
          <p:cNvPr id="23" name="Text 21"/>
          <p:cNvSpPr/>
          <p:nvPr/>
        </p:nvSpPr>
        <p:spPr>
          <a:xfrm>
            <a:off x="548640" y="5806440"/>
            <a:ext cx="11091672" cy="365760"/>
          </a:xfrm>
          <a:prstGeom prst="rect">
            <a:avLst/>
          </a:prstGeom>
          <a:noFill/>
          <a:ln/>
        </p:spPr>
        <p:txBody>
          <a:bodyPr wrap="square" rtlCol="0" anchor="ctr"/>
          <a:lstStyle/>
          <a:p>
            <a:pPr algn="ctr" indent="0" marL="0">
              <a:buNone/>
            </a:pPr>
            <a:r>
              <a:rPr lang="en-US" sz="1250" i="1" dirty="0">
                <a:solidFill>
                  <a:srgbClr val="6A6E93"/>
                </a:solidFill>
                <a:latin typeface="Calibri" pitchFamily="34" charset="0"/>
                <a:ea typeface="Calibri" pitchFamily="34" charset="-122"/>
                <a:cs typeface="Calibri" pitchFamily="34" charset="-120"/>
              </a:rPr>
              <a:t>Objects are things to talk about; arrows (morphisms) are relationships; composition chains them. That is all you need for the spine.</a:t>
            </a:r>
            <a:endParaRPr lang="en-US" sz="1250" dirty="0"/>
          </a:p>
        </p:txBody>
      </p:sp>
      <p:sp>
        <p:nvSpPr>
          <p:cNvPr id="24" name="Text 22"/>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15</a:t>
            </a:r>
            <a:endParaRPr lang="en-US" sz="900" dirty="0"/>
          </a:p>
        </p:txBody>
      </p:sp>
      <p:sp>
        <p:nvSpPr>
          <p:cNvPr id="25" name="Text 23"/>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Category theory toolkit</a:t>
            </a:r>
            <a:endParaRPr lang="en-US" sz="900" dirty="0"/>
          </a:p>
        </p:txBody>
      </p:sp>
      <p:sp>
        <p:nvSpPr>
          <p:cNvPr id="26" name="Text 24"/>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III · ALGEBRA, IN THE DARSHAN'S TERMS</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Algebra in action — compound and mixture</a:t>
            </a:r>
            <a:endParaRPr lang="en-US" sz="2900" dirty="0"/>
          </a:p>
        </p:txBody>
      </p:sp>
      <p:sp>
        <p:nvSpPr>
          <p:cNvPr id="4" name="Text 2"/>
          <p:cNvSpPr/>
          <p:nvPr/>
        </p:nvSpPr>
        <p:spPr>
          <a:xfrm>
            <a:off x="548640" y="1517904"/>
            <a:ext cx="11091672" cy="566928"/>
          </a:xfrm>
          <a:prstGeom prst="rect">
            <a:avLst/>
          </a:prstGeom>
          <a:noFill/>
          <a:ln/>
        </p:spPr>
        <p:txBody>
          <a:bodyPr wrap="square" rtlCol="0" anchor="t"/>
          <a:lstStyle/>
          <a:p>
            <a:pPr indent="0" marL="0">
              <a:lnSpc>
                <a:spcPct val="103000"/>
              </a:lnSpc>
              <a:buNone/>
            </a:pPr>
            <a:r>
              <a:rPr lang="en-US" sz="1450" dirty="0">
                <a:solidFill>
                  <a:srgbClr val="202340"/>
                </a:solidFill>
                <a:latin typeface="Calibri" pitchFamily="34" charset="0"/>
                <a:ea typeface="Calibri" pitchFamily="34" charset="-122"/>
                <a:cs typeface="Calibri" pitchFamily="34" charset="-120"/>
              </a:rPr>
              <a:t>Algebra means </a:t>
            </a:r>
            <a:pPr indent="0" marL="0">
              <a:lnSpc>
                <a:spcPct val="103000"/>
              </a:lnSpc>
              <a:buNone/>
            </a:pPr>
            <a:r>
              <a:rPr lang="en-US" sz="1450" b="1" dirty="0">
                <a:solidFill>
                  <a:srgbClr val="B8842B"/>
                </a:solidFill>
                <a:latin typeface="Calibri" pitchFamily="34" charset="0"/>
                <a:ea typeface="Calibri" pitchFamily="34" charset="-122"/>
                <a:cs typeface="Calibri" pitchFamily="34" charset="-120"/>
              </a:rPr>
              <a:t>built up by a rule</a:t>
            </a:r>
            <a:pPr indent="0" marL="0">
              <a:lnSpc>
                <a:spcPct val="103000"/>
              </a:lnSpc>
              <a:buNone/>
            </a:pPr>
            <a:r>
              <a:rPr lang="en-US" sz="1450" dirty="0">
                <a:solidFill>
                  <a:srgbClr val="202340"/>
                </a:solidFill>
                <a:latin typeface="Calibri" pitchFamily="34" charset="0"/>
                <a:ea typeface="Calibri" pitchFamily="34" charset="-122"/>
                <a:cs typeface="Calibri" pitchFamily="34" charset="-120"/>
              </a:rPr>
              <a:t>. The rule is κ. “Units of nature are the algebra generated by κ” — so to know a unit, you ask </a:t>
            </a:r>
            <a:pPr indent="0" marL="0">
              <a:lnSpc>
                <a:spcPct val="103000"/>
              </a:lnSpc>
              <a:buNone/>
            </a:pPr>
            <a:r>
              <a:rPr lang="en-US" sz="1450" i="1" dirty="0">
                <a:solidFill>
                  <a:srgbClr val="16183D"/>
                </a:solidFill>
                <a:latin typeface="Calibri" pitchFamily="34" charset="0"/>
                <a:ea typeface="Calibri" pitchFamily="34" charset="-122"/>
                <a:cs typeface="Calibri" pitchFamily="34" charset="-120"/>
              </a:rPr>
              <a:t>how it was assembled</a:t>
            </a:r>
            <a:pPr indent="0" marL="0">
              <a:lnSpc>
                <a:spcPct val="103000"/>
              </a:lnSpc>
              <a:buNone/>
            </a:pPr>
            <a:r>
              <a:rPr lang="en-US" sz="1450" dirty="0">
                <a:solidFill>
                  <a:srgbClr val="202340"/>
                </a:solidFill>
                <a:latin typeface="Calibri" pitchFamily="34" charset="0"/>
                <a:ea typeface="Calibri" pitchFamily="34" charset="-122"/>
                <a:cs typeface="Calibri" pitchFamily="34" charset="-120"/>
              </a:rPr>
              <a:t>. Two atoms show the two outcomes.</a:t>
            </a:r>
            <a:endParaRPr lang="en-US" sz="1450" dirty="0"/>
          </a:p>
        </p:txBody>
      </p:sp>
      <p:sp>
        <p:nvSpPr>
          <p:cNvPr id="5" name="Shape 3"/>
          <p:cNvSpPr/>
          <p:nvPr/>
        </p:nvSpPr>
        <p:spPr>
          <a:xfrm>
            <a:off x="548640" y="2148840"/>
            <a:ext cx="5449824" cy="3063240"/>
          </a:xfrm>
          <a:prstGeom prst="roundRect">
            <a:avLst>
              <a:gd name="adj" fmla="val 2090"/>
            </a:avLst>
          </a:prstGeom>
          <a:solidFill>
            <a:srgbClr val="F5F6FB"/>
          </a:solidFill>
          <a:ln w="19050">
            <a:solidFill>
              <a:srgbClr val="3E7C8C"/>
            </a:solidFill>
            <a:prstDash val="solid"/>
          </a:ln>
        </p:spPr>
      </p:sp>
      <p:sp>
        <p:nvSpPr>
          <p:cNvPr id="6" name="Text 4"/>
          <p:cNvSpPr/>
          <p:nvPr/>
        </p:nvSpPr>
        <p:spPr>
          <a:xfrm>
            <a:off x="749808" y="2286000"/>
            <a:ext cx="5029200" cy="365760"/>
          </a:xfrm>
          <a:prstGeom prst="rect">
            <a:avLst/>
          </a:prstGeom>
          <a:noFill/>
          <a:ln/>
        </p:spPr>
        <p:txBody>
          <a:bodyPr wrap="square" rtlCol="0" anchor="ctr"/>
          <a:lstStyle/>
          <a:p>
            <a:pPr indent="0" marL="0">
              <a:buNone/>
            </a:pPr>
            <a:r>
              <a:rPr lang="en-US" sz="1550" b="1" dirty="0">
                <a:solidFill>
                  <a:srgbClr val="3E7C8C"/>
                </a:solidFill>
                <a:latin typeface="Cambria" pitchFamily="34" charset="0"/>
                <a:ea typeface="Cambria" pitchFamily="34" charset="-122"/>
                <a:cs typeface="Cambria" pitchFamily="34" charset="-120"/>
              </a:rPr>
              <a:t>Compound </a:t>
            </a:r>
            <a:pPr indent="0" marL="0">
              <a:buNone/>
            </a:pPr>
            <a:r>
              <a:rPr lang="en-US" sz="1550" b="1" dirty="0">
                <a:solidFill>
                  <a:srgbClr val="2E5E6B"/>
                </a:solidFill>
                <a:latin typeface="Calibri" pitchFamily="34" charset="0"/>
                <a:ea typeface="Calibri" pitchFamily="34" charset="-122"/>
                <a:cs typeface="Calibri" pitchFamily="34" charset="-120"/>
              </a:rPr>
              <a:t>(yaugik) — closure SUCCEEDS</a:t>
            </a:r>
            <a:endParaRPr lang="en-US" sz="1550" dirty="0"/>
          </a:p>
        </p:txBody>
      </p:sp>
      <p:sp>
        <p:nvSpPr>
          <p:cNvPr id="7" name="Shape 5"/>
          <p:cNvSpPr/>
          <p:nvPr/>
        </p:nvSpPr>
        <p:spPr>
          <a:xfrm>
            <a:off x="914400" y="2880360"/>
            <a:ext cx="274320" cy="274320"/>
          </a:xfrm>
          <a:prstGeom prst="ellipse">
            <a:avLst/>
          </a:prstGeom>
          <a:solidFill>
            <a:srgbClr val="E3B857"/>
          </a:solidFill>
          <a:ln/>
        </p:spPr>
      </p:sp>
      <p:sp>
        <p:nvSpPr>
          <p:cNvPr id="8" name="Text 6"/>
          <p:cNvSpPr/>
          <p:nvPr/>
        </p:nvSpPr>
        <p:spPr>
          <a:xfrm>
            <a:off x="914400" y="2880360"/>
            <a:ext cx="274320" cy="274320"/>
          </a:xfrm>
          <a:prstGeom prst="rect">
            <a:avLst/>
          </a:prstGeom>
          <a:noFill/>
          <a:ln/>
        </p:spPr>
        <p:txBody>
          <a:bodyPr wrap="square" rtlCol="0" anchor="ctr"/>
          <a:lstStyle/>
          <a:p>
            <a:pPr algn="ctr" indent="0" marL="0">
              <a:buNone/>
            </a:pPr>
            <a:r>
              <a:rPr lang="en-US" sz="1100" b="1" dirty="0">
                <a:solidFill>
                  <a:srgbClr val="16183D"/>
                </a:solidFill>
                <a:latin typeface="Calibri" pitchFamily="34" charset="0"/>
                <a:ea typeface="Calibri" pitchFamily="34" charset="-122"/>
                <a:cs typeface="Calibri" pitchFamily="34" charset="-120"/>
              </a:rPr>
              <a:t>H</a:t>
            </a:r>
            <a:endParaRPr lang="en-US" sz="1100" dirty="0"/>
          </a:p>
        </p:txBody>
      </p:sp>
      <p:sp>
        <p:nvSpPr>
          <p:cNvPr id="9" name="Shape 7"/>
          <p:cNvSpPr/>
          <p:nvPr/>
        </p:nvSpPr>
        <p:spPr>
          <a:xfrm>
            <a:off x="914400" y="3291840"/>
            <a:ext cx="274320" cy="274320"/>
          </a:xfrm>
          <a:prstGeom prst="ellipse">
            <a:avLst/>
          </a:prstGeom>
          <a:solidFill>
            <a:srgbClr val="E3B857"/>
          </a:solidFill>
          <a:ln/>
        </p:spPr>
      </p:sp>
      <p:sp>
        <p:nvSpPr>
          <p:cNvPr id="10" name="Text 8"/>
          <p:cNvSpPr/>
          <p:nvPr/>
        </p:nvSpPr>
        <p:spPr>
          <a:xfrm>
            <a:off x="914400" y="3291840"/>
            <a:ext cx="274320" cy="274320"/>
          </a:xfrm>
          <a:prstGeom prst="rect">
            <a:avLst/>
          </a:prstGeom>
          <a:noFill/>
          <a:ln/>
        </p:spPr>
        <p:txBody>
          <a:bodyPr wrap="square" rtlCol="0" anchor="ctr"/>
          <a:lstStyle/>
          <a:p>
            <a:pPr algn="ctr" indent="0" marL="0">
              <a:buNone/>
            </a:pPr>
            <a:r>
              <a:rPr lang="en-US" sz="1100" b="1" dirty="0">
                <a:solidFill>
                  <a:srgbClr val="16183D"/>
                </a:solidFill>
                <a:latin typeface="Calibri" pitchFamily="34" charset="0"/>
                <a:ea typeface="Calibri" pitchFamily="34" charset="-122"/>
                <a:cs typeface="Calibri" pitchFamily="34" charset="-120"/>
              </a:rPr>
              <a:t>H</a:t>
            </a:r>
            <a:endParaRPr lang="en-US" sz="1100" dirty="0"/>
          </a:p>
        </p:txBody>
      </p:sp>
      <p:sp>
        <p:nvSpPr>
          <p:cNvPr id="11" name="Shape 9"/>
          <p:cNvSpPr/>
          <p:nvPr/>
        </p:nvSpPr>
        <p:spPr>
          <a:xfrm>
            <a:off x="1298448" y="3090672"/>
            <a:ext cx="329184" cy="329184"/>
          </a:xfrm>
          <a:prstGeom prst="ellipse">
            <a:avLst/>
          </a:prstGeom>
          <a:solidFill>
            <a:srgbClr val="3E7C8C"/>
          </a:solidFill>
          <a:ln/>
        </p:spPr>
      </p:sp>
      <p:sp>
        <p:nvSpPr>
          <p:cNvPr id="12" name="Text 10"/>
          <p:cNvSpPr/>
          <p:nvPr/>
        </p:nvSpPr>
        <p:spPr>
          <a:xfrm>
            <a:off x="1298448" y="3090672"/>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a:t>
            </a:r>
            <a:endParaRPr lang="en-US" sz="1100" dirty="0"/>
          </a:p>
        </p:txBody>
      </p:sp>
      <p:sp>
        <p:nvSpPr>
          <p:cNvPr id="13" name="Text 11"/>
          <p:cNvSpPr/>
          <p:nvPr/>
        </p:nvSpPr>
        <p:spPr>
          <a:xfrm>
            <a:off x="658368" y="3675888"/>
            <a:ext cx="1371600" cy="457200"/>
          </a:xfrm>
          <a:prstGeom prst="rect">
            <a:avLst/>
          </a:prstGeom>
          <a:noFill/>
          <a:ln/>
        </p:spPr>
        <p:txBody>
          <a:bodyPr wrap="square" rtlCol="0" anchor="ctr"/>
          <a:lstStyle/>
          <a:p>
            <a:pPr algn="ctr" indent="0" marL="0">
              <a:lnSpc>
                <a:spcPct val="90000"/>
              </a:lnSpc>
              <a:buNone/>
            </a:pPr>
            <a:r>
              <a:rPr lang="en-US" sz="900" i="1" dirty="0">
                <a:solidFill>
                  <a:srgbClr val="6A6E93"/>
                </a:solidFill>
                <a:latin typeface="Calibri" pitchFamily="34" charset="0"/>
                <a:ea typeface="Calibri" pitchFamily="34" charset="-122"/>
                <a:cs typeface="Calibri" pitchFamily="34" charset="-120"/>
              </a:rPr>
              <a:t>hungry + overfull</a:t>
            </a:r>
            <a:endParaRPr lang="en-US" sz="900" dirty="0"/>
          </a:p>
        </p:txBody>
      </p:sp>
      <p:sp>
        <p:nvSpPr>
          <p:cNvPr id="14" name="Shape 12"/>
          <p:cNvSpPr/>
          <p:nvPr/>
        </p:nvSpPr>
        <p:spPr>
          <a:xfrm>
            <a:off x="1874520" y="3127248"/>
            <a:ext cx="640080" cy="274320"/>
          </a:xfrm>
          <a:prstGeom prst="rightArrow">
            <a:avLst/>
          </a:prstGeom>
          <a:solidFill>
            <a:srgbClr val="B8842B"/>
          </a:solidFill>
          <a:ln/>
        </p:spPr>
      </p:sp>
      <p:sp>
        <p:nvSpPr>
          <p:cNvPr id="15" name="Shape 13"/>
          <p:cNvSpPr/>
          <p:nvPr/>
        </p:nvSpPr>
        <p:spPr>
          <a:xfrm>
            <a:off x="2606040" y="2852928"/>
            <a:ext cx="868680" cy="868680"/>
          </a:xfrm>
          <a:prstGeom prst="ellipse">
            <a:avLst/>
          </a:prstGeom>
          <a:solidFill>
            <a:srgbClr val="16183D"/>
          </a:solidFill>
          <a:ln w="25400">
            <a:solidFill>
              <a:srgbClr val="E3B857"/>
            </a:solidFill>
            <a:prstDash val="solid"/>
          </a:ln>
        </p:spPr>
      </p:sp>
      <p:sp>
        <p:nvSpPr>
          <p:cNvPr id="16" name="Text 14"/>
          <p:cNvSpPr/>
          <p:nvPr/>
        </p:nvSpPr>
        <p:spPr>
          <a:xfrm>
            <a:off x="2606040" y="2852928"/>
            <a:ext cx="868680" cy="868680"/>
          </a:xfrm>
          <a:prstGeom prst="rect">
            <a:avLst/>
          </a:prstGeom>
          <a:noFill/>
          <a:ln/>
        </p:spPr>
        <p:txBody>
          <a:bodyPr wrap="square" rtlCol="0" anchor="ctr"/>
          <a:lstStyle/>
          <a:p>
            <a:pPr algn="ctr" indent="0" marL="0">
              <a:buNone/>
            </a:pPr>
            <a:r>
              <a:rPr lang="en-US" sz="1400" b="1" dirty="0">
                <a:solidFill>
                  <a:srgbClr val="E3B857"/>
                </a:solidFill>
                <a:latin typeface="Cambria" pitchFamily="34" charset="0"/>
                <a:ea typeface="Cambria" pitchFamily="34" charset="-122"/>
                <a:cs typeface="Cambria" pitchFamily="34" charset="-120"/>
              </a:rPr>
              <a:t>H₂O</a:t>
            </a:r>
            <a:endParaRPr lang="en-US" sz="1400" dirty="0"/>
          </a:p>
        </p:txBody>
      </p:sp>
      <p:sp>
        <p:nvSpPr>
          <p:cNvPr id="17" name="Text 15"/>
          <p:cNvSpPr/>
          <p:nvPr/>
        </p:nvSpPr>
        <p:spPr>
          <a:xfrm>
            <a:off x="2468880" y="3767328"/>
            <a:ext cx="1188720" cy="365760"/>
          </a:xfrm>
          <a:prstGeom prst="rect">
            <a:avLst/>
          </a:prstGeom>
          <a:noFill/>
          <a:ln/>
        </p:spPr>
        <p:txBody>
          <a:bodyPr wrap="square" rtlCol="0" anchor="ctr"/>
          <a:lstStyle/>
          <a:p>
            <a:pPr algn="ctr" indent="0" marL="0">
              <a:lnSpc>
                <a:spcPct val="90000"/>
              </a:lnSpc>
              <a:buNone/>
            </a:pPr>
            <a:r>
              <a:rPr lang="en-US" sz="900" i="1" dirty="0">
                <a:solidFill>
                  <a:srgbClr val="6A6E93"/>
                </a:solidFill>
                <a:latin typeface="Calibri" pitchFamily="34" charset="0"/>
                <a:ea typeface="Calibri" pitchFamily="34" charset="-122"/>
                <a:cs typeface="Calibri" pitchFamily="34" charset="-120"/>
              </a:rPr>
              <a:t>new unit — new boundary</a:t>
            </a:r>
            <a:endParaRPr lang="en-US" sz="900" dirty="0"/>
          </a:p>
        </p:txBody>
      </p:sp>
      <p:sp>
        <p:nvSpPr>
          <p:cNvPr id="18" name="Text 16"/>
          <p:cNvSpPr/>
          <p:nvPr/>
        </p:nvSpPr>
        <p:spPr>
          <a:xfrm>
            <a:off x="749808" y="4160520"/>
            <a:ext cx="5074920" cy="1005840"/>
          </a:xfrm>
          <a:prstGeom prst="rect">
            <a:avLst/>
          </a:prstGeom>
          <a:noFill/>
          <a:ln/>
        </p:spPr>
        <p:txBody>
          <a:bodyPr wrap="square" rtlCol="0" anchor="t"/>
          <a:lstStyle/>
          <a:p>
            <a:pPr indent="0" marL="0">
              <a:lnSpc>
                <a:spcPct val="103000"/>
              </a:lnSpc>
              <a:buNone/>
            </a:pPr>
            <a:r>
              <a:rPr lang="en-US" sz="1150" dirty="0">
                <a:solidFill>
                  <a:srgbClr val="202340"/>
                </a:solidFill>
                <a:latin typeface="Calibri" pitchFamily="34" charset="0"/>
                <a:ea typeface="Calibri" pitchFamily="34" charset="-122"/>
                <a:cs typeface="Calibri" pitchFamily="34" charset="-120"/>
              </a:rPr>
              <a:t>Deficiency meets surplus (MVD p. 8); the coupling closes a new motion-path. Components </a:t>
            </a:r>
            <a:pPr indent="0" marL="0">
              <a:lnSpc>
                <a:spcPct val="103000"/>
              </a:lnSpc>
              <a:buNone/>
            </a:pPr>
            <a:r>
              <a:rPr lang="en-US" sz="1150" i="1" dirty="0">
                <a:solidFill>
                  <a:srgbClr val="16183D"/>
                </a:solidFill>
                <a:latin typeface="Calibri" pitchFamily="34" charset="0"/>
                <a:ea typeface="Calibri" pitchFamily="34" charset="-122"/>
                <a:cs typeface="Calibri" pitchFamily="34" charset="-120"/>
              </a:rPr>
              <a:t>“discard their own conducts, and present another”</a:t>
            </a:r>
            <a:pPr indent="0" marL="0">
              <a:lnSpc>
                <a:spcPct val="103000"/>
              </a:lnSpc>
              <a:buNone/>
            </a:pPr>
            <a:r>
              <a:rPr lang="en-US" sz="1150" dirty="0">
                <a:solidFill>
                  <a:srgbClr val="202340"/>
                </a:solidFill>
                <a:latin typeface="Calibri" pitchFamily="34" charset="0"/>
                <a:ea typeface="Calibri" pitchFamily="34" charset="-122"/>
                <a:cs typeface="Calibri" pitchFamily="34" charset="-120"/>
              </a:rPr>
              <a:t> (MVD p. 42). A fresh signature is minted — water’s roop, gun, svabhav, dharma. One rung of </a:t>
            </a:r>
            <a:pPr indent="0" marL="0">
              <a:lnSpc>
                <a:spcPct val="103000"/>
              </a:lnSpc>
              <a:buNone/>
            </a:pPr>
            <a:r>
              <a:rPr lang="en-US" sz="1150" b="1" i="1" dirty="0">
                <a:solidFill>
                  <a:srgbClr val="3E7C8C"/>
                </a:solidFill>
                <a:latin typeface="Calibri" pitchFamily="34" charset="0"/>
                <a:ea typeface="Calibri" pitchFamily="34" charset="-122"/>
                <a:cs typeface="Calibri" pitchFamily="34" charset="-120"/>
              </a:rPr>
              <a:t>vikas</a:t>
            </a:r>
            <a:pPr indent="0" marL="0">
              <a:lnSpc>
                <a:spcPct val="103000"/>
              </a:lnSpc>
              <a:buNone/>
            </a:pPr>
            <a:r>
              <a:rPr lang="en-US" sz="1150" dirty="0">
                <a:solidFill>
                  <a:srgbClr val="202340"/>
                </a:solidFill>
                <a:latin typeface="Calibri" pitchFamily="34" charset="0"/>
                <a:ea typeface="Calibri" pitchFamily="34" charset="-122"/>
                <a:cs typeface="Calibri" pitchFamily="34" charset="-120"/>
              </a:rPr>
              <a:t>.</a:t>
            </a:r>
            <a:endParaRPr lang="en-US" sz="1150" dirty="0"/>
          </a:p>
        </p:txBody>
      </p:sp>
      <p:sp>
        <p:nvSpPr>
          <p:cNvPr id="19" name="Shape 17"/>
          <p:cNvSpPr/>
          <p:nvPr/>
        </p:nvSpPr>
        <p:spPr>
          <a:xfrm>
            <a:off x="6190488" y="2148840"/>
            <a:ext cx="5449824" cy="3063240"/>
          </a:xfrm>
          <a:prstGeom prst="roundRect">
            <a:avLst>
              <a:gd name="adj" fmla="val 2090"/>
            </a:avLst>
          </a:prstGeom>
          <a:solidFill>
            <a:srgbClr val="F5F6FB"/>
          </a:solidFill>
          <a:ln w="15875">
            <a:solidFill>
              <a:srgbClr val="E1E3EF"/>
            </a:solidFill>
            <a:prstDash val="solid"/>
          </a:ln>
        </p:spPr>
      </p:sp>
      <p:sp>
        <p:nvSpPr>
          <p:cNvPr id="20" name="Text 18"/>
          <p:cNvSpPr/>
          <p:nvPr/>
        </p:nvSpPr>
        <p:spPr>
          <a:xfrm>
            <a:off x="6391656" y="2286000"/>
            <a:ext cx="5029200" cy="365760"/>
          </a:xfrm>
          <a:prstGeom prst="rect">
            <a:avLst/>
          </a:prstGeom>
          <a:noFill/>
          <a:ln/>
        </p:spPr>
        <p:txBody>
          <a:bodyPr wrap="square" rtlCol="0" anchor="ctr"/>
          <a:lstStyle/>
          <a:p>
            <a:pPr indent="0" marL="0">
              <a:buNone/>
            </a:pPr>
            <a:r>
              <a:rPr lang="en-US" sz="1550" b="1" dirty="0">
                <a:solidFill>
                  <a:srgbClr val="6A6E93"/>
                </a:solidFill>
                <a:latin typeface="Cambria" pitchFamily="34" charset="0"/>
                <a:ea typeface="Cambria" pitchFamily="34" charset="-122"/>
                <a:cs typeface="Cambria" pitchFamily="34" charset="-120"/>
              </a:rPr>
              <a:t>Mixture </a:t>
            </a:r>
            <a:pPr indent="0" marL="0">
              <a:buNone/>
            </a:pPr>
            <a:r>
              <a:rPr lang="en-US" sz="1550" b="1" dirty="0">
                <a:solidFill>
                  <a:srgbClr val="6A6E93"/>
                </a:solidFill>
                <a:latin typeface="Calibri" pitchFamily="34" charset="0"/>
                <a:ea typeface="Calibri" pitchFamily="34" charset="-122"/>
                <a:cs typeface="Calibri" pitchFamily="34" charset="-120"/>
              </a:rPr>
              <a:t>(mishran) — closure FAILS</a:t>
            </a:r>
            <a:endParaRPr lang="en-US" sz="1550" dirty="0"/>
          </a:p>
        </p:txBody>
      </p:sp>
      <p:sp>
        <p:nvSpPr>
          <p:cNvPr id="21" name="Shape 19"/>
          <p:cNvSpPr/>
          <p:nvPr/>
        </p:nvSpPr>
        <p:spPr>
          <a:xfrm>
            <a:off x="6446520" y="2788920"/>
            <a:ext cx="2788920" cy="960120"/>
          </a:xfrm>
          <a:prstGeom prst="roundRect">
            <a:avLst>
              <a:gd name="adj" fmla="val 3810"/>
            </a:avLst>
          </a:prstGeom>
          <a:solidFill>
            <a:srgbClr val="FFFFFF"/>
          </a:solidFill>
          <a:ln w="12700">
            <a:solidFill>
              <a:srgbClr val="6A6E93"/>
            </a:solidFill>
            <a:prstDash val="dash"/>
          </a:ln>
        </p:spPr>
      </p:sp>
      <p:sp>
        <p:nvSpPr>
          <p:cNvPr id="22" name="Shape 20"/>
          <p:cNvSpPr/>
          <p:nvPr/>
        </p:nvSpPr>
        <p:spPr>
          <a:xfrm>
            <a:off x="6656832" y="2944368"/>
            <a:ext cx="365760" cy="365760"/>
          </a:xfrm>
          <a:prstGeom prst="ellipse">
            <a:avLst/>
          </a:prstGeom>
          <a:solidFill>
            <a:srgbClr val="2E5E6B"/>
          </a:solidFill>
          <a:ln/>
        </p:spPr>
      </p:sp>
      <p:sp>
        <p:nvSpPr>
          <p:cNvPr id="23" name="Text 21"/>
          <p:cNvSpPr/>
          <p:nvPr/>
        </p:nvSpPr>
        <p:spPr>
          <a:xfrm>
            <a:off x="6656832" y="2944368"/>
            <a:ext cx="3657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Fe</a:t>
            </a:r>
            <a:endParaRPr lang="en-US" sz="900" dirty="0"/>
          </a:p>
        </p:txBody>
      </p:sp>
      <p:sp>
        <p:nvSpPr>
          <p:cNvPr id="24" name="Shape 22"/>
          <p:cNvSpPr/>
          <p:nvPr/>
        </p:nvSpPr>
        <p:spPr>
          <a:xfrm>
            <a:off x="7498080" y="3246120"/>
            <a:ext cx="237744" cy="237744"/>
          </a:xfrm>
          <a:prstGeom prst="ellipse">
            <a:avLst/>
          </a:prstGeom>
          <a:solidFill>
            <a:srgbClr val="B8842B"/>
          </a:solidFill>
          <a:ln/>
        </p:spPr>
      </p:sp>
      <p:sp>
        <p:nvSpPr>
          <p:cNvPr id="25" name="Text 23"/>
          <p:cNvSpPr/>
          <p:nvPr/>
        </p:nvSpPr>
        <p:spPr>
          <a:xfrm>
            <a:off x="7498080" y="3246120"/>
            <a:ext cx="237744" cy="23774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a:t>
            </a:r>
            <a:endParaRPr lang="en-US" sz="850" dirty="0"/>
          </a:p>
        </p:txBody>
      </p:sp>
      <p:sp>
        <p:nvSpPr>
          <p:cNvPr id="26" name="Shape 24"/>
          <p:cNvSpPr/>
          <p:nvPr/>
        </p:nvSpPr>
        <p:spPr>
          <a:xfrm>
            <a:off x="8247888" y="2907792"/>
            <a:ext cx="365760" cy="365760"/>
          </a:xfrm>
          <a:prstGeom prst="ellipse">
            <a:avLst/>
          </a:prstGeom>
          <a:solidFill>
            <a:srgbClr val="2E5E6B"/>
          </a:solidFill>
          <a:ln/>
        </p:spPr>
      </p:sp>
      <p:sp>
        <p:nvSpPr>
          <p:cNvPr id="27" name="Text 25"/>
          <p:cNvSpPr/>
          <p:nvPr/>
        </p:nvSpPr>
        <p:spPr>
          <a:xfrm>
            <a:off x="8247888" y="2907792"/>
            <a:ext cx="3657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Fe</a:t>
            </a:r>
            <a:endParaRPr lang="en-US" sz="900" dirty="0"/>
          </a:p>
        </p:txBody>
      </p:sp>
      <p:sp>
        <p:nvSpPr>
          <p:cNvPr id="28" name="Shape 26"/>
          <p:cNvSpPr/>
          <p:nvPr/>
        </p:nvSpPr>
        <p:spPr>
          <a:xfrm>
            <a:off x="7040880" y="3401568"/>
            <a:ext cx="237744" cy="237744"/>
          </a:xfrm>
          <a:prstGeom prst="ellipse">
            <a:avLst/>
          </a:prstGeom>
          <a:solidFill>
            <a:srgbClr val="B8842B"/>
          </a:solidFill>
          <a:ln/>
        </p:spPr>
      </p:sp>
      <p:sp>
        <p:nvSpPr>
          <p:cNvPr id="29" name="Text 27"/>
          <p:cNvSpPr/>
          <p:nvPr/>
        </p:nvSpPr>
        <p:spPr>
          <a:xfrm>
            <a:off x="7040880" y="3401568"/>
            <a:ext cx="237744" cy="23774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a:t>
            </a:r>
            <a:endParaRPr lang="en-US" sz="850" dirty="0"/>
          </a:p>
        </p:txBody>
      </p:sp>
      <p:sp>
        <p:nvSpPr>
          <p:cNvPr id="30" name="Shape 28"/>
          <p:cNvSpPr/>
          <p:nvPr/>
        </p:nvSpPr>
        <p:spPr>
          <a:xfrm>
            <a:off x="8001000" y="3401568"/>
            <a:ext cx="237744" cy="237744"/>
          </a:xfrm>
          <a:prstGeom prst="ellipse">
            <a:avLst/>
          </a:prstGeom>
          <a:solidFill>
            <a:srgbClr val="B8842B"/>
          </a:solidFill>
          <a:ln/>
        </p:spPr>
      </p:sp>
      <p:sp>
        <p:nvSpPr>
          <p:cNvPr id="31" name="Text 29"/>
          <p:cNvSpPr/>
          <p:nvPr/>
        </p:nvSpPr>
        <p:spPr>
          <a:xfrm>
            <a:off x="8001000" y="3401568"/>
            <a:ext cx="237744" cy="23774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a:t>
            </a:r>
            <a:endParaRPr lang="en-US" sz="850" dirty="0"/>
          </a:p>
        </p:txBody>
      </p:sp>
      <p:sp>
        <p:nvSpPr>
          <p:cNvPr id="32" name="Text 30"/>
          <p:cNvSpPr/>
          <p:nvPr/>
        </p:nvSpPr>
        <p:spPr>
          <a:xfrm>
            <a:off x="6446520" y="3712464"/>
            <a:ext cx="2788920" cy="274320"/>
          </a:xfrm>
          <a:prstGeom prst="rect">
            <a:avLst/>
          </a:prstGeom>
          <a:noFill/>
          <a:ln/>
        </p:spPr>
        <p:txBody>
          <a:bodyPr wrap="square" rtlCol="0" anchor="ctr"/>
          <a:lstStyle/>
          <a:p>
            <a:pPr algn="ctr" indent="0" marL="0">
              <a:buNone/>
            </a:pPr>
            <a:r>
              <a:rPr lang="en-US" sz="900" i="1" dirty="0">
                <a:solidFill>
                  <a:srgbClr val="6A6E93"/>
                </a:solidFill>
                <a:latin typeface="Calibri" pitchFamily="34" charset="0"/>
                <a:ea typeface="Calibri" pitchFamily="34" charset="-122"/>
                <a:cs typeface="Calibri" pitchFamily="34" charset="-120"/>
              </a:rPr>
              <a:t>iron + sulfur — no new boundary</a:t>
            </a:r>
            <a:endParaRPr lang="en-US" sz="900" dirty="0"/>
          </a:p>
        </p:txBody>
      </p:sp>
      <p:sp>
        <p:nvSpPr>
          <p:cNvPr id="33" name="Text 31"/>
          <p:cNvSpPr/>
          <p:nvPr/>
        </p:nvSpPr>
        <p:spPr>
          <a:xfrm>
            <a:off x="9326880" y="3063240"/>
            <a:ext cx="2194560" cy="548640"/>
          </a:xfrm>
          <a:prstGeom prst="rect">
            <a:avLst/>
          </a:prstGeom>
          <a:noFill/>
          <a:ln/>
        </p:spPr>
        <p:txBody>
          <a:bodyPr wrap="square" rtlCol="0" anchor="ctr"/>
          <a:lstStyle/>
          <a:p>
            <a:pPr indent="0" marL="0">
              <a:lnSpc>
                <a:spcPct val="95000"/>
              </a:lnSpc>
              <a:buNone/>
            </a:pPr>
            <a:r>
              <a:rPr lang="en-US" sz="1050" i="1" dirty="0">
                <a:solidFill>
                  <a:srgbClr val="6A6E93"/>
                </a:solidFill>
                <a:latin typeface="Calibri" pitchFamily="34" charset="0"/>
                <a:ea typeface="Calibri" pitchFamily="34" charset="-122"/>
                <a:cs typeface="Calibri" pitchFamily="34" charset="-120"/>
              </a:rPr>
              <a:t>a magnet still lifts the iron out</a:t>
            </a:r>
            <a:endParaRPr lang="en-US" sz="1050" dirty="0"/>
          </a:p>
        </p:txBody>
      </p:sp>
      <p:sp>
        <p:nvSpPr>
          <p:cNvPr id="34" name="Text 32"/>
          <p:cNvSpPr/>
          <p:nvPr/>
        </p:nvSpPr>
        <p:spPr>
          <a:xfrm>
            <a:off x="6391656" y="4160520"/>
            <a:ext cx="5074920" cy="1005840"/>
          </a:xfrm>
          <a:prstGeom prst="rect">
            <a:avLst/>
          </a:prstGeom>
          <a:noFill/>
          <a:ln/>
        </p:spPr>
        <p:txBody>
          <a:bodyPr wrap="square" rtlCol="0" anchor="t"/>
          <a:lstStyle/>
          <a:p>
            <a:pPr indent="0" marL="0">
              <a:lnSpc>
                <a:spcPct val="103000"/>
              </a:lnSpc>
              <a:buNone/>
            </a:pPr>
            <a:r>
              <a:rPr lang="en-US" sz="1150" dirty="0">
                <a:solidFill>
                  <a:srgbClr val="202340"/>
                </a:solidFill>
                <a:latin typeface="Calibri" pitchFamily="34" charset="0"/>
                <a:ea typeface="Calibri" pitchFamily="34" charset="-122"/>
                <a:cs typeface="Calibri" pitchFamily="34" charset="-120"/>
              </a:rPr>
              <a:t>Fulfilment (φ) still delivers a result — they interpenetrate — but nothing closes. Components </a:t>
            </a:r>
            <a:pPr indent="0" marL="0">
              <a:lnSpc>
                <a:spcPct val="103000"/>
              </a:lnSpc>
              <a:buNone/>
            </a:pPr>
            <a:r>
              <a:rPr lang="en-US" sz="1150" i="1" dirty="0">
                <a:solidFill>
                  <a:srgbClr val="16183D"/>
                </a:solidFill>
                <a:latin typeface="Calibri" pitchFamily="34" charset="0"/>
                <a:ea typeface="Calibri" pitchFamily="34" charset="-122"/>
                <a:cs typeface="Calibri" pitchFamily="34" charset="-120"/>
              </a:rPr>
              <a:t>“maintain their respective conducts”</a:t>
            </a:r>
            <a:pPr indent="0" marL="0">
              <a:lnSpc>
                <a:spcPct val="103000"/>
              </a:lnSpc>
              <a:buNone/>
            </a:pPr>
            <a:r>
              <a:rPr lang="en-US" sz="1150" dirty="0">
                <a:solidFill>
                  <a:srgbClr val="202340"/>
                </a:solidFill>
                <a:latin typeface="Calibri" pitchFamily="34" charset="0"/>
                <a:ea typeface="Calibri" pitchFamily="34" charset="-122"/>
                <a:cs typeface="Calibri" pitchFamily="34" charset="-120"/>
              </a:rPr>
              <a:t> (MVD p. 42); the mixture is separable, no new unit. Hence </a:t>
            </a:r>
            <a:pPr indent="0" marL="0">
              <a:lnSpc>
                <a:spcPct val="103000"/>
              </a:lnSpc>
              <a:buNone/>
            </a:pPr>
            <a:r>
              <a:rPr lang="en-US" sz="1150" b="1" i="1" dirty="0">
                <a:solidFill>
                  <a:srgbClr val="B8842B"/>
                </a:solidFill>
                <a:latin typeface="Calibri" pitchFamily="34" charset="0"/>
                <a:ea typeface="Calibri" pitchFamily="34" charset="-122"/>
                <a:cs typeface="Calibri" pitchFamily="34" charset="-120"/>
              </a:rPr>
              <a:t>“composition is not development”</a:t>
            </a:r>
            <a:pPr indent="0" marL="0">
              <a:lnSpc>
                <a:spcPct val="103000"/>
              </a:lnSpc>
              <a:buNone/>
            </a:pPr>
            <a:r>
              <a:rPr lang="en-US" sz="1150" dirty="0">
                <a:solidFill>
                  <a:srgbClr val="202340"/>
                </a:solidFill>
                <a:latin typeface="Calibri" pitchFamily="34" charset="0"/>
                <a:ea typeface="Calibri" pitchFamily="34" charset="-122"/>
                <a:cs typeface="Calibri" pitchFamily="34" charset="-120"/>
              </a:rPr>
              <a:t> (SB pp. 75–76).</a:t>
            </a:r>
            <a:endParaRPr lang="en-US" sz="1150" dirty="0"/>
          </a:p>
        </p:txBody>
      </p:sp>
      <p:sp>
        <p:nvSpPr>
          <p:cNvPr id="35" name="Shape 33"/>
          <p:cNvSpPr/>
          <p:nvPr/>
        </p:nvSpPr>
        <p:spPr>
          <a:xfrm>
            <a:off x="548640" y="5349240"/>
            <a:ext cx="11091672" cy="841248"/>
          </a:xfrm>
          <a:prstGeom prst="roundRect">
            <a:avLst>
              <a:gd name="adj" fmla="val 6522"/>
            </a:avLst>
          </a:prstGeom>
          <a:solidFill>
            <a:srgbClr val="16183D"/>
          </a:solidFill>
          <a:ln/>
        </p:spPr>
      </p:sp>
      <p:sp>
        <p:nvSpPr>
          <p:cNvPr id="36" name="Text 34"/>
          <p:cNvSpPr/>
          <p:nvPr/>
        </p:nvSpPr>
        <p:spPr>
          <a:xfrm>
            <a:off x="777240" y="5431536"/>
            <a:ext cx="10607040" cy="685800"/>
          </a:xfrm>
          <a:prstGeom prst="rect">
            <a:avLst/>
          </a:prstGeom>
          <a:noFill/>
          <a:ln/>
        </p:spPr>
        <p:txBody>
          <a:bodyPr wrap="square" rtlCol="0" anchor="ctr"/>
          <a:lstStyle/>
          <a:p>
            <a:pPr indent="0" marL="0">
              <a:lnSpc>
                <a:spcPct val="102000"/>
              </a:lnSpc>
              <a:buNone/>
            </a:pPr>
            <a:r>
              <a:rPr lang="en-US" sz="1250" b="1" dirty="0">
                <a:solidFill>
                  <a:srgbClr val="E3B857"/>
                </a:solidFill>
                <a:latin typeface="Calibri" pitchFamily="34" charset="0"/>
                <a:ea typeface="Calibri" pitchFamily="34" charset="-122"/>
                <a:cs typeface="Calibri" pitchFamily="34" charset="-120"/>
              </a:rPr>
              <a:t>The algebra, for a practitioner:  </a:t>
            </a:r>
            <a:pPr indent="0" marL="0">
              <a:lnSpc>
                <a:spcPct val="102000"/>
              </a:lnSpc>
              <a:buNone/>
            </a:pPr>
            <a:r>
              <a:rPr lang="en-US" sz="1250" dirty="0">
                <a:solidFill>
                  <a:srgbClr val="F2EEE3"/>
                </a:solidFill>
                <a:latin typeface="Calibri" pitchFamily="34" charset="0"/>
                <a:ea typeface="Calibri" pitchFamily="34" charset="-122"/>
                <a:cs typeface="Calibri" pitchFamily="34" charset="-120"/>
              </a:rPr>
              <a:t>every real unit carries its build-history, and its properties are read from how it was assembled. A mixture is typed OFF that inductive sort — a mere aggregate. </a:t>
            </a:r>
            <a:pPr indent="0" marL="0">
              <a:lnSpc>
                <a:spcPct val="102000"/>
              </a:lnSpc>
              <a:buNone/>
            </a:pPr>
            <a:r>
              <a:rPr lang="en-US" sz="1250" b="1" dirty="0">
                <a:solidFill>
                  <a:srgbClr val="E3B857"/>
                </a:solidFill>
                <a:latin typeface="Calibri" pitchFamily="34" charset="0"/>
                <a:ea typeface="Calibri" pitchFamily="34" charset="-122"/>
                <a:cs typeface="Calibri" pitchFamily="34" charset="-120"/>
              </a:rPr>
              <a:t>Vikas happens only by closure, never by accumulation.</a:t>
            </a:r>
            <a:endParaRPr lang="en-US" sz="1250" dirty="0"/>
          </a:p>
        </p:txBody>
      </p:sp>
      <p:sp>
        <p:nvSpPr>
          <p:cNvPr id="37" name="Text 35"/>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16</a:t>
            </a:r>
            <a:endParaRPr lang="en-US" sz="900" dirty="0"/>
          </a:p>
        </p:txBody>
      </p:sp>
      <p:sp>
        <p:nvSpPr>
          <p:cNvPr id="38" name="Text 36"/>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Algebra in action — compound &amp; mixture</a:t>
            </a:r>
            <a:endParaRPr lang="en-US" sz="900" dirty="0"/>
          </a:p>
        </p:txBody>
      </p:sp>
      <p:sp>
        <p:nvSpPr>
          <p:cNvPr id="39" name="Text 37"/>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III · COALGEBRA, IN THE DARSHAN'S TERMS</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Coalgebra in action — a unit unfolds, yet is never reduced to it</a:t>
            </a:r>
            <a:endParaRPr lang="en-US" sz="2900" dirty="0"/>
          </a:p>
        </p:txBody>
      </p:sp>
      <p:sp>
        <p:nvSpPr>
          <p:cNvPr id="4" name="Text 2"/>
          <p:cNvSpPr/>
          <p:nvPr/>
        </p:nvSpPr>
        <p:spPr>
          <a:xfrm>
            <a:off x="548640" y="1517904"/>
            <a:ext cx="11091672" cy="640080"/>
          </a:xfrm>
          <a:prstGeom prst="rect">
            <a:avLst/>
          </a:prstGeom>
          <a:noFill/>
          <a:ln/>
        </p:spPr>
        <p:txBody>
          <a:bodyPr wrap="square" rtlCol="0" anchor="t"/>
          <a:lstStyle/>
          <a:p>
            <a:pPr indent="0" marL="0">
              <a:lnSpc>
                <a:spcPct val="103000"/>
              </a:lnSpc>
              <a:buNone/>
            </a:pPr>
            <a:r>
              <a:rPr lang="en-US" sz="1450" dirty="0">
                <a:solidFill>
                  <a:srgbClr val="202340"/>
                </a:solidFill>
                <a:latin typeface="Calibri" pitchFamily="34" charset="0"/>
                <a:ea typeface="Calibri" pitchFamily="34" charset="-122"/>
                <a:cs typeface="Calibri" pitchFamily="34" charset="-120"/>
              </a:rPr>
              <a:t>Coalgebra means a </a:t>
            </a:r>
            <a:pPr indent="0" marL="0">
              <a:lnSpc>
                <a:spcPct val="103000"/>
              </a:lnSpc>
              <a:buNone/>
            </a:pPr>
            <a:r>
              <a:rPr lang="en-US" sz="1450" b="1" dirty="0">
                <a:solidFill>
                  <a:srgbClr val="B8842B"/>
                </a:solidFill>
                <a:latin typeface="Calibri" pitchFamily="34" charset="0"/>
                <a:ea typeface="Calibri" pitchFamily="34" charset="-122"/>
                <a:cs typeface="Calibri" pitchFamily="34" charset="-120"/>
              </a:rPr>
              <a:t>carrier</a:t>
            </a:r>
            <a:pPr indent="0" marL="0">
              <a:lnSpc>
                <a:spcPct val="103000"/>
              </a:lnSpc>
              <a:buNone/>
            </a:pPr>
            <a:r>
              <a:rPr lang="en-US" sz="1450" dirty="0">
                <a:solidFill>
                  <a:srgbClr val="202340"/>
                </a:solidFill>
                <a:latin typeface="Calibri" pitchFamily="34" charset="0"/>
                <a:ea typeface="Calibri" pitchFamily="34" charset="-122"/>
                <a:cs typeface="Calibri" pitchFamily="34" charset="-120"/>
              </a:rPr>
              <a:t> plus a map that </a:t>
            </a:r>
            <a:pPr indent="0" marL="0">
              <a:lnSpc>
                <a:spcPct val="103000"/>
              </a:lnSpc>
              <a:buNone/>
            </a:pPr>
            <a:r>
              <a:rPr lang="en-US" sz="1450" b="1" dirty="0">
                <a:solidFill>
                  <a:srgbClr val="16183D"/>
                </a:solidFill>
                <a:latin typeface="Calibri" pitchFamily="34" charset="0"/>
                <a:ea typeface="Calibri" pitchFamily="34" charset="-122"/>
                <a:cs typeface="Calibri" pitchFamily="34" charset="-120"/>
              </a:rPr>
              <a:t>unfolds its behaviour one step at a time</a:t>
            </a:r>
            <a:pPr indent="0" marL="0">
              <a:lnSpc>
                <a:spcPct val="103000"/>
              </a:lnSpc>
              <a:buNone/>
            </a:pPr>
            <a:r>
              <a:rPr lang="en-US" sz="1450" dirty="0">
                <a:solidFill>
                  <a:srgbClr val="202340"/>
                </a:solidFill>
                <a:latin typeface="Calibri" pitchFamily="34" charset="0"/>
                <a:ea typeface="Calibri" pitchFamily="34" charset="-122"/>
                <a:cs typeface="Calibri" pitchFamily="34" charset="-120"/>
              </a:rPr>
              <a:t> — without ever saying the carrier IS that behaviour. The darshan’s </a:t>
            </a:r>
            <a:pPr indent="0" marL="0">
              <a:lnSpc>
                <a:spcPct val="103000"/>
              </a:lnSpc>
              <a:buNone/>
            </a:pPr>
            <a:r>
              <a:rPr lang="en-US" sz="1450" i="1" dirty="0">
                <a:solidFill>
                  <a:srgbClr val="16183D"/>
                </a:solidFill>
                <a:latin typeface="Calibri" pitchFamily="34" charset="0"/>
                <a:ea typeface="Calibri" pitchFamily="34" charset="-122"/>
                <a:cs typeface="Calibri" pitchFamily="34" charset="-120"/>
              </a:rPr>
              <a:t>ikai</a:t>
            </a:r>
            <a:pPr indent="0" marL="0">
              <a:lnSpc>
                <a:spcPct val="103000"/>
              </a:lnSpc>
              <a:buNone/>
            </a:pPr>
            <a:r>
              <a:rPr lang="en-US" sz="1450" dirty="0">
                <a:solidFill>
                  <a:srgbClr val="202340"/>
                </a:solidFill>
                <a:latin typeface="Calibri" pitchFamily="34" charset="0"/>
                <a:ea typeface="Calibri" pitchFamily="34" charset="-122"/>
                <a:cs typeface="Calibri" pitchFamily="34" charset="-120"/>
              </a:rPr>
              <a:t> is exactly such a carrier: it bears activity; it is never built out of activity.</a:t>
            </a:r>
            <a:endParaRPr lang="en-US" sz="1450" dirty="0"/>
          </a:p>
        </p:txBody>
      </p:sp>
      <p:sp>
        <p:nvSpPr>
          <p:cNvPr id="5" name="Shape 3"/>
          <p:cNvSpPr/>
          <p:nvPr/>
        </p:nvSpPr>
        <p:spPr>
          <a:xfrm>
            <a:off x="548640" y="2240280"/>
            <a:ext cx="5989320" cy="3063240"/>
          </a:xfrm>
          <a:prstGeom prst="roundRect">
            <a:avLst>
              <a:gd name="adj" fmla="val 2090"/>
            </a:avLst>
          </a:prstGeom>
          <a:solidFill>
            <a:srgbClr val="16183D"/>
          </a:solidFill>
          <a:ln/>
        </p:spPr>
      </p:sp>
      <p:sp>
        <p:nvSpPr>
          <p:cNvPr id="6" name="Text 4"/>
          <p:cNvSpPr/>
          <p:nvPr/>
        </p:nvSpPr>
        <p:spPr>
          <a:xfrm>
            <a:off x="749808" y="2359152"/>
            <a:ext cx="5577840" cy="365760"/>
          </a:xfrm>
          <a:prstGeom prst="rect">
            <a:avLst/>
          </a:prstGeom>
          <a:noFill/>
          <a:ln/>
        </p:spPr>
        <p:txBody>
          <a:bodyPr wrap="square" rtlCol="0" anchor="ctr"/>
          <a:lstStyle/>
          <a:p>
            <a:pPr indent="0" marL="0">
              <a:buNone/>
            </a:pPr>
            <a:r>
              <a:rPr lang="en-US" sz="1050" dirty="0">
                <a:solidFill>
                  <a:srgbClr val="E3B857"/>
                </a:solidFill>
                <a:latin typeface="Courier New" pitchFamily="34" charset="0"/>
                <a:ea typeface="Courier New" pitchFamily="34" charset="-122"/>
                <a:cs typeface="Courier New" pitchFamily="34" charset="-120"/>
              </a:rPr>
              <a:t>behaviour map  x → F(x): read one step of conduct, get the next state</a:t>
            </a:r>
            <a:endParaRPr lang="en-US" sz="1050" dirty="0"/>
          </a:p>
        </p:txBody>
      </p:sp>
      <p:sp>
        <p:nvSpPr>
          <p:cNvPr id="7" name="Shape 5"/>
          <p:cNvSpPr/>
          <p:nvPr/>
        </p:nvSpPr>
        <p:spPr>
          <a:xfrm>
            <a:off x="667512" y="3063240"/>
            <a:ext cx="768096" cy="768096"/>
          </a:xfrm>
          <a:prstGeom prst="ellipse">
            <a:avLst/>
          </a:prstGeom>
          <a:solidFill>
            <a:srgbClr val="B8842B"/>
          </a:solidFill>
          <a:ln/>
        </p:spPr>
      </p:sp>
      <p:sp>
        <p:nvSpPr>
          <p:cNvPr id="8" name="Text 6"/>
          <p:cNvSpPr/>
          <p:nvPr/>
        </p:nvSpPr>
        <p:spPr>
          <a:xfrm>
            <a:off x="667512" y="3063240"/>
            <a:ext cx="768096" cy="768096"/>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s₀</a:t>
            </a:r>
            <a:endParaRPr lang="en-US" sz="1500" dirty="0"/>
          </a:p>
        </p:txBody>
      </p:sp>
      <p:sp>
        <p:nvSpPr>
          <p:cNvPr id="9" name="Shape 7"/>
          <p:cNvSpPr/>
          <p:nvPr/>
        </p:nvSpPr>
        <p:spPr>
          <a:xfrm>
            <a:off x="2404872" y="3063240"/>
            <a:ext cx="768096" cy="768096"/>
          </a:xfrm>
          <a:prstGeom prst="ellipse">
            <a:avLst/>
          </a:prstGeom>
          <a:solidFill>
            <a:srgbClr val="B8842B"/>
          </a:solidFill>
          <a:ln/>
        </p:spPr>
      </p:sp>
      <p:sp>
        <p:nvSpPr>
          <p:cNvPr id="10" name="Text 8"/>
          <p:cNvSpPr/>
          <p:nvPr/>
        </p:nvSpPr>
        <p:spPr>
          <a:xfrm>
            <a:off x="2404872" y="3063240"/>
            <a:ext cx="768096" cy="768096"/>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s₁</a:t>
            </a:r>
            <a:endParaRPr lang="en-US" sz="1500" dirty="0"/>
          </a:p>
        </p:txBody>
      </p:sp>
      <p:sp>
        <p:nvSpPr>
          <p:cNvPr id="11" name="Shape 9"/>
          <p:cNvSpPr/>
          <p:nvPr/>
        </p:nvSpPr>
        <p:spPr>
          <a:xfrm>
            <a:off x="4142232" y="3063240"/>
            <a:ext cx="768096" cy="768096"/>
          </a:xfrm>
          <a:prstGeom prst="ellipse">
            <a:avLst/>
          </a:prstGeom>
          <a:solidFill>
            <a:srgbClr val="B8842B"/>
          </a:solidFill>
          <a:ln/>
        </p:spPr>
      </p:sp>
      <p:sp>
        <p:nvSpPr>
          <p:cNvPr id="12" name="Text 10"/>
          <p:cNvSpPr/>
          <p:nvPr/>
        </p:nvSpPr>
        <p:spPr>
          <a:xfrm>
            <a:off x="4142232" y="3063240"/>
            <a:ext cx="768096" cy="768096"/>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s₂</a:t>
            </a:r>
            <a:endParaRPr lang="en-US" sz="1500" dirty="0"/>
          </a:p>
        </p:txBody>
      </p:sp>
      <p:sp>
        <p:nvSpPr>
          <p:cNvPr id="13" name="Shape 11"/>
          <p:cNvSpPr/>
          <p:nvPr/>
        </p:nvSpPr>
        <p:spPr>
          <a:xfrm>
            <a:off x="1572768" y="3337560"/>
            <a:ext cx="777240" cy="219456"/>
          </a:xfrm>
          <a:prstGeom prst="rightArrow">
            <a:avLst/>
          </a:prstGeom>
          <a:solidFill>
            <a:srgbClr val="E3B857"/>
          </a:solidFill>
          <a:ln/>
        </p:spPr>
      </p:sp>
      <p:sp>
        <p:nvSpPr>
          <p:cNvPr id="14" name="Shape 12"/>
          <p:cNvSpPr/>
          <p:nvPr/>
        </p:nvSpPr>
        <p:spPr>
          <a:xfrm>
            <a:off x="3310128" y="3337560"/>
            <a:ext cx="777240" cy="219456"/>
          </a:xfrm>
          <a:prstGeom prst="rightArrow">
            <a:avLst/>
          </a:prstGeom>
          <a:solidFill>
            <a:srgbClr val="E3B857"/>
          </a:solidFill>
          <a:ln/>
        </p:spPr>
      </p:sp>
      <p:sp>
        <p:nvSpPr>
          <p:cNvPr id="15" name="Text 13"/>
          <p:cNvSpPr/>
          <p:nvPr/>
        </p:nvSpPr>
        <p:spPr>
          <a:xfrm>
            <a:off x="5074920" y="3200400"/>
            <a:ext cx="1280160" cy="548640"/>
          </a:xfrm>
          <a:prstGeom prst="rect">
            <a:avLst/>
          </a:prstGeom>
          <a:noFill/>
          <a:ln/>
        </p:spPr>
        <p:txBody>
          <a:bodyPr wrap="square" rtlCol="0" anchor="ctr"/>
          <a:lstStyle/>
          <a:p>
            <a:pPr indent="0" marL="0">
              <a:buNone/>
            </a:pPr>
            <a:r>
              <a:rPr lang="en-US" sz="2600" b="1" dirty="0">
                <a:solidFill>
                  <a:srgbClr val="A7ACD0"/>
                </a:solidFill>
                <a:latin typeface="Cambria" pitchFamily="34" charset="0"/>
                <a:ea typeface="Cambria" pitchFamily="34" charset="-122"/>
                <a:cs typeface="Cambria" pitchFamily="34" charset="-120"/>
              </a:rPr>
              <a:t>…</a:t>
            </a:r>
            <a:endParaRPr lang="en-US" sz="2600" dirty="0"/>
          </a:p>
        </p:txBody>
      </p:sp>
      <p:sp>
        <p:nvSpPr>
          <p:cNvPr id="16" name="Text 14"/>
          <p:cNvSpPr/>
          <p:nvPr/>
        </p:nvSpPr>
        <p:spPr>
          <a:xfrm>
            <a:off x="749808" y="4023360"/>
            <a:ext cx="5577840" cy="914400"/>
          </a:xfrm>
          <a:prstGeom prst="rect">
            <a:avLst/>
          </a:prstGeom>
          <a:noFill/>
          <a:ln/>
        </p:spPr>
        <p:txBody>
          <a:bodyPr wrap="square" rtlCol="0" anchor="t"/>
          <a:lstStyle/>
          <a:p>
            <a:pPr indent="0" marL="0">
              <a:lnSpc>
                <a:spcPct val="105000"/>
              </a:lnSpc>
              <a:buNone/>
            </a:pPr>
            <a:r>
              <a:rPr lang="en-US" sz="1100" dirty="0">
                <a:solidFill>
                  <a:srgbClr val="A7ACD0"/>
                </a:solidFill>
                <a:latin typeface="Calibri" pitchFamily="34" charset="0"/>
                <a:ea typeface="Calibri" pitchFamily="34" charset="-122"/>
                <a:cs typeface="Calibri" pitchFamily="34" charset="-120"/>
              </a:rPr>
              <a:t>each step emits conduct — the triad (effort → motion → result) and its couplings; in jeevan, via projection–reflection (paravartan–pratyavartan) through atma · buddhi · chitta · vritti · mun</a:t>
            </a:r>
            <a:endParaRPr lang="en-US" sz="1100" dirty="0"/>
          </a:p>
        </p:txBody>
      </p:sp>
      <p:sp>
        <p:nvSpPr>
          <p:cNvPr id="17" name="Text 15"/>
          <p:cNvSpPr/>
          <p:nvPr/>
        </p:nvSpPr>
        <p:spPr>
          <a:xfrm>
            <a:off x="749808" y="4956048"/>
            <a:ext cx="5577840" cy="274320"/>
          </a:xfrm>
          <a:prstGeom prst="rect">
            <a:avLst/>
          </a:prstGeom>
          <a:noFill/>
          <a:ln/>
        </p:spPr>
        <p:txBody>
          <a:bodyPr wrap="square" rtlCol="0" anchor="ctr"/>
          <a:lstStyle/>
          <a:p>
            <a:pPr indent="0" marL="0">
              <a:buNone/>
            </a:pPr>
            <a:r>
              <a:rPr lang="en-US" sz="1050" i="1" dirty="0">
                <a:solidFill>
                  <a:srgbClr val="E3B857"/>
                </a:solidFill>
                <a:latin typeface="Calibri" pitchFamily="34" charset="0"/>
                <a:ea typeface="Calibri" pitchFamily="34" charset="-122"/>
                <a:cs typeface="Calibri" pitchFamily="34" charset="-120"/>
              </a:rPr>
              <a:t>… the unfolding never terminates in a “final” object</a:t>
            </a:r>
            <a:endParaRPr lang="en-US" sz="1050" dirty="0"/>
          </a:p>
        </p:txBody>
      </p:sp>
      <p:sp>
        <p:nvSpPr>
          <p:cNvPr id="18" name="Shape 16"/>
          <p:cNvSpPr/>
          <p:nvPr/>
        </p:nvSpPr>
        <p:spPr>
          <a:xfrm>
            <a:off x="6693408" y="2240280"/>
            <a:ext cx="4946904" cy="3063240"/>
          </a:xfrm>
          <a:prstGeom prst="roundRect">
            <a:avLst>
              <a:gd name="adj" fmla="val 2090"/>
            </a:avLst>
          </a:prstGeom>
          <a:solidFill>
            <a:srgbClr val="F5F6FB"/>
          </a:solidFill>
          <a:ln w="19050">
            <a:solidFill>
              <a:srgbClr val="B8842B"/>
            </a:solidFill>
            <a:prstDash val="solid"/>
          </a:ln>
        </p:spPr>
      </p:sp>
      <p:sp>
        <p:nvSpPr>
          <p:cNvPr id="19" name="Text 17"/>
          <p:cNvSpPr/>
          <p:nvPr/>
        </p:nvSpPr>
        <p:spPr>
          <a:xfrm>
            <a:off x="6894576" y="2359152"/>
            <a:ext cx="4572000" cy="365760"/>
          </a:xfrm>
          <a:prstGeom prst="rect">
            <a:avLst/>
          </a:prstGeom>
          <a:noFill/>
          <a:ln/>
        </p:spPr>
        <p:txBody>
          <a:bodyPr wrap="square" rtlCol="0" anchor="ctr"/>
          <a:lstStyle/>
          <a:p>
            <a:pPr indent="0" marL="0">
              <a:buNone/>
            </a:pPr>
            <a:r>
              <a:rPr lang="en-US" sz="1500" b="1" dirty="0">
                <a:solidFill>
                  <a:srgbClr val="B8842B"/>
                </a:solidFill>
                <a:latin typeface="Cambria" pitchFamily="34" charset="0"/>
                <a:ea typeface="Cambria" pitchFamily="34" charset="-122"/>
                <a:cs typeface="Cambria" pitchFamily="34" charset="-120"/>
              </a:rPr>
              <a:t>The carrier exceeds its behaviour</a:t>
            </a:r>
            <a:endParaRPr lang="en-US" sz="1500" dirty="0"/>
          </a:p>
        </p:txBody>
      </p:sp>
      <p:sp>
        <p:nvSpPr>
          <p:cNvPr id="20" name="Shape 18"/>
          <p:cNvSpPr/>
          <p:nvPr/>
        </p:nvSpPr>
        <p:spPr>
          <a:xfrm>
            <a:off x="6931152" y="2843784"/>
            <a:ext cx="118872" cy="118872"/>
          </a:xfrm>
          <a:prstGeom prst="ellipse">
            <a:avLst/>
          </a:prstGeom>
          <a:solidFill>
            <a:srgbClr val="B8842B"/>
          </a:solidFill>
          <a:ln/>
        </p:spPr>
      </p:sp>
      <p:sp>
        <p:nvSpPr>
          <p:cNvPr id="21" name="Text 19"/>
          <p:cNvSpPr/>
          <p:nvPr/>
        </p:nvSpPr>
        <p:spPr>
          <a:xfrm>
            <a:off x="7168896" y="2752344"/>
            <a:ext cx="4343400" cy="292608"/>
          </a:xfrm>
          <a:prstGeom prst="rect">
            <a:avLst/>
          </a:prstGeom>
          <a:noFill/>
          <a:ln/>
        </p:spPr>
        <p:txBody>
          <a:bodyPr wrap="square" rtlCol="0" anchor="ctr"/>
          <a:lstStyle/>
          <a:p>
            <a:pPr indent="0" marL="0">
              <a:buNone/>
            </a:pPr>
            <a:r>
              <a:rPr lang="en-US" sz="1200" b="1" dirty="0">
                <a:solidFill>
                  <a:srgbClr val="16183D"/>
                </a:solidFill>
                <a:latin typeface="Calibri" pitchFamily="34" charset="0"/>
                <a:ea typeface="Calibri" pitchFamily="34" charset="-122"/>
                <a:cs typeface="Calibri" pitchFamily="34" charset="-120"/>
              </a:rPr>
              <a:t>The model refuses the “final coalgebra.”</a:t>
            </a:r>
            <a:endParaRPr lang="en-US" sz="1200" dirty="0"/>
          </a:p>
        </p:txBody>
      </p:sp>
      <p:sp>
        <p:nvSpPr>
          <p:cNvPr id="22" name="Text 20"/>
          <p:cNvSpPr/>
          <p:nvPr/>
        </p:nvSpPr>
        <p:spPr>
          <a:xfrm>
            <a:off x="7168896" y="3044952"/>
            <a:ext cx="4315968" cy="566928"/>
          </a:xfrm>
          <a:prstGeom prst="rect">
            <a:avLst/>
          </a:prstGeom>
          <a:noFill/>
          <a:ln/>
        </p:spPr>
        <p:txBody>
          <a:bodyPr wrap="square" rtlCol="0" anchor="t"/>
          <a:lstStyle/>
          <a:p>
            <a:pPr indent="0" marL="0">
              <a:lnSpc>
                <a:spcPct val="98000"/>
              </a:lnSpc>
              <a:buNone/>
            </a:pPr>
            <a:r>
              <a:rPr lang="en-US" sz="1050" dirty="0">
                <a:solidFill>
                  <a:srgbClr val="202340"/>
                </a:solidFill>
                <a:latin typeface="Calibri" pitchFamily="34" charset="0"/>
                <a:ea typeface="Calibri" pitchFamily="34" charset="-122"/>
                <a:cs typeface="Calibri" pitchFamily="34" charset="-120"/>
              </a:rPr>
              <a:t>No amount of observed conduct is ever allowed to BECOME the unit. The carrier stays prior to, and larger than, its behaviour-stream.</a:t>
            </a:r>
            <a:endParaRPr lang="en-US" sz="1050" dirty="0"/>
          </a:p>
        </p:txBody>
      </p:sp>
      <p:sp>
        <p:nvSpPr>
          <p:cNvPr id="23" name="Shape 21"/>
          <p:cNvSpPr/>
          <p:nvPr/>
        </p:nvSpPr>
        <p:spPr>
          <a:xfrm>
            <a:off x="6931152" y="3703320"/>
            <a:ext cx="118872" cy="118872"/>
          </a:xfrm>
          <a:prstGeom prst="ellipse">
            <a:avLst/>
          </a:prstGeom>
          <a:solidFill>
            <a:srgbClr val="B8842B"/>
          </a:solidFill>
          <a:ln/>
        </p:spPr>
      </p:sp>
      <p:sp>
        <p:nvSpPr>
          <p:cNvPr id="24" name="Text 22"/>
          <p:cNvSpPr/>
          <p:nvPr/>
        </p:nvSpPr>
        <p:spPr>
          <a:xfrm>
            <a:off x="7168896" y="3611880"/>
            <a:ext cx="4343400" cy="292608"/>
          </a:xfrm>
          <a:prstGeom prst="rect">
            <a:avLst/>
          </a:prstGeom>
          <a:noFill/>
          <a:ln/>
        </p:spPr>
        <p:txBody>
          <a:bodyPr wrap="square" rtlCol="0" anchor="ctr"/>
          <a:lstStyle/>
          <a:p>
            <a:pPr indent="0" marL="0">
              <a:buNone/>
            </a:pPr>
            <a:r>
              <a:rPr lang="en-US" sz="1200" b="1" dirty="0">
                <a:solidFill>
                  <a:srgbClr val="16183D"/>
                </a:solidFill>
                <a:latin typeface="Calibri" pitchFamily="34" charset="0"/>
                <a:ea typeface="Calibri" pitchFamily="34" charset="-122"/>
                <a:cs typeface="Calibri" pitchFamily="34" charset="-120"/>
              </a:rPr>
              <a:t>So jeevan stays a real ikai.</a:t>
            </a:r>
            <a:endParaRPr lang="en-US" sz="1200" dirty="0"/>
          </a:p>
        </p:txBody>
      </p:sp>
      <p:sp>
        <p:nvSpPr>
          <p:cNvPr id="25" name="Text 23"/>
          <p:cNvSpPr/>
          <p:nvPr/>
        </p:nvSpPr>
        <p:spPr>
          <a:xfrm>
            <a:off x="7168896" y="3904488"/>
            <a:ext cx="4315968" cy="566928"/>
          </a:xfrm>
          <a:prstGeom prst="rect">
            <a:avLst/>
          </a:prstGeom>
          <a:noFill/>
          <a:ln/>
        </p:spPr>
        <p:txBody>
          <a:bodyPr wrap="square" rtlCol="0" anchor="t"/>
          <a:lstStyle/>
          <a:p>
            <a:pPr indent="0" marL="0">
              <a:lnSpc>
                <a:spcPct val="98000"/>
              </a:lnSpc>
              <a:buNone/>
            </a:pPr>
            <a:r>
              <a:rPr lang="en-US" sz="1050" dirty="0">
                <a:solidFill>
                  <a:srgbClr val="202340"/>
                </a:solidFill>
                <a:latin typeface="Calibri" pitchFamily="34" charset="0"/>
                <a:ea typeface="Calibri" pitchFamily="34" charset="-122"/>
                <a:cs typeface="Calibri" pitchFamily="34" charset="-120"/>
              </a:rPr>
              <a:t>A substantial gathanpurna parmanu, co-eternal — not the sum of its aachran, not a function of the body, not a role.</a:t>
            </a:r>
            <a:endParaRPr lang="en-US" sz="1050" dirty="0"/>
          </a:p>
        </p:txBody>
      </p:sp>
      <p:sp>
        <p:nvSpPr>
          <p:cNvPr id="26" name="Shape 24"/>
          <p:cNvSpPr/>
          <p:nvPr/>
        </p:nvSpPr>
        <p:spPr>
          <a:xfrm>
            <a:off x="6931152" y="4562856"/>
            <a:ext cx="118872" cy="118872"/>
          </a:xfrm>
          <a:prstGeom prst="ellipse">
            <a:avLst/>
          </a:prstGeom>
          <a:solidFill>
            <a:srgbClr val="B8842B"/>
          </a:solidFill>
          <a:ln/>
        </p:spPr>
      </p:sp>
      <p:sp>
        <p:nvSpPr>
          <p:cNvPr id="27" name="Text 25"/>
          <p:cNvSpPr/>
          <p:nvPr/>
        </p:nvSpPr>
        <p:spPr>
          <a:xfrm>
            <a:off x="7168896" y="4471416"/>
            <a:ext cx="4343400" cy="292608"/>
          </a:xfrm>
          <a:prstGeom prst="rect">
            <a:avLst/>
          </a:prstGeom>
          <a:noFill/>
          <a:ln/>
        </p:spPr>
        <p:txBody>
          <a:bodyPr wrap="square" rtlCol="0" anchor="ctr"/>
          <a:lstStyle/>
          <a:p>
            <a:pPr indent="0" marL="0">
              <a:buNone/>
            </a:pPr>
            <a:r>
              <a:rPr lang="en-US" sz="1200" b="1" dirty="0">
                <a:solidFill>
                  <a:srgbClr val="16183D"/>
                </a:solidFill>
                <a:latin typeface="Calibri" pitchFamily="34" charset="0"/>
                <a:ea typeface="Calibri" pitchFamily="34" charset="-122"/>
                <a:cs typeface="Calibri" pitchFamily="34" charset="-120"/>
              </a:rPr>
              <a:t>Behaviourism inverted.</a:t>
            </a:r>
            <a:endParaRPr lang="en-US" sz="1200" dirty="0"/>
          </a:p>
        </p:txBody>
      </p:sp>
      <p:sp>
        <p:nvSpPr>
          <p:cNvPr id="28" name="Text 26"/>
          <p:cNvSpPr/>
          <p:nvPr/>
        </p:nvSpPr>
        <p:spPr>
          <a:xfrm>
            <a:off x="7168896" y="4764024"/>
            <a:ext cx="4315968" cy="566928"/>
          </a:xfrm>
          <a:prstGeom prst="rect">
            <a:avLst/>
          </a:prstGeom>
          <a:noFill/>
          <a:ln/>
        </p:spPr>
        <p:txBody>
          <a:bodyPr wrap="square" rtlCol="0" anchor="t"/>
          <a:lstStyle/>
          <a:p>
            <a:pPr indent="0" marL="0">
              <a:lnSpc>
                <a:spcPct val="98000"/>
              </a:lnSpc>
              <a:buNone/>
            </a:pPr>
            <a:r>
              <a:rPr lang="en-US" sz="1050" dirty="0">
                <a:solidFill>
                  <a:srgbClr val="202340"/>
                </a:solidFill>
                <a:latin typeface="Calibri" pitchFamily="34" charset="0"/>
                <a:ea typeface="Calibri" pitchFamily="34" charset="-122"/>
                <a:cs typeface="Calibri" pitchFamily="34" charset="-120"/>
              </a:rPr>
              <a:t>“You are what you do” collapses carrier into behaviour. MD (and this reading) says: you HAVE conduct; you are not identical to it.</a:t>
            </a:r>
            <a:endParaRPr lang="en-US" sz="1050" dirty="0"/>
          </a:p>
        </p:txBody>
      </p:sp>
      <p:sp>
        <p:nvSpPr>
          <p:cNvPr id="29" name="Shape 27"/>
          <p:cNvSpPr/>
          <p:nvPr/>
        </p:nvSpPr>
        <p:spPr>
          <a:xfrm>
            <a:off x="548640" y="5440680"/>
            <a:ext cx="11091672" cy="749808"/>
          </a:xfrm>
          <a:prstGeom prst="roundRect">
            <a:avLst>
              <a:gd name="adj" fmla="val 7317"/>
            </a:avLst>
          </a:prstGeom>
          <a:solidFill>
            <a:srgbClr val="F5F6FB"/>
          </a:solidFill>
          <a:ln w="12700">
            <a:solidFill>
              <a:srgbClr val="E1E3EF"/>
            </a:solidFill>
            <a:prstDash val="solid"/>
          </a:ln>
        </p:spPr>
      </p:sp>
      <p:sp>
        <p:nvSpPr>
          <p:cNvPr id="30" name="Text 28"/>
          <p:cNvSpPr/>
          <p:nvPr/>
        </p:nvSpPr>
        <p:spPr>
          <a:xfrm>
            <a:off x="777240" y="5513832"/>
            <a:ext cx="10607040" cy="603504"/>
          </a:xfrm>
          <a:prstGeom prst="rect">
            <a:avLst/>
          </a:prstGeom>
          <a:noFill/>
          <a:ln/>
        </p:spPr>
        <p:txBody>
          <a:bodyPr wrap="square" rtlCol="0" anchor="ctr"/>
          <a:lstStyle/>
          <a:p>
            <a:pPr indent="0" marL="0">
              <a:lnSpc>
                <a:spcPct val="102000"/>
              </a:lnSpc>
              <a:buNone/>
            </a:pPr>
            <a:r>
              <a:rPr lang="en-US" sz="1200" b="1" dirty="0">
                <a:solidFill>
                  <a:srgbClr val="16183D"/>
                </a:solidFill>
                <a:latin typeface="Calibri" pitchFamily="34" charset="0"/>
                <a:ea typeface="Calibri" pitchFamily="34" charset="-122"/>
                <a:cs typeface="Calibri" pitchFamily="34" charset="-120"/>
              </a:rPr>
              <a:t>Two directions, one substance:  </a:t>
            </a:r>
            <a:pPr indent="0" marL="0">
              <a:lnSpc>
                <a:spcPct val="102000"/>
              </a:lnSpc>
              <a:buNone/>
            </a:pPr>
            <a:r>
              <a:rPr lang="en-US" sz="1200" dirty="0">
                <a:solidFill>
                  <a:srgbClr val="202340"/>
                </a:solidFill>
                <a:latin typeface="Calibri" pitchFamily="34" charset="0"/>
                <a:ea typeface="Calibri" pitchFamily="34" charset="-122"/>
                <a:cs typeface="Calibri" pitchFamily="34" charset="-120"/>
              </a:rPr>
              <a:t>algebra builds the unit UP (how it was composed) · coalgebra lets it live its conduct DOWNWARD (how it behaves) — and </a:t>
            </a:r>
            <a:pPr indent="0" marL="0">
              <a:lnSpc>
                <a:spcPct val="102000"/>
              </a:lnSpc>
              <a:buNone/>
            </a:pPr>
            <a:r>
              <a:rPr lang="en-US" sz="1200" b="1" dirty="0">
                <a:solidFill>
                  <a:srgbClr val="B8842B"/>
                </a:solidFill>
                <a:latin typeface="Calibri" pitchFamily="34" charset="0"/>
                <a:ea typeface="Calibri" pitchFamily="34" charset="-122"/>
                <a:cs typeface="Calibri" pitchFamily="34" charset="-120"/>
              </a:rPr>
              <a:t>neither reduces the ikai</a:t>
            </a:r>
            <a:pPr indent="0" marL="0">
              <a:lnSpc>
                <a:spcPct val="102000"/>
              </a:lnSpc>
              <a:buNone/>
            </a:pPr>
            <a:r>
              <a:rPr lang="en-US" sz="1200" dirty="0">
                <a:solidFill>
                  <a:srgbClr val="202340"/>
                </a:solidFill>
                <a:latin typeface="Calibri" pitchFamily="34" charset="0"/>
                <a:ea typeface="Calibri" pitchFamily="34" charset="-122"/>
                <a:cs typeface="Calibri" pitchFamily="34" charset="-120"/>
              </a:rPr>
              <a:t>. A1 grounds that the behaviour exists and is lawful; O stays actionless, contributing no term.</a:t>
            </a:r>
            <a:endParaRPr lang="en-US" sz="1200" dirty="0"/>
          </a:p>
        </p:txBody>
      </p:sp>
      <p:sp>
        <p:nvSpPr>
          <p:cNvPr id="31" name="Text 29"/>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17</a:t>
            </a:r>
            <a:endParaRPr lang="en-US" sz="900" dirty="0"/>
          </a:p>
        </p:txBody>
      </p:sp>
      <p:sp>
        <p:nvSpPr>
          <p:cNvPr id="32" name="Text 30"/>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Coalgebra in action — unfolding</a:t>
            </a:r>
            <a:endParaRPr lang="en-US" sz="900" dirty="0"/>
          </a:p>
        </p:txBody>
      </p:sp>
      <p:sp>
        <p:nvSpPr>
          <p:cNvPr id="33" name="Text 31"/>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III · ORDERS &amp; THE REGULATION LADDER</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Four orders — one law, four conformance regimes</a:t>
            </a:r>
            <a:endParaRPr lang="en-US" sz="2900" dirty="0"/>
          </a:p>
        </p:txBody>
      </p:sp>
      <p:sp>
        <p:nvSpPr>
          <p:cNvPr id="4" name="Text 2"/>
          <p:cNvSpPr/>
          <p:nvPr/>
        </p:nvSpPr>
        <p:spPr>
          <a:xfrm>
            <a:off x="548640" y="1536192"/>
            <a:ext cx="11091672" cy="594360"/>
          </a:xfrm>
          <a:prstGeom prst="rect">
            <a:avLst/>
          </a:prstGeom>
          <a:noFill/>
          <a:ln/>
        </p:spPr>
        <p:txBody>
          <a:bodyPr wrap="square" rtlCol="0" anchor="t"/>
          <a:lstStyle/>
          <a:p>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Each unit carries a </a:t>
            </a:r>
            <a:pPr indent="0" marL="0">
              <a:lnSpc>
                <a:spcPct val="103000"/>
              </a:lnSpc>
              <a:buNone/>
            </a:pPr>
            <a:r>
              <a:rPr lang="en-US" sz="1500" b="1" dirty="0">
                <a:solidFill>
                  <a:srgbClr val="B8842B"/>
                </a:solidFill>
                <a:latin typeface="Calibri" pitchFamily="34" charset="0"/>
                <a:ea typeface="Calibri" pitchFamily="34" charset="-122"/>
                <a:cs typeface="Calibri" pitchFamily="34" charset="-120"/>
              </a:rPr>
              <a:t>signature</a:t>
            </a:r>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 — form (roop), properties (gun), essential nature (svabhav), dharma — minted fresh at each tier. The four orders differ in </a:t>
            </a:r>
            <a:pPr indent="0" marL="0">
              <a:lnSpc>
                <a:spcPct val="103000"/>
              </a:lnSpc>
              <a:buNone/>
            </a:pPr>
            <a:r>
              <a:rPr lang="en-US" sz="1500" i="1" dirty="0">
                <a:solidFill>
                  <a:srgbClr val="16183D"/>
                </a:solidFill>
                <a:latin typeface="Calibri" pitchFamily="34" charset="0"/>
                <a:ea typeface="Calibri" pitchFamily="34" charset="-122"/>
                <a:cs typeface="Calibri" pitchFamily="34" charset="-120"/>
              </a:rPr>
              <a:t>how a unit's method survives</a:t>
            </a:r>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a:t>
            </a:r>
            <a:endParaRPr lang="en-US" sz="1500" dirty="0"/>
          </a:p>
        </p:txBody>
      </p:sp>
      <p:sp>
        <p:nvSpPr>
          <p:cNvPr id="5" name="Shape 3"/>
          <p:cNvSpPr/>
          <p:nvPr/>
        </p:nvSpPr>
        <p:spPr>
          <a:xfrm>
            <a:off x="548640" y="2286000"/>
            <a:ext cx="2286000" cy="457200"/>
          </a:xfrm>
          <a:prstGeom prst="rect">
            <a:avLst/>
          </a:prstGeom>
          <a:solidFill>
            <a:srgbClr val="16183D"/>
          </a:solidFill>
          <a:ln w="9525">
            <a:solidFill>
              <a:srgbClr val="E1E3EF"/>
            </a:solidFill>
            <a:prstDash val="solid"/>
          </a:ln>
        </p:spPr>
      </p:sp>
      <p:sp>
        <p:nvSpPr>
          <p:cNvPr id="6" name="Text 4"/>
          <p:cNvSpPr/>
          <p:nvPr/>
        </p:nvSpPr>
        <p:spPr>
          <a:xfrm>
            <a:off x="676656" y="2286000"/>
            <a:ext cx="2066544" cy="457200"/>
          </a:xfrm>
          <a:prstGeom prst="rect">
            <a:avLst/>
          </a:prstGeom>
          <a:noFill/>
          <a:ln/>
        </p:spPr>
        <p:txBody>
          <a:bodyPr wrap="square" rtlCol="0" anchor="ctr"/>
          <a:lstStyle/>
          <a:p>
            <a:pPr algn="l" indent="0" marL="0">
              <a:buNone/>
            </a:pPr>
            <a:r>
              <a:rPr lang="en-US" sz="1100" b="1" spc="150" kern="0" dirty="0">
                <a:solidFill>
                  <a:srgbClr val="F2EEE3"/>
                </a:solidFill>
                <a:latin typeface="Calibri" pitchFamily="34" charset="0"/>
                <a:ea typeface="Calibri" pitchFamily="34" charset="-122"/>
                <a:cs typeface="Calibri" pitchFamily="34" charset="-120"/>
              </a:rPr>
              <a:t>ORDER</a:t>
            </a:r>
            <a:endParaRPr lang="en-US" sz="1100" dirty="0"/>
          </a:p>
        </p:txBody>
      </p:sp>
      <p:sp>
        <p:nvSpPr>
          <p:cNvPr id="7" name="Shape 5"/>
          <p:cNvSpPr/>
          <p:nvPr/>
        </p:nvSpPr>
        <p:spPr>
          <a:xfrm>
            <a:off x="2834640" y="2286000"/>
            <a:ext cx="3931920" cy="457200"/>
          </a:xfrm>
          <a:prstGeom prst="rect">
            <a:avLst/>
          </a:prstGeom>
          <a:solidFill>
            <a:srgbClr val="16183D"/>
          </a:solidFill>
          <a:ln w="9525">
            <a:solidFill>
              <a:srgbClr val="E1E3EF"/>
            </a:solidFill>
            <a:prstDash val="solid"/>
          </a:ln>
        </p:spPr>
      </p:sp>
      <p:sp>
        <p:nvSpPr>
          <p:cNvPr id="8" name="Text 6"/>
          <p:cNvSpPr/>
          <p:nvPr/>
        </p:nvSpPr>
        <p:spPr>
          <a:xfrm>
            <a:off x="2962656" y="2286000"/>
            <a:ext cx="3712464" cy="457200"/>
          </a:xfrm>
          <a:prstGeom prst="rect">
            <a:avLst/>
          </a:prstGeom>
          <a:noFill/>
          <a:ln/>
        </p:spPr>
        <p:txBody>
          <a:bodyPr wrap="square" rtlCol="0" anchor="ctr"/>
          <a:lstStyle/>
          <a:p>
            <a:pPr algn="l" indent="0" marL="0">
              <a:buNone/>
            </a:pPr>
            <a:r>
              <a:rPr lang="en-US" sz="1100" b="1" spc="150" kern="0" dirty="0">
                <a:solidFill>
                  <a:srgbClr val="F2EEE3"/>
                </a:solidFill>
                <a:latin typeface="Calibri" pitchFamily="34" charset="0"/>
                <a:ea typeface="Calibri" pitchFamily="34" charset="-122"/>
                <a:cs typeface="Calibri" pitchFamily="34" charset="-120"/>
              </a:rPr>
              <a:t>ADDED CAPABILITY</a:t>
            </a:r>
            <a:endParaRPr lang="en-US" sz="1100" dirty="0"/>
          </a:p>
        </p:txBody>
      </p:sp>
      <p:sp>
        <p:nvSpPr>
          <p:cNvPr id="9" name="Shape 7"/>
          <p:cNvSpPr/>
          <p:nvPr/>
        </p:nvSpPr>
        <p:spPr>
          <a:xfrm>
            <a:off x="6766560" y="2286000"/>
            <a:ext cx="3291840" cy="457200"/>
          </a:xfrm>
          <a:prstGeom prst="rect">
            <a:avLst/>
          </a:prstGeom>
          <a:solidFill>
            <a:srgbClr val="16183D"/>
          </a:solidFill>
          <a:ln w="9525">
            <a:solidFill>
              <a:srgbClr val="E1E3EF"/>
            </a:solidFill>
            <a:prstDash val="solid"/>
          </a:ln>
        </p:spPr>
      </p:sp>
      <p:sp>
        <p:nvSpPr>
          <p:cNvPr id="10" name="Text 8"/>
          <p:cNvSpPr/>
          <p:nvPr/>
        </p:nvSpPr>
        <p:spPr>
          <a:xfrm>
            <a:off x="6894576" y="2286000"/>
            <a:ext cx="3072384" cy="457200"/>
          </a:xfrm>
          <a:prstGeom prst="rect">
            <a:avLst/>
          </a:prstGeom>
          <a:noFill/>
          <a:ln/>
        </p:spPr>
        <p:txBody>
          <a:bodyPr wrap="square" rtlCol="0" anchor="ctr"/>
          <a:lstStyle/>
          <a:p>
            <a:pPr algn="l" indent="0" marL="0">
              <a:buNone/>
            </a:pPr>
            <a:r>
              <a:rPr lang="en-US" sz="1100" b="1" spc="150" kern="0" dirty="0">
                <a:solidFill>
                  <a:srgbClr val="F2EEE3"/>
                </a:solidFill>
                <a:latin typeface="Calibri" pitchFamily="34" charset="0"/>
                <a:ea typeface="Calibri" pitchFamily="34" charset="-122"/>
                <a:cs typeface="Calibri" pitchFamily="34" charset="-120"/>
              </a:rPr>
              <a:t>REGULATION REGIME</a:t>
            </a:r>
            <a:endParaRPr lang="en-US" sz="1100" dirty="0"/>
          </a:p>
        </p:txBody>
      </p:sp>
      <p:sp>
        <p:nvSpPr>
          <p:cNvPr id="11" name="Shape 9"/>
          <p:cNvSpPr/>
          <p:nvPr/>
        </p:nvSpPr>
        <p:spPr>
          <a:xfrm>
            <a:off x="10058400" y="2286000"/>
            <a:ext cx="1581912" cy="457200"/>
          </a:xfrm>
          <a:prstGeom prst="rect">
            <a:avLst/>
          </a:prstGeom>
          <a:solidFill>
            <a:srgbClr val="16183D"/>
          </a:solidFill>
          <a:ln w="9525">
            <a:solidFill>
              <a:srgbClr val="E1E3EF"/>
            </a:solidFill>
            <a:prstDash val="solid"/>
          </a:ln>
        </p:spPr>
      </p:sp>
      <p:sp>
        <p:nvSpPr>
          <p:cNvPr id="12" name="Text 10"/>
          <p:cNvSpPr/>
          <p:nvPr/>
        </p:nvSpPr>
        <p:spPr>
          <a:xfrm>
            <a:off x="10186416" y="2286000"/>
            <a:ext cx="1362456" cy="457200"/>
          </a:xfrm>
          <a:prstGeom prst="rect">
            <a:avLst/>
          </a:prstGeom>
          <a:noFill/>
          <a:ln/>
        </p:spPr>
        <p:txBody>
          <a:bodyPr wrap="square" rtlCol="0" anchor="ctr"/>
          <a:lstStyle/>
          <a:p>
            <a:pPr algn="ctr" indent="0" marL="0">
              <a:buNone/>
            </a:pPr>
            <a:r>
              <a:rPr lang="en-US" sz="1100" b="1" spc="150" kern="0" dirty="0">
                <a:solidFill>
                  <a:srgbClr val="F2EEE3"/>
                </a:solidFill>
                <a:latin typeface="Calibri" pitchFamily="34" charset="0"/>
                <a:ea typeface="Calibri" pitchFamily="34" charset="-122"/>
                <a:cs typeface="Calibri" pitchFamily="34" charset="-120"/>
              </a:rPr>
              <a:t>MODE</a:t>
            </a:r>
            <a:endParaRPr lang="en-US" sz="1100" dirty="0"/>
          </a:p>
        </p:txBody>
      </p:sp>
      <p:sp>
        <p:nvSpPr>
          <p:cNvPr id="13" name="Shape 11"/>
          <p:cNvSpPr/>
          <p:nvPr/>
        </p:nvSpPr>
        <p:spPr>
          <a:xfrm>
            <a:off x="548640" y="2743200"/>
            <a:ext cx="2286000" cy="658368"/>
          </a:xfrm>
          <a:prstGeom prst="rect">
            <a:avLst/>
          </a:prstGeom>
          <a:solidFill>
            <a:srgbClr val="FFFFFF"/>
          </a:solidFill>
          <a:ln w="9525">
            <a:solidFill>
              <a:srgbClr val="E1E3EF"/>
            </a:solidFill>
            <a:prstDash val="solid"/>
          </a:ln>
        </p:spPr>
      </p:sp>
      <p:sp>
        <p:nvSpPr>
          <p:cNvPr id="14" name="Text 12"/>
          <p:cNvSpPr/>
          <p:nvPr/>
        </p:nvSpPr>
        <p:spPr>
          <a:xfrm>
            <a:off x="676656" y="2743200"/>
            <a:ext cx="2066544" cy="658368"/>
          </a:xfrm>
          <a:prstGeom prst="rect">
            <a:avLst/>
          </a:prstGeom>
          <a:noFill/>
          <a:ln/>
        </p:spPr>
        <p:txBody>
          <a:bodyPr wrap="square" rtlCol="0" anchor="ctr"/>
          <a:lstStyle/>
          <a:p>
            <a:pPr algn="l" indent="0" marL="0">
              <a:buNone/>
            </a:pPr>
            <a:r>
              <a:rPr lang="en-US" sz="1400" b="1" i="1" dirty="0">
                <a:solidFill>
                  <a:srgbClr val="16183D"/>
                </a:solidFill>
                <a:latin typeface="Cambria" pitchFamily="34" charset="0"/>
                <a:ea typeface="Cambria" pitchFamily="34" charset="-122"/>
                <a:cs typeface="Cambria" pitchFamily="34" charset="-120"/>
              </a:rPr>
              <a:t>Material</a:t>
            </a:r>
            <a:endParaRPr lang="en-US" sz="1400" dirty="0"/>
          </a:p>
        </p:txBody>
      </p:sp>
      <p:sp>
        <p:nvSpPr>
          <p:cNvPr id="15" name="Shape 13"/>
          <p:cNvSpPr/>
          <p:nvPr/>
        </p:nvSpPr>
        <p:spPr>
          <a:xfrm>
            <a:off x="2834640" y="2743200"/>
            <a:ext cx="3931920" cy="658368"/>
          </a:xfrm>
          <a:prstGeom prst="rect">
            <a:avLst/>
          </a:prstGeom>
          <a:solidFill>
            <a:srgbClr val="FFFFFF"/>
          </a:solidFill>
          <a:ln w="9525">
            <a:solidFill>
              <a:srgbClr val="E1E3EF"/>
            </a:solidFill>
            <a:prstDash val="solid"/>
          </a:ln>
        </p:spPr>
      </p:sp>
      <p:sp>
        <p:nvSpPr>
          <p:cNvPr id="16" name="Text 14"/>
          <p:cNvSpPr/>
          <p:nvPr/>
        </p:nvSpPr>
        <p:spPr>
          <a:xfrm>
            <a:off x="2962656" y="2743200"/>
            <a:ext cx="3712464" cy="658368"/>
          </a:xfrm>
          <a:prstGeom prst="rect">
            <a:avLst/>
          </a:prstGeom>
          <a:noFill/>
          <a:ln/>
        </p:spPr>
        <p:txBody>
          <a:bodyPr wrap="square" rtlCol="0" anchor="ctr"/>
          <a:lstStyle/>
          <a:p>
            <a:pPr algn="l" indent="0" marL="0">
              <a:buNone/>
            </a:pPr>
            <a:r>
              <a:rPr lang="en-US" sz="1250" dirty="0">
                <a:solidFill>
                  <a:srgbClr val="202340"/>
                </a:solidFill>
                <a:latin typeface="Calibri" pitchFamily="34" charset="0"/>
                <a:ea typeface="Calibri" pitchFamily="34" charset="-122"/>
                <a:cs typeface="Calibri" pitchFamily="34" charset="-120"/>
              </a:rPr>
              <a:t>recognising, fulfilling</a:t>
            </a:r>
            <a:endParaRPr lang="en-US" sz="1250" dirty="0"/>
          </a:p>
        </p:txBody>
      </p:sp>
      <p:sp>
        <p:nvSpPr>
          <p:cNvPr id="17" name="Shape 15"/>
          <p:cNvSpPr/>
          <p:nvPr/>
        </p:nvSpPr>
        <p:spPr>
          <a:xfrm>
            <a:off x="6766560" y="2743200"/>
            <a:ext cx="3291840" cy="658368"/>
          </a:xfrm>
          <a:prstGeom prst="rect">
            <a:avLst/>
          </a:prstGeom>
          <a:solidFill>
            <a:srgbClr val="FFFFFF"/>
          </a:solidFill>
          <a:ln w="9525">
            <a:solidFill>
              <a:srgbClr val="E1E3EF"/>
            </a:solidFill>
            <a:prstDash val="solid"/>
          </a:ln>
        </p:spPr>
      </p:sp>
      <p:sp>
        <p:nvSpPr>
          <p:cNvPr id="18" name="Text 16"/>
          <p:cNvSpPr/>
          <p:nvPr/>
        </p:nvSpPr>
        <p:spPr>
          <a:xfrm>
            <a:off x="6894576" y="2743200"/>
            <a:ext cx="3072384" cy="658368"/>
          </a:xfrm>
          <a:prstGeom prst="rect">
            <a:avLst/>
          </a:prstGeom>
          <a:noFill/>
          <a:ln/>
        </p:spPr>
        <p:txBody>
          <a:bodyPr wrap="square" rtlCol="0" anchor="ctr"/>
          <a:lstStyle/>
          <a:p>
            <a:pPr algn="l" indent="0" marL="0">
              <a:buNone/>
            </a:pPr>
            <a:r>
              <a:rPr lang="en-US" sz="1250" dirty="0">
                <a:solidFill>
                  <a:srgbClr val="202340"/>
                </a:solidFill>
                <a:latin typeface="Calibri" pitchFamily="34" charset="0"/>
                <a:ea typeface="Calibri" pitchFamily="34" charset="-122"/>
                <a:cs typeface="Calibri" pitchFamily="34" charset="-120"/>
              </a:rPr>
              <a:t>structural conformance</a:t>
            </a:r>
            <a:endParaRPr lang="en-US" sz="1250" dirty="0"/>
          </a:p>
        </p:txBody>
      </p:sp>
      <p:sp>
        <p:nvSpPr>
          <p:cNvPr id="19" name="Shape 17"/>
          <p:cNvSpPr/>
          <p:nvPr/>
        </p:nvSpPr>
        <p:spPr>
          <a:xfrm>
            <a:off x="10058400" y="2743200"/>
            <a:ext cx="1581912" cy="658368"/>
          </a:xfrm>
          <a:prstGeom prst="rect">
            <a:avLst/>
          </a:prstGeom>
          <a:solidFill>
            <a:srgbClr val="FFFFFF"/>
          </a:solidFill>
          <a:ln w="9525">
            <a:solidFill>
              <a:srgbClr val="E1E3EF"/>
            </a:solidFill>
            <a:prstDash val="solid"/>
          </a:ln>
        </p:spPr>
      </p:sp>
      <p:sp>
        <p:nvSpPr>
          <p:cNvPr id="20" name="Text 18"/>
          <p:cNvSpPr/>
          <p:nvPr/>
        </p:nvSpPr>
        <p:spPr>
          <a:xfrm>
            <a:off x="10186416" y="2743200"/>
            <a:ext cx="1362456" cy="658368"/>
          </a:xfrm>
          <a:prstGeom prst="rect">
            <a:avLst/>
          </a:prstGeom>
          <a:noFill/>
          <a:ln/>
        </p:spPr>
        <p:txBody>
          <a:bodyPr wrap="square" rtlCol="0" anchor="ctr"/>
          <a:lstStyle/>
          <a:p>
            <a:pPr algn="ctr" indent="0" marL="0">
              <a:buNone/>
            </a:pPr>
            <a:r>
              <a:rPr lang="en-US" sz="1250" dirty="0">
                <a:solidFill>
                  <a:srgbClr val="202340"/>
                </a:solidFill>
                <a:latin typeface="Calibri" pitchFamily="34" charset="0"/>
                <a:ea typeface="Calibri" pitchFamily="34" charset="-122"/>
                <a:cs typeface="Calibri" pitchFamily="34" charset="-120"/>
              </a:rPr>
              <a:t>definite</a:t>
            </a:r>
            <a:endParaRPr lang="en-US" sz="1250" dirty="0"/>
          </a:p>
        </p:txBody>
      </p:sp>
      <p:sp>
        <p:nvSpPr>
          <p:cNvPr id="21" name="Shape 19"/>
          <p:cNvSpPr/>
          <p:nvPr/>
        </p:nvSpPr>
        <p:spPr>
          <a:xfrm>
            <a:off x="548640" y="3401568"/>
            <a:ext cx="2286000" cy="658368"/>
          </a:xfrm>
          <a:prstGeom prst="rect">
            <a:avLst/>
          </a:prstGeom>
          <a:solidFill>
            <a:srgbClr val="EEF0F8"/>
          </a:solidFill>
          <a:ln w="9525">
            <a:solidFill>
              <a:srgbClr val="E1E3EF"/>
            </a:solidFill>
            <a:prstDash val="solid"/>
          </a:ln>
        </p:spPr>
      </p:sp>
      <p:sp>
        <p:nvSpPr>
          <p:cNvPr id="22" name="Text 20"/>
          <p:cNvSpPr/>
          <p:nvPr/>
        </p:nvSpPr>
        <p:spPr>
          <a:xfrm>
            <a:off x="676656" y="3401568"/>
            <a:ext cx="2066544" cy="658368"/>
          </a:xfrm>
          <a:prstGeom prst="rect">
            <a:avLst/>
          </a:prstGeom>
          <a:noFill/>
          <a:ln/>
        </p:spPr>
        <p:txBody>
          <a:bodyPr wrap="square" rtlCol="0" anchor="ctr"/>
          <a:lstStyle/>
          <a:p>
            <a:pPr algn="l" indent="0" marL="0">
              <a:buNone/>
            </a:pPr>
            <a:r>
              <a:rPr lang="en-US" sz="1400" b="1" i="1" dirty="0">
                <a:solidFill>
                  <a:srgbClr val="16183D"/>
                </a:solidFill>
                <a:latin typeface="Cambria" pitchFamily="34" charset="0"/>
                <a:ea typeface="Cambria" pitchFamily="34" charset="-122"/>
                <a:cs typeface="Cambria" pitchFamily="34" charset="-120"/>
              </a:rPr>
              <a:t>Pranic / bio</a:t>
            </a:r>
            <a:endParaRPr lang="en-US" sz="1400" dirty="0"/>
          </a:p>
        </p:txBody>
      </p:sp>
      <p:sp>
        <p:nvSpPr>
          <p:cNvPr id="23" name="Shape 21"/>
          <p:cNvSpPr/>
          <p:nvPr/>
        </p:nvSpPr>
        <p:spPr>
          <a:xfrm>
            <a:off x="2834640" y="3401568"/>
            <a:ext cx="3931920" cy="658368"/>
          </a:xfrm>
          <a:prstGeom prst="rect">
            <a:avLst/>
          </a:prstGeom>
          <a:solidFill>
            <a:srgbClr val="EEF0F8"/>
          </a:solidFill>
          <a:ln w="9525">
            <a:solidFill>
              <a:srgbClr val="E1E3EF"/>
            </a:solidFill>
            <a:prstDash val="solid"/>
          </a:ln>
        </p:spPr>
      </p:sp>
      <p:sp>
        <p:nvSpPr>
          <p:cNvPr id="24" name="Text 22"/>
          <p:cNvSpPr/>
          <p:nvPr/>
        </p:nvSpPr>
        <p:spPr>
          <a:xfrm>
            <a:off x="2962656" y="3401568"/>
            <a:ext cx="3712464" cy="658368"/>
          </a:xfrm>
          <a:prstGeom prst="rect">
            <a:avLst/>
          </a:prstGeom>
          <a:noFill/>
          <a:ln/>
        </p:spPr>
        <p:txBody>
          <a:bodyPr wrap="square" rtlCol="0" anchor="ctr"/>
          <a:lstStyle/>
          <a:p>
            <a:pPr algn="l" indent="0" marL="0">
              <a:buNone/>
            </a:pPr>
            <a:r>
              <a:rPr lang="en-US" sz="1250" dirty="0">
                <a:solidFill>
                  <a:srgbClr val="202340"/>
                </a:solidFill>
                <a:latin typeface="Calibri" pitchFamily="34" charset="0"/>
                <a:ea typeface="Calibri" pitchFamily="34" charset="-122"/>
                <a:cs typeface="Calibri" pitchFamily="34" charset="-120"/>
              </a:rPr>
              <a:t>+ selection</a:t>
            </a:r>
            <a:endParaRPr lang="en-US" sz="1250" dirty="0"/>
          </a:p>
        </p:txBody>
      </p:sp>
      <p:sp>
        <p:nvSpPr>
          <p:cNvPr id="25" name="Shape 23"/>
          <p:cNvSpPr/>
          <p:nvPr/>
        </p:nvSpPr>
        <p:spPr>
          <a:xfrm>
            <a:off x="6766560" y="3401568"/>
            <a:ext cx="3291840" cy="658368"/>
          </a:xfrm>
          <a:prstGeom prst="rect">
            <a:avLst/>
          </a:prstGeom>
          <a:solidFill>
            <a:srgbClr val="EEF0F8"/>
          </a:solidFill>
          <a:ln w="9525">
            <a:solidFill>
              <a:srgbClr val="E1E3EF"/>
            </a:solidFill>
            <a:prstDash val="solid"/>
          </a:ln>
        </p:spPr>
      </p:sp>
      <p:sp>
        <p:nvSpPr>
          <p:cNvPr id="26" name="Text 24"/>
          <p:cNvSpPr/>
          <p:nvPr/>
        </p:nvSpPr>
        <p:spPr>
          <a:xfrm>
            <a:off x="6894576" y="3401568"/>
            <a:ext cx="3072384" cy="658368"/>
          </a:xfrm>
          <a:prstGeom prst="rect">
            <a:avLst/>
          </a:prstGeom>
          <a:noFill/>
          <a:ln/>
        </p:spPr>
        <p:txBody>
          <a:bodyPr wrap="square" rtlCol="0" anchor="ctr"/>
          <a:lstStyle/>
          <a:p>
            <a:pPr algn="l" indent="0" marL="0">
              <a:buNone/>
            </a:pPr>
            <a:r>
              <a:rPr lang="en-US" sz="1250" dirty="0">
                <a:solidFill>
                  <a:srgbClr val="202340"/>
                </a:solidFill>
                <a:latin typeface="Calibri" pitchFamily="34" charset="0"/>
                <a:ea typeface="Calibri" pitchFamily="34" charset="-122"/>
                <a:cs typeface="Calibri" pitchFamily="34" charset="-120"/>
              </a:rPr>
              <a:t>seed conformance (beej)</a:t>
            </a:r>
            <a:endParaRPr lang="en-US" sz="1250" dirty="0"/>
          </a:p>
        </p:txBody>
      </p:sp>
      <p:sp>
        <p:nvSpPr>
          <p:cNvPr id="27" name="Shape 25"/>
          <p:cNvSpPr/>
          <p:nvPr/>
        </p:nvSpPr>
        <p:spPr>
          <a:xfrm>
            <a:off x="10058400" y="3401568"/>
            <a:ext cx="1581912" cy="658368"/>
          </a:xfrm>
          <a:prstGeom prst="rect">
            <a:avLst/>
          </a:prstGeom>
          <a:solidFill>
            <a:srgbClr val="EEF0F8"/>
          </a:solidFill>
          <a:ln w="9525">
            <a:solidFill>
              <a:srgbClr val="E1E3EF"/>
            </a:solidFill>
            <a:prstDash val="solid"/>
          </a:ln>
        </p:spPr>
      </p:sp>
      <p:sp>
        <p:nvSpPr>
          <p:cNvPr id="28" name="Text 26"/>
          <p:cNvSpPr/>
          <p:nvPr/>
        </p:nvSpPr>
        <p:spPr>
          <a:xfrm>
            <a:off x="10186416" y="3401568"/>
            <a:ext cx="1362456" cy="658368"/>
          </a:xfrm>
          <a:prstGeom prst="rect">
            <a:avLst/>
          </a:prstGeom>
          <a:noFill/>
          <a:ln/>
        </p:spPr>
        <p:txBody>
          <a:bodyPr wrap="square" rtlCol="0" anchor="ctr"/>
          <a:lstStyle/>
          <a:p>
            <a:pPr algn="ctr" indent="0" marL="0">
              <a:buNone/>
            </a:pPr>
            <a:r>
              <a:rPr lang="en-US" sz="1250" dirty="0">
                <a:solidFill>
                  <a:srgbClr val="202340"/>
                </a:solidFill>
                <a:latin typeface="Calibri" pitchFamily="34" charset="0"/>
                <a:ea typeface="Calibri" pitchFamily="34" charset="-122"/>
                <a:cs typeface="Calibri" pitchFamily="34" charset="-120"/>
              </a:rPr>
              <a:t>definite</a:t>
            </a:r>
            <a:endParaRPr lang="en-US" sz="1250" dirty="0"/>
          </a:p>
        </p:txBody>
      </p:sp>
      <p:sp>
        <p:nvSpPr>
          <p:cNvPr id="29" name="Shape 27"/>
          <p:cNvSpPr/>
          <p:nvPr/>
        </p:nvSpPr>
        <p:spPr>
          <a:xfrm>
            <a:off x="548640" y="4059936"/>
            <a:ext cx="2286000" cy="658368"/>
          </a:xfrm>
          <a:prstGeom prst="rect">
            <a:avLst/>
          </a:prstGeom>
          <a:solidFill>
            <a:srgbClr val="FFFFFF"/>
          </a:solidFill>
          <a:ln w="9525">
            <a:solidFill>
              <a:srgbClr val="E1E3EF"/>
            </a:solidFill>
            <a:prstDash val="solid"/>
          </a:ln>
        </p:spPr>
      </p:sp>
      <p:sp>
        <p:nvSpPr>
          <p:cNvPr id="30" name="Text 28"/>
          <p:cNvSpPr/>
          <p:nvPr/>
        </p:nvSpPr>
        <p:spPr>
          <a:xfrm>
            <a:off x="676656" y="4059936"/>
            <a:ext cx="2066544" cy="658368"/>
          </a:xfrm>
          <a:prstGeom prst="rect">
            <a:avLst/>
          </a:prstGeom>
          <a:noFill/>
          <a:ln/>
        </p:spPr>
        <p:txBody>
          <a:bodyPr wrap="square" rtlCol="0" anchor="ctr"/>
          <a:lstStyle/>
          <a:p>
            <a:pPr algn="l" indent="0" marL="0">
              <a:buNone/>
            </a:pPr>
            <a:r>
              <a:rPr lang="en-US" sz="1400" b="1" i="1" dirty="0">
                <a:solidFill>
                  <a:srgbClr val="16183D"/>
                </a:solidFill>
                <a:latin typeface="Cambria" pitchFamily="34" charset="0"/>
                <a:ea typeface="Cambria" pitchFamily="34" charset="-122"/>
                <a:cs typeface="Cambria" pitchFamily="34" charset="-120"/>
              </a:rPr>
              <a:t>Animal</a:t>
            </a:r>
            <a:endParaRPr lang="en-US" sz="1400" dirty="0"/>
          </a:p>
        </p:txBody>
      </p:sp>
      <p:sp>
        <p:nvSpPr>
          <p:cNvPr id="31" name="Shape 29"/>
          <p:cNvSpPr/>
          <p:nvPr/>
        </p:nvSpPr>
        <p:spPr>
          <a:xfrm>
            <a:off x="2834640" y="4059936"/>
            <a:ext cx="3931920" cy="658368"/>
          </a:xfrm>
          <a:prstGeom prst="rect">
            <a:avLst/>
          </a:prstGeom>
          <a:solidFill>
            <a:srgbClr val="FFFFFF"/>
          </a:solidFill>
          <a:ln w="9525">
            <a:solidFill>
              <a:srgbClr val="E1E3EF"/>
            </a:solidFill>
            <a:prstDash val="solid"/>
          </a:ln>
        </p:spPr>
      </p:sp>
      <p:sp>
        <p:nvSpPr>
          <p:cNvPr id="32" name="Text 30"/>
          <p:cNvSpPr/>
          <p:nvPr/>
        </p:nvSpPr>
        <p:spPr>
          <a:xfrm>
            <a:off x="2962656" y="4059936"/>
            <a:ext cx="3712464" cy="658368"/>
          </a:xfrm>
          <a:prstGeom prst="rect">
            <a:avLst/>
          </a:prstGeom>
          <a:noFill/>
          <a:ln/>
        </p:spPr>
        <p:txBody>
          <a:bodyPr wrap="square" rtlCol="0" anchor="ctr"/>
          <a:lstStyle/>
          <a:p>
            <a:pPr algn="l" indent="0" marL="0">
              <a:buNone/>
            </a:pPr>
            <a:r>
              <a:rPr lang="en-US" sz="1250" dirty="0">
                <a:solidFill>
                  <a:srgbClr val="202340"/>
                </a:solidFill>
                <a:latin typeface="Calibri" pitchFamily="34" charset="0"/>
                <a:ea typeface="Calibri" pitchFamily="34" charset="-122"/>
                <a:cs typeface="Calibri" pitchFamily="34" charset="-120"/>
              </a:rPr>
              <a:t>+ sensation, hope</a:t>
            </a:r>
            <a:endParaRPr lang="en-US" sz="1250" dirty="0"/>
          </a:p>
        </p:txBody>
      </p:sp>
      <p:sp>
        <p:nvSpPr>
          <p:cNvPr id="33" name="Shape 31"/>
          <p:cNvSpPr/>
          <p:nvPr/>
        </p:nvSpPr>
        <p:spPr>
          <a:xfrm>
            <a:off x="6766560" y="4059936"/>
            <a:ext cx="3291840" cy="658368"/>
          </a:xfrm>
          <a:prstGeom prst="rect">
            <a:avLst/>
          </a:prstGeom>
          <a:solidFill>
            <a:srgbClr val="FFFFFF"/>
          </a:solidFill>
          <a:ln w="9525">
            <a:solidFill>
              <a:srgbClr val="E1E3EF"/>
            </a:solidFill>
            <a:prstDash val="solid"/>
          </a:ln>
        </p:spPr>
      </p:sp>
      <p:sp>
        <p:nvSpPr>
          <p:cNvPr id="34" name="Text 32"/>
          <p:cNvSpPr/>
          <p:nvPr/>
        </p:nvSpPr>
        <p:spPr>
          <a:xfrm>
            <a:off x="6894576" y="4059936"/>
            <a:ext cx="3072384" cy="658368"/>
          </a:xfrm>
          <a:prstGeom prst="rect">
            <a:avLst/>
          </a:prstGeom>
          <a:noFill/>
          <a:ln/>
        </p:spPr>
        <p:txBody>
          <a:bodyPr wrap="square" rtlCol="0" anchor="ctr"/>
          <a:lstStyle/>
          <a:p>
            <a:pPr algn="l" indent="0" marL="0">
              <a:buNone/>
            </a:pPr>
            <a:r>
              <a:rPr lang="en-US" sz="1250" dirty="0">
                <a:solidFill>
                  <a:srgbClr val="202340"/>
                </a:solidFill>
                <a:latin typeface="Calibri" pitchFamily="34" charset="0"/>
                <a:ea typeface="Calibri" pitchFamily="34" charset="-122"/>
                <a:cs typeface="Calibri" pitchFamily="34" charset="-120"/>
              </a:rPr>
              <a:t>species conformance (vansh)</a:t>
            </a:r>
            <a:endParaRPr lang="en-US" sz="1250" dirty="0"/>
          </a:p>
        </p:txBody>
      </p:sp>
      <p:sp>
        <p:nvSpPr>
          <p:cNvPr id="35" name="Shape 33"/>
          <p:cNvSpPr/>
          <p:nvPr/>
        </p:nvSpPr>
        <p:spPr>
          <a:xfrm>
            <a:off x="10058400" y="4059936"/>
            <a:ext cx="1581912" cy="658368"/>
          </a:xfrm>
          <a:prstGeom prst="rect">
            <a:avLst/>
          </a:prstGeom>
          <a:solidFill>
            <a:srgbClr val="FFFFFF"/>
          </a:solidFill>
          <a:ln w="9525">
            <a:solidFill>
              <a:srgbClr val="E1E3EF"/>
            </a:solidFill>
            <a:prstDash val="solid"/>
          </a:ln>
        </p:spPr>
      </p:sp>
      <p:sp>
        <p:nvSpPr>
          <p:cNvPr id="36" name="Text 34"/>
          <p:cNvSpPr/>
          <p:nvPr/>
        </p:nvSpPr>
        <p:spPr>
          <a:xfrm>
            <a:off x="10186416" y="4059936"/>
            <a:ext cx="1362456" cy="658368"/>
          </a:xfrm>
          <a:prstGeom prst="rect">
            <a:avLst/>
          </a:prstGeom>
          <a:noFill/>
          <a:ln/>
        </p:spPr>
        <p:txBody>
          <a:bodyPr wrap="square" rtlCol="0" anchor="ctr"/>
          <a:lstStyle/>
          <a:p>
            <a:pPr algn="ctr" indent="0" marL="0">
              <a:buNone/>
            </a:pPr>
            <a:r>
              <a:rPr lang="en-US" sz="1250" dirty="0">
                <a:solidFill>
                  <a:srgbClr val="202340"/>
                </a:solidFill>
                <a:latin typeface="Calibri" pitchFamily="34" charset="0"/>
                <a:ea typeface="Calibri" pitchFamily="34" charset="-122"/>
                <a:cs typeface="Calibri" pitchFamily="34" charset="-120"/>
              </a:rPr>
              <a:t>definite</a:t>
            </a:r>
            <a:endParaRPr lang="en-US" sz="1250" dirty="0"/>
          </a:p>
        </p:txBody>
      </p:sp>
      <p:sp>
        <p:nvSpPr>
          <p:cNvPr id="37" name="Shape 35"/>
          <p:cNvSpPr/>
          <p:nvPr/>
        </p:nvSpPr>
        <p:spPr>
          <a:xfrm>
            <a:off x="548640" y="4718304"/>
            <a:ext cx="2286000" cy="658368"/>
          </a:xfrm>
          <a:prstGeom prst="rect">
            <a:avLst/>
          </a:prstGeom>
          <a:solidFill>
            <a:srgbClr val="F5F6FB"/>
          </a:solidFill>
          <a:ln w="9525">
            <a:solidFill>
              <a:srgbClr val="E1E3EF"/>
            </a:solidFill>
            <a:prstDash val="solid"/>
          </a:ln>
        </p:spPr>
      </p:sp>
      <p:sp>
        <p:nvSpPr>
          <p:cNvPr id="38" name="Shape 36"/>
          <p:cNvSpPr/>
          <p:nvPr/>
        </p:nvSpPr>
        <p:spPr>
          <a:xfrm>
            <a:off x="548640" y="4718304"/>
            <a:ext cx="2286000" cy="658368"/>
          </a:xfrm>
          <a:prstGeom prst="rect">
            <a:avLst/>
          </a:prstGeom>
          <a:solidFill>
            <a:srgbClr val="F5F6FB"/>
          </a:solidFill>
          <a:ln w="15875">
            <a:solidFill>
              <a:srgbClr val="B8842B"/>
            </a:solidFill>
            <a:prstDash val="solid"/>
          </a:ln>
        </p:spPr>
      </p:sp>
      <p:sp>
        <p:nvSpPr>
          <p:cNvPr id="39" name="Text 37"/>
          <p:cNvSpPr/>
          <p:nvPr/>
        </p:nvSpPr>
        <p:spPr>
          <a:xfrm>
            <a:off x="676656" y="4718304"/>
            <a:ext cx="2066544" cy="658368"/>
          </a:xfrm>
          <a:prstGeom prst="rect">
            <a:avLst/>
          </a:prstGeom>
          <a:noFill/>
          <a:ln/>
        </p:spPr>
        <p:txBody>
          <a:bodyPr wrap="square" rtlCol="0" anchor="ctr"/>
          <a:lstStyle/>
          <a:p>
            <a:pPr algn="l" indent="0" marL="0">
              <a:buNone/>
            </a:pPr>
            <a:r>
              <a:rPr lang="en-US" sz="1400" b="1" i="1" dirty="0">
                <a:solidFill>
                  <a:srgbClr val="16183D"/>
                </a:solidFill>
                <a:latin typeface="Cambria" pitchFamily="34" charset="0"/>
                <a:ea typeface="Cambria" pitchFamily="34" charset="-122"/>
                <a:cs typeface="Cambria" pitchFamily="34" charset="-120"/>
              </a:rPr>
              <a:t>Knowledge</a:t>
            </a:r>
            <a:endParaRPr lang="en-US" sz="1400" dirty="0"/>
          </a:p>
        </p:txBody>
      </p:sp>
      <p:sp>
        <p:nvSpPr>
          <p:cNvPr id="40" name="Shape 38"/>
          <p:cNvSpPr/>
          <p:nvPr/>
        </p:nvSpPr>
        <p:spPr>
          <a:xfrm>
            <a:off x="2834640" y="4718304"/>
            <a:ext cx="3931920" cy="658368"/>
          </a:xfrm>
          <a:prstGeom prst="rect">
            <a:avLst/>
          </a:prstGeom>
          <a:solidFill>
            <a:srgbClr val="F5F6FB"/>
          </a:solidFill>
          <a:ln w="9525">
            <a:solidFill>
              <a:srgbClr val="E1E3EF"/>
            </a:solidFill>
            <a:prstDash val="solid"/>
          </a:ln>
        </p:spPr>
      </p:sp>
      <p:sp>
        <p:nvSpPr>
          <p:cNvPr id="41" name="Text 39"/>
          <p:cNvSpPr/>
          <p:nvPr/>
        </p:nvSpPr>
        <p:spPr>
          <a:xfrm>
            <a:off x="2962656" y="4718304"/>
            <a:ext cx="3712464" cy="658368"/>
          </a:xfrm>
          <a:prstGeom prst="rect">
            <a:avLst/>
          </a:prstGeom>
          <a:noFill/>
          <a:ln/>
        </p:spPr>
        <p:txBody>
          <a:bodyPr wrap="square" rtlCol="0" anchor="ctr"/>
          <a:lstStyle/>
          <a:p>
            <a:pPr algn="l" indent="0" marL="0">
              <a:buNone/>
            </a:pPr>
            <a:r>
              <a:rPr lang="en-US" sz="1250" dirty="0">
                <a:solidFill>
                  <a:srgbClr val="202340"/>
                </a:solidFill>
                <a:latin typeface="Calibri" pitchFamily="34" charset="0"/>
                <a:ea typeface="Calibri" pitchFamily="34" charset="-122"/>
                <a:cs typeface="Calibri" pitchFamily="34" charset="-120"/>
              </a:rPr>
              <a:t>+ knowing, believing, evaluation, choice</a:t>
            </a:r>
            <a:endParaRPr lang="en-US" sz="1250" dirty="0"/>
          </a:p>
        </p:txBody>
      </p:sp>
      <p:sp>
        <p:nvSpPr>
          <p:cNvPr id="42" name="Shape 40"/>
          <p:cNvSpPr/>
          <p:nvPr/>
        </p:nvSpPr>
        <p:spPr>
          <a:xfrm>
            <a:off x="6766560" y="4718304"/>
            <a:ext cx="3291840" cy="658368"/>
          </a:xfrm>
          <a:prstGeom prst="rect">
            <a:avLst/>
          </a:prstGeom>
          <a:solidFill>
            <a:srgbClr val="F5F6FB"/>
          </a:solidFill>
          <a:ln w="9525">
            <a:solidFill>
              <a:srgbClr val="E1E3EF"/>
            </a:solidFill>
            <a:prstDash val="solid"/>
          </a:ln>
        </p:spPr>
      </p:sp>
      <p:sp>
        <p:nvSpPr>
          <p:cNvPr id="43" name="Text 41"/>
          <p:cNvSpPr/>
          <p:nvPr/>
        </p:nvSpPr>
        <p:spPr>
          <a:xfrm>
            <a:off x="6894576" y="4718304"/>
            <a:ext cx="3072384" cy="658368"/>
          </a:xfrm>
          <a:prstGeom prst="rect">
            <a:avLst/>
          </a:prstGeom>
          <a:noFill/>
          <a:ln/>
        </p:spPr>
        <p:txBody>
          <a:bodyPr wrap="square" rtlCol="0" anchor="ctr"/>
          <a:lstStyle/>
          <a:p>
            <a:pPr algn="l" indent="0" marL="0">
              <a:buNone/>
            </a:pPr>
            <a:r>
              <a:rPr lang="en-US" sz="1250" dirty="0">
                <a:solidFill>
                  <a:srgbClr val="202340"/>
                </a:solidFill>
                <a:latin typeface="Calibri" pitchFamily="34" charset="0"/>
                <a:ea typeface="Calibri" pitchFamily="34" charset="-122"/>
                <a:cs typeface="Calibri" pitchFamily="34" charset="-120"/>
              </a:rPr>
              <a:t>sanskar conformance</a:t>
            </a:r>
            <a:endParaRPr lang="en-US" sz="1250" dirty="0"/>
          </a:p>
        </p:txBody>
      </p:sp>
      <p:sp>
        <p:nvSpPr>
          <p:cNvPr id="44" name="Shape 42"/>
          <p:cNvSpPr/>
          <p:nvPr/>
        </p:nvSpPr>
        <p:spPr>
          <a:xfrm>
            <a:off x="10058400" y="4718304"/>
            <a:ext cx="1581912" cy="658368"/>
          </a:xfrm>
          <a:prstGeom prst="rect">
            <a:avLst/>
          </a:prstGeom>
          <a:solidFill>
            <a:srgbClr val="F5F6FB"/>
          </a:solidFill>
          <a:ln w="9525">
            <a:solidFill>
              <a:srgbClr val="E1E3EF"/>
            </a:solidFill>
            <a:prstDash val="solid"/>
          </a:ln>
        </p:spPr>
      </p:sp>
      <p:sp>
        <p:nvSpPr>
          <p:cNvPr id="45" name="Text 43"/>
          <p:cNvSpPr/>
          <p:nvPr/>
        </p:nvSpPr>
        <p:spPr>
          <a:xfrm>
            <a:off x="10186416" y="4718304"/>
            <a:ext cx="1362456" cy="658368"/>
          </a:xfrm>
          <a:prstGeom prst="rect">
            <a:avLst/>
          </a:prstGeom>
          <a:noFill/>
          <a:ln/>
        </p:spPr>
        <p:txBody>
          <a:bodyPr wrap="square" rtlCol="0" anchor="ctr"/>
          <a:lstStyle/>
          <a:p>
            <a:pPr algn="ctr" indent="0" marL="0">
              <a:buNone/>
            </a:pPr>
            <a:r>
              <a:rPr lang="en-US" sz="1250" dirty="0">
                <a:solidFill>
                  <a:srgbClr val="B8842B"/>
                </a:solidFill>
                <a:latin typeface="Calibri" pitchFamily="34" charset="0"/>
                <a:ea typeface="Calibri" pitchFamily="34" charset="-122"/>
                <a:cs typeface="Calibri" pitchFamily="34" charset="-120"/>
              </a:rPr>
              <a:t>achieved</a:t>
            </a:r>
            <a:endParaRPr lang="en-US" sz="1250" dirty="0"/>
          </a:p>
        </p:txBody>
      </p:sp>
      <p:sp>
        <p:nvSpPr>
          <p:cNvPr id="46" name="Shape 44"/>
          <p:cNvSpPr/>
          <p:nvPr/>
        </p:nvSpPr>
        <p:spPr>
          <a:xfrm>
            <a:off x="548640" y="5532120"/>
            <a:ext cx="11091672" cy="685800"/>
          </a:xfrm>
          <a:prstGeom prst="roundRect">
            <a:avLst>
              <a:gd name="adj" fmla="val 6667"/>
            </a:avLst>
          </a:prstGeom>
          <a:solidFill>
            <a:srgbClr val="16183D"/>
          </a:solidFill>
          <a:ln/>
        </p:spPr>
      </p:sp>
      <p:sp>
        <p:nvSpPr>
          <p:cNvPr id="47" name="Text 45"/>
          <p:cNvSpPr/>
          <p:nvPr/>
        </p:nvSpPr>
        <p:spPr>
          <a:xfrm>
            <a:off x="777240" y="5605272"/>
            <a:ext cx="10607040" cy="548640"/>
          </a:xfrm>
          <a:prstGeom prst="rect">
            <a:avLst/>
          </a:prstGeom>
          <a:noFill/>
          <a:ln/>
        </p:spPr>
        <p:txBody>
          <a:bodyPr wrap="square" rtlCol="0" anchor="ctr"/>
          <a:lstStyle/>
          <a:p>
            <a:pPr indent="0" marL="0">
              <a:lnSpc>
                <a:spcPct val="102000"/>
              </a:lnSpc>
              <a:buNone/>
            </a:pPr>
            <a:r>
              <a:rPr lang="en-US" sz="1300" dirty="0">
                <a:solidFill>
                  <a:srgbClr val="F2EEE3"/>
                </a:solidFill>
                <a:latin typeface="Calibri" pitchFamily="34" charset="0"/>
                <a:ea typeface="Calibri" pitchFamily="34" charset="-122"/>
                <a:cs typeface="Calibri" pitchFamily="34" charset="-120"/>
              </a:rPr>
              <a:t>The first three orders are DEFINITE and inerrant — regulated by constitution. </a:t>
            </a:r>
            <a:pPr indent="0" marL="0">
              <a:lnSpc>
                <a:spcPct val="102000"/>
              </a:lnSpc>
              <a:buNone/>
            </a:pPr>
            <a:r>
              <a:rPr lang="en-US" sz="1300" dirty="0">
                <a:solidFill>
                  <a:srgbClr val="E3B857"/>
                </a:solidFill>
                <a:latin typeface="Calibri" pitchFamily="34" charset="0"/>
                <a:ea typeface="Calibri" pitchFamily="34" charset="-122"/>
                <a:cs typeface="Calibri" pitchFamily="34" charset="-120"/>
              </a:rPr>
              <a:t>Only the knowledge order is “achieved” — routed through a self-model that can misfire. That is why the human tier is the one unfinished tier.</a:t>
            </a:r>
            <a:endParaRPr lang="en-US" sz="1300" dirty="0"/>
          </a:p>
        </p:txBody>
      </p:sp>
      <p:sp>
        <p:nvSpPr>
          <p:cNvPr id="48" name="Text 46"/>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18</a:t>
            </a:r>
            <a:endParaRPr lang="en-US" sz="900" dirty="0"/>
          </a:p>
        </p:txBody>
      </p:sp>
      <p:sp>
        <p:nvSpPr>
          <p:cNvPr id="49" name="Text 47"/>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Orders &amp; the regulation ladder</a:t>
            </a:r>
            <a:endParaRPr lang="en-US" sz="900" dirty="0"/>
          </a:p>
        </p:txBody>
      </p:sp>
      <p:sp>
        <p:nvSpPr>
          <p:cNvPr id="50" name="Text 48"/>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III · INSIDE A COUPLING</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Recognition, fulfilment, and the gate of capacity</a:t>
            </a:r>
            <a:endParaRPr lang="en-US" sz="2900" dirty="0"/>
          </a:p>
        </p:txBody>
      </p:sp>
      <p:sp>
        <p:nvSpPr>
          <p:cNvPr id="4" name="Shape 2"/>
          <p:cNvSpPr/>
          <p:nvPr/>
        </p:nvSpPr>
        <p:spPr>
          <a:xfrm>
            <a:off x="548640" y="2148840"/>
            <a:ext cx="3383280" cy="1554480"/>
          </a:xfrm>
          <a:prstGeom prst="roundRect">
            <a:avLst>
              <a:gd name="adj" fmla="val 4118"/>
            </a:avLst>
          </a:prstGeom>
          <a:solidFill>
            <a:srgbClr val="F5F6FB"/>
          </a:solidFill>
          <a:ln w="15875">
            <a:solidFill>
              <a:srgbClr val="3E7C8C"/>
            </a:solidFill>
            <a:prstDash val="solid"/>
          </a:ln>
        </p:spPr>
      </p:sp>
      <p:sp>
        <p:nvSpPr>
          <p:cNvPr id="5" name="Shape 3"/>
          <p:cNvSpPr/>
          <p:nvPr/>
        </p:nvSpPr>
        <p:spPr>
          <a:xfrm>
            <a:off x="804672" y="2651760"/>
            <a:ext cx="548640" cy="548640"/>
          </a:xfrm>
          <a:prstGeom prst="ellipse">
            <a:avLst/>
          </a:prstGeom>
          <a:solidFill>
            <a:srgbClr val="3E7C8C"/>
          </a:solidFill>
          <a:ln/>
        </p:spPr>
      </p:sp>
      <p:sp>
        <p:nvSpPr>
          <p:cNvPr id="6" name="Text 4"/>
          <p:cNvSpPr/>
          <p:nvPr/>
        </p:nvSpPr>
        <p:spPr>
          <a:xfrm>
            <a:off x="804672" y="2651760"/>
            <a:ext cx="548640" cy="54864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ρ</a:t>
            </a:r>
            <a:endParaRPr lang="en-US" sz="2000" dirty="0"/>
          </a:p>
        </p:txBody>
      </p:sp>
      <p:sp>
        <p:nvSpPr>
          <p:cNvPr id="7" name="Text 5"/>
          <p:cNvSpPr/>
          <p:nvPr/>
        </p:nvSpPr>
        <p:spPr>
          <a:xfrm>
            <a:off x="1463040" y="2331720"/>
            <a:ext cx="2331720" cy="365760"/>
          </a:xfrm>
          <a:prstGeom prst="rect">
            <a:avLst/>
          </a:prstGeom>
          <a:noFill/>
          <a:ln/>
        </p:spPr>
        <p:txBody>
          <a:bodyPr wrap="square" rtlCol="0" anchor="ctr"/>
          <a:lstStyle/>
          <a:p>
            <a:pPr indent="0" marL="0">
              <a:buNone/>
            </a:pPr>
            <a:r>
              <a:rPr lang="en-US" sz="1600" b="1" dirty="0">
                <a:solidFill>
                  <a:srgbClr val="16183D"/>
                </a:solidFill>
                <a:latin typeface="Cambria" pitchFamily="34" charset="0"/>
                <a:ea typeface="Cambria" pitchFamily="34" charset="-122"/>
                <a:cs typeface="Cambria" pitchFamily="34" charset="-120"/>
              </a:rPr>
              <a:t>recognition</a:t>
            </a:r>
            <a:endParaRPr lang="en-US" sz="1600" dirty="0"/>
          </a:p>
        </p:txBody>
      </p:sp>
      <p:sp>
        <p:nvSpPr>
          <p:cNvPr id="8" name="Text 6"/>
          <p:cNvSpPr/>
          <p:nvPr/>
        </p:nvSpPr>
        <p:spPr>
          <a:xfrm>
            <a:off x="1463040" y="2715768"/>
            <a:ext cx="2331720" cy="868680"/>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identify the coupling &amp; its expectation profile</a:t>
            </a:r>
            <a:endParaRPr lang="en-US" sz="1150" dirty="0"/>
          </a:p>
        </p:txBody>
      </p:sp>
      <p:sp>
        <p:nvSpPr>
          <p:cNvPr id="9" name="Shape 7"/>
          <p:cNvSpPr/>
          <p:nvPr/>
        </p:nvSpPr>
        <p:spPr>
          <a:xfrm>
            <a:off x="4023360" y="2743200"/>
            <a:ext cx="384048" cy="329184"/>
          </a:xfrm>
          <a:prstGeom prst="rightArrow">
            <a:avLst/>
          </a:prstGeom>
          <a:solidFill>
            <a:srgbClr val="6A6E93"/>
          </a:solidFill>
          <a:ln/>
        </p:spPr>
      </p:sp>
      <p:sp>
        <p:nvSpPr>
          <p:cNvPr id="10" name="Shape 8"/>
          <p:cNvSpPr/>
          <p:nvPr/>
        </p:nvSpPr>
        <p:spPr>
          <a:xfrm>
            <a:off x="4498848" y="2148840"/>
            <a:ext cx="3383280" cy="1554480"/>
          </a:xfrm>
          <a:prstGeom prst="roundRect">
            <a:avLst>
              <a:gd name="adj" fmla="val 4118"/>
            </a:avLst>
          </a:prstGeom>
          <a:solidFill>
            <a:srgbClr val="F5F6FB"/>
          </a:solidFill>
          <a:ln w="15875">
            <a:solidFill>
              <a:srgbClr val="B8842B"/>
            </a:solidFill>
            <a:prstDash val="solid"/>
          </a:ln>
        </p:spPr>
      </p:sp>
      <p:sp>
        <p:nvSpPr>
          <p:cNvPr id="11" name="Shape 9"/>
          <p:cNvSpPr/>
          <p:nvPr/>
        </p:nvSpPr>
        <p:spPr>
          <a:xfrm>
            <a:off x="4754880" y="2651760"/>
            <a:ext cx="548640" cy="548640"/>
          </a:xfrm>
          <a:prstGeom prst="ellipse">
            <a:avLst/>
          </a:prstGeom>
          <a:solidFill>
            <a:srgbClr val="B8842B"/>
          </a:solidFill>
          <a:ln/>
        </p:spPr>
      </p:sp>
      <p:sp>
        <p:nvSpPr>
          <p:cNvPr id="12" name="Text 10"/>
          <p:cNvSpPr/>
          <p:nvPr/>
        </p:nvSpPr>
        <p:spPr>
          <a:xfrm>
            <a:off x="4754880" y="2651760"/>
            <a:ext cx="548640" cy="54864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φ</a:t>
            </a:r>
            <a:endParaRPr lang="en-US" sz="2000" dirty="0"/>
          </a:p>
        </p:txBody>
      </p:sp>
      <p:sp>
        <p:nvSpPr>
          <p:cNvPr id="13" name="Text 11"/>
          <p:cNvSpPr/>
          <p:nvPr/>
        </p:nvSpPr>
        <p:spPr>
          <a:xfrm>
            <a:off x="5413248" y="2331720"/>
            <a:ext cx="2331720" cy="365760"/>
          </a:xfrm>
          <a:prstGeom prst="rect">
            <a:avLst/>
          </a:prstGeom>
          <a:noFill/>
          <a:ln/>
        </p:spPr>
        <p:txBody>
          <a:bodyPr wrap="square" rtlCol="0" anchor="ctr"/>
          <a:lstStyle/>
          <a:p>
            <a:pPr indent="0" marL="0">
              <a:buNone/>
            </a:pPr>
            <a:r>
              <a:rPr lang="en-US" sz="1600" b="1" dirty="0">
                <a:solidFill>
                  <a:srgbClr val="16183D"/>
                </a:solidFill>
                <a:latin typeface="Cambria" pitchFamily="34" charset="0"/>
                <a:ea typeface="Cambria" pitchFamily="34" charset="-122"/>
                <a:cs typeface="Cambria" pitchFamily="34" charset="-120"/>
              </a:rPr>
              <a:t>fulfilment</a:t>
            </a:r>
            <a:endParaRPr lang="en-US" sz="1600" dirty="0"/>
          </a:p>
        </p:txBody>
      </p:sp>
      <p:sp>
        <p:nvSpPr>
          <p:cNvPr id="14" name="Text 12"/>
          <p:cNvSpPr/>
          <p:nvPr/>
        </p:nvSpPr>
        <p:spPr>
          <a:xfrm>
            <a:off x="5413248" y="2715768"/>
            <a:ext cx="2331720" cy="868680"/>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evidence use, right-use, purposeful-use</a:t>
            </a:r>
            <a:endParaRPr lang="en-US" sz="1150" dirty="0"/>
          </a:p>
        </p:txBody>
      </p:sp>
      <p:sp>
        <p:nvSpPr>
          <p:cNvPr id="15" name="Shape 13"/>
          <p:cNvSpPr/>
          <p:nvPr/>
        </p:nvSpPr>
        <p:spPr>
          <a:xfrm>
            <a:off x="7973568" y="2743200"/>
            <a:ext cx="384048" cy="329184"/>
          </a:xfrm>
          <a:prstGeom prst="rightArrow">
            <a:avLst/>
          </a:prstGeom>
          <a:solidFill>
            <a:srgbClr val="6A6E93"/>
          </a:solidFill>
          <a:ln/>
        </p:spPr>
      </p:sp>
      <p:sp>
        <p:nvSpPr>
          <p:cNvPr id="16" name="Shape 14"/>
          <p:cNvSpPr/>
          <p:nvPr/>
        </p:nvSpPr>
        <p:spPr>
          <a:xfrm>
            <a:off x="8449056" y="2148840"/>
            <a:ext cx="3383280" cy="1554480"/>
          </a:xfrm>
          <a:prstGeom prst="roundRect">
            <a:avLst>
              <a:gd name="adj" fmla="val 4118"/>
            </a:avLst>
          </a:prstGeom>
          <a:solidFill>
            <a:srgbClr val="F5F6FB"/>
          </a:solidFill>
          <a:ln w="15875">
            <a:solidFill>
              <a:srgbClr val="2E5E6B"/>
            </a:solidFill>
            <a:prstDash val="solid"/>
          </a:ln>
        </p:spPr>
      </p:sp>
      <p:sp>
        <p:nvSpPr>
          <p:cNvPr id="17" name="Shape 15"/>
          <p:cNvSpPr/>
          <p:nvPr/>
        </p:nvSpPr>
        <p:spPr>
          <a:xfrm>
            <a:off x="8705088" y="2651760"/>
            <a:ext cx="548640" cy="548640"/>
          </a:xfrm>
          <a:prstGeom prst="ellipse">
            <a:avLst/>
          </a:prstGeom>
          <a:solidFill>
            <a:srgbClr val="2E5E6B"/>
          </a:solidFill>
          <a:ln/>
        </p:spPr>
      </p:sp>
      <p:sp>
        <p:nvSpPr>
          <p:cNvPr id="18" name="Text 16"/>
          <p:cNvSpPr/>
          <p:nvPr/>
        </p:nvSpPr>
        <p:spPr>
          <a:xfrm>
            <a:off x="8705088" y="2651760"/>
            <a:ext cx="548640" cy="54864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μ</a:t>
            </a:r>
            <a:endParaRPr lang="en-US" sz="2000" dirty="0"/>
          </a:p>
        </p:txBody>
      </p:sp>
      <p:sp>
        <p:nvSpPr>
          <p:cNvPr id="19" name="Text 17"/>
          <p:cNvSpPr/>
          <p:nvPr/>
        </p:nvSpPr>
        <p:spPr>
          <a:xfrm>
            <a:off x="9363456" y="2331720"/>
            <a:ext cx="2331720" cy="365760"/>
          </a:xfrm>
          <a:prstGeom prst="rect">
            <a:avLst/>
          </a:prstGeom>
          <a:noFill/>
          <a:ln/>
        </p:spPr>
        <p:txBody>
          <a:bodyPr wrap="square" rtlCol="0" anchor="ctr"/>
          <a:lstStyle/>
          <a:p>
            <a:pPr indent="0" marL="0">
              <a:buNone/>
            </a:pPr>
            <a:r>
              <a:rPr lang="en-US" sz="1600" b="1" dirty="0">
                <a:solidFill>
                  <a:srgbClr val="16183D"/>
                </a:solidFill>
                <a:latin typeface="Cambria" pitchFamily="34" charset="0"/>
                <a:ea typeface="Cambria" pitchFamily="34" charset="-122"/>
                <a:cs typeface="Cambria" pitchFamily="34" charset="-120"/>
              </a:rPr>
              <a:t>evaluation</a:t>
            </a:r>
            <a:endParaRPr lang="en-US" sz="1600" dirty="0"/>
          </a:p>
        </p:txBody>
      </p:sp>
      <p:sp>
        <p:nvSpPr>
          <p:cNvPr id="20" name="Text 18"/>
          <p:cNvSpPr/>
          <p:nvPr/>
        </p:nvSpPr>
        <p:spPr>
          <a:xfrm>
            <a:off x="9363456" y="2715768"/>
            <a:ext cx="2331720" cy="868680"/>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(knowledge order only) value delivered vs. inherent</a:t>
            </a:r>
            <a:endParaRPr lang="en-US" sz="1150" dirty="0"/>
          </a:p>
        </p:txBody>
      </p:sp>
      <p:sp>
        <p:nvSpPr>
          <p:cNvPr id="21" name="Text 19"/>
          <p:cNvSpPr/>
          <p:nvPr/>
        </p:nvSpPr>
        <p:spPr>
          <a:xfrm>
            <a:off x="548640" y="3840480"/>
            <a:ext cx="11091672" cy="365760"/>
          </a:xfrm>
          <a:prstGeom prst="rect">
            <a:avLst/>
          </a:prstGeom>
          <a:noFill/>
          <a:ln/>
        </p:spPr>
        <p:txBody>
          <a:bodyPr wrap="square" rtlCol="0" anchor="ctr"/>
          <a:lstStyle/>
          <a:p>
            <a:pPr algn="ctr" indent="0" marL="0">
              <a:buNone/>
            </a:pPr>
            <a:r>
              <a:rPr lang="en-US" sz="1300" i="1" dirty="0">
                <a:solidFill>
                  <a:srgbClr val="6A6E93"/>
                </a:solidFill>
                <a:latin typeface="Calibri" pitchFamily="34" charset="0"/>
                <a:ea typeface="Calibri" pitchFamily="34" charset="-122"/>
                <a:cs typeface="Calibri" pitchFamily="34" charset="-120"/>
              </a:rPr>
              <a:t>The closed knowledge-order cycle  ρ → φ → μ → mutual satisfaction  is what the texts call justice.</a:t>
            </a:r>
            <a:endParaRPr lang="en-US" sz="1300" dirty="0"/>
          </a:p>
        </p:txBody>
      </p:sp>
      <p:sp>
        <p:nvSpPr>
          <p:cNvPr id="22" name="Shape 20"/>
          <p:cNvSpPr/>
          <p:nvPr/>
        </p:nvSpPr>
        <p:spPr>
          <a:xfrm>
            <a:off x="548640" y="4389120"/>
            <a:ext cx="5449824" cy="1554480"/>
          </a:xfrm>
          <a:prstGeom prst="roundRect">
            <a:avLst>
              <a:gd name="adj" fmla="val 3529"/>
            </a:avLst>
          </a:prstGeom>
          <a:solidFill>
            <a:srgbClr val="F5F6FB"/>
          </a:solidFill>
          <a:ln w="15875">
            <a:solidFill>
              <a:srgbClr val="B8842B"/>
            </a:solidFill>
            <a:prstDash val="solid"/>
          </a:ln>
        </p:spPr>
      </p:sp>
      <p:sp>
        <p:nvSpPr>
          <p:cNvPr id="23" name="Text 21"/>
          <p:cNvSpPr/>
          <p:nvPr/>
        </p:nvSpPr>
        <p:spPr>
          <a:xfrm>
            <a:off x="749808" y="4517136"/>
            <a:ext cx="5029200" cy="365760"/>
          </a:xfrm>
          <a:prstGeom prst="rect">
            <a:avLst/>
          </a:prstGeom>
          <a:noFill/>
          <a:ln/>
        </p:spPr>
        <p:txBody>
          <a:bodyPr wrap="square" rtlCol="0" anchor="ctr"/>
          <a:lstStyle/>
          <a:p>
            <a:pPr indent="0" marL="0">
              <a:buNone/>
            </a:pPr>
            <a:r>
              <a:rPr lang="en-US" sz="1450" b="1" dirty="0">
                <a:solidFill>
                  <a:srgbClr val="B8842B"/>
                </a:solidFill>
                <a:latin typeface="Cambria" pitchFamily="34" charset="0"/>
                <a:ea typeface="Cambria" pitchFamily="34" charset="-122"/>
                <a:cs typeface="Cambria" pitchFamily="34" charset="-120"/>
              </a:rPr>
              <a:t>Fulfilment is gated by capacity</a:t>
            </a:r>
            <a:endParaRPr lang="en-US" sz="1450" dirty="0"/>
          </a:p>
        </p:txBody>
      </p:sp>
      <p:sp>
        <p:nvSpPr>
          <p:cNvPr id="24" name="Text 22"/>
          <p:cNvSpPr/>
          <p:nvPr/>
        </p:nvSpPr>
        <p:spPr>
          <a:xfrm>
            <a:off x="749808" y="4882896"/>
            <a:ext cx="5074920" cy="1005840"/>
          </a:xfrm>
          <a:prstGeom prst="rect">
            <a:avLst/>
          </a:prstGeom>
          <a:noFill/>
          <a:ln/>
        </p:spPr>
        <p:txBody>
          <a:bodyPr wrap="square" rtlCol="0" anchor="t"/>
          <a:lstStyle/>
          <a:p>
            <a:pPr indent="0" marL="0">
              <a:lnSpc>
                <a:spcPct val="105000"/>
              </a:lnSpc>
              <a:buNone/>
            </a:pPr>
            <a:r>
              <a:rPr lang="en-US" sz="1250" b="1" dirty="0">
                <a:solidFill>
                  <a:srgbClr val="16183D"/>
                </a:solidFill>
                <a:latin typeface="Calibri" pitchFamily="34" charset="0"/>
                <a:ea typeface="Calibri" pitchFamily="34" charset="-122"/>
                <a:cs typeface="Calibri" pitchFamily="34" charset="-120"/>
              </a:rPr>
              <a:t>capacity (kshamata) · ability (yogyata) · receptivity (patrata)</a:t>
            </a:r>
            <a:pPr indent="0" marL="0">
              <a:lnSpc>
                <a:spcPct val="105000"/>
              </a:lnSpc>
              <a:buNone/>
            </a:pPr>
            <a:endParaRPr lang="en-US" sz="1250" dirty="0"/>
          </a:p>
          <a:p>
            <a:pPr indent="0" marL="0">
              <a:lnSpc>
                <a:spcPct val="105000"/>
              </a:lnSpc>
              <a:buNone/>
            </a:pPr>
            <a:r>
              <a:rPr lang="en-US" sz="1250" dirty="0">
                <a:solidFill>
                  <a:srgbClr val="202340"/>
                </a:solidFill>
                <a:latin typeface="Calibri" pitchFamily="34" charset="0"/>
                <a:ea typeface="Calibri" pitchFamily="34" charset="-122"/>
                <a:cs typeface="Calibri" pitchFamily="34" charset="-120"/>
              </a:rPr>
              <a:t>φ is realised at the level these permit — not by receptivity alone.</a:t>
            </a:r>
            <a:endParaRPr lang="en-US" sz="1250" dirty="0"/>
          </a:p>
        </p:txBody>
      </p:sp>
      <p:sp>
        <p:nvSpPr>
          <p:cNvPr id="25" name="Shape 23"/>
          <p:cNvSpPr/>
          <p:nvPr/>
        </p:nvSpPr>
        <p:spPr>
          <a:xfrm>
            <a:off x="6190488" y="4389120"/>
            <a:ext cx="5449824" cy="1554480"/>
          </a:xfrm>
          <a:prstGeom prst="roundRect">
            <a:avLst>
              <a:gd name="adj" fmla="val 3529"/>
            </a:avLst>
          </a:prstGeom>
          <a:solidFill>
            <a:srgbClr val="16183D"/>
          </a:solidFill>
          <a:ln/>
        </p:spPr>
      </p:sp>
      <p:sp>
        <p:nvSpPr>
          <p:cNvPr id="26" name="Text 24"/>
          <p:cNvSpPr/>
          <p:nvPr/>
        </p:nvSpPr>
        <p:spPr>
          <a:xfrm>
            <a:off x="6391656" y="4517136"/>
            <a:ext cx="5029200" cy="365760"/>
          </a:xfrm>
          <a:prstGeom prst="rect">
            <a:avLst/>
          </a:prstGeom>
          <a:noFill/>
          <a:ln/>
        </p:spPr>
        <p:txBody>
          <a:bodyPr wrap="square" rtlCol="0" anchor="ctr"/>
          <a:lstStyle/>
          <a:p>
            <a:pPr indent="0" marL="0">
              <a:buNone/>
            </a:pPr>
            <a:r>
              <a:rPr lang="en-US" sz="1450" b="1" dirty="0">
                <a:solidFill>
                  <a:srgbClr val="E3B857"/>
                </a:solidFill>
                <a:latin typeface="Cambria" pitchFamily="34" charset="0"/>
                <a:ea typeface="Cambria" pitchFamily="34" charset="-122"/>
                <a:cs typeface="Cambria" pitchFamily="34" charset="-120"/>
              </a:rPr>
              <a:t>The link back to κ</a:t>
            </a:r>
            <a:endParaRPr lang="en-US" sz="1450" dirty="0"/>
          </a:p>
        </p:txBody>
      </p:sp>
      <p:sp>
        <p:nvSpPr>
          <p:cNvPr id="27" name="Text 25"/>
          <p:cNvSpPr/>
          <p:nvPr/>
        </p:nvSpPr>
        <p:spPr>
          <a:xfrm>
            <a:off x="6391656" y="4882896"/>
            <a:ext cx="5074920" cy="1005840"/>
          </a:xfrm>
          <a:prstGeom prst="rect">
            <a:avLst/>
          </a:prstGeom>
          <a:noFill/>
          <a:ln/>
        </p:spPr>
        <p:txBody>
          <a:bodyPr wrap="square" rtlCol="0" anchor="t"/>
          <a:lstStyle/>
          <a:p>
            <a:pPr indent="0" marL="0">
              <a:lnSpc>
                <a:spcPct val="105000"/>
              </a:lnSpc>
              <a:buNone/>
            </a:pPr>
            <a:r>
              <a:rPr lang="en-US" sz="1250" dirty="0">
                <a:solidFill>
                  <a:srgbClr val="F2EEE3"/>
                </a:solidFill>
                <a:latin typeface="Calibri" pitchFamily="34" charset="0"/>
                <a:ea typeface="Calibri" pitchFamily="34" charset="-122"/>
                <a:cs typeface="Calibri" pitchFamily="34" charset="-120"/>
              </a:rPr>
              <a:t>Recognition and fulfilment are the two phases of EVERY coupling. </a:t>
            </a:r>
            <a:pPr indent="0" marL="0">
              <a:lnSpc>
                <a:spcPct val="105000"/>
              </a:lnSpc>
              <a:buNone/>
            </a:pPr>
            <a:r>
              <a:rPr lang="en-US" sz="1250" dirty="0">
                <a:solidFill>
                  <a:srgbClr val="E3B857"/>
                </a:solidFill>
                <a:latin typeface="Calibri" pitchFamily="34" charset="0"/>
                <a:ea typeface="Calibri" pitchFamily="34" charset="-122"/>
                <a:cs typeface="Calibri" pitchFamily="34" charset="-120"/>
              </a:rPr>
              <a:t>The generative move κ is simply what a fulfilled coupling BECOMES when it closes.</a:t>
            </a:r>
            <a:endParaRPr lang="en-US" sz="1250" dirty="0"/>
          </a:p>
        </p:txBody>
      </p:sp>
      <p:sp>
        <p:nvSpPr>
          <p:cNvPr id="28" name="Text 26"/>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19</a:t>
            </a:r>
            <a:endParaRPr lang="en-US" sz="900" dirty="0"/>
          </a:p>
        </p:txBody>
      </p:sp>
      <p:sp>
        <p:nvSpPr>
          <p:cNvPr id="29" name="Text 27"/>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Inside a coupling</a:t>
            </a:r>
            <a:endParaRPr lang="en-US" sz="900" dirty="0"/>
          </a:p>
        </p:txBody>
      </p:sp>
      <p:sp>
        <p:nvSpPr>
          <p:cNvPr id="30" name="Text 28"/>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III · THE SENTIENT UNIT</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Jeevan and its body — nucleus, orbits, expression-gate</a:t>
            </a:r>
            <a:endParaRPr lang="en-US" sz="2900" dirty="0"/>
          </a:p>
        </p:txBody>
      </p:sp>
      <p:sp>
        <p:nvSpPr>
          <p:cNvPr id="4" name="Shape 2"/>
          <p:cNvSpPr/>
          <p:nvPr/>
        </p:nvSpPr>
        <p:spPr>
          <a:xfrm>
            <a:off x="548640" y="1572768"/>
            <a:ext cx="4937760" cy="4370832"/>
          </a:xfrm>
          <a:prstGeom prst="roundRect">
            <a:avLst>
              <a:gd name="adj" fmla="val 1674"/>
            </a:avLst>
          </a:prstGeom>
          <a:solidFill>
            <a:srgbClr val="16183D"/>
          </a:solidFill>
          <a:ln/>
        </p:spPr>
      </p:sp>
      <p:sp>
        <p:nvSpPr>
          <p:cNvPr id="5" name="Shape 3"/>
          <p:cNvSpPr/>
          <p:nvPr/>
        </p:nvSpPr>
        <p:spPr>
          <a:xfrm>
            <a:off x="1234440" y="1828800"/>
            <a:ext cx="3566160" cy="3566160"/>
          </a:xfrm>
          <a:prstGeom prst="ellipse">
            <a:avLst/>
          </a:prstGeom>
          <a:solidFill>
            <a:srgbClr val="16183D"/>
          </a:solidFill>
          <a:ln w="19050">
            <a:solidFill>
              <a:srgbClr val="3A3E6E"/>
            </a:solidFill>
            <a:prstDash val="solid"/>
          </a:ln>
        </p:spPr>
      </p:sp>
      <p:sp>
        <p:nvSpPr>
          <p:cNvPr id="6" name="Text 4"/>
          <p:cNvSpPr/>
          <p:nvPr/>
        </p:nvSpPr>
        <p:spPr>
          <a:xfrm>
            <a:off x="2468880" y="1865376"/>
            <a:ext cx="1097280" cy="274320"/>
          </a:xfrm>
          <a:prstGeom prst="rect">
            <a:avLst/>
          </a:prstGeom>
          <a:noFill/>
          <a:ln/>
        </p:spPr>
        <p:txBody>
          <a:bodyPr wrap="square" rtlCol="0" anchor="ctr"/>
          <a:lstStyle/>
          <a:p>
            <a:pPr algn="ctr" indent="0" marL="0">
              <a:buNone/>
            </a:pPr>
            <a:r>
              <a:rPr lang="en-US" sz="1050" i="1" dirty="0">
                <a:solidFill>
                  <a:srgbClr val="A7ACD0"/>
                </a:solidFill>
                <a:latin typeface="Calibri" pitchFamily="34" charset="0"/>
                <a:ea typeface="Calibri" pitchFamily="34" charset="-122"/>
                <a:cs typeface="Calibri" pitchFamily="34" charset="-120"/>
              </a:rPr>
              <a:t>mun</a:t>
            </a:r>
            <a:endParaRPr lang="en-US" sz="1050" dirty="0"/>
          </a:p>
        </p:txBody>
      </p:sp>
      <p:sp>
        <p:nvSpPr>
          <p:cNvPr id="7" name="Shape 5"/>
          <p:cNvSpPr/>
          <p:nvPr/>
        </p:nvSpPr>
        <p:spPr>
          <a:xfrm>
            <a:off x="1623060" y="2217420"/>
            <a:ext cx="2788920" cy="2788920"/>
          </a:xfrm>
          <a:prstGeom prst="ellipse">
            <a:avLst/>
          </a:prstGeom>
          <a:solidFill>
            <a:srgbClr val="16183D"/>
          </a:solidFill>
          <a:ln w="19050">
            <a:solidFill>
              <a:srgbClr val="4A4E7E"/>
            </a:solidFill>
            <a:prstDash val="solid"/>
          </a:ln>
        </p:spPr>
      </p:sp>
      <p:sp>
        <p:nvSpPr>
          <p:cNvPr id="8" name="Text 6"/>
          <p:cNvSpPr/>
          <p:nvPr/>
        </p:nvSpPr>
        <p:spPr>
          <a:xfrm>
            <a:off x="2468880" y="2253996"/>
            <a:ext cx="1097280" cy="274320"/>
          </a:xfrm>
          <a:prstGeom prst="rect">
            <a:avLst/>
          </a:prstGeom>
          <a:noFill/>
          <a:ln/>
        </p:spPr>
        <p:txBody>
          <a:bodyPr wrap="square" rtlCol="0" anchor="ctr"/>
          <a:lstStyle/>
          <a:p>
            <a:pPr algn="ctr" indent="0" marL="0">
              <a:buNone/>
            </a:pPr>
            <a:r>
              <a:rPr lang="en-US" sz="1050" i="1" dirty="0">
                <a:solidFill>
                  <a:srgbClr val="A7ACD0"/>
                </a:solidFill>
                <a:latin typeface="Calibri" pitchFamily="34" charset="0"/>
                <a:ea typeface="Calibri" pitchFamily="34" charset="-122"/>
                <a:cs typeface="Calibri" pitchFamily="34" charset="-120"/>
              </a:rPr>
              <a:t>vritti</a:t>
            </a:r>
            <a:endParaRPr lang="en-US" sz="1050" dirty="0"/>
          </a:p>
        </p:txBody>
      </p:sp>
      <p:sp>
        <p:nvSpPr>
          <p:cNvPr id="9" name="Shape 7"/>
          <p:cNvSpPr/>
          <p:nvPr/>
        </p:nvSpPr>
        <p:spPr>
          <a:xfrm>
            <a:off x="2011680" y="2606040"/>
            <a:ext cx="2011680" cy="2011680"/>
          </a:xfrm>
          <a:prstGeom prst="ellipse">
            <a:avLst/>
          </a:prstGeom>
          <a:solidFill>
            <a:srgbClr val="16183D"/>
          </a:solidFill>
          <a:ln w="19050">
            <a:solidFill>
              <a:srgbClr val="5A5E96"/>
            </a:solidFill>
            <a:prstDash val="solid"/>
          </a:ln>
        </p:spPr>
      </p:sp>
      <p:sp>
        <p:nvSpPr>
          <p:cNvPr id="10" name="Text 8"/>
          <p:cNvSpPr/>
          <p:nvPr/>
        </p:nvSpPr>
        <p:spPr>
          <a:xfrm>
            <a:off x="2468880" y="2642616"/>
            <a:ext cx="1097280" cy="274320"/>
          </a:xfrm>
          <a:prstGeom prst="rect">
            <a:avLst/>
          </a:prstGeom>
          <a:noFill/>
          <a:ln/>
        </p:spPr>
        <p:txBody>
          <a:bodyPr wrap="square" rtlCol="0" anchor="ctr"/>
          <a:lstStyle/>
          <a:p>
            <a:pPr algn="ctr" indent="0" marL="0">
              <a:buNone/>
            </a:pPr>
            <a:r>
              <a:rPr lang="en-US" sz="1050" i="1" dirty="0">
                <a:solidFill>
                  <a:srgbClr val="A7ACD0"/>
                </a:solidFill>
                <a:latin typeface="Calibri" pitchFamily="34" charset="0"/>
                <a:ea typeface="Calibri" pitchFamily="34" charset="-122"/>
                <a:cs typeface="Calibri" pitchFamily="34" charset="-120"/>
              </a:rPr>
              <a:t>chitta</a:t>
            </a:r>
            <a:endParaRPr lang="en-US" sz="1050" dirty="0"/>
          </a:p>
        </p:txBody>
      </p:sp>
      <p:sp>
        <p:nvSpPr>
          <p:cNvPr id="11" name="Shape 9"/>
          <p:cNvSpPr/>
          <p:nvPr/>
        </p:nvSpPr>
        <p:spPr>
          <a:xfrm>
            <a:off x="2400300" y="2994660"/>
            <a:ext cx="1234440" cy="1234440"/>
          </a:xfrm>
          <a:prstGeom prst="ellipse">
            <a:avLst/>
          </a:prstGeom>
          <a:solidFill>
            <a:srgbClr val="16183D"/>
          </a:solidFill>
          <a:ln w="19050">
            <a:solidFill>
              <a:srgbClr val="6E72AE"/>
            </a:solidFill>
            <a:prstDash val="solid"/>
          </a:ln>
        </p:spPr>
      </p:sp>
      <p:sp>
        <p:nvSpPr>
          <p:cNvPr id="12" name="Text 10"/>
          <p:cNvSpPr/>
          <p:nvPr/>
        </p:nvSpPr>
        <p:spPr>
          <a:xfrm>
            <a:off x="2468880" y="3031236"/>
            <a:ext cx="1097280" cy="274320"/>
          </a:xfrm>
          <a:prstGeom prst="rect">
            <a:avLst/>
          </a:prstGeom>
          <a:noFill/>
          <a:ln/>
        </p:spPr>
        <p:txBody>
          <a:bodyPr wrap="square" rtlCol="0" anchor="ctr"/>
          <a:lstStyle/>
          <a:p>
            <a:pPr algn="ctr" indent="0" marL="0">
              <a:buNone/>
            </a:pPr>
            <a:r>
              <a:rPr lang="en-US" sz="1050" i="1" dirty="0">
                <a:solidFill>
                  <a:srgbClr val="A7ACD0"/>
                </a:solidFill>
                <a:latin typeface="Calibri" pitchFamily="34" charset="0"/>
                <a:ea typeface="Calibri" pitchFamily="34" charset="-122"/>
                <a:cs typeface="Calibri" pitchFamily="34" charset="-120"/>
              </a:rPr>
              <a:t>buddhi</a:t>
            </a:r>
            <a:endParaRPr lang="en-US" sz="1050" dirty="0"/>
          </a:p>
        </p:txBody>
      </p:sp>
      <p:sp>
        <p:nvSpPr>
          <p:cNvPr id="13" name="Shape 11"/>
          <p:cNvSpPr/>
          <p:nvPr/>
        </p:nvSpPr>
        <p:spPr>
          <a:xfrm>
            <a:off x="2670048" y="3264408"/>
            <a:ext cx="694944" cy="694944"/>
          </a:xfrm>
          <a:prstGeom prst="ellipse">
            <a:avLst/>
          </a:prstGeom>
          <a:solidFill>
            <a:srgbClr val="B8842B"/>
          </a:solidFill>
          <a:ln/>
        </p:spPr>
      </p:sp>
      <p:sp>
        <p:nvSpPr>
          <p:cNvPr id="14" name="Text 12"/>
          <p:cNvSpPr/>
          <p:nvPr/>
        </p:nvSpPr>
        <p:spPr>
          <a:xfrm>
            <a:off x="2560320" y="3447288"/>
            <a:ext cx="914400" cy="329184"/>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atma</a:t>
            </a:r>
            <a:endParaRPr lang="en-US" sz="1300" dirty="0"/>
          </a:p>
        </p:txBody>
      </p:sp>
      <p:sp>
        <p:nvSpPr>
          <p:cNvPr id="15" name="Text 13"/>
          <p:cNvSpPr/>
          <p:nvPr/>
        </p:nvSpPr>
        <p:spPr>
          <a:xfrm>
            <a:off x="731520" y="5468112"/>
            <a:ext cx="4572000" cy="457200"/>
          </a:xfrm>
          <a:prstGeom prst="rect">
            <a:avLst/>
          </a:prstGeom>
          <a:noFill/>
          <a:ln/>
        </p:spPr>
        <p:txBody>
          <a:bodyPr wrap="square" rtlCol="0" anchor="ctr"/>
          <a:lstStyle/>
          <a:p>
            <a:pPr algn="ctr" indent="0" marL="0">
              <a:lnSpc>
                <a:spcPct val="100000"/>
              </a:lnSpc>
              <a:buNone/>
            </a:pPr>
            <a:r>
              <a:rPr lang="en-US" sz="1050" dirty="0">
                <a:solidFill>
                  <a:srgbClr val="A7ACD0"/>
                </a:solidFill>
                <a:latin typeface="Calibri" pitchFamily="34" charset="0"/>
                <a:ea typeface="Calibri" pitchFamily="34" charset="-122"/>
                <a:cs typeface="Calibri" pitchFamily="34" charset="-120"/>
              </a:rPr>
              <a:t>nucleus + four orbits · projection–reflection (paravartan–pratyavartan)</a:t>
            </a:r>
            <a:endParaRPr lang="en-US" sz="1050" dirty="0"/>
          </a:p>
        </p:txBody>
      </p:sp>
      <p:sp>
        <p:nvSpPr>
          <p:cNvPr id="16" name="Text 14"/>
          <p:cNvSpPr/>
          <p:nvPr/>
        </p:nvSpPr>
        <p:spPr>
          <a:xfrm>
            <a:off x="5669280" y="1627632"/>
            <a:ext cx="5971032" cy="365760"/>
          </a:xfrm>
          <a:prstGeom prst="rect">
            <a:avLst/>
          </a:prstGeom>
          <a:noFill/>
          <a:ln/>
        </p:spPr>
        <p:txBody>
          <a:bodyPr wrap="square" rtlCol="0" anchor="t"/>
          <a:lstStyle/>
          <a:p>
            <a:pPr indent="0" marL="0">
              <a:buNone/>
            </a:pPr>
            <a:r>
              <a:rPr lang="en-US" sz="1200" b="1" dirty="0">
                <a:solidFill>
                  <a:srgbClr val="B8842B"/>
                </a:solidFill>
                <a:latin typeface="Calibri" pitchFamily="34" charset="0"/>
                <a:ea typeface="Calibri" pitchFamily="34" charset="-122"/>
                <a:cs typeface="Calibri" pitchFamily="34" charset="-120"/>
              </a:rPr>
              <a:t>atma</a:t>
            </a:r>
            <a:pPr indent="0" marL="0">
              <a:buNone/>
            </a:pPr>
            <a:r>
              <a:rPr lang="en-US" sz="1200" dirty="0">
                <a:solidFill>
                  <a:srgbClr val="202340"/>
                </a:solidFill>
                <a:latin typeface="Calibri" pitchFamily="34" charset="0"/>
                <a:ea typeface="Calibri" pitchFamily="34" charset="-122"/>
                <a:cs typeface="Calibri" pitchFamily="34" charset="-120"/>
              </a:rPr>
              <a:t> authenticity, realisation   ·   </a:t>
            </a:r>
            <a:pPr indent="0" marL="0">
              <a:buNone/>
            </a:pPr>
            <a:r>
              <a:rPr lang="en-US" sz="1200" b="1" dirty="0">
                <a:solidFill>
                  <a:srgbClr val="16183D"/>
                </a:solidFill>
                <a:latin typeface="Calibri" pitchFamily="34" charset="0"/>
                <a:ea typeface="Calibri" pitchFamily="34" charset="-122"/>
                <a:cs typeface="Calibri" pitchFamily="34" charset="-120"/>
              </a:rPr>
              <a:t>buddhi</a:t>
            </a:r>
            <a:pPr indent="0" marL="0">
              <a:buNone/>
            </a:pPr>
            <a:r>
              <a:rPr lang="en-US" sz="1200" dirty="0">
                <a:solidFill>
                  <a:srgbClr val="202340"/>
                </a:solidFill>
                <a:latin typeface="Calibri" pitchFamily="34" charset="0"/>
                <a:ea typeface="Calibri" pitchFamily="34" charset="-122"/>
                <a:cs typeface="Calibri" pitchFamily="34" charset="-120"/>
              </a:rPr>
              <a:t> resolve, enlightenment</a:t>
            </a:r>
            <a:endParaRPr lang="en-US" sz="1200" dirty="0"/>
          </a:p>
        </p:txBody>
      </p:sp>
      <p:sp>
        <p:nvSpPr>
          <p:cNvPr id="17" name="Text 15"/>
          <p:cNvSpPr/>
          <p:nvPr/>
        </p:nvSpPr>
        <p:spPr>
          <a:xfrm>
            <a:off x="5669280" y="1975104"/>
            <a:ext cx="5971032" cy="365760"/>
          </a:xfrm>
          <a:prstGeom prst="rect">
            <a:avLst/>
          </a:prstGeom>
          <a:noFill/>
          <a:ln/>
        </p:spPr>
        <p:txBody>
          <a:bodyPr wrap="square" rtlCol="0" anchor="t"/>
          <a:lstStyle/>
          <a:p>
            <a:pPr indent="0" marL="0">
              <a:buNone/>
            </a:pPr>
            <a:r>
              <a:rPr lang="en-US" sz="1200" b="1" dirty="0">
                <a:solidFill>
                  <a:srgbClr val="16183D"/>
                </a:solidFill>
                <a:latin typeface="Calibri" pitchFamily="34" charset="0"/>
                <a:ea typeface="Calibri" pitchFamily="34" charset="-122"/>
                <a:cs typeface="Calibri" pitchFamily="34" charset="-120"/>
              </a:rPr>
              <a:t>chitta</a:t>
            </a:r>
            <a:pPr indent="0" marL="0">
              <a:buNone/>
            </a:pPr>
            <a:r>
              <a:rPr lang="en-US" sz="1200" dirty="0">
                <a:solidFill>
                  <a:srgbClr val="202340"/>
                </a:solidFill>
                <a:latin typeface="Calibri" pitchFamily="34" charset="0"/>
                <a:ea typeface="Calibri" pitchFamily="34" charset="-122"/>
                <a:cs typeface="Calibri" pitchFamily="34" charset="-120"/>
              </a:rPr>
              <a:t> visualisation, contemplation   ·   </a:t>
            </a:r>
            <a:pPr indent="0" marL="0">
              <a:buNone/>
            </a:pPr>
            <a:r>
              <a:rPr lang="en-US" sz="1200" b="1" dirty="0">
                <a:solidFill>
                  <a:srgbClr val="16183D"/>
                </a:solidFill>
                <a:latin typeface="Calibri" pitchFamily="34" charset="0"/>
                <a:ea typeface="Calibri" pitchFamily="34" charset="-122"/>
                <a:cs typeface="Calibri" pitchFamily="34" charset="-120"/>
              </a:rPr>
              <a:t>vritti</a:t>
            </a:r>
            <a:pPr indent="0" marL="0">
              <a:buNone/>
            </a:pPr>
            <a:r>
              <a:rPr lang="en-US" sz="1200" dirty="0">
                <a:solidFill>
                  <a:srgbClr val="202340"/>
                </a:solidFill>
                <a:latin typeface="Calibri" pitchFamily="34" charset="0"/>
                <a:ea typeface="Calibri" pitchFamily="34" charset="-122"/>
                <a:cs typeface="Calibri" pitchFamily="34" charset="-120"/>
              </a:rPr>
              <a:t> analysis, deliberation</a:t>
            </a:r>
            <a:endParaRPr lang="en-US" sz="1200" dirty="0"/>
          </a:p>
        </p:txBody>
      </p:sp>
      <p:sp>
        <p:nvSpPr>
          <p:cNvPr id="18" name="Text 16"/>
          <p:cNvSpPr/>
          <p:nvPr/>
        </p:nvSpPr>
        <p:spPr>
          <a:xfrm>
            <a:off x="5669280" y="2322576"/>
            <a:ext cx="5971032" cy="320040"/>
          </a:xfrm>
          <a:prstGeom prst="rect">
            <a:avLst/>
          </a:prstGeom>
          <a:noFill/>
          <a:ln/>
        </p:spPr>
        <p:txBody>
          <a:bodyPr wrap="square" rtlCol="0" anchor="t"/>
          <a:lstStyle/>
          <a:p>
            <a:pPr indent="0" marL="0">
              <a:buNone/>
            </a:pPr>
            <a:r>
              <a:rPr lang="en-US" sz="1200" b="1" dirty="0">
                <a:solidFill>
                  <a:srgbClr val="16183D"/>
                </a:solidFill>
                <a:latin typeface="Calibri" pitchFamily="34" charset="0"/>
                <a:ea typeface="Calibri" pitchFamily="34" charset="-122"/>
                <a:cs typeface="Calibri" pitchFamily="34" charset="-120"/>
              </a:rPr>
              <a:t>mun</a:t>
            </a:r>
            <a:pPr indent="0" marL="0">
              <a:buNone/>
            </a:pPr>
            <a:r>
              <a:rPr lang="en-US" sz="1200" dirty="0">
                <a:solidFill>
                  <a:srgbClr val="202340"/>
                </a:solidFill>
                <a:latin typeface="Calibri" pitchFamily="34" charset="0"/>
                <a:ea typeface="Calibri" pitchFamily="34" charset="-122"/>
                <a:cs typeface="Calibri" pitchFamily="34" charset="-120"/>
              </a:rPr>
              <a:t> selection, taste</a:t>
            </a:r>
            <a:endParaRPr lang="en-US" sz="1200" dirty="0"/>
          </a:p>
        </p:txBody>
      </p:sp>
      <p:sp>
        <p:nvSpPr>
          <p:cNvPr id="19" name="Shape 17"/>
          <p:cNvSpPr/>
          <p:nvPr/>
        </p:nvSpPr>
        <p:spPr>
          <a:xfrm>
            <a:off x="5669280" y="2788920"/>
            <a:ext cx="5971032" cy="1417320"/>
          </a:xfrm>
          <a:prstGeom prst="roundRect">
            <a:avLst>
              <a:gd name="adj" fmla="val 3871"/>
            </a:avLst>
          </a:prstGeom>
          <a:solidFill>
            <a:srgbClr val="F5F6FB"/>
          </a:solidFill>
          <a:ln w="15875">
            <a:solidFill>
              <a:srgbClr val="3E7C8C"/>
            </a:solidFill>
            <a:prstDash val="solid"/>
          </a:ln>
        </p:spPr>
      </p:sp>
      <p:sp>
        <p:nvSpPr>
          <p:cNvPr id="20" name="Text 18"/>
          <p:cNvSpPr/>
          <p:nvPr/>
        </p:nvSpPr>
        <p:spPr>
          <a:xfrm>
            <a:off x="5852160" y="2889504"/>
            <a:ext cx="5577840" cy="320040"/>
          </a:xfrm>
          <a:prstGeom prst="rect">
            <a:avLst/>
          </a:prstGeom>
          <a:noFill/>
          <a:ln/>
        </p:spPr>
        <p:txBody>
          <a:bodyPr wrap="square" rtlCol="0" anchor="ctr"/>
          <a:lstStyle/>
          <a:p>
            <a:pPr indent="0" marL="0">
              <a:buNone/>
            </a:pPr>
            <a:r>
              <a:rPr lang="en-US" sz="1400" b="1" dirty="0">
                <a:solidFill>
                  <a:srgbClr val="3E7C8C"/>
                </a:solidFill>
                <a:latin typeface="Cambria" pitchFamily="34" charset="0"/>
                <a:ea typeface="Cambria" pitchFamily="34" charset="-122"/>
                <a:cs typeface="Cambria" pitchFamily="34" charset="-120"/>
              </a:rPr>
              <a:t>Faculty harmonies (H) — non-scalar</a:t>
            </a:r>
            <a:endParaRPr lang="en-US" sz="1400" dirty="0"/>
          </a:p>
        </p:txBody>
      </p:sp>
      <p:sp>
        <p:nvSpPr>
          <p:cNvPr id="21" name="Text 19"/>
          <p:cNvSpPr/>
          <p:nvPr/>
        </p:nvSpPr>
        <p:spPr>
          <a:xfrm>
            <a:off x="5852160" y="3246120"/>
            <a:ext cx="5577840" cy="914400"/>
          </a:xfrm>
          <a:prstGeom prst="rect">
            <a:avLst/>
          </a:prstGeom>
          <a:noFill/>
          <a:ln/>
        </p:spPr>
        <p:txBody>
          <a:bodyPr wrap="square" rtlCol="0" anchor="t"/>
          <a:lstStyle/>
          <a:p>
            <a:pPr algn="l" indent="0" marL="0">
              <a:lnSpc>
                <a:spcPct val="120000"/>
              </a:lnSpc>
              <a:buNone/>
            </a:pPr>
            <a:r>
              <a:rPr lang="en-US" sz="1300" dirty="0">
                <a:solidFill>
                  <a:srgbClr val="202340"/>
                </a:solidFill>
                <a:latin typeface="Calibri" pitchFamily="34" charset="0"/>
                <a:ea typeface="Calibri" pitchFamily="34" charset="-122"/>
                <a:cs typeface="Calibri" pitchFamily="34" charset="-120"/>
              </a:rPr>
              <a:t>mun–vritti → happiness      vritti–chitta → peace
</a:t>
            </a:r>
            <a:pPr algn="l" indent="0" marL="0">
              <a:lnSpc>
                <a:spcPct val="120000"/>
              </a:lnSpc>
              <a:buNone/>
            </a:pPr>
            <a:r>
              <a:rPr lang="en-US" sz="1300" dirty="0">
                <a:solidFill>
                  <a:srgbClr val="202340"/>
                </a:solidFill>
                <a:latin typeface="Calibri" pitchFamily="34" charset="0"/>
                <a:ea typeface="Calibri" pitchFamily="34" charset="-122"/>
                <a:cs typeface="Calibri" pitchFamily="34" charset="-120"/>
              </a:rPr>
              <a:t>chitta–buddhi → contentment      buddhi–atma → bliss</a:t>
            </a:r>
            <a:endParaRPr lang="en-US" sz="1300" dirty="0"/>
          </a:p>
        </p:txBody>
      </p:sp>
      <p:sp>
        <p:nvSpPr>
          <p:cNvPr id="22" name="Shape 20"/>
          <p:cNvSpPr/>
          <p:nvPr/>
        </p:nvSpPr>
        <p:spPr>
          <a:xfrm>
            <a:off x="5669280" y="4343400"/>
            <a:ext cx="5971032" cy="1600200"/>
          </a:xfrm>
          <a:prstGeom prst="roundRect">
            <a:avLst>
              <a:gd name="adj" fmla="val 3429"/>
            </a:avLst>
          </a:prstGeom>
          <a:solidFill>
            <a:srgbClr val="16183D"/>
          </a:solidFill>
          <a:ln/>
        </p:spPr>
      </p:sp>
      <p:sp>
        <p:nvSpPr>
          <p:cNvPr id="23" name="Text 21"/>
          <p:cNvSpPr/>
          <p:nvPr/>
        </p:nvSpPr>
        <p:spPr>
          <a:xfrm>
            <a:off x="5852160" y="4462272"/>
            <a:ext cx="5577840" cy="320040"/>
          </a:xfrm>
          <a:prstGeom prst="rect">
            <a:avLst/>
          </a:prstGeom>
          <a:noFill/>
          <a:ln/>
        </p:spPr>
        <p:txBody>
          <a:bodyPr wrap="square" rtlCol="0" anchor="ctr"/>
          <a:lstStyle/>
          <a:p>
            <a:pPr indent="0" marL="0">
              <a:buNone/>
            </a:pPr>
            <a:r>
              <a:rPr lang="en-US" sz="1450" b="1" dirty="0">
                <a:solidFill>
                  <a:srgbClr val="E3B857"/>
                </a:solidFill>
                <a:latin typeface="Cambria" pitchFamily="34" charset="0"/>
                <a:ea typeface="Cambria" pitchFamily="34" charset="-122"/>
                <a:cs typeface="Cambria" pitchFamily="34" charset="-120"/>
              </a:rPr>
              <a:t>The body is an expression-gate</a:t>
            </a:r>
            <a:endParaRPr lang="en-US" sz="1450" dirty="0"/>
          </a:p>
        </p:txBody>
      </p:sp>
      <p:sp>
        <p:nvSpPr>
          <p:cNvPr id="24" name="Text 22"/>
          <p:cNvSpPr/>
          <p:nvPr/>
        </p:nvSpPr>
        <p:spPr>
          <a:xfrm>
            <a:off x="5852160" y="4791456"/>
            <a:ext cx="5577840" cy="1097280"/>
          </a:xfrm>
          <a:prstGeom prst="rect">
            <a:avLst/>
          </a:prstGeom>
          <a:noFill/>
          <a:ln/>
        </p:spPr>
        <p:txBody>
          <a:bodyPr wrap="square" rtlCol="0" anchor="t"/>
          <a:lstStyle/>
          <a:p>
            <a:pPr indent="0" marL="0">
              <a:lnSpc>
                <a:spcPct val="103000"/>
              </a:lnSpc>
              <a:buNone/>
            </a:pPr>
            <a:r>
              <a:rPr lang="en-US" sz="1200" dirty="0">
                <a:solidFill>
                  <a:srgbClr val="F2EEE3"/>
                </a:solidFill>
                <a:latin typeface="Calibri" pitchFamily="34" charset="0"/>
                <a:ea typeface="Calibri" pitchFamily="34" charset="-122"/>
                <a:cs typeface="Calibri" pitchFamily="34" charset="-120"/>
              </a:rPr>
              <a:t>jeevan's capability is intrinsic and complete; how much can FUNCTION is fixed by the body. The human tier is gated </a:t>
            </a:r>
            <a:pPr indent="0" marL="0">
              <a:lnSpc>
                <a:spcPct val="103000"/>
              </a:lnSpc>
              <a:buNone/>
            </a:pPr>
            <a:r>
              <a:rPr lang="en-US" sz="1200" b="1" dirty="0">
                <a:solidFill>
                  <a:srgbClr val="E3B857"/>
                </a:solidFill>
                <a:latin typeface="Calibri" pitchFamily="34" charset="0"/>
                <a:ea typeface="Calibri" pitchFamily="34" charset="-122"/>
                <a:cs typeface="Calibri" pitchFamily="34" charset="-120"/>
              </a:rPr>
              <a:t>twice</a:t>
            </a:r>
            <a:pPr indent="0" marL="0">
              <a:lnSpc>
                <a:spcPct val="103000"/>
              </a:lnSpc>
              <a:buNone/>
            </a:pPr>
            <a:r>
              <a:rPr lang="en-US" sz="1200" dirty="0">
                <a:solidFill>
                  <a:srgbClr val="F2EEE3"/>
                </a:solidFill>
                <a:latin typeface="Calibri" pitchFamily="34" charset="0"/>
                <a:ea typeface="Calibri" pitchFamily="34" charset="-122"/>
                <a:cs typeface="Calibri" pitchFamily="34" charset="-120"/>
              </a:rPr>
              <a:t> — by an understanding that can fail, and by a body that must be human (the fifth kosha, vigyanmaya, opens only in a developed medhas-body).</a:t>
            </a:r>
            <a:endParaRPr lang="en-US" sz="1200" dirty="0"/>
          </a:p>
        </p:txBody>
      </p:sp>
      <p:sp>
        <p:nvSpPr>
          <p:cNvPr id="25" name="Text 23"/>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20</a:t>
            </a:r>
            <a:endParaRPr lang="en-US" sz="900" dirty="0"/>
          </a:p>
        </p:txBody>
      </p:sp>
      <p:sp>
        <p:nvSpPr>
          <p:cNvPr id="26" name="Text 24"/>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Jeevan and its body</a:t>
            </a:r>
            <a:endParaRPr lang="en-US" sz="900" dirty="0"/>
          </a:p>
        </p:txBody>
      </p:sp>
      <p:sp>
        <p:nvSpPr>
          <p:cNvPr id="27" name="Text 25"/>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III · THE KNOWLEDGE-ORDER CYCLE</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Justice — the closed cycle — and the four goals</a:t>
            </a:r>
            <a:endParaRPr lang="en-US" sz="2900" dirty="0"/>
          </a:p>
        </p:txBody>
      </p:sp>
      <p:sp>
        <p:nvSpPr>
          <p:cNvPr id="4" name="Shape 2"/>
          <p:cNvSpPr/>
          <p:nvPr/>
        </p:nvSpPr>
        <p:spPr>
          <a:xfrm>
            <a:off x="548640" y="1600200"/>
            <a:ext cx="5394960" cy="4343400"/>
          </a:xfrm>
          <a:prstGeom prst="roundRect">
            <a:avLst>
              <a:gd name="adj" fmla="val 1684"/>
            </a:avLst>
          </a:prstGeom>
          <a:solidFill>
            <a:srgbClr val="F5F6FB"/>
          </a:solidFill>
          <a:ln w="12700">
            <a:solidFill>
              <a:srgbClr val="E1E3EF"/>
            </a:solidFill>
            <a:prstDash val="solid"/>
          </a:ln>
        </p:spPr>
      </p:sp>
      <p:sp>
        <p:nvSpPr>
          <p:cNvPr id="5" name="Text 3"/>
          <p:cNvSpPr/>
          <p:nvPr/>
        </p:nvSpPr>
        <p:spPr>
          <a:xfrm>
            <a:off x="777240" y="1737360"/>
            <a:ext cx="4937760" cy="365760"/>
          </a:xfrm>
          <a:prstGeom prst="rect">
            <a:avLst/>
          </a:prstGeom>
          <a:noFill/>
          <a:ln/>
        </p:spPr>
        <p:txBody>
          <a:bodyPr wrap="square" rtlCol="0" anchor="t"/>
          <a:lstStyle/>
          <a:p>
            <a:pPr indent="0" marL="0">
              <a:buNone/>
            </a:pPr>
            <a:r>
              <a:rPr lang="en-US" sz="1150" b="1" dirty="0">
                <a:solidFill>
                  <a:srgbClr val="6A6E93"/>
                </a:solidFill>
                <a:latin typeface="Courier New" pitchFamily="34" charset="0"/>
                <a:ea typeface="Courier New" pitchFamily="34" charset="-122"/>
                <a:cs typeface="Courier New" pitchFamily="34" charset="-120"/>
              </a:rPr>
              <a:t>ν → β</a:t>
            </a:r>
            <a:pPr indent="0" marL="0">
              <a:buNone/>
            </a:pPr>
            <a:r>
              <a:rPr lang="en-US" sz="1150" dirty="0">
                <a:solidFill>
                  <a:srgbClr val="6A6E93"/>
                </a:solidFill>
                <a:latin typeface="Calibri" pitchFamily="34" charset="0"/>
                <a:ea typeface="Calibri" pitchFamily="34" charset="-122"/>
                <a:cs typeface="Calibri" pitchFamily="34" charset="-120"/>
              </a:rPr>
              <a:t>  (know → believe) precede the cycle at the knowledge order</a:t>
            </a:r>
            <a:endParaRPr lang="en-US" sz="1150" dirty="0"/>
          </a:p>
        </p:txBody>
      </p:sp>
      <p:sp>
        <p:nvSpPr>
          <p:cNvPr id="6" name="Shape 4"/>
          <p:cNvSpPr/>
          <p:nvPr/>
        </p:nvSpPr>
        <p:spPr>
          <a:xfrm>
            <a:off x="2743200" y="1874520"/>
            <a:ext cx="914400" cy="914400"/>
          </a:xfrm>
          <a:prstGeom prst="ellipse">
            <a:avLst/>
          </a:prstGeom>
          <a:solidFill>
            <a:srgbClr val="3E7C8C"/>
          </a:solidFill>
          <a:ln/>
        </p:spPr>
      </p:sp>
      <p:sp>
        <p:nvSpPr>
          <p:cNvPr id="7" name="Text 5"/>
          <p:cNvSpPr/>
          <p:nvPr/>
        </p:nvSpPr>
        <p:spPr>
          <a:xfrm>
            <a:off x="2743200" y="1874520"/>
            <a:ext cx="914400" cy="914400"/>
          </a:xfrm>
          <a:prstGeom prst="rect">
            <a:avLst/>
          </a:prstGeom>
          <a:noFill/>
          <a:ln/>
        </p:spPr>
        <p:txBody>
          <a:bodyPr wrap="square"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ρ</a:t>
            </a:r>
            <a:endParaRPr lang="en-US" sz="1800" dirty="0"/>
          </a:p>
        </p:txBody>
      </p:sp>
      <p:sp>
        <p:nvSpPr>
          <p:cNvPr id="8" name="Text 6"/>
          <p:cNvSpPr/>
          <p:nvPr/>
        </p:nvSpPr>
        <p:spPr>
          <a:xfrm>
            <a:off x="2377440" y="2788920"/>
            <a:ext cx="1645920" cy="457200"/>
          </a:xfrm>
          <a:prstGeom prst="rect">
            <a:avLst/>
          </a:prstGeom>
          <a:noFill/>
          <a:ln/>
        </p:spPr>
        <p:txBody>
          <a:bodyPr wrap="square" rtlCol="0" anchor="t"/>
          <a:lstStyle/>
          <a:p>
            <a:pPr algn="ctr" indent="0" marL="0">
              <a:lnSpc>
                <a:spcPct val="90000"/>
              </a:lnSpc>
              <a:buNone/>
            </a:pPr>
            <a:r>
              <a:rPr lang="en-US" sz="1050" b="1" dirty="0">
                <a:solidFill>
                  <a:srgbClr val="16183D"/>
                </a:solidFill>
                <a:latin typeface="Calibri" pitchFamily="34" charset="0"/>
                <a:ea typeface="Calibri" pitchFamily="34" charset="-122"/>
                <a:cs typeface="Calibri" pitchFamily="34" charset="-120"/>
              </a:rPr>
              <a:t>recognise</a:t>
            </a:r>
            <a:endParaRPr lang="en-US" sz="1050" dirty="0"/>
          </a:p>
        </p:txBody>
      </p:sp>
      <p:sp>
        <p:nvSpPr>
          <p:cNvPr id="9" name="Shape 7"/>
          <p:cNvSpPr/>
          <p:nvPr/>
        </p:nvSpPr>
        <p:spPr>
          <a:xfrm>
            <a:off x="4114800" y="2971800"/>
            <a:ext cx="914400" cy="914400"/>
          </a:xfrm>
          <a:prstGeom prst="ellipse">
            <a:avLst/>
          </a:prstGeom>
          <a:solidFill>
            <a:srgbClr val="B8842B"/>
          </a:solidFill>
          <a:ln/>
        </p:spPr>
      </p:sp>
      <p:sp>
        <p:nvSpPr>
          <p:cNvPr id="10" name="Text 8"/>
          <p:cNvSpPr/>
          <p:nvPr/>
        </p:nvSpPr>
        <p:spPr>
          <a:xfrm>
            <a:off x="4114800" y="2971800"/>
            <a:ext cx="914400" cy="914400"/>
          </a:xfrm>
          <a:prstGeom prst="rect">
            <a:avLst/>
          </a:prstGeom>
          <a:noFill/>
          <a:ln/>
        </p:spPr>
        <p:txBody>
          <a:bodyPr wrap="square"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φ</a:t>
            </a:r>
            <a:endParaRPr lang="en-US" sz="1800" dirty="0"/>
          </a:p>
        </p:txBody>
      </p:sp>
      <p:sp>
        <p:nvSpPr>
          <p:cNvPr id="11" name="Text 9"/>
          <p:cNvSpPr/>
          <p:nvPr/>
        </p:nvSpPr>
        <p:spPr>
          <a:xfrm>
            <a:off x="3749040" y="3886200"/>
            <a:ext cx="1645920" cy="457200"/>
          </a:xfrm>
          <a:prstGeom prst="rect">
            <a:avLst/>
          </a:prstGeom>
          <a:noFill/>
          <a:ln/>
        </p:spPr>
        <p:txBody>
          <a:bodyPr wrap="square" rtlCol="0" anchor="t"/>
          <a:lstStyle/>
          <a:p>
            <a:pPr algn="ctr" indent="0" marL="0">
              <a:lnSpc>
                <a:spcPct val="90000"/>
              </a:lnSpc>
              <a:buNone/>
            </a:pPr>
            <a:r>
              <a:rPr lang="en-US" sz="1050" b="1" dirty="0">
                <a:solidFill>
                  <a:srgbClr val="16183D"/>
                </a:solidFill>
                <a:latin typeface="Calibri" pitchFamily="34" charset="0"/>
                <a:ea typeface="Calibri" pitchFamily="34" charset="-122"/>
                <a:cs typeface="Calibri" pitchFamily="34" charset="-120"/>
              </a:rPr>
              <a:t>fulfil</a:t>
            </a:r>
            <a:endParaRPr lang="en-US" sz="1050" dirty="0"/>
          </a:p>
        </p:txBody>
      </p:sp>
      <p:sp>
        <p:nvSpPr>
          <p:cNvPr id="12" name="Shape 10"/>
          <p:cNvSpPr/>
          <p:nvPr/>
        </p:nvSpPr>
        <p:spPr>
          <a:xfrm>
            <a:off x="2743200" y="4069080"/>
            <a:ext cx="914400" cy="914400"/>
          </a:xfrm>
          <a:prstGeom prst="ellipse">
            <a:avLst/>
          </a:prstGeom>
          <a:solidFill>
            <a:srgbClr val="2E5E6B"/>
          </a:solidFill>
          <a:ln/>
        </p:spPr>
      </p:sp>
      <p:sp>
        <p:nvSpPr>
          <p:cNvPr id="13" name="Text 11"/>
          <p:cNvSpPr/>
          <p:nvPr/>
        </p:nvSpPr>
        <p:spPr>
          <a:xfrm>
            <a:off x="2743200" y="4069080"/>
            <a:ext cx="914400" cy="914400"/>
          </a:xfrm>
          <a:prstGeom prst="rect">
            <a:avLst/>
          </a:prstGeom>
          <a:noFill/>
          <a:ln/>
        </p:spPr>
        <p:txBody>
          <a:bodyPr wrap="square"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μ</a:t>
            </a:r>
            <a:endParaRPr lang="en-US" sz="1800" dirty="0"/>
          </a:p>
        </p:txBody>
      </p:sp>
      <p:sp>
        <p:nvSpPr>
          <p:cNvPr id="14" name="Text 12"/>
          <p:cNvSpPr/>
          <p:nvPr/>
        </p:nvSpPr>
        <p:spPr>
          <a:xfrm>
            <a:off x="2377440" y="4983480"/>
            <a:ext cx="1645920" cy="457200"/>
          </a:xfrm>
          <a:prstGeom prst="rect">
            <a:avLst/>
          </a:prstGeom>
          <a:noFill/>
          <a:ln/>
        </p:spPr>
        <p:txBody>
          <a:bodyPr wrap="square" rtlCol="0" anchor="t"/>
          <a:lstStyle/>
          <a:p>
            <a:pPr algn="ctr" indent="0" marL="0">
              <a:lnSpc>
                <a:spcPct val="90000"/>
              </a:lnSpc>
              <a:buNone/>
            </a:pPr>
            <a:r>
              <a:rPr lang="en-US" sz="1050" b="1" dirty="0">
                <a:solidFill>
                  <a:srgbClr val="16183D"/>
                </a:solidFill>
                <a:latin typeface="Calibri" pitchFamily="34" charset="0"/>
                <a:ea typeface="Calibri" pitchFamily="34" charset="-122"/>
                <a:cs typeface="Calibri" pitchFamily="34" charset="-120"/>
              </a:rPr>
              <a:t>evaluate</a:t>
            </a:r>
            <a:endParaRPr lang="en-US" sz="1050" dirty="0"/>
          </a:p>
        </p:txBody>
      </p:sp>
      <p:sp>
        <p:nvSpPr>
          <p:cNvPr id="15" name="Shape 13"/>
          <p:cNvSpPr/>
          <p:nvPr/>
        </p:nvSpPr>
        <p:spPr>
          <a:xfrm>
            <a:off x="1371600" y="2971800"/>
            <a:ext cx="914400" cy="914400"/>
          </a:xfrm>
          <a:prstGeom prst="ellipse">
            <a:avLst/>
          </a:prstGeom>
          <a:solidFill>
            <a:srgbClr val="16183D"/>
          </a:solidFill>
          <a:ln/>
        </p:spPr>
      </p:sp>
      <p:sp>
        <p:nvSpPr>
          <p:cNvPr id="16" name="Text 14"/>
          <p:cNvSpPr/>
          <p:nvPr/>
        </p:nvSpPr>
        <p:spPr>
          <a:xfrm>
            <a:off x="1371600" y="2971800"/>
            <a:ext cx="914400" cy="914400"/>
          </a:xfrm>
          <a:prstGeom prst="rect">
            <a:avLst/>
          </a:prstGeom>
          <a:noFill/>
          <a:ln/>
        </p:spPr>
        <p:txBody>
          <a:bodyPr wrap="square"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17" name="Text 15"/>
          <p:cNvSpPr/>
          <p:nvPr/>
        </p:nvSpPr>
        <p:spPr>
          <a:xfrm>
            <a:off x="1005840" y="3886200"/>
            <a:ext cx="1645920" cy="457200"/>
          </a:xfrm>
          <a:prstGeom prst="rect">
            <a:avLst/>
          </a:prstGeom>
          <a:noFill/>
          <a:ln/>
        </p:spPr>
        <p:txBody>
          <a:bodyPr wrap="square" rtlCol="0" anchor="t"/>
          <a:lstStyle/>
          <a:p>
            <a:pPr algn="ctr" indent="0" marL="0">
              <a:lnSpc>
                <a:spcPct val="90000"/>
              </a:lnSpc>
              <a:buNone/>
            </a:pPr>
            <a:r>
              <a:rPr lang="en-US" sz="1050" b="1" dirty="0">
                <a:solidFill>
                  <a:srgbClr val="16183D"/>
                </a:solidFill>
                <a:latin typeface="Calibri" pitchFamily="34" charset="0"/>
                <a:ea typeface="Calibri" pitchFamily="34" charset="-122"/>
                <a:cs typeface="Calibri" pitchFamily="34" charset="-120"/>
              </a:rPr>
              <a:t>mutual</a:t>
            </a:r>
            <a:endParaRPr lang="en-US" sz="1050" dirty="0"/>
          </a:p>
          <a:p>
            <a:pPr algn="ctr" indent="0" marL="0">
              <a:lnSpc>
                <a:spcPct val="90000"/>
              </a:lnSpc>
              <a:buNone/>
            </a:pPr>
            <a:r>
              <a:rPr lang="en-US" sz="1050" b="1" dirty="0">
                <a:solidFill>
                  <a:srgbClr val="16183D"/>
                </a:solidFill>
                <a:latin typeface="Calibri" pitchFamily="34" charset="0"/>
                <a:ea typeface="Calibri" pitchFamily="34" charset="-122"/>
                <a:cs typeface="Calibri" pitchFamily="34" charset="-120"/>
              </a:rPr>
              <a:t>satisfaction</a:t>
            </a:r>
            <a:endParaRPr lang="en-US" sz="1050" dirty="0"/>
          </a:p>
        </p:txBody>
      </p:sp>
      <p:sp>
        <p:nvSpPr>
          <p:cNvPr id="18" name="Shape 16"/>
          <p:cNvSpPr/>
          <p:nvPr/>
        </p:nvSpPr>
        <p:spPr>
          <a:xfrm rot="2280000">
            <a:off x="3611880" y="2560320"/>
            <a:ext cx="822960" cy="164592"/>
          </a:xfrm>
          <a:prstGeom prst="rightArrow">
            <a:avLst/>
          </a:prstGeom>
          <a:solidFill>
            <a:srgbClr val="6A6E93"/>
          </a:solidFill>
          <a:ln/>
        </p:spPr>
      </p:sp>
      <p:sp>
        <p:nvSpPr>
          <p:cNvPr id="19" name="Shape 17"/>
          <p:cNvSpPr/>
          <p:nvPr/>
        </p:nvSpPr>
        <p:spPr>
          <a:xfrm rot="-2280000">
            <a:off x="3611880" y="4114800"/>
            <a:ext cx="822960" cy="164592"/>
          </a:xfrm>
          <a:prstGeom prst="rightArrow">
            <a:avLst/>
          </a:prstGeom>
          <a:solidFill>
            <a:srgbClr val="6A6E93"/>
          </a:solidFill>
          <a:ln/>
        </p:spPr>
      </p:sp>
      <p:sp>
        <p:nvSpPr>
          <p:cNvPr id="20" name="Shape 18"/>
          <p:cNvSpPr/>
          <p:nvPr/>
        </p:nvSpPr>
        <p:spPr>
          <a:xfrm rot="-8520000">
            <a:off x="2011680" y="4114800"/>
            <a:ext cx="822960" cy="164592"/>
          </a:xfrm>
          <a:prstGeom prst="rightArrow">
            <a:avLst/>
          </a:prstGeom>
          <a:solidFill>
            <a:srgbClr val="6A6E93"/>
          </a:solidFill>
          <a:ln/>
        </p:spPr>
      </p:sp>
      <p:sp>
        <p:nvSpPr>
          <p:cNvPr id="21" name="Shape 19"/>
          <p:cNvSpPr/>
          <p:nvPr/>
        </p:nvSpPr>
        <p:spPr>
          <a:xfrm rot="8520000">
            <a:off x="2011680" y="2560320"/>
            <a:ext cx="822960" cy="164592"/>
          </a:xfrm>
          <a:prstGeom prst="rightArrow">
            <a:avLst/>
          </a:prstGeom>
          <a:solidFill>
            <a:srgbClr val="6A6E93"/>
          </a:solidFill>
          <a:ln/>
        </p:spPr>
      </p:sp>
      <p:sp>
        <p:nvSpPr>
          <p:cNvPr id="22" name="Text 20"/>
          <p:cNvSpPr/>
          <p:nvPr/>
        </p:nvSpPr>
        <p:spPr>
          <a:xfrm>
            <a:off x="777240" y="5440680"/>
            <a:ext cx="4937760" cy="457200"/>
          </a:xfrm>
          <a:prstGeom prst="rect">
            <a:avLst/>
          </a:prstGeom>
          <a:noFill/>
          <a:ln/>
        </p:spPr>
        <p:txBody>
          <a:bodyPr wrap="square" rtlCol="0" anchor="ctr"/>
          <a:lstStyle/>
          <a:p>
            <a:pPr algn="ctr" indent="0" marL="0">
              <a:lnSpc>
                <a:spcPct val="100000"/>
              </a:lnSpc>
              <a:buNone/>
            </a:pPr>
            <a:r>
              <a:rPr lang="en-US" sz="1100" i="1" dirty="0">
                <a:solidFill>
                  <a:srgbClr val="6A6E93"/>
                </a:solidFill>
                <a:latin typeface="Calibri" pitchFamily="34" charset="0"/>
                <a:ea typeface="Calibri" pitchFamily="34" charset="-122"/>
                <a:cs typeface="Calibri" pitchFamily="34" charset="-120"/>
              </a:rPr>
              <a:t>Recognising relationships, fulfilling values,</a:t>
            </a:r>
            <a:endParaRPr lang="en-US" sz="1100" dirty="0"/>
          </a:p>
          <a:p>
            <a:pPr algn="ctr" indent="0" marL="0">
              <a:lnSpc>
                <a:spcPct val="100000"/>
              </a:lnSpc>
              <a:buNone/>
            </a:pPr>
            <a:r>
              <a:rPr lang="en-US" sz="1100" i="1" dirty="0">
                <a:solidFill>
                  <a:srgbClr val="6A6E93"/>
                </a:solidFill>
                <a:latin typeface="Calibri" pitchFamily="34" charset="0"/>
                <a:ea typeface="Calibri" pitchFamily="34" charset="-122"/>
                <a:cs typeface="Calibri" pitchFamily="34" charset="-120"/>
              </a:rPr>
              <a:t>evaluating, and reaching mutual satisfaction is justice.</a:t>
            </a:r>
            <a:endParaRPr lang="en-US" sz="1100" dirty="0"/>
          </a:p>
        </p:txBody>
      </p:sp>
      <p:sp>
        <p:nvSpPr>
          <p:cNvPr id="23" name="Text 21"/>
          <p:cNvSpPr/>
          <p:nvPr/>
        </p:nvSpPr>
        <p:spPr>
          <a:xfrm>
            <a:off x="6172200" y="1645920"/>
            <a:ext cx="5468112" cy="365760"/>
          </a:xfrm>
          <a:prstGeom prst="rect">
            <a:avLst/>
          </a:prstGeom>
          <a:noFill/>
          <a:ln/>
        </p:spPr>
        <p:txBody>
          <a:bodyPr wrap="square" rtlCol="0" anchor="ctr"/>
          <a:lstStyle/>
          <a:p>
            <a:pPr indent="0" marL="0">
              <a:buNone/>
            </a:pPr>
            <a:r>
              <a:rPr lang="en-US" sz="1600" b="1" dirty="0">
                <a:solidFill>
                  <a:srgbClr val="16183D"/>
                </a:solidFill>
                <a:latin typeface="Cambria" pitchFamily="34" charset="0"/>
                <a:ea typeface="Cambria" pitchFamily="34" charset="-122"/>
                <a:cs typeface="Cambria" pitchFamily="34" charset="-120"/>
              </a:rPr>
              <a:t>Justice at scale evidences four goals</a:t>
            </a:r>
            <a:endParaRPr lang="en-US" sz="1600" dirty="0"/>
          </a:p>
        </p:txBody>
      </p:sp>
      <p:sp>
        <p:nvSpPr>
          <p:cNvPr id="24" name="Shape 22"/>
          <p:cNvSpPr/>
          <p:nvPr/>
        </p:nvSpPr>
        <p:spPr>
          <a:xfrm>
            <a:off x="6172200" y="2194560"/>
            <a:ext cx="5468112" cy="841248"/>
          </a:xfrm>
          <a:prstGeom prst="roundRect">
            <a:avLst>
              <a:gd name="adj" fmla="val 5435"/>
            </a:avLst>
          </a:prstGeom>
          <a:solidFill>
            <a:srgbClr val="F5F6FB"/>
          </a:solidFill>
          <a:ln w="12700">
            <a:solidFill>
              <a:srgbClr val="E1E3EF"/>
            </a:solidFill>
            <a:prstDash val="solid"/>
          </a:ln>
        </p:spPr>
      </p:sp>
      <p:sp>
        <p:nvSpPr>
          <p:cNvPr id="25" name="Shape 23"/>
          <p:cNvSpPr/>
          <p:nvPr/>
        </p:nvSpPr>
        <p:spPr>
          <a:xfrm>
            <a:off x="6400800" y="2478024"/>
            <a:ext cx="274320" cy="274320"/>
          </a:xfrm>
          <a:prstGeom prst="ellipse">
            <a:avLst/>
          </a:prstGeom>
          <a:solidFill>
            <a:srgbClr val="B8842B"/>
          </a:solidFill>
          <a:ln/>
        </p:spPr>
      </p:sp>
      <p:sp>
        <p:nvSpPr>
          <p:cNvPr id="26" name="Text 24"/>
          <p:cNvSpPr/>
          <p:nvPr/>
        </p:nvSpPr>
        <p:spPr>
          <a:xfrm>
            <a:off x="6400800" y="2478024"/>
            <a:ext cx="274320" cy="2743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7" name="Text 25"/>
          <p:cNvSpPr/>
          <p:nvPr/>
        </p:nvSpPr>
        <p:spPr>
          <a:xfrm>
            <a:off x="6858000" y="2194560"/>
            <a:ext cx="4663440" cy="841248"/>
          </a:xfrm>
          <a:prstGeom prst="rect">
            <a:avLst/>
          </a:prstGeom>
          <a:noFill/>
          <a:ln/>
        </p:spPr>
        <p:txBody>
          <a:bodyPr wrap="square" rtlCol="0" anchor="ctr"/>
          <a:lstStyle/>
          <a:p>
            <a:pPr indent="0" marL="0">
              <a:buNone/>
            </a:pPr>
            <a:r>
              <a:rPr lang="en-US" sz="1500" b="1" dirty="0">
                <a:solidFill>
                  <a:srgbClr val="16183D"/>
                </a:solidFill>
                <a:latin typeface="Cambria" pitchFamily="34" charset="0"/>
                <a:ea typeface="Cambria" pitchFamily="34" charset="-122"/>
                <a:cs typeface="Cambria" pitchFamily="34" charset="-120"/>
              </a:rPr>
              <a:t>Resolution</a:t>
            </a:r>
            <a:pPr indent="0" marL="0">
              <a:buNone/>
            </a:pPr>
            <a:r>
              <a:rPr lang="en-US" sz="1500" dirty="0">
                <a:solidFill>
                  <a:srgbClr val="202340"/>
                </a:solidFill>
                <a:latin typeface="Calibri" pitchFamily="34" charset="0"/>
                <a:ea typeface="Calibri" pitchFamily="34" charset="-122"/>
                <a:cs typeface="Calibri" pitchFamily="34" charset="-120"/>
              </a:rPr>
              <a:t>   —  in the person</a:t>
            </a:r>
            <a:endParaRPr lang="en-US" sz="1500" dirty="0"/>
          </a:p>
        </p:txBody>
      </p:sp>
      <p:sp>
        <p:nvSpPr>
          <p:cNvPr id="28" name="Shape 26"/>
          <p:cNvSpPr/>
          <p:nvPr/>
        </p:nvSpPr>
        <p:spPr>
          <a:xfrm>
            <a:off x="6172200" y="3108960"/>
            <a:ext cx="5468112" cy="841248"/>
          </a:xfrm>
          <a:prstGeom prst="roundRect">
            <a:avLst>
              <a:gd name="adj" fmla="val 5435"/>
            </a:avLst>
          </a:prstGeom>
          <a:solidFill>
            <a:srgbClr val="F5F6FB"/>
          </a:solidFill>
          <a:ln w="12700">
            <a:solidFill>
              <a:srgbClr val="E1E3EF"/>
            </a:solidFill>
            <a:prstDash val="solid"/>
          </a:ln>
        </p:spPr>
      </p:sp>
      <p:sp>
        <p:nvSpPr>
          <p:cNvPr id="29" name="Shape 27"/>
          <p:cNvSpPr/>
          <p:nvPr/>
        </p:nvSpPr>
        <p:spPr>
          <a:xfrm>
            <a:off x="6400800" y="3392424"/>
            <a:ext cx="274320" cy="274320"/>
          </a:xfrm>
          <a:prstGeom prst="ellipse">
            <a:avLst/>
          </a:prstGeom>
          <a:solidFill>
            <a:srgbClr val="B8842B"/>
          </a:solidFill>
          <a:ln/>
        </p:spPr>
      </p:sp>
      <p:sp>
        <p:nvSpPr>
          <p:cNvPr id="30" name="Text 28"/>
          <p:cNvSpPr/>
          <p:nvPr/>
        </p:nvSpPr>
        <p:spPr>
          <a:xfrm>
            <a:off x="6400800" y="3392424"/>
            <a:ext cx="274320" cy="2743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31" name="Text 29"/>
          <p:cNvSpPr/>
          <p:nvPr/>
        </p:nvSpPr>
        <p:spPr>
          <a:xfrm>
            <a:off x="6858000" y="3108960"/>
            <a:ext cx="4663440" cy="841248"/>
          </a:xfrm>
          <a:prstGeom prst="rect">
            <a:avLst/>
          </a:prstGeom>
          <a:noFill/>
          <a:ln/>
        </p:spPr>
        <p:txBody>
          <a:bodyPr wrap="square" rtlCol="0" anchor="ctr"/>
          <a:lstStyle/>
          <a:p>
            <a:pPr indent="0" marL="0">
              <a:buNone/>
            </a:pPr>
            <a:r>
              <a:rPr lang="en-US" sz="1500" b="1" dirty="0">
                <a:solidFill>
                  <a:srgbClr val="16183D"/>
                </a:solidFill>
                <a:latin typeface="Cambria" pitchFamily="34" charset="0"/>
                <a:ea typeface="Cambria" pitchFamily="34" charset="-122"/>
                <a:cs typeface="Cambria" pitchFamily="34" charset="-120"/>
              </a:rPr>
              <a:t>Prosperity</a:t>
            </a:r>
            <a:pPr indent="0" marL="0">
              <a:buNone/>
            </a:pPr>
            <a:r>
              <a:rPr lang="en-US" sz="1500" dirty="0">
                <a:solidFill>
                  <a:srgbClr val="202340"/>
                </a:solidFill>
                <a:latin typeface="Calibri" pitchFamily="34" charset="0"/>
                <a:ea typeface="Calibri" pitchFamily="34" charset="-122"/>
                <a:cs typeface="Calibri" pitchFamily="34" charset="-120"/>
              </a:rPr>
              <a:t>   —  in the family</a:t>
            </a:r>
            <a:endParaRPr lang="en-US" sz="1500" dirty="0"/>
          </a:p>
        </p:txBody>
      </p:sp>
      <p:sp>
        <p:nvSpPr>
          <p:cNvPr id="32" name="Shape 30"/>
          <p:cNvSpPr/>
          <p:nvPr/>
        </p:nvSpPr>
        <p:spPr>
          <a:xfrm>
            <a:off x="6172200" y="4023360"/>
            <a:ext cx="5468112" cy="841248"/>
          </a:xfrm>
          <a:prstGeom prst="roundRect">
            <a:avLst>
              <a:gd name="adj" fmla="val 5435"/>
            </a:avLst>
          </a:prstGeom>
          <a:solidFill>
            <a:srgbClr val="F5F6FB"/>
          </a:solidFill>
          <a:ln w="12700">
            <a:solidFill>
              <a:srgbClr val="E1E3EF"/>
            </a:solidFill>
            <a:prstDash val="solid"/>
          </a:ln>
        </p:spPr>
      </p:sp>
      <p:sp>
        <p:nvSpPr>
          <p:cNvPr id="33" name="Shape 31"/>
          <p:cNvSpPr/>
          <p:nvPr/>
        </p:nvSpPr>
        <p:spPr>
          <a:xfrm>
            <a:off x="6400800" y="4306824"/>
            <a:ext cx="274320" cy="274320"/>
          </a:xfrm>
          <a:prstGeom prst="ellipse">
            <a:avLst/>
          </a:prstGeom>
          <a:solidFill>
            <a:srgbClr val="B8842B"/>
          </a:solidFill>
          <a:ln/>
        </p:spPr>
      </p:sp>
      <p:sp>
        <p:nvSpPr>
          <p:cNvPr id="34" name="Text 32"/>
          <p:cNvSpPr/>
          <p:nvPr/>
        </p:nvSpPr>
        <p:spPr>
          <a:xfrm>
            <a:off x="6400800" y="4306824"/>
            <a:ext cx="274320" cy="2743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5" name="Text 33"/>
          <p:cNvSpPr/>
          <p:nvPr/>
        </p:nvSpPr>
        <p:spPr>
          <a:xfrm>
            <a:off x="6858000" y="4023360"/>
            <a:ext cx="4663440" cy="841248"/>
          </a:xfrm>
          <a:prstGeom prst="rect">
            <a:avLst/>
          </a:prstGeom>
          <a:noFill/>
          <a:ln/>
        </p:spPr>
        <p:txBody>
          <a:bodyPr wrap="square" rtlCol="0" anchor="ctr"/>
          <a:lstStyle/>
          <a:p>
            <a:pPr indent="0" marL="0">
              <a:buNone/>
            </a:pPr>
            <a:r>
              <a:rPr lang="en-US" sz="1500" b="1" dirty="0">
                <a:solidFill>
                  <a:srgbClr val="16183D"/>
                </a:solidFill>
                <a:latin typeface="Cambria" pitchFamily="34" charset="0"/>
                <a:ea typeface="Cambria" pitchFamily="34" charset="-122"/>
                <a:cs typeface="Cambria" pitchFamily="34" charset="-120"/>
              </a:rPr>
              <a:t>Fearlessness</a:t>
            </a:r>
            <a:pPr indent="0" marL="0">
              <a:buNone/>
            </a:pPr>
            <a:r>
              <a:rPr lang="en-US" sz="1500" dirty="0">
                <a:solidFill>
                  <a:srgbClr val="202340"/>
                </a:solidFill>
                <a:latin typeface="Calibri" pitchFamily="34" charset="0"/>
                <a:ea typeface="Calibri" pitchFamily="34" charset="-122"/>
                <a:cs typeface="Calibri" pitchFamily="34" charset="-120"/>
              </a:rPr>
              <a:t>   —  in society</a:t>
            </a:r>
            <a:endParaRPr lang="en-US" sz="1500" dirty="0"/>
          </a:p>
        </p:txBody>
      </p:sp>
      <p:sp>
        <p:nvSpPr>
          <p:cNvPr id="36" name="Shape 34"/>
          <p:cNvSpPr/>
          <p:nvPr/>
        </p:nvSpPr>
        <p:spPr>
          <a:xfrm>
            <a:off x="6172200" y="4937760"/>
            <a:ext cx="5468112" cy="841248"/>
          </a:xfrm>
          <a:prstGeom prst="roundRect">
            <a:avLst>
              <a:gd name="adj" fmla="val 5435"/>
            </a:avLst>
          </a:prstGeom>
          <a:solidFill>
            <a:srgbClr val="16183D"/>
          </a:solidFill>
          <a:ln w="12700">
            <a:solidFill>
              <a:srgbClr val="16183D"/>
            </a:solidFill>
            <a:prstDash val="solid"/>
          </a:ln>
        </p:spPr>
      </p:sp>
      <p:sp>
        <p:nvSpPr>
          <p:cNvPr id="37" name="Shape 35"/>
          <p:cNvSpPr/>
          <p:nvPr/>
        </p:nvSpPr>
        <p:spPr>
          <a:xfrm>
            <a:off x="6400800" y="5221224"/>
            <a:ext cx="274320" cy="274320"/>
          </a:xfrm>
          <a:prstGeom prst="ellipse">
            <a:avLst/>
          </a:prstGeom>
          <a:solidFill>
            <a:srgbClr val="E3B857"/>
          </a:solidFill>
          <a:ln/>
        </p:spPr>
      </p:sp>
      <p:sp>
        <p:nvSpPr>
          <p:cNvPr id="38" name="Text 36"/>
          <p:cNvSpPr/>
          <p:nvPr/>
        </p:nvSpPr>
        <p:spPr>
          <a:xfrm>
            <a:off x="6400800" y="5221224"/>
            <a:ext cx="274320" cy="2743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9" name="Text 37"/>
          <p:cNvSpPr/>
          <p:nvPr/>
        </p:nvSpPr>
        <p:spPr>
          <a:xfrm>
            <a:off x="6858000" y="4937760"/>
            <a:ext cx="4663440" cy="841248"/>
          </a:xfrm>
          <a:prstGeom prst="rect">
            <a:avLst/>
          </a:prstGeom>
          <a:noFill/>
          <a:ln/>
        </p:spPr>
        <p:txBody>
          <a:bodyPr wrap="square" rtlCol="0" anchor="ctr"/>
          <a:lstStyle/>
          <a:p>
            <a:pPr indent="0" marL="0">
              <a:buNone/>
            </a:pPr>
            <a:r>
              <a:rPr lang="en-US" sz="1500" b="1" dirty="0">
                <a:solidFill>
                  <a:srgbClr val="E3B857"/>
                </a:solidFill>
                <a:latin typeface="Cambria" pitchFamily="34" charset="0"/>
                <a:ea typeface="Cambria" pitchFamily="34" charset="-122"/>
                <a:cs typeface="Cambria" pitchFamily="34" charset="-120"/>
              </a:rPr>
              <a:t>Coexistence</a:t>
            </a:r>
            <a:pPr indent="0" marL="0">
              <a:buNone/>
            </a:pPr>
            <a:r>
              <a:rPr lang="en-US" sz="1500" dirty="0">
                <a:solidFill>
                  <a:srgbClr val="F2EEE3"/>
                </a:solidFill>
                <a:latin typeface="Calibri" pitchFamily="34" charset="0"/>
                <a:ea typeface="Calibri" pitchFamily="34" charset="-122"/>
                <a:cs typeface="Calibri" pitchFamily="34" charset="-120"/>
              </a:rPr>
              <a:t>   —  in universal order</a:t>
            </a:r>
            <a:endParaRPr lang="en-US" sz="1500" dirty="0"/>
          </a:p>
        </p:txBody>
      </p:sp>
      <p:sp>
        <p:nvSpPr>
          <p:cNvPr id="40" name="Text 38"/>
          <p:cNvSpPr/>
          <p:nvPr/>
        </p:nvSpPr>
        <p:spPr>
          <a:xfrm>
            <a:off x="6172200" y="5897880"/>
            <a:ext cx="5468112" cy="320040"/>
          </a:xfrm>
          <a:prstGeom prst="rect">
            <a:avLst/>
          </a:prstGeom>
          <a:noFill/>
          <a:ln/>
        </p:spPr>
        <p:txBody>
          <a:bodyPr wrap="square" rtlCol="0" anchor="ctr"/>
          <a:lstStyle/>
          <a:p>
            <a:pPr algn="ctr" indent="0" marL="0">
              <a:buNone/>
            </a:pPr>
            <a:r>
              <a:rPr lang="en-US" sz="1200" i="1" dirty="0">
                <a:solidFill>
                  <a:srgbClr val="6A6E93"/>
                </a:solidFill>
                <a:latin typeface="Calibri" pitchFamily="34" charset="0"/>
                <a:ea typeface="Calibri" pitchFamily="34" charset="-122"/>
                <a:cs typeface="Calibri" pitchFamily="34" charset="-120"/>
              </a:rPr>
              <a:t>Provisions of coexistence — not automatic outcomes.</a:t>
            </a:r>
            <a:endParaRPr lang="en-US" sz="1200" dirty="0"/>
          </a:p>
        </p:txBody>
      </p:sp>
      <p:sp>
        <p:nvSpPr>
          <p:cNvPr id="41" name="Text 39"/>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21</a:t>
            </a:r>
            <a:endParaRPr lang="en-US" sz="900" dirty="0"/>
          </a:p>
        </p:txBody>
      </p:sp>
      <p:sp>
        <p:nvSpPr>
          <p:cNvPr id="42" name="Text 40"/>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Justice and the four goals</a:t>
            </a:r>
            <a:endParaRPr lang="en-US" sz="900" dirty="0"/>
          </a:p>
        </p:txBody>
      </p:sp>
      <p:sp>
        <p:nvSpPr>
          <p:cNvPr id="43" name="Text 41"/>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III · TIME</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Time is the duration of activity — never its cause</a:t>
            </a:r>
            <a:endParaRPr lang="en-US" sz="2900" dirty="0"/>
          </a:p>
        </p:txBody>
      </p:sp>
      <p:sp>
        <p:nvSpPr>
          <p:cNvPr id="4" name="Text 2"/>
          <p:cNvSpPr/>
          <p:nvPr/>
        </p:nvSpPr>
        <p:spPr>
          <a:xfrm>
            <a:off x="548640" y="1554480"/>
            <a:ext cx="11091672" cy="640080"/>
          </a:xfrm>
          <a:prstGeom prst="rect">
            <a:avLst/>
          </a:prstGeom>
          <a:noFill/>
          <a:ln/>
        </p:spPr>
        <p:txBody>
          <a:bodyPr wrap="square" rtlCol="0" anchor="t"/>
          <a:lstStyle/>
          <a:p>
            <a:pPr indent="0" marL="0">
              <a:lnSpc>
                <a:spcPct val="103000"/>
              </a:lnSpc>
              <a:buNone/>
            </a:pPr>
            <a:r>
              <a:rPr lang="en-US" sz="1500" i="1" dirty="0">
                <a:solidFill>
                  <a:srgbClr val="16183D"/>
                </a:solidFill>
                <a:latin typeface="Calibri" pitchFamily="34" charset="0"/>
                <a:ea typeface="Calibri" pitchFamily="34" charset="-122"/>
                <a:cs typeface="Calibri" pitchFamily="34" charset="-120"/>
              </a:rPr>
              <a:t>“Duration of an activity is referred to as time” (MVD p. 34). </a:t>
            </a:r>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Time enters not as a background substance or cause, but as a </a:t>
            </a:r>
            <a:pPr indent="0" marL="0">
              <a:lnSpc>
                <a:spcPct val="103000"/>
              </a:lnSpc>
              <a:buNone/>
            </a:pPr>
            <a:r>
              <a:rPr lang="en-US" sz="1500" b="1" dirty="0">
                <a:solidFill>
                  <a:srgbClr val="B8842B"/>
                </a:solidFill>
                <a:latin typeface="Calibri" pitchFamily="34" charset="0"/>
                <a:ea typeface="Calibri" pitchFamily="34" charset="-122"/>
                <a:cs typeface="Calibri" pitchFamily="34" charset="-120"/>
              </a:rPr>
              <a:t>measure of activity</a:t>
            </a:r>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a:t>
            </a:r>
            <a:endParaRPr lang="en-US" sz="1500" dirty="0"/>
          </a:p>
        </p:txBody>
      </p:sp>
      <p:sp>
        <p:nvSpPr>
          <p:cNvPr id="5" name="Shape 3"/>
          <p:cNvSpPr/>
          <p:nvPr/>
        </p:nvSpPr>
        <p:spPr>
          <a:xfrm>
            <a:off x="548640" y="2331720"/>
            <a:ext cx="5486400" cy="1691640"/>
          </a:xfrm>
          <a:prstGeom prst="roundRect">
            <a:avLst>
              <a:gd name="adj" fmla="val 3243"/>
            </a:avLst>
          </a:prstGeom>
          <a:solidFill>
            <a:srgbClr val="16183D"/>
          </a:solidFill>
          <a:ln/>
        </p:spPr>
      </p:sp>
      <p:sp>
        <p:nvSpPr>
          <p:cNvPr id="6" name="Text 4"/>
          <p:cNvSpPr/>
          <p:nvPr/>
        </p:nvSpPr>
        <p:spPr>
          <a:xfrm>
            <a:off x="749808" y="2468880"/>
            <a:ext cx="5120640" cy="320040"/>
          </a:xfrm>
          <a:prstGeom prst="rect">
            <a:avLst/>
          </a:prstGeom>
          <a:noFill/>
          <a:ln/>
        </p:spPr>
        <p:txBody>
          <a:bodyPr wrap="square" rtlCol="0" anchor="ctr"/>
          <a:lstStyle/>
          <a:p>
            <a:pPr indent="0" marL="0">
              <a:buNone/>
            </a:pPr>
            <a:r>
              <a:rPr lang="en-US" sz="1350" b="1" dirty="0">
                <a:solidFill>
                  <a:srgbClr val="E3B857"/>
                </a:solidFill>
                <a:latin typeface="Cambria" pitchFamily="34" charset="0"/>
                <a:ea typeface="Cambria" pitchFamily="34" charset="-122"/>
                <a:cs typeface="Cambria" pitchFamily="34" charset="-120"/>
              </a:rPr>
              <a:t>A duration grading δ on unit-executions</a:t>
            </a:r>
            <a:endParaRPr lang="en-US" sz="1350" dirty="0"/>
          </a:p>
        </p:txBody>
      </p:sp>
      <p:sp>
        <p:nvSpPr>
          <p:cNvPr id="7" name="Text 5"/>
          <p:cNvSpPr/>
          <p:nvPr/>
        </p:nvSpPr>
        <p:spPr>
          <a:xfrm>
            <a:off x="749808" y="2880360"/>
            <a:ext cx="5120640" cy="365760"/>
          </a:xfrm>
          <a:prstGeom prst="rect">
            <a:avLst/>
          </a:prstGeom>
          <a:noFill/>
          <a:ln/>
        </p:spPr>
        <p:txBody>
          <a:bodyPr wrap="square" rtlCol="0" anchor="ctr"/>
          <a:lstStyle/>
          <a:p>
            <a:pPr algn="ctr" indent="0" marL="0">
              <a:buNone/>
            </a:pPr>
            <a:r>
              <a:rPr lang="en-US" sz="1300" dirty="0">
                <a:solidFill>
                  <a:srgbClr val="F2EEE3"/>
                </a:solidFill>
                <a:latin typeface="Courier New" pitchFamily="34" charset="0"/>
                <a:ea typeface="Courier New" pitchFamily="34" charset="-122"/>
                <a:cs typeface="Courier New" pitchFamily="34" charset="-120"/>
              </a:rPr>
              <a:t>δ(id_u) = 0            δ(e₂ ∘ e₁) = δ(e₁) ⊕ δ(e₂)</a:t>
            </a:r>
            <a:endParaRPr lang="en-US" sz="1300" dirty="0"/>
          </a:p>
        </p:txBody>
      </p:sp>
      <p:sp>
        <p:nvSpPr>
          <p:cNvPr id="8" name="Text 6"/>
          <p:cNvSpPr/>
          <p:nvPr/>
        </p:nvSpPr>
        <p:spPr>
          <a:xfrm>
            <a:off x="749808" y="3291840"/>
            <a:ext cx="5120640" cy="685800"/>
          </a:xfrm>
          <a:prstGeom prst="rect">
            <a:avLst/>
          </a:prstGeom>
          <a:noFill/>
          <a:ln/>
        </p:spPr>
        <p:txBody>
          <a:bodyPr wrap="square" rtlCol="0" anchor="t"/>
          <a:lstStyle/>
          <a:p>
            <a:pPr indent="0" marL="0">
              <a:lnSpc>
                <a:spcPct val="100000"/>
              </a:lnSpc>
              <a:buNone/>
            </a:pPr>
            <a:r>
              <a:rPr lang="en-US" sz="1150" dirty="0">
                <a:solidFill>
                  <a:srgbClr val="A7ACD0"/>
                </a:solidFill>
                <a:latin typeface="Calibri" pitchFamily="34" charset="0"/>
                <a:ea typeface="Calibri" pitchFamily="34" charset="-122"/>
                <a:cs typeface="Calibri" pitchFamily="34" charset="-120"/>
              </a:rPr>
              <a:t>The identity is a UNIT's no-change execution — not satta. Since O is not a unit and performs no activity, </a:t>
            </a:r>
            <a:pPr indent="0" marL="0">
              <a:lnSpc>
                <a:spcPct val="100000"/>
              </a:lnSpc>
              <a:buNone/>
            </a:pPr>
            <a:r>
              <a:rPr lang="en-US" sz="1150" b="1" dirty="0">
                <a:solidFill>
                  <a:srgbClr val="E3B857"/>
                </a:solidFill>
                <a:latin typeface="Courier New" pitchFamily="34" charset="0"/>
                <a:ea typeface="Courier New" pitchFamily="34" charset="-122"/>
                <a:cs typeface="Courier New" pitchFamily="34" charset="-120"/>
              </a:rPr>
              <a:t>δ(O) is undefined</a:t>
            </a:r>
            <a:pPr indent="0" marL="0">
              <a:lnSpc>
                <a:spcPct val="100000"/>
              </a:lnSpc>
              <a:buNone/>
            </a:pPr>
            <a:r>
              <a:rPr lang="en-US" sz="1150" dirty="0">
                <a:solidFill>
                  <a:srgbClr val="A7ACD0"/>
                </a:solidFill>
                <a:latin typeface="Calibri" pitchFamily="34" charset="0"/>
                <a:ea typeface="Calibri" pitchFamily="34" charset="-122"/>
                <a:cs typeface="Calibri" pitchFamily="34" charset="-120"/>
              </a:rPr>
              <a:t>, not zero.</a:t>
            </a:r>
            <a:endParaRPr lang="en-US" sz="1150" dirty="0"/>
          </a:p>
        </p:txBody>
      </p:sp>
      <p:sp>
        <p:nvSpPr>
          <p:cNvPr id="9" name="Shape 7"/>
          <p:cNvSpPr/>
          <p:nvPr/>
        </p:nvSpPr>
        <p:spPr>
          <a:xfrm>
            <a:off x="6190488" y="2331720"/>
            <a:ext cx="5449824" cy="1691640"/>
          </a:xfrm>
          <a:prstGeom prst="roundRect">
            <a:avLst>
              <a:gd name="adj" fmla="val 3243"/>
            </a:avLst>
          </a:prstGeom>
          <a:solidFill>
            <a:srgbClr val="F5F6FB"/>
          </a:solidFill>
          <a:ln w="15875">
            <a:solidFill>
              <a:srgbClr val="B8842B"/>
            </a:solidFill>
            <a:prstDash val="solid"/>
          </a:ln>
        </p:spPr>
      </p:sp>
      <p:sp>
        <p:nvSpPr>
          <p:cNvPr id="10" name="Text 8"/>
          <p:cNvSpPr/>
          <p:nvPr/>
        </p:nvSpPr>
        <p:spPr>
          <a:xfrm>
            <a:off x="6391656" y="2468880"/>
            <a:ext cx="5029200" cy="365760"/>
          </a:xfrm>
          <a:prstGeom prst="rect">
            <a:avLst/>
          </a:prstGeom>
          <a:noFill/>
          <a:ln/>
        </p:spPr>
        <p:txBody>
          <a:bodyPr wrap="square" rtlCol="0" anchor="ctr"/>
          <a:lstStyle/>
          <a:p>
            <a:pPr indent="0" marL="0">
              <a:buNone/>
            </a:pPr>
            <a:r>
              <a:rPr lang="en-US" sz="1450" b="1" dirty="0">
                <a:solidFill>
                  <a:srgbClr val="B8842B"/>
                </a:solidFill>
                <a:latin typeface="Cambria" pitchFamily="34" charset="0"/>
                <a:ea typeface="Cambria" pitchFamily="34" charset="-122"/>
                <a:cs typeface="Cambria" pitchFamily="34" charset="-120"/>
              </a:rPr>
              <a:t>Kriya-shunya ⇒ kaal-shunya</a:t>
            </a:r>
            <a:endParaRPr lang="en-US" sz="1450" dirty="0"/>
          </a:p>
        </p:txBody>
      </p:sp>
      <p:sp>
        <p:nvSpPr>
          <p:cNvPr id="11" name="Text 9"/>
          <p:cNvSpPr/>
          <p:nvPr/>
        </p:nvSpPr>
        <p:spPr>
          <a:xfrm>
            <a:off x="6391656" y="2852928"/>
            <a:ext cx="5074920" cy="1097280"/>
          </a:xfrm>
          <a:prstGeom prst="rect">
            <a:avLst/>
          </a:prstGeom>
          <a:noFill/>
          <a:ln/>
        </p:spPr>
        <p:txBody>
          <a:bodyPr wrap="square" rtlCol="0" anchor="t"/>
          <a:lstStyle/>
          <a:p>
            <a:pPr indent="0" marL="0">
              <a:lnSpc>
                <a:spcPct val="103000"/>
              </a:lnSpc>
              <a:buNone/>
            </a:pPr>
            <a:r>
              <a:rPr lang="en-US" sz="1250" dirty="0">
                <a:solidFill>
                  <a:srgbClr val="202340"/>
                </a:solidFill>
                <a:latin typeface="Calibri" pitchFamily="34" charset="0"/>
                <a:ea typeface="Calibri" pitchFamily="34" charset="-122"/>
                <a:cs typeface="Calibri" pitchFamily="34" charset="-120"/>
              </a:rPr>
              <a:t>Where there is no activity, duration has no application — not because O is a zero-duration event. O's presence “at all times” names its omnipresence with every active unit, not becoming within O.</a:t>
            </a:r>
            <a:endParaRPr lang="en-US" sz="1250" dirty="0"/>
          </a:p>
        </p:txBody>
      </p:sp>
      <p:sp>
        <p:nvSpPr>
          <p:cNvPr id="12" name="Shape 10"/>
          <p:cNvSpPr/>
          <p:nvPr/>
        </p:nvSpPr>
        <p:spPr>
          <a:xfrm>
            <a:off x="548640" y="4297680"/>
            <a:ext cx="11091672" cy="1645920"/>
          </a:xfrm>
          <a:prstGeom prst="roundRect">
            <a:avLst>
              <a:gd name="adj" fmla="val 3333"/>
            </a:avLst>
          </a:prstGeom>
          <a:solidFill>
            <a:srgbClr val="F5F6FB"/>
          </a:solidFill>
          <a:ln w="12700">
            <a:solidFill>
              <a:srgbClr val="E1E3EF"/>
            </a:solidFill>
            <a:prstDash val="solid"/>
          </a:ln>
        </p:spPr>
      </p:sp>
      <p:sp>
        <p:nvSpPr>
          <p:cNvPr id="13" name="Text 11"/>
          <p:cNvSpPr/>
          <p:nvPr/>
        </p:nvSpPr>
        <p:spPr>
          <a:xfrm>
            <a:off x="777240" y="4434840"/>
            <a:ext cx="2743200" cy="365760"/>
          </a:xfrm>
          <a:prstGeom prst="rect">
            <a:avLst/>
          </a:prstGeom>
          <a:noFill/>
          <a:ln/>
        </p:spPr>
        <p:txBody>
          <a:bodyPr wrap="square" rtlCol="0" anchor="ctr"/>
          <a:lstStyle/>
          <a:p>
            <a:pPr indent="0" marL="0">
              <a:buNone/>
            </a:pPr>
            <a:r>
              <a:rPr lang="en-US" sz="1500" b="1" dirty="0">
                <a:solidFill>
                  <a:srgbClr val="16183D"/>
                </a:solidFill>
                <a:latin typeface="Cambria" pitchFamily="34" charset="0"/>
                <a:ea typeface="Cambria" pitchFamily="34" charset="-122"/>
                <a:cs typeface="Cambria" pitchFamily="34" charset="-120"/>
              </a:rPr>
              <a:t>Time does not:</a:t>
            </a:r>
            <a:endParaRPr lang="en-US" sz="1500" dirty="0"/>
          </a:p>
        </p:txBody>
      </p:sp>
      <p:sp>
        <p:nvSpPr>
          <p:cNvPr id="14" name="Shape 12"/>
          <p:cNvSpPr/>
          <p:nvPr/>
        </p:nvSpPr>
        <p:spPr>
          <a:xfrm>
            <a:off x="777240" y="4846320"/>
            <a:ext cx="3493008" cy="960120"/>
          </a:xfrm>
          <a:prstGeom prst="roundRect">
            <a:avLst>
              <a:gd name="adj" fmla="val 4762"/>
            </a:avLst>
          </a:prstGeom>
          <a:solidFill>
            <a:srgbClr val="FFFFFF"/>
          </a:solidFill>
          <a:ln w="12700">
            <a:solidFill>
              <a:srgbClr val="E1E3EF"/>
            </a:solidFill>
            <a:prstDash val="solid"/>
          </a:ln>
        </p:spPr>
      </p:sp>
      <p:sp>
        <p:nvSpPr>
          <p:cNvPr id="15" name="Text 13"/>
          <p:cNvSpPr/>
          <p:nvPr/>
        </p:nvSpPr>
        <p:spPr>
          <a:xfrm>
            <a:off x="941832" y="4937760"/>
            <a:ext cx="3200400" cy="320040"/>
          </a:xfrm>
          <a:prstGeom prst="rect">
            <a:avLst/>
          </a:prstGeom>
          <a:noFill/>
          <a:ln/>
        </p:spPr>
        <p:txBody>
          <a:bodyPr wrap="square" rtlCol="0" anchor="ctr"/>
          <a:lstStyle/>
          <a:p>
            <a:pPr indent="0" marL="0">
              <a:buNone/>
            </a:pPr>
            <a:r>
              <a:rPr lang="en-US" sz="1350" b="1" dirty="0">
                <a:solidFill>
                  <a:srgbClr val="B8842B"/>
                </a:solidFill>
                <a:latin typeface="Cambria" pitchFamily="34" charset="0"/>
                <a:ea typeface="Cambria" pitchFamily="34" charset="-122"/>
                <a:cs typeface="Cambria" pitchFamily="34" charset="-120"/>
              </a:rPr>
              <a:t>select a path</a:t>
            </a:r>
            <a:endParaRPr lang="en-US" sz="1350" dirty="0"/>
          </a:p>
        </p:txBody>
      </p:sp>
      <p:sp>
        <p:nvSpPr>
          <p:cNvPr id="16" name="Text 14"/>
          <p:cNvSpPr/>
          <p:nvPr/>
        </p:nvSpPr>
        <p:spPr>
          <a:xfrm>
            <a:off x="941832" y="5266944"/>
            <a:ext cx="3200400" cy="502920"/>
          </a:xfrm>
          <a:prstGeom prst="rect">
            <a:avLst/>
          </a:prstGeom>
          <a:noFill/>
          <a:ln/>
        </p:spPr>
        <p:txBody>
          <a:bodyPr wrap="square" rtlCol="0" anchor="t"/>
          <a:lstStyle/>
          <a:p>
            <a:pPr indent="0" marL="0">
              <a:lnSpc>
                <a:spcPct val="100000"/>
              </a:lnSpc>
              <a:buNone/>
            </a:pPr>
            <a:r>
              <a:rPr lang="en-US" sz="1100" dirty="0">
                <a:solidFill>
                  <a:srgbClr val="202340"/>
                </a:solidFill>
                <a:latin typeface="Calibri" pitchFamily="34" charset="0"/>
                <a:ea typeface="Calibri" pitchFamily="34" charset="-122"/>
                <a:cs typeface="Calibri" pitchFamily="34" charset="-120"/>
              </a:rPr>
              <a:t>a progression orders states toward A2; time only records how long</a:t>
            </a:r>
            <a:endParaRPr lang="en-US" sz="1100" dirty="0"/>
          </a:p>
        </p:txBody>
      </p:sp>
      <p:sp>
        <p:nvSpPr>
          <p:cNvPr id="17" name="Shape 15"/>
          <p:cNvSpPr/>
          <p:nvPr/>
        </p:nvSpPr>
        <p:spPr>
          <a:xfrm>
            <a:off x="4416552" y="4846320"/>
            <a:ext cx="3493008" cy="960120"/>
          </a:xfrm>
          <a:prstGeom prst="roundRect">
            <a:avLst>
              <a:gd name="adj" fmla="val 4762"/>
            </a:avLst>
          </a:prstGeom>
          <a:solidFill>
            <a:srgbClr val="FFFFFF"/>
          </a:solidFill>
          <a:ln w="12700">
            <a:solidFill>
              <a:srgbClr val="E1E3EF"/>
            </a:solidFill>
            <a:prstDash val="solid"/>
          </a:ln>
        </p:spPr>
      </p:sp>
      <p:sp>
        <p:nvSpPr>
          <p:cNvPr id="18" name="Text 16"/>
          <p:cNvSpPr/>
          <p:nvPr/>
        </p:nvSpPr>
        <p:spPr>
          <a:xfrm>
            <a:off x="4581144" y="4937760"/>
            <a:ext cx="3200400" cy="320040"/>
          </a:xfrm>
          <a:prstGeom prst="rect">
            <a:avLst/>
          </a:prstGeom>
          <a:noFill/>
          <a:ln/>
        </p:spPr>
        <p:txBody>
          <a:bodyPr wrap="square" rtlCol="0" anchor="ctr"/>
          <a:lstStyle/>
          <a:p>
            <a:pPr indent="0" marL="0">
              <a:buNone/>
            </a:pPr>
            <a:r>
              <a:rPr lang="en-US" sz="1350" b="1" dirty="0">
                <a:solidFill>
                  <a:srgbClr val="B8842B"/>
                </a:solidFill>
                <a:latin typeface="Cambria" pitchFamily="34" charset="0"/>
                <a:ea typeface="Cambria" pitchFamily="34" charset="-122"/>
                <a:cs typeface="Cambria" pitchFamily="34" charset="-120"/>
              </a:rPr>
              <a:t>supply energy</a:t>
            </a:r>
            <a:endParaRPr lang="en-US" sz="1350" dirty="0"/>
          </a:p>
        </p:txBody>
      </p:sp>
      <p:sp>
        <p:nvSpPr>
          <p:cNvPr id="19" name="Text 17"/>
          <p:cNvSpPr/>
          <p:nvPr/>
        </p:nvSpPr>
        <p:spPr>
          <a:xfrm>
            <a:off x="4581144" y="5266944"/>
            <a:ext cx="3200400" cy="502920"/>
          </a:xfrm>
          <a:prstGeom prst="rect">
            <a:avLst/>
          </a:prstGeom>
          <a:noFill/>
          <a:ln/>
        </p:spPr>
        <p:txBody>
          <a:bodyPr wrap="square" rtlCol="0" anchor="t"/>
          <a:lstStyle/>
          <a:p>
            <a:pPr indent="0" marL="0">
              <a:lnSpc>
                <a:spcPct val="100000"/>
              </a:lnSpc>
              <a:buNone/>
            </a:pPr>
            <a:r>
              <a:rPr lang="en-US" sz="1100" dirty="0">
                <a:solidFill>
                  <a:srgbClr val="202340"/>
                </a:solidFill>
                <a:latin typeface="Calibri" pitchFamily="34" charset="0"/>
                <a:ea typeface="Calibri" pitchFamily="34" charset="-122"/>
                <a:cs typeface="Calibri" pitchFamily="34" charset="-120"/>
              </a:rPr>
              <a:t>that is A1's endowment through saturation</a:t>
            </a:r>
            <a:endParaRPr lang="en-US" sz="1100" dirty="0"/>
          </a:p>
        </p:txBody>
      </p:sp>
      <p:sp>
        <p:nvSpPr>
          <p:cNvPr id="20" name="Shape 18"/>
          <p:cNvSpPr/>
          <p:nvPr/>
        </p:nvSpPr>
        <p:spPr>
          <a:xfrm>
            <a:off x="8055864" y="4846320"/>
            <a:ext cx="3493008" cy="960120"/>
          </a:xfrm>
          <a:prstGeom prst="roundRect">
            <a:avLst>
              <a:gd name="adj" fmla="val 4762"/>
            </a:avLst>
          </a:prstGeom>
          <a:solidFill>
            <a:srgbClr val="FFFFFF"/>
          </a:solidFill>
          <a:ln w="12700">
            <a:solidFill>
              <a:srgbClr val="E1E3EF"/>
            </a:solidFill>
            <a:prstDash val="solid"/>
          </a:ln>
        </p:spPr>
      </p:sp>
      <p:sp>
        <p:nvSpPr>
          <p:cNvPr id="21" name="Text 19"/>
          <p:cNvSpPr/>
          <p:nvPr/>
        </p:nvSpPr>
        <p:spPr>
          <a:xfrm>
            <a:off x="8220456" y="4937760"/>
            <a:ext cx="3200400" cy="320040"/>
          </a:xfrm>
          <a:prstGeom prst="rect">
            <a:avLst/>
          </a:prstGeom>
          <a:noFill/>
          <a:ln/>
        </p:spPr>
        <p:txBody>
          <a:bodyPr wrap="square" rtlCol="0" anchor="ctr"/>
          <a:lstStyle/>
          <a:p>
            <a:pPr indent="0" marL="0">
              <a:buNone/>
            </a:pPr>
            <a:r>
              <a:rPr lang="en-US" sz="1350" b="1" dirty="0">
                <a:solidFill>
                  <a:srgbClr val="B8842B"/>
                </a:solidFill>
                <a:latin typeface="Cambria" pitchFamily="34" charset="0"/>
                <a:ea typeface="Cambria" pitchFamily="34" charset="-122"/>
                <a:cs typeface="Cambria" pitchFamily="34" charset="-120"/>
              </a:rPr>
              <a:t>orient toward completeness</a:t>
            </a:r>
            <a:endParaRPr lang="en-US" sz="1350" dirty="0"/>
          </a:p>
        </p:txBody>
      </p:sp>
      <p:sp>
        <p:nvSpPr>
          <p:cNvPr id="22" name="Text 20"/>
          <p:cNvSpPr/>
          <p:nvPr/>
        </p:nvSpPr>
        <p:spPr>
          <a:xfrm>
            <a:off x="8220456" y="5266944"/>
            <a:ext cx="3200400" cy="502920"/>
          </a:xfrm>
          <a:prstGeom prst="rect">
            <a:avLst/>
          </a:prstGeom>
          <a:noFill/>
          <a:ln/>
        </p:spPr>
        <p:txBody>
          <a:bodyPr wrap="square" rtlCol="0" anchor="t"/>
          <a:lstStyle/>
          <a:p>
            <a:pPr indent="0" marL="0">
              <a:lnSpc>
                <a:spcPct val="100000"/>
              </a:lnSpc>
              <a:buNone/>
            </a:pPr>
            <a:r>
              <a:rPr lang="en-US" sz="1100" dirty="0">
                <a:solidFill>
                  <a:srgbClr val="202340"/>
                </a:solidFill>
                <a:latin typeface="Calibri" pitchFamily="34" charset="0"/>
                <a:ea typeface="Calibri" pitchFamily="34" charset="-122"/>
                <a:cs typeface="Calibri" pitchFamily="34" charset="-120"/>
              </a:rPr>
              <a:t>that is A2's orientation</a:t>
            </a:r>
            <a:endParaRPr lang="en-US" sz="1100" dirty="0"/>
          </a:p>
        </p:txBody>
      </p:sp>
      <p:sp>
        <p:nvSpPr>
          <p:cNvPr id="23" name="Text 21"/>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22</a:t>
            </a:r>
            <a:endParaRPr lang="en-US" sz="900" dirty="0"/>
          </a:p>
        </p:txBody>
      </p:sp>
      <p:sp>
        <p:nvSpPr>
          <p:cNvPr id="24" name="Text 22"/>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Time as duration of activity</a:t>
            </a:r>
            <a:endParaRPr lang="en-US" sz="900" dirty="0"/>
          </a:p>
        </p:txBody>
      </p:sp>
      <p:sp>
        <p:nvSpPr>
          <p:cNvPr id="25" name="Text 23"/>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III · STABILITY</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The natural state as attractor — a guarded analogy</a:t>
            </a:r>
            <a:endParaRPr lang="en-US" sz="2900" dirty="0"/>
          </a:p>
        </p:txBody>
      </p:sp>
      <p:sp>
        <p:nvSpPr>
          <p:cNvPr id="4" name="Text 2"/>
          <p:cNvSpPr/>
          <p:nvPr/>
        </p:nvSpPr>
        <p:spPr>
          <a:xfrm>
            <a:off x="548640" y="1554480"/>
            <a:ext cx="11091672" cy="685800"/>
          </a:xfrm>
          <a:prstGeom prst="rect">
            <a:avLst/>
          </a:prstGeom>
          <a:noFill/>
          <a:ln/>
        </p:spPr>
        <p:txBody>
          <a:bodyPr wrap="square" rtlCol="0" anchor="t"/>
          <a:lstStyle/>
          <a:p>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A unit is in its </a:t>
            </a:r>
            <a:pPr indent="0" marL="0">
              <a:lnSpc>
                <a:spcPct val="103000"/>
              </a:lnSpc>
              <a:buNone/>
            </a:pPr>
            <a:r>
              <a:rPr lang="en-US" sz="1500" b="1" dirty="0">
                <a:solidFill>
                  <a:srgbClr val="3E7C8C"/>
                </a:solidFill>
                <a:latin typeface="Calibri" pitchFamily="34" charset="0"/>
                <a:ea typeface="Calibri" pitchFamily="34" charset="-122"/>
                <a:cs typeface="Calibri" pitchFamily="34" charset="-120"/>
              </a:rPr>
              <a:t>natural state</a:t>
            </a:r>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 when its couplings are fulfilled in conducive conditions, and </a:t>
            </a:r>
            <a:pPr indent="0" marL="0">
              <a:lnSpc>
                <a:spcPct val="103000"/>
              </a:lnSpc>
              <a:buNone/>
            </a:pPr>
            <a:r>
              <a:rPr lang="en-US" sz="1500" b="1" dirty="0">
                <a:solidFill>
                  <a:srgbClr val="B8842B"/>
                </a:solidFill>
                <a:latin typeface="Calibri" pitchFamily="34" charset="0"/>
                <a:ea typeface="Calibri" pitchFamily="34" charset="-122"/>
                <a:cs typeface="Calibri" pitchFamily="34" charset="-120"/>
              </a:rPr>
              <a:t>excited</a:t>
            </a:r>
            <a:pPr indent="0" marL="0">
              <a:lnSpc>
                <a:spcPct val="103000"/>
              </a:lnSpc>
              <a:buNone/>
            </a:pPr>
            <a:r>
              <a:rPr lang="en-US" sz="1500" dirty="0">
                <a:solidFill>
                  <a:srgbClr val="202340"/>
                </a:solidFill>
                <a:latin typeface="Calibri" pitchFamily="34" charset="0"/>
                <a:ea typeface="Calibri" pitchFamily="34" charset="-122"/>
                <a:cs typeface="Calibri" pitchFamily="34" charset="-120"/>
              </a:rPr>
              <a:t> otherwise — “each unit moves towards development in its natural state and decline in its excited state.”</a:t>
            </a:r>
            <a:endParaRPr lang="en-US" sz="1500" dirty="0"/>
          </a:p>
        </p:txBody>
      </p:sp>
      <p:sp>
        <p:nvSpPr>
          <p:cNvPr id="5" name="Shape 3"/>
          <p:cNvSpPr/>
          <p:nvPr/>
        </p:nvSpPr>
        <p:spPr>
          <a:xfrm>
            <a:off x="548640" y="2377440"/>
            <a:ext cx="5486400" cy="1874520"/>
          </a:xfrm>
          <a:prstGeom prst="roundRect">
            <a:avLst>
              <a:gd name="adj" fmla="val 2927"/>
            </a:avLst>
          </a:prstGeom>
          <a:solidFill>
            <a:srgbClr val="16183D"/>
          </a:solidFill>
          <a:ln/>
        </p:spPr>
      </p:sp>
      <p:sp>
        <p:nvSpPr>
          <p:cNvPr id="6" name="Text 4"/>
          <p:cNvSpPr/>
          <p:nvPr/>
        </p:nvSpPr>
        <p:spPr>
          <a:xfrm>
            <a:off x="749808" y="2514600"/>
            <a:ext cx="5120640" cy="320040"/>
          </a:xfrm>
          <a:prstGeom prst="rect">
            <a:avLst/>
          </a:prstGeom>
          <a:noFill/>
          <a:ln/>
        </p:spPr>
        <p:txBody>
          <a:bodyPr wrap="square" rtlCol="0" anchor="ctr"/>
          <a:lstStyle/>
          <a:p>
            <a:pPr indent="0" marL="0">
              <a:buNone/>
            </a:pPr>
            <a:r>
              <a:rPr lang="en-US" sz="1350" b="1" dirty="0">
                <a:solidFill>
                  <a:srgbClr val="E3B857"/>
                </a:solidFill>
                <a:latin typeface="Cambria" pitchFamily="34" charset="0"/>
                <a:ea typeface="Cambria" pitchFamily="34" charset="-122"/>
                <a:cs typeface="Cambria" pitchFamily="34" charset="-120"/>
              </a:rPr>
              <a:t>A conditional Lyapunov analogy</a:t>
            </a:r>
            <a:endParaRPr lang="en-US" sz="1350" dirty="0"/>
          </a:p>
        </p:txBody>
      </p:sp>
      <p:sp>
        <p:nvSpPr>
          <p:cNvPr id="7" name="Text 5"/>
          <p:cNvSpPr/>
          <p:nvPr/>
        </p:nvSpPr>
        <p:spPr>
          <a:xfrm>
            <a:off x="749808" y="2926080"/>
            <a:ext cx="5120640" cy="640080"/>
          </a:xfrm>
          <a:prstGeom prst="rect">
            <a:avLst/>
          </a:prstGeom>
          <a:noFill/>
          <a:ln/>
        </p:spPr>
        <p:txBody>
          <a:bodyPr wrap="square" rtlCol="0" anchor="ctr"/>
          <a:lstStyle/>
          <a:p>
            <a:pPr algn="ctr" indent="0" marL="0">
              <a:lnSpc>
                <a:spcPct val="120000"/>
              </a:lnSpc>
              <a:buNone/>
            </a:pPr>
            <a:r>
              <a:rPr lang="en-US" sz="1150" dirty="0">
                <a:solidFill>
                  <a:srgbClr val="F2EEE3"/>
                </a:solidFill>
                <a:latin typeface="Courier New" pitchFamily="34" charset="0"/>
                <a:ea typeface="Courier New" pitchFamily="34" charset="-122"/>
                <a:cs typeface="Courier New" pitchFamily="34" charset="-120"/>
              </a:rPr>
              <a:t>K_o(x) = 0   iff   x ∈ N_o</a:t>
            </a:r>
            <a:endParaRPr lang="en-US" sz="1150" dirty="0"/>
          </a:p>
          <a:p>
            <a:pPr algn="ctr" indent="0" marL="0">
              <a:lnSpc>
                <a:spcPct val="120000"/>
              </a:lnSpc>
              <a:buNone/>
            </a:pPr>
            <a:r>
              <a:rPr lang="en-US" sz="1150" dirty="0">
                <a:solidFill>
                  <a:srgbClr val="F2EEE3"/>
                </a:solidFill>
                <a:latin typeface="Courier New" pitchFamily="34" charset="0"/>
                <a:ea typeface="Courier New" pitchFamily="34" charset="-122"/>
                <a:cs typeface="Courier New" pitchFamily="34" charset="-120"/>
              </a:rPr>
              <a:t>K_o(Φ_o(t,x)) ≤ K_o(x)   during unforced relaxation</a:t>
            </a:r>
            <a:endParaRPr lang="en-US" sz="1150" dirty="0"/>
          </a:p>
        </p:txBody>
      </p:sp>
      <p:sp>
        <p:nvSpPr>
          <p:cNvPr id="8" name="Text 6"/>
          <p:cNvSpPr/>
          <p:nvPr/>
        </p:nvSpPr>
        <p:spPr>
          <a:xfrm>
            <a:off x="749808" y="3611880"/>
            <a:ext cx="5120640" cy="594360"/>
          </a:xfrm>
          <a:prstGeom prst="rect">
            <a:avLst/>
          </a:prstGeom>
          <a:noFill/>
          <a:ln/>
        </p:spPr>
        <p:txBody>
          <a:bodyPr wrap="square" rtlCol="0" anchor="t"/>
          <a:lstStyle/>
          <a:p>
            <a:pPr indent="0" marL="0">
              <a:lnSpc>
                <a:spcPct val="100000"/>
              </a:lnSpc>
              <a:buNone/>
            </a:pPr>
            <a:r>
              <a:rPr lang="en-US" sz="1150" dirty="0">
                <a:solidFill>
                  <a:srgbClr val="A7ACD0"/>
                </a:solidFill>
                <a:latin typeface="Calibri" pitchFamily="34" charset="0"/>
                <a:ea typeface="Calibri" pitchFamily="34" charset="-122"/>
                <a:cs typeface="Calibri" pitchFamily="34" charset="-120"/>
              </a:rPr>
              <a:t>K_o measures deviation from the natural set N_o. N_o is an active regime, not inactivity — activeness continues when K_o = 0.</a:t>
            </a:r>
            <a:endParaRPr lang="en-US" sz="1150" dirty="0"/>
          </a:p>
        </p:txBody>
      </p:sp>
      <p:sp>
        <p:nvSpPr>
          <p:cNvPr id="9" name="Shape 7"/>
          <p:cNvSpPr/>
          <p:nvPr/>
        </p:nvSpPr>
        <p:spPr>
          <a:xfrm>
            <a:off x="6190488" y="2377440"/>
            <a:ext cx="5449824" cy="1874520"/>
          </a:xfrm>
          <a:prstGeom prst="roundRect">
            <a:avLst>
              <a:gd name="adj" fmla="val 2927"/>
            </a:avLst>
          </a:prstGeom>
          <a:solidFill>
            <a:srgbClr val="F5F6FB"/>
          </a:solidFill>
          <a:ln w="15875">
            <a:solidFill>
              <a:srgbClr val="B8842B"/>
            </a:solidFill>
            <a:prstDash val="solid"/>
          </a:ln>
        </p:spPr>
      </p:sp>
      <p:sp>
        <p:nvSpPr>
          <p:cNvPr id="10" name="Text 8"/>
          <p:cNvSpPr/>
          <p:nvPr/>
        </p:nvSpPr>
        <p:spPr>
          <a:xfrm>
            <a:off x="6391656" y="2514600"/>
            <a:ext cx="5029200" cy="320040"/>
          </a:xfrm>
          <a:prstGeom prst="rect">
            <a:avLst/>
          </a:prstGeom>
          <a:noFill/>
          <a:ln/>
        </p:spPr>
        <p:txBody>
          <a:bodyPr wrap="square" rtlCol="0" anchor="ctr"/>
          <a:lstStyle/>
          <a:p>
            <a:pPr indent="0" marL="0">
              <a:buNone/>
            </a:pPr>
            <a:r>
              <a:rPr lang="en-US" sz="1400" b="1" dirty="0">
                <a:solidFill>
                  <a:srgbClr val="B8842B"/>
                </a:solidFill>
                <a:latin typeface="Cambria" pitchFamily="34" charset="0"/>
                <a:ea typeface="Cambria" pitchFamily="34" charset="-122"/>
                <a:cs typeface="Cambria" pitchFamily="34" charset="-120"/>
              </a:rPr>
              <a:t>Local and conditional — not a law</a:t>
            </a:r>
            <a:endParaRPr lang="en-US" sz="1400" dirty="0"/>
          </a:p>
        </p:txBody>
      </p:sp>
      <p:sp>
        <p:nvSpPr>
          <p:cNvPr id="11" name="Shape 9"/>
          <p:cNvSpPr/>
          <p:nvPr/>
        </p:nvSpPr>
        <p:spPr>
          <a:xfrm>
            <a:off x="6446520" y="2935224"/>
            <a:ext cx="100584" cy="100584"/>
          </a:xfrm>
          <a:prstGeom prst="ellipse">
            <a:avLst/>
          </a:prstGeom>
          <a:solidFill>
            <a:srgbClr val="B8842B"/>
          </a:solidFill>
          <a:ln/>
        </p:spPr>
      </p:sp>
      <p:sp>
        <p:nvSpPr>
          <p:cNvPr id="12" name="Text 10"/>
          <p:cNvSpPr/>
          <p:nvPr/>
        </p:nvSpPr>
        <p:spPr>
          <a:xfrm>
            <a:off x="6656832" y="2852928"/>
            <a:ext cx="4846320" cy="457200"/>
          </a:xfrm>
          <a:prstGeom prst="rect">
            <a:avLst/>
          </a:prstGeom>
          <a:noFill/>
          <a:ln/>
        </p:spPr>
        <p:txBody>
          <a:bodyPr wrap="square" rtlCol="0" anchor="t"/>
          <a:lstStyle/>
          <a:p>
            <a:pPr indent="0" marL="0">
              <a:lnSpc>
                <a:spcPct val="98000"/>
              </a:lnSpc>
              <a:buNone/>
            </a:pPr>
            <a:r>
              <a:rPr lang="en-US" sz="1150" dirty="0">
                <a:solidFill>
                  <a:srgbClr val="202340"/>
                </a:solidFill>
                <a:latin typeface="Calibri" pitchFamily="34" charset="0"/>
                <a:ea typeface="Calibri" pitchFamily="34" charset="-122"/>
                <a:cs typeface="Calibri" pitchFamily="34" charset="-120"/>
              </a:rPr>
              <a:t>The inequality is local — perturbation, adverse environment, or error may raise K_o.</a:t>
            </a:r>
            <a:endParaRPr lang="en-US" sz="1150" dirty="0"/>
          </a:p>
        </p:txBody>
      </p:sp>
      <p:sp>
        <p:nvSpPr>
          <p:cNvPr id="13" name="Shape 11"/>
          <p:cNvSpPr/>
          <p:nvPr/>
        </p:nvSpPr>
        <p:spPr>
          <a:xfrm>
            <a:off x="6446520" y="3392424"/>
            <a:ext cx="100584" cy="100584"/>
          </a:xfrm>
          <a:prstGeom prst="ellipse">
            <a:avLst/>
          </a:prstGeom>
          <a:solidFill>
            <a:srgbClr val="B8842B"/>
          </a:solidFill>
          <a:ln/>
        </p:spPr>
      </p:sp>
      <p:sp>
        <p:nvSpPr>
          <p:cNvPr id="14" name="Text 12"/>
          <p:cNvSpPr/>
          <p:nvPr/>
        </p:nvSpPr>
        <p:spPr>
          <a:xfrm>
            <a:off x="6656832" y="3310128"/>
            <a:ext cx="4846320" cy="457200"/>
          </a:xfrm>
          <a:prstGeom prst="rect">
            <a:avLst/>
          </a:prstGeom>
          <a:noFill/>
          <a:ln/>
        </p:spPr>
        <p:txBody>
          <a:bodyPr wrap="square" rtlCol="0" anchor="t"/>
          <a:lstStyle/>
          <a:p>
            <a:pPr indent="0" marL="0">
              <a:lnSpc>
                <a:spcPct val="98000"/>
              </a:lnSpc>
              <a:buNone/>
            </a:pPr>
            <a:r>
              <a:rPr lang="en-US" sz="1150" dirty="0">
                <a:solidFill>
                  <a:srgbClr val="202340"/>
                </a:solidFill>
                <a:latin typeface="Calibri" pitchFamily="34" charset="0"/>
                <a:ea typeface="Calibri" pitchFamily="34" charset="-122"/>
                <a:cs typeface="Calibri" pitchFamily="34" charset="-120"/>
              </a:rPr>
              <a:t>No global monotonicity theorem is claimed.</a:t>
            </a:r>
            <a:endParaRPr lang="en-US" sz="1150" dirty="0"/>
          </a:p>
        </p:txBody>
      </p:sp>
      <p:sp>
        <p:nvSpPr>
          <p:cNvPr id="15" name="Shape 13"/>
          <p:cNvSpPr/>
          <p:nvPr/>
        </p:nvSpPr>
        <p:spPr>
          <a:xfrm>
            <a:off x="6446520" y="3849624"/>
            <a:ext cx="100584" cy="100584"/>
          </a:xfrm>
          <a:prstGeom prst="ellipse">
            <a:avLst/>
          </a:prstGeom>
          <a:solidFill>
            <a:srgbClr val="B8842B"/>
          </a:solidFill>
          <a:ln/>
        </p:spPr>
      </p:sp>
      <p:sp>
        <p:nvSpPr>
          <p:cNvPr id="16" name="Text 14"/>
          <p:cNvSpPr/>
          <p:nvPr/>
        </p:nvSpPr>
        <p:spPr>
          <a:xfrm>
            <a:off x="6656832" y="3767328"/>
            <a:ext cx="4846320" cy="457200"/>
          </a:xfrm>
          <a:prstGeom prst="rect">
            <a:avLst/>
          </a:prstGeom>
          <a:noFill/>
          <a:ln/>
        </p:spPr>
        <p:txBody>
          <a:bodyPr wrap="square" rtlCol="0" anchor="t"/>
          <a:lstStyle/>
          <a:p>
            <a:pPr indent="0" marL="0">
              <a:lnSpc>
                <a:spcPct val="98000"/>
              </a:lnSpc>
              <a:buNone/>
            </a:pPr>
            <a:r>
              <a:rPr lang="en-US" sz="1150" dirty="0">
                <a:solidFill>
                  <a:srgbClr val="202340"/>
                </a:solidFill>
                <a:latin typeface="Calibri" pitchFamily="34" charset="0"/>
                <a:ea typeface="Calibri" pitchFamily="34" charset="-122"/>
                <a:cs typeface="Calibri" pitchFamily="34" charset="-120"/>
              </a:rPr>
              <a:t>T1 (the passage to sentience) is a guarded, irreversible threshold — not an asymptote every trajectory approaches.</a:t>
            </a:r>
            <a:endParaRPr lang="en-US" sz="1150" dirty="0"/>
          </a:p>
        </p:txBody>
      </p:sp>
      <p:sp>
        <p:nvSpPr>
          <p:cNvPr id="17" name="Shape 15"/>
          <p:cNvSpPr/>
          <p:nvPr/>
        </p:nvSpPr>
        <p:spPr>
          <a:xfrm>
            <a:off x="548640" y="4526280"/>
            <a:ext cx="11091672" cy="1417320"/>
          </a:xfrm>
          <a:prstGeom prst="roundRect">
            <a:avLst>
              <a:gd name="adj" fmla="val 3871"/>
            </a:avLst>
          </a:prstGeom>
          <a:solidFill>
            <a:srgbClr val="F5F6FB"/>
          </a:solidFill>
          <a:ln w="12700">
            <a:solidFill>
              <a:srgbClr val="E1E3EF"/>
            </a:solidFill>
            <a:prstDash val="solid"/>
          </a:ln>
        </p:spPr>
      </p:sp>
      <p:sp>
        <p:nvSpPr>
          <p:cNvPr id="18" name="Text 16"/>
          <p:cNvSpPr/>
          <p:nvPr/>
        </p:nvSpPr>
        <p:spPr>
          <a:xfrm>
            <a:off x="777240" y="4663440"/>
            <a:ext cx="7315200" cy="365760"/>
          </a:xfrm>
          <a:prstGeom prst="rect">
            <a:avLst/>
          </a:prstGeom>
          <a:noFill/>
          <a:ln/>
        </p:spPr>
        <p:txBody>
          <a:bodyPr wrap="square" rtlCol="0" anchor="ctr"/>
          <a:lstStyle/>
          <a:p>
            <a:pPr indent="0" marL="0">
              <a:buNone/>
            </a:pPr>
            <a:r>
              <a:rPr lang="en-US" sz="1500" b="1" dirty="0">
                <a:solidFill>
                  <a:srgbClr val="16183D"/>
                </a:solidFill>
                <a:latin typeface="Cambria" pitchFamily="34" charset="0"/>
                <a:ea typeface="Cambria" pitchFamily="34" charset="-122"/>
                <a:cs typeface="Cambria" pitchFamily="34" charset="-120"/>
              </a:rPr>
              <a:t>What makes it the darshan's — not physics'</a:t>
            </a:r>
            <a:endParaRPr lang="en-US" sz="1500" dirty="0"/>
          </a:p>
        </p:txBody>
      </p:sp>
      <p:sp>
        <p:nvSpPr>
          <p:cNvPr id="19" name="Text 17"/>
          <p:cNvSpPr/>
          <p:nvPr/>
        </p:nvSpPr>
        <p:spPr>
          <a:xfrm>
            <a:off x="777240" y="5010912"/>
            <a:ext cx="10607040" cy="868680"/>
          </a:xfrm>
          <a:prstGeom prst="rect">
            <a:avLst/>
          </a:prstGeom>
          <a:noFill/>
          <a:ln/>
        </p:spPr>
        <p:txBody>
          <a:bodyPr wrap="square" rtlCol="0" anchor="t"/>
          <a:lstStyle/>
          <a:p>
            <a:pPr indent="0" marL="0">
              <a:lnSpc>
                <a:spcPct val="105000"/>
              </a:lnSpc>
              <a:buNone/>
            </a:pPr>
            <a:r>
              <a:rPr lang="en-US" sz="1300" dirty="0">
                <a:solidFill>
                  <a:srgbClr val="202340"/>
                </a:solidFill>
                <a:latin typeface="Calibri" pitchFamily="34" charset="0"/>
                <a:ea typeface="Calibri" pitchFamily="34" charset="-122"/>
                <a:cs typeface="Calibri" pitchFamily="34" charset="-120"/>
              </a:rPr>
              <a:t>Minimizing K_o is bounded, constrained optimization — but the TARGET is a qualitative natural set, not indefinite increase. </a:t>
            </a:r>
            <a:pPr indent="0" marL="0">
              <a:lnSpc>
                <a:spcPct val="105000"/>
              </a:lnSpc>
              <a:buNone/>
            </a:pPr>
            <a:r>
              <a:rPr lang="en-US" sz="1300" i="1" dirty="0">
                <a:solidFill>
                  <a:srgbClr val="B8842B"/>
                </a:solidFill>
                <a:latin typeface="Calibri" pitchFamily="34" charset="0"/>
                <a:ea typeface="Calibri" pitchFamily="34" charset="-122"/>
                <a:cs typeface="Calibri" pitchFamily="34" charset="-120"/>
              </a:rPr>
              <a:t>Hamilton's principle is a contrast, not the governing model; </a:t>
            </a:r>
            <a:pPr indent="0" marL="0">
              <a:lnSpc>
                <a:spcPct val="105000"/>
              </a:lnSpc>
              <a:buNone/>
            </a:pPr>
            <a:r>
              <a:rPr lang="en-US" sz="1300" dirty="0">
                <a:solidFill>
                  <a:srgbClr val="202340"/>
                </a:solidFill>
                <a:latin typeface="Calibri" pitchFamily="34" charset="0"/>
                <a:ea typeface="Calibri" pitchFamily="34" charset="-122"/>
                <a:cs typeface="Calibri" pitchFamily="34" charset="-120"/>
              </a:rPr>
              <a:t>and at the knowledge order no single scalar suffices — fulfilment, justice, harmony, and participation form a preorder, not one maximand.</a:t>
            </a:r>
            <a:endParaRPr lang="en-US" sz="1300" dirty="0"/>
          </a:p>
        </p:txBody>
      </p:sp>
      <p:sp>
        <p:nvSpPr>
          <p:cNvPr id="20" name="Text 18"/>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23</a:t>
            </a:r>
            <a:endParaRPr lang="en-US" sz="900" dirty="0"/>
          </a:p>
        </p:txBody>
      </p:sp>
      <p:sp>
        <p:nvSpPr>
          <p:cNvPr id="21" name="Text 19"/>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The natural state as attractor</a:t>
            </a:r>
            <a:endParaRPr lang="en-US" sz="900" dirty="0"/>
          </a:p>
        </p:txBody>
      </p:sp>
      <p:sp>
        <p:nvSpPr>
          <p:cNvPr id="22" name="Text 20"/>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183D"/>
        </a:solidFill>
      </p:bgPr>
    </p:bg>
    <p:spTree>
      <p:nvGrpSpPr>
        <p:cNvPr id="1" name=""/>
        <p:cNvGrpSpPr/>
        <p:nvPr/>
      </p:nvGrpSpPr>
      <p:grpSpPr>
        <a:xfrm>
          <a:off x="0" y="0"/>
          <a:ext cx="0" cy="0"/>
          <a:chOff x="0" y="0"/>
          <a:chExt cx="0" cy="0"/>
        </a:xfrm>
      </p:grpSpPr>
      <p:sp>
        <p:nvSpPr>
          <p:cNvPr id="2" name="Shape 0"/>
          <p:cNvSpPr/>
          <p:nvPr/>
        </p:nvSpPr>
        <p:spPr>
          <a:xfrm>
            <a:off x="822960" y="1097280"/>
            <a:ext cx="91440" cy="91440"/>
          </a:xfrm>
          <a:prstGeom prst="ellipse">
            <a:avLst/>
          </a:prstGeom>
          <a:solidFill>
            <a:srgbClr val="E3B857">
              <a:alpha val="65000"/>
            </a:srgbClr>
          </a:solidFill>
          <a:ln/>
        </p:spPr>
      </p:sp>
      <p:sp>
        <p:nvSpPr>
          <p:cNvPr id="3" name="Shape 1"/>
          <p:cNvSpPr/>
          <p:nvPr/>
        </p:nvSpPr>
        <p:spPr>
          <a:xfrm>
            <a:off x="1920240" y="3566160"/>
            <a:ext cx="54864" cy="54864"/>
          </a:xfrm>
          <a:prstGeom prst="ellipse">
            <a:avLst/>
          </a:prstGeom>
          <a:solidFill>
            <a:srgbClr val="E3B857">
              <a:alpha val="65000"/>
            </a:srgbClr>
          </a:solidFill>
          <a:ln/>
        </p:spPr>
      </p:sp>
      <p:sp>
        <p:nvSpPr>
          <p:cNvPr id="4" name="Shape 2"/>
          <p:cNvSpPr/>
          <p:nvPr/>
        </p:nvSpPr>
        <p:spPr>
          <a:xfrm>
            <a:off x="1371600" y="5303520"/>
            <a:ext cx="73152" cy="73152"/>
          </a:xfrm>
          <a:prstGeom prst="ellipse">
            <a:avLst/>
          </a:prstGeom>
          <a:solidFill>
            <a:srgbClr val="E3B857">
              <a:alpha val="65000"/>
            </a:srgbClr>
          </a:solidFill>
          <a:ln/>
        </p:spPr>
      </p:sp>
      <p:sp>
        <p:nvSpPr>
          <p:cNvPr id="5" name="Shape 3"/>
          <p:cNvSpPr/>
          <p:nvPr/>
        </p:nvSpPr>
        <p:spPr>
          <a:xfrm>
            <a:off x="3108960" y="1554480"/>
            <a:ext cx="45720" cy="45720"/>
          </a:xfrm>
          <a:prstGeom prst="ellipse">
            <a:avLst/>
          </a:prstGeom>
          <a:solidFill>
            <a:srgbClr val="E3B857">
              <a:alpha val="65000"/>
            </a:srgbClr>
          </a:solidFill>
          <a:ln/>
        </p:spPr>
      </p:sp>
      <p:sp>
        <p:nvSpPr>
          <p:cNvPr id="6" name="Shape 4"/>
          <p:cNvSpPr/>
          <p:nvPr/>
        </p:nvSpPr>
        <p:spPr>
          <a:xfrm>
            <a:off x="3840480" y="4754880"/>
            <a:ext cx="64008" cy="64008"/>
          </a:xfrm>
          <a:prstGeom prst="ellipse">
            <a:avLst/>
          </a:prstGeom>
          <a:solidFill>
            <a:srgbClr val="E3B857">
              <a:alpha val="65000"/>
            </a:srgbClr>
          </a:solidFill>
          <a:ln/>
        </p:spPr>
      </p:sp>
      <p:sp>
        <p:nvSpPr>
          <p:cNvPr id="7" name="Shape 5"/>
          <p:cNvSpPr/>
          <p:nvPr/>
        </p:nvSpPr>
        <p:spPr>
          <a:xfrm>
            <a:off x="10058400" y="1280160"/>
            <a:ext cx="82296" cy="82296"/>
          </a:xfrm>
          <a:prstGeom prst="ellipse">
            <a:avLst/>
          </a:prstGeom>
          <a:solidFill>
            <a:srgbClr val="E3B857">
              <a:alpha val="65000"/>
            </a:srgbClr>
          </a:solidFill>
          <a:ln/>
        </p:spPr>
      </p:sp>
      <p:sp>
        <p:nvSpPr>
          <p:cNvPr id="8" name="Shape 6"/>
          <p:cNvSpPr/>
          <p:nvPr/>
        </p:nvSpPr>
        <p:spPr>
          <a:xfrm>
            <a:off x="11247120" y="2834640"/>
            <a:ext cx="54864" cy="54864"/>
          </a:xfrm>
          <a:prstGeom prst="ellipse">
            <a:avLst/>
          </a:prstGeom>
          <a:solidFill>
            <a:srgbClr val="E3B857">
              <a:alpha val="65000"/>
            </a:srgbClr>
          </a:solidFill>
          <a:ln/>
        </p:spPr>
      </p:sp>
      <p:sp>
        <p:nvSpPr>
          <p:cNvPr id="9" name="Shape 7"/>
          <p:cNvSpPr/>
          <p:nvPr/>
        </p:nvSpPr>
        <p:spPr>
          <a:xfrm>
            <a:off x="9509760" y="5120640"/>
            <a:ext cx="64008" cy="64008"/>
          </a:xfrm>
          <a:prstGeom prst="ellipse">
            <a:avLst/>
          </a:prstGeom>
          <a:solidFill>
            <a:srgbClr val="E3B857">
              <a:alpha val="65000"/>
            </a:srgbClr>
          </a:solidFill>
          <a:ln/>
        </p:spPr>
      </p:sp>
      <p:sp>
        <p:nvSpPr>
          <p:cNvPr id="10" name="Shape 8"/>
          <p:cNvSpPr/>
          <p:nvPr/>
        </p:nvSpPr>
        <p:spPr>
          <a:xfrm>
            <a:off x="11521440" y="5486400"/>
            <a:ext cx="45720" cy="45720"/>
          </a:xfrm>
          <a:prstGeom prst="ellipse">
            <a:avLst/>
          </a:prstGeom>
          <a:solidFill>
            <a:srgbClr val="E3B857">
              <a:alpha val="65000"/>
            </a:srgbClr>
          </a:solidFill>
          <a:ln/>
        </p:spPr>
      </p:sp>
      <p:sp>
        <p:nvSpPr>
          <p:cNvPr id="11" name="Shape 9"/>
          <p:cNvSpPr/>
          <p:nvPr/>
        </p:nvSpPr>
        <p:spPr>
          <a:xfrm>
            <a:off x="10698480" y="4206240"/>
            <a:ext cx="91440" cy="91440"/>
          </a:xfrm>
          <a:prstGeom prst="ellipse">
            <a:avLst/>
          </a:prstGeom>
          <a:solidFill>
            <a:srgbClr val="E3B857">
              <a:alpha val="65000"/>
            </a:srgbClr>
          </a:solidFill>
          <a:ln/>
        </p:spPr>
      </p:sp>
      <p:sp>
        <p:nvSpPr>
          <p:cNvPr id="12" name="Shape 10"/>
          <p:cNvSpPr/>
          <p:nvPr/>
        </p:nvSpPr>
        <p:spPr>
          <a:xfrm>
            <a:off x="6035040" y="640080"/>
            <a:ext cx="45720" cy="45720"/>
          </a:xfrm>
          <a:prstGeom prst="ellipse">
            <a:avLst/>
          </a:prstGeom>
          <a:solidFill>
            <a:srgbClr val="E3B857">
              <a:alpha val="65000"/>
            </a:srgbClr>
          </a:solidFill>
          <a:ln/>
        </p:spPr>
      </p:sp>
      <p:sp>
        <p:nvSpPr>
          <p:cNvPr id="13" name="Shape 11"/>
          <p:cNvSpPr/>
          <p:nvPr/>
        </p:nvSpPr>
        <p:spPr>
          <a:xfrm>
            <a:off x="7132320" y="6126480"/>
            <a:ext cx="54864" cy="54864"/>
          </a:xfrm>
          <a:prstGeom prst="ellipse">
            <a:avLst/>
          </a:prstGeom>
          <a:solidFill>
            <a:srgbClr val="E3B857">
              <a:alpha val="65000"/>
            </a:srgbClr>
          </a:solidFill>
          <a:ln/>
        </p:spPr>
      </p:sp>
      <p:sp>
        <p:nvSpPr>
          <p:cNvPr id="14" name="Shape 12"/>
          <p:cNvSpPr/>
          <p:nvPr/>
        </p:nvSpPr>
        <p:spPr>
          <a:xfrm>
            <a:off x="8503920" y="822960"/>
            <a:ext cx="64008" cy="64008"/>
          </a:xfrm>
          <a:prstGeom prst="ellipse">
            <a:avLst/>
          </a:prstGeom>
          <a:solidFill>
            <a:srgbClr val="E3B857">
              <a:alpha val="65000"/>
            </a:srgbClr>
          </a:solidFill>
          <a:ln/>
        </p:spPr>
      </p:sp>
      <p:sp>
        <p:nvSpPr>
          <p:cNvPr id="15" name="Shape 13"/>
          <p:cNvSpPr/>
          <p:nvPr/>
        </p:nvSpPr>
        <p:spPr>
          <a:xfrm>
            <a:off x="4663440" y="6309360"/>
            <a:ext cx="45720" cy="45720"/>
          </a:xfrm>
          <a:prstGeom prst="ellipse">
            <a:avLst/>
          </a:prstGeom>
          <a:solidFill>
            <a:srgbClr val="E3B857">
              <a:alpha val="65000"/>
            </a:srgbClr>
          </a:solidFill>
          <a:ln/>
        </p:spPr>
      </p:sp>
      <p:sp>
        <p:nvSpPr>
          <p:cNvPr id="16" name="Text 14"/>
          <p:cNvSpPr/>
          <p:nvPr/>
        </p:nvSpPr>
        <p:spPr>
          <a:xfrm>
            <a:off x="822960" y="2286000"/>
            <a:ext cx="5486400" cy="365760"/>
          </a:xfrm>
          <a:prstGeom prst="rect">
            <a:avLst/>
          </a:prstGeom>
          <a:noFill/>
          <a:ln/>
        </p:spPr>
        <p:txBody>
          <a:bodyPr wrap="square" rtlCol="0" anchor="ctr"/>
          <a:lstStyle/>
          <a:p>
            <a:pPr indent="0" marL="0">
              <a:buNone/>
            </a:pPr>
            <a:r>
              <a:rPr lang="en-US" sz="1400" b="1" spc="500" kern="0" dirty="0">
                <a:solidFill>
                  <a:srgbClr val="E3B857"/>
                </a:solidFill>
                <a:latin typeface="Calibri" pitchFamily="34" charset="0"/>
                <a:ea typeface="Calibri" pitchFamily="34" charset="-122"/>
                <a:cs typeface="Calibri" pitchFamily="34" charset="-120"/>
              </a:rPr>
              <a:t>PART IV</a:t>
            </a:r>
            <a:endParaRPr lang="en-US" sz="1400" dirty="0"/>
          </a:p>
        </p:txBody>
      </p:sp>
      <p:sp>
        <p:nvSpPr>
          <p:cNvPr id="17" name="Text 15"/>
          <p:cNvSpPr/>
          <p:nvPr/>
        </p:nvSpPr>
        <p:spPr>
          <a:xfrm>
            <a:off x="804672" y="2697480"/>
            <a:ext cx="10424160" cy="1280160"/>
          </a:xfrm>
          <a:prstGeom prst="rect">
            <a:avLst/>
          </a:prstGeom>
          <a:noFill/>
          <a:ln/>
        </p:spPr>
        <p:txBody>
          <a:bodyPr wrap="square" rtlCol="0" anchor="ctr"/>
          <a:lstStyle/>
          <a:p>
            <a:pPr indent="0" marL="0">
              <a:lnSpc>
                <a:spcPct val="98000"/>
              </a:lnSpc>
              <a:buNone/>
            </a:pPr>
            <a:r>
              <a:rPr lang="en-US" sz="4000" b="1" dirty="0">
                <a:solidFill>
                  <a:srgbClr val="F2EEE3"/>
                </a:solidFill>
                <a:latin typeface="Cambria" pitchFamily="34" charset="0"/>
                <a:ea typeface="Cambria" pitchFamily="34" charset="-122"/>
                <a:cs typeface="Cambria" pitchFamily="34" charset="-120"/>
              </a:rPr>
              <a:t>Reach, comparison, and honesty</a:t>
            </a:r>
            <a:endParaRPr lang="en-US" sz="4000" dirty="0"/>
          </a:p>
        </p:txBody>
      </p:sp>
      <p:sp>
        <p:nvSpPr>
          <p:cNvPr id="18" name="Shape 16"/>
          <p:cNvSpPr/>
          <p:nvPr/>
        </p:nvSpPr>
        <p:spPr>
          <a:xfrm>
            <a:off x="841248" y="3977640"/>
            <a:ext cx="2377440" cy="0"/>
          </a:xfrm>
          <a:prstGeom prst="line">
            <a:avLst/>
          </a:prstGeom>
          <a:noFill/>
          <a:ln w="19050">
            <a:solidFill>
              <a:srgbClr val="E3B857"/>
            </a:solidFill>
            <a:prstDash val="solid"/>
          </a:ln>
        </p:spPr>
      </p:sp>
      <p:sp>
        <p:nvSpPr>
          <p:cNvPr id="19" name="Text 17"/>
          <p:cNvSpPr/>
          <p:nvPr/>
        </p:nvSpPr>
        <p:spPr>
          <a:xfrm>
            <a:off x="822960" y="4160520"/>
            <a:ext cx="9692640" cy="822960"/>
          </a:xfrm>
          <a:prstGeom prst="rect">
            <a:avLst/>
          </a:prstGeom>
          <a:noFill/>
          <a:ln/>
        </p:spPr>
        <p:txBody>
          <a:bodyPr wrap="square" rtlCol="0" anchor="ctr"/>
          <a:lstStyle/>
          <a:p>
            <a:pPr indent="0" marL="0">
              <a:lnSpc>
                <a:spcPct val="105000"/>
              </a:lnSpc>
              <a:buNone/>
            </a:pPr>
            <a:r>
              <a:rPr lang="en-US" sz="1500" dirty="0">
                <a:solidFill>
                  <a:srgbClr val="A7ACD0"/>
                </a:solidFill>
                <a:latin typeface="Calibri" pitchFamily="34" charset="0"/>
                <a:ea typeface="Calibri" pitchFamily="34" charset="-122"/>
                <a:cs typeface="Calibri" pitchFamily="34" charset="-120"/>
              </a:rPr>
              <a:t>The same column-shape at every tier; what the structure is NOT; where it sits among neighbouring frameworks; the formal spine; and a frank accounting of its limits.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IV · UNIVERSALITY</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The same column-shape, four times</a:t>
            </a:r>
            <a:endParaRPr lang="en-US" sz="2900" dirty="0"/>
          </a:p>
        </p:txBody>
      </p:sp>
      <p:sp>
        <p:nvSpPr>
          <p:cNvPr id="4" name="Text 2"/>
          <p:cNvSpPr/>
          <p:nvPr/>
        </p:nvSpPr>
        <p:spPr>
          <a:xfrm>
            <a:off x="548640" y="1517904"/>
            <a:ext cx="11091672" cy="548640"/>
          </a:xfrm>
          <a:prstGeom prst="rect">
            <a:avLst/>
          </a:prstGeom>
          <a:noFill/>
          <a:ln/>
        </p:spPr>
        <p:txBody>
          <a:bodyPr wrap="square" rtlCol="0" anchor="t"/>
          <a:lstStyle/>
          <a:p>
            <a:pPr indent="0" marL="0">
              <a:lnSpc>
                <a:spcPct val="102000"/>
              </a:lnSpc>
              <a:buNone/>
            </a:pPr>
            <a:r>
              <a:rPr lang="en-US" sz="1400" dirty="0">
                <a:solidFill>
                  <a:srgbClr val="202340"/>
                </a:solidFill>
                <a:latin typeface="Calibri" pitchFamily="34" charset="0"/>
                <a:ea typeface="Calibri" pitchFamily="34" charset="-122"/>
                <a:cs typeface="Calibri" pitchFamily="34" charset="-120"/>
              </a:rPr>
              <a:t>The structure is universal because the column repeats — </a:t>
            </a:r>
            <a:pPr indent="0" marL="0">
              <a:lnSpc>
                <a:spcPct val="102000"/>
              </a:lnSpc>
              <a:buNone/>
            </a:pPr>
            <a:r>
              <a:rPr lang="en-US" sz="1400" b="1" dirty="0">
                <a:solidFill>
                  <a:srgbClr val="B8842B"/>
                </a:solidFill>
                <a:latin typeface="Calibri" pitchFamily="34" charset="0"/>
                <a:ea typeface="Calibri" pitchFamily="34" charset="-122"/>
                <a:cs typeface="Calibri" pitchFamily="34" charset="-120"/>
              </a:rPr>
              <a:t>asserted for each order, not carried by metaphor from human life</a:t>
            </a:r>
            <a:pPr indent="0" marL="0">
              <a:lnSpc>
                <a:spcPct val="102000"/>
              </a:lnSpc>
              <a:buNone/>
            </a:pPr>
            <a:r>
              <a:rPr lang="en-US" sz="1400" i="1" dirty="0">
                <a:solidFill>
                  <a:srgbClr val="6A6E93"/>
                </a:solidFill>
                <a:latin typeface="Calibri" pitchFamily="34" charset="0"/>
                <a:ea typeface="Calibri" pitchFamily="34" charset="-122"/>
                <a:cs typeface="Calibri" pitchFamily="34" charset="-120"/>
              </a:rPr>
              <a:t>. (Abridged; the paper's table has thirteen rows.)</a:t>
            </a:r>
            <a:endParaRPr lang="en-US" sz="1400" dirty="0"/>
          </a:p>
        </p:txBody>
      </p:sp>
      <p:sp>
        <p:nvSpPr>
          <p:cNvPr id="5" name="Shape 3"/>
          <p:cNvSpPr/>
          <p:nvPr/>
        </p:nvSpPr>
        <p:spPr>
          <a:xfrm>
            <a:off x="548640" y="2148840"/>
            <a:ext cx="1920240" cy="457200"/>
          </a:xfrm>
          <a:prstGeom prst="rect">
            <a:avLst/>
          </a:prstGeom>
          <a:solidFill>
            <a:srgbClr val="16183D"/>
          </a:solidFill>
          <a:ln w="9525">
            <a:solidFill>
              <a:srgbClr val="E1E3EF"/>
            </a:solidFill>
            <a:prstDash val="solid"/>
          </a:ln>
        </p:spPr>
      </p:sp>
      <p:sp>
        <p:nvSpPr>
          <p:cNvPr id="6" name="Text 4"/>
          <p:cNvSpPr/>
          <p:nvPr/>
        </p:nvSpPr>
        <p:spPr>
          <a:xfrm>
            <a:off x="640080" y="2148840"/>
            <a:ext cx="1755648" cy="457200"/>
          </a:xfrm>
          <a:prstGeom prst="rect">
            <a:avLst/>
          </a:prstGeom>
          <a:noFill/>
          <a:ln/>
        </p:spPr>
        <p:txBody>
          <a:bodyPr wrap="square" rtlCol="0" anchor="ctr"/>
          <a:lstStyle/>
          <a:p>
            <a:pPr algn="l" indent="0" marL="0">
              <a:lnSpc>
                <a:spcPct val="95000"/>
              </a:lnSpc>
              <a:buNone/>
            </a:pPr>
            <a:endParaRPr lang="en-US" sz="1200" dirty="0"/>
          </a:p>
        </p:txBody>
      </p:sp>
      <p:sp>
        <p:nvSpPr>
          <p:cNvPr id="7" name="Shape 5"/>
          <p:cNvSpPr/>
          <p:nvPr/>
        </p:nvSpPr>
        <p:spPr>
          <a:xfrm>
            <a:off x="2468880" y="2148840"/>
            <a:ext cx="2286000" cy="457200"/>
          </a:xfrm>
          <a:prstGeom prst="rect">
            <a:avLst/>
          </a:prstGeom>
          <a:solidFill>
            <a:srgbClr val="16183D"/>
          </a:solidFill>
          <a:ln w="9525">
            <a:solidFill>
              <a:srgbClr val="E1E3EF"/>
            </a:solidFill>
            <a:prstDash val="solid"/>
          </a:ln>
        </p:spPr>
      </p:sp>
      <p:sp>
        <p:nvSpPr>
          <p:cNvPr id="8" name="Text 6"/>
          <p:cNvSpPr/>
          <p:nvPr/>
        </p:nvSpPr>
        <p:spPr>
          <a:xfrm>
            <a:off x="2560320" y="2148840"/>
            <a:ext cx="2121408" cy="457200"/>
          </a:xfrm>
          <a:prstGeom prst="rect">
            <a:avLst/>
          </a:prstGeom>
          <a:noFill/>
          <a:ln/>
        </p:spPr>
        <p:txBody>
          <a:bodyPr wrap="square" rtlCol="0" anchor="ctr"/>
          <a:lstStyle/>
          <a:p>
            <a:pPr algn="l" indent="0" marL="0">
              <a:lnSpc>
                <a:spcPct val="95000"/>
              </a:lnSpc>
              <a:buNone/>
            </a:pPr>
            <a:r>
              <a:rPr lang="en-US" sz="1200" b="1" dirty="0">
                <a:solidFill>
                  <a:srgbClr val="F2EEE3"/>
                </a:solidFill>
                <a:latin typeface="Calibri" pitchFamily="34" charset="0"/>
                <a:ea typeface="Calibri" pitchFamily="34" charset="-122"/>
                <a:cs typeface="Calibri" pitchFamily="34" charset="-120"/>
              </a:rPr>
              <a:t>Material</a:t>
            </a:r>
            <a:endParaRPr lang="en-US" sz="1200" dirty="0"/>
          </a:p>
        </p:txBody>
      </p:sp>
      <p:sp>
        <p:nvSpPr>
          <p:cNvPr id="9" name="Shape 7"/>
          <p:cNvSpPr/>
          <p:nvPr/>
        </p:nvSpPr>
        <p:spPr>
          <a:xfrm>
            <a:off x="4754880" y="2148840"/>
            <a:ext cx="2587752" cy="457200"/>
          </a:xfrm>
          <a:prstGeom prst="rect">
            <a:avLst/>
          </a:prstGeom>
          <a:solidFill>
            <a:srgbClr val="16183D"/>
          </a:solidFill>
          <a:ln w="9525">
            <a:solidFill>
              <a:srgbClr val="E1E3EF"/>
            </a:solidFill>
            <a:prstDash val="solid"/>
          </a:ln>
        </p:spPr>
      </p:sp>
      <p:sp>
        <p:nvSpPr>
          <p:cNvPr id="10" name="Text 8"/>
          <p:cNvSpPr/>
          <p:nvPr/>
        </p:nvSpPr>
        <p:spPr>
          <a:xfrm>
            <a:off x="4846320" y="2148840"/>
            <a:ext cx="2423160" cy="457200"/>
          </a:xfrm>
          <a:prstGeom prst="rect">
            <a:avLst/>
          </a:prstGeom>
          <a:noFill/>
          <a:ln/>
        </p:spPr>
        <p:txBody>
          <a:bodyPr wrap="square" rtlCol="0" anchor="ctr"/>
          <a:lstStyle/>
          <a:p>
            <a:pPr algn="l" indent="0" marL="0">
              <a:lnSpc>
                <a:spcPct val="95000"/>
              </a:lnSpc>
              <a:buNone/>
            </a:pPr>
            <a:r>
              <a:rPr lang="en-US" sz="1200" b="1" dirty="0">
                <a:solidFill>
                  <a:srgbClr val="F2EEE3"/>
                </a:solidFill>
                <a:latin typeface="Calibri" pitchFamily="34" charset="0"/>
                <a:ea typeface="Calibri" pitchFamily="34" charset="-122"/>
                <a:cs typeface="Calibri" pitchFamily="34" charset="-120"/>
              </a:rPr>
              <a:t>Biological</a:t>
            </a:r>
            <a:endParaRPr lang="en-US" sz="1200" dirty="0"/>
          </a:p>
        </p:txBody>
      </p:sp>
      <p:sp>
        <p:nvSpPr>
          <p:cNvPr id="11" name="Shape 9"/>
          <p:cNvSpPr/>
          <p:nvPr/>
        </p:nvSpPr>
        <p:spPr>
          <a:xfrm>
            <a:off x="7342632" y="2148840"/>
            <a:ext cx="1920240" cy="457200"/>
          </a:xfrm>
          <a:prstGeom prst="rect">
            <a:avLst/>
          </a:prstGeom>
          <a:solidFill>
            <a:srgbClr val="16183D"/>
          </a:solidFill>
          <a:ln w="9525">
            <a:solidFill>
              <a:srgbClr val="E1E3EF"/>
            </a:solidFill>
            <a:prstDash val="solid"/>
          </a:ln>
        </p:spPr>
      </p:sp>
      <p:sp>
        <p:nvSpPr>
          <p:cNvPr id="12" name="Text 10"/>
          <p:cNvSpPr/>
          <p:nvPr/>
        </p:nvSpPr>
        <p:spPr>
          <a:xfrm>
            <a:off x="7434072" y="2148840"/>
            <a:ext cx="1755648" cy="457200"/>
          </a:xfrm>
          <a:prstGeom prst="rect">
            <a:avLst/>
          </a:prstGeom>
          <a:noFill/>
          <a:ln/>
        </p:spPr>
        <p:txBody>
          <a:bodyPr wrap="square" rtlCol="0" anchor="ctr"/>
          <a:lstStyle/>
          <a:p>
            <a:pPr algn="l" indent="0" marL="0">
              <a:lnSpc>
                <a:spcPct val="95000"/>
              </a:lnSpc>
              <a:buNone/>
            </a:pPr>
            <a:r>
              <a:rPr lang="en-US" sz="1200" b="1" dirty="0">
                <a:solidFill>
                  <a:srgbClr val="F2EEE3"/>
                </a:solidFill>
                <a:latin typeface="Calibri" pitchFamily="34" charset="0"/>
                <a:ea typeface="Calibri" pitchFamily="34" charset="-122"/>
                <a:cs typeface="Calibri" pitchFamily="34" charset="-120"/>
              </a:rPr>
              <a:t>Animal</a:t>
            </a:r>
            <a:endParaRPr lang="en-US" sz="1200" dirty="0"/>
          </a:p>
        </p:txBody>
      </p:sp>
      <p:sp>
        <p:nvSpPr>
          <p:cNvPr id="13" name="Shape 11"/>
          <p:cNvSpPr/>
          <p:nvPr/>
        </p:nvSpPr>
        <p:spPr>
          <a:xfrm>
            <a:off x="9262872" y="2148840"/>
            <a:ext cx="2377440" cy="457200"/>
          </a:xfrm>
          <a:prstGeom prst="rect">
            <a:avLst/>
          </a:prstGeom>
          <a:solidFill>
            <a:srgbClr val="16183D"/>
          </a:solidFill>
          <a:ln w="9525">
            <a:solidFill>
              <a:srgbClr val="E1E3EF"/>
            </a:solidFill>
            <a:prstDash val="solid"/>
          </a:ln>
        </p:spPr>
      </p:sp>
      <p:sp>
        <p:nvSpPr>
          <p:cNvPr id="14" name="Text 12"/>
          <p:cNvSpPr/>
          <p:nvPr/>
        </p:nvSpPr>
        <p:spPr>
          <a:xfrm>
            <a:off x="9354312" y="2148840"/>
            <a:ext cx="2212848" cy="457200"/>
          </a:xfrm>
          <a:prstGeom prst="rect">
            <a:avLst/>
          </a:prstGeom>
          <a:noFill/>
          <a:ln/>
        </p:spPr>
        <p:txBody>
          <a:bodyPr wrap="square" rtlCol="0" anchor="ctr"/>
          <a:lstStyle/>
          <a:p>
            <a:pPr algn="l" indent="0" marL="0">
              <a:lnSpc>
                <a:spcPct val="95000"/>
              </a:lnSpc>
              <a:buNone/>
            </a:pPr>
            <a:r>
              <a:rPr lang="en-US" sz="1200" b="1" dirty="0">
                <a:solidFill>
                  <a:srgbClr val="F2EEE3"/>
                </a:solidFill>
                <a:latin typeface="Calibri" pitchFamily="34" charset="0"/>
                <a:ea typeface="Calibri" pitchFamily="34" charset="-122"/>
                <a:cs typeface="Calibri" pitchFamily="34" charset="-120"/>
              </a:rPr>
              <a:t>Knowledge</a:t>
            </a:r>
            <a:endParaRPr lang="en-US" sz="1200" dirty="0"/>
          </a:p>
        </p:txBody>
      </p:sp>
      <p:sp>
        <p:nvSpPr>
          <p:cNvPr id="15" name="Shape 13"/>
          <p:cNvSpPr/>
          <p:nvPr/>
        </p:nvSpPr>
        <p:spPr>
          <a:xfrm>
            <a:off x="548640" y="2606040"/>
            <a:ext cx="1920240" cy="548640"/>
          </a:xfrm>
          <a:prstGeom prst="rect">
            <a:avLst/>
          </a:prstGeom>
          <a:solidFill>
            <a:srgbClr val="FFFFFF"/>
          </a:solidFill>
          <a:ln w="9525">
            <a:solidFill>
              <a:srgbClr val="E1E3EF"/>
            </a:solidFill>
            <a:prstDash val="solid"/>
          </a:ln>
        </p:spPr>
      </p:sp>
      <p:sp>
        <p:nvSpPr>
          <p:cNvPr id="16" name="Text 14"/>
          <p:cNvSpPr/>
          <p:nvPr/>
        </p:nvSpPr>
        <p:spPr>
          <a:xfrm>
            <a:off x="640080" y="2606040"/>
            <a:ext cx="1755648" cy="548640"/>
          </a:xfrm>
          <a:prstGeom prst="rect">
            <a:avLst/>
          </a:prstGeom>
          <a:noFill/>
          <a:ln/>
        </p:spPr>
        <p:txBody>
          <a:bodyPr wrap="square" rtlCol="0" anchor="ctr"/>
          <a:lstStyle/>
          <a:p>
            <a:pPr algn="l" indent="0" marL="0">
              <a:lnSpc>
                <a:spcPct val="95000"/>
              </a:lnSpc>
              <a:buNone/>
            </a:pPr>
            <a:r>
              <a:rPr lang="en-US" sz="1150" b="1" dirty="0">
                <a:solidFill>
                  <a:srgbClr val="16183D"/>
                </a:solidFill>
                <a:latin typeface="Calibri" pitchFamily="34" charset="0"/>
                <a:ea typeface="Calibri" pitchFamily="34" charset="-122"/>
                <a:cs typeface="Calibri" pitchFamily="34" charset="-120"/>
              </a:rPr>
              <a:t>Regulation</a:t>
            </a:r>
            <a:endParaRPr lang="en-US" sz="1150" dirty="0"/>
          </a:p>
        </p:txBody>
      </p:sp>
      <p:sp>
        <p:nvSpPr>
          <p:cNvPr id="17" name="Shape 15"/>
          <p:cNvSpPr/>
          <p:nvPr/>
        </p:nvSpPr>
        <p:spPr>
          <a:xfrm>
            <a:off x="2468880" y="2606040"/>
            <a:ext cx="2286000" cy="548640"/>
          </a:xfrm>
          <a:prstGeom prst="rect">
            <a:avLst/>
          </a:prstGeom>
          <a:solidFill>
            <a:srgbClr val="FFFFFF"/>
          </a:solidFill>
          <a:ln w="9525">
            <a:solidFill>
              <a:srgbClr val="E1E3EF"/>
            </a:solidFill>
            <a:prstDash val="solid"/>
          </a:ln>
        </p:spPr>
      </p:sp>
      <p:sp>
        <p:nvSpPr>
          <p:cNvPr id="18" name="Text 16"/>
          <p:cNvSpPr/>
          <p:nvPr/>
        </p:nvSpPr>
        <p:spPr>
          <a:xfrm>
            <a:off x="2560320" y="2606040"/>
            <a:ext cx="212140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structural</a:t>
            </a:r>
            <a:endParaRPr lang="en-US" sz="1100" dirty="0"/>
          </a:p>
        </p:txBody>
      </p:sp>
      <p:sp>
        <p:nvSpPr>
          <p:cNvPr id="19" name="Shape 17"/>
          <p:cNvSpPr/>
          <p:nvPr/>
        </p:nvSpPr>
        <p:spPr>
          <a:xfrm>
            <a:off x="4754880" y="2606040"/>
            <a:ext cx="2587752" cy="548640"/>
          </a:xfrm>
          <a:prstGeom prst="rect">
            <a:avLst/>
          </a:prstGeom>
          <a:solidFill>
            <a:srgbClr val="FFFFFF"/>
          </a:solidFill>
          <a:ln w="9525">
            <a:solidFill>
              <a:srgbClr val="E1E3EF"/>
            </a:solidFill>
            <a:prstDash val="solid"/>
          </a:ln>
        </p:spPr>
      </p:sp>
      <p:sp>
        <p:nvSpPr>
          <p:cNvPr id="20" name="Text 18"/>
          <p:cNvSpPr/>
          <p:nvPr/>
        </p:nvSpPr>
        <p:spPr>
          <a:xfrm>
            <a:off x="4846320" y="2606040"/>
            <a:ext cx="2423160"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seed</a:t>
            </a:r>
            <a:endParaRPr lang="en-US" sz="1100" dirty="0"/>
          </a:p>
        </p:txBody>
      </p:sp>
      <p:sp>
        <p:nvSpPr>
          <p:cNvPr id="21" name="Shape 19"/>
          <p:cNvSpPr/>
          <p:nvPr/>
        </p:nvSpPr>
        <p:spPr>
          <a:xfrm>
            <a:off x="7342632" y="2606040"/>
            <a:ext cx="1920240" cy="548640"/>
          </a:xfrm>
          <a:prstGeom prst="rect">
            <a:avLst/>
          </a:prstGeom>
          <a:solidFill>
            <a:srgbClr val="FFFFFF"/>
          </a:solidFill>
          <a:ln w="9525">
            <a:solidFill>
              <a:srgbClr val="E1E3EF"/>
            </a:solidFill>
            <a:prstDash val="solid"/>
          </a:ln>
        </p:spPr>
      </p:sp>
      <p:sp>
        <p:nvSpPr>
          <p:cNvPr id="22" name="Text 20"/>
          <p:cNvSpPr/>
          <p:nvPr/>
        </p:nvSpPr>
        <p:spPr>
          <a:xfrm>
            <a:off x="7434072" y="2606040"/>
            <a:ext cx="175564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species</a:t>
            </a:r>
            <a:endParaRPr lang="en-US" sz="1100" dirty="0"/>
          </a:p>
        </p:txBody>
      </p:sp>
      <p:sp>
        <p:nvSpPr>
          <p:cNvPr id="23" name="Shape 21"/>
          <p:cNvSpPr/>
          <p:nvPr/>
        </p:nvSpPr>
        <p:spPr>
          <a:xfrm>
            <a:off x="9262872" y="2606040"/>
            <a:ext cx="2377440" cy="548640"/>
          </a:xfrm>
          <a:prstGeom prst="rect">
            <a:avLst/>
          </a:prstGeom>
          <a:solidFill>
            <a:srgbClr val="F1E9D6"/>
          </a:solidFill>
          <a:ln w="9525">
            <a:solidFill>
              <a:srgbClr val="E1E3EF"/>
            </a:solidFill>
            <a:prstDash val="solid"/>
          </a:ln>
        </p:spPr>
      </p:sp>
      <p:sp>
        <p:nvSpPr>
          <p:cNvPr id="24" name="Text 22"/>
          <p:cNvSpPr/>
          <p:nvPr/>
        </p:nvSpPr>
        <p:spPr>
          <a:xfrm>
            <a:off x="9354312" y="2606040"/>
            <a:ext cx="2212848" cy="548640"/>
          </a:xfrm>
          <a:prstGeom prst="rect">
            <a:avLst/>
          </a:prstGeom>
          <a:noFill/>
          <a:ln/>
        </p:spPr>
        <p:txBody>
          <a:bodyPr wrap="square" rtlCol="0" anchor="ctr"/>
          <a:lstStyle/>
          <a:p>
            <a:pPr algn="l" indent="0" marL="0">
              <a:lnSpc>
                <a:spcPct val="95000"/>
              </a:lnSpc>
              <a:buNone/>
            </a:pPr>
            <a:r>
              <a:rPr lang="en-US" sz="1100" dirty="0">
                <a:solidFill>
                  <a:srgbClr val="B8842B"/>
                </a:solidFill>
                <a:latin typeface="Calibri" pitchFamily="34" charset="0"/>
                <a:ea typeface="Calibri" pitchFamily="34" charset="-122"/>
                <a:cs typeface="Calibri" pitchFamily="34" charset="-120"/>
              </a:rPr>
              <a:t>sanskar; justice</a:t>
            </a:r>
            <a:endParaRPr lang="en-US" sz="1100" dirty="0"/>
          </a:p>
        </p:txBody>
      </p:sp>
      <p:sp>
        <p:nvSpPr>
          <p:cNvPr id="25" name="Shape 23"/>
          <p:cNvSpPr/>
          <p:nvPr/>
        </p:nvSpPr>
        <p:spPr>
          <a:xfrm>
            <a:off x="548640" y="3154680"/>
            <a:ext cx="1920240" cy="548640"/>
          </a:xfrm>
          <a:prstGeom prst="rect">
            <a:avLst/>
          </a:prstGeom>
          <a:solidFill>
            <a:srgbClr val="EEF0F8"/>
          </a:solidFill>
          <a:ln w="9525">
            <a:solidFill>
              <a:srgbClr val="E1E3EF"/>
            </a:solidFill>
            <a:prstDash val="solid"/>
          </a:ln>
        </p:spPr>
      </p:sp>
      <p:sp>
        <p:nvSpPr>
          <p:cNvPr id="26" name="Text 24"/>
          <p:cNvSpPr/>
          <p:nvPr/>
        </p:nvSpPr>
        <p:spPr>
          <a:xfrm>
            <a:off x="640080" y="3154680"/>
            <a:ext cx="1755648" cy="548640"/>
          </a:xfrm>
          <a:prstGeom prst="rect">
            <a:avLst/>
          </a:prstGeom>
          <a:noFill/>
          <a:ln/>
        </p:spPr>
        <p:txBody>
          <a:bodyPr wrap="square" rtlCol="0" anchor="ctr"/>
          <a:lstStyle/>
          <a:p>
            <a:pPr algn="l" indent="0" marL="0">
              <a:lnSpc>
                <a:spcPct val="95000"/>
              </a:lnSpc>
              <a:buNone/>
            </a:pPr>
            <a:r>
              <a:rPr lang="en-US" sz="1150" b="1" dirty="0">
                <a:solidFill>
                  <a:srgbClr val="16183D"/>
                </a:solidFill>
                <a:latin typeface="Calibri" pitchFamily="34" charset="0"/>
                <a:ea typeface="Calibri" pitchFamily="34" charset="-122"/>
                <a:cs typeface="Calibri" pitchFamily="34" charset="-120"/>
              </a:rPr>
              <a:t>Value</a:t>
            </a:r>
            <a:endParaRPr lang="en-US" sz="1150" dirty="0"/>
          </a:p>
        </p:txBody>
      </p:sp>
      <p:sp>
        <p:nvSpPr>
          <p:cNvPr id="27" name="Shape 25"/>
          <p:cNvSpPr/>
          <p:nvPr/>
        </p:nvSpPr>
        <p:spPr>
          <a:xfrm>
            <a:off x="2468880" y="3154680"/>
            <a:ext cx="2286000" cy="548640"/>
          </a:xfrm>
          <a:prstGeom prst="rect">
            <a:avLst/>
          </a:prstGeom>
          <a:solidFill>
            <a:srgbClr val="EEF0F8"/>
          </a:solidFill>
          <a:ln w="9525">
            <a:solidFill>
              <a:srgbClr val="E1E3EF"/>
            </a:solidFill>
            <a:prstDash val="solid"/>
          </a:ln>
        </p:spPr>
      </p:sp>
      <p:sp>
        <p:nvSpPr>
          <p:cNvPr id="28" name="Text 26"/>
          <p:cNvSpPr/>
          <p:nvPr/>
        </p:nvSpPr>
        <p:spPr>
          <a:xfrm>
            <a:off x="2560320" y="3154680"/>
            <a:ext cx="212140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utility + art</a:t>
            </a:r>
            <a:endParaRPr lang="en-US" sz="1100" dirty="0"/>
          </a:p>
        </p:txBody>
      </p:sp>
      <p:sp>
        <p:nvSpPr>
          <p:cNvPr id="29" name="Shape 27"/>
          <p:cNvSpPr/>
          <p:nvPr/>
        </p:nvSpPr>
        <p:spPr>
          <a:xfrm>
            <a:off x="4754880" y="3154680"/>
            <a:ext cx="2587752" cy="548640"/>
          </a:xfrm>
          <a:prstGeom prst="rect">
            <a:avLst/>
          </a:prstGeom>
          <a:solidFill>
            <a:srgbClr val="EEF0F8"/>
          </a:solidFill>
          <a:ln w="9525">
            <a:solidFill>
              <a:srgbClr val="E1E3EF"/>
            </a:solidFill>
            <a:prstDash val="solid"/>
          </a:ln>
        </p:spPr>
      </p:sp>
      <p:sp>
        <p:nvSpPr>
          <p:cNvPr id="30" name="Text 28"/>
          <p:cNvSpPr/>
          <p:nvPr/>
        </p:nvSpPr>
        <p:spPr>
          <a:xfrm>
            <a:off x="4846320" y="3154680"/>
            <a:ext cx="2423160"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utility in food-chains</a:t>
            </a:r>
            <a:endParaRPr lang="en-US" sz="1100" dirty="0"/>
          </a:p>
        </p:txBody>
      </p:sp>
      <p:sp>
        <p:nvSpPr>
          <p:cNvPr id="31" name="Shape 29"/>
          <p:cNvSpPr/>
          <p:nvPr/>
        </p:nvSpPr>
        <p:spPr>
          <a:xfrm>
            <a:off x="7342632" y="3154680"/>
            <a:ext cx="1920240" cy="548640"/>
          </a:xfrm>
          <a:prstGeom prst="rect">
            <a:avLst/>
          </a:prstGeom>
          <a:solidFill>
            <a:srgbClr val="EEF0F8"/>
          </a:solidFill>
          <a:ln w="9525">
            <a:solidFill>
              <a:srgbClr val="E1E3EF"/>
            </a:solidFill>
            <a:prstDash val="solid"/>
          </a:ln>
        </p:spPr>
      </p:sp>
      <p:sp>
        <p:nvSpPr>
          <p:cNvPr id="32" name="Text 30"/>
          <p:cNvSpPr/>
          <p:nvPr/>
        </p:nvSpPr>
        <p:spPr>
          <a:xfrm>
            <a:off x="7434072" y="3154680"/>
            <a:ext cx="175564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 sensitivity</a:t>
            </a:r>
            <a:endParaRPr lang="en-US" sz="1100" dirty="0"/>
          </a:p>
        </p:txBody>
      </p:sp>
      <p:sp>
        <p:nvSpPr>
          <p:cNvPr id="33" name="Shape 31"/>
          <p:cNvSpPr/>
          <p:nvPr/>
        </p:nvSpPr>
        <p:spPr>
          <a:xfrm>
            <a:off x="9262872" y="3154680"/>
            <a:ext cx="2377440" cy="548640"/>
          </a:xfrm>
          <a:prstGeom prst="rect">
            <a:avLst/>
          </a:prstGeom>
          <a:solidFill>
            <a:srgbClr val="F1E9D6"/>
          </a:solidFill>
          <a:ln w="9525">
            <a:solidFill>
              <a:srgbClr val="E1E3EF"/>
            </a:solidFill>
            <a:prstDash val="solid"/>
          </a:ln>
        </p:spPr>
      </p:sp>
      <p:sp>
        <p:nvSpPr>
          <p:cNvPr id="34" name="Text 32"/>
          <p:cNvSpPr/>
          <p:nvPr/>
        </p:nvSpPr>
        <p:spPr>
          <a:xfrm>
            <a:off x="9354312" y="3154680"/>
            <a:ext cx="2212848" cy="548640"/>
          </a:xfrm>
          <a:prstGeom prst="rect">
            <a:avLst/>
          </a:prstGeom>
          <a:noFill/>
          <a:ln/>
        </p:spPr>
        <p:txBody>
          <a:bodyPr wrap="square" rtlCol="0" anchor="ctr"/>
          <a:lstStyle/>
          <a:p>
            <a:pPr algn="l" indent="0" marL="0">
              <a:lnSpc>
                <a:spcPct val="95000"/>
              </a:lnSpc>
              <a:buNone/>
            </a:pPr>
            <a:r>
              <a:rPr lang="en-US" sz="1100" dirty="0">
                <a:solidFill>
                  <a:srgbClr val="B8842B"/>
                </a:solidFill>
                <a:latin typeface="Calibri" pitchFamily="34" charset="0"/>
                <a:ea typeface="Calibri" pitchFamily="34" charset="-122"/>
                <a:cs typeface="Calibri" pitchFamily="34" charset="-120"/>
              </a:rPr>
              <a:t>+ evaluation (μ)</a:t>
            </a:r>
            <a:endParaRPr lang="en-US" sz="1100" dirty="0"/>
          </a:p>
        </p:txBody>
      </p:sp>
      <p:sp>
        <p:nvSpPr>
          <p:cNvPr id="35" name="Shape 33"/>
          <p:cNvSpPr/>
          <p:nvPr/>
        </p:nvSpPr>
        <p:spPr>
          <a:xfrm>
            <a:off x="548640" y="3703320"/>
            <a:ext cx="1920240" cy="548640"/>
          </a:xfrm>
          <a:prstGeom prst="rect">
            <a:avLst/>
          </a:prstGeom>
          <a:solidFill>
            <a:srgbClr val="FFFFFF"/>
          </a:solidFill>
          <a:ln w="9525">
            <a:solidFill>
              <a:srgbClr val="E1E3EF"/>
            </a:solidFill>
            <a:prstDash val="solid"/>
          </a:ln>
        </p:spPr>
      </p:sp>
      <p:sp>
        <p:nvSpPr>
          <p:cNvPr id="36" name="Text 34"/>
          <p:cNvSpPr/>
          <p:nvPr/>
        </p:nvSpPr>
        <p:spPr>
          <a:xfrm>
            <a:off x="640080" y="3703320"/>
            <a:ext cx="1755648" cy="548640"/>
          </a:xfrm>
          <a:prstGeom prst="rect">
            <a:avLst/>
          </a:prstGeom>
          <a:noFill/>
          <a:ln/>
        </p:spPr>
        <p:txBody>
          <a:bodyPr wrap="square" rtlCol="0" anchor="ctr"/>
          <a:lstStyle/>
          <a:p>
            <a:pPr algn="l" indent="0" marL="0">
              <a:lnSpc>
                <a:spcPct val="95000"/>
              </a:lnSpc>
              <a:buNone/>
            </a:pPr>
            <a:r>
              <a:rPr lang="en-US" sz="1150" b="1" dirty="0">
                <a:solidFill>
                  <a:srgbClr val="16183D"/>
                </a:solidFill>
                <a:latin typeface="Calibri" pitchFamily="34" charset="0"/>
                <a:ea typeface="Calibri" pitchFamily="34" charset="-122"/>
                <a:cs typeface="Calibri" pitchFamily="34" charset="-120"/>
              </a:rPr>
              <a:t>Recog.–fulfil</a:t>
            </a:r>
            <a:endParaRPr lang="en-US" sz="1150" dirty="0"/>
          </a:p>
        </p:txBody>
      </p:sp>
      <p:sp>
        <p:nvSpPr>
          <p:cNvPr id="37" name="Shape 35"/>
          <p:cNvSpPr/>
          <p:nvPr/>
        </p:nvSpPr>
        <p:spPr>
          <a:xfrm>
            <a:off x="2468880" y="3703320"/>
            <a:ext cx="2286000" cy="548640"/>
          </a:xfrm>
          <a:prstGeom prst="rect">
            <a:avLst/>
          </a:prstGeom>
          <a:solidFill>
            <a:srgbClr val="FFFFFF"/>
          </a:solidFill>
          <a:ln w="9525">
            <a:solidFill>
              <a:srgbClr val="E1E3EF"/>
            </a:solidFill>
            <a:prstDash val="solid"/>
          </a:ln>
        </p:spPr>
      </p:sp>
      <p:sp>
        <p:nvSpPr>
          <p:cNvPr id="38" name="Text 36"/>
          <p:cNvSpPr/>
          <p:nvPr/>
        </p:nvSpPr>
        <p:spPr>
          <a:xfrm>
            <a:off x="2560320" y="3703320"/>
            <a:ext cx="212140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definite</a:t>
            </a:r>
            <a:endParaRPr lang="en-US" sz="1100" dirty="0"/>
          </a:p>
        </p:txBody>
      </p:sp>
      <p:sp>
        <p:nvSpPr>
          <p:cNvPr id="39" name="Shape 37"/>
          <p:cNvSpPr/>
          <p:nvPr/>
        </p:nvSpPr>
        <p:spPr>
          <a:xfrm>
            <a:off x="4754880" y="3703320"/>
            <a:ext cx="2587752" cy="548640"/>
          </a:xfrm>
          <a:prstGeom prst="rect">
            <a:avLst/>
          </a:prstGeom>
          <a:solidFill>
            <a:srgbClr val="FFFFFF"/>
          </a:solidFill>
          <a:ln w="9525">
            <a:solidFill>
              <a:srgbClr val="E1E3EF"/>
            </a:solidFill>
            <a:prstDash val="solid"/>
          </a:ln>
        </p:spPr>
      </p:sp>
      <p:sp>
        <p:nvSpPr>
          <p:cNvPr id="40" name="Text 38"/>
          <p:cNvSpPr/>
          <p:nvPr/>
        </p:nvSpPr>
        <p:spPr>
          <a:xfrm>
            <a:off x="4846320" y="3703320"/>
            <a:ext cx="2423160"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definite</a:t>
            </a:r>
            <a:endParaRPr lang="en-US" sz="1100" dirty="0"/>
          </a:p>
        </p:txBody>
      </p:sp>
      <p:sp>
        <p:nvSpPr>
          <p:cNvPr id="41" name="Shape 39"/>
          <p:cNvSpPr/>
          <p:nvPr/>
        </p:nvSpPr>
        <p:spPr>
          <a:xfrm>
            <a:off x="7342632" y="3703320"/>
            <a:ext cx="1920240" cy="548640"/>
          </a:xfrm>
          <a:prstGeom prst="rect">
            <a:avLst/>
          </a:prstGeom>
          <a:solidFill>
            <a:srgbClr val="FFFFFF"/>
          </a:solidFill>
          <a:ln w="9525">
            <a:solidFill>
              <a:srgbClr val="E1E3EF"/>
            </a:solidFill>
            <a:prstDash val="solid"/>
          </a:ln>
        </p:spPr>
      </p:sp>
      <p:sp>
        <p:nvSpPr>
          <p:cNvPr id="42" name="Text 40"/>
          <p:cNvSpPr/>
          <p:nvPr/>
        </p:nvSpPr>
        <p:spPr>
          <a:xfrm>
            <a:off x="7434072" y="3703320"/>
            <a:ext cx="175564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definite</a:t>
            </a:r>
            <a:endParaRPr lang="en-US" sz="1100" dirty="0"/>
          </a:p>
        </p:txBody>
      </p:sp>
      <p:sp>
        <p:nvSpPr>
          <p:cNvPr id="43" name="Shape 41"/>
          <p:cNvSpPr/>
          <p:nvPr/>
        </p:nvSpPr>
        <p:spPr>
          <a:xfrm>
            <a:off x="9262872" y="3703320"/>
            <a:ext cx="2377440" cy="548640"/>
          </a:xfrm>
          <a:prstGeom prst="rect">
            <a:avLst/>
          </a:prstGeom>
          <a:solidFill>
            <a:srgbClr val="F1E9D6"/>
          </a:solidFill>
          <a:ln w="9525">
            <a:solidFill>
              <a:srgbClr val="E1E3EF"/>
            </a:solidFill>
            <a:prstDash val="solid"/>
          </a:ln>
        </p:spPr>
      </p:sp>
      <p:sp>
        <p:nvSpPr>
          <p:cNvPr id="44" name="Text 42"/>
          <p:cNvSpPr/>
          <p:nvPr/>
        </p:nvSpPr>
        <p:spPr>
          <a:xfrm>
            <a:off x="9354312" y="3703320"/>
            <a:ext cx="2212848" cy="548640"/>
          </a:xfrm>
          <a:prstGeom prst="rect">
            <a:avLst/>
          </a:prstGeom>
          <a:noFill/>
          <a:ln/>
        </p:spPr>
        <p:txBody>
          <a:bodyPr wrap="square" rtlCol="0" anchor="ctr"/>
          <a:lstStyle/>
          <a:p>
            <a:pPr algn="l" indent="0" marL="0">
              <a:lnSpc>
                <a:spcPct val="95000"/>
              </a:lnSpc>
              <a:buNone/>
            </a:pPr>
            <a:r>
              <a:rPr lang="en-US" sz="1100" dirty="0">
                <a:solidFill>
                  <a:srgbClr val="B8842B"/>
                </a:solidFill>
                <a:latin typeface="Calibri" pitchFamily="34" charset="0"/>
                <a:ea typeface="Calibri" pitchFamily="34" charset="-122"/>
                <a:cs typeface="Calibri" pitchFamily="34" charset="-120"/>
              </a:rPr>
              <a:t>achieved</a:t>
            </a:r>
            <a:endParaRPr lang="en-US" sz="1100" dirty="0"/>
          </a:p>
        </p:txBody>
      </p:sp>
      <p:sp>
        <p:nvSpPr>
          <p:cNvPr id="45" name="Shape 43"/>
          <p:cNvSpPr/>
          <p:nvPr/>
        </p:nvSpPr>
        <p:spPr>
          <a:xfrm>
            <a:off x="548640" y="4251960"/>
            <a:ext cx="1920240" cy="548640"/>
          </a:xfrm>
          <a:prstGeom prst="rect">
            <a:avLst/>
          </a:prstGeom>
          <a:solidFill>
            <a:srgbClr val="EEF0F8"/>
          </a:solidFill>
          <a:ln w="9525">
            <a:solidFill>
              <a:srgbClr val="E1E3EF"/>
            </a:solidFill>
            <a:prstDash val="solid"/>
          </a:ln>
        </p:spPr>
      </p:sp>
      <p:sp>
        <p:nvSpPr>
          <p:cNvPr id="46" name="Text 44"/>
          <p:cNvSpPr/>
          <p:nvPr/>
        </p:nvSpPr>
        <p:spPr>
          <a:xfrm>
            <a:off x="640080" y="4251960"/>
            <a:ext cx="1755648" cy="548640"/>
          </a:xfrm>
          <a:prstGeom prst="rect">
            <a:avLst/>
          </a:prstGeom>
          <a:noFill/>
          <a:ln/>
        </p:spPr>
        <p:txBody>
          <a:bodyPr wrap="square" rtlCol="0" anchor="ctr"/>
          <a:lstStyle/>
          <a:p>
            <a:pPr algn="l" indent="0" marL="0">
              <a:lnSpc>
                <a:spcPct val="95000"/>
              </a:lnSpc>
              <a:buNone/>
            </a:pPr>
            <a:r>
              <a:rPr lang="en-US" sz="1150" b="1" dirty="0">
                <a:solidFill>
                  <a:srgbClr val="16183D"/>
                </a:solidFill>
                <a:latin typeface="Calibri" pitchFamily="34" charset="0"/>
                <a:ea typeface="Calibri" pitchFamily="34" charset="-122"/>
                <a:cs typeface="Calibri" pitchFamily="34" charset="-120"/>
              </a:rPr>
              <a:t>Assembly</a:t>
            </a:r>
            <a:endParaRPr lang="en-US" sz="1150" dirty="0"/>
          </a:p>
        </p:txBody>
      </p:sp>
      <p:sp>
        <p:nvSpPr>
          <p:cNvPr id="47" name="Shape 45"/>
          <p:cNvSpPr/>
          <p:nvPr/>
        </p:nvSpPr>
        <p:spPr>
          <a:xfrm>
            <a:off x="2468880" y="4251960"/>
            <a:ext cx="2286000" cy="548640"/>
          </a:xfrm>
          <a:prstGeom prst="rect">
            <a:avLst/>
          </a:prstGeom>
          <a:solidFill>
            <a:srgbClr val="EEF0F8"/>
          </a:solidFill>
          <a:ln w="9525">
            <a:solidFill>
              <a:srgbClr val="E1E3EF"/>
            </a:solidFill>
            <a:prstDash val="solid"/>
          </a:ln>
        </p:spPr>
      </p:sp>
      <p:sp>
        <p:nvSpPr>
          <p:cNvPr id="48" name="Text 46"/>
          <p:cNvSpPr/>
          <p:nvPr/>
        </p:nvSpPr>
        <p:spPr>
          <a:xfrm>
            <a:off x="2560320" y="4251960"/>
            <a:ext cx="212140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literal compound</a:t>
            </a:r>
            <a:endParaRPr lang="en-US" sz="1100" dirty="0"/>
          </a:p>
        </p:txBody>
      </p:sp>
      <p:sp>
        <p:nvSpPr>
          <p:cNvPr id="49" name="Shape 47"/>
          <p:cNvSpPr/>
          <p:nvPr/>
        </p:nvSpPr>
        <p:spPr>
          <a:xfrm>
            <a:off x="4754880" y="4251960"/>
            <a:ext cx="2587752" cy="548640"/>
          </a:xfrm>
          <a:prstGeom prst="rect">
            <a:avLst/>
          </a:prstGeom>
          <a:solidFill>
            <a:srgbClr val="EEF0F8"/>
          </a:solidFill>
          <a:ln w="9525">
            <a:solidFill>
              <a:srgbClr val="E1E3EF"/>
            </a:solidFill>
            <a:prstDash val="solid"/>
          </a:ln>
        </p:spPr>
      </p:sp>
      <p:sp>
        <p:nvSpPr>
          <p:cNvPr id="50" name="Text 48"/>
          <p:cNvSpPr/>
          <p:nvPr/>
        </p:nvSpPr>
        <p:spPr>
          <a:xfrm>
            <a:off x="4846320" y="4251960"/>
            <a:ext cx="2423160"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compositional</a:t>
            </a:r>
            <a:endParaRPr lang="en-US" sz="1100" dirty="0"/>
          </a:p>
        </p:txBody>
      </p:sp>
      <p:sp>
        <p:nvSpPr>
          <p:cNvPr id="51" name="Shape 49"/>
          <p:cNvSpPr/>
          <p:nvPr/>
        </p:nvSpPr>
        <p:spPr>
          <a:xfrm>
            <a:off x="7342632" y="4251960"/>
            <a:ext cx="1920240" cy="548640"/>
          </a:xfrm>
          <a:prstGeom prst="rect">
            <a:avLst/>
          </a:prstGeom>
          <a:solidFill>
            <a:srgbClr val="EEF0F8"/>
          </a:solidFill>
          <a:ln w="9525">
            <a:solidFill>
              <a:srgbClr val="E1E3EF"/>
            </a:solidFill>
            <a:prstDash val="solid"/>
          </a:ln>
        </p:spPr>
      </p:sp>
      <p:sp>
        <p:nvSpPr>
          <p:cNvPr id="52" name="Text 50"/>
          <p:cNvSpPr/>
          <p:nvPr/>
        </p:nvSpPr>
        <p:spPr>
          <a:xfrm>
            <a:off x="7434072" y="4251960"/>
            <a:ext cx="175564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herd / lineage</a:t>
            </a:r>
            <a:endParaRPr lang="en-US" sz="1100" dirty="0"/>
          </a:p>
        </p:txBody>
      </p:sp>
      <p:sp>
        <p:nvSpPr>
          <p:cNvPr id="53" name="Shape 51"/>
          <p:cNvSpPr/>
          <p:nvPr/>
        </p:nvSpPr>
        <p:spPr>
          <a:xfrm>
            <a:off x="9262872" y="4251960"/>
            <a:ext cx="2377440" cy="548640"/>
          </a:xfrm>
          <a:prstGeom prst="rect">
            <a:avLst/>
          </a:prstGeom>
          <a:solidFill>
            <a:srgbClr val="F1E9D6"/>
          </a:solidFill>
          <a:ln w="9525">
            <a:solidFill>
              <a:srgbClr val="E1E3EF"/>
            </a:solidFill>
            <a:prstDash val="solid"/>
          </a:ln>
        </p:spPr>
      </p:sp>
      <p:sp>
        <p:nvSpPr>
          <p:cNvPr id="54" name="Text 52"/>
          <p:cNvSpPr/>
          <p:nvPr/>
        </p:nvSpPr>
        <p:spPr>
          <a:xfrm>
            <a:off x="9354312" y="4251960"/>
            <a:ext cx="2212848" cy="548640"/>
          </a:xfrm>
          <a:prstGeom prst="rect">
            <a:avLst/>
          </a:prstGeom>
          <a:noFill/>
          <a:ln/>
        </p:spPr>
        <p:txBody>
          <a:bodyPr wrap="square" rtlCol="0" anchor="ctr"/>
          <a:lstStyle/>
          <a:p>
            <a:pPr algn="l" indent="0" marL="0">
              <a:lnSpc>
                <a:spcPct val="95000"/>
              </a:lnSpc>
              <a:buNone/>
            </a:pPr>
            <a:r>
              <a:rPr lang="en-US" sz="1100" dirty="0">
                <a:solidFill>
                  <a:srgbClr val="B8842B"/>
                </a:solidFill>
                <a:latin typeface="Calibri" pitchFamily="34" charset="0"/>
                <a:ea typeface="Calibri" pitchFamily="34" charset="-122"/>
                <a:cs typeface="Calibri" pitchFamily="34" charset="-120"/>
              </a:rPr>
              <a:t>conduct-compound (analogy)</a:t>
            </a:r>
            <a:endParaRPr lang="en-US" sz="1100" dirty="0"/>
          </a:p>
        </p:txBody>
      </p:sp>
      <p:sp>
        <p:nvSpPr>
          <p:cNvPr id="55" name="Shape 53"/>
          <p:cNvSpPr/>
          <p:nvPr/>
        </p:nvSpPr>
        <p:spPr>
          <a:xfrm>
            <a:off x="548640" y="4800600"/>
            <a:ext cx="1920240" cy="548640"/>
          </a:xfrm>
          <a:prstGeom prst="rect">
            <a:avLst/>
          </a:prstGeom>
          <a:solidFill>
            <a:srgbClr val="FFFFFF"/>
          </a:solidFill>
          <a:ln w="9525">
            <a:solidFill>
              <a:srgbClr val="E1E3EF"/>
            </a:solidFill>
            <a:prstDash val="solid"/>
          </a:ln>
        </p:spPr>
      </p:sp>
      <p:sp>
        <p:nvSpPr>
          <p:cNvPr id="56" name="Text 54"/>
          <p:cNvSpPr/>
          <p:nvPr/>
        </p:nvSpPr>
        <p:spPr>
          <a:xfrm>
            <a:off x="640080" y="4800600"/>
            <a:ext cx="1755648" cy="548640"/>
          </a:xfrm>
          <a:prstGeom prst="rect">
            <a:avLst/>
          </a:prstGeom>
          <a:noFill/>
          <a:ln/>
        </p:spPr>
        <p:txBody>
          <a:bodyPr wrap="square" rtlCol="0" anchor="ctr"/>
          <a:lstStyle/>
          <a:p>
            <a:pPr algn="l" indent="0" marL="0">
              <a:lnSpc>
                <a:spcPct val="95000"/>
              </a:lnSpc>
              <a:buNone/>
            </a:pPr>
            <a:r>
              <a:rPr lang="en-US" sz="1150" b="1" dirty="0">
                <a:solidFill>
                  <a:srgbClr val="16183D"/>
                </a:solidFill>
                <a:latin typeface="Calibri" pitchFamily="34" charset="0"/>
                <a:ea typeface="Calibri" pitchFamily="34" charset="-122"/>
                <a:cs typeface="Calibri" pitchFamily="34" charset="-120"/>
              </a:rPr>
              <a:t>Transmission</a:t>
            </a:r>
            <a:endParaRPr lang="en-US" sz="1150" dirty="0"/>
          </a:p>
        </p:txBody>
      </p:sp>
      <p:sp>
        <p:nvSpPr>
          <p:cNvPr id="57" name="Shape 55"/>
          <p:cNvSpPr/>
          <p:nvPr/>
        </p:nvSpPr>
        <p:spPr>
          <a:xfrm>
            <a:off x="2468880" y="4800600"/>
            <a:ext cx="2286000" cy="548640"/>
          </a:xfrm>
          <a:prstGeom prst="rect">
            <a:avLst/>
          </a:prstGeom>
          <a:solidFill>
            <a:srgbClr val="FFFFFF"/>
          </a:solidFill>
          <a:ln w="9525">
            <a:solidFill>
              <a:srgbClr val="E1E3EF"/>
            </a:solidFill>
            <a:prstDash val="solid"/>
          </a:ln>
        </p:spPr>
      </p:sp>
      <p:sp>
        <p:nvSpPr>
          <p:cNvPr id="58" name="Text 56"/>
          <p:cNvSpPr/>
          <p:nvPr/>
        </p:nvSpPr>
        <p:spPr>
          <a:xfrm>
            <a:off x="2560320" y="4800600"/>
            <a:ext cx="212140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constitution</a:t>
            </a:r>
            <a:endParaRPr lang="en-US" sz="1100" dirty="0"/>
          </a:p>
        </p:txBody>
      </p:sp>
      <p:sp>
        <p:nvSpPr>
          <p:cNvPr id="59" name="Shape 57"/>
          <p:cNvSpPr/>
          <p:nvPr/>
        </p:nvSpPr>
        <p:spPr>
          <a:xfrm>
            <a:off x="4754880" y="4800600"/>
            <a:ext cx="2587752" cy="548640"/>
          </a:xfrm>
          <a:prstGeom prst="rect">
            <a:avLst/>
          </a:prstGeom>
          <a:solidFill>
            <a:srgbClr val="FFFFFF"/>
          </a:solidFill>
          <a:ln w="9525">
            <a:solidFill>
              <a:srgbClr val="E1E3EF"/>
            </a:solidFill>
            <a:prstDash val="solid"/>
          </a:ln>
        </p:spPr>
      </p:sp>
      <p:sp>
        <p:nvSpPr>
          <p:cNvPr id="60" name="Text 58"/>
          <p:cNvSpPr/>
          <p:nvPr/>
        </p:nvSpPr>
        <p:spPr>
          <a:xfrm>
            <a:off x="4846320" y="4800600"/>
            <a:ext cx="2423160"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seed (rachna vidhi)</a:t>
            </a:r>
            <a:endParaRPr lang="en-US" sz="1100" dirty="0"/>
          </a:p>
        </p:txBody>
      </p:sp>
      <p:sp>
        <p:nvSpPr>
          <p:cNvPr id="61" name="Shape 59"/>
          <p:cNvSpPr/>
          <p:nvPr/>
        </p:nvSpPr>
        <p:spPr>
          <a:xfrm>
            <a:off x="7342632" y="4800600"/>
            <a:ext cx="1920240" cy="548640"/>
          </a:xfrm>
          <a:prstGeom prst="rect">
            <a:avLst/>
          </a:prstGeom>
          <a:solidFill>
            <a:srgbClr val="FFFFFF"/>
          </a:solidFill>
          <a:ln w="9525">
            <a:solidFill>
              <a:srgbClr val="E1E3EF"/>
            </a:solidFill>
            <a:prstDash val="solid"/>
          </a:ln>
        </p:spPr>
      </p:sp>
      <p:sp>
        <p:nvSpPr>
          <p:cNvPr id="62" name="Text 60"/>
          <p:cNvSpPr/>
          <p:nvPr/>
        </p:nvSpPr>
        <p:spPr>
          <a:xfrm>
            <a:off x="7434072" y="4800600"/>
            <a:ext cx="175564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lineage</a:t>
            </a:r>
            <a:endParaRPr lang="en-US" sz="1100" dirty="0"/>
          </a:p>
        </p:txBody>
      </p:sp>
      <p:sp>
        <p:nvSpPr>
          <p:cNvPr id="63" name="Shape 61"/>
          <p:cNvSpPr/>
          <p:nvPr/>
        </p:nvSpPr>
        <p:spPr>
          <a:xfrm>
            <a:off x="9262872" y="4800600"/>
            <a:ext cx="2377440" cy="548640"/>
          </a:xfrm>
          <a:prstGeom prst="rect">
            <a:avLst/>
          </a:prstGeom>
          <a:solidFill>
            <a:srgbClr val="F1E9D6"/>
          </a:solidFill>
          <a:ln w="9525">
            <a:solidFill>
              <a:srgbClr val="E1E3EF"/>
            </a:solidFill>
            <a:prstDash val="solid"/>
          </a:ln>
        </p:spPr>
      </p:sp>
      <p:sp>
        <p:nvSpPr>
          <p:cNvPr id="64" name="Text 62"/>
          <p:cNvSpPr/>
          <p:nvPr/>
        </p:nvSpPr>
        <p:spPr>
          <a:xfrm>
            <a:off x="9354312" y="4800600"/>
            <a:ext cx="2212848" cy="548640"/>
          </a:xfrm>
          <a:prstGeom prst="rect">
            <a:avLst/>
          </a:prstGeom>
          <a:noFill/>
          <a:ln/>
        </p:spPr>
        <p:txBody>
          <a:bodyPr wrap="square" rtlCol="0" anchor="ctr"/>
          <a:lstStyle/>
          <a:p>
            <a:pPr algn="l" indent="0" marL="0">
              <a:lnSpc>
                <a:spcPct val="95000"/>
              </a:lnSpc>
              <a:buNone/>
            </a:pPr>
            <a:r>
              <a:rPr lang="en-US" sz="1100" dirty="0">
                <a:solidFill>
                  <a:srgbClr val="B8842B"/>
                </a:solidFill>
                <a:latin typeface="Calibri" pitchFamily="34" charset="0"/>
                <a:ea typeface="Calibri" pitchFamily="34" charset="-122"/>
                <a:cs typeface="Calibri" pitchFamily="34" charset="-120"/>
              </a:rPr>
              <a:t>education-sanskar</a:t>
            </a:r>
            <a:endParaRPr lang="en-US" sz="1100" dirty="0"/>
          </a:p>
        </p:txBody>
      </p:sp>
      <p:sp>
        <p:nvSpPr>
          <p:cNvPr id="65" name="Shape 63"/>
          <p:cNvSpPr/>
          <p:nvPr/>
        </p:nvSpPr>
        <p:spPr>
          <a:xfrm>
            <a:off x="548640" y="5349240"/>
            <a:ext cx="1920240" cy="548640"/>
          </a:xfrm>
          <a:prstGeom prst="rect">
            <a:avLst/>
          </a:prstGeom>
          <a:solidFill>
            <a:srgbClr val="EEF0F8"/>
          </a:solidFill>
          <a:ln w="9525">
            <a:solidFill>
              <a:srgbClr val="E1E3EF"/>
            </a:solidFill>
            <a:prstDash val="solid"/>
          </a:ln>
        </p:spPr>
      </p:sp>
      <p:sp>
        <p:nvSpPr>
          <p:cNvPr id="66" name="Text 64"/>
          <p:cNvSpPr/>
          <p:nvPr/>
        </p:nvSpPr>
        <p:spPr>
          <a:xfrm>
            <a:off x="640080" y="5349240"/>
            <a:ext cx="1755648" cy="548640"/>
          </a:xfrm>
          <a:prstGeom prst="rect">
            <a:avLst/>
          </a:prstGeom>
          <a:noFill/>
          <a:ln/>
        </p:spPr>
        <p:txBody>
          <a:bodyPr wrap="square" rtlCol="0" anchor="ctr"/>
          <a:lstStyle/>
          <a:p>
            <a:pPr algn="l" indent="0" marL="0">
              <a:lnSpc>
                <a:spcPct val="95000"/>
              </a:lnSpc>
              <a:buNone/>
            </a:pPr>
            <a:r>
              <a:rPr lang="en-US" sz="1150" b="1" dirty="0">
                <a:solidFill>
                  <a:srgbClr val="16183D"/>
                </a:solidFill>
                <a:latin typeface="Calibri" pitchFamily="34" charset="0"/>
                <a:ea typeface="Calibri" pitchFamily="34" charset="-122"/>
                <a:cs typeface="Calibri" pitchFamily="34" charset="-120"/>
              </a:rPr>
              <a:t>Failure mode</a:t>
            </a:r>
            <a:endParaRPr lang="en-US" sz="1150" dirty="0"/>
          </a:p>
        </p:txBody>
      </p:sp>
      <p:sp>
        <p:nvSpPr>
          <p:cNvPr id="67" name="Shape 65"/>
          <p:cNvSpPr/>
          <p:nvPr/>
        </p:nvSpPr>
        <p:spPr>
          <a:xfrm>
            <a:off x="2468880" y="5349240"/>
            <a:ext cx="2286000" cy="548640"/>
          </a:xfrm>
          <a:prstGeom prst="rect">
            <a:avLst/>
          </a:prstGeom>
          <a:solidFill>
            <a:srgbClr val="EEF0F8"/>
          </a:solidFill>
          <a:ln w="9525">
            <a:solidFill>
              <a:srgbClr val="E1E3EF"/>
            </a:solidFill>
            <a:prstDash val="solid"/>
          </a:ln>
        </p:spPr>
      </p:sp>
      <p:sp>
        <p:nvSpPr>
          <p:cNvPr id="68" name="Text 66"/>
          <p:cNvSpPr/>
          <p:nvPr/>
        </p:nvSpPr>
        <p:spPr>
          <a:xfrm>
            <a:off x="2560320" y="5349240"/>
            <a:ext cx="212140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a:t>
            </a:r>
            <a:endParaRPr lang="en-US" sz="1100" dirty="0"/>
          </a:p>
        </p:txBody>
      </p:sp>
      <p:sp>
        <p:nvSpPr>
          <p:cNvPr id="69" name="Shape 67"/>
          <p:cNvSpPr/>
          <p:nvPr/>
        </p:nvSpPr>
        <p:spPr>
          <a:xfrm>
            <a:off x="4754880" y="5349240"/>
            <a:ext cx="2587752" cy="548640"/>
          </a:xfrm>
          <a:prstGeom prst="rect">
            <a:avLst/>
          </a:prstGeom>
          <a:solidFill>
            <a:srgbClr val="EEF0F8"/>
          </a:solidFill>
          <a:ln w="9525">
            <a:solidFill>
              <a:srgbClr val="E1E3EF"/>
            </a:solidFill>
            <a:prstDash val="solid"/>
          </a:ln>
        </p:spPr>
      </p:sp>
      <p:sp>
        <p:nvSpPr>
          <p:cNvPr id="70" name="Text 68"/>
          <p:cNvSpPr/>
          <p:nvPr/>
        </p:nvSpPr>
        <p:spPr>
          <a:xfrm>
            <a:off x="4846320" y="5349240"/>
            <a:ext cx="2423160"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death / decompose</a:t>
            </a:r>
            <a:endParaRPr lang="en-US" sz="1100" dirty="0"/>
          </a:p>
        </p:txBody>
      </p:sp>
      <p:sp>
        <p:nvSpPr>
          <p:cNvPr id="71" name="Shape 69"/>
          <p:cNvSpPr/>
          <p:nvPr/>
        </p:nvSpPr>
        <p:spPr>
          <a:xfrm>
            <a:off x="7342632" y="5349240"/>
            <a:ext cx="1920240" cy="548640"/>
          </a:xfrm>
          <a:prstGeom prst="rect">
            <a:avLst/>
          </a:prstGeom>
          <a:solidFill>
            <a:srgbClr val="EEF0F8"/>
          </a:solidFill>
          <a:ln w="9525">
            <a:solidFill>
              <a:srgbClr val="E1E3EF"/>
            </a:solidFill>
            <a:prstDash val="solid"/>
          </a:ln>
        </p:spPr>
      </p:sp>
      <p:sp>
        <p:nvSpPr>
          <p:cNvPr id="72" name="Text 70"/>
          <p:cNvSpPr/>
          <p:nvPr/>
        </p:nvSpPr>
        <p:spPr>
          <a:xfrm>
            <a:off x="7434072" y="5349240"/>
            <a:ext cx="1755648" cy="548640"/>
          </a:xfrm>
          <a:prstGeom prst="rect">
            <a:avLst/>
          </a:prstGeom>
          <a:noFill/>
          <a:ln/>
        </p:spPr>
        <p:txBody>
          <a:bodyPr wrap="square" rtlCol="0" anchor="ctr"/>
          <a:lstStyle/>
          <a:p>
            <a:pPr algn="l" indent="0" marL="0">
              <a:lnSpc>
                <a:spcPct val="95000"/>
              </a:lnSpc>
              <a:buNone/>
            </a:pPr>
            <a:r>
              <a:rPr lang="en-US" sz="1100" dirty="0">
                <a:solidFill>
                  <a:srgbClr val="202340"/>
                </a:solidFill>
                <a:latin typeface="Calibri" pitchFamily="34" charset="0"/>
                <a:ea typeface="Calibri" pitchFamily="34" charset="-122"/>
                <a:cs typeface="Calibri" pitchFamily="34" charset="-120"/>
              </a:rPr>
              <a:t>species stress</a:t>
            </a:r>
            <a:endParaRPr lang="en-US" sz="1100" dirty="0"/>
          </a:p>
        </p:txBody>
      </p:sp>
      <p:sp>
        <p:nvSpPr>
          <p:cNvPr id="73" name="Shape 71"/>
          <p:cNvSpPr/>
          <p:nvPr/>
        </p:nvSpPr>
        <p:spPr>
          <a:xfrm>
            <a:off x="9262872" y="5349240"/>
            <a:ext cx="2377440" cy="548640"/>
          </a:xfrm>
          <a:prstGeom prst="rect">
            <a:avLst/>
          </a:prstGeom>
          <a:solidFill>
            <a:srgbClr val="F1E9D6"/>
          </a:solidFill>
          <a:ln w="9525">
            <a:solidFill>
              <a:srgbClr val="E1E3EF"/>
            </a:solidFill>
            <a:prstDash val="solid"/>
          </a:ln>
        </p:spPr>
      </p:sp>
      <p:sp>
        <p:nvSpPr>
          <p:cNvPr id="74" name="Text 72"/>
          <p:cNvSpPr/>
          <p:nvPr/>
        </p:nvSpPr>
        <p:spPr>
          <a:xfrm>
            <a:off x="9354312" y="5349240"/>
            <a:ext cx="2212848" cy="548640"/>
          </a:xfrm>
          <a:prstGeom prst="rect">
            <a:avLst/>
          </a:prstGeom>
          <a:noFill/>
          <a:ln/>
        </p:spPr>
        <p:txBody>
          <a:bodyPr wrap="square" rtlCol="0" anchor="ctr"/>
          <a:lstStyle/>
          <a:p>
            <a:pPr algn="l" indent="0" marL="0">
              <a:lnSpc>
                <a:spcPct val="95000"/>
              </a:lnSpc>
              <a:buNone/>
            </a:pPr>
            <a:r>
              <a:rPr lang="en-US" sz="1100" dirty="0">
                <a:solidFill>
                  <a:srgbClr val="B8842B"/>
                </a:solidFill>
                <a:latin typeface="Calibri" pitchFamily="34" charset="0"/>
                <a:ea typeface="Calibri" pitchFamily="34" charset="-122"/>
                <a:cs typeface="Calibri" pitchFamily="34" charset="-120"/>
              </a:rPr>
              <a:t>delusion → war, overdraw</a:t>
            </a:r>
            <a:endParaRPr lang="en-US" sz="1100" dirty="0"/>
          </a:p>
        </p:txBody>
      </p:sp>
      <p:sp>
        <p:nvSpPr>
          <p:cNvPr id="75" name="Text 73"/>
          <p:cNvSpPr/>
          <p:nvPr/>
        </p:nvSpPr>
        <p:spPr>
          <a:xfrm>
            <a:off x="548640" y="5943600"/>
            <a:ext cx="11091672" cy="457200"/>
          </a:xfrm>
          <a:prstGeom prst="rect">
            <a:avLst/>
          </a:prstGeom>
          <a:noFill/>
          <a:ln/>
        </p:spPr>
        <p:txBody>
          <a:bodyPr wrap="square" rtlCol="0" anchor="t"/>
          <a:lstStyle/>
          <a:p>
            <a:pPr algn="ctr" indent="0" marL="0">
              <a:lnSpc>
                <a:spcPct val="100000"/>
              </a:lnSpc>
              <a:buNone/>
            </a:pPr>
            <a:r>
              <a:rPr lang="en-US" sz="1350" dirty="0">
                <a:solidFill>
                  <a:srgbClr val="202340"/>
                </a:solidFill>
                <a:latin typeface="Calibri" pitchFamily="34" charset="0"/>
                <a:ea typeface="Calibri" pitchFamily="34" charset="-122"/>
                <a:cs typeface="Calibri" pitchFamily="34" charset="-120"/>
              </a:rPr>
              <a:t>Every row is richer in the knowledge order but never ABSENT below it. </a:t>
            </a:r>
            <a:pPr algn="ctr" indent="0" marL="0">
              <a:lnSpc>
                <a:spcPct val="100000"/>
              </a:lnSpc>
              <a:buNone/>
            </a:pPr>
            <a:r>
              <a:rPr lang="en-US" sz="1350" b="1" dirty="0">
                <a:solidFill>
                  <a:srgbClr val="16183D"/>
                </a:solidFill>
                <a:latin typeface="Calibri" pitchFamily="34" charset="0"/>
                <a:ea typeface="Calibri" pitchFamily="34" charset="-122"/>
                <a:cs typeface="Calibri" pitchFamily="34" charset="-120"/>
              </a:rPr>
              <a:t>What first appears with humans is not value — it is the EVALUATION of value, and with it, error.</a:t>
            </a:r>
            <a:endParaRPr lang="en-US" sz="1350" dirty="0"/>
          </a:p>
        </p:txBody>
      </p:sp>
      <p:sp>
        <p:nvSpPr>
          <p:cNvPr id="76" name="Text 74"/>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25</a:t>
            </a:r>
            <a:endParaRPr lang="en-US" sz="900" dirty="0"/>
          </a:p>
        </p:txBody>
      </p:sp>
      <p:sp>
        <p:nvSpPr>
          <p:cNvPr id="77" name="Text 75"/>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The structure at every tier</a:t>
            </a:r>
            <a:endParaRPr lang="en-US" sz="900" dirty="0"/>
          </a:p>
        </p:txBody>
      </p:sp>
      <p:sp>
        <p:nvSpPr>
          <p:cNvPr id="78" name="Text 76"/>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IV · GUARDING AGAINST EASY GLOSSES</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What the structure is NOT</a:t>
            </a:r>
            <a:endParaRPr lang="en-US" sz="2900" dirty="0"/>
          </a:p>
        </p:txBody>
      </p:sp>
      <p:sp>
        <p:nvSpPr>
          <p:cNvPr id="4" name="Text 2"/>
          <p:cNvSpPr/>
          <p:nvPr/>
        </p:nvSpPr>
        <p:spPr>
          <a:xfrm>
            <a:off x="548640" y="1536192"/>
            <a:ext cx="11091672" cy="457200"/>
          </a:xfrm>
          <a:prstGeom prst="rect">
            <a:avLst/>
          </a:prstGeom>
          <a:noFill/>
          <a:ln/>
        </p:spPr>
        <p:txBody>
          <a:bodyPr wrap="square" rtlCol="0" anchor="t"/>
          <a:lstStyle/>
          <a:p>
            <a:pPr indent="0" marL="0">
              <a:buNone/>
            </a:pPr>
            <a:r>
              <a:rPr lang="en-US" sz="1500" dirty="0">
                <a:solidFill>
                  <a:srgbClr val="202340"/>
                </a:solidFill>
                <a:latin typeface="Calibri" pitchFamily="34" charset="0"/>
                <a:ea typeface="Calibri" pitchFamily="34" charset="-122"/>
                <a:cs typeface="Calibri" pitchFamily="34" charset="-120"/>
              </a:rPr>
              <a:t>The most natural modern readings quietly swap the structure for something else. Four corrections:</a:t>
            </a:r>
            <a:endParaRPr lang="en-US" sz="1500" dirty="0"/>
          </a:p>
        </p:txBody>
      </p:sp>
      <p:sp>
        <p:nvSpPr>
          <p:cNvPr id="5" name="Shape 3"/>
          <p:cNvSpPr/>
          <p:nvPr/>
        </p:nvSpPr>
        <p:spPr>
          <a:xfrm>
            <a:off x="548640" y="2148840"/>
            <a:ext cx="5449824" cy="1783080"/>
          </a:xfrm>
          <a:prstGeom prst="roundRect">
            <a:avLst>
              <a:gd name="adj" fmla="val 3077"/>
            </a:avLst>
          </a:prstGeom>
          <a:solidFill>
            <a:srgbClr val="F5F6FB"/>
          </a:solidFill>
          <a:ln w="12700">
            <a:solidFill>
              <a:srgbClr val="E1E3EF"/>
            </a:solidFill>
            <a:prstDash val="solid"/>
          </a:ln>
        </p:spPr>
      </p:sp>
      <p:sp>
        <p:nvSpPr>
          <p:cNvPr id="6" name="Shape 4"/>
          <p:cNvSpPr/>
          <p:nvPr/>
        </p:nvSpPr>
        <p:spPr>
          <a:xfrm>
            <a:off x="777240" y="2377440"/>
            <a:ext cx="457200" cy="457200"/>
          </a:xfrm>
          <a:prstGeom prst="ellipse">
            <a:avLst/>
          </a:prstGeom>
          <a:solidFill>
            <a:srgbClr val="16183D"/>
          </a:solidFill>
          <a:ln/>
        </p:spPr>
      </p:sp>
      <p:sp>
        <p:nvSpPr>
          <p:cNvPr id="7" name="Text 5"/>
          <p:cNvSpPr/>
          <p:nvPr/>
        </p:nvSpPr>
        <p:spPr>
          <a:xfrm>
            <a:off x="777240" y="2377440"/>
            <a:ext cx="457200" cy="457200"/>
          </a:xfrm>
          <a:prstGeom prst="rect">
            <a:avLst/>
          </a:prstGeom>
          <a:noFill/>
          <a:ln/>
        </p:spPr>
        <p:txBody>
          <a:bodyPr wrap="square" rtlCol="0" anchor="ctr"/>
          <a:lstStyle/>
          <a:p>
            <a:pPr algn="ctr" indent="0" marL="0">
              <a:buNone/>
            </a:pPr>
            <a:r>
              <a:rPr lang="en-US" sz="1600" b="1" dirty="0">
                <a:solidFill>
                  <a:srgbClr val="E3B857"/>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371600" y="2350008"/>
            <a:ext cx="4443984" cy="502920"/>
          </a:xfrm>
          <a:prstGeom prst="rect">
            <a:avLst/>
          </a:prstGeom>
          <a:noFill/>
          <a:ln/>
        </p:spPr>
        <p:txBody>
          <a:bodyPr wrap="square" rtlCol="0" anchor="ctr"/>
          <a:lstStyle/>
          <a:p>
            <a:pPr indent="0" marL="0">
              <a:lnSpc>
                <a:spcPct val="95000"/>
              </a:lnSpc>
              <a:buNone/>
            </a:pPr>
            <a:r>
              <a:rPr lang="en-US" sz="1550" b="1" dirty="0">
                <a:solidFill>
                  <a:srgbClr val="16183D"/>
                </a:solidFill>
                <a:latin typeface="Cambria" pitchFamily="34" charset="0"/>
                <a:ea typeface="Cambria" pitchFamily="34" charset="-122"/>
                <a:cs typeface="Cambria" pitchFamily="34" charset="-120"/>
              </a:rPr>
              <a:t>Not driven by indefinite increase</a:t>
            </a:r>
            <a:endParaRPr lang="en-US" sz="1550" dirty="0"/>
          </a:p>
        </p:txBody>
      </p:sp>
      <p:sp>
        <p:nvSpPr>
          <p:cNvPr id="9" name="Text 7"/>
          <p:cNvSpPr/>
          <p:nvPr/>
        </p:nvSpPr>
        <p:spPr>
          <a:xfrm>
            <a:off x="804672" y="2926080"/>
            <a:ext cx="4937760" cy="914400"/>
          </a:xfrm>
          <a:prstGeom prst="rect">
            <a:avLst/>
          </a:prstGeom>
          <a:noFill/>
          <a:ln/>
        </p:spPr>
        <p:txBody>
          <a:bodyPr wrap="square" rtlCol="0" anchor="t"/>
          <a:lstStyle/>
          <a:p>
            <a:pPr indent="0" marL="0">
              <a:lnSpc>
                <a:spcPct val="103000"/>
              </a:lnSpc>
              <a:buNone/>
            </a:pPr>
            <a:r>
              <a:rPr lang="en-US" sz="1200" dirty="0">
                <a:solidFill>
                  <a:srgbClr val="202340"/>
                </a:solidFill>
                <a:latin typeface="Calibri" pitchFamily="34" charset="0"/>
                <a:ea typeface="Calibri" pitchFamily="34" charset="-122"/>
                <a:cs typeface="Calibri" pitchFamily="34" charset="-120"/>
              </a:rPr>
              <a:t>Conduct in the first three orders is definite; object-usefulness is constant; “more” is the diagnosed PATHOLOGY, not the telos. Completeness is a qualitative terminal condition.</a:t>
            </a:r>
            <a:endParaRPr lang="en-US" sz="1200" dirty="0"/>
          </a:p>
        </p:txBody>
      </p:sp>
      <p:sp>
        <p:nvSpPr>
          <p:cNvPr id="10" name="Shape 8"/>
          <p:cNvSpPr/>
          <p:nvPr/>
        </p:nvSpPr>
        <p:spPr>
          <a:xfrm>
            <a:off x="6190488" y="2148840"/>
            <a:ext cx="5449824" cy="1783080"/>
          </a:xfrm>
          <a:prstGeom prst="roundRect">
            <a:avLst>
              <a:gd name="adj" fmla="val 3077"/>
            </a:avLst>
          </a:prstGeom>
          <a:solidFill>
            <a:srgbClr val="F5F6FB"/>
          </a:solidFill>
          <a:ln w="12700">
            <a:solidFill>
              <a:srgbClr val="E1E3EF"/>
            </a:solidFill>
            <a:prstDash val="solid"/>
          </a:ln>
        </p:spPr>
      </p:sp>
      <p:sp>
        <p:nvSpPr>
          <p:cNvPr id="11" name="Shape 9"/>
          <p:cNvSpPr/>
          <p:nvPr/>
        </p:nvSpPr>
        <p:spPr>
          <a:xfrm>
            <a:off x="6419088" y="2377440"/>
            <a:ext cx="457200" cy="457200"/>
          </a:xfrm>
          <a:prstGeom prst="ellipse">
            <a:avLst/>
          </a:prstGeom>
          <a:solidFill>
            <a:srgbClr val="16183D"/>
          </a:solidFill>
          <a:ln/>
        </p:spPr>
      </p:sp>
      <p:sp>
        <p:nvSpPr>
          <p:cNvPr id="12" name="Text 10"/>
          <p:cNvSpPr/>
          <p:nvPr/>
        </p:nvSpPr>
        <p:spPr>
          <a:xfrm>
            <a:off x="6419088" y="2377440"/>
            <a:ext cx="457200" cy="457200"/>
          </a:xfrm>
          <a:prstGeom prst="rect">
            <a:avLst/>
          </a:prstGeom>
          <a:noFill/>
          <a:ln/>
        </p:spPr>
        <p:txBody>
          <a:bodyPr wrap="square" rtlCol="0" anchor="ctr"/>
          <a:lstStyle/>
          <a:p>
            <a:pPr algn="ctr" indent="0" marL="0">
              <a:buNone/>
            </a:pPr>
            <a:r>
              <a:rPr lang="en-US" sz="1600" b="1" dirty="0">
                <a:solidFill>
                  <a:srgbClr val="E3B857"/>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7013448" y="2350008"/>
            <a:ext cx="4443984" cy="502920"/>
          </a:xfrm>
          <a:prstGeom prst="rect">
            <a:avLst/>
          </a:prstGeom>
          <a:noFill/>
          <a:ln/>
        </p:spPr>
        <p:txBody>
          <a:bodyPr wrap="square" rtlCol="0" anchor="ctr"/>
          <a:lstStyle/>
          <a:p>
            <a:pPr indent="0" marL="0">
              <a:lnSpc>
                <a:spcPct val="95000"/>
              </a:lnSpc>
              <a:buNone/>
            </a:pPr>
            <a:r>
              <a:rPr lang="en-US" sz="1550" b="1" dirty="0">
                <a:solidFill>
                  <a:srgbClr val="16183D"/>
                </a:solidFill>
                <a:latin typeface="Cambria" pitchFamily="34" charset="0"/>
                <a:ea typeface="Cambria" pitchFamily="34" charset="-122"/>
                <a:cs typeface="Cambria" pitchFamily="34" charset="-120"/>
              </a:rPr>
              <a:t>Not struggle or selection</a:t>
            </a:r>
            <a:endParaRPr lang="en-US" sz="1550" dirty="0"/>
          </a:p>
        </p:txBody>
      </p:sp>
      <p:sp>
        <p:nvSpPr>
          <p:cNvPr id="14" name="Text 12"/>
          <p:cNvSpPr/>
          <p:nvPr/>
        </p:nvSpPr>
        <p:spPr>
          <a:xfrm>
            <a:off x="6446520" y="2926080"/>
            <a:ext cx="4937760" cy="914400"/>
          </a:xfrm>
          <a:prstGeom prst="rect">
            <a:avLst/>
          </a:prstGeom>
          <a:noFill/>
          <a:ln/>
        </p:spPr>
        <p:txBody>
          <a:bodyPr wrap="square" rtlCol="0" anchor="t"/>
          <a:lstStyle/>
          <a:p>
            <a:pPr indent="0" marL="0">
              <a:lnSpc>
                <a:spcPct val="103000"/>
              </a:lnSpc>
              <a:buNone/>
            </a:pPr>
            <a:r>
              <a:rPr lang="en-US" sz="1200" dirty="0">
                <a:solidFill>
                  <a:srgbClr val="202340"/>
                </a:solidFill>
                <a:latin typeface="Calibri" pitchFamily="34" charset="0"/>
                <a:ea typeface="Calibri" pitchFamily="34" charset="-122"/>
                <a:cs typeface="Calibri" pitchFamily="34" charset="-120"/>
              </a:rPr>
              <a:t>The assembly engine is complementarity, explicitly opposed to conflict and survival-of-the-fittest. Decomposition is the LOSS of structure, not its designer.</a:t>
            </a:r>
            <a:endParaRPr lang="en-US" sz="1200" dirty="0"/>
          </a:p>
        </p:txBody>
      </p:sp>
      <p:sp>
        <p:nvSpPr>
          <p:cNvPr id="15" name="Shape 13"/>
          <p:cNvSpPr/>
          <p:nvPr/>
        </p:nvSpPr>
        <p:spPr>
          <a:xfrm>
            <a:off x="548640" y="4069080"/>
            <a:ext cx="5449824" cy="1783080"/>
          </a:xfrm>
          <a:prstGeom prst="roundRect">
            <a:avLst>
              <a:gd name="adj" fmla="val 3077"/>
            </a:avLst>
          </a:prstGeom>
          <a:solidFill>
            <a:srgbClr val="F5F6FB"/>
          </a:solidFill>
          <a:ln w="12700">
            <a:solidFill>
              <a:srgbClr val="E1E3EF"/>
            </a:solidFill>
            <a:prstDash val="solid"/>
          </a:ln>
        </p:spPr>
      </p:sp>
      <p:sp>
        <p:nvSpPr>
          <p:cNvPr id="16" name="Shape 14"/>
          <p:cNvSpPr/>
          <p:nvPr/>
        </p:nvSpPr>
        <p:spPr>
          <a:xfrm>
            <a:off x="777240" y="4297680"/>
            <a:ext cx="457200" cy="457200"/>
          </a:xfrm>
          <a:prstGeom prst="ellipse">
            <a:avLst/>
          </a:prstGeom>
          <a:solidFill>
            <a:srgbClr val="16183D"/>
          </a:solidFill>
          <a:ln/>
        </p:spPr>
      </p:sp>
      <p:sp>
        <p:nvSpPr>
          <p:cNvPr id="17" name="Text 15"/>
          <p:cNvSpPr/>
          <p:nvPr/>
        </p:nvSpPr>
        <p:spPr>
          <a:xfrm>
            <a:off x="777240" y="4297680"/>
            <a:ext cx="457200" cy="457200"/>
          </a:xfrm>
          <a:prstGeom prst="rect">
            <a:avLst/>
          </a:prstGeom>
          <a:noFill/>
          <a:ln/>
        </p:spPr>
        <p:txBody>
          <a:bodyPr wrap="square" rtlCol="0" anchor="ctr"/>
          <a:lstStyle/>
          <a:p>
            <a:pPr algn="ctr" indent="0" marL="0">
              <a:buNone/>
            </a:pPr>
            <a:r>
              <a:rPr lang="en-US" sz="1600" b="1" dirty="0">
                <a:solidFill>
                  <a:srgbClr val="E3B857"/>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1371600" y="4270248"/>
            <a:ext cx="4443984" cy="502920"/>
          </a:xfrm>
          <a:prstGeom prst="rect">
            <a:avLst/>
          </a:prstGeom>
          <a:noFill/>
          <a:ln/>
        </p:spPr>
        <p:txBody>
          <a:bodyPr wrap="square" rtlCol="0" anchor="ctr"/>
          <a:lstStyle/>
          <a:p>
            <a:pPr indent="0" marL="0">
              <a:lnSpc>
                <a:spcPct val="95000"/>
              </a:lnSpc>
              <a:buNone/>
            </a:pPr>
            <a:r>
              <a:rPr lang="en-US" sz="1550" b="1" dirty="0">
                <a:solidFill>
                  <a:srgbClr val="16183D"/>
                </a:solidFill>
                <a:latin typeface="Cambria" pitchFamily="34" charset="0"/>
                <a:ea typeface="Cambria" pitchFamily="34" charset="-122"/>
                <a:cs typeface="Cambria" pitchFamily="34" charset="-120"/>
              </a:rPr>
              <a:t>Not bottom-up emergence alone</a:t>
            </a:r>
            <a:endParaRPr lang="en-US" sz="1550" dirty="0"/>
          </a:p>
        </p:txBody>
      </p:sp>
      <p:sp>
        <p:nvSpPr>
          <p:cNvPr id="19" name="Text 17"/>
          <p:cNvSpPr/>
          <p:nvPr/>
        </p:nvSpPr>
        <p:spPr>
          <a:xfrm>
            <a:off x="804672" y="4846320"/>
            <a:ext cx="4937760" cy="914400"/>
          </a:xfrm>
          <a:prstGeom prst="rect">
            <a:avLst/>
          </a:prstGeom>
          <a:noFill/>
          <a:ln/>
        </p:spPr>
        <p:txBody>
          <a:bodyPr wrap="square" rtlCol="0" anchor="t"/>
          <a:lstStyle/>
          <a:p>
            <a:pPr indent="0" marL="0">
              <a:lnSpc>
                <a:spcPct val="103000"/>
              </a:lnSpc>
              <a:buNone/>
            </a:pPr>
            <a:r>
              <a:rPr lang="en-US" sz="1200" dirty="0">
                <a:solidFill>
                  <a:srgbClr val="202340"/>
                </a:solidFill>
                <a:latin typeface="Calibri" pitchFamily="34" charset="0"/>
                <a:ea typeface="Calibri" pitchFamily="34" charset="-122"/>
                <a:cs typeface="Calibri" pitchFamily="34" charset="-120"/>
              </a:rPr>
              <a:t>Capacities are provisioned in existence and manifest when composition reaches the right tier; O energises every tier at once. Drop O and energisation becomes magic.</a:t>
            </a:r>
            <a:endParaRPr lang="en-US" sz="1200" dirty="0"/>
          </a:p>
        </p:txBody>
      </p:sp>
      <p:sp>
        <p:nvSpPr>
          <p:cNvPr id="20" name="Shape 18"/>
          <p:cNvSpPr/>
          <p:nvPr/>
        </p:nvSpPr>
        <p:spPr>
          <a:xfrm>
            <a:off x="6190488" y="4069080"/>
            <a:ext cx="5449824" cy="1783080"/>
          </a:xfrm>
          <a:prstGeom prst="roundRect">
            <a:avLst>
              <a:gd name="adj" fmla="val 3077"/>
            </a:avLst>
          </a:prstGeom>
          <a:solidFill>
            <a:srgbClr val="F5F6FB"/>
          </a:solidFill>
          <a:ln w="12700">
            <a:solidFill>
              <a:srgbClr val="E1E3EF"/>
            </a:solidFill>
            <a:prstDash val="solid"/>
          </a:ln>
        </p:spPr>
      </p:sp>
      <p:sp>
        <p:nvSpPr>
          <p:cNvPr id="21" name="Shape 19"/>
          <p:cNvSpPr/>
          <p:nvPr/>
        </p:nvSpPr>
        <p:spPr>
          <a:xfrm>
            <a:off x="6419088" y="4297680"/>
            <a:ext cx="457200" cy="457200"/>
          </a:xfrm>
          <a:prstGeom prst="ellipse">
            <a:avLst/>
          </a:prstGeom>
          <a:solidFill>
            <a:srgbClr val="16183D"/>
          </a:solidFill>
          <a:ln/>
        </p:spPr>
      </p:sp>
      <p:sp>
        <p:nvSpPr>
          <p:cNvPr id="22" name="Text 20"/>
          <p:cNvSpPr/>
          <p:nvPr/>
        </p:nvSpPr>
        <p:spPr>
          <a:xfrm>
            <a:off x="6419088" y="4297680"/>
            <a:ext cx="457200" cy="457200"/>
          </a:xfrm>
          <a:prstGeom prst="rect">
            <a:avLst/>
          </a:prstGeom>
          <a:noFill/>
          <a:ln/>
        </p:spPr>
        <p:txBody>
          <a:bodyPr wrap="square" rtlCol="0" anchor="ctr"/>
          <a:lstStyle/>
          <a:p>
            <a:pPr algn="ctr" indent="0" marL="0">
              <a:buNone/>
            </a:pPr>
            <a:r>
              <a:rPr lang="en-US" sz="1600" b="1" dirty="0">
                <a:solidFill>
                  <a:srgbClr val="E3B857"/>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7013448" y="4270248"/>
            <a:ext cx="4443984" cy="502920"/>
          </a:xfrm>
          <a:prstGeom prst="rect">
            <a:avLst/>
          </a:prstGeom>
          <a:noFill/>
          <a:ln/>
        </p:spPr>
        <p:txBody>
          <a:bodyPr wrap="square" rtlCol="0" anchor="ctr"/>
          <a:lstStyle/>
          <a:p>
            <a:pPr indent="0" marL="0">
              <a:lnSpc>
                <a:spcPct val="95000"/>
              </a:lnSpc>
              <a:buNone/>
            </a:pPr>
            <a:r>
              <a:rPr lang="en-US" sz="1550" b="1" dirty="0">
                <a:solidFill>
                  <a:srgbClr val="16183D"/>
                </a:solidFill>
                <a:latin typeface="Cambria" pitchFamily="34" charset="0"/>
                <a:ea typeface="Cambria" pitchFamily="34" charset="-122"/>
                <a:cs typeface="Cambria" pitchFamily="34" charset="-120"/>
              </a:rPr>
              <a:t>Not value-as-epiphenomenon</a:t>
            </a:r>
            <a:endParaRPr lang="en-US" sz="1550" dirty="0"/>
          </a:p>
        </p:txBody>
      </p:sp>
      <p:sp>
        <p:nvSpPr>
          <p:cNvPr id="24" name="Text 22"/>
          <p:cNvSpPr/>
          <p:nvPr/>
        </p:nvSpPr>
        <p:spPr>
          <a:xfrm>
            <a:off x="6446520" y="4846320"/>
            <a:ext cx="4937760" cy="914400"/>
          </a:xfrm>
          <a:prstGeom prst="rect">
            <a:avLst/>
          </a:prstGeom>
          <a:noFill/>
          <a:ln/>
        </p:spPr>
        <p:txBody>
          <a:bodyPr wrap="square" rtlCol="0" anchor="t"/>
          <a:lstStyle/>
          <a:p>
            <a:pPr indent="0" marL="0">
              <a:lnSpc>
                <a:spcPct val="103000"/>
              </a:lnSpc>
              <a:buNone/>
            </a:pPr>
            <a:r>
              <a:rPr lang="en-US" sz="1200" dirty="0">
                <a:solidFill>
                  <a:srgbClr val="202340"/>
                </a:solidFill>
                <a:latin typeface="Calibri" pitchFamily="34" charset="0"/>
                <a:ea typeface="Calibri" pitchFamily="34" charset="-122"/>
                <a:cs typeface="Calibri" pitchFamily="34" charset="-120"/>
              </a:rPr>
              <a:t>Value is the content of fulfilment at EVERY tier; the human innovation is a second-order operation on it, located in jeevan — “not bodily or mechanical.”</a:t>
            </a:r>
            <a:endParaRPr lang="en-US" sz="1200" dirty="0"/>
          </a:p>
        </p:txBody>
      </p:sp>
      <p:sp>
        <p:nvSpPr>
          <p:cNvPr id="25" name="Text 23"/>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26</a:t>
            </a:r>
            <a:endParaRPr lang="en-US" sz="900" dirty="0"/>
          </a:p>
        </p:txBody>
      </p:sp>
      <p:sp>
        <p:nvSpPr>
          <p:cNvPr id="26" name="Text 24"/>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What the structure is not</a:t>
            </a:r>
            <a:endParaRPr lang="en-US" sz="900" dirty="0"/>
          </a:p>
        </p:txBody>
      </p:sp>
      <p:sp>
        <p:nvSpPr>
          <p:cNvPr id="27" name="Text 25"/>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IV · LOCATING WHAT'S DISTINCTIVE</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Neighbours — and two things none of them have</a:t>
            </a:r>
            <a:endParaRPr lang="en-US" sz="2900" dirty="0"/>
          </a:p>
        </p:txBody>
      </p:sp>
      <p:sp>
        <p:nvSpPr>
          <p:cNvPr id="4" name="Shape 2"/>
          <p:cNvSpPr/>
          <p:nvPr/>
        </p:nvSpPr>
        <p:spPr>
          <a:xfrm>
            <a:off x="548640" y="2103120"/>
            <a:ext cx="3108960" cy="457200"/>
          </a:xfrm>
          <a:prstGeom prst="rect">
            <a:avLst/>
          </a:prstGeom>
          <a:solidFill>
            <a:srgbClr val="16183D"/>
          </a:solidFill>
          <a:ln w="9525">
            <a:solidFill>
              <a:srgbClr val="E1E3EF"/>
            </a:solidFill>
            <a:prstDash val="solid"/>
          </a:ln>
        </p:spPr>
      </p:sp>
      <p:sp>
        <p:nvSpPr>
          <p:cNvPr id="5" name="Text 3"/>
          <p:cNvSpPr/>
          <p:nvPr/>
        </p:nvSpPr>
        <p:spPr>
          <a:xfrm>
            <a:off x="658368" y="2103120"/>
            <a:ext cx="2926080" cy="457200"/>
          </a:xfrm>
          <a:prstGeom prst="rect">
            <a:avLst/>
          </a:prstGeom>
          <a:noFill/>
          <a:ln/>
        </p:spPr>
        <p:txBody>
          <a:bodyPr wrap="square" rtlCol="0" anchor="ctr"/>
          <a:lstStyle/>
          <a:p>
            <a:pPr algn="l" indent="0" marL="0">
              <a:lnSpc>
                <a:spcPct val="95000"/>
              </a:lnSpc>
              <a:buNone/>
            </a:pPr>
            <a:r>
              <a:rPr lang="en-US" sz="1150" b="1" dirty="0">
                <a:solidFill>
                  <a:srgbClr val="F2EEE3"/>
                </a:solidFill>
                <a:latin typeface="Calibri" pitchFamily="34" charset="0"/>
                <a:ea typeface="Calibri" pitchFamily="34" charset="-122"/>
                <a:cs typeface="Calibri" pitchFamily="34" charset="-120"/>
              </a:rPr>
              <a:t>FRAMEWORK</a:t>
            </a:r>
            <a:endParaRPr lang="en-US" sz="1150" dirty="0"/>
          </a:p>
        </p:txBody>
      </p:sp>
      <p:sp>
        <p:nvSpPr>
          <p:cNvPr id="6" name="Shape 4"/>
          <p:cNvSpPr/>
          <p:nvPr/>
        </p:nvSpPr>
        <p:spPr>
          <a:xfrm>
            <a:off x="3657600" y="2103120"/>
            <a:ext cx="3383280" cy="457200"/>
          </a:xfrm>
          <a:prstGeom prst="rect">
            <a:avLst/>
          </a:prstGeom>
          <a:solidFill>
            <a:srgbClr val="16183D"/>
          </a:solidFill>
          <a:ln w="9525">
            <a:solidFill>
              <a:srgbClr val="E1E3EF"/>
            </a:solidFill>
            <a:prstDash val="solid"/>
          </a:ln>
        </p:spPr>
      </p:sp>
      <p:sp>
        <p:nvSpPr>
          <p:cNvPr id="7" name="Text 5"/>
          <p:cNvSpPr/>
          <p:nvPr/>
        </p:nvSpPr>
        <p:spPr>
          <a:xfrm>
            <a:off x="3767328" y="2103120"/>
            <a:ext cx="3200400" cy="457200"/>
          </a:xfrm>
          <a:prstGeom prst="rect">
            <a:avLst/>
          </a:prstGeom>
          <a:noFill/>
          <a:ln/>
        </p:spPr>
        <p:txBody>
          <a:bodyPr wrap="square" rtlCol="0" anchor="ctr"/>
          <a:lstStyle/>
          <a:p>
            <a:pPr algn="l" indent="0" marL="0">
              <a:lnSpc>
                <a:spcPct val="95000"/>
              </a:lnSpc>
              <a:buNone/>
            </a:pPr>
            <a:r>
              <a:rPr lang="en-US" sz="1150" b="1" dirty="0">
                <a:solidFill>
                  <a:srgbClr val="F2EEE3"/>
                </a:solidFill>
                <a:latin typeface="Calibri" pitchFamily="34" charset="0"/>
                <a:ea typeface="Calibri" pitchFamily="34" charset="-122"/>
                <a:cs typeface="Calibri" pitchFamily="34" charset="-120"/>
              </a:rPr>
              <a:t>SHARES</a:t>
            </a:r>
            <a:endParaRPr lang="en-US" sz="1150" dirty="0"/>
          </a:p>
        </p:txBody>
      </p:sp>
      <p:sp>
        <p:nvSpPr>
          <p:cNvPr id="8" name="Shape 6"/>
          <p:cNvSpPr/>
          <p:nvPr/>
        </p:nvSpPr>
        <p:spPr>
          <a:xfrm>
            <a:off x="7040880" y="2103120"/>
            <a:ext cx="4599432" cy="457200"/>
          </a:xfrm>
          <a:prstGeom prst="rect">
            <a:avLst/>
          </a:prstGeom>
          <a:solidFill>
            <a:srgbClr val="16183D"/>
          </a:solidFill>
          <a:ln w="9525">
            <a:solidFill>
              <a:srgbClr val="E1E3EF"/>
            </a:solidFill>
            <a:prstDash val="solid"/>
          </a:ln>
        </p:spPr>
      </p:sp>
      <p:sp>
        <p:nvSpPr>
          <p:cNvPr id="9" name="Text 7"/>
          <p:cNvSpPr/>
          <p:nvPr/>
        </p:nvSpPr>
        <p:spPr>
          <a:xfrm>
            <a:off x="7150608" y="2103120"/>
            <a:ext cx="4416552" cy="457200"/>
          </a:xfrm>
          <a:prstGeom prst="rect">
            <a:avLst/>
          </a:prstGeom>
          <a:noFill/>
          <a:ln/>
        </p:spPr>
        <p:txBody>
          <a:bodyPr wrap="square" rtlCol="0" anchor="ctr"/>
          <a:lstStyle/>
          <a:p>
            <a:pPr algn="l" indent="0" marL="0">
              <a:lnSpc>
                <a:spcPct val="95000"/>
              </a:lnSpc>
              <a:buNone/>
            </a:pPr>
            <a:r>
              <a:rPr lang="en-US" sz="1150" b="1" dirty="0">
                <a:solidFill>
                  <a:srgbClr val="F2EEE3"/>
                </a:solidFill>
                <a:latin typeface="Calibri" pitchFamily="34" charset="0"/>
                <a:ea typeface="Calibri" pitchFamily="34" charset="-122"/>
                <a:cs typeface="Calibri" pitchFamily="34" charset="-120"/>
              </a:rPr>
              <a:t>DIFFERS</a:t>
            </a:r>
            <a:endParaRPr lang="en-US" sz="1150" dirty="0"/>
          </a:p>
        </p:txBody>
      </p:sp>
      <p:sp>
        <p:nvSpPr>
          <p:cNvPr id="10" name="Shape 8"/>
          <p:cNvSpPr/>
          <p:nvPr/>
        </p:nvSpPr>
        <p:spPr>
          <a:xfrm>
            <a:off x="548640" y="2560320"/>
            <a:ext cx="3108960" cy="658368"/>
          </a:xfrm>
          <a:prstGeom prst="rect">
            <a:avLst/>
          </a:prstGeom>
          <a:solidFill>
            <a:srgbClr val="FFFFFF"/>
          </a:solidFill>
          <a:ln w="9525">
            <a:solidFill>
              <a:srgbClr val="E1E3EF"/>
            </a:solidFill>
            <a:prstDash val="solid"/>
          </a:ln>
        </p:spPr>
      </p:sp>
      <p:sp>
        <p:nvSpPr>
          <p:cNvPr id="11" name="Text 9"/>
          <p:cNvSpPr/>
          <p:nvPr/>
        </p:nvSpPr>
        <p:spPr>
          <a:xfrm>
            <a:off x="658368" y="2560320"/>
            <a:ext cx="2926080" cy="658368"/>
          </a:xfrm>
          <a:prstGeom prst="rect">
            <a:avLst/>
          </a:prstGeom>
          <a:noFill/>
          <a:ln/>
        </p:spPr>
        <p:txBody>
          <a:bodyPr wrap="square" rtlCol="0" anchor="ctr"/>
          <a:lstStyle/>
          <a:p>
            <a:pPr algn="l" indent="0" marL="0">
              <a:lnSpc>
                <a:spcPct val="95000"/>
              </a:lnSpc>
              <a:buNone/>
            </a:pPr>
            <a:r>
              <a:rPr lang="en-US" sz="1200" b="1" dirty="0">
                <a:solidFill>
                  <a:srgbClr val="16183D"/>
                </a:solidFill>
                <a:latin typeface="Calibri" pitchFamily="34" charset="0"/>
                <a:ea typeface="Calibri" pitchFamily="34" charset="-122"/>
                <a:cs typeface="Calibri" pitchFamily="34" charset="-120"/>
              </a:rPr>
              <a:t>Holarchy (Koestler)</a:t>
            </a:r>
            <a:endParaRPr lang="en-US" sz="1200" dirty="0"/>
          </a:p>
        </p:txBody>
      </p:sp>
      <p:sp>
        <p:nvSpPr>
          <p:cNvPr id="12" name="Shape 10"/>
          <p:cNvSpPr/>
          <p:nvPr/>
        </p:nvSpPr>
        <p:spPr>
          <a:xfrm>
            <a:off x="3657600" y="2560320"/>
            <a:ext cx="3383280" cy="658368"/>
          </a:xfrm>
          <a:prstGeom prst="rect">
            <a:avLst/>
          </a:prstGeom>
          <a:solidFill>
            <a:srgbClr val="FFFFFF"/>
          </a:solidFill>
          <a:ln w="9525">
            <a:solidFill>
              <a:srgbClr val="E1E3EF"/>
            </a:solidFill>
            <a:prstDash val="solid"/>
          </a:ln>
        </p:spPr>
      </p:sp>
      <p:sp>
        <p:nvSpPr>
          <p:cNvPr id="13" name="Text 11"/>
          <p:cNvSpPr/>
          <p:nvPr/>
        </p:nvSpPr>
        <p:spPr>
          <a:xfrm>
            <a:off x="3767328" y="2560320"/>
            <a:ext cx="3200400"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every unit is whole and part</a:t>
            </a:r>
            <a:endParaRPr lang="en-US" sz="1150" dirty="0"/>
          </a:p>
        </p:txBody>
      </p:sp>
      <p:sp>
        <p:nvSpPr>
          <p:cNvPr id="14" name="Shape 12"/>
          <p:cNvSpPr/>
          <p:nvPr/>
        </p:nvSpPr>
        <p:spPr>
          <a:xfrm>
            <a:off x="7040880" y="2560320"/>
            <a:ext cx="4599432" cy="658368"/>
          </a:xfrm>
          <a:prstGeom prst="rect">
            <a:avLst/>
          </a:prstGeom>
          <a:solidFill>
            <a:srgbClr val="FFFFFF"/>
          </a:solidFill>
          <a:ln w="9525">
            <a:solidFill>
              <a:srgbClr val="E1E3EF"/>
            </a:solidFill>
            <a:prstDash val="solid"/>
          </a:ln>
        </p:spPr>
      </p:sp>
      <p:sp>
        <p:nvSpPr>
          <p:cNvPr id="15" name="Text 13"/>
          <p:cNvSpPr/>
          <p:nvPr/>
        </p:nvSpPr>
        <p:spPr>
          <a:xfrm>
            <a:off x="7150608" y="2560320"/>
            <a:ext cx="4416552"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no medium O; no value in relations; no transmission</a:t>
            </a:r>
            <a:endParaRPr lang="en-US" sz="1150" dirty="0"/>
          </a:p>
        </p:txBody>
      </p:sp>
      <p:sp>
        <p:nvSpPr>
          <p:cNvPr id="16" name="Shape 14"/>
          <p:cNvSpPr/>
          <p:nvPr/>
        </p:nvSpPr>
        <p:spPr>
          <a:xfrm>
            <a:off x="548640" y="3218688"/>
            <a:ext cx="3108960" cy="658368"/>
          </a:xfrm>
          <a:prstGeom prst="rect">
            <a:avLst/>
          </a:prstGeom>
          <a:solidFill>
            <a:srgbClr val="EEF0F8"/>
          </a:solidFill>
          <a:ln w="9525">
            <a:solidFill>
              <a:srgbClr val="E1E3EF"/>
            </a:solidFill>
            <a:prstDash val="solid"/>
          </a:ln>
        </p:spPr>
      </p:sp>
      <p:sp>
        <p:nvSpPr>
          <p:cNvPr id="17" name="Text 15"/>
          <p:cNvSpPr/>
          <p:nvPr/>
        </p:nvSpPr>
        <p:spPr>
          <a:xfrm>
            <a:off x="658368" y="3218688"/>
            <a:ext cx="2926080" cy="658368"/>
          </a:xfrm>
          <a:prstGeom prst="rect">
            <a:avLst/>
          </a:prstGeom>
          <a:noFill/>
          <a:ln/>
        </p:spPr>
        <p:txBody>
          <a:bodyPr wrap="square" rtlCol="0" anchor="ctr"/>
          <a:lstStyle/>
          <a:p>
            <a:pPr algn="l" indent="0" marL="0">
              <a:lnSpc>
                <a:spcPct val="95000"/>
              </a:lnSpc>
              <a:buNone/>
            </a:pPr>
            <a:r>
              <a:rPr lang="en-US" sz="1200" b="1" dirty="0">
                <a:solidFill>
                  <a:srgbClr val="16183D"/>
                </a:solidFill>
                <a:latin typeface="Calibri" pitchFamily="34" charset="0"/>
                <a:ea typeface="Calibri" pitchFamily="34" charset="-122"/>
                <a:cs typeface="Calibri" pitchFamily="34" charset="-120"/>
              </a:rPr>
              <a:t>Autopoiesis (Maturana &amp; Varela)</a:t>
            </a:r>
            <a:endParaRPr lang="en-US" sz="1200" dirty="0"/>
          </a:p>
        </p:txBody>
      </p:sp>
      <p:sp>
        <p:nvSpPr>
          <p:cNvPr id="18" name="Shape 16"/>
          <p:cNvSpPr/>
          <p:nvPr/>
        </p:nvSpPr>
        <p:spPr>
          <a:xfrm>
            <a:off x="3657600" y="3218688"/>
            <a:ext cx="3383280" cy="658368"/>
          </a:xfrm>
          <a:prstGeom prst="rect">
            <a:avLst/>
          </a:prstGeom>
          <a:solidFill>
            <a:srgbClr val="EEF0F8"/>
          </a:solidFill>
          <a:ln w="9525">
            <a:solidFill>
              <a:srgbClr val="E1E3EF"/>
            </a:solidFill>
            <a:prstDash val="solid"/>
          </a:ln>
        </p:spPr>
      </p:sp>
      <p:sp>
        <p:nvSpPr>
          <p:cNvPr id="19" name="Text 17"/>
          <p:cNvSpPr/>
          <p:nvPr/>
        </p:nvSpPr>
        <p:spPr>
          <a:xfrm>
            <a:off x="3767328" y="3218688"/>
            <a:ext cx="3200400"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persistence by self-production</a:t>
            </a:r>
            <a:endParaRPr lang="en-US" sz="1150" dirty="0"/>
          </a:p>
        </p:txBody>
      </p:sp>
      <p:sp>
        <p:nvSpPr>
          <p:cNvPr id="20" name="Shape 18"/>
          <p:cNvSpPr/>
          <p:nvPr/>
        </p:nvSpPr>
        <p:spPr>
          <a:xfrm>
            <a:off x="7040880" y="3218688"/>
            <a:ext cx="4599432" cy="658368"/>
          </a:xfrm>
          <a:prstGeom prst="rect">
            <a:avLst/>
          </a:prstGeom>
          <a:solidFill>
            <a:srgbClr val="EEF0F8"/>
          </a:solidFill>
          <a:ln w="9525">
            <a:solidFill>
              <a:srgbClr val="E1E3EF"/>
            </a:solidFill>
            <a:prstDash val="solid"/>
          </a:ln>
        </p:spPr>
      </p:sp>
      <p:sp>
        <p:nvSpPr>
          <p:cNvPr id="21" name="Text 19"/>
          <p:cNvSpPr/>
          <p:nvPr/>
        </p:nvSpPr>
        <p:spPr>
          <a:xfrm>
            <a:off x="7150608" y="3218688"/>
            <a:ext cx="4416552"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living systems only; here: atoms→societies, persistence = fulfilment</a:t>
            </a:r>
            <a:endParaRPr lang="en-US" sz="1150" dirty="0"/>
          </a:p>
        </p:txBody>
      </p:sp>
      <p:sp>
        <p:nvSpPr>
          <p:cNvPr id="22" name="Shape 20"/>
          <p:cNvSpPr/>
          <p:nvPr/>
        </p:nvSpPr>
        <p:spPr>
          <a:xfrm>
            <a:off x="548640" y="3877056"/>
            <a:ext cx="3108960" cy="658368"/>
          </a:xfrm>
          <a:prstGeom prst="rect">
            <a:avLst/>
          </a:prstGeom>
          <a:solidFill>
            <a:srgbClr val="FFFFFF"/>
          </a:solidFill>
          <a:ln w="9525">
            <a:solidFill>
              <a:srgbClr val="E1E3EF"/>
            </a:solidFill>
            <a:prstDash val="solid"/>
          </a:ln>
        </p:spPr>
      </p:sp>
      <p:sp>
        <p:nvSpPr>
          <p:cNvPr id="23" name="Text 21"/>
          <p:cNvSpPr/>
          <p:nvPr/>
        </p:nvSpPr>
        <p:spPr>
          <a:xfrm>
            <a:off x="658368" y="3877056"/>
            <a:ext cx="2926080" cy="658368"/>
          </a:xfrm>
          <a:prstGeom prst="rect">
            <a:avLst/>
          </a:prstGeom>
          <a:noFill/>
          <a:ln/>
        </p:spPr>
        <p:txBody>
          <a:bodyPr wrap="square" rtlCol="0" anchor="ctr"/>
          <a:lstStyle/>
          <a:p>
            <a:pPr algn="l" indent="0" marL="0">
              <a:lnSpc>
                <a:spcPct val="95000"/>
              </a:lnSpc>
              <a:buNone/>
            </a:pPr>
            <a:r>
              <a:rPr lang="en-US" sz="1200" b="1" dirty="0">
                <a:solidFill>
                  <a:srgbClr val="16183D"/>
                </a:solidFill>
                <a:latin typeface="Calibri" pitchFamily="34" charset="0"/>
                <a:ea typeface="Calibri" pitchFamily="34" charset="-122"/>
                <a:cs typeface="Calibri" pitchFamily="34" charset="-120"/>
              </a:rPr>
              <a:t>Multilevel selection</a:t>
            </a:r>
            <a:endParaRPr lang="en-US" sz="1200" dirty="0"/>
          </a:p>
        </p:txBody>
      </p:sp>
      <p:sp>
        <p:nvSpPr>
          <p:cNvPr id="24" name="Shape 22"/>
          <p:cNvSpPr/>
          <p:nvPr/>
        </p:nvSpPr>
        <p:spPr>
          <a:xfrm>
            <a:off x="3657600" y="3877056"/>
            <a:ext cx="3383280" cy="658368"/>
          </a:xfrm>
          <a:prstGeom prst="rect">
            <a:avLst/>
          </a:prstGeom>
          <a:solidFill>
            <a:srgbClr val="FFFFFF"/>
          </a:solidFill>
          <a:ln w="9525">
            <a:solidFill>
              <a:srgbClr val="E1E3EF"/>
            </a:solidFill>
            <a:prstDash val="solid"/>
          </a:ln>
        </p:spPr>
      </p:sp>
      <p:sp>
        <p:nvSpPr>
          <p:cNvPr id="25" name="Text 23"/>
          <p:cNvSpPr/>
          <p:nvPr/>
        </p:nvSpPr>
        <p:spPr>
          <a:xfrm>
            <a:off x="3767328" y="3877056"/>
            <a:ext cx="3200400"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nested units persist or fail as wholes</a:t>
            </a:r>
            <a:endParaRPr lang="en-US" sz="1150" dirty="0"/>
          </a:p>
        </p:txBody>
      </p:sp>
      <p:sp>
        <p:nvSpPr>
          <p:cNvPr id="26" name="Shape 24"/>
          <p:cNvSpPr/>
          <p:nvPr/>
        </p:nvSpPr>
        <p:spPr>
          <a:xfrm>
            <a:off x="7040880" y="3877056"/>
            <a:ext cx="4599432" cy="658368"/>
          </a:xfrm>
          <a:prstGeom prst="rect">
            <a:avLst/>
          </a:prstGeom>
          <a:solidFill>
            <a:srgbClr val="FFFFFF"/>
          </a:solidFill>
          <a:ln w="9525">
            <a:solidFill>
              <a:srgbClr val="E1E3EF"/>
            </a:solidFill>
            <a:prstDash val="solid"/>
          </a:ln>
        </p:spPr>
      </p:sp>
      <p:sp>
        <p:nvSpPr>
          <p:cNvPr id="27" name="Text 25"/>
          <p:cNvSpPr/>
          <p:nvPr/>
        </p:nvSpPr>
        <p:spPr>
          <a:xfrm>
            <a:off x="7150608" y="3877056"/>
            <a:ext cx="4416552"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selection is competitive &amp; stochastic; here: complementarity &amp; definite</a:t>
            </a:r>
            <a:endParaRPr lang="en-US" sz="1150" dirty="0"/>
          </a:p>
        </p:txBody>
      </p:sp>
      <p:sp>
        <p:nvSpPr>
          <p:cNvPr id="28" name="Shape 26"/>
          <p:cNvSpPr/>
          <p:nvPr/>
        </p:nvSpPr>
        <p:spPr>
          <a:xfrm>
            <a:off x="548640" y="4535424"/>
            <a:ext cx="3108960" cy="658368"/>
          </a:xfrm>
          <a:prstGeom prst="rect">
            <a:avLst/>
          </a:prstGeom>
          <a:solidFill>
            <a:srgbClr val="EEF0F8"/>
          </a:solidFill>
          <a:ln w="9525">
            <a:solidFill>
              <a:srgbClr val="E1E3EF"/>
            </a:solidFill>
            <a:prstDash val="solid"/>
          </a:ln>
        </p:spPr>
      </p:sp>
      <p:sp>
        <p:nvSpPr>
          <p:cNvPr id="29" name="Text 27"/>
          <p:cNvSpPr/>
          <p:nvPr/>
        </p:nvSpPr>
        <p:spPr>
          <a:xfrm>
            <a:off x="658368" y="4535424"/>
            <a:ext cx="2926080" cy="658368"/>
          </a:xfrm>
          <a:prstGeom prst="rect">
            <a:avLst/>
          </a:prstGeom>
          <a:noFill/>
          <a:ln/>
        </p:spPr>
        <p:txBody>
          <a:bodyPr wrap="square" rtlCol="0" anchor="ctr"/>
          <a:lstStyle/>
          <a:p>
            <a:pPr algn="l" indent="0" marL="0">
              <a:lnSpc>
                <a:spcPct val="95000"/>
              </a:lnSpc>
              <a:buNone/>
            </a:pPr>
            <a:r>
              <a:rPr lang="en-US" sz="1200" b="1" dirty="0">
                <a:solidFill>
                  <a:srgbClr val="16183D"/>
                </a:solidFill>
                <a:latin typeface="Calibri" pitchFamily="34" charset="0"/>
                <a:ea typeface="Calibri" pitchFamily="34" charset="-122"/>
                <a:cs typeface="Calibri" pitchFamily="34" charset="-120"/>
              </a:rPr>
              <a:t>Thermodynamic self-org.</a:t>
            </a:r>
            <a:endParaRPr lang="en-US" sz="1200" dirty="0"/>
          </a:p>
        </p:txBody>
      </p:sp>
      <p:sp>
        <p:nvSpPr>
          <p:cNvPr id="30" name="Shape 28"/>
          <p:cNvSpPr/>
          <p:nvPr/>
        </p:nvSpPr>
        <p:spPr>
          <a:xfrm>
            <a:off x="3657600" y="4535424"/>
            <a:ext cx="3383280" cy="658368"/>
          </a:xfrm>
          <a:prstGeom prst="rect">
            <a:avLst/>
          </a:prstGeom>
          <a:solidFill>
            <a:srgbClr val="EEF0F8"/>
          </a:solidFill>
          <a:ln w="9525">
            <a:solidFill>
              <a:srgbClr val="E1E3EF"/>
            </a:solidFill>
            <a:prstDash val="solid"/>
          </a:ln>
        </p:spPr>
      </p:sp>
      <p:sp>
        <p:nvSpPr>
          <p:cNvPr id="31" name="Text 29"/>
          <p:cNvSpPr/>
          <p:nvPr/>
        </p:nvSpPr>
        <p:spPr>
          <a:xfrm>
            <a:off x="3767328" y="4535424"/>
            <a:ext cx="3200400"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structure from flows between units</a:t>
            </a:r>
            <a:endParaRPr lang="en-US" sz="1150" dirty="0"/>
          </a:p>
        </p:txBody>
      </p:sp>
      <p:sp>
        <p:nvSpPr>
          <p:cNvPr id="32" name="Shape 30"/>
          <p:cNvSpPr/>
          <p:nvPr/>
        </p:nvSpPr>
        <p:spPr>
          <a:xfrm>
            <a:off x="7040880" y="4535424"/>
            <a:ext cx="4599432" cy="658368"/>
          </a:xfrm>
          <a:prstGeom prst="rect">
            <a:avLst/>
          </a:prstGeom>
          <a:solidFill>
            <a:srgbClr val="EEF0F8"/>
          </a:solidFill>
          <a:ln w="9525">
            <a:solidFill>
              <a:srgbClr val="E1E3EF"/>
            </a:solidFill>
            <a:prstDash val="solid"/>
          </a:ln>
        </p:spPr>
      </p:sp>
      <p:sp>
        <p:nvSpPr>
          <p:cNvPr id="33" name="Text 31"/>
          <p:cNvSpPr/>
          <p:nvPr/>
        </p:nvSpPr>
        <p:spPr>
          <a:xfrm>
            <a:off x="7150608" y="4535424"/>
            <a:ext cx="4416552"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needs free-energy throughput; here units are energised constitutively</a:t>
            </a:r>
            <a:endParaRPr lang="en-US" sz="1150" dirty="0"/>
          </a:p>
        </p:txBody>
      </p:sp>
      <p:sp>
        <p:nvSpPr>
          <p:cNvPr id="34" name="Shape 32"/>
          <p:cNvSpPr/>
          <p:nvPr/>
        </p:nvSpPr>
        <p:spPr>
          <a:xfrm>
            <a:off x="548640" y="5193792"/>
            <a:ext cx="3108960" cy="658368"/>
          </a:xfrm>
          <a:prstGeom prst="rect">
            <a:avLst/>
          </a:prstGeom>
          <a:solidFill>
            <a:srgbClr val="FFFFFF"/>
          </a:solidFill>
          <a:ln w="9525">
            <a:solidFill>
              <a:srgbClr val="E1E3EF"/>
            </a:solidFill>
            <a:prstDash val="solid"/>
          </a:ln>
        </p:spPr>
      </p:sp>
      <p:sp>
        <p:nvSpPr>
          <p:cNvPr id="35" name="Text 33"/>
          <p:cNvSpPr/>
          <p:nvPr/>
        </p:nvSpPr>
        <p:spPr>
          <a:xfrm>
            <a:off x="658368" y="5193792"/>
            <a:ext cx="2926080" cy="658368"/>
          </a:xfrm>
          <a:prstGeom prst="rect">
            <a:avLst/>
          </a:prstGeom>
          <a:noFill/>
          <a:ln/>
        </p:spPr>
        <p:txBody>
          <a:bodyPr wrap="square" rtlCol="0" anchor="ctr"/>
          <a:lstStyle/>
          <a:p>
            <a:pPr algn="l" indent="0" marL="0">
              <a:lnSpc>
                <a:spcPct val="95000"/>
              </a:lnSpc>
              <a:buNone/>
            </a:pPr>
            <a:r>
              <a:rPr lang="en-US" sz="1200" b="1" dirty="0">
                <a:solidFill>
                  <a:srgbClr val="16183D"/>
                </a:solidFill>
                <a:latin typeface="Calibri" pitchFamily="34" charset="0"/>
                <a:ea typeface="Calibri" pitchFamily="34" charset="-122"/>
                <a:cs typeface="Calibri" pitchFamily="34" charset="-120"/>
              </a:rPr>
              <a:t>Category-theoretic composition</a:t>
            </a:r>
            <a:endParaRPr lang="en-US" sz="1200" dirty="0"/>
          </a:p>
        </p:txBody>
      </p:sp>
      <p:sp>
        <p:nvSpPr>
          <p:cNvPr id="36" name="Shape 34"/>
          <p:cNvSpPr/>
          <p:nvPr/>
        </p:nvSpPr>
        <p:spPr>
          <a:xfrm>
            <a:off x="3657600" y="5193792"/>
            <a:ext cx="3383280" cy="658368"/>
          </a:xfrm>
          <a:prstGeom prst="rect">
            <a:avLst/>
          </a:prstGeom>
          <a:solidFill>
            <a:srgbClr val="FFFFFF"/>
          </a:solidFill>
          <a:ln w="9525">
            <a:solidFill>
              <a:srgbClr val="E1E3EF"/>
            </a:solidFill>
            <a:prstDash val="solid"/>
          </a:ln>
        </p:spPr>
      </p:sp>
      <p:sp>
        <p:nvSpPr>
          <p:cNvPr id="37" name="Text 35"/>
          <p:cNvSpPr/>
          <p:nvPr/>
        </p:nvSpPr>
        <p:spPr>
          <a:xfrm>
            <a:off x="3767328" y="5193792"/>
            <a:ext cx="3200400"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morphisms, colimits, tiers as a poset</a:t>
            </a:r>
            <a:endParaRPr lang="en-US" sz="1150" dirty="0"/>
          </a:p>
        </p:txBody>
      </p:sp>
      <p:sp>
        <p:nvSpPr>
          <p:cNvPr id="38" name="Shape 36"/>
          <p:cNvSpPr/>
          <p:nvPr/>
        </p:nvSpPr>
        <p:spPr>
          <a:xfrm>
            <a:off x="7040880" y="5193792"/>
            <a:ext cx="4599432" cy="658368"/>
          </a:xfrm>
          <a:prstGeom prst="rect">
            <a:avLst/>
          </a:prstGeom>
          <a:solidFill>
            <a:srgbClr val="FFFFFF"/>
          </a:solidFill>
          <a:ln w="9525">
            <a:solidFill>
              <a:srgbClr val="E1E3EF"/>
            </a:solidFill>
            <a:prstDash val="solid"/>
          </a:ln>
        </p:spPr>
      </p:sp>
      <p:sp>
        <p:nvSpPr>
          <p:cNvPr id="39" name="Text 37"/>
          <p:cNvSpPr/>
          <p:nvPr/>
        </p:nvSpPr>
        <p:spPr>
          <a:xfrm>
            <a:off x="7150608" y="5193792"/>
            <a:ext cx="4416552" cy="658368"/>
          </a:xfrm>
          <a:prstGeom prst="rect">
            <a:avLst/>
          </a:prstGeom>
          <a:noFill/>
          <a:ln/>
        </p:spPr>
        <p:txBody>
          <a:bodyPr wrap="square" rtlCol="0" anchor="ctr"/>
          <a:lstStyle/>
          <a:p>
            <a:pPr algn="l" indent="0" marL="0">
              <a:lnSpc>
                <a:spcPct val="95000"/>
              </a:lnSpc>
              <a:buNone/>
            </a:pPr>
            <a:r>
              <a:rPr lang="en-US" sz="1150" dirty="0">
                <a:solidFill>
                  <a:srgbClr val="202340"/>
                </a:solidFill>
                <a:latin typeface="Calibri" pitchFamily="34" charset="0"/>
                <a:ea typeface="Calibri" pitchFamily="34" charset="-122"/>
                <a:cs typeface="Calibri" pitchFamily="34" charset="-120"/>
              </a:rPr>
              <a:t>silent on WHICH compositions occur; complementarity is the missing selection rule</a:t>
            </a:r>
            <a:endParaRPr lang="en-US" sz="1150" dirty="0"/>
          </a:p>
        </p:txBody>
      </p:sp>
      <p:sp>
        <p:nvSpPr>
          <p:cNvPr id="40" name="Shape 38"/>
          <p:cNvSpPr/>
          <p:nvPr/>
        </p:nvSpPr>
        <p:spPr>
          <a:xfrm>
            <a:off x="548640" y="5486400"/>
            <a:ext cx="5449824" cy="777240"/>
          </a:xfrm>
          <a:prstGeom prst="roundRect">
            <a:avLst>
              <a:gd name="adj" fmla="val 5882"/>
            </a:avLst>
          </a:prstGeom>
          <a:solidFill>
            <a:srgbClr val="16183D"/>
          </a:solidFill>
          <a:ln/>
        </p:spPr>
      </p:sp>
      <p:sp>
        <p:nvSpPr>
          <p:cNvPr id="41" name="Text 39"/>
          <p:cNvSpPr/>
          <p:nvPr/>
        </p:nvSpPr>
        <p:spPr>
          <a:xfrm>
            <a:off x="749808" y="5559552"/>
            <a:ext cx="5029200" cy="640080"/>
          </a:xfrm>
          <a:prstGeom prst="rect">
            <a:avLst/>
          </a:prstGeom>
          <a:noFill/>
          <a:ln/>
        </p:spPr>
        <p:txBody>
          <a:bodyPr wrap="square" rtlCol="0" anchor="ctr"/>
          <a:lstStyle/>
          <a:p>
            <a:pPr indent="0" marL="0">
              <a:lnSpc>
                <a:spcPct val="100000"/>
              </a:lnSpc>
              <a:buNone/>
            </a:pPr>
            <a:r>
              <a:rPr lang="en-US" sz="1150" b="1" dirty="0">
                <a:solidFill>
                  <a:srgbClr val="E3B857"/>
                </a:solidFill>
                <a:latin typeface="Calibri" pitchFamily="34" charset="0"/>
                <a:ea typeface="Calibri" pitchFamily="34" charset="-122"/>
                <a:cs typeface="Calibri" pitchFamily="34" charset="-120"/>
              </a:rPr>
              <a:t>1  The medium O  </a:t>
            </a:r>
            <a:pPr indent="0" marL="0">
              <a:lnSpc>
                <a:spcPct val="100000"/>
              </a:lnSpc>
              <a:buNone/>
            </a:pPr>
            <a:r>
              <a:rPr lang="en-US" sz="1150" dirty="0">
                <a:solidFill>
                  <a:srgbClr val="F2EEE3"/>
                </a:solidFill>
                <a:latin typeface="Calibri" pitchFamily="34" charset="0"/>
                <a:ea typeface="Calibri" pitchFamily="34" charset="-122"/>
                <a:cs typeface="Calibri" pitchFamily="34" charset="-120"/>
              </a:rPr>
              <a:t>— constitutive, energising, regulating at every tier at once. A precondition OF physics, not an aether within it.</a:t>
            </a:r>
            <a:endParaRPr lang="en-US" sz="1150" dirty="0"/>
          </a:p>
        </p:txBody>
      </p:sp>
      <p:sp>
        <p:nvSpPr>
          <p:cNvPr id="42" name="Shape 40"/>
          <p:cNvSpPr/>
          <p:nvPr/>
        </p:nvSpPr>
        <p:spPr>
          <a:xfrm>
            <a:off x="6190488" y="5486400"/>
            <a:ext cx="5449824" cy="777240"/>
          </a:xfrm>
          <a:prstGeom prst="roundRect">
            <a:avLst>
              <a:gd name="adj" fmla="val 5882"/>
            </a:avLst>
          </a:prstGeom>
          <a:solidFill>
            <a:srgbClr val="16183D"/>
          </a:solidFill>
          <a:ln/>
        </p:spPr>
      </p:sp>
      <p:sp>
        <p:nvSpPr>
          <p:cNvPr id="43" name="Text 41"/>
          <p:cNvSpPr/>
          <p:nvPr/>
        </p:nvSpPr>
        <p:spPr>
          <a:xfrm>
            <a:off x="6391656" y="5559552"/>
            <a:ext cx="5029200" cy="640080"/>
          </a:xfrm>
          <a:prstGeom prst="rect">
            <a:avLst/>
          </a:prstGeom>
          <a:noFill/>
          <a:ln/>
        </p:spPr>
        <p:txBody>
          <a:bodyPr wrap="square" rtlCol="0" anchor="ctr"/>
          <a:lstStyle/>
          <a:p>
            <a:pPr indent="0" marL="0">
              <a:lnSpc>
                <a:spcPct val="100000"/>
              </a:lnSpc>
              <a:buNone/>
            </a:pPr>
            <a:r>
              <a:rPr lang="en-US" sz="1150" b="1" dirty="0">
                <a:solidFill>
                  <a:srgbClr val="E3B857"/>
                </a:solidFill>
                <a:latin typeface="Calibri" pitchFamily="34" charset="0"/>
                <a:ea typeface="Calibri" pitchFamily="34" charset="-122"/>
                <a:cs typeface="Calibri" pitchFamily="34" charset="-120"/>
              </a:rPr>
              <a:t>2  Value everywhere  </a:t>
            </a:r>
            <a:pPr indent="0" marL="0">
              <a:lnSpc>
                <a:spcPct val="100000"/>
              </a:lnSpc>
              <a:buNone/>
            </a:pPr>
            <a:r>
              <a:rPr lang="en-US" sz="1150" dirty="0">
                <a:solidFill>
                  <a:srgbClr val="F2EEE3"/>
                </a:solidFill>
                <a:latin typeface="Calibri" pitchFamily="34" charset="0"/>
                <a:ea typeface="Calibri" pitchFamily="34" charset="-122"/>
                <a:cs typeface="Calibri" pitchFamily="34" charset="-120"/>
              </a:rPr>
              <a:t>— the universal content of relations, with EVALUATION appearing only at the top tier.</a:t>
            </a:r>
            <a:endParaRPr lang="en-US" sz="1150" dirty="0"/>
          </a:p>
        </p:txBody>
      </p:sp>
      <p:sp>
        <p:nvSpPr>
          <p:cNvPr id="44" name="Text 42"/>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27</a:t>
            </a:r>
            <a:endParaRPr lang="en-US" sz="900" dirty="0"/>
          </a:p>
        </p:txBody>
      </p:sp>
      <p:sp>
        <p:nvSpPr>
          <p:cNvPr id="45" name="Text 43"/>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Relation to other frameworks</a:t>
            </a:r>
            <a:endParaRPr lang="en-US" sz="900" dirty="0"/>
          </a:p>
        </p:txBody>
      </p:sp>
      <p:sp>
        <p:nvSpPr>
          <p:cNvPr id="46" name="Text 44"/>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IV · WHAT CARRIES THE WEIGHT</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The formal spine — and the telos it drives toward</a:t>
            </a:r>
            <a:endParaRPr lang="en-US" sz="2900" dirty="0"/>
          </a:p>
        </p:txBody>
      </p:sp>
      <p:sp>
        <p:nvSpPr>
          <p:cNvPr id="4" name="Shape 2"/>
          <p:cNvSpPr/>
          <p:nvPr/>
        </p:nvSpPr>
        <p:spPr>
          <a:xfrm>
            <a:off x="548640" y="1645920"/>
            <a:ext cx="5486400" cy="2743200"/>
          </a:xfrm>
          <a:prstGeom prst="roundRect">
            <a:avLst>
              <a:gd name="adj" fmla="val 2333"/>
            </a:avLst>
          </a:prstGeom>
          <a:solidFill>
            <a:srgbClr val="16183D"/>
          </a:solidFill>
          <a:ln/>
        </p:spPr>
      </p:sp>
      <p:sp>
        <p:nvSpPr>
          <p:cNvPr id="5" name="Shape 3"/>
          <p:cNvSpPr/>
          <p:nvPr/>
        </p:nvSpPr>
        <p:spPr>
          <a:xfrm>
            <a:off x="2788920" y="2633472"/>
            <a:ext cx="1005840" cy="768096"/>
          </a:xfrm>
          <a:prstGeom prst="ellipse">
            <a:avLst/>
          </a:prstGeom>
          <a:solidFill>
            <a:srgbClr val="B8842B"/>
          </a:solidFill>
          <a:ln/>
        </p:spPr>
      </p:sp>
      <p:sp>
        <p:nvSpPr>
          <p:cNvPr id="6" name="Text 4"/>
          <p:cNvSpPr/>
          <p:nvPr/>
        </p:nvSpPr>
        <p:spPr>
          <a:xfrm>
            <a:off x="2788920" y="2633472"/>
            <a:ext cx="1005840" cy="768096"/>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unit</a:t>
            </a:r>
            <a:endParaRPr lang="en-US" sz="1300" dirty="0"/>
          </a:p>
        </p:txBody>
      </p:sp>
      <p:sp>
        <p:nvSpPr>
          <p:cNvPr id="7" name="Shape 5"/>
          <p:cNvSpPr/>
          <p:nvPr/>
        </p:nvSpPr>
        <p:spPr>
          <a:xfrm>
            <a:off x="3182112" y="1828800"/>
            <a:ext cx="219456" cy="777240"/>
          </a:xfrm>
          <a:prstGeom prst="upArrow">
            <a:avLst/>
          </a:prstGeom>
          <a:solidFill>
            <a:srgbClr val="3E7C8C"/>
          </a:solidFill>
          <a:ln/>
        </p:spPr>
      </p:sp>
      <p:sp>
        <p:nvSpPr>
          <p:cNvPr id="8" name="Text 6"/>
          <p:cNvSpPr/>
          <p:nvPr/>
        </p:nvSpPr>
        <p:spPr>
          <a:xfrm>
            <a:off x="3611880" y="1874520"/>
            <a:ext cx="2560320" cy="365760"/>
          </a:xfrm>
          <a:prstGeom prst="rect">
            <a:avLst/>
          </a:prstGeom>
          <a:noFill/>
          <a:ln/>
        </p:spPr>
        <p:txBody>
          <a:bodyPr wrap="square" rtlCol="0" anchor="ctr"/>
          <a:lstStyle/>
          <a:p>
            <a:pPr indent="0" marL="0">
              <a:buNone/>
            </a:pPr>
            <a:r>
              <a:rPr lang="en-US" sz="1100" dirty="0">
                <a:solidFill>
                  <a:srgbClr val="F2EEE3"/>
                </a:solidFill>
                <a:latin typeface="Calibri" pitchFamily="34" charset="0"/>
                <a:ea typeface="Calibri" pitchFamily="34" charset="-122"/>
                <a:cs typeface="Calibri" pitchFamily="34" charset="-120"/>
              </a:rPr>
              <a:t>algebra ▲ generation (κ)</a:t>
            </a:r>
            <a:endParaRPr lang="en-US" sz="1100" dirty="0"/>
          </a:p>
        </p:txBody>
      </p:sp>
      <p:sp>
        <p:nvSpPr>
          <p:cNvPr id="9" name="Shape 7"/>
          <p:cNvSpPr/>
          <p:nvPr/>
        </p:nvSpPr>
        <p:spPr>
          <a:xfrm>
            <a:off x="3182112" y="3456432"/>
            <a:ext cx="219456" cy="777240"/>
          </a:xfrm>
          <a:prstGeom prst="downArrow">
            <a:avLst/>
          </a:prstGeom>
          <a:solidFill>
            <a:srgbClr val="E3B857"/>
          </a:solidFill>
          <a:ln/>
        </p:spPr>
      </p:sp>
      <p:sp>
        <p:nvSpPr>
          <p:cNvPr id="10" name="Text 8"/>
          <p:cNvSpPr/>
          <p:nvPr/>
        </p:nvSpPr>
        <p:spPr>
          <a:xfrm>
            <a:off x="3611880" y="3703320"/>
            <a:ext cx="2651760" cy="365760"/>
          </a:xfrm>
          <a:prstGeom prst="rect">
            <a:avLst/>
          </a:prstGeom>
          <a:noFill/>
          <a:ln/>
        </p:spPr>
        <p:txBody>
          <a:bodyPr wrap="square" rtlCol="0" anchor="ctr"/>
          <a:lstStyle/>
          <a:p>
            <a:pPr indent="0" marL="0">
              <a:buNone/>
            </a:pPr>
            <a:r>
              <a:rPr lang="en-US" sz="1100" dirty="0">
                <a:solidFill>
                  <a:srgbClr val="F2EEE3"/>
                </a:solidFill>
                <a:latin typeface="Calibri" pitchFamily="34" charset="0"/>
                <a:ea typeface="Calibri" pitchFamily="34" charset="-122"/>
                <a:cs typeface="Calibri" pitchFamily="34" charset="-120"/>
              </a:rPr>
              <a:t>coalgebra ▼ carrier (behaviour)</a:t>
            </a:r>
            <a:endParaRPr lang="en-US" sz="1100" dirty="0"/>
          </a:p>
        </p:txBody>
      </p:sp>
      <p:sp>
        <p:nvSpPr>
          <p:cNvPr id="11" name="Shape 9"/>
          <p:cNvSpPr/>
          <p:nvPr/>
        </p:nvSpPr>
        <p:spPr>
          <a:xfrm>
            <a:off x="1051560" y="2926080"/>
            <a:ext cx="1051560" cy="219456"/>
          </a:xfrm>
          <a:prstGeom prst="rightArrow">
            <a:avLst/>
          </a:prstGeom>
          <a:solidFill>
            <a:srgbClr val="2E5E6B"/>
          </a:solidFill>
          <a:ln/>
        </p:spPr>
      </p:sp>
      <p:sp>
        <p:nvSpPr>
          <p:cNvPr id="12" name="Text 10"/>
          <p:cNvSpPr/>
          <p:nvPr/>
        </p:nvSpPr>
        <p:spPr>
          <a:xfrm>
            <a:off x="640080" y="3273552"/>
            <a:ext cx="2103120" cy="274320"/>
          </a:xfrm>
          <a:prstGeom prst="rect">
            <a:avLst/>
          </a:prstGeom>
          <a:noFill/>
          <a:ln/>
        </p:spPr>
        <p:txBody>
          <a:bodyPr wrap="square" rtlCol="0" anchor="ctr"/>
          <a:lstStyle/>
          <a:p>
            <a:pPr algn="ctr" indent="0" marL="0">
              <a:buNone/>
            </a:pPr>
            <a:r>
              <a:rPr lang="en-US" sz="1100" dirty="0">
                <a:solidFill>
                  <a:srgbClr val="A7ACD0"/>
                </a:solidFill>
                <a:latin typeface="Calibri" pitchFamily="34" charset="0"/>
                <a:ea typeface="Calibri" pitchFamily="34" charset="-122"/>
                <a:cs typeface="Calibri" pitchFamily="34" charset="-120"/>
              </a:rPr>
              <a:t>colimit ◆ gluing</a:t>
            </a:r>
            <a:endParaRPr lang="en-US" sz="1100" dirty="0"/>
          </a:p>
        </p:txBody>
      </p:sp>
      <p:sp>
        <p:nvSpPr>
          <p:cNvPr id="13" name="Text 11"/>
          <p:cNvSpPr/>
          <p:nvPr/>
        </p:nvSpPr>
        <p:spPr>
          <a:xfrm>
            <a:off x="6217920" y="1691640"/>
            <a:ext cx="5422392" cy="1325880"/>
          </a:xfrm>
          <a:prstGeom prst="rect">
            <a:avLst/>
          </a:prstGeom>
          <a:noFill/>
          <a:ln/>
        </p:spPr>
        <p:txBody>
          <a:bodyPr wrap="square" rtlCol="0" anchor="t"/>
          <a:lstStyle/>
          <a:p>
            <a:pPr indent="0" marL="0">
              <a:lnSpc>
                <a:spcPct val="105000"/>
              </a:lnSpc>
              <a:buNone/>
            </a:pPr>
            <a:r>
              <a:rPr lang="en-US" sz="1300" dirty="0">
                <a:solidFill>
                  <a:srgbClr val="202340"/>
                </a:solidFill>
                <a:latin typeface="Calibri" pitchFamily="34" charset="0"/>
                <a:ea typeface="Calibri" pitchFamily="34" charset="-122"/>
                <a:cs typeface="Calibri" pitchFamily="34" charset="-120"/>
              </a:rPr>
              <a:t>Downward keeps units SUBSTANTIAL — </a:t>
            </a:r>
            <a:pPr indent="0" marL="0">
              <a:lnSpc>
                <a:spcPct val="105000"/>
              </a:lnSpc>
              <a:buNone/>
            </a:pPr>
            <a:r>
              <a:rPr lang="en-US" sz="1300" b="1" dirty="0">
                <a:solidFill>
                  <a:srgbClr val="16183D"/>
                </a:solidFill>
                <a:latin typeface="Calibri" pitchFamily="34" charset="0"/>
                <a:ea typeface="Calibri" pitchFamily="34" charset="-122"/>
                <a:cs typeface="Calibri" pitchFamily="34" charset="-120"/>
              </a:rPr>
              <a:t>the carrier is not quotiented by behaviour; the theory refuses the final coalgebra</a:t>
            </a:r>
            <a:pPr indent="0" marL="0">
              <a:lnSpc>
                <a:spcPct val="105000"/>
              </a:lnSpc>
              <a:buNone/>
            </a:pPr>
            <a:r>
              <a:rPr lang="en-US" sz="1300" dirty="0">
                <a:solidFill>
                  <a:srgbClr val="202340"/>
                </a:solidFill>
                <a:latin typeface="Calibri" pitchFamily="34" charset="0"/>
                <a:ea typeface="Calibri" pitchFamily="34" charset="-122"/>
                <a:cs typeface="Calibri" pitchFamily="34" charset="-120"/>
              </a:rPr>
              <a:t>. This is what keeps jeevan a real entity, not a functional role — while O stays actionless.</a:t>
            </a:r>
            <a:endParaRPr lang="en-US" sz="1300" dirty="0"/>
          </a:p>
        </p:txBody>
      </p:sp>
      <p:sp>
        <p:nvSpPr>
          <p:cNvPr id="14" name="Text 12"/>
          <p:cNvSpPr/>
          <p:nvPr/>
        </p:nvSpPr>
        <p:spPr>
          <a:xfrm>
            <a:off x="6217920" y="3063240"/>
            <a:ext cx="5422392" cy="1325880"/>
          </a:xfrm>
          <a:prstGeom prst="rect">
            <a:avLst/>
          </a:prstGeom>
          <a:noFill/>
          <a:ln/>
        </p:spPr>
        <p:txBody>
          <a:bodyPr wrap="square" rtlCol="0" anchor="t"/>
          <a:lstStyle/>
          <a:p>
            <a:pPr indent="0" marL="0">
              <a:lnSpc>
                <a:spcPct val="105000"/>
              </a:lnSpc>
              <a:buNone/>
            </a:pPr>
            <a:r>
              <a:rPr lang="en-US" sz="1300" dirty="0">
                <a:solidFill>
                  <a:srgbClr val="202340"/>
                </a:solidFill>
                <a:latin typeface="Calibri" pitchFamily="34" charset="0"/>
                <a:ea typeface="Calibri" pitchFamily="34" charset="-122"/>
                <a:cs typeface="Calibri" pitchFamily="34" charset="-120"/>
              </a:rPr>
              <a:t>Sideways encodes </a:t>
            </a:r>
            <a:pPr indent="0" marL="0">
              <a:lnSpc>
                <a:spcPct val="105000"/>
              </a:lnSpc>
              <a:buNone/>
            </a:pPr>
            <a:r>
              <a:rPr lang="en-US" sz="1300" b="1" dirty="0">
                <a:solidFill>
                  <a:srgbClr val="B8842B"/>
                </a:solidFill>
                <a:latin typeface="Calibri" pitchFamily="34" charset="0"/>
                <a:ea typeface="Calibri" pitchFamily="34" charset="-122"/>
                <a:cs typeface="Calibri" pitchFamily="34" charset="-120"/>
              </a:rPr>
              <a:t>undivided society (akhand samaj)</a:t>
            </a:r>
            <a:pPr indent="0" marL="0">
              <a:lnSpc>
                <a:spcPct val="105000"/>
              </a:lnSpc>
              <a:buNone/>
            </a:pPr>
            <a:r>
              <a:rPr lang="en-US" sz="1300" dirty="0">
                <a:solidFill>
                  <a:srgbClr val="202340"/>
                </a:solidFill>
                <a:latin typeface="Calibri" pitchFamily="34" charset="0"/>
                <a:ea typeface="Calibri" pitchFamily="34" charset="-122"/>
                <a:cs typeface="Calibri" pitchFamily="34" charset="-120"/>
              </a:rPr>
              <a:t>: families glue along shared members — coherent exactly when local value-structures AGREE on what they share (a descent condition).</a:t>
            </a:r>
            <a:endParaRPr lang="en-US" sz="1300" dirty="0"/>
          </a:p>
        </p:txBody>
      </p:sp>
      <p:sp>
        <p:nvSpPr>
          <p:cNvPr id="15" name="Shape 13"/>
          <p:cNvSpPr/>
          <p:nvPr/>
        </p:nvSpPr>
        <p:spPr>
          <a:xfrm>
            <a:off x="548640" y="4572000"/>
            <a:ext cx="11091672" cy="1371600"/>
          </a:xfrm>
          <a:prstGeom prst="roundRect">
            <a:avLst>
              <a:gd name="adj" fmla="val 4000"/>
            </a:avLst>
          </a:prstGeom>
          <a:solidFill>
            <a:srgbClr val="F5F6FB"/>
          </a:solidFill>
          <a:ln w="15875">
            <a:solidFill>
              <a:srgbClr val="B8842B"/>
            </a:solidFill>
            <a:prstDash val="solid"/>
          </a:ln>
        </p:spPr>
      </p:sp>
      <p:sp>
        <p:nvSpPr>
          <p:cNvPr id="16" name="Text 14"/>
          <p:cNvSpPr/>
          <p:nvPr/>
        </p:nvSpPr>
        <p:spPr>
          <a:xfrm>
            <a:off x="777240" y="4709160"/>
            <a:ext cx="10607040" cy="365760"/>
          </a:xfrm>
          <a:prstGeom prst="rect">
            <a:avLst/>
          </a:prstGeom>
          <a:noFill/>
          <a:ln/>
        </p:spPr>
        <p:txBody>
          <a:bodyPr wrap="square" rtlCol="0" anchor="ctr"/>
          <a:lstStyle/>
          <a:p>
            <a:pPr indent="0" marL="0">
              <a:buNone/>
            </a:pPr>
            <a:r>
              <a:rPr lang="en-US" sz="1500" b="1" dirty="0">
                <a:solidFill>
                  <a:srgbClr val="16183D"/>
                </a:solidFill>
                <a:latin typeface="Cambria" pitchFamily="34" charset="0"/>
                <a:ea typeface="Cambria" pitchFamily="34" charset="-122"/>
                <a:cs typeface="Cambria" pitchFamily="34" charset="-120"/>
              </a:rPr>
              <a:t>Undivided society is the telos — not an incidental output</a:t>
            </a:r>
            <a:endParaRPr lang="en-US" sz="1500" dirty="0"/>
          </a:p>
        </p:txBody>
      </p:sp>
      <p:sp>
        <p:nvSpPr>
          <p:cNvPr id="17" name="Text 15"/>
          <p:cNvSpPr/>
          <p:nvPr/>
        </p:nvSpPr>
        <p:spPr>
          <a:xfrm>
            <a:off x="777240" y="5074920"/>
            <a:ext cx="10607040" cy="822960"/>
          </a:xfrm>
          <a:prstGeom prst="rect">
            <a:avLst/>
          </a:prstGeom>
          <a:noFill/>
          <a:ln/>
        </p:spPr>
        <p:txBody>
          <a:bodyPr wrap="square" rtlCol="0" anchor="t"/>
          <a:lstStyle/>
          <a:p>
            <a:pPr indent="0" marL="0">
              <a:lnSpc>
                <a:spcPct val="105000"/>
              </a:lnSpc>
              <a:buNone/>
            </a:pPr>
            <a:r>
              <a:rPr lang="en-US" sz="1300" dirty="0">
                <a:solidFill>
                  <a:srgbClr val="202340"/>
                </a:solidFill>
                <a:latin typeface="Calibri" pitchFamily="34" charset="0"/>
                <a:ea typeface="Calibri" pitchFamily="34" charset="-122"/>
                <a:cs typeface="Calibri" pitchFamily="34" charset="-120"/>
              </a:rPr>
              <a:t>The four human goals are the shared value-content every jeevan aspires to; the colimit glues coherently precisely when that content is recognised across members — </a:t>
            </a:r>
            <a:pPr indent="0" marL="0">
              <a:lnSpc>
                <a:spcPct val="105000"/>
              </a:lnSpc>
              <a:buNone/>
            </a:pPr>
            <a:r>
              <a:rPr lang="en-US" sz="1300" b="1" dirty="0">
                <a:solidFill>
                  <a:srgbClr val="B8842B"/>
                </a:solidFill>
                <a:latin typeface="Calibri" pitchFamily="34" charset="0"/>
                <a:ea typeface="Calibri" pitchFamily="34" charset="-122"/>
                <a:cs typeface="Calibri" pitchFamily="34" charset="-120"/>
              </a:rPr>
              <a:t>compatible in the awakened case, degenerate in delusion</a:t>
            </a:r>
            <a:pPr indent="0" marL="0">
              <a:lnSpc>
                <a:spcPct val="105000"/>
              </a:lnSpc>
              <a:buNone/>
            </a:pPr>
            <a:r>
              <a:rPr lang="en-US" sz="1300" dirty="0">
                <a:solidFill>
                  <a:srgbClr val="202340"/>
                </a:solidFill>
                <a:latin typeface="Calibri" pitchFamily="34" charset="0"/>
                <a:ea typeface="Calibri" pitchFamily="34" charset="-122"/>
                <a:cs typeface="Calibri" pitchFamily="34" charset="-120"/>
              </a:rPr>
              <a:t> (“united in the right, divided in the wrong”, JV p. 17, 40).</a:t>
            </a:r>
            <a:endParaRPr lang="en-US" sz="1300" dirty="0"/>
          </a:p>
        </p:txBody>
      </p:sp>
      <p:sp>
        <p:nvSpPr>
          <p:cNvPr id="18" name="Text 16"/>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28</a:t>
            </a:r>
            <a:endParaRPr lang="en-US" sz="900" dirty="0"/>
          </a:p>
        </p:txBody>
      </p:sp>
      <p:sp>
        <p:nvSpPr>
          <p:cNvPr id="19" name="Text 17"/>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The formal spine</a:t>
            </a:r>
            <a:endParaRPr lang="en-US" sz="900" dirty="0"/>
          </a:p>
        </p:txBody>
      </p:sp>
      <p:sp>
        <p:nvSpPr>
          <p:cNvPr id="20" name="Text 18"/>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ctr"/>
          <a:lstStyle/>
          <a:p>
            <a:pPr algn="l" indent="0" marL="0">
              <a:buNone/>
            </a:pPr>
            <a:r>
              <a:rPr lang="en-US" sz="1200" b="1" spc="300" kern="0" dirty="0">
                <a:solidFill>
                  <a:srgbClr val="B8842B"/>
                </a:solidFill>
                <a:latin typeface="Calibri" pitchFamily="34" charset="0"/>
                <a:ea typeface="Calibri" pitchFamily="34" charset="-122"/>
                <a:cs typeface="Calibri" pitchFamily="34" charset="-120"/>
              </a:rPr>
              <a:t>PART IV · WHERE THE MODEL STOPS</a:t>
            </a:r>
            <a:endParaRPr lang="en-US" sz="1200" dirty="0"/>
          </a:p>
        </p:txBody>
      </p:sp>
      <p:sp>
        <p:nvSpPr>
          <p:cNvPr id="3" name="Text 1"/>
          <p:cNvSpPr/>
          <p:nvPr/>
        </p:nvSpPr>
        <p:spPr>
          <a:xfrm>
            <a:off x="548640" y="658368"/>
            <a:ext cx="11091672" cy="749808"/>
          </a:xfrm>
          <a:prstGeom prst="rect">
            <a:avLst/>
          </a:prstGeom>
          <a:noFill/>
          <a:ln/>
        </p:spPr>
        <p:txBody>
          <a:bodyPr wrap="square" rtlCol="0" anchor="ctr"/>
          <a:lstStyle/>
          <a:p>
            <a:pPr algn="l" indent="0" marL="0">
              <a:buNone/>
            </a:pPr>
            <a:r>
              <a:rPr lang="en-US" sz="2900" b="1" dirty="0">
                <a:solidFill>
                  <a:srgbClr val="16183D"/>
                </a:solidFill>
                <a:latin typeface="Cambria" pitchFamily="34" charset="0"/>
                <a:ea typeface="Cambria" pitchFamily="34" charset="-122"/>
                <a:cs typeface="Cambria" pitchFamily="34" charset="-120"/>
              </a:rPr>
              <a:t>Limitations, heavy posits, and open problems</a:t>
            </a:r>
            <a:endParaRPr lang="en-US" sz="2900" dirty="0"/>
          </a:p>
        </p:txBody>
      </p:sp>
      <p:sp>
        <p:nvSpPr>
          <p:cNvPr id="4" name="Shape 2"/>
          <p:cNvSpPr/>
          <p:nvPr/>
        </p:nvSpPr>
        <p:spPr>
          <a:xfrm>
            <a:off x="548640" y="1737360"/>
            <a:ext cx="5852160" cy="987552"/>
          </a:xfrm>
          <a:prstGeom prst="roundRect">
            <a:avLst>
              <a:gd name="adj" fmla="val 4630"/>
            </a:avLst>
          </a:prstGeom>
          <a:solidFill>
            <a:srgbClr val="F5F6FB"/>
          </a:solidFill>
          <a:ln w="12700">
            <a:solidFill>
              <a:srgbClr val="E1E3EF"/>
            </a:solidFill>
            <a:prstDash val="solid"/>
          </a:ln>
        </p:spPr>
      </p:sp>
      <p:sp>
        <p:nvSpPr>
          <p:cNvPr id="5" name="Shape 3"/>
          <p:cNvSpPr/>
          <p:nvPr/>
        </p:nvSpPr>
        <p:spPr>
          <a:xfrm>
            <a:off x="777240" y="1956816"/>
            <a:ext cx="128016" cy="128016"/>
          </a:xfrm>
          <a:prstGeom prst="ellipse">
            <a:avLst/>
          </a:prstGeom>
          <a:solidFill>
            <a:srgbClr val="B8842B"/>
          </a:solidFill>
          <a:ln/>
        </p:spPr>
      </p:sp>
      <p:sp>
        <p:nvSpPr>
          <p:cNvPr id="6" name="Text 4"/>
          <p:cNvSpPr/>
          <p:nvPr/>
        </p:nvSpPr>
        <p:spPr>
          <a:xfrm>
            <a:off x="1024128" y="1847088"/>
            <a:ext cx="5212080" cy="320040"/>
          </a:xfrm>
          <a:prstGeom prst="rect">
            <a:avLst/>
          </a:prstGeom>
          <a:noFill/>
          <a:ln/>
        </p:spPr>
        <p:txBody>
          <a:bodyPr wrap="square" rtlCol="0" anchor="ctr"/>
          <a:lstStyle/>
          <a:p>
            <a:pPr indent="0" marL="0">
              <a:buNone/>
            </a:pPr>
            <a:r>
              <a:rPr lang="en-US" sz="1400" b="1" dirty="0">
                <a:solidFill>
                  <a:srgbClr val="16183D"/>
                </a:solidFill>
                <a:latin typeface="Cambria" pitchFamily="34" charset="0"/>
                <a:ea typeface="Cambria" pitchFamily="34" charset="-122"/>
                <a:cs typeface="Cambria" pitchFamily="34" charset="-120"/>
              </a:rPr>
              <a:t>Formalisation is interpretive</a:t>
            </a:r>
            <a:endParaRPr lang="en-US" sz="1400" dirty="0"/>
          </a:p>
        </p:txBody>
      </p:sp>
      <p:sp>
        <p:nvSpPr>
          <p:cNvPr id="7" name="Text 5"/>
          <p:cNvSpPr/>
          <p:nvPr/>
        </p:nvSpPr>
        <p:spPr>
          <a:xfrm>
            <a:off x="1024128" y="2167128"/>
            <a:ext cx="5257800" cy="502920"/>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The symbols (O, κ, ρ, φ, μ, δ …) are the paper's compression, not in the texts.</a:t>
            </a:r>
            <a:endParaRPr lang="en-US" sz="1150" dirty="0"/>
          </a:p>
        </p:txBody>
      </p:sp>
      <p:sp>
        <p:nvSpPr>
          <p:cNvPr id="8" name="Shape 6"/>
          <p:cNvSpPr/>
          <p:nvPr/>
        </p:nvSpPr>
        <p:spPr>
          <a:xfrm>
            <a:off x="548640" y="2788920"/>
            <a:ext cx="5852160" cy="987552"/>
          </a:xfrm>
          <a:prstGeom prst="roundRect">
            <a:avLst>
              <a:gd name="adj" fmla="val 4630"/>
            </a:avLst>
          </a:prstGeom>
          <a:solidFill>
            <a:srgbClr val="F5F6FB"/>
          </a:solidFill>
          <a:ln w="12700">
            <a:solidFill>
              <a:srgbClr val="E1E3EF"/>
            </a:solidFill>
            <a:prstDash val="solid"/>
          </a:ln>
        </p:spPr>
      </p:sp>
      <p:sp>
        <p:nvSpPr>
          <p:cNvPr id="9" name="Shape 7"/>
          <p:cNvSpPr/>
          <p:nvPr/>
        </p:nvSpPr>
        <p:spPr>
          <a:xfrm>
            <a:off x="777240" y="3008376"/>
            <a:ext cx="128016" cy="128016"/>
          </a:xfrm>
          <a:prstGeom prst="ellipse">
            <a:avLst/>
          </a:prstGeom>
          <a:solidFill>
            <a:srgbClr val="B8842B"/>
          </a:solidFill>
          <a:ln/>
        </p:spPr>
      </p:sp>
      <p:sp>
        <p:nvSpPr>
          <p:cNvPr id="10" name="Text 8"/>
          <p:cNvSpPr/>
          <p:nvPr/>
        </p:nvSpPr>
        <p:spPr>
          <a:xfrm>
            <a:off x="1024128" y="2898648"/>
            <a:ext cx="5212080" cy="320040"/>
          </a:xfrm>
          <a:prstGeom prst="rect">
            <a:avLst/>
          </a:prstGeom>
          <a:noFill/>
          <a:ln/>
        </p:spPr>
        <p:txBody>
          <a:bodyPr wrap="square" rtlCol="0" anchor="ctr"/>
          <a:lstStyle/>
          <a:p>
            <a:pPr indent="0" marL="0">
              <a:buNone/>
            </a:pPr>
            <a:r>
              <a:rPr lang="en-US" sz="1400" b="1" dirty="0">
                <a:solidFill>
                  <a:srgbClr val="16183D"/>
                </a:solidFill>
                <a:latin typeface="Cambria" pitchFamily="34" charset="0"/>
                <a:ea typeface="Cambria" pitchFamily="34" charset="-122"/>
                <a:cs typeface="Cambria" pitchFamily="34" charset="-120"/>
              </a:rPr>
              <a:t>The residual premise</a:t>
            </a:r>
            <a:endParaRPr lang="en-US" sz="1400" dirty="0"/>
          </a:p>
        </p:txBody>
      </p:sp>
      <p:sp>
        <p:nvSpPr>
          <p:cNvPr id="11" name="Text 9"/>
          <p:cNvSpPr/>
          <p:nvPr/>
        </p:nvSpPr>
        <p:spPr>
          <a:xfrm>
            <a:off x="1024128" y="3218688"/>
            <a:ext cx="5257800" cy="502920"/>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Universal coupling rests on no-isolation (JV p. 43) — adopted, not derived. The one place the kernel leans beyond its axioms.</a:t>
            </a:r>
            <a:endParaRPr lang="en-US" sz="1150" dirty="0"/>
          </a:p>
        </p:txBody>
      </p:sp>
      <p:sp>
        <p:nvSpPr>
          <p:cNvPr id="12" name="Shape 10"/>
          <p:cNvSpPr/>
          <p:nvPr/>
        </p:nvSpPr>
        <p:spPr>
          <a:xfrm>
            <a:off x="548640" y="3840480"/>
            <a:ext cx="5852160" cy="987552"/>
          </a:xfrm>
          <a:prstGeom prst="roundRect">
            <a:avLst>
              <a:gd name="adj" fmla="val 4630"/>
            </a:avLst>
          </a:prstGeom>
          <a:solidFill>
            <a:srgbClr val="F5F6FB"/>
          </a:solidFill>
          <a:ln w="12700">
            <a:solidFill>
              <a:srgbClr val="E1E3EF"/>
            </a:solidFill>
            <a:prstDash val="solid"/>
          </a:ln>
        </p:spPr>
      </p:sp>
      <p:sp>
        <p:nvSpPr>
          <p:cNvPr id="13" name="Shape 11"/>
          <p:cNvSpPr/>
          <p:nvPr/>
        </p:nvSpPr>
        <p:spPr>
          <a:xfrm>
            <a:off x="777240" y="4059936"/>
            <a:ext cx="128016" cy="128016"/>
          </a:xfrm>
          <a:prstGeom prst="ellipse">
            <a:avLst/>
          </a:prstGeom>
          <a:solidFill>
            <a:srgbClr val="B8842B"/>
          </a:solidFill>
          <a:ln/>
        </p:spPr>
      </p:sp>
      <p:sp>
        <p:nvSpPr>
          <p:cNvPr id="14" name="Text 12"/>
          <p:cNvSpPr/>
          <p:nvPr/>
        </p:nvSpPr>
        <p:spPr>
          <a:xfrm>
            <a:off x="1024128" y="3950208"/>
            <a:ext cx="5212080" cy="320040"/>
          </a:xfrm>
          <a:prstGeom prst="rect">
            <a:avLst/>
          </a:prstGeom>
          <a:noFill/>
          <a:ln/>
        </p:spPr>
        <p:txBody>
          <a:bodyPr wrap="square" rtlCol="0" anchor="ctr"/>
          <a:lstStyle/>
          <a:p>
            <a:pPr indent="0" marL="0">
              <a:buNone/>
            </a:pPr>
            <a:r>
              <a:rPr lang="en-US" sz="1400" b="1" dirty="0">
                <a:solidFill>
                  <a:srgbClr val="16183D"/>
                </a:solidFill>
                <a:latin typeface="Cambria" pitchFamily="34" charset="0"/>
                <a:ea typeface="Cambria" pitchFamily="34" charset="-122"/>
                <a:cs typeface="Cambria" pitchFamily="34" charset="-120"/>
              </a:rPr>
              <a:t>Translation risk</a:t>
            </a:r>
            <a:endParaRPr lang="en-US" sz="1400" dirty="0"/>
          </a:p>
        </p:txBody>
      </p:sp>
      <p:sp>
        <p:nvSpPr>
          <p:cNvPr id="15" name="Text 13"/>
          <p:cNvSpPr/>
          <p:nvPr/>
        </p:nvSpPr>
        <p:spPr>
          <a:xfrm>
            <a:off x="1024128" y="4270248"/>
            <a:ext cx="5257800" cy="502920"/>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KD is a machine-assisted WORKING translation — corroboration only, to be checked against the Hindi before release.</a:t>
            </a:r>
            <a:endParaRPr lang="en-US" sz="1150" dirty="0"/>
          </a:p>
        </p:txBody>
      </p:sp>
      <p:sp>
        <p:nvSpPr>
          <p:cNvPr id="16" name="Shape 14"/>
          <p:cNvSpPr/>
          <p:nvPr/>
        </p:nvSpPr>
        <p:spPr>
          <a:xfrm>
            <a:off x="548640" y="4892040"/>
            <a:ext cx="5852160" cy="987552"/>
          </a:xfrm>
          <a:prstGeom prst="roundRect">
            <a:avLst>
              <a:gd name="adj" fmla="val 4630"/>
            </a:avLst>
          </a:prstGeom>
          <a:solidFill>
            <a:srgbClr val="F5F6FB"/>
          </a:solidFill>
          <a:ln w="12700">
            <a:solidFill>
              <a:srgbClr val="E1E3EF"/>
            </a:solidFill>
            <a:prstDash val="solid"/>
          </a:ln>
        </p:spPr>
      </p:sp>
      <p:sp>
        <p:nvSpPr>
          <p:cNvPr id="17" name="Shape 15"/>
          <p:cNvSpPr/>
          <p:nvPr/>
        </p:nvSpPr>
        <p:spPr>
          <a:xfrm>
            <a:off x="777240" y="5111496"/>
            <a:ext cx="128016" cy="128016"/>
          </a:xfrm>
          <a:prstGeom prst="ellipse">
            <a:avLst/>
          </a:prstGeom>
          <a:solidFill>
            <a:srgbClr val="B8842B"/>
          </a:solidFill>
          <a:ln/>
        </p:spPr>
      </p:sp>
      <p:sp>
        <p:nvSpPr>
          <p:cNvPr id="18" name="Text 16"/>
          <p:cNvSpPr/>
          <p:nvPr/>
        </p:nvSpPr>
        <p:spPr>
          <a:xfrm>
            <a:off x="1024128" y="5001768"/>
            <a:ext cx="5212080" cy="320040"/>
          </a:xfrm>
          <a:prstGeom prst="rect">
            <a:avLst/>
          </a:prstGeom>
          <a:noFill/>
          <a:ln/>
        </p:spPr>
        <p:txBody>
          <a:bodyPr wrap="square" rtlCol="0" anchor="ctr"/>
          <a:lstStyle/>
          <a:p>
            <a:pPr indent="0" marL="0">
              <a:buNone/>
            </a:pPr>
            <a:r>
              <a:rPr lang="en-US" sz="1400" b="1" dirty="0">
                <a:solidFill>
                  <a:srgbClr val="16183D"/>
                </a:solidFill>
                <a:latin typeface="Cambria" pitchFamily="34" charset="0"/>
                <a:ea typeface="Cambria" pitchFamily="34" charset="-122"/>
                <a:cs typeface="Cambria" pitchFamily="34" charset="-120"/>
              </a:rPr>
              <a:t>No empirical contact</a:t>
            </a:r>
            <a:endParaRPr lang="en-US" sz="1400" dirty="0"/>
          </a:p>
        </p:txBody>
      </p:sp>
      <p:sp>
        <p:nvSpPr>
          <p:cNvPr id="19" name="Text 17"/>
          <p:cNvSpPr/>
          <p:nvPr/>
        </p:nvSpPr>
        <p:spPr>
          <a:xfrm>
            <a:off x="1024128" y="5321808"/>
            <a:ext cx="5257800" cy="502920"/>
          </a:xfrm>
          <a:prstGeom prst="rect">
            <a:avLst/>
          </a:prstGeom>
          <a:noFill/>
          <a:ln/>
        </p:spPr>
        <p:txBody>
          <a:bodyPr wrap="square" rtlCol="0" anchor="t"/>
          <a:lstStyle/>
          <a:p>
            <a:pPr indent="0" marL="0">
              <a:lnSpc>
                <a:spcPct val="100000"/>
              </a:lnSpc>
              <a:buNone/>
            </a:pPr>
            <a:r>
              <a:rPr lang="en-US" sz="1150" dirty="0">
                <a:solidFill>
                  <a:srgbClr val="202340"/>
                </a:solidFill>
                <a:latin typeface="Calibri" pitchFamily="34" charset="0"/>
                <a:ea typeface="Calibri" pitchFamily="34" charset="-122"/>
                <a:cs typeface="Calibri" pitchFamily="34" charset="-120"/>
              </a:rPr>
              <a:t>Nothing here yields a measurement or prediction. “Elegant diagrams can create an illusion of proof.”</a:t>
            </a:r>
            <a:endParaRPr lang="en-US" sz="1150" dirty="0"/>
          </a:p>
        </p:txBody>
      </p:sp>
      <p:sp>
        <p:nvSpPr>
          <p:cNvPr id="20" name="Shape 18"/>
          <p:cNvSpPr/>
          <p:nvPr/>
        </p:nvSpPr>
        <p:spPr>
          <a:xfrm>
            <a:off x="6583680" y="1737360"/>
            <a:ext cx="5056632" cy="2084832"/>
          </a:xfrm>
          <a:prstGeom prst="roundRect">
            <a:avLst>
              <a:gd name="adj" fmla="val 2632"/>
            </a:avLst>
          </a:prstGeom>
          <a:solidFill>
            <a:srgbClr val="16183D"/>
          </a:solidFill>
          <a:ln/>
        </p:spPr>
      </p:sp>
      <p:sp>
        <p:nvSpPr>
          <p:cNvPr id="21" name="Text 19"/>
          <p:cNvSpPr/>
          <p:nvPr/>
        </p:nvSpPr>
        <p:spPr>
          <a:xfrm>
            <a:off x="6784848" y="1874520"/>
            <a:ext cx="4663440" cy="320040"/>
          </a:xfrm>
          <a:prstGeom prst="rect">
            <a:avLst/>
          </a:prstGeom>
          <a:noFill/>
          <a:ln/>
        </p:spPr>
        <p:txBody>
          <a:bodyPr wrap="square" rtlCol="0" anchor="ctr"/>
          <a:lstStyle/>
          <a:p>
            <a:pPr indent="0" marL="0">
              <a:buNone/>
            </a:pPr>
            <a:r>
              <a:rPr lang="en-US" sz="1500" b="1" dirty="0">
                <a:solidFill>
                  <a:srgbClr val="E3B857"/>
                </a:solidFill>
                <a:latin typeface="Cambria" pitchFamily="34" charset="0"/>
                <a:ea typeface="Cambria" pitchFamily="34" charset="-122"/>
                <a:cs typeface="Cambria" pitchFamily="34" charset="-120"/>
              </a:rPr>
              <a:t>The heavy posits, named</a:t>
            </a:r>
            <a:endParaRPr lang="en-US" sz="1500" dirty="0"/>
          </a:p>
        </p:txBody>
      </p:sp>
      <p:sp>
        <p:nvSpPr>
          <p:cNvPr id="22" name="Shape 20"/>
          <p:cNvSpPr/>
          <p:nvPr/>
        </p:nvSpPr>
        <p:spPr>
          <a:xfrm>
            <a:off x="6858000" y="2377440"/>
            <a:ext cx="109728" cy="109728"/>
          </a:xfrm>
          <a:prstGeom prst="ellipse">
            <a:avLst/>
          </a:prstGeom>
          <a:solidFill>
            <a:srgbClr val="E3B857"/>
          </a:solidFill>
          <a:ln/>
        </p:spPr>
      </p:sp>
      <p:sp>
        <p:nvSpPr>
          <p:cNvPr id="23" name="Text 21"/>
          <p:cNvSpPr/>
          <p:nvPr/>
        </p:nvSpPr>
        <p:spPr>
          <a:xfrm>
            <a:off x="7114032" y="2313432"/>
            <a:ext cx="4434840" cy="365760"/>
          </a:xfrm>
          <a:prstGeom prst="rect">
            <a:avLst/>
          </a:prstGeom>
          <a:noFill/>
          <a:ln/>
        </p:spPr>
        <p:txBody>
          <a:bodyPr wrap="square" rtlCol="0" anchor="t"/>
          <a:lstStyle/>
          <a:p>
            <a:pPr indent="0" marL="0">
              <a:buNone/>
            </a:pPr>
            <a:r>
              <a:rPr lang="en-US" sz="1150" dirty="0">
                <a:solidFill>
                  <a:srgbClr val="F2EEE3"/>
                </a:solidFill>
                <a:latin typeface="Calibri" pitchFamily="34" charset="0"/>
                <a:ea typeface="Calibri" pitchFamily="34" charset="-122"/>
                <a:cs typeface="Calibri" pitchFamily="34" charset="-120"/>
              </a:rPr>
              <a:t>A2's teleology (orientation to completeness)</a:t>
            </a:r>
            <a:endParaRPr lang="en-US" sz="1150" dirty="0"/>
          </a:p>
        </p:txBody>
      </p:sp>
      <p:sp>
        <p:nvSpPr>
          <p:cNvPr id="24" name="Shape 22"/>
          <p:cNvSpPr/>
          <p:nvPr/>
        </p:nvSpPr>
        <p:spPr>
          <a:xfrm>
            <a:off x="6858000" y="2743200"/>
            <a:ext cx="109728" cy="109728"/>
          </a:xfrm>
          <a:prstGeom prst="ellipse">
            <a:avLst/>
          </a:prstGeom>
          <a:solidFill>
            <a:srgbClr val="E3B857"/>
          </a:solidFill>
          <a:ln/>
        </p:spPr>
      </p:sp>
      <p:sp>
        <p:nvSpPr>
          <p:cNvPr id="25" name="Text 23"/>
          <p:cNvSpPr/>
          <p:nvPr/>
        </p:nvSpPr>
        <p:spPr>
          <a:xfrm>
            <a:off x="7114032" y="2679192"/>
            <a:ext cx="4434840" cy="365760"/>
          </a:xfrm>
          <a:prstGeom prst="rect">
            <a:avLst/>
          </a:prstGeom>
          <a:noFill/>
          <a:ln/>
        </p:spPr>
        <p:txBody>
          <a:bodyPr wrap="square" rtlCol="0" anchor="t"/>
          <a:lstStyle/>
          <a:p>
            <a:pPr indent="0" marL="0">
              <a:buNone/>
            </a:pPr>
            <a:r>
              <a:rPr lang="en-US" sz="1150" dirty="0">
                <a:solidFill>
                  <a:srgbClr val="F2EEE3"/>
                </a:solidFill>
                <a:latin typeface="Calibri" pitchFamily="34" charset="0"/>
                <a:ea typeface="Calibri" pitchFamily="34" charset="-122"/>
                <a:cs typeface="Calibri" pitchFamily="34" charset="-120"/>
              </a:rPr>
              <a:t>The mediative regulation asserted in A1</a:t>
            </a:r>
            <a:endParaRPr lang="en-US" sz="1150" dirty="0"/>
          </a:p>
        </p:txBody>
      </p:sp>
      <p:sp>
        <p:nvSpPr>
          <p:cNvPr id="26" name="Shape 24"/>
          <p:cNvSpPr/>
          <p:nvPr/>
        </p:nvSpPr>
        <p:spPr>
          <a:xfrm>
            <a:off x="6858000" y="3108960"/>
            <a:ext cx="109728" cy="109728"/>
          </a:xfrm>
          <a:prstGeom prst="ellipse">
            <a:avLst/>
          </a:prstGeom>
          <a:solidFill>
            <a:srgbClr val="E3B857"/>
          </a:solidFill>
          <a:ln/>
        </p:spPr>
      </p:sp>
      <p:sp>
        <p:nvSpPr>
          <p:cNvPr id="27" name="Text 25"/>
          <p:cNvSpPr/>
          <p:nvPr/>
        </p:nvSpPr>
        <p:spPr>
          <a:xfrm>
            <a:off x="7114032" y="3044952"/>
            <a:ext cx="4434840" cy="365760"/>
          </a:xfrm>
          <a:prstGeom prst="rect">
            <a:avLst/>
          </a:prstGeom>
          <a:noFill/>
          <a:ln/>
        </p:spPr>
        <p:txBody>
          <a:bodyPr wrap="square" rtlCol="0" anchor="t"/>
          <a:lstStyle/>
          <a:p>
            <a:pPr indent="0" marL="0">
              <a:buNone/>
            </a:pPr>
            <a:r>
              <a:rPr lang="en-US" sz="1150" dirty="0">
                <a:solidFill>
                  <a:srgbClr val="F2EEE3"/>
                </a:solidFill>
                <a:latin typeface="Calibri" pitchFamily="34" charset="0"/>
                <a:ea typeface="Calibri" pitchFamily="34" charset="-122"/>
                <a:cs typeface="Calibri" pitchFamily="34" charset="-120"/>
              </a:rPr>
              <a:t>Selection predicate: which configuration reaches T1</a:t>
            </a:r>
            <a:endParaRPr lang="en-US" sz="1150" dirty="0"/>
          </a:p>
        </p:txBody>
      </p:sp>
      <p:sp>
        <p:nvSpPr>
          <p:cNvPr id="28" name="Shape 26"/>
          <p:cNvSpPr/>
          <p:nvPr/>
        </p:nvSpPr>
        <p:spPr>
          <a:xfrm>
            <a:off x="6858000" y="3474720"/>
            <a:ext cx="109728" cy="109728"/>
          </a:xfrm>
          <a:prstGeom prst="ellipse">
            <a:avLst/>
          </a:prstGeom>
          <a:solidFill>
            <a:srgbClr val="E3B857"/>
          </a:solidFill>
          <a:ln/>
        </p:spPr>
      </p:sp>
      <p:sp>
        <p:nvSpPr>
          <p:cNvPr id="29" name="Text 27"/>
          <p:cNvSpPr/>
          <p:nvPr/>
        </p:nvSpPr>
        <p:spPr>
          <a:xfrm>
            <a:off x="7114032" y="3410712"/>
            <a:ext cx="4434840" cy="365760"/>
          </a:xfrm>
          <a:prstGeom prst="rect">
            <a:avLst/>
          </a:prstGeom>
          <a:noFill/>
          <a:ln/>
        </p:spPr>
        <p:txBody>
          <a:bodyPr wrap="square" rtlCol="0" anchor="t"/>
          <a:lstStyle/>
          <a:p>
            <a:pPr indent="0" marL="0">
              <a:buNone/>
            </a:pPr>
            <a:r>
              <a:rPr lang="en-US" sz="1150" dirty="0">
                <a:solidFill>
                  <a:srgbClr val="F2EEE3"/>
                </a:solidFill>
                <a:latin typeface="Calibri" pitchFamily="34" charset="0"/>
                <a:ea typeface="Calibri" pitchFamily="34" charset="-122"/>
                <a:cs typeface="Calibri" pitchFamily="34" charset="-120"/>
              </a:rPr>
              <a:t>Selection predicate: which jeevan animates which body</a:t>
            </a:r>
            <a:endParaRPr lang="en-US" sz="1150" dirty="0"/>
          </a:p>
        </p:txBody>
      </p:sp>
      <p:sp>
        <p:nvSpPr>
          <p:cNvPr id="30" name="Shape 28"/>
          <p:cNvSpPr/>
          <p:nvPr/>
        </p:nvSpPr>
        <p:spPr>
          <a:xfrm>
            <a:off x="6583680" y="3977640"/>
            <a:ext cx="5056632" cy="1965960"/>
          </a:xfrm>
          <a:prstGeom prst="roundRect">
            <a:avLst>
              <a:gd name="adj" fmla="val 2791"/>
            </a:avLst>
          </a:prstGeom>
          <a:solidFill>
            <a:srgbClr val="F5F6FB"/>
          </a:solidFill>
          <a:ln w="15875">
            <a:solidFill>
              <a:srgbClr val="3E7C8C"/>
            </a:solidFill>
            <a:prstDash val="solid"/>
          </a:ln>
        </p:spPr>
      </p:sp>
      <p:sp>
        <p:nvSpPr>
          <p:cNvPr id="31" name="Text 29"/>
          <p:cNvSpPr/>
          <p:nvPr/>
        </p:nvSpPr>
        <p:spPr>
          <a:xfrm>
            <a:off x="6784848" y="4114800"/>
            <a:ext cx="4663440" cy="320040"/>
          </a:xfrm>
          <a:prstGeom prst="rect">
            <a:avLst/>
          </a:prstGeom>
          <a:noFill/>
          <a:ln/>
        </p:spPr>
        <p:txBody>
          <a:bodyPr wrap="square" rtlCol="0" anchor="ctr"/>
          <a:lstStyle/>
          <a:p>
            <a:pPr indent="0" marL="0">
              <a:buNone/>
            </a:pPr>
            <a:r>
              <a:rPr lang="en-US" sz="1500" b="1" dirty="0">
                <a:solidFill>
                  <a:srgbClr val="3E7C8C"/>
                </a:solidFill>
                <a:latin typeface="Cambria" pitchFamily="34" charset="0"/>
                <a:ea typeface="Cambria" pitchFamily="34" charset="-122"/>
                <a:cs typeface="Cambria" pitchFamily="34" charset="-120"/>
              </a:rPr>
              <a:t>A sample of the open problems</a:t>
            </a:r>
            <a:endParaRPr lang="en-US" sz="1500" dirty="0"/>
          </a:p>
        </p:txBody>
      </p:sp>
      <p:sp>
        <p:nvSpPr>
          <p:cNvPr id="32" name="Text 30"/>
          <p:cNvSpPr/>
          <p:nvPr/>
        </p:nvSpPr>
        <p:spPr>
          <a:xfrm>
            <a:off x="6784848" y="4480560"/>
            <a:ext cx="4709160" cy="1371600"/>
          </a:xfrm>
          <a:prstGeom prst="rect">
            <a:avLst/>
          </a:prstGeom>
          <a:noFill/>
          <a:ln/>
        </p:spPr>
        <p:txBody>
          <a:bodyPr wrap="square" rtlCol="0" anchor="t"/>
          <a:lstStyle/>
          <a:p>
            <a:pPr indent="0" marL="0">
              <a:lnSpc>
                <a:spcPct val="110000"/>
              </a:lnSpc>
              <a:buNone/>
            </a:pPr>
            <a:r>
              <a:rPr lang="en-US" sz="1150" dirty="0">
                <a:solidFill>
                  <a:srgbClr val="202340"/>
                </a:solidFill>
                <a:latin typeface="Calibri" pitchFamily="34" charset="0"/>
                <a:ea typeface="Calibri" pitchFamily="34" charset="-122"/>
                <a:cs typeface="Calibri" pitchFamily="34" charset="-120"/>
              </a:rPr>
              <a:t>Countermodels for the independence of A1 and A2   ·   discharge or confirm no-isolation   ·   identify the order-relative relations C_o   ·   a mechanised recovery audit   ·   concurrency in the duration model   ·   formalize the non-scalar preorders H and S   ·   physical variables for K_o and testable dynamics.</a:t>
            </a:r>
            <a:endParaRPr lang="en-US" sz="1150" dirty="0"/>
          </a:p>
        </p:txBody>
      </p:sp>
      <p:sp>
        <p:nvSpPr>
          <p:cNvPr id="33" name="Text 31"/>
          <p:cNvSpPr/>
          <p:nvPr/>
        </p:nvSpPr>
        <p:spPr>
          <a:xfrm>
            <a:off x="548640" y="6455664"/>
            <a:ext cx="457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29</a:t>
            </a:r>
            <a:endParaRPr lang="en-US" sz="900" dirty="0"/>
          </a:p>
        </p:txBody>
      </p:sp>
      <p:sp>
        <p:nvSpPr>
          <p:cNvPr id="34" name="Text 32"/>
          <p:cNvSpPr/>
          <p:nvPr/>
        </p:nvSpPr>
        <p:spPr>
          <a:xfrm>
            <a:off x="960120" y="6455664"/>
            <a:ext cx="7315200" cy="274320"/>
          </a:xfrm>
          <a:prstGeom prst="rect">
            <a:avLst/>
          </a:prstGeom>
          <a:noFill/>
          <a:ln/>
        </p:spPr>
        <p:txBody>
          <a:bodyPr wrap="square" rtlCol="0" anchor="ctr"/>
          <a:lstStyle/>
          <a:p>
            <a:pPr algn="l" indent="0" marL="0">
              <a:buNone/>
            </a:pPr>
            <a:r>
              <a:rPr lang="en-US" sz="900" dirty="0">
                <a:solidFill>
                  <a:srgbClr val="6A6E93"/>
                </a:solidFill>
                <a:latin typeface="Calibri" pitchFamily="34" charset="0"/>
                <a:ea typeface="Calibri" pitchFamily="34" charset="-122"/>
                <a:cs typeface="Calibri" pitchFamily="34" charset="-120"/>
              </a:rPr>
              <a:t>Limitations &amp; open problems</a:t>
            </a:r>
            <a:endParaRPr lang="en-US" sz="900" dirty="0"/>
          </a:p>
        </p:txBody>
      </p:sp>
      <p:sp>
        <p:nvSpPr>
          <p:cNvPr id="35" name="Text 33"/>
          <p:cNvSpPr/>
          <p:nvPr/>
        </p:nvSpPr>
        <p:spPr>
          <a:xfrm>
            <a:off x="7955280" y="6455664"/>
            <a:ext cx="3685032" cy="274320"/>
          </a:xfrm>
          <a:prstGeom prst="rect">
            <a:avLst/>
          </a:prstGeom>
          <a:noFill/>
          <a:ln/>
        </p:spPr>
        <p:txBody>
          <a:bodyPr wrap="square" rtlCol="0" anchor="ctr"/>
          <a:lstStyle/>
          <a:p>
            <a:pPr algn="r" indent="0" marL="0">
              <a:buNone/>
            </a:pPr>
            <a:r>
              <a:rPr lang="en-US" sz="900" dirty="0">
                <a:solidFill>
                  <a:srgbClr val="6A6E93"/>
                </a:solidFill>
                <a:latin typeface="Calibri" pitchFamily="34" charset="0"/>
                <a:ea typeface="Calibri" pitchFamily="34" charset="-122"/>
                <a:cs typeface="Calibri" pitchFamily="34" charset="-120"/>
              </a:rPr>
              <a:t>Coexistence From First Principles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183D"/>
        </a:solidFill>
      </p:bgPr>
    </p:bg>
    <p:spTree>
      <p:nvGrpSpPr>
        <p:cNvPr id="1" name=""/>
        <p:cNvGrpSpPr/>
        <p:nvPr/>
      </p:nvGrpSpPr>
      <p:grpSpPr>
        <a:xfrm>
          <a:off x="0" y="0"/>
          <a:ext cx="0" cy="0"/>
          <a:chOff x="0" y="0"/>
          <a:chExt cx="0" cy="0"/>
        </a:xfrm>
      </p:grpSpPr>
      <p:sp>
        <p:nvSpPr>
          <p:cNvPr id="2" name="Shape 0"/>
          <p:cNvSpPr/>
          <p:nvPr/>
        </p:nvSpPr>
        <p:spPr>
          <a:xfrm>
            <a:off x="822960" y="1097280"/>
            <a:ext cx="91440" cy="91440"/>
          </a:xfrm>
          <a:prstGeom prst="ellipse">
            <a:avLst/>
          </a:prstGeom>
          <a:solidFill>
            <a:srgbClr val="E3B857">
              <a:alpha val="65000"/>
            </a:srgbClr>
          </a:solidFill>
          <a:ln/>
        </p:spPr>
      </p:sp>
      <p:sp>
        <p:nvSpPr>
          <p:cNvPr id="3" name="Shape 1"/>
          <p:cNvSpPr/>
          <p:nvPr/>
        </p:nvSpPr>
        <p:spPr>
          <a:xfrm>
            <a:off x="1920240" y="3566160"/>
            <a:ext cx="54864" cy="54864"/>
          </a:xfrm>
          <a:prstGeom prst="ellipse">
            <a:avLst/>
          </a:prstGeom>
          <a:solidFill>
            <a:srgbClr val="E3B857">
              <a:alpha val="65000"/>
            </a:srgbClr>
          </a:solidFill>
          <a:ln/>
        </p:spPr>
      </p:sp>
      <p:sp>
        <p:nvSpPr>
          <p:cNvPr id="4" name="Shape 2"/>
          <p:cNvSpPr/>
          <p:nvPr/>
        </p:nvSpPr>
        <p:spPr>
          <a:xfrm>
            <a:off x="1371600" y="5303520"/>
            <a:ext cx="73152" cy="73152"/>
          </a:xfrm>
          <a:prstGeom prst="ellipse">
            <a:avLst/>
          </a:prstGeom>
          <a:solidFill>
            <a:srgbClr val="E3B857">
              <a:alpha val="65000"/>
            </a:srgbClr>
          </a:solidFill>
          <a:ln/>
        </p:spPr>
      </p:sp>
      <p:sp>
        <p:nvSpPr>
          <p:cNvPr id="5" name="Shape 3"/>
          <p:cNvSpPr/>
          <p:nvPr/>
        </p:nvSpPr>
        <p:spPr>
          <a:xfrm>
            <a:off x="3108960" y="1554480"/>
            <a:ext cx="45720" cy="45720"/>
          </a:xfrm>
          <a:prstGeom prst="ellipse">
            <a:avLst/>
          </a:prstGeom>
          <a:solidFill>
            <a:srgbClr val="E3B857">
              <a:alpha val="65000"/>
            </a:srgbClr>
          </a:solidFill>
          <a:ln/>
        </p:spPr>
      </p:sp>
      <p:sp>
        <p:nvSpPr>
          <p:cNvPr id="6" name="Shape 4"/>
          <p:cNvSpPr/>
          <p:nvPr/>
        </p:nvSpPr>
        <p:spPr>
          <a:xfrm>
            <a:off x="3840480" y="4754880"/>
            <a:ext cx="64008" cy="64008"/>
          </a:xfrm>
          <a:prstGeom prst="ellipse">
            <a:avLst/>
          </a:prstGeom>
          <a:solidFill>
            <a:srgbClr val="E3B857">
              <a:alpha val="65000"/>
            </a:srgbClr>
          </a:solidFill>
          <a:ln/>
        </p:spPr>
      </p:sp>
      <p:sp>
        <p:nvSpPr>
          <p:cNvPr id="7" name="Shape 5"/>
          <p:cNvSpPr/>
          <p:nvPr/>
        </p:nvSpPr>
        <p:spPr>
          <a:xfrm>
            <a:off x="10058400" y="1280160"/>
            <a:ext cx="82296" cy="82296"/>
          </a:xfrm>
          <a:prstGeom prst="ellipse">
            <a:avLst/>
          </a:prstGeom>
          <a:solidFill>
            <a:srgbClr val="E3B857">
              <a:alpha val="65000"/>
            </a:srgbClr>
          </a:solidFill>
          <a:ln/>
        </p:spPr>
      </p:sp>
      <p:sp>
        <p:nvSpPr>
          <p:cNvPr id="8" name="Shape 6"/>
          <p:cNvSpPr/>
          <p:nvPr/>
        </p:nvSpPr>
        <p:spPr>
          <a:xfrm>
            <a:off x="11247120" y="2834640"/>
            <a:ext cx="54864" cy="54864"/>
          </a:xfrm>
          <a:prstGeom prst="ellipse">
            <a:avLst/>
          </a:prstGeom>
          <a:solidFill>
            <a:srgbClr val="E3B857">
              <a:alpha val="65000"/>
            </a:srgbClr>
          </a:solidFill>
          <a:ln/>
        </p:spPr>
      </p:sp>
      <p:sp>
        <p:nvSpPr>
          <p:cNvPr id="9" name="Shape 7"/>
          <p:cNvSpPr/>
          <p:nvPr/>
        </p:nvSpPr>
        <p:spPr>
          <a:xfrm>
            <a:off x="9509760" y="5120640"/>
            <a:ext cx="64008" cy="64008"/>
          </a:xfrm>
          <a:prstGeom prst="ellipse">
            <a:avLst/>
          </a:prstGeom>
          <a:solidFill>
            <a:srgbClr val="E3B857">
              <a:alpha val="65000"/>
            </a:srgbClr>
          </a:solidFill>
          <a:ln/>
        </p:spPr>
      </p:sp>
      <p:sp>
        <p:nvSpPr>
          <p:cNvPr id="10" name="Shape 8"/>
          <p:cNvSpPr/>
          <p:nvPr/>
        </p:nvSpPr>
        <p:spPr>
          <a:xfrm>
            <a:off x="11521440" y="5486400"/>
            <a:ext cx="45720" cy="45720"/>
          </a:xfrm>
          <a:prstGeom prst="ellipse">
            <a:avLst/>
          </a:prstGeom>
          <a:solidFill>
            <a:srgbClr val="E3B857">
              <a:alpha val="65000"/>
            </a:srgbClr>
          </a:solidFill>
          <a:ln/>
        </p:spPr>
      </p:sp>
      <p:sp>
        <p:nvSpPr>
          <p:cNvPr id="11" name="Shape 9"/>
          <p:cNvSpPr/>
          <p:nvPr/>
        </p:nvSpPr>
        <p:spPr>
          <a:xfrm>
            <a:off x="10698480" y="4206240"/>
            <a:ext cx="91440" cy="91440"/>
          </a:xfrm>
          <a:prstGeom prst="ellipse">
            <a:avLst/>
          </a:prstGeom>
          <a:solidFill>
            <a:srgbClr val="E3B857">
              <a:alpha val="65000"/>
            </a:srgbClr>
          </a:solidFill>
          <a:ln/>
        </p:spPr>
      </p:sp>
      <p:sp>
        <p:nvSpPr>
          <p:cNvPr id="12" name="Shape 10"/>
          <p:cNvSpPr/>
          <p:nvPr/>
        </p:nvSpPr>
        <p:spPr>
          <a:xfrm>
            <a:off x="6035040" y="640080"/>
            <a:ext cx="45720" cy="45720"/>
          </a:xfrm>
          <a:prstGeom prst="ellipse">
            <a:avLst/>
          </a:prstGeom>
          <a:solidFill>
            <a:srgbClr val="E3B857">
              <a:alpha val="65000"/>
            </a:srgbClr>
          </a:solidFill>
          <a:ln/>
        </p:spPr>
      </p:sp>
      <p:sp>
        <p:nvSpPr>
          <p:cNvPr id="13" name="Shape 11"/>
          <p:cNvSpPr/>
          <p:nvPr/>
        </p:nvSpPr>
        <p:spPr>
          <a:xfrm>
            <a:off x="7132320" y="6126480"/>
            <a:ext cx="54864" cy="54864"/>
          </a:xfrm>
          <a:prstGeom prst="ellipse">
            <a:avLst/>
          </a:prstGeom>
          <a:solidFill>
            <a:srgbClr val="E3B857">
              <a:alpha val="65000"/>
            </a:srgbClr>
          </a:solidFill>
          <a:ln/>
        </p:spPr>
      </p:sp>
      <p:sp>
        <p:nvSpPr>
          <p:cNvPr id="14" name="Shape 12"/>
          <p:cNvSpPr/>
          <p:nvPr/>
        </p:nvSpPr>
        <p:spPr>
          <a:xfrm>
            <a:off x="8503920" y="822960"/>
            <a:ext cx="64008" cy="64008"/>
          </a:xfrm>
          <a:prstGeom prst="ellipse">
            <a:avLst/>
          </a:prstGeom>
          <a:solidFill>
            <a:srgbClr val="E3B857">
              <a:alpha val="65000"/>
            </a:srgbClr>
          </a:solidFill>
          <a:ln/>
        </p:spPr>
      </p:sp>
      <p:sp>
        <p:nvSpPr>
          <p:cNvPr id="15" name="Shape 13"/>
          <p:cNvSpPr/>
          <p:nvPr/>
        </p:nvSpPr>
        <p:spPr>
          <a:xfrm>
            <a:off x="4663440" y="6309360"/>
            <a:ext cx="45720" cy="45720"/>
          </a:xfrm>
          <a:prstGeom prst="ellipse">
            <a:avLst/>
          </a:prstGeom>
          <a:solidFill>
            <a:srgbClr val="E3B857">
              <a:alpha val="65000"/>
            </a:srgbClr>
          </a:solidFill>
          <a:ln/>
        </p:spPr>
      </p:sp>
      <p:sp>
        <p:nvSpPr>
          <p:cNvPr id="16" name="Text 14"/>
          <p:cNvSpPr/>
          <p:nvPr/>
        </p:nvSpPr>
        <p:spPr>
          <a:xfrm>
            <a:off x="822960" y="1371600"/>
            <a:ext cx="5486400" cy="320040"/>
          </a:xfrm>
          <a:prstGeom prst="rect">
            <a:avLst/>
          </a:prstGeom>
          <a:noFill/>
          <a:ln/>
        </p:spPr>
        <p:txBody>
          <a:bodyPr wrap="square" rtlCol="0" anchor="ctr"/>
          <a:lstStyle/>
          <a:p>
            <a:pPr indent="0" marL="0">
              <a:buNone/>
            </a:pPr>
            <a:r>
              <a:rPr lang="en-US" sz="1300" b="1" spc="400" kern="0" dirty="0">
                <a:solidFill>
                  <a:srgbClr val="E3B857"/>
                </a:solidFill>
                <a:latin typeface="Calibri" pitchFamily="34" charset="0"/>
                <a:ea typeface="Calibri" pitchFamily="34" charset="-122"/>
                <a:cs typeface="Calibri" pitchFamily="34" charset="-120"/>
              </a:rPr>
              <a:t>CONCLUSION</a:t>
            </a:r>
            <a:endParaRPr lang="en-US" sz="1300" dirty="0"/>
          </a:p>
        </p:txBody>
      </p:sp>
      <p:sp>
        <p:nvSpPr>
          <p:cNvPr id="17" name="Text 15"/>
          <p:cNvSpPr/>
          <p:nvPr/>
        </p:nvSpPr>
        <p:spPr>
          <a:xfrm>
            <a:off x="804672" y="1737360"/>
            <a:ext cx="10515600" cy="777240"/>
          </a:xfrm>
          <a:prstGeom prst="rect">
            <a:avLst/>
          </a:prstGeom>
          <a:noFill/>
          <a:ln/>
        </p:spPr>
        <p:txBody>
          <a:bodyPr wrap="square" rtlCol="0" anchor="ctr"/>
          <a:lstStyle/>
          <a:p>
            <a:pPr indent="0" marL="0">
              <a:buNone/>
            </a:pPr>
            <a:r>
              <a:rPr lang="en-US" sz="3400" b="1" dirty="0">
                <a:solidFill>
                  <a:srgbClr val="F2EEE3"/>
                </a:solidFill>
                <a:latin typeface="Cambria" pitchFamily="34" charset="0"/>
                <a:ea typeface="Cambria" pitchFamily="34" charset="-122"/>
                <a:cs typeface="Cambria" pitchFamily="34" charset="-120"/>
              </a:rPr>
              <a:t>The ground is coexistence itself</a:t>
            </a:r>
            <a:endParaRPr lang="en-US" sz="3400" dirty="0"/>
          </a:p>
        </p:txBody>
      </p:sp>
      <p:sp>
        <p:nvSpPr>
          <p:cNvPr id="18" name="Text 16"/>
          <p:cNvSpPr/>
          <p:nvPr/>
        </p:nvSpPr>
        <p:spPr>
          <a:xfrm>
            <a:off x="822960" y="2606040"/>
            <a:ext cx="10424160" cy="1005840"/>
          </a:xfrm>
          <a:prstGeom prst="rect">
            <a:avLst/>
          </a:prstGeom>
          <a:noFill/>
          <a:ln/>
        </p:spPr>
        <p:txBody>
          <a:bodyPr wrap="square" rtlCol="0" anchor="t"/>
          <a:lstStyle/>
          <a:p>
            <a:pPr indent="0" marL="0">
              <a:lnSpc>
                <a:spcPct val="110000"/>
              </a:lnSpc>
              <a:buNone/>
            </a:pPr>
            <a:r>
              <a:rPr lang="en-US" sz="1500" dirty="0">
                <a:solidFill>
                  <a:srgbClr val="A7ACD0"/>
                </a:solidFill>
                <a:latin typeface="Calibri" pitchFamily="34" charset="0"/>
                <a:ea typeface="Calibri" pitchFamily="34" charset="-122"/>
                <a:cs typeface="Calibri" pitchFamily="34" charset="-120"/>
              </a:rPr>
              <a:t>One actionless medium and countless real units, bound by saturation. A1 provisions activeness, recognition, and regulation; A2 supplies orientation toward completeness; typed complementarity and closure organize matter, biology, and the declared analogy of humane social order.</a:t>
            </a:r>
            <a:endParaRPr lang="en-US" sz="1500" dirty="0"/>
          </a:p>
        </p:txBody>
      </p:sp>
      <p:sp>
        <p:nvSpPr>
          <p:cNvPr id="19" name="Shape 17"/>
          <p:cNvSpPr/>
          <p:nvPr/>
        </p:nvSpPr>
        <p:spPr>
          <a:xfrm>
            <a:off x="822960" y="3794760"/>
            <a:ext cx="3429000" cy="1874520"/>
          </a:xfrm>
          <a:prstGeom prst="roundRect">
            <a:avLst>
              <a:gd name="adj" fmla="val 2927"/>
            </a:avLst>
          </a:prstGeom>
          <a:solidFill>
            <a:srgbClr val="232559"/>
          </a:solidFill>
          <a:ln w="12700">
            <a:solidFill>
              <a:srgbClr val="3A3E6E"/>
            </a:solidFill>
            <a:prstDash val="solid"/>
          </a:ln>
        </p:spPr>
      </p:sp>
      <p:sp>
        <p:nvSpPr>
          <p:cNvPr id="20" name="Shape 18"/>
          <p:cNvSpPr/>
          <p:nvPr/>
        </p:nvSpPr>
        <p:spPr>
          <a:xfrm>
            <a:off x="1078992" y="4023360"/>
            <a:ext cx="146304" cy="146304"/>
          </a:xfrm>
          <a:prstGeom prst="ellipse">
            <a:avLst/>
          </a:prstGeom>
          <a:solidFill>
            <a:srgbClr val="E3B857"/>
          </a:solidFill>
          <a:ln/>
        </p:spPr>
      </p:sp>
      <p:sp>
        <p:nvSpPr>
          <p:cNvPr id="21" name="Text 19"/>
          <p:cNvSpPr/>
          <p:nvPr/>
        </p:nvSpPr>
        <p:spPr>
          <a:xfrm>
            <a:off x="1325880" y="3950208"/>
            <a:ext cx="2788920" cy="502920"/>
          </a:xfrm>
          <a:prstGeom prst="rect">
            <a:avLst/>
          </a:prstGeom>
          <a:noFill/>
          <a:ln/>
        </p:spPr>
        <p:txBody>
          <a:bodyPr wrap="square" rtlCol="0" anchor="t"/>
          <a:lstStyle/>
          <a:p>
            <a:pPr indent="0" marL="0">
              <a:lnSpc>
                <a:spcPct val="95000"/>
              </a:lnSpc>
              <a:buNone/>
            </a:pPr>
            <a:r>
              <a:rPr lang="en-US" sz="1550" b="1" dirty="0">
                <a:solidFill>
                  <a:srgbClr val="E3B857"/>
                </a:solidFill>
                <a:latin typeface="Cambria" pitchFamily="34" charset="0"/>
                <a:ea typeface="Cambria" pitchFamily="34" charset="-122"/>
                <a:cs typeface="Cambria" pitchFamily="34" charset="-120"/>
              </a:rPr>
              <a:t>One schema, four orders</a:t>
            </a:r>
            <a:endParaRPr lang="en-US" sz="1550" dirty="0"/>
          </a:p>
        </p:txBody>
      </p:sp>
      <p:sp>
        <p:nvSpPr>
          <p:cNvPr id="22" name="Text 20"/>
          <p:cNvSpPr/>
          <p:nvPr/>
        </p:nvSpPr>
        <p:spPr>
          <a:xfrm>
            <a:off x="1078992" y="4572000"/>
            <a:ext cx="2971800" cy="1005840"/>
          </a:xfrm>
          <a:prstGeom prst="rect">
            <a:avLst/>
          </a:prstGeom>
          <a:noFill/>
          <a:ln/>
        </p:spPr>
        <p:txBody>
          <a:bodyPr wrap="square" rtlCol="0" anchor="t"/>
          <a:lstStyle/>
          <a:p>
            <a:pPr indent="0" marL="0">
              <a:lnSpc>
                <a:spcPct val="105000"/>
              </a:lnSpc>
              <a:buNone/>
            </a:pPr>
            <a:r>
              <a:rPr lang="en-US" sz="1200" dirty="0">
                <a:solidFill>
                  <a:srgbClr val="F2EEE3"/>
                </a:solidFill>
                <a:latin typeface="Calibri" pitchFamily="34" charset="0"/>
                <a:ea typeface="Calibri" pitchFamily="34" charset="-122"/>
                <a:cs typeface="Calibri" pitchFamily="34" charset="-120"/>
              </a:rPr>
              <a:t>Articulated, not extrapolated — the human case is the hardest instance of a universal structure.</a:t>
            </a:r>
            <a:endParaRPr lang="en-US" sz="1200" dirty="0"/>
          </a:p>
        </p:txBody>
      </p:sp>
      <p:sp>
        <p:nvSpPr>
          <p:cNvPr id="23" name="Shape 21"/>
          <p:cNvSpPr/>
          <p:nvPr/>
        </p:nvSpPr>
        <p:spPr>
          <a:xfrm>
            <a:off x="4425696" y="3794760"/>
            <a:ext cx="3429000" cy="1874520"/>
          </a:xfrm>
          <a:prstGeom prst="roundRect">
            <a:avLst>
              <a:gd name="adj" fmla="val 2927"/>
            </a:avLst>
          </a:prstGeom>
          <a:solidFill>
            <a:srgbClr val="232559"/>
          </a:solidFill>
          <a:ln w="12700">
            <a:solidFill>
              <a:srgbClr val="3A3E6E"/>
            </a:solidFill>
            <a:prstDash val="solid"/>
          </a:ln>
        </p:spPr>
      </p:sp>
      <p:sp>
        <p:nvSpPr>
          <p:cNvPr id="24" name="Shape 22"/>
          <p:cNvSpPr/>
          <p:nvPr/>
        </p:nvSpPr>
        <p:spPr>
          <a:xfrm>
            <a:off x="4681728" y="4023360"/>
            <a:ext cx="146304" cy="146304"/>
          </a:xfrm>
          <a:prstGeom prst="ellipse">
            <a:avLst/>
          </a:prstGeom>
          <a:solidFill>
            <a:srgbClr val="E3B857"/>
          </a:solidFill>
          <a:ln/>
        </p:spPr>
      </p:sp>
      <p:sp>
        <p:nvSpPr>
          <p:cNvPr id="25" name="Text 23"/>
          <p:cNvSpPr/>
          <p:nvPr/>
        </p:nvSpPr>
        <p:spPr>
          <a:xfrm>
            <a:off x="4928616" y="3950208"/>
            <a:ext cx="2788920" cy="502920"/>
          </a:xfrm>
          <a:prstGeom prst="rect">
            <a:avLst/>
          </a:prstGeom>
          <a:noFill/>
          <a:ln/>
        </p:spPr>
        <p:txBody>
          <a:bodyPr wrap="square" rtlCol="0" anchor="t"/>
          <a:lstStyle/>
          <a:p>
            <a:pPr indent="0" marL="0">
              <a:lnSpc>
                <a:spcPct val="95000"/>
              </a:lnSpc>
              <a:buNone/>
            </a:pPr>
            <a:r>
              <a:rPr lang="en-US" sz="1550" b="1" dirty="0">
                <a:solidFill>
                  <a:srgbClr val="E3B857"/>
                </a:solidFill>
                <a:latin typeface="Cambria" pitchFamily="34" charset="0"/>
                <a:ea typeface="Cambria" pitchFamily="34" charset="-122"/>
                <a:cs typeface="Cambria" pitchFamily="34" charset="-120"/>
              </a:rPr>
              <a:t>Sentience is a reflexive turn</a:t>
            </a:r>
            <a:endParaRPr lang="en-US" sz="1550" dirty="0"/>
          </a:p>
        </p:txBody>
      </p:sp>
      <p:sp>
        <p:nvSpPr>
          <p:cNvPr id="26" name="Text 24"/>
          <p:cNvSpPr/>
          <p:nvPr/>
        </p:nvSpPr>
        <p:spPr>
          <a:xfrm>
            <a:off x="4681728" y="4572000"/>
            <a:ext cx="2971800" cy="1005840"/>
          </a:xfrm>
          <a:prstGeom prst="rect">
            <a:avLst/>
          </a:prstGeom>
          <a:noFill/>
          <a:ln/>
        </p:spPr>
        <p:txBody>
          <a:bodyPr wrap="square" rtlCol="0" anchor="t"/>
          <a:lstStyle/>
          <a:p>
            <a:pPr indent="0" marL="0">
              <a:lnSpc>
                <a:spcPct val="105000"/>
              </a:lnSpc>
              <a:buNone/>
            </a:pPr>
            <a:r>
              <a:rPr lang="en-US" sz="1200" dirty="0">
                <a:solidFill>
                  <a:srgbClr val="F2EEE3"/>
                </a:solidFill>
                <a:latin typeface="Calibri" pitchFamily="34" charset="0"/>
                <a:ea typeface="Calibri" pitchFamily="34" charset="-122"/>
                <a:cs typeface="Calibri" pitchFamily="34" charset="-120"/>
              </a:rPr>
              <a:t>At constitutional completeness activity takes itself as object — the sole locus of evaluation, and of error.</a:t>
            </a:r>
            <a:endParaRPr lang="en-US" sz="1200" dirty="0"/>
          </a:p>
        </p:txBody>
      </p:sp>
      <p:sp>
        <p:nvSpPr>
          <p:cNvPr id="27" name="Shape 25"/>
          <p:cNvSpPr/>
          <p:nvPr/>
        </p:nvSpPr>
        <p:spPr>
          <a:xfrm>
            <a:off x="8028432" y="3794760"/>
            <a:ext cx="3429000" cy="1874520"/>
          </a:xfrm>
          <a:prstGeom prst="roundRect">
            <a:avLst>
              <a:gd name="adj" fmla="val 2927"/>
            </a:avLst>
          </a:prstGeom>
          <a:solidFill>
            <a:srgbClr val="232559"/>
          </a:solidFill>
          <a:ln w="12700">
            <a:solidFill>
              <a:srgbClr val="3A3E6E"/>
            </a:solidFill>
            <a:prstDash val="solid"/>
          </a:ln>
        </p:spPr>
      </p:sp>
      <p:sp>
        <p:nvSpPr>
          <p:cNvPr id="28" name="Shape 26"/>
          <p:cNvSpPr/>
          <p:nvPr/>
        </p:nvSpPr>
        <p:spPr>
          <a:xfrm>
            <a:off x="8284464" y="4023360"/>
            <a:ext cx="146304" cy="146304"/>
          </a:xfrm>
          <a:prstGeom prst="ellipse">
            <a:avLst/>
          </a:prstGeom>
          <a:solidFill>
            <a:srgbClr val="E3B857"/>
          </a:solidFill>
          <a:ln/>
        </p:spPr>
      </p:sp>
      <p:sp>
        <p:nvSpPr>
          <p:cNvPr id="29" name="Text 27"/>
          <p:cNvSpPr/>
          <p:nvPr/>
        </p:nvSpPr>
        <p:spPr>
          <a:xfrm>
            <a:off x="8531352" y="3950208"/>
            <a:ext cx="2788920" cy="502920"/>
          </a:xfrm>
          <a:prstGeom prst="rect">
            <a:avLst/>
          </a:prstGeom>
          <a:noFill/>
          <a:ln/>
        </p:spPr>
        <p:txBody>
          <a:bodyPr wrap="square" rtlCol="0" anchor="t"/>
          <a:lstStyle/>
          <a:p>
            <a:pPr indent="0" marL="0">
              <a:lnSpc>
                <a:spcPct val="95000"/>
              </a:lnSpc>
              <a:buNone/>
            </a:pPr>
            <a:r>
              <a:rPr lang="en-US" sz="1550" b="1" dirty="0">
                <a:solidFill>
                  <a:srgbClr val="E3B857"/>
                </a:solidFill>
                <a:latin typeface="Cambria" pitchFamily="34" charset="0"/>
                <a:ea typeface="Cambria" pitchFamily="34" charset="-122"/>
                <a:cs typeface="Cambria" pitchFamily="34" charset="-120"/>
              </a:rPr>
              <a:t>Honesty by construction</a:t>
            </a:r>
            <a:endParaRPr lang="en-US" sz="1550" dirty="0"/>
          </a:p>
        </p:txBody>
      </p:sp>
      <p:sp>
        <p:nvSpPr>
          <p:cNvPr id="30" name="Text 28"/>
          <p:cNvSpPr/>
          <p:nvPr/>
        </p:nvSpPr>
        <p:spPr>
          <a:xfrm>
            <a:off x="8284464" y="4572000"/>
            <a:ext cx="2971800" cy="1005840"/>
          </a:xfrm>
          <a:prstGeom prst="rect">
            <a:avLst/>
          </a:prstGeom>
          <a:noFill/>
          <a:ln/>
        </p:spPr>
        <p:txBody>
          <a:bodyPr wrap="square" rtlCol="0" anchor="t"/>
          <a:lstStyle/>
          <a:p>
            <a:pPr indent="0" marL="0">
              <a:lnSpc>
                <a:spcPct val="105000"/>
              </a:lnSpc>
              <a:buNone/>
            </a:pPr>
            <a:r>
              <a:rPr lang="en-US" sz="1200" dirty="0">
                <a:solidFill>
                  <a:srgbClr val="F2EEE3"/>
                </a:solidFill>
                <a:latin typeface="Calibri" pitchFamily="34" charset="0"/>
                <a:ea typeface="Calibri" pitchFamily="34" charset="-122"/>
                <a:cs typeface="Calibri" pitchFamily="34" charset="-120"/>
              </a:rPr>
              <a:t>Provenance × standing keeps analogy from masquerading as proof — a map of what depends on what.</a:t>
            </a:r>
            <a:endParaRPr lang="en-US" sz="1200" dirty="0"/>
          </a:p>
        </p:txBody>
      </p:sp>
      <p:sp>
        <p:nvSpPr>
          <p:cNvPr id="31" name="Text 29"/>
          <p:cNvSpPr/>
          <p:nvPr/>
        </p:nvSpPr>
        <p:spPr>
          <a:xfrm>
            <a:off x="822960" y="5897880"/>
            <a:ext cx="10424160" cy="457200"/>
          </a:xfrm>
          <a:prstGeom prst="rect">
            <a:avLst/>
          </a:prstGeom>
          <a:noFill/>
          <a:ln/>
        </p:spPr>
        <p:txBody>
          <a:bodyPr wrap="square" rtlCol="0" anchor="ctr"/>
          <a:lstStyle/>
          <a:p>
            <a:pPr algn="ctr" indent="0" marL="0">
              <a:buNone/>
            </a:pPr>
            <a:r>
              <a:rPr lang="en-US" sz="1250" i="1" dirty="0">
                <a:solidFill>
                  <a:srgbClr val="A7ACD0"/>
                </a:solidFill>
                <a:latin typeface="Calibri" pitchFamily="34" charset="0"/>
                <a:ea typeface="Calibri" pitchFamily="34" charset="-122"/>
                <a:cs typeface="Calibri" pitchFamily="34" charset="-120"/>
              </a:rPr>
              <a:t>Strongest when every claim keeps its provenance, role, and standing visible — especially where a mathematical analogy organizes an open posit without establishing it.</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183D"/>
        </a:solidFill>
      </p:bgPr>
    </p:bg>
    <p:spTree>
      <p:nvGrpSpPr>
        <p:cNvPr id="1" name=""/>
        <p:cNvGrpSpPr/>
        <p:nvPr/>
      </p:nvGrpSpPr>
      <p:grpSpPr>
        <a:xfrm>
          <a:off x="0" y="0"/>
          <a:ext cx="0" cy="0"/>
          <a:chOff x="0" y="0"/>
          <a:chExt cx="0" cy="0"/>
        </a:xfrm>
      </p:grpSpPr>
      <p:sp>
        <p:nvSpPr>
          <p:cNvPr id="2" name="Shape 0"/>
          <p:cNvSpPr/>
          <p:nvPr/>
        </p:nvSpPr>
        <p:spPr>
          <a:xfrm>
            <a:off x="822960" y="1097280"/>
            <a:ext cx="91440" cy="91440"/>
          </a:xfrm>
          <a:prstGeom prst="ellipse">
            <a:avLst/>
          </a:prstGeom>
          <a:solidFill>
            <a:srgbClr val="E3B857">
              <a:alpha val="65000"/>
            </a:srgbClr>
          </a:solidFill>
          <a:ln/>
        </p:spPr>
      </p:sp>
      <p:sp>
        <p:nvSpPr>
          <p:cNvPr id="3" name="Shape 1"/>
          <p:cNvSpPr/>
          <p:nvPr/>
        </p:nvSpPr>
        <p:spPr>
          <a:xfrm>
            <a:off x="1920240" y="3566160"/>
            <a:ext cx="54864" cy="54864"/>
          </a:xfrm>
          <a:prstGeom prst="ellipse">
            <a:avLst/>
          </a:prstGeom>
          <a:solidFill>
            <a:srgbClr val="E3B857">
              <a:alpha val="65000"/>
            </a:srgbClr>
          </a:solidFill>
          <a:ln/>
        </p:spPr>
      </p:sp>
      <p:sp>
        <p:nvSpPr>
          <p:cNvPr id="4" name="Shape 2"/>
          <p:cNvSpPr/>
          <p:nvPr/>
        </p:nvSpPr>
        <p:spPr>
          <a:xfrm>
            <a:off x="1371600" y="5303520"/>
            <a:ext cx="73152" cy="73152"/>
          </a:xfrm>
          <a:prstGeom prst="ellipse">
            <a:avLst/>
          </a:prstGeom>
          <a:solidFill>
            <a:srgbClr val="E3B857">
              <a:alpha val="65000"/>
            </a:srgbClr>
          </a:solidFill>
          <a:ln/>
        </p:spPr>
      </p:sp>
      <p:sp>
        <p:nvSpPr>
          <p:cNvPr id="5" name="Shape 3"/>
          <p:cNvSpPr/>
          <p:nvPr/>
        </p:nvSpPr>
        <p:spPr>
          <a:xfrm>
            <a:off x="3108960" y="1554480"/>
            <a:ext cx="45720" cy="45720"/>
          </a:xfrm>
          <a:prstGeom prst="ellipse">
            <a:avLst/>
          </a:prstGeom>
          <a:solidFill>
            <a:srgbClr val="E3B857">
              <a:alpha val="65000"/>
            </a:srgbClr>
          </a:solidFill>
          <a:ln/>
        </p:spPr>
      </p:sp>
      <p:sp>
        <p:nvSpPr>
          <p:cNvPr id="6" name="Shape 4"/>
          <p:cNvSpPr/>
          <p:nvPr/>
        </p:nvSpPr>
        <p:spPr>
          <a:xfrm>
            <a:off x="3840480" y="4754880"/>
            <a:ext cx="64008" cy="64008"/>
          </a:xfrm>
          <a:prstGeom prst="ellipse">
            <a:avLst/>
          </a:prstGeom>
          <a:solidFill>
            <a:srgbClr val="E3B857">
              <a:alpha val="65000"/>
            </a:srgbClr>
          </a:solidFill>
          <a:ln/>
        </p:spPr>
      </p:sp>
      <p:sp>
        <p:nvSpPr>
          <p:cNvPr id="7" name="Shape 5"/>
          <p:cNvSpPr/>
          <p:nvPr/>
        </p:nvSpPr>
        <p:spPr>
          <a:xfrm>
            <a:off x="10058400" y="1280160"/>
            <a:ext cx="82296" cy="82296"/>
          </a:xfrm>
          <a:prstGeom prst="ellipse">
            <a:avLst/>
          </a:prstGeom>
          <a:solidFill>
            <a:srgbClr val="E3B857">
              <a:alpha val="65000"/>
            </a:srgbClr>
          </a:solidFill>
          <a:ln/>
        </p:spPr>
      </p:sp>
      <p:sp>
        <p:nvSpPr>
          <p:cNvPr id="8" name="Shape 6"/>
          <p:cNvSpPr/>
          <p:nvPr/>
        </p:nvSpPr>
        <p:spPr>
          <a:xfrm>
            <a:off x="11247120" y="2834640"/>
            <a:ext cx="54864" cy="54864"/>
          </a:xfrm>
          <a:prstGeom prst="ellipse">
            <a:avLst/>
          </a:prstGeom>
          <a:solidFill>
            <a:srgbClr val="E3B857">
              <a:alpha val="65000"/>
            </a:srgbClr>
          </a:solidFill>
          <a:ln/>
        </p:spPr>
      </p:sp>
      <p:sp>
        <p:nvSpPr>
          <p:cNvPr id="9" name="Shape 7"/>
          <p:cNvSpPr/>
          <p:nvPr/>
        </p:nvSpPr>
        <p:spPr>
          <a:xfrm>
            <a:off x="9509760" y="5120640"/>
            <a:ext cx="64008" cy="64008"/>
          </a:xfrm>
          <a:prstGeom prst="ellipse">
            <a:avLst/>
          </a:prstGeom>
          <a:solidFill>
            <a:srgbClr val="E3B857">
              <a:alpha val="65000"/>
            </a:srgbClr>
          </a:solidFill>
          <a:ln/>
        </p:spPr>
      </p:sp>
      <p:sp>
        <p:nvSpPr>
          <p:cNvPr id="10" name="Shape 8"/>
          <p:cNvSpPr/>
          <p:nvPr/>
        </p:nvSpPr>
        <p:spPr>
          <a:xfrm>
            <a:off x="11521440" y="5486400"/>
            <a:ext cx="45720" cy="45720"/>
          </a:xfrm>
          <a:prstGeom prst="ellipse">
            <a:avLst/>
          </a:prstGeom>
          <a:solidFill>
            <a:srgbClr val="E3B857">
              <a:alpha val="65000"/>
            </a:srgbClr>
          </a:solidFill>
          <a:ln/>
        </p:spPr>
      </p:sp>
      <p:sp>
        <p:nvSpPr>
          <p:cNvPr id="11" name="Shape 9"/>
          <p:cNvSpPr/>
          <p:nvPr/>
        </p:nvSpPr>
        <p:spPr>
          <a:xfrm>
            <a:off x="10698480" y="4206240"/>
            <a:ext cx="91440" cy="91440"/>
          </a:xfrm>
          <a:prstGeom prst="ellipse">
            <a:avLst/>
          </a:prstGeom>
          <a:solidFill>
            <a:srgbClr val="E3B857">
              <a:alpha val="65000"/>
            </a:srgbClr>
          </a:solidFill>
          <a:ln/>
        </p:spPr>
      </p:sp>
      <p:sp>
        <p:nvSpPr>
          <p:cNvPr id="12" name="Shape 10"/>
          <p:cNvSpPr/>
          <p:nvPr/>
        </p:nvSpPr>
        <p:spPr>
          <a:xfrm>
            <a:off x="6035040" y="640080"/>
            <a:ext cx="45720" cy="45720"/>
          </a:xfrm>
          <a:prstGeom prst="ellipse">
            <a:avLst/>
          </a:prstGeom>
          <a:solidFill>
            <a:srgbClr val="E3B857">
              <a:alpha val="65000"/>
            </a:srgbClr>
          </a:solidFill>
          <a:ln/>
        </p:spPr>
      </p:sp>
      <p:sp>
        <p:nvSpPr>
          <p:cNvPr id="13" name="Shape 11"/>
          <p:cNvSpPr/>
          <p:nvPr/>
        </p:nvSpPr>
        <p:spPr>
          <a:xfrm>
            <a:off x="7132320" y="6126480"/>
            <a:ext cx="54864" cy="54864"/>
          </a:xfrm>
          <a:prstGeom prst="ellipse">
            <a:avLst/>
          </a:prstGeom>
          <a:solidFill>
            <a:srgbClr val="E3B857">
              <a:alpha val="65000"/>
            </a:srgbClr>
          </a:solidFill>
          <a:ln/>
        </p:spPr>
      </p:sp>
      <p:sp>
        <p:nvSpPr>
          <p:cNvPr id="14" name="Shape 12"/>
          <p:cNvSpPr/>
          <p:nvPr/>
        </p:nvSpPr>
        <p:spPr>
          <a:xfrm>
            <a:off x="8503920" y="822960"/>
            <a:ext cx="64008" cy="64008"/>
          </a:xfrm>
          <a:prstGeom prst="ellipse">
            <a:avLst/>
          </a:prstGeom>
          <a:solidFill>
            <a:srgbClr val="E3B857">
              <a:alpha val="65000"/>
            </a:srgbClr>
          </a:solidFill>
          <a:ln/>
        </p:spPr>
      </p:sp>
      <p:sp>
        <p:nvSpPr>
          <p:cNvPr id="15" name="Shape 13"/>
          <p:cNvSpPr/>
          <p:nvPr/>
        </p:nvSpPr>
        <p:spPr>
          <a:xfrm>
            <a:off x="4663440" y="6309360"/>
            <a:ext cx="45720" cy="45720"/>
          </a:xfrm>
          <a:prstGeom prst="ellipse">
            <a:avLst/>
          </a:prstGeom>
          <a:solidFill>
            <a:srgbClr val="E3B857">
              <a:alpha val="65000"/>
            </a:srgbClr>
          </a:solidFill>
          <a:ln/>
        </p:spPr>
      </p:sp>
      <p:sp>
        <p:nvSpPr>
          <p:cNvPr id="16" name="Text 14"/>
          <p:cNvSpPr/>
          <p:nvPr/>
        </p:nvSpPr>
        <p:spPr>
          <a:xfrm>
            <a:off x="822960" y="2194560"/>
            <a:ext cx="5486400" cy="365760"/>
          </a:xfrm>
          <a:prstGeom prst="rect">
            <a:avLst/>
          </a:prstGeom>
          <a:noFill/>
          <a:ln/>
        </p:spPr>
        <p:txBody>
          <a:bodyPr wrap="square" rtlCol="0" anchor="ctr"/>
          <a:lstStyle/>
          <a:p>
            <a:pPr indent="0" marL="0">
              <a:buNone/>
            </a:pPr>
            <a:r>
              <a:rPr lang="en-US" sz="1400" b="1" spc="500" kern="0" dirty="0">
                <a:solidFill>
                  <a:srgbClr val="E3B857"/>
                </a:solidFill>
                <a:latin typeface="Calibri" pitchFamily="34" charset="0"/>
                <a:ea typeface="Calibri" pitchFamily="34" charset="-122"/>
                <a:cs typeface="Calibri" pitchFamily="34" charset="-120"/>
              </a:rPr>
              <a:t>DISCUSSION</a:t>
            </a:r>
            <a:endParaRPr lang="en-US" sz="1400" dirty="0"/>
          </a:p>
        </p:txBody>
      </p:sp>
      <p:sp>
        <p:nvSpPr>
          <p:cNvPr id="17" name="Text 15"/>
          <p:cNvSpPr/>
          <p:nvPr/>
        </p:nvSpPr>
        <p:spPr>
          <a:xfrm>
            <a:off x="804672" y="2606040"/>
            <a:ext cx="10424160" cy="914400"/>
          </a:xfrm>
          <a:prstGeom prst="rect">
            <a:avLst/>
          </a:prstGeom>
          <a:noFill/>
          <a:ln/>
        </p:spPr>
        <p:txBody>
          <a:bodyPr wrap="square" rtlCol="0" anchor="ctr"/>
          <a:lstStyle/>
          <a:p>
            <a:pPr indent="0" marL="0">
              <a:buNone/>
            </a:pPr>
            <a:r>
              <a:rPr lang="en-US" sz="4000" b="1" dirty="0">
                <a:solidFill>
                  <a:srgbClr val="F2EEE3"/>
                </a:solidFill>
                <a:latin typeface="Cambria" pitchFamily="34" charset="0"/>
                <a:ea typeface="Cambria" pitchFamily="34" charset="-122"/>
                <a:cs typeface="Cambria" pitchFamily="34" charset="-120"/>
              </a:rPr>
              <a:t>Questions &amp; discussion</a:t>
            </a:r>
            <a:endParaRPr lang="en-US" sz="4000" dirty="0"/>
          </a:p>
        </p:txBody>
      </p:sp>
      <p:sp>
        <p:nvSpPr>
          <p:cNvPr id="18" name="Shape 16"/>
          <p:cNvSpPr/>
          <p:nvPr/>
        </p:nvSpPr>
        <p:spPr>
          <a:xfrm>
            <a:off x="841248" y="3703320"/>
            <a:ext cx="2377440" cy="0"/>
          </a:xfrm>
          <a:prstGeom prst="line">
            <a:avLst/>
          </a:prstGeom>
          <a:noFill/>
          <a:ln w="19050">
            <a:solidFill>
              <a:srgbClr val="E3B857"/>
            </a:solidFill>
            <a:prstDash val="solid"/>
          </a:ln>
        </p:spPr>
      </p:sp>
      <p:sp>
        <p:nvSpPr>
          <p:cNvPr id="19" name="Text 17"/>
          <p:cNvSpPr/>
          <p:nvPr/>
        </p:nvSpPr>
        <p:spPr>
          <a:xfrm>
            <a:off x="822960" y="3931920"/>
            <a:ext cx="9692640" cy="822960"/>
          </a:xfrm>
          <a:prstGeom prst="rect">
            <a:avLst/>
          </a:prstGeom>
          <a:noFill/>
          <a:ln/>
        </p:spPr>
        <p:txBody>
          <a:bodyPr wrap="square" rtlCol="0" anchor="ctr"/>
          <a:lstStyle/>
          <a:p>
            <a:pPr indent="0" marL="0">
              <a:lnSpc>
                <a:spcPct val="110000"/>
              </a:lnSpc>
              <a:buNone/>
            </a:pPr>
            <a:r>
              <a:rPr lang="en-US" sz="1500" dirty="0">
                <a:solidFill>
                  <a:srgbClr val="A7ACD0"/>
                </a:solidFill>
                <a:latin typeface="Calibri" pitchFamily="34" charset="0"/>
                <a:ea typeface="Calibri" pitchFamily="34" charset="-122"/>
                <a:cs typeface="Calibri" pitchFamily="34" charset="-120"/>
              </a:rPr>
              <a:t>Where would you like to push? — the reality of the medium, the teleology of A2, the sentience threshold, the society-gluing condition, or testability.</a:t>
            </a:r>
            <a:endParaRPr lang="en-US" sz="1500" dirty="0"/>
          </a:p>
        </p:txBody>
      </p:sp>
      <p:sp>
        <p:nvSpPr>
          <p:cNvPr id="20" name="Text 18"/>
          <p:cNvSpPr/>
          <p:nvPr/>
        </p:nvSpPr>
        <p:spPr>
          <a:xfrm>
            <a:off x="822960" y="6035040"/>
            <a:ext cx="10515600" cy="320040"/>
          </a:xfrm>
          <a:prstGeom prst="rect">
            <a:avLst/>
          </a:prstGeom>
          <a:noFill/>
          <a:ln/>
        </p:spPr>
        <p:txBody>
          <a:bodyPr wrap="square" rtlCol="0" anchor="ctr"/>
          <a:lstStyle/>
          <a:p>
            <a:pPr indent="0" marL="0">
              <a:buNone/>
            </a:pPr>
            <a:r>
              <a:rPr lang="en-US" sz="1100" dirty="0">
                <a:solidFill>
                  <a:srgbClr val="A7ACD0"/>
                </a:solidFill>
                <a:latin typeface="Calibri" pitchFamily="34" charset="0"/>
                <a:ea typeface="Calibri" pitchFamily="34" charset="-122"/>
                <a:cs typeface="Calibri" pitchFamily="34" charset="-120"/>
              </a:rPr>
              <a:t>AnalyticMadhyasthDarshan.org  ·  Coexistence From First Principles (Draft,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2026-07-13T07:49:01Z</dcterms:created>
  <dcterms:modified xsi:type="dcterms:W3CDTF">2026-07-13T07:49:01Z</dcterms:modified>
</cp:coreProperties>
</file>