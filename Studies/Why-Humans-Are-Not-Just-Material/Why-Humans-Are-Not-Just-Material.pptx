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61e9c4752d43c7" /><Relationship Type="http://schemas.openxmlformats.org/officeDocument/2006/relationships/extended-properties" Target="/docProps/app.xml" Id="Rd0dd30a5cd9d4d22" /><Relationship Type="http://schemas.openxmlformats.org/officeDocument/2006/relationships/officeDocument" Target="/ppt/presentation.xml" Id="Rd64cd2554fd14bed" /></Relationships>
</file>

<file path=ppt/presentation.xml><?xml version="1.0" encoding="utf-8"?>
<p:presentation xmlns:p="http://schemas.openxmlformats.org/presentationml/2006/main">
  <p:sldMasterIdLst>
    <p:sldMasterId xmlns:r="http://schemas.openxmlformats.org/officeDocument/2006/relationships" id="2147483648" r:id="R2fa9d1eeec7942ca"/>
  </p:sldMasterIdLst>
  <p:notesMasterIdLst>
    <p:notesMasterId xmlns:r="http://schemas.openxmlformats.org/officeDocument/2006/relationships" r:id="Reb5cbde876594e4b"/>
  </p:notesMasterIdLst>
  <p:sldIdLst>
    <p:sldId xmlns:r="http://schemas.openxmlformats.org/officeDocument/2006/relationships" id="256" r:id="R6cc567e189ca4888"/>
    <p:sldId xmlns:r="http://schemas.openxmlformats.org/officeDocument/2006/relationships" id="257" r:id="R260ffa3e65824cba"/>
    <p:sldId xmlns:r="http://schemas.openxmlformats.org/officeDocument/2006/relationships" id="258" r:id="Rbf27793d33c541e5"/>
    <p:sldId xmlns:r="http://schemas.openxmlformats.org/officeDocument/2006/relationships" id="259" r:id="R6a6d53fab529485f"/>
    <p:sldId xmlns:r="http://schemas.openxmlformats.org/officeDocument/2006/relationships" id="260" r:id="Rd8d70905973a4e10"/>
    <p:sldId xmlns:r="http://schemas.openxmlformats.org/officeDocument/2006/relationships" id="261" r:id="Rcdbeb37bed4046dc"/>
    <p:sldId xmlns:r="http://schemas.openxmlformats.org/officeDocument/2006/relationships" id="262" r:id="Rc674a5af32e44ca0"/>
    <p:sldId xmlns:r="http://schemas.openxmlformats.org/officeDocument/2006/relationships" id="263" r:id="R469d39412f504a2a"/>
    <p:sldId xmlns:r="http://schemas.openxmlformats.org/officeDocument/2006/relationships" id="264" r:id="R8b5cef126dfb4910"/>
    <p:sldId xmlns:r="http://schemas.openxmlformats.org/officeDocument/2006/relationships" id="265" r:id="R2e0f587d4e304672"/>
    <p:sldId xmlns:r="http://schemas.openxmlformats.org/officeDocument/2006/relationships" id="266" r:id="R403c16e972254c46"/>
    <p:sldId xmlns:r="http://schemas.openxmlformats.org/officeDocument/2006/relationships" id="267" r:id="R30bc1274c24847bf"/>
    <p:sldId xmlns:r="http://schemas.openxmlformats.org/officeDocument/2006/relationships" id="268" r:id="R54d440ec340c4c79"/>
    <p:sldId xmlns:r="http://schemas.openxmlformats.org/officeDocument/2006/relationships" id="269" r:id="R2b5c1557bca240af"/>
    <p:sldId xmlns:r="http://schemas.openxmlformats.org/officeDocument/2006/relationships" id="270" r:id="R7ecc506d5adf496d"/>
    <p:sldId xmlns:r="http://schemas.openxmlformats.org/officeDocument/2006/relationships" id="271" r:id="Rd46bcd89cdc44ef4"/>
    <p:sldId xmlns:r="http://schemas.openxmlformats.org/officeDocument/2006/relationships" id="272" r:id="Rbf60e6f92b164f8b"/>
    <p:sldId xmlns:r="http://schemas.openxmlformats.org/officeDocument/2006/relationships" id="273" r:id="Ra495a86748df40ea"/>
    <p:sldId xmlns:r="http://schemas.openxmlformats.org/officeDocument/2006/relationships" id="274" r:id="Rf9d5b2b90cb94ed6"/>
    <p:sldId xmlns:r="http://schemas.openxmlformats.org/officeDocument/2006/relationships" id="275" r:id="R97069bd4ece54f0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01cab5e356cd42e9" /><Relationship Type="http://schemas.openxmlformats.org/officeDocument/2006/relationships/slideMaster" Target="/ppt/slideMasters/slideMaster1.xml" Id="R2fa9d1eeec7942ca" /><Relationship Type="http://schemas.openxmlformats.org/officeDocument/2006/relationships/notesMaster" Target="/ppt/notesMasters/notesMaster1.xml" Id="Reb5cbde876594e4b" /><Relationship Type="http://schemas.openxmlformats.org/officeDocument/2006/relationships/presProps" Target="/ppt/presProps.xml" Id="R471bef65876e489f" /><Relationship Type="http://schemas.openxmlformats.org/officeDocument/2006/relationships/viewProps" Target="/ppt/viewProps.xml" Id="Rae8d4214556c45ac" /><Relationship Type="http://schemas.openxmlformats.org/officeDocument/2006/relationships/tableStyles" Target="/ppt/tableStyles.xml" Id="Rb893e7beda314264" /><Relationship Type="http://schemas.openxmlformats.org/officeDocument/2006/relationships/slide" Target="/ppt/slides/slide1.xml" Id="R6cc567e189ca4888" /><Relationship Type="http://schemas.openxmlformats.org/officeDocument/2006/relationships/slide" Target="/ppt/slides/slide2.xml" Id="R260ffa3e65824cba" /><Relationship Type="http://schemas.openxmlformats.org/officeDocument/2006/relationships/slide" Target="/ppt/slides/slide3.xml" Id="Rbf27793d33c541e5" /><Relationship Type="http://schemas.openxmlformats.org/officeDocument/2006/relationships/slide" Target="/ppt/slides/slide4.xml" Id="R6a6d53fab529485f" /><Relationship Type="http://schemas.openxmlformats.org/officeDocument/2006/relationships/slide" Target="/ppt/slides/slide5.xml" Id="Rd8d70905973a4e10" /><Relationship Type="http://schemas.openxmlformats.org/officeDocument/2006/relationships/slide" Target="/ppt/slides/slide6.xml" Id="Rcdbeb37bed4046dc" /><Relationship Type="http://schemas.openxmlformats.org/officeDocument/2006/relationships/slide" Target="/ppt/slides/slide7.xml" Id="Rc674a5af32e44ca0" /><Relationship Type="http://schemas.openxmlformats.org/officeDocument/2006/relationships/slide" Target="/ppt/slides/slide8.xml" Id="R469d39412f504a2a" /><Relationship Type="http://schemas.openxmlformats.org/officeDocument/2006/relationships/slide" Target="/ppt/slides/slide9.xml" Id="R8b5cef126dfb4910" /><Relationship Type="http://schemas.openxmlformats.org/officeDocument/2006/relationships/slide" Target="/ppt/slides/slide10.xml" Id="R2e0f587d4e304672" /><Relationship Type="http://schemas.openxmlformats.org/officeDocument/2006/relationships/slide" Target="/ppt/slides/slide11.xml" Id="R403c16e972254c46" /><Relationship Type="http://schemas.openxmlformats.org/officeDocument/2006/relationships/slide" Target="/ppt/slides/slide12.xml" Id="R30bc1274c24847bf" /><Relationship Type="http://schemas.openxmlformats.org/officeDocument/2006/relationships/slide" Target="/ppt/slides/slide13.xml" Id="R54d440ec340c4c79" /><Relationship Type="http://schemas.openxmlformats.org/officeDocument/2006/relationships/slide" Target="/ppt/slides/slide14.xml" Id="R2b5c1557bca240af" /><Relationship Type="http://schemas.openxmlformats.org/officeDocument/2006/relationships/slide" Target="/ppt/slides/slide15.xml" Id="R7ecc506d5adf496d" /><Relationship Type="http://schemas.openxmlformats.org/officeDocument/2006/relationships/slide" Target="/ppt/slides/slide16.xml" Id="Rd46bcd89cdc44ef4" /><Relationship Type="http://schemas.openxmlformats.org/officeDocument/2006/relationships/slide" Target="/ppt/slides/slide17.xml" Id="Rbf60e6f92b164f8b" /><Relationship Type="http://schemas.openxmlformats.org/officeDocument/2006/relationships/slide" Target="/ppt/slides/slide18.xml" Id="Ra495a86748df40ea" /><Relationship Type="http://schemas.openxmlformats.org/officeDocument/2006/relationships/slide" Target="/ppt/slides/slide19.xml" Id="Rf9d5b2b90cb94ed6" /><Relationship Type="http://schemas.openxmlformats.org/officeDocument/2006/relationships/slide" Target="/ppt/slides/slide20.xml" Id="R97069bd4ece54f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bddcf158c24e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ef02065f3142c3" /><Relationship Type="http://schemas.openxmlformats.org/officeDocument/2006/relationships/notesMaster" Target="/ppt/notesMasters/notesMaster1.xml" Id="Re3890dc969ed49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f2dd8ea7ec947e5" /><Relationship Type="http://schemas.openxmlformats.org/officeDocument/2006/relationships/notesMaster" Target="/ppt/notesMasters/notesMaster1.xml" Id="R344b770e9c2646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a16e1eb97141ec" /><Relationship Type="http://schemas.openxmlformats.org/officeDocument/2006/relationships/notesMaster" Target="/ppt/notesMasters/notesMaster1.xml" Id="Reef5c07d6b4443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860cd62e6c7458c" /><Relationship Type="http://schemas.openxmlformats.org/officeDocument/2006/relationships/notesMaster" Target="/ppt/notesMasters/notesMaster1.xml" Id="R4f6d40f2321041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eb7d0f70f24138" /><Relationship Type="http://schemas.openxmlformats.org/officeDocument/2006/relationships/notesMaster" Target="/ppt/notesMasters/notesMaster1.xml" Id="Rf9725f61ffcb48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77e8d3e5304346" /><Relationship Type="http://schemas.openxmlformats.org/officeDocument/2006/relationships/notesMaster" Target="/ppt/notesMasters/notesMaster1.xml" Id="R59ea34a11fd440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5086bb73fa45af" /><Relationship Type="http://schemas.openxmlformats.org/officeDocument/2006/relationships/notesMaster" Target="/ppt/notesMasters/notesMaster1.xml" Id="Rae95fc29413f492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8197ff8894452b" /><Relationship Type="http://schemas.openxmlformats.org/officeDocument/2006/relationships/notesMaster" Target="/ppt/notesMasters/notesMaster1.xml" Id="Rb5404a1c92f249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0adfa16afeb74fe8" /><Relationship Type="http://schemas.openxmlformats.org/officeDocument/2006/relationships/notesMaster" Target="/ppt/notesMasters/notesMaster1.xml" Id="R87ff338c6d8e49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3658bd9270497e" /><Relationship Type="http://schemas.openxmlformats.org/officeDocument/2006/relationships/notesMaster" Target="/ppt/notesMasters/notesMaster1.xml" Id="Rb1a7fa6177b047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a96cbfa9774212" /><Relationship Type="http://schemas.openxmlformats.org/officeDocument/2006/relationships/notesMaster" Target="/ppt/notesMasters/notesMaster1.xml" Id="R19952ba1af444db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654de0a48bd4e19" /><Relationship Type="http://schemas.openxmlformats.org/officeDocument/2006/relationships/notesMaster" Target="/ppt/notesMasters/notesMaster1.xml" Id="Rd3e98e83dc264da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a1a4faee9b4e3b" /><Relationship Type="http://schemas.openxmlformats.org/officeDocument/2006/relationships/notesMaster" Target="/ppt/notesMasters/notesMaster1.xml" Id="R9a3be3ea10e848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422a691bb6450d" /><Relationship Type="http://schemas.openxmlformats.org/officeDocument/2006/relationships/notesMaster" Target="/ppt/notesMasters/notesMaster1.xml" Id="R1a2f7487c18141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a05cc5ae9d94d91" /><Relationship Type="http://schemas.openxmlformats.org/officeDocument/2006/relationships/notesMaster" Target="/ppt/notesMasters/notesMaster1.xml" Id="Re8f99373e73146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2381e971f540c8" /><Relationship Type="http://schemas.openxmlformats.org/officeDocument/2006/relationships/notesMaster" Target="/ppt/notesMasters/notesMaster1.xml" Id="R0654d1a5b9ab47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5ef005ca6a4a22" /><Relationship Type="http://schemas.openxmlformats.org/officeDocument/2006/relationships/notesMaster" Target="/ppt/notesMasters/notesMaster1.xml" Id="Rd975a9274f4d46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87fd4e683b54c9d" /><Relationship Type="http://schemas.openxmlformats.org/officeDocument/2006/relationships/notesMaster" Target="/ppt/notesMasters/notesMaster1.xml" Id="R3b53e818e3ce4ac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80a9ee96f064353" /><Relationship Type="http://schemas.openxmlformats.org/officeDocument/2006/relationships/notesMaster" Target="/ppt/notesMasters/notesMaster1.xml" Id="R731a340a7a9849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2267f136b8a4d4a" /><Relationship Type="http://schemas.openxmlformats.org/officeDocument/2006/relationships/notesMaster" Target="/ppt/notesMasters/notesMaster1.xml" Id="R332e0583fb584ef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deck follows the study “Why Humans Are Not Just Material.” Its title expresses the affirmative case being developed: human experience deserves a fuller account than a description of bodily mechanisms alone. The study is open to what inquiry may establish. The further claim that experience requires a distinct, enduring jeevan is the Madhyasth proposal to examine, not a result already demonstrated by the title.</a:t>
            </a:r>
          </a:p>
          <a:p xmlns:a="http://schemas.openxmlformats.org/drawingml/2006/main">
            <a:r>
              <a:t/>
            </a:r>
          </a:p>
          <a:p xmlns:a="http://schemas.openxmlformats.org/drawingml/2006/main">
            <a:r>
              <a:t>The comparison separates scientific findings from physicalist interpretations of those findings. Madhyasth Darshan, physicalism, and Advaita offer different accounts of the person; scientific methods supply evidence relevant to all of them. The shared approach is to understand each account in its own terms, reason from experience, and ask what can be independently checked. See the study introduction and “How we work” on the Studies landing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question concerns more than the chemistry of a body. It concerns felt experience, a continuing sense of self, the force of reasons, and the aspiration to live well with others. We should first understand why these require explanation, then examine what follows about their bearer.</a:t>
            </a:r>
          </a:p>
          <a:p xmlns:a="http://schemas.openxmlformats.org/drawingml/2006/main">
            <a:r>
              <a:t/>
            </a:r>
          </a:p>
          <a:p xmlns:a="http://schemas.openxmlformats.org/drawingml/2006/main">
            <a:r>
              <a:t>Physicalism holds that the embodied person is wholly physical. It can retain psychological, social, and ethical explanations without claiming that every useful explanation can be rewritten in the language of physics. Science itself is a collection of methods and findings; it does not simply stipulate this metaphysics. Madhyasth Darshan affirms a material body in joint form with a distinct sentient unit. Advaita distinguishes the empirical person from the ultimate nondual Self. These are substantive differences, including different commitments about individuality, the world, and death. See study §§1.1, 2.1, 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sequence begins with experience so that the question stays connected to what needs explaining. Bodily satisfaction, personal fulfilment, selfhood, and moral life are the shared subjects of inquiry. Their presence is not yet a proof of any particular ontology.</a:t>
            </a:r>
          </a:p>
          <a:p xmlns:a="http://schemas.openxmlformats.org/drawingml/2006/main">
            <a:r>
              <a:t/>
            </a:r>
          </a:p>
          <a:p xmlns:a="http://schemas.openxmlformats.org/drawingml/2006/main">
            <a:r>
              <a:t>We then examine the Madhyasth account in connected form, follow the scientific evidence and physicalist response, and consider Advaita's different use of experience and testimony. The later comparison develops the strongest affirmative arguments from experience, unity, and reasons while considering physicalist replies. The final test is what each argument establishes, which claims go further, and what evidence could change the assessment. This follows the study's approach rather than asking the audience to accept its conclusion in advance.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draws attention to a difference between satisfying bodily needs and finding fulfilment through understanding, trust, and justice. Its claim about continuous happiness is not the claim that people always seek ever more possessions. Accumulation can express an unsuccessful attempt to satisfy a continuing aspiration.</a:t>
            </a:r>
          </a:p>
          <a:p xmlns:a="http://schemas.openxmlformats.org/drawingml/2006/main">
            <a:r>
              <a:t/>
            </a:r>
          </a:p>
          <a:p xmlns:a="http://schemas.openxmlformats.org/drawingml/2006/main">
            <a:r>
              <a:t>The experienced distinction between “I” and “my body” raises a question about the self. A continuing person through sleep does not automatically mean uninterrupted reportable experience. Likewise, the source's proposal of an inherent orientation to justice needs to be distinguished from what developmental experiments measure. Early attention to social actions is narrower than understanding justice, and neither by itself identifies jeevan.</a:t>
            </a:r>
          </a:p>
          <a:p xmlns:a="http://schemas.openxmlformats.org/drawingml/2006/main">
            <a:r>
              <a:t/>
            </a:r>
          </a:p>
          <a:p xmlns:a="http://schemas.openxmlformats.org/drawingml/2006/main">
            <a:r>
              <a:t>Sources: Samadhanatmak Bhautikvad (SB), PDF pp. 15 and 91–92; Jeevan Vidya—An Introduction (JV), printed pp. 24–27 (PDF positions 25–28). Study §1.2 supplies the connected account; §§2.2 and 4 examine alternative explanations and the further argument.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show why the evidence must enter the argument in detail. Lockwood and colleagues studied 25 people with damage to the ventromedial prefrontal cortex alongside lesion and healthy comparison groups. Willingness to exert effort for others was reduced selectively. This is evidence about a component of prosocial motivation, not the disappearance of all value or moral judgement. Lyu and colleagues found that stimulation of the anterior precuneus could alter bodily self-experience in nine patients. Such selective changes constrain a body–jeevan account as well as a physicalist one.</a:t>
            </a:r>
          </a:p>
          <a:p xmlns:a="http://schemas.openxmlformats.org/drawingml/2006/main">
            <a:r>
              <a:t/>
            </a:r>
          </a:p>
          <a:p xmlns:a="http://schemas.openxmlformats.org/drawingml/2006/main">
            <a:r>
              <a:t>Formal models of learning and active inference offer possible accounts of ongoing goals. They do not establish that all aspirations to lasting happiness have been explained. Geraci and colleagues found a preference for prosocial actions in newborn looking behaviour; the large ManyBabies study reported no reliable helper preference in older infants on a different task. The latter is not a direct replication of the newborn study. Neither finding establishes an entire moral doctrine at birth.</a:t>
            </a:r>
          </a:p>
          <a:p xmlns:a="http://schemas.openxmlformats.org/drawingml/2006/main">
            <a:r>
              <a:t/>
            </a:r>
          </a:p>
          <a:p xmlns:a="http://schemas.openxmlformats.org/drawingml/2006/main">
            <a:r>
              <a:t>Sources: Lockwood et al. (2024), https://www.nature.com/articles/s41562-024-01899-4 ; Lyu et al. (2023), https://doi.org/10.1016/j.neuron.2023.05.013 ; Friston et al. (2015), https://doi.org/10.1080/17588928.2015.1020053 ; Geraci et al. (2025), https://www.nature.com/articles/s41467-025-61517-3 ; Lucca et al. (2025), https://doi.org/10.1111/desc.13581 . See study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Advaita asks the inquirer to distinguish what is witnessed from the witness. The body, thoughts, desires, and the sense of an individual ego can all become objects of awareness. Within the tradition, this inquiry is joined with Upanishadic teaching, reasoning, and contemplative discipline. It is not simply a psychological exercise that independently demonstrates Brahman.</a:t>
            </a:r>
          </a:p>
          <a:p xmlns:a="http://schemas.openxmlformats.org/drawingml/2006/main">
            <a:r>
              <a:t/>
            </a:r>
          </a:p>
          <a:p xmlns:a="http://schemas.openxmlformats.org/drawingml/2006/main">
            <a:r>
              <a:t>Its treatment of waking, dream, and deep sleep is a philosophical interpretation of the states. A later report that nothing was remembered does not independently establish either continuous awareness or its absence throughout sleep. Nor does the use of five koshas establish agreement with Madhyasth Darshan. Both accounts use that vocabulary, but assign the layers different functions and roles in liberation or awakening. Describing how Advaita would assess jeevan is our comparison; the classical texts are not directly commenting on Nagraj's theory.</a:t>
            </a:r>
          </a:p>
          <a:p xmlns:a="http://schemas.openxmlformats.org/drawingml/2006/main">
            <a:r>
              <a:t/>
            </a:r>
          </a:p>
          <a:p xmlns:a="http://schemas.openxmlformats.org/drawingml/2006/main">
            <a:r>
              <a:t>Sources: Drig-Drishya-Viveka vv. 1–5; Brihadaranyaka Upanishad 2.3.6 and 2.4.5; Mandukya Upanishad vv. 3–7; Taittiriya Upanishad 2.1–2.5. See study §§3.2–3.4 and Editorial Notes on textual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places the human within a real coexistence of physical, chemical, and jeevan units in Omnipresence. The human body and jeevan form a temporary joint form. The body composes and decomposes; jeevan is said to retain its constitution and capacity for sentience. Sensation and action occur through the embodied joint form, while understanding and evaluation are attributed to jeevan.</a:t>
            </a:r>
          </a:p>
          <a:p xmlns:a="http://schemas.openxmlformats.org/drawingml/2006/main">
            <a:r>
              <a:t/>
            </a:r>
          </a:p>
          <a:p xmlns:a="http://schemas.openxmlformats.org/drawingml/2006/main">
            <a:r>
              <a:t>This is an affirmative account with commitments of its own, including atomic completion, coordination with a body, and continued existence after bodily death. The claim should be understood as a whole before it is tested. Calling it a sentient atom does not by itself identify it with an atom as defined and measured in present physics. Jeevan Vidya expressly calls jeevan neither physical nor non-physical, but a constitutionally complete sentient atom.</a:t>
            </a:r>
          </a:p>
          <a:p xmlns:a="http://schemas.openxmlformats.org/drawingml/2006/main">
            <a:r>
              <a:t/>
            </a:r>
          </a:p>
          <a:p xmlns:a="http://schemas.openxmlformats.org/drawingml/2006/main">
            <a:r>
              <a:t>Sources: Madhyasth Darshan Vangmaya (MVD), The Alternative, point 7, printed p. 5 (PDF position 5), for the displayed quotation; JV, printed p. 36 (PDF position 37). See study §§1.1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orders are distinguished by their characteristic activities and conduct. Material formations compose and decompose. Biological formations grow and reproduce. Animal life is described as a joint form of body and jeevan, with sensitivity and a hope to live. The knowledge order is the human joint form, capable of understanding existence and expressing that understanding in responsible conduct.</a:t>
            </a:r>
          </a:p>
          <a:p xmlns:a="http://schemas.openxmlformats.org/drawingml/2006/main">
            <a:r>
              <a:t/>
            </a:r>
          </a:p>
          <a:p xmlns:a="http://schemas.openxmlformats.org/drawingml/2006/main">
            <a:r>
              <a:t>The classification is not a claim that four substances are stacked inside the human. Nor is the order sequence by itself a measured evolutionary explanation of how jeevan first appears. Compositional development of bodies and constitutional development of an atom do different work in the account. The human brain is the bodily medium for the expression of understanding; knowledge here must not be confused with a newly acquired capacity for any sentience at all.</a:t>
            </a:r>
          </a:p>
          <a:p xmlns:a="http://schemas.openxmlformats.org/drawingml/2006/main">
            <a:r>
              <a:t/>
            </a:r>
          </a:p>
          <a:p xmlns:a="http://schemas.openxmlformats.org/drawingml/2006/main">
            <a:r>
              <a:t>Sources: SB, PDF pp. 179–180; MVD, printed pp. 91 and 115–116 (same PDF positions). See study §§1.3.1 and 1.3.4.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is a compact paraphrase of the proposed transition, not a measured physical sequence. An evolving atom exchanges particles. At constitutional completion the source describes a closed constitution, freedom from weight and molecular bondage, and an irreversible change to sentience. Jeevan continues as that constitutionally complete unit. The source also attributes its persistence beyond the death of a body.</a:t>
            </a:r>
          </a:p>
          <a:p xmlns:a="http://schemas.openxmlformats.org/drawingml/2006/main">
            <a:r>
              <a:t/>
            </a:r>
          </a:p>
          <a:p xmlns:a="http://schemas.openxmlformats.org/drawingml/2006/main">
            <a:r>
              <a:t>The presentation does not add an explanation in which latent sentience becomes actual, or assert that an unembodied jeevan is inactive. Those additions do not resolve the transition described in the texts. Freedom from weight bondage has not been operationally identified with zero rest mass. The source's 122 activities in paired faculty groups also do not by themselves establish a 61-particle constitution. Atomic constitution, persistence, and its coordination with a brain each require a way to distinguish the proposal from alternative accounts. Study §5 sets out those evidential requirements.</a:t>
            </a:r>
          </a:p>
          <a:p xmlns:a="http://schemas.openxmlformats.org/drawingml/2006/main">
            <a:r>
              <a:t/>
            </a:r>
          </a:p>
          <a:p xmlns:a="http://schemas.openxmlformats.org/drawingml/2006/main">
            <a:r>
              <a:t>Sources: MVD, printed pp. 78, 91 and 323 (same PDF positions); JV, printed pp. 19, 36–37 and 54 (PDF positions 20, 37–38 and 55). Related study The Ontology of Coexistence §6.2.1 discusses public identification, §6.2.2 persistence and the joint form, and §6.2.3 evidence and evolution.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different roles are part of the Madhyasth account: they illustrate why it distinguishes body and jeevan. Different functions do not logically require separate entities. A single organised system can support different functions, so that inference would need further premises and evidence.</a:t>
            </a:r>
          </a:p>
          <a:p xmlns:a="http://schemas.openxmlformats.org/drawingml/2006/main">
            <a:r>
              <a:t/>
            </a:r>
          </a:p>
          <a:p xmlns:a="http://schemas.openxmlformats.org/drawingml/2006/main">
            <a:r>
              <a:t>Sensitivity belongs to the joint form. Jeevan Vidya says a constructed human body without jeevan cannot evidence sensitivity, let alone conscience. It would therefore misstate this account to assign felt sensitivity to the body alone and reserve jeevan only for reflective understanding. The body provides the organs and neural medium; jeevan is the sentient participant. MVD speaks of the brain's receiving signals from hopes, thoughts, desires, resoluteness, and authenticity. These descriptions specify roles while leaving the measurable relation to neural activity unresolved.</a:t>
            </a:r>
          </a:p>
          <a:p xmlns:a="http://schemas.openxmlformats.org/drawingml/2006/main">
            <a:r>
              <a:t/>
            </a:r>
          </a:p>
          <a:p xmlns:a="http://schemas.openxmlformats.org/drawingml/2006/main">
            <a:r>
              <a:t>The five koshas are not a one-to-one match with Advaita's sheaths; their functions and philosophical use differ. Sources: SB, chapter 7, PDF p. 92, for the displayed quotation (a sentence fragment capitalised at the start); JV, printed p. 37 (PDF position 38); MVD, printed pp. 49–50 and 83–84 (same PDF positions). See study §§1.3.3–1.3.5.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Physicalism interprets mental life as the activity of an embodied organism. The scientific findings strongly support dependence on brain organisation; the further claim that no distinct sentient unit exists is philosophical. Scientific method does not begin by disproving every alternative ontology. The questions here ask the Madhyasth account to connect its classifications and proposed unit to evidence.</a:t>
            </a:r>
          </a:p>
          <a:p xmlns:a="http://schemas.openxmlformats.org/drawingml/2006/main">
            <a:r>
              <a:t/>
            </a:r>
          </a:p>
          <a:p xmlns:a="http://schemas.openxmlformats.org/drawingml/2006/main">
            <a:r>
              <a:t>Unresponsiveness must be interpreted carefully. Bodien and colleagues detected command-following through EEG or fMRI in 60 of 241 participants who showed no observable command response in a selected clinical sample. This is evidence of covert cognitive capacity through measured brain activity, not evidence of cognition without a functioning brain; it is not a general population prevalence estimate. The DREAM database gathers 2,643 awakenings from 505 participants across 20 datasets. Reports about sleep must distinguish absence of recalled experience from demonstrated absence of experience. Reversible arrest and absent responsiveness also differ from irreversible brain destruction.</a:t>
            </a:r>
          </a:p>
          <a:p xmlns:a="http://schemas.openxmlformats.org/drawingml/2006/main">
            <a:r>
              <a:t/>
            </a:r>
          </a:p>
          <a:p xmlns:a="http://schemas.openxmlformats.org/drawingml/2006/main">
            <a:r>
              <a:t>Sources: Bodien et al. (2024), https://www.nejm.org/doi/full/10.1056/NEJMoa2400645 ; Wong et al. (2025), https://www.nature.com/articles/s41467-025-61945-1 . See study §§2.3–2.4.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sources describe coordination through signals, but the study has no measured model of those signals. Calling the relation a joint form does not specify how a difference in jeevan produces a difference in neural activity. A useful account must relate its proposed states to observable bodily effects and say how its predictions differ from those of an embodied neural account.</a:t>
            </a:r>
          </a:p>
          <a:p xmlns:a="http://schemas.openxmlformats.org/drawingml/2006/main">
            <a:r>
              <a:t/>
            </a:r>
          </a:p>
          <a:p xmlns:a="http://schemas.openxmlformats.org/drawingml/2006/main">
            <a:r>
              <a:t>The causal exclusion challenge is conditional. It becomes sharp if bodily effects already have sufficient physical causes, jeevan supplies a distinct sufficient cause, and systematic causal overdetermination is excluded. A defender can contest one of those premises, but should state which one. Energy conservation alone does not establish that every bodily event has a sufficient physical cause. Conversely, not forming chemical bonds would not imply that an entity cannot interact at all. The physical meaning of the source terms needs to be specified before they can be tested as claims about mass or coupling.</a:t>
            </a:r>
          </a:p>
          <a:p xmlns:a="http://schemas.openxmlformats.org/drawingml/2006/main">
            <a:r>
              <a:t/>
            </a:r>
          </a:p>
          <a:p xmlns:a="http://schemas.openxmlformats.org/drawingml/2006/main">
            <a:r>
              <a:t>Sources: MVD, printed pp. 83–84 and 91 (same PDF positions); Arnadottir and Crane, “There Is No Exclusion Problem,” author manuscript, https://philpapers.org/archive/CRATIN-4.pdf . See study §2.3.3, §5.1, and Editorial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affirmative philosophical case. A description of neural mechanisms can explain discrimination, access, memory, and report while still leaving the question of why there is a felt experience. The knowledge argument sharpens this: if someone acquires every physical fact about colour and later sees red, have they learned a further fact, or gained a new ability or way of encountering a fact? The physicalist reply needs to answer that question; the argument does not simply settle it.</a:t>
            </a:r>
          </a:p>
          <a:p xmlns:a="http://schemas.openxmlformats.org/drawingml/2006/main">
            <a:r>
              <a:t/>
            </a:r>
          </a:p>
          <a:p xmlns:a="http://schemas.openxmlformats.org/drawingml/2006/main">
            <a:r>
              <a:t>Experience also presents a world whose contents belong together. This places a demand on a theory of the subject. It does not establish an indivisible atom: integration might be realised through distributed and changing processes. Finally, people assess whether beliefs follow from reasons and actions answer to values. A causal explanation needs room for those distinctions. Naturalistic accounts of learning, error correction, and reasoning are serious replies, not the claim that reasoning is blind motion. These considerations motivate going beyond an account that omits experience; moving from them to a specific jeevan needs further argument.</a:t>
            </a:r>
          </a:p>
          <a:p xmlns:a="http://schemas.openxmlformats.org/drawingml/2006/main">
            <a:r>
              <a:t/>
            </a:r>
          </a:p>
          <a:p xmlns:a="http://schemas.openxmlformats.org/drawingml/2006/main">
            <a:r>
              <a:t>COGITATE's 2025 adversarial study tested specified predictions of integrated information theory and global neuronal workspace theory in 256 participants. Its mixed results challenged parts of both theories; they did not reject every neural explanation or establish a nonmaterial bearer. MD's claim that mystery can be removed through understanding is distinct from this debate's hard problem.</a:t>
            </a:r>
          </a:p>
          <a:p xmlns:a="http://schemas.openxmlformats.org/drawingml/2006/main">
            <a:r>
              <a:t/>
            </a:r>
          </a:p>
          <a:p xmlns:a="http://schemas.openxmlformats.org/drawingml/2006/main">
            <a:r>
              <a:t>Sources: Chalmers (2003), https://consc.net/papers/nature.html ; Bayne and Chalmers (2003), https://consc.net/papers/unity.html ; Graziano (2024), https://pmc.ncbi.nlm.nih.gov/articles/PMC11521794/ ; COGITATE Consortium (2025), https://www.nature.com/articles/s41586-025-08888-1 . See study §§4.2–4.5 and 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Advaita distinguishes the empirical person from the ultimate Self. At the empirical level, bodies, minds, knowledge, ethical practice, and suffering matter. At the ultimate level, awareness is nondual and not one individual subject among many. Mithya means dependent reality here, not that ordinary experience is simply nonexistent.</a:t>
            </a:r>
          </a:p>
          <a:p xmlns:a="http://schemas.openxmlformats.org/drawingml/2006/main">
            <a:r>
              <a:t/>
            </a:r>
          </a:p>
          <a:p xmlns:a="http://schemas.openxmlformats.org/drawingml/2006/main">
            <a:r>
              <a:t>Distinguishing a witnessed object from awareness begins the inquiry, but does not by itself establish that all awareness is one Brahman. Advaita joins it with Upanishadic testimony and reasoning. A physicalist can question whether a system's capacity to represent its own states requires an ontologically separate witness. Madhyasth Darshan can accept the experienced distinction while affirming many enduring sentient units and a real plural world. These differences should remain clear without making the empirical world disappear rhetorically.</a:t>
            </a:r>
          </a:p>
          <a:p xmlns:a="http://schemas.openxmlformats.org/drawingml/2006/main">
            <a:r>
              <a:t/>
            </a:r>
          </a:p>
          <a:p xmlns:a="http://schemas.openxmlformats.org/drawingml/2006/main">
            <a:r>
              <a:t>Sources: Brihadaranyaka Upanishad 2.3.6 and 2.4.5; Taittiriya Upanishad 2.1–2.5; Vivekachudamani v. 120, with the authorship qualification in the study's Editorial Notes. See study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path starts with the communicated discovery, proceeds through understanding, and looks for evidence in living and communicating that understanding. Nagraj distinguishes samadhi from the samyama through which he reports the discovery. A learner is invited to test the account rather than merely repeat it. In this account, reliable conduct, productive participation, and the ability to convey understanding matter.</a:t>
            </a:r>
          </a:p>
          <a:p xmlns:a="http://schemas.openxmlformats.org/drawingml/2006/main">
            <a:r>
              <a:t/>
            </a:r>
          </a:p>
          <a:p xmlns:a="http://schemas.openxmlformats.org/drawingml/2006/main">
            <a:r>
              <a:t>A fair practical test would state the learning conditions, compare suitable groups, track outcomes over time, and allow failure to count against a claim. Improvements in trust, justice, or mutual fulfilment would support the practical value of what was learned. They would not by themselves demonstrate the atomic constitution of jeevan or its survival after bodily death. Comparable improvement through a rival programme would matter to any claim of a distinctive practical effect. See study §5 for the separate requirements on practical and ontological claims.</a:t>
            </a:r>
          </a:p>
          <a:p xmlns:a="http://schemas.openxmlformats.org/drawingml/2006/main">
            <a:r>
              <a:t/>
            </a:r>
          </a:p>
          <a:p xmlns:a="http://schemas.openxmlformats.org/drawingml/2006/main">
            <a:r>
              <a:t>Sources: MVD, printed p. 12 (PDF position 12); JV, printed pp. 24–27 (PDF positions 25–28); study §§1.4 and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rows compare commitments, not equally established findings. In the first column, physicalism is the interpretation being compared; science supplies evidence such as neural dependence. Physicalism can recognise many persons and preserve psychological and social explanations while holding that persons are wholly physical.</a:t>
            </a:r>
          </a:p>
          <a:p xmlns:a="http://schemas.openxmlformats.org/drawingml/2006/main">
            <a:r>
              <a:t/>
            </a:r>
          </a:p>
          <a:p xmlns:a="http://schemas.openxmlformats.org/drawingml/2006/main">
            <a:r>
              <a:t>Madhyasth Darshan describes each living human as one body joined with one jeevan; the account has many jeevans across persons, not many within a single human. Advaita accepts plurality in empirical life while denying separate ultimate selves. The survival row also compares different claims: continued individual jeevan differs from the claim that the nondual Self never begins or ends. A position's place in the middle of a table gives it no evidential advantage. See study §4.1.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overlaps help locate the disagreements, but are not additional arguments for the account at their intersection. Madhyasth Darshan affirms a real shared world and many sentient individuals; Advaita's ultimate nonduality and physicalism's physical constitution each depart from that account in a different way.</a:t>
            </a:r>
          </a:p>
          <a:p xmlns:a="http://schemas.openxmlformats.org/drawingml/2006/main">
            <a:r>
              <a:t/>
            </a:r>
          </a:p>
          <a:p xmlns:a="http://schemas.openxmlformats.org/drawingml/2006/main">
            <a:r>
              <a:t>What matters is whether the positive account explains experience and survives comparison with evidence. The case from experience, unity, and reasons is developed in study §§4.2–4.5. Those arguments can motivate resistance to an incomplete reduction of the human while leaving open which account of sentience is best supported.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views face different burdens and do not have equal evidential standing simply because none settles every question. Madhyasth Darshan gives a connected account of experience, understanding, conduct, and coexistence. Its distinctive atomic, causal, and survival commitments need evidence beyond textual agreement or practical benefit. Internal coherence itself must be examined, especially the relation between the transition to sentience and the permanent character subsequently attributed to it.</a:t>
            </a:r>
          </a:p>
          <a:p xmlns:a="http://schemas.openxmlformats.org/drawingml/2006/main">
            <a:r>
              <a:t/>
            </a:r>
          </a:p>
          <a:p xmlns:a="http://schemas.openxmlformats.org/drawingml/2006/main">
            <a:r>
              <a:t>Neuroscience supplies strong, detailed causal constraints on any account of the person. Physicalism interprets them as consistent with a wholly physical person; whether that gives a complete account of subjective experience remains philosophically disputed. Advaita develops a sustained inquiry into awareness with ethical and contemplative disciplines, while its move from the witness to nondual Brahman depends on further reasoning and scriptural warrant. See study §§5.1–5.3.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disagreement is partly philosophical and partly about claims that owe observable consequences. Jeevan's atomic constitution, its coordination with the body, and its proposed continuation beyond death are not settled by agreeing that experience is difficult to explain. A proposal becomes more informative when it states what should be observed, under what conditions, and what would count against it.</a:t>
            </a:r>
          </a:p>
          <a:p xmlns:a="http://schemas.openxmlformats.org/drawingml/2006/main">
            <a:r>
              <a:t/>
            </a:r>
          </a:p>
          <a:p xmlns:a="http://schemas.openxmlformats.org/drawingml/2006/main">
            <a:r>
              <a:t>Neural models that increasingly predict and explain fine-grained changes in experience reduce the explanatory work left for a separate unit, although predictive success is not a deductive proof of metaphysical identity. Conversely, a repeatable effect would strengthen the jeevan account only insofar as it distinguishes that account from neurological, psychological, and methodological alternatives. Conduct studies can test practical learning; contemplative studies can test reports and transformation. Neither automatically settles its tradition's full ontology. See study §5.4.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title keeps the study's affirmative motivation. Human experience, the unity of an experienced world, and the responsiveness of belief and action to reasons are substantial things to explain. They give a reason to resist treating a description of bodily machinery as the whole answer before the explanation is supplied.</a:t>
            </a:r>
          </a:p>
          <a:p xmlns:a="http://schemas.openxmlformats.org/drawingml/2006/main">
            <a:r>
              <a:t/>
            </a:r>
          </a:p>
          <a:p xmlns:a="http://schemas.openxmlformats.org/drawingml/2006/main">
            <a:r>
              <a:t>Madhyasth Darshan offers a distinctive positive account: a real sentient individual in a real shared world, living through a body and capable of understanding and responsible conduct. The stronger conclusion that this requires an enduring, constitutionally complete jeevan remains a proposal to develop and test. Current neuroscience supplies evidence that any such account must explain; it does not by itself answer every metaphysical question. The next step is to sharpen the argument and identify the observations that would support or weaken each of its claims. See study §§4.5 and 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609a128d0e47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b7ca2006d61463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cdc08490a9f42a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b9325344e6452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278b401c300477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9c1bc0044b43a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306f2a2156d4cdb"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6f6474a776f4b0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8d694e7f128416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0527ad3729f4ba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d17ad6879de64104"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97EB08D-DF19-4778-8DD2-15615344C0B0}"/>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079CCD51-B546-4176-8C36-9006006D7372}"/>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CF615923-9997-483F-96C2-B6968528BF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B718663-9C15-48BF-82DD-563D7B6989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910CCA1-FD7F-4FE5-9CDF-8A67F397C98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708EFF-CF4E-4322-90CE-88D452783A7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C7653C2-802E-46DA-8CC8-788D1D72431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24E39829-E6A4-42C6-804C-9964093848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ADB6854C-C23D-4A18-A5D6-F4F9670D0DB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CE9F174-8210-4A9A-AA9F-D1994BB292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BBED252-C0E2-4BB9-88EE-130CF620402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4C6AF77D-FDA0-434A-8091-83E124DC02E7}"/>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9CD4037-0F14-43BE-B036-5E5DC77C10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D3B580D-7F1F-454D-AF10-B1E9ABF6991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3711AAD5-594C-4681-9256-C4CA7193D3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5B32C7C-AC2B-434A-B3D1-850D2740640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21FF63D-27F9-46C1-B9EB-DF0F59F75E31}"/>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60174665-8289-4549-BF3B-550705EA41E8}"/>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52C985AB-764A-452F-9B2D-F31D6026A5E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1F6984C0-7F88-49F1-B312-193C75338B4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DDECA985-3E4D-4D4B-BE42-5E695509935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6247B1A-765B-49A4-B567-DA94E03E97A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F8095C3-3939-4DF0-9FD0-D7B765F90BA1}"/>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64525B1-20E6-448D-AA8D-0E158F62497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9784F425-2E0E-4CD2-81A3-5465A29A326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975CF164-AF0D-4103-BAFA-9B27037FA97A}"/>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5FDBDC35-BE49-493B-A3DE-92435B91DA5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B9F6195E-ACEA-4135-BB08-EB49741BDF4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47DADA27-0F01-4888-A698-9F0E1976186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EF3088-545E-42D9-BB03-04BD1C2A8A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3AA1A773-C622-4DEB-A51B-FFBCAA2C3A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27E9C17E-406C-44D7-9C1C-7F9AC2233FF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1CD84F14-5124-4397-8C15-49025AE4EF7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BED4E74-5F22-455E-9B02-F9FD9C88988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7EDA1314-1F6F-4B54-BDDE-AA603C7B18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C5B7C87C-4C75-4ED9-9F71-1FC448C45C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0CC4D9D-C5B3-4D2D-8EF4-BD88FAEF2034}"/>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647A0D82-6403-4B2D-9BD3-21A9939196BE}"/>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057F87CA-9013-439C-AE67-E5673852014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D506AAA-ACB5-4A68-BD6B-64904E942A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83037FE2-97E7-4432-BF54-999033BBB49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49DB559E-82A8-4B76-8CA1-AB27FC375F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94739D-2EE8-457F-BA14-B70BE23E75BD}"/>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C46C7087-AA1E-41D6-88E7-08CACAD81164}"/>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C78690DB-9EAA-42C8-88D4-11FE465650C9}"/>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856A84C-D176-44F5-8DF4-C06FFE795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15A8D1B6-4A51-4024-9D4E-52EAF1D92A4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9D691124-FE33-4ED7-8AC7-B5D554C6FA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74829C-EFC0-413A-B071-3A0E32FD1AD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5F1189D5-42E4-4A2A-A47C-F2BE53431D12}"/>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077E091D-244E-4C2A-9DDD-C0E6C3DDCC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4A7D3828-1C2C-46BE-9CBE-144DB718F8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40A89E9-F1F3-483A-8DB2-2151F173F09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553277C-157F-453F-9CBF-40110D128F3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B0FD965C-ED7C-4BC8-B102-1616F46909D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DFB906B3-7EB6-4752-AC7D-EE8619D6C97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9569B878-0454-4F69-A54B-6B9B02A1AD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AE851E1-3182-47C0-BF25-12BB6355F91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edff549cee4559" /><Relationship Type="http://schemas.openxmlformats.org/officeDocument/2006/relationships/slideLayout" Target="/ppt/slideLayouts/slideLayout1.xml" Id="Rfe240fa849074ddc" /><Relationship Type="http://schemas.openxmlformats.org/officeDocument/2006/relationships/slideLayout" Target="/ppt/slideLayouts/slideLayout2.xml" Id="Rc0c09e65f90344e9" /><Relationship Type="http://schemas.openxmlformats.org/officeDocument/2006/relationships/slideLayout" Target="/ppt/slideLayouts/slideLayout3.xml" Id="R17a70069d6874338" /><Relationship Type="http://schemas.openxmlformats.org/officeDocument/2006/relationships/slideLayout" Target="/ppt/slideLayouts/slideLayout4.xml" Id="Rc1b009e74c014a28" /><Relationship Type="http://schemas.openxmlformats.org/officeDocument/2006/relationships/slideLayout" Target="/ppt/slideLayouts/slideLayout5.xml" Id="R00bd2ec3bc4d4bb5" /><Relationship Type="http://schemas.openxmlformats.org/officeDocument/2006/relationships/slideLayout" Target="/ppt/slideLayouts/slideLayout6.xml" Id="R9ed214aeb51e4ee0" /><Relationship Type="http://schemas.openxmlformats.org/officeDocument/2006/relationships/slideLayout" Target="/ppt/slideLayouts/slideLayout7.xml" Id="Rfbfb9806a6834862" /><Relationship Type="http://schemas.openxmlformats.org/officeDocument/2006/relationships/slideLayout" Target="/ppt/slideLayouts/slideLayout8.xml" Id="Rb47eb73b54aa4ab3" /><Relationship Type="http://schemas.openxmlformats.org/officeDocument/2006/relationships/slideLayout" Target="/ppt/slideLayouts/slideLayout9.xml" Id="Re6af7382f8ad4660" /><Relationship Type="http://schemas.openxmlformats.org/officeDocument/2006/relationships/slideLayout" Target="/ppt/slideLayouts/slideLayout10.xml" Id="R6326a2798ba64623" /><Relationship Type="http://schemas.openxmlformats.org/officeDocument/2006/relationships/slideLayout" Target="/ppt/slideLayouts/slideLayout11.xml" Id="R69f6e68d52c345c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E92C774-1A61-4E12-AF1A-394CF0DE9E9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BFCAE8C-EF19-4E4E-BC73-B345A94FFCBC}"/>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2CC7B12-4E0A-4DF0-B0D9-B56A88D7CE8B}"/>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C1A7A632-801F-49BE-AB3C-5BAA82012B1D}"/>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FECC828-E9AF-4ADE-87D2-E1F004C46923}"/>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240fa849074ddc"/>
    <p:sldLayoutId xmlns:r="http://schemas.openxmlformats.org/officeDocument/2006/relationships" id="2147483650" r:id="Rc0c09e65f90344e9"/>
    <p:sldLayoutId xmlns:r="http://schemas.openxmlformats.org/officeDocument/2006/relationships" id="2147483651" r:id="R17a70069d6874338"/>
    <p:sldLayoutId xmlns:r="http://schemas.openxmlformats.org/officeDocument/2006/relationships" id="2147483652" r:id="Rc1b009e74c014a28"/>
    <p:sldLayoutId xmlns:r="http://schemas.openxmlformats.org/officeDocument/2006/relationships" id="2147483653" r:id="R00bd2ec3bc4d4bb5"/>
    <p:sldLayoutId xmlns:r="http://schemas.openxmlformats.org/officeDocument/2006/relationships" id="2147483654" r:id="R9ed214aeb51e4ee0"/>
    <p:sldLayoutId xmlns:r="http://schemas.openxmlformats.org/officeDocument/2006/relationships" id="2147483655" r:id="Rfbfb9806a6834862"/>
    <p:sldLayoutId xmlns:r="http://schemas.openxmlformats.org/officeDocument/2006/relationships" id="2147483656" r:id="Rb47eb73b54aa4ab3"/>
    <p:sldLayoutId xmlns:r="http://schemas.openxmlformats.org/officeDocument/2006/relationships" id="2147483657" r:id="Re6af7382f8ad4660"/>
    <p:sldLayoutId xmlns:r="http://schemas.openxmlformats.org/officeDocument/2006/relationships" id="2147483658" r:id="R6326a2798ba64623"/>
    <p:sldLayoutId xmlns:r="http://schemas.openxmlformats.org/officeDocument/2006/relationships" id="2147483659" r:id="R69f6e68d52c345c6"/>
  </p:sldLayoutIdLst>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9d7adccfdfcc456b" /><Relationship Type="http://schemas.openxmlformats.org/officeDocument/2006/relationships/notesSlide" Target="/ppt/notesSlides/notesSlide1.xml" Id="R5ab506302ff344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17d9eed39c84412" /><Relationship Type="http://schemas.openxmlformats.org/officeDocument/2006/relationships/notesSlide" Target="/ppt/notesSlides/notesSlide2.xml" Id="Re40a3355218341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29cf0efe73984442" /><Relationship Type="http://schemas.openxmlformats.org/officeDocument/2006/relationships/notesSlide" Target="/ppt/notesSlides/notesSlide3.xml" Id="R4efe6c700cb94f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6fd6299eabf44594" /><Relationship Type="http://schemas.openxmlformats.org/officeDocument/2006/relationships/notesSlide" Target="/ppt/notesSlides/notesSlide4.xml" Id="R3891946dfac643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5d261f826574126" /><Relationship Type="http://schemas.openxmlformats.org/officeDocument/2006/relationships/notesSlide" Target="/ppt/notesSlides/notesSlide5.xml" Id="R37f5294109d24c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096c52e2ee3c4160" /><Relationship Type="http://schemas.openxmlformats.org/officeDocument/2006/relationships/notesSlide" Target="/ppt/notesSlides/notesSlide6.xml" Id="Rf1a9845238ee43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8b78d94b33d84ef3" /><Relationship Type="http://schemas.openxmlformats.org/officeDocument/2006/relationships/notesSlide" Target="/ppt/notesSlides/notesSlide7.xml" Id="R21b906b05b6341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7ae6cf33706b40eb" /><Relationship Type="http://schemas.openxmlformats.org/officeDocument/2006/relationships/notesSlide" Target="/ppt/notesSlides/notesSlide8.xml" Id="R46f05b5a87434c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0ab74130ed3c4abc" /><Relationship Type="http://schemas.openxmlformats.org/officeDocument/2006/relationships/notesSlide" Target="/ppt/notesSlides/notesSlide9.xml" Id="Re539cd79bd6648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923f7ba8825b409c" /><Relationship Type="http://schemas.openxmlformats.org/officeDocument/2006/relationships/notesSlide" Target="/ppt/notesSlides/notesSlide10.xml" Id="R63e2dd8b6981429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170f05a1dfd04af7" /><Relationship Type="http://schemas.openxmlformats.org/officeDocument/2006/relationships/notesSlide" Target="/ppt/notesSlides/notesSlide11.xml" Id="Ra6488f6fa3b94f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913dd66419ad422b" /><Relationship Type="http://schemas.openxmlformats.org/officeDocument/2006/relationships/notesSlide" Target="/ppt/notesSlides/notesSlide12.xml" Id="R03f7af88d20349c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305af28d644d46ed" /><Relationship Type="http://schemas.openxmlformats.org/officeDocument/2006/relationships/notesSlide" Target="/ppt/notesSlides/notesSlide13.xml" Id="R026d7059e45740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58b853b638fc4288" /><Relationship Type="http://schemas.openxmlformats.org/officeDocument/2006/relationships/notesSlide" Target="/ppt/notesSlides/notesSlide14.xml" Id="Rc0afa610ea9c4a3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6c1fb60fbf30447c" /><Relationship Type="http://schemas.openxmlformats.org/officeDocument/2006/relationships/notesSlide" Target="/ppt/notesSlides/notesSlide15.xml" Id="R68d2477ceafb40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eaf5b43a2ab54c3d" /><Relationship Type="http://schemas.openxmlformats.org/officeDocument/2006/relationships/notesSlide" Target="/ppt/notesSlides/notesSlide16.xml" Id="Rc5558e3f733e4e9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070adc722a5249be" /><Relationship Type="http://schemas.openxmlformats.org/officeDocument/2006/relationships/notesSlide" Target="/ppt/notesSlides/notesSlide17.xml" Id="R10366b8462bf492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e8b874687c834898" /><Relationship Type="http://schemas.openxmlformats.org/officeDocument/2006/relationships/notesSlide" Target="/ppt/notesSlides/notesSlide18.xml" Id="R10bfeb2931b645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f57b65443f384fa1" /><Relationship Type="http://schemas.openxmlformats.org/officeDocument/2006/relationships/notesSlide" Target="/ppt/notesSlides/notesSlide19.xml" Id="R4ef1f63a98ed41b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a8456fd27a67481b" /><Relationship Type="http://schemas.openxmlformats.org/officeDocument/2006/relationships/notesSlide" Target="/ppt/notesSlides/notesSlide20.xml" Id="R3324c13b8b6d498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BEAEEFB-4620-4396-B206-1CE1212B966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5C9586D2-F475-4514-8FA1-84AEE76E21AC}"/>
              </a:ext>
            </a:extLst>
          </p:cNvPr>
          <p:cNvSpPr>
            <a:spLocks xmlns:a="http://schemas.openxmlformats.org/drawingml/2006/main" noGrp="1"/>
          </p:cNvSpPr>
          <p:nvPr/>
        </p:nvSpPr>
        <p:spPr>
          <a:xfrm xmlns:a="http://schemas.openxmlformats.org/drawingml/2006/main">
            <a:off x="7589520" y="1005840"/>
            <a:ext cx="4206240" cy="4206240"/>
          </a:xfrm>
          <a:prstGeom xmlns:a="http://schemas.openxmlformats.org/drawingml/2006/main" prst="ellipse">
            <a:avLst/>
          </a:prstGeom>
          <a:noFill xmlns:a="http://schemas.openxmlformats.org/drawingml/2006/main"/>
          <a:ln xmlns:a="http://schemas.openxmlformats.org/drawingml/2006/main" w="1778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378FBE7-27DC-466A-805B-D871BDFC1325}"/>
              </a:ext>
            </a:extLst>
          </p:cNvPr>
          <p:cNvSpPr>
            <a:spLocks xmlns:a="http://schemas.openxmlformats.org/drawingml/2006/main" noGrp="1"/>
          </p:cNvSpPr>
          <p:nvPr/>
        </p:nvSpPr>
        <p:spPr>
          <a:xfrm xmlns:a="http://schemas.openxmlformats.org/drawingml/2006/main">
            <a:off x="8435340" y="1851660"/>
            <a:ext cx="2514600" cy="251460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41B16C06-9587-459B-BD8A-61931CD95BF5}"/>
              </a:ext>
            </a:extLst>
          </p:cNvPr>
          <p:cNvSpPr>
            <a:spLocks xmlns:a="http://schemas.openxmlformats.org/drawingml/2006/main" noGrp="1"/>
          </p:cNvSpPr>
          <p:nvPr/>
        </p:nvSpPr>
        <p:spPr>
          <a:xfrm xmlns:a="http://schemas.openxmlformats.org/drawingml/2006/main">
            <a:off x="9144000" y="2560320"/>
            <a:ext cx="1097280" cy="1097280"/>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4816D34F-3020-4F7A-A183-49330073D4CA}"/>
              </a:ext>
            </a:extLst>
          </p:cNvPr>
          <p:cNvSpPr>
            <a:spLocks xmlns:a="http://schemas.openxmlformats.org/drawingml/2006/main" noGrp="1"/>
          </p:cNvSpPr>
          <p:nvPr/>
        </p:nvSpPr>
        <p:spPr>
          <a:xfrm xmlns:a="http://schemas.openxmlformats.org/drawingml/2006/main">
            <a:off x="7246620" y="4411980"/>
            <a:ext cx="1051560" cy="105156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Oval 6">
            <a:extLst xmlns:a="http://schemas.openxmlformats.org/drawingml/2006/main">
              <a:ext uri="{FF2B5EF4-FFF2-40B4-BE49-F238E27FC236}">
                <a16:creationId xmlns:a16="http://schemas.microsoft.com/office/drawing/2014/main" id="{C7E6948C-F13F-4027-8D05-8D0A7D4D1AC7}"/>
              </a:ext>
            </a:extLst>
          </p:cNvPr>
          <p:cNvSpPr>
            <a:spLocks xmlns:a="http://schemas.openxmlformats.org/drawingml/2006/main" noGrp="1"/>
          </p:cNvSpPr>
          <p:nvPr/>
        </p:nvSpPr>
        <p:spPr>
          <a:xfrm xmlns:a="http://schemas.openxmlformats.org/drawingml/2006/main">
            <a:off x="7580375" y="4745736"/>
            <a:ext cx="384048" cy="384048"/>
          </a:xfrm>
          <a:prstGeom xmlns:a="http://schemas.openxmlformats.org/drawingml/2006/main" prst="ellipse">
            <a:avLst/>
          </a:prstGeom>
          <a:solidFill xmlns:a="http://schemas.openxmlformats.org/drawingml/2006/main">
            <a:srgbClr val="C9D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Oval 7">
            <a:extLst xmlns:a="http://schemas.openxmlformats.org/drawingml/2006/main">
              <a:ext uri="{FF2B5EF4-FFF2-40B4-BE49-F238E27FC236}">
                <a16:creationId xmlns:a16="http://schemas.microsoft.com/office/drawing/2014/main" id="{BB312238-87FB-455C-BA2F-ADE78AFE7A23}"/>
              </a:ext>
            </a:extLst>
          </p:cNvPr>
          <p:cNvSpPr>
            <a:spLocks xmlns:a="http://schemas.openxmlformats.org/drawingml/2006/main" noGrp="1"/>
          </p:cNvSpPr>
          <p:nvPr/>
        </p:nvSpPr>
        <p:spPr>
          <a:xfrm xmlns:a="http://schemas.openxmlformats.org/drawingml/2006/main">
            <a:off x="10904220" y="4869180"/>
            <a:ext cx="685800" cy="685800"/>
          </a:xfrm>
          <a:prstGeom xmlns:a="http://schemas.openxmlformats.org/drawingml/2006/main" prst="ellipse">
            <a:avLst/>
          </a:prstGeom>
          <a:noFill xmlns:a="http://schemas.openxmlformats.org/drawingml/2006/main"/>
          <a:ln xmlns:a="http://schemas.openxmlformats.org/drawingml/2006/main" w="1270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DB7D7330-A73E-4224-A94C-612F3B30361F}"/>
              </a:ext>
            </a:extLst>
          </p:cNvPr>
          <p:cNvSpPr>
            <a:spLocks xmlns:a="http://schemas.openxmlformats.org/drawingml/2006/main" noGrp="1"/>
          </p:cNvSpPr>
          <p:nvPr/>
        </p:nvSpPr>
        <p:spPr>
          <a:xfrm xmlns:a="http://schemas.openxmlformats.org/drawingml/2006/main">
            <a:off x="11119104" y="5084064"/>
            <a:ext cx="256032" cy="256032"/>
          </a:xfrm>
          <a:prstGeom xmlns:a="http://schemas.openxmlformats.org/drawingml/2006/main" prst="ellipse">
            <a:avLst/>
          </a:prstGeom>
          <a:solidFill xmlns:a="http://schemas.openxmlformats.org/drawingml/2006/main">
            <a:srgbClr val="C9D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F212A3E-133E-42C7-B908-3E323D182362}"/>
              </a:ext>
            </a:extLst>
          </p:cNvPr>
          <p:cNvSpPr>
            <a:spLocks xmlns:a="http://schemas.openxmlformats.org/drawingml/2006/main" noGrp="1"/>
          </p:cNvSpPr>
          <p:nvPr/>
        </p:nvSpPr>
        <p:spPr>
          <a:xfrm xmlns:a="http://schemas.openxmlformats.org/drawingml/2006/main">
            <a:off x="868680" y="173736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C9821E"/>
                </a:solidFill>
                <a:latin typeface="Calibri"/>
                <a:ea typeface="Calibri"/>
                <a:cs typeface="Calibri"/>
              </a:rPr>
              <a:t>MADHYASTH DARSHAN  ·  CO-EXISTENTIALISM</a:t>
            </a:r>
          </a:p>
        </p:txBody>
      </p:sp>
      <p:sp>
        <p:nvSpPr>
          <p:cNvPr id="11" name="TextBox 10">
            <a:extLst xmlns:a="http://schemas.openxmlformats.org/drawingml/2006/main">
              <a:ext uri="{FF2B5EF4-FFF2-40B4-BE49-F238E27FC236}">
                <a16:creationId xmlns:a16="http://schemas.microsoft.com/office/drawing/2014/main" id="{B20912B1-11A9-42BC-96B0-2C1B038ADC7E}"/>
              </a:ext>
            </a:extLst>
          </p:cNvPr>
          <p:cNvSpPr>
            <a:spLocks xmlns:a="http://schemas.openxmlformats.org/drawingml/2006/main" noGrp="1"/>
          </p:cNvSpPr>
          <p:nvPr/>
        </p:nvSpPr>
        <p:spPr>
          <a:xfrm xmlns:a="http://schemas.openxmlformats.org/drawingml/2006/main">
            <a:off x="822960" y="2148840"/>
            <a:ext cx="694944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4400" b="1" i="0">
                <a:solidFill>
                  <a:srgbClr val="FFFFFF"/>
                </a:solidFill>
                <a:latin typeface="Cambria"/>
                <a:ea typeface="Cambria"/>
                <a:cs typeface="Cambria"/>
              </a:rPr>
              <a:t>Why Humans Are Not</a:t>
            </a:r>
          </a:p>
          <a:p xmlns:a="http://schemas.openxmlformats.org/drawingml/2006/main">
            <a:pPr algn="l">
              <a:lnSpc>
                <a:spcPct val="100000"/>
              </a:lnSpc>
              <a:spcBef>
                <a:spcPts val="0"/>
              </a:spcBef>
              <a:spcAft>
                <a:spcPts val="400"/>
              </a:spcAft>
              <a:buNone/>
            </a:pPr>
            <a:r>
              <a:rPr sz="4400" b="1" i="0">
                <a:solidFill>
                  <a:srgbClr val="FFFFFF"/>
                </a:solidFill>
                <a:latin typeface="Cambria"/>
                <a:ea typeface="Cambria"/>
                <a:cs typeface="Cambria"/>
              </a:rPr>
              <a:t>Just Material</a:t>
            </a:r>
          </a:p>
        </p:txBody>
      </p:sp>
      <p:sp>
        <p:nvSpPr>
          <p:cNvPr id="12" name="TextBox 11">
            <a:extLst xmlns:a="http://schemas.openxmlformats.org/drawingml/2006/main">
              <a:ext uri="{FF2B5EF4-FFF2-40B4-BE49-F238E27FC236}">
                <a16:creationId xmlns:a16="http://schemas.microsoft.com/office/drawing/2014/main" id="{290D393F-ED77-43D9-A35B-0A11F09BF310}"/>
              </a:ext>
            </a:extLst>
          </p:cNvPr>
          <p:cNvSpPr>
            <a:spLocks xmlns:a="http://schemas.openxmlformats.org/drawingml/2006/main" noGrp="1"/>
          </p:cNvSpPr>
          <p:nvPr/>
        </p:nvSpPr>
        <p:spPr>
          <a:xfrm xmlns:a="http://schemas.openxmlformats.org/drawingml/2006/main">
            <a:off x="868680" y="4114800"/>
            <a:ext cx="6583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900" b="0" i="1">
                <a:solidFill>
                  <a:srgbClr val="C9D4EF"/>
                </a:solidFill>
                <a:latin typeface="Calibri"/>
                <a:ea typeface="Calibri"/>
                <a:cs typeface="Calibri"/>
              </a:rPr>
              <a:t>One question, three explanatory frameworks — Madhyasth Darshan, physicalism, and Advaita Vedanta</a:t>
            </a:r>
          </a:p>
        </p:txBody>
      </p:sp>
      <p:sp>
        <p:nvSpPr>
          <p:cNvPr id="13" name="TextBox 12">
            <a:extLst xmlns:a="http://schemas.openxmlformats.org/drawingml/2006/main">
              <a:ext uri="{FF2B5EF4-FFF2-40B4-BE49-F238E27FC236}">
                <a16:creationId xmlns:a16="http://schemas.microsoft.com/office/drawing/2014/main" id="{FB5B3B2E-3138-436D-8B2A-B42F9113EB94}"/>
              </a:ext>
            </a:extLst>
          </p:cNvPr>
          <p:cNvSpPr>
            <a:spLocks xmlns:a="http://schemas.openxmlformats.org/drawingml/2006/main" noGrp="1"/>
          </p:cNvSpPr>
          <p:nvPr/>
        </p:nvSpPr>
        <p:spPr>
          <a:xfrm xmlns:a="http://schemas.openxmlformats.org/drawingml/2006/main">
            <a:off x="868680" y="57150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8E9BC4"/>
                </a:solidFill>
                <a:latin typeface="Calibri"/>
                <a:ea typeface="Calibri"/>
                <a:cs typeface="Calibri"/>
              </a:rPr>
              <a:t>A comparative study of lived experience, ontology, evidence, and testability</a:t>
            </a:r>
          </a:p>
        </p:txBody>
      </p:sp>
      <p:sp>
        <p:nvSpPr>
          <p:cNvPr id="14" name="TextBox 13">
            <a:extLst xmlns:a="http://schemas.openxmlformats.org/drawingml/2006/main">
              <a:ext uri="{FF2B5EF4-FFF2-40B4-BE49-F238E27FC236}">
                <a16:creationId xmlns:a16="http://schemas.microsoft.com/office/drawing/2014/main" id="{AF80DB32-7FB8-4CB4-B190-1D27C4165251}"/>
              </a:ext>
            </a:extLst>
          </p:cNvPr>
          <p:cNvSpPr>
            <a:spLocks xmlns:a="http://schemas.openxmlformats.org/drawingml/2006/main" noGrp="1"/>
          </p:cNvSpPr>
          <p:nvPr/>
        </p:nvSpPr>
        <p:spPr>
          <a:xfrm xmlns:a="http://schemas.openxmlformats.org/drawingml/2006/main">
            <a:off x="868680" y="60350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8E9BC4"/>
                </a:solidFill>
                <a:latin typeface="Calibri"/>
                <a:ea typeface="Calibri"/>
                <a:cs typeface="Calibri"/>
              </a:rPr>
              <a:t>Primary texts of Madhyasth Darshan, by Shri A. Nagraj — MVD · SB · JV (tr. Rakesh Gupta)</a:t>
            </a:r>
          </a:p>
        </p:txBody>
      </p:sp>
    </p:spTree>
    <p:extLst>
      <p:ext uri="{BB962C8B-B14F-4D97-AF65-F5344CB8AC3E}">
        <p14:creationId xmlns:p14="http://schemas.microsoft.com/office/powerpoint/2010/main" val="131255521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76E215E-82ED-4683-AF7B-D5D1D36340F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FB3EEC60-6F3F-4716-9C7E-A6F8A3135ECD}"/>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A138B2E4-62C3-400A-A7E5-8CD706529BA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F48A9A68-5A8A-434B-9747-22FECE366850}"/>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06BA5AF-4985-4E99-B26D-A44C5155CCDD}"/>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THE QUESTION</a:t>
            </a:r>
          </a:p>
        </p:txBody>
      </p:sp>
      <p:sp>
        <p:nvSpPr>
          <p:cNvPr id="7" name="TextBox 6">
            <a:extLst xmlns:a="http://schemas.openxmlformats.org/drawingml/2006/main">
              <a:ext uri="{FF2B5EF4-FFF2-40B4-BE49-F238E27FC236}">
                <a16:creationId xmlns:a16="http://schemas.microsoft.com/office/drawing/2014/main" id="{898CF95D-4019-4CDC-B01C-8224391508D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Is a Human Just a Body?</a:t>
            </a:r>
          </a:p>
        </p:txBody>
      </p:sp>
      <p:sp>
        <p:nvSpPr>
          <p:cNvPr id="8" name="TextBox 7">
            <a:extLst xmlns:a="http://schemas.openxmlformats.org/drawingml/2006/main">
              <a:ext uri="{FF2B5EF4-FFF2-40B4-BE49-F238E27FC236}">
                <a16:creationId xmlns:a16="http://schemas.microsoft.com/office/drawing/2014/main" id="{4C9B5BB0-EA7B-47DD-820C-AF00C262124E}"/>
              </a:ext>
            </a:extLst>
          </p:cNvPr>
          <p:cNvSpPr>
            <a:spLocks xmlns:a="http://schemas.openxmlformats.org/drawingml/2006/main" noGrp="1"/>
          </p:cNvSpPr>
          <p:nvPr/>
        </p:nvSpPr>
        <p:spPr>
          <a:xfrm xmlns:a="http://schemas.openxmlformats.org/drawingml/2006/main">
            <a:off x="685800" y="178308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Physics describes the body’s composition and dynamics with extraordinary success. The unresolved step is whether those descriptions exhaust sentience, selfhood, value, and agency.</a:t>
            </a:r>
          </a:p>
        </p:txBody>
      </p:sp>
      <p:sp>
        <p:nvSpPr>
          <p:cNvPr id="9" name="Rounded Rectangle 8">
            <a:extLst xmlns:a="http://schemas.openxmlformats.org/drawingml/2006/main">
              <a:ext uri="{FF2B5EF4-FFF2-40B4-BE49-F238E27FC236}">
                <a16:creationId xmlns:a16="http://schemas.microsoft.com/office/drawing/2014/main" id="{A9184C6E-611A-4E0E-9D61-51A5B851D49A}"/>
              </a:ext>
            </a:extLst>
          </p:cNvPr>
          <p:cNvSpPr>
            <a:spLocks xmlns:a="http://schemas.openxmlformats.org/drawingml/2006/main" noGrp="1"/>
          </p:cNvSpPr>
          <p:nvPr/>
        </p:nvSpPr>
        <p:spPr>
          <a:xfrm xmlns:a="http://schemas.openxmlformats.org/drawingml/2006/main">
            <a:off x="685800" y="2880360"/>
            <a:ext cx="3429000" cy="22860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269A14B3-5580-4834-81BA-65E9BE1F230C}"/>
              </a:ext>
            </a:extLst>
          </p:cNvPr>
          <p:cNvSpPr>
            <a:spLocks xmlns:a="http://schemas.openxmlformats.org/drawingml/2006/main" noGrp="1"/>
          </p:cNvSpPr>
          <p:nvPr/>
        </p:nvSpPr>
        <p:spPr>
          <a:xfrm xmlns:a="http://schemas.openxmlformats.org/drawingml/2006/main">
            <a:off x="898855"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83162F66-2D40-4175-8C34-8FBA2834105D}"/>
              </a:ext>
            </a:extLst>
          </p:cNvPr>
          <p:cNvSpPr>
            <a:spLocks xmlns:a="http://schemas.openxmlformats.org/drawingml/2006/main" noGrp="1"/>
          </p:cNvSpPr>
          <p:nvPr/>
        </p:nvSpPr>
        <p:spPr>
          <a:xfrm xmlns:a="http://schemas.openxmlformats.org/drawingml/2006/main">
            <a:off x="977036"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B6C8F5CA-0494-4F86-96AF-14B8EABC4DFF}"/>
              </a:ext>
            </a:extLst>
          </p:cNvPr>
          <p:cNvSpPr>
            <a:spLocks xmlns:a="http://schemas.openxmlformats.org/drawingml/2006/main" noGrp="1"/>
          </p:cNvSpPr>
          <p:nvPr/>
        </p:nvSpPr>
        <p:spPr>
          <a:xfrm xmlns:a="http://schemas.openxmlformats.org/drawingml/2006/main">
            <a:off x="1038758"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4CE8884-5CE9-438B-AAB8-2EE3AE36B0AB}"/>
              </a:ext>
            </a:extLst>
          </p:cNvPr>
          <p:cNvSpPr>
            <a:spLocks xmlns:a="http://schemas.openxmlformats.org/drawingml/2006/main" noGrp="1"/>
          </p:cNvSpPr>
          <p:nvPr/>
        </p:nvSpPr>
        <p:spPr>
          <a:xfrm xmlns:a="http://schemas.openxmlformats.org/drawingml/2006/main">
            <a:off x="1444752"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Science / physicalism</a:t>
            </a:r>
          </a:p>
        </p:txBody>
      </p:sp>
      <p:sp>
        <p:nvSpPr>
          <p:cNvPr id="14" name="TextBox 13">
            <a:extLst xmlns:a="http://schemas.openxmlformats.org/drawingml/2006/main">
              <a:ext uri="{FF2B5EF4-FFF2-40B4-BE49-F238E27FC236}">
                <a16:creationId xmlns:a16="http://schemas.microsoft.com/office/drawing/2014/main" id="{90A347A0-65A5-43CA-9A0D-EB931F942C6D}"/>
              </a:ext>
            </a:extLst>
          </p:cNvPr>
          <p:cNvSpPr>
            <a:spLocks xmlns:a="http://schemas.openxmlformats.org/drawingml/2006/main" noGrp="1"/>
          </p:cNvSpPr>
          <p:nvPr/>
        </p:nvSpPr>
        <p:spPr>
          <a:xfrm xmlns:a="http://schemas.openxmlformats.org/drawingml/2006/main">
            <a:off x="941832"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Science maps brain–body dependence. Physicalism holds that the embodied person needs no additional sentient entity.</a:t>
            </a:r>
          </a:p>
        </p:txBody>
      </p:sp>
      <p:sp>
        <p:nvSpPr>
          <p:cNvPr id="15" name="Rounded Rectangle 14">
            <a:extLst xmlns:a="http://schemas.openxmlformats.org/drawingml/2006/main">
              <a:ext uri="{FF2B5EF4-FFF2-40B4-BE49-F238E27FC236}">
                <a16:creationId xmlns:a16="http://schemas.microsoft.com/office/drawing/2014/main" id="{C1E41A45-8472-4686-B280-F73AA77CD8D2}"/>
              </a:ext>
            </a:extLst>
          </p:cNvPr>
          <p:cNvSpPr>
            <a:spLocks xmlns:a="http://schemas.openxmlformats.org/drawingml/2006/main" noGrp="1"/>
          </p:cNvSpPr>
          <p:nvPr/>
        </p:nvSpPr>
        <p:spPr>
          <a:xfrm xmlns:a="http://schemas.openxmlformats.org/drawingml/2006/main">
            <a:off x="4379976" y="2880360"/>
            <a:ext cx="3429000" cy="228600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1225507A-A9F1-4EA3-B5A1-07D118F76583}"/>
              </a:ext>
            </a:extLst>
          </p:cNvPr>
          <p:cNvSpPr>
            <a:spLocks xmlns:a="http://schemas.openxmlformats.org/drawingml/2006/main" noGrp="1"/>
          </p:cNvSpPr>
          <p:nvPr/>
        </p:nvSpPr>
        <p:spPr>
          <a:xfrm xmlns:a="http://schemas.openxmlformats.org/drawingml/2006/main">
            <a:off x="4593031"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A882DFA-8656-4E3C-8C5D-185DE026807C}"/>
              </a:ext>
            </a:extLst>
          </p:cNvPr>
          <p:cNvSpPr>
            <a:spLocks xmlns:a="http://schemas.openxmlformats.org/drawingml/2006/main" noGrp="1"/>
          </p:cNvSpPr>
          <p:nvPr/>
        </p:nvSpPr>
        <p:spPr>
          <a:xfrm xmlns:a="http://schemas.openxmlformats.org/drawingml/2006/main">
            <a:off x="4671212"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0C952C82-AB4B-40C9-A482-E14D5965B97A}"/>
              </a:ext>
            </a:extLst>
          </p:cNvPr>
          <p:cNvSpPr>
            <a:spLocks xmlns:a="http://schemas.openxmlformats.org/drawingml/2006/main" noGrp="1"/>
          </p:cNvSpPr>
          <p:nvPr/>
        </p:nvSpPr>
        <p:spPr>
          <a:xfrm xmlns:a="http://schemas.openxmlformats.org/drawingml/2006/main">
            <a:off x="4732934"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F7359D11-500F-4B10-9E4E-BCEFF656A1AD}"/>
              </a:ext>
            </a:extLst>
          </p:cNvPr>
          <p:cNvSpPr>
            <a:spLocks xmlns:a="http://schemas.openxmlformats.org/drawingml/2006/main" noGrp="1"/>
          </p:cNvSpPr>
          <p:nvPr/>
        </p:nvSpPr>
        <p:spPr>
          <a:xfrm xmlns:a="http://schemas.openxmlformats.org/drawingml/2006/main">
            <a:off x="5138928"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Madhyasth Darshan</a:t>
            </a:r>
          </a:p>
        </p:txBody>
      </p:sp>
      <p:sp>
        <p:nvSpPr>
          <p:cNvPr id="20" name="TextBox 19">
            <a:extLst xmlns:a="http://schemas.openxmlformats.org/drawingml/2006/main">
              <a:ext uri="{FF2B5EF4-FFF2-40B4-BE49-F238E27FC236}">
                <a16:creationId xmlns:a16="http://schemas.microsoft.com/office/drawing/2014/main" id="{788248F3-DFAF-47F1-80E2-363D3D863331}"/>
              </a:ext>
            </a:extLst>
          </p:cNvPr>
          <p:cNvSpPr>
            <a:spLocks xmlns:a="http://schemas.openxmlformats.org/drawingml/2006/main" noGrp="1"/>
          </p:cNvSpPr>
          <p:nvPr/>
        </p:nvSpPr>
        <p:spPr>
          <a:xfrm xmlns:a="http://schemas.openxmlformats.org/drawingml/2006/main">
            <a:off x="4636008"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A human is a material body joined with jeevan, a real sentient unit. ‘Not just material’ rejects reduction to an insentient body; it does not reject matter.</a:t>
            </a:r>
          </a:p>
        </p:txBody>
      </p:sp>
      <p:sp>
        <p:nvSpPr>
          <p:cNvPr id="21" name="Rounded Rectangle 20">
            <a:extLst xmlns:a="http://schemas.openxmlformats.org/drawingml/2006/main">
              <a:ext uri="{FF2B5EF4-FFF2-40B4-BE49-F238E27FC236}">
                <a16:creationId xmlns:a16="http://schemas.microsoft.com/office/drawing/2014/main" id="{A71B52AD-3651-4846-AC0D-DA626510A70D}"/>
              </a:ext>
            </a:extLst>
          </p:cNvPr>
          <p:cNvSpPr>
            <a:spLocks xmlns:a="http://schemas.openxmlformats.org/drawingml/2006/main" noGrp="1"/>
          </p:cNvSpPr>
          <p:nvPr/>
        </p:nvSpPr>
        <p:spPr>
          <a:xfrm xmlns:a="http://schemas.openxmlformats.org/drawingml/2006/main">
            <a:off x="8074152" y="2880360"/>
            <a:ext cx="3429000" cy="22860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B987A266-C74B-483A-B0D5-EB29DA1DFD75}"/>
              </a:ext>
            </a:extLst>
          </p:cNvPr>
          <p:cNvSpPr>
            <a:spLocks xmlns:a="http://schemas.openxmlformats.org/drawingml/2006/main" noGrp="1"/>
          </p:cNvSpPr>
          <p:nvPr/>
        </p:nvSpPr>
        <p:spPr>
          <a:xfrm xmlns:a="http://schemas.openxmlformats.org/drawingml/2006/main">
            <a:off x="8287207"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FEBB837-C45E-4E9E-B06D-4845DA3E09EA}"/>
              </a:ext>
            </a:extLst>
          </p:cNvPr>
          <p:cNvSpPr>
            <a:spLocks xmlns:a="http://schemas.openxmlformats.org/drawingml/2006/main" noGrp="1"/>
          </p:cNvSpPr>
          <p:nvPr/>
        </p:nvSpPr>
        <p:spPr>
          <a:xfrm xmlns:a="http://schemas.openxmlformats.org/drawingml/2006/main">
            <a:off x="8365388"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47D8DD09-E0BB-4632-9E6E-B5747900FD58}"/>
              </a:ext>
            </a:extLst>
          </p:cNvPr>
          <p:cNvSpPr>
            <a:spLocks xmlns:a="http://schemas.openxmlformats.org/drawingml/2006/main" noGrp="1"/>
          </p:cNvSpPr>
          <p:nvPr/>
        </p:nvSpPr>
        <p:spPr>
          <a:xfrm xmlns:a="http://schemas.openxmlformats.org/drawingml/2006/main">
            <a:off x="8427110"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50C75304-6B89-48C4-9DAF-8D2C7B7347A3}"/>
              </a:ext>
            </a:extLst>
          </p:cNvPr>
          <p:cNvSpPr>
            <a:spLocks xmlns:a="http://schemas.openxmlformats.org/drawingml/2006/main" noGrp="1"/>
          </p:cNvSpPr>
          <p:nvPr/>
        </p:nvSpPr>
        <p:spPr>
          <a:xfrm xmlns:a="http://schemas.openxmlformats.org/drawingml/2006/main">
            <a:off x="8833104"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Advaita Vedanta</a:t>
            </a:r>
          </a:p>
        </p:txBody>
      </p:sp>
      <p:sp>
        <p:nvSpPr>
          <p:cNvPr id="26" name="TextBox 25">
            <a:extLst xmlns:a="http://schemas.openxmlformats.org/drawingml/2006/main">
              <a:ext uri="{FF2B5EF4-FFF2-40B4-BE49-F238E27FC236}">
                <a16:creationId xmlns:a16="http://schemas.microsoft.com/office/drawing/2014/main" id="{580EC88D-2423-4605-BD0A-89B04DEB271D}"/>
              </a:ext>
            </a:extLst>
          </p:cNvPr>
          <p:cNvSpPr>
            <a:spLocks xmlns:a="http://schemas.openxmlformats.org/drawingml/2006/main" noGrp="1"/>
          </p:cNvSpPr>
          <p:nvPr/>
        </p:nvSpPr>
        <p:spPr>
          <a:xfrm xmlns:a="http://schemas.openxmlformats.org/drawingml/2006/main">
            <a:off x="8330183"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The empirical person is body–mind, but the true Self is nondual awareness. The world is mithya: dependently real, not absolutely real.</a:t>
            </a:r>
          </a:p>
        </p:txBody>
      </p:sp>
      <p:sp>
        <p:nvSpPr>
          <p:cNvPr id="27" name="Rounded Rectangle 26">
            <a:extLst xmlns:a="http://schemas.openxmlformats.org/drawingml/2006/main">
              <a:ext uri="{FF2B5EF4-FFF2-40B4-BE49-F238E27FC236}">
                <a16:creationId xmlns:a16="http://schemas.microsoft.com/office/drawing/2014/main" id="{E3B80CFB-6869-42BF-8B5D-82489A848666}"/>
              </a:ext>
            </a:extLst>
          </p:cNvPr>
          <p:cNvSpPr>
            <a:spLocks xmlns:a="http://schemas.openxmlformats.org/drawingml/2006/main" noGrp="1"/>
          </p:cNvSpPr>
          <p:nvPr/>
        </p:nvSpPr>
        <p:spPr>
          <a:xfrm xmlns:a="http://schemas.openxmlformats.org/drawingml/2006/main">
            <a:off x="685800" y="5440680"/>
            <a:ext cx="10817352" cy="68580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14336693-43A8-4DC9-BF36-33ADA19DDEEB}"/>
              </a:ext>
            </a:extLst>
          </p:cNvPr>
          <p:cNvSpPr>
            <a:spLocks xmlns:a="http://schemas.openxmlformats.org/drawingml/2006/main" noGrp="1"/>
          </p:cNvSpPr>
          <p:nvPr/>
        </p:nvSpPr>
        <p:spPr>
          <a:xfrm xmlns:a="http://schemas.openxmlformats.org/drawingml/2006/main">
            <a:off x="1005840" y="5440680"/>
            <a:ext cx="10177272"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Shared experience does not decide ontology. Each view must show why its further inference is warranted.</a:t>
            </a:r>
          </a:p>
        </p:txBody>
      </p:sp>
    </p:spTree>
    <p:extLst>
      <p:ext uri="{BB962C8B-B14F-4D97-AF65-F5344CB8AC3E}">
        <p14:creationId xmlns:p14="http://schemas.microsoft.com/office/powerpoint/2010/main" val="68153239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625EFA-C1AE-4E0C-9A3A-C15AB0B3AD6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A50BE98D-10CF-4A1D-AF31-37004A732987}"/>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3F74E43C-CE98-45F6-9EA3-35F662AA182D}"/>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E817D41-36DC-436F-9C3F-AB19816A419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A3F12C8-F73C-46C5-97AD-AC07948CCF2C}"/>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ORIENTATION</a:t>
            </a:r>
          </a:p>
        </p:txBody>
      </p:sp>
      <p:sp>
        <p:nvSpPr>
          <p:cNvPr id="7" name="TextBox 6">
            <a:extLst xmlns:a="http://schemas.openxmlformats.org/drawingml/2006/main">
              <a:ext uri="{FF2B5EF4-FFF2-40B4-BE49-F238E27FC236}">
                <a16:creationId xmlns:a16="http://schemas.microsoft.com/office/drawing/2014/main" id="{F0B6A14B-0DAF-4B10-AFE1-5CBB3BF497F4}"/>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How We'll Compare the Three Views</a:t>
            </a:r>
          </a:p>
        </p:txBody>
      </p:sp>
      <p:sp>
        <p:nvSpPr>
          <p:cNvPr id="8" name="TextBox 7">
            <a:extLst xmlns:a="http://schemas.openxmlformats.org/drawingml/2006/main">
              <a:ext uri="{FF2B5EF4-FFF2-40B4-BE49-F238E27FC236}">
                <a16:creationId xmlns:a16="http://schemas.microsoft.com/office/drawing/2014/main" id="{3202011E-CD13-4927-9ACF-AA30307386ED}"/>
              </a:ext>
            </a:extLst>
          </p:cNvPr>
          <p:cNvSpPr>
            <a:spLocks xmlns:a="http://schemas.openxmlformats.org/drawingml/2006/main" noGrp="1"/>
          </p:cNvSpPr>
          <p:nvPr/>
        </p:nvSpPr>
        <p:spPr>
          <a:xfrm xmlns:a="http://schemas.openxmlformats.org/drawingml/2006/main">
            <a:off x="685800" y="178308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Keep the lived data fixed, then compare what each framework adds to explain it.</a:t>
            </a:r>
          </a:p>
        </p:txBody>
      </p:sp>
      <p:sp>
        <p:nvSpPr>
          <p:cNvPr id="9" name="Oval 8">
            <a:extLst xmlns:a="http://schemas.openxmlformats.org/drawingml/2006/main">
              <a:ext uri="{FF2B5EF4-FFF2-40B4-BE49-F238E27FC236}">
                <a16:creationId xmlns:a16="http://schemas.microsoft.com/office/drawing/2014/main" id="{2E6E7846-4551-46F8-B944-59E99C9A05FB}"/>
              </a:ext>
            </a:extLst>
          </p:cNvPr>
          <p:cNvSpPr>
            <a:spLocks xmlns:a="http://schemas.openxmlformats.org/drawingml/2006/main" noGrp="1"/>
          </p:cNvSpPr>
          <p:nvPr/>
        </p:nvSpPr>
        <p:spPr>
          <a:xfrm xmlns:a="http://schemas.openxmlformats.org/drawingml/2006/main">
            <a:off x="704088" y="2697480"/>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B92E231-C8EA-404E-9F64-E4418E0FFC4B}"/>
              </a:ext>
            </a:extLst>
          </p:cNvPr>
          <p:cNvSpPr>
            <a:spLocks xmlns:a="http://schemas.openxmlformats.org/drawingml/2006/main" noGrp="1"/>
          </p:cNvSpPr>
          <p:nvPr/>
        </p:nvSpPr>
        <p:spPr>
          <a:xfrm xmlns:a="http://schemas.openxmlformats.org/drawingml/2006/main">
            <a:off x="704088" y="2697480"/>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1</a:t>
            </a:r>
          </a:p>
        </p:txBody>
      </p:sp>
      <p:sp>
        <p:nvSpPr>
          <p:cNvPr id="11" name="TextBox 10">
            <a:extLst xmlns:a="http://schemas.openxmlformats.org/drawingml/2006/main">
              <a:ext uri="{FF2B5EF4-FFF2-40B4-BE49-F238E27FC236}">
                <a16:creationId xmlns:a16="http://schemas.microsoft.com/office/drawing/2014/main" id="{5BBBA33C-AB0C-403F-9171-37E9C36C085E}"/>
              </a:ext>
            </a:extLst>
          </p:cNvPr>
          <p:cNvSpPr>
            <a:spLocks xmlns:a="http://schemas.openxmlformats.org/drawingml/2006/main" noGrp="1"/>
          </p:cNvSpPr>
          <p:nvPr/>
        </p:nvSpPr>
        <p:spPr>
          <a:xfrm xmlns:a="http://schemas.openxmlformats.org/drawingml/2006/main">
            <a:off x="1463040" y="2715768"/>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Lived data</a:t>
            </a:r>
          </a:p>
        </p:txBody>
      </p:sp>
      <p:sp>
        <p:nvSpPr>
          <p:cNvPr id="12" name="TextBox 11">
            <a:extLst xmlns:a="http://schemas.openxmlformats.org/drawingml/2006/main">
              <a:ext uri="{FF2B5EF4-FFF2-40B4-BE49-F238E27FC236}">
                <a16:creationId xmlns:a16="http://schemas.microsoft.com/office/drawing/2014/main" id="{5DEF36BE-5AA6-4E61-B57E-62C75BD40D23}"/>
              </a:ext>
            </a:extLst>
          </p:cNvPr>
          <p:cNvSpPr>
            <a:spLocks xmlns:a="http://schemas.openxmlformats.org/drawingml/2006/main" noGrp="1"/>
          </p:cNvSpPr>
          <p:nvPr/>
        </p:nvSpPr>
        <p:spPr>
          <a:xfrm xmlns:a="http://schemas.openxmlformats.org/drawingml/2006/main">
            <a:off x="4663440" y="2743200"/>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Separate the experiences needing explanation from any claim about their ultimate cause.</a:t>
            </a:r>
          </a:p>
        </p:txBody>
      </p:sp>
      <p:sp>
        <p:nvSpPr>
          <p:cNvPr id="13" name="Oval 12">
            <a:extLst xmlns:a="http://schemas.openxmlformats.org/drawingml/2006/main">
              <a:ext uri="{FF2B5EF4-FFF2-40B4-BE49-F238E27FC236}">
                <a16:creationId xmlns:a16="http://schemas.microsoft.com/office/drawing/2014/main" id="{7127A8E9-7C68-4B9B-8133-5AA9845955DC}"/>
              </a:ext>
            </a:extLst>
          </p:cNvPr>
          <p:cNvSpPr>
            <a:spLocks xmlns:a="http://schemas.openxmlformats.org/drawingml/2006/main" noGrp="1"/>
          </p:cNvSpPr>
          <p:nvPr/>
        </p:nvSpPr>
        <p:spPr>
          <a:xfrm xmlns:a="http://schemas.openxmlformats.org/drawingml/2006/main">
            <a:off x="704088" y="3447287"/>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49B02CEE-C2BD-493D-945C-A650A93AE7CC}"/>
              </a:ext>
            </a:extLst>
          </p:cNvPr>
          <p:cNvSpPr>
            <a:spLocks xmlns:a="http://schemas.openxmlformats.org/drawingml/2006/main" noGrp="1"/>
          </p:cNvSpPr>
          <p:nvPr/>
        </p:nvSpPr>
        <p:spPr>
          <a:xfrm xmlns:a="http://schemas.openxmlformats.org/drawingml/2006/main">
            <a:off x="704088" y="3447288"/>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2</a:t>
            </a:r>
          </a:p>
        </p:txBody>
      </p:sp>
      <p:sp>
        <p:nvSpPr>
          <p:cNvPr id="15" name="TextBox 14">
            <a:extLst xmlns:a="http://schemas.openxmlformats.org/drawingml/2006/main">
              <a:ext uri="{FF2B5EF4-FFF2-40B4-BE49-F238E27FC236}">
                <a16:creationId xmlns:a16="http://schemas.microsoft.com/office/drawing/2014/main" id="{D68A8775-6152-4A9F-B4AF-2E235C99F615}"/>
              </a:ext>
            </a:extLst>
          </p:cNvPr>
          <p:cNvSpPr>
            <a:spLocks xmlns:a="http://schemas.openxmlformats.org/drawingml/2006/main" noGrp="1"/>
          </p:cNvSpPr>
          <p:nvPr/>
        </p:nvSpPr>
        <p:spPr>
          <a:xfrm xmlns:a="http://schemas.openxmlformats.org/drawingml/2006/main">
            <a:off x="1463040" y="3465576"/>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Madhyasth model</a:t>
            </a:r>
          </a:p>
        </p:txBody>
      </p:sp>
      <p:sp>
        <p:nvSpPr>
          <p:cNvPr id="16" name="TextBox 15">
            <a:extLst xmlns:a="http://schemas.openxmlformats.org/drawingml/2006/main">
              <a:ext uri="{FF2B5EF4-FFF2-40B4-BE49-F238E27FC236}">
                <a16:creationId xmlns:a16="http://schemas.microsoft.com/office/drawing/2014/main" id="{1969EEC0-6CE7-4278-AFAC-385A94C6BCBF}"/>
              </a:ext>
            </a:extLst>
          </p:cNvPr>
          <p:cNvSpPr>
            <a:spLocks xmlns:a="http://schemas.openxmlformats.org/drawingml/2006/main" noGrp="1"/>
          </p:cNvSpPr>
          <p:nvPr/>
        </p:nvSpPr>
        <p:spPr>
          <a:xfrm xmlns:a="http://schemas.openxmlformats.org/drawingml/2006/main">
            <a:off x="4663440" y="3493008"/>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Examine body + jeevan, the four orders, and verification through understanding and conduct.</a:t>
            </a:r>
          </a:p>
        </p:txBody>
      </p:sp>
      <p:sp>
        <p:nvSpPr>
          <p:cNvPr id="17" name="Oval 16">
            <a:extLst xmlns:a="http://schemas.openxmlformats.org/drawingml/2006/main">
              <a:ext uri="{FF2B5EF4-FFF2-40B4-BE49-F238E27FC236}">
                <a16:creationId xmlns:a16="http://schemas.microsoft.com/office/drawing/2014/main" id="{D0C6E8CE-5029-4F6E-8935-34AFC866AB0A}"/>
              </a:ext>
            </a:extLst>
          </p:cNvPr>
          <p:cNvSpPr>
            <a:spLocks xmlns:a="http://schemas.openxmlformats.org/drawingml/2006/main" noGrp="1"/>
          </p:cNvSpPr>
          <p:nvPr/>
        </p:nvSpPr>
        <p:spPr>
          <a:xfrm xmlns:a="http://schemas.openxmlformats.org/drawingml/2006/main">
            <a:off x="704088" y="4197096"/>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706F4659-C785-4A81-A800-4F921B1BF786}"/>
              </a:ext>
            </a:extLst>
          </p:cNvPr>
          <p:cNvSpPr>
            <a:spLocks xmlns:a="http://schemas.openxmlformats.org/drawingml/2006/main" noGrp="1"/>
          </p:cNvSpPr>
          <p:nvPr/>
        </p:nvSpPr>
        <p:spPr>
          <a:xfrm xmlns:a="http://schemas.openxmlformats.org/drawingml/2006/main">
            <a:off x="704088" y="4197096"/>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3</a:t>
            </a:r>
          </a:p>
        </p:txBody>
      </p:sp>
      <p:sp>
        <p:nvSpPr>
          <p:cNvPr id="19" name="TextBox 18">
            <a:extLst xmlns:a="http://schemas.openxmlformats.org/drawingml/2006/main">
              <a:ext uri="{FF2B5EF4-FFF2-40B4-BE49-F238E27FC236}">
                <a16:creationId xmlns:a16="http://schemas.microsoft.com/office/drawing/2014/main" id="{B2B4D0A1-8FCE-4F8B-B426-842B37A108DD}"/>
              </a:ext>
            </a:extLst>
          </p:cNvPr>
          <p:cNvSpPr>
            <a:spLocks xmlns:a="http://schemas.openxmlformats.org/drawingml/2006/main" noGrp="1"/>
          </p:cNvSpPr>
          <p:nvPr/>
        </p:nvSpPr>
        <p:spPr>
          <a:xfrm xmlns:a="http://schemas.openxmlformats.org/drawingml/2006/main">
            <a:off x="1463040" y="4215383"/>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Scientific evidence</a:t>
            </a:r>
          </a:p>
        </p:txBody>
      </p:sp>
      <p:sp>
        <p:nvSpPr>
          <p:cNvPr id="20" name="TextBox 19">
            <a:extLst xmlns:a="http://schemas.openxmlformats.org/drawingml/2006/main">
              <a:ext uri="{FF2B5EF4-FFF2-40B4-BE49-F238E27FC236}">
                <a16:creationId xmlns:a16="http://schemas.microsoft.com/office/drawing/2014/main" id="{BBD4A6A8-405F-4B56-8A23-AE39B2C4D7F3}"/>
              </a:ext>
            </a:extLst>
          </p:cNvPr>
          <p:cNvSpPr>
            <a:spLocks xmlns:a="http://schemas.openxmlformats.org/drawingml/2006/main" noGrp="1"/>
          </p:cNvSpPr>
          <p:nvPr/>
        </p:nvSpPr>
        <p:spPr>
          <a:xfrm xmlns:a="http://schemas.openxmlformats.org/drawingml/2006/main">
            <a:off x="4663440" y="4242816"/>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Distinguish measured brain–body dependence from the physicalist claim of sufficiency.</a:t>
            </a:r>
          </a:p>
        </p:txBody>
      </p:sp>
      <p:sp>
        <p:nvSpPr>
          <p:cNvPr id="21" name="Oval 20">
            <a:extLst xmlns:a="http://schemas.openxmlformats.org/drawingml/2006/main">
              <a:ext uri="{FF2B5EF4-FFF2-40B4-BE49-F238E27FC236}">
                <a16:creationId xmlns:a16="http://schemas.microsoft.com/office/drawing/2014/main" id="{F0C93DF2-642D-4775-AF6D-42EDC6CB5C3B}"/>
              </a:ext>
            </a:extLst>
          </p:cNvPr>
          <p:cNvSpPr>
            <a:spLocks xmlns:a="http://schemas.openxmlformats.org/drawingml/2006/main" noGrp="1"/>
          </p:cNvSpPr>
          <p:nvPr/>
        </p:nvSpPr>
        <p:spPr>
          <a:xfrm xmlns:a="http://schemas.openxmlformats.org/drawingml/2006/main">
            <a:off x="704088" y="4946904"/>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03E0CC9E-4E77-4D15-AA9C-C151BEFCB97D}"/>
              </a:ext>
            </a:extLst>
          </p:cNvPr>
          <p:cNvSpPr>
            <a:spLocks xmlns:a="http://schemas.openxmlformats.org/drawingml/2006/main" noGrp="1"/>
          </p:cNvSpPr>
          <p:nvPr/>
        </p:nvSpPr>
        <p:spPr>
          <a:xfrm xmlns:a="http://schemas.openxmlformats.org/drawingml/2006/main">
            <a:off x="704088" y="4946904"/>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4</a:t>
            </a:r>
          </a:p>
        </p:txBody>
      </p:sp>
      <p:sp>
        <p:nvSpPr>
          <p:cNvPr id="23" name="TextBox 22">
            <a:extLst xmlns:a="http://schemas.openxmlformats.org/drawingml/2006/main">
              <a:ext uri="{FF2B5EF4-FFF2-40B4-BE49-F238E27FC236}">
                <a16:creationId xmlns:a16="http://schemas.microsoft.com/office/drawing/2014/main" id="{D0E81C14-7879-4D37-8BD6-59CEB046329C}"/>
              </a:ext>
            </a:extLst>
          </p:cNvPr>
          <p:cNvSpPr>
            <a:spLocks xmlns:a="http://schemas.openxmlformats.org/drawingml/2006/main" noGrp="1"/>
          </p:cNvSpPr>
          <p:nvPr/>
        </p:nvSpPr>
        <p:spPr>
          <a:xfrm xmlns:a="http://schemas.openxmlformats.org/drawingml/2006/main">
            <a:off x="1463040" y="4965192"/>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Advaita model</a:t>
            </a:r>
          </a:p>
        </p:txBody>
      </p:sp>
      <p:sp>
        <p:nvSpPr>
          <p:cNvPr id="24" name="TextBox 23">
            <a:extLst xmlns:a="http://schemas.openxmlformats.org/drawingml/2006/main">
              <a:ext uri="{FF2B5EF4-FFF2-40B4-BE49-F238E27FC236}">
                <a16:creationId xmlns:a16="http://schemas.microsoft.com/office/drawing/2014/main" id="{4869728D-D9FE-43E3-AC1C-2FA5AEE519B1}"/>
              </a:ext>
            </a:extLst>
          </p:cNvPr>
          <p:cNvSpPr>
            <a:spLocks xmlns:a="http://schemas.openxmlformats.org/drawingml/2006/main" noGrp="1"/>
          </p:cNvSpPr>
          <p:nvPr/>
        </p:nvSpPr>
        <p:spPr>
          <a:xfrm xmlns:a="http://schemas.openxmlformats.org/drawingml/2006/main">
            <a:off x="4663440" y="4992624"/>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Examine witness, koshas, mithya, and the inference from awareness to Brahman.</a:t>
            </a:r>
          </a:p>
        </p:txBody>
      </p:sp>
      <p:sp>
        <p:nvSpPr>
          <p:cNvPr id="25" name="Oval 24">
            <a:extLst xmlns:a="http://schemas.openxmlformats.org/drawingml/2006/main">
              <a:ext uri="{FF2B5EF4-FFF2-40B4-BE49-F238E27FC236}">
                <a16:creationId xmlns:a16="http://schemas.microsoft.com/office/drawing/2014/main" id="{DE64FF72-1E80-44F1-81DD-9EC35E3A76D2}"/>
              </a:ext>
            </a:extLst>
          </p:cNvPr>
          <p:cNvSpPr>
            <a:spLocks xmlns:a="http://schemas.openxmlformats.org/drawingml/2006/main" noGrp="1"/>
          </p:cNvSpPr>
          <p:nvPr/>
        </p:nvSpPr>
        <p:spPr>
          <a:xfrm xmlns:a="http://schemas.openxmlformats.org/drawingml/2006/main">
            <a:off x="704088" y="5696712"/>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C5678257-D723-4531-B86D-000B8AA98062}"/>
              </a:ext>
            </a:extLst>
          </p:cNvPr>
          <p:cNvSpPr>
            <a:spLocks xmlns:a="http://schemas.openxmlformats.org/drawingml/2006/main" noGrp="1"/>
          </p:cNvSpPr>
          <p:nvPr/>
        </p:nvSpPr>
        <p:spPr>
          <a:xfrm xmlns:a="http://schemas.openxmlformats.org/drawingml/2006/main">
            <a:off x="704088" y="5696712"/>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5</a:t>
            </a:r>
          </a:p>
        </p:txBody>
      </p:sp>
      <p:sp>
        <p:nvSpPr>
          <p:cNvPr id="27" name="TextBox 26">
            <a:extLst xmlns:a="http://schemas.openxmlformats.org/drawingml/2006/main">
              <a:ext uri="{FF2B5EF4-FFF2-40B4-BE49-F238E27FC236}">
                <a16:creationId xmlns:a16="http://schemas.microsoft.com/office/drawing/2014/main" id="{15DD9246-B221-4FC0-B098-A9C7F7CF512A}"/>
              </a:ext>
            </a:extLst>
          </p:cNvPr>
          <p:cNvSpPr>
            <a:spLocks xmlns:a="http://schemas.openxmlformats.org/drawingml/2006/main" noGrp="1"/>
          </p:cNvSpPr>
          <p:nvPr/>
        </p:nvSpPr>
        <p:spPr>
          <a:xfrm xmlns:a="http://schemas.openxmlformats.org/drawingml/2006/main">
            <a:off x="1463040" y="5715000"/>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Compare and test</a:t>
            </a:r>
          </a:p>
        </p:txBody>
      </p:sp>
      <p:sp>
        <p:nvSpPr>
          <p:cNvPr id="28" name="TextBox 27">
            <a:extLst xmlns:a="http://schemas.openxmlformats.org/drawingml/2006/main">
              <a:ext uri="{FF2B5EF4-FFF2-40B4-BE49-F238E27FC236}">
                <a16:creationId xmlns:a16="http://schemas.microsoft.com/office/drawing/2014/main" id="{E4509833-CCFF-49A9-BF45-F2C357DA5ADE}"/>
              </a:ext>
            </a:extLst>
          </p:cNvPr>
          <p:cNvSpPr>
            <a:spLocks xmlns:a="http://schemas.openxmlformats.org/drawingml/2006/main" noGrp="1"/>
          </p:cNvSpPr>
          <p:nvPr/>
        </p:nvSpPr>
        <p:spPr>
          <a:xfrm xmlns:a="http://schemas.openxmlformats.org/drawingml/2006/main">
            <a:off x="4663440" y="5742432"/>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Ask what each view explains, assumes, predicts, and leaves open.</a:t>
            </a:r>
          </a:p>
        </p:txBody>
      </p:sp>
    </p:spTree>
    <p:extLst>
      <p:ext uri="{BB962C8B-B14F-4D97-AF65-F5344CB8AC3E}">
        <p14:creationId xmlns:p14="http://schemas.microsoft.com/office/powerpoint/2010/main" val="7920907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84E225E-F8BB-4652-80D5-F47C555D8C9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8CB7E410-5F5C-4D5D-985D-8648DD69BB5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9A78AC4-6092-4C63-9E49-D97089E8300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B36453B6-5FB0-4E60-ADCB-7EC262368052}"/>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8CB18D7-B72E-4DAB-AAE4-DB1DF24FF0F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PHENOMENOLOGY</a:t>
            </a:r>
          </a:p>
        </p:txBody>
      </p:sp>
      <p:sp>
        <p:nvSpPr>
          <p:cNvPr id="7" name="TextBox 6">
            <a:extLst xmlns:a="http://schemas.openxmlformats.org/drawingml/2006/main">
              <a:ext uri="{FF2B5EF4-FFF2-40B4-BE49-F238E27FC236}">
                <a16:creationId xmlns:a16="http://schemas.microsoft.com/office/drawing/2014/main" id="{206EB2D3-6F8F-42C6-82ED-BFAB255417D8}"/>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Four Experiences That Need Explanation</a:t>
            </a:r>
          </a:p>
        </p:txBody>
      </p:sp>
      <p:sp>
        <p:nvSpPr>
          <p:cNvPr id="8" name="TextBox 7">
            <a:extLst xmlns:a="http://schemas.openxmlformats.org/drawingml/2006/main">
              <a:ext uri="{FF2B5EF4-FFF2-40B4-BE49-F238E27FC236}">
                <a16:creationId xmlns:a16="http://schemas.microsoft.com/office/drawing/2014/main" id="{D2FB2E0E-D7B3-4CD8-B435-B123F3786838}"/>
              </a:ext>
            </a:extLst>
          </p:cNvPr>
          <p:cNvSpPr>
            <a:spLocks xmlns:a="http://schemas.openxmlformats.org/drawingml/2006/main" noGrp="1"/>
          </p:cNvSpPr>
          <p:nvPr/>
        </p:nvSpPr>
        <p:spPr>
          <a:xfrm xmlns:a="http://schemas.openxmlformats.org/drawingml/2006/main">
            <a:off x="685800" y="1737360"/>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These experiences need explanation. They do not alone identify their bearer.</a:t>
            </a:r>
          </a:p>
        </p:txBody>
      </p:sp>
      <p:sp>
        <p:nvSpPr>
          <p:cNvPr id="9" name="Rounded Rectangle 8">
            <a:extLst xmlns:a="http://schemas.openxmlformats.org/drawingml/2006/main">
              <a:ext uri="{FF2B5EF4-FFF2-40B4-BE49-F238E27FC236}">
                <a16:creationId xmlns:a16="http://schemas.microsoft.com/office/drawing/2014/main" id="{1679F28C-0D51-4895-BF98-31E395D627DA}"/>
              </a:ext>
            </a:extLst>
          </p:cNvPr>
          <p:cNvSpPr>
            <a:spLocks xmlns:a="http://schemas.openxmlformats.org/drawingml/2006/main" noGrp="1"/>
          </p:cNvSpPr>
          <p:nvPr/>
        </p:nvSpPr>
        <p:spPr>
          <a:xfrm xmlns:a="http://schemas.openxmlformats.org/drawingml/2006/main">
            <a:off x="685800" y="22860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2E7A0E1E-CD42-49C9-B73C-E136338029D4}"/>
              </a:ext>
            </a:extLst>
          </p:cNvPr>
          <p:cNvSpPr>
            <a:spLocks xmlns:a="http://schemas.openxmlformats.org/drawingml/2006/main" noGrp="1"/>
          </p:cNvSpPr>
          <p:nvPr/>
        </p:nvSpPr>
        <p:spPr>
          <a:xfrm xmlns:a="http://schemas.openxmlformats.org/drawingml/2006/main">
            <a:off x="898855" y="24807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AB1ECDB3-6A6B-4F6A-AE09-0AE24966267D}"/>
              </a:ext>
            </a:extLst>
          </p:cNvPr>
          <p:cNvSpPr>
            <a:spLocks xmlns:a="http://schemas.openxmlformats.org/drawingml/2006/main" noGrp="1"/>
          </p:cNvSpPr>
          <p:nvPr/>
        </p:nvSpPr>
        <p:spPr>
          <a:xfrm xmlns:a="http://schemas.openxmlformats.org/drawingml/2006/main">
            <a:off x="977036" y="25589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FAE8C9EC-3277-4653-B1FD-760FF3C0D03F}"/>
              </a:ext>
            </a:extLst>
          </p:cNvPr>
          <p:cNvSpPr>
            <a:spLocks xmlns:a="http://schemas.openxmlformats.org/drawingml/2006/main" noGrp="1"/>
          </p:cNvSpPr>
          <p:nvPr/>
        </p:nvSpPr>
        <p:spPr>
          <a:xfrm xmlns:a="http://schemas.openxmlformats.org/drawingml/2006/main">
            <a:off x="1038758" y="26206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398E4BE3-E2D4-44BB-B665-708B60EA502F}"/>
              </a:ext>
            </a:extLst>
          </p:cNvPr>
          <p:cNvSpPr>
            <a:spLocks xmlns:a="http://schemas.openxmlformats.org/drawingml/2006/main" noGrp="1"/>
          </p:cNvSpPr>
          <p:nvPr/>
        </p:nvSpPr>
        <p:spPr>
          <a:xfrm xmlns:a="http://schemas.openxmlformats.org/drawingml/2006/main">
            <a:off x="1444752" y="24871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Two modes of fulfilment</a:t>
            </a:r>
          </a:p>
        </p:txBody>
      </p:sp>
      <p:sp>
        <p:nvSpPr>
          <p:cNvPr id="14" name="TextBox 13">
            <a:extLst xmlns:a="http://schemas.openxmlformats.org/drawingml/2006/main">
              <a:ext uri="{FF2B5EF4-FFF2-40B4-BE49-F238E27FC236}">
                <a16:creationId xmlns:a16="http://schemas.microsoft.com/office/drawing/2014/main" id="{59BC337A-9E0B-4C63-B214-F6BC357C33D2}"/>
              </a:ext>
            </a:extLst>
          </p:cNvPr>
          <p:cNvSpPr>
            <a:spLocks xmlns:a="http://schemas.openxmlformats.org/drawingml/2006/main" noGrp="1"/>
          </p:cNvSpPr>
          <p:nvPr/>
        </p:nvSpPr>
        <p:spPr>
          <a:xfrm xmlns:a="http://schemas.openxmlformats.org/drawingml/2006/main">
            <a:off x="941832" y="29992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Food, rest, and safety answer bodily need; understanding, trust, and justice answer a different demand. The distinction is real even if its cause remains disputed.</a:t>
            </a:r>
          </a:p>
        </p:txBody>
      </p:sp>
      <p:sp>
        <p:nvSpPr>
          <p:cNvPr id="15" name="Rounded Rectangle 14">
            <a:extLst xmlns:a="http://schemas.openxmlformats.org/drawingml/2006/main">
              <a:ext uri="{FF2B5EF4-FFF2-40B4-BE49-F238E27FC236}">
                <a16:creationId xmlns:a16="http://schemas.microsoft.com/office/drawing/2014/main" id="{3EAA33BE-833B-4D28-9C6F-3E8C55120C67}"/>
              </a:ext>
            </a:extLst>
          </p:cNvPr>
          <p:cNvSpPr>
            <a:spLocks xmlns:a="http://schemas.openxmlformats.org/drawingml/2006/main" noGrp="1"/>
          </p:cNvSpPr>
          <p:nvPr/>
        </p:nvSpPr>
        <p:spPr>
          <a:xfrm xmlns:a="http://schemas.openxmlformats.org/drawingml/2006/main">
            <a:off x="6208776" y="22860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3BB50363-1D40-4E8F-8BBF-2A8F80794E8C}"/>
              </a:ext>
            </a:extLst>
          </p:cNvPr>
          <p:cNvSpPr>
            <a:spLocks xmlns:a="http://schemas.openxmlformats.org/drawingml/2006/main" noGrp="1"/>
          </p:cNvSpPr>
          <p:nvPr/>
        </p:nvSpPr>
        <p:spPr>
          <a:xfrm xmlns:a="http://schemas.openxmlformats.org/drawingml/2006/main">
            <a:off x="6421831" y="24807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D440C9A5-8D57-4439-A141-8EB4DE30CD9C}"/>
              </a:ext>
            </a:extLst>
          </p:cNvPr>
          <p:cNvSpPr>
            <a:spLocks xmlns:a="http://schemas.openxmlformats.org/drawingml/2006/main" noGrp="1"/>
          </p:cNvSpPr>
          <p:nvPr/>
        </p:nvSpPr>
        <p:spPr>
          <a:xfrm xmlns:a="http://schemas.openxmlformats.org/drawingml/2006/main">
            <a:off x="6500012" y="25589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CF1D4252-18FC-4133-A99B-4958ACE0D34D}"/>
              </a:ext>
            </a:extLst>
          </p:cNvPr>
          <p:cNvSpPr>
            <a:spLocks xmlns:a="http://schemas.openxmlformats.org/drawingml/2006/main" noGrp="1"/>
          </p:cNvSpPr>
          <p:nvPr/>
        </p:nvSpPr>
        <p:spPr>
          <a:xfrm xmlns:a="http://schemas.openxmlformats.org/drawingml/2006/main">
            <a:off x="6561734" y="26206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5799023-5237-4886-B398-D60B3EF3834F}"/>
              </a:ext>
            </a:extLst>
          </p:cNvPr>
          <p:cNvSpPr>
            <a:spLocks xmlns:a="http://schemas.openxmlformats.org/drawingml/2006/main" noGrp="1"/>
          </p:cNvSpPr>
          <p:nvPr/>
        </p:nvSpPr>
        <p:spPr>
          <a:xfrm xmlns:a="http://schemas.openxmlformats.org/drawingml/2006/main">
            <a:off x="6967728" y="24871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Continuous fulfilment</a:t>
            </a:r>
          </a:p>
        </p:txBody>
      </p:sp>
      <p:sp>
        <p:nvSpPr>
          <p:cNvPr id="20" name="TextBox 19">
            <a:extLst xmlns:a="http://schemas.openxmlformats.org/drawingml/2006/main">
              <a:ext uri="{FF2B5EF4-FFF2-40B4-BE49-F238E27FC236}">
                <a16:creationId xmlns:a16="http://schemas.microsoft.com/office/drawing/2014/main" id="{2CB7A6DD-81DA-464B-B88B-B93E12C619D5}"/>
              </a:ext>
            </a:extLst>
          </p:cNvPr>
          <p:cNvSpPr>
            <a:spLocks xmlns:a="http://schemas.openxmlformats.org/drawingml/2006/main" noGrp="1"/>
          </p:cNvSpPr>
          <p:nvPr/>
        </p:nvSpPr>
        <p:spPr>
          <a:xfrm xmlns:a="http://schemas.openxmlformats.org/drawingml/2006/main">
            <a:off x="6464808" y="29992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distinguishes recurring bodily needs from the wish for lasting happiness. Endless acquisition is one response to that wish.</a:t>
            </a:r>
          </a:p>
        </p:txBody>
      </p:sp>
      <p:sp>
        <p:nvSpPr>
          <p:cNvPr id="21" name="Rounded Rectangle 20">
            <a:extLst xmlns:a="http://schemas.openxmlformats.org/drawingml/2006/main">
              <a:ext uri="{FF2B5EF4-FFF2-40B4-BE49-F238E27FC236}">
                <a16:creationId xmlns:a16="http://schemas.microsoft.com/office/drawing/2014/main" id="{7C1F251F-043B-4DF8-9FCC-EE5CD5B4B25A}"/>
              </a:ext>
            </a:extLst>
          </p:cNvPr>
          <p:cNvSpPr>
            <a:spLocks xmlns:a="http://schemas.openxmlformats.org/drawingml/2006/main" noGrp="1"/>
          </p:cNvSpPr>
          <p:nvPr/>
        </p:nvSpPr>
        <p:spPr>
          <a:xfrm xmlns:a="http://schemas.openxmlformats.org/drawingml/2006/main">
            <a:off x="685800" y="41148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B15DFF3E-AED6-4CEC-BA0C-5AA653055EB0}"/>
              </a:ext>
            </a:extLst>
          </p:cNvPr>
          <p:cNvSpPr>
            <a:spLocks xmlns:a="http://schemas.openxmlformats.org/drawingml/2006/main" noGrp="1"/>
          </p:cNvSpPr>
          <p:nvPr/>
        </p:nvSpPr>
        <p:spPr>
          <a:xfrm xmlns:a="http://schemas.openxmlformats.org/drawingml/2006/main">
            <a:off x="898855" y="4309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1A7FFCF-EB19-456E-95FA-5D1522A039EB}"/>
              </a:ext>
            </a:extLst>
          </p:cNvPr>
          <p:cNvSpPr>
            <a:spLocks xmlns:a="http://schemas.openxmlformats.org/drawingml/2006/main" noGrp="1"/>
          </p:cNvSpPr>
          <p:nvPr/>
        </p:nvSpPr>
        <p:spPr>
          <a:xfrm xmlns:a="http://schemas.openxmlformats.org/drawingml/2006/main">
            <a:off x="977036" y="4387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ADBFEF9F-4932-45A9-BAD0-A83F254B12E5}"/>
              </a:ext>
            </a:extLst>
          </p:cNvPr>
          <p:cNvSpPr>
            <a:spLocks xmlns:a="http://schemas.openxmlformats.org/drawingml/2006/main" noGrp="1"/>
          </p:cNvSpPr>
          <p:nvPr/>
        </p:nvSpPr>
        <p:spPr>
          <a:xfrm xmlns:a="http://schemas.openxmlformats.org/drawingml/2006/main">
            <a:off x="1038758" y="4449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ED278E84-D8C1-4AAA-BF68-BE374027493B}"/>
              </a:ext>
            </a:extLst>
          </p:cNvPr>
          <p:cNvSpPr>
            <a:spLocks xmlns:a="http://schemas.openxmlformats.org/drawingml/2006/main" noGrp="1"/>
          </p:cNvSpPr>
          <p:nvPr/>
        </p:nvSpPr>
        <p:spPr>
          <a:xfrm xmlns:a="http://schemas.openxmlformats.org/drawingml/2006/main">
            <a:off x="1444752" y="43159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Self exceeds a snapshot</a:t>
            </a:r>
          </a:p>
        </p:txBody>
      </p:sp>
      <p:sp>
        <p:nvSpPr>
          <p:cNvPr id="26" name="TextBox 25">
            <a:extLst xmlns:a="http://schemas.openxmlformats.org/drawingml/2006/main">
              <a:ext uri="{FF2B5EF4-FFF2-40B4-BE49-F238E27FC236}">
                <a16:creationId xmlns:a16="http://schemas.microsoft.com/office/drawing/2014/main" id="{263CC83B-6139-423A-B1BF-58AA456C62E0}"/>
              </a:ext>
            </a:extLst>
          </p:cNvPr>
          <p:cNvSpPr>
            <a:spLocks xmlns:a="http://schemas.openxmlformats.org/drawingml/2006/main" noGrp="1"/>
          </p:cNvSpPr>
          <p:nvPr/>
        </p:nvSpPr>
        <p:spPr>
          <a:xfrm xmlns:a="http://schemas.openxmlformats.org/drawingml/2006/main">
            <a:off x="941832" y="48280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We experience personal continuity through bodily change. Remembering that continuity is different from showing uninterrupted awareness through sleep.</a:t>
            </a:r>
          </a:p>
        </p:txBody>
      </p:sp>
      <p:sp>
        <p:nvSpPr>
          <p:cNvPr id="27" name="Rounded Rectangle 26">
            <a:extLst xmlns:a="http://schemas.openxmlformats.org/drawingml/2006/main">
              <a:ext uri="{FF2B5EF4-FFF2-40B4-BE49-F238E27FC236}">
                <a16:creationId xmlns:a16="http://schemas.microsoft.com/office/drawing/2014/main" id="{758947F0-F8DA-4849-B881-778A20D9623C}"/>
              </a:ext>
            </a:extLst>
          </p:cNvPr>
          <p:cNvSpPr>
            <a:spLocks xmlns:a="http://schemas.openxmlformats.org/drawingml/2006/main" noGrp="1"/>
          </p:cNvSpPr>
          <p:nvPr/>
        </p:nvSpPr>
        <p:spPr>
          <a:xfrm xmlns:a="http://schemas.openxmlformats.org/drawingml/2006/main">
            <a:off x="6208776" y="41148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Oval 27">
            <a:extLst xmlns:a="http://schemas.openxmlformats.org/drawingml/2006/main">
              <a:ext uri="{FF2B5EF4-FFF2-40B4-BE49-F238E27FC236}">
                <a16:creationId xmlns:a16="http://schemas.microsoft.com/office/drawing/2014/main" id="{13D5CA92-5BF6-4123-99DC-DFC1FE5CBD85}"/>
              </a:ext>
            </a:extLst>
          </p:cNvPr>
          <p:cNvSpPr>
            <a:spLocks xmlns:a="http://schemas.openxmlformats.org/drawingml/2006/main" noGrp="1"/>
          </p:cNvSpPr>
          <p:nvPr/>
        </p:nvSpPr>
        <p:spPr>
          <a:xfrm xmlns:a="http://schemas.openxmlformats.org/drawingml/2006/main">
            <a:off x="6421831" y="4309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Oval 28">
            <a:extLst xmlns:a="http://schemas.openxmlformats.org/drawingml/2006/main">
              <a:ext uri="{FF2B5EF4-FFF2-40B4-BE49-F238E27FC236}">
                <a16:creationId xmlns:a16="http://schemas.microsoft.com/office/drawing/2014/main" id="{1C282A90-FB3F-4F94-B2F8-46171A6B8E31}"/>
              </a:ext>
            </a:extLst>
          </p:cNvPr>
          <p:cNvSpPr>
            <a:spLocks xmlns:a="http://schemas.openxmlformats.org/drawingml/2006/main" noGrp="1"/>
          </p:cNvSpPr>
          <p:nvPr/>
        </p:nvSpPr>
        <p:spPr>
          <a:xfrm xmlns:a="http://schemas.openxmlformats.org/drawingml/2006/main">
            <a:off x="6500012" y="4387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Oval 29">
            <a:extLst xmlns:a="http://schemas.openxmlformats.org/drawingml/2006/main">
              <a:ext uri="{FF2B5EF4-FFF2-40B4-BE49-F238E27FC236}">
                <a16:creationId xmlns:a16="http://schemas.microsoft.com/office/drawing/2014/main" id="{DD2AEE76-ACE6-4EC2-90C5-3549DE7CF556}"/>
              </a:ext>
            </a:extLst>
          </p:cNvPr>
          <p:cNvSpPr>
            <a:spLocks xmlns:a="http://schemas.openxmlformats.org/drawingml/2006/main" noGrp="1"/>
          </p:cNvSpPr>
          <p:nvPr/>
        </p:nvSpPr>
        <p:spPr>
          <a:xfrm xmlns:a="http://schemas.openxmlformats.org/drawingml/2006/main">
            <a:off x="6561734" y="4449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19D20C97-96E2-446F-89EB-49FA192B419B}"/>
              </a:ext>
            </a:extLst>
          </p:cNvPr>
          <p:cNvSpPr>
            <a:spLocks xmlns:a="http://schemas.openxmlformats.org/drawingml/2006/main" noGrp="1"/>
          </p:cNvSpPr>
          <p:nvPr/>
        </p:nvSpPr>
        <p:spPr>
          <a:xfrm xmlns:a="http://schemas.openxmlformats.org/drawingml/2006/main">
            <a:off x="6967728" y="43159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Early moral expectations</a:t>
            </a:r>
          </a:p>
        </p:txBody>
      </p:sp>
      <p:sp>
        <p:nvSpPr>
          <p:cNvPr id="32" name="TextBox 31">
            <a:extLst xmlns:a="http://schemas.openxmlformats.org/drawingml/2006/main">
              <a:ext uri="{FF2B5EF4-FFF2-40B4-BE49-F238E27FC236}">
                <a16:creationId xmlns:a16="http://schemas.microsoft.com/office/drawing/2014/main" id="{9A28DCEB-CE3E-4570-B7C0-062E70284F86}"/>
              </a:ext>
            </a:extLst>
          </p:cNvPr>
          <p:cNvSpPr>
            <a:spLocks xmlns:a="http://schemas.openxmlformats.org/drawingml/2006/main" noGrp="1"/>
          </p:cNvSpPr>
          <p:nvPr/>
        </p:nvSpPr>
        <p:spPr>
          <a:xfrm xmlns:a="http://schemas.openxmlformats.org/drawingml/2006/main">
            <a:off x="6464808" y="48280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proposes an inherent orientation to justice. Early social responses invite study; they do not yet establish a universal moral understanding at birth.</a:t>
            </a:r>
          </a:p>
        </p:txBody>
      </p:sp>
      <p:sp>
        <p:nvSpPr>
          <p:cNvPr id="33" name="TextBox 32">
            <a:extLst xmlns:a="http://schemas.openxmlformats.org/drawingml/2006/main">
              <a:ext uri="{FF2B5EF4-FFF2-40B4-BE49-F238E27FC236}">
                <a16:creationId xmlns:a16="http://schemas.microsoft.com/office/drawing/2014/main" id="{20057D2C-A972-4078-8D0D-1E3285A735CA}"/>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§1.2 · §2.2 · §3.2</a:t>
            </a:r>
          </a:p>
        </p:txBody>
      </p:sp>
    </p:spTree>
    <p:extLst>
      <p:ext uri="{BB962C8B-B14F-4D97-AF65-F5344CB8AC3E}">
        <p14:creationId xmlns:p14="http://schemas.microsoft.com/office/powerpoint/2010/main" val="170661267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49EF1E6-733B-4A6F-88E5-D2E467C4A79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F76119CC-626E-4D12-A6F3-C390DF1449C3}"/>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18C5CF6-A132-4B61-8DCD-5E089C6D1CA2}"/>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D0D29E3-8DC0-47B0-A834-CAFBB4B8CC3C}"/>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FB15298-F9FD-4CCC-9F6B-65B1195999A2}"/>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AND PHYSICALISM · REPLY</a:t>
            </a:r>
          </a:p>
        </p:txBody>
      </p:sp>
      <p:sp>
        <p:nvSpPr>
          <p:cNvPr id="7" name="TextBox 6">
            <a:extLst xmlns:a="http://schemas.openxmlformats.org/drawingml/2006/main">
              <a:ext uri="{FF2B5EF4-FFF2-40B4-BE49-F238E27FC236}">
                <a16:creationId xmlns:a16="http://schemas.microsoft.com/office/drawing/2014/main" id="{8E5E1C07-A891-490C-9EC4-7843CA2FD446}"/>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Real Experiences, Embodied Explanations</a:t>
            </a:r>
          </a:p>
        </p:txBody>
      </p:sp>
      <p:sp>
        <p:nvSpPr>
          <p:cNvPr id="8" name="TextBox 7">
            <a:extLst xmlns:a="http://schemas.openxmlformats.org/drawingml/2006/main">
              <a:ext uri="{FF2B5EF4-FFF2-40B4-BE49-F238E27FC236}">
                <a16:creationId xmlns:a16="http://schemas.microsoft.com/office/drawing/2014/main" id="{9F93FEAC-4485-4B9C-834E-B23789692B07}"/>
              </a:ext>
            </a:extLst>
          </p:cNvPr>
          <p:cNvSpPr>
            <a:spLocks xmlns:a="http://schemas.openxmlformats.org/drawingml/2006/main" noGrp="1"/>
          </p:cNvSpPr>
          <p:nvPr/>
        </p:nvSpPr>
        <p:spPr>
          <a:xfrm xmlns:a="http://schemas.openxmlformats.org/drawingml/2006/main">
            <a:off x="685800" y="1737360"/>
            <a:ext cx="10789920" cy="4988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Science establishes systematic dependence of experience on brain and body. Physicalism interprets that dependence as ontological sufficiency; that further step is philosophical.</a:t>
            </a:r>
          </a:p>
        </p:txBody>
      </p:sp>
      <p:sp>
        <p:nvSpPr>
          <p:cNvPr id="9" name="Rounded Rectangle 8">
            <a:extLst xmlns:a="http://schemas.openxmlformats.org/drawingml/2006/main">
              <a:ext uri="{FF2B5EF4-FFF2-40B4-BE49-F238E27FC236}">
                <a16:creationId xmlns:a16="http://schemas.microsoft.com/office/drawing/2014/main" id="{42F67026-7884-4EB0-88AE-74E7B83E7391}"/>
              </a:ext>
            </a:extLst>
          </p:cNvPr>
          <p:cNvSpPr>
            <a:spLocks xmlns:a="http://schemas.openxmlformats.org/drawingml/2006/main" noGrp="1"/>
          </p:cNvSpPr>
          <p:nvPr/>
        </p:nvSpPr>
        <p:spPr>
          <a:xfrm xmlns:a="http://schemas.openxmlformats.org/drawingml/2006/main">
            <a:off x="685800" y="224028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800FAABA-AD0E-40E7-BE9E-3CF057DB630D}"/>
              </a:ext>
            </a:extLst>
          </p:cNvPr>
          <p:cNvSpPr>
            <a:spLocks xmlns:a="http://schemas.openxmlformats.org/drawingml/2006/main" noGrp="1"/>
          </p:cNvSpPr>
          <p:nvPr/>
        </p:nvSpPr>
        <p:spPr>
          <a:xfrm xmlns:a="http://schemas.openxmlformats.org/drawingml/2006/main">
            <a:off x="941832" y="244144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Helping depends on brain function</a:t>
            </a:r>
          </a:p>
        </p:txBody>
      </p:sp>
      <p:sp>
        <p:nvSpPr>
          <p:cNvPr id="11" name="TextBox 10">
            <a:extLst xmlns:a="http://schemas.openxmlformats.org/drawingml/2006/main">
              <a:ext uri="{FF2B5EF4-FFF2-40B4-BE49-F238E27FC236}">
                <a16:creationId xmlns:a16="http://schemas.microsoft.com/office/drawing/2014/main" id="{CC217B43-8178-4757-AB87-228CFEF40634}"/>
              </a:ext>
            </a:extLst>
          </p:cNvPr>
          <p:cNvSpPr>
            <a:spLocks xmlns:a="http://schemas.openxmlformats.org/drawingml/2006/main" noGrp="1"/>
          </p:cNvSpPr>
          <p:nvPr/>
        </p:nvSpPr>
        <p:spPr>
          <a:xfrm xmlns:a="http://schemas.openxmlformats.org/drawingml/2006/main">
            <a:off x="941832" y="295351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People with damage to a particular frontal brain region were less willing to make an effort for others. The difference was selective.</a:t>
            </a:r>
          </a:p>
        </p:txBody>
      </p:sp>
      <p:sp>
        <p:nvSpPr>
          <p:cNvPr id="12" name="Rounded Rectangle 11">
            <a:extLst xmlns:a="http://schemas.openxmlformats.org/drawingml/2006/main">
              <a:ext uri="{FF2B5EF4-FFF2-40B4-BE49-F238E27FC236}">
                <a16:creationId xmlns:a16="http://schemas.microsoft.com/office/drawing/2014/main" id="{446F2F26-8FD3-4CBF-BC1F-2C56A8712945}"/>
              </a:ext>
            </a:extLst>
          </p:cNvPr>
          <p:cNvSpPr>
            <a:spLocks xmlns:a="http://schemas.openxmlformats.org/drawingml/2006/main" noGrp="1"/>
          </p:cNvSpPr>
          <p:nvPr/>
        </p:nvSpPr>
        <p:spPr>
          <a:xfrm xmlns:a="http://schemas.openxmlformats.org/drawingml/2006/main">
            <a:off x="6208776" y="224028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FFCDA55F-07AA-47EF-8E81-CAC2F62D8D3C}"/>
              </a:ext>
            </a:extLst>
          </p:cNvPr>
          <p:cNvSpPr>
            <a:spLocks xmlns:a="http://schemas.openxmlformats.org/drawingml/2006/main" noGrp="1"/>
          </p:cNvSpPr>
          <p:nvPr/>
        </p:nvSpPr>
        <p:spPr>
          <a:xfrm xmlns:a="http://schemas.openxmlformats.org/drawingml/2006/main">
            <a:off x="6464808" y="244144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Desire and ongoing goals</a:t>
            </a:r>
          </a:p>
        </p:txBody>
      </p:sp>
      <p:sp>
        <p:nvSpPr>
          <p:cNvPr id="14" name="TextBox 13">
            <a:extLst xmlns:a="http://schemas.openxmlformats.org/drawingml/2006/main">
              <a:ext uri="{FF2B5EF4-FFF2-40B4-BE49-F238E27FC236}">
                <a16:creationId xmlns:a16="http://schemas.microsoft.com/office/drawing/2014/main" id="{D057D879-3E86-4861-B8AE-30EDB86BCAC9}"/>
              </a:ext>
            </a:extLst>
          </p:cNvPr>
          <p:cNvSpPr>
            <a:spLocks xmlns:a="http://schemas.openxmlformats.org/drawingml/2006/main" noGrp="1"/>
          </p:cNvSpPr>
          <p:nvPr/>
        </p:nvSpPr>
        <p:spPr>
          <a:xfrm xmlns:a="http://schemas.openxmlformats.org/drawingml/2006/main">
            <a:off x="6464808" y="295351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Learning, prediction, language, and social comparison offer accounts of goals that continue beyond immediate bodily need.</a:t>
            </a:r>
          </a:p>
        </p:txBody>
      </p:sp>
      <p:sp>
        <p:nvSpPr>
          <p:cNvPr id="15" name="Rounded Rectangle 14">
            <a:extLst xmlns:a="http://schemas.openxmlformats.org/drawingml/2006/main">
              <a:ext uri="{FF2B5EF4-FFF2-40B4-BE49-F238E27FC236}">
                <a16:creationId xmlns:a16="http://schemas.microsoft.com/office/drawing/2014/main" id="{5167EF2D-C34C-4236-9E86-7F31FF4373F5}"/>
              </a:ext>
            </a:extLst>
          </p:cNvPr>
          <p:cNvSpPr>
            <a:spLocks xmlns:a="http://schemas.openxmlformats.org/drawingml/2006/main" noGrp="1"/>
          </p:cNvSpPr>
          <p:nvPr/>
        </p:nvSpPr>
        <p:spPr>
          <a:xfrm xmlns:a="http://schemas.openxmlformats.org/drawingml/2006/main">
            <a:off x="685800" y="379476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1C34AC07-6741-4211-A126-572FE2F9E31D}"/>
              </a:ext>
            </a:extLst>
          </p:cNvPr>
          <p:cNvSpPr>
            <a:spLocks xmlns:a="http://schemas.openxmlformats.org/drawingml/2006/main" noGrp="1"/>
          </p:cNvSpPr>
          <p:nvPr/>
        </p:nvSpPr>
        <p:spPr>
          <a:xfrm xmlns:a="http://schemas.openxmlformats.org/drawingml/2006/main">
            <a:off x="941832" y="399592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Bodily selfhood can change</a:t>
            </a:r>
          </a:p>
        </p:txBody>
      </p:sp>
      <p:sp>
        <p:nvSpPr>
          <p:cNvPr id="17" name="TextBox 16">
            <a:extLst xmlns:a="http://schemas.openxmlformats.org/drawingml/2006/main">
              <a:ext uri="{FF2B5EF4-FFF2-40B4-BE49-F238E27FC236}">
                <a16:creationId xmlns:a16="http://schemas.microsoft.com/office/drawing/2014/main" id="{BDBDCA6C-2644-461B-94FF-493418E12DAF}"/>
              </a:ext>
            </a:extLst>
          </p:cNvPr>
          <p:cNvSpPr>
            <a:spLocks xmlns:a="http://schemas.openxmlformats.org/drawingml/2006/main" noGrp="1"/>
          </p:cNvSpPr>
          <p:nvPr/>
        </p:nvSpPr>
        <p:spPr>
          <a:xfrm xmlns:a="http://schemas.openxmlformats.org/drawingml/2006/main">
            <a:off x="941832" y="450799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Brain stimulation can alter the felt location and perspective of the self. This constrains any account of body and subject.</a:t>
            </a:r>
          </a:p>
        </p:txBody>
      </p:sp>
      <p:sp>
        <p:nvSpPr>
          <p:cNvPr id="18" name="Rounded Rectangle 17">
            <a:extLst xmlns:a="http://schemas.openxmlformats.org/drawingml/2006/main">
              <a:ext uri="{FF2B5EF4-FFF2-40B4-BE49-F238E27FC236}">
                <a16:creationId xmlns:a16="http://schemas.microsoft.com/office/drawing/2014/main" id="{F0C33818-6D94-49BE-AE5C-BAB4B0257EEB}"/>
              </a:ext>
            </a:extLst>
          </p:cNvPr>
          <p:cNvSpPr>
            <a:spLocks xmlns:a="http://schemas.openxmlformats.org/drawingml/2006/main" noGrp="1"/>
          </p:cNvSpPr>
          <p:nvPr/>
        </p:nvSpPr>
        <p:spPr>
          <a:xfrm xmlns:a="http://schemas.openxmlformats.org/drawingml/2006/main">
            <a:off x="6208776" y="379476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8524E052-C873-4424-9CB6-25D1678D2211}"/>
              </a:ext>
            </a:extLst>
          </p:cNvPr>
          <p:cNvSpPr>
            <a:spLocks xmlns:a="http://schemas.openxmlformats.org/drawingml/2006/main" noGrp="1"/>
          </p:cNvSpPr>
          <p:nvPr/>
        </p:nvSpPr>
        <p:spPr>
          <a:xfrm xmlns:a="http://schemas.openxmlformats.org/drawingml/2006/main">
            <a:off x="6464808" y="399592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Early social responses</a:t>
            </a:r>
          </a:p>
        </p:txBody>
      </p:sp>
      <p:sp>
        <p:nvSpPr>
          <p:cNvPr id="20" name="TextBox 19">
            <a:extLst xmlns:a="http://schemas.openxmlformats.org/drawingml/2006/main">
              <a:ext uri="{FF2B5EF4-FFF2-40B4-BE49-F238E27FC236}">
                <a16:creationId xmlns:a16="http://schemas.microsoft.com/office/drawing/2014/main" id="{C7D6999A-292E-421E-9C66-04A97079CD2E}"/>
              </a:ext>
            </a:extLst>
          </p:cNvPr>
          <p:cNvSpPr>
            <a:spLocks xmlns:a="http://schemas.openxmlformats.org/drawingml/2006/main" noGrp="1"/>
          </p:cNvSpPr>
          <p:nvPr/>
        </p:nvSpPr>
        <p:spPr>
          <a:xfrm xmlns:a="http://schemas.openxmlformats.org/drawingml/2006/main">
            <a:off x="6464808" y="450799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Some newborns look longer at helpful actions. Other large infant studies find no reliable helper preference. The tasks differ.</a:t>
            </a:r>
          </a:p>
        </p:txBody>
      </p:sp>
      <p:sp>
        <p:nvSpPr>
          <p:cNvPr id="21" name="Rounded Rectangle 20">
            <a:extLst xmlns:a="http://schemas.openxmlformats.org/drawingml/2006/main">
              <a:ext uri="{FF2B5EF4-FFF2-40B4-BE49-F238E27FC236}">
                <a16:creationId xmlns:a16="http://schemas.microsoft.com/office/drawing/2014/main" id="{F5B9C9A9-2663-4073-BB2D-F5E4FA23C6A4}"/>
              </a:ext>
            </a:extLst>
          </p:cNvPr>
          <p:cNvSpPr>
            <a:spLocks xmlns:a="http://schemas.openxmlformats.org/drawingml/2006/main" noGrp="1"/>
          </p:cNvSpPr>
          <p:nvPr/>
        </p:nvSpPr>
        <p:spPr>
          <a:xfrm xmlns:a="http://schemas.openxmlformats.org/drawingml/2006/main">
            <a:off x="685800" y="5440680"/>
            <a:ext cx="10817352" cy="713232"/>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F0972695-CECE-4442-A8CA-FB46D8175CA7}"/>
              </a:ext>
            </a:extLst>
          </p:cNvPr>
          <p:cNvSpPr>
            <a:spLocks xmlns:a="http://schemas.openxmlformats.org/drawingml/2006/main" noGrp="1"/>
          </p:cNvSpPr>
          <p:nvPr/>
        </p:nvSpPr>
        <p:spPr>
          <a:xfrm xmlns:a="http://schemas.openxmlformats.org/drawingml/2006/main">
            <a:off x="1005840" y="5440680"/>
            <a:ext cx="101772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These findings strongly constrain a theory of the person. Their interpretation must distinguish what was measured from what is inferred.</a:t>
            </a:r>
          </a:p>
        </p:txBody>
      </p:sp>
      <p:sp>
        <p:nvSpPr>
          <p:cNvPr id="23" name="TextBox 22">
            <a:extLst xmlns:a="http://schemas.openxmlformats.org/drawingml/2006/main">
              <a:ext uri="{FF2B5EF4-FFF2-40B4-BE49-F238E27FC236}">
                <a16:creationId xmlns:a16="http://schemas.microsoft.com/office/drawing/2014/main" id="{9D9317A1-8EA6-4EE6-8601-BE3663BD48AD}"/>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Lockwood et al. 2024 · Lyu et al. 2023 · Geraci et al. 2025 · Lucca et al. 2025 · Study §2.2</a:t>
            </a:r>
          </a:p>
        </p:txBody>
      </p:sp>
    </p:spTree>
    <p:extLst>
      <p:ext uri="{BB962C8B-B14F-4D97-AF65-F5344CB8AC3E}">
        <p14:creationId xmlns:p14="http://schemas.microsoft.com/office/powerpoint/2010/main" val="158496900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92D0F8C-D2E1-40D5-9108-154689AFC5E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E208AAE0-629C-4449-A96B-10B565918577}"/>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A5D44DB-7623-4C26-A9E6-6BC24D511FA5}"/>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267B5988-7208-488D-AD21-855C996B3DD5}"/>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BC3AA2D-80E6-4F35-A870-57D212731B2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ADVAITA VEDANTA · PHENOMENOLOGY</a:t>
            </a:r>
          </a:p>
        </p:txBody>
      </p:sp>
      <p:sp>
        <p:nvSpPr>
          <p:cNvPr id="7" name="TextBox 6">
            <a:extLst xmlns:a="http://schemas.openxmlformats.org/drawingml/2006/main">
              <a:ext uri="{FF2B5EF4-FFF2-40B4-BE49-F238E27FC236}">
                <a16:creationId xmlns:a16="http://schemas.microsoft.com/office/drawing/2014/main" id="{410276C3-2C7B-4F10-964B-AF44ECBF18F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Neti Neti — Not This, Not This</a:t>
            </a:r>
          </a:p>
        </p:txBody>
      </p:sp>
      <p:sp>
        <p:nvSpPr>
          <p:cNvPr id="8" name="TextBox 7">
            <a:extLst xmlns:a="http://schemas.openxmlformats.org/drawingml/2006/main">
              <a:ext uri="{FF2B5EF4-FFF2-40B4-BE49-F238E27FC236}">
                <a16:creationId xmlns:a16="http://schemas.microsoft.com/office/drawing/2014/main" id="{9D0580C4-4FC7-4BA0-A117-B35D42A9653F}"/>
              </a:ext>
            </a:extLst>
          </p:cNvPr>
          <p:cNvSpPr>
            <a:spLocks xmlns:a="http://schemas.openxmlformats.org/drawingml/2006/main" noGrp="1"/>
          </p:cNvSpPr>
          <p:nvPr/>
        </p:nvSpPr>
        <p:spPr>
          <a:xfrm xmlns:a="http://schemas.openxmlformats.org/drawingml/2006/main">
            <a:off x="685800" y="17373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Turn attention inward and distinguish seer from seen (drig-drishya-viveka). Whatever appears as an object—including body, thought, and ego—is not the ultimate subject.</a:t>
            </a:r>
          </a:p>
        </p:txBody>
      </p:sp>
      <p:sp>
        <p:nvSpPr>
          <p:cNvPr id="9" name="Rounded Rectangle 8">
            <a:extLst xmlns:a="http://schemas.openxmlformats.org/drawingml/2006/main">
              <a:ext uri="{FF2B5EF4-FFF2-40B4-BE49-F238E27FC236}">
                <a16:creationId xmlns:a16="http://schemas.microsoft.com/office/drawing/2014/main" id="{A1CEDB8F-4A24-4405-A3E0-3CFDE01B2D04}"/>
              </a:ext>
            </a:extLst>
          </p:cNvPr>
          <p:cNvSpPr>
            <a:spLocks xmlns:a="http://schemas.openxmlformats.org/drawingml/2006/main" noGrp="1"/>
          </p:cNvSpPr>
          <p:nvPr/>
        </p:nvSpPr>
        <p:spPr>
          <a:xfrm xmlns:a="http://schemas.openxmlformats.org/drawingml/2006/main">
            <a:off x="685800" y="2788920"/>
            <a:ext cx="5257800" cy="19659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AEF20DEC-4DA4-439F-A476-3C021E6C57C4}"/>
              </a:ext>
            </a:extLst>
          </p:cNvPr>
          <p:cNvSpPr>
            <a:spLocks xmlns:a="http://schemas.openxmlformats.org/drawingml/2006/main" noGrp="1"/>
          </p:cNvSpPr>
          <p:nvPr/>
        </p:nvSpPr>
        <p:spPr>
          <a:xfrm xmlns:a="http://schemas.openxmlformats.org/drawingml/2006/main">
            <a:off x="898855" y="298368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81F2FA3D-94F3-470D-94BA-AE3B36AA76B8}"/>
              </a:ext>
            </a:extLst>
          </p:cNvPr>
          <p:cNvSpPr>
            <a:spLocks xmlns:a="http://schemas.openxmlformats.org/drawingml/2006/main" noGrp="1"/>
          </p:cNvSpPr>
          <p:nvPr/>
        </p:nvSpPr>
        <p:spPr>
          <a:xfrm xmlns:a="http://schemas.openxmlformats.org/drawingml/2006/main">
            <a:off x="977036" y="306186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2F4267A9-BE76-485F-8DF1-C0CD82B4D0AF}"/>
              </a:ext>
            </a:extLst>
          </p:cNvPr>
          <p:cNvSpPr>
            <a:spLocks xmlns:a="http://schemas.openxmlformats.org/drawingml/2006/main" noGrp="1"/>
          </p:cNvSpPr>
          <p:nvPr/>
        </p:nvSpPr>
        <p:spPr>
          <a:xfrm xmlns:a="http://schemas.openxmlformats.org/drawingml/2006/main">
            <a:off x="1038758" y="312359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76F6B33-84FE-4CAA-8C1E-7F8A5EFB801E}"/>
              </a:ext>
            </a:extLst>
          </p:cNvPr>
          <p:cNvSpPr>
            <a:spLocks xmlns:a="http://schemas.openxmlformats.org/drawingml/2006/main" noGrp="1"/>
          </p:cNvSpPr>
          <p:nvPr/>
        </p:nvSpPr>
        <p:spPr>
          <a:xfrm xmlns:a="http://schemas.openxmlformats.org/drawingml/2006/main">
            <a:off x="1444752" y="299008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Witness, not content</a:t>
            </a:r>
          </a:p>
        </p:txBody>
      </p:sp>
      <p:sp>
        <p:nvSpPr>
          <p:cNvPr id="14" name="TextBox 13">
            <a:extLst xmlns:a="http://schemas.openxmlformats.org/drawingml/2006/main">
              <a:ext uri="{FF2B5EF4-FFF2-40B4-BE49-F238E27FC236}">
                <a16:creationId xmlns:a16="http://schemas.microsoft.com/office/drawing/2014/main" id="{CC4AE638-9BB9-4104-9673-7A02DBDDBA63}"/>
              </a:ext>
            </a:extLst>
          </p:cNvPr>
          <p:cNvSpPr>
            <a:spLocks xmlns:a="http://schemas.openxmlformats.org/drawingml/2006/main" noGrp="1"/>
          </p:cNvSpPr>
          <p:nvPr/>
        </p:nvSpPr>
        <p:spPr>
          <a:xfrm xmlns:a="http://schemas.openxmlformats.org/drawingml/2006/main">
            <a:off x="941832" y="3502152"/>
            <a:ext cx="4745736"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Advaita treats fulfilment, wanting, and ego as witnessed contents. It reads waking, dream, and deep sleep as pointing to continuing awareness; later recollection alone does not establish that claim.</a:t>
            </a:r>
          </a:p>
        </p:txBody>
      </p:sp>
      <p:sp>
        <p:nvSpPr>
          <p:cNvPr id="15" name="Rounded Rectangle 14">
            <a:extLst xmlns:a="http://schemas.openxmlformats.org/drawingml/2006/main">
              <a:ext uri="{FF2B5EF4-FFF2-40B4-BE49-F238E27FC236}">
                <a16:creationId xmlns:a16="http://schemas.microsoft.com/office/drawing/2014/main" id="{DE9A2F29-4E2A-4349-95D6-95303043615F}"/>
              </a:ext>
            </a:extLst>
          </p:cNvPr>
          <p:cNvSpPr>
            <a:spLocks xmlns:a="http://schemas.openxmlformats.org/drawingml/2006/main" noGrp="1"/>
          </p:cNvSpPr>
          <p:nvPr/>
        </p:nvSpPr>
        <p:spPr>
          <a:xfrm xmlns:a="http://schemas.openxmlformats.org/drawingml/2006/main">
            <a:off x="6172200" y="2788920"/>
            <a:ext cx="5330952" cy="19659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7C1773A-39F4-4D9E-9205-C2FAE83C5642}"/>
              </a:ext>
            </a:extLst>
          </p:cNvPr>
          <p:cNvSpPr>
            <a:spLocks xmlns:a="http://schemas.openxmlformats.org/drawingml/2006/main" noGrp="1"/>
          </p:cNvSpPr>
          <p:nvPr/>
        </p:nvSpPr>
        <p:spPr>
          <a:xfrm xmlns:a="http://schemas.openxmlformats.org/drawingml/2006/main">
            <a:off x="6385255" y="298368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FDBA8256-5F8B-4930-9422-5470A644CB9D}"/>
              </a:ext>
            </a:extLst>
          </p:cNvPr>
          <p:cNvSpPr>
            <a:spLocks xmlns:a="http://schemas.openxmlformats.org/drawingml/2006/main" noGrp="1"/>
          </p:cNvSpPr>
          <p:nvPr/>
        </p:nvSpPr>
        <p:spPr>
          <a:xfrm xmlns:a="http://schemas.openxmlformats.org/drawingml/2006/main">
            <a:off x="6463436" y="306186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BECBDF23-DCC7-4DC4-A17B-EF23F85297D2}"/>
              </a:ext>
            </a:extLst>
          </p:cNvPr>
          <p:cNvSpPr>
            <a:spLocks xmlns:a="http://schemas.openxmlformats.org/drawingml/2006/main" noGrp="1"/>
          </p:cNvSpPr>
          <p:nvPr/>
        </p:nvSpPr>
        <p:spPr>
          <a:xfrm xmlns:a="http://schemas.openxmlformats.org/drawingml/2006/main">
            <a:off x="6525158" y="312359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BDBBC098-48CE-48BB-9379-98FD6BDA779C}"/>
              </a:ext>
            </a:extLst>
          </p:cNvPr>
          <p:cNvSpPr>
            <a:spLocks xmlns:a="http://schemas.openxmlformats.org/drawingml/2006/main" noGrp="1"/>
          </p:cNvSpPr>
          <p:nvPr/>
        </p:nvSpPr>
        <p:spPr>
          <a:xfrm xmlns:a="http://schemas.openxmlformats.org/drawingml/2006/main">
            <a:off x="6931152" y="299008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Threefold discipline</a:t>
            </a:r>
          </a:p>
        </p:txBody>
      </p:sp>
      <p:sp>
        <p:nvSpPr>
          <p:cNvPr id="20" name="TextBox 19">
            <a:extLst xmlns:a="http://schemas.openxmlformats.org/drawingml/2006/main">
              <a:ext uri="{FF2B5EF4-FFF2-40B4-BE49-F238E27FC236}">
                <a16:creationId xmlns:a16="http://schemas.microsoft.com/office/drawing/2014/main" id="{81F7B4B8-F382-4DD7-9EB1-4037C791C659}"/>
              </a:ext>
            </a:extLst>
          </p:cNvPr>
          <p:cNvSpPr>
            <a:spLocks xmlns:a="http://schemas.openxmlformats.org/drawingml/2006/main" noGrp="1"/>
          </p:cNvSpPr>
          <p:nvPr/>
        </p:nvSpPr>
        <p:spPr>
          <a:xfrm xmlns:a="http://schemas.openxmlformats.org/drawingml/2006/main">
            <a:off x="6428232" y="3502152"/>
            <a:ext cx="4818888"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Hearing (shravana), reasoning (manana), and sustained meditation (nididhyasana) under a qualified teacher—not introspection alone—support the tradition’s conclusion.</a:t>
            </a:r>
          </a:p>
        </p:txBody>
      </p:sp>
      <p:sp>
        <p:nvSpPr>
          <p:cNvPr id="21" name="Rounded Rectangle 20">
            <a:extLst xmlns:a="http://schemas.openxmlformats.org/drawingml/2006/main">
              <a:ext uri="{FF2B5EF4-FFF2-40B4-BE49-F238E27FC236}">
                <a16:creationId xmlns:a16="http://schemas.microsoft.com/office/drawing/2014/main" id="{D42C4C64-0EB6-4FE2-A08E-F774C4561695}"/>
              </a:ext>
            </a:extLst>
          </p:cNvPr>
          <p:cNvSpPr>
            <a:spLocks xmlns:a="http://schemas.openxmlformats.org/drawingml/2006/main" noGrp="1"/>
          </p:cNvSpPr>
          <p:nvPr/>
        </p:nvSpPr>
        <p:spPr>
          <a:xfrm xmlns:a="http://schemas.openxmlformats.org/drawingml/2006/main">
            <a:off x="685800" y="5029200"/>
            <a:ext cx="10817352" cy="77724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484C8CC8-7F57-4626-A32C-179D0E3601D3}"/>
              </a:ext>
            </a:extLst>
          </p:cNvPr>
          <p:cNvSpPr>
            <a:spLocks xmlns:a="http://schemas.openxmlformats.org/drawingml/2006/main" noGrp="1"/>
          </p:cNvSpPr>
          <p:nvPr/>
        </p:nvSpPr>
        <p:spPr>
          <a:xfrm xmlns:a="http://schemas.openxmlformats.org/drawingml/2006/main">
            <a:off x="1005840" y="5029200"/>
            <a:ext cx="1017727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On this comparison, Advaita would question a separate enduring jeevan; MD affirms individual selves and a real plural world. Their uses of kosha are distinct.</a:t>
            </a:r>
          </a:p>
        </p:txBody>
      </p:sp>
      <p:sp>
        <p:nvSpPr>
          <p:cNvPr id="23" name="TextBox 22">
            <a:extLst xmlns:a="http://schemas.openxmlformats.org/drawingml/2006/main">
              <a:ext uri="{FF2B5EF4-FFF2-40B4-BE49-F238E27FC236}">
                <a16:creationId xmlns:a16="http://schemas.microsoft.com/office/drawing/2014/main" id="{8B7D5959-AD73-4C32-8BFE-E4F5A9D842C3}"/>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DDV vv. 1–5 · BU 2.3.6, 2.4.5 · MU vv. 3–7 · TU 2.1–2.5 · Study §3.2–3.4</a:t>
            </a:r>
          </a:p>
        </p:txBody>
      </p:sp>
    </p:spTree>
    <p:extLst>
      <p:ext uri="{BB962C8B-B14F-4D97-AF65-F5344CB8AC3E}">
        <p14:creationId xmlns:p14="http://schemas.microsoft.com/office/powerpoint/2010/main" val="19701948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6F16ECE-E3A7-491F-82FF-7D947E9A3E9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9DAB2A7A-B277-42BC-838E-CCA386C44EA0}"/>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7D62EFA6-6FA3-4541-AB3A-425752C31DF7}"/>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CE3CEBC8-7FF1-472A-994D-796CB741B613}"/>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F0B5478-9382-4A78-83F8-EB475CF8B927}"/>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THE ANSWER</a:t>
            </a:r>
          </a:p>
        </p:txBody>
      </p:sp>
      <p:sp>
        <p:nvSpPr>
          <p:cNvPr id="7" name="TextBox 6">
            <a:extLst xmlns:a="http://schemas.openxmlformats.org/drawingml/2006/main">
              <a:ext uri="{FF2B5EF4-FFF2-40B4-BE49-F238E27FC236}">
                <a16:creationId xmlns:a16="http://schemas.microsoft.com/office/drawing/2014/main" id="{6117689F-A2D2-4941-81FA-CCC3206F1943}"/>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Body + Jeevan, in One Real World</a:t>
            </a:r>
          </a:p>
        </p:txBody>
      </p:sp>
      <p:sp>
        <p:nvSpPr>
          <p:cNvPr id="8" name="Rounded Rectangle 7">
            <a:extLst xmlns:a="http://schemas.openxmlformats.org/drawingml/2006/main">
              <a:ext uri="{FF2B5EF4-FFF2-40B4-BE49-F238E27FC236}">
                <a16:creationId xmlns:a16="http://schemas.microsoft.com/office/drawing/2014/main" id="{28C7CE0E-4B35-4575-AAD7-19D1C3F9EC9F}"/>
              </a:ext>
            </a:extLst>
          </p:cNvPr>
          <p:cNvSpPr>
            <a:spLocks xmlns:a="http://schemas.openxmlformats.org/drawingml/2006/main" noGrp="1"/>
          </p:cNvSpPr>
          <p:nvPr/>
        </p:nvSpPr>
        <p:spPr>
          <a:xfrm xmlns:a="http://schemas.openxmlformats.org/drawingml/2006/main">
            <a:off x="685800" y="1783080"/>
            <a:ext cx="5257800" cy="201168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9C5F4E12-4865-4AE7-B0CC-96242A438D06}"/>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16863AB4-3AC7-4946-A05B-EA779DD814FE}"/>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3E4F50AB-E883-4DBD-B3D1-856683E9DA13}"/>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8428F27C-29D9-4E6B-A9AE-B9B654C072D8}"/>
              </a:ext>
            </a:extLst>
          </p:cNvPr>
          <p:cNvSpPr>
            <a:spLocks xmlns:a="http://schemas.openxmlformats.org/drawingml/2006/main" noGrp="1"/>
          </p:cNvSpPr>
          <p:nvPr/>
        </p:nvSpPr>
        <p:spPr>
          <a:xfrm xmlns:a="http://schemas.openxmlformats.org/drawingml/2006/main">
            <a:off x="1444752" y="198424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The answer</a:t>
            </a:r>
          </a:p>
        </p:txBody>
      </p:sp>
      <p:sp>
        <p:nvSpPr>
          <p:cNvPr id="13" name="TextBox 12">
            <a:extLst xmlns:a="http://schemas.openxmlformats.org/drawingml/2006/main">
              <a:ext uri="{FF2B5EF4-FFF2-40B4-BE49-F238E27FC236}">
                <a16:creationId xmlns:a16="http://schemas.microsoft.com/office/drawing/2014/main" id="{948A633E-9D02-4A44-9638-BF50C3F07A34}"/>
              </a:ext>
            </a:extLst>
          </p:cNvPr>
          <p:cNvSpPr>
            <a:spLocks xmlns:a="http://schemas.openxmlformats.org/drawingml/2006/main" noGrp="1"/>
          </p:cNvSpPr>
          <p:nvPr/>
        </p:nvSpPr>
        <p:spPr>
          <a:xfrm xmlns:a="http://schemas.openxmlformats.org/drawingml/2006/main">
            <a:off x="941832" y="2496312"/>
            <a:ext cx="4745736"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A human is the temporary joint form of a material body and jeevan, a sentient atom. Both are real units: anti-reductionist, but not Cartesian substance dualism.</a:t>
            </a:r>
          </a:p>
        </p:txBody>
      </p:sp>
      <p:sp>
        <p:nvSpPr>
          <p:cNvPr id="14" name="Rounded Rectangle 13">
            <a:extLst xmlns:a="http://schemas.openxmlformats.org/drawingml/2006/main">
              <a:ext uri="{FF2B5EF4-FFF2-40B4-BE49-F238E27FC236}">
                <a16:creationId xmlns:a16="http://schemas.microsoft.com/office/drawing/2014/main" id="{16527CAB-6CA6-45C1-9750-68F0531DB15E}"/>
              </a:ext>
            </a:extLst>
          </p:cNvPr>
          <p:cNvSpPr>
            <a:spLocks xmlns:a="http://schemas.openxmlformats.org/drawingml/2006/main" noGrp="1"/>
          </p:cNvSpPr>
          <p:nvPr/>
        </p:nvSpPr>
        <p:spPr>
          <a:xfrm xmlns:a="http://schemas.openxmlformats.org/drawingml/2006/main">
            <a:off x="6172200" y="1783080"/>
            <a:ext cx="5330952" cy="20116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E075FF1C-A55B-40C1-9252-CBED067128B6}"/>
              </a:ext>
            </a:extLst>
          </p:cNvPr>
          <p:cNvSpPr>
            <a:spLocks xmlns:a="http://schemas.openxmlformats.org/drawingml/2006/main" noGrp="1"/>
          </p:cNvSpPr>
          <p:nvPr/>
        </p:nvSpPr>
        <p:spPr>
          <a:xfrm xmlns:a="http://schemas.openxmlformats.org/drawingml/2006/main">
            <a:off x="63852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78B5EDA-3066-4280-9A0F-F5C6AF275015}"/>
              </a:ext>
            </a:extLst>
          </p:cNvPr>
          <p:cNvSpPr>
            <a:spLocks xmlns:a="http://schemas.openxmlformats.org/drawingml/2006/main" noGrp="1"/>
          </p:cNvSpPr>
          <p:nvPr/>
        </p:nvSpPr>
        <p:spPr>
          <a:xfrm xmlns:a="http://schemas.openxmlformats.org/drawingml/2006/main">
            <a:off x="64634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A1124CF0-0F07-4344-9E30-89CAC529A604}"/>
              </a:ext>
            </a:extLst>
          </p:cNvPr>
          <p:cNvSpPr>
            <a:spLocks xmlns:a="http://schemas.openxmlformats.org/drawingml/2006/main" noGrp="1"/>
          </p:cNvSpPr>
          <p:nvPr/>
        </p:nvSpPr>
        <p:spPr>
          <a:xfrm xmlns:a="http://schemas.openxmlformats.org/drawingml/2006/main">
            <a:off x="65251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648232A2-7B34-49C0-8EAE-CFF327B15736}"/>
              </a:ext>
            </a:extLst>
          </p:cNvPr>
          <p:cNvSpPr>
            <a:spLocks xmlns:a="http://schemas.openxmlformats.org/drawingml/2006/main" noGrp="1"/>
          </p:cNvSpPr>
          <p:nvPr/>
        </p:nvSpPr>
        <p:spPr>
          <a:xfrm xmlns:a="http://schemas.openxmlformats.org/drawingml/2006/main">
            <a:off x="6931152" y="198424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A model, not a gap-filler</a:t>
            </a:r>
          </a:p>
        </p:txBody>
      </p:sp>
      <p:sp>
        <p:nvSpPr>
          <p:cNvPr id="19" name="TextBox 18">
            <a:extLst xmlns:a="http://schemas.openxmlformats.org/drawingml/2006/main">
              <a:ext uri="{FF2B5EF4-FFF2-40B4-BE49-F238E27FC236}">
                <a16:creationId xmlns:a16="http://schemas.microsoft.com/office/drawing/2014/main" id="{6FFDEC66-6477-4B8B-B9ED-6A5D5A3F0CCE}"/>
              </a:ext>
            </a:extLst>
          </p:cNvPr>
          <p:cNvSpPr>
            <a:spLocks xmlns:a="http://schemas.openxmlformats.org/drawingml/2006/main" noGrp="1"/>
          </p:cNvSpPr>
          <p:nvPr/>
        </p:nvSpPr>
        <p:spPr>
          <a:xfrm xmlns:a="http://schemas.openxmlformats.org/drawingml/2006/main">
            <a:off x="6428232" y="2496312"/>
            <a:ext cx="4818888"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The body supplies structure and physiological activity; jeevan is proposed to account for experience, appraisal, desire, and understanding. The distinction still requires evidence.</a:t>
            </a:r>
          </a:p>
        </p:txBody>
      </p:sp>
      <p:sp>
        <p:nvSpPr>
          <p:cNvPr id="20" name="Rounded Rectangle 19">
            <a:extLst xmlns:a="http://schemas.openxmlformats.org/drawingml/2006/main">
              <a:ext uri="{FF2B5EF4-FFF2-40B4-BE49-F238E27FC236}">
                <a16:creationId xmlns:a16="http://schemas.microsoft.com/office/drawing/2014/main" id="{B707F45E-6744-4434-965E-1441E678D0B0}"/>
              </a:ext>
            </a:extLst>
          </p:cNvPr>
          <p:cNvSpPr>
            <a:spLocks xmlns:a="http://schemas.openxmlformats.org/drawingml/2006/main" noGrp="1"/>
          </p:cNvSpPr>
          <p:nvPr/>
        </p:nvSpPr>
        <p:spPr>
          <a:xfrm xmlns:a="http://schemas.openxmlformats.org/drawingml/2006/main">
            <a:off x="685800" y="4069080"/>
            <a:ext cx="10817352" cy="1234440"/>
          </a:xfrm>
          <a:prstGeom xmlns:a="http://schemas.openxmlformats.org/drawingml/2006/main" prst="roundRect">
            <a:avLst>
              <a:gd name="adj" fmla="val 8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128A42C9-AFF2-4D9F-9C33-1A414BF71F29}"/>
              </a:ext>
            </a:extLst>
          </p:cNvPr>
          <p:cNvSpPr>
            <a:spLocks xmlns:a="http://schemas.openxmlformats.org/drawingml/2006/main" noGrp="1"/>
          </p:cNvSpPr>
          <p:nvPr/>
        </p:nvSpPr>
        <p:spPr>
          <a:xfrm xmlns:a="http://schemas.openxmlformats.org/drawingml/2006/main">
            <a:off x="1051560" y="4224528"/>
            <a:ext cx="101498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500" b="0" i="1">
                <a:solidFill>
                  <a:srgbClr val="FFFFFF"/>
                </a:solidFill>
                <a:latin typeface="Calibri"/>
                <a:ea typeface="Calibri"/>
                <a:cs typeface="Calibri"/>
              </a:rPr>
              <a:t>“Existence is not just physicochemical matter, but all physical, chemical and </a:t>
            </a:r>
            <a:r>
              <a:rPr sz="1500" b="0" i="1">
                <a:solidFill>
                  <a:srgbClr val="C9D4EF"/>
                </a:solidFill>
                <a:latin typeface="Calibri"/>
                <a:ea typeface="Calibri"/>
                <a:cs typeface="Calibri"/>
              </a:rPr>
              <a:t>jeevan</a:t>
            </a:r>
            <a:r>
              <a:rPr sz="1500" b="0" i="1">
                <a:solidFill>
                  <a:srgbClr val="FFFFFF"/>
                </a:solidFill>
                <a:latin typeface="Calibri"/>
                <a:ea typeface="Calibri"/>
                <a:cs typeface="Calibri"/>
              </a:rPr>
              <a:t> entities are inseparably present in Omnipresence.”</a:t>
            </a:r>
          </a:p>
          <a:p xmlns:a="http://schemas.openxmlformats.org/drawingml/2006/main">
            <a:pPr algn="l">
              <a:lnSpc>
                <a:spcPct val="108000"/>
              </a:lnSpc>
              <a:spcBef>
                <a:spcPts val="0"/>
              </a:spcBef>
              <a:spcAft>
                <a:spcPts val="400"/>
              </a:spcAft>
              <a:buNone/>
            </a:pPr>
            <a:r>
              <a:rPr sz="1200" b="1" i="0">
                <a:solidFill>
                  <a:srgbClr val="C9D4EF"/>
                </a:solidFill>
                <a:latin typeface="Calibri"/>
                <a:ea typeface="Calibri"/>
                <a:cs typeface="Calibri"/>
              </a:rPr>
              <a:t>— MVD, The Alternative, point 7</a:t>
            </a:r>
          </a:p>
        </p:txBody>
      </p:sp>
      <p:sp>
        <p:nvSpPr>
          <p:cNvPr id="22" name="Rounded Rectangle 21">
            <a:extLst xmlns:a="http://schemas.openxmlformats.org/drawingml/2006/main">
              <a:ext uri="{FF2B5EF4-FFF2-40B4-BE49-F238E27FC236}">
                <a16:creationId xmlns:a16="http://schemas.microsoft.com/office/drawing/2014/main" id="{D80EE720-11AC-47FB-A469-5691C2C00834}"/>
              </a:ext>
            </a:extLst>
          </p:cNvPr>
          <p:cNvSpPr>
            <a:spLocks xmlns:a="http://schemas.openxmlformats.org/drawingml/2006/main" noGrp="1"/>
          </p:cNvSpPr>
          <p:nvPr/>
        </p:nvSpPr>
        <p:spPr>
          <a:xfrm xmlns:a="http://schemas.openxmlformats.org/drawingml/2006/main">
            <a:off x="685800" y="5532120"/>
            <a:ext cx="10817352" cy="713232"/>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168F42BB-0D8F-47BE-BFCE-8987C947E730}"/>
              </a:ext>
            </a:extLst>
          </p:cNvPr>
          <p:cNvSpPr>
            <a:spLocks xmlns:a="http://schemas.openxmlformats.org/drawingml/2006/main" noGrp="1"/>
          </p:cNvSpPr>
          <p:nvPr/>
        </p:nvSpPr>
        <p:spPr>
          <a:xfrm xmlns:a="http://schemas.openxmlformats.org/drawingml/2006/main">
            <a:off x="1005840" y="5532120"/>
            <a:ext cx="101772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Matter develops through compositional orders; jeevan is claimed to arise through a distinct atomic completion. These are separate claims.</a:t>
            </a:r>
          </a:p>
        </p:txBody>
      </p:sp>
      <p:sp>
        <p:nvSpPr>
          <p:cNvPr id="24" name="TextBox 23">
            <a:extLst xmlns:a="http://schemas.openxmlformats.org/drawingml/2006/main">
              <a:ext uri="{FF2B5EF4-FFF2-40B4-BE49-F238E27FC236}">
                <a16:creationId xmlns:a16="http://schemas.microsoft.com/office/drawing/2014/main" id="{F8E42AA9-ABD0-41D3-B97D-19A69F45EA7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§1.1 · §1.3 · §5.1</a:t>
            </a:r>
          </a:p>
        </p:txBody>
      </p:sp>
    </p:spTree>
    <p:extLst>
      <p:ext uri="{BB962C8B-B14F-4D97-AF65-F5344CB8AC3E}">
        <p14:creationId xmlns:p14="http://schemas.microsoft.com/office/powerpoint/2010/main" val="122211461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024E3BA-0C94-4C16-8120-44D53A1F6D9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D70837D8-8721-4528-92DB-930CB444F4F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1201C69-D20B-4011-BE3C-186861A54436}"/>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C6E7EB76-70BA-4318-BE2C-1D554EF48EF2}"/>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1048704-FE2E-401B-A1C9-351A2B88930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D5541B66-90A1-419F-9CE2-E3D76B7AFB6A}"/>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Four Orders of Nature</a:t>
            </a:r>
          </a:p>
        </p:txBody>
      </p:sp>
      <p:sp>
        <p:nvSpPr>
          <p:cNvPr id="8" name="TextBox 7">
            <a:extLst xmlns:a="http://schemas.openxmlformats.org/drawingml/2006/main">
              <a:ext uri="{FF2B5EF4-FFF2-40B4-BE49-F238E27FC236}">
                <a16:creationId xmlns:a16="http://schemas.microsoft.com/office/drawing/2014/main" id="{593B613B-F4DB-480B-A838-B018BEED0289}"/>
              </a:ext>
            </a:extLst>
          </p:cNvPr>
          <p:cNvSpPr>
            <a:spLocks xmlns:a="http://schemas.openxmlformats.org/drawingml/2006/main" noGrp="1"/>
          </p:cNvSpPr>
          <p:nvPr/>
        </p:nvSpPr>
        <p:spPr>
          <a:xfrm xmlns:a="http://schemas.openxmlformats.org/drawingml/2006/main">
            <a:off x="685800" y="1737360"/>
            <a:ext cx="10789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MD distinguishes four orders by their organisation, activity, and conduct. Animal and knowledge orders are joint forms of body and jeevan; they are not four substances nested inside one another.</a:t>
            </a:r>
          </a:p>
        </p:txBody>
      </p:sp>
      <p:sp>
        <p:nvSpPr>
          <p:cNvPr id="9" name="Rounded Rectangle 8">
            <a:extLst xmlns:a="http://schemas.openxmlformats.org/drawingml/2006/main">
              <a:ext uri="{FF2B5EF4-FFF2-40B4-BE49-F238E27FC236}">
                <a16:creationId xmlns:a16="http://schemas.microsoft.com/office/drawing/2014/main" id="{167EFB98-5802-454E-9206-C115E0AC96BD}"/>
              </a:ext>
            </a:extLst>
          </p:cNvPr>
          <p:cNvSpPr>
            <a:spLocks xmlns:a="http://schemas.openxmlformats.org/drawingml/2006/main" noGrp="1"/>
          </p:cNvSpPr>
          <p:nvPr/>
        </p:nvSpPr>
        <p:spPr>
          <a:xfrm xmlns:a="http://schemas.openxmlformats.org/drawingml/2006/main">
            <a:off x="685800"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D916C0D-CC47-4BF7-B1E9-DF74E72976C6}"/>
              </a:ext>
            </a:extLst>
          </p:cNvPr>
          <p:cNvSpPr>
            <a:spLocks xmlns:a="http://schemas.openxmlformats.org/drawingml/2006/main" noGrp="1"/>
          </p:cNvSpPr>
          <p:nvPr/>
        </p:nvSpPr>
        <p:spPr>
          <a:xfrm xmlns:a="http://schemas.openxmlformats.org/drawingml/2006/main">
            <a:off x="886968"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Material</a:t>
            </a:r>
          </a:p>
        </p:txBody>
      </p:sp>
      <p:sp>
        <p:nvSpPr>
          <p:cNvPr id="11" name="TextBox 10">
            <a:extLst xmlns:a="http://schemas.openxmlformats.org/drawingml/2006/main">
              <a:ext uri="{FF2B5EF4-FFF2-40B4-BE49-F238E27FC236}">
                <a16:creationId xmlns:a16="http://schemas.microsoft.com/office/drawing/2014/main" id="{3FCA6C15-F19F-4091-A436-FD7982E7DFC5}"/>
              </a:ext>
            </a:extLst>
          </p:cNvPr>
          <p:cNvSpPr>
            <a:spLocks xmlns:a="http://schemas.openxmlformats.org/drawingml/2006/main" noGrp="1"/>
          </p:cNvSpPr>
          <p:nvPr/>
        </p:nvSpPr>
        <p:spPr>
          <a:xfrm xmlns:a="http://schemas.openxmlformats.org/drawingml/2006/main">
            <a:off x="886968"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composes, decomposes</a:t>
            </a:r>
          </a:p>
        </p:txBody>
      </p:sp>
      <p:sp>
        <p:nvSpPr>
          <p:cNvPr id="12" name="TextBox 11">
            <a:extLst xmlns:a="http://schemas.openxmlformats.org/drawingml/2006/main">
              <a:ext uri="{FF2B5EF4-FFF2-40B4-BE49-F238E27FC236}">
                <a16:creationId xmlns:a16="http://schemas.microsoft.com/office/drawing/2014/main" id="{EC68CB1F-8C57-49EC-858D-B9799E3ECA14}"/>
              </a:ext>
            </a:extLst>
          </p:cNvPr>
          <p:cNvSpPr>
            <a:spLocks xmlns:a="http://schemas.openxmlformats.org/drawingml/2006/main" noGrp="1"/>
          </p:cNvSpPr>
          <p:nvPr/>
        </p:nvSpPr>
        <p:spPr>
          <a:xfrm xmlns:a="http://schemas.openxmlformats.org/drawingml/2006/main">
            <a:off x="886968"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Soil, water, metals, and other material formations.</a:t>
            </a:r>
          </a:p>
        </p:txBody>
      </p:sp>
      <p:sp>
        <p:nvSpPr>
          <p:cNvPr id="13" name="Rounded Rectangle 12">
            <a:extLst xmlns:a="http://schemas.openxmlformats.org/drawingml/2006/main">
              <a:ext uri="{FF2B5EF4-FFF2-40B4-BE49-F238E27FC236}">
                <a16:creationId xmlns:a16="http://schemas.microsoft.com/office/drawing/2014/main" id="{0F5FD7F9-BB2A-4A90-9BF6-95E0F15B1B5F}"/>
              </a:ext>
            </a:extLst>
          </p:cNvPr>
          <p:cNvSpPr>
            <a:spLocks xmlns:a="http://schemas.openxmlformats.org/drawingml/2006/main" noGrp="1"/>
          </p:cNvSpPr>
          <p:nvPr/>
        </p:nvSpPr>
        <p:spPr>
          <a:xfrm xmlns:a="http://schemas.openxmlformats.org/drawingml/2006/main">
            <a:off x="3474720"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EA485F30-1351-41CB-926B-5DFB8B38078D}"/>
              </a:ext>
            </a:extLst>
          </p:cNvPr>
          <p:cNvSpPr>
            <a:spLocks xmlns:a="http://schemas.openxmlformats.org/drawingml/2006/main" noGrp="1"/>
          </p:cNvSpPr>
          <p:nvPr/>
        </p:nvSpPr>
        <p:spPr>
          <a:xfrm xmlns:a="http://schemas.openxmlformats.org/drawingml/2006/main">
            <a:off x="3675887"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Biological / prana</a:t>
            </a:r>
          </a:p>
        </p:txBody>
      </p:sp>
      <p:sp>
        <p:nvSpPr>
          <p:cNvPr id="15" name="TextBox 14">
            <a:extLst xmlns:a="http://schemas.openxmlformats.org/drawingml/2006/main">
              <a:ext uri="{FF2B5EF4-FFF2-40B4-BE49-F238E27FC236}">
                <a16:creationId xmlns:a16="http://schemas.microsoft.com/office/drawing/2014/main" id="{8E423EFC-5CF0-4A3E-A7C8-8F38643FB08D}"/>
              </a:ext>
            </a:extLst>
          </p:cNvPr>
          <p:cNvSpPr>
            <a:spLocks xmlns:a="http://schemas.openxmlformats.org/drawingml/2006/main" noGrp="1"/>
          </p:cNvSpPr>
          <p:nvPr/>
        </p:nvSpPr>
        <p:spPr>
          <a:xfrm xmlns:a="http://schemas.openxmlformats.org/drawingml/2006/main">
            <a:off x="3675887"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grows, reproduces</a:t>
            </a:r>
          </a:p>
        </p:txBody>
      </p:sp>
      <p:sp>
        <p:nvSpPr>
          <p:cNvPr id="16" name="TextBox 15">
            <a:extLst xmlns:a="http://schemas.openxmlformats.org/drawingml/2006/main">
              <a:ext uri="{FF2B5EF4-FFF2-40B4-BE49-F238E27FC236}">
                <a16:creationId xmlns:a16="http://schemas.microsoft.com/office/drawing/2014/main" id="{4F33CC33-773A-4E91-89C7-DA209AB3D10F}"/>
              </a:ext>
            </a:extLst>
          </p:cNvPr>
          <p:cNvSpPr>
            <a:spLocks xmlns:a="http://schemas.openxmlformats.org/drawingml/2006/main" noGrp="1"/>
          </p:cNvSpPr>
          <p:nvPr/>
        </p:nvSpPr>
        <p:spPr>
          <a:xfrm xmlns:a="http://schemas.openxmlformats.org/drawingml/2006/main">
            <a:off x="3675887"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Growth and reproduction in plant bodies.</a:t>
            </a:r>
          </a:p>
        </p:txBody>
      </p:sp>
      <p:sp>
        <p:nvSpPr>
          <p:cNvPr id="17" name="Rounded Rectangle 16">
            <a:extLst xmlns:a="http://schemas.openxmlformats.org/drawingml/2006/main">
              <a:ext uri="{FF2B5EF4-FFF2-40B4-BE49-F238E27FC236}">
                <a16:creationId xmlns:a16="http://schemas.microsoft.com/office/drawing/2014/main" id="{7D2F4A8A-099F-4097-884E-FFAF8AAE6880}"/>
              </a:ext>
            </a:extLst>
          </p:cNvPr>
          <p:cNvSpPr>
            <a:spLocks xmlns:a="http://schemas.openxmlformats.org/drawingml/2006/main" noGrp="1"/>
          </p:cNvSpPr>
          <p:nvPr/>
        </p:nvSpPr>
        <p:spPr>
          <a:xfrm xmlns:a="http://schemas.openxmlformats.org/drawingml/2006/main">
            <a:off x="6263640" y="2468880"/>
            <a:ext cx="2615184" cy="246888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79712944-83B3-48AC-B5A1-A043D0846F28}"/>
              </a:ext>
            </a:extLst>
          </p:cNvPr>
          <p:cNvSpPr>
            <a:spLocks xmlns:a="http://schemas.openxmlformats.org/drawingml/2006/main" noGrp="1"/>
          </p:cNvSpPr>
          <p:nvPr/>
        </p:nvSpPr>
        <p:spPr>
          <a:xfrm xmlns:a="http://schemas.openxmlformats.org/drawingml/2006/main">
            <a:off x="6464807"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9A6414"/>
                </a:solidFill>
                <a:latin typeface="Cambria"/>
                <a:ea typeface="Cambria"/>
                <a:cs typeface="Cambria"/>
              </a:rPr>
              <a:t>Animal</a:t>
            </a:r>
          </a:p>
        </p:txBody>
      </p:sp>
      <p:sp>
        <p:nvSpPr>
          <p:cNvPr id="19" name="TextBox 18">
            <a:extLst xmlns:a="http://schemas.openxmlformats.org/drawingml/2006/main">
              <a:ext uri="{FF2B5EF4-FFF2-40B4-BE49-F238E27FC236}">
                <a16:creationId xmlns:a16="http://schemas.microsoft.com/office/drawing/2014/main" id="{62788F95-605E-44E9-A3DB-56C7ACBA9D9C}"/>
              </a:ext>
            </a:extLst>
          </p:cNvPr>
          <p:cNvSpPr>
            <a:spLocks xmlns:a="http://schemas.openxmlformats.org/drawingml/2006/main" noGrp="1"/>
          </p:cNvSpPr>
          <p:nvPr/>
        </p:nvSpPr>
        <p:spPr>
          <a:xfrm xmlns:a="http://schemas.openxmlformats.org/drawingml/2006/main">
            <a:off x="6464807"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selects, senses</a:t>
            </a:r>
          </a:p>
        </p:txBody>
      </p:sp>
      <p:sp>
        <p:nvSpPr>
          <p:cNvPr id="20" name="TextBox 19">
            <a:extLst xmlns:a="http://schemas.openxmlformats.org/drawingml/2006/main">
              <a:ext uri="{FF2B5EF4-FFF2-40B4-BE49-F238E27FC236}">
                <a16:creationId xmlns:a16="http://schemas.microsoft.com/office/drawing/2014/main" id="{5C2EAA49-6095-4C9A-9AAC-D8C3E44F101D}"/>
              </a:ext>
            </a:extLst>
          </p:cNvPr>
          <p:cNvSpPr>
            <a:spLocks xmlns:a="http://schemas.openxmlformats.org/drawingml/2006/main" noGrp="1"/>
          </p:cNvSpPr>
          <p:nvPr/>
        </p:nvSpPr>
        <p:spPr>
          <a:xfrm xmlns:a="http://schemas.openxmlformats.org/drawingml/2006/main">
            <a:off x="6464807"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9A6414"/>
                </a:solidFill>
                <a:latin typeface="Calibri"/>
                <a:ea typeface="Calibri"/>
                <a:cs typeface="Calibri"/>
              </a:rPr>
              <a:t>Jeevan joined with an animal body.</a:t>
            </a:r>
          </a:p>
        </p:txBody>
      </p:sp>
      <p:sp>
        <p:nvSpPr>
          <p:cNvPr id="21" name="Rounded Rectangle 20">
            <a:extLst xmlns:a="http://schemas.openxmlformats.org/drawingml/2006/main">
              <a:ext uri="{FF2B5EF4-FFF2-40B4-BE49-F238E27FC236}">
                <a16:creationId xmlns:a16="http://schemas.microsoft.com/office/drawing/2014/main" id="{CEDDDF04-ECEF-40FF-8732-8917DAEB63B5}"/>
              </a:ext>
            </a:extLst>
          </p:cNvPr>
          <p:cNvSpPr>
            <a:spLocks xmlns:a="http://schemas.openxmlformats.org/drawingml/2006/main" noGrp="1"/>
          </p:cNvSpPr>
          <p:nvPr/>
        </p:nvSpPr>
        <p:spPr>
          <a:xfrm xmlns:a="http://schemas.openxmlformats.org/drawingml/2006/main">
            <a:off x="9052559"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6229302C-9D4B-4C40-BF36-1AA90F247B7A}"/>
              </a:ext>
            </a:extLst>
          </p:cNvPr>
          <p:cNvSpPr>
            <a:spLocks xmlns:a="http://schemas.openxmlformats.org/drawingml/2006/main" noGrp="1"/>
          </p:cNvSpPr>
          <p:nvPr/>
        </p:nvSpPr>
        <p:spPr>
          <a:xfrm xmlns:a="http://schemas.openxmlformats.org/drawingml/2006/main">
            <a:off x="9253728"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Knowledge</a:t>
            </a:r>
          </a:p>
        </p:txBody>
      </p:sp>
      <p:sp>
        <p:nvSpPr>
          <p:cNvPr id="23" name="TextBox 22">
            <a:extLst xmlns:a="http://schemas.openxmlformats.org/drawingml/2006/main">
              <a:ext uri="{FF2B5EF4-FFF2-40B4-BE49-F238E27FC236}">
                <a16:creationId xmlns:a16="http://schemas.microsoft.com/office/drawing/2014/main" id="{4D345A17-8AD4-4613-98A1-C0DBFDE789CB}"/>
              </a:ext>
            </a:extLst>
          </p:cNvPr>
          <p:cNvSpPr>
            <a:spLocks xmlns:a="http://schemas.openxmlformats.org/drawingml/2006/main" noGrp="1"/>
          </p:cNvSpPr>
          <p:nvPr/>
        </p:nvSpPr>
        <p:spPr>
          <a:xfrm xmlns:a="http://schemas.openxmlformats.org/drawingml/2006/main">
            <a:off x="9253728"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imagines, evaluates, understands</a:t>
            </a:r>
          </a:p>
        </p:txBody>
      </p:sp>
      <p:sp>
        <p:nvSpPr>
          <p:cNvPr id="24" name="TextBox 23">
            <a:extLst xmlns:a="http://schemas.openxmlformats.org/drawingml/2006/main">
              <a:ext uri="{FF2B5EF4-FFF2-40B4-BE49-F238E27FC236}">
                <a16:creationId xmlns:a16="http://schemas.microsoft.com/office/drawing/2014/main" id="{273F4F77-FFD5-46A7-BC13-EEFEE1DBC18E}"/>
              </a:ext>
            </a:extLst>
          </p:cNvPr>
          <p:cNvSpPr>
            <a:spLocks xmlns:a="http://schemas.openxmlformats.org/drawingml/2006/main" noGrp="1"/>
          </p:cNvSpPr>
          <p:nvPr/>
        </p:nvSpPr>
        <p:spPr>
          <a:xfrm xmlns:a="http://schemas.openxmlformats.org/drawingml/2006/main">
            <a:off x="9253728"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Human body + jeevan; understanding can be expressed in conduct.</a:t>
            </a:r>
          </a:p>
        </p:txBody>
      </p:sp>
      <p:sp>
        <p:nvSpPr>
          <p:cNvPr id="25" name="TextBox 24">
            <a:extLst xmlns:a="http://schemas.openxmlformats.org/drawingml/2006/main">
              <a:ext uri="{FF2B5EF4-FFF2-40B4-BE49-F238E27FC236}">
                <a16:creationId xmlns:a16="http://schemas.microsoft.com/office/drawing/2014/main" id="{FD2FB066-A496-4CC1-8A7C-9C8B0B2EBEF2}"/>
              </a:ext>
            </a:extLst>
          </p:cNvPr>
          <p:cNvSpPr>
            <a:spLocks xmlns:a="http://schemas.openxmlformats.org/drawingml/2006/main" noGrp="1"/>
          </p:cNvSpPr>
          <p:nvPr/>
        </p:nvSpPr>
        <p:spPr>
          <a:xfrm xmlns:a="http://schemas.openxmlformats.org/drawingml/2006/main">
            <a:off x="685800" y="5074920"/>
            <a:ext cx="10789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spcBef>
                <a:spcPts val="0"/>
              </a:spcBef>
              <a:spcAft>
                <a:spcPts val="400"/>
              </a:spcAft>
              <a:buNone/>
            </a:pPr>
            <a:r>
              <a:rPr sz="1250" b="0" i="1">
                <a:solidFill>
                  <a:srgbClr val="3B4A7A"/>
                </a:solidFill>
                <a:latin typeface="Calibri"/>
                <a:ea typeface="Calibri"/>
                <a:cs typeface="Calibri"/>
              </a:rPr>
              <a:t>A higher order depends on lower material composition; this does not make jeevan a product of that composition.</a:t>
            </a:r>
          </a:p>
        </p:txBody>
      </p:sp>
      <p:sp>
        <p:nvSpPr>
          <p:cNvPr id="26" name="Rounded Rectangle 25">
            <a:extLst xmlns:a="http://schemas.openxmlformats.org/drawingml/2006/main">
              <a:ext uri="{FF2B5EF4-FFF2-40B4-BE49-F238E27FC236}">
                <a16:creationId xmlns:a16="http://schemas.microsoft.com/office/drawing/2014/main" id="{C811C559-48B4-42EE-8189-6C9D695C1F9D}"/>
              </a:ext>
            </a:extLst>
          </p:cNvPr>
          <p:cNvSpPr>
            <a:spLocks xmlns:a="http://schemas.openxmlformats.org/drawingml/2006/main" noGrp="1"/>
          </p:cNvSpPr>
          <p:nvPr/>
        </p:nvSpPr>
        <p:spPr>
          <a:xfrm xmlns:a="http://schemas.openxmlformats.org/drawingml/2006/main">
            <a:off x="685800" y="5577840"/>
            <a:ext cx="10817352" cy="65836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40781C6E-320E-4752-BDB5-F42D6DA8C913}"/>
              </a:ext>
            </a:extLst>
          </p:cNvPr>
          <p:cNvSpPr>
            <a:spLocks xmlns:a="http://schemas.openxmlformats.org/drawingml/2006/main" noGrp="1"/>
          </p:cNvSpPr>
          <p:nvPr/>
        </p:nvSpPr>
        <p:spPr>
          <a:xfrm xmlns:a="http://schemas.openxmlformats.org/drawingml/2006/main">
            <a:off x="1005840" y="5577840"/>
            <a:ext cx="101772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The knowledge order is distinguished by the possibility of understanding and responsible conduct—not by biological complexity alone.</a:t>
            </a:r>
          </a:p>
        </p:txBody>
      </p:sp>
      <p:sp>
        <p:nvSpPr>
          <p:cNvPr id="28" name="TextBox 27">
            <a:extLst xmlns:a="http://schemas.openxmlformats.org/drawingml/2006/main">
              <a:ext uri="{FF2B5EF4-FFF2-40B4-BE49-F238E27FC236}">
                <a16:creationId xmlns:a16="http://schemas.microsoft.com/office/drawing/2014/main" id="{44999E10-9F7A-4E02-92F0-1405FC7DF38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§1.3.1 · §1.3.4</a:t>
            </a:r>
          </a:p>
        </p:txBody>
      </p:sp>
    </p:spTree>
    <p:extLst>
      <p:ext uri="{BB962C8B-B14F-4D97-AF65-F5344CB8AC3E}">
        <p14:creationId xmlns:p14="http://schemas.microsoft.com/office/powerpoint/2010/main" val="5042438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6AAB16B-B345-4583-B59A-F03CDFC9216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80078CF-370C-456F-BD91-18A71432FB9E}"/>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842CA50-03E4-48B1-99C8-6D1A7D2940C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F9B6BD67-C692-4849-A748-344D39F784B1}"/>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FA6FC54-49C7-42E1-BCCD-4F9545C19A8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7393EB8C-AF85-40FB-A972-F2FAA584F23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Sentience and the Claim of Atomic Completion</a:t>
            </a:r>
          </a:p>
        </p:txBody>
      </p:sp>
      <p:sp>
        <p:nvSpPr>
          <p:cNvPr id="8" name="TextBox 7">
            <a:extLst xmlns:a="http://schemas.openxmlformats.org/drawingml/2006/main">
              <a:ext uri="{FF2B5EF4-FFF2-40B4-BE49-F238E27FC236}">
                <a16:creationId xmlns:a16="http://schemas.microsoft.com/office/drawing/2014/main" id="{2C601DF0-B0BA-450E-9C3C-95AF6EFB7866}"/>
              </a:ext>
            </a:extLst>
          </p:cNvPr>
          <p:cNvSpPr>
            <a:spLocks xmlns:a="http://schemas.openxmlformats.org/drawingml/2006/main" noGrp="1"/>
          </p:cNvSpPr>
          <p:nvPr/>
        </p:nvSpPr>
        <p:spPr>
          <a:xfrm xmlns:a="http://schemas.openxmlformats.org/drawingml/2006/main">
            <a:off x="685800" y="1737360"/>
            <a:ext cx="10789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MD does not derive jeevan from biological complexity; it proposes a distinct atomic threshold and history.</a:t>
            </a:r>
          </a:p>
        </p:txBody>
      </p:sp>
      <p:sp>
        <p:nvSpPr>
          <p:cNvPr id="9" name="Rounded Rectangle 8">
            <a:extLst xmlns:a="http://schemas.openxmlformats.org/drawingml/2006/main">
              <a:ext uri="{FF2B5EF4-FFF2-40B4-BE49-F238E27FC236}">
                <a16:creationId xmlns:a16="http://schemas.microsoft.com/office/drawing/2014/main" id="{72F7B3C6-A5D6-4AF0-81DB-04852663B99E}"/>
              </a:ext>
            </a:extLst>
          </p:cNvPr>
          <p:cNvSpPr>
            <a:spLocks xmlns:a="http://schemas.openxmlformats.org/drawingml/2006/main" noGrp="1"/>
          </p:cNvSpPr>
          <p:nvPr/>
        </p:nvSpPr>
        <p:spPr>
          <a:xfrm xmlns:a="http://schemas.openxmlformats.org/drawingml/2006/main">
            <a:off x="685800"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5622C48-105A-455D-B0BC-F44C29EB65C1}"/>
              </a:ext>
            </a:extLst>
          </p:cNvPr>
          <p:cNvSpPr>
            <a:spLocks xmlns:a="http://schemas.openxmlformats.org/drawingml/2006/main" noGrp="1"/>
          </p:cNvSpPr>
          <p:nvPr/>
        </p:nvSpPr>
        <p:spPr>
          <a:xfrm xmlns:a="http://schemas.openxmlformats.org/drawingml/2006/main">
            <a:off x="685800"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Evolving atom</a:t>
            </a:r>
          </a:p>
        </p:txBody>
      </p:sp>
      <p:sp>
        <p:nvSpPr>
          <p:cNvPr id="11" name="TextBox 10">
            <a:extLst xmlns:a="http://schemas.openxmlformats.org/drawingml/2006/main">
              <a:ext uri="{FF2B5EF4-FFF2-40B4-BE49-F238E27FC236}">
                <a16:creationId xmlns:a16="http://schemas.microsoft.com/office/drawing/2014/main" id="{FA2B488D-CF87-45B3-9C0D-A41217AAE125}"/>
              </a:ext>
            </a:extLst>
          </p:cNvPr>
          <p:cNvSpPr>
            <a:spLocks xmlns:a="http://schemas.openxmlformats.org/drawingml/2006/main" noGrp="1"/>
          </p:cNvSpPr>
          <p:nvPr/>
        </p:nvSpPr>
        <p:spPr>
          <a:xfrm xmlns:a="http://schemas.openxmlformats.org/drawingml/2006/main">
            <a:off x="3166110"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2" name="Rounded Rectangle 11">
            <a:extLst xmlns:a="http://schemas.openxmlformats.org/drawingml/2006/main">
              <a:ext uri="{FF2B5EF4-FFF2-40B4-BE49-F238E27FC236}">
                <a16:creationId xmlns:a16="http://schemas.microsoft.com/office/drawing/2014/main" id="{3DAFC71C-A3BD-4E61-8EDB-1BB40FAA4150}"/>
              </a:ext>
            </a:extLst>
          </p:cNvPr>
          <p:cNvSpPr>
            <a:spLocks xmlns:a="http://schemas.openxmlformats.org/drawingml/2006/main" noGrp="1"/>
          </p:cNvSpPr>
          <p:nvPr/>
        </p:nvSpPr>
        <p:spPr>
          <a:xfrm xmlns:a="http://schemas.openxmlformats.org/drawingml/2006/main">
            <a:off x="3467862"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A52AC98-39BC-4B65-B4B0-C11054F02108}"/>
              </a:ext>
            </a:extLst>
          </p:cNvPr>
          <p:cNvSpPr>
            <a:spLocks xmlns:a="http://schemas.openxmlformats.org/drawingml/2006/main" noGrp="1"/>
          </p:cNvSpPr>
          <p:nvPr/>
        </p:nvSpPr>
        <p:spPr>
          <a:xfrm xmlns:a="http://schemas.openxmlformats.org/drawingml/2006/main">
            <a:off x="3467862"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Particle exchange</a:t>
            </a:r>
          </a:p>
        </p:txBody>
      </p:sp>
      <p:sp>
        <p:nvSpPr>
          <p:cNvPr id="14" name="TextBox 13">
            <a:extLst xmlns:a="http://schemas.openxmlformats.org/drawingml/2006/main">
              <a:ext uri="{FF2B5EF4-FFF2-40B4-BE49-F238E27FC236}">
                <a16:creationId xmlns:a16="http://schemas.microsoft.com/office/drawing/2014/main" id="{F5F2FCEC-0083-48FA-A511-F73F443CC3E8}"/>
              </a:ext>
            </a:extLst>
          </p:cNvPr>
          <p:cNvSpPr>
            <a:spLocks xmlns:a="http://schemas.openxmlformats.org/drawingml/2006/main" noGrp="1"/>
          </p:cNvSpPr>
          <p:nvPr/>
        </p:nvSpPr>
        <p:spPr>
          <a:xfrm xmlns:a="http://schemas.openxmlformats.org/drawingml/2006/main">
            <a:off x="5948172"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5" name="Rounded Rectangle 14">
            <a:extLst xmlns:a="http://schemas.openxmlformats.org/drawingml/2006/main">
              <a:ext uri="{FF2B5EF4-FFF2-40B4-BE49-F238E27FC236}">
                <a16:creationId xmlns:a16="http://schemas.microsoft.com/office/drawing/2014/main" id="{1F20B835-08F0-4379-A1AD-AEBACB38D91C}"/>
              </a:ext>
            </a:extLst>
          </p:cNvPr>
          <p:cNvSpPr>
            <a:spLocks xmlns:a="http://schemas.openxmlformats.org/drawingml/2006/main" noGrp="1"/>
          </p:cNvSpPr>
          <p:nvPr/>
        </p:nvSpPr>
        <p:spPr>
          <a:xfrm xmlns:a="http://schemas.openxmlformats.org/drawingml/2006/main">
            <a:off x="6249924"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F4587A3F-DCEA-4B44-ABEB-BE9592862DD7}"/>
              </a:ext>
            </a:extLst>
          </p:cNvPr>
          <p:cNvSpPr>
            <a:spLocks xmlns:a="http://schemas.openxmlformats.org/drawingml/2006/main" noGrp="1"/>
          </p:cNvSpPr>
          <p:nvPr/>
        </p:nvSpPr>
        <p:spPr>
          <a:xfrm xmlns:a="http://schemas.openxmlformats.org/drawingml/2006/main">
            <a:off x="6249924"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Closed constitution</a:t>
            </a:r>
          </a:p>
        </p:txBody>
      </p:sp>
      <p:sp>
        <p:nvSpPr>
          <p:cNvPr id="17" name="TextBox 16">
            <a:extLst xmlns:a="http://schemas.openxmlformats.org/drawingml/2006/main">
              <a:ext uri="{FF2B5EF4-FFF2-40B4-BE49-F238E27FC236}">
                <a16:creationId xmlns:a16="http://schemas.microsoft.com/office/drawing/2014/main" id="{9C47BC8F-BC2F-46DE-94D0-F1B30E6D5B6F}"/>
              </a:ext>
            </a:extLst>
          </p:cNvPr>
          <p:cNvSpPr>
            <a:spLocks xmlns:a="http://schemas.openxmlformats.org/drawingml/2006/main" noGrp="1"/>
          </p:cNvSpPr>
          <p:nvPr/>
        </p:nvSpPr>
        <p:spPr>
          <a:xfrm xmlns:a="http://schemas.openxmlformats.org/drawingml/2006/main">
            <a:off x="8730234"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8" name="Rounded Rectangle 17">
            <a:extLst xmlns:a="http://schemas.openxmlformats.org/drawingml/2006/main">
              <a:ext uri="{FF2B5EF4-FFF2-40B4-BE49-F238E27FC236}">
                <a16:creationId xmlns:a16="http://schemas.microsoft.com/office/drawing/2014/main" id="{B0546C1E-57C3-4081-AE54-88EFD6FAA821}"/>
              </a:ext>
            </a:extLst>
          </p:cNvPr>
          <p:cNvSpPr>
            <a:spLocks xmlns:a="http://schemas.openxmlformats.org/drawingml/2006/main" noGrp="1"/>
          </p:cNvSpPr>
          <p:nvPr/>
        </p:nvSpPr>
        <p:spPr>
          <a:xfrm xmlns:a="http://schemas.openxmlformats.org/drawingml/2006/main">
            <a:off x="9031986" y="2331720"/>
            <a:ext cx="2471166" cy="548640"/>
          </a:xfrm>
          <a:prstGeom xmlns:a="http://schemas.openxmlformats.org/drawingml/2006/main" prst="roundRect">
            <a:avLst>
              <a:gd name="adj" fmla="val 18000"/>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E3734F9-107A-4164-9E43-BB4CC1CCAA28}"/>
              </a:ext>
            </a:extLst>
          </p:cNvPr>
          <p:cNvSpPr>
            <a:spLocks xmlns:a="http://schemas.openxmlformats.org/drawingml/2006/main" noGrp="1"/>
          </p:cNvSpPr>
          <p:nvPr/>
        </p:nvSpPr>
        <p:spPr>
          <a:xfrm xmlns:a="http://schemas.openxmlformats.org/drawingml/2006/main">
            <a:off x="9031986"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Sentient jeevan</a:t>
            </a:r>
          </a:p>
        </p:txBody>
      </p:sp>
      <p:sp>
        <p:nvSpPr>
          <p:cNvPr id="20" name="Rounded Rectangle 19">
            <a:extLst xmlns:a="http://schemas.openxmlformats.org/drawingml/2006/main">
              <a:ext uri="{FF2B5EF4-FFF2-40B4-BE49-F238E27FC236}">
                <a16:creationId xmlns:a16="http://schemas.microsoft.com/office/drawing/2014/main" id="{BB53FAC8-AD43-44DA-8605-533C5615AFF1}"/>
              </a:ext>
            </a:extLst>
          </p:cNvPr>
          <p:cNvSpPr>
            <a:spLocks xmlns:a="http://schemas.openxmlformats.org/drawingml/2006/main" noGrp="1"/>
          </p:cNvSpPr>
          <p:nvPr/>
        </p:nvSpPr>
        <p:spPr>
          <a:xfrm xmlns:a="http://schemas.openxmlformats.org/drawingml/2006/main">
            <a:off x="685800" y="3200400"/>
            <a:ext cx="5257800" cy="19659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084AA0CD-28C0-4B8D-85ED-4FAA34C470DA}"/>
              </a:ext>
            </a:extLst>
          </p:cNvPr>
          <p:cNvSpPr>
            <a:spLocks xmlns:a="http://schemas.openxmlformats.org/drawingml/2006/main" noGrp="1"/>
          </p:cNvSpPr>
          <p:nvPr/>
        </p:nvSpPr>
        <p:spPr>
          <a:xfrm xmlns:a="http://schemas.openxmlformats.org/drawingml/2006/main">
            <a:off x="898855" y="33951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8A1F6DEC-11BE-47FE-BD6E-90B5A9FC3795}"/>
              </a:ext>
            </a:extLst>
          </p:cNvPr>
          <p:cNvSpPr>
            <a:spLocks xmlns:a="http://schemas.openxmlformats.org/drawingml/2006/main" noGrp="1"/>
          </p:cNvSpPr>
          <p:nvPr/>
        </p:nvSpPr>
        <p:spPr>
          <a:xfrm xmlns:a="http://schemas.openxmlformats.org/drawingml/2006/main">
            <a:off x="977036" y="34733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A3341C13-9DDE-42E2-8230-168F8BB0C862}"/>
              </a:ext>
            </a:extLst>
          </p:cNvPr>
          <p:cNvSpPr>
            <a:spLocks xmlns:a="http://schemas.openxmlformats.org/drawingml/2006/main" noGrp="1"/>
          </p:cNvSpPr>
          <p:nvPr/>
        </p:nvSpPr>
        <p:spPr>
          <a:xfrm xmlns:a="http://schemas.openxmlformats.org/drawingml/2006/main">
            <a:off x="1038758" y="35350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01F4DDB2-060E-4B04-8B77-A3613D069AD4}"/>
              </a:ext>
            </a:extLst>
          </p:cNvPr>
          <p:cNvSpPr>
            <a:spLocks xmlns:a="http://schemas.openxmlformats.org/drawingml/2006/main" noGrp="1"/>
          </p:cNvSpPr>
          <p:nvPr/>
        </p:nvSpPr>
        <p:spPr>
          <a:xfrm xmlns:a="http://schemas.openxmlformats.org/drawingml/2006/main">
            <a:off x="1444752" y="34015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Sentient atom</a:t>
            </a:r>
          </a:p>
        </p:txBody>
      </p:sp>
      <p:sp>
        <p:nvSpPr>
          <p:cNvPr id="25" name="TextBox 24">
            <a:extLst xmlns:a="http://schemas.openxmlformats.org/drawingml/2006/main">
              <a:ext uri="{FF2B5EF4-FFF2-40B4-BE49-F238E27FC236}">
                <a16:creationId xmlns:a16="http://schemas.microsoft.com/office/drawing/2014/main" id="{3CB940A0-228E-458E-92AB-3FF427090EB5}"/>
              </a:ext>
            </a:extLst>
          </p:cNvPr>
          <p:cNvSpPr>
            <a:spLocks xmlns:a="http://schemas.openxmlformats.org/drawingml/2006/main" noGrp="1"/>
          </p:cNvSpPr>
          <p:nvPr/>
        </p:nvSpPr>
        <p:spPr>
          <a:xfrm xmlns:a="http://schemas.openxmlformats.org/drawingml/2006/main">
            <a:off x="941832" y="3913632"/>
            <a:ext cx="4745736"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At constitutional completion, particle exchange is said to cease and sentience to become permanent. Jeevan bears desire, thought, and expectation.</a:t>
            </a:r>
          </a:p>
        </p:txBody>
      </p:sp>
      <p:sp>
        <p:nvSpPr>
          <p:cNvPr id="26" name="Rounded Rectangle 25">
            <a:extLst xmlns:a="http://schemas.openxmlformats.org/drawingml/2006/main">
              <a:ext uri="{FF2B5EF4-FFF2-40B4-BE49-F238E27FC236}">
                <a16:creationId xmlns:a16="http://schemas.microsoft.com/office/drawing/2014/main" id="{D60D5A01-0F2F-43C0-A224-7688DA85F34F}"/>
              </a:ext>
            </a:extLst>
          </p:cNvPr>
          <p:cNvSpPr>
            <a:spLocks xmlns:a="http://schemas.openxmlformats.org/drawingml/2006/main" noGrp="1"/>
          </p:cNvSpPr>
          <p:nvPr/>
        </p:nvSpPr>
        <p:spPr>
          <a:xfrm xmlns:a="http://schemas.openxmlformats.org/drawingml/2006/main">
            <a:off x="6172200" y="3200400"/>
            <a:ext cx="5330952" cy="19659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Oval 26">
            <a:extLst xmlns:a="http://schemas.openxmlformats.org/drawingml/2006/main">
              <a:ext uri="{FF2B5EF4-FFF2-40B4-BE49-F238E27FC236}">
                <a16:creationId xmlns:a16="http://schemas.microsoft.com/office/drawing/2014/main" id="{0292EA46-CBAA-4A7F-AAF5-390F0D6B91D4}"/>
              </a:ext>
            </a:extLst>
          </p:cNvPr>
          <p:cNvSpPr>
            <a:spLocks xmlns:a="http://schemas.openxmlformats.org/drawingml/2006/main" noGrp="1"/>
          </p:cNvSpPr>
          <p:nvPr/>
        </p:nvSpPr>
        <p:spPr>
          <a:xfrm xmlns:a="http://schemas.openxmlformats.org/drawingml/2006/main">
            <a:off x="6385255" y="33951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Oval 27">
            <a:extLst xmlns:a="http://schemas.openxmlformats.org/drawingml/2006/main">
              <a:ext uri="{FF2B5EF4-FFF2-40B4-BE49-F238E27FC236}">
                <a16:creationId xmlns:a16="http://schemas.microsoft.com/office/drawing/2014/main" id="{0B498F57-3489-4F84-89EE-77B3CAB043ED}"/>
              </a:ext>
            </a:extLst>
          </p:cNvPr>
          <p:cNvSpPr>
            <a:spLocks xmlns:a="http://schemas.openxmlformats.org/drawingml/2006/main" noGrp="1"/>
          </p:cNvSpPr>
          <p:nvPr/>
        </p:nvSpPr>
        <p:spPr>
          <a:xfrm xmlns:a="http://schemas.openxmlformats.org/drawingml/2006/main">
            <a:off x="6463436" y="34733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Oval 28">
            <a:extLst xmlns:a="http://schemas.openxmlformats.org/drawingml/2006/main">
              <a:ext uri="{FF2B5EF4-FFF2-40B4-BE49-F238E27FC236}">
                <a16:creationId xmlns:a16="http://schemas.microsoft.com/office/drawing/2014/main" id="{4AA4E6E1-4EFF-4AC3-99B1-54670ACBAEB0}"/>
              </a:ext>
            </a:extLst>
          </p:cNvPr>
          <p:cNvSpPr>
            <a:spLocks xmlns:a="http://schemas.openxmlformats.org/drawingml/2006/main" noGrp="1"/>
          </p:cNvSpPr>
          <p:nvPr/>
        </p:nvSpPr>
        <p:spPr>
          <a:xfrm xmlns:a="http://schemas.openxmlformats.org/drawingml/2006/main">
            <a:off x="6525158" y="35350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182AEC64-3218-4BC7-B684-60D446EC9928}"/>
              </a:ext>
            </a:extLst>
          </p:cNvPr>
          <p:cNvSpPr>
            <a:spLocks xmlns:a="http://schemas.openxmlformats.org/drawingml/2006/main" noGrp="1"/>
          </p:cNvSpPr>
          <p:nvPr/>
        </p:nvSpPr>
        <p:spPr>
          <a:xfrm xmlns:a="http://schemas.openxmlformats.org/drawingml/2006/main">
            <a:off x="6931152" y="34015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What remains unmeasured</a:t>
            </a:r>
          </a:p>
        </p:txBody>
      </p:sp>
      <p:sp>
        <p:nvSpPr>
          <p:cNvPr id="31" name="TextBox 30">
            <a:extLst xmlns:a="http://schemas.openxmlformats.org/drawingml/2006/main">
              <a:ext uri="{FF2B5EF4-FFF2-40B4-BE49-F238E27FC236}">
                <a16:creationId xmlns:a16="http://schemas.microsoft.com/office/drawing/2014/main" id="{0BB9BADD-FCF9-4F0C-8F02-23CD8B6D7560}"/>
              </a:ext>
            </a:extLst>
          </p:cNvPr>
          <p:cNvSpPr>
            <a:spLocks xmlns:a="http://schemas.openxmlformats.org/drawingml/2006/main" noGrp="1"/>
          </p:cNvSpPr>
          <p:nvPr/>
        </p:nvSpPr>
        <p:spPr>
          <a:xfrm xmlns:a="http://schemas.openxmlformats.org/drawingml/2006/main">
            <a:off x="6428232" y="3913632"/>
            <a:ext cx="4818888"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The sources give no public procedure for identifying this closed constitution or measuring its coordination with a brain.</a:t>
            </a:r>
          </a:p>
        </p:txBody>
      </p:sp>
      <p:sp>
        <p:nvSpPr>
          <p:cNvPr id="32" name="Rounded Rectangle 31">
            <a:extLst xmlns:a="http://schemas.openxmlformats.org/drawingml/2006/main">
              <a:ext uri="{FF2B5EF4-FFF2-40B4-BE49-F238E27FC236}">
                <a16:creationId xmlns:a16="http://schemas.microsoft.com/office/drawing/2014/main" id="{41575705-886A-4E69-AAC6-B14326F4A71E}"/>
              </a:ext>
            </a:extLst>
          </p:cNvPr>
          <p:cNvSpPr>
            <a:spLocks xmlns:a="http://schemas.openxmlformats.org/drawingml/2006/main" noGrp="1"/>
          </p:cNvSpPr>
          <p:nvPr/>
        </p:nvSpPr>
        <p:spPr>
          <a:xfrm xmlns:a="http://schemas.openxmlformats.org/drawingml/2006/main">
            <a:off x="685800" y="5440680"/>
            <a:ext cx="10817352" cy="74980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E56FD860-6CC0-4FD8-B73D-A1CD5934440A}"/>
              </a:ext>
            </a:extLst>
          </p:cNvPr>
          <p:cNvSpPr>
            <a:spLocks xmlns:a="http://schemas.openxmlformats.org/drawingml/2006/main" noGrp="1"/>
          </p:cNvSpPr>
          <p:nvPr/>
        </p:nvSpPr>
        <p:spPr>
          <a:xfrm xmlns:a="http://schemas.openxmlformats.org/drawingml/2006/main">
            <a:off x="1005840" y="544068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Post-death continuity follows within the theory; evidence for it must be distinguished from the theory’s internal fit.</a:t>
            </a:r>
          </a:p>
        </p:txBody>
      </p:sp>
      <p:sp>
        <p:nvSpPr>
          <p:cNvPr id="34" name="TextBox 33">
            <a:extLst xmlns:a="http://schemas.openxmlformats.org/drawingml/2006/main">
              <a:ext uri="{FF2B5EF4-FFF2-40B4-BE49-F238E27FC236}">
                <a16:creationId xmlns:a16="http://schemas.microsoft.com/office/drawing/2014/main" id="{FACE6979-0772-44FE-A8E8-93EA9C5C22D8}"/>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§1.3.2 · §5.1</a:t>
            </a:r>
          </a:p>
        </p:txBody>
      </p:sp>
    </p:spTree>
    <p:extLst>
      <p:ext uri="{BB962C8B-B14F-4D97-AF65-F5344CB8AC3E}">
        <p14:creationId xmlns:p14="http://schemas.microsoft.com/office/powerpoint/2010/main" val="134713089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97D3DD0-B933-4D20-84B6-CBBDFDA73F0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9782278-A3A2-4CB8-AA1C-83D66974A5DC}"/>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C17FA2AD-2DF0-419B-BD72-EB6937CF71D9}"/>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A5D686B1-A9A3-481F-B360-B28F0014CE9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C958DD1-CCAB-4925-9904-35F6C62C4430}"/>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840DD4B0-01DA-4413-959B-3053FD1420F8}"/>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One Joint Form, Two Explanatory Roles</a:t>
            </a:r>
          </a:p>
        </p:txBody>
      </p:sp>
      <p:sp>
        <p:nvSpPr>
          <p:cNvPr id="8" name="Rounded Rectangle 7">
            <a:extLst xmlns:a="http://schemas.openxmlformats.org/drawingml/2006/main">
              <a:ext uri="{FF2B5EF4-FFF2-40B4-BE49-F238E27FC236}">
                <a16:creationId xmlns:a16="http://schemas.microsoft.com/office/drawing/2014/main" id="{B1D74832-DC9F-4C09-9D21-824632E68552}"/>
              </a:ext>
            </a:extLst>
          </p:cNvPr>
          <p:cNvSpPr>
            <a:spLocks xmlns:a="http://schemas.openxmlformats.org/drawingml/2006/main" noGrp="1"/>
          </p:cNvSpPr>
          <p:nvPr/>
        </p:nvSpPr>
        <p:spPr>
          <a:xfrm xmlns:a="http://schemas.openxmlformats.org/drawingml/2006/main">
            <a:off x="685800" y="1783080"/>
            <a:ext cx="3429000" cy="2743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9761B882-E531-4446-B68E-28A783AD1D22}"/>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31E288C8-15BF-4F3D-9DF8-BCD727DA2F15}"/>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B72A06F-F0ED-4ED9-AE33-87ADEB7844D7}"/>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8343854A-E1E3-4521-BD8A-30B99A480BAF}"/>
              </a:ext>
            </a:extLst>
          </p:cNvPr>
          <p:cNvSpPr>
            <a:spLocks xmlns:a="http://schemas.openxmlformats.org/drawingml/2006/main" noGrp="1"/>
          </p:cNvSpPr>
          <p:nvPr/>
        </p:nvSpPr>
        <p:spPr>
          <a:xfrm xmlns:a="http://schemas.openxmlformats.org/drawingml/2006/main">
            <a:off x="1444752" y="1984248"/>
            <a:ext cx="2487168" cy="523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Different roles need explanation</a:t>
            </a:r>
          </a:p>
        </p:txBody>
      </p:sp>
      <p:sp>
        <p:nvSpPr>
          <p:cNvPr id="13" name="TextBox 12">
            <a:extLst xmlns:a="http://schemas.openxmlformats.org/drawingml/2006/main">
              <a:ext uri="{FF2B5EF4-FFF2-40B4-BE49-F238E27FC236}">
                <a16:creationId xmlns:a16="http://schemas.microsoft.com/office/drawing/2014/main" id="{0C508A4A-47EC-4EC9-986F-E9EB333F00E9}"/>
              </a:ext>
            </a:extLst>
          </p:cNvPr>
          <p:cNvSpPr>
            <a:spLocks xmlns:a="http://schemas.openxmlformats.org/drawingml/2006/main" noGrp="1"/>
          </p:cNvSpPr>
          <p:nvPr/>
        </p:nvSpPr>
        <p:spPr>
          <a:xfrm xmlns:a="http://schemas.openxmlformats.org/drawingml/2006/main">
            <a:off x="941832"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The body supplies sensory organs and neural processing. Jeevan bears felt experience and evaluation. These roles explain the proposed joint form; they do not by themselves prove two entities.</a:t>
            </a:r>
          </a:p>
        </p:txBody>
      </p:sp>
      <p:sp>
        <p:nvSpPr>
          <p:cNvPr id="14" name="Rounded Rectangle 13">
            <a:extLst xmlns:a="http://schemas.openxmlformats.org/drawingml/2006/main">
              <a:ext uri="{FF2B5EF4-FFF2-40B4-BE49-F238E27FC236}">
                <a16:creationId xmlns:a16="http://schemas.microsoft.com/office/drawing/2014/main" id="{4B9E4AB7-77AA-45C9-8487-53A3C5FC141E}"/>
              </a:ext>
            </a:extLst>
          </p:cNvPr>
          <p:cNvSpPr>
            <a:spLocks xmlns:a="http://schemas.openxmlformats.org/drawingml/2006/main" noGrp="1"/>
          </p:cNvSpPr>
          <p:nvPr/>
        </p:nvSpPr>
        <p:spPr>
          <a:xfrm xmlns:a="http://schemas.openxmlformats.org/drawingml/2006/main">
            <a:off x="4379976" y="1783080"/>
            <a:ext cx="3429000" cy="274320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2D1998F-025C-462F-A1BD-9047C41E6AF5}"/>
              </a:ext>
            </a:extLst>
          </p:cNvPr>
          <p:cNvSpPr>
            <a:spLocks xmlns:a="http://schemas.openxmlformats.org/drawingml/2006/main" noGrp="1"/>
          </p:cNvSpPr>
          <p:nvPr/>
        </p:nvSpPr>
        <p:spPr>
          <a:xfrm xmlns:a="http://schemas.openxmlformats.org/drawingml/2006/main">
            <a:off x="4593031"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9E857F9F-4BA4-43A4-9264-DFD4FAC15195}"/>
              </a:ext>
            </a:extLst>
          </p:cNvPr>
          <p:cNvSpPr>
            <a:spLocks xmlns:a="http://schemas.openxmlformats.org/drawingml/2006/main" noGrp="1"/>
          </p:cNvSpPr>
          <p:nvPr/>
        </p:nvSpPr>
        <p:spPr>
          <a:xfrm xmlns:a="http://schemas.openxmlformats.org/drawingml/2006/main">
            <a:off x="4671212"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11E2DF1A-1B2C-4FA9-A900-3F84F75C1B16}"/>
              </a:ext>
            </a:extLst>
          </p:cNvPr>
          <p:cNvSpPr>
            <a:spLocks xmlns:a="http://schemas.openxmlformats.org/drawingml/2006/main" noGrp="1"/>
          </p:cNvSpPr>
          <p:nvPr/>
        </p:nvSpPr>
        <p:spPr>
          <a:xfrm xmlns:a="http://schemas.openxmlformats.org/drawingml/2006/main">
            <a:off x="4732934"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153D23BB-0095-4ED2-9DA4-E1F46468A4EE}"/>
              </a:ext>
            </a:extLst>
          </p:cNvPr>
          <p:cNvSpPr>
            <a:spLocks xmlns:a="http://schemas.openxmlformats.org/drawingml/2006/main" noGrp="1"/>
          </p:cNvSpPr>
          <p:nvPr/>
        </p:nvSpPr>
        <p:spPr>
          <a:xfrm xmlns:a="http://schemas.openxmlformats.org/drawingml/2006/main">
            <a:off x="5138928" y="198424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Sensitivity in the joint form</a:t>
            </a:r>
          </a:p>
        </p:txBody>
      </p:sp>
      <p:sp>
        <p:nvSpPr>
          <p:cNvPr id="19" name="TextBox 18">
            <a:extLst xmlns:a="http://schemas.openxmlformats.org/drawingml/2006/main">
              <a:ext uri="{FF2B5EF4-FFF2-40B4-BE49-F238E27FC236}">
                <a16:creationId xmlns:a16="http://schemas.microsoft.com/office/drawing/2014/main" id="{545D98CD-B403-4216-8DA8-2884448A3869}"/>
              </a:ext>
            </a:extLst>
          </p:cNvPr>
          <p:cNvSpPr>
            <a:spLocks xmlns:a="http://schemas.openxmlformats.org/drawingml/2006/main" noGrp="1"/>
          </p:cNvSpPr>
          <p:nvPr/>
        </p:nvSpPr>
        <p:spPr>
          <a:xfrm xmlns:a="http://schemas.openxmlformats.org/drawingml/2006/main">
            <a:off x="4636008"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Sensitivity requires jeevan together with a suitable body. The sources describe the brain as a medium receiving signals from jeevan. How this coordination works remains to be established.</a:t>
            </a:r>
          </a:p>
        </p:txBody>
      </p:sp>
      <p:sp>
        <p:nvSpPr>
          <p:cNvPr id="20" name="Rounded Rectangle 19">
            <a:extLst xmlns:a="http://schemas.openxmlformats.org/drawingml/2006/main">
              <a:ext uri="{FF2B5EF4-FFF2-40B4-BE49-F238E27FC236}">
                <a16:creationId xmlns:a16="http://schemas.microsoft.com/office/drawing/2014/main" id="{0F526374-9BD6-4DB3-B225-5DDB7E798359}"/>
              </a:ext>
            </a:extLst>
          </p:cNvPr>
          <p:cNvSpPr>
            <a:spLocks xmlns:a="http://schemas.openxmlformats.org/drawingml/2006/main" noGrp="1"/>
          </p:cNvSpPr>
          <p:nvPr/>
        </p:nvSpPr>
        <p:spPr>
          <a:xfrm xmlns:a="http://schemas.openxmlformats.org/drawingml/2006/main">
            <a:off x="8074152" y="1783080"/>
            <a:ext cx="3429000" cy="2743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3EF4737D-DF82-4527-8AD3-07FAA144EC0A}"/>
              </a:ext>
            </a:extLst>
          </p:cNvPr>
          <p:cNvSpPr>
            <a:spLocks xmlns:a="http://schemas.openxmlformats.org/drawingml/2006/main" noGrp="1"/>
          </p:cNvSpPr>
          <p:nvPr/>
        </p:nvSpPr>
        <p:spPr>
          <a:xfrm xmlns:a="http://schemas.openxmlformats.org/drawingml/2006/main">
            <a:off x="8287207"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3F0A108A-FB3C-4E2B-A363-9224B28DEF58}"/>
              </a:ext>
            </a:extLst>
          </p:cNvPr>
          <p:cNvSpPr>
            <a:spLocks xmlns:a="http://schemas.openxmlformats.org/drawingml/2006/main" noGrp="1"/>
          </p:cNvSpPr>
          <p:nvPr/>
        </p:nvSpPr>
        <p:spPr>
          <a:xfrm xmlns:a="http://schemas.openxmlformats.org/drawingml/2006/main">
            <a:off x="8365388"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FE9E055-59C7-487F-B14A-5110A977E772}"/>
              </a:ext>
            </a:extLst>
          </p:cNvPr>
          <p:cNvSpPr>
            <a:spLocks xmlns:a="http://schemas.openxmlformats.org/drawingml/2006/main" noGrp="1"/>
          </p:cNvSpPr>
          <p:nvPr/>
        </p:nvSpPr>
        <p:spPr>
          <a:xfrm xmlns:a="http://schemas.openxmlformats.org/drawingml/2006/main">
            <a:off x="8427110"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7B616CB8-22F6-402D-89E8-699F2D8DCE4D}"/>
              </a:ext>
            </a:extLst>
          </p:cNvPr>
          <p:cNvSpPr>
            <a:spLocks xmlns:a="http://schemas.openxmlformats.org/drawingml/2006/main" noGrp="1"/>
          </p:cNvSpPr>
          <p:nvPr/>
        </p:nvSpPr>
        <p:spPr>
          <a:xfrm xmlns:a="http://schemas.openxmlformats.org/drawingml/2006/main">
            <a:off x="8833104" y="1984248"/>
            <a:ext cx="2487168" cy="523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Koshas are not a one-to-one map</a:t>
            </a:r>
          </a:p>
        </p:txBody>
      </p:sp>
      <p:sp>
        <p:nvSpPr>
          <p:cNvPr id="25" name="TextBox 24">
            <a:extLst xmlns:a="http://schemas.openxmlformats.org/drawingml/2006/main">
              <a:ext uri="{FF2B5EF4-FFF2-40B4-BE49-F238E27FC236}">
                <a16:creationId xmlns:a16="http://schemas.microsoft.com/office/drawing/2014/main" id="{A58F2D1A-FA10-4A3B-976C-F6850CB089D3}"/>
              </a:ext>
            </a:extLst>
          </p:cNvPr>
          <p:cNvSpPr>
            <a:spLocks xmlns:a="http://schemas.openxmlformats.org/drawingml/2006/main" noGrp="1"/>
          </p:cNvSpPr>
          <p:nvPr/>
        </p:nvSpPr>
        <p:spPr>
          <a:xfrm xmlns:a="http://schemas.openxmlformats.org/drawingml/2006/main">
            <a:off x="8330183"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Both accounts use five koshas, but assign them different functions and philosophical roles. Shared vocabulary does not establish a shared model.</a:t>
            </a:r>
          </a:p>
        </p:txBody>
      </p:sp>
      <p:sp>
        <p:nvSpPr>
          <p:cNvPr id="26" name="Rounded Rectangle 25">
            <a:extLst xmlns:a="http://schemas.openxmlformats.org/drawingml/2006/main">
              <a:ext uri="{FF2B5EF4-FFF2-40B4-BE49-F238E27FC236}">
                <a16:creationId xmlns:a16="http://schemas.microsoft.com/office/drawing/2014/main" id="{7E48931B-FE0F-4B03-83D1-0204065AF27D}"/>
              </a:ext>
            </a:extLst>
          </p:cNvPr>
          <p:cNvSpPr>
            <a:spLocks xmlns:a="http://schemas.openxmlformats.org/drawingml/2006/main" noGrp="1"/>
          </p:cNvSpPr>
          <p:nvPr/>
        </p:nvSpPr>
        <p:spPr>
          <a:xfrm xmlns:a="http://schemas.openxmlformats.org/drawingml/2006/main">
            <a:off x="685800" y="4800600"/>
            <a:ext cx="10817352" cy="960120"/>
          </a:xfrm>
          <a:prstGeom xmlns:a="http://schemas.openxmlformats.org/drawingml/2006/main" prst="roundRect">
            <a:avLst>
              <a:gd name="adj" fmla="val 10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234FECAA-DA7B-405F-A91F-878B9CC50C62}"/>
              </a:ext>
            </a:extLst>
          </p:cNvPr>
          <p:cNvSpPr>
            <a:spLocks xmlns:a="http://schemas.openxmlformats.org/drawingml/2006/main" noGrp="1"/>
          </p:cNvSpPr>
          <p:nvPr/>
        </p:nvSpPr>
        <p:spPr>
          <a:xfrm xmlns:a="http://schemas.openxmlformats.org/drawingml/2006/main">
            <a:off x="1051560" y="4937760"/>
            <a:ext cx="1014984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300"/>
              </a:spcAft>
              <a:buNone/>
            </a:pPr>
            <a:r>
              <a:rPr sz="1450" b="0" i="1">
                <a:solidFill>
                  <a:srgbClr val="FFFFFF"/>
                </a:solidFill>
                <a:latin typeface="Calibri"/>
                <a:ea typeface="Calibri"/>
                <a:cs typeface="Calibri"/>
              </a:rPr>
              <a:t>“The body is not jeevan, and jeevan is not the body. Jeevan is eternal, and the body is merely a vehicle and medium for jeevan.”</a:t>
            </a:r>
          </a:p>
          <a:p xmlns:a="http://schemas.openxmlformats.org/drawingml/2006/main">
            <a:pPr algn="l">
              <a:lnSpc>
                <a:spcPct val="105000"/>
              </a:lnSpc>
              <a:spcBef>
                <a:spcPts val="0"/>
              </a:spcBef>
              <a:spcAft>
                <a:spcPts val="300"/>
              </a:spcAft>
              <a:buNone/>
            </a:pPr>
            <a:r>
              <a:rPr sz="1200" b="1" i="0">
                <a:solidFill>
                  <a:srgbClr val="C9D4EF"/>
                </a:solidFill>
                <a:latin typeface="Calibri"/>
                <a:ea typeface="Calibri"/>
                <a:cs typeface="Calibri"/>
              </a:rPr>
              <a:t>— SB, Ch. 7</a:t>
            </a:r>
          </a:p>
        </p:txBody>
      </p:sp>
      <p:sp>
        <p:nvSpPr>
          <p:cNvPr id="28" name="TextBox 27">
            <a:extLst xmlns:a="http://schemas.openxmlformats.org/drawingml/2006/main">
              <a:ext uri="{FF2B5EF4-FFF2-40B4-BE49-F238E27FC236}">
                <a16:creationId xmlns:a16="http://schemas.microsoft.com/office/drawing/2014/main" id="{9E8075D6-7139-4589-A20B-48F37D7D4CA2}"/>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§1.3.3–1.3.5 · §5.1</a:t>
            </a:r>
          </a:p>
        </p:txBody>
      </p:sp>
    </p:spTree>
    <p:extLst>
      <p:ext uri="{BB962C8B-B14F-4D97-AF65-F5344CB8AC3E}">
        <p14:creationId xmlns:p14="http://schemas.microsoft.com/office/powerpoint/2010/main" val="4100911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F1A19-797F-4931-81FC-EAAFAB3D229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DFC182A-EA7B-41E1-A251-29C88DED4211}"/>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C98B975-4D7E-4D3E-98C4-C63A214906F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C5DF1A6-F677-40CB-95A8-01F2AFCC2C8F}"/>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AEF4947-7641-4A64-9BA4-A1DEE4733A73}"/>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PHYSICALISM · ONTOLOGY</a:t>
            </a:r>
          </a:p>
        </p:txBody>
      </p:sp>
      <p:sp>
        <p:nvSpPr>
          <p:cNvPr id="7" name="TextBox 6">
            <a:extLst xmlns:a="http://schemas.openxmlformats.org/drawingml/2006/main">
              <a:ext uri="{FF2B5EF4-FFF2-40B4-BE49-F238E27FC236}">
                <a16:creationId xmlns:a16="http://schemas.microsoft.com/office/drawing/2014/main" id="{43C1DB62-0068-403D-B983-DEA7205979CA}"/>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The Physicalist Answer</a:t>
            </a:r>
          </a:p>
        </p:txBody>
      </p:sp>
      <p:sp>
        <p:nvSpPr>
          <p:cNvPr id="8" name="Rounded Rectangle 7">
            <a:extLst xmlns:a="http://schemas.openxmlformats.org/drawingml/2006/main">
              <a:ext uri="{FF2B5EF4-FFF2-40B4-BE49-F238E27FC236}">
                <a16:creationId xmlns:a16="http://schemas.microsoft.com/office/drawing/2014/main" id="{914C9DBA-D2D8-4E13-BB4D-1AFF5BF9BB32}"/>
              </a:ext>
            </a:extLst>
          </p:cNvPr>
          <p:cNvSpPr>
            <a:spLocks xmlns:a="http://schemas.openxmlformats.org/drawingml/2006/main" noGrp="1"/>
          </p:cNvSpPr>
          <p:nvPr/>
        </p:nvSpPr>
        <p:spPr>
          <a:xfrm xmlns:a="http://schemas.openxmlformats.org/drawingml/2006/main">
            <a:off x="685800" y="1783080"/>
            <a:ext cx="5257800" cy="1600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7F44D389-C40E-4ABA-B72F-23E16A996768}"/>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D62AEBE9-7462-4F5E-952B-38900A586CC2}"/>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A7A5D16-B4D4-447F-A22A-EB1A1D7C2D46}"/>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21E2D2-684B-43B2-B190-381660677B25}"/>
              </a:ext>
            </a:extLst>
          </p:cNvPr>
          <p:cNvSpPr>
            <a:spLocks xmlns:a="http://schemas.openxmlformats.org/drawingml/2006/main" noGrp="1"/>
          </p:cNvSpPr>
          <p:nvPr/>
        </p:nvSpPr>
        <p:spPr>
          <a:xfrm xmlns:a="http://schemas.openxmlformats.org/drawingml/2006/main">
            <a:off x="1444752" y="198424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The answer</a:t>
            </a:r>
          </a:p>
        </p:txBody>
      </p:sp>
      <p:sp>
        <p:nvSpPr>
          <p:cNvPr id="13" name="TextBox 12">
            <a:extLst xmlns:a="http://schemas.openxmlformats.org/drawingml/2006/main">
              <a:ext uri="{FF2B5EF4-FFF2-40B4-BE49-F238E27FC236}">
                <a16:creationId xmlns:a16="http://schemas.microsoft.com/office/drawing/2014/main" id="{AECBDBCC-B5D2-447B-8A0B-736474D0EFE4}"/>
              </a:ext>
            </a:extLst>
          </p:cNvPr>
          <p:cNvSpPr>
            <a:spLocks xmlns:a="http://schemas.openxmlformats.org/drawingml/2006/main" noGrp="1"/>
          </p:cNvSpPr>
          <p:nvPr/>
        </p:nvSpPr>
        <p:spPr>
          <a:xfrm xmlns:a="http://schemas.openxmlformats.org/drawingml/2006/main">
            <a:off x="941832" y="2496312"/>
            <a:ext cx="4745736"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A human is an evolved organism whose mental capacities depend wholly on biological organisation. Science supports pervasive dependence; physicalism adds the ontological claim.</a:t>
            </a:r>
          </a:p>
        </p:txBody>
      </p:sp>
      <p:sp>
        <p:nvSpPr>
          <p:cNvPr id="14" name="Rounded Rectangle 13">
            <a:extLst xmlns:a="http://schemas.openxmlformats.org/drawingml/2006/main">
              <a:ext uri="{FF2B5EF4-FFF2-40B4-BE49-F238E27FC236}">
                <a16:creationId xmlns:a16="http://schemas.microsoft.com/office/drawing/2014/main" id="{984AD1A6-1C3F-4728-9EAE-204B59CC2DBB}"/>
              </a:ext>
            </a:extLst>
          </p:cNvPr>
          <p:cNvSpPr>
            <a:spLocks xmlns:a="http://schemas.openxmlformats.org/drawingml/2006/main" noGrp="1"/>
          </p:cNvSpPr>
          <p:nvPr/>
        </p:nvSpPr>
        <p:spPr>
          <a:xfrm xmlns:a="http://schemas.openxmlformats.org/drawingml/2006/main">
            <a:off x="6172200" y="1783080"/>
            <a:ext cx="5330952" cy="1600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7452D9D2-6F71-4638-B026-FDB72CCF1D32}"/>
              </a:ext>
            </a:extLst>
          </p:cNvPr>
          <p:cNvSpPr>
            <a:spLocks xmlns:a="http://schemas.openxmlformats.org/drawingml/2006/main" noGrp="1"/>
          </p:cNvSpPr>
          <p:nvPr/>
        </p:nvSpPr>
        <p:spPr>
          <a:xfrm xmlns:a="http://schemas.openxmlformats.org/drawingml/2006/main">
            <a:off x="63852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12EF10E-DF99-4762-9A51-DBB1A1618733}"/>
              </a:ext>
            </a:extLst>
          </p:cNvPr>
          <p:cNvSpPr>
            <a:spLocks xmlns:a="http://schemas.openxmlformats.org/drawingml/2006/main" noGrp="1"/>
          </p:cNvSpPr>
          <p:nvPr/>
        </p:nvSpPr>
        <p:spPr>
          <a:xfrm xmlns:a="http://schemas.openxmlformats.org/drawingml/2006/main">
            <a:off x="64634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8C3CCF3-877C-4D7D-8807-658A955B4961}"/>
              </a:ext>
            </a:extLst>
          </p:cNvPr>
          <p:cNvSpPr>
            <a:spLocks xmlns:a="http://schemas.openxmlformats.org/drawingml/2006/main" noGrp="1"/>
          </p:cNvSpPr>
          <p:nvPr/>
        </p:nvSpPr>
        <p:spPr>
          <a:xfrm xmlns:a="http://schemas.openxmlformats.org/drawingml/2006/main">
            <a:off x="65251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1E6E0488-D121-45C9-A42E-9569FF117414}"/>
              </a:ext>
            </a:extLst>
          </p:cNvPr>
          <p:cNvSpPr>
            <a:spLocks xmlns:a="http://schemas.openxmlformats.org/drawingml/2006/main" noGrp="1"/>
          </p:cNvSpPr>
          <p:nvPr/>
        </p:nvSpPr>
        <p:spPr>
          <a:xfrm xmlns:a="http://schemas.openxmlformats.org/drawingml/2006/main">
            <a:off x="6931152" y="198424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Method</a:t>
            </a:r>
          </a:p>
        </p:txBody>
      </p:sp>
      <p:sp>
        <p:nvSpPr>
          <p:cNvPr id="19" name="TextBox 18">
            <a:extLst xmlns:a="http://schemas.openxmlformats.org/drawingml/2006/main">
              <a:ext uri="{FF2B5EF4-FFF2-40B4-BE49-F238E27FC236}">
                <a16:creationId xmlns:a16="http://schemas.microsoft.com/office/drawing/2014/main" id="{B668AAD0-14F0-4E51-ABA8-1FBC05FE2F1D}"/>
              </a:ext>
            </a:extLst>
          </p:cNvPr>
          <p:cNvSpPr>
            <a:spLocks xmlns:a="http://schemas.openxmlformats.org/drawingml/2006/main" noGrp="1"/>
          </p:cNvSpPr>
          <p:nvPr/>
        </p:nvSpPr>
        <p:spPr>
          <a:xfrm xmlns:a="http://schemas.openxmlformats.org/drawingml/2006/main">
            <a:off x="6428232" y="2496312"/>
            <a:ext cx="481888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Public measurement, modelling, and replication; explanations begin with organised matter and neural function.</a:t>
            </a:r>
          </a:p>
        </p:txBody>
      </p:sp>
      <p:sp>
        <p:nvSpPr>
          <p:cNvPr id="20" name="TextBox 19">
            <a:extLst xmlns:a="http://schemas.openxmlformats.org/drawingml/2006/main">
              <a:ext uri="{FF2B5EF4-FFF2-40B4-BE49-F238E27FC236}">
                <a16:creationId xmlns:a16="http://schemas.microsoft.com/office/drawing/2014/main" id="{E1A639C4-43B7-4161-B89E-18877D163A70}"/>
              </a:ext>
            </a:extLst>
          </p:cNvPr>
          <p:cNvSpPr>
            <a:spLocks xmlns:a="http://schemas.openxmlformats.org/drawingml/2006/main" noGrp="1"/>
          </p:cNvSpPr>
          <p:nvPr/>
        </p:nvSpPr>
        <p:spPr>
          <a:xfrm xmlns:a="http://schemas.openxmlformats.org/drawingml/2006/main">
            <a:off x="685800" y="3611880"/>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1" i="0">
                <a:solidFill>
                  <a:srgbClr val="1E2447"/>
                </a:solidFill>
                <a:latin typeface="Calibri"/>
                <a:ea typeface="Calibri"/>
                <a:cs typeface="Calibri"/>
              </a:rPr>
              <a:t>Five questions for the Madhyasth ontology</a:t>
            </a:r>
          </a:p>
        </p:txBody>
      </p:sp>
      <p:sp>
        <p:nvSpPr>
          <p:cNvPr id="21" name="Oval 20">
            <a:extLst xmlns:a="http://schemas.openxmlformats.org/drawingml/2006/main">
              <a:ext uri="{FF2B5EF4-FFF2-40B4-BE49-F238E27FC236}">
                <a16:creationId xmlns:a16="http://schemas.microsoft.com/office/drawing/2014/main" id="{2367063F-BB6F-46DB-B639-F186405A0CDB}"/>
              </a:ext>
            </a:extLst>
          </p:cNvPr>
          <p:cNvSpPr>
            <a:spLocks xmlns:a="http://schemas.openxmlformats.org/drawingml/2006/main" noGrp="1"/>
          </p:cNvSpPr>
          <p:nvPr/>
        </p:nvSpPr>
        <p:spPr>
          <a:xfrm xmlns:a="http://schemas.openxmlformats.org/drawingml/2006/main">
            <a:off x="841248" y="41239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67E97618-E5A0-49F7-9947-083ED2D34F1F}"/>
              </a:ext>
            </a:extLst>
          </p:cNvPr>
          <p:cNvSpPr>
            <a:spLocks xmlns:a="http://schemas.openxmlformats.org/drawingml/2006/main" noGrp="1"/>
          </p:cNvSpPr>
          <p:nvPr/>
        </p:nvSpPr>
        <p:spPr>
          <a:xfrm xmlns:a="http://schemas.openxmlformats.org/drawingml/2006/main">
            <a:off x="1188720" y="40233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Evolution and the four orders</a:t>
            </a:r>
          </a:p>
        </p:txBody>
      </p:sp>
      <p:sp>
        <p:nvSpPr>
          <p:cNvPr id="23" name="TextBox 22">
            <a:extLst xmlns:a="http://schemas.openxmlformats.org/drawingml/2006/main">
              <a:ext uri="{FF2B5EF4-FFF2-40B4-BE49-F238E27FC236}">
                <a16:creationId xmlns:a16="http://schemas.microsoft.com/office/drawing/2014/main" id="{7BC1C9F7-7214-49DD-B8CC-EEAA2B7F9B48}"/>
              </a:ext>
            </a:extLst>
          </p:cNvPr>
          <p:cNvSpPr>
            <a:spLocks xmlns:a="http://schemas.openxmlformats.org/drawingml/2006/main" noGrp="1"/>
          </p:cNvSpPr>
          <p:nvPr/>
        </p:nvSpPr>
        <p:spPr>
          <a:xfrm xmlns:a="http://schemas.openxmlformats.org/drawingml/2006/main">
            <a:off x="5394960" y="40416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Relate the proposed orders to biological descent</a:t>
            </a:r>
          </a:p>
        </p:txBody>
      </p:sp>
      <p:sp>
        <p:nvSpPr>
          <p:cNvPr id="24" name="Oval 23">
            <a:extLst xmlns:a="http://schemas.openxmlformats.org/drawingml/2006/main">
              <a:ext uri="{FF2B5EF4-FFF2-40B4-BE49-F238E27FC236}">
                <a16:creationId xmlns:a16="http://schemas.microsoft.com/office/drawing/2014/main" id="{CCB5E0C8-9008-4CF9-92B6-C58947447CB9}"/>
              </a:ext>
            </a:extLst>
          </p:cNvPr>
          <p:cNvSpPr>
            <a:spLocks xmlns:a="http://schemas.openxmlformats.org/drawingml/2006/main" noGrp="1"/>
          </p:cNvSpPr>
          <p:nvPr/>
        </p:nvSpPr>
        <p:spPr>
          <a:xfrm xmlns:a="http://schemas.openxmlformats.org/drawingml/2006/main">
            <a:off x="841248" y="45811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03421116-4FB7-4248-80DC-A9C1C799DF0D}"/>
              </a:ext>
            </a:extLst>
          </p:cNvPr>
          <p:cNvSpPr>
            <a:spLocks xmlns:a="http://schemas.openxmlformats.org/drawingml/2006/main" noGrp="1"/>
          </p:cNvSpPr>
          <p:nvPr/>
        </p:nvSpPr>
        <p:spPr>
          <a:xfrm xmlns:a="http://schemas.openxmlformats.org/drawingml/2006/main">
            <a:off x="1188720" y="44805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Mental function and organisation</a:t>
            </a:r>
          </a:p>
        </p:txBody>
      </p:sp>
      <p:sp>
        <p:nvSpPr>
          <p:cNvPr id="26" name="TextBox 25">
            <a:extLst xmlns:a="http://schemas.openxmlformats.org/drawingml/2006/main">
              <a:ext uri="{FF2B5EF4-FFF2-40B4-BE49-F238E27FC236}">
                <a16:creationId xmlns:a16="http://schemas.microsoft.com/office/drawing/2014/main" id="{B68DD60F-30BB-48A7-A876-38BFF00AF2C4}"/>
              </a:ext>
            </a:extLst>
          </p:cNvPr>
          <p:cNvSpPr>
            <a:spLocks xmlns:a="http://schemas.openxmlformats.org/drawingml/2006/main" noGrp="1"/>
          </p:cNvSpPr>
          <p:nvPr/>
        </p:nvSpPr>
        <p:spPr>
          <a:xfrm xmlns:a="http://schemas.openxmlformats.org/drawingml/2006/main">
            <a:off x="5394960" y="44988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Irreversible brain destruction ends observable mental function</a:t>
            </a:r>
          </a:p>
        </p:txBody>
      </p:sp>
      <p:sp>
        <p:nvSpPr>
          <p:cNvPr id="27" name="Oval 26">
            <a:extLst xmlns:a="http://schemas.openxmlformats.org/drawingml/2006/main">
              <a:ext uri="{FF2B5EF4-FFF2-40B4-BE49-F238E27FC236}">
                <a16:creationId xmlns:a16="http://schemas.microsoft.com/office/drawing/2014/main" id="{5ECD719C-CC1C-478B-AD45-090289005F4A}"/>
              </a:ext>
            </a:extLst>
          </p:cNvPr>
          <p:cNvSpPr>
            <a:spLocks xmlns:a="http://schemas.openxmlformats.org/drawingml/2006/main" noGrp="1"/>
          </p:cNvSpPr>
          <p:nvPr/>
        </p:nvSpPr>
        <p:spPr>
          <a:xfrm xmlns:a="http://schemas.openxmlformats.org/drawingml/2006/main">
            <a:off x="841248" y="50383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5470B701-1A2D-43A3-BED2-BC47167CB16C}"/>
              </a:ext>
            </a:extLst>
          </p:cNvPr>
          <p:cNvSpPr>
            <a:spLocks xmlns:a="http://schemas.openxmlformats.org/drawingml/2006/main" noGrp="1"/>
          </p:cNvSpPr>
          <p:nvPr/>
        </p:nvSpPr>
        <p:spPr>
          <a:xfrm xmlns:a="http://schemas.openxmlformats.org/drawingml/2006/main">
            <a:off x="1188720" y="49377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No second entity</a:t>
            </a:r>
          </a:p>
        </p:txBody>
      </p:sp>
      <p:sp>
        <p:nvSpPr>
          <p:cNvPr id="29" name="TextBox 28">
            <a:extLst xmlns:a="http://schemas.openxmlformats.org/drawingml/2006/main">
              <a:ext uri="{FF2B5EF4-FFF2-40B4-BE49-F238E27FC236}">
                <a16:creationId xmlns:a16="http://schemas.microsoft.com/office/drawing/2014/main" id="{58DF96B1-C496-41AE-85B0-626065A83594}"/>
              </a:ext>
            </a:extLst>
          </p:cNvPr>
          <p:cNvSpPr>
            <a:spLocks xmlns:a="http://schemas.openxmlformats.org/drawingml/2006/main" noGrp="1"/>
          </p:cNvSpPr>
          <p:nvPr/>
        </p:nvSpPr>
        <p:spPr>
          <a:xfrm xmlns:a="http://schemas.openxmlformats.org/drawingml/2006/main">
            <a:off x="5394960" y="49560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No independent sentient unit has been detected</a:t>
            </a:r>
          </a:p>
        </p:txBody>
      </p:sp>
      <p:sp>
        <p:nvSpPr>
          <p:cNvPr id="30" name="Oval 29">
            <a:extLst xmlns:a="http://schemas.openxmlformats.org/drawingml/2006/main">
              <a:ext uri="{FF2B5EF4-FFF2-40B4-BE49-F238E27FC236}">
                <a16:creationId xmlns:a16="http://schemas.microsoft.com/office/drawing/2014/main" id="{DA32F050-699C-470C-8EA6-30847074E602}"/>
              </a:ext>
            </a:extLst>
          </p:cNvPr>
          <p:cNvSpPr>
            <a:spLocks xmlns:a="http://schemas.openxmlformats.org/drawingml/2006/main" noGrp="1"/>
          </p:cNvSpPr>
          <p:nvPr/>
        </p:nvSpPr>
        <p:spPr>
          <a:xfrm xmlns:a="http://schemas.openxmlformats.org/drawingml/2006/main">
            <a:off x="841248" y="54955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50919694-26A9-4502-9262-EDC4336C61A7}"/>
              </a:ext>
            </a:extLst>
          </p:cNvPr>
          <p:cNvSpPr>
            <a:spLocks xmlns:a="http://schemas.openxmlformats.org/drawingml/2006/main" noGrp="1"/>
          </p:cNvSpPr>
          <p:nvPr/>
        </p:nvSpPr>
        <p:spPr>
          <a:xfrm xmlns:a="http://schemas.openxmlformats.org/drawingml/2006/main">
            <a:off x="1188720" y="53949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Cognition through brain and culture</a:t>
            </a:r>
          </a:p>
        </p:txBody>
      </p:sp>
      <p:sp>
        <p:nvSpPr>
          <p:cNvPr id="32" name="TextBox 31">
            <a:extLst xmlns:a="http://schemas.openxmlformats.org/drawingml/2006/main">
              <a:ext uri="{FF2B5EF4-FFF2-40B4-BE49-F238E27FC236}">
                <a16:creationId xmlns:a16="http://schemas.microsoft.com/office/drawing/2014/main" id="{3533303D-1F96-4B0D-9389-A943E1B9D77F}"/>
              </a:ext>
            </a:extLst>
          </p:cNvPr>
          <p:cNvSpPr>
            <a:spLocks xmlns:a="http://schemas.openxmlformats.org/drawingml/2006/main" noGrp="1"/>
          </p:cNvSpPr>
          <p:nvPr/>
        </p:nvSpPr>
        <p:spPr>
          <a:xfrm xmlns:a="http://schemas.openxmlformats.org/drawingml/2006/main">
            <a:off x="5394960" y="54132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Brains in social worlds support symbol use and culture</a:t>
            </a:r>
          </a:p>
        </p:txBody>
      </p:sp>
      <p:sp>
        <p:nvSpPr>
          <p:cNvPr id="33" name="Oval 32">
            <a:extLst xmlns:a="http://schemas.openxmlformats.org/drawingml/2006/main">
              <a:ext uri="{FF2B5EF4-FFF2-40B4-BE49-F238E27FC236}">
                <a16:creationId xmlns:a16="http://schemas.microsoft.com/office/drawing/2014/main" id="{D6D00243-E2FC-45AD-9C19-0D6AC443D3BB}"/>
              </a:ext>
            </a:extLst>
          </p:cNvPr>
          <p:cNvSpPr>
            <a:spLocks xmlns:a="http://schemas.openxmlformats.org/drawingml/2006/main" noGrp="1"/>
          </p:cNvSpPr>
          <p:nvPr/>
        </p:nvSpPr>
        <p:spPr>
          <a:xfrm xmlns:a="http://schemas.openxmlformats.org/drawingml/2006/main">
            <a:off x="841248" y="59527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C831B181-ED9E-4226-A740-C5D534908CF4}"/>
              </a:ext>
            </a:extLst>
          </p:cNvPr>
          <p:cNvSpPr>
            <a:spLocks xmlns:a="http://schemas.openxmlformats.org/drawingml/2006/main" noGrp="1"/>
          </p:cNvSpPr>
          <p:nvPr/>
        </p:nvSpPr>
        <p:spPr>
          <a:xfrm xmlns:a="http://schemas.openxmlformats.org/drawingml/2006/main">
            <a:off x="1188720" y="58521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Layered function, not koshas</a:t>
            </a:r>
          </a:p>
        </p:txBody>
      </p:sp>
      <p:sp>
        <p:nvSpPr>
          <p:cNvPr id="35" name="TextBox 34">
            <a:extLst xmlns:a="http://schemas.openxmlformats.org/drawingml/2006/main">
              <a:ext uri="{FF2B5EF4-FFF2-40B4-BE49-F238E27FC236}">
                <a16:creationId xmlns:a16="http://schemas.microsoft.com/office/drawing/2014/main" id="{DE0C1E74-8296-45A9-A999-B9501C7F5564}"/>
              </a:ext>
            </a:extLst>
          </p:cNvPr>
          <p:cNvSpPr>
            <a:spLocks xmlns:a="http://schemas.openxmlformats.org/drawingml/2006/main" noGrp="1"/>
          </p:cNvSpPr>
          <p:nvPr/>
        </p:nvSpPr>
        <p:spPr>
          <a:xfrm xmlns:a="http://schemas.openxmlformats.org/drawingml/2006/main">
            <a:off x="5394960" y="58704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Distributed bodily, cortical, and subcortical functions</a:t>
            </a:r>
          </a:p>
        </p:txBody>
      </p:sp>
      <p:sp>
        <p:nvSpPr>
          <p:cNvPr id="36" name="TextBox 35">
            <a:extLst xmlns:a="http://schemas.openxmlformats.org/drawingml/2006/main">
              <a:ext uri="{FF2B5EF4-FFF2-40B4-BE49-F238E27FC236}">
                <a16:creationId xmlns:a16="http://schemas.microsoft.com/office/drawing/2014/main" id="{B58F0F28-918B-4941-8D16-36724794418E}"/>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§2.3–2.5</a:t>
            </a:r>
          </a:p>
        </p:txBody>
      </p:sp>
    </p:spTree>
    <p:extLst>
      <p:ext uri="{BB962C8B-B14F-4D97-AF65-F5344CB8AC3E}">
        <p14:creationId xmlns:p14="http://schemas.microsoft.com/office/powerpoint/2010/main" val="155928221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EA266C4-591A-4F0B-AD2D-55B103324C8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CAA7EBE8-9626-443D-A504-066307ED6CE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DD05969-904E-4415-A89F-B53E78A4079F}"/>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644AAC57-0E0F-4474-9167-0062CAE00047}"/>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0632EE2E-C706-4D7D-B165-133A405A53D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 ONTOLOGY</a:t>
            </a:r>
          </a:p>
        </p:txBody>
      </p:sp>
      <p:sp>
        <p:nvSpPr>
          <p:cNvPr id="7" name="TextBox 6">
            <a:extLst xmlns:a="http://schemas.openxmlformats.org/drawingml/2006/main">
              <a:ext uri="{FF2B5EF4-FFF2-40B4-BE49-F238E27FC236}">
                <a16:creationId xmlns:a16="http://schemas.microsoft.com/office/drawing/2014/main" id="{A395B714-F7CA-42D8-8D24-A401FAA0DC9E}"/>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The Interaction Problem</a:t>
            </a:r>
          </a:p>
        </p:txBody>
      </p:sp>
      <p:sp>
        <p:nvSpPr>
          <p:cNvPr id="8" name="TextBox 7">
            <a:extLst xmlns:a="http://schemas.openxmlformats.org/drawingml/2006/main">
              <a:ext uri="{FF2B5EF4-FFF2-40B4-BE49-F238E27FC236}">
                <a16:creationId xmlns:a16="http://schemas.microsoft.com/office/drawing/2014/main" id="{DBE474DE-2255-463C-97C3-F0AFFD02B3D5}"/>
              </a:ext>
            </a:extLst>
          </p:cNvPr>
          <p:cNvSpPr>
            <a:spLocks xmlns:a="http://schemas.openxmlformats.org/drawingml/2006/main" noGrp="1"/>
          </p:cNvSpPr>
          <p:nvPr/>
        </p:nvSpPr>
        <p:spPr>
          <a:xfrm xmlns:a="http://schemas.openxmlformats.org/drawingml/2006/main">
            <a:off x="685800" y="178308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The serious challenge is not that an extra cause must obviously violate energy conservation. Conservation laws constrain measured systems; they do not by themselves prove causal closure.</a:t>
            </a:r>
          </a:p>
        </p:txBody>
      </p:sp>
      <p:sp>
        <p:nvSpPr>
          <p:cNvPr id="9" name="Rounded Rectangle 8">
            <a:extLst xmlns:a="http://schemas.openxmlformats.org/drawingml/2006/main">
              <a:ext uri="{FF2B5EF4-FFF2-40B4-BE49-F238E27FC236}">
                <a16:creationId xmlns:a16="http://schemas.microsoft.com/office/drawing/2014/main" id="{0D9F24AC-DA90-412C-8D64-A24F7324814B}"/>
              </a:ext>
            </a:extLst>
          </p:cNvPr>
          <p:cNvSpPr>
            <a:spLocks xmlns:a="http://schemas.openxmlformats.org/drawingml/2006/main" noGrp="1"/>
          </p:cNvSpPr>
          <p:nvPr/>
        </p:nvSpPr>
        <p:spPr>
          <a:xfrm xmlns:a="http://schemas.openxmlformats.org/drawingml/2006/main">
            <a:off x="685800" y="2971800"/>
            <a:ext cx="5257800" cy="2103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96F2C04-B00E-49A4-A2E1-AB51168673E0}"/>
              </a:ext>
            </a:extLst>
          </p:cNvPr>
          <p:cNvSpPr>
            <a:spLocks xmlns:a="http://schemas.openxmlformats.org/drawingml/2006/main" noGrp="1"/>
          </p:cNvSpPr>
          <p:nvPr/>
        </p:nvSpPr>
        <p:spPr>
          <a:xfrm xmlns:a="http://schemas.openxmlformats.org/drawingml/2006/main">
            <a:off x="898855" y="3166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91A7B8D5-9609-4270-A91E-809116D3AE37}"/>
              </a:ext>
            </a:extLst>
          </p:cNvPr>
          <p:cNvSpPr>
            <a:spLocks xmlns:a="http://schemas.openxmlformats.org/drawingml/2006/main" noGrp="1"/>
          </p:cNvSpPr>
          <p:nvPr/>
        </p:nvSpPr>
        <p:spPr>
          <a:xfrm xmlns:a="http://schemas.openxmlformats.org/drawingml/2006/main">
            <a:off x="977036" y="3244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5E5FDCD2-973F-4F6E-B26C-3E6F7ABCA142}"/>
              </a:ext>
            </a:extLst>
          </p:cNvPr>
          <p:cNvSpPr>
            <a:spLocks xmlns:a="http://schemas.openxmlformats.org/drawingml/2006/main" noGrp="1"/>
          </p:cNvSpPr>
          <p:nvPr/>
        </p:nvSpPr>
        <p:spPr>
          <a:xfrm xmlns:a="http://schemas.openxmlformats.org/drawingml/2006/main">
            <a:off x="1038758" y="3306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6041A3B3-E8BD-4860-B2B0-8A0A0F303D4D}"/>
              </a:ext>
            </a:extLst>
          </p:cNvPr>
          <p:cNvSpPr>
            <a:spLocks xmlns:a="http://schemas.openxmlformats.org/drawingml/2006/main" noGrp="1"/>
          </p:cNvSpPr>
          <p:nvPr/>
        </p:nvSpPr>
        <p:spPr>
          <a:xfrm xmlns:a="http://schemas.openxmlformats.org/drawingml/2006/main">
            <a:off x="1444752" y="31729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The physicalist challenge</a:t>
            </a:r>
          </a:p>
        </p:txBody>
      </p:sp>
      <p:sp>
        <p:nvSpPr>
          <p:cNvPr id="14" name="TextBox 13">
            <a:extLst xmlns:a="http://schemas.openxmlformats.org/drawingml/2006/main">
              <a:ext uri="{FF2B5EF4-FFF2-40B4-BE49-F238E27FC236}">
                <a16:creationId xmlns:a16="http://schemas.microsoft.com/office/drawing/2014/main" id="{535D1890-7529-466A-981F-59124CCB08AD}"/>
              </a:ext>
            </a:extLst>
          </p:cNvPr>
          <p:cNvSpPr>
            <a:spLocks xmlns:a="http://schemas.openxmlformats.org/drawingml/2006/main" noGrp="1"/>
          </p:cNvSpPr>
          <p:nvPr/>
        </p:nvSpPr>
        <p:spPr>
          <a:xfrm xmlns:a="http://schemas.openxmlformats.org/drawingml/2006/main">
            <a:off x="941832" y="3685032"/>
            <a:ext cx="4745736" cy="118871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If jeevan changes bodily action, specify the mechanism and show effects not already explained by neural dynamics. Without a distinct prediction, the added entity risks explanatory idleness.</a:t>
            </a:r>
          </a:p>
        </p:txBody>
      </p:sp>
      <p:sp>
        <p:nvSpPr>
          <p:cNvPr id="15" name="Rounded Rectangle 14">
            <a:extLst xmlns:a="http://schemas.openxmlformats.org/drawingml/2006/main">
              <a:ext uri="{FF2B5EF4-FFF2-40B4-BE49-F238E27FC236}">
                <a16:creationId xmlns:a16="http://schemas.microsoft.com/office/drawing/2014/main" id="{C2DC4DB9-63F0-49AA-BC46-7848F130E85D}"/>
              </a:ext>
            </a:extLst>
          </p:cNvPr>
          <p:cNvSpPr>
            <a:spLocks xmlns:a="http://schemas.openxmlformats.org/drawingml/2006/main" noGrp="1"/>
          </p:cNvSpPr>
          <p:nvPr/>
        </p:nvSpPr>
        <p:spPr>
          <a:xfrm xmlns:a="http://schemas.openxmlformats.org/drawingml/2006/main">
            <a:off x="6172200" y="2971800"/>
            <a:ext cx="5330952" cy="210312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6F2F21B0-6C55-4882-AE2F-2AD508597133}"/>
              </a:ext>
            </a:extLst>
          </p:cNvPr>
          <p:cNvSpPr>
            <a:spLocks xmlns:a="http://schemas.openxmlformats.org/drawingml/2006/main" noGrp="1"/>
          </p:cNvSpPr>
          <p:nvPr/>
        </p:nvSpPr>
        <p:spPr>
          <a:xfrm xmlns:a="http://schemas.openxmlformats.org/drawingml/2006/main">
            <a:off x="6385255" y="3166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44988DFE-9BA5-44C6-8D37-D7EDA1E54F9B}"/>
              </a:ext>
            </a:extLst>
          </p:cNvPr>
          <p:cNvSpPr>
            <a:spLocks xmlns:a="http://schemas.openxmlformats.org/drawingml/2006/main" noGrp="1"/>
          </p:cNvSpPr>
          <p:nvPr/>
        </p:nvSpPr>
        <p:spPr>
          <a:xfrm xmlns:a="http://schemas.openxmlformats.org/drawingml/2006/main">
            <a:off x="6463436" y="3244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A4A1996B-E6BD-4267-AF99-B6CE958611D9}"/>
              </a:ext>
            </a:extLst>
          </p:cNvPr>
          <p:cNvSpPr>
            <a:spLocks xmlns:a="http://schemas.openxmlformats.org/drawingml/2006/main" noGrp="1"/>
          </p:cNvSpPr>
          <p:nvPr/>
        </p:nvSpPr>
        <p:spPr>
          <a:xfrm xmlns:a="http://schemas.openxmlformats.org/drawingml/2006/main">
            <a:off x="6525158" y="3306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A5EC8094-F37C-4F9A-A04B-A541C2C3ECD3}"/>
              </a:ext>
            </a:extLst>
          </p:cNvPr>
          <p:cNvSpPr>
            <a:spLocks xmlns:a="http://schemas.openxmlformats.org/drawingml/2006/main" noGrp="1"/>
          </p:cNvSpPr>
          <p:nvPr/>
        </p:nvSpPr>
        <p:spPr>
          <a:xfrm xmlns:a="http://schemas.openxmlformats.org/drawingml/2006/main">
            <a:off x="6931152" y="31729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The proposed joint form</a:t>
            </a:r>
          </a:p>
        </p:txBody>
      </p:sp>
      <p:sp>
        <p:nvSpPr>
          <p:cNvPr id="20" name="TextBox 19">
            <a:extLst xmlns:a="http://schemas.openxmlformats.org/drawingml/2006/main">
              <a:ext uri="{FF2B5EF4-FFF2-40B4-BE49-F238E27FC236}">
                <a16:creationId xmlns:a16="http://schemas.microsoft.com/office/drawing/2014/main" id="{AB718AA4-6E46-43C6-885D-93710D32A480}"/>
              </a:ext>
            </a:extLst>
          </p:cNvPr>
          <p:cNvSpPr>
            <a:spLocks xmlns:a="http://schemas.openxmlformats.org/drawingml/2006/main" noGrp="1"/>
          </p:cNvSpPr>
          <p:nvPr/>
        </p:nvSpPr>
        <p:spPr>
          <a:xfrm xmlns:a="http://schemas.openxmlformats.org/drawingml/2006/main">
            <a:off x="6428232" y="3685032"/>
            <a:ext cx="4818888" cy="118871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The sources describe brain–jeevan coordination through signals. A causal account still needs measurable conditions, pathways, and observations that separate it from rivals.</a:t>
            </a:r>
          </a:p>
        </p:txBody>
      </p:sp>
      <p:sp>
        <p:nvSpPr>
          <p:cNvPr id="21" name="Rounded Rectangle 20">
            <a:extLst xmlns:a="http://schemas.openxmlformats.org/drawingml/2006/main">
              <a:ext uri="{FF2B5EF4-FFF2-40B4-BE49-F238E27FC236}">
                <a16:creationId xmlns:a16="http://schemas.microsoft.com/office/drawing/2014/main" id="{40905F85-B9F4-48C6-B8D5-FEC03431CB38}"/>
              </a:ext>
            </a:extLst>
          </p:cNvPr>
          <p:cNvSpPr>
            <a:spLocks xmlns:a="http://schemas.openxmlformats.org/drawingml/2006/main" noGrp="1"/>
          </p:cNvSpPr>
          <p:nvPr/>
        </p:nvSpPr>
        <p:spPr>
          <a:xfrm xmlns:a="http://schemas.openxmlformats.org/drawingml/2006/main">
            <a:off x="685800" y="5349240"/>
            <a:ext cx="10817352" cy="82296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C9724350-42EF-4C31-82B5-59182D1EE9B0}"/>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A useful test must compare rival predictions—not simply restate either ontology.</a:t>
            </a:r>
          </a:p>
        </p:txBody>
      </p:sp>
      <p:sp>
        <p:nvSpPr>
          <p:cNvPr id="23" name="TextBox 22">
            <a:extLst xmlns:a="http://schemas.openxmlformats.org/drawingml/2006/main">
              <a:ext uri="{FF2B5EF4-FFF2-40B4-BE49-F238E27FC236}">
                <a16:creationId xmlns:a16="http://schemas.microsoft.com/office/drawing/2014/main" id="{D960306E-7771-4CA6-A9E2-332D2B07951C}"/>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§2.3.3 · §5.1–5.2</a:t>
            </a:r>
          </a:p>
        </p:txBody>
      </p:sp>
    </p:spTree>
    <p:extLst>
      <p:ext uri="{BB962C8B-B14F-4D97-AF65-F5344CB8AC3E}">
        <p14:creationId xmlns:p14="http://schemas.microsoft.com/office/powerpoint/2010/main" val="29684266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9D379D-5123-4DB0-A462-5E6001AC452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7218E6E-64B9-4A28-9FA7-981C834A0BA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E94E2063-F41E-48FB-9186-D1715E1BF659}"/>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815AEB9E-BB82-4FCF-8DBB-5F60D3C5F276}"/>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640DA08-EFAB-44AB-8E88-7E7025E97BE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THE ARGUMENT BEYOND REDUCTION</a:t>
            </a:r>
          </a:p>
        </p:txBody>
      </p:sp>
      <p:sp>
        <p:nvSpPr>
          <p:cNvPr id="7" name="TextBox 6">
            <a:extLst xmlns:a="http://schemas.openxmlformats.org/drawingml/2006/main">
              <a:ext uri="{FF2B5EF4-FFF2-40B4-BE49-F238E27FC236}">
                <a16:creationId xmlns:a16="http://schemas.microsoft.com/office/drawing/2014/main" id="{50EB3682-9239-4303-8CAB-EF91299C9C4E}"/>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Why Experience Needs Explanation</a:t>
            </a:r>
          </a:p>
        </p:txBody>
      </p:sp>
      <p:sp>
        <p:nvSpPr>
          <p:cNvPr id="8" name="Rounded Rectangle 7">
            <a:extLst xmlns:a="http://schemas.openxmlformats.org/drawingml/2006/main">
              <a:ext uri="{FF2B5EF4-FFF2-40B4-BE49-F238E27FC236}">
                <a16:creationId xmlns:a16="http://schemas.microsoft.com/office/drawing/2014/main" id="{10A83485-DD53-4B9E-91C9-F367B5B8E20B}"/>
              </a:ext>
            </a:extLst>
          </p:cNvPr>
          <p:cNvSpPr>
            <a:spLocks xmlns:a="http://schemas.openxmlformats.org/drawingml/2006/main" noGrp="1"/>
          </p:cNvSpPr>
          <p:nvPr/>
        </p:nvSpPr>
        <p:spPr>
          <a:xfrm xmlns:a="http://schemas.openxmlformats.org/drawingml/2006/main">
            <a:off x="685800" y="1828800"/>
            <a:ext cx="5257800" cy="21945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2DCE2A6-C890-4F33-8A37-B4027E0EEF84}"/>
              </a:ext>
            </a:extLst>
          </p:cNvPr>
          <p:cNvSpPr>
            <a:spLocks xmlns:a="http://schemas.openxmlformats.org/drawingml/2006/main" noGrp="1"/>
          </p:cNvSpPr>
          <p:nvPr/>
        </p:nvSpPr>
        <p:spPr>
          <a:xfrm xmlns:a="http://schemas.openxmlformats.org/drawingml/2006/main">
            <a:off x="898855" y="2023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6F5CBA1-F5F6-409B-8A52-8A478A0CD13B}"/>
              </a:ext>
            </a:extLst>
          </p:cNvPr>
          <p:cNvSpPr>
            <a:spLocks xmlns:a="http://schemas.openxmlformats.org/drawingml/2006/main" noGrp="1"/>
          </p:cNvSpPr>
          <p:nvPr/>
        </p:nvSpPr>
        <p:spPr>
          <a:xfrm xmlns:a="http://schemas.openxmlformats.org/drawingml/2006/main">
            <a:off x="977036" y="2101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DFD3E3A8-345C-4998-A316-49802F513346}"/>
              </a:ext>
            </a:extLst>
          </p:cNvPr>
          <p:cNvSpPr>
            <a:spLocks xmlns:a="http://schemas.openxmlformats.org/drawingml/2006/main" noGrp="1"/>
          </p:cNvSpPr>
          <p:nvPr/>
        </p:nvSpPr>
        <p:spPr>
          <a:xfrm xmlns:a="http://schemas.openxmlformats.org/drawingml/2006/main">
            <a:off x="1038758" y="2163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3D59460D-4545-4285-BAD7-3C64A6BA118E}"/>
              </a:ext>
            </a:extLst>
          </p:cNvPr>
          <p:cNvSpPr>
            <a:spLocks xmlns:a="http://schemas.openxmlformats.org/drawingml/2006/main" noGrp="1"/>
          </p:cNvSpPr>
          <p:nvPr/>
        </p:nvSpPr>
        <p:spPr>
          <a:xfrm xmlns:a="http://schemas.openxmlformats.org/drawingml/2006/main">
            <a:off x="1444752" y="20299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Experience and its explanation</a:t>
            </a:r>
          </a:p>
        </p:txBody>
      </p:sp>
      <p:sp>
        <p:nvSpPr>
          <p:cNvPr id="13" name="TextBox 12">
            <a:extLst xmlns:a="http://schemas.openxmlformats.org/drawingml/2006/main">
              <a:ext uri="{FF2B5EF4-FFF2-40B4-BE49-F238E27FC236}">
                <a16:creationId xmlns:a16="http://schemas.microsoft.com/office/drawing/2014/main" id="{39E39124-3EC3-4CD3-942E-ECA78D954FF8}"/>
              </a:ext>
            </a:extLst>
          </p:cNvPr>
          <p:cNvSpPr>
            <a:spLocks xmlns:a="http://schemas.openxmlformats.org/drawingml/2006/main" noGrp="1"/>
          </p:cNvSpPr>
          <p:nvPr/>
        </p:nvSpPr>
        <p:spPr>
          <a:xfrm xmlns:a="http://schemas.openxmlformats.org/drawingml/2006/main">
            <a:off x="941832" y="2542032"/>
            <a:ext cx="4745736"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Neural accounts explain mechanisms. The further question is why any such activity has a felt point of view.</a:t>
            </a:r>
          </a:p>
        </p:txBody>
      </p:sp>
      <p:sp>
        <p:nvSpPr>
          <p:cNvPr id="14" name="Rounded Rectangle 13">
            <a:extLst xmlns:a="http://schemas.openxmlformats.org/drawingml/2006/main">
              <a:ext uri="{FF2B5EF4-FFF2-40B4-BE49-F238E27FC236}">
                <a16:creationId xmlns:a16="http://schemas.microsoft.com/office/drawing/2014/main" id="{BADB0BB3-85F8-4D04-AA15-F6ED5336E18E}"/>
              </a:ext>
            </a:extLst>
          </p:cNvPr>
          <p:cNvSpPr>
            <a:spLocks xmlns:a="http://schemas.openxmlformats.org/drawingml/2006/main" noGrp="1"/>
          </p:cNvSpPr>
          <p:nvPr/>
        </p:nvSpPr>
        <p:spPr>
          <a:xfrm xmlns:a="http://schemas.openxmlformats.org/drawingml/2006/main">
            <a:off x="6172200" y="1828800"/>
            <a:ext cx="5330952" cy="21945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50687F1D-0140-4B6B-9510-EA6688FF0714}"/>
              </a:ext>
            </a:extLst>
          </p:cNvPr>
          <p:cNvSpPr>
            <a:spLocks xmlns:a="http://schemas.openxmlformats.org/drawingml/2006/main" noGrp="1"/>
          </p:cNvSpPr>
          <p:nvPr/>
        </p:nvSpPr>
        <p:spPr>
          <a:xfrm xmlns:a="http://schemas.openxmlformats.org/drawingml/2006/main">
            <a:off x="6385255" y="2023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9122800-0604-491B-9B24-CA30AFEB3184}"/>
              </a:ext>
            </a:extLst>
          </p:cNvPr>
          <p:cNvSpPr>
            <a:spLocks xmlns:a="http://schemas.openxmlformats.org/drawingml/2006/main" noGrp="1"/>
          </p:cNvSpPr>
          <p:nvPr/>
        </p:nvSpPr>
        <p:spPr>
          <a:xfrm xmlns:a="http://schemas.openxmlformats.org/drawingml/2006/main">
            <a:off x="6463436" y="2101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E22ADF36-379C-461A-9727-DFC684B67C93}"/>
              </a:ext>
            </a:extLst>
          </p:cNvPr>
          <p:cNvSpPr>
            <a:spLocks xmlns:a="http://schemas.openxmlformats.org/drawingml/2006/main" noGrp="1"/>
          </p:cNvSpPr>
          <p:nvPr/>
        </p:nvSpPr>
        <p:spPr>
          <a:xfrm xmlns:a="http://schemas.openxmlformats.org/drawingml/2006/main">
            <a:off x="6525158" y="2163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09451DF-306C-4790-9CE7-37BE2E698767}"/>
              </a:ext>
            </a:extLst>
          </p:cNvPr>
          <p:cNvSpPr>
            <a:spLocks xmlns:a="http://schemas.openxmlformats.org/drawingml/2006/main" noGrp="1"/>
          </p:cNvSpPr>
          <p:nvPr/>
        </p:nvSpPr>
        <p:spPr>
          <a:xfrm xmlns:a="http://schemas.openxmlformats.org/drawingml/2006/main">
            <a:off x="6931152" y="20299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Unity, reasons, and value</a:t>
            </a:r>
          </a:p>
        </p:txBody>
      </p:sp>
      <p:sp>
        <p:nvSpPr>
          <p:cNvPr id="19" name="TextBox 18">
            <a:extLst xmlns:a="http://schemas.openxmlformats.org/drawingml/2006/main">
              <a:ext uri="{FF2B5EF4-FFF2-40B4-BE49-F238E27FC236}">
                <a16:creationId xmlns:a16="http://schemas.microsoft.com/office/drawing/2014/main" id="{54000FF5-4E66-4A90-9991-EE425068D217}"/>
              </a:ext>
            </a:extLst>
          </p:cNvPr>
          <p:cNvSpPr>
            <a:spLocks xmlns:a="http://schemas.openxmlformats.org/drawingml/2006/main" noGrp="1"/>
          </p:cNvSpPr>
          <p:nvPr/>
        </p:nvSpPr>
        <p:spPr>
          <a:xfrm xmlns:a="http://schemas.openxmlformats.org/drawingml/2006/main">
            <a:off x="6428232" y="2542032"/>
            <a:ext cx="481888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A theory must explain one experienced world and beliefs guided by reasons. These demands do not yet identify an enduring bearer.</a:t>
            </a:r>
          </a:p>
        </p:txBody>
      </p:sp>
      <p:sp>
        <p:nvSpPr>
          <p:cNvPr id="20" name="Rounded Rectangle 19">
            <a:extLst xmlns:a="http://schemas.openxmlformats.org/drawingml/2006/main">
              <a:ext uri="{FF2B5EF4-FFF2-40B4-BE49-F238E27FC236}">
                <a16:creationId xmlns:a16="http://schemas.microsoft.com/office/drawing/2014/main" id="{D1D65E8E-E47B-4395-9E71-D9E3D5FD6841}"/>
              </a:ext>
            </a:extLst>
          </p:cNvPr>
          <p:cNvSpPr>
            <a:spLocks xmlns:a="http://schemas.openxmlformats.org/drawingml/2006/main" noGrp="1"/>
          </p:cNvSpPr>
          <p:nvPr/>
        </p:nvSpPr>
        <p:spPr>
          <a:xfrm xmlns:a="http://schemas.openxmlformats.org/drawingml/2006/main">
            <a:off x="685800" y="4343400"/>
            <a:ext cx="10817352" cy="82296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102DE27-5C18-42DF-83D3-D111247E7BC9}"/>
              </a:ext>
            </a:extLst>
          </p:cNvPr>
          <p:cNvSpPr>
            <a:spLocks xmlns:a="http://schemas.openxmlformats.org/drawingml/2006/main" noGrp="1"/>
          </p:cNvSpPr>
          <p:nvPr/>
        </p:nvSpPr>
        <p:spPr>
          <a:xfrm xmlns:a="http://schemas.openxmlformats.org/drawingml/2006/main">
            <a:off x="1005840" y="434340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MD treats mystery as removable through understanding. The hard problem asks why physical activity is experienced at all.</a:t>
            </a:r>
          </a:p>
        </p:txBody>
      </p:sp>
      <p:sp>
        <p:nvSpPr>
          <p:cNvPr id="22" name="TextBox 21">
            <a:extLst xmlns:a="http://schemas.openxmlformats.org/drawingml/2006/main">
              <a:ext uri="{FF2B5EF4-FFF2-40B4-BE49-F238E27FC236}">
                <a16:creationId xmlns:a16="http://schemas.microsoft.com/office/drawing/2014/main" id="{1EA6E6C1-51B7-4990-8C8E-E45D426F8ADB}"/>
              </a:ext>
            </a:extLst>
          </p:cNvPr>
          <p:cNvSpPr>
            <a:spLocks xmlns:a="http://schemas.openxmlformats.org/drawingml/2006/main" noGrp="1"/>
          </p:cNvSpPr>
          <p:nvPr/>
        </p:nvSpPr>
        <p:spPr>
          <a:xfrm xmlns:a="http://schemas.openxmlformats.org/drawingml/2006/main">
            <a:off x="685800" y="544068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10000"/>
              </a:lnSpc>
              <a:spcBef>
                <a:spcPts val="0"/>
              </a:spcBef>
              <a:spcAft>
                <a:spcPts val="400"/>
              </a:spcAft>
              <a:buNone/>
            </a:pPr>
            <a:r>
              <a:rPr sz="1350" b="0" i="1">
                <a:solidFill>
                  <a:srgbClr val="5A6377"/>
                </a:solidFill>
                <a:latin typeface="Calibri"/>
                <a:ea typeface="Calibri"/>
                <a:cs typeface="Calibri"/>
              </a:rPr>
              <a:t>Physicalists offer identity, self-models, and accounts of reasoning. Each proposal must explain the same experience and meet the evidence.</a:t>
            </a:r>
          </a:p>
        </p:txBody>
      </p:sp>
      <p:sp>
        <p:nvSpPr>
          <p:cNvPr id="23" name="TextBox 22">
            <a:extLst xmlns:a="http://schemas.openxmlformats.org/drawingml/2006/main">
              <a:ext uri="{FF2B5EF4-FFF2-40B4-BE49-F238E27FC236}">
                <a16:creationId xmlns:a16="http://schemas.microsoft.com/office/drawing/2014/main" id="{B704B20D-3B56-4DDF-8C88-E476F80329AE}"/>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§4.2–4.5 · §2.5 · COGITATE Consortium 2025</a:t>
            </a:r>
          </a:p>
        </p:txBody>
      </p:sp>
    </p:spTree>
    <p:extLst>
      <p:ext uri="{BB962C8B-B14F-4D97-AF65-F5344CB8AC3E}">
        <p14:creationId xmlns:p14="http://schemas.microsoft.com/office/powerpoint/2010/main" val="46200106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7C6D937-1EAF-4B18-9A22-997EC9A185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255488A1-261C-4BB3-BE47-2B924763F3C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A3DAEDA7-D0D9-452A-8D07-FB59AEF105D4}"/>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D1EA5DE-1F9B-4407-977E-C742A9588F06}"/>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55906E6-A0B5-470F-BF09-F9D27CE065C1}"/>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ADVAITA VEDANTA · ONTOLOGY</a:t>
            </a:r>
          </a:p>
        </p:txBody>
      </p:sp>
      <p:sp>
        <p:nvSpPr>
          <p:cNvPr id="7" name="TextBox 6">
            <a:extLst xmlns:a="http://schemas.openxmlformats.org/drawingml/2006/main">
              <a:ext uri="{FF2B5EF4-FFF2-40B4-BE49-F238E27FC236}">
                <a16:creationId xmlns:a16="http://schemas.microsoft.com/office/drawing/2014/main" id="{4386FA75-11E0-4053-AA8B-8EB762B6E9A2}"/>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You Are Not Even an Individual</a:t>
            </a:r>
          </a:p>
        </p:txBody>
      </p:sp>
      <p:sp>
        <p:nvSpPr>
          <p:cNvPr id="8" name="TextBox 7">
            <a:extLst xmlns:a="http://schemas.openxmlformats.org/drawingml/2006/main">
              <a:ext uri="{FF2B5EF4-FFF2-40B4-BE49-F238E27FC236}">
                <a16:creationId xmlns:a16="http://schemas.microsoft.com/office/drawing/2014/main" id="{AC3D6809-4AC2-45A6-9902-85D69A4E852C}"/>
              </a:ext>
            </a:extLst>
          </p:cNvPr>
          <p:cNvSpPr>
            <a:spLocks xmlns:a="http://schemas.openxmlformats.org/drawingml/2006/main" noGrp="1"/>
          </p:cNvSpPr>
          <p:nvPr/>
        </p:nvSpPr>
        <p:spPr>
          <a:xfrm xmlns:a="http://schemas.openxmlformats.org/drawingml/2006/main">
            <a:off x="685800" y="178308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Advaita distinguishes empirical from ultimate reality. The world is mithya: not sheer nonexistence, but dependent reality whose being is not separate from Brahman.</a:t>
            </a:r>
          </a:p>
        </p:txBody>
      </p:sp>
      <p:sp>
        <p:nvSpPr>
          <p:cNvPr id="9" name="Rounded Rectangle 8">
            <a:extLst xmlns:a="http://schemas.openxmlformats.org/drawingml/2006/main">
              <a:ext uri="{FF2B5EF4-FFF2-40B4-BE49-F238E27FC236}">
                <a16:creationId xmlns:a16="http://schemas.microsoft.com/office/drawing/2014/main" id="{80474AED-B3A2-4BCB-9669-863BE529E9AB}"/>
              </a:ext>
            </a:extLst>
          </p:cNvPr>
          <p:cNvSpPr>
            <a:spLocks xmlns:a="http://schemas.openxmlformats.org/drawingml/2006/main" noGrp="1"/>
          </p:cNvSpPr>
          <p:nvPr/>
        </p:nvSpPr>
        <p:spPr>
          <a:xfrm xmlns:a="http://schemas.openxmlformats.org/drawingml/2006/main">
            <a:off x="685800" y="2606040"/>
            <a:ext cx="3547872" cy="21488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AA7A40E2-C5B4-49CF-9BC4-4B7B8115672E}"/>
              </a:ext>
            </a:extLst>
          </p:cNvPr>
          <p:cNvSpPr>
            <a:spLocks xmlns:a="http://schemas.openxmlformats.org/drawingml/2006/main" noGrp="1"/>
          </p:cNvSpPr>
          <p:nvPr/>
        </p:nvSpPr>
        <p:spPr>
          <a:xfrm xmlns:a="http://schemas.openxmlformats.org/drawingml/2006/main">
            <a:off x="898855"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EF4148F8-C171-4F06-B782-1E47B113734D}"/>
              </a:ext>
            </a:extLst>
          </p:cNvPr>
          <p:cNvSpPr>
            <a:spLocks xmlns:a="http://schemas.openxmlformats.org/drawingml/2006/main" noGrp="1"/>
          </p:cNvSpPr>
          <p:nvPr/>
        </p:nvSpPr>
        <p:spPr>
          <a:xfrm xmlns:a="http://schemas.openxmlformats.org/drawingml/2006/main">
            <a:off x="977036"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DB83D325-22CF-48B8-A104-6669E3DF5593}"/>
              </a:ext>
            </a:extLst>
          </p:cNvPr>
          <p:cNvSpPr>
            <a:spLocks xmlns:a="http://schemas.openxmlformats.org/drawingml/2006/main" noGrp="1"/>
          </p:cNvSpPr>
          <p:nvPr/>
        </p:nvSpPr>
        <p:spPr>
          <a:xfrm xmlns:a="http://schemas.openxmlformats.org/drawingml/2006/main">
            <a:off x="1038758"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B3AC1540-CA59-4BA9-B2A8-25A7C92494BA}"/>
              </a:ext>
            </a:extLst>
          </p:cNvPr>
          <p:cNvSpPr>
            <a:spLocks xmlns:a="http://schemas.openxmlformats.org/drawingml/2006/main" noGrp="1"/>
          </p:cNvSpPr>
          <p:nvPr/>
        </p:nvSpPr>
        <p:spPr>
          <a:xfrm xmlns:a="http://schemas.openxmlformats.org/drawingml/2006/main">
            <a:off x="1444752" y="2807208"/>
            <a:ext cx="2606039" cy="5080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Only Brahman is ultimately real</a:t>
            </a:r>
          </a:p>
        </p:txBody>
      </p:sp>
      <p:sp>
        <p:nvSpPr>
          <p:cNvPr id="14" name="TextBox 13">
            <a:extLst xmlns:a="http://schemas.openxmlformats.org/drawingml/2006/main">
              <a:ext uri="{FF2B5EF4-FFF2-40B4-BE49-F238E27FC236}">
                <a16:creationId xmlns:a16="http://schemas.microsoft.com/office/drawing/2014/main" id="{BAD36EDA-EE27-4AD1-AD41-C0634482D45E}"/>
              </a:ext>
            </a:extLst>
          </p:cNvPr>
          <p:cNvSpPr>
            <a:spLocks xmlns:a="http://schemas.openxmlformats.org/drawingml/2006/main" noGrp="1"/>
          </p:cNvSpPr>
          <p:nvPr/>
        </p:nvSpPr>
        <p:spPr>
          <a:xfrm xmlns:a="http://schemas.openxmlformats.org/drawingml/2006/main">
            <a:off x="941832"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Atman is Brahman; plurality is valid within empirical life but lacks independent ultimate reality.</a:t>
            </a:r>
          </a:p>
        </p:txBody>
      </p:sp>
      <p:sp>
        <p:nvSpPr>
          <p:cNvPr id="15" name="Rounded Rectangle 14">
            <a:extLst xmlns:a="http://schemas.openxmlformats.org/drawingml/2006/main">
              <a:ext uri="{FF2B5EF4-FFF2-40B4-BE49-F238E27FC236}">
                <a16:creationId xmlns:a16="http://schemas.microsoft.com/office/drawing/2014/main" id="{44CF00E1-84CD-489C-ACF7-86598D7C1C67}"/>
              </a:ext>
            </a:extLst>
          </p:cNvPr>
          <p:cNvSpPr>
            <a:spLocks xmlns:a="http://schemas.openxmlformats.org/drawingml/2006/main" noGrp="1"/>
          </p:cNvSpPr>
          <p:nvPr/>
        </p:nvSpPr>
        <p:spPr>
          <a:xfrm xmlns:a="http://schemas.openxmlformats.org/drawingml/2006/main">
            <a:off x="4325112" y="2606040"/>
            <a:ext cx="3547872" cy="21488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DA0B7F59-0D50-4EAD-A33D-EC2913D570D9}"/>
              </a:ext>
            </a:extLst>
          </p:cNvPr>
          <p:cNvSpPr>
            <a:spLocks xmlns:a="http://schemas.openxmlformats.org/drawingml/2006/main" noGrp="1"/>
          </p:cNvSpPr>
          <p:nvPr/>
        </p:nvSpPr>
        <p:spPr>
          <a:xfrm xmlns:a="http://schemas.openxmlformats.org/drawingml/2006/main">
            <a:off x="4538167"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21FED87B-01E5-4C1D-A6E9-3C8CD3FD4F9E}"/>
              </a:ext>
            </a:extLst>
          </p:cNvPr>
          <p:cNvSpPr>
            <a:spLocks xmlns:a="http://schemas.openxmlformats.org/drawingml/2006/main" noGrp="1"/>
          </p:cNvSpPr>
          <p:nvPr/>
        </p:nvSpPr>
        <p:spPr>
          <a:xfrm xmlns:a="http://schemas.openxmlformats.org/drawingml/2006/main">
            <a:off x="4616348"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CFB46FEA-3120-4614-B548-A5D712D2614C}"/>
              </a:ext>
            </a:extLst>
          </p:cNvPr>
          <p:cNvSpPr>
            <a:spLocks xmlns:a="http://schemas.openxmlformats.org/drawingml/2006/main" noGrp="1"/>
          </p:cNvSpPr>
          <p:nvPr/>
        </p:nvSpPr>
        <p:spPr>
          <a:xfrm xmlns:a="http://schemas.openxmlformats.org/drawingml/2006/main">
            <a:off x="4678070"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F001645-A77C-473E-A02A-011686E44938}"/>
              </a:ext>
            </a:extLst>
          </p:cNvPr>
          <p:cNvSpPr>
            <a:spLocks xmlns:a="http://schemas.openxmlformats.org/drawingml/2006/main" noGrp="1"/>
          </p:cNvSpPr>
          <p:nvPr/>
        </p:nvSpPr>
        <p:spPr>
          <a:xfrm xmlns:a="http://schemas.openxmlformats.org/drawingml/2006/main">
            <a:off x="5084064" y="2807208"/>
            <a:ext cx="260603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Not the body — or the mind</a:t>
            </a:r>
          </a:p>
        </p:txBody>
      </p:sp>
      <p:sp>
        <p:nvSpPr>
          <p:cNvPr id="20" name="TextBox 19">
            <a:extLst xmlns:a="http://schemas.openxmlformats.org/drawingml/2006/main">
              <a:ext uri="{FF2B5EF4-FFF2-40B4-BE49-F238E27FC236}">
                <a16:creationId xmlns:a16="http://schemas.microsoft.com/office/drawing/2014/main" id="{9BF889AF-74DB-4DDC-989C-95AA155A8A08}"/>
              </a:ext>
            </a:extLst>
          </p:cNvPr>
          <p:cNvSpPr>
            <a:spLocks xmlns:a="http://schemas.openxmlformats.org/drawingml/2006/main" noGrp="1"/>
          </p:cNvSpPr>
          <p:nvPr/>
        </p:nvSpPr>
        <p:spPr>
          <a:xfrm xmlns:a="http://schemas.openxmlformats.org/drawingml/2006/main">
            <a:off x="4581144"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Body, life-force, mind, intellect, and the bliss sheath are successively negated as not-Self.</a:t>
            </a:r>
          </a:p>
        </p:txBody>
      </p:sp>
      <p:sp>
        <p:nvSpPr>
          <p:cNvPr id="21" name="Rounded Rectangle 20">
            <a:extLst xmlns:a="http://schemas.openxmlformats.org/drawingml/2006/main">
              <a:ext uri="{FF2B5EF4-FFF2-40B4-BE49-F238E27FC236}">
                <a16:creationId xmlns:a16="http://schemas.microsoft.com/office/drawing/2014/main" id="{1A12CA38-55A2-48DD-A952-D6EA6178C934}"/>
              </a:ext>
            </a:extLst>
          </p:cNvPr>
          <p:cNvSpPr>
            <a:spLocks xmlns:a="http://schemas.openxmlformats.org/drawingml/2006/main" noGrp="1"/>
          </p:cNvSpPr>
          <p:nvPr/>
        </p:nvSpPr>
        <p:spPr>
          <a:xfrm xmlns:a="http://schemas.openxmlformats.org/drawingml/2006/main">
            <a:off x="7964424" y="2606040"/>
            <a:ext cx="3547872" cy="214884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676E2740-225D-4E7C-800C-3B1909206460}"/>
              </a:ext>
            </a:extLst>
          </p:cNvPr>
          <p:cNvSpPr>
            <a:spLocks xmlns:a="http://schemas.openxmlformats.org/drawingml/2006/main" noGrp="1"/>
          </p:cNvSpPr>
          <p:nvPr/>
        </p:nvSpPr>
        <p:spPr>
          <a:xfrm xmlns:a="http://schemas.openxmlformats.org/drawingml/2006/main">
            <a:off x="8177479"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03EA1621-5893-4DF4-AE60-A0AB77D7232E}"/>
              </a:ext>
            </a:extLst>
          </p:cNvPr>
          <p:cNvSpPr>
            <a:spLocks xmlns:a="http://schemas.openxmlformats.org/drawingml/2006/main" noGrp="1"/>
          </p:cNvSpPr>
          <p:nvPr/>
        </p:nvSpPr>
        <p:spPr>
          <a:xfrm xmlns:a="http://schemas.openxmlformats.org/drawingml/2006/main">
            <a:off x="8255660"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13687DF2-0023-43CB-864D-3972F3B744D6}"/>
              </a:ext>
            </a:extLst>
          </p:cNvPr>
          <p:cNvSpPr>
            <a:spLocks xmlns:a="http://schemas.openxmlformats.org/drawingml/2006/main" noGrp="1"/>
          </p:cNvSpPr>
          <p:nvPr/>
        </p:nvSpPr>
        <p:spPr>
          <a:xfrm xmlns:a="http://schemas.openxmlformats.org/drawingml/2006/main">
            <a:off x="8317382"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B332CD5E-7A03-49B1-ABFF-3173F5C1D9A0}"/>
              </a:ext>
            </a:extLst>
          </p:cNvPr>
          <p:cNvSpPr>
            <a:spLocks xmlns:a="http://schemas.openxmlformats.org/drawingml/2006/main" noGrp="1"/>
          </p:cNvSpPr>
          <p:nvPr/>
        </p:nvSpPr>
        <p:spPr>
          <a:xfrm xmlns:a="http://schemas.openxmlformats.org/drawingml/2006/main">
            <a:off x="8723376" y="2807208"/>
            <a:ext cx="260603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9A6414"/>
                </a:solidFill>
                <a:latin typeface="Cambria"/>
                <a:ea typeface="Cambria"/>
                <a:cs typeface="Cambria"/>
              </a:rPr>
              <a:t>Witness to nonduality</a:t>
            </a:r>
          </a:p>
        </p:txBody>
      </p:sp>
      <p:sp>
        <p:nvSpPr>
          <p:cNvPr id="26" name="TextBox 25">
            <a:extLst xmlns:a="http://schemas.openxmlformats.org/drawingml/2006/main">
              <a:ext uri="{FF2B5EF4-FFF2-40B4-BE49-F238E27FC236}">
                <a16:creationId xmlns:a16="http://schemas.microsoft.com/office/drawing/2014/main" id="{F8B49F0A-B130-4F49-8508-8DF3CEE63C55}"/>
              </a:ext>
            </a:extLst>
          </p:cNvPr>
          <p:cNvSpPr>
            <a:spLocks xmlns:a="http://schemas.openxmlformats.org/drawingml/2006/main" noGrp="1"/>
          </p:cNvSpPr>
          <p:nvPr/>
        </p:nvSpPr>
        <p:spPr>
          <a:xfrm xmlns:a="http://schemas.openxmlformats.org/drawingml/2006/main">
            <a:off x="8220456"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Distinguishing witness from witnessed begins the inquiry; Upanishadic testimony and reasoning support identity with Brahman. Introspection alone does not yield that second step.</a:t>
            </a:r>
          </a:p>
        </p:txBody>
      </p:sp>
      <p:sp>
        <p:nvSpPr>
          <p:cNvPr id="27" name="Rounded Rectangle 26">
            <a:extLst xmlns:a="http://schemas.openxmlformats.org/drawingml/2006/main">
              <a:ext uri="{FF2B5EF4-FFF2-40B4-BE49-F238E27FC236}">
                <a16:creationId xmlns:a16="http://schemas.microsoft.com/office/drawing/2014/main" id="{3D020CC6-DCB8-4C2A-843D-76AB8E33D053}"/>
              </a:ext>
            </a:extLst>
          </p:cNvPr>
          <p:cNvSpPr>
            <a:spLocks xmlns:a="http://schemas.openxmlformats.org/drawingml/2006/main" noGrp="1"/>
          </p:cNvSpPr>
          <p:nvPr/>
        </p:nvSpPr>
        <p:spPr>
          <a:xfrm xmlns:a="http://schemas.openxmlformats.org/drawingml/2006/main">
            <a:off x="685800" y="5029200"/>
            <a:ext cx="10817352" cy="74980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E5F15B3B-51B4-4D0D-B070-2E1AA7CEE9FC}"/>
              </a:ext>
            </a:extLst>
          </p:cNvPr>
          <p:cNvSpPr>
            <a:spLocks xmlns:a="http://schemas.openxmlformats.org/drawingml/2006/main" noGrp="1"/>
          </p:cNvSpPr>
          <p:nvPr/>
        </p:nvSpPr>
        <p:spPr>
          <a:xfrm xmlns:a="http://schemas.openxmlformats.org/drawingml/2006/main">
            <a:off x="1005840" y="502920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Ultimately no separate material human exists; empirically, embodiment, ethics, learning, and suffering still matter.</a:t>
            </a:r>
          </a:p>
        </p:txBody>
      </p:sp>
      <p:sp>
        <p:nvSpPr>
          <p:cNvPr id="29" name="TextBox 28">
            <a:extLst xmlns:a="http://schemas.openxmlformats.org/drawingml/2006/main">
              <a:ext uri="{FF2B5EF4-FFF2-40B4-BE49-F238E27FC236}">
                <a16:creationId xmlns:a16="http://schemas.microsoft.com/office/drawing/2014/main" id="{BF026387-AC94-40A0-A9A1-C13FD9D6230F}"/>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BU 2.3.6, 2.4.5 · TU 2.1–2.5 · VC v. 120 · Study §3.3</a:t>
            </a:r>
          </a:p>
        </p:txBody>
      </p:sp>
    </p:spTree>
    <p:extLst>
      <p:ext uri="{BB962C8B-B14F-4D97-AF65-F5344CB8AC3E}">
        <p14:creationId xmlns:p14="http://schemas.microsoft.com/office/powerpoint/2010/main" val="17994218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8C3F5B5-C00B-4FB9-930D-F255F75120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9009C407-2D28-4C94-B1CB-3A92CCB8FCF0}"/>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7C54D1A4-8005-4352-BBF2-99142E59916F}"/>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D629E32-F803-4E2E-8DB9-42CEA56EA3DD}"/>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5D8F269-1A09-4854-9D29-B975513D466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THE PROPOSED TEST</a:t>
            </a:r>
          </a:p>
        </p:txBody>
      </p:sp>
      <p:sp>
        <p:nvSpPr>
          <p:cNvPr id="7" name="TextBox 6">
            <a:extLst xmlns:a="http://schemas.openxmlformats.org/drawingml/2006/main">
              <a:ext uri="{FF2B5EF4-FFF2-40B4-BE49-F238E27FC236}">
                <a16:creationId xmlns:a16="http://schemas.microsoft.com/office/drawing/2014/main" id="{4336D788-6BD1-4D9B-8D04-048918077A6D}"/>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How Madhyasth Darshan Asks to Be Tested</a:t>
            </a:r>
          </a:p>
        </p:txBody>
      </p:sp>
      <p:sp>
        <p:nvSpPr>
          <p:cNvPr id="8" name="TextBox 7">
            <a:extLst xmlns:a="http://schemas.openxmlformats.org/drawingml/2006/main">
              <a:ext uri="{FF2B5EF4-FFF2-40B4-BE49-F238E27FC236}">
                <a16:creationId xmlns:a16="http://schemas.microsoft.com/office/drawing/2014/main" id="{9058B0A6-115E-4B3E-B077-2048FD2E3C0D}"/>
              </a:ext>
            </a:extLst>
          </p:cNvPr>
          <p:cNvSpPr>
            <a:spLocks xmlns:a="http://schemas.openxmlformats.org/drawingml/2006/main" noGrp="1"/>
          </p:cNvSpPr>
          <p:nvPr/>
        </p:nvSpPr>
        <p:spPr>
          <a:xfrm xmlns:a="http://schemas.openxmlformats.org/drawingml/2006/main">
            <a:off x="685800" y="1783080"/>
            <a:ext cx="10789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Nagraj reports that samadhi did not disclose the unknown; he locates the decisive discovery in samyama and presents the result for study, practice, and verification.</a:t>
            </a:r>
          </a:p>
        </p:txBody>
      </p:sp>
      <p:sp>
        <p:nvSpPr>
          <p:cNvPr id="9" name="Rounded Rectangle 8">
            <a:extLst xmlns:a="http://schemas.openxmlformats.org/drawingml/2006/main">
              <a:ext uri="{FF2B5EF4-FFF2-40B4-BE49-F238E27FC236}">
                <a16:creationId xmlns:a16="http://schemas.microsoft.com/office/drawing/2014/main" id="{B5F13278-2964-41D3-80D7-B376386D05EB}"/>
              </a:ext>
            </a:extLst>
          </p:cNvPr>
          <p:cNvSpPr>
            <a:spLocks xmlns:a="http://schemas.openxmlformats.org/drawingml/2006/main" noGrp="1"/>
          </p:cNvSpPr>
          <p:nvPr/>
        </p:nvSpPr>
        <p:spPr>
          <a:xfrm xmlns:a="http://schemas.openxmlformats.org/drawingml/2006/main">
            <a:off x="685800" y="2743200"/>
            <a:ext cx="3398520" cy="658368"/>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1ADAE33-1D2C-4F45-AD90-8A0A59559A7E}"/>
              </a:ext>
            </a:extLst>
          </p:cNvPr>
          <p:cNvSpPr>
            <a:spLocks xmlns:a="http://schemas.openxmlformats.org/drawingml/2006/main" noGrp="1"/>
          </p:cNvSpPr>
          <p:nvPr/>
        </p:nvSpPr>
        <p:spPr>
          <a:xfrm xmlns:a="http://schemas.openxmlformats.org/drawingml/2006/main">
            <a:off x="685800"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Study</a:t>
            </a:r>
          </a:p>
        </p:txBody>
      </p:sp>
      <p:sp>
        <p:nvSpPr>
          <p:cNvPr id="11" name="TextBox 10">
            <a:extLst xmlns:a="http://schemas.openxmlformats.org/drawingml/2006/main">
              <a:ext uri="{FF2B5EF4-FFF2-40B4-BE49-F238E27FC236}">
                <a16:creationId xmlns:a16="http://schemas.microsoft.com/office/drawing/2014/main" id="{B0D11407-1DB1-4A16-9101-51463DB0EEE5}"/>
              </a:ext>
            </a:extLst>
          </p:cNvPr>
          <p:cNvSpPr>
            <a:spLocks xmlns:a="http://schemas.openxmlformats.org/drawingml/2006/main" noGrp="1"/>
          </p:cNvSpPr>
          <p:nvPr/>
        </p:nvSpPr>
        <p:spPr>
          <a:xfrm xmlns:a="http://schemas.openxmlformats.org/drawingml/2006/main">
            <a:off x="4093464" y="2889504"/>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2" name="Rounded Rectangle 11">
            <a:extLst xmlns:a="http://schemas.openxmlformats.org/drawingml/2006/main">
              <a:ext uri="{FF2B5EF4-FFF2-40B4-BE49-F238E27FC236}">
                <a16:creationId xmlns:a16="http://schemas.microsoft.com/office/drawing/2014/main" id="{2C1D0A1C-88E4-4CBA-B16D-5E5BF363E892}"/>
              </a:ext>
            </a:extLst>
          </p:cNvPr>
          <p:cNvSpPr>
            <a:spLocks xmlns:a="http://schemas.openxmlformats.org/drawingml/2006/main" noGrp="1"/>
          </p:cNvSpPr>
          <p:nvPr/>
        </p:nvSpPr>
        <p:spPr>
          <a:xfrm xmlns:a="http://schemas.openxmlformats.org/drawingml/2006/main">
            <a:off x="4395216" y="2743200"/>
            <a:ext cx="3398520" cy="658368"/>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FEDFA80-10A0-4F60-9CB8-78203C7943C8}"/>
              </a:ext>
            </a:extLst>
          </p:cNvPr>
          <p:cNvSpPr>
            <a:spLocks xmlns:a="http://schemas.openxmlformats.org/drawingml/2006/main" noGrp="1"/>
          </p:cNvSpPr>
          <p:nvPr/>
        </p:nvSpPr>
        <p:spPr>
          <a:xfrm xmlns:a="http://schemas.openxmlformats.org/drawingml/2006/main">
            <a:off x="4395216"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Understand and live</a:t>
            </a:r>
          </a:p>
        </p:txBody>
      </p:sp>
      <p:sp>
        <p:nvSpPr>
          <p:cNvPr id="14" name="TextBox 13">
            <a:extLst xmlns:a="http://schemas.openxmlformats.org/drawingml/2006/main">
              <a:ext uri="{FF2B5EF4-FFF2-40B4-BE49-F238E27FC236}">
                <a16:creationId xmlns:a16="http://schemas.microsoft.com/office/drawing/2014/main" id="{80BD9621-26F8-4144-A4E2-27C9D660DF57}"/>
              </a:ext>
            </a:extLst>
          </p:cNvPr>
          <p:cNvSpPr>
            <a:spLocks xmlns:a="http://schemas.openxmlformats.org/drawingml/2006/main" noGrp="1"/>
          </p:cNvSpPr>
          <p:nvPr/>
        </p:nvSpPr>
        <p:spPr>
          <a:xfrm xmlns:a="http://schemas.openxmlformats.org/drawingml/2006/main">
            <a:off x="7802880" y="2889504"/>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5" name="Rounded Rectangle 14">
            <a:extLst xmlns:a="http://schemas.openxmlformats.org/drawingml/2006/main">
              <a:ext uri="{FF2B5EF4-FFF2-40B4-BE49-F238E27FC236}">
                <a16:creationId xmlns:a16="http://schemas.microsoft.com/office/drawing/2014/main" id="{1CD5A363-8989-4686-B905-B1E612320432}"/>
              </a:ext>
            </a:extLst>
          </p:cNvPr>
          <p:cNvSpPr>
            <a:spLocks xmlns:a="http://schemas.openxmlformats.org/drawingml/2006/main" noGrp="1"/>
          </p:cNvSpPr>
          <p:nvPr/>
        </p:nvSpPr>
        <p:spPr>
          <a:xfrm xmlns:a="http://schemas.openxmlformats.org/drawingml/2006/main">
            <a:off x="8104632" y="2743200"/>
            <a:ext cx="3398520" cy="658368"/>
          </a:xfrm>
          <a:prstGeom xmlns:a="http://schemas.openxmlformats.org/drawingml/2006/main" prst="roundRect">
            <a:avLst>
              <a:gd name="adj" fmla="val 18000"/>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748EF715-F129-446C-9E89-29E51BDC8137}"/>
              </a:ext>
            </a:extLst>
          </p:cNvPr>
          <p:cNvSpPr>
            <a:spLocks xmlns:a="http://schemas.openxmlformats.org/drawingml/2006/main" noGrp="1"/>
          </p:cNvSpPr>
          <p:nvPr/>
        </p:nvSpPr>
        <p:spPr>
          <a:xfrm xmlns:a="http://schemas.openxmlformats.org/drawingml/2006/main">
            <a:off x="8104632"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Verify in conduct</a:t>
            </a:r>
          </a:p>
        </p:txBody>
      </p:sp>
      <p:sp>
        <p:nvSpPr>
          <p:cNvPr id="17" name="Rounded Rectangle 16">
            <a:extLst xmlns:a="http://schemas.openxmlformats.org/drawingml/2006/main">
              <a:ext uri="{FF2B5EF4-FFF2-40B4-BE49-F238E27FC236}">
                <a16:creationId xmlns:a16="http://schemas.microsoft.com/office/drawing/2014/main" id="{213930F7-1D72-4F6F-8831-7CE63A7DF3D1}"/>
              </a:ext>
            </a:extLst>
          </p:cNvPr>
          <p:cNvSpPr>
            <a:spLocks xmlns:a="http://schemas.openxmlformats.org/drawingml/2006/main" noGrp="1"/>
          </p:cNvSpPr>
          <p:nvPr/>
        </p:nvSpPr>
        <p:spPr>
          <a:xfrm xmlns:a="http://schemas.openxmlformats.org/drawingml/2006/main">
            <a:off x="685800" y="3886200"/>
            <a:ext cx="10817352" cy="1051560"/>
          </a:xfrm>
          <a:prstGeom xmlns:a="http://schemas.openxmlformats.org/drawingml/2006/main" prst="roundRect">
            <a:avLst>
              <a:gd name="adj" fmla="val 9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A1BDEAC0-A3CB-445F-9DF6-EE29F1536B7D}"/>
              </a:ext>
            </a:extLst>
          </p:cNvPr>
          <p:cNvSpPr>
            <a:spLocks xmlns:a="http://schemas.openxmlformats.org/drawingml/2006/main" noGrp="1"/>
          </p:cNvSpPr>
          <p:nvPr/>
        </p:nvSpPr>
        <p:spPr>
          <a:xfrm xmlns:a="http://schemas.openxmlformats.org/drawingml/2006/main">
            <a:off x="1051560" y="4041648"/>
            <a:ext cx="10149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350" b="1" i="0">
                <a:solidFill>
                  <a:srgbClr val="1E2447"/>
                </a:solidFill>
                <a:latin typeface="Calibri"/>
                <a:ea typeface="Calibri"/>
                <a:cs typeface="Calibri"/>
              </a:rPr>
              <a:t>Textual testimony initiates inquiry; understanding and conduct are supposed to yield pramanikta. The aspiration is intersubjective, but controls, failure criteria, and replication remain underspecified.</a:t>
            </a:r>
          </a:p>
        </p:txBody>
      </p:sp>
      <p:sp>
        <p:nvSpPr>
          <p:cNvPr id="19" name="Rounded Rectangle 18">
            <a:extLst xmlns:a="http://schemas.openxmlformats.org/drawingml/2006/main">
              <a:ext uri="{FF2B5EF4-FFF2-40B4-BE49-F238E27FC236}">
                <a16:creationId xmlns:a16="http://schemas.microsoft.com/office/drawing/2014/main" id="{AC3A9FC0-0E37-49B3-BAF4-ADF7D828394C}"/>
              </a:ext>
            </a:extLst>
          </p:cNvPr>
          <p:cNvSpPr>
            <a:spLocks xmlns:a="http://schemas.openxmlformats.org/drawingml/2006/main" noGrp="1"/>
          </p:cNvSpPr>
          <p:nvPr/>
        </p:nvSpPr>
        <p:spPr>
          <a:xfrm xmlns:a="http://schemas.openxmlformats.org/drawingml/2006/main">
            <a:off x="685800" y="5257800"/>
            <a:ext cx="10817352" cy="749808"/>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930358A3-296E-423F-BDB6-C4579E99E0EB}"/>
              </a:ext>
            </a:extLst>
          </p:cNvPr>
          <p:cNvSpPr>
            <a:spLocks xmlns:a="http://schemas.openxmlformats.org/drawingml/2006/main" noGrp="1"/>
          </p:cNvSpPr>
          <p:nvPr/>
        </p:nvSpPr>
        <p:spPr>
          <a:xfrm xmlns:a="http://schemas.openxmlformats.org/drawingml/2006/main">
            <a:off x="1005840" y="525780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Do learners show lasting gains in justice and mutual fulfilment? This tests practical understanding. Atomic constitution and survival require further evidence.</a:t>
            </a:r>
          </a:p>
        </p:txBody>
      </p:sp>
      <p:sp>
        <p:nvSpPr>
          <p:cNvPr id="21" name="TextBox 20">
            <a:extLst xmlns:a="http://schemas.openxmlformats.org/drawingml/2006/main">
              <a:ext uri="{FF2B5EF4-FFF2-40B4-BE49-F238E27FC236}">
                <a16:creationId xmlns:a16="http://schemas.microsoft.com/office/drawing/2014/main" id="{A0CF7642-B9D2-46C6-8612-CE0C0F67F6B4}"/>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§1.4 · §5.1</a:t>
            </a:r>
          </a:p>
        </p:txBody>
      </p:sp>
    </p:spTree>
    <p:extLst>
      <p:ext uri="{BB962C8B-B14F-4D97-AF65-F5344CB8AC3E}">
        <p14:creationId xmlns:p14="http://schemas.microsoft.com/office/powerpoint/2010/main" val="22673458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B80A1AA-656E-4254-8604-92A950235CB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091B6727-55A6-4A17-B9FE-0922FDB4925E}"/>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0031FB7-CBA7-4F76-B002-A463598D6CB6}"/>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44128BFB-8934-4274-96EE-5161BC626F17}"/>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EFA4ABE-7091-4768-862D-6C987AD632EC}"/>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COMPARING THE THREE VIEWS</a:t>
            </a:r>
          </a:p>
        </p:txBody>
      </p:sp>
      <p:sp>
        <p:nvSpPr>
          <p:cNvPr id="7" name="TextBox 6">
            <a:extLst xmlns:a="http://schemas.openxmlformats.org/drawingml/2006/main">
              <a:ext uri="{FF2B5EF4-FFF2-40B4-BE49-F238E27FC236}">
                <a16:creationId xmlns:a16="http://schemas.microsoft.com/office/drawing/2014/main" id="{37B159AE-9EB2-40AA-84B3-20D671D9BC24}"/>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One Question, Three Answers</a:t>
            </a:r>
          </a:p>
        </p:txBody>
      </p:sp>
      <p:sp>
        <p:nvSpPr>
          <p:cNvPr id="8" name="Rectangle 7">
            <a:extLst xmlns:a="http://schemas.openxmlformats.org/drawingml/2006/main">
              <a:ext uri="{FF2B5EF4-FFF2-40B4-BE49-F238E27FC236}">
                <a16:creationId xmlns:a16="http://schemas.microsoft.com/office/drawing/2014/main" id="{6284955F-D589-494D-8B01-DFDF4668A032}"/>
              </a:ext>
            </a:extLst>
          </p:cNvPr>
          <p:cNvSpPr>
            <a:spLocks xmlns:a="http://schemas.openxmlformats.org/drawingml/2006/main" noGrp="1"/>
          </p:cNvSpPr>
          <p:nvPr/>
        </p:nvSpPr>
        <p:spPr>
          <a:xfrm xmlns:a="http://schemas.openxmlformats.org/drawingml/2006/main">
            <a:off x="3017520" y="1783080"/>
            <a:ext cx="2743200"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38F91EC-4B2E-414B-B632-C7FC33377702}"/>
              </a:ext>
            </a:extLst>
          </p:cNvPr>
          <p:cNvSpPr>
            <a:spLocks xmlns:a="http://schemas.openxmlformats.org/drawingml/2006/main" noGrp="1"/>
          </p:cNvSpPr>
          <p:nvPr/>
        </p:nvSpPr>
        <p:spPr>
          <a:xfrm xmlns:a="http://schemas.openxmlformats.org/drawingml/2006/main">
            <a:off x="3108960" y="1783080"/>
            <a:ext cx="25603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SCIENCE / PHYSICALISM</a:t>
            </a:r>
          </a:p>
        </p:txBody>
      </p:sp>
      <p:sp>
        <p:nvSpPr>
          <p:cNvPr id="10" name="Rectangle 9">
            <a:extLst xmlns:a="http://schemas.openxmlformats.org/drawingml/2006/main">
              <a:ext uri="{FF2B5EF4-FFF2-40B4-BE49-F238E27FC236}">
                <a16:creationId xmlns:a16="http://schemas.microsoft.com/office/drawing/2014/main" id="{8FF6223B-F5BA-433F-B86A-C58FBDE021AE}"/>
              </a:ext>
            </a:extLst>
          </p:cNvPr>
          <p:cNvSpPr>
            <a:spLocks xmlns:a="http://schemas.openxmlformats.org/drawingml/2006/main" noGrp="1"/>
          </p:cNvSpPr>
          <p:nvPr/>
        </p:nvSpPr>
        <p:spPr>
          <a:xfrm xmlns:a="http://schemas.openxmlformats.org/drawingml/2006/main">
            <a:off x="5760720" y="1783080"/>
            <a:ext cx="2999232"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89990FE-579F-4177-A92E-C2A2ED750761}"/>
              </a:ext>
            </a:extLst>
          </p:cNvPr>
          <p:cNvSpPr>
            <a:spLocks xmlns:a="http://schemas.openxmlformats.org/drawingml/2006/main" noGrp="1"/>
          </p:cNvSpPr>
          <p:nvPr/>
        </p:nvSpPr>
        <p:spPr>
          <a:xfrm xmlns:a="http://schemas.openxmlformats.org/drawingml/2006/main">
            <a:off x="5852159" y="1783080"/>
            <a:ext cx="2816351"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Madhyasth Darshan</a:t>
            </a:r>
          </a:p>
        </p:txBody>
      </p:sp>
      <p:sp>
        <p:nvSpPr>
          <p:cNvPr id="12" name="Rectangle 11">
            <a:extLst xmlns:a="http://schemas.openxmlformats.org/drawingml/2006/main">
              <a:ext uri="{FF2B5EF4-FFF2-40B4-BE49-F238E27FC236}">
                <a16:creationId xmlns:a16="http://schemas.microsoft.com/office/drawing/2014/main" id="{7DF9CB53-AEA6-455B-9A72-8D51D21E645E}"/>
              </a:ext>
            </a:extLst>
          </p:cNvPr>
          <p:cNvSpPr>
            <a:spLocks xmlns:a="http://schemas.openxmlformats.org/drawingml/2006/main" noGrp="1"/>
          </p:cNvSpPr>
          <p:nvPr/>
        </p:nvSpPr>
        <p:spPr>
          <a:xfrm xmlns:a="http://schemas.openxmlformats.org/drawingml/2006/main">
            <a:off x="8759952" y="1783080"/>
            <a:ext cx="2743200"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E0DC44BE-D38C-4286-BD6D-8230494B639E}"/>
              </a:ext>
            </a:extLst>
          </p:cNvPr>
          <p:cNvSpPr>
            <a:spLocks xmlns:a="http://schemas.openxmlformats.org/drawingml/2006/main" noGrp="1"/>
          </p:cNvSpPr>
          <p:nvPr/>
        </p:nvSpPr>
        <p:spPr>
          <a:xfrm xmlns:a="http://schemas.openxmlformats.org/drawingml/2006/main">
            <a:off x="8851392" y="1783080"/>
            <a:ext cx="25603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Advaita Vedanta</a:t>
            </a:r>
          </a:p>
        </p:txBody>
      </p:sp>
      <p:sp>
        <p:nvSpPr>
          <p:cNvPr id="14" name="Rectangle 13">
            <a:extLst xmlns:a="http://schemas.openxmlformats.org/drawingml/2006/main">
              <a:ext uri="{FF2B5EF4-FFF2-40B4-BE49-F238E27FC236}">
                <a16:creationId xmlns:a16="http://schemas.microsoft.com/office/drawing/2014/main" id="{C923C991-7C47-428A-8F01-DB5C5EF2D16C}"/>
              </a:ext>
            </a:extLst>
          </p:cNvPr>
          <p:cNvSpPr>
            <a:spLocks xmlns:a="http://schemas.openxmlformats.org/drawingml/2006/main" noGrp="1"/>
          </p:cNvSpPr>
          <p:nvPr/>
        </p:nvSpPr>
        <p:spPr>
          <a:xfrm xmlns:a="http://schemas.openxmlformats.org/drawingml/2006/main">
            <a:off x="685800" y="2386584"/>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BAF362B-9CD7-4D57-8975-5B9FF84C5747}"/>
              </a:ext>
            </a:extLst>
          </p:cNvPr>
          <p:cNvSpPr>
            <a:spLocks xmlns:a="http://schemas.openxmlformats.org/drawingml/2006/main" noGrp="1"/>
          </p:cNvSpPr>
          <p:nvPr/>
        </p:nvSpPr>
        <p:spPr>
          <a:xfrm xmlns:a="http://schemas.openxmlformats.org/drawingml/2006/main">
            <a:off x="758952" y="2386584"/>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What is a human?</a:t>
            </a:r>
          </a:p>
        </p:txBody>
      </p:sp>
      <p:sp>
        <p:nvSpPr>
          <p:cNvPr id="16" name="Rectangle 15">
            <a:extLst xmlns:a="http://schemas.openxmlformats.org/drawingml/2006/main">
              <a:ext uri="{FF2B5EF4-FFF2-40B4-BE49-F238E27FC236}">
                <a16:creationId xmlns:a16="http://schemas.microsoft.com/office/drawing/2014/main" id="{8BC548C2-A914-4383-B9D0-7C024AB37B59}"/>
              </a:ext>
            </a:extLst>
          </p:cNvPr>
          <p:cNvSpPr>
            <a:spLocks xmlns:a="http://schemas.openxmlformats.org/drawingml/2006/main" noGrp="1"/>
          </p:cNvSpPr>
          <p:nvPr/>
        </p:nvSpPr>
        <p:spPr>
          <a:xfrm xmlns:a="http://schemas.openxmlformats.org/drawingml/2006/main">
            <a:off x="3017520" y="2386584"/>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FE7267CA-084E-47C2-8509-28D5946168AE}"/>
              </a:ext>
            </a:extLst>
          </p:cNvPr>
          <p:cNvSpPr>
            <a:spLocks xmlns:a="http://schemas.openxmlformats.org/drawingml/2006/main" noGrp="1"/>
          </p:cNvSpPr>
          <p:nvPr/>
        </p:nvSpPr>
        <p:spPr>
          <a:xfrm xmlns:a="http://schemas.openxmlformats.org/drawingml/2006/main">
            <a:off x="3108960" y="238658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Embodied organism; physicalism says wholly physical</a:t>
            </a:r>
          </a:p>
        </p:txBody>
      </p:sp>
      <p:sp>
        <p:nvSpPr>
          <p:cNvPr id="18" name="Rectangle 17">
            <a:extLst xmlns:a="http://schemas.openxmlformats.org/drawingml/2006/main">
              <a:ext uri="{FF2B5EF4-FFF2-40B4-BE49-F238E27FC236}">
                <a16:creationId xmlns:a16="http://schemas.microsoft.com/office/drawing/2014/main" id="{1801E4C2-2794-43D6-B10C-69906436BE66}"/>
              </a:ext>
            </a:extLst>
          </p:cNvPr>
          <p:cNvSpPr>
            <a:spLocks xmlns:a="http://schemas.openxmlformats.org/drawingml/2006/main" noGrp="1"/>
          </p:cNvSpPr>
          <p:nvPr/>
        </p:nvSpPr>
        <p:spPr>
          <a:xfrm xmlns:a="http://schemas.openxmlformats.org/drawingml/2006/main">
            <a:off x="5760720" y="2386584"/>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B773860-E21C-4540-ACD2-A88F336F922B}"/>
              </a:ext>
            </a:extLst>
          </p:cNvPr>
          <p:cNvSpPr>
            <a:spLocks xmlns:a="http://schemas.openxmlformats.org/drawingml/2006/main" noGrp="1"/>
          </p:cNvSpPr>
          <p:nvPr/>
        </p:nvSpPr>
        <p:spPr>
          <a:xfrm xmlns:a="http://schemas.openxmlformats.org/drawingml/2006/main">
            <a:off x="5852159" y="2386584"/>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Body + one jeevan in joint form</a:t>
            </a:r>
          </a:p>
        </p:txBody>
      </p:sp>
      <p:sp>
        <p:nvSpPr>
          <p:cNvPr id="20" name="Rectangle 19">
            <a:extLst xmlns:a="http://schemas.openxmlformats.org/drawingml/2006/main">
              <a:ext uri="{FF2B5EF4-FFF2-40B4-BE49-F238E27FC236}">
                <a16:creationId xmlns:a16="http://schemas.microsoft.com/office/drawing/2014/main" id="{D872F4E5-48B3-4267-B11C-4F4352C78706}"/>
              </a:ext>
            </a:extLst>
          </p:cNvPr>
          <p:cNvSpPr>
            <a:spLocks xmlns:a="http://schemas.openxmlformats.org/drawingml/2006/main" noGrp="1"/>
          </p:cNvSpPr>
          <p:nvPr/>
        </p:nvSpPr>
        <p:spPr>
          <a:xfrm xmlns:a="http://schemas.openxmlformats.org/drawingml/2006/main">
            <a:off x="8759952" y="2386584"/>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41EEF863-916F-4496-A166-869A272D1DEA}"/>
              </a:ext>
            </a:extLst>
          </p:cNvPr>
          <p:cNvSpPr>
            <a:spLocks xmlns:a="http://schemas.openxmlformats.org/drawingml/2006/main" noGrp="1"/>
          </p:cNvSpPr>
          <p:nvPr/>
        </p:nvSpPr>
        <p:spPr>
          <a:xfrm xmlns:a="http://schemas.openxmlformats.org/drawingml/2006/main">
            <a:off x="8851392" y="238658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Empirical body–mind; true Self = Brahman</a:t>
            </a:r>
          </a:p>
        </p:txBody>
      </p:sp>
      <p:sp>
        <p:nvSpPr>
          <p:cNvPr id="22" name="Rectangle 21">
            <a:extLst xmlns:a="http://schemas.openxmlformats.org/drawingml/2006/main">
              <a:ext uri="{FF2B5EF4-FFF2-40B4-BE49-F238E27FC236}">
                <a16:creationId xmlns:a16="http://schemas.microsoft.com/office/drawing/2014/main" id="{3B1F531E-3EF1-41F8-927E-7D68A9FDEAAA}"/>
              </a:ext>
            </a:extLst>
          </p:cNvPr>
          <p:cNvSpPr>
            <a:spLocks xmlns:a="http://schemas.openxmlformats.org/drawingml/2006/main" noGrp="1"/>
          </p:cNvSpPr>
          <p:nvPr/>
        </p:nvSpPr>
        <p:spPr>
          <a:xfrm xmlns:a="http://schemas.openxmlformats.org/drawingml/2006/main">
            <a:off x="685800" y="2990088"/>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29D53492-AA99-47A0-80FB-1EB7D8426239}"/>
              </a:ext>
            </a:extLst>
          </p:cNvPr>
          <p:cNvSpPr>
            <a:spLocks xmlns:a="http://schemas.openxmlformats.org/drawingml/2006/main" noGrp="1"/>
          </p:cNvSpPr>
          <p:nvPr/>
        </p:nvSpPr>
        <p:spPr>
          <a:xfrm xmlns:a="http://schemas.openxmlformats.org/drawingml/2006/main">
            <a:off x="758952" y="2990088"/>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Is the world real?</a:t>
            </a:r>
          </a:p>
        </p:txBody>
      </p:sp>
      <p:sp>
        <p:nvSpPr>
          <p:cNvPr id="24" name="Rectangle 23">
            <a:extLst xmlns:a="http://schemas.openxmlformats.org/drawingml/2006/main">
              <a:ext uri="{FF2B5EF4-FFF2-40B4-BE49-F238E27FC236}">
                <a16:creationId xmlns:a16="http://schemas.microsoft.com/office/drawing/2014/main" id="{9CD20F5A-5692-4ABF-B723-6534D17F3E32}"/>
              </a:ext>
            </a:extLst>
          </p:cNvPr>
          <p:cNvSpPr>
            <a:spLocks xmlns:a="http://schemas.openxmlformats.org/drawingml/2006/main" noGrp="1"/>
          </p:cNvSpPr>
          <p:nvPr/>
        </p:nvSpPr>
        <p:spPr>
          <a:xfrm xmlns:a="http://schemas.openxmlformats.org/drawingml/2006/main">
            <a:off x="3017520" y="2990088"/>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500286C-B9B2-48F7-907C-9E15172B5E42}"/>
              </a:ext>
            </a:extLst>
          </p:cNvPr>
          <p:cNvSpPr>
            <a:spLocks xmlns:a="http://schemas.openxmlformats.org/drawingml/2006/main" noGrp="1"/>
          </p:cNvSpPr>
          <p:nvPr/>
        </p:nvSpPr>
        <p:spPr>
          <a:xfrm xmlns:a="http://schemas.openxmlformats.org/drawingml/2006/main">
            <a:off x="3108960" y="2990088"/>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Physical world is ontologically basic</a:t>
            </a:r>
          </a:p>
        </p:txBody>
      </p:sp>
      <p:sp>
        <p:nvSpPr>
          <p:cNvPr id="26" name="Rectangle 25">
            <a:extLst xmlns:a="http://schemas.openxmlformats.org/drawingml/2006/main">
              <a:ext uri="{FF2B5EF4-FFF2-40B4-BE49-F238E27FC236}">
                <a16:creationId xmlns:a16="http://schemas.microsoft.com/office/drawing/2014/main" id="{BE7EFF59-47A4-402C-97E2-4B2F91BC5DF7}"/>
              </a:ext>
            </a:extLst>
          </p:cNvPr>
          <p:cNvSpPr>
            <a:spLocks xmlns:a="http://schemas.openxmlformats.org/drawingml/2006/main" noGrp="1"/>
          </p:cNvSpPr>
          <p:nvPr/>
        </p:nvSpPr>
        <p:spPr>
          <a:xfrm xmlns:a="http://schemas.openxmlformats.org/drawingml/2006/main">
            <a:off x="5760720" y="2990088"/>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ABECDFB6-C26D-4503-943E-761AA743C398}"/>
              </a:ext>
            </a:extLst>
          </p:cNvPr>
          <p:cNvSpPr>
            <a:spLocks xmlns:a="http://schemas.openxmlformats.org/drawingml/2006/main" noGrp="1"/>
          </p:cNvSpPr>
          <p:nvPr/>
        </p:nvSpPr>
        <p:spPr>
          <a:xfrm xmlns:a="http://schemas.openxmlformats.org/drawingml/2006/main">
            <a:off x="5852159" y="2990088"/>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Real units in coexistence</a:t>
            </a:r>
          </a:p>
        </p:txBody>
      </p:sp>
      <p:sp>
        <p:nvSpPr>
          <p:cNvPr id="28" name="Rectangle 27">
            <a:extLst xmlns:a="http://schemas.openxmlformats.org/drawingml/2006/main">
              <a:ext uri="{FF2B5EF4-FFF2-40B4-BE49-F238E27FC236}">
                <a16:creationId xmlns:a16="http://schemas.microsoft.com/office/drawing/2014/main" id="{0FA4BB7A-4F62-42D9-9E2E-CE70ED700DFB}"/>
              </a:ext>
            </a:extLst>
          </p:cNvPr>
          <p:cNvSpPr>
            <a:spLocks xmlns:a="http://schemas.openxmlformats.org/drawingml/2006/main" noGrp="1"/>
          </p:cNvSpPr>
          <p:nvPr/>
        </p:nvSpPr>
        <p:spPr>
          <a:xfrm xmlns:a="http://schemas.openxmlformats.org/drawingml/2006/main">
            <a:off x="8759952" y="2990088"/>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F1A11FC8-EA3F-4A81-878B-5AB916E4C5CF}"/>
              </a:ext>
            </a:extLst>
          </p:cNvPr>
          <p:cNvSpPr>
            <a:spLocks xmlns:a="http://schemas.openxmlformats.org/drawingml/2006/main" noGrp="1"/>
          </p:cNvSpPr>
          <p:nvPr/>
        </p:nvSpPr>
        <p:spPr>
          <a:xfrm xmlns:a="http://schemas.openxmlformats.org/drawingml/2006/main">
            <a:off x="8851392" y="2990088"/>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Mithya: dependently real, not absolute</a:t>
            </a:r>
          </a:p>
        </p:txBody>
      </p:sp>
      <p:sp>
        <p:nvSpPr>
          <p:cNvPr id="30" name="Rectangle 29">
            <a:extLst xmlns:a="http://schemas.openxmlformats.org/drawingml/2006/main">
              <a:ext uri="{FF2B5EF4-FFF2-40B4-BE49-F238E27FC236}">
                <a16:creationId xmlns:a16="http://schemas.microsoft.com/office/drawing/2014/main" id="{70A64EAA-601A-41BD-BF70-A8575BD273DE}"/>
              </a:ext>
            </a:extLst>
          </p:cNvPr>
          <p:cNvSpPr>
            <a:spLocks xmlns:a="http://schemas.openxmlformats.org/drawingml/2006/main" noGrp="1"/>
          </p:cNvSpPr>
          <p:nvPr/>
        </p:nvSpPr>
        <p:spPr>
          <a:xfrm xmlns:a="http://schemas.openxmlformats.org/drawingml/2006/main">
            <a:off x="685800" y="3593592"/>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98298793-362E-499B-9E4E-36E668423811}"/>
              </a:ext>
            </a:extLst>
          </p:cNvPr>
          <p:cNvSpPr>
            <a:spLocks xmlns:a="http://schemas.openxmlformats.org/drawingml/2006/main" noGrp="1"/>
          </p:cNvSpPr>
          <p:nvPr/>
        </p:nvSpPr>
        <p:spPr>
          <a:xfrm xmlns:a="http://schemas.openxmlformats.org/drawingml/2006/main">
            <a:off x="758952" y="3593592"/>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Consciousness?</a:t>
            </a:r>
          </a:p>
        </p:txBody>
      </p:sp>
      <p:sp>
        <p:nvSpPr>
          <p:cNvPr id="32" name="Rectangle 31">
            <a:extLst xmlns:a="http://schemas.openxmlformats.org/drawingml/2006/main">
              <a:ext uri="{FF2B5EF4-FFF2-40B4-BE49-F238E27FC236}">
                <a16:creationId xmlns:a16="http://schemas.microsoft.com/office/drawing/2014/main" id="{FFA96FBC-CE4A-45AE-B638-E1D8B746D379}"/>
              </a:ext>
            </a:extLst>
          </p:cNvPr>
          <p:cNvSpPr>
            <a:spLocks xmlns:a="http://schemas.openxmlformats.org/drawingml/2006/main" noGrp="1"/>
          </p:cNvSpPr>
          <p:nvPr/>
        </p:nvSpPr>
        <p:spPr>
          <a:xfrm xmlns:a="http://schemas.openxmlformats.org/drawingml/2006/main">
            <a:off x="3017520" y="3593592"/>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EBABB7DA-CF4D-4443-84D5-DD922DFE74E0}"/>
              </a:ext>
            </a:extLst>
          </p:cNvPr>
          <p:cNvSpPr>
            <a:spLocks xmlns:a="http://schemas.openxmlformats.org/drawingml/2006/main" noGrp="1"/>
          </p:cNvSpPr>
          <p:nvPr/>
        </p:nvSpPr>
        <p:spPr>
          <a:xfrm xmlns:a="http://schemas.openxmlformats.org/drawingml/2006/main">
            <a:off x="3108960" y="3593592"/>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Brain-dependent; realised by organisation</a:t>
            </a:r>
          </a:p>
        </p:txBody>
      </p:sp>
      <p:sp>
        <p:nvSpPr>
          <p:cNvPr id="34" name="Rectangle 33">
            <a:extLst xmlns:a="http://schemas.openxmlformats.org/drawingml/2006/main">
              <a:ext uri="{FF2B5EF4-FFF2-40B4-BE49-F238E27FC236}">
                <a16:creationId xmlns:a16="http://schemas.microsoft.com/office/drawing/2014/main" id="{780FE089-D602-4D07-B008-9BF7812815D2}"/>
              </a:ext>
            </a:extLst>
          </p:cNvPr>
          <p:cNvSpPr>
            <a:spLocks xmlns:a="http://schemas.openxmlformats.org/drawingml/2006/main" noGrp="1"/>
          </p:cNvSpPr>
          <p:nvPr/>
        </p:nvSpPr>
        <p:spPr>
          <a:xfrm xmlns:a="http://schemas.openxmlformats.org/drawingml/2006/main">
            <a:off x="5760720" y="3593592"/>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89F0EFF2-A90A-477B-8A61-5E4B736E6393}"/>
              </a:ext>
            </a:extLst>
          </p:cNvPr>
          <p:cNvSpPr>
            <a:spLocks xmlns:a="http://schemas.openxmlformats.org/drawingml/2006/main" noGrp="1"/>
          </p:cNvSpPr>
          <p:nvPr/>
        </p:nvSpPr>
        <p:spPr>
          <a:xfrm xmlns:a="http://schemas.openxmlformats.org/drawingml/2006/main">
            <a:off x="5852159" y="3593592"/>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Irreducible power of jeevan</a:t>
            </a:r>
          </a:p>
        </p:txBody>
      </p:sp>
      <p:sp>
        <p:nvSpPr>
          <p:cNvPr id="36" name="Rectangle 35">
            <a:extLst xmlns:a="http://schemas.openxmlformats.org/drawingml/2006/main">
              <a:ext uri="{FF2B5EF4-FFF2-40B4-BE49-F238E27FC236}">
                <a16:creationId xmlns:a16="http://schemas.microsoft.com/office/drawing/2014/main" id="{C0742CCF-1B46-418D-8F0F-F203E6B09143}"/>
              </a:ext>
            </a:extLst>
          </p:cNvPr>
          <p:cNvSpPr>
            <a:spLocks xmlns:a="http://schemas.openxmlformats.org/drawingml/2006/main" noGrp="1"/>
          </p:cNvSpPr>
          <p:nvPr/>
        </p:nvSpPr>
        <p:spPr>
          <a:xfrm xmlns:a="http://schemas.openxmlformats.org/drawingml/2006/main">
            <a:off x="8759952" y="3593592"/>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909FA8EE-E321-4648-A547-7BF621885785}"/>
              </a:ext>
            </a:extLst>
          </p:cNvPr>
          <p:cNvSpPr>
            <a:spLocks xmlns:a="http://schemas.openxmlformats.org/drawingml/2006/main" noGrp="1"/>
          </p:cNvSpPr>
          <p:nvPr/>
        </p:nvSpPr>
        <p:spPr>
          <a:xfrm xmlns:a="http://schemas.openxmlformats.org/drawingml/2006/main">
            <a:off x="8851392" y="3593592"/>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Awareness is fundamental; mind reflects it</a:t>
            </a:r>
          </a:p>
        </p:txBody>
      </p:sp>
      <p:sp>
        <p:nvSpPr>
          <p:cNvPr id="38" name="Rectangle 37">
            <a:extLst xmlns:a="http://schemas.openxmlformats.org/drawingml/2006/main">
              <a:ext uri="{FF2B5EF4-FFF2-40B4-BE49-F238E27FC236}">
                <a16:creationId xmlns:a16="http://schemas.microsoft.com/office/drawing/2014/main" id="{53261083-B6B1-43E4-A00A-4A1F87845BA3}"/>
              </a:ext>
            </a:extLst>
          </p:cNvPr>
          <p:cNvSpPr>
            <a:spLocks xmlns:a="http://schemas.openxmlformats.org/drawingml/2006/main" noGrp="1"/>
          </p:cNvSpPr>
          <p:nvPr/>
        </p:nvSpPr>
        <p:spPr>
          <a:xfrm xmlns:a="http://schemas.openxmlformats.org/drawingml/2006/main">
            <a:off x="685800" y="4197096"/>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TextBox 38">
            <a:extLst xmlns:a="http://schemas.openxmlformats.org/drawingml/2006/main">
              <a:ext uri="{FF2B5EF4-FFF2-40B4-BE49-F238E27FC236}">
                <a16:creationId xmlns:a16="http://schemas.microsoft.com/office/drawing/2014/main" id="{ABDF5839-9AA0-4BE5-A2CE-1D2C9ADA9A5E}"/>
              </a:ext>
            </a:extLst>
          </p:cNvPr>
          <p:cNvSpPr>
            <a:spLocks xmlns:a="http://schemas.openxmlformats.org/drawingml/2006/main" noGrp="1"/>
          </p:cNvSpPr>
          <p:nvPr/>
        </p:nvSpPr>
        <p:spPr>
          <a:xfrm xmlns:a="http://schemas.openxmlformats.org/drawingml/2006/main">
            <a:off x="758952" y="4197096"/>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How many selves?</a:t>
            </a:r>
          </a:p>
        </p:txBody>
      </p:sp>
      <p:sp>
        <p:nvSpPr>
          <p:cNvPr id="40" name="Rectangle 39">
            <a:extLst xmlns:a="http://schemas.openxmlformats.org/drawingml/2006/main">
              <a:ext uri="{FF2B5EF4-FFF2-40B4-BE49-F238E27FC236}">
                <a16:creationId xmlns:a16="http://schemas.microsoft.com/office/drawing/2014/main" id="{666310D5-E079-42EE-9C85-9B089037201C}"/>
              </a:ext>
            </a:extLst>
          </p:cNvPr>
          <p:cNvSpPr>
            <a:spLocks xmlns:a="http://schemas.openxmlformats.org/drawingml/2006/main" noGrp="1"/>
          </p:cNvSpPr>
          <p:nvPr/>
        </p:nvSpPr>
        <p:spPr>
          <a:xfrm xmlns:a="http://schemas.openxmlformats.org/drawingml/2006/main">
            <a:off x="3017520" y="4197096"/>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TextBox 40">
            <a:extLst xmlns:a="http://schemas.openxmlformats.org/drawingml/2006/main">
              <a:ext uri="{FF2B5EF4-FFF2-40B4-BE49-F238E27FC236}">
                <a16:creationId xmlns:a16="http://schemas.microsoft.com/office/drawing/2014/main" id="{26EB0CC2-BF93-4B16-9ADA-F2E86F0EE807}"/>
              </a:ext>
            </a:extLst>
          </p:cNvPr>
          <p:cNvSpPr>
            <a:spLocks xmlns:a="http://schemas.openxmlformats.org/drawingml/2006/main" noGrp="1"/>
          </p:cNvSpPr>
          <p:nvPr/>
        </p:nvSpPr>
        <p:spPr>
          <a:xfrm xmlns:a="http://schemas.openxmlformats.org/drawingml/2006/main">
            <a:off x="3108960" y="4197096"/>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Many organisms and persons</a:t>
            </a:r>
          </a:p>
        </p:txBody>
      </p:sp>
      <p:sp>
        <p:nvSpPr>
          <p:cNvPr id="42" name="Rectangle 41">
            <a:extLst xmlns:a="http://schemas.openxmlformats.org/drawingml/2006/main">
              <a:ext uri="{FF2B5EF4-FFF2-40B4-BE49-F238E27FC236}">
                <a16:creationId xmlns:a16="http://schemas.microsoft.com/office/drawing/2014/main" id="{D8F9AED8-3144-4735-AF1D-CF3C31DFB5EB}"/>
              </a:ext>
            </a:extLst>
          </p:cNvPr>
          <p:cNvSpPr>
            <a:spLocks xmlns:a="http://schemas.openxmlformats.org/drawingml/2006/main" noGrp="1"/>
          </p:cNvSpPr>
          <p:nvPr/>
        </p:nvSpPr>
        <p:spPr>
          <a:xfrm xmlns:a="http://schemas.openxmlformats.org/drawingml/2006/main">
            <a:off x="5760720" y="4197096"/>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TextBox 42">
            <a:extLst xmlns:a="http://schemas.openxmlformats.org/drawingml/2006/main">
              <a:ext uri="{FF2B5EF4-FFF2-40B4-BE49-F238E27FC236}">
                <a16:creationId xmlns:a16="http://schemas.microsoft.com/office/drawing/2014/main" id="{FA9936E9-557E-4E06-B7F1-8AA7E26F0D2B}"/>
              </a:ext>
            </a:extLst>
          </p:cNvPr>
          <p:cNvSpPr>
            <a:spLocks xmlns:a="http://schemas.openxmlformats.org/drawingml/2006/main" noGrp="1"/>
          </p:cNvSpPr>
          <p:nvPr/>
        </p:nvSpPr>
        <p:spPr>
          <a:xfrm xmlns:a="http://schemas.openxmlformats.org/drawingml/2006/main">
            <a:off x="5852159" y="4197096"/>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Many enduring jeevans</a:t>
            </a:r>
          </a:p>
        </p:txBody>
      </p:sp>
      <p:sp>
        <p:nvSpPr>
          <p:cNvPr id="44" name="Rectangle 43">
            <a:extLst xmlns:a="http://schemas.openxmlformats.org/drawingml/2006/main">
              <a:ext uri="{FF2B5EF4-FFF2-40B4-BE49-F238E27FC236}">
                <a16:creationId xmlns:a16="http://schemas.microsoft.com/office/drawing/2014/main" id="{3324DA91-1325-46C9-8E43-53F9004EE96D}"/>
              </a:ext>
            </a:extLst>
          </p:cNvPr>
          <p:cNvSpPr>
            <a:spLocks xmlns:a="http://schemas.openxmlformats.org/drawingml/2006/main" noGrp="1"/>
          </p:cNvSpPr>
          <p:nvPr/>
        </p:nvSpPr>
        <p:spPr>
          <a:xfrm xmlns:a="http://schemas.openxmlformats.org/drawingml/2006/main">
            <a:off x="8759952" y="4197096"/>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CB063A68-E6F5-448A-A0CE-79306FDE1286}"/>
              </a:ext>
            </a:extLst>
          </p:cNvPr>
          <p:cNvSpPr>
            <a:spLocks xmlns:a="http://schemas.openxmlformats.org/drawingml/2006/main" noGrp="1"/>
          </p:cNvSpPr>
          <p:nvPr/>
        </p:nvSpPr>
        <p:spPr>
          <a:xfrm xmlns:a="http://schemas.openxmlformats.org/drawingml/2006/main">
            <a:off x="8851392" y="4197096"/>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One Self ultimately</a:t>
            </a:r>
          </a:p>
        </p:txBody>
      </p:sp>
      <p:sp>
        <p:nvSpPr>
          <p:cNvPr id="46" name="Rectangle 45">
            <a:extLst xmlns:a="http://schemas.openxmlformats.org/drawingml/2006/main">
              <a:ext uri="{FF2B5EF4-FFF2-40B4-BE49-F238E27FC236}">
                <a16:creationId xmlns:a16="http://schemas.microsoft.com/office/drawing/2014/main" id="{691F6B9D-6F77-49FD-8ADB-AA58597E1690}"/>
              </a:ext>
            </a:extLst>
          </p:cNvPr>
          <p:cNvSpPr>
            <a:spLocks xmlns:a="http://schemas.openxmlformats.org/drawingml/2006/main" noGrp="1"/>
          </p:cNvSpPr>
          <p:nvPr/>
        </p:nvSpPr>
        <p:spPr>
          <a:xfrm xmlns:a="http://schemas.openxmlformats.org/drawingml/2006/main">
            <a:off x="685800" y="4800600"/>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TextBox 46">
            <a:extLst xmlns:a="http://schemas.openxmlformats.org/drawingml/2006/main">
              <a:ext uri="{FF2B5EF4-FFF2-40B4-BE49-F238E27FC236}">
                <a16:creationId xmlns:a16="http://schemas.microsoft.com/office/drawing/2014/main" id="{C9C8F6DA-0607-4E3E-B959-E98E0084CB84}"/>
              </a:ext>
            </a:extLst>
          </p:cNvPr>
          <p:cNvSpPr>
            <a:spLocks xmlns:a="http://schemas.openxmlformats.org/drawingml/2006/main" noGrp="1"/>
          </p:cNvSpPr>
          <p:nvPr/>
        </p:nvSpPr>
        <p:spPr>
          <a:xfrm xmlns:a="http://schemas.openxmlformats.org/drawingml/2006/main">
            <a:off x="758952" y="4800600"/>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Survives death?</a:t>
            </a:r>
          </a:p>
        </p:txBody>
      </p:sp>
      <p:sp>
        <p:nvSpPr>
          <p:cNvPr id="48" name="Rectangle 47">
            <a:extLst xmlns:a="http://schemas.openxmlformats.org/drawingml/2006/main">
              <a:ext uri="{FF2B5EF4-FFF2-40B4-BE49-F238E27FC236}">
                <a16:creationId xmlns:a16="http://schemas.microsoft.com/office/drawing/2014/main" id="{E662AA0D-EB9E-43B7-8631-B0FF39F03ECA}"/>
              </a:ext>
            </a:extLst>
          </p:cNvPr>
          <p:cNvSpPr>
            <a:spLocks xmlns:a="http://schemas.openxmlformats.org/drawingml/2006/main" noGrp="1"/>
          </p:cNvSpPr>
          <p:nvPr/>
        </p:nvSpPr>
        <p:spPr>
          <a:xfrm xmlns:a="http://schemas.openxmlformats.org/drawingml/2006/main">
            <a:off x="3017520" y="4800600"/>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TextBox 48">
            <a:extLst xmlns:a="http://schemas.openxmlformats.org/drawingml/2006/main">
              <a:ext uri="{FF2B5EF4-FFF2-40B4-BE49-F238E27FC236}">
                <a16:creationId xmlns:a16="http://schemas.microsoft.com/office/drawing/2014/main" id="{17133593-5B55-4129-A0BB-AA6D8EB3F920}"/>
              </a:ext>
            </a:extLst>
          </p:cNvPr>
          <p:cNvSpPr>
            <a:spLocks xmlns:a="http://schemas.openxmlformats.org/drawingml/2006/main" noGrp="1"/>
          </p:cNvSpPr>
          <p:nvPr/>
        </p:nvSpPr>
        <p:spPr>
          <a:xfrm xmlns:a="http://schemas.openxmlformats.org/drawingml/2006/main">
            <a:off x="3108960" y="4800600"/>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Person ends; physical components continue</a:t>
            </a:r>
          </a:p>
        </p:txBody>
      </p:sp>
      <p:sp>
        <p:nvSpPr>
          <p:cNvPr id="50" name="Rectangle 49">
            <a:extLst xmlns:a="http://schemas.openxmlformats.org/drawingml/2006/main">
              <a:ext uri="{FF2B5EF4-FFF2-40B4-BE49-F238E27FC236}">
                <a16:creationId xmlns:a16="http://schemas.microsoft.com/office/drawing/2014/main" id="{119EA03B-4040-4007-82AD-4C3AB54BB2AD}"/>
              </a:ext>
            </a:extLst>
          </p:cNvPr>
          <p:cNvSpPr>
            <a:spLocks xmlns:a="http://schemas.openxmlformats.org/drawingml/2006/main" noGrp="1"/>
          </p:cNvSpPr>
          <p:nvPr/>
        </p:nvSpPr>
        <p:spPr>
          <a:xfrm xmlns:a="http://schemas.openxmlformats.org/drawingml/2006/main">
            <a:off x="5760720" y="4800600"/>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TextBox 50">
            <a:extLst xmlns:a="http://schemas.openxmlformats.org/drawingml/2006/main">
              <a:ext uri="{FF2B5EF4-FFF2-40B4-BE49-F238E27FC236}">
                <a16:creationId xmlns:a16="http://schemas.microsoft.com/office/drawing/2014/main" id="{8C9A60EA-B904-4116-9EC8-010423442E2F}"/>
              </a:ext>
            </a:extLst>
          </p:cNvPr>
          <p:cNvSpPr>
            <a:spLocks xmlns:a="http://schemas.openxmlformats.org/drawingml/2006/main" noGrp="1"/>
          </p:cNvSpPr>
          <p:nvPr/>
        </p:nvSpPr>
        <p:spPr>
          <a:xfrm xmlns:a="http://schemas.openxmlformats.org/drawingml/2006/main">
            <a:off x="5852159" y="4800600"/>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Body decomposes; jeevan continues</a:t>
            </a:r>
          </a:p>
        </p:txBody>
      </p:sp>
      <p:sp>
        <p:nvSpPr>
          <p:cNvPr id="52" name="Rectangle 51">
            <a:extLst xmlns:a="http://schemas.openxmlformats.org/drawingml/2006/main">
              <a:ext uri="{FF2B5EF4-FFF2-40B4-BE49-F238E27FC236}">
                <a16:creationId xmlns:a16="http://schemas.microsoft.com/office/drawing/2014/main" id="{4307F8FB-24B4-41F2-9181-89DA9EB1972F}"/>
              </a:ext>
            </a:extLst>
          </p:cNvPr>
          <p:cNvSpPr>
            <a:spLocks xmlns:a="http://schemas.openxmlformats.org/drawingml/2006/main" noGrp="1"/>
          </p:cNvSpPr>
          <p:nvPr/>
        </p:nvSpPr>
        <p:spPr>
          <a:xfrm xmlns:a="http://schemas.openxmlformats.org/drawingml/2006/main">
            <a:off x="8759952" y="4800600"/>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TextBox 52">
            <a:extLst xmlns:a="http://schemas.openxmlformats.org/drawingml/2006/main">
              <a:ext uri="{FF2B5EF4-FFF2-40B4-BE49-F238E27FC236}">
                <a16:creationId xmlns:a16="http://schemas.microsoft.com/office/drawing/2014/main" id="{7AE7EB8E-1303-4B68-AC1E-30255D77BFB8}"/>
              </a:ext>
            </a:extLst>
          </p:cNvPr>
          <p:cNvSpPr>
            <a:spLocks xmlns:a="http://schemas.openxmlformats.org/drawingml/2006/main" noGrp="1"/>
          </p:cNvSpPr>
          <p:nvPr/>
        </p:nvSpPr>
        <p:spPr>
          <a:xfrm xmlns:a="http://schemas.openxmlformats.org/drawingml/2006/main">
            <a:off x="8851392" y="4800600"/>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No birth or death for the Self</a:t>
            </a:r>
          </a:p>
        </p:txBody>
      </p:sp>
      <p:sp>
        <p:nvSpPr>
          <p:cNvPr id="54" name="Rectangle 53">
            <a:extLst xmlns:a="http://schemas.openxmlformats.org/drawingml/2006/main">
              <a:ext uri="{FF2B5EF4-FFF2-40B4-BE49-F238E27FC236}">
                <a16:creationId xmlns:a16="http://schemas.microsoft.com/office/drawing/2014/main" id="{FADD4747-1365-42E5-A2F2-1EFD7E111974}"/>
              </a:ext>
            </a:extLst>
          </p:cNvPr>
          <p:cNvSpPr>
            <a:spLocks xmlns:a="http://schemas.openxmlformats.org/drawingml/2006/main" noGrp="1"/>
          </p:cNvSpPr>
          <p:nvPr/>
        </p:nvSpPr>
        <p:spPr>
          <a:xfrm xmlns:a="http://schemas.openxmlformats.org/drawingml/2006/main">
            <a:off x="685800" y="5404104"/>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TextBox 54">
            <a:extLst xmlns:a="http://schemas.openxmlformats.org/drawingml/2006/main">
              <a:ext uri="{FF2B5EF4-FFF2-40B4-BE49-F238E27FC236}">
                <a16:creationId xmlns:a16="http://schemas.microsoft.com/office/drawing/2014/main" id="{8053340E-2E31-4A96-8950-8C8BF28E3951}"/>
              </a:ext>
            </a:extLst>
          </p:cNvPr>
          <p:cNvSpPr>
            <a:spLocks xmlns:a="http://schemas.openxmlformats.org/drawingml/2006/main" noGrp="1"/>
          </p:cNvSpPr>
          <p:nvPr/>
        </p:nvSpPr>
        <p:spPr>
          <a:xfrm xmlns:a="http://schemas.openxmlformats.org/drawingml/2006/main">
            <a:off x="758952" y="5404104"/>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Method</a:t>
            </a:r>
          </a:p>
        </p:txBody>
      </p:sp>
      <p:sp>
        <p:nvSpPr>
          <p:cNvPr id="56" name="Rectangle 55">
            <a:extLst xmlns:a="http://schemas.openxmlformats.org/drawingml/2006/main">
              <a:ext uri="{FF2B5EF4-FFF2-40B4-BE49-F238E27FC236}">
                <a16:creationId xmlns:a16="http://schemas.microsoft.com/office/drawing/2014/main" id="{50DB796E-2F58-40DF-A66F-AC3B807E1D86}"/>
              </a:ext>
            </a:extLst>
          </p:cNvPr>
          <p:cNvSpPr>
            <a:spLocks xmlns:a="http://schemas.openxmlformats.org/drawingml/2006/main" noGrp="1"/>
          </p:cNvSpPr>
          <p:nvPr/>
        </p:nvSpPr>
        <p:spPr>
          <a:xfrm xmlns:a="http://schemas.openxmlformats.org/drawingml/2006/main">
            <a:off x="3017520" y="5404104"/>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TextBox 56">
            <a:extLst xmlns:a="http://schemas.openxmlformats.org/drawingml/2006/main">
              <a:ext uri="{FF2B5EF4-FFF2-40B4-BE49-F238E27FC236}">
                <a16:creationId xmlns:a16="http://schemas.microsoft.com/office/drawing/2014/main" id="{52C5C5A1-5960-4123-B91E-6761AFFBF8BF}"/>
              </a:ext>
            </a:extLst>
          </p:cNvPr>
          <p:cNvSpPr>
            <a:spLocks xmlns:a="http://schemas.openxmlformats.org/drawingml/2006/main" noGrp="1"/>
          </p:cNvSpPr>
          <p:nvPr/>
        </p:nvSpPr>
        <p:spPr>
          <a:xfrm xmlns:a="http://schemas.openxmlformats.org/drawingml/2006/main">
            <a:off x="3108960" y="540410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Measurement, modelling, prediction</a:t>
            </a:r>
          </a:p>
        </p:txBody>
      </p:sp>
      <p:sp>
        <p:nvSpPr>
          <p:cNvPr id="58" name="Rectangle 57">
            <a:extLst xmlns:a="http://schemas.openxmlformats.org/drawingml/2006/main">
              <a:ext uri="{FF2B5EF4-FFF2-40B4-BE49-F238E27FC236}">
                <a16:creationId xmlns:a16="http://schemas.microsoft.com/office/drawing/2014/main" id="{79AC4BE3-D362-4D4D-97F4-AD048121EAD0}"/>
              </a:ext>
            </a:extLst>
          </p:cNvPr>
          <p:cNvSpPr>
            <a:spLocks xmlns:a="http://schemas.openxmlformats.org/drawingml/2006/main" noGrp="1"/>
          </p:cNvSpPr>
          <p:nvPr/>
        </p:nvSpPr>
        <p:spPr>
          <a:xfrm xmlns:a="http://schemas.openxmlformats.org/drawingml/2006/main">
            <a:off x="5760720" y="5404104"/>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TextBox 58">
            <a:extLst xmlns:a="http://schemas.openxmlformats.org/drawingml/2006/main">
              <a:ext uri="{FF2B5EF4-FFF2-40B4-BE49-F238E27FC236}">
                <a16:creationId xmlns:a16="http://schemas.microsoft.com/office/drawing/2014/main" id="{2CCA1C70-B898-4553-A8C0-AB7D61BF9E96}"/>
              </a:ext>
            </a:extLst>
          </p:cNvPr>
          <p:cNvSpPr>
            <a:spLocks xmlns:a="http://schemas.openxmlformats.org/drawingml/2006/main" noGrp="1"/>
          </p:cNvSpPr>
          <p:nvPr/>
        </p:nvSpPr>
        <p:spPr>
          <a:xfrm xmlns:a="http://schemas.openxmlformats.org/drawingml/2006/main">
            <a:off x="5852159" y="5404104"/>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Text, understanding, lived conduct</a:t>
            </a:r>
          </a:p>
        </p:txBody>
      </p:sp>
      <p:sp>
        <p:nvSpPr>
          <p:cNvPr id="60" name="Rectangle 59">
            <a:extLst xmlns:a="http://schemas.openxmlformats.org/drawingml/2006/main">
              <a:ext uri="{FF2B5EF4-FFF2-40B4-BE49-F238E27FC236}">
                <a16:creationId xmlns:a16="http://schemas.microsoft.com/office/drawing/2014/main" id="{87333047-F5A4-448F-B690-873AF896FD4D}"/>
              </a:ext>
            </a:extLst>
          </p:cNvPr>
          <p:cNvSpPr>
            <a:spLocks xmlns:a="http://schemas.openxmlformats.org/drawingml/2006/main" noGrp="1"/>
          </p:cNvSpPr>
          <p:nvPr/>
        </p:nvSpPr>
        <p:spPr>
          <a:xfrm xmlns:a="http://schemas.openxmlformats.org/drawingml/2006/main">
            <a:off x="8759952" y="5404104"/>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1" name="TextBox 60">
            <a:extLst xmlns:a="http://schemas.openxmlformats.org/drawingml/2006/main">
              <a:ext uri="{FF2B5EF4-FFF2-40B4-BE49-F238E27FC236}">
                <a16:creationId xmlns:a16="http://schemas.microsoft.com/office/drawing/2014/main" id="{D9F90755-4587-4F77-AFF9-494384CA7547}"/>
              </a:ext>
            </a:extLst>
          </p:cNvPr>
          <p:cNvSpPr>
            <a:spLocks xmlns:a="http://schemas.openxmlformats.org/drawingml/2006/main" noGrp="1"/>
          </p:cNvSpPr>
          <p:nvPr/>
        </p:nvSpPr>
        <p:spPr>
          <a:xfrm xmlns:a="http://schemas.openxmlformats.org/drawingml/2006/main">
            <a:off x="8851392" y="540410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Scripture, reason, meditation</a:t>
            </a:r>
          </a:p>
        </p:txBody>
      </p:sp>
      <p:sp>
        <p:nvSpPr>
          <p:cNvPr id="62" name="TextBox 61">
            <a:extLst xmlns:a="http://schemas.openxmlformats.org/drawingml/2006/main">
              <a:ext uri="{FF2B5EF4-FFF2-40B4-BE49-F238E27FC236}">
                <a16:creationId xmlns:a16="http://schemas.microsoft.com/office/drawing/2014/main" id="{28824DED-F9FA-45F0-9DB3-5880F67B6293}"/>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Science supplies evidence; physicalism is one ontological interpretation of it.</a:t>
            </a:r>
          </a:p>
        </p:txBody>
      </p:sp>
    </p:spTree>
    <p:extLst>
      <p:ext uri="{BB962C8B-B14F-4D97-AF65-F5344CB8AC3E}">
        <p14:creationId xmlns:p14="http://schemas.microsoft.com/office/powerpoint/2010/main" val="166865473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C3EF7AD-6468-40EF-B1CF-ED95CFE257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781DB63D-DA82-41A1-8A05-9E0E6196894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E2FCFB3-C896-4ED9-837B-7135DB84F93C}"/>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1EA8037A-9FA2-4FCC-BE91-30AC26A80ED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C2D5770-8B6C-4519-AF62-6A1264B0013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COMPARING THE THREE VIEWS</a:t>
            </a:r>
          </a:p>
        </p:txBody>
      </p:sp>
      <p:sp>
        <p:nvSpPr>
          <p:cNvPr id="7" name="TextBox 6">
            <a:extLst xmlns:a="http://schemas.openxmlformats.org/drawingml/2006/main">
              <a:ext uri="{FF2B5EF4-FFF2-40B4-BE49-F238E27FC236}">
                <a16:creationId xmlns:a16="http://schemas.microsoft.com/office/drawing/2014/main" id="{333E902B-E185-4813-906A-42F41EF7DBE9}"/>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Three Contrasts That Cannot Be Blended Away</a:t>
            </a:r>
          </a:p>
        </p:txBody>
      </p:sp>
      <p:sp>
        <p:nvSpPr>
          <p:cNvPr id="8" name="Rounded Rectangle 7">
            <a:extLst xmlns:a="http://schemas.openxmlformats.org/drawingml/2006/main">
              <a:ext uri="{FF2B5EF4-FFF2-40B4-BE49-F238E27FC236}">
                <a16:creationId xmlns:a16="http://schemas.microsoft.com/office/drawing/2014/main" id="{B8EAF0F6-E0E8-49C8-986F-6D901E4238B7}"/>
              </a:ext>
            </a:extLst>
          </p:cNvPr>
          <p:cNvSpPr>
            <a:spLocks xmlns:a="http://schemas.openxmlformats.org/drawingml/2006/main" noGrp="1"/>
          </p:cNvSpPr>
          <p:nvPr/>
        </p:nvSpPr>
        <p:spPr>
          <a:xfrm xmlns:a="http://schemas.openxmlformats.org/drawingml/2006/main">
            <a:off x="685800" y="1783080"/>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D61024F3-7325-4710-9DE0-EF17FD28B7AA}"/>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C2BC8250-00EF-4CD8-9663-4C094F8E7844}"/>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7F561E9-92F1-4E85-A511-C3F48B1E2855}"/>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B71C72A-6455-4CE1-ADA7-99D06B8CA826}"/>
              </a:ext>
            </a:extLst>
          </p:cNvPr>
          <p:cNvSpPr>
            <a:spLocks xmlns:a="http://schemas.openxmlformats.org/drawingml/2006/main" noGrp="1"/>
          </p:cNvSpPr>
          <p:nvPr/>
        </p:nvSpPr>
        <p:spPr>
          <a:xfrm xmlns:a="http://schemas.openxmlformats.org/drawingml/2006/main">
            <a:off x="1444752" y="1984248"/>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Real plurality or nonduality</a:t>
            </a:r>
          </a:p>
        </p:txBody>
      </p:sp>
      <p:sp>
        <p:nvSpPr>
          <p:cNvPr id="13" name="TextBox 12">
            <a:extLst xmlns:a="http://schemas.openxmlformats.org/drawingml/2006/main">
              <a:ext uri="{FF2B5EF4-FFF2-40B4-BE49-F238E27FC236}">
                <a16:creationId xmlns:a16="http://schemas.microsoft.com/office/drawing/2014/main" id="{C11D6DE8-2906-4564-A7ED-429F8D3A2636}"/>
              </a:ext>
            </a:extLst>
          </p:cNvPr>
          <p:cNvSpPr>
            <a:spLocks xmlns:a="http://schemas.openxmlformats.org/drawingml/2006/main" noGrp="1"/>
          </p:cNvSpPr>
          <p:nvPr/>
        </p:nvSpPr>
        <p:spPr>
          <a:xfrm xmlns:a="http://schemas.openxmlformats.org/drawingml/2006/main">
            <a:off x="941832" y="2496312"/>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affirms many real units; madhyasth names a mediative or regulative role. Advaita accepts plurality empirically, not ultimately.</a:t>
            </a:r>
          </a:p>
        </p:txBody>
      </p:sp>
      <p:sp>
        <p:nvSpPr>
          <p:cNvPr id="14" name="Rounded Rectangle 13">
            <a:extLst xmlns:a="http://schemas.openxmlformats.org/drawingml/2006/main">
              <a:ext uri="{FF2B5EF4-FFF2-40B4-BE49-F238E27FC236}">
                <a16:creationId xmlns:a16="http://schemas.microsoft.com/office/drawing/2014/main" id="{D8D9D684-A310-4314-981A-B35DFE02B872}"/>
              </a:ext>
            </a:extLst>
          </p:cNvPr>
          <p:cNvSpPr>
            <a:spLocks xmlns:a="http://schemas.openxmlformats.org/drawingml/2006/main" noGrp="1"/>
          </p:cNvSpPr>
          <p:nvPr/>
        </p:nvSpPr>
        <p:spPr>
          <a:xfrm xmlns:a="http://schemas.openxmlformats.org/drawingml/2006/main">
            <a:off x="685800" y="2852928"/>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4D380737-C577-4429-9404-A5838EF76A0C}"/>
              </a:ext>
            </a:extLst>
          </p:cNvPr>
          <p:cNvSpPr>
            <a:spLocks xmlns:a="http://schemas.openxmlformats.org/drawingml/2006/main" noGrp="1"/>
          </p:cNvSpPr>
          <p:nvPr/>
        </p:nvSpPr>
        <p:spPr>
          <a:xfrm xmlns:a="http://schemas.openxmlformats.org/drawingml/2006/main">
            <a:off x="898855" y="3047695"/>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13932845-B0DE-4445-B6D4-2E89DB02E939}"/>
              </a:ext>
            </a:extLst>
          </p:cNvPr>
          <p:cNvSpPr>
            <a:spLocks xmlns:a="http://schemas.openxmlformats.org/drawingml/2006/main" noGrp="1"/>
          </p:cNvSpPr>
          <p:nvPr/>
        </p:nvSpPr>
        <p:spPr>
          <a:xfrm xmlns:a="http://schemas.openxmlformats.org/drawingml/2006/main">
            <a:off x="977036" y="3125876"/>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A014EFCD-53F1-4E39-9A9F-C440EEBC9E0C}"/>
              </a:ext>
            </a:extLst>
          </p:cNvPr>
          <p:cNvSpPr>
            <a:spLocks xmlns:a="http://schemas.openxmlformats.org/drawingml/2006/main" noGrp="1"/>
          </p:cNvSpPr>
          <p:nvPr/>
        </p:nvSpPr>
        <p:spPr>
          <a:xfrm xmlns:a="http://schemas.openxmlformats.org/drawingml/2006/main">
            <a:off x="1038758" y="3187598"/>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BC0C6A59-FD95-44AA-B45C-0B51910A83AB}"/>
              </a:ext>
            </a:extLst>
          </p:cNvPr>
          <p:cNvSpPr>
            <a:spLocks xmlns:a="http://schemas.openxmlformats.org/drawingml/2006/main" noGrp="1"/>
          </p:cNvSpPr>
          <p:nvPr/>
        </p:nvSpPr>
        <p:spPr>
          <a:xfrm xmlns:a="http://schemas.openxmlformats.org/drawingml/2006/main">
            <a:off x="1444752" y="3054096"/>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Individual self or one Self</a:t>
            </a:r>
          </a:p>
        </p:txBody>
      </p:sp>
      <p:sp>
        <p:nvSpPr>
          <p:cNvPr id="19" name="TextBox 18">
            <a:extLst xmlns:a="http://schemas.openxmlformats.org/drawingml/2006/main">
              <a:ext uri="{FF2B5EF4-FFF2-40B4-BE49-F238E27FC236}">
                <a16:creationId xmlns:a16="http://schemas.microsoft.com/office/drawing/2014/main" id="{88701A1B-D4FB-4C4B-B457-6F915E747407}"/>
              </a:ext>
            </a:extLst>
          </p:cNvPr>
          <p:cNvSpPr>
            <a:spLocks xmlns:a="http://schemas.openxmlformats.org/drawingml/2006/main" noGrp="1"/>
          </p:cNvSpPr>
          <p:nvPr/>
        </p:nvSpPr>
        <p:spPr>
          <a:xfrm xmlns:a="http://schemas.openxmlformats.org/drawingml/2006/main">
            <a:off x="941832" y="3566160"/>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keeps many jeevans and individual responsibility. Advaita treats individuality as superimposed on nondual awareness.</a:t>
            </a:r>
          </a:p>
        </p:txBody>
      </p:sp>
      <p:sp>
        <p:nvSpPr>
          <p:cNvPr id="20" name="Rounded Rectangle 19">
            <a:extLst xmlns:a="http://schemas.openxmlformats.org/drawingml/2006/main">
              <a:ext uri="{FF2B5EF4-FFF2-40B4-BE49-F238E27FC236}">
                <a16:creationId xmlns:a16="http://schemas.microsoft.com/office/drawing/2014/main" id="{9EF3EA82-6DEB-4D8D-A956-7622C0716083}"/>
              </a:ext>
            </a:extLst>
          </p:cNvPr>
          <p:cNvSpPr>
            <a:spLocks xmlns:a="http://schemas.openxmlformats.org/drawingml/2006/main" noGrp="1"/>
          </p:cNvSpPr>
          <p:nvPr/>
        </p:nvSpPr>
        <p:spPr>
          <a:xfrm xmlns:a="http://schemas.openxmlformats.org/drawingml/2006/main">
            <a:off x="685800" y="3922776"/>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194EC426-C3A4-417F-819C-7D759CD7BD25}"/>
              </a:ext>
            </a:extLst>
          </p:cNvPr>
          <p:cNvSpPr>
            <a:spLocks xmlns:a="http://schemas.openxmlformats.org/drawingml/2006/main" noGrp="1"/>
          </p:cNvSpPr>
          <p:nvPr/>
        </p:nvSpPr>
        <p:spPr>
          <a:xfrm xmlns:a="http://schemas.openxmlformats.org/drawingml/2006/main">
            <a:off x="898855" y="4117543"/>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3E07CE1A-D7D8-4099-A9E5-F3FD16C1354C}"/>
              </a:ext>
            </a:extLst>
          </p:cNvPr>
          <p:cNvSpPr>
            <a:spLocks xmlns:a="http://schemas.openxmlformats.org/drawingml/2006/main" noGrp="1"/>
          </p:cNvSpPr>
          <p:nvPr/>
        </p:nvSpPr>
        <p:spPr>
          <a:xfrm xmlns:a="http://schemas.openxmlformats.org/drawingml/2006/main">
            <a:off x="977036" y="4195724"/>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BE474F36-C66A-421E-A554-3D49DB981F30}"/>
              </a:ext>
            </a:extLst>
          </p:cNvPr>
          <p:cNvSpPr>
            <a:spLocks xmlns:a="http://schemas.openxmlformats.org/drawingml/2006/main" noGrp="1"/>
          </p:cNvSpPr>
          <p:nvPr/>
        </p:nvSpPr>
        <p:spPr>
          <a:xfrm xmlns:a="http://schemas.openxmlformats.org/drawingml/2006/main">
            <a:off x="1038758" y="4257446"/>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FC0BFB78-88AC-4BE1-9BED-D2C1DAB81D55}"/>
              </a:ext>
            </a:extLst>
          </p:cNvPr>
          <p:cNvSpPr>
            <a:spLocks xmlns:a="http://schemas.openxmlformats.org/drawingml/2006/main" noGrp="1"/>
          </p:cNvSpPr>
          <p:nvPr/>
        </p:nvSpPr>
        <p:spPr>
          <a:xfrm xmlns:a="http://schemas.openxmlformats.org/drawingml/2006/main">
            <a:off x="1444752" y="4123944"/>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How consciousness relates to matter</a:t>
            </a:r>
          </a:p>
        </p:txBody>
      </p:sp>
      <p:sp>
        <p:nvSpPr>
          <p:cNvPr id="25" name="TextBox 24">
            <a:extLst xmlns:a="http://schemas.openxmlformats.org/drawingml/2006/main">
              <a:ext uri="{FF2B5EF4-FFF2-40B4-BE49-F238E27FC236}">
                <a16:creationId xmlns:a16="http://schemas.microsoft.com/office/drawing/2014/main" id="{662B23E8-0858-4E63-9C0F-CF488F5DD878}"/>
              </a:ext>
            </a:extLst>
          </p:cNvPr>
          <p:cNvSpPr>
            <a:spLocks xmlns:a="http://schemas.openxmlformats.org/drawingml/2006/main" noGrp="1"/>
          </p:cNvSpPr>
          <p:nvPr/>
        </p:nvSpPr>
        <p:spPr>
          <a:xfrm xmlns:a="http://schemas.openxmlformats.org/drawingml/2006/main">
            <a:off x="941832" y="4636008"/>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Physicalism: organised brain. MD: body + jeevan. Advaita: awareness is prior and matter is dependent.</a:t>
            </a:r>
          </a:p>
        </p:txBody>
      </p:sp>
      <p:sp>
        <p:nvSpPr>
          <p:cNvPr id="26" name="Rounded Rectangle 25">
            <a:extLst xmlns:a="http://schemas.openxmlformats.org/drawingml/2006/main">
              <a:ext uri="{FF2B5EF4-FFF2-40B4-BE49-F238E27FC236}">
                <a16:creationId xmlns:a16="http://schemas.microsoft.com/office/drawing/2014/main" id="{73BA93CF-EE8F-4F0A-A230-BCC3D71BE73A}"/>
              </a:ext>
            </a:extLst>
          </p:cNvPr>
          <p:cNvSpPr>
            <a:spLocks xmlns:a="http://schemas.openxmlformats.org/drawingml/2006/main" noGrp="1"/>
          </p:cNvSpPr>
          <p:nvPr/>
        </p:nvSpPr>
        <p:spPr>
          <a:xfrm xmlns:a="http://schemas.openxmlformats.org/drawingml/2006/main">
            <a:off x="685800" y="5029200"/>
            <a:ext cx="10817352" cy="1051560"/>
          </a:xfrm>
          <a:prstGeom xmlns:a="http://schemas.openxmlformats.org/drawingml/2006/main" prst="roundRect">
            <a:avLst>
              <a:gd name="adj" fmla="val 9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5197B2CE-B867-48B4-96F2-AD8380CC08D2}"/>
              </a:ext>
            </a:extLst>
          </p:cNvPr>
          <p:cNvSpPr>
            <a:spLocks xmlns:a="http://schemas.openxmlformats.org/drawingml/2006/main" noGrp="1"/>
          </p:cNvSpPr>
          <p:nvPr/>
        </p:nvSpPr>
        <p:spPr>
          <a:xfrm xmlns:a="http://schemas.openxmlformats.org/drawingml/2006/main">
            <a:off x="1051560" y="5138928"/>
            <a:ext cx="1014984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300" b="1" i="0">
                <a:solidFill>
                  <a:srgbClr val="C9821E"/>
                </a:solidFill>
                <a:latin typeface="Calibri"/>
                <a:ea typeface="Calibri"/>
                <a:cs typeface="Calibri"/>
              </a:rPr>
              <a:t>MD shares a real-world commitment with physicalism and resistance to reducing awareness with Advaita. These overlaps do not themselves support its distinctive claims.</a:t>
            </a:r>
          </a:p>
        </p:txBody>
      </p:sp>
      <p:sp>
        <p:nvSpPr>
          <p:cNvPr id="28" name="TextBox 27">
            <a:extLst xmlns:a="http://schemas.openxmlformats.org/drawingml/2006/main">
              <a:ext uri="{FF2B5EF4-FFF2-40B4-BE49-F238E27FC236}">
                <a16:creationId xmlns:a16="http://schemas.microsoft.com/office/drawing/2014/main" id="{2C167ED0-F93C-4D43-A7E6-19578A11B55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The views overlap at points; their ultimate commitments remain incompatible.</a:t>
            </a:r>
          </a:p>
        </p:txBody>
      </p:sp>
    </p:spTree>
    <p:extLst>
      <p:ext uri="{BB962C8B-B14F-4D97-AF65-F5344CB8AC3E}">
        <p14:creationId xmlns:p14="http://schemas.microsoft.com/office/powerpoint/2010/main" val="8112181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B497409-68FB-4C5D-A7CD-C318650B83A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2546BC6D-2397-4BCA-A7D0-BE48CEB51C65}"/>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C47331F2-997A-43A7-9E47-3A8042E16D9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34646965-BD87-46FF-9BA0-7071D16A9850}"/>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D136BAC-EEFB-4DAE-B865-432DDB6956EE}"/>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CRITICAL REVIEW</a:t>
            </a:r>
          </a:p>
        </p:txBody>
      </p:sp>
      <p:sp>
        <p:nvSpPr>
          <p:cNvPr id="7" name="TextBox 6">
            <a:extLst xmlns:a="http://schemas.openxmlformats.org/drawingml/2006/main">
              <a:ext uri="{FF2B5EF4-FFF2-40B4-BE49-F238E27FC236}">
                <a16:creationId xmlns:a16="http://schemas.microsoft.com/office/drawing/2014/main" id="{A9FB6E27-681D-44EE-8E1A-9E08C2672D4D}"/>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Strengths and Unresolved Claims</a:t>
            </a:r>
          </a:p>
        </p:txBody>
      </p:sp>
      <p:sp>
        <p:nvSpPr>
          <p:cNvPr id="8" name="Rounded Rectangle 7">
            <a:extLst xmlns:a="http://schemas.openxmlformats.org/drawingml/2006/main">
              <a:ext uri="{FF2B5EF4-FFF2-40B4-BE49-F238E27FC236}">
                <a16:creationId xmlns:a16="http://schemas.microsoft.com/office/drawing/2014/main" id="{73BCFF33-0D2C-46EE-876E-C322919943BC}"/>
              </a:ext>
            </a:extLst>
          </p:cNvPr>
          <p:cNvSpPr>
            <a:spLocks xmlns:a="http://schemas.openxmlformats.org/drawingml/2006/main" noGrp="1"/>
          </p:cNvSpPr>
          <p:nvPr/>
        </p:nvSpPr>
        <p:spPr>
          <a:xfrm xmlns:a="http://schemas.openxmlformats.org/drawingml/2006/main">
            <a:off x="685800" y="1828800"/>
            <a:ext cx="3547872" cy="3977639"/>
          </a:xfrm>
          <a:prstGeom xmlns:a="http://schemas.openxmlformats.org/drawingml/2006/main" prst="roundRect">
            <a:avLst>
              <a:gd name="adj" fmla="val 5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C65B9B4-FF6A-440A-BAEF-21B0C160CFD5}"/>
              </a:ext>
            </a:extLst>
          </p:cNvPr>
          <p:cNvSpPr>
            <a:spLocks xmlns:a="http://schemas.openxmlformats.org/drawingml/2006/main" noGrp="1"/>
          </p:cNvSpPr>
          <p:nvPr/>
        </p:nvSpPr>
        <p:spPr>
          <a:xfrm xmlns:a="http://schemas.openxmlformats.org/drawingml/2006/main">
            <a:off x="905256"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9A6414"/>
                </a:solidFill>
                <a:latin typeface="Cambria"/>
                <a:ea typeface="Cambria"/>
                <a:cs typeface="Cambria"/>
              </a:rPr>
              <a:t>Madhyasth Darshan</a:t>
            </a:r>
          </a:p>
        </p:txBody>
      </p:sp>
      <p:sp>
        <p:nvSpPr>
          <p:cNvPr id="10" name="TextBox 9">
            <a:extLst xmlns:a="http://schemas.openxmlformats.org/drawingml/2006/main">
              <a:ext uri="{FF2B5EF4-FFF2-40B4-BE49-F238E27FC236}">
                <a16:creationId xmlns:a16="http://schemas.microsoft.com/office/drawing/2014/main" id="{330DE4FE-6DB9-4878-9252-009B5F793ECB}"/>
              </a:ext>
            </a:extLst>
          </p:cNvPr>
          <p:cNvSpPr>
            <a:spLocks xmlns:a="http://schemas.openxmlformats.org/drawingml/2006/main" noGrp="1"/>
          </p:cNvSpPr>
          <p:nvPr/>
        </p:nvSpPr>
        <p:spPr>
          <a:xfrm xmlns:a="http://schemas.openxmlformats.org/drawingml/2006/main">
            <a:off x="905256"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9A6414"/>
                </a:solidFill>
                <a:latin typeface="Calibri"/>
                <a:ea typeface="Calibri"/>
                <a:cs typeface="Calibri"/>
              </a:rPr>
              <a:t>Integrates self, value, conduct, and nature in one system; offers a public-facing ideal of verification.</a:t>
            </a:r>
          </a:p>
        </p:txBody>
      </p:sp>
      <p:sp>
        <p:nvSpPr>
          <p:cNvPr id="11" name="TextBox 10">
            <a:extLst xmlns:a="http://schemas.openxmlformats.org/drawingml/2006/main">
              <a:ext uri="{FF2B5EF4-FFF2-40B4-BE49-F238E27FC236}">
                <a16:creationId xmlns:a16="http://schemas.microsoft.com/office/drawing/2014/main" id="{D4A0F09C-559E-443C-A89F-A78E19C15EEE}"/>
              </a:ext>
            </a:extLst>
          </p:cNvPr>
          <p:cNvSpPr>
            <a:spLocks xmlns:a="http://schemas.openxmlformats.org/drawingml/2006/main" noGrp="1"/>
          </p:cNvSpPr>
          <p:nvPr/>
        </p:nvSpPr>
        <p:spPr>
          <a:xfrm xmlns:a="http://schemas.openxmlformats.org/drawingml/2006/main">
            <a:off x="905256"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Atomic completion, post-death continuity, and body–jeevan coordination lack independent evidence that distinguishes the proposal from rivals.</a:t>
            </a:r>
          </a:p>
        </p:txBody>
      </p:sp>
      <p:sp>
        <p:nvSpPr>
          <p:cNvPr id="12" name="Rounded Rectangle 11">
            <a:extLst xmlns:a="http://schemas.openxmlformats.org/drawingml/2006/main">
              <a:ext uri="{FF2B5EF4-FFF2-40B4-BE49-F238E27FC236}">
                <a16:creationId xmlns:a16="http://schemas.microsoft.com/office/drawing/2014/main" id="{16489B64-6767-437F-BE25-64CEF6F0B5DE}"/>
              </a:ext>
            </a:extLst>
          </p:cNvPr>
          <p:cNvSpPr>
            <a:spLocks xmlns:a="http://schemas.openxmlformats.org/drawingml/2006/main" noGrp="1"/>
          </p:cNvSpPr>
          <p:nvPr/>
        </p:nvSpPr>
        <p:spPr>
          <a:xfrm xmlns:a="http://schemas.openxmlformats.org/drawingml/2006/main">
            <a:off x="4325112" y="1828800"/>
            <a:ext cx="3547872" cy="3977639"/>
          </a:xfrm>
          <a:prstGeom xmlns:a="http://schemas.openxmlformats.org/drawingml/2006/main" prst="roundRect">
            <a:avLst>
              <a:gd name="adj" fmla="val 5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61AF59A2-C0EF-41D6-8CCD-5A035E4B3270}"/>
              </a:ext>
            </a:extLst>
          </p:cNvPr>
          <p:cNvSpPr>
            <a:spLocks xmlns:a="http://schemas.openxmlformats.org/drawingml/2006/main" noGrp="1"/>
          </p:cNvSpPr>
          <p:nvPr/>
        </p:nvSpPr>
        <p:spPr>
          <a:xfrm xmlns:a="http://schemas.openxmlformats.org/drawingml/2006/main">
            <a:off x="4544568"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1E2447"/>
                </a:solidFill>
                <a:latin typeface="Cambria"/>
                <a:ea typeface="Cambria"/>
                <a:cs typeface="Cambria"/>
              </a:rPr>
              <a:t>Science and physicalism</a:t>
            </a:r>
          </a:p>
        </p:txBody>
      </p:sp>
      <p:sp>
        <p:nvSpPr>
          <p:cNvPr id="14" name="TextBox 13">
            <a:extLst xmlns:a="http://schemas.openxmlformats.org/drawingml/2006/main">
              <a:ext uri="{FF2B5EF4-FFF2-40B4-BE49-F238E27FC236}">
                <a16:creationId xmlns:a16="http://schemas.microsoft.com/office/drawing/2014/main" id="{785EDD1C-59A4-4814-B6B8-ACA32D828DDB}"/>
              </a:ext>
            </a:extLst>
          </p:cNvPr>
          <p:cNvSpPr>
            <a:spLocks xmlns:a="http://schemas.openxmlformats.org/drawingml/2006/main" noGrp="1"/>
          </p:cNvSpPr>
          <p:nvPr/>
        </p:nvSpPr>
        <p:spPr>
          <a:xfrm xmlns:a="http://schemas.openxmlformats.org/drawingml/2006/main">
            <a:off x="4544568"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1E2447"/>
                </a:solidFill>
                <a:latin typeface="Calibri"/>
                <a:ea typeface="Calibri"/>
                <a:cs typeface="Calibri"/>
              </a:rPr>
              <a:t>Best-supported account of brain–mind dependence; precise, cumulative public methods.</a:t>
            </a:r>
          </a:p>
        </p:txBody>
      </p:sp>
      <p:sp>
        <p:nvSpPr>
          <p:cNvPr id="15" name="TextBox 14">
            <a:extLst xmlns:a="http://schemas.openxmlformats.org/drawingml/2006/main">
              <a:ext uri="{FF2B5EF4-FFF2-40B4-BE49-F238E27FC236}">
                <a16:creationId xmlns:a16="http://schemas.microsoft.com/office/drawing/2014/main" id="{7A8A7F1A-A804-46B1-9CF5-8F7ACF4193BE}"/>
              </a:ext>
            </a:extLst>
          </p:cNvPr>
          <p:cNvSpPr>
            <a:spLocks xmlns:a="http://schemas.openxmlformats.org/drawingml/2006/main" noGrp="1"/>
          </p:cNvSpPr>
          <p:nvPr/>
        </p:nvSpPr>
        <p:spPr>
          <a:xfrm xmlns:a="http://schemas.openxmlformats.org/drawingml/2006/main">
            <a:off x="4544568"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Whether neural explanation exhausts experience remains disputed. Physicalism need not reduce every psychological or social explanation to physics.</a:t>
            </a:r>
          </a:p>
        </p:txBody>
      </p:sp>
      <p:sp>
        <p:nvSpPr>
          <p:cNvPr id="16" name="Rounded Rectangle 15">
            <a:extLst xmlns:a="http://schemas.openxmlformats.org/drawingml/2006/main">
              <a:ext uri="{FF2B5EF4-FFF2-40B4-BE49-F238E27FC236}">
                <a16:creationId xmlns:a16="http://schemas.microsoft.com/office/drawing/2014/main" id="{E0DCB99D-10C8-44C7-8E49-96A2F20DCE03}"/>
              </a:ext>
            </a:extLst>
          </p:cNvPr>
          <p:cNvSpPr>
            <a:spLocks xmlns:a="http://schemas.openxmlformats.org/drawingml/2006/main" noGrp="1"/>
          </p:cNvSpPr>
          <p:nvPr/>
        </p:nvSpPr>
        <p:spPr>
          <a:xfrm xmlns:a="http://schemas.openxmlformats.org/drawingml/2006/main">
            <a:off x="7964424" y="1828800"/>
            <a:ext cx="3547872" cy="3977639"/>
          </a:xfrm>
          <a:prstGeom xmlns:a="http://schemas.openxmlformats.org/drawingml/2006/main" prst="roundRect">
            <a:avLst>
              <a:gd name="adj" fmla="val 5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3380E8B1-4440-4556-AE99-8B359CF9BE02}"/>
              </a:ext>
            </a:extLst>
          </p:cNvPr>
          <p:cNvSpPr>
            <a:spLocks xmlns:a="http://schemas.openxmlformats.org/drawingml/2006/main" noGrp="1"/>
          </p:cNvSpPr>
          <p:nvPr/>
        </p:nvSpPr>
        <p:spPr>
          <a:xfrm xmlns:a="http://schemas.openxmlformats.org/drawingml/2006/main">
            <a:off x="8183880"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1E2447"/>
                </a:solidFill>
                <a:latin typeface="Cambria"/>
                <a:ea typeface="Cambria"/>
                <a:cs typeface="Cambria"/>
              </a:rPr>
              <a:t>Advaita Vedanta</a:t>
            </a:r>
          </a:p>
        </p:txBody>
      </p:sp>
      <p:sp>
        <p:nvSpPr>
          <p:cNvPr id="18" name="TextBox 17">
            <a:extLst xmlns:a="http://schemas.openxmlformats.org/drawingml/2006/main">
              <a:ext uri="{FF2B5EF4-FFF2-40B4-BE49-F238E27FC236}">
                <a16:creationId xmlns:a16="http://schemas.microsoft.com/office/drawing/2014/main" id="{303CA3E0-94AC-4654-BCD7-58523C6C0200}"/>
              </a:ext>
            </a:extLst>
          </p:cNvPr>
          <p:cNvSpPr>
            <a:spLocks xmlns:a="http://schemas.openxmlformats.org/drawingml/2006/main" noGrp="1"/>
          </p:cNvSpPr>
          <p:nvPr/>
        </p:nvSpPr>
        <p:spPr>
          <a:xfrm xmlns:a="http://schemas.openxmlformats.org/drawingml/2006/main">
            <a:off x="8183880"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1E2447"/>
                </a:solidFill>
                <a:latin typeface="Calibri"/>
                <a:ea typeface="Calibri"/>
                <a:cs typeface="Calibri"/>
              </a:rPr>
              <a:t>Powerful analysis of witness and content; mature discipline of inquiry, ethics, and contemplative practice.</a:t>
            </a:r>
          </a:p>
        </p:txBody>
      </p:sp>
      <p:sp>
        <p:nvSpPr>
          <p:cNvPr id="19" name="TextBox 18">
            <a:extLst xmlns:a="http://schemas.openxmlformats.org/drawingml/2006/main">
              <a:ext uri="{FF2B5EF4-FFF2-40B4-BE49-F238E27FC236}">
                <a16:creationId xmlns:a16="http://schemas.microsoft.com/office/drawing/2014/main" id="{30D791B2-C92E-4D23-8959-5A16D0DC1AC2}"/>
              </a:ext>
            </a:extLst>
          </p:cNvPr>
          <p:cNvSpPr>
            <a:spLocks xmlns:a="http://schemas.openxmlformats.org/drawingml/2006/main" noGrp="1"/>
          </p:cNvSpPr>
          <p:nvPr/>
        </p:nvSpPr>
        <p:spPr>
          <a:xfrm xmlns:a="http://schemas.openxmlformats.org/drawingml/2006/main">
            <a:off x="8183880"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Introspection does not by itself establish Brahman or nonduality; empirical plurality and suffering must not be rhetorically erased.</a:t>
            </a:r>
          </a:p>
        </p:txBody>
      </p:sp>
      <p:sp>
        <p:nvSpPr>
          <p:cNvPr id="20" name="TextBox 19">
            <a:extLst xmlns:a="http://schemas.openxmlformats.org/drawingml/2006/main">
              <a:ext uri="{FF2B5EF4-FFF2-40B4-BE49-F238E27FC236}">
                <a16:creationId xmlns:a16="http://schemas.microsoft.com/office/drawing/2014/main" id="{644B80B2-FB51-4396-80CF-2D4F0C53DFF1}"/>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No view wins by identifying another’s gap; each must support its own positive inference.</a:t>
            </a:r>
          </a:p>
        </p:txBody>
      </p:sp>
    </p:spTree>
    <p:extLst>
      <p:ext uri="{BB962C8B-B14F-4D97-AF65-F5344CB8AC3E}">
        <p14:creationId xmlns:p14="http://schemas.microsoft.com/office/powerpoint/2010/main" val="183119003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1F3E5C8-0154-4DC2-AEA4-4DCCDD0392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5DCB7A04-90D8-4BBE-9AD5-F4B0435F7144}"/>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88C730EF-F06E-4AC2-AA8C-2BE26A0BAE2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1051BD0-EC5A-40F5-8A17-DD8E5EA58C31}"/>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2C996CF-CA48-4048-A3BB-0455ACC9750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EVIDENCE AND OPEN QUESTIONS</a:t>
            </a:r>
          </a:p>
        </p:txBody>
      </p:sp>
      <p:sp>
        <p:nvSpPr>
          <p:cNvPr id="7" name="TextBox 6">
            <a:extLst xmlns:a="http://schemas.openxmlformats.org/drawingml/2006/main">
              <a:ext uri="{FF2B5EF4-FFF2-40B4-BE49-F238E27FC236}">
                <a16:creationId xmlns:a16="http://schemas.microsoft.com/office/drawing/2014/main" id="{899AD1B7-ECF0-4BE6-ABEB-C78E1FA6E249}"/>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What Evidence Could Change the Balance?</a:t>
            </a:r>
          </a:p>
        </p:txBody>
      </p:sp>
      <p:sp>
        <p:nvSpPr>
          <p:cNvPr id="8" name="TextBox 7">
            <a:extLst xmlns:a="http://schemas.openxmlformats.org/drawingml/2006/main">
              <a:ext uri="{FF2B5EF4-FFF2-40B4-BE49-F238E27FC236}">
                <a16:creationId xmlns:a16="http://schemas.microsoft.com/office/drawing/2014/main" id="{DC34C9BE-1C97-497B-A327-05B5A7FDF65F}"/>
              </a:ext>
            </a:extLst>
          </p:cNvPr>
          <p:cNvSpPr>
            <a:spLocks xmlns:a="http://schemas.openxmlformats.org/drawingml/2006/main" noGrp="1"/>
          </p:cNvSpPr>
          <p:nvPr/>
        </p:nvSpPr>
        <p:spPr>
          <a:xfrm xmlns:a="http://schemas.openxmlformats.org/drawingml/2006/main">
            <a:off x="685800" y="1783080"/>
            <a:ext cx="1078992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5000"/>
              </a:lnSpc>
              <a:spcBef>
                <a:spcPts val="0"/>
              </a:spcBef>
              <a:spcAft>
                <a:spcPts val="400"/>
              </a:spcAft>
              <a:buNone/>
            </a:pPr>
            <a:r>
              <a:rPr sz="1450" b="0" i="0">
                <a:solidFill>
                  <a:srgbClr val="5A6377"/>
                </a:solidFill>
                <a:latin typeface="Calibri"/>
                <a:ea typeface="Calibri"/>
                <a:cs typeface="Calibri"/>
              </a:rPr>
              <a:t>The three views make claims at different levels. A fair test must target the claim it can actually bear on.</a:t>
            </a:r>
          </a:p>
        </p:txBody>
      </p:sp>
      <p:sp>
        <p:nvSpPr>
          <p:cNvPr id="9" name="TextBox 8">
            <a:extLst xmlns:a="http://schemas.openxmlformats.org/drawingml/2006/main">
              <a:ext uri="{FF2B5EF4-FFF2-40B4-BE49-F238E27FC236}">
                <a16:creationId xmlns:a16="http://schemas.microsoft.com/office/drawing/2014/main" id="{0D4B7824-97A8-4D63-905D-EE5EF2FF0C7E}"/>
              </a:ext>
            </a:extLst>
          </p:cNvPr>
          <p:cNvSpPr>
            <a:spLocks xmlns:a="http://schemas.openxmlformats.org/drawingml/2006/main" noGrp="1"/>
          </p:cNvSpPr>
          <p:nvPr/>
        </p:nvSpPr>
        <p:spPr>
          <a:xfrm xmlns:a="http://schemas.openxmlformats.org/drawingml/2006/main">
            <a:off x="685800" y="3566160"/>
            <a:ext cx="10789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00" b="1" i="0">
                <a:solidFill>
                  <a:srgbClr val="1E2447"/>
                </a:solidFill>
                <a:latin typeface="Calibri"/>
                <a:ea typeface="Calibri"/>
                <a:cs typeface="Calibri"/>
              </a:rPr>
              <a:t>What would actually move the debate:</a:t>
            </a:r>
          </a:p>
        </p:txBody>
      </p:sp>
      <p:sp>
        <p:nvSpPr>
          <p:cNvPr id="10" name="Oval 9">
            <a:extLst xmlns:a="http://schemas.openxmlformats.org/drawingml/2006/main">
              <a:ext uri="{FF2B5EF4-FFF2-40B4-BE49-F238E27FC236}">
                <a16:creationId xmlns:a16="http://schemas.microsoft.com/office/drawing/2014/main" id="{D9D9E888-B255-4324-99FF-DBC43564E3CA}"/>
              </a:ext>
            </a:extLst>
          </p:cNvPr>
          <p:cNvSpPr>
            <a:spLocks xmlns:a="http://schemas.openxmlformats.org/drawingml/2006/main" noGrp="1"/>
          </p:cNvSpPr>
          <p:nvPr/>
        </p:nvSpPr>
        <p:spPr>
          <a:xfrm xmlns:a="http://schemas.openxmlformats.org/drawingml/2006/main">
            <a:off x="841248" y="41239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D01EDE9-BCFA-45A7-BD9D-4D519E77D565}"/>
              </a:ext>
            </a:extLst>
          </p:cNvPr>
          <p:cNvSpPr>
            <a:spLocks xmlns:a="http://schemas.openxmlformats.org/drawingml/2006/main" noGrp="1"/>
          </p:cNvSpPr>
          <p:nvPr/>
        </p:nvSpPr>
        <p:spPr>
          <a:xfrm xmlns:a="http://schemas.openxmlformats.org/drawingml/2006/main">
            <a:off x="1188720" y="402336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Neural sufficiency</a:t>
            </a:r>
          </a:p>
        </p:txBody>
      </p:sp>
      <p:sp>
        <p:nvSpPr>
          <p:cNvPr id="12" name="TextBox 11">
            <a:extLst xmlns:a="http://schemas.openxmlformats.org/drawingml/2006/main">
              <a:ext uri="{FF2B5EF4-FFF2-40B4-BE49-F238E27FC236}">
                <a16:creationId xmlns:a16="http://schemas.microsoft.com/office/drawing/2014/main" id="{2F52F37F-3E79-430D-A81A-A87071B2C6CE}"/>
              </a:ext>
            </a:extLst>
          </p:cNvPr>
          <p:cNvSpPr>
            <a:spLocks xmlns:a="http://schemas.openxmlformats.org/drawingml/2006/main" noGrp="1"/>
          </p:cNvSpPr>
          <p:nvPr/>
        </p:nvSpPr>
        <p:spPr>
          <a:xfrm xmlns:a="http://schemas.openxmlformats.org/drawingml/2006/main">
            <a:off x="5669280" y="4041648"/>
            <a:ext cx="5760720" cy="599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If neural models explain experience, learning, and agency, the need for jeevan weakens. Predictive success alone does not prove identity.</a:t>
            </a:r>
          </a:p>
        </p:txBody>
      </p:sp>
      <p:sp>
        <p:nvSpPr>
          <p:cNvPr id="13" name="Oval 12">
            <a:extLst xmlns:a="http://schemas.openxmlformats.org/drawingml/2006/main">
              <a:ext uri="{FF2B5EF4-FFF2-40B4-BE49-F238E27FC236}">
                <a16:creationId xmlns:a16="http://schemas.microsoft.com/office/drawing/2014/main" id="{45E6E29B-0F8F-4CA0-B3A1-C921946A8276}"/>
              </a:ext>
            </a:extLst>
          </p:cNvPr>
          <p:cNvSpPr>
            <a:spLocks xmlns:a="http://schemas.openxmlformats.org/drawingml/2006/main" noGrp="1"/>
          </p:cNvSpPr>
          <p:nvPr/>
        </p:nvSpPr>
        <p:spPr>
          <a:xfrm xmlns:a="http://schemas.openxmlformats.org/drawingml/2006/main">
            <a:off x="841248" y="462686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BB0B3205-4432-46AD-BEE7-C1820E5C1E9D}"/>
              </a:ext>
            </a:extLst>
          </p:cNvPr>
          <p:cNvSpPr>
            <a:spLocks xmlns:a="http://schemas.openxmlformats.org/drawingml/2006/main" noGrp="1"/>
          </p:cNvSpPr>
          <p:nvPr/>
        </p:nvSpPr>
        <p:spPr>
          <a:xfrm xmlns:a="http://schemas.openxmlformats.org/drawingml/2006/main">
            <a:off x="1188720" y="452628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Distinct jeevan effects</a:t>
            </a:r>
          </a:p>
        </p:txBody>
      </p:sp>
      <p:sp>
        <p:nvSpPr>
          <p:cNvPr id="15" name="TextBox 14">
            <a:extLst xmlns:a="http://schemas.openxmlformats.org/drawingml/2006/main">
              <a:ext uri="{FF2B5EF4-FFF2-40B4-BE49-F238E27FC236}">
                <a16:creationId xmlns:a16="http://schemas.microsoft.com/office/drawing/2014/main" id="{BDEC5CE2-AD4B-4194-B8B8-3002D656A739}"/>
              </a:ext>
            </a:extLst>
          </p:cNvPr>
          <p:cNvSpPr>
            <a:spLocks xmlns:a="http://schemas.openxmlformats.org/drawingml/2006/main" noGrp="1"/>
          </p:cNvSpPr>
          <p:nvPr/>
        </p:nvSpPr>
        <p:spPr>
          <a:xfrm xmlns:a="http://schemas.openxmlformats.org/drawingml/2006/main">
            <a:off x="5669280" y="4544568"/>
            <a:ext cx="576072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Reliable effects that require the body–jeevan model and resist neural or psychological alternatives would strengthen MD. Mere correlation with practice would not.</a:t>
            </a:r>
          </a:p>
        </p:txBody>
      </p:sp>
      <p:sp>
        <p:nvSpPr>
          <p:cNvPr id="16" name="Oval 15">
            <a:extLst xmlns:a="http://schemas.openxmlformats.org/drawingml/2006/main">
              <a:ext uri="{FF2B5EF4-FFF2-40B4-BE49-F238E27FC236}">
                <a16:creationId xmlns:a16="http://schemas.microsoft.com/office/drawing/2014/main" id="{83904A9B-4998-42B8-898E-4B0CF16F8EA6}"/>
              </a:ext>
            </a:extLst>
          </p:cNvPr>
          <p:cNvSpPr>
            <a:spLocks xmlns:a="http://schemas.openxmlformats.org/drawingml/2006/main" noGrp="1"/>
          </p:cNvSpPr>
          <p:nvPr/>
        </p:nvSpPr>
        <p:spPr>
          <a:xfrm xmlns:a="http://schemas.openxmlformats.org/drawingml/2006/main">
            <a:off x="841248" y="512978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A8EF87C-1590-4A35-B9DF-368B02E5C8BC}"/>
              </a:ext>
            </a:extLst>
          </p:cNvPr>
          <p:cNvSpPr>
            <a:spLocks xmlns:a="http://schemas.openxmlformats.org/drawingml/2006/main" noGrp="1"/>
          </p:cNvSpPr>
          <p:nvPr/>
        </p:nvSpPr>
        <p:spPr>
          <a:xfrm xmlns:a="http://schemas.openxmlformats.org/drawingml/2006/main">
            <a:off x="1188720" y="502920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Advaita’s inference</a:t>
            </a:r>
          </a:p>
        </p:txBody>
      </p:sp>
      <p:sp>
        <p:nvSpPr>
          <p:cNvPr id="18" name="TextBox 17">
            <a:extLst xmlns:a="http://schemas.openxmlformats.org/drawingml/2006/main">
              <a:ext uri="{FF2B5EF4-FFF2-40B4-BE49-F238E27FC236}">
                <a16:creationId xmlns:a16="http://schemas.microsoft.com/office/drawing/2014/main" id="{1FB8DC88-F0DD-4784-967B-8D27B21DE5BA}"/>
              </a:ext>
            </a:extLst>
          </p:cNvPr>
          <p:cNvSpPr>
            <a:spLocks xmlns:a="http://schemas.openxmlformats.org/drawingml/2006/main" noGrp="1"/>
          </p:cNvSpPr>
          <p:nvPr/>
        </p:nvSpPr>
        <p:spPr>
          <a:xfrm xmlns:a="http://schemas.openxmlformats.org/drawingml/2006/main">
            <a:off x="5669280" y="5047488"/>
            <a:ext cx="576072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Contemplative reports can test reproducibility and transformation; establishing nondual Brahman additionally requires philosophical warrant.</a:t>
            </a:r>
          </a:p>
        </p:txBody>
      </p:sp>
      <p:sp>
        <p:nvSpPr>
          <p:cNvPr id="19" name="Rounded Rectangle 18">
            <a:extLst xmlns:a="http://schemas.openxmlformats.org/drawingml/2006/main">
              <a:ext uri="{FF2B5EF4-FFF2-40B4-BE49-F238E27FC236}">
                <a16:creationId xmlns:a16="http://schemas.microsoft.com/office/drawing/2014/main" id="{F0951DF4-D8DC-425B-AB1F-8F8517FB331B}"/>
              </a:ext>
            </a:extLst>
          </p:cNvPr>
          <p:cNvSpPr>
            <a:spLocks xmlns:a="http://schemas.openxmlformats.org/drawingml/2006/main" noGrp="1"/>
          </p:cNvSpPr>
          <p:nvPr/>
        </p:nvSpPr>
        <p:spPr>
          <a:xfrm xmlns:a="http://schemas.openxmlformats.org/drawingml/2006/main">
            <a:off x="685800" y="5623560"/>
            <a:ext cx="10817352" cy="64008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1AFB38B0-66DE-4AB4-80C8-AD6B0E53A9AC}"/>
              </a:ext>
            </a:extLst>
          </p:cNvPr>
          <p:cNvSpPr>
            <a:spLocks xmlns:a="http://schemas.openxmlformats.org/drawingml/2006/main" noGrp="1"/>
          </p:cNvSpPr>
          <p:nvPr/>
        </p:nvSpPr>
        <p:spPr>
          <a:xfrm xmlns:a="http://schemas.openxmlformats.org/drawingml/2006/main">
            <a:off x="1005840" y="5623560"/>
            <a:ext cx="101772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Each result should update only the claim it addresses. No single anomaly or successful mechanism settles every metaphysical question.</a:t>
            </a:r>
          </a:p>
        </p:txBody>
      </p:sp>
      <p:sp>
        <p:nvSpPr>
          <p:cNvPr id="21" name="TextBox 20">
            <a:extLst xmlns:a="http://schemas.openxmlformats.org/drawingml/2006/main">
              <a:ext uri="{FF2B5EF4-FFF2-40B4-BE49-F238E27FC236}">
                <a16:creationId xmlns:a16="http://schemas.microsoft.com/office/drawing/2014/main" id="{924576F0-761B-4E47-992C-16E8E5C1BFCA}"/>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§5.4</a:t>
            </a:r>
          </a:p>
        </p:txBody>
      </p:sp>
    </p:spTree>
    <p:extLst>
      <p:ext uri="{BB962C8B-B14F-4D97-AF65-F5344CB8AC3E}">
        <p14:creationId xmlns:p14="http://schemas.microsoft.com/office/powerpoint/2010/main" val="15304326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4B5B789-593E-4D73-AAA1-92BEC19154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C8849384-632A-44DF-B5C1-17EB4ABCC5F0}"/>
              </a:ext>
            </a:extLst>
          </p:cNvPr>
          <p:cNvSpPr>
            <a:spLocks xmlns:a="http://schemas.openxmlformats.org/drawingml/2006/main" noGrp="1"/>
          </p:cNvSpPr>
          <p:nvPr/>
        </p:nvSpPr>
        <p:spPr>
          <a:xfrm xmlns:a="http://schemas.openxmlformats.org/drawingml/2006/main">
            <a:off x="8412480" y="3566160"/>
            <a:ext cx="3291840" cy="329184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2E046900-0182-4634-8F85-203C8C31A6E7}"/>
              </a:ext>
            </a:extLst>
          </p:cNvPr>
          <p:cNvSpPr>
            <a:spLocks xmlns:a="http://schemas.openxmlformats.org/drawingml/2006/main" noGrp="1"/>
          </p:cNvSpPr>
          <p:nvPr/>
        </p:nvSpPr>
        <p:spPr>
          <a:xfrm xmlns:a="http://schemas.openxmlformats.org/drawingml/2006/main">
            <a:off x="9144000" y="4297680"/>
            <a:ext cx="1828800" cy="1828800"/>
          </a:xfrm>
          <a:prstGeom xmlns:a="http://schemas.openxmlformats.org/drawingml/2006/main" prst="ellipse">
            <a:avLst/>
          </a:prstGeom>
          <a:noFill xmlns:a="http://schemas.openxmlformats.org/drawingml/2006/main"/>
          <a:ln xmlns:a="http://schemas.openxmlformats.org/drawingml/2006/main" w="1270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E4E3E34A-A14C-458F-95C3-1B010F27E87C}"/>
              </a:ext>
            </a:extLst>
          </p:cNvPr>
          <p:cNvSpPr>
            <a:spLocks xmlns:a="http://schemas.openxmlformats.org/drawingml/2006/main" noGrp="1"/>
          </p:cNvSpPr>
          <p:nvPr/>
        </p:nvSpPr>
        <p:spPr>
          <a:xfrm xmlns:a="http://schemas.openxmlformats.org/drawingml/2006/main">
            <a:off x="9692640" y="4846320"/>
            <a:ext cx="731520" cy="731520"/>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18BF107-0F9B-4C51-83F5-A317CB6102E7}"/>
              </a:ext>
            </a:extLst>
          </p:cNvPr>
          <p:cNvSpPr>
            <a:spLocks xmlns:a="http://schemas.openxmlformats.org/drawingml/2006/main" noGrp="1"/>
          </p:cNvSpPr>
          <p:nvPr/>
        </p:nvSpPr>
        <p:spPr>
          <a:xfrm xmlns:a="http://schemas.openxmlformats.org/drawingml/2006/main">
            <a:off x="868680" y="128016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C9821E"/>
                </a:solidFill>
                <a:latin typeface="Calibri"/>
                <a:ea typeface="Calibri"/>
                <a:cs typeface="Calibri"/>
              </a:rPr>
              <a:t>WHY HUMANS ARE NOT JUST MATERIAL</a:t>
            </a:r>
          </a:p>
        </p:txBody>
      </p:sp>
      <p:sp>
        <p:nvSpPr>
          <p:cNvPr id="7" name="TextBox 6">
            <a:extLst xmlns:a="http://schemas.openxmlformats.org/drawingml/2006/main">
              <a:ext uri="{FF2B5EF4-FFF2-40B4-BE49-F238E27FC236}">
                <a16:creationId xmlns:a16="http://schemas.microsoft.com/office/drawing/2014/main" id="{2185CCD6-0BBD-4563-B297-8CA2DE9551C4}"/>
              </a:ext>
            </a:extLst>
          </p:cNvPr>
          <p:cNvSpPr>
            <a:spLocks xmlns:a="http://schemas.openxmlformats.org/drawingml/2006/main" noGrp="1"/>
          </p:cNvSpPr>
          <p:nvPr/>
        </p:nvSpPr>
        <p:spPr>
          <a:xfrm xmlns:a="http://schemas.openxmlformats.org/drawingml/2006/main">
            <a:off x="822960" y="1691640"/>
            <a:ext cx="10058400" cy="10871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400" b="1" i="0">
                <a:solidFill>
                  <a:srgbClr val="FFFFFF"/>
                </a:solidFill>
                <a:latin typeface="Cambria"/>
                <a:ea typeface="Cambria"/>
                <a:cs typeface="Cambria"/>
              </a:rPr>
              <a:t>A Case to Develop, With Claims to Test</a:t>
            </a:r>
          </a:p>
        </p:txBody>
      </p:sp>
      <p:sp>
        <p:nvSpPr>
          <p:cNvPr id="8" name="Oval 7">
            <a:extLst xmlns:a="http://schemas.openxmlformats.org/drawingml/2006/main">
              <a:ext uri="{FF2B5EF4-FFF2-40B4-BE49-F238E27FC236}">
                <a16:creationId xmlns:a16="http://schemas.microsoft.com/office/drawing/2014/main" id="{6B8FCA2B-2472-49E9-A669-B007DEDAECDB}"/>
              </a:ext>
            </a:extLst>
          </p:cNvPr>
          <p:cNvSpPr>
            <a:spLocks xmlns:a="http://schemas.openxmlformats.org/drawingml/2006/main" noGrp="1"/>
          </p:cNvSpPr>
          <p:nvPr/>
        </p:nvSpPr>
        <p:spPr>
          <a:xfrm xmlns:a="http://schemas.openxmlformats.org/drawingml/2006/main">
            <a:off x="969263" y="2962656"/>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C77C41B-AE7C-4272-B67F-36A97F708F51}"/>
              </a:ext>
            </a:extLst>
          </p:cNvPr>
          <p:cNvSpPr>
            <a:spLocks xmlns:a="http://schemas.openxmlformats.org/drawingml/2006/main" noGrp="1"/>
          </p:cNvSpPr>
          <p:nvPr/>
        </p:nvSpPr>
        <p:spPr>
          <a:xfrm xmlns:a="http://schemas.openxmlformats.org/drawingml/2006/main">
            <a:off x="1371600" y="2880360"/>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Science</a:t>
            </a:r>
          </a:p>
        </p:txBody>
      </p:sp>
      <p:sp>
        <p:nvSpPr>
          <p:cNvPr id="10" name="TextBox 9">
            <a:extLst xmlns:a="http://schemas.openxmlformats.org/drawingml/2006/main">
              <a:ext uri="{FF2B5EF4-FFF2-40B4-BE49-F238E27FC236}">
                <a16:creationId xmlns:a16="http://schemas.microsoft.com/office/drawing/2014/main" id="{83C6C9D4-BA6B-4CFE-B016-3F583E23AC55}"/>
              </a:ext>
            </a:extLst>
          </p:cNvPr>
          <p:cNvSpPr>
            <a:spLocks xmlns:a="http://schemas.openxmlformats.org/drawingml/2006/main" noGrp="1"/>
          </p:cNvSpPr>
          <p:nvPr/>
        </p:nvSpPr>
        <p:spPr>
          <a:xfrm xmlns:a="http://schemas.openxmlformats.org/drawingml/2006/main">
            <a:off x="4023360" y="2898648"/>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Shows pervasive dependence of mind on brain and gives the strongest public method; physicalism interprets this as sufficiency.</a:t>
            </a:r>
          </a:p>
        </p:txBody>
      </p:sp>
      <p:sp>
        <p:nvSpPr>
          <p:cNvPr id="11" name="Oval 10">
            <a:extLst xmlns:a="http://schemas.openxmlformats.org/drawingml/2006/main">
              <a:ext uri="{FF2B5EF4-FFF2-40B4-BE49-F238E27FC236}">
                <a16:creationId xmlns:a16="http://schemas.microsoft.com/office/drawing/2014/main" id="{2FC9693C-1527-4F62-A440-D5D6671D41ED}"/>
              </a:ext>
            </a:extLst>
          </p:cNvPr>
          <p:cNvSpPr>
            <a:spLocks xmlns:a="http://schemas.openxmlformats.org/drawingml/2006/main" noGrp="1"/>
          </p:cNvSpPr>
          <p:nvPr/>
        </p:nvSpPr>
        <p:spPr>
          <a:xfrm xmlns:a="http://schemas.openxmlformats.org/drawingml/2006/main">
            <a:off x="969263" y="3621024"/>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3A861F4D-3161-41A3-A3CD-66A4D13C42A1}"/>
              </a:ext>
            </a:extLst>
          </p:cNvPr>
          <p:cNvSpPr>
            <a:spLocks xmlns:a="http://schemas.openxmlformats.org/drawingml/2006/main" noGrp="1"/>
          </p:cNvSpPr>
          <p:nvPr/>
        </p:nvSpPr>
        <p:spPr>
          <a:xfrm xmlns:a="http://schemas.openxmlformats.org/drawingml/2006/main">
            <a:off x="1371600" y="3538728"/>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Madhyasth Darshan</a:t>
            </a:r>
          </a:p>
        </p:txBody>
      </p:sp>
      <p:sp>
        <p:nvSpPr>
          <p:cNvPr id="13" name="TextBox 12">
            <a:extLst xmlns:a="http://schemas.openxmlformats.org/drawingml/2006/main">
              <a:ext uri="{FF2B5EF4-FFF2-40B4-BE49-F238E27FC236}">
                <a16:creationId xmlns:a16="http://schemas.microsoft.com/office/drawing/2014/main" id="{440F5573-785C-4B67-A4FC-4A4D2195CCCA}"/>
              </a:ext>
            </a:extLst>
          </p:cNvPr>
          <p:cNvSpPr>
            <a:spLocks xmlns:a="http://schemas.openxmlformats.org/drawingml/2006/main" noGrp="1"/>
          </p:cNvSpPr>
          <p:nvPr/>
        </p:nvSpPr>
        <p:spPr>
          <a:xfrm xmlns:a="http://schemas.openxmlformats.org/drawingml/2006/main">
            <a:off x="4023360" y="3557016"/>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Proposes a real body + jeevan joint form and makes conduct central; its atomic and causal claims remain open to stronger tests.</a:t>
            </a:r>
          </a:p>
        </p:txBody>
      </p:sp>
      <p:sp>
        <p:nvSpPr>
          <p:cNvPr id="14" name="Oval 13">
            <a:extLst xmlns:a="http://schemas.openxmlformats.org/drawingml/2006/main">
              <a:ext uri="{FF2B5EF4-FFF2-40B4-BE49-F238E27FC236}">
                <a16:creationId xmlns:a16="http://schemas.microsoft.com/office/drawing/2014/main" id="{6E4AC27D-50CC-4A70-BD9B-BBE99766DCB0}"/>
              </a:ext>
            </a:extLst>
          </p:cNvPr>
          <p:cNvSpPr>
            <a:spLocks xmlns:a="http://schemas.openxmlformats.org/drawingml/2006/main" noGrp="1"/>
          </p:cNvSpPr>
          <p:nvPr/>
        </p:nvSpPr>
        <p:spPr>
          <a:xfrm xmlns:a="http://schemas.openxmlformats.org/drawingml/2006/main">
            <a:off x="969263" y="4279392"/>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E3FB4789-64D2-4832-925E-E90B7C402010}"/>
              </a:ext>
            </a:extLst>
          </p:cNvPr>
          <p:cNvSpPr>
            <a:spLocks xmlns:a="http://schemas.openxmlformats.org/drawingml/2006/main" noGrp="1"/>
          </p:cNvSpPr>
          <p:nvPr/>
        </p:nvSpPr>
        <p:spPr>
          <a:xfrm xmlns:a="http://schemas.openxmlformats.org/drawingml/2006/main">
            <a:off x="1371600" y="4197096"/>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Advaita Vedanta</a:t>
            </a:r>
          </a:p>
        </p:txBody>
      </p:sp>
      <p:sp>
        <p:nvSpPr>
          <p:cNvPr id="16" name="TextBox 15">
            <a:extLst xmlns:a="http://schemas.openxmlformats.org/drawingml/2006/main">
              <a:ext uri="{FF2B5EF4-FFF2-40B4-BE49-F238E27FC236}">
                <a16:creationId xmlns:a16="http://schemas.microsoft.com/office/drawing/2014/main" id="{4DB098BB-64A2-42F0-B06B-EF3F5168EFC7}"/>
              </a:ext>
            </a:extLst>
          </p:cNvPr>
          <p:cNvSpPr>
            <a:spLocks xmlns:a="http://schemas.openxmlformats.org/drawingml/2006/main" noGrp="1"/>
          </p:cNvSpPr>
          <p:nvPr/>
        </p:nvSpPr>
        <p:spPr>
          <a:xfrm xmlns:a="http://schemas.openxmlformats.org/drawingml/2006/main">
            <a:off x="4023360" y="4215383"/>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Locates identity in nondual awareness and treats the world as dependently real; identifying the witness with Brahman requires further support.</a:t>
            </a:r>
          </a:p>
        </p:txBody>
      </p:sp>
      <p:sp>
        <p:nvSpPr>
          <p:cNvPr id="17" name="TextBox 16">
            <a:extLst xmlns:a="http://schemas.openxmlformats.org/drawingml/2006/main">
              <a:ext uri="{FF2B5EF4-FFF2-40B4-BE49-F238E27FC236}">
                <a16:creationId xmlns:a16="http://schemas.microsoft.com/office/drawing/2014/main" id="{CC1F92AA-56C2-422F-8D88-C79B2C5CED0F}"/>
              </a:ext>
            </a:extLst>
          </p:cNvPr>
          <p:cNvSpPr>
            <a:spLocks xmlns:a="http://schemas.openxmlformats.org/drawingml/2006/main" noGrp="1"/>
          </p:cNvSpPr>
          <p:nvPr/>
        </p:nvSpPr>
        <p:spPr>
          <a:xfrm xmlns:a="http://schemas.openxmlformats.org/drawingml/2006/main">
            <a:off x="868680" y="5212080"/>
            <a:ext cx="86868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00" b="0" i="1">
                <a:solidFill>
                  <a:srgbClr val="FFFFFF"/>
                </a:solidFill>
                <a:latin typeface="Calibri"/>
                <a:ea typeface="Calibri"/>
                <a:cs typeface="Calibri"/>
              </a:rPr>
              <a:t>Experience, unity, and reasons motivate the case beyond reduction.
Whether they require jeevan remains the question to test.</a:t>
            </a:r>
          </a:p>
        </p:txBody>
      </p:sp>
    </p:spTree>
    <p:extLst>
      <p:ext uri="{BB962C8B-B14F-4D97-AF65-F5344CB8AC3E}">
        <p14:creationId xmlns:p14="http://schemas.microsoft.com/office/powerpoint/2010/main" val="8309757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2026-09-08T00:32:34.5890000Z</dcterms:created>
  <dcterms:modified xsi:type="dcterms:W3CDTF">2026-09-08T00:32:34.5890000Z</dcterms:modified>
</coreProperties>
</file>