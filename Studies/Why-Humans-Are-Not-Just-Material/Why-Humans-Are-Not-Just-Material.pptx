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3c9c57575b04a33" /><Relationship Type="http://schemas.openxmlformats.org/officeDocument/2006/relationships/extended-properties" Target="/docProps/app.xml" Id="Rf404c75f30b84d27" /><Relationship Type="http://schemas.openxmlformats.org/officeDocument/2006/relationships/officeDocument" Target="/ppt/presentation.xml" Id="R8788e23ba42b40ae" /></Relationships>
</file>

<file path=ppt/presentation.xml><?xml version="1.0" encoding="utf-8"?>
<p:presentation xmlns:p="http://schemas.openxmlformats.org/presentationml/2006/main">
  <p:sldMasterIdLst>
    <p:sldMasterId xmlns:r="http://schemas.openxmlformats.org/officeDocument/2006/relationships" id="2147483648" r:id="R18621d12cc4e409b"/>
  </p:sldMasterIdLst>
  <p:notesMasterIdLst>
    <p:notesMasterId xmlns:r="http://schemas.openxmlformats.org/officeDocument/2006/relationships" r:id="R3eea6ec7d3254456"/>
  </p:notesMasterIdLst>
  <p:sldIdLst>
    <p:sldId xmlns:r="http://schemas.openxmlformats.org/officeDocument/2006/relationships" id="256" r:id="Rb353911ba8734f24"/>
    <p:sldId xmlns:r="http://schemas.openxmlformats.org/officeDocument/2006/relationships" id="257" r:id="Re706ca4b49b64453"/>
    <p:sldId xmlns:r="http://schemas.openxmlformats.org/officeDocument/2006/relationships" id="258" r:id="Rd8366c7b1a2f44f7"/>
    <p:sldId xmlns:r="http://schemas.openxmlformats.org/officeDocument/2006/relationships" id="259" r:id="R34231c4698254f34"/>
    <p:sldId xmlns:r="http://schemas.openxmlformats.org/officeDocument/2006/relationships" id="260" r:id="Rd5a506d0f4ad4693"/>
    <p:sldId xmlns:r="http://schemas.openxmlformats.org/officeDocument/2006/relationships" id="261" r:id="R9d86545f38f64071"/>
    <p:sldId xmlns:r="http://schemas.openxmlformats.org/officeDocument/2006/relationships" id="262" r:id="R47224349f14e4810"/>
    <p:sldId xmlns:r="http://schemas.openxmlformats.org/officeDocument/2006/relationships" id="263" r:id="R93564d127d7240ca"/>
    <p:sldId xmlns:r="http://schemas.openxmlformats.org/officeDocument/2006/relationships" id="264" r:id="R51fa976214054bed"/>
    <p:sldId xmlns:r="http://schemas.openxmlformats.org/officeDocument/2006/relationships" id="265" r:id="R75473de9f1e54a0c"/>
    <p:sldId xmlns:r="http://schemas.openxmlformats.org/officeDocument/2006/relationships" id="266" r:id="R929a5f15312842ec"/>
    <p:sldId xmlns:r="http://schemas.openxmlformats.org/officeDocument/2006/relationships" id="267" r:id="R6d41d63b99d74e51"/>
    <p:sldId xmlns:r="http://schemas.openxmlformats.org/officeDocument/2006/relationships" id="268" r:id="Rdfdfd9ee2287428a"/>
    <p:sldId xmlns:r="http://schemas.openxmlformats.org/officeDocument/2006/relationships" id="269" r:id="R73105481d96e42b2"/>
    <p:sldId xmlns:r="http://schemas.openxmlformats.org/officeDocument/2006/relationships" id="270" r:id="R6b7ddfb8e1f94287"/>
    <p:sldId xmlns:r="http://schemas.openxmlformats.org/officeDocument/2006/relationships" id="271" r:id="R20a6803db9ed4036"/>
    <p:sldId xmlns:r="http://schemas.openxmlformats.org/officeDocument/2006/relationships" id="272" r:id="R4c9bbf9ea9ed4e1c"/>
    <p:sldId xmlns:r="http://schemas.openxmlformats.org/officeDocument/2006/relationships" id="273" r:id="R5e596997d58d4e81"/>
    <p:sldId xmlns:r="http://schemas.openxmlformats.org/officeDocument/2006/relationships" id="274" r:id="R93502c16feba4b66"/>
    <p:sldId xmlns:r="http://schemas.openxmlformats.org/officeDocument/2006/relationships" id="275" r:id="Rd16e6a11fc064c49"/>
  </p:sldIdLst>
  <p:sldSz cx="12191695"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052f1a424b84fe3" /><Relationship Type="http://schemas.openxmlformats.org/officeDocument/2006/relationships/slideMaster" Target="/ppt/slideMasters/slideMaster1.xml" Id="R18621d12cc4e409b" /><Relationship Type="http://schemas.openxmlformats.org/officeDocument/2006/relationships/notesMaster" Target="/ppt/notesMasters/notesMaster1.xml" Id="R3eea6ec7d3254456" /><Relationship Type="http://schemas.openxmlformats.org/officeDocument/2006/relationships/presProps" Target="/ppt/presProps.xml" Id="R086abe7fd04a44d5" /><Relationship Type="http://schemas.openxmlformats.org/officeDocument/2006/relationships/viewProps" Target="/ppt/viewProps.xml" Id="Rac7bac0e37bb4de1" /><Relationship Type="http://schemas.openxmlformats.org/officeDocument/2006/relationships/tableStyles" Target="/ppt/tableStyles.xml" Id="R69dff1bd66234853" /><Relationship Type="http://schemas.openxmlformats.org/officeDocument/2006/relationships/slide" Target="/ppt/slides/slide1.xml" Id="Rb353911ba8734f24" /><Relationship Type="http://schemas.openxmlformats.org/officeDocument/2006/relationships/slide" Target="/ppt/slides/slide2.xml" Id="Re706ca4b49b64453" /><Relationship Type="http://schemas.openxmlformats.org/officeDocument/2006/relationships/slide" Target="/ppt/slides/slide3.xml" Id="Rd8366c7b1a2f44f7" /><Relationship Type="http://schemas.openxmlformats.org/officeDocument/2006/relationships/slide" Target="/ppt/slides/slide4.xml" Id="R34231c4698254f34" /><Relationship Type="http://schemas.openxmlformats.org/officeDocument/2006/relationships/slide" Target="/ppt/slides/slide5.xml" Id="Rd5a506d0f4ad4693" /><Relationship Type="http://schemas.openxmlformats.org/officeDocument/2006/relationships/slide" Target="/ppt/slides/slide6.xml" Id="R9d86545f38f64071" /><Relationship Type="http://schemas.openxmlformats.org/officeDocument/2006/relationships/slide" Target="/ppt/slides/slide7.xml" Id="R47224349f14e4810" /><Relationship Type="http://schemas.openxmlformats.org/officeDocument/2006/relationships/slide" Target="/ppt/slides/slide8.xml" Id="R93564d127d7240ca" /><Relationship Type="http://schemas.openxmlformats.org/officeDocument/2006/relationships/slide" Target="/ppt/slides/slide9.xml" Id="R51fa976214054bed" /><Relationship Type="http://schemas.openxmlformats.org/officeDocument/2006/relationships/slide" Target="/ppt/slides/slide10.xml" Id="R75473de9f1e54a0c" /><Relationship Type="http://schemas.openxmlformats.org/officeDocument/2006/relationships/slide" Target="/ppt/slides/slide11.xml" Id="R929a5f15312842ec" /><Relationship Type="http://schemas.openxmlformats.org/officeDocument/2006/relationships/slide" Target="/ppt/slides/slide12.xml" Id="R6d41d63b99d74e51" /><Relationship Type="http://schemas.openxmlformats.org/officeDocument/2006/relationships/slide" Target="/ppt/slides/slide13.xml" Id="Rdfdfd9ee2287428a" /><Relationship Type="http://schemas.openxmlformats.org/officeDocument/2006/relationships/slide" Target="/ppt/slides/slide14.xml" Id="R73105481d96e42b2" /><Relationship Type="http://schemas.openxmlformats.org/officeDocument/2006/relationships/slide" Target="/ppt/slides/slide15.xml" Id="R6b7ddfb8e1f94287" /><Relationship Type="http://schemas.openxmlformats.org/officeDocument/2006/relationships/slide" Target="/ppt/slides/slide16.xml" Id="R20a6803db9ed4036" /><Relationship Type="http://schemas.openxmlformats.org/officeDocument/2006/relationships/slide" Target="/ppt/slides/slide17.xml" Id="R4c9bbf9ea9ed4e1c" /><Relationship Type="http://schemas.openxmlformats.org/officeDocument/2006/relationships/slide" Target="/ppt/slides/slide18.xml" Id="R5e596997d58d4e81" /><Relationship Type="http://schemas.openxmlformats.org/officeDocument/2006/relationships/slide" Target="/ppt/slides/slide19.xml" Id="R93502c16feba4b66" /><Relationship Type="http://schemas.openxmlformats.org/officeDocument/2006/relationships/slide" Target="/ppt/slides/slide20.xml" Id="Rd16e6a11fc064c4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da49fcc73f2487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614c78b7074e7b" /><Relationship Type="http://schemas.openxmlformats.org/officeDocument/2006/relationships/notesMaster" Target="/ppt/notesMasters/notesMaster1.xml" Id="Rad3b3165aff649ff" /></Relationships>
</file>

<file path=ppt/notesSlides/_rels/notesSlide2.xml.rels>&#65279;<?xml version="1.0" encoding="utf-8"?><Relationships xmlns="http://schemas.openxmlformats.org/package/2006/relationships"><Relationship Type="http://schemas.openxmlformats.org/officeDocument/2006/relationships/slide" Target="/ppt/slides/slide2.xml" Id="Rd323bd3da8c943c1" /><Relationship Type="http://schemas.openxmlformats.org/officeDocument/2006/relationships/notesMaster" Target="/ppt/notesMasters/notesMaster1.xml" Id="R84149439328f44a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7071286abc049ea" /><Relationship Type="http://schemas.openxmlformats.org/officeDocument/2006/relationships/notesMaster" Target="/ppt/notesMasters/notesMaster1.xml" Id="R4f7615c0f6164c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240f40b62daa464e" /><Relationship Type="http://schemas.openxmlformats.org/officeDocument/2006/relationships/notesMaster" Target="/ppt/notesMasters/notesMaster1.xml" Id="Rbcc345260fae454b" /></Relationships>
</file>

<file path=ppt/notesSlides/_rels/notesSlide5.xml.rels>&#65279;<?xml version="1.0" encoding="utf-8"?><Relationships xmlns="http://schemas.openxmlformats.org/package/2006/relationships"><Relationship Type="http://schemas.openxmlformats.org/officeDocument/2006/relationships/slide" Target="/ppt/slides/slide5.xml" Id="R06dad80ccf334cb6" /><Relationship Type="http://schemas.openxmlformats.org/officeDocument/2006/relationships/notesMaster" Target="/ppt/notesMasters/notesMaster1.xml" Id="R05e1e8b740254c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ed928781c54093" /><Relationship Type="http://schemas.openxmlformats.org/officeDocument/2006/relationships/notesMaster" Target="/ppt/notesMasters/notesMaster1.xml" Id="R499348d433ec4dbc" /></Relationships>
</file>

<file path=ppt/notesSlides/_rels/notesSlide7.xml.rels>&#65279;<?xml version="1.0" encoding="utf-8"?><Relationships xmlns="http://schemas.openxmlformats.org/package/2006/relationships"><Relationship Type="http://schemas.openxmlformats.org/officeDocument/2006/relationships/slide" Target="/ppt/slides/slide7.xml" Id="Rb15daa7ca5ee4f04" /><Relationship Type="http://schemas.openxmlformats.org/officeDocument/2006/relationships/notesMaster" Target="/ppt/notesMasters/notesMaster1.xml" Id="Re996600e0a874301" /></Relationships>
</file>

<file path=ppt/notesSlides/_rels/notesSlide8.xml.rels>&#65279;<?xml version="1.0" encoding="utf-8"?><Relationships xmlns="http://schemas.openxmlformats.org/package/2006/relationships"><Relationship Type="http://schemas.openxmlformats.org/officeDocument/2006/relationships/slide" Target="/ppt/slides/slide8.xml" Id="R543576b6a7634231" /><Relationship Type="http://schemas.openxmlformats.org/officeDocument/2006/relationships/notesMaster" Target="/ppt/notesMasters/notesMaster1.xml" Id="Rdb09f46802614f5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6ad8d36bf74497f" /><Relationship Type="http://schemas.openxmlformats.org/officeDocument/2006/relationships/notesMaster" Target="/ppt/notesMasters/notesMaster1.xml" Id="R37eaeb42cf40412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833e364d0541b4" /><Relationship Type="http://schemas.openxmlformats.org/officeDocument/2006/relationships/notesMaster" Target="/ppt/notesMasters/notesMaster1.xml" Id="R7851a9f7662749d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7f280fbf87142a8" /><Relationship Type="http://schemas.openxmlformats.org/officeDocument/2006/relationships/notesMaster" Target="/ppt/notesMasters/notesMaster1.xml" Id="R60bca6828300416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dc2aeec6221415b" /><Relationship Type="http://schemas.openxmlformats.org/officeDocument/2006/relationships/notesMaster" Target="/ppt/notesMasters/notesMaster1.xml" Id="Rc2417b9be1d8486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6d6c5e733a9420a" /><Relationship Type="http://schemas.openxmlformats.org/officeDocument/2006/relationships/notesMaster" Target="/ppt/notesMasters/notesMaster1.xml" Id="R79f20dc972e4471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fdddf5346a04735" /><Relationship Type="http://schemas.openxmlformats.org/officeDocument/2006/relationships/notesMaster" Target="/ppt/notesMasters/notesMaster1.xml" Id="Rdff5ac286c904d4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a8a382f778a448e7" /><Relationship Type="http://schemas.openxmlformats.org/officeDocument/2006/relationships/notesMaster" Target="/ppt/notesMasters/notesMaster1.xml" Id="R098f6ba88ab64d5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ed6a289f97141cf" /><Relationship Type="http://schemas.openxmlformats.org/officeDocument/2006/relationships/notesMaster" Target="/ppt/notesMasters/notesMaster1.xml" Id="R1ef43ed71741461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c07e424d94f434f" /><Relationship Type="http://schemas.openxmlformats.org/officeDocument/2006/relationships/notesMaster" Target="/ppt/notesMasters/notesMaster1.xml" Id="R0251eb916d4b4c5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fa6e891e9304934" /><Relationship Type="http://schemas.openxmlformats.org/officeDocument/2006/relationships/notesMaster" Target="/ppt/notesMasters/notesMaster1.xml" Id="R617ec89bd93f48c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77e77fe40e24f76" /><Relationship Type="http://schemas.openxmlformats.org/officeDocument/2006/relationships/notesMaster" Target="/ppt/notesMasters/notesMaster1.xml" Id="R61c6dda2ebe8450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21ebe6792564a71" /><Relationship Type="http://schemas.openxmlformats.org/officeDocument/2006/relationships/notesMaster" Target="/ppt/notesMasters/notesMaster1.xml" Id="R59d27a283cd04e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deck follows the study 'Why Humans Are Not Just Material.' The question is deliberately concrete: is a human being nothing more than a physical-chemical body? The deck gives three answers - Madhyasth Darshan, mainstream science, and Advaita Vedanta - in a strictly parallel structure, then compares and critically reviews all three.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standpoint is a scientist-technologist asking the question in good faith, not to defend a foregone conclusion. The three answers disagree at the deepest level - about what a human is, whether the world is real, and what survives death - so the comparison is genuine, not cosmetic.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Rather than walk each view from start to finish, the deck compares the three on the same axis. First the phenomenological argument — the same lived, first-person experience read three ways (Madhyasth Darshan, science, Advaita). Then the ontological argument — what each says actually exists. Method, comparison, and critical review follow. Leading with lived experience gives the audience the felt sense that a human is more than a body before any metaphysics is introduced.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everyday observations, each available to inward inspection: a second kind of fulfilment, a more-than-bodily wanting, a self presented as distinct from its body, and an unlearned moral demand. Madhyasth Darshan's claim is that materialism fails not only in the lab but in the first person, every day, in everyone.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four cards answer Madhyasth Darshan's four phenomenological observations one-for-one, each with a material mechanism. Science's warrant is inter-subjective verification, which parallels MD's demand for evidence in conduct but restricts proof to what independent observers can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Madhyasth Darshan and Advaita begin from the same first-person data - the felt self/body distinction, the sleep observation - but stop at different stations. Advaita's five sheaths are the very koshas MD affirms as functional equipment; Advaita negates them progressively to reveal the witness beyond all layers.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whole system rests on one ontological claim: existence includes physical, chemical, AND jeevan entities. Madhyasth Darshan rejects both inherited pictures - human-as-clever-animal and human-as-unknowable-mystery - as failures to study the human being as it actually 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Material and biological orders integrate, grow, and vitalise but have no hope to live. 'Hope to live' enters at the animal order - the threshold where a constitutionally complete sentient unit, the jeevan, appears. In the knowledge order the same jeevan works through a human body as a joint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densest step. Core claim first: constitutional completeness is a one-way threshold, and the completed atom IS the jeevan. Sentience is latency actualised, not magic emergence from dead matter. Post-death continuity is a distinct claim, inferred - not read off phenomenology. The heavy machinery lives in the Ontology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argument: different functions imply distinct bearers, so a human is a joint form, not a body. The knowledge order's unique work is to understand, evaluate, and responsibly use all of nature - the unfolding of knowledge occurs only through awakened jeevan, with the brain as medium. The koshas will reappear when Advaita negates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Science denies categorical orders, a constitutional sentient atom, and any entity over and above brain-and-body organisation. Each reply maps to one of Madhyasth Darshan's five ontological steps. 'Unique' (human cognition) is not 'non-physical' - it is what brains plus cumulative culture 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sharpest scientific objection and the study states it without flinching. Madhyasth Darshan's joint-form reading models coordination as state and order transmission, not energy injection - but the study concedes this remains an open problem, cross-referenced to the Ontology and Knowledge studies.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hard problem is the honest open edge of the scientific account. Panpsychism shows 'sentience in matter' is not a lone mystic's idea - but it is not established science. Madhyasth Darshan's rahasyata is a different epistemic bet: mystery is removable through study and aligned reflection, not a permanent opacity.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Advaita cuts deeper than joint form: not only is the body not the self, the mind and inner functionary (MD's jeevan) are also observable, hence not-self. The question is not answered but dissolved - there is ultimately no separate human and no independent material world.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begins with self-verification precisely because the phenomenological argument is checkable by anyone. But conduct closes the chain: understanding must be livable and conveyable. Whether that criterion can be operationalised in a controlled test is flagged as unsettled - the study does not overclaim.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grid lines up the three views on the questions that matter. Reading across any row shows exactly where they part company - the middle column (Madhyasth Darshan) holds the middle position on almost every row: a real self AND a real world.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pair of views agrees on something the third denies. This 'alliances' framing is the memorable payoff of the comparison: the debate is not two-sided but triangular, and Madhyasth Darshan's middle position is defined by which alliance it joins on each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 view escapes serious objection. Madhyasth Darshan is best read as an internally coherent, ethically rich proposal, not a demonstrated ontology. Science offers the strongest method but its claim to be the complete account is philosophy, not finding. Advaita is the most radical, at the price of demoting the world we live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honest close: the disagreement is philosophical, about what counts as evidence, not a dispute any single experiment resolves. The study names concretely what would move each side - a rare feature in comparative philosophy - and leaves the verdict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returning to the question. The three answers are parallel accounts, each internally coherent and each unproven from outside. Madhyasth Darshan's distinctive contribution is the middle path: a real, sentient self in a real, perpetual world, tested by lived conduct.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9102c9c1954a9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db3b1211bac46f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8b05fb25eb1488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0124654dd464e7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719e504c30b48d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7403ff7b65e41ad"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2c34edaefbbf42fe"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ccb24bf5950e4107"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380461dacd2e4f26"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d8fc16ad9ce94c5c"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bd8e55fac1034bbd"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97EB08D-DF19-4778-8DD2-15615344C0B0}"/>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079CCD51-B546-4176-8C36-9006006D7372}"/>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CF615923-9997-483F-96C2-B6968528BFB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B718663-9C15-48BF-82DD-563D7B69891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5910CCA1-FD7F-4FE5-9CDF-8A67F397C98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3708EFF-CF4E-4322-90CE-88D452783A7D}"/>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9C7653C2-802E-46DA-8CC8-788D1D72431E}"/>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24E39829-E6A4-42C6-804C-99640938489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ADB6854C-C23D-4A18-A5D6-F4F9670D0DB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8CE9F174-8210-4A9A-AA9F-D1994BB2928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BBED252-C0E2-4BB9-88EE-130CF6204022}"/>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4C6AF77D-FDA0-434A-8091-83E124DC02E7}"/>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C9CD4037-0F14-43BE-B036-5E5DC77C104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8D3B580D-7F1F-454D-AF10-B1E9ABF6991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3711AAD5-594C-4681-9256-C4CA7193D32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5B32C7C-AC2B-434A-B3D1-850D2740640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D21FF63D-27F9-46C1-B9EB-DF0F59F75E31}"/>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Content Placeholder 3">
            <a:extLst xmlns:a="http://schemas.openxmlformats.org/drawingml/2006/main">
              <a:ext uri="{FF2B5EF4-FFF2-40B4-BE49-F238E27FC236}">
                <a16:creationId xmlns:a16="http://schemas.microsoft.com/office/drawing/2014/main" id="{60174665-8289-4549-BF3B-550705EA41E8}"/>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Date Placeholder 4">
            <a:extLst xmlns:a="http://schemas.openxmlformats.org/drawingml/2006/main">
              <a:ext uri="{FF2B5EF4-FFF2-40B4-BE49-F238E27FC236}">
                <a16:creationId xmlns:a16="http://schemas.microsoft.com/office/drawing/2014/main" id="{52C985AB-764A-452F-9B2D-F31D6026A5E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1F6984C0-7F88-49F1-B312-193C75338B4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DDECA985-3E4D-4D4B-BE42-5E695509935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6247B1A-765B-49A4-B567-DA94E03E97A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7F8095C3-3939-4DF0-9FD0-D7B765F90BA1}"/>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564525B1-20E6-448D-AA8D-0E158F624976}"/>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5" name="Text Placeholder 4">
            <a:extLst xmlns:a="http://schemas.openxmlformats.org/drawingml/2006/main">
              <a:ext uri="{FF2B5EF4-FFF2-40B4-BE49-F238E27FC236}">
                <a16:creationId xmlns:a16="http://schemas.microsoft.com/office/drawing/2014/main" id="{9784F425-2E0E-4CD2-81A3-5465A29A326D}"/>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975CF164-AF0D-4103-BAFA-9B27037FA97A}"/>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7" name="Date Placeholder 6">
            <a:extLst xmlns:a="http://schemas.openxmlformats.org/drawingml/2006/main">
              <a:ext uri="{FF2B5EF4-FFF2-40B4-BE49-F238E27FC236}">
                <a16:creationId xmlns:a16="http://schemas.microsoft.com/office/drawing/2014/main" id="{5FDBDC35-BE49-493B-A3DE-92435B91DA5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8" name="Footer Placeholder 7">
            <a:extLst xmlns:a="http://schemas.openxmlformats.org/drawingml/2006/main">
              <a:ext uri="{FF2B5EF4-FFF2-40B4-BE49-F238E27FC236}">
                <a16:creationId xmlns:a16="http://schemas.microsoft.com/office/drawing/2014/main" id="{B9F6195E-ACEA-4135-BB08-EB49741BDF4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9" name="Slide Number Placeholder 8">
            <a:extLst xmlns:a="http://schemas.openxmlformats.org/drawingml/2006/main">
              <a:ext uri="{FF2B5EF4-FFF2-40B4-BE49-F238E27FC236}">
                <a16:creationId xmlns:a16="http://schemas.microsoft.com/office/drawing/2014/main" id="{47DADA27-0F01-4888-A698-9F0E1976186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DEF3088-545E-42D9-BB03-04BD1C2A8A7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3AA1A773-C622-4DEB-A51B-FFBCAA2C3A0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4" name="Footer Placeholder 3">
            <a:extLst xmlns:a="http://schemas.openxmlformats.org/drawingml/2006/main">
              <a:ext uri="{FF2B5EF4-FFF2-40B4-BE49-F238E27FC236}">
                <a16:creationId xmlns:a16="http://schemas.microsoft.com/office/drawing/2014/main" id="{27E9C17E-406C-44D7-9C1C-7F9AC2233FF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4">
            <a:extLst xmlns:a="http://schemas.openxmlformats.org/drawingml/2006/main">
              <a:ext uri="{FF2B5EF4-FFF2-40B4-BE49-F238E27FC236}">
                <a16:creationId xmlns:a16="http://schemas.microsoft.com/office/drawing/2014/main" id="{1CD84F14-5124-4397-8C15-49025AE4EF7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8BED4E74-5F22-455E-9B02-F9FD9C88988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3" name="Footer Placeholder 2">
            <a:extLst xmlns:a="http://schemas.openxmlformats.org/drawingml/2006/main">
              <a:ext uri="{FF2B5EF4-FFF2-40B4-BE49-F238E27FC236}">
                <a16:creationId xmlns:a16="http://schemas.microsoft.com/office/drawing/2014/main" id="{7EDA1314-1F6F-4B54-BDDE-AA603C7B18F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4" name="Slide Number Placeholder 3">
            <a:extLst xmlns:a="http://schemas.openxmlformats.org/drawingml/2006/main">
              <a:ext uri="{FF2B5EF4-FFF2-40B4-BE49-F238E27FC236}">
                <a16:creationId xmlns:a16="http://schemas.microsoft.com/office/drawing/2014/main" id="{C5B7C87C-4C75-4ED9-9F71-1FC448C45C4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0CC4D9D-C5B3-4D2D-8EF4-BD88FAEF2034}"/>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647A0D82-6403-4B2D-9BD3-21A9939196BE}"/>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Text Placeholder 3">
            <a:extLst xmlns:a="http://schemas.openxmlformats.org/drawingml/2006/main">
              <a:ext uri="{FF2B5EF4-FFF2-40B4-BE49-F238E27FC236}">
                <a16:creationId xmlns:a16="http://schemas.microsoft.com/office/drawing/2014/main" id="{057F87CA-9013-439C-AE67-E5673852014E}"/>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D506AAA-ACB5-4A68-BD6B-64904E942A2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83037FE2-97E7-4432-BF54-999033BBB49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49DB559E-82A8-4B76-8CA1-AB27FC375FC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C94739D-2EE8-457F-BA14-B70BE23E75BD}"/>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C46C7087-AA1E-41D6-88E7-08CACAD81164}"/>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p:txBody>
      </p:sp>
      <p:sp>
        <p:nvSpPr>
          <p:cNvPr id="4" name="Text Placeholder 3">
            <a:extLst xmlns:a="http://schemas.openxmlformats.org/drawingml/2006/main">
              <a:ext uri="{FF2B5EF4-FFF2-40B4-BE49-F238E27FC236}">
                <a16:creationId xmlns:a16="http://schemas.microsoft.com/office/drawing/2014/main" id="{C78690DB-9EAA-42C8-88D4-11FE465650C9}"/>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C856A84C-D176-44F5-8DF4-C06FFE79565D}"/>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6" name="Footer Placeholder 5">
            <a:extLst xmlns:a="http://schemas.openxmlformats.org/drawingml/2006/main">
              <a:ext uri="{FF2B5EF4-FFF2-40B4-BE49-F238E27FC236}">
                <a16:creationId xmlns:a16="http://schemas.microsoft.com/office/drawing/2014/main" id="{15A8D1B6-4A51-4024-9D4E-52EAF1D92A4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7" name="Slide Number Placeholder 6">
            <a:extLst xmlns:a="http://schemas.openxmlformats.org/drawingml/2006/main">
              <a:ext uri="{FF2B5EF4-FFF2-40B4-BE49-F238E27FC236}">
                <a16:creationId xmlns:a16="http://schemas.microsoft.com/office/drawing/2014/main" id="{9D691124-FE33-4ED7-8AC7-B5D554C6FA1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974829C-EFC0-413A-B071-3A0E32FD1AD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5F1189D5-42E4-4A2A-A47C-F2BE53431D12}"/>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077E091D-244E-4C2A-9DDD-C0E6C3DDCC9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4A7D3828-1C2C-46BE-9CBE-144DB718F8A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140A89E9-F1F3-483A-8DB2-2151F173F09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A553277C-157F-453F-9CBF-40110D128F36}"/>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B0FD965C-ED7C-4BC8-B102-1616F46909D0}"/>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DFB906B3-7EB6-4752-AC7D-EE8619D6C97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9569B878-0454-4F69-A54B-6B9B02A1ADD4}"/>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9AE851E1-3182-47C0-BF25-12BB6355F91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eb9ace01d84c5c" /><Relationship Type="http://schemas.openxmlformats.org/officeDocument/2006/relationships/slideLayout" Target="/ppt/slideLayouts/slideLayout1.xml" Id="Rb80b8569113a4d9a" /><Relationship Type="http://schemas.openxmlformats.org/officeDocument/2006/relationships/slideLayout" Target="/ppt/slideLayouts/slideLayout2.xml" Id="R68b5ebf037854f46" /><Relationship Type="http://schemas.openxmlformats.org/officeDocument/2006/relationships/slideLayout" Target="/ppt/slideLayouts/slideLayout3.xml" Id="Rfb010ed3d3ce4e00" /><Relationship Type="http://schemas.openxmlformats.org/officeDocument/2006/relationships/slideLayout" Target="/ppt/slideLayouts/slideLayout4.xml" Id="Rd5e2c591e8c94d09" /><Relationship Type="http://schemas.openxmlformats.org/officeDocument/2006/relationships/slideLayout" Target="/ppt/slideLayouts/slideLayout5.xml" Id="R978288bd62f646e4" /><Relationship Type="http://schemas.openxmlformats.org/officeDocument/2006/relationships/slideLayout" Target="/ppt/slideLayouts/slideLayout6.xml" Id="Raee95c2632964389" /><Relationship Type="http://schemas.openxmlformats.org/officeDocument/2006/relationships/slideLayout" Target="/ppt/slideLayouts/slideLayout7.xml" Id="R6e7e4e88458c44bd" /><Relationship Type="http://schemas.openxmlformats.org/officeDocument/2006/relationships/slideLayout" Target="/ppt/slideLayouts/slideLayout8.xml" Id="R0be1e4a869c9441f" /><Relationship Type="http://schemas.openxmlformats.org/officeDocument/2006/relationships/slideLayout" Target="/ppt/slideLayouts/slideLayout9.xml" Id="R8d2303170041420a" /><Relationship Type="http://schemas.openxmlformats.org/officeDocument/2006/relationships/slideLayout" Target="/ppt/slideLayouts/slideLayout10.xml" Id="R99b68b6dd5194b6d" /><Relationship Type="http://schemas.openxmlformats.org/officeDocument/2006/relationships/slideLayout" Target="/ppt/slideLayouts/slideLayout11.xml" Id="R3bd586aad0b64bf0"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AE92C774-1A61-4E12-AF1A-394CF0DE9E9A}"/>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ABFCAE8C-EF19-4E4E-BC73-B345A94FFCBC}"/>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a:buNone/>
            </a:pPr>
            <a:r>
              <a:t>Click to edit Master text styles</a:t>
            </a:r>
          </a:p>
          <a:p xmlns:a="http://schemas.openxmlformats.org/drawingml/2006/main">
            <a:pPr>
              <a:buNone/>
            </a:pPr>
            <a:r>
              <a:t>Second level</a:t>
            </a:r>
          </a:p>
          <a:p xmlns:a="http://schemas.openxmlformats.org/drawingml/2006/main">
            <a:pPr>
              <a:buNone/>
            </a:pPr>
            <a:r>
              <a:t>Third level</a:t>
            </a:r>
          </a:p>
          <a:p xmlns:a="http://schemas.openxmlformats.org/drawingml/2006/main">
            <a:pPr>
              <a:buNone/>
            </a:pPr>
            <a:r>
              <a:t>Fourth level</a:t>
            </a:r>
          </a:p>
          <a:p xmlns:a="http://schemas.openxmlformats.org/drawingml/2006/main">
            <a:pPr>
              <a:buNone/>
            </a:pPr>
            <a:r>
              <a:t>Fifth level</a:t>
            </a:r>
          </a:p>
        </p:txBody>
      </p:sp>
      <p:sp>
        <p:nvSpPr>
          <p:cNvPr id="4" name="Date Placeholder 3">
            <a:extLst xmlns:a="http://schemas.openxmlformats.org/drawingml/2006/main">
              <a:ext uri="{FF2B5EF4-FFF2-40B4-BE49-F238E27FC236}">
                <a16:creationId xmlns:a16="http://schemas.microsoft.com/office/drawing/2014/main" id="{62CC7B12-4E0A-4DF0-B0D9-B56A88D7CE8B}"/>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p>
        </p:txBody>
      </p:sp>
      <p:sp>
        <p:nvSpPr>
          <p:cNvPr id="5" name="Footer Placeholder 4">
            <a:extLst xmlns:a="http://schemas.openxmlformats.org/drawingml/2006/main">
              <a:ext uri="{FF2B5EF4-FFF2-40B4-BE49-F238E27FC236}">
                <a16:creationId xmlns:a16="http://schemas.microsoft.com/office/drawing/2014/main" id="{C1A7A632-801F-49BE-AB3C-5BAA82012B1D}"/>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p:txBody>
      </p:sp>
      <p:sp>
        <p:nvSpPr>
          <p:cNvPr id="6" name="Slide Number Placeholder 5">
            <a:extLst xmlns:a="http://schemas.openxmlformats.org/drawingml/2006/main">
              <a:ext uri="{FF2B5EF4-FFF2-40B4-BE49-F238E27FC236}">
                <a16:creationId xmlns:a16="http://schemas.microsoft.com/office/drawing/2014/main" id="{5FECC828-E9AF-4ADE-87D2-E1F004C46923}"/>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0b8569113a4d9a"/>
    <p:sldLayoutId xmlns:r="http://schemas.openxmlformats.org/officeDocument/2006/relationships" id="2147483650" r:id="R68b5ebf037854f46"/>
    <p:sldLayoutId xmlns:r="http://schemas.openxmlformats.org/officeDocument/2006/relationships" id="2147483651" r:id="Rfb010ed3d3ce4e00"/>
    <p:sldLayoutId xmlns:r="http://schemas.openxmlformats.org/officeDocument/2006/relationships" id="2147483652" r:id="Rd5e2c591e8c94d09"/>
    <p:sldLayoutId xmlns:r="http://schemas.openxmlformats.org/officeDocument/2006/relationships" id="2147483653" r:id="R978288bd62f646e4"/>
    <p:sldLayoutId xmlns:r="http://schemas.openxmlformats.org/officeDocument/2006/relationships" id="2147483654" r:id="Raee95c2632964389"/>
    <p:sldLayoutId xmlns:r="http://schemas.openxmlformats.org/officeDocument/2006/relationships" id="2147483655" r:id="R6e7e4e88458c44bd"/>
    <p:sldLayoutId xmlns:r="http://schemas.openxmlformats.org/officeDocument/2006/relationships" id="2147483656" r:id="R0be1e4a869c9441f"/>
    <p:sldLayoutId xmlns:r="http://schemas.openxmlformats.org/officeDocument/2006/relationships" id="2147483657" r:id="R8d2303170041420a"/>
    <p:sldLayoutId xmlns:r="http://schemas.openxmlformats.org/officeDocument/2006/relationships" id="2147483658" r:id="R99b68b6dd5194b6d"/>
    <p:sldLayoutId xmlns:r="http://schemas.openxmlformats.org/officeDocument/2006/relationships" id="2147483659" r:id="R3bd586aad0b64bf0"/>
  </p:sldLayoutIdLst>
  <p:txStyles>
    <p:titleStyle>
      <a:lvl1pPr xmlns:a="http://schemas.openxmlformats.org/drawingml/2006/main" algn="ctr">
        <a:buNone/>
        <a:defRPr sz="4400">
          <a:solidFill>
            <a:schemeClr val="tx1"/>
          </a:solidFill>
          <a:latin typeface="+mj-lt"/>
          <a:ea typeface="+mj-lt"/>
          <a:cs typeface="+mj-lt"/>
        </a:defRPr>
      </a:lvl1pPr>
    </p:titleStyle>
    <p:bodyStyle>
      <a:lvl1pPr xmlns:a="http://schemas.openxmlformats.org/drawingml/2006/main" marL="342900" indent="-342900" algn="l">
        <a:buChar char="•"/>
        <a:defRPr sz="3200">
          <a:solidFill>
            <a:schemeClr val="tx1"/>
          </a:solidFill>
          <a:latin typeface="+mn-lt"/>
          <a:ea typeface="+mn-lt"/>
          <a:cs typeface="+mn-lt"/>
        </a:defRPr>
      </a:lvl1pPr>
      <a:lvl2pPr xmlns:a="http://schemas.openxmlformats.org/drawingml/2006/main" marL="742950" indent="-285750" algn="l">
        <a:buChar char="–"/>
        <a:defRPr sz="2800">
          <a:solidFill>
            <a:schemeClr val="tx1"/>
          </a:solidFill>
          <a:latin typeface="+mn-lt"/>
          <a:ea typeface="+mn-lt"/>
          <a:cs typeface="+mn-lt"/>
        </a:defRPr>
      </a:lvl2pPr>
      <a:lvl3pPr xmlns:a="http://schemas.openxmlformats.org/drawingml/2006/main" marL="1143000" indent="-228600" algn="l">
        <a:buChar char="•"/>
        <a:defRPr sz="2400">
          <a:solidFill>
            <a:schemeClr val="tx1"/>
          </a:solidFill>
          <a:latin typeface="+mn-lt"/>
          <a:ea typeface="+mn-lt"/>
          <a:cs typeface="+mn-lt"/>
        </a:defRPr>
      </a:lvl3pPr>
      <a:lvl4pPr xmlns:a="http://schemas.openxmlformats.org/drawingml/2006/main" marL="1600200" indent="-228600" algn="l">
        <a:buChar char="–"/>
        <a:defRPr sz="2000">
          <a:solidFill>
            <a:schemeClr val="tx1"/>
          </a:solidFill>
          <a:latin typeface="+mn-lt"/>
          <a:ea typeface="+mn-lt"/>
          <a:cs typeface="+mn-lt"/>
        </a:defRPr>
      </a:lvl4pPr>
      <a:lvl5pPr xmlns:a="http://schemas.openxmlformats.org/drawingml/2006/main" marL="2057400" indent="-228600" algn="l">
        <a:buChar char="»"/>
        <a:defRPr sz="2000">
          <a:solidFill>
            <a:schemeClr val="tx1"/>
          </a:solidFill>
          <a:latin typeface="+mn-lt"/>
          <a:ea typeface="+mn-lt"/>
          <a:cs typeface="+mn-lt"/>
        </a:defRPr>
      </a:lvl5pPr>
      <a:lvl6pPr xmlns:a="http://schemas.openxmlformats.org/drawingml/2006/main" marL="2514600" indent="-228600" algn="l">
        <a:buChar char="•"/>
        <a:defRPr sz="2000">
          <a:solidFill>
            <a:schemeClr val="tx1"/>
          </a:solidFill>
          <a:latin typeface="+mn-lt"/>
          <a:ea typeface="+mn-lt"/>
          <a:cs typeface="+mn-lt"/>
        </a:defRPr>
      </a:lvl6pPr>
      <a:lvl7pPr xmlns:a="http://schemas.openxmlformats.org/drawingml/2006/main" marL="2971800" indent="-228600" algn="l">
        <a:buChar char="•"/>
        <a:defRPr sz="2000">
          <a:solidFill>
            <a:schemeClr val="tx1"/>
          </a:solidFill>
          <a:latin typeface="+mn-lt"/>
          <a:ea typeface="+mn-lt"/>
          <a:cs typeface="+mn-lt"/>
        </a:defRPr>
      </a:lvl7pPr>
      <a:lvl8pPr xmlns:a="http://schemas.openxmlformats.org/drawingml/2006/main" marL="3429000" indent="-228600" algn="l">
        <a:buChar char="•"/>
        <a:defRPr sz="2000">
          <a:solidFill>
            <a:schemeClr val="tx1"/>
          </a:solidFill>
          <a:latin typeface="+mn-lt"/>
          <a:ea typeface="+mn-lt"/>
          <a:cs typeface="+mn-lt"/>
        </a:defRPr>
      </a:lvl8pPr>
      <a:lvl9pPr xmlns:a="http://schemas.openxmlformats.org/drawingml/2006/main" marL="3886200" indent="-228600" algn="l">
        <a:buChar char="•"/>
        <a:defRPr sz="20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5544743dec134730" /><Relationship Type="http://schemas.openxmlformats.org/officeDocument/2006/relationships/notesSlide" Target="/ppt/notesSlides/notesSlide1.xml" Id="Rb651b8322759499e"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76c85bd36e4d4a19" /><Relationship Type="http://schemas.openxmlformats.org/officeDocument/2006/relationships/notesSlide" Target="/ppt/notesSlides/notesSlide2.xml" Id="Rbdcc69823eef432d"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98f75019702a4e9c" /><Relationship Type="http://schemas.openxmlformats.org/officeDocument/2006/relationships/notesSlide" Target="/ppt/notesSlides/notesSlide3.xml" Id="Re09121c3cafd4037"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c5c5543a0ae841a9" /><Relationship Type="http://schemas.openxmlformats.org/officeDocument/2006/relationships/notesSlide" Target="/ppt/notesSlides/notesSlide4.xml" Id="Rbfc70d81570f4a1e"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69270f1c6bc14df9" /><Relationship Type="http://schemas.openxmlformats.org/officeDocument/2006/relationships/notesSlide" Target="/ppt/notesSlides/notesSlide5.xml" Id="Rc798aea3573a4937"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6759ba56e18f471a" /><Relationship Type="http://schemas.openxmlformats.org/officeDocument/2006/relationships/notesSlide" Target="/ppt/notesSlides/notesSlide6.xml" Id="Rea786e1757bb4b21"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0c767f2317b8490c" /><Relationship Type="http://schemas.openxmlformats.org/officeDocument/2006/relationships/notesSlide" Target="/ppt/notesSlides/notesSlide7.xml" Id="Re6ac6883ad8b466c"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747338a5b7ba4b84" /><Relationship Type="http://schemas.openxmlformats.org/officeDocument/2006/relationships/notesSlide" Target="/ppt/notesSlides/notesSlide8.xml" Id="R35be52de16c041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3a7e2e86ff9a41ef" /><Relationship Type="http://schemas.openxmlformats.org/officeDocument/2006/relationships/notesSlide" Target="/ppt/notesSlides/notesSlide9.xml" Id="R1c50f22170e14c7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0db5b4626e064f41" /><Relationship Type="http://schemas.openxmlformats.org/officeDocument/2006/relationships/notesSlide" Target="/ppt/notesSlides/notesSlide10.xml" Id="R1cd81ae1c1054bc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e4b6e65a83de4dbf" /><Relationship Type="http://schemas.openxmlformats.org/officeDocument/2006/relationships/notesSlide" Target="/ppt/notesSlides/notesSlide11.xml" Id="R2a55d3f7bf7f46b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6b73cc57b4264765" /><Relationship Type="http://schemas.openxmlformats.org/officeDocument/2006/relationships/notesSlide" Target="/ppt/notesSlides/notesSlide12.xml" Id="Rd2fcc9cb90984c5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7.xml" Id="R7fea923841a146dd" /><Relationship Type="http://schemas.openxmlformats.org/officeDocument/2006/relationships/notesSlide" Target="/ppt/notesSlides/notesSlide13.xml" Id="R881b2916ce9f4a4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7.xml" Id="R3b9581f4c29a4670" /><Relationship Type="http://schemas.openxmlformats.org/officeDocument/2006/relationships/notesSlide" Target="/ppt/notesSlides/notesSlide14.xml" Id="R6f58b897206c45e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7.xml" Id="Rd23401313fc8446b" /><Relationship Type="http://schemas.openxmlformats.org/officeDocument/2006/relationships/notesSlide" Target="/ppt/notesSlides/notesSlide15.xml" Id="R5a64d6ca7c7946d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7.xml" Id="R0212521a5eae4fc8" /><Relationship Type="http://schemas.openxmlformats.org/officeDocument/2006/relationships/notesSlide" Target="/ppt/notesSlides/notesSlide16.xml" Id="Rb63e1138c27c4cf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7.xml" Id="R9eb0f9177a7942c4" /><Relationship Type="http://schemas.openxmlformats.org/officeDocument/2006/relationships/notesSlide" Target="/ppt/notesSlides/notesSlide17.xml" Id="R5202de826bfd455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7.xml" Id="R97c90916953e4926" /><Relationship Type="http://schemas.openxmlformats.org/officeDocument/2006/relationships/notesSlide" Target="/ppt/notesSlides/notesSlide18.xml" Id="Rf1d01e8c5eff488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7.xml" Id="Ra9ea8f8a5d40445a" /><Relationship Type="http://schemas.openxmlformats.org/officeDocument/2006/relationships/notesSlide" Target="/ppt/notesSlides/notesSlide19.xml" Id="R4fab61ec738447d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7.xml" Id="R0dfbf7e6868941b5" /><Relationship Type="http://schemas.openxmlformats.org/officeDocument/2006/relationships/notesSlide" Target="/ppt/notesSlides/notesSlide20.xml" Id="Rd63d68fcbf9b4b6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BEAEEFB-4620-4396-B206-1CE1212B966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5C9586D2-F475-4514-8FA1-84AEE76E21AC}"/>
              </a:ext>
            </a:extLst>
          </p:cNvPr>
          <p:cNvSpPr>
            <a:spLocks xmlns:a="http://schemas.openxmlformats.org/drawingml/2006/main" noGrp="1"/>
          </p:cNvSpPr>
          <p:nvPr/>
        </p:nvSpPr>
        <p:spPr>
          <a:xfrm xmlns:a="http://schemas.openxmlformats.org/drawingml/2006/main">
            <a:off x="7589520" y="1005840"/>
            <a:ext cx="4206240" cy="4206240"/>
          </a:xfrm>
          <a:prstGeom xmlns:a="http://schemas.openxmlformats.org/drawingml/2006/main" prst="ellipse">
            <a:avLst/>
          </a:prstGeom>
          <a:noFill xmlns:a="http://schemas.openxmlformats.org/drawingml/2006/main"/>
          <a:ln xmlns:a="http://schemas.openxmlformats.org/drawingml/2006/main" w="1778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B378FBE7-27DC-466A-805B-D871BDFC1325}"/>
              </a:ext>
            </a:extLst>
          </p:cNvPr>
          <p:cNvSpPr>
            <a:spLocks xmlns:a="http://schemas.openxmlformats.org/drawingml/2006/main" noGrp="1"/>
          </p:cNvSpPr>
          <p:nvPr/>
        </p:nvSpPr>
        <p:spPr>
          <a:xfrm xmlns:a="http://schemas.openxmlformats.org/drawingml/2006/main">
            <a:off x="8435340" y="1851660"/>
            <a:ext cx="2514600" cy="2514600"/>
          </a:xfrm>
          <a:prstGeom xmlns:a="http://schemas.openxmlformats.org/drawingml/2006/main" prst="ellipse">
            <a:avLst/>
          </a:prstGeom>
          <a:noFill xmlns:a="http://schemas.openxmlformats.org/drawingml/2006/main"/>
          <a:ln xmlns:a="http://schemas.openxmlformats.org/drawingml/2006/main" w="1524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41B16C06-9587-459B-BD8A-61931CD95BF5}"/>
              </a:ext>
            </a:extLst>
          </p:cNvPr>
          <p:cNvSpPr>
            <a:spLocks xmlns:a="http://schemas.openxmlformats.org/drawingml/2006/main" noGrp="1"/>
          </p:cNvSpPr>
          <p:nvPr/>
        </p:nvSpPr>
        <p:spPr>
          <a:xfrm xmlns:a="http://schemas.openxmlformats.org/drawingml/2006/main">
            <a:off x="9144000" y="2560320"/>
            <a:ext cx="1097280" cy="1097280"/>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Oval 5">
            <a:extLst xmlns:a="http://schemas.openxmlformats.org/drawingml/2006/main">
              <a:ext uri="{FF2B5EF4-FFF2-40B4-BE49-F238E27FC236}">
                <a16:creationId xmlns:a16="http://schemas.microsoft.com/office/drawing/2014/main" id="{4816D34F-3020-4F7A-A183-49330073D4CA}"/>
              </a:ext>
            </a:extLst>
          </p:cNvPr>
          <p:cNvSpPr>
            <a:spLocks xmlns:a="http://schemas.openxmlformats.org/drawingml/2006/main" noGrp="1"/>
          </p:cNvSpPr>
          <p:nvPr/>
        </p:nvSpPr>
        <p:spPr>
          <a:xfrm xmlns:a="http://schemas.openxmlformats.org/drawingml/2006/main">
            <a:off x="7246620" y="4411980"/>
            <a:ext cx="1051560" cy="1051560"/>
          </a:xfrm>
          <a:prstGeom xmlns:a="http://schemas.openxmlformats.org/drawingml/2006/main" prst="ellipse">
            <a:avLst/>
          </a:prstGeom>
          <a:noFill xmlns:a="http://schemas.openxmlformats.org/drawingml/2006/main"/>
          <a:ln xmlns:a="http://schemas.openxmlformats.org/drawingml/2006/main" w="1524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Oval 6">
            <a:extLst xmlns:a="http://schemas.openxmlformats.org/drawingml/2006/main">
              <a:ext uri="{FF2B5EF4-FFF2-40B4-BE49-F238E27FC236}">
                <a16:creationId xmlns:a16="http://schemas.microsoft.com/office/drawing/2014/main" id="{C7E6948C-F13F-4027-8D05-8D0A7D4D1AC7}"/>
              </a:ext>
            </a:extLst>
          </p:cNvPr>
          <p:cNvSpPr>
            <a:spLocks xmlns:a="http://schemas.openxmlformats.org/drawingml/2006/main" noGrp="1"/>
          </p:cNvSpPr>
          <p:nvPr/>
        </p:nvSpPr>
        <p:spPr>
          <a:xfrm xmlns:a="http://schemas.openxmlformats.org/drawingml/2006/main">
            <a:off x="7580375" y="4745736"/>
            <a:ext cx="384048" cy="384048"/>
          </a:xfrm>
          <a:prstGeom xmlns:a="http://schemas.openxmlformats.org/drawingml/2006/main" prst="ellipse">
            <a:avLst/>
          </a:prstGeom>
          <a:solidFill xmlns:a="http://schemas.openxmlformats.org/drawingml/2006/main">
            <a:srgbClr val="C9D4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Oval 7">
            <a:extLst xmlns:a="http://schemas.openxmlformats.org/drawingml/2006/main">
              <a:ext uri="{FF2B5EF4-FFF2-40B4-BE49-F238E27FC236}">
                <a16:creationId xmlns:a16="http://schemas.microsoft.com/office/drawing/2014/main" id="{BB312238-87FB-455C-BA2F-ADE78AFE7A23}"/>
              </a:ext>
            </a:extLst>
          </p:cNvPr>
          <p:cNvSpPr>
            <a:spLocks xmlns:a="http://schemas.openxmlformats.org/drawingml/2006/main" noGrp="1"/>
          </p:cNvSpPr>
          <p:nvPr/>
        </p:nvSpPr>
        <p:spPr>
          <a:xfrm xmlns:a="http://schemas.openxmlformats.org/drawingml/2006/main">
            <a:off x="10904220" y="4869180"/>
            <a:ext cx="685800" cy="685800"/>
          </a:xfrm>
          <a:prstGeom xmlns:a="http://schemas.openxmlformats.org/drawingml/2006/main" prst="ellipse">
            <a:avLst/>
          </a:prstGeom>
          <a:noFill xmlns:a="http://schemas.openxmlformats.org/drawingml/2006/main"/>
          <a:ln xmlns:a="http://schemas.openxmlformats.org/drawingml/2006/main" w="1270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DB7D7330-A73E-4224-A94C-612F3B30361F}"/>
              </a:ext>
            </a:extLst>
          </p:cNvPr>
          <p:cNvSpPr>
            <a:spLocks xmlns:a="http://schemas.openxmlformats.org/drawingml/2006/main" noGrp="1"/>
          </p:cNvSpPr>
          <p:nvPr/>
        </p:nvSpPr>
        <p:spPr>
          <a:xfrm xmlns:a="http://schemas.openxmlformats.org/drawingml/2006/main">
            <a:off x="11119104" y="5084064"/>
            <a:ext cx="256032" cy="256032"/>
          </a:xfrm>
          <a:prstGeom xmlns:a="http://schemas.openxmlformats.org/drawingml/2006/main" prst="ellipse">
            <a:avLst/>
          </a:prstGeom>
          <a:solidFill xmlns:a="http://schemas.openxmlformats.org/drawingml/2006/main">
            <a:srgbClr val="C9D4E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BF212A3E-133E-42C7-B908-3E323D182362}"/>
              </a:ext>
            </a:extLst>
          </p:cNvPr>
          <p:cNvSpPr>
            <a:spLocks xmlns:a="http://schemas.openxmlformats.org/drawingml/2006/main" noGrp="1"/>
          </p:cNvSpPr>
          <p:nvPr/>
        </p:nvSpPr>
        <p:spPr>
          <a:xfrm xmlns:a="http://schemas.openxmlformats.org/drawingml/2006/main">
            <a:off x="868680" y="1737360"/>
            <a:ext cx="6858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C9821E"/>
                </a:solidFill>
                <a:latin typeface="Calibri"/>
                <a:ea typeface="Calibri"/>
                <a:cs typeface="Calibri"/>
              </a:rPr>
              <a:t>MADHYASTH DARSHAN  ·  CO-EXISTENTIALISM</a:t>
            </a:r>
          </a:p>
        </p:txBody>
      </p:sp>
      <p:sp>
        <p:nvSpPr>
          <p:cNvPr id="11" name="TextBox 10">
            <a:extLst xmlns:a="http://schemas.openxmlformats.org/drawingml/2006/main">
              <a:ext uri="{FF2B5EF4-FFF2-40B4-BE49-F238E27FC236}">
                <a16:creationId xmlns:a16="http://schemas.microsoft.com/office/drawing/2014/main" id="{B20912B1-11A9-42BC-96B0-2C1B038ADC7E}"/>
              </a:ext>
            </a:extLst>
          </p:cNvPr>
          <p:cNvSpPr>
            <a:spLocks xmlns:a="http://schemas.openxmlformats.org/drawingml/2006/main" noGrp="1"/>
          </p:cNvSpPr>
          <p:nvPr/>
        </p:nvSpPr>
        <p:spPr>
          <a:xfrm xmlns:a="http://schemas.openxmlformats.org/drawingml/2006/main">
            <a:off x="822960" y="2148840"/>
            <a:ext cx="6949440" cy="16459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4400" b="1" i="0">
                <a:solidFill>
                  <a:srgbClr val="FFFFFF"/>
                </a:solidFill>
                <a:latin typeface="Cambria"/>
                <a:ea typeface="Cambria"/>
                <a:cs typeface="Cambria"/>
              </a:rPr>
              <a:t>Why Humans Are Not</a:t>
            </a:r>
          </a:p>
          <a:p xmlns:a="http://schemas.openxmlformats.org/drawingml/2006/main">
            <a:pPr algn="l">
              <a:lnSpc>
                <a:spcPct val="100000"/>
              </a:lnSpc>
              <a:spcBef>
                <a:spcPts val="0"/>
              </a:spcBef>
              <a:spcAft>
                <a:spcPts val="400"/>
              </a:spcAft>
              <a:buNone/>
            </a:pPr>
            <a:r>
              <a:rPr sz="4400" b="1" i="0">
                <a:solidFill>
                  <a:srgbClr val="FFFFFF"/>
                </a:solidFill>
                <a:latin typeface="Cambria"/>
                <a:ea typeface="Cambria"/>
                <a:cs typeface="Cambria"/>
              </a:rPr>
              <a:t>Just Material</a:t>
            </a:r>
          </a:p>
        </p:txBody>
      </p:sp>
      <p:sp>
        <p:nvSpPr>
          <p:cNvPr id="12" name="TextBox 11">
            <a:extLst xmlns:a="http://schemas.openxmlformats.org/drawingml/2006/main">
              <a:ext uri="{FF2B5EF4-FFF2-40B4-BE49-F238E27FC236}">
                <a16:creationId xmlns:a16="http://schemas.microsoft.com/office/drawing/2014/main" id="{290D393F-ED77-43D9-A35B-0A11F09BF310}"/>
              </a:ext>
            </a:extLst>
          </p:cNvPr>
          <p:cNvSpPr>
            <a:spLocks xmlns:a="http://schemas.openxmlformats.org/drawingml/2006/main" noGrp="1"/>
          </p:cNvSpPr>
          <p:nvPr/>
        </p:nvSpPr>
        <p:spPr>
          <a:xfrm xmlns:a="http://schemas.openxmlformats.org/drawingml/2006/main">
            <a:off x="868680" y="4114800"/>
            <a:ext cx="658368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900" b="0" i="1">
                <a:solidFill>
                  <a:srgbClr val="C9D4EF"/>
                </a:solidFill>
                <a:latin typeface="Calibri"/>
                <a:ea typeface="Calibri"/>
                <a:cs typeface="Calibri"/>
              </a:rPr>
              <a:t>One question, three explanatory frameworks — Madhyasth Darshan, physicalism, and Advaita Vedanta</a:t>
            </a:r>
          </a:p>
        </p:txBody>
      </p:sp>
      <p:sp>
        <p:nvSpPr>
          <p:cNvPr id="13" name="TextBox 12">
            <a:extLst xmlns:a="http://schemas.openxmlformats.org/drawingml/2006/main">
              <a:ext uri="{FF2B5EF4-FFF2-40B4-BE49-F238E27FC236}">
                <a16:creationId xmlns:a16="http://schemas.microsoft.com/office/drawing/2014/main" id="{FB5B3B2E-3138-436D-8B2A-B42F9113EB94}"/>
              </a:ext>
            </a:extLst>
          </p:cNvPr>
          <p:cNvSpPr>
            <a:spLocks xmlns:a="http://schemas.openxmlformats.org/drawingml/2006/main" noGrp="1"/>
          </p:cNvSpPr>
          <p:nvPr/>
        </p:nvSpPr>
        <p:spPr>
          <a:xfrm xmlns:a="http://schemas.openxmlformats.org/drawingml/2006/main">
            <a:off x="868680" y="571500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8E9BC4"/>
                </a:solidFill>
                <a:latin typeface="Calibri"/>
                <a:ea typeface="Calibri"/>
                <a:cs typeface="Calibri"/>
              </a:rPr>
              <a:t>A comparative study of lived experience, ontology, evidence, and testability</a:t>
            </a:r>
          </a:p>
        </p:txBody>
      </p:sp>
      <p:sp>
        <p:nvSpPr>
          <p:cNvPr id="14" name="TextBox 13">
            <a:extLst xmlns:a="http://schemas.openxmlformats.org/drawingml/2006/main">
              <a:ext uri="{FF2B5EF4-FFF2-40B4-BE49-F238E27FC236}">
                <a16:creationId xmlns:a16="http://schemas.microsoft.com/office/drawing/2014/main" id="{AF80DB32-7FB8-4CB4-B190-1D27C4165251}"/>
              </a:ext>
            </a:extLst>
          </p:cNvPr>
          <p:cNvSpPr>
            <a:spLocks xmlns:a="http://schemas.openxmlformats.org/drawingml/2006/main" noGrp="1"/>
          </p:cNvSpPr>
          <p:nvPr/>
        </p:nvSpPr>
        <p:spPr>
          <a:xfrm xmlns:a="http://schemas.openxmlformats.org/drawingml/2006/main">
            <a:off x="868680" y="60350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8E9BC4"/>
                </a:solidFill>
                <a:latin typeface="Calibri"/>
                <a:ea typeface="Calibri"/>
                <a:cs typeface="Calibri"/>
              </a:rPr>
              <a:t>Primary texts of Madhyasth Darshan, by Shri A. Nagraj — MVD · SB · JV (tr. Rakesh Gupta)</a:t>
            </a:r>
          </a:p>
        </p:txBody>
      </p:sp>
    </p:spTree>
    <p:extLst>
      <p:ext uri="{BB962C8B-B14F-4D97-AF65-F5344CB8AC3E}">
        <p14:creationId xmlns:p14="http://schemas.microsoft.com/office/powerpoint/2010/main" val="131255521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76E215E-82ED-4683-AF7B-D5D1D36340F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FB3EEC60-6F3F-4716-9C7E-A6F8A3135ECD}"/>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A138B2E4-62C3-400A-A7E5-8CD706529BAB}"/>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F48A9A68-5A8A-434B-9747-22FECE366850}"/>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306BA5AF-4985-4E99-B26D-A44C5155CCDD}"/>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THE QUESTION</a:t>
            </a:r>
          </a:p>
        </p:txBody>
      </p:sp>
      <p:sp>
        <p:nvSpPr>
          <p:cNvPr id="7" name="TextBox 6">
            <a:extLst xmlns:a="http://schemas.openxmlformats.org/drawingml/2006/main">
              <a:ext uri="{FF2B5EF4-FFF2-40B4-BE49-F238E27FC236}">
                <a16:creationId xmlns:a16="http://schemas.microsoft.com/office/drawing/2014/main" id="{898CF95D-4019-4CDC-B01C-8224391508D5}"/>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Is a Human Just a Body?</a:t>
            </a:r>
          </a:p>
        </p:txBody>
      </p:sp>
      <p:sp>
        <p:nvSpPr>
          <p:cNvPr id="8" name="TextBox 7">
            <a:extLst xmlns:a="http://schemas.openxmlformats.org/drawingml/2006/main">
              <a:ext uri="{FF2B5EF4-FFF2-40B4-BE49-F238E27FC236}">
                <a16:creationId xmlns:a16="http://schemas.microsoft.com/office/drawing/2014/main" id="{4C9B5BB0-EA7B-47DD-820C-AF00C262124E}"/>
              </a:ext>
            </a:extLst>
          </p:cNvPr>
          <p:cNvSpPr>
            <a:spLocks xmlns:a="http://schemas.openxmlformats.org/drawingml/2006/main" noGrp="1"/>
          </p:cNvSpPr>
          <p:nvPr/>
        </p:nvSpPr>
        <p:spPr>
          <a:xfrm xmlns:a="http://schemas.openxmlformats.org/drawingml/2006/main">
            <a:off x="685800" y="1783080"/>
            <a:ext cx="107899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Physics describes the body’s composition and dynamics with extraordinary success. The unresolved step is whether those descriptions exhaust sentience, selfhood, value, and agency.</a:t>
            </a:r>
          </a:p>
        </p:txBody>
      </p:sp>
      <p:sp>
        <p:nvSpPr>
          <p:cNvPr id="9" name="Rounded Rectangle 8">
            <a:extLst xmlns:a="http://schemas.openxmlformats.org/drawingml/2006/main">
              <a:ext uri="{FF2B5EF4-FFF2-40B4-BE49-F238E27FC236}">
                <a16:creationId xmlns:a16="http://schemas.microsoft.com/office/drawing/2014/main" id="{A9184C6E-611A-4E0E-9D61-51A5B851D49A}"/>
              </a:ext>
            </a:extLst>
          </p:cNvPr>
          <p:cNvSpPr>
            <a:spLocks xmlns:a="http://schemas.openxmlformats.org/drawingml/2006/main" noGrp="1"/>
          </p:cNvSpPr>
          <p:nvPr/>
        </p:nvSpPr>
        <p:spPr>
          <a:xfrm xmlns:a="http://schemas.openxmlformats.org/drawingml/2006/main">
            <a:off x="685800" y="2880360"/>
            <a:ext cx="3429000" cy="22860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269A14B3-5580-4834-81BA-65E9BE1F230C}"/>
              </a:ext>
            </a:extLst>
          </p:cNvPr>
          <p:cNvSpPr>
            <a:spLocks xmlns:a="http://schemas.openxmlformats.org/drawingml/2006/main" noGrp="1"/>
          </p:cNvSpPr>
          <p:nvPr/>
        </p:nvSpPr>
        <p:spPr>
          <a:xfrm xmlns:a="http://schemas.openxmlformats.org/drawingml/2006/main">
            <a:off x="898855" y="307512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83162F66-2D40-4175-8C34-8FBA2834105D}"/>
              </a:ext>
            </a:extLst>
          </p:cNvPr>
          <p:cNvSpPr>
            <a:spLocks xmlns:a="http://schemas.openxmlformats.org/drawingml/2006/main" noGrp="1"/>
          </p:cNvSpPr>
          <p:nvPr/>
        </p:nvSpPr>
        <p:spPr>
          <a:xfrm xmlns:a="http://schemas.openxmlformats.org/drawingml/2006/main">
            <a:off x="977036" y="315330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B6C8F5CA-0494-4F86-96AF-14B8EABC4DFF}"/>
              </a:ext>
            </a:extLst>
          </p:cNvPr>
          <p:cNvSpPr>
            <a:spLocks xmlns:a="http://schemas.openxmlformats.org/drawingml/2006/main" noGrp="1"/>
          </p:cNvSpPr>
          <p:nvPr/>
        </p:nvSpPr>
        <p:spPr>
          <a:xfrm xmlns:a="http://schemas.openxmlformats.org/drawingml/2006/main">
            <a:off x="1038758" y="321503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4CE8884-5CE9-438B-AAB8-2EE3AE36B0AB}"/>
              </a:ext>
            </a:extLst>
          </p:cNvPr>
          <p:cNvSpPr>
            <a:spLocks xmlns:a="http://schemas.openxmlformats.org/drawingml/2006/main" noGrp="1"/>
          </p:cNvSpPr>
          <p:nvPr/>
        </p:nvSpPr>
        <p:spPr>
          <a:xfrm xmlns:a="http://schemas.openxmlformats.org/drawingml/2006/main">
            <a:off x="1444752" y="3081528"/>
            <a:ext cx="24871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Science / physicalism</a:t>
            </a:r>
          </a:p>
        </p:txBody>
      </p:sp>
      <p:sp>
        <p:nvSpPr>
          <p:cNvPr id="14" name="TextBox 13">
            <a:extLst xmlns:a="http://schemas.openxmlformats.org/drawingml/2006/main">
              <a:ext uri="{FF2B5EF4-FFF2-40B4-BE49-F238E27FC236}">
                <a16:creationId xmlns:a16="http://schemas.microsoft.com/office/drawing/2014/main" id="{90A347A0-65A5-43CA-9A0D-EB931F942C6D}"/>
              </a:ext>
            </a:extLst>
          </p:cNvPr>
          <p:cNvSpPr>
            <a:spLocks xmlns:a="http://schemas.openxmlformats.org/drawingml/2006/main" noGrp="1"/>
          </p:cNvSpPr>
          <p:nvPr/>
        </p:nvSpPr>
        <p:spPr>
          <a:xfrm xmlns:a="http://schemas.openxmlformats.org/drawingml/2006/main">
            <a:off x="941832" y="3593591"/>
            <a:ext cx="291693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Science maps brain–body dependence; physicalism adds that the person is wholly reducible to physicochemical organisation.</a:t>
            </a:r>
          </a:p>
        </p:txBody>
      </p:sp>
      <p:sp>
        <p:nvSpPr>
          <p:cNvPr id="15" name="Rounded Rectangle 14">
            <a:extLst xmlns:a="http://schemas.openxmlformats.org/drawingml/2006/main">
              <a:ext uri="{FF2B5EF4-FFF2-40B4-BE49-F238E27FC236}">
                <a16:creationId xmlns:a16="http://schemas.microsoft.com/office/drawing/2014/main" id="{C1E41A45-8472-4686-B280-F73AA77CD8D2}"/>
              </a:ext>
            </a:extLst>
          </p:cNvPr>
          <p:cNvSpPr>
            <a:spLocks xmlns:a="http://schemas.openxmlformats.org/drawingml/2006/main" noGrp="1"/>
          </p:cNvSpPr>
          <p:nvPr/>
        </p:nvSpPr>
        <p:spPr>
          <a:xfrm xmlns:a="http://schemas.openxmlformats.org/drawingml/2006/main">
            <a:off x="4379976" y="2880360"/>
            <a:ext cx="3429000" cy="228600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1225507A-A9F1-4EA3-B5A1-07D118F76583}"/>
              </a:ext>
            </a:extLst>
          </p:cNvPr>
          <p:cNvSpPr>
            <a:spLocks xmlns:a="http://schemas.openxmlformats.org/drawingml/2006/main" noGrp="1"/>
          </p:cNvSpPr>
          <p:nvPr/>
        </p:nvSpPr>
        <p:spPr>
          <a:xfrm xmlns:a="http://schemas.openxmlformats.org/drawingml/2006/main">
            <a:off x="4593031" y="307512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0A882DFA-8656-4E3C-8C5D-185DE026807C}"/>
              </a:ext>
            </a:extLst>
          </p:cNvPr>
          <p:cNvSpPr>
            <a:spLocks xmlns:a="http://schemas.openxmlformats.org/drawingml/2006/main" noGrp="1"/>
          </p:cNvSpPr>
          <p:nvPr/>
        </p:nvSpPr>
        <p:spPr>
          <a:xfrm xmlns:a="http://schemas.openxmlformats.org/drawingml/2006/main">
            <a:off x="4671212" y="315330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0C952C82-AB4B-40C9-A482-E14D5965B97A}"/>
              </a:ext>
            </a:extLst>
          </p:cNvPr>
          <p:cNvSpPr>
            <a:spLocks xmlns:a="http://schemas.openxmlformats.org/drawingml/2006/main" noGrp="1"/>
          </p:cNvSpPr>
          <p:nvPr/>
        </p:nvSpPr>
        <p:spPr>
          <a:xfrm xmlns:a="http://schemas.openxmlformats.org/drawingml/2006/main">
            <a:off x="4732934" y="321503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F7359D11-500F-4B10-9E4E-BCEFF656A1AD}"/>
              </a:ext>
            </a:extLst>
          </p:cNvPr>
          <p:cNvSpPr>
            <a:spLocks xmlns:a="http://schemas.openxmlformats.org/drawingml/2006/main" noGrp="1"/>
          </p:cNvSpPr>
          <p:nvPr/>
        </p:nvSpPr>
        <p:spPr>
          <a:xfrm xmlns:a="http://schemas.openxmlformats.org/drawingml/2006/main">
            <a:off x="5138928" y="3081528"/>
            <a:ext cx="24871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9A6414"/>
                </a:solidFill>
                <a:latin typeface="Cambria"/>
                <a:ea typeface="Cambria"/>
                <a:cs typeface="Cambria"/>
              </a:rPr>
              <a:t>Madhyasth Darshan</a:t>
            </a:r>
          </a:p>
        </p:txBody>
      </p:sp>
      <p:sp>
        <p:nvSpPr>
          <p:cNvPr id="20" name="TextBox 19">
            <a:extLst xmlns:a="http://schemas.openxmlformats.org/drawingml/2006/main">
              <a:ext uri="{FF2B5EF4-FFF2-40B4-BE49-F238E27FC236}">
                <a16:creationId xmlns:a16="http://schemas.microsoft.com/office/drawing/2014/main" id="{788248F3-DFAF-47F1-80E2-363D3D863331}"/>
              </a:ext>
            </a:extLst>
          </p:cNvPr>
          <p:cNvSpPr>
            <a:spLocks xmlns:a="http://schemas.openxmlformats.org/drawingml/2006/main" noGrp="1"/>
          </p:cNvSpPr>
          <p:nvPr/>
        </p:nvSpPr>
        <p:spPr>
          <a:xfrm xmlns:a="http://schemas.openxmlformats.org/drawingml/2006/main">
            <a:off x="4636008" y="3593591"/>
            <a:ext cx="291693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A human is a material body joined with jeevan, a real sentient unit. ‘Not just material’ rejects reduction to an insentient body; it does not reject matter.</a:t>
            </a:r>
          </a:p>
        </p:txBody>
      </p:sp>
      <p:sp>
        <p:nvSpPr>
          <p:cNvPr id="21" name="Rounded Rectangle 20">
            <a:extLst xmlns:a="http://schemas.openxmlformats.org/drawingml/2006/main">
              <a:ext uri="{FF2B5EF4-FFF2-40B4-BE49-F238E27FC236}">
                <a16:creationId xmlns:a16="http://schemas.microsoft.com/office/drawing/2014/main" id="{A71B52AD-3651-4846-AC0D-DA626510A70D}"/>
              </a:ext>
            </a:extLst>
          </p:cNvPr>
          <p:cNvSpPr>
            <a:spLocks xmlns:a="http://schemas.openxmlformats.org/drawingml/2006/main" noGrp="1"/>
          </p:cNvSpPr>
          <p:nvPr/>
        </p:nvSpPr>
        <p:spPr>
          <a:xfrm xmlns:a="http://schemas.openxmlformats.org/drawingml/2006/main">
            <a:off x="8074152" y="2880360"/>
            <a:ext cx="3429000" cy="22860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B987A266-C74B-483A-B0D5-EB29DA1DFD75}"/>
              </a:ext>
            </a:extLst>
          </p:cNvPr>
          <p:cNvSpPr>
            <a:spLocks xmlns:a="http://schemas.openxmlformats.org/drawingml/2006/main" noGrp="1"/>
          </p:cNvSpPr>
          <p:nvPr/>
        </p:nvSpPr>
        <p:spPr>
          <a:xfrm xmlns:a="http://schemas.openxmlformats.org/drawingml/2006/main">
            <a:off x="8287207" y="307512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3FEBB837-C45E-4E9E-B06D-4845DA3E09EA}"/>
              </a:ext>
            </a:extLst>
          </p:cNvPr>
          <p:cNvSpPr>
            <a:spLocks xmlns:a="http://schemas.openxmlformats.org/drawingml/2006/main" noGrp="1"/>
          </p:cNvSpPr>
          <p:nvPr/>
        </p:nvSpPr>
        <p:spPr>
          <a:xfrm xmlns:a="http://schemas.openxmlformats.org/drawingml/2006/main">
            <a:off x="8365388" y="315330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Oval 23">
            <a:extLst xmlns:a="http://schemas.openxmlformats.org/drawingml/2006/main">
              <a:ext uri="{FF2B5EF4-FFF2-40B4-BE49-F238E27FC236}">
                <a16:creationId xmlns:a16="http://schemas.microsoft.com/office/drawing/2014/main" id="{47D8DD09-E0BB-4632-9E6E-B5747900FD58}"/>
              </a:ext>
            </a:extLst>
          </p:cNvPr>
          <p:cNvSpPr>
            <a:spLocks xmlns:a="http://schemas.openxmlformats.org/drawingml/2006/main" noGrp="1"/>
          </p:cNvSpPr>
          <p:nvPr/>
        </p:nvSpPr>
        <p:spPr>
          <a:xfrm xmlns:a="http://schemas.openxmlformats.org/drawingml/2006/main">
            <a:off x="8427110" y="321503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50C75304-6B89-48C4-9DAF-8D2C7B7347A3}"/>
              </a:ext>
            </a:extLst>
          </p:cNvPr>
          <p:cNvSpPr>
            <a:spLocks xmlns:a="http://schemas.openxmlformats.org/drawingml/2006/main" noGrp="1"/>
          </p:cNvSpPr>
          <p:nvPr/>
        </p:nvSpPr>
        <p:spPr>
          <a:xfrm xmlns:a="http://schemas.openxmlformats.org/drawingml/2006/main">
            <a:off x="8833104" y="3081528"/>
            <a:ext cx="24871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Advaita Vedanta</a:t>
            </a:r>
          </a:p>
        </p:txBody>
      </p:sp>
      <p:sp>
        <p:nvSpPr>
          <p:cNvPr id="26" name="TextBox 25">
            <a:extLst xmlns:a="http://schemas.openxmlformats.org/drawingml/2006/main">
              <a:ext uri="{FF2B5EF4-FFF2-40B4-BE49-F238E27FC236}">
                <a16:creationId xmlns:a16="http://schemas.microsoft.com/office/drawing/2014/main" id="{580EC88D-2423-4605-BD0A-89B04DEB271D}"/>
              </a:ext>
            </a:extLst>
          </p:cNvPr>
          <p:cNvSpPr>
            <a:spLocks xmlns:a="http://schemas.openxmlformats.org/drawingml/2006/main" noGrp="1"/>
          </p:cNvSpPr>
          <p:nvPr/>
        </p:nvSpPr>
        <p:spPr>
          <a:xfrm xmlns:a="http://schemas.openxmlformats.org/drawingml/2006/main">
            <a:off x="8330183" y="3593591"/>
            <a:ext cx="2916936"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The empirical person is body–mind, but the true Self is nondual awareness. The world is mithya: dependently real, not absolutely real.</a:t>
            </a:r>
          </a:p>
        </p:txBody>
      </p:sp>
      <p:sp>
        <p:nvSpPr>
          <p:cNvPr id="27" name="Rounded Rectangle 26">
            <a:extLst xmlns:a="http://schemas.openxmlformats.org/drawingml/2006/main">
              <a:ext uri="{FF2B5EF4-FFF2-40B4-BE49-F238E27FC236}">
                <a16:creationId xmlns:a16="http://schemas.microsoft.com/office/drawing/2014/main" id="{E3B80CFB-6869-42BF-8B5D-82489A848666}"/>
              </a:ext>
            </a:extLst>
          </p:cNvPr>
          <p:cNvSpPr>
            <a:spLocks xmlns:a="http://schemas.openxmlformats.org/drawingml/2006/main" noGrp="1"/>
          </p:cNvSpPr>
          <p:nvPr/>
        </p:nvSpPr>
        <p:spPr>
          <a:xfrm xmlns:a="http://schemas.openxmlformats.org/drawingml/2006/main">
            <a:off x="685800" y="5440680"/>
            <a:ext cx="10817352" cy="685800"/>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14336693-43A8-4DC9-BF36-33ADA19DDEEB}"/>
              </a:ext>
            </a:extLst>
          </p:cNvPr>
          <p:cNvSpPr>
            <a:spLocks xmlns:a="http://schemas.openxmlformats.org/drawingml/2006/main" noGrp="1"/>
          </p:cNvSpPr>
          <p:nvPr/>
        </p:nvSpPr>
        <p:spPr>
          <a:xfrm xmlns:a="http://schemas.openxmlformats.org/drawingml/2006/main">
            <a:off x="1005840" y="5440680"/>
            <a:ext cx="10177272"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Shared experience does not decide ontology. Each view must show why its further inference is warranted.</a:t>
            </a:r>
          </a:p>
        </p:txBody>
      </p:sp>
    </p:spTree>
    <p:extLst>
      <p:ext uri="{BB962C8B-B14F-4D97-AF65-F5344CB8AC3E}">
        <p14:creationId xmlns:p14="http://schemas.microsoft.com/office/powerpoint/2010/main" val="681532396"/>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D625EFA-C1AE-4E0C-9A3A-C15AB0B3AD6C}"/>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A50BE98D-10CF-4A1D-AF31-37004A732987}"/>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3F74E43C-CE98-45F6-9EA3-35F662AA182D}"/>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7E817D41-36DC-436F-9C3F-AB19816A4194}"/>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6A3F12C8-F73C-46C5-97AD-AC07948CCF2C}"/>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ORIENTATION</a:t>
            </a:r>
          </a:p>
        </p:txBody>
      </p:sp>
      <p:sp>
        <p:nvSpPr>
          <p:cNvPr id="7" name="TextBox 6">
            <a:extLst xmlns:a="http://schemas.openxmlformats.org/drawingml/2006/main">
              <a:ext uri="{FF2B5EF4-FFF2-40B4-BE49-F238E27FC236}">
                <a16:creationId xmlns:a16="http://schemas.microsoft.com/office/drawing/2014/main" id="{F0B6A14B-0DAF-4B10-AFE1-5CBB3BF497F4}"/>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How We'll Compare the Three Views</a:t>
            </a:r>
          </a:p>
        </p:txBody>
      </p:sp>
      <p:sp>
        <p:nvSpPr>
          <p:cNvPr id="8" name="TextBox 7">
            <a:extLst xmlns:a="http://schemas.openxmlformats.org/drawingml/2006/main">
              <a:ext uri="{FF2B5EF4-FFF2-40B4-BE49-F238E27FC236}">
                <a16:creationId xmlns:a16="http://schemas.microsoft.com/office/drawing/2014/main" id="{3202011E-CD13-4927-9ACF-AA30307386ED}"/>
              </a:ext>
            </a:extLst>
          </p:cNvPr>
          <p:cNvSpPr>
            <a:spLocks xmlns:a="http://schemas.openxmlformats.org/drawingml/2006/main" noGrp="1"/>
          </p:cNvSpPr>
          <p:nvPr/>
        </p:nvSpPr>
        <p:spPr>
          <a:xfrm xmlns:a="http://schemas.openxmlformats.org/drawingml/2006/main">
            <a:off x="685800" y="1783080"/>
            <a:ext cx="107899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Keep the lived data fixed, then compare what each framework adds to explain it.</a:t>
            </a:r>
          </a:p>
        </p:txBody>
      </p:sp>
      <p:sp>
        <p:nvSpPr>
          <p:cNvPr id="9" name="Oval 8">
            <a:extLst xmlns:a="http://schemas.openxmlformats.org/drawingml/2006/main">
              <a:ext uri="{FF2B5EF4-FFF2-40B4-BE49-F238E27FC236}">
                <a16:creationId xmlns:a16="http://schemas.microsoft.com/office/drawing/2014/main" id="{2E6E7846-4551-46F8-B944-59E99C9A05FB}"/>
              </a:ext>
            </a:extLst>
          </p:cNvPr>
          <p:cNvSpPr>
            <a:spLocks xmlns:a="http://schemas.openxmlformats.org/drawingml/2006/main" noGrp="1"/>
          </p:cNvSpPr>
          <p:nvPr/>
        </p:nvSpPr>
        <p:spPr>
          <a:xfrm xmlns:a="http://schemas.openxmlformats.org/drawingml/2006/main">
            <a:off x="704088" y="2697480"/>
            <a:ext cx="512064" cy="512064"/>
          </a:xfrm>
          <a:prstGeom xmlns:a="http://schemas.openxmlformats.org/drawingml/2006/main" prst="ellipse">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BB92E231-C8EA-404E-9F64-E4418E0FFC4B}"/>
              </a:ext>
            </a:extLst>
          </p:cNvPr>
          <p:cNvSpPr>
            <a:spLocks xmlns:a="http://schemas.openxmlformats.org/drawingml/2006/main" noGrp="1"/>
          </p:cNvSpPr>
          <p:nvPr/>
        </p:nvSpPr>
        <p:spPr>
          <a:xfrm xmlns:a="http://schemas.openxmlformats.org/drawingml/2006/main">
            <a:off x="704088" y="2697480"/>
            <a:ext cx="51206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700" b="1" i="0">
                <a:solidFill>
                  <a:srgbClr val="FFFFFF"/>
                </a:solidFill>
                <a:latin typeface="Cambria"/>
                <a:ea typeface="Cambria"/>
                <a:cs typeface="Cambria"/>
              </a:rPr>
              <a:t>1</a:t>
            </a:r>
          </a:p>
        </p:txBody>
      </p:sp>
      <p:sp>
        <p:nvSpPr>
          <p:cNvPr id="11" name="TextBox 10">
            <a:extLst xmlns:a="http://schemas.openxmlformats.org/drawingml/2006/main">
              <a:ext uri="{FF2B5EF4-FFF2-40B4-BE49-F238E27FC236}">
                <a16:creationId xmlns:a16="http://schemas.microsoft.com/office/drawing/2014/main" id="{5BBBA33C-AB0C-403F-9171-37E9C36C085E}"/>
              </a:ext>
            </a:extLst>
          </p:cNvPr>
          <p:cNvSpPr>
            <a:spLocks xmlns:a="http://schemas.openxmlformats.org/drawingml/2006/main" noGrp="1"/>
          </p:cNvSpPr>
          <p:nvPr/>
        </p:nvSpPr>
        <p:spPr>
          <a:xfrm xmlns:a="http://schemas.openxmlformats.org/drawingml/2006/main">
            <a:off x="1463040" y="2715768"/>
            <a:ext cx="3108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Lived data</a:t>
            </a:r>
          </a:p>
        </p:txBody>
      </p:sp>
      <p:sp>
        <p:nvSpPr>
          <p:cNvPr id="12" name="TextBox 11">
            <a:extLst xmlns:a="http://schemas.openxmlformats.org/drawingml/2006/main">
              <a:ext uri="{FF2B5EF4-FFF2-40B4-BE49-F238E27FC236}">
                <a16:creationId xmlns:a16="http://schemas.microsoft.com/office/drawing/2014/main" id="{5DEF36BE-5AA6-4E61-B57E-62C75BD40D23}"/>
              </a:ext>
            </a:extLst>
          </p:cNvPr>
          <p:cNvSpPr>
            <a:spLocks xmlns:a="http://schemas.openxmlformats.org/drawingml/2006/main" noGrp="1"/>
          </p:cNvSpPr>
          <p:nvPr/>
        </p:nvSpPr>
        <p:spPr>
          <a:xfrm xmlns:a="http://schemas.openxmlformats.org/drawingml/2006/main">
            <a:off x="4663440" y="2743200"/>
            <a:ext cx="6858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0" i="0">
                <a:solidFill>
                  <a:srgbClr val="5A6377"/>
                </a:solidFill>
                <a:latin typeface="Calibri"/>
                <a:ea typeface="Calibri"/>
                <a:cs typeface="Calibri"/>
              </a:rPr>
              <a:t>Separate the experiences needing explanation from any claim about their ultimate cause.</a:t>
            </a:r>
          </a:p>
        </p:txBody>
      </p:sp>
      <p:sp>
        <p:nvSpPr>
          <p:cNvPr id="13" name="Oval 12">
            <a:extLst xmlns:a="http://schemas.openxmlformats.org/drawingml/2006/main">
              <a:ext uri="{FF2B5EF4-FFF2-40B4-BE49-F238E27FC236}">
                <a16:creationId xmlns:a16="http://schemas.microsoft.com/office/drawing/2014/main" id="{7127A8E9-7C68-4B9B-8133-5AA9845955DC}"/>
              </a:ext>
            </a:extLst>
          </p:cNvPr>
          <p:cNvSpPr>
            <a:spLocks xmlns:a="http://schemas.openxmlformats.org/drawingml/2006/main" noGrp="1"/>
          </p:cNvSpPr>
          <p:nvPr/>
        </p:nvSpPr>
        <p:spPr>
          <a:xfrm xmlns:a="http://schemas.openxmlformats.org/drawingml/2006/main">
            <a:off x="704088" y="3447287"/>
            <a:ext cx="512064" cy="512064"/>
          </a:xfrm>
          <a:prstGeom xmlns:a="http://schemas.openxmlformats.org/drawingml/2006/main" prst="ellipse">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49B02CEE-C2BD-493D-945C-A650A93AE7CC}"/>
              </a:ext>
            </a:extLst>
          </p:cNvPr>
          <p:cNvSpPr>
            <a:spLocks xmlns:a="http://schemas.openxmlformats.org/drawingml/2006/main" noGrp="1"/>
          </p:cNvSpPr>
          <p:nvPr/>
        </p:nvSpPr>
        <p:spPr>
          <a:xfrm xmlns:a="http://schemas.openxmlformats.org/drawingml/2006/main">
            <a:off x="704088" y="3447288"/>
            <a:ext cx="51206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700" b="1" i="0">
                <a:solidFill>
                  <a:srgbClr val="FFFFFF"/>
                </a:solidFill>
                <a:latin typeface="Cambria"/>
                <a:ea typeface="Cambria"/>
                <a:cs typeface="Cambria"/>
              </a:rPr>
              <a:t>2</a:t>
            </a:r>
          </a:p>
        </p:txBody>
      </p:sp>
      <p:sp>
        <p:nvSpPr>
          <p:cNvPr id="15" name="TextBox 14">
            <a:extLst xmlns:a="http://schemas.openxmlformats.org/drawingml/2006/main">
              <a:ext uri="{FF2B5EF4-FFF2-40B4-BE49-F238E27FC236}">
                <a16:creationId xmlns:a16="http://schemas.microsoft.com/office/drawing/2014/main" id="{D68A8775-6152-4A9F-B4AF-2E235C99F615}"/>
              </a:ext>
            </a:extLst>
          </p:cNvPr>
          <p:cNvSpPr>
            <a:spLocks xmlns:a="http://schemas.openxmlformats.org/drawingml/2006/main" noGrp="1"/>
          </p:cNvSpPr>
          <p:nvPr/>
        </p:nvSpPr>
        <p:spPr>
          <a:xfrm xmlns:a="http://schemas.openxmlformats.org/drawingml/2006/main">
            <a:off x="1463040" y="3465576"/>
            <a:ext cx="3108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Madhyasth model</a:t>
            </a:r>
          </a:p>
        </p:txBody>
      </p:sp>
      <p:sp>
        <p:nvSpPr>
          <p:cNvPr id="16" name="TextBox 15">
            <a:extLst xmlns:a="http://schemas.openxmlformats.org/drawingml/2006/main">
              <a:ext uri="{FF2B5EF4-FFF2-40B4-BE49-F238E27FC236}">
                <a16:creationId xmlns:a16="http://schemas.microsoft.com/office/drawing/2014/main" id="{1969EEC0-6CE7-4278-AFAC-385A94C6BCBF}"/>
              </a:ext>
            </a:extLst>
          </p:cNvPr>
          <p:cNvSpPr>
            <a:spLocks xmlns:a="http://schemas.openxmlformats.org/drawingml/2006/main" noGrp="1"/>
          </p:cNvSpPr>
          <p:nvPr/>
        </p:nvSpPr>
        <p:spPr>
          <a:xfrm xmlns:a="http://schemas.openxmlformats.org/drawingml/2006/main">
            <a:off x="4663440" y="3493008"/>
            <a:ext cx="6858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0" i="0">
                <a:solidFill>
                  <a:srgbClr val="5A6377"/>
                </a:solidFill>
                <a:latin typeface="Calibri"/>
                <a:ea typeface="Calibri"/>
                <a:cs typeface="Calibri"/>
              </a:rPr>
              <a:t>Examine body + jeevan, the four orders, and the proposed conduct-based test.</a:t>
            </a:r>
          </a:p>
        </p:txBody>
      </p:sp>
      <p:sp>
        <p:nvSpPr>
          <p:cNvPr id="17" name="Oval 16">
            <a:extLst xmlns:a="http://schemas.openxmlformats.org/drawingml/2006/main">
              <a:ext uri="{FF2B5EF4-FFF2-40B4-BE49-F238E27FC236}">
                <a16:creationId xmlns:a16="http://schemas.microsoft.com/office/drawing/2014/main" id="{D0C6E8CE-5029-4F6E-8935-34AFC866AB0A}"/>
              </a:ext>
            </a:extLst>
          </p:cNvPr>
          <p:cNvSpPr>
            <a:spLocks xmlns:a="http://schemas.openxmlformats.org/drawingml/2006/main" noGrp="1"/>
          </p:cNvSpPr>
          <p:nvPr/>
        </p:nvSpPr>
        <p:spPr>
          <a:xfrm xmlns:a="http://schemas.openxmlformats.org/drawingml/2006/main">
            <a:off x="704088" y="4197096"/>
            <a:ext cx="512064" cy="512064"/>
          </a:xfrm>
          <a:prstGeom xmlns:a="http://schemas.openxmlformats.org/drawingml/2006/main" prst="ellipse">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706F4659-C785-4A81-A800-4F921B1BF786}"/>
              </a:ext>
            </a:extLst>
          </p:cNvPr>
          <p:cNvSpPr>
            <a:spLocks xmlns:a="http://schemas.openxmlformats.org/drawingml/2006/main" noGrp="1"/>
          </p:cNvSpPr>
          <p:nvPr/>
        </p:nvSpPr>
        <p:spPr>
          <a:xfrm xmlns:a="http://schemas.openxmlformats.org/drawingml/2006/main">
            <a:off x="704088" y="4197096"/>
            <a:ext cx="51206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700" b="1" i="0">
                <a:solidFill>
                  <a:srgbClr val="FFFFFF"/>
                </a:solidFill>
                <a:latin typeface="Cambria"/>
                <a:ea typeface="Cambria"/>
                <a:cs typeface="Cambria"/>
              </a:rPr>
              <a:t>3</a:t>
            </a:r>
          </a:p>
        </p:txBody>
      </p:sp>
      <p:sp>
        <p:nvSpPr>
          <p:cNvPr id="19" name="TextBox 18">
            <a:extLst xmlns:a="http://schemas.openxmlformats.org/drawingml/2006/main">
              <a:ext uri="{FF2B5EF4-FFF2-40B4-BE49-F238E27FC236}">
                <a16:creationId xmlns:a16="http://schemas.microsoft.com/office/drawing/2014/main" id="{B2B4D0A1-8FCE-4F8B-B426-842B37A108DD}"/>
              </a:ext>
            </a:extLst>
          </p:cNvPr>
          <p:cNvSpPr>
            <a:spLocks xmlns:a="http://schemas.openxmlformats.org/drawingml/2006/main" noGrp="1"/>
          </p:cNvSpPr>
          <p:nvPr/>
        </p:nvSpPr>
        <p:spPr>
          <a:xfrm xmlns:a="http://schemas.openxmlformats.org/drawingml/2006/main">
            <a:off x="1463040" y="4215383"/>
            <a:ext cx="3108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Scientific evidence</a:t>
            </a:r>
          </a:p>
        </p:txBody>
      </p:sp>
      <p:sp>
        <p:nvSpPr>
          <p:cNvPr id="20" name="TextBox 19">
            <a:extLst xmlns:a="http://schemas.openxmlformats.org/drawingml/2006/main">
              <a:ext uri="{FF2B5EF4-FFF2-40B4-BE49-F238E27FC236}">
                <a16:creationId xmlns:a16="http://schemas.microsoft.com/office/drawing/2014/main" id="{BBD4A6A8-405F-4B56-8A23-AE39B2C4D7F3}"/>
              </a:ext>
            </a:extLst>
          </p:cNvPr>
          <p:cNvSpPr>
            <a:spLocks xmlns:a="http://schemas.openxmlformats.org/drawingml/2006/main" noGrp="1"/>
          </p:cNvSpPr>
          <p:nvPr/>
        </p:nvSpPr>
        <p:spPr>
          <a:xfrm xmlns:a="http://schemas.openxmlformats.org/drawingml/2006/main">
            <a:off x="4663440" y="4242816"/>
            <a:ext cx="6858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0" i="0">
                <a:solidFill>
                  <a:srgbClr val="5A6377"/>
                </a:solidFill>
                <a:latin typeface="Calibri"/>
                <a:ea typeface="Calibri"/>
                <a:cs typeface="Calibri"/>
              </a:rPr>
              <a:t>Distinguish measured brain–body dependence from the physicalist claim of sufficiency.</a:t>
            </a:r>
          </a:p>
        </p:txBody>
      </p:sp>
      <p:sp>
        <p:nvSpPr>
          <p:cNvPr id="21" name="Oval 20">
            <a:extLst xmlns:a="http://schemas.openxmlformats.org/drawingml/2006/main">
              <a:ext uri="{FF2B5EF4-FFF2-40B4-BE49-F238E27FC236}">
                <a16:creationId xmlns:a16="http://schemas.microsoft.com/office/drawing/2014/main" id="{F0C93DF2-642D-4775-AF6D-42EDC6CB5C3B}"/>
              </a:ext>
            </a:extLst>
          </p:cNvPr>
          <p:cNvSpPr>
            <a:spLocks xmlns:a="http://schemas.openxmlformats.org/drawingml/2006/main" noGrp="1"/>
          </p:cNvSpPr>
          <p:nvPr/>
        </p:nvSpPr>
        <p:spPr>
          <a:xfrm xmlns:a="http://schemas.openxmlformats.org/drawingml/2006/main">
            <a:off x="704088" y="4946904"/>
            <a:ext cx="512064" cy="512064"/>
          </a:xfrm>
          <a:prstGeom xmlns:a="http://schemas.openxmlformats.org/drawingml/2006/main" prst="ellipse">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03E0CC9E-4E77-4D15-AA9C-C151BEFCB97D}"/>
              </a:ext>
            </a:extLst>
          </p:cNvPr>
          <p:cNvSpPr>
            <a:spLocks xmlns:a="http://schemas.openxmlformats.org/drawingml/2006/main" noGrp="1"/>
          </p:cNvSpPr>
          <p:nvPr/>
        </p:nvSpPr>
        <p:spPr>
          <a:xfrm xmlns:a="http://schemas.openxmlformats.org/drawingml/2006/main">
            <a:off x="704088" y="4946904"/>
            <a:ext cx="51206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700" b="1" i="0">
                <a:solidFill>
                  <a:srgbClr val="FFFFFF"/>
                </a:solidFill>
                <a:latin typeface="Cambria"/>
                <a:ea typeface="Cambria"/>
                <a:cs typeface="Cambria"/>
              </a:rPr>
              <a:t>4</a:t>
            </a:r>
          </a:p>
        </p:txBody>
      </p:sp>
      <p:sp>
        <p:nvSpPr>
          <p:cNvPr id="23" name="TextBox 22">
            <a:extLst xmlns:a="http://schemas.openxmlformats.org/drawingml/2006/main">
              <a:ext uri="{FF2B5EF4-FFF2-40B4-BE49-F238E27FC236}">
                <a16:creationId xmlns:a16="http://schemas.microsoft.com/office/drawing/2014/main" id="{D0E81C14-7879-4D37-8BD6-59CEB046329C}"/>
              </a:ext>
            </a:extLst>
          </p:cNvPr>
          <p:cNvSpPr>
            <a:spLocks xmlns:a="http://schemas.openxmlformats.org/drawingml/2006/main" noGrp="1"/>
          </p:cNvSpPr>
          <p:nvPr/>
        </p:nvSpPr>
        <p:spPr>
          <a:xfrm xmlns:a="http://schemas.openxmlformats.org/drawingml/2006/main">
            <a:off x="1463040" y="4965192"/>
            <a:ext cx="3108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Advaita model</a:t>
            </a:r>
          </a:p>
        </p:txBody>
      </p:sp>
      <p:sp>
        <p:nvSpPr>
          <p:cNvPr id="24" name="TextBox 23">
            <a:extLst xmlns:a="http://schemas.openxmlformats.org/drawingml/2006/main">
              <a:ext uri="{FF2B5EF4-FFF2-40B4-BE49-F238E27FC236}">
                <a16:creationId xmlns:a16="http://schemas.microsoft.com/office/drawing/2014/main" id="{4869728D-D9FE-43E3-AC1C-2FA5AEE519B1}"/>
              </a:ext>
            </a:extLst>
          </p:cNvPr>
          <p:cNvSpPr>
            <a:spLocks xmlns:a="http://schemas.openxmlformats.org/drawingml/2006/main" noGrp="1"/>
          </p:cNvSpPr>
          <p:nvPr/>
        </p:nvSpPr>
        <p:spPr>
          <a:xfrm xmlns:a="http://schemas.openxmlformats.org/drawingml/2006/main">
            <a:off x="4663440" y="4992624"/>
            <a:ext cx="6858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0" i="0">
                <a:solidFill>
                  <a:srgbClr val="5A6377"/>
                </a:solidFill>
                <a:latin typeface="Calibri"/>
                <a:ea typeface="Calibri"/>
                <a:cs typeface="Calibri"/>
              </a:rPr>
              <a:t>Examine witness, koshas, mithya, and the inference from awareness to Brahman.</a:t>
            </a:r>
          </a:p>
        </p:txBody>
      </p:sp>
      <p:sp>
        <p:nvSpPr>
          <p:cNvPr id="25" name="Oval 24">
            <a:extLst xmlns:a="http://schemas.openxmlformats.org/drawingml/2006/main">
              <a:ext uri="{FF2B5EF4-FFF2-40B4-BE49-F238E27FC236}">
                <a16:creationId xmlns:a16="http://schemas.microsoft.com/office/drawing/2014/main" id="{DE64FF72-1E80-44F1-81DD-9EC35E3A76D2}"/>
              </a:ext>
            </a:extLst>
          </p:cNvPr>
          <p:cNvSpPr>
            <a:spLocks xmlns:a="http://schemas.openxmlformats.org/drawingml/2006/main" noGrp="1"/>
          </p:cNvSpPr>
          <p:nvPr/>
        </p:nvSpPr>
        <p:spPr>
          <a:xfrm xmlns:a="http://schemas.openxmlformats.org/drawingml/2006/main">
            <a:off x="704088" y="5696712"/>
            <a:ext cx="512064" cy="512064"/>
          </a:xfrm>
          <a:prstGeom xmlns:a="http://schemas.openxmlformats.org/drawingml/2006/main" prst="ellipse">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6" name="TextBox 25">
            <a:extLst xmlns:a="http://schemas.openxmlformats.org/drawingml/2006/main">
              <a:ext uri="{FF2B5EF4-FFF2-40B4-BE49-F238E27FC236}">
                <a16:creationId xmlns:a16="http://schemas.microsoft.com/office/drawing/2014/main" id="{C5678257-D723-4531-B86D-000B8AA98062}"/>
              </a:ext>
            </a:extLst>
          </p:cNvPr>
          <p:cNvSpPr>
            <a:spLocks xmlns:a="http://schemas.openxmlformats.org/drawingml/2006/main" noGrp="1"/>
          </p:cNvSpPr>
          <p:nvPr/>
        </p:nvSpPr>
        <p:spPr>
          <a:xfrm xmlns:a="http://schemas.openxmlformats.org/drawingml/2006/main">
            <a:off x="704088" y="5696712"/>
            <a:ext cx="512064" cy="51206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700" b="1" i="0">
                <a:solidFill>
                  <a:srgbClr val="FFFFFF"/>
                </a:solidFill>
                <a:latin typeface="Cambria"/>
                <a:ea typeface="Cambria"/>
                <a:cs typeface="Cambria"/>
              </a:rPr>
              <a:t>5</a:t>
            </a:r>
          </a:p>
        </p:txBody>
      </p:sp>
      <p:sp>
        <p:nvSpPr>
          <p:cNvPr id="27" name="TextBox 26">
            <a:extLst xmlns:a="http://schemas.openxmlformats.org/drawingml/2006/main">
              <a:ext uri="{FF2B5EF4-FFF2-40B4-BE49-F238E27FC236}">
                <a16:creationId xmlns:a16="http://schemas.microsoft.com/office/drawing/2014/main" id="{15DD9246-B221-4FC0-B098-A9C7F7CF512A}"/>
              </a:ext>
            </a:extLst>
          </p:cNvPr>
          <p:cNvSpPr>
            <a:spLocks xmlns:a="http://schemas.openxmlformats.org/drawingml/2006/main" noGrp="1"/>
          </p:cNvSpPr>
          <p:nvPr/>
        </p:nvSpPr>
        <p:spPr>
          <a:xfrm xmlns:a="http://schemas.openxmlformats.org/drawingml/2006/main">
            <a:off x="1463040" y="5715000"/>
            <a:ext cx="31089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Compare and test</a:t>
            </a:r>
          </a:p>
        </p:txBody>
      </p:sp>
      <p:sp>
        <p:nvSpPr>
          <p:cNvPr id="28" name="TextBox 27">
            <a:extLst xmlns:a="http://schemas.openxmlformats.org/drawingml/2006/main">
              <a:ext uri="{FF2B5EF4-FFF2-40B4-BE49-F238E27FC236}">
                <a16:creationId xmlns:a16="http://schemas.microsoft.com/office/drawing/2014/main" id="{E4509833-CCFF-49A9-BF45-F2C357DA5ADE}"/>
              </a:ext>
            </a:extLst>
          </p:cNvPr>
          <p:cNvSpPr>
            <a:spLocks xmlns:a="http://schemas.openxmlformats.org/drawingml/2006/main" noGrp="1"/>
          </p:cNvSpPr>
          <p:nvPr/>
        </p:nvSpPr>
        <p:spPr>
          <a:xfrm xmlns:a="http://schemas.openxmlformats.org/drawingml/2006/main">
            <a:off x="4663440" y="5742432"/>
            <a:ext cx="6858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0" i="0">
                <a:solidFill>
                  <a:srgbClr val="5A6377"/>
                </a:solidFill>
                <a:latin typeface="Calibri"/>
                <a:ea typeface="Calibri"/>
                <a:cs typeface="Calibri"/>
              </a:rPr>
              <a:t>Ask what each view explains, assumes, predicts, and leaves open.</a:t>
            </a:r>
          </a:p>
        </p:txBody>
      </p:sp>
    </p:spTree>
    <p:extLst>
      <p:ext uri="{BB962C8B-B14F-4D97-AF65-F5344CB8AC3E}">
        <p14:creationId xmlns:p14="http://schemas.microsoft.com/office/powerpoint/2010/main" val="79209077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84E225E-F8BB-4652-80D5-F47C555D8C9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8CB7E410-5F5C-4D5D-985D-8648DD69BB5F}"/>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69A78AC4-6092-4C63-9E49-D97089E8300E}"/>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B36453B6-5FB0-4E60-ADCB-7EC262368052}"/>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98CB18D7-B72E-4DAB-AAE4-DB1DF24FF0F6}"/>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PHENOMENOLOGY</a:t>
            </a:r>
          </a:p>
        </p:txBody>
      </p:sp>
      <p:sp>
        <p:nvSpPr>
          <p:cNvPr id="7" name="TextBox 6">
            <a:extLst xmlns:a="http://schemas.openxmlformats.org/drawingml/2006/main">
              <a:ext uri="{FF2B5EF4-FFF2-40B4-BE49-F238E27FC236}">
                <a16:creationId xmlns:a16="http://schemas.microsoft.com/office/drawing/2014/main" id="{206EB2D3-6F8F-42C6-82ED-BFAB255417D8}"/>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Four Experiences That Need Explanation</a:t>
            </a:r>
          </a:p>
        </p:txBody>
      </p:sp>
      <p:sp>
        <p:nvSpPr>
          <p:cNvPr id="8" name="TextBox 7">
            <a:extLst xmlns:a="http://schemas.openxmlformats.org/drawingml/2006/main">
              <a:ext uri="{FF2B5EF4-FFF2-40B4-BE49-F238E27FC236}">
                <a16:creationId xmlns:a16="http://schemas.microsoft.com/office/drawing/2014/main" id="{D2FB2E0E-D7B3-4CD8-B435-B123F3786838}"/>
              </a:ext>
            </a:extLst>
          </p:cNvPr>
          <p:cNvSpPr>
            <a:spLocks xmlns:a="http://schemas.openxmlformats.org/drawingml/2006/main" noGrp="1"/>
          </p:cNvSpPr>
          <p:nvPr/>
        </p:nvSpPr>
        <p:spPr>
          <a:xfrm xmlns:a="http://schemas.openxmlformats.org/drawingml/2006/main">
            <a:off x="685800" y="1737360"/>
            <a:ext cx="10789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400" b="0" i="0">
                <a:solidFill>
                  <a:srgbClr val="5A6377"/>
                </a:solidFill>
                <a:latin typeface="Calibri"/>
                <a:ea typeface="Calibri"/>
                <a:cs typeface="Calibri"/>
              </a:rPr>
              <a:t>Phenomenology identifies the explananda; it does not by itself prove jeevan.</a:t>
            </a:r>
          </a:p>
        </p:txBody>
      </p:sp>
      <p:sp>
        <p:nvSpPr>
          <p:cNvPr id="9" name="Rounded Rectangle 8">
            <a:extLst xmlns:a="http://schemas.openxmlformats.org/drawingml/2006/main">
              <a:ext uri="{FF2B5EF4-FFF2-40B4-BE49-F238E27FC236}">
                <a16:creationId xmlns:a16="http://schemas.microsoft.com/office/drawing/2014/main" id="{1679F28C-0D51-4895-BF98-31E395D627DA}"/>
              </a:ext>
            </a:extLst>
          </p:cNvPr>
          <p:cNvSpPr>
            <a:spLocks xmlns:a="http://schemas.openxmlformats.org/drawingml/2006/main" noGrp="1"/>
          </p:cNvSpPr>
          <p:nvPr/>
        </p:nvSpPr>
        <p:spPr>
          <a:xfrm xmlns:a="http://schemas.openxmlformats.org/drawingml/2006/main">
            <a:off x="685800" y="2286000"/>
            <a:ext cx="5294376" cy="16916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2E7A0E1E-CD42-49C9-B73C-E136338029D4}"/>
              </a:ext>
            </a:extLst>
          </p:cNvPr>
          <p:cNvSpPr>
            <a:spLocks xmlns:a="http://schemas.openxmlformats.org/drawingml/2006/main" noGrp="1"/>
          </p:cNvSpPr>
          <p:nvPr/>
        </p:nvSpPr>
        <p:spPr>
          <a:xfrm xmlns:a="http://schemas.openxmlformats.org/drawingml/2006/main">
            <a:off x="898855" y="24807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AB1ECDB3-6A6B-4F6A-AE09-0AE24966267D}"/>
              </a:ext>
            </a:extLst>
          </p:cNvPr>
          <p:cNvSpPr>
            <a:spLocks xmlns:a="http://schemas.openxmlformats.org/drawingml/2006/main" noGrp="1"/>
          </p:cNvSpPr>
          <p:nvPr/>
        </p:nvSpPr>
        <p:spPr>
          <a:xfrm xmlns:a="http://schemas.openxmlformats.org/drawingml/2006/main">
            <a:off x="977036" y="25589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FAE8C9EC-3277-4653-B1FD-760FF3C0D03F}"/>
              </a:ext>
            </a:extLst>
          </p:cNvPr>
          <p:cNvSpPr>
            <a:spLocks xmlns:a="http://schemas.openxmlformats.org/drawingml/2006/main" noGrp="1"/>
          </p:cNvSpPr>
          <p:nvPr/>
        </p:nvSpPr>
        <p:spPr>
          <a:xfrm xmlns:a="http://schemas.openxmlformats.org/drawingml/2006/main">
            <a:off x="1038758" y="26206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398E4BE3-E2D4-44BB-B665-708B60EA502F}"/>
              </a:ext>
            </a:extLst>
          </p:cNvPr>
          <p:cNvSpPr>
            <a:spLocks xmlns:a="http://schemas.openxmlformats.org/drawingml/2006/main" noGrp="1"/>
          </p:cNvSpPr>
          <p:nvPr/>
        </p:nvSpPr>
        <p:spPr>
          <a:xfrm xmlns:a="http://schemas.openxmlformats.org/drawingml/2006/main">
            <a:off x="1444752" y="2487168"/>
            <a:ext cx="43525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Two modes of fulfilment</a:t>
            </a:r>
          </a:p>
        </p:txBody>
      </p:sp>
      <p:sp>
        <p:nvSpPr>
          <p:cNvPr id="14" name="TextBox 13">
            <a:extLst xmlns:a="http://schemas.openxmlformats.org/drawingml/2006/main">
              <a:ext uri="{FF2B5EF4-FFF2-40B4-BE49-F238E27FC236}">
                <a16:creationId xmlns:a16="http://schemas.microsoft.com/office/drawing/2014/main" id="{59BC337A-9E0B-4C63-B214-F6BC357C33D2}"/>
              </a:ext>
            </a:extLst>
          </p:cNvPr>
          <p:cNvSpPr>
            <a:spLocks xmlns:a="http://schemas.openxmlformats.org/drawingml/2006/main" noGrp="1"/>
          </p:cNvSpPr>
          <p:nvPr/>
        </p:nvSpPr>
        <p:spPr>
          <a:xfrm xmlns:a="http://schemas.openxmlformats.org/drawingml/2006/main">
            <a:off x="941832" y="2999232"/>
            <a:ext cx="478231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Food, rest, and safety answer bodily need; understanding, trust, and justice answer a different demand. The distinction is real even if its cause remains disputed.</a:t>
            </a:r>
          </a:p>
        </p:txBody>
      </p:sp>
      <p:sp>
        <p:nvSpPr>
          <p:cNvPr id="15" name="Rounded Rectangle 14">
            <a:extLst xmlns:a="http://schemas.openxmlformats.org/drawingml/2006/main">
              <a:ext uri="{FF2B5EF4-FFF2-40B4-BE49-F238E27FC236}">
                <a16:creationId xmlns:a16="http://schemas.microsoft.com/office/drawing/2014/main" id="{3EAA33BE-833B-4D28-9C6F-3E8C55120C67}"/>
              </a:ext>
            </a:extLst>
          </p:cNvPr>
          <p:cNvSpPr>
            <a:spLocks xmlns:a="http://schemas.openxmlformats.org/drawingml/2006/main" noGrp="1"/>
          </p:cNvSpPr>
          <p:nvPr/>
        </p:nvSpPr>
        <p:spPr>
          <a:xfrm xmlns:a="http://schemas.openxmlformats.org/drawingml/2006/main">
            <a:off x="6208776" y="2286000"/>
            <a:ext cx="5294376" cy="16916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3BB50363-1D40-4E8F-8BBF-2A8F80794E8C}"/>
              </a:ext>
            </a:extLst>
          </p:cNvPr>
          <p:cNvSpPr>
            <a:spLocks xmlns:a="http://schemas.openxmlformats.org/drawingml/2006/main" noGrp="1"/>
          </p:cNvSpPr>
          <p:nvPr/>
        </p:nvSpPr>
        <p:spPr>
          <a:xfrm xmlns:a="http://schemas.openxmlformats.org/drawingml/2006/main">
            <a:off x="6421831" y="24807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D440C9A5-8D57-4439-A141-8EB4DE30CD9C}"/>
              </a:ext>
            </a:extLst>
          </p:cNvPr>
          <p:cNvSpPr>
            <a:spLocks xmlns:a="http://schemas.openxmlformats.org/drawingml/2006/main" noGrp="1"/>
          </p:cNvSpPr>
          <p:nvPr/>
        </p:nvSpPr>
        <p:spPr>
          <a:xfrm xmlns:a="http://schemas.openxmlformats.org/drawingml/2006/main">
            <a:off x="6500012" y="25589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CF1D4252-18FC-4133-A99B-4958ACE0D34D}"/>
              </a:ext>
            </a:extLst>
          </p:cNvPr>
          <p:cNvSpPr>
            <a:spLocks xmlns:a="http://schemas.openxmlformats.org/drawingml/2006/main" noGrp="1"/>
          </p:cNvSpPr>
          <p:nvPr/>
        </p:nvSpPr>
        <p:spPr>
          <a:xfrm xmlns:a="http://schemas.openxmlformats.org/drawingml/2006/main">
            <a:off x="6561734" y="26206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95799023-5237-4886-B398-D60B3EF3834F}"/>
              </a:ext>
            </a:extLst>
          </p:cNvPr>
          <p:cNvSpPr>
            <a:spLocks xmlns:a="http://schemas.openxmlformats.org/drawingml/2006/main" noGrp="1"/>
          </p:cNvSpPr>
          <p:nvPr/>
        </p:nvSpPr>
        <p:spPr>
          <a:xfrm xmlns:a="http://schemas.openxmlformats.org/drawingml/2006/main">
            <a:off x="6967728" y="2487168"/>
            <a:ext cx="43525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Wanting outruns need</a:t>
            </a:r>
          </a:p>
        </p:txBody>
      </p:sp>
      <p:sp>
        <p:nvSpPr>
          <p:cNvPr id="20" name="TextBox 19">
            <a:extLst xmlns:a="http://schemas.openxmlformats.org/drawingml/2006/main">
              <a:ext uri="{FF2B5EF4-FFF2-40B4-BE49-F238E27FC236}">
                <a16:creationId xmlns:a16="http://schemas.microsoft.com/office/drawing/2014/main" id="{2CB7A6DD-81DA-464B-B88B-B93E12C619D5}"/>
              </a:ext>
            </a:extLst>
          </p:cNvPr>
          <p:cNvSpPr>
            <a:spLocks xmlns:a="http://schemas.openxmlformats.org/drawingml/2006/main" noGrp="1"/>
          </p:cNvSpPr>
          <p:nvPr/>
        </p:nvSpPr>
        <p:spPr>
          <a:xfrm xmlns:a="http://schemas.openxmlformats.org/drawingml/2006/main">
            <a:off x="6464808" y="2999232"/>
            <a:ext cx="478231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Human desire can become indefinite—wealth, status, certainty, happiness. This exceeds immediate need but can be explained in more than one way.</a:t>
            </a:r>
          </a:p>
        </p:txBody>
      </p:sp>
      <p:sp>
        <p:nvSpPr>
          <p:cNvPr id="21" name="Rounded Rectangle 20">
            <a:extLst xmlns:a="http://schemas.openxmlformats.org/drawingml/2006/main">
              <a:ext uri="{FF2B5EF4-FFF2-40B4-BE49-F238E27FC236}">
                <a16:creationId xmlns:a16="http://schemas.microsoft.com/office/drawing/2014/main" id="{7C1F251F-043B-4DF8-9FCC-EE5CD5B4B25A}"/>
              </a:ext>
            </a:extLst>
          </p:cNvPr>
          <p:cNvSpPr>
            <a:spLocks xmlns:a="http://schemas.openxmlformats.org/drawingml/2006/main" noGrp="1"/>
          </p:cNvSpPr>
          <p:nvPr/>
        </p:nvSpPr>
        <p:spPr>
          <a:xfrm xmlns:a="http://schemas.openxmlformats.org/drawingml/2006/main">
            <a:off x="685800" y="4114800"/>
            <a:ext cx="5294376" cy="16916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B15DFF3E-AED6-4CEC-BA0C-5AA653055EB0}"/>
              </a:ext>
            </a:extLst>
          </p:cNvPr>
          <p:cNvSpPr>
            <a:spLocks xmlns:a="http://schemas.openxmlformats.org/drawingml/2006/main" noGrp="1"/>
          </p:cNvSpPr>
          <p:nvPr/>
        </p:nvSpPr>
        <p:spPr>
          <a:xfrm xmlns:a="http://schemas.openxmlformats.org/drawingml/2006/main">
            <a:off x="898855" y="4309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31A7FFCF-EB19-456E-95FA-5D1522A039EB}"/>
              </a:ext>
            </a:extLst>
          </p:cNvPr>
          <p:cNvSpPr>
            <a:spLocks xmlns:a="http://schemas.openxmlformats.org/drawingml/2006/main" noGrp="1"/>
          </p:cNvSpPr>
          <p:nvPr/>
        </p:nvSpPr>
        <p:spPr>
          <a:xfrm xmlns:a="http://schemas.openxmlformats.org/drawingml/2006/main">
            <a:off x="977036" y="4387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Oval 23">
            <a:extLst xmlns:a="http://schemas.openxmlformats.org/drawingml/2006/main">
              <a:ext uri="{FF2B5EF4-FFF2-40B4-BE49-F238E27FC236}">
                <a16:creationId xmlns:a16="http://schemas.microsoft.com/office/drawing/2014/main" id="{ADBFEF9F-4932-45A9-BAD0-A83F254B12E5}"/>
              </a:ext>
            </a:extLst>
          </p:cNvPr>
          <p:cNvSpPr>
            <a:spLocks xmlns:a="http://schemas.openxmlformats.org/drawingml/2006/main" noGrp="1"/>
          </p:cNvSpPr>
          <p:nvPr/>
        </p:nvSpPr>
        <p:spPr>
          <a:xfrm xmlns:a="http://schemas.openxmlformats.org/drawingml/2006/main">
            <a:off x="1038758" y="4449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ED278E84-D8C1-4AAA-BF68-BE374027493B}"/>
              </a:ext>
            </a:extLst>
          </p:cNvPr>
          <p:cNvSpPr>
            <a:spLocks xmlns:a="http://schemas.openxmlformats.org/drawingml/2006/main" noGrp="1"/>
          </p:cNvSpPr>
          <p:nvPr/>
        </p:nvSpPr>
        <p:spPr>
          <a:xfrm xmlns:a="http://schemas.openxmlformats.org/drawingml/2006/main">
            <a:off x="1444752" y="4315968"/>
            <a:ext cx="43525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Self exceeds a snapshot</a:t>
            </a:r>
          </a:p>
        </p:txBody>
      </p:sp>
      <p:sp>
        <p:nvSpPr>
          <p:cNvPr id="26" name="TextBox 25">
            <a:extLst xmlns:a="http://schemas.openxmlformats.org/drawingml/2006/main">
              <a:ext uri="{FF2B5EF4-FFF2-40B4-BE49-F238E27FC236}">
                <a16:creationId xmlns:a16="http://schemas.microsoft.com/office/drawing/2014/main" id="{263CC83B-6139-423A-B1BF-58AA456C62E0}"/>
              </a:ext>
            </a:extLst>
          </p:cNvPr>
          <p:cNvSpPr>
            <a:spLocks xmlns:a="http://schemas.openxmlformats.org/drawingml/2006/main" noGrp="1"/>
          </p:cNvSpPr>
          <p:nvPr/>
        </p:nvSpPr>
        <p:spPr>
          <a:xfrm xmlns:a="http://schemas.openxmlformats.org/drawingml/2006/main">
            <a:off x="941832" y="4828032"/>
            <a:ext cx="478231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We speak of ‘my body’ and persist through sleep, growth, and change. That raises a continuity question; it does not yet establish a non-material substance.</a:t>
            </a:r>
          </a:p>
        </p:txBody>
      </p:sp>
      <p:sp>
        <p:nvSpPr>
          <p:cNvPr id="27" name="Rounded Rectangle 26">
            <a:extLst xmlns:a="http://schemas.openxmlformats.org/drawingml/2006/main">
              <a:ext uri="{FF2B5EF4-FFF2-40B4-BE49-F238E27FC236}">
                <a16:creationId xmlns:a16="http://schemas.microsoft.com/office/drawing/2014/main" id="{758947F0-F8DA-4849-B881-778A20D9623C}"/>
              </a:ext>
            </a:extLst>
          </p:cNvPr>
          <p:cNvSpPr>
            <a:spLocks xmlns:a="http://schemas.openxmlformats.org/drawingml/2006/main" noGrp="1"/>
          </p:cNvSpPr>
          <p:nvPr/>
        </p:nvSpPr>
        <p:spPr>
          <a:xfrm xmlns:a="http://schemas.openxmlformats.org/drawingml/2006/main">
            <a:off x="6208776" y="4114800"/>
            <a:ext cx="5294376" cy="16916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Oval 27">
            <a:extLst xmlns:a="http://schemas.openxmlformats.org/drawingml/2006/main">
              <a:ext uri="{FF2B5EF4-FFF2-40B4-BE49-F238E27FC236}">
                <a16:creationId xmlns:a16="http://schemas.microsoft.com/office/drawing/2014/main" id="{13D5CA92-5BF6-4123-99DC-DFC1FE5CBD85}"/>
              </a:ext>
            </a:extLst>
          </p:cNvPr>
          <p:cNvSpPr>
            <a:spLocks xmlns:a="http://schemas.openxmlformats.org/drawingml/2006/main" noGrp="1"/>
          </p:cNvSpPr>
          <p:nvPr/>
        </p:nvSpPr>
        <p:spPr>
          <a:xfrm xmlns:a="http://schemas.openxmlformats.org/drawingml/2006/main">
            <a:off x="6421831" y="4309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Oval 28">
            <a:extLst xmlns:a="http://schemas.openxmlformats.org/drawingml/2006/main">
              <a:ext uri="{FF2B5EF4-FFF2-40B4-BE49-F238E27FC236}">
                <a16:creationId xmlns:a16="http://schemas.microsoft.com/office/drawing/2014/main" id="{1C282A90-FB3F-4F94-B2F8-46171A6B8E31}"/>
              </a:ext>
            </a:extLst>
          </p:cNvPr>
          <p:cNvSpPr>
            <a:spLocks xmlns:a="http://schemas.openxmlformats.org/drawingml/2006/main" noGrp="1"/>
          </p:cNvSpPr>
          <p:nvPr/>
        </p:nvSpPr>
        <p:spPr>
          <a:xfrm xmlns:a="http://schemas.openxmlformats.org/drawingml/2006/main">
            <a:off x="6500012" y="4387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Oval 29">
            <a:extLst xmlns:a="http://schemas.openxmlformats.org/drawingml/2006/main">
              <a:ext uri="{FF2B5EF4-FFF2-40B4-BE49-F238E27FC236}">
                <a16:creationId xmlns:a16="http://schemas.microsoft.com/office/drawing/2014/main" id="{DD2AEE76-ACE6-4EC2-90C5-3549DE7CF556}"/>
              </a:ext>
            </a:extLst>
          </p:cNvPr>
          <p:cNvSpPr>
            <a:spLocks xmlns:a="http://schemas.openxmlformats.org/drawingml/2006/main" noGrp="1"/>
          </p:cNvSpPr>
          <p:nvPr/>
        </p:nvSpPr>
        <p:spPr>
          <a:xfrm xmlns:a="http://schemas.openxmlformats.org/drawingml/2006/main">
            <a:off x="6561734" y="4449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TextBox 30">
            <a:extLst xmlns:a="http://schemas.openxmlformats.org/drawingml/2006/main">
              <a:ext uri="{FF2B5EF4-FFF2-40B4-BE49-F238E27FC236}">
                <a16:creationId xmlns:a16="http://schemas.microsoft.com/office/drawing/2014/main" id="{19D20C97-96E2-446F-89EB-49FA192B419B}"/>
              </a:ext>
            </a:extLst>
          </p:cNvPr>
          <p:cNvSpPr>
            <a:spLocks xmlns:a="http://schemas.openxmlformats.org/drawingml/2006/main" noGrp="1"/>
          </p:cNvSpPr>
          <p:nvPr/>
        </p:nvSpPr>
        <p:spPr>
          <a:xfrm xmlns:a="http://schemas.openxmlformats.org/drawingml/2006/main">
            <a:off x="6967728" y="4315968"/>
            <a:ext cx="435254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Early moral expectations</a:t>
            </a:r>
          </a:p>
        </p:txBody>
      </p:sp>
      <p:sp>
        <p:nvSpPr>
          <p:cNvPr id="32" name="TextBox 31">
            <a:extLst xmlns:a="http://schemas.openxmlformats.org/drawingml/2006/main">
              <a:ext uri="{FF2B5EF4-FFF2-40B4-BE49-F238E27FC236}">
                <a16:creationId xmlns:a16="http://schemas.microsoft.com/office/drawing/2014/main" id="{9A28DCEB-CE3E-4570-B7C0-062E70284F86}"/>
              </a:ext>
            </a:extLst>
          </p:cNvPr>
          <p:cNvSpPr>
            <a:spLocks xmlns:a="http://schemas.openxmlformats.org/drawingml/2006/main" noGrp="1"/>
          </p:cNvSpPr>
          <p:nvPr/>
        </p:nvSpPr>
        <p:spPr>
          <a:xfrm xmlns:a="http://schemas.openxmlformats.org/drawingml/2006/main">
            <a:off x="6464808" y="4828032"/>
            <a:ext cx="478231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Children show expectations of fairness and care early. Developmental evidence constrains explanations; it does not settle whether the source is innate, social, or jeevan.</a:t>
            </a:r>
          </a:p>
        </p:txBody>
      </p:sp>
      <p:sp>
        <p:nvSpPr>
          <p:cNvPr id="33" name="TextBox 32">
            <a:extLst xmlns:a="http://schemas.openxmlformats.org/drawingml/2006/main">
              <a:ext uri="{FF2B5EF4-FFF2-40B4-BE49-F238E27FC236}">
                <a16:creationId xmlns:a16="http://schemas.microsoft.com/office/drawing/2014/main" id="{20057D2C-A972-4078-8D0D-1E3285A735CA}"/>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§1.2 · §2.2 · §3.2</a:t>
            </a:r>
          </a:p>
        </p:txBody>
      </p:sp>
    </p:spTree>
    <p:extLst>
      <p:ext uri="{BB962C8B-B14F-4D97-AF65-F5344CB8AC3E}">
        <p14:creationId xmlns:p14="http://schemas.microsoft.com/office/powerpoint/2010/main" val="170661267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49EF1E6-733B-4A6F-88E5-D2E467C4A797}"/>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F76119CC-626E-4D12-A6F3-C390DF1449C3}"/>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B18C5CF6-A132-4B61-8DCD-5E089C6D1CA2}"/>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0D0D29E3-8DC0-47B0-A834-CAFBB4B8CC3C}"/>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FB15298-F9FD-4CCC-9F6B-65B1195999A2}"/>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SCIENCE AND PHYSICALISM · REPLY</a:t>
            </a:r>
          </a:p>
        </p:txBody>
      </p:sp>
      <p:sp>
        <p:nvSpPr>
          <p:cNvPr id="7" name="TextBox 6">
            <a:extLst xmlns:a="http://schemas.openxmlformats.org/drawingml/2006/main">
              <a:ext uri="{FF2B5EF4-FFF2-40B4-BE49-F238E27FC236}">
                <a16:creationId xmlns:a16="http://schemas.microsoft.com/office/drawing/2014/main" id="{8E5E1C07-A891-490C-9EC4-7843CA2FD446}"/>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Real Experiences, Embodied Explanations</a:t>
            </a:r>
          </a:p>
        </p:txBody>
      </p:sp>
      <p:sp>
        <p:nvSpPr>
          <p:cNvPr id="8" name="TextBox 7">
            <a:extLst xmlns:a="http://schemas.openxmlformats.org/drawingml/2006/main">
              <a:ext uri="{FF2B5EF4-FFF2-40B4-BE49-F238E27FC236}">
                <a16:creationId xmlns:a16="http://schemas.microsoft.com/office/drawing/2014/main" id="{9F93FEAC-4485-4B9C-834E-B23789692B07}"/>
              </a:ext>
            </a:extLst>
          </p:cNvPr>
          <p:cNvSpPr>
            <a:spLocks xmlns:a="http://schemas.openxmlformats.org/drawingml/2006/main" noGrp="1"/>
          </p:cNvSpPr>
          <p:nvPr/>
        </p:nvSpPr>
        <p:spPr>
          <a:xfrm xmlns:a="http://schemas.openxmlformats.org/drawingml/2006/main">
            <a:off x="685800" y="1737360"/>
            <a:ext cx="10789920" cy="498856"/>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400" b="0" i="0">
                <a:solidFill>
                  <a:srgbClr val="5A6377"/>
                </a:solidFill>
                <a:latin typeface="Calibri"/>
                <a:ea typeface="Calibri"/>
                <a:cs typeface="Calibri"/>
              </a:rPr>
              <a:t>Science establishes systematic dependence of experience on brain and body. Physicalism interprets that dependence as ontological sufficiency; that further step is philosophical.</a:t>
            </a:r>
          </a:p>
        </p:txBody>
      </p:sp>
      <p:sp>
        <p:nvSpPr>
          <p:cNvPr id="9" name="Rounded Rectangle 8">
            <a:extLst xmlns:a="http://schemas.openxmlformats.org/drawingml/2006/main">
              <a:ext uri="{FF2B5EF4-FFF2-40B4-BE49-F238E27FC236}">
                <a16:creationId xmlns:a16="http://schemas.microsoft.com/office/drawing/2014/main" id="{42F67026-7884-4EB0-88AE-74E7B83E7391}"/>
              </a:ext>
            </a:extLst>
          </p:cNvPr>
          <p:cNvSpPr>
            <a:spLocks xmlns:a="http://schemas.openxmlformats.org/drawingml/2006/main" noGrp="1"/>
          </p:cNvSpPr>
          <p:nvPr/>
        </p:nvSpPr>
        <p:spPr>
          <a:xfrm xmlns:a="http://schemas.openxmlformats.org/drawingml/2006/main">
            <a:off x="685800" y="2240280"/>
            <a:ext cx="5294376" cy="14630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800FAABA-AD0E-40E7-BE9E-3CF057DB630D}"/>
              </a:ext>
            </a:extLst>
          </p:cNvPr>
          <p:cNvSpPr>
            <a:spLocks xmlns:a="http://schemas.openxmlformats.org/drawingml/2006/main" noGrp="1"/>
          </p:cNvSpPr>
          <p:nvPr/>
        </p:nvSpPr>
        <p:spPr>
          <a:xfrm xmlns:a="http://schemas.openxmlformats.org/drawingml/2006/main">
            <a:off x="941832" y="2441448"/>
            <a:ext cx="485546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Two fulfilments remain embodied</a:t>
            </a:r>
          </a:p>
        </p:txBody>
      </p:sp>
      <p:sp>
        <p:nvSpPr>
          <p:cNvPr id="11" name="TextBox 10">
            <a:extLst xmlns:a="http://schemas.openxmlformats.org/drawingml/2006/main">
              <a:ext uri="{FF2B5EF4-FFF2-40B4-BE49-F238E27FC236}">
                <a16:creationId xmlns:a16="http://schemas.microsoft.com/office/drawing/2014/main" id="{CC217B43-8178-4757-AB87-228CFEF40634}"/>
              </a:ext>
            </a:extLst>
          </p:cNvPr>
          <p:cNvSpPr>
            <a:spLocks xmlns:a="http://schemas.openxmlformats.org/drawingml/2006/main" noGrp="1"/>
          </p:cNvSpPr>
          <p:nvPr/>
        </p:nvSpPr>
        <p:spPr>
          <a:xfrm xmlns:a="http://schemas.openxmlformats.org/drawingml/2006/main">
            <a:off x="941832" y="2953512"/>
            <a:ext cx="47823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00" b="0" i="0">
                <a:solidFill>
                  <a:srgbClr val="5A6377"/>
                </a:solidFill>
                <a:latin typeface="Calibri"/>
                <a:ea typeface="Calibri"/>
                <a:cs typeface="Calibri"/>
              </a:rPr>
              <a:t>Interoception, reward, attachment, and cultural learning can differentiate bodily and relational fulfilment without a second entity.</a:t>
            </a:r>
          </a:p>
        </p:txBody>
      </p:sp>
      <p:sp>
        <p:nvSpPr>
          <p:cNvPr id="12" name="Rounded Rectangle 11">
            <a:extLst xmlns:a="http://schemas.openxmlformats.org/drawingml/2006/main">
              <a:ext uri="{FF2B5EF4-FFF2-40B4-BE49-F238E27FC236}">
                <a16:creationId xmlns:a16="http://schemas.microsoft.com/office/drawing/2014/main" id="{446F2F26-8FD3-4CBF-BC1F-2C56A8712945}"/>
              </a:ext>
            </a:extLst>
          </p:cNvPr>
          <p:cNvSpPr>
            <a:spLocks xmlns:a="http://schemas.openxmlformats.org/drawingml/2006/main" noGrp="1"/>
          </p:cNvSpPr>
          <p:nvPr/>
        </p:nvSpPr>
        <p:spPr>
          <a:xfrm xmlns:a="http://schemas.openxmlformats.org/drawingml/2006/main">
            <a:off x="6208776" y="2240280"/>
            <a:ext cx="5294376" cy="14630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FFCDA55F-07AA-47EF-8E81-CAC2F62D8D3C}"/>
              </a:ext>
            </a:extLst>
          </p:cNvPr>
          <p:cNvSpPr>
            <a:spLocks xmlns:a="http://schemas.openxmlformats.org/drawingml/2006/main" noGrp="1"/>
          </p:cNvSpPr>
          <p:nvPr/>
        </p:nvSpPr>
        <p:spPr>
          <a:xfrm xmlns:a="http://schemas.openxmlformats.org/drawingml/2006/main">
            <a:off x="6464808" y="2441448"/>
            <a:ext cx="485546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Unlimited wanting is learnable</a:t>
            </a:r>
          </a:p>
        </p:txBody>
      </p:sp>
      <p:sp>
        <p:nvSpPr>
          <p:cNvPr id="14" name="TextBox 13">
            <a:extLst xmlns:a="http://schemas.openxmlformats.org/drawingml/2006/main">
              <a:ext uri="{FF2B5EF4-FFF2-40B4-BE49-F238E27FC236}">
                <a16:creationId xmlns:a16="http://schemas.microsoft.com/office/drawing/2014/main" id="{D057D879-3E86-4861-B8AE-30EDB86BCAC9}"/>
              </a:ext>
            </a:extLst>
          </p:cNvPr>
          <p:cNvSpPr>
            <a:spLocks xmlns:a="http://schemas.openxmlformats.org/drawingml/2006/main" noGrp="1"/>
          </p:cNvSpPr>
          <p:nvPr/>
        </p:nvSpPr>
        <p:spPr>
          <a:xfrm xmlns:a="http://schemas.openxmlformats.org/drawingml/2006/main">
            <a:off x="6464808" y="2953512"/>
            <a:ext cx="47823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00" b="0" i="0">
                <a:solidFill>
                  <a:srgbClr val="5A6377"/>
                </a:solidFill>
                <a:latin typeface="Calibri"/>
                <a:ea typeface="Calibri"/>
                <a:cs typeface="Calibri"/>
              </a:rPr>
              <a:t>Reinforcement, prediction, language, and social comparison can extend desire far beyond immediate biological need.</a:t>
            </a:r>
          </a:p>
        </p:txBody>
      </p:sp>
      <p:sp>
        <p:nvSpPr>
          <p:cNvPr id="15" name="Rounded Rectangle 14">
            <a:extLst xmlns:a="http://schemas.openxmlformats.org/drawingml/2006/main">
              <a:ext uri="{FF2B5EF4-FFF2-40B4-BE49-F238E27FC236}">
                <a16:creationId xmlns:a16="http://schemas.microsoft.com/office/drawing/2014/main" id="{5167EF2D-C34C-4236-9E86-7F31FF4373F5}"/>
              </a:ext>
            </a:extLst>
          </p:cNvPr>
          <p:cNvSpPr>
            <a:spLocks xmlns:a="http://schemas.openxmlformats.org/drawingml/2006/main" noGrp="1"/>
          </p:cNvSpPr>
          <p:nvPr/>
        </p:nvSpPr>
        <p:spPr>
          <a:xfrm xmlns:a="http://schemas.openxmlformats.org/drawingml/2006/main">
            <a:off x="685800" y="3794760"/>
            <a:ext cx="5294376" cy="14630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1C34AC07-6741-4211-A126-572FE2F9E31D}"/>
              </a:ext>
            </a:extLst>
          </p:cNvPr>
          <p:cNvSpPr>
            <a:spLocks xmlns:a="http://schemas.openxmlformats.org/drawingml/2006/main" noGrp="1"/>
          </p:cNvSpPr>
          <p:nvPr/>
        </p:nvSpPr>
        <p:spPr>
          <a:xfrm xmlns:a="http://schemas.openxmlformats.org/drawingml/2006/main">
            <a:off x="941832" y="3995928"/>
            <a:ext cx="485546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The self is modelled</a:t>
            </a:r>
          </a:p>
        </p:txBody>
      </p:sp>
      <p:sp>
        <p:nvSpPr>
          <p:cNvPr id="17" name="TextBox 16">
            <a:extLst xmlns:a="http://schemas.openxmlformats.org/drawingml/2006/main">
              <a:ext uri="{FF2B5EF4-FFF2-40B4-BE49-F238E27FC236}">
                <a16:creationId xmlns:a16="http://schemas.microsoft.com/office/drawing/2014/main" id="{BDBDCA6C-2644-461B-94FF-493418E12DAF}"/>
              </a:ext>
            </a:extLst>
          </p:cNvPr>
          <p:cNvSpPr>
            <a:spLocks xmlns:a="http://schemas.openxmlformats.org/drawingml/2006/main" noGrp="1"/>
          </p:cNvSpPr>
          <p:nvPr/>
        </p:nvSpPr>
        <p:spPr>
          <a:xfrm xmlns:a="http://schemas.openxmlformats.org/drawingml/2006/main">
            <a:off x="941832" y="4507992"/>
            <a:ext cx="47823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00" b="0" i="0">
                <a:solidFill>
                  <a:srgbClr val="5A6377"/>
                </a:solidFill>
                <a:latin typeface="Calibri"/>
                <a:ea typeface="Calibri"/>
                <a:cs typeface="Calibri"/>
              </a:rPr>
              <a:t>Memory, embodied prediction, and social cognition can sustain a coherent self-model across bodily change.</a:t>
            </a:r>
          </a:p>
        </p:txBody>
      </p:sp>
      <p:sp>
        <p:nvSpPr>
          <p:cNvPr id="18" name="Rounded Rectangle 17">
            <a:extLst xmlns:a="http://schemas.openxmlformats.org/drawingml/2006/main">
              <a:ext uri="{FF2B5EF4-FFF2-40B4-BE49-F238E27FC236}">
                <a16:creationId xmlns:a16="http://schemas.microsoft.com/office/drawing/2014/main" id="{F0C33818-6D94-49BE-AE5C-BAB4B0257EEB}"/>
              </a:ext>
            </a:extLst>
          </p:cNvPr>
          <p:cNvSpPr>
            <a:spLocks xmlns:a="http://schemas.openxmlformats.org/drawingml/2006/main" noGrp="1"/>
          </p:cNvSpPr>
          <p:nvPr/>
        </p:nvSpPr>
        <p:spPr>
          <a:xfrm xmlns:a="http://schemas.openxmlformats.org/drawingml/2006/main">
            <a:off x="6208776" y="3794760"/>
            <a:ext cx="5294376" cy="14630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8524E052-C873-4424-9CB6-25D1678D2211}"/>
              </a:ext>
            </a:extLst>
          </p:cNvPr>
          <p:cNvSpPr>
            <a:spLocks xmlns:a="http://schemas.openxmlformats.org/drawingml/2006/main" noGrp="1"/>
          </p:cNvSpPr>
          <p:nvPr/>
        </p:nvSpPr>
        <p:spPr>
          <a:xfrm xmlns:a="http://schemas.openxmlformats.org/drawingml/2006/main">
            <a:off x="6464808" y="3995928"/>
            <a:ext cx="485546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Morality develops early</a:t>
            </a:r>
          </a:p>
        </p:txBody>
      </p:sp>
      <p:sp>
        <p:nvSpPr>
          <p:cNvPr id="20" name="TextBox 19">
            <a:extLst xmlns:a="http://schemas.openxmlformats.org/drawingml/2006/main">
              <a:ext uri="{FF2B5EF4-FFF2-40B4-BE49-F238E27FC236}">
                <a16:creationId xmlns:a16="http://schemas.microsoft.com/office/drawing/2014/main" id="{C7D6999A-292E-421E-9C66-04A97079CD2E}"/>
              </a:ext>
            </a:extLst>
          </p:cNvPr>
          <p:cNvSpPr>
            <a:spLocks xmlns:a="http://schemas.openxmlformats.org/drawingml/2006/main" noGrp="1"/>
          </p:cNvSpPr>
          <p:nvPr/>
        </p:nvSpPr>
        <p:spPr>
          <a:xfrm xmlns:a="http://schemas.openxmlformats.org/drawingml/2006/main">
            <a:off x="6464808" y="4507992"/>
            <a:ext cx="4782312"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00" b="0" i="0">
                <a:solidFill>
                  <a:srgbClr val="5A6377"/>
                </a:solidFill>
                <a:latin typeface="Calibri"/>
                <a:ea typeface="Calibri"/>
                <a:cs typeface="Calibri"/>
              </a:rPr>
              <a:t>Evolution, temperament, attachment, and learning can produce early fairness expectations without assuming jeevan.</a:t>
            </a:r>
          </a:p>
        </p:txBody>
      </p:sp>
      <p:sp>
        <p:nvSpPr>
          <p:cNvPr id="21" name="Rounded Rectangle 20">
            <a:extLst xmlns:a="http://schemas.openxmlformats.org/drawingml/2006/main">
              <a:ext uri="{FF2B5EF4-FFF2-40B4-BE49-F238E27FC236}">
                <a16:creationId xmlns:a16="http://schemas.microsoft.com/office/drawing/2014/main" id="{F5B9C9A9-2663-4073-BB2D-F5E4FA23C6A4}"/>
              </a:ext>
            </a:extLst>
          </p:cNvPr>
          <p:cNvSpPr>
            <a:spLocks xmlns:a="http://schemas.openxmlformats.org/drawingml/2006/main" noGrp="1"/>
          </p:cNvSpPr>
          <p:nvPr/>
        </p:nvSpPr>
        <p:spPr>
          <a:xfrm xmlns:a="http://schemas.openxmlformats.org/drawingml/2006/main">
            <a:off x="685800" y="5440680"/>
            <a:ext cx="10817352" cy="713232"/>
          </a:xfrm>
          <a:prstGeom xmlns:a="http://schemas.openxmlformats.org/drawingml/2006/main" prst="roundRect">
            <a:avLst>
              <a:gd name="adj" fmla="val 12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F0972695-CECE-4442-A8CA-FB46D8175CA7}"/>
              </a:ext>
            </a:extLst>
          </p:cNvPr>
          <p:cNvSpPr>
            <a:spLocks xmlns:a="http://schemas.openxmlformats.org/drawingml/2006/main" noGrp="1"/>
          </p:cNvSpPr>
          <p:nvPr/>
        </p:nvSpPr>
        <p:spPr>
          <a:xfrm xmlns:a="http://schemas.openxmlformats.org/drawingml/2006/main">
            <a:off x="1005840" y="5440680"/>
            <a:ext cx="101772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9A6414"/>
                </a:solidFill>
                <a:latin typeface="Calibri"/>
                <a:ea typeface="Calibri"/>
                <a:cs typeface="Calibri"/>
              </a:rPr>
              <a:t>Public evidence shows neural dependence. It has not yet derived subjective experience, normativity, or agency from physics alone.</a:t>
            </a:r>
          </a:p>
        </p:txBody>
      </p:sp>
      <p:sp>
        <p:nvSpPr>
          <p:cNvPr id="23" name="TextBox 22">
            <a:extLst xmlns:a="http://schemas.openxmlformats.org/drawingml/2006/main">
              <a:ext uri="{FF2B5EF4-FFF2-40B4-BE49-F238E27FC236}">
                <a16:creationId xmlns:a16="http://schemas.microsoft.com/office/drawing/2014/main" id="{9D9317A1-8EA6-4EE6-8601-BE3663BD48AD}"/>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§2.1–2.5</a:t>
            </a:r>
          </a:p>
        </p:txBody>
      </p:sp>
    </p:spTree>
    <p:extLst>
      <p:ext uri="{BB962C8B-B14F-4D97-AF65-F5344CB8AC3E}">
        <p14:creationId xmlns:p14="http://schemas.microsoft.com/office/powerpoint/2010/main" val="1584969001"/>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92D0F8C-D2E1-40D5-9108-154689AFC5E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E208AAE0-629C-4449-A96B-10B565918577}"/>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BA5D44DB-7623-4C26-A9E6-6BC24D511FA5}"/>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267B5988-7208-488D-AD21-855C996B3DD5}"/>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DBC3AA2D-80E6-4F35-A870-57D212731B2B}"/>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ADVAITA VEDANTA · PHENOMENOLOGY</a:t>
            </a:r>
          </a:p>
        </p:txBody>
      </p:sp>
      <p:sp>
        <p:nvSpPr>
          <p:cNvPr id="7" name="TextBox 6">
            <a:extLst xmlns:a="http://schemas.openxmlformats.org/drawingml/2006/main">
              <a:ext uri="{FF2B5EF4-FFF2-40B4-BE49-F238E27FC236}">
                <a16:creationId xmlns:a16="http://schemas.microsoft.com/office/drawing/2014/main" id="{410276C3-2C7B-4F10-964B-AF44ECBF18F5}"/>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Neti Neti — Not This, Not This</a:t>
            </a:r>
          </a:p>
        </p:txBody>
      </p:sp>
      <p:sp>
        <p:nvSpPr>
          <p:cNvPr id="8" name="TextBox 7">
            <a:extLst xmlns:a="http://schemas.openxmlformats.org/drawingml/2006/main">
              <a:ext uri="{FF2B5EF4-FFF2-40B4-BE49-F238E27FC236}">
                <a16:creationId xmlns:a16="http://schemas.microsoft.com/office/drawing/2014/main" id="{9D0580C4-4FC7-4BA0-A117-B35D42A9653F}"/>
              </a:ext>
            </a:extLst>
          </p:cNvPr>
          <p:cNvSpPr>
            <a:spLocks xmlns:a="http://schemas.openxmlformats.org/drawingml/2006/main" noGrp="1"/>
          </p:cNvSpPr>
          <p:nvPr/>
        </p:nvSpPr>
        <p:spPr>
          <a:xfrm xmlns:a="http://schemas.openxmlformats.org/drawingml/2006/main">
            <a:off x="685800" y="1737360"/>
            <a:ext cx="107899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400" b="0" i="0">
                <a:solidFill>
                  <a:srgbClr val="5A6377"/>
                </a:solidFill>
                <a:latin typeface="Calibri"/>
                <a:ea typeface="Calibri"/>
                <a:cs typeface="Calibri"/>
              </a:rPr>
              <a:t>Turn attention inward and distinguish seer from seen (drig-drishya-viveka). Whatever appears as an object—including body, thought, and ego—is not the ultimate subject.</a:t>
            </a:r>
          </a:p>
        </p:txBody>
      </p:sp>
      <p:sp>
        <p:nvSpPr>
          <p:cNvPr id="9" name="Rounded Rectangle 8">
            <a:extLst xmlns:a="http://schemas.openxmlformats.org/drawingml/2006/main">
              <a:ext uri="{FF2B5EF4-FFF2-40B4-BE49-F238E27FC236}">
                <a16:creationId xmlns:a16="http://schemas.microsoft.com/office/drawing/2014/main" id="{A1CEDB8F-4A24-4405-A3E0-3CFDE01B2D04}"/>
              </a:ext>
            </a:extLst>
          </p:cNvPr>
          <p:cNvSpPr>
            <a:spLocks xmlns:a="http://schemas.openxmlformats.org/drawingml/2006/main" noGrp="1"/>
          </p:cNvSpPr>
          <p:nvPr/>
        </p:nvSpPr>
        <p:spPr>
          <a:xfrm xmlns:a="http://schemas.openxmlformats.org/drawingml/2006/main">
            <a:off x="685800" y="2788920"/>
            <a:ext cx="5257800" cy="196596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AEF20DEC-4DA4-439F-A476-3C021E6C57C4}"/>
              </a:ext>
            </a:extLst>
          </p:cNvPr>
          <p:cNvSpPr>
            <a:spLocks xmlns:a="http://schemas.openxmlformats.org/drawingml/2006/main" noGrp="1"/>
          </p:cNvSpPr>
          <p:nvPr/>
        </p:nvSpPr>
        <p:spPr>
          <a:xfrm xmlns:a="http://schemas.openxmlformats.org/drawingml/2006/main">
            <a:off x="898855" y="298368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81F2FA3D-94F3-470D-94BA-AE3B36AA76B8}"/>
              </a:ext>
            </a:extLst>
          </p:cNvPr>
          <p:cNvSpPr>
            <a:spLocks xmlns:a="http://schemas.openxmlformats.org/drawingml/2006/main" noGrp="1"/>
          </p:cNvSpPr>
          <p:nvPr/>
        </p:nvSpPr>
        <p:spPr>
          <a:xfrm xmlns:a="http://schemas.openxmlformats.org/drawingml/2006/main">
            <a:off x="977036" y="306186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2F4267A9-BE76-485F-8DF1-C0CD82B4D0AF}"/>
              </a:ext>
            </a:extLst>
          </p:cNvPr>
          <p:cNvSpPr>
            <a:spLocks xmlns:a="http://schemas.openxmlformats.org/drawingml/2006/main" noGrp="1"/>
          </p:cNvSpPr>
          <p:nvPr/>
        </p:nvSpPr>
        <p:spPr>
          <a:xfrm xmlns:a="http://schemas.openxmlformats.org/drawingml/2006/main">
            <a:off x="1038758" y="312359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276F6B33-84FE-4CAA-8C1E-7F8A5EFB801E}"/>
              </a:ext>
            </a:extLst>
          </p:cNvPr>
          <p:cNvSpPr>
            <a:spLocks xmlns:a="http://schemas.openxmlformats.org/drawingml/2006/main" noGrp="1"/>
          </p:cNvSpPr>
          <p:nvPr/>
        </p:nvSpPr>
        <p:spPr>
          <a:xfrm xmlns:a="http://schemas.openxmlformats.org/drawingml/2006/main">
            <a:off x="1444752" y="299008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Witness, not content</a:t>
            </a:r>
          </a:p>
        </p:txBody>
      </p:sp>
      <p:sp>
        <p:nvSpPr>
          <p:cNvPr id="14" name="TextBox 13">
            <a:extLst xmlns:a="http://schemas.openxmlformats.org/drawingml/2006/main">
              <a:ext uri="{FF2B5EF4-FFF2-40B4-BE49-F238E27FC236}">
                <a16:creationId xmlns:a16="http://schemas.microsoft.com/office/drawing/2014/main" id="{CC4AE638-9BB9-4104-9673-7A02DBDDBA63}"/>
              </a:ext>
            </a:extLst>
          </p:cNvPr>
          <p:cNvSpPr>
            <a:spLocks xmlns:a="http://schemas.openxmlformats.org/drawingml/2006/main" noGrp="1"/>
          </p:cNvSpPr>
          <p:nvPr/>
        </p:nvSpPr>
        <p:spPr>
          <a:xfrm xmlns:a="http://schemas.openxmlformats.org/drawingml/2006/main">
            <a:off x="941832" y="3502152"/>
            <a:ext cx="4745736"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Fulfilment, wanting, and ego are observed and therefore not the ultimate Self. Deep sleep is recalled as an absence of differentiated experience; Advaita reads it with waking and dream as evidence across states.</a:t>
            </a:r>
          </a:p>
        </p:txBody>
      </p:sp>
      <p:sp>
        <p:nvSpPr>
          <p:cNvPr id="15" name="Rounded Rectangle 14">
            <a:extLst xmlns:a="http://schemas.openxmlformats.org/drawingml/2006/main">
              <a:ext uri="{FF2B5EF4-FFF2-40B4-BE49-F238E27FC236}">
                <a16:creationId xmlns:a16="http://schemas.microsoft.com/office/drawing/2014/main" id="{DE9A2F29-4E2A-4349-95D6-95303043615F}"/>
              </a:ext>
            </a:extLst>
          </p:cNvPr>
          <p:cNvSpPr>
            <a:spLocks xmlns:a="http://schemas.openxmlformats.org/drawingml/2006/main" noGrp="1"/>
          </p:cNvSpPr>
          <p:nvPr/>
        </p:nvSpPr>
        <p:spPr>
          <a:xfrm xmlns:a="http://schemas.openxmlformats.org/drawingml/2006/main">
            <a:off x="6172200" y="2788920"/>
            <a:ext cx="5330952" cy="196596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07C1773A-39F4-4D9E-9205-C2FAE83C5642}"/>
              </a:ext>
            </a:extLst>
          </p:cNvPr>
          <p:cNvSpPr>
            <a:spLocks xmlns:a="http://schemas.openxmlformats.org/drawingml/2006/main" noGrp="1"/>
          </p:cNvSpPr>
          <p:nvPr/>
        </p:nvSpPr>
        <p:spPr>
          <a:xfrm xmlns:a="http://schemas.openxmlformats.org/drawingml/2006/main">
            <a:off x="6385255" y="298368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FDBA8256-5F8B-4930-9422-5470A644CB9D}"/>
              </a:ext>
            </a:extLst>
          </p:cNvPr>
          <p:cNvSpPr>
            <a:spLocks xmlns:a="http://schemas.openxmlformats.org/drawingml/2006/main" noGrp="1"/>
          </p:cNvSpPr>
          <p:nvPr/>
        </p:nvSpPr>
        <p:spPr>
          <a:xfrm xmlns:a="http://schemas.openxmlformats.org/drawingml/2006/main">
            <a:off x="6463436" y="306186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BECBDF23-DCC7-4DC4-A17B-EF23F85297D2}"/>
              </a:ext>
            </a:extLst>
          </p:cNvPr>
          <p:cNvSpPr>
            <a:spLocks xmlns:a="http://schemas.openxmlformats.org/drawingml/2006/main" noGrp="1"/>
          </p:cNvSpPr>
          <p:nvPr/>
        </p:nvSpPr>
        <p:spPr>
          <a:xfrm xmlns:a="http://schemas.openxmlformats.org/drawingml/2006/main">
            <a:off x="6525158" y="312359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BDBBC098-48CE-48BB-9379-98FD6BDA779C}"/>
              </a:ext>
            </a:extLst>
          </p:cNvPr>
          <p:cNvSpPr>
            <a:spLocks xmlns:a="http://schemas.openxmlformats.org/drawingml/2006/main" noGrp="1"/>
          </p:cNvSpPr>
          <p:nvPr/>
        </p:nvSpPr>
        <p:spPr>
          <a:xfrm xmlns:a="http://schemas.openxmlformats.org/drawingml/2006/main">
            <a:off x="6931152" y="299008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9A6414"/>
                </a:solidFill>
                <a:latin typeface="Cambria"/>
                <a:ea typeface="Cambria"/>
                <a:cs typeface="Cambria"/>
              </a:rPr>
              <a:t>Threefold discipline</a:t>
            </a:r>
          </a:p>
        </p:txBody>
      </p:sp>
      <p:sp>
        <p:nvSpPr>
          <p:cNvPr id="20" name="TextBox 19">
            <a:extLst xmlns:a="http://schemas.openxmlformats.org/drawingml/2006/main">
              <a:ext uri="{FF2B5EF4-FFF2-40B4-BE49-F238E27FC236}">
                <a16:creationId xmlns:a16="http://schemas.microsoft.com/office/drawing/2014/main" id="{81F7B4B8-F382-4DD7-9EB1-4037C791C659}"/>
              </a:ext>
            </a:extLst>
          </p:cNvPr>
          <p:cNvSpPr>
            <a:spLocks xmlns:a="http://schemas.openxmlformats.org/drawingml/2006/main" noGrp="1"/>
          </p:cNvSpPr>
          <p:nvPr/>
        </p:nvSpPr>
        <p:spPr>
          <a:xfrm xmlns:a="http://schemas.openxmlformats.org/drawingml/2006/main">
            <a:off x="6428232" y="3502152"/>
            <a:ext cx="4818888"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Hearing (shravana), reasoning (manana), and sustained meditation (nididhyasana) under a qualified teacher—not introspection alone—support the tradition’s conclusion.</a:t>
            </a:r>
          </a:p>
        </p:txBody>
      </p:sp>
      <p:sp>
        <p:nvSpPr>
          <p:cNvPr id="21" name="Rounded Rectangle 20">
            <a:extLst xmlns:a="http://schemas.openxmlformats.org/drawingml/2006/main">
              <a:ext uri="{FF2B5EF4-FFF2-40B4-BE49-F238E27FC236}">
                <a16:creationId xmlns:a16="http://schemas.microsoft.com/office/drawing/2014/main" id="{D42C4C64-0EB6-4FE2-A08E-F774C4561695}"/>
              </a:ext>
            </a:extLst>
          </p:cNvPr>
          <p:cNvSpPr>
            <a:spLocks xmlns:a="http://schemas.openxmlformats.org/drawingml/2006/main" noGrp="1"/>
          </p:cNvSpPr>
          <p:nvPr/>
        </p:nvSpPr>
        <p:spPr>
          <a:xfrm xmlns:a="http://schemas.openxmlformats.org/drawingml/2006/main">
            <a:off x="685800" y="5029200"/>
            <a:ext cx="10817352" cy="777240"/>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484C8CC8-7F57-4626-A32C-179D0E3601D3}"/>
              </a:ext>
            </a:extLst>
          </p:cNvPr>
          <p:cNvSpPr>
            <a:spLocks xmlns:a="http://schemas.openxmlformats.org/drawingml/2006/main" noGrp="1"/>
          </p:cNvSpPr>
          <p:nvPr/>
        </p:nvSpPr>
        <p:spPr>
          <a:xfrm xmlns:a="http://schemas.openxmlformats.org/drawingml/2006/main">
            <a:off x="1005840" y="5029200"/>
            <a:ext cx="10177272"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Advaita regards jeevan as still an observable individual principle; MD regards the enduring self and plural world as real. The dispute is where negation should stop.</a:t>
            </a:r>
          </a:p>
        </p:txBody>
      </p:sp>
      <p:sp>
        <p:nvSpPr>
          <p:cNvPr id="23" name="TextBox 22">
            <a:extLst xmlns:a="http://schemas.openxmlformats.org/drawingml/2006/main">
              <a:ext uri="{FF2B5EF4-FFF2-40B4-BE49-F238E27FC236}">
                <a16:creationId xmlns:a16="http://schemas.microsoft.com/office/drawing/2014/main" id="{8B7D5959-AD73-4C32-8BFE-E4F5A9D842C3}"/>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DDV vv. 1–5 · BU 2.3.6, 2.4.5 · MU vv. 3–7 · TU 2.1–2.5 · Study §3.2–3.4</a:t>
            </a:r>
          </a:p>
        </p:txBody>
      </p:sp>
    </p:spTree>
    <p:extLst>
      <p:ext uri="{BB962C8B-B14F-4D97-AF65-F5344CB8AC3E}">
        <p14:creationId xmlns:p14="http://schemas.microsoft.com/office/powerpoint/2010/main" val="19701948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06F16ECE-E3A7-491F-82FF-7D947E9A3E9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9DAB2A7A-B277-42BC-838E-CCA386C44EA0}"/>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7D62EFA6-6FA3-4541-AB3A-425752C31DF7}"/>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CE3CEBC8-7FF1-472A-994D-796CB741B613}"/>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F0B5478-9382-4A78-83F8-EB475CF8B927}"/>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THE ANSWER</a:t>
            </a:r>
          </a:p>
        </p:txBody>
      </p:sp>
      <p:sp>
        <p:nvSpPr>
          <p:cNvPr id="7" name="TextBox 6">
            <a:extLst xmlns:a="http://schemas.openxmlformats.org/drawingml/2006/main">
              <a:ext uri="{FF2B5EF4-FFF2-40B4-BE49-F238E27FC236}">
                <a16:creationId xmlns:a16="http://schemas.microsoft.com/office/drawing/2014/main" id="{6117689F-A2D2-4941-81FA-CCC3206F1943}"/>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Body + Jeevan, in One Real World</a:t>
            </a:r>
          </a:p>
        </p:txBody>
      </p:sp>
      <p:sp>
        <p:nvSpPr>
          <p:cNvPr id="8" name="Rounded Rectangle 7">
            <a:extLst xmlns:a="http://schemas.openxmlformats.org/drawingml/2006/main">
              <a:ext uri="{FF2B5EF4-FFF2-40B4-BE49-F238E27FC236}">
                <a16:creationId xmlns:a16="http://schemas.microsoft.com/office/drawing/2014/main" id="{28C7CE0E-4B35-4575-AAD7-19D1C3F9EC9F}"/>
              </a:ext>
            </a:extLst>
          </p:cNvPr>
          <p:cNvSpPr>
            <a:spLocks xmlns:a="http://schemas.openxmlformats.org/drawingml/2006/main" noGrp="1"/>
          </p:cNvSpPr>
          <p:nvPr/>
        </p:nvSpPr>
        <p:spPr>
          <a:xfrm xmlns:a="http://schemas.openxmlformats.org/drawingml/2006/main">
            <a:off x="685800" y="1783080"/>
            <a:ext cx="5257800" cy="201168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9C5F4E12-4865-4AE7-B0CC-96242A438D06}"/>
              </a:ext>
            </a:extLst>
          </p:cNvPr>
          <p:cNvSpPr>
            <a:spLocks xmlns:a="http://schemas.openxmlformats.org/drawingml/2006/main" noGrp="1"/>
          </p:cNvSpPr>
          <p:nvPr/>
        </p:nvSpPr>
        <p:spPr>
          <a:xfrm xmlns:a="http://schemas.openxmlformats.org/drawingml/2006/main">
            <a:off x="8988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16863AB4-3AC7-4946-A05B-EA779DD814FE}"/>
              </a:ext>
            </a:extLst>
          </p:cNvPr>
          <p:cNvSpPr>
            <a:spLocks xmlns:a="http://schemas.openxmlformats.org/drawingml/2006/main" noGrp="1"/>
          </p:cNvSpPr>
          <p:nvPr/>
        </p:nvSpPr>
        <p:spPr>
          <a:xfrm xmlns:a="http://schemas.openxmlformats.org/drawingml/2006/main">
            <a:off x="9770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3E4F50AB-E883-4DBD-B3D1-856683E9DA13}"/>
              </a:ext>
            </a:extLst>
          </p:cNvPr>
          <p:cNvSpPr>
            <a:spLocks xmlns:a="http://schemas.openxmlformats.org/drawingml/2006/main" noGrp="1"/>
          </p:cNvSpPr>
          <p:nvPr/>
        </p:nvSpPr>
        <p:spPr>
          <a:xfrm xmlns:a="http://schemas.openxmlformats.org/drawingml/2006/main">
            <a:off x="10387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8428F27C-29D9-4E6B-A9AE-B9B654C072D8}"/>
              </a:ext>
            </a:extLst>
          </p:cNvPr>
          <p:cNvSpPr>
            <a:spLocks xmlns:a="http://schemas.openxmlformats.org/drawingml/2006/main" noGrp="1"/>
          </p:cNvSpPr>
          <p:nvPr/>
        </p:nvSpPr>
        <p:spPr>
          <a:xfrm xmlns:a="http://schemas.openxmlformats.org/drawingml/2006/main">
            <a:off x="1444752" y="198424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9A6414"/>
                </a:solidFill>
                <a:latin typeface="Cambria"/>
                <a:ea typeface="Cambria"/>
                <a:cs typeface="Cambria"/>
              </a:rPr>
              <a:t>The answer</a:t>
            </a:r>
          </a:p>
        </p:txBody>
      </p:sp>
      <p:sp>
        <p:nvSpPr>
          <p:cNvPr id="13" name="TextBox 12">
            <a:extLst xmlns:a="http://schemas.openxmlformats.org/drawingml/2006/main">
              <a:ext uri="{FF2B5EF4-FFF2-40B4-BE49-F238E27FC236}">
                <a16:creationId xmlns:a16="http://schemas.microsoft.com/office/drawing/2014/main" id="{948A633E-9D02-4A44-9638-BF50C3F07A34}"/>
              </a:ext>
            </a:extLst>
          </p:cNvPr>
          <p:cNvSpPr>
            <a:spLocks xmlns:a="http://schemas.openxmlformats.org/drawingml/2006/main" noGrp="1"/>
          </p:cNvSpPr>
          <p:nvPr/>
        </p:nvSpPr>
        <p:spPr>
          <a:xfrm xmlns:a="http://schemas.openxmlformats.org/drawingml/2006/main">
            <a:off x="941832" y="2496312"/>
            <a:ext cx="4745736"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50" b="0" i="0">
                <a:solidFill>
                  <a:srgbClr val="5A6377"/>
                </a:solidFill>
                <a:latin typeface="Calibri"/>
                <a:ea typeface="Calibri"/>
                <a:cs typeface="Calibri"/>
              </a:rPr>
              <a:t>A human is the temporary joint form of a material body and jeevan, a sentient atom. Both are real units: anti-reductionist, but not Cartesian substance dualism.</a:t>
            </a:r>
          </a:p>
        </p:txBody>
      </p:sp>
      <p:sp>
        <p:nvSpPr>
          <p:cNvPr id="14" name="Rounded Rectangle 13">
            <a:extLst xmlns:a="http://schemas.openxmlformats.org/drawingml/2006/main">
              <a:ext uri="{FF2B5EF4-FFF2-40B4-BE49-F238E27FC236}">
                <a16:creationId xmlns:a16="http://schemas.microsoft.com/office/drawing/2014/main" id="{16527CAB-6CA6-45C1-9750-68F0531DB15E}"/>
              </a:ext>
            </a:extLst>
          </p:cNvPr>
          <p:cNvSpPr>
            <a:spLocks xmlns:a="http://schemas.openxmlformats.org/drawingml/2006/main" noGrp="1"/>
          </p:cNvSpPr>
          <p:nvPr/>
        </p:nvSpPr>
        <p:spPr>
          <a:xfrm xmlns:a="http://schemas.openxmlformats.org/drawingml/2006/main">
            <a:off x="6172200" y="1783080"/>
            <a:ext cx="5330952" cy="201168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E075FF1C-A55B-40C1-9252-CBED067128B6}"/>
              </a:ext>
            </a:extLst>
          </p:cNvPr>
          <p:cNvSpPr>
            <a:spLocks xmlns:a="http://schemas.openxmlformats.org/drawingml/2006/main" noGrp="1"/>
          </p:cNvSpPr>
          <p:nvPr/>
        </p:nvSpPr>
        <p:spPr>
          <a:xfrm xmlns:a="http://schemas.openxmlformats.org/drawingml/2006/main">
            <a:off x="63852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C78B5EDA-3066-4280-9A0F-F5C6AF275015}"/>
              </a:ext>
            </a:extLst>
          </p:cNvPr>
          <p:cNvSpPr>
            <a:spLocks xmlns:a="http://schemas.openxmlformats.org/drawingml/2006/main" noGrp="1"/>
          </p:cNvSpPr>
          <p:nvPr/>
        </p:nvSpPr>
        <p:spPr>
          <a:xfrm xmlns:a="http://schemas.openxmlformats.org/drawingml/2006/main">
            <a:off x="64634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A1124CF0-0F07-4344-9E30-89CAC529A604}"/>
              </a:ext>
            </a:extLst>
          </p:cNvPr>
          <p:cNvSpPr>
            <a:spLocks xmlns:a="http://schemas.openxmlformats.org/drawingml/2006/main" noGrp="1"/>
          </p:cNvSpPr>
          <p:nvPr/>
        </p:nvSpPr>
        <p:spPr>
          <a:xfrm xmlns:a="http://schemas.openxmlformats.org/drawingml/2006/main">
            <a:off x="65251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648232A2-7B34-49C0-8EAE-CFF327B15736}"/>
              </a:ext>
            </a:extLst>
          </p:cNvPr>
          <p:cNvSpPr>
            <a:spLocks xmlns:a="http://schemas.openxmlformats.org/drawingml/2006/main" noGrp="1"/>
          </p:cNvSpPr>
          <p:nvPr/>
        </p:nvSpPr>
        <p:spPr>
          <a:xfrm xmlns:a="http://schemas.openxmlformats.org/drawingml/2006/main">
            <a:off x="6931152" y="198424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A model, not a gap-filler</a:t>
            </a:r>
          </a:p>
        </p:txBody>
      </p:sp>
      <p:sp>
        <p:nvSpPr>
          <p:cNvPr id="19" name="TextBox 18">
            <a:extLst xmlns:a="http://schemas.openxmlformats.org/drawingml/2006/main">
              <a:ext uri="{FF2B5EF4-FFF2-40B4-BE49-F238E27FC236}">
                <a16:creationId xmlns:a16="http://schemas.microsoft.com/office/drawing/2014/main" id="{6FFDEC66-6477-4B8B-B9ED-6A5D5A3F0CCE}"/>
              </a:ext>
            </a:extLst>
          </p:cNvPr>
          <p:cNvSpPr>
            <a:spLocks xmlns:a="http://schemas.openxmlformats.org/drawingml/2006/main" noGrp="1"/>
          </p:cNvSpPr>
          <p:nvPr/>
        </p:nvSpPr>
        <p:spPr>
          <a:xfrm xmlns:a="http://schemas.openxmlformats.org/drawingml/2006/main">
            <a:off x="6428232" y="2496312"/>
            <a:ext cx="4818888"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50" b="0" i="0">
                <a:solidFill>
                  <a:srgbClr val="5A6377"/>
                </a:solidFill>
                <a:latin typeface="Calibri"/>
                <a:ea typeface="Calibri"/>
                <a:cs typeface="Calibri"/>
              </a:rPr>
              <a:t>The body supplies structure and physiological activity; jeevan is proposed to account for experience, appraisal, desire, and understanding. The distinction still requires evidence.</a:t>
            </a:r>
          </a:p>
        </p:txBody>
      </p:sp>
      <p:sp>
        <p:nvSpPr>
          <p:cNvPr id="20" name="Rounded Rectangle 19">
            <a:extLst xmlns:a="http://schemas.openxmlformats.org/drawingml/2006/main">
              <a:ext uri="{FF2B5EF4-FFF2-40B4-BE49-F238E27FC236}">
                <a16:creationId xmlns:a16="http://schemas.microsoft.com/office/drawing/2014/main" id="{B707F45E-6744-4434-965E-1441E678D0B0}"/>
              </a:ext>
            </a:extLst>
          </p:cNvPr>
          <p:cNvSpPr>
            <a:spLocks xmlns:a="http://schemas.openxmlformats.org/drawingml/2006/main" noGrp="1"/>
          </p:cNvSpPr>
          <p:nvPr/>
        </p:nvSpPr>
        <p:spPr>
          <a:xfrm xmlns:a="http://schemas.openxmlformats.org/drawingml/2006/main">
            <a:off x="685800" y="4069080"/>
            <a:ext cx="10817352" cy="1234440"/>
          </a:xfrm>
          <a:prstGeom xmlns:a="http://schemas.openxmlformats.org/drawingml/2006/main" prst="roundRect">
            <a:avLst>
              <a:gd name="adj" fmla="val 8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128A42C9-AFF2-4D9F-9C33-1A414BF71F29}"/>
              </a:ext>
            </a:extLst>
          </p:cNvPr>
          <p:cNvSpPr>
            <a:spLocks xmlns:a="http://schemas.openxmlformats.org/drawingml/2006/main" noGrp="1"/>
          </p:cNvSpPr>
          <p:nvPr/>
        </p:nvSpPr>
        <p:spPr>
          <a:xfrm xmlns:a="http://schemas.openxmlformats.org/drawingml/2006/main">
            <a:off x="1051560" y="4224528"/>
            <a:ext cx="101498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8000"/>
              </a:lnSpc>
              <a:spcBef>
                <a:spcPts val="0"/>
              </a:spcBef>
              <a:spcAft>
                <a:spcPts val="400"/>
              </a:spcAft>
              <a:buNone/>
            </a:pPr>
            <a:r>
              <a:rPr sz="1500" b="0" i="1">
                <a:solidFill>
                  <a:srgbClr val="FFFFFF"/>
                </a:solidFill>
                <a:latin typeface="Calibri"/>
                <a:ea typeface="Calibri"/>
                <a:cs typeface="Calibri"/>
              </a:rPr>
              <a:t>“Existence is not just physicochemical matter, but all physical, chemical and </a:t>
            </a:r>
            <a:r>
              <a:rPr sz="1500" b="0" i="1">
                <a:solidFill>
                  <a:srgbClr val="C9D4EF"/>
                </a:solidFill>
                <a:latin typeface="Calibri"/>
                <a:ea typeface="Calibri"/>
                <a:cs typeface="Calibri"/>
              </a:rPr>
              <a:t>jeevan</a:t>
            </a:r>
            <a:r>
              <a:rPr sz="1500" b="0" i="1">
                <a:solidFill>
                  <a:srgbClr val="FFFFFF"/>
                </a:solidFill>
                <a:latin typeface="Calibri"/>
                <a:ea typeface="Calibri"/>
                <a:cs typeface="Calibri"/>
              </a:rPr>
              <a:t> entities are inseparably present in Omnipresence.”</a:t>
            </a:r>
          </a:p>
          <a:p xmlns:a="http://schemas.openxmlformats.org/drawingml/2006/main">
            <a:pPr algn="l">
              <a:lnSpc>
                <a:spcPct val="108000"/>
              </a:lnSpc>
              <a:spcBef>
                <a:spcPts val="0"/>
              </a:spcBef>
              <a:spcAft>
                <a:spcPts val="400"/>
              </a:spcAft>
              <a:buNone/>
            </a:pPr>
            <a:r>
              <a:rPr sz="1200" b="1" i="0">
                <a:solidFill>
                  <a:srgbClr val="C9D4EF"/>
                </a:solidFill>
                <a:latin typeface="Calibri"/>
                <a:ea typeface="Calibri"/>
                <a:cs typeface="Calibri"/>
              </a:rPr>
              <a:t>— MVD, The Alternative, point 7</a:t>
            </a:r>
          </a:p>
        </p:txBody>
      </p:sp>
      <p:sp>
        <p:nvSpPr>
          <p:cNvPr id="22" name="Rounded Rectangle 21">
            <a:extLst xmlns:a="http://schemas.openxmlformats.org/drawingml/2006/main">
              <a:ext uri="{FF2B5EF4-FFF2-40B4-BE49-F238E27FC236}">
                <a16:creationId xmlns:a16="http://schemas.microsoft.com/office/drawing/2014/main" id="{D80EE720-11AC-47FB-A469-5691C2C00834}"/>
              </a:ext>
            </a:extLst>
          </p:cNvPr>
          <p:cNvSpPr>
            <a:spLocks xmlns:a="http://schemas.openxmlformats.org/drawingml/2006/main" noGrp="1"/>
          </p:cNvSpPr>
          <p:nvPr/>
        </p:nvSpPr>
        <p:spPr>
          <a:xfrm xmlns:a="http://schemas.openxmlformats.org/drawingml/2006/main">
            <a:off x="685800" y="5532120"/>
            <a:ext cx="10817352" cy="713232"/>
          </a:xfrm>
          <a:prstGeom xmlns:a="http://schemas.openxmlformats.org/drawingml/2006/main" prst="roundRect">
            <a:avLst>
              <a:gd name="adj" fmla="val 12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168F42BB-0D8F-47BE-BFCE-8987C947E730}"/>
              </a:ext>
            </a:extLst>
          </p:cNvPr>
          <p:cNvSpPr>
            <a:spLocks xmlns:a="http://schemas.openxmlformats.org/drawingml/2006/main" noGrp="1"/>
          </p:cNvSpPr>
          <p:nvPr/>
        </p:nvSpPr>
        <p:spPr>
          <a:xfrm xmlns:a="http://schemas.openxmlformats.org/drawingml/2006/main">
            <a:off x="1005840" y="5532120"/>
            <a:ext cx="10177272"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9A6414"/>
                </a:solidFill>
                <a:latin typeface="Calibri"/>
                <a:ea typeface="Calibri"/>
                <a:cs typeface="Calibri"/>
              </a:rPr>
              <a:t>Matter develops through compositional orders; jeevan is claimed to arise through a distinct atomic completion. These are separate claims.</a:t>
            </a:r>
          </a:p>
        </p:txBody>
      </p:sp>
      <p:sp>
        <p:nvSpPr>
          <p:cNvPr id="24" name="TextBox 23">
            <a:extLst xmlns:a="http://schemas.openxmlformats.org/drawingml/2006/main">
              <a:ext uri="{FF2B5EF4-FFF2-40B4-BE49-F238E27FC236}">
                <a16:creationId xmlns:a16="http://schemas.microsoft.com/office/drawing/2014/main" id="{F8E42AA9-ABD0-41D3-B97D-19A69F45EA70}"/>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§1.1 · §1.3 · §5.1</a:t>
            </a:r>
          </a:p>
        </p:txBody>
      </p:sp>
    </p:spTree>
    <p:extLst>
      <p:ext uri="{BB962C8B-B14F-4D97-AF65-F5344CB8AC3E}">
        <p14:creationId xmlns:p14="http://schemas.microsoft.com/office/powerpoint/2010/main" val="122211461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024E3BA-0C94-4C16-8120-44D53A1F6D9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D70837D8-8721-4528-92DB-930CB444F4FF}"/>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61201C69-D20B-4011-BE3C-186861A54436}"/>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C6E7EB76-70BA-4318-BE2C-1D554EF48EF2}"/>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51048704-FE2E-401B-A1C9-351A2B889305}"/>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ONTOLOGY</a:t>
            </a:r>
          </a:p>
        </p:txBody>
      </p:sp>
      <p:sp>
        <p:nvSpPr>
          <p:cNvPr id="7" name="TextBox 6">
            <a:extLst xmlns:a="http://schemas.openxmlformats.org/drawingml/2006/main">
              <a:ext uri="{FF2B5EF4-FFF2-40B4-BE49-F238E27FC236}">
                <a16:creationId xmlns:a16="http://schemas.microsoft.com/office/drawing/2014/main" id="{D5541B66-90A1-419F-9CE2-E3D76B7AFB6A}"/>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Four Orders of Nature</a:t>
            </a:r>
          </a:p>
        </p:txBody>
      </p:sp>
      <p:sp>
        <p:nvSpPr>
          <p:cNvPr id="8" name="TextBox 7">
            <a:extLst xmlns:a="http://schemas.openxmlformats.org/drawingml/2006/main">
              <a:ext uri="{FF2B5EF4-FFF2-40B4-BE49-F238E27FC236}">
                <a16:creationId xmlns:a16="http://schemas.microsoft.com/office/drawing/2014/main" id="{593B613B-F4DB-480B-A838-B018BEED0289}"/>
              </a:ext>
            </a:extLst>
          </p:cNvPr>
          <p:cNvSpPr>
            <a:spLocks xmlns:a="http://schemas.openxmlformats.org/drawingml/2006/main" noGrp="1"/>
          </p:cNvSpPr>
          <p:nvPr/>
        </p:nvSpPr>
        <p:spPr>
          <a:xfrm xmlns:a="http://schemas.openxmlformats.org/drawingml/2006/main">
            <a:off x="685800" y="1737360"/>
            <a:ext cx="10789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MD describes four compositional orders. Animal and knowledge orders are sentient because a body is joined with jeevan; ‘order’ names organisation and activity, not four substances nested inside one another.</a:t>
            </a:r>
          </a:p>
        </p:txBody>
      </p:sp>
      <p:sp>
        <p:nvSpPr>
          <p:cNvPr id="9" name="Rounded Rectangle 8">
            <a:extLst xmlns:a="http://schemas.openxmlformats.org/drawingml/2006/main">
              <a:ext uri="{FF2B5EF4-FFF2-40B4-BE49-F238E27FC236}">
                <a16:creationId xmlns:a16="http://schemas.microsoft.com/office/drawing/2014/main" id="{167EFB98-5802-454E-9206-C115E0AC96BD}"/>
              </a:ext>
            </a:extLst>
          </p:cNvPr>
          <p:cNvSpPr>
            <a:spLocks xmlns:a="http://schemas.openxmlformats.org/drawingml/2006/main" noGrp="1"/>
          </p:cNvSpPr>
          <p:nvPr/>
        </p:nvSpPr>
        <p:spPr>
          <a:xfrm xmlns:a="http://schemas.openxmlformats.org/drawingml/2006/main">
            <a:off x="685800" y="2468880"/>
            <a:ext cx="2615184" cy="246888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BD916C0D-CC47-4BF7-B1E9-DF74E72976C6}"/>
              </a:ext>
            </a:extLst>
          </p:cNvPr>
          <p:cNvSpPr>
            <a:spLocks xmlns:a="http://schemas.openxmlformats.org/drawingml/2006/main" noGrp="1"/>
          </p:cNvSpPr>
          <p:nvPr/>
        </p:nvSpPr>
        <p:spPr>
          <a:xfrm xmlns:a="http://schemas.openxmlformats.org/drawingml/2006/main">
            <a:off x="886968" y="2651760"/>
            <a:ext cx="221284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550" b="1" i="0">
                <a:solidFill>
                  <a:srgbClr val="1E2447"/>
                </a:solidFill>
                <a:latin typeface="Cambria"/>
                <a:ea typeface="Cambria"/>
                <a:cs typeface="Cambria"/>
              </a:rPr>
              <a:t>Material</a:t>
            </a:r>
          </a:p>
        </p:txBody>
      </p:sp>
      <p:sp>
        <p:nvSpPr>
          <p:cNvPr id="11" name="TextBox 10">
            <a:extLst xmlns:a="http://schemas.openxmlformats.org/drawingml/2006/main">
              <a:ext uri="{FF2B5EF4-FFF2-40B4-BE49-F238E27FC236}">
                <a16:creationId xmlns:a16="http://schemas.microsoft.com/office/drawing/2014/main" id="{3FCA6C15-F19F-4091-A436-FD7982E7DFC5}"/>
              </a:ext>
            </a:extLst>
          </p:cNvPr>
          <p:cNvSpPr>
            <a:spLocks xmlns:a="http://schemas.openxmlformats.org/drawingml/2006/main" noGrp="1"/>
          </p:cNvSpPr>
          <p:nvPr/>
        </p:nvSpPr>
        <p:spPr>
          <a:xfrm xmlns:a="http://schemas.openxmlformats.org/drawingml/2006/main">
            <a:off x="886968" y="3429000"/>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composes, decomposes</a:t>
            </a:r>
          </a:p>
        </p:txBody>
      </p:sp>
      <p:sp>
        <p:nvSpPr>
          <p:cNvPr id="12" name="TextBox 11">
            <a:extLst xmlns:a="http://schemas.openxmlformats.org/drawingml/2006/main">
              <a:ext uri="{FF2B5EF4-FFF2-40B4-BE49-F238E27FC236}">
                <a16:creationId xmlns:a16="http://schemas.microsoft.com/office/drawing/2014/main" id="{EC68CB1F-8C57-49EC-858D-B9799E3ECA14}"/>
              </a:ext>
            </a:extLst>
          </p:cNvPr>
          <p:cNvSpPr>
            <a:spLocks xmlns:a="http://schemas.openxmlformats.org/drawingml/2006/main" noGrp="1"/>
          </p:cNvSpPr>
          <p:nvPr/>
        </p:nvSpPr>
        <p:spPr>
          <a:xfrm xmlns:a="http://schemas.openxmlformats.org/drawingml/2006/main">
            <a:off x="886968" y="4434840"/>
            <a:ext cx="22128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150" b="0" i="1">
                <a:solidFill>
                  <a:srgbClr val="1E2447"/>
                </a:solidFill>
                <a:latin typeface="Calibri"/>
                <a:ea typeface="Calibri"/>
                <a:cs typeface="Calibri"/>
              </a:rPr>
              <a:t>Soil, water, metals, and other material formations.</a:t>
            </a:r>
          </a:p>
        </p:txBody>
      </p:sp>
      <p:sp>
        <p:nvSpPr>
          <p:cNvPr id="13" name="Rounded Rectangle 12">
            <a:extLst xmlns:a="http://schemas.openxmlformats.org/drawingml/2006/main">
              <a:ext uri="{FF2B5EF4-FFF2-40B4-BE49-F238E27FC236}">
                <a16:creationId xmlns:a16="http://schemas.microsoft.com/office/drawing/2014/main" id="{0F5FD7F9-BB2A-4A90-9BF6-95E0F15B1B5F}"/>
              </a:ext>
            </a:extLst>
          </p:cNvPr>
          <p:cNvSpPr>
            <a:spLocks xmlns:a="http://schemas.openxmlformats.org/drawingml/2006/main" noGrp="1"/>
          </p:cNvSpPr>
          <p:nvPr/>
        </p:nvSpPr>
        <p:spPr>
          <a:xfrm xmlns:a="http://schemas.openxmlformats.org/drawingml/2006/main">
            <a:off x="3474720" y="2468880"/>
            <a:ext cx="2615184" cy="246888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EA485F30-1351-41CB-926B-5DFB8B38078D}"/>
              </a:ext>
            </a:extLst>
          </p:cNvPr>
          <p:cNvSpPr>
            <a:spLocks xmlns:a="http://schemas.openxmlformats.org/drawingml/2006/main" noGrp="1"/>
          </p:cNvSpPr>
          <p:nvPr/>
        </p:nvSpPr>
        <p:spPr>
          <a:xfrm xmlns:a="http://schemas.openxmlformats.org/drawingml/2006/main">
            <a:off x="3675887" y="2651760"/>
            <a:ext cx="221284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550" b="1" i="0">
                <a:solidFill>
                  <a:srgbClr val="1E2447"/>
                </a:solidFill>
                <a:latin typeface="Cambria"/>
                <a:ea typeface="Cambria"/>
                <a:cs typeface="Cambria"/>
              </a:rPr>
              <a:t>Biological / prana</a:t>
            </a:r>
          </a:p>
        </p:txBody>
      </p:sp>
      <p:sp>
        <p:nvSpPr>
          <p:cNvPr id="15" name="TextBox 14">
            <a:extLst xmlns:a="http://schemas.openxmlformats.org/drawingml/2006/main">
              <a:ext uri="{FF2B5EF4-FFF2-40B4-BE49-F238E27FC236}">
                <a16:creationId xmlns:a16="http://schemas.microsoft.com/office/drawing/2014/main" id="{8E423EFC-5CF0-4A3E-A7C8-8F38643FB08D}"/>
              </a:ext>
            </a:extLst>
          </p:cNvPr>
          <p:cNvSpPr>
            <a:spLocks xmlns:a="http://schemas.openxmlformats.org/drawingml/2006/main" noGrp="1"/>
          </p:cNvSpPr>
          <p:nvPr/>
        </p:nvSpPr>
        <p:spPr>
          <a:xfrm xmlns:a="http://schemas.openxmlformats.org/drawingml/2006/main">
            <a:off x="3675887" y="3429000"/>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grows, reproduces</a:t>
            </a:r>
          </a:p>
        </p:txBody>
      </p:sp>
      <p:sp>
        <p:nvSpPr>
          <p:cNvPr id="16" name="TextBox 15">
            <a:extLst xmlns:a="http://schemas.openxmlformats.org/drawingml/2006/main">
              <a:ext uri="{FF2B5EF4-FFF2-40B4-BE49-F238E27FC236}">
                <a16:creationId xmlns:a16="http://schemas.microsoft.com/office/drawing/2014/main" id="{4F33CC33-773A-4E91-89C7-DA209AB3D10F}"/>
              </a:ext>
            </a:extLst>
          </p:cNvPr>
          <p:cNvSpPr>
            <a:spLocks xmlns:a="http://schemas.openxmlformats.org/drawingml/2006/main" noGrp="1"/>
          </p:cNvSpPr>
          <p:nvPr/>
        </p:nvSpPr>
        <p:spPr>
          <a:xfrm xmlns:a="http://schemas.openxmlformats.org/drawingml/2006/main">
            <a:off x="3675887" y="4434840"/>
            <a:ext cx="22128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150" b="0" i="1">
                <a:solidFill>
                  <a:srgbClr val="1E2447"/>
                </a:solidFill>
                <a:latin typeface="Calibri"/>
                <a:ea typeface="Calibri"/>
                <a:cs typeface="Calibri"/>
              </a:rPr>
              <a:t>Growth and reproduction in plant bodies.</a:t>
            </a:r>
          </a:p>
        </p:txBody>
      </p:sp>
      <p:sp>
        <p:nvSpPr>
          <p:cNvPr id="17" name="Rounded Rectangle 16">
            <a:extLst xmlns:a="http://schemas.openxmlformats.org/drawingml/2006/main">
              <a:ext uri="{FF2B5EF4-FFF2-40B4-BE49-F238E27FC236}">
                <a16:creationId xmlns:a16="http://schemas.microsoft.com/office/drawing/2014/main" id="{7D2F4A8A-099F-4097-884E-FFAF8AAE6880}"/>
              </a:ext>
            </a:extLst>
          </p:cNvPr>
          <p:cNvSpPr>
            <a:spLocks xmlns:a="http://schemas.openxmlformats.org/drawingml/2006/main" noGrp="1"/>
          </p:cNvSpPr>
          <p:nvPr/>
        </p:nvSpPr>
        <p:spPr>
          <a:xfrm xmlns:a="http://schemas.openxmlformats.org/drawingml/2006/main">
            <a:off x="6263640" y="2468880"/>
            <a:ext cx="2615184" cy="246888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79712944-83B3-48AC-B5A1-A043D0846F28}"/>
              </a:ext>
            </a:extLst>
          </p:cNvPr>
          <p:cNvSpPr>
            <a:spLocks xmlns:a="http://schemas.openxmlformats.org/drawingml/2006/main" noGrp="1"/>
          </p:cNvSpPr>
          <p:nvPr/>
        </p:nvSpPr>
        <p:spPr>
          <a:xfrm xmlns:a="http://schemas.openxmlformats.org/drawingml/2006/main">
            <a:off x="6464807" y="2651760"/>
            <a:ext cx="221284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550" b="1" i="0">
                <a:solidFill>
                  <a:srgbClr val="9A6414"/>
                </a:solidFill>
                <a:latin typeface="Cambria"/>
                <a:ea typeface="Cambria"/>
                <a:cs typeface="Cambria"/>
              </a:rPr>
              <a:t>Animal</a:t>
            </a:r>
          </a:p>
        </p:txBody>
      </p:sp>
      <p:sp>
        <p:nvSpPr>
          <p:cNvPr id="19" name="TextBox 18">
            <a:extLst xmlns:a="http://schemas.openxmlformats.org/drawingml/2006/main">
              <a:ext uri="{FF2B5EF4-FFF2-40B4-BE49-F238E27FC236}">
                <a16:creationId xmlns:a16="http://schemas.microsoft.com/office/drawing/2014/main" id="{62788F95-605E-44E9-A3DB-56C7ACBA9D9C}"/>
              </a:ext>
            </a:extLst>
          </p:cNvPr>
          <p:cNvSpPr>
            <a:spLocks xmlns:a="http://schemas.openxmlformats.org/drawingml/2006/main" noGrp="1"/>
          </p:cNvSpPr>
          <p:nvPr/>
        </p:nvSpPr>
        <p:spPr>
          <a:xfrm xmlns:a="http://schemas.openxmlformats.org/drawingml/2006/main">
            <a:off x="6464807" y="3429000"/>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selects, senses</a:t>
            </a:r>
          </a:p>
        </p:txBody>
      </p:sp>
      <p:sp>
        <p:nvSpPr>
          <p:cNvPr id="20" name="TextBox 19">
            <a:extLst xmlns:a="http://schemas.openxmlformats.org/drawingml/2006/main">
              <a:ext uri="{FF2B5EF4-FFF2-40B4-BE49-F238E27FC236}">
                <a16:creationId xmlns:a16="http://schemas.microsoft.com/office/drawing/2014/main" id="{5C2EAA49-6095-4C9A-9AAC-D8C3E44F101D}"/>
              </a:ext>
            </a:extLst>
          </p:cNvPr>
          <p:cNvSpPr>
            <a:spLocks xmlns:a="http://schemas.openxmlformats.org/drawingml/2006/main" noGrp="1"/>
          </p:cNvSpPr>
          <p:nvPr/>
        </p:nvSpPr>
        <p:spPr>
          <a:xfrm xmlns:a="http://schemas.openxmlformats.org/drawingml/2006/main">
            <a:off x="6464807" y="4434840"/>
            <a:ext cx="22128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150" b="0" i="1">
                <a:solidFill>
                  <a:srgbClr val="9A6414"/>
                </a:solidFill>
                <a:latin typeface="Calibri"/>
                <a:ea typeface="Calibri"/>
                <a:cs typeface="Calibri"/>
              </a:rPr>
              <a:t>Jeevan joined with an animal body.</a:t>
            </a:r>
          </a:p>
        </p:txBody>
      </p:sp>
      <p:sp>
        <p:nvSpPr>
          <p:cNvPr id="21" name="Rounded Rectangle 20">
            <a:extLst xmlns:a="http://schemas.openxmlformats.org/drawingml/2006/main">
              <a:ext uri="{FF2B5EF4-FFF2-40B4-BE49-F238E27FC236}">
                <a16:creationId xmlns:a16="http://schemas.microsoft.com/office/drawing/2014/main" id="{CEDDDF04-ECEF-40FF-8732-8917DAEB63B5}"/>
              </a:ext>
            </a:extLst>
          </p:cNvPr>
          <p:cNvSpPr>
            <a:spLocks xmlns:a="http://schemas.openxmlformats.org/drawingml/2006/main" noGrp="1"/>
          </p:cNvSpPr>
          <p:nvPr/>
        </p:nvSpPr>
        <p:spPr>
          <a:xfrm xmlns:a="http://schemas.openxmlformats.org/drawingml/2006/main">
            <a:off x="9052559" y="2468880"/>
            <a:ext cx="2615184" cy="246888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6229302C-9D4B-4C40-BF36-1AA90F247B7A}"/>
              </a:ext>
            </a:extLst>
          </p:cNvPr>
          <p:cNvSpPr>
            <a:spLocks xmlns:a="http://schemas.openxmlformats.org/drawingml/2006/main" noGrp="1"/>
          </p:cNvSpPr>
          <p:nvPr/>
        </p:nvSpPr>
        <p:spPr>
          <a:xfrm xmlns:a="http://schemas.openxmlformats.org/drawingml/2006/main">
            <a:off x="9253728" y="2651760"/>
            <a:ext cx="2212848"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550" b="1" i="0">
                <a:solidFill>
                  <a:srgbClr val="1E2447"/>
                </a:solidFill>
                <a:latin typeface="Cambria"/>
                <a:ea typeface="Cambria"/>
                <a:cs typeface="Cambria"/>
              </a:rPr>
              <a:t>Knowledge</a:t>
            </a:r>
          </a:p>
        </p:txBody>
      </p:sp>
      <p:sp>
        <p:nvSpPr>
          <p:cNvPr id="23" name="TextBox 22">
            <a:extLst xmlns:a="http://schemas.openxmlformats.org/drawingml/2006/main">
              <a:ext uri="{FF2B5EF4-FFF2-40B4-BE49-F238E27FC236}">
                <a16:creationId xmlns:a16="http://schemas.microsoft.com/office/drawing/2014/main" id="{4D345A17-8AD4-4613-98A1-C0DBFDE789CB}"/>
              </a:ext>
            </a:extLst>
          </p:cNvPr>
          <p:cNvSpPr>
            <a:spLocks xmlns:a="http://schemas.openxmlformats.org/drawingml/2006/main" noGrp="1"/>
          </p:cNvSpPr>
          <p:nvPr/>
        </p:nvSpPr>
        <p:spPr>
          <a:xfrm xmlns:a="http://schemas.openxmlformats.org/drawingml/2006/main">
            <a:off x="9253728" y="3429000"/>
            <a:ext cx="2212848"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imagines, evaluates, understands</a:t>
            </a:r>
          </a:p>
        </p:txBody>
      </p:sp>
      <p:sp>
        <p:nvSpPr>
          <p:cNvPr id="24" name="TextBox 23">
            <a:extLst xmlns:a="http://schemas.openxmlformats.org/drawingml/2006/main">
              <a:ext uri="{FF2B5EF4-FFF2-40B4-BE49-F238E27FC236}">
                <a16:creationId xmlns:a16="http://schemas.microsoft.com/office/drawing/2014/main" id="{273F4F77-FFD5-46A7-BC13-EEFEE1DBC18E}"/>
              </a:ext>
            </a:extLst>
          </p:cNvPr>
          <p:cNvSpPr>
            <a:spLocks xmlns:a="http://schemas.openxmlformats.org/drawingml/2006/main" noGrp="1"/>
          </p:cNvSpPr>
          <p:nvPr/>
        </p:nvSpPr>
        <p:spPr>
          <a:xfrm xmlns:a="http://schemas.openxmlformats.org/drawingml/2006/main">
            <a:off x="9253728" y="4434840"/>
            <a:ext cx="2212848" cy="4572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0000"/>
              </a:lnSpc>
              <a:spcBef>
                <a:spcPts val="0"/>
              </a:spcBef>
              <a:spcAft>
                <a:spcPts val="400"/>
              </a:spcAft>
              <a:buNone/>
            </a:pPr>
            <a:r>
              <a:rPr sz="1150" b="0" i="1">
                <a:solidFill>
                  <a:srgbClr val="1E2447"/>
                </a:solidFill>
                <a:latin typeface="Calibri"/>
                <a:ea typeface="Calibri"/>
                <a:cs typeface="Calibri"/>
              </a:rPr>
              <a:t>Human body + jeevan; conduct is the central test.</a:t>
            </a:r>
          </a:p>
        </p:txBody>
      </p:sp>
      <p:sp>
        <p:nvSpPr>
          <p:cNvPr id="25" name="TextBox 24">
            <a:extLst xmlns:a="http://schemas.openxmlformats.org/drawingml/2006/main">
              <a:ext uri="{FF2B5EF4-FFF2-40B4-BE49-F238E27FC236}">
                <a16:creationId xmlns:a16="http://schemas.microsoft.com/office/drawing/2014/main" id="{FD2FB066-A496-4CC1-8A7C-9C8B0B2EBEF2}"/>
              </a:ext>
            </a:extLst>
          </p:cNvPr>
          <p:cNvSpPr>
            <a:spLocks xmlns:a="http://schemas.openxmlformats.org/drawingml/2006/main" noGrp="1"/>
          </p:cNvSpPr>
          <p:nvPr/>
        </p:nvSpPr>
        <p:spPr>
          <a:xfrm xmlns:a="http://schemas.openxmlformats.org/drawingml/2006/main">
            <a:off x="685800" y="5074920"/>
            <a:ext cx="10789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spcBef>
                <a:spcPts val="0"/>
              </a:spcBef>
              <a:spcAft>
                <a:spcPts val="400"/>
              </a:spcAft>
              <a:buNone/>
            </a:pPr>
            <a:r>
              <a:rPr sz="1250" b="0" i="1">
                <a:solidFill>
                  <a:srgbClr val="3B4A7A"/>
                </a:solidFill>
                <a:latin typeface="Calibri"/>
                <a:ea typeface="Calibri"/>
                <a:cs typeface="Calibri"/>
              </a:rPr>
              <a:t>A higher order depends on lower material composition; this does not make jeevan a product of that composition.</a:t>
            </a:r>
          </a:p>
        </p:txBody>
      </p:sp>
      <p:sp>
        <p:nvSpPr>
          <p:cNvPr id="26" name="Rounded Rectangle 25">
            <a:extLst xmlns:a="http://schemas.openxmlformats.org/drawingml/2006/main">
              <a:ext uri="{FF2B5EF4-FFF2-40B4-BE49-F238E27FC236}">
                <a16:creationId xmlns:a16="http://schemas.microsoft.com/office/drawing/2014/main" id="{C811C559-48B4-42EE-8189-6C9D695C1F9D}"/>
              </a:ext>
            </a:extLst>
          </p:cNvPr>
          <p:cNvSpPr>
            <a:spLocks xmlns:a="http://schemas.openxmlformats.org/drawingml/2006/main" noGrp="1"/>
          </p:cNvSpPr>
          <p:nvPr/>
        </p:nvSpPr>
        <p:spPr>
          <a:xfrm xmlns:a="http://schemas.openxmlformats.org/drawingml/2006/main">
            <a:off x="685800" y="5577840"/>
            <a:ext cx="10817352" cy="658368"/>
          </a:xfrm>
          <a:prstGeom xmlns:a="http://schemas.openxmlformats.org/drawingml/2006/main" prst="roundRect">
            <a:avLst>
              <a:gd name="adj" fmla="val 12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TextBox 26">
            <a:extLst xmlns:a="http://schemas.openxmlformats.org/drawingml/2006/main">
              <a:ext uri="{FF2B5EF4-FFF2-40B4-BE49-F238E27FC236}">
                <a16:creationId xmlns:a16="http://schemas.microsoft.com/office/drawing/2014/main" id="{40781C6E-320E-4752-BDB5-F42D6DA8C913}"/>
              </a:ext>
            </a:extLst>
          </p:cNvPr>
          <p:cNvSpPr>
            <a:spLocks xmlns:a="http://schemas.openxmlformats.org/drawingml/2006/main" noGrp="1"/>
          </p:cNvSpPr>
          <p:nvPr/>
        </p:nvSpPr>
        <p:spPr>
          <a:xfrm xmlns:a="http://schemas.openxmlformats.org/drawingml/2006/main">
            <a:off x="1005840" y="5577840"/>
            <a:ext cx="10177272"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9A6414"/>
                </a:solidFill>
                <a:latin typeface="Calibri"/>
                <a:ea typeface="Calibri"/>
                <a:cs typeface="Calibri"/>
              </a:rPr>
              <a:t>The knowledge order is distinguished by the possibility of understanding and responsible conduct—not by biological complexity alone.</a:t>
            </a:r>
          </a:p>
        </p:txBody>
      </p:sp>
      <p:sp>
        <p:nvSpPr>
          <p:cNvPr id="28" name="TextBox 27">
            <a:extLst xmlns:a="http://schemas.openxmlformats.org/drawingml/2006/main">
              <a:ext uri="{FF2B5EF4-FFF2-40B4-BE49-F238E27FC236}">
                <a16:creationId xmlns:a16="http://schemas.microsoft.com/office/drawing/2014/main" id="{44999E10-9F7A-4E02-92F0-1405FC7DF380}"/>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§1.3.1 · §1.3.4</a:t>
            </a:r>
          </a:p>
        </p:txBody>
      </p:sp>
    </p:spTree>
    <p:extLst>
      <p:ext uri="{BB962C8B-B14F-4D97-AF65-F5344CB8AC3E}">
        <p14:creationId xmlns:p14="http://schemas.microsoft.com/office/powerpoint/2010/main" val="50424389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6AAB16B-B345-4583-B59A-F03CDFC9216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B80078CF-370C-456F-BD91-18A71432FB9E}"/>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F842CA50-03E4-48B1-99C8-6D1A7D2940CE}"/>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F9B6BD67-C692-4849-A748-344D39F784B1}"/>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FA6FC54-49C7-42E1-BCCD-4F9545C19A86}"/>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ONTOLOGY</a:t>
            </a:r>
          </a:p>
        </p:txBody>
      </p:sp>
      <p:sp>
        <p:nvSpPr>
          <p:cNvPr id="7" name="TextBox 6">
            <a:extLst xmlns:a="http://schemas.openxmlformats.org/drawingml/2006/main">
              <a:ext uri="{FF2B5EF4-FFF2-40B4-BE49-F238E27FC236}">
                <a16:creationId xmlns:a16="http://schemas.microsoft.com/office/drawing/2014/main" id="{7393EB8C-AF85-40FB-A972-F2FAA584F235}"/>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Sentience and the Claim of Atomic Completion</a:t>
            </a:r>
          </a:p>
        </p:txBody>
      </p:sp>
      <p:sp>
        <p:nvSpPr>
          <p:cNvPr id="8" name="TextBox 7">
            <a:extLst xmlns:a="http://schemas.openxmlformats.org/drawingml/2006/main">
              <a:ext uri="{FF2B5EF4-FFF2-40B4-BE49-F238E27FC236}">
                <a16:creationId xmlns:a16="http://schemas.microsoft.com/office/drawing/2014/main" id="{2C601DF0-B0BA-450E-9C3C-95AF6EFB7866}"/>
              </a:ext>
            </a:extLst>
          </p:cNvPr>
          <p:cNvSpPr>
            <a:spLocks xmlns:a="http://schemas.openxmlformats.org/drawingml/2006/main" noGrp="1"/>
          </p:cNvSpPr>
          <p:nvPr/>
        </p:nvSpPr>
        <p:spPr>
          <a:xfrm xmlns:a="http://schemas.openxmlformats.org/drawingml/2006/main">
            <a:off x="685800" y="1737360"/>
            <a:ext cx="10789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MD does not derive jeevan from biological complexity; it proposes a distinct atomic threshold and history.</a:t>
            </a:r>
          </a:p>
        </p:txBody>
      </p:sp>
      <p:sp>
        <p:nvSpPr>
          <p:cNvPr id="9" name="Rounded Rectangle 8">
            <a:extLst xmlns:a="http://schemas.openxmlformats.org/drawingml/2006/main">
              <a:ext uri="{FF2B5EF4-FFF2-40B4-BE49-F238E27FC236}">
                <a16:creationId xmlns:a16="http://schemas.microsoft.com/office/drawing/2014/main" id="{72F7B3C6-A5D6-4AF0-81DB-04852663B99E}"/>
              </a:ext>
            </a:extLst>
          </p:cNvPr>
          <p:cNvSpPr>
            <a:spLocks xmlns:a="http://schemas.openxmlformats.org/drawingml/2006/main" noGrp="1"/>
          </p:cNvSpPr>
          <p:nvPr/>
        </p:nvSpPr>
        <p:spPr>
          <a:xfrm xmlns:a="http://schemas.openxmlformats.org/drawingml/2006/main">
            <a:off x="685800" y="2331720"/>
            <a:ext cx="2471166" cy="548640"/>
          </a:xfrm>
          <a:prstGeom xmlns:a="http://schemas.openxmlformats.org/drawingml/2006/main" prst="roundRect">
            <a:avLst>
              <a:gd name="adj" fmla="val 18000"/>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45622C48-105A-455D-B0BC-F44C29EB65C1}"/>
              </a:ext>
            </a:extLst>
          </p:cNvPr>
          <p:cNvSpPr>
            <a:spLocks xmlns:a="http://schemas.openxmlformats.org/drawingml/2006/main" noGrp="1"/>
          </p:cNvSpPr>
          <p:nvPr/>
        </p:nvSpPr>
        <p:spPr>
          <a:xfrm xmlns:a="http://schemas.openxmlformats.org/drawingml/2006/main">
            <a:off x="685800" y="2331720"/>
            <a:ext cx="2471166"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Atomic effort</a:t>
            </a:r>
          </a:p>
        </p:txBody>
      </p:sp>
      <p:sp>
        <p:nvSpPr>
          <p:cNvPr id="11" name="TextBox 10">
            <a:extLst xmlns:a="http://schemas.openxmlformats.org/drawingml/2006/main">
              <a:ext uri="{FF2B5EF4-FFF2-40B4-BE49-F238E27FC236}">
                <a16:creationId xmlns:a16="http://schemas.microsoft.com/office/drawing/2014/main" id="{FA2B488D-CF87-45B3-9C0D-A41217AAE125}"/>
              </a:ext>
            </a:extLst>
          </p:cNvPr>
          <p:cNvSpPr>
            <a:spLocks xmlns:a="http://schemas.openxmlformats.org/drawingml/2006/main" noGrp="1"/>
          </p:cNvSpPr>
          <p:nvPr/>
        </p:nvSpPr>
        <p:spPr>
          <a:xfrm xmlns:a="http://schemas.openxmlformats.org/drawingml/2006/main">
            <a:off x="3166110" y="2423160"/>
            <a:ext cx="2926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2000" b="1" i="0">
                <a:solidFill>
                  <a:srgbClr val="C9821E"/>
                </a:solidFill>
                <a:latin typeface="Calibri"/>
                <a:ea typeface="Calibri"/>
                <a:cs typeface="Calibri"/>
              </a:rPr>
              <a:t>→</a:t>
            </a:r>
          </a:p>
        </p:txBody>
      </p:sp>
      <p:sp>
        <p:nvSpPr>
          <p:cNvPr id="12" name="Rounded Rectangle 11">
            <a:extLst xmlns:a="http://schemas.openxmlformats.org/drawingml/2006/main">
              <a:ext uri="{FF2B5EF4-FFF2-40B4-BE49-F238E27FC236}">
                <a16:creationId xmlns:a16="http://schemas.microsoft.com/office/drawing/2014/main" id="{3DAFC71C-A3BD-4E61-8EDB-1BB40FAA4150}"/>
              </a:ext>
            </a:extLst>
          </p:cNvPr>
          <p:cNvSpPr>
            <a:spLocks xmlns:a="http://schemas.openxmlformats.org/drawingml/2006/main" noGrp="1"/>
          </p:cNvSpPr>
          <p:nvPr/>
        </p:nvSpPr>
        <p:spPr>
          <a:xfrm xmlns:a="http://schemas.openxmlformats.org/drawingml/2006/main">
            <a:off x="3467862" y="2331720"/>
            <a:ext cx="2471166" cy="548640"/>
          </a:xfrm>
          <a:prstGeom xmlns:a="http://schemas.openxmlformats.org/drawingml/2006/main" prst="roundRect">
            <a:avLst>
              <a:gd name="adj" fmla="val 18000"/>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0A52AC98-39BC-4B65-B4B0-C11054F02108}"/>
              </a:ext>
            </a:extLst>
          </p:cNvPr>
          <p:cNvSpPr>
            <a:spLocks xmlns:a="http://schemas.openxmlformats.org/drawingml/2006/main" noGrp="1"/>
          </p:cNvSpPr>
          <p:nvPr/>
        </p:nvSpPr>
        <p:spPr>
          <a:xfrm xmlns:a="http://schemas.openxmlformats.org/drawingml/2006/main">
            <a:off x="3467862" y="2331720"/>
            <a:ext cx="2471166"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Atomic motion</a:t>
            </a:r>
          </a:p>
        </p:txBody>
      </p:sp>
      <p:sp>
        <p:nvSpPr>
          <p:cNvPr id="14" name="TextBox 13">
            <a:extLst xmlns:a="http://schemas.openxmlformats.org/drawingml/2006/main">
              <a:ext uri="{FF2B5EF4-FFF2-40B4-BE49-F238E27FC236}">
                <a16:creationId xmlns:a16="http://schemas.microsoft.com/office/drawing/2014/main" id="{F5F2FCEC-0083-48FA-A511-F73F443CC3E8}"/>
              </a:ext>
            </a:extLst>
          </p:cNvPr>
          <p:cNvSpPr>
            <a:spLocks xmlns:a="http://schemas.openxmlformats.org/drawingml/2006/main" noGrp="1"/>
          </p:cNvSpPr>
          <p:nvPr/>
        </p:nvSpPr>
        <p:spPr>
          <a:xfrm xmlns:a="http://schemas.openxmlformats.org/drawingml/2006/main">
            <a:off x="5948172" y="2423160"/>
            <a:ext cx="2926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2000" b="1" i="0">
                <a:solidFill>
                  <a:srgbClr val="C9821E"/>
                </a:solidFill>
                <a:latin typeface="Calibri"/>
                <a:ea typeface="Calibri"/>
                <a:cs typeface="Calibri"/>
              </a:rPr>
              <a:t>→</a:t>
            </a:r>
          </a:p>
        </p:txBody>
      </p:sp>
      <p:sp>
        <p:nvSpPr>
          <p:cNvPr id="15" name="Rounded Rectangle 14">
            <a:extLst xmlns:a="http://schemas.openxmlformats.org/drawingml/2006/main">
              <a:ext uri="{FF2B5EF4-FFF2-40B4-BE49-F238E27FC236}">
                <a16:creationId xmlns:a16="http://schemas.microsoft.com/office/drawing/2014/main" id="{1F20B835-08F0-4379-A1AD-AEBACB38D91C}"/>
              </a:ext>
            </a:extLst>
          </p:cNvPr>
          <p:cNvSpPr>
            <a:spLocks xmlns:a="http://schemas.openxmlformats.org/drawingml/2006/main" noGrp="1"/>
          </p:cNvSpPr>
          <p:nvPr/>
        </p:nvSpPr>
        <p:spPr>
          <a:xfrm xmlns:a="http://schemas.openxmlformats.org/drawingml/2006/main">
            <a:off x="6249924" y="2331720"/>
            <a:ext cx="2471166" cy="548640"/>
          </a:xfrm>
          <a:prstGeom xmlns:a="http://schemas.openxmlformats.org/drawingml/2006/main" prst="roundRect">
            <a:avLst>
              <a:gd name="adj" fmla="val 18000"/>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F4587A3F-DCEA-4B44-ABEB-BE9592862DD7}"/>
              </a:ext>
            </a:extLst>
          </p:cNvPr>
          <p:cNvSpPr>
            <a:spLocks xmlns:a="http://schemas.openxmlformats.org/drawingml/2006/main" noGrp="1"/>
          </p:cNvSpPr>
          <p:nvPr/>
        </p:nvSpPr>
        <p:spPr>
          <a:xfrm xmlns:a="http://schemas.openxmlformats.org/drawingml/2006/main">
            <a:off x="6249924" y="2331720"/>
            <a:ext cx="2471166"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Compositional result</a:t>
            </a:r>
          </a:p>
        </p:txBody>
      </p:sp>
      <p:sp>
        <p:nvSpPr>
          <p:cNvPr id="17" name="TextBox 16">
            <a:extLst xmlns:a="http://schemas.openxmlformats.org/drawingml/2006/main">
              <a:ext uri="{FF2B5EF4-FFF2-40B4-BE49-F238E27FC236}">
                <a16:creationId xmlns:a16="http://schemas.microsoft.com/office/drawing/2014/main" id="{9C47BC8F-BC2F-46DE-94D0-F1B30E6D5B6F}"/>
              </a:ext>
            </a:extLst>
          </p:cNvPr>
          <p:cNvSpPr>
            <a:spLocks xmlns:a="http://schemas.openxmlformats.org/drawingml/2006/main" noGrp="1"/>
          </p:cNvSpPr>
          <p:nvPr/>
        </p:nvSpPr>
        <p:spPr>
          <a:xfrm xmlns:a="http://schemas.openxmlformats.org/drawingml/2006/main">
            <a:off x="8730234" y="2423160"/>
            <a:ext cx="2926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2000" b="1" i="0">
                <a:solidFill>
                  <a:srgbClr val="C9821E"/>
                </a:solidFill>
                <a:latin typeface="Calibri"/>
                <a:ea typeface="Calibri"/>
                <a:cs typeface="Calibri"/>
              </a:rPr>
              <a:t>→</a:t>
            </a:r>
          </a:p>
        </p:txBody>
      </p:sp>
      <p:sp>
        <p:nvSpPr>
          <p:cNvPr id="18" name="Rounded Rectangle 17">
            <a:extLst xmlns:a="http://schemas.openxmlformats.org/drawingml/2006/main">
              <a:ext uri="{FF2B5EF4-FFF2-40B4-BE49-F238E27FC236}">
                <a16:creationId xmlns:a16="http://schemas.microsoft.com/office/drawing/2014/main" id="{B0546C1E-57C3-4081-AE54-88EFD6FAA821}"/>
              </a:ext>
            </a:extLst>
          </p:cNvPr>
          <p:cNvSpPr>
            <a:spLocks xmlns:a="http://schemas.openxmlformats.org/drawingml/2006/main" noGrp="1"/>
          </p:cNvSpPr>
          <p:nvPr/>
        </p:nvSpPr>
        <p:spPr>
          <a:xfrm xmlns:a="http://schemas.openxmlformats.org/drawingml/2006/main">
            <a:off x="9031986" y="2331720"/>
            <a:ext cx="2471166" cy="548640"/>
          </a:xfrm>
          <a:prstGeom xmlns:a="http://schemas.openxmlformats.org/drawingml/2006/main" prst="roundRect">
            <a:avLst>
              <a:gd name="adj" fmla="val 18000"/>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9E3734F9-107A-4164-9E43-BB4CC1CCAA28}"/>
              </a:ext>
            </a:extLst>
          </p:cNvPr>
          <p:cNvSpPr>
            <a:spLocks xmlns:a="http://schemas.openxmlformats.org/drawingml/2006/main" noGrp="1"/>
          </p:cNvSpPr>
          <p:nvPr/>
        </p:nvSpPr>
        <p:spPr>
          <a:xfrm xmlns:a="http://schemas.openxmlformats.org/drawingml/2006/main">
            <a:off x="9031986" y="2331720"/>
            <a:ext cx="2471166"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Constitutional completion</a:t>
            </a:r>
          </a:p>
        </p:txBody>
      </p:sp>
      <p:sp>
        <p:nvSpPr>
          <p:cNvPr id="20" name="Rounded Rectangle 19">
            <a:extLst xmlns:a="http://schemas.openxmlformats.org/drawingml/2006/main">
              <a:ext uri="{FF2B5EF4-FFF2-40B4-BE49-F238E27FC236}">
                <a16:creationId xmlns:a16="http://schemas.microsoft.com/office/drawing/2014/main" id="{BB53FAC8-AD43-44DA-8605-533C5615AFF1}"/>
              </a:ext>
            </a:extLst>
          </p:cNvPr>
          <p:cNvSpPr>
            <a:spLocks xmlns:a="http://schemas.openxmlformats.org/drawingml/2006/main" noGrp="1"/>
          </p:cNvSpPr>
          <p:nvPr/>
        </p:nvSpPr>
        <p:spPr>
          <a:xfrm xmlns:a="http://schemas.openxmlformats.org/drawingml/2006/main">
            <a:off x="685800" y="3200400"/>
            <a:ext cx="5257800" cy="196596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084AA0CD-28C0-4B8D-85ED-4FAA34C470DA}"/>
              </a:ext>
            </a:extLst>
          </p:cNvPr>
          <p:cNvSpPr>
            <a:spLocks xmlns:a="http://schemas.openxmlformats.org/drawingml/2006/main" noGrp="1"/>
          </p:cNvSpPr>
          <p:nvPr/>
        </p:nvSpPr>
        <p:spPr>
          <a:xfrm xmlns:a="http://schemas.openxmlformats.org/drawingml/2006/main">
            <a:off x="898855" y="33951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8A1F6DEC-11BE-47FE-BD6E-90B5A9FC3795}"/>
              </a:ext>
            </a:extLst>
          </p:cNvPr>
          <p:cNvSpPr>
            <a:spLocks xmlns:a="http://schemas.openxmlformats.org/drawingml/2006/main" noGrp="1"/>
          </p:cNvSpPr>
          <p:nvPr/>
        </p:nvSpPr>
        <p:spPr>
          <a:xfrm xmlns:a="http://schemas.openxmlformats.org/drawingml/2006/main">
            <a:off x="977036" y="34733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A3341C13-9DDE-42E2-8230-168F8BB0C862}"/>
              </a:ext>
            </a:extLst>
          </p:cNvPr>
          <p:cNvSpPr>
            <a:spLocks xmlns:a="http://schemas.openxmlformats.org/drawingml/2006/main" noGrp="1"/>
          </p:cNvSpPr>
          <p:nvPr/>
        </p:nvSpPr>
        <p:spPr>
          <a:xfrm xmlns:a="http://schemas.openxmlformats.org/drawingml/2006/main">
            <a:off x="1038758" y="35350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01F4DDB2-060E-4B04-8B77-A3613D069AD4}"/>
              </a:ext>
            </a:extLst>
          </p:cNvPr>
          <p:cNvSpPr>
            <a:spLocks xmlns:a="http://schemas.openxmlformats.org/drawingml/2006/main" noGrp="1"/>
          </p:cNvSpPr>
          <p:nvPr/>
        </p:nvSpPr>
        <p:spPr>
          <a:xfrm xmlns:a="http://schemas.openxmlformats.org/drawingml/2006/main">
            <a:off x="1444752" y="340156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9A6414"/>
                </a:solidFill>
                <a:latin typeface="Cambria"/>
                <a:ea typeface="Cambria"/>
                <a:cs typeface="Cambria"/>
              </a:rPr>
              <a:t>Sentient atom</a:t>
            </a:r>
          </a:p>
        </p:txBody>
      </p:sp>
      <p:sp>
        <p:nvSpPr>
          <p:cNvPr id="25" name="TextBox 24">
            <a:extLst xmlns:a="http://schemas.openxmlformats.org/drawingml/2006/main">
              <a:ext uri="{FF2B5EF4-FFF2-40B4-BE49-F238E27FC236}">
                <a16:creationId xmlns:a16="http://schemas.microsoft.com/office/drawing/2014/main" id="{3CB940A0-228E-458E-92AB-3FF427090EB5}"/>
              </a:ext>
            </a:extLst>
          </p:cNvPr>
          <p:cNvSpPr>
            <a:spLocks xmlns:a="http://schemas.openxmlformats.org/drawingml/2006/main" noGrp="1"/>
          </p:cNvSpPr>
          <p:nvPr/>
        </p:nvSpPr>
        <p:spPr>
          <a:xfrm xmlns:a="http://schemas.openxmlformats.org/drawingml/2006/main">
            <a:off x="941832" y="3913632"/>
            <a:ext cx="4745736"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Jeevan is claimed to be a constitutionally complete atom with irreducible powers of desire, thought, and expectation.</a:t>
            </a:r>
          </a:p>
        </p:txBody>
      </p:sp>
      <p:sp>
        <p:nvSpPr>
          <p:cNvPr id="26" name="Rounded Rectangle 25">
            <a:extLst xmlns:a="http://schemas.openxmlformats.org/drawingml/2006/main">
              <a:ext uri="{FF2B5EF4-FFF2-40B4-BE49-F238E27FC236}">
                <a16:creationId xmlns:a16="http://schemas.microsoft.com/office/drawing/2014/main" id="{D60D5A01-0F2F-43C0-A224-7688DA85F34F}"/>
              </a:ext>
            </a:extLst>
          </p:cNvPr>
          <p:cNvSpPr>
            <a:spLocks xmlns:a="http://schemas.openxmlformats.org/drawingml/2006/main" noGrp="1"/>
          </p:cNvSpPr>
          <p:nvPr/>
        </p:nvSpPr>
        <p:spPr>
          <a:xfrm xmlns:a="http://schemas.openxmlformats.org/drawingml/2006/main">
            <a:off x="6172200" y="3200400"/>
            <a:ext cx="5330952" cy="196596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Oval 26">
            <a:extLst xmlns:a="http://schemas.openxmlformats.org/drawingml/2006/main">
              <a:ext uri="{FF2B5EF4-FFF2-40B4-BE49-F238E27FC236}">
                <a16:creationId xmlns:a16="http://schemas.microsoft.com/office/drawing/2014/main" id="{0292EA46-CBAA-4A7F-AAF5-390F0D6B91D4}"/>
              </a:ext>
            </a:extLst>
          </p:cNvPr>
          <p:cNvSpPr>
            <a:spLocks xmlns:a="http://schemas.openxmlformats.org/drawingml/2006/main" noGrp="1"/>
          </p:cNvSpPr>
          <p:nvPr/>
        </p:nvSpPr>
        <p:spPr>
          <a:xfrm xmlns:a="http://schemas.openxmlformats.org/drawingml/2006/main">
            <a:off x="6385255" y="33951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Oval 27">
            <a:extLst xmlns:a="http://schemas.openxmlformats.org/drawingml/2006/main">
              <a:ext uri="{FF2B5EF4-FFF2-40B4-BE49-F238E27FC236}">
                <a16:creationId xmlns:a16="http://schemas.microsoft.com/office/drawing/2014/main" id="{0B498F57-3489-4F84-89EE-77B3CAB043ED}"/>
              </a:ext>
            </a:extLst>
          </p:cNvPr>
          <p:cNvSpPr>
            <a:spLocks xmlns:a="http://schemas.openxmlformats.org/drawingml/2006/main" noGrp="1"/>
          </p:cNvSpPr>
          <p:nvPr/>
        </p:nvSpPr>
        <p:spPr>
          <a:xfrm xmlns:a="http://schemas.openxmlformats.org/drawingml/2006/main">
            <a:off x="6463436" y="34733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Oval 28">
            <a:extLst xmlns:a="http://schemas.openxmlformats.org/drawingml/2006/main">
              <a:ext uri="{FF2B5EF4-FFF2-40B4-BE49-F238E27FC236}">
                <a16:creationId xmlns:a16="http://schemas.microsoft.com/office/drawing/2014/main" id="{4AA4E6E1-4EFF-4AC3-99B1-54670ACBAEB0}"/>
              </a:ext>
            </a:extLst>
          </p:cNvPr>
          <p:cNvSpPr>
            <a:spLocks xmlns:a="http://schemas.openxmlformats.org/drawingml/2006/main" noGrp="1"/>
          </p:cNvSpPr>
          <p:nvPr/>
        </p:nvSpPr>
        <p:spPr>
          <a:xfrm xmlns:a="http://schemas.openxmlformats.org/drawingml/2006/main">
            <a:off x="6525158" y="35350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0" name="TextBox 29">
            <a:extLst xmlns:a="http://schemas.openxmlformats.org/drawingml/2006/main">
              <a:ext uri="{FF2B5EF4-FFF2-40B4-BE49-F238E27FC236}">
                <a16:creationId xmlns:a16="http://schemas.microsoft.com/office/drawing/2014/main" id="{182AEC64-3218-4BC7-B684-60D446EC9928}"/>
              </a:ext>
            </a:extLst>
          </p:cNvPr>
          <p:cNvSpPr>
            <a:spLocks xmlns:a="http://schemas.openxmlformats.org/drawingml/2006/main" noGrp="1"/>
          </p:cNvSpPr>
          <p:nvPr/>
        </p:nvSpPr>
        <p:spPr>
          <a:xfrm xmlns:a="http://schemas.openxmlformats.org/drawingml/2006/main">
            <a:off x="6931152" y="340156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Latency</a:t>
            </a:r>
          </a:p>
        </p:txBody>
      </p:sp>
      <p:sp>
        <p:nvSpPr>
          <p:cNvPr id="31" name="TextBox 30">
            <a:extLst xmlns:a="http://schemas.openxmlformats.org/drawingml/2006/main">
              <a:ext uri="{FF2B5EF4-FFF2-40B4-BE49-F238E27FC236}">
                <a16:creationId xmlns:a16="http://schemas.microsoft.com/office/drawing/2014/main" id="{0BB9BADD-FCF9-4F0C-8F02-23CD8B6D7560}"/>
              </a:ext>
            </a:extLst>
          </p:cNvPr>
          <p:cNvSpPr>
            <a:spLocks xmlns:a="http://schemas.openxmlformats.org/drawingml/2006/main" noGrp="1"/>
          </p:cNvSpPr>
          <p:nvPr/>
        </p:nvSpPr>
        <p:spPr>
          <a:xfrm xmlns:a="http://schemas.openxmlformats.org/drawingml/2006/main">
            <a:off x="6428232" y="3913632"/>
            <a:ext cx="4818888" cy="1051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A jeevan not joined to a suitable body is inferred to remain inactive or latent. This protects continuity but is not independently observed.</a:t>
            </a:r>
          </a:p>
        </p:txBody>
      </p:sp>
      <p:sp>
        <p:nvSpPr>
          <p:cNvPr id="32" name="Rounded Rectangle 31">
            <a:extLst xmlns:a="http://schemas.openxmlformats.org/drawingml/2006/main">
              <a:ext uri="{FF2B5EF4-FFF2-40B4-BE49-F238E27FC236}">
                <a16:creationId xmlns:a16="http://schemas.microsoft.com/office/drawing/2014/main" id="{41575705-886A-4E69-AAC6-B14326F4A71E}"/>
              </a:ext>
            </a:extLst>
          </p:cNvPr>
          <p:cNvSpPr>
            <a:spLocks xmlns:a="http://schemas.openxmlformats.org/drawingml/2006/main" noGrp="1"/>
          </p:cNvSpPr>
          <p:nvPr/>
        </p:nvSpPr>
        <p:spPr>
          <a:xfrm xmlns:a="http://schemas.openxmlformats.org/drawingml/2006/main">
            <a:off x="685800" y="5440680"/>
            <a:ext cx="10817352" cy="749808"/>
          </a:xfrm>
          <a:prstGeom xmlns:a="http://schemas.openxmlformats.org/drawingml/2006/main" prst="roundRect">
            <a:avLst>
              <a:gd name="adj" fmla="val 12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TextBox 32">
            <a:extLst xmlns:a="http://schemas.openxmlformats.org/drawingml/2006/main">
              <a:ext uri="{FF2B5EF4-FFF2-40B4-BE49-F238E27FC236}">
                <a16:creationId xmlns:a16="http://schemas.microsoft.com/office/drawing/2014/main" id="{E56FD860-6CC0-4FD8-B73D-A1CD5934440A}"/>
              </a:ext>
            </a:extLst>
          </p:cNvPr>
          <p:cNvSpPr>
            <a:spLocks xmlns:a="http://schemas.openxmlformats.org/drawingml/2006/main" noGrp="1"/>
          </p:cNvSpPr>
          <p:nvPr/>
        </p:nvSpPr>
        <p:spPr>
          <a:xfrm xmlns:a="http://schemas.openxmlformats.org/drawingml/2006/main">
            <a:off x="1005840" y="5440680"/>
            <a:ext cx="10177272"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9A6414"/>
                </a:solidFill>
                <a:latin typeface="Calibri"/>
                <a:ea typeface="Calibri"/>
                <a:cs typeface="Calibri"/>
              </a:rPr>
              <a:t>Post-death continuity follows within the theory; evidence for it must be distinguished from the theory’s internal fit.</a:t>
            </a:r>
          </a:p>
        </p:txBody>
      </p:sp>
      <p:sp>
        <p:nvSpPr>
          <p:cNvPr id="34" name="TextBox 33">
            <a:extLst xmlns:a="http://schemas.openxmlformats.org/drawingml/2006/main">
              <a:ext uri="{FF2B5EF4-FFF2-40B4-BE49-F238E27FC236}">
                <a16:creationId xmlns:a16="http://schemas.microsoft.com/office/drawing/2014/main" id="{FACE6979-0772-44FE-A8E8-93EA9C5C22D8}"/>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§1.3.2 · §5.1</a:t>
            </a:r>
          </a:p>
        </p:txBody>
      </p:sp>
    </p:spTree>
    <p:extLst>
      <p:ext uri="{BB962C8B-B14F-4D97-AF65-F5344CB8AC3E}">
        <p14:creationId xmlns:p14="http://schemas.microsoft.com/office/powerpoint/2010/main" val="134713089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97D3DD0-B933-4D20-84B6-CBBDFDA73F0D}"/>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49782278-A3A2-4CB8-AA1C-83D66974A5DC}"/>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C17FA2AD-2DF0-419B-BD72-EB6937CF71D9}"/>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A5D686B1-A9A3-481F-B360-B28F0014CE94}"/>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2C958DD1-CCAB-4925-9904-35F6C62C4430}"/>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ONTOLOGY</a:t>
            </a:r>
          </a:p>
        </p:txBody>
      </p:sp>
      <p:sp>
        <p:nvSpPr>
          <p:cNvPr id="7" name="TextBox 6">
            <a:extLst xmlns:a="http://schemas.openxmlformats.org/drawingml/2006/main">
              <a:ext uri="{FF2B5EF4-FFF2-40B4-BE49-F238E27FC236}">
                <a16:creationId xmlns:a16="http://schemas.microsoft.com/office/drawing/2014/main" id="{840DD4B0-01DA-4413-959B-3053FD1420F8}"/>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One Joint Form, Two Explanatory Roles</a:t>
            </a:r>
          </a:p>
        </p:txBody>
      </p:sp>
      <p:sp>
        <p:nvSpPr>
          <p:cNvPr id="8" name="Rounded Rectangle 7">
            <a:extLst xmlns:a="http://schemas.openxmlformats.org/drawingml/2006/main">
              <a:ext uri="{FF2B5EF4-FFF2-40B4-BE49-F238E27FC236}">
                <a16:creationId xmlns:a16="http://schemas.microsoft.com/office/drawing/2014/main" id="{B1D74832-DC9F-4C09-9D21-824632E68552}"/>
              </a:ext>
            </a:extLst>
          </p:cNvPr>
          <p:cNvSpPr>
            <a:spLocks xmlns:a="http://schemas.openxmlformats.org/drawingml/2006/main" noGrp="1"/>
          </p:cNvSpPr>
          <p:nvPr/>
        </p:nvSpPr>
        <p:spPr>
          <a:xfrm xmlns:a="http://schemas.openxmlformats.org/drawingml/2006/main">
            <a:off x="685800" y="1783080"/>
            <a:ext cx="3429000" cy="27432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9761B882-E531-4446-B68E-28A783AD1D22}"/>
              </a:ext>
            </a:extLst>
          </p:cNvPr>
          <p:cNvSpPr>
            <a:spLocks xmlns:a="http://schemas.openxmlformats.org/drawingml/2006/main" noGrp="1"/>
          </p:cNvSpPr>
          <p:nvPr/>
        </p:nvSpPr>
        <p:spPr>
          <a:xfrm xmlns:a="http://schemas.openxmlformats.org/drawingml/2006/main">
            <a:off x="8988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31E288C8-15BF-4F3D-9DF8-BCD727DA2F15}"/>
              </a:ext>
            </a:extLst>
          </p:cNvPr>
          <p:cNvSpPr>
            <a:spLocks xmlns:a="http://schemas.openxmlformats.org/drawingml/2006/main" noGrp="1"/>
          </p:cNvSpPr>
          <p:nvPr/>
        </p:nvSpPr>
        <p:spPr>
          <a:xfrm xmlns:a="http://schemas.openxmlformats.org/drawingml/2006/main">
            <a:off x="9770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0B72A06F-F0ED-4ED9-AE33-87ADEB7844D7}"/>
              </a:ext>
            </a:extLst>
          </p:cNvPr>
          <p:cNvSpPr>
            <a:spLocks xmlns:a="http://schemas.openxmlformats.org/drawingml/2006/main" noGrp="1"/>
          </p:cNvSpPr>
          <p:nvPr/>
        </p:nvSpPr>
        <p:spPr>
          <a:xfrm xmlns:a="http://schemas.openxmlformats.org/drawingml/2006/main">
            <a:off x="10387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8343854A-E1E3-4521-BD8A-30B99A480BAF}"/>
              </a:ext>
            </a:extLst>
          </p:cNvPr>
          <p:cNvSpPr>
            <a:spLocks xmlns:a="http://schemas.openxmlformats.org/drawingml/2006/main" noGrp="1"/>
          </p:cNvSpPr>
          <p:nvPr/>
        </p:nvSpPr>
        <p:spPr>
          <a:xfrm xmlns:a="http://schemas.openxmlformats.org/drawingml/2006/main">
            <a:off x="1444752" y="1984248"/>
            <a:ext cx="2487168" cy="523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Different roles need explanation</a:t>
            </a:r>
          </a:p>
        </p:txBody>
      </p:sp>
      <p:sp>
        <p:nvSpPr>
          <p:cNvPr id="13" name="TextBox 12">
            <a:extLst xmlns:a="http://schemas.openxmlformats.org/drawingml/2006/main">
              <a:ext uri="{FF2B5EF4-FFF2-40B4-BE49-F238E27FC236}">
                <a16:creationId xmlns:a16="http://schemas.microsoft.com/office/drawing/2014/main" id="{0C508A4A-47EC-4EC9-986F-E9EB333F00E9}"/>
              </a:ext>
            </a:extLst>
          </p:cNvPr>
          <p:cNvSpPr>
            <a:spLocks xmlns:a="http://schemas.openxmlformats.org/drawingml/2006/main" noGrp="1"/>
          </p:cNvSpPr>
          <p:nvPr/>
        </p:nvSpPr>
        <p:spPr>
          <a:xfrm xmlns:a="http://schemas.openxmlformats.org/drawingml/2006/main">
            <a:off x="941832" y="2496312"/>
            <a:ext cx="2916936"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Digestion, circulation, and neural activity belong to the body; imagination, appraisal, and understanding are attributed to jeevan. This illustrates the proposal—it does not independently prove two entities.</a:t>
            </a:r>
          </a:p>
        </p:txBody>
      </p:sp>
      <p:sp>
        <p:nvSpPr>
          <p:cNvPr id="14" name="Rounded Rectangle 13">
            <a:extLst xmlns:a="http://schemas.openxmlformats.org/drawingml/2006/main">
              <a:ext uri="{FF2B5EF4-FFF2-40B4-BE49-F238E27FC236}">
                <a16:creationId xmlns:a16="http://schemas.microsoft.com/office/drawing/2014/main" id="{4B9E4AB7-77AA-45C9-8487-53A3C5FC141E}"/>
              </a:ext>
            </a:extLst>
          </p:cNvPr>
          <p:cNvSpPr>
            <a:spLocks xmlns:a="http://schemas.openxmlformats.org/drawingml/2006/main" noGrp="1"/>
          </p:cNvSpPr>
          <p:nvPr/>
        </p:nvSpPr>
        <p:spPr>
          <a:xfrm xmlns:a="http://schemas.openxmlformats.org/drawingml/2006/main">
            <a:off x="4379976" y="1783080"/>
            <a:ext cx="3429000" cy="274320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82D1998F-025C-462F-A1BD-9047C41E6AF5}"/>
              </a:ext>
            </a:extLst>
          </p:cNvPr>
          <p:cNvSpPr>
            <a:spLocks xmlns:a="http://schemas.openxmlformats.org/drawingml/2006/main" noGrp="1"/>
          </p:cNvSpPr>
          <p:nvPr/>
        </p:nvSpPr>
        <p:spPr>
          <a:xfrm xmlns:a="http://schemas.openxmlformats.org/drawingml/2006/main">
            <a:off x="4593031"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9E857F9F-4BA4-43A4-9264-DFD4FAC15195}"/>
              </a:ext>
            </a:extLst>
          </p:cNvPr>
          <p:cNvSpPr>
            <a:spLocks xmlns:a="http://schemas.openxmlformats.org/drawingml/2006/main" noGrp="1"/>
          </p:cNvSpPr>
          <p:nvPr/>
        </p:nvSpPr>
        <p:spPr>
          <a:xfrm xmlns:a="http://schemas.openxmlformats.org/drawingml/2006/main">
            <a:off x="4671212"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11E2DF1A-1B2C-4FA9-A900-3F84F75C1B16}"/>
              </a:ext>
            </a:extLst>
          </p:cNvPr>
          <p:cNvSpPr>
            <a:spLocks xmlns:a="http://schemas.openxmlformats.org/drawingml/2006/main" noGrp="1"/>
          </p:cNvSpPr>
          <p:nvPr/>
        </p:nvSpPr>
        <p:spPr>
          <a:xfrm xmlns:a="http://schemas.openxmlformats.org/drawingml/2006/main">
            <a:off x="4732934"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153D23BB-0095-4ED2-9DA4-E1F46468A4EE}"/>
              </a:ext>
            </a:extLst>
          </p:cNvPr>
          <p:cNvSpPr>
            <a:spLocks xmlns:a="http://schemas.openxmlformats.org/drawingml/2006/main" noGrp="1"/>
          </p:cNvSpPr>
          <p:nvPr/>
        </p:nvSpPr>
        <p:spPr>
          <a:xfrm xmlns:a="http://schemas.openxmlformats.org/drawingml/2006/main">
            <a:off x="5138928" y="1984248"/>
            <a:ext cx="24871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9A6414"/>
                </a:solidFill>
                <a:latin typeface="Cambria"/>
                <a:ea typeface="Cambria"/>
                <a:cs typeface="Cambria"/>
              </a:rPr>
              <a:t>Joint form, not a pilot</a:t>
            </a:r>
          </a:p>
        </p:txBody>
      </p:sp>
      <p:sp>
        <p:nvSpPr>
          <p:cNvPr id="19" name="TextBox 18">
            <a:extLst xmlns:a="http://schemas.openxmlformats.org/drawingml/2006/main">
              <a:ext uri="{FF2B5EF4-FFF2-40B4-BE49-F238E27FC236}">
                <a16:creationId xmlns:a16="http://schemas.microsoft.com/office/drawing/2014/main" id="{545D98CD-B403-4216-8DA8-2884448A3869}"/>
              </a:ext>
            </a:extLst>
          </p:cNvPr>
          <p:cNvSpPr>
            <a:spLocks xmlns:a="http://schemas.openxmlformats.org/drawingml/2006/main" noGrp="1"/>
          </p:cNvSpPr>
          <p:nvPr/>
        </p:nvSpPr>
        <p:spPr>
          <a:xfrm xmlns:a="http://schemas.openxmlformats.org/drawingml/2006/main">
            <a:off x="4636008" y="2496312"/>
            <a:ext cx="2916936"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MD describes coexistence and mutual participation: neither a ghost pushing matter nor identity of mind with brain. A detailed causal model remains an open requirement.</a:t>
            </a:r>
          </a:p>
        </p:txBody>
      </p:sp>
      <p:sp>
        <p:nvSpPr>
          <p:cNvPr id="20" name="Rounded Rectangle 19">
            <a:extLst xmlns:a="http://schemas.openxmlformats.org/drawingml/2006/main">
              <a:ext uri="{FF2B5EF4-FFF2-40B4-BE49-F238E27FC236}">
                <a16:creationId xmlns:a16="http://schemas.microsoft.com/office/drawing/2014/main" id="{0F526374-9BD6-4DB3-B225-5DDB7E798359}"/>
              </a:ext>
            </a:extLst>
          </p:cNvPr>
          <p:cNvSpPr>
            <a:spLocks xmlns:a="http://schemas.openxmlformats.org/drawingml/2006/main" noGrp="1"/>
          </p:cNvSpPr>
          <p:nvPr/>
        </p:nvSpPr>
        <p:spPr>
          <a:xfrm xmlns:a="http://schemas.openxmlformats.org/drawingml/2006/main">
            <a:off x="8074152" y="1783080"/>
            <a:ext cx="3429000" cy="27432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3EF4737D-DF82-4527-8AD3-07FAA144EC0A}"/>
              </a:ext>
            </a:extLst>
          </p:cNvPr>
          <p:cNvSpPr>
            <a:spLocks xmlns:a="http://schemas.openxmlformats.org/drawingml/2006/main" noGrp="1"/>
          </p:cNvSpPr>
          <p:nvPr/>
        </p:nvSpPr>
        <p:spPr>
          <a:xfrm xmlns:a="http://schemas.openxmlformats.org/drawingml/2006/main">
            <a:off x="8287207"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3F0A108A-FB3C-4E2B-A363-9224B28DEF58}"/>
              </a:ext>
            </a:extLst>
          </p:cNvPr>
          <p:cNvSpPr>
            <a:spLocks xmlns:a="http://schemas.openxmlformats.org/drawingml/2006/main" noGrp="1"/>
          </p:cNvSpPr>
          <p:nvPr/>
        </p:nvSpPr>
        <p:spPr>
          <a:xfrm xmlns:a="http://schemas.openxmlformats.org/drawingml/2006/main">
            <a:off x="8365388"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3FE9E055-59C7-487F-B14A-5110A977E772}"/>
              </a:ext>
            </a:extLst>
          </p:cNvPr>
          <p:cNvSpPr>
            <a:spLocks xmlns:a="http://schemas.openxmlformats.org/drawingml/2006/main" noGrp="1"/>
          </p:cNvSpPr>
          <p:nvPr/>
        </p:nvSpPr>
        <p:spPr>
          <a:xfrm xmlns:a="http://schemas.openxmlformats.org/drawingml/2006/main">
            <a:off x="8427110"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7B616CB8-22F6-402D-89E8-699F2D8DCE4D}"/>
              </a:ext>
            </a:extLst>
          </p:cNvPr>
          <p:cNvSpPr>
            <a:spLocks xmlns:a="http://schemas.openxmlformats.org/drawingml/2006/main" noGrp="1"/>
          </p:cNvSpPr>
          <p:nvPr/>
        </p:nvSpPr>
        <p:spPr>
          <a:xfrm xmlns:a="http://schemas.openxmlformats.org/drawingml/2006/main">
            <a:off x="8833104" y="1984248"/>
            <a:ext cx="2487168" cy="5232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50" b="1" i="0">
                <a:solidFill>
                  <a:srgbClr val="1E2447"/>
                </a:solidFill>
                <a:latin typeface="Cambria"/>
                <a:ea typeface="Cambria"/>
                <a:cs typeface="Cambria"/>
              </a:rPr>
              <a:t>Koshas are not a one-to-one map</a:t>
            </a:r>
          </a:p>
        </p:txBody>
      </p:sp>
      <p:sp>
        <p:nvSpPr>
          <p:cNvPr id="25" name="TextBox 24">
            <a:extLst xmlns:a="http://schemas.openxmlformats.org/drawingml/2006/main">
              <a:ext uri="{FF2B5EF4-FFF2-40B4-BE49-F238E27FC236}">
                <a16:creationId xmlns:a16="http://schemas.microsoft.com/office/drawing/2014/main" id="{A58F2D1A-FA10-4A3B-976C-F6850CB089D3}"/>
              </a:ext>
            </a:extLst>
          </p:cNvPr>
          <p:cNvSpPr>
            <a:spLocks xmlns:a="http://schemas.openxmlformats.org/drawingml/2006/main" noGrp="1"/>
          </p:cNvSpPr>
          <p:nvPr/>
        </p:nvSpPr>
        <p:spPr>
          <a:xfrm xmlns:a="http://schemas.openxmlformats.org/drawingml/2006/main">
            <a:off x="8330183" y="2496312"/>
            <a:ext cx="2916936" cy="18288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MD’s bodily and conscious layers can be compared with Advaita’s five sheaths, but the systems differ in number, function, and ontology.</a:t>
            </a:r>
          </a:p>
        </p:txBody>
      </p:sp>
      <p:sp>
        <p:nvSpPr>
          <p:cNvPr id="26" name="Rounded Rectangle 25">
            <a:extLst xmlns:a="http://schemas.openxmlformats.org/drawingml/2006/main">
              <a:ext uri="{FF2B5EF4-FFF2-40B4-BE49-F238E27FC236}">
                <a16:creationId xmlns:a16="http://schemas.microsoft.com/office/drawing/2014/main" id="{7E48931B-FE0F-4B03-83D1-0204065AF27D}"/>
              </a:ext>
            </a:extLst>
          </p:cNvPr>
          <p:cNvSpPr>
            <a:spLocks xmlns:a="http://schemas.openxmlformats.org/drawingml/2006/main" noGrp="1"/>
          </p:cNvSpPr>
          <p:nvPr/>
        </p:nvSpPr>
        <p:spPr>
          <a:xfrm xmlns:a="http://schemas.openxmlformats.org/drawingml/2006/main">
            <a:off x="685800" y="4800600"/>
            <a:ext cx="10817352" cy="960120"/>
          </a:xfrm>
          <a:prstGeom xmlns:a="http://schemas.openxmlformats.org/drawingml/2006/main" prst="roundRect">
            <a:avLst>
              <a:gd name="adj" fmla="val 10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TextBox 26">
            <a:extLst xmlns:a="http://schemas.openxmlformats.org/drawingml/2006/main">
              <a:ext uri="{FF2B5EF4-FFF2-40B4-BE49-F238E27FC236}">
                <a16:creationId xmlns:a16="http://schemas.microsoft.com/office/drawing/2014/main" id="{234FECAA-DA7B-405F-A91F-878B9CC50C62}"/>
              </a:ext>
            </a:extLst>
          </p:cNvPr>
          <p:cNvSpPr>
            <a:spLocks xmlns:a="http://schemas.openxmlformats.org/drawingml/2006/main" noGrp="1"/>
          </p:cNvSpPr>
          <p:nvPr/>
        </p:nvSpPr>
        <p:spPr>
          <a:xfrm xmlns:a="http://schemas.openxmlformats.org/drawingml/2006/main">
            <a:off x="1051560" y="4937760"/>
            <a:ext cx="10149840" cy="713232"/>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300"/>
              </a:spcAft>
              <a:buNone/>
            </a:pPr>
            <a:r>
              <a:rPr sz="1450" b="0" i="1">
                <a:solidFill>
                  <a:srgbClr val="FFFFFF"/>
                </a:solidFill>
                <a:latin typeface="Calibri"/>
                <a:ea typeface="Calibri"/>
                <a:cs typeface="Calibri"/>
              </a:rPr>
              <a:t>“The body is not jeevan, and jeevan is not the body. Jeevan is eternal, and the body is merely a vehicle and medium for jeevan.”</a:t>
            </a:r>
          </a:p>
          <a:p xmlns:a="http://schemas.openxmlformats.org/drawingml/2006/main">
            <a:pPr algn="l">
              <a:lnSpc>
                <a:spcPct val="105000"/>
              </a:lnSpc>
              <a:spcBef>
                <a:spcPts val="0"/>
              </a:spcBef>
              <a:spcAft>
                <a:spcPts val="300"/>
              </a:spcAft>
              <a:buNone/>
            </a:pPr>
            <a:r>
              <a:rPr sz="1200" b="1" i="0">
                <a:solidFill>
                  <a:srgbClr val="C9D4EF"/>
                </a:solidFill>
                <a:latin typeface="Calibri"/>
                <a:ea typeface="Calibri"/>
                <a:cs typeface="Calibri"/>
              </a:rPr>
              <a:t>— SB, Ch. 7</a:t>
            </a:r>
          </a:p>
        </p:txBody>
      </p:sp>
      <p:sp>
        <p:nvSpPr>
          <p:cNvPr id="28" name="TextBox 27">
            <a:extLst xmlns:a="http://schemas.openxmlformats.org/drawingml/2006/main">
              <a:ext uri="{FF2B5EF4-FFF2-40B4-BE49-F238E27FC236}">
                <a16:creationId xmlns:a16="http://schemas.microsoft.com/office/drawing/2014/main" id="{9E8075D6-7139-4589-A20B-48F37D7D4CA2}"/>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§1.3.3–1.3.5 · §5.1</a:t>
            </a:r>
          </a:p>
        </p:txBody>
      </p:sp>
    </p:spTree>
    <p:extLst>
      <p:ext uri="{BB962C8B-B14F-4D97-AF65-F5344CB8AC3E}">
        <p14:creationId xmlns:p14="http://schemas.microsoft.com/office/powerpoint/2010/main" val="41009118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848F1A19-797F-4931-81FC-EAAFAB3D229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4DFC182A-EA7B-41E1-A251-29C88DED4211}"/>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BC98B975-4D7E-4D3E-98C4-C63A214906FE}"/>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0C5DF1A6-F677-40CB-95A8-01F2AFCC2C8F}"/>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9AEF4947-7641-4A64-9BA4-A1DEE4733A73}"/>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SCIENCE · ONTOLOGY</a:t>
            </a:r>
          </a:p>
        </p:txBody>
      </p:sp>
      <p:sp>
        <p:nvSpPr>
          <p:cNvPr id="7" name="TextBox 6">
            <a:extLst xmlns:a="http://schemas.openxmlformats.org/drawingml/2006/main">
              <a:ext uri="{FF2B5EF4-FFF2-40B4-BE49-F238E27FC236}">
                <a16:creationId xmlns:a16="http://schemas.microsoft.com/office/drawing/2014/main" id="{43C1DB62-0068-403D-B983-DEA7205979CA}"/>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The Physicalist Answer</a:t>
            </a:r>
          </a:p>
        </p:txBody>
      </p:sp>
      <p:sp>
        <p:nvSpPr>
          <p:cNvPr id="8" name="Rounded Rectangle 7">
            <a:extLst xmlns:a="http://schemas.openxmlformats.org/drawingml/2006/main">
              <a:ext uri="{FF2B5EF4-FFF2-40B4-BE49-F238E27FC236}">
                <a16:creationId xmlns:a16="http://schemas.microsoft.com/office/drawing/2014/main" id="{914C9DBA-D2D8-4E13-BB4D-1AFF5BF9BB32}"/>
              </a:ext>
            </a:extLst>
          </p:cNvPr>
          <p:cNvSpPr>
            <a:spLocks xmlns:a="http://schemas.openxmlformats.org/drawingml/2006/main" noGrp="1"/>
          </p:cNvSpPr>
          <p:nvPr/>
        </p:nvSpPr>
        <p:spPr>
          <a:xfrm xmlns:a="http://schemas.openxmlformats.org/drawingml/2006/main">
            <a:off x="685800" y="1783080"/>
            <a:ext cx="5257800" cy="16002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7F44D389-C40E-4ABA-B72F-23E16A996768}"/>
              </a:ext>
            </a:extLst>
          </p:cNvPr>
          <p:cNvSpPr>
            <a:spLocks xmlns:a="http://schemas.openxmlformats.org/drawingml/2006/main" noGrp="1"/>
          </p:cNvSpPr>
          <p:nvPr/>
        </p:nvSpPr>
        <p:spPr>
          <a:xfrm xmlns:a="http://schemas.openxmlformats.org/drawingml/2006/main">
            <a:off x="8988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D62AEBE9-7462-4F5E-952B-38900A586CC2}"/>
              </a:ext>
            </a:extLst>
          </p:cNvPr>
          <p:cNvSpPr>
            <a:spLocks xmlns:a="http://schemas.openxmlformats.org/drawingml/2006/main" noGrp="1"/>
          </p:cNvSpPr>
          <p:nvPr/>
        </p:nvSpPr>
        <p:spPr>
          <a:xfrm xmlns:a="http://schemas.openxmlformats.org/drawingml/2006/main">
            <a:off x="9770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0A7A5D16-B4D4-447F-A22A-EB1A1D7C2D46}"/>
              </a:ext>
            </a:extLst>
          </p:cNvPr>
          <p:cNvSpPr>
            <a:spLocks xmlns:a="http://schemas.openxmlformats.org/drawingml/2006/main" noGrp="1"/>
          </p:cNvSpPr>
          <p:nvPr/>
        </p:nvSpPr>
        <p:spPr>
          <a:xfrm xmlns:a="http://schemas.openxmlformats.org/drawingml/2006/main">
            <a:off x="10387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CA21E2D2-684B-43B2-B190-381660677B25}"/>
              </a:ext>
            </a:extLst>
          </p:cNvPr>
          <p:cNvSpPr>
            <a:spLocks xmlns:a="http://schemas.openxmlformats.org/drawingml/2006/main" noGrp="1"/>
          </p:cNvSpPr>
          <p:nvPr/>
        </p:nvSpPr>
        <p:spPr>
          <a:xfrm xmlns:a="http://schemas.openxmlformats.org/drawingml/2006/main">
            <a:off x="1444752" y="198424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The answer</a:t>
            </a:r>
          </a:p>
        </p:txBody>
      </p:sp>
      <p:sp>
        <p:nvSpPr>
          <p:cNvPr id="13" name="TextBox 12">
            <a:extLst xmlns:a="http://schemas.openxmlformats.org/drawingml/2006/main">
              <a:ext uri="{FF2B5EF4-FFF2-40B4-BE49-F238E27FC236}">
                <a16:creationId xmlns:a16="http://schemas.microsoft.com/office/drawing/2014/main" id="{AECBDBCC-B5D2-447B-8A0B-736474D0EFE4}"/>
              </a:ext>
            </a:extLst>
          </p:cNvPr>
          <p:cNvSpPr>
            <a:spLocks xmlns:a="http://schemas.openxmlformats.org/drawingml/2006/main" noGrp="1"/>
          </p:cNvSpPr>
          <p:nvPr/>
        </p:nvSpPr>
        <p:spPr>
          <a:xfrm xmlns:a="http://schemas.openxmlformats.org/drawingml/2006/main">
            <a:off x="941832" y="2496312"/>
            <a:ext cx="4745736"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A human is an evolved organism whose mental capacities depend wholly on biological organisation. Science supports pervasive dependence; physicalism adds the ontological claim.</a:t>
            </a:r>
          </a:p>
        </p:txBody>
      </p:sp>
      <p:sp>
        <p:nvSpPr>
          <p:cNvPr id="14" name="Rounded Rectangle 13">
            <a:extLst xmlns:a="http://schemas.openxmlformats.org/drawingml/2006/main">
              <a:ext uri="{FF2B5EF4-FFF2-40B4-BE49-F238E27FC236}">
                <a16:creationId xmlns:a16="http://schemas.microsoft.com/office/drawing/2014/main" id="{984AD1A6-1C3F-4728-9EAE-204B59CC2DBB}"/>
              </a:ext>
            </a:extLst>
          </p:cNvPr>
          <p:cNvSpPr>
            <a:spLocks xmlns:a="http://schemas.openxmlformats.org/drawingml/2006/main" noGrp="1"/>
          </p:cNvSpPr>
          <p:nvPr/>
        </p:nvSpPr>
        <p:spPr>
          <a:xfrm xmlns:a="http://schemas.openxmlformats.org/drawingml/2006/main">
            <a:off x="6172200" y="1783080"/>
            <a:ext cx="5330952" cy="160020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7452D9D2-6F71-4638-B026-FDB72CCF1D32}"/>
              </a:ext>
            </a:extLst>
          </p:cNvPr>
          <p:cNvSpPr>
            <a:spLocks xmlns:a="http://schemas.openxmlformats.org/drawingml/2006/main" noGrp="1"/>
          </p:cNvSpPr>
          <p:nvPr/>
        </p:nvSpPr>
        <p:spPr>
          <a:xfrm xmlns:a="http://schemas.openxmlformats.org/drawingml/2006/main">
            <a:off x="63852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C12EF10E-DF99-4762-9A51-DBB1A1618733}"/>
              </a:ext>
            </a:extLst>
          </p:cNvPr>
          <p:cNvSpPr>
            <a:spLocks xmlns:a="http://schemas.openxmlformats.org/drawingml/2006/main" noGrp="1"/>
          </p:cNvSpPr>
          <p:nvPr/>
        </p:nvSpPr>
        <p:spPr>
          <a:xfrm xmlns:a="http://schemas.openxmlformats.org/drawingml/2006/main">
            <a:off x="64634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08C3CCF3-877C-4D7D-8807-658A955B4961}"/>
              </a:ext>
            </a:extLst>
          </p:cNvPr>
          <p:cNvSpPr>
            <a:spLocks xmlns:a="http://schemas.openxmlformats.org/drawingml/2006/main" noGrp="1"/>
          </p:cNvSpPr>
          <p:nvPr/>
        </p:nvSpPr>
        <p:spPr>
          <a:xfrm xmlns:a="http://schemas.openxmlformats.org/drawingml/2006/main">
            <a:off x="65251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1E6E0488-D121-45C9-A42E-9569FF117414}"/>
              </a:ext>
            </a:extLst>
          </p:cNvPr>
          <p:cNvSpPr>
            <a:spLocks xmlns:a="http://schemas.openxmlformats.org/drawingml/2006/main" noGrp="1"/>
          </p:cNvSpPr>
          <p:nvPr/>
        </p:nvSpPr>
        <p:spPr>
          <a:xfrm xmlns:a="http://schemas.openxmlformats.org/drawingml/2006/main">
            <a:off x="6931152" y="198424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Method</a:t>
            </a:r>
          </a:p>
        </p:txBody>
      </p:sp>
      <p:sp>
        <p:nvSpPr>
          <p:cNvPr id="19" name="TextBox 18">
            <a:extLst xmlns:a="http://schemas.openxmlformats.org/drawingml/2006/main">
              <a:ext uri="{FF2B5EF4-FFF2-40B4-BE49-F238E27FC236}">
                <a16:creationId xmlns:a16="http://schemas.microsoft.com/office/drawing/2014/main" id="{B668AAD0-14F0-4E51-ABA8-1FBC05FE2F1D}"/>
              </a:ext>
            </a:extLst>
          </p:cNvPr>
          <p:cNvSpPr>
            <a:spLocks xmlns:a="http://schemas.openxmlformats.org/drawingml/2006/main" noGrp="1"/>
          </p:cNvSpPr>
          <p:nvPr/>
        </p:nvSpPr>
        <p:spPr>
          <a:xfrm xmlns:a="http://schemas.openxmlformats.org/drawingml/2006/main">
            <a:off x="6428232" y="2496312"/>
            <a:ext cx="4818888"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Public measurement, modelling, and replication; explanations begin with organised matter and neural function.</a:t>
            </a:r>
          </a:p>
        </p:txBody>
      </p:sp>
      <p:sp>
        <p:nvSpPr>
          <p:cNvPr id="20" name="TextBox 19">
            <a:extLst xmlns:a="http://schemas.openxmlformats.org/drawingml/2006/main">
              <a:ext uri="{FF2B5EF4-FFF2-40B4-BE49-F238E27FC236}">
                <a16:creationId xmlns:a16="http://schemas.microsoft.com/office/drawing/2014/main" id="{E1A639C4-43B7-4161-B89E-18877D163A70}"/>
              </a:ext>
            </a:extLst>
          </p:cNvPr>
          <p:cNvSpPr>
            <a:spLocks xmlns:a="http://schemas.openxmlformats.org/drawingml/2006/main" noGrp="1"/>
          </p:cNvSpPr>
          <p:nvPr/>
        </p:nvSpPr>
        <p:spPr>
          <a:xfrm xmlns:a="http://schemas.openxmlformats.org/drawingml/2006/main">
            <a:off x="685800" y="3611880"/>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50" b="1" i="0">
                <a:solidFill>
                  <a:srgbClr val="1E2447"/>
                </a:solidFill>
                <a:latin typeface="Calibri"/>
                <a:ea typeface="Calibri"/>
                <a:cs typeface="Calibri"/>
              </a:rPr>
              <a:t>Five replies to the Madhyasth ontology</a:t>
            </a:r>
          </a:p>
        </p:txBody>
      </p:sp>
      <p:sp>
        <p:nvSpPr>
          <p:cNvPr id="21" name="Oval 20">
            <a:extLst xmlns:a="http://schemas.openxmlformats.org/drawingml/2006/main">
              <a:ext uri="{FF2B5EF4-FFF2-40B4-BE49-F238E27FC236}">
                <a16:creationId xmlns:a16="http://schemas.microsoft.com/office/drawing/2014/main" id="{2367063F-BB6F-46DB-B639-F186405A0CDB}"/>
              </a:ext>
            </a:extLst>
          </p:cNvPr>
          <p:cNvSpPr>
            <a:spLocks xmlns:a="http://schemas.openxmlformats.org/drawingml/2006/main" noGrp="1"/>
          </p:cNvSpPr>
          <p:nvPr/>
        </p:nvSpPr>
        <p:spPr>
          <a:xfrm xmlns:a="http://schemas.openxmlformats.org/drawingml/2006/main">
            <a:off x="841248" y="41239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67E97618-E5A0-49F7-9947-083ED2D34F1F}"/>
              </a:ext>
            </a:extLst>
          </p:cNvPr>
          <p:cNvSpPr>
            <a:spLocks xmlns:a="http://schemas.openxmlformats.org/drawingml/2006/main" noGrp="1"/>
          </p:cNvSpPr>
          <p:nvPr/>
        </p:nvSpPr>
        <p:spPr>
          <a:xfrm xmlns:a="http://schemas.openxmlformats.org/drawingml/2006/main">
            <a:off x="1188720" y="4023360"/>
            <a:ext cx="4206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Continuity, not four orders</a:t>
            </a:r>
          </a:p>
        </p:txBody>
      </p:sp>
      <p:sp>
        <p:nvSpPr>
          <p:cNvPr id="23" name="TextBox 22">
            <a:extLst xmlns:a="http://schemas.openxmlformats.org/drawingml/2006/main">
              <a:ext uri="{FF2B5EF4-FFF2-40B4-BE49-F238E27FC236}">
                <a16:creationId xmlns:a16="http://schemas.microsoft.com/office/drawing/2014/main" id="{7BC1C9F7-7214-49DD-B8CC-EEAA2B7F9B48}"/>
              </a:ext>
            </a:extLst>
          </p:cNvPr>
          <p:cNvSpPr>
            <a:spLocks xmlns:a="http://schemas.openxmlformats.org/drawingml/2006/main" noGrp="1"/>
          </p:cNvSpPr>
          <p:nvPr/>
        </p:nvSpPr>
        <p:spPr>
          <a:xfrm xmlns:a="http://schemas.openxmlformats.org/drawingml/2006/main">
            <a:off x="5394960" y="4041648"/>
            <a:ext cx="6035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Gradients of organisation; no sentient threshold observed</a:t>
            </a:r>
          </a:p>
        </p:txBody>
      </p:sp>
      <p:sp>
        <p:nvSpPr>
          <p:cNvPr id="24" name="Oval 23">
            <a:extLst xmlns:a="http://schemas.openxmlformats.org/drawingml/2006/main">
              <a:ext uri="{FF2B5EF4-FFF2-40B4-BE49-F238E27FC236}">
                <a16:creationId xmlns:a16="http://schemas.microsoft.com/office/drawing/2014/main" id="{CCB5E0C8-9008-4CF9-92B6-C58947447CB9}"/>
              </a:ext>
            </a:extLst>
          </p:cNvPr>
          <p:cNvSpPr>
            <a:spLocks xmlns:a="http://schemas.openxmlformats.org/drawingml/2006/main" noGrp="1"/>
          </p:cNvSpPr>
          <p:nvPr/>
        </p:nvSpPr>
        <p:spPr>
          <a:xfrm xmlns:a="http://schemas.openxmlformats.org/drawingml/2006/main">
            <a:off x="841248" y="45811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03421116-4FB7-4248-80DC-A9C1C799DF0D}"/>
              </a:ext>
            </a:extLst>
          </p:cNvPr>
          <p:cNvSpPr>
            <a:spLocks xmlns:a="http://schemas.openxmlformats.org/drawingml/2006/main" noGrp="1"/>
          </p:cNvSpPr>
          <p:nvPr/>
        </p:nvSpPr>
        <p:spPr>
          <a:xfrm xmlns:a="http://schemas.openxmlformats.org/drawingml/2006/main">
            <a:off x="1188720" y="4480560"/>
            <a:ext cx="4206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Mind emerges from organisation</a:t>
            </a:r>
          </a:p>
        </p:txBody>
      </p:sp>
      <p:sp>
        <p:nvSpPr>
          <p:cNvPr id="26" name="TextBox 25">
            <a:extLst xmlns:a="http://schemas.openxmlformats.org/drawingml/2006/main">
              <a:ext uri="{FF2B5EF4-FFF2-40B4-BE49-F238E27FC236}">
                <a16:creationId xmlns:a16="http://schemas.microsoft.com/office/drawing/2014/main" id="{B68DD60F-30BB-48A7-A876-38BFF00AF2C4}"/>
              </a:ext>
            </a:extLst>
          </p:cNvPr>
          <p:cNvSpPr>
            <a:spLocks xmlns:a="http://schemas.openxmlformats.org/drawingml/2006/main" noGrp="1"/>
          </p:cNvSpPr>
          <p:nvPr/>
        </p:nvSpPr>
        <p:spPr>
          <a:xfrm xmlns:a="http://schemas.openxmlformats.org/drawingml/2006/main">
            <a:off x="5394960" y="4498848"/>
            <a:ext cx="6035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Destroy the organisation and mental functions cease</a:t>
            </a:r>
          </a:p>
        </p:txBody>
      </p:sp>
      <p:sp>
        <p:nvSpPr>
          <p:cNvPr id="27" name="Oval 26">
            <a:extLst xmlns:a="http://schemas.openxmlformats.org/drawingml/2006/main">
              <a:ext uri="{FF2B5EF4-FFF2-40B4-BE49-F238E27FC236}">
                <a16:creationId xmlns:a16="http://schemas.microsoft.com/office/drawing/2014/main" id="{5ECD719C-CC1C-478B-AD45-090289005F4A}"/>
              </a:ext>
            </a:extLst>
          </p:cNvPr>
          <p:cNvSpPr>
            <a:spLocks xmlns:a="http://schemas.openxmlformats.org/drawingml/2006/main" noGrp="1"/>
          </p:cNvSpPr>
          <p:nvPr/>
        </p:nvSpPr>
        <p:spPr>
          <a:xfrm xmlns:a="http://schemas.openxmlformats.org/drawingml/2006/main">
            <a:off x="841248" y="50383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5470B701-1A2D-43A3-BED2-BC47167CB16C}"/>
              </a:ext>
            </a:extLst>
          </p:cNvPr>
          <p:cNvSpPr>
            <a:spLocks xmlns:a="http://schemas.openxmlformats.org/drawingml/2006/main" noGrp="1"/>
          </p:cNvSpPr>
          <p:nvPr/>
        </p:nvSpPr>
        <p:spPr>
          <a:xfrm xmlns:a="http://schemas.openxmlformats.org/drawingml/2006/main">
            <a:off x="1188720" y="4937760"/>
            <a:ext cx="4206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No second entity</a:t>
            </a:r>
          </a:p>
        </p:txBody>
      </p:sp>
      <p:sp>
        <p:nvSpPr>
          <p:cNvPr id="29" name="TextBox 28">
            <a:extLst xmlns:a="http://schemas.openxmlformats.org/drawingml/2006/main">
              <a:ext uri="{FF2B5EF4-FFF2-40B4-BE49-F238E27FC236}">
                <a16:creationId xmlns:a16="http://schemas.microsoft.com/office/drawing/2014/main" id="{58DF96B1-C496-41AE-85B0-626065A83594}"/>
              </a:ext>
            </a:extLst>
          </p:cNvPr>
          <p:cNvSpPr>
            <a:spLocks xmlns:a="http://schemas.openxmlformats.org/drawingml/2006/main" noGrp="1"/>
          </p:cNvSpPr>
          <p:nvPr/>
        </p:nvSpPr>
        <p:spPr>
          <a:xfrm xmlns:a="http://schemas.openxmlformats.org/drawingml/2006/main">
            <a:off x="5394960" y="4956048"/>
            <a:ext cx="6035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No independent sentient unit has been detected</a:t>
            </a:r>
          </a:p>
        </p:txBody>
      </p:sp>
      <p:sp>
        <p:nvSpPr>
          <p:cNvPr id="30" name="Oval 29">
            <a:extLst xmlns:a="http://schemas.openxmlformats.org/drawingml/2006/main">
              <a:ext uri="{FF2B5EF4-FFF2-40B4-BE49-F238E27FC236}">
                <a16:creationId xmlns:a16="http://schemas.microsoft.com/office/drawing/2014/main" id="{DA32F050-699C-470C-8EA6-30847074E602}"/>
              </a:ext>
            </a:extLst>
          </p:cNvPr>
          <p:cNvSpPr>
            <a:spLocks xmlns:a="http://schemas.openxmlformats.org/drawingml/2006/main" noGrp="1"/>
          </p:cNvSpPr>
          <p:nvPr/>
        </p:nvSpPr>
        <p:spPr>
          <a:xfrm xmlns:a="http://schemas.openxmlformats.org/drawingml/2006/main">
            <a:off x="841248" y="54955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TextBox 30">
            <a:extLst xmlns:a="http://schemas.openxmlformats.org/drawingml/2006/main">
              <a:ext uri="{FF2B5EF4-FFF2-40B4-BE49-F238E27FC236}">
                <a16:creationId xmlns:a16="http://schemas.microsoft.com/office/drawing/2014/main" id="{50919694-26A9-4502-9262-EDC4336C61A7}"/>
              </a:ext>
            </a:extLst>
          </p:cNvPr>
          <p:cNvSpPr>
            <a:spLocks xmlns:a="http://schemas.openxmlformats.org/drawingml/2006/main" noGrp="1"/>
          </p:cNvSpPr>
          <p:nvPr/>
        </p:nvSpPr>
        <p:spPr>
          <a:xfrm xmlns:a="http://schemas.openxmlformats.org/drawingml/2006/main">
            <a:off x="1188720" y="5394960"/>
            <a:ext cx="4206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Culture + brain, not a knower</a:t>
            </a:r>
          </a:p>
        </p:txBody>
      </p:sp>
      <p:sp>
        <p:nvSpPr>
          <p:cNvPr id="32" name="TextBox 31">
            <a:extLst xmlns:a="http://schemas.openxmlformats.org/drawingml/2006/main">
              <a:ext uri="{FF2B5EF4-FFF2-40B4-BE49-F238E27FC236}">
                <a16:creationId xmlns:a16="http://schemas.microsoft.com/office/drawing/2014/main" id="{3533303D-1F96-4B0D-9389-A943E1B9D77F}"/>
              </a:ext>
            </a:extLst>
          </p:cNvPr>
          <p:cNvSpPr>
            <a:spLocks xmlns:a="http://schemas.openxmlformats.org/drawingml/2006/main" noGrp="1"/>
          </p:cNvSpPr>
          <p:nvPr/>
        </p:nvSpPr>
        <p:spPr>
          <a:xfrm xmlns:a="http://schemas.openxmlformats.org/drawingml/2006/main">
            <a:off x="5394960" y="5413248"/>
            <a:ext cx="6035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Brains in social worlds support symbol use and culture</a:t>
            </a:r>
          </a:p>
        </p:txBody>
      </p:sp>
      <p:sp>
        <p:nvSpPr>
          <p:cNvPr id="33" name="Oval 32">
            <a:extLst xmlns:a="http://schemas.openxmlformats.org/drawingml/2006/main">
              <a:ext uri="{FF2B5EF4-FFF2-40B4-BE49-F238E27FC236}">
                <a16:creationId xmlns:a16="http://schemas.microsoft.com/office/drawing/2014/main" id="{D6D00243-E2FC-45AD-9C19-0D6AC443D3BB}"/>
              </a:ext>
            </a:extLst>
          </p:cNvPr>
          <p:cNvSpPr>
            <a:spLocks xmlns:a="http://schemas.openxmlformats.org/drawingml/2006/main" noGrp="1"/>
          </p:cNvSpPr>
          <p:nvPr/>
        </p:nvSpPr>
        <p:spPr>
          <a:xfrm xmlns:a="http://schemas.openxmlformats.org/drawingml/2006/main">
            <a:off x="841248" y="59527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4" name="TextBox 33">
            <a:extLst xmlns:a="http://schemas.openxmlformats.org/drawingml/2006/main">
              <a:ext uri="{FF2B5EF4-FFF2-40B4-BE49-F238E27FC236}">
                <a16:creationId xmlns:a16="http://schemas.microsoft.com/office/drawing/2014/main" id="{C831B181-ED9E-4226-A740-C5D534908CF4}"/>
              </a:ext>
            </a:extLst>
          </p:cNvPr>
          <p:cNvSpPr>
            <a:spLocks xmlns:a="http://schemas.openxmlformats.org/drawingml/2006/main" noGrp="1"/>
          </p:cNvSpPr>
          <p:nvPr/>
        </p:nvSpPr>
        <p:spPr>
          <a:xfrm xmlns:a="http://schemas.openxmlformats.org/drawingml/2006/main">
            <a:off x="1188720" y="5852160"/>
            <a:ext cx="42062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Layered function, not koshas</a:t>
            </a:r>
          </a:p>
        </p:txBody>
      </p:sp>
      <p:sp>
        <p:nvSpPr>
          <p:cNvPr id="35" name="TextBox 34">
            <a:extLst xmlns:a="http://schemas.openxmlformats.org/drawingml/2006/main">
              <a:ext uri="{FF2B5EF4-FFF2-40B4-BE49-F238E27FC236}">
                <a16:creationId xmlns:a16="http://schemas.microsoft.com/office/drawing/2014/main" id="{DE0C1E74-8296-45A9-A999-B9501C7F5564}"/>
              </a:ext>
            </a:extLst>
          </p:cNvPr>
          <p:cNvSpPr>
            <a:spLocks xmlns:a="http://schemas.openxmlformats.org/drawingml/2006/main" noGrp="1"/>
          </p:cNvSpPr>
          <p:nvPr/>
        </p:nvSpPr>
        <p:spPr>
          <a:xfrm xmlns:a="http://schemas.openxmlformats.org/drawingml/2006/main">
            <a:off x="5394960" y="5870448"/>
            <a:ext cx="603504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Distributed bodily, cortical, and subcortical functions</a:t>
            </a:r>
          </a:p>
        </p:txBody>
      </p:sp>
      <p:sp>
        <p:nvSpPr>
          <p:cNvPr id="36" name="TextBox 35">
            <a:extLst xmlns:a="http://schemas.openxmlformats.org/drawingml/2006/main">
              <a:ext uri="{FF2B5EF4-FFF2-40B4-BE49-F238E27FC236}">
                <a16:creationId xmlns:a16="http://schemas.microsoft.com/office/drawing/2014/main" id="{B58F0F28-918B-4941-8D16-36724794418E}"/>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§2.3–2.5</a:t>
            </a:r>
          </a:p>
        </p:txBody>
      </p:sp>
    </p:spTree>
    <p:extLst>
      <p:ext uri="{BB962C8B-B14F-4D97-AF65-F5344CB8AC3E}">
        <p14:creationId xmlns:p14="http://schemas.microsoft.com/office/powerpoint/2010/main" val="155928221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EA266C4-591A-4F0B-AD2D-55B103324C8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CAA7EBE8-9626-443D-A504-066307ED6CEF}"/>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FDD05969-904E-4415-A89F-B53E78A4079F}"/>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644AAC57-0E0F-4474-9167-0062CAE00047}"/>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0632EE2E-C706-4D7D-B165-133A405A53D5}"/>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SCIENCE · ONTOLOGY</a:t>
            </a:r>
          </a:p>
        </p:txBody>
      </p:sp>
      <p:sp>
        <p:nvSpPr>
          <p:cNvPr id="7" name="TextBox 6">
            <a:extLst xmlns:a="http://schemas.openxmlformats.org/drawingml/2006/main">
              <a:ext uri="{FF2B5EF4-FFF2-40B4-BE49-F238E27FC236}">
                <a16:creationId xmlns:a16="http://schemas.microsoft.com/office/drawing/2014/main" id="{A395B714-F7CA-42D8-8D24-A401FAA0DC9E}"/>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The Interaction Problem</a:t>
            </a:r>
          </a:p>
        </p:txBody>
      </p:sp>
      <p:sp>
        <p:nvSpPr>
          <p:cNvPr id="8" name="TextBox 7">
            <a:extLst xmlns:a="http://schemas.openxmlformats.org/drawingml/2006/main">
              <a:ext uri="{FF2B5EF4-FFF2-40B4-BE49-F238E27FC236}">
                <a16:creationId xmlns:a16="http://schemas.microsoft.com/office/drawing/2014/main" id="{DBE474DE-2255-463C-97C3-F0AFFD02B3D5}"/>
              </a:ext>
            </a:extLst>
          </p:cNvPr>
          <p:cNvSpPr>
            <a:spLocks xmlns:a="http://schemas.openxmlformats.org/drawingml/2006/main" noGrp="1"/>
          </p:cNvSpPr>
          <p:nvPr/>
        </p:nvSpPr>
        <p:spPr>
          <a:xfrm xmlns:a="http://schemas.openxmlformats.org/drawingml/2006/main">
            <a:off x="685800" y="1783080"/>
            <a:ext cx="1078992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The serious challenge is not that an extra cause must obviously violate energy conservation. Conservation laws constrain measured systems; they do not by themselves prove causal closure.</a:t>
            </a:r>
          </a:p>
        </p:txBody>
      </p:sp>
      <p:sp>
        <p:nvSpPr>
          <p:cNvPr id="9" name="Rounded Rectangle 8">
            <a:extLst xmlns:a="http://schemas.openxmlformats.org/drawingml/2006/main">
              <a:ext uri="{FF2B5EF4-FFF2-40B4-BE49-F238E27FC236}">
                <a16:creationId xmlns:a16="http://schemas.microsoft.com/office/drawing/2014/main" id="{0D9F24AC-DA90-412C-8D64-A24F7324814B}"/>
              </a:ext>
            </a:extLst>
          </p:cNvPr>
          <p:cNvSpPr>
            <a:spLocks xmlns:a="http://schemas.openxmlformats.org/drawingml/2006/main" noGrp="1"/>
          </p:cNvSpPr>
          <p:nvPr/>
        </p:nvSpPr>
        <p:spPr>
          <a:xfrm xmlns:a="http://schemas.openxmlformats.org/drawingml/2006/main">
            <a:off x="685800" y="2971800"/>
            <a:ext cx="5257800" cy="210312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496F2C04-B00E-49A4-A2E1-AB51168673E0}"/>
              </a:ext>
            </a:extLst>
          </p:cNvPr>
          <p:cNvSpPr>
            <a:spLocks xmlns:a="http://schemas.openxmlformats.org/drawingml/2006/main" noGrp="1"/>
          </p:cNvSpPr>
          <p:nvPr/>
        </p:nvSpPr>
        <p:spPr>
          <a:xfrm xmlns:a="http://schemas.openxmlformats.org/drawingml/2006/main">
            <a:off x="898855" y="3166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91A7B8D5-9609-4270-A91E-809116D3AE37}"/>
              </a:ext>
            </a:extLst>
          </p:cNvPr>
          <p:cNvSpPr>
            <a:spLocks xmlns:a="http://schemas.openxmlformats.org/drawingml/2006/main" noGrp="1"/>
          </p:cNvSpPr>
          <p:nvPr/>
        </p:nvSpPr>
        <p:spPr>
          <a:xfrm xmlns:a="http://schemas.openxmlformats.org/drawingml/2006/main">
            <a:off x="977036" y="3244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5E5FDCD2-973F-4F6E-B26C-3E6F7ABCA142}"/>
              </a:ext>
            </a:extLst>
          </p:cNvPr>
          <p:cNvSpPr>
            <a:spLocks xmlns:a="http://schemas.openxmlformats.org/drawingml/2006/main" noGrp="1"/>
          </p:cNvSpPr>
          <p:nvPr/>
        </p:nvSpPr>
        <p:spPr>
          <a:xfrm xmlns:a="http://schemas.openxmlformats.org/drawingml/2006/main">
            <a:off x="1038758" y="3306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6041A3B3-E8BD-4860-B2B0-8A0A0F303D4D}"/>
              </a:ext>
            </a:extLst>
          </p:cNvPr>
          <p:cNvSpPr>
            <a:spLocks xmlns:a="http://schemas.openxmlformats.org/drawingml/2006/main" noGrp="1"/>
          </p:cNvSpPr>
          <p:nvPr/>
        </p:nvSpPr>
        <p:spPr>
          <a:xfrm xmlns:a="http://schemas.openxmlformats.org/drawingml/2006/main">
            <a:off x="1444752" y="317296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The physicalist challenge</a:t>
            </a:r>
          </a:p>
        </p:txBody>
      </p:sp>
      <p:sp>
        <p:nvSpPr>
          <p:cNvPr id="14" name="TextBox 13">
            <a:extLst xmlns:a="http://schemas.openxmlformats.org/drawingml/2006/main">
              <a:ext uri="{FF2B5EF4-FFF2-40B4-BE49-F238E27FC236}">
                <a16:creationId xmlns:a16="http://schemas.microsoft.com/office/drawing/2014/main" id="{535D1890-7529-466A-981F-59124CCB08AD}"/>
              </a:ext>
            </a:extLst>
          </p:cNvPr>
          <p:cNvSpPr>
            <a:spLocks xmlns:a="http://schemas.openxmlformats.org/drawingml/2006/main" noGrp="1"/>
          </p:cNvSpPr>
          <p:nvPr/>
        </p:nvSpPr>
        <p:spPr>
          <a:xfrm xmlns:a="http://schemas.openxmlformats.org/drawingml/2006/main">
            <a:off x="941832" y="3685032"/>
            <a:ext cx="4745736" cy="118871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If jeevan changes bodily action, specify the mechanism and show effects not already explained by neural dynamics. Without a distinct prediction, the added entity risks explanatory idleness.</a:t>
            </a:r>
          </a:p>
        </p:txBody>
      </p:sp>
      <p:sp>
        <p:nvSpPr>
          <p:cNvPr id="15" name="Rounded Rectangle 14">
            <a:extLst xmlns:a="http://schemas.openxmlformats.org/drawingml/2006/main">
              <a:ext uri="{FF2B5EF4-FFF2-40B4-BE49-F238E27FC236}">
                <a16:creationId xmlns:a16="http://schemas.microsoft.com/office/drawing/2014/main" id="{C2DC4DB9-63F0-49AA-BC46-7848F130E85D}"/>
              </a:ext>
            </a:extLst>
          </p:cNvPr>
          <p:cNvSpPr>
            <a:spLocks xmlns:a="http://schemas.openxmlformats.org/drawingml/2006/main" noGrp="1"/>
          </p:cNvSpPr>
          <p:nvPr/>
        </p:nvSpPr>
        <p:spPr>
          <a:xfrm xmlns:a="http://schemas.openxmlformats.org/drawingml/2006/main">
            <a:off x="6172200" y="2971800"/>
            <a:ext cx="5330952" cy="210312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6F2F21B0-6C55-4882-AE2F-2AD508597133}"/>
              </a:ext>
            </a:extLst>
          </p:cNvPr>
          <p:cNvSpPr>
            <a:spLocks xmlns:a="http://schemas.openxmlformats.org/drawingml/2006/main" noGrp="1"/>
          </p:cNvSpPr>
          <p:nvPr/>
        </p:nvSpPr>
        <p:spPr>
          <a:xfrm xmlns:a="http://schemas.openxmlformats.org/drawingml/2006/main">
            <a:off x="6385255" y="3166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44988DFE-9BA5-44C6-8D37-D7EDA1E54F9B}"/>
              </a:ext>
            </a:extLst>
          </p:cNvPr>
          <p:cNvSpPr>
            <a:spLocks xmlns:a="http://schemas.openxmlformats.org/drawingml/2006/main" noGrp="1"/>
          </p:cNvSpPr>
          <p:nvPr/>
        </p:nvSpPr>
        <p:spPr>
          <a:xfrm xmlns:a="http://schemas.openxmlformats.org/drawingml/2006/main">
            <a:off x="6463436" y="3244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A4A1996B-E6BD-4267-AF99-B6CE958611D9}"/>
              </a:ext>
            </a:extLst>
          </p:cNvPr>
          <p:cNvSpPr>
            <a:spLocks xmlns:a="http://schemas.openxmlformats.org/drawingml/2006/main" noGrp="1"/>
          </p:cNvSpPr>
          <p:nvPr/>
        </p:nvSpPr>
        <p:spPr>
          <a:xfrm xmlns:a="http://schemas.openxmlformats.org/drawingml/2006/main">
            <a:off x="6525158" y="3306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A5EC8094-F37C-4F9A-A04B-A541C2C3ECD3}"/>
              </a:ext>
            </a:extLst>
          </p:cNvPr>
          <p:cNvSpPr>
            <a:spLocks xmlns:a="http://schemas.openxmlformats.org/drawingml/2006/main" noGrp="1"/>
          </p:cNvSpPr>
          <p:nvPr/>
        </p:nvSpPr>
        <p:spPr>
          <a:xfrm xmlns:a="http://schemas.openxmlformats.org/drawingml/2006/main">
            <a:off x="6931152" y="317296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9A6414"/>
                </a:solidFill>
                <a:latin typeface="Cambria"/>
                <a:ea typeface="Cambria"/>
                <a:cs typeface="Cambria"/>
              </a:rPr>
              <a:t>The Madhyasth reply—and its burden</a:t>
            </a:r>
          </a:p>
        </p:txBody>
      </p:sp>
      <p:sp>
        <p:nvSpPr>
          <p:cNvPr id="20" name="TextBox 19">
            <a:extLst xmlns:a="http://schemas.openxmlformats.org/drawingml/2006/main">
              <a:ext uri="{FF2B5EF4-FFF2-40B4-BE49-F238E27FC236}">
                <a16:creationId xmlns:a16="http://schemas.microsoft.com/office/drawing/2014/main" id="{AB718AA4-6E46-43C6-885D-93710D32A480}"/>
              </a:ext>
            </a:extLst>
          </p:cNvPr>
          <p:cNvSpPr>
            <a:spLocks xmlns:a="http://schemas.openxmlformats.org/drawingml/2006/main" noGrp="1"/>
          </p:cNvSpPr>
          <p:nvPr/>
        </p:nvSpPr>
        <p:spPr>
          <a:xfrm xmlns:a="http://schemas.openxmlformats.org/drawingml/2006/main">
            <a:off x="6428232" y="3685032"/>
            <a:ext cx="4818888" cy="1188719"/>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5A6377"/>
                </a:solidFill>
                <a:latin typeface="Calibri"/>
                <a:ea typeface="Calibri"/>
                <a:cs typeface="Calibri"/>
              </a:rPr>
              <a:t>The proposal is joint activity, not an external force. But naming a joint form is not yet a causal account; conditions, pathways, and discriminating observations are still needed.</a:t>
            </a:r>
          </a:p>
        </p:txBody>
      </p:sp>
      <p:sp>
        <p:nvSpPr>
          <p:cNvPr id="21" name="Rounded Rectangle 20">
            <a:extLst xmlns:a="http://schemas.openxmlformats.org/drawingml/2006/main">
              <a:ext uri="{FF2B5EF4-FFF2-40B4-BE49-F238E27FC236}">
                <a16:creationId xmlns:a16="http://schemas.microsoft.com/office/drawing/2014/main" id="{40905F85-B9F4-48C6-B8D5-FEC03431CB38}"/>
              </a:ext>
            </a:extLst>
          </p:cNvPr>
          <p:cNvSpPr>
            <a:spLocks xmlns:a="http://schemas.openxmlformats.org/drawingml/2006/main" noGrp="1"/>
          </p:cNvSpPr>
          <p:nvPr/>
        </p:nvSpPr>
        <p:spPr>
          <a:xfrm xmlns:a="http://schemas.openxmlformats.org/drawingml/2006/main">
            <a:off x="685800" y="5349240"/>
            <a:ext cx="10817352" cy="822960"/>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C9724350-42EF-4C31-82B5-59182D1EE9B0}"/>
              </a:ext>
            </a:extLst>
          </p:cNvPr>
          <p:cNvSpPr>
            <a:spLocks xmlns:a="http://schemas.openxmlformats.org/drawingml/2006/main" noGrp="1"/>
          </p:cNvSpPr>
          <p:nvPr/>
        </p:nvSpPr>
        <p:spPr>
          <a:xfrm xmlns:a="http://schemas.openxmlformats.org/drawingml/2006/main">
            <a:off x="1005840" y="5349240"/>
            <a:ext cx="1017727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A useful test must compare rival predictions—not simply restate either ontology.</a:t>
            </a:r>
          </a:p>
        </p:txBody>
      </p:sp>
      <p:sp>
        <p:nvSpPr>
          <p:cNvPr id="23" name="TextBox 22">
            <a:extLst xmlns:a="http://schemas.openxmlformats.org/drawingml/2006/main">
              <a:ext uri="{FF2B5EF4-FFF2-40B4-BE49-F238E27FC236}">
                <a16:creationId xmlns:a16="http://schemas.microsoft.com/office/drawing/2014/main" id="{D960306E-7771-4CA6-A9E2-332D2B07951C}"/>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§2.3.3 · §5.1–5.2</a:t>
            </a:r>
          </a:p>
        </p:txBody>
      </p:sp>
    </p:spTree>
    <p:extLst>
      <p:ext uri="{BB962C8B-B14F-4D97-AF65-F5344CB8AC3E}">
        <p14:creationId xmlns:p14="http://schemas.microsoft.com/office/powerpoint/2010/main" val="296842666"/>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89D379D-5123-4DB0-A462-5E6001AC452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B7218E6E-64B9-4A28-9FA7-981C834A0BA8}"/>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E94E2063-F41E-48FB-9186-D1715E1BF659}"/>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815AEB9E-BB82-4FCF-8DBB-5F60D3C5F276}"/>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E640DA08-EFAB-44AB-8E88-7E7025E97BE5}"/>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SCIENCE · LIMITS OF THE INFERENCE</a:t>
            </a:r>
          </a:p>
        </p:txBody>
      </p:sp>
      <p:sp>
        <p:nvSpPr>
          <p:cNvPr id="7" name="TextBox 6">
            <a:extLst xmlns:a="http://schemas.openxmlformats.org/drawingml/2006/main">
              <a:ext uri="{FF2B5EF4-FFF2-40B4-BE49-F238E27FC236}">
                <a16:creationId xmlns:a16="http://schemas.microsoft.com/office/drawing/2014/main" id="{50EB3682-9239-4303-8CAB-EF91299C9C4E}"/>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What Science Explains—and What Remains Open</a:t>
            </a:r>
          </a:p>
        </p:txBody>
      </p:sp>
      <p:sp>
        <p:nvSpPr>
          <p:cNvPr id="8" name="Rounded Rectangle 7">
            <a:extLst xmlns:a="http://schemas.openxmlformats.org/drawingml/2006/main">
              <a:ext uri="{FF2B5EF4-FFF2-40B4-BE49-F238E27FC236}">
                <a16:creationId xmlns:a16="http://schemas.microsoft.com/office/drawing/2014/main" id="{10A83485-DD53-4B9E-91C9-F367B5B8E20B}"/>
              </a:ext>
            </a:extLst>
          </p:cNvPr>
          <p:cNvSpPr>
            <a:spLocks xmlns:a="http://schemas.openxmlformats.org/drawingml/2006/main" noGrp="1"/>
          </p:cNvSpPr>
          <p:nvPr/>
        </p:nvSpPr>
        <p:spPr>
          <a:xfrm xmlns:a="http://schemas.openxmlformats.org/drawingml/2006/main">
            <a:off x="685800" y="1828800"/>
            <a:ext cx="5257800" cy="219456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42DCE2A6-C890-4F33-8A37-B4027E0EEF84}"/>
              </a:ext>
            </a:extLst>
          </p:cNvPr>
          <p:cNvSpPr>
            <a:spLocks xmlns:a="http://schemas.openxmlformats.org/drawingml/2006/main" noGrp="1"/>
          </p:cNvSpPr>
          <p:nvPr/>
        </p:nvSpPr>
        <p:spPr>
          <a:xfrm xmlns:a="http://schemas.openxmlformats.org/drawingml/2006/main">
            <a:off x="898855" y="2023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46F5CBA1-F5F6-409B-8A52-8A478A0CD13B}"/>
              </a:ext>
            </a:extLst>
          </p:cNvPr>
          <p:cNvSpPr>
            <a:spLocks xmlns:a="http://schemas.openxmlformats.org/drawingml/2006/main" noGrp="1"/>
          </p:cNvSpPr>
          <p:nvPr/>
        </p:nvSpPr>
        <p:spPr>
          <a:xfrm xmlns:a="http://schemas.openxmlformats.org/drawingml/2006/main">
            <a:off x="977036" y="2101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DFD3E3A8-345C-4998-A316-49802F513346}"/>
              </a:ext>
            </a:extLst>
          </p:cNvPr>
          <p:cNvSpPr>
            <a:spLocks xmlns:a="http://schemas.openxmlformats.org/drawingml/2006/main" noGrp="1"/>
          </p:cNvSpPr>
          <p:nvPr/>
        </p:nvSpPr>
        <p:spPr>
          <a:xfrm xmlns:a="http://schemas.openxmlformats.org/drawingml/2006/main">
            <a:off x="1038758" y="2163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3D59460D-4545-4285-BAD7-3C64A6BA118E}"/>
              </a:ext>
            </a:extLst>
          </p:cNvPr>
          <p:cNvSpPr>
            <a:spLocks xmlns:a="http://schemas.openxmlformats.org/drawingml/2006/main" noGrp="1"/>
          </p:cNvSpPr>
          <p:nvPr/>
        </p:nvSpPr>
        <p:spPr>
          <a:xfrm xmlns:a="http://schemas.openxmlformats.org/drawingml/2006/main">
            <a:off x="1444752" y="2029968"/>
            <a:ext cx="431596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1E2447"/>
                </a:solidFill>
                <a:latin typeface="Cambria"/>
                <a:ea typeface="Cambria"/>
                <a:cs typeface="Cambria"/>
              </a:rPr>
              <a:t>Neural dependence is strong</a:t>
            </a:r>
          </a:p>
        </p:txBody>
      </p:sp>
      <p:sp>
        <p:nvSpPr>
          <p:cNvPr id="13" name="TextBox 12">
            <a:extLst xmlns:a="http://schemas.openxmlformats.org/drawingml/2006/main">
              <a:ext uri="{FF2B5EF4-FFF2-40B4-BE49-F238E27FC236}">
                <a16:creationId xmlns:a16="http://schemas.microsoft.com/office/drawing/2014/main" id="{39E39124-3EC3-4CD3-942E-ECA78D954FF8}"/>
              </a:ext>
            </a:extLst>
          </p:cNvPr>
          <p:cNvSpPr>
            <a:spLocks xmlns:a="http://schemas.openxmlformats.org/drawingml/2006/main" noGrp="1"/>
          </p:cNvSpPr>
          <p:nvPr/>
        </p:nvSpPr>
        <p:spPr>
          <a:xfrm xmlns:a="http://schemas.openxmlformats.org/drawingml/2006/main">
            <a:off x="941832" y="2542032"/>
            <a:ext cx="4745736"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50" b="0" i="0">
                <a:solidFill>
                  <a:srgbClr val="5A6377"/>
                </a:solidFill>
                <a:latin typeface="Calibri"/>
                <a:ea typeface="Calibri"/>
                <a:cs typeface="Calibri"/>
              </a:rPr>
              <a:t>Lesions, stimulation, drugs, development, and imaging show that experience and cognition vary systematically with brain and body.</a:t>
            </a:r>
          </a:p>
        </p:txBody>
      </p:sp>
      <p:sp>
        <p:nvSpPr>
          <p:cNvPr id="14" name="Rounded Rectangle 13">
            <a:extLst xmlns:a="http://schemas.openxmlformats.org/drawingml/2006/main">
              <a:ext uri="{FF2B5EF4-FFF2-40B4-BE49-F238E27FC236}">
                <a16:creationId xmlns:a16="http://schemas.microsoft.com/office/drawing/2014/main" id="{BADB0BB3-85F8-4D04-AA15-F6ED5336E18E}"/>
              </a:ext>
            </a:extLst>
          </p:cNvPr>
          <p:cNvSpPr>
            <a:spLocks xmlns:a="http://schemas.openxmlformats.org/drawingml/2006/main" noGrp="1"/>
          </p:cNvSpPr>
          <p:nvPr/>
        </p:nvSpPr>
        <p:spPr>
          <a:xfrm xmlns:a="http://schemas.openxmlformats.org/drawingml/2006/main">
            <a:off x="6172200" y="1828800"/>
            <a:ext cx="5330952" cy="219456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50687F1D-0140-4B6B-9510-EA6688FF0714}"/>
              </a:ext>
            </a:extLst>
          </p:cNvPr>
          <p:cNvSpPr>
            <a:spLocks xmlns:a="http://schemas.openxmlformats.org/drawingml/2006/main" noGrp="1"/>
          </p:cNvSpPr>
          <p:nvPr/>
        </p:nvSpPr>
        <p:spPr>
          <a:xfrm xmlns:a="http://schemas.openxmlformats.org/drawingml/2006/main">
            <a:off x="6385255" y="202356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C9122800-0604-491B-9B24-CA30AFEB3184}"/>
              </a:ext>
            </a:extLst>
          </p:cNvPr>
          <p:cNvSpPr>
            <a:spLocks xmlns:a="http://schemas.openxmlformats.org/drawingml/2006/main" noGrp="1"/>
          </p:cNvSpPr>
          <p:nvPr/>
        </p:nvSpPr>
        <p:spPr>
          <a:xfrm xmlns:a="http://schemas.openxmlformats.org/drawingml/2006/main">
            <a:off x="6463436" y="210174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E22ADF36-379C-461A-9727-DFC684B67C93}"/>
              </a:ext>
            </a:extLst>
          </p:cNvPr>
          <p:cNvSpPr>
            <a:spLocks xmlns:a="http://schemas.openxmlformats.org/drawingml/2006/main" noGrp="1"/>
          </p:cNvSpPr>
          <p:nvPr/>
        </p:nvSpPr>
        <p:spPr>
          <a:xfrm xmlns:a="http://schemas.openxmlformats.org/drawingml/2006/main">
            <a:off x="6525158" y="216347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C09451DF-306C-4790-9CE7-37BE2E698767}"/>
              </a:ext>
            </a:extLst>
          </p:cNvPr>
          <p:cNvSpPr>
            <a:spLocks xmlns:a="http://schemas.openxmlformats.org/drawingml/2006/main" noGrp="1"/>
          </p:cNvSpPr>
          <p:nvPr/>
        </p:nvSpPr>
        <p:spPr>
          <a:xfrm xmlns:a="http://schemas.openxmlformats.org/drawingml/2006/main">
            <a:off x="6931152" y="2029968"/>
            <a:ext cx="43891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600" b="1" i="0">
                <a:solidFill>
                  <a:srgbClr val="9A6414"/>
                </a:solidFill>
                <a:latin typeface="Cambria"/>
                <a:ea typeface="Cambria"/>
                <a:cs typeface="Cambria"/>
              </a:rPr>
              <a:t>Explanatory entailment is open</a:t>
            </a:r>
          </a:p>
        </p:txBody>
      </p:sp>
      <p:sp>
        <p:nvSpPr>
          <p:cNvPr id="19" name="TextBox 18">
            <a:extLst xmlns:a="http://schemas.openxmlformats.org/drawingml/2006/main">
              <a:ext uri="{FF2B5EF4-FFF2-40B4-BE49-F238E27FC236}">
                <a16:creationId xmlns:a16="http://schemas.microsoft.com/office/drawing/2014/main" id="{54000FF5-4E66-4A90-9991-EE425068D217}"/>
              </a:ext>
            </a:extLst>
          </p:cNvPr>
          <p:cNvSpPr>
            <a:spLocks xmlns:a="http://schemas.openxmlformats.org/drawingml/2006/main" noGrp="1"/>
          </p:cNvSpPr>
          <p:nvPr/>
        </p:nvSpPr>
        <p:spPr>
          <a:xfrm xmlns:a="http://schemas.openxmlformats.org/drawingml/2006/main">
            <a:off x="6428232" y="2542032"/>
            <a:ext cx="4818888"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50" b="0" i="0">
                <a:solidFill>
                  <a:srgbClr val="5A6377"/>
                </a:solidFill>
                <a:latin typeface="Calibri"/>
                <a:ea typeface="Calibri"/>
                <a:cs typeface="Calibri"/>
              </a:rPr>
              <a:t>Dependence does not yet explain why physical processing is accompanied by experience, nor how reasons and values become causally effective.</a:t>
            </a:r>
          </a:p>
        </p:txBody>
      </p:sp>
      <p:sp>
        <p:nvSpPr>
          <p:cNvPr id="20" name="Rounded Rectangle 19">
            <a:extLst xmlns:a="http://schemas.openxmlformats.org/drawingml/2006/main">
              <a:ext uri="{FF2B5EF4-FFF2-40B4-BE49-F238E27FC236}">
                <a16:creationId xmlns:a16="http://schemas.microsoft.com/office/drawing/2014/main" id="{D1D65E8E-E47B-4395-9E71-D9E3D5FD6841}"/>
              </a:ext>
            </a:extLst>
          </p:cNvPr>
          <p:cNvSpPr>
            <a:spLocks xmlns:a="http://schemas.openxmlformats.org/drawingml/2006/main" noGrp="1"/>
          </p:cNvSpPr>
          <p:nvPr/>
        </p:nvSpPr>
        <p:spPr>
          <a:xfrm xmlns:a="http://schemas.openxmlformats.org/drawingml/2006/main">
            <a:off x="685800" y="4343400"/>
            <a:ext cx="10817352" cy="822960"/>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2102DE27-5C18-42DF-83D3-D111247E7BC9}"/>
              </a:ext>
            </a:extLst>
          </p:cNvPr>
          <p:cNvSpPr>
            <a:spLocks xmlns:a="http://schemas.openxmlformats.org/drawingml/2006/main" noGrp="1"/>
          </p:cNvSpPr>
          <p:nvPr/>
        </p:nvSpPr>
        <p:spPr>
          <a:xfrm xmlns:a="http://schemas.openxmlformats.org/drawingml/2006/main">
            <a:off x="1005840" y="4343400"/>
            <a:ext cx="10177272"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The hard problem and the Madhyasth rahasyata both mark an explanatory gap; naming the gap does not decide what fills it.</a:t>
            </a:r>
          </a:p>
        </p:txBody>
      </p:sp>
      <p:sp>
        <p:nvSpPr>
          <p:cNvPr id="22" name="TextBox 21">
            <a:extLst xmlns:a="http://schemas.openxmlformats.org/drawingml/2006/main">
              <a:ext uri="{FF2B5EF4-FFF2-40B4-BE49-F238E27FC236}">
                <a16:creationId xmlns:a16="http://schemas.microsoft.com/office/drawing/2014/main" id="{1EA6E6C1-51B7-4990-8C8E-E45D426F8ADB}"/>
              </a:ext>
            </a:extLst>
          </p:cNvPr>
          <p:cNvSpPr>
            <a:spLocks xmlns:a="http://schemas.openxmlformats.org/drawingml/2006/main" noGrp="1"/>
          </p:cNvSpPr>
          <p:nvPr/>
        </p:nvSpPr>
        <p:spPr>
          <a:xfrm xmlns:a="http://schemas.openxmlformats.org/drawingml/2006/main">
            <a:off x="685800" y="5440680"/>
            <a:ext cx="107899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ctr">
              <a:lnSpc>
                <a:spcPct val="110000"/>
              </a:lnSpc>
              <a:spcBef>
                <a:spcPts val="0"/>
              </a:spcBef>
              <a:spcAft>
                <a:spcPts val="400"/>
              </a:spcAft>
              <a:buNone/>
            </a:pPr>
            <a:r>
              <a:rPr sz="1350" b="0" i="1">
                <a:solidFill>
                  <a:srgbClr val="5A6377"/>
                </a:solidFill>
                <a:latin typeface="Calibri"/>
                <a:ea typeface="Calibri"/>
                <a:cs typeface="Calibri"/>
              </a:rPr>
              <a:t>MD offers jeevan where physicalism demands mechanism. Physicalism offers brain dependence where MD owes discriminating evidence. Each presses where the other is least complete.</a:t>
            </a:r>
          </a:p>
        </p:txBody>
      </p:sp>
      <p:sp>
        <p:nvSpPr>
          <p:cNvPr id="23" name="TextBox 22">
            <a:extLst xmlns:a="http://schemas.openxmlformats.org/drawingml/2006/main">
              <a:ext uri="{FF2B5EF4-FFF2-40B4-BE49-F238E27FC236}">
                <a16:creationId xmlns:a16="http://schemas.microsoft.com/office/drawing/2014/main" id="{B704B20D-3B56-4DDF-8C88-E476F80329AE}"/>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§2.4–2.5 · §5.2</a:t>
            </a:r>
          </a:p>
        </p:txBody>
      </p:sp>
    </p:spTree>
    <p:extLst>
      <p:ext uri="{BB962C8B-B14F-4D97-AF65-F5344CB8AC3E}">
        <p14:creationId xmlns:p14="http://schemas.microsoft.com/office/powerpoint/2010/main" val="462001069"/>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7C6D937-1EAF-4B18-9A22-997EC9A1851B}"/>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255488A1-261C-4BB3-BE47-2B924763F3C8}"/>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A3DAEDA7-D0D9-452A-8D07-FB59AEF105D4}"/>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7D1EA5DE-1F9B-4407-977E-C742A9588F06}"/>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55906E6-A0B5-470F-BF09-F9D27CE065C1}"/>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ADVAITA VEDANTA · ONTOLOGY</a:t>
            </a:r>
          </a:p>
        </p:txBody>
      </p:sp>
      <p:sp>
        <p:nvSpPr>
          <p:cNvPr id="7" name="TextBox 6">
            <a:extLst xmlns:a="http://schemas.openxmlformats.org/drawingml/2006/main">
              <a:ext uri="{FF2B5EF4-FFF2-40B4-BE49-F238E27FC236}">
                <a16:creationId xmlns:a16="http://schemas.microsoft.com/office/drawing/2014/main" id="{4386FA75-11E0-4053-AA8B-8EB762B6E9A2}"/>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You Are Not Even an Individual</a:t>
            </a:r>
          </a:p>
        </p:txBody>
      </p:sp>
      <p:sp>
        <p:nvSpPr>
          <p:cNvPr id="8" name="TextBox 7">
            <a:extLst xmlns:a="http://schemas.openxmlformats.org/drawingml/2006/main">
              <a:ext uri="{FF2B5EF4-FFF2-40B4-BE49-F238E27FC236}">
                <a16:creationId xmlns:a16="http://schemas.microsoft.com/office/drawing/2014/main" id="{AC3D6809-4AC2-45A6-9902-85D69A4E852C}"/>
              </a:ext>
            </a:extLst>
          </p:cNvPr>
          <p:cNvSpPr>
            <a:spLocks xmlns:a="http://schemas.openxmlformats.org/drawingml/2006/main" noGrp="1"/>
          </p:cNvSpPr>
          <p:nvPr/>
        </p:nvSpPr>
        <p:spPr>
          <a:xfrm xmlns:a="http://schemas.openxmlformats.org/drawingml/2006/main">
            <a:off x="685800" y="1783080"/>
            <a:ext cx="107899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Advaita distinguishes empirical from ultimate reality. The world is mithya: not sheer nonexistence, but dependent reality whose being is not separate from Brahman.</a:t>
            </a:r>
          </a:p>
        </p:txBody>
      </p:sp>
      <p:sp>
        <p:nvSpPr>
          <p:cNvPr id="9" name="Rounded Rectangle 8">
            <a:extLst xmlns:a="http://schemas.openxmlformats.org/drawingml/2006/main">
              <a:ext uri="{FF2B5EF4-FFF2-40B4-BE49-F238E27FC236}">
                <a16:creationId xmlns:a16="http://schemas.microsoft.com/office/drawing/2014/main" id="{80474AED-B3A2-4BCB-9669-863BE529E9AB}"/>
              </a:ext>
            </a:extLst>
          </p:cNvPr>
          <p:cNvSpPr>
            <a:spLocks xmlns:a="http://schemas.openxmlformats.org/drawingml/2006/main" noGrp="1"/>
          </p:cNvSpPr>
          <p:nvPr/>
        </p:nvSpPr>
        <p:spPr>
          <a:xfrm xmlns:a="http://schemas.openxmlformats.org/drawingml/2006/main">
            <a:off x="685800" y="2606040"/>
            <a:ext cx="3547872" cy="21488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AA7A40E2-C5B4-49CF-9BC4-4B7B8115672E}"/>
              </a:ext>
            </a:extLst>
          </p:cNvPr>
          <p:cNvSpPr>
            <a:spLocks xmlns:a="http://schemas.openxmlformats.org/drawingml/2006/main" noGrp="1"/>
          </p:cNvSpPr>
          <p:nvPr/>
        </p:nvSpPr>
        <p:spPr>
          <a:xfrm xmlns:a="http://schemas.openxmlformats.org/drawingml/2006/main">
            <a:off x="898855" y="280080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EF4148F8-C171-4F06-B782-1E47B113734D}"/>
              </a:ext>
            </a:extLst>
          </p:cNvPr>
          <p:cNvSpPr>
            <a:spLocks xmlns:a="http://schemas.openxmlformats.org/drawingml/2006/main" noGrp="1"/>
          </p:cNvSpPr>
          <p:nvPr/>
        </p:nvSpPr>
        <p:spPr>
          <a:xfrm xmlns:a="http://schemas.openxmlformats.org/drawingml/2006/main">
            <a:off x="977036" y="287898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Oval 11">
            <a:extLst xmlns:a="http://schemas.openxmlformats.org/drawingml/2006/main">
              <a:ext uri="{FF2B5EF4-FFF2-40B4-BE49-F238E27FC236}">
                <a16:creationId xmlns:a16="http://schemas.microsoft.com/office/drawing/2014/main" id="{DB83D325-22CF-48B8-A104-6669E3DF5593}"/>
              </a:ext>
            </a:extLst>
          </p:cNvPr>
          <p:cNvSpPr>
            <a:spLocks xmlns:a="http://schemas.openxmlformats.org/drawingml/2006/main" noGrp="1"/>
          </p:cNvSpPr>
          <p:nvPr/>
        </p:nvSpPr>
        <p:spPr>
          <a:xfrm xmlns:a="http://schemas.openxmlformats.org/drawingml/2006/main">
            <a:off x="1038758" y="294071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B3AC1540-CA59-4BA9-B2A8-25A7C92494BA}"/>
              </a:ext>
            </a:extLst>
          </p:cNvPr>
          <p:cNvSpPr>
            <a:spLocks xmlns:a="http://schemas.openxmlformats.org/drawingml/2006/main" noGrp="1"/>
          </p:cNvSpPr>
          <p:nvPr/>
        </p:nvSpPr>
        <p:spPr>
          <a:xfrm xmlns:a="http://schemas.openxmlformats.org/drawingml/2006/main">
            <a:off x="1444752" y="2807208"/>
            <a:ext cx="2606039" cy="50800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Only Brahman is ultimately real</a:t>
            </a:r>
          </a:p>
        </p:txBody>
      </p:sp>
      <p:sp>
        <p:nvSpPr>
          <p:cNvPr id="14" name="TextBox 13">
            <a:extLst xmlns:a="http://schemas.openxmlformats.org/drawingml/2006/main">
              <a:ext uri="{FF2B5EF4-FFF2-40B4-BE49-F238E27FC236}">
                <a16:creationId xmlns:a16="http://schemas.microsoft.com/office/drawing/2014/main" id="{BAD36EDA-EE27-4AD1-AD41-C0634482D45E}"/>
              </a:ext>
            </a:extLst>
          </p:cNvPr>
          <p:cNvSpPr>
            <a:spLocks xmlns:a="http://schemas.openxmlformats.org/drawingml/2006/main" noGrp="1"/>
          </p:cNvSpPr>
          <p:nvPr/>
        </p:nvSpPr>
        <p:spPr>
          <a:xfrm xmlns:a="http://schemas.openxmlformats.org/drawingml/2006/main">
            <a:off x="941832" y="3319272"/>
            <a:ext cx="3035808" cy="12344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Atman is Brahman; plurality is valid within empirical life but lacks independent ultimate reality.</a:t>
            </a:r>
          </a:p>
        </p:txBody>
      </p:sp>
      <p:sp>
        <p:nvSpPr>
          <p:cNvPr id="15" name="Rounded Rectangle 14">
            <a:extLst xmlns:a="http://schemas.openxmlformats.org/drawingml/2006/main">
              <a:ext uri="{FF2B5EF4-FFF2-40B4-BE49-F238E27FC236}">
                <a16:creationId xmlns:a16="http://schemas.microsoft.com/office/drawing/2014/main" id="{44CF00E1-84CD-489C-ACF7-86598D7C1C67}"/>
              </a:ext>
            </a:extLst>
          </p:cNvPr>
          <p:cNvSpPr>
            <a:spLocks xmlns:a="http://schemas.openxmlformats.org/drawingml/2006/main" noGrp="1"/>
          </p:cNvSpPr>
          <p:nvPr/>
        </p:nvSpPr>
        <p:spPr>
          <a:xfrm xmlns:a="http://schemas.openxmlformats.org/drawingml/2006/main">
            <a:off x="4325112" y="2606040"/>
            <a:ext cx="3547872" cy="214884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DA0B7F59-0D50-4EAD-A33D-EC2913D570D9}"/>
              </a:ext>
            </a:extLst>
          </p:cNvPr>
          <p:cNvSpPr>
            <a:spLocks xmlns:a="http://schemas.openxmlformats.org/drawingml/2006/main" noGrp="1"/>
          </p:cNvSpPr>
          <p:nvPr/>
        </p:nvSpPr>
        <p:spPr>
          <a:xfrm xmlns:a="http://schemas.openxmlformats.org/drawingml/2006/main">
            <a:off x="4538167" y="280080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21FED87B-01E5-4C1D-A6E9-3C8CD3FD4F9E}"/>
              </a:ext>
            </a:extLst>
          </p:cNvPr>
          <p:cNvSpPr>
            <a:spLocks xmlns:a="http://schemas.openxmlformats.org/drawingml/2006/main" noGrp="1"/>
          </p:cNvSpPr>
          <p:nvPr/>
        </p:nvSpPr>
        <p:spPr>
          <a:xfrm xmlns:a="http://schemas.openxmlformats.org/drawingml/2006/main">
            <a:off x="4616348" y="287898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Oval 17">
            <a:extLst xmlns:a="http://schemas.openxmlformats.org/drawingml/2006/main">
              <a:ext uri="{FF2B5EF4-FFF2-40B4-BE49-F238E27FC236}">
                <a16:creationId xmlns:a16="http://schemas.microsoft.com/office/drawing/2014/main" id="{CFB46FEA-3120-4614-B548-A5D712D2614C}"/>
              </a:ext>
            </a:extLst>
          </p:cNvPr>
          <p:cNvSpPr>
            <a:spLocks xmlns:a="http://schemas.openxmlformats.org/drawingml/2006/main" noGrp="1"/>
          </p:cNvSpPr>
          <p:nvPr/>
        </p:nvSpPr>
        <p:spPr>
          <a:xfrm xmlns:a="http://schemas.openxmlformats.org/drawingml/2006/main">
            <a:off x="4678070" y="294071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1F001645-A77C-473E-A02A-011686E44938}"/>
              </a:ext>
            </a:extLst>
          </p:cNvPr>
          <p:cNvSpPr>
            <a:spLocks xmlns:a="http://schemas.openxmlformats.org/drawingml/2006/main" noGrp="1"/>
          </p:cNvSpPr>
          <p:nvPr/>
        </p:nvSpPr>
        <p:spPr>
          <a:xfrm xmlns:a="http://schemas.openxmlformats.org/drawingml/2006/main">
            <a:off x="5084064" y="2807208"/>
            <a:ext cx="2606039"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1E2447"/>
                </a:solidFill>
                <a:latin typeface="Cambria"/>
                <a:ea typeface="Cambria"/>
                <a:cs typeface="Cambria"/>
              </a:rPr>
              <a:t>Not the body — or the mind</a:t>
            </a:r>
          </a:p>
        </p:txBody>
      </p:sp>
      <p:sp>
        <p:nvSpPr>
          <p:cNvPr id="20" name="TextBox 19">
            <a:extLst xmlns:a="http://schemas.openxmlformats.org/drawingml/2006/main">
              <a:ext uri="{FF2B5EF4-FFF2-40B4-BE49-F238E27FC236}">
                <a16:creationId xmlns:a16="http://schemas.microsoft.com/office/drawing/2014/main" id="{9BF889AF-74DB-4DDC-989C-95AA155A8A08}"/>
              </a:ext>
            </a:extLst>
          </p:cNvPr>
          <p:cNvSpPr>
            <a:spLocks xmlns:a="http://schemas.openxmlformats.org/drawingml/2006/main" noGrp="1"/>
          </p:cNvSpPr>
          <p:nvPr/>
        </p:nvSpPr>
        <p:spPr>
          <a:xfrm xmlns:a="http://schemas.openxmlformats.org/drawingml/2006/main">
            <a:off x="4581144" y="3319272"/>
            <a:ext cx="3035808" cy="12344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Body, life-force, mind, intellect, and the bliss sheath are successively negated as not-Self.</a:t>
            </a:r>
          </a:p>
        </p:txBody>
      </p:sp>
      <p:sp>
        <p:nvSpPr>
          <p:cNvPr id="21" name="Rounded Rectangle 20">
            <a:extLst xmlns:a="http://schemas.openxmlformats.org/drawingml/2006/main">
              <a:ext uri="{FF2B5EF4-FFF2-40B4-BE49-F238E27FC236}">
                <a16:creationId xmlns:a16="http://schemas.microsoft.com/office/drawing/2014/main" id="{1A12CA38-55A2-48DD-A952-D6EA6178C934}"/>
              </a:ext>
            </a:extLst>
          </p:cNvPr>
          <p:cNvSpPr>
            <a:spLocks xmlns:a="http://schemas.openxmlformats.org/drawingml/2006/main" noGrp="1"/>
          </p:cNvSpPr>
          <p:nvPr/>
        </p:nvSpPr>
        <p:spPr>
          <a:xfrm xmlns:a="http://schemas.openxmlformats.org/drawingml/2006/main">
            <a:off x="7964424" y="2606040"/>
            <a:ext cx="3547872" cy="2148840"/>
          </a:xfrm>
          <a:prstGeom xmlns:a="http://schemas.openxmlformats.org/drawingml/2006/main" prst="roundRect">
            <a:avLst>
              <a:gd name="adj" fmla="val 6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676E2740-225D-4E7C-800C-3B1909206460}"/>
              </a:ext>
            </a:extLst>
          </p:cNvPr>
          <p:cNvSpPr>
            <a:spLocks xmlns:a="http://schemas.openxmlformats.org/drawingml/2006/main" noGrp="1"/>
          </p:cNvSpPr>
          <p:nvPr/>
        </p:nvSpPr>
        <p:spPr>
          <a:xfrm xmlns:a="http://schemas.openxmlformats.org/drawingml/2006/main">
            <a:off x="8177479" y="280080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03EA1621-5893-4DF4-AE60-A0AB77D7232E}"/>
              </a:ext>
            </a:extLst>
          </p:cNvPr>
          <p:cNvSpPr>
            <a:spLocks xmlns:a="http://schemas.openxmlformats.org/drawingml/2006/main" noGrp="1"/>
          </p:cNvSpPr>
          <p:nvPr/>
        </p:nvSpPr>
        <p:spPr>
          <a:xfrm xmlns:a="http://schemas.openxmlformats.org/drawingml/2006/main">
            <a:off x="8255660" y="287898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Oval 23">
            <a:extLst xmlns:a="http://schemas.openxmlformats.org/drawingml/2006/main">
              <a:ext uri="{FF2B5EF4-FFF2-40B4-BE49-F238E27FC236}">
                <a16:creationId xmlns:a16="http://schemas.microsoft.com/office/drawing/2014/main" id="{13687DF2-0023-43CB-864D-3972F3B744D6}"/>
              </a:ext>
            </a:extLst>
          </p:cNvPr>
          <p:cNvSpPr>
            <a:spLocks xmlns:a="http://schemas.openxmlformats.org/drawingml/2006/main" noGrp="1"/>
          </p:cNvSpPr>
          <p:nvPr/>
        </p:nvSpPr>
        <p:spPr>
          <a:xfrm xmlns:a="http://schemas.openxmlformats.org/drawingml/2006/main">
            <a:off x="8317382" y="294071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B332CD5E-7A03-49B1-ABFF-3173F5C1D9A0}"/>
              </a:ext>
            </a:extLst>
          </p:cNvPr>
          <p:cNvSpPr>
            <a:spLocks xmlns:a="http://schemas.openxmlformats.org/drawingml/2006/main" noGrp="1"/>
          </p:cNvSpPr>
          <p:nvPr/>
        </p:nvSpPr>
        <p:spPr>
          <a:xfrm xmlns:a="http://schemas.openxmlformats.org/drawingml/2006/main">
            <a:off x="8723376" y="2807208"/>
            <a:ext cx="2606039"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9A6414"/>
                </a:solidFill>
                <a:latin typeface="Cambria"/>
                <a:ea typeface="Cambria"/>
                <a:cs typeface="Cambria"/>
              </a:rPr>
              <a:t>Witness to nonduality</a:t>
            </a:r>
          </a:p>
        </p:txBody>
      </p:sp>
      <p:sp>
        <p:nvSpPr>
          <p:cNvPr id="26" name="TextBox 25">
            <a:extLst xmlns:a="http://schemas.openxmlformats.org/drawingml/2006/main">
              <a:ext uri="{FF2B5EF4-FFF2-40B4-BE49-F238E27FC236}">
                <a16:creationId xmlns:a16="http://schemas.microsoft.com/office/drawing/2014/main" id="{F8B49F0A-B130-4F49-8508-8DF3CEE63C55}"/>
              </a:ext>
            </a:extLst>
          </p:cNvPr>
          <p:cNvSpPr>
            <a:spLocks xmlns:a="http://schemas.openxmlformats.org/drawingml/2006/main" noGrp="1"/>
          </p:cNvSpPr>
          <p:nvPr/>
        </p:nvSpPr>
        <p:spPr>
          <a:xfrm xmlns:a="http://schemas.openxmlformats.org/drawingml/2006/main">
            <a:off x="8220456" y="3319272"/>
            <a:ext cx="3035808" cy="12344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Distinguishing witness from witnessed begins the inquiry; Upanishadic testimony and reasoning support identity with Brahman. Introspection alone does not yield that second step.</a:t>
            </a:r>
          </a:p>
        </p:txBody>
      </p:sp>
      <p:sp>
        <p:nvSpPr>
          <p:cNvPr id="27" name="Rounded Rectangle 26">
            <a:extLst xmlns:a="http://schemas.openxmlformats.org/drawingml/2006/main">
              <a:ext uri="{FF2B5EF4-FFF2-40B4-BE49-F238E27FC236}">
                <a16:creationId xmlns:a16="http://schemas.microsoft.com/office/drawing/2014/main" id="{3D020CC6-DCB8-4C2A-843D-76AB8E33D053}"/>
              </a:ext>
            </a:extLst>
          </p:cNvPr>
          <p:cNvSpPr>
            <a:spLocks xmlns:a="http://schemas.openxmlformats.org/drawingml/2006/main" noGrp="1"/>
          </p:cNvSpPr>
          <p:nvPr/>
        </p:nvSpPr>
        <p:spPr>
          <a:xfrm xmlns:a="http://schemas.openxmlformats.org/drawingml/2006/main">
            <a:off x="685800" y="5029200"/>
            <a:ext cx="10817352" cy="749808"/>
          </a:xfrm>
          <a:prstGeom xmlns:a="http://schemas.openxmlformats.org/drawingml/2006/main" prst="roundRect">
            <a:avLst>
              <a:gd name="adj" fmla="val 12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E5F15B3B-51B4-4D0D-B070-2E1AA7CEE9FC}"/>
              </a:ext>
            </a:extLst>
          </p:cNvPr>
          <p:cNvSpPr>
            <a:spLocks xmlns:a="http://schemas.openxmlformats.org/drawingml/2006/main" noGrp="1"/>
          </p:cNvSpPr>
          <p:nvPr/>
        </p:nvSpPr>
        <p:spPr>
          <a:xfrm xmlns:a="http://schemas.openxmlformats.org/drawingml/2006/main">
            <a:off x="1005840" y="5029200"/>
            <a:ext cx="10177272"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9A6414"/>
                </a:solidFill>
                <a:latin typeface="Calibri"/>
                <a:ea typeface="Calibri"/>
                <a:cs typeface="Calibri"/>
              </a:rPr>
              <a:t>Ultimately no separate material human exists; empirically, embodiment, ethics, learning, and suffering still matter.</a:t>
            </a:r>
          </a:p>
        </p:txBody>
      </p:sp>
      <p:sp>
        <p:nvSpPr>
          <p:cNvPr id="29" name="TextBox 28">
            <a:extLst xmlns:a="http://schemas.openxmlformats.org/drawingml/2006/main">
              <a:ext uri="{FF2B5EF4-FFF2-40B4-BE49-F238E27FC236}">
                <a16:creationId xmlns:a16="http://schemas.microsoft.com/office/drawing/2014/main" id="{BF026387-AC94-40A0-A9A1-C13FD9D6230F}"/>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BU 2.3.6, 2.4.5 · TU 2.1–2.5 · VC v. 120 · Study §3.3</a:t>
            </a:r>
          </a:p>
        </p:txBody>
      </p:sp>
    </p:spTree>
    <p:extLst>
      <p:ext uri="{BB962C8B-B14F-4D97-AF65-F5344CB8AC3E}">
        <p14:creationId xmlns:p14="http://schemas.microsoft.com/office/powerpoint/2010/main" val="179942189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8C3F5B5-C00B-4FB9-930D-F255F75120F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9009C407-2D28-4C94-B1CB-3A92CCB8FCF0}"/>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7C54D1A4-8005-4352-BBF2-99142E59916F}"/>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7D629E32-F803-4E2E-8DB9-42CEA56EA3DD}"/>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5D8F269-1A09-4854-9D29-B975513D466B}"/>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MADHYASTH DARSHAN · THE PROPOSED TEST</a:t>
            </a:r>
          </a:p>
        </p:txBody>
      </p:sp>
      <p:sp>
        <p:nvSpPr>
          <p:cNvPr id="7" name="TextBox 6">
            <a:extLst xmlns:a="http://schemas.openxmlformats.org/drawingml/2006/main">
              <a:ext uri="{FF2B5EF4-FFF2-40B4-BE49-F238E27FC236}">
                <a16:creationId xmlns:a16="http://schemas.microsoft.com/office/drawing/2014/main" id="{4336D788-6BD1-4D9B-8D04-048918077A6D}"/>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How Madhyasth Darshan Asks to Be Tested</a:t>
            </a:r>
          </a:p>
        </p:txBody>
      </p:sp>
      <p:sp>
        <p:nvSpPr>
          <p:cNvPr id="8" name="TextBox 7">
            <a:extLst xmlns:a="http://schemas.openxmlformats.org/drawingml/2006/main">
              <a:ext uri="{FF2B5EF4-FFF2-40B4-BE49-F238E27FC236}">
                <a16:creationId xmlns:a16="http://schemas.microsoft.com/office/drawing/2014/main" id="{9058B0A6-115E-4B3E-B077-2048FD2E3C0D}"/>
              </a:ext>
            </a:extLst>
          </p:cNvPr>
          <p:cNvSpPr>
            <a:spLocks xmlns:a="http://schemas.openxmlformats.org/drawingml/2006/main" noGrp="1"/>
          </p:cNvSpPr>
          <p:nvPr/>
        </p:nvSpPr>
        <p:spPr>
          <a:xfrm xmlns:a="http://schemas.openxmlformats.org/drawingml/2006/main">
            <a:off x="685800" y="1783080"/>
            <a:ext cx="1078992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50" b="0" i="0">
                <a:solidFill>
                  <a:srgbClr val="5A6377"/>
                </a:solidFill>
                <a:latin typeface="Calibri"/>
                <a:ea typeface="Calibri"/>
                <a:cs typeface="Calibri"/>
              </a:rPr>
              <a:t>Nagraj reports that samadhi did not disclose the unknown; he locates the decisive discovery in samyama and presents the result for study, practice, and verification.</a:t>
            </a:r>
          </a:p>
        </p:txBody>
      </p:sp>
      <p:sp>
        <p:nvSpPr>
          <p:cNvPr id="9" name="Rounded Rectangle 8">
            <a:extLst xmlns:a="http://schemas.openxmlformats.org/drawingml/2006/main">
              <a:ext uri="{FF2B5EF4-FFF2-40B4-BE49-F238E27FC236}">
                <a16:creationId xmlns:a16="http://schemas.microsoft.com/office/drawing/2014/main" id="{B5F13278-2964-41D3-80D7-B376386D05EB}"/>
              </a:ext>
            </a:extLst>
          </p:cNvPr>
          <p:cNvSpPr>
            <a:spLocks xmlns:a="http://schemas.openxmlformats.org/drawingml/2006/main" noGrp="1"/>
          </p:cNvSpPr>
          <p:nvPr/>
        </p:nvSpPr>
        <p:spPr>
          <a:xfrm xmlns:a="http://schemas.openxmlformats.org/drawingml/2006/main">
            <a:off x="685800" y="2743200"/>
            <a:ext cx="3398520" cy="658368"/>
          </a:xfrm>
          <a:prstGeom xmlns:a="http://schemas.openxmlformats.org/drawingml/2006/main" prst="roundRect">
            <a:avLst>
              <a:gd name="adj" fmla="val 18000"/>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71ADAE33-1D2C-4F45-AD90-8A0A59559A7E}"/>
              </a:ext>
            </a:extLst>
          </p:cNvPr>
          <p:cNvSpPr>
            <a:spLocks xmlns:a="http://schemas.openxmlformats.org/drawingml/2006/main" noGrp="1"/>
          </p:cNvSpPr>
          <p:nvPr/>
        </p:nvSpPr>
        <p:spPr>
          <a:xfrm xmlns:a="http://schemas.openxmlformats.org/drawingml/2006/main">
            <a:off x="685800" y="2743200"/>
            <a:ext cx="33985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Study</a:t>
            </a:r>
          </a:p>
        </p:txBody>
      </p:sp>
      <p:sp>
        <p:nvSpPr>
          <p:cNvPr id="11" name="TextBox 10">
            <a:extLst xmlns:a="http://schemas.openxmlformats.org/drawingml/2006/main">
              <a:ext uri="{FF2B5EF4-FFF2-40B4-BE49-F238E27FC236}">
                <a16:creationId xmlns:a16="http://schemas.microsoft.com/office/drawing/2014/main" id="{B0D11407-1DB1-4A16-9101-51463DB0EEE5}"/>
              </a:ext>
            </a:extLst>
          </p:cNvPr>
          <p:cNvSpPr>
            <a:spLocks xmlns:a="http://schemas.openxmlformats.org/drawingml/2006/main" noGrp="1"/>
          </p:cNvSpPr>
          <p:nvPr/>
        </p:nvSpPr>
        <p:spPr>
          <a:xfrm xmlns:a="http://schemas.openxmlformats.org/drawingml/2006/main">
            <a:off x="4093464" y="2889504"/>
            <a:ext cx="2926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2000" b="1" i="0">
                <a:solidFill>
                  <a:srgbClr val="C9821E"/>
                </a:solidFill>
                <a:latin typeface="Calibri"/>
                <a:ea typeface="Calibri"/>
                <a:cs typeface="Calibri"/>
              </a:rPr>
              <a:t>→</a:t>
            </a:r>
          </a:p>
        </p:txBody>
      </p:sp>
      <p:sp>
        <p:nvSpPr>
          <p:cNvPr id="12" name="Rounded Rectangle 11">
            <a:extLst xmlns:a="http://schemas.openxmlformats.org/drawingml/2006/main">
              <a:ext uri="{FF2B5EF4-FFF2-40B4-BE49-F238E27FC236}">
                <a16:creationId xmlns:a16="http://schemas.microsoft.com/office/drawing/2014/main" id="{2C1D0A1C-88E4-4CBA-B16D-5E5BF363E892}"/>
              </a:ext>
            </a:extLst>
          </p:cNvPr>
          <p:cNvSpPr>
            <a:spLocks xmlns:a="http://schemas.openxmlformats.org/drawingml/2006/main" noGrp="1"/>
          </p:cNvSpPr>
          <p:nvPr/>
        </p:nvSpPr>
        <p:spPr>
          <a:xfrm xmlns:a="http://schemas.openxmlformats.org/drawingml/2006/main">
            <a:off x="4395216" y="2743200"/>
            <a:ext cx="3398520" cy="658368"/>
          </a:xfrm>
          <a:prstGeom xmlns:a="http://schemas.openxmlformats.org/drawingml/2006/main" prst="roundRect">
            <a:avLst>
              <a:gd name="adj" fmla="val 18000"/>
            </a:avLst>
          </a:prstGeom>
          <a:solidFill xmlns:a="http://schemas.openxmlformats.org/drawingml/2006/main">
            <a:srgbClr val="3B4A7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9FEDFA80-10A0-4F60-9CB8-78203C7943C8}"/>
              </a:ext>
            </a:extLst>
          </p:cNvPr>
          <p:cNvSpPr>
            <a:spLocks xmlns:a="http://schemas.openxmlformats.org/drawingml/2006/main" noGrp="1"/>
          </p:cNvSpPr>
          <p:nvPr/>
        </p:nvSpPr>
        <p:spPr>
          <a:xfrm xmlns:a="http://schemas.openxmlformats.org/drawingml/2006/main">
            <a:off x="4395216" y="2743200"/>
            <a:ext cx="33985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Understand and live</a:t>
            </a:r>
          </a:p>
        </p:txBody>
      </p:sp>
      <p:sp>
        <p:nvSpPr>
          <p:cNvPr id="14" name="TextBox 13">
            <a:extLst xmlns:a="http://schemas.openxmlformats.org/drawingml/2006/main">
              <a:ext uri="{FF2B5EF4-FFF2-40B4-BE49-F238E27FC236}">
                <a16:creationId xmlns:a16="http://schemas.microsoft.com/office/drawing/2014/main" id="{80BD9621-26F8-4144-A4E2-27C9D660DF57}"/>
              </a:ext>
            </a:extLst>
          </p:cNvPr>
          <p:cNvSpPr>
            <a:spLocks xmlns:a="http://schemas.openxmlformats.org/drawingml/2006/main" noGrp="1"/>
          </p:cNvSpPr>
          <p:nvPr/>
        </p:nvSpPr>
        <p:spPr>
          <a:xfrm xmlns:a="http://schemas.openxmlformats.org/drawingml/2006/main">
            <a:off x="7802880" y="2889504"/>
            <a:ext cx="29260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2000" b="1" i="0">
                <a:solidFill>
                  <a:srgbClr val="C9821E"/>
                </a:solidFill>
                <a:latin typeface="Calibri"/>
                <a:ea typeface="Calibri"/>
                <a:cs typeface="Calibri"/>
              </a:rPr>
              <a:t>→</a:t>
            </a:r>
          </a:p>
        </p:txBody>
      </p:sp>
      <p:sp>
        <p:nvSpPr>
          <p:cNvPr id="15" name="Rounded Rectangle 14">
            <a:extLst xmlns:a="http://schemas.openxmlformats.org/drawingml/2006/main">
              <a:ext uri="{FF2B5EF4-FFF2-40B4-BE49-F238E27FC236}">
                <a16:creationId xmlns:a16="http://schemas.microsoft.com/office/drawing/2014/main" id="{1CD5A363-8989-4686-B905-B1E612320432}"/>
              </a:ext>
            </a:extLst>
          </p:cNvPr>
          <p:cNvSpPr>
            <a:spLocks xmlns:a="http://schemas.openxmlformats.org/drawingml/2006/main" noGrp="1"/>
          </p:cNvSpPr>
          <p:nvPr/>
        </p:nvSpPr>
        <p:spPr>
          <a:xfrm xmlns:a="http://schemas.openxmlformats.org/drawingml/2006/main">
            <a:off x="8104632" y="2743200"/>
            <a:ext cx="3398520" cy="658368"/>
          </a:xfrm>
          <a:prstGeom xmlns:a="http://schemas.openxmlformats.org/drawingml/2006/main" prst="roundRect">
            <a:avLst>
              <a:gd name="adj" fmla="val 18000"/>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748EF715-F129-446C-9E89-29E51BDC8137}"/>
              </a:ext>
            </a:extLst>
          </p:cNvPr>
          <p:cNvSpPr>
            <a:spLocks xmlns:a="http://schemas.openxmlformats.org/drawingml/2006/main" noGrp="1"/>
          </p:cNvSpPr>
          <p:nvPr/>
        </p:nvSpPr>
        <p:spPr>
          <a:xfrm xmlns:a="http://schemas.openxmlformats.org/drawingml/2006/main">
            <a:off x="8104632" y="2743200"/>
            <a:ext cx="339852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libri"/>
                <a:ea typeface="Calibri"/>
                <a:cs typeface="Calibri"/>
              </a:rPr>
              <a:t>Verify in conduct</a:t>
            </a:r>
          </a:p>
        </p:txBody>
      </p:sp>
      <p:sp>
        <p:nvSpPr>
          <p:cNvPr id="17" name="Rounded Rectangle 16">
            <a:extLst xmlns:a="http://schemas.openxmlformats.org/drawingml/2006/main">
              <a:ext uri="{FF2B5EF4-FFF2-40B4-BE49-F238E27FC236}">
                <a16:creationId xmlns:a16="http://schemas.microsoft.com/office/drawing/2014/main" id="{213930F7-1D72-4F6F-8831-7CE63A7DF3D1}"/>
              </a:ext>
            </a:extLst>
          </p:cNvPr>
          <p:cNvSpPr>
            <a:spLocks xmlns:a="http://schemas.openxmlformats.org/drawingml/2006/main" noGrp="1"/>
          </p:cNvSpPr>
          <p:nvPr/>
        </p:nvSpPr>
        <p:spPr>
          <a:xfrm xmlns:a="http://schemas.openxmlformats.org/drawingml/2006/main">
            <a:off x="685800" y="3886200"/>
            <a:ext cx="10817352" cy="1051560"/>
          </a:xfrm>
          <a:prstGeom xmlns:a="http://schemas.openxmlformats.org/drawingml/2006/main" prst="roundRect">
            <a:avLst>
              <a:gd name="adj" fmla="val 9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A1BDEAC0-A3CB-445F-9DF6-EE29F1536B7D}"/>
              </a:ext>
            </a:extLst>
          </p:cNvPr>
          <p:cNvSpPr>
            <a:spLocks xmlns:a="http://schemas.openxmlformats.org/drawingml/2006/main" noGrp="1"/>
          </p:cNvSpPr>
          <p:nvPr/>
        </p:nvSpPr>
        <p:spPr>
          <a:xfrm xmlns:a="http://schemas.openxmlformats.org/drawingml/2006/main">
            <a:off x="1051560" y="4041648"/>
            <a:ext cx="1014984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8000"/>
              </a:lnSpc>
              <a:spcBef>
                <a:spcPts val="0"/>
              </a:spcBef>
              <a:spcAft>
                <a:spcPts val="400"/>
              </a:spcAft>
              <a:buNone/>
            </a:pPr>
            <a:r>
              <a:rPr sz="1350" b="1" i="0">
                <a:solidFill>
                  <a:srgbClr val="1E2447"/>
                </a:solidFill>
                <a:latin typeface="Calibri"/>
                <a:ea typeface="Calibri"/>
                <a:cs typeface="Calibri"/>
              </a:rPr>
              <a:t>Textual testimony initiates inquiry; understanding and conduct are supposed to yield pramanikta. The aspiration is intersubjective, but controls, failure criteria, and replication remain underspecified.</a:t>
            </a:r>
          </a:p>
        </p:txBody>
      </p:sp>
      <p:sp>
        <p:nvSpPr>
          <p:cNvPr id="19" name="Rounded Rectangle 18">
            <a:extLst xmlns:a="http://schemas.openxmlformats.org/drawingml/2006/main">
              <a:ext uri="{FF2B5EF4-FFF2-40B4-BE49-F238E27FC236}">
                <a16:creationId xmlns:a16="http://schemas.microsoft.com/office/drawing/2014/main" id="{AC3A9FC0-0E37-49B3-BAF4-ADF7D828394C}"/>
              </a:ext>
            </a:extLst>
          </p:cNvPr>
          <p:cNvSpPr>
            <a:spLocks xmlns:a="http://schemas.openxmlformats.org/drawingml/2006/main" noGrp="1"/>
          </p:cNvSpPr>
          <p:nvPr/>
        </p:nvSpPr>
        <p:spPr>
          <a:xfrm xmlns:a="http://schemas.openxmlformats.org/drawingml/2006/main">
            <a:off x="685800" y="5257800"/>
            <a:ext cx="10817352" cy="749808"/>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930358A3-296E-423F-BDB6-C4579E99E0EB}"/>
              </a:ext>
            </a:extLst>
          </p:cNvPr>
          <p:cNvSpPr>
            <a:spLocks xmlns:a="http://schemas.openxmlformats.org/drawingml/2006/main" noGrp="1"/>
          </p:cNvSpPr>
          <p:nvPr/>
        </p:nvSpPr>
        <p:spPr>
          <a:xfrm xmlns:a="http://schemas.openxmlformats.org/drawingml/2006/main">
            <a:off x="1005840" y="5257800"/>
            <a:ext cx="10177272" cy="749808"/>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Does understanding reliably produce justice, trust, responsibility, and mutual fulfilment—and distinguish the theory from rival psychological or ethical accounts?</a:t>
            </a:r>
          </a:p>
        </p:txBody>
      </p:sp>
      <p:sp>
        <p:nvSpPr>
          <p:cNvPr id="21" name="TextBox 20">
            <a:extLst xmlns:a="http://schemas.openxmlformats.org/drawingml/2006/main">
              <a:ext uri="{FF2B5EF4-FFF2-40B4-BE49-F238E27FC236}">
                <a16:creationId xmlns:a16="http://schemas.microsoft.com/office/drawing/2014/main" id="{A0CF7642-B9D2-46C6-8612-CE0C0F67F6B4}"/>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§1.4 · §5.1</a:t>
            </a:r>
          </a:p>
        </p:txBody>
      </p:sp>
    </p:spTree>
    <p:extLst>
      <p:ext uri="{BB962C8B-B14F-4D97-AF65-F5344CB8AC3E}">
        <p14:creationId xmlns:p14="http://schemas.microsoft.com/office/powerpoint/2010/main" val="22673458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B80A1AA-656E-4254-8604-92A950235CBF}"/>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091B6727-55A6-4A17-B9FE-0922FDB4925E}"/>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60031FB7-CBA7-4F76-B002-A463598D6CB6}"/>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44128BFB-8934-4274-96EE-5161BC626F17}"/>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3EFA4ABE-7091-4768-862D-6C987AD632EC}"/>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COMPARING THE THREE VIEWS</a:t>
            </a:r>
          </a:p>
        </p:txBody>
      </p:sp>
      <p:sp>
        <p:nvSpPr>
          <p:cNvPr id="7" name="TextBox 6">
            <a:extLst xmlns:a="http://schemas.openxmlformats.org/drawingml/2006/main">
              <a:ext uri="{FF2B5EF4-FFF2-40B4-BE49-F238E27FC236}">
                <a16:creationId xmlns:a16="http://schemas.microsoft.com/office/drawing/2014/main" id="{37B159AE-9EB2-40AA-84B3-20D671D9BC24}"/>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One Question, Three Answers</a:t>
            </a:r>
          </a:p>
        </p:txBody>
      </p:sp>
      <p:sp>
        <p:nvSpPr>
          <p:cNvPr id="8" name="Rectangle 7">
            <a:extLst xmlns:a="http://schemas.openxmlformats.org/drawingml/2006/main">
              <a:ext uri="{FF2B5EF4-FFF2-40B4-BE49-F238E27FC236}">
                <a16:creationId xmlns:a16="http://schemas.microsoft.com/office/drawing/2014/main" id="{6284955F-D589-494D-8B01-DFDF4668A032}"/>
              </a:ext>
            </a:extLst>
          </p:cNvPr>
          <p:cNvSpPr>
            <a:spLocks xmlns:a="http://schemas.openxmlformats.org/drawingml/2006/main" noGrp="1"/>
          </p:cNvSpPr>
          <p:nvPr/>
        </p:nvSpPr>
        <p:spPr>
          <a:xfrm xmlns:a="http://schemas.openxmlformats.org/drawingml/2006/main">
            <a:off x="3017520" y="1783080"/>
            <a:ext cx="2743200" cy="603504"/>
          </a:xfrm>
          <a:prstGeom xmlns:a="http://schemas.openxmlformats.org/drawingml/2006/main" prst="rect">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D38F91EC-4B2E-414B-B632-C7FC33377702}"/>
              </a:ext>
            </a:extLst>
          </p:cNvPr>
          <p:cNvSpPr>
            <a:spLocks xmlns:a="http://schemas.openxmlformats.org/drawingml/2006/main" noGrp="1"/>
          </p:cNvSpPr>
          <p:nvPr/>
        </p:nvSpPr>
        <p:spPr>
          <a:xfrm xmlns:a="http://schemas.openxmlformats.org/drawingml/2006/main">
            <a:off x="3108960" y="1783080"/>
            <a:ext cx="256032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mbria"/>
                <a:ea typeface="Cambria"/>
                <a:cs typeface="Cambria"/>
              </a:rPr>
              <a:t>SCIENCE / PHYSICALISM</a:t>
            </a:r>
          </a:p>
        </p:txBody>
      </p:sp>
      <p:sp>
        <p:nvSpPr>
          <p:cNvPr id="10" name="Rectangle 9">
            <a:extLst xmlns:a="http://schemas.openxmlformats.org/drawingml/2006/main">
              <a:ext uri="{FF2B5EF4-FFF2-40B4-BE49-F238E27FC236}">
                <a16:creationId xmlns:a16="http://schemas.microsoft.com/office/drawing/2014/main" id="{8FF6223B-F5BA-433F-B86A-C58FBDE021AE}"/>
              </a:ext>
            </a:extLst>
          </p:cNvPr>
          <p:cNvSpPr>
            <a:spLocks xmlns:a="http://schemas.openxmlformats.org/drawingml/2006/main" noGrp="1"/>
          </p:cNvSpPr>
          <p:nvPr/>
        </p:nvSpPr>
        <p:spPr>
          <a:xfrm xmlns:a="http://schemas.openxmlformats.org/drawingml/2006/main">
            <a:off x="5760720" y="1783080"/>
            <a:ext cx="2999232" cy="603504"/>
          </a:xfrm>
          <a:prstGeom xmlns:a="http://schemas.openxmlformats.org/drawingml/2006/main" prst="rect">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D89990FE-579F-4177-A92E-C2A2ED750761}"/>
              </a:ext>
            </a:extLst>
          </p:cNvPr>
          <p:cNvSpPr>
            <a:spLocks xmlns:a="http://schemas.openxmlformats.org/drawingml/2006/main" noGrp="1"/>
          </p:cNvSpPr>
          <p:nvPr/>
        </p:nvSpPr>
        <p:spPr>
          <a:xfrm xmlns:a="http://schemas.openxmlformats.org/drawingml/2006/main">
            <a:off x="5852159" y="1783080"/>
            <a:ext cx="2816351"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mbria"/>
                <a:ea typeface="Cambria"/>
                <a:cs typeface="Cambria"/>
              </a:rPr>
              <a:t>Madhyasth Darshan</a:t>
            </a:r>
          </a:p>
        </p:txBody>
      </p:sp>
      <p:sp>
        <p:nvSpPr>
          <p:cNvPr id="12" name="Rectangle 11">
            <a:extLst xmlns:a="http://schemas.openxmlformats.org/drawingml/2006/main">
              <a:ext uri="{FF2B5EF4-FFF2-40B4-BE49-F238E27FC236}">
                <a16:creationId xmlns:a16="http://schemas.microsoft.com/office/drawing/2014/main" id="{7DF9CB53-AEA6-455B-9A72-8D51D21E645E}"/>
              </a:ext>
            </a:extLst>
          </p:cNvPr>
          <p:cNvSpPr>
            <a:spLocks xmlns:a="http://schemas.openxmlformats.org/drawingml/2006/main" noGrp="1"/>
          </p:cNvSpPr>
          <p:nvPr/>
        </p:nvSpPr>
        <p:spPr>
          <a:xfrm xmlns:a="http://schemas.openxmlformats.org/drawingml/2006/main">
            <a:off x="8759952" y="1783080"/>
            <a:ext cx="2743200" cy="603504"/>
          </a:xfrm>
          <a:prstGeom xmlns:a="http://schemas.openxmlformats.org/drawingml/2006/main" prst="rect">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E0DC44BE-D38C-4286-BD6D-8230494B639E}"/>
              </a:ext>
            </a:extLst>
          </p:cNvPr>
          <p:cNvSpPr>
            <a:spLocks xmlns:a="http://schemas.openxmlformats.org/drawingml/2006/main" noGrp="1"/>
          </p:cNvSpPr>
          <p:nvPr/>
        </p:nvSpPr>
        <p:spPr>
          <a:xfrm xmlns:a="http://schemas.openxmlformats.org/drawingml/2006/main">
            <a:off x="8851392" y="1783080"/>
            <a:ext cx="256032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ctr">
              <a:spcBef>
                <a:spcPts val="0"/>
              </a:spcBef>
              <a:spcAft>
                <a:spcPts val="0"/>
              </a:spcAft>
              <a:buNone/>
            </a:pPr>
            <a:r>
              <a:rPr sz="1300" b="1" i="0">
                <a:solidFill>
                  <a:srgbClr val="FFFFFF"/>
                </a:solidFill>
                <a:latin typeface="Cambria"/>
                <a:ea typeface="Cambria"/>
                <a:cs typeface="Cambria"/>
              </a:rPr>
              <a:t>Advaita Vedanta</a:t>
            </a:r>
          </a:p>
        </p:txBody>
      </p:sp>
      <p:sp>
        <p:nvSpPr>
          <p:cNvPr id="14" name="Rectangle 13">
            <a:extLst xmlns:a="http://schemas.openxmlformats.org/drawingml/2006/main">
              <a:ext uri="{FF2B5EF4-FFF2-40B4-BE49-F238E27FC236}">
                <a16:creationId xmlns:a16="http://schemas.microsoft.com/office/drawing/2014/main" id="{C923C991-7C47-428A-8F01-DB5C5EF2D16C}"/>
              </a:ext>
            </a:extLst>
          </p:cNvPr>
          <p:cNvSpPr>
            <a:spLocks xmlns:a="http://schemas.openxmlformats.org/drawingml/2006/main" noGrp="1"/>
          </p:cNvSpPr>
          <p:nvPr/>
        </p:nvSpPr>
        <p:spPr>
          <a:xfrm xmlns:a="http://schemas.openxmlformats.org/drawingml/2006/main">
            <a:off x="685800" y="2386584"/>
            <a:ext cx="233172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2BAF362B-9CD7-4D57-8975-5B9FF84C5747}"/>
              </a:ext>
            </a:extLst>
          </p:cNvPr>
          <p:cNvSpPr>
            <a:spLocks xmlns:a="http://schemas.openxmlformats.org/drawingml/2006/main" noGrp="1"/>
          </p:cNvSpPr>
          <p:nvPr/>
        </p:nvSpPr>
        <p:spPr>
          <a:xfrm xmlns:a="http://schemas.openxmlformats.org/drawingml/2006/main">
            <a:off x="758952" y="2386584"/>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What is a human?</a:t>
            </a:r>
          </a:p>
        </p:txBody>
      </p:sp>
      <p:sp>
        <p:nvSpPr>
          <p:cNvPr id="16" name="Rectangle 15">
            <a:extLst xmlns:a="http://schemas.openxmlformats.org/drawingml/2006/main">
              <a:ext uri="{FF2B5EF4-FFF2-40B4-BE49-F238E27FC236}">
                <a16:creationId xmlns:a16="http://schemas.microsoft.com/office/drawing/2014/main" id="{8BC548C2-A914-4383-B9D0-7C024AB37B59}"/>
              </a:ext>
            </a:extLst>
          </p:cNvPr>
          <p:cNvSpPr>
            <a:spLocks xmlns:a="http://schemas.openxmlformats.org/drawingml/2006/main" noGrp="1"/>
          </p:cNvSpPr>
          <p:nvPr/>
        </p:nvSpPr>
        <p:spPr>
          <a:xfrm xmlns:a="http://schemas.openxmlformats.org/drawingml/2006/main">
            <a:off x="3017520" y="2386584"/>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FE7267CA-084E-47C2-8509-28D5946168AE}"/>
              </a:ext>
            </a:extLst>
          </p:cNvPr>
          <p:cNvSpPr>
            <a:spLocks xmlns:a="http://schemas.openxmlformats.org/drawingml/2006/main" noGrp="1"/>
          </p:cNvSpPr>
          <p:nvPr/>
        </p:nvSpPr>
        <p:spPr>
          <a:xfrm xmlns:a="http://schemas.openxmlformats.org/drawingml/2006/main">
            <a:off x="3108960" y="2386584"/>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Embodied organism; physicalism says wholly physical</a:t>
            </a:r>
          </a:p>
        </p:txBody>
      </p:sp>
      <p:sp>
        <p:nvSpPr>
          <p:cNvPr id="18" name="Rectangle 17">
            <a:extLst xmlns:a="http://schemas.openxmlformats.org/drawingml/2006/main">
              <a:ext uri="{FF2B5EF4-FFF2-40B4-BE49-F238E27FC236}">
                <a16:creationId xmlns:a16="http://schemas.microsoft.com/office/drawing/2014/main" id="{1801E4C2-2794-43D6-B10C-69906436BE66}"/>
              </a:ext>
            </a:extLst>
          </p:cNvPr>
          <p:cNvSpPr>
            <a:spLocks xmlns:a="http://schemas.openxmlformats.org/drawingml/2006/main" noGrp="1"/>
          </p:cNvSpPr>
          <p:nvPr/>
        </p:nvSpPr>
        <p:spPr>
          <a:xfrm xmlns:a="http://schemas.openxmlformats.org/drawingml/2006/main">
            <a:off x="5760720" y="2386584"/>
            <a:ext cx="2999232"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0B773860-E21C-4540-ACD2-A88F336F922B}"/>
              </a:ext>
            </a:extLst>
          </p:cNvPr>
          <p:cNvSpPr>
            <a:spLocks xmlns:a="http://schemas.openxmlformats.org/drawingml/2006/main" noGrp="1"/>
          </p:cNvSpPr>
          <p:nvPr/>
        </p:nvSpPr>
        <p:spPr>
          <a:xfrm xmlns:a="http://schemas.openxmlformats.org/drawingml/2006/main">
            <a:off x="5852159" y="2386584"/>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Body + plural jeevan in joint form</a:t>
            </a:r>
          </a:p>
        </p:txBody>
      </p:sp>
      <p:sp>
        <p:nvSpPr>
          <p:cNvPr id="20" name="Rectangle 19">
            <a:extLst xmlns:a="http://schemas.openxmlformats.org/drawingml/2006/main">
              <a:ext uri="{FF2B5EF4-FFF2-40B4-BE49-F238E27FC236}">
                <a16:creationId xmlns:a16="http://schemas.microsoft.com/office/drawing/2014/main" id="{D872F4E5-48B3-4267-B11C-4F4352C78706}"/>
              </a:ext>
            </a:extLst>
          </p:cNvPr>
          <p:cNvSpPr>
            <a:spLocks xmlns:a="http://schemas.openxmlformats.org/drawingml/2006/main" noGrp="1"/>
          </p:cNvSpPr>
          <p:nvPr/>
        </p:nvSpPr>
        <p:spPr>
          <a:xfrm xmlns:a="http://schemas.openxmlformats.org/drawingml/2006/main">
            <a:off x="8759952" y="2386584"/>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41EEF863-916F-4496-A166-869A272D1DEA}"/>
              </a:ext>
            </a:extLst>
          </p:cNvPr>
          <p:cNvSpPr>
            <a:spLocks xmlns:a="http://schemas.openxmlformats.org/drawingml/2006/main" noGrp="1"/>
          </p:cNvSpPr>
          <p:nvPr/>
        </p:nvSpPr>
        <p:spPr>
          <a:xfrm xmlns:a="http://schemas.openxmlformats.org/drawingml/2006/main">
            <a:off x="8851392" y="2386584"/>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Empirical body–mind; true Self = Brahman</a:t>
            </a:r>
          </a:p>
        </p:txBody>
      </p:sp>
      <p:sp>
        <p:nvSpPr>
          <p:cNvPr id="22" name="Rectangle 21">
            <a:extLst xmlns:a="http://schemas.openxmlformats.org/drawingml/2006/main">
              <a:ext uri="{FF2B5EF4-FFF2-40B4-BE49-F238E27FC236}">
                <a16:creationId xmlns:a16="http://schemas.microsoft.com/office/drawing/2014/main" id="{3B1F531E-3EF1-41F8-927E-7D68A9FDEAAA}"/>
              </a:ext>
            </a:extLst>
          </p:cNvPr>
          <p:cNvSpPr>
            <a:spLocks xmlns:a="http://schemas.openxmlformats.org/drawingml/2006/main" noGrp="1"/>
          </p:cNvSpPr>
          <p:nvPr/>
        </p:nvSpPr>
        <p:spPr>
          <a:xfrm xmlns:a="http://schemas.openxmlformats.org/drawingml/2006/main">
            <a:off x="685800" y="2990088"/>
            <a:ext cx="233172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TextBox 22">
            <a:extLst xmlns:a="http://schemas.openxmlformats.org/drawingml/2006/main">
              <a:ext uri="{FF2B5EF4-FFF2-40B4-BE49-F238E27FC236}">
                <a16:creationId xmlns:a16="http://schemas.microsoft.com/office/drawing/2014/main" id="{29D53492-AA99-47A0-80FB-1EB7D8426239}"/>
              </a:ext>
            </a:extLst>
          </p:cNvPr>
          <p:cNvSpPr>
            <a:spLocks xmlns:a="http://schemas.openxmlformats.org/drawingml/2006/main" noGrp="1"/>
          </p:cNvSpPr>
          <p:nvPr/>
        </p:nvSpPr>
        <p:spPr>
          <a:xfrm xmlns:a="http://schemas.openxmlformats.org/drawingml/2006/main">
            <a:off x="758952" y="2990088"/>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Is the world real?</a:t>
            </a:r>
          </a:p>
        </p:txBody>
      </p:sp>
      <p:sp>
        <p:nvSpPr>
          <p:cNvPr id="24" name="Rectangle 23">
            <a:extLst xmlns:a="http://schemas.openxmlformats.org/drawingml/2006/main">
              <a:ext uri="{FF2B5EF4-FFF2-40B4-BE49-F238E27FC236}">
                <a16:creationId xmlns:a16="http://schemas.microsoft.com/office/drawing/2014/main" id="{9CD20F5A-5692-4ABF-B723-6534D17F3E32}"/>
              </a:ext>
            </a:extLst>
          </p:cNvPr>
          <p:cNvSpPr>
            <a:spLocks xmlns:a="http://schemas.openxmlformats.org/drawingml/2006/main" noGrp="1"/>
          </p:cNvSpPr>
          <p:nvPr/>
        </p:nvSpPr>
        <p:spPr>
          <a:xfrm xmlns:a="http://schemas.openxmlformats.org/drawingml/2006/main">
            <a:off x="3017520" y="2990088"/>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F500286C-B9B2-48F7-907C-9E15172B5E42}"/>
              </a:ext>
            </a:extLst>
          </p:cNvPr>
          <p:cNvSpPr>
            <a:spLocks xmlns:a="http://schemas.openxmlformats.org/drawingml/2006/main" noGrp="1"/>
          </p:cNvSpPr>
          <p:nvPr/>
        </p:nvSpPr>
        <p:spPr>
          <a:xfrm xmlns:a="http://schemas.openxmlformats.org/drawingml/2006/main">
            <a:off x="3108960" y="2990088"/>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Physical world is ontologically basic</a:t>
            </a:r>
          </a:p>
        </p:txBody>
      </p:sp>
      <p:sp>
        <p:nvSpPr>
          <p:cNvPr id="26" name="Rectangle 25">
            <a:extLst xmlns:a="http://schemas.openxmlformats.org/drawingml/2006/main">
              <a:ext uri="{FF2B5EF4-FFF2-40B4-BE49-F238E27FC236}">
                <a16:creationId xmlns:a16="http://schemas.microsoft.com/office/drawing/2014/main" id="{BE7EFF59-47A4-402C-97E2-4B2F91BC5DF7}"/>
              </a:ext>
            </a:extLst>
          </p:cNvPr>
          <p:cNvSpPr>
            <a:spLocks xmlns:a="http://schemas.openxmlformats.org/drawingml/2006/main" noGrp="1"/>
          </p:cNvSpPr>
          <p:nvPr/>
        </p:nvSpPr>
        <p:spPr>
          <a:xfrm xmlns:a="http://schemas.openxmlformats.org/drawingml/2006/main">
            <a:off x="5760720" y="2990088"/>
            <a:ext cx="2999232"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TextBox 26">
            <a:extLst xmlns:a="http://schemas.openxmlformats.org/drawingml/2006/main">
              <a:ext uri="{FF2B5EF4-FFF2-40B4-BE49-F238E27FC236}">
                <a16:creationId xmlns:a16="http://schemas.microsoft.com/office/drawing/2014/main" id="{ABECDFB6-C26D-4503-943E-761AA743C398}"/>
              </a:ext>
            </a:extLst>
          </p:cNvPr>
          <p:cNvSpPr>
            <a:spLocks xmlns:a="http://schemas.openxmlformats.org/drawingml/2006/main" noGrp="1"/>
          </p:cNvSpPr>
          <p:nvPr/>
        </p:nvSpPr>
        <p:spPr>
          <a:xfrm xmlns:a="http://schemas.openxmlformats.org/drawingml/2006/main">
            <a:off x="5852159" y="2990088"/>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Real units in coexistence</a:t>
            </a:r>
          </a:p>
        </p:txBody>
      </p:sp>
      <p:sp>
        <p:nvSpPr>
          <p:cNvPr id="28" name="Rectangle 27">
            <a:extLst xmlns:a="http://schemas.openxmlformats.org/drawingml/2006/main">
              <a:ext uri="{FF2B5EF4-FFF2-40B4-BE49-F238E27FC236}">
                <a16:creationId xmlns:a16="http://schemas.microsoft.com/office/drawing/2014/main" id="{0FA4BB7A-4F62-42D9-9E2E-CE70ED700DFB}"/>
              </a:ext>
            </a:extLst>
          </p:cNvPr>
          <p:cNvSpPr>
            <a:spLocks xmlns:a="http://schemas.openxmlformats.org/drawingml/2006/main" noGrp="1"/>
          </p:cNvSpPr>
          <p:nvPr/>
        </p:nvSpPr>
        <p:spPr>
          <a:xfrm xmlns:a="http://schemas.openxmlformats.org/drawingml/2006/main">
            <a:off x="8759952" y="2990088"/>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9" name="TextBox 28">
            <a:extLst xmlns:a="http://schemas.openxmlformats.org/drawingml/2006/main">
              <a:ext uri="{FF2B5EF4-FFF2-40B4-BE49-F238E27FC236}">
                <a16:creationId xmlns:a16="http://schemas.microsoft.com/office/drawing/2014/main" id="{F1A11FC8-EA3F-4A81-878B-5AB916E4C5CF}"/>
              </a:ext>
            </a:extLst>
          </p:cNvPr>
          <p:cNvSpPr>
            <a:spLocks xmlns:a="http://schemas.openxmlformats.org/drawingml/2006/main" noGrp="1"/>
          </p:cNvSpPr>
          <p:nvPr/>
        </p:nvSpPr>
        <p:spPr>
          <a:xfrm xmlns:a="http://schemas.openxmlformats.org/drawingml/2006/main">
            <a:off x="8851392" y="2990088"/>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Mithya: dependently real, not absolute</a:t>
            </a:r>
          </a:p>
        </p:txBody>
      </p:sp>
      <p:sp>
        <p:nvSpPr>
          <p:cNvPr id="30" name="Rectangle 29">
            <a:extLst xmlns:a="http://schemas.openxmlformats.org/drawingml/2006/main">
              <a:ext uri="{FF2B5EF4-FFF2-40B4-BE49-F238E27FC236}">
                <a16:creationId xmlns:a16="http://schemas.microsoft.com/office/drawing/2014/main" id="{70A64EAA-601A-41BD-BF70-A8575BD273DE}"/>
              </a:ext>
            </a:extLst>
          </p:cNvPr>
          <p:cNvSpPr>
            <a:spLocks xmlns:a="http://schemas.openxmlformats.org/drawingml/2006/main" noGrp="1"/>
          </p:cNvSpPr>
          <p:nvPr/>
        </p:nvSpPr>
        <p:spPr>
          <a:xfrm xmlns:a="http://schemas.openxmlformats.org/drawingml/2006/main">
            <a:off x="685800" y="3593592"/>
            <a:ext cx="233172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1" name="TextBox 30">
            <a:extLst xmlns:a="http://schemas.openxmlformats.org/drawingml/2006/main">
              <a:ext uri="{FF2B5EF4-FFF2-40B4-BE49-F238E27FC236}">
                <a16:creationId xmlns:a16="http://schemas.microsoft.com/office/drawing/2014/main" id="{98298793-362E-499B-9E4E-36E668423811}"/>
              </a:ext>
            </a:extLst>
          </p:cNvPr>
          <p:cNvSpPr>
            <a:spLocks xmlns:a="http://schemas.openxmlformats.org/drawingml/2006/main" noGrp="1"/>
          </p:cNvSpPr>
          <p:nvPr/>
        </p:nvSpPr>
        <p:spPr>
          <a:xfrm xmlns:a="http://schemas.openxmlformats.org/drawingml/2006/main">
            <a:off x="758952" y="3593592"/>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Consciousness?</a:t>
            </a:r>
          </a:p>
        </p:txBody>
      </p:sp>
      <p:sp>
        <p:nvSpPr>
          <p:cNvPr id="32" name="Rectangle 31">
            <a:extLst xmlns:a="http://schemas.openxmlformats.org/drawingml/2006/main">
              <a:ext uri="{FF2B5EF4-FFF2-40B4-BE49-F238E27FC236}">
                <a16:creationId xmlns:a16="http://schemas.microsoft.com/office/drawing/2014/main" id="{FFA96FBC-CE4A-45AE-B638-E1D8B746D379}"/>
              </a:ext>
            </a:extLst>
          </p:cNvPr>
          <p:cNvSpPr>
            <a:spLocks xmlns:a="http://schemas.openxmlformats.org/drawingml/2006/main" noGrp="1"/>
          </p:cNvSpPr>
          <p:nvPr/>
        </p:nvSpPr>
        <p:spPr>
          <a:xfrm xmlns:a="http://schemas.openxmlformats.org/drawingml/2006/main">
            <a:off x="3017520" y="3593592"/>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3" name="TextBox 32">
            <a:extLst xmlns:a="http://schemas.openxmlformats.org/drawingml/2006/main">
              <a:ext uri="{FF2B5EF4-FFF2-40B4-BE49-F238E27FC236}">
                <a16:creationId xmlns:a16="http://schemas.microsoft.com/office/drawing/2014/main" id="{EBABB7DA-CF4D-4443-84D5-DD922DFE74E0}"/>
              </a:ext>
            </a:extLst>
          </p:cNvPr>
          <p:cNvSpPr>
            <a:spLocks xmlns:a="http://schemas.openxmlformats.org/drawingml/2006/main" noGrp="1"/>
          </p:cNvSpPr>
          <p:nvPr/>
        </p:nvSpPr>
        <p:spPr>
          <a:xfrm xmlns:a="http://schemas.openxmlformats.org/drawingml/2006/main">
            <a:off x="3108960" y="3593592"/>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Brain-dependent; realised by organisation</a:t>
            </a:r>
          </a:p>
        </p:txBody>
      </p:sp>
      <p:sp>
        <p:nvSpPr>
          <p:cNvPr id="34" name="Rectangle 33">
            <a:extLst xmlns:a="http://schemas.openxmlformats.org/drawingml/2006/main">
              <a:ext uri="{FF2B5EF4-FFF2-40B4-BE49-F238E27FC236}">
                <a16:creationId xmlns:a16="http://schemas.microsoft.com/office/drawing/2014/main" id="{780FE089-D602-4D07-B008-9BF7812815D2}"/>
              </a:ext>
            </a:extLst>
          </p:cNvPr>
          <p:cNvSpPr>
            <a:spLocks xmlns:a="http://schemas.openxmlformats.org/drawingml/2006/main" noGrp="1"/>
          </p:cNvSpPr>
          <p:nvPr/>
        </p:nvSpPr>
        <p:spPr>
          <a:xfrm xmlns:a="http://schemas.openxmlformats.org/drawingml/2006/main">
            <a:off x="5760720" y="3593592"/>
            <a:ext cx="2999232"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5" name="TextBox 34">
            <a:extLst xmlns:a="http://schemas.openxmlformats.org/drawingml/2006/main">
              <a:ext uri="{FF2B5EF4-FFF2-40B4-BE49-F238E27FC236}">
                <a16:creationId xmlns:a16="http://schemas.microsoft.com/office/drawing/2014/main" id="{89F0EFF2-A90A-477B-8A61-5E4B736E6393}"/>
              </a:ext>
            </a:extLst>
          </p:cNvPr>
          <p:cNvSpPr>
            <a:spLocks xmlns:a="http://schemas.openxmlformats.org/drawingml/2006/main" noGrp="1"/>
          </p:cNvSpPr>
          <p:nvPr/>
        </p:nvSpPr>
        <p:spPr>
          <a:xfrm xmlns:a="http://schemas.openxmlformats.org/drawingml/2006/main">
            <a:off x="5852159" y="3593592"/>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Irreducible power of jeevan</a:t>
            </a:r>
          </a:p>
        </p:txBody>
      </p:sp>
      <p:sp>
        <p:nvSpPr>
          <p:cNvPr id="36" name="Rectangle 35">
            <a:extLst xmlns:a="http://schemas.openxmlformats.org/drawingml/2006/main">
              <a:ext uri="{FF2B5EF4-FFF2-40B4-BE49-F238E27FC236}">
                <a16:creationId xmlns:a16="http://schemas.microsoft.com/office/drawing/2014/main" id="{C0742CCF-1B46-418D-8F0F-F203E6B09143}"/>
              </a:ext>
            </a:extLst>
          </p:cNvPr>
          <p:cNvSpPr>
            <a:spLocks xmlns:a="http://schemas.openxmlformats.org/drawingml/2006/main" noGrp="1"/>
          </p:cNvSpPr>
          <p:nvPr/>
        </p:nvSpPr>
        <p:spPr>
          <a:xfrm xmlns:a="http://schemas.openxmlformats.org/drawingml/2006/main">
            <a:off x="8759952" y="3593592"/>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TextBox 36">
            <a:extLst xmlns:a="http://schemas.openxmlformats.org/drawingml/2006/main">
              <a:ext uri="{FF2B5EF4-FFF2-40B4-BE49-F238E27FC236}">
                <a16:creationId xmlns:a16="http://schemas.microsoft.com/office/drawing/2014/main" id="{909FA8EE-E321-4648-A547-7BF621885785}"/>
              </a:ext>
            </a:extLst>
          </p:cNvPr>
          <p:cNvSpPr>
            <a:spLocks xmlns:a="http://schemas.openxmlformats.org/drawingml/2006/main" noGrp="1"/>
          </p:cNvSpPr>
          <p:nvPr/>
        </p:nvSpPr>
        <p:spPr>
          <a:xfrm xmlns:a="http://schemas.openxmlformats.org/drawingml/2006/main">
            <a:off x="8851392" y="3593592"/>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Awareness is fundamental; mind reflects it</a:t>
            </a:r>
          </a:p>
        </p:txBody>
      </p:sp>
      <p:sp>
        <p:nvSpPr>
          <p:cNvPr id="38" name="Rectangle 37">
            <a:extLst xmlns:a="http://schemas.openxmlformats.org/drawingml/2006/main">
              <a:ext uri="{FF2B5EF4-FFF2-40B4-BE49-F238E27FC236}">
                <a16:creationId xmlns:a16="http://schemas.microsoft.com/office/drawing/2014/main" id="{53261083-B6B1-43E4-A00A-4A1F87845BA3}"/>
              </a:ext>
            </a:extLst>
          </p:cNvPr>
          <p:cNvSpPr>
            <a:spLocks xmlns:a="http://schemas.openxmlformats.org/drawingml/2006/main" noGrp="1"/>
          </p:cNvSpPr>
          <p:nvPr/>
        </p:nvSpPr>
        <p:spPr>
          <a:xfrm xmlns:a="http://schemas.openxmlformats.org/drawingml/2006/main">
            <a:off x="685800" y="4197096"/>
            <a:ext cx="233172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9" name="TextBox 38">
            <a:extLst xmlns:a="http://schemas.openxmlformats.org/drawingml/2006/main">
              <a:ext uri="{FF2B5EF4-FFF2-40B4-BE49-F238E27FC236}">
                <a16:creationId xmlns:a16="http://schemas.microsoft.com/office/drawing/2014/main" id="{ABDF5839-9AA0-4BE5-A2CE-1D2C9ADA9A5E}"/>
              </a:ext>
            </a:extLst>
          </p:cNvPr>
          <p:cNvSpPr>
            <a:spLocks xmlns:a="http://schemas.openxmlformats.org/drawingml/2006/main" noGrp="1"/>
          </p:cNvSpPr>
          <p:nvPr/>
        </p:nvSpPr>
        <p:spPr>
          <a:xfrm xmlns:a="http://schemas.openxmlformats.org/drawingml/2006/main">
            <a:off x="758952" y="4197096"/>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How many selves?</a:t>
            </a:r>
          </a:p>
        </p:txBody>
      </p:sp>
      <p:sp>
        <p:nvSpPr>
          <p:cNvPr id="40" name="Rectangle 39">
            <a:extLst xmlns:a="http://schemas.openxmlformats.org/drawingml/2006/main">
              <a:ext uri="{FF2B5EF4-FFF2-40B4-BE49-F238E27FC236}">
                <a16:creationId xmlns:a16="http://schemas.microsoft.com/office/drawing/2014/main" id="{666310D5-E079-42EE-9C85-9B089037201C}"/>
              </a:ext>
            </a:extLst>
          </p:cNvPr>
          <p:cNvSpPr>
            <a:spLocks xmlns:a="http://schemas.openxmlformats.org/drawingml/2006/main" noGrp="1"/>
          </p:cNvSpPr>
          <p:nvPr/>
        </p:nvSpPr>
        <p:spPr>
          <a:xfrm xmlns:a="http://schemas.openxmlformats.org/drawingml/2006/main">
            <a:off x="3017520" y="4197096"/>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1" name="TextBox 40">
            <a:extLst xmlns:a="http://schemas.openxmlformats.org/drawingml/2006/main">
              <a:ext uri="{FF2B5EF4-FFF2-40B4-BE49-F238E27FC236}">
                <a16:creationId xmlns:a16="http://schemas.microsoft.com/office/drawing/2014/main" id="{26EB0CC2-BF93-4B16-9ADA-F2E86F0EE807}"/>
              </a:ext>
            </a:extLst>
          </p:cNvPr>
          <p:cNvSpPr>
            <a:spLocks xmlns:a="http://schemas.openxmlformats.org/drawingml/2006/main" noGrp="1"/>
          </p:cNvSpPr>
          <p:nvPr/>
        </p:nvSpPr>
        <p:spPr>
          <a:xfrm xmlns:a="http://schemas.openxmlformats.org/drawingml/2006/main">
            <a:off x="3108960" y="4197096"/>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Many organisms and persons</a:t>
            </a:r>
          </a:p>
        </p:txBody>
      </p:sp>
      <p:sp>
        <p:nvSpPr>
          <p:cNvPr id="42" name="Rectangle 41">
            <a:extLst xmlns:a="http://schemas.openxmlformats.org/drawingml/2006/main">
              <a:ext uri="{FF2B5EF4-FFF2-40B4-BE49-F238E27FC236}">
                <a16:creationId xmlns:a16="http://schemas.microsoft.com/office/drawing/2014/main" id="{D8F9AED8-3144-4735-AF1D-CF3C31DFB5EB}"/>
              </a:ext>
            </a:extLst>
          </p:cNvPr>
          <p:cNvSpPr>
            <a:spLocks xmlns:a="http://schemas.openxmlformats.org/drawingml/2006/main" noGrp="1"/>
          </p:cNvSpPr>
          <p:nvPr/>
        </p:nvSpPr>
        <p:spPr>
          <a:xfrm xmlns:a="http://schemas.openxmlformats.org/drawingml/2006/main">
            <a:off x="5760720" y="4197096"/>
            <a:ext cx="2999232"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3" name="TextBox 42">
            <a:extLst xmlns:a="http://schemas.openxmlformats.org/drawingml/2006/main">
              <a:ext uri="{FF2B5EF4-FFF2-40B4-BE49-F238E27FC236}">
                <a16:creationId xmlns:a16="http://schemas.microsoft.com/office/drawing/2014/main" id="{FA9936E9-557E-4E06-B7F1-8AA7E26F0D2B}"/>
              </a:ext>
            </a:extLst>
          </p:cNvPr>
          <p:cNvSpPr>
            <a:spLocks xmlns:a="http://schemas.openxmlformats.org/drawingml/2006/main" noGrp="1"/>
          </p:cNvSpPr>
          <p:nvPr/>
        </p:nvSpPr>
        <p:spPr>
          <a:xfrm xmlns:a="http://schemas.openxmlformats.org/drawingml/2006/main">
            <a:off x="5852159" y="4197096"/>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Many enduring jeevans</a:t>
            </a:r>
          </a:p>
        </p:txBody>
      </p:sp>
      <p:sp>
        <p:nvSpPr>
          <p:cNvPr id="44" name="Rectangle 43">
            <a:extLst xmlns:a="http://schemas.openxmlformats.org/drawingml/2006/main">
              <a:ext uri="{FF2B5EF4-FFF2-40B4-BE49-F238E27FC236}">
                <a16:creationId xmlns:a16="http://schemas.microsoft.com/office/drawing/2014/main" id="{3324DA91-1325-46C9-8E43-53F9004EE96D}"/>
              </a:ext>
            </a:extLst>
          </p:cNvPr>
          <p:cNvSpPr>
            <a:spLocks xmlns:a="http://schemas.openxmlformats.org/drawingml/2006/main" noGrp="1"/>
          </p:cNvSpPr>
          <p:nvPr/>
        </p:nvSpPr>
        <p:spPr>
          <a:xfrm xmlns:a="http://schemas.openxmlformats.org/drawingml/2006/main">
            <a:off x="8759952" y="4197096"/>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5" name="TextBox 44">
            <a:extLst xmlns:a="http://schemas.openxmlformats.org/drawingml/2006/main">
              <a:ext uri="{FF2B5EF4-FFF2-40B4-BE49-F238E27FC236}">
                <a16:creationId xmlns:a16="http://schemas.microsoft.com/office/drawing/2014/main" id="{CB063A68-E6F5-448A-A0CE-79306FDE1286}"/>
              </a:ext>
            </a:extLst>
          </p:cNvPr>
          <p:cNvSpPr>
            <a:spLocks xmlns:a="http://schemas.openxmlformats.org/drawingml/2006/main" noGrp="1"/>
          </p:cNvSpPr>
          <p:nvPr/>
        </p:nvSpPr>
        <p:spPr>
          <a:xfrm xmlns:a="http://schemas.openxmlformats.org/drawingml/2006/main">
            <a:off x="8851392" y="4197096"/>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One Self ultimately</a:t>
            </a:r>
          </a:p>
        </p:txBody>
      </p:sp>
      <p:sp>
        <p:nvSpPr>
          <p:cNvPr id="46" name="Rectangle 45">
            <a:extLst xmlns:a="http://schemas.openxmlformats.org/drawingml/2006/main">
              <a:ext uri="{FF2B5EF4-FFF2-40B4-BE49-F238E27FC236}">
                <a16:creationId xmlns:a16="http://schemas.microsoft.com/office/drawing/2014/main" id="{691F6B9D-6F77-49FD-8ADB-AA58597E1690}"/>
              </a:ext>
            </a:extLst>
          </p:cNvPr>
          <p:cNvSpPr>
            <a:spLocks xmlns:a="http://schemas.openxmlformats.org/drawingml/2006/main" noGrp="1"/>
          </p:cNvSpPr>
          <p:nvPr/>
        </p:nvSpPr>
        <p:spPr>
          <a:xfrm xmlns:a="http://schemas.openxmlformats.org/drawingml/2006/main">
            <a:off x="685800" y="4800600"/>
            <a:ext cx="233172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7" name="TextBox 46">
            <a:extLst xmlns:a="http://schemas.openxmlformats.org/drawingml/2006/main">
              <a:ext uri="{FF2B5EF4-FFF2-40B4-BE49-F238E27FC236}">
                <a16:creationId xmlns:a16="http://schemas.microsoft.com/office/drawing/2014/main" id="{C9C8F6DA-0607-4E3E-B959-E98E0084CB84}"/>
              </a:ext>
            </a:extLst>
          </p:cNvPr>
          <p:cNvSpPr>
            <a:spLocks xmlns:a="http://schemas.openxmlformats.org/drawingml/2006/main" noGrp="1"/>
          </p:cNvSpPr>
          <p:nvPr/>
        </p:nvSpPr>
        <p:spPr>
          <a:xfrm xmlns:a="http://schemas.openxmlformats.org/drawingml/2006/main">
            <a:off x="758952" y="4800600"/>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Survives death?</a:t>
            </a:r>
          </a:p>
        </p:txBody>
      </p:sp>
      <p:sp>
        <p:nvSpPr>
          <p:cNvPr id="48" name="Rectangle 47">
            <a:extLst xmlns:a="http://schemas.openxmlformats.org/drawingml/2006/main">
              <a:ext uri="{FF2B5EF4-FFF2-40B4-BE49-F238E27FC236}">
                <a16:creationId xmlns:a16="http://schemas.microsoft.com/office/drawing/2014/main" id="{E662AA0D-EB9E-43B7-8631-B0FF39F03ECA}"/>
              </a:ext>
            </a:extLst>
          </p:cNvPr>
          <p:cNvSpPr>
            <a:spLocks xmlns:a="http://schemas.openxmlformats.org/drawingml/2006/main" noGrp="1"/>
          </p:cNvSpPr>
          <p:nvPr/>
        </p:nvSpPr>
        <p:spPr>
          <a:xfrm xmlns:a="http://schemas.openxmlformats.org/drawingml/2006/main">
            <a:off x="3017520" y="4800600"/>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9" name="TextBox 48">
            <a:extLst xmlns:a="http://schemas.openxmlformats.org/drawingml/2006/main">
              <a:ext uri="{FF2B5EF4-FFF2-40B4-BE49-F238E27FC236}">
                <a16:creationId xmlns:a16="http://schemas.microsoft.com/office/drawing/2014/main" id="{17133593-5B55-4129-A0BB-AA6D8EB3F920}"/>
              </a:ext>
            </a:extLst>
          </p:cNvPr>
          <p:cNvSpPr>
            <a:spLocks xmlns:a="http://schemas.openxmlformats.org/drawingml/2006/main" noGrp="1"/>
          </p:cNvSpPr>
          <p:nvPr/>
        </p:nvSpPr>
        <p:spPr>
          <a:xfrm xmlns:a="http://schemas.openxmlformats.org/drawingml/2006/main">
            <a:off x="3108960" y="4800600"/>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Person ends; physical components continue</a:t>
            </a:r>
          </a:p>
        </p:txBody>
      </p:sp>
      <p:sp>
        <p:nvSpPr>
          <p:cNvPr id="50" name="Rectangle 49">
            <a:extLst xmlns:a="http://schemas.openxmlformats.org/drawingml/2006/main">
              <a:ext uri="{FF2B5EF4-FFF2-40B4-BE49-F238E27FC236}">
                <a16:creationId xmlns:a16="http://schemas.microsoft.com/office/drawing/2014/main" id="{119EA03B-4040-4007-82AD-4C3AB54BB2AD}"/>
              </a:ext>
            </a:extLst>
          </p:cNvPr>
          <p:cNvSpPr>
            <a:spLocks xmlns:a="http://schemas.openxmlformats.org/drawingml/2006/main" noGrp="1"/>
          </p:cNvSpPr>
          <p:nvPr/>
        </p:nvSpPr>
        <p:spPr>
          <a:xfrm xmlns:a="http://schemas.openxmlformats.org/drawingml/2006/main">
            <a:off x="5760720" y="4800600"/>
            <a:ext cx="2999232"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1" name="TextBox 50">
            <a:extLst xmlns:a="http://schemas.openxmlformats.org/drawingml/2006/main">
              <a:ext uri="{FF2B5EF4-FFF2-40B4-BE49-F238E27FC236}">
                <a16:creationId xmlns:a16="http://schemas.microsoft.com/office/drawing/2014/main" id="{8C9A60EA-B904-4116-9EC8-010423442E2F}"/>
              </a:ext>
            </a:extLst>
          </p:cNvPr>
          <p:cNvSpPr>
            <a:spLocks xmlns:a="http://schemas.openxmlformats.org/drawingml/2006/main" noGrp="1"/>
          </p:cNvSpPr>
          <p:nvPr/>
        </p:nvSpPr>
        <p:spPr>
          <a:xfrm xmlns:a="http://schemas.openxmlformats.org/drawingml/2006/main">
            <a:off x="5852159" y="4800600"/>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Body decomposes; jeevan continues</a:t>
            </a:r>
          </a:p>
        </p:txBody>
      </p:sp>
      <p:sp>
        <p:nvSpPr>
          <p:cNvPr id="52" name="Rectangle 51">
            <a:extLst xmlns:a="http://schemas.openxmlformats.org/drawingml/2006/main">
              <a:ext uri="{FF2B5EF4-FFF2-40B4-BE49-F238E27FC236}">
                <a16:creationId xmlns:a16="http://schemas.microsoft.com/office/drawing/2014/main" id="{4307F8FB-24B4-41F2-9181-89DA9EB1972F}"/>
              </a:ext>
            </a:extLst>
          </p:cNvPr>
          <p:cNvSpPr>
            <a:spLocks xmlns:a="http://schemas.openxmlformats.org/drawingml/2006/main" noGrp="1"/>
          </p:cNvSpPr>
          <p:nvPr/>
        </p:nvSpPr>
        <p:spPr>
          <a:xfrm xmlns:a="http://schemas.openxmlformats.org/drawingml/2006/main">
            <a:off x="8759952" y="4800600"/>
            <a:ext cx="2743200" cy="603504"/>
          </a:xfrm>
          <a:prstGeom xmlns:a="http://schemas.openxmlformats.org/drawingml/2006/main" prst="rect">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3" name="TextBox 52">
            <a:extLst xmlns:a="http://schemas.openxmlformats.org/drawingml/2006/main">
              <a:ext uri="{FF2B5EF4-FFF2-40B4-BE49-F238E27FC236}">
                <a16:creationId xmlns:a16="http://schemas.microsoft.com/office/drawing/2014/main" id="{7AE7EB8E-1303-4B68-AC1E-30255D77BFB8}"/>
              </a:ext>
            </a:extLst>
          </p:cNvPr>
          <p:cNvSpPr>
            <a:spLocks xmlns:a="http://schemas.openxmlformats.org/drawingml/2006/main" noGrp="1"/>
          </p:cNvSpPr>
          <p:nvPr/>
        </p:nvSpPr>
        <p:spPr>
          <a:xfrm xmlns:a="http://schemas.openxmlformats.org/drawingml/2006/main">
            <a:off x="8851392" y="4800600"/>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No birth or death for the Self</a:t>
            </a:r>
          </a:p>
        </p:txBody>
      </p:sp>
      <p:sp>
        <p:nvSpPr>
          <p:cNvPr id="54" name="Rectangle 53">
            <a:extLst xmlns:a="http://schemas.openxmlformats.org/drawingml/2006/main">
              <a:ext uri="{FF2B5EF4-FFF2-40B4-BE49-F238E27FC236}">
                <a16:creationId xmlns:a16="http://schemas.microsoft.com/office/drawing/2014/main" id="{FADD4747-1365-42E5-A2F2-1EFD7E111974}"/>
              </a:ext>
            </a:extLst>
          </p:cNvPr>
          <p:cNvSpPr>
            <a:spLocks xmlns:a="http://schemas.openxmlformats.org/drawingml/2006/main" noGrp="1"/>
          </p:cNvSpPr>
          <p:nvPr/>
        </p:nvSpPr>
        <p:spPr>
          <a:xfrm xmlns:a="http://schemas.openxmlformats.org/drawingml/2006/main">
            <a:off x="685800" y="5404104"/>
            <a:ext cx="233172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5" name="TextBox 54">
            <a:extLst xmlns:a="http://schemas.openxmlformats.org/drawingml/2006/main">
              <a:ext uri="{FF2B5EF4-FFF2-40B4-BE49-F238E27FC236}">
                <a16:creationId xmlns:a16="http://schemas.microsoft.com/office/drawing/2014/main" id="{8053340E-2E31-4A96-8950-8C8BF28E3951}"/>
              </a:ext>
            </a:extLst>
          </p:cNvPr>
          <p:cNvSpPr>
            <a:spLocks xmlns:a="http://schemas.openxmlformats.org/drawingml/2006/main" noGrp="1"/>
          </p:cNvSpPr>
          <p:nvPr/>
        </p:nvSpPr>
        <p:spPr>
          <a:xfrm xmlns:a="http://schemas.openxmlformats.org/drawingml/2006/main">
            <a:off x="758952" y="5404104"/>
            <a:ext cx="2203703"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50" b="1" i="0">
                <a:solidFill>
                  <a:srgbClr val="1E2447"/>
                </a:solidFill>
                <a:latin typeface="Calibri"/>
                <a:ea typeface="Calibri"/>
                <a:cs typeface="Calibri"/>
              </a:rPr>
              <a:t>Method</a:t>
            </a:r>
          </a:p>
        </p:txBody>
      </p:sp>
      <p:sp>
        <p:nvSpPr>
          <p:cNvPr id="56" name="Rectangle 55">
            <a:extLst xmlns:a="http://schemas.openxmlformats.org/drawingml/2006/main">
              <a:ext uri="{FF2B5EF4-FFF2-40B4-BE49-F238E27FC236}">
                <a16:creationId xmlns:a16="http://schemas.microsoft.com/office/drawing/2014/main" id="{50DB796E-2F58-40DF-A66F-AC3B807E1D86}"/>
              </a:ext>
            </a:extLst>
          </p:cNvPr>
          <p:cNvSpPr>
            <a:spLocks xmlns:a="http://schemas.openxmlformats.org/drawingml/2006/main" noGrp="1"/>
          </p:cNvSpPr>
          <p:nvPr/>
        </p:nvSpPr>
        <p:spPr>
          <a:xfrm xmlns:a="http://schemas.openxmlformats.org/drawingml/2006/main">
            <a:off x="3017520" y="5404104"/>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7" name="TextBox 56">
            <a:extLst xmlns:a="http://schemas.openxmlformats.org/drawingml/2006/main">
              <a:ext uri="{FF2B5EF4-FFF2-40B4-BE49-F238E27FC236}">
                <a16:creationId xmlns:a16="http://schemas.microsoft.com/office/drawing/2014/main" id="{52C5C5A1-5960-4123-B91E-6761AFFBF8BF}"/>
              </a:ext>
            </a:extLst>
          </p:cNvPr>
          <p:cNvSpPr>
            <a:spLocks xmlns:a="http://schemas.openxmlformats.org/drawingml/2006/main" noGrp="1"/>
          </p:cNvSpPr>
          <p:nvPr/>
        </p:nvSpPr>
        <p:spPr>
          <a:xfrm xmlns:a="http://schemas.openxmlformats.org/drawingml/2006/main">
            <a:off x="3108960" y="5404104"/>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Measurement, modelling, prediction</a:t>
            </a:r>
          </a:p>
        </p:txBody>
      </p:sp>
      <p:sp>
        <p:nvSpPr>
          <p:cNvPr id="58" name="Rectangle 57">
            <a:extLst xmlns:a="http://schemas.openxmlformats.org/drawingml/2006/main">
              <a:ext uri="{FF2B5EF4-FFF2-40B4-BE49-F238E27FC236}">
                <a16:creationId xmlns:a16="http://schemas.microsoft.com/office/drawing/2014/main" id="{79AC4BE3-D362-4D4D-97F4-AD048121EAD0}"/>
              </a:ext>
            </a:extLst>
          </p:cNvPr>
          <p:cNvSpPr>
            <a:spLocks xmlns:a="http://schemas.openxmlformats.org/drawingml/2006/main" noGrp="1"/>
          </p:cNvSpPr>
          <p:nvPr/>
        </p:nvSpPr>
        <p:spPr>
          <a:xfrm xmlns:a="http://schemas.openxmlformats.org/drawingml/2006/main">
            <a:off x="5760720" y="5404104"/>
            <a:ext cx="2999232"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9" name="TextBox 58">
            <a:extLst xmlns:a="http://schemas.openxmlformats.org/drawingml/2006/main">
              <a:ext uri="{FF2B5EF4-FFF2-40B4-BE49-F238E27FC236}">
                <a16:creationId xmlns:a16="http://schemas.microsoft.com/office/drawing/2014/main" id="{2CCA1C70-B898-4553-A8C0-AB7D61BF9E96}"/>
              </a:ext>
            </a:extLst>
          </p:cNvPr>
          <p:cNvSpPr>
            <a:spLocks xmlns:a="http://schemas.openxmlformats.org/drawingml/2006/main" noGrp="1"/>
          </p:cNvSpPr>
          <p:nvPr/>
        </p:nvSpPr>
        <p:spPr>
          <a:xfrm xmlns:a="http://schemas.openxmlformats.org/drawingml/2006/main">
            <a:off x="5852159" y="5404104"/>
            <a:ext cx="2834639"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1" i="0">
                <a:solidFill>
                  <a:srgbClr val="9A6414"/>
                </a:solidFill>
                <a:latin typeface="Calibri"/>
                <a:ea typeface="Calibri"/>
                <a:cs typeface="Calibri"/>
              </a:rPr>
              <a:t>Text, understanding, lived conduct</a:t>
            </a:r>
          </a:p>
        </p:txBody>
      </p:sp>
      <p:sp>
        <p:nvSpPr>
          <p:cNvPr id="60" name="Rectangle 59">
            <a:extLst xmlns:a="http://schemas.openxmlformats.org/drawingml/2006/main">
              <a:ext uri="{FF2B5EF4-FFF2-40B4-BE49-F238E27FC236}">
                <a16:creationId xmlns:a16="http://schemas.microsoft.com/office/drawing/2014/main" id="{87333047-F5A4-448F-B690-873AF896FD4D}"/>
              </a:ext>
            </a:extLst>
          </p:cNvPr>
          <p:cNvSpPr>
            <a:spLocks xmlns:a="http://schemas.openxmlformats.org/drawingml/2006/main" noGrp="1"/>
          </p:cNvSpPr>
          <p:nvPr/>
        </p:nvSpPr>
        <p:spPr>
          <a:xfrm xmlns:a="http://schemas.openxmlformats.org/drawingml/2006/main">
            <a:off x="8759952" y="5404104"/>
            <a:ext cx="2743200" cy="603504"/>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1" name="TextBox 60">
            <a:extLst xmlns:a="http://schemas.openxmlformats.org/drawingml/2006/main">
              <a:ext uri="{FF2B5EF4-FFF2-40B4-BE49-F238E27FC236}">
                <a16:creationId xmlns:a16="http://schemas.microsoft.com/office/drawing/2014/main" id="{D9F90755-4587-4F77-AFF9-494384CA7547}"/>
              </a:ext>
            </a:extLst>
          </p:cNvPr>
          <p:cNvSpPr>
            <a:spLocks xmlns:a="http://schemas.openxmlformats.org/drawingml/2006/main" noGrp="1"/>
          </p:cNvSpPr>
          <p:nvPr/>
        </p:nvSpPr>
        <p:spPr>
          <a:xfrm xmlns:a="http://schemas.openxmlformats.org/drawingml/2006/main">
            <a:off x="8851392" y="5404104"/>
            <a:ext cx="2578608"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95000"/>
              </a:lnSpc>
              <a:spcBef>
                <a:spcPts val="0"/>
              </a:spcBef>
              <a:spcAft>
                <a:spcPts val="0"/>
              </a:spcAft>
              <a:buNone/>
            </a:pPr>
            <a:r>
              <a:rPr sz="1100" b="0" i="0">
                <a:solidFill>
                  <a:srgbClr val="5A6377"/>
                </a:solidFill>
                <a:latin typeface="Calibri"/>
                <a:ea typeface="Calibri"/>
                <a:cs typeface="Calibri"/>
              </a:rPr>
              <a:t>Scripture, reason, meditation</a:t>
            </a:r>
          </a:p>
        </p:txBody>
      </p:sp>
      <p:sp>
        <p:nvSpPr>
          <p:cNvPr id="62" name="TextBox 61">
            <a:extLst xmlns:a="http://schemas.openxmlformats.org/drawingml/2006/main">
              <a:ext uri="{FF2B5EF4-FFF2-40B4-BE49-F238E27FC236}">
                <a16:creationId xmlns:a16="http://schemas.microsoft.com/office/drawing/2014/main" id="{28824DED-F9FA-45F0-9DB3-5880F67B6293}"/>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Science supplies evidence; physicalism is one ontological interpretation of it.</a:t>
            </a:r>
          </a:p>
        </p:txBody>
      </p:sp>
    </p:spTree>
    <p:extLst>
      <p:ext uri="{BB962C8B-B14F-4D97-AF65-F5344CB8AC3E}">
        <p14:creationId xmlns:p14="http://schemas.microsoft.com/office/powerpoint/2010/main" val="1668654731"/>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C3EF7AD-6468-40EF-B1CF-ED95CFE2578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781DB63D-DA82-41A1-8A05-9E0E61968948}"/>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FE2FCFB3-C896-4ED9-837B-7135DB84F93C}"/>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1EA8037A-9FA2-4FCC-BE91-30AC26A80ED4}"/>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7C2D5770-8B6C-4519-AF62-6A1264B00136}"/>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COMPARING THE THREE VIEWS</a:t>
            </a:r>
          </a:p>
        </p:txBody>
      </p:sp>
      <p:sp>
        <p:nvSpPr>
          <p:cNvPr id="7" name="TextBox 6">
            <a:extLst xmlns:a="http://schemas.openxmlformats.org/drawingml/2006/main">
              <a:ext uri="{FF2B5EF4-FFF2-40B4-BE49-F238E27FC236}">
                <a16:creationId xmlns:a16="http://schemas.microsoft.com/office/drawing/2014/main" id="{333E902B-E185-4813-906A-42F41EF7DBE9}"/>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Three Contrasts That Cannot Be Blended Away</a:t>
            </a:r>
          </a:p>
        </p:txBody>
      </p:sp>
      <p:sp>
        <p:nvSpPr>
          <p:cNvPr id="8" name="Rounded Rectangle 7">
            <a:extLst xmlns:a="http://schemas.openxmlformats.org/drawingml/2006/main">
              <a:ext uri="{FF2B5EF4-FFF2-40B4-BE49-F238E27FC236}">
                <a16:creationId xmlns:a16="http://schemas.microsoft.com/office/drawing/2014/main" id="{B8EAF0F6-E0E8-49C8-986F-6D901E4238B7}"/>
              </a:ext>
            </a:extLst>
          </p:cNvPr>
          <p:cNvSpPr>
            <a:spLocks xmlns:a="http://schemas.openxmlformats.org/drawingml/2006/main" noGrp="1"/>
          </p:cNvSpPr>
          <p:nvPr/>
        </p:nvSpPr>
        <p:spPr>
          <a:xfrm xmlns:a="http://schemas.openxmlformats.org/drawingml/2006/main">
            <a:off x="685800" y="1783080"/>
            <a:ext cx="10817352" cy="96012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Oval 8">
            <a:extLst xmlns:a="http://schemas.openxmlformats.org/drawingml/2006/main">
              <a:ext uri="{FF2B5EF4-FFF2-40B4-BE49-F238E27FC236}">
                <a16:creationId xmlns:a16="http://schemas.microsoft.com/office/drawing/2014/main" id="{D61024F3-7325-4710-9DE0-EF17FD28B7AA}"/>
              </a:ext>
            </a:extLst>
          </p:cNvPr>
          <p:cNvSpPr>
            <a:spLocks xmlns:a="http://schemas.openxmlformats.org/drawingml/2006/main" noGrp="1"/>
          </p:cNvSpPr>
          <p:nvPr/>
        </p:nvSpPr>
        <p:spPr>
          <a:xfrm xmlns:a="http://schemas.openxmlformats.org/drawingml/2006/main">
            <a:off x="898855" y="1977847"/>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Oval 9">
            <a:extLst xmlns:a="http://schemas.openxmlformats.org/drawingml/2006/main">
              <a:ext uri="{FF2B5EF4-FFF2-40B4-BE49-F238E27FC236}">
                <a16:creationId xmlns:a16="http://schemas.microsoft.com/office/drawing/2014/main" id="{C2BC8250-00EF-4CD8-9663-4C094F8E7844}"/>
              </a:ext>
            </a:extLst>
          </p:cNvPr>
          <p:cNvSpPr>
            <a:spLocks xmlns:a="http://schemas.openxmlformats.org/drawingml/2006/main" noGrp="1"/>
          </p:cNvSpPr>
          <p:nvPr/>
        </p:nvSpPr>
        <p:spPr>
          <a:xfrm xmlns:a="http://schemas.openxmlformats.org/drawingml/2006/main">
            <a:off x="977036" y="2056028"/>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Oval 10">
            <a:extLst xmlns:a="http://schemas.openxmlformats.org/drawingml/2006/main">
              <a:ext uri="{FF2B5EF4-FFF2-40B4-BE49-F238E27FC236}">
                <a16:creationId xmlns:a16="http://schemas.microsoft.com/office/drawing/2014/main" id="{07F561E9-92F1-4E85-A511-C3F48B1E2855}"/>
              </a:ext>
            </a:extLst>
          </p:cNvPr>
          <p:cNvSpPr>
            <a:spLocks xmlns:a="http://schemas.openxmlformats.org/drawingml/2006/main" noGrp="1"/>
          </p:cNvSpPr>
          <p:nvPr/>
        </p:nvSpPr>
        <p:spPr>
          <a:xfrm xmlns:a="http://schemas.openxmlformats.org/drawingml/2006/main">
            <a:off x="1038758" y="2117750"/>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1B71C72A-6455-4CE1-ADA7-99D06B8CA826}"/>
              </a:ext>
            </a:extLst>
          </p:cNvPr>
          <p:cNvSpPr>
            <a:spLocks xmlns:a="http://schemas.openxmlformats.org/drawingml/2006/main" noGrp="1"/>
          </p:cNvSpPr>
          <p:nvPr/>
        </p:nvSpPr>
        <p:spPr>
          <a:xfrm xmlns:a="http://schemas.openxmlformats.org/drawingml/2006/main">
            <a:off x="1444752" y="1984248"/>
            <a:ext cx="98755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Real plurality or nonduality</a:t>
            </a:r>
          </a:p>
        </p:txBody>
      </p:sp>
      <p:sp>
        <p:nvSpPr>
          <p:cNvPr id="13" name="TextBox 12">
            <a:extLst xmlns:a="http://schemas.openxmlformats.org/drawingml/2006/main">
              <a:ext uri="{FF2B5EF4-FFF2-40B4-BE49-F238E27FC236}">
                <a16:creationId xmlns:a16="http://schemas.microsoft.com/office/drawing/2014/main" id="{C11D6DE8-2906-4564-A7ED-429F8D3A2636}"/>
              </a:ext>
            </a:extLst>
          </p:cNvPr>
          <p:cNvSpPr>
            <a:spLocks xmlns:a="http://schemas.openxmlformats.org/drawingml/2006/main" noGrp="1"/>
          </p:cNvSpPr>
          <p:nvPr/>
        </p:nvSpPr>
        <p:spPr>
          <a:xfrm xmlns:a="http://schemas.openxmlformats.org/drawingml/2006/main">
            <a:off x="941832" y="2496312"/>
            <a:ext cx="10305288" cy="2508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MD affirms many real units; madhyasth names a mediative or regulative role. Advaita accepts plurality empirically, not ultimately.</a:t>
            </a:r>
          </a:p>
        </p:txBody>
      </p:sp>
      <p:sp>
        <p:nvSpPr>
          <p:cNvPr id="14" name="Rounded Rectangle 13">
            <a:extLst xmlns:a="http://schemas.openxmlformats.org/drawingml/2006/main">
              <a:ext uri="{FF2B5EF4-FFF2-40B4-BE49-F238E27FC236}">
                <a16:creationId xmlns:a16="http://schemas.microsoft.com/office/drawing/2014/main" id="{D8D9D684-A310-4314-981A-B35DFE02B872}"/>
              </a:ext>
            </a:extLst>
          </p:cNvPr>
          <p:cNvSpPr>
            <a:spLocks xmlns:a="http://schemas.openxmlformats.org/drawingml/2006/main" noGrp="1"/>
          </p:cNvSpPr>
          <p:nvPr/>
        </p:nvSpPr>
        <p:spPr>
          <a:xfrm xmlns:a="http://schemas.openxmlformats.org/drawingml/2006/main">
            <a:off x="685800" y="2852928"/>
            <a:ext cx="10817352" cy="96012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Oval 14">
            <a:extLst xmlns:a="http://schemas.openxmlformats.org/drawingml/2006/main">
              <a:ext uri="{FF2B5EF4-FFF2-40B4-BE49-F238E27FC236}">
                <a16:creationId xmlns:a16="http://schemas.microsoft.com/office/drawing/2014/main" id="{4D380737-C577-4429-9404-A5838EF76A0C}"/>
              </a:ext>
            </a:extLst>
          </p:cNvPr>
          <p:cNvSpPr>
            <a:spLocks xmlns:a="http://schemas.openxmlformats.org/drawingml/2006/main" noGrp="1"/>
          </p:cNvSpPr>
          <p:nvPr/>
        </p:nvSpPr>
        <p:spPr>
          <a:xfrm xmlns:a="http://schemas.openxmlformats.org/drawingml/2006/main">
            <a:off x="898855" y="3047695"/>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Oval 15">
            <a:extLst xmlns:a="http://schemas.openxmlformats.org/drawingml/2006/main">
              <a:ext uri="{FF2B5EF4-FFF2-40B4-BE49-F238E27FC236}">
                <a16:creationId xmlns:a16="http://schemas.microsoft.com/office/drawing/2014/main" id="{13932845-B0DE-4445-B6D4-2E89DB02E939}"/>
              </a:ext>
            </a:extLst>
          </p:cNvPr>
          <p:cNvSpPr>
            <a:spLocks xmlns:a="http://schemas.openxmlformats.org/drawingml/2006/main" noGrp="1"/>
          </p:cNvSpPr>
          <p:nvPr/>
        </p:nvSpPr>
        <p:spPr>
          <a:xfrm xmlns:a="http://schemas.openxmlformats.org/drawingml/2006/main">
            <a:off x="977036" y="3125876"/>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Oval 16">
            <a:extLst xmlns:a="http://schemas.openxmlformats.org/drawingml/2006/main">
              <a:ext uri="{FF2B5EF4-FFF2-40B4-BE49-F238E27FC236}">
                <a16:creationId xmlns:a16="http://schemas.microsoft.com/office/drawing/2014/main" id="{A014EFCD-53F1-4E39-9A9F-C440EEBC9E0C}"/>
              </a:ext>
            </a:extLst>
          </p:cNvPr>
          <p:cNvSpPr>
            <a:spLocks xmlns:a="http://schemas.openxmlformats.org/drawingml/2006/main" noGrp="1"/>
          </p:cNvSpPr>
          <p:nvPr/>
        </p:nvSpPr>
        <p:spPr>
          <a:xfrm xmlns:a="http://schemas.openxmlformats.org/drawingml/2006/main">
            <a:off x="1038758" y="3187598"/>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BC0C6A59-FD95-44AA-B45C-0B51910A83AB}"/>
              </a:ext>
            </a:extLst>
          </p:cNvPr>
          <p:cNvSpPr>
            <a:spLocks xmlns:a="http://schemas.openxmlformats.org/drawingml/2006/main" noGrp="1"/>
          </p:cNvSpPr>
          <p:nvPr/>
        </p:nvSpPr>
        <p:spPr>
          <a:xfrm xmlns:a="http://schemas.openxmlformats.org/drawingml/2006/main">
            <a:off x="1444752" y="3054096"/>
            <a:ext cx="98755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Individual self or one Self</a:t>
            </a:r>
          </a:p>
        </p:txBody>
      </p:sp>
      <p:sp>
        <p:nvSpPr>
          <p:cNvPr id="19" name="TextBox 18">
            <a:extLst xmlns:a="http://schemas.openxmlformats.org/drawingml/2006/main">
              <a:ext uri="{FF2B5EF4-FFF2-40B4-BE49-F238E27FC236}">
                <a16:creationId xmlns:a16="http://schemas.microsoft.com/office/drawing/2014/main" id="{88701A1B-D4FB-4C4B-B457-6F915E747407}"/>
              </a:ext>
            </a:extLst>
          </p:cNvPr>
          <p:cNvSpPr>
            <a:spLocks xmlns:a="http://schemas.openxmlformats.org/drawingml/2006/main" noGrp="1"/>
          </p:cNvSpPr>
          <p:nvPr/>
        </p:nvSpPr>
        <p:spPr>
          <a:xfrm xmlns:a="http://schemas.openxmlformats.org/drawingml/2006/main">
            <a:off x="941832" y="3566160"/>
            <a:ext cx="10305288" cy="2508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MD keeps many jeevans and individual responsibility. Advaita treats individuality as superimposed on nondual awareness.</a:t>
            </a:r>
          </a:p>
        </p:txBody>
      </p:sp>
      <p:sp>
        <p:nvSpPr>
          <p:cNvPr id="20" name="Rounded Rectangle 19">
            <a:extLst xmlns:a="http://schemas.openxmlformats.org/drawingml/2006/main">
              <a:ext uri="{FF2B5EF4-FFF2-40B4-BE49-F238E27FC236}">
                <a16:creationId xmlns:a16="http://schemas.microsoft.com/office/drawing/2014/main" id="{9EF3EA82-6DEB-4D8D-A956-7622C0716083}"/>
              </a:ext>
            </a:extLst>
          </p:cNvPr>
          <p:cNvSpPr>
            <a:spLocks xmlns:a="http://schemas.openxmlformats.org/drawingml/2006/main" noGrp="1"/>
          </p:cNvSpPr>
          <p:nvPr/>
        </p:nvSpPr>
        <p:spPr>
          <a:xfrm xmlns:a="http://schemas.openxmlformats.org/drawingml/2006/main">
            <a:off x="685800" y="3922776"/>
            <a:ext cx="10817352" cy="960120"/>
          </a:xfrm>
          <a:prstGeom xmlns:a="http://schemas.openxmlformats.org/drawingml/2006/main" prst="roundRect">
            <a:avLst>
              <a:gd name="adj" fmla="val 6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Oval 20">
            <a:extLst xmlns:a="http://schemas.openxmlformats.org/drawingml/2006/main">
              <a:ext uri="{FF2B5EF4-FFF2-40B4-BE49-F238E27FC236}">
                <a16:creationId xmlns:a16="http://schemas.microsoft.com/office/drawing/2014/main" id="{194EC426-C3A4-417F-819C-7D759CD7BD25}"/>
              </a:ext>
            </a:extLst>
          </p:cNvPr>
          <p:cNvSpPr>
            <a:spLocks xmlns:a="http://schemas.openxmlformats.org/drawingml/2006/main" noGrp="1"/>
          </p:cNvSpPr>
          <p:nvPr/>
        </p:nvSpPr>
        <p:spPr>
          <a:xfrm xmlns:a="http://schemas.openxmlformats.org/drawingml/2006/main">
            <a:off x="898855" y="4117543"/>
            <a:ext cx="378561" cy="378561"/>
          </a:xfrm>
          <a:prstGeom xmlns:a="http://schemas.openxmlformats.org/drawingml/2006/main" prst="ellipse">
            <a:avLst/>
          </a:prstGeom>
          <a:noFill xmlns:a="http://schemas.openxmlformats.org/drawingml/2006/main"/>
          <a:ln xmlns:a="http://schemas.openxmlformats.org/drawingml/2006/main" w="1828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Oval 21">
            <a:extLst xmlns:a="http://schemas.openxmlformats.org/drawingml/2006/main">
              <a:ext uri="{FF2B5EF4-FFF2-40B4-BE49-F238E27FC236}">
                <a16:creationId xmlns:a16="http://schemas.microsoft.com/office/drawing/2014/main" id="{3E07CE1A-D7D8-4099-A9E5-F3FD16C1354C}"/>
              </a:ext>
            </a:extLst>
          </p:cNvPr>
          <p:cNvSpPr>
            <a:spLocks xmlns:a="http://schemas.openxmlformats.org/drawingml/2006/main" noGrp="1"/>
          </p:cNvSpPr>
          <p:nvPr/>
        </p:nvSpPr>
        <p:spPr>
          <a:xfrm xmlns:a="http://schemas.openxmlformats.org/drawingml/2006/main">
            <a:off x="977036" y="4195724"/>
            <a:ext cx="222199" cy="222199"/>
          </a:xfrm>
          <a:prstGeom xmlns:a="http://schemas.openxmlformats.org/drawingml/2006/main" prst="ellipse">
            <a:avLst/>
          </a:prstGeom>
          <a:noFill xmlns:a="http://schemas.openxmlformats.org/drawingml/2006/main"/>
          <a:ln xmlns:a="http://schemas.openxmlformats.org/drawingml/2006/main" w="16002">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3" name="Oval 22">
            <a:extLst xmlns:a="http://schemas.openxmlformats.org/drawingml/2006/main">
              <a:ext uri="{FF2B5EF4-FFF2-40B4-BE49-F238E27FC236}">
                <a16:creationId xmlns:a16="http://schemas.microsoft.com/office/drawing/2014/main" id="{BE474F36-C66A-421E-A554-3D49DB981F30}"/>
              </a:ext>
            </a:extLst>
          </p:cNvPr>
          <p:cNvSpPr>
            <a:spLocks xmlns:a="http://schemas.openxmlformats.org/drawingml/2006/main" noGrp="1"/>
          </p:cNvSpPr>
          <p:nvPr/>
        </p:nvSpPr>
        <p:spPr>
          <a:xfrm xmlns:a="http://schemas.openxmlformats.org/drawingml/2006/main">
            <a:off x="1038758" y="4257446"/>
            <a:ext cx="98755" cy="98755"/>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4" name="TextBox 23">
            <a:extLst xmlns:a="http://schemas.openxmlformats.org/drawingml/2006/main">
              <a:ext uri="{FF2B5EF4-FFF2-40B4-BE49-F238E27FC236}">
                <a16:creationId xmlns:a16="http://schemas.microsoft.com/office/drawing/2014/main" id="{FC0BFB78-88AC-4BE1-9BED-D2C1DAB81D55}"/>
              </a:ext>
            </a:extLst>
          </p:cNvPr>
          <p:cNvSpPr>
            <a:spLocks xmlns:a="http://schemas.openxmlformats.org/drawingml/2006/main" noGrp="1"/>
          </p:cNvSpPr>
          <p:nvPr/>
        </p:nvSpPr>
        <p:spPr>
          <a:xfrm xmlns:a="http://schemas.openxmlformats.org/drawingml/2006/main">
            <a:off x="1444752" y="4123944"/>
            <a:ext cx="98755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50" b="1" i="0">
                <a:solidFill>
                  <a:srgbClr val="1E2447"/>
                </a:solidFill>
                <a:latin typeface="Cambria"/>
                <a:ea typeface="Cambria"/>
                <a:cs typeface="Cambria"/>
              </a:rPr>
              <a:t>How consciousness relates to matter</a:t>
            </a:r>
          </a:p>
        </p:txBody>
      </p:sp>
      <p:sp>
        <p:nvSpPr>
          <p:cNvPr id="25" name="TextBox 24">
            <a:extLst xmlns:a="http://schemas.openxmlformats.org/drawingml/2006/main">
              <a:ext uri="{FF2B5EF4-FFF2-40B4-BE49-F238E27FC236}">
                <a16:creationId xmlns:a16="http://schemas.microsoft.com/office/drawing/2014/main" id="{662B23E8-0858-4E63-9C0F-CF488F5DD878}"/>
              </a:ext>
            </a:extLst>
          </p:cNvPr>
          <p:cNvSpPr>
            <a:spLocks xmlns:a="http://schemas.openxmlformats.org/drawingml/2006/main" noGrp="1"/>
          </p:cNvSpPr>
          <p:nvPr/>
        </p:nvSpPr>
        <p:spPr>
          <a:xfrm xmlns:a="http://schemas.openxmlformats.org/drawingml/2006/main">
            <a:off x="941832" y="4636008"/>
            <a:ext cx="10305288" cy="250825"/>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250" b="0" i="0">
                <a:solidFill>
                  <a:srgbClr val="5A6377"/>
                </a:solidFill>
                <a:latin typeface="Calibri"/>
                <a:ea typeface="Calibri"/>
                <a:cs typeface="Calibri"/>
              </a:rPr>
              <a:t>Physicalism: organised brain. MD: body + jeevan. Advaita: awareness is prior and matter is dependent.</a:t>
            </a:r>
          </a:p>
        </p:txBody>
      </p:sp>
      <p:sp>
        <p:nvSpPr>
          <p:cNvPr id="26" name="Rounded Rectangle 25">
            <a:extLst xmlns:a="http://schemas.openxmlformats.org/drawingml/2006/main">
              <a:ext uri="{FF2B5EF4-FFF2-40B4-BE49-F238E27FC236}">
                <a16:creationId xmlns:a16="http://schemas.microsoft.com/office/drawing/2014/main" id="{73BA93CF-EE8F-4F0A-A230-BCC3D71BE73A}"/>
              </a:ext>
            </a:extLst>
          </p:cNvPr>
          <p:cNvSpPr>
            <a:spLocks xmlns:a="http://schemas.openxmlformats.org/drawingml/2006/main" noGrp="1"/>
          </p:cNvSpPr>
          <p:nvPr/>
        </p:nvSpPr>
        <p:spPr>
          <a:xfrm xmlns:a="http://schemas.openxmlformats.org/drawingml/2006/main">
            <a:off x="685800" y="5029200"/>
            <a:ext cx="10817352" cy="1051560"/>
          </a:xfrm>
          <a:prstGeom xmlns:a="http://schemas.openxmlformats.org/drawingml/2006/main" prst="roundRect">
            <a:avLst>
              <a:gd name="adj" fmla="val 9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TextBox 26">
            <a:extLst xmlns:a="http://schemas.openxmlformats.org/drawingml/2006/main">
              <a:ext uri="{FF2B5EF4-FFF2-40B4-BE49-F238E27FC236}">
                <a16:creationId xmlns:a16="http://schemas.microsoft.com/office/drawing/2014/main" id="{5197B2CE-B867-48B4-96F2-AD8380CC08D2}"/>
              </a:ext>
            </a:extLst>
          </p:cNvPr>
          <p:cNvSpPr>
            <a:spLocks xmlns:a="http://schemas.openxmlformats.org/drawingml/2006/main" noGrp="1"/>
          </p:cNvSpPr>
          <p:nvPr/>
        </p:nvSpPr>
        <p:spPr>
          <a:xfrm xmlns:a="http://schemas.openxmlformats.org/drawingml/2006/main">
            <a:off x="1051560" y="5138928"/>
            <a:ext cx="1014984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8000"/>
              </a:lnSpc>
              <a:spcBef>
                <a:spcPts val="0"/>
              </a:spcBef>
              <a:spcAft>
                <a:spcPts val="400"/>
              </a:spcAft>
              <a:buNone/>
            </a:pPr>
            <a:r>
              <a:rPr sz="1300" b="1" i="0">
                <a:solidFill>
                  <a:srgbClr val="C9821E"/>
                </a:solidFill>
                <a:latin typeface="Calibri"/>
                <a:ea typeface="Calibri"/>
                <a:cs typeface="Calibri"/>
              </a:rPr>
              <a:t>MD joins physicalism in affirming a real shared world and joins Advaita in rejecting reduction of awareness to matter—but its ontology is not a compromise.</a:t>
            </a:r>
          </a:p>
        </p:txBody>
      </p:sp>
      <p:sp>
        <p:nvSpPr>
          <p:cNvPr id="28" name="TextBox 27">
            <a:extLst xmlns:a="http://schemas.openxmlformats.org/drawingml/2006/main">
              <a:ext uri="{FF2B5EF4-FFF2-40B4-BE49-F238E27FC236}">
                <a16:creationId xmlns:a16="http://schemas.microsoft.com/office/drawing/2014/main" id="{2C167ED0-F93C-4D43-A7E6-19578A11B550}"/>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The views overlap at points; their ultimate commitments remain incompatible.</a:t>
            </a:r>
          </a:p>
        </p:txBody>
      </p:sp>
    </p:spTree>
    <p:extLst>
      <p:ext uri="{BB962C8B-B14F-4D97-AF65-F5344CB8AC3E}">
        <p14:creationId xmlns:p14="http://schemas.microsoft.com/office/powerpoint/2010/main" val="81121812"/>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5B497409-68FB-4C5D-A7CD-C318650B83A3}"/>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2546BC6D-2397-4BCA-A7D0-BE48CEB51C65}"/>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C47331F2-997A-43A7-9E47-3A8042E16D9B}"/>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34646965-BD87-46FF-9BA0-7071D16A9850}"/>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FD136BAC-EEFB-4DAE-B865-432DDB6956EE}"/>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CRITICAL REVIEW</a:t>
            </a:r>
          </a:p>
        </p:txBody>
      </p:sp>
      <p:sp>
        <p:nvSpPr>
          <p:cNvPr id="7" name="TextBox 6">
            <a:extLst xmlns:a="http://schemas.openxmlformats.org/drawingml/2006/main">
              <a:ext uri="{FF2B5EF4-FFF2-40B4-BE49-F238E27FC236}">
                <a16:creationId xmlns:a16="http://schemas.microsoft.com/office/drawing/2014/main" id="{A9FB6E27-681D-44EE-8E1A-9E08C2672D4D}"/>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Each Strong Inside, Vulnerable Outside</a:t>
            </a:r>
          </a:p>
        </p:txBody>
      </p:sp>
      <p:sp>
        <p:nvSpPr>
          <p:cNvPr id="8" name="Rounded Rectangle 7">
            <a:extLst xmlns:a="http://schemas.openxmlformats.org/drawingml/2006/main">
              <a:ext uri="{FF2B5EF4-FFF2-40B4-BE49-F238E27FC236}">
                <a16:creationId xmlns:a16="http://schemas.microsoft.com/office/drawing/2014/main" id="{73BCFF33-0D2C-46EE-876E-C322919943BC}"/>
              </a:ext>
            </a:extLst>
          </p:cNvPr>
          <p:cNvSpPr>
            <a:spLocks xmlns:a="http://schemas.openxmlformats.org/drawingml/2006/main" noGrp="1"/>
          </p:cNvSpPr>
          <p:nvPr/>
        </p:nvSpPr>
        <p:spPr>
          <a:xfrm xmlns:a="http://schemas.openxmlformats.org/drawingml/2006/main">
            <a:off x="685800" y="1828800"/>
            <a:ext cx="3547872" cy="3977639"/>
          </a:xfrm>
          <a:prstGeom xmlns:a="http://schemas.openxmlformats.org/drawingml/2006/main" prst="roundRect">
            <a:avLst>
              <a:gd name="adj" fmla="val 5000"/>
            </a:avLst>
          </a:prstGeom>
          <a:solidFill xmlns:a="http://schemas.openxmlformats.org/drawingml/2006/main">
            <a:srgbClr val="FAF1D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0C65B9B4-FF6A-440A-BAEF-21B0C160CFD5}"/>
              </a:ext>
            </a:extLst>
          </p:cNvPr>
          <p:cNvSpPr>
            <a:spLocks xmlns:a="http://schemas.openxmlformats.org/drawingml/2006/main" noGrp="1"/>
          </p:cNvSpPr>
          <p:nvPr/>
        </p:nvSpPr>
        <p:spPr>
          <a:xfrm xmlns:a="http://schemas.openxmlformats.org/drawingml/2006/main">
            <a:off x="905256" y="199339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95000"/>
              </a:lnSpc>
              <a:spcBef>
                <a:spcPts val="0"/>
              </a:spcBef>
              <a:spcAft>
                <a:spcPts val="400"/>
              </a:spcAft>
              <a:buNone/>
            </a:pPr>
            <a:r>
              <a:rPr sz="1500" b="1" i="0">
                <a:solidFill>
                  <a:srgbClr val="9A6414"/>
                </a:solidFill>
                <a:latin typeface="Cambria"/>
                <a:ea typeface="Cambria"/>
                <a:cs typeface="Cambria"/>
              </a:rPr>
              <a:t>Madhyasth Darshan</a:t>
            </a:r>
          </a:p>
        </p:txBody>
      </p:sp>
      <p:sp>
        <p:nvSpPr>
          <p:cNvPr id="10" name="TextBox 9">
            <a:extLst xmlns:a="http://schemas.openxmlformats.org/drawingml/2006/main">
              <a:ext uri="{FF2B5EF4-FFF2-40B4-BE49-F238E27FC236}">
                <a16:creationId xmlns:a16="http://schemas.microsoft.com/office/drawing/2014/main" id="{330DE4FE-6DB9-4878-9252-009B5F793ECB}"/>
              </a:ext>
            </a:extLst>
          </p:cNvPr>
          <p:cNvSpPr>
            <a:spLocks xmlns:a="http://schemas.openxmlformats.org/drawingml/2006/main" noGrp="1"/>
          </p:cNvSpPr>
          <p:nvPr/>
        </p:nvSpPr>
        <p:spPr>
          <a:xfrm xmlns:a="http://schemas.openxmlformats.org/drawingml/2006/main">
            <a:off x="905256" y="2697480"/>
            <a:ext cx="310896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9A6414"/>
                </a:solidFill>
                <a:latin typeface="Calibri"/>
                <a:ea typeface="Calibri"/>
                <a:cs typeface="Calibri"/>
              </a:rPr>
              <a:t>Integrates self, value, conduct, and nature in one system; offers a public-facing ideal of verification.</a:t>
            </a:r>
          </a:p>
        </p:txBody>
      </p:sp>
      <p:sp>
        <p:nvSpPr>
          <p:cNvPr id="11" name="TextBox 10">
            <a:extLst xmlns:a="http://schemas.openxmlformats.org/drawingml/2006/main">
              <a:ext uri="{FF2B5EF4-FFF2-40B4-BE49-F238E27FC236}">
                <a16:creationId xmlns:a16="http://schemas.microsoft.com/office/drawing/2014/main" id="{D4A0F09C-559E-443C-A89F-A78E19C15EEE}"/>
              </a:ext>
            </a:extLst>
          </p:cNvPr>
          <p:cNvSpPr>
            <a:spLocks xmlns:a="http://schemas.openxmlformats.org/drawingml/2006/main" noGrp="1"/>
          </p:cNvSpPr>
          <p:nvPr/>
        </p:nvSpPr>
        <p:spPr>
          <a:xfrm xmlns:a="http://schemas.openxmlformats.org/drawingml/2006/main">
            <a:off x="905256" y="4160520"/>
            <a:ext cx="31089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C9821E"/>
                </a:solidFill>
                <a:latin typeface="Calibri"/>
                <a:ea typeface="Calibri"/>
                <a:cs typeface="Calibri"/>
              </a:rPr>
              <a:t>Atomic transition, latency, post-death continuity, and body–jeevan causation lack independent, discriminating evidence.</a:t>
            </a:r>
          </a:p>
        </p:txBody>
      </p:sp>
      <p:sp>
        <p:nvSpPr>
          <p:cNvPr id="12" name="Rounded Rectangle 11">
            <a:extLst xmlns:a="http://schemas.openxmlformats.org/drawingml/2006/main">
              <a:ext uri="{FF2B5EF4-FFF2-40B4-BE49-F238E27FC236}">
                <a16:creationId xmlns:a16="http://schemas.microsoft.com/office/drawing/2014/main" id="{16489B64-6767-437F-BE25-64CEF6F0B5DE}"/>
              </a:ext>
            </a:extLst>
          </p:cNvPr>
          <p:cNvSpPr>
            <a:spLocks xmlns:a="http://schemas.openxmlformats.org/drawingml/2006/main" noGrp="1"/>
          </p:cNvSpPr>
          <p:nvPr/>
        </p:nvSpPr>
        <p:spPr>
          <a:xfrm xmlns:a="http://schemas.openxmlformats.org/drawingml/2006/main">
            <a:off x="4325112" y="1828800"/>
            <a:ext cx="3547872" cy="3977639"/>
          </a:xfrm>
          <a:prstGeom xmlns:a="http://schemas.openxmlformats.org/drawingml/2006/main" prst="roundRect">
            <a:avLst>
              <a:gd name="adj" fmla="val 5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61AF59A2-C0EF-41D6-8CCD-5A035E4B3270}"/>
              </a:ext>
            </a:extLst>
          </p:cNvPr>
          <p:cNvSpPr>
            <a:spLocks xmlns:a="http://schemas.openxmlformats.org/drawingml/2006/main" noGrp="1"/>
          </p:cNvSpPr>
          <p:nvPr/>
        </p:nvSpPr>
        <p:spPr>
          <a:xfrm xmlns:a="http://schemas.openxmlformats.org/drawingml/2006/main">
            <a:off x="4544568" y="199339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95000"/>
              </a:lnSpc>
              <a:spcBef>
                <a:spcPts val="0"/>
              </a:spcBef>
              <a:spcAft>
                <a:spcPts val="400"/>
              </a:spcAft>
              <a:buNone/>
            </a:pPr>
            <a:r>
              <a:rPr sz="1500" b="1" i="0">
                <a:solidFill>
                  <a:srgbClr val="1E2447"/>
                </a:solidFill>
                <a:latin typeface="Cambria"/>
                <a:ea typeface="Cambria"/>
                <a:cs typeface="Cambria"/>
              </a:rPr>
              <a:t>Scientific materialism</a:t>
            </a:r>
          </a:p>
        </p:txBody>
      </p:sp>
      <p:sp>
        <p:nvSpPr>
          <p:cNvPr id="14" name="TextBox 13">
            <a:extLst xmlns:a="http://schemas.openxmlformats.org/drawingml/2006/main">
              <a:ext uri="{FF2B5EF4-FFF2-40B4-BE49-F238E27FC236}">
                <a16:creationId xmlns:a16="http://schemas.microsoft.com/office/drawing/2014/main" id="{785EDD1C-59A4-4814-B6B8-ACA32D828DDB}"/>
              </a:ext>
            </a:extLst>
          </p:cNvPr>
          <p:cNvSpPr>
            <a:spLocks xmlns:a="http://schemas.openxmlformats.org/drawingml/2006/main" noGrp="1"/>
          </p:cNvSpPr>
          <p:nvPr/>
        </p:nvSpPr>
        <p:spPr>
          <a:xfrm xmlns:a="http://schemas.openxmlformats.org/drawingml/2006/main">
            <a:off x="4544568" y="2697480"/>
            <a:ext cx="310896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1E2447"/>
                </a:solidFill>
                <a:latin typeface="Calibri"/>
                <a:ea typeface="Calibri"/>
                <a:cs typeface="Calibri"/>
              </a:rPr>
              <a:t>Best-supported account of brain–mind dependence; precise, cumulative public methods.</a:t>
            </a:r>
          </a:p>
        </p:txBody>
      </p:sp>
      <p:sp>
        <p:nvSpPr>
          <p:cNvPr id="15" name="TextBox 14">
            <a:extLst xmlns:a="http://schemas.openxmlformats.org/drawingml/2006/main">
              <a:ext uri="{FF2B5EF4-FFF2-40B4-BE49-F238E27FC236}">
                <a16:creationId xmlns:a16="http://schemas.microsoft.com/office/drawing/2014/main" id="{7A8A7F1A-A804-46B1-9CF5-8F7ACF4193BE}"/>
              </a:ext>
            </a:extLst>
          </p:cNvPr>
          <p:cNvSpPr>
            <a:spLocks xmlns:a="http://schemas.openxmlformats.org/drawingml/2006/main" noGrp="1"/>
          </p:cNvSpPr>
          <p:nvPr/>
        </p:nvSpPr>
        <p:spPr>
          <a:xfrm xmlns:a="http://schemas.openxmlformats.org/drawingml/2006/main">
            <a:off x="4544568" y="4160520"/>
            <a:ext cx="31089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C9821E"/>
                </a:solidFill>
                <a:latin typeface="Calibri"/>
                <a:ea typeface="Calibri"/>
                <a:cs typeface="Calibri"/>
              </a:rPr>
              <a:t>Reduction from physical process to subjectivity, normativity, and agency remains unfinished; closure is often assumed rather than measured.</a:t>
            </a:r>
          </a:p>
        </p:txBody>
      </p:sp>
      <p:sp>
        <p:nvSpPr>
          <p:cNvPr id="16" name="Rounded Rectangle 15">
            <a:extLst xmlns:a="http://schemas.openxmlformats.org/drawingml/2006/main">
              <a:ext uri="{FF2B5EF4-FFF2-40B4-BE49-F238E27FC236}">
                <a16:creationId xmlns:a16="http://schemas.microsoft.com/office/drawing/2014/main" id="{E0DCB99D-10C8-44C7-8E49-96A2F20DCE03}"/>
              </a:ext>
            </a:extLst>
          </p:cNvPr>
          <p:cNvSpPr>
            <a:spLocks xmlns:a="http://schemas.openxmlformats.org/drawingml/2006/main" noGrp="1"/>
          </p:cNvSpPr>
          <p:nvPr/>
        </p:nvSpPr>
        <p:spPr>
          <a:xfrm xmlns:a="http://schemas.openxmlformats.org/drawingml/2006/main">
            <a:off x="7964424" y="1828800"/>
            <a:ext cx="3547872" cy="3977639"/>
          </a:xfrm>
          <a:prstGeom xmlns:a="http://schemas.openxmlformats.org/drawingml/2006/main" prst="roundRect">
            <a:avLst>
              <a:gd name="adj" fmla="val 5000"/>
            </a:avLst>
          </a:prstGeom>
          <a:solidFill xmlns:a="http://schemas.openxmlformats.org/drawingml/2006/main">
            <a:srgbClr val="EEF1F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3380E8B1-4440-4556-AE99-8B359CF9BE02}"/>
              </a:ext>
            </a:extLst>
          </p:cNvPr>
          <p:cNvSpPr>
            <a:spLocks xmlns:a="http://schemas.openxmlformats.org/drawingml/2006/main" noGrp="1"/>
          </p:cNvSpPr>
          <p:nvPr/>
        </p:nvSpPr>
        <p:spPr>
          <a:xfrm xmlns:a="http://schemas.openxmlformats.org/drawingml/2006/main">
            <a:off x="8183880" y="1993392"/>
            <a:ext cx="31089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95000"/>
              </a:lnSpc>
              <a:spcBef>
                <a:spcPts val="0"/>
              </a:spcBef>
              <a:spcAft>
                <a:spcPts val="400"/>
              </a:spcAft>
              <a:buNone/>
            </a:pPr>
            <a:r>
              <a:rPr sz="1500" b="1" i="0">
                <a:solidFill>
                  <a:srgbClr val="1E2447"/>
                </a:solidFill>
                <a:latin typeface="Cambria"/>
                <a:ea typeface="Cambria"/>
                <a:cs typeface="Cambria"/>
              </a:rPr>
              <a:t>Advaita Vedanta</a:t>
            </a:r>
          </a:p>
        </p:txBody>
      </p:sp>
      <p:sp>
        <p:nvSpPr>
          <p:cNvPr id="18" name="TextBox 17">
            <a:extLst xmlns:a="http://schemas.openxmlformats.org/drawingml/2006/main">
              <a:ext uri="{FF2B5EF4-FFF2-40B4-BE49-F238E27FC236}">
                <a16:creationId xmlns:a16="http://schemas.microsoft.com/office/drawing/2014/main" id="{303CA3E0-94AC-4654-BCD7-58523C6C0200}"/>
              </a:ext>
            </a:extLst>
          </p:cNvPr>
          <p:cNvSpPr>
            <a:spLocks xmlns:a="http://schemas.openxmlformats.org/drawingml/2006/main" noGrp="1"/>
          </p:cNvSpPr>
          <p:nvPr/>
        </p:nvSpPr>
        <p:spPr>
          <a:xfrm xmlns:a="http://schemas.openxmlformats.org/drawingml/2006/main">
            <a:off x="8183880" y="2697480"/>
            <a:ext cx="310896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1E2447"/>
                </a:solidFill>
                <a:latin typeface="Calibri"/>
                <a:ea typeface="Calibri"/>
                <a:cs typeface="Calibri"/>
              </a:rPr>
              <a:t>Powerful analysis of witness and content; mature discipline of inquiry, ethics, and contemplative practice.</a:t>
            </a:r>
          </a:p>
        </p:txBody>
      </p:sp>
      <p:sp>
        <p:nvSpPr>
          <p:cNvPr id="19" name="TextBox 18">
            <a:extLst xmlns:a="http://schemas.openxmlformats.org/drawingml/2006/main">
              <a:ext uri="{FF2B5EF4-FFF2-40B4-BE49-F238E27FC236}">
                <a16:creationId xmlns:a16="http://schemas.microsoft.com/office/drawing/2014/main" id="{30D791B2-C92E-4D23-8959-5A16D0DC1AC2}"/>
              </a:ext>
            </a:extLst>
          </p:cNvPr>
          <p:cNvSpPr>
            <a:spLocks xmlns:a="http://schemas.openxmlformats.org/drawingml/2006/main" noGrp="1"/>
          </p:cNvSpPr>
          <p:nvPr/>
        </p:nvSpPr>
        <p:spPr>
          <a:xfrm xmlns:a="http://schemas.openxmlformats.org/drawingml/2006/main">
            <a:off x="8183880" y="4160520"/>
            <a:ext cx="3108960"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150" b="1" i="0">
                <a:solidFill>
                  <a:srgbClr val="C9821E"/>
                </a:solidFill>
                <a:latin typeface="Calibri"/>
                <a:ea typeface="Calibri"/>
                <a:cs typeface="Calibri"/>
              </a:rPr>
              <a:t>Introspection does not by itself establish Brahman or nonduality; empirical plurality and suffering must not be rhetorically erased.</a:t>
            </a:r>
          </a:p>
        </p:txBody>
      </p:sp>
      <p:sp>
        <p:nvSpPr>
          <p:cNvPr id="20" name="TextBox 19">
            <a:extLst xmlns:a="http://schemas.openxmlformats.org/drawingml/2006/main">
              <a:ext uri="{FF2B5EF4-FFF2-40B4-BE49-F238E27FC236}">
                <a16:creationId xmlns:a16="http://schemas.microsoft.com/office/drawing/2014/main" id="{644B80B2-FB51-4396-80CF-2D4F0C53DFF1}"/>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No view wins by identifying another’s gap; each must support its own positive inference.</a:t>
            </a:r>
          </a:p>
        </p:txBody>
      </p:sp>
    </p:spTree>
    <p:extLst>
      <p:ext uri="{BB962C8B-B14F-4D97-AF65-F5344CB8AC3E}">
        <p14:creationId xmlns:p14="http://schemas.microsoft.com/office/powerpoint/2010/main" val="183119003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21F3E5C8-0154-4DC2-AEA4-4DCCDD0392C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FFFF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5DCB7A04-90D8-4BBE-9AD5-F4B0435F7144}"/>
              </a:ext>
            </a:extLst>
          </p:cNvPr>
          <p:cNvSpPr>
            <a:spLocks xmlns:a="http://schemas.openxmlformats.org/drawingml/2006/main" noGrp="1"/>
          </p:cNvSpPr>
          <p:nvPr/>
        </p:nvSpPr>
        <p:spPr>
          <a:xfrm xmlns:a="http://schemas.openxmlformats.org/drawingml/2006/main">
            <a:off x="654253" y="507949"/>
            <a:ext cx="483717" cy="483717"/>
          </a:xfrm>
          <a:prstGeom xmlns:a="http://schemas.openxmlformats.org/drawingml/2006/main" prst="ellipse">
            <a:avLst/>
          </a:prstGeom>
          <a:noFill xmlns:a="http://schemas.openxmlformats.org/drawingml/2006/main"/>
          <a:ln xmlns:a="http://schemas.openxmlformats.org/drawingml/2006/main" w="23368">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88C730EF-F06E-4AC2-AA8C-2BE26A0BAE2B}"/>
              </a:ext>
            </a:extLst>
          </p:cNvPr>
          <p:cNvSpPr>
            <a:spLocks xmlns:a="http://schemas.openxmlformats.org/drawingml/2006/main" noGrp="1"/>
          </p:cNvSpPr>
          <p:nvPr/>
        </p:nvSpPr>
        <p:spPr>
          <a:xfrm xmlns:a="http://schemas.openxmlformats.org/drawingml/2006/main">
            <a:off x="754151" y="607847"/>
            <a:ext cx="283921" cy="283921"/>
          </a:xfrm>
          <a:prstGeom xmlns:a="http://schemas.openxmlformats.org/drawingml/2006/main" prst="ellipse">
            <a:avLst/>
          </a:prstGeom>
          <a:noFill xmlns:a="http://schemas.openxmlformats.org/drawingml/2006/main"/>
          <a:ln xmlns:a="http://schemas.openxmlformats.org/drawingml/2006/main" w="20447">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01051BD0-EC5A-40F5-8A17-DD8E5EA58C31}"/>
              </a:ext>
            </a:extLst>
          </p:cNvPr>
          <p:cNvSpPr>
            <a:spLocks xmlns:a="http://schemas.openxmlformats.org/drawingml/2006/main" noGrp="1"/>
          </p:cNvSpPr>
          <p:nvPr/>
        </p:nvSpPr>
        <p:spPr>
          <a:xfrm xmlns:a="http://schemas.openxmlformats.org/drawingml/2006/main">
            <a:off x="833018" y="686714"/>
            <a:ext cx="126187" cy="126187"/>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2C996CF-CA48-4048-A3BB-0455ACC9750B}"/>
              </a:ext>
            </a:extLst>
          </p:cNvPr>
          <p:cNvSpPr>
            <a:spLocks xmlns:a="http://schemas.openxmlformats.org/drawingml/2006/main" noGrp="1"/>
          </p:cNvSpPr>
          <p:nvPr/>
        </p:nvSpPr>
        <p:spPr>
          <a:xfrm xmlns:a="http://schemas.openxmlformats.org/drawingml/2006/main">
            <a:off x="1325880" y="457200"/>
            <a:ext cx="104241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1" i="0">
                <a:solidFill>
                  <a:srgbClr val="C9821E"/>
                </a:solidFill>
                <a:latin typeface="Calibri"/>
                <a:ea typeface="Calibri"/>
                <a:cs typeface="Calibri"/>
              </a:rPr>
              <a:t>THE BOTTOM LINE</a:t>
            </a:r>
          </a:p>
        </p:txBody>
      </p:sp>
      <p:sp>
        <p:nvSpPr>
          <p:cNvPr id="7" name="TextBox 6">
            <a:extLst xmlns:a="http://schemas.openxmlformats.org/drawingml/2006/main">
              <a:ext uri="{FF2B5EF4-FFF2-40B4-BE49-F238E27FC236}">
                <a16:creationId xmlns:a16="http://schemas.microsoft.com/office/drawing/2014/main" id="{899AD1B7-ECF0-4BE6-ABEB-C78E1FA6E249}"/>
              </a:ext>
            </a:extLst>
          </p:cNvPr>
          <p:cNvSpPr>
            <a:spLocks xmlns:a="http://schemas.openxmlformats.org/drawingml/2006/main" noGrp="1"/>
          </p:cNvSpPr>
          <p:nvPr/>
        </p:nvSpPr>
        <p:spPr>
          <a:xfrm xmlns:a="http://schemas.openxmlformats.org/drawingml/2006/main">
            <a:off x="1280160" y="676656"/>
            <a:ext cx="1051560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000" b="1" i="0">
                <a:solidFill>
                  <a:srgbClr val="1E2447"/>
                </a:solidFill>
                <a:latin typeface="Cambria"/>
                <a:ea typeface="Cambria"/>
                <a:cs typeface="Cambria"/>
              </a:rPr>
              <a:t>What Evidence Could Change the Balance?</a:t>
            </a:r>
          </a:p>
        </p:txBody>
      </p:sp>
      <p:sp>
        <p:nvSpPr>
          <p:cNvPr id="8" name="TextBox 7">
            <a:extLst xmlns:a="http://schemas.openxmlformats.org/drawingml/2006/main">
              <a:ext uri="{FF2B5EF4-FFF2-40B4-BE49-F238E27FC236}">
                <a16:creationId xmlns:a16="http://schemas.microsoft.com/office/drawing/2014/main" id="{DC34C9BE-1C97-497B-A327-05B5A7FDF65F}"/>
              </a:ext>
            </a:extLst>
          </p:cNvPr>
          <p:cNvSpPr>
            <a:spLocks xmlns:a="http://schemas.openxmlformats.org/drawingml/2006/main" noGrp="1"/>
          </p:cNvSpPr>
          <p:nvPr/>
        </p:nvSpPr>
        <p:spPr>
          <a:xfrm xmlns:a="http://schemas.openxmlformats.org/drawingml/2006/main">
            <a:off x="685800" y="1783080"/>
            <a:ext cx="1078992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5000"/>
              </a:lnSpc>
              <a:spcBef>
                <a:spcPts val="0"/>
              </a:spcBef>
              <a:spcAft>
                <a:spcPts val="400"/>
              </a:spcAft>
              <a:buNone/>
            </a:pPr>
            <a:r>
              <a:rPr sz="1450" b="0" i="0">
                <a:solidFill>
                  <a:srgbClr val="5A6377"/>
                </a:solidFill>
                <a:latin typeface="Calibri"/>
                <a:ea typeface="Calibri"/>
                <a:cs typeface="Calibri"/>
              </a:rPr>
              <a:t>The three views make claims at different levels. A fair test must target the claim it can actually bear on.</a:t>
            </a:r>
          </a:p>
        </p:txBody>
      </p:sp>
      <p:sp>
        <p:nvSpPr>
          <p:cNvPr id="9" name="TextBox 8">
            <a:extLst xmlns:a="http://schemas.openxmlformats.org/drawingml/2006/main">
              <a:ext uri="{FF2B5EF4-FFF2-40B4-BE49-F238E27FC236}">
                <a16:creationId xmlns:a16="http://schemas.microsoft.com/office/drawing/2014/main" id="{0D4B7824-97A8-4D63-905D-EE5EF2FF0C7E}"/>
              </a:ext>
            </a:extLst>
          </p:cNvPr>
          <p:cNvSpPr>
            <a:spLocks xmlns:a="http://schemas.openxmlformats.org/drawingml/2006/main" noGrp="1"/>
          </p:cNvSpPr>
          <p:nvPr/>
        </p:nvSpPr>
        <p:spPr>
          <a:xfrm xmlns:a="http://schemas.openxmlformats.org/drawingml/2006/main">
            <a:off x="685800" y="3566160"/>
            <a:ext cx="10789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400" b="1" i="0">
                <a:solidFill>
                  <a:srgbClr val="1E2447"/>
                </a:solidFill>
                <a:latin typeface="Calibri"/>
                <a:ea typeface="Calibri"/>
                <a:cs typeface="Calibri"/>
              </a:rPr>
              <a:t>What would actually move the debate:</a:t>
            </a:r>
          </a:p>
        </p:txBody>
      </p:sp>
      <p:sp>
        <p:nvSpPr>
          <p:cNvPr id="10" name="Oval 9">
            <a:extLst xmlns:a="http://schemas.openxmlformats.org/drawingml/2006/main">
              <a:ext uri="{FF2B5EF4-FFF2-40B4-BE49-F238E27FC236}">
                <a16:creationId xmlns:a16="http://schemas.microsoft.com/office/drawing/2014/main" id="{D9D9E888-B255-4324-99FF-DBC43564E3CA}"/>
              </a:ext>
            </a:extLst>
          </p:cNvPr>
          <p:cNvSpPr>
            <a:spLocks xmlns:a="http://schemas.openxmlformats.org/drawingml/2006/main" noGrp="1"/>
          </p:cNvSpPr>
          <p:nvPr/>
        </p:nvSpPr>
        <p:spPr>
          <a:xfrm xmlns:a="http://schemas.openxmlformats.org/drawingml/2006/main">
            <a:off x="841248" y="412394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6D01EDE9-BCFA-45A7-BD9D-4D519E77D565}"/>
              </a:ext>
            </a:extLst>
          </p:cNvPr>
          <p:cNvSpPr>
            <a:spLocks xmlns:a="http://schemas.openxmlformats.org/drawingml/2006/main" noGrp="1"/>
          </p:cNvSpPr>
          <p:nvPr/>
        </p:nvSpPr>
        <p:spPr>
          <a:xfrm xmlns:a="http://schemas.openxmlformats.org/drawingml/2006/main">
            <a:off x="1188720" y="402336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Neural sufficiency</a:t>
            </a:r>
          </a:p>
        </p:txBody>
      </p:sp>
      <p:sp>
        <p:nvSpPr>
          <p:cNvPr id="12" name="TextBox 11">
            <a:extLst xmlns:a="http://schemas.openxmlformats.org/drawingml/2006/main">
              <a:ext uri="{FF2B5EF4-FFF2-40B4-BE49-F238E27FC236}">
                <a16:creationId xmlns:a16="http://schemas.microsoft.com/office/drawing/2014/main" id="{2F52F37F-3E79-430D-A81A-A87071B2C6CE}"/>
              </a:ext>
            </a:extLst>
          </p:cNvPr>
          <p:cNvSpPr>
            <a:spLocks xmlns:a="http://schemas.openxmlformats.org/drawingml/2006/main" noGrp="1"/>
          </p:cNvSpPr>
          <p:nvPr/>
        </p:nvSpPr>
        <p:spPr>
          <a:xfrm xmlns:a="http://schemas.openxmlformats.org/drawingml/2006/main">
            <a:off x="5669280" y="4041648"/>
            <a:ext cx="5760720" cy="5994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If controlled neural models predict conscious report, learning, and agency without residue, the motivation for jeevan weakens—but metaphysical identity still does not follow automatically.</a:t>
            </a:r>
          </a:p>
        </p:txBody>
      </p:sp>
      <p:sp>
        <p:nvSpPr>
          <p:cNvPr id="13" name="Oval 12">
            <a:extLst xmlns:a="http://schemas.openxmlformats.org/drawingml/2006/main">
              <a:ext uri="{FF2B5EF4-FFF2-40B4-BE49-F238E27FC236}">
                <a16:creationId xmlns:a16="http://schemas.microsoft.com/office/drawing/2014/main" id="{45E6E29B-0F8F-4CA0-B3A1-C921946A8276}"/>
              </a:ext>
            </a:extLst>
          </p:cNvPr>
          <p:cNvSpPr>
            <a:spLocks xmlns:a="http://schemas.openxmlformats.org/drawingml/2006/main" noGrp="1"/>
          </p:cNvSpPr>
          <p:nvPr/>
        </p:nvSpPr>
        <p:spPr>
          <a:xfrm xmlns:a="http://schemas.openxmlformats.org/drawingml/2006/main">
            <a:off x="841248" y="462686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BB0B3205-4432-46AD-BEE7-C1820E5C1E9D}"/>
              </a:ext>
            </a:extLst>
          </p:cNvPr>
          <p:cNvSpPr>
            <a:spLocks xmlns:a="http://schemas.openxmlformats.org/drawingml/2006/main" noGrp="1"/>
          </p:cNvSpPr>
          <p:nvPr/>
        </p:nvSpPr>
        <p:spPr>
          <a:xfrm xmlns:a="http://schemas.openxmlformats.org/drawingml/2006/main">
            <a:off x="1188720" y="452628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Distinct jeevan effects</a:t>
            </a:r>
          </a:p>
        </p:txBody>
      </p:sp>
      <p:sp>
        <p:nvSpPr>
          <p:cNvPr id="15" name="TextBox 14">
            <a:extLst xmlns:a="http://schemas.openxmlformats.org/drawingml/2006/main">
              <a:ext uri="{FF2B5EF4-FFF2-40B4-BE49-F238E27FC236}">
                <a16:creationId xmlns:a16="http://schemas.microsoft.com/office/drawing/2014/main" id="{BDEC5CE2-AD4B-4194-B8B8-3002D656A739}"/>
              </a:ext>
            </a:extLst>
          </p:cNvPr>
          <p:cNvSpPr>
            <a:spLocks xmlns:a="http://schemas.openxmlformats.org/drawingml/2006/main" noGrp="1"/>
          </p:cNvSpPr>
          <p:nvPr/>
        </p:nvSpPr>
        <p:spPr>
          <a:xfrm xmlns:a="http://schemas.openxmlformats.org/drawingml/2006/main">
            <a:off x="5669280" y="4544568"/>
            <a:ext cx="5760720" cy="416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Reliable effects that require the body–jeevan model and resist neural or psychological alternatives would strengthen MD. Mere correlation with practice would not.</a:t>
            </a:r>
          </a:p>
        </p:txBody>
      </p:sp>
      <p:sp>
        <p:nvSpPr>
          <p:cNvPr id="16" name="Oval 15">
            <a:extLst xmlns:a="http://schemas.openxmlformats.org/drawingml/2006/main">
              <a:ext uri="{FF2B5EF4-FFF2-40B4-BE49-F238E27FC236}">
                <a16:creationId xmlns:a16="http://schemas.microsoft.com/office/drawing/2014/main" id="{83904A9B-4998-42B8-898E-4B0CF16F8EA6}"/>
              </a:ext>
            </a:extLst>
          </p:cNvPr>
          <p:cNvSpPr>
            <a:spLocks xmlns:a="http://schemas.openxmlformats.org/drawingml/2006/main" noGrp="1"/>
          </p:cNvSpPr>
          <p:nvPr/>
        </p:nvSpPr>
        <p:spPr>
          <a:xfrm xmlns:a="http://schemas.openxmlformats.org/drawingml/2006/main">
            <a:off x="841248" y="5129784"/>
            <a:ext cx="146304" cy="146304"/>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TextBox 16">
            <a:extLst xmlns:a="http://schemas.openxmlformats.org/drawingml/2006/main">
              <a:ext uri="{FF2B5EF4-FFF2-40B4-BE49-F238E27FC236}">
                <a16:creationId xmlns:a16="http://schemas.microsoft.com/office/drawing/2014/main" id="{CA8EF87C-1590-4A35-B9DF-368B02E5C8BC}"/>
              </a:ext>
            </a:extLst>
          </p:cNvPr>
          <p:cNvSpPr>
            <a:spLocks xmlns:a="http://schemas.openxmlformats.org/drawingml/2006/main" noGrp="1"/>
          </p:cNvSpPr>
          <p:nvPr/>
        </p:nvSpPr>
        <p:spPr>
          <a:xfrm xmlns:a="http://schemas.openxmlformats.org/drawingml/2006/main">
            <a:off x="1188720" y="5029200"/>
            <a:ext cx="44805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1E2447"/>
                </a:solidFill>
                <a:latin typeface="Cambria"/>
                <a:ea typeface="Cambria"/>
                <a:cs typeface="Cambria"/>
              </a:rPr>
              <a:t>Advaita’s inference</a:t>
            </a:r>
          </a:p>
        </p:txBody>
      </p:sp>
      <p:sp>
        <p:nvSpPr>
          <p:cNvPr id="18" name="TextBox 17">
            <a:extLst xmlns:a="http://schemas.openxmlformats.org/drawingml/2006/main">
              <a:ext uri="{FF2B5EF4-FFF2-40B4-BE49-F238E27FC236}">
                <a16:creationId xmlns:a16="http://schemas.microsoft.com/office/drawing/2014/main" id="{1FB8DC88-F0DD-4784-967B-8D27B21DE5BA}"/>
              </a:ext>
            </a:extLst>
          </p:cNvPr>
          <p:cNvSpPr>
            <a:spLocks xmlns:a="http://schemas.openxmlformats.org/drawingml/2006/main" noGrp="1"/>
          </p:cNvSpPr>
          <p:nvPr/>
        </p:nvSpPr>
        <p:spPr>
          <a:xfrm xmlns:a="http://schemas.openxmlformats.org/drawingml/2006/main">
            <a:off x="5669280" y="5047488"/>
            <a:ext cx="5760720" cy="4165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200" b="0" i="0">
                <a:solidFill>
                  <a:srgbClr val="5A6377"/>
                </a:solidFill>
                <a:latin typeface="Calibri"/>
                <a:ea typeface="Calibri"/>
                <a:cs typeface="Calibri"/>
              </a:rPr>
              <a:t>Contemplative reports can test reproducibility and transformation; establishing nondual Brahman additionally requires philosophical warrant.</a:t>
            </a:r>
          </a:p>
        </p:txBody>
      </p:sp>
      <p:sp>
        <p:nvSpPr>
          <p:cNvPr id="19" name="Rounded Rectangle 18">
            <a:extLst xmlns:a="http://schemas.openxmlformats.org/drawingml/2006/main">
              <a:ext uri="{FF2B5EF4-FFF2-40B4-BE49-F238E27FC236}">
                <a16:creationId xmlns:a16="http://schemas.microsoft.com/office/drawing/2014/main" id="{F0951DF4-D8DC-425B-AB1F-8F8517FB331B}"/>
              </a:ext>
            </a:extLst>
          </p:cNvPr>
          <p:cNvSpPr>
            <a:spLocks xmlns:a="http://schemas.openxmlformats.org/drawingml/2006/main" noGrp="1"/>
          </p:cNvSpPr>
          <p:nvPr/>
        </p:nvSpPr>
        <p:spPr>
          <a:xfrm xmlns:a="http://schemas.openxmlformats.org/drawingml/2006/main">
            <a:off x="685800" y="5623560"/>
            <a:ext cx="10817352" cy="640080"/>
          </a:xfrm>
          <a:prstGeom xmlns:a="http://schemas.openxmlformats.org/drawingml/2006/main" prst="roundRect">
            <a:avLst>
              <a:gd name="adj" fmla="val 12000"/>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0" name="TextBox 19">
            <a:extLst xmlns:a="http://schemas.openxmlformats.org/drawingml/2006/main">
              <a:ext uri="{FF2B5EF4-FFF2-40B4-BE49-F238E27FC236}">
                <a16:creationId xmlns:a16="http://schemas.microsoft.com/office/drawing/2014/main" id="{1AFB38B0-66DE-4AB4-80C8-AD6B0E53A9AC}"/>
              </a:ext>
            </a:extLst>
          </p:cNvPr>
          <p:cNvSpPr>
            <a:spLocks xmlns:a="http://schemas.openxmlformats.org/drawingml/2006/main" noGrp="1"/>
          </p:cNvSpPr>
          <p:nvPr/>
        </p:nvSpPr>
        <p:spPr>
          <a:xfrm xmlns:a="http://schemas.openxmlformats.org/drawingml/2006/main">
            <a:off x="1005840" y="5623560"/>
            <a:ext cx="10177272"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spAutoFit/>
          </a:bodyPr>
          <a:lstStyle xmlns:a="http://schemas.openxmlformats.org/drawingml/2006/main"/>
          <a:p xmlns:a="http://schemas.openxmlformats.org/drawingml/2006/main">
            <a:pPr algn="l">
              <a:lnSpc>
                <a:spcPct val="105000"/>
              </a:lnSpc>
              <a:spcBef>
                <a:spcPts val="0"/>
              </a:spcBef>
              <a:spcAft>
                <a:spcPts val="400"/>
              </a:spcAft>
              <a:buNone/>
            </a:pPr>
            <a:r>
              <a:rPr sz="1450" b="1" i="0">
                <a:solidFill>
                  <a:srgbClr val="FFFFFF"/>
                </a:solidFill>
                <a:latin typeface="Calibri"/>
                <a:ea typeface="Calibri"/>
                <a:cs typeface="Calibri"/>
              </a:rPr>
              <a:t>Each result should update only the claim it addresses. No single anomaly or successful mechanism settles every metaphysical question.</a:t>
            </a:r>
          </a:p>
        </p:txBody>
      </p:sp>
      <p:sp>
        <p:nvSpPr>
          <p:cNvPr id="21" name="TextBox 20">
            <a:extLst xmlns:a="http://schemas.openxmlformats.org/drawingml/2006/main">
              <a:ext uri="{FF2B5EF4-FFF2-40B4-BE49-F238E27FC236}">
                <a16:creationId xmlns:a16="http://schemas.microsoft.com/office/drawing/2014/main" id="{924576F0-761B-4E47-992C-16E8E5C1BFCA}"/>
              </a:ext>
            </a:extLst>
          </p:cNvPr>
          <p:cNvSpPr>
            <a:spLocks xmlns:a="http://schemas.openxmlformats.org/drawingml/2006/main" noGrp="1"/>
          </p:cNvSpPr>
          <p:nvPr/>
        </p:nvSpPr>
        <p:spPr>
          <a:xfrm xmlns:a="http://schemas.openxmlformats.org/drawingml/2006/main">
            <a:off x="685800" y="6419088"/>
            <a:ext cx="10789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100" b="0" i="1">
                <a:solidFill>
                  <a:srgbClr val="5A6377"/>
                </a:solidFill>
                <a:latin typeface="Calibri"/>
                <a:ea typeface="Calibri"/>
                <a:cs typeface="Calibri"/>
              </a:rPr>
              <a:t>Study §5.4</a:t>
            </a:r>
          </a:p>
        </p:txBody>
      </p:sp>
    </p:spTree>
    <p:extLst>
      <p:ext uri="{BB962C8B-B14F-4D97-AF65-F5344CB8AC3E}">
        <p14:creationId xmlns:p14="http://schemas.microsoft.com/office/powerpoint/2010/main" val="15304326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D4B5B789-593E-4D73-AAA1-92BEC19154C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1E244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Oval 2">
            <a:extLst xmlns:a="http://schemas.openxmlformats.org/drawingml/2006/main">
              <a:ext uri="{FF2B5EF4-FFF2-40B4-BE49-F238E27FC236}">
                <a16:creationId xmlns:a16="http://schemas.microsoft.com/office/drawing/2014/main" id="{C8849384-632A-44DF-B5C1-17EB4ABCC5F0}"/>
              </a:ext>
            </a:extLst>
          </p:cNvPr>
          <p:cNvSpPr>
            <a:spLocks xmlns:a="http://schemas.openxmlformats.org/drawingml/2006/main" noGrp="1"/>
          </p:cNvSpPr>
          <p:nvPr/>
        </p:nvSpPr>
        <p:spPr>
          <a:xfrm xmlns:a="http://schemas.openxmlformats.org/drawingml/2006/main">
            <a:off x="8412480" y="3566160"/>
            <a:ext cx="3291840" cy="3291840"/>
          </a:xfrm>
          <a:prstGeom xmlns:a="http://schemas.openxmlformats.org/drawingml/2006/main" prst="ellipse">
            <a:avLst/>
          </a:prstGeom>
          <a:noFill xmlns:a="http://schemas.openxmlformats.org/drawingml/2006/main"/>
          <a:ln xmlns:a="http://schemas.openxmlformats.org/drawingml/2006/main" w="1524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Oval 3">
            <a:extLst xmlns:a="http://schemas.openxmlformats.org/drawingml/2006/main">
              <a:ext uri="{FF2B5EF4-FFF2-40B4-BE49-F238E27FC236}">
                <a16:creationId xmlns:a16="http://schemas.microsoft.com/office/drawing/2014/main" id="{2E046900-0182-4634-8F85-203C8C31A6E7}"/>
              </a:ext>
            </a:extLst>
          </p:cNvPr>
          <p:cNvSpPr>
            <a:spLocks xmlns:a="http://schemas.openxmlformats.org/drawingml/2006/main" noGrp="1"/>
          </p:cNvSpPr>
          <p:nvPr/>
        </p:nvSpPr>
        <p:spPr>
          <a:xfrm xmlns:a="http://schemas.openxmlformats.org/drawingml/2006/main">
            <a:off x="9144000" y="4297680"/>
            <a:ext cx="1828800" cy="1828800"/>
          </a:xfrm>
          <a:prstGeom xmlns:a="http://schemas.openxmlformats.org/drawingml/2006/main" prst="ellipse">
            <a:avLst/>
          </a:prstGeom>
          <a:noFill xmlns:a="http://schemas.openxmlformats.org/drawingml/2006/main"/>
          <a:ln xmlns:a="http://schemas.openxmlformats.org/drawingml/2006/main" w="12700">
            <a:solidFill>
              <a:srgbClr val="3B4A7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Oval 4">
            <a:extLst xmlns:a="http://schemas.openxmlformats.org/drawingml/2006/main">
              <a:ext uri="{FF2B5EF4-FFF2-40B4-BE49-F238E27FC236}">
                <a16:creationId xmlns:a16="http://schemas.microsoft.com/office/drawing/2014/main" id="{E4E3E34A-A14C-458F-95C3-1B010F27E87C}"/>
              </a:ext>
            </a:extLst>
          </p:cNvPr>
          <p:cNvSpPr>
            <a:spLocks xmlns:a="http://schemas.openxmlformats.org/drawingml/2006/main" noGrp="1"/>
          </p:cNvSpPr>
          <p:nvPr/>
        </p:nvSpPr>
        <p:spPr>
          <a:xfrm xmlns:a="http://schemas.openxmlformats.org/drawingml/2006/main">
            <a:off x="9692640" y="4846320"/>
            <a:ext cx="731520" cy="731520"/>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318BF107-0F9B-4C51-83F5-A317CB6102E7}"/>
              </a:ext>
            </a:extLst>
          </p:cNvPr>
          <p:cNvSpPr>
            <a:spLocks xmlns:a="http://schemas.openxmlformats.org/drawingml/2006/main" noGrp="1"/>
          </p:cNvSpPr>
          <p:nvPr/>
        </p:nvSpPr>
        <p:spPr>
          <a:xfrm xmlns:a="http://schemas.openxmlformats.org/drawingml/2006/main">
            <a:off x="868680" y="128016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300" b="1" i="0">
                <a:solidFill>
                  <a:srgbClr val="C9821E"/>
                </a:solidFill>
                <a:latin typeface="Calibri"/>
                <a:ea typeface="Calibri"/>
                <a:cs typeface="Calibri"/>
              </a:rPr>
              <a:t>WHY HUMANS ARE NOT JUST MATERIAL</a:t>
            </a:r>
          </a:p>
        </p:txBody>
      </p:sp>
      <p:sp>
        <p:nvSpPr>
          <p:cNvPr id="7" name="TextBox 6">
            <a:extLst xmlns:a="http://schemas.openxmlformats.org/drawingml/2006/main">
              <a:ext uri="{FF2B5EF4-FFF2-40B4-BE49-F238E27FC236}">
                <a16:creationId xmlns:a16="http://schemas.microsoft.com/office/drawing/2014/main" id="{2185CCD6-0BBD-4563-B297-8CA2DE9551C4}"/>
              </a:ext>
            </a:extLst>
          </p:cNvPr>
          <p:cNvSpPr>
            <a:spLocks xmlns:a="http://schemas.openxmlformats.org/drawingml/2006/main" noGrp="1"/>
          </p:cNvSpPr>
          <p:nvPr/>
        </p:nvSpPr>
        <p:spPr>
          <a:xfrm xmlns:a="http://schemas.openxmlformats.org/drawingml/2006/main">
            <a:off x="822960" y="1691640"/>
            <a:ext cx="10058400" cy="108712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3400" b="1" i="0">
                <a:solidFill>
                  <a:srgbClr val="FFFFFF"/>
                </a:solidFill>
                <a:latin typeface="Cambria"/>
                <a:ea typeface="Cambria"/>
                <a:cs typeface="Cambria"/>
              </a:rPr>
              <a:t>Same Human Experience, Three Explanatory Commitments</a:t>
            </a:r>
          </a:p>
        </p:txBody>
      </p:sp>
      <p:sp>
        <p:nvSpPr>
          <p:cNvPr id="8" name="Oval 7">
            <a:extLst xmlns:a="http://schemas.openxmlformats.org/drawingml/2006/main">
              <a:ext uri="{FF2B5EF4-FFF2-40B4-BE49-F238E27FC236}">
                <a16:creationId xmlns:a16="http://schemas.microsoft.com/office/drawing/2014/main" id="{6B8FCA2B-2472-49E9-A669-B007DEDAECDB}"/>
              </a:ext>
            </a:extLst>
          </p:cNvPr>
          <p:cNvSpPr>
            <a:spLocks xmlns:a="http://schemas.openxmlformats.org/drawingml/2006/main" noGrp="1"/>
          </p:cNvSpPr>
          <p:nvPr/>
        </p:nvSpPr>
        <p:spPr>
          <a:xfrm xmlns:a="http://schemas.openxmlformats.org/drawingml/2006/main">
            <a:off x="969263" y="2962656"/>
            <a:ext cx="164592" cy="164592"/>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2C77C41B-AE7C-4272-B67F-36A97F708F51}"/>
              </a:ext>
            </a:extLst>
          </p:cNvPr>
          <p:cNvSpPr>
            <a:spLocks xmlns:a="http://schemas.openxmlformats.org/drawingml/2006/main" noGrp="1"/>
          </p:cNvSpPr>
          <p:nvPr/>
        </p:nvSpPr>
        <p:spPr>
          <a:xfrm xmlns:a="http://schemas.openxmlformats.org/drawingml/2006/main">
            <a:off x="1371600" y="2880360"/>
            <a:ext cx="2743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FFFFFF"/>
                </a:solidFill>
                <a:latin typeface="Cambria"/>
                <a:ea typeface="Cambria"/>
                <a:cs typeface="Cambria"/>
              </a:rPr>
              <a:t>Science</a:t>
            </a:r>
          </a:p>
        </p:txBody>
      </p:sp>
      <p:sp>
        <p:nvSpPr>
          <p:cNvPr id="10" name="TextBox 9">
            <a:extLst xmlns:a="http://schemas.openxmlformats.org/drawingml/2006/main">
              <a:ext uri="{FF2B5EF4-FFF2-40B4-BE49-F238E27FC236}">
                <a16:creationId xmlns:a16="http://schemas.microsoft.com/office/drawing/2014/main" id="{83C6C9D4-BA6B-4CFE-B016-3F583E23AC55}"/>
              </a:ext>
            </a:extLst>
          </p:cNvPr>
          <p:cNvSpPr>
            <a:spLocks xmlns:a="http://schemas.openxmlformats.org/drawingml/2006/main" noGrp="1"/>
          </p:cNvSpPr>
          <p:nvPr/>
        </p:nvSpPr>
        <p:spPr>
          <a:xfrm xmlns:a="http://schemas.openxmlformats.org/drawingml/2006/main">
            <a:off x="4023360" y="2898648"/>
            <a:ext cx="6583680" cy="4668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C9D4EF"/>
                </a:solidFill>
                <a:latin typeface="Calibri"/>
                <a:ea typeface="Calibri"/>
                <a:cs typeface="Calibri"/>
              </a:rPr>
              <a:t>Shows pervasive dependence of mind on brain and gives the strongest public method; physicalism interprets this as sufficiency.</a:t>
            </a:r>
          </a:p>
        </p:txBody>
      </p:sp>
      <p:sp>
        <p:nvSpPr>
          <p:cNvPr id="11" name="Oval 10">
            <a:extLst xmlns:a="http://schemas.openxmlformats.org/drawingml/2006/main">
              <a:ext uri="{FF2B5EF4-FFF2-40B4-BE49-F238E27FC236}">
                <a16:creationId xmlns:a16="http://schemas.microsoft.com/office/drawing/2014/main" id="{2FC9693C-1527-4F62-A440-D5D6671D41ED}"/>
              </a:ext>
            </a:extLst>
          </p:cNvPr>
          <p:cNvSpPr>
            <a:spLocks xmlns:a="http://schemas.openxmlformats.org/drawingml/2006/main" noGrp="1"/>
          </p:cNvSpPr>
          <p:nvPr/>
        </p:nvSpPr>
        <p:spPr>
          <a:xfrm xmlns:a="http://schemas.openxmlformats.org/drawingml/2006/main">
            <a:off x="969263" y="3621024"/>
            <a:ext cx="164592" cy="164592"/>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3A861F4D-3161-41A3-A3CD-66A4D13C42A1}"/>
              </a:ext>
            </a:extLst>
          </p:cNvPr>
          <p:cNvSpPr>
            <a:spLocks xmlns:a="http://schemas.openxmlformats.org/drawingml/2006/main" noGrp="1"/>
          </p:cNvSpPr>
          <p:nvPr/>
        </p:nvSpPr>
        <p:spPr>
          <a:xfrm xmlns:a="http://schemas.openxmlformats.org/drawingml/2006/main">
            <a:off x="1371600" y="3538728"/>
            <a:ext cx="2743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FFFFFF"/>
                </a:solidFill>
                <a:latin typeface="Cambria"/>
                <a:ea typeface="Cambria"/>
                <a:cs typeface="Cambria"/>
              </a:rPr>
              <a:t>Madhyasth Darshan</a:t>
            </a:r>
          </a:p>
        </p:txBody>
      </p:sp>
      <p:sp>
        <p:nvSpPr>
          <p:cNvPr id="13" name="TextBox 12">
            <a:extLst xmlns:a="http://schemas.openxmlformats.org/drawingml/2006/main">
              <a:ext uri="{FF2B5EF4-FFF2-40B4-BE49-F238E27FC236}">
                <a16:creationId xmlns:a16="http://schemas.microsoft.com/office/drawing/2014/main" id="{440F5573-785C-4B67-A4FC-4A4D2195CCCA}"/>
              </a:ext>
            </a:extLst>
          </p:cNvPr>
          <p:cNvSpPr>
            <a:spLocks xmlns:a="http://schemas.openxmlformats.org/drawingml/2006/main" noGrp="1"/>
          </p:cNvSpPr>
          <p:nvPr/>
        </p:nvSpPr>
        <p:spPr>
          <a:xfrm xmlns:a="http://schemas.openxmlformats.org/drawingml/2006/main">
            <a:off x="4023360" y="3557016"/>
            <a:ext cx="6583680" cy="4668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C9D4EF"/>
                </a:solidFill>
                <a:latin typeface="Calibri"/>
                <a:ea typeface="Calibri"/>
                <a:cs typeface="Calibri"/>
              </a:rPr>
              <a:t>Proposes a real body + jeevan joint form and makes conduct central; its atomic and causal claims remain open to stronger tests.</a:t>
            </a:r>
          </a:p>
        </p:txBody>
      </p:sp>
      <p:sp>
        <p:nvSpPr>
          <p:cNvPr id="14" name="Oval 13">
            <a:extLst xmlns:a="http://schemas.openxmlformats.org/drawingml/2006/main">
              <a:ext uri="{FF2B5EF4-FFF2-40B4-BE49-F238E27FC236}">
                <a16:creationId xmlns:a16="http://schemas.microsoft.com/office/drawing/2014/main" id="{6E4AC27D-50CC-4A70-BD9B-BBE99766DCB0}"/>
              </a:ext>
            </a:extLst>
          </p:cNvPr>
          <p:cNvSpPr>
            <a:spLocks xmlns:a="http://schemas.openxmlformats.org/drawingml/2006/main" noGrp="1"/>
          </p:cNvSpPr>
          <p:nvPr/>
        </p:nvSpPr>
        <p:spPr>
          <a:xfrm xmlns:a="http://schemas.openxmlformats.org/drawingml/2006/main">
            <a:off x="969263" y="4279392"/>
            <a:ext cx="164592" cy="164592"/>
          </a:xfrm>
          <a:prstGeom xmlns:a="http://schemas.openxmlformats.org/drawingml/2006/main" prst="ellipse">
            <a:avLst/>
          </a:prstGeom>
          <a:solidFill xmlns:a="http://schemas.openxmlformats.org/drawingml/2006/main">
            <a:srgbClr val="C9821E"/>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E3FB4789-64D2-4832-925E-E90B7C402010}"/>
              </a:ext>
            </a:extLst>
          </p:cNvPr>
          <p:cNvSpPr>
            <a:spLocks xmlns:a="http://schemas.openxmlformats.org/drawingml/2006/main" noGrp="1"/>
          </p:cNvSpPr>
          <p:nvPr/>
        </p:nvSpPr>
        <p:spPr>
          <a:xfrm xmlns:a="http://schemas.openxmlformats.org/drawingml/2006/main">
            <a:off x="1371600" y="4197096"/>
            <a:ext cx="27432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spcBef>
                <a:spcPts val="0"/>
              </a:spcBef>
              <a:spcAft>
                <a:spcPts val="400"/>
              </a:spcAft>
              <a:buNone/>
            </a:pPr>
            <a:r>
              <a:rPr sz="1500" b="1" i="0">
                <a:solidFill>
                  <a:srgbClr val="FFFFFF"/>
                </a:solidFill>
                <a:latin typeface="Cambria"/>
                <a:ea typeface="Cambria"/>
                <a:cs typeface="Cambria"/>
              </a:rPr>
              <a:t>Advaita Vedanta</a:t>
            </a:r>
          </a:p>
        </p:txBody>
      </p:sp>
      <p:sp>
        <p:nvSpPr>
          <p:cNvPr id="16" name="TextBox 15">
            <a:extLst xmlns:a="http://schemas.openxmlformats.org/drawingml/2006/main">
              <a:ext uri="{FF2B5EF4-FFF2-40B4-BE49-F238E27FC236}">
                <a16:creationId xmlns:a16="http://schemas.microsoft.com/office/drawing/2014/main" id="{4DB098BB-64A2-42F0-B06B-EF3F5168EFC7}"/>
              </a:ext>
            </a:extLst>
          </p:cNvPr>
          <p:cNvSpPr>
            <a:spLocks xmlns:a="http://schemas.openxmlformats.org/drawingml/2006/main" noGrp="1"/>
          </p:cNvSpPr>
          <p:nvPr/>
        </p:nvSpPr>
        <p:spPr>
          <a:xfrm xmlns:a="http://schemas.openxmlformats.org/drawingml/2006/main">
            <a:off x="4023360" y="4215383"/>
            <a:ext cx="6583680" cy="466852"/>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05000"/>
              </a:lnSpc>
              <a:spcBef>
                <a:spcPts val="0"/>
              </a:spcBef>
              <a:spcAft>
                <a:spcPts val="400"/>
              </a:spcAft>
              <a:buNone/>
            </a:pPr>
            <a:r>
              <a:rPr sz="1300" b="0" i="0">
                <a:solidFill>
                  <a:srgbClr val="C9D4EF"/>
                </a:solidFill>
                <a:latin typeface="Calibri"/>
                <a:ea typeface="Calibri"/>
                <a:cs typeface="Calibri"/>
              </a:rPr>
              <a:t>Locates identity in nondual awareness and treats the world as dependently real; the witness-to-Brahman step carries the heaviest philosophical burden.</a:t>
            </a:r>
          </a:p>
        </p:txBody>
      </p:sp>
      <p:sp>
        <p:nvSpPr>
          <p:cNvPr id="17" name="TextBox 16">
            <a:extLst xmlns:a="http://schemas.openxmlformats.org/drawingml/2006/main">
              <a:ext uri="{FF2B5EF4-FFF2-40B4-BE49-F238E27FC236}">
                <a16:creationId xmlns:a16="http://schemas.microsoft.com/office/drawing/2014/main" id="{CC1F92AA-56C2-422F-8D88-C79B2C5CED0F}"/>
              </a:ext>
            </a:extLst>
          </p:cNvPr>
          <p:cNvSpPr>
            <a:spLocks xmlns:a="http://schemas.openxmlformats.org/drawingml/2006/main" noGrp="1"/>
          </p:cNvSpPr>
          <p:nvPr/>
        </p:nvSpPr>
        <p:spPr>
          <a:xfrm xmlns:a="http://schemas.openxmlformats.org/drawingml/2006/main">
            <a:off x="868680" y="5212080"/>
            <a:ext cx="86868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spAutoFit/>
          </a:bodyPr>
          <a:lstStyle xmlns:a="http://schemas.openxmlformats.org/drawingml/2006/main"/>
          <a:p xmlns:a="http://schemas.openxmlformats.org/drawingml/2006/main">
            <a:pPr algn="l">
              <a:lnSpc>
                <a:spcPct val="110000"/>
              </a:lnSpc>
              <a:spcBef>
                <a:spcPts val="0"/>
              </a:spcBef>
              <a:spcAft>
                <a:spcPts val="400"/>
              </a:spcAft>
              <a:buNone/>
            </a:pPr>
            <a:r>
              <a:rPr sz="1400" b="0" i="1">
                <a:solidFill>
                  <a:srgbClr val="FFFFFF"/>
                </a:solidFill>
                <a:latin typeface="Calibri"/>
                <a:ea typeface="Calibri"/>
                <a:cs typeface="Calibri"/>
              </a:rPr>
              <a:t>Keep the phenomenological data fixed, separate evidence from inference, and ask which ontology explains more with fewer unsupported commitments.</a:t>
            </a:r>
          </a:p>
        </p:txBody>
      </p:sp>
    </p:spTree>
    <p:extLst>
      <p:ext uri="{BB962C8B-B14F-4D97-AF65-F5344CB8AC3E}">
        <p14:creationId xmlns:p14="http://schemas.microsoft.com/office/powerpoint/2010/main" val="83097575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2026-07-15T00:14:18.1110000Z</dcterms:created>
  <dcterms:modified xsi:type="dcterms:W3CDTF">2026-07-15T00:14:18.1110000Z</dcterms:modified>
</coreProperties>
</file>