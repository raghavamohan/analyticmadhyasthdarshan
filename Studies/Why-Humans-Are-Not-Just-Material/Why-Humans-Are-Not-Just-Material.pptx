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deck follows the study 'Why Humans Are Not Just Material.' The question is deliberately concrete: is a human being nothing more than a physical-chemical body? The deck gives three answers - Madhyasth Darshan, mainstream science, and Advaita Vedanta - in a strictly parallel structure, then compares and critically reviews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standpoint is a scientist-technologist asking the question in good faith, not to defend a foregone conclusion. The three answers disagree at the deepest level - about what a human is, whether the world is real, and what survives death - so the comparison is genuine, not cosmetic.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point, ontology, phenomenology, method, and distinctiveness. Holding the order fixed lets the reader line up the three views on exactly the same question - for example, all three read the same sleep experience, but reach different conclusions from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rests on one ontological claim: existence includes physical, chemical, AND jeevan entities. Nagraj rejects both inherited pictures - human-as-clever-animal and human-as-unknowable-mystery - as failures to study the human being as it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 and biological orders integrate, grow, and vitalise but have no hope to live. 'Hope to live' enters at the animal order - the threshold where a constitutionally complete sentient unit, the jeevan, appears. In the knowledge order the same jeevan works through a human body as a joint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densest step. Core claim first: constitutional completeness is a one-way threshold, and the completed atom IS the jeevan. Sentience is latency actualised, not magic emergence from dead matter. Post-death continuity is a distinct claim, inferred - not read off phenomenology. The heavy machinery lives in the Ontology study.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different functions imply distinct bearers, so a human is a joint form, not a body. The knowledge order's unique work is to understand, evaluate, and responsibly use all of nature - the unfolding of knowledge occurs only through awakened jeevan, with the brain as medium. The koshas will reappear when Advaita negates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everyday observations, each available to inward inspection: a second kind of fulfilment, a more-than-bodily wanting, a self presented as distinct from its body, and an unlearned moral demand. Nagraj's claim is that materialism fails not only in the lab but in the first person, every day, in everyone.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begins with self-verification precisely because the phenomenological argument is checkable by anyone. But conduct closes the chain: understanding must be livable and conveyable. Whether that criterion can be operationalised in a controlled test is flagged as unsettled - the study does not overclaim.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Science denies categorical orders, a constitutional sentient atom, and any entity over and above brain-and-body organisation. Each reply maps to one of Madhyasth Darshan's five ontological steps. 'Unique' (human cognition) is not 'non-physical' - it is what brains plus cumulative culture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sharpest scientific objection and the study states it without flinching. Madhyasth Darshan's joint-form reading models coordination as state and order transmission, not energy injection - but the study concedes this remains an open problem, cross-referenced to the Ontology and Knowledge studies.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cards answer Madhyasth Darshan's four phenomenological observations one-for-one, each with a material mechanism. Science's warrant is inter-subjective verification, which parallels Nagraj's demand for evidence in conduct but restricts proof to what independent observers can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problem is the honest open edge of the scientific account. Panpsychism shows 'sentience in matter' is not a lone mystic's idea - but it is not established science. Madhyasth Darshan's rahasyata is a different epistemic bet: mystery is removable through study and aligned reflection, not a permanent opacity.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Advaita cuts deeper than joint form: not only is the body not the self, the mind and inner functionary (Nagraj's jeevan) are also observable, hence not-self. The question is not answered but dissolved - there is ultimately no separate human and no independent material world.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Madhyasth Darshan and Advaita begin from the same first-person data - the felt self/body distinction, the sleep observation - but stop at different stations. Advaita's five sheaths are the very koshas Nagraj affirms as functional equipment; Advaita negates them progressively to reveal the witness beyond all layers.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lines up the three views on the questions that matter. Reading across any row shows exactly where they part company - the middle column (Madhyasth Darshan) holds the middle position on almost every row: a real self AND a real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views agrees on something the third denies. This 'alliances' framing is the memorable payoff of the comparison: the debate is not two-sided but triangular, and Madhyasth Darshan's middle position is defined by which alliance it joins on each question.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view escapes serious objection. Madhyasth Darshan is best read as an internally coherent, ethically rich proposal, not a demonstrated ontology. Science offers the strongest method but its claim to be the complete account is philosophy, not finding. Advaita is the most radical, at the price of demoting the world we live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close: the disagreement is philosophical, about what counts as evidence, not a dispute any single experiment resolves. The study names concretely what would move each side - a rare feature in comparative philosophy - and leaves the verdict open.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question. The three answers are parallel accounts, each internally coherent and each unproven from outside. Madhyasth Darshan's distinctive contribution is the middle path: a real, sentient self in a real, perpetual world, tested by lived conduct.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589520" y="1005840"/>
            <a:ext cx="4206240" cy="4206240"/>
          </a:xfrm>
          <a:prstGeom prst="ellipse">
            <a:avLst/>
          </a:prstGeom>
          <a:noFill/>
          <a:ln w="1778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35340" y="1851660"/>
            <a:ext cx="2514600" cy="251460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0" y="2560320"/>
            <a:ext cx="1097280" cy="109728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46620" y="4411980"/>
            <a:ext cx="1051560" cy="105156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580375" y="4745736"/>
            <a:ext cx="384048" cy="384048"/>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904220" y="4869180"/>
            <a:ext cx="685800" cy="68580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19104" y="5084064"/>
            <a:ext cx="256032" cy="256032"/>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737360"/>
            <a:ext cx="6858000" cy="320040"/>
          </a:xfrm>
          <a:prstGeom prst="rect">
            <a:avLst/>
          </a:prstGeom>
          <a:noFill/>
        </p:spPr>
        <p:txBody>
          <a:bodyPr wrap="square" lIns="0" rIns="0" tIns="0" bIns="0" anchor="t">
            <a:spAutoFit/>
          </a:bodyPr>
          <a:lstStyle/>
          <a:p>
            <a:pPr algn="l">
              <a:spcBef>
                <a:spcPts val="0"/>
              </a:spcBef>
              <a:spcAft>
                <a:spcPts val="400"/>
              </a:spcAft>
            </a:pPr>
            <a:r>
              <a:rPr sz="1300" b="1" i="0">
                <a:solidFill>
                  <a:srgbClr val="C9821E"/>
                </a:solidFill>
                <a:latin typeface="Calibri"/>
              </a:rPr>
              <a:t>MADHYASTH DARSHAN  ·  CO-EXISTENTIALISM</a:t>
            </a:r>
          </a:p>
        </p:txBody>
      </p:sp>
      <p:sp>
        <p:nvSpPr>
          <p:cNvPr id="11" name="TextBox 10"/>
          <p:cNvSpPr txBox="1"/>
          <p:nvPr/>
        </p:nvSpPr>
        <p:spPr>
          <a:xfrm>
            <a:off x="822960" y="2148840"/>
            <a:ext cx="6949440" cy="1645920"/>
          </a:xfrm>
          <a:prstGeom prst="rect">
            <a:avLst/>
          </a:prstGeom>
          <a:noFill/>
        </p:spPr>
        <p:txBody>
          <a:bodyPr wrap="square" lIns="0" rIns="0" tIns="0" bIns="0" anchor="t">
            <a:spAutoFit/>
          </a:bodyPr>
          <a:lstStyle/>
          <a:p>
            <a:pPr algn="l">
              <a:lnSpc>
                <a:spcPct val="100000"/>
              </a:lnSpc>
              <a:spcBef>
                <a:spcPts val="0"/>
              </a:spcBef>
              <a:spcAft>
                <a:spcPts val="400"/>
              </a:spcAft>
            </a:pPr>
            <a:r>
              <a:rPr sz="4400" b="1" i="0">
                <a:solidFill>
                  <a:srgbClr val="FFFFFF"/>
                </a:solidFill>
                <a:latin typeface="Cambria"/>
              </a:rPr>
              <a:t>Why Humans Are Not</a:t>
            </a:r>
          </a:p>
          <a:p>
            <a:pPr algn="l">
              <a:lnSpc>
                <a:spcPct val="100000"/>
              </a:lnSpc>
              <a:spcBef>
                <a:spcPts val="0"/>
              </a:spcBef>
              <a:spcAft>
                <a:spcPts val="400"/>
              </a:spcAft>
            </a:pPr>
            <a:r>
              <a:rPr sz="4400" b="1" i="0">
                <a:solidFill>
                  <a:srgbClr val="FFFFFF"/>
                </a:solidFill>
                <a:latin typeface="Cambria"/>
              </a:rPr>
              <a:t>Just Material</a:t>
            </a:r>
          </a:p>
        </p:txBody>
      </p:sp>
      <p:sp>
        <p:nvSpPr>
          <p:cNvPr id="12" name="TextBox 11"/>
          <p:cNvSpPr txBox="1"/>
          <p:nvPr/>
        </p:nvSpPr>
        <p:spPr>
          <a:xfrm>
            <a:off x="868680" y="4114800"/>
            <a:ext cx="6583680" cy="822960"/>
          </a:xfrm>
          <a:prstGeom prst="rect">
            <a:avLst/>
          </a:prstGeom>
          <a:noFill/>
        </p:spPr>
        <p:txBody>
          <a:bodyPr wrap="square" lIns="0" rIns="0" tIns="0" bIns="0" anchor="t">
            <a:spAutoFit/>
          </a:bodyPr>
          <a:lstStyle/>
          <a:p>
            <a:pPr algn="l">
              <a:lnSpc>
                <a:spcPct val="105000"/>
              </a:lnSpc>
              <a:spcBef>
                <a:spcPts val="0"/>
              </a:spcBef>
              <a:spcAft>
                <a:spcPts val="400"/>
              </a:spcAft>
            </a:pPr>
            <a:r>
              <a:rPr sz="1900" b="0" i="1">
                <a:solidFill>
                  <a:srgbClr val="C9D4EF"/>
                </a:solidFill>
                <a:latin typeface="Calibri"/>
              </a:rPr>
              <a:t>One question, three answers — Madhyasth Darshan, modern science, and Advaita Vedanta</a:t>
            </a:r>
          </a:p>
        </p:txBody>
      </p:sp>
      <p:sp>
        <p:nvSpPr>
          <p:cNvPr id="13" name="TextBox 12"/>
          <p:cNvSpPr txBox="1"/>
          <p:nvPr/>
        </p:nvSpPr>
        <p:spPr>
          <a:xfrm>
            <a:off x="868680" y="5715000"/>
            <a:ext cx="7315200" cy="274320"/>
          </a:xfrm>
          <a:prstGeom prst="rect">
            <a:avLst/>
          </a:prstGeom>
          <a:noFill/>
        </p:spPr>
        <p:txBody>
          <a:bodyPr wrap="square" lIns="0" rIns="0" tIns="0" bIns="0" anchor="t">
            <a:spAutoFit/>
          </a:bodyPr>
          <a:lstStyle/>
          <a:p>
            <a:pPr algn="l">
              <a:spcBef>
                <a:spcPts val="0"/>
              </a:spcBef>
              <a:spcAft>
                <a:spcPts val="400"/>
              </a:spcAft>
            </a:pPr>
            <a:r>
              <a:rPr sz="1200" b="0" i="0">
                <a:solidFill>
                  <a:srgbClr val="8E9BC4"/>
                </a:solidFill>
                <a:latin typeface="Calibri"/>
              </a:rPr>
              <a:t>Based on Why Humans Are Not Just Material (AnalyticMadhyasthDarshan.org)</a:t>
            </a:r>
          </a:p>
        </p:txBody>
      </p:sp>
      <p:sp>
        <p:nvSpPr>
          <p:cNvPr id="14" name="TextBox 13"/>
          <p:cNvSpPr txBox="1"/>
          <p:nvPr/>
        </p:nvSpPr>
        <p:spPr>
          <a:xfrm>
            <a:off x="868680" y="6035040"/>
            <a:ext cx="7315200" cy="274320"/>
          </a:xfrm>
          <a:prstGeom prst="rect">
            <a:avLst/>
          </a:prstGeom>
          <a:noFill/>
        </p:spPr>
        <p:txBody>
          <a:bodyPr wrap="square" lIns="0" rIns="0" tIns="0" bIns="0" anchor="t">
            <a:spAutoFit/>
          </a:bodyPr>
          <a:lstStyle/>
          <a:p>
            <a:pPr algn="l">
              <a:spcBef>
                <a:spcPts val="0"/>
              </a:spcBef>
              <a:spcAft>
                <a:spcPts val="400"/>
              </a:spcAft>
            </a:pPr>
            <a:r>
              <a:rPr sz="1200" b="0" i="0">
                <a:solidFill>
                  <a:srgbClr val="8E9BC4"/>
                </a:solidFill>
                <a:latin typeface="Calibri"/>
              </a:rPr>
              <a:t>Primary texts of Shri A. Nagraj — MVD · SB · JV (tr. Rakesh Gupta)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THE QUESTION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Is a Human Just a Body?</a:t>
            </a:r>
          </a:p>
        </p:txBody>
      </p:sp>
      <p:sp>
        <p:nvSpPr>
          <p:cNvPr id="8" name="TextBox 7"/>
          <p:cNvSpPr txBox="1"/>
          <p:nvPr/>
        </p:nvSpPr>
        <p:spPr>
          <a:xfrm>
            <a:off x="685800" y="1783080"/>
            <a:ext cx="10789920" cy="82296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Trained in physics and mathematics, it is hard to avoid the picture that consciousness is just something the brain does. Yet the hard problem of consciousness, the status of the self, and the reality of value remain unsettled. This study asks the question honestly and compares three serious answers.</a:t>
            </a:r>
          </a:p>
        </p:txBody>
      </p:sp>
      <p:sp>
        <p:nvSpPr>
          <p:cNvPr id="9" name="Rounded Rectangle 8"/>
          <p:cNvSpPr/>
          <p:nvPr/>
        </p:nvSpPr>
        <p:spPr>
          <a:xfrm>
            <a:off x="685800" y="2880360"/>
            <a:ext cx="3429000" cy="22860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Science</a:t>
            </a:r>
          </a:p>
        </p:txBody>
      </p:sp>
      <p:sp>
        <p:nvSpPr>
          <p:cNvPr id="14" name="TextBox 13"/>
          <p:cNvSpPr txBox="1"/>
          <p:nvPr/>
        </p:nvSpPr>
        <p:spPr>
          <a:xfrm>
            <a:off x="941832"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an organism: body + brain + culture. Mind is what the brain does — no second entity.</a:t>
            </a:r>
          </a:p>
        </p:txBody>
      </p:sp>
      <p:sp>
        <p:nvSpPr>
          <p:cNvPr id="15" name="Rounded Rectangle 14"/>
          <p:cNvSpPr/>
          <p:nvPr/>
        </p:nvSpPr>
        <p:spPr>
          <a:xfrm>
            <a:off x="4379976" y="2880360"/>
            <a:ext cx="3429000" cy="228600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93031"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671212"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732934"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Madhyasth Darshan</a:t>
            </a:r>
          </a:p>
        </p:txBody>
      </p:sp>
      <p:sp>
        <p:nvSpPr>
          <p:cNvPr id="20" name="TextBox 19"/>
          <p:cNvSpPr txBox="1"/>
          <p:nvPr/>
        </p:nvSpPr>
        <p:spPr>
          <a:xfrm>
            <a:off x="4636008"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body + jeevan — a real sentient self that works through the body. Matter promoted, not denied.</a:t>
            </a:r>
          </a:p>
        </p:txBody>
      </p:sp>
      <p:sp>
        <p:nvSpPr>
          <p:cNvPr id="21" name="Rounded Rectangle 20"/>
          <p:cNvSpPr/>
          <p:nvPr/>
        </p:nvSpPr>
        <p:spPr>
          <a:xfrm>
            <a:off x="8074152" y="2880360"/>
            <a:ext cx="3429000" cy="22860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87207"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65388"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27110"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33104"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Advaita Vedanta</a:t>
            </a:r>
          </a:p>
        </p:txBody>
      </p:sp>
      <p:sp>
        <p:nvSpPr>
          <p:cNvPr id="26" name="TextBox 25"/>
          <p:cNvSpPr txBox="1"/>
          <p:nvPr/>
        </p:nvSpPr>
        <p:spPr>
          <a:xfrm>
            <a:off x="8330183"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You are not even an individual: the Self (Atman) is Brahman, and the world is dependent appearance (mithya).</a:t>
            </a:r>
          </a:p>
        </p:txBody>
      </p:sp>
      <p:sp>
        <p:nvSpPr>
          <p:cNvPr id="27" name="Rounded Rectangle 26"/>
          <p:cNvSpPr/>
          <p:nvPr/>
        </p:nvSpPr>
        <p:spPr>
          <a:xfrm>
            <a:off x="685800" y="5440680"/>
            <a:ext cx="10817352" cy="68580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5440680"/>
            <a:ext cx="10177272" cy="68580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Three answers to one question — each coherent from the inside, each unproven from the outside.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ORIENTATION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The Same Five Questions, Three Times</a:t>
            </a:r>
          </a:p>
        </p:txBody>
      </p:sp>
      <p:sp>
        <p:nvSpPr>
          <p:cNvPr id="8" name="TextBox 7"/>
          <p:cNvSpPr txBox="1"/>
          <p:nvPr/>
        </p:nvSpPr>
        <p:spPr>
          <a:xfrm>
            <a:off x="685800" y="1783080"/>
            <a:ext cx="10789920" cy="64008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Each view is presented in the same order, so the three can be compared point for point. The parallel structure is the argument's backbone.</a:t>
            </a:r>
          </a:p>
        </p:txBody>
      </p:sp>
      <p:sp>
        <p:nvSpPr>
          <p:cNvPr id="9" name="Oval 8"/>
          <p:cNvSpPr/>
          <p:nvPr/>
        </p:nvSpPr>
        <p:spPr>
          <a:xfrm>
            <a:off x="704088" y="2697480"/>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697480"/>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1</a:t>
            </a:r>
          </a:p>
        </p:txBody>
      </p:sp>
      <p:sp>
        <p:nvSpPr>
          <p:cNvPr id="11" name="TextBox 10"/>
          <p:cNvSpPr txBox="1"/>
          <p:nvPr/>
        </p:nvSpPr>
        <p:spPr>
          <a:xfrm>
            <a:off x="1463040" y="2715768"/>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Starting point</a:t>
            </a:r>
          </a:p>
        </p:txBody>
      </p:sp>
      <p:sp>
        <p:nvSpPr>
          <p:cNvPr id="12" name="TextBox 11"/>
          <p:cNvSpPr txBox="1"/>
          <p:nvPr/>
        </p:nvSpPr>
        <p:spPr>
          <a:xfrm>
            <a:off x="4663440" y="2743200"/>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picture of the human does the view begin from?</a:t>
            </a:r>
          </a:p>
        </p:txBody>
      </p:sp>
      <p:sp>
        <p:nvSpPr>
          <p:cNvPr id="13" name="Oval 12"/>
          <p:cNvSpPr/>
          <p:nvPr/>
        </p:nvSpPr>
        <p:spPr>
          <a:xfrm>
            <a:off x="704088" y="3447287"/>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3447288"/>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2</a:t>
            </a:r>
          </a:p>
        </p:txBody>
      </p:sp>
      <p:sp>
        <p:nvSpPr>
          <p:cNvPr id="15" name="TextBox 14"/>
          <p:cNvSpPr txBox="1"/>
          <p:nvPr/>
        </p:nvSpPr>
        <p:spPr>
          <a:xfrm>
            <a:off x="1463040" y="3465576"/>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Ontological argument</a:t>
            </a:r>
          </a:p>
        </p:txBody>
      </p:sp>
      <p:sp>
        <p:nvSpPr>
          <p:cNvPr id="16" name="TextBox 15"/>
          <p:cNvSpPr txBox="1"/>
          <p:nvPr/>
        </p:nvSpPr>
        <p:spPr>
          <a:xfrm>
            <a:off x="4663440" y="3493008"/>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exists, and what is a human made of?</a:t>
            </a:r>
          </a:p>
        </p:txBody>
      </p:sp>
      <p:sp>
        <p:nvSpPr>
          <p:cNvPr id="17" name="Oval 16"/>
          <p:cNvSpPr/>
          <p:nvPr/>
        </p:nvSpPr>
        <p:spPr>
          <a:xfrm>
            <a:off x="704088" y="4197096"/>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197096"/>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3</a:t>
            </a:r>
          </a:p>
        </p:txBody>
      </p:sp>
      <p:sp>
        <p:nvSpPr>
          <p:cNvPr id="19" name="TextBox 18"/>
          <p:cNvSpPr txBox="1"/>
          <p:nvPr/>
        </p:nvSpPr>
        <p:spPr>
          <a:xfrm>
            <a:off x="1463040" y="4215383"/>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Phenomenological argument</a:t>
            </a:r>
          </a:p>
        </p:txBody>
      </p:sp>
      <p:sp>
        <p:nvSpPr>
          <p:cNvPr id="20" name="TextBox 19"/>
          <p:cNvSpPr txBox="1"/>
          <p:nvPr/>
        </p:nvSpPr>
        <p:spPr>
          <a:xfrm>
            <a:off x="4663440" y="4242816"/>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does lived, first-person experience show?</a:t>
            </a:r>
          </a:p>
        </p:txBody>
      </p:sp>
      <p:sp>
        <p:nvSpPr>
          <p:cNvPr id="21" name="Oval 20"/>
          <p:cNvSpPr/>
          <p:nvPr/>
        </p:nvSpPr>
        <p:spPr>
          <a:xfrm>
            <a:off x="704088" y="4946904"/>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4946904"/>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4</a:t>
            </a:r>
          </a:p>
        </p:txBody>
      </p:sp>
      <p:sp>
        <p:nvSpPr>
          <p:cNvPr id="23" name="TextBox 22"/>
          <p:cNvSpPr txBox="1"/>
          <p:nvPr/>
        </p:nvSpPr>
        <p:spPr>
          <a:xfrm>
            <a:off x="1463040" y="4965192"/>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Method of knowing</a:t>
            </a:r>
          </a:p>
        </p:txBody>
      </p:sp>
      <p:sp>
        <p:nvSpPr>
          <p:cNvPr id="24" name="TextBox 23"/>
          <p:cNvSpPr txBox="1"/>
          <p:nvPr/>
        </p:nvSpPr>
        <p:spPr>
          <a:xfrm>
            <a:off x="4663440" y="4992624"/>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counts as evidence for the claim?</a:t>
            </a:r>
          </a:p>
        </p:txBody>
      </p:sp>
      <p:sp>
        <p:nvSpPr>
          <p:cNvPr id="25" name="Oval 24"/>
          <p:cNvSpPr/>
          <p:nvPr/>
        </p:nvSpPr>
        <p:spPr>
          <a:xfrm>
            <a:off x="704088" y="5696712"/>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5696712"/>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5</a:t>
            </a:r>
          </a:p>
        </p:txBody>
      </p:sp>
      <p:sp>
        <p:nvSpPr>
          <p:cNvPr id="27" name="TextBox 26"/>
          <p:cNvSpPr txBox="1"/>
          <p:nvPr/>
        </p:nvSpPr>
        <p:spPr>
          <a:xfrm>
            <a:off x="1463040" y="5715000"/>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What is distinctive</a:t>
            </a:r>
          </a:p>
        </p:txBody>
      </p:sp>
      <p:sp>
        <p:nvSpPr>
          <p:cNvPr id="28" name="TextBox 27"/>
          <p:cNvSpPr txBox="1"/>
          <p:nvPr/>
        </p:nvSpPr>
        <p:spPr>
          <a:xfrm>
            <a:off x="4663440" y="5742432"/>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does this view assert that the others deny?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 · MADHYASTH DARSHAN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Body + Jeevan, in One Real World</a:t>
            </a:r>
          </a:p>
        </p:txBody>
      </p:sp>
      <p:sp>
        <p:nvSpPr>
          <p:cNvPr id="8" name="Rounded Rectangle 7"/>
          <p:cNvSpPr/>
          <p:nvPr/>
        </p:nvSpPr>
        <p:spPr>
          <a:xfrm>
            <a:off x="685800" y="1783080"/>
            <a:ext cx="5257800" cy="201168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The answer</a:t>
            </a:r>
          </a:p>
        </p:txBody>
      </p:sp>
      <p:sp>
        <p:nvSpPr>
          <p:cNvPr id="13" name="TextBox 12"/>
          <p:cNvSpPr txBox="1"/>
          <p:nvPr/>
        </p:nvSpPr>
        <p:spPr>
          <a:xfrm>
            <a:off x="941832" y="2496312"/>
            <a:ext cx="4745736" cy="109728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A human is not only a body but body + jeevan — a real, sentient self that works through the body. So humans cannot be fully explained by matter-centric science alone.</a:t>
            </a:r>
          </a:p>
        </p:txBody>
      </p:sp>
      <p:sp>
        <p:nvSpPr>
          <p:cNvPr id="14" name="Rounded Rectangle 13"/>
          <p:cNvSpPr/>
          <p:nvPr/>
        </p:nvSpPr>
        <p:spPr>
          <a:xfrm>
            <a:off x="6172200" y="1783080"/>
            <a:ext cx="5330952" cy="20116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198424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A fresh starting point</a:t>
            </a:r>
          </a:p>
        </p:txBody>
      </p:sp>
      <p:sp>
        <p:nvSpPr>
          <p:cNvPr id="19" name="TextBox 18"/>
          <p:cNvSpPr txBox="1"/>
          <p:nvPr/>
        </p:nvSpPr>
        <p:spPr>
          <a:xfrm>
            <a:off x="6428232" y="2496312"/>
            <a:ext cx="4818888" cy="109728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Science studied the human as a clever animal; mysticism declared the truth an unknowable mystery. Neither actually studied the human being — so a fresh start is needed.</a:t>
            </a:r>
          </a:p>
        </p:txBody>
      </p:sp>
      <p:sp>
        <p:nvSpPr>
          <p:cNvPr id="20" name="Rounded Rectangle 19"/>
          <p:cNvSpPr/>
          <p:nvPr/>
        </p:nvSpPr>
        <p:spPr>
          <a:xfrm>
            <a:off x="685800" y="4069080"/>
            <a:ext cx="10817352" cy="1234440"/>
          </a:xfrm>
          <a:prstGeom prst="roundRect">
            <a:avLst>
              <a:gd name="adj" fmla="val 8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224528"/>
            <a:ext cx="10149840" cy="914400"/>
          </a:xfrm>
          <a:prstGeom prst="rect">
            <a:avLst/>
          </a:prstGeom>
          <a:noFill/>
        </p:spPr>
        <p:txBody>
          <a:bodyPr wrap="square" lIns="0" rIns="0" tIns="0" bIns="0" anchor="ctr">
            <a:spAutoFit/>
          </a:bodyPr>
          <a:lstStyle/>
          <a:p>
            <a:pPr algn="l">
              <a:lnSpc>
                <a:spcPct val="108000"/>
              </a:lnSpc>
              <a:spcBef>
                <a:spcPts val="0"/>
              </a:spcBef>
              <a:spcAft>
                <a:spcPts val="400"/>
              </a:spcAft>
            </a:pPr>
            <a:r>
              <a:rPr sz="1500" b="0" i="1">
                <a:solidFill>
                  <a:srgbClr val="FFFFFF"/>
                </a:solidFill>
                <a:latin typeface="Calibri"/>
              </a:rPr>
              <a:t>“Existence is not just physicochemical matter, but all physical, chemical and </a:t>
            </a:r>
            <a:r>
              <a:rPr sz="1500" b="0" i="1">
                <a:solidFill>
                  <a:srgbClr val="C9D4EF"/>
                </a:solidFill>
                <a:latin typeface="Calibri"/>
              </a:rPr>
              <a:t>jeevan</a:t>
            </a:r>
            <a:r>
              <a:rPr sz="1500" b="0" i="1">
                <a:solidFill>
                  <a:srgbClr val="FFFFFF"/>
                </a:solidFill>
                <a:latin typeface="Calibri"/>
              </a:rPr>
              <a:t> entities are inseparably present in Omnipresence.”</a:t>
            </a:r>
          </a:p>
          <a:p>
            <a:pPr algn="l">
              <a:lnSpc>
                <a:spcPct val="108000"/>
              </a:lnSpc>
              <a:spcBef>
                <a:spcPts val="0"/>
              </a:spcBef>
              <a:spcAft>
                <a:spcPts val="400"/>
              </a:spcAft>
            </a:pPr>
            <a:r>
              <a:rPr sz="1200" b="1" i="0">
                <a:solidFill>
                  <a:srgbClr val="C9D4EF"/>
                </a:solidFill>
                <a:latin typeface="Calibri"/>
              </a:rPr>
              <a:t>— MVD, The Alternative, point 7</a:t>
            </a:r>
          </a:p>
        </p:txBody>
      </p:sp>
      <p:sp>
        <p:nvSpPr>
          <p:cNvPr id="22" name="Rounded Rectangle 21"/>
          <p:cNvSpPr/>
          <p:nvPr/>
        </p:nvSpPr>
        <p:spPr>
          <a:xfrm>
            <a:off x="685800" y="5532120"/>
            <a:ext cx="10817352" cy="713232"/>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32120"/>
            <a:ext cx="10177272" cy="713232"/>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Matter is not denied or demoted — it is promoted: sentience is what matter becomes when fully developed.</a:t>
            </a:r>
          </a:p>
        </p:txBody>
      </p:sp>
      <p:sp>
        <p:nvSpPr>
          <p:cNvPr id="24" name="TextBox 23"/>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The Alternative, points 1 &amp;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§1.2.1 · THE ONTOLOGICAL ARGUMENT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Four Orders of Nature</a:t>
            </a:r>
          </a:p>
        </p:txBody>
      </p:sp>
      <p:sp>
        <p:nvSpPr>
          <p:cNvPr id="8" name="TextBox 7"/>
          <p:cNvSpPr txBox="1"/>
          <p:nvPr/>
        </p:nvSpPr>
        <p:spPr>
          <a:xfrm>
            <a:off x="685800" y="1737360"/>
            <a:ext cx="10789920" cy="54864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Nature has four levels, each containing the ones below. Sentience is not spread across all matter — it enters at the animal order.</a:t>
            </a:r>
          </a:p>
        </p:txBody>
      </p:sp>
      <p:sp>
        <p:nvSpPr>
          <p:cNvPr id="9" name="Rounded Rectangle 8"/>
          <p:cNvSpPr/>
          <p:nvPr/>
        </p:nvSpPr>
        <p:spPr>
          <a:xfrm>
            <a:off x="685800"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Material</a:t>
            </a:r>
          </a:p>
        </p:txBody>
      </p:sp>
      <p:sp>
        <p:nvSpPr>
          <p:cNvPr id="11" name="TextBox 10"/>
          <p:cNvSpPr txBox="1"/>
          <p:nvPr/>
        </p:nvSpPr>
        <p:spPr>
          <a:xfrm>
            <a:off x="886968"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integrates</a:t>
            </a:r>
          </a:p>
        </p:txBody>
      </p:sp>
      <p:sp>
        <p:nvSpPr>
          <p:cNvPr id="12" name="TextBox 11"/>
          <p:cNvSpPr txBox="1"/>
          <p:nvPr/>
        </p:nvSpPr>
        <p:spPr>
          <a:xfrm>
            <a:off x="886968"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insentient (jada)</a:t>
            </a:r>
          </a:p>
        </p:txBody>
      </p:sp>
      <p:sp>
        <p:nvSpPr>
          <p:cNvPr id="13" name="Rounded Rectangle 12"/>
          <p:cNvSpPr/>
          <p:nvPr/>
        </p:nvSpPr>
        <p:spPr>
          <a:xfrm>
            <a:off x="3474720"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7"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Biological / prana</a:t>
            </a:r>
          </a:p>
        </p:txBody>
      </p:sp>
      <p:sp>
        <p:nvSpPr>
          <p:cNvPr id="15" name="TextBox 14"/>
          <p:cNvSpPr txBox="1"/>
          <p:nvPr/>
        </p:nvSpPr>
        <p:spPr>
          <a:xfrm>
            <a:off x="3675887"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grows, vitalises</a:t>
            </a:r>
          </a:p>
        </p:txBody>
      </p:sp>
      <p:sp>
        <p:nvSpPr>
          <p:cNvPr id="16" name="TextBox 15"/>
          <p:cNvSpPr txBox="1"/>
          <p:nvPr/>
        </p:nvSpPr>
        <p:spPr>
          <a:xfrm>
            <a:off x="3675887"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insentient (jada)</a:t>
            </a:r>
          </a:p>
        </p:txBody>
      </p:sp>
      <p:sp>
        <p:nvSpPr>
          <p:cNvPr id="17" name="Rounded Rectangle 16"/>
          <p:cNvSpPr/>
          <p:nvPr/>
        </p:nvSpPr>
        <p:spPr>
          <a:xfrm>
            <a:off x="6263640" y="2468880"/>
            <a:ext cx="2615184" cy="246888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9A6414"/>
                </a:solidFill>
                <a:latin typeface="Cambria"/>
              </a:rPr>
              <a:t>Animal</a:t>
            </a:r>
          </a:p>
        </p:txBody>
      </p:sp>
      <p:sp>
        <p:nvSpPr>
          <p:cNvPr id="19" name="TextBox 18"/>
          <p:cNvSpPr txBox="1"/>
          <p:nvPr/>
        </p:nvSpPr>
        <p:spPr>
          <a:xfrm>
            <a:off x="6464807"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hope to live enters — jeevan appears</a:t>
            </a:r>
          </a:p>
        </p:txBody>
      </p:sp>
      <p:sp>
        <p:nvSpPr>
          <p:cNvPr id="20" name="TextBox 19"/>
          <p:cNvSpPr txBox="1"/>
          <p:nvPr/>
        </p:nvSpPr>
        <p:spPr>
          <a:xfrm>
            <a:off x="6464807"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9A6414"/>
                </a:solidFill>
                <a:latin typeface="Calibri"/>
              </a:rPr>
              <a:t>first sentient unit</a:t>
            </a:r>
          </a:p>
        </p:txBody>
      </p:sp>
      <p:sp>
        <p:nvSpPr>
          <p:cNvPr id="21" name="Rounded Rectangle 20"/>
          <p:cNvSpPr/>
          <p:nvPr/>
        </p:nvSpPr>
        <p:spPr>
          <a:xfrm>
            <a:off x="9052559"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53728"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Knowledge</a:t>
            </a:r>
          </a:p>
        </p:txBody>
      </p:sp>
      <p:sp>
        <p:nvSpPr>
          <p:cNvPr id="23" name="TextBox 22"/>
          <p:cNvSpPr txBox="1"/>
          <p:nvPr/>
        </p:nvSpPr>
        <p:spPr>
          <a:xfrm>
            <a:off x="9253728"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knows, evaluates, uses all nature</a:t>
            </a:r>
          </a:p>
        </p:txBody>
      </p:sp>
      <p:sp>
        <p:nvSpPr>
          <p:cNvPr id="24" name="TextBox 23"/>
          <p:cNvSpPr txBox="1"/>
          <p:nvPr/>
        </p:nvSpPr>
        <p:spPr>
          <a:xfrm>
            <a:off x="9253728"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jeevan through a human body</a:t>
            </a:r>
          </a:p>
        </p:txBody>
      </p:sp>
      <p:sp>
        <p:nvSpPr>
          <p:cNvPr id="25" name="TextBox 24"/>
          <p:cNvSpPr txBox="1"/>
          <p:nvPr/>
        </p:nvSpPr>
        <p:spPr>
          <a:xfrm>
            <a:off x="685800" y="5074920"/>
            <a:ext cx="10789920" cy="365760"/>
          </a:xfrm>
          <a:prstGeom prst="rect">
            <a:avLst/>
          </a:prstGeom>
          <a:noFill/>
        </p:spPr>
        <p:txBody>
          <a:bodyPr wrap="square" lIns="0" rIns="0" tIns="0" bIns="0" anchor="t">
            <a:spAutoFit/>
          </a:bodyPr>
          <a:lstStyle/>
          <a:p>
            <a:pPr algn="ctr">
              <a:spcBef>
                <a:spcPts val="0"/>
              </a:spcBef>
              <a:spcAft>
                <a:spcPts val="400"/>
              </a:spcAft>
            </a:pPr>
            <a:r>
              <a:rPr sz="1250" b="0" i="1">
                <a:solidFill>
                  <a:srgbClr val="3B4A7A"/>
                </a:solidFill>
                <a:latin typeface="Calibri"/>
              </a:rPr>
              <a:t>each higher order contains the lower ones  →  humans belong to the knowledge order</a:t>
            </a:r>
          </a:p>
        </p:txBody>
      </p:sp>
      <p:sp>
        <p:nvSpPr>
          <p:cNvPr id="26" name="Rounded Rectangle 25"/>
          <p:cNvSpPr/>
          <p:nvPr/>
        </p:nvSpPr>
        <p:spPr>
          <a:xfrm>
            <a:off x="685800" y="5577840"/>
            <a:ext cx="10817352" cy="65836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577840"/>
            <a:ext cx="10177272" cy="65836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Knowledge order — essential nature: fortitude, courage, generosity, kindness, grace, compassion; purpose (dharma): happiness.</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Ch. 3 · The Ontology of Coexistence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§1.2.2 · THE ONTOLOGICAL ARGUMENT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Sentience Is Developed Matter</a:t>
            </a:r>
          </a:p>
        </p:txBody>
      </p:sp>
      <p:sp>
        <p:nvSpPr>
          <p:cNvPr id="8" name="TextBox 7"/>
          <p:cNvSpPr txBox="1"/>
          <p:nvPr/>
        </p:nvSpPr>
        <p:spPr>
          <a:xfrm>
            <a:off x="685800" y="1737360"/>
            <a:ext cx="10789920" cy="50292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The sentient unit is not a second substance added from outside. Development is built into existence.</a:t>
            </a:r>
          </a:p>
        </p:txBody>
      </p:sp>
      <p:sp>
        <p:nvSpPr>
          <p:cNvPr id="9" name="Rounded Rectangle 8"/>
          <p:cNvSpPr/>
          <p:nvPr/>
        </p:nvSpPr>
        <p:spPr>
          <a:xfrm>
            <a:off x="685800"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Effort</a:t>
            </a:r>
          </a:p>
        </p:txBody>
      </p:sp>
      <p:sp>
        <p:nvSpPr>
          <p:cNvPr id="11" name="TextBox 10"/>
          <p:cNvSpPr txBox="1"/>
          <p:nvPr/>
        </p:nvSpPr>
        <p:spPr>
          <a:xfrm>
            <a:off x="3166110"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2" name="Rounded Rectangle 11"/>
          <p:cNvSpPr/>
          <p:nvPr/>
        </p:nvSpPr>
        <p:spPr>
          <a:xfrm>
            <a:off x="3467862"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67862"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Motion</a:t>
            </a:r>
          </a:p>
        </p:txBody>
      </p:sp>
      <p:sp>
        <p:nvSpPr>
          <p:cNvPr id="14" name="TextBox 13"/>
          <p:cNvSpPr txBox="1"/>
          <p:nvPr/>
        </p:nvSpPr>
        <p:spPr>
          <a:xfrm>
            <a:off x="5948172"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5" name="Rounded Rectangle 14"/>
          <p:cNvSpPr/>
          <p:nvPr/>
        </p:nvSpPr>
        <p:spPr>
          <a:xfrm>
            <a:off x="6249924"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9924"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Result</a:t>
            </a:r>
          </a:p>
        </p:txBody>
      </p:sp>
      <p:sp>
        <p:nvSpPr>
          <p:cNvPr id="17" name="TextBox 16"/>
          <p:cNvSpPr txBox="1"/>
          <p:nvPr/>
        </p:nvSpPr>
        <p:spPr>
          <a:xfrm>
            <a:off x="8730234"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8" name="Rounded Rectangle 17"/>
          <p:cNvSpPr/>
          <p:nvPr/>
        </p:nvSpPr>
        <p:spPr>
          <a:xfrm>
            <a:off x="9031986" y="2331720"/>
            <a:ext cx="2471166" cy="548640"/>
          </a:xfrm>
          <a:prstGeom prst="roundRect">
            <a:avLst>
              <a:gd name="adj" fmla="val 18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1986"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Constitutional completeness</a:t>
            </a:r>
          </a:p>
        </p:txBody>
      </p:sp>
      <p:sp>
        <p:nvSpPr>
          <p:cNvPr id="20" name="Rounded Rectangle 19"/>
          <p:cNvSpPr/>
          <p:nvPr/>
        </p:nvSpPr>
        <p:spPr>
          <a:xfrm>
            <a:off x="685800" y="3200400"/>
            <a:ext cx="5257800" cy="19659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8855" y="33951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7036" y="34733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8758" y="35350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44752" y="3401568"/>
            <a:ext cx="4315968"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The sentient atom is the jeevan</a:t>
            </a:r>
          </a:p>
        </p:txBody>
      </p:sp>
      <p:sp>
        <p:nvSpPr>
          <p:cNvPr id="25" name="TextBox 24"/>
          <p:cNvSpPr txBox="1"/>
          <p:nvPr/>
        </p:nvSpPr>
        <p:spPr>
          <a:xfrm>
            <a:off x="941832" y="3913632"/>
            <a:ext cx="4745736" cy="105156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An atom that becomes constitutionally complete (gathanpurnata) crosses irreversibly into sentient status — and that sentient atom is the jeevan.</a:t>
            </a:r>
          </a:p>
        </p:txBody>
      </p:sp>
      <p:sp>
        <p:nvSpPr>
          <p:cNvPr id="26" name="Rounded Rectangle 25"/>
          <p:cNvSpPr/>
          <p:nvPr/>
        </p:nvSpPr>
        <p:spPr>
          <a:xfrm>
            <a:off x="6172200" y="3200400"/>
            <a:ext cx="5330952" cy="19659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85255" y="33951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63436" y="34733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25158" y="35350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31152" y="3401568"/>
            <a:ext cx="4389120"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Latency actualised, not emergence</a:t>
            </a:r>
          </a:p>
        </p:txBody>
      </p:sp>
      <p:sp>
        <p:nvSpPr>
          <p:cNvPr id="31" name="TextBox 30"/>
          <p:cNvSpPr txBox="1"/>
          <p:nvPr/>
        </p:nvSpPr>
        <p:spPr>
          <a:xfrm>
            <a:off x="6428232" y="3913632"/>
            <a:ext cx="4818888" cy="105156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Sentience is ever-present intelligibility reaching active form at a stable configuration — not strong emergence from wholly non-experiential matter.</a:t>
            </a:r>
          </a:p>
        </p:txBody>
      </p:sp>
      <p:sp>
        <p:nvSpPr>
          <p:cNvPr id="32" name="Rounded Rectangle 31"/>
          <p:cNvSpPr/>
          <p:nvPr/>
        </p:nvSpPr>
        <p:spPr>
          <a:xfrm>
            <a:off x="685800" y="5440680"/>
            <a:ext cx="10817352" cy="74980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44068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Post-death continuity is a </a:t>
            </a:r>
            <a:r>
              <a:rPr sz="1450" b="1" i="1">
                <a:solidFill>
                  <a:srgbClr val="9A6414"/>
                </a:solidFill>
                <a:latin typeface="Calibri"/>
              </a:rPr>
              <a:t>separate</a:t>
            </a:r>
            <a:r>
              <a:rPr sz="1450" b="1" i="0">
                <a:solidFill>
                  <a:srgbClr val="9A6414"/>
                </a:solidFill>
                <a:latin typeface="Calibri"/>
              </a:rPr>
              <a:t> commitment: configurations begin and end; jeevan persistence is inferred from constitutional immortality with conservation.</a:t>
            </a:r>
          </a:p>
        </p:txBody>
      </p:sp>
      <p:sp>
        <p:nvSpPr>
          <p:cNvPr id="34" name="TextBox 33"/>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p. 91 · JV, Ch. 1 · The Ontology of Coexistence §§1.8–1.12,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§§1.2.3–1.2.5 · THE ONTOLOGICAL ARGUMENT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Body and Self Are Not the Same</a:t>
            </a:r>
          </a:p>
        </p:txBody>
      </p:sp>
      <p:sp>
        <p:nvSpPr>
          <p:cNvPr id="8" name="Rounded Rectangle 7"/>
          <p:cNvSpPr/>
          <p:nvPr/>
        </p:nvSpPr>
        <p:spPr>
          <a:xfrm>
            <a:off x="685800" y="1783080"/>
            <a:ext cx="3429000" cy="2743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Different jobs</a:t>
            </a:r>
          </a:p>
        </p:txBody>
      </p:sp>
      <p:sp>
        <p:nvSpPr>
          <p:cNvPr id="13" name="TextBox 12"/>
          <p:cNvSpPr txBox="1"/>
          <p:nvPr/>
        </p:nvSpPr>
        <p:spPr>
          <a:xfrm>
            <a:off x="941832"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Eating and sleeping serve the body; values and evaluation serve jeevan. When the body sleeps, jeevan does not. Different jobs — not the same thing.</a:t>
            </a:r>
          </a:p>
        </p:txBody>
      </p:sp>
      <p:sp>
        <p:nvSpPr>
          <p:cNvPr id="14" name="Rounded Rectangle 13"/>
          <p:cNvSpPr/>
          <p:nvPr/>
        </p:nvSpPr>
        <p:spPr>
          <a:xfrm>
            <a:off x="4379976" y="1783080"/>
            <a:ext cx="3429000" cy="274320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93031"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71212"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32934"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38928"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Joint form</a:t>
            </a:r>
          </a:p>
        </p:txBody>
      </p:sp>
      <p:sp>
        <p:nvSpPr>
          <p:cNvPr id="19" name="TextBox 18"/>
          <p:cNvSpPr txBox="1"/>
          <p:nvPr/>
        </p:nvSpPr>
        <p:spPr>
          <a:xfrm>
            <a:off x="4636008"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the body and jeevan together — not reducible to either alone. The brain (medhas) is the medium jeevan works through, not the producer of sentience.</a:t>
            </a:r>
          </a:p>
        </p:txBody>
      </p:sp>
      <p:sp>
        <p:nvSpPr>
          <p:cNvPr id="20" name="Rounded Rectangle 19"/>
          <p:cNvSpPr/>
          <p:nvPr/>
        </p:nvSpPr>
        <p:spPr>
          <a:xfrm>
            <a:off x="8074152" y="1783080"/>
            <a:ext cx="3429000" cy="2743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87207"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365388"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27110"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33104"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The wisdom layer</a:t>
            </a:r>
          </a:p>
        </p:txBody>
      </p:sp>
      <p:sp>
        <p:nvSpPr>
          <p:cNvPr id="25" name="TextBox 24"/>
          <p:cNvSpPr txBox="1"/>
          <p:nvPr/>
        </p:nvSpPr>
        <p:spPr>
          <a:xfrm>
            <a:off x="8330183"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Awakened humans express five functional layers (koshas); the fifth — vigyanmaya — enables knowledge, wisdom, science. Animals have four; matter has two.</a:t>
            </a:r>
          </a:p>
        </p:txBody>
      </p:sp>
      <p:sp>
        <p:nvSpPr>
          <p:cNvPr id="26" name="Rounded Rectangle 25"/>
          <p:cNvSpPr/>
          <p:nvPr/>
        </p:nvSpPr>
        <p:spPr>
          <a:xfrm>
            <a:off x="685800" y="4800600"/>
            <a:ext cx="10817352" cy="960120"/>
          </a:xfrm>
          <a:prstGeom prst="roundRect">
            <a:avLst>
              <a:gd name="adj" fmla="val 10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937760"/>
            <a:ext cx="10149840" cy="713232"/>
          </a:xfrm>
          <a:prstGeom prst="rect">
            <a:avLst/>
          </a:prstGeom>
          <a:noFill/>
        </p:spPr>
        <p:txBody>
          <a:bodyPr wrap="square" lIns="0" rIns="0" tIns="0" bIns="0" anchor="ctr">
            <a:spAutoFit/>
          </a:bodyPr>
          <a:lstStyle/>
          <a:p>
            <a:pPr algn="l">
              <a:lnSpc>
                <a:spcPct val="105000"/>
              </a:lnSpc>
              <a:spcBef>
                <a:spcPts val="0"/>
              </a:spcBef>
              <a:spcAft>
                <a:spcPts val="300"/>
              </a:spcAft>
            </a:pPr>
            <a:r>
              <a:rPr sz="1450" b="0" i="1">
                <a:solidFill>
                  <a:srgbClr val="FFFFFF"/>
                </a:solidFill>
                <a:latin typeface="Calibri"/>
              </a:rPr>
              <a:t>“The body is not jeevan, and jeevan is not the body. Jeevan is eternal, and the body is merely a vehicle and medium for jeevan.”</a:t>
            </a:r>
          </a:p>
          <a:p>
            <a:pPr algn="l">
              <a:lnSpc>
                <a:spcPct val="105000"/>
              </a:lnSpc>
              <a:spcBef>
                <a:spcPts val="0"/>
              </a:spcBef>
              <a:spcAft>
                <a:spcPts val="300"/>
              </a:spcAft>
            </a:pPr>
            <a:r>
              <a:rPr sz="1200" b="1" i="0">
                <a:solidFill>
                  <a:srgbClr val="C9D4EF"/>
                </a:solidFill>
                <a:latin typeface="Calibri"/>
              </a:rPr>
              <a:t>— SB, Ch. 7</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SB, Ch. 7 · MVD, pp. 13, 83, 115–116 · JV, pp. 39,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§1.3 · THE PHENOMENOLOGICAL ARGUMENT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Four Things a Purely Material Being Should Not Have</a:t>
            </a:r>
          </a:p>
        </p:txBody>
      </p:sp>
      <p:sp>
        <p:nvSpPr>
          <p:cNvPr id="8" name="TextBox 7"/>
          <p:cNvSpPr txBox="1"/>
          <p:nvPr/>
        </p:nvSpPr>
        <p:spPr>
          <a:xfrm>
            <a:off x="685800" y="1737360"/>
            <a:ext cx="10789920" cy="45720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Read off lived experience — the one line of evidence anyone can check without instruments, scriptures, or laboratories.</a:t>
            </a:r>
          </a:p>
        </p:txBody>
      </p:sp>
      <p:sp>
        <p:nvSpPr>
          <p:cNvPr id="9" name="Rounded Rectangle 8"/>
          <p:cNvSpPr/>
          <p:nvPr/>
        </p:nvSpPr>
        <p:spPr>
          <a:xfrm>
            <a:off x="685800" y="22860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4807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25589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26206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4871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Two kinds of fulfilment</a:t>
            </a:r>
          </a:p>
        </p:txBody>
      </p:sp>
      <p:sp>
        <p:nvSpPr>
          <p:cNvPr id="14" name="TextBox 13"/>
          <p:cNvSpPr txBox="1"/>
          <p:nvPr/>
        </p:nvSpPr>
        <p:spPr>
          <a:xfrm>
            <a:off x="941832" y="29992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Fed, rested, healthy — yet unfulfilled; tired and hungry — yet content after acting justly. The two never substitute.</a:t>
            </a:r>
          </a:p>
        </p:txBody>
      </p:sp>
      <p:sp>
        <p:nvSpPr>
          <p:cNvPr id="15" name="Rounded Rectangle 14"/>
          <p:cNvSpPr/>
          <p:nvPr/>
        </p:nvSpPr>
        <p:spPr>
          <a:xfrm>
            <a:off x="6208776" y="22860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21831" y="24807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00012" y="25589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61734" y="26206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67728" y="24871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Wanting past the body</a:t>
            </a:r>
          </a:p>
        </p:txBody>
      </p:sp>
      <p:sp>
        <p:nvSpPr>
          <p:cNvPr id="20" name="TextBox 19"/>
          <p:cNvSpPr txBox="1"/>
          <p:nvPr/>
        </p:nvSpPr>
        <p:spPr>
          <a:xfrm>
            <a:off x="6464808" y="29992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We want happiness continuously; no amount of consumption delivers it. We grow, build, and create far beyond bodily need.</a:t>
            </a:r>
          </a:p>
        </p:txBody>
      </p:sp>
      <p:sp>
        <p:nvSpPr>
          <p:cNvPr id="21" name="Rounded Rectangle 20"/>
          <p:cNvSpPr/>
          <p:nvPr/>
        </p:nvSpPr>
        <p:spPr>
          <a:xfrm>
            <a:off x="685800" y="41148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98855" y="4309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77036" y="4387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8758" y="4449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44752" y="43159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A self the body doesn't exhaust</a:t>
            </a:r>
          </a:p>
        </p:txBody>
      </p:sp>
      <p:sp>
        <p:nvSpPr>
          <p:cNvPr id="26" name="TextBox 25"/>
          <p:cNvSpPr txBox="1"/>
          <p:nvPr/>
        </p:nvSpPr>
        <p:spPr>
          <a:xfrm>
            <a:off x="941832" y="48280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In sleep something still dreams; the sense of 'I' does not age like the knees. We say 'my body' as we say 'my house.'</a:t>
            </a:r>
          </a:p>
        </p:txBody>
      </p:sp>
      <p:sp>
        <p:nvSpPr>
          <p:cNvPr id="27" name="Rounded Rectangle 26"/>
          <p:cNvSpPr/>
          <p:nvPr/>
        </p:nvSpPr>
        <p:spPr>
          <a:xfrm>
            <a:off x="6208776" y="41148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21831" y="4309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00012" y="4387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61734" y="4449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67728" y="43159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An unlearned moral demand</a:t>
            </a:r>
          </a:p>
        </p:txBody>
      </p:sp>
      <p:sp>
        <p:nvSpPr>
          <p:cNvPr id="32" name="TextBox 31"/>
          <p:cNvSpPr txBox="1"/>
          <p:nvPr/>
        </p:nvSpPr>
        <p:spPr>
          <a:xfrm>
            <a:off x="6464808" y="48280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Children protest unfairness before anyone teaches them. Justice, truth, right conduct are recognised, not acquired.</a:t>
            </a:r>
          </a:p>
        </p:txBody>
      </p:sp>
      <p:sp>
        <p:nvSpPr>
          <p:cNvPr id="33" name="TextBox 3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SB, Ch. 1 &amp; 7 · JV, Ch. 1; p. 138 · The Ontology of Coexistence §1.10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§1.4 · THE PROPOSED TEST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Not Belief — Self-Verification and Evidence</a:t>
            </a:r>
          </a:p>
        </p:txBody>
      </p:sp>
      <p:sp>
        <p:nvSpPr>
          <p:cNvPr id="8" name="TextBox 7"/>
          <p:cNvSpPr txBox="1"/>
          <p:nvPr/>
        </p:nvSpPr>
        <p:spPr>
          <a:xfrm>
            <a:off x="685800" y="1783080"/>
            <a:ext cx="10789920" cy="54864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Nagraj does not ask for belief on authority. Understanding is complete only when it becomes clear in one's own seeing, stable in conviction, and evident in conduct.</a:t>
            </a:r>
          </a:p>
        </p:txBody>
      </p:sp>
      <p:sp>
        <p:nvSpPr>
          <p:cNvPr id="9" name="Rounded Rectangle 8"/>
          <p:cNvSpPr/>
          <p:nvPr/>
        </p:nvSpPr>
        <p:spPr>
          <a:xfrm>
            <a:off x="685800" y="2743200"/>
            <a:ext cx="3398520" cy="658368"/>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Study</a:t>
            </a:r>
          </a:p>
        </p:txBody>
      </p:sp>
      <p:sp>
        <p:nvSpPr>
          <p:cNvPr id="11" name="TextBox 10"/>
          <p:cNvSpPr txBox="1"/>
          <p:nvPr/>
        </p:nvSpPr>
        <p:spPr>
          <a:xfrm>
            <a:off x="4093464" y="2889504"/>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2" name="Rounded Rectangle 11"/>
          <p:cNvSpPr/>
          <p:nvPr/>
        </p:nvSpPr>
        <p:spPr>
          <a:xfrm>
            <a:off x="4395216" y="2743200"/>
            <a:ext cx="3398520" cy="658368"/>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95216"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Verify in yourself</a:t>
            </a:r>
          </a:p>
        </p:txBody>
      </p:sp>
      <p:sp>
        <p:nvSpPr>
          <p:cNvPr id="14" name="TextBox 13"/>
          <p:cNvSpPr txBox="1"/>
          <p:nvPr/>
        </p:nvSpPr>
        <p:spPr>
          <a:xfrm>
            <a:off x="7802880" y="2889504"/>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5" name="Rounded Rectangle 14"/>
          <p:cNvSpPr/>
          <p:nvPr/>
        </p:nvSpPr>
        <p:spPr>
          <a:xfrm>
            <a:off x="8104632" y="2743200"/>
            <a:ext cx="3398520" cy="658368"/>
          </a:xfrm>
          <a:prstGeom prst="roundRect">
            <a:avLst>
              <a:gd name="adj" fmla="val 18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04632"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Evidence in behaviour</a:t>
            </a:r>
          </a:p>
        </p:txBody>
      </p:sp>
      <p:sp>
        <p:nvSpPr>
          <p:cNvPr id="17" name="Rounded Rectangle 16"/>
          <p:cNvSpPr/>
          <p:nvPr/>
        </p:nvSpPr>
        <p:spPr>
          <a:xfrm>
            <a:off x="685800" y="3886200"/>
            <a:ext cx="10817352" cy="1051560"/>
          </a:xfrm>
          <a:prstGeom prst="roundRect">
            <a:avLst>
              <a:gd name="adj" fmla="val 9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041648"/>
            <a:ext cx="10149840" cy="777240"/>
          </a:xfrm>
          <a:prstGeom prst="rect">
            <a:avLst/>
          </a:prstGeom>
          <a:noFill/>
        </p:spPr>
        <p:txBody>
          <a:bodyPr wrap="square" lIns="0" rIns="0" tIns="0" bIns="0" anchor="ctr">
            <a:spAutoFit/>
          </a:bodyPr>
          <a:lstStyle/>
          <a:p>
            <a:pPr algn="l">
              <a:lnSpc>
                <a:spcPct val="108000"/>
              </a:lnSpc>
              <a:spcBef>
                <a:spcPts val="0"/>
              </a:spcBef>
              <a:spcAft>
                <a:spcPts val="400"/>
              </a:spcAft>
            </a:pPr>
            <a:r>
              <a:rPr sz="1350" b="1" i="0">
                <a:solidFill>
                  <a:srgbClr val="1E2447"/>
                </a:solidFill>
                <a:latin typeface="Calibri"/>
              </a:rPr>
              <a:t>The evidence chain: </a:t>
            </a:r>
            <a:r>
              <a:rPr sz="1350" b="1" i="0">
                <a:solidFill>
                  <a:srgbClr val="9A6414"/>
                </a:solidFill>
                <a:latin typeface="Calibri"/>
              </a:rPr>
              <a:t>Realisation – Behaviour – Experiment.</a:t>
            </a:r>
            <a:r>
              <a:rPr sz="1350" b="0" i="0">
                <a:solidFill>
                  <a:srgbClr val="5A6377"/>
                </a:solidFill>
                <a:latin typeface="Calibri"/>
              </a:rPr>
              <a:t>  Realisation is ultimate evidence only when it becomes manifest in resolution, work, and conduct — and closes as authentic proof (pramanikta) when it can be conveyed to another.</a:t>
            </a:r>
          </a:p>
        </p:txBody>
      </p:sp>
      <p:sp>
        <p:nvSpPr>
          <p:cNvPr id="19" name="Rounded Rectangle 18"/>
          <p:cNvSpPr/>
          <p:nvPr/>
        </p:nvSpPr>
        <p:spPr>
          <a:xfrm>
            <a:off x="685800" y="5257800"/>
            <a:ext cx="10817352" cy="749808"/>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25780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Open question: can conduct-based criteria distinguish awakened practitioners from controls in a pre-registered, inter-subjective test?</a:t>
            </a:r>
          </a:p>
        </p:txBody>
      </p:sp>
      <p:sp>
        <p:nvSpPr>
          <p:cNvPr id="21" name="TextBox 20"/>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p. 12; The Alternative, point 5 · JV, p.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§2 · THE SCIENTIFIC POINT OF 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Mind Is What the Brain Does</a:t>
            </a:r>
          </a:p>
        </p:txBody>
      </p:sp>
      <p:sp>
        <p:nvSpPr>
          <p:cNvPr id="8" name="Rounded Rectangle 7"/>
          <p:cNvSpPr/>
          <p:nvPr/>
        </p:nvSpPr>
        <p:spPr>
          <a:xfrm>
            <a:off x="685800" y="1783080"/>
            <a:ext cx="5257800" cy="1600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answer</a:t>
            </a:r>
          </a:p>
        </p:txBody>
      </p:sp>
      <p:sp>
        <p:nvSpPr>
          <p:cNvPr id="13" name="TextBox 12"/>
          <p:cNvSpPr txBox="1"/>
          <p:nvPr/>
        </p:nvSpPr>
        <p:spPr>
          <a:xfrm>
            <a:off x="941832" y="2496312"/>
            <a:ext cx="4745736" cy="6858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 human is an evolved organism — a body with an extraordinarily complex nervous system shaped by evolution and culture. Mind is not a second entity.</a:t>
            </a:r>
          </a:p>
        </p:txBody>
      </p:sp>
      <p:sp>
        <p:nvSpPr>
          <p:cNvPr id="14" name="Rounded Rectangle 13"/>
          <p:cNvSpPr/>
          <p:nvPr/>
        </p:nvSpPr>
        <p:spPr>
          <a:xfrm>
            <a:off x="6172200" y="1783080"/>
            <a:ext cx="5330952" cy="1600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198424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Method</a:t>
            </a:r>
          </a:p>
        </p:txBody>
      </p:sp>
      <p:sp>
        <p:nvSpPr>
          <p:cNvPr id="19" name="TextBox 18"/>
          <p:cNvSpPr txBox="1"/>
          <p:nvPr/>
        </p:nvSpPr>
        <p:spPr>
          <a:xfrm>
            <a:off x="6428232" y="2496312"/>
            <a:ext cx="4818888" cy="6858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Methodological naturalism: public measurement and replication. Explaining experience starts from organised matter, not a second substance.</a:t>
            </a:r>
          </a:p>
        </p:txBody>
      </p:sp>
      <p:sp>
        <p:nvSpPr>
          <p:cNvPr id="20" name="TextBox 19"/>
          <p:cNvSpPr txBox="1"/>
          <p:nvPr/>
        </p:nvSpPr>
        <p:spPr>
          <a:xfrm>
            <a:off x="685800" y="3611880"/>
            <a:ext cx="10789920" cy="320040"/>
          </a:xfrm>
          <a:prstGeom prst="rect">
            <a:avLst/>
          </a:prstGeom>
          <a:noFill/>
        </p:spPr>
        <p:txBody>
          <a:bodyPr wrap="square" lIns="0" rIns="0" tIns="0" bIns="0" anchor="t">
            <a:spAutoFit/>
          </a:bodyPr>
          <a:lstStyle/>
          <a:p>
            <a:pPr algn="l">
              <a:spcBef>
                <a:spcPts val="0"/>
              </a:spcBef>
              <a:spcAft>
                <a:spcPts val="400"/>
              </a:spcAft>
            </a:pPr>
            <a:r>
              <a:rPr sz="1350" b="1" i="0">
                <a:solidFill>
                  <a:srgbClr val="1E2447"/>
                </a:solidFill>
                <a:latin typeface="Calibri"/>
              </a:rPr>
              <a:t>Five replies parallel Madhyasth Darshan's five ontological steps:</a:t>
            </a:r>
          </a:p>
        </p:txBody>
      </p:sp>
      <p:sp>
        <p:nvSpPr>
          <p:cNvPr id="21" name="Oval 20"/>
          <p:cNvSpPr/>
          <p:nvPr/>
        </p:nvSpPr>
        <p:spPr>
          <a:xfrm>
            <a:off x="841248" y="41239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40233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Continuity, not four orders</a:t>
            </a:r>
          </a:p>
        </p:txBody>
      </p:sp>
      <p:sp>
        <p:nvSpPr>
          <p:cNvPr id="23" name="TextBox 22"/>
          <p:cNvSpPr txBox="1"/>
          <p:nvPr/>
        </p:nvSpPr>
        <p:spPr>
          <a:xfrm>
            <a:off x="5394960" y="40416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gradients of complexity; no threshold where 'hope to live' enters</a:t>
            </a:r>
          </a:p>
        </p:txBody>
      </p:sp>
      <p:sp>
        <p:nvSpPr>
          <p:cNvPr id="24" name="Oval 23"/>
          <p:cNvSpPr/>
          <p:nvPr/>
        </p:nvSpPr>
        <p:spPr>
          <a:xfrm>
            <a:off x="841248" y="45811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44805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Mind emerges from organisation</a:t>
            </a:r>
          </a:p>
        </p:txBody>
      </p:sp>
      <p:sp>
        <p:nvSpPr>
          <p:cNvPr id="26" name="TextBox 25"/>
          <p:cNvSpPr txBox="1"/>
          <p:nvPr/>
        </p:nvSpPr>
        <p:spPr>
          <a:xfrm>
            <a:off x="5394960" y="44988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destroy the organisation (brain death) and the phenomena cease</a:t>
            </a:r>
          </a:p>
        </p:txBody>
      </p:sp>
      <p:sp>
        <p:nvSpPr>
          <p:cNvPr id="27" name="Oval 26"/>
          <p:cNvSpPr/>
          <p:nvPr/>
        </p:nvSpPr>
        <p:spPr>
          <a:xfrm>
            <a:off x="841248" y="50383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49377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No second entity</a:t>
            </a:r>
          </a:p>
        </p:txBody>
      </p:sp>
      <p:sp>
        <p:nvSpPr>
          <p:cNvPr id="29" name="TextBox 28"/>
          <p:cNvSpPr txBox="1"/>
          <p:nvPr/>
        </p:nvSpPr>
        <p:spPr>
          <a:xfrm>
            <a:off x="5394960" y="49560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no instrument detects a sentient unit separate from brain activity</a:t>
            </a:r>
          </a:p>
        </p:txBody>
      </p:sp>
      <p:sp>
        <p:nvSpPr>
          <p:cNvPr id="30" name="Oval 29"/>
          <p:cNvSpPr/>
          <p:nvPr/>
        </p:nvSpPr>
        <p:spPr>
          <a:xfrm>
            <a:off x="841248" y="54955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88720" y="53949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Culture + brain, not a knower</a:t>
            </a:r>
          </a:p>
        </p:txBody>
      </p:sp>
      <p:sp>
        <p:nvSpPr>
          <p:cNvPr id="32" name="TextBox 31"/>
          <p:cNvSpPr txBox="1"/>
          <p:nvPr/>
        </p:nvSpPr>
        <p:spPr>
          <a:xfrm>
            <a:off x="5394960" y="54132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symbol use and cumulative culture, not a knowledge-order self</a:t>
            </a:r>
          </a:p>
        </p:txBody>
      </p:sp>
      <p:sp>
        <p:nvSpPr>
          <p:cNvPr id="33" name="Oval 32"/>
          <p:cNvSpPr/>
          <p:nvPr/>
        </p:nvSpPr>
        <p:spPr>
          <a:xfrm>
            <a:off x="841248" y="59527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521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Layered function, not koshas</a:t>
            </a:r>
          </a:p>
        </p:txBody>
      </p:sp>
      <p:sp>
        <p:nvSpPr>
          <p:cNvPr id="35" name="TextBox 34"/>
          <p:cNvSpPr txBox="1"/>
          <p:nvPr/>
        </p:nvSpPr>
        <p:spPr>
          <a:xfrm>
            <a:off x="5394960" y="58704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distributed cortical &amp; subcortical systems</a:t>
            </a:r>
          </a:p>
        </p:txBody>
      </p:sp>
      <p:sp>
        <p:nvSpPr>
          <p:cNvPr id="36" name="TextBox 35"/>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Dennett 1991 · Churchland 1986 · Kandel et al. 2021 · Tomasello 2014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§2.2.3 · THE SCIENTIFIC POINT OF 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The Interaction Problem</a:t>
            </a:r>
          </a:p>
        </p:txBody>
      </p:sp>
      <p:sp>
        <p:nvSpPr>
          <p:cNvPr id="8" name="TextBox 7"/>
          <p:cNvSpPr txBox="1"/>
          <p:nvPr/>
        </p:nvSpPr>
        <p:spPr>
          <a:xfrm>
            <a:off x="685800" y="1783080"/>
            <a:ext cx="10789920" cy="82296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If a separate self drives the body, there must be a junction where intention becomes muscle motion. Physiology finds none — every movement traces back through neurons obeying ordinary physics. This is the causal-closure objection, sharpened by physics.</a:t>
            </a:r>
          </a:p>
        </p:txBody>
      </p:sp>
      <p:sp>
        <p:nvSpPr>
          <p:cNvPr id="9" name="Rounded Rectangle 8"/>
          <p:cNvSpPr/>
          <p:nvPr/>
        </p:nvSpPr>
        <p:spPr>
          <a:xfrm>
            <a:off x="685800" y="2971800"/>
            <a:ext cx="5257800" cy="2103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3166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244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306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317296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dilemma</a:t>
            </a:r>
          </a:p>
        </p:txBody>
      </p:sp>
      <p:sp>
        <p:nvSpPr>
          <p:cNvPr id="14" name="TextBox 13"/>
          <p:cNvSpPr txBox="1"/>
          <p:nvPr/>
        </p:nvSpPr>
        <p:spPr>
          <a:xfrm>
            <a:off x="941832" y="3685032"/>
            <a:ext cx="4745736" cy="1188719"/>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An interacting jeevan must either inject energy into a closed physical system (violating conservation) — or rearrange energy with no detectable surplus or deficit. No reproducible anomaly has been found.</a:t>
            </a:r>
          </a:p>
        </p:txBody>
      </p:sp>
      <p:sp>
        <p:nvSpPr>
          <p:cNvPr id="15" name="Rounded Rectangle 14"/>
          <p:cNvSpPr/>
          <p:nvPr/>
        </p:nvSpPr>
        <p:spPr>
          <a:xfrm>
            <a:off x="6172200" y="2971800"/>
            <a:ext cx="5330952" cy="210312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85255" y="3166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63436" y="3244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5158" y="3306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317296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MD's non-Cartesian reply</a:t>
            </a:r>
          </a:p>
        </p:txBody>
      </p:sp>
      <p:sp>
        <p:nvSpPr>
          <p:cNvPr id="20" name="TextBox 19"/>
          <p:cNvSpPr txBox="1"/>
          <p:nvPr/>
        </p:nvSpPr>
        <p:spPr>
          <a:xfrm>
            <a:off x="6428232" y="3685032"/>
            <a:ext cx="4818888" cy="1188719"/>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The human is a joint form in which jeevan coordinates through state and order transmission within effort–motion–result — not joule injection. Whether that satisfies causal closure remains open.</a:t>
            </a:r>
          </a:p>
        </p:txBody>
      </p:sp>
      <p:sp>
        <p:nvSpPr>
          <p:cNvPr id="21" name="Rounded Rectangle 20"/>
          <p:cNvSpPr/>
          <p:nvPr/>
        </p:nvSpPr>
        <p:spPr>
          <a:xfrm>
            <a:off x="685800" y="5349240"/>
            <a:ext cx="10817352" cy="82296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349240"/>
            <a:ext cx="10177272" cy="82296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The bar is high: an interacting jeevan must be either causally inert — and then it does not 'drive' the body — or measurably depart from closed physical prediction.</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Kim 2005 · Shapiro 2007 (Descartes &amp; Elisabeth, 1643) · Kandel et al. 2021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§§2.3–2.4 · THE SCIENTIFIC POINT OF 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Real, but Brain-Mediated</a:t>
            </a:r>
          </a:p>
        </p:txBody>
      </p:sp>
      <p:sp>
        <p:nvSpPr>
          <p:cNvPr id="8" name="TextBox 7"/>
          <p:cNvSpPr txBox="1"/>
          <p:nvPr/>
        </p:nvSpPr>
        <p:spPr>
          <a:xfrm>
            <a:off x="685800" y="1737360"/>
            <a:ext cx="10789920" cy="45720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Science does not dismiss first-person experience — it treats the felt distinctions as real, but as what organised neural processing feels like from the inside.</a:t>
            </a:r>
          </a:p>
        </p:txBody>
      </p:sp>
      <p:sp>
        <p:nvSpPr>
          <p:cNvPr id="9" name="Rounded Rectangle 8"/>
          <p:cNvSpPr/>
          <p:nvPr/>
        </p:nvSpPr>
        <p:spPr>
          <a:xfrm>
            <a:off x="685800" y="224028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44144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Fulfilment</a:t>
            </a:r>
          </a:p>
        </p:txBody>
      </p:sp>
      <p:sp>
        <p:nvSpPr>
          <p:cNvPr id="11" name="TextBox 10"/>
          <p:cNvSpPr txBox="1"/>
          <p:nvPr/>
        </p:nvSpPr>
        <p:spPr>
          <a:xfrm>
            <a:off x="941832" y="295351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Bodily vs meaningful satisfaction both ride on the same nervous system — reward and valuation circuits, not a non-body satisfier.</a:t>
            </a:r>
          </a:p>
        </p:txBody>
      </p:sp>
      <p:sp>
        <p:nvSpPr>
          <p:cNvPr id="12" name="Rounded Rectangle 11"/>
          <p:cNvSpPr/>
          <p:nvPr/>
        </p:nvSpPr>
        <p:spPr>
          <a:xfrm>
            <a:off x="6208776" y="224028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44144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Unlimited wanting</a:t>
            </a:r>
          </a:p>
        </p:txBody>
      </p:sp>
      <p:sp>
        <p:nvSpPr>
          <p:cNvPr id="14" name="TextBox 13"/>
          <p:cNvSpPr txBox="1"/>
          <p:nvPr/>
        </p:nvSpPr>
        <p:spPr>
          <a:xfrm>
            <a:off x="6464808" y="295351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Motivational systems built for pursuit, hedonic adaptation, and evolutionary mismatch — not a more-than-body want.</a:t>
            </a:r>
          </a:p>
        </p:txBody>
      </p:sp>
      <p:sp>
        <p:nvSpPr>
          <p:cNvPr id="15" name="Rounded Rectangle 14"/>
          <p:cNvSpPr/>
          <p:nvPr/>
        </p:nvSpPr>
        <p:spPr>
          <a:xfrm>
            <a:off x="685800" y="379476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9592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The felt self</a:t>
            </a:r>
          </a:p>
        </p:txBody>
      </p:sp>
      <p:sp>
        <p:nvSpPr>
          <p:cNvPr id="17" name="TextBox 16"/>
          <p:cNvSpPr txBox="1"/>
          <p:nvPr/>
        </p:nvSpPr>
        <p:spPr>
          <a:xfrm>
            <a:off x="941832" y="450799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Sleep, dreaming, and 'my body' are narrative self-modeling and altered brain states — not intuition of a non-body self.</a:t>
            </a:r>
          </a:p>
        </p:txBody>
      </p:sp>
      <p:sp>
        <p:nvSpPr>
          <p:cNvPr id="18" name="Rounded Rectangle 17"/>
          <p:cNvSpPr/>
          <p:nvPr/>
        </p:nvSpPr>
        <p:spPr>
          <a:xfrm>
            <a:off x="6208776" y="379476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99592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Moral beginnings</a:t>
            </a:r>
          </a:p>
        </p:txBody>
      </p:sp>
      <p:sp>
        <p:nvSpPr>
          <p:cNvPr id="20" name="TextBox 19"/>
          <p:cNvSpPr txBox="1"/>
          <p:nvPr/>
        </p:nvSpPr>
        <p:spPr>
          <a:xfrm>
            <a:off x="6464808" y="450799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Children's fairness is evolved cooperation and social learning — not an innate knowledge-order orientation.</a:t>
            </a:r>
          </a:p>
        </p:txBody>
      </p:sp>
      <p:sp>
        <p:nvSpPr>
          <p:cNvPr id="21" name="Rounded Rectangle 20"/>
          <p:cNvSpPr/>
          <p:nvPr/>
        </p:nvSpPr>
        <p:spPr>
          <a:xfrm>
            <a:off x="685800" y="5440680"/>
            <a:ext cx="10817352" cy="713232"/>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440680"/>
            <a:ext cx="10177272" cy="713232"/>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Public evidence, not private realisation: claims anyone can check, predictions that could fail — restricting what counts as proof.</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Dennett 1991 · Kandel et al. 2021 · Bloom 2013 · Popper 1959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§2.5 · THE SCIENTIFIC POINT OF 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What Science Leaves Open</a:t>
            </a:r>
          </a:p>
        </p:txBody>
      </p:sp>
      <p:sp>
        <p:nvSpPr>
          <p:cNvPr id="8" name="Rounded Rectangle 7"/>
          <p:cNvSpPr/>
          <p:nvPr/>
        </p:nvSpPr>
        <p:spPr>
          <a:xfrm>
            <a:off x="685800" y="1828800"/>
            <a:ext cx="5257800" cy="21945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2023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101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63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202996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hard problem</a:t>
            </a:r>
          </a:p>
        </p:txBody>
      </p:sp>
      <p:sp>
        <p:nvSpPr>
          <p:cNvPr id="13" name="TextBox 12"/>
          <p:cNvSpPr txBox="1"/>
          <p:nvPr/>
        </p:nvSpPr>
        <p:spPr>
          <a:xfrm>
            <a:off x="941832" y="2542032"/>
            <a:ext cx="4745736" cy="128016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Science explains the functions of mind increasingly well — but why physical processing is accompanied by felt experience at all remains unsolved.</a:t>
            </a:r>
          </a:p>
        </p:txBody>
      </p:sp>
      <p:sp>
        <p:nvSpPr>
          <p:cNvPr id="14" name="Rounded Rectangle 13"/>
          <p:cNvSpPr/>
          <p:nvPr/>
        </p:nvSpPr>
        <p:spPr>
          <a:xfrm>
            <a:off x="6172200" y="1828800"/>
            <a:ext cx="5330952" cy="21945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2023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101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63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202996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Sentience in matter?</a:t>
            </a:r>
          </a:p>
        </p:txBody>
      </p:sp>
      <p:sp>
        <p:nvSpPr>
          <p:cNvPr id="19" name="TextBox 18"/>
          <p:cNvSpPr txBox="1"/>
          <p:nvPr/>
        </p:nvSpPr>
        <p:spPr>
          <a:xfrm>
            <a:off x="6428232" y="2542032"/>
            <a:ext cx="4818888" cy="128016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Respected philosophers take panpsychism seriously — consciousness as fundamental to matter. Not established science, and none claims the conscious unit survives death.</a:t>
            </a:r>
          </a:p>
        </p:txBody>
      </p:sp>
      <p:sp>
        <p:nvSpPr>
          <p:cNvPr id="20" name="Rounded Rectangle 19"/>
          <p:cNvSpPr/>
          <p:nvPr/>
        </p:nvSpPr>
        <p:spPr>
          <a:xfrm>
            <a:off x="685800" y="4343400"/>
            <a:ext cx="10817352" cy="82296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343400"/>
            <a:ext cx="10177272" cy="82296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Hard Problem ≠ rahasyata: </a:t>
            </a:r>
            <a:r>
              <a:rPr sz="1450" b="1" i="0">
                <a:solidFill>
                  <a:srgbClr val="FFFFFF"/>
                </a:solidFill>
                <a:latin typeface="Calibri"/>
              </a:rPr>
              <a:t>MD treats mystery as removable deficit in the knower’s reflection — a different commitment from leaving consciousness explanatorily open.</a:t>
            </a:r>
          </a:p>
        </p:txBody>
      </p:sp>
      <p:sp>
        <p:nvSpPr>
          <p:cNvPr id="22" name="TextBox 21"/>
          <p:cNvSpPr txBox="1"/>
          <p:nvPr/>
        </p:nvSpPr>
        <p:spPr>
          <a:xfrm>
            <a:off x="685800" y="5440680"/>
            <a:ext cx="10789920" cy="731520"/>
          </a:xfrm>
          <a:prstGeom prst="rect">
            <a:avLst/>
          </a:prstGeom>
          <a:noFill/>
        </p:spPr>
        <p:txBody>
          <a:bodyPr wrap="square" lIns="0" rIns="0" tIns="0" bIns="0" anchor="t">
            <a:spAutoFit/>
          </a:bodyPr>
          <a:lstStyle/>
          <a:p>
            <a:pPr algn="ctr">
              <a:lnSpc>
                <a:spcPct val="110000"/>
              </a:lnSpc>
              <a:spcBef>
                <a:spcPts val="0"/>
              </a:spcBef>
              <a:spcAft>
                <a:spcPts val="400"/>
              </a:spcAft>
            </a:pPr>
            <a:r>
              <a:rPr sz="1350" b="0" i="1">
                <a:solidFill>
                  <a:srgbClr val="5A6377"/>
                </a:solidFill>
                <a:latin typeface="Calibri"/>
              </a:rPr>
              <a:t>Science does not demote matter or promote a second substance — it explains function from organisation while leaving the deepest why-of-experience unsettled: the mirror image of MD's claim that sentience is matter fully developed.</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Chalmers 1995 · Nagel 1974 · Strawson 2006 · Goff 2019 · Knowledge, Knower, and Known §§1.11,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§3 · THE ADVAITA VEDANTA ANSWER</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You Are Not Even an Individual</a:t>
            </a:r>
          </a:p>
        </p:txBody>
      </p:sp>
      <p:sp>
        <p:nvSpPr>
          <p:cNvPr id="8" name="TextBox 7"/>
          <p:cNvSpPr txBox="1"/>
          <p:nvPr/>
        </p:nvSpPr>
        <p:spPr>
          <a:xfrm>
            <a:off x="685800" y="1783080"/>
            <a:ext cx="10789920" cy="64008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Advaita begins from witness-consciousness: not a clever animal, not body plus sentient atom, but the irreducible seer presupposed in every experience.</a:t>
            </a:r>
          </a:p>
        </p:txBody>
      </p:sp>
      <p:sp>
        <p:nvSpPr>
          <p:cNvPr id="9" name="Rounded Rectangle 8"/>
          <p:cNvSpPr/>
          <p:nvPr/>
        </p:nvSpPr>
        <p:spPr>
          <a:xfrm>
            <a:off x="685800" y="2606040"/>
            <a:ext cx="3547872" cy="21488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Brahman alone is real</a:t>
            </a:r>
          </a:p>
        </p:txBody>
      </p:sp>
      <p:sp>
        <p:nvSpPr>
          <p:cNvPr id="14" name="TextBox 13"/>
          <p:cNvSpPr txBox="1"/>
          <p:nvPr/>
        </p:nvSpPr>
        <p:spPr>
          <a:xfrm>
            <a:off x="941832"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The world is appearance (mithya) — dependent, not ultimately real. Brahma satyam, jagat mithya.</a:t>
            </a:r>
          </a:p>
        </p:txBody>
      </p:sp>
      <p:sp>
        <p:nvSpPr>
          <p:cNvPr id="15" name="Rounded Rectangle 14"/>
          <p:cNvSpPr/>
          <p:nvPr/>
        </p:nvSpPr>
        <p:spPr>
          <a:xfrm>
            <a:off x="4325112" y="2606040"/>
            <a:ext cx="3547872" cy="21488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38167"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616348"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678070"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Not the body — or the mind</a:t>
            </a:r>
          </a:p>
        </p:txBody>
      </p:sp>
      <p:sp>
        <p:nvSpPr>
          <p:cNvPr id="20" name="TextBox 19"/>
          <p:cNvSpPr txBox="1"/>
          <p:nvPr/>
        </p:nvSpPr>
        <p:spPr>
          <a:xfrm>
            <a:off x="4581144"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Whatever you can observe cannot be the observer. Even the working mind and felt inner agent are not-self.</a:t>
            </a:r>
          </a:p>
        </p:txBody>
      </p:sp>
      <p:sp>
        <p:nvSpPr>
          <p:cNvPr id="21" name="Rounded Rectangle 20"/>
          <p:cNvSpPr/>
          <p:nvPr/>
        </p:nvSpPr>
        <p:spPr>
          <a:xfrm>
            <a:off x="7964424" y="2606040"/>
            <a:ext cx="3547872" cy="214884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77479"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5660"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17382"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9A6414"/>
                </a:solidFill>
                <a:latin typeface="Cambria"/>
              </a:rPr>
              <a:t>The self is not individual</a:t>
            </a:r>
          </a:p>
        </p:txBody>
      </p:sp>
      <p:sp>
        <p:nvSpPr>
          <p:cNvPr id="26" name="TextBox 25"/>
          <p:cNvSpPr txBox="1"/>
          <p:nvPr/>
        </p:nvSpPr>
        <p:spPr>
          <a:xfrm>
            <a:off x="8220456"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The separate person (jiva) is appearance caused by ignorance. Liberation is recognising the Self was always Brahman.</a:t>
            </a:r>
          </a:p>
        </p:txBody>
      </p:sp>
      <p:sp>
        <p:nvSpPr>
          <p:cNvPr id="27" name="Rounded Rectangle 26"/>
          <p:cNvSpPr/>
          <p:nvPr/>
        </p:nvSpPr>
        <p:spPr>
          <a:xfrm>
            <a:off x="685800" y="5029200"/>
            <a:ext cx="10817352" cy="74980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502920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'Is the human just material?' assumes a separate human in an independent world. Advaita: there is only Brahman — so the question dissolves.</a:t>
            </a:r>
          </a:p>
        </p:txBody>
      </p:sp>
      <p:sp>
        <p:nvSpPr>
          <p:cNvPr id="29" name="TextBox 28"/>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VC v. 20 · DDV v. 1 · KU 1.2.18 · BG 2.20 · CU 6.2.1, 6.8.7 · BSB Adhyasa Bhashya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§§3.3–3.4 · THE ADVAITA VEDANTA ANSWER</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Neti Neti — Not This, Not This</a:t>
            </a:r>
          </a:p>
        </p:txBody>
      </p:sp>
      <p:sp>
        <p:nvSpPr>
          <p:cNvPr id="8" name="TextBox 7"/>
          <p:cNvSpPr txBox="1"/>
          <p:nvPr/>
        </p:nvSpPr>
        <p:spPr>
          <a:xfrm>
            <a:off x="685800" y="1737360"/>
            <a:ext cx="10789920" cy="64008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Turn attention inward and negate everything that presents itself as an object — because whatever you can observe cannot be you, the observer. The same first-person data as §1.3, read as pointers to the witness.</a:t>
            </a:r>
          </a:p>
        </p:txBody>
      </p:sp>
      <p:sp>
        <p:nvSpPr>
          <p:cNvPr id="9" name="Rounded Rectangle 8"/>
          <p:cNvSpPr/>
          <p:nvPr/>
        </p:nvSpPr>
        <p:spPr>
          <a:xfrm>
            <a:off x="685800" y="2788920"/>
            <a:ext cx="5257800" cy="19659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98368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06186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12359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990088"/>
            <a:ext cx="43159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Everything felt is witnessed</a:t>
            </a:r>
          </a:p>
        </p:txBody>
      </p:sp>
      <p:sp>
        <p:nvSpPr>
          <p:cNvPr id="14" name="TextBox 13"/>
          <p:cNvSpPr txBox="1"/>
          <p:nvPr/>
        </p:nvSpPr>
        <p:spPr>
          <a:xfrm>
            <a:off x="941832" y="3502152"/>
            <a:ext cx="4745736" cy="105156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Both fulfilments, all wanting, even the sense of 'me' — each appears to awareness, so each is 'not this.' In deep sleep even the mind subsides, yet something witnesses its absence.</a:t>
            </a:r>
          </a:p>
        </p:txBody>
      </p:sp>
      <p:sp>
        <p:nvSpPr>
          <p:cNvPr id="15" name="Rounded Rectangle 14"/>
          <p:cNvSpPr/>
          <p:nvPr/>
        </p:nvSpPr>
        <p:spPr>
          <a:xfrm>
            <a:off x="6172200" y="2788920"/>
            <a:ext cx="5330952" cy="19659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85255" y="298368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63436" y="306186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5158" y="312359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2990088"/>
            <a:ext cx="4389120"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Scripture, reason, meditation</a:t>
            </a:r>
          </a:p>
        </p:txBody>
      </p:sp>
      <p:sp>
        <p:nvSpPr>
          <p:cNvPr id="20" name="TextBox 19"/>
          <p:cNvSpPr txBox="1"/>
          <p:nvPr/>
        </p:nvSpPr>
        <p:spPr>
          <a:xfrm>
            <a:off x="6428232" y="3502152"/>
            <a:ext cx="4818888" cy="105156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Hearing (shravana), reasoning (manana), and sustained meditation (nididhyasana) under a qualified teacher — confirmed within a contemplative lineage, not by public experiment.</a:t>
            </a:r>
          </a:p>
        </p:txBody>
      </p:sp>
      <p:sp>
        <p:nvSpPr>
          <p:cNvPr id="21" name="Rounded Rectangle 20"/>
          <p:cNvSpPr/>
          <p:nvPr/>
        </p:nvSpPr>
        <p:spPr>
          <a:xfrm>
            <a:off x="685800" y="5029200"/>
            <a:ext cx="10817352" cy="77724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029200"/>
            <a:ext cx="10177272" cy="77724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To Advaita, Nagraj stopped too early — jeevan’s desires are still observable. To Nagraj, Advaita negated too far — dissolving the real, working self and the world with it.</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BU 2.3.6, 2.4.5 · MU vv. 3–7 · VC v. 120 · TU 2.1–2.5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§4 · COMPARING THE THREE VIEWS</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One Question, Three Answers</a:t>
            </a:r>
          </a:p>
        </p:txBody>
      </p:sp>
      <p:sp>
        <p:nvSpPr>
          <p:cNvPr id="8" name="Rectangle 7"/>
          <p:cNvSpPr/>
          <p:nvPr/>
        </p:nvSpPr>
        <p:spPr>
          <a:xfrm>
            <a:off x="3017520" y="1783080"/>
            <a:ext cx="2743200"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0" y="1783080"/>
            <a:ext cx="2560320"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Science</a:t>
            </a:r>
          </a:p>
        </p:txBody>
      </p:sp>
      <p:sp>
        <p:nvSpPr>
          <p:cNvPr id="10" name="Rectangle 9"/>
          <p:cNvSpPr/>
          <p:nvPr/>
        </p:nvSpPr>
        <p:spPr>
          <a:xfrm>
            <a:off x="5760720" y="1783080"/>
            <a:ext cx="2999232"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59" y="1783080"/>
            <a:ext cx="2816351"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Madhyasth Darshan</a:t>
            </a:r>
          </a:p>
        </p:txBody>
      </p:sp>
      <p:sp>
        <p:nvSpPr>
          <p:cNvPr id="12" name="Rectangle 11"/>
          <p:cNvSpPr/>
          <p:nvPr/>
        </p:nvSpPr>
        <p:spPr>
          <a:xfrm>
            <a:off x="8759952" y="1783080"/>
            <a:ext cx="2743200"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1392" y="1783080"/>
            <a:ext cx="2560320"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Advaita Vedanta</a:t>
            </a:r>
          </a:p>
        </p:txBody>
      </p:sp>
      <p:sp>
        <p:nvSpPr>
          <p:cNvPr id="14" name="Rectangle 13"/>
          <p:cNvSpPr/>
          <p:nvPr/>
        </p:nvSpPr>
        <p:spPr>
          <a:xfrm>
            <a:off x="685800" y="2386584"/>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386584"/>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What is a human?</a:t>
            </a:r>
          </a:p>
        </p:txBody>
      </p:sp>
      <p:sp>
        <p:nvSpPr>
          <p:cNvPr id="16" name="Rectangle 15"/>
          <p:cNvSpPr/>
          <p:nvPr/>
        </p:nvSpPr>
        <p:spPr>
          <a:xfrm>
            <a:off x="3017520" y="2386584"/>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0" y="238658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Body + brain + culture</a:t>
            </a:r>
          </a:p>
        </p:txBody>
      </p:sp>
      <p:sp>
        <p:nvSpPr>
          <p:cNvPr id="18" name="Rectangle 17"/>
          <p:cNvSpPr/>
          <p:nvPr/>
        </p:nvSpPr>
        <p:spPr>
          <a:xfrm>
            <a:off x="5760720" y="2386584"/>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59" y="2386584"/>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Body + jeevan (sentient unit)</a:t>
            </a:r>
          </a:p>
        </p:txBody>
      </p:sp>
      <p:sp>
        <p:nvSpPr>
          <p:cNvPr id="20" name="Rectangle 19"/>
          <p:cNvSpPr/>
          <p:nvPr/>
        </p:nvSpPr>
        <p:spPr>
          <a:xfrm>
            <a:off x="8759952" y="2386584"/>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51392" y="238658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Atman = Brahman; person is appearance</a:t>
            </a:r>
          </a:p>
        </p:txBody>
      </p:sp>
      <p:sp>
        <p:nvSpPr>
          <p:cNvPr id="22" name="Rectangle 21"/>
          <p:cNvSpPr/>
          <p:nvPr/>
        </p:nvSpPr>
        <p:spPr>
          <a:xfrm>
            <a:off x="685800" y="2990088"/>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 y="2990088"/>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Is the world real?</a:t>
            </a:r>
          </a:p>
        </p:txBody>
      </p:sp>
      <p:sp>
        <p:nvSpPr>
          <p:cNvPr id="24" name="Rectangle 23"/>
          <p:cNvSpPr/>
          <p:nvPr/>
        </p:nvSpPr>
        <p:spPr>
          <a:xfrm>
            <a:off x="3017520" y="2990088"/>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0" y="2990088"/>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Yes — and all there is</a:t>
            </a:r>
          </a:p>
        </p:txBody>
      </p:sp>
      <p:sp>
        <p:nvSpPr>
          <p:cNvPr id="26" name="Rectangle 25"/>
          <p:cNvSpPr/>
          <p:nvPr/>
        </p:nvSpPr>
        <p:spPr>
          <a:xfrm>
            <a:off x="5760720" y="2990088"/>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52159" y="2990088"/>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Yes — real and perpetual</a:t>
            </a:r>
          </a:p>
        </p:txBody>
      </p:sp>
      <p:sp>
        <p:nvSpPr>
          <p:cNvPr id="28" name="Rectangle 27"/>
          <p:cNvSpPr/>
          <p:nvPr/>
        </p:nvSpPr>
        <p:spPr>
          <a:xfrm>
            <a:off x="8759952" y="2990088"/>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51392" y="2990088"/>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Only provisionally; finally mithya</a:t>
            </a:r>
          </a:p>
        </p:txBody>
      </p:sp>
      <p:sp>
        <p:nvSpPr>
          <p:cNvPr id="30" name="Rectangle 29"/>
          <p:cNvSpPr/>
          <p:nvPr/>
        </p:nvSpPr>
        <p:spPr>
          <a:xfrm>
            <a:off x="685800" y="3593592"/>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3593592"/>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Consciousness?</a:t>
            </a:r>
          </a:p>
        </p:txBody>
      </p:sp>
      <p:sp>
        <p:nvSpPr>
          <p:cNvPr id="32" name="Rectangle 31"/>
          <p:cNvSpPr/>
          <p:nvPr/>
        </p:nvSpPr>
        <p:spPr>
          <a:xfrm>
            <a:off x="3017520" y="3593592"/>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08960" y="3593592"/>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Emergent brain process</a:t>
            </a:r>
          </a:p>
        </p:txBody>
      </p:sp>
      <p:sp>
        <p:nvSpPr>
          <p:cNvPr id="34" name="Rectangle 33"/>
          <p:cNvSpPr/>
          <p:nvPr/>
        </p:nvSpPr>
        <p:spPr>
          <a:xfrm>
            <a:off x="5760720" y="3593592"/>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59" y="3593592"/>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Nature of a developed atom</a:t>
            </a:r>
          </a:p>
        </p:txBody>
      </p:sp>
      <p:sp>
        <p:nvSpPr>
          <p:cNvPr id="36" name="Rectangle 35"/>
          <p:cNvSpPr/>
          <p:nvPr/>
        </p:nvSpPr>
        <p:spPr>
          <a:xfrm>
            <a:off x="8759952" y="3593592"/>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51392" y="3593592"/>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The only reality there is</a:t>
            </a:r>
          </a:p>
        </p:txBody>
      </p:sp>
      <p:sp>
        <p:nvSpPr>
          <p:cNvPr id="38" name="Rectangle 37"/>
          <p:cNvSpPr/>
          <p:nvPr/>
        </p:nvSpPr>
        <p:spPr>
          <a:xfrm>
            <a:off x="685800" y="4197096"/>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8952" y="4197096"/>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How many selves?</a:t>
            </a:r>
          </a:p>
        </p:txBody>
      </p:sp>
      <p:sp>
        <p:nvSpPr>
          <p:cNvPr id="40" name="Rectangle 39"/>
          <p:cNvSpPr/>
          <p:nvPr/>
        </p:nvSpPr>
        <p:spPr>
          <a:xfrm>
            <a:off x="3017520" y="4197096"/>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108960" y="4197096"/>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One per brain; none survive</a:t>
            </a:r>
          </a:p>
        </p:txBody>
      </p:sp>
      <p:sp>
        <p:nvSpPr>
          <p:cNvPr id="42" name="Rectangle 41"/>
          <p:cNvSpPr/>
          <p:nvPr/>
        </p:nvSpPr>
        <p:spPr>
          <a:xfrm>
            <a:off x="5760720" y="4197096"/>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52159" y="4197096"/>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Many, forever distinct</a:t>
            </a:r>
          </a:p>
        </p:txBody>
      </p:sp>
      <p:sp>
        <p:nvSpPr>
          <p:cNvPr id="44" name="Rectangle 43"/>
          <p:cNvSpPr/>
          <p:nvPr/>
        </p:nvSpPr>
        <p:spPr>
          <a:xfrm>
            <a:off x="8759952" y="4197096"/>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51392" y="4197096"/>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Ultimately one, without a second</a:t>
            </a:r>
          </a:p>
        </p:txBody>
      </p:sp>
      <p:sp>
        <p:nvSpPr>
          <p:cNvPr id="46" name="Rectangle 45"/>
          <p:cNvSpPr/>
          <p:nvPr/>
        </p:nvSpPr>
        <p:spPr>
          <a:xfrm>
            <a:off x="685800" y="4800600"/>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800600"/>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Survives death?</a:t>
            </a:r>
          </a:p>
        </p:txBody>
      </p:sp>
      <p:sp>
        <p:nvSpPr>
          <p:cNvPr id="48" name="Rectangle 47"/>
          <p:cNvSpPr/>
          <p:nvPr/>
        </p:nvSpPr>
        <p:spPr>
          <a:xfrm>
            <a:off x="3017520" y="4800600"/>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108960" y="4800600"/>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Nothing</a:t>
            </a:r>
          </a:p>
        </p:txBody>
      </p:sp>
      <p:sp>
        <p:nvSpPr>
          <p:cNvPr id="50" name="Rectangle 49"/>
          <p:cNvSpPr/>
          <p:nvPr/>
        </p:nvSpPr>
        <p:spPr>
          <a:xfrm>
            <a:off x="5760720" y="4800600"/>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852159" y="4800600"/>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Jeevan, intact</a:t>
            </a:r>
          </a:p>
        </p:txBody>
      </p:sp>
      <p:sp>
        <p:nvSpPr>
          <p:cNvPr id="52" name="Rectangle 51"/>
          <p:cNvSpPr/>
          <p:nvPr/>
        </p:nvSpPr>
        <p:spPr>
          <a:xfrm>
            <a:off x="8759952" y="4800600"/>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51392" y="4800600"/>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Question misposed — never born</a:t>
            </a:r>
          </a:p>
        </p:txBody>
      </p:sp>
      <p:sp>
        <p:nvSpPr>
          <p:cNvPr id="54" name="Rectangle 53"/>
          <p:cNvSpPr/>
          <p:nvPr/>
        </p:nvSpPr>
        <p:spPr>
          <a:xfrm>
            <a:off x="685800" y="5404104"/>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952" y="5404104"/>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Method</a:t>
            </a:r>
          </a:p>
        </p:txBody>
      </p:sp>
      <p:sp>
        <p:nvSpPr>
          <p:cNvPr id="56" name="Rectangle 55"/>
          <p:cNvSpPr/>
          <p:nvPr/>
        </p:nvSpPr>
        <p:spPr>
          <a:xfrm>
            <a:off x="3017520" y="5404104"/>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108960" y="540410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Measurement, experiment</a:t>
            </a:r>
          </a:p>
        </p:txBody>
      </p:sp>
      <p:sp>
        <p:nvSpPr>
          <p:cNvPr id="58" name="Rectangle 57"/>
          <p:cNvSpPr/>
          <p:nvPr/>
        </p:nvSpPr>
        <p:spPr>
          <a:xfrm>
            <a:off x="5760720" y="5404104"/>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59" y="5404104"/>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Study + conduct-evidence</a:t>
            </a:r>
          </a:p>
        </p:txBody>
      </p:sp>
      <p:sp>
        <p:nvSpPr>
          <p:cNvPr id="60" name="Rectangle 59"/>
          <p:cNvSpPr/>
          <p:nvPr/>
        </p:nvSpPr>
        <p:spPr>
          <a:xfrm>
            <a:off x="8759952" y="5404104"/>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51392" y="540410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Scripture, reason, meditation</a:t>
            </a:r>
          </a:p>
        </p:txBody>
      </p:sp>
      <p:sp>
        <p:nvSpPr>
          <p:cNvPr id="62" name="TextBox 61"/>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Full 7-question grid and wider anthropologies: The Ontology of Coexistence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§4.1 · COMPARING THE THREE VIEWS</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Contrasts — and Where the Alliances Fall</a:t>
            </a:r>
          </a:p>
        </p:txBody>
      </p:sp>
      <p:sp>
        <p:nvSpPr>
          <p:cNvPr id="8" name="Rounded Rectangle 7"/>
          <p:cNvSpPr/>
          <p:nvPr/>
        </p:nvSpPr>
        <p:spPr>
          <a:xfrm>
            <a:off x="685800" y="1783080"/>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the body</a:t>
            </a:r>
          </a:p>
        </p:txBody>
      </p:sp>
      <p:sp>
        <p:nvSpPr>
          <p:cNvPr id="13" name="TextBox 12"/>
          <p:cNvSpPr txBox="1"/>
          <p:nvPr/>
        </p:nvSpPr>
        <p:spPr>
          <a:xfrm>
            <a:off x="941832" y="2496312"/>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the body is the whole human. Advaita: the body is finally unreal. MD takes the middle — real, but the jeevan's vehicle (madhyasth).</a:t>
            </a:r>
          </a:p>
        </p:txBody>
      </p:sp>
      <p:sp>
        <p:nvSpPr>
          <p:cNvPr id="14" name="Rounded Rectangle 13"/>
          <p:cNvSpPr/>
          <p:nvPr/>
        </p:nvSpPr>
        <p:spPr>
          <a:xfrm>
            <a:off x="685800" y="2852928"/>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8855" y="3047695"/>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77036" y="3125876"/>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8758" y="3187598"/>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44752" y="3054096"/>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the self</a:t>
            </a:r>
          </a:p>
        </p:txBody>
      </p:sp>
      <p:sp>
        <p:nvSpPr>
          <p:cNvPr id="19" name="TextBox 18"/>
          <p:cNvSpPr txBox="1"/>
          <p:nvPr/>
        </p:nvSpPr>
        <p:spPr>
          <a:xfrm>
            <a:off x="941832" y="3566160"/>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no self beyond the brain. Advaita: one universal Self. MD: many selves, permanently individual — so relationships are fully real.</a:t>
            </a:r>
          </a:p>
        </p:txBody>
      </p:sp>
      <p:sp>
        <p:nvSpPr>
          <p:cNvPr id="20" name="Rounded Rectangle 19"/>
          <p:cNvSpPr/>
          <p:nvPr/>
        </p:nvSpPr>
        <p:spPr>
          <a:xfrm>
            <a:off x="685800" y="3922776"/>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8855" y="4117543"/>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7036" y="4195724"/>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8758" y="4257446"/>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44752" y="4123944"/>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matter &amp; mind</a:t>
            </a:r>
          </a:p>
        </p:txBody>
      </p:sp>
      <p:sp>
        <p:nvSpPr>
          <p:cNvPr id="25" name="TextBox 24"/>
          <p:cNvSpPr txBox="1"/>
          <p:nvPr/>
        </p:nvSpPr>
        <p:spPr>
          <a:xfrm>
            <a:off x="941832" y="4636008"/>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mind from matter. Advaita: matter from mind. MD: mind is matter at its highest development.</a:t>
            </a:r>
          </a:p>
        </p:txBody>
      </p:sp>
      <p:sp>
        <p:nvSpPr>
          <p:cNvPr id="26" name="Rounded Rectangle 25"/>
          <p:cNvSpPr/>
          <p:nvPr/>
        </p:nvSpPr>
        <p:spPr>
          <a:xfrm>
            <a:off x="685800" y="5029200"/>
            <a:ext cx="10817352" cy="1051560"/>
          </a:xfrm>
          <a:prstGeom prst="roundRect">
            <a:avLst>
              <a:gd name="adj" fmla="val 9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138928"/>
            <a:ext cx="10149840" cy="868680"/>
          </a:xfrm>
          <a:prstGeom prst="rect">
            <a:avLst/>
          </a:prstGeom>
          <a:noFill/>
        </p:spPr>
        <p:txBody>
          <a:bodyPr wrap="square" lIns="0" rIns="0" tIns="0" bIns="0" anchor="ctr">
            <a:spAutoFit/>
          </a:bodyPr>
          <a:lstStyle/>
          <a:p>
            <a:pPr algn="l">
              <a:lnSpc>
                <a:spcPct val="108000"/>
              </a:lnSpc>
              <a:spcBef>
                <a:spcPts val="0"/>
              </a:spcBef>
              <a:spcAft>
                <a:spcPts val="400"/>
              </a:spcAft>
            </a:pPr>
            <a:r>
              <a:rPr sz="1300" b="1" i="0">
                <a:solidFill>
                  <a:srgbClr val="C9821E"/>
                </a:solidFill>
                <a:latin typeface="Calibri"/>
              </a:rPr>
              <a:t>Where the alliances fall.  </a:t>
            </a:r>
            <a:r>
              <a:rPr sz="1300" b="0" i="0">
                <a:solidFill>
                  <a:srgbClr val="FFFFFF"/>
                </a:solidFill>
                <a:latin typeface="Calibri"/>
              </a:rPr>
              <a:t>Against the materialist, MD and Advaita agree: the human is not just the body. Against Advaita, MD and science agree: the world is real. Against both, science insists nothing survives death.</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The Alternative, point 8 — “Brahma is truth, the world is perpetual.”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§5 · CRITICAL REVIEW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Each Strong Inside, Vulnerable Outside</a:t>
            </a:r>
          </a:p>
        </p:txBody>
      </p:sp>
      <p:sp>
        <p:nvSpPr>
          <p:cNvPr id="8" name="Rounded Rectangle 7"/>
          <p:cNvSpPr/>
          <p:nvPr/>
        </p:nvSpPr>
        <p:spPr>
          <a:xfrm>
            <a:off x="685800" y="1828800"/>
            <a:ext cx="3547872" cy="3977639"/>
          </a:xfrm>
          <a:prstGeom prst="roundRect">
            <a:avLst>
              <a:gd name="adj" fmla="val 5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9A6414"/>
                </a:solidFill>
                <a:latin typeface="Cambria"/>
              </a:rPr>
              <a:t>Madhyasth Darshan</a:t>
            </a:r>
          </a:p>
        </p:txBody>
      </p:sp>
      <p:sp>
        <p:nvSpPr>
          <p:cNvPr id="10" name="TextBox 9"/>
          <p:cNvSpPr txBox="1"/>
          <p:nvPr/>
        </p:nvSpPr>
        <p:spPr>
          <a:xfrm>
            <a:off x="905256"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9A6414"/>
                </a:solidFill>
                <a:latin typeface="Calibri"/>
              </a:rPr>
              <a:t>+  </a:t>
            </a:r>
            <a:r>
              <a:rPr sz="1150" b="0" i="0">
                <a:solidFill>
                  <a:srgbClr val="5A6377"/>
                </a:solidFill>
                <a:latin typeface="Calibri"/>
              </a:rPr>
              <a:t>Strength: integrates ontology, self, and ethics; proposes a test; avoids the combination problem.</a:t>
            </a:r>
          </a:p>
        </p:txBody>
      </p:sp>
      <p:sp>
        <p:nvSpPr>
          <p:cNvPr id="11" name="TextBox 10"/>
          <p:cNvSpPr txBox="1"/>
          <p:nvPr/>
        </p:nvSpPr>
        <p:spPr>
          <a:xfrm>
            <a:off x="905256"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conclusion built into the premise; 'different jobs' doesn't prove two things; constitutional completeness and interaction unexplained; risks unfalsifiability.</a:t>
            </a:r>
          </a:p>
        </p:txBody>
      </p:sp>
      <p:sp>
        <p:nvSpPr>
          <p:cNvPr id="12" name="Rounded Rectangle 11"/>
          <p:cNvSpPr/>
          <p:nvPr/>
        </p:nvSpPr>
        <p:spPr>
          <a:xfrm>
            <a:off x="4325112" y="1828800"/>
            <a:ext cx="3547872" cy="3977639"/>
          </a:xfrm>
          <a:prstGeom prst="roundRect">
            <a:avLst>
              <a:gd name="adj" fmla="val 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1E2447"/>
                </a:solidFill>
                <a:latin typeface="Cambria"/>
              </a:rPr>
              <a:t>Scientific materialism</a:t>
            </a:r>
          </a:p>
        </p:txBody>
      </p:sp>
      <p:sp>
        <p:nvSpPr>
          <p:cNvPr id="14" name="TextBox 13"/>
          <p:cNvSpPr txBox="1"/>
          <p:nvPr/>
        </p:nvSpPr>
        <p:spPr>
          <a:xfrm>
            <a:off x="4544568"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1E2447"/>
                </a:solidFill>
                <a:latin typeface="Calibri"/>
              </a:rPr>
              <a:t>+  </a:t>
            </a:r>
            <a:r>
              <a:rPr sz="1150" b="0" i="0">
                <a:solidFill>
                  <a:srgbClr val="5A6377"/>
                </a:solidFill>
                <a:latin typeface="Calibri"/>
              </a:rPr>
              <a:t>Strength: unmatched explanatory and predictive success; the only method that systematically catches its own errors.</a:t>
            </a:r>
          </a:p>
        </p:txBody>
      </p:sp>
      <p:sp>
        <p:nvSpPr>
          <p:cNvPr id="15" name="TextBox 14"/>
          <p:cNvSpPr txBox="1"/>
          <p:nvPr/>
        </p:nvSpPr>
        <p:spPr>
          <a:xfrm>
            <a:off x="4544568"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the hard problem stands; explains the known, not the knower; method quietly promoted to metaphysics; little to say about meaning.</a:t>
            </a:r>
          </a:p>
        </p:txBody>
      </p:sp>
      <p:sp>
        <p:nvSpPr>
          <p:cNvPr id="16" name="Rounded Rectangle 15"/>
          <p:cNvSpPr/>
          <p:nvPr/>
        </p:nvSpPr>
        <p:spPr>
          <a:xfrm>
            <a:off x="7964424" y="1828800"/>
            <a:ext cx="3547872" cy="3977639"/>
          </a:xfrm>
          <a:prstGeom prst="roundRect">
            <a:avLst>
              <a:gd name="adj" fmla="val 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1E2447"/>
                </a:solidFill>
                <a:latin typeface="Cambria"/>
              </a:rPr>
              <a:t>Advaita Vedanta</a:t>
            </a:r>
          </a:p>
        </p:txBody>
      </p:sp>
      <p:sp>
        <p:nvSpPr>
          <p:cNvPr id="18" name="TextBox 17"/>
          <p:cNvSpPr txBox="1"/>
          <p:nvPr/>
        </p:nvSpPr>
        <p:spPr>
          <a:xfrm>
            <a:off x="8183880"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1E2447"/>
                </a:solidFill>
                <a:latin typeface="Calibri"/>
              </a:rPr>
              <a:t>+  </a:t>
            </a:r>
            <a:r>
              <a:rPr sz="1150" b="0" i="0">
                <a:solidFill>
                  <a:srgbClr val="5A6377"/>
                </a:solidFill>
                <a:latin typeface="Calibri"/>
              </a:rPr>
              <a:t>Strength: starts from the one undeniable datum — consciousness; rigorous 1,200-year tradition; the observer-argument is serious.</a:t>
            </a:r>
          </a:p>
        </p:txBody>
      </p:sp>
      <p:sp>
        <p:nvSpPr>
          <p:cNvPr id="19" name="TextBox 18"/>
          <p:cNvSpPr txBox="1"/>
          <p:nvPr/>
        </p:nvSpPr>
        <p:spPr>
          <a:xfrm>
            <a:off x="8183880"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world-as-appearance is uncheckable; must explain the ignorance it denies; ethics is preparatory, not ultimate; warrant is scriptural.</a:t>
            </a:r>
          </a:p>
        </p:txBody>
      </p:sp>
      <p:sp>
        <p:nvSpPr>
          <p:cNvPr id="20" name="TextBox 19"/>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§§5.1–5.3 · fuller objections cross-referenced to the Ontology and Knowledge studies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§5.4 · THE BOTTOM LINE</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The Real Disagreement Is About Evidence</a:t>
            </a:r>
          </a:p>
        </p:txBody>
      </p:sp>
      <p:sp>
        <p:nvSpPr>
          <p:cNvPr id="8" name="TextBox 7"/>
          <p:cNvSpPr txBox="1"/>
          <p:nvPr/>
        </p:nvSpPr>
        <p:spPr>
          <a:xfrm>
            <a:off x="685800" y="1783080"/>
            <a:ext cx="10789920" cy="868680"/>
          </a:xfrm>
          <a:prstGeom prst="rect">
            <a:avLst/>
          </a:prstGeom>
          <a:noFill/>
        </p:spPr>
        <p:txBody>
          <a:bodyPr wrap="square" lIns="0" rIns="0" tIns="0" bIns="0" anchor="t">
            <a:spAutoFit/>
          </a:bodyPr>
          <a:lstStyle/>
          <a:p>
            <a:pPr algn="l">
              <a:lnSpc>
                <a:spcPct val="115000"/>
              </a:lnSpc>
              <a:spcBef>
                <a:spcPts val="0"/>
              </a:spcBef>
              <a:spcAft>
                <a:spcPts val="400"/>
              </a:spcAft>
            </a:pPr>
            <a:r>
              <a:rPr sz="1450" b="0" i="0">
                <a:solidFill>
                  <a:srgbClr val="5A6377"/>
                </a:solidFill>
                <a:latin typeface="Calibri"/>
              </a:rPr>
              <a:t>All three views are partly armoured against refutation — science by ruling first-person evidence out of bounds, Nagraj by attributing dissent to lack of awakening, Advaita by demoting the empirical world. The genuine disagreement is about what counts as evidence: instruments, conduct, or contemplative insight. No experiment settles that choice.</a:t>
            </a:r>
          </a:p>
        </p:txBody>
      </p:sp>
      <p:sp>
        <p:nvSpPr>
          <p:cNvPr id="9" name="TextBox 8"/>
          <p:cNvSpPr txBox="1"/>
          <p:nvPr/>
        </p:nvSpPr>
        <p:spPr>
          <a:xfrm>
            <a:off x="685800" y="3566160"/>
            <a:ext cx="10789920" cy="365760"/>
          </a:xfrm>
          <a:prstGeom prst="rect">
            <a:avLst/>
          </a:prstGeom>
          <a:noFill/>
        </p:spPr>
        <p:txBody>
          <a:bodyPr wrap="square" lIns="0" rIns="0" tIns="0" bIns="0" anchor="t">
            <a:spAutoFit/>
          </a:bodyPr>
          <a:lstStyle/>
          <a:p>
            <a:pPr algn="l">
              <a:spcBef>
                <a:spcPts val="0"/>
              </a:spcBef>
              <a:spcAft>
                <a:spcPts val="400"/>
              </a:spcAft>
            </a:pPr>
            <a:r>
              <a:rPr sz="1400" b="1" i="0">
                <a:solidFill>
                  <a:srgbClr val="1E2447"/>
                </a:solidFill>
                <a:latin typeface="Calibri"/>
              </a:rPr>
              <a:t>What would actually move the debate:</a:t>
            </a:r>
          </a:p>
        </p:txBody>
      </p:sp>
      <p:sp>
        <p:nvSpPr>
          <p:cNvPr id="10" name="Oval 9"/>
          <p:cNvSpPr/>
          <p:nvPr/>
        </p:nvSpPr>
        <p:spPr>
          <a:xfrm>
            <a:off x="841248" y="41239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02336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measurable neural anomaly</a:t>
            </a:r>
          </a:p>
        </p:txBody>
      </p:sp>
      <p:sp>
        <p:nvSpPr>
          <p:cNvPr id="12" name="TextBox 11"/>
          <p:cNvSpPr txBox="1"/>
          <p:nvPr/>
        </p:nvSpPr>
        <p:spPr>
          <a:xfrm>
            <a:off x="5669280" y="404164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deviation from physical prediction — would support a real, interacting jeevan</a:t>
            </a:r>
          </a:p>
        </p:txBody>
      </p:sp>
      <p:sp>
        <p:nvSpPr>
          <p:cNvPr id="13" name="Oval 12"/>
          <p:cNvSpPr/>
          <p:nvPr/>
        </p:nvSpPr>
        <p:spPr>
          <a:xfrm>
            <a:off x="841248" y="462686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52628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complete mechanistic account</a:t>
            </a:r>
          </a:p>
        </p:txBody>
      </p:sp>
      <p:sp>
        <p:nvSpPr>
          <p:cNvPr id="15" name="TextBox 14"/>
          <p:cNvSpPr txBox="1"/>
          <p:nvPr/>
        </p:nvSpPr>
        <p:spPr>
          <a:xfrm>
            <a:off x="5669280" y="454456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of valuation and felt experience — would remove the work jeevan and Atman do</a:t>
            </a:r>
          </a:p>
        </p:txBody>
      </p:sp>
      <p:sp>
        <p:nvSpPr>
          <p:cNvPr id="16" name="Oval 15"/>
          <p:cNvSpPr/>
          <p:nvPr/>
        </p:nvSpPr>
        <p:spPr>
          <a:xfrm>
            <a:off x="841248" y="512978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02920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pre-registered conduct test</a:t>
            </a:r>
          </a:p>
        </p:txBody>
      </p:sp>
      <p:sp>
        <p:nvSpPr>
          <p:cNvPr id="18" name="TextBox 17"/>
          <p:cNvSpPr txBox="1"/>
          <p:nvPr/>
        </p:nvSpPr>
        <p:spPr>
          <a:xfrm>
            <a:off x="5669280" y="504748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reliably distinguishing practitioners from controls</a:t>
            </a:r>
          </a:p>
        </p:txBody>
      </p:sp>
      <p:sp>
        <p:nvSpPr>
          <p:cNvPr id="19" name="Rounded Rectangle 18"/>
          <p:cNvSpPr/>
          <p:nvPr/>
        </p:nvSpPr>
        <p:spPr>
          <a:xfrm>
            <a:off x="685800" y="5623560"/>
            <a:ext cx="10817352" cy="64008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623560"/>
            <a:ext cx="10177272" cy="64008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Until then: parallel accounts — each coherent from inside, each unproven from outside.</a:t>
            </a:r>
          </a:p>
        </p:txBody>
      </p:sp>
      <p:sp>
        <p:nvSpPr>
          <p:cNvPr id="21" name="TextBox 20"/>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§5.4 · Knowledge, Knower, and Known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412480" y="3566160"/>
            <a:ext cx="3291840" cy="329184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0" y="4297680"/>
            <a:ext cx="1828800" cy="182880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92640" y="4846320"/>
            <a:ext cx="731520" cy="73152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80160"/>
            <a:ext cx="7315200" cy="320040"/>
          </a:xfrm>
          <a:prstGeom prst="rect">
            <a:avLst/>
          </a:prstGeom>
          <a:noFill/>
        </p:spPr>
        <p:txBody>
          <a:bodyPr wrap="square" lIns="0" rIns="0" tIns="0" bIns="0" anchor="t">
            <a:spAutoFit/>
          </a:bodyPr>
          <a:lstStyle/>
          <a:p>
            <a:pPr algn="l">
              <a:spcBef>
                <a:spcPts val="0"/>
              </a:spcBef>
              <a:spcAft>
                <a:spcPts val="400"/>
              </a:spcAft>
            </a:pPr>
            <a:r>
              <a:rPr sz="1300" b="1" i="0">
                <a:solidFill>
                  <a:srgbClr val="C9821E"/>
                </a:solidFill>
                <a:latin typeface="Calibri"/>
              </a:rPr>
              <a:t>WHY HUMANS ARE NOT JUST MATERIAL</a:t>
            </a:r>
          </a:p>
        </p:txBody>
      </p:sp>
      <p:sp>
        <p:nvSpPr>
          <p:cNvPr id="7" name="TextBox 6"/>
          <p:cNvSpPr txBox="1"/>
          <p:nvPr/>
        </p:nvSpPr>
        <p:spPr>
          <a:xfrm>
            <a:off x="822960" y="1691640"/>
            <a:ext cx="10058400" cy="914400"/>
          </a:xfrm>
          <a:prstGeom prst="rect">
            <a:avLst/>
          </a:prstGeom>
          <a:noFill/>
        </p:spPr>
        <p:txBody>
          <a:bodyPr wrap="square" lIns="0" rIns="0" tIns="0" bIns="0" anchor="t">
            <a:spAutoFit/>
          </a:bodyPr>
          <a:lstStyle/>
          <a:p>
            <a:pPr algn="l">
              <a:spcBef>
                <a:spcPts val="0"/>
              </a:spcBef>
              <a:spcAft>
                <a:spcPts val="400"/>
              </a:spcAft>
            </a:pPr>
            <a:r>
              <a:rPr sz="3400" b="1" i="0">
                <a:solidFill>
                  <a:srgbClr val="FFFFFF"/>
                </a:solidFill>
                <a:latin typeface="Cambria"/>
              </a:rPr>
              <a:t>Three Answers, One Honest Question</a:t>
            </a:r>
          </a:p>
        </p:txBody>
      </p:sp>
      <p:sp>
        <p:nvSpPr>
          <p:cNvPr id="8" name="Oval 7"/>
          <p:cNvSpPr/>
          <p:nvPr/>
        </p:nvSpPr>
        <p:spPr>
          <a:xfrm>
            <a:off x="969263" y="2962656"/>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880360"/>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Science</a:t>
            </a:r>
          </a:p>
        </p:txBody>
      </p:sp>
      <p:sp>
        <p:nvSpPr>
          <p:cNvPr id="10" name="TextBox 9"/>
          <p:cNvSpPr txBox="1"/>
          <p:nvPr/>
        </p:nvSpPr>
        <p:spPr>
          <a:xfrm>
            <a:off x="4023360" y="2898648"/>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the human is a body; mind is what the brain does — powerful method, unfinished story.</a:t>
            </a:r>
          </a:p>
        </p:txBody>
      </p:sp>
      <p:sp>
        <p:nvSpPr>
          <p:cNvPr id="11" name="Oval 10"/>
          <p:cNvSpPr/>
          <p:nvPr/>
        </p:nvSpPr>
        <p:spPr>
          <a:xfrm>
            <a:off x="969263" y="3621024"/>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538728"/>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Madhyasth Darshan</a:t>
            </a:r>
          </a:p>
        </p:txBody>
      </p:sp>
      <p:sp>
        <p:nvSpPr>
          <p:cNvPr id="13" name="TextBox 12"/>
          <p:cNvSpPr txBox="1"/>
          <p:nvPr/>
        </p:nvSpPr>
        <p:spPr>
          <a:xfrm>
            <a:off x="4023360" y="3557016"/>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body + jeevan; matter promoted to sentience — real self, real world, an open interaction problem.</a:t>
            </a:r>
          </a:p>
        </p:txBody>
      </p:sp>
      <p:sp>
        <p:nvSpPr>
          <p:cNvPr id="14" name="Oval 13"/>
          <p:cNvSpPr/>
          <p:nvPr/>
        </p:nvSpPr>
        <p:spPr>
          <a:xfrm>
            <a:off x="969263" y="4279392"/>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197096"/>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Advaita Vedanta</a:t>
            </a:r>
          </a:p>
        </p:txBody>
      </p:sp>
      <p:sp>
        <p:nvSpPr>
          <p:cNvPr id="16" name="TextBox 15"/>
          <p:cNvSpPr txBox="1"/>
          <p:nvPr/>
        </p:nvSpPr>
        <p:spPr>
          <a:xfrm>
            <a:off x="4023360" y="4215383"/>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only Brahman is real; the person is appearance — most radical, at a steep price.</a:t>
            </a:r>
          </a:p>
        </p:txBody>
      </p:sp>
      <p:sp>
        <p:nvSpPr>
          <p:cNvPr id="17" name="TextBox 16"/>
          <p:cNvSpPr txBox="1"/>
          <p:nvPr/>
        </p:nvSpPr>
        <p:spPr>
          <a:xfrm>
            <a:off x="868680" y="5212080"/>
            <a:ext cx="8686800" cy="822960"/>
          </a:xfrm>
          <a:prstGeom prst="rect">
            <a:avLst/>
          </a:prstGeom>
          <a:noFill/>
        </p:spPr>
        <p:txBody>
          <a:bodyPr wrap="square" lIns="0" rIns="0" tIns="0" bIns="0" anchor="t">
            <a:spAutoFit/>
          </a:bodyPr>
          <a:lstStyle/>
          <a:p>
            <a:pPr algn="l">
              <a:lnSpc>
                <a:spcPct val="110000"/>
              </a:lnSpc>
              <a:spcBef>
                <a:spcPts val="0"/>
              </a:spcBef>
              <a:spcAft>
                <a:spcPts val="400"/>
              </a:spcAft>
            </a:pPr>
            <a:r>
              <a:rPr sz="1400" b="0" i="1">
                <a:solidFill>
                  <a:srgbClr val="FFFFFF"/>
                </a:solidFill>
                <a:latin typeface="Calibri"/>
              </a:rPr>
              <a:t>The question of what a human is turns on what we will accept as evidence — and that choice is ours to examine, not science's alone to settle.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