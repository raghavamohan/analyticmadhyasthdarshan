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95aeff264434fb5" /><Relationship Type="http://schemas.openxmlformats.org/officeDocument/2006/relationships/extended-properties" Target="/docProps/app.xml" Id="R7030187813b344c9" /><Relationship Type="http://schemas.openxmlformats.org/officeDocument/2006/relationships/officeDocument" Target="/ppt/presentation.xml" Id="R903b4bd030564d1e" /></Relationships>
</file>

<file path=ppt/presentation.xml><?xml version="1.0" encoding="utf-8"?>
<p:presentation xmlns:p="http://schemas.openxmlformats.org/presentationml/2006/main">
  <p:sldMasterIdLst>
    <p:sldMasterId xmlns:r="http://schemas.openxmlformats.org/officeDocument/2006/relationships" id="2147483648" r:id="Rd5daf91291014816"/>
  </p:sldMasterIdLst>
  <p:notesMasterIdLst>
    <p:notesMasterId xmlns:r="http://schemas.openxmlformats.org/officeDocument/2006/relationships" r:id="Raf53cf4bb5c143cd"/>
  </p:notesMasterIdLst>
  <p:sldIdLst>
    <p:sldId xmlns:r="http://schemas.openxmlformats.org/officeDocument/2006/relationships" id="256" r:id="Rec77f1b58fe0405f"/>
    <p:sldId xmlns:r="http://schemas.openxmlformats.org/officeDocument/2006/relationships" id="257" r:id="R4ab31770f63d4032"/>
    <p:sldId xmlns:r="http://schemas.openxmlformats.org/officeDocument/2006/relationships" id="258" r:id="R481727ef285b41c4"/>
    <p:sldId xmlns:r="http://schemas.openxmlformats.org/officeDocument/2006/relationships" id="259" r:id="R2ed8c931749b4eb9"/>
    <p:sldId xmlns:r="http://schemas.openxmlformats.org/officeDocument/2006/relationships" id="260" r:id="R8800b43ea70946eb"/>
    <p:sldId xmlns:r="http://schemas.openxmlformats.org/officeDocument/2006/relationships" id="261" r:id="Rb50c75ac083340e1"/>
    <p:sldId xmlns:r="http://schemas.openxmlformats.org/officeDocument/2006/relationships" id="262" r:id="R3d67d21f9fd649b3"/>
    <p:sldId xmlns:r="http://schemas.openxmlformats.org/officeDocument/2006/relationships" id="263" r:id="R07198ae4ed194b92"/>
    <p:sldId xmlns:r="http://schemas.openxmlformats.org/officeDocument/2006/relationships" id="264" r:id="R3c50aa4dc3834a1a"/>
    <p:sldId xmlns:r="http://schemas.openxmlformats.org/officeDocument/2006/relationships" id="265" r:id="Ra618c0a1dc8e4f6d"/>
    <p:sldId xmlns:r="http://schemas.openxmlformats.org/officeDocument/2006/relationships" id="266" r:id="Rb90705bf32f14175"/>
    <p:sldId xmlns:r="http://schemas.openxmlformats.org/officeDocument/2006/relationships" id="267" r:id="Ra24b8827bad04479"/>
    <p:sldId xmlns:r="http://schemas.openxmlformats.org/officeDocument/2006/relationships" id="268" r:id="R250a3ce21feb4f8b"/>
    <p:sldId xmlns:r="http://schemas.openxmlformats.org/officeDocument/2006/relationships" id="269" r:id="R071654ccf6224b73"/>
    <p:sldId xmlns:r="http://schemas.openxmlformats.org/officeDocument/2006/relationships" id="270" r:id="R4c9518324a4d4e52"/>
    <p:sldId xmlns:r="http://schemas.openxmlformats.org/officeDocument/2006/relationships" id="271" r:id="Rc814190dc0154da3"/>
    <p:sldId xmlns:r="http://schemas.openxmlformats.org/officeDocument/2006/relationships" id="272" r:id="R4122424098f34dfb"/>
    <p:sldId xmlns:r="http://schemas.openxmlformats.org/officeDocument/2006/relationships" id="273" r:id="Ree880f9cfd904253"/>
    <p:sldId xmlns:r="http://schemas.openxmlformats.org/officeDocument/2006/relationships" id="274" r:id="R13a7b6a38f684afb"/>
    <p:sldId xmlns:r="http://schemas.openxmlformats.org/officeDocument/2006/relationships" id="275" r:id="Re9a940b5639047d4"/>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926c84fc102461d" /><Relationship Type="http://schemas.openxmlformats.org/officeDocument/2006/relationships/slideMaster" Target="/ppt/slideMasters/slideMaster1.xml" Id="Rd5daf91291014816" /><Relationship Type="http://schemas.openxmlformats.org/officeDocument/2006/relationships/notesMaster" Target="/ppt/notesMasters/notesMaster1.xml" Id="Raf53cf4bb5c143cd" /><Relationship Type="http://schemas.openxmlformats.org/officeDocument/2006/relationships/presProps" Target="/ppt/presProps.xml" Id="R8559d08392f24792" /><Relationship Type="http://schemas.openxmlformats.org/officeDocument/2006/relationships/viewProps" Target="/ppt/viewProps.xml" Id="R2b0cce7f465c480f" /><Relationship Type="http://schemas.openxmlformats.org/officeDocument/2006/relationships/tableStyles" Target="/ppt/tableStyles.xml" Id="R95ef9e3973ee4b7c" /><Relationship Type="http://schemas.openxmlformats.org/officeDocument/2006/relationships/slide" Target="/ppt/slides/slide1.xml" Id="Rec77f1b58fe0405f" /><Relationship Type="http://schemas.openxmlformats.org/officeDocument/2006/relationships/slide" Target="/ppt/slides/slide2.xml" Id="R4ab31770f63d4032" /><Relationship Type="http://schemas.openxmlformats.org/officeDocument/2006/relationships/slide" Target="/ppt/slides/slide3.xml" Id="R481727ef285b41c4" /><Relationship Type="http://schemas.openxmlformats.org/officeDocument/2006/relationships/slide" Target="/ppt/slides/slide4.xml" Id="R2ed8c931749b4eb9" /><Relationship Type="http://schemas.openxmlformats.org/officeDocument/2006/relationships/slide" Target="/ppt/slides/slide5.xml" Id="R8800b43ea70946eb" /><Relationship Type="http://schemas.openxmlformats.org/officeDocument/2006/relationships/slide" Target="/ppt/slides/slide6.xml" Id="Rb50c75ac083340e1" /><Relationship Type="http://schemas.openxmlformats.org/officeDocument/2006/relationships/slide" Target="/ppt/slides/slide7.xml" Id="R3d67d21f9fd649b3" /><Relationship Type="http://schemas.openxmlformats.org/officeDocument/2006/relationships/slide" Target="/ppt/slides/slide8.xml" Id="R07198ae4ed194b92" /><Relationship Type="http://schemas.openxmlformats.org/officeDocument/2006/relationships/slide" Target="/ppt/slides/slide9.xml" Id="R3c50aa4dc3834a1a" /><Relationship Type="http://schemas.openxmlformats.org/officeDocument/2006/relationships/slide" Target="/ppt/slides/slide10.xml" Id="Ra618c0a1dc8e4f6d" /><Relationship Type="http://schemas.openxmlformats.org/officeDocument/2006/relationships/slide" Target="/ppt/slides/slide11.xml" Id="Rb90705bf32f14175" /><Relationship Type="http://schemas.openxmlformats.org/officeDocument/2006/relationships/slide" Target="/ppt/slides/slide12.xml" Id="Ra24b8827bad04479" /><Relationship Type="http://schemas.openxmlformats.org/officeDocument/2006/relationships/slide" Target="/ppt/slides/slide13.xml" Id="R250a3ce21feb4f8b" /><Relationship Type="http://schemas.openxmlformats.org/officeDocument/2006/relationships/slide" Target="/ppt/slides/slide14.xml" Id="R071654ccf6224b73" /><Relationship Type="http://schemas.openxmlformats.org/officeDocument/2006/relationships/slide" Target="/ppt/slides/slide15.xml" Id="R4c9518324a4d4e52" /><Relationship Type="http://schemas.openxmlformats.org/officeDocument/2006/relationships/slide" Target="/ppt/slides/slide16.xml" Id="Rc814190dc0154da3" /><Relationship Type="http://schemas.openxmlformats.org/officeDocument/2006/relationships/slide" Target="/ppt/slides/slide17.xml" Id="R4122424098f34dfb" /><Relationship Type="http://schemas.openxmlformats.org/officeDocument/2006/relationships/slide" Target="/ppt/slides/slide18.xml" Id="Ree880f9cfd904253" /><Relationship Type="http://schemas.openxmlformats.org/officeDocument/2006/relationships/slide" Target="/ppt/slides/slide19.xml" Id="R13a7b6a38f684afb" /><Relationship Type="http://schemas.openxmlformats.org/officeDocument/2006/relationships/slide" Target="/ppt/slides/slide20.xml" Id="Re9a940b5639047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5239491e90f402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4eb2c29b2d3426f" /><Relationship Type="http://schemas.openxmlformats.org/officeDocument/2006/relationships/notesMaster" Target="/ppt/notesMasters/notesMaster1.xml" Id="R358b7c5159ef4d72" /></Relationships>
</file>

<file path=ppt/notesSlides/_rels/notesSlide2.xml.rels>&#65279;<?xml version="1.0" encoding="utf-8"?><Relationships xmlns="http://schemas.openxmlformats.org/package/2006/relationships"><Relationship Type="http://schemas.openxmlformats.org/officeDocument/2006/relationships/slide" Target="/ppt/slides/slide2.xml" Id="R35f155c50ac74812" /><Relationship Type="http://schemas.openxmlformats.org/officeDocument/2006/relationships/notesMaster" Target="/ppt/notesMasters/notesMaster1.xml" Id="Rbeab344700a64631" /></Relationships>
</file>

<file path=ppt/notesSlides/_rels/notesSlide3.xml.rels>&#65279;<?xml version="1.0" encoding="utf-8"?><Relationships xmlns="http://schemas.openxmlformats.org/package/2006/relationships"><Relationship Type="http://schemas.openxmlformats.org/officeDocument/2006/relationships/slide" Target="/ppt/slides/slide3.xml" Id="Rab9598db6bc14994" /><Relationship Type="http://schemas.openxmlformats.org/officeDocument/2006/relationships/notesMaster" Target="/ppt/notesMasters/notesMaster1.xml" Id="R6f413441942249a1" /></Relationships>
</file>

<file path=ppt/notesSlides/_rels/notesSlide4.xml.rels>&#65279;<?xml version="1.0" encoding="utf-8"?><Relationships xmlns="http://schemas.openxmlformats.org/package/2006/relationships"><Relationship Type="http://schemas.openxmlformats.org/officeDocument/2006/relationships/slide" Target="/ppt/slides/slide4.xml" Id="Rfdeb29a8c0624fe1" /><Relationship Type="http://schemas.openxmlformats.org/officeDocument/2006/relationships/notesMaster" Target="/ppt/notesMasters/notesMaster1.xml" Id="R5780bc51c8504aa5" /></Relationships>
</file>

<file path=ppt/notesSlides/_rels/notesSlide5.xml.rels>&#65279;<?xml version="1.0" encoding="utf-8"?><Relationships xmlns="http://schemas.openxmlformats.org/package/2006/relationships"><Relationship Type="http://schemas.openxmlformats.org/officeDocument/2006/relationships/slide" Target="/ppt/slides/slide5.xml" Id="R3e6497129a1540e2" /><Relationship Type="http://schemas.openxmlformats.org/officeDocument/2006/relationships/notesMaster" Target="/ppt/notesMasters/notesMaster1.xml" Id="Rab587b81862242df" /></Relationships>
</file>

<file path=ppt/notesSlides/_rels/notesSlide6.xml.rels>&#65279;<?xml version="1.0" encoding="utf-8"?><Relationships xmlns="http://schemas.openxmlformats.org/package/2006/relationships"><Relationship Type="http://schemas.openxmlformats.org/officeDocument/2006/relationships/slide" Target="/ppt/slides/slide6.xml" Id="R4a35d84ee7d9452c" /><Relationship Type="http://schemas.openxmlformats.org/officeDocument/2006/relationships/notesMaster" Target="/ppt/notesMasters/notesMaster1.xml" Id="R77fc76d0ff7644fb" /></Relationships>
</file>

<file path=ppt/notesSlides/_rels/notesSlide7.xml.rels>&#65279;<?xml version="1.0" encoding="utf-8"?><Relationships xmlns="http://schemas.openxmlformats.org/package/2006/relationships"><Relationship Type="http://schemas.openxmlformats.org/officeDocument/2006/relationships/slide" Target="/ppt/slides/slide7.xml" Id="R7c3f97d6c2794faa" /><Relationship Type="http://schemas.openxmlformats.org/officeDocument/2006/relationships/notesMaster" Target="/ppt/notesMasters/notesMaster1.xml" Id="R46596a38c3b54da8" /></Relationships>
</file>

<file path=ppt/notesSlides/_rels/notesSlide8.xml.rels>&#65279;<?xml version="1.0" encoding="utf-8"?><Relationships xmlns="http://schemas.openxmlformats.org/package/2006/relationships"><Relationship Type="http://schemas.openxmlformats.org/officeDocument/2006/relationships/slide" Target="/ppt/slides/slide8.xml" Id="Ra626cbd694b1497f" /><Relationship Type="http://schemas.openxmlformats.org/officeDocument/2006/relationships/notesMaster" Target="/ppt/notesMasters/notesMaster1.xml" Id="R2a4199fe0ed14d3d" /></Relationships>
</file>

<file path=ppt/notesSlides/_rels/notesSlide9.xml.rels>&#65279;<?xml version="1.0" encoding="utf-8"?><Relationships xmlns="http://schemas.openxmlformats.org/package/2006/relationships"><Relationship Type="http://schemas.openxmlformats.org/officeDocument/2006/relationships/slide" Target="/ppt/slides/slide9.xml" Id="R0712797654394651" /><Relationship Type="http://schemas.openxmlformats.org/officeDocument/2006/relationships/notesMaster" Target="/ppt/notesMasters/notesMaster1.xml" Id="R527413fe47064e6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e4fe5e793b94747" /><Relationship Type="http://schemas.openxmlformats.org/officeDocument/2006/relationships/notesMaster" Target="/ppt/notesMasters/notesMaster1.xml" Id="R991d8aa0a51d488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617de7e73a140c8" /><Relationship Type="http://schemas.openxmlformats.org/officeDocument/2006/relationships/notesMaster" Target="/ppt/notesMasters/notesMaster1.xml" Id="R64667968e6ce4e2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9d0a6a919df4100" /><Relationship Type="http://schemas.openxmlformats.org/officeDocument/2006/relationships/notesMaster" Target="/ppt/notesMasters/notesMaster1.xml" Id="R6ff4479d3b1045a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70017ab978c4d6c" /><Relationship Type="http://schemas.openxmlformats.org/officeDocument/2006/relationships/notesMaster" Target="/ppt/notesMasters/notesMaster1.xml" Id="R84d80609078f4f4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1675d84fa9e4a17" /><Relationship Type="http://schemas.openxmlformats.org/officeDocument/2006/relationships/notesMaster" Target="/ppt/notesMasters/notesMaster1.xml" Id="R503d666580e64e6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5b5058c4f494bbc" /><Relationship Type="http://schemas.openxmlformats.org/officeDocument/2006/relationships/notesMaster" Target="/ppt/notesMasters/notesMaster1.xml" Id="R7dbd9f4e5ad14eb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cfb947d2e4146c0" /><Relationship Type="http://schemas.openxmlformats.org/officeDocument/2006/relationships/notesMaster" Target="/ppt/notesMasters/notesMaster1.xml" Id="R0c93cf6f48814a6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d670f0e9154479f" /><Relationship Type="http://schemas.openxmlformats.org/officeDocument/2006/relationships/notesMaster" Target="/ppt/notesMasters/notesMaster1.xml" Id="R773356535384462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cb696887fed4860" /><Relationship Type="http://schemas.openxmlformats.org/officeDocument/2006/relationships/notesMaster" Target="/ppt/notesMasters/notesMaster1.xml" Id="Rd2b6be967c7b46e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4a9d6a53d0a4507" /><Relationship Type="http://schemas.openxmlformats.org/officeDocument/2006/relationships/notesMaster" Target="/ppt/notesMasters/notesMaster1.xml" Id="R526bec320464405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d9e02126dff4ae3" /><Relationship Type="http://schemas.openxmlformats.org/officeDocument/2006/relationships/notesMaster" Target="/ppt/notesMasters/notesMaster1.xml" Id="R67fef9524ece436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companion deck follows the study “Why Humans Are Not Just Material.” Its title expresses the affirmative case being developed: human experience deserves a fuller account than a description of bodily mechanisms alone. The study is open to what inquiry may establish. The further claim that experience requires a distinct, enduring jeevan is the Madhyasth proposal to examine, not a result already demonstrated by the title.</a:t>
            </a:r>
          </a:p>
          <a:p xmlns:a="http://schemas.openxmlformats.org/drawingml/2006/main">
            <a:r>
              <a:t/>
            </a:r>
          </a:p>
          <a:p xmlns:a="http://schemas.openxmlformats.org/drawingml/2006/main">
            <a:r>
              <a:t>The comparison separates scientific findings from physicalist interpretations of those findings. Madhyasth Darshan, physicalism, and Advaita offer different accounts of the person; scientific methods supply evidence relevant to all of them. The shared approach is to understand each account in its own terms, reason from experience, and ask what can be independently checked. See the study introduction and “How we work” on the Studies landing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question concerns more than the chemistry of a body. It concerns felt experience, a continuing sense of self, the force of reasons, and the aspiration to live well with others. We should first understand why these require explanation, then examine what follows about their bearer.</a:t>
            </a:r>
          </a:p>
          <a:p xmlns:a="http://schemas.openxmlformats.org/drawingml/2006/main">
            <a:r>
              <a:t/>
            </a:r>
          </a:p>
          <a:p xmlns:a="http://schemas.openxmlformats.org/drawingml/2006/main">
            <a:r>
              <a:t>Physicalism holds that the embodied person is wholly physical. It can retain psychological, social, and ethical explanations without claiming that every useful explanation can be rewritten in the language of physics. Science itself is a collection of methods and findings; it does not simply stipulate this metaphysics. Madhyasth Darshan affirms a material body in joint form with a distinct sentient unit. Advaita distinguishes the empirical person from the ultimate nondual Self. These are substantive differences, including different commitments about individuality, the world, and death. See study §§1.1, 2.1,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sequence begins with experience so that the question stays connected to what needs explaining. Bodily satisfaction, personal fulfilment, selfhood, and moral life are the shared subjects of inquiry. Their presence is not yet a proof of any particular ontology.</a:t>
            </a:r>
          </a:p>
          <a:p xmlns:a="http://schemas.openxmlformats.org/drawingml/2006/main">
            <a:r>
              <a:t/>
            </a:r>
          </a:p>
          <a:p xmlns:a="http://schemas.openxmlformats.org/drawingml/2006/main">
            <a:r>
              <a:t>We then examine the Madhyasth account in connected form, follow the scientific evidence and physicalist response, and consider Advaita's different use of experience and testimony. The later comparison develops the strongest affirmative arguments from experience, unity, and reasons while considering physicalist replies. The final test is what each argument establishes, which claims go further, and what evidence could change the assessment. This follows the study's approach rather than asking the audience to accept its conclusion in advance.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Madhyasth Darshan draws attention to a difference between satisfying bodily needs and finding fulfilment through understanding, trust, and justice. Its claim about continuous happiness is not the claim that people always seek ever more possessions. Accumulation can express an unsuccessful attempt to satisfy a continuing aspiration.</a:t>
            </a:r>
          </a:p>
          <a:p xmlns:a="http://schemas.openxmlformats.org/drawingml/2006/main">
            <a:r>
              <a:t/>
            </a:r>
          </a:p>
          <a:p xmlns:a="http://schemas.openxmlformats.org/drawingml/2006/main">
            <a:r>
              <a:t>Pleasure, health, and gain are the perspectives of priya, hita, and labha. Pleasure concerns sensory gratification, health concerns bodily nourishment, and acquisitive gain concerns receiving more value than one gives. Awakening brings these concerns under the guidance of justice, dharma, and truth. Prosperity replaces accumulation for its own sake. What changes is the understanding of fulfilment and the aims one considers reasonable.</a:t>
            </a:r>
          </a:p>
          <a:p xmlns:a="http://schemas.openxmlformats.org/drawingml/2006/main">
            <a:r>
              <a:t/>
            </a:r>
          </a:p>
          <a:p xmlns:a="http://schemas.openxmlformats.org/drawingml/2006/main">
            <a:r>
              <a:t>The experienced distinction between “I” and “my body” raises a question about the self. A continuing person through sleep does not automatically mean uninterrupted reportable experience. Likewise, an inherent orientation to justice differs from what developmental experiments measure. Early attention to social actions is narrower than understanding justice, and neither by itself identifies jeevan.</a:t>
            </a:r>
          </a:p>
          <a:p xmlns:a="http://schemas.openxmlformats.org/drawingml/2006/main">
            <a:r>
              <a:t/>
            </a:r>
          </a:p>
          <a:p xmlns:a="http://schemas.openxmlformats.org/drawingml/2006/main">
            <a:r>
              <a:t>Sources: Samadhanatmak Bhautikvad (SB), PDF pp. 15 and 91–92; Jeevan Vidya—An Introduction (JV), printed pp. 24–27 and 138–139 (PDF positions 25–28 and 139–140); Madhyasth Darshan Vangmaya (MVD), printed pp. 58 and 66 (same PDF positions). See study §§1.2, 2.2 and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examples show why the evidence must enter the argument in detail. Lockwood and colleagues studied 25 people with damage to the ventromedial prefrontal cortex alongside lesion and healthy comparison groups. Willingness to exert effort for others was reduced selectively. The account must explain apparent changes in what a person values and is motivated to do, as well as difficulties in carrying out an otherwise intact intention. These choices do not directly establish that inner concern disappeared, or that all value and moral judgement were lost. Lyu and colleagues found that stimulation of the anterior precuneus could alter bodily self-experience in nine patients. Such selective changes constrain a body–jeevan account as well as a physicalist one.</a:t>
            </a:r>
          </a:p>
          <a:p xmlns:a="http://schemas.openxmlformats.org/drawingml/2006/main">
            <a:r>
              <a:t/>
            </a:r>
          </a:p>
          <a:p xmlns:a="http://schemas.openxmlformats.org/drawingml/2006/main">
            <a:r>
              <a:t>Formal models of learning and active inference offer possible accounts of ongoing goals. Regulation can anticipate future needs, so activity continues when no immediate deficit is felt. These models do not establish that every aspiration to lasting happiness has been explained. Geraci and colleagues found a preference for prosocial actions in newborn looking behaviour. The large ManyBabies study reported no reliable helper preference in older infants on a different task. Neither finding establishes an entire moral doctrine at birth.</a:t>
            </a:r>
          </a:p>
          <a:p xmlns:a="http://schemas.openxmlformats.org/drawingml/2006/main">
            <a:r>
              <a:t/>
            </a:r>
          </a:p>
          <a:p xmlns:a="http://schemas.openxmlformats.org/drawingml/2006/main">
            <a:r>
              <a:t>Sources: Lockwood et al. (2024), https://www.nature.com/articles/s41562-024-01899-4 ; Lyu et al. (2023), https://doi.org/10.1016/j.neuron.2023.05.013 ; Friston et al. (2015), https://doi.org/10.1080/17588928.2015.1020053 ; Geraci et al. (2025), https://www.nature.com/articles/s41467-025-61517-3 ; Lucca et al. (2025), https://doi.org/10.1111/desc.13581 . See study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Advaita asks the inquirer to distinguish what is witnessed from the witness. The body, thoughts, desires, and the sense of an individual ego can all become objects of awareness. Within the tradition, this inquiry is joined with Upanishadic teaching, reasoning, and contemplative discipline. It is not simply a psychological exercise that independently demonstrates Brahman.</a:t>
            </a:r>
          </a:p>
          <a:p xmlns:a="http://schemas.openxmlformats.org/drawingml/2006/main">
            <a:r>
              <a:t/>
            </a:r>
          </a:p>
          <a:p xmlns:a="http://schemas.openxmlformats.org/drawingml/2006/main">
            <a:r>
              <a:t>Its treatment of waking, dream, and deep sleep is a philosophical interpretation of the states. A later report that nothing was remembered does not independently establish either continuous awareness or its absence throughout sleep. Nor does the use of five koshas establish agreement with Madhyasth Darshan. Both accounts use that vocabulary, but assign the layers different functions and roles in liberation or awakening. Describing how Advaita would assess jeevan is our comparison; the classical texts are not directly commenting on Nagraj's theory.</a:t>
            </a:r>
          </a:p>
          <a:p xmlns:a="http://schemas.openxmlformats.org/drawingml/2006/main">
            <a:r>
              <a:t/>
            </a:r>
          </a:p>
          <a:p xmlns:a="http://schemas.openxmlformats.org/drawingml/2006/main">
            <a:r>
              <a:t>Sources: Drig-Drishya-Viveka vv. 1–5; Brihadaranyaka Upanishad 2.3.6 and 2.4.5; Mandukya Upanishad vv. 3–7; Taittiriya Upanishad 2.1–2.5. See study §§3.2–3.4 and Editorial Notes on textual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Madhyasth Darshan places the human within a real coexistence of physical, chemical, and jeevan units in Omnipresence. The body and jeevan form a temporary joint form. The body composes and decomposes. Jeevan retains its constitution and capacity for sentience. Sensation and action occur through the embodied joint form, while understanding and evaluation belong to jeevan.</a:t>
            </a:r>
          </a:p>
          <a:p xmlns:a="http://schemas.openxmlformats.org/drawingml/2006/main">
            <a:r>
              <a:t/>
            </a:r>
          </a:p>
          <a:p xmlns:a="http://schemas.openxmlformats.org/drawingml/2006/main">
            <a:r>
              <a:t>Awakening gives this account its direction in human life. Realisation of coexistence informs understanding, resolve, and thought, and finds expression in the recognition and fulfilment of relationships. Jeevan can therefore examine what it seeks, instead of only pursuing an existing aim more efficiently. The need for such understanding speaks most directly to awakening. Animals and unawakened humans already involve jeevan in this account. Constitutional completion and awakening answer different developmental questions.</a:t>
            </a:r>
          </a:p>
          <a:p xmlns:a="http://schemas.openxmlformats.org/drawingml/2006/main">
            <a:r>
              <a:t/>
            </a:r>
          </a:p>
          <a:p xmlns:a="http://schemas.openxmlformats.org/drawingml/2006/main">
            <a:r>
              <a:t>These commitments include atomic completion, coordination with a body, and continued existence after bodily death. Calling jeevan a sentient atom does not identify it with an atom as measured in present physics. The source describes a unit with constituent particles, whose relationship to known physical atoms remains to be established. Jeevan Vidya calls it neither physical nor non-physical, but a constitutionally complete sentient atom.</a:t>
            </a:r>
          </a:p>
          <a:p xmlns:a="http://schemas.openxmlformats.org/drawingml/2006/main">
            <a:r>
              <a:t/>
            </a:r>
          </a:p>
          <a:p xmlns:a="http://schemas.openxmlformats.org/drawingml/2006/main">
            <a:r>
              <a:t>Sources: MVD, The Alternative, point 7, printed p. 5, for the displayed quotation; printed pp. 27, 78 and 97–100 (same PDF positions); JV, printed p. 36 (PDF position 37). See study §§1.1 and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orders are distinguished by their characteristic activities and conduct. Material formations compose and decompose. Biological formations grow and reproduce. Animal life is a joint form of body and jeevan, with sensitivity and a hope to live. The knowledge order is the human joint form, capable of understanding existence and expressing that understanding in responsible conduct.</a:t>
            </a:r>
          </a:p>
          <a:p xmlns:a="http://schemas.openxmlformats.org/drawingml/2006/main">
            <a:r>
              <a:t/>
            </a:r>
          </a:p>
          <a:p xmlns:a="http://schemas.openxmlformats.org/drawingml/2006/main">
            <a:r>
              <a:t>Material, biological, and animal nature already display orderliness through their characteristic forms of conformance. Awakened humans participate through responsible production, use, and nurture of nature. They do not supply the laws that make nature function. Their understanding concerns how to fulfil their own participation in coexistence.</a:t>
            </a:r>
          </a:p>
          <a:p xmlns:a="http://schemas.openxmlformats.org/drawingml/2006/main">
            <a:r>
              <a:t/>
            </a:r>
          </a:p>
          <a:p xmlns:a="http://schemas.openxmlformats.org/drawingml/2006/main">
            <a:r>
              <a:t>The classification is not a claim that four substances are stacked inside the human. The order sequence alone does not provide a measured evolutionary explanation of jeevan’s origin. Compositional development of bodies and constitutional development of an atom do different work in the account. The human brain is the bodily medium for expressing understanding. Awakening develops that understanding within an already sentient jeevan.</a:t>
            </a:r>
          </a:p>
          <a:p xmlns:a="http://schemas.openxmlformats.org/drawingml/2006/main">
            <a:r>
              <a:t/>
            </a:r>
          </a:p>
          <a:p xmlns:a="http://schemas.openxmlformats.org/drawingml/2006/main">
            <a:r>
              <a:t>Sources: SB, PDF pp. 179–180 and 236–237; MVD, printed pp. 27, 91 and 115–116 (same PDF positions). See study §§1.3.1 and 1.3.4.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diagram is a compact paraphrase of the proposed transition, not a measured physical sequence. An evolving atom exchanges particles. At constitutional completion the source describes a closed constitution, freedom from weight and molecular bondage, and an irreversible change to sentience. Jeevan continues as that constitutionally complete unit. The source also attributes its persistence beyond the death of a body.</a:t>
            </a:r>
          </a:p>
          <a:p xmlns:a="http://schemas.openxmlformats.org/drawingml/2006/main">
            <a:r>
              <a:t/>
            </a:r>
          </a:p>
          <a:p xmlns:a="http://schemas.openxmlformats.org/drawingml/2006/main">
            <a:r>
              <a:t>The presentation does not add an explanation in which latent sentience becomes actual, or assert that an unembodied jeevan is inactive. Those additions do not resolve the transition described in the texts. The source describes a nucleus and orbiting particles, so a stable constitution does not mean a unit without constituents. Its relationship to atoms recognised in contemporary physics remains to be established. Freedom from weight bondage has not been operationally identified with zero rest mass. The source's 122 activities in paired faculty groups also do not by themselves establish a 61-particle constitution. Atomic constitution, persistence, and its coordination with a brain each require a way to distinguish the proposal from alternative accounts. Study §5 sets out those evidential requirements.</a:t>
            </a:r>
          </a:p>
          <a:p xmlns:a="http://schemas.openxmlformats.org/drawingml/2006/main">
            <a:r>
              <a:t/>
            </a:r>
          </a:p>
          <a:p xmlns:a="http://schemas.openxmlformats.org/drawingml/2006/main">
            <a:r>
              <a:t>Sources: MVD, printed pp. 78, 91 and 323 (same PDF positions); JV, printed pp. 19, 36–37 and 54 (PDF positions 20, 37–38 and 55). Related study The Ontology of Coexistence §6.2.1 discusses public identification, §6.2.2 persistence and the joint form, and §6.2.3 evidence and evolution.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different roles are part of the Madhyasth account: they illustrate why it distinguishes body and jeevan. Different functions do not logically require separate entities. A single organised system can support different functions, so that inference would need further premises and evidence.</a:t>
            </a:r>
          </a:p>
          <a:p xmlns:a="http://schemas.openxmlformats.org/drawingml/2006/main">
            <a:r>
              <a:t/>
            </a:r>
          </a:p>
          <a:p xmlns:a="http://schemas.openxmlformats.org/drawingml/2006/main">
            <a:r>
              <a:t>Sensitivity belongs to the joint form. Jeevan Vidya says a constructed human body without jeevan cannot evidence sensitivity, let alone conscience. It would therefore misstate this account to assign felt sensitivity to the body alone and reserve jeevan only for reflective understanding. The body provides the organs and neural medium; jeevan is the sentient participant. MVD speaks of the brain's receiving signals from hopes, thoughts, desires, resoluteness, and authenticity. These descriptions specify roles while leaving the measurable relation to neural activity unresolved.</a:t>
            </a:r>
          </a:p>
          <a:p xmlns:a="http://schemas.openxmlformats.org/drawingml/2006/main">
            <a:r>
              <a:t/>
            </a:r>
          </a:p>
          <a:p xmlns:a="http://schemas.openxmlformats.org/drawingml/2006/main">
            <a:r>
              <a:t>The five koshas are not a one-to-one match with Advaita's sheaths; their functions and philosophical use differ. Sources: SB, chapter 7, PDF p. 92, for the displayed quotation (a sentence fragment capitalised at the start); JV, printed p. 37 (PDF position 38); MVD, printed pp. 49–50 and 83–84 (same PDF positions). See study §§1.3.3–1.3.5.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Physicalism interprets mental life as the activity of an embodied organism. The scientific findings strongly support dependence on brain organisation; the further claim that no distinct sentient unit exists is philosophical. Scientific method does not begin by disproving every alternative ontology. The questions here ask the Madhyasth account to connect its classifications and proposed unit to evidence.</a:t>
            </a:r>
          </a:p>
          <a:p xmlns:a="http://schemas.openxmlformats.org/drawingml/2006/main">
            <a:r>
              <a:t/>
            </a:r>
          </a:p>
          <a:p xmlns:a="http://schemas.openxmlformats.org/drawingml/2006/main">
            <a:r>
              <a:t>Unresponsiveness must be interpreted carefully. Bodien and colleagues detected command-following through EEG or fMRI in 60 of 241 participants who showed no observable command response in a selected clinical sample. This is evidence of covert cognitive capacity through measured brain activity, not evidence of cognition without a functioning brain; it is not a general population prevalence estimate. The DREAM database gathers 2,643 awakenings from 505 participants across 20 datasets. Reports about sleep must distinguish absence of recalled experience from demonstrated absence of experience. Reversible arrest and absent responsiveness also differ from irreversible brain destruction.</a:t>
            </a:r>
          </a:p>
          <a:p xmlns:a="http://schemas.openxmlformats.org/drawingml/2006/main">
            <a:r>
              <a:t/>
            </a:r>
          </a:p>
          <a:p xmlns:a="http://schemas.openxmlformats.org/drawingml/2006/main">
            <a:r>
              <a:t>Sources: Bodien et al. (2024), https://www.nejm.org/doi/full/10.1056/NEJMoa2400645 ; Wong et al. (2025), https://www.nature.com/articles/s41467-025-61945-1 . See study §§2.3–2.4.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sources describe coordination through signals, but the study has no measured model of those signals. Calling the relation a joint form does not specify how a difference in jeevan produces a difference in neural activity. A useful account must relate its proposed states to observable bodily effects and say how its predictions differ from those of an embodied neural account. It must explain apparent changes in valuation and motivation as well as failures to carry out an intact intention.</a:t>
            </a:r>
          </a:p>
          <a:p xmlns:a="http://schemas.openxmlformats.org/drawingml/2006/main">
            <a:r>
              <a:t/>
            </a:r>
          </a:p>
          <a:p xmlns:a="http://schemas.openxmlformats.org/drawingml/2006/main">
            <a:r>
              <a:t>The causal exclusion challenge is conditional. It becomes sharp if bodily effects already have sufficient physical causes, jeevan supplies a distinct sufficient cause, and systematic causal overdetermination is excluded. A defender can contest one of those premises, but should state which one. Energy conservation alone does not establish that every bodily event has a sufficient physical cause. Conversely, not forming chemical bonds would not imply that an entity cannot interact at all. The physical meaning of the source terms needs to be specified before they can be tested as claims about mass or coupling.</a:t>
            </a:r>
          </a:p>
          <a:p xmlns:a="http://schemas.openxmlformats.org/drawingml/2006/main">
            <a:r>
              <a:t/>
            </a:r>
          </a:p>
          <a:p xmlns:a="http://schemas.openxmlformats.org/drawingml/2006/main">
            <a:r>
              <a:t>Sources: MVD, printed pp. 83–84 and 91 (same PDF positions); Arnadottir and Crane, “There Is No Exclusion Problem,” author manuscript, https://philpapers.org/archive/CRATIN-4.pdf . See study §2.3.3, §5.1, and Editorial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description of neural mechanisms can explain discrimination, memory, and report while leaving the question of why there is felt experience. Experience also presents a world whose contents belong together. A theory must explain this unity, although integration through distributed processes remains a serious possibility.</a:t>
            </a:r>
          </a:p>
          <a:p xmlns:a="http://schemas.openxmlformats.org/drawingml/2006/main">
            <a:r>
              <a:t/>
            </a:r>
          </a:p>
          <a:p xmlns:a="http://schemas.openxmlformats.org/drawingml/2006/main">
            <a:r>
              <a:t>Human beings can question their aims and recognise what relationships require. For example, a business might increase its returns while damaging water on which its workers, neighbours, and future activity depend. Its narrow measure of success leaves out those relationships. This illustrates the problem of pursuing gain without understanding its conditions. It does not show that every local activity causes collapse.</a:t>
            </a:r>
          </a:p>
          <a:p xmlns:a="http://schemas.openxmlformats.org/drawingml/2006/main">
            <a:r>
              <a:t/>
            </a:r>
          </a:p>
          <a:p xmlns:a="http://schemas.openxmlformats.org/drawingml/2006/main">
            <a:r>
              <a:t>Madhyasth Darshan connects awakening with guiding pleasure, health, and gain through justice, dharma, and truth. Satya concerns reality as coexistence. Dharma concerns what is inherent in beings and their participation in order. Nyaya involves recognising relationships, fulfilling their values, evaluating that fulfilment, and mutual satisfaction. Anubhav is realised understanding of coexistence. That understanding informs resolve and thought and guides action. The aim is humane fulfilment, which requires more than the survival of an organisation.</a:t>
            </a:r>
          </a:p>
          <a:p xmlns:a="http://schemas.openxmlformats.org/drawingml/2006/main">
            <a:r>
              <a:t/>
            </a:r>
          </a:p>
          <a:p xmlns:a="http://schemas.openxmlformats.org/drawingml/2006/main">
            <a:r>
              <a:t>A physicalist can explain wider understanding through embodied learning and social life. Local feedback can support collective order, and people can cooperate without anyone knowing every detail of the whole. Ostrom’s research on shared resources supports the importance of communication and shared rules. Understanding a wider world does not alone prove a physically separate knower. The further question is whether an embodied account fully explains experience and the recognition that reasons should guide us.</a:t>
            </a:r>
          </a:p>
          <a:p xmlns:a="http://schemas.openxmlformats.org/drawingml/2006/main">
            <a:r>
              <a:t/>
            </a:r>
          </a:p>
          <a:p xmlns:a="http://schemas.openxmlformats.org/drawingml/2006/main">
            <a:r>
              <a:t>Sources: MVD, printed pp. 97–100 and 336 (same PDF positions); JV, printed pp. 138–139 (PDF positions 139–140); Ostrom (2010), https://www.aeaweb.org/articles?id=10.1257/aer.100.3.641 ; Chalmers (2003), https://consc.net/papers/nature.html ; Bayne and Chalmers (2003), https://consc.net/papers/unity.html . See study §§4.2–4.5.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Advaita distinguishes the empirical person from the ultimate Self. At the empirical level, bodies, minds, knowledge, ethical practice, and suffering matter. At the ultimate level, awareness is nondual and not one individual subject among many. Mithya means dependent reality here, not that ordinary experience is simply nonexistent.</a:t>
            </a:r>
          </a:p>
          <a:p xmlns:a="http://schemas.openxmlformats.org/drawingml/2006/main">
            <a:r>
              <a:t/>
            </a:r>
          </a:p>
          <a:p xmlns:a="http://schemas.openxmlformats.org/drawingml/2006/main">
            <a:r>
              <a:t>Distinguishing a witnessed object from awareness begins the inquiry, but does not by itself establish that all awareness is one Brahman. Advaita joins it with Upanishadic testimony and reasoning. A physicalist can question whether a system's capacity to represent its own states requires an ontologically separate witness. Madhyasth Darshan can accept the experienced distinction while affirming many enduring sentient units and a real plural world. These differences should remain clear without making the empirical world disappear rhetorically.</a:t>
            </a:r>
          </a:p>
          <a:p xmlns:a="http://schemas.openxmlformats.org/drawingml/2006/main">
            <a:r>
              <a:t/>
            </a:r>
          </a:p>
          <a:p xmlns:a="http://schemas.openxmlformats.org/drawingml/2006/main">
            <a:r>
              <a:t>Sources: Brihadaranyaka Upanishad 2.3.6 and 2.4.5; Taittiriya Upanishad 2.1–2.5; Vivekachudamani v. 120, with the authorship qualification in the study's Editorial Notes. See study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path starts with the communicated discovery, proceeds through understanding, and looks for evidence in living and communicating that understanding. Nagraj distinguishes samadhi from the samyama through which he reports the discovery. A learner is invited to test the account rather than merely repeat it. In this account, reliable conduct, productive participation, and the ability to convey understanding matter.</a:t>
            </a:r>
          </a:p>
          <a:p xmlns:a="http://schemas.openxmlformats.org/drawingml/2006/main">
            <a:r>
              <a:t/>
            </a:r>
          </a:p>
          <a:p xmlns:a="http://schemas.openxmlformats.org/drawingml/2006/main">
            <a:r>
              <a:t>A fair practical test would state the learning conditions, compare suitable groups, track outcomes over time, and allow failure to count against a claim. Improvements in trust, justice, or mutual fulfilment would support the practical value of what was learned. They would not by themselves demonstrate the atomic constitution of jeevan or its survival after bodily death. Comparable improvement through a rival programme would matter to any claim of a distinctive practical effect. See study §5 for the separate requirements on practical and ontological claims.</a:t>
            </a:r>
          </a:p>
          <a:p xmlns:a="http://schemas.openxmlformats.org/drawingml/2006/main">
            <a:r>
              <a:t/>
            </a:r>
          </a:p>
          <a:p xmlns:a="http://schemas.openxmlformats.org/drawingml/2006/main">
            <a:r>
              <a:t>Sources: MVD, printed p. 12 (PDF position 12); JV, printed pp. 24–27 (PDF positions 25–28); study §§1.4 and 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rows compare commitments, not equally established findings. In the first column, physicalism is the interpretation being compared; science supplies evidence such as neural dependence. Physicalism can recognise many persons and preserve psychological and social explanations while holding that persons are wholly physical.</a:t>
            </a:r>
          </a:p>
          <a:p xmlns:a="http://schemas.openxmlformats.org/drawingml/2006/main">
            <a:r>
              <a:t/>
            </a:r>
          </a:p>
          <a:p xmlns:a="http://schemas.openxmlformats.org/drawingml/2006/main">
            <a:r>
              <a:t>Madhyasth Darshan describes each living human as one body joined with one jeevan; the account has many jeevans across persons, not many within a single human. Advaita accepts plurality in empirical life while denying separate ultimate selves. The survival row also compares different claims: continued individual jeevan differs from the claim that the nondual Self never begins or ends. A position's place in the middle of a table gives it no evidential advantage. See study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overlaps help locate the disagreements, but are not additional arguments for the account at their intersection. Madhyasth Darshan affirms a real shared world and many sentient individuals; Advaita's ultimate nonduality and physicalism's physical constitution each depart from that account in a different way.</a:t>
            </a:r>
          </a:p>
          <a:p xmlns:a="http://schemas.openxmlformats.org/drawingml/2006/main">
            <a:r>
              <a:t/>
            </a:r>
          </a:p>
          <a:p xmlns:a="http://schemas.openxmlformats.org/drawingml/2006/main">
            <a:r>
              <a:t>What matters is whether the positive account explains experience and survives comparison with evidence. The case from experience, unity, and reasons is developed in study §§4.2–4.5. Those arguments can motivate resistance to an incomplete reduction of the human while leaving open which account of sentience is best supported.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views face different burdens and do not have equal evidential standing simply because none settles every question. Madhyasth Darshan gives a connected account of experience, understanding, conduct, and coexistence. Awakening makes the knower’s recognition of relationships central to how aims are chosen and fulfilled. Practical success in cooperation can support the value of this learning without by itself establishing a separate sentient unit. Its distinctive atomic, causal, and survival commitments need evidence beyond textual agreement or practical benefit. Internal coherence itself must be examined, especially the relation between the transition to sentience and the permanent character subsequently attributed to it.</a:t>
            </a:r>
          </a:p>
          <a:p xmlns:a="http://schemas.openxmlformats.org/drawingml/2006/main">
            <a:r>
              <a:t/>
            </a:r>
          </a:p>
          <a:p xmlns:a="http://schemas.openxmlformats.org/drawingml/2006/main">
            <a:r>
              <a:t>Neuroscience supplies strong, detailed causal constraints on any account of the person. Physicalism interprets them as consistent with a wholly physical person; whether that gives a complete account of subjective experience remains philosophically disputed. Advaita develops a sustained inquiry into awareness with ethical and contemplative disciplines, while its move from the witness to nondual Brahman depends on further reasoning and scriptural warrant. See study §§5.1–5.3.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disagreement is partly philosophical and partly about claims that owe observable consequences. Jeevan's atomic constitution, its coordination with the body, and its proposed continuation beyond death are not settled by agreeing that experience is difficult to explain. A proposal becomes more informative when it states what should be observed, under what conditions, and what would count against it.</a:t>
            </a:r>
          </a:p>
          <a:p xmlns:a="http://schemas.openxmlformats.org/drawingml/2006/main">
            <a:r>
              <a:t/>
            </a:r>
          </a:p>
          <a:p xmlns:a="http://schemas.openxmlformats.org/drawingml/2006/main">
            <a:r>
              <a:t>Neural models that increasingly predict and explain fine-grained changes in experience reduce the explanatory work left for a separate unit, although predictive success is not a deductive proof of metaphysical identity. Conversely, a repeatable effect would strengthen the jeevan account only insofar as it distinguishes that account from neurological, psychological, and methodological alternatives. Conduct studies can test practical learning; contemplative studies can test reports and transformation. Neither automatically settles its tradition's full ontology. See study §5.4.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title keeps the study’s affirmative motivation. Human experience, the unity of an experienced world, and the responsiveness of belief and action to reasons are substantial things to explain. Understanding our place in a shared world adds to this case by connecting experience with our capacity to question our aims and fulfil relationships.</a:t>
            </a:r>
          </a:p>
          <a:p xmlns:a="http://schemas.openxmlformats.org/drawingml/2006/main">
            <a:r>
              <a:t/>
            </a:r>
          </a:p>
          <a:p xmlns:a="http://schemas.openxmlformats.org/drawingml/2006/main">
            <a:r>
              <a:t>Madhyasth Darshan offers a distinctive account: a real sentient individual in a real shared world, living through a body and capable of awakening. Realised understanding of coexistence gives direction to thought and conduct. This is a positive role for jeevan, beyond filling a gap in a neural explanation.</a:t>
            </a:r>
          </a:p>
          <a:p xmlns:a="http://schemas.openxmlformats.org/drawingml/2006/main">
            <a:r>
              <a:t/>
            </a:r>
          </a:p>
          <a:p xmlns:a="http://schemas.openxmlformats.org/drawingml/2006/main">
            <a:r>
              <a:t>The need for a wider understanding supports the importance of awakening more directly than it establishes how jeevan first arose. The further conclusion that human life requires an enduring, constitutionally complete jeevan remains a proposal to develop and test. Current neuroscience supplies evidence that any such account must explain. Embodied learning and cooperation also offer explanations of wider understanding that the argument must address. See study §§4.4–4.5 and 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38f4214c914db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17b41ac9ea541c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e104c4706434ac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51c96341ad148d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ae4cba3df8943c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cd8ca13d065499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42db6e0b62045a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06630ae7a064c7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26e3e763970443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6543078d44dd40b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8ebfd740ce34a40"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97EB08D-DF19-4778-8DD2-15615344C0B0}"/>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079CCD51-B546-4176-8C36-9006006D7372}"/>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CF615923-9997-483F-96C2-B6968528BFB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8B718663-9C15-48BF-82DD-563D7B69891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5910CCA1-FD7F-4FE5-9CDF-8A67F397C98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3708EFF-CF4E-4322-90CE-88D452783A7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9C7653C2-802E-46DA-8CC8-788D1D72431E}"/>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24E39829-E6A4-42C6-804C-99640938489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ADB6854C-C23D-4A18-A5D6-F4F9670D0DB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8CE9F174-8210-4A9A-AA9F-D1994BB2928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BBED252-C0E2-4BB9-88EE-130CF6204022}"/>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4C6AF77D-FDA0-434A-8091-83E124DC02E7}"/>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C9CD4037-0F14-43BE-B036-5E5DC77C104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8D3B580D-7F1F-454D-AF10-B1E9ABF6991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3711AAD5-594C-4681-9256-C4CA7193D32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5B32C7C-AC2B-434A-B3D1-850D2740640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D21FF63D-27F9-46C1-B9EB-DF0F59F75E31}"/>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Content Placeholder 3">
            <a:extLst xmlns:a="http://schemas.openxmlformats.org/drawingml/2006/main">
              <a:ext uri="{FF2B5EF4-FFF2-40B4-BE49-F238E27FC236}">
                <a16:creationId xmlns:a16="http://schemas.microsoft.com/office/drawing/2014/main" id="{60174665-8289-4549-BF3B-550705EA41E8}"/>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5" name="Date Placeholder 4">
            <a:extLst xmlns:a="http://schemas.openxmlformats.org/drawingml/2006/main">
              <a:ext uri="{FF2B5EF4-FFF2-40B4-BE49-F238E27FC236}">
                <a16:creationId xmlns:a16="http://schemas.microsoft.com/office/drawing/2014/main" id="{52C985AB-764A-452F-9B2D-F31D6026A5E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6" name="Footer Placeholder 5">
            <a:extLst xmlns:a="http://schemas.openxmlformats.org/drawingml/2006/main">
              <a:ext uri="{FF2B5EF4-FFF2-40B4-BE49-F238E27FC236}">
                <a16:creationId xmlns:a16="http://schemas.microsoft.com/office/drawing/2014/main" id="{1F6984C0-7F88-49F1-B312-193C75338B4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DDECA985-3E4D-4D4B-BE42-5E695509935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6247B1A-765B-49A4-B567-DA94E03E97A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7F8095C3-3939-4DF0-9FD0-D7B765F90BA1}"/>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564525B1-20E6-448D-AA8D-0E158F624976}"/>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5" name="Text Placeholder 4">
            <a:extLst xmlns:a="http://schemas.openxmlformats.org/drawingml/2006/main">
              <a:ext uri="{FF2B5EF4-FFF2-40B4-BE49-F238E27FC236}">
                <a16:creationId xmlns:a16="http://schemas.microsoft.com/office/drawing/2014/main" id="{9784F425-2E0E-4CD2-81A3-5465A29A326D}"/>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975CF164-AF0D-4103-BAFA-9B27037FA97A}"/>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7" name="Date Placeholder 6">
            <a:extLst xmlns:a="http://schemas.openxmlformats.org/drawingml/2006/main">
              <a:ext uri="{FF2B5EF4-FFF2-40B4-BE49-F238E27FC236}">
                <a16:creationId xmlns:a16="http://schemas.microsoft.com/office/drawing/2014/main" id="{5FDBDC35-BE49-493B-A3DE-92435B91DA5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8" name="Footer Placeholder 7">
            <a:extLst xmlns:a="http://schemas.openxmlformats.org/drawingml/2006/main">
              <a:ext uri="{FF2B5EF4-FFF2-40B4-BE49-F238E27FC236}">
                <a16:creationId xmlns:a16="http://schemas.microsoft.com/office/drawing/2014/main" id="{B9F6195E-ACEA-4135-BB08-EB49741BDF4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9" name="Slide Number Placeholder 8">
            <a:extLst xmlns:a="http://schemas.openxmlformats.org/drawingml/2006/main">
              <a:ext uri="{FF2B5EF4-FFF2-40B4-BE49-F238E27FC236}">
                <a16:creationId xmlns:a16="http://schemas.microsoft.com/office/drawing/2014/main" id="{47DADA27-0F01-4888-A698-9F0E1976186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DEF3088-545E-42D9-BB03-04BD1C2A8A7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3AA1A773-C622-4DEB-A51B-FFBCAA2C3A0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4" name="Footer Placeholder 3">
            <a:extLst xmlns:a="http://schemas.openxmlformats.org/drawingml/2006/main">
              <a:ext uri="{FF2B5EF4-FFF2-40B4-BE49-F238E27FC236}">
                <a16:creationId xmlns:a16="http://schemas.microsoft.com/office/drawing/2014/main" id="{27E9C17E-406C-44D7-9C1C-7F9AC2233FF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1CD84F14-5124-4397-8C15-49025AE4EF7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8BED4E74-5F22-455E-9B02-F9FD9C88988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3" name="Footer Placeholder 2">
            <a:extLst xmlns:a="http://schemas.openxmlformats.org/drawingml/2006/main">
              <a:ext uri="{FF2B5EF4-FFF2-40B4-BE49-F238E27FC236}">
                <a16:creationId xmlns:a16="http://schemas.microsoft.com/office/drawing/2014/main" id="{7EDA1314-1F6F-4B54-BDDE-AA603C7B18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4" name="Slide Number Placeholder 3">
            <a:extLst xmlns:a="http://schemas.openxmlformats.org/drawingml/2006/main">
              <a:ext uri="{FF2B5EF4-FFF2-40B4-BE49-F238E27FC236}">
                <a16:creationId xmlns:a16="http://schemas.microsoft.com/office/drawing/2014/main" id="{C5B7C87C-4C75-4ED9-9F71-1FC448C45C4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0CC4D9D-C5B3-4D2D-8EF4-BD88FAEF2034}"/>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647A0D82-6403-4B2D-9BD3-21A9939196BE}"/>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Text Placeholder 3">
            <a:extLst xmlns:a="http://schemas.openxmlformats.org/drawingml/2006/main">
              <a:ext uri="{FF2B5EF4-FFF2-40B4-BE49-F238E27FC236}">
                <a16:creationId xmlns:a16="http://schemas.microsoft.com/office/drawing/2014/main" id="{057F87CA-9013-439C-AE67-E5673852014E}"/>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3D506AAA-ACB5-4A68-BD6B-64904E942A2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6" name="Footer Placeholder 5">
            <a:extLst xmlns:a="http://schemas.openxmlformats.org/drawingml/2006/main">
              <a:ext uri="{FF2B5EF4-FFF2-40B4-BE49-F238E27FC236}">
                <a16:creationId xmlns:a16="http://schemas.microsoft.com/office/drawing/2014/main" id="{83037FE2-97E7-4432-BF54-999033BBB49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49DB559E-82A8-4B76-8CA1-AB27FC375FC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C94739D-2EE8-457F-BA14-B70BE23E75BD}"/>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C46C7087-AA1E-41D6-88E7-08CACAD81164}"/>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C78690DB-9EAA-42C8-88D4-11FE465650C9}"/>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C856A84C-D176-44F5-8DF4-C06FFE79565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6" name="Footer Placeholder 5">
            <a:extLst xmlns:a="http://schemas.openxmlformats.org/drawingml/2006/main">
              <a:ext uri="{FF2B5EF4-FFF2-40B4-BE49-F238E27FC236}">
                <a16:creationId xmlns:a16="http://schemas.microsoft.com/office/drawing/2014/main" id="{15A8D1B6-4A51-4024-9D4E-52EAF1D92A4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9D691124-FE33-4ED7-8AC7-B5D554C6FA1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974829C-EFC0-413A-B071-3A0E32FD1AD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5F1189D5-42E4-4A2A-A47C-F2BE53431D12}"/>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077E091D-244E-4C2A-9DDD-C0E6C3DDCC9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4A7D3828-1C2C-46BE-9CBE-144DB718F8A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140A89E9-F1F3-483A-8DB2-2151F173F09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A553277C-157F-453F-9CBF-40110D128F36}"/>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B0FD965C-ED7C-4BC8-B102-1616F46909D0}"/>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DFB906B3-7EB6-4752-AC7D-EE8619D6C97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9569B878-0454-4F69-A54B-6B9B02A1ADD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9AE851E1-3182-47C0-BF25-12BB6355F91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e026191903c4271" /><Relationship Type="http://schemas.openxmlformats.org/officeDocument/2006/relationships/slideLayout" Target="/ppt/slideLayouts/slideLayout1.xml" Id="R4139a2b5b4494b9a" /><Relationship Type="http://schemas.openxmlformats.org/officeDocument/2006/relationships/slideLayout" Target="/ppt/slideLayouts/slideLayout2.xml" Id="Rac05cb213814401f" /><Relationship Type="http://schemas.openxmlformats.org/officeDocument/2006/relationships/slideLayout" Target="/ppt/slideLayouts/slideLayout3.xml" Id="R8ffc4698425d402f" /><Relationship Type="http://schemas.openxmlformats.org/officeDocument/2006/relationships/slideLayout" Target="/ppt/slideLayouts/slideLayout4.xml" Id="Re4f4c2ea96f34df4" /><Relationship Type="http://schemas.openxmlformats.org/officeDocument/2006/relationships/slideLayout" Target="/ppt/slideLayouts/slideLayout5.xml" Id="Rfe644b8381584272" /><Relationship Type="http://schemas.openxmlformats.org/officeDocument/2006/relationships/slideLayout" Target="/ppt/slideLayouts/slideLayout6.xml" Id="Reb8b4fb7f7964115" /><Relationship Type="http://schemas.openxmlformats.org/officeDocument/2006/relationships/slideLayout" Target="/ppt/slideLayouts/slideLayout7.xml" Id="Ra20469fa03024ce5" /><Relationship Type="http://schemas.openxmlformats.org/officeDocument/2006/relationships/slideLayout" Target="/ppt/slideLayouts/slideLayout8.xml" Id="R0ab7cc6563a547dd" /><Relationship Type="http://schemas.openxmlformats.org/officeDocument/2006/relationships/slideLayout" Target="/ppt/slideLayouts/slideLayout9.xml" Id="R89946c98d5f94d08" /><Relationship Type="http://schemas.openxmlformats.org/officeDocument/2006/relationships/slideLayout" Target="/ppt/slideLayouts/slideLayout10.xml" Id="R4d2c9e243c634067" /><Relationship Type="http://schemas.openxmlformats.org/officeDocument/2006/relationships/slideLayout" Target="/ppt/slideLayouts/slideLayout11.xml" Id="R4e1ba03a61e944a9"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AE92C774-1A61-4E12-AF1A-394CF0DE9E9A}"/>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ABFCAE8C-EF19-4E4E-BC73-B345A94FFCBC}"/>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62CC7B12-4E0A-4DF0-B0D9-B56A88D7CE8B}"/>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C1A7A632-801F-49BE-AB3C-5BAA82012B1D}"/>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5FECC828-E9AF-4ADE-87D2-E1F004C46923}"/>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39a2b5b4494b9a"/>
    <p:sldLayoutId xmlns:r="http://schemas.openxmlformats.org/officeDocument/2006/relationships" id="2147483650" r:id="Rac05cb213814401f"/>
    <p:sldLayoutId xmlns:r="http://schemas.openxmlformats.org/officeDocument/2006/relationships" id="2147483651" r:id="R8ffc4698425d402f"/>
    <p:sldLayoutId xmlns:r="http://schemas.openxmlformats.org/officeDocument/2006/relationships" id="2147483652" r:id="Re4f4c2ea96f34df4"/>
    <p:sldLayoutId xmlns:r="http://schemas.openxmlformats.org/officeDocument/2006/relationships" id="2147483653" r:id="Rfe644b8381584272"/>
    <p:sldLayoutId xmlns:r="http://schemas.openxmlformats.org/officeDocument/2006/relationships" id="2147483654" r:id="Reb8b4fb7f7964115"/>
    <p:sldLayoutId xmlns:r="http://schemas.openxmlformats.org/officeDocument/2006/relationships" id="2147483655" r:id="Ra20469fa03024ce5"/>
    <p:sldLayoutId xmlns:r="http://schemas.openxmlformats.org/officeDocument/2006/relationships" id="2147483656" r:id="R0ab7cc6563a547dd"/>
    <p:sldLayoutId xmlns:r="http://schemas.openxmlformats.org/officeDocument/2006/relationships" id="2147483657" r:id="R89946c98d5f94d08"/>
    <p:sldLayoutId xmlns:r="http://schemas.openxmlformats.org/officeDocument/2006/relationships" id="2147483658" r:id="R4d2c9e243c634067"/>
    <p:sldLayoutId xmlns:r="http://schemas.openxmlformats.org/officeDocument/2006/relationships" id="2147483659" r:id="R4e1ba03a61e944a9"/>
  </p:sldLayoutIdLst>
  <p:txStyles>
    <p:titleStyle>
      <a:lvl1pPr xmlns:a="http://schemas.openxmlformats.org/drawingml/2006/main" algn="ctr">
        <a:buNone/>
        <a:defRPr sz="4400">
          <a:solidFill>
            <a:schemeClr val="tx1"/>
          </a:solidFill>
          <a:latin typeface="+mj-lt"/>
          <a:ea typeface="+mj-lt"/>
          <a:cs typeface="+mj-lt"/>
        </a:defRPr>
      </a:lvl1pPr>
    </p:titleStyle>
    <p:bodyStyle>
      <a:lvl1pPr xmlns:a="http://schemas.openxmlformats.org/drawingml/2006/main" marL="342900" indent="-342900" algn="l">
        <a:buChar char="•"/>
        <a:defRPr sz="3200">
          <a:solidFill>
            <a:schemeClr val="tx1"/>
          </a:solidFill>
          <a:latin typeface="+mn-lt"/>
          <a:ea typeface="+mn-lt"/>
          <a:cs typeface="+mn-lt"/>
        </a:defRPr>
      </a:lvl1pPr>
      <a:lvl2pPr xmlns:a="http://schemas.openxmlformats.org/drawingml/2006/main" marL="742950" indent="-285750" algn="l">
        <a:buChar char="–"/>
        <a:defRPr sz="2800">
          <a:solidFill>
            <a:schemeClr val="tx1"/>
          </a:solidFill>
          <a:latin typeface="+mn-lt"/>
          <a:ea typeface="+mn-lt"/>
          <a:cs typeface="+mn-lt"/>
        </a:defRPr>
      </a:lvl2pPr>
      <a:lvl3pPr xmlns:a="http://schemas.openxmlformats.org/drawingml/2006/main" marL="1143000" indent="-228600" algn="l">
        <a:buChar char="•"/>
        <a:defRPr sz="2400">
          <a:solidFill>
            <a:schemeClr val="tx1"/>
          </a:solidFill>
          <a:latin typeface="+mn-lt"/>
          <a:ea typeface="+mn-lt"/>
          <a:cs typeface="+mn-lt"/>
        </a:defRPr>
      </a:lvl3pPr>
      <a:lvl4pPr xmlns:a="http://schemas.openxmlformats.org/drawingml/2006/main" marL="1600200" indent="-228600" algn="l">
        <a:buChar char="–"/>
        <a:defRPr sz="2000">
          <a:solidFill>
            <a:schemeClr val="tx1"/>
          </a:solidFill>
          <a:latin typeface="+mn-lt"/>
          <a:ea typeface="+mn-lt"/>
          <a:cs typeface="+mn-lt"/>
        </a:defRPr>
      </a:lvl4pPr>
      <a:lvl5pPr xmlns:a="http://schemas.openxmlformats.org/drawingml/2006/main" marL="2057400" indent="-228600" algn="l">
        <a:buChar char="»"/>
        <a:defRPr sz="2000">
          <a:solidFill>
            <a:schemeClr val="tx1"/>
          </a:solidFill>
          <a:latin typeface="+mn-lt"/>
          <a:ea typeface="+mn-lt"/>
          <a:cs typeface="+mn-lt"/>
        </a:defRPr>
      </a:lvl5pPr>
      <a:lvl6pPr xmlns:a="http://schemas.openxmlformats.org/drawingml/2006/main" marL="2514600" indent="-228600" algn="l">
        <a:buChar char="•"/>
        <a:defRPr sz="2000">
          <a:solidFill>
            <a:schemeClr val="tx1"/>
          </a:solidFill>
          <a:latin typeface="+mn-lt"/>
          <a:ea typeface="+mn-lt"/>
          <a:cs typeface="+mn-lt"/>
        </a:defRPr>
      </a:lvl6pPr>
      <a:lvl7pPr xmlns:a="http://schemas.openxmlformats.org/drawingml/2006/main" marL="2971800" indent="-228600" algn="l">
        <a:buChar char="•"/>
        <a:defRPr sz="2000">
          <a:solidFill>
            <a:schemeClr val="tx1"/>
          </a:solidFill>
          <a:latin typeface="+mn-lt"/>
          <a:ea typeface="+mn-lt"/>
          <a:cs typeface="+mn-lt"/>
        </a:defRPr>
      </a:lvl7pPr>
      <a:lvl8pPr xmlns:a="http://schemas.openxmlformats.org/drawingml/2006/main" marL="3429000" indent="-228600" algn="l">
        <a:buChar char="•"/>
        <a:defRPr sz="2000">
          <a:solidFill>
            <a:schemeClr val="tx1"/>
          </a:solidFill>
          <a:latin typeface="+mn-lt"/>
          <a:ea typeface="+mn-lt"/>
          <a:cs typeface="+mn-lt"/>
        </a:defRPr>
      </a:lvl8pPr>
      <a:lvl9pPr xmlns:a="http://schemas.openxmlformats.org/drawingml/2006/main" marL="3886200" indent="-228600" algn="l">
        <a:buChar char="•"/>
        <a:defRPr sz="20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4e1019004afd441e" /><Relationship Type="http://schemas.openxmlformats.org/officeDocument/2006/relationships/notesSlide" Target="/ppt/notesSlides/notesSlide1.xml" Id="Rd2e4161c4fbf46ab"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32edabcae3464922" /><Relationship Type="http://schemas.openxmlformats.org/officeDocument/2006/relationships/notesSlide" Target="/ppt/notesSlides/notesSlide2.xml" Id="Rf002fe54c7394e37"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0a6d677ffbc24262" /><Relationship Type="http://schemas.openxmlformats.org/officeDocument/2006/relationships/notesSlide" Target="/ppt/notesSlides/notesSlide3.xml" Id="R0847f872e3bb4a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b0733feb5e90489b" /><Relationship Type="http://schemas.openxmlformats.org/officeDocument/2006/relationships/notesSlide" Target="/ppt/notesSlides/notesSlide4.xml" Id="Rb80b1876911344ad"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addd3ad68d5f4d59" /><Relationship Type="http://schemas.openxmlformats.org/officeDocument/2006/relationships/notesSlide" Target="/ppt/notesSlides/notesSlide5.xml" Id="Rd95f657455c74ff5"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26ce84bfa5424ec7" /><Relationship Type="http://schemas.openxmlformats.org/officeDocument/2006/relationships/notesSlide" Target="/ppt/notesSlides/notesSlide6.xml" Id="R79cf1f8a51b34b4a"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b375efc1629742bf" /><Relationship Type="http://schemas.openxmlformats.org/officeDocument/2006/relationships/notesSlide" Target="/ppt/notesSlides/notesSlide7.xml" Id="R8646a50caadc4ee4"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27d76563c5234428" /><Relationship Type="http://schemas.openxmlformats.org/officeDocument/2006/relationships/notesSlide" Target="/ppt/notesSlides/notesSlide8.xml" Id="Rea79d4b6df854188"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6adc130cbb29438a" /><Relationship Type="http://schemas.openxmlformats.org/officeDocument/2006/relationships/notesSlide" Target="/ppt/notesSlides/notesSlide9.xml" Id="Rd53def561fa14b9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91255a9c39e6493b" /><Relationship Type="http://schemas.openxmlformats.org/officeDocument/2006/relationships/notesSlide" Target="/ppt/notesSlides/notesSlide10.xml" Id="R790e34b5ae9f491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ac680f5950584c42" /><Relationship Type="http://schemas.openxmlformats.org/officeDocument/2006/relationships/notesSlide" Target="/ppt/notesSlides/notesSlide11.xml" Id="Ra8a25e0c4d12421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d374d5372614467c" /><Relationship Type="http://schemas.openxmlformats.org/officeDocument/2006/relationships/notesSlide" Target="/ppt/notesSlides/notesSlide12.xml" Id="R173db052f1714b2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97841c60720b4279" /><Relationship Type="http://schemas.openxmlformats.org/officeDocument/2006/relationships/notesSlide" Target="/ppt/notesSlides/notesSlide13.xml" Id="R8be378a966df436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39d4c7aaf0bc4065" /><Relationship Type="http://schemas.openxmlformats.org/officeDocument/2006/relationships/notesSlide" Target="/ppt/notesSlides/notesSlide14.xml" Id="Rfdcf001d56bb4b3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8f34a2428b504503" /><Relationship Type="http://schemas.openxmlformats.org/officeDocument/2006/relationships/notesSlide" Target="/ppt/notesSlides/notesSlide15.xml" Id="Rf4376bbdd0c74ec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bd47221c7eaa4fbf" /><Relationship Type="http://schemas.openxmlformats.org/officeDocument/2006/relationships/notesSlide" Target="/ppt/notesSlides/notesSlide16.xml" Id="R4ff5de18b5ea4b4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aa5be89350fa4d2a" /><Relationship Type="http://schemas.openxmlformats.org/officeDocument/2006/relationships/notesSlide" Target="/ppt/notesSlides/notesSlide17.xml" Id="Ra522325e6bc143e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546bd8ae907b4362" /><Relationship Type="http://schemas.openxmlformats.org/officeDocument/2006/relationships/notesSlide" Target="/ppt/notesSlides/notesSlide18.xml" Id="Rdfffcd7cf3364c1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e661449ebe5749dc" /><Relationship Type="http://schemas.openxmlformats.org/officeDocument/2006/relationships/notesSlide" Target="/ppt/notesSlides/notesSlide19.xml" Id="R7d78b167661942e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1ce023c463d34c14" /><Relationship Type="http://schemas.openxmlformats.org/officeDocument/2006/relationships/notesSlide" Target="/ppt/notesSlides/notesSlide20.xml" Id="R51f14fee2cb1493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BEAEEFB-4620-4396-B206-1CE1212B9660}"/>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1E244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Oval 2">
            <a:extLst xmlns:a="http://schemas.openxmlformats.org/drawingml/2006/main">
              <a:ext uri="{FF2B5EF4-FFF2-40B4-BE49-F238E27FC236}">
                <a16:creationId xmlns:a16="http://schemas.microsoft.com/office/drawing/2014/main" id="{5C9586D2-F475-4514-8FA1-84AEE76E21AC}"/>
              </a:ext>
            </a:extLst>
          </p:cNvPr>
          <p:cNvSpPr>
            <a:spLocks xmlns:a="http://schemas.openxmlformats.org/drawingml/2006/main" noGrp="1"/>
          </p:cNvSpPr>
          <p:nvPr/>
        </p:nvSpPr>
        <p:spPr>
          <a:xfrm xmlns:a="http://schemas.openxmlformats.org/drawingml/2006/main">
            <a:off x="7589520" y="1005840"/>
            <a:ext cx="4206240" cy="4206240"/>
          </a:xfrm>
          <a:prstGeom xmlns:a="http://schemas.openxmlformats.org/drawingml/2006/main" prst="ellipse">
            <a:avLst/>
          </a:prstGeom>
          <a:noFill xmlns:a="http://schemas.openxmlformats.org/drawingml/2006/main"/>
          <a:ln xmlns:a="http://schemas.openxmlformats.org/drawingml/2006/main" w="17780">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Oval 3">
            <a:extLst xmlns:a="http://schemas.openxmlformats.org/drawingml/2006/main">
              <a:ext uri="{FF2B5EF4-FFF2-40B4-BE49-F238E27FC236}">
                <a16:creationId xmlns:a16="http://schemas.microsoft.com/office/drawing/2014/main" id="{B378FBE7-27DC-466A-805B-D871BDFC1325}"/>
              </a:ext>
            </a:extLst>
          </p:cNvPr>
          <p:cNvSpPr>
            <a:spLocks xmlns:a="http://schemas.openxmlformats.org/drawingml/2006/main" noGrp="1"/>
          </p:cNvSpPr>
          <p:nvPr/>
        </p:nvSpPr>
        <p:spPr>
          <a:xfrm xmlns:a="http://schemas.openxmlformats.org/drawingml/2006/main">
            <a:off x="8435340" y="1851660"/>
            <a:ext cx="2514600" cy="2514600"/>
          </a:xfrm>
          <a:prstGeom xmlns:a="http://schemas.openxmlformats.org/drawingml/2006/main" prst="ellipse">
            <a:avLst/>
          </a:prstGeom>
          <a:noFill xmlns:a="http://schemas.openxmlformats.org/drawingml/2006/main"/>
          <a:ln xmlns:a="http://schemas.openxmlformats.org/drawingml/2006/main" w="15240">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Oval 4">
            <a:extLst xmlns:a="http://schemas.openxmlformats.org/drawingml/2006/main">
              <a:ext uri="{FF2B5EF4-FFF2-40B4-BE49-F238E27FC236}">
                <a16:creationId xmlns:a16="http://schemas.microsoft.com/office/drawing/2014/main" id="{41B16C06-9587-459B-BD8A-61931CD95BF5}"/>
              </a:ext>
            </a:extLst>
          </p:cNvPr>
          <p:cNvSpPr>
            <a:spLocks xmlns:a="http://schemas.openxmlformats.org/drawingml/2006/main" noGrp="1"/>
          </p:cNvSpPr>
          <p:nvPr/>
        </p:nvSpPr>
        <p:spPr>
          <a:xfrm xmlns:a="http://schemas.openxmlformats.org/drawingml/2006/main">
            <a:off x="9144000" y="2560320"/>
            <a:ext cx="1097280" cy="1097280"/>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Oval 5">
            <a:extLst xmlns:a="http://schemas.openxmlformats.org/drawingml/2006/main">
              <a:ext uri="{FF2B5EF4-FFF2-40B4-BE49-F238E27FC236}">
                <a16:creationId xmlns:a16="http://schemas.microsoft.com/office/drawing/2014/main" id="{4816D34F-3020-4F7A-A183-49330073D4CA}"/>
              </a:ext>
            </a:extLst>
          </p:cNvPr>
          <p:cNvSpPr>
            <a:spLocks xmlns:a="http://schemas.openxmlformats.org/drawingml/2006/main" noGrp="1"/>
          </p:cNvSpPr>
          <p:nvPr/>
        </p:nvSpPr>
        <p:spPr>
          <a:xfrm xmlns:a="http://schemas.openxmlformats.org/drawingml/2006/main">
            <a:off x="7246620" y="4411980"/>
            <a:ext cx="1051560" cy="1051560"/>
          </a:xfrm>
          <a:prstGeom xmlns:a="http://schemas.openxmlformats.org/drawingml/2006/main" prst="ellipse">
            <a:avLst/>
          </a:prstGeom>
          <a:noFill xmlns:a="http://schemas.openxmlformats.org/drawingml/2006/main"/>
          <a:ln xmlns:a="http://schemas.openxmlformats.org/drawingml/2006/main" w="15240">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Oval 6">
            <a:extLst xmlns:a="http://schemas.openxmlformats.org/drawingml/2006/main">
              <a:ext uri="{FF2B5EF4-FFF2-40B4-BE49-F238E27FC236}">
                <a16:creationId xmlns:a16="http://schemas.microsoft.com/office/drawing/2014/main" id="{C7E6948C-F13F-4027-8D05-8D0A7D4D1AC7}"/>
              </a:ext>
            </a:extLst>
          </p:cNvPr>
          <p:cNvSpPr>
            <a:spLocks xmlns:a="http://schemas.openxmlformats.org/drawingml/2006/main" noGrp="1"/>
          </p:cNvSpPr>
          <p:nvPr/>
        </p:nvSpPr>
        <p:spPr>
          <a:xfrm xmlns:a="http://schemas.openxmlformats.org/drawingml/2006/main">
            <a:off x="7580375" y="4745736"/>
            <a:ext cx="384048" cy="384048"/>
          </a:xfrm>
          <a:prstGeom xmlns:a="http://schemas.openxmlformats.org/drawingml/2006/main" prst="ellipse">
            <a:avLst/>
          </a:prstGeom>
          <a:solidFill xmlns:a="http://schemas.openxmlformats.org/drawingml/2006/main">
            <a:srgbClr val="C9D4E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Oval 7">
            <a:extLst xmlns:a="http://schemas.openxmlformats.org/drawingml/2006/main">
              <a:ext uri="{FF2B5EF4-FFF2-40B4-BE49-F238E27FC236}">
                <a16:creationId xmlns:a16="http://schemas.microsoft.com/office/drawing/2014/main" id="{BB312238-87FB-455C-BA2F-ADE78AFE7A23}"/>
              </a:ext>
            </a:extLst>
          </p:cNvPr>
          <p:cNvSpPr>
            <a:spLocks xmlns:a="http://schemas.openxmlformats.org/drawingml/2006/main" noGrp="1"/>
          </p:cNvSpPr>
          <p:nvPr/>
        </p:nvSpPr>
        <p:spPr>
          <a:xfrm xmlns:a="http://schemas.openxmlformats.org/drawingml/2006/main">
            <a:off x="10904220" y="4869180"/>
            <a:ext cx="685800" cy="685800"/>
          </a:xfrm>
          <a:prstGeom xmlns:a="http://schemas.openxmlformats.org/drawingml/2006/main" prst="ellipse">
            <a:avLst/>
          </a:prstGeom>
          <a:noFill xmlns:a="http://schemas.openxmlformats.org/drawingml/2006/main"/>
          <a:ln xmlns:a="http://schemas.openxmlformats.org/drawingml/2006/main" w="12700">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Oval 8">
            <a:extLst xmlns:a="http://schemas.openxmlformats.org/drawingml/2006/main">
              <a:ext uri="{FF2B5EF4-FFF2-40B4-BE49-F238E27FC236}">
                <a16:creationId xmlns:a16="http://schemas.microsoft.com/office/drawing/2014/main" id="{DB7D7330-A73E-4224-A94C-612F3B30361F}"/>
              </a:ext>
            </a:extLst>
          </p:cNvPr>
          <p:cNvSpPr>
            <a:spLocks xmlns:a="http://schemas.openxmlformats.org/drawingml/2006/main" noGrp="1"/>
          </p:cNvSpPr>
          <p:nvPr/>
        </p:nvSpPr>
        <p:spPr>
          <a:xfrm xmlns:a="http://schemas.openxmlformats.org/drawingml/2006/main">
            <a:off x="11119104" y="5084064"/>
            <a:ext cx="256032" cy="256032"/>
          </a:xfrm>
          <a:prstGeom xmlns:a="http://schemas.openxmlformats.org/drawingml/2006/main" prst="ellipse">
            <a:avLst/>
          </a:prstGeom>
          <a:solidFill xmlns:a="http://schemas.openxmlformats.org/drawingml/2006/main">
            <a:srgbClr val="C9D4E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BF212A3E-133E-42C7-B908-3E323D182362}"/>
              </a:ext>
            </a:extLst>
          </p:cNvPr>
          <p:cNvSpPr>
            <a:spLocks xmlns:a="http://schemas.openxmlformats.org/drawingml/2006/main" noGrp="1"/>
          </p:cNvSpPr>
          <p:nvPr/>
        </p:nvSpPr>
        <p:spPr>
          <a:xfrm xmlns:a="http://schemas.openxmlformats.org/drawingml/2006/main">
            <a:off x="868680" y="1737360"/>
            <a:ext cx="6858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300" b="1" i="0">
                <a:solidFill>
                  <a:srgbClr val="C9821E"/>
                </a:solidFill>
                <a:latin typeface="Calibri"/>
                <a:ea typeface="Calibri"/>
                <a:cs typeface="Calibri"/>
              </a:rPr>
              <a:t>MADHYASTH DARSHAN  ·  CO-EXISTENTIALISM</a:t>
            </a:r>
          </a:p>
        </p:txBody>
      </p:sp>
      <p:sp>
        <p:nvSpPr>
          <p:cNvPr id="11" name="TextBox 10">
            <a:extLst xmlns:a="http://schemas.openxmlformats.org/drawingml/2006/main">
              <a:ext uri="{FF2B5EF4-FFF2-40B4-BE49-F238E27FC236}">
                <a16:creationId xmlns:a16="http://schemas.microsoft.com/office/drawing/2014/main" id="{B20912B1-11A9-42BC-96B0-2C1B038ADC7E}"/>
              </a:ext>
            </a:extLst>
          </p:cNvPr>
          <p:cNvSpPr>
            <a:spLocks xmlns:a="http://schemas.openxmlformats.org/drawingml/2006/main" noGrp="1"/>
          </p:cNvSpPr>
          <p:nvPr/>
        </p:nvSpPr>
        <p:spPr>
          <a:xfrm xmlns:a="http://schemas.openxmlformats.org/drawingml/2006/main">
            <a:off x="822960" y="2148840"/>
            <a:ext cx="694944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0000"/>
              </a:lnSpc>
              <a:spcBef>
                <a:spcPts val="0"/>
              </a:spcBef>
              <a:spcAft>
                <a:spcPts val="400"/>
              </a:spcAft>
              <a:buNone/>
            </a:pPr>
            <a:r>
              <a:rPr sz="4400" b="1" i="0">
                <a:solidFill>
                  <a:srgbClr val="FFFFFF"/>
                </a:solidFill>
                <a:latin typeface="Cambria"/>
                <a:ea typeface="Cambria"/>
                <a:cs typeface="Cambria"/>
              </a:rPr>
              <a:t>Why Humans Are Not</a:t>
            </a:r>
          </a:p>
          <a:p xmlns:a="http://schemas.openxmlformats.org/drawingml/2006/main">
            <a:pPr algn="l">
              <a:lnSpc>
                <a:spcPct val="100000"/>
              </a:lnSpc>
              <a:spcBef>
                <a:spcPts val="0"/>
              </a:spcBef>
              <a:spcAft>
                <a:spcPts val="400"/>
              </a:spcAft>
              <a:buNone/>
            </a:pPr>
            <a:r>
              <a:rPr sz="4400" b="1" i="0">
                <a:solidFill>
                  <a:srgbClr val="FFFFFF"/>
                </a:solidFill>
                <a:latin typeface="Cambria"/>
                <a:ea typeface="Cambria"/>
                <a:cs typeface="Cambria"/>
              </a:rPr>
              <a:t>Just Material</a:t>
            </a:r>
          </a:p>
        </p:txBody>
      </p:sp>
      <p:sp>
        <p:nvSpPr>
          <p:cNvPr id="12" name="TextBox 11">
            <a:extLst xmlns:a="http://schemas.openxmlformats.org/drawingml/2006/main">
              <a:ext uri="{FF2B5EF4-FFF2-40B4-BE49-F238E27FC236}">
                <a16:creationId xmlns:a16="http://schemas.microsoft.com/office/drawing/2014/main" id="{290D393F-ED77-43D9-A35B-0A11F09BF310}"/>
              </a:ext>
            </a:extLst>
          </p:cNvPr>
          <p:cNvSpPr>
            <a:spLocks xmlns:a="http://schemas.openxmlformats.org/drawingml/2006/main" noGrp="1"/>
          </p:cNvSpPr>
          <p:nvPr/>
        </p:nvSpPr>
        <p:spPr>
          <a:xfrm xmlns:a="http://schemas.openxmlformats.org/drawingml/2006/main">
            <a:off x="868680" y="4114800"/>
            <a:ext cx="6583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900" b="0" i="1">
                <a:solidFill>
                  <a:srgbClr val="C9D4EF"/>
                </a:solidFill>
                <a:latin typeface="Calibri"/>
                <a:ea typeface="Calibri"/>
                <a:cs typeface="Calibri"/>
              </a:rPr>
              <a:t>One question, three explanatory frameworks — Madhyasth Darshan, physicalism, and Advaita Vedanta</a:t>
            </a:r>
          </a:p>
        </p:txBody>
      </p:sp>
      <p:sp>
        <p:nvSpPr>
          <p:cNvPr id="13" name="TextBox 12">
            <a:extLst xmlns:a="http://schemas.openxmlformats.org/drawingml/2006/main">
              <a:ext uri="{FF2B5EF4-FFF2-40B4-BE49-F238E27FC236}">
                <a16:creationId xmlns:a16="http://schemas.microsoft.com/office/drawing/2014/main" id="{FB5B3B2E-3138-436D-8B2A-B42F9113EB94}"/>
              </a:ext>
            </a:extLst>
          </p:cNvPr>
          <p:cNvSpPr>
            <a:spLocks xmlns:a="http://schemas.openxmlformats.org/drawingml/2006/main" noGrp="1"/>
          </p:cNvSpPr>
          <p:nvPr/>
        </p:nvSpPr>
        <p:spPr>
          <a:xfrm xmlns:a="http://schemas.openxmlformats.org/drawingml/2006/main">
            <a:off x="868680" y="571500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200" b="0" i="0">
                <a:solidFill>
                  <a:srgbClr val="8E9BC4"/>
                </a:solidFill>
                <a:latin typeface="Calibri"/>
                <a:ea typeface="Calibri"/>
                <a:cs typeface="Calibri"/>
              </a:rPr>
              <a:t>A comparative study of lived experience, ontology, evidence, and testability</a:t>
            </a:r>
          </a:p>
        </p:txBody>
      </p:sp>
      <p:sp>
        <p:nvSpPr>
          <p:cNvPr id="14" name="TextBox 13">
            <a:extLst xmlns:a="http://schemas.openxmlformats.org/drawingml/2006/main">
              <a:ext uri="{FF2B5EF4-FFF2-40B4-BE49-F238E27FC236}">
                <a16:creationId xmlns:a16="http://schemas.microsoft.com/office/drawing/2014/main" id="{AF80DB32-7FB8-4CB4-B190-1D27C4165251}"/>
              </a:ext>
            </a:extLst>
          </p:cNvPr>
          <p:cNvSpPr>
            <a:spLocks xmlns:a="http://schemas.openxmlformats.org/drawingml/2006/main" noGrp="1"/>
          </p:cNvSpPr>
          <p:nvPr/>
        </p:nvSpPr>
        <p:spPr>
          <a:xfrm xmlns:a="http://schemas.openxmlformats.org/drawingml/2006/main">
            <a:off x="868680" y="60350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200" b="0" i="0">
                <a:solidFill>
                  <a:srgbClr val="8E9BC4"/>
                </a:solidFill>
                <a:latin typeface="Calibri"/>
                <a:ea typeface="Calibri"/>
                <a:cs typeface="Calibri"/>
              </a:rPr>
              <a:t>Primary texts of Madhyasth Darshan, by Shri A. Nagraj — MVD · SB · JV (tr. Rakesh Gupta)</a:t>
            </a:r>
          </a:p>
        </p:txBody>
      </p:sp>
    </p:spTree>
    <p:extLst>
      <p:ext uri="{BB962C8B-B14F-4D97-AF65-F5344CB8AC3E}">
        <p14:creationId xmlns:p14="http://schemas.microsoft.com/office/powerpoint/2010/main" val="131255521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76E215E-82ED-4683-AF7B-D5D1D36340FD}"/>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Oval 2">
            <a:extLst xmlns:a="http://schemas.openxmlformats.org/drawingml/2006/main">
              <a:ext uri="{FF2B5EF4-FFF2-40B4-BE49-F238E27FC236}">
                <a16:creationId xmlns:a16="http://schemas.microsoft.com/office/drawing/2014/main" id="{FB3EEC60-6F3F-4716-9C7E-A6F8A3135ECD}"/>
              </a:ext>
            </a:extLst>
          </p:cNvPr>
          <p:cNvSpPr>
            <a:spLocks xmlns:a="http://schemas.openxmlformats.org/drawingml/2006/main" noGrp="1"/>
          </p:cNvSpPr>
          <p:nvPr/>
        </p:nvSpPr>
        <p:spPr>
          <a:xfrm xmlns:a="http://schemas.openxmlformats.org/drawingml/2006/main">
            <a:off x="654253" y="507949"/>
            <a:ext cx="483717" cy="483717"/>
          </a:xfrm>
          <a:prstGeom xmlns:a="http://schemas.openxmlformats.org/drawingml/2006/main" prst="ellipse">
            <a:avLst/>
          </a:prstGeom>
          <a:noFill xmlns:a="http://schemas.openxmlformats.org/drawingml/2006/main"/>
          <a:ln xmlns:a="http://schemas.openxmlformats.org/drawingml/2006/main" w="2336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Oval 3">
            <a:extLst xmlns:a="http://schemas.openxmlformats.org/drawingml/2006/main">
              <a:ext uri="{FF2B5EF4-FFF2-40B4-BE49-F238E27FC236}">
                <a16:creationId xmlns:a16="http://schemas.microsoft.com/office/drawing/2014/main" id="{A138B2E4-62C3-400A-A7E5-8CD706529BAB}"/>
              </a:ext>
            </a:extLst>
          </p:cNvPr>
          <p:cNvSpPr>
            <a:spLocks xmlns:a="http://schemas.openxmlformats.org/drawingml/2006/main" noGrp="1"/>
          </p:cNvSpPr>
          <p:nvPr/>
        </p:nvSpPr>
        <p:spPr>
          <a:xfrm xmlns:a="http://schemas.openxmlformats.org/drawingml/2006/main">
            <a:off x="754151" y="607847"/>
            <a:ext cx="283921" cy="283921"/>
          </a:xfrm>
          <a:prstGeom xmlns:a="http://schemas.openxmlformats.org/drawingml/2006/main" prst="ellipse">
            <a:avLst/>
          </a:prstGeom>
          <a:noFill xmlns:a="http://schemas.openxmlformats.org/drawingml/2006/main"/>
          <a:ln xmlns:a="http://schemas.openxmlformats.org/drawingml/2006/main" w="20447">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Oval 4">
            <a:extLst xmlns:a="http://schemas.openxmlformats.org/drawingml/2006/main">
              <a:ext uri="{FF2B5EF4-FFF2-40B4-BE49-F238E27FC236}">
                <a16:creationId xmlns:a16="http://schemas.microsoft.com/office/drawing/2014/main" id="{F48A9A68-5A8A-434B-9747-22FECE366850}"/>
              </a:ext>
            </a:extLst>
          </p:cNvPr>
          <p:cNvSpPr>
            <a:spLocks xmlns:a="http://schemas.openxmlformats.org/drawingml/2006/main" noGrp="1"/>
          </p:cNvSpPr>
          <p:nvPr/>
        </p:nvSpPr>
        <p:spPr>
          <a:xfrm xmlns:a="http://schemas.openxmlformats.org/drawingml/2006/main">
            <a:off x="833018" y="686714"/>
            <a:ext cx="126187" cy="126187"/>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306BA5AF-4985-4E99-B26D-A44C5155CCDD}"/>
              </a:ext>
            </a:extLst>
          </p:cNvPr>
          <p:cNvSpPr>
            <a:spLocks xmlns:a="http://schemas.openxmlformats.org/drawingml/2006/main" noGrp="1"/>
          </p:cNvSpPr>
          <p:nvPr/>
        </p:nvSpPr>
        <p:spPr>
          <a:xfrm xmlns:a="http://schemas.openxmlformats.org/drawingml/2006/main">
            <a:off x="1325880" y="457200"/>
            <a:ext cx="10424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200" b="1" i="0">
                <a:solidFill>
                  <a:srgbClr val="C9821E"/>
                </a:solidFill>
                <a:latin typeface="Calibri"/>
                <a:ea typeface="Calibri"/>
                <a:cs typeface="Calibri"/>
              </a:rPr>
              <a:t>THE QUESTION</a:t>
            </a:r>
          </a:p>
        </p:txBody>
      </p:sp>
      <p:sp>
        <p:nvSpPr>
          <p:cNvPr id="7" name="TextBox 6">
            <a:extLst xmlns:a="http://schemas.openxmlformats.org/drawingml/2006/main">
              <a:ext uri="{FF2B5EF4-FFF2-40B4-BE49-F238E27FC236}">
                <a16:creationId xmlns:a16="http://schemas.microsoft.com/office/drawing/2014/main" id="{898CF95D-4019-4CDC-B01C-8224391508D5}"/>
              </a:ext>
            </a:extLst>
          </p:cNvPr>
          <p:cNvSpPr>
            <a:spLocks xmlns:a="http://schemas.openxmlformats.org/drawingml/2006/main" noGrp="1"/>
          </p:cNvSpPr>
          <p:nvPr/>
        </p:nvSpPr>
        <p:spPr>
          <a:xfrm xmlns:a="http://schemas.openxmlformats.org/drawingml/2006/main">
            <a:off x="1280160" y="676656"/>
            <a:ext cx="105156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3000" b="1" i="0">
                <a:solidFill>
                  <a:srgbClr val="1E2447"/>
                </a:solidFill>
                <a:latin typeface="Cambria"/>
                <a:ea typeface="Cambria"/>
                <a:cs typeface="Cambria"/>
              </a:rPr>
              <a:t>Is a Human Just a Body?</a:t>
            </a:r>
          </a:p>
        </p:txBody>
      </p:sp>
      <p:sp>
        <p:nvSpPr>
          <p:cNvPr id="8" name="TextBox 7">
            <a:extLst xmlns:a="http://schemas.openxmlformats.org/drawingml/2006/main">
              <a:ext uri="{FF2B5EF4-FFF2-40B4-BE49-F238E27FC236}">
                <a16:creationId xmlns:a16="http://schemas.microsoft.com/office/drawing/2014/main" id="{4C9B5BB0-EA7B-47DD-820C-AF00C262124E}"/>
              </a:ext>
            </a:extLst>
          </p:cNvPr>
          <p:cNvSpPr>
            <a:spLocks xmlns:a="http://schemas.openxmlformats.org/drawingml/2006/main" noGrp="1"/>
          </p:cNvSpPr>
          <p:nvPr/>
        </p:nvSpPr>
        <p:spPr>
          <a:xfrm xmlns:a="http://schemas.openxmlformats.org/drawingml/2006/main">
            <a:off x="685800" y="1783080"/>
            <a:ext cx="107899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10000"/>
              </a:lnSpc>
              <a:spcBef>
                <a:spcPts val="0"/>
              </a:spcBef>
              <a:spcAft>
                <a:spcPts val="400"/>
              </a:spcAft>
              <a:buNone/>
            </a:pPr>
            <a:r>
              <a:rPr sz="1450" b="0" i="0">
                <a:solidFill>
                  <a:srgbClr val="5A6377"/>
                </a:solidFill>
                <a:latin typeface="Calibri"/>
                <a:ea typeface="Calibri"/>
                <a:cs typeface="Calibri"/>
              </a:rPr>
              <a:t>Physics describes the body’s composition and dynamics with extraordinary success. The unresolved step is whether those descriptions exhaust sentience, selfhood, value, and agency.</a:t>
            </a:r>
          </a:p>
        </p:txBody>
      </p:sp>
      <p:sp>
        <p:nvSpPr>
          <p:cNvPr id="9" name="Rounded Rectangle 8">
            <a:extLst xmlns:a="http://schemas.openxmlformats.org/drawingml/2006/main">
              <a:ext uri="{FF2B5EF4-FFF2-40B4-BE49-F238E27FC236}">
                <a16:creationId xmlns:a16="http://schemas.microsoft.com/office/drawing/2014/main" id="{A9184C6E-611A-4E0E-9D61-51A5B851D49A}"/>
              </a:ext>
            </a:extLst>
          </p:cNvPr>
          <p:cNvSpPr>
            <a:spLocks xmlns:a="http://schemas.openxmlformats.org/drawingml/2006/main" noGrp="1"/>
          </p:cNvSpPr>
          <p:nvPr/>
        </p:nvSpPr>
        <p:spPr>
          <a:xfrm xmlns:a="http://schemas.openxmlformats.org/drawingml/2006/main">
            <a:off x="685800" y="2880360"/>
            <a:ext cx="3429000" cy="2286000"/>
          </a:xfrm>
          <a:prstGeom xmlns:a="http://schemas.openxmlformats.org/drawingml/2006/main" prst="roundRect">
            <a:avLst>
              <a:gd name="adj" fmla="val 6000"/>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Oval 9">
            <a:extLst xmlns:a="http://schemas.openxmlformats.org/drawingml/2006/main">
              <a:ext uri="{FF2B5EF4-FFF2-40B4-BE49-F238E27FC236}">
                <a16:creationId xmlns:a16="http://schemas.microsoft.com/office/drawing/2014/main" id="{269A14B3-5580-4834-81BA-65E9BE1F230C}"/>
              </a:ext>
            </a:extLst>
          </p:cNvPr>
          <p:cNvSpPr>
            <a:spLocks xmlns:a="http://schemas.openxmlformats.org/drawingml/2006/main" noGrp="1"/>
          </p:cNvSpPr>
          <p:nvPr/>
        </p:nvSpPr>
        <p:spPr>
          <a:xfrm xmlns:a="http://schemas.openxmlformats.org/drawingml/2006/main">
            <a:off x="898855" y="3075127"/>
            <a:ext cx="378561" cy="378561"/>
          </a:xfrm>
          <a:prstGeom xmlns:a="http://schemas.openxmlformats.org/drawingml/2006/main" prst="ellipse">
            <a:avLst/>
          </a:prstGeom>
          <a:noFill xmlns:a="http://schemas.openxmlformats.org/drawingml/2006/main"/>
          <a:ln xmlns:a="http://schemas.openxmlformats.org/drawingml/2006/main" w="1828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Oval 10">
            <a:extLst xmlns:a="http://schemas.openxmlformats.org/drawingml/2006/main">
              <a:ext uri="{FF2B5EF4-FFF2-40B4-BE49-F238E27FC236}">
                <a16:creationId xmlns:a16="http://schemas.microsoft.com/office/drawing/2014/main" id="{83162F66-2D40-4175-8C34-8FBA2834105D}"/>
              </a:ext>
            </a:extLst>
          </p:cNvPr>
          <p:cNvSpPr>
            <a:spLocks xmlns:a="http://schemas.openxmlformats.org/drawingml/2006/main" noGrp="1"/>
          </p:cNvSpPr>
          <p:nvPr/>
        </p:nvSpPr>
        <p:spPr>
          <a:xfrm xmlns:a="http://schemas.openxmlformats.org/drawingml/2006/main">
            <a:off x="977036" y="3153308"/>
            <a:ext cx="222199" cy="222199"/>
          </a:xfrm>
          <a:prstGeom xmlns:a="http://schemas.openxmlformats.org/drawingml/2006/main" prst="ellipse">
            <a:avLst/>
          </a:prstGeom>
          <a:noFill xmlns:a="http://schemas.openxmlformats.org/drawingml/2006/main"/>
          <a:ln xmlns:a="http://schemas.openxmlformats.org/drawingml/2006/main" w="16002">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Oval 11">
            <a:extLst xmlns:a="http://schemas.openxmlformats.org/drawingml/2006/main">
              <a:ext uri="{FF2B5EF4-FFF2-40B4-BE49-F238E27FC236}">
                <a16:creationId xmlns:a16="http://schemas.microsoft.com/office/drawing/2014/main" id="{B6C8F5CA-0494-4F86-96AF-14B8EABC4DFF}"/>
              </a:ext>
            </a:extLst>
          </p:cNvPr>
          <p:cNvSpPr>
            <a:spLocks xmlns:a="http://schemas.openxmlformats.org/drawingml/2006/main" noGrp="1"/>
          </p:cNvSpPr>
          <p:nvPr/>
        </p:nvSpPr>
        <p:spPr>
          <a:xfrm xmlns:a="http://schemas.openxmlformats.org/drawingml/2006/main">
            <a:off x="1038758" y="3215030"/>
            <a:ext cx="98755" cy="98755"/>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04CE8884-5CE9-438B-AAB8-2EE3AE36B0AB}"/>
              </a:ext>
            </a:extLst>
          </p:cNvPr>
          <p:cNvSpPr>
            <a:spLocks xmlns:a="http://schemas.openxmlformats.org/drawingml/2006/main" noGrp="1"/>
          </p:cNvSpPr>
          <p:nvPr/>
        </p:nvSpPr>
        <p:spPr>
          <a:xfrm xmlns:a="http://schemas.openxmlformats.org/drawingml/2006/main">
            <a:off x="1444752" y="3081528"/>
            <a:ext cx="248716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600" b="1" i="0">
                <a:solidFill>
                  <a:srgbClr val="1E2447"/>
                </a:solidFill>
                <a:latin typeface="Cambria"/>
                <a:ea typeface="Cambria"/>
                <a:cs typeface="Cambria"/>
              </a:rPr>
              <a:t>Science / physicalism</a:t>
            </a:r>
          </a:p>
        </p:txBody>
      </p:sp>
      <p:sp>
        <p:nvSpPr>
          <p:cNvPr id="14" name="TextBox 13">
            <a:extLst xmlns:a="http://schemas.openxmlformats.org/drawingml/2006/main">
              <a:ext uri="{FF2B5EF4-FFF2-40B4-BE49-F238E27FC236}">
                <a16:creationId xmlns:a16="http://schemas.microsoft.com/office/drawing/2014/main" id="{90A347A0-65A5-43CA-9A0D-EB931F942C6D}"/>
              </a:ext>
            </a:extLst>
          </p:cNvPr>
          <p:cNvSpPr>
            <a:spLocks xmlns:a="http://schemas.openxmlformats.org/drawingml/2006/main" noGrp="1"/>
          </p:cNvSpPr>
          <p:nvPr/>
        </p:nvSpPr>
        <p:spPr>
          <a:xfrm xmlns:a="http://schemas.openxmlformats.org/drawingml/2006/main">
            <a:off x="941832" y="3593591"/>
            <a:ext cx="2916936"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250" b="0" i="0">
                <a:solidFill>
                  <a:srgbClr val="5A6377"/>
                </a:solidFill>
                <a:latin typeface="Calibri"/>
                <a:ea typeface="Calibri"/>
                <a:cs typeface="Calibri"/>
              </a:rPr>
              <a:t>Science maps brain–body dependence. Physicalism holds that the embodied person needs no additional sentient entity.</a:t>
            </a:r>
          </a:p>
        </p:txBody>
      </p:sp>
      <p:sp>
        <p:nvSpPr>
          <p:cNvPr id="15" name="Rounded Rectangle 14">
            <a:extLst xmlns:a="http://schemas.openxmlformats.org/drawingml/2006/main">
              <a:ext uri="{FF2B5EF4-FFF2-40B4-BE49-F238E27FC236}">
                <a16:creationId xmlns:a16="http://schemas.microsoft.com/office/drawing/2014/main" id="{C1E41A45-8472-4686-B280-F73AA77CD8D2}"/>
              </a:ext>
            </a:extLst>
          </p:cNvPr>
          <p:cNvSpPr>
            <a:spLocks xmlns:a="http://schemas.openxmlformats.org/drawingml/2006/main" noGrp="1"/>
          </p:cNvSpPr>
          <p:nvPr/>
        </p:nvSpPr>
        <p:spPr>
          <a:xfrm xmlns:a="http://schemas.openxmlformats.org/drawingml/2006/main">
            <a:off x="4379976" y="2880360"/>
            <a:ext cx="3429000" cy="2286000"/>
          </a:xfrm>
          <a:prstGeom xmlns:a="http://schemas.openxmlformats.org/drawingml/2006/main" prst="roundRect">
            <a:avLst>
              <a:gd name="adj" fmla="val 6000"/>
            </a:avLst>
          </a:prstGeom>
          <a:solidFill xmlns:a="http://schemas.openxmlformats.org/drawingml/2006/main">
            <a:srgbClr val="FAF1D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Oval 15">
            <a:extLst xmlns:a="http://schemas.openxmlformats.org/drawingml/2006/main">
              <a:ext uri="{FF2B5EF4-FFF2-40B4-BE49-F238E27FC236}">
                <a16:creationId xmlns:a16="http://schemas.microsoft.com/office/drawing/2014/main" id="{1225507A-A9F1-4EA3-B5A1-07D118F76583}"/>
              </a:ext>
            </a:extLst>
          </p:cNvPr>
          <p:cNvSpPr>
            <a:spLocks xmlns:a="http://schemas.openxmlformats.org/drawingml/2006/main" noGrp="1"/>
          </p:cNvSpPr>
          <p:nvPr/>
        </p:nvSpPr>
        <p:spPr>
          <a:xfrm xmlns:a="http://schemas.openxmlformats.org/drawingml/2006/main">
            <a:off x="4593031" y="3075127"/>
            <a:ext cx="378561" cy="378561"/>
          </a:xfrm>
          <a:prstGeom xmlns:a="http://schemas.openxmlformats.org/drawingml/2006/main" prst="ellipse">
            <a:avLst/>
          </a:prstGeom>
          <a:noFill xmlns:a="http://schemas.openxmlformats.org/drawingml/2006/main"/>
          <a:ln xmlns:a="http://schemas.openxmlformats.org/drawingml/2006/main" w="1828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Oval 16">
            <a:extLst xmlns:a="http://schemas.openxmlformats.org/drawingml/2006/main">
              <a:ext uri="{FF2B5EF4-FFF2-40B4-BE49-F238E27FC236}">
                <a16:creationId xmlns:a16="http://schemas.microsoft.com/office/drawing/2014/main" id="{0A882DFA-8656-4E3C-8C5D-185DE026807C}"/>
              </a:ext>
            </a:extLst>
          </p:cNvPr>
          <p:cNvSpPr>
            <a:spLocks xmlns:a="http://schemas.openxmlformats.org/drawingml/2006/main" noGrp="1"/>
          </p:cNvSpPr>
          <p:nvPr/>
        </p:nvSpPr>
        <p:spPr>
          <a:xfrm xmlns:a="http://schemas.openxmlformats.org/drawingml/2006/main">
            <a:off x="4671212" y="3153308"/>
            <a:ext cx="222199" cy="222199"/>
          </a:xfrm>
          <a:prstGeom xmlns:a="http://schemas.openxmlformats.org/drawingml/2006/main" prst="ellipse">
            <a:avLst/>
          </a:prstGeom>
          <a:noFill xmlns:a="http://schemas.openxmlformats.org/drawingml/2006/main"/>
          <a:ln xmlns:a="http://schemas.openxmlformats.org/drawingml/2006/main" w="16002">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Oval 17">
            <a:extLst xmlns:a="http://schemas.openxmlformats.org/drawingml/2006/main">
              <a:ext uri="{FF2B5EF4-FFF2-40B4-BE49-F238E27FC236}">
                <a16:creationId xmlns:a16="http://schemas.microsoft.com/office/drawing/2014/main" id="{0C952C82-AB4B-40C9-A482-E14D5965B97A}"/>
              </a:ext>
            </a:extLst>
          </p:cNvPr>
          <p:cNvSpPr>
            <a:spLocks xmlns:a="http://schemas.openxmlformats.org/drawingml/2006/main" noGrp="1"/>
          </p:cNvSpPr>
          <p:nvPr/>
        </p:nvSpPr>
        <p:spPr>
          <a:xfrm xmlns:a="http://schemas.openxmlformats.org/drawingml/2006/main">
            <a:off x="4732934" y="3215030"/>
            <a:ext cx="98755" cy="98755"/>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F7359D11-500F-4B10-9E4E-BCEFF656A1AD}"/>
              </a:ext>
            </a:extLst>
          </p:cNvPr>
          <p:cNvSpPr>
            <a:spLocks xmlns:a="http://schemas.openxmlformats.org/drawingml/2006/main" noGrp="1"/>
          </p:cNvSpPr>
          <p:nvPr/>
        </p:nvSpPr>
        <p:spPr>
          <a:xfrm xmlns:a="http://schemas.openxmlformats.org/drawingml/2006/main">
            <a:off x="5138928" y="3081528"/>
            <a:ext cx="248716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600" b="1" i="0">
                <a:solidFill>
                  <a:srgbClr val="9A6414"/>
                </a:solidFill>
                <a:latin typeface="Cambria"/>
                <a:ea typeface="Cambria"/>
                <a:cs typeface="Cambria"/>
              </a:rPr>
              <a:t>Madhyasth Darshan</a:t>
            </a:r>
          </a:p>
        </p:txBody>
      </p:sp>
      <p:sp>
        <p:nvSpPr>
          <p:cNvPr id="20" name="TextBox 19">
            <a:extLst xmlns:a="http://schemas.openxmlformats.org/drawingml/2006/main">
              <a:ext uri="{FF2B5EF4-FFF2-40B4-BE49-F238E27FC236}">
                <a16:creationId xmlns:a16="http://schemas.microsoft.com/office/drawing/2014/main" id="{788248F3-DFAF-47F1-80E2-363D3D863331}"/>
              </a:ext>
            </a:extLst>
          </p:cNvPr>
          <p:cNvSpPr>
            <a:spLocks xmlns:a="http://schemas.openxmlformats.org/drawingml/2006/main" noGrp="1"/>
          </p:cNvSpPr>
          <p:nvPr/>
        </p:nvSpPr>
        <p:spPr>
          <a:xfrm xmlns:a="http://schemas.openxmlformats.org/drawingml/2006/main">
            <a:off x="4636008" y="3593591"/>
            <a:ext cx="2916936"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250" b="0" i="0">
                <a:solidFill>
                  <a:srgbClr val="5A6377"/>
                </a:solidFill>
                <a:latin typeface="Calibri"/>
                <a:ea typeface="Calibri"/>
                <a:cs typeface="Calibri"/>
              </a:rPr>
              <a:t>A human is a material body joined with jeevan, a real sentient unit. ‘Not just material’ rejects reduction to an insentient body; it does not reject matter.</a:t>
            </a:r>
          </a:p>
        </p:txBody>
      </p:sp>
      <p:sp>
        <p:nvSpPr>
          <p:cNvPr id="21" name="Rounded Rectangle 20">
            <a:extLst xmlns:a="http://schemas.openxmlformats.org/drawingml/2006/main">
              <a:ext uri="{FF2B5EF4-FFF2-40B4-BE49-F238E27FC236}">
                <a16:creationId xmlns:a16="http://schemas.microsoft.com/office/drawing/2014/main" id="{A71B52AD-3651-4846-AC0D-DA626510A70D}"/>
              </a:ext>
            </a:extLst>
          </p:cNvPr>
          <p:cNvSpPr>
            <a:spLocks xmlns:a="http://schemas.openxmlformats.org/drawingml/2006/main" noGrp="1"/>
          </p:cNvSpPr>
          <p:nvPr/>
        </p:nvSpPr>
        <p:spPr>
          <a:xfrm xmlns:a="http://schemas.openxmlformats.org/drawingml/2006/main">
            <a:off x="8074152" y="2880360"/>
            <a:ext cx="3429000" cy="2286000"/>
          </a:xfrm>
          <a:prstGeom xmlns:a="http://schemas.openxmlformats.org/drawingml/2006/main" prst="roundRect">
            <a:avLst>
              <a:gd name="adj" fmla="val 6000"/>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Oval 21">
            <a:extLst xmlns:a="http://schemas.openxmlformats.org/drawingml/2006/main">
              <a:ext uri="{FF2B5EF4-FFF2-40B4-BE49-F238E27FC236}">
                <a16:creationId xmlns:a16="http://schemas.microsoft.com/office/drawing/2014/main" id="{B987A266-C74B-483A-B0D5-EB29DA1DFD75}"/>
              </a:ext>
            </a:extLst>
          </p:cNvPr>
          <p:cNvSpPr>
            <a:spLocks xmlns:a="http://schemas.openxmlformats.org/drawingml/2006/main" noGrp="1"/>
          </p:cNvSpPr>
          <p:nvPr/>
        </p:nvSpPr>
        <p:spPr>
          <a:xfrm xmlns:a="http://schemas.openxmlformats.org/drawingml/2006/main">
            <a:off x="8287207" y="3075127"/>
            <a:ext cx="378561" cy="378561"/>
          </a:xfrm>
          <a:prstGeom xmlns:a="http://schemas.openxmlformats.org/drawingml/2006/main" prst="ellipse">
            <a:avLst/>
          </a:prstGeom>
          <a:noFill xmlns:a="http://schemas.openxmlformats.org/drawingml/2006/main"/>
          <a:ln xmlns:a="http://schemas.openxmlformats.org/drawingml/2006/main" w="1828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Oval 22">
            <a:extLst xmlns:a="http://schemas.openxmlformats.org/drawingml/2006/main">
              <a:ext uri="{FF2B5EF4-FFF2-40B4-BE49-F238E27FC236}">
                <a16:creationId xmlns:a16="http://schemas.microsoft.com/office/drawing/2014/main" id="{3FEBB837-C45E-4E9E-B06D-4845DA3E09EA}"/>
              </a:ext>
            </a:extLst>
          </p:cNvPr>
          <p:cNvSpPr>
            <a:spLocks xmlns:a="http://schemas.openxmlformats.org/drawingml/2006/main" noGrp="1"/>
          </p:cNvSpPr>
          <p:nvPr/>
        </p:nvSpPr>
        <p:spPr>
          <a:xfrm xmlns:a="http://schemas.openxmlformats.org/drawingml/2006/main">
            <a:off x="8365388" y="3153308"/>
            <a:ext cx="222199" cy="222199"/>
          </a:xfrm>
          <a:prstGeom xmlns:a="http://schemas.openxmlformats.org/drawingml/2006/main" prst="ellipse">
            <a:avLst/>
          </a:prstGeom>
          <a:noFill xmlns:a="http://schemas.openxmlformats.org/drawingml/2006/main"/>
          <a:ln xmlns:a="http://schemas.openxmlformats.org/drawingml/2006/main" w="16002">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Oval 23">
            <a:extLst xmlns:a="http://schemas.openxmlformats.org/drawingml/2006/main">
              <a:ext uri="{FF2B5EF4-FFF2-40B4-BE49-F238E27FC236}">
                <a16:creationId xmlns:a16="http://schemas.microsoft.com/office/drawing/2014/main" id="{47D8DD09-E0BB-4632-9E6E-B5747900FD58}"/>
              </a:ext>
            </a:extLst>
          </p:cNvPr>
          <p:cNvSpPr>
            <a:spLocks xmlns:a="http://schemas.openxmlformats.org/drawingml/2006/main" noGrp="1"/>
          </p:cNvSpPr>
          <p:nvPr/>
        </p:nvSpPr>
        <p:spPr>
          <a:xfrm xmlns:a="http://schemas.openxmlformats.org/drawingml/2006/main">
            <a:off x="8427110" y="3215030"/>
            <a:ext cx="98755" cy="98755"/>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5" name="TextBox 24">
            <a:extLst xmlns:a="http://schemas.openxmlformats.org/drawingml/2006/main">
              <a:ext uri="{FF2B5EF4-FFF2-40B4-BE49-F238E27FC236}">
                <a16:creationId xmlns:a16="http://schemas.microsoft.com/office/drawing/2014/main" id="{50C75304-6B89-48C4-9DAF-8D2C7B7347A3}"/>
              </a:ext>
            </a:extLst>
          </p:cNvPr>
          <p:cNvSpPr>
            <a:spLocks xmlns:a="http://schemas.openxmlformats.org/drawingml/2006/main" noGrp="1"/>
          </p:cNvSpPr>
          <p:nvPr/>
        </p:nvSpPr>
        <p:spPr>
          <a:xfrm xmlns:a="http://schemas.openxmlformats.org/drawingml/2006/main">
            <a:off x="8833104" y="3081528"/>
            <a:ext cx="248716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600" b="1" i="0">
                <a:solidFill>
                  <a:srgbClr val="1E2447"/>
                </a:solidFill>
                <a:latin typeface="Cambria"/>
                <a:ea typeface="Cambria"/>
                <a:cs typeface="Cambria"/>
              </a:rPr>
              <a:t>Advaita Vedanta</a:t>
            </a:r>
          </a:p>
        </p:txBody>
      </p:sp>
      <p:sp>
        <p:nvSpPr>
          <p:cNvPr id="26" name="TextBox 25">
            <a:extLst xmlns:a="http://schemas.openxmlformats.org/drawingml/2006/main">
              <a:ext uri="{FF2B5EF4-FFF2-40B4-BE49-F238E27FC236}">
                <a16:creationId xmlns:a16="http://schemas.microsoft.com/office/drawing/2014/main" id="{580EC88D-2423-4605-BD0A-89B04DEB271D}"/>
              </a:ext>
            </a:extLst>
          </p:cNvPr>
          <p:cNvSpPr>
            <a:spLocks xmlns:a="http://schemas.openxmlformats.org/drawingml/2006/main" noGrp="1"/>
          </p:cNvSpPr>
          <p:nvPr/>
        </p:nvSpPr>
        <p:spPr>
          <a:xfrm xmlns:a="http://schemas.openxmlformats.org/drawingml/2006/main">
            <a:off x="8330183" y="3593591"/>
            <a:ext cx="2916936"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250" b="0" i="0">
                <a:solidFill>
                  <a:srgbClr val="5A6377"/>
                </a:solidFill>
                <a:latin typeface="Calibri"/>
                <a:ea typeface="Calibri"/>
                <a:cs typeface="Calibri"/>
              </a:rPr>
              <a:t>The empirical person is body–mind, but the true Self is nondual awareness. The world is mithya: dependently real, not absolutely real.</a:t>
            </a:r>
          </a:p>
        </p:txBody>
      </p:sp>
      <p:sp>
        <p:nvSpPr>
          <p:cNvPr id="27" name="Rounded Rectangle 26">
            <a:extLst xmlns:a="http://schemas.openxmlformats.org/drawingml/2006/main">
              <a:ext uri="{FF2B5EF4-FFF2-40B4-BE49-F238E27FC236}">
                <a16:creationId xmlns:a16="http://schemas.microsoft.com/office/drawing/2014/main" id="{E3B80CFB-6869-42BF-8B5D-82489A848666}"/>
              </a:ext>
            </a:extLst>
          </p:cNvPr>
          <p:cNvSpPr>
            <a:spLocks xmlns:a="http://schemas.openxmlformats.org/drawingml/2006/main" noGrp="1"/>
          </p:cNvSpPr>
          <p:nvPr/>
        </p:nvSpPr>
        <p:spPr>
          <a:xfrm xmlns:a="http://schemas.openxmlformats.org/drawingml/2006/main">
            <a:off x="685800" y="5440680"/>
            <a:ext cx="10817352" cy="685800"/>
          </a:xfrm>
          <a:prstGeom xmlns:a="http://schemas.openxmlformats.org/drawingml/2006/main" prst="roundRect">
            <a:avLst>
              <a:gd name="adj" fmla="val 12000"/>
            </a:avLst>
          </a:prstGeom>
          <a:solidFill xmlns:a="http://schemas.openxmlformats.org/drawingml/2006/main">
            <a:srgbClr val="1E244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TextBox 27">
            <a:extLst xmlns:a="http://schemas.openxmlformats.org/drawingml/2006/main">
              <a:ext uri="{FF2B5EF4-FFF2-40B4-BE49-F238E27FC236}">
                <a16:creationId xmlns:a16="http://schemas.microsoft.com/office/drawing/2014/main" id="{14336693-43A8-4DC9-BF36-33ADA19DDEEB}"/>
              </a:ext>
            </a:extLst>
          </p:cNvPr>
          <p:cNvSpPr>
            <a:spLocks xmlns:a="http://schemas.openxmlformats.org/drawingml/2006/main" noGrp="1"/>
          </p:cNvSpPr>
          <p:nvPr/>
        </p:nvSpPr>
        <p:spPr>
          <a:xfrm xmlns:a="http://schemas.openxmlformats.org/drawingml/2006/main">
            <a:off x="1005840" y="5440680"/>
            <a:ext cx="10177272"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lnSpc>
                <a:spcPct val="105000"/>
              </a:lnSpc>
              <a:spcBef>
                <a:spcPts val="0"/>
              </a:spcBef>
              <a:spcAft>
                <a:spcPts val="400"/>
              </a:spcAft>
              <a:buNone/>
            </a:pPr>
            <a:r>
              <a:rPr sz="1450" b="1" i="0">
                <a:solidFill>
                  <a:srgbClr val="FFFFFF"/>
                </a:solidFill>
                <a:latin typeface="Calibri"/>
                <a:ea typeface="Calibri"/>
                <a:cs typeface="Calibri"/>
              </a:rPr>
              <a:t>Shared experience does not decide ontology. Each view must show why its further inference is warranted.</a:t>
            </a:r>
          </a:p>
        </p:txBody>
      </p:sp>
    </p:spTree>
    <p:extLst>
      <p:ext uri="{BB962C8B-B14F-4D97-AF65-F5344CB8AC3E}">
        <p14:creationId xmlns:p14="http://schemas.microsoft.com/office/powerpoint/2010/main" val="68153239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D625EFA-C1AE-4E0C-9A3A-C15AB0B3AD6C}"/>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Oval 2">
            <a:extLst xmlns:a="http://schemas.openxmlformats.org/drawingml/2006/main">
              <a:ext uri="{FF2B5EF4-FFF2-40B4-BE49-F238E27FC236}">
                <a16:creationId xmlns:a16="http://schemas.microsoft.com/office/drawing/2014/main" id="{A50BE98D-10CF-4A1D-AF31-37004A732987}"/>
              </a:ext>
            </a:extLst>
          </p:cNvPr>
          <p:cNvSpPr>
            <a:spLocks xmlns:a="http://schemas.openxmlformats.org/drawingml/2006/main" noGrp="1"/>
          </p:cNvSpPr>
          <p:nvPr/>
        </p:nvSpPr>
        <p:spPr>
          <a:xfrm xmlns:a="http://schemas.openxmlformats.org/drawingml/2006/main">
            <a:off x="654253" y="507949"/>
            <a:ext cx="483717" cy="483717"/>
          </a:xfrm>
          <a:prstGeom xmlns:a="http://schemas.openxmlformats.org/drawingml/2006/main" prst="ellipse">
            <a:avLst/>
          </a:prstGeom>
          <a:noFill xmlns:a="http://schemas.openxmlformats.org/drawingml/2006/main"/>
          <a:ln xmlns:a="http://schemas.openxmlformats.org/drawingml/2006/main" w="2336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Oval 3">
            <a:extLst xmlns:a="http://schemas.openxmlformats.org/drawingml/2006/main">
              <a:ext uri="{FF2B5EF4-FFF2-40B4-BE49-F238E27FC236}">
                <a16:creationId xmlns:a16="http://schemas.microsoft.com/office/drawing/2014/main" id="{3F74E43C-CE98-45F6-9EA3-35F662AA182D}"/>
              </a:ext>
            </a:extLst>
          </p:cNvPr>
          <p:cNvSpPr>
            <a:spLocks xmlns:a="http://schemas.openxmlformats.org/drawingml/2006/main" noGrp="1"/>
          </p:cNvSpPr>
          <p:nvPr/>
        </p:nvSpPr>
        <p:spPr>
          <a:xfrm xmlns:a="http://schemas.openxmlformats.org/drawingml/2006/main">
            <a:off x="754151" y="607847"/>
            <a:ext cx="283921" cy="283921"/>
          </a:xfrm>
          <a:prstGeom xmlns:a="http://schemas.openxmlformats.org/drawingml/2006/main" prst="ellipse">
            <a:avLst/>
          </a:prstGeom>
          <a:noFill xmlns:a="http://schemas.openxmlformats.org/drawingml/2006/main"/>
          <a:ln xmlns:a="http://schemas.openxmlformats.org/drawingml/2006/main" w="20447">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Oval 4">
            <a:extLst xmlns:a="http://schemas.openxmlformats.org/drawingml/2006/main">
              <a:ext uri="{FF2B5EF4-FFF2-40B4-BE49-F238E27FC236}">
                <a16:creationId xmlns:a16="http://schemas.microsoft.com/office/drawing/2014/main" id="{7E817D41-36DC-436F-9C3F-AB19816A4194}"/>
              </a:ext>
            </a:extLst>
          </p:cNvPr>
          <p:cNvSpPr>
            <a:spLocks xmlns:a="http://schemas.openxmlformats.org/drawingml/2006/main" noGrp="1"/>
          </p:cNvSpPr>
          <p:nvPr/>
        </p:nvSpPr>
        <p:spPr>
          <a:xfrm xmlns:a="http://schemas.openxmlformats.org/drawingml/2006/main">
            <a:off x="833018" y="686714"/>
            <a:ext cx="126187" cy="126187"/>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6A3F12C8-F73C-46C5-97AD-AC07948CCF2C}"/>
              </a:ext>
            </a:extLst>
          </p:cNvPr>
          <p:cNvSpPr>
            <a:spLocks xmlns:a="http://schemas.openxmlformats.org/drawingml/2006/main" noGrp="1"/>
          </p:cNvSpPr>
          <p:nvPr/>
        </p:nvSpPr>
        <p:spPr>
          <a:xfrm xmlns:a="http://schemas.openxmlformats.org/drawingml/2006/main">
            <a:off x="1325880" y="457200"/>
            <a:ext cx="10424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200" b="1" i="0">
                <a:solidFill>
                  <a:srgbClr val="C9821E"/>
                </a:solidFill>
                <a:latin typeface="Calibri"/>
                <a:ea typeface="Calibri"/>
                <a:cs typeface="Calibri"/>
              </a:rPr>
              <a:t>ORIENTATION</a:t>
            </a:r>
          </a:p>
        </p:txBody>
      </p:sp>
      <p:sp>
        <p:nvSpPr>
          <p:cNvPr id="7" name="TextBox 6">
            <a:extLst xmlns:a="http://schemas.openxmlformats.org/drawingml/2006/main">
              <a:ext uri="{FF2B5EF4-FFF2-40B4-BE49-F238E27FC236}">
                <a16:creationId xmlns:a16="http://schemas.microsoft.com/office/drawing/2014/main" id="{F0B6A14B-0DAF-4B10-AFE1-5CBB3BF497F4}"/>
              </a:ext>
            </a:extLst>
          </p:cNvPr>
          <p:cNvSpPr>
            <a:spLocks xmlns:a="http://schemas.openxmlformats.org/drawingml/2006/main" noGrp="1"/>
          </p:cNvSpPr>
          <p:nvPr/>
        </p:nvSpPr>
        <p:spPr>
          <a:xfrm xmlns:a="http://schemas.openxmlformats.org/drawingml/2006/main">
            <a:off x="1280160" y="676656"/>
            <a:ext cx="105156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3000" b="1" i="0">
                <a:solidFill>
                  <a:srgbClr val="1E2447"/>
                </a:solidFill>
                <a:latin typeface="Cambria"/>
                <a:ea typeface="Cambria"/>
                <a:cs typeface="Cambria"/>
              </a:rPr>
              <a:t>How We'll Compare the Three Views</a:t>
            </a:r>
          </a:p>
        </p:txBody>
      </p:sp>
      <p:sp>
        <p:nvSpPr>
          <p:cNvPr id="8" name="TextBox 7">
            <a:extLst xmlns:a="http://schemas.openxmlformats.org/drawingml/2006/main">
              <a:ext uri="{FF2B5EF4-FFF2-40B4-BE49-F238E27FC236}">
                <a16:creationId xmlns:a16="http://schemas.microsoft.com/office/drawing/2014/main" id="{3202011E-CD13-4927-9ACF-AA30307386ED}"/>
              </a:ext>
            </a:extLst>
          </p:cNvPr>
          <p:cNvSpPr>
            <a:spLocks xmlns:a="http://schemas.openxmlformats.org/drawingml/2006/main" noGrp="1"/>
          </p:cNvSpPr>
          <p:nvPr/>
        </p:nvSpPr>
        <p:spPr>
          <a:xfrm xmlns:a="http://schemas.openxmlformats.org/drawingml/2006/main">
            <a:off x="685800" y="1783080"/>
            <a:ext cx="107899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10000"/>
              </a:lnSpc>
              <a:spcBef>
                <a:spcPts val="0"/>
              </a:spcBef>
              <a:spcAft>
                <a:spcPts val="400"/>
              </a:spcAft>
              <a:buNone/>
            </a:pPr>
            <a:r>
              <a:rPr sz="1450" b="0" i="0">
                <a:solidFill>
                  <a:srgbClr val="5A6377"/>
                </a:solidFill>
                <a:latin typeface="Calibri"/>
                <a:ea typeface="Calibri"/>
                <a:cs typeface="Calibri"/>
              </a:rPr>
              <a:t>Keep the lived data fixed, then compare what each framework adds to explain it.</a:t>
            </a:r>
          </a:p>
        </p:txBody>
      </p:sp>
      <p:sp>
        <p:nvSpPr>
          <p:cNvPr id="9" name="Oval 8">
            <a:extLst xmlns:a="http://schemas.openxmlformats.org/drawingml/2006/main">
              <a:ext uri="{FF2B5EF4-FFF2-40B4-BE49-F238E27FC236}">
                <a16:creationId xmlns:a16="http://schemas.microsoft.com/office/drawing/2014/main" id="{2E6E7846-4551-46F8-B944-59E99C9A05FB}"/>
              </a:ext>
            </a:extLst>
          </p:cNvPr>
          <p:cNvSpPr>
            <a:spLocks xmlns:a="http://schemas.openxmlformats.org/drawingml/2006/main" noGrp="1"/>
          </p:cNvSpPr>
          <p:nvPr/>
        </p:nvSpPr>
        <p:spPr>
          <a:xfrm xmlns:a="http://schemas.openxmlformats.org/drawingml/2006/main">
            <a:off x="704088" y="2697480"/>
            <a:ext cx="512064" cy="512064"/>
          </a:xfrm>
          <a:prstGeom xmlns:a="http://schemas.openxmlformats.org/drawingml/2006/main" prst="ellipse">
            <a:avLst/>
          </a:prstGeom>
          <a:solidFill xmlns:a="http://schemas.openxmlformats.org/drawingml/2006/main">
            <a:srgbClr val="3B4A7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BB92E231-C8EA-404E-9F64-E4418E0FFC4B}"/>
              </a:ext>
            </a:extLst>
          </p:cNvPr>
          <p:cNvSpPr>
            <a:spLocks xmlns:a="http://schemas.openxmlformats.org/drawingml/2006/main" noGrp="1"/>
          </p:cNvSpPr>
          <p:nvPr/>
        </p:nvSpPr>
        <p:spPr>
          <a:xfrm xmlns:a="http://schemas.openxmlformats.org/drawingml/2006/main">
            <a:off x="704088" y="2697480"/>
            <a:ext cx="512064"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spcBef>
                <a:spcPts val="0"/>
              </a:spcBef>
              <a:spcAft>
                <a:spcPts val="0"/>
              </a:spcAft>
              <a:buNone/>
            </a:pPr>
            <a:r>
              <a:rPr sz="1700" b="1" i="0">
                <a:solidFill>
                  <a:srgbClr val="FFFFFF"/>
                </a:solidFill>
                <a:latin typeface="Cambria"/>
                <a:ea typeface="Cambria"/>
                <a:cs typeface="Cambria"/>
              </a:rPr>
              <a:t>1</a:t>
            </a:r>
          </a:p>
        </p:txBody>
      </p:sp>
      <p:sp>
        <p:nvSpPr>
          <p:cNvPr id="11" name="TextBox 10">
            <a:extLst xmlns:a="http://schemas.openxmlformats.org/drawingml/2006/main">
              <a:ext uri="{FF2B5EF4-FFF2-40B4-BE49-F238E27FC236}">
                <a16:creationId xmlns:a16="http://schemas.microsoft.com/office/drawing/2014/main" id="{5BBBA33C-AB0C-403F-9171-37E9C36C085E}"/>
              </a:ext>
            </a:extLst>
          </p:cNvPr>
          <p:cNvSpPr>
            <a:spLocks xmlns:a="http://schemas.openxmlformats.org/drawingml/2006/main" noGrp="1"/>
          </p:cNvSpPr>
          <p:nvPr/>
        </p:nvSpPr>
        <p:spPr>
          <a:xfrm xmlns:a="http://schemas.openxmlformats.org/drawingml/2006/main">
            <a:off x="1463040" y="2715768"/>
            <a:ext cx="31089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550" b="1" i="0">
                <a:solidFill>
                  <a:srgbClr val="1E2447"/>
                </a:solidFill>
                <a:latin typeface="Cambria"/>
                <a:ea typeface="Cambria"/>
                <a:cs typeface="Cambria"/>
              </a:rPr>
              <a:t>Lived data</a:t>
            </a:r>
          </a:p>
        </p:txBody>
      </p:sp>
      <p:sp>
        <p:nvSpPr>
          <p:cNvPr id="12" name="TextBox 11">
            <a:extLst xmlns:a="http://schemas.openxmlformats.org/drawingml/2006/main">
              <a:ext uri="{FF2B5EF4-FFF2-40B4-BE49-F238E27FC236}">
                <a16:creationId xmlns:a16="http://schemas.microsoft.com/office/drawing/2014/main" id="{5DEF36BE-5AA6-4E61-B57E-62C75BD40D23}"/>
              </a:ext>
            </a:extLst>
          </p:cNvPr>
          <p:cNvSpPr>
            <a:spLocks xmlns:a="http://schemas.openxmlformats.org/drawingml/2006/main" noGrp="1"/>
          </p:cNvSpPr>
          <p:nvPr/>
        </p:nvSpPr>
        <p:spPr>
          <a:xfrm xmlns:a="http://schemas.openxmlformats.org/drawingml/2006/main">
            <a:off x="4663440" y="2743200"/>
            <a:ext cx="68580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350" b="0" i="0">
                <a:solidFill>
                  <a:srgbClr val="5A6377"/>
                </a:solidFill>
                <a:latin typeface="Calibri"/>
                <a:ea typeface="Calibri"/>
                <a:cs typeface="Calibri"/>
              </a:rPr>
              <a:t>Separate the experiences needing explanation from any claim about their ultimate cause.</a:t>
            </a:r>
          </a:p>
        </p:txBody>
      </p:sp>
      <p:sp>
        <p:nvSpPr>
          <p:cNvPr id="13" name="Oval 12">
            <a:extLst xmlns:a="http://schemas.openxmlformats.org/drawingml/2006/main">
              <a:ext uri="{FF2B5EF4-FFF2-40B4-BE49-F238E27FC236}">
                <a16:creationId xmlns:a16="http://schemas.microsoft.com/office/drawing/2014/main" id="{7127A8E9-7C68-4B9B-8133-5AA9845955DC}"/>
              </a:ext>
            </a:extLst>
          </p:cNvPr>
          <p:cNvSpPr>
            <a:spLocks xmlns:a="http://schemas.openxmlformats.org/drawingml/2006/main" noGrp="1"/>
          </p:cNvSpPr>
          <p:nvPr/>
        </p:nvSpPr>
        <p:spPr>
          <a:xfrm xmlns:a="http://schemas.openxmlformats.org/drawingml/2006/main">
            <a:off x="704088" y="3447287"/>
            <a:ext cx="512064" cy="512064"/>
          </a:xfrm>
          <a:prstGeom xmlns:a="http://schemas.openxmlformats.org/drawingml/2006/main" prst="ellipse">
            <a:avLst/>
          </a:prstGeom>
          <a:solidFill xmlns:a="http://schemas.openxmlformats.org/drawingml/2006/main">
            <a:srgbClr val="3B4A7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49B02CEE-C2BD-493D-945C-A650A93AE7CC}"/>
              </a:ext>
            </a:extLst>
          </p:cNvPr>
          <p:cNvSpPr>
            <a:spLocks xmlns:a="http://schemas.openxmlformats.org/drawingml/2006/main" noGrp="1"/>
          </p:cNvSpPr>
          <p:nvPr/>
        </p:nvSpPr>
        <p:spPr>
          <a:xfrm xmlns:a="http://schemas.openxmlformats.org/drawingml/2006/main">
            <a:off x="704088" y="3447288"/>
            <a:ext cx="512064"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spcBef>
                <a:spcPts val="0"/>
              </a:spcBef>
              <a:spcAft>
                <a:spcPts val="0"/>
              </a:spcAft>
              <a:buNone/>
            </a:pPr>
            <a:r>
              <a:rPr sz="1700" b="1" i="0">
                <a:solidFill>
                  <a:srgbClr val="FFFFFF"/>
                </a:solidFill>
                <a:latin typeface="Cambria"/>
                <a:ea typeface="Cambria"/>
                <a:cs typeface="Cambria"/>
              </a:rPr>
              <a:t>2</a:t>
            </a:r>
          </a:p>
        </p:txBody>
      </p:sp>
      <p:sp>
        <p:nvSpPr>
          <p:cNvPr id="15" name="TextBox 14">
            <a:extLst xmlns:a="http://schemas.openxmlformats.org/drawingml/2006/main">
              <a:ext uri="{FF2B5EF4-FFF2-40B4-BE49-F238E27FC236}">
                <a16:creationId xmlns:a16="http://schemas.microsoft.com/office/drawing/2014/main" id="{D68A8775-6152-4A9F-B4AF-2E235C99F615}"/>
              </a:ext>
            </a:extLst>
          </p:cNvPr>
          <p:cNvSpPr>
            <a:spLocks xmlns:a="http://schemas.openxmlformats.org/drawingml/2006/main" noGrp="1"/>
          </p:cNvSpPr>
          <p:nvPr/>
        </p:nvSpPr>
        <p:spPr>
          <a:xfrm xmlns:a="http://schemas.openxmlformats.org/drawingml/2006/main">
            <a:off x="1463040" y="3465576"/>
            <a:ext cx="31089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550" b="1" i="0">
                <a:solidFill>
                  <a:srgbClr val="1E2447"/>
                </a:solidFill>
                <a:latin typeface="Cambria"/>
                <a:ea typeface="Cambria"/>
                <a:cs typeface="Cambria"/>
              </a:rPr>
              <a:t>Madhyasth model</a:t>
            </a:r>
          </a:p>
        </p:txBody>
      </p:sp>
      <p:sp>
        <p:nvSpPr>
          <p:cNvPr id="16" name="TextBox 15">
            <a:extLst xmlns:a="http://schemas.openxmlformats.org/drawingml/2006/main">
              <a:ext uri="{FF2B5EF4-FFF2-40B4-BE49-F238E27FC236}">
                <a16:creationId xmlns:a16="http://schemas.microsoft.com/office/drawing/2014/main" id="{1969EEC0-6CE7-4278-AFAC-385A94C6BCBF}"/>
              </a:ext>
            </a:extLst>
          </p:cNvPr>
          <p:cNvSpPr>
            <a:spLocks xmlns:a="http://schemas.openxmlformats.org/drawingml/2006/main" noGrp="1"/>
          </p:cNvSpPr>
          <p:nvPr/>
        </p:nvSpPr>
        <p:spPr>
          <a:xfrm xmlns:a="http://schemas.openxmlformats.org/drawingml/2006/main">
            <a:off x="4663440" y="3493008"/>
            <a:ext cx="68580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350" b="0" i="0">
                <a:solidFill>
                  <a:srgbClr val="5A6377"/>
                </a:solidFill>
                <a:latin typeface="Calibri"/>
                <a:ea typeface="Calibri"/>
                <a:cs typeface="Calibri"/>
              </a:rPr>
              <a:t>Examine body + jeevan, the four orders, and verification through understanding and conduct.</a:t>
            </a:r>
          </a:p>
        </p:txBody>
      </p:sp>
      <p:sp>
        <p:nvSpPr>
          <p:cNvPr id="17" name="Oval 16">
            <a:extLst xmlns:a="http://schemas.openxmlformats.org/drawingml/2006/main">
              <a:ext uri="{FF2B5EF4-FFF2-40B4-BE49-F238E27FC236}">
                <a16:creationId xmlns:a16="http://schemas.microsoft.com/office/drawing/2014/main" id="{D0C6E8CE-5029-4F6E-8935-34AFC866AB0A}"/>
              </a:ext>
            </a:extLst>
          </p:cNvPr>
          <p:cNvSpPr>
            <a:spLocks xmlns:a="http://schemas.openxmlformats.org/drawingml/2006/main" noGrp="1"/>
          </p:cNvSpPr>
          <p:nvPr/>
        </p:nvSpPr>
        <p:spPr>
          <a:xfrm xmlns:a="http://schemas.openxmlformats.org/drawingml/2006/main">
            <a:off x="704088" y="4197096"/>
            <a:ext cx="512064" cy="512064"/>
          </a:xfrm>
          <a:prstGeom xmlns:a="http://schemas.openxmlformats.org/drawingml/2006/main" prst="ellipse">
            <a:avLst/>
          </a:prstGeom>
          <a:solidFill xmlns:a="http://schemas.openxmlformats.org/drawingml/2006/main">
            <a:srgbClr val="3B4A7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706F4659-C785-4A81-A800-4F921B1BF786}"/>
              </a:ext>
            </a:extLst>
          </p:cNvPr>
          <p:cNvSpPr>
            <a:spLocks xmlns:a="http://schemas.openxmlformats.org/drawingml/2006/main" noGrp="1"/>
          </p:cNvSpPr>
          <p:nvPr/>
        </p:nvSpPr>
        <p:spPr>
          <a:xfrm xmlns:a="http://schemas.openxmlformats.org/drawingml/2006/main">
            <a:off x="704088" y="4197096"/>
            <a:ext cx="512064"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spcBef>
                <a:spcPts val="0"/>
              </a:spcBef>
              <a:spcAft>
                <a:spcPts val="0"/>
              </a:spcAft>
              <a:buNone/>
            </a:pPr>
            <a:r>
              <a:rPr sz="1700" b="1" i="0">
                <a:solidFill>
                  <a:srgbClr val="FFFFFF"/>
                </a:solidFill>
                <a:latin typeface="Cambria"/>
                <a:ea typeface="Cambria"/>
                <a:cs typeface="Cambria"/>
              </a:rPr>
              <a:t>3</a:t>
            </a:r>
          </a:p>
        </p:txBody>
      </p:sp>
      <p:sp>
        <p:nvSpPr>
          <p:cNvPr id="19" name="TextBox 18">
            <a:extLst xmlns:a="http://schemas.openxmlformats.org/drawingml/2006/main">
              <a:ext uri="{FF2B5EF4-FFF2-40B4-BE49-F238E27FC236}">
                <a16:creationId xmlns:a16="http://schemas.microsoft.com/office/drawing/2014/main" id="{B2B4D0A1-8FCE-4F8B-B426-842B37A108DD}"/>
              </a:ext>
            </a:extLst>
          </p:cNvPr>
          <p:cNvSpPr>
            <a:spLocks xmlns:a="http://schemas.openxmlformats.org/drawingml/2006/main" noGrp="1"/>
          </p:cNvSpPr>
          <p:nvPr/>
        </p:nvSpPr>
        <p:spPr>
          <a:xfrm xmlns:a="http://schemas.openxmlformats.org/drawingml/2006/main">
            <a:off x="1463040" y="4215383"/>
            <a:ext cx="31089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550" b="1" i="0">
                <a:solidFill>
                  <a:srgbClr val="1E2447"/>
                </a:solidFill>
                <a:latin typeface="Cambria"/>
                <a:ea typeface="Cambria"/>
                <a:cs typeface="Cambria"/>
              </a:rPr>
              <a:t>Scientific evidence</a:t>
            </a:r>
          </a:p>
        </p:txBody>
      </p:sp>
      <p:sp>
        <p:nvSpPr>
          <p:cNvPr id="20" name="TextBox 19">
            <a:extLst xmlns:a="http://schemas.openxmlformats.org/drawingml/2006/main">
              <a:ext uri="{FF2B5EF4-FFF2-40B4-BE49-F238E27FC236}">
                <a16:creationId xmlns:a16="http://schemas.microsoft.com/office/drawing/2014/main" id="{BBD4A6A8-405F-4B56-8A23-AE39B2C4D7F3}"/>
              </a:ext>
            </a:extLst>
          </p:cNvPr>
          <p:cNvSpPr>
            <a:spLocks xmlns:a="http://schemas.openxmlformats.org/drawingml/2006/main" noGrp="1"/>
          </p:cNvSpPr>
          <p:nvPr/>
        </p:nvSpPr>
        <p:spPr>
          <a:xfrm xmlns:a="http://schemas.openxmlformats.org/drawingml/2006/main">
            <a:off x="4663440" y="4242816"/>
            <a:ext cx="68580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350" b="0" i="0">
                <a:solidFill>
                  <a:srgbClr val="5A6377"/>
                </a:solidFill>
                <a:latin typeface="Calibri"/>
                <a:ea typeface="Calibri"/>
                <a:cs typeface="Calibri"/>
              </a:rPr>
              <a:t>Distinguish measured brain–body dependence from the physicalist claim of sufficiency.</a:t>
            </a:r>
          </a:p>
        </p:txBody>
      </p:sp>
      <p:sp>
        <p:nvSpPr>
          <p:cNvPr id="21" name="Oval 20">
            <a:extLst xmlns:a="http://schemas.openxmlformats.org/drawingml/2006/main">
              <a:ext uri="{FF2B5EF4-FFF2-40B4-BE49-F238E27FC236}">
                <a16:creationId xmlns:a16="http://schemas.microsoft.com/office/drawing/2014/main" id="{F0C93DF2-642D-4775-AF6D-42EDC6CB5C3B}"/>
              </a:ext>
            </a:extLst>
          </p:cNvPr>
          <p:cNvSpPr>
            <a:spLocks xmlns:a="http://schemas.openxmlformats.org/drawingml/2006/main" noGrp="1"/>
          </p:cNvSpPr>
          <p:nvPr/>
        </p:nvSpPr>
        <p:spPr>
          <a:xfrm xmlns:a="http://schemas.openxmlformats.org/drawingml/2006/main">
            <a:off x="704088" y="4946904"/>
            <a:ext cx="512064" cy="512064"/>
          </a:xfrm>
          <a:prstGeom xmlns:a="http://schemas.openxmlformats.org/drawingml/2006/main" prst="ellipse">
            <a:avLst/>
          </a:prstGeom>
          <a:solidFill xmlns:a="http://schemas.openxmlformats.org/drawingml/2006/main">
            <a:srgbClr val="3B4A7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03E0CC9E-4E77-4D15-AA9C-C151BEFCB97D}"/>
              </a:ext>
            </a:extLst>
          </p:cNvPr>
          <p:cNvSpPr>
            <a:spLocks xmlns:a="http://schemas.openxmlformats.org/drawingml/2006/main" noGrp="1"/>
          </p:cNvSpPr>
          <p:nvPr/>
        </p:nvSpPr>
        <p:spPr>
          <a:xfrm xmlns:a="http://schemas.openxmlformats.org/drawingml/2006/main">
            <a:off x="704088" y="4946904"/>
            <a:ext cx="512064"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spcBef>
                <a:spcPts val="0"/>
              </a:spcBef>
              <a:spcAft>
                <a:spcPts val="0"/>
              </a:spcAft>
              <a:buNone/>
            </a:pPr>
            <a:r>
              <a:rPr sz="1700" b="1" i="0">
                <a:solidFill>
                  <a:srgbClr val="FFFFFF"/>
                </a:solidFill>
                <a:latin typeface="Cambria"/>
                <a:ea typeface="Cambria"/>
                <a:cs typeface="Cambria"/>
              </a:rPr>
              <a:t>4</a:t>
            </a:r>
          </a:p>
        </p:txBody>
      </p:sp>
      <p:sp>
        <p:nvSpPr>
          <p:cNvPr id="23" name="TextBox 22">
            <a:extLst xmlns:a="http://schemas.openxmlformats.org/drawingml/2006/main">
              <a:ext uri="{FF2B5EF4-FFF2-40B4-BE49-F238E27FC236}">
                <a16:creationId xmlns:a16="http://schemas.microsoft.com/office/drawing/2014/main" id="{D0E81C14-7879-4D37-8BD6-59CEB046329C}"/>
              </a:ext>
            </a:extLst>
          </p:cNvPr>
          <p:cNvSpPr>
            <a:spLocks xmlns:a="http://schemas.openxmlformats.org/drawingml/2006/main" noGrp="1"/>
          </p:cNvSpPr>
          <p:nvPr/>
        </p:nvSpPr>
        <p:spPr>
          <a:xfrm xmlns:a="http://schemas.openxmlformats.org/drawingml/2006/main">
            <a:off x="1463040" y="4965192"/>
            <a:ext cx="31089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550" b="1" i="0">
                <a:solidFill>
                  <a:srgbClr val="1E2447"/>
                </a:solidFill>
                <a:latin typeface="Cambria"/>
                <a:ea typeface="Cambria"/>
                <a:cs typeface="Cambria"/>
              </a:rPr>
              <a:t>Advaita model</a:t>
            </a:r>
          </a:p>
        </p:txBody>
      </p:sp>
      <p:sp>
        <p:nvSpPr>
          <p:cNvPr id="24" name="TextBox 23">
            <a:extLst xmlns:a="http://schemas.openxmlformats.org/drawingml/2006/main">
              <a:ext uri="{FF2B5EF4-FFF2-40B4-BE49-F238E27FC236}">
                <a16:creationId xmlns:a16="http://schemas.microsoft.com/office/drawing/2014/main" id="{4869728D-D9FE-43E3-AC1C-2FA5AEE519B1}"/>
              </a:ext>
            </a:extLst>
          </p:cNvPr>
          <p:cNvSpPr>
            <a:spLocks xmlns:a="http://schemas.openxmlformats.org/drawingml/2006/main" noGrp="1"/>
          </p:cNvSpPr>
          <p:nvPr/>
        </p:nvSpPr>
        <p:spPr>
          <a:xfrm xmlns:a="http://schemas.openxmlformats.org/drawingml/2006/main">
            <a:off x="4663440" y="4992624"/>
            <a:ext cx="68580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350" b="0" i="0">
                <a:solidFill>
                  <a:srgbClr val="5A6377"/>
                </a:solidFill>
                <a:latin typeface="Calibri"/>
                <a:ea typeface="Calibri"/>
                <a:cs typeface="Calibri"/>
              </a:rPr>
              <a:t>Examine witness, koshas, mithya, and the inference from awareness to Brahman.</a:t>
            </a:r>
          </a:p>
        </p:txBody>
      </p:sp>
      <p:sp>
        <p:nvSpPr>
          <p:cNvPr id="25" name="Oval 24">
            <a:extLst xmlns:a="http://schemas.openxmlformats.org/drawingml/2006/main">
              <a:ext uri="{FF2B5EF4-FFF2-40B4-BE49-F238E27FC236}">
                <a16:creationId xmlns:a16="http://schemas.microsoft.com/office/drawing/2014/main" id="{DE64FF72-1E80-44F1-81DD-9EC35E3A76D2}"/>
              </a:ext>
            </a:extLst>
          </p:cNvPr>
          <p:cNvSpPr>
            <a:spLocks xmlns:a="http://schemas.openxmlformats.org/drawingml/2006/main" noGrp="1"/>
          </p:cNvSpPr>
          <p:nvPr/>
        </p:nvSpPr>
        <p:spPr>
          <a:xfrm xmlns:a="http://schemas.openxmlformats.org/drawingml/2006/main">
            <a:off x="704088" y="5696712"/>
            <a:ext cx="512064" cy="512064"/>
          </a:xfrm>
          <a:prstGeom xmlns:a="http://schemas.openxmlformats.org/drawingml/2006/main" prst="ellipse">
            <a:avLst/>
          </a:prstGeom>
          <a:solidFill xmlns:a="http://schemas.openxmlformats.org/drawingml/2006/main">
            <a:srgbClr val="3B4A7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C5678257-D723-4531-B86D-000B8AA98062}"/>
              </a:ext>
            </a:extLst>
          </p:cNvPr>
          <p:cNvSpPr>
            <a:spLocks xmlns:a="http://schemas.openxmlformats.org/drawingml/2006/main" noGrp="1"/>
          </p:cNvSpPr>
          <p:nvPr/>
        </p:nvSpPr>
        <p:spPr>
          <a:xfrm xmlns:a="http://schemas.openxmlformats.org/drawingml/2006/main">
            <a:off x="704088" y="5696712"/>
            <a:ext cx="512064"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spcBef>
                <a:spcPts val="0"/>
              </a:spcBef>
              <a:spcAft>
                <a:spcPts val="0"/>
              </a:spcAft>
              <a:buNone/>
            </a:pPr>
            <a:r>
              <a:rPr sz="1700" b="1" i="0">
                <a:solidFill>
                  <a:srgbClr val="FFFFFF"/>
                </a:solidFill>
                <a:latin typeface="Cambria"/>
                <a:ea typeface="Cambria"/>
                <a:cs typeface="Cambria"/>
              </a:rPr>
              <a:t>5</a:t>
            </a:r>
          </a:p>
        </p:txBody>
      </p:sp>
      <p:sp>
        <p:nvSpPr>
          <p:cNvPr id="27" name="TextBox 26">
            <a:extLst xmlns:a="http://schemas.openxmlformats.org/drawingml/2006/main">
              <a:ext uri="{FF2B5EF4-FFF2-40B4-BE49-F238E27FC236}">
                <a16:creationId xmlns:a16="http://schemas.microsoft.com/office/drawing/2014/main" id="{15DD9246-B221-4FC0-B098-A9C7F7CF512A}"/>
              </a:ext>
            </a:extLst>
          </p:cNvPr>
          <p:cNvSpPr>
            <a:spLocks xmlns:a="http://schemas.openxmlformats.org/drawingml/2006/main" noGrp="1"/>
          </p:cNvSpPr>
          <p:nvPr/>
        </p:nvSpPr>
        <p:spPr>
          <a:xfrm xmlns:a="http://schemas.openxmlformats.org/drawingml/2006/main">
            <a:off x="1463040" y="5715000"/>
            <a:ext cx="31089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550" b="1" i="0">
                <a:solidFill>
                  <a:srgbClr val="1E2447"/>
                </a:solidFill>
                <a:latin typeface="Cambria"/>
                <a:ea typeface="Cambria"/>
                <a:cs typeface="Cambria"/>
              </a:rPr>
              <a:t>Compare and test</a:t>
            </a:r>
          </a:p>
        </p:txBody>
      </p:sp>
      <p:sp>
        <p:nvSpPr>
          <p:cNvPr id="28" name="TextBox 27">
            <a:extLst xmlns:a="http://schemas.openxmlformats.org/drawingml/2006/main">
              <a:ext uri="{FF2B5EF4-FFF2-40B4-BE49-F238E27FC236}">
                <a16:creationId xmlns:a16="http://schemas.microsoft.com/office/drawing/2014/main" id="{E4509833-CCFF-49A9-BF45-F2C357DA5ADE}"/>
              </a:ext>
            </a:extLst>
          </p:cNvPr>
          <p:cNvSpPr>
            <a:spLocks xmlns:a="http://schemas.openxmlformats.org/drawingml/2006/main" noGrp="1"/>
          </p:cNvSpPr>
          <p:nvPr/>
        </p:nvSpPr>
        <p:spPr>
          <a:xfrm xmlns:a="http://schemas.openxmlformats.org/drawingml/2006/main">
            <a:off x="4663440" y="5742432"/>
            <a:ext cx="68580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350" b="0" i="0">
                <a:solidFill>
                  <a:srgbClr val="5A6377"/>
                </a:solidFill>
                <a:latin typeface="Calibri"/>
                <a:ea typeface="Calibri"/>
                <a:cs typeface="Calibri"/>
              </a:rPr>
              <a:t>Ask what each view explains, assumes, predicts, and leaves open.</a:t>
            </a:r>
          </a:p>
        </p:txBody>
      </p:sp>
    </p:spTree>
    <p:extLst>
      <p:ext uri="{BB962C8B-B14F-4D97-AF65-F5344CB8AC3E}">
        <p14:creationId xmlns:p14="http://schemas.microsoft.com/office/powerpoint/2010/main" val="79209077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84E225E-F8BB-4652-80D5-F47C555D8C9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Oval 2">
            <a:extLst xmlns:a="http://schemas.openxmlformats.org/drawingml/2006/main">
              <a:ext uri="{FF2B5EF4-FFF2-40B4-BE49-F238E27FC236}">
                <a16:creationId xmlns:a16="http://schemas.microsoft.com/office/drawing/2014/main" id="{8CB7E410-5F5C-4D5D-985D-8648DD69BB5F}"/>
              </a:ext>
            </a:extLst>
          </p:cNvPr>
          <p:cNvSpPr>
            <a:spLocks xmlns:a="http://schemas.openxmlformats.org/drawingml/2006/main" noGrp="1"/>
          </p:cNvSpPr>
          <p:nvPr/>
        </p:nvSpPr>
        <p:spPr>
          <a:xfrm xmlns:a="http://schemas.openxmlformats.org/drawingml/2006/main">
            <a:off x="654253" y="507949"/>
            <a:ext cx="483717" cy="483717"/>
          </a:xfrm>
          <a:prstGeom xmlns:a="http://schemas.openxmlformats.org/drawingml/2006/main" prst="ellipse">
            <a:avLst/>
          </a:prstGeom>
          <a:noFill xmlns:a="http://schemas.openxmlformats.org/drawingml/2006/main"/>
          <a:ln xmlns:a="http://schemas.openxmlformats.org/drawingml/2006/main" w="2336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Oval 3">
            <a:extLst xmlns:a="http://schemas.openxmlformats.org/drawingml/2006/main">
              <a:ext uri="{FF2B5EF4-FFF2-40B4-BE49-F238E27FC236}">
                <a16:creationId xmlns:a16="http://schemas.microsoft.com/office/drawing/2014/main" id="{69A78AC4-6092-4C63-9E49-D97089E8300E}"/>
              </a:ext>
            </a:extLst>
          </p:cNvPr>
          <p:cNvSpPr>
            <a:spLocks xmlns:a="http://schemas.openxmlformats.org/drawingml/2006/main" noGrp="1"/>
          </p:cNvSpPr>
          <p:nvPr/>
        </p:nvSpPr>
        <p:spPr>
          <a:xfrm xmlns:a="http://schemas.openxmlformats.org/drawingml/2006/main">
            <a:off x="754151" y="607847"/>
            <a:ext cx="283921" cy="283921"/>
          </a:xfrm>
          <a:prstGeom xmlns:a="http://schemas.openxmlformats.org/drawingml/2006/main" prst="ellipse">
            <a:avLst/>
          </a:prstGeom>
          <a:noFill xmlns:a="http://schemas.openxmlformats.org/drawingml/2006/main"/>
          <a:ln xmlns:a="http://schemas.openxmlformats.org/drawingml/2006/main" w="20447">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Oval 4">
            <a:extLst xmlns:a="http://schemas.openxmlformats.org/drawingml/2006/main">
              <a:ext uri="{FF2B5EF4-FFF2-40B4-BE49-F238E27FC236}">
                <a16:creationId xmlns:a16="http://schemas.microsoft.com/office/drawing/2014/main" id="{B36453B6-5FB0-4E60-ADCB-7EC262368052}"/>
              </a:ext>
            </a:extLst>
          </p:cNvPr>
          <p:cNvSpPr>
            <a:spLocks xmlns:a="http://schemas.openxmlformats.org/drawingml/2006/main" noGrp="1"/>
          </p:cNvSpPr>
          <p:nvPr/>
        </p:nvSpPr>
        <p:spPr>
          <a:xfrm xmlns:a="http://schemas.openxmlformats.org/drawingml/2006/main">
            <a:off x="833018" y="686714"/>
            <a:ext cx="126187" cy="126187"/>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98CB18D7-B72E-4DAB-AAE4-DB1DF24FF0F6}"/>
              </a:ext>
            </a:extLst>
          </p:cNvPr>
          <p:cNvSpPr>
            <a:spLocks xmlns:a="http://schemas.openxmlformats.org/drawingml/2006/main" noGrp="1"/>
          </p:cNvSpPr>
          <p:nvPr/>
        </p:nvSpPr>
        <p:spPr>
          <a:xfrm xmlns:a="http://schemas.openxmlformats.org/drawingml/2006/main">
            <a:off x="1325880" y="457200"/>
            <a:ext cx="10424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200" b="1" i="0">
                <a:solidFill>
                  <a:srgbClr val="C9821E"/>
                </a:solidFill>
                <a:latin typeface="Calibri"/>
                <a:ea typeface="Calibri"/>
                <a:cs typeface="Calibri"/>
              </a:rPr>
              <a:t>MADHYASTH DARSHAN · PHENOMENOLOGY</a:t>
            </a:r>
          </a:p>
        </p:txBody>
      </p:sp>
      <p:sp>
        <p:nvSpPr>
          <p:cNvPr id="7" name="TextBox 6">
            <a:extLst xmlns:a="http://schemas.openxmlformats.org/drawingml/2006/main">
              <a:ext uri="{FF2B5EF4-FFF2-40B4-BE49-F238E27FC236}">
                <a16:creationId xmlns:a16="http://schemas.microsoft.com/office/drawing/2014/main" id="{206EB2D3-6F8F-42C6-82ED-BFAB255417D8}"/>
              </a:ext>
            </a:extLst>
          </p:cNvPr>
          <p:cNvSpPr>
            <a:spLocks xmlns:a="http://schemas.openxmlformats.org/drawingml/2006/main" noGrp="1"/>
          </p:cNvSpPr>
          <p:nvPr/>
        </p:nvSpPr>
        <p:spPr>
          <a:xfrm xmlns:a="http://schemas.openxmlformats.org/drawingml/2006/main">
            <a:off x="1280160" y="676656"/>
            <a:ext cx="105156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3000" b="1" i="0">
                <a:solidFill>
                  <a:srgbClr val="1E2447"/>
                </a:solidFill>
                <a:latin typeface="Cambria"/>
                <a:ea typeface="Cambria"/>
                <a:cs typeface="Cambria"/>
              </a:rPr>
              <a:t>Four Experiences That Need Explanation</a:t>
            </a:r>
          </a:p>
        </p:txBody>
      </p:sp>
      <p:sp>
        <p:nvSpPr>
          <p:cNvPr id="8" name="TextBox 7">
            <a:extLst xmlns:a="http://schemas.openxmlformats.org/drawingml/2006/main">
              <a:ext uri="{FF2B5EF4-FFF2-40B4-BE49-F238E27FC236}">
                <a16:creationId xmlns:a16="http://schemas.microsoft.com/office/drawing/2014/main" id="{D2FB2E0E-D7B3-4CD8-B435-B123F3786838}"/>
              </a:ext>
            </a:extLst>
          </p:cNvPr>
          <p:cNvSpPr>
            <a:spLocks xmlns:a="http://schemas.openxmlformats.org/drawingml/2006/main" noGrp="1"/>
          </p:cNvSpPr>
          <p:nvPr/>
        </p:nvSpPr>
        <p:spPr>
          <a:xfrm xmlns:a="http://schemas.openxmlformats.org/drawingml/2006/main">
            <a:off x="685800" y="1737360"/>
            <a:ext cx="10789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400" b="0" i="0">
                <a:solidFill>
                  <a:srgbClr val="5A6377"/>
                </a:solidFill>
                <a:latin typeface="Calibri"/>
                <a:ea typeface="Calibri"/>
                <a:cs typeface="Calibri"/>
              </a:rPr>
              <a:t>These experiences need explanation. They do not alone identify their bearer.</a:t>
            </a:r>
          </a:p>
        </p:txBody>
      </p:sp>
      <p:sp>
        <p:nvSpPr>
          <p:cNvPr id="9" name="Rounded Rectangle 8">
            <a:extLst xmlns:a="http://schemas.openxmlformats.org/drawingml/2006/main">
              <a:ext uri="{FF2B5EF4-FFF2-40B4-BE49-F238E27FC236}">
                <a16:creationId xmlns:a16="http://schemas.microsoft.com/office/drawing/2014/main" id="{1679F28C-0D51-4895-BF98-31E395D627DA}"/>
              </a:ext>
            </a:extLst>
          </p:cNvPr>
          <p:cNvSpPr>
            <a:spLocks xmlns:a="http://schemas.openxmlformats.org/drawingml/2006/main" noGrp="1"/>
          </p:cNvSpPr>
          <p:nvPr/>
        </p:nvSpPr>
        <p:spPr>
          <a:xfrm xmlns:a="http://schemas.openxmlformats.org/drawingml/2006/main">
            <a:off x="685800" y="2286000"/>
            <a:ext cx="5294376" cy="1691640"/>
          </a:xfrm>
          <a:prstGeom xmlns:a="http://schemas.openxmlformats.org/drawingml/2006/main" prst="roundRect">
            <a:avLst>
              <a:gd name="adj" fmla="val 6000"/>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Oval 9">
            <a:extLst xmlns:a="http://schemas.openxmlformats.org/drawingml/2006/main">
              <a:ext uri="{FF2B5EF4-FFF2-40B4-BE49-F238E27FC236}">
                <a16:creationId xmlns:a16="http://schemas.microsoft.com/office/drawing/2014/main" id="{2E7A0E1E-CD42-49C9-B73C-E136338029D4}"/>
              </a:ext>
            </a:extLst>
          </p:cNvPr>
          <p:cNvSpPr>
            <a:spLocks xmlns:a="http://schemas.openxmlformats.org/drawingml/2006/main" noGrp="1"/>
          </p:cNvSpPr>
          <p:nvPr/>
        </p:nvSpPr>
        <p:spPr>
          <a:xfrm xmlns:a="http://schemas.openxmlformats.org/drawingml/2006/main">
            <a:off x="898855" y="2480767"/>
            <a:ext cx="378561" cy="378561"/>
          </a:xfrm>
          <a:prstGeom xmlns:a="http://schemas.openxmlformats.org/drawingml/2006/main" prst="ellipse">
            <a:avLst/>
          </a:prstGeom>
          <a:noFill xmlns:a="http://schemas.openxmlformats.org/drawingml/2006/main"/>
          <a:ln xmlns:a="http://schemas.openxmlformats.org/drawingml/2006/main" w="1828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Oval 10">
            <a:extLst xmlns:a="http://schemas.openxmlformats.org/drawingml/2006/main">
              <a:ext uri="{FF2B5EF4-FFF2-40B4-BE49-F238E27FC236}">
                <a16:creationId xmlns:a16="http://schemas.microsoft.com/office/drawing/2014/main" id="{AB1ECDB3-6A6B-4F6A-AE09-0AE24966267D}"/>
              </a:ext>
            </a:extLst>
          </p:cNvPr>
          <p:cNvSpPr>
            <a:spLocks xmlns:a="http://schemas.openxmlformats.org/drawingml/2006/main" noGrp="1"/>
          </p:cNvSpPr>
          <p:nvPr/>
        </p:nvSpPr>
        <p:spPr>
          <a:xfrm xmlns:a="http://schemas.openxmlformats.org/drawingml/2006/main">
            <a:off x="977036" y="2558948"/>
            <a:ext cx="222199" cy="222199"/>
          </a:xfrm>
          <a:prstGeom xmlns:a="http://schemas.openxmlformats.org/drawingml/2006/main" prst="ellipse">
            <a:avLst/>
          </a:prstGeom>
          <a:noFill xmlns:a="http://schemas.openxmlformats.org/drawingml/2006/main"/>
          <a:ln xmlns:a="http://schemas.openxmlformats.org/drawingml/2006/main" w="16002">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Oval 11">
            <a:extLst xmlns:a="http://schemas.openxmlformats.org/drawingml/2006/main">
              <a:ext uri="{FF2B5EF4-FFF2-40B4-BE49-F238E27FC236}">
                <a16:creationId xmlns:a16="http://schemas.microsoft.com/office/drawing/2014/main" id="{FAE8C9EC-3277-4653-B1FD-760FF3C0D03F}"/>
              </a:ext>
            </a:extLst>
          </p:cNvPr>
          <p:cNvSpPr>
            <a:spLocks xmlns:a="http://schemas.openxmlformats.org/drawingml/2006/main" noGrp="1"/>
          </p:cNvSpPr>
          <p:nvPr/>
        </p:nvSpPr>
        <p:spPr>
          <a:xfrm xmlns:a="http://schemas.openxmlformats.org/drawingml/2006/main">
            <a:off x="1038758" y="2620670"/>
            <a:ext cx="98755" cy="98755"/>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398E4BE3-E2D4-44BB-B665-708B60EA502F}"/>
              </a:ext>
            </a:extLst>
          </p:cNvPr>
          <p:cNvSpPr>
            <a:spLocks xmlns:a="http://schemas.openxmlformats.org/drawingml/2006/main" noGrp="1"/>
          </p:cNvSpPr>
          <p:nvPr/>
        </p:nvSpPr>
        <p:spPr>
          <a:xfrm xmlns:a="http://schemas.openxmlformats.org/drawingml/2006/main">
            <a:off x="1444752" y="2487168"/>
            <a:ext cx="435254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500" b="1" i="0">
                <a:solidFill>
                  <a:srgbClr val="1E2447"/>
                </a:solidFill>
                <a:latin typeface="Cambria"/>
                <a:ea typeface="Cambria"/>
                <a:cs typeface="Cambria"/>
              </a:rPr>
              <a:t>Two modes of fulfilment</a:t>
            </a:r>
          </a:p>
        </p:txBody>
      </p:sp>
      <p:sp>
        <p:nvSpPr>
          <p:cNvPr id="14" name="TextBox 13">
            <a:extLst xmlns:a="http://schemas.openxmlformats.org/drawingml/2006/main">
              <a:ext uri="{FF2B5EF4-FFF2-40B4-BE49-F238E27FC236}">
                <a16:creationId xmlns:a16="http://schemas.microsoft.com/office/drawing/2014/main" id="{59BC337A-9E0B-4C63-B214-F6BC357C33D2}"/>
              </a:ext>
            </a:extLst>
          </p:cNvPr>
          <p:cNvSpPr>
            <a:spLocks xmlns:a="http://schemas.openxmlformats.org/drawingml/2006/main" noGrp="1"/>
          </p:cNvSpPr>
          <p:nvPr/>
        </p:nvSpPr>
        <p:spPr>
          <a:xfrm xmlns:a="http://schemas.openxmlformats.org/drawingml/2006/main">
            <a:off x="941832" y="2999232"/>
            <a:ext cx="478231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250" b="0" i="0">
                <a:solidFill>
                  <a:srgbClr val="5A6377"/>
                </a:solidFill>
                <a:latin typeface="Calibri"/>
                <a:ea typeface="Calibri"/>
                <a:cs typeface="Calibri"/>
              </a:rPr>
              <a:t>Food, rest, and safety answer bodily need; understanding, trust, and justice answer a different demand. The distinction is real even if its cause remains disputed.</a:t>
            </a:r>
          </a:p>
        </p:txBody>
      </p:sp>
      <p:sp>
        <p:nvSpPr>
          <p:cNvPr id="15" name="Rounded Rectangle 14">
            <a:extLst xmlns:a="http://schemas.openxmlformats.org/drawingml/2006/main">
              <a:ext uri="{FF2B5EF4-FFF2-40B4-BE49-F238E27FC236}">
                <a16:creationId xmlns:a16="http://schemas.microsoft.com/office/drawing/2014/main" id="{3EAA33BE-833B-4D28-9C6F-3E8C55120C67}"/>
              </a:ext>
            </a:extLst>
          </p:cNvPr>
          <p:cNvSpPr>
            <a:spLocks xmlns:a="http://schemas.openxmlformats.org/drawingml/2006/main" noGrp="1"/>
          </p:cNvSpPr>
          <p:nvPr/>
        </p:nvSpPr>
        <p:spPr>
          <a:xfrm xmlns:a="http://schemas.openxmlformats.org/drawingml/2006/main">
            <a:off x="6208776" y="2286000"/>
            <a:ext cx="5294376" cy="1691640"/>
          </a:xfrm>
          <a:prstGeom xmlns:a="http://schemas.openxmlformats.org/drawingml/2006/main" prst="roundRect">
            <a:avLst>
              <a:gd name="adj" fmla="val 6000"/>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Oval 15">
            <a:extLst xmlns:a="http://schemas.openxmlformats.org/drawingml/2006/main">
              <a:ext uri="{FF2B5EF4-FFF2-40B4-BE49-F238E27FC236}">
                <a16:creationId xmlns:a16="http://schemas.microsoft.com/office/drawing/2014/main" id="{3BB50363-1D40-4E8F-8BBF-2A8F80794E8C}"/>
              </a:ext>
            </a:extLst>
          </p:cNvPr>
          <p:cNvSpPr>
            <a:spLocks xmlns:a="http://schemas.openxmlformats.org/drawingml/2006/main" noGrp="1"/>
          </p:cNvSpPr>
          <p:nvPr/>
        </p:nvSpPr>
        <p:spPr>
          <a:xfrm xmlns:a="http://schemas.openxmlformats.org/drawingml/2006/main">
            <a:off x="6421831" y="2480767"/>
            <a:ext cx="378561" cy="378561"/>
          </a:xfrm>
          <a:prstGeom xmlns:a="http://schemas.openxmlformats.org/drawingml/2006/main" prst="ellipse">
            <a:avLst/>
          </a:prstGeom>
          <a:noFill xmlns:a="http://schemas.openxmlformats.org/drawingml/2006/main"/>
          <a:ln xmlns:a="http://schemas.openxmlformats.org/drawingml/2006/main" w="1828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Oval 16">
            <a:extLst xmlns:a="http://schemas.openxmlformats.org/drawingml/2006/main">
              <a:ext uri="{FF2B5EF4-FFF2-40B4-BE49-F238E27FC236}">
                <a16:creationId xmlns:a16="http://schemas.microsoft.com/office/drawing/2014/main" id="{D440C9A5-8D57-4439-A141-8EB4DE30CD9C}"/>
              </a:ext>
            </a:extLst>
          </p:cNvPr>
          <p:cNvSpPr>
            <a:spLocks xmlns:a="http://schemas.openxmlformats.org/drawingml/2006/main" noGrp="1"/>
          </p:cNvSpPr>
          <p:nvPr/>
        </p:nvSpPr>
        <p:spPr>
          <a:xfrm xmlns:a="http://schemas.openxmlformats.org/drawingml/2006/main">
            <a:off x="6500012" y="2558948"/>
            <a:ext cx="222199" cy="222199"/>
          </a:xfrm>
          <a:prstGeom xmlns:a="http://schemas.openxmlformats.org/drawingml/2006/main" prst="ellipse">
            <a:avLst/>
          </a:prstGeom>
          <a:noFill xmlns:a="http://schemas.openxmlformats.org/drawingml/2006/main"/>
          <a:ln xmlns:a="http://schemas.openxmlformats.org/drawingml/2006/main" w="16002">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Oval 17">
            <a:extLst xmlns:a="http://schemas.openxmlformats.org/drawingml/2006/main">
              <a:ext uri="{FF2B5EF4-FFF2-40B4-BE49-F238E27FC236}">
                <a16:creationId xmlns:a16="http://schemas.microsoft.com/office/drawing/2014/main" id="{CF1D4252-18FC-4133-A99B-4958ACE0D34D}"/>
              </a:ext>
            </a:extLst>
          </p:cNvPr>
          <p:cNvSpPr>
            <a:spLocks xmlns:a="http://schemas.openxmlformats.org/drawingml/2006/main" noGrp="1"/>
          </p:cNvSpPr>
          <p:nvPr/>
        </p:nvSpPr>
        <p:spPr>
          <a:xfrm xmlns:a="http://schemas.openxmlformats.org/drawingml/2006/main">
            <a:off x="6561734" y="2620670"/>
            <a:ext cx="98755" cy="98755"/>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95799023-5237-4886-B398-D60B3EF3834F}"/>
              </a:ext>
            </a:extLst>
          </p:cNvPr>
          <p:cNvSpPr>
            <a:spLocks xmlns:a="http://schemas.openxmlformats.org/drawingml/2006/main" noGrp="1"/>
          </p:cNvSpPr>
          <p:nvPr/>
        </p:nvSpPr>
        <p:spPr>
          <a:xfrm xmlns:a="http://schemas.openxmlformats.org/drawingml/2006/main">
            <a:off x="6967728" y="2487168"/>
            <a:ext cx="435254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500" b="1" i="0">
                <a:solidFill>
                  <a:srgbClr val="1E2447"/>
                </a:solidFill>
                <a:latin typeface="Cambria"/>
                <a:ea typeface="Cambria"/>
                <a:cs typeface="Cambria"/>
              </a:rPr>
              <a:t>Continuous fulfilment</a:t>
            </a:r>
          </a:p>
        </p:txBody>
      </p:sp>
      <p:sp>
        <p:nvSpPr>
          <p:cNvPr id="20" name="TextBox 19">
            <a:extLst xmlns:a="http://schemas.openxmlformats.org/drawingml/2006/main">
              <a:ext uri="{FF2B5EF4-FFF2-40B4-BE49-F238E27FC236}">
                <a16:creationId xmlns:a16="http://schemas.microsoft.com/office/drawing/2014/main" id="{2CB7A6DD-81DA-464B-B88B-B93E12C619D5}"/>
              </a:ext>
            </a:extLst>
          </p:cNvPr>
          <p:cNvSpPr>
            <a:spLocks xmlns:a="http://schemas.openxmlformats.org/drawingml/2006/main" noGrp="1"/>
          </p:cNvSpPr>
          <p:nvPr/>
        </p:nvSpPr>
        <p:spPr>
          <a:xfrm xmlns:a="http://schemas.openxmlformats.org/drawingml/2006/main">
            <a:off x="6464808" y="2999232"/>
            <a:ext cx="478231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250" b="0" i="0">
                <a:solidFill>
                  <a:srgbClr val="5A6377"/>
                </a:solidFill>
                <a:latin typeface="Calibri"/>
                <a:ea typeface="Calibri"/>
                <a:cs typeface="Calibri"/>
              </a:rPr>
              <a:t>MD connects lasting fulfilment with guiding pleasure, health, and gain through justice, dharma, and truth. Acquisition alone cannot provide this understanding.</a:t>
            </a:r>
          </a:p>
        </p:txBody>
      </p:sp>
      <p:sp>
        <p:nvSpPr>
          <p:cNvPr id="21" name="Rounded Rectangle 20">
            <a:extLst xmlns:a="http://schemas.openxmlformats.org/drawingml/2006/main">
              <a:ext uri="{FF2B5EF4-FFF2-40B4-BE49-F238E27FC236}">
                <a16:creationId xmlns:a16="http://schemas.microsoft.com/office/drawing/2014/main" id="{7C1F251F-043B-4DF8-9FCC-EE5CD5B4B25A}"/>
              </a:ext>
            </a:extLst>
          </p:cNvPr>
          <p:cNvSpPr>
            <a:spLocks xmlns:a="http://schemas.openxmlformats.org/drawingml/2006/main" noGrp="1"/>
          </p:cNvSpPr>
          <p:nvPr/>
        </p:nvSpPr>
        <p:spPr>
          <a:xfrm xmlns:a="http://schemas.openxmlformats.org/drawingml/2006/main">
            <a:off x="685800" y="4114800"/>
            <a:ext cx="5294376" cy="1691640"/>
          </a:xfrm>
          <a:prstGeom xmlns:a="http://schemas.openxmlformats.org/drawingml/2006/main" prst="roundRect">
            <a:avLst>
              <a:gd name="adj" fmla="val 6000"/>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Oval 21">
            <a:extLst xmlns:a="http://schemas.openxmlformats.org/drawingml/2006/main">
              <a:ext uri="{FF2B5EF4-FFF2-40B4-BE49-F238E27FC236}">
                <a16:creationId xmlns:a16="http://schemas.microsoft.com/office/drawing/2014/main" id="{B15DFF3E-AED6-4CEC-BA0C-5AA653055EB0}"/>
              </a:ext>
            </a:extLst>
          </p:cNvPr>
          <p:cNvSpPr>
            <a:spLocks xmlns:a="http://schemas.openxmlformats.org/drawingml/2006/main" noGrp="1"/>
          </p:cNvSpPr>
          <p:nvPr/>
        </p:nvSpPr>
        <p:spPr>
          <a:xfrm xmlns:a="http://schemas.openxmlformats.org/drawingml/2006/main">
            <a:off x="898855" y="4309567"/>
            <a:ext cx="378561" cy="378561"/>
          </a:xfrm>
          <a:prstGeom xmlns:a="http://schemas.openxmlformats.org/drawingml/2006/main" prst="ellipse">
            <a:avLst/>
          </a:prstGeom>
          <a:noFill xmlns:a="http://schemas.openxmlformats.org/drawingml/2006/main"/>
          <a:ln xmlns:a="http://schemas.openxmlformats.org/drawingml/2006/main" w="1828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Oval 22">
            <a:extLst xmlns:a="http://schemas.openxmlformats.org/drawingml/2006/main">
              <a:ext uri="{FF2B5EF4-FFF2-40B4-BE49-F238E27FC236}">
                <a16:creationId xmlns:a16="http://schemas.microsoft.com/office/drawing/2014/main" id="{31A7FFCF-EB19-456E-95FA-5D1522A039EB}"/>
              </a:ext>
            </a:extLst>
          </p:cNvPr>
          <p:cNvSpPr>
            <a:spLocks xmlns:a="http://schemas.openxmlformats.org/drawingml/2006/main" noGrp="1"/>
          </p:cNvSpPr>
          <p:nvPr/>
        </p:nvSpPr>
        <p:spPr>
          <a:xfrm xmlns:a="http://schemas.openxmlformats.org/drawingml/2006/main">
            <a:off x="977036" y="4387748"/>
            <a:ext cx="222199" cy="222199"/>
          </a:xfrm>
          <a:prstGeom xmlns:a="http://schemas.openxmlformats.org/drawingml/2006/main" prst="ellipse">
            <a:avLst/>
          </a:prstGeom>
          <a:noFill xmlns:a="http://schemas.openxmlformats.org/drawingml/2006/main"/>
          <a:ln xmlns:a="http://schemas.openxmlformats.org/drawingml/2006/main" w="16002">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Oval 23">
            <a:extLst xmlns:a="http://schemas.openxmlformats.org/drawingml/2006/main">
              <a:ext uri="{FF2B5EF4-FFF2-40B4-BE49-F238E27FC236}">
                <a16:creationId xmlns:a16="http://schemas.microsoft.com/office/drawing/2014/main" id="{ADBFEF9F-4932-45A9-BAD0-A83F254B12E5}"/>
              </a:ext>
            </a:extLst>
          </p:cNvPr>
          <p:cNvSpPr>
            <a:spLocks xmlns:a="http://schemas.openxmlformats.org/drawingml/2006/main" noGrp="1"/>
          </p:cNvSpPr>
          <p:nvPr/>
        </p:nvSpPr>
        <p:spPr>
          <a:xfrm xmlns:a="http://schemas.openxmlformats.org/drawingml/2006/main">
            <a:off x="1038758" y="4449470"/>
            <a:ext cx="98755" cy="98755"/>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5" name="TextBox 24">
            <a:extLst xmlns:a="http://schemas.openxmlformats.org/drawingml/2006/main">
              <a:ext uri="{FF2B5EF4-FFF2-40B4-BE49-F238E27FC236}">
                <a16:creationId xmlns:a16="http://schemas.microsoft.com/office/drawing/2014/main" id="{ED278E84-D8C1-4AAA-BF68-BE374027493B}"/>
              </a:ext>
            </a:extLst>
          </p:cNvPr>
          <p:cNvSpPr>
            <a:spLocks xmlns:a="http://schemas.openxmlformats.org/drawingml/2006/main" noGrp="1"/>
          </p:cNvSpPr>
          <p:nvPr/>
        </p:nvSpPr>
        <p:spPr>
          <a:xfrm xmlns:a="http://schemas.openxmlformats.org/drawingml/2006/main">
            <a:off x="1444752" y="4315968"/>
            <a:ext cx="435254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500" b="1" i="0">
                <a:solidFill>
                  <a:srgbClr val="1E2447"/>
                </a:solidFill>
                <a:latin typeface="Cambria"/>
                <a:ea typeface="Cambria"/>
                <a:cs typeface="Cambria"/>
              </a:rPr>
              <a:t>Self exceeds a snapshot</a:t>
            </a:r>
          </a:p>
        </p:txBody>
      </p:sp>
      <p:sp>
        <p:nvSpPr>
          <p:cNvPr id="26" name="TextBox 25">
            <a:extLst xmlns:a="http://schemas.openxmlformats.org/drawingml/2006/main">
              <a:ext uri="{FF2B5EF4-FFF2-40B4-BE49-F238E27FC236}">
                <a16:creationId xmlns:a16="http://schemas.microsoft.com/office/drawing/2014/main" id="{263CC83B-6139-423A-B1BF-58AA456C62E0}"/>
              </a:ext>
            </a:extLst>
          </p:cNvPr>
          <p:cNvSpPr>
            <a:spLocks xmlns:a="http://schemas.openxmlformats.org/drawingml/2006/main" noGrp="1"/>
          </p:cNvSpPr>
          <p:nvPr/>
        </p:nvSpPr>
        <p:spPr>
          <a:xfrm xmlns:a="http://schemas.openxmlformats.org/drawingml/2006/main">
            <a:off x="941832" y="4828032"/>
            <a:ext cx="478231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250" b="0" i="0">
                <a:solidFill>
                  <a:srgbClr val="5A6377"/>
                </a:solidFill>
                <a:latin typeface="Calibri"/>
                <a:ea typeface="Calibri"/>
                <a:cs typeface="Calibri"/>
              </a:rPr>
              <a:t>We experience personal continuity through bodily change. Remembering that continuity is different from showing uninterrupted awareness through sleep.</a:t>
            </a:r>
          </a:p>
        </p:txBody>
      </p:sp>
      <p:sp>
        <p:nvSpPr>
          <p:cNvPr id="27" name="Rounded Rectangle 26">
            <a:extLst xmlns:a="http://schemas.openxmlformats.org/drawingml/2006/main">
              <a:ext uri="{FF2B5EF4-FFF2-40B4-BE49-F238E27FC236}">
                <a16:creationId xmlns:a16="http://schemas.microsoft.com/office/drawing/2014/main" id="{758947F0-F8DA-4849-B881-778A20D9623C}"/>
              </a:ext>
            </a:extLst>
          </p:cNvPr>
          <p:cNvSpPr>
            <a:spLocks xmlns:a="http://schemas.openxmlformats.org/drawingml/2006/main" noGrp="1"/>
          </p:cNvSpPr>
          <p:nvPr/>
        </p:nvSpPr>
        <p:spPr>
          <a:xfrm xmlns:a="http://schemas.openxmlformats.org/drawingml/2006/main">
            <a:off x="6208776" y="4114800"/>
            <a:ext cx="5294376" cy="1691640"/>
          </a:xfrm>
          <a:prstGeom xmlns:a="http://schemas.openxmlformats.org/drawingml/2006/main" prst="roundRect">
            <a:avLst>
              <a:gd name="adj" fmla="val 6000"/>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Oval 27">
            <a:extLst xmlns:a="http://schemas.openxmlformats.org/drawingml/2006/main">
              <a:ext uri="{FF2B5EF4-FFF2-40B4-BE49-F238E27FC236}">
                <a16:creationId xmlns:a16="http://schemas.microsoft.com/office/drawing/2014/main" id="{13D5CA92-5BF6-4123-99DC-DFC1FE5CBD85}"/>
              </a:ext>
            </a:extLst>
          </p:cNvPr>
          <p:cNvSpPr>
            <a:spLocks xmlns:a="http://schemas.openxmlformats.org/drawingml/2006/main" noGrp="1"/>
          </p:cNvSpPr>
          <p:nvPr/>
        </p:nvSpPr>
        <p:spPr>
          <a:xfrm xmlns:a="http://schemas.openxmlformats.org/drawingml/2006/main">
            <a:off x="6421831" y="4309567"/>
            <a:ext cx="378561" cy="378561"/>
          </a:xfrm>
          <a:prstGeom xmlns:a="http://schemas.openxmlformats.org/drawingml/2006/main" prst="ellipse">
            <a:avLst/>
          </a:prstGeom>
          <a:noFill xmlns:a="http://schemas.openxmlformats.org/drawingml/2006/main"/>
          <a:ln xmlns:a="http://schemas.openxmlformats.org/drawingml/2006/main" w="1828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9" name="Oval 28">
            <a:extLst xmlns:a="http://schemas.openxmlformats.org/drawingml/2006/main">
              <a:ext uri="{FF2B5EF4-FFF2-40B4-BE49-F238E27FC236}">
                <a16:creationId xmlns:a16="http://schemas.microsoft.com/office/drawing/2014/main" id="{1C282A90-FB3F-4F94-B2F8-46171A6B8E31}"/>
              </a:ext>
            </a:extLst>
          </p:cNvPr>
          <p:cNvSpPr>
            <a:spLocks xmlns:a="http://schemas.openxmlformats.org/drawingml/2006/main" noGrp="1"/>
          </p:cNvSpPr>
          <p:nvPr/>
        </p:nvSpPr>
        <p:spPr>
          <a:xfrm xmlns:a="http://schemas.openxmlformats.org/drawingml/2006/main">
            <a:off x="6500012" y="4387748"/>
            <a:ext cx="222199" cy="222199"/>
          </a:xfrm>
          <a:prstGeom xmlns:a="http://schemas.openxmlformats.org/drawingml/2006/main" prst="ellipse">
            <a:avLst/>
          </a:prstGeom>
          <a:noFill xmlns:a="http://schemas.openxmlformats.org/drawingml/2006/main"/>
          <a:ln xmlns:a="http://schemas.openxmlformats.org/drawingml/2006/main" w="16002">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0" name="Oval 29">
            <a:extLst xmlns:a="http://schemas.openxmlformats.org/drawingml/2006/main">
              <a:ext uri="{FF2B5EF4-FFF2-40B4-BE49-F238E27FC236}">
                <a16:creationId xmlns:a16="http://schemas.microsoft.com/office/drawing/2014/main" id="{DD2AEE76-ACE6-4EC2-90C5-3549DE7CF556}"/>
              </a:ext>
            </a:extLst>
          </p:cNvPr>
          <p:cNvSpPr>
            <a:spLocks xmlns:a="http://schemas.openxmlformats.org/drawingml/2006/main" noGrp="1"/>
          </p:cNvSpPr>
          <p:nvPr/>
        </p:nvSpPr>
        <p:spPr>
          <a:xfrm xmlns:a="http://schemas.openxmlformats.org/drawingml/2006/main">
            <a:off x="6561734" y="4449470"/>
            <a:ext cx="98755" cy="98755"/>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1" name="TextBox 30">
            <a:extLst xmlns:a="http://schemas.openxmlformats.org/drawingml/2006/main">
              <a:ext uri="{FF2B5EF4-FFF2-40B4-BE49-F238E27FC236}">
                <a16:creationId xmlns:a16="http://schemas.microsoft.com/office/drawing/2014/main" id="{19D20C97-96E2-446F-89EB-49FA192B419B}"/>
              </a:ext>
            </a:extLst>
          </p:cNvPr>
          <p:cNvSpPr>
            <a:spLocks xmlns:a="http://schemas.openxmlformats.org/drawingml/2006/main" noGrp="1"/>
          </p:cNvSpPr>
          <p:nvPr/>
        </p:nvSpPr>
        <p:spPr>
          <a:xfrm xmlns:a="http://schemas.openxmlformats.org/drawingml/2006/main">
            <a:off x="6967728" y="4315968"/>
            <a:ext cx="435254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500" b="1" i="0">
                <a:solidFill>
                  <a:srgbClr val="1E2447"/>
                </a:solidFill>
                <a:latin typeface="Cambria"/>
                <a:ea typeface="Cambria"/>
                <a:cs typeface="Cambria"/>
              </a:rPr>
              <a:t>Early moral expectations</a:t>
            </a:r>
          </a:p>
        </p:txBody>
      </p:sp>
      <p:sp>
        <p:nvSpPr>
          <p:cNvPr id="32" name="TextBox 31">
            <a:extLst xmlns:a="http://schemas.openxmlformats.org/drawingml/2006/main">
              <a:ext uri="{FF2B5EF4-FFF2-40B4-BE49-F238E27FC236}">
                <a16:creationId xmlns:a16="http://schemas.microsoft.com/office/drawing/2014/main" id="{9A28DCEB-CE3E-4570-B7C0-062E70284F86}"/>
              </a:ext>
            </a:extLst>
          </p:cNvPr>
          <p:cNvSpPr>
            <a:spLocks xmlns:a="http://schemas.openxmlformats.org/drawingml/2006/main" noGrp="1"/>
          </p:cNvSpPr>
          <p:nvPr/>
        </p:nvSpPr>
        <p:spPr>
          <a:xfrm xmlns:a="http://schemas.openxmlformats.org/drawingml/2006/main">
            <a:off x="6464808" y="4828032"/>
            <a:ext cx="478231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250" b="0" i="0">
                <a:solidFill>
                  <a:srgbClr val="5A6377"/>
                </a:solidFill>
                <a:latin typeface="Calibri"/>
                <a:ea typeface="Calibri"/>
                <a:cs typeface="Calibri"/>
              </a:rPr>
              <a:t>MD proposes an inherent orientation to justice. Early social responses invite study; they do not yet establish a universal moral understanding at birth.</a:t>
            </a:r>
          </a:p>
        </p:txBody>
      </p:sp>
      <p:sp>
        <p:nvSpPr>
          <p:cNvPr id="33" name="TextBox 32">
            <a:extLst xmlns:a="http://schemas.openxmlformats.org/drawingml/2006/main">
              <a:ext uri="{FF2B5EF4-FFF2-40B4-BE49-F238E27FC236}">
                <a16:creationId xmlns:a16="http://schemas.microsoft.com/office/drawing/2014/main" id="{20057D2C-A972-4078-8D0D-1E3285A735CA}"/>
              </a:ext>
            </a:extLst>
          </p:cNvPr>
          <p:cNvSpPr>
            <a:spLocks xmlns:a="http://schemas.openxmlformats.org/drawingml/2006/main" noGrp="1"/>
          </p:cNvSpPr>
          <p:nvPr/>
        </p:nvSpPr>
        <p:spPr>
          <a:xfrm xmlns:a="http://schemas.openxmlformats.org/drawingml/2006/main">
            <a:off x="685800" y="6419088"/>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100" b="0" i="1">
                <a:solidFill>
                  <a:srgbClr val="5A6377"/>
                </a:solidFill>
                <a:latin typeface="Calibri"/>
                <a:ea typeface="Calibri"/>
                <a:cs typeface="Calibri"/>
              </a:rPr>
              <a:t>Study §1.2 · §2.2 · §3.2</a:t>
            </a:r>
          </a:p>
        </p:txBody>
      </p:sp>
    </p:spTree>
    <p:extLst>
      <p:ext uri="{BB962C8B-B14F-4D97-AF65-F5344CB8AC3E}">
        <p14:creationId xmlns:p14="http://schemas.microsoft.com/office/powerpoint/2010/main" val="170661267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49EF1E6-733B-4A6F-88E5-D2E467C4A797}"/>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Oval 2">
            <a:extLst xmlns:a="http://schemas.openxmlformats.org/drawingml/2006/main">
              <a:ext uri="{FF2B5EF4-FFF2-40B4-BE49-F238E27FC236}">
                <a16:creationId xmlns:a16="http://schemas.microsoft.com/office/drawing/2014/main" id="{F76119CC-626E-4D12-A6F3-C390DF1449C3}"/>
              </a:ext>
            </a:extLst>
          </p:cNvPr>
          <p:cNvSpPr>
            <a:spLocks xmlns:a="http://schemas.openxmlformats.org/drawingml/2006/main" noGrp="1"/>
          </p:cNvSpPr>
          <p:nvPr/>
        </p:nvSpPr>
        <p:spPr>
          <a:xfrm xmlns:a="http://schemas.openxmlformats.org/drawingml/2006/main">
            <a:off x="654253" y="507949"/>
            <a:ext cx="483717" cy="483717"/>
          </a:xfrm>
          <a:prstGeom xmlns:a="http://schemas.openxmlformats.org/drawingml/2006/main" prst="ellipse">
            <a:avLst/>
          </a:prstGeom>
          <a:noFill xmlns:a="http://schemas.openxmlformats.org/drawingml/2006/main"/>
          <a:ln xmlns:a="http://schemas.openxmlformats.org/drawingml/2006/main" w="2336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Oval 3">
            <a:extLst xmlns:a="http://schemas.openxmlformats.org/drawingml/2006/main">
              <a:ext uri="{FF2B5EF4-FFF2-40B4-BE49-F238E27FC236}">
                <a16:creationId xmlns:a16="http://schemas.microsoft.com/office/drawing/2014/main" id="{B18C5CF6-A132-4B61-8DCD-5E089C6D1CA2}"/>
              </a:ext>
            </a:extLst>
          </p:cNvPr>
          <p:cNvSpPr>
            <a:spLocks xmlns:a="http://schemas.openxmlformats.org/drawingml/2006/main" noGrp="1"/>
          </p:cNvSpPr>
          <p:nvPr/>
        </p:nvSpPr>
        <p:spPr>
          <a:xfrm xmlns:a="http://schemas.openxmlformats.org/drawingml/2006/main">
            <a:off x="754151" y="607847"/>
            <a:ext cx="283921" cy="283921"/>
          </a:xfrm>
          <a:prstGeom xmlns:a="http://schemas.openxmlformats.org/drawingml/2006/main" prst="ellipse">
            <a:avLst/>
          </a:prstGeom>
          <a:noFill xmlns:a="http://schemas.openxmlformats.org/drawingml/2006/main"/>
          <a:ln xmlns:a="http://schemas.openxmlformats.org/drawingml/2006/main" w="20447">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Oval 4">
            <a:extLst xmlns:a="http://schemas.openxmlformats.org/drawingml/2006/main">
              <a:ext uri="{FF2B5EF4-FFF2-40B4-BE49-F238E27FC236}">
                <a16:creationId xmlns:a16="http://schemas.microsoft.com/office/drawing/2014/main" id="{0D0D29E3-8DC0-47B0-A834-CAFBB4B8CC3C}"/>
              </a:ext>
            </a:extLst>
          </p:cNvPr>
          <p:cNvSpPr>
            <a:spLocks xmlns:a="http://schemas.openxmlformats.org/drawingml/2006/main" noGrp="1"/>
          </p:cNvSpPr>
          <p:nvPr/>
        </p:nvSpPr>
        <p:spPr>
          <a:xfrm xmlns:a="http://schemas.openxmlformats.org/drawingml/2006/main">
            <a:off x="833018" y="686714"/>
            <a:ext cx="126187" cy="126187"/>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EFB15298-F9FD-4CCC-9F6B-65B1195999A2}"/>
              </a:ext>
            </a:extLst>
          </p:cNvPr>
          <p:cNvSpPr>
            <a:spLocks xmlns:a="http://schemas.openxmlformats.org/drawingml/2006/main" noGrp="1"/>
          </p:cNvSpPr>
          <p:nvPr/>
        </p:nvSpPr>
        <p:spPr>
          <a:xfrm xmlns:a="http://schemas.openxmlformats.org/drawingml/2006/main">
            <a:off x="1325880" y="457200"/>
            <a:ext cx="10424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200" b="1" i="0">
                <a:solidFill>
                  <a:srgbClr val="C9821E"/>
                </a:solidFill>
                <a:latin typeface="Calibri"/>
                <a:ea typeface="Calibri"/>
                <a:cs typeface="Calibri"/>
              </a:rPr>
              <a:t>SCIENCE AND PHYSICALISM · REPLY</a:t>
            </a:r>
          </a:p>
        </p:txBody>
      </p:sp>
      <p:sp>
        <p:nvSpPr>
          <p:cNvPr id="7" name="TextBox 6">
            <a:extLst xmlns:a="http://schemas.openxmlformats.org/drawingml/2006/main">
              <a:ext uri="{FF2B5EF4-FFF2-40B4-BE49-F238E27FC236}">
                <a16:creationId xmlns:a16="http://schemas.microsoft.com/office/drawing/2014/main" id="{8E5E1C07-A891-490C-9EC4-7843CA2FD446}"/>
              </a:ext>
            </a:extLst>
          </p:cNvPr>
          <p:cNvSpPr>
            <a:spLocks xmlns:a="http://schemas.openxmlformats.org/drawingml/2006/main" noGrp="1"/>
          </p:cNvSpPr>
          <p:nvPr/>
        </p:nvSpPr>
        <p:spPr>
          <a:xfrm xmlns:a="http://schemas.openxmlformats.org/drawingml/2006/main">
            <a:off x="1280160" y="676656"/>
            <a:ext cx="105156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3000" b="1" i="0">
                <a:solidFill>
                  <a:srgbClr val="1E2447"/>
                </a:solidFill>
                <a:latin typeface="Cambria"/>
                <a:ea typeface="Cambria"/>
                <a:cs typeface="Cambria"/>
              </a:rPr>
              <a:t>Real Experiences, Embodied Explanations</a:t>
            </a:r>
          </a:p>
        </p:txBody>
      </p:sp>
      <p:sp>
        <p:nvSpPr>
          <p:cNvPr id="8" name="TextBox 7">
            <a:extLst xmlns:a="http://schemas.openxmlformats.org/drawingml/2006/main">
              <a:ext uri="{FF2B5EF4-FFF2-40B4-BE49-F238E27FC236}">
                <a16:creationId xmlns:a16="http://schemas.microsoft.com/office/drawing/2014/main" id="{9F93FEAC-4485-4B9C-834E-B23789692B07}"/>
              </a:ext>
            </a:extLst>
          </p:cNvPr>
          <p:cNvSpPr>
            <a:spLocks xmlns:a="http://schemas.openxmlformats.org/drawingml/2006/main" noGrp="1"/>
          </p:cNvSpPr>
          <p:nvPr/>
        </p:nvSpPr>
        <p:spPr>
          <a:xfrm xmlns:a="http://schemas.openxmlformats.org/drawingml/2006/main">
            <a:off x="685800" y="1737360"/>
            <a:ext cx="10789920" cy="498856"/>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400" b="0" i="0">
                <a:solidFill>
                  <a:srgbClr val="5A6377"/>
                </a:solidFill>
                <a:latin typeface="Calibri"/>
                <a:ea typeface="Calibri"/>
                <a:cs typeface="Calibri"/>
              </a:rPr>
              <a:t>Science establishes systematic dependence of experience on brain and body. Physicalism interprets that dependence as ontological sufficiency; that further step is philosophical.</a:t>
            </a:r>
          </a:p>
        </p:txBody>
      </p:sp>
      <p:sp>
        <p:nvSpPr>
          <p:cNvPr id="9" name="Rounded Rectangle 8">
            <a:extLst xmlns:a="http://schemas.openxmlformats.org/drawingml/2006/main">
              <a:ext uri="{FF2B5EF4-FFF2-40B4-BE49-F238E27FC236}">
                <a16:creationId xmlns:a16="http://schemas.microsoft.com/office/drawing/2014/main" id="{42F67026-7884-4EB0-88AE-74E7B83E7391}"/>
              </a:ext>
            </a:extLst>
          </p:cNvPr>
          <p:cNvSpPr>
            <a:spLocks xmlns:a="http://schemas.openxmlformats.org/drawingml/2006/main" noGrp="1"/>
          </p:cNvSpPr>
          <p:nvPr/>
        </p:nvSpPr>
        <p:spPr>
          <a:xfrm xmlns:a="http://schemas.openxmlformats.org/drawingml/2006/main">
            <a:off x="685800" y="2240280"/>
            <a:ext cx="5294376" cy="1463040"/>
          </a:xfrm>
          <a:prstGeom xmlns:a="http://schemas.openxmlformats.org/drawingml/2006/main" prst="roundRect">
            <a:avLst>
              <a:gd name="adj" fmla="val 6000"/>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800FAABA-AD0E-40E7-BE9E-3CF057DB630D}"/>
              </a:ext>
            </a:extLst>
          </p:cNvPr>
          <p:cNvSpPr>
            <a:spLocks xmlns:a="http://schemas.openxmlformats.org/drawingml/2006/main" noGrp="1"/>
          </p:cNvSpPr>
          <p:nvPr/>
        </p:nvSpPr>
        <p:spPr>
          <a:xfrm xmlns:a="http://schemas.openxmlformats.org/drawingml/2006/main">
            <a:off x="941832" y="2441448"/>
            <a:ext cx="485546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450" b="1" i="0">
                <a:solidFill>
                  <a:srgbClr val="1E2447"/>
                </a:solidFill>
                <a:latin typeface="Cambria"/>
                <a:ea typeface="Cambria"/>
                <a:cs typeface="Cambria"/>
              </a:rPr>
              <a:t>Helping depends on brain function</a:t>
            </a:r>
          </a:p>
        </p:txBody>
      </p:sp>
      <p:sp>
        <p:nvSpPr>
          <p:cNvPr id="11" name="TextBox 10">
            <a:extLst xmlns:a="http://schemas.openxmlformats.org/drawingml/2006/main">
              <a:ext uri="{FF2B5EF4-FFF2-40B4-BE49-F238E27FC236}">
                <a16:creationId xmlns:a16="http://schemas.microsoft.com/office/drawing/2014/main" id="{CC217B43-8178-4757-AB87-228CFEF40634}"/>
              </a:ext>
            </a:extLst>
          </p:cNvPr>
          <p:cNvSpPr>
            <a:spLocks xmlns:a="http://schemas.openxmlformats.org/drawingml/2006/main" noGrp="1"/>
          </p:cNvSpPr>
          <p:nvPr/>
        </p:nvSpPr>
        <p:spPr>
          <a:xfrm xmlns:a="http://schemas.openxmlformats.org/drawingml/2006/main">
            <a:off x="941832" y="2953512"/>
            <a:ext cx="47823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200" b="0" i="0">
                <a:solidFill>
                  <a:srgbClr val="5A6377"/>
                </a:solidFill>
                <a:latin typeface="Calibri"/>
                <a:ea typeface="Calibri"/>
                <a:cs typeface="Calibri"/>
              </a:rPr>
              <a:t>People with damage to a particular frontal brain region were less willing to make an effort for others. The difference was selective.</a:t>
            </a:r>
          </a:p>
        </p:txBody>
      </p:sp>
      <p:sp>
        <p:nvSpPr>
          <p:cNvPr id="12" name="Rounded Rectangle 11">
            <a:extLst xmlns:a="http://schemas.openxmlformats.org/drawingml/2006/main">
              <a:ext uri="{FF2B5EF4-FFF2-40B4-BE49-F238E27FC236}">
                <a16:creationId xmlns:a16="http://schemas.microsoft.com/office/drawing/2014/main" id="{446F2F26-8FD3-4CBF-BC1F-2C56A8712945}"/>
              </a:ext>
            </a:extLst>
          </p:cNvPr>
          <p:cNvSpPr>
            <a:spLocks xmlns:a="http://schemas.openxmlformats.org/drawingml/2006/main" noGrp="1"/>
          </p:cNvSpPr>
          <p:nvPr/>
        </p:nvSpPr>
        <p:spPr>
          <a:xfrm xmlns:a="http://schemas.openxmlformats.org/drawingml/2006/main">
            <a:off x="6208776" y="2240280"/>
            <a:ext cx="5294376" cy="1463040"/>
          </a:xfrm>
          <a:prstGeom xmlns:a="http://schemas.openxmlformats.org/drawingml/2006/main" prst="roundRect">
            <a:avLst>
              <a:gd name="adj" fmla="val 6000"/>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FFCDA55F-07AA-47EF-8E81-CAC2F62D8D3C}"/>
              </a:ext>
            </a:extLst>
          </p:cNvPr>
          <p:cNvSpPr>
            <a:spLocks xmlns:a="http://schemas.openxmlformats.org/drawingml/2006/main" noGrp="1"/>
          </p:cNvSpPr>
          <p:nvPr/>
        </p:nvSpPr>
        <p:spPr>
          <a:xfrm xmlns:a="http://schemas.openxmlformats.org/drawingml/2006/main">
            <a:off x="6464808" y="2441448"/>
            <a:ext cx="485546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450" b="1" i="0">
                <a:solidFill>
                  <a:srgbClr val="1E2447"/>
                </a:solidFill>
                <a:latin typeface="Cambria"/>
                <a:ea typeface="Cambria"/>
                <a:cs typeface="Cambria"/>
              </a:rPr>
              <a:t>Desire and ongoing goals</a:t>
            </a:r>
          </a:p>
        </p:txBody>
      </p:sp>
      <p:sp>
        <p:nvSpPr>
          <p:cNvPr id="14" name="TextBox 13">
            <a:extLst xmlns:a="http://schemas.openxmlformats.org/drawingml/2006/main">
              <a:ext uri="{FF2B5EF4-FFF2-40B4-BE49-F238E27FC236}">
                <a16:creationId xmlns:a16="http://schemas.microsoft.com/office/drawing/2014/main" id="{D057D879-3E86-4861-B8AE-30EDB86BCAC9}"/>
              </a:ext>
            </a:extLst>
          </p:cNvPr>
          <p:cNvSpPr>
            <a:spLocks xmlns:a="http://schemas.openxmlformats.org/drawingml/2006/main" noGrp="1"/>
          </p:cNvSpPr>
          <p:nvPr/>
        </p:nvSpPr>
        <p:spPr>
          <a:xfrm xmlns:a="http://schemas.openxmlformats.org/drawingml/2006/main">
            <a:off x="6464808" y="2953512"/>
            <a:ext cx="47823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200" b="0" i="0">
                <a:solidFill>
                  <a:srgbClr val="5A6377"/>
                </a:solidFill>
                <a:latin typeface="Calibri"/>
                <a:ea typeface="Calibri"/>
                <a:cs typeface="Calibri"/>
              </a:rPr>
              <a:t>Learning and prediction offer accounts of ongoing goals. Regulation can anticipate future needs even when no immediate deficit is felt.</a:t>
            </a:r>
          </a:p>
        </p:txBody>
      </p:sp>
      <p:sp>
        <p:nvSpPr>
          <p:cNvPr id="15" name="Rounded Rectangle 14">
            <a:extLst xmlns:a="http://schemas.openxmlformats.org/drawingml/2006/main">
              <a:ext uri="{FF2B5EF4-FFF2-40B4-BE49-F238E27FC236}">
                <a16:creationId xmlns:a16="http://schemas.microsoft.com/office/drawing/2014/main" id="{5167EF2D-C34C-4236-9E86-7F31FF4373F5}"/>
              </a:ext>
            </a:extLst>
          </p:cNvPr>
          <p:cNvSpPr>
            <a:spLocks xmlns:a="http://schemas.openxmlformats.org/drawingml/2006/main" noGrp="1"/>
          </p:cNvSpPr>
          <p:nvPr/>
        </p:nvSpPr>
        <p:spPr>
          <a:xfrm xmlns:a="http://schemas.openxmlformats.org/drawingml/2006/main">
            <a:off x="685800" y="3794760"/>
            <a:ext cx="5294376" cy="1463040"/>
          </a:xfrm>
          <a:prstGeom xmlns:a="http://schemas.openxmlformats.org/drawingml/2006/main" prst="roundRect">
            <a:avLst>
              <a:gd name="adj" fmla="val 6000"/>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1C34AC07-6741-4211-A126-572FE2F9E31D}"/>
              </a:ext>
            </a:extLst>
          </p:cNvPr>
          <p:cNvSpPr>
            <a:spLocks xmlns:a="http://schemas.openxmlformats.org/drawingml/2006/main" noGrp="1"/>
          </p:cNvSpPr>
          <p:nvPr/>
        </p:nvSpPr>
        <p:spPr>
          <a:xfrm xmlns:a="http://schemas.openxmlformats.org/drawingml/2006/main">
            <a:off x="941832" y="3995928"/>
            <a:ext cx="485546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450" b="1" i="0">
                <a:solidFill>
                  <a:srgbClr val="1E2447"/>
                </a:solidFill>
                <a:latin typeface="Cambria"/>
                <a:ea typeface="Cambria"/>
                <a:cs typeface="Cambria"/>
              </a:rPr>
              <a:t>Bodily selfhood can change</a:t>
            </a:r>
          </a:p>
        </p:txBody>
      </p:sp>
      <p:sp>
        <p:nvSpPr>
          <p:cNvPr id="17" name="TextBox 16">
            <a:extLst xmlns:a="http://schemas.openxmlformats.org/drawingml/2006/main">
              <a:ext uri="{FF2B5EF4-FFF2-40B4-BE49-F238E27FC236}">
                <a16:creationId xmlns:a16="http://schemas.microsoft.com/office/drawing/2014/main" id="{BDBDCA6C-2644-461B-94FF-493418E12DAF}"/>
              </a:ext>
            </a:extLst>
          </p:cNvPr>
          <p:cNvSpPr>
            <a:spLocks xmlns:a="http://schemas.openxmlformats.org/drawingml/2006/main" noGrp="1"/>
          </p:cNvSpPr>
          <p:nvPr/>
        </p:nvSpPr>
        <p:spPr>
          <a:xfrm xmlns:a="http://schemas.openxmlformats.org/drawingml/2006/main">
            <a:off x="941832" y="4507992"/>
            <a:ext cx="47823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200" b="0" i="0">
                <a:solidFill>
                  <a:srgbClr val="5A6377"/>
                </a:solidFill>
                <a:latin typeface="Calibri"/>
                <a:ea typeface="Calibri"/>
                <a:cs typeface="Calibri"/>
              </a:rPr>
              <a:t>Brain stimulation can alter the felt location and perspective of the self. This constrains any account of body and subject.</a:t>
            </a:r>
          </a:p>
        </p:txBody>
      </p:sp>
      <p:sp>
        <p:nvSpPr>
          <p:cNvPr id="18" name="Rounded Rectangle 17">
            <a:extLst xmlns:a="http://schemas.openxmlformats.org/drawingml/2006/main">
              <a:ext uri="{FF2B5EF4-FFF2-40B4-BE49-F238E27FC236}">
                <a16:creationId xmlns:a16="http://schemas.microsoft.com/office/drawing/2014/main" id="{F0C33818-6D94-49BE-AE5C-BAB4B0257EEB}"/>
              </a:ext>
            </a:extLst>
          </p:cNvPr>
          <p:cNvSpPr>
            <a:spLocks xmlns:a="http://schemas.openxmlformats.org/drawingml/2006/main" noGrp="1"/>
          </p:cNvSpPr>
          <p:nvPr/>
        </p:nvSpPr>
        <p:spPr>
          <a:xfrm xmlns:a="http://schemas.openxmlformats.org/drawingml/2006/main">
            <a:off x="6208776" y="3794760"/>
            <a:ext cx="5294376" cy="1463040"/>
          </a:xfrm>
          <a:prstGeom xmlns:a="http://schemas.openxmlformats.org/drawingml/2006/main" prst="roundRect">
            <a:avLst>
              <a:gd name="adj" fmla="val 6000"/>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8524E052-C873-4424-9CB6-25D1678D2211}"/>
              </a:ext>
            </a:extLst>
          </p:cNvPr>
          <p:cNvSpPr>
            <a:spLocks xmlns:a="http://schemas.openxmlformats.org/drawingml/2006/main" noGrp="1"/>
          </p:cNvSpPr>
          <p:nvPr/>
        </p:nvSpPr>
        <p:spPr>
          <a:xfrm xmlns:a="http://schemas.openxmlformats.org/drawingml/2006/main">
            <a:off x="6464808" y="3995928"/>
            <a:ext cx="485546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450" b="1" i="0">
                <a:solidFill>
                  <a:srgbClr val="1E2447"/>
                </a:solidFill>
                <a:latin typeface="Cambria"/>
                <a:ea typeface="Cambria"/>
                <a:cs typeface="Cambria"/>
              </a:rPr>
              <a:t>Early social responses</a:t>
            </a:r>
          </a:p>
        </p:txBody>
      </p:sp>
      <p:sp>
        <p:nvSpPr>
          <p:cNvPr id="20" name="TextBox 19">
            <a:extLst xmlns:a="http://schemas.openxmlformats.org/drawingml/2006/main">
              <a:ext uri="{FF2B5EF4-FFF2-40B4-BE49-F238E27FC236}">
                <a16:creationId xmlns:a16="http://schemas.microsoft.com/office/drawing/2014/main" id="{C7D6999A-292E-421E-9C66-04A97079CD2E}"/>
              </a:ext>
            </a:extLst>
          </p:cNvPr>
          <p:cNvSpPr>
            <a:spLocks xmlns:a="http://schemas.openxmlformats.org/drawingml/2006/main" noGrp="1"/>
          </p:cNvSpPr>
          <p:nvPr/>
        </p:nvSpPr>
        <p:spPr>
          <a:xfrm xmlns:a="http://schemas.openxmlformats.org/drawingml/2006/main">
            <a:off x="6464808" y="4507992"/>
            <a:ext cx="47823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200" b="0" i="0">
                <a:solidFill>
                  <a:srgbClr val="5A6377"/>
                </a:solidFill>
                <a:latin typeface="Calibri"/>
                <a:ea typeface="Calibri"/>
                <a:cs typeface="Calibri"/>
              </a:rPr>
              <a:t>Some newborns look longer at helpful actions. Other large infant studies find no reliable helper preference. The tasks differ.</a:t>
            </a:r>
          </a:p>
        </p:txBody>
      </p:sp>
      <p:sp>
        <p:nvSpPr>
          <p:cNvPr id="21" name="Rounded Rectangle 20">
            <a:extLst xmlns:a="http://schemas.openxmlformats.org/drawingml/2006/main">
              <a:ext uri="{FF2B5EF4-FFF2-40B4-BE49-F238E27FC236}">
                <a16:creationId xmlns:a16="http://schemas.microsoft.com/office/drawing/2014/main" id="{F5B9C9A9-2663-4073-BB2D-F5E4FA23C6A4}"/>
              </a:ext>
            </a:extLst>
          </p:cNvPr>
          <p:cNvSpPr>
            <a:spLocks xmlns:a="http://schemas.openxmlformats.org/drawingml/2006/main" noGrp="1"/>
          </p:cNvSpPr>
          <p:nvPr/>
        </p:nvSpPr>
        <p:spPr>
          <a:xfrm xmlns:a="http://schemas.openxmlformats.org/drawingml/2006/main">
            <a:off x="685800" y="5440680"/>
            <a:ext cx="10817352" cy="713232"/>
          </a:xfrm>
          <a:prstGeom xmlns:a="http://schemas.openxmlformats.org/drawingml/2006/main" prst="roundRect">
            <a:avLst>
              <a:gd name="adj" fmla="val 12000"/>
            </a:avLst>
          </a:prstGeom>
          <a:solidFill xmlns:a="http://schemas.openxmlformats.org/drawingml/2006/main">
            <a:srgbClr val="FAF1D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F0972695-CECE-4442-A8CA-FB46D8175CA7}"/>
              </a:ext>
            </a:extLst>
          </p:cNvPr>
          <p:cNvSpPr>
            <a:spLocks xmlns:a="http://schemas.openxmlformats.org/drawingml/2006/main" noGrp="1"/>
          </p:cNvSpPr>
          <p:nvPr/>
        </p:nvSpPr>
        <p:spPr>
          <a:xfrm xmlns:a="http://schemas.openxmlformats.org/drawingml/2006/main">
            <a:off x="1005840" y="5440680"/>
            <a:ext cx="10177272"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lnSpc>
                <a:spcPct val="105000"/>
              </a:lnSpc>
              <a:spcBef>
                <a:spcPts val="0"/>
              </a:spcBef>
              <a:spcAft>
                <a:spcPts val="400"/>
              </a:spcAft>
              <a:buNone/>
            </a:pPr>
            <a:r>
              <a:rPr sz="1450" b="1" i="0">
                <a:solidFill>
                  <a:srgbClr val="9A6414"/>
                </a:solidFill>
                <a:latin typeface="Calibri"/>
                <a:ea typeface="Calibri"/>
                <a:cs typeface="Calibri"/>
              </a:rPr>
              <a:t>These findings strongly constrain a theory of the person. Their interpretation must distinguish what was measured from what is inferred.</a:t>
            </a:r>
          </a:p>
        </p:txBody>
      </p:sp>
      <p:sp>
        <p:nvSpPr>
          <p:cNvPr id="23" name="TextBox 22">
            <a:extLst xmlns:a="http://schemas.openxmlformats.org/drawingml/2006/main">
              <a:ext uri="{FF2B5EF4-FFF2-40B4-BE49-F238E27FC236}">
                <a16:creationId xmlns:a16="http://schemas.microsoft.com/office/drawing/2014/main" id="{9D9317A1-8EA6-4EE6-8601-BE3663BD48AD}"/>
              </a:ext>
            </a:extLst>
          </p:cNvPr>
          <p:cNvSpPr>
            <a:spLocks xmlns:a="http://schemas.openxmlformats.org/drawingml/2006/main" noGrp="1"/>
          </p:cNvSpPr>
          <p:nvPr/>
        </p:nvSpPr>
        <p:spPr>
          <a:xfrm xmlns:a="http://schemas.openxmlformats.org/drawingml/2006/main">
            <a:off x="685800" y="6419088"/>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100" b="0" i="1">
                <a:solidFill>
                  <a:srgbClr val="5A6377"/>
                </a:solidFill>
                <a:latin typeface="Calibri"/>
                <a:ea typeface="Calibri"/>
                <a:cs typeface="Calibri"/>
              </a:rPr>
              <a:t>Lockwood et al. 2024 · Lyu et al. 2023 · Geraci et al. 2025 · Lucca et al. 2025 · Study §2.2</a:t>
            </a:r>
          </a:p>
        </p:txBody>
      </p:sp>
    </p:spTree>
    <p:extLst>
      <p:ext uri="{BB962C8B-B14F-4D97-AF65-F5344CB8AC3E}">
        <p14:creationId xmlns:p14="http://schemas.microsoft.com/office/powerpoint/2010/main" val="158496900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92D0F8C-D2E1-40D5-9108-154689AFC5E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Oval 2">
            <a:extLst xmlns:a="http://schemas.openxmlformats.org/drawingml/2006/main">
              <a:ext uri="{FF2B5EF4-FFF2-40B4-BE49-F238E27FC236}">
                <a16:creationId xmlns:a16="http://schemas.microsoft.com/office/drawing/2014/main" id="{E208AAE0-629C-4449-A96B-10B565918577}"/>
              </a:ext>
            </a:extLst>
          </p:cNvPr>
          <p:cNvSpPr>
            <a:spLocks xmlns:a="http://schemas.openxmlformats.org/drawingml/2006/main" noGrp="1"/>
          </p:cNvSpPr>
          <p:nvPr/>
        </p:nvSpPr>
        <p:spPr>
          <a:xfrm xmlns:a="http://schemas.openxmlformats.org/drawingml/2006/main">
            <a:off x="654253" y="507949"/>
            <a:ext cx="483717" cy="483717"/>
          </a:xfrm>
          <a:prstGeom xmlns:a="http://schemas.openxmlformats.org/drawingml/2006/main" prst="ellipse">
            <a:avLst/>
          </a:prstGeom>
          <a:noFill xmlns:a="http://schemas.openxmlformats.org/drawingml/2006/main"/>
          <a:ln xmlns:a="http://schemas.openxmlformats.org/drawingml/2006/main" w="2336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Oval 3">
            <a:extLst xmlns:a="http://schemas.openxmlformats.org/drawingml/2006/main">
              <a:ext uri="{FF2B5EF4-FFF2-40B4-BE49-F238E27FC236}">
                <a16:creationId xmlns:a16="http://schemas.microsoft.com/office/drawing/2014/main" id="{BA5D44DB-7623-4C26-A9E6-6BC24D511FA5}"/>
              </a:ext>
            </a:extLst>
          </p:cNvPr>
          <p:cNvSpPr>
            <a:spLocks xmlns:a="http://schemas.openxmlformats.org/drawingml/2006/main" noGrp="1"/>
          </p:cNvSpPr>
          <p:nvPr/>
        </p:nvSpPr>
        <p:spPr>
          <a:xfrm xmlns:a="http://schemas.openxmlformats.org/drawingml/2006/main">
            <a:off x="754151" y="607847"/>
            <a:ext cx="283921" cy="283921"/>
          </a:xfrm>
          <a:prstGeom xmlns:a="http://schemas.openxmlformats.org/drawingml/2006/main" prst="ellipse">
            <a:avLst/>
          </a:prstGeom>
          <a:noFill xmlns:a="http://schemas.openxmlformats.org/drawingml/2006/main"/>
          <a:ln xmlns:a="http://schemas.openxmlformats.org/drawingml/2006/main" w="20447">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Oval 4">
            <a:extLst xmlns:a="http://schemas.openxmlformats.org/drawingml/2006/main">
              <a:ext uri="{FF2B5EF4-FFF2-40B4-BE49-F238E27FC236}">
                <a16:creationId xmlns:a16="http://schemas.microsoft.com/office/drawing/2014/main" id="{267B5988-7208-488D-AD21-855C996B3DD5}"/>
              </a:ext>
            </a:extLst>
          </p:cNvPr>
          <p:cNvSpPr>
            <a:spLocks xmlns:a="http://schemas.openxmlformats.org/drawingml/2006/main" noGrp="1"/>
          </p:cNvSpPr>
          <p:nvPr/>
        </p:nvSpPr>
        <p:spPr>
          <a:xfrm xmlns:a="http://schemas.openxmlformats.org/drawingml/2006/main">
            <a:off x="833018" y="686714"/>
            <a:ext cx="126187" cy="126187"/>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DBC3AA2D-80E6-4F35-A870-57D212731B2B}"/>
              </a:ext>
            </a:extLst>
          </p:cNvPr>
          <p:cNvSpPr>
            <a:spLocks xmlns:a="http://schemas.openxmlformats.org/drawingml/2006/main" noGrp="1"/>
          </p:cNvSpPr>
          <p:nvPr/>
        </p:nvSpPr>
        <p:spPr>
          <a:xfrm xmlns:a="http://schemas.openxmlformats.org/drawingml/2006/main">
            <a:off x="1325880" y="457200"/>
            <a:ext cx="10424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200" b="1" i="0">
                <a:solidFill>
                  <a:srgbClr val="C9821E"/>
                </a:solidFill>
                <a:latin typeface="Calibri"/>
                <a:ea typeface="Calibri"/>
                <a:cs typeface="Calibri"/>
              </a:rPr>
              <a:t>ADVAITA VEDANTA · PHENOMENOLOGY</a:t>
            </a:r>
          </a:p>
        </p:txBody>
      </p:sp>
      <p:sp>
        <p:nvSpPr>
          <p:cNvPr id="7" name="TextBox 6">
            <a:extLst xmlns:a="http://schemas.openxmlformats.org/drawingml/2006/main">
              <a:ext uri="{FF2B5EF4-FFF2-40B4-BE49-F238E27FC236}">
                <a16:creationId xmlns:a16="http://schemas.microsoft.com/office/drawing/2014/main" id="{410276C3-2C7B-4F10-964B-AF44ECBF18F5}"/>
              </a:ext>
            </a:extLst>
          </p:cNvPr>
          <p:cNvSpPr>
            <a:spLocks xmlns:a="http://schemas.openxmlformats.org/drawingml/2006/main" noGrp="1"/>
          </p:cNvSpPr>
          <p:nvPr/>
        </p:nvSpPr>
        <p:spPr>
          <a:xfrm xmlns:a="http://schemas.openxmlformats.org/drawingml/2006/main">
            <a:off x="1280160" y="676656"/>
            <a:ext cx="105156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3000" b="1" i="0">
                <a:solidFill>
                  <a:srgbClr val="1E2447"/>
                </a:solidFill>
                <a:latin typeface="Cambria"/>
                <a:ea typeface="Cambria"/>
                <a:cs typeface="Cambria"/>
              </a:rPr>
              <a:t>Neti Neti — Not This, Not This</a:t>
            </a:r>
          </a:p>
        </p:txBody>
      </p:sp>
      <p:sp>
        <p:nvSpPr>
          <p:cNvPr id="8" name="TextBox 7">
            <a:extLst xmlns:a="http://schemas.openxmlformats.org/drawingml/2006/main">
              <a:ext uri="{FF2B5EF4-FFF2-40B4-BE49-F238E27FC236}">
                <a16:creationId xmlns:a16="http://schemas.microsoft.com/office/drawing/2014/main" id="{9D0580C4-4FC7-4BA0-A117-B35D42A9653F}"/>
              </a:ext>
            </a:extLst>
          </p:cNvPr>
          <p:cNvSpPr>
            <a:spLocks xmlns:a="http://schemas.openxmlformats.org/drawingml/2006/main" noGrp="1"/>
          </p:cNvSpPr>
          <p:nvPr/>
        </p:nvSpPr>
        <p:spPr>
          <a:xfrm xmlns:a="http://schemas.openxmlformats.org/drawingml/2006/main">
            <a:off x="685800" y="1737360"/>
            <a:ext cx="107899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400" b="0" i="0">
                <a:solidFill>
                  <a:srgbClr val="5A6377"/>
                </a:solidFill>
                <a:latin typeface="Calibri"/>
                <a:ea typeface="Calibri"/>
                <a:cs typeface="Calibri"/>
              </a:rPr>
              <a:t>Turn attention inward and distinguish seer from seen (drig-drishya-viveka). Whatever appears as an object—including body, thought, and ego—is not the ultimate subject.</a:t>
            </a:r>
          </a:p>
        </p:txBody>
      </p:sp>
      <p:sp>
        <p:nvSpPr>
          <p:cNvPr id="9" name="Rounded Rectangle 8">
            <a:extLst xmlns:a="http://schemas.openxmlformats.org/drawingml/2006/main">
              <a:ext uri="{FF2B5EF4-FFF2-40B4-BE49-F238E27FC236}">
                <a16:creationId xmlns:a16="http://schemas.microsoft.com/office/drawing/2014/main" id="{A1CEDB8F-4A24-4405-A3E0-3CFDE01B2D04}"/>
              </a:ext>
            </a:extLst>
          </p:cNvPr>
          <p:cNvSpPr>
            <a:spLocks xmlns:a="http://schemas.openxmlformats.org/drawingml/2006/main" noGrp="1"/>
          </p:cNvSpPr>
          <p:nvPr/>
        </p:nvSpPr>
        <p:spPr>
          <a:xfrm xmlns:a="http://schemas.openxmlformats.org/drawingml/2006/main">
            <a:off x="685800" y="2788920"/>
            <a:ext cx="5257800" cy="1965960"/>
          </a:xfrm>
          <a:prstGeom xmlns:a="http://schemas.openxmlformats.org/drawingml/2006/main" prst="roundRect">
            <a:avLst>
              <a:gd name="adj" fmla="val 6000"/>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Oval 9">
            <a:extLst xmlns:a="http://schemas.openxmlformats.org/drawingml/2006/main">
              <a:ext uri="{FF2B5EF4-FFF2-40B4-BE49-F238E27FC236}">
                <a16:creationId xmlns:a16="http://schemas.microsoft.com/office/drawing/2014/main" id="{AEF20DEC-4DA4-439F-A476-3C021E6C57C4}"/>
              </a:ext>
            </a:extLst>
          </p:cNvPr>
          <p:cNvSpPr>
            <a:spLocks xmlns:a="http://schemas.openxmlformats.org/drawingml/2006/main" noGrp="1"/>
          </p:cNvSpPr>
          <p:nvPr/>
        </p:nvSpPr>
        <p:spPr>
          <a:xfrm xmlns:a="http://schemas.openxmlformats.org/drawingml/2006/main">
            <a:off x="898855" y="2983687"/>
            <a:ext cx="378561" cy="378561"/>
          </a:xfrm>
          <a:prstGeom xmlns:a="http://schemas.openxmlformats.org/drawingml/2006/main" prst="ellipse">
            <a:avLst/>
          </a:prstGeom>
          <a:noFill xmlns:a="http://schemas.openxmlformats.org/drawingml/2006/main"/>
          <a:ln xmlns:a="http://schemas.openxmlformats.org/drawingml/2006/main" w="1828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Oval 10">
            <a:extLst xmlns:a="http://schemas.openxmlformats.org/drawingml/2006/main">
              <a:ext uri="{FF2B5EF4-FFF2-40B4-BE49-F238E27FC236}">
                <a16:creationId xmlns:a16="http://schemas.microsoft.com/office/drawing/2014/main" id="{81F2FA3D-94F3-470D-94BA-AE3B36AA76B8}"/>
              </a:ext>
            </a:extLst>
          </p:cNvPr>
          <p:cNvSpPr>
            <a:spLocks xmlns:a="http://schemas.openxmlformats.org/drawingml/2006/main" noGrp="1"/>
          </p:cNvSpPr>
          <p:nvPr/>
        </p:nvSpPr>
        <p:spPr>
          <a:xfrm xmlns:a="http://schemas.openxmlformats.org/drawingml/2006/main">
            <a:off x="977036" y="3061868"/>
            <a:ext cx="222199" cy="222199"/>
          </a:xfrm>
          <a:prstGeom xmlns:a="http://schemas.openxmlformats.org/drawingml/2006/main" prst="ellipse">
            <a:avLst/>
          </a:prstGeom>
          <a:noFill xmlns:a="http://schemas.openxmlformats.org/drawingml/2006/main"/>
          <a:ln xmlns:a="http://schemas.openxmlformats.org/drawingml/2006/main" w="16002">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Oval 11">
            <a:extLst xmlns:a="http://schemas.openxmlformats.org/drawingml/2006/main">
              <a:ext uri="{FF2B5EF4-FFF2-40B4-BE49-F238E27FC236}">
                <a16:creationId xmlns:a16="http://schemas.microsoft.com/office/drawing/2014/main" id="{2F4267A9-BE76-485F-8DF1-C0CD82B4D0AF}"/>
              </a:ext>
            </a:extLst>
          </p:cNvPr>
          <p:cNvSpPr>
            <a:spLocks xmlns:a="http://schemas.openxmlformats.org/drawingml/2006/main" noGrp="1"/>
          </p:cNvSpPr>
          <p:nvPr/>
        </p:nvSpPr>
        <p:spPr>
          <a:xfrm xmlns:a="http://schemas.openxmlformats.org/drawingml/2006/main">
            <a:off x="1038758" y="3123590"/>
            <a:ext cx="98755" cy="98755"/>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276F6B33-84FE-4CAA-8C1E-7F8A5EFB801E}"/>
              </a:ext>
            </a:extLst>
          </p:cNvPr>
          <p:cNvSpPr>
            <a:spLocks xmlns:a="http://schemas.openxmlformats.org/drawingml/2006/main" noGrp="1"/>
          </p:cNvSpPr>
          <p:nvPr/>
        </p:nvSpPr>
        <p:spPr>
          <a:xfrm xmlns:a="http://schemas.openxmlformats.org/drawingml/2006/main">
            <a:off x="1444752" y="2990088"/>
            <a:ext cx="431596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550" b="1" i="0">
                <a:solidFill>
                  <a:srgbClr val="1E2447"/>
                </a:solidFill>
                <a:latin typeface="Cambria"/>
                <a:ea typeface="Cambria"/>
                <a:cs typeface="Cambria"/>
              </a:rPr>
              <a:t>Witness, not content</a:t>
            </a:r>
          </a:p>
        </p:txBody>
      </p:sp>
      <p:sp>
        <p:nvSpPr>
          <p:cNvPr id="14" name="TextBox 13">
            <a:extLst xmlns:a="http://schemas.openxmlformats.org/drawingml/2006/main">
              <a:ext uri="{FF2B5EF4-FFF2-40B4-BE49-F238E27FC236}">
                <a16:creationId xmlns:a16="http://schemas.microsoft.com/office/drawing/2014/main" id="{CC4AE638-9BB9-4104-9673-7A02DBDDBA63}"/>
              </a:ext>
            </a:extLst>
          </p:cNvPr>
          <p:cNvSpPr>
            <a:spLocks xmlns:a="http://schemas.openxmlformats.org/drawingml/2006/main" noGrp="1"/>
          </p:cNvSpPr>
          <p:nvPr/>
        </p:nvSpPr>
        <p:spPr>
          <a:xfrm xmlns:a="http://schemas.openxmlformats.org/drawingml/2006/main">
            <a:off x="941832" y="3502152"/>
            <a:ext cx="4745736"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250" b="0" i="0">
                <a:solidFill>
                  <a:srgbClr val="5A6377"/>
                </a:solidFill>
                <a:latin typeface="Calibri"/>
                <a:ea typeface="Calibri"/>
                <a:cs typeface="Calibri"/>
              </a:rPr>
              <a:t>Advaita treats fulfilment, wanting, and ego as witnessed contents. It reads waking, dream, and deep sleep as pointing to continuing awareness; later recollection alone does not establish that claim.</a:t>
            </a:r>
          </a:p>
        </p:txBody>
      </p:sp>
      <p:sp>
        <p:nvSpPr>
          <p:cNvPr id="15" name="Rounded Rectangle 14">
            <a:extLst xmlns:a="http://schemas.openxmlformats.org/drawingml/2006/main">
              <a:ext uri="{FF2B5EF4-FFF2-40B4-BE49-F238E27FC236}">
                <a16:creationId xmlns:a16="http://schemas.microsoft.com/office/drawing/2014/main" id="{DE9A2F29-4E2A-4349-95D6-95303043615F}"/>
              </a:ext>
            </a:extLst>
          </p:cNvPr>
          <p:cNvSpPr>
            <a:spLocks xmlns:a="http://schemas.openxmlformats.org/drawingml/2006/main" noGrp="1"/>
          </p:cNvSpPr>
          <p:nvPr/>
        </p:nvSpPr>
        <p:spPr>
          <a:xfrm xmlns:a="http://schemas.openxmlformats.org/drawingml/2006/main">
            <a:off x="6172200" y="2788920"/>
            <a:ext cx="5330952" cy="1965960"/>
          </a:xfrm>
          <a:prstGeom xmlns:a="http://schemas.openxmlformats.org/drawingml/2006/main" prst="roundRect">
            <a:avLst>
              <a:gd name="adj" fmla="val 6000"/>
            </a:avLst>
          </a:prstGeom>
          <a:solidFill xmlns:a="http://schemas.openxmlformats.org/drawingml/2006/main">
            <a:srgbClr val="FAF1D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Oval 15">
            <a:extLst xmlns:a="http://schemas.openxmlformats.org/drawingml/2006/main">
              <a:ext uri="{FF2B5EF4-FFF2-40B4-BE49-F238E27FC236}">
                <a16:creationId xmlns:a16="http://schemas.microsoft.com/office/drawing/2014/main" id="{07C1773A-39F4-4D9E-9205-C2FAE83C5642}"/>
              </a:ext>
            </a:extLst>
          </p:cNvPr>
          <p:cNvSpPr>
            <a:spLocks xmlns:a="http://schemas.openxmlformats.org/drawingml/2006/main" noGrp="1"/>
          </p:cNvSpPr>
          <p:nvPr/>
        </p:nvSpPr>
        <p:spPr>
          <a:xfrm xmlns:a="http://schemas.openxmlformats.org/drawingml/2006/main">
            <a:off x="6385255" y="2983687"/>
            <a:ext cx="378561" cy="378561"/>
          </a:xfrm>
          <a:prstGeom xmlns:a="http://schemas.openxmlformats.org/drawingml/2006/main" prst="ellipse">
            <a:avLst/>
          </a:prstGeom>
          <a:noFill xmlns:a="http://schemas.openxmlformats.org/drawingml/2006/main"/>
          <a:ln xmlns:a="http://schemas.openxmlformats.org/drawingml/2006/main" w="1828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Oval 16">
            <a:extLst xmlns:a="http://schemas.openxmlformats.org/drawingml/2006/main">
              <a:ext uri="{FF2B5EF4-FFF2-40B4-BE49-F238E27FC236}">
                <a16:creationId xmlns:a16="http://schemas.microsoft.com/office/drawing/2014/main" id="{FDBA8256-5F8B-4930-9422-5470A644CB9D}"/>
              </a:ext>
            </a:extLst>
          </p:cNvPr>
          <p:cNvSpPr>
            <a:spLocks xmlns:a="http://schemas.openxmlformats.org/drawingml/2006/main" noGrp="1"/>
          </p:cNvSpPr>
          <p:nvPr/>
        </p:nvSpPr>
        <p:spPr>
          <a:xfrm xmlns:a="http://schemas.openxmlformats.org/drawingml/2006/main">
            <a:off x="6463436" y="3061868"/>
            <a:ext cx="222199" cy="222199"/>
          </a:xfrm>
          <a:prstGeom xmlns:a="http://schemas.openxmlformats.org/drawingml/2006/main" prst="ellipse">
            <a:avLst/>
          </a:prstGeom>
          <a:noFill xmlns:a="http://schemas.openxmlformats.org/drawingml/2006/main"/>
          <a:ln xmlns:a="http://schemas.openxmlformats.org/drawingml/2006/main" w="16002">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Oval 17">
            <a:extLst xmlns:a="http://schemas.openxmlformats.org/drawingml/2006/main">
              <a:ext uri="{FF2B5EF4-FFF2-40B4-BE49-F238E27FC236}">
                <a16:creationId xmlns:a16="http://schemas.microsoft.com/office/drawing/2014/main" id="{BECBDF23-DCC7-4DC4-A17B-EF23F85297D2}"/>
              </a:ext>
            </a:extLst>
          </p:cNvPr>
          <p:cNvSpPr>
            <a:spLocks xmlns:a="http://schemas.openxmlformats.org/drawingml/2006/main" noGrp="1"/>
          </p:cNvSpPr>
          <p:nvPr/>
        </p:nvSpPr>
        <p:spPr>
          <a:xfrm xmlns:a="http://schemas.openxmlformats.org/drawingml/2006/main">
            <a:off x="6525158" y="3123590"/>
            <a:ext cx="98755" cy="98755"/>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BDBBC098-48CE-48BB-9379-98FD6BDA779C}"/>
              </a:ext>
            </a:extLst>
          </p:cNvPr>
          <p:cNvSpPr>
            <a:spLocks xmlns:a="http://schemas.openxmlformats.org/drawingml/2006/main" noGrp="1"/>
          </p:cNvSpPr>
          <p:nvPr/>
        </p:nvSpPr>
        <p:spPr>
          <a:xfrm xmlns:a="http://schemas.openxmlformats.org/drawingml/2006/main">
            <a:off x="6931152" y="2990088"/>
            <a:ext cx="4389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550" b="1" i="0">
                <a:solidFill>
                  <a:srgbClr val="9A6414"/>
                </a:solidFill>
                <a:latin typeface="Cambria"/>
                <a:ea typeface="Cambria"/>
                <a:cs typeface="Cambria"/>
              </a:rPr>
              <a:t>Threefold discipline</a:t>
            </a:r>
          </a:p>
        </p:txBody>
      </p:sp>
      <p:sp>
        <p:nvSpPr>
          <p:cNvPr id="20" name="TextBox 19">
            <a:extLst xmlns:a="http://schemas.openxmlformats.org/drawingml/2006/main">
              <a:ext uri="{FF2B5EF4-FFF2-40B4-BE49-F238E27FC236}">
                <a16:creationId xmlns:a16="http://schemas.microsoft.com/office/drawing/2014/main" id="{81F7B4B8-F382-4DD7-9EB1-4037C791C659}"/>
              </a:ext>
            </a:extLst>
          </p:cNvPr>
          <p:cNvSpPr>
            <a:spLocks xmlns:a="http://schemas.openxmlformats.org/drawingml/2006/main" noGrp="1"/>
          </p:cNvSpPr>
          <p:nvPr/>
        </p:nvSpPr>
        <p:spPr>
          <a:xfrm xmlns:a="http://schemas.openxmlformats.org/drawingml/2006/main">
            <a:off x="6428232" y="3502152"/>
            <a:ext cx="4818888"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250" b="0" i="0">
                <a:solidFill>
                  <a:srgbClr val="5A6377"/>
                </a:solidFill>
                <a:latin typeface="Calibri"/>
                <a:ea typeface="Calibri"/>
                <a:cs typeface="Calibri"/>
              </a:rPr>
              <a:t>Hearing (shravana), reasoning (manana), and sustained meditation (nididhyasana) under a qualified teacher—not introspection alone—support the tradition’s conclusion.</a:t>
            </a:r>
          </a:p>
        </p:txBody>
      </p:sp>
      <p:sp>
        <p:nvSpPr>
          <p:cNvPr id="21" name="Rounded Rectangle 20">
            <a:extLst xmlns:a="http://schemas.openxmlformats.org/drawingml/2006/main">
              <a:ext uri="{FF2B5EF4-FFF2-40B4-BE49-F238E27FC236}">
                <a16:creationId xmlns:a16="http://schemas.microsoft.com/office/drawing/2014/main" id="{D42C4C64-0EB6-4FE2-A08E-F774C4561695}"/>
              </a:ext>
            </a:extLst>
          </p:cNvPr>
          <p:cNvSpPr>
            <a:spLocks xmlns:a="http://schemas.openxmlformats.org/drawingml/2006/main" noGrp="1"/>
          </p:cNvSpPr>
          <p:nvPr/>
        </p:nvSpPr>
        <p:spPr>
          <a:xfrm xmlns:a="http://schemas.openxmlformats.org/drawingml/2006/main">
            <a:off x="685800" y="5029200"/>
            <a:ext cx="10817352" cy="777240"/>
          </a:xfrm>
          <a:prstGeom xmlns:a="http://schemas.openxmlformats.org/drawingml/2006/main" prst="roundRect">
            <a:avLst>
              <a:gd name="adj" fmla="val 12000"/>
            </a:avLst>
          </a:prstGeom>
          <a:solidFill xmlns:a="http://schemas.openxmlformats.org/drawingml/2006/main">
            <a:srgbClr val="1E244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484C8CC8-7F57-4626-A32C-179D0E3601D3}"/>
              </a:ext>
            </a:extLst>
          </p:cNvPr>
          <p:cNvSpPr>
            <a:spLocks xmlns:a="http://schemas.openxmlformats.org/drawingml/2006/main" noGrp="1"/>
          </p:cNvSpPr>
          <p:nvPr/>
        </p:nvSpPr>
        <p:spPr>
          <a:xfrm xmlns:a="http://schemas.openxmlformats.org/drawingml/2006/main">
            <a:off x="1005840" y="5029200"/>
            <a:ext cx="1017727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lnSpc>
                <a:spcPct val="105000"/>
              </a:lnSpc>
              <a:spcBef>
                <a:spcPts val="0"/>
              </a:spcBef>
              <a:spcAft>
                <a:spcPts val="400"/>
              </a:spcAft>
              <a:buNone/>
            </a:pPr>
            <a:r>
              <a:rPr sz="1450" b="1" i="0">
                <a:solidFill>
                  <a:srgbClr val="FFFFFF"/>
                </a:solidFill>
                <a:latin typeface="Calibri"/>
                <a:ea typeface="Calibri"/>
                <a:cs typeface="Calibri"/>
              </a:rPr>
              <a:t>On this comparison, Advaita would question a separate enduring jeevan; MD affirms individual selves and a real plural world. Their uses of kosha are distinct.</a:t>
            </a:r>
          </a:p>
        </p:txBody>
      </p:sp>
      <p:sp>
        <p:nvSpPr>
          <p:cNvPr id="23" name="TextBox 22">
            <a:extLst xmlns:a="http://schemas.openxmlformats.org/drawingml/2006/main">
              <a:ext uri="{FF2B5EF4-FFF2-40B4-BE49-F238E27FC236}">
                <a16:creationId xmlns:a16="http://schemas.microsoft.com/office/drawing/2014/main" id="{8B7D5959-AD73-4C32-8BFE-E4F5A9D842C3}"/>
              </a:ext>
            </a:extLst>
          </p:cNvPr>
          <p:cNvSpPr>
            <a:spLocks xmlns:a="http://schemas.openxmlformats.org/drawingml/2006/main" noGrp="1"/>
          </p:cNvSpPr>
          <p:nvPr/>
        </p:nvSpPr>
        <p:spPr>
          <a:xfrm xmlns:a="http://schemas.openxmlformats.org/drawingml/2006/main">
            <a:off x="685800" y="6419088"/>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100" b="0" i="1">
                <a:solidFill>
                  <a:srgbClr val="5A6377"/>
                </a:solidFill>
                <a:latin typeface="Calibri"/>
                <a:ea typeface="Calibri"/>
                <a:cs typeface="Calibri"/>
              </a:rPr>
              <a:t>DDV vv. 1–5 · BU 2.3.6, 2.4.5 · MU vv. 3–7 · TU 2.1–2.5 · Study §3.2–3.4</a:t>
            </a:r>
          </a:p>
        </p:txBody>
      </p:sp>
    </p:spTree>
    <p:extLst>
      <p:ext uri="{BB962C8B-B14F-4D97-AF65-F5344CB8AC3E}">
        <p14:creationId xmlns:p14="http://schemas.microsoft.com/office/powerpoint/2010/main" val="19701948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06F16ECE-E3A7-491F-82FF-7D947E9A3E90}"/>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Oval 2">
            <a:extLst xmlns:a="http://schemas.openxmlformats.org/drawingml/2006/main">
              <a:ext uri="{FF2B5EF4-FFF2-40B4-BE49-F238E27FC236}">
                <a16:creationId xmlns:a16="http://schemas.microsoft.com/office/drawing/2014/main" id="{9DAB2A7A-B277-42BC-838E-CCA386C44EA0}"/>
              </a:ext>
            </a:extLst>
          </p:cNvPr>
          <p:cNvSpPr>
            <a:spLocks xmlns:a="http://schemas.openxmlformats.org/drawingml/2006/main" noGrp="1"/>
          </p:cNvSpPr>
          <p:nvPr/>
        </p:nvSpPr>
        <p:spPr>
          <a:xfrm xmlns:a="http://schemas.openxmlformats.org/drawingml/2006/main">
            <a:off x="654253" y="507949"/>
            <a:ext cx="483717" cy="483717"/>
          </a:xfrm>
          <a:prstGeom xmlns:a="http://schemas.openxmlformats.org/drawingml/2006/main" prst="ellipse">
            <a:avLst/>
          </a:prstGeom>
          <a:noFill xmlns:a="http://schemas.openxmlformats.org/drawingml/2006/main"/>
          <a:ln xmlns:a="http://schemas.openxmlformats.org/drawingml/2006/main" w="2336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Oval 3">
            <a:extLst xmlns:a="http://schemas.openxmlformats.org/drawingml/2006/main">
              <a:ext uri="{FF2B5EF4-FFF2-40B4-BE49-F238E27FC236}">
                <a16:creationId xmlns:a16="http://schemas.microsoft.com/office/drawing/2014/main" id="{7D62EFA6-6FA3-4541-AB3A-425752C31DF7}"/>
              </a:ext>
            </a:extLst>
          </p:cNvPr>
          <p:cNvSpPr>
            <a:spLocks xmlns:a="http://schemas.openxmlformats.org/drawingml/2006/main" noGrp="1"/>
          </p:cNvSpPr>
          <p:nvPr/>
        </p:nvSpPr>
        <p:spPr>
          <a:xfrm xmlns:a="http://schemas.openxmlformats.org/drawingml/2006/main">
            <a:off x="754151" y="607847"/>
            <a:ext cx="283921" cy="283921"/>
          </a:xfrm>
          <a:prstGeom xmlns:a="http://schemas.openxmlformats.org/drawingml/2006/main" prst="ellipse">
            <a:avLst/>
          </a:prstGeom>
          <a:noFill xmlns:a="http://schemas.openxmlformats.org/drawingml/2006/main"/>
          <a:ln xmlns:a="http://schemas.openxmlformats.org/drawingml/2006/main" w="20447">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Oval 4">
            <a:extLst xmlns:a="http://schemas.openxmlformats.org/drawingml/2006/main">
              <a:ext uri="{FF2B5EF4-FFF2-40B4-BE49-F238E27FC236}">
                <a16:creationId xmlns:a16="http://schemas.microsoft.com/office/drawing/2014/main" id="{CE3CEBC8-7FF1-472A-994D-796CB741B613}"/>
              </a:ext>
            </a:extLst>
          </p:cNvPr>
          <p:cNvSpPr>
            <a:spLocks xmlns:a="http://schemas.openxmlformats.org/drawingml/2006/main" noGrp="1"/>
          </p:cNvSpPr>
          <p:nvPr/>
        </p:nvSpPr>
        <p:spPr>
          <a:xfrm xmlns:a="http://schemas.openxmlformats.org/drawingml/2006/main">
            <a:off x="833018" y="686714"/>
            <a:ext cx="126187" cy="126187"/>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7F0B5478-9382-4A78-83F8-EB475CF8B927}"/>
              </a:ext>
            </a:extLst>
          </p:cNvPr>
          <p:cNvSpPr>
            <a:spLocks xmlns:a="http://schemas.openxmlformats.org/drawingml/2006/main" noGrp="1"/>
          </p:cNvSpPr>
          <p:nvPr/>
        </p:nvSpPr>
        <p:spPr>
          <a:xfrm xmlns:a="http://schemas.openxmlformats.org/drawingml/2006/main">
            <a:off x="1325880" y="457200"/>
            <a:ext cx="10424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200" b="1" i="0">
                <a:solidFill>
                  <a:srgbClr val="C9821E"/>
                </a:solidFill>
                <a:latin typeface="Calibri"/>
                <a:ea typeface="Calibri"/>
                <a:cs typeface="Calibri"/>
              </a:rPr>
              <a:t>MADHYASTH DARSHAN · THE ANSWER</a:t>
            </a:r>
          </a:p>
        </p:txBody>
      </p:sp>
      <p:sp>
        <p:nvSpPr>
          <p:cNvPr id="7" name="TextBox 6">
            <a:extLst xmlns:a="http://schemas.openxmlformats.org/drawingml/2006/main">
              <a:ext uri="{FF2B5EF4-FFF2-40B4-BE49-F238E27FC236}">
                <a16:creationId xmlns:a16="http://schemas.microsoft.com/office/drawing/2014/main" id="{6117689F-A2D2-4941-81FA-CCC3206F1943}"/>
              </a:ext>
            </a:extLst>
          </p:cNvPr>
          <p:cNvSpPr>
            <a:spLocks xmlns:a="http://schemas.openxmlformats.org/drawingml/2006/main" noGrp="1"/>
          </p:cNvSpPr>
          <p:nvPr/>
        </p:nvSpPr>
        <p:spPr>
          <a:xfrm xmlns:a="http://schemas.openxmlformats.org/drawingml/2006/main">
            <a:off x="1280160" y="676656"/>
            <a:ext cx="105156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3000" b="1" i="0">
                <a:solidFill>
                  <a:srgbClr val="1E2447"/>
                </a:solidFill>
                <a:latin typeface="Cambria"/>
                <a:ea typeface="Cambria"/>
                <a:cs typeface="Cambria"/>
              </a:rPr>
              <a:t>Body + Jeevan, in One Real World</a:t>
            </a:r>
          </a:p>
        </p:txBody>
      </p:sp>
      <p:sp>
        <p:nvSpPr>
          <p:cNvPr id="8" name="Rounded Rectangle 7">
            <a:extLst xmlns:a="http://schemas.openxmlformats.org/drawingml/2006/main">
              <a:ext uri="{FF2B5EF4-FFF2-40B4-BE49-F238E27FC236}">
                <a16:creationId xmlns:a16="http://schemas.microsoft.com/office/drawing/2014/main" id="{28C7CE0E-4B35-4575-AAD7-19D1C3F9EC9F}"/>
              </a:ext>
            </a:extLst>
          </p:cNvPr>
          <p:cNvSpPr>
            <a:spLocks xmlns:a="http://schemas.openxmlformats.org/drawingml/2006/main" noGrp="1"/>
          </p:cNvSpPr>
          <p:nvPr/>
        </p:nvSpPr>
        <p:spPr>
          <a:xfrm xmlns:a="http://schemas.openxmlformats.org/drawingml/2006/main">
            <a:off x="685800" y="1783080"/>
            <a:ext cx="5257800" cy="2011680"/>
          </a:xfrm>
          <a:prstGeom xmlns:a="http://schemas.openxmlformats.org/drawingml/2006/main" prst="roundRect">
            <a:avLst>
              <a:gd name="adj" fmla="val 6000"/>
            </a:avLst>
          </a:prstGeom>
          <a:solidFill xmlns:a="http://schemas.openxmlformats.org/drawingml/2006/main">
            <a:srgbClr val="FAF1D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Oval 8">
            <a:extLst xmlns:a="http://schemas.openxmlformats.org/drawingml/2006/main">
              <a:ext uri="{FF2B5EF4-FFF2-40B4-BE49-F238E27FC236}">
                <a16:creationId xmlns:a16="http://schemas.microsoft.com/office/drawing/2014/main" id="{9C5F4E12-4865-4AE7-B0CC-96242A438D06}"/>
              </a:ext>
            </a:extLst>
          </p:cNvPr>
          <p:cNvSpPr>
            <a:spLocks xmlns:a="http://schemas.openxmlformats.org/drawingml/2006/main" noGrp="1"/>
          </p:cNvSpPr>
          <p:nvPr/>
        </p:nvSpPr>
        <p:spPr>
          <a:xfrm xmlns:a="http://schemas.openxmlformats.org/drawingml/2006/main">
            <a:off x="898855" y="1977847"/>
            <a:ext cx="378561" cy="378561"/>
          </a:xfrm>
          <a:prstGeom xmlns:a="http://schemas.openxmlformats.org/drawingml/2006/main" prst="ellipse">
            <a:avLst/>
          </a:prstGeom>
          <a:noFill xmlns:a="http://schemas.openxmlformats.org/drawingml/2006/main"/>
          <a:ln xmlns:a="http://schemas.openxmlformats.org/drawingml/2006/main" w="1828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Oval 9">
            <a:extLst xmlns:a="http://schemas.openxmlformats.org/drawingml/2006/main">
              <a:ext uri="{FF2B5EF4-FFF2-40B4-BE49-F238E27FC236}">
                <a16:creationId xmlns:a16="http://schemas.microsoft.com/office/drawing/2014/main" id="{16863AB4-3AC7-4946-A05B-EA779DD814FE}"/>
              </a:ext>
            </a:extLst>
          </p:cNvPr>
          <p:cNvSpPr>
            <a:spLocks xmlns:a="http://schemas.openxmlformats.org/drawingml/2006/main" noGrp="1"/>
          </p:cNvSpPr>
          <p:nvPr/>
        </p:nvSpPr>
        <p:spPr>
          <a:xfrm xmlns:a="http://schemas.openxmlformats.org/drawingml/2006/main">
            <a:off x="977036" y="2056028"/>
            <a:ext cx="222199" cy="222199"/>
          </a:xfrm>
          <a:prstGeom xmlns:a="http://schemas.openxmlformats.org/drawingml/2006/main" prst="ellipse">
            <a:avLst/>
          </a:prstGeom>
          <a:noFill xmlns:a="http://schemas.openxmlformats.org/drawingml/2006/main"/>
          <a:ln xmlns:a="http://schemas.openxmlformats.org/drawingml/2006/main" w="16002">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Oval 10">
            <a:extLst xmlns:a="http://schemas.openxmlformats.org/drawingml/2006/main">
              <a:ext uri="{FF2B5EF4-FFF2-40B4-BE49-F238E27FC236}">
                <a16:creationId xmlns:a16="http://schemas.microsoft.com/office/drawing/2014/main" id="{3E4F50AB-E883-4DBD-B3D1-856683E9DA13}"/>
              </a:ext>
            </a:extLst>
          </p:cNvPr>
          <p:cNvSpPr>
            <a:spLocks xmlns:a="http://schemas.openxmlformats.org/drawingml/2006/main" noGrp="1"/>
          </p:cNvSpPr>
          <p:nvPr/>
        </p:nvSpPr>
        <p:spPr>
          <a:xfrm xmlns:a="http://schemas.openxmlformats.org/drawingml/2006/main">
            <a:off x="1038758" y="2117750"/>
            <a:ext cx="98755" cy="98755"/>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8428F27C-29D9-4E6B-A9AE-B9B654C072D8}"/>
              </a:ext>
            </a:extLst>
          </p:cNvPr>
          <p:cNvSpPr>
            <a:spLocks xmlns:a="http://schemas.openxmlformats.org/drawingml/2006/main" noGrp="1"/>
          </p:cNvSpPr>
          <p:nvPr/>
        </p:nvSpPr>
        <p:spPr>
          <a:xfrm xmlns:a="http://schemas.openxmlformats.org/drawingml/2006/main">
            <a:off x="1444752" y="1984248"/>
            <a:ext cx="431596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600" b="1" i="0">
                <a:solidFill>
                  <a:srgbClr val="9A6414"/>
                </a:solidFill>
                <a:latin typeface="Cambria"/>
                <a:ea typeface="Cambria"/>
                <a:cs typeface="Cambria"/>
              </a:rPr>
              <a:t>The answer</a:t>
            </a:r>
          </a:p>
        </p:txBody>
      </p:sp>
      <p:sp>
        <p:nvSpPr>
          <p:cNvPr id="13" name="TextBox 12">
            <a:extLst xmlns:a="http://schemas.openxmlformats.org/drawingml/2006/main">
              <a:ext uri="{FF2B5EF4-FFF2-40B4-BE49-F238E27FC236}">
                <a16:creationId xmlns:a16="http://schemas.microsoft.com/office/drawing/2014/main" id="{948A633E-9D02-4A44-9638-BF50C3F07A34}"/>
              </a:ext>
            </a:extLst>
          </p:cNvPr>
          <p:cNvSpPr>
            <a:spLocks xmlns:a="http://schemas.openxmlformats.org/drawingml/2006/main" noGrp="1"/>
          </p:cNvSpPr>
          <p:nvPr/>
        </p:nvSpPr>
        <p:spPr>
          <a:xfrm xmlns:a="http://schemas.openxmlformats.org/drawingml/2006/main">
            <a:off x="941832" y="2496312"/>
            <a:ext cx="4745736"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350" b="0" i="0">
                <a:solidFill>
                  <a:srgbClr val="5A6377"/>
                </a:solidFill>
                <a:latin typeface="Calibri"/>
                <a:ea typeface="Calibri"/>
                <a:cs typeface="Calibri"/>
              </a:rPr>
              <a:t>A human is the temporary joint form of a material body and jeevan, a sentient atom. Both are real units: anti-reductionist, but not Cartesian substance dualism.</a:t>
            </a:r>
          </a:p>
        </p:txBody>
      </p:sp>
      <p:sp>
        <p:nvSpPr>
          <p:cNvPr id="14" name="Rounded Rectangle 13">
            <a:extLst xmlns:a="http://schemas.openxmlformats.org/drawingml/2006/main">
              <a:ext uri="{FF2B5EF4-FFF2-40B4-BE49-F238E27FC236}">
                <a16:creationId xmlns:a16="http://schemas.microsoft.com/office/drawing/2014/main" id="{16527CAB-6CA6-45C1-9750-68F0531DB15E}"/>
              </a:ext>
            </a:extLst>
          </p:cNvPr>
          <p:cNvSpPr>
            <a:spLocks xmlns:a="http://schemas.openxmlformats.org/drawingml/2006/main" noGrp="1"/>
          </p:cNvSpPr>
          <p:nvPr/>
        </p:nvSpPr>
        <p:spPr>
          <a:xfrm xmlns:a="http://schemas.openxmlformats.org/drawingml/2006/main">
            <a:off x="6172200" y="1783080"/>
            <a:ext cx="5330952" cy="2011680"/>
          </a:xfrm>
          <a:prstGeom xmlns:a="http://schemas.openxmlformats.org/drawingml/2006/main" prst="roundRect">
            <a:avLst>
              <a:gd name="adj" fmla="val 6000"/>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Oval 14">
            <a:extLst xmlns:a="http://schemas.openxmlformats.org/drawingml/2006/main">
              <a:ext uri="{FF2B5EF4-FFF2-40B4-BE49-F238E27FC236}">
                <a16:creationId xmlns:a16="http://schemas.microsoft.com/office/drawing/2014/main" id="{E075FF1C-A55B-40C1-9252-CBED067128B6}"/>
              </a:ext>
            </a:extLst>
          </p:cNvPr>
          <p:cNvSpPr>
            <a:spLocks xmlns:a="http://schemas.openxmlformats.org/drawingml/2006/main" noGrp="1"/>
          </p:cNvSpPr>
          <p:nvPr/>
        </p:nvSpPr>
        <p:spPr>
          <a:xfrm xmlns:a="http://schemas.openxmlformats.org/drawingml/2006/main">
            <a:off x="6385255" y="1977847"/>
            <a:ext cx="378561" cy="378561"/>
          </a:xfrm>
          <a:prstGeom xmlns:a="http://schemas.openxmlformats.org/drawingml/2006/main" prst="ellipse">
            <a:avLst/>
          </a:prstGeom>
          <a:noFill xmlns:a="http://schemas.openxmlformats.org/drawingml/2006/main"/>
          <a:ln xmlns:a="http://schemas.openxmlformats.org/drawingml/2006/main" w="1828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Oval 15">
            <a:extLst xmlns:a="http://schemas.openxmlformats.org/drawingml/2006/main">
              <a:ext uri="{FF2B5EF4-FFF2-40B4-BE49-F238E27FC236}">
                <a16:creationId xmlns:a16="http://schemas.microsoft.com/office/drawing/2014/main" id="{C78B5EDA-3066-4280-9A0F-F5C6AF275015}"/>
              </a:ext>
            </a:extLst>
          </p:cNvPr>
          <p:cNvSpPr>
            <a:spLocks xmlns:a="http://schemas.openxmlformats.org/drawingml/2006/main" noGrp="1"/>
          </p:cNvSpPr>
          <p:nvPr/>
        </p:nvSpPr>
        <p:spPr>
          <a:xfrm xmlns:a="http://schemas.openxmlformats.org/drawingml/2006/main">
            <a:off x="6463436" y="2056028"/>
            <a:ext cx="222199" cy="222199"/>
          </a:xfrm>
          <a:prstGeom xmlns:a="http://schemas.openxmlformats.org/drawingml/2006/main" prst="ellipse">
            <a:avLst/>
          </a:prstGeom>
          <a:noFill xmlns:a="http://schemas.openxmlformats.org/drawingml/2006/main"/>
          <a:ln xmlns:a="http://schemas.openxmlformats.org/drawingml/2006/main" w="16002">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Oval 16">
            <a:extLst xmlns:a="http://schemas.openxmlformats.org/drawingml/2006/main">
              <a:ext uri="{FF2B5EF4-FFF2-40B4-BE49-F238E27FC236}">
                <a16:creationId xmlns:a16="http://schemas.microsoft.com/office/drawing/2014/main" id="{A1124CF0-0F07-4344-9E30-89CAC529A604}"/>
              </a:ext>
            </a:extLst>
          </p:cNvPr>
          <p:cNvSpPr>
            <a:spLocks xmlns:a="http://schemas.openxmlformats.org/drawingml/2006/main" noGrp="1"/>
          </p:cNvSpPr>
          <p:nvPr/>
        </p:nvSpPr>
        <p:spPr>
          <a:xfrm xmlns:a="http://schemas.openxmlformats.org/drawingml/2006/main">
            <a:off x="6525158" y="2117750"/>
            <a:ext cx="98755" cy="98755"/>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648232A2-7B34-49C0-8EAE-CFF327B15736}"/>
              </a:ext>
            </a:extLst>
          </p:cNvPr>
          <p:cNvSpPr>
            <a:spLocks xmlns:a="http://schemas.openxmlformats.org/drawingml/2006/main" noGrp="1"/>
          </p:cNvSpPr>
          <p:nvPr/>
        </p:nvSpPr>
        <p:spPr>
          <a:xfrm xmlns:a="http://schemas.openxmlformats.org/drawingml/2006/main">
            <a:off x="6931152" y="1984248"/>
            <a:ext cx="4389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600" b="1" i="0">
                <a:solidFill>
                  <a:srgbClr val="1E2447"/>
                </a:solidFill>
                <a:latin typeface="Cambria"/>
                <a:ea typeface="Cambria"/>
                <a:cs typeface="Cambria"/>
              </a:rPr>
              <a:t>The knower and its conduct</a:t>
            </a:r>
          </a:p>
        </p:txBody>
      </p:sp>
      <p:sp>
        <p:nvSpPr>
          <p:cNvPr id="19" name="TextBox 18">
            <a:extLst xmlns:a="http://schemas.openxmlformats.org/drawingml/2006/main">
              <a:ext uri="{FF2B5EF4-FFF2-40B4-BE49-F238E27FC236}">
                <a16:creationId xmlns:a16="http://schemas.microsoft.com/office/drawing/2014/main" id="{6FFDEC66-6477-4B8B-B9ED-6A5D5A3F0CCE}"/>
              </a:ext>
            </a:extLst>
          </p:cNvPr>
          <p:cNvSpPr>
            <a:spLocks xmlns:a="http://schemas.openxmlformats.org/drawingml/2006/main" noGrp="1"/>
          </p:cNvSpPr>
          <p:nvPr/>
        </p:nvSpPr>
        <p:spPr>
          <a:xfrm xmlns:a="http://schemas.openxmlformats.org/drawingml/2006/main">
            <a:off x="6428232" y="2496312"/>
            <a:ext cx="4818888"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350" b="0" i="0">
                <a:solidFill>
                  <a:srgbClr val="5A6377"/>
                </a:solidFill>
                <a:latin typeface="Calibri"/>
                <a:ea typeface="Calibri"/>
                <a:cs typeface="Calibri"/>
              </a:rPr>
              <a:t>The body provides the organs and neural medium. Jeevan bears experience and evaluation. Through awakening, it understands coexistence and guides conduct through that understanding.</a:t>
            </a:r>
          </a:p>
        </p:txBody>
      </p:sp>
      <p:sp>
        <p:nvSpPr>
          <p:cNvPr id="20" name="Rounded Rectangle 19">
            <a:extLst xmlns:a="http://schemas.openxmlformats.org/drawingml/2006/main">
              <a:ext uri="{FF2B5EF4-FFF2-40B4-BE49-F238E27FC236}">
                <a16:creationId xmlns:a16="http://schemas.microsoft.com/office/drawing/2014/main" id="{B707F45E-6744-4434-965E-1441E678D0B0}"/>
              </a:ext>
            </a:extLst>
          </p:cNvPr>
          <p:cNvSpPr>
            <a:spLocks xmlns:a="http://schemas.openxmlformats.org/drawingml/2006/main" noGrp="1"/>
          </p:cNvSpPr>
          <p:nvPr/>
        </p:nvSpPr>
        <p:spPr>
          <a:xfrm xmlns:a="http://schemas.openxmlformats.org/drawingml/2006/main">
            <a:off x="685800" y="4069080"/>
            <a:ext cx="10817352" cy="1234440"/>
          </a:xfrm>
          <a:prstGeom xmlns:a="http://schemas.openxmlformats.org/drawingml/2006/main" prst="roundRect">
            <a:avLst>
              <a:gd name="adj" fmla="val 8000"/>
            </a:avLst>
          </a:prstGeom>
          <a:solidFill xmlns:a="http://schemas.openxmlformats.org/drawingml/2006/main">
            <a:srgbClr val="1E244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128A42C9-AFF2-4D9F-9C33-1A414BF71F29}"/>
              </a:ext>
            </a:extLst>
          </p:cNvPr>
          <p:cNvSpPr>
            <a:spLocks xmlns:a="http://schemas.openxmlformats.org/drawingml/2006/main" noGrp="1"/>
          </p:cNvSpPr>
          <p:nvPr/>
        </p:nvSpPr>
        <p:spPr>
          <a:xfrm xmlns:a="http://schemas.openxmlformats.org/drawingml/2006/main">
            <a:off x="1051560" y="4224528"/>
            <a:ext cx="101498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lnSpc>
                <a:spcPct val="108000"/>
              </a:lnSpc>
              <a:spcBef>
                <a:spcPts val="0"/>
              </a:spcBef>
              <a:spcAft>
                <a:spcPts val="400"/>
              </a:spcAft>
              <a:buNone/>
            </a:pPr>
            <a:r>
              <a:rPr sz="1500" b="0" i="1">
                <a:solidFill>
                  <a:srgbClr val="FFFFFF"/>
                </a:solidFill>
                <a:latin typeface="Calibri"/>
                <a:ea typeface="Calibri"/>
                <a:cs typeface="Calibri"/>
              </a:rPr>
              <a:t>“Existence is not just physicochemical matter, but all physical, chemical and </a:t>
            </a:r>
            <a:r>
              <a:rPr sz="1500" b="0" i="1">
                <a:solidFill>
                  <a:srgbClr val="C9D4EF"/>
                </a:solidFill>
                <a:latin typeface="Calibri"/>
                <a:ea typeface="Calibri"/>
                <a:cs typeface="Calibri"/>
              </a:rPr>
              <a:t>jeevan</a:t>
            </a:r>
            <a:r>
              <a:rPr sz="1500" b="0" i="1">
                <a:solidFill>
                  <a:srgbClr val="FFFFFF"/>
                </a:solidFill>
                <a:latin typeface="Calibri"/>
                <a:ea typeface="Calibri"/>
                <a:cs typeface="Calibri"/>
              </a:rPr>
              <a:t> entities are inseparably present in Omnipresence.”</a:t>
            </a:r>
          </a:p>
          <a:p xmlns:a="http://schemas.openxmlformats.org/drawingml/2006/main">
            <a:pPr algn="l">
              <a:lnSpc>
                <a:spcPct val="108000"/>
              </a:lnSpc>
              <a:spcBef>
                <a:spcPts val="0"/>
              </a:spcBef>
              <a:spcAft>
                <a:spcPts val="400"/>
              </a:spcAft>
              <a:buNone/>
            </a:pPr>
            <a:r>
              <a:rPr sz="1200" b="1" i="0">
                <a:solidFill>
                  <a:srgbClr val="C9D4EF"/>
                </a:solidFill>
                <a:latin typeface="Calibri"/>
                <a:ea typeface="Calibri"/>
                <a:cs typeface="Calibri"/>
              </a:rPr>
              <a:t>— MVD, The Alternative, point 7</a:t>
            </a:r>
          </a:p>
        </p:txBody>
      </p:sp>
      <p:sp>
        <p:nvSpPr>
          <p:cNvPr id="22" name="Rounded Rectangle 21">
            <a:extLst xmlns:a="http://schemas.openxmlformats.org/drawingml/2006/main">
              <a:ext uri="{FF2B5EF4-FFF2-40B4-BE49-F238E27FC236}">
                <a16:creationId xmlns:a16="http://schemas.microsoft.com/office/drawing/2014/main" id="{D80EE720-11AC-47FB-A469-5691C2C00834}"/>
              </a:ext>
            </a:extLst>
          </p:cNvPr>
          <p:cNvSpPr>
            <a:spLocks xmlns:a="http://schemas.openxmlformats.org/drawingml/2006/main" noGrp="1"/>
          </p:cNvSpPr>
          <p:nvPr/>
        </p:nvSpPr>
        <p:spPr>
          <a:xfrm xmlns:a="http://schemas.openxmlformats.org/drawingml/2006/main">
            <a:off x="685800" y="5532120"/>
            <a:ext cx="10817352" cy="713232"/>
          </a:xfrm>
          <a:prstGeom xmlns:a="http://schemas.openxmlformats.org/drawingml/2006/main" prst="roundRect">
            <a:avLst>
              <a:gd name="adj" fmla="val 12000"/>
            </a:avLst>
          </a:prstGeom>
          <a:solidFill xmlns:a="http://schemas.openxmlformats.org/drawingml/2006/main">
            <a:srgbClr val="FAF1D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168F42BB-0D8F-47BE-BFCE-8987C947E730}"/>
              </a:ext>
            </a:extLst>
          </p:cNvPr>
          <p:cNvSpPr>
            <a:spLocks xmlns:a="http://schemas.openxmlformats.org/drawingml/2006/main" noGrp="1"/>
          </p:cNvSpPr>
          <p:nvPr/>
        </p:nvSpPr>
        <p:spPr>
          <a:xfrm xmlns:a="http://schemas.openxmlformats.org/drawingml/2006/main">
            <a:off x="1005840" y="5532120"/>
            <a:ext cx="10177272"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lnSpc>
                <a:spcPct val="105000"/>
              </a:lnSpc>
              <a:spcBef>
                <a:spcPts val="0"/>
              </a:spcBef>
              <a:spcAft>
                <a:spcPts val="400"/>
              </a:spcAft>
              <a:buNone/>
            </a:pPr>
            <a:r>
              <a:rPr sz="1450" b="1" i="0">
                <a:solidFill>
                  <a:srgbClr val="9A6414"/>
                </a:solidFill>
                <a:latin typeface="Calibri"/>
                <a:ea typeface="Calibri"/>
                <a:cs typeface="Calibri"/>
              </a:rPr>
              <a:t>Constitutional completion concerns the emergence of sentience. Awakening concerns how jeevan understands and fulfils its relationships.</a:t>
            </a:r>
          </a:p>
        </p:txBody>
      </p:sp>
      <p:sp>
        <p:nvSpPr>
          <p:cNvPr id="24" name="TextBox 23">
            <a:extLst xmlns:a="http://schemas.openxmlformats.org/drawingml/2006/main">
              <a:ext uri="{FF2B5EF4-FFF2-40B4-BE49-F238E27FC236}">
                <a16:creationId xmlns:a16="http://schemas.microsoft.com/office/drawing/2014/main" id="{F8E42AA9-ABD0-41D3-B97D-19A69F45EA70}"/>
              </a:ext>
            </a:extLst>
          </p:cNvPr>
          <p:cNvSpPr>
            <a:spLocks xmlns:a="http://schemas.openxmlformats.org/drawingml/2006/main" noGrp="1"/>
          </p:cNvSpPr>
          <p:nvPr/>
        </p:nvSpPr>
        <p:spPr>
          <a:xfrm xmlns:a="http://schemas.openxmlformats.org/drawingml/2006/main">
            <a:off x="685800" y="6419088"/>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100" b="0" i="1">
                <a:solidFill>
                  <a:srgbClr val="5A6377"/>
                </a:solidFill>
                <a:latin typeface="Calibri"/>
                <a:ea typeface="Calibri"/>
                <a:cs typeface="Calibri"/>
              </a:rPr>
              <a:t>Study §1.1 · §1.3 · §5.1</a:t>
            </a:r>
          </a:p>
        </p:txBody>
      </p:sp>
    </p:spTree>
    <p:extLst>
      <p:ext uri="{BB962C8B-B14F-4D97-AF65-F5344CB8AC3E}">
        <p14:creationId xmlns:p14="http://schemas.microsoft.com/office/powerpoint/2010/main" val="12221146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024E3BA-0C94-4C16-8120-44D53A1F6D9D}"/>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Oval 2">
            <a:extLst xmlns:a="http://schemas.openxmlformats.org/drawingml/2006/main">
              <a:ext uri="{FF2B5EF4-FFF2-40B4-BE49-F238E27FC236}">
                <a16:creationId xmlns:a16="http://schemas.microsoft.com/office/drawing/2014/main" id="{D70837D8-8721-4528-92DB-930CB444F4FF}"/>
              </a:ext>
            </a:extLst>
          </p:cNvPr>
          <p:cNvSpPr>
            <a:spLocks xmlns:a="http://schemas.openxmlformats.org/drawingml/2006/main" noGrp="1"/>
          </p:cNvSpPr>
          <p:nvPr/>
        </p:nvSpPr>
        <p:spPr>
          <a:xfrm xmlns:a="http://schemas.openxmlformats.org/drawingml/2006/main">
            <a:off x="654253" y="507949"/>
            <a:ext cx="483717" cy="483717"/>
          </a:xfrm>
          <a:prstGeom xmlns:a="http://schemas.openxmlformats.org/drawingml/2006/main" prst="ellipse">
            <a:avLst/>
          </a:prstGeom>
          <a:noFill xmlns:a="http://schemas.openxmlformats.org/drawingml/2006/main"/>
          <a:ln xmlns:a="http://schemas.openxmlformats.org/drawingml/2006/main" w="2336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Oval 3">
            <a:extLst xmlns:a="http://schemas.openxmlformats.org/drawingml/2006/main">
              <a:ext uri="{FF2B5EF4-FFF2-40B4-BE49-F238E27FC236}">
                <a16:creationId xmlns:a16="http://schemas.microsoft.com/office/drawing/2014/main" id="{61201C69-D20B-4011-BE3C-186861A54436}"/>
              </a:ext>
            </a:extLst>
          </p:cNvPr>
          <p:cNvSpPr>
            <a:spLocks xmlns:a="http://schemas.openxmlformats.org/drawingml/2006/main" noGrp="1"/>
          </p:cNvSpPr>
          <p:nvPr/>
        </p:nvSpPr>
        <p:spPr>
          <a:xfrm xmlns:a="http://schemas.openxmlformats.org/drawingml/2006/main">
            <a:off x="754151" y="607847"/>
            <a:ext cx="283921" cy="283921"/>
          </a:xfrm>
          <a:prstGeom xmlns:a="http://schemas.openxmlformats.org/drawingml/2006/main" prst="ellipse">
            <a:avLst/>
          </a:prstGeom>
          <a:noFill xmlns:a="http://schemas.openxmlformats.org/drawingml/2006/main"/>
          <a:ln xmlns:a="http://schemas.openxmlformats.org/drawingml/2006/main" w="20447">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Oval 4">
            <a:extLst xmlns:a="http://schemas.openxmlformats.org/drawingml/2006/main">
              <a:ext uri="{FF2B5EF4-FFF2-40B4-BE49-F238E27FC236}">
                <a16:creationId xmlns:a16="http://schemas.microsoft.com/office/drawing/2014/main" id="{C6E7EB76-70BA-4318-BE2C-1D554EF48EF2}"/>
              </a:ext>
            </a:extLst>
          </p:cNvPr>
          <p:cNvSpPr>
            <a:spLocks xmlns:a="http://schemas.openxmlformats.org/drawingml/2006/main" noGrp="1"/>
          </p:cNvSpPr>
          <p:nvPr/>
        </p:nvSpPr>
        <p:spPr>
          <a:xfrm xmlns:a="http://schemas.openxmlformats.org/drawingml/2006/main">
            <a:off x="833018" y="686714"/>
            <a:ext cx="126187" cy="126187"/>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51048704-FE2E-401B-A1C9-351A2B889305}"/>
              </a:ext>
            </a:extLst>
          </p:cNvPr>
          <p:cNvSpPr>
            <a:spLocks xmlns:a="http://schemas.openxmlformats.org/drawingml/2006/main" noGrp="1"/>
          </p:cNvSpPr>
          <p:nvPr/>
        </p:nvSpPr>
        <p:spPr>
          <a:xfrm xmlns:a="http://schemas.openxmlformats.org/drawingml/2006/main">
            <a:off x="1325880" y="457200"/>
            <a:ext cx="10424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200" b="1" i="0">
                <a:solidFill>
                  <a:srgbClr val="C9821E"/>
                </a:solidFill>
                <a:latin typeface="Calibri"/>
                <a:ea typeface="Calibri"/>
                <a:cs typeface="Calibri"/>
              </a:rPr>
              <a:t>MADHYASTH DARSHAN · ONTOLOGY</a:t>
            </a:r>
          </a:p>
        </p:txBody>
      </p:sp>
      <p:sp>
        <p:nvSpPr>
          <p:cNvPr id="7" name="TextBox 6">
            <a:extLst xmlns:a="http://schemas.openxmlformats.org/drawingml/2006/main">
              <a:ext uri="{FF2B5EF4-FFF2-40B4-BE49-F238E27FC236}">
                <a16:creationId xmlns:a16="http://schemas.microsoft.com/office/drawing/2014/main" id="{D5541B66-90A1-419F-9CE2-E3D76B7AFB6A}"/>
              </a:ext>
            </a:extLst>
          </p:cNvPr>
          <p:cNvSpPr>
            <a:spLocks xmlns:a="http://schemas.openxmlformats.org/drawingml/2006/main" noGrp="1"/>
          </p:cNvSpPr>
          <p:nvPr/>
        </p:nvSpPr>
        <p:spPr>
          <a:xfrm xmlns:a="http://schemas.openxmlformats.org/drawingml/2006/main">
            <a:off x="1280160" y="676656"/>
            <a:ext cx="105156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3000" b="1" i="0">
                <a:solidFill>
                  <a:srgbClr val="1E2447"/>
                </a:solidFill>
                <a:latin typeface="Cambria"/>
                <a:ea typeface="Cambria"/>
                <a:cs typeface="Cambria"/>
              </a:rPr>
              <a:t>Four Orders of Nature</a:t>
            </a:r>
          </a:p>
        </p:txBody>
      </p:sp>
      <p:sp>
        <p:nvSpPr>
          <p:cNvPr id="8" name="TextBox 7">
            <a:extLst xmlns:a="http://schemas.openxmlformats.org/drawingml/2006/main">
              <a:ext uri="{FF2B5EF4-FFF2-40B4-BE49-F238E27FC236}">
                <a16:creationId xmlns:a16="http://schemas.microsoft.com/office/drawing/2014/main" id="{593B613B-F4DB-480B-A838-B018BEED0289}"/>
              </a:ext>
            </a:extLst>
          </p:cNvPr>
          <p:cNvSpPr>
            <a:spLocks xmlns:a="http://schemas.openxmlformats.org/drawingml/2006/main" noGrp="1"/>
          </p:cNvSpPr>
          <p:nvPr/>
        </p:nvSpPr>
        <p:spPr>
          <a:xfrm xmlns:a="http://schemas.openxmlformats.org/drawingml/2006/main">
            <a:off x="685800" y="1737360"/>
            <a:ext cx="107899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10000"/>
              </a:lnSpc>
              <a:spcBef>
                <a:spcPts val="0"/>
              </a:spcBef>
              <a:spcAft>
                <a:spcPts val="400"/>
              </a:spcAft>
              <a:buNone/>
            </a:pPr>
            <a:r>
              <a:rPr sz="1450" b="0" i="0">
                <a:solidFill>
                  <a:srgbClr val="5A6377"/>
                </a:solidFill>
                <a:latin typeface="Calibri"/>
                <a:ea typeface="Calibri"/>
                <a:cs typeface="Calibri"/>
              </a:rPr>
              <a:t>MD distinguishes four orders by their organisation, activity, and conduct. Animal and knowledge orders are joint forms of body and jeevan; they are not four substances nested inside one another.</a:t>
            </a:r>
          </a:p>
        </p:txBody>
      </p:sp>
      <p:sp>
        <p:nvSpPr>
          <p:cNvPr id="9" name="Rounded Rectangle 8">
            <a:extLst xmlns:a="http://schemas.openxmlformats.org/drawingml/2006/main">
              <a:ext uri="{FF2B5EF4-FFF2-40B4-BE49-F238E27FC236}">
                <a16:creationId xmlns:a16="http://schemas.microsoft.com/office/drawing/2014/main" id="{167EFB98-5802-454E-9206-C115E0AC96BD}"/>
              </a:ext>
            </a:extLst>
          </p:cNvPr>
          <p:cNvSpPr>
            <a:spLocks xmlns:a="http://schemas.openxmlformats.org/drawingml/2006/main" noGrp="1"/>
          </p:cNvSpPr>
          <p:nvPr/>
        </p:nvSpPr>
        <p:spPr>
          <a:xfrm xmlns:a="http://schemas.openxmlformats.org/drawingml/2006/main">
            <a:off x="685800" y="2468880"/>
            <a:ext cx="2615184" cy="2468880"/>
          </a:xfrm>
          <a:prstGeom xmlns:a="http://schemas.openxmlformats.org/drawingml/2006/main" prst="roundRect">
            <a:avLst>
              <a:gd name="adj" fmla="val 6000"/>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BD916C0D-CC47-4BF7-B1E9-DF74E72976C6}"/>
              </a:ext>
            </a:extLst>
          </p:cNvPr>
          <p:cNvSpPr>
            <a:spLocks xmlns:a="http://schemas.openxmlformats.org/drawingml/2006/main" noGrp="1"/>
          </p:cNvSpPr>
          <p:nvPr/>
        </p:nvSpPr>
        <p:spPr>
          <a:xfrm xmlns:a="http://schemas.openxmlformats.org/drawingml/2006/main">
            <a:off x="886968" y="2651760"/>
            <a:ext cx="2212848"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0000"/>
              </a:lnSpc>
              <a:spcBef>
                <a:spcPts val="0"/>
              </a:spcBef>
              <a:spcAft>
                <a:spcPts val="400"/>
              </a:spcAft>
              <a:buNone/>
            </a:pPr>
            <a:r>
              <a:rPr sz="1550" b="1" i="0">
                <a:solidFill>
                  <a:srgbClr val="1E2447"/>
                </a:solidFill>
                <a:latin typeface="Cambria"/>
                <a:ea typeface="Cambria"/>
                <a:cs typeface="Cambria"/>
              </a:rPr>
              <a:t>Material</a:t>
            </a:r>
          </a:p>
        </p:txBody>
      </p:sp>
      <p:sp>
        <p:nvSpPr>
          <p:cNvPr id="11" name="TextBox 10">
            <a:extLst xmlns:a="http://schemas.openxmlformats.org/drawingml/2006/main">
              <a:ext uri="{FF2B5EF4-FFF2-40B4-BE49-F238E27FC236}">
                <a16:creationId xmlns:a16="http://schemas.microsoft.com/office/drawing/2014/main" id="{3FCA6C15-F19F-4091-A436-FD7982E7DFC5}"/>
              </a:ext>
            </a:extLst>
          </p:cNvPr>
          <p:cNvSpPr>
            <a:spLocks xmlns:a="http://schemas.openxmlformats.org/drawingml/2006/main" noGrp="1"/>
          </p:cNvSpPr>
          <p:nvPr/>
        </p:nvSpPr>
        <p:spPr>
          <a:xfrm xmlns:a="http://schemas.openxmlformats.org/drawingml/2006/main">
            <a:off x="886968" y="3429000"/>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250" b="0" i="0">
                <a:solidFill>
                  <a:srgbClr val="5A6377"/>
                </a:solidFill>
                <a:latin typeface="Calibri"/>
                <a:ea typeface="Calibri"/>
                <a:cs typeface="Calibri"/>
              </a:rPr>
              <a:t>composes, decomposes</a:t>
            </a:r>
          </a:p>
        </p:txBody>
      </p:sp>
      <p:sp>
        <p:nvSpPr>
          <p:cNvPr id="12" name="TextBox 11">
            <a:extLst xmlns:a="http://schemas.openxmlformats.org/drawingml/2006/main">
              <a:ext uri="{FF2B5EF4-FFF2-40B4-BE49-F238E27FC236}">
                <a16:creationId xmlns:a16="http://schemas.microsoft.com/office/drawing/2014/main" id="{EC68CB1F-8C57-49EC-858D-B9799E3ECA14}"/>
              </a:ext>
            </a:extLst>
          </p:cNvPr>
          <p:cNvSpPr>
            <a:spLocks xmlns:a="http://schemas.openxmlformats.org/drawingml/2006/main" noGrp="1"/>
          </p:cNvSpPr>
          <p:nvPr/>
        </p:nvSpPr>
        <p:spPr>
          <a:xfrm xmlns:a="http://schemas.openxmlformats.org/drawingml/2006/main">
            <a:off x="886968" y="4434840"/>
            <a:ext cx="22128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0000"/>
              </a:lnSpc>
              <a:spcBef>
                <a:spcPts val="0"/>
              </a:spcBef>
              <a:spcAft>
                <a:spcPts val="400"/>
              </a:spcAft>
              <a:buNone/>
            </a:pPr>
            <a:r>
              <a:rPr sz="1150" b="0" i="1">
                <a:solidFill>
                  <a:srgbClr val="1E2447"/>
                </a:solidFill>
                <a:latin typeface="Calibri"/>
                <a:ea typeface="Calibri"/>
                <a:cs typeface="Calibri"/>
              </a:rPr>
              <a:t>Soil, water, metals, and other material formations.</a:t>
            </a:r>
          </a:p>
        </p:txBody>
      </p:sp>
      <p:sp>
        <p:nvSpPr>
          <p:cNvPr id="13" name="Rounded Rectangle 12">
            <a:extLst xmlns:a="http://schemas.openxmlformats.org/drawingml/2006/main">
              <a:ext uri="{FF2B5EF4-FFF2-40B4-BE49-F238E27FC236}">
                <a16:creationId xmlns:a16="http://schemas.microsoft.com/office/drawing/2014/main" id="{0F5FD7F9-BB2A-4A90-9BF6-95E0F15B1B5F}"/>
              </a:ext>
            </a:extLst>
          </p:cNvPr>
          <p:cNvSpPr>
            <a:spLocks xmlns:a="http://schemas.openxmlformats.org/drawingml/2006/main" noGrp="1"/>
          </p:cNvSpPr>
          <p:nvPr/>
        </p:nvSpPr>
        <p:spPr>
          <a:xfrm xmlns:a="http://schemas.openxmlformats.org/drawingml/2006/main">
            <a:off x="3474720" y="2468880"/>
            <a:ext cx="2615184" cy="2468880"/>
          </a:xfrm>
          <a:prstGeom xmlns:a="http://schemas.openxmlformats.org/drawingml/2006/main" prst="roundRect">
            <a:avLst>
              <a:gd name="adj" fmla="val 6000"/>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EA485F30-1351-41CB-926B-5DFB8B38078D}"/>
              </a:ext>
            </a:extLst>
          </p:cNvPr>
          <p:cNvSpPr>
            <a:spLocks xmlns:a="http://schemas.openxmlformats.org/drawingml/2006/main" noGrp="1"/>
          </p:cNvSpPr>
          <p:nvPr/>
        </p:nvSpPr>
        <p:spPr>
          <a:xfrm xmlns:a="http://schemas.openxmlformats.org/drawingml/2006/main">
            <a:off x="3675887" y="2651760"/>
            <a:ext cx="2212848"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0000"/>
              </a:lnSpc>
              <a:spcBef>
                <a:spcPts val="0"/>
              </a:spcBef>
              <a:spcAft>
                <a:spcPts val="400"/>
              </a:spcAft>
              <a:buNone/>
            </a:pPr>
            <a:r>
              <a:rPr sz="1550" b="1" i="0">
                <a:solidFill>
                  <a:srgbClr val="1E2447"/>
                </a:solidFill>
                <a:latin typeface="Cambria"/>
                <a:ea typeface="Cambria"/>
                <a:cs typeface="Cambria"/>
              </a:rPr>
              <a:t>Biological / prana</a:t>
            </a:r>
          </a:p>
        </p:txBody>
      </p:sp>
      <p:sp>
        <p:nvSpPr>
          <p:cNvPr id="15" name="TextBox 14">
            <a:extLst xmlns:a="http://schemas.openxmlformats.org/drawingml/2006/main">
              <a:ext uri="{FF2B5EF4-FFF2-40B4-BE49-F238E27FC236}">
                <a16:creationId xmlns:a16="http://schemas.microsoft.com/office/drawing/2014/main" id="{8E423EFC-5CF0-4A3E-A7C8-8F38643FB08D}"/>
              </a:ext>
            </a:extLst>
          </p:cNvPr>
          <p:cNvSpPr>
            <a:spLocks xmlns:a="http://schemas.openxmlformats.org/drawingml/2006/main" noGrp="1"/>
          </p:cNvSpPr>
          <p:nvPr/>
        </p:nvSpPr>
        <p:spPr>
          <a:xfrm xmlns:a="http://schemas.openxmlformats.org/drawingml/2006/main">
            <a:off x="3675887" y="3429000"/>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250" b="0" i="0">
                <a:solidFill>
                  <a:srgbClr val="5A6377"/>
                </a:solidFill>
                <a:latin typeface="Calibri"/>
                <a:ea typeface="Calibri"/>
                <a:cs typeface="Calibri"/>
              </a:rPr>
              <a:t>grows, reproduces</a:t>
            </a:r>
          </a:p>
        </p:txBody>
      </p:sp>
      <p:sp>
        <p:nvSpPr>
          <p:cNvPr id="16" name="TextBox 15">
            <a:extLst xmlns:a="http://schemas.openxmlformats.org/drawingml/2006/main">
              <a:ext uri="{FF2B5EF4-FFF2-40B4-BE49-F238E27FC236}">
                <a16:creationId xmlns:a16="http://schemas.microsoft.com/office/drawing/2014/main" id="{4F33CC33-773A-4E91-89C7-DA209AB3D10F}"/>
              </a:ext>
            </a:extLst>
          </p:cNvPr>
          <p:cNvSpPr>
            <a:spLocks xmlns:a="http://schemas.openxmlformats.org/drawingml/2006/main" noGrp="1"/>
          </p:cNvSpPr>
          <p:nvPr/>
        </p:nvSpPr>
        <p:spPr>
          <a:xfrm xmlns:a="http://schemas.openxmlformats.org/drawingml/2006/main">
            <a:off x="3675887" y="4434840"/>
            <a:ext cx="22128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0000"/>
              </a:lnSpc>
              <a:spcBef>
                <a:spcPts val="0"/>
              </a:spcBef>
              <a:spcAft>
                <a:spcPts val="400"/>
              </a:spcAft>
              <a:buNone/>
            </a:pPr>
            <a:r>
              <a:rPr sz="1150" b="0" i="1">
                <a:solidFill>
                  <a:srgbClr val="1E2447"/>
                </a:solidFill>
                <a:latin typeface="Calibri"/>
                <a:ea typeface="Calibri"/>
                <a:cs typeface="Calibri"/>
              </a:rPr>
              <a:t>Growth and reproduction in plant bodies.</a:t>
            </a:r>
          </a:p>
        </p:txBody>
      </p:sp>
      <p:sp>
        <p:nvSpPr>
          <p:cNvPr id="17" name="Rounded Rectangle 16">
            <a:extLst xmlns:a="http://schemas.openxmlformats.org/drawingml/2006/main">
              <a:ext uri="{FF2B5EF4-FFF2-40B4-BE49-F238E27FC236}">
                <a16:creationId xmlns:a16="http://schemas.microsoft.com/office/drawing/2014/main" id="{7D2F4A8A-099F-4097-884E-FFAF8AAE6880}"/>
              </a:ext>
            </a:extLst>
          </p:cNvPr>
          <p:cNvSpPr>
            <a:spLocks xmlns:a="http://schemas.openxmlformats.org/drawingml/2006/main" noGrp="1"/>
          </p:cNvSpPr>
          <p:nvPr/>
        </p:nvSpPr>
        <p:spPr>
          <a:xfrm xmlns:a="http://schemas.openxmlformats.org/drawingml/2006/main">
            <a:off x="6263640" y="2468880"/>
            <a:ext cx="2615184" cy="2468880"/>
          </a:xfrm>
          <a:prstGeom xmlns:a="http://schemas.openxmlformats.org/drawingml/2006/main" prst="roundRect">
            <a:avLst>
              <a:gd name="adj" fmla="val 6000"/>
            </a:avLst>
          </a:prstGeom>
          <a:solidFill xmlns:a="http://schemas.openxmlformats.org/drawingml/2006/main">
            <a:srgbClr val="FAF1D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79712944-83B3-48AC-B5A1-A043D0846F28}"/>
              </a:ext>
            </a:extLst>
          </p:cNvPr>
          <p:cNvSpPr>
            <a:spLocks xmlns:a="http://schemas.openxmlformats.org/drawingml/2006/main" noGrp="1"/>
          </p:cNvSpPr>
          <p:nvPr/>
        </p:nvSpPr>
        <p:spPr>
          <a:xfrm xmlns:a="http://schemas.openxmlformats.org/drawingml/2006/main">
            <a:off x="6464807" y="2651760"/>
            <a:ext cx="2212848"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0000"/>
              </a:lnSpc>
              <a:spcBef>
                <a:spcPts val="0"/>
              </a:spcBef>
              <a:spcAft>
                <a:spcPts val="400"/>
              </a:spcAft>
              <a:buNone/>
            </a:pPr>
            <a:r>
              <a:rPr sz="1550" b="1" i="0">
                <a:solidFill>
                  <a:srgbClr val="9A6414"/>
                </a:solidFill>
                <a:latin typeface="Cambria"/>
                <a:ea typeface="Cambria"/>
                <a:cs typeface="Cambria"/>
              </a:rPr>
              <a:t>Animal</a:t>
            </a:r>
          </a:p>
        </p:txBody>
      </p:sp>
      <p:sp>
        <p:nvSpPr>
          <p:cNvPr id="19" name="TextBox 18">
            <a:extLst xmlns:a="http://schemas.openxmlformats.org/drawingml/2006/main">
              <a:ext uri="{FF2B5EF4-FFF2-40B4-BE49-F238E27FC236}">
                <a16:creationId xmlns:a16="http://schemas.microsoft.com/office/drawing/2014/main" id="{62788F95-605E-44E9-A3DB-56C7ACBA9D9C}"/>
              </a:ext>
            </a:extLst>
          </p:cNvPr>
          <p:cNvSpPr>
            <a:spLocks xmlns:a="http://schemas.openxmlformats.org/drawingml/2006/main" noGrp="1"/>
          </p:cNvSpPr>
          <p:nvPr/>
        </p:nvSpPr>
        <p:spPr>
          <a:xfrm xmlns:a="http://schemas.openxmlformats.org/drawingml/2006/main">
            <a:off x="6464807" y="3429000"/>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250" b="0" i="0">
                <a:solidFill>
                  <a:srgbClr val="5A6377"/>
                </a:solidFill>
                <a:latin typeface="Calibri"/>
                <a:ea typeface="Calibri"/>
                <a:cs typeface="Calibri"/>
              </a:rPr>
              <a:t>selects, senses</a:t>
            </a:r>
          </a:p>
        </p:txBody>
      </p:sp>
      <p:sp>
        <p:nvSpPr>
          <p:cNvPr id="20" name="TextBox 19">
            <a:extLst xmlns:a="http://schemas.openxmlformats.org/drawingml/2006/main">
              <a:ext uri="{FF2B5EF4-FFF2-40B4-BE49-F238E27FC236}">
                <a16:creationId xmlns:a16="http://schemas.microsoft.com/office/drawing/2014/main" id="{5C2EAA49-6095-4C9A-9AAC-D8C3E44F101D}"/>
              </a:ext>
            </a:extLst>
          </p:cNvPr>
          <p:cNvSpPr>
            <a:spLocks xmlns:a="http://schemas.openxmlformats.org/drawingml/2006/main" noGrp="1"/>
          </p:cNvSpPr>
          <p:nvPr/>
        </p:nvSpPr>
        <p:spPr>
          <a:xfrm xmlns:a="http://schemas.openxmlformats.org/drawingml/2006/main">
            <a:off x="6464807" y="4434840"/>
            <a:ext cx="22128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0000"/>
              </a:lnSpc>
              <a:spcBef>
                <a:spcPts val="0"/>
              </a:spcBef>
              <a:spcAft>
                <a:spcPts val="400"/>
              </a:spcAft>
              <a:buNone/>
            </a:pPr>
            <a:r>
              <a:rPr sz="1150" b="0" i="1">
                <a:solidFill>
                  <a:srgbClr val="9A6414"/>
                </a:solidFill>
                <a:latin typeface="Calibri"/>
                <a:ea typeface="Calibri"/>
                <a:cs typeface="Calibri"/>
              </a:rPr>
              <a:t>Jeevan joined with an animal body.</a:t>
            </a:r>
          </a:p>
        </p:txBody>
      </p:sp>
      <p:sp>
        <p:nvSpPr>
          <p:cNvPr id="21" name="Rounded Rectangle 20">
            <a:extLst xmlns:a="http://schemas.openxmlformats.org/drawingml/2006/main">
              <a:ext uri="{FF2B5EF4-FFF2-40B4-BE49-F238E27FC236}">
                <a16:creationId xmlns:a16="http://schemas.microsoft.com/office/drawing/2014/main" id="{CEDDDF04-ECEF-40FF-8732-8917DAEB63B5}"/>
              </a:ext>
            </a:extLst>
          </p:cNvPr>
          <p:cNvSpPr>
            <a:spLocks xmlns:a="http://schemas.openxmlformats.org/drawingml/2006/main" noGrp="1"/>
          </p:cNvSpPr>
          <p:nvPr/>
        </p:nvSpPr>
        <p:spPr>
          <a:xfrm xmlns:a="http://schemas.openxmlformats.org/drawingml/2006/main">
            <a:off x="9052559" y="2468880"/>
            <a:ext cx="2615184" cy="2468880"/>
          </a:xfrm>
          <a:prstGeom xmlns:a="http://schemas.openxmlformats.org/drawingml/2006/main" prst="roundRect">
            <a:avLst>
              <a:gd name="adj" fmla="val 6000"/>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6229302C-9D4B-4C40-BF36-1AA90F247B7A}"/>
              </a:ext>
            </a:extLst>
          </p:cNvPr>
          <p:cNvSpPr>
            <a:spLocks xmlns:a="http://schemas.openxmlformats.org/drawingml/2006/main" noGrp="1"/>
          </p:cNvSpPr>
          <p:nvPr/>
        </p:nvSpPr>
        <p:spPr>
          <a:xfrm xmlns:a="http://schemas.openxmlformats.org/drawingml/2006/main">
            <a:off x="9253728" y="2651760"/>
            <a:ext cx="2212848"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0000"/>
              </a:lnSpc>
              <a:spcBef>
                <a:spcPts val="0"/>
              </a:spcBef>
              <a:spcAft>
                <a:spcPts val="400"/>
              </a:spcAft>
              <a:buNone/>
            </a:pPr>
            <a:r>
              <a:rPr sz="1550" b="1" i="0">
                <a:solidFill>
                  <a:srgbClr val="1E2447"/>
                </a:solidFill>
                <a:latin typeface="Cambria"/>
                <a:ea typeface="Cambria"/>
                <a:cs typeface="Cambria"/>
              </a:rPr>
              <a:t>Knowledge</a:t>
            </a:r>
          </a:p>
        </p:txBody>
      </p:sp>
      <p:sp>
        <p:nvSpPr>
          <p:cNvPr id="23" name="TextBox 22">
            <a:extLst xmlns:a="http://schemas.openxmlformats.org/drawingml/2006/main">
              <a:ext uri="{FF2B5EF4-FFF2-40B4-BE49-F238E27FC236}">
                <a16:creationId xmlns:a16="http://schemas.microsoft.com/office/drawing/2014/main" id="{4D345A17-8AD4-4613-98A1-C0DBFDE789CB}"/>
              </a:ext>
            </a:extLst>
          </p:cNvPr>
          <p:cNvSpPr>
            <a:spLocks xmlns:a="http://schemas.openxmlformats.org/drawingml/2006/main" noGrp="1"/>
          </p:cNvSpPr>
          <p:nvPr/>
        </p:nvSpPr>
        <p:spPr>
          <a:xfrm xmlns:a="http://schemas.openxmlformats.org/drawingml/2006/main">
            <a:off x="9253728" y="3429000"/>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250" b="0" i="0">
                <a:solidFill>
                  <a:srgbClr val="5A6377"/>
                </a:solidFill>
                <a:latin typeface="Calibri"/>
                <a:ea typeface="Calibri"/>
                <a:cs typeface="Calibri"/>
              </a:rPr>
              <a:t>imagines, evaluates, understands</a:t>
            </a:r>
          </a:p>
        </p:txBody>
      </p:sp>
      <p:sp>
        <p:nvSpPr>
          <p:cNvPr id="24" name="TextBox 23">
            <a:extLst xmlns:a="http://schemas.openxmlformats.org/drawingml/2006/main">
              <a:ext uri="{FF2B5EF4-FFF2-40B4-BE49-F238E27FC236}">
                <a16:creationId xmlns:a16="http://schemas.microsoft.com/office/drawing/2014/main" id="{273F4F77-FFD5-46A7-BC13-EEFEE1DBC18E}"/>
              </a:ext>
            </a:extLst>
          </p:cNvPr>
          <p:cNvSpPr>
            <a:spLocks xmlns:a="http://schemas.openxmlformats.org/drawingml/2006/main" noGrp="1"/>
          </p:cNvSpPr>
          <p:nvPr/>
        </p:nvSpPr>
        <p:spPr>
          <a:xfrm xmlns:a="http://schemas.openxmlformats.org/drawingml/2006/main">
            <a:off x="9253728" y="4434840"/>
            <a:ext cx="22128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0000"/>
              </a:lnSpc>
              <a:spcBef>
                <a:spcPts val="0"/>
              </a:spcBef>
              <a:spcAft>
                <a:spcPts val="400"/>
              </a:spcAft>
              <a:buNone/>
            </a:pPr>
            <a:r>
              <a:rPr sz="1150" b="0" i="1">
                <a:solidFill>
                  <a:srgbClr val="1E2447"/>
                </a:solidFill>
                <a:latin typeface="Calibri"/>
                <a:ea typeface="Calibri"/>
                <a:cs typeface="Calibri"/>
              </a:rPr>
              <a:t>Human body + jeevan; understanding can be expressed in conduct.</a:t>
            </a:r>
          </a:p>
        </p:txBody>
      </p:sp>
      <p:sp>
        <p:nvSpPr>
          <p:cNvPr id="25" name="TextBox 24">
            <a:extLst xmlns:a="http://schemas.openxmlformats.org/drawingml/2006/main">
              <a:ext uri="{FF2B5EF4-FFF2-40B4-BE49-F238E27FC236}">
                <a16:creationId xmlns:a16="http://schemas.microsoft.com/office/drawing/2014/main" id="{FD2FB066-A496-4CC1-8A7C-9C8B0B2EBEF2}"/>
              </a:ext>
            </a:extLst>
          </p:cNvPr>
          <p:cNvSpPr>
            <a:spLocks xmlns:a="http://schemas.openxmlformats.org/drawingml/2006/main" noGrp="1"/>
          </p:cNvSpPr>
          <p:nvPr/>
        </p:nvSpPr>
        <p:spPr>
          <a:xfrm xmlns:a="http://schemas.openxmlformats.org/drawingml/2006/main">
            <a:off x="685800" y="5074920"/>
            <a:ext cx="10789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ctr">
              <a:spcBef>
                <a:spcPts val="0"/>
              </a:spcBef>
              <a:spcAft>
                <a:spcPts val="400"/>
              </a:spcAft>
              <a:buNone/>
            </a:pPr>
            <a:r>
              <a:rPr sz="1250" b="0" i="1">
                <a:solidFill>
                  <a:srgbClr val="3B4A7A"/>
                </a:solidFill>
                <a:latin typeface="Calibri"/>
                <a:ea typeface="Calibri"/>
                <a:cs typeface="Calibri"/>
              </a:rPr>
              <a:t>A higher order depends on lower material composition; this does not make jeevan a product of that composition.</a:t>
            </a:r>
          </a:p>
        </p:txBody>
      </p:sp>
      <p:sp>
        <p:nvSpPr>
          <p:cNvPr id="26" name="Rounded Rectangle 25">
            <a:extLst xmlns:a="http://schemas.openxmlformats.org/drawingml/2006/main">
              <a:ext uri="{FF2B5EF4-FFF2-40B4-BE49-F238E27FC236}">
                <a16:creationId xmlns:a16="http://schemas.microsoft.com/office/drawing/2014/main" id="{C811C559-48B4-42EE-8189-6C9D695C1F9D}"/>
              </a:ext>
            </a:extLst>
          </p:cNvPr>
          <p:cNvSpPr>
            <a:spLocks xmlns:a="http://schemas.openxmlformats.org/drawingml/2006/main" noGrp="1"/>
          </p:cNvSpPr>
          <p:nvPr/>
        </p:nvSpPr>
        <p:spPr>
          <a:xfrm xmlns:a="http://schemas.openxmlformats.org/drawingml/2006/main">
            <a:off x="685800" y="5577840"/>
            <a:ext cx="10817352" cy="658368"/>
          </a:xfrm>
          <a:prstGeom xmlns:a="http://schemas.openxmlformats.org/drawingml/2006/main" prst="roundRect">
            <a:avLst>
              <a:gd name="adj" fmla="val 12000"/>
            </a:avLst>
          </a:prstGeom>
          <a:solidFill xmlns:a="http://schemas.openxmlformats.org/drawingml/2006/main">
            <a:srgbClr val="FAF1D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TextBox 26">
            <a:extLst xmlns:a="http://schemas.openxmlformats.org/drawingml/2006/main">
              <a:ext uri="{FF2B5EF4-FFF2-40B4-BE49-F238E27FC236}">
                <a16:creationId xmlns:a16="http://schemas.microsoft.com/office/drawing/2014/main" id="{40781C6E-320E-4752-BDB5-F42D6DA8C913}"/>
              </a:ext>
            </a:extLst>
          </p:cNvPr>
          <p:cNvSpPr>
            <a:spLocks xmlns:a="http://schemas.openxmlformats.org/drawingml/2006/main" noGrp="1"/>
          </p:cNvSpPr>
          <p:nvPr/>
        </p:nvSpPr>
        <p:spPr>
          <a:xfrm xmlns:a="http://schemas.openxmlformats.org/drawingml/2006/main">
            <a:off x="1005840" y="5577840"/>
            <a:ext cx="10177272"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lnSpc>
                <a:spcPct val="105000"/>
              </a:lnSpc>
              <a:spcBef>
                <a:spcPts val="0"/>
              </a:spcBef>
              <a:spcAft>
                <a:spcPts val="400"/>
              </a:spcAft>
              <a:buNone/>
            </a:pPr>
            <a:r>
              <a:rPr sz="1450" b="1" i="0">
                <a:solidFill>
                  <a:srgbClr val="9A6414"/>
                </a:solidFill>
                <a:latin typeface="Calibri"/>
                <a:ea typeface="Calibri"/>
                <a:cs typeface="Calibri"/>
              </a:rPr>
              <a:t>The knowledge order is distinguished by the possibility of understanding and responsible conduct—not by biological complexity alone.</a:t>
            </a:r>
          </a:p>
        </p:txBody>
      </p:sp>
      <p:sp>
        <p:nvSpPr>
          <p:cNvPr id="28" name="TextBox 27">
            <a:extLst xmlns:a="http://schemas.openxmlformats.org/drawingml/2006/main">
              <a:ext uri="{FF2B5EF4-FFF2-40B4-BE49-F238E27FC236}">
                <a16:creationId xmlns:a16="http://schemas.microsoft.com/office/drawing/2014/main" id="{44999E10-9F7A-4E02-92F0-1405FC7DF380}"/>
              </a:ext>
            </a:extLst>
          </p:cNvPr>
          <p:cNvSpPr>
            <a:spLocks xmlns:a="http://schemas.openxmlformats.org/drawingml/2006/main" noGrp="1"/>
          </p:cNvSpPr>
          <p:nvPr/>
        </p:nvSpPr>
        <p:spPr>
          <a:xfrm xmlns:a="http://schemas.openxmlformats.org/drawingml/2006/main">
            <a:off x="685800" y="6419088"/>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100" b="0" i="1">
                <a:solidFill>
                  <a:srgbClr val="5A6377"/>
                </a:solidFill>
                <a:latin typeface="Calibri"/>
                <a:ea typeface="Calibri"/>
                <a:cs typeface="Calibri"/>
              </a:rPr>
              <a:t>Study §1.3.1 · §1.3.4</a:t>
            </a:r>
          </a:p>
        </p:txBody>
      </p:sp>
    </p:spTree>
    <p:extLst>
      <p:ext uri="{BB962C8B-B14F-4D97-AF65-F5344CB8AC3E}">
        <p14:creationId xmlns:p14="http://schemas.microsoft.com/office/powerpoint/2010/main" val="50424389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6AAB16B-B345-4583-B59A-F03CDFC9216F}"/>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Oval 2">
            <a:extLst xmlns:a="http://schemas.openxmlformats.org/drawingml/2006/main">
              <a:ext uri="{FF2B5EF4-FFF2-40B4-BE49-F238E27FC236}">
                <a16:creationId xmlns:a16="http://schemas.microsoft.com/office/drawing/2014/main" id="{B80078CF-370C-456F-BD91-18A71432FB9E}"/>
              </a:ext>
            </a:extLst>
          </p:cNvPr>
          <p:cNvSpPr>
            <a:spLocks xmlns:a="http://schemas.openxmlformats.org/drawingml/2006/main" noGrp="1"/>
          </p:cNvSpPr>
          <p:nvPr/>
        </p:nvSpPr>
        <p:spPr>
          <a:xfrm xmlns:a="http://schemas.openxmlformats.org/drawingml/2006/main">
            <a:off x="654253" y="507949"/>
            <a:ext cx="483717" cy="483717"/>
          </a:xfrm>
          <a:prstGeom xmlns:a="http://schemas.openxmlformats.org/drawingml/2006/main" prst="ellipse">
            <a:avLst/>
          </a:prstGeom>
          <a:noFill xmlns:a="http://schemas.openxmlformats.org/drawingml/2006/main"/>
          <a:ln xmlns:a="http://schemas.openxmlformats.org/drawingml/2006/main" w="2336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Oval 3">
            <a:extLst xmlns:a="http://schemas.openxmlformats.org/drawingml/2006/main">
              <a:ext uri="{FF2B5EF4-FFF2-40B4-BE49-F238E27FC236}">
                <a16:creationId xmlns:a16="http://schemas.microsoft.com/office/drawing/2014/main" id="{F842CA50-03E4-48B1-99C8-6D1A7D2940CE}"/>
              </a:ext>
            </a:extLst>
          </p:cNvPr>
          <p:cNvSpPr>
            <a:spLocks xmlns:a="http://schemas.openxmlformats.org/drawingml/2006/main" noGrp="1"/>
          </p:cNvSpPr>
          <p:nvPr/>
        </p:nvSpPr>
        <p:spPr>
          <a:xfrm xmlns:a="http://schemas.openxmlformats.org/drawingml/2006/main">
            <a:off x="754151" y="607847"/>
            <a:ext cx="283921" cy="283921"/>
          </a:xfrm>
          <a:prstGeom xmlns:a="http://schemas.openxmlformats.org/drawingml/2006/main" prst="ellipse">
            <a:avLst/>
          </a:prstGeom>
          <a:noFill xmlns:a="http://schemas.openxmlformats.org/drawingml/2006/main"/>
          <a:ln xmlns:a="http://schemas.openxmlformats.org/drawingml/2006/main" w="20447">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Oval 4">
            <a:extLst xmlns:a="http://schemas.openxmlformats.org/drawingml/2006/main">
              <a:ext uri="{FF2B5EF4-FFF2-40B4-BE49-F238E27FC236}">
                <a16:creationId xmlns:a16="http://schemas.microsoft.com/office/drawing/2014/main" id="{F9B6BD67-C692-4849-A748-344D39F784B1}"/>
              </a:ext>
            </a:extLst>
          </p:cNvPr>
          <p:cNvSpPr>
            <a:spLocks xmlns:a="http://schemas.openxmlformats.org/drawingml/2006/main" noGrp="1"/>
          </p:cNvSpPr>
          <p:nvPr/>
        </p:nvSpPr>
        <p:spPr>
          <a:xfrm xmlns:a="http://schemas.openxmlformats.org/drawingml/2006/main">
            <a:off x="833018" y="686714"/>
            <a:ext cx="126187" cy="126187"/>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AFA6FC54-49C7-42E1-BCCD-4F9545C19A86}"/>
              </a:ext>
            </a:extLst>
          </p:cNvPr>
          <p:cNvSpPr>
            <a:spLocks xmlns:a="http://schemas.openxmlformats.org/drawingml/2006/main" noGrp="1"/>
          </p:cNvSpPr>
          <p:nvPr/>
        </p:nvSpPr>
        <p:spPr>
          <a:xfrm xmlns:a="http://schemas.openxmlformats.org/drawingml/2006/main">
            <a:off x="1325880" y="457200"/>
            <a:ext cx="10424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200" b="1" i="0">
                <a:solidFill>
                  <a:srgbClr val="C9821E"/>
                </a:solidFill>
                <a:latin typeface="Calibri"/>
                <a:ea typeface="Calibri"/>
                <a:cs typeface="Calibri"/>
              </a:rPr>
              <a:t>MADHYASTH DARSHAN · ONTOLOGY</a:t>
            </a:r>
          </a:p>
        </p:txBody>
      </p:sp>
      <p:sp>
        <p:nvSpPr>
          <p:cNvPr id="7" name="TextBox 6">
            <a:extLst xmlns:a="http://schemas.openxmlformats.org/drawingml/2006/main">
              <a:ext uri="{FF2B5EF4-FFF2-40B4-BE49-F238E27FC236}">
                <a16:creationId xmlns:a16="http://schemas.microsoft.com/office/drawing/2014/main" id="{7393EB8C-AF85-40FB-A972-F2FAA584F235}"/>
              </a:ext>
            </a:extLst>
          </p:cNvPr>
          <p:cNvSpPr>
            <a:spLocks xmlns:a="http://schemas.openxmlformats.org/drawingml/2006/main" noGrp="1"/>
          </p:cNvSpPr>
          <p:nvPr/>
        </p:nvSpPr>
        <p:spPr>
          <a:xfrm xmlns:a="http://schemas.openxmlformats.org/drawingml/2006/main">
            <a:off x="1280160" y="676656"/>
            <a:ext cx="105156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3000" b="1" i="0">
                <a:solidFill>
                  <a:srgbClr val="1E2447"/>
                </a:solidFill>
                <a:latin typeface="Cambria"/>
                <a:ea typeface="Cambria"/>
                <a:cs typeface="Cambria"/>
              </a:rPr>
              <a:t>Sentience and the Claim of Atomic Completion</a:t>
            </a:r>
          </a:p>
        </p:txBody>
      </p:sp>
      <p:sp>
        <p:nvSpPr>
          <p:cNvPr id="8" name="TextBox 7">
            <a:extLst xmlns:a="http://schemas.openxmlformats.org/drawingml/2006/main">
              <a:ext uri="{FF2B5EF4-FFF2-40B4-BE49-F238E27FC236}">
                <a16:creationId xmlns:a16="http://schemas.microsoft.com/office/drawing/2014/main" id="{2C601DF0-B0BA-450E-9C3C-95AF6EFB7866}"/>
              </a:ext>
            </a:extLst>
          </p:cNvPr>
          <p:cNvSpPr>
            <a:spLocks xmlns:a="http://schemas.openxmlformats.org/drawingml/2006/main" noGrp="1"/>
          </p:cNvSpPr>
          <p:nvPr/>
        </p:nvSpPr>
        <p:spPr>
          <a:xfrm xmlns:a="http://schemas.openxmlformats.org/drawingml/2006/main">
            <a:off x="685800" y="1737360"/>
            <a:ext cx="10789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10000"/>
              </a:lnSpc>
              <a:spcBef>
                <a:spcPts val="0"/>
              </a:spcBef>
              <a:spcAft>
                <a:spcPts val="400"/>
              </a:spcAft>
              <a:buNone/>
            </a:pPr>
            <a:r>
              <a:rPr sz="1450" b="0" i="0">
                <a:solidFill>
                  <a:srgbClr val="5A6377"/>
                </a:solidFill>
                <a:latin typeface="Calibri"/>
                <a:ea typeface="Calibri"/>
                <a:cs typeface="Calibri"/>
              </a:rPr>
              <a:t>MD does not derive jeevan from biological complexity; it proposes a distinct atomic threshold and history.</a:t>
            </a:r>
          </a:p>
        </p:txBody>
      </p:sp>
      <p:sp>
        <p:nvSpPr>
          <p:cNvPr id="9" name="Rounded Rectangle 8">
            <a:extLst xmlns:a="http://schemas.openxmlformats.org/drawingml/2006/main">
              <a:ext uri="{FF2B5EF4-FFF2-40B4-BE49-F238E27FC236}">
                <a16:creationId xmlns:a16="http://schemas.microsoft.com/office/drawing/2014/main" id="{72F7B3C6-A5D6-4AF0-81DB-04852663B99E}"/>
              </a:ext>
            </a:extLst>
          </p:cNvPr>
          <p:cNvSpPr>
            <a:spLocks xmlns:a="http://schemas.openxmlformats.org/drawingml/2006/main" noGrp="1"/>
          </p:cNvSpPr>
          <p:nvPr/>
        </p:nvSpPr>
        <p:spPr>
          <a:xfrm xmlns:a="http://schemas.openxmlformats.org/drawingml/2006/main">
            <a:off x="685800" y="2331720"/>
            <a:ext cx="2471166" cy="548640"/>
          </a:xfrm>
          <a:prstGeom xmlns:a="http://schemas.openxmlformats.org/drawingml/2006/main" prst="roundRect">
            <a:avLst>
              <a:gd name="adj" fmla="val 18000"/>
            </a:avLst>
          </a:prstGeom>
          <a:solidFill xmlns:a="http://schemas.openxmlformats.org/drawingml/2006/main">
            <a:srgbClr val="3B4A7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45622C48-105A-455D-B0BC-F44C29EB65C1}"/>
              </a:ext>
            </a:extLst>
          </p:cNvPr>
          <p:cNvSpPr>
            <a:spLocks xmlns:a="http://schemas.openxmlformats.org/drawingml/2006/main" noGrp="1"/>
          </p:cNvSpPr>
          <p:nvPr/>
        </p:nvSpPr>
        <p:spPr>
          <a:xfrm xmlns:a="http://schemas.openxmlformats.org/drawingml/2006/main">
            <a:off x="685800" y="2331720"/>
            <a:ext cx="2471166"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spcBef>
                <a:spcPts val="0"/>
              </a:spcBef>
              <a:spcAft>
                <a:spcPts val="0"/>
              </a:spcAft>
              <a:buNone/>
            </a:pPr>
            <a:r>
              <a:rPr sz="1300" b="1" i="0">
                <a:solidFill>
                  <a:srgbClr val="FFFFFF"/>
                </a:solidFill>
                <a:latin typeface="Calibri"/>
                <a:ea typeface="Calibri"/>
                <a:cs typeface="Calibri"/>
              </a:rPr>
              <a:t>Evolving atom</a:t>
            </a:r>
          </a:p>
        </p:txBody>
      </p:sp>
      <p:sp>
        <p:nvSpPr>
          <p:cNvPr id="11" name="TextBox 10">
            <a:extLst xmlns:a="http://schemas.openxmlformats.org/drawingml/2006/main">
              <a:ext uri="{FF2B5EF4-FFF2-40B4-BE49-F238E27FC236}">
                <a16:creationId xmlns:a16="http://schemas.microsoft.com/office/drawing/2014/main" id="{FA2B488D-CF87-45B3-9C0D-A41217AAE125}"/>
              </a:ext>
            </a:extLst>
          </p:cNvPr>
          <p:cNvSpPr>
            <a:spLocks xmlns:a="http://schemas.openxmlformats.org/drawingml/2006/main" noGrp="1"/>
          </p:cNvSpPr>
          <p:nvPr/>
        </p:nvSpPr>
        <p:spPr>
          <a:xfrm xmlns:a="http://schemas.openxmlformats.org/drawingml/2006/main">
            <a:off x="3166110" y="2423160"/>
            <a:ext cx="29260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spcBef>
                <a:spcPts val="0"/>
              </a:spcBef>
              <a:spcAft>
                <a:spcPts val="0"/>
              </a:spcAft>
              <a:buNone/>
            </a:pPr>
            <a:r>
              <a:rPr sz="2000" b="1" i="0">
                <a:solidFill>
                  <a:srgbClr val="C9821E"/>
                </a:solidFill>
                <a:latin typeface="Calibri"/>
                <a:ea typeface="Calibri"/>
                <a:cs typeface="Calibri"/>
              </a:rPr>
              <a:t>→</a:t>
            </a:r>
          </a:p>
        </p:txBody>
      </p:sp>
      <p:sp>
        <p:nvSpPr>
          <p:cNvPr id="12" name="Rounded Rectangle 11">
            <a:extLst xmlns:a="http://schemas.openxmlformats.org/drawingml/2006/main">
              <a:ext uri="{FF2B5EF4-FFF2-40B4-BE49-F238E27FC236}">
                <a16:creationId xmlns:a16="http://schemas.microsoft.com/office/drawing/2014/main" id="{3DAFC71C-A3BD-4E61-8EDB-1BB40FAA4150}"/>
              </a:ext>
            </a:extLst>
          </p:cNvPr>
          <p:cNvSpPr>
            <a:spLocks xmlns:a="http://schemas.openxmlformats.org/drawingml/2006/main" noGrp="1"/>
          </p:cNvSpPr>
          <p:nvPr/>
        </p:nvSpPr>
        <p:spPr>
          <a:xfrm xmlns:a="http://schemas.openxmlformats.org/drawingml/2006/main">
            <a:off x="3467862" y="2331720"/>
            <a:ext cx="2471166" cy="548640"/>
          </a:xfrm>
          <a:prstGeom xmlns:a="http://schemas.openxmlformats.org/drawingml/2006/main" prst="roundRect">
            <a:avLst>
              <a:gd name="adj" fmla="val 18000"/>
            </a:avLst>
          </a:prstGeom>
          <a:solidFill xmlns:a="http://schemas.openxmlformats.org/drawingml/2006/main">
            <a:srgbClr val="3B4A7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0A52AC98-39BC-4B65-B4B0-C11054F02108}"/>
              </a:ext>
            </a:extLst>
          </p:cNvPr>
          <p:cNvSpPr>
            <a:spLocks xmlns:a="http://schemas.openxmlformats.org/drawingml/2006/main" noGrp="1"/>
          </p:cNvSpPr>
          <p:nvPr/>
        </p:nvSpPr>
        <p:spPr>
          <a:xfrm xmlns:a="http://schemas.openxmlformats.org/drawingml/2006/main">
            <a:off x="3467862" y="2331720"/>
            <a:ext cx="2471166"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spcBef>
                <a:spcPts val="0"/>
              </a:spcBef>
              <a:spcAft>
                <a:spcPts val="0"/>
              </a:spcAft>
              <a:buNone/>
            </a:pPr>
            <a:r>
              <a:rPr sz="1300" b="1" i="0">
                <a:solidFill>
                  <a:srgbClr val="FFFFFF"/>
                </a:solidFill>
                <a:latin typeface="Calibri"/>
                <a:ea typeface="Calibri"/>
                <a:cs typeface="Calibri"/>
              </a:rPr>
              <a:t>Particle exchange</a:t>
            </a:r>
          </a:p>
        </p:txBody>
      </p:sp>
      <p:sp>
        <p:nvSpPr>
          <p:cNvPr id="14" name="TextBox 13">
            <a:extLst xmlns:a="http://schemas.openxmlformats.org/drawingml/2006/main">
              <a:ext uri="{FF2B5EF4-FFF2-40B4-BE49-F238E27FC236}">
                <a16:creationId xmlns:a16="http://schemas.microsoft.com/office/drawing/2014/main" id="{F5F2FCEC-0083-48FA-A511-F73F443CC3E8}"/>
              </a:ext>
            </a:extLst>
          </p:cNvPr>
          <p:cNvSpPr>
            <a:spLocks xmlns:a="http://schemas.openxmlformats.org/drawingml/2006/main" noGrp="1"/>
          </p:cNvSpPr>
          <p:nvPr/>
        </p:nvSpPr>
        <p:spPr>
          <a:xfrm xmlns:a="http://schemas.openxmlformats.org/drawingml/2006/main">
            <a:off x="5948172" y="2423160"/>
            <a:ext cx="29260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spcBef>
                <a:spcPts val="0"/>
              </a:spcBef>
              <a:spcAft>
                <a:spcPts val="0"/>
              </a:spcAft>
              <a:buNone/>
            </a:pPr>
            <a:r>
              <a:rPr sz="2000" b="1" i="0">
                <a:solidFill>
                  <a:srgbClr val="C9821E"/>
                </a:solidFill>
                <a:latin typeface="Calibri"/>
                <a:ea typeface="Calibri"/>
                <a:cs typeface="Calibri"/>
              </a:rPr>
              <a:t>→</a:t>
            </a:r>
          </a:p>
        </p:txBody>
      </p:sp>
      <p:sp>
        <p:nvSpPr>
          <p:cNvPr id="15" name="Rounded Rectangle 14">
            <a:extLst xmlns:a="http://schemas.openxmlformats.org/drawingml/2006/main">
              <a:ext uri="{FF2B5EF4-FFF2-40B4-BE49-F238E27FC236}">
                <a16:creationId xmlns:a16="http://schemas.microsoft.com/office/drawing/2014/main" id="{1F20B835-08F0-4379-A1AD-AEBACB38D91C}"/>
              </a:ext>
            </a:extLst>
          </p:cNvPr>
          <p:cNvSpPr>
            <a:spLocks xmlns:a="http://schemas.openxmlformats.org/drawingml/2006/main" noGrp="1"/>
          </p:cNvSpPr>
          <p:nvPr/>
        </p:nvSpPr>
        <p:spPr>
          <a:xfrm xmlns:a="http://schemas.openxmlformats.org/drawingml/2006/main">
            <a:off x="6249924" y="2331720"/>
            <a:ext cx="2471166" cy="548640"/>
          </a:xfrm>
          <a:prstGeom xmlns:a="http://schemas.openxmlformats.org/drawingml/2006/main" prst="roundRect">
            <a:avLst>
              <a:gd name="adj" fmla="val 18000"/>
            </a:avLst>
          </a:prstGeom>
          <a:solidFill xmlns:a="http://schemas.openxmlformats.org/drawingml/2006/main">
            <a:srgbClr val="3B4A7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F4587A3F-DCEA-4B44-ABEB-BE9592862DD7}"/>
              </a:ext>
            </a:extLst>
          </p:cNvPr>
          <p:cNvSpPr>
            <a:spLocks xmlns:a="http://schemas.openxmlformats.org/drawingml/2006/main" noGrp="1"/>
          </p:cNvSpPr>
          <p:nvPr/>
        </p:nvSpPr>
        <p:spPr>
          <a:xfrm xmlns:a="http://schemas.openxmlformats.org/drawingml/2006/main">
            <a:off x="6249924" y="2331720"/>
            <a:ext cx="2471166"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spcBef>
                <a:spcPts val="0"/>
              </a:spcBef>
              <a:spcAft>
                <a:spcPts val="0"/>
              </a:spcAft>
              <a:buNone/>
            </a:pPr>
            <a:r>
              <a:rPr sz="1300" b="1" i="0">
                <a:solidFill>
                  <a:srgbClr val="FFFFFF"/>
                </a:solidFill>
                <a:latin typeface="Calibri"/>
                <a:ea typeface="Calibri"/>
                <a:cs typeface="Calibri"/>
              </a:rPr>
              <a:t>Closed constitution</a:t>
            </a:r>
          </a:p>
        </p:txBody>
      </p:sp>
      <p:sp>
        <p:nvSpPr>
          <p:cNvPr id="17" name="TextBox 16">
            <a:extLst xmlns:a="http://schemas.openxmlformats.org/drawingml/2006/main">
              <a:ext uri="{FF2B5EF4-FFF2-40B4-BE49-F238E27FC236}">
                <a16:creationId xmlns:a16="http://schemas.microsoft.com/office/drawing/2014/main" id="{9C47BC8F-BC2F-46DE-94D0-F1B30E6D5B6F}"/>
              </a:ext>
            </a:extLst>
          </p:cNvPr>
          <p:cNvSpPr>
            <a:spLocks xmlns:a="http://schemas.openxmlformats.org/drawingml/2006/main" noGrp="1"/>
          </p:cNvSpPr>
          <p:nvPr/>
        </p:nvSpPr>
        <p:spPr>
          <a:xfrm xmlns:a="http://schemas.openxmlformats.org/drawingml/2006/main">
            <a:off x="8730234" y="2423160"/>
            <a:ext cx="29260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spcBef>
                <a:spcPts val="0"/>
              </a:spcBef>
              <a:spcAft>
                <a:spcPts val="0"/>
              </a:spcAft>
              <a:buNone/>
            </a:pPr>
            <a:r>
              <a:rPr sz="2000" b="1" i="0">
                <a:solidFill>
                  <a:srgbClr val="C9821E"/>
                </a:solidFill>
                <a:latin typeface="Calibri"/>
                <a:ea typeface="Calibri"/>
                <a:cs typeface="Calibri"/>
              </a:rPr>
              <a:t>→</a:t>
            </a:r>
          </a:p>
        </p:txBody>
      </p:sp>
      <p:sp>
        <p:nvSpPr>
          <p:cNvPr id="18" name="Rounded Rectangle 17">
            <a:extLst xmlns:a="http://schemas.openxmlformats.org/drawingml/2006/main">
              <a:ext uri="{FF2B5EF4-FFF2-40B4-BE49-F238E27FC236}">
                <a16:creationId xmlns:a16="http://schemas.microsoft.com/office/drawing/2014/main" id="{B0546C1E-57C3-4081-AE54-88EFD6FAA821}"/>
              </a:ext>
            </a:extLst>
          </p:cNvPr>
          <p:cNvSpPr>
            <a:spLocks xmlns:a="http://schemas.openxmlformats.org/drawingml/2006/main" noGrp="1"/>
          </p:cNvSpPr>
          <p:nvPr/>
        </p:nvSpPr>
        <p:spPr>
          <a:xfrm xmlns:a="http://schemas.openxmlformats.org/drawingml/2006/main">
            <a:off x="9031986" y="2331720"/>
            <a:ext cx="2471166" cy="548640"/>
          </a:xfrm>
          <a:prstGeom xmlns:a="http://schemas.openxmlformats.org/drawingml/2006/main" prst="roundRect">
            <a:avLst>
              <a:gd name="adj" fmla="val 18000"/>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9E3734F9-107A-4164-9E43-BB4CC1CCAA28}"/>
              </a:ext>
            </a:extLst>
          </p:cNvPr>
          <p:cNvSpPr>
            <a:spLocks xmlns:a="http://schemas.openxmlformats.org/drawingml/2006/main" noGrp="1"/>
          </p:cNvSpPr>
          <p:nvPr/>
        </p:nvSpPr>
        <p:spPr>
          <a:xfrm xmlns:a="http://schemas.openxmlformats.org/drawingml/2006/main">
            <a:off x="9031986" y="2331720"/>
            <a:ext cx="2471166"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spcBef>
                <a:spcPts val="0"/>
              </a:spcBef>
              <a:spcAft>
                <a:spcPts val="0"/>
              </a:spcAft>
              <a:buNone/>
            </a:pPr>
            <a:r>
              <a:rPr sz="1300" b="1" i="0">
                <a:solidFill>
                  <a:srgbClr val="FFFFFF"/>
                </a:solidFill>
                <a:latin typeface="Calibri"/>
                <a:ea typeface="Calibri"/>
                <a:cs typeface="Calibri"/>
              </a:rPr>
              <a:t>Sentient jeevan</a:t>
            </a:r>
          </a:p>
        </p:txBody>
      </p:sp>
      <p:sp>
        <p:nvSpPr>
          <p:cNvPr id="20" name="Rounded Rectangle 19">
            <a:extLst xmlns:a="http://schemas.openxmlformats.org/drawingml/2006/main">
              <a:ext uri="{FF2B5EF4-FFF2-40B4-BE49-F238E27FC236}">
                <a16:creationId xmlns:a16="http://schemas.microsoft.com/office/drawing/2014/main" id="{BB53FAC8-AD43-44DA-8605-533C5615AFF1}"/>
              </a:ext>
            </a:extLst>
          </p:cNvPr>
          <p:cNvSpPr>
            <a:spLocks xmlns:a="http://schemas.openxmlformats.org/drawingml/2006/main" noGrp="1"/>
          </p:cNvSpPr>
          <p:nvPr/>
        </p:nvSpPr>
        <p:spPr>
          <a:xfrm xmlns:a="http://schemas.openxmlformats.org/drawingml/2006/main">
            <a:off x="685800" y="3200400"/>
            <a:ext cx="5257800" cy="1965960"/>
          </a:xfrm>
          <a:prstGeom xmlns:a="http://schemas.openxmlformats.org/drawingml/2006/main" prst="roundRect">
            <a:avLst>
              <a:gd name="adj" fmla="val 6000"/>
            </a:avLst>
          </a:prstGeom>
          <a:solidFill xmlns:a="http://schemas.openxmlformats.org/drawingml/2006/main">
            <a:srgbClr val="FAF1D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Oval 20">
            <a:extLst xmlns:a="http://schemas.openxmlformats.org/drawingml/2006/main">
              <a:ext uri="{FF2B5EF4-FFF2-40B4-BE49-F238E27FC236}">
                <a16:creationId xmlns:a16="http://schemas.microsoft.com/office/drawing/2014/main" id="{084AA0CD-28C0-4B8D-85ED-4FAA34C470DA}"/>
              </a:ext>
            </a:extLst>
          </p:cNvPr>
          <p:cNvSpPr>
            <a:spLocks xmlns:a="http://schemas.openxmlformats.org/drawingml/2006/main" noGrp="1"/>
          </p:cNvSpPr>
          <p:nvPr/>
        </p:nvSpPr>
        <p:spPr>
          <a:xfrm xmlns:a="http://schemas.openxmlformats.org/drawingml/2006/main">
            <a:off x="898855" y="3395167"/>
            <a:ext cx="378561" cy="378561"/>
          </a:xfrm>
          <a:prstGeom xmlns:a="http://schemas.openxmlformats.org/drawingml/2006/main" prst="ellipse">
            <a:avLst/>
          </a:prstGeom>
          <a:noFill xmlns:a="http://schemas.openxmlformats.org/drawingml/2006/main"/>
          <a:ln xmlns:a="http://schemas.openxmlformats.org/drawingml/2006/main" w="1828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Oval 21">
            <a:extLst xmlns:a="http://schemas.openxmlformats.org/drawingml/2006/main">
              <a:ext uri="{FF2B5EF4-FFF2-40B4-BE49-F238E27FC236}">
                <a16:creationId xmlns:a16="http://schemas.microsoft.com/office/drawing/2014/main" id="{8A1F6DEC-11BE-47FE-BD6E-90B5A9FC3795}"/>
              </a:ext>
            </a:extLst>
          </p:cNvPr>
          <p:cNvSpPr>
            <a:spLocks xmlns:a="http://schemas.openxmlformats.org/drawingml/2006/main" noGrp="1"/>
          </p:cNvSpPr>
          <p:nvPr/>
        </p:nvSpPr>
        <p:spPr>
          <a:xfrm xmlns:a="http://schemas.openxmlformats.org/drawingml/2006/main">
            <a:off x="977036" y="3473348"/>
            <a:ext cx="222199" cy="222199"/>
          </a:xfrm>
          <a:prstGeom xmlns:a="http://schemas.openxmlformats.org/drawingml/2006/main" prst="ellipse">
            <a:avLst/>
          </a:prstGeom>
          <a:noFill xmlns:a="http://schemas.openxmlformats.org/drawingml/2006/main"/>
          <a:ln xmlns:a="http://schemas.openxmlformats.org/drawingml/2006/main" w="16002">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Oval 22">
            <a:extLst xmlns:a="http://schemas.openxmlformats.org/drawingml/2006/main">
              <a:ext uri="{FF2B5EF4-FFF2-40B4-BE49-F238E27FC236}">
                <a16:creationId xmlns:a16="http://schemas.microsoft.com/office/drawing/2014/main" id="{A3341C13-9DDE-42E2-8230-168F8BB0C862}"/>
              </a:ext>
            </a:extLst>
          </p:cNvPr>
          <p:cNvSpPr>
            <a:spLocks xmlns:a="http://schemas.openxmlformats.org/drawingml/2006/main" noGrp="1"/>
          </p:cNvSpPr>
          <p:nvPr/>
        </p:nvSpPr>
        <p:spPr>
          <a:xfrm xmlns:a="http://schemas.openxmlformats.org/drawingml/2006/main">
            <a:off x="1038758" y="3535070"/>
            <a:ext cx="98755" cy="98755"/>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01F4DDB2-060E-4B04-8B77-A3613D069AD4}"/>
              </a:ext>
            </a:extLst>
          </p:cNvPr>
          <p:cNvSpPr>
            <a:spLocks xmlns:a="http://schemas.openxmlformats.org/drawingml/2006/main" noGrp="1"/>
          </p:cNvSpPr>
          <p:nvPr/>
        </p:nvSpPr>
        <p:spPr>
          <a:xfrm xmlns:a="http://schemas.openxmlformats.org/drawingml/2006/main">
            <a:off x="1444752" y="3401568"/>
            <a:ext cx="431596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550" b="1" i="0">
                <a:solidFill>
                  <a:srgbClr val="9A6414"/>
                </a:solidFill>
                <a:latin typeface="Cambria"/>
                <a:ea typeface="Cambria"/>
                <a:cs typeface="Cambria"/>
              </a:rPr>
              <a:t>Sentient atom</a:t>
            </a:r>
          </a:p>
        </p:txBody>
      </p:sp>
      <p:sp>
        <p:nvSpPr>
          <p:cNvPr id="25" name="TextBox 24">
            <a:extLst xmlns:a="http://schemas.openxmlformats.org/drawingml/2006/main">
              <a:ext uri="{FF2B5EF4-FFF2-40B4-BE49-F238E27FC236}">
                <a16:creationId xmlns:a16="http://schemas.microsoft.com/office/drawing/2014/main" id="{3CB940A0-228E-458E-92AB-3FF427090EB5}"/>
              </a:ext>
            </a:extLst>
          </p:cNvPr>
          <p:cNvSpPr>
            <a:spLocks xmlns:a="http://schemas.openxmlformats.org/drawingml/2006/main" noGrp="1"/>
          </p:cNvSpPr>
          <p:nvPr/>
        </p:nvSpPr>
        <p:spPr>
          <a:xfrm xmlns:a="http://schemas.openxmlformats.org/drawingml/2006/main">
            <a:off x="941832" y="3913632"/>
            <a:ext cx="4745736"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300" b="0" i="0">
                <a:solidFill>
                  <a:srgbClr val="5A6377"/>
                </a:solidFill>
                <a:latin typeface="Calibri"/>
                <a:ea typeface="Calibri"/>
                <a:cs typeface="Calibri"/>
              </a:rPr>
              <a:t>At constitutional completion, particle exchange is said to cease and sentience to become permanent. Jeevan bears desire, thought, and expectation.</a:t>
            </a:r>
          </a:p>
        </p:txBody>
      </p:sp>
      <p:sp>
        <p:nvSpPr>
          <p:cNvPr id="26" name="Rounded Rectangle 25">
            <a:extLst xmlns:a="http://schemas.openxmlformats.org/drawingml/2006/main">
              <a:ext uri="{FF2B5EF4-FFF2-40B4-BE49-F238E27FC236}">
                <a16:creationId xmlns:a16="http://schemas.microsoft.com/office/drawing/2014/main" id="{D60D5A01-0F2F-43C0-A224-7688DA85F34F}"/>
              </a:ext>
            </a:extLst>
          </p:cNvPr>
          <p:cNvSpPr>
            <a:spLocks xmlns:a="http://schemas.openxmlformats.org/drawingml/2006/main" noGrp="1"/>
          </p:cNvSpPr>
          <p:nvPr/>
        </p:nvSpPr>
        <p:spPr>
          <a:xfrm xmlns:a="http://schemas.openxmlformats.org/drawingml/2006/main">
            <a:off x="6172200" y="3200400"/>
            <a:ext cx="5330952" cy="1965960"/>
          </a:xfrm>
          <a:prstGeom xmlns:a="http://schemas.openxmlformats.org/drawingml/2006/main" prst="roundRect">
            <a:avLst>
              <a:gd name="adj" fmla="val 6000"/>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Oval 26">
            <a:extLst xmlns:a="http://schemas.openxmlformats.org/drawingml/2006/main">
              <a:ext uri="{FF2B5EF4-FFF2-40B4-BE49-F238E27FC236}">
                <a16:creationId xmlns:a16="http://schemas.microsoft.com/office/drawing/2014/main" id="{0292EA46-CBAA-4A7F-AAF5-390F0D6B91D4}"/>
              </a:ext>
            </a:extLst>
          </p:cNvPr>
          <p:cNvSpPr>
            <a:spLocks xmlns:a="http://schemas.openxmlformats.org/drawingml/2006/main" noGrp="1"/>
          </p:cNvSpPr>
          <p:nvPr/>
        </p:nvSpPr>
        <p:spPr>
          <a:xfrm xmlns:a="http://schemas.openxmlformats.org/drawingml/2006/main">
            <a:off x="6385255" y="3395167"/>
            <a:ext cx="378561" cy="378561"/>
          </a:xfrm>
          <a:prstGeom xmlns:a="http://schemas.openxmlformats.org/drawingml/2006/main" prst="ellipse">
            <a:avLst/>
          </a:prstGeom>
          <a:noFill xmlns:a="http://schemas.openxmlformats.org/drawingml/2006/main"/>
          <a:ln xmlns:a="http://schemas.openxmlformats.org/drawingml/2006/main" w="1828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Oval 27">
            <a:extLst xmlns:a="http://schemas.openxmlformats.org/drawingml/2006/main">
              <a:ext uri="{FF2B5EF4-FFF2-40B4-BE49-F238E27FC236}">
                <a16:creationId xmlns:a16="http://schemas.microsoft.com/office/drawing/2014/main" id="{0B498F57-3489-4F84-89EE-77B3CAB043ED}"/>
              </a:ext>
            </a:extLst>
          </p:cNvPr>
          <p:cNvSpPr>
            <a:spLocks xmlns:a="http://schemas.openxmlformats.org/drawingml/2006/main" noGrp="1"/>
          </p:cNvSpPr>
          <p:nvPr/>
        </p:nvSpPr>
        <p:spPr>
          <a:xfrm xmlns:a="http://schemas.openxmlformats.org/drawingml/2006/main">
            <a:off x="6463436" y="3473348"/>
            <a:ext cx="222199" cy="222199"/>
          </a:xfrm>
          <a:prstGeom xmlns:a="http://schemas.openxmlformats.org/drawingml/2006/main" prst="ellipse">
            <a:avLst/>
          </a:prstGeom>
          <a:noFill xmlns:a="http://schemas.openxmlformats.org/drawingml/2006/main"/>
          <a:ln xmlns:a="http://schemas.openxmlformats.org/drawingml/2006/main" w="16002">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9" name="Oval 28">
            <a:extLst xmlns:a="http://schemas.openxmlformats.org/drawingml/2006/main">
              <a:ext uri="{FF2B5EF4-FFF2-40B4-BE49-F238E27FC236}">
                <a16:creationId xmlns:a16="http://schemas.microsoft.com/office/drawing/2014/main" id="{4AA4E6E1-4EFF-4AC3-99B1-54670ACBAEB0}"/>
              </a:ext>
            </a:extLst>
          </p:cNvPr>
          <p:cNvSpPr>
            <a:spLocks xmlns:a="http://schemas.openxmlformats.org/drawingml/2006/main" noGrp="1"/>
          </p:cNvSpPr>
          <p:nvPr/>
        </p:nvSpPr>
        <p:spPr>
          <a:xfrm xmlns:a="http://schemas.openxmlformats.org/drawingml/2006/main">
            <a:off x="6525158" y="3535070"/>
            <a:ext cx="98755" cy="98755"/>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0" name="TextBox 29">
            <a:extLst xmlns:a="http://schemas.openxmlformats.org/drawingml/2006/main">
              <a:ext uri="{FF2B5EF4-FFF2-40B4-BE49-F238E27FC236}">
                <a16:creationId xmlns:a16="http://schemas.microsoft.com/office/drawing/2014/main" id="{182AEC64-3218-4BC7-B684-60D446EC9928}"/>
              </a:ext>
            </a:extLst>
          </p:cNvPr>
          <p:cNvSpPr>
            <a:spLocks xmlns:a="http://schemas.openxmlformats.org/drawingml/2006/main" noGrp="1"/>
          </p:cNvSpPr>
          <p:nvPr/>
        </p:nvSpPr>
        <p:spPr>
          <a:xfrm xmlns:a="http://schemas.openxmlformats.org/drawingml/2006/main">
            <a:off x="6931152" y="3401568"/>
            <a:ext cx="4389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550" b="1" i="0">
                <a:solidFill>
                  <a:srgbClr val="1E2447"/>
                </a:solidFill>
                <a:latin typeface="Cambria"/>
                <a:ea typeface="Cambria"/>
                <a:cs typeface="Cambria"/>
              </a:rPr>
              <a:t>What remains unmeasured</a:t>
            </a:r>
          </a:p>
        </p:txBody>
      </p:sp>
      <p:sp>
        <p:nvSpPr>
          <p:cNvPr id="31" name="TextBox 30">
            <a:extLst xmlns:a="http://schemas.openxmlformats.org/drawingml/2006/main">
              <a:ext uri="{FF2B5EF4-FFF2-40B4-BE49-F238E27FC236}">
                <a16:creationId xmlns:a16="http://schemas.microsoft.com/office/drawing/2014/main" id="{0BB9BADD-FCF9-4F0C-8F02-23CD8B6D7560}"/>
              </a:ext>
            </a:extLst>
          </p:cNvPr>
          <p:cNvSpPr>
            <a:spLocks xmlns:a="http://schemas.openxmlformats.org/drawingml/2006/main" noGrp="1"/>
          </p:cNvSpPr>
          <p:nvPr/>
        </p:nvSpPr>
        <p:spPr>
          <a:xfrm xmlns:a="http://schemas.openxmlformats.org/drawingml/2006/main">
            <a:off x="6428232" y="3913632"/>
            <a:ext cx="4818888"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300" b="0" i="0">
                <a:solidFill>
                  <a:srgbClr val="5A6377"/>
                </a:solidFill>
                <a:latin typeface="Calibri"/>
                <a:ea typeface="Calibri"/>
                <a:cs typeface="Calibri"/>
              </a:rPr>
              <a:t>The sources give no public procedure for identifying this closed constitution or measuring its coordination with a brain.</a:t>
            </a:r>
          </a:p>
        </p:txBody>
      </p:sp>
      <p:sp>
        <p:nvSpPr>
          <p:cNvPr id="32" name="Rounded Rectangle 31">
            <a:extLst xmlns:a="http://schemas.openxmlformats.org/drawingml/2006/main">
              <a:ext uri="{FF2B5EF4-FFF2-40B4-BE49-F238E27FC236}">
                <a16:creationId xmlns:a16="http://schemas.microsoft.com/office/drawing/2014/main" id="{41575705-886A-4E69-AAC6-B14326F4A71E}"/>
              </a:ext>
            </a:extLst>
          </p:cNvPr>
          <p:cNvSpPr>
            <a:spLocks xmlns:a="http://schemas.openxmlformats.org/drawingml/2006/main" noGrp="1"/>
          </p:cNvSpPr>
          <p:nvPr/>
        </p:nvSpPr>
        <p:spPr>
          <a:xfrm xmlns:a="http://schemas.openxmlformats.org/drawingml/2006/main">
            <a:off x="685800" y="5440680"/>
            <a:ext cx="10817352" cy="749808"/>
          </a:xfrm>
          <a:prstGeom xmlns:a="http://schemas.openxmlformats.org/drawingml/2006/main" prst="roundRect">
            <a:avLst>
              <a:gd name="adj" fmla="val 12000"/>
            </a:avLst>
          </a:prstGeom>
          <a:solidFill xmlns:a="http://schemas.openxmlformats.org/drawingml/2006/main">
            <a:srgbClr val="FAF1D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3" name="TextBox 32">
            <a:extLst xmlns:a="http://schemas.openxmlformats.org/drawingml/2006/main">
              <a:ext uri="{FF2B5EF4-FFF2-40B4-BE49-F238E27FC236}">
                <a16:creationId xmlns:a16="http://schemas.microsoft.com/office/drawing/2014/main" id="{E56FD860-6CC0-4FD8-B73D-A1CD5934440A}"/>
              </a:ext>
            </a:extLst>
          </p:cNvPr>
          <p:cNvSpPr>
            <a:spLocks xmlns:a="http://schemas.openxmlformats.org/drawingml/2006/main" noGrp="1"/>
          </p:cNvSpPr>
          <p:nvPr/>
        </p:nvSpPr>
        <p:spPr>
          <a:xfrm xmlns:a="http://schemas.openxmlformats.org/drawingml/2006/main">
            <a:off x="1005840" y="5440680"/>
            <a:ext cx="10177272"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lnSpc>
                <a:spcPct val="105000"/>
              </a:lnSpc>
              <a:spcBef>
                <a:spcPts val="0"/>
              </a:spcBef>
              <a:spcAft>
                <a:spcPts val="400"/>
              </a:spcAft>
              <a:buNone/>
            </a:pPr>
            <a:r>
              <a:rPr sz="1450" b="1" i="0">
                <a:solidFill>
                  <a:srgbClr val="9A6414"/>
                </a:solidFill>
                <a:latin typeface="Calibri"/>
                <a:ea typeface="Calibri"/>
                <a:cs typeface="Calibri"/>
              </a:rPr>
              <a:t>Post-death continuity follows within the theory; evidence for it must be distinguished from the theory’s internal fit.</a:t>
            </a:r>
          </a:p>
        </p:txBody>
      </p:sp>
      <p:sp>
        <p:nvSpPr>
          <p:cNvPr id="34" name="TextBox 33">
            <a:extLst xmlns:a="http://schemas.openxmlformats.org/drawingml/2006/main">
              <a:ext uri="{FF2B5EF4-FFF2-40B4-BE49-F238E27FC236}">
                <a16:creationId xmlns:a16="http://schemas.microsoft.com/office/drawing/2014/main" id="{FACE6979-0772-44FE-A8E8-93EA9C5C22D8}"/>
              </a:ext>
            </a:extLst>
          </p:cNvPr>
          <p:cNvSpPr>
            <a:spLocks xmlns:a="http://schemas.openxmlformats.org/drawingml/2006/main" noGrp="1"/>
          </p:cNvSpPr>
          <p:nvPr/>
        </p:nvSpPr>
        <p:spPr>
          <a:xfrm xmlns:a="http://schemas.openxmlformats.org/drawingml/2006/main">
            <a:off x="685800" y="6419088"/>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100" b="0" i="1">
                <a:solidFill>
                  <a:srgbClr val="5A6377"/>
                </a:solidFill>
                <a:latin typeface="Calibri"/>
                <a:ea typeface="Calibri"/>
                <a:cs typeface="Calibri"/>
              </a:rPr>
              <a:t>Study §1.3.2 · §5.1</a:t>
            </a:r>
          </a:p>
        </p:txBody>
      </p:sp>
    </p:spTree>
    <p:extLst>
      <p:ext uri="{BB962C8B-B14F-4D97-AF65-F5344CB8AC3E}">
        <p14:creationId xmlns:p14="http://schemas.microsoft.com/office/powerpoint/2010/main" val="134713089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97D3DD0-B933-4D20-84B6-CBBDFDA73F0D}"/>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Oval 2">
            <a:extLst xmlns:a="http://schemas.openxmlformats.org/drawingml/2006/main">
              <a:ext uri="{FF2B5EF4-FFF2-40B4-BE49-F238E27FC236}">
                <a16:creationId xmlns:a16="http://schemas.microsoft.com/office/drawing/2014/main" id="{49782278-A3A2-4CB8-AA1C-83D66974A5DC}"/>
              </a:ext>
            </a:extLst>
          </p:cNvPr>
          <p:cNvSpPr>
            <a:spLocks xmlns:a="http://schemas.openxmlformats.org/drawingml/2006/main" noGrp="1"/>
          </p:cNvSpPr>
          <p:nvPr/>
        </p:nvSpPr>
        <p:spPr>
          <a:xfrm xmlns:a="http://schemas.openxmlformats.org/drawingml/2006/main">
            <a:off x="654253" y="507949"/>
            <a:ext cx="483717" cy="483717"/>
          </a:xfrm>
          <a:prstGeom xmlns:a="http://schemas.openxmlformats.org/drawingml/2006/main" prst="ellipse">
            <a:avLst/>
          </a:prstGeom>
          <a:noFill xmlns:a="http://schemas.openxmlformats.org/drawingml/2006/main"/>
          <a:ln xmlns:a="http://schemas.openxmlformats.org/drawingml/2006/main" w="2336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Oval 3">
            <a:extLst xmlns:a="http://schemas.openxmlformats.org/drawingml/2006/main">
              <a:ext uri="{FF2B5EF4-FFF2-40B4-BE49-F238E27FC236}">
                <a16:creationId xmlns:a16="http://schemas.microsoft.com/office/drawing/2014/main" id="{C17FA2AD-2DF0-419B-BD72-EB6937CF71D9}"/>
              </a:ext>
            </a:extLst>
          </p:cNvPr>
          <p:cNvSpPr>
            <a:spLocks xmlns:a="http://schemas.openxmlformats.org/drawingml/2006/main" noGrp="1"/>
          </p:cNvSpPr>
          <p:nvPr/>
        </p:nvSpPr>
        <p:spPr>
          <a:xfrm xmlns:a="http://schemas.openxmlformats.org/drawingml/2006/main">
            <a:off x="754151" y="607847"/>
            <a:ext cx="283921" cy="283921"/>
          </a:xfrm>
          <a:prstGeom xmlns:a="http://schemas.openxmlformats.org/drawingml/2006/main" prst="ellipse">
            <a:avLst/>
          </a:prstGeom>
          <a:noFill xmlns:a="http://schemas.openxmlformats.org/drawingml/2006/main"/>
          <a:ln xmlns:a="http://schemas.openxmlformats.org/drawingml/2006/main" w="20447">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Oval 4">
            <a:extLst xmlns:a="http://schemas.openxmlformats.org/drawingml/2006/main">
              <a:ext uri="{FF2B5EF4-FFF2-40B4-BE49-F238E27FC236}">
                <a16:creationId xmlns:a16="http://schemas.microsoft.com/office/drawing/2014/main" id="{A5D686B1-A9A3-481F-B360-B28F0014CE94}"/>
              </a:ext>
            </a:extLst>
          </p:cNvPr>
          <p:cNvSpPr>
            <a:spLocks xmlns:a="http://schemas.openxmlformats.org/drawingml/2006/main" noGrp="1"/>
          </p:cNvSpPr>
          <p:nvPr/>
        </p:nvSpPr>
        <p:spPr>
          <a:xfrm xmlns:a="http://schemas.openxmlformats.org/drawingml/2006/main">
            <a:off x="833018" y="686714"/>
            <a:ext cx="126187" cy="126187"/>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2C958DD1-CCAB-4925-9904-35F6C62C4430}"/>
              </a:ext>
            </a:extLst>
          </p:cNvPr>
          <p:cNvSpPr>
            <a:spLocks xmlns:a="http://schemas.openxmlformats.org/drawingml/2006/main" noGrp="1"/>
          </p:cNvSpPr>
          <p:nvPr/>
        </p:nvSpPr>
        <p:spPr>
          <a:xfrm xmlns:a="http://schemas.openxmlformats.org/drawingml/2006/main">
            <a:off x="1325880" y="457200"/>
            <a:ext cx="10424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200" b="1" i="0">
                <a:solidFill>
                  <a:srgbClr val="C9821E"/>
                </a:solidFill>
                <a:latin typeface="Calibri"/>
                <a:ea typeface="Calibri"/>
                <a:cs typeface="Calibri"/>
              </a:rPr>
              <a:t>MADHYASTH DARSHAN · ONTOLOGY</a:t>
            </a:r>
          </a:p>
        </p:txBody>
      </p:sp>
      <p:sp>
        <p:nvSpPr>
          <p:cNvPr id="7" name="TextBox 6">
            <a:extLst xmlns:a="http://schemas.openxmlformats.org/drawingml/2006/main">
              <a:ext uri="{FF2B5EF4-FFF2-40B4-BE49-F238E27FC236}">
                <a16:creationId xmlns:a16="http://schemas.microsoft.com/office/drawing/2014/main" id="{840DD4B0-01DA-4413-959B-3053FD1420F8}"/>
              </a:ext>
            </a:extLst>
          </p:cNvPr>
          <p:cNvSpPr>
            <a:spLocks xmlns:a="http://schemas.openxmlformats.org/drawingml/2006/main" noGrp="1"/>
          </p:cNvSpPr>
          <p:nvPr/>
        </p:nvSpPr>
        <p:spPr>
          <a:xfrm xmlns:a="http://schemas.openxmlformats.org/drawingml/2006/main">
            <a:off x="1280160" y="676656"/>
            <a:ext cx="105156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3000" b="1" i="0">
                <a:solidFill>
                  <a:srgbClr val="1E2447"/>
                </a:solidFill>
                <a:latin typeface="Cambria"/>
                <a:ea typeface="Cambria"/>
                <a:cs typeface="Cambria"/>
              </a:rPr>
              <a:t>One Joint Form, Two Explanatory Roles</a:t>
            </a:r>
          </a:p>
        </p:txBody>
      </p:sp>
      <p:sp>
        <p:nvSpPr>
          <p:cNvPr id="8" name="Rounded Rectangle 7">
            <a:extLst xmlns:a="http://schemas.openxmlformats.org/drawingml/2006/main">
              <a:ext uri="{FF2B5EF4-FFF2-40B4-BE49-F238E27FC236}">
                <a16:creationId xmlns:a16="http://schemas.microsoft.com/office/drawing/2014/main" id="{B1D74832-DC9F-4C09-9D21-824632E68552}"/>
              </a:ext>
            </a:extLst>
          </p:cNvPr>
          <p:cNvSpPr>
            <a:spLocks xmlns:a="http://schemas.openxmlformats.org/drawingml/2006/main" noGrp="1"/>
          </p:cNvSpPr>
          <p:nvPr/>
        </p:nvSpPr>
        <p:spPr>
          <a:xfrm xmlns:a="http://schemas.openxmlformats.org/drawingml/2006/main">
            <a:off x="685800" y="1783080"/>
            <a:ext cx="3429000" cy="2743200"/>
          </a:xfrm>
          <a:prstGeom xmlns:a="http://schemas.openxmlformats.org/drawingml/2006/main" prst="roundRect">
            <a:avLst>
              <a:gd name="adj" fmla="val 6000"/>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Oval 8">
            <a:extLst xmlns:a="http://schemas.openxmlformats.org/drawingml/2006/main">
              <a:ext uri="{FF2B5EF4-FFF2-40B4-BE49-F238E27FC236}">
                <a16:creationId xmlns:a16="http://schemas.microsoft.com/office/drawing/2014/main" id="{9761B882-E531-4446-B68E-28A783AD1D22}"/>
              </a:ext>
            </a:extLst>
          </p:cNvPr>
          <p:cNvSpPr>
            <a:spLocks xmlns:a="http://schemas.openxmlformats.org/drawingml/2006/main" noGrp="1"/>
          </p:cNvSpPr>
          <p:nvPr/>
        </p:nvSpPr>
        <p:spPr>
          <a:xfrm xmlns:a="http://schemas.openxmlformats.org/drawingml/2006/main">
            <a:off x="898855" y="1977847"/>
            <a:ext cx="378561" cy="378561"/>
          </a:xfrm>
          <a:prstGeom xmlns:a="http://schemas.openxmlformats.org/drawingml/2006/main" prst="ellipse">
            <a:avLst/>
          </a:prstGeom>
          <a:noFill xmlns:a="http://schemas.openxmlformats.org/drawingml/2006/main"/>
          <a:ln xmlns:a="http://schemas.openxmlformats.org/drawingml/2006/main" w="1828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Oval 9">
            <a:extLst xmlns:a="http://schemas.openxmlformats.org/drawingml/2006/main">
              <a:ext uri="{FF2B5EF4-FFF2-40B4-BE49-F238E27FC236}">
                <a16:creationId xmlns:a16="http://schemas.microsoft.com/office/drawing/2014/main" id="{31E288C8-15BF-4F3D-9DF8-BCD727DA2F15}"/>
              </a:ext>
            </a:extLst>
          </p:cNvPr>
          <p:cNvSpPr>
            <a:spLocks xmlns:a="http://schemas.openxmlformats.org/drawingml/2006/main" noGrp="1"/>
          </p:cNvSpPr>
          <p:nvPr/>
        </p:nvSpPr>
        <p:spPr>
          <a:xfrm xmlns:a="http://schemas.openxmlformats.org/drawingml/2006/main">
            <a:off x="977036" y="2056028"/>
            <a:ext cx="222199" cy="222199"/>
          </a:xfrm>
          <a:prstGeom xmlns:a="http://schemas.openxmlformats.org/drawingml/2006/main" prst="ellipse">
            <a:avLst/>
          </a:prstGeom>
          <a:noFill xmlns:a="http://schemas.openxmlformats.org/drawingml/2006/main"/>
          <a:ln xmlns:a="http://schemas.openxmlformats.org/drawingml/2006/main" w="16002">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Oval 10">
            <a:extLst xmlns:a="http://schemas.openxmlformats.org/drawingml/2006/main">
              <a:ext uri="{FF2B5EF4-FFF2-40B4-BE49-F238E27FC236}">
                <a16:creationId xmlns:a16="http://schemas.microsoft.com/office/drawing/2014/main" id="{0B72A06F-F0ED-4ED9-AE33-87ADEB7844D7}"/>
              </a:ext>
            </a:extLst>
          </p:cNvPr>
          <p:cNvSpPr>
            <a:spLocks xmlns:a="http://schemas.openxmlformats.org/drawingml/2006/main" noGrp="1"/>
          </p:cNvSpPr>
          <p:nvPr/>
        </p:nvSpPr>
        <p:spPr>
          <a:xfrm xmlns:a="http://schemas.openxmlformats.org/drawingml/2006/main">
            <a:off x="1038758" y="2117750"/>
            <a:ext cx="98755" cy="98755"/>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8343854A-E1E3-4521-BD8A-30B99A480BAF}"/>
              </a:ext>
            </a:extLst>
          </p:cNvPr>
          <p:cNvSpPr>
            <a:spLocks xmlns:a="http://schemas.openxmlformats.org/drawingml/2006/main" noGrp="1"/>
          </p:cNvSpPr>
          <p:nvPr/>
        </p:nvSpPr>
        <p:spPr>
          <a:xfrm xmlns:a="http://schemas.openxmlformats.org/drawingml/2006/main">
            <a:off x="1444752" y="1984248"/>
            <a:ext cx="2487168" cy="5232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550" b="1" i="0">
                <a:solidFill>
                  <a:srgbClr val="1E2447"/>
                </a:solidFill>
                <a:latin typeface="Cambria"/>
                <a:ea typeface="Cambria"/>
                <a:cs typeface="Cambria"/>
              </a:rPr>
              <a:t>Different roles need explanation</a:t>
            </a:r>
          </a:p>
        </p:txBody>
      </p:sp>
      <p:sp>
        <p:nvSpPr>
          <p:cNvPr id="13" name="TextBox 12">
            <a:extLst xmlns:a="http://schemas.openxmlformats.org/drawingml/2006/main">
              <a:ext uri="{FF2B5EF4-FFF2-40B4-BE49-F238E27FC236}">
                <a16:creationId xmlns:a16="http://schemas.microsoft.com/office/drawing/2014/main" id="{0C508A4A-47EC-4EC9-986F-E9EB333F00E9}"/>
              </a:ext>
            </a:extLst>
          </p:cNvPr>
          <p:cNvSpPr>
            <a:spLocks xmlns:a="http://schemas.openxmlformats.org/drawingml/2006/main" noGrp="1"/>
          </p:cNvSpPr>
          <p:nvPr/>
        </p:nvSpPr>
        <p:spPr>
          <a:xfrm xmlns:a="http://schemas.openxmlformats.org/drawingml/2006/main">
            <a:off x="941832" y="2496312"/>
            <a:ext cx="2916936"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250" b="0" i="0">
                <a:solidFill>
                  <a:srgbClr val="5A6377"/>
                </a:solidFill>
                <a:latin typeface="Calibri"/>
                <a:ea typeface="Calibri"/>
                <a:cs typeface="Calibri"/>
              </a:rPr>
              <a:t>The body supplies sensory organs and neural processing. Jeevan bears felt experience and evaluation. These roles explain the proposed joint form; they do not by themselves prove two entities.</a:t>
            </a:r>
          </a:p>
        </p:txBody>
      </p:sp>
      <p:sp>
        <p:nvSpPr>
          <p:cNvPr id="14" name="Rounded Rectangle 13">
            <a:extLst xmlns:a="http://schemas.openxmlformats.org/drawingml/2006/main">
              <a:ext uri="{FF2B5EF4-FFF2-40B4-BE49-F238E27FC236}">
                <a16:creationId xmlns:a16="http://schemas.microsoft.com/office/drawing/2014/main" id="{4B9E4AB7-77AA-45C9-8487-53A3C5FC141E}"/>
              </a:ext>
            </a:extLst>
          </p:cNvPr>
          <p:cNvSpPr>
            <a:spLocks xmlns:a="http://schemas.openxmlformats.org/drawingml/2006/main" noGrp="1"/>
          </p:cNvSpPr>
          <p:nvPr/>
        </p:nvSpPr>
        <p:spPr>
          <a:xfrm xmlns:a="http://schemas.openxmlformats.org/drawingml/2006/main">
            <a:off x="4379976" y="1783080"/>
            <a:ext cx="3429000" cy="2743200"/>
          </a:xfrm>
          <a:prstGeom xmlns:a="http://schemas.openxmlformats.org/drawingml/2006/main" prst="roundRect">
            <a:avLst>
              <a:gd name="adj" fmla="val 6000"/>
            </a:avLst>
          </a:prstGeom>
          <a:solidFill xmlns:a="http://schemas.openxmlformats.org/drawingml/2006/main">
            <a:srgbClr val="FAF1D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Oval 14">
            <a:extLst xmlns:a="http://schemas.openxmlformats.org/drawingml/2006/main">
              <a:ext uri="{FF2B5EF4-FFF2-40B4-BE49-F238E27FC236}">
                <a16:creationId xmlns:a16="http://schemas.microsoft.com/office/drawing/2014/main" id="{82D1998F-025C-462F-A1BD-9047C41E6AF5}"/>
              </a:ext>
            </a:extLst>
          </p:cNvPr>
          <p:cNvSpPr>
            <a:spLocks xmlns:a="http://schemas.openxmlformats.org/drawingml/2006/main" noGrp="1"/>
          </p:cNvSpPr>
          <p:nvPr/>
        </p:nvSpPr>
        <p:spPr>
          <a:xfrm xmlns:a="http://schemas.openxmlformats.org/drawingml/2006/main">
            <a:off x="4593031" y="1977847"/>
            <a:ext cx="378561" cy="378561"/>
          </a:xfrm>
          <a:prstGeom xmlns:a="http://schemas.openxmlformats.org/drawingml/2006/main" prst="ellipse">
            <a:avLst/>
          </a:prstGeom>
          <a:noFill xmlns:a="http://schemas.openxmlformats.org/drawingml/2006/main"/>
          <a:ln xmlns:a="http://schemas.openxmlformats.org/drawingml/2006/main" w="1828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Oval 15">
            <a:extLst xmlns:a="http://schemas.openxmlformats.org/drawingml/2006/main">
              <a:ext uri="{FF2B5EF4-FFF2-40B4-BE49-F238E27FC236}">
                <a16:creationId xmlns:a16="http://schemas.microsoft.com/office/drawing/2014/main" id="{9E857F9F-4BA4-43A4-9264-DFD4FAC15195}"/>
              </a:ext>
            </a:extLst>
          </p:cNvPr>
          <p:cNvSpPr>
            <a:spLocks xmlns:a="http://schemas.openxmlformats.org/drawingml/2006/main" noGrp="1"/>
          </p:cNvSpPr>
          <p:nvPr/>
        </p:nvSpPr>
        <p:spPr>
          <a:xfrm xmlns:a="http://schemas.openxmlformats.org/drawingml/2006/main">
            <a:off x="4671212" y="2056028"/>
            <a:ext cx="222199" cy="222199"/>
          </a:xfrm>
          <a:prstGeom xmlns:a="http://schemas.openxmlformats.org/drawingml/2006/main" prst="ellipse">
            <a:avLst/>
          </a:prstGeom>
          <a:noFill xmlns:a="http://schemas.openxmlformats.org/drawingml/2006/main"/>
          <a:ln xmlns:a="http://schemas.openxmlformats.org/drawingml/2006/main" w="16002">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Oval 16">
            <a:extLst xmlns:a="http://schemas.openxmlformats.org/drawingml/2006/main">
              <a:ext uri="{FF2B5EF4-FFF2-40B4-BE49-F238E27FC236}">
                <a16:creationId xmlns:a16="http://schemas.microsoft.com/office/drawing/2014/main" id="{11E2DF1A-1B2C-4FA9-A900-3F84F75C1B16}"/>
              </a:ext>
            </a:extLst>
          </p:cNvPr>
          <p:cNvSpPr>
            <a:spLocks xmlns:a="http://schemas.openxmlformats.org/drawingml/2006/main" noGrp="1"/>
          </p:cNvSpPr>
          <p:nvPr/>
        </p:nvSpPr>
        <p:spPr>
          <a:xfrm xmlns:a="http://schemas.openxmlformats.org/drawingml/2006/main">
            <a:off x="4732934" y="2117750"/>
            <a:ext cx="98755" cy="98755"/>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153D23BB-0095-4ED2-9DA4-E1F46468A4EE}"/>
              </a:ext>
            </a:extLst>
          </p:cNvPr>
          <p:cNvSpPr>
            <a:spLocks xmlns:a="http://schemas.openxmlformats.org/drawingml/2006/main" noGrp="1"/>
          </p:cNvSpPr>
          <p:nvPr/>
        </p:nvSpPr>
        <p:spPr>
          <a:xfrm xmlns:a="http://schemas.openxmlformats.org/drawingml/2006/main">
            <a:off x="5138928" y="1984248"/>
            <a:ext cx="248716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550" b="1" i="0">
                <a:solidFill>
                  <a:srgbClr val="9A6414"/>
                </a:solidFill>
                <a:latin typeface="Cambria"/>
                <a:ea typeface="Cambria"/>
                <a:cs typeface="Cambria"/>
              </a:rPr>
              <a:t>Sensitivity in the joint form</a:t>
            </a:r>
          </a:p>
        </p:txBody>
      </p:sp>
      <p:sp>
        <p:nvSpPr>
          <p:cNvPr id="19" name="TextBox 18">
            <a:extLst xmlns:a="http://schemas.openxmlformats.org/drawingml/2006/main">
              <a:ext uri="{FF2B5EF4-FFF2-40B4-BE49-F238E27FC236}">
                <a16:creationId xmlns:a16="http://schemas.microsoft.com/office/drawing/2014/main" id="{545D98CD-B403-4216-8DA8-2884448A3869}"/>
              </a:ext>
            </a:extLst>
          </p:cNvPr>
          <p:cNvSpPr>
            <a:spLocks xmlns:a="http://schemas.openxmlformats.org/drawingml/2006/main" noGrp="1"/>
          </p:cNvSpPr>
          <p:nvPr/>
        </p:nvSpPr>
        <p:spPr>
          <a:xfrm xmlns:a="http://schemas.openxmlformats.org/drawingml/2006/main">
            <a:off x="4636008" y="2496312"/>
            <a:ext cx="2916936"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250" b="0" i="0">
                <a:solidFill>
                  <a:srgbClr val="5A6377"/>
                </a:solidFill>
                <a:latin typeface="Calibri"/>
                <a:ea typeface="Calibri"/>
                <a:cs typeface="Calibri"/>
              </a:rPr>
              <a:t>Sensitivity requires jeevan together with a suitable body. The sources describe the brain as a medium receiving signals from jeevan. How this coordination works remains to be established.</a:t>
            </a:r>
          </a:p>
        </p:txBody>
      </p:sp>
      <p:sp>
        <p:nvSpPr>
          <p:cNvPr id="20" name="Rounded Rectangle 19">
            <a:extLst xmlns:a="http://schemas.openxmlformats.org/drawingml/2006/main">
              <a:ext uri="{FF2B5EF4-FFF2-40B4-BE49-F238E27FC236}">
                <a16:creationId xmlns:a16="http://schemas.microsoft.com/office/drawing/2014/main" id="{0F526374-9BD6-4DB3-B225-5DDB7E798359}"/>
              </a:ext>
            </a:extLst>
          </p:cNvPr>
          <p:cNvSpPr>
            <a:spLocks xmlns:a="http://schemas.openxmlformats.org/drawingml/2006/main" noGrp="1"/>
          </p:cNvSpPr>
          <p:nvPr/>
        </p:nvSpPr>
        <p:spPr>
          <a:xfrm xmlns:a="http://schemas.openxmlformats.org/drawingml/2006/main">
            <a:off x="8074152" y="1783080"/>
            <a:ext cx="3429000" cy="2743200"/>
          </a:xfrm>
          <a:prstGeom xmlns:a="http://schemas.openxmlformats.org/drawingml/2006/main" prst="roundRect">
            <a:avLst>
              <a:gd name="adj" fmla="val 6000"/>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Oval 20">
            <a:extLst xmlns:a="http://schemas.openxmlformats.org/drawingml/2006/main">
              <a:ext uri="{FF2B5EF4-FFF2-40B4-BE49-F238E27FC236}">
                <a16:creationId xmlns:a16="http://schemas.microsoft.com/office/drawing/2014/main" id="{3EF4737D-DF82-4527-8AD3-07FAA144EC0A}"/>
              </a:ext>
            </a:extLst>
          </p:cNvPr>
          <p:cNvSpPr>
            <a:spLocks xmlns:a="http://schemas.openxmlformats.org/drawingml/2006/main" noGrp="1"/>
          </p:cNvSpPr>
          <p:nvPr/>
        </p:nvSpPr>
        <p:spPr>
          <a:xfrm xmlns:a="http://schemas.openxmlformats.org/drawingml/2006/main">
            <a:off x="8287207" y="1977847"/>
            <a:ext cx="378561" cy="378561"/>
          </a:xfrm>
          <a:prstGeom xmlns:a="http://schemas.openxmlformats.org/drawingml/2006/main" prst="ellipse">
            <a:avLst/>
          </a:prstGeom>
          <a:noFill xmlns:a="http://schemas.openxmlformats.org/drawingml/2006/main"/>
          <a:ln xmlns:a="http://schemas.openxmlformats.org/drawingml/2006/main" w="1828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Oval 21">
            <a:extLst xmlns:a="http://schemas.openxmlformats.org/drawingml/2006/main">
              <a:ext uri="{FF2B5EF4-FFF2-40B4-BE49-F238E27FC236}">
                <a16:creationId xmlns:a16="http://schemas.microsoft.com/office/drawing/2014/main" id="{3F0A108A-FB3C-4E2B-A363-9224B28DEF58}"/>
              </a:ext>
            </a:extLst>
          </p:cNvPr>
          <p:cNvSpPr>
            <a:spLocks xmlns:a="http://schemas.openxmlformats.org/drawingml/2006/main" noGrp="1"/>
          </p:cNvSpPr>
          <p:nvPr/>
        </p:nvSpPr>
        <p:spPr>
          <a:xfrm xmlns:a="http://schemas.openxmlformats.org/drawingml/2006/main">
            <a:off x="8365388" y="2056028"/>
            <a:ext cx="222199" cy="222199"/>
          </a:xfrm>
          <a:prstGeom xmlns:a="http://schemas.openxmlformats.org/drawingml/2006/main" prst="ellipse">
            <a:avLst/>
          </a:prstGeom>
          <a:noFill xmlns:a="http://schemas.openxmlformats.org/drawingml/2006/main"/>
          <a:ln xmlns:a="http://schemas.openxmlformats.org/drawingml/2006/main" w="16002">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Oval 22">
            <a:extLst xmlns:a="http://schemas.openxmlformats.org/drawingml/2006/main">
              <a:ext uri="{FF2B5EF4-FFF2-40B4-BE49-F238E27FC236}">
                <a16:creationId xmlns:a16="http://schemas.microsoft.com/office/drawing/2014/main" id="{3FE9E055-59C7-487F-B14A-5110A977E772}"/>
              </a:ext>
            </a:extLst>
          </p:cNvPr>
          <p:cNvSpPr>
            <a:spLocks xmlns:a="http://schemas.openxmlformats.org/drawingml/2006/main" noGrp="1"/>
          </p:cNvSpPr>
          <p:nvPr/>
        </p:nvSpPr>
        <p:spPr>
          <a:xfrm xmlns:a="http://schemas.openxmlformats.org/drawingml/2006/main">
            <a:off x="8427110" y="2117750"/>
            <a:ext cx="98755" cy="98755"/>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7B616CB8-22F6-402D-89E8-699F2D8DCE4D}"/>
              </a:ext>
            </a:extLst>
          </p:cNvPr>
          <p:cNvSpPr>
            <a:spLocks xmlns:a="http://schemas.openxmlformats.org/drawingml/2006/main" noGrp="1"/>
          </p:cNvSpPr>
          <p:nvPr/>
        </p:nvSpPr>
        <p:spPr>
          <a:xfrm xmlns:a="http://schemas.openxmlformats.org/drawingml/2006/main">
            <a:off x="8833104" y="1984248"/>
            <a:ext cx="2487168" cy="5232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550" b="1" i="0">
                <a:solidFill>
                  <a:srgbClr val="1E2447"/>
                </a:solidFill>
                <a:latin typeface="Cambria"/>
                <a:ea typeface="Cambria"/>
                <a:cs typeface="Cambria"/>
              </a:rPr>
              <a:t>Koshas are not a one-to-one map</a:t>
            </a:r>
          </a:p>
        </p:txBody>
      </p:sp>
      <p:sp>
        <p:nvSpPr>
          <p:cNvPr id="25" name="TextBox 24">
            <a:extLst xmlns:a="http://schemas.openxmlformats.org/drawingml/2006/main">
              <a:ext uri="{FF2B5EF4-FFF2-40B4-BE49-F238E27FC236}">
                <a16:creationId xmlns:a16="http://schemas.microsoft.com/office/drawing/2014/main" id="{A58F2D1A-FA10-4A3B-976C-F6850CB089D3}"/>
              </a:ext>
            </a:extLst>
          </p:cNvPr>
          <p:cNvSpPr>
            <a:spLocks xmlns:a="http://schemas.openxmlformats.org/drawingml/2006/main" noGrp="1"/>
          </p:cNvSpPr>
          <p:nvPr/>
        </p:nvSpPr>
        <p:spPr>
          <a:xfrm xmlns:a="http://schemas.openxmlformats.org/drawingml/2006/main">
            <a:off x="8330183" y="2496312"/>
            <a:ext cx="2916936"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250" b="0" i="0">
                <a:solidFill>
                  <a:srgbClr val="5A6377"/>
                </a:solidFill>
                <a:latin typeface="Calibri"/>
                <a:ea typeface="Calibri"/>
                <a:cs typeface="Calibri"/>
              </a:rPr>
              <a:t>Both accounts use five koshas, but assign them different functions and philosophical roles. Shared vocabulary does not establish a shared model.</a:t>
            </a:r>
          </a:p>
        </p:txBody>
      </p:sp>
      <p:sp>
        <p:nvSpPr>
          <p:cNvPr id="26" name="Rounded Rectangle 25">
            <a:extLst xmlns:a="http://schemas.openxmlformats.org/drawingml/2006/main">
              <a:ext uri="{FF2B5EF4-FFF2-40B4-BE49-F238E27FC236}">
                <a16:creationId xmlns:a16="http://schemas.microsoft.com/office/drawing/2014/main" id="{7E48931B-FE0F-4B03-83D1-0204065AF27D}"/>
              </a:ext>
            </a:extLst>
          </p:cNvPr>
          <p:cNvSpPr>
            <a:spLocks xmlns:a="http://schemas.openxmlformats.org/drawingml/2006/main" noGrp="1"/>
          </p:cNvSpPr>
          <p:nvPr/>
        </p:nvSpPr>
        <p:spPr>
          <a:xfrm xmlns:a="http://schemas.openxmlformats.org/drawingml/2006/main">
            <a:off x="685800" y="4800600"/>
            <a:ext cx="10817352" cy="960120"/>
          </a:xfrm>
          <a:prstGeom xmlns:a="http://schemas.openxmlformats.org/drawingml/2006/main" prst="roundRect">
            <a:avLst>
              <a:gd name="adj" fmla="val 10000"/>
            </a:avLst>
          </a:prstGeom>
          <a:solidFill xmlns:a="http://schemas.openxmlformats.org/drawingml/2006/main">
            <a:srgbClr val="1E244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TextBox 26">
            <a:extLst xmlns:a="http://schemas.openxmlformats.org/drawingml/2006/main">
              <a:ext uri="{FF2B5EF4-FFF2-40B4-BE49-F238E27FC236}">
                <a16:creationId xmlns:a16="http://schemas.microsoft.com/office/drawing/2014/main" id="{234FECAA-DA7B-405F-A91F-878B9CC50C62}"/>
              </a:ext>
            </a:extLst>
          </p:cNvPr>
          <p:cNvSpPr>
            <a:spLocks xmlns:a="http://schemas.openxmlformats.org/drawingml/2006/main" noGrp="1"/>
          </p:cNvSpPr>
          <p:nvPr/>
        </p:nvSpPr>
        <p:spPr>
          <a:xfrm xmlns:a="http://schemas.openxmlformats.org/drawingml/2006/main">
            <a:off x="1051560" y="4937760"/>
            <a:ext cx="1014984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lnSpc>
                <a:spcPct val="105000"/>
              </a:lnSpc>
              <a:spcBef>
                <a:spcPts val="0"/>
              </a:spcBef>
              <a:spcAft>
                <a:spcPts val="300"/>
              </a:spcAft>
              <a:buNone/>
            </a:pPr>
            <a:r>
              <a:rPr sz="1450" b="0" i="1">
                <a:solidFill>
                  <a:srgbClr val="FFFFFF"/>
                </a:solidFill>
                <a:latin typeface="Calibri"/>
                <a:ea typeface="Calibri"/>
                <a:cs typeface="Calibri"/>
              </a:rPr>
              <a:t>“The body is not jeevan, and jeevan is not the body. Jeevan is eternal, and the body is merely a vehicle and medium for jeevan.”</a:t>
            </a:r>
          </a:p>
          <a:p xmlns:a="http://schemas.openxmlformats.org/drawingml/2006/main">
            <a:pPr algn="l">
              <a:lnSpc>
                <a:spcPct val="105000"/>
              </a:lnSpc>
              <a:spcBef>
                <a:spcPts val="0"/>
              </a:spcBef>
              <a:spcAft>
                <a:spcPts val="300"/>
              </a:spcAft>
              <a:buNone/>
            </a:pPr>
            <a:r>
              <a:rPr sz="1200" b="1" i="0">
                <a:solidFill>
                  <a:srgbClr val="C9D4EF"/>
                </a:solidFill>
                <a:latin typeface="Calibri"/>
                <a:ea typeface="Calibri"/>
                <a:cs typeface="Calibri"/>
              </a:rPr>
              <a:t>— SB, Ch. 7</a:t>
            </a:r>
          </a:p>
        </p:txBody>
      </p:sp>
      <p:sp>
        <p:nvSpPr>
          <p:cNvPr id="28" name="TextBox 27">
            <a:extLst xmlns:a="http://schemas.openxmlformats.org/drawingml/2006/main">
              <a:ext uri="{FF2B5EF4-FFF2-40B4-BE49-F238E27FC236}">
                <a16:creationId xmlns:a16="http://schemas.microsoft.com/office/drawing/2014/main" id="{9E8075D6-7139-4589-A20B-48F37D7D4CA2}"/>
              </a:ext>
            </a:extLst>
          </p:cNvPr>
          <p:cNvSpPr>
            <a:spLocks xmlns:a="http://schemas.openxmlformats.org/drawingml/2006/main" noGrp="1"/>
          </p:cNvSpPr>
          <p:nvPr/>
        </p:nvSpPr>
        <p:spPr>
          <a:xfrm xmlns:a="http://schemas.openxmlformats.org/drawingml/2006/main">
            <a:off x="685800" y="6419088"/>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100" b="0" i="1">
                <a:solidFill>
                  <a:srgbClr val="5A6377"/>
                </a:solidFill>
                <a:latin typeface="Calibri"/>
                <a:ea typeface="Calibri"/>
                <a:cs typeface="Calibri"/>
              </a:rPr>
              <a:t>Study §1.3.3–1.3.5 · §5.1</a:t>
            </a:r>
          </a:p>
        </p:txBody>
      </p:sp>
    </p:spTree>
    <p:extLst>
      <p:ext uri="{BB962C8B-B14F-4D97-AF65-F5344CB8AC3E}">
        <p14:creationId xmlns:p14="http://schemas.microsoft.com/office/powerpoint/2010/main" val="41009118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48F1A19-797F-4931-81FC-EAAFAB3D229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Oval 2">
            <a:extLst xmlns:a="http://schemas.openxmlformats.org/drawingml/2006/main">
              <a:ext uri="{FF2B5EF4-FFF2-40B4-BE49-F238E27FC236}">
                <a16:creationId xmlns:a16="http://schemas.microsoft.com/office/drawing/2014/main" id="{4DFC182A-EA7B-41E1-A251-29C88DED4211}"/>
              </a:ext>
            </a:extLst>
          </p:cNvPr>
          <p:cNvSpPr>
            <a:spLocks xmlns:a="http://schemas.openxmlformats.org/drawingml/2006/main" noGrp="1"/>
          </p:cNvSpPr>
          <p:nvPr/>
        </p:nvSpPr>
        <p:spPr>
          <a:xfrm xmlns:a="http://schemas.openxmlformats.org/drawingml/2006/main">
            <a:off x="654253" y="507949"/>
            <a:ext cx="483717" cy="483717"/>
          </a:xfrm>
          <a:prstGeom xmlns:a="http://schemas.openxmlformats.org/drawingml/2006/main" prst="ellipse">
            <a:avLst/>
          </a:prstGeom>
          <a:noFill xmlns:a="http://schemas.openxmlformats.org/drawingml/2006/main"/>
          <a:ln xmlns:a="http://schemas.openxmlformats.org/drawingml/2006/main" w="2336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Oval 3">
            <a:extLst xmlns:a="http://schemas.openxmlformats.org/drawingml/2006/main">
              <a:ext uri="{FF2B5EF4-FFF2-40B4-BE49-F238E27FC236}">
                <a16:creationId xmlns:a16="http://schemas.microsoft.com/office/drawing/2014/main" id="{BC98B975-4D7E-4D3E-98C4-C63A214906FE}"/>
              </a:ext>
            </a:extLst>
          </p:cNvPr>
          <p:cNvSpPr>
            <a:spLocks xmlns:a="http://schemas.openxmlformats.org/drawingml/2006/main" noGrp="1"/>
          </p:cNvSpPr>
          <p:nvPr/>
        </p:nvSpPr>
        <p:spPr>
          <a:xfrm xmlns:a="http://schemas.openxmlformats.org/drawingml/2006/main">
            <a:off x="754151" y="607847"/>
            <a:ext cx="283921" cy="283921"/>
          </a:xfrm>
          <a:prstGeom xmlns:a="http://schemas.openxmlformats.org/drawingml/2006/main" prst="ellipse">
            <a:avLst/>
          </a:prstGeom>
          <a:noFill xmlns:a="http://schemas.openxmlformats.org/drawingml/2006/main"/>
          <a:ln xmlns:a="http://schemas.openxmlformats.org/drawingml/2006/main" w="20447">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Oval 4">
            <a:extLst xmlns:a="http://schemas.openxmlformats.org/drawingml/2006/main">
              <a:ext uri="{FF2B5EF4-FFF2-40B4-BE49-F238E27FC236}">
                <a16:creationId xmlns:a16="http://schemas.microsoft.com/office/drawing/2014/main" id="{0C5DF1A6-F677-40CB-95A8-01F2AFCC2C8F}"/>
              </a:ext>
            </a:extLst>
          </p:cNvPr>
          <p:cNvSpPr>
            <a:spLocks xmlns:a="http://schemas.openxmlformats.org/drawingml/2006/main" noGrp="1"/>
          </p:cNvSpPr>
          <p:nvPr/>
        </p:nvSpPr>
        <p:spPr>
          <a:xfrm xmlns:a="http://schemas.openxmlformats.org/drawingml/2006/main">
            <a:off x="833018" y="686714"/>
            <a:ext cx="126187" cy="126187"/>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9AEF4947-7641-4A64-9BA4-A1DEE4733A73}"/>
              </a:ext>
            </a:extLst>
          </p:cNvPr>
          <p:cNvSpPr>
            <a:spLocks xmlns:a="http://schemas.openxmlformats.org/drawingml/2006/main" noGrp="1"/>
          </p:cNvSpPr>
          <p:nvPr/>
        </p:nvSpPr>
        <p:spPr>
          <a:xfrm xmlns:a="http://schemas.openxmlformats.org/drawingml/2006/main">
            <a:off x="1325880" y="457200"/>
            <a:ext cx="10424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200" b="1" i="0">
                <a:solidFill>
                  <a:srgbClr val="C9821E"/>
                </a:solidFill>
                <a:latin typeface="Calibri"/>
                <a:ea typeface="Calibri"/>
                <a:cs typeface="Calibri"/>
              </a:rPr>
              <a:t>PHYSICALISM · ONTOLOGY</a:t>
            </a:r>
          </a:p>
        </p:txBody>
      </p:sp>
      <p:sp>
        <p:nvSpPr>
          <p:cNvPr id="7" name="TextBox 6">
            <a:extLst xmlns:a="http://schemas.openxmlformats.org/drawingml/2006/main">
              <a:ext uri="{FF2B5EF4-FFF2-40B4-BE49-F238E27FC236}">
                <a16:creationId xmlns:a16="http://schemas.microsoft.com/office/drawing/2014/main" id="{43C1DB62-0068-403D-B983-DEA7205979CA}"/>
              </a:ext>
            </a:extLst>
          </p:cNvPr>
          <p:cNvSpPr>
            <a:spLocks xmlns:a="http://schemas.openxmlformats.org/drawingml/2006/main" noGrp="1"/>
          </p:cNvSpPr>
          <p:nvPr/>
        </p:nvSpPr>
        <p:spPr>
          <a:xfrm xmlns:a="http://schemas.openxmlformats.org/drawingml/2006/main">
            <a:off x="1280160" y="676656"/>
            <a:ext cx="105156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3000" b="1" i="0">
                <a:solidFill>
                  <a:srgbClr val="1E2447"/>
                </a:solidFill>
                <a:latin typeface="Cambria"/>
                <a:ea typeface="Cambria"/>
                <a:cs typeface="Cambria"/>
              </a:rPr>
              <a:t>The Physicalist Answer</a:t>
            </a:r>
          </a:p>
        </p:txBody>
      </p:sp>
      <p:sp>
        <p:nvSpPr>
          <p:cNvPr id="8" name="Rounded Rectangle 7">
            <a:extLst xmlns:a="http://schemas.openxmlformats.org/drawingml/2006/main">
              <a:ext uri="{FF2B5EF4-FFF2-40B4-BE49-F238E27FC236}">
                <a16:creationId xmlns:a16="http://schemas.microsoft.com/office/drawing/2014/main" id="{914C9DBA-D2D8-4E13-BB4D-1AFF5BF9BB32}"/>
              </a:ext>
            </a:extLst>
          </p:cNvPr>
          <p:cNvSpPr>
            <a:spLocks xmlns:a="http://schemas.openxmlformats.org/drawingml/2006/main" noGrp="1"/>
          </p:cNvSpPr>
          <p:nvPr/>
        </p:nvSpPr>
        <p:spPr>
          <a:xfrm xmlns:a="http://schemas.openxmlformats.org/drawingml/2006/main">
            <a:off x="685800" y="1783080"/>
            <a:ext cx="5257800" cy="1600200"/>
          </a:xfrm>
          <a:prstGeom xmlns:a="http://schemas.openxmlformats.org/drawingml/2006/main" prst="roundRect">
            <a:avLst>
              <a:gd name="adj" fmla="val 6000"/>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Oval 8">
            <a:extLst xmlns:a="http://schemas.openxmlformats.org/drawingml/2006/main">
              <a:ext uri="{FF2B5EF4-FFF2-40B4-BE49-F238E27FC236}">
                <a16:creationId xmlns:a16="http://schemas.microsoft.com/office/drawing/2014/main" id="{7F44D389-C40E-4ABA-B72F-23E16A996768}"/>
              </a:ext>
            </a:extLst>
          </p:cNvPr>
          <p:cNvSpPr>
            <a:spLocks xmlns:a="http://schemas.openxmlformats.org/drawingml/2006/main" noGrp="1"/>
          </p:cNvSpPr>
          <p:nvPr/>
        </p:nvSpPr>
        <p:spPr>
          <a:xfrm xmlns:a="http://schemas.openxmlformats.org/drawingml/2006/main">
            <a:off x="898855" y="1977847"/>
            <a:ext cx="378561" cy="378561"/>
          </a:xfrm>
          <a:prstGeom xmlns:a="http://schemas.openxmlformats.org/drawingml/2006/main" prst="ellipse">
            <a:avLst/>
          </a:prstGeom>
          <a:noFill xmlns:a="http://schemas.openxmlformats.org/drawingml/2006/main"/>
          <a:ln xmlns:a="http://schemas.openxmlformats.org/drawingml/2006/main" w="1828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Oval 9">
            <a:extLst xmlns:a="http://schemas.openxmlformats.org/drawingml/2006/main">
              <a:ext uri="{FF2B5EF4-FFF2-40B4-BE49-F238E27FC236}">
                <a16:creationId xmlns:a16="http://schemas.microsoft.com/office/drawing/2014/main" id="{D62AEBE9-7462-4F5E-952B-38900A586CC2}"/>
              </a:ext>
            </a:extLst>
          </p:cNvPr>
          <p:cNvSpPr>
            <a:spLocks xmlns:a="http://schemas.openxmlformats.org/drawingml/2006/main" noGrp="1"/>
          </p:cNvSpPr>
          <p:nvPr/>
        </p:nvSpPr>
        <p:spPr>
          <a:xfrm xmlns:a="http://schemas.openxmlformats.org/drawingml/2006/main">
            <a:off x="977036" y="2056028"/>
            <a:ext cx="222199" cy="222199"/>
          </a:xfrm>
          <a:prstGeom xmlns:a="http://schemas.openxmlformats.org/drawingml/2006/main" prst="ellipse">
            <a:avLst/>
          </a:prstGeom>
          <a:noFill xmlns:a="http://schemas.openxmlformats.org/drawingml/2006/main"/>
          <a:ln xmlns:a="http://schemas.openxmlformats.org/drawingml/2006/main" w="16002">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Oval 10">
            <a:extLst xmlns:a="http://schemas.openxmlformats.org/drawingml/2006/main">
              <a:ext uri="{FF2B5EF4-FFF2-40B4-BE49-F238E27FC236}">
                <a16:creationId xmlns:a16="http://schemas.microsoft.com/office/drawing/2014/main" id="{0A7A5D16-B4D4-447F-A22A-EB1A1D7C2D46}"/>
              </a:ext>
            </a:extLst>
          </p:cNvPr>
          <p:cNvSpPr>
            <a:spLocks xmlns:a="http://schemas.openxmlformats.org/drawingml/2006/main" noGrp="1"/>
          </p:cNvSpPr>
          <p:nvPr/>
        </p:nvSpPr>
        <p:spPr>
          <a:xfrm xmlns:a="http://schemas.openxmlformats.org/drawingml/2006/main">
            <a:off x="1038758" y="2117750"/>
            <a:ext cx="98755" cy="98755"/>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CA21E2D2-684B-43B2-B190-381660677B25}"/>
              </a:ext>
            </a:extLst>
          </p:cNvPr>
          <p:cNvSpPr>
            <a:spLocks xmlns:a="http://schemas.openxmlformats.org/drawingml/2006/main" noGrp="1"/>
          </p:cNvSpPr>
          <p:nvPr/>
        </p:nvSpPr>
        <p:spPr>
          <a:xfrm xmlns:a="http://schemas.openxmlformats.org/drawingml/2006/main">
            <a:off x="1444752" y="1984248"/>
            <a:ext cx="431596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600" b="1" i="0">
                <a:solidFill>
                  <a:srgbClr val="1E2447"/>
                </a:solidFill>
                <a:latin typeface="Cambria"/>
                <a:ea typeface="Cambria"/>
                <a:cs typeface="Cambria"/>
              </a:rPr>
              <a:t>The answer</a:t>
            </a:r>
          </a:p>
        </p:txBody>
      </p:sp>
      <p:sp>
        <p:nvSpPr>
          <p:cNvPr id="13" name="TextBox 12">
            <a:extLst xmlns:a="http://schemas.openxmlformats.org/drawingml/2006/main">
              <a:ext uri="{FF2B5EF4-FFF2-40B4-BE49-F238E27FC236}">
                <a16:creationId xmlns:a16="http://schemas.microsoft.com/office/drawing/2014/main" id="{AECBDBCC-B5D2-447B-8A0B-736474D0EFE4}"/>
              </a:ext>
            </a:extLst>
          </p:cNvPr>
          <p:cNvSpPr>
            <a:spLocks xmlns:a="http://schemas.openxmlformats.org/drawingml/2006/main" noGrp="1"/>
          </p:cNvSpPr>
          <p:nvPr/>
        </p:nvSpPr>
        <p:spPr>
          <a:xfrm xmlns:a="http://schemas.openxmlformats.org/drawingml/2006/main">
            <a:off x="941832" y="2496312"/>
            <a:ext cx="4745736"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300" b="0" i="0">
                <a:solidFill>
                  <a:srgbClr val="5A6377"/>
                </a:solidFill>
                <a:latin typeface="Calibri"/>
                <a:ea typeface="Calibri"/>
                <a:cs typeface="Calibri"/>
              </a:rPr>
              <a:t>A human is an evolved organism whose mental capacities depend wholly on biological organisation. Science supports pervasive dependence; physicalism adds the ontological claim.</a:t>
            </a:r>
          </a:p>
        </p:txBody>
      </p:sp>
      <p:sp>
        <p:nvSpPr>
          <p:cNvPr id="14" name="Rounded Rectangle 13">
            <a:extLst xmlns:a="http://schemas.openxmlformats.org/drawingml/2006/main">
              <a:ext uri="{FF2B5EF4-FFF2-40B4-BE49-F238E27FC236}">
                <a16:creationId xmlns:a16="http://schemas.microsoft.com/office/drawing/2014/main" id="{984AD1A6-1C3F-4728-9EAE-204B59CC2DBB}"/>
              </a:ext>
            </a:extLst>
          </p:cNvPr>
          <p:cNvSpPr>
            <a:spLocks xmlns:a="http://schemas.openxmlformats.org/drawingml/2006/main" noGrp="1"/>
          </p:cNvSpPr>
          <p:nvPr/>
        </p:nvSpPr>
        <p:spPr>
          <a:xfrm xmlns:a="http://schemas.openxmlformats.org/drawingml/2006/main">
            <a:off x="6172200" y="1783080"/>
            <a:ext cx="5330952" cy="1600200"/>
          </a:xfrm>
          <a:prstGeom xmlns:a="http://schemas.openxmlformats.org/drawingml/2006/main" prst="roundRect">
            <a:avLst>
              <a:gd name="adj" fmla="val 6000"/>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Oval 14">
            <a:extLst xmlns:a="http://schemas.openxmlformats.org/drawingml/2006/main">
              <a:ext uri="{FF2B5EF4-FFF2-40B4-BE49-F238E27FC236}">
                <a16:creationId xmlns:a16="http://schemas.microsoft.com/office/drawing/2014/main" id="{7452D9D2-6F71-4638-B026-FDB72CCF1D32}"/>
              </a:ext>
            </a:extLst>
          </p:cNvPr>
          <p:cNvSpPr>
            <a:spLocks xmlns:a="http://schemas.openxmlformats.org/drawingml/2006/main" noGrp="1"/>
          </p:cNvSpPr>
          <p:nvPr/>
        </p:nvSpPr>
        <p:spPr>
          <a:xfrm xmlns:a="http://schemas.openxmlformats.org/drawingml/2006/main">
            <a:off x="6385255" y="1977847"/>
            <a:ext cx="378561" cy="378561"/>
          </a:xfrm>
          <a:prstGeom xmlns:a="http://schemas.openxmlformats.org/drawingml/2006/main" prst="ellipse">
            <a:avLst/>
          </a:prstGeom>
          <a:noFill xmlns:a="http://schemas.openxmlformats.org/drawingml/2006/main"/>
          <a:ln xmlns:a="http://schemas.openxmlformats.org/drawingml/2006/main" w="1828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Oval 15">
            <a:extLst xmlns:a="http://schemas.openxmlformats.org/drawingml/2006/main">
              <a:ext uri="{FF2B5EF4-FFF2-40B4-BE49-F238E27FC236}">
                <a16:creationId xmlns:a16="http://schemas.microsoft.com/office/drawing/2014/main" id="{C12EF10E-DF99-4762-9A51-DBB1A1618733}"/>
              </a:ext>
            </a:extLst>
          </p:cNvPr>
          <p:cNvSpPr>
            <a:spLocks xmlns:a="http://schemas.openxmlformats.org/drawingml/2006/main" noGrp="1"/>
          </p:cNvSpPr>
          <p:nvPr/>
        </p:nvSpPr>
        <p:spPr>
          <a:xfrm xmlns:a="http://schemas.openxmlformats.org/drawingml/2006/main">
            <a:off x="6463436" y="2056028"/>
            <a:ext cx="222199" cy="222199"/>
          </a:xfrm>
          <a:prstGeom xmlns:a="http://schemas.openxmlformats.org/drawingml/2006/main" prst="ellipse">
            <a:avLst/>
          </a:prstGeom>
          <a:noFill xmlns:a="http://schemas.openxmlformats.org/drawingml/2006/main"/>
          <a:ln xmlns:a="http://schemas.openxmlformats.org/drawingml/2006/main" w="16002">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Oval 16">
            <a:extLst xmlns:a="http://schemas.openxmlformats.org/drawingml/2006/main">
              <a:ext uri="{FF2B5EF4-FFF2-40B4-BE49-F238E27FC236}">
                <a16:creationId xmlns:a16="http://schemas.microsoft.com/office/drawing/2014/main" id="{08C3CCF3-877C-4D7D-8807-658A955B4961}"/>
              </a:ext>
            </a:extLst>
          </p:cNvPr>
          <p:cNvSpPr>
            <a:spLocks xmlns:a="http://schemas.openxmlformats.org/drawingml/2006/main" noGrp="1"/>
          </p:cNvSpPr>
          <p:nvPr/>
        </p:nvSpPr>
        <p:spPr>
          <a:xfrm xmlns:a="http://schemas.openxmlformats.org/drawingml/2006/main">
            <a:off x="6525158" y="2117750"/>
            <a:ext cx="98755" cy="98755"/>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1E6E0488-D121-45C9-A42E-9569FF117414}"/>
              </a:ext>
            </a:extLst>
          </p:cNvPr>
          <p:cNvSpPr>
            <a:spLocks xmlns:a="http://schemas.openxmlformats.org/drawingml/2006/main" noGrp="1"/>
          </p:cNvSpPr>
          <p:nvPr/>
        </p:nvSpPr>
        <p:spPr>
          <a:xfrm xmlns:a="http://schemas.openxmlformats.org/drawingml/2006/main">
            <a:off x="6931152" y="1984248"/>
            <a:ext cx="4389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600" b="1" i="0">
                <a:solidFill>
                  <a:srgbClr val="1E2447"/>
                </a:solidFill>
                <a:latin typeface="Cambria"/>
                <a:ea typeface="Cambria"/>
                <a:cs typeface="Cambria"/>
              </a:rPr>
              <a:t>Method</a:t>
            </a:r>
          </a:p>
        </p:txBody>
      </p:sp>
      <p:sp>
        <p:nvSpPr>
          <p:cNvPr id="19" name="TextBox 18">
            <a:extLst xmlns:a="http://schemas.openxmlformats.org/drawingml/2006/main">
              <a:ext uri="{FF2B5EF4-FFF2-40B4-BE49-F238E27FC236}">
                <a16:creationId xmlns:a16="http://schemas.microsoft.com/office/drawing/2014/main" id="{B668AAD0-14F0-4E51-ABA8-1FBC05FE2F1D}"/>
              </a:ext>
            </a:extLst>
          </p:cNvPr>
          <p:cNvSpPr>
            <a:spLocks xmlns:a="http://schemas.openxmlformats.org/drawingml/2006/main" noGrp="1"/>
          </p:cNvSpPr>
          <p:nvPr/>
        </p:nvSpPr>
        <p:spPr>
          <a:xfrm xmlns:a="http://schemas.openxmlformats.org/drawingml/2006/main">
            <a:off x="6428232" y="2496312"/>
            <a:ext cx="4818888"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300" b="0" i="0">
                <a:solidFill>
                  <a:srgbClr val="5A6377"/>
                </a:solidFill>
                <a:latin typeface="Calibri"/>
                <a:ea typeface="Calibri"/>
                <a:cs typeface="Calibri"/>
              </a:rPr>
              <a:t>Public measurement, modelling, and replication; explanations begin with organised matter and neural function.</a:t>
            </a:r>
          </a:p>
        </p:txBody>
      </p:sp>
      <p:sp>
        <p:nvSpPr>
          <p:cNvPr id="20" name="TextBox 19">
            <a:extLst xmlns:a="http://schemas.openxmlformats.org/drawingml/2006/main">
              <a:ext uri="{FF2B5EF4-FFF2-40B4-BE49-F238E27FC236}">
                <a16:creationId xmlns:a16="http://schemas.microsoft.com/office/drawing/2014/main" id="{E1A639C4-43B7-4161-B89E-18877D163A70}"/>
              </a:ext>
            </a:extLst>
          </p:cNvPr>
          <p:cNvSpPr>
            <a:spLocks xmlns:a="http://schemas.openxmlformats.org/drawingml/2006/main" noGrp="1"/>
          </p:cNvSpPr>
          <p:nvPr/>
        </p:nvSpPr>
        <p:spPr>
          <a:xfrm xmlns:a="http://schemas.openxmlformats.org/drawingml/2006/main">
            <a:off x="685800" y="3611880"/>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350" b="1" i="0">
                <a:solidFill>
                  <a:srgbClr val="1E2447"/>
                </a:solidFill>
                <a:latin typeface="Calibri"/>
                <a:ea typeface="Calibri"/>
                <a:cs typeface="Calibri"/>
              </a:rPr>
              <a:t>Five questions for the Madhyasth ontology</a:t>
            </a:r>
          </a:p>
        </p:txBody>
      </p:sp>
      <p:sp>
        <p:nvSpPr>
          <p:cNvPr id="21" name="Oval 20">
            <a:extLst xmlns:a="http://schemas.openxmlformats.org/drawingml/2006/main">
              <a:ext uri="{FF2B5EF4-FFF2-40B4-BE49-F238E27FC236}">
                <a16:creationId xmlns:a16="http://schemas.microsoft.com/office/drawing/2014/main" id="{2367063F-BB6F-46DB-B639-F186405A0CDB}"/>
              </a:ext>
            </a:extLst>
          </p:cNvPr>
          <p:cNvSpPr>
            <a:spLocks xmlns:a="http://schemas.openxmlformats.org/drawingml/2006/main" noGrp="1"/>
          </p:cNvSpPr>
          <p:nvPr/>
        </p:nvSpPr>
        <p:spPr>
          <a:xfrm xmlns:a="http://schemas.openxmlformats.org/drawingml/2006/main">
            <a:off x="841248" y="4123944"/>
            <a:ext cx="146304" cy="146304"/>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67E97618-E5A0-49F7-9947-083ED2D34F1F}"/>
              </a:ext>
            </a:extLst>
          </p:cNvPr>
          <p:cNvSpPr>
            <a:spLocks xmlns:a="http://schemas.openxmlformats.org/drawingml/2006/main" noGrp="1"/>
          </p:cNvSpPr>
          <p:nvPr/>
        </p:nvSpPr>
        <p:spPr>
          <a:xfrm xmlns:a="http://schemas.openxmlformats.org/drawingml/2006/main">
            <a:off x="1188720" y="4023360"/>
            <a:ext cx="4206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300" b="1" i="0">
                <a:solidFill>
                  <a:srgbClr val="1E2447"/>
                </a:solidFill>
                <a:latin typeface="Cambria"/>
                <a:ea typeface="Cambria"/>
                <a:cs typeface="Cambria"/>
              </a:rPr>
              <a:t>Evolution and the four orders</a:t>
            </a:r>
          </a:p>
        </p:txBody>
      </p:sp>
      <p:sp>
        <p:nvSpPr>
          <p:cNvPr id="23" name="TextBox 22">
            <a:extLst xmlns:a="http://schemas.openxmlformats.org/drawingml/2006/main">
              <a:ext uri="{FF2B5EF4-FFF2-40B4-BE49-F238E27FC236}">
                <a16:creationId xmlns:a16="http://schemas.microsoft.com/office/drawing/2014/main" id="{7BC1C9F7-7214-49DD-B8CC-EEAA2B7F9B48}"/>
              </a:ext>
            </a:extLst>
          </p:cNvPr>
          <p:cNvSpPr>
            <a:spLocks xmlns:a="http://schemas.openxmlformats.org/drawingml/2006/main" noGrp="1"/>
          </p:cNvSpPr>
          <p:nvPr/>
        </p:nvSpPr>
        <p:spPr>
          <a:xfrm xmlns:a="http://schemas.openxmlformats.org/drawingml/2006/main">
            <a:off x="5394960" y="4041648"/>
            <a:ext cx="603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200" b="0" i="0">
                <a:solidFill>
                  <a:srgbClr val="5A6377"/>
                </a:solidFill>
                <a:latin typeface="Calibri"/>
                <a:ea typeface="Calibri"/>
                <a:cs typeface="Calibri"/>
              </a:rPr>
              <a:t>Relate the proposed orders to biological descent</a:t>
            </a:r>
          </a:p>
        </p:txBody>
      </p:sp>
      <p:sp>
        <p:nvSpPr>
          <p:cNvPr id="24" name="Oval 23">
            <a:extLst xmlns:a="http://schemas.openxmlformats.org/drawingml/2006/main">
              <a:ext uri="{FF2B5EF4-FFF2-40B4-BE49-F238E27FC236}">
                <a16:creationId xmlns:a16="http://schemas.microsoft.com/office/drawing/2014/main" id="{CCB5E0C8-9008-4CF9-92B6-C58947447CB9}"/>
              </a:ext>
            </a:extLst>
          </p:cNvPr>
          <p:cNvSpPr>
            <a:spLocks xmlns:a="http://schemas.openxmlformats.org/drawingml/2006/main" noGrp="1"/>
          </p:cNvSpPr>
          <p:nvPr/>
        </p:nvSpPr>
        <p:spPr>
          <a:xfrm xmlns:a="http://schemas.openxmlformats.org/drawingml/2006/main">
            <a:off x="841248" y="4581144"/>
            <a:ext cx="146304" cy="146304"/>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5" name="TextBox 24">
            <a:extLst xmlns:a="http://schemas.openxmlformats.org/drawingml/2006/main">
              <a:ext uri="{FF2B5EF4-FFF2-40B4-BE49-F238E27FC236}">
                <a16:creationId xmlns:a16="http://schemas.microsoft.com/office/drawing/2014/main" id="{03421116-4FB7-4248-80DC-A9C1C799DF0D}"/>
              </a:ext>
            </a:extLst>
          </p:cNvPr>
          <p:cNvSpPr>
            <a:spLocks xmlns:a="http://schemas.openxmlformats.org/drawingml/2006/main" noGrp="1"/>
          </p:cNvSpPr>
          <p:nvPr/>
        </p:nvSpPr>
        <p:spPr>
          <a:xfrm xmlns:a="http://schemas.openxmlformats.org/drawingml/2006/main">
            <a:off x="1188720" y="4480560"/>
            <a:ext cx="4206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300" b="1" i="0">
                <a:solidFill>
                  <a:srgbClr val="1E2447"/>
                </a:solidFill>
                <a:latin typeface="Cambria"/>
                <a:ea typeface="Cambria"/>
                <a:cs typeface="Cambria"/>
              </a:rPr>
              <a:t>Mental function and organisation</a:t>
            </a:r>
          </a:p>
        </p:txBody>
      </p:sp>
      <p:sp>
        <p:nvSpPr>
          <p:cNvPr id="26" name="TextBox 25">
            <a:extLst xmlns:a="http://schemas.openxmlformats.org/drawingml/2006/main">
              <a:ext uri="{FF2B5EF4-FFF2-40B4-BE49-F238E27FC236}">
                <a16:creationId xmlns:a16="http://schemas.microsoft.com/office/drawing/2014/main" id="{B68DD60F-30BB-48A7-A876-38BFF00AF2C4}"/>
              </a:ext>
            </a:extLst>
          </p:cNvPr>
          <p:cNvSpPr>
            <a:spLocks xmlns:a="http://schemas.openxmlformats.org/drawingml/2006/main" noGrp="1"/>
          </p:cNvSpPr>
          <p:nvPr/>
        </p:nvSpPr>
        <p:spPr>
          <a:xfrm xmlns:a="http://schemas.openxmlformats.org/drawingml/2006/main">
            <a:off x="5394960" y="4498848"/>
            <a:ext cx="603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200" b="0" i="0">
                <a:solidFill>
                  <a:srgbClr val="5A6377"/>
                </a:solidFill>
                <a:latin typeface="Calibri"/>
                <a:ea typeface="Calibri"/>
                <a:cs typeface="Calibri"/>
              </a:rPr>
              <a:t>Irreversible brain destruction ends observable mental function</a:t>
            </a:r>
          </a:p>
        </p:txBody>
      </p:sp>
      <p:sp>
        <p:nvSpPr>
          <p:cNvPr id="27" name="Oval 26">
            <a:extLst xmlns:a="http://schemas.openxmlformats.org/drawingml/2006/main">
              <a:ext uri="{FF2B5EF4-FFF2-40B4-BE49-F238E27FC236}">
                <a16:creationId xmlns:a16="http://schemas.microsoft.com/office/drawing/2014/main" id="{5ECD719C-CC1C-478B-AD45-090289005F4A}"/>
              </a:ext>
            </a:extLst>
          </p:cNvPr>
          <p:cNvSpPr>
            <a:spLocks xmlns:a="http://schemas.openxmlformats.org/drawingml/2006/main" noGrp="1"/>
          </p:cNvSpPr>
          <p:nvPr/>
        </p:nvSpPr>
        <p:spPr>
          <a:xfrm xmlns:a="http://schemas.openxmlformats.org/drawingml/2006/main">
            <a:off x="841248" y="5038344"/>
            <a:ext cx="146304" cy="146304"/>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TextBox 27">
            <a:extLst xmlns:a="http://schemas.openxmlformats.org/drawingml/2006/main">
              <a:ext uri="{FF2B5EF4-FFF2-40B4-BE49-F238E27FC236}">
                <a16:creationId xmlns:a16="http://schemas.microsoft.com/office/drawing/2014/main" id="{5470B701-1A2D-43A3-BED2-BC47167CB16C}"/>
              </a:ext>
            </a:extLst>
          </p:cNvPr>
          <p:cNvSpPr>
            <a:spLocks xmlns:a="http://schemas.openxmlformats.org/drawingml/2006/main" noGrp="1"/>
          </p:cNvSpPr>
          <p:nvPr/>
        </p:nvSpPr>
        <p:spPr>
          <a:xfrm xmlns:a="http://schemas.openxmlformats.org/drawingml/2006/main">
            <a:off x="1188720" y="4937760"/>
            <a:ext cx="4206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300" b="1" i="0">
                <a:solidFill>
                  <a:srgbClr val="1E2447"/>
                </a:solidFill>
                <a:latin typeface="Cambria"/>
                <a:ea typeface="Cambria"/>
                <a:cs typeface="Cambria"/>
              </a:rPr>
              <a:t>No second entity</a:t>
            </a:r>
          </a:p>
        </p:txBody>
      </p:sp>
      <p:sp>
        <p:nvSpPr>
          <p:cNvPr id="29" name="TextBox 28">
            <a:extLst xmlns:a="http://schemas.openxmlformats.org/drawingml/2006/main">
              <a:ext uri="{FF2B5EF4-FFF2-40B4-BE49-F238E27FC236}">
                <a16:creationId xmlns:a16="http://schemas.microsoft.com/office/drawing/2014/main" id="{58DF96B1-C496-41AE-85B0-626065A83594}"/>
              </a:ext>
            </a:extLst>
          </p:cNvPr>
          <p:cNvSpPr>
            <a:spLocks xmlns:a="http://schemas.openxmlformats.org/drawingml/2006/main" noGrp="1"/>
          </p:cNvSpPr>
          <p:nvPr/>
        </p:nvSpPr>
        <p:spPr>
          <a:xfrm xmlns:a="http://schemas.openxmlformats.org/drawingml/2006/main">
            <a:off x="5394960" y="4956048"/>
            <a:ext cx="603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200" b="0" i="0">
                <a:solidFill>
                  <a:srgbClr val="5A6377"/>
                </a:solidFill>
                <a:latin typeface="Calibri"/>
                <a:ea typeface="Calibri"/>
                <a:cs typeface="Calibri"/>
              </a:rPr>
              <a:t>No independent sentient unit has been detected</a:t>
            </a:r>
          </a:p>
        </p:txBody>
      </p:sp>
      <p:sp>
        <p:nvSpPr>
          <p:cNvPr id="30" name="Oval 29">
            <a:extLst xmlns:a="http://schemas.openxmlformats.org/drawingml/2006/main">
              <a:ext uri="{FF2B5EF4-FFF2-40B4-BE49-F238E27FC236}">
                <a16:creationId xmlns:a16="http://schemas.microsoft.com/office/drawing/2014/main" id="{DA32F050-699C-470C-8EA6-30847074E602}"/>
              </a:ext>
            </a:extLst>
          </p:cNvPr>
          <p:cNvSpPr>
            <a:spLocks xmlns:a="http://schemas.openxmlformats.org/drawingml/2006/main" noGrp="1"/>
          </p:cNvSpPr>
          <p:nvPr/>
        </p:nvSpPr>
        <p:spPr>
          <a:xfrm xmlns:a="http://schemas.openxmlformats.org/drawingml/2006/main">
            <a:off x="841248" y="5495544"/>
            <a:ext cx="146304" cy="146304"/>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1" name="TextBox 30">
            <a:extLst xmlns:a="http://schemas.openxmlformats.org/drawingml/2006/main">
              <a:ext uri="{FF2B5EF4-FFF2-40B4-BE49-F238E27FC236}">
                <a16:creationId xmlns:a16="http://schemas.microsoft.com/office/drawing/2014/main" id="{50919694-26A9-4502-9262-EDC4336C61A7}"/>
              </a:ext>
            </a:extLst>
          </p:cNvPr>
          <p:cNvSpPr>
            <a:spLocks xmlns:a="http://schemas.openxmlformats.org/drawingml/2006/main" noGrp="1"/>
          </p:cNvSpPr>
          <p:nvPr/>
        </p:nvSpPr>
        <p:spPr>
          <a:xfrm xmlns:a="http://schemas.openxmlformats.org/drawingml/2006/main">
            <a:off x="1188720" y="5394960"/>
            <a:ext cx="4206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300" b="1" i="0">
                <a:solidFill>
                  <a:srgbClr val="1E2447"/>
                </a:solidFill>
                <a:latin typeface="Cambria"/>
                <a:ea typeface="Cambria"/>
                <a:cs typeface="Cambria"/>
              </a:rPr>
              <a:t>Cognition through brain and culture</a:t>
            </a:r>
          </a:p>
        </p:txBody>
      </p:sp>
      <p:sp>
        <p:nvSpPr>
          <p:cNvPr id="32" name="TextBox 31">
            <a:extLst xmlns:a="http://schemas.openxmlformats.org/drawingml/2006/main">
              <a:ext uri="{FF2B5EF4-FFF2-40B4-BE49-F238E27FC236}">
                <a16:creationId xmlns:a16="http://schemas.microsoft.com/office/drawing/2014/main" id="{3533303D-1F96-4B0D-9389-A943E1B9D77F}"/>
              </a:ext>
            </a:extLst>
          </p:cNvPr>
          <p:cNvSpPr>
            <a:spLocks xmlns:a="http://schemas.openxmlformats.org/drawingml/2006/main" noGrp="1"/>
          </p:cNvSpPr>
          <p:nvPr/>
        </p:nvSpPr>
        <p:spPr>
          <a:xfrm xmlns:a="http://schemas.openxmlformats.org/drawingml/2006/main">
            <a:off x="5394960" y="5413248"/>
            <a:ext cx="603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200" b="0" i="0">
                <a:solidFill>
                  <a:srgbClr val="5A6377"/>
                </a:solidFill>
                <a:latin typeface="Calibri"/>
                <a:ea typeface="Calibri"/>
                <a:cs typeface="Calibri"/>
              </a:rPr>
              <a:t>Brains in social worlds support symbol use and culture</a:t>
            </a:r>
          </a:p>
        </p:txBody>
      </p:sp>
      <p:sp>
        <p:nvSpPr>
          <p:cNvPr id="33" name="Oval 32">
            <a:extLst xmlns:a="http://schemas.openxmlformats.org/drawingml/2006/main">
              <a:ext uri="{FF2B5EF4-FFF2-40B4-BE49-F238E27FC236}">
                <a16:creationId xmlns:a16="http://schemas.microsoft.com/office/drawing/2014/main" id="{D6D00243-E2FC-45AD-9C19-0D6AC443D3BB}"/>
              </a:ext>
            </a:extLst>
          </p:cNvPr>
          <p:cNvSpPr>
            <a:spLocks xmlns:a="http://schemas.openxmlformats.org/drawingml/2006/main" noGrp="1"/>
          </p:cNvSpPr>
          <p:nvPr/>
        </p:nvSpPr>
        <p:spPr>
          <a:xfrm xmlns:a="http://schemas.openxmlformats.org/drawingml/2006/main">
            <a:off x="841248" y="5952744"/>
            <a:ext cx="146304" cy="146304"/>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4" name="TextBox 33">
            <a:extLst xmlns:a="http://schemas.openxmlformats.org/drawingml/2006/main">
              <a:ext uri="{FF2B5EF4-FFF2-40B4-BE49-F238E27FC236}">
                <a16:creationId xmlns:a16="http://schemas.microsoft.com/office/drawing/2014/main" id="{C831B181-ED9E-4226-A740-C5D534908CF4}"/>
              </a:ext>
            </a:extLst>
          </p:cNvPr>
          <p:cNvSpPr>
            <a:spLocks xmlns:a="http://schemas.openxmlformats.org/drawingml/2006/main" noGrp="1"/>
          </p:cNvSpPr>
          <p:nvPr/>
        </p:nvSpPr>
        <p:spPr>
          <a:xfrm xmlns:a="http://schemas.openxmlformats.org/drawingml/2006/main">
            <a:off x="1188720" y="5852160"/>
            <a:ext cx="4206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300" b="1" i="0">
                <a:solidFill>
                  <a:srgbClr val="1E2447"/>
                </a:solidFill>
                <a:latin typeface="Cambria"/>
                <a:ea typeface="Cambria"/>
                <a:cs typeface="Cambria"/>
              </a:rPr>
              <a:t>Layered function, not koshas</a:t>
            </a:r>
          </a:p>
        </p:txBody>
      </p:sp>
      <p:sp>
        <p:nvSpPr>
          <p:cNvPr id="35" name="TextBox 34">
            <a:extLst xmlns:a="http://schemas.openxmlformats.org/drawingml/2006/main">
              <a:ext uri="{FF2B5EF4-FFF2-40B4-BE49-F238E27FC236}">
                <a16:creationId xmlns:a16="http://schemas.microsoft.com/office/drawing/2014/main" id="{DE0C1E74-8296-45A9-A999-B9501C7F5564}"/>
              </a:ext>
            </a:extLst>
          </p:cNvPr>
          <p:cNvSpPr>
            <a:spLocks xmlns:a="http://schemas.openxmlformats.org/drawingml/2006/main" noGrp="1"/>
          </p:cNvSpPr>
          <p:nvPr/>
        </p:nvSpPr>
        <p:spPr>
          <a:xfrm xmlns:a="http://schemas.openxmlformats.org/drawingml/2006/main">
            <a:off x="5394960" y="5870448"/>
            <a:ext cx="603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200" b="0" i="0">
                <a:solidFill>
                  <a:srgbClr val="5A6377"/>
                </a:solidFill>
                <a:latin typeface="Calibri"/>
                <a:ea typeface="Calibri"/>
                <a:cs typeface="Calibri"/>
              </a:rPr>
              <a:t>Distributed bodily, cortical, and subcortical functions</a:t>
            </a:r>
          </a:p>
        </p:txBody>
      </p:sp>
      <p:sp>
        <p:nvSpPr>
          <p:cNvPr id="36" name="TextBox 35">
            <a:extLst xmlns:a="http://schemas.openxmlformats.org/drawingml/2006/main">
              <a:ext uri="{FF2B5EF4-FFF2-40B4-BE49-F238E27FC236}">
                <a16:creationId xmlns:a16="http://schemas.microsoft.com/office/drawing/2014/main" id="{B58F0F28-918B-4941-8D16-36724794418E}"/>
              </a:ext>
            </a:extLst>
          </p:cNvPr>
          <p:cNvSpPr>
            <a:spLocks xmlns:a="http://schemas.openxmlformats.org/drawingml/2006/main" noGrp="1"/>
          </p:cNvSpPr>
          <p:nvPr/>
        </p:nvSpPr>
        <p:spPr>
          <a:xfrm xmlns:a="http://schemas.openxmlformats.org/drawingml/2006/main">
            <a:off x="685800" y="6419088"/>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100" b="0" i="1">
                <a:solidFill>
                  <a:srgbClr val="5A6377"/>
                </a:solidFill>
                <a:latin typeface="Calibri"/>
                <a:ea typeface="Calibri"/>
                <a:cs typeface="Calibri"/>
              </a:rPr>
              <a:t>Study §2.3–2.5</a:t>
            </a:r>
          </a:p>
        </p:txBody>
      </p:sp>
    </p:spTree>
    <p:extLst>
      <p:ext uri="{BB962C8B-B14F-4D97-AF65-F5344CB8AC3E}">
        <p14:creationId xmlns:p14="http://schemas.microsoft.com/office/powerpoint/2010/main" val="155928221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5EA266C4-591A-4F0B-AD2D-55B103324C8B}"/>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Oval 2">
            <a:extLst xmlns:a="http://schemas.openxmlformats.org/drawingml/2006/main">
              <a:ext uri="{FF2B5EF4-FFF2-40B4-BE49-F238E27FC236}">
                <a16:creationId xmlns:a16="http://schemas.microsoft.com/office/drawing/2014/main" id="{CAA7EBE8-9626-443D-A504-066307ED6CEF}"/>
              </a:ext>
            </a:extLst>
          </p:cNvPr>
          <p:cNvSpPr>
            <a:spLocks xmlns:a="http://schemas.openxmlformats.org/drawingml/2006/main" noGrp="1"/>
          </p:cNvSpPr>
          <p:nvPr/>
        </p:nvSpPr>
        <p:spPr>
          <a:xfrm xmlns:a="http://schemas.openxmlformats.org/drawingml/2006/main">
            <a:off x="654253" y="507949"/>
            <a:ext cx="483717" cy="483717"/>
          </a:xfrm>
          <a:prstGeom xmlns:a="http://schemas.openxmlformats.org/drawingml/2006/main" prst="ellipse">
            <a:avLst/>
          </a:prstGeom>
          <a:noFill xmlns:a="http://schemas.openxmlformats.org/drawingml/2006/main"/>
          <a:ln xmlns:a="http://schemas.openxmlformats.org/drawingml/2006/main" w="2336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Oval 3">
            <a:extLst xmlns:a="http://schemas.openxmlformats.org/drawingml/2006/main">
              <a:ext uri="{FF2B5EF4-FFF2-40B4-BE49-F238E27FC236}">
                <a16:creationId xmlns:a16="http://schemas.microsoft.com/office/drawing/2014/main" id="{FDD05969-904E-4415-A89F-B53E78A4079F}"/>
              </a:ext>
            </a:extLst>
          </p:cNvPr>
          <p:cNvSpPr>
            <a:spLocks xmlns:a="http://schemas.openxmlformats.org/drawingml/2006/main" noGrp="1"/>
          </p:cNvSpPr>
          <p:nvPr/>
        </p:nvSpPr>
        <p:spPr>
          <a:xfrm xmlns:a="http://schemas.openxmlformats.org/drawingml/2006/main">
            <a:off x="754151" y="607847"/>
            <a:ext cx="283921" cy="283921"/>
          </a:xfrm>
          <a:prstGeom xmlns:a="http://schemas.openxmlformats.org/drawingml/2006/main" prst="ellipse">
            <a:avLst/>
          </a:prstGeom>
          <a:noFill xmlns:a="http://schemas.openxmlformats.org/drawingml/2006/main"/>
          <a:ln xmlns:a="http://schemas.openxmlformats.org/drawingml/2006/main" w="20447">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Oval 4">
            <a:extLst xmlns:a="http://schemas.openxmlformats.org/drawingml/2006/main">
              <a:ext uri="{FF2B5EF4-FFF2-40B4-BE49-F238E27FC236}">
                <a16:creationId xmlns:a16="http://schemas.microsoft.com/office/drawing/2014/main" id="{644AAC57-0E0F-4474-9167-0062CAE00047}"/>
              </a:ext>
            </a:extLst>
          </p:cNvPr>
          <p:cNvSpPr>
            <a:spLocks xmlns:a="http://schemas.openxmlformats.org/drawingml/2006/main" noGrp="1"/>
          </p:cNvSpPr>
          <p:nvPr/>
        </p:nvSpPr>
        <p:spPr>
          <a:xfrm xmlns:a="http://schemas.openxmlformats.org/drawingml/2006/main">
            <a:off x="833018" y="686714"/>
            <a:ext cx="126187" cy="126187"/>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0632EE2E-C706-4D7D-B165-133A405A53D5}"/>
              </a:ext>
            </a:extLst>
          </p:cNvPr>
          <p:cNvSpPr>
            <a:spLocks xmlns:a="http://schemas.openxmlformats.org/drawingml/2006/main" noGrp="1"/>
          </p:cNvSpPr>
          <p:nvPr/>
        </p:nvSpPr>
        <p:spPr>
          <a:xfrm xmlns:a="http://schemas.openxmlformats.org/drawingml/2006/main">
            <a:off x="1325880" y="457200"/>
            <a:ext cx="10424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200" b="1" i="0">
                <a:solidFill>
                  <a:srgbClr val="C9821E"/>
                </a:solidFill>
                <a:latin typeface="Calibri"/>
                <a:ea typeface="Calibri"/>
                <a:cs typeface="Calibri"/>
              </a:rPr>
              <a:t>SCIENCE · ONTOLOGY</a:t>
            </a:r>
          </a:p>
        </p:txBody>
      </p:sp>
      <p:sp>
        <p:nvSpPr>
          <p:cNvPr id="7" name="TextBox 6">
            <a:extLst xmlns:a="http://schemas.openxmlformats.org/drawingml/2006/main">
              <a:ext uri="{FF2B5EF4-FFF2-40B4-BE49-F238E27FC236}">
                <a16:creationId xmlns:a16="http://schemas.microsoft.com/office/drawing/2014/main" id="{A395B714-F7CA-42D8-8D24-A401FAA0DC9E}"/>
              </a:ext>
            </a:extLst>
          </p:cNvPr>
          <p:cNvSpPr>
            <a:spLocks xmlns:a="http://schemas.openxmlformats.org/drawingml/2006/main" noGrp="1"/>
          </p:cNvSpPr>
          <p:nvPr/>
        </p:nvSpPr>
        <p:spPr>
          <a:xfrm xmlns:a="http://schemas.openxmlformats.org/drawingml/2006/main">
            <a:off x="1280160" y="676656"/>
            <a:ext cx="105156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3000" b="1" i="0">
                <a:solidFill>
                  <a:srgbClr val="1E2447"/>
                </a:solidFill>
                <a:latin typeface="Cambria"/>
                <a:ea typeface="Cambria"/>
                <a:cs typeface="Cambria"/>
              </a:rPr>
              <a:t>The Interaction Problem</a:t>
            </a:r>
          </a:p>
        </p:txBody>
      </p:sp>
      <p:sp>
        <p:nvSpPr>
          <p:cNvPr id="8" name="TextBox 7">
            <a:extLst xmlns:a="http://schemas.openxmlformats.org/drawingml/2006/main">
              <a:ext uri="{FF2B5EF4-FFF2-40B4-BE49-F238E27FC236}">
                <a16:creationId xmlns:a16="http://schemas.microsoft.com/office/drawing/2014/main" id="{DBE474DE-2255-463C-97C3-F0AFFD02B3D5}"/>
              </a:ext>
            </a:extLst>
          </p:cNvPr>
          <p:cNvSpPr>
            <a:spLocks xmlns:a="http://schemas.openxmlformats.org/drawingml/2006/main" noGrp="1"/>
          </p:cNvSpPr>
          <p:nvPr/>
        </p:nvSpPr>
        <p:spPr>
          <a:xfrm xmlns:a="http://schemas.openxmlformats.org/drawingml/2006/main">
            <a:off x="685800" y="1783080"/>
            <a:ext cx="107899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10000"/>
              </a:lnSpc>
              <a:spcBef>
                <a:spcPts val="0"/>
              </a:spcBef>
              <a:spcAft>
                <a:spcPts val="400"/>
              </a:spcAft>
              <a:buNone/>
            </a:pPr>
            <a:r>
              <a:rPr sz="1450" b="0" i="0">
                <a:solidFill>
                  <a:srgbClr val="5A6377"/>
                </a:solidFill>
                <a:latin typeface="Calibri"/>
                <a:ea typeface="Calibri"/>
                <a:cs typeface="Calibri"/>
              </a:rPr>
              <a:t>The serious challenge is not that an extra cause must obviously violate energy conservation. Conservation laws constrain measured systems; they do not by themselves prove causal closure.</a:t>
            </a:r>
          </a:p>
        </p:txBody>
      </p:sp>
      <p:sp>
        <p:nvSpPr>
          <p:cNvPr id="9" name="Rounded Rectangle 8">
            <a:extLst xmlns:a="http://schemas.openxmlformats.org/drawingml/2006/main">
              <a:ext uri="{FF2B5EF4-FFF2-40B4-BE49-F238E27FC236}">
                <a16:creationId xmlns:a16="http://schemas.microsoft.com/office/drawing/2014/main" id="{0D9F24AC-DA90-412C-8D64-A24F7324814B}"/>
              </a:ext>
            </a:extLst>
          </p:cNvPr>
          <p:cNvSpPr>
            <a:spLocks xmlns:a="http://schemas.openxmlformats.org/drawingml/2006/main" noGrp="1"/>
          </p:cNvSpPr>
          <p:nvPr/>
        </p:nvSpPr>
        <p:spPr>
          <a:xfrm xmlns:a="http://schemas.openxmlformats.org/drawingml/2006/main">
            <a:off x="685800" y="2971800"/>
            <a:ext cx="5257800" cy="2103120"/>
          </a:xfrm>
          <a:prstGeom xmlns:a="http://schemas.openxmlformats.org/drawingml/2006/main" prst="roundRect">
            <a:avLst>
              <a:gd name="adj" fmla="val 6000"/>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Oval 9">
            <a:extLst xmlns:a="http://schemas.openxmlformats.org/drawingml/2006/main">
              <a:ext uri="{FF2B5EF4-FFF2-40B4-BE49-F238E27FC236}">
                <a16:creationId xmlns:a16="http://schemas.microsoft.com/office/drawing/2014/main" id="{496F2C04-B00E-49A4-A2E1-AB51168673E0}"/>
              </a:ext>
            </a:extLst>
          </p:cNvPr>
          <p:cNvSpPr>
            <a:spLocks xmlns:a="http://schemas.openxmlformats.org/drawingml/2006/main" noGrp="1"/>
          </p:cNvSpPr>
          <p:nvPr/>
        </p:nvSpPr>
        <p:spPr>
          <a:xfrm xmlns:a="http://schemas.openxmlformats.org/drawingml/2006/main">
            <a:off x="898855" y="3166567"/>
            <a:ext cx="378561" cy="378561"/>
          </a:xfrm>
          <a:prstGeom xmlns:a="http://schemas.openxmlformats.org/drawingml/2006/main" prst="ellipse">
            <a:avLst/>
          </a:prstGeom>
          <a:noFill xmlns:a="http://schemas.openxmlformats.org/drawingml/2006/main"/>
          <a:ln xmlns:a="http://schemas.openxmlformats.org/drawingml/2006/main" w="1828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Oval 10">
            <a:extLst xmlns:a="http://schemas.openxmlformats.org/drawingml/2006/main">
              <a:ext uri="{FF2B5EF4-FFF2-40B4-BE49-F238E27FC236}">
                <a16:creationId xmlns:a16="http://schemas.microsoft.com/office/drawing/2014/main" id="{91A7B8D5-9609-4270-A91E-809116D3AE37}"/>
              </a:ext>
            </a:extLst>
          </p:cNvPr>
          <p:cNvSpPr>
            <a:spLocks xmlns:a="http://schemas.openxmlformats.org/drawingml/2006/main" noGrp="1"/>
          </p:cNvSpPr>
          <p:nvPr/>
        </p:nvSpPr>
        <p:spPr>
          <a:xfrm xmlns:a="http://schemas.openxmlformats.org/drawingml/2006/main">
            <a:off x="977036" y="3244748"/>
            <a:ext cx="222199" cy="222199"/>
          </a:xfrm>
          <a:prstGeom xmlns:a="http://schemas.openxmlformats.org/drawingml/2006/main" prst="ellipse">
            <a:avLst/>
          </a:prstGeom>
          <a:noFill xmlns:a="http://schemas.openxmlformats.org/drawingml/2006/main"/>
          <a:ln xmlns:a="http://schemas.openxmlformats.org/drawingml/2006/main" w="16002">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Oval 11">
            <a:extLst xmlns:a="http://schemas.openxmlformats.org/drawingml/2006/main">
              <a:ext uri="{FF2B5EF4-FFF2-40B4-BE49-F238E27FC236}">
                <a16:creationId xmlns:a16="http://schemas.microsoft.com/office/drawing/2014/main" id="{5E5FDCD2-973F-4F6E-B26C-3E6F7ABCA142}"/>
              </a:ext>
            </a:extLst>
          </p:cNvPr>
          <p:cNvSpPr>
            <a:spLocks xmlns:a="http://schemas.openxmlformats.org/drawingml/2006/main" noGrp="1"/>
          </p:cNvSpPr>
          <p:nvPr/>
        </p:nvSpPr>
        <p:spPr>
          <a:xfrm xmlns:a="http://schemas.openxmlformats.org/drawingml/2006/main">
            <a:off x="1038758" y="3306470"/>
            <a:ext cx="98755" cy="98755"/>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6041A3B3-E8BD-4860-B2B0-8A0A0F303D4D}"/>
              </a:ext>
            </a:extLst>
          </p:cNvPr>
          <p:cNvSpPr>
            <a:spLocks xmlns:a="http://schemas.openxmlformats.org/drawingml/2006/main" noGrp="1"/>
          </p:cNvSpPr>
          <p:nvPr/>
        </p:nvSpPr>
        <p:spPr>
          <a:xfrm xmlns:a="http://schemas.openxmlformats.org/drawingml/2006/main">
            <a:off x="1444752" y="3172968"/>
            <a:ext cx="431596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600" b="1" i="0">
                <a:solidFill>
                  <a:srgbClr val="1E2447"/>
                </a:solidFill>
                <a:latin typeface="Cambria"/>
                <a:ea typeface="Cambria"/>
                <a:cs typeface="Cambria"/>
              </a:rPr>
              <a:t>The physicalist challenge</a:t>
            </a:r>
          </a:p>
        </p:txBody>
      </p:sp>
      <p:sp>
        <p:nvSpPr>
          <p:cNvPr id="14" name="TextBox 13">
            <a:extLst xmlns:a="http://schemas.openxmlformats.org/drawingml/2006/main">
              <a:ext uri="{FF2B5EF4-FFF2-40B4-BE49-F238E27FC236}">
                <a16:creationId xmlns:a16="http://schemas.microsoft.com/office/drawing/2014/main" id="{535D1890-7529-466A-981F-59124CCB08AD}"/>
              </a:ext>
            </a:extLst>
          </p:cNvPr>
          <p:cNvSpPr>
            <a:spLocks xmlns:a="http://schemas.openxmlformats.org/drawingml/2006/main" noGrp="1"/>
          </p:cNvSpPr>
          <p:nvPr/>
        </p:nvSpPr>
        <p:spPr>
          <a:xfrm xmlns:a="http://schemas.openxmlformats.org/drawingml/2006/main">
            <a:off x="941832" y="3685032"/>
            <a:ext cx="4745736" cy="1188719"/>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300" b="0" i="0">
                <a:solidFill>
                  <a:srgbClr val="5A6377"/>
                </a:solidFill>
                <a:latin typeface="Calibri"/>
                <a:ea typeface="Calibri"/>
                <a:cs typeface="Calibri"/>
              </a:rPr>
              <a:t>If jeevan changes bodily action, specify the mechanism and show effects not already explained by neural dynamics. Without a distinct prediction, the added entity risks explanatory idleness.</a:t>
            </a:r>
          </a:p>
        </p:txBody>
      </p:sp>
      <p:sp>
        <p:nvSpPr>
          <p:cNvPr id="15" name="Rounded Rectangle 14">
            <a:extLst xmlns:a="http://schemas.openxmlformats.org/drawingml/2006/main">
              <a:ext uri="{FF2B5EF4-FFF2-40B4-BE49-F238E27FC236}">
                <a16:creationId xmlns:a16="http://schemas.microsoft.com/office/drawing/2014/main" id="{C2DC4DB9-63F0-49AA-BC46-7848F130E85D}"/>
              </a:ext>
            </a:extLst>
          </p:cNvPr>
          <p:cNvSpPr>
            <a:spLocks xmlns:a="http://schemas.openxmlformats.org/drawingml/2006/main" noGrp="1"/>
          </p:cNvSpPr>
          <p:nvPr/>
        </p:nvSpPr>
        <p:spPr>
          <a:xfrm xmlns:a="http://schemas.openxmlformats.org/drawingml/2006/main">
            <a:off x="6172200" y="2971800"/>
            <a:ext cx="5330952" cy="2103120"/>
          </a:xfrm>
          <a:prstGeom xmlns:a="http://schemas.openxmlformats.org/drawingml/2006/main" prst="roundRect">
            <a:avLst>
              <a:gd name="adj" fmla="val 6000"/>
            </a:avLst>
          </a:prstGeom>
          <a:solidFill xmlns:a="http://schemas.openxmlformats.org/drawingml/2006/main">
            <a:srgbClr val="FAF1D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Oval 15">
            <a:extLst xmlns:a="http://schemas.openxmlformats.org/drawingml/2006/main">
              <a:ext uri="{FF2B5EF4-FFF2-40B4-BE49-F238E27FC236}">
                <a16:creationId xmlns:a16="http://schemas.microsoft.com/office/drawing/2014/main" id="{6F2F21B0-6C55-4882-AE2F-2AD508597133}"/>
              </a:ext>
            </a:extLst>
          </p:cNvPr>
          <p:cNvSpPr>
            <a:spLocks xmlns:a="http://schemas.openxmlformats.org/drawingml/2006/main" noGrp="1"/>
          </p:cNvSpPr>
          <p:nvPr/>
        </p:nvSpPr>
        <p:spPr>
          <a:xfrm xmlns:a="http://schemas.openxmlformats.org/drawingml/2006/main">
            <a:off x="6385255" y="3166567"/>
            <a:ext cx="378561" cy="378561"/>
          </a:xfrm>
          <a:prstGeom xmlns:a="http://schemas.openxmlformats.org/drawingml/2006/main" prst="ellipse">
            <a:avLst/>
          </a:prstGeom>
          <a:noFill xmlns:a="http://schemas.openxmlformats.org/drawingml/2006/main"/>
          <a:ln xmlns:a="http://schemas.openxmlformats.org/drawingml/2006/main" w="1828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Oval 16">
            <a:extLst xmlns:a="http://schemas.openxmlformats.org/drawingml/2006/main">
              <a:ext uri="{FF2B5EF4-FFF2-40B4-BE49-F238E27FC236}">
                <a16:creationId xmlns:a16="http://schemas.microsoft.com/office/drawing/2014/main" id="{44988DFE-9BA5-44C6-8D37-D7EDA1E54F9B}"/>
              </a:ext>
            </a:extLst>
          </p:cNvPr>
          <p:cNvSpPr>
            <a:spLocks xmlns:a="http://schemas.openxmlformats.org/drawingml/2006/main" noGrp="1"/>
          </p:cNvSpPr>
          <p:nvPr/>
        </p:nvSpPr>
        <p:spPr>
          <a:xfrm xmlns:a="http://schemas.openxmlformats.org/drawingml/2006/main">
            <a:off x="6463436" y="3244748"/>
            <a:ext cx="222199" cy="222199"/>
          </a:xfrm>
          <a:prstGeom xmlns:a="http://schemas.openxmlformats.org/drawingml/2006/main" prst="ellipse">
            <a:avLst/>
          </a:prstGeom>
          <a:noFill xmlns:a="http://schemas.openxmlformats.org/drawingml/2006/main"/>
          <a:ln xmlns:a="http://schemas.openxmlformats.org/drawingml/2006/main" w="16002">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Oval 17">
            <a:extLst xmlns:a="http://schemas.openxmlformats.org/drawingml/2006/main">
              <a:ext uri="{FF2B5EF4-FFF2-40B4-BE49-F238E27FC236}">
                <a16:creationId xmlns:a16="http://schemas.microsoft.com/office/drawing/2014/main" id="{A4A1996B-E6BD-4267-AF99-B6CE958611D9}"/>
              </a:ext>
            </a:extLst>
          </p:cNvPr>
          <p:cNvSpPr>
            <a:spLocks xmlns:a="http://schemas.openxmlformats.org/drawingml/2006/main" noGrp="1"/>
          </p:cNvSpPr>
          <p:nvPr/>
        </p:nvSpPr>
        <p:spPr>
          <a:xfrm xmlns:a="http://schemas.openxmlformats.org/drawingml/2006/main">
            <a:off x="6525158" y="3306470"/>
            <a:ext cx="98755" cy="98755"/>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A5EC8094-F37C-4F9A-A04B-A541C2C3ECD3}"/>
              </a:ext>
            </a:extLst>
          </p:cNvPr>
          <p:cNvSpPr>
            <a:spLocks xmlns:a="http://schemas.openxmlformats.org/drawingml/2006/main" noGrp="1"/>
          </p:cNvSpPr>
          <p:nvPr/>
        </p:nvSpPr>
        <p:spPr>
          <a:xfrm xmlns:a="http://schemas.openxmlformats.org/drawingml/2006/main">
            <a:off x="6931152" y="3172968"/>
            <a:ext cx="4389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600" b="1" i="0">
                <a:solidFill>
                  <a:srgbClr val="9A6414"/>
                </a:solidFill>
                <a:latin typeface="Cambria"/>
                <a:ea typeface="Cambria"/>
                <a:cs typeface="Cambria"/>
              </a:rPr>
              <a:t>The proposed joint form</a:t>
            </a:r>
          </a:p>
        </p:txBody>
      </p:sp>
      <p:sp>
        <p:nvSpPr>
          <p:cNvPr id="20" name="TextBox 19">
            <a:extLst xmlns:a="http://schemas.openxmlformats.org/drawingml/2006/main">
              <a:ext uri="{FF2B5EF4-FFF2-40B4-BE49-F238E27FC236}">
                <a16:creationId xmlns:a16="http://schemas.microsoft.com/office/drawing/2014/main" id="{AB718AA4-6E46-43C6-885D-93710D32A480}"/>
              </a:ext>
            </a:extLst>
          </p:cNvPr>
          <p:cNvSpPr>
            <a:spLocks xmlns:a="http://schemas.openxmlformats.org/drawingml/2006/main" noGrp="1"/>
          </p:cNvSpPr>
          <p:nvPr/>
        </p:nvSpPr>
        <p:spPr>
          <a:xfrm xmlns:a="http://schemas.openxmlformats.org/drawingml/2006/main">
            <a:off x="6428232" y="3685032"/>
            <a:ext cx="4818888" cy="1188719"/>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300" b="0" i="0">
                <a:solidFill>
                  <a:srgbClr val="5A6377"/>
                </a:solidFill>
                <a:latin typeface="Calibri"/>
                <a:ea typeface="Calibri"/>
                <a:cs typeface="Calibri"/>
              </a:rPr>
              <a:t>The sources describe brain–jeevan coordination through signals. A causal account still needs measurable conditions, pathways, and observations that separate it from rivals.</a:t>
            </a:r>
          </a:p>
        </p:txBody>
      </p:sp>
      <p:sp>
        <p:nvSpPr>
          <p:cNvPr id="21" name="Rounded Rectangle 20">
            <a:extLst xmlns:a="http://schemas.openxmlformats.org/drawingml/2006/main">
              <a:ext uri="{FF2B5EF4-FFF2-40B4-BE49-F238E27FC236}">
                <a16:creationId xmlns:a16="http://schemas.microsoft.com/office/drawing/2014/main" id="{40905F85-B9F4-48C6-B8D5-FEC03431CB38}"/>
              </a:ext>
            </a:extLst>
          </p:cNvPr>
          <p:cNvSpPr>
            <a:spLocks xmlns:a="http://schemas.openxmlformats.org/drawingml/2006/main" noGrp="1"/>
          </p:cNvSpPr>
          <p:nvPr/>
        </p:nvSpPr>
        <p:spPr>
          <a:xfrm xmlns:a="http://schemas.openxmlformats.org/drawingml/2006/main">
            <a:off x="685800" y="5349240"/>
            <a:ext cx="10817352" cy="822960"/>
          </a:xfrm>
          <a:prstGeom xmlns:a="http://schemas.openxmlformats.org/drawingml/2006/main" prst="roundRect">
            <a:avLst>
              <a:gd name="adj" fmla="val 12000"/>
            </a:avLst>
          </a:prstGeom>
          <a:solidFill xmlns:a="http://schemas.openxmlformats.org/drawingml/2006/main">
            <a:srgbClr val="1E244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C9724350-42EF-4C31-82B5-59182D1EE9B0}"/>
              </a:ext>
            </a:extLst>
          </p:cNvPr>
          <p:cNvSpPr>
            <a:spLocks xmlns:a="http://schemas.openxmlformats.org/drawingml/2006/main" noGrp="1"/>
          </p:cNvSpPr>
          <p:nvPr/>
        </p:nvSpPr>
        <p:spPr>
          <a:xfrm xmlns:a="http://schemas.openxmlformats.org/drawingml/2006/main">
            <a:off x="1005840" y="5349240"/>
            <a:ext cx="1017727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lnSpc>
                <a:spcPct val="105000"/>
              </a:lnSpc>
              <a:spcBef>
                <a:spcPts val="0"/>
              </a:spcBef>
              <a:spcAft>
                <a:spcPts val="400"/>
              </a:spcAft>
              <a:buNone/>
            </a:pPr>
            <a:r>
              <a:rPr sz="1450" b="1" i="0">
                <a:solidFill>
                  <a:srgbClr val="FFFFFF"/>
                </a:solidFill>
                <a:latin typeface="Calibri"/>
                <a:ea typeface="Calibri"/>
                <a:cs typeface="Calibri"/>
              </a:rPr>
              <a:t>A useful test must compare rival predictions—not simply restate either ontology.</a:t>
            </a:r>
          </a:p>
        </p:txBody>
      </p:sp>
      <p:sp>
        <p:nvSpPr>
          <p:cNvPr id="23" name="TextBox 22">
            <a:extLst xmlns:a="http://schemas.openxmlformats.org/drawingml/2006/main">
              <a:ext uri="{FF2B5EF4-FFF2-40B4-BE49-F238E27FC236}">
                <a16:creationId xmlns:a16="http://schemas.microsoft.com/office/drawing/2014/main" id="{D960306E-7771-4CA6-A9E2-332D2B07951C}"/>
              </a:ext>
            </a:extLst>
          </p:cNvPr>
          <p:cNvSpPr>
            <a:spLocks xmlns:a="http://schemas.openxmlformats.org/drawingml/2006/main" noGrp="1"/>
          </p:cNvSpPr>
          <p:nvPr/>
        </p:nvSpPr>
        <p:spPr>
          <a:xfrm xmlns:a="http://schemas.openxmlformats.org/drawingml/2006/main">
            <a:off x="685800" y="6419088"/>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100" b="0" i="1">
                <a:solidFill>
                  <a:srgbClr val="5A6377"/>
                </a:solidFill>
                <a:latin typeface="Calibri"/>
                <a:ea typeface="Calibri"/>
                <a:cs typeface="Calibri"/>
              </a:rPr>
              <a:t>Study §2.3.3 · §5.1–5.2</a:t>
            </a:r>
          </a:p>
        </p:txBody>
      </p:sp>
    </p:spTree>
    <p:extLst>
      <p:ext uri="{BB962C8B-B14F-4D97-AF65-F5344CB8AC3E}">
        <p14:creationId xmlns:p14="http://schemas.microsoft.com/office/powerpoint/2010/main" val="29684266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89D379D-5123-4DB0-A462-5E6001AC452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Oval 2">
            <a:extLst xmlns:a="http://schemas.openxmlformats.org/drawingml/2006/main">
              <a:ext uri="{FF2B5EF4-FFF2-40B4-BE49-F238E27FC236}">
                <a16:creationId xmlns:a16="http://schemas.microsoft.com/office/drawing/2014/main" id="{B7218E6E-64B9-4A28-9FA7-981C834A0BA8}"/>
              </a:ext>
            </a:extLst>
          </p:cNvPr>
          <p:cNvSpPr>
            <a:spLocks xmlns:a="http://schemas.openxmlformats.org/drawingml/2006/main" noGrp="1"/>
          </p:cNvSpPr>
          <p:nvPr/>
        </p:nvSpPr>
        <p:spPr>
          <a:xfrm xmlns:a="http://schemas.openxmlformats.org/drawingml/2006/main">
            <a:off x="654253" y="507949"/>
            <a:ext cx="483717" cy="483717"/>
          </a:xfrm>
          <a:prstGeom xmlns:a="http://schemas.openxmlformats.org/drawingml/2006/main" prst="ellipse">
            <a:avLst/>
          </a:prstGeom>
          <a:noFill xmlns:a="http://schemas.openxmlformats.org/drawingml/2006/main"/>
          <a:ln xmlns:a="http://schemas.openxmlformats.org/drawingml/2006/main" w="2336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Oval 3">
            <a:extLst xmlns:a="http://schemas.openxmlformats.org/drawingml/2006/main">
              <a:ext uri="{FF2B5EF4-FFF2-40B4-BE49-F238E27FC236}">
                <a16:creationId xmlns:a16="http://schemas.microsoft.com/office/drawing/2014/main" id="{E94E2063-F41E-48FB-9186-D1715E1BF659}"/>
              </a:ext>
            </a:extLst>
          </p:cNvPr>
          <p:cNvSpPr>
            <a:spLocks xmlns:a="http://schemas.openxmlformats.org/drawingml/2006/main" noGrp="1"/>
          </p:cNvSpPr>
          <p:nvPr/>
        </p:nvSpPr>
        <p:spPr>
          <a:xfrm xmlns:a="http://schemas.openxmlformats.org/drawingml/2006/main">
            <a:off x="754151" y="607847"/>
            <a:ext cx="283921" cy="283921"/>
          </a:xfrm>
          <a:prstGeom xmlns:a="http://schemas.openxmlformats.org/drawingml/2006/main" prst="ellipse">
            <a:avLst/>
          </a:prstGeom>
          <a:noFill xmlns:a="http://schemas.openxmlformats.org/drawingml/2006/main"/>
          <a:ln xmlns:a="http://schemas.openxmlformats.org/drawingml/2006/main" w="20447">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Oval 4">
            <a:extLst xmlns:a="http://schemas.openxmlformats.org/drawingml/2006/main">
              <a:ext uri="{FF2B5EF4-FFF2-40B4-BE49-F238E27FC236}">
                <a16:creationId xmlns:a16="http://schemas.microsoft.com/office/drawing/2014/main" id="{815AEB9E-BB82-4FCF-8DBB-5F60D3C5F276}"/>
              </a:ext>
            </a:extLst>
          </p:cNvPr>
          <p:cNvSpPr>
            <a:spLocks xmlns:a="http://schemas.openxmlformats.org/drawingml/2006/main" noGrp="1"/>
          </p:cNvSpPr>
          <p:nvPr/>
        </p:nvSpPr>
        <p:spPr>
          <a:xfrm xmlns:a="http://schemas.openxmlformats.org/drawingml/2006/main">
            <a:off x="833018" y="686714"/>
            <a:ext cx="126187" cy="126187"/>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E640DA08-EFAB-44AB-8E88-7E7025E97BE5}"/>
              </a:ext>
            </a:extLst>
          </p:cNvPr>
          <p:cNvSpPr>
            <a:spLocks xmlns:a="http://schemas.openxmlformats.org/drawingml/2006/main" noGrp="1"/>
          </p:cNvSpPr>
          <p:nvPr/>
        </p:nvSpPr>
        <p:spPr>
          <a:xfrm xmlns:a="http://schemas.openxmlformats.org/drawingml/2006/main">
            <a:off x="1325880" y="457200"/>
            <a:ext cx="10424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200" b="1" i="0">
                <a:solidFill>
                  <a:srgbClr val="C9821E"/>
                </a:solidFill>
                <a:latin typeface="Calibri"/>
                <a:ea typeface="Calibri"/>
                <a:cs typeface="Calibri"/>
              </a:rPr>
              <a:t>THE ARGUMENT BEYOND REDUCTION</a:t>
            </a:r>
          </a:p>
        </p:txBody>
      </p:sp>
      <p:sp>
        <p:nvSpPr>
          <p:cNvPr id="7" name="TextBox 6">
            <a:extLst xmlns:a="http://schemas.openxmlformats.org/drawingml/2006/main">
              <a:ext uri="{FF2B5EF4-FFF2-40B4-BE49-F238E27FC236}">
                <a16:creationId xmlns:a16="http://schemas.microsoft.com/office/drawing/2014/main" id="{50EB3682-9239-4303-8CAB-EF91299C9C4E}"/>
              </a:ext>
            </a:extLst>
          </p:cNvPr>
          <p:cNvSpPr>
            <a:spLocks xmlns:a="http://schemas.openxmlformats.org/drawingml/2006/main" noGrp="1"/>
          </p:cNvSpPr>
          <p:nvPr/>
        </p:nvSpPr>
        <p:spPr>
          <a:xfrm xmlns:a="http://schemas.openxmlformats.org/drawingml/2006/main">
            <a:off x="1280160" y="676656"/>
            <a:ext cx="105156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3000" b="1" i="0">
                <a:solidFill>
                  <a:srgbClr val="1E2447"/>
                </a:solidFill>
                <a:latin typeface="Cambria"/>
                <a:ea typeface="Cambria"/>
                <a:cs typeface="Cambria"/>
              </a:rPr>
              <a:t>Experience, Understanding, and Conduct</a:t>
            </a:r>
          </a:p>
        </p:txBody>
      </p:sp>
      <p:sp>
        <p:nvSpPr>
          <p:cNvPr id="8" name="Rounded Rectangle 7">
            <a:extLst xmlns:a="http://schemas.openxmlformats.org/drawingml/2006/main">
              <a:ext uri="{FF2B5EF4-FFF2-40B4-BE49-F238E27FC236}">
                <a16:creationId xmlns:a16="http://schemas.microsoft.com/office/drawing/2014/main" id="{10A83485-DD53-4B9E-91C9-F367B5B8E20B}"/>
              </a:ext>
            </a:extLst>
          </p:cNvPr>
          <p:cNvSpPr>
            <a:spLocks xmlns:a="http://schemas.openxmlformats.org/drawingml/2006/main" noGrp="1"/>
          </p:cNvSpPr>
          <p:nvPr/>
        </p:nvSpPr>
        <p:spPr>
          <a:xfrm xmlns:a="http://schemas.openxmlformats.org/drawingml/2006/main">
            <a:off x="685800" y="1828800"/>
            <a:ext cx="5257800" cy="2194560"/>
          </a:xfrm>
          <a:prstGeom xmlns:a="http://schemas.openxmlformats.org/drawingml/2006/main" prst="roundRect">
            <a:avLst>
              <a:gd name="adj" fmla="val 6000"/>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Oval 8">
            <a:extLst xmlns:a="http://schemas.openxmlformats.org/drawingml/2006/main">
              <a:ext uri="{FF2B5EF4-FFF2-40B4-BE49-F238E27FC236}">
                <a16:creationId xmlns:a16="http://schemas.microsoft.com/office/drawing/2014/main" id="{42DCE2A6-C890-4F33-8A37-B4027E0EEF84}"/>
              </a:ext>
            </a:extLst>
          </p:cNvPr>
          <p:cNvSpPr>
            <a:spLocks xmlns:a="http://schemas.openxmlformats.org/drawingml/2006/main" noGrp="1"/>
          </p:cNvSpPr>
          <p:nvPr/>
        </p:nvSpPr>
        <p:spPr>
          <a:xfrm xmlns:a="http://schemas.openxmlformats.org/drawingml/2006/main">
            <a:off x="898855" y="2023567"/>
            <a:ext cx="378561" cy="378561"/>
          </a:xfrm>
          <a:prstGeom xmlns:a="http://schemas.openxmlformats.org/drawingml/2006/main" prst="ellipse">
            <a:avLst/>
          </a:prstGeom>
          <a:noFill xmlns:a="http://schemas.openxmlformats.org/drawingml/2006/main"/>
          <a:ln xmlns:a="http://schemas.openxmlformats.org/drawingml/2006/main" w="1828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Oval 9">
            <a:extLst xmlns:a="http://schemas.openxmlformats.org/drawingml/2006/main">
              <a:ext uri="{FF2B5EF4-FFF2-40B4-BE49-F238E27FC236}">
                <a16:creationId xmlns:a16="http://schemas.microsoft.com/office/drawing/2014/main" id="{46F5CBA1-F5F6-409B-8A52-8A478A0CD13B}"/>
              </a:ext>
            </a:extLst>
          </p:cNvPr>
          <p:cNvSpPr>
            <a:spLocks xmlns:a="http://schemas.openxmlformats.org/drawingml/2006/main" noGrp="1"/>
          </p:cNvSpPr>
          <p:nvPr/>
        </p:nvSpPr>
        <p:spPr>
          <a:xfrm xmlns:a="http://schemas.openxmlformats.org/drawingml/2006/main">
            <a:off x="977036" y="2101748"/>
            <a:ext cx="222199" cy="222199"/>
          </a:xfrm>
          <a:prstGeom xmlns:a="http://schemas.openxmlformats.org/drawingml/2006/main" prst="ellipse">
            <a:avLst/>
          </a:prstGeom>
          <a:noFill xmlns:a="http://schemas.openxmlformats.org/drawingml/2006/main"/>
          <a:ln xmlns:a="http://schemas.openxmlformats.org/drawingml/2006/main" w="16002">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Oval 10">
            <a:extLst xmlns:a="http://schemas.openxmlformats.org/drawingml/2006/main">
              <a:ext uri="{FF2B5EF4-FFF2-40B4-BE49-F238E27FC236}">
                <a16:creationId xmlns:a16="http://schemas.microsoft.com/office/drawing/2014/main" id="{DFD3E3A8-345C-4998-A316-49802F513346}"/>
              </a:ext>
            </a:extLst>
          </p:cNvPr>
          <p:cNvSpPr>
            <a:spLocks xmlns:a="http://schemas.openxmlformats.org/drawingml/2006/main" noGrp="1"/>
          </p:cNvSpPr>
          <p:nvPr/>
        </p:nvSpPr>
        <p:spPr>
          <a:xfrm xmlns:a="http://schemas.openxmlformats.org/drawingml/2006/main">
            <a:off x="1038758" y="2163470"/>
            <a:ext cx="98755" cy="98755"/>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3D59460D-4545-4285-BAD7-3C64A6BA118E}"/>
              </a:ext>
            </a:extLst>
          </p:cNvPr>
          <p:cNvSpPr>
            <a:spLocks xmlns:a="http://schemas.openxmlformats.org/drawingml/2006/main" noGrp="1"/>
          </p:cNvSpPr>
          <p:nvPr/>
        </p:nvSpPr>
        <p:spPr>
          <a:xfrm xmlns:a="http://schemas.openxmlformats.org/drawingml/2006/main">
            <a:off x="1444752" y="2029968"/>
            <a:ext cx="431596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600" b="1" i="0">
                <a:solidFill>
                  <a:srgbClr val="1E2447"/>
                </a:solidFill>
                <a:latin typeface="Cambria"/>
                <a:ea typeface="Cambria"/>
                <a:cs typeface="Cambria"/>
              </a:rPr>
              <a:t>Experience and unity</a:t>
            </a:r>
          </a:p>
        </p:txBody>
      </p:sp>
      <p:sp>
        <p:nvSpPr>
          <p:cNvPr id="13" name="TextBox 12">
            <a:extLst xmlns:a="http://schemas.openxmlformats.org/drawingml/2006/main">
              <a:ext uri="{FF2B5EF4-FFF2-40B4-BE49-F238E27FC236}">
                <a16:creationId xmlns:a16="http://schemas.microsoft.com/office/drawing/2014/main" id="{39E39124-3EC3-4CD3-942E-ECA78D954FF8}"/>
              </a:ext>
            </a:extLst>
          </p:cNvPr>
          <p:cNvSpPr>
            <a:spLocks xmlns:a="http://schemas.openxmlformats.org/drawingml/2006/main" noGrp="1"/>
          </p:cNvSpPr>
          <p:nvPr/>
        </p:nvSpPr>
        <p:spPr>
          <a:xfrm xmlns:a="http://schemas.openxmlformats.org/drawingml/2006/main">
            <a:off x="941832" y="2542032"/>
            <a:ext cx="4745736"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350" b="0" i="0">
                <a:solidFill>
                  <a:srgbClr val="5A6377"/>
                </a:solidFill>
                <a:latin typeface="Calibri"/>
                <a:ea typeface="Calibri"/>
                <a:cs typeface="Calibri"/>
              </a:rPr>
              <a:t>A theory must explain why neural activity has a felt point of view, and how its contents form one experienced world. Integration alone does not identify an indivisible bearer.</a:t>
            </a:r>
          </a:p>
        </p:txBody>
      </p:sp>
      <p:sp>
        <p:nvSpPr>
          <p:cNvPr id="14" name="Rounded Rectangle 13">
            <a:extLst xmlns:a="http://schemas.openxmlformats.org/drawingml/2006/main">
              <a:ext uri="{FF2B5EF4-FFF2-40B4-BE49-F238E27FC236}">
                <a16:creationId xmlns:a16="http://schemas.microsoft.com/office/drawing/2014/main" id="{BADB0BB3-85F8-4D04-AA15-F6ED5336E18E}"/>
              </a:ext>
            </a:extLst>
          </p:cNvPr>
          <p:cNvSpPr>
            <a:spLocks xmlns:a="http://schemas.openxmlformats.org/drawingml/2006/main" noGrp="1"/>
          </p:cNvSpPr>
          <p:nvPr/>
        </p:nvSpPr>
        <p:spPr>
          <a:xfrm xmlns:a="http://schemas.openxmlformats.org/drawingml/2006/main">
            <a:off x="6172200" y="1828800"/>
            <a:ext cx="5330952" cy="2194560"/>
          </a:xfrm>
          <a:prstGeom xmlns:a="http://schemas.openxmlformats.org/drawingml/2006/main" prst="roundRect">
            <a:avLst>
              <a:gd name="adj" fmla="val 6000"/>
            </a:avLst>
          </a:prstGeom>
          <a:solidFill xmlns:a="http://schemas.openxmlformats.org/drawingml/2006/main">
            <a:srgbClr val="FAF1D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Oval 14">
            <a:extLst xmlns:a="http://schemas.openxmlformats.org/drawingml/2006/main">
              <a:ext uri="{FF2B5EF4-FFF2-40B4-BE49-F238E27FC236}">
                <a16:creationId xmlns:a16="http://schemas.microsoft.com/office/drawing/2014/main" id="{50687F1D-0140-4B6B-9510-EA6688FF0714}"/>
              </a:ext>
            </a:extLst>
          </p:cNvPr>
          <p:cNvSpPr>
            <a:spLocks xmlns:a="http://schemas.openxmlformats.org/drawingml/2006/main" noGrp="1"/>
          </p:cNvSpPr>
          <p:nvPr/>
        </p:nvSpPr>
        <p:spPr>
          <a:xfrm xmlns:a="http://schemas.openxmlformats.org/drawingml/2006/main">
            <a:off x="6385255" y="2023567"/>
            <a:ext cx="378561" cy="378561"/>
          </a:xfrm>
          <a:prstGeom xmlns:a="http://schemas.openxmlformats.org/drawingml/2006/main" prst="ellipse">
            <a:avLst/>
          </a:prstGeom>
          <a:noFill xmlns:a="http://schemas.openxmlformats.org/drawingml/2006/main"/>
          <a:ln xmlns:a="http://schemas.openxmlformats.org/drawingml/2006/main" w="1828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Oval 15">
            <a:extLst xmlns:a="http://schemas.openxmlformats.org/drawingml/2006/main">
              <a:ext uri="{FF2B5EF4-FFF2-40B4-BE49-F238E27FC236}">
                <a16:creationId xmlns:a16="http://schemas.microsoft.com/office/drawing/2014/main" id="{C9122800-0604-491B-9B24-CA30AFEB3184}"/>
              </a:ext>
            </a:extLst>
          </p:cNvPr>
          <p:cNvSpPr>
            <a:spLocks xmlns:a="http://schemas.openxmlformats.org/drawingml/2006/main" noGrp="1"/>
          </p:cNvSpPr>
          <p:nvPr/>
        </p:nvSpPr>
        <p:spPr>
          <a:xfrm xmlns:a="http://schemas.openxmlformats.org/drawingml/2006/main">
            <a:off x="6463436" y="2101748"/>
            <a:ext cx="222199" cy="222199"/>
          </a:xfrm>
          <a:prstGeom xmlns:a="http://schemas.openxmlformats.org/drawingml/2006/main" prst="ellipse">
            <a:avLst/>
          </a:prstGeom>
          <a:noFill xmlns:a="http://schemas.openxmlformats.org/drawingml/2006/main"/>
          <a:ln xmlns:a="http://schemas.openxmlformats.org/drawingml/2006/main" w="16002">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Oval 16">
            <a:extLst xmlns:a="http://schemas.openxmlformats.org/drawingml/2006/main">
              <a:ext uri="{FF2B5EF4-FFF2-40B4-BE49-F238E27FC236}">
                <a16:creationId xmlns:a16="http://schemas.microsoft.com/office/drawing/2014/main" id="{E22ADF36-379C-461A-9727-DFC684B67C93}"/>
              </a:ext>
            </a:extLst>
          </p:cNvPr>
          <p:cNvSpPr>
            <a:spLocks xmlns:a="http://schemas.openxmlformats.org/drawingml/2006/main" noGrp="1"/>
          </p:cNvSpPr>
          <p:nvPr/>
        </p:nvSpPr>
        <p:spPr>
          <a:xfrm xmlns:a="http://schemas.openxmlformats.org/drawingml/2006/main">
            <a:off x="6525158" y="2163470"/>
            <a:ext cx="98755" cy="98755"/>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C09451DF-306C-4790-9CE7-37BE2E698767}"/>
              </a:ext>
            </a:extLst>
          </p:cNvPr>
          <p:cNvSpPr>
            <a:spLocks xmlns:a="http://schemas.openxmlformats.org/drawingml/2006/main" noGrp="1"/>
          </p:cNvSpPr>
          <p:nvPr/>
        </p:nvSpPr>
        <p:spPr>
          <a:xfrm xmlns:a="http://schemas.openxmlformats.org/drawingml/2006/main">
            <a:off x="6931152" y="2029968"/>
            <a:ext cx="4389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600" b="1" i="0">
                <a:solidFill>
                  <a:srgbClr val="9A6414"/>
                </a:solidFill>
                <a:latin typeface="Cambria"/>
                <a:ea typeface="Cambria"/>
                <a:cs typeface="Cambria"/>
              </a:rPr>
              <a:t>Understanding and conduct</a:t>
            </a:r>
          </a:p>
        </p:txBody>
      </p:sp>
      <p:sp>
        <p:nvSpPr>
          <p:cNvPr id="19" name="TextBox 18">
            <a:extLst xmlns:a="http://schemas.openxmlformats.org/drawingml/2006/main">
              <a:ext uri="{FF2B5EF4-FFF2-40B4-BE49-F238E27FC236}">
                <a16:creationId xmlns:a16="http://schemas.microsoft.com/office/drawing/2014/main" id="{54000FF5-4E66-4A90-9991-EE425068D217}"/>
              </a:ext>
            </a:extLst>
          </p:cNvPr>
          <p:cNvSpPr>
            <a:spLocks xmlns:a="http://schemas.openxmlformats.org/drawingml/2006/main" noGrp="1"/>
          </p:cNvSpPr>
          <p:nvPr/>
        </p:nvSpPr>
        <p:spPr>
          <a:xfrm xmlns:a="http://schemas.openxmlformats.org/drawingml/2006/main">
            <a:off x="6428232" y="2542032"/>
            <a:ext cx="4818888"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350" b="0" i="0">
                <a:solidFill>
                  <a:srgbClr val="5A6377"/>
                </a:solidFill>
                <a:latin typeface="Calibri"/>
                <a:ea typeface="Calibri"/>
                <a:cs typeface="Calibri"/>
              </a:rPr>
              <a:t>Jeevan can examine its aims and recognise what relationships require. Realising coexistence gives direction to thought and action. Efficient acquisition alone does not settle fulfilment.</a:t>
            </a:r>
          </a:p>
        </p:txBody>
      </p:sp>
      <p:sp>
        <p:nvSpPr>
          <p:cNvPr id="20" name="Rounded Rectangle 19">
            <a:extLst xmlns:a="http://schemas.openxmlformats.org/drawingml/2006/main">
              <a:ext uri="{FF2B5EF4-FFF2-40B4-BE49-F238E27FC236}">
                <a16:creationId xmlns:a16="http://schemas.microsoft.com/office/drawing/2014/main" id="{D1D65E8E-E47B-4395-9E71-D9E3D5FD6841}"/>
              </a:ext>
            </a:extLst>
          </p:cNvPr>
          <p:cNvSpPr>
            <a:spLocks xmlns:a="http://schemas.openxmlformats.org/drawingml/2006/main" noGrp="1"/>
          </p:cNvSpPr>
          <p:nvPr/>
        </p:nvSpPr>
        <p:spPr>
          <a:xfrm xmlns:a="http://schemas.openxmlformats.org/drawingml/2006/main">
            <a:off x="685800" y="4343400"/>
            <a:ext cx="10817352" cy="822960"/>
          </a:xfrm>
          <a:prstGeom xmlns:a="http://schemas.openxmlformats.org/drawingml/2006/main" prst="roundRect">
            <a:avLst>
              <a:gd name="adj" fmla="val 12000"/>
            </a:avLst>
          </a:prstGeom>
          <a:solidFill xmlns:a="http://schemas.openxmlformats.org/drawingml/2006/main">
            <a:srgbClr val="1E244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2102DE27-5C18-42DF-83D3-D111247E7BC9}"/>
              </a:ext>
            </a:extLst>
          </p:cNvPr>
          <p:cNvSpPr>
            <a:spLocks xmlns:a="http://schemas.openxmlformats.org/drawingml/2006/main" noGrp="1"/>
          </p:cNvSpPr>
          <p:nvPr/>
        </p:nvSpPr>
        <p:spPr>
          <a:xfrm xmlns:a="http://schemas.openxmlformats.org/drawingml/2006/main">
            <a:off x="1005840" y="4343400"/>
            <a:ext cx="1017727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lnSpc>
                <a:spcPct val="105000"/>
              </a:lnSpc>
              <a:spcBef>
                <a:spcPts val="0"/>
              </a:spcBef>
              <a:spcAft>
                <a:spcPts val="400"/>
              </a:spcAft>
              <a:buNone/>
            </a:pPr>
            <a:r>
              <a:rPr sz="1450" b="1" i="0">
                <a:solidFill>
                  <a:srgbClr val="FFFFFF"/>
                </a:solidFill>
                <a:latin typeface="Calibri"/>
                <a:ea typeface="Calibri"/>
                <a:cs typeface="Calibri"/>
              </a:rPr>
              <a:t>Satya concerns coexistence, dharma concerns innateness and order, and nyaya concerns the </a:t>
            </a:r>
            <a:r>
              <a:rPr sz="1450" b="1" i="0">
                <a:solidFill>
                  <a:srgbClr val="FFFFFF"/>
                </a:solidFill>
                <a:latin typeface="Calibri"/>
                <a:ea typeface="Calibri"/>
                <a:cs typeface="Calibri"/>
              </a:rPr>
              <a:t>mutual fulfilment of relationships</a:t>
            </a:r>
            <a:r>
              <a:rPr sz="1450" b="1" i="0">
                <a:solidFill>
                  <a:srgbClr val="FFFFFF"/>
                </a:solidFill>
                <a:latin typeface="Calibri"/>
                <a:ea typeface="Calibri"/>
                <a:cs typeface="Calibri"/>
              </a:rPr>
              <a:t>.</a:t>
            </a:r>
          </a:p>
        </p:txBody>
      </p:sp>
      <p:sp>
        <p:nvSpPr>
          <p:cNvPr id="22" name="TextBox 21">
            <a:extLst xmlns:a="http://schemas.openxmlformats.org/drawingml/2006/main">
              <a:ext uri="{FF2B5EF4-FFF2-40B4-BE49-F238E27FC236}">
                <a16:creationId xmlns:a16="http://schemas.microsoft.com/office/drawing/2014/main" id="{1EA6E6C1-51B7-4990-8C8E-E45D426F8ADB}"/>
              </a:ext>
            </a:extLst>
          </p:cNvPr>
          <p:cNvSpPr>
            <a:spLocks xmlns:a="http://schemas.openxmlformats.org/drawingml/2006/main" noGrp="1"/>
          </p:cNvSpPr>
          <p:nvPr/>
        </p:nvSpPr>
        <p:spPr>
          <a:xfrm xmlns:a="http://schemas.openxmlformats.org/drawingml/2006/main">
            <a:off x="685800" y="5440680"/>
            <a:ext cx="107899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ctr">
              <a:lnSpc>
                <a:spcPct val="110000"/>
              </a:lnSpc>
              <a:spcBef>
                <a:spcPts val="0"/>
              </a:spcBef>
              <a:spcAft>
                <a:spcPts val="400"/>
              </a:spcAft>
              <a:buNone/>
            </a:pPr>
            <a:r>
              <a:rPr sz="1350" b="0" i="1">
                <a:solidFill>
                  <a:srgbClr val="5A6377"/>
                </a:solidFill>
                <a:latin typeface="Calibri"/>
                <a:ea typeface="Calibri"/>
                <a:cs typeface="Calibri"/>
              </a:rPr>
              <a:t>Embodied learning can also support a wider understanding. Its breadth alone does not prove a knower beyond physical processes.</a:t>
            </a:r>
          </a:p>
        </p:txBody>
      </p:sp>
      <p:sp>
        <p:nvSpPr>
          <p:cNvPr id="23" name="TextBox 22">
            <a:extLst xmlns:a="http://schemas.openxmlformats.org/drawingml/2006/main">
              <a:ext uri="{FF2B5EF4-FFF2-40B4-BE49-F238E27FC236}">
                <a16:creationId xmlns:a16="http://schemas.microsoft.com/office/drawing/2014/main" id="{B704B20D-3B56-4DDF-8C88-E476F80329AE}"/>
              </a:ext>
            </a:extLst>
          </p:cNvPr>
          <p:cNvSpPr>
            <a:spLocks xmlns:a="http://schemas.openxmlformats.org/drawingml/2006/main" noGrp="1"/>
          </p:cNvSpPr>
          <p:nvPr/>
        </p:nvSpPr>
        <p:spPr>
          <a:xfrm xmlns:a="http://schemas.openxmlformats.org/drawingml/2006/main">
            <a:off x="685800" y="6419088"/>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100" b="0" i="1">
                <a:solidFill>
                  <a:srgbClr val="5A6377"/>
                </a:solidFill>
                <a:latin typeface="Calibri"/>
                <a:ea typeface="Calibri"/>
                <a:cs typeface="Calibri"/>
              </a:rPr>
              <a:t>Study §4.2–4.5 · MVD pp. 97–100, 336 · JV pp. 138–139</a:t>
            </a:r>
          </a:p>
        </p:txBody>
      </p:sp>
    </p:spTree>
    <p:extLst>
      <p:ext uri="{BB962C8B-B14F-4D97-AF65-F5344CB8AC3E}">
        <p14:creationId xmlns:p14="http://schemas.microsoft.com/office/powerpoint/2010/main" val="46200106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D7C6D937-1EAF-4B18-9A22-997EC9A1851B}"/>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Oval 2">
            <a:extLst xmlns:a="http://schemas.openxmlformats.org/drawingml/2006/main">
              <a:ext uri="{FF2B5EF4-FFF2-40B4-BE49-F238E27FC236}">
                <a16:creationId xmlns:a16="http://schemas.microsoft.com/office/drawing/2014/main" id="{255488A1-261C-4BB3-BE47-2B924763F3C8}"/>
              </a:ext>
            </a:extLst>
          </p:cNvPr>
          <p:cNvSpPr>
            <a:spLocks xmlns:a="http://schemas.openxmlformats.org/drawingml/2006/main" noGrp="1"/>
          </p:cNvSpPr>
          <p:nvPr/>
        </p:nvSpPr>
        <p:spPr>
          <a:xfrm xmlns:a="http://schemas.openxmlformats.org/drawingml/2006/main">
            <a:off x="654253" y="507949"/>
            <a:ext cx="483717" cy="483717"/>
          </a:xfrm>
          <a:prstGeom xmlns:a="http://schemas.openxmlformats.org/drawingml/2006/main" prst="ellipse">
            <a:avLst/>
          </a:prstGeom>
          <a:noFill xmlns:a="http://schemas.openxmlformats.org/drawingml/2006/main"/>
          <a:ln xmlns:a="http://schemas.openxmlformats.org/drawingml/2006/main" w="2336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Oval 3">
            <a:extLst xmlns:a="http://schemas.openxmlformats.org/drawingml/2006/main">
              <a:ext uri="{FF2B5EF4-FFF2-40B4-BE49-F238E27FC236}">
                <a16:creationId xmlns:a16="http://schemas.microsoft.com/office/drawing/2014/main" id="{A3DAEDA7-D0D9-452A-8D07-FB59AEF105D4}"/>
              </a:ext>
            </a:extLst>
          </p:cNvPr>
          <p:cNvSpPr>
            <a:spLocks xmlns:a="http://schemas.openxmlformats.org/drawingml/2006/main" noGrp="1"/>
          </p:cNvSpPr>
          <p:nvPr/>
        </p:nvSpPr>
        <p:spPr>
          <a:xfrm xmlns:a="http://schemas.openxmlformats.org/drawingml/2006/main">
            <a:off x="754151" y="607847"/>
            <a:ext cx="283921" cy="283921"/>
          </a:xfrm>
          <a:prstGeom xmlns:a="http://schemas.openxmlformats.org/drawingml/2006/main" prst="ellipse">
            <a:avLst/>
          </a:prstGeom>
          <a:noFill xmlns:a="http://schemas.openxmlformats.org/drawingml/2006/main"/>
          <a:ln xmlns:a="http://schemas.openxmlformats.org/drawingml/2006/main" w="20447">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Oval 4">
            <a:extLst xmlns:a="http://schemas.openxmlformats.org/drawingml/2006/main">
              <a:ext uri="{FF2B5EF4-FFF2-40B4-BE49-F238E27FC236}">
                <a16:creationId xmlns:a16="http://schemas.microsoft.com/office/drawing/2014/main" id="{7D1EA5DE-1F9B-4407-977E-C742A9588F06}"/>
              </a:ext>
            </a:extLst>
          </p:cNvPr>
          <p:cNvSpPr>
            <a:spLocks xmlns:a="http://schemas.openxmlformats.org/drawingml/2006/main" noGrp="1"/>
          </p:cNvSpPr>
          <p:nvPr/>
        </p:nvSpPr>
        <p:spPr>
          <a:xfrm xmlns:a="http://schemas.openxmlformats.org/drawingml/2006/main">
            <a:off x="833018" y="686714"/>
            <a:ext cx="126187" cy="126187"/>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755906E6-A0B5-470F-BF09-F9D27CE065C1}"/>
              </a:ext>
            </a:extLst>
          </p:cNvPr>
          <p:cNvSpPr>
            <a:spLocks xmlns:a="http://schemas.openxmlformats.org/drawingml/2006/main" noGrp="1"/>
          </p:cNvSpPr>
          <p:nvPr/>
        </p:nvSpPr>
        <p:spPr>
          <a:xfrm xmlns:a="http://schemas.openxmlformats.org/drawingml/2006/main">
            <a:off x="1325880" y="457200"/>
            <a:ext cx="10424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200" b="1" i="0">
                <a:solidFill>
                  <a:srgbClr val="C9821E"/>
                </a:solidFill>
                <a:latin typeface="Calibri"/>
                <a:ea typeface="Calibri"/>
                <a:cs typeface="Calibri"/>
              </a:rPr>
              <a:t>ADVAITA VEDANTA · ONTOLOGY</a:t>
            </a:r>
          </a:p>
        </p:txBody>
      </p:sp>
      <p:sp>
        <p:nvSpPr>
          <p:cNvPr id="7" name="TextBox 6">
            <a:extLst xmlns:a="http://schemas.openxmlformats.org/drawingml/2006/main">
              <a:ext uri="{FF2B5EF4-FFF2-40B4-BE49-F238E27FC236}">
                <a16:creationId xmlns:a16="http://schemas.microsoft.com/office/drawing/2014/main" id="{4386FA75-11E0-4053-AA8B-8EB762B6E9A2}"/>
              </a:ext>
            </a:extLst>
          </p:cNvPr>
          <p:cNvSpPr>
            <a:spLocks xmlns:a="http://schemas.openxmlformats.org/drawingml/2006/main" noGrp="1"/>
          </p:cNvSpPr>
          <p:nvPr/>
        </p:nvSpPr>
        <p:spPr>
          <a:xfrm xmlns:a="http://schemas.openxmlformats.org/drawingml/2006/main">
            <a:off x="1280160" y="676656"/>
            <a:ext cx="105156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3000" b="1" i="0">
                <a:solidFill>
                  <a:srgbClr val="1E2447"/>
                </a:solidFill>
                <a:latin typeface="Cambria"/>
                <a:ea typeface="Cambria"/>
                <a:cs typeface="Cambria"/>
              </a:rPr>
              <a:t>You Are Not Even an Individual</a:t>
            </a:r>
          </a:p>
        </p:txBody>
      </p:sp>
      <p:sp>
        <p:nvSpPr>
          <p:cNvPr id="8" name="TextBox 7">
            <a:extLst xmlns:a="http://schemas.openxmlformats.org/drawingml/2006/main">
              <a:ext uri="{FF2B5EF4-FFF2-40B4-BE49-F238E27FC236}">
                <a16:creationId xmlns:a16="http://schemas.microsoft.com/office/drawing/2014/main" id="{AC3D6809-4AC2-45A6-9902-85D69A4E852C}"/>
              </a:ext>
            </a:extLst>
          </p:cNvPr>
          <p:cNvSpPr>
            <a:spLocks xmlns:a="http://schemas.openxmlformats.org/drawingml/2006/main" noGrp="1"/>
          </p:cNvSpPr>
          <p:nvPr/>
        </p:nvSpPr>
        <p:spPr>
          <a:xfrm xmlns:a="http://schemas.openxmlformats.org/drawingml/2006/main">
            <a:off x="685800" y="1783080"/>
            <a:ext cx="107899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10000"/>
              </a:lnSpc>
              <a:spcBef>
                <a:spcPts val="0"/>
              </a:spcBef>
              <a:spcAft>
                <a:spcPts val="400"/>
              </a:spcAft>
              <a:buNone/>
            </a:pPr>
            <a:r>
              <a:rPr sz="1450" b="0" i="0">
                <a:solidFill>
                  <a:srgbClr val="5A6377"/>
                </a:solidFill>
                <a:latin typeface="Calibri"/>
                <a:ea typeface="Calibri"/>
                <a:cs typeface="Calibri"/>
              </a:rPr>
              <a:t>Advaita distinguishes empirical from ultimate reality. The world is mithya: not sheer nonexistence, but dependent reality whose being is not separate from Brahman.</a:t>
            </a:r>
          </a:p>
        </p:txBody>
      </p:sp>
      <p:sp>
        <p:nvSpPr>
          <p:cNvPr id="9" name="Rounded Rectangle 8">
            <a:extLst xmlns:a="http://schemas.openxmlformats.org/drawingml/2006/main">
              <a:ext uri="{FF2B5EF4-FFF2-40B4-BE49-F238E27FC236}">
                <a16:creationId xmlns:a16="http://schemas.microsoft.com/office/drawing/2014/main" id="{80474AED-B3A2-4BCB-9669-863BE529E9AB}"/>
              </a:ext>
            </a:extLst>
          </p:cNvPr>
          <p:cNvSpPr>
            <a:spLocks xmlns:a="http://schemas.openxmlformats.org/drawingml/2006/main" noGrp="1"/>
          </p:cNvSpPr>
          <p:nvPr/>
        </p:nvSpPr>
        <p:spPr>
          <a:xfrm xmlns:a="http://schemas.openxmlformats.org/drawingml/2006/main">
            <a:off x="685800" y="2606040"/>
            <a:ext cx="3547872" cy="2148840"/>
          </a:xfrm>
          <a:prstGeom xmlns:a="http://schemas.openxmlformats.org/drawingml/2006/main" prst="roundRect">
            <a:avLst>
              <a:gd name="adj" fmla="val 6000"/>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Oval 9">
            <a:extLst xmlns:a="http://schemas.openxmlformats.org/drawingml/2006/main">
              <a:ext uri="{FF2B5EF4-FFF2-40B4-BE49-F238E27FC236}">
                <a16:creationId xmlns:a16="http://schemas.microsoft.com/office/drawing/2014/main" id="{AA7A40E2-C5B4-49CF-9BC4-4B7B8115672E}"/>
              </a:ext>
            </a:extLst>
          </p:cNvPr>
          <p:cNvSpPr>
            <a:spLocks xmlns:a="http://schemas.openxmlformats.org/drawingml/2006/main" noGrp="1"/>
          </p:cNvSpPr>
          <p:nvPr/>
        </p:nvSpPr>
        <p:spPr>
          <a:xfrm xmlns:a="http://schemas.openxmlformats.org/drawingml/2006/main">
            <a:off x="898855" y="2800807"/>
            <a:ext cx="378561" cy="378561"/>
          </a:xfrm>
          <a:prstGeom xmlns:a="http://schemas.openxmlformats.org/drawingml/2006/main" prst="ellipse">
            <a:avLst/>
          </a:prstGeom>
          <a:noFill xmlns:a="http://schemas.openxmlformats.org/drawingml/2006/main"/>
          <a:ln xmlns:a="http://schemas.openxmlformats.org/drawingml/2006/main" w="1828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Oval 10">
            <a:extLst xmlns:a="http://schemas.openxmlformats.org/drawingml/2006/main">
              <a:ext uri="{FF2B5EF4-FFF2-40B4-BE49-F238E27FC236}">
                <a16:creationId xmlns:a16="http://schemas.microsoft.com/office/drawing/2014/main" id="{EF4148F8-C171-4F06-B782-1E47B113734D}"/>
              </a:ext>
            </a:extLst>
          </p:cNvPr>
          <p:cNvSpPr>
            <a:spLocks xmlns:a="http://schemas.openxmlformats.org/drawingml/2006/main" noGrp="1"/>
          </p:cNvSpPr>
          <p:nvPr/>
        </p:nvSpPr>
        <p:spPr>
          <a:xfrm xmlns:a="http://schemas.openxmlformats.org/drawingml/2006/main">
            <a:off x="977036" y="2878988"/>
            <a:ext cx="222199" cy="222199"/>
          </a:xfrm>
          <a:prstGeom xmlns:a="http://schemas.openxmlformats.org/drawingml/2006/main" prst="ellipse">
            <a:avLst/>
          </a:prstGeom>
          <a:noFill xmlns:a="http://schemas.openxmlformats.org/drawingml/2006/main"/>
          <a:ln xmlns:a="http://schemas.openxmlformats.org/drawingml/2006/main" w="16002">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Oval 11">
            <a:extLst xmlns:a="http://schemas.openxmlformats.org/drawingml/2006/main">
              <a:ext uri="{FF2B5EF4-FFF2-40B4-BE49-F238E27FC236}">
                <a16:creationId xmlns:a16="http://schemas.microsoft.com/office/drawing/2014/main" id="{DB83D325-22CF-48B8-A104-6669E3DF5593}"/>
              </a:ext>
            </a:extLst>
          </p:cNvPr>
          <p:cNvSpPr>
            <a:spLocks xmlns:a="http://schemas.openxmlformats.org/drawingml/2006/main" noGrp="1"/>
          </p:cNvSpPr>
          <p:nvPr/>
        </p:nvSpPr>
        <p:spPr>
          <a:xfrm xmlns:a="http://schemas.openxmlformats.org/drawingml/2006/main">
            <a:off x="1038758" y="2940710"/>
            <a:ext cx="98755" cy="98755"/>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B3AC1540-CA59-4BA9-B2A8-25A7C92494BA}"/>
              </a:ext>
            </a:extLst>
          </p:cNvPr>
          <p:cNvSpPr>
            <a:spLocks xmlns:a="http://schemas.openxmlformats.org/drawingml/2006/main" noGrp="1"/>
          </p:cNvSpPr>
          <p:nvPr/>
        </p:nvSpPr>
        <p:spPr>
          <a:xfrm xmlns:a="http://schemas.openxmlformats.org/drawingml/2006/main">
            <a:off x="1444752" y="2807208"/>
            <a:ext cx="2606039" cy="5080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500" b="1" i="0">
                <a:solidFill>
                  <a:srgbClr val="1E2447"/>
                </a:solidFill>
                <a:latin typeface="Cambria"/>
                <a:ea typeface="Cambria"/>
                <a:cs typeface="Cambria"/>
              </a:rPr>
              <a:t>Only Brahman is ultimately real</a:t>
            </a:r>
          </a:p>
        </p:txBody>
      </p:sp>
      <p:sp>
        <p:nvSpPr>
          <p:cNvPr id="14" name="TextBox 13">
            <a:extLst xmlns:a="http://schemas.openxmlformats.org/drawingml/2006/main">
              <a:ext uri="{FF2B5EF4-FFF2-40B4-BE49-F238E27FC236}">
                <a16:creationId xmlns:a16="http://schemas.microsoft.com/office/drawing/2014/main" id="{BAD36EDA-EE27-4AD1-AD41-C0634482D45E}"/>
              </a:ext>
            </a:extLst>
          </p:cNvPr>
          <p:cNvSpPr>
            <a:spLocks xmlns:a="http://schemas.openxmlformats.org/drawingml/2006/main" noGrp="1"/>
          </p:cNvSpPr>
          <p:nvPr/>
        </p:nvSpPr>
        <p:spPr>
          <a:xfrm xmlns:a="http://schemas.openxmlformats.org/drawingml/2006/main">
            <a:off x="941832" y="3319272"/>
            <a:ext cx="3035808"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250" b="0" i="0">
                <a:solidFill>
                  <a:srgbClr val="5A6377"/>
                </a:solidFill>
                <a:latin typeface="Calibri"/>
                <a:ea typeface="Calibri"/>
                <a:cs typeface="Calibri"/>
              </a:rPr>
              <a:t>Atman is Brahman; plurality is valid within empirical life but lacks independent ultimate reality.</a:t>
            </a:r>
          </a:p>
        </p:txBody>
      </p:sp>
      <p:sp>
        <p:nvSpPr>
          <p:cNvPr id="15" name="Rounded Rectangle 14">
            <a:extLst xmlns:a="http://schemas.openxmlformats.org/drawingml/2006/main">
              <a:ext uri="{FF2B5EF4-FFF2-40B4-BE49-F238E27FC236}">
                <a16:creationId xmlns:a16="http://schemas.microsoft.com/office/drawing/2014/main" id="{44CF00E1-84CD-489C-ACF7-86598D7C1C67}"/>
              </a:ext>
            </a:extLst>
          </p:cNvPr>
          <p:cNvSpPr>
            <a:spLocks xmlns:a="http://schemas.openxmlformats.org/drawingml/2006/main" noGrp="1"/>
          </p:cNvSpPr>
          <p:nvPr/>
        </p:nvSpPr>
        <p:spPr>
          <a:xfrm xmlns:a="http://schemas.openxmlformats.org/drawingml/2006/main">
            <a:off x="4325112" y="2606040"/>
            <a:ext cx="3547872" cy="2148840"/>
          </a:xfrm>
          <a:prstGeom xmlns:a="http://schemas.openxmlformats.org/drawingml/2006/main" prst="roundRect">
            <a:avLst>
              <a:gd name="adj" fmla="val 6000"/>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Oval 15">
            <a:extLst xmlns:a="http://schemas.openxmlformats.org/drawingml/2006/main">
              <a:ext uri="{FF2B5EF4-FFF2-40B4-BE49-F238E27FC236}">
                <a16:creationId xmlns:a16="http://schemas.microsoft.com/office/drawing/2014/main" id="{DA0B7F59-0D50-4EAD-A33D-EC2913D570D9}"/>
              </a:ext>
            </a:extLst>
          </p:cNvPr>
          <p:cNvSpPr>
            <a:spLocks xmlns:a="http://schemas.openxmlformats.org/drawingml/2006/main" noGrp="1"/>
          </p:cNvSpPr>
          <p:nvPr/>
        </p:nvSpPr>
        <p:spPr>
          <a:xfrm xmlns:a="http://schemas.openxmlformats.org/drawingml/2006/main">
            <a:off x="4538167" y="2800807"/>
            <a:ext cx="378561" cy="378561"/>
          </a:xfrm>
          <a:prstGeom xmlns:a="http://schemas.openxmlformats.org/drawingml/2006/main" prst="ellipse">
            <a:avLst/>
          </a:prstGeom>
          <a:noFill xmlns:a="http://schemas.openxmlformats.org/drawingml/2006/main"/>
          <a:ln xmlns:a="http://schemas.openxmlformats.org/drawingml/2006/main" w="1828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Oval 16">
            <a:extLst xmlns:a="http://schemas.openxmlformats.org/drawingml/2006/main">
              <a:ext uri="{FF2B5EF4-FFF2-40B4-BE49-F238E27FC236}">
                <a16:creationId xmlns:a16="http://schemas.microsoft.com/office/drawing/2014/main" id="{21FED87B-01E5-4C1D-A6E9-3C8CD3FD4F9E}"/>
              </a:ext>
            </a:extLst>
          </p:cNvPr>
          <p:cNvSpPr>
            <a:spLocks xmlns:a="http://schemas.openxmlformats.org/drawingml/2006/main" noGrp="1"/>
          </p:cNvSpPr>
          <p:nvPr/>
        </p:nvSpPr>
        <p:spPr>
          <a:xfrm xmlns:a="http://schemas.openxmlformats.org/drawingml/2006/main">
            <a:off x="4616348" y="2878988"/>
            <a:ext cx="222199" cy="222199"/>
          </a:xfrm>
          <a:prstGeom xmlns:a="http://schemas.openxmlformats.org/drawingml/2006/main" prst="ellipse">
            <a:avLst/>
          </a:prstGeom>
          <a:noFill xmlns:a="http://schemas.openxmlformats.org/drawingml/2006/main"/>
          <a:ln xmlns:a="http://schemas.openxmlformats.org/drawingml/2006/main" w="16002">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Oval 17">
            <a:extLst xmlns:a="http://schemas.openxmlformats.org/drawingml/2006/main">
              <a:ext uri="{FF2B5EF4-FFF2-40B4-BE49-F238E27FC236}">
                <a16:creationId xmlns:a16="http://schemas.microsoft.com/office/drawing/2014/main" id="{CFB46FEA-3120-4614-B548-A5D712D2614C}"/>
              </a:ext>
            </a:extLst>
          </p:cNvPr>
          <p:cNvSpPr>
            <a:spLocks xmlns:a="http://schemas.openxmlformats.org/drawingml/2006/main" noGrp="1"/>
          </p:cNvSpPr>
          <p:nvPr/>
        </p:nvSpPr>
        <p:spPr>
          <a:xfrm xmlns:a="http://schemas.openxmlformats.org/drawingml/2006/main">
            <a:off x="4678070" y="2940710"/>
            <a:ext cx="98755" cy="98755"/>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1F001645-A77C-473E-A02A-011686E44938}"/>
              </a:ext>
            </a:extLst>
          </p:cNvPr>
          <p:cNvSpPr>
            <a:spLocks xmlns:a="http://schemas.openxmlformats.org/drawingml/2006/main" noGrp="1"/>
          </p:cNvSpPr>
          <p:nvPr/>
        </p:nvSpPr>
        <p:spPr>
          <a:xfrm xmlns:a="http://schemas.openxmlformats.org/drawingml/2006/main">
            <a:off x="5084064" y="2807208"/>
            <a:ext cx="2606039"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500" b="1" i="0">
                <a:solidFill>
                  <a:srgbClr val="1E2447"/>
                </a:solidFill>
                <a:latin typeface="Cambria"/>
                <a:ea typeface="Cambria"/>
                <a:cs typeface="Cambria"/>
              </a:rPr>
              <a:t>Not the body — or the mind</a:t>
            </a:r>
          </a:p>
        </p:txBody>
      </p:sp>
      <p:sp>
        <p:nvSpPr>
          <p:cNvPr id="20" name="TextBox 19">
            <a:extLst xmlns:a="http://schemas.openxmlformats.org/drawingml/2006/main">
              <a:ext uri="{FF2B5EF4-FFF2-40B4-BE49-F238E27FC236}">
                <a16:creationId xmlns:a16="http://schemas.microsoft.com/office/drawing/2014/main" id="{9BF889AF-74DB-4DDC-989C-95AA155A8A08}"/>
              </a:ext>
            </a:extLst>
          </p:cNvPr>
          <p:cNvSpPr>
            <a:spLocks xmlns:a="http://schemas.openxmlformats.org/drawingml/2006/main" noGrp="1"/>
          </p:cNvSpPr>
          <p:nvPr/>
        </p:nvSpPr>
        <p:spPr>
          <a:xfrm xmlns:a="http://schemas.openxmlformats.org/drawingml/2006/main">
            <a:off x="4581144" y="3319272"/>
            <a:ext cx="3035808"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250" b="0" i="0">
                <a:solidFill>
                  <a:srgbClr val="5A6377"/>
                </a:solidFill>
                <a:latin typeface="Calibri"/>
                <a:ea typeface="Calibri"/>
                <a:cs typeface="Calibri"/>
              </a:rPr>
              <a:t>Body, life-force, mind, intellect, and the bliss sheath are successively negated as not-Self.</a:t>
            </a:r>
          </a:p>
        </p:txBody>
      </p:sp>
      <p:sp>
        <p:nvSpPr>
          <p:cNvPr id="21" name="Rounded Rectangle 20">
            <a:extLst xmlns:a="http://schemas.openxmlformats.org/drawingml/2006/main">
              <a:ext uri="{FF2B5EF4-FFF2-40B4-BE49-F238E27FC236}">
                <a16:creationId xmlns:a16="http://schemas.microsoft.com/office/drawing/2014/main" id="{1A12CA38-55A2-48DD-A952-D6EA6178C934}"/>
              </a:ext>
            </a:extLst>
          </p:cNvPr>
          <p:cNvSpPr>
            <a:spLocks xmlns:a="http://schemas.openxmlformats.org/drawingml/2006/main" noGrp="1"/>
          </p:cNvSpPr>
          <p:nvPr/>
        </p:nvSpPr>
        <p:spPr>
          <a:xfrm xmlns:a="http://schemas.openxmlformats.org/drawingml/2006/main">
            <a:off x="7964424" y="2606040"/>
            <a:ext cx="3547872" cy="2148840"/>
          </a:xfrm>
          <a:prstGeom xmlns:a="http://schemas.openxmlformats.org/drawingml/2006/main" prst="roundRect">
            <a:avLst>
              <a:gd name="adj" fmla="val 6000"/>
            </a:avLst>
          </a:prstGeom>
          <a:solidFill xmlns:a="http://schemas.openxmlformats.org/drawingml/2006/main">
            <a:srgbClr val="FAF1D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Oval 21">
            <a:extLst xmlns:a="http://schemas.openxmlformats.org/drawingml/2006/main">
              <a:ext uri="{FF2B5EF4-FFF2-40B4-BE49-F238E27FC236}">
                <a16:creationId xmlns:a16="http://schemas.microsoft.com/office/drawing/2014/main" id="{676E2740-225D-4E7C-800C-3B1909206460}"/>
              </a:ext>
            </a:extLst>
          </p:cNvPr>
          <p:cNvSpPr>
            <a:spLocks xmlns:a="http://schemas.openxmlformats.org/drawingml/2006/main" noGrp="1"/>
          </p:cNvSpPr>
          <p:nvPr/>
        </p:nvSpPr>
        <p:spPr>
          <a:xfrm xmlns:a="http://schemas.openxmlformats.org/drawingml/2006/main">
            <a:off x="8177479" y="2800807"/>
            <a:ext cx="378561" cy="378561"/>
          </a:xfrm>
          <a:prstGeom xmlns:a="http://schemas.openxmlformats.org/drawingml/2006/main" prst="ellipse">
            <a:avLst/>
          </a:prstGeom>
          <a:noFill xmlns:a="http://schemas.openxmlformats.org/drawingml/2006/main"/>
          <a:ln xmlns:a="http://schemas.openxmlformats.org/drawingml/2006/main" w="1828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Oval 22">
            <a:extLst xmlns:a="http://schemas.openxmlformats.org/drawingml/2006/main">
              <a:ext uri="{FF2B5EF4-FFF2-40B4-BE49-F238E27FC236}">
                <a16:creationId xmlns:a16="http://schemas.microsoft.com/office/drawing/2014/main" id="{03EA1621-5893-4DF4-AE60-A0AB77D7232E}"/>
              </a:ext>
            </a:extLst>
          </p:cNvPr>
          <p:cNvSpPr>
            <a:spLocks xmlns:a="http://schemas.openxmlformats.org/drawingml/2006/main" noGrp="1"/>
          </p:cNvSpPr>
          <p:nvPr/>
        </p:nvSpPr>
        <p:spPr>
          <a:xfrm xmlns:a="http://schemas.openxmlformats.org/drawingml/2006/main">
            <a:off x="8255660" y="2878988"/>
            <a:ext cx="222199" cy="222199"/>
          </a:xfrm>
          <a:prstGeom xmlns:a="http://schemas.openxmlformats.org/drawingml/2006/main" prst="ellipse">
            <a:avLst/>
          </a:prstGeom>
          <a:noFill xmlns:a="http://schemas.openxmlformats.org/drawingml/2006/main"/>
          <a:ln xmlns:a="http://schemas.openxmlformats.org/drawingml/2006/main" w="16002">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Oval 23">
            <a:extLst xmlns:a="http://schemas.openxmlformats.org/drawingml/2006/main">
              <a:ext uri="{FF2B5EF4-FFF2-40B4-BE49-F238E27FC236}">
                <a16:creationId xmlns:a16="http://schemas.microsoft.com/office/drawing/2014/main" id="{13687DF2-0023-43CB-864D-3972F3B744D6}"/>
              </a:ext>
            </a:extLst>
          </p:cNvPr>
          <p:cNvSpPr>
            <a:spLocks xmlns:a="http://schemas.openxmlformats.org/drawingml/2006/main" noGrp="1"/>
          </p:cNvSpPr>
          <p:nvPr/>
        </p:nvSpPr>
        <p:spPr>
          <a:xfrm xmlns:a="http://schemas.openxmlformats.org/drawingml/2006/main">
            <a:off x="8317382" y="2940710"/>
            <a:ext cx="98755" cy="98755"/>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5" name="TextBox 24">
            <a:extLst xmlns:a="http://schemas.openxmlformats.org/drawingml/2006/main">
              <a:ext uri="{FF2B5EF4-FFF2-40B4-BE49-F238E27FC236}">
                <a16:creationId xmlns:a16="http://schemas.microsoft.com/office/drawing/2014/main" id="{B332CD5E-7A03-49B1-ABFF-3173F5C1D9A0}"/>
              </a:ext>
            </a:extLst>
          </p:cNvPr>
          <p:cNvSpPr>
            <a:spLocks xmlns:a="http://schemas.openxmlformats.org/drawingml/2006/main" noGrp="1"/>
          </p:cNvSpPr>
          <p:nvPr/>
        </p:nvSpPr>
        <p:spPr>
          <a:xfrm xmlns:a="http://schemas.openxmlformats.org/drawingml/2006/main">
            <a:off x="8723376" y="2807208"/>
            <a:ext cx="2606039"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500" b="1" i="0">
                <a:solidFill>
                  <a:srgbClr val="9A6414"/>
                </a:solidFill>
                <a:latin typeface="Cambria"/>
                <a:ea typeface="Cambria"/>
                <a:cs typeface="Cambria"/>
              </a:rPr>
              <a:t>Witness to nonduality</a:t>
            </a:r>
          </a:p>
        </p:txBody>
      </p:sp>
      <p:sp>
        <p:nvSpPr>
          <p:cNvPr id="26" name="TextBox 25">
            <a:extLst xmlns:a="http://schemas.openxmlformats.org/drawingml/2006/main">
              <a:ext uri="{FF2B5EF4-FFF2-40B4-BE49-F238E27FC236}">
                <a16:creationId xmlns:a16="http://schemas.microsoft.com/office/drawing/2014/main" id="{F8B49F0A-B130-4F49-8508-8DF3CEE63C55}"/>
              </a:ext>
            </a:extLst>
          </p:cNvPr>
          <p:cNvSpPr>
            <a:spLocks xmlns:a="http://schemas.openxmlformats.org/drawingml/2006/main" noGrp="1"/>
          </p:cNvSpPr>
          <p:nvPr/>
        </p:nvSpPr>
        <p:spPr>
          <a:xfrm xmlns:a="http://schemas.openxmlformats.org/drawingml/2006/main">
            <a:off x="8220456" y="3319272"/>
            <a:ext cx="3035808"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250" b="0" i="0">
                <a:solidFill>
                  <a:srgbClr val="5A6377"/>
                </a:solidFill>
                <a:latin typeface="Calibri"/>
                <a:ea typeface="Calibri"/>
                <a:cs typeface="Calibri"/>
              </a:rPr>
              <a:t>Distinguishing witness from witnessed begins the inquiry; Upanishadic testimony and reasoning support identity with Brahman. Introspection alone does not yield that second step.</a:t>
            </a:r>
          </a:p>
        </p:txBody>
      </p:sp>
      <p:sp>
        <p:nvSpPr>
          <p:cNvPr id="27" name="Rounded Rectangle 26">
            <a:extLst xmlns:a="http://schemas.openxmlformats.org/drawingml/2006/main">
              <a:ext uri="{FF2B5EF4-FFF2-40B4-BE49-F238E27FC236}">
                <a16:creationId xmlns:a16="http://schemas.microsoft.com/office/drawing/2014/main" id="{3D020CC6-DCB8-4C2A-843D-76AB8E33D053}"/>
              </a:ext>
            </a:extLst>
          </p:cNvPr>
          <p:cNvSpPr>
            <a:spLocks xmlns:a="http://schemas.openxmlformats.org/drawingml/2006/main" noGrp="1"/>
          </p:cNvSpPr>
          <p:nvPr/>
        </p:nvSpPr>
        <p:spPr>
          <a:xfrm xmlns:a="http://schemas.openxmlformats.org/drawingml/2006/main">
            <a:off x="685800" y="5029200"/>
            <a:ext cx="10817352" cy="749808"/>
          </a:xfrm>
          <a:prstGeom xmlns:a="http://schemas.openxmlformats.org/drawingml/2006/main" prst="roundRect">
            <a:avLst>
              <a:gd name="adj" fmla="val 12000"/>
            </a:avLst>
          </a:prstGeom>
          <a:solidFill xmlns:a="http://schemas.openxmlformats.org/drawingml/2006/main">
            <a:srgbClr val="FAF1D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TextBox 27">
            <a:extLst xmlns:a="http://schemas.openxmlformats.org/drawingml/2006/main">
              <a:ext uri="{FF2B5EF4-FFF2-40B4-BE49-F238E27FC236}">
                <a16:creationId xmlns:a16="http://schemas.microsoft.com/office/drawing/2014/main" id="{E5F15B3B-51B4-4D0D-B070-2E1AA7CEE9FC}"/>
              </a:ext>
            </a:extLst>
          </p:cNvPr>
          <p:cNvSpPr>
            <a:spLocks xmlns:a="http://schemas.openxmlformats.org/drawingml/2006/main" noGrp="1"/>
          </p:cNvSpPr>
          <p:nvPr/>
        </p:nvSpPr>
        <p:spPr>
          <a:xfrm xmlns:a="http://schemas.openxmlformats.org/drawingml/2006/main">
            <a:off x="1005840" y="5029200"/>
            <a:ext cx="10177272"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lnSpc>
                <a:spcPct val="105000"/>
              </a:lnSpc>
              <a:spcBef>
                <a:spcPts val="0"/>
              </a:spcBef>
              <a:spcAft>
                <a:spcPts val="400"/>
              </a:spcAft>
              <a:buNone/>
            </a:pPr>
            <a:r>
              <a:rPr sz="1450" b="1" i="0">
                <a:solidFill>
                  <a:srgbClr val="9A6414"/>
                </a:solidFill>
                <a:latin typeface="Calibri"/>
                <a:ea typeface="Calibri"/>
                <a:cs typeface="Calibri"/>
              </a:rPr>
              <a:t>Ultimately no separate material human exists; empirically, embodiment, ethics, learning, and suffering still matter.</a:t>
            </a:r>
          </a:p>
        </p:txBody>
      </p:sp>
      <p:sp>
        <p:nvSpPr>
          <p:cNvPr id="29" name="TextBox 28">
            <a:extLst xmlns:a="http://schemas.openxmlformats.org/drawingml/2006/main">
              <a:ext uri="{FF2B5EF4-FFF2-40B4-BE49-F238E27FC236}">
                <a16:creationId xmlns:a16="http://schemas.microsoft.com/office/drawing/2014/main" id="{BF026387-AC94-40A0-A9A1-C13FD9D6230F}"/>
              </a:ext>
            </a:extLst>
          </p:cNvPr>
          <p:cNvSpPr>
            <a:spLocks xmlns:a="http://schemas.openxmlformats.org/drawingml/2006/main" noGrp="1"/>
          </p:cNvSpPr>
          <p:nvPr/>
        </p:nvSpPr>
        <p:spPr>
          <a:xfrm xmlns:a="http://schemas.openxmlformats.org/drawingml/2006/main">
            <a:off x="685800" y="6419088"/>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100" b="0" i="1">
                <a:solidFill>
                  <a:srgbClr val="5A6377"/>
                </a:solidFill>
                <a:latin typeface="Calibri"/>
                <a:ea typeface="Calibri"/>
                <a:cs typeface="Calibri"/>
              </a:rPr>
              <a:t>BU 2.3.6, 2.4.5 · TU 2.1–2.5 · VC v. 120 · Study §3.3</a:t>
            </a:r>
          </a:p>
        </p:txBody>
      </p:sp>
    </p:spTree>
    <p:extLst>
      <p:ext uri="{BB962C8B-B14F-4D97-AF65-F5344CB8AC3E}">
        <p14:creationId xmlns:p14="http://schemas.microsoft.com/office/powerpoint/2010/main" val="179942189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8C3F5B5-C00B-4FB9-930D-F255F75120F2}"/>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Oval 2">
            <a:extLst xmlns:a="http://schemas.openxmlformats.org/drawingml/2006/main">
              <a:ext uri="{FF2B5EF4-FFF2-40B4-BE49-F238E27FC236}">
                <a16:creationId xmlns:a16="http://schemas.microsoft.com/office/drawing/2014/main" id="{9009C407-2D28-4C94-B1CB-3A92CCB8FCF0}"/>
              </a:ext>
            </a:extLst>
          </p:cNvPr>
          <p:cNvSpPr>
            <a:spLocks xmlns:a="http://schemas.openxmlformats.org/drawingml/2006/main" noGrp="1"/>
          </p:cNvSpPr>
          <p:nvPr/>
        </p:nvSpPr>
        <p:spPr>
          <a:xfrm xmlns:a="http://schemas.openxmlformats.org/drawingml/2006/main">
            <a:off x="654253" y="507949"/>
            <a:ext cx="483717" cy="483717"/>
          </a:xfrm>
          <a:prstGeom xmlns:a="http://schemas.openxmlformats.org/drawingml/2006/main" prst="ellipse">
            <a:avLst/>
          </a:prstGeom>
          <a:noFill xmlns:a="http://schemas.openxmlformats.org/drawingml/2006/main"/>
          <a:ln xmlns:a="http://schemas.openxmlformats.org/drawingml/2006/main" w="2336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Oval 3">
            <a:extLst xmlns:a="http://schemas.openxmlformats.org/drawingml/2006/main">
              <a:ext uri="{FF2B5EF4-FFF2-40B4-BE49-F238E27FC236}">
                <a16:creationId xmlns:a16="http://schemas.microsoft.com/office/drawing/2014/main" id="{7C54D1A4-8005-4352-BBF2-99142E59916F}"/>
              </a:ext>
            </a:extLst>
          </p:cNvPr>
          <p:cNvSpPr>
            <a:spLocks xmlns:a="http://schemas.openxmlformats.org/drawingml/2006/main" noGrp="1"/>
          </p:cNvSpPr>
          <p:nvPr/>
        </p:nvSpPr>
        <p:spPr>
          <a:xfrm xmlns:a="http://schemas.openxmlformats.org/drawingml/2006/main">
            <a:off x="754151" y="607847"/>
            <a:ext cx="283921" cy="283921"/>
          </a:xfrm>
          <a:prstGeom xmlns:a="http://schemas.openxmlformats.org/drawingml/2006/main" prst="ellipse">
            <a:avLst/>
          </a:prstGeom>
          <a:noFill xmlns:a="http://schemas.openxmlformats.org/drawingml/2006/main"/>
          <a:ln xmlns:a="http://schemas.openxmlformats.org/drawingml/2006/main" w="20447">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Oval 4">
            <a:extLst xmlns:a="http://schemas.openxmlformats.org/drawingml/2006/main">
              <a:ext uri="{FF2B5EF4-FFF2-40B4-BE49-F238E27FC236}">
                <a16:creationId xmlns:a16="http://schemas.microsoft.com/office/drawing/2014/main" id="{7D629E32-F803-4E2E-8DB9-42CEA56EA3DD}"/>
              </a:ext>
            </a:extLst>
          </p:cNvPr>
          <p:cNvSpPr>
            <a:spLocks xmlns:a="http://schemas.openxmlformats.org/drawingml/2006/main" noGrp="1"/>
          </p:cNvSpPr>
          <p:nvPr/>
        </p:nvSpPr>
        <p:spPr>
          <a:xfrm xmlns:a="http://schemas.openxmlformats.org/drawingml/2006/main">
            <a:off x="833018" y="686714"/>
            <a:ext cx="126187" cy="126187"/>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A5D8F269-1A09-4854-9D29-B975513D466B}"/>
              </a:ext>
            </a:extLst>
          </p:cNvPr>
          <p:cNvSpPr>
            <a:spLocks xmlns:a="http://schemas.openxmlformats.org/drawingml/2006/main" noGrp="1"/>
          </p:cNvSpPr>
          <p:nvPr/>
        </p:nvSpPr>
        <p:spPr>
          <a:xfrm xmlns:a="http://schemas.openxmlformats.org/drawingml/2006/main">
            <a:off x="1325880" y="457200"/>
            <a:ext cx="10424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200" b="1" i="0">
                <a:solidFill>
                  <a:srgbClr val="C9821E"/>
                </a:solidFill>
                <a:latin typeface="Calibri"/>
                <a:ea typeface="Calibri"/>
                <a:cs typeface="Calibri"/>
              </a:rPr>
              <a:t>MADHYASTH DARSHAN · THE PROPOSED TEST</a:t>
            </a:r>
          </a:p>
        </p:txBody>
      </p:sp>
      <p:sp>
        <p:nvSpPr>
          <p:cNvPr id="7" name="TextBox 6">
            <a:extLst xmlns:a="http://schemas.openxmlformats.org/drawingml/2006/main">
              <a:ext uri="{FF2B5EF4-FFF2-40B4-BE49-F238E27FC236}">
                <a16:creationId xmlns:a16="http://schemas.microsoft.com/office/drawing/2014/main" id="{4336D788-6BD1-4D9B-8D04-048918077A6D}"/>
              </a:ext>
            </a:extLst>
          </p:cNvPr>
          <p:cNvSpPr>
            <a:spLocks xmlns:a="http://schemas.openxmlformats.org/drawingml/2006/main" noGrp="1"/>
          </p:cNvSpPr>
          <p:nvPr/>
        </p:nvSpPr>
        <p:spPr>
          <a:xfrm xmlns:a="http://schemas.openxmlformats.org/drawingml/2006/main">
            <a:off x="1280160" y="676656"/>
            <a:ext cx="105156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3000" b="1" i="0">
                <a:solidFill>
                  <a:srgbClr val="1E2447"/>
                </a:solidFill>
                <a:latin typeface="Cambria"/>
                <a:ea typeface="Cambria"/>
                <a:cs typeface="Cambria"/>
              </a:rPr>
              <a:t>How Madhyasth Darshan Asks to Be Tested</a:t>
            </a:r>
          </a:p>
        </p:txBody>
      </p:sp>
      <p:sp>
        <p:nvSpPr>
          <p:cNvPr id="8" name="TextBox 7">
            <a:extLst xmlns:a="http://schemas.openxmlformats.org/drawingml/2006/main">
              <a:ext uri="{FF2B5EF4-FFF2-40B4-BE49-F238E27FC236}">
                <a16:creationId xmlns:a16="http://schemas.microsoft.com/office/drawing/2014/main" id="{9058B0A6-115E-4B3E-B077-2048FD2E3C0D}"/>
              </a:ext>
            </a:extLst>
          </p:cNvPr>
          <p:cNvSpPr>
            <a:spLocks xmlns:a="http://schemas.openxmlformats.org/drawingml/2006/main" noGrp="1"/>
          </p:cNvSpPr>
          <p:nvPr/>
        </p:nvSpPr>
        <p:spPr>
          <a:xfrm xmlns:a="http://schemas.openxmlformats.org/drawingml/2006/main">
            <a:off x="685800" y="1783080"/>
            <a:ext cx="107899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10000"/>
              </a:lnSpc>
              <a:spcBef>
                <a:spcPts val="0"/>
              </a:spcBef>
              <a:spcAft>
                <a:spcPts val="400"/>
              </a:spcAft>
              <a:buNone/>
            </a:pPr>
            <a:r>
              <a:rPr sz="1450" b="0" i="0">
                <a:solidFill>
                  <a:srgbClr val="5A6377"/>
                </a:solidFill>
                <a:latin typeface="Calibri"/>
                <a:ea typeface="Calibri"/>
                <a:cs typeface="Calibri"/>
              </a:rPr>
              <a:t>Nagraj reports that samadhi did not disclose the unknown; he locates the decisive discovery in samyama and presents the result for study, practice, and verification.</a:t>
            </a:r>
          </a:p>
        </p:txBody>
      </p:sp>
      <p:sp>
        <p:nvSpPr>
          <p:cNvPr id="9" name="Rounded Rectangle 8">
            <a:extLst xmlns:a="http://schemas.openxmlformats.org/drawingml/2006/main">
              <a:ext uri="{FF2B5EF4-FFF2-40B4-BE49-F238E27FC236}">
                <a16:creationId xmlns:a16="http://schemas.microsoft.com/office/drawing/2014/main" id="{B5F13278-2964-41D3-80D7-B376386D05EB}"/>
              </a:ext>
            </a:extLst>
          </p:cNvPr>
          <p:cNvSpPr>
            <a:spLocks xmlns:a="http://schemas.openxmlformats.org/drawingml/2006/main" noGrp="1"/>
          </p:cNvSpPr>
          <p:nvPr/>
        </p:nvSpPr>
        <p:spPr>
          <a:xfrm xmlns:a="http://schemas.openxmlformats.org/drawingml/2006/main">
            <a:off x="685800" y="2743200"/>
            <a:ext cx="3398520" cy="658368"/>
          </a:xfrm>
          <a:prstGeom xmlns:a="http://schemas.openxmlformats.org/drawingml/2006/main" prst="roundRect">
            <a:avLst>
              <a:gd name="adj" fmla="val 18000"/>
            </a:avLst>
          </a:prstGeom>
          <a:solidFill xmlns:a="http://schemas.openxmlformats.org/drawingml/2006/main">
            <a:srgbClr val="3B4A7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71ADAE33-1D2C-4F45-AD90-8A0A59559A7E}"/>
              </a:ext>
            </a:extLst>
          </p:cNvPr>
          <p:cNvSpPr>
            <a:spLocks xmlns:a="http://schemas.openxmlformats.org/drawingml/2006/main" noGrp="1"/>
          </p:cNvSpPr>
          <p:nvPr/>
        </p:nvSpPr>
        <p:spPr>
          <a:xfrm xmlns:a="http://schemas.openxmlformats.org/drawingml/2006/main">
            <a:off x="685800" y="2743200"/>
            <a:ext cx="339852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spcBef>
                <a:spcPts val="0"/>
              </a:spcBef>
              <a:spcAft>
                <a:spcPts val="0"/>
              </a:spcAft>
              <a:buNone/>
            </a:pPr>
            <a:r>
              <a:rPr sz="1300" b="1" i="0">
                <a:solidFill>
                  <a:srgbClr val="FFFFFF"/>
                </a:solidFill>
                <a:latin typeface="Calibri"/>
                <a:ea typeface="Calibri"/>
                <a:cs typeface="Calibri"/>
              </a:rPr>
              <a:t>Study</a:t>
            </a:r>
          </a:p>
        </p:txBody>
      </p:sp>
      <p:sp>
        <p:nvSpPr>
          <p:cNvPr id="11" name="TextBox 10">
            <a:extLst xmlns:a="http://schemas.openxmlformats.org/drawingml/2006/main">
              <a:ext uri="{FF2B5EF4-FFF2-40B4-BE49-F238E27FC236}">
                <a16:creationId xmlns:a16="http://schemas.microsoft.com/office/drawing/2014/main" id="{B0D11407-1DB1-4A16-9101-51463DB0EEE5}"/>
              </a:ext>
            </a:extLst>
          </p:cNvPr>
          <p:cNvSpPr>
            <a:spLocks xmlns:a="http://schemas.openxmlformats.org/drawingml/2006/main" noGrp="1"/>
          </p:cNvSpPr>
          <p:nvPr/>
        </p:nvSpPr>
        <p:spPr>
          <a:xfrm xmlns:a="http://schemas.openxmlformats.org/drawingml/2006/main">
            <a:off x="4093464" y="2889504"/>
            <a:ext cx="29260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spcBef>
                <a:spcPts val="0"/>
              </a:spcBef>
              <a:spcAft>
                <a:spcPts val="0"/>
              </a:spcAft>
              <a:buNone/>
            </a:pPr>
            <a:r>
              <a:rPr sz="2000" b="1" i="0">
                <a:solidFill>
                  <a:srgbClr val="C9821E"/>
                </a:solidFill>
                <a:latin typeface="Calibri"/>
                <a:ea typeface="Calibri"/>
                <a:cs typeface="Calibri"/>
              </a:rPr>
              <a:t>→</a:t>
            </a:r>
          </a:p>
        </p:txBody>
      </p:sp>
      <p:sp>
        <p:nvSpPr>
          <p:cNvPr id="12" name="Rounded Rectangle 11">
            <a:extLst xmlns:a="http://schemas.openxmlformats.org/drawingml/2006/main">
              <a:ext uri="{FF2B5EF4-FFF2-40B4-BE49-F238E27FC236}">
                <a16:creationId xmlns:a16="http://schemas.microsoft.com/office/drawing/2014/main" id="{2C1D0A1C-88E4-4CBA-B16D-5E5BF363E892}"/>
              </a:ext>
            </a:extLst>
          </p:cNvPr>
          <p:cNvSpPr>
            <a:spLocks xmlns:a="http://schemas.openxmlformats.org/drawingml/2006/main" noGrp="1"/>
          </p:cNvSpPr>
          <p:nvPr/>
        </p:nvSpPr>
        <p:spPr>
          <a:xfrm xmlns:a="http://schemas.openxmlformats.org/drawingml/2006/main">
            <a:off x="4395216" y="2743200"/>
            <a:ext cx="3398520" cy="658368"/>
          </a:xfrm>
          <a:prstGeom xmlns:a="http://schemas.openxmlformats.org/drawingml/2006/main" prst="roundRect">
            <a:avLst>
              <a:gd name="adj" fmla="val 18000"/>
            </a:avLst>
          </a:prstGeom>
          <a:solidFill xmlns:a="http://schemas.openxmlformats.org/drawingml/2006/main">
            <a:srgbClr val="3B4A7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9FEDFA80-10A0-4F60-9CB8-78203C7943C8}"/>
              </a:ext>
            </a:extLst>
          </p:cNvPr>
          <p:cNvSpPr>
            <a:spLocks xmlns:a="http://schemas.openxmlformats.org/drawingml/2006/main" noGrp="1"/>
          </p:cNvSpPr>
          <p:nvPr/>
        </p:nvSpPr>
        <p:spPr>
          <a:xfrm xmlns:a="http://schemas.openxmlformats.org/drawingml/2006/main">
            <a:off x="4395216" y="2743200"/>
            <a:ext cx="339852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spcBef>
                <a:spcPts val="0"/>
              </a:spcBef>
              <a:spcAft>
                <a:spcPts val="0"/>
              </a:spcAft>
              <a:buNone/>
            </a:pPr>
            <a:r>
              <a:rPr sz="1300" b="1" i="0">
                <a:solidFill>
                  <a:srgbClr val="FFFFFF"/>
                </a:solidFill>
                <a:latin typeface="Calibri"/>
                <a:ea typeface="Calibri"/>
                <a:cs typeface="Calibri"/>
              </a:rPr>
              <a:t>Understand and live</a:t>
            </a:r>
          </a:p>
        </p:txBody>
      </p:sp>
      <p:sp>
        <p:nvSpPr>
          <p:cNvPr id="14" name="TextBox 13">
            <a:extLst xmlns:a="http://schemas.openxmlformats.org/drawingml/2006/main">
              <a:ext uri="{FF2B5EF4-FFF2-40B4-BE49-F238E27FC236}">
                <a16:creationId xmlns:a16="http://schemas.microsoft.com/office/drawing/2014/main" id="{80BD9621-26F8-4144-A4E2-27C9D660DF57}"/>
              </a:ext>
            </a:extLst>
          </p:cNvPr>
          <p:cNvSpPr>
            <a:spLocks xmlns:a="http://schemas.openxmlformats.org/drawingml/2006/main" noGrp="1"/>
          </p:cNvSpPr>
          <p:nvPr/>
        </p:nvSpPr>
        <p:spPr>
          <a:xfrm xmlns:a="http://schemas.openxmlformats.org/drawingml/2006/main">
            <a:off x="7802880" y="2889504"/>
            <a:ext cx="29260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spcBef>
                <a:spcPts val="0"/>
              </a:spcBef>
              <a:spcAft>
                <a:spcPts val="0"/>
              </a:spcAft>
              <a:buNone/>
            </a:pPr>
            <a:r>
              <a:rPr sz="2000" b="1" i="0">
                <a:solidFill>
                  <a:srgbClr val="C9821E"/>
                </a:solidFill>
                <a:latin typeface="Calibri"/>
                <a:ea typeface="Calibri"/>
                <a:cs typeface="Calibri"/>
              </a:rPr>
              <a:t>→</a:t>
            </a:r>
          </a:p>
        </p:txBody>
      </p:sp>
      <p:sp>
        <p:nvSpPr>
          <p:cNvPr id="15" name="Rounded Rectangle 14">
            <a:extLst xmlns:a="http://schemas.openxmlformats.org/drawingml/2006/main">
              <a:ext uri="{FF2B5EF4-FFF2-40B4-BE49-F238E27FC236}">
                <a16:creationId xmlns:a16="http://schemas.microsoft.com/office/drawing/2014/main" id="{1CD5A363-8989-4686-B905-B1E612320432}"/>
              </a:ext>
            </a:extLst>
          </p:cNvPr>
          <p:cNvSpPr>
            <a:spLocks xmlns:a="http://schemas.openxmlformats.org/drawingml/2006/main" noGrp="1"/>
          </p:cNvSpPr>
          <p:nvPr/>
        </p:nvSpPr>
        <p:spPr>
          <a:xfrm xmlns:a="http://schemas.openxmlformats.org/drawingml/2006/main">
            <a:off x="8104632" y="2743200"/>
            <a:ext cx="3398520" cy="658368"/>
          </a:xfrm>
          <a:prstGeom xmlns:a="http://schemas.openxmlformats.org/drawingml/2006/main" prst="roundRect">
            <a:avLst>
              <a:gd name="adj" fmla="val 18000"/>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748EF715-F129-446C-9E89-29E51BDC8137}"/>
              </a:ext>
            </a:extLst>
          </p:cNvPr>
          <p:cNvSpPr>
            <a:spLocks xmlns:a="http://schemas.openxmlformats.org/drawingml/2006/main" noGrp="1"/>
          </p:cNvSpPr>
          <p:nvPr/>
        </p:nvSpPr>
        <p:spPr>
          <a:xfrm xmlns:a="http://schemas.openxmlformats.org/drawingml/2006/main">
            <a:off x="8104632" y="2743200"/>
            <a:ext cx="339852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spcBef>
                <a:spcPts val="0"/>
              </a:spcBef>
              <a:spcAft>
                <a:spcPts val="0"/>
              </a:spcAft>
              <a:buNone/>
            </a:pPr>
            <a:r>
              <a:rPr sz="1300" b="1" i="0">
                <a:solidFill>
                  <a:srgbClr val="FFFFFF"/>
                </a:solidFill>
                <a:latin typeface="Calibri"/>
                <a:ea typeface="Calibri"/>
                <a:cs typeface="Calibri"/>
              </a:rPr>
              <a:t>Verify in conduct</a:t>
            </a:r>
          </a:p>
        </p:txBody>
      </p:sp>
      <p:sp>
        <p:nvSpPr>
          <p:cNvPr id="17" name="Rounded Rectangle 16">
            <a:extLst xmlns:a="http://schemas.openxmlformats.org/drawingml/2006/main">
              <a:ext uri="{FF2B5EF4-FFF2-40B4-BE49-F238E27FC236}">
                <a16:creationId xmlns:a16="http://schemas.microsoft.com/office/drawing/2014/main" id="{213930F7-1D72-4F6F-8831-7CE63A7DF3D1}"/>
              </a:ext>
            </a:extLst>
          </p:cNvPr>
          <p:cNvSpPr>
            <a:spLocks xmlns:a="http://schemas.openxmlformats.org/drawingml/2006/main" noGrp="1"/>
          </p:cNvSpPr>
          <p:nvPr/>
        </p:nvSpPr>
        <p:spPr>
          <a:xfrm xmlns:a="http://schemas.openxmlformats.org/drawingml/2006/main">
            <a:off x="685800" y="3886200"/>
            <a:ext cx="10817352" cy="1051560"/>
          </a:xfrm>
          <a:prstGeom xmlns:a="http://schemas.openxmlformats.org/drawingml/2006/main" prst="roundRect">
            <a:avLst>
              <a:gd name="adj" fmla="val 9000"/>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A1BDEAC0-A3CB-445F-9DF6-EE29F1536B7D}"/>
              </a:ext>
            </a:extLst>
          </p:cNvPr>
          <p:cNvSpPr>
            <a:spLocks xmlns:a="http://schemas.openxmlformats.org/drawingml/2006/main" noGrp="1"/>
          </p:cNvSpPr>
          <p:nvPr/>
        </p:nvSpPr>
        <p:spPr>
          <a:xfrm xmlns:a="http://schemas.openxmlformats.org/drawingml/2006/main">
            <a:off x="1051560" y="4041648"/>
            <a:ext cx="101498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lnSpc>
                <a:spcPct val="108000"/>
              </a:lnSpc>
              <a:spcBef>
                <a:spcPts val="0"/>
              </a:spcBef>
              <a:spcAft>
                <a:spcPts val="400"/>
              </a:spcAft>
              <a:buNone/>
            </a:pPr>
            <a:r>
              <a:rPr sz="1350" b="1" i="0">
                <a:solidFill>
                  <a:srgbClr val="1E2447"/>
                </a:solidFill>
                <a:latin typeface="Calibri"/>
                <a:ea typeface="Calibri"/>
                <a:cs typeface="Calibri"/>
              </a:rPr>
              <a:t>Textual testimony initiates inquiry; understanding and conduct are supposed to yield pramanikta. The aspiration is intersubjective, but controls, failure criteria, and replication remain underspecified.</a:t>
            </a:r>
          </a:p>
        </p:txBody>
      </p:sp>
      <p:sp>
        <p:nvSpPr>
          <p:cNvPr id="19" name="Rounded Rectangle 18">
            <a:extLst xmlns:a="http://schemas.openxmlformats.org/drawingml/2006/main">
              <a:ext uri="{FF2B5EF4-FFF2-40B4-BE49-F238E27FC236}">
                <a16:creationId xmlns:a16="http://schemas.microsoft.com/office/drawing/2014/main" id="{AC3A9FC0-0E37-49B3-BAF4-ADF7D828394C}"/>
              </a:ext>
            </a:extLst>
          </p:cNvPr>
          <p:cNvSpPr>
            <a:spLocks xmlns:a="http://schemas.openxmlformats.org/drawingml/2006/main" noGrp="1"/>
          </p:cNvSpPr>
          <p:nvPr/>
        </p:nvSpPr>
        <p:spPr>
          <a:xfrm xmlns:a="http://schemas.openxmlformats.org/drawingml/2006/main">
            <a:off x="685800" y="5257800"/>
            <a:ext cx="10817352" cy="749808"/>
          </a:xfrm>
          <a:prstGeom xmlns:a="http://schemas.openxmlformats.org/drawingml/2006/main" prst="roundRect">
            <a:avLst>
              <a:gd name="adj" fmla="val 12000"/>
            </a:avLst>
          </a:prstGeom>
          <a:solidFill xmlns:a="http://schemas.openxmlformats.org/drawingml/2006/main">
            <a:srgbClr val="1E244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930358A3-296E-423F-BDB6-C4579E99E0EB}"/>
              </a:ext>
            </a:extLst>
          </p:cNvPr>
          <p:cNvSpPr>
            <a:spLocks xmlns:a="http://schemas.openxmlformats.org/drawingml/2006/main" noGrp="1"/>
          </p:cNvSpPr>
          <p:nvPr/>
        </p:nvSpPr>
        <p:spPr>
          <a:xfrm xmlns:a="http://schemas.openxmlformats.org/drawingml/2006/main">
            <a:off x="1005840" y="5257800"/>
            <a:ext cx="10177272"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lnSpc>
                <a:spcPct val="105000"/>
              </a:lnSpc>
              <a:spcBef>
                <a:spcPts val="0"/>
              </a:spcBef>
              <a:spcAft>
                <a:spcPts val="400"/>
              </a:spcAft>
              <a:buNone/>
            </a:pPr>
            <a:r>
              <a:rPr sz="1450" b="1" i="0">
                <a:solidFill>
                  <a:srgbClr val="FFFFFF"/>
                </a:solidFill>
                <a:latin typeface="Calibri"/>
                <a:ea typeface="Calibri"/>
                <a:cs typeface="Calibri"/>
              </a:rPr>
              <a:t>Do learners show lasting gains in justice and mutual fulfilment? This tests practical understanding. Atomic constitution and survival require further evidence.</a:t>
            </a:r>
          </a:p>
        </p:txBody>
      </p:sp>
      <p:sp>
        <p:nvSpPr>
          <p:cNvPr id="21" name="TextBox 20">
            <a:extLst xmlns:a="http://schemas.openxmlformats.org/drawingml/2006/main">
              <a:ext uri="{FF2B5EF4-FFF2-40B4-BE49-F238E27FC236}">
                <a16:creationId xmlns:a16="http://schemas.microsoft.com/office/drawing/2014/main" id="{A0CF7642-B9D2-46C6-8612-CE0C0F67F6B4}"/>
              </a:ext>
            </a:extLst>
          </p:cNvPr>
          <p:cNvSpPr>
            <a:spLocks xmlns:a="http://schemas.openxmlformats.org/drawingml/2006/main" noGrp="1"/>
          </p:cNvSpPr>
          <p:nvPr/>
        </p:nvSpPr>
        <p:spPr>
          <a:xfrm xmlns:a="http://schemas.openxmlformats.org/drawingml/2006/main">
            <a:off x="685800" y="6419088"/>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100" b="0" i="1">
                <a:solidFill>
                  <a:srgbClr val="5A6377"/>
                </a:solidFill>
                <a:latin typeface="Calibri"/>
                <a:ea typeface="Calibri"/>
                <a:cs typeface="Calibri"/>
              </a:rPr>
              <a:t>Study §1.4 · §5.1</a:t>
            </a:r>
          </a:p>
        </p:txBody>
      </p:sp>
    </p:spTree>
    <p:extLst>
      <p:ext uri="{BB962C8B-B14F-4D97-AF65-F5344CB8AC3E}">
        <p14:creationId xmlns:p14="http://schemas.microsoft.com/office/powerpoint/2010/main" val="22673458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B80A1AA-656E-4254-8604-92A950235CBF}"/>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Oval 2">
            <a:extLst xmlns:a="http://schemas.openxmlformats.org/drawingml/2006/main">
              <a:ext uri="{FF2B5EF4-FFF2-40B4-BE49-F238E27FC236}">
                <a16:creationId xmlns:a16="http://schemas.microsoft.com/office/drawing/2014/main" id="{091B6727-55A6-4A17-B9FE-0922FDB4925E}"/>
              </a:ext>
            </a:extLst>
          </p:cNvPr>
          <p:cNvSpPr>
            <a:spLocks xmlns:a="http://schemas.openxmlformats.org/drawingml/2006/main" noGrp="1"/>
          </p:cNvSpPr>
          <p:nvPr/>
        </p:nvSpPr>
        <p:spPr>
          <a:xfrm xmlns:a="http://schemas.openxmlformats.org/drawingml/2006/main">
            <a:off x="654253" y="507949"/>
            <a:ext cx="483717" cy="483717"/>
          </a:xfrm>
          <a:prstGeom xmlns:a="http://schemas.openxmlformats.org/drawingml/2006/main" prst="ellipse">
            <a:avLst/>
          </a:prstGeom>
          <a:noFill xmlns:a="http://schemas.openxmlformats.org/drawingml/2006/main"/>
          <a:ln xmlns:a="http://schemas.openxmlformats.org/drawingml/2006/main" w="2336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Oval 3">
            <a:extLst xmlns:a="http://schemas.openxmlformats.org/drawingml/2006/main">
              <a:ext uri="{FF2B5EF4-FFF2-40B4-BE49-F238E27FC236}">
                <a16:creationId xmlns:a16="http://schemas.microsoft.com/office/drawing/2014/main" id="{60031FB7-CBA7-4F76-B002-A463598D6CB6}"/>
              </a:ext>
            </a:extLst>
          </p:cNvPr>
          <p:cNvSpPr>
            <a:spLocks xmlns:a="http://schemas.openxmlformats.org/drawingml/2006/main" noGrp="1"/>
          </p:cNvSpPr>
          <p:nvPr/>
        </p:nvSpPr>
        <p:spPr>
          <a:xfrm xmlns:a="http://schemas.openxmlformats.org/drawingml/2006/main">
            <a:off x="754151" y="607847"/>
            <a:ext cx="283921" cy="283921"/>
          </a:xfrm>
          <a:prstGeom xmlns:a="http://schemas.openxmlformats.org/drawingml/2006/main" prst="ellipse">
            <a:avLst/>
          </a:prstGeom>
          <a:noFill xmlns:a="http://schemas.openxmlformats.org/drawingml/2006/main"/>
          <a:ln xmlns:a="http://schemas.openxmlformats.org/drawingml/2006/main" w="20447">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Oval 4">
            <a:extLst xmlns:a="http://schemas.openxmlformats.org/drawingml/2006/main">
              <a:ext uri="{FF2B5EF4-FFF2-40B4-BE49-F238E27FC236}">
                <a16:creationId xmlns:a16="http://schemas.microsoft.com/office/drawing/2014/main" id="{44128BFB-8934-4274-96EE-5161BC626F17}"/>
              </a:ext>
            </a:extLst>
          </p:cNvPr>
          <p:cNvSpPr>
            <a:spLocks xmlns:a="http://schemas.openxmlformats.org/drawingml/2006/main" noGrp="1"/>
          </p:cNvSpPr>
          <p:nvPr/>
        </p:nvSpPr>
        <p:spPr>
          <a:xfrm xmlns:a="http://schemas.openxmlformats.org/drawingml/2006/main">
            <a:off x="833018" y="686714"/>
            <a:ext cx="126187" cy="126187"/>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3EFA4ABE-7091-4768-862D-6C987AD632EC}"/>
              </a:ext>
            </a:extLst>
          </p:cNvPr>
          <p:cNvSpPr>
            <a:spLocks xmlns:a="http://schemas.openxmlformats.org/drawingml/2006/main" noGrp="1"/>
          </p:cNvSpPr>
          <p:nvPr/>
        </p:nvSpPr>
        <p:spPr>
          <a:xfrm xmlns:a="http://schemas.openxmlformats.org/drawingml/2006/main">
            <a:off x="1325880" y="457200"/>
            <a:ext cx="10424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200" b="1" i="0">
                <a:solidFill>
                  <a:srgbClr val="C9821E"/>
                </a:solidFill>
                <a:latin typeface="Calibri"/>
                <a:ea typeface="Calibri"/>
                <a:cs typeface="Calibri"/>
              </a:rPr>
              <a:t>COMPARING THE THREE VIEWS</a:t>
            </a:r>
          </a:p>
        </p:txBody>
      </p:sp>
      <p:sp>
        <p:nvSpPr>
          <p:cNvPr id="7" name="TextBox 6">
            <a:extLst xmlns:a="http://schemas.openxmlformats.org/drawingml/2006/main">
              <a:ext uri="{FF2B5EF4-FFF2-40B4-BE49-F238E27FC236}">
                <a16:creationId xmlns:a16="http://schemas.microsoft.com/office/drawing/2014/main" id="{37B159AE-9EB2-40AA-84B3-20D671D9BC24}"/>
              </a:ext>
            </a:extLst>
          </p:cNvPr>
          <p:cNvSpPr>
            <a:spLocks xmlns:a="http://schemas.openxmlformats.org/drawingml/2006/main" noGrp="1"/>
          </p:cNvSpPr>
          <p:nvPr/>
        </p:nvSpPr>
        <p:spPr>
          <a:xfrm xmlns:a="http://schemas.openxmlformats.org/drawingml/2006/main">
            <a:off x="1280160" y="676656"/>
            <a:ext cx="105156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3000" b="1" i="0">
                <a:solidFill>
                  <a:srgbClr val="1E2447"/>
                </a:solidFill>
                <a:latin typeface="Cambria"/>
                <a:ea typeface="Cambria"/>
                <a:cs typeface="Cambria"/>
              </a:rPr>
              <a:t>One Question, Three Answers</a:t>
            </a:r>
          </a:p>
        </p:txBody>
      </p:sp>
      <p:sp>
        <p:nvSpPr>
          <p:cNvPr id="8" name="Rectangle 7">
            <a:extLst xmlns:a="http://schemas.openxmlformats.org/drawingml/2006/main">
              <a:ext uri="{FF2B5EF4-FFF2-40B4-BE49-F238E27FC236}">
                <a16:creationId xmlns:a16="http://schemas.microsoft.com/office/drawing/2014/main" id="{6284955F-D589-494D-8B01-DFDF4668A032}"/>
              </a:ext>
            </a:extLst>
          </p:cNvPr>
          <p:cNvSpPr>
            <a:spLocks xmlns:a="http://schemas.openxmlformats.org/drawingml/2006/main" noGrp="1"/>
          </p:cNvSpPr>
          <p:nvPr/>
        </p:nvSpPr>
        <p:spPr>
          <a:xfrm xmlns:a="http://schemas.openxmlformats.org/drawingml/2006/main">
            <a:off x="3017520" y="1783080"/>
            <a:ext cx="2743200" cy="603504"/>
          </a:xfrm>
          <a:prstGeom xmlns:a="http://schemas.openxmlformats.org/drawingml/2006/main" prst="rect">
            <a:avLst/>
          </a:prstGeom>
          <a:solidFill xmlns:a="http://schemas.openxmlformats.org/drawingml/2006/main">
            <a:srgbClr val="1E244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D38F91EC-4B2E-414B-B632-C7FC33377702}"/>
              </a:ext>
            </a:extLst>
          </p:cNvPr>
          <p:cNvSpPr>
            <a:spLocks xmlns:a="http://schemas.openxmlformats.org/drawingml/2006/main" noGrp="1"/>
          </p:cNvSpPr>
          <p:nvPr/>
        </p:nvSpPr>
        <p:spPr>
          <a:xfrm xmlns:a="http://schemas.openxmlformats.org/drawingml/2006/main">
            <a:off x="3108960" y="1783080"/>
            <a:ext cx="256032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spcBef>
                <a:spcPts val="0"/>
              </a:spcBef>
              <a:spcAft>
                <a:spcPts val="0"/>
              </a:spcAft>
              <a:buNone/>
            </a:pPr>
            <a:r>
              <a:rPr sz="1300" b="1" i="0">
                <a:solidFill>
                  <a:srgbClr val="FFFFFF"/>
                </a:solidFill>
                <a:latin typeface="Cambria"/>
                <a:ea typeface="Cambria"/>
                <a:cs typeface="Cambria"/>
              </a:rPr>
              <a:t>SCIENCE / PHYSICALISM</a:t>
            </a:r>
          </a:p>
        </p:txBody>
      </p:sp>
      <p:sp>
        <p:nvSpPr>
          <p:cNvPr id="10" name="Rectangle 9">
            <a:extLst xmlns:a="http://schemas.openxmlformats.org/drawingml/2006/main">
              <a:ext uri="{FF2B5EF4-FFF2-40B4-BE49-F238E27FC236}">
                <a16:creationId xmlns:a16="http://schemas.microsoft.com/office/drawing/2014/main" id="{8FF6223B-F5BA-433F-B86A-C58FBDE021AE}"/>
              </a:ext>
            </a:extLst>
          </p:cNvPr>
          <p:cNvSpPr>
            <a:spLocks xmlns:a="http://schemas.openxmlformats.org/drawingml/2006/main" noGrp="1"/>
          </p:cNvSpPr>
          <p:nvPr/>
        </p:nvSpPr>
        <p:spPr>
          <a:xfrm xmlns:a="http://schemas.openxmlformats.org/drawingml/2006/main">
            <a:off x="5760720" y="1783080"/>
            <a:ext cx="2999232" cy="603504"/>
          </a:xfrm>
          <a:prstGeom xmlns:a="http://schemas.openxmlformats.org/drawingml/2006/main" prst="rect">
            <a:avLst/>
          </a:prstGeom>
          <a:solidFill xmlns:a="http://schemas.openxmlformats.org/drawingml/2006/main">
            <a:srgbClr val="1E244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D89990FE-579F-4177-A92E-C2A2ED750761}"/>
              </a:ext>
            </a:extLst>
          </p:cNvPr>
          <p:cNvSpPr>
            <a:spLocks xmlns:a="http://schemas.openxmlformats.org/drawingml/2006/main" noGrp="1"/>
          </p:cNvSpPr>
          <p:nvPr/>
        </p:nvSpPr>
        <p:spPr>
          <a:xfrm xmlns:a="http://schemas.openxmlformats.org/drawingml/2006/main">
            <a:off x="5852159" y="1783080"/>
            <a:ext cx="2816351"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spcBef>
                <a:spcPts val="0"/>
              </a:spcBef>
              <a:spcAft>
                <a:spcPts val="0"/>
              </a:spcAft>
              <a:buNone/>
            </a:pPr>
            <a:r>
              <a:rPr sz="1300" b="1" i="0">
                <a:solidFill>
                  <a:srgbClr val="FFFFFF"/>
                </a:solidFill>
                <a:latin typeface="Cambria"/>
                <a:ea typeface="Cambria"/>
                <a:cs typeface="Cambria"/>
              </a:rPr>
              <a:t>Madhyasth Darshan</a:t>
            </a:r>
          </a:p>
        </p:txBody>
      </p:sp>
      <p:sp>
        <p:nvSpPr>
          <p:cNvPr id="12" name="Rectangle 11">
            <a:extLst xmlns:a="http://schemas.openxmlformats.org/drawingml/2006/main">
              <a:ext uri="{FF2B5EF4-FFF2-40B4-BE49-F238E27FC236}">
                <a16:creationId xmlns:a16="http://schemas.microsoft.com/office/drawing/2014/main" id="{7DF9CB53-AEA6-455B-9A72-8D51D21E645E}"/>
              </a:ext>
            </a:extLst>
          </p:cNvPr>
          <p:cNvSpPr>
            <a:spLocks xmlns:a="http://schemas.openxmlformats.org/drawingml/2006/main" noGrp="1"/>
          </p:cNvSpPr>
          <p:nvPr/>
        </p:nvSpPr>
        <p:spPr>
          <a:xfrm xmlns:a="http://schemas.openxmlformats.org/drawingml/2006/main">
            <a:off x="8759952" y="1783080"/>
            <a:ext cx="2743200" cy="603504"/>
          </a:xfrm>
          <a:prstGeom xmlns:a="http://schemas.openxmlformats.org/drawingml/2006/main" prst="rect">
            <a:avLst/>
          </a:prstGeom>
          <a:solidFill xmlns:a="http://schemas.openxmlformats.org/drawingml/2006/main">
            <a:srgbClr val="1E244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E0DC44BE-D38C-4286-BD6D-8230494B639E}"/>
              </a:ext>
            </a:extLst>
          </p:cNvPr>
          <p:cNvSpPr>
            <a:spLocks xmlns:a="http://schemas.openxmlformats.org/drawingml/2006/main" noGrp="1"/>
          </p:cNvSpPr>
          <p:nvPr/>
        </p:nvSpPr>
        <p:spPr>
          <a:xfrm xmlns:a="http://schemas.openxmlformats.org/drawingml/2006/main">
            <a:off x="8851392" y="1783080"/>
            <a:ext cx="256032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spcBef>
                <a:spcPts val="0"/>
              </a:spcBef>
              <a:spcAft>
                <a:spcPts val="0"/>
              </a:spcAft>
              <a:buNone/>
            </a:pPr>
            <a:r>
              <a:rPr sz="1300" b="1" i="0">
                <a:solidFill>
                  <a:srgbClr val="FFFFFF"/>
                </a:solidFill>
                <a:latin typeface="Cambria"/>
                <a:ea typeface="Cambria"/>
                <a:cs typeface="Cambria"/>
              </a:rPr>
              <a:t>Advaita Vedanta</a:t>
            </a:r>
          </a:p>
        </p:txBody>
      </p:sp>
      <p:sp>
        <p:nvSpPr>
          <p:cNvPr id="14" name="Rectangle 13">
            <a:extLst xmlns:a="http://schemas.openxmlformats.org/drawingml/2006/main">
              <a:ext uri="{FF2B5EF4-FFF2-40B4-BE49-F238E27FC236}">
                <a16:creationId xmlns:a16="http://schemas.microsoft.com/office/drawing/2014/main" id="{C923C991-7C47-428A-8F01-DB5C5EF2D16C}"/>
              </a:ext>
            </a:extLst>
          </p:cNvPr>
          <p:cNvSpPr>
            <a:spLocks xmlns:a="http://schemas.openxmlformats.org/drawingml/2006/main" noGrp="1"/>
          </p:cNvSpPr>
          <p:nvPr/>
        </p:nvSpPr>
        <p:spPr>
          <a:xfrm xmlns:a="http://schemas.openxmlformats.org/drawingml/2006/main">
            <a:off x="685800" y="2386584"/>
            <a:ext cx="2331720" cy="603504"/>
          </a:xfrm>
          <a:prstGeom xmlns:a="http://schemas.openxmlformats.org/drawingml/2006/main" prst="rect">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2BAF362B-9CD7-4D57-8975-5B9FF84C5747}"/>
              </a:ext>
            </a:extLst>
          </p:cNvPr>
          <p:cNvSpPr>
            <a:spLocks xmlns:a="http://schemas.openxmlformats.org/drawingml/2006/main" noGrp="1"/>
          </p:cNvSpPr>
          <p:nvPr/>
        </p:nvSpPr>
        <p:spPr>
          <a:xfrm xmlns:a="http://schemas.openxmlformats.org/drawingml/2006/main">
            <a:off x="758952" y="2386584"/>
            <a:ext cx="220370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lnSpc>
                <a:spcPct val="95000"/>
              </a:lnSpc>
              <a:spcBef>
                <a:spcPts val="0"/>
              </a:spcBef>
              <a:spcAft>
                <a:spcPts val="0"/>
              </a:spcAft>
              <a:buNone/>
            </a:pPr>
            <a:r>
              <a:rPr sz="1150" b="1" i="0">
                <a:solidFill>
                  <a:srgbClr val="1E2447"/>
                </a:solidFill>
                <a:latin typeface="Calibri"/>
                <a:ea typeface="Calibri"/>
                <a:cs typeface="Calibri"/>
              </a:rPr>
              <a:t>What is a human?</a:t>
            </a:r>
          </a:p>
        </p:txBody>
      </p:sp>
      <p:sp>
        <p:nvSpPr>
          <p:cNvPr id="16" name="Rectangle 15">
            <a:extLst xmlns:a="http://schemas.openxmlformats.org/drawingml/2006/main">
              <a:ext uri="{FF2B5EF4-FFF2-40B4-BE49-F238E27FC236}">
                <a16:creationId xmlns:a16="http://schemas.microsoft.com/office/drawing/2014/main" id="{8BC548C2-A914-4383-B9D0-7C024AB37B59}"/>
              </a:ext>
            </a:extLst>
          </p:cNvPr>
          <p:cNvSpPr>
            <a:spLocks xmlns:a="http://schemas.openxmlformats.org/drawingml/2006/main" noGrp="1"/>
          </p:cNvSpPr>
          <p:nvPr/>
        </p:nvSpPr>
        <p:spPr>
          <a:xfrm xmlns:a="http://schemas.openxmlformats.org/drawingml/2006/main">
            <a:off x="3017520" y="2386584"/>
            <a:ext cx="2743200" cy="603504"/>
          </a:xfrm>
          <a:prstGeom xmlns:a="http://schemas.openxmlformats.org/drawingml/2006/main" prst="rect">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FE7267CA-084E-47C2-8509-28D5946168AE}"/>
              </a:ext>
            </a:extLst>
          </p:cNvPr>
          <p:cNvSpPr>
            <a:spLocks xmlns:a="http://schemas.openxmlformats.org/drawingml/2006/main" noGrp="1"/>
          </p:cNvSpPr>
          <p:nvPr/>
        </p:nvSpPr>
        <p:spPr>
          <a:xfrm xmlns:a="http://schemas.openxmlformats.org/drawingml/2006/main">
            <a:off x="3108960" y="2386584"/>
            <a:ext cx="2578608"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lnSpc>
                <a:spcPct val="95000"/>
              </a:lnSpc>
              <a:spcBef>
                <a:spcPts val="0"/>
              </a:spcBef>
              <a:spcAft>
                <a:spcPts val="0"/>
              </a:spcAft>
              <a:buNone/>
            </a:pPr>
            <a:r>
              <a:rPr sz="1100" b="0" i="0">
                <a:solidFill>
                  <a:srgbClr val="5A6377"/>
                </a:solidFill>
                <a:latin typeface="Calibri"/>
                <a:ea typeface="Calibri"/>
                <a:cs typeface="Calibri"/>
              </a:rPr>
              <a:t>Embodied organism; physicalism says wholly physical</a:t>
            </a:r>
          </a:p>
        </p:txBody>
      </p:sp>
      <p:sp>
        <p:nvSpPr>
          <p:cNvPr id="18" name="Rectangle 17">
            <a:extLst xmlns:a="http://schemas.openxmlformats.org/drawingml/2006/main">
              <a:ext uri="{FF2B5EF4-FFF2-40B4-BE49-F238E27FC236}">
                <a16:creationId xmlns:a16="http://schemas.microsoft.com/office/drawing/2014/main" id="{1801E4C2-2794-43D6-B10C-69906436BE66}"/>
              </a:ext>
            </a:extLst>
          </p:cNvPr>
          <p:cNvSpPr>
            <a:spLocks xmlns:a="http://schemas.openxmlformats.org/drawingml/2006/main" noGrp="1"/>
          </p:cNvSpPr>
          <p:nvPr/>
        </p:nvSpPr>
        <p:spPr>
          <a:xfrm xmlns:a="http://schemas.openxmlformats.org/drawingml/2006/main">
            <a:off x="5760720" y="2386584"/>
            <a:ext cx="2999232" cy="603504"/>
          </a:xfrm>
          <a:prstGeom xmlns:a="http://schemas.openxmlformats.org/drawingml/2006/main" prst="rect">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0B773860-E21C-4540-ACD2-A88F336F922B}"/>
              </a:ext>
            </a:extLst>
          </p:cNvPr>
          <p:cNvSpPr>
            <a:spLocks xmlns:a="http://schemas.openxmlformats.org/drawingml/2006/main" noGrp="1"/>
          </p:cNvSpPr>
          <p:nvPr/>
        </p:nvSpPr>
        <p:spPr>
          <a:xfrm xmlns:a="http://schemas.openxmlformats.org/drawingml/2006/main">
            <a:off x="5852159" y="2386584"/>
            <a:ext cx="283463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lnSpc>
                <a:spcPct val="95000"/>
              </a:lnSpc>
              <a:spcBef>
                <a:spcPts val="0"/>
              </a:spcBef>
              <a:spcAft>
                <a:spcPts val="0"/>
              </a:spcAft>
              <a:buNone/>
            </a:pPr>
            <a:r>
              <a:rPr sz="1100" b="1" i="0">
                <a:solidFill>
                  <a:srgbClr val="9A6414"/>
                </a:solidFill>
                <a:latin typeface="Calibri"/>
                <a:ea typeface="Calibri"/>
                <a:cs typeface="Calibri"/>
              </a:rPr>
              <a:t>Body + one jeevan in joint form</a:t>
            </a:r>
          </a:p>
        </p:txBody>
      </p:sp>
      <p:sp>
        <p:nvSpPr>
          <p:cNvPr id="20" name="Rectangle 19">
            <a:extLst xmlns:a="http://schemas.openxmlformats.org/drawingml/2006/main">
              <a:ext uri="{FF2B5EF4-FFF2-40B4-BE49-F238E27FC236}">
                <a16:creationId xmlns:a16="http://schemas.microsoft.com/office/drawing/2014/main" id="{D872F4E5-48B3-4267-B11C-4F4352C78706}"/>
              </a:ext>
            </a:extLst>
          </p:cNvPr>
          <p:cNvSpPr>
            <a:spLocks xmlns:a="http://schemas.openxmlformats.org/drawingml/2006/main" noGrp="1"/>
          </p:cNvSpPr>
          <p:nvPr/>
        </p:nvSpPr>
        <p:spPr>
          <a:xfrm xmlns:a="http://schemas.openxmlformats.org/drawingml/2006/main">
            <a:off x="8759952" y="2386584"/>
            <a:ext cx="2743200" cy="603504"/>
          </a:xfrm>
          <a:prstGeom xmlns:a="http://schemas.openxmlformats.org/drawingml/2006/main" prst="rect">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41EEF863-916F-4496-A166-869A272D1DEA}"/>
              </a:ext>
            </a:extLst>
          </p:cNvPr>
          <p:cNvSpPr>
            <a:spLocks xmlns:a="http://schemas.openxmlformats.org/drawingml/2006/main" noGrp="1"/>
          </p:cNvSpPr>
          <p:nvPr/>
        </p:nvSpPr>
        <p:spPr>
          <a:xfrm xmlns:a="http://schemas.openxmlformats.org/drawingml/2006/main">
            <a:off x="8851392" y="2386584"/>
            <a:ext cx="2578608"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lnSpc>
                <a:spcPct val="95000"/>
              </a:lnSpc>
              <a:spcBef>
                <a:spcPts val="0"/>
              </a:spcBef>
              <a:spcAft>
                <a:spcPts val="0"/>
              </a:spcAft>
              <a:buNone/>
            </a:pPr>
            <a:r>
              <a:rPr sz="1100" b="0" i="0">
                <a:solidFill>
                  <a:srgbClr val="5A6377"/>
                </a:solidFill>
                <a:latin typeface="Calibri"/>
                <a:ea typeface="Calibri"/>
                <a:cs typeface="Calibri"/>
              </a:rPr>
              <a:t>Empirical body–mind; true Self = Brahman</a:t>
            </a:r>
          </a:p>
        </p:txBody>
      </p:sp>
      <p:sp>
        <p:nvSpPr>
          <p:cNvPr id="22" name="Rectangle 21">
            <a:extLst xmlns:a="http://schemas.openxmlformats.org/drawingml/2006/main">
              <a:ext uri="{FF2B5EF4-FFF2-40B4-BE49-F238E27FC236}">
                <a16:creationId xmlns:a16="http://schemas.microsoft.com/office/drawing/2014/main" id="{3B1F531E-3EF1-41F8-927E-7D68A9FDEAAA}"/>
              </a:ext>
            </a:extLst>
          </p:cNvPr>
          <p:cNvSpPr>
            <a:spLocks xmlns:a="http://schemas.openxmlformats.org/drawingml/2006/main" noGrp="1"/>
          </p:cNvSpPr>
          <p:nvPr/>
        </p:nvSpPr>
        <p:spPr>
          <a:xfrm xmlns:a="http://schemas.openxmlformats.org/drawingml/2006/main">
            <a:off x="685800" y="2990088"/>
            <a:ext cx="2331720" cy="603504"/>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29D53492-AA99-47A0-80FB-1EB7D8426239}"/>
              </a:ext>
            </a:extLst>
          </p:cNvPr>
          <p:cNvSpPr>
            <a:spLocks xmlns:a="http://schemas.openxmlformats.org/drawingml/2006/main" noGrp="1"/>
          </p:cNvSpPr>
          <p:nvPr/>
        </p:nvSpPr>
        <p:spPr>
          <a:xfrm xmlns:a="http://schemas.openxmlformats.org/drawingml/2006/main">
            <a:off x="758952" y="2990088"/>
            <a:ext cx="220370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lnSpc>
                <a:spcPct val="95000"/>
              </a:lnSpc>
              <a:spcBef>
                <a:spcPts val="0"/>
              </a:spcBef>
              <a:spcAft>
                <a:spcPts val="0"/>
              </a:spcAft>
              <a:buNone/>
            </a:pPr>
            <a:r>
              <a:rPr sz="1150" b="1" i="0">
                <a:solidFill>
                  <a:srgbClr val="1E2447"/>
                </a:solidFill>
                <a:latin typeface="Calibri"/>
                <a:ea typeface="Calibri"/>
                <a:cs typeface="Calibri"/>
              </a:rPr>
              <a:t>Is the world real?</a:t>
            </a:r>
          </a:p>
        </p:txBody>
      </p:sp>
      <p:sp>
        <p:nvSpPr>
          <p:cNvPr id="24" name="Rectangle 23">
            <a:extLst xmlns:a="http://schemas.openxmlformats.org/drawingml/2006/main">
              <a:ext uri="{FF2B5EF4-FFF2-40B4-BE49-F238E27FC236}">
                <a16:creationId xmlns:a16="http://schemas.microsoft.com/office/drawing/2014/main" id="{9CD20F5A-5692-4ABF-B723-6534D17F3E32}"/>
              </a:ext>
            </a:extLst>
          </p:cNvPr>
          <p:cNvSpPr>
            <a:spLocks xmlns:a="http://schemas.openxmlformats.org/drawingml/2006/main" noGrp="1"/>
          </p:cNvSpPr>
          <p:nvPr/>
        </p:nvSpPr>
        <p:spPr>
          <a:xfrm xmlns:a="http://schemas.openxmlformats.org/drawingml/2006/main">
            <a:off x="3017520" y="2990088"/>
            <a:ext cx="2743200" cy="603504"/>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5" name="TextBox 24">
            <a:extLst xmlns:a="http://schemas.openxmlformats.org/drawingml/2006/main">
              <a:ext uri="{FF2B5EF4-FFF2-40B4-BE49-F238E27FC236}">
                <a16:creationId xmlns:a16="http://schemas.microsoft.com/office/drawing/2014/main" id="{F500286C-B9B2-48F7-907C-9E15172B5E42}"/>
              </a:ext>
            </a:extLst>
          </p:cNvPr>
          <p:cNvSpPr>
            <a:spLocks xmlns:a="http://schemas.openxmlformats.org/drawingml/2006/main" noGrp="1"/>
          </p:cNvSpPr>
          <p:nvPr/>
        </p:nvSpPr>
        <p:spPr>
          <a:xfrm xmlns:a="http://schemas.openxmlformats.org/drawingml/2006/main">
            <a:off x="3108960" y="2990088"/>
            <a:ext cx="2578608"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lnSpc>
                <a:spcPct val="95000"/>
              </a:lnSpc>
              <a:spcBef>
                <a:spcPts val="0"/>
              </a:spcBef>
              <a:spcAft>
                <a:spcPts val="0"/>
              </a:spcAft>
              <a:buNone/>
            </a:pPr>
            <a:r>
              <a:rPr sz="1100" b="0" i="0">
                <a:solidFill>
                  <a:srgbClr val="5A6377"/>
                </a:solidFill>
                <a:latin typeface="Calibri"/>
                <a:ea typeface="Calibri"/>
                <a:cs typeface="Calibri"/>
              </a:rPr>
              <a:t>Physical world is ontologically basic</a:t>
            </a:r>
          </a:p>
        </p:txBody>
      </p:sp>
      <p:sp>
        <p:nvSpPr>
          <p:cNvPr id="26" name="Rectangle 25">
            <a:extLst xmlns:a="http://schemas.openxmlformats.org/drawingml/2006/main">
              <a:ext uri="{FF2B5EF4-FFF2-40B4-BE49-F238E27FC236}">
                <a16:creationId xmlns:a16="http://schemas.microsoft.com/office/drawing/2014/main" id="{BE7EFF59-47A4-402C-97E2-4B2F91BC5DF7}"/>
              </a:ext>
            </a:extLst>
          </p:cNvPr>
          <p:cNvSpPr>
            <a:spLocks xmlns:a="http://schemas.openxmlformats.org/drawingml/2006/main" noGrp="1"/>
          </p:cNvSpPr>
          <p:nvPr/>
        </p:nvSpPr>
        <p:spPr>
          <a:xfrm xmlns:a="http://schemas.openxmlformats.org/drawingml/2006/main">
            <a:off x="5760720" y="2990088"/>
            <a:ext cx="2999232" cy="603504"/>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TextBox 26">
            <a:extLst xmlns:a="http://schemas.openxmlformats.org/drawingml/2006/main">
              <a:ext uri="{FF2B5EF4-FFF2-40B4-BE49-F238E27FC236}">
                <a16:creationId xmlns:a16="http://schemas.microsoft.com/office/drawing/2014/main" id="{ABECDFB6-C26D-4503-943E-761AA743C398}"/>
              </a:ext>
            </a:extLst>
          </p:cNvPr>
          <p:cNvSpPr>
            <a:spLocks xmlns:a="http://schemas.openxmlformats.org/drawingml/2006/main" noGrp="1"/>
          </p:cNvSpPr>
          <p:nvPr/>
        </p:nvSpPr>
        <p:spPr>
          <a:xfrm xmlns:a="http://schemas.openxmlformats.org/drawingml/2006/main">
            <a:off x="5852159" y="2990088"/>
            <a:ext cx="283463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lnSpc>
                <a:spcPct val="95000"/>
              </a:lnSpc>
              <a:spcBef>
                <a:spcPts val="0"/>
              </a:spcBef>
              <a:spcAft>
                <a:spcPts val="0"/>
              </a:spcAft>
              <a:buNone/>
            </a:pPr>
            <a:r>
              <a:rPr sz="1100" b="1" i="0">
                <a:solidFill>
                  <a:srgbClr val="9A6414"/>
                </a:solidFill>
                <a:latin typeface="Calibri"/>
                <a:ea typeface="Calibri"/>
                <a:cs typeface="Calibri"/>
              </a:rPr>
              <a:t>Real units in coexistence</a:t>
            </a:r>
          </a:p>
        </p:txBody>
      </p:sp>
      <p:sp>
        <p:nvSpPr>
          <p:cNvPr id="28" name="Rectangle 27">
            <a:extLst xmlns:a="http://schemas.openxmlformats.org/drawingml/2006/main">
              <a:ext uri="{FF2B5EF4-FFF2-40B4-BE49-F238E27FC236}">
                <a16:creationId xmlns:a16="http://schemas.microsoft.com/office/drawing/2014/main" id="{0FA4BB7A-4F62-42D9-9E2E-CE70ED700DFB}"/>
              </a:ext>
            </a:extLst>
          </p:cNvPr>
          <p:cNvSpPr>
            <a:spLocks xmlns:a="http://schemas.openxmlformats.org/drawingml/2006/main" noGrp="1"/>
          </p:cNvSpPr>
          <p:nvPr/>
        </p:nvSpPr>
        <p:spPr>
          <a:xfrm xmlns:a="http://schemas.openxmlformats.org/drawingml/2006/main">
            <a:off x="8759952" y="2990088"/>
            <a:ext cx="2743200" cy="603504"/>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9" name="TextBox 28">
            <a:extLst xmlns:a="http://schemas.openxmlformats.org/drawingml/2006/main">
              <a:ext uri="{FF2B5EF4-FFF2-40B4-BE49-F238E27FC236}">
                <a16:creationId xmlns:a16="http://schemas.microsoft.com/office/drawing/2014/main" id="{F1A11FC8-EA3F-4A81-878B-5AB916E4C5CF}"/>
              </a:ext>
            </a:extLst>
          </p:cNvPr>
          <p:cNvSpPr>
            <a:spLocks xmlns:a="http://schemas.openxmlformats.org/drawingml/2006/main" noGrp="1"/>
          </p:cNvSpPr>
          <p:nvPr/>
        </p:nvSpPr>
        <p:spPr>
          <a:xfrm xmlns:a="http://schemas.openxmlformats.org/drawingml/2006/main">
            <a:off x="8851392" y="2990088"/>
            <a:ext cx="2578608"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lnSpc>
                <a:spcPct val="95000"/>
              </a:lnSpc>
              <a:spcBef>
                <a:spcPts val="0"/>
              </a:spcBef>
              <a:spcAft>
                <a:spcPts val="0"/>
              </a:spcAft>
              <a:buNone/>
            </a:pPr>
            <a:r>
              <a:rPr sz="1100" b="0" i="0">
                <a:solidFill>
                  <a:srgbClr val="5A6377"/>
                </a:solidFill>
                <a:latin typeface="Calibri"/>
                <a:ea typeface="Calibri"/>
                <a:cs typeface="Calibri"/>
              </a:rPr>
              <a:t>Mithya: dependently real, not absolute</a:t>
            </a:r>
          </a:p>
        </p:txBody>
      </p:sp>
      <p:sp>
        <p:nvSpPr>
          <p:cNvPr id="30" name="Rectangle 29">
            <a:extLst xmlns:a="http://schemas.openxmlformats.org/drawingml/2006/main">
              <a:ext uri="{FF2B5EF4-FFF2-40B4-BE49-F238E27FC236}">
                <a16:creationId xmlns:a16="http://schemas.microsoft.com/office/drawing/2014/main" id="{70A64EAA-601A-41BD-BF70-A8575BD273DE}"/>
              </a:ext>
            </a:extLst>
          </p:cNvPr>
          <p:cNvSpPr>
            <a:spLocks xmlns:a="http://schemas.openxmlformats.org/drawingml/2006/main" noGrp="1"/>
          </p:cNvSpPr>
          <p:nvPr/>
        </p:nvSpPr>
        <p:spPr>
          <a:xfrm xmlns:a="http://schemas.openxmlformats.org/drawingml/2006/main">
            <a:off x="685800" y="3593592"/>
            <a:ext cx="2331720" cy="603504"/>
          </a:xfrm>
          <a:prstGeom xmlns:a="http://schemas.openxmlformats.org/drawingml/2006/main" prst="rect">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1" name="TextBox 30">
            <a:extLst xmlns:a="http://schemas.openxmlformats.org/drawingml/2006/main">
              <a:ext uri="{FF2B5EF4-FFF2-40B4-BE49-F238E27FC236}">
                <a16:creationId xmlns:a16="http://schemas.microsoft.com/office/drawing/2014/main" id="{98298793-362E-499B-9E4E-36E668423811}"/>
              </a:ext>
            </a:extLst>
          </p:cNvPr>
          <p:cNvSpPr>
            <a:spLocks xmlns:a="http://schemas.openxmlformats.org/drawingml/2006/main" noGrp="1"/>
          </p:cNvSpPr>
          <p:nvPr/>
        </p:nvSpPr>
        <p:spPr>
          <a:xfrm xmlns:a="http://schemas.openxmlformats.org/drawingml/2006/main">
            <a:off x="758952" y="3593592"/>
            <a:ext cx="220370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lnSpc>
                <a:spcPct val="95000"/>
              </a:lnSpc>
              <a:spcBef>
                <a:spcPts val="0"/>
              </a:spcBef>
              <a:spcAft>
                <a:spcPts val="0"/>
              </a:spcAft>
              <a:buNone/>
            </a:pPr>
            <a:r>
              <a:rPr sz="1150" b="1" i="0">
                <a:solidFill>
                  <a:srgbClr val="1E2447"/>
                </a:solidFill>
                <a:latin typeface="Calibri"/>
                <a:ea typeface="Calibri"/>
                <a:cs typeface="Calibri"/>
              </a:rPr>
              <a:t>Consciousness?</a:t>
            </a:r>
          </a:p>
        </p:txBody>
      </p:sp>
      <p:sp>
        <p:nvSpPr>
          <p:cNvPr id="32" name="Rectangle 31">
            <a:extLst xmlns:a="http://schemas.openxmlformats.org/drawingml/2006/main">
              <a:ext uri="{FF2B5EF4-FFF2-40B4-BE49-F238E27FC236}">
                <a16:creationId xmlns:a16="http://schemas.microsoft.com/office/drawing/2014/main" id="{FFA96FBC-CE4A-45AE-B638-E1D8B746D379}"/>
              </a:ext>
            </a:extLst>
          </p:cNvPr>
          <p:cNvSpPr>
            <a:spLocks xmlns:a="http://schemas.openxmlformats.org/drawingml/2006/main" noGrp="1"/>
          </p:cNvSpPr>
          <p:nvPr/>
        </p:nvSpPr>
        <p:spPr>
          <a:xfrm xmlns:a="http://schemas.openxmlformats.org/drawingml/2006/main">
            <a:off x="3017520" y="3593592"/>
            <a:ext cx="2743200" cy="603504"/>
          </a:xfrm>
          <a:prstGeom xmlns:a="http://schemas.openxmlformats.org/drawingml/2006/main" prst="rect">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3" name="TextBox 32">
            <a:extLst xmlns:a="http://schemas.openxmlformats.org/drawingml/2006/main">
              <a:ext uri="{FF2B5EF4-FFF2-40B4-BE49-F238E27FC236}">
                <a16:creationId xmlns:a16="http://schemas.microsoft.com/office/drawing/2014/main" id="{EBABB7DA-CF4D-4443-84D5-DD922DFE74E0}"/>
              </a:ext>
            </a:extLst>
          </p:cNvPr>
          <p:cNvSpPr>
            <a:spLocks xmlns:a="http://schemas.openxmlformats.org/drawingml/2006/main" noGrp="1"/>
          </p:cNvSpPr>
          <p:nvPr/>
        </p:nvSpPr>
        <p:spPr>
          <a:xfrm xmlns:a="http://schemas.openxmlformats.org/drawingml/2006/main">
            <a:off x="3108960" y="3593592"/>
            <a:ext cx="2578608"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lnSpc>
                <a:spcPct val="95000"/>
              </a:lnSpc>
              <a:spcBef>
                <a:spcPts val="0"/>
              </a:spcBef>
              <a:spcAft>
                <a:spcPts val="0"/>
              </a:spcAft>
              <a:buNone/>
            </a:pPr>
            <a:r>
              <a:rPr sz="1100" b="0" i="0">
                <a:solidFill>
                  <a:srgbClr val="5A6377"/>
                </a:solidFill>
                <a:latin typeface="Calibri"/>
                <a:ea typeface="Calibri"/>
                <a:cs typeface="Calibri"/>
              </a:rPr>
              <a:t>Brain-dependent; realised by organisation</a:t>
            </a:r>
          </a:p>
        </p:txBody>
      </p:sp>
      <p:sp>
        <p:nvSpPr>
          <p:cNvPr id="34" name="Rectangle 33">
            <a:extLst xmlns:a="http://schemas.openxmlformats.org/drawingml/2006/main">
              <a:ext uri="{FF2B5EF4-FFF2-40B4-BE49-F238E27FC236}">
                <a16:creationId xmlns:a16="http://schemas.microsoft.com/office/drawing/2014/main" id="{780FE089-D602-4D07-B008-9BF7812815D2}"/>
              </a:ext>
            </a:extLst>
          </p:cNvPr>
          <p:cNvSpPr>
            <a:spLocks xmlns:a="http://schemas.openxmlformats.org/drawingml/2006/main" noGrp="1"/>
          </p:cNvSpPr>
          <p:nvPr/>
        </p:nvSpPr>
        <p:spPr>
          <a:xfrm xmlns:a="http://schemas.openxmlformats.org/drawingml/2006/main">
            <a:off x="5760720" y="3593592"/>
            <a:ext cx="2999232" cy="603504"/>
          </a:xfrm>
          <a:prstGeom xmlns:a="http://schemas.openxmlformats.org/drawingml/2006/main" prst="rect">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5" name="TextBox 34">
            <a:extLst xmlns:a="http://schemas.openxmlformats.org/drawingml/2006/main">
              <a:ext uri="{FF2B5EF4-FFF2-40B4-BE49-F238E27FC236}">
                <a16:creationId xmlns:a16="http://schemas.microsoft.com/office/drawing/2014/main" id="{89F0EFF2-A90A-477B-8A61-5E4B736E6393}"/>
              </a:ext>
            </a:extLst>
          </p:cNvPr>
          <p:cNvSpPr>
            <a:spLocks xmlns:a="http://schemas.openxmlformats.org/drawingml/2006/main" noGrp="1"/>
          </p:cNvSpPr>
          <p:nvPr/>
        </p:nvSpPr>
        <p:spPr>
          <a:xfrm xmlns:a="http://schemas.openxmlformats.org/drawingml/2006/main">
            <a:off x="5852159" y="3593592"/>
            <a:ext cx="283463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lnSpc>
                <a:spcPct val="95000"/>
              </a:lnSpc>
              <a:spcBef>
                <a:spcPts val="0"/>
              </a:spcBef>
              <a:spcAft>
                <a:spcPts val="0"/>
              </a:spcAft>
              <a:buNone/>
            </a:pPr>
            <a:r>
              <a:rPr sz="1100" b="1" i="0">
                <a:solidFill>
                  <a:srgbClr val="9A6414"/>
                </a:solidFill>
                <a:latin typeface="Calibri"/>
                <a:ea typeface="Calibri"/>
                <a:cs typeface="Calibri"/>
              </a:rPr>
              <a:t>Irreducible power of jeevan</a:t>
            </a:r>
          </a:p>
        </p:txBody>
      </p:sp>
      <p:sp>
        <p:nvSpPr>
          <p:cNvPr id="36" name="Rectangle 35">
            <a:extLst xmlns:a="http://schemas.openxmlformats.org/drawingml/2006/main">
              <a:ext uri="{FF2B5EF4-FFF2-40B4-BE49-F238E27FC236}">
                <a16:creationId xmlns:a16="http://schemas.microsoft.com/office/drawing/2014/main" id="{C0742CCF-1B46-418D-8F0F-F203E6B09143}"/>
              </a:ext>
            </a:extLst>
          </p:cNvPr>
          <p:cNvSpPr>
            <a:spLocks xmlns:a="http://schemas.openxmlformats.org/drawingml/2006/main" noGrp="1"/>
          </p:cNvSpPr>
          <p:nvPr/>
        </p:nvSpPr>
        <p:spPr>
          <a:xfrm xmlns:a="http://schemas.openxmlformats.org/drawingml/2006/main">
            <a:off x="8759952" y="3593592"/>
            <a:ext cx="2743200" cy="603504"/>
          </a:xfrm>
          <a:prstGeom xmlns:a="http://schemas.openxmlformats.org/drawingml/2006/main" prst="rect">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7" name="TextBox 36">
            <a:extLst xmlns:a="http://schemas.openxmlformats.org/drawingml/2006/main">
              <a:ext uri="{FF2B5EF4-FFF2-40B4-BE49-F238E27FC236}">
                <a16:creationId xmlns:a16="http://schemas.microsoft.com/office/drawing/2014/main" id="{909FA8EE-E321-4648-A547-7BF621885785}"/>
              </a:ext>
            </a:extLst>
          </p:cNvPr>
          <p:cNvSpPr>
            <a:spLocks xmlns:a="http://schemas.openxmlformats.org/drawingml/2006/main" noGrp="1"/>
          </p:cNvSpPr>
          <p:nvPr/>
        </p:nvSpPr>
        <p:spPr>
          <a:xfrm xmlns:a="http://schemas.openxmlformats.org/drawingml/2006/main">
            <a:off x="8851392" y="3593592"/>
            <a:ext cx="2578608"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lnSpc>
                <a:spcPct val="95000"/>
              </a:lnSpc>
              <a:spcBef>
                <a:spcPts val="0"/>
              </a:spcBef>
              <a:spcAft>
                <a:spcPts val="0"/>
              </a:spcAft>
              <a:buNone/>
            </a:pPr>
            <a:r>
              <a:rPr sz="1100" b="0" i="0">
                <a:solidFill>
                  <a:srgbClr val="5A6377"/>
                </a:solidFill>
                <a:latin typeface="Calibri"/>
                <a:ea typeface="Calibri"/>
                <a:cs typeface="Calibri"/>
              </a:rPr>
              <a:t>Awareness is fundamental; mind reflects it</a:t>
            </a:r>
          </a:p>
        </p:txBody>
      </p:sp>
      <p:sp>
        <p:nvSpPr>
          <p:cNvPr id="38" name="Rectangle 37">
            <a:extLst xmlns:a="http://schemas.openxmlformats.org/drawingml/2006/main">
              <a:ext uri="{FF2B5EF4-FFF2-40B4-BE49-F238E27FC236}">
                <a16:creationId xmlns:a16="http://schemas.microsoft.com/office/drawing/2014/main" id="{53261083-B6B1-43E4-A00A-4A1F87845BA3}"/>
              </a:ext>
            </a:extLst>
          </p:cNvPr>
          <p:cNvSpPr>
            <a:spLocks xmlns:a="http://schemas.openxmlformats.org/drawingml/2006/main" noGrp="1"/>
          </p:cNvSpPr>
          <p:nvPr/>
        </p:nvSpPr>
        <p:spPr>
          <a:xfrm xmlns:a="http://schemas.openxmlformats.org/drawingml/2006/main">
            <a:off x="685800" y="4197096"/>
            <a:ext cx="2331720" cy="603504"/>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9" name="TextBox 38">
            <a:extLst xmlns:a="http://schemas.openxmlformats.org/drawingml/2006/main">
              <a:ext uri="{FF2B5EF4-FFF2-40B4-BE49-F238E27FC236}">
                <a16:creationId xmlns:a16="http://schemas.microsoft.com/office/drawing/2014/main" id="{ABDF5839-9AA0-4BE5-A2CE-1D2C9ADA9A5E}"/>
              </a:ext>
            </a:extLst>
          </p:cNvPr>
          <p:cNvSpPr>
            <a:spLocks xmlns:a="http://schemas.openxmlformats.org/drawingml/2006/main" noGrp="1"/>
          </p:cNvSpPr>
          <p:nvPr/>
        </p:nvSpPr>
        <p:spPr>
          <a:xfrm xmlns:a="http://schemas.openxmlformats.org/drawingml/2006/main">
            <a:off x="758952" y="4197096"/>
            <a:ext cx="220370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lnSpc>
                <a:spcPct val="95000"/>
              </a:lnSpc>
              <a:spcBef>
                <a:spcPts val="0"/>
              </a:spcBef>
              <a:spcAft>
                <a:spcPts val="0"/>
              </a:spcAft>
              <a:buNone/>
            </a:pPr>
            <a:r>
              <a:rPr sz="1150" b="1" i="0">
                <a:solidFill>
                  <a:srgbClr val="1E2447"/>
                </a:solidFill>
                <a:latin typeface="Calibri"/>
                <a:ea typeface="Calibri"/>
                <a:cs typeface="Calibri"/>
              </a:rPr>
              <a:t>How many selves?</a:t>
            </a:r>
          </a:p>
        </p:txBody>
      </p:sp>
      <p:sp>
        <p:nvSpPr>
          <p:cNvPr id="40" name="Rectangle 39">
            <a:extLst xmlns:a="http://schemas.openxmlformats.org/drawingml/2006/main">
              <a:ext uri="{FF2B5EF4-FFF2-40B4-BE49-F238E27FC236}">
                <a16:creationId xmlns:a16="http://schemas.microsoft.com/office/drawing/2014/main" id="{666310D5-E079-42EE-9C85-9B089037201C}"/>
              </a:ext>
            </a:extLst>
          </p:cNvPr>
          <p:cNvSpPr>
            <a:spLocks xmlns:a="http://schemas.openxmlformats.org/drawingml/2006/main" noGrp="1"/>
          </p:cNvSpPr>
          <p:nvPr/>
        </p:nvSpPr>
        <p:spPr>
          <a:xfrm xmlns:a="http://schemas.openxmlformats.org/drawingml/2006/main">
            <a:off x="3017520" y="4197096"/>
            <a:ext cx="2743200" cy="603504"/>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1" name="TextBox 40">
            <a:extLst xmlns:a="http://schemas.openxmlformats.org/drawingml/2006/main">
              <a:ext uri="{FF2B5EF4-FFF2-40B4-BE49-F238E27FC236}">
                <a16:creationId xmlns:a16="http://schemas.microsoft.com/office/drawing/2014/main" id="{26EB0CC2-BF93-4B16-9ADA-F2E86F0EE807}"/>
              </a:ext>
            </a:extLst>
          </p:cNvPr>
          <p:cNvSpPr>
            <a:spLocks xmlns:a="http://schemas.openxmlformats.org/drawingml/2006/main" noGrp="1"/>
          </p:cNvSpPr>
          <p:nvPr/>
        </p:nvSpPr>
        <p:spPr>
          <a:xfrm xmlns:a="http://schemas.openxmlformats.org/drawingml/2006/main">
            <a:off x="3108960" y="4197096"/>
            <a:ext cx="2578608"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lnSpc>
                <a:spcPct val="95000"/>
              </a:lnSpc>
              <a:spcBef>
                <a:spcPts val="0"/>
              </a:spcBef>
              <a:spcAft>
                <a:spcPts val="0"/>
              </a:spcAft>
              <a:buNone/>
            </a:pPr>
            <a:r>
              <a:rPr sz="1100" b="0" i="0">
                <a:solidFill>
                  <a:srgbClr val="5A6377"/>
                </a:solidFill>
                <a:latin typeface="Calibri"/>
                <a:ea typeface="Calibri"/>
                <a:cs typeface="Calibri"/>
              </a:rPr>
              <a:t>Many organisms and persons</a:t>
            </a:r>
          </a:p>
        </p:txBody>
      </p:sp>
      <p:sp>
        <p:nvSpPr>
          <p:cNvPr id="42" name="Rectangle 41">
            <a:extLst xmlns:a="http://schemas.openxmlformats.org/drawingml/2006/main">
              <a:ext uri="{FF2B5EF4-FFF2-40B4-BE49-F238E27FC236}">
                <a16:creationId xmlns:a16="http://schemas.microsoft.com/office/drawing/2014/main" id="{D8F9AED8-3144-4735-AF1D-CF3C31DFB5EB}"/>
              </a:ext>
            </a:extLst>
          </p:cNvPr>
          <p:cNvSpPr>
            <a:spLocks xmlns:a="http://schemas.openxmlformats.org/drawingml/2006/main" noGrp="1"/>
          </p:cNvSpPr>
          <p:nvPr/>
        </p:nvSpPr>
        <p:spPr>
          <a:xfrm xmlns:a="http://schemas.openxmlformats.org/drawingml/2006/main">
            <a:off x="5760720" y="4197096"/>
            <a:ext cx="2999232" cy="603504"/>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3" name="TextBox 42">
            <a:extLst xmlns:a="http://schemas.openxmlformats.org/drawingml/2006/main">
              <a:ext uri="{FF2B5EF4-FFF2-40B4-BE49-F238E27FC236}">
                <a16:creationId xmlns:a16="http://schemas.microsoft.com/office/drawing/2014/main" id="{FA9936E9-557E-4E06-B7F1-8AA7E26F0D2B}"/>
              </a:ext>
            </a:extLst>
          </p:cNvPr>
          <p:cNvSpPr>
            <a:spLocks xmlns:a="http://schemas.openxmlformats.org/drawingml/2006/main" noGrp="1"/>
          </p:cNvSpPr>
          <p:nvPr/>
        </p:nvSpPr>
        <p:spPr>
          <a:xfrm xmlns:a="http://schemas.openxmlformats.org/drawingml/2006/main">
            <a:off x="5852159" y="4197096"/>
            <a:ext cx="283463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lnSpc>
                <a:spcPct val="95000"/>
              </a:lnSpc>
              <a:spcBef>
                <a:spcPts val="0"/>
              </a:spcBef>
              <a:spcAft>
                <a:spcPts val="0"/>
              </a:spcAft>
              <a:buNone/>
            </a:pPr>
            <a:r>
              <a:rPr sz="1100" b="1" i="0">
                <a:solidFill>
                  <a:srgbClr val="9A6414"/>
                </a:solidFill>
                <a:latin typeface="Calibri"/>
                <a:ea typeface="Calibri"/>
                <a:cs typeface="Calibri"/>
              </a:rPr>
              <a:t>Many enduring jeevans</a:t>
            </a:r>
          </a:p>
        </p:txBody>
      </p:sp>
      <p:sp>
        <p:nvSpPr>
          <p:cNvPr id="44" name="Rectangle 43">
            <a:extLst xmlns:a="http://schemas.openxmlformats.org/drawingml/2006/main">
              <a:ext uri="{FF2B5EF4-FFF2-40B4-BE49-F238E27FC236}">
                <a16:creationId xmlns:a16="http://schemas.microsoft.com/office/drawing/2014/main" id="{3324DA91-1325-46C9-8E43-53F9004EE96D}"/>
              </a:ext>
            </a:extLst>
          </p:cNvPr>
          <p:cNvSpPr>
            <a:spLocks xmlns:a="http://schemas.openxmlformats.org/drawingml/2006/main" noGrp="1"/>
          </p:cNvSpPr>
          <p:nvPr/>
        </p:nvSpPr>
        <p:spPr>
          <a:xfrm xmlns:a="http://schemas.openxmlformats.org/drawingml/2006/main">
            <a:off x="8759952" y="4197096"/>
            <a:ext cx="2743200" cy="603504"/>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5" name="TextBox 44">
            <a:extLst xmlns:a="http://schemas.openxmlformats.org/drawingml/2006/main">
              <a:ext uri="{FF2B5EF4-FFF2-40B4-BE49-F238E27FC236}">
                <a16:creationId xmlns:a16="http://schemas.microsoft.com/office/drawing/2014/main" id="{CB063A68-E6F5-448A-A0CE-79306FDE1286}"/>
              </a:ext>
            </a:extLst>
          </p:cNvPr>
          <p:cNvSpPr>
            <a:spLocks xmlns:a="http://schemas.openxmlformats.org/drawingml/2006/main" noGrp="1"/>
          </p:cNvSpPr>
          <p:nvPr/>
        </p:nvSpPr>
        <p:spPr>
          <a:xfrm xmlns:a="http://schemas.openxmlformats.org/drawingml/2006/main">
            <a:off x="8851392" y="4197096"/>
            <a:ext cx="2578608"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lnSpc>
                <a:spcPct val="95000"/>
              </a:lnSpc>
              <a:spcBef>
                <a:spcPts val="0"/>
              </a:spcBef>
              <a:spcAft>
                <a:spcPts val="0"/>
              </a:spcAft>
              <a:buNone/>
            </a:pPr>
            <a:r>
              <a:rPr sz="1100" b="0" i="0">
                <a:solidFill>
                  <a:srgbClr val="5A6377"/>
                </a:solidFill>
                <a:latin typeface="Calibri"/>
                <a:ea typeface="Calibri"/>
                <a:cs typeface="Calibri"/>
              </a:rPr>
              <a:t>One Self ultimately</a:t>
            </a:r>
          </a:p>
        </p:txBody>
      </p:sp>
      <p:sp>
        <p:nvSpPr>
          <p:cNvPr id="46" name="Rectangle 45">
            <a:extLst xmlns:a="http://schemas.openxmlformats.org/drawingml/2006/main">
              <a:ext uri="{FF2B5EF4-FFF2-40B4-BE49-F238E27FC236}">
                <a16:creationId xmlns:a16="http://schemas.microsoft.com/office/drawing/2014/main" id="{691F6B9D-6F77-49FD-8ADB-AA58597E1690}"/>
              </a:ext>
            </a:extLst>
          </p:cNvPr>
          <p:cNvSpPr>
            <a:spLocks xmlns:a="http://schemas.openxmlformats.org/drawingml/2006/main" noGrp="1"/>
          </p:cNvSpPr>
          <p:nvPr/>
        </p:nvSpPr>
        <p:spPr>
          <a:xfrm xmlns:a="http://schemas.openxmlformats.org/drawingml/2006/main">
            <a:off x="685800" y="4800600"/>
            <a:ext cx="2331720" cy="603504"/>
          </a:xfrm>
          <a:prstGeom xmlns:a="http://schemas.openxmlformats.org/drawingml/2006/main" prst="rect">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7" name="TextBox 46">
            <a:extLst xmlns:a="http://schemas.openxmlformats.org/drawingml/2006/main">
              <a:ext uri="{FF2B5EF4-FFF2-40B4-BE49-F238E27FC236}">
                <a16:creationId xmlns:a16="http://schemas.microsoft.com/office/drawing/2014/main" id="{C9C8F6DA-0607-4E3E-B959-E98E0084CB84}"/>
              </a:ext>
            </a:extLst>
          </p:cNvPr>
          <p:cNvSpPr>
            <a:spLocks xmlns:a="http://schemas.openxmlformats.org/drawingml/2006/main" noGrp="1"/>
          </p:cNvSpPr>
          <p:nvPr/>
        </p:nvSpPr>
        <p:spPr>
          <a:xfrm xmlns:a="http://schemas.openxmlformats.org/drawingml/2006/main">
            <a:off x="758952" y="4800600"/>
            <a:ext cx="220370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lnSpc>
                <a:spcPct val="95000"/>
              </a:lnSpc>
              <a:spcBef>
                <a:spcPts val="0"/>
              </a:spcBef>
              <a:spcAft>
                <a:spcPts val="0"/>
              </a:spcAft>
              <a:buNone/>
            </a:pPr>
            <a:r>
              <a:rPr sz="1150" b="1" i="0">
                <a:solidFill>
                  <a:srgbClr val="1E2447"/>
                </a:solidFill>
                <a:latin typeface="Calibri"/>
                <a:ea typeface="Calibri"/>
                <a:cs typeface="Calibri"/>
              </a:rPr>
              <a:t>Survives death?</a:t>
            </a:r>
          </a:p>
        </p:txBody>
      </p:sp>
      <p:sp>
        <p:nvSpPr>
          <p:cNvPr id="48" name="Rectangle 47">
            <a:extLst xmlns:a="http://schemas.openxmlformats.org/drawingml/2006/main">
              <a:ext uri="{FF2B5EF4-FFF2-40B4-BE49-F238E27FC236}">
                <a16:creationId xmlns:a16="http://schemas.microsoft.com/office/drawing/2014/main" id="{E662AA0D-EB9E-43B7-8631-B0FF39F03ECA}"/>
              </a:ext>
            </a:extLst>
          </p:cNvPr>
          <p:cNvSpPr>
            <a:spLocks xmlns:a="http://schemas.openxmlformats.org/drawingml/2006/main" noGrp="1"/>
          </p:cNvSpPr>
          <p:nvPr/>
        </p:nvSpPr>
        <p:spPr>
          <a:xfrm xmlns:a="http://schemas.openxmlformats.org/drawingml/2006/main">
            <a:off x="3017520" y="4800600"/>
            <a:ext cx="2743200" cy="603504"/>
          </a:xfrm>
          <a:prstGeom xmlns:a="http://schemas.openxmlformats.org/drawingml/2006/main" prst="rect">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9" name="TextBox 48">
            <a:extLst xmlns:a="http://schemas.openxmlformats.org/drawingml/2006/main">
              <a:ext uri="{FF2B5EF4-FFF2-40B4-BE49-F238E27FC236}">
                <a16:creationId xmlns:a16="http://schemas.microsoft.com/office/drawing/2014/main" id="{17133593-5B55-4129-A0BB-AA6D8EB3F920}"/>
              </a:ext>
            </a:extLst>
          </p:cNvPr>
          <p:cNvSpPr>
            <a:spLocks xmlns:a="http://schemas.openxmlformats.org/drawingml/2006/main" noGrp="1"/>
          </p:cNvSpPr>
          <p:nvPr/>
        </p:nvSpPr>
        <p:spPr>
          <a:xfrm xmlns:a="http://schemas.openxmlformats.org/drawingml/2006/main">
            <a:off x="3108960" y="4800600"/>
            <a:ext cx="2578608"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lnSpc>
                <a:spcPct val="95000"/>
              </a:lnSpc>
              <a:spcBef>
                <a:spcPts val="0"/>
              </a:spcBef>
              <a:spcAft>
                <a:spcPts val="0"/>
              </a:spcAft>
              <a:buNone/>
            </a:pPr>
            <a:r>
              <a:rPr sz="1100" b="0" i="0">
                <a:solidFill>
                  <a:srgbClr val="5A6377"/>
                </a:solidFill>
                <a:latin typeface="Calibri"/>
                <a:ea typeface="Calibri"/>
                <a:cs typeface="Calibri"/>
              </a:rPr>
              <a:t>Person ends; physical components continue</a:t>
            </a:r>
          </a:p>
        </p:txBody>
      </p:sp>
      <p:sp>
        <p:nvSpPr>
          <p:cNvPr id="50" name="Rectangle 49">
            <a:extLst xmlns:a="http://schemas.openxmlformats.org/drawingml/2006/main">
              <a:ext uri="{FF2B5EF4-FFF2-40B4-BE49-F238E27FC236}">
                <a16:creationId xmlns:a16="http://schemas.microsoft.com/office/drawing/2014/main" id="{119EA03B-4040-4007-82AD-4C3AB54BB2AD}"/>
              </a:ext>
            </a:extLst>
          </p:cNvPr>
          <p:cNvSpPr>
            <a:spLocks xmlns:a="http://schemas.openxmlformats.org/drawingml/2006/main" noGrp="1"/>
          </p:cNvSpPr>
          <p:nvPr/>
        </p:nvSpPr>
        <p:spPr>
          <a:xfrm xmlns:a="http://schemas.openxmlformats.org/drawingml/2006/main">
            <a:off x="5760720" y="4800600"/>
            <a:ext cx="2999232" cy="603504"/>
          </a:xfrm>
          <a:prstGeom xmlns:a="http://schemas.openxmlformats.org/drawingml/2006/main" prst="rect">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1" name="TextBox 50">
            <a:extLst xmlns:a="http://schemas.openxmlformats.org/drawingml/2006/main">
              <a:ext uri="{FF2B5EF4-FFF2-40B4-BE49-F238E27FC236}">
                <a16:creationId xmlns:a16="http://schemas.microsoft.com/office/drawing/2014/main" id="{8C9A60EA-B904-4116-9EC8-010423442E2F}"/>
              </a:ext>
            </a:extLst>
          </p:cNvPr>
          <p:cNvSpPr>
            <a:spLocks xmlns:a="http://schemas.openxmlformats.org/drawingml/2006/main" noGrp="1"/>
          </p:cNvSpPr>
          <p:nvPr/>
        </p:nvSpPr>
        <p:spPr>
          <a:xfrm xmlns:a="http://schemas.openxmlformats.org/drawingml/2006/main">
            <a:off x="5852159" y="4800600"/>
            <a:ext cx="283463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lnSpc>
                <a:spcPct val="95000"/>
              </a:lnSpc>
              <a:spcBef>
                <a:spcPts val="0"/>
              </a:spcBef>
              <a:spcAft>
                <a:spcPts val="0"/>
              </a:spcAft>
              <a:buNone/>
            </a:pPr>
            <a:r>
              <a:rPr sz="1100" b="1" i="0">
                <a:solidFill>
                  <a:srgbClr val="9A6414"/>
                </a:solidFill>
                <a:latin typeface="Calibri"/>
                <a:ea typeface="Calibri"/>
                <a:cs typeface="Calibri"/>
              </a:rPr>
              <a:t>Body decomposes; jeevan continues</a:t>
            </a:r>
          </a:p>
        </p:txBody>
      </p:sp>
      <p:sp>
        <p:nvSpPr>
          <p:cNvPr id="52" name="Rectangle 51">
            <a:extLst xmlns:a="http://schemas.openxmlformats.org/drawingml/2006/main">
              <a:ext uri="{FF2B5EF4-FFF2-40B4-BE49-F238E27FC236}">
                <a16:creationId xmlns:a16="http://schemas.microsoft.com/office/drawing/2014/main" id="{4307F8FB-24B4-41F2-9181-89DA9EB1972F}"/>
              </a:ext>
            </a:extLst>
          </p:cNvPr>
          <p:cNvSpPr>
            <a:spLocks xmlns:a="http://schemas.openxmlformats.org/drawingml/2006/main" noGrp="1"/>
          </p:cNvSpPr>
          <p:nvPr/>
        </p:nvSpPr>
        <p:spPr>
          <a:xfrm xmlns:a="http://schemas.openxmlformats.org/drawingml/2006/main">
            <a:off x="8759952" y="4800600"/>
            <a:ext cx="2743200" cy="603504"/>
          </a:xfrm>
          <a:prstGeom xmlns:a="http://schemas.openxmlformats.org/drawingml/2006/main" prst="rect">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3" name="TextBox 52">
            <a:extLst xmlns:a="http://schemas.openxmlformats.org/drawingml/2006/main">
              <a:ext uri="{FF2B5EF4-FFF2-40B4-BE49-F238E27FC236}">
                <a16:creationId xmlns:a16="http://schemas.microsoft.com/office/drawing/2014/main" id="{7AE7EB8E-1303-4B68-AC1E-30255D77BFB8}"/>
              </a:ext>
            </a:extLst>
          </p:cNvPr>
          <p:cNvSpPr>
            <a:spLocks xmlns:a="http://schemas.openxmlformats.org/drawingml/2006/main" noGrp="1"/>
          </p:cNvSpPr>
          <p:nvPr/>
        </p:nvSpPr>
        <p:spPr>
          <a:xfrm xmlns:a="http://schemas.openxmlformats.org/drawingml/2006/main">
            <a:off x="8851392" y="4800600"/>
            <a:ext cx="2578608"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lnSpc>
                <a:spcPct val="95000"/>
              </a:lnSpc>
              <a:spcBef>
                <a:spcPts val="0"/>
              </a:spcBef>
              <a:spcAft>
                <a:spcPts val="0"/>
              </a:spcAft>
              <a:buNone/>
            </a:pPr>
            <a:r>
              <a:rPr sz="1100" b="0" i="0">
                <a:solidFill>
                  <a:srgbClr val="5A6377"/>
                </a:solidFill>
                <a:latin typeface="Calibri"/>
                <a:ea typeface="Calibri"/>
                <a:cs typeface="Calibri"/>
              </a:rPr>
              <a:t>No birth or death for the Self</a:t>
            </a:r>
          </a:p>
        </p:txBody>
      </p:sp>
      <p:sp>
        <p:nvSpPr>
          <p:cNvPr id="54" name="Rectangle 53">
            <a:extLst xmlns:a="http://schemas.openxmlformats.org/drawingml/2006/main">
              <a:ext uri="{FF2B5EF4-FFF2-40B4-BE49-F238E27FC236}">
                <a16:creationId xmlns:a16="http://schemas.microsoft.com/office/drawing/2014/main" id="{FADD4747-1365-42E5-A2F2-1EFD7E111974}"/>
              </a:ext>
            </a:extLst>
          </p:cNvPr>
          <p:cNvSpPr>
            <a:spLocks xmlns:a="http://schemas.openxmlformats.org/drawingml/2006/main" noGrp="1"/>
          </p:cNvSpPr>
          <p:nvPr/>
        </p:nvSpPr>
        <p:spPr>
          <a:xfrm xmlns:a="http://schemas.openxmlformats.org/drawingml/2006/main">
            <a:off x="685800" y="5404104"/>
            <a:ext cx="2331720" cy="603504"/>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5" name="TextBox 54">
            <a:extLst xmlns:a="http://schemas.openxmlformats.org/drawingml/2006/main">
              <a:ext uri="{FF2B5EF4-FFF2-40B4-BE49-F238E27FC236}">
                <a16:creationId xmlns:a16="http://schemas.microsoft.com/office/drawing/2014/main" id="{8053340E-2E31-4A96-8950-8C8BF28E3951}"/>
              </a:ext>
            </a:extLst>
          </p:cNvPr>
          <p:cNvSpPr>
            <a:spLocks xmlns:a="http://schemas.openxmlformats.org/drawingml/2006/main" noGrp="1"/>
          </p:cNvSpPr>
          <p:nvPr/>
        </p:nvSpPr>
        <p:spPr>
          <a:xfrm xmlns:a="http://schemas.openxmlformats.org/drawingml/2006/main">
            <a:off x="758952" y="5404104"/>
            <a:ext cx="220370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lnSpc>
                <a:spcPct val="95000"/>
              </a:lnSpc>
              <a:spcBef>
                <a:spcPts val="0"/>
              </a:spcBef>
              <a:spcAft>
                <a:spcPts val="0"/>
              </a:spcAft>
              <a:buNone/>
            </a:pPr>
            <a:r>
              <a:rPr sz="1150" b="1" i="0">
                <a:solidFill>
                  <a:srgbClr val="1E2447"/>
                </a:solidFill>
                <a:latin typeface="Calibri"/>
                <a:ea typeface="Calibri"/>
                <a:cs typeface="Calibri"/>
              </a:rPr>
              <a:t>Method</a:t>
            </a:r>
          </a:p>
        </p:txBody>
      </p:sp>
      <p:sp>
        <p:nvSpPr>
          <p:cNvPr id="56" name="Rectangle 55">
            <a:extLst xmlns:a="http://schemas.openxmlformats.org/drawingml/2006/main">
              <a:ext uri="{FF2B5EF4-FFF2-40B4-BE49-F238E27FC236}">
                <a16:creationId xmlns:a16="http://schemas.microsoft.com/office/drawing/2014/main" id="{50DB796E-2F58-40DF-A66F-AC3B807E1D86}"/>
              </a:ext>
            </a:extLst>
          </p:cNvPr>
          <p:cNvSpPr>
            <a:spLocks xmlns:a="http://schemas.openxmlformats.org/drawingml/2006/main" noGrp="1"/>
          </p:cNvSpPr>
          <p:nvPr/>
        </p:nvSpPr>
        <p:spPr>
          <a:xfrm xmlns:a="http://schemas.openxmlformats.org/drawingml/2006/main">
            <a:off x="3017520" y="5404104"/>
            <a:ext cx="2743200" cy="603504"/>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7" name="TextBox 56">
            <a:extLst xmlns:a="http://schemas.openxmlformats.org/drawingml/2006/main">
              <a:ext uri="{FF2B5EF4-FFF2-40B4-BE49-F238E27FC236}">
                <a16:creationId xmlns:a16="http://schemas.microsoft.com/office/drawing/2014/main" id="{52C5C5A1-5960-4123-B91E-6761AFFBF8BF}"/>
              </a:ext>
            </a:extLst>
          </p:cNvPr>
          <p:cNvSpPr>
            <a:spLocks xmlns:a="http://schemas.openxmlformats.org/drawingml/2006/main" noGrp="1"/>
          </p:cNvSpPr>
          <p:nvPr/>
        </p:nvSpPr>
        <p:spPr>
          <a:xfrm xmlns:a="http://schemas.openxmlformats.org/drawingml/2006/main">
            <a:off x="3108960" y="5404104"/>
            <a:ext cx="2578608"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lnSpc>
                <a:spcPct val="95000"/>
              </a:lnSpc>
              <a:spcBef>
                <a:spcPts val="0"/>
              </a:spcBef>
              <a:spcAft>
                <a:spcPts val="0"/>
              </a:spcAft>
              <a:buNone/>
            </a:pPr>
            <a:r>
              <a:rPr sz="1100" b="0" i="0">
                <a:solidFill>
                  <a:srgbClr val="5A6377"/>
                </a:solidFill>
                <a:latin typeface="Calibri"/>
                <a:ea typeface="Calibri"/>
                <a:cs typeface="Calibri"/>
              </a:rPr>
              <a:t>Measurement, modelling, prediction</a:t>
            </a:r>
          </a:p>
        </p:txBody>
      </p:sp>
      <p:sp>
        <p:nvSpPr>
          <p:cNvPr id="58" name="Rectangle 57">
            <a:extLst xmlns:a="http://schemas.openxmlformats.org/drawingml/2006/main">
              <a:ext uri="{FF2B5EF4-FFF2-40B4-BE49-F238E27FC236}">
                <a16:creationId xmlns:a16="http://schemas.microsoft.com/office/drawing/2014/main" id="{79AC4BE3-D362-4D4D-97F4-AD048121EAD0}"/>
              </a:ext>
            </a:extLst>
          </p:cNvPr>
          <p:cNvSpPr>
            <a:spLocks xmlns:a="http://schemas.openxmlformats.org/drawingml/2006/main" noGrp="1"/>
          </p:cNvSpPr>
          <p:nvPr/>
        </p:nvSpPr>
        <p:spPr>
          <a:xfrm xmlns:a="http://schemas.openxmlformats.org/drawingml/2006/main">
            <a:off x="5760720" y="5404104"/>
            <a:ext cx="2999232" cy="603504"/>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9" name="TextBox 58">
            <a:extLst xmlns:a="http://schemas.openxmlformats.org/drawingml/2006/main">
              <a:ext uri="{FF2B5EF4-FFF2-40B4-BE49-F238E27FC236}">
                <a16:creationId xmlns:a16="http://schemas.microsoft.com/office/drawing/2014/main" id="{2CCA1C70-B898-4553-A8C0-AB7D61BF9E96}"/>
              </a:ext>
            </a:extLst>
          </p:cNvPr>
          <p:cNvSpPr>
            <a:spLocks xmlns:a="http://schemas.openxmlformats.org/drawingml/2006/main" noGrp="1"/>
          </p:cNvSpPr>
          <p:nvPr/>
        </p:nvSpPr>
        <p:spPr>
          <a:xfrm xmlns:a="http://schemas.openxmlformats.org/drawingml/2006/main">
            <a:off x="5852159" y="5404104"/>
            <a:ext cx="283463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lnSpc>
                <a:spcPct val="95000"/>
              </a:lnSpc>
              <a:spcBef>
                <a:spcPts val="0"/>
              </a:spcBef>
              <a:spcAft>
                <a:spcPts val="0"/>
              </a:spcAft>
              <a:buNone/>
            </a:pPr>
            <a:r>
              <a:rPr sz="1100" b="1" i="0">
                <a:solidFill>
                  <a:srgbClr val="9A6414"/>
                </a:solidFill>
                <a:latin typeface="Calibri"/>
                <a:ea typeface="Calibri"/>
                <a:cs typeface="Calibri"/>
              </a:rPr>
              <a:t>Text, understanding, lived conduct</a:t>
            </a:r>
          </a:p>
        </p:txBody>
      </p:sp>
      <p:sp>
        <p:nvSpPr>
          <p:cNvPr id="60" name="Rectangle 59">
            <a:extLst xmlns:a="http://schemas.openxmlformats.org/drawingml/2006/main">
              <a:ext uri="{FF2B5EF4-FFF2-40B4-BE49-F238E27FC236}">
                <a16:creationId xmlns:a16="http://schemas.microsoft.com/office/drawing/2014/main" id="{87333047-F5A4-448F-B690-873AF896FD4D}"/>
              </a:ext>
            </a:extLst>
          </p:cNvPr>
          <p:cNvSpPr>
            <a:spLocks xmlns:a="http://schemas.openxmlformats.org/drawingml/2006/main" noGrp="1"/>
          </p:cNvSpPr>
          <p:nvPr/>
        </p:nvSpPr>
        <p:spPr>
          <a:xfrm xmlns:a="http://schemas.openxmlformats.org/drawingml/2006/main">
            <a:off x="8759952" y="5404104"/>
            <a:ext cx="2743200" cy="603504"/>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1" name="TextBox 60">
            <a:extLst xmlns:a="http://schemas.openxmlformats.org/drawingml/2006/main">
              <a:ext uri="{FF2B5EF4-FFF2-40B4-BE49-F238E27FC236}">
                <a16:creationId xmlns:a16="http://schemas.microsoft.com/office/drawing/2014/main" id="{D9F90755-4587-4F77-AFF9-494384CA7547}"/>
              </a:ext>
            </a:extLst>
          </p:cNvPr>
          <p:cNvSpPr>
            <a:spLocks xmlns:a="http://schemas.openxmlformats.org/drawingml/2006/main" noGrp="1"/>
          </p:cNvSpPr>
          <p:nvPr/>
        </p:nvSpPr>
        <p:spPr>
          <a:xfrm xmlns:a="http://schemas.openxmlformats.org/drawingml/2006/main">
            <a:off x="8851392" y="5404104"/>
            <a:ext cx="2578608"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lnSpc>
                <a:spcPct val="95000"/>
              </a:lnSpc>
              <a:spcBef>
                <a:spcPts val="0"/>
              </a:spcBef>
              <a:spcAft>
                <a:spcPts val="0"/>
              </a:spcAft>
              <a:buNone/>
            </a:pPr>
            <a:r>
              <a:rPr sz="1100" b="0" i="0">
                <a:solidFill>
                  <a:srgbClr val="5A6377"/>
                </a:solidFill>
                <a:latin typeface="Calibri"/>
                <a:ea typeface="Calibri"/>
                <a:cs typeface="Calibri"/>
              </a:rPr>
              <a:t>Scripture, reason, meditation</a:t>
            </a:r>
          </a:p>
        </p:txBody>
      </p:sp>
      <p:sp>
        <p:nvSpPr>
          <p:cNvPr id="62" name="TextBox 61">
            <a:extLst xmlns:a="http://schemas.openxmlformats.org/drawingml/2006/main">
              <a:ext uri="{FF2B5EF4-FFF2-40B4-BE49-F238E27FC236}">
                <a16:creationId xmlns:a16="http://schemas.microsoft.com/office/drawing/2014/main" id="{28824DED-F9FA-45F0-9DB3-5880F67B6293}"/>
              </a:ext>
            </a:extLst>
          </p:cNvPr>
          <p:cNvSpPr>
            <a:spLocks xmlns:a="http://schemas.openxmlformats.org/drawingml/2006/main" noGrp="1"/>
          </p:cNvSpPr>
          <p:nvPr/>
        </p:nvSpPr>
        <p:spPr>
          <a:xfrm xmlns:a="http://schemas.openxmlformats.org/drawingml/2006/main">
            <a:off x="685800" y="6419088"/>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100" b="0" i="1">
                <a:solidFill>
                  <a:srgbClr val="5A6377"/>
                </a:solidFill>
                <a:latin typeface="Calibri"/>
                <a:ea typeface="Calibri"/>
                <a:cs typeface="Calibri"/>
              </a:rPr>
              <a:t>Science supplies evidence; physicalism is one ontological interpretation of it.</a:t>
            </a:r>
          </a:p>
        </p:txBody>
      </p:sp>
    </p:spTree>
    <p:extLst>
      <p:ext uri="{BB962C8B-B14F-4D97-AF65-F5344CB8AC3E}">
        <p14:creationId xmlns:p14="http://schemas.microsoft.com/office/powerpoint/2010/main" val="166865473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9C3EF7AD-6468-40EF-B1CF-ED95CFE2578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Oval 2">
            <a:extLst xmlns:a="http://schemas.openxmlformats.org/drawingml/2006/main">
              <a:ext uri="{FF2B5EF4-FFF2-40B4-BE49-F238E27FC236}">
                <a16:creationId xmlns:a16="http://schemas.microsoft.com/office/drawing/2014/main" id="{781DB63D-DA82-41A1-8A05-9E0E61968948}"/>
              </a:ext>
            </a:extLst>
          </p:cNvPr>
          <p:cNvSpPr>
            <a:spLocks xmlns:a="http://schemas.openxmlformats.org/drawingml/2006/main" noGrp="1"/>
          </p:cNvSpPr>
          <p:nvPr/>
        </p:nvSpPr>
        <p:spPr>
          <a:xfrm xmlns:a="http://schemas.openxmlformats.org/drawingml/2006/main">
            <a:off x="654253" y="507949"/>
            <a:ext cx="483717" cy="483717"/>
          </a:xfrm>
          <a:prstGeom xmlns:a="http://schemas.openxmlformats.org/drawingml/2006/main" prst="ellipse">
            <a:avLst/>
          </a:prstGeom>
          <a:noFill xmlns:a="http://schemas.openxmlformats.org/drawingml/2006/main"/>
          <a:ln xmlns:a="http://schemas.openxmlformats.org/drawingml/2006/main" w="2336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Oval 3">
            <a:extLst xmlns:a="http://schemas.openxmlformats.org/drawingml/2006/main">
              <a:ext uri="{FF2B5EF4-FFF2-40B4-BE49-F238E27FC236}">
                <a16:creationId xmlns:a16="http://schemas.microsoft.com/office/drawing/2014/main" id="{FE2FCFB3-C896-4ED9-837B-7135DB84F93C}"/>
              </a:ext>
            </a:extLst>
          </p:cNvPr>
          <p:cNvSpPr>
            <a:spLocks xmlns:a="http://schemas.openxmlformats.org/drawingml/2006/main" noGrp="1"/>
          </p:cNvSpPr>
          <p:nvPr/>
        </p:nvSpPr>
        <p:spPr>
          <a:xfrm xmlns:a="http://schemas.openxmlformats.org/drawingml/2006/main">
            <a:off x="754151" y="607847"/>
            <a:ext cx="283921" cy="283921"/>
          </a:xfrm>
          <a:prstGeom xmlns:a="http://schemas.openxmlformats.org/drawingml/2006/main" prst="ellipse">
            <a:avLst/>
          </a:prstGeom>
          <a:noFill xmlns:a="http://schemas.openxmlformats.org/drawingml/2006/main"/>
          <a:ln xmlns:a="http://schemas.openxmlformats.org/drawingml/2006/main" w="20447">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Oval 4">
            <a:extLst xmlns:a="http://schemas.openxmlformats.org/drawingml/2006/main">
              <a:ext uri="{FF2B5EF4-FFF2-40B4-BE49-F238E27FC236}">
                <a16:creationId xmlns:a16="http://schemas.microsoft.com/office/drawing/2014/main" id="{1EA8037A-9FA2-4FCC-BE91-30AC26A80ED4}"/>
              </a:ext>
            </a:extLst>
          </p:cNvPr>
          <p:cNvSpPr>
            <a:spLocks xmlns:a="http://schemas.openxmlformats.org/drawingml/2006/main" noGrp="1"/>
          </p:cNvSpPr>
          <p:nvPr/>
        </p:nvSpPr>
        <p:spPr>
          <a:xfrm xmlns:a="http://schemas.openxmlformats.org/drawingml/2006/main">
            <a:off x="833018" y="686714"/>
            <a:ext cx="126187" cy="126187"/>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7C2D5770-8B6C-4519-AF62-6A1264B00136}"/>
              </a:ext>
            </a:extLst>
          </p:cNvPr>
          <p:cNvSpPr>
            <a:spLocks xmlns:a="http://schemas.openxmlformats.org/drawingml/2006/main" noGrp="1"/>
          </p:cNvSpPr>
          <p:nvPr/>
        </p:nvSpPr>
        <p:spPr>
          <a:xfrm xmlns:a="http://schemas.openxmlformats.org/drawingml/2006/main">
            <a:off x="1325880" y="457200"/>
            <a:ext cx="10424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200" b="1" i="0">
                <a:solidFill>
                  <a:srgbClr val="C9821E"/>
                </a:solidFill>
                <a:latin typeface="Calibri"/>
                <a:ea typeface="Calibri"/>
                <a:cs typeface="Calibri"/>
              </a:rPr>
              <a:t>COMPARING THE THREE VIEWS</a:t>
            </a:r>
          </a:p>
        </p:txBody>
      </p:sp>
      <p:sp>
        <p:nvSpPr>
          <p:cNvPr id="7" name="TextBox 6">
            <a:extLst xmlns:a="http://schemas.openxmlformats.org/drawingml/2006/main">
              <a:ext uri="{FF2B5EF4-FFF2-40B4-BE49-F238E27FC236}">
                <a16:creationId xmlns:a16="http://schemas.microsoft.com/office/drawing/2014/main" id="{333E902B-E185-4813-906A-42F41EF7DBE9}"/>
              </a:ext>
            </a:extLst>
          </p:cNvPr>
          <p:cNvSpPr>
            <a:spLocks xmlns:a="http://schemas.openxmlformats.org/drawingml/2006/main" noGrp="1"/>
          </p:cNvSpPr>
          <p:nvPr/>
        </p:nvSpPr>
        <p:spPr>
          <a:xfrm xmlns:a="http://schemas.openxmlformats.org/drawingml/2006/main">
            <a:off x="1280160" y="676656"/>
            <a:ext cx="105156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3000" b="1" i="0">
                <a:solidFill>
                  <a:srgbClr val="1E2447"/>
                </a:solidFill>
                <a:latin typeface="Cambria"/>
                <a:ea typeface="Cambria"/>
                <a:cs typeface="Cambria"/>
              </a:rPr>
              <a:t>Three Contrasts That Cannot Be Blended Away</a:t>
            </a:r>
          </a:p>
        </p:txBody>
      </p:sp>
      <p:sp>
        <p:nvSpPr>
          <p:cNvPr id="8" name="Rounded Rectangle 7">
            <a:extLst xmlns:a="http://schemas.openxmlformats.org/drawingml/2006/main">
              <a:ext uri="{FF2B5EF4-FFF2-40B4-BE49-F238E27FC236}">
                <a16:creationId xmlns:a16="http://schemas.microsoft.com/office/drawing/2014/main" id="{B8EAF0F6-E0E8-49C8-986F-6D901E4238B7}"/>
              </a:ext>
            </a:extLst>
          </p:cNvPr>
          <p:cNvSpPr>
            <a:spLocks xmlns:a="http://schemas.openxmlformats.org/drawingml/2006/main" noGrp="1"/>
          </p:cNvSpPr>
          <p:nvPr/>
        </p:nvSpPr>
        <p:spPr>
          <a:xfrm xmlns:a="http://schemas.openxmlformats.org/drawingml/2006/main">
            <a:off x="685800" y="1783080"/>
            <a:ext cx="10817352" cy="960120"/>
          </a:xfrm>
          <a:prstGeom xmlns:a="http://schemas.openxmlformats.org/drawingml/2006/main" prst="roundRect">
            <a:avLst>
              <a:gd name="adj" fmla="val 6000"/>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Oval 8">
            <a:extLst xmlns:a="http://schemas.openxmlformats.org/drawingml/2006/main">
              <a:ext uri="{FF2B5EF4-FFF2-40B4-BE49-F238E27FC236}">
                <a16:creationId xmlns:a16="http://schemas.microsoft.com/office/drawing/2014/main" id="{D61024F3-7325-4710-9DE0-EF17FD28B7AA}"/>
              </a:ext>
            </a:extLst>
          </p:cNvPr>
          <p:cNvSpPr>
            <a:spLocks xmlns:a="http://schemas.openxmlformats.org/drawingml/2006/main" noGrp="1"/>
          </p:cNvSpPr>
          <p:nvPr/>
        </p:nvSpPr>
        <p:spPr>
          <a:xfrm xmlns:a="http://schemas.openxmlformats.org/drawingml/2006/main">
            <a:off x="898855" y="1977847"/>
            <a:ext cx="378561" cy="378561"/>
          </a:xfrm>
          <a:prstGeom xmlns:a="http://schemas.openxmlformats.org/drawingml/2006/main" prst="ellipse">
            <a:avLst/>
          </a:prstGeom>
          <a:noFill xmlns:a="http://schemas.openxmlformats.org/drawingml/2006/main"/>
          <a:ln xmlns:a="http://schemas.openxmlformats.org/drawingml/2006/main" w="1828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Oval 9">
            <a:extLst xmlns:a="http://schemas.openxmlformats.org/drawingml/2006/main">
              <a:ext uri="{FF2B5EF4-FFF2-40B4-BE49-F238E27FC236}">
                <a16:creationId xmlns:a16="http://schemas.microsoft.com/office/drawing/2014/main" id="{C2BC8250-00EF-4CD8-9663-4C094F8E7844}"/>
              </a:ext>
            </a:extLst>
          </p:cNvPr>
          <p:cNvSpPr>
            <a:spLocks xmlns:a="http://schemas.openxmlformats.org/drawingml/2006/main" noGrp="1"/>
          </p:cNvSpPr>
          <p:nvPr/>
        </p:nvSpPr>
        <p:spPr>
          <a:xfrm xmlns:a="http://schemas.openxmlformats.org/drawingml/2006/main">
            <a:off x="977036" y="2056028"/>
            <a:ext cx="222199" cy="222199"/>
          </a:xfrm>
          <a:prstGeom xmlns:a="http://schemas.openxmlformats.org/drawingml/2006/main" prst="ellipse">
            <a:avLst/>
          </a:prstGeom>
          <a:noFill xmlns:a="http://schemas.openxmlformats.org/drawingml/2006/main"/>
          <a:ln xmlns:a="http://schemas.openxmlformats.org/drawingml/2006/main" w="16002">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Oval 10">
            <a:extLst xmlns:a="http://schemas.openxmlformats.org/drawingml/2006/main">
              <a:ext uri="{FF2B5EF4-FFF2-40B4-BE49-F238E27FC236}">
                <a16:creationId xmlns:a16="http://schemas.microsoft.com/office/drawing/2014/main" id="{07F561E9-92F1-4E85-A511-C3F48B1E2855}"/>
              </a:ext>
            </a:extLst>
          </p:cNvPr>
          <p:cNvSpPr>
            <a:spLocks xmlns:a="http://schemas.openxmlformats.org/drawingml/2006/main" noGrp="1"/>
          </p:cNvSpPr>
          <p:nvPr/>
        </p:nvSpPr>
        <p:spPr>
          <a:xfrm xmlns:a="http://schemas.openxmlformats.org/drawingml/2006/main">
            <a:off x="1038758" y="2117750"/>
            <a:ext cx="98755" cy="98755"/>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1B71C72A-6455-4CE1-ADA7-99D06B8CA826}"/>
              </a:ext>
            </a:extLst>
          </p:cNvPr>
          <p:cNvSpPr>
            <a:spLocks xmlns:a="http://schemas.openxmlformats.org/drawingml/2006/main" noGrp="1"/>
          </p:cNvSpPr>
          <p:nvPr/>
        </p:nvSpPr>
        <p:spPr>
          <a:xfrm xmlns:a="http://schemas.openxmlformats.org/drawingml/2006/main">
            <a:off x="1444752" y="1984248"/>
            <a:ext cx="9875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450" b="1" i="0">
                <a:solidFill>
                  <a:srgbClr val="1E2447"/>
                </a:solidFill>
                <a:latin typeface="Cambria"/>
                <a:ea typeface="Cambria"/>
                <a:cs typeface="Cambria"/>
              </a:rPr>
              <a:t>Real plurality or nonduality</a:t>
            </a:r>
          </a:p>
        </p:txBody>
      </p:sp>
      <p:sp>
        <p:nvSpPr>
          <p:cNvPr id="13" name="TextBox 12">
            <a:extLst xmlns:a="http://schemas.openxmlformats.org/drawingml/2006/main">
              <a:ext uri="{FF2B5EF4-FFF2-40B4-BE49-F238E27FC236}">
                <a16:creationId xmlns:a16="http://schemas.microsoft.com/office/drawing/2014/main" id="{C11D6DE8-2906-4564-A7ED-429F8D3A2636}"/>
              </a:ext>
            </a:extLst>
          </p:cNvPr>
          <p:cNvSpPr>
            <a:spLocks xmlns:a="http://schemas.openxmlformats.org/drawingml/2006/main" noGrp="1"/>
          </p:cNvSpPr>
          <p:nvPr/>
        </p:nvSpPr>
        <p:spPr>
          <a:xfrm xmlns:a="http://schemas.openxmlformats.org/drawingml/2006/main">
            <a:off x="941832" y="2496312"/>
            <a:ext cx="10305288" cy="250825"/>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250" b="0" i="0">
                <a:solidFill>
                  <a:srgbClr val="5A6377"/>
                </a:solidFill>
                <a:latin typeface="Calibri"/>
                <a:ea typeface="Calibri"/>
                <a:cs typeface="Calibri"/>
              </a:rPr>
              <a:t>MD affirms many real units; madhyasth names a mediative or regulative role. Advaita accepts plurality empirically, not ultimately.</a:t>
            </a:r>
          </a:p>
        </p:txBody>
      </p:sp>
      <p:sp>
        <p:nvSpPr>
          <p:cNvPr id="14" name="Rounded Rectangle 13">
            <a:extLst xmlns:a="http://schemas.openxmlformats.org/drawingml/2006/main">
              <a:ext uri="{FF2B5EF4-FFF2-40B4-BE49-F238E27FC236}">
                <a16:creationId xmlns:a16="http://schemas.microsoft.com/office/drawing/2014/main" id="{D8D9D684-A310-4314-981A-B35DFE02B872}"/>
              </a:ext>
            </a:extLst>
          </p:cNvPr>
          <p:cNvSpPr>
            <a:spLocks xmlns:a="http://schemas.openxmlformats.org/drawingml/2006/main" noGrp="1"/>
          </p:cNvSpPr>
          <p:nvPr/>
        </p:nvSpPr>
        <p:spPr>
          <a:xfrm xmlns:a="http://schemas.openxmlformats.org/drawingml/2006/main">
            <a:off x="685800" y="2852928"/>
            <a:ext cx="10817352" cy="960120"/>
          </a:xfrm>
          <a:prstGeom xmlns:a="http://schemas.openxmlformats.org/drawingml/2006/main" prst="roundRect">
            <a:avLst>
              <a:gd name="adj" fmla="val 6000"/>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Oval 14">
            <a:extLst xmlns:a="http://schemas.openxmlformats.org/drawingml/2006/main">
              <a:ext uri="{FF2B5EF4-FFF2-40B4-BE49-F238E27FC236}">
                <a16:creationId xmlns:a16="http://schemas.microsoft.com/office/drawing/2014/main" id="{4D380737-C577-4429-9404-A5838EF76A0C}"/>
              </a:ext>
            </a:extLst>
          </p:cNvPr>
          <p:cNvSpPr>
            <a:spLocks xmlns:a="http://schemas.openxmlformats.org/drawingml/2006/main" noGrp="1"/>
          </p:cNvSpPr>
          <p:nvPr/>
        </p:nvSpPr>
        <p:spPr>
          <a:xfrm xmlns:a="http://schemas.openxmlformats.org/drawingml/2006/main">
            <a:off x="898855" y="3047695"/>
            <a:ext cx="378561" cy="378561"/>
          </a:xfrm>
          <a:prstGeom xmlns:a="http://schemas.openxmlformats.org/drawingml/2006/main" prst="ellipse">
            <a:avLst/>
          </a:prstGeom>
          <a:noFill xmlns:a="http://schemas.openxmlformats.org/drawingml/2006/main"/>
          <a:ln xmlns:a="http://schemas.openxmlformats.org/drawingml/2006/main" w="1828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Oval 15">
            <a:extLst xmlns:a="http://schemas.openxmlformats.org/drawingml/2006/main">
              <a:ext uri="{FF2B5EF4-FFF2-40B4-BE49-F238E27FC236}">
                <a16:creationId xmlns:a16="http://schemas.microsoft.com/office/drawing/2014/main" id="{13932845-B0DE-4445-B6D4-2E89DB02E939}"/>
              </a:ext>
            </a:extLst>
          </p:cNvPr>
          <p:cNvSpPr>
            <a:spLocks xmlns:a="http://schemas.openxmlformats.org/drawingml/2006/main" noGrp="1"/>
          </p:cNvSpPr>
          <p:nvPr/>
        </p:nvSpPr>
        <p:spPr>
          <a:xfrm xmlns:a="http://schemas.openxmlformats.org/drawingml/2006/main">
            <a:off x="977036" y="3125876"/>
            <a:ext cx="222199" cy="222199"/>
          </a:xfrm>
          <a:prstGeom xmlns:a="http://schemas.openxmlformats.org/drawingml/2006/main" prst="ellipse">
            <a:avLst/>
          </a:prstGeom>
          <a:noFill xmlns:a="http://schemas.openxmlformats.org/drawingml/2006/main"/>
          <a:ln xmlns:a="http://schemas.openxmlformats.org/drawingml/2006/main" w="16002">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Oval 16">
            <a:extLst xmlns:a="http://schemas.openxmlformats.org/drawingml/2006/main">
              <a:ext uri="{FF2B5EF4-FFF2-40B4-BE49-F238E27FC236}">
                <a16:creationId xmlns:a16="http://schemas.microsoft.com/office/drawing/2014/main" id="{A014EFCD-53F1-4E39-9A9F-C440EEBC9E0C}"/>
              </a:ext>
            </a:extLst>
          </p:cNvPr>
          <p:cNvSpPr>
            <a:spLocks xmlns:a="http://schemas.openxmlformats.org/drawingml/2006/main" noGrp="1"/>
          </p:cNvSpPr>
          <p:nvPr/>
        </p:nvSpPr>
        <p:spPr>
          <a:xfrm xmlns:a="http://schemas.openxmlformats.org/drawingml/2006/main">
            <a:off x="1038758" y="3187598"/>
            <a:ext cx="98755" cy="98755"/>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BC0C6A59-FD95-44AA-B45C-0B51910A83AB}"/>
              </a:ext>
            </a:extLst>
          </p:cNvPr>
          <p:cNvSpPr>
            <a:spLocks xmlns:a="http://schemas.openxmlformats.org/drawingml/2006/main" noGrp="1"/>
          </p:cNvSpPr>
          <p:nvPr/>
        </p:nvSpPr>
        <p:spPr>
          <a:xfrm xmlns:a="http://schemas.openxmlformats.org/drawingml/2006/main">
            <a:off x="1444752" y="3054096"/>
            <a:ext cx="9875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450" b="1" i="0">
                <a:solidFill>
                  <a:srgbClr val="1E2447"/>
                </a:solidFill>
                <a:latin typeface="Cambria"/>
                <a:ea typeface="Cambria"/>
                <a:cs typeface="Cambria"/>
              </a:rPr>
              <a:t>Individual self or one Self</a:t>
            </a:r>
          </a:p>
        </p:txBody>
      </p:sp>
      <p:sp>
        <p:nvSpPr>
          <p:cNvPr id="19" name="TextBox 18">
            <a:extLst xmlns:a="http://schemas.openxmlformats.org/drawingml/2006/main">
              <a:ext uri="{FF2B5EF4-FFF2-40B4-BE49-F238E27FC236}">
                <a16:creationId xmlns:a16="http://schemas.microsoft.com/office/drawing/2014/main" id="{88701A1B-D4FB-4C4B-B457-6F915E747407}"/>
              </a:ext>
            </a:extLst>
          </p:cNvPr>
          <p:cNvSpPr>
            <a:spLocks xmlns:a="http://schemas.openxmlformats.org/drawingml/2006/main" noGrp="1"/>
          </p:cNvSpPr>
          <p:nvPr/>
        </p:nvSpPr>
        <p:spPr>
          <a:xfrm xmlns:a="http://schemas.openxmlformats.org/drawingml/2006/main">
            <a:off x="941832" y="3566160"/>
            <a:ext cx="10305288" cy="250825"/>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250" b="0" i="0">
                <a:solidFill>
                  <a:srgbClr val="5A6377"/>
                </a:solidFill>
                <a:latin typeface="Calibri"/>
                <a:ea typeface="Calibri"/>
                <a:cs typeface="Calibri"/>
              </a:rPr>
              <a:t>MD keeps many jeevans and individual responsibility. Advaita treats individuality as superimposed on nondual awareness.</a:t>
            </a:r>
          </a:p>
        </p:txBody>
      </p:sp>
      <p:sp>
        <p:nvSpPr>
          <p:cNvPr id="20" name="Rounded Rectangle 19">
            <a:extLst xmlns:a="http://schemas.openxmlformats.org/drawingml/2006/main">
              <a:ext uri="{FF2B5EF4-FFF2-40B4-BE49-F238E27FC236}">
                <a16:creationId xmlns:a16="http://schemas.microsoft.com/office/drawing/2014/main" id="{9EF3EA82-6DEB-4D8D-A956-7622C0716083}"/>
              </a:ext>
            </a:extLst>
          </p:cNvPr>
          <p:cNvSpPr>
            <a:spLocks xmlns:a="http://schemas.openxmlformats.org/drawingml/2006/main" noGrp="1"/>
          </p:cNvSpPr>
          <p:nvPr/>
        </p:nvSpPr>
        <p:spPr>
          <a:xfrm xmlns:a="http://schemas.openxmlformats.org/drawingml/2006/main">
            <a:off x="685800" y="3922776"/>
            <a:ext cx="10817352" cy="960120"/>
          </a:xfrm>
          <a:prstGeom xmlns:a="http://schemas.openxmlformats.org/drawingml/2006/main" prst="roundRect">
            <a:avLst>
              <a:gd name="adj" fmla="val 6000"/>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Oval 20">
            <a:extLst xmlns:a="http://schemas.openxmlformats.org/drawingml/2006/main">
              <a:ext uri="{FF2B5EF4-FFF2-40B4-BE49-F238E27FC236}">
                <a16:creationId xmlns:a16="http://schemas.microsoft.com/office/drawing/2014/main" id="{194EC426-C3A4-417F-819C-7D759CD7BD25}"/>
              </a:ext>
            </a:extLst>
          </p:cNvPr>
          <p:cNvSpPr>
            <a:spLocks xmlns:a="http://schemas.openxmlformats.org/drawingml/2006/main" noGrp="1"/>
          </p:cNvSpPr>
          <p:nvPr/>
        </p:nvSpPr>
        <p:spPr>
          <a:xfrm xmlns:a="http://schemas.openxmlformats.org/drawingml/2006/main">
            <a:off x="898855" y="4117543"/>
            <a:ext cx="378561" cy="378561"/>
          </a:xfrm>
          <a:prstGeom xmlns:a="http://schemas.openxmlformats.org/drawingml/2006/main" prst="ellipse">
            <a:avLst/>
          </a:prstGeom>
          <a:noFill xmlns:a="http://schemas.openxmlformats.org/drawingml/2006/main"/>
          <a:ln xmlns:a="http://schemas.openxmlformats.org/drawingml/2006/main" w="1828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Oval 21">
            <a:extLst xmlns:a="http://schemas.openxmlformats.org/drawingml/2006/main">
              <a:ext uri="{FF2B5EF4-FFF2-40B4-BE49-F238E27FC236}">
                <a16:creationId xmlns:a16="http://schemas.microsoft.com/office/drawing/2014/main" id="{3E07CE1A-D7D8-4099-A9E5-F3FD16C1354C}"/>
              </a:ext>
            </a:extLst>
          </p:cNvPr>
          <p:cNvSpPr>
            <a:spLocks xmlns:a="http://schemas.openxmlformats.org/drawingml/2006/main" noGrp="1"/>
          </p:cNvSpPr>
          <p:nvPr/>
        </p:nvSpPr>
        <p:spPr>
          <a:xfrm xmlns:a="http://schemas.openxmlformats.org/drawingml/2006/main">
            <a:off x="977036" y="4195724"/>
            <a:ext cx="222199" cy="222199"/>
          </a:xfrm>
          <a:prstGeom xmlns:a="http://schemas.openxmlformats.org/drawingml/2006/main" prst="ellipse">
            <a:avLst/>
          </a:prstGeom>
          <a:noFill xmlns:a="http://schemas.openxmlformats.org/drawingml/2006/main"/>
          <a:ln xmlns:a="http://schemas.openxmlformats.org/drawingml/2006/main" w="16002">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Oval 22">
            <a:extLst xmlns:a="http://schemas.openxmlformats.org/drawingml/2006/main">
              <a:ext uri="{FF2B5EF4-FFF2-40B4-BE49-F238E27FC236}">
                <a16:creationId xmlns:a16="http://schemas.microsoft.com/office/drawing/2014/main" id="{BE474F36-C66A-421E-A554-3D49DB981F30}"/>
              </a:ext>
            </a:extLst>
          </p:cNvPr>
          <p:cNvSpPr>
            <a:spLocks xmlns:a="http://schemas.openxmlformats.org/drawingml/2006/main" noGrp="1"/>
          </p:cNvSpPr>
          <p:nvPr/>
        </p:nvSpPr>
        <p:spPr>
          <a:xfrm xmlns:a="http://schemas.openxmlformats.org/drawingml/2006/main">
            <a:off x="1038758" y="4257446"/>
            <a:ext cx="98755" cy="98755"/>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FC0BFB78-88AC-4BE1-9BED-D2C1DAB81D55}"/>
              </a:ext>
            </a:extLst>
          </p:cNvPr>
          <p:cNvSpPr>
            <a:spLocks xmlns:a="http://schemas.openxmlformats.org/drawingml/2006/main" noGrp="1"/>
          </p:cNvSpPr>
          <p:nvPr/>
        </p:nvSpPr>
        <p:spPr>
          <a:xfrm xmlns:a="http://schemas.openxmlformats.org/drawingml/2006/main">
            <a:off x="1444752" y="4123944"/>
            <a:ext cx="9875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450" b="1" i="0">
                <a:solidFill>
                  <a:srgbClr val="1E2447"/>
                </a:solidFill>
                <a:latin typeface="Cambria"/>
                <a:ea typeface="Cambria"/>
                <a:cs typeface="Cambria"/>
              </a:rPr>
              <a:t>How consciousness relates to matter</a:t>
            </a:r>
          </a:p>
        </p:txBody>
      </p:sp>
      <p:sp>
        <p:nvSpPr>
          <p:cNvPr id="25" name="TextBox 24">
            <a:extLst xmlns:a="http://schemas.openxmlformats.org/drawingml/2006/main">
              <a:ext uri="{FF2B5EF4-FFF2-40B4-BE49-F238E27FC236}">
                <a16:creationId xmlns:a16="http://schemas.microsoft.com/office/drawing/2014/main" id="{662B23E8-0858-4E63-9C0F-CF488F5DD878}"/>
              </a:ext>
            </a:extLst>
          </p:cNvPr>
          <p:cNvSpPr>
            <a:spLocks xmlns:a="http://schemas.openxmlformats.org/drawingml/2006/main" noGrp="1"/>
          </p:cNvSpPr>
          <p:nvPr/>
        </p:nvSpPr>
        <p:spPr>
          <a:xfrm xmlns:a="http://schemas.openxmlformats.org/drawingml/2006/main">
            <a:off x="941832" y="4636008"/>
            <a:ext cx="10305288" cy="250825"/>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250" b="0" i="0">
                <a:solidFill>
                  <a:srgbClr val="5A6377"/>
                </a:solidFill>
                <a:latin typeface="Calibri"/>
                <a:ea typeface="Calibri"/>
                <a:cs typeface="Calibri"/>
              </a:rPr>
              <a:t>Physicalism: organised brain. MD: body + jeevan. Advaita: awareness is prior and matter is dependent.</a:t>
            </a:r>
          </a:p>
        </p:txBody>
      </p:sp>
      <p:sp>
        <p:nvSpPr>
          <p:cNvPr id="26" name="Rounded Rectangle 25">
            <a:extLst xmlns:a="http://schemas.openxmlformats.org/drawingml/2006/main">
              <a:ext uri="{FF2B5EF4-FFF2-40B4-BE49-F238E27FC236}">
                <a16:creationId xmlns:a16="http://schemas.microsoft.com/office/drawing/2014/main" id="{73BA93CF-EE8F-4F0A-A230-BCC3D71BE73A}"/>
              </a:ext>
            </a:extLst>
          </p:cNvPr>
          <p:cNvSpPr>
            <a:spLocks xmlns:a="http://schemas.openxmlformats.org/drawingml/2006/main" noGrp="1"/>
          </p:cNvSpPr>
          <p:nvPr/>
        </p:nvSpPr>
        <p:spPr>
          <a:xfrm xmlns:a="http://schemas.openxmlformats.org/drawingml/2006/main">
            <a:off x="685800" y="5029200"/>
            <a:ext cx="10817352" cy="1051560"/>
          </a:xfrm>
          <a:prstGeom xmlns:a="http://schemas.openxmlformats.org/drawingml/2006/main" prst="roundRect">
            <a:avLst>
              <a:gd name="adj" fmla="val 9000"/>
            </a:avLst>
          </a:prstGeom>
          <a:solidFill xmlns:a="http://schemas.openxmlformats.org/drawingml/2006/main">
            <a:srgbClr val="1E244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TextBox 26">
            <a:extLst xmlns:a="http://schemas.openxmlformats.org/drawingml/2006/main">
              <a:ext uri="{FF2B5EF4-FFF2-40B4-BE49-F238E27FC236}">
                <a16:creationId xmlns:a16="http://schemas.microsoft.com/office/drawing/2014/main" id="{5197B2CE-B867-48B4-96F2-AD8380CC08D2}"/>
              </a:ext>
            </a:extLst>
          </p:cNvPr>
          <p:cNvSpPr>
            <a:spLocks xmlns:a="http://schemas.openxmlformats.org/drawingml/2006/main" noGrp="1"/>
          </p:cNvSpPr>
          <p:nvPr/>
        </p:nvSpPr>
        <p:spPr>
          <a:xfrm xmlns:a="http://schemas.openxmlformats.org/drawingml/2006/main">
            <a:off x="1051560" y="5138928"/>
            <a:ext cx="1014984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lnSpc>
                <a:spcPct val="108000"/>
              </a:lnSpc>
              <a:spcBef>
                <a:spcPts val="0"/>
              </a:spcBef>
              <a:spcAft>
                <a:spcPts val="400"/>
              </a:spcAft>
              <a:buNone/>
            </a:pPr>
            <a:r>
              <a:rPr sz="1300" b="1" i="0">
                <a:solidFill>
                  <a:srgbClr val="C9821E"/>
                </a:solidFill>
                <a:latin typeface="Calibri"/>
                <a:ea typeface="Calibri"/>
                <a:cs typeface="Calibri"/>
              </a:rPr>
              <a:t>MD shares a real-world commitment with physicalism and resistance to reducing awareness with Advaita. These overlaps do not themselves support its distinctive claims.</a:t>
            </a:r>
          </a:p>
        </p:txBody>
      </p:sp>
      <p:sp>
        <p:nvSpPr>
          <p:cNvPr id="28" name="TextBox 27">
            <a:extLst xmlns:a="http://schemas.openxmlformats.org/drawingml/2006/main">
              <a:ext uri="{FF2B5EF4-FFF2-40B4-BE49-F238E27FC236}">
                <a16:creationId xmlns:a16="http://schemas.microsoft.com/office/drawing/2014/main" id="{2C167ED0-F93C-4D43-A7E6-19578A11B550}"/>
              </a:ext>
            </a:extLst>
          </p:cNvPr>
          <p:cNvSpPr>
            <a:spLocks xmlns:a="http://schemas.openxmlformats.org/drawingml/2006/main" noGrp="1"/>
          </p:cNvSpPr>
          <p:nvPr/>
        </p:nvSpPr>
        <p:spPr>
          <a:xfrm xmlns:a="http://schemas.openxmlformats.org/drawingml/2006/main">
            <a:off x="685800" y="6419088"/>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100" b="0" i="1">
                <a:solidFill>
                  <a:srgbClr val="5A6377"/>
                </a:solidFill>
                <a:latin typeface="Calibri"/>
                <a:ea typeface="Calibri"/>
                <a:cs typeface="Calibri"/>
              </a:rPr>
              <a:t>The views overlap at points; their ultimate commitments remain incompatible.</a:t>
            </a:r>
          </a:p>
        </p:txBody>
      </p:sp>
    </p:spTree>
    <p:extLst>
      <p:ext uri="{BB962C8B-B14F-4D97-AF65-F5344CB8AC3E}">
        <p14:creationId xmlns:p14="http://schemas.microsoft.com/office/powerpoint/2010/main" val="8112181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5B497409-68FB-4C5D-A7CD-C318650B83A3}"/>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Oval 2">
            <a:extLst xmlns:a="http://schemas.openxmlformats.org/drawingml/2006/main">
              <a:ext uri="{FF2B5EF4-FFF2-40B4-BE49-F238E27FC236}">
                <a16:creationId xmlns:a16="http://schemas.microsoft.com/office/drawing/2014/main" id="{2546BC6D-2397-4BCA-A7D0-BE48CEB51C65}"/>
              </a:ext>
            </a:extLst>
          </p:cNvPr>
          <p:cNvSpPr>
            <a:spLocks xmlns:a="http://schemas.openxmlformats.org/drawingml/2006/main" noGrp="1"/>
          </p:cNvSpPr>
          <p:nvPr/>
        </p:nvSpPr>
        <p:spPr>
          <a:xfrm xmlns:a="http://schemas.openxmlformats.org/drawingml/2006/main">
            <a:off x="654253" y="507949"/>
            <a:ext cx="483717" cy="483717"/>
          </a:xfrm>
          <a:prstGeom xmlns:a="http://schemas.openxmlformats.org/drawingml/2006/main" prst="ellipse">
            <a:avLst/>
          </a:prstGeom>
          <a:noFill xmlns:a="http://schemas.openxmlformats.org/drawingml/2006/main"/>
          <a:ln xmlns:a="http://schemas.openxmlformats.org/drawingml/2006/main" w="2336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Oval 3">
            <a:extLst xmlns:a="http://schemas.openxmlformats.org/drawingml/2006/main">
              <a:ext uri="{FF2B5EF4-FFF2-40B4-BE49-F238E27FC236}">
                <a16:creationId xmlns:a16="http://schemas.microsoft.com/office/drawing/2014/main" id="{C47331F2-997A-43A7-9E47-3A8042E16D9B}"/>
              </a:ext>
            </a:extLst>
          </p:cNvPr>
          <p:cNvSpPr>
            <a:spLocks xmlns:a="http://schemas.openxmlformats.org/drawingml/2006/main" noGrp="1"/>
          </p:cNvSpPr>
          <p:nvPr/>
        </p:nvSpPr>
        <p:spPr>
          <a:xfrm xmlns:a="http://schemas.openxmlformats.org/drawingml/2006/main">
            <a:off x="754151" y="607847"/>
            <a:ext cx="283921" cy="283921"/>
          </a:xfrm>
          <a:prstGeom xmlns:a="http://schemas.openxmlformats.org/drawingml/2006/main" prst="ellipse">
            <a:avLst/>
          </a:prstGeom>
          <a:noFill xmlns:a="http://schemas.openxmlformats.org/drawingml/2006/main"/>
          <a:ln xmlns:a="http://schemas.openxmlformats.org/drawingml/2006/main" w="20447">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Oval 4">
            <a:extLst xmlns:a="http://schemas.openxmlformats.org/drawingml/2006/main">
              <a:ext uri="{FF2B5EF4-FFF2-40B4-BE49-F238E27FC236}">
                <a16:creationId xmlns:a16="http://schemas.microsoft.com/office/drawing/2014/main" id="{34646965-BD87-46FF-9BA0-7071D16A9850}"/>
              </a:ext>
            </a:extLst>
          </p:cNvPr>
          <p:cNvSpPr>
            <a:spLocks xmlns:a="http://schemas.openxmlformats.org/drawingml/2006/main" noGrp="1"/>
          </p:cNvSpPr>
          <p:nvPr/>
        </p:nvSpPr>
        <p:spPr>
          <a:xfrm xmlns:a="http://schemas.openxmlformats.org/drawingml/2006/main">
            <a:off x="833018" y="686714"/>
            <a:ext cx="126187" cy="126187"/>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FD136BAC-EEFB-4DAE-B865-432DDB6956EE}"/>
              </a:ext>
            </a:extLst>
          </p:cNvPr>
          <p:cNvSpPr>
            <a:spLocks xmlns:a="http://schemas.openxmlformats.org/drawingml/2006/main" noGrp="1"/>
          </p:cNvSpPr>
          <p:nvPr/>
        </p:nvSpPr>
        <p:spPr>
          <a:xfrm xmlns:a="http://schemas.openxmlformats.org/drawingml/2006/main">
            <a:off x="1325880" y="457200"/>
            <a:ext cx="10424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200" b="1" i="0">
                <a:solidFill>
                  <a:srgbClr val="C9821E"/>
                </a:solidFill>
                <a:latin typeface="Calibri"/>
                <a:ea typeface="Calibri"/>
                <a:cs typeface="Calibri"/>
              </a:rPr>
              <a:t>CRITICAL REVIEW</a:t>
            </a:r>
          </a:p>
        </p:txBody>
      </p:sp>
      <p:sp>
        <p:nvSpPr>
          <p:cNvPr id="7" name="TextBox 6">
            <a:extLst xmlns:a="http://schemas.openxmlformats.org/drawingml/2006/main">
              <a:ext uri="{FF2B5EF4-FFF2-40B4-BE49-F238E27FC236}">
                <a16:creationId xmlns:a16="http://schemas.microsoft.com/office/drawing/2014/main" id="{A9FB6E27-681D-44EE-8E1A-9E08C2672D4D}"/>
              </a:ext>
            </a:extLst>
          </p:cNvPr>
          <p:cNvSpPr>
            <a:spLocks xmlns:a="http://schemas.openxmlformats.org/drawingml/2006/main" noGrp="1"/>
          </p:cNvSpPr>
          <p:nvPr/>
        </p:nvSpPr>
        <p:spPr>
          <a:xfrm xmlns:a="http://schemas.openxmlformats.org/drawingml/2006/main">
            <a:off x="1280160" y="676656"/>
            <a:ext cx="105156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3000" b="1" i="0">
                <a:solidFill>
                  <a:srgbClr val="1E2447"/>
                </a:solidFill>
                <a:latin typeface="Cambria"/>
                <a:ea typeface="Cambria"/>
                <a:cs typeface="Cambria"/>
              </a:rPr>
              <a:t>Strengths and Unresolved Claims</a:t>
            </a:r>
          </a:p>
        </p:txBody>
      </p:sp>
      <p:sp>
        <p:nvSpPr>
          <p:cNvPr id="8" name="Rounded Rectangle 7">
            <a:extLst xmlns:a="http://schemas.openxmlformats.org/drawingml/2006/main">
              <a:ext uri="{FF2B5EF4-FFF2-40B4-BE49-F238E27FC236}">
                <a16:creationId xmlns:a16="http://schemas.microsoft.com/office/drawing/2014/main" id="{73BCFF33-0D2C-46EE-876E-C322919943BC}"/>
              </a:ext>
            </a:extLst>
          </p:cNvPr>
          <p:cNvSpPr>
            <a:spLocks xmlns:a="http://schemas.openxmlformats.org/drawingml/2006/main" noGrp="1"/>
          </p:cNvSpPr>
          <p:nvPr/>
        </p:nvSpPr>
        <p:spPr>
          <a:xfrm xmlns:a="http://schemas.openxmlformats.org/drawingml/2006/main">
            <a:off x="685800" y="1828800"/>
            <a:ext cx="3547872" cy="3977639"/>
          </a:xfrm>
          <a:prstGeom xmlns:a="http://schemas.openxmlformats.org/drawingml/2006/main" prst="roundRect">
            <a:avLst>
              <a:gd name="adj" fmla="val 5000"/>
            </a:avLst>
          </a:prstGeom>
          <a:solidFill xmlns:a="http://schemas.openxmlformats.org/drawingml/2006/main">
            <a:srgbClr val="FAF1D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0C65B9B4-FF6A-440A-BAEF-21B0C160CFD5}"/>
              </a:ext>
            </a:extLst>
          </p:cNvPr>
          <p:cNvSpPr>
            <a:spLocks xmlns:a="http://schemas.openxmlformats.org/drawingml/2006/main" noGrp="1"/>
          </p:cNvSpPr>
          <p:nvPr/>
        </p:nvSpPr>
        <p:spPr>
          <a:xfrm xmlns:a="http://schemas.openxmlformats.org/drawingml/2006/main">
            <a:off x="905256" y="1993392"/>
            <a:ext cx="31089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95000"/>
              </a:lnSpc>
              <a:spcBef>
                <a:spcPts val="0"/>
              </a:spcBef>
              <a:spcAft>
                <a:spcPts val="400"/>
              </a:spcAft>
              <a:buNone/>
            </a:pPr>
            <a:r>
              <a:rPr sz="1500" b="1" i="0">
                <a:solidFill>
                  <a:srgbClr val="9A6414"/>
                </a:solidFill>
                <a:latin typeface="Cambria"/>
                <a:ea typeface="Cambria"/>
                <a:cs typeface="Cambria"/>
              </a:rPr>
              <a:t>Madhyasth Darshan</a:t>
            </a:r>
          </a:p>
        </p:txBody>
      </p:sp>
      <p:sp>
        <p:nvSpPr>
          <p:cNvPr id="10" name="TextBox 9">
            <a:extLst xmlns:a="http://schemas.openxmlformats.org/drawingml/2006/main">
              <a:ext uri="{FF2B5EF4-FFF2-40B4-BE49-F238E27FC236}">
                <a16:creationId xmlns:a16="http://schemas.microsoft.com/office/drawing/2014/main" id="{330DE4FE-6DB9-4878-9252-009B5F793ECB}"/>
              </a:ext>
            </a:extLst>
          </p:cNvPr>
          <p:cNvSpPr>
            <a:spLocks xmlns:a="http://schemas.openxmlformats.org/drawingml/2006/main" noGrp="1"/>
          </p:cNvSpPr>
          <p:nvPr/>
        </p:nvSpPr>
        <p:spPr>
          <a:xfrm xmlns:a="http://schemas.openxmlformats.org/drawingml/2006/main">
            <a:off x="905256" y="2697480"/>
            <a:ext cx="310896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150" b="1" i="0">
                <a:solidFill>
                  <a:srgbClr val="9A6414"/>
                </a:solidFill>
                <a:latin typeface="Calibri"/>
                <a:ea typeface="Calibri"/>
                <a:cs typeface="Calibri"/>
              </a:rPr>
              <a:t>Connects the knower’s understanding of coexistence with examining its aims and fulfilling relationships in conduct.</a:t>
            </a:r>
          </a:p>
        </p:txBody>
      </p:sp>
      <p:sp>
        <p:nvSpPr>
          <p:cNvPr id="11" name="TextBox 10">
            <a:extLst xmlns:a="http://schemas.openxmlformats.org/drawingml/2006/main">
              <a:ext uri="{FF2B5EF4-FFF2-40B4-BE49-F238E27FC236}">
                <a16:creationId xmlns:a16="http://schemas.microsoft.com/office/drawing/2014/main" id="{D4A0F09C-559E-443C-A89F-A78E19C15EEE}"/>
              </a:ext>
            </a:extLst>
          </p:cNvPr>
          <p:cNvSpPr>
            <a:spLocks xmlns:a="http://schemas.openxmlformats.org/drawingml/2006/main" noGrp="1"/>
          </p:cNvSpPr>
          <p:nvPr/>
        </p:nvSpPr>
        <p:spPr>
          <a:xfrm xmlns:a="http://schemas.openxmlformats.org/drawingml/2006/main">
            <a:off x="905256" y="4160520"/>
            <a:ext cx="310896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150" b="1" i="0">
                <a:solidFill>
                  <a:srgbClr val="C9821E"/>
                </a:solidFill>
                <a:latin typeface="Calibri"/>
                <a:ea typeface="Calibri"/>
                <a:cs typeface="Calibri"/>
              </a:rPr>
              <a:t>Atomic completion, post-death continuity, and body–jeevan coordination lack independent evidence that distinguishes the proposal from rivals.</a:t>
            </a:r>
          </a:p>
        </p:txBody>
      </p:sp>
      <p:sp>
        <p:nvSpPr>
          <p:cNvPr id="12" name="Rounded Rectangle 11">
            <a:extLst xmlns:a="http://schemas.openxmlformats.org/drawingml/2006/main">
              <a:ext uri="{FF2B5EF4-FFF2-40B4-BE49-F238E27FC236}">
                <a16:creationId xmlns:a16="http://schemas.microsoft.com/office/drawing/2014/main" id="{16489B64-6767-437F-BE25-64CEF6F0B5DE}"/>
              </a:ext>
            </a:extLst>
          </p:cNvPr>
          <p:cNvSpPr>
            <a:spLocks xmlns:a="http://schemas.openxmlformats.org/drawingml/2006/main" noGrp="1"/>
          </p:cNvSpPr>
          <p:nvPr/>
        </p:nvSpPr>
        <p:spPr>
          <a:xfrm xmlns:a="http://schemas.openxmlformats.org/drawingml/2006/main">
            <a:off x="4325112" y="1828800"/>
            <a:ext cx="3547872" cy="3977639"/>
          </a:xfrm>
          <a:prstGeom xmlns:a="http://schemas.openxmlformats.org/drawingml/2006/main" prst="roundRect">
            <a:avLst>
              <a:gd name="adj" fmla="val 5000"/>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61AF59A2-C0EF-41D6-8CCD-5A035E4B3270}"/>
              </a:ext>
            </a:extLst>
          </p:cNvPr>
          <p:cNvSpPr>
            <a:spLocks xmlns:a="http://schemas.openxmlformats.org/drawingml/2006/main" noGrp="1"/>
          </p:cNvSpPr>
          <p:nvPr/>
        </p:nvSpPr>
        <p:spPr>
          <a:xfrm xmlns:a="http://schemas.openxmlformats.org/drawingml/2006/main">
            <a:off x="4544568" y="1993392"/>
            <a:ext cx="31089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95000"/>
              </a:lnSpc>
              <a:spcBef>
                <a:spcPts val="0"/>
              </a:spcBef>
              <a:spcAft>
                <a:spcPts val="400"/>
              </a:spcAft>
              <a:buNone/>
            </a:pPr>
            <a:r>
              <a:rPr sz="1500" b="1" i="0">
                <a:solidFill>
                  <a:srgbClr val="1E2447"/>
                </a:solidFill>
                <a:latin typeface="Cambria"/>
                <a:ea typeface="Cambria"/>
                <a:cs typeface="Cambria"/>
              </a:rPr>
              <a:t>Science and physicalism</a:t>
            </a:r>
          </a:p>
        </p:txBody>
      </p:sp>
      <p:sp>
        <p:nvSpPr>
          <p:cNvPr id="14" name="TextBox 13">
            <a:extLst xmlns:a="http://schemas.openxmlformats.org/drawingml/2006/main">
              <a:ext uri="{FF2B5EF4-FFF2-40B4-BE49-F238E27FC236}">
                <a16:creationId xmlns:a16="http://schemas.microsoft.com/office/drawing/2014/main" id="{785EDD1C-59A4-4814-B6B8-ACA32D828DDB}"/>
              </a:ext>
            </a:extLst>
          </p:cNvPr>
          <p:cNvSpPr>
            <a:spLocks xmlns:a="http://schemas.openxmlformats.org/drawingml/2006/main" noGrp="1"/>
          </p:cNvSpPr>
          <p:nvPr/>
        </p:nvSpPr>
        <p:spPr>
          <a:xfrm xmlns:a="http://schemas.openxmlformats.org/drawingml/2006/main">
            <a:off x="4544568" y="2697480"/>
            <a:ext cx="310896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150" b="1" i="0">
                <a:solidFill>
                  <a:srgbClr val="1E2447"/>
                </a:solidFill>
                <a:latin typeface="Calibri"/>
                <a:ea typeface="Calibri"/>
                <a:cs typeface="Calibri"/>
              </a:rPr>
              <a:t>Best-supported account of brain–mind dependence; precise, cumulative public methods.</a:t>
            </a:r>
          </a:p>
        </p:txBody>
      </p:sp>
      <p:sp>
        <p:nvSpPr>
          <p:cNvPr id="15" name="TextBox 14">
            <a:extLst xmlns:a="http://schemas.openxmlformats.org/drawingml/2006/main">
              <a:ext uri="{FF2B5EF4-FFF2-40B4-BE49-F238E27FC236}">
                <a16:creationId xmlns:a16="http://schemas.microsoft.com/office/drawing/2014/main" id="{7A8A7F1A-A804-46B1-9CF5-8F7ACF4193BE}"/>
              </a:ext>
            </a:extLst>
          </p:cNvPr>
          <p:cNvSpPr>
            <a:spLocks xmlns:a="http://schemas.openxmlformats.org/drawingml/2006/main" noGrp="1"/>
          </p:cNvSpPr>
          <p:nvPr/>
        </p:nvSpPr>
        <p:spPr>
          <a:xfrm xmlns:a="http://schemas.openxmlformats.org/drawingml/2006/main">
            <a:off x="4544568" y="4160520"/>
            <a:ext cx="310896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150" b="1" i="0">
                <a:solidFill>
                  <a:srgbClr val="C9821E"/>
                </a:solidFill>
                <a:latin typeface="Calibri"/>
                <a:ea typeface="Calibri"/>
                <a:cs typeface="Calibri"/>
              </a:rPr>
              <a:t>Whether neural explanation exhausts experience remains disputed. Physicalism need not reduce every psychological or social explanation to physics.</a:t>
            </a:r>
          </a:p>
        </p:txBody>
      </p:sp>
      <p:sp>
        <p:nvSpPr>
          <p:cNvPr id="16" name="Rounded Rectangle 15">
            <a:extLst xmlns:a="http://schemas.openxmlformats.org/drawingml/2006/main">
              <a:ext uri="{FF2B5EF4-FFF2-40B4-BE49-F238E27FC236}">
                <a16:creationId xmlns:a16="http://schemas.microsoft.com/office/drawing/2014/main" id="{E0DCB99D-10C8-44C7-8E49-96A2F20DCE03}"/>
              </a:ext>
            </a:extLst>
          </p:cNvPr>
          <p:cNvSpPr>
            <a:spLocks xmlns:a="http://schemas.openxmlformats.org/drawingml/2006/main" noGrp="1"/>
          </p:cNvSpPr>
          <p:nvPr/>
        </p:nvSpPr>
        <p:spPr>
          <a:xfrm xmlns:a="http://schemas.openxmlformats.org/drawingml/2006/main">
            <a:off x="7964424" y="1828800"/>
            <a:ext cx="3547872" cy="3977639"/>
          </a:xfrm>
          <a:prstGeom xmlns:a="http://schemas.openxmlformats.org/drawingml/2006/main" prst="roundRect">
            <a:avLst>
              <a:gd name="adj" fmla="val 5000"/>
            </a:avLst>
          </a:prstGeom>
          <a:solidFill xmlns:a="http://schemas.openxmlformats.org/drawingml/2006/main">
            <a:srgbClr val="EEF1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3380E8B1-4440-4556-AE99-8B359CF9BE02}"/>
              </a:ext>
            </a:extLst>
          </p:cNvPr>
          <p:cNvSpPr>
            <a:spLocks xmlns:a="http://schemas.openxmlformats.org/drawingml/2006/main" noGrp="1"/>
          </p:cNvSpPr>
          <p:nvPr/>
        </p:nvSpPr>
        <p:spPr>
          <a:xfrm xmlns:a="http://schemas.openxmlformats.org/drawingml/2006/main">
            <a:off x="8183880" y="1993392"/>
            <a:ext cx="31089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95000"/>
              </a:lnSpc>
              <a:spcBef>
                <a:spcPts val="0"/>
              </a:spcBef>
              <a:spcAft>
                <a:spcPts val="400"/>
              </a:spcAft>
              <a:buNone/>
            </a:pPr>
            <a:r>
              <a:rPr sz="1500" b="1" i="0">
                <a:solidFill>
                  <a:srgbClr val="1E2447"/>
                </a:solidFill>
                <a:latin typeface="Cambria"/>
                <a:ea typeface="Cambria"/>
                <a:cs typeface="Cambria"/>
              </a:rPr>
              <a:t>Advaita Vedanta</a:t>
            </a:r>
          </a:p>
        </p:txBody>
      </p:sp>
      <p:sp>
        <p:nvSpPr>
          <p:cNvPr id="18" name="TextBox 17">
            <a:extLst xmlns:a="http://schemas.openxmlformats.org/drawingml/2006/main">
              <a:ext uri="{FF2B5EF4-FFF2-40B4-BE49-F238E27FC236}">
                <a16:creationId xmlns:a16="http://schemas.microsoft.com/office/drawing/2014/main" id="{303CA3E0-94AC-4654-BCD7-58523C6C0200}"/>
              </a:ext>
            </a:extLst>
          </p:cNvPr>
          <p:cNvSpPr>
            <a:spLocks xmlns:a="http://schemas.openxmlformats.org/drawingml/2006/main" noGrp="1"/>
          </p:cNvSpPr>
          <p:nvPr/>
        </p:nvSpPr>
        <p:spPr>
          <a:xfrm xmlns:a="http://schemas.openxmlformats.org/drawingml/2006/main">
            <a:off x="8183880" y="2697480"/>
            <a:ext cx="310896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150" b="1" i="0">
                <a:solidFill>
                  <a:srgbClr val="1E2447"/>
                </a:solidFill>
                <a:latin typeface="Calibri"/>
                <a:ea typeface="Calibri"/>
                <a:cs typeface="Calibri"/>
              </a:rPr>
              <a:t>Powerful analysis of witness and content; mature discipline of inquiry, ethics, and contemplative practice.</a:t>
            </a:r>
          </a:p>
        </p:txBody>
      </p:sp>
      <p:sp>
        <p:nvSpPr>
          <p:cNvPr id="19" name="TextBox 18">
            <a:extLst xmlns:a="http://schemas.openxmlformats.org/drawingml/2006/main">
              <a:ext uri="{FF2B5EF4-FFF2-40B4-BE49-F238E27FC236}">
                <a16:creationId xmlns:a16="http://schemas.microsoft.com/office/drawing/2014/main" id="{30D791B2-C92E-4D23-8959-5A16D0DC1AC2}"/>
              </a:ext>
            </a:extLst>
          </p:cNvPr>
          <p:cNvSpPr>
            <a:spLocks xmlns:a="http://schemas.openxmlformats.org/drawingml/2006/main" noGrp="1"/>
          </p:cNvSpPr>
          <p:nvPr/>
        </p:nvSpPr>
        <p:spPr>
          <a:xfrm xmlns:a="http://schemas.openxmlformats.org/drawingml/2006/main">
            <a:off x="8183880" y="4160520"/>
            <a:ext cx="310896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150" b="1" i="0">
                <a:solidFill>
                  <a:srgbClr val="C9821E"/>
                </a:solidFill>
                <a:latin typeface="Calibri"/>
                <a:ea typeface="Calibri"/>
                <a:cs typeface="Calibri"/>
              </a:rPr>
              <a:t>Introspection does not by itself establish Brahman or nonduality; empirical plurality and suffering must not be rhetorically erased.</a:t>
            </a:r>
          </a:p>
        </p:txBody>
      </p:sp>
      <p:sp>
        <p:nvSpPr>
          <p:cNvPr id="20" name="TextBox 19">
            <a:extLst xmlns:a="http://schemas.openxmlformats.org/drawingml/2006/main">
              <a:ext uri="{FF2B5EF4-FFF2-40B4-BE49-F238E27FC236}">
                <a16:creationId xmlns:a16="http://schemas.microsoft.com/office/drawing/2014/main" id="{644B80B2-FB51-4396-80CF-2D4F0C53DFF1}"/>
              </a:ext>
            </a:extLst>
          </p:cNvPr>
          <p:cNvSpPr>
            <a:spLocks xmlns:a="http://schemas.openxmlformats.org/drawingml/2006/main" noGrp="1"/>
          </p:cNvSpPr>
          <p:nvPr/>
        </p:nvSpPr>
        <p:spPr>
          <a:xfrm xmlns:a="http://schemas.openxmlformats.org/drawingml/2006/main">
            <a:off x="685800" y="6419088"/>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100" b="0" i="1">
                <a:solidFill>
                  <a:srgbClr val="5A6377"/>
                </a:solidFill>
                <a:latin typeface="Calibri"/>
                <a:ea typeface="Calibri"/>
                <a:cs typeface="Calibri"/>
              </a:rPr>
              <a:t>No view wins by identifying another’s gap; each must support its own positive inference.</a:t>
            </a:r>
          </a:p>
        </p:txBody>
      </p:sp>
    </p:spTree>
    <p:extLst>
      <p:ext uri="{BB962C8B-B14F-4D97-AF65-F5344CB8AC3E}">
        <p14:creationId xmlns:p14="http://schemas.microsoft.com/office/powerpoint/2010/main" val="1831190036"/>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1F3E5C8-0154-4DC2-AEA4-4DCCDD0392C0}"/>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Oval 2">
            <a:extLst xmlns:a="http://schemas.openxmlformats.org/drawingml/2006/main">
              <a:ext uri="{FF2B5EF4-FFF2-40B4-BE49-F238E27FC236}">
                <a16:creationId xmlns:a16="http://schemas.microsoft.com/office/drawing/2014/main" id="{5DCB7A04-90D8-4BBE-9AD5-F4B0435F7144}"/>
              </a:ext>
            </a:extLst>
          </p:cNvPr>
          <p:cNvSpPr>
            <a:spLocks xmlns:a="http://schemas.openxmlformats.org/drawingml/2006/main" noGrp="1"/>
          </p:cNvSpPr>
          <p:nvPr/>
        </p:nvSpPr>
        <p:spPr>
          <a:xfrm xmlns:a="http://schemas.openxmlformats.org/drawingml/2006/main">
            <a:off x="654253" y="507949"/>
            <a:ext cx="483717" cy="483717"/>
          </a:xfrm>
          <a:prstGeom xmlns:a="http://schemas.openxmlformats.org/drawingml/2006/main" prst="ellipse">
            <a:avLst/>
          </a:prstGeom>
          <a:noFill xmlns:a="http://schemas.openxmlformats.org/drawingml/2006/main"/>
          <a:ln xmlns:a="http://schemas.openxmlformats.org/drawingml/2006/main" w="23368">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Oval 3">
            <a:extLst xmlns:a="http://schemas.openxmlformats.org/drawingml/2006/main">
              <a:ext uri="{FF2B5EF4-FFF2-40B4-BE49-F238E27FC236}">
                <a16:creationId xmlns:a16="http://schemas.microsoft.com/office/drawing/2014/main" id="{88C730EF-F06E-4AC2-AA8C-2BE26A0BAE2B}"/>
              </a:ext>
            </a:extLst>
          </p:cNvPr>
          <p:cNvSpPr>
            <a:spLocks xmlns:a="http://schemas.openxmlformats.org/drawingml/2006/main" noGrp="1"/>
          </p:cNvSpPr>
          <p:nvPr/>
        </p:nvSpPr>
        <p:spPr>
          <a:xfrm xmlns:a="http://schemas.openxmlformats.org/drawingml/2006/main">
            <a:off x="754151" y="607847"/>
            <a:ext cx="283921" cy="283921"/>
          </a:xfrm>
          <a:prstGeom xmlns:a="http://schemas.openxmlformats.org/drawingml/2006/main" prst="ellipse">
            <a:avLst/>
          </a:prstGeom>
          <a:noFill xmlns:a="http://schemas.openxmlformats.org/drawingml/2006/main"/>
          <a:ln xmlns:a="http://schemas.openxmlformats.org/drawingml/2006/main" w="20447">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Oval 4">
            <a:extLst xmlns:a="http://schemas.openxmlformats.org/drawingml/2006/main">
              <a:ext uri="{FF2B5EF4-FFF2-40B4-BE49-F238E27FC236}">
                <a16:creationId xmlns:a16="http://schemas.microsoft.com/office/drawing/2014/main" id="{01051BD0-EC5A-40F5-8A17-DD8E5EA58C31}"/>
              </a:ext>
            </a:extLst>
          </p:cNvPr>
          <p:cNvSpPr>
            <a:spLocks xmlns:a="http://schemas.openxmlformats.org/drawingml/2006/main" noGrp="1"/>
          </p:cNvSpPr>
          <p:nvPr/>
        </p:nvSpPr>
        <p:spPr>
          <a:xfrm xmlns:a="http://schemas.openxmlformats.org/drawingml/2006/main">
            <a:off x="833018" y="686714"/>
            <a:ext cx="126187" cy="126187"/>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A2C996CF-CA48-4048-A3BB-0455ACC9750B}"/>
              </a:ext>
            </a:extLst>
          </p:cNvPr>
          <p:cNvSpPr>
            <a:spLocks xmlns:a="http://schemas.openxmlformats.org/drawingml/2006/main" noGrp="1"/>
          </p:cNvSpPr>
          <p:nvPr/>
        </p:nvSpPr>
        <p:spPr>
          <a:xfrm xmlns:a="http://schemas.openxmlformats.org/drawingml/2006/main">
            <a:off x="1325880" y="457200"/>
            <a:ext cx="10424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200" b="1" i="0">
                <a:solidFill>
                  <a:srgbClr val="C9821E"/>
                </a:solidFill>
                <a:latin typeface="Calibri"/>
                <a:ea typeface="Calibri"/>
                <a:cs typeface="Calibri"/>
              </a:rPr>
              <a:t>EVIDENCE AND OPEN QUESTIONS</a:t>
            </a:r>
          </a:p>
        </p:txBody>
      </p:sp>
      <p:sp>
        <p:nvSpPr>
          <p:cNvPr id="7" name="TextBox 6">
            <a:extLst xmlns:a="http://schemas.openxmlformats.org/drawingml/2006/main">
              <a:ext uri="{FF2B5EF4-FFF2-40B4-BE49-F238E27FC236}">
                <a16:creationId xmlns:a16="http://schemas.microsoft.com/office/drawing/2014/main" id="{899AD1B7-ECF0-4BE6-ABEB-C78E1FA6E249}"/>
              </a:ext>
            </a:extLst>
          </p:cNvPr>
          <p:cNvSpPr>
            <a:spLocks xmlns:a="http://schemas.openxmlformats.org/drawingml/2006/main" noGrp="1"/>
          </p:cNvSpPr>
          <p:nvPr/>
        </p:nvSpPr>
        <p:spPr>
          <a:xfrm xmlns:a="http://schemas.openxmlformats.org/drawingml/2006/main">
            <a:off x="1280160" y="676656"/>
            <a:ext cx="105156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3000" b="1" i="0">
                <a:solidFill>
                  <a:srgbClr val="1E2447"/>
                </a:solidFill>
                <a:latin typeface="Cambria"/>
                <a:ea typeface="Cambria"/>
                <a:cs typeface="Cambria"/>
              </a:rPr>
              <a:t>What Evidence Could Change the Balance?</a:t>
            </a:r>
          </a:p>
        </p:txBody>
      </p:sp>
      <p:sp>
        <p:nvSpPr>
          <p:cNvPr id="8" name="TextBox 7">
            <a:extLst xmlns:a="http://schemas.openxmlformats.org/drawingml/2006/main">
              <a:ext uri="{FF2B5EF4-FFF2-40B4-BE49-F238E27FC236}">
                <a16:creationId xmlns:a16="http://schemas.microsoft.com/office/drawing/2014/main" id="{DC34C9BE-1C97-497B-A327-05B5A7FDF65F}"/>
              </a:ext>
            </a:extLst>
          </p:cNvPr>
          <p:cNvSpPr>
            <a:spLocks xmlns:a="http://schemas.openxmlformats.org/drawingml/2006/main" noGrp="1"/>
          </p:cNvSpPr>
          <p:nvPr/>
        </p:nvSpPr>
        <p:spPr>
          <a:xfrm xmlns:a="http://schemas.openxmlformats.org/drawingml/2006/main">
            <a:off x="685800" y="1783080"/>
            <a:ext cx="1078992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15000"/>
              </a:lnSpc>
              <a:spcBef>
                <a:spcPts val="0"/>
              </a:spcBef>
              <a:spcAft>
                <a:spcPts val="400"/>
              </a:spcAft>
              <a:buNone/>
            </a:pPr>
            <a:r>
              <a:rPr sz="1450" b="0" i="0">
                <a:solidFill>
                  <a:srgbClr val="5A6377"/>
                </a:solidFill>
                <a:latin typeface="Calibri"/>
                <a:ea typeface="Calibri"/>
                <a:cs typeface="Calibri"/>
              </a:rPr>
              <a:t>The three views make claims at different levels. A fair test must target the claim it can actually bear on.</a:t>
            </a:r>
          </a:p>
        </p:txBody>
      </p:sp>
      <p:sp>
        <p:nvSpPr>
          <p:cNvPr id="9" name="TextBox 8">
            <a:extLst xmlns:a="http://schemas.openxmlformats.org/drawingml/2006/main">
              <a:ext uri="{FF2B5EF4-FFF2-40B4-BE49-F238E27FC236}">
                <a16:creationId xmlns:a16="http://schemas.microsoft.com/office/drawing/2014/main" id="{0D4B7824-97A8-4D63-905D-EE5EF2FF0C7E}"/>
              </a:ext>
            </a:extLst>
          </p:cNvPr>
          <p:cNvSpPr>
            <a:spLocks xmlns:a="http://schemas.openxmlformats.org/drawingml/2006/main" noGrp="1"/>
          </p:cNvSpPr>
          <p:nvPr/>
        </p:nvSpPr>
        <p:spPr>
          <a:xfrm xmlns:a="http://schemas.openxmlformats.org/drawingml/2006/main">
            <a:off x="685800" y="3566160"/>
            <a:ext cx="10789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400" b="1" i="0">
                <a:solidFill>
                  <a:srgbClr val="1E2447"/>
                </a:solidFill>
                <a:latin typeface="Calibri"/>
                <a:ea typeface="Calibri"/>
                <a:cs typeface="Calibri"/>
              </a:rPr>
              <a:t>What would actually move the debate:</a:t>
            </a:r>
          </a:p>
        </p:txBody>
      </p:sp>
      <p:sp>
        <p:nvSpPr>
          <p:cNvPr id="10" name="Oval 9">
            <a:extLst xmlns:a="http://schemas.openxmlformats.org/drawingml/2006/main">
              <a:ext uri="{FF2B5EF4-FFF2-40B4-BE49-F238E27FC236}">
                <a16:creationId xmlns:a16="http://schemas.microsoft.com/office/drawing/2014/main" id="{D9D9E888-B255-4324-99FF-DBC43564E3CA}"/>
              </a:ext>
            </a:extLst>
          </p:cNvPr>
          <p:cNvSpPr>
            <a:spLocks xmlns:a="http://schemas.openxmlformats.org/drawingml/2006/main" noGrp="1"/>
          </p:cNvSpPr>
          <p:nvPr/>
        </p:nvSpPr>
        <p:spPr>
          <a:xfrm xmlns:a="http://schemas.openxmlformats.org/drawingml/2006/main">
            <a:off x="841248" y="4123944"/>
            <a:ext cx="146304" cy="146304"/>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6D01EDE9-BCFA-45A7-BD9D-4D519E77D565}"/>
              </a:ext>
            </a:extLst>
          </p:cNvPr>
          <p:cNvSpPr>
            <a:spLocks xmlns:a="http://schemas.openxmlformats.org/drawingml/2006/main" noGrp="1"/>
          </p:cNvSpPr>
          <p:nvPr/>
        </p:nvSpPr>
        <p:spPr>
          <a:xfrm xmlns:a="http://schemas.openxmlformats.org/drawingml/2006/main">
            <a:off x="1188720" y="4023360"/>
            <a:ext cx="4480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300" b="1" i="0">
                <a:solidFill>
                  <a:srgbClr val="1E2447"/>
                </a:solidFill>
                <a:latin typeface="Cambria"/>
                <a:ea typeface="Cambria"/>
                <a:cs typeface="Cambria"/>
              </a:rPr>
              <a:t>Neural sufficiency</a:t>
            </a:r>
          </a:p>
        </p:txBody>
      </p:sp>
      <p:sp>
        <p:nvSpPr>
          <p:cNvPr id="12" name="TextBox 11">
            <a:extLst xmlns:a="http://schemas.openxmlformats.org/drawingml/2006/main">
              <a:ext uri="{FF2B5EF4-FFF2-40B4-BE49-F238E27FC236}">
                <a16:creationId xmlns:a16="http://schemas.microsoft.com/office/drawing/2014/main" id="{2F52F37F-3E79-430D-A81A-A87071B2C6CE}"/>
              </a:ext>
            </a:extLst>
          </p:cNvPr>
          <p:cNvSpPr>
            <a:spLocks xmlns:a="http://schemas.openxmlformats.org/drawingml/2006/main" noGrp="1"/>
          </p:cNvSpPr>
          <p:nvPr/>
        </p:nvSpPr>
        <p:spPr>
          <a:xfrm xmlns:a="http://schemas.openxmlformats.org/drawingml/2006/main">
            <a:off x="5669280" y="4041648"/>
            <a:ext cx="5760720" cy="5994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200" b="0" i="0">
                <a:solidFill>
                  <a:srgbClr val="5A6377"/>
                </a:solidFill>
                <a:latin typeface="Calibri"/>
                <a:ea typeface="Calibri"/>
                <a:cs typeface="Calibri"/>
              </a:rPr>
              <a:t>If neural models explain experience, learning, and agency, the need for jeevan weakens. Predictive success alone does not prove identity.</a:t>
            </a:r>
          </a:p>
        </p:txBody>
      </p:sp>
      <p:sp>
        <p:nvSpPr>
          <p:cNvPr id="13" name="Oval 12">
            <a:extLst xmlns:a="http://schemas.openxmlformats.org/drawingml/2006/main">
              <a:ext uri="{FF2B5EF4-FFF2-40B4-BE49-F238E27FC236}">
                <a16:creationId xmlns:a16="http://schemas.microsoft.com/office/drawing/2014/main" id="{45E6E29B-0F8F-4CA0-B3A1-C921946A8276}"/>
              </a:ext>
            </a:extLst>
          </p:cNvPr>
          <p:cNvSpPr>
            <a:spLocks xmlns:a="http://schemas.openxmlformats.org/drawingml/2006/main" noGrp="1"/>
          </p:cNvSpPr>
          <p:nvPr/>
        </p:nvSpPr>
        <p:spPr>
          <a:xfrm xmlns:a="http://schemas.openxmlformats.org/drawingml/2006/main">
            <a:off x="841248" y="4626864"/>
            <a:ext cx="146304" cy="146304"/>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BB0B3205-4432-46AD-BEE7-C1820E5C1E9D}"/>
              </a:ext>
            </a:extLst>
          </p:cNvPr>
          <p:cNvSpPr>
            <a:spLocks xmlns:a="http://schemas.openxmlformats.org/drawingml/2006/main" noGrp="1"/>
          </p:cNvSpPr>
          <p:nvPr/>
        </p:nvSpPr>
        <p:spPr>
          <a:xfrm xmlns:a="http://schemas.openxmlformats.org/drawingml/2006/main">
            <a:off x="1188720" y="4526280"/>
            <a:ext cx="4480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300" b="1" i="0">
                <a:solidFill>
                  <a:srgbClr val="1E2447"/>
                </a:solidFill>
                <a:latin typeface="Cambria"/>
                <a:ea typeface="Cambria"/>
                <a:cs typeface="Cambria"/>
              </a:rPr>
              <a:t>Distinct jeevan effects</a:t>
            </a:r>
          </a:p>
        </p:txBody>
      </p:sp>
      <p:sp>
        <p:nvSpPr>
          <p:cNvPr id="15" name="TextBox 14">
            <a:extLst xmlns:a="http://schemas.openxmlformats.org/drawingml/2006/main">
              <a:ext uri="{FF2B5EF4-FFF2-40B4-BE49-F238E27FC236}">
                <a16:creationId xmlns:a16="http://schemas.microsoft.com/office/drawing/2014/main" id="{BDEC5CE2-AD4B-4194-B8B8-3002D656A739}"/>
              </a:ext>
            </a:extLst>
          </p:cNvPr>
          <p:cNvSpPr>
            <a:spLocks xmlns:a="http://schemas.openxmlformats.org/drawingml/2006/main" noGrp="1"/>
          </p:cNvSpPr>
          <p:nvPr/>
        </p:nvSpPr>
        <p:spPr>
          <a:xfrm xmlns:a="http://schemas.openxmlformats.org/drawingml/2006/main">
            <a:off x="5669280" y="4544568"/>
            <a:ext cx="5760720" cy="4165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200" b="0" i="0">
                <a:solidFill>
                  <a:srgbClr val="5A6377"/>
                </a:solidFill>
                <a:latin typeface="Calibri"/>
                <a:ea typeface="Calibri"/>
                <a:cs typeface="Calibri"/>
              </a:rPr>
              <a:t>Reliable effects that require the body–jeevan model and resist neural or psychological alternatives would strengthen MD. Mere correlation with practice would not.</a:t>
            </a:r>
          </a:p>
        </p:txBody>
      </p:sp>
      <p:sp>
        <p:nvSpPr>
          <p:cNvPr id="16" name="Oval 15">
            <a:extLst xmlns:a="http://schemas.openxmlformats.org/drawingml/2006/main">
              <a:ext uri="{FF2B5EF4-FFF2-40B4-BE49-F238E27FC236}">
                <a16:creationId xmlns:a16="http://schemas.microsoft.com/office/drawing/2014/main" id="{83904A9B-4998-42B8-898E-4B0CF16F8EA6}"/>
              </a:ext>
            </a:extLst>
          </p:cNvPr>
          <p:cNvSpPr>
            <a:spLocks xmlns:a="http://schemas.openxmlformats.org/drawingml/2006/main" noGrp="1"/>
          </p:cNvSpPr>
          <p:nvPr/>
        </p:nvSpPr>
        <p:spPr>
          <a:xfrm xmlns:a="http://schemas.openxmlformats.org/drawingml/2006/main">
            <a:off x="841248" y="5129784"/>
            <a:ext cx="146304" cy="146304"/>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CA8EF87C-1590-4A35-B9DF-368B02E5C8BC}"/>
              </a:ext>
            </a:extLst>
          </p:cNvPr>
          <p:cNvSpPr>
            <a:spLocks xmlns:a="http://schemas.openxmlformats.org/drawingml/2006/main" noGrp="1"/>
          </p:cNvSpPr>
          <p:nvPr/>
        </p:nvSpPr>
        <p:spPr>
          <a:xfrm xmlns:a="http://schemas.openxmlformats.org/drawingml/2006/main">
            <a:off x="1188720" y="5029200"/>
            <a:ext cx="4480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300" b="1" i="0">
                <a:solidFill>
                  <a:srgbClr val="1E2447"/>
                </a:solidFill>
                <a:latin typeface="Cambria"/>
                <a:ea typeface="Cambria"/>
                <a:cs typeface="Cambria"/>
              </a:rPr>
              <a:t>Advaita’s inference</a:t>
            </a:r>
          </a:p>
        </p:txBody>
      </p:sp>
      <p:sp>
        <p:nvSpPr>
          <p:cNvPr id="18" name="TextBox 17">
            <a:extLst xmlns:a="http://schemas.openxmlformats.org/drawingml/2006/main">
              <a:ext uri="{FF2B5EF4-FFF2-40B4-BE49-F238E27FC236}">
                <a16:creationId xmlns:a16="http://schemas.microsoft.com/office/drawing/2014/main" id="{1FB8DC88-F0DD-4784-967B-8D27B21DE5BA}"/>
              </a:ext>
            </a:extLst>
          </p:cNvPr>
          <p:cNvSpPr>
            <a:spLocks xmlns:a="http://schemas.openxmlformats.org/drawingml/2006/main" noGrp="1"/>
          </p:cNvSpPr>
          <p:nvPr/>
        </p:nvSpPr>
        <p:spPr>
          <a:xfrm xmlns:a="http://schemas.openxmlformats.org/drawingml/2006/main">
            <a:off x="5669280" y="5047488"/>
            <a:ext cx="5760720" cy="4165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200" b="0" i="0">
                <a:solidFill>
                  <a:srgbClr val="5A6377"/>
                </a:solidFill>
                <a:latin typeface="Calibri"/>
                <a:ea typeface="Calibri"/>
                <a:cs typeface="Calibri"/>
              </a:rPr>
              <a:t>Contemplative reports can test reproducibility and transformation; establishing nondual Brahman additionally requires philosophical warrant.</a:t>
            </a:r>
          </a:p>
        </p:txBody>
      </p:sp>
      <p:sp>
        <p:nvSpPr>
          <p:cNvPr id="19" name="Rounded Rectangle 18">
            <a:extLst xmlns:a="http://schemas.openxmlformats.org/drawingml/2006/main">
              <a:ext uri="{FF2B5EF4-FFF2-40B4-BE49-F238E27FC236}">
                <a16:creationId xmlns:a16="http://schemas.microsoft.com/office/drawing/2014/main" id="{F0951DF4-D8DC-425B-AB1F-8F8517FB331B}"/>
              </a:ext>
            </a:extLst>
          </p:cNvPr>
          <p:cNvSpPr>
            <a:spLocks xmlns:a="http://schemas.openxmlformats.org/drawingml/2006/main" noGrp="1"/>
          </p:cNvSpPr>
          <p:nvPr/>
        </p:nvSpPr>
        <p:spPr>
          <a:xfrm xmlns:a="http://schemas.openxmlformats.org/drawingml/2006/main">
            <a:off x="685800" y="5623560"/>
            <a:ext cx="10817352" cy="640080"/>
          </a:xfrm>
          <a:prstGeom xmlns:a="http://schemas.openxmlformats.org/drawingml/2006/main" prst="roundRect">
            <a:avLst>
              <a:gd name="adj" fmla="val 12000"/>
            </a:avLst>
          </a:prstGeom>
          <a:solidFill xmlns:a="http://schemas.openxmlformats.org/drawingml/2006/main">
            <a:srgbClr val="1E244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1AFB38B0-66DE-4AB4-80C8-AD6B0E53A9AC}"/>
              </a:ext>
            </a:extLst>
          </p:cNvPr>
          <p:cNvSpPr>
            <a:spLocks xmlns:a="http://schemas.openxmlformats.org/drawingml/2006/main" noGrp="1"/>
          </p:cNvSpPr>
          <p:nvPr/>
        </p:nvSpPr>
        <p:spPr>
          <a:xfrm xmlns:a="http://schemas.openxmlformats.org/drawingml/2006/main">
            <a:off x="1005840" y="5623560"/>
            <a:ext cx="10177272"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lnSpc>
                <a:spcPct val="105000"/>
              </a:lnSpc>
              <a:spcBef>
                <a:spcPts val="0"/>
              </a:spcBef>
              <a:spcAft>
                <a:spcPts val="400"/>
              </a:spcAft>
              <a:buNone/>
            </a:pPr>
            <a:r>
              <a:rPr sz="1450" b="1" i="0">
                <a:solidFill>
                  <a:srgbClr val="FFFFFF"/>
                </a:solidFill>
                <a:latin typeface="Calibri"/>
                <a:ea typeface="Calibri"/>
                <a:cs typeface="Calibri"/>
              </a:rPr>
              <a:t>Each result should update only the claim it addresses. No single anomaly or successful mechanism settles every metaphysical question.</a:t>
            </a:r>
          </a:p>
        </p:txBody>
      </p:sp>
      <p:sp>
        <p:nvSpPr>
          <p:cNvPr id="21" name="TextBox 20">
            <a:extLst xmlns:a="http://schemas.openxmlformats.org/drawingml/2006/main">
              <a:ext uri="{FF2B5EF4-FFF2-40B4-BE49-F238E27FC236}">
                <a16:creationId xmlns:a16="http://schemas.microsoft.com/office/drawing/2014/main" id="{924576F0-761B-4E47-992C-16E8E5C1BFCA}"/>
              </a:ext>
            </a:extLst>
          </p:cNvPr>
          <p:cNvSpPr>
            <a:spLocks xmlns:a="http://schemas.openxmlformats.org/drawingml/2006/main" noGrp="1"/>
          </p:cNvSpPr>
          <p:nvPr/>
        </p:nvSpPr>
        <p:spPr>
          <a:xfrm xmlns:a="http://schemas.openxmlformats.org/drawingml/2006/main">
            <a:off x="685800" y="6419088"/>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100" b="0" i="1">
                <a:solidFill>
                  <a:srgbClr val="5A6377"/>
                </a:solidFill>
                <a:latin typeface="Calibri"/>
                <a:ea typeface="Calibri"/>
                <a:cs typeface="Calibri"/>
              </a:rPr>
              <a:t>Study §5.4</a:t>
            </a:r>
          </a:p>
        </p:txBody>
      </p:sp>
    </p:spTree>
    <p:extLst>
      <p:ext uri="{BB962C8B-B14F-4D97-AF65-F5344CB8AC3E}">
        <p14:creationId xmlns:p14="http://schemas.microsoft.com/office/powerpoint/2010/main" val="153043261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D4B5B789-593E-4D73-AAA1-92BEC19154CE}"/>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1E244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Oval 2">
            <a:extLst xmlns:a="http://schemas.openxmlformats.org/drawingml/2006/main">
              <a:ext uri="{FF2B5EF4-FFF2-40B4-BE49-F238E27FC236}">
                <a16:creationId xmlns:a16="http://schemas.microsoft.com/office/drawing/2014/main" id="{C8849384-632A-44DF-B5C1-17EB4ABCC5F0}"/>
              </a:ext>
            </a:extLst>
          </p:cNvPr>
          <p:cNvSpPr>
            <a:spLocks xmlns:a="http://schemas.openxmlformats.org/drawingml/2006/main" noGrp="1"/>
          </p:cNvSpPr>
          <p:nvPr/>
        </p:nvSpPr>
        <p:spPr>
          <a:xfrm xmlns:a="http://schemas.openxmlformats.org/drawingml/2006/main">
            <a:off x="8412480" y="3566160"/>
            <a:ext cx="3291840" cy="3291840"/>
          </a:xfrm>
          <a:prstGeom xmlns:a="http://schemas.openxmlformats.org/drawingml/2006/main" prst="ellipse">
            <a:avLst/>
          </a:prstGeom>
          <a:noFill xmlns:a="http://schemas.openxmlformats.org/drawingml/2006/main"/>
          <a:ln xmlns:a="http://schemas.openxmlformats.org/drawingml/2006/main" w="15240">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Oval 3">
            <a:extLst xmlns:a="http://schemas.openxmlformats.org/drawingml/2006/main">
              <a:ext uri="{FF2B5EF4-FFF2-40B4-BE49-F238E27FC236}">
                <a16:creationId xmlns:a16="http://schemas.microsoft.com/office/drawing/2014/main" id="{2E046900-0182-4634-8F85-203C8C31A6E7}"/>
              </a:ext>
            </a:extLst>
          </p:cNvPr>
          <p:cNvSpPr>
            <a:spLocks xmlns:a="http://schemas.openxmlformats.org/drawingml/2006/main" noGrp="1"/>
          </p:cNvSpPr>
          <p:nvPr/>
        </p:nvSpPr>
        <p:spPr>
          <a:xfrm xmlns:a="http://schemas.openxmlformats.org/drawingml/2006/main">
            <a:off x="9144000" y="4297680"/>
            <a:ext cx="1828800" cy="1828800"/>
          </a:xfrm>
          <a:prstGeom xmlns:a="http://schemas.openxmlformats.org/drawingml/2006/main" prst="ellipse">
            <a:avLst/>
          </a:prstGeom>
          <a:noFill xmlns:a="http://schemas.openxmlformats.org/drawingml/2006/main"/>
          <a:ln xmlns:a="http://schemas.openxmlformats.org/drawingml/2006/main" w="12700">
            <a:solidFill>
              <a:srgbClr val="3B4A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Oval 4">
            <a:extLst xmlns:a="http://schemas.openxmlformats.org/drawingml/2006/main">
              <a:ext uri="{FF2B5EF4-FFF2-40B4-BE49-F238E27FC236}">
                <a16:creationId xmlns:a16="http://schemas.microsoft.com/office/drawing/2014/main" id="{E4E3E34A-A14C-458F-95C3-1B010F27E87C}"/>
              </a:ext>
            </a:extLst>
          </p:cNvPr>
          <p:cNvSpPr>
            <a:spLocks xmlns:a="http://schemas.openxmlformats.org/drawingml/2006/main" noGrp="1"/>
          </p:cNvSpPr>
          <p:nvPr/>
        </p:nvSpPr>
        <p:spPr>
          <a:xfrm xmlns:a="http://schemas.openxmlformats.org/drawingml/2006/main">
            <a:off x="9692640" y="4846320"/>
            <a:ext cx="731520" cy="731520"/>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318BF107-0F9B-4C51-83F5-A317CB6102E7}"/>
              </a:ext>
            </a:extLst>
          </p:cNvPr>
          <p:cNvSpPr>
            <a:spLocks xmlns:a="http://schemas.openxmlformats.org/drawingml/2006/main" noGrp="1"/>
          </p:cNvSpPr>
          <p:nvPr/>
        </p:nvSpPr>
        <p:spPr>
          <a:xfrm xmlns:a="http://schemas.openxmlformats.org/drawingml/2006/main">
            <a:off x="868680" y="1280160"/>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300" b="1" i="0">
                <a:solidFill>
                  <a:srgbClr val="C9821E"/>
                </a:solidFill>
                <a:latin typeface="Calibri"/>
                <a:ea typeface="Calibri"/>
                <a:cs typeface="Calibri"/>
              </a:rPr>
              <a:t>WHY HUMANS ARE NOT JUST MATERIAL</a:t>
            </a:r>
          </a:p>
        </p:txBody>
      </p:sp>
      <p:sp>
        <p:nvSpPr>
          <p:cNvPr id="7" name="TextBox 6">
            <a:extLst xmlns:a="http://schemas.openxmlformats.org/drawingml/2006/main">
              <a:ext uri="{FF2B5EF4-FFF2-40B4-BE49-F238E27FC236}">
                <a16:creationId xmlns:a16="http://schemas.microsoft.com/office/drawing/2014/main" id="{2185CCD6-0BBD-4563-B297-8CA2DE9551C4}"/>
              </a:ext>
            </a:extLst>
          </p:cNvPr>
          <p:cNvSpPr>
            <a:spLocks xmlns:a="http://schemas.openxmlformats.org/drawingml/2006/main" noGrp="1"/>
          </p:cNvSpPr>
          <p:nvPr/>
        </p:nvSpPr>
        <p:spPr>
          <a:xfrm xmlns:a="http://schemas.openxmlformats.org/drawingml/2006/main">
            <a:off x="822960" y="1691640"/>
            <a:ext cx="10058400" cy="10871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3400" b="1" i="0">
                <a:solidFill>
                  <a:srgbClr val="FFFFFF"/>
                </a:solidFill>
                <a:latin typeface="Cambria"/>
                <a:ea typeface="Cambria"/>
                <a:cs typeface="Cambria"/>
              </a:rPr>
              <a:t>A Case to Develop, With Claims to Test</a:t>
            </a:r>
          </a:p>
        </p:txBody>
      </p:sp>
      <p:sp>
        <p:nvSpPr>
          <p:cNvPr id="8" name="Oval 7">
            <a:extLst xmlns:a="http://schemas.openxmlformats.org/drawingml/2006/main">
              <a:ext uri="{FF2B5EF4-FFF2-40B4-BE49-F238E27FC236}">
                <a16:creationId xmlns:a16="http://schemas.microsoft.com/office/drawing/2014/main" id="{6B8FCA2B-2472-49E9-A669-B007DEDAECDB}"/>
              </a:ext>
            </a:extLst>
          </p:cNvPr>
          <p:cNvSpPr>
            <a:spLocks xmlns:a="http://schemas.openxmlformats.org/drawingml/2006/main" noGrp="1"/>
          </p:cNvSpPr>
          <p:nvPr/>
        </p:nvSpPr>
        <p:spPr>
          <a:xfrm xmlns:a="http://schemas.openxmlformats.org/drawingml/2006/main">
            <a:off x="969263" y="2962656"/>
            <a:ext cx="164592" cy="164592"/>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2C77C41B-AE7C-4272-B67F-36A97F708F51}"/>
              </a:ext>
            </a:extLst>
          </p:cNvPr>
          <p:cNvSpPr>
            <a:spLocks xmlns:a="http://schemas.openxmlformats.org/drawingml/2006/main" noGrp="1"/>
          </p:cNvSpPr>
          <p:nvPr/>
        </p:nvSpPr>
        <p:spPr>
          <a:xfrm xmlns:a="http://schemas.openxmlformats.org/drawingml/2006/main">
            <a:off x="1371600" y="288036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500" b="1" i="0">
                <a:solidFill>
                  <a:srgbClr val="FFFFFF"/>
                </a:solidFill>
                <a:latin typeface="Cambria"/>
                <a:ea typeface="Cambria"/>
                <a:cs typeface="Cambria"/>
              </a:rPr>
              <a:t>Science</a:t>
            </a:r>
          </a:p>
        </p:txBody>
      </p:sp>
      <p:sp>
        <p:nvSpPr>
          <p:cNvPr id="10" name="TextBox 9">
            <a:extLst xmlns:a="http://schemas.openxmlformats.org/drawingml/2006/main">
              <a:ext uri="{FF2B5EF4-FFF2-40B4-BE49-F238E27FC236}">
                <a16:creationId xmlns:a16="http://schemas.microsoft.com/office/drawing/2014/main" id="{83C6C9D4-BA6B-4CFE-B016-3F583E23AC55}"/>
              </a:ext>
            </a:extLst>
          </p:cNvPr>
          <p:cNvSpPr>
            <a:spLocks xmlns:a="http://schemas.openxmlformats.org/drawingml/2006/main" noGrp="1"/>
          </p:cNvSpPr>
          <p:nvPr/>
        </p:nvSpPr>
        <p:spPr>
          <a:xfrm xmlns:a="http://schemas.openxmlformats.org/drawingml/2006/main">
            <a:off x="4023360" y="2898648"/>
            <a:ext cx="6583680" cy="466852"/>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300" b="0" i="0">
                <a:solidFill>
                  <a:srgbClr val="C9D4EF"/>
                </a:solidFill>
                <a:latin typeface="Calibri"/>
                <a:ea typeface="Calibri"/>
                <a:cs typeface="Calibri"/>
              </a:rPr>
              <a:t>Shows pervasive dependence of mind on brain and gives the strongest public method; physicalism interprets this as sufficiency.</a:t>
            </a:r>
          </a:p>
        </p:txBody>
      </p:sp>
      <p:sp>
        <p:nvSpPr>
          <p:cNvPr id="11" name="Oval 10">
            <a:extLst xmlns:a="http://schemas.openxmlformats.org/drawingml/2006/main">
              <a:ext uri="{FF2B5EF4-FFF2-40B4-BE49-F238E27FC236}">
                <a16:creationId xmlns:a16="http://schemas.microsoft.com/office/drawing/2014/main" id="{2FC9693C-1527-4F62-A440-D5D6671D41ED}"/>
              </a:ext>
            </a:extLst>
          </p:cNvPr>
          <p:cNvSpPr>
            <a:spLocks xmlns:a="http://schemas.openxmlformats.org/drawingml/2006/main" noGrp="1"/>
          </p:cNvSpPr>
          <p:nvPr/>
        </p:nvSpPr>
        <p:spPr>
          <a:xfrm xmlns:a="http://schemas.openxmlformats.org/drawingml/2006/main">
            <a:off x="969263" y="3621024"/>
            <a:ext cx="164592" cy="164592"/>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3A861F4D-3161-41A3-A3CD-66A4D13C42A1}"/>
              </a:ext>
            </a:extLst>
          </p:cNvPr>
          <p:cNvSpPr>
            <a:spLocks xmlns:a="http://schemas.openxmlformats.org/drawingml/2006/main" noGrp="1"/>
          </p:cNvSpPr>
          <p:nvPr/>
        </p:nvSpPr>
        <p:spPr>
          <a:xfrm xmlns:a="http://schemas.openxmlformats.org/drawingml/2006/main">
            <a:off x="1371600" y="3538728"/>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500" b="1" i="0">
                <a:solidFill>
                  <a:srgbClr val="FFFFFF"/>
                </a:solidFill>
                <a:latin typeface="Cambria"/>
                <a:ea typeface="Cambria"/>
                <a:cs typeface="Cambria"/>
              </a:rPr>
              <a:t>Madhyasth Darshan</a:t>
            </a:r>
          </a:p>
        </p:txBody>
      </p:sp>
      <p:sp>
        <p:nvSpPr>
          <p:cNvPr id="13" name="TextBox 12">
            <a:extLst xmlns:a="http://schemas.openxmlformats.org/drawingml/2006/main">
              <a:ext uri="{FF2B5EF4-FFF2-40B4-BE49-F238E27FC236}">
                <a16:creationId xmlns:a16="http://schemas.microsoft.com/office/drawing/2014/main" id="{440F5573-785C-4B67-A4FC-4A4D2195CCCA}"/>
              </a:ext>
            </a:extLst>
          </p:cNvPr>
          <p:cNvSpPr>
            <a:spLocks xmlns:a="http://schemas.openxmlformats.org/drawingml/2006/main" noGrp="1"/>
          </p:cNvSpPr>
          <p:nvPr/>
        </p:nvSpPr>
        <p:spPr>
          <a:xfrm xmlns:a="http://schemas.openxmlformats.org/drawingml/2006/main">
            <a:off x="4023360" y="3557016"/>
            <a:ext cx="6583680" cy="466852"/>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300" b="0" i="0">
                <a:solidFill>
                  <a:srgbClr val="C9D4EF"/>
                </a:solidFill>
                <a:latin typeface="Calibri"/>
                <a:ea typeface="Calibri"/>
                <a:cs typeface="Calibri"/>
              </a:rPr>
              <a:t>Identifies jeevan as the knower whose awakening guides conduct in coexistence. Its constitution and relation to the body need further evidence.</a:t>
            </a:r>
          </a:p>
        </p:txBody>
      </p:sp>
      <p:sp>
        <p:nvSpPr>
          <p:cNvPr id="14" name="Oval 13">
            <a:extLst xmlns:a="http://schemas.openxmlformats.org/drawingml/2006/main">
              <a:ext uri="{FF2B5EF4-FFF2-40B4-BE49-F238E27FC236}">
                <a16:creationId xmlns:a16="http://schemas.microsoft.com/office/drawing/2014/main" id="{6E4AC27D-50CC-4A70-BD9B-BBE99766DCB0}"/>
              </a:ext>
            </a:extLst>
          </p:cNvPr>
          <p:cNvSpPr>
            <a:spLocks xmlns:a="http://schemas.openxmlformats.org/drawingml/2006/main" noGrp="1"/>
          </p:cNvSpPr>
          <p:nvPr/>
        </p:nvSpPr>
        <p:spPr>
          <a:xfrm xmlns:a="http://schemas.openxmlformats.org/drawingml/2006/main">
            <a:off x="969263" y="4279392"/>
            <a:ext cx="164592" cy="164592"/>
          </a:xfrm>
          <a:prstGeom xmlns:a="http://schemas.openxmlformats.org/drawingml/2006/main" prst="ellipse">
            <a:avLst/>
          </a:prstGeom>
          <a:solidFill xmlns:a="http://schemas.openxmlformats.org/drawingml/2006/main">
            <a:srgbClr val="C982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E3FB4789-64D2-4832-925E-E90B7C402010}"/>
              </a:ext>
            </a:extLst>
          </p:cNvPr>
          <p:cNvSpPr>
            <a:spLocks xmlns:a="http://schemas.openxmlformats.org/drawingml/2006/main" noGrp="1"/>
          </p:cNvSpPr>
          <p:nvPr/>
        </p:nvSpPr>
        <p:spPr>
          <a:xfrm xmlns:a="http://schemas.openxmlformats.org/drawingml/2006/main">
            <a:off x="1371600" y="4197096"/>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spcBef>
                <a:spcPts val="0"/>
              </a:spcBef>
              <a:spcAft>
                <a:spcPts val="400"/>
              </a:spcAft>
              <a:buNone/>
            </a:pPr>
            <a:r>
              <a:rPr sz="1500" b="1" i="0">
                <a:solidFill>
                  <a:srgbClr val="FFFFFF"/>
                </a:solidFill>
                <a:latin typeface="Cambria"/>
                <a:ea typeface="Cambria"/>
                <a:cs typeface="Cambria"/>
              </a:rPr>
              <a:t>Advaita Vedanta</a:t>
            </a:r>
          </a:p>
        </p:txBody>
      </p:sp>
      <p:sp>
        <p:nvSpPr>
          <p:cNvPr id="16" name="TextBox 15">
            <a:extLst xmlns:a="http://schemas.openxmlformats.org/drawingml/2006/main">
              <a:ext uri="{FF2B5EF4-FFF2-40B4-BE49-F238E27FC236}">
                <a16:creationId xmlns:a16="http://schemas.microsoft.com/office/drawing/2014/main" id="{4DB098BB-64A2-42F0-B06B-EF3F5168EFC7}"/>
              </a:ext>
            </a:extLst>
          </p:cNvPr>
          <p:cNvSpPr>
            <a:spLocks xmlns:a="http://schemas.openxmlformats.org/drawingml/2006/main" noGrp="1"/>
          </p:cNvSpPr>
          <p:nvPr/>
        </p:nvSpPr>
        <p:spPr>
          <a:xfrm xmlns:a="http://schemas.openxmlformats.org/drawingml/2006/main">
            <a:off x="4023360" y="4215383"/>
            <a:ext cx="6583680" cy="466852"/>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spcBef>
                <a:spcPts val="0"/>
              </a:spcBef>
              <a:spcAft>
                <a:spcPts val="400"/>
              </a:spcAft>
              <a:buNone/>
            </a:pPr>
            <a:r>
              <a:rPr sz="1300" b="0" i="0">
                <a:solidFill>
                  <a:srgbClr val="C9D4EF"/>
                </a:solidFill>
                <a:latin typeface="Calibri"/>
                <a:ea typeface="Calibri"/>
                <a:cs typeface="Calibri"/>
              </a:rPr>
              <a:t>Locates identity in nondual awareness and treats the world as dependently real; identifying the witness with Brahman requires further support.</a:t>
            </a:r>
          </a:p>
        </p:txBody>
      </p:sp>
      <p:sp>
        <p:nvSpPr>
          <p:cNvPr id="17" name="TextBox 16">
            <a:extLst xmlns:a="http://schemas.openxmlformats.org/drawingml/2006/main">
              <a:ext uri="{FF2B5EF4-FFF2-40B4-BE49-F238E27FC236}">
                <a16:creationId xmlns:a16="http://schemas.microsoft.com/office/drawing/2014/main" id="{CC1F92AA-56C2-422F-8D88-C79B2C5CED0F}"/>
              </a:ext>
            </a:extLst>
          </p:cNvPr>
          <p:cNvSpPr>
            <a:spLocks xmlns:a="http://schemas.openxmlformats.org/drawingml/2006/main" noGrp="1"/>
          </p:cNvSpPr>
          <p:nvPr/>
        </p:nvSpPr>
        <p:spPr>
          <a:xfrm xmlns:a="http://schemas.openxmlformats.org/drawingml/2006/main">
            <a:off x="868680" y="5212080"/>
            <a:ext cx="86868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10000"/>
              </a:lnSpc>
              <a:spcBef>
                <a:spcPts val="0"/>
              </a:spcBef>
              <a:spcAft>
                <a:spcPts val="400"/>
              </a:spcAft>
              <a:buNone/>
            </a:pPr>
            <a:r>
              <a:rPr sz="1400" b="0" i="1">
                <a:solidFill>
                  <a:srgbClr val="FFFFFF"/>
                </a:solidFill>
                <a:latin typeface="Calibri"/>
                <a:ea typeface="Calibri"/>
                <a:cs typeface="Calibri"/>
              </a:rPr>
              <a:t>Experience, unity, and reasons motivate the case beyond reduction.
Whether they require jeevan remains the question to test.</a:t>
            </a:r>
          </a:p>
        </p:txBody>
      </p:sp>
    </p:spTree>
    <p:extLst>
      <p:ext uri="{BB962C8B-B14F-4D97-AF65-F5344CB8AC3E}">
        <p14:creationId xmlns:p14="http://schemas.microsoft.com/office/powerpoint/2010/main" val="83097575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2026-09-08T02:06:04.5340000Z</dcterms:created>
  <dcterms:modified xsi:type="dcterms:W3CDTF">2026-09-08T02:06:04.5340000Z</dcterms:modified>
</coreProperties>
</file>