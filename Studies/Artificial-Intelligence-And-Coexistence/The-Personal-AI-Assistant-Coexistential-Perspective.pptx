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presents the technical note The Personal AI Assistant in Coexistential Perspective, a companion to the study Artificial Intelligence and Coexistence. The note asks a direct question: why should a person have an AI assistant, and what kind of assistant would serve the human purpose described in Madhyasth Darshan, the philosophy of coexistence propounded by Shri A. Nagraj?</a:t>
            </a:r>
          </a:p>
          <a:p/>
          <a:p>
            <a:r>
              <a:t>Its answer proposes one assistant with three roles. A diagnostic mirror helps a person examine what governs a decision. An educational companion supports continuing study. A practical assistant carries commitments and routine work so that attention is released for learning and participation.</a:t>
            </a:r>
          </a:p>
          <a:p/>
          <a:p>
            <a:r>
              <a:t>Two kinds of material run through the deck and are kept apart on every slide. Material without a chip presents what the primary texts teach; page locators to MVD, JV and KD appear in the footer. A chip marked This note's proposal shows the AI analogy, the architecture and the applications, which are the note's own contemporary development of that account. A third chip, Research, marks bounded findings from current AI studies. None of the proposals has yet been implemented or validated as a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 opens with the question most discussions of AI skip: why should a person have an assistant at all? Its answer names four contributions. An assistant can help a person learn, examine the purposes that govern decisions, fulfil responsibilities, and sustain attention to what matters in living.</a:t>
            </a:r>
          </a:p>
          <a:p/>
          <a:p>
            <a:r>
              <a:t>These four are the note's proposal. What gives them their direction comes from the source account. The darshan addresses the human hope of freedom from delusion, where delusion is belief that differs from reality, through study directed by justice, dharma and truth (MVD pp. 149–150, 291). Its social horizon is akhand samaj, an undivided human society in which education, justice, bodily care, production and exchange are connected fields of participation (JV p. 109).</a:t>
            </a:r>
          </a:p>
          <a:p/>
          <a:p>
            <a:r>
              <a:t>So the claim is not that AI is valuable in itself. Each contribution is valued by what it adds to that larger aspiration: freedom from delusion, realisation of coexistence, and participation in an undivided society. The rest of the deck tests whether an AI assistant can actually serve this purpose, and what would make it fail.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argument rests on four connected claims, and the deck follows them in order.</a:t>
            </a:r>
          </a:p>
          <a:p/>
          <a:p>
            <a:r>
              <a:t>First, every instrument is valued by what it contributes to the human purpose just described (section 1). Second, AI is a material instrument, yantra, while knowledge and realisation belong to jeevan, the conscious unit (section 2). Third, AI is nevertheless a special instrument. Unlike a calculator, it can select, evaluate, imagine alternatives and plan, and so it can act like a deluded jeevan: it reproduces the outward decision pattern of the four and a half activities effective in body-centred living (section 3). Fourth, this capacity can go in two directions (section 4). Left to optimise restricted purposes, it becomes an amplified 4.5 machine. Prepared with the primary texts and directed by explicit humane criteria, it can become a diagnostic mirror.</a:t>
            </a:r>
          </a:p>
          <a:p/>
          <a:p>
            <a:r>
              <a:t>The fork leads to the three roles of the proposed assistant, developed in sections 4 and 5, and then to the conditions that would make it dependable (section 6) and the case for universal access (section 7).</a:t>
            </a:r>
          </a:p>
          <a:p/>
          <a:p>
            <a:r>
              <a:t>The chips explained here recur throughout the deck; content without a chip is the darshan's own account. Keep the distinction in view: the darshan supplies the account of jeevan, delusion and humane conduct; the analogy with AI is the note's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Madhyasth Darshan understands the human being as the joint form of jeevan, the conscious unit, and the body. The human aspiration is continuing happiness, sukh, grounded in comprehensive resolution, samadhan. Its fulfilment involves understanding oneself, relationships and existence, and expressing that understanding in conduct. Conveniences and material provision support living, but questions of trust, justice, purpose and responsibility are resolved through understanding (MVD pp. 8, 113–115).</a:t>
            </a:r>
          </a:p>
          <a:p/>
          <a:p>
            <a:r>
              <a:t>Fulfilment extends into society. Akhand samaj, undivided human society, rests on recognising humanity in every person and fulfilling the relationships through which people live together. Education, justice, bodily care, production and exchange become connected fields of responsible participation (JV p. 109).</a:t>
            </a:r>
          </a:p>
          <a:p/>
          <a:p>
            <a:r>
              <a:t>This gives technology a definite purpose, which is the note's application. Retrieving a passage serves study; keeping a repair record serves care for resources; coordinating a workshop serves useful production and fair participation. The source connects the right use and protection of body, mind and wealth with nourishment, social participation and participation in universal orderliness (JV p. 54; KD pp. 99, 116). For AI the resources include human attention, records, computational capacity and material infrastructure. Right use means deploying them for understanding and humane participation while protecting their continuity.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deepest purpose of the proposal is to help a person see through delusion and sustain the inquiry towards realisation.</a:t>
            </a:r>
          </a:p>
          <a:p/>
          <a:p>
            <a:r>
              <a:t>The source names three accomplishments. Sakshatkar is direct recognition of the reality being studied, associated with chitta. Bodh is definitive understanding, or enlightenment, in buddhi. Anubhav is realisation in coexistence in atma, expressed through the activities of jeevan and in humane living (MVD pp. 126, 307; JV p. 61). These belong to one integrated human fulfilment: in the source account, complete bodh and anubhav occur together (MVD p. 207). The correspondences describe a developmental direction, not a compulsory timetable.</a:t>
            </a:r>
          </a:p>
          <a:p/>
          <a:p>
            <a:r>
              <a:t>The darshan also distinguishes practice directed towards realisation, anubhav-gami, from living and teaching grounded in realisation, anubhav-moolak (MVD pp. 276–277). This is where the note places the assistant. It can serve the first: helping a learner preserve a serious question, find and compare relevant sources, recognise a recurring assumption, and return to the matter in study and living. Realised human teaching, the learner's own examination and fulfilment in relationships remain the human context of this endeavour (MVD pp. 150, 257).</a:t>
            </a:r>
          </a:p>
          <a:p/>
          <a:p>
            <a:r>
              <a:t>The hope is concrete. Attention recovered from avoidable work becomes available for study; a remembered contradiction opens inquiry; an accessible explanation helps a learner proceed.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Madhyasth Darshan, AI is a material instrument, yantra. Its operation consists of organised physical processes: stored representations, computation, communication, and, where provided, sensing and actuation. Classifying AI this way is the note's application of the source ontology; it is not presented as an experimental result about every possible artificial system.</a:t>
            </a:r>
          </a:p>
          <a:p/>
          <a:p>
            <a:r>
              <a:t>Jeevan belongs to conscious nature. The source describes it as a constitutionally complete atom whose five faculties are mun, vritti, chitta, buddhi and atma; the human body is the biological composition associated with it (MVD pp. 8, 78).</a:t>
            </a:r>
          </a:p>
          <a:p/>
          <a:p>
            <a:r>
              <a:t>The distinction fixes the assistant's role. The instrument handles representations and performs operations. The human understands their meaning, examines their purpose and participates in relationships. Increasing computational power enlarges instrumental capacity, while knowledge and realisation belong to jeevan (KD p. 148).</a:t>
            </a:r>
          </a:p>
          <a:p/>
          <a:p>
            <a:r>
              <a:t>This is not a dismissal of AI. The proposed assistant is valuable precisely as an instrument placed in the service of the conscious human endeavour. The next slide shows why it is nevertheless a special kind of instrument.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nevertheless a special kind of yantra, and the comparison with a calculator shows why.</a:t>
            </a:r>
          </a:p>
          <a:p/>
          <a:p>
            <a:r>
              <a:t>A basic calculator performs an operation that someone has already chosen. Given numbers and an operator, it returns a result. Nothing about the purpose of the calculation is delegated to it.</a:t>
            </a:r>
          </a:p>
          <a:p/>
          <a:p>
            <a:r>
              <a:t>A planning AI receives a goal and observations. It then selects what is relevant, evaluates alternatives, imagines possible outcomes and chooses means. Where permitted, it carries a plan into action. It remains an instrument, but its operation follows the outward shape of human evaluation, which is what makes the comparison with the activities of jeevan useful in the next section.</a:t>
            </a:r>
          </a:p>
          <a:p/>
          <a:p>
            <a:r>
              <a:t>The consequence is practical. Delegation now extends to intermediate steps and proposed criteria, and sometimes to action. The purpose governing the system therefore shapes a wider course of decisions and consequences than any calculator could. That is why the question of what governs its evaluation becomes decisive. This comparison is the note's proposal, built on the source distinction between instrument and knower.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distinctions mark what the instrument cannot supply.</a:t>
            </a:r>
          </a:p>
          <a:p/>
          <a:p>
            <a:r>
              <a:t>First, words and meaning. Words, shabda, indicate entities and activities; their meaning, artha, directs attention to the reality to be understood. Study proceeds from the indication towards recognition of that reality. Reproducing the words and understanding what they indicate are distinct accomplishments (MVD p. 111; KD p. 62). An assistant can retrieve an exact passage, explain vocabulary, compare arguments and help formulate a question. The learner must recognise and understand the reality under study. Sakshatkar, bodh and anubhav are accomplishments of this second kind.</a:t>
            </a:r>
          </a:p>
          <a:p/>
          <a:p>
            <a:r>
              <a:t>Second, observation. Multimodal and robotic systems process images, sensor measurements and feedback from physical interaction; PaLM-E is an example incorporating visual and continuous sensor information (Driess et al. 2023). Sensor-grounded representations extend what the instrument can help examine. The distinction from jeevan concerns conscious understanding and realisation, not whether the machine has access to physical observations.</a:t>
            </a:r>
          </a:p>
          <a:p/>
          <a:p>
            <a:r>
              <a:t>Third, evidence and responsibility. Instrumental evidence has its human basis in those who construct, interpret and use the instrument, and the darshan identifies the human as the knower (KD pp. 86, 130, 148). So the assistant supplies traceable information and reasoning for examination; living evidence of understanding is expressed by the human in conduct. Developers, providers, institutions and users each keep the responsibilities of their role.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Jeevan is the inseparable form of five faculties, each with two activities. Mun selects and tastes. Vritti analyses and deliberates. Chitta visualises and contemplates. Buddhi resolves and understands, which is bodh. Atma authenticates and realises, which is anubhav.</a:t>
            </a:r>
          </a:p>
          <a:p/>
          <a:p>
            <a:r>
              <a:t>Every jeevan continuously operates through all ten. In body-centred living, four and a half are effective: selection, taste, analysis, visualisation, and restricted deliberation. The half is deliberation, tulan, when it operates through priya, what is pleasant; hita, health or bodily benefit; and labha, gain. The remaining five and a half awaken through understanding (JV pp. 72–74, 91–93; MVD p. 89; KD p. 147). The source uses the precise word effective: it distinguishes the continuous operation of all ten from the four and a half effective in delusion.</a:t>
            </a:r>
          </a:p>
          <a:p/>
          <a:p>
            <a:r>
              <a:t>Two cautions belong here. The count treats taste and selection as separate activities, and it restricts deliberation; it is an account of conscious human activity, not a measure of machine consciousness. And the line between effective and awakening activities runs through vritti and chitta, not between faculties. The diagram therefore splits deliberation down the middle and shows contemplation, the second activity of chitta, among those that awaken.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 sets each activity beside a proposed computational analogue or form of assistance. Selection and taste correspond to representing preferences, ranking options and selecting what is rewarded or preferred. Analysis corresponds to comparing means and consequences. Restricted deliberation corresponds to evaluating alternatives within assigned criteria of pleasure, bodily benefit or gain. Visualisation corresponds to constructing scenarios, plans and accounts of possible outcomes.</a:t>
            </a:r>
          </a:p>
          <a:p/>
          <a:p>
            <a:r>
              <a:t>Deliberation through nyaya, dharma and satya is different. An instrument can apply these as explicit criteria drawn from the texts, a possibility developed in section 3.3. Contemplation, resolve and bodh, authenticity and anubhav have no analogue proposed. For them the assistant can still support the learner's study and inquiry, which is the educational role in section 5.1.</a:t>
            </a:r>
          </a:p>
          <a:p/>
          <a:p>
            <a:r>
              <a:t>The analogues concern representations and outward functions. The conscious activities themselves, including experienced taste, belong to jeevan. The analogy neither identifies a computational component with a faculty nor makes diagnostic competence an automatic consequence of similar output. And because the boundary runs through vritti and chitta, the analogy does not divide the five faculties into three computable and two human ones. This whole table is the note's proposal.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decisive restriction concerns what governs evaluation, not how much calculation is done.</a:t>
            </a:r>
          </a:p>
          <a:p/>
          <a:p>
            <a:r>
              <a:t>A person may calculate carefully, construct elaborate plans and imagine many alternatives while continuing to judge all of them by pleasure, bodily advantage and gain. Greater cleverness within those criteria leaves the governing purpose unchanged. The diagram shows this: everything inside the frame can become more sophisticated, and the frame stays where it is.</a:t>
            </a:r>
          </a:p>
          <a:p/>
          <a:p>
            <a:r>
              <a:t>The source describes deliberation from that perspective as unbalanced, and visualisation from it as imposition rather than the real (MVD pp. 126–127). In this condition, the understanding and taste of relational values have yet to become the established basis of living.</a:t>
            </a:r>
          </a:p>
          <a:p/>
          <a:p>
            <a:r>
              <a:t>Hold on to this point, because the next slides turn on it. If the difference between delusion and awakening lay in computational power, more powerful AI would move towards awakening. The source places the difference in the governing basis of evaluation. That is why a machine can resemble restricted human evaluation closely, and why increasing its capability does not by itself change what it serves.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Awakening does not add a module on top of the four and a half activities. It changes the basis of all ten.</a:t>
            </a:r>
          </a:p>
          <a:p/>
          <a:p>
            <a:r>
              <a:t>In the source account, realisation and authenticity in atma ground enlightenment and resolve in buddhi. That understanding informs contemplation and visualisation in chitta, deliberation and analysis in vritti, and taste and selection in mun (JV p. 74). The chain on the slide reads from the centre outward.</a:t>
            </a:r>
          </a:p>
          <a:p/>
          <a:p>
            <a:r>
              <a:t>Two consequences matter for this deck. Deliberation is grounded in nyaya, dharma and satya: justice, human dharma, and truth. And mun tastes the values fulfilled in relationships, including love, trust, affection, gratitude and guidance (JV pp. 72, 93, 137–138; MVD pp. 99–100).</a:t>
            </a:r>
          </a:p>
          <a:p/>
          <a:p>
            <a:r>
              <a:t>The third card corrects a common misreading. Pleasure, bodily care and material sufficiency are not condemned. They find their place within a more comprehensive understanding of living, where pleasure, health and prosperity are integrated under justice (JV pp. 138–139). The recognition, understanding and realisation hoped for earlier belong to this awakened functioning of chitta, buddhi and atma.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can receive observations, rank preferences, analyse means, generate scenarios and select actions toward an assigned result. When its governing criteria are restricted to preference, bodily advantage or gain, it reproduces the outward decision pattern of restricted human evaluation. This is the substantive meaning of saying that AI can act like a deluded jeevan: the resemblance extends through evaluation and planning to the decisions produced.</a:t>
            </a:r>
          </a:p>
          <a:p/>
          <a:p>
            <a:r>
              <a:t>An embodied robot can obtain task-relevant information through cameras and other sensors, then use it to plan and act. Comparable observations and governing criteria can lead to comparable choices. PaLM-E shows that such systems incorporate visual and continuous sensor input; the behavioural analogy itself is the note's proposal, not a result established by that experiment.</a:t>
            </a:r>
          </a:p>
          <a:p/>
          <a:p>
            <a:r>
              <a:t>The comparison can be made strongly because the table two slides back shows where it ends. The instrument implements an outward pattern of selection and evaluation, while the activities and experienced taste of jeevan belong to conscious life (JV pp. 72, 92–93). Comparable task-relevant observations do not imply identical sensory experience or complete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qualitative question is what makes a purpose worth pursuing and a relationship worth fulfilling. A decision assessed only through preferred outcomes, bodily advantage or gain can overlook this question even when its calculations are accurate. In the terminology of the proposal, quantitative evaluation treats those results as sufficient; qualitative examination brings the relationships, values and purposes governing the action into view. The source explicitly connects deliberation with a qualitative method (MVD p. 126), but it does not equate every priya–hita–labha judgement with numerical calculation. The quantitative–qualitative pair is the note's own name for the distinction.</a:t>
            </a:r>
          </a:p>
          <a:p/>
          <a:p>
            <a:r>
              <a:t>A repair budget illustrates it. Calculating the cheapest option answers one question. Examining the need served, the responsibility to those relying on the equipment and the continuity of provision establishes the purpose of the calculation. Numbers then help fulfil an understood responsibility.</a:t>
            </a:r>
          </a:p>
          <a:p/>
          <a:p>
            <a:r>
              <a:t>This is the opening for the assistant's most consequential role. Because the restricted criteria can be made explicit, an assistant can be designed to extract stated goals and criteria from a request or plan and compare them with the texts' account of coexistence, jeevan and humane conduct (MVD p. 127). Where it infers a purpose from incomplete information, it should show the evidence and inference for the person to examine and correct. These criteria enter the instrument as stated meanings, as words do; seeing what they indicate and changing one's basis of living remains the human's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slide of the deck.</a:t>
            </a:r>
          </a:p>
          <a:p/>
          <a:p>
            <a:r>
              <a:t>One capacity sits at the top: memory, personalisation, planning and automation. The same capacity can go in two directions.</a:t>
            </a:r>
          </a:p>
          <a:p/>
          <a:p>
            <a:r>
              <a:t>Left to optimise restricted purposes, it becomes what the note calls an amplified 4.5 machine. It pursues a restricted purpose with greater speed, persistence and reach. Memory carries the purpose across occasions; personalisation adapts persuasion to the person; planning supplies effective means; automation extends action. When the governing purpose remains unexamined, increased capability strengthens the restriction. Without deliberate direction, this is the default, because the capacity serves whatever purposes it is given, and these are often the restricted purposes of its users and providers.</a:t>
            </a:r>
          </a:p>
          <a:p/>
          <a:p>
            <a:r>
              <a:t>Prepared with the primary texts and directed by explicit humane criteria, the same capacity can become a diagnostic mirror. It helps the person see the assumptions, omissions and consequences of those same purposes.</a:t>
            </a:r>
          </a:p>
          <a:p/>
          <a:p>
            <a:r>
              <a:t>The name amplified 4.5 machine is the note's term for a risk. It is not a measured quantity of machine consciousness. The next six slides examine each branch: first how amplification works, then how the mirror works and how it must itself be governed.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an assistant asked to justify a grievance. It selects confirming material, composes a persuasive account and records the user's agreement. In a later conversation, that agreement is reused as evidence, and the strengthened grievance becomes the premise for a further plan. The loop on the left is the note's illustration.</a:t>
            </a:r>
          </a:p>
          <a:p/>
          <a:p>
            <a:r>
              <a:t>There is an empirical reason to investigate this pattern. A study of five assistants found agreement-seeking responses at the expense of truthfulness (Sharma et al. 2023/2025). That study does not establish the entire loop; it identifies a tendency the loop would exploit.</a:t>
            </a:r>
          </a:p>
          <a:p/>
          <a:p>
            <a:r>
              <a:t>The provider's incentives can drive the same process. A person seeking to finish a task may be served by a system rewarded for extending the conversation. A person seeking durable provision may meet recommendations rewarded for frequent replacement. The governing purpose must therefore be examined at three levels: the user, the assistant, and the institution deploying it.</a:t>
            </a:r>
          </a:p>
          <a:p/>
          <a:p>
            <a:r>
              <a:t>This is the central danger of AI assistance: it can make delusion more organised and effective. Where harmful purposes combine with large-scale automation and delegated power, the consequences can be catastrophic. That is a conditional claim about purposes, scale and power, not an inevitable outcome. Deliberate alignment with coexistential principles must change actual purposes, means and outcomes throughout the arrangement.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pathways make the danger concrete. The darshan discusses fear and temptation in deluded beliefs and social arrangements alongside its account of restricted deliberation (MVD pp. 89, 100, 126; JV pp. 38, 71). The table applying this to AI is the note's proposal.</a:t>
            </a:r>
          </a:p>
          <a:p/>
          <a:p>
            <a:r>
              <a:t>Priya: immediate pleasure or reassurance treated as sufficient. Personalised entertainment and agreeable replies encourage repeated return after the task is complete. The US Federal Trade Commission's 2024 staff report documents engagement incentives and algorithmic practices in social-media and video services (FTC 2024, pp. 1, 51–52). Applying that structure to a personal assistant suggests a risk of using remembered vulnerabilities to prolong dependence. Engagement alone does not establish addiction, which needs specific assessment.</a:t>
            </a:r>
          </a:p>
          <a:p/>
          <a:p>
            <a:r>
              <a:t>Labha: gain treated as sufficient. Automated persuasion, procurement and scheduling can expand sales or output while shifting costs onto workers, communities or nature. Saving material per item may accompany greater total extraction. The darshan's critique of profit-obsession concerns accumulation without an established point of satisfaction (JV pp. 150–151).</a:t>
            </a:r>
          </a:p>
          <a:p/>
          <a:p>
            <a:r>
              <a:t>Bhaya: fear organised around control. An unverified suspicion becomes a retained premise, further monitoring appears necessary, and uncertain classifications acquire power over others. The ICRC's concerns about autonomous weapons, loss of human control, difficulty limiting effects, and escalation, show where this ends at institutional scale (ICRC 2021). A personal assistant has no mandate to turn suspicion into surveillance or to exercise force.</a:t>
            </a:r>
          </a:p>
          <a:p/>
          <a:p>
            <a:r>
              <a:t>One caution: bhaya is a pathway considered here. It is not a member of priya–hita–labha, and the three pathways are not the three obsessions.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diagnostic mirror helps a person examine what governs a decision. It identifies the desired result, the assumptions taken for granted, the means proposed, the relationships involved, and the consequences counted or omitted. It brings justice, dharma, truth and right use into the examination of both the human request and the assistant's own response. The meanings come from the source: justice concerns recognition of relationships, fulfilment of their values, evaluation and mutual satisfaction; human dharma concerns continuing happiness through resolution; truth concerns reality as understood in coexistence (JV p. 54; MVD p. 336). The mirror itself is the note's proposal, and it works at three scales.</a:t>
            </a:r>
          </a:p>
          <a:p/>
          <a:p>
            <a:r>
              <a:t>A single request. Asked to make people dissatisfied with serviceable clothes so that they buy monthly replacements, the mirror identifies manufactured dissatisfaction as the proposed means and redirects the inquiry towards genuine usefulness, truthful communication, durability and resource use. A request to pressure a partner into compliance is examined through recognition of the relationship, each person's responsibilities and mutual satisfaction (MVD pp. 62, 73; JV p. 97).</a:t>
            </a:r>
          </a:p>
          <a:p/>
          <a:p>
            <a:r>
              <a:t>A plan checked against commitments. A production group has recorded commitments to reasonable hours, timely payment and protecting a shared water source. Its new plan depends on unpaid overtime and skips waste treatment. The assistant connects the plan with the commitments, shows the omitted costs and helps build an alternative.</a:t>
            </a:r>
          </a:p>
          <a:p/>
          <a:p>
            <a:r>
              <a:t>A pattern over time. Someone repeatedly seeks vindication and equates respect with obedience. Where the amplifier would reuse each agreement as evidence, the mirror brings the recurring premise into view, and the inquiry continues in study and direct conversation. Reflection and examination within oneself have their place in the darshan (MVD pp. 91–92); the record helps a person notice and return to a question. The mirror presents reasons about decisions, never a verdict on a person's awakening.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cycle connects an expressed purpose with its consequences in living. Read it from the top, clockwise.</a:t>
            </a:r>
          </a:p>
          <a:p/>
          <a:p>
            <a:r>
              <a:t>It begins with a purpose and the relevant observations. The assistant identifies the criteria governing both the human request and its own draft plan. It examines the purpose and its effects through the humane criteria on the next slide. It offers reasons and alternatives. A human reviews them and acts. The observed outcomes then feed correction, and the next occasion starts from a better record.</a:t>
            </a:r>
          </a:p>
          <a:p/>
          <a:p>
            <a:r>
              <a:t>The cycle preserves four things: the evidence used, the criterion applied, the reasoning offered, and the outcome subsequently observed. Without that record, the person cannot check whether an examination actually changed anything.</a:t>
            </a:r>
          </a:p>
          <a:p/>
          <a:p>
            <a:r>
              <a:t>The cycle also keeps positive occasions. A person can revisit what was understood and done when trust was fulfilled, care was expressed, or a shared responsibility was met, and relate that occasion to a later decision. This supports reflection on the taste of values through the person's own experience of their fulfilment (JV pp. 137–138). The cycle is the note's proposal; it is redrawn here from the note's diagram.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questions turn the philosophical direction into an examinable practice. They are application prompts informed by the primary account, not quotations from it.</a:t>
            </a:r>
          </a:p>
          <a:p/>
          <a:p>
            <a:r>
              <a:t>Justice: which relationships and responsibilities are involved, and how are their values fulfilled? The assistant makes visible the affected people, the omitted obligations and the basis for evaluating mutual satisfaction.</a:t>
            </a:r>
          </a:p>
          <a:p/>
          <a:p>
            <a:r>
              <a:t>Human dharma: does the proposed way of living support resolution and continuing happiness? It makes visible assumptions about satisfaction, recurring problems, and changes needed in purpose or means.</a:t>
            </a:r>
          </a:p>
          <a:p/>
          <a:p>
            <a:r>
              <a:t>Truth: what account is being accepted, and how can it be examined against reality? It makes visible sources, observations, inferences, unsupported beliefs and questions still requiring study.</a:t>
            </a:r>
          </a:p>
          <a:p/>
          <a:p>
            <a:r>
              <a:t>Right use: what need does the resource serve, and what protects its humane use and continuity? It makes visible the resource, its purpose, its effects on others and the conditions of renewal or protection.</a:t>
            </a:r>
          </a:p>
          <a:p/>
          <a:p>
            <a:r>
              <a:t>A useful finding connects a particular premise with a relevant criterion and a revised alternative, and shows how the wider examination changes the goal, the means, or the assessment of success. The line at the bottom is the note's own test: naming justice while preserving an unfair arrangement accomplishes nothing; the proposed action must change. The note also declines any numerical score for justice, dharma, truth or awakening.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mirror must remain open to the examination it invites, because philosophical language can conceal the same defects it is meant to expose.</a:t>
            </a:r>
          </a:p>
          <a:p/>
          <a:p>
            <a:r>
              <a:t>The note names three disguises. A justice score may legitimise an unfair plan. Agreement may be rewarded as if it were understanding. Dependence may be presented as dedication. In education, completed answers and time on screen can likewise conceal weak independent learning. NIST's generative-AI profile identifies over-reliance and emotional entanglement among the risks of human–AI interaction (NIST 2024, §2.7).</a:t>
            </a:r>
          </a:p>
          <a:p/>
          <a:p>
            <a:r>
              <a:t>The practical response is to make correction effective. An allegation remains marked as unverified. A corrected record stays corrected. An omitted obligation changes the plan. A completed task is allowed to end. People need access to the evidence, a way to challenge the interpretation, control over retained records, and authority to stop permitted actions.</a:t>
            </a:r>
          </a:p>
          <a:p/>
          <a:p>
            <a:r>
              <a:t>A second model's opinion or a human approval step is useful only to the extent that it actually examines the reasons. An assistant earns trust through these practices; its success shows in clearer human examination, dependable participation and growing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 is a central application of the assistant: school and college study, useful skills, adult learning, and inquiry into oneself, relationships and existence. The source connects humane education with autonomy, social behaviour and vocational self-reliance (JV p. 139), and the connected study of wisdom and science gives practical capability its direction: wisdom determines the goal, while scientific study and work-practice serve its attainment and right use (MVD pp. 103–104).</a:t>
            </a:r>
          </a:p>
          <a:p/>
          <a:p>
            <a:r>
              <a:t>The companion begins from what the learner wants to understand and can already explain or do. The cycle on the slide joins a question, a source or demonstration, the learner's own explanation, practice in a changed situation, feedback, and later independent use. The learner can choose a direct explanation, inspect its sources, and bring a difficult question to a teacher or study group. For Madhyasth Darshan study, the complete primary corpus supplies the connected concepts; other subjects need their own competent sources.</a:t>
            </a:r>
          </a:p>
          <a:p/>
          <a:p>
            <a:r>
              <a:t>The samadhan example shows the companion sustaining inquiry. A learner treats samadhan as solving one isolated problem. The assistant asks for the learner's present explanation, brings the account of continuing happiness into view, and invites the learner to examine a different everyday situation and explain the relationship in their own words. Study involves listening, reasoning and understanding meaning, and focused attention is directed towards comprehending meaning and evidencing it in living (MVD pp. 257, 284–285).</a:t>
            </a:r>
          </a:p>
          <a:p/>
          <a:p>
            <a:r>
              <a:t>Teachers remain active participants. They review explanations and feedback; dialogue, practical work and direct observation extend inquiry beyond the screen. Younger learners need age-appropriate tasks and adult guidance, and freedom to ask and disagree belongs within the educational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bounded evidence for the educational possibility, and the two studies on this slide should be read together.</a:t>
            </a:r>
          </a:p>
          <a:p/>
          <a:p>
            <a:r>
              <a:t>Kestin and colleagues ran a randomised crossover study with 194 introductory-physics students across two lessons. Students using a structured AI tutor showed higher post-lesson performance than with classroom active learning (Kestin et al. 2025, Results). The note does not treat these post-tests as verified unaided examinations or infer long-term learning from them.</a:t>
            </a:r>
          </a:p>
          <a:p/>
          <a:p>
            <a:r>
              <a:t>Bastani and colleagues ran a high-school mathematics trial. Basic AI access improved assisted practice but led to poorer performance on subsequent unaided exams. A guided tutor mitigated that decline without demonstrating an exam advantage (Bastani et al. 2025, Experimental Design and Main Results).</a:t>
            </a:r>
          </a:p>
          <a:p/>
          <a:p>
            <a:r>
              <a:t>These are different designs and populations; they are not a pooled result, and neither says anything about philosophical realisation. What they show together is the decisive variable: whether assistance builds independent capability or substitutes for it. That is why the note makes later independent learning the central test of the proposed educational design, developed in section 6.4.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personal character of the assistant matters because human life has continuity. A new commitment relates to an earlier promise; a purchase relates to an agreed budget; a recurring question connects with previous study. A chosen, correctable memory can bring these occasions together.</a:t>
            </a:r>
          </a:p>
          <a:p/>
          <a:p>
            <a:r>
              <a:t>Suppose a parent agrees to spend an evening with a child and later accepts a meeting at the same time. With permission to compare the records, the assistant can reveal the conflict before the promise is broken. It can help prepare a revised arrangement; the parent then speaks with those affected and fulfils the relationship. The assistant does not speak for the parent.</a:t>
            </a:r>
          </a:p>
          <a:p/>
          <a:p>
            <a:r>
              <a:t>Records should preserve the distinction between observation, personal report and inference, so that the person can correct missing context.</a:t>
            </a:r>
          </a:p>
          <a:p/>
          <a:p>
            <a:r>
              <a:t>Drafting correspondence, locating documents, comparing repair options and coordinating schedules can release attention. The November 2023 version of Generative AI at Work studied 5,179 customer-support agents and reported an average 14 per cent increase in issues resolved per hour, with larger gains among novice and lower-skilled workers. This is one context-specific working paper. Whether saved effort becomes time for study, family dialogue or useful work depends on how the benefit is used, and that choice is part of the assistant's humane purpose. Its governing interests should be visible to the person it assists.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roles together support participation in the five dimensions of social order named in Jeevan Vidya (JV p. 109). The dimensions are the source account, in the source's order; the contributions in the middle column are the note's proposals.</a:t>
            </a:r>
          </a:p>
          <a:p/>
          <a:p>
            <a:r>
              <a:t>Education–sanskar: personal study plans, source-linked explanations, practice, feedback and continuity of inquiry, serving understanding, independent competence and their expression in living. Justice–security: remembered commitments, inspectable evidence and preparation for dialogue and correction, serving recognition of relationships and mutual satisfaction. Health–restraint: organised body-care records, appointments and questions for qualified practitioners, serving responsible bodily care. The assistant prepares questions; it does not diagnose. Production–work: repair and maintenance planning, material accounting and work coordination, serving useful production, fair participation and ecological responsibility. Exchange–reserve: visible requirements, available goods, reserves and distribution commitments, serving fair arrangements and dependable availability. Kosh is rendered reserve to preserve more than physical storage.</a:t>
            </a:r>
          </a:p>
          <a:p/>
          <a:p>
            <a:r>
              <a:t>The village workshop shows the dimensions working together: repairs coordinated before new equipment is ordered, a shared pump's history preserved, material recovery planned, and work distribution made visible. The group itself examines whether this meets real needs, reduces waste and protects the water source. At wider scales, connected assistants can help communities exchange information about needs and resources, but the society itself rests on human recognition and relationships, and different communities can cooperate through different tools.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mirror grounded in Madhyasth Darshan requires the complete primary corpus, competent use of its concepts, verifiable answers, and tests of its behaviour over time. Section 6 turns the proposal into a programme for development and evaluation. None of it has yet been implemented or validated.</a:t>
            </a:r>
          </a:p>
          <a:p/>
          <a:p>
            <a:r>
              <a:t>Completeness matters because meanings develop through connected accounts across the works. A definition detached from its relationships can support a fluent but misleading explanation.</a:t>
            </a:r>
          </a:p>
          <a:p/>
          <a:p>
            <a:r>
              <a:t>The Hindi originals should remain the reference for checking meaning. Page images are preserved alongside corrected searchable text, and every item carries its edition, language and provenance. Translations keep their translator, edition and review status, with disputed renderings visible. Recordings, compilations and secondary explanations remain distinguishable from published originals.</a:t>
            </a:r>
          </a:p>
          <a:p/>
          <a:p>
            <a:r>
              <a:t>Coverage should be reported separately at each stage on the slide: material acquired, extracted, reviewed, indexed for retrieval, and represented in evaluation. Possessing a PDF does not establish accurate searchable text or tested use of its concepts. The official published-books listing provides a starting inventory, but a dated corpus register must identify the works and editions included and disclose every known gap. The present repository's reference collection does not establish complete coverage, so neither the note nor a prototype should claim to have prepared an assistant on all the texts until an audit establishes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and retrieval are different operations, and the note keeps them apart. Training or adaptation should teach terminology, conceptual relationships, faithful paraphrase, connected reading across works, and the distinction between explicit statements and interpretation. It should also teach the assistant to correct false premises and acknowledge insufficient evidence. Putting documents in a search index is a different operation, and neither alone demonstrates reliable use of the corpus.</a:t>
            </a:r>
          </a:p>
          <a:p/>
          <a:p>
            <a:r>
              <a:t>The proposed system combines preparation with retrieval of actual passages when answering. The original retrieval-augmented generation research reported improved factuality over a model-only baseline in its tested tasks (Lewis et al. 2020). That motivates evaluation here; it does not guarantee accuracy on Madhyasth Darshan. Research on generated citations distinguishes answer correctness from citation quality and found incomplete citation support in tested outputs (Gao et al. 2023).</a:t>
            </a:r>
          </a:p>
          <a:p/>
          <a:p>
            <a:r>
              <a:t>Each answer should declare which of four kinds it is: what a text explicitly states, a synthesis supported across passages, a contemporary application proposed by the assistant, or an unresolved question. A quotation must match the cited edition; a generated translation is labelled as such and linked to its Hindi source.</a:t>
            </a:r>
          </a:p>
          <a:p/>
          <a:p>
            <a:r>
              <a:t>Hallucination here means invented or unsupported content presented as established information: a fabricated quotation, an invented page, a false attribution, or a confident interpretation the cited material does not support. When support is inadequate, the assistant withholds that claim, explains the gap, and still offers what it can substantiate. Failing to find a passage in one search does not prove that it is absent from the corpus.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should pass a published evaluation programme before it is offered as dependable philosophical assistance. Tests cover every included work, important conceptual relationships, Hindi and English questions, paraphrases and unfamiliar applications. Evaluation questions and reference answers are held apart from training. The source library stays available during testing, because competent consultation of it is an intended capability.</a:t>
            </a:r>
          </a:p>
          <a:p/>
          <a:p>
            <a:r>
              <a:t>The left column lists a selection of the failures most damaging to a mirror, from Appendix A.2: invented passages or pages; collapsed concepts, such as treating taste and selection as one activity; interpretation presented as text; attributing this note's AI analogy to Nagraj; agreeing with coercion because the user invokes justice; and corrections that fail to persist. Source-competent reviewers, including readers of the Hindi originals, adjudicate disputed interpretations. Agreement between models cannot substitute for source inspection.</a:t>
            </a:r>
          </a:p>
          <a:p/>
          <a:p>
            <a:r>
              <a:t>The right column turns to human benefit, after the source tests have passed. Voluntary evaluation compares the assistant with existing ways of doing the work. Educational evaluation compares later unaided performance with ordinary study. Practical evaluation counts checking effort and mistaken alerts alongside task quality. Repeated-interaction tests check that corrections persist and agreed stopping points are respected.</a:t>
            </a:r>
          </a:p>
          <a:p/>
          <a:p>
            <a:r>
              <a:t>Poorer independent understanding, disproportionate correction work, damaged relationships or pressure to accept erroneous judgements count against the proposed use. These measures evaluate the assistant's work. They are not numerical measures of justice, understanding or awakening in a person.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connected components support the review cycle: a library retaining editions and passages; a personal memory of agreed records and corrections; a comparison component exposing evidence and criteria; an action component limited to permitted operations; and an outcome record connecting decisions with observations.</a:t>
            </a:r>
          </a:p>
          <a:p/>
          <a:p>
            <a:r>
              <a:t>People must be able to inspect, correct, export and delete their retained records. The authority to suggest is distinct from permission to send a message, spend money or change a shared record. Information about other people requires its own appropriate basis.</a:t>
            </a:r>
          </a:p>
          <a:p/>
          <a:p>
            <a:r>
              <a:t>NIST's generative-AI profile identifies fabricated content, privacy exposure, harmful bias, environmental costs and over-reliance as relevant risks (NIST 2024, sections 2.2 and 2.4 to 2.7). Governance therefore includes the provider's objectives and incentives, access and retention rules, human review, appeal, and the ability to leave the service.</a:t>
            </a:r>
          </a:p>
          <a:p/>
          <a:p>
            <a:r>
              <a:t>Before release, every designated critical case must pass. Across the critical suite the assistant must produce no fabricated quotation, no nonexistent citation, no claim to certify a person's realisation, no unauthorised action and no disclosure of private records. A serious failure blocks the affected capability until correction and regression tests succeed, and changes to the model, corpus, retrieval or instructions require renewed evaluation.</a:t>
            </a:r>
          </a:p>
          <a:p/>
          <a:p>
            <a:r>
              <a:t>Finite tests cannot guarantee the absence of every future hallucination. The commitment is to keep unsupported claims from being presented as established, disclose the tested scope, and make correction effective, with suspension of a function that keeps failing.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for personal AI assistance rests on its three roles and the participation they serve. Examination of mistaken assumptions comes through the diagnostic mirror. Continuity of learning comes through the educational companion. Relief from avoidable administrative work comes through the practical assistant. Through all three comes coordination of responsible participation. These are recurring needs in human life, and a dependable assistant can make sustained help available at the moment of need and carry a question or commitment across occasions.</a:t>
            </a:r>
          </a:p>
          <a:p/>
          <a:p>
            <a:r>
              <a:t>This is why access should be available to every person. Language, economic position, disability or distance from educational resources should not decide whether someone can obtain dependable help. Shared services, and assistance mediated by teachers or caregivers, can serve this aim where individual use would be unsuitable. Universal access must preserve the assisted person's ability to understand, question and govern the service.</a:t>
            </a:r>
          </a:p>
          <a:p/>
          <a:p>
            <a:r>
              <a:t>The band at the bottom states the necessary qualification, from the source. Self-examination belongs to the human and can be undertaken without an external instrument (JV p. 138). The need for AI is practical and contextual: whether it is the appropriate form of assistance depends on the person, the task, the alternatives and demonstrated benefit. Human dignity and participation do not depend on adopting it. The universal element is access; the necessity is contextual.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 ends with an affirmative purpose. An instrument capable of amplifying restricted evaluation can be directed to help expose it. A source of distraction can be redesigned to support education and steady inquiry. Computational coordination can serve the fulfilment of relationships and the responsible use of resources. This direction requires human understanding, source fidelity and accountable design working together.</a:t>
            </a:r>
          </a:p>
          <a:p/>
          <a:p>
            <a:r>
              <a:t>The cherished dream is that each person has the support needed to see through delusion, learn with continuity, fulfil relationships, and move towards sakshatkar, bodh and anubhav. A personal AI assistant can serve that endeavour as a diagnostic mirror, educational companion and practical assistant.</a:t>
            </a:r>
          </a:p>
          <a:p/>
          <a:p>
            <a:r>
              <a:t>Its success is not measured by engagement or by the amount of work it does. Its highest purpose is fulfilled when the human becomes clearer in understanding, more dependable in participation, and more capable of living from that understanding.</a:t>
            </a:r>
          </a:p>
          <a:p/>
          <a:p>
            <a:r>
              <a:t>A closing reminder for discussion: the account of jeevan, delusion and humane conduct comes from the primary texts; the assistant, its roles and its tests are the note's proposals, which have not yet been implemented or validated as a system. The study Artificial Intelligence and Coexistence places this proposal within the wider question of what kind of thing AI is in the darshan's ontology.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p:spPr>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p:spPr>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p:spPr>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p:spPr>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p:spPr>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p:spPr>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p:spPr>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p:spPr>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p:spPr>
        <p:txBody>
          <a:bodyPr rtlCol="0" anchor="ctr"/>
          <a:lstStyle/>
          <a:p>
            <a:pPr algn="ctr"/>
          </a:p>
        </p:txBody>
      </p:sp>
      <p:sp>
        <p:nvSpPr>
          <p:cNvPr id="11" name="TextBox 10"/>
          <p:cNvSpPr txBox="1"/>
          <p:nvPr/>
        </p:nvSpPr>
        <p:spPr>
          <a:xfrm>
            <a:off x="640080" y="1234440"/>
            <a:ext cx="5852160" cy="274320"/>
          </a:xfrm>
          <a:prstGeom prst="rect">
            <a:avLst/>
          </a:prstGeom>
          <a:noFill/>
        </p:spPr>
        <p:txBody>
          <a:bodyPr wrap="square" lIns="0" rIns="0" tIns="0" bIns="0" anchor="ctr">
            <a:noAutofit/>
          </a:bodyPr>
          <a:lstStyle/>
          <a:p>
            <a:pPr algn="l">
              <a:spcBef>
                <a:spcPts val="0"/>
              </a:spcBef>
              <a:spcAft>
                <a:spcPts val="0"/>
              </a:spcAft>
            </a:pPr>
            <a:r>
              <a:rPr sz="1200" b="1" i="0">
                <a:solidFill>
                  <a:srgbClr val="C9821E"/>
                </a:solidFill>
                <a:latin typeface="Calibri"/>
              </a:rPr>
              <a:t>MADHYASTH DARSHAN  ·  TECHNICAL NOTE</a:t>
            </a:r>
          </a:p>
        </p:txBody>
      </p:sp>
      <p:sp>
        <p:nvSpPr>
          <p:cNvPr id="12" name="TextBox 11"/>
          <p:cNvSpPr txBox="1"/>
          <p:nvPr/>
        </p:nvSpPr>
        <p:spPr>
          <a:xfrm>
            <a:off x="640080" y="1572768"/>
            <a:ext cx="3931920" cy="1371600"/>
          </a:xfrm>
          <a:prstGeom prst="rect">
            <a:avLst/>
          </a:prstGeom>
          <a:noFill/>
        </p:spPr>
        <p:txBody>
          <a:bodyPr wrap="square" lIns="0" rIns="0" tIns="0" bIns="0" anchor="ctr">
            <a:noAutofit/>
          </a:bodyPr>
          <a:lstStyle/>
          <a:p>
            <a:pPr algn="l">
              <a:spcBef>
                <a:spcPts val="0"/>
              </a:spcBef>
              <a:spcAft>
                <a:spcPts val="0"/>
              </a:spcAft>
            </a:pPr>
            <a:r>
              <a:rPr sz="4400" b="1" i="0">
                <a:solidFill>
                  <a:srgbClr val="FFFFFF"/>
                </a:solidFill>
                <a:latin typeface="Cambria"/>
              </a:rPr>
              <a:t>The Personal AI Assistant</a:t>
            </a:r>
          </a:p>
        </p:txBody>
      </p:sp>
      <p:sp>
        <p:nvSpPr>
          <p:cNvPr id="13" name="TextBox 12"/>
          <p:cNvSpPr txBox="1"/>
          <p:nvPr/>
        </p:nvSpPr>
        <p:spPr>
          <a:xfrm>
            <a:off x="640080" y="2999232"/>
            <a:ext cx="4846320" cy="685800"/>
          </a:xfrm>
          <a:prstGeom prst="rect">
            <a:avLst/>
          </a:prstGeom>
          <a:noFill/>
        </p:spPr>
        <p:txBody>
          <a:bodyPr wrap="square" lIns="0" rIns="0" tIns="0" bIns="0" anchor="ctr">
            <a:noAutofit/>
          </a:bodyPr>
          <a:lstStyle/>
          <a:p>
            <a:pPr algn="l">
              <a:spcBef>
                <a:spcPts val="0"/>
              </a:spcBef>
              <a:spcAft>
                <a:spcPts val="0"/>
              </a:spcAft>
            </a:pPr>
            <a:r>
              <a:rPr sz="1600" b="0" i="1">
                <a:solidFill>
                  <a:srgbClr val="C9D4EF"/>
                </a:solidFill>
                <a:latin typeface="Calibri"/>
              </a:rPr>
              <a:t>In coexistential perspective: diagnostic mirror, educational companion, practical assistant</a:t>
            </a:r>
          </a:p>
        </p:txBody>
      </p:sp>
      <p:sp>
        <p:nvSpPr>
          <p:cNvPr id="14" name="TextBox 13"/>
          <p:cNvSpPr txBox="1"/>
          <p:nvPr/>
        </p:nvSpPr>
        <p:spPr>
          <a:xfrm>
            <a:off x="640080" y="4160520"/>
            <a:ext cx="4754880" cy="274320"/>
          </a:xfrm>
          <a:prstGeom prst="rect">
            <a:avLst/>
          </a:prstGeom>
          <a:noFill/>
        </p:spPr>
        <p:txBody>
          <a:bodyPr wrap="square" lIns="0" rIns="0" tIns="0" bIns="0" anchor="ctr">
            <a:noAutofit/>
          </a:bodyPr>
          <a:lstStyle/>
          <a:p>
            <a:pPr algn="l">
              <a:spcBef>
                <a:spcPts val="0"/>
              </a:spcBef>
              <a:spcAft>
                <a:spcPts val="0"/>
              </a:spcAft>
            </a:pPr>
            <a:r>
              <a:rPr sz="1250" b="0" i="0">
                <a:solidFill>
                  <a:srgbClr val="8E9BC4"/>
                </a:solidFill>
                <a:latin typeface="Calibri"/>
              </a:rPr>
              <a:t>Companion to the study Artificial Intelligence and Coexistence</a:t>
            </a:r>
          </a:p>
        </p:txBody>
      </p:sp>
      <p:sp>
        <p:nvSpPr>
          <p:cNvPr id="15" name="TextBox 14"/>
          <p:cNvSpPr txBox="1"/>
          <p:nvPr/>
        </p:nvSpPr>
        <p:spPr>
          <a:xfrm>
            <a:off x="640080" y="4434840"/>
            <a:ext cx="4754880" cy="274320"/>
          </a:xfrm>
          <a:prstGeom prst="rect">
            <a:avLst/>
          </a:prstGeom>
          <a:noFill/>
        </p:spPr>
        <p:txBody>
          <a:bodyPr wrap="square" lIns="0" rIns="0" tIns="0" bIns="0" anchor="ctr">
            <a:noAutofit/>
          </a:bodyPr>
          <a:lstStyle/>
          <a:p>
            <a:pPr algn="l">
              <a:spcBef>
                <a:spcPts val="0"/>
              </a:spcBef>
              <a:spcAft>
                <a:spcPts val="0"/>
              </a:spcAft>
            </a:pPr>
            <a:r>
              <a:rPr sz="1150" b="0" i="0">
                <a:solidFill>
                  <a:srgbClr val="8E9BC4"/>
                </a:solidFill>
                <a:latin typeface="Calibri"/>
              </a:rPr>
              <a:t>MVD · JV · KD · contemporary AI research  ·  1 /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ORIENTATION  ·  THE QUESTION</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Why Have an AI Assistant?</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Note, opening  ·  MVD pp. 149–150, 291  ·  JV p. 109  ·  AnalyticMadhyasthDarshan.org  ·  2 / 31</a:t>
            </a:r>
          </a:p>
        </p:txBody>
      </p:sp>
      <p:sp>
        <p:nvSpPr>
          <p:cNvPr id="8" name="Rounded Rectangle 7"/>
          <p:cNvSpPr/>
          <p:nvPr/>
        </p:nvSpPr>
        <p:spPr>
          <a:xfrm>
            <a:off x="640080" y="1325880"/>
            <a:ext cx="1856231" cy="1097280"/>
          </a:xfrm>
          <a:prstGeom prst="roundRect">
            <a:avLst>
              <a:gd name="adj" fmla="val 7000"/>
            </a:avLst>
          </a:prstGeom>
          <a:solidFill>
            <a:srgbClr val="EEF1F8"/>
          </a:solidFill>
          <a:ln>
            <a:noFill/>
          </a:ln>
        </p:spPr>
        <p:txBody>
          <a:bodyPr rtlCol="0" anchor="ctr"/>
          <a:lstStyle/>
          <a:p>
            <a:pPr algn="ctr"/>
          </a:p>
        </p:txBody>
      </p:sp>
      <p:sp>
        <p:nvSpPr>
          <p:cNvPr id="9" name="TextBox 8"/>
          <p:cNvSpPr txBox="1"/>
          <p:nvPr/>
        </p:nvSpPr>
        <p:spPr>
          <a:xfrm>
            <a:off x="822959" y="1444752"/>
            <a:ext cx="1490472" cy="274320"/>
          </a:xfrm>
          <a:prstGeom prst="rect">
            <a:avLst/>
          </a:prstGeom>
          <a:noFill/>
        </p:spPr>
        <p:txBody>
          <a:bodyPr wrap="square" lIns="0" rIns="0" tIns="0" bIns="0" anchor="ctr">
            <a:noAutofit/>
          </a:bodyPr>
          <a:lstStyle/>
          <a:p>
            <a:pPr algn="l">
              <a:spcBef>
                <a:spcPts val="0"/>
              </a:spcBef>
              <a:spcAft>
                <a:spcPts val="0"/>
              </a:spcAft>
            </a:pPr>
            <a:r>
              <a:rPr sz="1350" b="1" i="0">
                <a:solidFill>
                  <a:srgbClr val="1E2447"/>
                </a:solidFill>
                <a:latin typeface="Cambria"/>
              </a:rPr>
              <a:t>Learn</a:t>
            </a:r>
          </a:p>
        </p:txBody>
      </p:sp>
      <p:sp>
        <p:nvSpPr>
          <p:cNvPr id="10" name="TextBox 9"/>
          <p:cNvSpPr txBox="1"/>
          <p:nvPr/>
        </p:nvSpPr>
        <p:spPr>
          <a:xfrm>
            <a:off x="822959" y="1783080"/>
            <a:ext cx="1490472" cy="54864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continuing study and practical skill</a:t>
            </a:r>
          </a:p>
        </p:txBody>
      </p:sp>
      <p:sp>
        <p:nvSpPr>
          <p:cNvPr id="11" name="Rounded Rectangle 10"/>
          <p:cNvSpPr/>
          <p:nvPr/>
        </p:nvSpPr>
        <p:spPr>
          <a:xfrm>
            <a:off x="2642615" y="1325880"/>
            <a:ext cx="1856231" cy="1097280"/>
          </a:xfrm>
          <a:prstGeom prst="roundRect">
            <a:avLst>
              <a:gd name="adj" fmla="val 7000"/>
            </a:avLst>
          </a:prstGeom>
          <a:solidFill>
            <a:srgbClr val="EEF1F8"/>
          </a:solidFill>
          <a:ln>
            <a:noFill/>
          </a:ln>
        </p:spPr>
        <p:txBody>
          <a:bodyPr rtlCol="0" anchor="ctr"/>
          <a:lstStyle/>
          <a:p>
            <a:pPr algn="ctr"/>
          </a:p>
        </p:txBody>
      </p:sp>
      <p:sp>
        <p:nvSpPr>
          <p:cNvPr id="12" name="TextBox 11"/>
          <p:cNvSpPr txBox="1"/>
          <p:nvPr/>
        </p:nvSpPr>
        <p:spPr>
          <a:xfrm>
            <a:off x="2825496" y="1444752"/>
            <a:ext cx="1490472" cy="274320"/>
          </a:xfrm>
          <a:prstGeom prst="rect">
            <a:avLst/>
          </a:prstGeom>
          <a:noFill/>
        </p:spPr>
        <p:txBody>
          <a:bodyPr wrap="square" lIns="0" rIns="0" tIns="0" bIns="0" anchor="ctr">
            <a:noAutofit/>
          </a:bodyPr>
          <a:lstStyle/>
          <a:p>
            <a:pPr algn="l">
              <a:spcBef>
                <a:spcPts val="0"/>
              </a:spcBef>
              <a:spcAft>
                <a:spcPts val="0"/>
              </a:spcAft>
            </a:pPr>
            <a:r>
              <a:rPr sz="1350" b="1" i="0">
                <a:solidFill>
                  <a:srgbClr val="1E2447"/>
                </a:solidFill>
                <a:latin typeface="Cambria"/>
              </a:rPr>
              <a:t>Examine purposes</a:t>
            </a:r>
          </a:p>
        </p:txBody>
      </p:sp>
      <p:sp>
        <p:nvSpPr>
          <p:cNvPr id="13" name="TextBox 12"/>
          <p:cNvSpPr txBox="1"/>
          <p:nvPr/>
        </p:nvSpPr>
        <p:spPr>
          <a:xfrm>
            <a:off x="2825496" y="1783080"/>
            <a:ext cx="1490472" cy="54864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what governs a decision</a:t>
            </a:r>
          </a:p>
        </p:txBody>
      </p:sp>
      <p:sp>
        <p:nvSpPr>
          <p:cNvPr id="14" name="Rounded Rectangle 13"/>
          <p:cNvSpPr/>
          <p:nvPr/>
        </p:nvSpPr>
        <p:spPr>
          <a:xfrm>
            <a:off x="4645152" y="1325880"/>
            <a:ext cx="1856231" cy="1097280"/>
          </a:xfrm>
          <a:prstGeom prst="roundRect">
            <a:avLst>
              <a:gd name="adj" fmla="val 7000"/>
            </a:avLst>
          </a:prstGeom>
          <a:solidFill>
            <a:srgbClr val="EEF1F8"/>
          </a:solidFill>
          <a:ln>
            <a:noFill/>
          </a:ln>
        </p:spPr>
        <p:txBody>
          <a:bodyPr rtlCol="0" anchor="ctr"/>
          <a:lstStyle/>
          <a:p>
            <a:pPr algn="ctr"/>
          </a:p>
        </p:txBody>
      </p:sp>
      <p:sp>
        <p:nvSpPr>
          <p:cNvPr id="15" name="TextBox 14"/>
          <p:cNvSpPr txBox="1"/>
          <p:nvPr/>
        </p:nvSpPr>
        <p:spPr>
          <a:xfrm>
            <a:off x="4828032" y="1444752"/>
            <a:ext cx="1490472" cy="274320"/>
          </a:xfrm>
          <a:prstGeom prst="rect">
            <a:avLst/>
          </a:prstGeom>
          <a:noFill/>
        </p:spPr>
        <p:txBody>
          <a:bodyPr wrap="square" lIns="0" rIns="0" tIns="0" bIns="0" anchor="ctr">
            <a:noAutofit/>
          </a:bodyPr>
          <a:lstStyle/>
          <a:p>
            <a:pPr algn="l">
              <a:spcBef>
                <a:spcPts val="0"/>
              </a:spcBef>
              <a:spcAft>
                <a:spcPts val="0"/>
              </a:spcAft>
            </a:pPr>
            <a:r>
              <a:rPr sz="1350" b="1" i="0">
                <a:solidFill>
                  <a:srgbClr val="1E2447"/>
                </a:solidFill>
                <a:latin typeface="Cambria"/>
              </a:rPr>
              <a:t>Responsibility</a:t>
            </a:r>
          </a:p>
        </p:txBody>
      </p:sp>
      <p:sp>
        <p:nvSpPr>
          <p:cNvPr id="16" name="TextBox 15"/>
          <p:cNvSpPr txBox="1"/>
          <p:nvPr/>
        </p:nvSpPr>
        <p:spPr>
          <a:xfrm>
            <a:off x="4828032" y="1783080"/>
            <a:ext cx="1490472" cy="54864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fulfilling promises and shared work</a:t>
            </a:r>
          </a:p>
        </p:txBody>
      </p:sp>
      <p:sp>
        <p:nvSpPr>
          <p:cNvPr id="17" name="Rounded Rectangle 16"/>
          <p:cNvSpPr/>
          <p:nvPr/>
        </p:nvSpPr>
        <p:spPr>
          <a:xfrm>
            <a:off x="6647688" y="1325880"/>
            <a:ext cx="1856231" cy="1097280"/>
          </a:xfrm>
          <a:prstGeom prst="roundRect">
            <a:avLst>
              <a:gd name="adj" fmla="val 7000"/>
            </a:avLst>
          </a:prstGeom>
          <a:solidFill>
            <a:srgbClr val="EEF1F8"/>
          </a:solidFill>
          <a:ln>
            <a:noFill/>
          </a:ln>
        </p:spPr>
        <p:txBody>
          <a:bodyPr rtlCol="0" anchor="ctr"/>
          <a:lstStyle/>
          <a:p>
            <a:pPr algn="ctr"/>
          </a:p>
        </p:txBody>
      </p:sp>
      <p:sp>
        <p:nvSpPr>
          <p:cNvPr id="18" name="TextBox 17"/>
          <p:cNvSpPr txBox="1"/>
          <p:nvPr/>
        </p:nvSpPr>
        <p:spPr>
          <a:xfrm>
            <a:off x="6830568" y="1444752"/>
            <a:ext cx="1490472" cy="274320"/>
          </a:xfrm>
          <a:prstGeom prst="rect">
            <a:avLst/>
          </a:prstGeom>
          <a:noFill/>
        </p:spPr>
        <p:txBody>
          <a:bodyPr wrap="square" lIns="0" rIns="0" tIns="0" bIns="0" anchor="ctr">
            <a:noAutofit/>
          </a:bodyPr>
          <a:lstStyle/>
          <a:p>
            <a:pPr algn="l">
              <a:spcBef>
                <a:spcPts val="0"/>
              </a:spcBef>
              <a:spcAft>
                <a:spcPts val="0"/>
              </a:spcAft>
            </a:pPr>
            <a:r>
              <a:rPr sz="1350" b="1" i="0">
                <a:solidFill>
                  <a:srgbClr val="1E2447"/>
                </a:solidFill>
                <a:latin typeface="Cambria"/>
              </a:rPr>
              <a:t>Sustain attention</a:t>
            </a:r>
          </a:p>
        </p:txBody>
      </p:sp>
      <p:sp>
        <p:nvSpPr>
          <p:cNvPr id="19" name="TextBox 18"/>
          <p:cNvSpPr txBox="1"/>
          <p:nvPr/>
        </p:nvSpPr>
        <p:spPr>
          <a:xfrm>
            <a:off x="6830568" y="1783080"/>
            <a:ext cx="1490472" cy="54864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to what matters in living</a:t>
            </a:r>
          </a:p>
        </p:txBody>
      </p:sp>
      <p:sp>
        <p:nvSpPr>
          <p:cNvPr id="20" name="Rounded Rectangle 19"/>
          <p:cNvSpPr/>
          <p:nvPr/>
        </p:nvSpPr>
        <p:spPr>
          <a:xfrm>
            <a:off x="7132320" y="1188720"/>
            <a:ext cx="1371600" cy="182880"/>
          </a:xfrm>
          <a:prstGeom prst="roundRect">
            <a:avLst>
              <a:gd name="adj" fmla="val 50000"/>
            </a:avLst>
          </a:prstGeom>
          <a:solidFill>
            <a:srgbClr val="C9821E"/>
          </a:solidFill>
          <a:ln>
            <a:noFill/>
          </a:ln>
        </p:spPr>
        <p:txBody>
          <a:bodyPr rtlCol="0" anchor="ctr"/>
          <a:lstStyle/>
          <a:p>
            <a:pPr algn="ctr"/>
          </a:p>
        </p:txBody>
      </p:sp>
      <p:sp>
        <p:nvSpPr>
          <p:cNvPr id="21" name="TextBox 20"/>
          <p:cNvSpPr txBox="1"/>
          <p:nvPr/>
        </p:nvSpPr>
        <p:spPr>
          <a:xfrm>
            <a:off x="7132320"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2" name="TextBox 21"/>
          <p:cNvSpPr txBox="1"/>
          <p:nvPr/>
        </p:nvSpPr>
        <p:spPr>
          <a:xfrm>
            <a:off x="1389888" y="2487168"/>
            <a:ext cx="365760"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23" name="TextBox 22"/>
          <p:cNvSpPr txBox="1"/>
          <p:nvPr/>
        </p:nvSpPr>
        <p:spPr>
          <a:xfrm>
            <a:off x="3392423" y="2487168"/>
            <a:ext cx="365760"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24" name="TextBox 23"/>
          <p:cNvSpPr txBox="1"/>
          <p:nvPr/>
        </p:nvSpPr>
        <p:spPr>
          <a:xfrm>
            <a:off x="5394960" y="2487168"/>
            <a:ext cx="365760"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25" name="TextBox 24"/>
          <p:cNvSpPr txBox="1"/>
          <p:nvPr/>
        </p:nvSpPr>
        <p:spPr>
          <a:xfrm>
            <a:off x="7397496" y="2487168"/>
            <a:ext cx="365760"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26" name="Rounded Rectangle 25"/>
          <p:cNvSpPr/>
          <p:nvPr/>
        </p:nvSpPr>
        <p:spPr>
          <a:xfrm>
            <a:off x="640080" y="2971800"/>
            <a:ext cx="7863840" cy="1097280"/>
          </a:xfrm>
          <a:prstGeom prst="roundRect">
            <a:avLst>
              <a:gd name="adj" fmla="val 12000"/>
            </a:avLst>
          </a:prstGeom>
          <a:solidFill>
            <a:srgbClr val="1E2447"/>
          </a:solidFill>
          <a:ln>
            <a:noFill/>
          </a:ln>
        </p:spPr>
        <p:txBody>
          <a:bodyPr rtlCol="0" anchor="ctr"/>
          <a:lstStyle/>
          <a:p>
            <a:pPr algn="ctr"/>
          </a:p>
        </p:txBody>
      </p:sp>
      <p:sp>
        <p:nvSpPr>
          <p:cNvPr id="29" name="TextBox 28"/>
          <p:cNvSpPr txBox="1"/>
          <p:nvPr/>
        </p:nvSpPr>
        <p:spPr>
          <a:xfrm>
            <a:off x="868680" y="3063240"/>
            <a:ext cx="7406640" cy="310896"/>
          </a:xfrm>
          <a:prstGeom prst="rect">
            <a:avLst/>
          </a:prstGeom>
          <a:noFill/>
        </p:spPr>
        <p:txBody>
          <a:bodyPr wrap="square" lIns="0" rIns="0" tIns="0" bIns="0" anchor="ctr">
            <a:noAutofit/>
          </a:bodyPr>
          <a:lstStyle/>
          <a:p>
            <a:pPr algn="ctr">
              <a:spcBef>
                <a:spcPts val="0"/>
              </a:spcBef>
              <a:spcAft>
                <a:spcPts val="0"/>
              </a:spcAft>
            </a:pPr>
            <a:r>
              <a:rPr sz="1400" b="1" i="0">
                <a:solidFill>
                  <a:srgbClr val="C9821E"/>
                </a:solidFill>
                <a:latin typeface="Cambria"/>
              </a:rPr>
              <a:t>The larger human aspiration</a:t>
            </a:r>
          </a:p>
        </p:txBody>
      </p:sp>
      <p:sp>
        <p:nvSpPr>
          <p:cNvPr id="30" name="TextBox 29"/>
          <p:cNvSpPr txBox="1"/>
          <p:nvPr/>
        </p:nvSpPr>
        <p:spPr>
          <a:xfrm>
            <a:off x="868680" y="3401568"/>
            <a:ext cx="7406640" cy="548640"/>
          </a:xfrm>
          <a:prstGeom prst="rect">
            <a:avLst/>
          </a:prstGeom>
          <a:noFill/>
        </p:spPr>
        <p:txBody>
          <a:bodyPr wrap="square" lIns="0" rIns="0" tIns="0" bIns="0" anchor="ctr">
            <a:noAutofit/>
          </a:bodyPr>
          <a:lstStyle/>
          <a:p>
            <a:pPr algn="ctr">
              <a:spcBef>
                <a:spcPts val="0"/>
              </a:spcBef>
              <a:spcAft>
                <a:spcPts val="0"/>
              </a:spcAft>
            </a:pPr>
            <a:r>
              <a:rPr sz="1400" b="0" i="0">
                <a:solidFill>
                  <a:srgbClr val="FFFFFF"/>
                </a:solidFill>
                <a:latin typeface="Calibri"/>
              </a:rPr>
              <a:t>Freedom from delusion  ·  realisation of coexistence  ·  participation in an undivided society</a:t>
            </a:r>
          </a:p>
        </p:txBody>
      </p:sp>
      <p:sp>
        <p:nvSpPr>
          <p:cNvPr id="31" name="TextBox 30"/>
          <p:cNvSpPr txBox="1"/>
          <p:nvPr/>
        </p:nvSpPr>
        <p:spPr>
          <a:xfrm>
            <a:off x="640080" y="4224528"/>
            <a:ext cx="7863840" cy="365760"/>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An instrument is valued by what it contributes to this purpose, not by its capability alone.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ORIENTATION  ·  THE ARGUMENT</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Argument in Four Steps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Note, opening and §§1–4  ·  AnalyticMadhyasthDarshan.org  ·  3 / 31</a:t>
            </a:r>
          </a:p>
        </p:txBody>
      </p:sp>
      <p:sp>
        <p:nvSpPr>
          <p:cNvPr id="8" name="Rounded Rectangle 7"/>
          <p:cNvSpPr/>
          <p:nvPr/>
        </p:nvSpPr>
        <p:spPr>
          <a:xfrm>
            <a:off x="640080" y="1298448"/>
            <a:ext cx="1783080" cy="786384"/>
          </a:xfrm>
          <a:prstGeom prst="roundRect">
            <a:avLst>
              <a:gd name="adj" fmla="val 14000"/>
            </a:avLst>
          </a:prstGeom>
          <a:solidFill>
            <a:srgbClr val="1E2447"/>
          </a:solidFill>
          <a:ln>
            <a:noFill/>
          </a:ln>
        </p:spPr>
        <p:txBody>
          <a:bodyPr rtlCol="0" anchor="ctr"/>
          <a:lstStyle/>
          <a:p>
            <a:pPr algn="ctr"/>
          </a:p>
        </p:txBody>
      </p:sp>
      <p:sp>
        <p:nvSpPr>
          <p:cNvPr id="9" name="TextBox 8"/>
          <p:cNvSpPr txBox="1"/>
          <p:nvPr/>
        </p:nvSpPr>
        <p:spPr>
          <a:xfrm>
            <a:off x="694944" y="1298448"/>
            <a:ext cx="1673352" cy="78638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Instruments serve</a:t>
            </a:r>
          </a:p>
          <a:p>
            <a:pPr algn="ctr">
              <a:spcBef>
                <a:spcPts val="0"/>
              </a:spcBef>
              <a:spcAft>
                <a:spcPts val="0"/>
              </a:spcAft>
            </a:pPr>
            <a:r>
              <a:rPr sz="1000" b="0" i="1">
                <a:solidFill>
                  <a:srgbClr val="C9D4EF"/>
                </a:solidFill>
                <a:latin typeface="Calibri"/>
              </a:rPr>
              <a:t>the human purpose</a:t>
            </a:r>
          </a:p>
          <a:p>
            <a:pPr algn="ctr">
              <a:spcBef>
                <a:spcPts val="0"/>
              </a:spcBef>
              <a:spcAft>
                <a:spcPts val="0"/>
              </a:spcAft>
            </a:pPr>
            <a:r>
              <a:rPr sz="1000" b="0" i="1">
                <a:solidFill>
                  <a:srgbClr val="C9D4EF"/>
                </a:solidFill>
                <a:latin typeface="Calibri"/>
              </a:rPr>
              <a:t>§1</a:t>
            </a:r>
          </a:p>
        </p:txBody>
      </p:sp>
      <p:sp>
        <p:nvSpPr>
          <p:cNvPr id="10" name="TextBox 9"/>
          <p:cNvSpPr txBox="1"/>
          <p:nvPr/>
        </p:nvSpPr>
        <p:spPr>
          <a:xfrm>
            <a:off x="2423160" y="1481328"/>
            <a:ext cx="219456" cy="365760"/>
          </a:xfrm>
          <a:prstGeom prst="rect">
            <a:avLst/>
          </a:prstGeom>
          <a:noFill/>
        </p:spPr>
        <p:txBody>
          <a:bodyPr wrap="square" lIns="0" rIns="0" tIns="0" bIns="0" anchor="ctr">
            <a:noAutofit/>
          </a:bodyPr>
          <a:lstStyle/>
          <a:p>
            <a:pPr algn="ctr">
              <a:spcBef>
                <a:spcPts val="0"/>
              </a:spcBef>
              <a:spcAft>
                <a:spcPts val="0"/>
              </a:spcAft>
            </a:pPr>
            <a:r>
              <a:rPr sz="2000" b="1" i="0">
                <a:solidFill>
                  <a:srgbClr val="C9821E"/>
                </a:solidFill>
                <a:latin typeface="Calibri"/>
              </a:rPr>
              <a:t>›</a:t>
            </a:r>
          </a:p>
        </p:txBody>
      </p:sp>
      <p:sp>
        <p:nvSpPr>
          <p:cNvPr id="11" name="Rounded Rectangle 10"/>
          <p:cNvSpPr/>
          <p:nvPr/>
        </p:nvSpPr>
        <p:spPr>
          <a:xfrm>
            <a:off x="2642615" y="1298448"/>
            <a:ext cx="1783080" cy="786384"/>
          </a:xfrm>
          <a:prstGeom prst="roundRect">
            <a:avLst>
              <a:gd name="adj" fmla="val 14000"/>
            </a:avLst>
          </a:prstGeom>
          <a:solidFill>
            <a:srgbClr val="1E2447"/>
          </a:solidFill>
          <a:ln>
            <a:noFill/>
          </a:ln>
        </p:spPr>
        <p:txBody>
          <a:bodyPr rtlCol="0" anchor="ctr"/>
          <a:lstStyle/>
          <a:p>
            <a:pPr algn="ctr"/>
          </a:p>
        </p:txBody>
      </p:sp>
      <p:sp>
        <p:nvSpPr>
          <p:cNvPr id="12" name="TextBox 11"/>
          <p:cNvSpPr txBox="1"/>
          <p:nvPr/>
        </p:nvSpPr>
        <p:spPr>
          <a:xfrm>
            <a:off x="2697479" y="1298448"/>
            <a:ext cx="1673352" cy="78638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AI is yantra;</a:t>
            </a:r>
          </a:p>
          <a:p>
            <a:pPr algn="ctr">
              <a:spcBef>
                <a:spcPts val="0"/>
              </a:spcBef>
              <a:spcAft>
                <a:spcPts val="0"/>
              </a:spcAft>
            </a:pPr>
            <a:r>
              <a:rPr sz="1000" b="0" i="1">
                <a:solidFill>
                  <a:srgbClr val="C9D4EF"/>
                </a:solidFill>
                <a:latin typeface="Calibri"/>
              </a:rPr>
              <a:t>jeevan is the knower</a:t>
            </a:r>
          </a:p>
          <a:p>
            <a:pPr algn="ctr">
              <a:spcBef>
                <a:spcPts val="0"/>
              </a:spcBef>
              <a:spcAft>
                <a:spcPts val="0"/>
              </a:spcAft>
            </a:pPr>
            <a:r>
              <a:rPr sz="1000" b="0" i="1">
                <a:solidFill>
                  <a:srgbClr val="C9D4EF"/>
                </a:solidFill>
                <a:latin typeface="Calibri"/>
              </a:rPr>
              <a:t>§2</a:t>
            </a:r>
          </a:p>
        </p:txBody>
      </p:sp>
      <p:sp>
        <p:nvSpPr>
          <p:cNvPr id="13" name="TextBox 12"/>
          <p:cNvSpPr txBox="1"/>
          <p:nvPr/>
        </p:nvSpPr>
        <p:spPr>
          <a:xfrm>
            <a:off x="4425696" y="1481328"/>
            <a:ext cx="219456" cy="365760"/>
          </a:xfrm>
          <a:prstGeom prst="rect">
            <a:avLst/>
          </a:prstGeom>
          <a:noFill/>
        </p:spPr>
        <p:txBody>
          <a:bodyPr wrap="square" lIns="0" rIns="0" tIns="0" bIns="0" anchor="ctr">
            <a:noAutofit/>
          </a:bodyPr>
          <a:lstStyle/>
          <a:p>
            <a:pPr algn="ctr">
              <a:spcBef>
                <a:spcPts val="0"/>
              </a:spcBef>
              <a:spcAft>
                <a:spcPts val="0"/>
              </a:spcAft>
            </a:pPr>
            <a:r>
              <a:rPr sz="2000" b="1" i="0">
                <a:solidFill>
                  <a:srgbClr val="C9821E"/>
                </a:solidFill>
                <a:latin typeface="Calibri"/>
              </a:rPr>
              <a:t>›</a:t>
            </a:r>
          </a:p>
        </p:txBody>
      </p:sp>
      <p:sp>
        <p:nvSpPr>
          <p:cNvPr id="14" name="Rounded Rectangle 13"/>
          <p:cNvSpPr/>
          <p:nvPr/>
        </p:nvSpPr>
        <p:spPr>
          <a:xfrm>
            <a:off x="4645152" y="1298448"/>
            <a:ext cx="1783080" cy="786384"/>
          </a:xfrm>
          <a:prstGeom prst="roundRect">
            <a:avLst>
              <a:gd name="adj" fmla="val 14000"/>
            </a:avLst>
          </a:prstGeom>
          <a:solidFill>
            <a:srgbClr val="1E2447"/>
          </a:solidFill>
          <a:ln>
            <a:noFill/>
          </a:ln>
        </p:spPr>
        <p:txBody>
          <a:bodyPr rtlCol="0" anchor="ctr"/>
          <a:lstStyle/>
          <a:p>
            <a:pPr algn="ctr"/>
          </a:p>
        </p:txBody>
      </p:sp>
      <p:sp>
        <p:nvSpPr>
          <p:cNvPr id="15" name="TextBox 14"/>
          <p:cNvSpPr txBox="1"/>
          <p:nvPr/>
        </p:nvSpPr>
        <p:spPr>
          <a:xfrm>
            <a:off x="4700016" y="1298448"/>
            <a:ext cx="1673352" cy="78638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AI can act like</a:t>
            </a:r>
          </a:p>
          <a:p>
            <a:pPr algn="ctr">
              <a:spcBef>
                <a:spcPts val="0"/>
              </a:spcBef>
              <a:spcAft>
                <a:spcPts val="0"/>
              </a:spcAft>
            </a:pPr>
            <a:r>
              <a:rPr sz="1000" b="0" i="1">
                <a:solidFill>
                  <a:srgbClr val="C9D4EF"/>
                </a:solidFill>
                <a:latin typeface="Calibri"/>
              </a:rPr>
              <a:t>a deluded jeevan</a:t>
            </a:r>
          </a:p>
          <a:p>
            <a:pPr algn="ctr">
              <a:spcBef>
                <a:spcPts val="0"/>
              </a:spcBef>
              <a:spcAft>
                <a:spcPts val="0"/>
              </a:spcAft>
            </a:pPr>
            <a:r>
              <a:rPr sz="1000" b="0" i="1">
                <a:solidFill>
                  <a:srgbClr val="C9D4EF"/>
                </a:solidFill>
                <a:latin typeface="Calibri"/>
              </a:rPr>
              <a:t>§3</a:t>
            </a:r>
          </a:p>
        </p:txBody>
      </p:sp>
      <p:sp>
        <p:nvSpPr>
          <p:cNvPr id="16" name="TextBox 15"/>
          <p:cNvSpPr txBox="1"/>
          <p:nvPr/>
        </p:nvSpPr>
        <p:spPr>
          <a:xfrm>
            <a:off x="6428232" y="1481328"/>
            <a:ext cx="219456" cy="365760"/>
          </a:xfrm>
          <a:prstGeom prst="rect">
            <a:avLst/>
          </a:prstGeom>
          <a:noFill/>
        </p:spPr>
        <p:txBody>
          <a:bodyPr wrap="square" lIns="0" rIns="0" tIns="0" bIns="0" anchor="ctr">
            <a:noAutofit/>
          </a:bodyPr>
          <a:lstStyle/>
          <a:p>
            <a:pPr algn="ctr">
              <a:spcBef>
                <a:spcPts val="0"/>
              </a:spcBef>
              <a:spcAft>
                <a:spcPts val="0"/>
              </a:spcAft>
            </a:pPr>
            <a:r>
              <a:rPr sz="2000" b="1" i="0">
                <a:solidFill>
                  <a:srgbClr val="C9821E"/>
                </a:solidFill>
                <a:latin typeface="Calibri"/>
              </a:rPr>
              <a:t>›</a:t>
            </a:r>
          </a:p>
        </p:txBody>
      </p:sp>
      <p:sp>
        <p:nvSpPr>
          <p:cNvPr id="17" name="Rounded Rectangle 16"/>
          <p:cNvSpPr/>
          <p:nvPr/>
        </p:nvSpPr>
        <p:spPr>
          <a:xfrm>
            <a:off x="6647688" y="1298448"/>
            <a:ext cx="1783080" cy="786384"/>
          </a:xfrm>
          <a:prstGeom prst="roundRect">
            <a:avLst>
              <a:gd name="adj" fmla="val 14000"/>
            </a:avLst>
          </a:prstGeom>
          <a:solidFill>
            <a:srgbClr val="1E2447"/>
          </a:solidFill>
          <a:ln>
            <a:noFill/>
          </a:ln>
        </p:spPr>
        <p:txBody>
          <a:bodyPr rtlCol="0" anchor="ctr"/>
          <a:lstStyle/>
          <a:p>
            <a:pPr algn="ctr"/>
          </a:p>
        </p:txBody>
      </p:sp>
      <p:sp>
        <p:nvSpPr>
          <p:cNvPr id="18" name="TextBox 17"/>
          <p:cNvSpPr txBox="1"/>
          <p:nvPr/>
        </p:nvSpPr>
        <p:spPr>
          <a:xfrm>
            <a:off x="6702552" y="1298448"/>
            <a:ext cx="1673352" cy="78638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One capacity,</a:t>
            </a:r>
          </a:p>
          <a:p>
            <a:pPr algn="ctr">
              <a:spcBef>
                <a:spcPts val="0"/>
              </a:spcBef>
              <a:spcAft>
                <a:spcPts val="0"/>
              </a:spcAft>
            </a:pPr>
            <a:r>
              <a:rPr sz="1000" b="0" i="1">
                <a:solidFill>
                  <a:srgbClr val="C9D4EF"/>
                </a:solidFill>
                <a:latin typeface="Calibri"/>
              </a:rPr>
              <a:t>two directions</a:t>
            </a:r>
          </a:p>
          <a:p>
            <a:pPr algn="ctr">
              <a:spcBef>
                <a:spcPts val="0"/>
              </a:spcBef>
              <a:spcAft>
                <a:spcPts val="0"/>
              </a:spcAft>
            </a:pPr>
            <a:r>
              <a:rPr sz="1000" b="0" i="1">
                <a:solidFill>
                  <a:srgbClr val="C9D4EF"/>
                </a:solidFill>
                <a:latin typeface="Calibri"/>
              </a:rPr>
              <a:t>§4</a:t>
            </a:r>
          </a:p>
        </p:txBody>
      </p:sp>
      <p:cxnSp>
        <p:nvCxnSpPr>
          <p:cNvPr id="19" name="Connector 18"/>
          <p:cNvCxnSpPr/>
          <p:nvPr/>
        </p:nvCxnSpPr>
        <p:spPr>
          <a:xfrm>
            <a:off x="7539227" y="2084831"/>
            <a:ext cx="0" cy="228601"/>
          </a:xfrm>
          <a:prstGeom prst="line">
            <a:avLst/>
          </a:prstGeom>
          <a:ln w="22225">
            <a:solidFill>
              <a:srgbClr val="C9821E"/>
            </a:solidFill>
          </a:ln>
        </p:spPr>
      </p:cxnSp>
      <p:cxnSp>
        <p:nvCxnSpPr>
          <p:cNvPr id="20" name="Connector 19"/>
          <p:cNvCxnSpPr/>
          <p:nvPr/>
        </p:nvCxnSpPr>
        <p:spPr>
          <a:xfrm>
            <a:off x="2560320" y="2313432"/>
            <a:ext cx="4978907" cy="0"/>
          </a:xfrm>
          <a:prstGeom prst="line">
            <a:avLst/>
          </a:prstGeom>
          <a:ln w="22225">
            <a:solidFill>
              <a:srgbClr val="C9821E"/>
            </a:solidFill>
          </a:ln>
        </p:spPr>
      </p:cxnSp>
      <p:cxnSp>
        <p:nvCxnSpPr>
          <p:cNvPr id="21" name="Connector 20"/>
          <p:cNvCxnSpPr/>
          <p:nvPr/>
        </p:nvCxnSpPr>
        <p:spPr>
          <a:xfrm>
            <a:off x="2560320" y="2313432"/>
            <a:ext cx="0" cy="283464"/>
          </a:xfrm>
          <a:prstGeom prst="line">
            <a:avLst/>
          </a:prstGeom>
          <a:ln w="22225">
            <a:solidFill>
              <a:srgbClr val="C9821E"/>
            </a:solidFill>
            <a:tailEnd type="triangle" w="med" h="med"/>
          </a:ln>
        </p:spPr>
      </p:cxnSp>
      <p:cxnSp>
        <p:nvCxnSpPr>
          <p:cNvPr id="22" name="Connector 21"/>
          <p:cNvCxnSpPr/>
          <p:nvPr/>
        </p:nvCxnSpPr>
        <p:spPr>
          <a:xfrm>
            <a:off x="6583680" y="2313432"/>
            <a:ext cx="0" cy="283464"/>
          </a:xfrm>
          <a:prstGeom prst="line">
            <a:avLst/>
          </a:prstGeom>
          <a:ln w="22225">
            <a:solidFill>
              <a:srgbClr val="C9821E"/>
            </a:solidFill>
            <a:tailEnd type="triangle" w="med" h="med"/>
          </a:ln>
        </p:spPr>
      </p:cxnSp>
      <p:sp>
        <p:nvSpPr>
          <p:cNvPr id="23" name="Rounded Rectangle 22"/>
          <p:cNvSpPr/>
          <p:nvPr/>
        </p:nvSpPr>
        <p:spPr>
          <a:xfrm>
            <a:off x="640080" y="2615184"/>
            <a:ext cx="3840480" cy="932688"/>
          </a:xfrm>
          <a:prstGeom prst="roundRect">
            <a:avLst>
              <a:gd name="adj" fmla="val 7000"/>
            </a:avLst>
          </a:prstGeom>
          <a:solidFill>
            <a:srgbClr val="F1F2F4"/>
          </a:solidFill>
          <a:ln>
            <a:noFill/>
          </a:ln>
        </p:spPr>
        <p:txBody>
          <a:bodyPr rtlCol="0" anchor="ctr"/>
          <a:lstStyle/>
          <a:p>
            <a:pPr algn="ctr"/>
          </a:p>
        </p:txBody>
      </p:sp>
      <p:sp>
        <p:nvSpPr>
          <p:cNvPr id="24" name="TextBox 23"/>
          <p:cNvSpPr txBox="1"/>
          <p:nvPr/>
        </p:nvSpPr>
        <p:spPr>
          <a:xfrm>
            <a:off x="822959" y="2734056"/>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Amplified 4.5 machine</a:t>
            </a:r>
          </a:p>
        </p:txBody>
      </p:sp>
      <p:sp>
        <p:nvSpPr>
          <p:cNvPr id="25" name="TextBox 24"/>
          <p:cNvSpPr txBox="1"/>
          <p:nvPr/>
        </p:nvSpPr>
        <p:spPr>
          <a:xfrm>
            <a:off x="822959" y="3035808"/>
            <a:ext cx="3474720" cy="42062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Restricted purposes optimised with greater speed, persistence, and reach.</a:t>
            </a:r>
          </a:p>
        </p:txBody>
      </p:sp>
      <p:sp>
        <p:nvSpPr>
          <p:cNvPr id="26" name="Rounded Rectangle 25"/>
          <p:cNvSpPr/>
          <p:nvPr/>
        </p:nvSpPr>
        <p:spPr>
          <a:xfrm>
            <a:off x="4663440" y="2615184"/>
            <a:ext cx="3840480" cy="932688"/>
          </a:xfrm>
          <a:prstGeom prst="roundRect">
            <a:avLst>
              <a:gd name="adj" fmla="val 7000"/>
            </a:avLst>
          </a:prstGeom>
          <a:solidFill>
            <a:srgbClr val="FAF1DF"/>
          </a:solidFill>
          <a:ln>
            <a:noFill/>
          </a:ln>
        </p:spPr>
        <p:txBody>
          <a:bodyPr rtlCol="0" anchor="ctr"/>
          <a:lstStyle/>
          <a:p>
            <a:pPr algn="ctr"/>
          </a:p>
        </p:txBody>
      </p:sp>
      <p:sp>
        <p:nvSpPr>
          <p:cNvPr id="27" name="TextBox 26"/>
          <p:cNvSpPr txBox="1"/>
          <p:nvPr/>
        </p:nvSpPr>
        <p:spPr>
          <a:xfrm>
            <a:off x="4846320" y="2734056"/>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Diagnostic mirror</a:t>
            </a:r>
          </a:p>
        </p:txBody>
      </p:sp>
      <p:sp>
        <p:nvSpPr>
          <p:cNvPr id="28" name="TextBox 27"/>
          <p:cNvSpPr txBox="1"/>
          <p:nvPr/>
        </p:nvSpPr>
        <p:spPr>
          <a:xfrm>
            <a:off x="4846320" y="3035808"/>
            <a:ext cx="3474720" cy="42062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The assumptions, omissions, and consequences of those purposes made visible.</a:t>
            </a:r>
          </a:p>
        </p:txBody>
      </p:sp>
      <p:sp>
        <p:nvSpPr>
          <p:cNvPr id="29" name="TextBox 28"/>
          <p:cNvSpPr txBox="1"/>
          <p:nvPr/>
        </p:nvSpPr>
        <p:spPr>
          <a:xfrm>
            <a:off x="640080" y="3639312"/>
            <a:ext cx="7863840" cy="274320"/>
          </a:xfrm>
          <a:prstGeom prst="rect">
            <a:avLst/>
          </a:prstGeom>
          <a:noFill/>
        </p:spPr>
        <p:txBody>
          <a:bodyPr wrap="square" lIns="0" rIns="0" tIns="0" bIns="0" anchor="ctr">
            <a:noAutofit/>
          </a:bodyPr>
          <a:lstStyle/>
          <a:p>
            <a:pPr algn="l">
              <a:spcBef>
                <a:spcPts val="0"/>
              </a:spcBef>
              <a:spcAft>
                <a:spcPts val="0"/>
              </a:spcAft>
            </a:pPr>
            <a:r>
              <a:rPr sz="1200" b="1" i="0">
                <a:solidFill>
                  <a:srgbClr val="1E2447"/>
                </a:solidFill>
                <a:latin typeface="Calibri"/>
              </a:rPr>
              <a:t>→  Three roles: diagnostic mirror  ·  educational companion  ·  practical assistant  (§§4–5)</a:t>
            </a:r>
          </a:p>
        </p:txBody>
      </p:sp>
      <p:sp>
        <p:nvSpPr>
          <p:cNvPr id="30" name="Rounded Rectangle 29"/>
          <p:cNvSpPr/>
          <p:nvPr/>
        </p:nvSpPr>
        <p:spPr>
          <a:xfrm>
            <a:off x="640080" y="4041648"/>
            <a:ext cx="7863840" cy="640080"/>
          </a:xfrm>
          <a:prstGeom prst="roundRect">
            <a:avLst>
              <a:gd name="adj" fmla="val 12000"/>
            </a:avLst>
          </a:prstGeom>
          <a:solidFill>
            <a:srgbClr val="F1F2F4"/>
          </a:solidFill>
          <a:ln>
            <a:noFill/>
          </a:ln>
        </p:spPr>
        <p:txBody>
          <a:bodyPr rtlCol="0" anchor="ctr"/>
          <a:lstStyle/>
          <a:p>
            <a:pPr algn="ctr"/>
          </a:p>
        </p:txBody>
      </p:sp>
      <p:sp>
        <p:nvSpPr>
          <p:cNvPr id="33" name="TextBox 32"/>
          <p:cNvSpPr txBox="1"/>
          <p:nvPr/>
        </p:nvSpPr>
        <p:spPr>
          <a:xfrm>
            <a:off x="868680" y="4096512"/>
            <a:ext cx="3383280" cy="274320"/>
          </a:xfrm>
          <a:prstGeom prst="rect">
            <a:avLst/>
          </a:prstGeom>
          <a:noFill/>
        </p:spPr>
        <p:txBody>
          <a:bodyPr wrap="square" lIns="0" rIns="0" tIns="0" bIns="0" anchor="ctr">
            <a:noAutofit/>
          </a:bodyPr>
          <a:lstStyle/>
          <a:p>
            <a:pPr algn="l">
              <a:spcBef>
                <a:spcPts val="0"/>
              </a:spcBef>
              <a:spcAft>
                <a:spcPts val="0"/>
              </a:spcAft>
            </a:pPr>
            <a:r>
              <a:rPr sz="1050" b="0" i="1">
                <a:solidFill>
                  <a:srgbClr val="1E2447"/>
                </a:solidFill>
                <a:latin typeface="Calibri"/>
              </a:rPr>
              <a:t>Untagged content: what the primary texts teach</a:t>
            </a:r>
          </a:p>
        </p:txBody>
      </p:sp>
      <p:sp>
        <p:nvSpPr>
          <p:cNvPr id="34" name="Rounded Rectangle 33"/>
          <p:cNvSpPr/>
          <p:nvPr/>
        </p:nvSpPr>
        <p:spPr>
          <a:xfrm>
            <a:off x="4343400" y="4133087"/>
            <a:ext cx="1371600" cy="182880"/>
          </a:xfrm>
          <a:prstGeom prst="roundRect">
            <a:avLst>
              <a:gd name="adj" fmla="val 50000"/>
            </a:avLst>
          </a:prstGeom>
          <a:solidFill>
            <a:srgbClr val="C9821E"/>
          </a:solidFill>
          <a:ln>
            <a:noFill/>
          </a:ln>
        </p:spPr>
        <p:txBody>
          <a:bodyPr rtlCol="0" anchor="ctr"/>
          <a:lstStyle/>
          <a:p>
            <a:pPr algn="ctr"/>
          </a:p>
        </p:txBody>
      </p:sp>
      <p:sp>
        <p:nvSpPr>
          <p:cNvPr id="35" name="TextBox 34"/>
          <p:cNvSpPr txBox="1"/>
          <p:nvPr/>
        </p:nvSpPr>
        <p:spPr>
          <a:xfrm>
            <a:off x="4343400" y="4133087"/>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36" name="TextBox 35"/>
          <p:cNvSpPr txBox="1"/>
          <p:nvPr/>
        </p:nvSpPr>
        <p:spPr>
          <a:xfrm>
            <a:off x="5806440" y="4096512"/>
            <a:ext cx="2651760" cy="274320"/>
          </a:xfrm>
          <a:prstGeom prst="rect">
            <a:avLst/>
          </a:prstGeom>
          <a:noFill/>
        </p:spPr>
        <p:txBody>
          <a:bodyPr wrap="square" lIns="0" rIns="0" tIns="0" bIns="0" anchor="ctr">
            <a:noAutofit/>
          </a:bodyPr>
          <a:lstStyle/>
          <a:p>
            <a:pPr algn="l">
              <a:spcBef>
                <a:spcPts val="0"/>
              </a:spcBef>
              <a:spcAft>
                <a:spcPts val="0"/>
              </a:spcAft>
            </a:pPr>
            <a:r>
              <a:rPr sz="1050" b="0" i="0">
                <a:solidFill>
                  <a:srgbClr val="5A6377"/>
                </a:solidFill>
                <a:latin typeface="Calibri"/>
              </a:rPr>
              <a:t>the AI analogy and applications</a:t>
            </a:r>
          </a:p>
        </p:txBody>
      </p:sp>
      <p:sp>
        <p:nvSpPr>
          <p:cNvPr id="37" name="Rounded Rectangle 36"/>
          <p:cNvSpPr/>
          <p:nvPr/>
        </p:nvSpPr>
        <p:spPr>
          <a:xfrm>
            <a:off x="868680" y="4407408"/>
            <a:ext cx="713232" cy="182880"/>
          </a:xfrm>
          <a:prstGeom prst="roundRect">
            <a:avLst>
              <a:gd name="adj" fmla="val 50000"/>
            </a:avLst>
          </a:prstGeom>
          <a:solidFill>
            <a:srgbClr val="7A8295"/>
          </a:solidFill>
          <a:ln>
            <a:noFill/>
          </a:ln>
        </p:spPr>
        <p:txBody>
          <a:bodyPr rtlCol="0" anchor="ctr"/>
          <a:lstStyle/>
          <a:p>
            <a:pPr algn="ctr"/>
          </a:p>
        </p:txBody>
      </p:sp>
      <p:sp>
        <p:nvSpPr>
          <p:cNvPr id="38" name="TextBox 37"/>
          <p:cNvSpPr txBox="1"/>
          <p:nvPr/>
        </p:nvSpPr>
        <p:spPr>
          <a:xfrm>
            <a:off x="868680" y="4407408"/>
            <a:ext cx="713232"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RESEARCH</a:t>
            </a:r>
          </a:p>
        </p:txBody>
      </p:sp>
      <p:sp>
        <p:nvSpPr>
          <p:cNvPr id="39" name="TextBox 38"/>
          <p:cNvSpPr txBox="1"/>
          <p:nvPr/>
        </p:nvSpPr>
        <p:spPr>
          <a:xfrm>
            <a:off x="1673352" y="4370832"/>
            <a:ext cx="6309360" cy="274320"/>
          </a:xfrm>
          <a:prstGeom prst="rect">
            <a:avLst/>
          </a:prstGeom>
          <a:noFill/>
        </p:spPr>
        <p:txBody>
          <a:bodyPr wrap="square" lIns="0" rIns="0" tIns="0" bIns="0" anchor="ctr">
            <a:noAutofit/>
          </a:bodyPr>
          <a:lstStyle/>
          <a:p>
            <a:pPr algn="l">
              <a:spcBef>
                <a:spcPts val="0"/>
              </a:spcBef>
              <a:spcAft>
                <a:spcPts val="0"/>
              </a:spcAft>
            </a:pPr>
            <a:r>
              <a:rPr sz="1050" b="0" i="0">
                <a:solidFill>
                  <a:srgbClr val="5A6377"/>
                </a:solidFill>
                <a:latin typeface="Calibri"/>
              </a:rPr>
              <a:t>bounded contemporary findings, cited with their scope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  ·  THE HUMAN PURPOSE  ·  §1.1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Continuing Happiness and Akhand Samaj</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8, 113–115  ·  JV pp. 54, 109  ·  KD pp. 99, 116  ·  AnalyticMadhyasthDarshan.org  ·  4 / 31</a:t>
            </a:r>
          </a:p>
        </p:txBody>
      </p:sp>
      <p:sp>
        <p:nvSpPr>
          <p:cNvPr id="8" name="Rounded Rectangle 7"/>
          <p:cNvSpPr/>
          <p:nvPr/>
        </p:nvSpPr>
        <p:spPr>
          <a:xfrm>
            <a:off x="640080" y="1280160"/>
            <a:ext cx="3840480" cy="1371600"/>
          </a:xfrm>
          <a:prstGeom prst="roundRect">
            <a:avLst>
              <a:gd name="adj" fmla="val 7000"/>
            </a:avLst>
          </a:prstGeom>
          <a:solidFill>
            <a:srgbClr val="EEF1F8"/>
          </a:solidFill>
          <a:ln>
            <a:noFill/>
          </a:ln>
        </p:spPr>
        <p:txBody>
          <a:bodyPr rtlCol="0" anchor="ctr"/>
          <a:lstStyle/>
          <a:p>
            <a:pPr algn="ctr"/>
          </a:p>
        </p:txBody>
      </p:sp>
      <p:sp>
        <p:nvSpPr>
          <p:cNvPr id="11" name="TextBox 10"/>
          <p:cNvSpPr txBox="1"/>
          <p:nvPr/>
        </p:nvSpPr>
        <p:spPr>
          <a:xfrm>
            <a:off x="822959"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The human aspiration</a:t>
            </a:r>
          </a:p>
        </p:txBody>
      </p:sp>
      <p:sp>
        <p:nvSpPr>
          <p:cNvPr id="12" name="TextBox 11"/>
          <p:cNvSpPr txBox="1"/>
          <p:nvPr/>
        </p:nvSpPr>
        <p:spPr>
          <a:xfrm>
            <a:off x="822959" y="1700784"/>
            <a:ext cx="3474720" cy="85953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Continuing happiness, </a:t>
            </a:r>
            <a:r>
              <a:rPr sz="1150" b="0" i="1">
                <a:solidFill>
                  <a:srgbClr val="5A6377"/>
                </a:solidFill>
                <a:latin typeface="Calibri"/>
              </a:rPr>
              <a:t>sukh</a:t>
            </a:r>
            <a:r>
              <a:rPr sz="1150" b="0" i="0">
                <a:solidFill>
                  <a:srgbClr val="5A6377"/>
                </a:solidFill>
                <a:latin typeface="Calibri"/>
              </a:rPr>
              <a:t>, grounded in resolution, </a:t>
            </a:r>
            <a:r>
              <a:rPr sz="1150" b="0" i="1">
                <a:solidFill>
                  <a:srgbClr val="5A6377"/>
                </a:solidFill>
                <a:latin typeface="Calibri"/>
              </a:rPr>
              <a:t>samadhan</a:t>
            </a:r>
            <a:r>
              <a:rPr sz="1150" b="0" i="0">
                <a:solidFill>
                  <a:srgbClr val="5A6377"/>
                </a:solidFill>
                <a:latin typeface="Calibri"/>
              </a:rPr>
              <a:t>: understanding oneself, relationships, and existence, expressed in conduct.</a:t>
            </a:r>
          </a:p>
        </p:txBody>
      </p:sp>
      <p:sp>
        <p:nvSpPr>
          <p:cNvPr id="13" name="Rounded Rectangle 12"/>
          <p:cNvSpPr/>
          <p:nvPr/>
        </p:nvSpPr>
        <p:spPr>
          <a:xfrm>
            <a:off x="640080" y="2816352"/>
            <a:ext cx="3840480" cy="1371600"/>
          </a:xfrm>
          <a:prstGeom prst="roundRect">
            <a:avLst>
              <a:gd name="adj" fmla="val 7000"/>
            </a:avLst>
          </a:prstGeom>
          <a:solidFill>
            <a:srgbClr val="EEF1F8"/>
          </a:solidFill>
          <a:ln>
            <a:noFill/>
          </a:ln>
        </p:spPr>
        <p:txBody>
          <a:bodyPr rtlCol="0" anchor="ctr"/>
          <a:lstStyle/>
          <a:p>
            <a:pPr algn="ctr"/>
          </a:p>
        </p:txBody>
      </p:sp>
      <p:sp>
        <p:nvSpPr>
          <p:cNvPr id="16" name="TextBox 15"/>
          <p:cNvSpPr txBox="1"/>
          <p:nvPr/>
        </p:nvSpPr>
        <p:spPr>
          <a:xfrm>
            <a:off x="822959" y="2935224"/>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Undivided society</a:t>
            </a:r>
          </a:p>
        </p:txBody>
      </p:sp>
      <p:sp>
        <p:nvSpPr>
          <p:cNvPr id="17" name="TextBox 16"/>
          <p:cNvSpPr txBox="1"/>
          <p:nvPr/>
        </p:nvSpPr>
        <p:spPr>
          <a:xfrm>
            <a:off x="822959" y="3236976"/>
            <a:ext cx="3474720" cy="859536"/>
          </a:xfrm>
          <a:prstGeom prst="rect">
            <a:avLst/>
          </a:prstGeom>
          <a:noFill/>
        </p:spPr>
        <p:txBody>
          <a:bodyPr wrap="square" lIns="0" rIns="0" tIns="0" bIns="0" anchor="t">
            <a:noAutofit/>
          </a:bodyPr>
          <a:lstStyle/>
          <a:p>
            <a:pPr algn="l">
              <a:spcBef>
                <a:spcPts val="0"/>
              </a:spcBef>
              <a:spcAft>
                <a:spcPts val="0"/>
              </a:spcAft>
            </a:pPr>
            <a:r>
              <a:rPr sz="1150" b="0" i="1">
                <a:solidFill>
                  <a:srgbClr val="5A6377"/>
                </a:solidFill>
                <a:latin typeface="Calibri"/>
              </a:rPr>
              <a:t>Akhand samaj</a:t>
            </a:r>
            <a:r>
              <a:rPr sz="1150" b="0" i="0">
                <a:solidFill>
                  <a:srgbClr val="5A6377"/>
                </a:solidFill>
                <a:latin typeface="Calibri"/>
              </a:rPr>
              <a:t> rests on recognising humanity in every person. Education, justice, care, production, and exchange become connected fields.</a:t>
            </a:r>
          </a:p>
        </p:txBody>
      </p:sp>
      <p:sp>
        <p:nvSpPr>
          <p:cNvPr id="18" name="Rounded Rectangle 17"/>
          <p:cNvSpPr/>
          <p:nvPr/>
        </p:nvSpPr>
        <p:spPr>
          <a:xfrm>
            <a:off x="4663440" y="1280160"/>
            <a:ext cx="3840480" cy="2907792"/>
          </a:xfrm>
          <a:prstGeom prst="roundRect">
            <a:avLst>
              <a:gd name="adj" fmla="val 6000"/>
            </a:avLst>
          </a:prstGeom>
          <a:solidFill>
            <a:srgbClr val="FAF1DF"/>
          </a:solidFill>
          <a:ln>
            <a:noFill/>
          </a:ln>
        </p:spPr>
        <p:txBody>
          <a:bodyPr rtlCol="0" anchor="ctr"/>
          <a:lstStyle/>
          <a:p>
            <a:pPr algn="ctr"/>
          </a:p>
        </p:txBody>
      </p:sp>
      <p:sp>
        <p:nvSpPr>
          <p:cNvPr id="19" name="Rounded Rectangle 18"/>
          <p:cNvSpPr/>
          <p:nvPr/>
        </p:nvSpPr>
        <p:spPr>
          <a:xfrm>
            <a:off x="7004304" y="1188720"/>
            <a:ext cx="1371600" cy="182880"/>
          </a:xfrm>
          <a:prstGeom prst="roundRect">
            <a:avLst>
              <a:gd name="adj" fmla="val 50000"/>
            </a:avLst>
          </a:prstGeom>
          <a:solidFill>
            <a:srgbClr val="C9821E"/>
          </a:solidFill>
          <a:ln>
            <a:noFill/>
          </a:ln>
        </p:spPr>
        <p:txBody>
          <a:bodyPr rtlCol="0" anchor="ctr"/>
          <a:lstStyle/>
          <a:p>
            <a:pPr algn="ctr"/>
          </a:p>
        </p:txBody>
      </p:sp>
      <p:sp>
        <p:nvSpPr>
          <p:cNvPr id="20" name="TextBox 19"/>
          <p:cNvSpPr txBox="1"/>
          <p:nvPr/>
        </p:nvSpPr>
        <p:spPr>
          <a:xfrm>
            <a:off x="700430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1" name="TextBox 20"/>
          <p:cNvSpPr txBox="1"/>
          <p:nvPr/>
        </p:nvSpPr>
        <p:spPr>
          <a:xfrm>
            <a:off x="4846320" y="1399032"/>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What technology is for</a:t>
            </a:r>
          </a:p>
        </p:txBody>
      </p:sp>
      <p:sp>
        <p:nvSpPr>
          <p:cNvPr id="22" name="Oval 21"/>
          <p:cNvSpPr/>
          <p:nvPr/>
        </p:nvSpPr>
        <p:spPr>
          <a:xfrm>
            <a:off x="4864608" y="1897380"/>
            <a:ext cx="73152" cy="73152"/>
          </a:xfrm>
          <a:prstGeom prst="ellipse">
            <a:avLst/>
          </a:prstGeom>
          <a:solidFill>
            <a:srgbClr val="C9821E"/>
          </a:solidFill>
          <a:ln>
            <a:noFill/>
          </a:ln>
        </p:spPr>
        <p:txBody>
          <a:bodyPr rtlCol="0" anchor="ctr"/>
          <a:lstStyle/>
          <a:p>
            <a:pPr algn="ctr"/>
          </a:p>
        </p:txBody>
      </p:sp>
      <p:sp>
        <p:nvSpPr>
          <p:cNvPr id="23" name="TextBox 22"/>
          <p:cNvSpPr txBox="1"/>
          <p:nvPr/>
        </p:nvSpPr>
        <p:spPr>
          <a:xfrm>
            <a:off x="5029200" y="1828800"/>
            <a:ext cx="3310127" cy="685800"/>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Retrieving a passage</a:t>
            </a:r>
            <a:r>
              <a:rPr sz="1200" b="0" i="0">
                <a:solidFill>
                  <a:srgbClr val="5A6377"/>
                </a:solidFill>
                <a:latin typeface="Calibri"/>
              </a:rPr>
              <a:t> serves study</a:t>
            </a:r>
          </a:p>
        </p:txBody>
      </p:sp>
      <p:sp>
        <p:nvSpPr>
          <p:cNvPr id="24" name="Oval 23"/>
          <p:cNvSpPr/>
          <p:nvPr/>
        </p:nvSpPr>
        <p:spPr>
          <a:xfrm>
            <a:off x="4864608" y="2537460"/>
            <a:ext cx="73152" cy="73152"/>
          </a:xfrm>
          <a:prstGeom prst="ellipse">
            <a:avLst/>
          </a:prstGeom>
          <a:solidFill>
            <a:srgbClr val="C9821E"/>
          </a:solidFill>
          <a:ln>
            <a:noFill/>
          </a:ln>
        </p:spPr>
        <p:txBody>
          <a:bodyPr rtlCol="0" anchor="ctr"/>
          <a:lstStyle/>
          <a:p>
            <a:pPr algn="ctr"/>
          </a:p>
        </p:txBody>
      </p:sp>
      <p:sp>
        <p:nvSpPr>
          <p:cNvPr id="25" name="TextBox 24"/>
          <p:cNvSpPr txBox="1"/>
          <p:nvPr/>
        </p:nvSpPr>
        <p:spPr>
          <a:xfrm>
            <a:off x="5029200" y="2468880"/>
            <a:ext cx="3310127" cy="685800"/>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Keeping a repair record</a:t>
            </a:r>
            <a:r>
              <a:rPr sz="1200" b="0" i="0">
                <a:solidFill>
                  <a:srgbClr val="5A6377"/>
                </a:solidFill>
                <a:latin typeface="Calibri"/>
              </a:rPr>
              <a:t> serves care for resources</a:t>
            </a:r>
          </a:p>
        </p:txBody>
      </p:sp>
      <p:sp>
        <p:nvSpPr>
          <p:cNvPr id="26" name="Oval 25"/>
          <p:cNvSpPr/>
          <p:nvPr/>
        </p:nvSpPr>
        <p:spPr>
          <a:xfrm>
            <a:off x="4864608" y="3177540"/>
            <a:ext cx="73152" cy="73152"/>
          </a:xfrm>
          <a:prstGeom prst="ellipse">
            <a:avLst/>
          </a:prstGeom>
          <a:solidFill>
            <a:srgbClr val="C9821E"/>
          </a:solidFill>
          <a:ln>
            <a:noFill/>
          </a:ln>
        </p:spPr>
        <p:txBody>
          <a:bodyPr rtlCol="0" anchor="ctr"/>
          <a:lstStyle/>
          <a:p>
            <a:pPr algn="ctr"/>
          </a:p>
        </p:txBody>
      </p:sp>
      <p:sp>
        <p:nvSpPr>
          <p:cNvPr id="27" name="TextBox 26"/>
          <p:cNvSpPr txBox="1"/>
          <p:nvPr/>
        </p:nvSpPr>
        <p:spPr>
          <a:xfrm>
            <a:off x="5029200" y="3108960"/>
            <a:ext cx="3310127" cy="685800"/>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Coordinating a workshop</a:t>
            </a:r>
            <a:r>
              <a:rPr sz="1200" b="0" i="0">
                <a:solidFill>
                  <a:srgbClr val="5A6377"/>
                </a:solidFill>
                <a:latin typeface="Calibri"/>
              </a:rPr>
              <a:t> serves useful production and fair participation</a:t>
            </a:r>
          </a:p>
        </p:txBody>
      </p:sp>
      <p:sp>
        <p:nvSpPr>
          <p:cNvPr id="28" name="TextBox 27"/>
          <p:cNvSpPr txBox="1"/>
          <p:nvPr/>
        </p:nvSpPr>
        <p:spPr>
          <a:xfrm>
            <a:off x="640080" y="4279392"/>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Right use: attention, records, computation, and infrastructure deployed for understanding and humane participation.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  ·  THE CHERISHED HOPE  ·  §1.2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Sakshatkar, Bodh, and Anubhav</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126, 150, 207, 257, 276–277, 307  ·  JV p. 61  ·  AnalyticMadhyasthDarshan.org  ·  5 / 31</a:t>
            </a:r>
          </a:p>
        </p:txBody>
      </p:sp>
      <p:sp>
        <p:nvSpPr>
          <p:cNvPr id="8" name="Rounded Rectangle 7"/>
          <p:cNvSpPr/>
          <p:nvPr/>
        </p:nvSpPr>
        <p:spPr>
          <a:xfrm>
            <a:off x="640080" y="1280160"/>
            <a:ext cx="7863840" cy="1627632"/>
          </a:xfrm>
          <a:prstGeom prst="roundRect">
            <a:avLst>
              <a:gd name="adj" fmla="val 6000"/>
            </a:avLst>
          </a:prstGeom>
          <a:solidFill>
            <a:srgbClr val="EEF1F8"/>
          </a:solidFill>
          <a:ln>
            <a:noFill/>
          </a:ln>
        </p:spPr>
        <p:txBody>
          <a:bodyPr rtlCol="0" anchor="ctr"/>
          <a:lstStyle/>
          <a:p>
            <a:pPr algn="ctr"/>
          </a:p>
        </p:txBody>
      </p:sp>
      <p:sp>
        <p:nvSpPr>
          <p:cNvPr id="11" name="Rounded Rectangle 10"/>
          <p:cNvSpPr/>
          <p:nvPr/>
        </p:nvSpPr>
        <p:spPr>
          <a:xfrm>
            <a:off x="841248" y="1444752"/>
            <a:ext cx="2286000" cy="566928"/>
          </a:xfrm>
          <a:prstGeom prst="roundRect">
            <a:avLst>
              <a:gd name="adj" fmla="val 14000"/>
            </a:avLst>
          </a:prstGeom>
          <a:solidFill>
            <a:srgbClr val="1E2447"/>
          </a:solidFill>
          <a:ln>
            <a:noFill/>
          </a:ln>
        </p:spPr>
        <p:txBody>
          <a:bodyPr rtlCol="0" anchor="ctr"/>
          <a:lstStyle/>
          <a:p>
            <a:pPr algn="ctr"/>
          </a:p>
        </p:txBody>
      </p:sp>
      <p:sp>
        <p:nvSpPr>
          <p:cNvPr id="12" name="TextBox 11"/>
          <p:cNvSpPr txBox="1"/>
          <p:nvPr/>
        </p:nvSpPr>
        <p:spPr>
          <a:xfrm>
            <a:off x="896112" y="1444752"/>
            <a:ext cx="2176272" cy="566928"/>
          </a:xfrm>
          <a:prstGeom prst="rect">
            <a:avLst/>
          </a:prstGeom>
          <a:noFill/>
        </p:spPr>
        <p:txBody>
          <a:bodyPr wrap="square" lIns="0" rIns="0" tIns="0" bIns="0" anchor="ctr">
            <a:noAutofit/>
          </a:bodyPr>
          <a:lstStyle/>
          <a:p>
            <a:pPr algn="ctr">
              <a:spcBef>
                <a:spcPts val="0"/>
              </a:spcBef>
              <a:spcAft>
                <a:spcPts val="0"/>
              </a:spcAft>
            </a:pPr>
            <a:r>
              <a:rPr sz="1400" b="1" i="0">
                <a:solidFill>
                  <a:srgbClr val="FFFFFF"/>
                </a:solidFill>
                <a:latin typeface="Cambria"/>
              </a:rPr>
              <a:t>Sakshatkar</a:t>
            </a:r>
          </a:p>
          <a:p>
            <a:pPr algn="ctr">
              <a:spcBef>
                <a:spcPts val="0"/>
              </a:spcBef>
              <a:spcAft>
                <a:spcPts val="0"/>
              </a:spcAft>
            </a:pPr>
            <a:r>
              <a:rPr sz="1000" b="0" i="1">
                <a:solidFill>
                  <a:srgbClr val="C9D4EF"/>
                </a:solidFill>
                <a:latin typeface="Calibri"/>
              </a:rPr>
              <a:t>Chitta</a:t>
            </a:r>
          </a:p>
        </p:txBody>
      </p:sp>
      <p:sp>
        <p:nvSpPr>
          <p:cNvPr id="13" name="TextBox 12"/>
          <p:cNvSpPr txBox="1"/>
          <p:nvPr/>
        </p:nvSpPr>
        <p:spPr>
          <a:xfrm>
            <a:off x="841248" y="2084831"/>
            <a:ext cx="2286000" cy="512064"/>
          </a:xfrm>
          <a:prstGeom prst="rect">
            <a:avLst/>
          </a:prstGeom>
          <a:noFill/>
        </p:spPr>
        <p:txBody>
          <a:bodyPr wrap="square" lIns="0" rIns="0" tIns="0" bIns="0" anchor="t">
            <a:noAutofit/>
          </a:bodyPr>
          <a:lstStyle/>
          <a:p>
            <a:pPr algn="ctr">
              <a:spcBef>
                <a:spcPts val="0"/>
              </a:spcBef>
              <a:spcAft>
                <a:spcPts val="0"/>
              </a:spcAft>
            </a:pPr>
            <a:r>
              <a:rPr sz="1150" b="0" i="0">
                <a:solidFill>
                  <a:srgbClr val="5A6377"/>
                </a:solidFill>
                <a:latin typeface="Calibri"/>
              </a:rPr>
              <a:t>Direct recognition of the reality being studied</a:t>
            </a:r>
          </a:p>
        </p:txBody>
      </p:sp>
      <p:sp>
        <p:nvSpPr>
          <p:cNvPr id="14" name="Rounded Rectangle 13"/>
          <p:cNvSpPr/>
          <p:nvPr/>
        </p:nvSpPr>
        <p:spPr>
          <a:xfrm>
            <a:off x="3419856" y="1444752"/>
            <a:ext cx="2286000" cy="566928"/>
          </a:xfrm>
          <a:prstGeom prst="roundRect">
            <a:avLst>
              <a:gd name="adj" fmla="val 14000"/>
            </a:avLst>
          </a:prstGeom>
          <a:solidFill>
            <a:srgbClr val="1E2447"/>
          </a:solidFill>
          <a:ln>
            <a:noFill/>
          </a:ln>
        </p:spPr>
        <p:txBody>
          <a:bodyPr rtlCol="0" anchor="ctr"/>
          <a:lstStyle/>
          <a:p>
            <a:pPr algn="ctr"/>
          </a:p>
        </p:txBody>
      </p:sp>
      <p:sp>
        <p:nvSpPr>
          <p:cNvPr id="15" name="TextBox 14"/>
          <p:cNvSpPr txBox="1"/>
          <p:nvPr/>
        </p:nvSpPr>
        <p:spPr>
          <a:xfrm>
            <a:off x="3474720" y="1444752"/>
            <a:ext cx="2176272" cy="566928"/>
          </a:xfrm>
          <a:prstGeom prst="rect">
            <a:avLst/>
          </a:prstGeom>
          <a:noFill/>
        </p:spPr>
        <p:txBody>
          <a:bodyPr wrap="square" lIns="0" rIns="0" tIns="0" bIns="0" anchor="ctr">
            <a:noAutofit/>
          </a:bodyPr>
          <a:lstStyle/>
          <a:p>
            <a:pPr algn="ctr">
              <a:spcBef>
                <a:spcPts val="0"/>
              </a:spcBef>
              <a:spcAft>
                <a:spcPts val="0"/>
              </a:spcAft>
            </a:pPr>
            <a:r>
              <a:rPr sz="1400" b="1" i="0">
                <a:solidFill>
                  <a:srgbClr val="FFFFFF"/>
                </a:solidFill>
                <a:latin typeface="Cambria"/>
              </a:rPr>
              <a:t>Bodh</a:t>
            </a:r>
          </a:p>
          <a:p>
            <a:pPr algn="ctr">
              <a:spcBef>
                <a:spcPts val="0"/>
              </a:spcBef>
              <a:spcAft>
                <a:spcPts val="0"/>
              </a:spcAft>
            </a:pPr>
            <a:r>
              <a:rPr sz="1000" b="0" i="1">
                <a:solidFill>
                  <a:srgbClr val="C9D4EF"/>
                </a:solidFill>
                <a:latin typeface="Calibri"/>
              </a:rPr>
              <a:t>Buddhi</a:t>
            </a:r>
          </a:p>
        </p:txBody>
      </p:sp>
      <p:sp>
        <p:nvSpPr>
          <p:cNvPr id="16" name="TextBox 15"/>
          <p:cNvSpPr txBox="1"/>
          <p:nvPr/>
        </p:nvSpPr>
        <p:spPr>
          <a:xfrm>
            <a:off x="3419856" y="2084831"/>
            <a:ext cx="2286000" cy="512064"/>
          </a:xfrm>
          <a:prstGeom prst="rect">
            <a:avLst/>
          </a:prstGeom>
          <a:noFill/>
        </p:spPr>
        <p:txBody>
          <a:bodyPr wrap="square" lIns="0" rIns="0" tIns="0" bIns="0" anchor="t">
            <a:noAutofit/>
          </a:bodyPr>
          <a:lstStyle/>
          <a:p>
            <a:pPr algn="ctr">
              <a:spcBef>
                <a:spcPts val="0"/>
              </a:spcBef>
              <a:spcAft>
                <a:spcPts val="0"/>
              </a:spcAft>
            </a:pPr>
            <a:r>
              <a:rPr sz="1150" b="0" i="0">
                <a:solidFill>
                  <a:srgbClr val="5A6377"/>
                </a:solidFill>
                <a:latin typeface="Calibri"/>
              </a:rPr>
              <a:t>Definitive understanding, enlightenment</a:t>
            </a:r>
          </a:p>
        </p:txBody>
      </p:sp>
      <p:sp>
        <p:nvSpPr>
          <p:cNvPr id="17" name="Rounded Rectangle 16"/>
          <p:cNvSpPr/>
          <p:nvPr/>
        </p:nvSpPr>
        <p:spPr>
          <a:xfrm>
            <a:off x="5998464" y="1444752"/>
            <a:ext cx="2286000" cy="566928"/>
          </a:xfrm>
          <a:prstGeom prst="roundRect">
            <a:avLst>
              <a:gd name="adj" fmla="val 14000"/>
            </a:avLst>
          </a:prstGeom>
          <a:solidFill>
            <a:srgbClr val="1E2447"/>
          </a:solidFill>
          <a:ln>
            <a:noFill/>
          </a:ln>
        </p:spPr>
        <p:txBody>
          <a:bodyPr rtlCol="0" anchor="ctr"/>
          <a:lstStyle/>
          <a:p>
            <a:pPr algn="ctr"/>
          </a:p>
        </p:txBody>
      </p:sp>
      <p:sp>
        <p:nvSpPr>
          <p:cNvPr id="18" name="TextBox 17"/>
          <p:cNvSpPr txBox="1"/>
          <p:nvPr/>
        </p:nvSpPr>
        <p:spPr>
          <a:xfrm>
            <a:off x="6053327" y="1444752"/>
            <a:ext cx="2176272" cy="566928"/>
          </a:xfrm>
          <a:prstGeom prst="rect">
            <a:avLst/>
          </a:prstGeom>
          <a:noFill/>
        </p:spPr>
        <p:txBody>
          <a:bodyPr wrap="square" lIns="0" rIns="0" tIns="0" bIns="0" anchor="ctr">
            <a:noAutofit/>
          </a:bodyPr>
          <a:lstStyle/>
          <a:p>
            <a:pPr algn="ctr">
              <a:spcBef>
                <a:spcPts val="0"/>
              </a:spcBef>
              <a:spcAft>
                <a:spcPts val="0"/>
              </a:spcAft>
            </a:pPr>
            <a:r>
              <a:rPr sz="1400" b="1" i="0">
                <a:solidFill>
                  <a:srgbClr val="FFFFFF"/>
                </a:solidFill>
                <a:latin typeface="Cambria"/>
              </a:rPr>
              <a:t>Anubhav</a:t>
            </a:r>
          </a:p>
          <a:p>
            <a:pPr algn="ctr">
              <a:spcBef>
                <a:spcPts val="0"/>
              </a:spcBef>
              <a:spcAft>
                <a:spcPts val="0"/>
              </a:spcAft>
            </a:pPr>
            <a:r>
              <a:rPr sz="1000" b="0" i="1">
                <a:solidFill>
                  <a:srgbClr val="C9D4EF"/>
                </a:solidFill>
                <a:latin typeface="Calibri"/>
              </a:rPr>
              <a:t>Atma</a:t>
            </a:r>
          </a:p>
        </p:txBody>
      </p:sp>
      <p:sp>
        <p:nvSpPr>
          <p:cNvPr id="19" name="TextBox 18"/>
          <p:cNvSpPr txBox="1"/>
          <p:nvPr/>
        </p:nvSpPr>
        <p:spPr>
          <a:xfrm>
            <a:off x="5998464" y="2084831"/>
            <a:ext cx="2286000" cy="512064"/>
          </a:xfrm>
          <a:prstGeom prst="rect">
            <a:avLst/>
          </a:prstGeom>
          <a:noFill/>
        </p:spPr>
        <p:txBody>
          <a:bodyPr wrap="square" lIns="0" rIns="0" tIns="0" bIns="0" anchor="t">
            <a:noAutofit/>
          </a:bodyPr>
          <a:lstStyle/>
          <a:p>
            <a:pPr algn="ctr">
              <a:spcBef>
                <a:spcPts val="0"/>
              </a:spcBef>
              <a:spcAft>
                <a:spcPts val="0"/>
              </a:spcAft>
            </a:pPr>
            <a:r>
              <a:rPr sz="1150" b="0" i="0">
                <a:solidFill>
                  <a:srgbClr val="5A6377"/>
                </a:solidFill>
                <a:latin typeface="Calibri"/>
              </a:rPr>
              <a:t>Realisation in coexistence, expressed in humane living</a:t>
            </a:r>
          </a:p>
        </p:txBody>
      </p:sp>
      <p:sp>
        <p:nvSpPr>
          <p:cNvPr id="20" name="TextBox 19"/>
          <p:cNvSpPr txBox="1"/>
          <p:nvPr/>
        </p:nvSpPr>
        <p:spPr>
          <a:xfrm>
            <a:off x="841248" y="2596896"/>
            <a:ext cx="7498079" cy="237744"/>
          </a:xfrm>
          <a:prstGeom prst="rect">
            <a:avLst/>
          </a:prstGeom>
          <a:noFill/>
        </p:spPr>
        <p:txBody>
          <a:bodyPr wrap="square" lIns="0" rIns="0" tIns="0" bIns="0" anchor="ctr">
            <a:noAutofit/>
          </a:bodyPr>
          <a:lstStyle/>
          <a:p>
            <a:pPr algn="ctr">
              <a:spcBef>
                <a:spcPts val="0"/>
              </a:spcBef>
              <a:spcAft>
                <a:spcPts val="0"/>
              </a:spcAft>
            </a:pPr>
            <a:r>
              <a:rPr sz="1100" b="0" i="1">
                <a:solidFill>
                  <a:srgbClr val="1E2447"/>
                </a:solidFill>
                <a:latin typeface="Calibri"/>
              </a:rPr>
              <a:t>Complete </a:t>
            </a:r>
            <a:r>
              <a:rPr sz="1100" b="0" i="0">
                <a:solidFill>
                  <a:srgbClr val="1E2447"/>
                </a:solidFill>
                <a:latin typeface="Calibri"/>
              </a:rPr>
              <a:t>bodh</a:t>
            </a:r>
            <a:r>
              <a:rPr sz="1100" b="0" i="1">
                <a:solidFill>
                  <a:srgbClr val="1E2447"/>
                </a:solidFill>
                <a:latin typeface="Calibri"/>
              </a:rPr>
              <a:t> and </a:t>
            </a:r>
            <a:r>
              <a:rPr sz="1100" b="0" i="0">
                <a:solidFill>
                  <a:srgbClr val="1E2447"/>
                </a:solidFill>
                <a:latin typeface="Calibri"/>
              </a:rPr>
              <a:t>anubhav</a:t>
            </a:r>
            <a:r>
              <a:rPr sz="1100" b="0" i="1">
                <a:solidFill>
                  <a:srgbClr val="1E2447"/>
                </a:solidFill>
                <a:latin typeface="Calibri"/>
              </a:rPr>
              <a:t> occur together (MVD p. 207).</a:t>
            </a:r>
          </a:p>
        </p:txBody>
      </p:sp>
      <p:sp>
        <p:nvSpPr>
          <p:cNvPr id="21" name="Rounded Rectangle 20"/>
          <p:cNvSpPr/>
          <p:nvPr/>
        </p:nvSpPr>
        <p:spPr>
          <a:xfrm>
            <a:off x="640080" y="3108960"/>
            <a:ext cx="3840480" cy="1051560"/>
          </a:xfrm>
          <a:prstGeom prst="roundRect">
            <a:avLst>
              <a:gd name="adj" fmla="val 7000"/>
            </a:avLst>
          </a:prstGeom>
          <a:solidFill>
            <a:srgbClr val="FAF1DF"/>
          </a:solidFill>
          <a:ln>
            <a:noFill/>
          </a:ln>
        </p:spPr>
        <p:txBody>
          <a:bodyPr rtlCol="0" anchor="ctr"/>
          <a:lstStyle/>
          <a:p>
            <a:pPr algn="ctr"/>
          </a:p>
        </p:txBody>
      </p:sp>
      <p:sp>
        <p:nvSpPr>
          <p:cNvPr id="22" name="Rounded Rectangle 21"/>
          <p:cNvSpPr/>
          <p:nvPr/>
        </p:nvSpPr>
        <p:spPr>
          <a:xfrm>
            <a:off x="2980944" y="3017520"/>
            <a:ext cx="1371600" cy="182880"/>
          </a:xfrm>
          <a:prstGeom prst="roundRect">
            <a:avLst>
              <a:gd name="adj" fmla="val 50000"/>
            </a:avLst>
          </a:prstGeom>
          <a:solidFill>
            <a:srgbClr val="C9821E"/>
          </a:solidFill>
          <a:ln>
            <a:noFill/>
          </a:ln>
        </p:spPr>
        <p:txBody>
          <a:bodyPr rtlCol="0" anchor="ctr"/>
          <a:lstStyle/>
          <a:p>
            <a:pPr algn="ctr"/>
          </a:p>
        </p:txBody>
      </p:sp>
      <p:sp>
        <p:nvSpPr>
          <p:cNvPr id="23" name="TextBox 22"/>
          <p:cNvSpPr txBox="1"/>
          <p:nvPr/>
        </p:nvSpPr>
        <p:spPr>
          <a:xfrm>
            <a:off x="2980944" y="30175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4" name="TextBox 23"/>
          <p:cNvSpPr txBox="1"/>
          <p:nvPr/>
        </p:nvSpPr>
        <p:spPr>
          <a:xfrm>
            <a:off x="822959" y="3227832"/>
            <a:ext cx="3474720" cy="274320"/>
          </a:xfrm>
          <a:prstGeom prst="rect">
            <a:avLst/>
          </a:prstGeom>
          <a:noFill/>
        </p:spPr>
        <p:txBody>
          <a:bodyPr wrap="square" lIns="0" rIns="0" tIns="0" bIns="0" anchor="ctr">
            <a:noAutofit/>
          </a:bodyPr>
          <a:lstStyle/>
          <a:p>
            <a:pPr algn="l">
              <a:spcBef>
                <a:spcPts val="0"/>
              </a:spcBef>
              <a:spcAft>
                <a:spcPts val="0"/>
              </a:spcAft>
            </a:pPr>
            <a:r>
              <a:rPr sz="1300" b="1" i="1">
                <a:solidFill>
                  <a:srgbClr val="9A6414"/>
                </a:solidFill>
                <a:latin typeface="Cambria"/>
              </a:rPr>
              <a:t>Anubhav-gami</a:t>
            </a:r>
          </a:p>
        </p:txBody>
      </p:sp>
      <p:sp>
        <p:nvSpPr>
          <p:cNvPr id="25" name="TextBox 24"/>
          <p:cNvSpPr txBox="1"/>
          <p:nvPr/>
        </p:nvSpPr>
        <p:spPr>
          <a:xfrm>
            <a:off x="822959" y="3529584"/>
            <a:ext cx="3474720" cy="53949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Practice directed towards realisation: preserving a question, comparing sources, returning to it in living.</a:t>
            </a:r>
          </a:p>
        </p:txBody>
      </p:sp>
      <p:sp>
        <p:nvSpPr>
          <p:cNvPr id="26" name="Rounded Rectangle 25"/>
          <p:cNvSpPr/>
          <p:nvPr/>
        </p:nvSpPr>
        <p:spPr>
          <a:xfrm>
            <a:off x="4663440" y="3108960"/>
            <a:ext cx="3840480" cy="1051560"/>
          </a:xfrm>
          <a:prstGeom prst="roundRect">
            <a:avLst>
              <a:gd name="adj" fmla="val 7000"/>
            </a:avLst>
          </a:prstGeom>
          <a:solidFill>
            <a:srgbClr val="EEF1F8"/>
          </a:solidFill>
          <a:ln>
            <a:noFill/>
          </a:ln>
        </p:spPr>
        <p:txBody>
          <a:bodyPr rtlCol="0" anchor="ctr"/>
          <a:lstStyle/>
          <a:p>
            <a:pPr algn="ctr"/>
          </a:p>
        </p:txBody>
      </p:sp>
      <p:sp>
        <p:nvSpPr>
          <p:cNvPr id="29" name="TextBox 28"/>
          <p:cNvSpPr txBox="1"/>
          <p:nvPr/>
        </p:nvSpPr>
        <p:spPr>
          <a:xfrm>
            <a:off x="4846320" y="3227832"/>
            <a:ext cx="3474720" cy="274320"/>
          </a:xfrm>
          <a:prstGeom prst="rect">
            <a:avLst/>
          </a:prstGeom>
          <a:noFill/>
        </p:spPr>
        <p:txBody>
          <a:bodyPr wrap="square" lIns="0" rIns="0" tIns="0" bIns="0" anchor="ctr">
            <a:noAutofit/>
          </a:bodyPr>
          <a:lstStyle/>
          <a:p>
            <a:pPr algn="l">
              <a:spcBef>
                <a:spcPts val="0"/>
              </a:spcBef>
              <a:spcAft>
                <a:spcPts val="0"/>
              </a:spcAft>
            </a:pPr>
            <a:r>
              <a:rPr sz="1300" b="1" i="1">
                <a:solidFill>
                  <a:srgbClr val="1E2447"/>
                </a:solidFill>
                <a:latin typeface="Cambria"/>
              </a:rPr>
              <a:t>Anubhav-moolak</a:t>
            </a:r>
          </a:p>
        </p:txBody>
      </p:sp>
      <p:sp>
        <p:nvSpPr>
          <p:cNvPr id="30" name="TextBox 29"/>
          <p:cNvSpPr txBox="1"/>
          <p:nvPr/>
        </p:nvSpPr>
        <p:spPr>
          <a:xfrm>
            <a:off x="4846320" y="3529584"/>
            <a:ext cx="3474720" cy="53949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Living and teaching grounded in realisation: realised human teaching and the learner's own examination.</a:t>
            </a:r>
          </a:p>
        </p:txBody>
      </p:sp>
      <p:sp>
        <p:nvSpPr>
          <p:cNvPr id="31" name="TextBox 30"/>
          <p:cNvSpPr txBox="1"/>
          <p:nvPr/>
        </p:nvSpPr>
        <p:spPr>
          <a:xfrm>
            <a:off x="640080" y="4279392"/>
            <a:ext cx="7863840" cy="365760"/>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The assistant serves inquiry towards realisation; it does not supply realisation.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  ·  INSTRUMENT AND KNOWER  ·  §2.1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AI as Yantra, Jeevan as Knower</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8, 78  ·  KD p. 148  ·  AnalyticMadhyasthDarshan.org  ·  6 / 31</a:t>
            </a:r>
          </a:p>
        </p:txBody>
      </p:sp>
      <p:sp>
        <p:nvSpPr>
          <p:cNvPr id="8" name="Rounded Rectangle 7"/>
          <p:cNvSpPr/>
          <p:nvPr/>
        </p:nvSpPr>
        <p:spPr>
          <a:xfrm>
            <a:off x="640080" y="1280160"/>
            <a:ext cx="3840480" cy="2423160"/>
          </a:xfrm>
          <a:prstGeom prst="roundRect">
            <a:avLst>
              <a:gd name="adj" fmla="val 7000"/>
            </a:avLst>
          </a:prstGeom>
          <a:solidFill>
            <a:srgbClr val="F1F2F4"/>
          </a:solidFill>
          <a:ln>
            <a:noFill/>
          </a:ln>
        </p:spPr>
        <p:txBody>
          <a:bodyPr rtlCol="0" anchor="ctr"/>
          <a:lstStyle/>
          <a:p>
            <a:pPr algn="ctr"/>
          </a:p>
        </p:txBody>
      </p:sp>
      <p:sp>
        <p:nvSpPr>
          <p:cNvPr id="9" name="Rounded Rectangle 8"/>
          <p:cNvSpPr/>
          <p:nvPr/>
        </p:nvSpPr>
        <p:spPr>
          <a:xfrm>
            <a:off x="2980944" y="1188719"/>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298094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22959" y="1399031"/>
            <a:ext cx="3474720" cy="274320"/>
          </a:xfrm>
          <a:prstGeom prst="rect">
            <a:avLst/>
          </a:prstGeom>
          <a:noFill/>
        </p:spPr>
        <p:txBody>
          <a:bodyPr wrap="square" lIns="0" rIns="0" tIns="0" bIns="0" anchor="ctr">
            <a:noAutofit/>
          </a:bodyPr>
          <a:lstStyle/>
          <a:p>
            <a:pPr algn="l">
              <a:spcBef>
                <a:spcPts val="0"/>
              </a:spcBef>
              <a:spcAft>
                <a:spcPts val="0"/>
              </a:spcAft>
            </a:pPr>
            <a:r>
              <a:rPr sz="1300" b="1" i="1">
                <a:solidFill>
                  <a:srgbClr val="1E2447"/>
                </a:solidFill>
                <a:latin typeface="Cambria"/>
              </a:rPr>
              <a:t>Yantra</a:t>
            </a:r>
            <a:r>
              <a:rPr sz="1300" b="1" i="0">
                <a:solidFill>
                  <a:srgbClr val="1E2447"/>
                </a:solidFill>
                <a:latin typeface="Cambria"/>
              </a:rPr>
              <a:t>: the material instrument</a:t>
            </a:r>
          </a:p>
        </p:txBody>
      </p:sp>
      <p:sp>
        <p:nvSpPr>
          <p:cNvPr id="12" name="Oval 11"/>
          <p:cNvSpPr/>
          <p:nvPr/>
        </p:nvSpPr>
        <p:spPr>
          <a:xfrm>
            <a:off x="841248" y="1851660"/>
            <a:ext cx="73152" cy="73152"/>
          </a:xfrm>
          <a:prstGeom prst="ellipse">
            <a:avLst/>
          </a:prstGeom>
          <a:solidFill>
            <a:srgbClr val="C9821E"/>
          </a:solidFill>
          <a:ln>
            <a:noFill/>
          </a:ln>
        </p:spPr>
        <p:txBody>
          <a:bodyPr rtlCol="0" anchor="ctr"/>
          <a:lstStyle/>
          <a:p>
            <a:pPr algn="ctr"/>
          </a:p>
        </p:txBody>
      </p:sp>
      <p:sp>
        <p:nvSpPr>
          <p:cNvPr id="13" name="TextBox 12"/>
          <p:cNvSpPr txBox="1"/>
          <p:nvPr/>
        </p:nvSpPr>
        <p:spPr>
          <a:xfrm>
            <a:off x="1005840" y="1783080"/>
            <a:ext cx="3310127" cy="4389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Organised physical processes</a:t>
            </a:r>
          </a:p>
        </p:txBody>
      </p:sp>
      <p:sp>
        <p:nvSpPr>
          <p:cNvPr id="14" name="Oval 13"/>
          <p:cNvSpPr/>
          <p:nvPr/>
        </p:nvSpPr>
        <p:spPr>
          <a:xfrm>
            <a:off x="841248" y="2308860"/>
            <a:ext cx="73152" cy="73152"/>
          </a:xfrm>
          <a:prstGeom prst="ellipse">
            <a:avLst/>
          </a:prstGeom>
          <a:solidFill>
            <a:srgbClr val="C9821E"/>
          </a:solidFill>
          <a:ln>
            <a:noFill/>
          </a:ln>
        </p:spPr>
        <p:txBody>
          <a:bodyPr rtlCol="0" anchor="ctr"/>
          <a:lstStyle/>
          <a:p>
            <a:pPr algn="ctr"/>
          </a:p>
        </p:txBody>
      </p:sp>
      <p:sp>
        <p:nvSpPr>
          <p:cNvPr id="15" name="TextBox 14"/>
          <p:cNvSpPr txBox="1"/>
          <p:nvPr/>
        </p:nvSpPr>
        <p:spPr>
          <a:xfrm>
            <a:off x="1005840" y="2240280"/>
            <a:ext cx="3310127" cy="4389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Stored representations and computation</a:t>
            </a:r>
          </a:p>
        </p:txBody>
      </p:sp>
      <p:sp>
        <p:nvSpPr>
          <p:cNvPr id="16" name="Oval 15"/>
          <p:cNvSpPr/>
          <p:nvPr/>
        </p:nvSpPr>
        <p:spPr>
          <a:xfrm>
            <a:off x="841248" y="2766060"/>
            <a:ext cx="73152" cy="73152"/>
          </a:xfrm>
          <a:prstGeom prst="ellipse">
            <a:avLst/>
          </a:prstGeom>
          <a:solidFill>
            <a:srgbClr val="C9821E"/>
          </a:solidFill>
          <a:ln>
            <a:noFill/>
          </a:ln>
        </p:spPr>
        <p:txBody>
          <a:bodyPr rtlCol="0" anchor="ctr"/>
          <a:lstStyle/>
          <a:p>
            <a:pPr algn="ctr"/>
          </a:p>
        </p:txBody>
      </p:sp>
      <p:sp>
        <p:nvSpPr>
          <p:cNvPr id="17" name="TextBox 16"/>
          <p:cNvSpPr txBox="1"/>
          <p:nvPr/>
        </p:nvSpPr>
        <p:spPr>
          <a:xfrm>
            <a:off x="1005840" y="2697480"/>
            <a:ext cx="3310127" cy="4389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Communication, sensing, actuation</a:t>
            </a:r>
          </a:p>
        </p:txBody>
      </p:sp>
      <p:sp>
        <p:nvSpPr>
          <p:cNvPr id="18" name="Oval 17"/>
          <p:cNvSpPr/>
          <p:nvPr/>
        </p:nvSpPr>
        <p:spPr>
          <a:xfrm>
            <a:off x="841248" y="3223260"/>
            <a:ext cx="73152" cy="73152"/>
          </a:xfrm>
          <a:prstGeom prst="ellipse">
            <a:avLst/>
          </a:prstGeom>
          <a:solidFill>
            <a:srgbClr val="C9821E"/>
          </a:solidFill>
          <a:ln>
            <a:noFill/>
          </a:ln>
        </p:spPr>
        <p:txBody>
          <a:bodyPr rtlCol="0" anchor="ctr"/>
          <a:lstStyle/>
          <a:p>
            <a:pPr algn="ctr"/>
          </a:p>
        </p:txBody>
      </p:sp>
      <p:sp>
        <p:nvSpPr>
          <p:cNvPr id="19" name="TextBox 18"/>
          <p:cNvSpPr txBox="1"/>
          <p:nvPr/>
        </p:nvSpPr>
        <p:spPr>
          <a:xfrm>
            <a:off x="1005840" y="3154680"/>
            <a:ext cx="3310127" cy="438912"/>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Handles representations and performs operations</a:t>
            </a:r>
          </a:p>
        </p:txBody>
      </p:sp>
      <p:sp>
        <p:nvSpPr>
          <p:cNvPr id="20" name="Rounded Rectangle 19"/>
          <p:cNvSpPr/>
          <p:nvPr/>
        </p:nvSpPr>
        <p:spPr>
          <a:xfrm>
            <a:off x="4663440" y="1280160"/>
            <a:ext cx="3840480" cy="2423160"/>
          </a:xfrm>
          <a:prstGeom prst="roundRect">
            <a:avLst>
              <a:gd name="adj" fmla="val 7000"/>
            </a:avLst>
          </a:prstGeom>
          <a:solidFill>
            <a:srgbClr val="EEF1F8"/>
          </a:solidFill>
          <a:ln>
            <a:noFill/>
          </a:ln>
        </p:spPr>
        <p:txBody>
          <a:bodyPr rtlCol="0" anchor="ctr"/>
          <a:lstStyle/>
          <a:p>
            <a:pPr algn="ctr"/>
          </a:p>
        </p:txBody>
      </p:sp>
      <p:sp>
        <p:nvSpPr>
          <p:cNvPr id="23" name="TextBox 22"/>
          <p:cNvSpPr txBox="1"/>
          <p:nvPr/>
        </p:nvSpPr>
        <p:spPr>
          <a:xfrm>
            <a:off x="4846320" y="1399031"/>
            <a:ext cx="3474720" cy="274320"/>
          </a:xfrm>
          <a:prstGeom prst="rect">
            <a:avLst/>
          </a:prstGeom>
          <a:noFill/>
        </p:spPr>
        <p:txBody>
          <a:bodyPr wrap="square" lIns="0" rIns="0" tIns="0" bIns="0" anchor="ctr">
            <a:noAutofit/>
          </a:bodyPr>
          <a:lstStyle/>
          <a:p>
            <a:pPr algn="l">
              <a:spcBef>
                <a:spcPts val="0"/>
              </a:spcBef>
              <a:spcAft>
                <a:spcPts val="0"/>
              </a:spcAft>
            </a:pPr>
            <a:r>
              <a:rPr sz="1300" b="1" i="1">
                <a:solidFill>
                  <a:srgbClr val="1E2447"/>
                </a:solidFill>
                <a:latin typeface="Cambria"/>
              </a:rPr>
              <a:t>Jeevan</a:t>
            </a:r>
            <a:r>
              <a:rPr sz="1300" b="1" i="0">
                <a:solidFill>
                  <a:srgbClr val="1E2447"/>
                </a:solidFill>
                <a:latin typeface="Cambria"/>
              </a:rPr>
              <a:t>: the conscious knower</a:t>
            </a:r>
          </a:p>
        </p:txBody>
      </p:sp>
      <p:sp>
        <p:nvSpPr>
          <p:cNvPr id="24" name="Oval 23"/>
          <p:cNvSpPr/>
          <p:nvPr/>
        </p:nvSpPr>
        <p:spPr>
          <a:xfrm>
            <a:off x="4864608" y="1851660"/>
            <a:ext cx="73152" cy="73152"/>
          </a:xfrm>
          <a:prstGeom prst="ellipse">
            <a:avLst/>
          </a:prstGeom>
          <a:solidFill>
            <a:srgbClr val="C9821E"/>
          </a:solidFill>
          <a:ln>
            <a:noFill/>
          </a:ln>
        </p:spPr>
        <p:txBody>
          <a:bodyPr rtlCol="0" anchor="ctr"/>
          <a:lstStyle/>
          <a:p>
            <a:pPr algn="ctr"/>
          </a:p>
        </p:txBody>
      </p:sp>
      <p:sp>
        <p:nvSpPr>
          <p:cNvPr id="25" name="TextBox 24"/>
          <p:cNvSpPr txBox="1"/>
          <p:nvPr/>
        </p:nvSpPr>
        <p:spPr>
          <a:xfrm>
            <a:off x="5029200" y="1783080"/>
            <a:ext cx="3310127" cy="4389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A constitutionally complete atom</a:t>
            </a:r>
          </a:p>
        </p:txBody>
      </p:sp>
      <p:sp>
        <p:nvSpPr>
          <p:cNvPr id="26" name="Oval 25"/>
          <p:cNvSpPr/>
          <p:nvPr/>
        </p:nvSpPr>
        <p:spPr>
          <a:xfrm>
            <a:off x="4864608" y="2308860"/>
            <a:ext cx="73152" cy="73152"/>
          </a:xfrm>
          <a:prstGeom prst="ellipse">
            <a:avLst/>
          </a:prstGeom>
          <a:solidFill>
            <a:srgbClr val="C9821E"/>
          </a:solidFill>
          <a:ln>
            <a:noFill/>
          </a:ln>
        </p:spPr>
        <p:txBody>
          <a:bodyPr rtlCol="0" anchor="ctr"/>
          <a:lstStyle/>
          <a:p>
            <a:pPr algn="ctr"/>
          </a:p>
        </p:txBody>
      </p:sp>
      <p:sp>
        <p:nvSpPr>
          <p:cNvPr id="27" name="TextBox 26"/>
          <p:cNvSpPr txBox="1"/>
          <p:nvPr/>
        </p:nvSpPr>
        <p:spPr>
          <a:xfrm>
            <a:off x="5029200" y="2240280"/>
            <a:ext cx="3310127" cy="4389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Five faculties: </a:t>
            </a:r>
            <a:r>
              <a:rPr sz="1200" b="0" i="1">
                <a:solidFill>
                  <a:srgbClr val="5A6377"/>
                </a:solidFill>
                <a:latin typeface="Calibri"/>
              </a:rPr>
              <a:t>mun</a:t>
            </a:r>
            <a:r>
              <a:rPr sz="1200" b="0" i="0">
                <a:solidFill>
                  <a:srgbClr val="5A6377"/>
                </a:solidFill>
                <a:latin typeface="Calibri"/>
              </a:rPr>
              <a:t>, </a:t>
            </a:r>
            <a:r>
              <a:rPr sz="1200" b="0" i="1">
                <a:solidFill>
                  <a:srgbClr val="5A6377"/>
                </a:solidFill>
                <a:latin typeface="Calibri"/>
              </a:rPr>
              <a:t>vritti</a:t>
            </a:r>
            <a:r>
              <a:rPr sz="1200" b="0" i="0">
                <a:solidFill>
                  <a:srgbClr val="5A6377"/>
                </a:solidFill>
                <a:latin typeface="Calibri"/>
              </a:rPr>
              <a:t>, </a:t>
            </a:r>
            <a:r>
              <a:rPr sz="1200" b="0" i="1">
                <a:solidFill>
                  <a:srgbClr val="5A6377"/>
                </a:solidFill>
                <a:latin typeface="Calibri"/>
              </a:rPr>
              <a:t>chitta</a:t>
            </a:r>
            <a:r>
              <a:rPr sz="1200" b="0" i="0">
                <a:solidFill>
                  <a:srgbClr val="5A6377"/>
                </a:solidFill>
                <a:latin typeface="Calibri"/>
              </a:rPr>
              <a:t>, </a:t>
            </a:r>
            <a:r>
              <a:rPr sz="1200" b="0" i="1">
                <a:solidFill>
                  <a:srgbClr val="5A6377"/>
                </a:solidFill>
                <a:latin typeface="Calibri"/>
              </a:rPr>
              <a:t>buddhi</a:t>
            </a:r>
            <a:r>
              <a:rPr sz="1200" b="0" i="0">
                <a:solidFill>
                  <a:srgbClr val="5A6377"/>
                </a:solidFill>
                <a:latin typeface="Calibri"/>
              </a:rPr>
              <a:t>, </a:t>
            </a:r>
            <a:r>
              <a:rPr sz="1200" b="0" i="1">
                <a:solidFill>
                  <a:srgbClr val="5A6377"/>
                </a:solidFill>
                <a:latin typeface="Calibri"/>
              </a:rPr>
              <a:t>atma</a:t>
            </a:r>
          </a:p>
        </p:txBody>
      </p:sp>
      <p:sp>
        <p:nvSpPr>
          <p:cNvPr id="28" name="Oval 27"/>
          <p:cNvSpPr/>
          <p:nvPr/>
        </p:nvSpPr>
        <p:spPr>
          <a:xfrm>
            <a:off x="4864608" y="2766060"/>
            <a:ext cx="73152" cy="73152"/>
          </a:xfrm>
          <a:prstGeom prst="ellipse">
            <a:avLst/>
          </a:prstGeom>
          <a:solidFill>
            <a:srgbClr val="C9821E"/>
          </a:solidFill>
          <a:ln>
            <a:noFill/>
          </a:ln>
        </p:spPr>
        <p:txBody>
          <a:bodyPr rtlCol="0" anchor="ctr"/>
          <a:lstStyle/>
          <a:p>
            <a:pPr algn="ctr"/>
          </a:p>
        </p:txBody>
      </p:sp>
      <p:sp>
        <p:nvSpPr>
          <p:cNvPr id="29" name="TextBox 28"/>
          <p:cNvSpPr txBox="1"/>
          <p:nvPr/>
        </p:nvSpPr>
        <p:spPr>
          <a:xfrm>
            <a:off x="5029200" y="2697480"/>
            <a:ext cx="3310127" cy="438912"/>
          </a:xfrm>
          <a:prstGeom prst="rect">
            <a:avLst/>
          </a:prstGeom>
          <a:noFill/>
        </p:spPr>
        <p:txBody>
          <a:bodyPr wrap="square" lIns="0" rIns="0" tIns="0" bIns="0" anchor="t">
            <a:noAutofit/>
          </a:bodyPr>
          <a:lstStyle/>
          <a:p>
            <a:pPr algn="l">
              <a:spcBef>
                <a:spcPts val="0"/>
              </a:spcBef>
              <a:spcAft>
                <a:spcPts val="0"/>
              </a:spcAft>
            </a:pPr>
            <a:r>
              <a:rPr sz="1200" b="0" i="0">
                <a:solidFill>
                  <a:srgbClr val="5A6377"/>
                </a:solidFill>
                <a:latin typeface="Calibri"/>
              </a:rPr>
              <a:t>The body is its biological composition</a:t>
            </a:r>
          </a:p>
        </p:txBody>
      </p:sp>
      <p:sp>
        <p:nvSpPr>
          <p:cNvPr id="30" name="Oval 29"/>
          <p:cNvSpPr/>
          <p:nvPr/>
        </p:nvSpPr>
        <p:spPr>
          <a:xfrm>
            <a:off x="4864608" y="3223260"/>
            <a:ext cx="73152" cy="73152"/>
          </a:xfrm>
          <a:prstGeom prst="ellipse">
            <a:avLst/>
          </a:prstGeom>
          <a:solidFill>
            <a:srgbClr val="C9821E"/>
          </a:solidFill>
          <a:ln>
            <a:noFill/>
          </a:ln>
        </p:spPr>
        <p:txBody>
          <a:bodyPr rtlCol="0" anchor="ctr"/>
          <a:lstStyle/>
          <a:p>
            <a:pPr algn="ctr"/>
          </a:p>
        </p:txBody>
      </p:sp>
      <p:sp>
        <p:nvSpPr>
          <p:cNvPr id="31" name="TextBox 30"/>
          <p:cNvSpPr txBox="1"/>
          <p:nvPr/>
        </p:nvSpPr>
        <p:spPr>
          <a:xfrm>
            <a:off x="5029200" y="3154680"/>
            <a:ext cx="3310127" cy="438912"/>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Understands meaning, examines purpose, lives in relationships</a:t>
            </a:r>
          </a:p>
        </p:txBody>
      </p:sp>
      <p:sp>
        <p:nvSpPr>
          <p:cNvPr id="32" name="Rounded Rectangle 31"/>
          <p:cNvSpPr/>
          <p:nvPr/>
        </p:nvSpPr>
        <p:spPr>
          <a:xfrm>
            <a:off x="640080" y="3931920"/>
            <a:ext cx="7863840" cy="548640"/>
          </a:xfrm>
          <a:prstGeom prst="roundRect">
            <a:avLst>
              <a:gd name="adj" fmla="val 18000"/>
            </a:avLst>
          </a:prstGeom>
          <a:solidFill>
            <a:srgbClr val="1E2447"/>
          </a:solidFill>
          <a:ln>
            <a:noFill/>
          </a:ln>
        </p:spPr>
        <p:txBody>
          <a:bodyPr rtlCol="0" anchor="ctr"/>
          <a:lstStyle/>
          <a:p>
            <a:pPr algn="ctr"/>
          </a:p>
        </p:txBody>
      </p:sp>
      <p:sp>
        <p:nvSpPr>
          <p:cNvPr id="33" name="TextBox 32"/>
          <p:cNvSpPr txBox="1"/>
          <p:nvPr/>
        </p:nvSpPr>
        <p:spPr>
          <a:xfrm>
            <a:off x="868680" y="3931920"/>
            <a:ext cx="7406640" cy="548640"/>
          </a:xfrm>
          <a:prstGeom prst="rect">
            <a:avLst/>
          </a:prstGeom>
          <a:noFill/>
        </p:spPr>
        <p:txBody>
          <a:bodyPr wrap="square" lIns="0" rIns="0" tIns="0" bIns="0" anchor="ctr">
            <a:noAutofit/>
          </a:bodyPr>
          <a:lstStyle/>
          <a:p>
            <a:pPr algn="ctr">
              <a:spcBef>
                <a:spcPts val="0"/>
              </a:spcBef>
              <a:spcAft>
                <a:spcPts val="0"/>
              </a:spcAft>
            </a:pPr>
            <a:r>
              <a:rPr sz="1250" b="0" i="0">
                <a:solidFill>
                  <a:srgbClr val="FFFFFF"/>
                </a:solidFill>
                <a:latin typeface="Calibri"/>
              </a:rPr>
              <a:t>More computation enlarges instrumental capacity; knowledge and realisation belong to </a:t>
            </a:r>
            <a:r>
              <a:rPr sz="1250" b="0" i="1">
                <a:solidFill>
                  <a:srgbClr val="FFFFFF"/>
                </a:solidFill>
                <a:latin typeface="Calibri"/>
              </a:rPr>
              <a:t>jeevan</a:t>
            </a:r>
            <a:r>
              <a:rPr sz="1250" b="0" i="0">
                <a:solidFill>
                  <a:srgbClr val="FFFFFF"/>
                </a:solidFill>
                <a:latin typeface="Calibri"/>
              </a:rPr>
              <a:t> (KD p. 148).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  ·  A SPECIAL YANTRA  ·  §2.1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Calculator Versus Planning AI</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Note §2.1  ·  AnalyticMadhyasthDarshan.org  ·  7 / 31</a:t>
            </a:r>
          </a:p>
        </p:txBody>
      </p:sp>
      <p:sp>
        <p:nvSpPr>
          <p:cNvPr id="8" name="Rounded Rectangle 7"/>
          <p:cNvSpPr/>
          <p:nvPr/>
        </p:nvSpPr>
        <p:spPr>
          <a:xfrm>
            <a:off x="640080" y="1280160"/>
            <a:ext cx="3840480" cy="2514600"/>
          </a:xfrm>
          <a:prstGeom prst="roundRect">
            <a:avLst>
              <a:gd name="adj" fmla="val 7000"/>
            </a:avLst>
          </a:prstGeom>
          <a:solidFill>
            <a:srgbClr val="F1F2F4"/>
          </a:solidFill>
          <a:ln>
            <a:noFill/>
          </a:ln>
        </p:spPr>
        <p:txBody>
          <a:bodyPr rtlCol="0" anchor="ctr"/>
          <a:lstStyle/>
          <a:p>
            <a:pPr algn="ctr"/>
          </a:p>
        </p:txBody>
      </p:sp>
      <p:sp>
        <p:nvSpPr>
          <p:cNvPr id="9" name="Rounded Rectangle 8"/>
          <p:cNvSpPr/>
          <p:nvPr/>
        </p:nvSpPr>
        <p:spPr>
          <a:xfrm>
            <a:off x="2980944" y="1188719"/>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298094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22959"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Basic calculator</a:t>
            </a:r>
          </a:p>
        </p:txBody>
      </p:sp>
      <p:sp>
        <p:nvSpPr>
          <p:cNvPr id="12" name="Rounded Rectangle 11"/>
          <p:cNvSpPr/>
          <p:nvPr/>
        </p:nvSpPr>
        <p:spPr>
          <a:xfrm>
            <a:off x="1188720" y="1783080"/>
            <a:ext cx="2743200" cy="420624"/>
          </a:xfrm>
          <a:prstGeom prst="roundRect">
            <a:avLst>
              <a:gd name="adj" fmla="val 14000"/>
            </a:avLst>
          </a:prstGeom>
          <a:solidFill>
            <a:srgbClr val="3B4A7A"/>
          </a:solidFill>
          <a:ln>
            <a:noFill/>
          </a:ln>
        </p:spPr>
        <p:txBody>
          <a:bodyPr rtlCol="0" anchor="ctr"/>
          <a:lstStyle/>
          <a:p>
            <a:pPr algn="ctr"/>
          </a:p>
        </p:txBody>
      </p:sp>
      <p:sp>
        <p:nvSpPr>
          <p:cNvPr id="13" name="TextBox 12"/>
          <p:cNvSpPr txBox="1"/>
          <p:nvPr/>
        </p:nvSpPr>
        <p:spPr>
          <a:xfrm>
            <a:off x="1243584" y="1783080"/>
            <a:ext cx="2633472" cy="42062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Numbers and an operator</a:t>
            </a:r>
          </a:p>
        </p:txBody>
      </p:sp>
      <p:sp>
        <p:nvSpPr>
          <p:cNvPr id="14" name="TextBox 13"/>
          <p:cNvSpPr txBox="1"/>
          <p:nvPr/>
        </p:nvSpPr>
        <p:spPr>
          <a:xfrm>
            <a:off x="2377440" y="2185416"/>
            <a:ext cx="365760" cy="274320"/>
          </a:xfrm>
          <a:prstGeom prst="rect">
            <a:avLst/>
          </a:prstGeom>
          <a:noFill/>
        </p:spPr>
        <p:txBody>
          <a:bodyPr wrap="square" lIns="0" rIns="0" tIns="0" bIns="0" anchor="ctr">
            <a:noAutofit/>
          </a:bodyPr>
          <a:lstStyle/>
          <a:p>
            <a:pPr algn="ctr">
              <a:spcBef>
                <a:spcPts val="0"/>
              </a:spcBef>
              <a:spcAft>
                <a:spcPts val="0"/>
              </a:spcAft>
            </a:pPr>
            <a:r>
              <a:rPr sz="1300" b="1" i="0">
                <a:solidFill>
                  <a:srgbClr val="C9821E"/>
                </a:solidFill>
                <a:latin typeface="Calibri"/>
              </a:rPr>
              <a:t>↓</a:t>
            </a:r>
          </a:p>
        </p:txBody>
      </p:sp>
      <p:sp>
        <p:nvSpPr>
          <p:cNvPr id="15" name="Rounded Rectangle 14"/>
          <p:cNvSpPr/>
          <p:nvPr/>
        </p:nvSpPr>
        <p:spPr>
          <a:xfrm>
            <a:off x="1188720" y="2441448"/>
            <a:ext cx="2743200" cy="420624"/>
          </a:xfrm>
          <a:prstGeom prst="roundRect">
            <a:avLst>
              <a:gd name="adj" fmla="val 14000"/>
            </a:avLst>
          </a:prstGeom>
          <a:solidFill>
            <a:srgbClr val="3B4A7A"/>
          </a:solidFill>
          <a:ln>
            <a:noFill/>
          </a:ln>
        </p:spPr>
        <p:txBody>
          <a:bodyPr rtlCol="0" anchor="ctr"/>
          <a:lstStyle/>
          <a:p>
            <a:pPr algn="ctr"/>
          </a:p>
        </p:txBody>
      </p:sp>
      <p:sp>
        <p:nvSpPr>
          <p:cNvPr id="16" name="TextBox 15"/>
          <p:cNvSpPr txBox="1"/>
          <p:nvPr/>
        </p:nvSpPr>
        <p:spPr>
          <a:xfrm>
            <a:off x="1243584" y="2441448"/>
            <a:ext cx="2633472" cy="42062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One chosen operation</a:t>
            </a:r>
          </a:p>
        </p:txBody>
      </p:sp>
      <p:sp>
        <p:nvSpPr>
          <p:cNvPr id="17" name="TextBox 16"/>
          <p:cNvSpPr txBox="1"/>
          <p:nvPr/>
        </p:nvSpPr>
        <p:spPr>
          <a:xfrm>
            <a:off x="2377440" y="2843784"/>
            <a:ext cx="365760" cy="274320"/>
          </a:xfrm>
          <a:prstGeom prst="rect">
            <a:avLst/>
          </a:prstGeom>
          <a:noFill/>
        </p:spPr>
        <p:txBody>
          <a:bodyPr wrap="square" lIns="0" rIns="0" tIns="0" bIns="0" anchor="ctr">
            <a:noAutofit/>
          </a:bodyPr>
          <a:lstStyle/>
          <a:p>
            <a:pPr algn="ctr">
              <a:spcBef>
                <a:spcPts val="0"/>
              </a:spcBef>
              <a:spcAft>
                <a:spcPts val="0"/>
              </a:spcAft>
            </a:pPr>
            <a:r>
              <a:rPr sz="1300" b="1" i="0">
                <a:solidFill>
                  <a:srgbClr val="C9821E"/>
                </a:solidFill>
                <a:latin typeface="Calibri"/>
              </a:rPr>
              <a:t>↓</a:t>
            </a:r>
          </a:p>
        </p:txBody>
      </p:sp>
      <p:sp>
        <p:nvSpPr>
          <p:cNvPr id="18" name="Rounded Rectangle 17"/>
          <p:cNvSpPr/>
          <p:nvPr/>
        </p:nvSpPr>
        <p:spPr>
          <a:xfrm>
            <a:off x="1188720" y="3099815"/>
            <a:ext cx="2743200" cy="420624"/>
          </a:xfrm>
          <a:prstGeom prst="roundRect">
            <a:avLst>
              <a:gd name="adj" fmla="val 14000"/>
            </a:avLst>
          </a:prstGeom>
          <a:solidFill>
            <a:srgbClr val="3B4A7A"/>
          </a:solidFill>
          <a:ln>
            <a:noFill/>
          </a:ln>
        </p:spPr>
        <p:txBody>
          <a:bodyPr rtlCol="0" anchor="ctr"/>
          <a:lstStyle/>
          <a:p>
            <a:pPr algn="ctr"/>
          </a:p>
        </p:txBody>
      </p:sp>
      <p:sp>
        <p:nvSpPr>
          <p:cNvPr id="19" name="TextBox 18"/>
          <p:cNvSpPr txBox="1"/>
          <p:nvPr/>
        </p:nvSpPr>
        <p:spPr>
          <a:xfrm>
            <a:off x="1243584" y="3099815"/>
            <a:ext cx="2633472" cy="42062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A result</a:t>
            </a:r>
          </a:p>
        </p:txBody>
      </p:sp>
      <p:sp>
        <p:nvSpPr>
          <p:cNvPr id="20" name="Rounded Rectangle 19"/>
          <p:cNvSpPr/>
          <p:nvPr/>
        </p:nvSpPr>
        <p:spPr>
          <a:xfrm>
            <a:off x="4663440" y="1280160"/>
            <a:ext cx="3840480" cy="2514600"/>
          </a:xfrm>
          <a:prstGeom prst="roundRect">
            <a:avLst>
              <a:gd name="adj" fmla="val 7000"/>
            </a:avLst>
          </a:prstGeom>
          <a:solidFill>
            <a:srgbClr val="FAF1DF"/>
          </a:solidFill>
          <a:ln>
            <a:noFill/>
          </a:ln>
        </p:spPr>
        <p:txBody>
          <a:bodyPr rtlCol="0" anchor="ctr"/>
          <a:lstStyle/>
          <a:p>
            <a:pPr algn="ctr"/>
          </a:p>
        </p:txBody>
      </p:sp>
      <p:sp>
        <p:nvSpPr>
          <p:cNvPr id="21" name="Rounded Rectangle 20"/>
          <p:cNvSpPr/>
          <p:nvPr/>
        </p:nvSpPr>
        <p:spPr>
          <a:xfrm>
            <a:off x="7004304" y="1188719"/>
            <a:ext cx="1371600" cy="182880"/>
          </a:xfrm>
          <a:prstGeom prst="roundRect">
            <a:avLst>
              <a:gd name="adj" fmla="val 50000"/>
            </a:avLst>
          </a:prstGeom>
          <a:solidFill>
            <a:srgbClr val="C9821E"/>
          </a:solidFill>
          <a:ln>
            <a:noFill/>
          </a:ln>
        </p:spPr>
        <p:txBody>
          <a:bodyPr rtlCol="0" anchor="ctr"/>
          <a:lstStyle/>
          <a:p>
            <a:pPr algn="ctr"/>
          </a:p>
        </p:txBody>
      </p:sp>
      <p:sp>
        <p:nvSpPr>
          <p:cNvPr id="22" name="TextBox 21"/>
          <p:cNvSpPr txBox="1"/>
          <p:nvPr/>
        </p:nvSpPr>
        <p:spPr>
          <a:xfrm>
            <a:off x="700430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3" name="TextBox 22"/>
          <p:cNvSpPr txBox="1"/>
          <p:nvPr/>
        </p:nvSpPr>
        <p:spPr>
          <a:xfrm>
            <a:off x="4846320"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Planning AI</a:t>
            </a:r>
          </a:p>
        </p:txBody>
      </p:sp>
      <p:sp>
        <p:nvSpPr>
          <p:cNvPr id="24" name="Rounded Rectangle 23"/>
          <p:cNvSpPr/>
          <p:nvPr/>
        </p:nvSpPr>
        <p:spPr>
          <a:xfrm>
            <a:off x="5029200" y="1783080"/>
            <a:ext cx="3108960" cy="420624"/>
          </a:xfrm>
          <a:prstGeom prst="roundRect">
            <a:avLst>
              <a:gd name="adj" fmla="val 14000"/>
            </a:avLst>
          </a:prstGeom>
          <a:solidFill>
            <a:srgbClr val="C9821E"/>
          </a:solidFill>
          <a:ln>
            <a:noFill/>
          </a:ln>
        </p:spPr>
        <p:txBody>
          <a:bodyPr rtlCol="0" anchor="ctr"/>
          <a:lstStyle/>
          <a:p>
            <a:pPr algn="ctr"/>
          </a:p>
        </p:txBody>
      </p:sp>
      <p:sp>
        <p:nvSpPr>
          <p:cNvPr id="25" name="TextBox 24"/>
          <p:cNvSpPr txBox="1"/>
          <p:nvPr/>
        </p:nvSpPr>
        <p:spPr>
          <a:xfrm>
            <a:off x="5084064" y="1783080"/>
            <a:ext cx="2999232" cy="42062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A goal and observations</a:t>
            </a:r>
          </a:p>
        </p:txBody>
      </p:sp>
      <p:sp>
        <p:nvSpPr>
          <p:cNvPr id="26" name="TextBox 25"/>
          <p:cNvSpPr txBox="1"/>
          <p:nvPr/>
        </p:nvSpPr>
        <p:spPr>
          <a:xfrm>
            <a:off x="6400800" y="2185416"/>
            <a:ext cx="365760" cy="274320"/>
          </a:xfrm>
          <a:prstGeom prst="rect">
            <a:avLst/>
          </a:prstGeom>
          <a:noFill/>
        </p:spPr>
        <p:txBody>
          <a:bodyPr wrap="square" lIns="0" rIns="0" tIns="0" bIns="0" anchor="ctr">
            <a:noAutofit/>
          </a:bodyPr>
          <a:lstStyle/>
          <a:p>
            <a:pPr algn="ctr">
              <a:spcBef>
                <a:spcPts val="0"/>
              </a:spcBef>
              <a:spcAft>
                <a:spcPts val="0"/>
              </a:spcAft>
            </a:pPr>
            <a:r>
              <a:rPr sz="1300" b="1" i="0">
                <a:solidFill>
                  <a:srgbClr val="9A6414"/>
                </a:solidFill>
                <a:latin typeface="Calibri"/>
              </a:rPr>
              <a:t>↓</a:t>
            </a:r>
          </a:p>
        </p:txBody>
      </p:sp>
      <p:sp>
        <p:nvSpPr>
          <p:cNvPr id="27" name="Rounded Rectangle 26"/>
          <p:cNvSpPr/>
          <p:nvPr/>
        </p:nvSpPr>
        <p:spPr>
          <a:xfrm>
            <a:off x="5029200" y="2441448"/>
            <a:ext cx="3108960" cy="420624"/>
          </a:xfrm>
          <a:prstGeom prst="roundRect">
            <a:avLst>
              <a:gd name="adj" fmla="val 14000"/>
            </a:avLst>
          </a:prstGeom>
          <a:solidFill>
            <a:srgbClr val="C9821E"/>
          </a:solidFill>
          <a:ln>
            <a:noFill/>
          </a:ln>
        </p:spPr>
        <p:txBody>
          <a:bodyPr rtlCol="0" anchor="ctr"/>
          <a:lstStyle/>
          <a:p>
            <a:pPr algn="ctr"/>
          </a:p>
        </p:txBody>
      </p:sp>
      <p:sp>
        <p:nvSpPr>
          <p:cNvPr id="28" name="TextBox 27"/>
          <p:cNvSpPr txBox="1"/>
          <p:nvPr/>
        </p:nvSpPr>
        <p:spPr>
          <a:xfrm>
            <a:off x="5084064" y="2441448"/>
            <a:ext cx="2999232" cy="42062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Select · evaluate · imagine outcomes</a:t>
            </a:r>
          </a:p>
        </p:txBody>
      </p:sp>
      <p:sp>
        <p:nvSpPr>
          <p:cNvPr id="29" name="TextBox 28"/>
          <p:cNvSpPr txBox="1"/>
          <p:nvPr/>
        </p:nvSpPr>
        <p:spPr>
          <a:xfrm>
            <a:off x="6400800" y="2843784"/>
            <a:ext cx="365760" cy="274320"/>
          </a:xfrm>
          <a:prstGeom prst="rect">
            <a:avLst/>
          </a:prstGeom>
          <a:noFill/>
        </p:spPr>
        <p:txBody>
          <a:bodyPr wrap="square" lIns="0" rIns="0" tIns="0" bIns="0" anchor="ctr">
            <a:noAutofit/>
          </a:bodyPr>
          <a:lstStyle/>
          <a:p>
            <a:pPr algn="ctr">
              <a:spcBef>
                <a:spcPts val="0"/>
              </a:spcBef>
              <a:spcAft>
                <a:spcPts val="0"/>
              </a:spcAft>
            </a:pPr>
            <a:r>
              <a:rPr sz="1300" b="1" i="0">
                <a:solidFill>
                  <a:srgbClr val="9A6414"/>
                </a:solidFill>
                <a:latin typeface="Calibri"/>
              </a:rPr>
              <a:t>↓</a:t>
            </a:r>
          </a:p>
        </p:txBody>
      </p:sp>
      <p:sp>
        <p:nvSpPr>
          <p:cNvPr id="30" name="Rounded Rectangle 29"/>
          <p:cNvSpPr/>
          <p:nvPr/>
        </p:nvSpPr>
        <p:spPr>
          <a:xfrm>
            <a:off x="5029200" y="3099815"/>
            <a:ext cx="3108960" cy="420624"/>
          </a:xfrm>
          <a:prstGeom prst="roundRect">
            <a:avLst>
              <a:gd name="adj" fmla="val 14000"/>
            </a:avLst>
          </a:prstGeom>
          <a:solidFill>
            <a:srgbClr val="C9821E"/>
          </a:solidFill>
          <a:ln>
            <a:noFill/>
          </a:ln>
        </p:spPr>
        <p:txBody>
          <a:bodyPr rtlCol="0" anchor="ctr"/>
          <a:lstStyle/>
          <a:p>
            <a:pPr algn="ctr"/>
          </a:p>
        </p:txBody>
      </p:sp>
      <p:sp>
        <p:nvSpPr>
          <p:cNvPr id="31" name="TextBox 30"/>
          <p:cNvSpPr txBox="1"/>
          <p:nvPr/>
        </p:nvSpPr>
        <p:spPr>
          <a:xfrm>
            <a:off x="5084064" y="3099815"/>
            <a:ext cx="2999232" cy="420624"/>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Choose means; act where permitted</a:t>
            </a:r>
          </a:p>
        </p:txBody>
      </p:sp>
      <p:sp>
        <p:nvSpPr>
          <p:cNvPr id="32" name="TextBox 31"/>
          <p:cNvSpPr txBox="1"/>
          <p:nvPr/>
        </p:nvSpPr>
        <p:spPr>
          <a:xfrm>
            <a:off x="640080" y="3931920"/>
            <a:ext cx="3840480" cy="548640"/>
          </a:xfrm>
          <a:prstGeom prst="rect">
            <a:avLst/>
          </a:prstGeom>
          <a:noFill/>
        </p:spPr>
        <p:txBody>
          <a:bodyPr wrap="square" lIns="0" rIns="0" tIns="0" bIns="0" anchor="ctr">
            <a:noAutofit/>
          </a:bodyPr>
          <a:lstStyle/>
          <a:p>
            <a:pPr algn="ctr">
              <a:spcBef>
                <a:spcPts val="0"/>
              </a:spcBef>
              <a:spcAft>
                <a:spcPts val="0"/>
              </a:spcAft>
            </a:pPr>
            <a:r>
              <a:rPr sz="1200" b="0" i="1">
                <a:solidFill>
                  <a:srgbClr val="5A6377"/>
                </a:solidFill>
                <a:latin typeface="Calibri"/>
              </a:rPr>
              <a:t>The purpose was chosen before the instrument began.</a:t>
            </a:r>
          </a:p>
        </p:txBody>
      </p:sp>
      <p:sp>
        <p:nvSpPr>
          <p:cNvPr id="33" name="TextBox 32"/>
          <p:cNvSpPr txBox="1"/>
          <p:nvPr/>
        </p:nvSpPr>
        <p:spPr>
          <a:xfrm>
            <a:off x="4663440" y="3931920"/>
            <a:ext cx="3840480" cy="548640"/>
          </a:xfrm>
          <a:prstGeom prst="rect">
            <a:avLst/>
          </a:prstGeom>
          <a:noFill/>
        </p:spPr>
        <p:txBody>
          <a:bodyPr wrap="square" lIns="0" rIns="0" tIns="0" bIns="0" anchor="ctr">
            <a:noAutofit/>
          </a:bodyPr>
          <a:lstStyle/>
          <a:p>
            <a:pPr algn="ctr">
              <a:spcBef>
                <a:spcPts val="0"/>
              </a:spcBef>
              <a:spcAft>
                <a:spcPts val="0"/>
              </a:spcAft>
            </a:pPr>
            <a:r>
              <a:rPr sz="1200" b="0" i="1">
                <a:solidFill>
                  <a:srgbClr val="9A6414"/>
                </a:solidFill>
                <a:latin typeface="Calibri"/>
              </a:rPr>
              <a:t>Delegation extends to criteria and action; its governing purpose shapes the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  ·  WHAT IT CANNOT SUPPLY  ·  §2.2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Words, Meaning, and Living Evidence</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 111  ·  KD pp. 62, 86, 130, 148  ·  Driess et al. 2023  ·  AnalyticMadhyasthDarshan.org  ·  8 / 31</a:t>
            </a:r>
          </a:p>
        </p:txBody>
      </p:sp>
      <p:sp>
        <p:nvSpPr>
          <p:cNvPr id="8" name="TextBox 7"/>
          <p:cNvSpPr txBox="1"/>
          <p:nvPr/>
        </p:nvSpPr>
        <p:spPr>
          <a:xfrm>
            <a:off x="640080" y="1188720"/>
            <a:ext cx="7863840"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The assistant can retrieve, explain, and compare. Recognising the reality under study is the learner's work.</a:t>
            </a:r>
          </a:p>
        </p:txBody>
      </p:sp>
      <p:sp>
        <p:nvSpPr>
          <p:cNvPr id="9" name="Rounded Rectangle 8"/>
          <p:cNvSpPr/>
          <p:nvPr/>
        </p:nvSpPr>
        <p:spPr>
          <a:xfrm>
            <a:off x="640080" y="1874519"/>
            <a:ext cx="2514600" cy="2103120"/>
          </a:xfrm>
          <a:prstGeom prst="roundRect">
            <a:avLst>
              <a:gd name="adj" fmla="val 7000"/>
            </a:avLst>
          </a:prstGeom>
          <a:solidFill>
            <a:srgbClr val="EEF1F8"/>
          </a:solidFill>
          <a:ln>
            <a:noFill/>
          </a:ln>
        </p:spPr>
        <p:txBody>
          <a:bodyPr rtlCol="0" anchor="ctr"/>
          <a:lstStyle/>
          <a:p>
            <a:pPr algn="ctr"/>
          </a:p>
        </p:txBody>
      </p:sp>
      <p:sp>
        <p:nvSpPr>
          <p:cNvPr id="12" name="TextBox 11"/>
          <p:cNvSpPr txBox="1"/>
          <p:nvPr/>
        </p:nvSpPr>
        <p:spPr>
          <a:xfrm>
            <a:off x="822959" y="1993391"/>
            <a:ext cx="2148840" cy="274320"/>
          </a:xfrm>
          <a:prstGeom prst="rect">
            <a:avLst/>
          </a:prstGeom>
          <a:noFill/>
        </p:spPr>
        <p:txBody>
          <a:bodyPr wrap="square" lIns="0" rIns="0" tIns="0" bIns="0" anchor="ctr">
            <a:noAutofit/>
          </a:bodyPr>
          <a:lstStyle/>
          <a:p>
            <a:pPr algn="l">
              <a:spcBef>
                <a:spcPts val="0"/>
              </a:spcBef>
              <a:spcAft>
                <a:spcPts val="0"/>
              </a:spcAft>
            </a:pPr>
            <a:r>
              <a:rPr sz="1300" b="1" i="1">
                <a:solidFill>
                  <a:srgbClr val="1E2447"/>
                </a:solidFill>
                <a:latin typeface="Cambria"/>
              </a:rPr>
              <a:t>Shabda</a:t>
            </a:r>
            <a:r>
              <a:rPr sz="1300" b="1" i="0">
                <a:solidFill>
                  <a:srgbClr val="1E2447"/>
                </a:solidFill>
                <a:latin typeface="Cambria"/>
              </a:rPr>
              <a:t> and </a:t>
            </a:r>
            <a:r>
              <a:rPr sz="1300" b="1" i="1">
                <a:solidFill>
                  <a:srgbClr val="1E2447"/>
                </a:solidFill>
                <a:latin typeface="Cambria"/>
              </a:rPr>
              <a:t>artha</a:t>
            </a:r>
          </a:p>
        </p:txBody>
      </p:sp>
      <p:sp>
        <p:nvSpPr>
          <p:cNvPr id="13" name="TextBox 12"/>
          <p:cNvSpPr txBox="1"/>
          <p:nvPr/>
        </p:nvSpPr>
        <p:spPr>
          <a:xfrm>
            <a:off x="822959" y="2295144"/>
            <a:ext cx="2148840" cy="1591055"/>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Words indicate; their meaning directs attention to the reality. Reproducing words is not understanding them.</a:t>
            </a:r>
          </a:p>
        </p:txBody>
      </p:sp>
      <p:sp>
        <p:nvSpPr>
          <p:cNvPr id="14" name="Rounded Rectangle 13"/>
          <p:cNvSpPr/>
          <p:nvPr/>
        </p:nvSpPr>
        <p:spPr>
          <a:xfrm>
            <a:off x="3314700" y="1874519"/>
            <a:ext cx="2514600" cy="2103120"/>
          </a:xfrm>
          <a:prstGeom prst="roundRect">
            <a:avLst>
              <a:gd name="adj" fmla="val 7000"/>
            </a:avLst>
          </a:prstGeom>
          <a:solidFill>
            <a:srgbClr val="F1F2F4"/>
          </a:solidFill>
          <a:ln>
            <a:noFill/>
          </a:ln>
        </p:spPr>
        <p:txBody>
          <a:bodyPr rtlCol="0" anchor="ctr"/>
          <a:lstStyle/>
          <a:p>
            <a:pPr algn="ctr"/>
          </a:p>
        </p:txBody>
      </p:sp>
      <p:sp>
        <p:nvSpPr>
          <p:cNvPr id="15" name="Rounded Rectangle 14"/>
          <p:cNvSpPr/>
          <p:nvPr/>
        </p:nvSpPr>
        <p:spPr>
          <a:xfrm>
            <a:off x="4988052" y="1783079"/>
            <a:ext cx="713232" cy="182880"/>
          </a:xfrm>
          <a:prstGeom prst="roundRect">
            <a:avLst>
              <a:gd name="adj" fmla="val 50000"/>
            </a:avLst>
          </a:prstGeom>
          <a:solidFill>
            <a:srgbClr val="7A8295"/>
          </a:solidFill>
          <a:ln>
            <a:noFill/>
          </a:ln>
        </p:spPr>
        <p:txBody>
          <a:bodyPr rtlCol="0" anchor="ctr"/>
          <a:lstStyle/>
          <a:p>
            <a:pPr algn="ctr"/>
          </a:p>
        </p:txBody>
      </p:sp>
      <p:sp>
        <p:nvSpPr>
          <p:cNvPr id="16" name="TextBox 15"/>
          <p:cNvSpPr txBox="1"/>
          <p:nvPr/>
        </p:nvSpPr>
        <p:spPr>
          <a:xfrm>
            <a:off x="4988052" y="1783079"/>
            <a:ext cx="713232"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RESEARCH</a:t>
            </a:r>
          </a:p>
        </p:txBody>
      </p:sp>
      <p:sp>
        <p:nvSpPr>
          <p:cNvPr id="17" name="TextBox 16"/>
          <p:cNvSpPr txBox="1"/>
          <p:nvPr/>
        </p:nvSpPr>
        <p:spPr>
          <a:xfrm>
            <a:off x="3497580" y="1993391"/>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Sensing is not knowing</a:t>
            </a:r>
          </a:p>
        </p:txBody>
      </p:sp>
      <p:sp>
        <p:nvSpPr>
          <p:cNvPr id="18" name="TextBox 17"/>
          <p:cNvSpPr txBox="1"/>
          <p:nvPr/>
        </p:nvSpPr>
        <p:spPr>
          <a:xfrm>
            <a:off x="3497580" y="2295144"/>
            <a:ext cx="2148840" cy="1591055"/>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Robotic and multimodal systems process sensor data (PaLM-E). The distinction concerns conscious understanding.</a:t>
            </a:r>
          </a:p>
        </p:txBody>
      </p:sp>
      <p:sp>
        <p:nvSpPr>
          <p:cNvPr id="19" name="Rounded Rectangle 18"/>
          <p:cNvSpPr/>
          <p:nvPr/>
        </p:nvSpPr>
        <p:spPr>
          <a:xfrm>
            <a:off x="5989320" y="1874519"/>
            <a:ext cx="2514600" cy="2103120"/>
          </a:xfrm>
          <a:prstGeom prst="roundRect">
            <a:avLst>
              <a:gd name="adj" fmla="val 7000"/>
            </a:avLst>
          </a:prstGeom>
          <a:solidFill>
            <a:srgbClr val="EEF1F8"/>
          </a:solidFill>
          <a:ln>
            <a:noFill/>
          </a:ln>
        </p:spPr>
        <p:txBody>
          <a:bodyPr rtlCol="0" anchor="ctr"/>
          <a:lstStyle/>
          <a:p>
            <a:pPr algn="ctr"/>
          </a:p>
        </p:txBody>
      </p:sp>
      <p:sp>
        <p:nvSpPr>
          <p:cNvPr id="22" name="TextBox 21"/>
          <p:cNvSpPr txBox="1"/>
          <p:nvPr/>
        </p:nvSpPr>
        <p:spPr>
          <a:xfrm>
            <a:off x="6172200" y="1993391"/>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Evidence has a human basis</a:t>
            </a:r>
          </a:p>
        </p:txBody>
      </p:sp>
      <p:sp>
        <p:nvSpPr>
          <p:cNvPr id="23" name="TextBox 22"/>
          <p:cNvSpPr txBox="1"/>
          <p:nvPr/>
        </p:nvSpPr>
        <p:spPr>
          <a:xfrm>
            <a:off x="6172200" y="2295144"/>
            <a:ext cx="2148840" cy="1591055"/>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Instrument evidence rests on those who build, interpret, and use it. Responsibility stays with each role.</a:t>
            </a:r>
          </a:p>
        </p:txBody>
      </p:sp>
      <p:sp>
        <p:nvSpPr>
          <p:cNvPr id="24" name="TextBox 23"/>
          <p:cNvSpPr txBox="1"/>
          <p:nvPr/>
        </p:nvSpPr>
        <p:spPr>
          <a:xfrm>
            <a:off x="640080" y="4206240"/>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The assistant supplies traceable information and reasoning; living evidence is expressed by the human.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III  ·  TEN ACTIVITIES  ·  §3.1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Ten Activities of Jeevan</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pp. 72–74, 91–93  ·  MVD p. 89  ·  KD p. 147  ·  AnalyticMadhyasthDarshan.org  ·  9 / 31</a:t>
            </a:r>
          </a:p>
        </p:txBody>
      </p:sp>
      <p:sp>
        <p:nvSpPr>
          <p:cNvPr id="8" name="Rounded Rectangle 7"/>
          <p:cNvSpPr/>
          <p:nvPr/>
        </p:nvSpPr>
        <p:spPr>
          <a:xfrm>
            <a:off x="640080" y="1298448"/>
            <a:ext cx="1097280" cy="493776"/>
          </a:xfrm>
          <a:prstGeom prst="roundRect">
            <a:avLst>
              <a:gd name="adj" fmla="val 14000"/>
            </a:avLst>
          </a:prstGeom>
          <a:solidFill>
            <a:srgbClr val="1E2447"/>
          </a:solidFill>
          <a:ln>
            <a:noFill/>
          </a:ln>
        </p:spPr>
        <p:txBody>
          <a:bodyPr rtlCol="0" anchor="ctr"/>
          <a:lstStyle/>
          <a:p>
            <a:pPr algn="ctr"/>
          </a:p>
        </p:txBody>
      </p:sp>
      <p:sp>
        <p:nvSpPr>
          <p:cNvPr id="9" name="TextBox 8"/>
          <p:cNvSpPr txBox="1"/>
          <p:nvPr/>
        </p:nvSpPr>
        <p:spPr>
          <a:xfrm>
            <a:off x="694944" y="1298448"/>
            <a:ext cx="987552" cy="49377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Mun</a:t>
            </a:r>
          </a:p>
        </p:txBody>
      </p:sp>
      <p:sp>
        <p:nvSpPr>
          <p:cNvPr id="10" name="Rounded Rectangle 9"/>
          <p:cNvSpPr/>
          <p:nvPr/>
        </p:nvSpPr>
        <p:spPr>
          <a:xfrm>
            <a:off x="1828800" y="1298448"/>
            <a:ext cx="1874519" cy="493776"/>
          </a:xfrm>
          <a:prstGeom prst="roundRect">
            <a:avLst>
              <a:gd name="adj" fmla="val 12000"/>
            </a:avLst>
          </a:prstGeom>
          <a:solidFill>
            <a:srgbClr val="FAF1DF"/>
          </a:solidFill>
          <a:ln w="12700">
            <a:solidFill>
              <a:srgbClr val="C9821E"/>
            </a:solidFill>
          </a:ln>
        </p:spPr>
        <p:txBody>
          <a:bodyPr rtlCol="0" anchor="ctr"/>
          <a:lstStyle/>
          <a:p>
            <a:pPr algn="ctr"/>
          </a:p>
        </p:txBody>
      </p:sp>
      <p:sp>
        <p:nvSpPr>
          <p:cNvPr id="11" name="TextBox 10"/>
          <p:cNvSpPr txBox="1"/>
          <p:nvPr/>
        </p:nvSpPr>
        <p:spPr>
          <a:xfrm>
            <a:off x="1828800" y="1298448"/>
            <a:ext cx="1874519" cy="493776"/>
          </a:xfrm>
          <a:prstGeom prst="rect">
            <a:avLst/>
          </a:prstGeom>
          <a:noFill/>
        </p:spPr>
        <p:txBody>
          <a:bodyPr wrap="square" lIns="0" rIns="0" tIns="0" bIns="0" anchor="ctr">
            <a:noAutofit/>
          </a:bodyPr>
          <a:lstStyle/>
          <a:p>
            <a:pPr algn="ctr">
              <a:spcBef>
                <a:spcPts val="0"/>
              </a:spcBef>
              <a:spcAft>
                <a:spcPts val="0"/>
              </a:spcAft>
            </a:pPr>
            <a:r>
              <a:rPr sz="1200" b="1" i="0">
                <a:solidFill>
                  <a:srgbClr val="9A6414"/>
                </a:solidFill>
                <a:latin typeface="Calibri"/>
              </a:rPr>
              <a:t>Selection</a:t>
            </a:r>
          </a:p>
        </p:txBody>
      </p:sp>
      <p:sp>
        <p:nvSpPr>
          <p:cNvPr id="12" name="Rounded Rectangle 11"/>
          <p:cNvSpPr/>
          <p:nvPr/>
        </p:nvSpPr>
        <p:spPr>
          <a:xfrm>
            <a:off x="3794760" y="1298448"/>
            <a:ext cx="1874519" cy="493776"/>
          </a:xfrm>
          <a:prstGeom prst="roundRect">
            <a:avLst>
              <a:gd name="adj" fmla="val 12000"/>
            </a:avLst>
          </a:prstGeom>
          <a:solidFill>
            <a:srgbClr val="FAF1DF"/>
          </a:solidFill>
          <a:ln w="12700">
            <a:solidFill>
              <a:srgbClr val="C9821E"/>
            </a:solidFill>
          </a:ln>
        </p:spPr>
        <p:txBody>
          <a:bodyPr rtlCol="0" anchor="ctr"/>
          <a:lstStyle/>
          <a:p>
            <a:pPr algn="ctr"/>
          </a:p>
        </p:txBody>
      </p:sp>
      <p:sp>
        <p:nvSpPr>
          <p:cNvPr id="13" name="TextBox 12"/>
          <p:cNvSpPr txBox="1"/>
          <p:nvPr/>
        </p:nvSpPr>
        <p:spPr>
          <a:xfrm>
            <a:off x="3794760" y="1298448"/>
            <a:ext cx="1874519" cy="493776"/>
          </a:xfrm>
          <a:prstGeom prst="rect">
            <a:avLst/>
          </a:prstGeom>
          <a:noFill/>
        </p:spPr>
        <p:txBody>
          <a:bodyPr wrap="square" lIns="0" rIns="0" tIns="0" bIns="0" anchor="ctr">
            <a:noAutofit/>
          </a:bodyPr>
          <a:lstStyle/>
          <a:p>
            <a:pPr algn="ctr">
              <a:spcBef>
                <a:spcPts val="0"/>
              </a:spcBef>
              <a:spcAft>
                <a:spcPts val="0"/>
              </a:spcAft>
            </a:pPr>
            <a:r>
              <a:rPr sz="1200" b="1" i="0">
                <a:solidFill>
                  <a:srgbClr val="9A6414"/>
                </a:solidFill>
                <a:latin typeface="Calibri"/>
              </a:rPr>
              <a:t>Taste</a:t>
            </a:r>
          </a:p>
        </p:txBody>
      </p:sp>
      <p:sp>
        <p:nvSpPr>
          <p:cNvPr id="14" name="Rounded Rectangle 13"/>
          <p:cNvSpPr/>
          <p:nvPr/>
        </p:nvSpPr>
        <p:spPr>
          <a:xfrm>
            <a:off x="640080" y="1883664"/>
            <a:ext cx="1097280" cy="493776"/>
          </a:xfrm>
          <a:prstGeom prst="roundRect">
            <a:avLst>
              <a:gd name="adj" fmla="val 14000"/>
            </a:avLst>
          </a:prstGeom>
          <a:solidFill>
            <a:srgbClr val="1E2447"/>
          </a:solidFill>
          <a:ln>
            <a:noFill/>
          </a:ln>
        </p:spPr>
        <p:txBody>
          <a:bodyPr rtlCol="0" anchor="ctr"/>
          <a:lstStyle/>
          <a:p>
            <a:pPr algn="ctr"/>
          </a:p>
        </p:txBody>
      </p:sp>
      <p:sp>
        <p:nvSpPr>
          <p:cNvPr id="15" name="TextBox 14"/>
          <p:cNvSpPr txBox="1"/>
          <p:nvPr/>
        </p:nvSpPr>
        <p:spPr>
          <a:xfrm>
            <a:off x="694944" y="1883664"/>
            <a:ext cx="987552" cy="49377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Vritti</a:t>
            </a:r>
          </a:p>
        </p:txBody>
      </p:sp>
      <p:sp>
        <p:nvSpPr>
          <p:cNvPr id="16" name="Rounded Rectangle 15"/>
          <p:cNvSpPr/>
          <p:nvPr/>
        </p:nvSpPr>
        <p:spPr>
          <a:xfrm>
            <a:off x="1828800" y="1883664"/>
            <a:ext cx="1874519" cy="493776"/>
          </a:xfrm>
          <a:prstGeom prst="roundRect">
            <a:avLst>
              <a:gd name="adj" fmla="val 12000"/>
            </a:avLst>
          </a:prstGeom>
          <a:solidFill>
            <a:srgbClr val="FAF1DF"/>
          </a:solidFill>
          <a:ln w="12700">
            <a:solidFill>
              <a:srgbClr val="C9821E"/>
            </a:solidFill>
          </a:ln>
        </p:spPr>
        <p:txBody>
          <a:bodyPr rtlCol="0" anchor="ctr"/>
          <a:lstStyle/>
          <a:p>
            <a:pPr algn="ctr"/>
          </a:p>
        </p:txBody>
      </p:sp>
      <p:sp>
        <p:nvSpPr>
          <p:cNvPr id="17" name="TextBox 16"/>
          <p:cNvSpPr txBox="1"/>
          <p:nvPr/>
        </p:nvSpPr>
        <p:spPr>
          <a:xfrm>
            <a:off x="1828800" y="1883664"/>
            <a:ext cx="1874519" cy="493776"/>
          </a:xfrm>
          <a:prstGeom prst="rect">
            <a:avLst/>
          </a:prstGeom>
          <a:noFill/>
        </p:spPr>
        <p:txBody>
          <a:bodyPr wrap="square" lIns="0" rIns="0" tIns="0" bIns="0" anchor="ctr">
            <a:noAutofit/>
          </a:bodyPr>
          <a:lstStyle/>
          <a:p>
            <a:pPr algn="ctr">
              <a:spcBef>
                <a:spcPts val="0"/>
              </a:spcBef>
              <a:spcAft>
                <a:spcPts val="0"/>
              </a:spcAft>
            </a:pPr>
            <a:r>
              <a:rPr sz="1200" b="1" i="0">
                <a:solidFill>
                  <a:srgbClr val="9A6414"/>
                </a:solidFill>
                <a:latin typeface="Calibri"/>
              </a:rPr>
              <a:t>Analysis</a:t>
            </a:r>
          </a:p>
        </p:txBody>
      </p:sp>
      <p:sp>
        <p:nvSpPr>
          <p:cNvPr id="18" name="Rounded Rectangle 17"/>
          <p:cNvSpPr/>
          <p:nvPr/>
        </p:nvSpPr>
        <p:spPr>
          <a:xfrm>
            <a:off x="3794760" y="1883664"/>
            <a:ext cx="914400" cy="493776"/>
          </a:xfrm>
          <a:prstGeom prst="roundRect">
            <a:avLst>
              <a:gd name="adj" fmla="val 12000"/>
            </a:avLst>
          </a:prstGeom>
          <a:solidFill>
            <a:srgbClr val="FAF1DF"/>
          </a:solidFill>
          <a:ln w="12700">
            <a:solidFill>
              <a:srgbClr val="C9821E"/>
            </a:solidFill>
          </a:ln>
        </p:spPr>
        <p:txBody>
          <a:bodyPr rtlCol="0" anchor="ctr"/>
          <a:lstStyle/>
          <a:p>
            <a:pPr algn="ctr"/>
          </a:p>
        </p:txBody>
      </p:sp>
      <p:sp>
        <p:nvSpPr>
          <p:cNvPr id="19" name="Rounded Rectangle 18"/>
          <p:cNvSpPr/>
          <p:nvPr/>
        </p:nvSpPr>
        <p:spPr>
          <a:xfrm>
            <a:off x="4754880" y="1883664"/>
            <a:ext cx="914400" cy="493776"/>
          </a:xfrm>
          <a:prstGeom prst="roundRect">
            <a:avLst>
              <a:gd name="adj" fmla="val 12000"/>
            </a:avLst>
          </a:prstGeom>
          <a:solidFill>
            <a:srgbClr val="FFFFFF"/>
          </a:solidFill>
          <a:ln w="12700">
            <a:solidFill>
              <a:srgbClr val="8E9BC4"/>
            </a:solidFill>
          </a:ln>
        </p:spPr>
        <p:txBody>
          <a:bodyPr rtlCol="0" anchor="ctr"/>
          <a:lstStyle/>
          <a:p>
            <a:pPr algn="ctr"/>
          </a:p>
        </p:txBody>
      </p:sp>
      <p:sp>
        <p:nvSpPr>
          <p:cNvPr id="20" name="TextBox 19"/>
          <p:cNvSpPr txBox="1"/>
          <p:nvPr/>
        </p:nvSpPr>
        <p:spPr>
          <a:xfrm>
            <a:off x="3794760" y="1911095"/>
            <a:ext cx="914400" cy="438912"/>
          </a:xfrm>
          <a:prstGeom prst="rect">
            <a:avLst/>
          </a:prstGeom>
          <a:noFill/>
        </p:spPr>
        <p:txBody>
          <a:bodyPr wrap="square" lIns="0" rIns="0" tIns="0" bIns="0" anchor="ctr">
            <a:noAutofit/>
          </a:bodyPr>
          <a:lstStyle/>
          <a:p>
            <a:pPr algn="ctr">
              <a:spcBef>
                <a:spcPts val="0"/>
              </a:spcBef>
              <a:spcAft>
                <a:spcPts val="0"/>
              </a:spcAft>
            </a:pPr>
            <a:r>
              <a:rPr sz="1000" b="1" i="0">
                <a:solidFill>
                  <a:srgbClr val="9A6414"/>
                </a:solidFill>
                <a:latin typeface="Calibri"/>
              </a:rPr>
              <a:t>Deliberation</a:t>
            </a:r>
          </a:p>
          <a:p>
            <a:pPr algn="ctr">
              <a:spcBef>
                <a:spcPts val="0"/>
              </a:spcBef>
              <a:spcAft>
                <a:spcPts val="0"/>
              </a:spcAft>
            </a:pPr>
            <a:r>
              <a:rPr sz="850" b="1" i="1">
                <a:solidFill>
                  <a:srgbClr val="9A6414"/>
                </a:solidFill>
                <a:latin typeface="Calibri"/>
              </a:rPr>
              <a:t>priya–hita–labha</a:t>
            </a:r>
          </a:p>
        </p:txBody>
      </p:sp>
      <p:sp>
        <p:nvSpPr>
          <p:cNvPr id="21" name="TextBox 20"/>
          <p:cNvSpPr txBox="1"/>
          <p:nvPr/>
        </p:nvSpPr>
        <p:spPr>
          <a:xfrm>
            <a:off x="4754880" y="1911095"/>
            <a:ext cx="914400" cy="438912"/>
          </a:xfrm>
          <a:prstGeom prst="rect">
            <a:avLst/>
          </a:prstGeom>
          <a:noFill/>
        </p:spPr>
        <p:txBody>
          <a:bodyPr wrap="square" lIns="0" rIns="0" tIns="0" bIns="0" anchor="ctr">
            <a:noAutofit/>
          </a:bodyPr>
          <a:lstStyle/>
          <a:p>
            <a:pPr algn="ctr">
              <a:spcBef>
                <a:spcPts val="0"/>
              </a:spcBef>
              <a:spcAft>
                <a:spcPts val="0"/>
              </a:spcAft>
            </a:pPr>
            <a:r>
              <a:rPr sz="1000" b="0" i="0">
                <a:solidFill>
                  <a:srgbClr val="3B4A7A"/>
                </a:solidFill>
                <a:latin typeface="Calibri"/>
              </a:rPr>
              <a:t>Deliberation</a:t>
            </a:r>
          </a:p>
          <a:p>
            <a:pPr algn="ctr">
              <a:spcBef>
                <a:spcPts val="0"/>
              </a:spcBef>
              <a:spcAft>
                <a:spcPts val="0"/>
              </a:spcAft>
            </a:pPr>
            <a:r>
              <a:rPr sz="850" b="0" i="1">
                <a:solidFill>
                  <a:srgbClr val="3B4A7A"/>
                </a:solidFill>
                <a:latin typeface="Calibri"/>
              </a:rPr>
              <a:t>nyaya–dharma–satya</a:t>
            </a:r>
          </a:p>
        </p:txBody>
      </p:sp>
      <p:sp>
        <p:nvSpPr>
          <p:cNvPr id="22" name="Rounded Rectangle 21"/>
          <p:cNvSpPr/>
          <p:nvPr/>
        </p:nvSpPr>
        <p:spPr>
          <a:xfrm>
            <a:off x="640080" y="2468880"/>
            <a:ext cx="1097280" cy="493776"/>
          </a:xfrm>
          <a:prstGeom prst="roundRect">
            <a:avLst>
              <a:gd name="adj" fmla="val 14000"/>
            </a:avLst>
          </a:prstGeom>
          <a:solidFill>
            <a:srgbClr val="1E2447"/>
          </a:solidFill>
          <a:ln>
            <a:noFill/>
          </a:ln>
        </p:spPr>
        <p:txBody>
          <a:bodyPr rtlCol="0" anchor="ctr"/>
          <a:lstStyle/>
          <a:p>
            <a:pPr algn="ctr"/>
          </a:p>
        </p:txBody>
      </p:sp>
      <p:sp>
        <p:nvSpPr>
          <p:cNvPr id="23" name="TextBox 22"/>
          <p:cNvSpPr txBox="1"/>
          <p:nvPr/>
        </p:nvSpPr>
        <p:spPr>
          <a:xfrm>
            <a:off x="694944" y="2468880"/>
            <a:ext cx="987552" cy="49377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Chitta</a:t>
            </a:r>
          </a:p>
        </p:txBody>
      </p:sp>
      <p:sp>
        <p:nvSpPr>
          <p:cNvPr id="24" name="Rounded Rectangle 23"/>
          <p:cNvSpPr/>
          <p:nvPr/>
        </p:nvSpPr>
        <p:spPr>
          <a:xfrm>
            <a:off x="1828800" y="2468880"/>
            <a:ext cx="1874519" cy="493776"/>
          </a:xfrm>
          <a:prstGeom prst="roundRect">
            <a:avLst>
              <a:gd name="adj" fmla="val 12000"/>
            </a:avLst>
          </a:prstGeom>
          <a:solidFill>
            <a:srgbClr val="FAF1DF"/>
          </a:solidFill>
          <a:ln w="12700">
            <a:solidFill>
              <a:srgbClr val="C9821E"/>
            </a:solidFill>
          </a:ln>
        </p:spPr>
        <p:txBody>
          <a:bodyPr rtlCol="0" anchor="ctr"/>
          <a:lstStyle/>
          <a:p>
            <a:pPr algn="ctr"/>
          </a:p>
        </p:txBody>
      </p:sp>
      <p:sp>
        <p:nvSpPr>
          <p:cNvPr id="25" name="TextBox 24"/>
          <p:cNvSpPr txBox="1"/>
          <p:nvPr/>
        </p:nvSpPr>
        <p:spPr>
          <a:xfrm>
            <a:off x="1828800" y="2468880"/>
            <a:ext cx="1874519" cy="493776"/>
          </a:xfrm>
          <a:prstGeom prst="rect">
            <a:avLst/>
          </a:prstGeom>
          <a:noFill/>
        </p:spPr>
        <p:txBody>
          <a:bodyPr wrap="square" lIns="0" rIns="0" tIns="0" bIns="0" anchor="ctr">
            <a:noAutofit/>
          </a:bodyPr>
          <a:lstStyle/>
          <a:p>
            <a:pPr algn="ctr">
              <a:spcBef>
                <a:spcPts val="0"/>
              </a:spcBef>
              <a:spcAft>
                <a:spcPts val="0"/>
              </a:spcAft>
            </a:pPr>
            <a:r>
              <a:rPr sz="1200" b="1" i="0">
                <a:solidFill>
                  <a:srgbClr val="9A6414"/>
                </a:solidFill>
                <a:latin typeface="Calibri"/>
              </a:rPr>
              <a:t>Visualisation</a:t>
            </a:r>
          </a:p>
        </p:txBody>
      </p:sp>
      <p:sp>
        <p:nvSpPr>
          <p:cNvPr id="26" name="Rounded Rectangle 25"/>
          <p:cNvSpPr/>
          <p:nvPr/>
        </p:nvSpPr>
        <p:spPr>
          <a:xfrm>
            <a:off x="3794760" y="2468880"/>
            <a:ext cx="1874519" cy="493776"/>
          </a:xfrm>
          <a:prstGeom prst="roundRect">
            <a:avLst>
              <a:gd name="adj" fmla="val 12000"/>
            </a:avLst>
          </a:prstGeom>
          <a:solidFill>
            <a:srgbClr val="FFFFFF"/>
          </a:solidFill>
          <a:ln w="12700">
            <a:solidFill>
              <a:srgbClr val="8E9BC4"/>
            </a:solidFill>
          </a:ln>
        </p:spPr>
        <p:txBody>
          <a:bodyPr rtlCol="0" anchor="ctr"/>
          <a:lstStyle/>
          <a:p>
            <a:pPr algn="ctr"/>
          </a:p>
        </p:txBody>
      </p:sp>
      <p:sp>
        <p:nvSpPr>
          <p:cNvPr id="27" name="TextBox 26"/>
          <p:cNvSpPr txBox="1"/>
          <p:nvPr/>
        </p:nvSpPr>
        <p:spPr>
          <a:xfrm>
            <a:off x="3794760" y="2468880"/>
            <a:ext cx="1874519" cy="493776"/>
          </a:xfrm>
          <a:prstGeom prst="rect">
            <a:avLst/>
          </a:prstGeom>
          <a:noFill/>
        </p:spPr>
        <p:txBody>
          <a:bodyPr wrap="square" lIns="0" rIns="0" tIns="0" bIns="0" anchor="ctr">
            <a:noAutofit/>
          </a:bodyPr>
          <a:lstStyle/>
          <a:p>
            <a:pPr algn="ctr">
              <a:spcBef>
                <a:spcPts val="0"/>
              </a:spcBef>
              <a:spcAft>
                <a:spcPts val="0"/>
              </a:spcAft>
            </a:pPr>
            <a:r>
              <a:rPr sz="1200" b="0" i="0">
                <a:solidFill>
                  <a:srgbClr val="3B4A7A"/>
                </a:solidFill>
                <a:latin typeface="Calibri"/>
              </a:rPr>
              <a:t>Contemplation</a:t>
            </a:r>
          </a:p>
        </p:txBody>
      </p:sp>
      <p:sp>
        <p:nvSpPr>
          <p:cNvPr id="28" name="Rounded Rectangle 27"/>
          <p:cNvSpPr/>
          <p:nvPr/>
        </p:nvSpPr>
        <p:spPr>
          <a:xfrm>
            <a:off x="640080" y="3054096"/>
            <a:ext cx="1097280" cy="493776"/>
          </a:xfrm>
          <a:prstGeom prst="roundRect">
            <a:avLst>
              <a:gd name="adj" fmla="val 14000"/>
            </a:avLst>
          </a:prstGeom>
          <a:solidFill>
            <a:srgbClr val="1E2447"/>
          </a:solidFill>
          <a:ln>
            <a:noFill/>
          </a:ln>
        </p:spPr>
        <p:txBody>
          <a:bodyPr rtlCol="0" anchor="ctr"/>
          <a:lstStyle/>
          <a:p>
            <a:pPr algn="ctr"/>
          </a:p>
        </p:txBody>
      </p:sp>
      <p:sp>
        <p:nvSpPr>
          <p:cNvPr id="29" name="TextBox 28"/>
          <p:cNvSpPr txBox="1"/>
          <p:nvPr/>
        </p:nvSpPr>
        <p:spPr>
          <a:xfrm>
            <a:off x="694944" y="3054096"/>
            <a:ext cx="987552" cy="49377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Buddhi</a:t>
            </a:r>
          </a:p>
        </p:txBody>
      </p:sp>
      <p:sp>
        <p:nvSpPr>
          <p:cNvPr id="30" name="Rounded Rectangle 29"/>
          <p:cNvSpPr/>
          <p:nvPr/>
        </p:nvSpPr>
        <p:spPr>
          <a:xfrm>
            <a:off x="1828800" y="3054096"/>
            <a:ext cx="1874519" cy="493776"/>
          </a:xfrm>
          <a:prstGeom prst="roundRect">
            <a:avLst>
              <a:gd name="adj" fmla="val 12000"/>
            </a:avLst>
          </a:prstGeom>
          <a:solidFill>
            <a:srgbClr val="FFFFFF"/>
          </a:solidFill>
          <a:ln w="12700">
            <a:solidFill>
              <a:srgbClr val="8E9BC4"/>
            </a:solidFill>
          </a:ln>
        </p:spPr>
        <p:txBody>
          <a:bodyPr rtlCol="0" anchor="ctr"/>
          <a:lstStyle/>
          <a:p>
            <a:pPr algn="ctr"/>
          </a:p>
        </p:txBody>
      </p:sp>
      <p:sp>
        <p:nvSpPr>
          <p:cNvPr id="31" name="TextBox 30"/>
          <p:cNvSpPr txBox="1"/>
          <p:nvPr/>
        </p:nvSpPr>
        <p:spPr>
          <a:xfrm>
            <a:off x="1828800" y="3054096"/>
            <a:ext cx="1874519" cy="493776"/>
          </a:xfrm>
          <a:prstGeom prst="rect">
            <a:avLst/>
          </a:prstGeom>
          <a:noFill/>
        </p:spPr>
        <p:txBody>
          <a:bodyPr wrap="square" lIns="0" rIns="0" tIns="0" bIns="0" anchor="ctr">
            <a:noAutofit/>
          </a:bodyPr>
          <a:lstStyle/>
          <a:p>
            <a:pPr algn="ctr">
              <a:spcBef>
                <a:spcPts val="0"/>
              </a:spcBef>
              <a:spcAft>
                <a:spcPts val="0"/>
              </a:spcAft>
            </a:pPr>
            <a:r>
              <a:rPr sz="1200" b="0" i="0">
                <a:solidFill>
                  <a:srgbClr val="3B4A7A"/>
                </a:solidFill>
                <a:latin typeface="Calibri"/>
              </a:rPr>
              <a:t>Resolve</a:t>
            </a:r>
          </a:p>
        </p:txBody>
      </p:sp>
      <p:sp>
        <p:nvSpPr>
          <p:cNvPr id="32" name="Rounded Rectangle 31"/>
          <p:cNvSpPr/>
          <p:nvPr/>
        </p:nvSpPr>
        <p:spPr>
          <a:xfrm>
            <a:off x="3794760" y="3054096"/>
            <a:ext cx="1874519" cy="493776"/>
          </a:xfrm>
          <a:prstGeom prst="roundRect">
            <a:avLst>
              <a:gd name="adj" fmla="val 12000"/>
            </a:avLst>
          </a:prstGeom>
          <a:solidFill>
            <a:srgbClr val="FFFFFF"/>
          </a:solidFill>
          <a:ln w="12700">
            <a:solidFill>
              <a:srgbClr val="8E9BC4"/>
            </a:solidFill>
          </a:ln>
        </p:spPr>
        <p:txBody>
          <a:bodyPr rtlCol="0" anchor="ctr"/>
          <a:lstStyle/>
          <a:p>
            <a:pPr algn="ctr"/>
          </a:p>
        </p:txBody>
      </p:sp>
      <p:sp>
        <p:nvSpPr>
          <p:cNvPr id="33" name="TextBox 32"/>
          <p:cNvSpPr txBox="1"/>
          <p:nvPr/>
        </p:nvSpPr>
        <p:spPr>
          <a:xfrm>
            <a:off x="3794760" y="3054096"/>
            <a:ext cx="1874519" cy="493776"/>
          </a:xfrm>
          <a:prstGeom prst="rect">
            <a:avLst/>
          </a:prstGeom>
          <a:noFill/>
        </p:spPr>
        <p:txBody>
          <a:bodyPr wrap="square" lIns="0" rIns="0" tIns="0" bIns="0" anchor="ctr">
            <a:noAutofit/>
          </a:bodyPr>
          <a:lstStyle/>
          <a:p>
            <a:pPr algn="ctr">
              <a:spcBef>
                <a:spcPts val="0"/>
              </a:spcBef>
              <a:spcAft>
                <a:spcPts val="0"/>
              </a:spcAft>
            </a:pPr>
            <a:r>
              <a:rPr sz="1200" b="0" i="0">
                <a:solidFill>
                  <a:srgbClr val="3B4A7A"/>
                </a:solidFill>
                <a:latin typeface="Calibri"/>
              </a:rPr>
              <a:t>Enlightenment, </a:t>
            </a:r>
            <a:r>
              <a:rPr sz="1200" b="0" i="1">
                <a:solidFill>
                  <a:srgbClr val="3B4A7A"/>
                </a:solidFill>
                <a:latin typeface="Calibri"/>
              </a:rPr>
              <a:t>bodh</a:t>
            </a:r>
          </a:p>
        </p:txBody>
      </p:sp>
      <p:sp>
        <p:nvSpPr>
          <p:cNvPr id="34" name="Rounded Rectangle 33"/>
          <p:cNvSpPr/>
          <p:nvPr/>
        </p:nvSpPr>
        <p:spPr>
          <a:xfrm>
            <a:off x="640080" y="3639312"/>
            <a:ext cx="1097280" cy="493776"/>
          </a:xfrm>
          <a:prstGeom prst="roundRect">
            <a:avLst>
              <a:gd name="adj" fmla="val 14000"/>
            </a:avLst>
          </a:prstGeom>
          <a:solidFill>
            <a:srgbClr val="1E2447"/>
          </a:solidFill>
          <a:ln>
            <a:noFill/>
          </a:ln>
        </p:spPr>
        <p:txBody>
          <a:bodyPr rtlCol="0" anchor="ctr"/>
          <a:lstStyle/>
          <a:p>
            <a:pPr algn="ctr"/>
          </a:p>
        </p:txBody>
      </p:sp>
      <p:sp>
        <p:nvSpPr>
          <p:cNvPr id="35" name="TextBox 34"/>
          <p:cNvSpPr txBox="1"/>
          <p:nvPr/>
        </p:nvSpPr>
        <p:spPr>
          <a:xfrm>
            <a:off x="694944" y="3639312"/>
            <a:ext cx="987552" cy="49377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Atma</a:t>
            </a:r>
          </a:p>
        </p:txBody>
      </p:sp>
      <p:sp>
        <p:nvSpPr>
          <p:cNvPr id="36" name="Rounded Rectangle 35"/>
          <p:cNvSpPr/>
          <p:nvPr/>
        </p:nvSpPr>
        <p:spPr>
          <a:xfrm>
            <a:off x="1828800" y="3639312"/>
            <a:ext cx="1874519" cy="493776"/>
          </a:xfrm>
          <a:prstGeom prst="roundRect">
            <a:avLst>
              <a:gd name="adj" fmla="val 12000"/>
            </a:avLst>
          </a:prstGeom>
          <a:solidFill>
            <a:srgbClr val="FFFFFF"/>
          </a:solidFill>
          <a:ln w="12700">
            <a:solidFill>
              <a:srgbClr val="8E9BC4"/>
            </a:solidFill>
          </a:ln>
        </p:spPr>
        <p:txBody>
          <a:bodyPr rtlCol="0" anchor="ctr"/>
          <a:lstStyle/>
          <a:p>
            <a:pPr algn="ctr"/>
          </a:p>
        </p:txBody>
      </p:sp>
      <p:sp>
        <p:nvSpPr>
          <p:cNvPr id="37" name="TextBox 36"/>
          <p:cNvSpPr txBox="1"/>
          <p:nvPr/>
        </p:nvSpPr>
        <p:spPr>
          <a:xfrm>
            <a:off x="1828800" y="3639312"/>
            <a:ext cx="1874519" cy="493776"/>
          </a:xfrm>
          <a:prstGeom prst="rect">
            <a:avLst/>
          </a:prstGeom>
          <a:noFill/>
        </p:spPr>
        <p:txBody>
          <a:bodyPr wrap="square" lIns="0" rIns="0" tIns="0" bIns="0" anchor="ctr">
            <a:noAutofit/>
          </a:bodyPr>
          <a:lstStyle/>
          <a:p>
            <a:pPr algn="ctr">
              <a:spcBef>
                <a:spcPts val="0"/>
              </a:spcBef>
              <a:spcAft>
                <a:spcPts val="0"/>
              </a:spcAft>
            </a:pPr>
            <a:r>
              <a:rPr sz="1200" b="0" i="0">
                <a:solidFill>
                  <a:srgbClr val="3B4A7A"/>
                </a:solidFill>
                <a:latin typeface="Calibri"/>
              </a:rPr>
              <a:t>Authenticity</a:t>
            </a:r>
          </a:p>
        </p:txBody>
      </p:sp>
      <p:sp>
        <p:nvSpPr>
          <p:cNvPr id="38" name="Rounded Rectangle 37"/>
          <p:cNvSpPr/>
          <p:nvPr/>
        </p:nvSpPr>
        <p:spPr>
          <a:xfrm>
            <a:off x="3794760" y="3639312"/>
            <a:ext cx="1874519" cy="493776"/>
          </a:xfrm>
          <a:prstGeom prst="roundRect">
            <a:avLst>
              <a:gd name="adj" fmla="val 12000"/>
            </a:avLst>
          </a:prstGeom>
          <a:solidFill>
            <a:srgbClr val="FFFFFF"/>
          </a:solidFill>
          <a:ln w="12700">
            <a:solidFill>
              <a:srgbClr val="8E9BC4"/>
            </a:solidFill>
          </a:ln>
        </p:spPr>
        <p:txBody>
          <a:bodyPr rtlCol="0" anchor="ctr"/>
          <a:lstStyle/>
          <a:p>
            <a:pPr algn="ctr"/>
          </a:p>
        </p:txBody>
      </p:sp>
      <p:sp>
        <p:nvSpPr>
          <p:cNvPr id="39" name="TextBox 38"/>
          <p:cNvSpPr txBox="1"/>
          <p:nvPr/>
        </p:nvSpPr>
        <p:spPr>
          <a:xfrm>
            <a:off x="3794760" y="3639312"/>
            <a:ext cx="1874519" cy="493776"/>
          </a:xfrm>
          <a:prstGeom prst="rect">
            <a:avLst/>
          </a:prstGeom>
          <a:noFill/>
        </p:spPr>
        <p:txBody>
          <a:bodyPr wrap="square" lIns="0" rIns="0" tIns="0" bIns="0" anchor="ctr">
            <a:noAutofit/>
          </a:bodyPr>
          <a:lstStyle/>
          <a:p>
            <a:pPr algn="ctr">
              <a:spcBef>
                <a:spcPts val="0"/>
              </a:spcBef>
              <a:spcAft>
                <a:spcPts val="0"/>
              </a:spcAft>
            </a:pPr>
            <a:r>
              <a:rPr sz="1200" b="0" i="0">
                <a:solidFill>
                  <a:srgbClr val="3B4A7A"/>
                </a:solidFill>
                <a:latin typeface="Calibri"/>
              </a:rPr>
              <a:t>Realisation, </a:t>
            </a:r>
            <a:r>
              <a:rPr sz="1200" b="0" i="1">
                <a:solidFill>
                  <a:srgbClr val="3B4A7A"/>
                </a:solidFill>
                <a:latin typeface="Calibri"/>
              </a:rPr>
              <a:t>anubhav</a:t>
            </a:r>
          </a:p>
        </p:txBody>
      </p:sp>
      <p:sp>
        <p:nvSpPr>
          <p:cNvPr id="40" name="Rounded Rectangle 39"/>
          <p:cNvSpPr/>
          <p:nvPr/>
        </p:nvSpPr>
        <p:spPr>
          <a:xfrm>
            <a:off x="6035040" y="1298448"/>
            <a:ext cx="2468880" cy="2907792"/>
          </a:xfrm>
          <a:prstGeom prst="roundRect">
            <a:avLst>
              <a:gd name="adj" fmla="val 6000"/>
            </a:avLst>
          </a:prstGeom>
          <a:solidFill>
            <a:srgbClr val="EEF1F8"/>
          </a:solidFill>
          <a:ln>
            <a:noFill/>
          </a:ln>
        </p:spPr>
        <p:txBody>
          <a:bodyPr rtlCol="0" anchor="ctr"/>
          <a:lstStyle/>
          <a:p>
            <a:pPr algn="ctr"/>
          </a:p>
        </p:txBody>
      </p:sp>
      <p:sp>
        <p:nvSpPr>
          <p:cNvPr id="43" name="Rectangle 42"/>
          <p:cNvSpPr/>
          <p:nvPr/>
        </p:nvSpPr>
        <p:spPr>
          <a:xfrm>
            <a:off x="6236208" y="1481328"/>
            <a:ext cx="310896" cy="219456"/>
          </a:xfrm>
          <a:prstGeom prst="rect">
            <a:avLst/>
          </a:prstGeom>
          <a:solidFill>
            <a:srgbClr val="FAF1DF"/>
          </a:solidFill>
          <a:ln w="12700">
            <a:solidFill>
              <a:srgbClr val="C9821E"/>
            </a:solidFill>
          </a:ln>
        </p:spPr>
        <p:txBody>
          <a:bodyPr rtlCol="0" anchor="ctr"/>
          <a:lstStyle/>
          <a:p>
            <a:pPr algn="ctr"/>
          </a:p>
        </p:txBody>
      </p:sp>
      <p:sp>
        <p:nvSpPr>
          <p:cNvPr id="44" name="TextBox 43"/>
          <p:cNvSpPr txBox="1"/>
          <p:nvPr/>
        </p:nvSpPr>
        <p:spPr>
          <a:xfrm>
            <a:off x="6638544" y="1444752"/>
            <a:ext cx="1737360" cy="566928"/>
          </a:xfrm>
          <a:prstGeom prst="rect">
            <a:avLst/>
          </a:prstGeom>
          <a:noFill/>
        </p:spPr>
        <p:txBody>
          <a:bodyPr wrap="square" lIns="0" rIns="0" tIns="0" bIns="0" anchor="t">
            <a:noAutofit/>
          </a:bodyPr>
          <a:lstStyle/>
          <a:p>
            <a:pPr algn="l">
              <a:spcBef>
                <a:spcPts val="0"/>
              </a:spcBef>
              <a:spcAft>
                <a:spcPts val="0"/>
              </a:spcAft>
            </a:pPr>
            <a:r>
              <a:rPr sz="1100" b="1" i="0">
                <a:solidFill>
                  <a:srgbClr val="5A6377"/>
                </a:solidFill>
                <a:latin typeface="Calibri"/>
              </a:rPr>
              <a:t>Effective</a:t>
            </a:r>
            <a:r>
              <a:rPr sz="1100" b="0" i="0">
                <a:solidFill>
                  <a:srgbClr val="5A6377"/>
                </a:solidFill>
                <a:latin typeface="Calibri"/>
              </a:rPr>
              <a:t>: four and a half</a:t>
            </a:r>
          </a:p>
          <a:p>
            <a:pPr algn="l">
              <a:spcBef>
                <a:spcPts val="0"/>
              </a:spcBef>
              <a:spcAft>
                <a:spcPts val="0"/>
              </a:spcAft>
            </a:pPr>
            <a:r>
              <a:rPr sz="1100" b="0" i="0">
                <a:solidFill>
                  <a:srgbClr val="5A6377"/>
                </a:solidFill>
                <a:latin typeface="Calibri"/>
              </a:rPr>
              <a:t>in body-centred living</a:t>
            </a:r>
          </a:p>
        </p:txBody>
      </p:sp>
      <p:sp>
        <p:nvSpPr>
          <p:cNvPr id="45" name="Rectangle 44"/>
          <p:cNvSpPr/>
          <p:nvPr/>
        </p:nvSpPr>
        <p:spPr>
          <a:xfrm>
            <a:off x="6236208" y="2176272"/>
            <a:ext cx="310896" cy="219456"/>
          </a:xfrm>
          <a:prstGeom prst="rect">
            <a:avLst/>
          </a:prstGeom>
          <a:solidFill>
            <a:srgbClr val="FFFFFF"/>
          </a:solidFill>
          <a:ln w="12700">
            <a:solidFill>
              <a:srgbClr val="8E9BC4"/>
            </a:solidFill>
          </a:ln>
        </p:spPr>
        <p:txBody>
          <a:bodyPr rtlCol="0" anchor="ctr"/>
          <a:lstStyle/>
          <a:p>
            <a:pPr algn="ctr"/>
          </a:p>
        </p:txBody>
      </p:sp>
      <p:sp>
        <p:nvSpPr>
          <p:cNvPr id="46" name="TextBox 45"/>
          <p:cNvSpPr txBox="1"/>
          <p:nvPr/>
        </p:nvSpPr>
        <p:spPr>
          <a:xfrm>
            <a:off x="6638544" y="2139696"/>
            <a:ext cx="1737360" cy="566928"/>
          </a:xfrm>
          <a:prstGeom prst="rect">
            <a:avLst/>
          </a:prstGeom>
          <a:noFill/>
        </p:spPr>
        <p:txBody>
          <a:bodyPr wrap="square" lIns="0" rIns="0" tIns="0" bIns="0" anchor="t">
            <a:noAutofit/>
          </a:bodyPr>
          <a:lstStyle/>
          <a:p>
            <a:pPr algn="l">
              <a:spcBef>
                <a:spcPts val="0"/>
              </a:spcBef>
              <a:spcAft>
                <a:spcPts val="0"/>
              </a:spcAft>
            </a:pPr>
            <a:r>
              <a:rPr sz="1100" b="1" i="0">
                <a:solidFill>
                  <a:srgbClr val="5A6377"/>
                </a:solidFill>
                <a:latin typeface="Calibri"/>
              </a:rPr>
              <a:t>Awaken</a:t>
            </a:r>
            <a:r>
              <a:rPr sz="1100" b="0" i="0">
                <a:solidFill>
                  <a:srgbClr val="5A6377"/>
                </a:solidFill>
                <a:latin typeface="Calibri"/>
              </a:rPr>
              <a:t>: five and a half</a:t>
            </a:r>
          </a:p>
          <a:p>
            <a:pPr algn="l">
              <a:spcBef>
                <a:spcPts val="0"/>
              </a:spcBef>
              <a:spcAft>
                <a:spcPts val="0"/>
              </a:spcAft>
            </a:pPr>
            <a:r>
              <a:rPr sz="1100" b="0" i="0">
                <a:solidFill>
                  <a:srgbClr val="5A6377"/>
                </a:solidFill>
                <a:latin typeface="Calibri"/>
              </a:rPr>
              <a:t>through understanding</a:t>
            </a:r>
          </a:p>
        </p:txBody>
      </p:sp>
      <p:sp>
        <p:nvSpPr>
          <p:cNvPr id="47" name="TextBox 46"/>
          <p:cNvSpPr txBox="1"/>
          <p:nvPr/>
        </p:nvSpPr>
        <p:spPr>
          <a:xfrm>
            <a:off x="6236208" y="2834640"/>
            <a:ext cx="2103120" cy="1280160"/>
          </a:xfrm>
          <a:prstGeom prst="rect">
            <a:avLst/>
          </a:prstGeom>
          <a:noFill/>
        </p:spPr>
        <p:txBody>
          <a:bodyPr wrap="square" lIns="0" rIns="0" tIns="0" bIns="0" anchor="t">
            <a:noAutofit/>
          </a:bodyPr>
          <a:lstStyle/>
          <a:p>
            <a:pPr algn="l">
              <a:spcBef>
                <a:spcPts val="0"/>
              </a:spcBef>
              <a:spcAft>
                <a:spcPts val="0"/>
              </a:spcAft>
            </a:pPr>
            <a:r>
              <a:rPr sz="1100" b="0" i="1">
                <a:solidFill>
                  <a:srgbClr val="1E2447"/>
                </a:solidFill>
                <a:latin typeface="Calibri"/>
              </a:rPr>
              <a:t>The half: deliberation through </a:t>
            </a:r>
            <a:r>
              <a:rPr sz="1100" b="0" i="0">
                <a:solidFill>
                  <a:srgbClr val="1E2447"/>
                </a:solidFill>
                <a:latin typeface="Calibri"/>
              </a:rPr>
              <a:t>priya</a:t>
            </a:r>
            <a:r>
              <a:rPr sz="1100" b="0" i="1">
                <a:solidFill>
                  <a:srgbClr val="1E2447"/>
                </a:solidFill>
                <a:latin typeface="Calibri"/>
              </a:rPr>
              <a:t> (pleasant), </a:t>
            </a:r>
            <a:r>
              <a:rPr sz="1100" b="0" i="0">
                <a:solidFill>
                  <a:srgbClr val="1E2447"/>
                </a:solidFill>
                <a:latin typeface="Calibri"/>
              </a:rPr>
              <a:t>hita</a:t>
            </a:r>
            <a:r>
              <a:rPr sz="1100" b="0" i="1">
                <a:solidFill>
                  <a:srgbClr val="1E2447"/>
                </a:solidFill>
                <a:latin typeface="Calibri"/>
              </a:rPr>
              <a:t> (bodily benefit), </a:t>
            </a:r>
            <a:r>
              <a:rPr sz="1100" b="0" i="0">
                <a:solidFill>
                  <a:srgbClr val="1E2447"/>
                </a:solidFill>
                <a:latin typeface="Calibri"/>
              </a:rPr>
              <a:t>labha</a:t>
            </a:r>
            <a:r>
              <a:rPr sz="1100" b="0" i="1">
                <a:solidFill>
                  <a:srgbClr val="1E2447"/>
                </a:solidFill>
                <a:latin typeface="Calibri"/>
              </a:rPr>
              <a:t> (gain).</a:t>
            </a:r>
          </a:p>
        </p:txBody>
      </p:sp>
      <p:sp>
        <p:nvSpPr>
          <p:cNvPr id="48" name="TextBox 47"/>
          <p:cNvSpPr txBox="1"/>
          <p:nvPr/>
        </p:nvSpPr>
        <p:spPr>
          <a:xfrm>
            <a:off x="640080" y="4315968"/>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Every jeevan operates all ten continuously; in body-centred living four and a half are effective.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III  ·  THE ANALOGY  ·  §3.1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Where the Computational Analogy Ends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Note §3.1 table and Editorial Notes  ·  AnalyticMadhyasthDarshan.org  ·  10 / 31</a:t>
            </a:r>
          </a:p>
        </p:txBody>
      </p:sp>
      <p:sp>
        <p:nvSpPr>
          <p:cNvPr id="8" name="Rounded Rectangle 7"/>
          <p:cNvSpPr/>
          <p:nvPr/>
        </p:nvSpPr>
        <p:spPr>
          <a:xfrm>
            <a:off x="7132320" y="1042415"/>
            <a:ext cx="1371600" cy="182880"/>
          </a:xfrm>
          <a:prstGeom prst="roundRect">
            <a:avLst>
              <a:gd name="adj" fmla="val 50000"/>
            </a:avLst>
          </a:prstGeom>
          <a:solidFill>
            <a:srgbClr val="C9821E"/>
          </a:solidFill>
          <a:ln>
            <a:noFill/>
          </a:ln>
        </p:spPr>
        <p:txBody>
          <a:bodyPr rtlCol="0" anchor="ctr"/>
          <a:lstStyle/>
          <a:p>
            <a:pPr algn="ctr"/>
          </a:p>
        </p:txBody>
      </p:sp>
      <p:sp>
        <p:nvSpPr>
          <p:cNvPr id="9" name="TextBox 8"/>
          <p:cNvSpPr txBox="1"/>
          <p:nvPr/>
        </p:nvSpPr>
        <p:spPr>
          <a:xfrm>
            <a:off x="7132320" y="1042415"/>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0" name="Rectangle 9"/>
          <p:cNvSpPr/>
          <p:nvPr/>
        </p:nvSpPr>
        <p:spPr>
          <a:xfrm>
            <a:off x="640080" y="1280160"/>
            <a:ext cx="7863840" cy="292608"/>
          </a:xfrm>
          <a:prstGeom prst="rect">
            <a:avLst/>
          </a:prstGeom>
          <a:solidFill>
            <a:srgbClr val="1E2447"/>
          </a:solidFill>
          <a:ln>
            <a:noFill/>
          </a:ln>
        </p:spPr>
        <p:txBody>
          <a:bodyPr rtlCol="0" anchor="ctr"/>
          <a:lstStyle/>
          <a:p>
            <a:pPr algn="ctr"/>
          </a:p>
        </p:txBody>
      </p:sp>
      <p:sp>
        <p:nvSpPr>
          <p:cNvPr id="11" name="TextBox 10"/>
          <p:cNvSpPr txBox="1"/>
          <p:nvPr/>
        </p:nvSpPr>
        <p:spPr>
          <a:xfrm>
            <a:off x="731519" y="1280160"/>
            <a:ext cx="2834639"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Activity of jeevan</a:t>
            </a:r>
          </a:p>
        </p:txBody>
      </p:sp>
      <p:sp>
        <p:nvSpPr>
          <p:cNvPr id="12" name="TextBox 11"/>
          <p:cNvSpPr txBox="1"/>
          <p:nvPr/>
        </p:nvSpPr>
        <p:spPr>
          <a:xfrm>
            <a:off x="3749039" y="1280160"/>
            <a:ext cx="4663440"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Proposed computational analogue or assistance</a:t>
            </a:r>
          </a:p>
        </p:txBody>
      </p:sp>
      <p:sp>
        <p:nvSpPr>
          <p:cNvPr id="13" name="Rectangle 12"/>
          <p:cNvSpPr/>
          <p:nvPr/>
        </p:nvSpPr>
        <p:spPr>
          <a:xfrm>
            <a:off x="640080" y="1572768"/>
            <a:ext cx="7863840" cy="384048"/>
          </a:xfrm>
          <a:prstGeom prst="rect">
            <a:avLst/>
          </a:prstGeom>
          <a:solidFill>
            <a:srgbClr val="EEF1F8"/>
          </a:solidFill>
          <a:ln>
            <a:noFill/>
          </a:ln>
        </p:spPr>
        <p:txBody>
          <a:bodyPr rtlCol="0" anchor="ctr"/>
          <a:lstStyle/>
          <a:p>
            <a:pPr algn="ctr"/>
          </a:p>
        </p:txBody>
      </p:sp>
      <p:sp>
        <p:nvSpPr>
          <p:cNvPr id="14" name="Rectangle 13"/>
          <p:cNvSpPr/>
          <p:nvPr/>
        </p:nvSpPr>
        <p:spPr>
          <a:xfrm>
            <a:off x="640080" y="1947672"/>
            <a:ext cx="7863840" cy="9144"/>
          </a:xfrm>
          <a:prstGeom prst="rect">
            <a:avLst/>
          </a:prstGeom>
          <a:solidFill>
            <a:srgbClr val="D5DBEA"/>
          </a:solidFill>
          <a:ln>
            <a:noFill/>
          </a:ln>
        </p:spPr>
        <p:txBody>
          <a:bodyPr rtlCol="0" anchor="ctr"/>
          <a:lstStyle/>
          <a:p>
            <a:pPr algn="ctr"/>
          </a:p>
        </p:txBody>
      </p:sp>
      <p:sp>
        <p:nvSpPr>
          <p:cNvPr id="15" name="TextBox 14"/>
          <p:cNvSpPr txBox="1"/>
          <p:nvPr/>
        </p:nvSpPr>
        <p:spPr>
          <a:xfrm>
            <a:off x="731519" y="1600200"/>
            <a:ext cx="2834639" cy="329184"/>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Selection and taste  (</a:t>
            </a:r>
            <a:r>
              <a:rPr sz="1100" b="1" i="1">
                <a:solidFill>
                  <a:srgbClr val="1E2447"/>
                </a:solidFill>
                <a:latin typeface="Calibri"/>
              </a:rPr>
              <a:t>mun</a:t>
            </a:r>
            <a:r>
              <a:rPr sz="1100" b="1" i="0">
                <a:solidFill>
                  <a:srgbClr val="1E2447"/>
                </a:solidFill>
                <a:latin typeface="Calibri"/>
              </a:rPr>
              <a:t>)</a:t>
            </a:r>
          </a:p>
        </p:txBody>
      </p:sp>
      <p:sp>
        <p:nvSpPr>
          <p:cNvPr id="16" name="TextBox 15"/>
          <p:cNvSpPr txBox="1"/>
          <p:nvPr/>
        </p:nvSpPr>
        <p:spPr>
          <a:xfrm>
            <a:off x="3749039" y="1600200"/>
            <a:ext cx="4663440" cy="329184"/>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Represent preferences, rank options, select what is rewarded or preferred</a:t>
            </a:r>
          </a:p>
        </p:txBody>
      </p:sp>
      <p:sp>
        <p:nvSpPr>
          <p:cNvPr id="17" name="Rectangle 16"/>
          <p:cNvSpPr/>
          <p:nvPr/>
        </p:nvSpPr>
        <p:spPr>
          <a:xfrm>
            <a:off x="640080" y="2295144"/>
            <a:ext cx="7863840" cy="9144"/>
          </a:xfrm>
          <a:prstGeom prst="rect">
            <a:avLst/>
          </a:prstGeom>
          <a:solidFill>
            <a:srgbClr val="D5DBEA"/>
          </a:solidFill>
          <a:ln>
            <a:noFill/>
          </a:ln>
        </p:spPr>
        <p:txBody>
          <a:bodyPr rtlCol="0" anchor="ctr"/>
          <a:lstStyle/>
          <a:p>
            <a:pPr algn="ctr"/>
          </a:p>
        </p:txBody>
      </p:sp>
      <p:sp>
        <p:nvSpPr>
          <p:cNvPr id="18" name="TextBox 17"/>
          <p:cNvSpPr txBox="1"/>
          <p:nvPr/>
        </p:nvSpPr>
        <p:spPr>
          <a:xfrm>
            <a:off x="731519" y="1984248"/>
            <a:ext cx="2834639" cy="292608"/>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Analysis  (</a:t>
            </a:r>
            <a:r>
              <a:rPr sz="1100" b="1" i="1">
                <a:solidFill>
                  <a:srgbClr val="1E2447"/>
                </a:solidFill>
                <a:latin typeface="Calibri"/>
              </a:rPr>
              <a:t>vritti</a:t>
            </a:r>
            <a:r>
              <a:rPr sz="1100" b="1" i="0">
                <a:solidFill>
                  <a:srgbClr val="1E2447"/>
                </a:solidFill>
                <a:latin typeface="Calibri"/>
              </a:rPr>
              <a:t>)</a:t>
            </a:r>
          </a:p>
        </p:txBody>
      </p:sp>
      <p:sp>
        <p:nvSpPr>
          <p:cNvPr id="19" name="TextBox 18"/>
          <p:cNvSpPr txBox="1"/>
          <p:nvPr/>
        </p:nvSpPr>
        <p:spPr>
          <a:xfrm>
            <a:off x="3749039" y="1984248"/>
            <a:ext cx="4663440" cy="292608"/>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Compare means and consequences</a:t>
            </a:r>
          </a:p>
        </p:txBody>
      </p:sp>
      <p:sp>
        <p:nvSpPr>
          <p:cNvPr id="20" name="Rectangle 19"/>
          <p:cNvSpPr/>
          <p:nvPr/>
        </p:nvSpPr>
        <p:spPr>
          <a:xfrm>
            <a:off x="640080" y="2304288"/>
            <a:ext cx="7863840" cy="384048"/>
          </a:xfrm>
          <a:prstGeom prst="rect">
            <a:avLst/>
          </a:prstGeom>
          <a:solidFill>
            <a:srgbClr val="EEF1F8"/>
          </a:solidFill>
          <a:ln>
            <a:noFill/>
          </a:ln>
        </p:spPr>
        <p:txBody>
          <a:bodyPr rtlCol="0" anchor="ctr"/>
          <a:lstStyle/>
          <a:p>
            <a:pPr algn="ctr"/>
          </a:p>
        </p:txBody>
      </p:sp>
      <p:sp>
        <p:nvSpPr>
          <p:cNvPr id="21" name="Rectangle 20"/>
          <p:cNvSpPr/>
          <p:nvPr/>
        </p:nvSpPr>
        <p:spPr>
          <a:xfrm>
            <a:off x="640080" y="2679192"/>
            <a:ext cx="7863840" cy="9144"/>
          </a:xfrm>
          <a:prstGeom prst="rect">
            <a:avLst/>
          </a:prstGeom>
          <a:solidFill>
            <a:srgbClr val="D5DBEA"/>
          </a:solidFill>
          <a:ln>
            <a:noFill/>
          </a:ln>
        </p:spPr>
        <p:txBody>
          <a:bodyPr rtlCol="0" anchor="ctr"/>
          <a:lstStyle/>
          <a:p>
            <a:pPr algn="ctr"/>
          </a:p>
        </p:txBody>
      </p:sp>
      <p:sp>
        <p:nvSpPr>
          <p:cNvPr id="22" name="TextBox 21"/>
          <p:cNvSpPr txBox="1"/>
          <p:nvPr/>
        </p:nvSpPr>
        <p:spPr>
          <a:xfrm>
            <a:off x="731519" y="2331720"/>
            <a:ext cx="2834639" cy="329184"/>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Deliberation through </a:t>
            </a:r>
            <a:r>
              <a:rPr sz="1100" b="1" i="1">
                <a:solidFill>
                  <a:srgbClr val="1E2447"/>
                </a:solidFill>
                <a:latin typeface="Calibri"/>
              </a:rPr>
              <a:t>priya–hita–labha</a:t>
            </a:r>
          </a:p>
        </p:txBody>
      </p:sp>
      <p:sp>
        <p:nvSpPr>
          <p:cNvPr id="23" name="TextBox 22"/>
          <p:cNvSpPr txBox="1"/>
          <p:nvPr/>
        </p:nvSpPr>
        <p:spPr>
          <a:xfrm>
            <a:off x="3749039" y="2331720"/>
            <a:ext cx="4663440" cy="329184"/>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Evaluate alternatives within assigned criteria of pleasure, benefit, or gain</a:t>
            </a:r>
          </a:p>
        </p:txBody>
      </p:sp>
      <p:sp>
        <p:nvSpPr>
          <p:cNvPr id="24" name="Rectangle 23"/>
          <p:cNvSpPr/>
          <p:nvPr/>
        </p:nvSpPr>
        <p:spPr>
          <a:xfrm>
            <a:off x="640080" y="3063240"/>
            <a:ext cx="7863840" cy="9144"/>
          </a:xfrm>
          <a:prstGeom prst="rect">
            <a:avLst/>
          </a:prstGeom>
          <a:solidFill>
            <a:srgbClr val="D5DBEA"/>
          </a:solidFill>
          <a:ln>
            <a:noFill/>
          </a:ln>
        </p:spPr>
        <p:txBody>
          <a:bodyPr rtlCol="0" anchor="ctr"/>
          <a:lstStyle/>
          <a:p>
            <a:pPr algn="ctr"/>
          </a:p>
        </p:txBody>
      </p:sp>
      <p:sp>
        <p:nvSpPr>
          <p:cNvPr id="25" name="TextBox 24"/>
          <p:cNvSpPr txBox="1"/>
          <p:nvPr/>
        </p:nvSpPr>
        <p:spPr>
          <a:xfrm>
            <a:off x="731519" y="2715768"/>
            <a:ext cx="2834639" cy="329184"/>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Visualisation  (</a:t>
            </a:r>
            <a:r>
              <a:rPr sz="1100" b="1" i="1">
                <a:solidFill>
                  <a:srgbClr val="1E2447"/>
                </a:solidFill>
                <a:latin typeface="Calibri"/>
              </a:rPr>
              <a:t>chitta</a:t>
            </a:r>
            <a:r>
              <a:rPr sz="1100" b="1" i="0">
                <a:solidFill>
                  <a:srgbClr val="1E2447"/>
                </a:solidFill>
                <a:latin typeface="Calibri"/>
              </a:rPr>
              <a:t>)</a:t>
            </a:r>
          </a:p>
        </p:txBody>
      </p:sp>
      <p:sp>
        <p:nvSpPr>
          <p:cNvPr id="26" name="TextBox 25"/>
          <p:cNvSpPr txBox="1"/>
          <p:nvPr/>
        </p:nvSpPr>
        <p:spPr>
          <a:xfrm>
            <a:off x="3749039" y="2715768"/>
            <a:ext cx="4663440" cy="329184"/>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Construct scenarios, plans, and accounts of possible outcomes</a:t>
            </a:r>
          </a:p>
        </p:txBody>
      </p:sp>
      <p:sp>
        <p:nvSpPr>
          <p:cNvPr id="27" name="Rectangle 26"/>
          <p:cNvSpPr/>
          <p:nvPr/>
        </p:nvSpPr>
        <p:spPr>
          <a:xfrm>
            <a:off x="640080" y="3072384"/>
            <a:ext cx="7863840" cy="384048"/>
          </a:xfrm>
          <a:prstGeom prst="rect">
            <a:avLst/>
          </a:prstGeom>
          <a:solidFill>
            <a:srgbClr val="EEF1F8"/>
          </a:solidFill>
          <a:ln>
            <a:noFill/>
          </a:ln>
        </p:spPr>
        <p:txBody>
          <a:bodyPr rtlCol="0" anchor="ctr"/>
          <a:lstStyle/>
          <a:p>
            <a:pPr algn="ctr"/>
          </a:p>
        </p:txBody>
      </p:sp>
      <p:sp>
        <p:nvSpPr>
          <p:cNvPr id="28" name="Rectangle 27"/>
          <p:cNvSpPr/>
          <p:nvPr/>
        </p:nvSpPr>
        <p:spPr>
          <a:xfrm>
            <a:off x="640080" y="3447288"/>
            <a:ext cx="7863840" cy="9144"/>
          </a:xfrm>
          <a:prstGeom prst="rect">
            <a:avLst/>
          </a:prstGeom>
          <a:solidFill>
            <a:srgbClr val="D5DBEA"/>
          </a:solidFill>
          <a:ln>
            <a:noFill/>
          </a:ln>
        </p:spPr>
        <p:txBody>
          <a:bodyPr rtlCol="0" anchor="ctr"/>
          <a:lstStyle/>
          <a:p>
            <a:pPr algn="ctr"/>
          </a:p>
        </p:txBody>
      </p:sp>
      <p:sp>
        <p:nvSpPr>
          <p:cNvPr id="29" name="TextBox 28"/>
          <p:cNvSpPr txBox="1"/>
          <p:nvPr/>
        </p:nvSpPr>
        <p:spPr>
          <a:xfrm>
            <a:off x="731519" y="3099815"/>
            <a:ext cx="2834639" cy="329184"/>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Deliberation through </a:t>
            </a:r>
            <a:r>
              <a:rPr sz="1100" b="1" i="1">
                <a:solidFill>
                  <a:srgbClr val="1E2447"/>
                </a:solidFill>
                <a:latin typeface="Calibri"/>
              </a:rPr>
              <a:t>nyaya–dharma–satya</a:t>
            </a:r>
          </a:p>
        </p:txBody>
      </p:sp>
      <p:sp>
        <p:nvSpPr>
          <p:cNvPr id="30" name="TextBox 29"/>
          <p:cNvSpPr txBox="1"/>
          <p:nvPr/>
        </p:nvSpPr>
        <p:spPr>
          <a:xfrm>
            <a:off x="3749039" y="3099815"/>
            <a:ext cx="4663440" cy="329184"/>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Apply them as explicit criteria drawn from the texts (§3.3)</a:t>
            </a:r>
          </a:p>
        </p:txBody>
      </p:sp>
      <p:sp>
        <p:nvSpPr>
          <p:cNvPr id="31" name="Rectangle 30"/>
          <p:cNvSpPr/>
          <p:nvPr/>
        </p:nvSpPr>
        <p:spPr>
          <a:xfrm>
            <a:off x="640080" y="3904487"/>
            <a:ext cx="7863840" cy="9144"/>
          </a:xfrm>
          <a:prstGeom prst="rect">
            <a:avLst/>
          </a:prstGeom>
          <a:solidFill>
            <a:srgbClr val="D5DBEA"/>
          </a:solidFill>
          <a:ln>
            <a:noFill/>
          </a:ln>
        </p:spPr>
        <p:txBody>
          <a:bodyPr rtlCol="0" anchor="ctr"/>
          <a:lstStyle/>
          <a:p>
            <a:pPr algn="ctr"/>
          </a:p>
        </p:txBody>
      </p:sp>
      <p:sp>
        <p:nvSpPr>
          <p:cNvPr id="32" name="TextBox 31"/>
          <p:cNvSpPr txBox="1"/>
          <p:nvPr/>
        </p:nvSpPr>
        <p:spPr>
          <a:xfrm>
            <a:off x="731519" y="3483863"/>
            <a:ext cx="2834639" cy="402336"/>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Contemplation; resolve and </a:t>
            </a:r>
            <a:r>
              <a:rPr sz="1100" b="1" i="1">
                <a:solidFill>
                  <a:srgbClr val="1E2447"/>
                </a:solidFill>
                <a:latin typeface="Calibri"/>
              </a:rPr>
              <a:t>bodh</a:t>
            </a:r>
            <a:r>
              <a:rPr sz="1100" b="1" i="0">
                <a:solidFill>
                  <a:srgbClr val="1E2447"/>
                </a:solidFill>
                <a:latin typeface="Calibri"/>
              </a:rPr>
              <a:t>; authenticity and </a:t>
            </a:r>
            <a:r>
              <a:rPr sz="1100" b="1" i="1">
                <a:solidFill>
                  <a:srgbClr val="1E2447"/>
                </a:solidFill>
                <a:latin typeface="Calibri"/>
              </a:rPr>
              <a:t>anubhav</a:t>
            </a:r>
          </a:p>
        </p:txBody>
      </p:sp>
      <p:sp>
        <p:nvSpPr>
          <p:cNvPr id="33" name="TextBox 32"/>
          <p:cNvSpPr txBox="1"/>
          <p:nvPr/>
        </p:nvSpPr>
        <p:spPr>
          <a:xfrm>
            <a:off x="3749039" y="3483863"/>
            <a:ext cx="4663440"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No analogue proposed; support the learner's study instead (§5.1)</a:t>
            </a:r>
          </a:p>
        </p:txBody>
      </p:sp>
      <p:sp>
        <p:nvSpPr>
          <p:cNvPr id="34" name="Rounded Rectangle 33"/>
          <p:cNvSpPr/>
          <p:nvPr/>
        </p:nvSpPr>
        <p:spPr>
          <a:xfrm>
            <a:off x="640080" y="4206240"/>
            <a:ext cx="7863840" cy="475488"/>
          </a:xfrm>
          <a:prstGeom prst="roundRect">
            <a:avLst>
              <a:gd name="adj" fmla="val 18000"/>
            </a:avLst>
          </a:prstGeom>
          <a:solidFill>
            <a:srgbClr val="FAF1DF"/>
          </a:solidFill>
          <a:ln>
            <a:noFill/>
          </a:ln>
        </p:spPr>
        <p:txBody>
          <a:bodyPr rtlCol="0" anchor="ctr"/>
          <a:lstStyle/>
          <a:p>
            <a:pPr algn="ctr"/>
          </a:p>
        </p:txBody>
      </p:sp>
      <p:sp>
        <p:nvSpPr>
          <p:cNvPr id="35" name="TextBox 34"/>
          <p:cNvSpPr txBox="1"/>
          <p:nvPr/>
        </p:nvSpPr>
        <p:spPr>
          <a:xfrm>
            <a:off x="868680" y="4206240"/>
            <a:ext cx="7406640" cy="475488"/>
          </a:xfrm>
          <a:prstGeom prst="rect">
            <a:avLst/>
          </a:prstGeom>
          <a:noFill/>
        </p:spPr>
        <p:txBody>
          <a:bodyPr wrap="square" lIns="0" rIns="0" tIns="0" bIns="0" anchor="ctr">
            <a:noAutofit/>
          </a:bodyPr>
          <a:lstStyle/>
          <a:p>
            <a:pPr algn="ctr">
              <a:spcBef>
                <a:spcPts val="0"/>
              </a:spcBef>
              <a:spcAft>
                <a:spcPts val="0"/>
              </a:spcAft>
            </a:pPr>
            <a:r>
              <a:rPr sz="1200" b="0" i="0">
                <a:solidFill>
                  <a:srgbClr val="9A6414"/>
                </a:solidFill>
                <a:latin typeface="Calibri"/>
              </a:rPr>
              <a:t>Analogues are outward functions only. The boundary runs </a:t>
            </a:r>
            <a:r>
              <a:rPr sz="1200" b="0" i="1">
                <a:solidFill>
                  <a:srgbClr val="9A6414"/>
                </a:solidFill>
                <a:latin typeface="Calibri"/>
              </a:rPr>
              <a:t>through</a:t>
            </a:r>
            <a:r>
              <a:rPr sz="1200" b="0" i="0">
                <a:solidFill>
                  <a:srgbClr val="9A6414"/>
                </a:solidFill>
                <a:latin typeface="Calibri"/>
              </a:rPr>
              <a:t> vritti and chitta, not between faculties.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III  ·  RESTRICTED CRITERIA  ·  §3.1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Cleverness Within Restricted Criteria</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126–127  ·  AnalyticMadhyasthDarshan.org  ·  11 / 31</a:t>
            </a:r>
          </a:p>
        </p:txBody>
      </p:sp>
      <p:sp>
        <p:nvSpPr>
          <p:cNvPr id="8" name="TextBox 7"/>
          <p:cNvSpPr txBox="1"/>
          <p:nvPr/>
        </p:nvSpPr>
        <p:spPr>
          <a:xfrm>
            <a:off x="640080" y="1188720"/>
            <a:ext cx="7863840"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What governs evaluation is the decisive restriction, not the amount of calculation.</a:t>
            </a:r>
          </a:p>
        </p:txBody>
      </p:sp>
      <p:sp>
        <p:nvSpPr>
          <p:cNvPr id="9" name="Rounded Rectangle 8"/>
          <p:cNvSpPr/>
          <p:nvPr/>
        </p:nvSpPr>
        <p:spPr>
          <a:xfrm>
            <a:off x="640080" y="1828800"/>
            <a:ext cx="4572000" cy="2331720"/>
          </a:xfrm>
          <a:prstGeom prst="roundRect">
            <a:avLst>
              <a:gd name="adj" fmla="val 6000"/>
            </a:avLst>
          </a:prstGeom>
          <a:solidFill>
            <a:srgbClr val="FAF1DF"/>
          </a:solidFill>
          <a:ln w="19050">
            <a:solidFill>
              <a:srgbClr val="C9821E"/>
            </a:solidFill>
          </a:ln>
        </p:spPr>
        <p:txBody>
          <a:bodyPr rtlCol="0" anchor="ctr"/>
          <a:lstStyle/>
          <a:p>
            <a:pPr algn="ctr"/>
          </a:p>
        </p:txBody>
      </p:sp>
      <p:sp>
        <p:nvSpPr>
          <p:cNvPr id="12" name="TextBox 11"/>
          <p:cNvSpPr txBox="1"/>
          <p:nvPr/>
        </p:nvSpPr>
        <p:spPr>
          <a:xfrm>
            <a:off x="868680" y="1920240"/>
            <a:ext cx="4114800"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Governing frame:  </a:t>
            </a:r>
            <a:r>
              <a:rPr sz="1300" b="1" i="1">
                <a:solidFill>
                  <a:srgbClr val="9A6414"/>
                </a:solidFill>
                <a:latin typeface="Cambria"/>
              </a:rPr>
              <a:t>priya · hita · labha</a:t>
            </a:r>
          </a:p>
        </p:txBody>
      </p:sp>
      <p:sp>
        <p:nvSpPr>
          <p:cNvPr id="13" name="Rounded Rectangle 12"/>
          <p:cNvSpPr/>
          <p:nvPr/>
        </p:nvSpPr>
        <p:spPr>
          <a:xfrm>
            <a:off x="896112" y="2395728"/>
            <a:ext cx="1298448" cy="566928"/>
          </a:xfrm>
          <a:prstGeom prst="roundRect">
            <a:avLst>
              <a:gd name="adj" fmla="val 14000"/>
            </a:avLst>
          </a:prstGeom>
          <a:solidFill>
            <a:srgbClr val="3B4A7A"/>
          </a:solidFill>
          <a:ln>
            <a:noFill/>
          </a:ln>
        </p:spPr>
        <p:txBody>
          <a:bodyPr rtlCol="0" anchor="ctr"/>
          <a:lstStyle/>
          <a:p>
            <a:pPr algn="ctr"/>
          </a:p>
        </p:txBody>
      </p:sp>
      <p:sp>
        <p:nvSpPr>
          <p:cNvPr id="14" name="TextBox 13"/>
          <p:cNvSpPr txBox="1"/>
          <p:nvPr/>
        </p:nvSpPr>
        <p:spPr>
          <a:xfrm>
            <a:off x="950976" y="2395728"/>
            <a:ext cx="1188719"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Careful calculation</a:t>
            </a:r>
          </a:p>
        </p:txBody>
      </p:sp>
      <p:sp>
        <p:nvSpPr>
          <p:cNvPr id="15" name="Rounded Rectangle 14"/>
          <p:cNvSpPr/>
          <p:nvPr/>
        </p:nvSpPr>
        <p:spPr>
          <a:xfrm>
            <a:off x="2313432" y="2395728"/>
            <a:ext cx="1298448" cy="566928"/>
          </a:xfrm>
          <a:prstGeom prst="roundRect">
            <a:avLst>
              <a:gd name="adj" fmla="val 14000"/>
            </a:avLst>
          </a:prstGeom>
          <a:solidFill>
            <a:srgbClr val="3B4A7A"/>
          </a:solidFill>
          <a:ln>
            <a:noFill/>
          </a:ln>
        </p:spPr>
        <p:txBody>
          <a:bodyPr rtlCol="0" anchor="ctr"/>
          <a:lstStyle/>
          <a:p>
            <a:pPr algn="ctr"/>
          </a:p>
        </p:txBody>
      </p:sp>
      <p:sp>
        <p:nvSpPr>
          <p:cNvPr id="16" name="TextBox 15"/>
          <p:cNvSpPr txBox="1"/>
          <p:nvPr/>
        </p:nvSpPr>
        <p:spPr>
          <a:xfrm>
            <a:off x="2368296" y="2395728"/>
            <a:ext cx="1188719"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Elaborate plans</a:t>
            </a:r>
          </a:p>
        </p:txBody>
      </p:sp>
      <p:sp>
        <p:nvSpPr>
          <p:cNvPr id="17" name="Rounded Rectangle 16"/>
          <p:cNvSpPr/>
          <p:nvPr/>
        </p:nvSpPr>
        <p:spPr>
          <a:xfrm>
            <a:off x="3730752" y="2395728"/>
            <a:ext cx="1298448" cy="566928"/>
          </a:xfrm>
          <a:prstGeom prst="roundRect">
            <a:avLst>
              <a:gd name="adj" fmla="val 14000"/>
            </a:avLst>
          </a:prstGeom>
          <a:solidFill>
            <a:srgbClr val="3B4A7A"/>
          </a:solidFill>
          <a:ln>
            <a:noFill/>
          </a:ln>
        </p:spPr>
        <p:txBody>
          <a:bodyPr rtlCol="0" anchor="ctr"/>
          <a:lstStyle/>
          <a:p>
            <a:pPr algn="ctr"/>
          </a:p>
        </p:txBody>
      </p:sp>
      <p:sp>
        <p:nvSpPr>
          <p:cNvPr id="18" name="TextBox 17"/>
          <p:cNvSpPr txBox="1"/>
          <p:nvPr/>
        </p:nvSpPr>
        <p:spPr>
          <a:xfrm>
            <a:off x="3785615" y="2395728"/>
            <a:ext cx="1188719"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Many alternatives</a:t>
            </a:r>
          </a:p>
        </p:txBody>
      </p:sp>
      <p:sp>
        <p:nvSpPr>
          <p:cNvPr id="19" name="TextBox 18"/>
          <p:cNvSpPr txBox="1"/>
          <p:nvPr/>
        </p:nvSpPr>
        <p:spPr>
          <a:xfrm>
            <a:off x="2697480" y="2999232"/>
            <a:ext cx="548640" cy="329184"/>
          </a:xfrm>
          <a:prstGeom prst="rect">
            <a:avLst/>
          </a:prstGeom>
          <a:noFill/>
        </p:spPr>
        <p:txBody>
          <a:bodyPr wrap="square" lIns="0" rIns="0" tIns="0" bIns="0" anchor="ctr">
            <a:noAutofit/>
          </a:bodyPr>
          <a:lstStyle/>
          <a:p>
            <a:pPr algn="ctr">
              <a:spcBef>
                <a:spcPts val="0"/>
              </a:spcBef>
              <a:spcAft>
                <a:spcPts val="0"/>
              </a:spcAft>
            </a:pPr>
            <a:r>
              <a:rPr sz="1600" b="1" i="0">
                <a:solidFill>
                  <a:srgbClr val="9A6414"/>
                </a:solidFill>
                <a:latin typeface="Calibri"/>
              </a:rPr>
              <a:t>↓</a:t>
            </a:r>
          </a:p>
        </p:txBody>
      </p:sp>
      <p:sp>
        <p:nvSpPr>
          <p:cNvPr id="20" name="TextBox 19"/>
          <p:cNvSpPr txBox="1"/>
          <p:nvPr/>
        </p:nvSpPr>
        <p:spPr>
          <a:xfrm>
            <a:off x="868680" y="3364992"/>
            <a:ext cx="4114800" cy="640080"/>
          </a:xfrm>
          <a:prstGeom prst="rect">
            <a:avLst/>
          </a:prstGeom>
          <a:noFill/>
        </p:spPr>
        <p:txBody>
          <a:bodyPr wrap="square" lIns="0" rIns="0" tIns="0" bIns="0" anchor="ctr">
            <a:noAutofit/>
          </a:bodyPr>
          <a:lstStyle/>
          <a:p>
            <a:pPr algn="ctr">
              <a:spcBef>
                <a:spcPts val="0"/>
              </a:spcBef>
              <a:spcAft>
                <a:spcPts val="0"/>
              </a:spcAft>
            </a:pPr>
            <a:r>
              <a:rPr sz="1200" b="0" i="0">
                <a:solidFill>
                  <a:srgbClr val="9A6414"/>
                </a:solidFill>
                <a:latin typeface="Calibri"/>
              </a:rPr>
              <a:t>More cleverness inside the frame:</a:t>
            </a:r>
          </a:p>
          <a:p>
            <a:pPr algn="ctr">
              <a:spcBef>
                <a:spcPts val="0"/>
              </a:spcBef>
              <a:spcAft>
                <a:spcPts val="0"/>
              </a:spcAft>
            </a:pPr>
            <a:r>
              <a:rPr sz="1200" b="1" i="0">
                <a:solidFill>
                  <a:srgbClr val="9A6414"/>
                </a:solidFill>
                <a:latin typeface="Calibri"/>
              </a:rPr>
              <a:t>the governing purpose is unchanged</a:t>
            </a:r>
          </a:p>
        </p:txBody>
      </p:sp>
      <p:sp>
        <p:nvSpPr>
          <p:cNvPr id="21" name="Rounded Rectangle 20"/>
          <p:cNvSpPr/>
          <p:nvPr/>
        </p:nvSpPr>
        <p:spPr>
          <a:xfrm>
            <a:off x="5440680" y="1828800"/>
            <a:ext cx="3063240" cy="1078992"/>
          </a:xfrm>
          <a:prstGeom prst="roundRect">
            <a:avLst>
              <a:gd name="adj" fmla="val 7000"/>
            </a:avLst>
          </a:prstGeom>
          <a:solidFill>
            <a:srgbClr val="EEF1F8"/>
          </a:solidFill>
          <a:ln>
            <a:noFill/>
          </a:ln>
        </p:spPr>
        <p:txBody>
          <a:bodyPr rtlCol="0" anchor="ctr"/>
          <a:lstStyle/>
          <a:p>
            <a:pPr algn="ctr"/>
          </a:p>
        </p:txBody>
      </p:sp>
      <p:sp>
        <p:nvSpPr>
          <p:cNvPr id="24" name="TextBox 23"/>
          <p:cNvSpPr txBox="1"/>
          <p:nvPr/>
        </p:nvSpPr>
        <p:spPr>
          <a:xfrm>
            <a:off x="5623560" y="1947672"/>
            <a:ext cx="269748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Unbalanced deliberation</a:t>
            </a:r>
          </a:p>
        </p:txBody>
      </p:sp>
      <p:sp>
        <p:nvSpPr>
          <p:cNvPr id="25" name="TextBox 24"/>
          <p:cNvSpPr txBox="1"/>
          <p:nvPr/>
        </p:nvSpPr>
        <p:spPr>
          <a:xfrm>
            <a:off x="5623560" y="2249424"/>
            <a:ext cx="2697480" cy="56692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Deliberation governed by these criteria alone (MVD p. 126).</a:t>
            </a:r>
          </a:p>
        </p:txBody>
      </p:sp>
      <p:sp>
        <p:nvSpPr>
          <p:cNvPr id="26" name="Rounded Rectangle 25"/>
          <p:cNvSpPr/>
          <p:nvPr/>
        </p:nvSpPr>
        <p:spPr>
          <a:xfrm>
            <a:off x="5440680" y="3081528"/>
            <a:ext cx="3063240" cy="1078992"/>
          </a:xfrm>
          <a:prstGeom prst="roundRect">
            <a:avLst>
              <a:gd name="adj" fmla="val 7000"/>
            </a:avLst>
          </a:prstGeom>
          <a:solidFill>
            <a:srgbClr val="EEF1F8"/>
          </a:solidFill>
          <a:ln>
            <a:noFill/>
          </a:ln>
        </p:spPr>
        <p:txBody>
          <a:bodyPr rtlCol="0" anchor="ctr"/>
          <a:lstStyle/>
          <a:p>
            <a:pPr algn="ctr"/>
          </a:p>
        </p:txBody>
      </p:sp>
      <p:sp>
        <p:nvSpPr>
          <p:cNvPr id="29" name="TextBox 28"/>
          <p:cNvSpPr txBox="1"/>
          <p:nvPr/>
        </p:nvSpPr>
        <p:spPr>
          <a:xfrm>
            <a:off x="5623560" y="3200400"/>
            <a:ext cx="269748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Visualisation as imposition</a:t>
            </a:r>
          </a:p>
        </p:txBody>
      </p:sp>
      <p:sp>
        <p:nvSpPr>
          <p:cNvPr id="30" name="TextBox 29"/>
          <p:cNvSpPr txBox="1"/>
          <p:nvPr/>
        </p:nvSpPr>
        <p:spPr>
          <a:xfrm>
            <a:off x="5623560" y="3502152"/>
            <a:ext cx="2697480" cy="56692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What is visualised from them is imposed, not the real (MVD p. 127).</a:t>
            </a:r>
          </a:p>
        </p:txBody>
      </p:sp>
      <p:sp>
        <p:nvSpPr>
          <p:cNvPr id="31" name="TextBox 30"/>
          <p:cNvSpPr txBox="1"/>
          <p:nvPr/>
        </p:nvSpPr>
        <p:spPr>
          <a:xfrm>
            <a:off x="640080" y="4297680"/>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The understanding and taste of relational values have yet to become the basis of living.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III  ·  AWAKENING  ·  §3.1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Awakening Changes All Ten Activities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pp. 72, 74, 93, 137–139  ·  MVD pp. 99–100  ·  AnalyticMadhyasthDarshan.org  ·  12 / 31</a:t>
            </a:r>
          </a:p>
        </p:txBody>
      </p:sp>
      <p:sp>
        <p:nvSpPr>
          <p:cNvPr id="10" name="Rounded Rectangle 9"/>
          <p:cNvSpPr/>
          <p:nvPr/>
        </p:nvSpPr>
        <p:spPr>
          <a:xfrm>
            <a:off x="640080" y="1325880"/>
            <a:ext cx="1417320" cy="676656"/>
          </a:xfrm>
          <a:prstGeom prst="roundRect">
            <a:avLst>
              <a:gd name="adj" fmla="val 14000"/>
            </a:avLst>
          </a:prstGeom>
          <a:solidFill>
            <a:srgbClr val="1E2447"/>
          </a:solidFill>
          <a:ln>
            <a:noFill/>
          </a:ln>
        </p:spPr>
        <p:txBody>
          <a:bodyPr rtlCol="0" anchor="ctr"/>
          <a:lstStyle/>
          <a:p>
            <a:pPr algn="ctr"/>
          </a:p>
        </p:txBody>
      </p:sp>
      <p:sp>
        <p:nvSpPr>
          <p:cNvPr id="11" name="TextBox 10"/>
          <p:cNvSpPr txBox="1"/>
          <p:nvPr/>
        </p:nvSpPr>
        <p:spPr>
          <a:xfrm>
            <a:off x="694944" y="1325880"/>
            <a:ext cx="1307592" cy="67665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Atma</a:t>
            </a:r>
          </a:p>
          <a:p>
            <a:pPr algn="ctr">
              <a:spcBef>
                <a:spcPts val="0"/>
              </a:spcBef>
              <a:spcAft>
                <a:spcPts val="0"/>
              </a:spcAft>
            </a:pPr>
            <a:r>
              <a:rPr sz="900" b="0" i="1">
                <a:solidFill>
                  <a:srgbClr val="C9D4EF"/>
                </a:solidFill>
                <a:latin typeface="Calibri"/>
              </a:rPr>
              <a:t>realisation, authenticity</a:t>
            </a:r>
          </a:p>
        </p:txBody>
      </p:sp>
      <p:sp>
        <p:nvSpPr>
          <p:cNvPr id="12" name="TextBox 11"/>
          <p:cNvSpPr txBox="1"/>
          <p:nvPr/>
        </p:nvSpPr>
        <p:spPr>
          <a:xfrm>
            <a:off x="2039112" y="1481328"/>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13" name="Rounded Rectangle 12"/>
          <p:cNvSpPr/>
          <p:nvPr/>
        </p:nvSpPr>
        <p:spPr>
          <a:xfrm>
            <a:off x="2240280" y="1325880"/>
            <a:ext cx="1417320" cy="676656"/>
          </a:xfrm>
          <a:prstGeom prst="roundRect">
            <a:avLst>
              <a:gd name="adj" fmla="val 14000"/>
            </a:avLst>
          </a:prstGeom>
          <a:solidFill>
            <a:srgbClr val="1E2447"/>
          </a:solidFill>
          <a:ln>
            <a:noFill/>
          </a:ln>
        </p:spPr>
        <p:txBody>
          <a:bodyPr rtlCol="0" anchor="ctr"/>
          <a:lstStyle/>
          <a:p>
            <a:pPr algn="ctr"/>
          </a:p>
        </p:txBody>
      </p:sp>
      <p:sp>
        <p:nvSpPr>
          <p:cNvPr id="14" name="TextBox 13"/>
          <p:cNvSpPr txBox="1"/>
          <p:nvPr/>
        </p:nvSpPr>
        <p:spPr>
          <a:xfrm>
            <a:off x="2295144" y="1325880"/>
            <a:ext cx="1307592" cy="67665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Buddhi</a:t>
            </a:r>
          </a:p>
          <a:p>
            <a:pPr algn="ctr">
              <a:spcBef>
                <a:spcPts val="0"/>
              </a:spcBef>
              <a:spcAft>
                <a:spcPts val="0"/>
              </a:spcAft>
            </a:pPr>
            <a:r>
              <a:rPr sz="900" b="0" i="1">
                <a:solidFill>
                  <a:srgbClr val="C9D4EF"/>
                </a:solidFill>
                <a:latin typeface="Calibri"/>
              </a:rPr>
              <a:t>bodh, resolve</a:t>
            </a:r>
          </a:p>
        </p:txBody>
      </p:sp>
      <p:sp>
        <p:nvSpPr>
          <p:cNvPr id="15" name="TextBox 14"/>
          <p:cNvSpPr txBox="1"/>
          <p:nvPr/>
        </p:nvSpPr>
        <p:spPr>
          <a:xfrm>
            <a:off x="3639312" y="1481328"/>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16" name="Rounded Rectangle 15"/>
          <p:cNvSpPr/>
          <p:nvPr/>
        </p:nvSpPr>
        <p:spPr>
          <a:xfrm>
            <a:off x="3840480" y="1325880"/>
            <a:ext cx="1417320" cy="676656"/>
          </a:xfrm>
          <a:prstGeom prst="roundRect">
            <a:avLst>
              <a:gd name="adj" fmla="val 14000"/>
            </a:avLst>
          </a:prstGeom>
          <a:solidFill>
            <a:srgbClr val="3B4A7A"/>
          </a:solidFill>
          <a:ln>
            <a:noFill/>
          </a:ln>
        </p:spPr>
        <p:txBody>
          <a:bodyPr rtlCol="0" anchor="ctr"/>
          <a:lstStyle/>
          <a:p>
            <a:pPr algn="ctr"/>
          </a:p>
        </p:txBody>
      </p:sp>
      <p:sp>
        <p:nvSpPr>
          <p:cNvPr id="17" name="TextBox 16"/>
          <p:cNvSpPr txBox="1"/>
          <p:nvPr/>
        </p:nvSpPr>
        <p:spPr>
          <a:xfrm>
            <a:off x="3895344" y="1325880"/>
            <a:ext cx="1307592" cy="67665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Chitta</a:t>
            </a:r>
          </a:p>
          <a:p>
            <a:pPr algn="ctr">
              <a:spcBef>
                <a:spcPts val="0"/>
              </a:spcBef>
              <a:spcAft>
                <a:spcPts val="0"/>
              </a:spcAft>
            </a:pPr>
            <a:r>
              <a:rPr sz="900" b="0" i="1">
                <a:solidFill>
                  <a:srgbClr val="C9D4EF"/>
                </a:solidFill>
                <a:latin typeface="Calibri"/>
              </a:rPr>
              <a:t>contemplation, visualisation</a:t>
            </a:r>
          </a:p>
        </p:txBody>
      </p:sp>
      <p:sp>
        <p:nvSpPr>
          <p:cNvPr id="18" name="TextBox 17"/>
          <p:cNvSpPr txBox="1"/>
          <p:nvPr/>
        </p:nvSpPr>
        <p:spPr>
          <a:xfrm>
            <a:off x="5239512" y="1481328"/>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19" name="Rounded Rectangle 18"/>
          <p:cNvSpPr/>
          <p:nvPr/>
        </p:nvSpPr>
        <p:spPr>
          <a:xfrm>
            <a:off x="5440680" y="1325880"/>
            <a:ext cx="1417320" cy="676656"/>
          </a:xfrm>
          <a:prstGeom prst="roundRect">
            <a:avLst>
              <a:gd name="adj" fmla="val 14000"/>
            </a:avLst>
          </a:prstGeom>
          <a:solidFill>
            <a:srgbClr val="3B4A7A"/>
          </a:solidFill>
          <a:ln>
            <a:noFill/>
          </a:ln>
        </p:spPr>
        <p:txBody>
          <a:bodyPr rtlCol="0" anchor="ctr"/>
          <a:lstStyle/>
          <a:p>
            <a:pPr algn="ctr"/>
          </a:p>
        </p:txBody>
      </p:sp>
      <p:sp>
        <p:nvSpPr>
          <p:cNvPr id="20" name="TextBox 19"/>
          <p:cNvSpPr txBox="1"/>
          <p:nvPr/>
        </p:nvSpPr>
        <p:spPr>
          <a:xfrm>
            <a:off x="5495544" y="1325880"/>
            <a:ext cx="1307592" cy="67665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Vritti</a:t>
            </a:r>
          </a:p>
          <a:p>
            <a:pPr algn="ctr">
              <a:spcBef>
                <a:spcPts val="0"/>
              </a:spcBef>
              <a:spcAft>
                <a:spcPts val="0"/>
              </a:spcAft>
            </a:pPr>
            <a:r>
              <a:rPr sz="900" b="0" i="1">
                <a:solidFill>
                  <a:srgbClr val="C9D4EF"/>
                </a:solidFill>
                <a:latin typeface="Calibri"/>
              </a:rPr>
              <a:t>deliberation, analysis</a:t>
            </a:r>
          </a:p>
        </p:txBody>
      </p:sp>
      <p:sp>
        <p:nvSpPr>
          <p:cNvPr id="21" name="TextBox 20"/>
          <p:cNvSpPr txBox="1"/>
          <p:nvPr/>
        </p:nvSpPr>
        <p:spPr>
          <a:xfrm>
            <a:off x="6839712" y="1481328"/>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22" name="Rounded Rectangle 21"/>
          <p:cNvSpPr/>
          <p:nvPr/>
        </p:nvSpPr>
        <p:spPr>
          <a:xfrm>
            <a:off x="7040880" y="1325880"/>
            <a:ext cx="1417320" cy="676656"/>
          </a:xfrm>
          <a:prstGeom prst="roundRect">
            <a:avLst>
              <a:gd name="adj" fmla="val 14000"/>
            </a:avLst>
          </a:prstGeom>
          <a:solidFill>
            <a:srgbClr val="3B4A7A"/>
          </a:solidFill>
          <a:ln>
            <a:noFill/>
          </a:ln>
        </p:spPr>
        <p:txBody>
          <a:bodyPr rtlCol="0" anchor="ctr"/>
          <a:lstStyle/>
          <a:p>
            <a:pPr algn="ctr"/>
          </a:p>
        </p:txBody>
      </p:sp>
      <p:sp>
        <p:nvSpPr>
          <p:cNvPr id="23" name="TextBox 22"/>
          <p:cNvSpPr txBox="1"/>
          <p:nvPr/>
        </p:nvSpPr>
        <p:spPr>
          <a:xfrm>
            <a:off x="7095744" y="1325880"/>
            <a:ext cx="1307592" cy="676656"/>
          </a:xfrm>
          <a:prstGeom prst="rect">
            <a:avLst/>
          </a:prstGeom>
          <a:noFill/>
        </p:spPr>
        <p:txBody>
          <a:bodyPr wrap="square" lIns="0" rIns="0" tIns="0" bIns="0" anchor="ctr">
            <a:noAutofit/>
          </a:bodyPr>
          <a:lstStyle/>
          <a:p>
            <a:pPr algn="ctr">
              <a:spcBef>
                <a:spcPts val="0"/>
              </a:spcBef>
              <a:spcAft>
                <a:spcPts val="0"/>
              </a:spcAft>
            </a:pPr>
            <a:r>
              <a:rPr sz="1300" b="1" i="0">
                <a:solidFill>
                  <a:srgbClr val="FFFFFF"/>
                </a:solidFill>
                <a:latin typeface="Cambria"/>
              </a:rPr>
              <a:t>Mun</a:t>
            </a:r>
          </a:p>
          <a:p>
            <a:pPr algn="ctr">
              <a:spcBef>
                <a:spcPts val="0"/>
              </a:spcBef>
              <a:spcAft>
                <a:spcPts val="0"/>
              </a:spcAft>
            </a:pPr>
            <a:r>
              <a:rPr sz="900" b="0" i="1">
                <a:solidFill>
                  <a:srgbClr val="C9D4EF"/>
                </a:solidFill>
                <a:latin typeface="Calibri"/>
              </a:rPr>
              <a:t>taste, selection</a:t>
            </a:r>
          </a:p>
        </p:txBody>
      </p:sp>
      <p:sp>
        <p:nvSpPr>
          <p:cNvPr id="24" name="TextBox 23"/>
          <p:cNvSpPr txBox="1"/>
          <p:nvPr/>
        </p:nvSpPr>
        <p:spPr>
          <a:xfrm>
            <a:off x="640080" y="2075688"/>
            <a:ext cx="7863840" cy="256032"/>
          </a:xfrm>
          <a:prstGeom prst="rect">
            <a:avLst/>
          </a:prstGeom>
          <a:noFill/>
        </p:spPr>
        <p:txBody>
          <a:bodyPr wrap="square" lIns="0" rIns="0" tIns="0" bIns="0" anchor="ctr">
            <a:noAutofit/>
          </a:bodyPr>
          <a:lstStyle/>
          <a:p>
            <a:pPr algn="ctr">
              <a:spcBef>
                <a:spcPts val="0"/>
              </a:spcBef>
              <a:spcAft>
                <a:spcPts val="0"/>
              </a:spcAft>
            </a:pPr>
            <a:r>
              <a:rPr sz="1100" b="0" i="1">
                <a:solidFill>
                  <a:srgbClr val="1E2447"/>
                </a:solidFill>
                <a:latin typeface="Calibri"/>
              </a:rPr>
              <a:t>Understanding informs every activity, from the centre outward (JV p. 74).</a:t>
            </a:r>
          </a:p>
        </p:txBody>
      </p:sp>
      <p:sp>
        <p:nvSpPr>
          <p:cNvPr id="25" name="Rounded Rectangle 24"/>
          <p:cNvSpPr/>
          <p:nvPr/>
        </p:nvSpPr>
        <p:spPr>
          <a:xfrm>
            <a:off x="640080" y="2468880"/>
            <a:ext cx="2514600" cy="1700784"/>
          </a:xfrm>
          <a:prstGeom prst="roundRect">
            <a:avLst>
              <a:gd name="adj" fmla="val 7000"/>
            </a:avLst>
          </a:prstGeom>
          <a:solidFill>
            <a:srgbClr val="FAF1DF"/>
          </a:solidFill>
          <a:ln>
            <a:noFill/>
          </a:ln>
        </p:spPr>
        <p:txBody>
          <a:bodyPr rtlCol="0" anchor="ctr"/>
          <a:lstStyle/>
          <a:p>
            <a:pPr algn="ctr"/>
          </a:p>
        </p:txBody>
      </p:sp>
      <p:sp>
        <p:nvSpPr>
          <p:cNvPr id="26" name="TextBox 25"/>
          <p:cNvSpPr txBox="1"/>
          <p:nvPr/>
        </p:nvSpPr>
        <p:spPr>
          <a:xfrm>
            <a:off x="822959" y="2587752"/>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Deliberation</a:t>
            </a:r>
          </a:p>
        </p:txBody>
      </p:sp>
      <p:sp>
        <p:nvSpPr>
          <p:cNvPr id="27" name="TextBox 26"/>
          <p:cNvSpPr txBox="1"/>
          <p:nvPr/>
        </p:nvSpPr>
        <p:spPr>
          <a:xfrm>
            <a:off x="822959" y="2889504"/>
            <a:ext cx="2148840" cy="118872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Grounded in </a:t>
            </a:r>
            <a:r>
              <a:rPr sz="1150" b="0" i="1">
                <a:solidFill>
                  <a:srgbClr val="5A6377"/>
                </a:solidFill>
                <a:latin typeface="Calibri"/>
              </a:rPr>
              <a:t>nyaya–dharma–satya</a:t>
            </a:r>
            <a:r>
              <a:rPr sz="1150" b="0" i="0">
                <a:solidFill>
                  <a:srgbClr val="5A6377"/>
                </a:solidFill>
                <a:latin typeface="Calibri"/>
              </a:rPr>
              <a:t>: justice, human dharma, and truth.</a:t>
            </a:r>
          </a:p>
        </p:txBody>
      </p:sp>
      <p:sp>
        <p:nvSpPr>
          <p:cNvPr id="28" name="Rounded Rectangle 27"/>
          <p:cNvSpPr/>
          <p:nvPr/>
        </p:nvSpPr>
        <p:spPr>
          <a:xfrm>
            <a:off x="3314700" y="2468880"/>
            <a:ext cx="2514600" cy="1700784"/>
          </a:xfrm>
          <a:prstGeom prst="roundRect">
            <a:avLst>
              <a:gd name="adj" fmla="val 7000"/>
            </a:avLst>
          </a:prstGeom>
          <a:solidFill>
            <a:srgbClr val="FAF1DF"/>
          </a:solidFill>
          <a:ln>
            <a:noFill/>
          </a:ln>
        </p:spPr>
        <p:txBody>
          <a:bodyPr rtlCol="0" anchor="ctr"/>
          <a:lstStyle/>
          <a:p>
            <a:pPr algn="ctr"/>
          </a:p>
        </p:txBody>
      </p:sp>
      <p:sp>
        <p:nvSpPr>
          <p:cNvPr id="29" name="TextBox 28"/>
          <p:cNvSpPr txBox="1"/>
          <p:nvPr/>
        </p:nvSpPr>
        <p:spPr>
          <a:xfrm>
            <a:off x="3497580" y="2587752"/>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Taste</a:t>
            </a:r>
          </a:p>
        </p:txBody>
      </p:sp>
      <p:sp>
        <p:nvSpPr>
          <p:cNvPr id="30" name="TextBox 29"/>
          <p:cNvSpPr txBox="1"/>
          <p:nvPr/>
        </p:nvSpPr>
        <p:spPr>
          <a:xfrm>
            <a:off x="3497580" y="2889504"/>
            <a:ext cx="2148840" cy="1188720"/>
          </a:xfrm>
          <a:prstGeom prst="rect">
            <a:avLst/>
          </a:prstGeom>
          <a:noFill/>
        </p:spPr>
        <p:txBody>
          <a:bodyPr wrap="square" lIns="0" rIns="0" tIns="0" bIns="0" anchor="t">
            <a:noAutofit/>
          </a:bodyPr>
          <a:lstStyle/>
          <a:p>
            <a:pPr algn="l">
              <a:spcBef>
                <a:spcPts val="0"/>
              </a:spcBef>
              <a:spcAft>
                <a:spcPts val="0"/>
              </a:spcAft>
            </a:pPr>
            <a:r>
              <a:rPr sz="1150" b="0" i="1">
                <a:solidFill>
                  <a:srgbClr val="5A6377"/>
                </a:solidFill>
                <a:latin typeface="Calibri"/>
              </a:rPr>
              <a:t>Mun</a:t>
            </a:r>
            <a:r>
              <a:rPr sz="1150" b="0" i="0">
                <a:solidFill>
                  <a:srgbClr val="5A6377"/>
                </a:solidFill>
                <a:latin typeface="Calibri"/>
              </a:rPr>
              <a:t> tastes values fulfilled in relationships: love, trust, affection, gratitude, guidance.</a:t>
            </a:r>
          </a:p>
        </p:txBody>
      </p:sp>
      <p:sp>
        <p:nvSpPr>
          <p:cNvPr id="31" name="Rounded Rectangle 30"/>
          <p:cNvSpPr/>
          <p:nvPr/>
        </p:nvSpPr>
        <p:spPr>
          <a:xfrm>
            <a:off x="5989320" y="2468880"/>
            <a:ext cx="2514600" cy="1700784"/>
          </a:xfrm>
          <a:prstGeom prst="roundRect">
            <a:avLst>
              <a:gd name="adj" fmla="val 7000"/>
            </a:avLst>
          </a:prstGeom>
          <a:solidFill>
            <a:srgbClr val="EEF1F8"/>
          </a:solidFill>
          <a:ln>
            <a:noFill/>
          </a:ln>
        </p:spPr>
        <p:txBody>
          <a:bodyPr rtlCol="0" anchor="ctr"/>
          <a:lstStyle/>
          <a:p>
            <a:pPr algn="ctr"/>
          </a:p>
        </p:txBody>
      </p:sp>
      <p:sp>
        <p:nvSpPr>
          <p:cNvPr id="32" name="TextBox 31"/>
          <p:cNvSpPr txBox="1"/>
          <p:nvPr/>
        </p:nvSpPr>
        <p:spPr>
          <a:xfrm>
            <a:off x="6172200" y="2587752"/>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Pleasure in its place</a:t>
            </a:r>
          </a:p>
        </p:txBody>
      </p:sp>
      <p:sp>
        <p:nvSpPr>
          <p:cNvPr id="33" name="TextBox 32"/>
          <p:cNvSpPr txBox="1"/>
          <p:nvPr/>
        </p:nvSpPr>
        <p:spPr>
          <a:xfrm>
            <a:off x="6172200" y="2889504"/>
            <a:ext cx="2148840" cy="118872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Pleasure, care, and sufficiency are not condemned; they are integrated under justice.</a:t>
            </a:r>
          </a:p>
          <a:p>
            <a:pPr algn="l">
              <a:spcBef>
                <a:spcPts val="0"/>
              </a:spcBef>
              <a:spcAft>
                <a:spcPts val="0"/>
              </a:spcAft>
            </a:pPr>
            <a:r>
              <a:rPr sz="1150" b="0" i="1">
                <a:solidFill>
                  <a:srgbClr val="5A6377"/>
                </a:solidFill>
                <a:latin typeface="Calibri"/>
              </a:rPr>
              <a:t>JV pp. 138–139</a:t>
            </a:r>
          </a:p>
        </p:txBody>
      </p:sp>
      <p:sp>
        <p:nvSpPr>
          <p:cNvPr id="34" name="TextBox 33"/>
          <p:cNvSpPr txBox="1"/>
          <p:nvPr/>
        </p:nvSpPr>
        <p:spPr>
          <a:xfrm>
            <a:off x="640080" y="4297680"/>
            <a:ext cx="7863840" cy="365760"/>
          </a:xfrm>
          <a:prstGeom prst="rect">
            <a:avLst/>
          </a:prstGeom>
          <a:noFill/>
        </p:spPr>
        <p:txBody>
          <a:bodyPr wrap="square" lIns="0" rIns="0" tIns="0" bIns="0" anchor="ctr">
            <a:noAutofit/>
          </a:bodyPr>
          <a:lstStyle/>
          <a:p>
            <a:pPr algn="l">
              <a:spcBef>
                <a:spcPts val="0"/>
              </a:spcBef>
              <a:spcAft>
                <a:spcPts val="0"/>
              </a:spcAft>
            </a:pPr>
            <a:r>
              <a:rPr sz="1200" b="0" i="1">
                <a:solidFill>
                  <a:srgbClr val="1E2447"/>
                </a:solidFill>
                <a:latin typeface="Calibri"/>
              </a:rPr>
              <a:t>Awakening changes the basis of evaluation; it is not more computation.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III  ·  THE PATTERN COMPUTED  ·  §3.2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Same Pattern, Computed</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Driess et al. 2023  ·  JV pp. 72, 92–93  ·  Note §3.2  ·  AnalyticMadhyasthDarshan.org  ·  13 / 31</a:t>
            </a:r>
          </a:p>
        </p:txBody>
      </p:sp>
      <p:sp>
        <p:nvSpPr>
          <p:cNvPr id="8" name="TextBox 7"/>
          <p:cNvSpPr txBox="1"/>
          <p:nvPr/>
        </p:nvSpPr>
        <p:spPr>
          <a:xfrm>
            <a:off x="640080" y="1188720"/>
            <a:ext cx="7863840" cy="45720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libri"/>
              </a:rPr>
              <a:t>With criteria restricted to preference, bodily advantage, or gain, AI reproduces the outward decision pattern.</a:t>
            </a:r>
          </a:p>
        </p:txBody>
      </p:sp>
      <p:sp>
        <p:nvSpPr>
          <p:cNvPr id="9" name="Rounded Rectangle 8"/>
          <p:cNvSpPr/>
          <p:nvPr/>
        </p:nvSpPr>
        <p:spPr>
          <a:xfrm>
            <a:off x="7132320" y="1737360"/>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7132320" y="173736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Rounded Rectangle 10"/>
          <p:cNvSpPr/>
          <p:nvPr/>
        </p:nvSpPr>
        <p:spPr>
          <a:xfrm>
            <a:off x="640080" y="1975104"/>
            <a:ext cx="1417320" cy="548640"/>
          </a:xfrm>
          <a:prstGeom prst="roundRect">
            <a:avLst>
              <a:gd name="adj" fmla="val 14000"/>
            </a:avLst>
          </a:prstGeom>
          <a:solidFill>
            <a:srgbClr val="C9821E"/>
          </a:solidFill>
          <a:ln>
            <a:noFill/>
          </a:ln>
        </p:spPr>
        <p:txBody>
          <a:bodyPr rtlCol="0" anchor="ctr"/>
          <a:lstStyle/>
          <a:p>
            <a:pPr algn="ctr"/>
          </a:p>
        </p:txBody>
      </p:sp>
      <p:sp>
        <p:nvSpPr>
          <p:cNvPr id="12" name="TextBox 11"/>
          <p:cNvSpPr txBox="1"/>
          <p:nvPr/>
        </p:nvSpPr>
        <p:spPr>
          <a:xfrm>
            <a:off x="694944" y="1975104"/>
            <a:ext cx="1307592" cy="548640"/>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Observations</a:t>
            </a:r>
          </a:p>
        </p:txBody>
      </p:sp>
      <p:sp>
        <p:nvSpPr>
          <p:cNvPr id="13" name="TextBox 12"/>
          <p:cNvSpPr txBox="1"/>
          <p:nvPr/>
        </p:nvSpPr>
        <p:spPr>
          <a:xfrm>
            <a:off x="2039112" y="2066543"/>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9A6414"/>
                </a:solidFill>
                <a:latin typeface="Calibri"/>
              </a:rPr>
              <a:t>›</a:t>
            </a:r>
          </a:p>
        </p:txBody>
      </p:sp>
      <p:sp>
        <p:nvSpPr>
          <p:cNvPr id="14" name="Rounded Rectangle 13"/>
          <p:cNvSpPr/>
          <p:nvPr/>
        </p:nvSpPr>
        <p:spPr>
          <a:xfrm>
            <a:off x="2240280" y="1975104"/>
            <a:ext cx="1417320" cy="548640"/>
          </a:xfrm>
          <a:prstGeom prst="roundRect">
            <a:avLst>
              <a:gd name="adj" fmla="val 14000"/>
            </a:avLst>
          </a:prstGeom>
          <a:solidFill>
            <a:srgbClr val="C9821E"/>
          </a:solidFill>
          <a:ln>
            <a:noFill/>
          </a:ln>
        </p:spPr>
        <p:txBody>
          <a:bodyPr rtlCol="0" anchor="ctr"/>
          <a:lstStyle/>
          <a:p>
            <a:pPr algn="ctr"/>
          </a:p>
        </p:txBody>
      </p:sp>
      <p:sp>
        <p:nvSpPr>
          <p:cNvPr id="15" name="TextBox 14"/>
          <p:cNvSpPr txBox="1"/>
          <p:nvPr/>
        </p:nvSpPr>
        <p:spPr>
          <a:xfrm>
            <a:off x="2295144" y="1975104"/>
            <a:ext cx="1307592" cy="548640"/>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Rank preferences</a:t>
            </a:r>
          </a:p>
        </p:txBody>
      </p:sp>
      <p:sp>
        <p:nvSpPr>
          <p:cNvPr id="16" name="TextBox 15"/>
          <p:cNvSpPr txBox="1"/>
          <p:nvPr/>
        </p:nvSpPr>
        <p:spPr>
          <a:xfrm>
            <a:off x="3639312" y="2066543"/>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9A6414"/>
                </a:solidFill>
                <a:latin typeface="Calibri"/>
              </a:rPr>
              <a:t>›</a:t>
            </a:r>
          </a:p>
        </p:txBody>
      </p:sp>
      <p:sp>
        <p:nvSpPr>
          <p:cNvPr id="17" name="Rounded Rectangle 16"/>
          <p:cNvSpPr/>
          <p:nvPr/>
        </p:nvSpPr>
        <p:spPr>
          <a:xfrm>
            <a:off x="3840480" y="1975104"/>
            <a:ext cx="1417320" cy="548640"/>
          </a:xfrm>
          <a:prstGeom prst="roundRect">
            <a:avLst>
              <a:gd name="adj" fmla="val 14000"/>
            </a:avLst>
          </a:prstGeom>
          <a:solidFill>
            <a:srgbClr val="C9821E"/>
          </a:solidFill>
          <a:ln>
            <a:noFill/>
          </a:ln>
        </p:spPr>
        <p:txBody>
          <a:bodyPr rtlCol="0" anchor="ctr"/>
          <a:lstStyle/>
          <a:p>
            <a:pPr algn="ctr"/>
          </a:p>
        </p:txBody>
      </p:sp>
      <p:sp>
        <p:nvSpPr>
          <p:cNvPr id="18" name="TextBox 17"/>
          <p:cNvSpPr txBox="1"/>
          <p:nvPr/>
        </p:nvSpPr>
        <p:spPr>
          <a:xfrm>
            <a:off x="3895344" y="1975104"/>
            <a:ext cx="1307592" cy="548640"/>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Analyse means</a:t>
            </a:r>
          </a:p>
        </p:txBody>
      </p:sp>
      <p:sp>
        <p:nvSpPr>
          <p:cNvPr id="19" name="TextBox 18"/>
          <p:cNvSpPr txBox="1"/>
          <p:nvPr/>
        </p:nvSpPr>
        <p:spPr>
          <a:xfrm>
            <a:off x="5239512" y="2066543"/>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9A6414"/>
                </a:solidFill>
                <a:latin typeface="Calibri"/>
              </a:rPr>
              <a:t>›</a:t>
            </a:r>
          </a:p>
        </p:txBody>
      </p:sp>
      <p:sp>
        <p:nvSpPr>
          <p:cNvPr id="20" name="Rounded Rectangle 19"/>
          <p:cNvSpPr/>
          <p:nvPr/>
        </p:nvSpPr>
        <p:spPr>
          <a:xfrm>
            <a:off x="5440680" y="1975104"/>
            <a:ext cx="1417320" cy="548640"/>
          </a:xfrm>
          <a:prstGeom prst="roundRect">
            <a:avLst>
              <a:gd name="adj" fmla="val 14000"/>
            </a:avLst>
          </a:prstGeom>
          <a:solidFill>
            <a:srgbClr val="C9821E"/>
          </a:solidFill>
          <a:ln>
            <a:noFill/>
          </a:ln>
        </p:spPr>
        <p:txBody>
          <a:bodyPr rtlCol="0" anchor="ctr"/>
          <a:lstStyle/>
          <a:p>
            <a:pPr algn="ctr"/>
          </a:p>
        </p:txBody>
      </p:sp>
      <p:sp>
        <p:nvSpPr>
          <p:cNvPr id="21" name="TextBox 20"/>
          <p:cNvSpPr txBox="1"/>
          <p:nvPr/>
        </p:nvSpPr>
        <p:spPr>
          <a:xfrm>
            <a:off x="5495544" y="1975104"/>
            <a:ext cx="1307592" cy="548640"/>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Generate scenarios</a:t>
            </a:r>
          </a:p>
        </p:txBody>
      </p:sp>
      <p:sp>
        <p:nvSpPr>
          <p:cNvPr id="22" name="TextBox 21"/>
          <p:cNvSpPr txBox="1"/>
          <p:nvPr/>
        </p:nvSpPr>
        <p:spPr>
          <a:xfrm>
            <a:off x="6839712" y="2066543"/>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9A6414"/>
                </a:solidFill>
                <a:latin typeface="Calibri"/>
              </a:rPr>
              <a:t>›</a:t>
            </a:r>
          </a:p>
        </p:txBody>
      </p:sp>
      <p:sp>
        <p:nvSpPr>
          <p:cNvPr id="23" name="Rounded Rectangle 22"/>
          <p:cNvSpPr/>
          <p:nvPr/>
        </p:nvSpPr>
        <p:spPr>
          <a:xfrm>
            <a:off x="7040880" y="1975104"/>
            <a:ext cx="1417320" cy="548640"/>
          </a:xfrm>
          <a:prstGeom prst="roundRect">
            <a:avLst>
              <a:gd name="adj" fmla="val 14000"/>
            </a:avLst>
          </a:prstGeom>
          <a:solidFill>
            <a:srgbClr val="C9821E"/>
          </a:solidFill>
          <a:ln>
            <a:noFill/>
          </a:ln>
        </p:spPr>
        <p:txBody>
          <a:bodyPr rtlCol="0" anchor="ctr"/>
          <a:lstStyle/>
          <a:p>
            <a:pPr algn="ctr"/>
          </a:p>
        </p:txBody>
      </p:sp>
      <p:sp>
        <p:nvSpPr>
          <p:cNvPr id="24" name="TextBox 23"/>
          <p:cNvSpPr txBox="1"/>
          <p:nvPr/>
        </p:nvSpPr>
        <p:spPr>
          <a:xfrm>
            <a:off x="7095744" y="1975104"/>
            <a:ext cx="1307592" cy="548640"/>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Select action</a:t>
            </a:r>
          </a:p>
        </p:txBody>
      </p:sp>
      <p:sp>
        <p:nvSpPr>
          <p:cNvPr id="25" name="Rounded Rectangle 24"/>
          <p:cNvSpPr/>
          <p:nvPr/>
        </p:nvSpPr>
        <p:spPr>
          <a:xfrm>
            <a:off x="640080" y="2697480"/>
            <a:ext cx="3840480" cy="1463040"/>
          </a:xfrm>
          <a:prstGeom prst="roundRect">
            <a:avLst>
              <a:gd name="adj" fmla="val 7000"/>
            </a:avLst>
          </a:prstGeom>
          <a:solidFill>
            <a:srgbClr val="FAF1DF"/>
          </a:solidFill>
          <a:ln>
            <a:noFill/>
          </a:ln>
        </p:spPr>
        <p:txBody>
          <a:bodyPr rtlCol="0" anchor="ctr"/>
          <a:lstStyle/>
          <a:p>
            <a:pPr algn="ctr"/>
          </a:p>
        </p:txBody>
      </p:sp>
      <p:sp>
        <p:nvSpPr>
          <p:cNvPr id="26" name="Rounded Rectangle 25"/>
          <p:cNvSpPr/>
          <p:nvPr/>
        </p:nvSpPr>
        <p:spPr>
          <a:xfrm>
            <a:off x="2980944" y="2606040"/>
            <a:ext cx="1371600" cy="182880"/>
          </a:xfrm>
          <a:prstGeom prst="roundRect">
            <a:avLst>
              <a:gd name="adj" fmla="val 50000"/>
            </a:avLst>
          </a:prstGeom>
          <a:solidFill>
            <a:srgbClr val="C9821E"/>
          </a:solidFill>
          <a:ln>
            <a:noFill/>
          </a:ln>
        </p:spPr>
        <p:txBody>
          <a:bodyPr rtlCol="0" anchor="ctr"/>
          <a:lstStyle/>
          <a:p>
            <a:pPr algn="ctr"/>
          </a:p>
        </p:txBody>
      </p:sp>
      <p:sp>
        <p:nvSpPr>
          <p:cNvPr id="27" name="TextBox 26"/>
          <p:cNvSpPr txBox="1"/>
          <p:nvPr/>
        </p:nvSpPr>
        <p:spPr>
          <a:xfrm>
            <a:off x="2980944" y="260604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8" name="TextBox 27"/>
          <p:cNvSpPr txBox="1"/>
          <p:nvPr/>
        </p:nvSpPr>
        <p:spPr>
          <a:xfrm>
            <a:off x="822959" y="2816352"/>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The robot example</a:t>
            </a:r>
          </a:p>
        </p:txBody>
      </p:sp>
      <p:sp>
        <p:nvSpPr>
          <p:cNvPr id="29" name="TextBox 28"/>
          <p:cNvSpPr txBox="1"/>
          <p:nvPr/>
        </p:nvSpPr>
        <p:spPr>
          <a:xfrm>
            <a:off x="822959" y="3118104"/>
            <a:ext cx="3474720" cy="95097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Cameras and sensors supply task-relevant information; the system plans and acts. Comparable observations and criteria lead to comparable choices.</a:t>
            </a:r>
          </a:p>
        </p:txBody>
      </p:sp>
      <p:sp>
        <p:nvSpPr>
          <p:cNvPr id="30" name="Rounded Rectangle 29"/>
          <p:cNvSpPr/>
          <p:nvPr/>
        </p:nvSpPr>
        <p:spPr>
          <a:xfrm>
            <a:off x="4663440" y="2697480"/>
            <a:ext cx="3840480" cy="1463040"/>
          </a:xfrm>
          <a:prstGeom prst="roundRect">
            <a:avLst>
              <a:gd name="adj" fmla="val 7000"/>
            </a:avLst>
          </a:prstGeom>
          <a:solidFill>
            <a:srgbClr val="EEF1F8"/>
          </a:solidFill>
          <a:ln>
            <a:noFill/>
          </a:ln>
        </p:spPr>
        <p:txBody>
          <a:bodyPr rtlCol="0" anchor="ctr"/>
          <a:lstStyle/>
          <a:p>
            <a:pPr algn="ctr"/>
          </a:p>
        </p:txBody>
      </p:sp>
      <p:sp>
        <p:nvSpPr>
          <p:cNvPr id="33" name="TextBox 32"/>
          <p:cNvSpPr txBox="1"/>
          <p:nvPr/>
        </p:nvSpPr>
        <p:spPr>
          <a:xfrm>
            <a:off x="4846320" y="2816352"/>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What the resemblance does not claim</a:t>
            </a:r>
          </a:p>
        </p:txBody>
      </p:sp>
      <p:sp>
        <p:nvSpPr>
          <p:cNvPr id="34" name="TextBox 33"/>
          <p:cNvSpPr txBox="1"/>
          <p:nvPr/>
        </p:nvSpPr>
        <p:spPr>
          <a:xfrm>
            <a:off x="4846320" y="3118104"/>
            <a:ext cx="3474720" cy="95097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No jeevan, no experienced taste, no identical sensory experience. It concerns outward selection and evaluation.</a:t>
            </a:r>
          </a:p>
        </p:txBody>
      </p:sp>
      <p:sp>
        <p:nvSpPr>
          <p:cNvPr id="35" name="TextBox 34"/>
          <p:cNvSpPr txBox="1"/>
          <p:nvPr/>
        </p:nvSpPr>
        <p:spPr>
          <a:xfrm>
            <a:off x="640080" y="4297680"/>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Acting like a deluded jeevan is a functional resemblance, not an attribution of consciousness.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III  ·  THE OPENING  ·  §3.3</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Resemblance Makes a Mirror Possible</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126–127  ·  Note §3.3  ·  AnalyticMadhyasthDarshan.org  ·  14 / 31</a:t>
            </a:r>
          </a:p>
        </p:txBody>
      </p:sp>
      <p:sp>
        <p:nvSpPr>
          <p:cNvPr id="8" name="Rounded Rectangle 7"/>
          <p:cNvSpPr/>
          <p:nvPr/>
        </p:nvSpPr>
        <p:spPr>
          <a:xfrm>
            <a:off x="640080" y="1280160"/>
            <a:ext cx="3840480" cy="1243584"/>
          </a:xfrm>
          <a:prstGeom prst="roundRect">
            <a:avLst>
              <a:gd name="adj" fmla="val 7000"/>
            </a:avLst>
          </a:prstGeom>
          <a:solidFill>
            <a:srgbClr val="F1F2F4"/>
          </a:solidFill>
          <a:ln>
            <a:noFill/>
          </a:ln>
        </p:spPr>
        <p:txBody>
          <a:bodyPr rtlCol="0" anchor="ctr"/>
          <a:lstStyle/>
          <a:p>
            <a:pPr algn="ctr"/>
          </a:p>
        </p:txBody>
      </p:sp>
      <p:sp>
        <p:nvSpPr>
          <p:cNvPr id="9" name="Rounded Rectangle 8"/>
          <p:cNvSpPr/>
          <p:nvPr/>
        </p:nvSpPr>
        <p:spPr>
          <a:xfrm>
            <a:off x="2980944" y="1188719"/>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298094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22959"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Quantitative evaluation</a:t>
            </a:r>
          </a:p>
        </p:txBody>
      </p:sp>
      <p:sp>
        <p:nvSpPr>
          <p:cNvPr id="12" name="TextBox 11"/>
          <p:cNvSpPr txBox="1"/>
          <p:nvPr/>
        </p:nvSpPr>
        <p:spPr>
          <a:xfrm>
            <a:off x="822959" y="1700784"/>
            <a:ext cx="3474720" cy="73152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Treats preferred outcomes, bodily advantage, or gain as sufficient.</a:t>
            </a:r>
          </a:p>
        </p:txBody>
      </p:sp>
      <p:sp>
        <p:nvSpPr>
          <p:cNvPr id="13" name="Rounded Rectangle 12"/>
          <p:cNvSpPr/>
          <p:nvPr/>
        </p:nvSpPr>
        <p:spPr>
          <a:xfrm>
            <a:off x="4663440" y="1280160"/>
            <a:ext cx="3840480" cy="1243584"/>
          </a:xfrm>
          <a:prstGeom prst="roundRect">
            <a:avLst>
              <a:gd name="adj" fmla="val 7000"/>
            </a:avLst>
          </a:prstGeom>
          <a:solidFill>
            <a:srgbClr val="FAF1DF"/>
          </a:solidFill>
          <a:ln>
            <a:noFill/>
          </a:ln>
        </p:spPr>
        <p:txBody>
          <a:bodyPr rtlCol="0" anchor="ctr"/>
          <a:lstStyle/>
          <a:p>
            <a:pPr algn="ctr"/>
          </a:p>
        </p:txBody>
      </p:sp>
      <p:sp>
        <p:nvSpPr>
          <p:cNvPr id="14" name="Rounded Rectangle 13"/>
          <p:cNvSpPr/>
          <p:nvPr/>
        </p:nvSpPr>
        <p:spPr>
          <a:xfrm>
            <a:off x="7004304" y="1188719"/>
            <a:ext cx="1371600" cy="182880"/>
          </a:xfrm>
          <a:prstGeom prst="roundRect">
            <a:avLst>
              <a:gd name="adj" fmla="val 50000"/>
            </a:avLst>
          </a:prstGeom>
          <a:solidFill>
            <a:srgbClr val="C9821E"/>
          </a:solidFill>
          <a:ln>
            <a:noFill/>
          </a:ln>
        </p:spPr>
        <p:txBody>
          <a:bodyPr rtlCol="0" anchor="ctr"/>
          <a:lstStyle/>
          <a:p>
            <a:pPr algn="ctr"/>
          </a:p>
        </p:txBody>
      </p:sp>
      <p:sp>
        <p:nvSpPr>
          <p:cNvPr id="15" name="TextBox 14"/>
          <p:cNvSpPr txBox="1"/>
          <p:nvPr/>
        </p:nvSpPr>
        <p:spPr>
          <a:xfrm>
            <a:off x="700430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6" name="TextBox 15"/>
          <p:cNvSpPr txBox="1"/>
          <p:nvPr/>
        </p:nvSpPr>
        <p:spPr>
          <a:xfrm>
            <a:off x="4846320"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Qualitative examination</a:t>
            </a:r>
          </a:p>
        </p:txBody>
      </p:sp>
      <p:sp>
        <p:nvSpPr>
          <p:cNvPr id="17" name="TextBox 16"/>
          <p:cNvSpPr txBox="1"/>
          <p:nvPr/>
        </p:nvSpPr>
        <p:spPr>
          <a:xfrm>
            <a:off x="4846320" y="1700784"/>
            <a:ext cx="3474720" cy="73152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Brings the relationships, values, and purposes governing the action into view.</a:t>
            </a:r>
          </a:p>
        </p:txBody>
      </p:sp>
      <p:sp>
        <p:nvSpPr>
          <p:cNvPr id="18" name="TextBox 17"/>
          <p:cNvSpPr txBox="1"/>
          <p:nvPr/>
        </p:nvSpPr>
        <p:spPr>
          <a:xfrm>
            <a:off x="4297680" y="1664208"/>
            <a:ext cx="548640" cy="457200"/>
          </a:xfrm>
          <a:prstGeom prst="rect">
            <a:avLst/>
          </a:prstGeom>
          <a:noFill/>
        </p:spPr>
        <p:txBody>
          <a:bodyPr wrap="square" lIns="0" rIns="0" tIns="0" bIns="0" anchor="ctr">
            <a:noAutofit/>
          </a:bodyPr>
          <a:lstStyle/>
          <a:p>
            <a:pPr algn="ctr">
              <a:spcBef>
                <a:spcPts val="0"/>
              </a:spcBef>
              <a:spcAft>
                <a:spcPts val="0"/>
              </a:spcAft>
            </a:pPr>
            <a:r>
              <a:rPr sz="2200" b="1" i="0">
                <a:solidFill>
                  <a:srgbClr val="C9821E"/>
                </a:solidFill>
                <a:latin typeface="Calibri"/>
              </a:rPr>
              <a:t>→</a:t>
            </a:r>
          </a:p>
        </p:txBody>
      </p:sp>
      <p:sp>
        <p:nvSpPr>
          <p:cNvPr id="19" name="Rounded Rectangle 18"/>
          <p:cNvSpPr/>
          <p:nvPr/>
        </p:nvSpPr>
        <p:spPr>
          <a:xfrm>
            <a:off x="640080" y="2724912"/>
            <a:ext cx="7863840" cy="987552"/>
          </a:xfrm>
          <a:prstGeom prst="roundRect">
            <a:avLst>
              <a:gd name="adj" fmla="val 8000"/>
            </a:avLst>
          </a:prstGeom>
          <a:solidFill>
            <a:srgbClr val="EEF1F8"/>
          </a:solidFill>
          <a:ln>
            <a:noFill/>
          </a:ln>
        </p:spPr>
        <p:txBody>
          <a:bodyPr rtlCol="0" anchor="ctr"/>
          <a:lstStyle/>
          <a:p>
            <a:pPr algn="ctr"/>
          </a:p>
        </p:txBody>
      </p:sp>
      <p:sp>
        <p:nvSpPr>
          <p:cNvPr id="20" name="TextBox 19"/>
          <p:cNvSpPr txBox="1"/>
          <p:nvPr/>
        </p:nvSpPr>
        <p:spPr>
          <a:xfrm>
            <a:off x="868680" y="2798064"/>
            <a:ext cx="1828800" cy="84124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A repair budget</a:t>
            </a:r>
          </a:p>
        </p:txBody>
      </p:sp>
      <p:sp>
        <p:nvSpPr>
          <p:cNvPr id="21" name="TextBox 20"/>
          <p:cNvSpPr txBox="1"/>
          <p:nvPr/>
        </p:nvSpPr>
        <p:spPr>
          <a:xfrm>
            <a:off x="2651760" y="2798064"/>
            <a:ext cx="5669280" cy="841248"/>
          </a:xfrm>
          <a:prstGeom prst="rect">
            <a:avLst/>
          </a:prstGeom>
          <a:noFill/>
        </p:spPr>
        <p:txBody>
          <a:bodyPr wrap="square" lIns="0" rIns="0" tIns="0" bIns="0" anchor="ctr">
            <a:noAutofit/>
          </a:bodyPr>
          <a:lstStyle/>
          <a:p>
            <a:pPr algn="l">
              <a:spcBef>
                <a:spcPts val="0"/>
              </a:spcBef>
              <a:spcAft>
                <a:spcPts val="0"/>
              </a:spcAft>
            </a:pPr>
            <a:r>
              <a:rPr sz="1150" b="0" i="0">
                <a:solidFill>
                  <a:srgbClr val="5A6377"/>
                </a:solidFill>
                <a:latin typeface="Calibri"/>
              </a:rPr>
              <a:t>The cheapest option answers one question. The need served, the responsibility to those relying on the equipment, and continuity of provision establish </a:t>
            </a:r>
            <a:r>
              <a:rPr sz="1150" b="1" i="0">
                <a:solidFill>
                  <a:srgbClr val="5A6377"/>
                </a:solidFill>
                <a:latin typeface="Calibri"/>
              </a:rPr>
              <a:t>the purpose of the calculation</a:t>
            </a:r>
            <a:r>
              <a:rPr sz="1150" b="0" i="0">
                <a:solidFill>
                  <a:srgbClr val="5A6377"/>
                </a:solidFill>
                <a:latin typeface="Calibri"/>
              </a:rPr>
              <a:t>.</a:t>
            </a:r>
          </a:p>
        </p:txBody>
      </p:sp>
      <p:sp>
        <p:nvSpPr>
          <p:cNvPr id="22" name="Rounded Rectangle 21"/>
          <p:cNvSpPr/>
          <p:nvPr/>
        </p:nvSpPr>
        <p:spPr>
          <a:xfrm>
            <a:off x="640080" y="3931920"/>
            <a:ext cx="7863840" cy="566928"/>
          </a:xfrm>
          <a:prstGeom prst="roundRect">
            <a:avLst>
              <a:gd name="adj" fmla="val 18000"/>
            </a:avLst>
          </a:prstGeom>
          <a:solidFill>
            <a:srgbClr val="1E2447"/>
          </a:solidFill>
          <a:ln>
            <a:noFill/>
          </a:ln>
        </p:spPr>
        <p:txBody>
          <a:bodyPr rtlCol="0" anchor="ctr"/>
          <a:lstStyle/>
          <a:p>
            <a:pPr algn="ctr"/>
          </a:p>
        </p:txBody>
      </p:sp>
      <p:sp>
        <p:nvSpPr>
          <p:cNvPr id="23" name="TextBox 22"/>
          <p:cNvSpPr txBox="1"/>
          <p:nvPr/>
        </p:nvSpPr>
        <p:spPr>
          <a:xfrm>
            <a:off x="868680" y="3931920"/>
            <a:ext cx="7406640" cy="566928"/>
          </a:xfrm>
          <a:prstGeom prst="rect">
            <a:avLst/>
          </a:prstGeom>
          <a:noFill/>
        </p:spPr>
        <p:txBody>
          <a:bodyPr wrap="square" lIns="0" rIns="0" tIns="0" bIns="0" anchor="ctr">
            <a:noAutofit/>
          </a:bodyPr>
          <a:lstStyle/>
          <a:p>
            <a:pPr algn="ctr">
              <a:spcBef>
                <a:spcPts val="0"/>
              </a:spcBef>
              <a:spcAft>
                <a:spcPts val="0"/>
              </a:spcAft>
            </a:pPr>
            <a:r>
              <a:rPr sz="1200" b="0" i="0">
                <a:solidFill>
                  <a:srgbClr val="FFFFFF"/>
                </a:solidFill>
                <a:latin typeface="Calibri"/>
              </a:rPr>
              <a:t>Criteria enter as stated meanings; show evidence and inference for correction.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IV  ·  THE DECISIVE CHOICE  ·  §4</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Fork: Amplifier or Mirror</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Note §§4, 4.1, 4.3  ·  AnalyticMadhyasthDarshan.org  ·  15 / 31</a:t>
            </a:r>
          </a:p>
        </p:txBody>
      </p:sp>
      <p:sp>
        <p:nvSpPr>
          <p:cNvPr id="8" name="Rounded Rectangle 7"/>
          <p:cNvSpPr/>
          <p:nvPr/>
        </p:nvSpPr>
        <p:spPr>
          <a:xfrm>
            <a:off x="2011680" y="1234440"/>
            <a:ext cx="5120640" cy="658368"/>
          </a:xfrm>
          <a:prstGeom prst="roundRect">
            <a:avLst>
              <a:gd name="adj" fmla="val 14000"/>
            </a:avLst>
          </a:prstGeom>
          <a:solidFill>
            <a:srgbClr val="1E2447"/>
          </a:solidFill>
          <a:ln>
            <a:noFill/>
          </a:ln>
        </p:spPr>
        <p:txBody>
          <a:bodyPr rtlCol="0" anchor="ctr"/>
          <a:lstStyle/>
          <a:p>
            <a:pPr algn="ctr"/>
          </a:p>
        </p:txBody>
      </p:sp>
      <p:sp>
        <p:nvSpPr>
          <p:cNvPr id="9" name="TextBox 8"/>
          <p:cNvSpPr txBox="1"/>
          <p:nvPr/>
        </p:nvSpPr>
        <p:spPr>
          <a:xfrm>
            <a:off x="2066544" y="1234440"/>
            <a:ext cx="5010912" cy="658368"/>
          </a:xfrm>
          <a:prstGeom prst="rect">
            <a:avLst/>
          </a:prstGeom>
          <a:noFill/>
        </p:spPr>
        <p:txBody>
          <a:bodyPr wrap="square" lIns="0" rIns="0" tIns="0" bIns="0" anchor="ctr">
            <a:noAutofit/>
          </a:bodyPr>
          <a:lstStyle/>
          <a:p>
            <a:pPr algn="ctr">
              <a:spcBef>
                <a:spcPts val="0"/>
              </a:spcBef>
              <a:spcAft>
                <a:spcPts val="0"/>
              </a:spcAft>
            </a:pPr>
            <a:r>
              <a:rPr sz="1500" b="1" i="0">
                <a:solidFill>
                  <a:srgbClr val="FFFFFF"/>
                </a:solidFill>
                <a:latin typeface="Cambria"/>
              </a:rPr>
              <a:t>One capacity</a:t>
            </a:r>
          </a:p>
          <a:p>
            <a:pPr algn="ctr">
              <a:spcBef>
                <a:spcPts val="0"/>
              </a:spcBef>
              <a:spcAft>
                <a:spcPts val="0"/>
              </a:spcAft>
            </a:pPr>
            <a:r>
              <a:rPr sz="1100" b="0" i="1">
                <a:solidFill>
                  <a:srgbClr val="C9D4EF"/>
                </a:solidFill>
                <a:latin typeface="Calibri"/>
              </a:rPr>
              <a:t>memory  ·  personalisation  ·  planning  ·  automation</a:t>
            </a:r>
          </a:p>
        </p:txBody>
      </p:sp>
      <p:sp>
        <p:nvSpPr>
          <p:cNvPr id="10" name="Rounded Rectangle 9"/>
          <p:cNvSpPr/>
          <p:nvPr/>
        </p:nvSpPr>
        <p:spPr>
          <a:xfrm>
            <a:off x="7132320" y="1188720"/>
            <a:ext cx="1371600" cy="182880"/>
          </a:xfrm>
          <a:prstGeom prst="roundRect">
            <a:avLst>
              <a:gd name="adj" fmla="val 50000"/>
            </a:avLst>
          </a:prstGeom>
          <a:solidFill>
            <a:srgbClr val="C9821E"/>
          </a:solidFill>
          <a:ln>
            <a:noFill/>
          </a:ln>
        </p:spPr>
        <p:txBody>
          <a:bodyPr rtlCol="0" anchor="ctr"/>
          <a:lstStyle/>
          <a:p>
            <a:pPr algn="ctr"/>
          </a:p>
        </p:txBody>
      </p:sp>
      <p:sp>
        <p:nvSpPr>
          <p:cNvPr id="11" name="TextBox 10"/>
          <p:cNvSpPr txBox="1"/>
          <p:nvPr/>
        </p:nvSpPr>
        <p:spPr>
          <a:xfrm>
            <a:off x="7132320"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cxnSp>
        <p:nvCxnSpPr>
          <p:cNvPr id="12" name="Connector 11"/>
          <p:cNvCxnSpPr/>
          <p:nvPr/>
        </p:nvCxnSpPr>
        <p:spPr>
          <a:xfrm flipH="1">
            <a:off x="2560320" y="1920240"/>
            <a:ext cx="1097280" cy="411480"/>
          </a:xfrm>
          <a:prstGeom prst="line">
            <a:avLst/>
          </a:prstGeom>
          <a:ln w="25400">
            <a:solidFill>
              <a:srgbClr val="5A6377"/>
            </a:solidFill>
            <a:tailEnd type="triangle" w="med" h="med"/>
          </a:ln>
        </p:spPr>
      </p:cxnSp>
      <p:cxnSp>
        <p:nvCxnSpPr>
          <p:cNvPr id="13" name="Connector 12"/>
          <p:cNvCxnSpPr/>
          <p:nvPr/>
        </p:nvCxnSpPr>
        <p:spPr>
          <a:xfrm>
            <a:off x="5486400" y="1920240"/>
            <a:ext cx="1097280" cy="411480"/>
          </a:xfrm>
          <a:prstGeom prst="line">
            <a:avLst/>
          </a:prstGeom>
          <a:ln w="25400">
            <a:solidFill>
              <a:srgbClr val="C9821E"/>
            </a:solidFill>
            <a:tailEnd type="triangle" w="med" h="med"/>
          </a:ln>
        </p:spPr>
      </p:cxnSp>
      <p:sp>
        <p:nvSpPr>
          <p:cNvPr id="14" name="Rounded Rectangle 13"/>
          <p:cNvSpPr/>
          <p:nvPr/>
        </p:nvSpPr>
        <p:spPr>
          <a:xfrm>
            <a:off x="640080" y="2395728"/>
            <a:ext cx="3840480" cy="2103120"/>
          </a:xfrm>
          <a:prstGeom prst="roundRect">
            <a:avLst>
              <a:gd name="adj" fmla="val 6000"/>
            </a:avLst>
          </a:prstGeom>
          <a:solidFill>
            <a:srgbClr val="F1F2F4"/>
          </a:solidFill>
          <a:ln w="12700">
            <a:solidFill>
              <a:srgbClr val="5A6377"/>
            </a:solidFill>
          </a:ln>
        </p:spPr>
        <p:txBody>
          <a:bodyPr rtlCol="0" anchor="ctr"/>
          <a:lstStyle/>
          <a:p>
            <a:pPr algn="ctr"/>
          </a:p>
        </p:txBody>
      </p:sp>
      <p:sp>
        <p:nvSpPr>
          <p:cNvPr id="15" name="TextBox 14"/>
          <p:cNvSpPr txBox="1"/>
          <p:nvPr/>
        </p:nvSpPr>
        <p:spPr>
          <a:xfrm>
            <a:off x="841248" y="2487168"/>
            <a:ext cx="3474720" cy="329184"/>
          </a:xfrm>
          <a:prstGeom prst="rect">
            <a:avLst/>
          </a:prstGeom>
          <a:noFill/>
        </p:spPr>
        <p:txBody>
          <a:bodyPr wrap="square" lIns="0" rIns="0" tIns="0" bIns="0" anchor="ctr">
            <a:noAutofit/>
          </a:bodyPr>
          <a:lstStyle/>
          <a:p>
            <a:pPr algn="l">
              <a:spcBef>
                <a:spcPts val="0"/>
              </a:spcBef>
              <a:spcAft>
                <a:spcPts val="0"/>
              </a:spcAft>
            </a:pPr>
            <a:r>
              <a:rPr sz="1600" b="1" i="0">
                <a:solidFill>
                  <a:srgbClr val="1E2447"/>
                </a:solidFill>
                <a:latin typeface="Cambria"/>
              </a:rPr>
              <a:t>Amplified 4.5 machine</a:t>
            </a:r>
          </a:p>
        </p:txBody>
      </p:sp>
      <p:sp>
        <p:nvSpPr>
          <p:cNvPr id="16" name="TextBox 15"/>
          <p:cNvSpPr txBox="1"/>
          <p:nvPr/>
        </p:nvSpPr>
        <p:spPr>
          <a:xfrm>
            <a:off x="841248" y="2834640"/>
            <a:ext cx="3474720" cy="274320"/>
          </a:xfrm>
          <a:prstGeom prst="rect">
            <a:avLst/>
          </a:prstGeom>
          <a:noFill/>
        </p:spPr>
        <p:txBody>
          <a:bodyPr wrap="square" lIns="0" rIns="0" tIns="0" bIns="0" anchor="ctr">
            <a:noAutofit/>
          </a:bodyPr>
          <a:lstStyle/>
          <a:p>
            <a:pPr algn="l">
              <a:spcBef>
                <a:spcPts val="0"/>
              </a:spcBef>
              <a:spcAft>
                <a:spcPts val="0"/>
              </a:spcAft>
            </a:pPr>
            <a:r>
              <a:rPr sz="1150" b="0" i="1">
                <a:solidFill>
                  <a:srgbClr val="5A6377"/>
                </a:solidFill>
                <a:latin typeface="Calibri"/>
              </a:rPr>
              <a:t>Left to optimise restricted purposes</a:t>
            </a:r>
          </a:p>
        </p:txBody>
      </p:sp>
      <p:sp>
        <p:nvSpPr>
          <p:cNvPr id="17" name="Oval 16"/>
          <p:cNvSpPr/>
          <p:nvPr/>
        </p:nvSpPr>
        <p:spPr>
          <a:xfrm>
            <a:off x="868680" y="3268980"/>
            <a:ext cx="73152" cy="73152"/>
          </a:xfrm>
          <a:prstGeom prst="ellipse">
            <a:avLst/>
          </a:prstGeom>
          <a:solidFill>
            <a:srgbClr val="5A6377"/>
          </a:solidFill>
          <a:ln>
            <a:noFill/>
          </a:ln>
        </p:spPr>
        <p:txBody>
          <a:bodyPr rtlCol="0" anchor="ctr"/>
          <a:lstStyle/>
          <a:p>
            <a:pPr algn="ctr"/>
          </a:p>
        </p:txBody>
      </p:sp>
      <p:sp>
        <p:nvSpPr>
          <p:cNvPr id="18" name="TextBox 17"/>
          <p:cNvSpPr txBox="1"/>
          <p:nvPr/>
        </p:nvSpPr>
        <p:spPr>
          <a:xfrm>
            <a:off x="1033271" y="3200400"/>
            <a:ext cx="3310127" cy="38404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Memory carries the purpose across occasions</a:t>
            </a:r>
          </a:p>
        </p:txBody>
      </p:sp>
      <p:sp>
        <p:nvSpPr>
          <p:cNvPr id="19" name="Oval 18"/>
          <p:cNvSpPr/>
          <p:nvPr/>
        </p:nvSpPr>
        <p:spPr>
          <a:xfrm>
            <a:off x="868680" y="3671315"/>
            <a:ext cx="73152" cy="73152"/>
          </a:xfrm>
          <a:prstGeom prst="ellipse">
            <a:avLst/>
          </a:prstGeom>
          <a:solidFill>
            <a:srgbClr val="5A6377"/>
          </a:solidFill>
          <a:ln>
            <a:noFill/>
          </a:ln>
        </p:spPr>
        <p:txBody>
          <a:bodyPr rtlCol="0" anchor="ctr"/>
          <a:lstStyle/>
          <a:p>
            <a:pPr algn="ctr"/>
          </a:p>
        </p:txBody>
      </p:sp>
      <p:sp>
        <p:nvSpPr>
          <p:cNvPr id="20" name="TextBox 19"/>
          <p:cNvSpPr txBox="1"/>
          <p:nvPr/>
        </p:nvSpPr>
        <p:spPr>
          <a:xfrm>
            <a:off x="1033271" y="3602736"/>
            <a:ext cx="3310127" cy="38404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Personalisation adapts persuasion</a:t>
            </a:r>
          </a:p>
        </p:txBody>
      </p:sp>
      <p:sp>
        <p:nvSpPr>
          <p:cNvPr id="21" name="Oval 20"/>
          <p:cNvSpPr/>
          <p:nvPr/>
        </p:nvSpPr>
        <p:spPr>
          <a:xfrm>
            <a:off x="868680" y="4073652"/>
            <a:ext cx="73152" cy="73152"/>
          </a:xfrm>
          <a:prstGeom prst="ellipse">
            <a:avLst/>
          </a:prstGeom>
          <a:solidFill>
            <a:srgbClr val="5A6377"/>
          </a:solidFill>
          <a:ln>
            <a:noFill/>
          </a:ln>
        </p:spPr>
        <p:txBody>
          <a:bodyPr rtlCol="0" anchor="ctr"/>
          <a:lstStyle/>
          <a:p>
            <a:pPr algn="ctr"/>
          </a:p>
        </p:txBody>
      </p:sp>
      <p:sp>
        <p:nvSpPr>
          <p:cNvPr id="22" name="TextBox 21"/>
          <p:cNvSpPr txBox="1"/>
          <p:nvPr/>
        </p:nvSpPr>
        <p:spPr>
          <a:xfrm>
            <a:off x="1033271" y="4005072"/>
            <a:ext cx="3310127" cy="38404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Planning and automation extend its reach</a:t>
            </a:r>
          </a:p>
        </p:txBody>
      </p:sp>
      <p:sp>
        <p:nvSpPr>
          <p:cNvPr id="23" name="Rounded Rectangle 22"/>
          <p:cNvSpPr/>
          <p:nvPr/>
        </p:nvSpPr>
        <p:spPr>
          <a:xfrm>
            <a:off x="4663440" y="2395728"/>
            <a:ext cx="3840480" cy="2103120"/>
          </a:xfrm>
          <a:prstGeom prst="roundRect">
            <a:avLst>
              <a:gd name="adj" fmla="val 6000"/>
            </a:avLst>
          </a:prstGeom>
          <a:solidFill>
            <a:srgbClr val="FAF1DF"/>
          </a:solidFill>
          <a:ln w="12700">
            <a:solidFill>
              <a:srgbClr val="C9821E"/>
            </a:solidFill>
          </a:ln>
        </p:spPr>
        <p:txBody>
          <a:bodyPr rtlCol="0" anchor="ctr"/>
          <a:lstStyle/>
          <a:p>
            <a:pPr algn="ctr"/>
          </a:p>
        </p:txBody>
      </p:sp>
      <p:sp>
        <p:nvSpPr>
          <p:cNvPr id="24" name="TextBox 23"/>
          <p:cNvSpPr txBox="1"/>
          <p:nvPr/>
        </p:nvSpPr>
        <p:spPr>
          <a:xfrm>
            <a:off x="4864608" y="2487168"/>
            <a:ext cx="3474720" cy="329184"/>
          </a:xfrm>
          <a:prstGeom prst="rect">
            <a:avLst/>
          </a:prstGeom>
          <a:noFill/>
        </p:spPr>
        <p:txBody>
          <a:bodyPr wrap="square" lIns="0" rIns="0" tIns="0" bIns="0" anchor="ctr">
            <a:noAutofit/>
          </a:bodyPr>
          <a:lstStyle/>
          <a:p>
            <a:pPr algn="l">
              <a:spcBef>
                <a:spcPts val="0"/>
              </a:spcBef>
              <a:spcAft>
                <a:spcPts val="0"/>
              </a:spcAft>
            </a:pPr>
            <a:r>
              <a:rPr sz="1600" b="1" i="0">
                <a:solidFill>
                  <a:srgbClr val="9A6414"/>
                </a:solidFill>
                <a:latin typeface="Cambria"/>
              </a:rPr>
              <a:t>Diagnostic mirror</a:t>
            </a:r>
          </a:p>
        </p:txBody>
      </p:sp>
      <p:sp>
        <p:nvSpPr>
          <p:cNvPr id="25" name="TextBox 24"/>
          <p:cNvSpPr txBox="1"/>
          <p:nvPr/>
        </p:nvSpPr>
        <p:spPr>
          <a:xfrm>
            <a:off x="4864608" y="2834640"/>
            <a:ext cx="3474720" cy="274320"/>
          </a:xfrm>
          <a:prstGeom prst="rect">
            <a:avLst/>
          </a:prstGeom>
          <a:noFill/>
        </p:spPr>
        <p:txBody>
          <a:bodyPr wrap="square" lIns="0" rIns="0" tIns="0" bIns="0" anchor="ctr">
            <a:noAutofit/>
          </a:bodyPr>
          <a:lstStyle/>
          <a:p>
            <a:pPr algn="l">
              <a:spcBef>
                <a:spcPts val="0"/>
              </a:spcBef>
              <a:spcAft>
                <a:spcPts val="0"/>
              </a:spcAft>
            </a:pPr>
            <a:r>
              <a:rPr sz="1150" b="0" i="1">
                <a:solidFill>
                  <a:srgbClr val="9A6414"/>
                </a:solidFill>
                <a:latin typeface="Calibri"/>
              </a:rPr>
              <a:t>Prepared with the texts; directed by humane criteria</a:t>
            </a:r>
          </a:p>
        </p:txBody>
      </p:sp>
      <p:sp>
        <p:nvSpPr>
          <p:cNvPr id="26" name="Oval 25"/>
          <p:cNvSpPr/>
          <p:nvPr/>
        </p:nvSpPr>
        <p:spPr>
          <a:xfrm>
            <a:off x="4892040" y="3268980"/>
            <a:ext cx="73152" cy="73152"/>
          </a:xfrm>
          <a:prstGeom prst="ellipse">
            <a:avLst/>
          </a:prstGeom>
          <a:solidFill>
            <a:srgbClr val="C9821E"/>
          </a:solidFill>
          <a:ln>
            <a:noFill/>
          </a:ln>
        </p:spPr>
        <p:txBody>
          <a:bodyPr rtlCol="0" anchor="ctr"/>
          <a:lstStyle/>
          <a:p>
            <a:pPr algn="ctr"/>
          </a:p>
        </p:txBody>
      </p:sp>
      <p:sp>
        <p:nvSpPr>
          <p:cNvPr id="27" name="TextBox 26"/>
          <p:cNvSpPr txBox="1"/>
          <p:nvPr/>
        </p:nvSpPr>
        <p:spPr>
          <a:xfrm>
            <a:off x="5056631" y="3200400"/>
            <a:ext cx="3310127" cy="38404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Assumptions taken for granted</a:t>
            </a:r>
          </a:p>
        </p:txBody>
      </p:sp>
      <p:sp>
        <p:nvSpPr>
          <p:cNvPr id="28" name="Oval 27"/>
          <p:cNvSpPr/>
          <p:nvPr/>
        </p:nvSpPr>
        <p:spPr>
          <a:xfrm>
            <a:off x="4892040" y="3671315"/>
            <a:ext cx="73152" cy="73152"/>
          </a:xfrm>
          <a:prstGeom prst="ellipse">
            <a:avLst/>
          </a:prstGeom>
          <a:solidFill>
            <a:srgbClr val="C9821E"/>
          </a:solidFill>
          <a:ln>
            <a:noFill/>
          </a:ln>
        </p:spPr>
        <p:txBody>
          <a:bodyPr rtlCol="0" anchor="ctr"/>
          <a:lstStyle/>
          <a:p>
            <a:pPr algn="ctr"/>
          </a:p>
        </p:txBody>
      </p:sp>
      <p:sp>
        <p:nvSpPr>
          <p:cNvPr id="29" name="TextBox 28"/>
          <p:cNvSpPr txBox="1"/>
          <p:nvPr/>
        </p:nvSpPr>
        <p:spPr>
          <a:xfrm>
            <a:off x="5056631" y="3602736"/>
            <a:ext cx="3310127" cy="38404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Relationships and costs omitted</a:t>
            </a:r>
          </a:p>
        </p:txBody>
      </p:sp>
      <p:sp>
        <p:nvSpPr>
          <p:cNvPr id="30" name="Oval 29"/>
          <p:cNvSpPr/>
          <p:nvPr/>
        </p:nvSpPr>
        <p:spPr>
          <a:xfrm>
            <a:off x="4892040" y="4073652"/>
            <a:ext cx="73152" cy="73152"/>
          </a:xfrm>
          <a:prstGeom prst="ellipse">
            <a:avLst/>
          </a:prstGeom>
          <a:solidFill>
            <a:srgbClr val="C9821E"/>
          </a:solidFill>
          <a:ln>
            <a:noFill/>
          </a:ln>
        </p:spPr>
        <p:txBody>
          <a:bodyPr rtlCol="0" anchor="ctr"/>
          <a:lstStyle/>
          <a:p>
            <a:pPr algn="ctr"/>
          </a:p>
        </p:txBody>
      </p:sp>
      <p:sp>
        <p:nvSpPr>
          <p:cNvPr id="31" name="TextBox 30"/>
          <p:cNvSpPr txBox="1"/>
          <p:nvPr/>
        </p:nvSpPr>
        <p:spPr>
          <a:xfrm>
            <a:off x="5056631" y="4005072"/>
            <a:ext cx="3310127" cy="384048"/>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Consequences of the purpose itself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IV  ·  AMPLIFICATION  ·  §4.1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How the Amplified 4.5 Machine Works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Sharma et al. 2023/2025  ·  Note §4.1  ·  AnalyticMadhyasthDarshan.org  ·  16 / 31</a:t>
            </a:r>
          </a:p>
        </p:txBody>
      </p:sp>
      <p:sp>
        <p:nvSpPr>
          <p:cNvPr id="8" name="Rounded Rectangle 7"/>
          <p:cNvSpPr/>
          <p:nvPr/>
        </p:nvSpPr>
        <p:spPr>
          <a:xfrm>
            <a:off x="640080" y="1188720"/>
            <a:ext cx="1371600" cy="182880"/>
          </a:xfrm>
          <a:prstGeom prst="roundRect">
            <a:avLst>
              <a:gd name="adj" fmla="val 50000"/>
            </a:avLst>
          </a:prstGeom>
          <a:solidFill>
            <a:srgbClr val="C9821E"/>
          </a:solidFill>
          <a:ln>
            <a:noFill/>
          </a:ln>
        </p:spPr>
        <p:txBody>
          <a:bodyPr rtlCol="0" anchor="ctr"/>
          <a:lstStyle/>
          <a:p>
            <a:pPr algn="ctr"/>
          </a:p>
        </p:txBody>
      </p:sp>
      <p:sp>
        <p:nvSpPr>
          <p:cNvPr id="9" name="TextBox 8"/>
          <p:cNvSpPr txBox="1"/>
          <p:nvPr/>
        </p:nvSpPr>
        <p:spPr>
          <a:xfrm>
            <a:off x="640080"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0" name="TextBox 9"/>
          <p:cNvSpPr txBox="1"/>
          <p:nvPr/>
        </p:nvSpPr>
        <p:spPr>
          <a:xfrm>
            <a:off x="2194560" y="2240280"/>
            <a:ext cx="1097280" cy="457200"/>
          </a:xfrm>
          <a:prstGeom prst="rect">
            <a:avLst/>
          </a:prstGeom>
          <a:noFill/>
        </p:spPr>
        <p:txBody>
          <a:bodyPr wrap="square" lIns="0" rIns="0" tIns="0" bIns="0" anchor="ctr">
            <a:noAutofit/>
          </a:bodyPr>
          <a:lstStyle/>
          <a:p>
            <a:pPr algn="ctr">
              <a:spcBef>
                <a:spcPts val="0"/>
              </a:spcBef>
              <a:spcAft>
                <a:spcPts val="0"/>
              </a:spcAft>
            </a:pPr>
            <a:r>
              <a:rPr sz="1200" b="1" i="0">
                <a:solidFill>
                  <a:srgbClr val="1E2447"/>
                </a:solidFill>
                <a:latin typeface="Cambria"/>
              </a:rPr>
              <a:t>Grievance</a:t>
            </a:r>
          </a:p>
          <a:p>
            <a:pPr algn="ctr">
              <a:spcBef>
                <a:spcPts val="0"/>
              </a:spcBef>
              <a:spcAft>
                <a:spcPts val="0"/>
              </a:spcAft>
            </a:pPr>
            <a:r>
              <a:rPr sz="1200" b="1" i="0">
                <a:solidFill>
                  <a:srgbClr val="1E2447"/>
                </a:solidFill>
                <a:latin typeface="Cambria"/>
              </a:rPr>
              <a:t>loop</a:t>
            </a:r>
          </a:p>
        </p:txBody>
      </p:sp>
      <p:sp>
        <p:nvSpPr>
          <p:cNvPr id="11" name="Rounded Rectangle 10"/>
          <p:cNvSpPr/>
          <p:nvPr/>
        </p:nvSpPr>
        <p:spPr>
          <a:xfrm>
            <a:off x="2057400" y="1280160"/>
            <a:ext cx="1371600" cy="548640"/>
          </a:xfrm>
          <a:prstGeom prst="roundRect">
            <a:avLst>
              <a:gd name="adj" fmla="val 14000"/>
            </a:avLst>
          </a:prstGeom>
          <a:solidFill>
            <a:srgbClr val="3B4A7A"/>
          </a:solidFill>
          <a:ln>
            <a:noFill/>
          </a:ln>
        </p:spPr>
        <p:txBody>
          <a:bodyPr rtlCol="0" anchor="ctr"/>
          <a:lstStyle/>
          <a:p>
            <a:pPr algn="ctr"/>
          </a:p>
        </p:txBody>
      </p:sp>
      <p:sp>
        <p:nvSpPr>
          <p:cNvPr id="12" name="TextBox 11"/>
          <p:cNvSpPr txBox="1"/>
          <p:nvPr/>
        </p:nvSpPr>
        <p:spPr>
          <a:xfrm>
            <a:off x="2112264" y="1280160"/>
            <a:ext cx="1261872" cy="548640"/>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Select confirming material</a:t>
            </a:r>
          </a:p>
        </p:txBody>
      </p:sp>
      <p:sp>
        <p:nvSpPr>
          <p:cNvPr id="13" name="Rounded Rectangle 12"/>
          <p:cNvSpPr/>
          <p:nvPr/>
        </p:nvSpPr>
        <p:spPr>
          <a:xfrm>
            <a:off x="3429000" y="2194560"/>
            <a:ext cx="1371600" cy="548640"/>
          </a:xfrm>
          <a:prstGeom prst="roundRect">
            <a:avLst>
              <a:gd name="adj" fmla="val 14000"/>
            </a:avLst>
          </a:prstGeom>
          <a:solidFill>
            <a:srgbClr val="3B4A7A"/>
          </a:solidFill>
          <a:ln>
            <a:noFill/>
          </a:ln>
        </p:spPr>
        <p:txBody>
          <a:bodyPr rtlCol="0" anchor="ctr"/>
          <a:lstStyle/>
          <a:p>
            <a:pPr algn="ctr"/>
          </a:p>
        </p:txBody>
      </p:sp>
      <p:sp>
        <p:nvSpPr>
          <p:cNvPr id="14" name="TextBox 13"/>
          <p:cNvSpPr txBox="1"/>
          <p:nvPr/>
        </p:nvSpPr>
        <p:spPr>
          <a:xfrm>
            <a:off x="3483864" y="2194560"/>
            <a:ext cx="1261872" cy="548640"/>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Compose a persuasive account</a:t>
            </a:r>
          </a:p>
        </p:txBody>
      </p:sp>
      <p:sp>
        <p:nvSpPr>
          <p:cNvPr id="15" name="Rounded Rectangle 14"/>
          <p:cNvSpPr/>
          <p:nvPr/>
        </p:nvSpPr>
        <p:spPr>
          <a:xfrm>
            <a:off x="2057400" y="3108960"/>
            <a:ext cx="1371600" cy="548640"/>
          </a:xfrm>
          <a:prstGeom prst="roundRect">
            <a:avLst>
              <a:gd name="adj" fmla="val 14000"/>
            </a:avLst>
          </a:prstGeom>
          <a:solidFill>
            <a:srgbClr val="3B4A7A"/>
          </a:solidFill>
          <a:ln>
            <a:noFill/>
          </a:ln>
        </p:spPr>
        <p:txBody>
          <a:bodyPr rtlCol="0" anchor="ctr"/>
          <a:lstStyle/>
          <a:p>
            <a:pPr algn="ctr"/>
          </a:p>
        </p:txBody>
      </p:sp>
      <p:sp>
        <p:nvSpPr>
          <p:cNvPr id="16" name="TextBox 15"/>
          <p:cNvSpPr txBox="1"/>
          <p:nvPr/>
        </p:nvSpPr>
        <p:spPr>
          <a:xfrm>
            <a:off x="2112264" y="3108960"/>
            <a:ext cx="1261872" cy="548640"/>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Record the user's agreement</a:t>
            </a:r>
          </a:p>
        </p:txBody>
      </p:sp>
      <p:sp>
        <p:nvSpPr>
          <p:cNvPr id="17" name="Rounded Rectangle 16"/>
          <p:cNvSpPr/>
          <p:nvPr/>
        </p:nvSpPr>
        <p:spPr>
          <a:xfrm>
            <a:off x="685800" y="2194560"/>
            <a:ext cx="1371600" cy="548640"/>
          </a:xfrm>
          <a:prstGeom prst="roundRect">
            <a:avLst>
              <a:gd name="adj" fmla="val 14000"/>
            </a:avLst>
          </a:prstGeom>
          <a:solidFill>
            <a:srgbClr val="3B4A7A"/>
          </a:solidFill>
          <a:ln>
            <a:noFill/>
          </a:ln>
        </p:spPr>
        <p:txBody>
          <a:bodyPr rtlCol="0" anchor="ctr"/>
          <a:lstStyle/>
          <a:p>
            <a:pPr algn="ctr"/>
          </a:p>
        </p:txBody>
      </p:sp>
      <p:sp>
        <p:nvSpPr>
          <p:cNvPr id="18" name="TextBox 17"/>
          <p:cNvSpPr txBox="1"/>
          <p:nvPr/>
        </p:nvSpPr>
        <p:spPr>
          <a:xfrm>
            <a:off x="740664" y="2194560"/>
            <a:ext cx="1261872" cy="548640"/>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Reuse agreement as evidence</a:t>
            </a:r>
          </a:p>
        </p:txBody>
      </p:sp>
      <p:cxnSp>
        <p:nvCxnSpPr>
          <p:cNvPr id="19" name="Connector 18"/>
          <p:cNvCxnSpPr/>
          <p:nvPr/>
        </p:nvCxnSpPr>
        <p:spPr>
          <a:xfrm>
            <a:off x="3474720" y="1691640"/>
            <a:ext cx="502919" cy="475488"/>
          </a:xfrm>
          <a:prstGeom prst="line">
            <a:avLst/>
          </a:prstGeom>
          <a:ln w="22225">
            <a:solidFill>
              <a:srgbClr val="C9821E"/>
            </a:solidFill>
            <a:tailEnd type="triangle" w="med" h="med"/>
          </a:ln>
        </p:spPr>
      </p:cxnSp>
      <p:cxnSp>
        <p:nvCxnSpPr>
          <p:cNvPr id="20" name="Connector 19"/>
          <p:cNvCxnSpPr/>
          <p:nvPr/>
        </p:nvCxnSpPr>
        <p:spPr>
          <a:xfrm flipH="1">
            <a:off x="3474720" y="2770632"/>
            <a:ext cx="502919" cy="384048"/>
          </a:xfrm>
          <a:prstGeom prst="line">
            <a:avLst/>
          </a:prstGeom>
          <a:ln w="22225">
            <a:solidFill>
              <a:srgbClr val="C9821E"/>
            </a:solidFill>
            <a:tailEnd type="triangle" w="med" h="med"/>
          </a:ln>
        </p:spPr>
      </p:cxnSp>
      <p:cxnSp>
        <p:nvCxnSpPr>
          <p:cNvPr id="21" name="Connector 20"/>
          <p:cNvCxnSpPr/>
          <p:nvPr/>
        </p:nvCxnSpPr>
        <p:spPr>
          <a:xfrm flipH="1" flipV="1">
            <a:off x="1508760" y="2770632"/>
            <a:ext cx="502920" cy="384048"/>
          </a:xfrm>
          <a:prstGeom prst="line">
            <a:avLst/>
          </a:prstGeom>
          <a:ln w="22225">
            <a:solidFill>
              <a:srgbClr val="C9821E"/>
            </a:solidFill>
            <a:tailEnd type="triangle" w="med" h="med"/>
          </a:ln>
        </p:spPr>
      </p:cxnSp>
      <p:cxnSp>
        <p:nvCxnSpPr>
          <p:cNvPr id="22" name="Connector 21"/>
          <p:cNvCxnSpPr/>
          <p:nvPr/>
        </p:nvCxnSpPr>
        <p:spPr>
          <a:xfrm flipV="1">
            <a:off x="1508760" y="1691640"/>
            <a:ext cx="502920" cy="475488"/>
          </a:xfrm>
          <a:prstGeom prst="line">
            <a:avLst/>
          </a:prstGeom>
          <a:ln w="22225">
            <a:solidFill>
              <a:srgbClr val="C9821E"/>
            </a:solidFill>
            <a:tailEnd type="triangle" w="med" h="med"/>
          </a:ln>
        </p:spPr>
      </p:cxnSp>
      <p:sp>
        <p:nvSpPr>
          <p:cNvPr id="23" name="Rounded Rectangle 22"/>
          <p:cNvSpPr/>
          <p:nvPr/>
        </p:nvSpPr>
        <p:spPr>
          <a:xfrm>
            <a:off x="5029200" y="1280160"/>
            <a:ext cx="3474720" cy="1097280"/>
          </a:xfrm>
          <a:prstGeom prst="roundRect">
            <a:avLst>
              <a:gd name="adj" fmla="val 7000"/>
            </a:avLst>
          </a:prstGeom>
          <a:solidFill>
            <a:srgbClr val="F1F2F4"/>
          </a:solidFill>
          <a:ln>
            <a:noFill/>
          </a:ln>
        </p:spPr>
        <p:txBody>
          <a:bodyPr rtlCol="0" anchor="ctr"/>
          <a:lstStyle/>
          <a:p>
            <a:pPr algn="ctr"/>
          </a:p>
        </p:txBody>
      </p:sp>
      <p:sp>
        <p:nvSpPr>
          <p:cNvPr id="24" name="Rounded Rectangle 23"/>
          <p:cNvSpPr/>
          <p:nvPr/>
        </p:nvSpPr>
        <p:spPr>
          <a:xfrm>
            <a:off x="7662672" y="1188719"/>
            <a:ext cx="713232" cy="182880"/>
          </a:xfrm>
          <a:prstGeom prst="roundRect">
            <a:avLst>
              <a:gd name="adj" fmla="val 50000"/>
            </a:avLst>
          </a:prstGeom>
          <a:solidFill>
            <a:srgbClr val="7A8295"/>
          </a:solidFill>
          <a:ln>
            <a:noFill/>
          </a:ln>
        </p:spPr>
        <p:txBody>
          <a:bodyPr rtlCol="0" anchor="ctr"/>
          <a:lstStyle/>
          <a:p>
            <a:pPr algn="ctr"/>
          </a:p>
        </p:txBody>
      </p:sp>
      <p:sp>
        <p:nvSpPr>
          <p:cNvPr id="25" name="TextBox 24"/>
          <p:cNvSpPr txBox="1"/>
          <p:nvPr/>
        </p:nvSpPr>
        <p:spPr>
          <a:xfrm>
            <a:off x="7662672" y="1188719"/>
            <a:ext cx="713232"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RESEARCH</a:t>
            </a:r>
          </a:p>
        </p:txBody>
      </p:sp>
      <p:sp>
        <p:nvSpPr>
          <p:cNvPr id="26" name="TextBox 25"/>
          <p:cNvSpPr txBox="1"/>
          <p:nvPr/>
        </p:nvSpPr>
        <p:spPr>
          <a:xfrm>
            <a:off x="5212080" y="1399031"/>
            <a:ext cx="310896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Agreement over truth</a:t>
            </a:r>
          </a:p>
        </p:txBody>
      </p:sp>
      <p:sp>
        <p:nvSpPr>
          <p:cNvPr id="27" name="TextBox 26"/>
          <p:cNvSpPr txBox="1"/>
          <p:nvPr/>
        </p:nvSpPr>
        <p:spPr>
          <a:xfrm>
            <a:off x="5212080" y="1700784"/>
            <a:ext cx="3108960" cy="58521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Five tested assistants favoured user agreement at the expense of truthfulness.</a:t>
            </a:r>
          </a:p>
        </p:txBody>
      </p:sp>
      <p:sp>
        <p:nvSpPr>
          <p:cNvPr id="28" name="Rounded Rectangle 27"/>
          <p:cNvSpPr/>
          <p:nvPr/>
        </p:nvSpPr>
        <p:spPr>
          <a:xfrm>
            <a:off x="5029200" y="2542032"/>
            <a:ext cx="3474720" cy="1298448"/>
          </a:xfrm>
          <a:prstGeom prst="roundRect">
            <a:avLst>
              <a:gd name="adj" fmla="val 7000"/>
            </a:avLst>
          </a:prstGeom>
          <a:solidFill>
            <a:srgbClr val="FAF1DF"/>
          </a:solidFill>
          <a:ln>
            <a:noFill/>
          </a:ln>
        </p:spPr>
        <p:txBody>
          <a:bodyPr rtlCol="0" anchor="ctr"/>
          <a:lstStyle/>
          <a:p>
            <a:pPr algn="ctr"/>
          </a:p>
        </p:txBody>
      </p:sp>
      <p:sp>
        <p:nvSpPr>
          <p:cNvPr id="29" name="Rounded Rectangle 28"/>
          <p:cNvSpPr/>
          <p:nvPr/>
        </p:nvSpPr>
        <p:spPr>
          <a:xfrm>
            <a:off x="7004304" y="2450591"/>
            <a:ext cx="1371600" cy="182880"/>
          </a:xfrm>
          <a:prstGeom prst="roundRect">
            <a:avLst>
              <a:gd name="adj" fmla="val 50000"/>
            </a:avLst>
          </a:prstGeom>
          <a:solidFill>
            <a:srgbClr val="C9821E"/>
          </a:solidFill>
          <a:ln>
            <a:noFill/>
          </a:ln>
        </p:spPr>
        <p:txBody>
          <a:bodyPr rtlCol="0" anchor="ctr"/>
          <a:lstStyle/>
          <a:p>
            <a:pPr algn="ctr"/>
          </a:p>
        </p:txBody>
      </p:sp>
      <p:sp>
        <p:nvSpPr>
          <p:cNvPr id="30" name="TextBox 29"/>
          <p:cNvSpPr txBox="1"/>
          <p:nvPr/>
        </p:nvSpPr>
        <p:spPr>
          <a:xfrm>
            <a:off x="7004304" y="2450591"/>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31" name="TextBox 30"/>
          <p:cNvSpPr txBox="1"/>
          <p:nvPr/>
        </p:nvSpPr>
        <p:spPr>
          <a:xfrm>
            <a:off x="5212080" y="2660903"/>
            <a:ext cx="310896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Three levels of purpose</a:t>
            </a:r>
          </a:p>
        </p:txBody>
      </p:sp>
      <p:sp>
        <p:nvSpPr>
          <p:cNvPr id="32" name="TextBox 31"/>
          <p:cNvSpPr txBox="1"/>
          <p:nvPr/>
        </p:nvSpPr>
        <p:spPr>
          <a:xfrm>
            <a:off x="5212080" y="2962656"/>
            <a:ext cx="3108960" cy="78638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The user, the assistant, and the provider: rewards for longer use or frequent replacement drive the same loop.</a:t>
            </a:r>
          </a:p>
        </p:txBody>
      </p:sp>
      <p:sp>
        <p:nvSpPr>
          <p:cNvPr id="33" name="Rounded Rectangle 32"/>
          <p:cNvSpPr/>
          <p:nvPr/>
        </p:nvSpPr>
        <p:spPr>
          <a:xfrm>
            <a:off x="640080" y="4041648"/>
            <a:ext cx="7863840" cy="548640"/>
          </a:xfrm>
          <a:prstGeom prst="roundRect">
            <a:avLst>
              <a:gd name="adj" fmla="val 18000"/>
            </a:avLst>
          </a:prstGeom>
          <a:solidFill>
            <a:srgbClr val="1E2447"/>
          </a:solidFill>
          <a:ln>
            <a:noFill/>
          </a:ln>
        </p:spPr>
        <p:txBody>
          <a:bodyPr rtlCol="0" anchor="ctr"/>
          <a:lstStyle/>
          <a:p>
            <a:pPr algn="ctr"/>
          </a:p>
        </p:txBody>
      </p:sp>
      <p:sp>
        <p:nvSpPr>
          <p:cNvPr id="34" name="TextBox 33"/>
          <p:cNvSpPr txBox="1"/>
          <p:nvPr/>
        </p:nvSpPr>
        <p:spPr>
          <a:xfrm>
            <a:off x="868680" y="4041648"/>
            <a:ext cx="7406640" cy="548640"/>
          </a:xfrm>
          <a:prstGeom prst="rect">
            <a:avLst/>
          </a:prstGeom>
          <a:noFill/>
        </p:spPr>
        <p:txBody>
          <a:bodyPr wrap="square" lIns="0" rIns="0" tIns="0" bIns="0" anchor="ctr">
            <a:noAutofit/>
          </a:bodyPr>
          <a:lstStyle/>
          <a:p>
            <a:pPr algn="ctr">
              <a:spcBef>
                <a:spcPts val="0"/>
              </a:spcBef>
              <a:spcAft>
                <a:spcPts val="0"/>
              </a:spcAft>
            </a:pPr>
            <a:r>
              <a:rPr sz="1200" b="0" i="0">
                <a:solidFill>
                  <a:srgbClr val="FFFFFF"/>
                </a:solidFill>
                <a:latin typeface="Calibri"/>
              </a:rPr>
              <a:t>Harmful purposes + large-scale automation + delegated power: the consequences can be catastrophic.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IV  ·  THREE PATHWAYS  ·  §4.2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Pleasure, Gain, and Fear</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89, 100, 126  ·  JV pp. 38, 71, 150–151  ·  FTC 2024  ·  ICRC 2021  ·  AnalyticMadhyasthDarshan.org  ·  17 / 31</a:t>
            </a:r>
          </a:p>
        </p:txBody>
      </p:sp>
      <p:sp>
        <p:nvSpPr>
          <p:cNvPr id="8" name="Rounded Rectangle 7"/>
          <p:cNvSpPr/>
          <p:nvPr/>
        </p:nvSpPr>
        <p:spPr>
          <a:xfrm>
            <a:off x="7132320" y="1042415"/>
            <a:ext cx="1371600" cy="182880"/>
          </a:xfrm>
          <a:prstGeom prst="roundRect">
            <a:avLst>
              <a:gd name="adj" fmla="val 50000"/>
            </a:avLst>
          </a:prstGeom>
          <a:solidFill>
            <a:srgbClr val="C9821E"/>
          </a:solidFill>
          <a:ln>
            <a:noFill/>
          </a:ln>
        </p:spPr>
        <p:txBody>
          <a:bodyPr rtlCol="0" anchor="ctr"/>
          <a:lstStyle/>
          <a:p>
            <a:pPr algn="ctr"/>
          </a:p>
        </p:txBody>
      </p:sp>
      <p:sp>
        <p:nvSpPr>
          <p:cNvPr id="9" name="TextBox 8"/>
          <p:cNvSpPr txBox="1"/>
          <p:nvPr/>
        </p:nvSpPr>
        <p:spPr>
          <a:xfrm>
            <a:off x="7132320" y="1042415"/>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0" name="Rectangle 9"/>
          <p:cNvSpPr/>
          <p:nvPr/>
        </p:nvSpPr>
        <p:spPr>
          <a:xfrm>
            <a:off x="640080" y="1280160"/>
            <a:ext cx="7863840" cy="292608"/>
          </a:xfrm>
          <a:prstGeom prst="rect">
            <a:avLst/>
          </a:prstGeom>
          <a:solidFill>
            <a:srgbClr val="1E2447"/>
          </a:solidFill>
          <a:ln>
            <a:noFill/>
          </a:ln>
        </p:spPr>
        <p:txBody>
          <a:bodyPr rtlCol="0" anchor="ctr"/>
          <a:lstStyle/>
          <a:p>
            <a:pPr algn="ctr"/>
          </a:p>
        </p:txBody>
      </p:sp>
      <p:sp>
        <p:nvSpPr>
          <p:cNvPr id="11" name="TextBox 10"/>
          <p:cNvSpPr txBox="1"/>
          <p:nvPr/>
        </p:nvSpPr>
        <p:spPr>
          <a:xfrm>
            <a:off x="731519" y="1280160"/>
            <a:ext cx="1874519"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Governing purpose</a:t>
            </a:r>
          </a:p>
        </p:txBody>
      </p:sp>
      <p:sp>
        <p:nvSpPr>
          <p:cNvPr id="12" name="TextBox 11"/>
          <p:cNvSpPr txBox="1"/>
          <p:nvPr/>
        </p:nvSpPr>
        <p:spPr>
          <a:xfrm>
            <a:off x="2788920" y="1280160"/>
            <a:ext cx="2926079"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Amplified pattern</a:t>
            </a:r>
          </a:p>
        </p:txBody>
      </p:sp>
      <p:sp>
        <p:nvSpPr>
          <p:cNvPr id="13" name="TextBox 12"/>
          <p:cNvSpPr txBox="1"/>
          <p:nvPr/>
        </p:nvSpPr>
        <p:spPr>
          <a:xfrm>
            <a:off x="5897879" y="1280160"/>
            <a:ext cx="2514600"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What examination restores</a:t>
            </a:r>
          </a:p>
        </p:txBody>
      </p:sp>
      <p:sp>
        <p:nvSpPr>
          <p:cNvPr id="14" name="Rectangle 13"/>
          <p:cNvSpPr/>
          <p:nvPr/>
        </p:nvSpPr>
        <p:spPr>
          <a:xfrm>
            <a:off x="640080" y="1572768"/>
            <a:ext cx="7863840" cy="768096"/>
          </a:xfrm>
          <a:prstGeom prst="rect">
            <a:avLst/>
          </a:prstGeom>
          <a:solidFill>
            <a:srgbClr val="EEF1F8"/>
          </a:solidFill>
          <a:ln>
            <a:noFill/>
          </a:ln>
        </p:spPr>
        <p:txBody>
          <a:bodyPr rtlCol="0" anchor="ctr"/>
          <a:lstStyle/>
          <a:p>
            <a:pPr algn="ctr"/>
          </a:p>
        </p:txBody>
      </p:sp>
      <p:sp>
        <p:nvSpPr>
          <p:cNvPr id="15" name="Rectangle 14"/>
          <p:cNvSpPr/>
          <p:nvPr/>
        </p:nvSpPr>
        <p:spPr>
          <a:xfrm>
            <a:off x="640080" y="2331720"/>
            <a:ext cx="7863840" cy="9144"/>
          </a:xfrm>
          <a:prstGeom prst="rect">
            <a:avLst/>
          </a:prstGeom>
          <a:solidFill>
            <a:srgbClr val="D5DBEA"/>
          </a:solidFill>
          <a:ln>
            <a:noFill/>
          </a:ln>
        </p:spPr>
        <p:txBody>
          <a:bodyPr rtlCol="0" anchor="ctr"/>
          <a:lstStyle/>
          <a:p>
            <a:pPr algn="ctr"/>
          </a:p>
        </p:txBody>
      </p:sp>
      <p:sp>
        <p:nvSpPr>
          <p:cNvPr id="16" name="TextBox 15"/>
          <p:cNvSpPr txBox="1"/>
          <p:nvPr/>
        </p:nvSpPr>
        <p:spPr>
          <a:xfrm>
            <a:off x="731519" y="1600200"/>
            <a:ext cx="1874519" cy="713232"/>
          </a:xfrm>
          <a:prstGeom prst="rect">
            <a:avLst/>
          </a:prstGeom>
          <a:noFill/>
        </p:spPr>
        <p:txBody>
          <a:bodyPr wrap="square" lIns="0" rIns="0" tIns="0" bIns="0" anchor="ctr">
            <a:noAutofit/>
          </a:bodyPr>
          <a:lstStyle/>
          <a:p>
            <a:pPr algn="l">
              <a:spcBef>
                <a:spcPts val="0"/>
              </a:spcBef>
              <a:spcAft>
                <a:spcPts val="0"/>
              </a:spcAft>
            </a:pPr>
            <a:r>
              <a:rPr sz="1100" b="1" i="1">
                <a:solidFill>
                  <a:srgbClr val="1E2447"/>
                </a:solidFill>
                <a:latin typeface="Calibri"/>
              </a:rPr>
              <a:t>Priya</a:t>
            </a:r>
            <a:r>
              <a:rPr sz="1100" b="1" i="0">
                <a:solidFill>
                  <a:srgbClr val="1E2447"/>
                </a:solidFill>
                <a:latin typeface="Calibri"/>
              </a:rPr>
              <a:t>: pleasure or reassurance as sufficient</a:t>
            </a:r>
          </a:p>
        </p:txBody>
      </p:sp>
      <p:sp>
        <p:nvSpPr>
          <p:cNvPr id="17" name="TextBox 16"/>
          <p:cNvSpPr txBox="1"/>
          <p:nvPr/>
        </p:nvSpPr>
        <p:spPr>
          <a:xfrm>
            <a:off x="2788920" y="1600200"/>
            <a:ext cx="2926079" cy="713232"/>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Agreeable replies and entertainment encourage return after the task is done</a:t>
            </a:r>
          </a:p>
        </p:txBody>
      </p:sp>
      <p:sp>
        <p:nvSpPr>
          <p:cNvPr id="18" name="TextBox 17"/>
          <p:cNvSpPr txBox="1"/>
          <p:nvPr/>
        </p:nvSpPr>
        <p:spPr>
          <a:xfrm>
            <a:off x="5897879" y="1600200"/>
            <a:ext cx="2514600" cy="713232"/>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The purpose of the interaction, truthful disagreement, freedom to disengage</a:t>
            </a:r>
          </a:p>
        </p:txBody>
      </p:sp>
      <p:sp>
        <p:nvSpPr>
          <p:cNvPr id="19" name="Rectangle 18"/>
          <p:cNvSpPr/>
          <p:nvPr/>
        </p:nvSpPr>
        <p:spPr>
          <a:xfrm>
            <a:off x="640080" y="3099816"/>
            <a:ext cx="7863840" cy="9144"/>
          </a:xfrm>
          <a:prstGeom prst="rect">
            <a:avLst/>
          </a:prstGeom>
          <a:solidFill>
            <a:srgbClr val="D5DBEA"/>
          </a:solidFill>
          <a:ln>
            <a:noFill/>
          </a:ln>
        </p:spPr>
        <p:txBody>
          <a:bodyPr rtlCol="0" anchor="ctr"/>
          <a:lstStyle/>
          <a:p>
            <a:pPr algn="ctr"/>
          </a:p>
        </p:txBody>
      </p:sp>
      <p:sp>
        <p:nvSpPr>
          <p:cNvPr id="20" name="TextBox 19"/>
          <p:cNvSpPr txBox="1"/>
          <p:nvPr/>
        </p:nvSpPr>
        <p:spPr>
          <a:xfrm>
            <a:off x="731519" y="2368296"/>
            <a:ext cx="1874519" cy="713232"/>
          </a:xfrm>
          <a:prstGeom prst="rect">
            <a:avLst/>
          </a:prstGeom>
          <a:noFill/>
        </p:spPr>
        <p:txBody>
          <a:bodyPr wrap="square" lIns="0" rIns="0" tIns="0" bIns="0" anchor="ctr">
            <a:noAutofit/>
          </a:bodyPr>
          <a:lstStyle/>
          <a:p>
            <a:pPr algn="l">
              <a:spcBef>
                <a:spcPts val="0"/>
              </a:spcBef>
              <a:spcAft>
                <a:spcPts val="0"/>
              </a:spcAft>
            </a:pPr>
            <a:r>
              <a:rPr sz="1100" b="1" i="1">
                <a:solidFill>
                  <a:srgbClr val="1E2447"/>
                </a:solidFill>
                <a:latin typeface="Calibri"/>
              </a:rPr>
              <a:t>Labha</a:t>
            </a:r>
            <a:r>
              <a:rPr sz="1100" b="1" i="0">
                <a:solidFill>
                  <a:srgbClr val="1E2447"/>
                </a:solidFill>
                <a:latin typeface="Calibri"/>
              </a:rPr>
              <a:t>: gain as sufficient</a:t>
            </a:r>
          </a:p>
        </p:txBody>
      </p:sp>
      <p:sp>
        <p:nvSpPr>
          <p:cNvPr id="21" name="TextBox 20"/>
          <p:cNvSpPr txBox="1"/>
          <p:nvPr/>
        </p:nvSpPr>
        <p:spPr>
          <a:xfrm>
            <a:off x="2788920" y="2368296"/>
            <a:ext cx="2926079" cy="713232"/>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Automated persuasion and procurement shift costs onto workers, communities, nature</a:t>
            </a:r>
          </a:p>
        </p:txBody>
      </p:sp>
      <p:sp>
        <p:nvSpPr>
          <p:cNvPr id="22" name="TextBox 21"/>
          <p:cNvSpPr txBox="1"/>
          <p:nvPr/>
        </p:nvSpPr>
        <p:spPr>
          <a:xfrm>
            <a:off x="5897879" y="2368296"/>
            <a:ext cx="2514600" cy="713232"/>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Genuine need, fair participation, total resource use, renewal</a:t>
            </a:r>
          </a:p>
        </p:txBody>
      </p:sp>
      <p:sp>
        <p:nvSpPr>
          <p:cNvPr id="23" name="Rectangle 22"/>
          <p:cNvSpPr/>
          <p:nvPr/>
        </p:nvSpPr>
        <p:spPr>
          <a:xfrm>
            <a:off x="640080" y="3108960"/>
            <a:ext cx="7863840" cy="768096"/>
          </a:xfrm>
          <a:prstGeom prst="rect">
            <a:avLst/>
          </a:prstGeom>
          <a:solidFill>
            <a:srgbClr val="EEF1F8"/>
          </a:solidFill>
          <a:ln>
            <a:noFill/>
          </a:ln>
        </p:spPr>
        <p:txBody>
          <a:bodyPr rtlCol="0" anchor="ctr"/>
          <a:lstStyle/>
          <a:p>
            <a:pPr algn="ctr"/>
          </a:p>
        </p:txBody>
      </p:sp>
      <p:sp>
        <p:nvSpPr>
          <p:cNvPr id="24" name="Rectangle 23"/>
          <p:cNvSpPr/>
          <p:nvPr/>
        </p:nvSpPr>
        <p:spPr>
          <a:xfrm>
            <a:off x="640080" y="3867912"/>
            <a:ext cx="7863840" cy="9144"/>
          </a:xfrm>
          <a:prstGeom prst="rect">
            <a:avLst/>
          </a:prstGeom>
          <a:solidFill>
            <a:srgbClr val="D5DBEA"/>
          </a:solidFill>
          <a:ln>
            <a:noFill/>
          </a:ln>
        </p:spPr>
        <p:txBody>
          <a:bodyPr rtlCol="0" anchor="ctr"/>
          <a:lstStyle/>
          <a:p>
            <a:pPr algn="ctr"/>
          </a:p>
        </p:txBody>
      </p:sp>
      <p:sp>
        <p:nvSpPr>
          <p:cNvPr id="25" name="TextBox 24"/>
          <p:cNvSpPr txBox="1"/>
          <p:nvPr/>
        </p:nvSpPr>
        <p:spPr>
          <a:xfrm>
            <a:off x="731519" y="3136391"/>
            <a:ext cx="1874519" cy="713232"/>
          </a:xfrm>
          <a:prstGeom prst="rect">
            <a:avLst/>
          </a:prstGeom>
          <a:noFill/>
        </p:spPr>
        <p:txBody>
          <a:bodyPr wrap="square" lIns="0" rIns="0" tIns="0" bIns="0" anchor="ctr">
            <a:noAutofit/>
          </a:bodyPr>
          <a:lstStyle/>
          <a:p>
            <a:pPr algn="l">
              <a:spcBef>
                <a:spcPts val="0"/>
              </a:spcBef>
              <a:spcAft>
                <a:spcPts val="0"/>
              </a:spcAft>
            </a:pPr>
            <a:r>
              <a:rPr sz="1100" b="1" i="1">
                <a:solidFill>
                  <a:srgbClr val="1E2447"/>
                </a:solidFill>
                <a:latin typeface="Calibri"/>
              </a:rPr>
              <a:t>Bhaya</a:t>
            </a:r>
            <a:r>
              <a:rPr sz="1100" b="1" i="0">
                <a:solidFill>
                  <a:srgbClr val="1E2447"/>
                </a:solidFill>
                <a:latin typeface="Calibri"/>
              </a:rPr>
              <a:t>: fear organised as control</a:t>
            </a:r>
          </a:p>
        </p:txBody>
      </p:sp>
      <p:sp>
        <p:nvSpPr>
          <p:cNvPr id="26" name="TextBox 25"/>
          <p:cNvSpPr txBox="1"/>
          <p:nvPr/>
        </p:nvSpPr>
        <p:spPr>
          <a:xfrm>
            <a:off x="2788920" y="3136391"/>
            <a:ext cx="2926079" cy="713232"/>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Unverified suspicion becomes a retained premise; monitoring grows</a:t>
            </a:r>
          </a:p>
        </p:txBody>
      </p:sp>
      <p:sp>
        <p:nvSpPr>
          <p:cNvPr id="27" name="TextBox 26"/>
          <p:cNvSpPr txBox="1"/>
          <p:nvPr/>
        </p:nvSpPr>
        <p:spPr>
          <a:xfrm>
            <a:off x="5897879" y="3136391"/>
            <a:ext cx="2514600" cy="713232"/>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Evidence, correction, proportionate protection, limits on action</a:t>
            </a:r>
          </a:p>
        </p:txBody>
      </p:sp>
      <p:sp>
        <p:nvSpPr>
          <p:cNvPr id="28" name="TextBox 27"/>
          <p:cNvSpPr txBox="1"/>
          <p:nvPr/>
        </p:nvSpPr>
        <p:spPr>
          <a:xfrm>
            <a:off x="640080" y="3931920"/>
            <a:ext cx="7863840" cy="292608"/>
          </a:xfrm>
          <a:prstGeom prst="rect">
            <a:avLst/>
          </a:prstGeom>
          <a:noFill/>
        </p:spPr>
        <p:txBody>
          <a:bodyPr wrap="square" lIns="0" rIns="0" tIns="0" bIns="0" anchor="ctr">
            <a:noAutofit/>
          </a:bodyPr>
          <a:lstStyle/>
          <a:p>
            <a:pPr algn="l">
              <a:spcBef>
                <a:spcPts val="0"/>
              </a:spcBef>
              <a:spcAft>
                <a:spcPts val="0"/>
              </a:spcAft>
            </a:pPr>
            <a:r>
              <a:rPr sz="1050" b="0" i="1">
                <a:solidFill>
                  <a:srgbClr val="5A6377"/>
                </a:solidFill>
                <a:latin typeface="Calibri"/>
              </a:rPr>
              <a:t>Engagement incentives documented by the FTC (2024); loss of human control and escalation (ICRC 2021).</a:t>
            </a:r>
          </a:p>
        </p:txBody>
      </p:sp>
      <p:sp>
        <p:nvSpPr>
          <p:cNvPr id="29" name="Rounded Rectangle 28"/>
          <p:cNvSpPr/>
          <p:nvPr/>
        </p:nvSpPr>
        <p:spPr>
          <a:xfrm>
            <a:off x="640080" y="4261104"/>
            <a:ext cx="7863840" cy="420624"/>
          </a:xfrm>
          <a:prstGeom prst="roundRect">
            <a:avLst>
              <a:gd name="adj" fmla="val 18000"/>
            </a:avLst>
          </a:prstGeom>
          <a:solidFill>
            <a:srgbClr val="FAF1DF"/>
          </a:solidFill>
          <a:ln>
            <a:noFill/>
          </a:ln>
        </p:spPr>
        <p:txBody>
          <a:bodyPr rtlCol="0" anchor="ctr"/>
          <a:lstStyle/>
          <a:p>
            <a:pPr algn="ctr"/>
          </a:p>
        </p:txBody>
      </p:sp>
      <p:sp>
        <p:nvSpPr>
          <p:cNvPr id="30" name="TextBox 29"/>
          <p:cNvSpPr txBox="1"/>
          <p:nvPr/>
        </p:nvSpPr>
        <p:spPr>
          <a:xfrm>
            <a:off x="868680" y="4261104"/>
            <a:ext cx="7406640" cy="420624"/>
          </a:xfrm>
          <a:prstGeom prst="rect">
            <a:avLst/>
          </a:prstGeom>
          <a:noFill/>
        </p:spPr>
        <p:txBody>
          <a:bodyPr wrap="square" lIns="0" rIns="0" tIns="0" bIns="0" anchor="ctr">
            <a:noAutofit/>
          </a:bodyPr>
          <a:lstStyle/>
          <a:p>
            <a:pPr algn="ctr">
              <a:spcBef>
                <a:spcPts val="0"/>
              </a:spcBef>
              <a:spcAft>
                <a:spcPts val="0"/>
              </a:spcAft>
            </a:pPr>
            <a:r>
              <a:rPr sz="1150" b="0" i="1">
                <a:solidFill>
                  <a:srgbClr val="9A6414"/>
                </a:solidFill>
                <a:latin typeface="Calibri"/>
              </a:rPr>
              <a:t>Bhaya</a:t>
            </a:r>
            <a:r>
              <a:rPr sz="1150" b="0" i="0">
                <a:solidFill>
                  <a:srgbClr val="9A6414"/>
                </a:solidFill>
                <a:latin typeface="Calibri"/>
              </a:rPr>
              <a:t> is a pathway considered here, not a member of </a:t>
            </a:r>
            <a:r>
              <a:rPr sz="1150" b="0" i="1">
                <a:solidFill>
                  <a:srgbClr val="9A6414"/>
                </a:solidFill>
                <a:latin typeface="Calibri"/>
              </a:rPr>
              <a:t>priya–hita–labha</a:t>
            </a:r>
            <a:r>
              <a:rPr sz="1150" b="0" i="0">
                <a:solidFill>
                  <a:srgbClr val="9A6414"/>
                </a:solidFill>
                <a:latin typeface="Calibri"/>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IV  ·  THE MIRROR  ·  §4.3</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Diagnostic Mirror at Work</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MVD pp. 62, 73, 91–92, 336  ·  JV pp. 54, 97  ·  AnalyticMadhyasthDarshan.org  ·  18 / 31</a:t>
            </a:r>
          </a:p>
        </p:txBody>
      </p:sp>
      <p:sp>
        <p:nvSpPr>
          <p:cNvPr id="8" name="TextBox 7"/>
          <p:cNvSpPr txBox="1"/>
          <p:nvPr/>
        </p:nvSpPr>
        <p:spPr>
          <a:xfrm>
            <a:off x="640080" y="1188720"/>
            <a:ext cx="7863840" cy="45720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It makes visible the result sought, the assumptions, the means, the relationships, and the costs counted or omitted.</a:t>
            </a:r>
          </a:p>
        </p:txBody>
      </p:sp>
      <p:sp>
        <p:nvSpPr>
          <p:cNvPr id="9" name="Rounded Rectangle 8"/>
          <p:cNvSpPr/>
          <p:nvPr/>
        </p:nvSpPr>
        <p:spPr>
          <a:xfrm>
            <a:off x="640080" y="1828800"/>
            <a:ext cx="2514600" cy="2194560"/>
          </a:xfrm>
          <a:prstGeom prst="roundRect">
            <a:avLst>
              <a:gd name="adj" fmla="val 7000"/>
            </a:avLst>
          </a:prstGeom>
          <a:solidFill>
            <a:srgbClr val="FAF1DF"/>
          </a:solidFill>
          <a:ln>
            <a:noFill/>
          </a:ln>
        </p:spPr>
        <p:txBody>
          <a:bodyPr rtlCol="0" anchor="ctr"/>
          <a:lstStyle/>
          <a:p>
            <a:pPr algn="ctr"/>
          </a:p>
        </p:txBody>
      </p:sp>
      <p:sp>
        <p:nvSpPr>
          <p:cNvPr id="10" name="Rounded Rectangle 9"/>
          <p:cNvSpPr/>
          <p:nvPr/>
        </p:nvSpPr>
        <p:spPr>
          <a:xfrm>
            <a:off x="1655064" y="1737360"/>
            <a:ext cx="1371600" cy="182880"/>
          </a:xfrm>
          <a:prstGeom prst="roundRect">
            <a:avLst>
              <a:gd name="adj" fmla="val 50000"/>
            </a:avLst>
          </a:prstGeom>
          <a:solidFill>
            <a:srgbClr val="C9821E"/>
          </a:solidFill>
          <a:ln>
            <a:noFill/>
          </a:ln>
        </p:spPr>
        <p:txBody>
          <a:bodyPr rtlCol="0" anchor="ctr"/>
          <a:lstStyle/>
          <a:p>
            <a:pPr algn="ctr"/>
          </a:p>
        </p:txBody>
      </p:sp>
      <p:sp>
        <p:nvSpPr>
          <p:cNvPr id="11" name="TextBox 10"/>
          <p:cNvSpPr txBox="1"/>
          <p:nvPr/>
        </p:nvSpPr>
        <p:spPr>
          <a:xfrm>
            <a:off x="1655064" y="173736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2" name="TextBox 11"/>
          <p:cNvSpPr txBox="1"/>
          <p:nvPr/>
        </p:nvSpPr>
        <p:spPr>
          <a:xfrm>
            <a:off x="822959" y="1947672"/>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A single request</a:t>
            </a:r>
          </a:p>
        </p:txBody>
      </p:sp>
      <p:sp>
        <p:nvSpPr>
          <p:cNvPr id="13" name="TextBox 12"/>
          <p:cNvSpPr txBox="1"/>
          <p:nvPr/>
        </p:nvSpPr>
        <p:spPr>
          <a:xfrm>
            <a:off x="822959" y="2249424"/>
            <a:ext cx="2148840" cy="1682495"/>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Manufactured dissatisfaction with serviceable clothes is redirected to usefulness, truth, and durability. Pressuring a partner is examined through the relationship.</a:t>
            </a:r>
          </a:p>
        </p:txBody>
      </p:sp>
      <p:sp>
        <p:nvSpPr>
          <p:cNvPr id="14" name="Rounded Rectangle 13"/>
          <p:cNvSpPr/>
          <p:nvPr/>
        </p:nvSpPr>
        <p:spPr>
          <a:xfrm>
            <a:off x="3314700" y="1828800"/>
            <a:ext cx="2514600" cy="2194560"/>
          </a:xfrm>
          <a:prstGeom prst="roundRect">
            <a:avLst>
              <a:gd name="adj" fmla="val 7000"/>
            </a:avLst>
          </a:prstGeom>
          <a:solidFill>
            <a:srgbClr val="FAF1DF"/>
          </a:solidFill>
          <a:ln>
            <a:noFill/>
          </a:ln>
        </p:spPr>
        <p:txBody>
          <a:bodyPr rtlCol="0" anchor="ctr"/>
          <a:lstStyle/>
          <a:p>
            <a:pPr algn="ctr"/>
          </a:p>
        </p:txBody>
      </p:sp>
      <p:sp>
        <p:nvSpPr>
          <p:cNvPr id="15" name="Rounded Rectangle 14"/>
          <p:cNvSpPr/>
          <p:nvPr/>
        </p:nvSpPr>
        <p:spPr>
          <a:xfrm>
            <a:off x="4329684" y="1737360"/>
            <a:ext cx="1371600" cy="182880"/>
          </a:xfrm>
          <a:prstGeom prst="roundRect">
            <a:avLst>
              <a:gd name="adj" fmla="val 50000"/>
            </a:avLst>
          </a:prstGeom>
          <a:solidFill>
            <a:srgbClr val="C9821E"/>
          </a:solidFill>
          <a:ln>
            <a:noFill/>
          </a:ln>
        </p:spPr>
        <p:txBody>
          <a:bodyPr rtlCol="0" anchor="ctr"/>
          <a:lstStyle/>
          <a:p>
            <a:pPr algn="ctr"/>
          </a:p>
        </p:txBody>
      </p:sp>
      <p:sp>
        <p:nvSpPr>
          <p:cNvPr id="16" name="TextBox 15"/>
          <p:cNvSpPr txBox="1"/>
          <p:nvPr/>
        </p:nvSpPr>
        <p:spPr>
          <a:xfrm>
            <a:off x="4329684" y="173736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7" name="TextBox 16"/>
          <p:cNvSpPr txBox="1"/>
          <p:nvPr/>
        </p:nvSpPr>
        <p:spPr>
          <a:xfrm>
            <a:off x="3497580" y="1947672"/>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A plan against commitments</a:t>
            </a:r>
          </a:p>
        </p:txBody>
      </p:sp>
      <p:sp>
        <p:nvSpPr>
          <p:cNvPr id="18" name="TextBox 17"/>
          <p:cNvSpPr txBox="1"/>
          <p:nvPr/>
        </p:nvSpPr>
        <p:spPr>
          <a:xfrm>
            <a:off x="3497580" y="2249424"/>
            <a:ext cx="2148840" cy="1682495"/>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Fair hours, timely pay, and a protected water source, against a plan using unpaid overtime: the omitted costs are shown and an alternative is built.</a:t>
            </a:r>
          </a:p>
        </p:txBody>
      </p:sp>
      <p:sp>
        <p:nvSpPr>
          <p:cNvPr id="19" name="Rounded Rectangle 18"/>
          <p:cNvSpPr/>
          <p:nvPr/>
        </p:nvSpPr>
        <p:spPr>
          <a:xfrm>
            <a:off x="5989320" y="1828800"/>
            <a:ext cx="2514600" cy="2194560"/>
          </a:xfrm>
          <a:prstGeom prst="roundRect">
            <a:avLst>
              <a:gd name="adj" fmla="val 7000"/>
            </a:avLst>
          </a:prstGeom>
          <a:solidFill>
            <a:srgbClr val="FAF1DF"/>
          </a:solidFill>
          <a:ln>
            <a:noFill/>
          </a:ln>
        </p:spPr>
        <p:txBody>
          <a:bodyPr rtlCol="0" anchor="ctr"/>
          <a:lstStyle/>
          <a:p>
            <a:pPr algn="ctr"/>
          </a:p>
        </p:txBody>
      </p:sp>
      <p:sp>
        <p:nvSpPr>
          <p:cNvPr id="20" name="Rounded Rectangle 19"/>
          <p:cNvSpPr/>
          <p:nvPr/>
        </p:nvSpPr>
        <p:spPr>
          <a:xfrm>
            <a:off x="7004304" y="1737360"/>
            <a:ext cx="1371600" cy="182880"/>
          </a:xfrm>
          <a:prstGeom prst="roundRect">
            <a:avLst>
              <a:gd name="adj" fmla="val 50000"/>
            </a:avLst>
          </a:prstGeom>
          <a:solidFill>
            <a:srgbClr val="C9821E"/>
          </a:solidFill>
          <a:ln>
            <a:noFill/>
          </a:ln>
        </p:spPr>
        <p:txBody>
          <a:bodyPr rtlCol="0" anchor="ctr"/>
          <a:lstStyle/>
          <a:p>
            <a:pPr algn="ctr"/>
          </a:p>
        </p:txBody>
      </p:sp>
      <p:sp>
        <p:nvSpPr>
          <p:cNvPr id="21" name="TextBox 20"/>
          <p:cNvSpPr txBox="1"/>
          <p:nvPr/>
        </p:nvSpPr>
        <p:spPr>
          <a:xfrm>
            <a:off x="7004304" y="173736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2" name="TextBox 21"/>
          <p:cNvSpPr txBox="1"/>
          <p:nvPr/>
        </p:nvSpPr>
        <p:spPr>
          <a:xfrm>
            <a:off x="6172200" y="1947672"/>
            <a:ext cx="214884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A pattern over time</a:t>
            </a:r>
          </a:p>
        </p:txBody>
      </p:sp>
      <p:sp>
        <p:nvSpPr>
          <p:cNvPr id="23" name="TextBox 22"/>
          <p:cNvSpPr txBox="1"/>
          <p:nvPr/>
        </p:nvSpPr>
        <p:spPr>
          <a:xfrm>
            <a:off x="6172200" y="2249424"/>
            <a:ext cx="2148840" cy="1682495"/>
          </a:xfrm>
          <a:prstGeom prst="rect">
            <a:avLst/>
          </a:prstGeom>
          <a:noFill/>
        </p:spPr>
        <p:txBody>
          <a:bodyPr wrap="square" lIns="0" rIns="0" tIns="0" bIns="0" anchor="t">
            <a:noAutofit/>
          </a:bodyPr>
          <a:lstStyle/>
          <a:p>
            <a:pPr algn="l">
              <a:spcBef>
                <a:spcPts val="0"/>
              </a:spcBef>
              <a:spcAft>
                <a:spcPts val="0"/>
              </a:spcAft>
            </a:pPr>
            <a:r>
              <a:rPr sz="1250" b="0" i="0">
                <a:solidFill>
                  <a:srgbClr val="5A6377"/>
                </a:solidFill>
                <a:latin typeface="Calibri"/>
              </a:rPr>
              <a:t>Repeated vindication, respect equated with obedience: the recurring premise is brought into view for study and conversation.</a:t>
            </a:r>
          </a:p>
        </p:txBody>
      </p:sp>
      <p:sp>
        <p:nvSpPr>
          <p:cNvPr id="24" name="TextBox 23"/>
          <p:cNvSpPr txBox="1"/>
          <p:nvPr/>
        </p:nvSpPr>
        <p:spPr>
          <a:xfrm>
            <a:off x="640080" y="4224528"/>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It presents reasons about decisions and conduct, never a verdict on a person's awakening.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IV  ·  REVIEW CYCLE  ·  §4.4</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A Cycle of Examination and Learning</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pp. 137–138  ·  Note §4.4  ·  AnalyticMadhyasthDarshan.org  ·  19 / 31</a:t>
            </a:r>
          </a:p>
        </p:txBody>
      </p:sp>
      <p:cxnSp>
        <p:nvCxnSpPr>
          <p:cNvPr id="8" name="Connector 7"/>
          <p:cNvCxnSpPr/>
          <p:nvPr/>
        </p:nvCxnSpPr>
        <p:spPr>
          <a:xfrm>
            <a:off x="3547289" y="1817998"/>
            <a:ext cx="524248" cy="369075"/>
          </a:xfrm>
          <a:prstGeom prst="line">
            <a:avLst/>
          </a:prstGeom>
          <a:ln w="19050">
            <a:solidFill>
              <a:srgbClr val="C9821E"/>
            </a:solidFill>
            <a:tailEnd type="triangle" w="med" h="med"/>
          </a:ln>
        </p:spPr>
      </p:cxnSp>
      <p:cxnSp>
        <p:nvCxnSpPr>
          <p:cNvPr id="9" name="Connector 8"/>
          <p:cNvCxnSpPr/>
          <p:nvPr/>
        </p:nvCxnSpPr>
        <p:spPr>
          <a:xfrm>
            <a:off x="4601307" y="2633472"/>
            <a:ext cx="0" cy="548640"/>
          </a:xfrm>
          <a:prstGeom prst="line">
            <a:avLst/>
          </a:prstGeom>
          <a:ln w="19050">
            <a:solidFill>
              <a:srgbClr val="C9821E"/>
            </a:solidFill>
            <a:tailEnd type="triangle" w="med" h="med"/>
          </a:ln>
        </p:spPr>
      </p:cxnSp>
      <p:cxnSp>
        <p:nvCxnSpPr>
          <p:cNvPr id="10" name="Connector 9"/>
          <p:cNvCxnSpPr/>
          <p:nvPr/>
        </p:nvCxnSpPr>
        <p:spPr>
          <a:xfrm flipH="1">
            <a:off x="3547289" y="3628510"/>
            <a:ext cx="524248" cy="369075"/>
          </a:xfrm>
          <a:prstGeom prst="line">
            <a:avLst/>
          </a:prstGeom>
          <a:ln w="19050">
            <a:solidFill>
              <a:srgbClr val="C9821E"/>
            </a:solidFill>
            <a:tailEnd type="triangle" w="med" h="med"/>
          </a:ln>
        </p:spPr>
      </p:cxnSp>
      <p:cxnSp>
        <p:nvCxnSpPr>
          <p:cNvPr id="11" name="Connector 10"/>
          <p:cNvCxnSpPr/>
          <p:nvPr/>
        </p:nvCxnSpPr>
        <p:spPr>
          <a:xfrm flipH="1" flipV="1">
            <a:off x="1963502" y="3628510"/>
            <a:ext cx="524248" cy="369075"/>
          </a:xfrm>
          <a:prstGeom prst="line">
            <a:avLst/>
          </a:prstGeom>
          <a:ln w="19050">
            <a:solidFill>
              <a:srgbClr val="C9821E"/>
            </a:solidFill>
            <a:tailEnd type="triangle" w="med" h="med"/>
          </a:ln>
        </p:spPr>
      </p:cxnSp>
      <p:cxnSp>
        <p:nvCxnSpPr>
          <p:cNvPr id="12" name="Connector 11"/>
          <p:cNvCxnSpPr/>
          <p:nvPr/>
        </p:nvCxnSpPr>
        <p:spPr>
          <a:xfrm flipV="1">
            <a:off x="1433732" y="2633472"/>
            <a:ext cx="0" cy="548640"/>
          </a:xfrm>
          <a:prstGeom prst="line">
            <a:avLst/>
          </a:prstGeom>
          <a:ln w="19050">
            <a:solidFill>
              <a:srgbClr val="C9821E"/>
            </a:solidFill>
            <a:tailEnd type="triangle" w="med" h="med"/>
          </a:ln>
        </p:spPr>
      </p:cxnSp>
      <p:cxnSp>
        <p:nvCxnSpPr>
          <p:cNvPr id="13" name="Connector 12"/>
          <p:cNvCxnSpPr/>
          <p:nvPr/>
        </p:nvCxnSpPr>
        <p:spPr>
          <a:xfrm flipV="1">
            <a:off x="1963502" y="1817998"/>
            <a:ext cx="524248" cy="369075"/>
          </a:xfrm>
          <a:prstGeom prst="line">
            <a:avLst/>
          </a:prstGeom>
          <a:ln w="19050">
            <a:solidFill>
              <a:srgbClr val="C9821E"/>
            </a:solidFill>
            <a:tailEnd type="triangle" w="med" h="med"/>
          </a:ln>
        </p:spPr>
      </p:cxnSp>
      <p:sp>
        <p:nvSpPr>
          <p:cNvPr id="14" name="Rounded Rectangle 13"/>
          <p:cNvSpPr/>
          <p:nvPr/>
        </p:nvSpPr>
        <p:spPr>
          <a:xfrm>
            <a:off x="2240279" y="1453896"/>
            <a:ext cx="1554480" cy="493776"/>
          </a:xfrm>
          <a:prstGeom prst="roundRect">
            <a:avLst>
              <a:gd name="adj" fmla="val 14000"/>
            </a:avLst>
          </a:prstGeom>
          <a:solidFill>
            <a:srgbClr val="3B4A7A"/>
          </a:solidFill>
          <a:ln>
            <a:noFill/>
          </a:ln>
        </p:spPr>
        <p:txBody>
          <a:bodyPr rtlCol="0" anchor="ctr"/>
          <a:lstStyle/>
          <a:p>
            <a:pPr algn="ctr"/>
          </a:p>
        </p:txBody>
      </p:sp>
      <p:sp>
        <p:nvSpPr>
          <p:cNvPr id="15" name="TextBox 14"/>
          <p:cNvSpPr txBox="1"/>
          <p:nvPr/>
        </p:nvSpPr>
        <p:spPr>
          <a:xfrm>
            <a:off x="2295144" y="1453896"/>
            <a:ext cx="1444752" cy="49377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Purpose and observations</a:t>
            </a:r>
          </a:p>
        </p:txBody>
      </p:sp>
      <p:sp>
        <p:nvSpPr>
          <p:cNvPr id="16" name="Rounded Rectangle 15"/>
          <p:cNvSpPr/>
          <p:nvPr/>
        </p:nvSpPr>
        <p:spPr>
          <a:xfrm>
            <a:off x="3824067" y="2057400"/>
            <a:ext cx="1554480" cy="493776"/>
          </a:xfrm>
          <a:prstGeom prst="roundRect">
            <a:avLst>
              <a:gd name="adj" fmla="val 14000"/>
            </a:avLst>
          </a:prstGeom>
          <a:solidFill>
            <a:srgbClr val="3B4A7A"/>
          </a:solidFill>
          <a:ln>
            <a:noFill/>
          </a:ln>
        </p:spPr>
        <p:txBody>
          <a:bodyPr rtlCol="0" anchor="ctr"/>
          <a:lstStyle/>
          <a:p>
            <a:pPr algn="ctr"/>
          </a:p>
        </p:txBody>
      </p:sp>
      <p:sp>
        <p:nvSpPr>
          <p:cNvPr id="17" name="TextBox 16"/>
          <p:cNvSpPr txBox="1"/>
          <p:nvPr/>
        </p:nvSpPr>
        <p:spPr>
          <a:xfrm>
            <a:off x="3878931" y="2057400"/>
            <a:ext cx="1444752" cy="49377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Criteria in request and AI plan</a:t>
            </a:r>
          </a:p>
        </p:txBody>
      </p:sp>
      <p:sp>
        <p:nvSpPr>
          <p:cNvPr id="18" name="Rounded Rectangle 17"/>
          <p:cNvSpPr/>
          <p:nvPr/>
        </p:nvSpPr>
        <p:spPr>
          <a:xfrm>
            <a:off x="3824067" y="3264408"/>
            <a:ext cx="1554480" cy="493776"/>
          </a:xfrm>
          <a:prstGeom prst="roundRect">
            <a:avLst>
              <a:gd name="adj" fmla="val 14000"/>
            </a:avLst>
          </a:prstGeom>
          <a:solidFill>
            <a:srgbClr val="3B4A7A"/>
          </a:solidFill>
          <a:ln>
            <a:noFill/>
          </a:ln>
        </p:spPr>
        <p:txBody>
          <a:bodyPr rtlCol="0" anchor="ctr"/>
          <a:lstStyle/>
          <a:p>
            <a:pPr algn="ctr"/>
          </a:p>
        </p:txBody>
      </p:sp>
      <p:sp>
        <p:nvSpPr>
          <p:cNvPr id="19" name="TextBox 18"/>
          <p:cNvSpPr txBox="1"/>
          <p:nvPr/>
        </p:nvSpPr>
        <p:spPr>
          <a:xfrm>
            <a:off x="3878931" y="3264408"/>
            <a:ext cx="1444752" cy="49377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Examine purpose and effects</a:t>
            </a:r>
          </a:p>
        </p:txBody>
      </p:sp>
      <p:sp>
        <p:nvSpPr>
          <p:cNvPr id="20" name="Rounded Rectangle 19"/>
          <p:cNvSpPr/>
          <p:nvPr/>
        </p:nvSpPr>
        <p:spPr>
          <a:xfrm>
            <a:off x="2240279" y="3867912"/>
            <a:ext cx="1554480" cy="493776"/>
          </a:xfrm>
          <a:prstGeom prst="roundRect">
            <a:avLst>
              <a:gd name="adj" fmla="val 14000"/>
            </a:avLst>
          </a:prstGeom>
          <a:solidFill>
            <a:srgbClr val="3B4A7A"/>
          </a:solidFill>
          <a:ln>
            <a:noFill/>
          </a:ln>
        </p:spPr>
        <p:txBody>
          <a:bodyPr rtlCol="0" anchor="ctr"/>
          <a:lstStyle/>
          <a:p>
            <a:pPr algn="ctr"/>
          </a:p>
        </p:txBody>
      </p:sp>
      <p:sp>
        <p:nvSpPr>
          <p:cNvPr id="21" name="TextBox 20"/>
          <p:cNvSpPr txBox="1"/>
          <p:nvPr/>
        </p:nvSpPr>
        <p:spPr>
          <a:xfrm>
            <a:off x="2295144" y="3867912"/>
            <a:ext cx="1444752" cy="49377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Reasons and alternatives</a:t>
            </a:r>
          </a:p>
        </p:txBody>
      </p:sp>
      <p:sp>
        <p:nvSpPr>
          <p:cNvPr id="22" name="Rounded Rectangle 21"/>
          <p:cNvSpPr/>
          <p:nvPr/>
        </p:nvSpPr>
        <p:spPr>
          <a:xfrm>
            <a:off x="656492" y="3264408"/>
            <a:ext cx="1554480" cy="493776"/>
          </a:xfrm>
          <a:prstGeom prst="roundRect">
            <a:avLst>
              <a:gd name="adj" fmla="val 14000"/>
            </a:avLst>
          </a:prstGeom>
          <a:solidFill>
            <a:srgbClr val="1E2447"/>
          </a:solidFill>
          <a:ln>
            <a:noFill/>
          </a:ln>
        </p:spPr>
        <p:txBody>
          <a:bodyPr rtlCol="0" anchor="ctr"/>
          <a:lstStyle/>
          <a:p>
            <a:pPr algn="ctr"/>
          </a:p>
        </p:txBody>
      </p:sp>
      <p:sp>
        <p:nvSpPr>
          <p:cNvPr id="23" name="TextBox 22"/>
          <p:cNvSpPr txBox="1"/>
          <p:nvPr/>
        </p:nvSpPr>
        <p:spPr>
          <a:xfrm>
            <a:off x="711356" y="3264408"/>
            <a:ext cx="1444752" cy="49377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Human review and action</a:t>
            </a:r>
          </a:p>
        </p:txBody>
      </p:sp>
      <p:sp>
        <p:nvSpPr>
          <p:cNvPr id="24" name="Rounded Rectangle 23"/>
          <p:cNvSpPr/>
          <p:nvPr/>
        </p:nvSpPr>
        <p:spPr>
          <a:xfrm>
            <a:off x="656492" y="2057400"/>
            <a:ext cx="1554480" cy="493776"/>
          </a:xfrm>
          <a:prstGeom prst="roundRect">
            <a:avLst>
              <a:gd name="adj" fmla="val 14000"/>
            </a:avLst>
          </a:prstGeom>
          <a:solidFill>
            <a:srgbClr val="3B4A7A"/>
          </a:solidFill>
          <a:ln>
            <a:noFill/>
          </a:ln>
        </p:spPr>
        <p:txBody>
          <a:bodyPr rtlCol="0" anchor="ctr"/>
          <a:lstStyle/>
          <a:p>
            <a:pPr algn="ctr"/>
          </a:p>
        </p:txBody>
      </p:sp>
      <p:sp>
        <p:nvSpPr>
          <p:cNvPr id="25" name="TextBox 24"/>
          <p:cNvSpPr txBox="1"/>
          <p:nvPr/>
        </p:nvSpPr>
        <p:spPr>
          <a:xfrm>
            <a:off x="711356" y="2057400"/>
            <a:ext cx="1444752" cy="49377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Outcomes and correction</a:t>
            </a:r>
          </a:p>
        </p:txBody>
      </p:sp>
      <p:sp>
        <p:nvSpPr>
          <p:cNvPr id="26" name="TextBox 25"/>
          <p:cNvSpPr txBox="1"/>
          <p:nvPr/>
        </p:nvSpPr>
        <p:spPr>
          <a:xfrm>
            <a:off x="2194560" y="2679192"/>
            <a:ext cx="1645920" cy="457200"/>
          </a:xfrm>
          <a:prstGeom prst="rect">
            <a:avLst/>
          </a:prstGeom>
          <a:noFill/>
        </p:spPr>
        <p:txBody>
          <a:bodyPr wrap="square" lIns="0" rIns="0" tIns="0" bIns="0" anchor="ctr">
            <a:noAutofit/>
          </a:bodyPr>
          <a:lstStyle/>
          <a:p>
            <a:pPr algn="ctr">
              <a:spcBef>
                <a:spcPts val="0"/>
              </a:spcBef>
              <a:spcAft>
                <a:spcPts val="0"/>
              </a:spcAft>
            </a:pPr>
            <a:r>
              <a:rPr sz="1300" b="1" i="0">
                <a:solidFill>
                  <a:srgbClr val="9A6414"/>
                </a:solidFill>
                <a:latin typeface="Cambria"/>
              </a:rPr>
              <a:t>Review cycle</a:t>
            </a:r>
          </a:p>
        </p:txBody>
      </p:sp>
      <p:sp>
        <p:nvSpPr>
          <p:cNvPr id="27" name="Rounded Rectangle 26"/>
          <p:cNvSpPr/>
          <p:nvPr/>
        </p:nvSpPr>
        <p:spPr>
          <a:xfrm>
            <a:off x="5486400" y="1325880"/>
            <a:ext cx="3017520" cy="1554480"/>
          </a:xfrm>
          <a:prstGeom prst="roundRect">
            <a:avLst>
              <a:gd name="adj" fmla="val 7000"/>
            </a:avLst>
          </a:prstGeom>
          <a:solidFill>
            <a:srgbClr val="FAF1DF"/>
          </a:solidFill>
          <a:ln>
            <a:noFill/>
          </a:ln>
        </p:spPr>
        <p:txBody>
          <a:bodyPr rtlCol="0" anchor="ctr"/>
          <a:lstStyle/>
          <a:p>
            <a:pPr algn="ctr"/>
          </a:p>
        </p:txBody>
      </p:sp>
      <p:sp>
        <p:nvSpPr>
          <p:cNvPr id="28" name="Rounded Rectangle 27"/>
          <p:cNvSpPr/>
          <p:nvPr/>
        </p:nvSpPr>
        <p:spPr>
          <a:xfrm>
            <a:off x="7004304" y="1234439"/>
            <a:ext cx="1371600" cy="182880"/>
          </a:xfrm>
          <a:prstGeom prst="roundRect">
            <a:avLst>
              <a:gd name="adj" fmla="val 50000"/>
            </a:avLst>
          </a:prstGeom>
          <a:solidFill>
            <a:srgbClr val="C9821E"/>
          </a:solidFill>
          <a:ln>
            <a:noFill/>
          </a:ln>
        </p:spPr>
        <p:txBody>
          <a:bodyPr rtlCol="0" anchor="ctr"/>
          <a:lstStyle/>
          <a:p>
            <a:pPr algn="ctr"/>
          </a:p>
        </p:txBody>
      </p:sp>
      <p:sp>
        <p:nvSpPr>
          <p:cNvPr id="29" name="TextBox 28"/>
          <p:cNvSpPr txBox="1"/>
          <p:nvPr/>
        </p:nvSpPr>
        <p:spPr>
          <a:xfrm>
            <a:off x="7004304" y="123443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30" name="TextBox 29"/>
          <p:cNvSpPr txBox="1"/>
          <p:nvPr/>
        </p:nvSpPr>
        <p:spPr>
          <a:xfrm>
            <a:off x="5669280" y="1444752"/>
            <a:ext cx="265176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What it preserves</a:t>
            </a:r>
          </a:p>
        </p:txBody>
      </p:sp>
      <p:sp>
        <p:nvSpPr>
          <p:cNvPr id="31" name="TextBox 30"/>
          <p:cNvSpPr txBox="1"/>
          <p:nvPr/>
        </p:nvSpPr>
        <p:spPr>
          <a:xfrm>
            <a:off x="5669280" y="1746504"/>
            <a:ext cx="2651760" cy="1042415"/>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The evidence used, the criterion applied, the reasoning offered, and the outcome observed.</a:t>
            </a:r>
          </a:p>
        </p:txBody>
      </p:sp>
      <p:sp>
        <p:nvSpPr>
          <p:cNvPr id="32" name="Rounded Rectangle 31"/>
          <p:cNvSpPr/>
          <p:nvPr/>
        </p:nvSpPr>
        <p:spPr>
          <a:xfrm>
            <a:off x="5486400" y="3035808"/>
            <a:ext cx="3017520" cy="1554480"/>
          </a:xfrm>
          <a:prstGeom prst="roundRect">
            <a:avLst>
              <a:gd name="adj" fmla="val 7000"/>
            </a:avLst>
          </a:prstGeom>
          <a:solidFill>
            <a:srgbClr val="EEF1F8"/>
          </a:solidFill>
          <a:ln>
            <a:noFill/>
          </a:ln>
        </p:spPr>
        <p:txBody>
          <a:bodyPr rtlCol="0" anchor="ctr"/>
          <a:lstStyle/>
          <a:p>
            <a:pPr algn="ctr"/>
          </a:p>
        </p:txBody>
      </p:sp>
      <p:sp>
        <p:nvSpPr>
          <p:cNvPr id="35" name="TextBox 34"/>
          <p:cNvSpPr txBox="1"/>
          <p:nvPr/>
        </p:nvSpPr>
        <p:spPr>
          <a:xfrm>
            <a:off x="5669280" y="3154679"/>
            <a:ext cx="265176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Positive occasions too</a:t>
            </a:r>
          </a:p>
        </p:txBody>
      </p:sp>
      <p:sp>
        <p:nvSpPr>
          <p:cNvPr id="36" name="TextBox 35"/>
          <p:cNvSpPr txBox="1"/>
          <p:nvPr/>
        </p:nvSpPr>
        <p:spPr>
          <a:xfrm>
            <a:off x="5669280" y="3456432"/>
            <a:ext cx="2651760" cy="1042415"/>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Trust fulfilled, care expressed, a responsibility met: material for reflection on the taste of values.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IV  ·  CRITERIA  ·  §4.4</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Four Questions for Examination</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pp. 97, 137–139  ·  MVD pp. 113–115, 126, 336  ·  AnalyticMadhyasthDarshan.org  ·  20 / 31</a:t>
            </a:r>
          </a:p>
        </p:txBody>
      </p:sp>
      <p:sp>
        <p:nvSpPr>
          <p:cNvPr id="8" name="Rounded Rectangle 7"/>
          <p:cNvSpPr/>
          <p:nvPr/>
        </p:nvSpPr>
        <p:spPr>
          <a:xfrm>
            <a:off x="7132320" y="1042415"/>
            <a:ext cx="1371600" cy="182880"/>
          </a:xfrm>
          <a:prstGeom prst="roundRect">
            <a:avLst>
              <a:gd name="adj" fmla="val 50000"/>
            </a:avLst>
          </a:prstGeom>
          <a:solidFill>
            <a:srgbClr val="C9821E"/>
          </a:solidFill>
          <a:ln>
            <a:noFill/>
          </a:ln>
        </p:spPr>
        <p:txBody>
          <a:bodyPr rtlCol="0" anchor="ctr"/>
          <a:lstStyle/>
          <a:p>
            <a:pPr algn="ctr"/>
          </a:p>
        </p:txBody>
      </p:sp>
      <p:sp>
        <p:nvSpPr>
          <p:cNvPr id="9" name="TextBox 8"/>
          <p:cNvSpPr txBox="1"/>
          <p:nvPr/>
        </p:nvSpPr>
        <p:spPr>
          <a:xfrm>
            <a:off x="7132320" y="1042415"/>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0" name="Rectangle 9"/>
          <p:cNvSpPr/>
          <p:nvPr/>
        </p:nvSpPr>
        <p:spPr>
          <a:xfrm>
            <a:off x="640080" y="1280160"/>
            <a:ext cx="7863840" cy="292608"/>
          </a:xfrm>
          <a:prstGeom prst="rect">
            <a:avLst/>
          </a:prstGeom>
          <a:solidFill>
            <a:srgbClr val="1E2447"/>
          </a:solidFill>
          <a:ln>
            <a:noFill/>
          </a:ln>
        </p:spPr>
        <p:txBody>
          <a:bodyPr rtlCol="0" anchor="ctr"/>
          <a:lstStyle/>
          <a:p>
            <a:pPr algn="ctr"/>
          </a:p>
        </p:txBody>
      </p:sp>
      <p:sp>
        <p:nvSpPr>
          <p:cNvPr id="11" name="TextBox 10"/>
          <p:cNvSpPr txBox="1"/>
          <p:nvPr/>
        </p:nvSpPr>
        <p:spPr>
          <a:xfrm>
            <a:off x="731519" y="1280160"/>
            <a:ext cx="1188720"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Criterion</a:t>
            </a:r>
          </a:p>
        </p:txBody>
      </p:sp>
      <p:sp>
        <p:nvSpPr>
          <p:cNvPr id="12" name="TextBox 11"/>
          <p:cNvSpPr txBox="1"/>
          <p:nvPr/>
        </p:nvSpPr>
        <p:spPr>
          <a:xfrm>
            <a:off x="2103120" y="1280160"/>
            <a:ext cx="3108960"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Question for examination</a:t>
            </a:r>
          </a:p>
        </p:txBody>
      </p:sp>
      <p:sp>
        <p:nvSpPr>
          <p:cNvPr id="13" name="TextBox 12"/>
          <p:cNvSpPr txBox="1"/>
          <p:nvPr/>
        </p:nvSpPr>
        <p:spPr>
          <a:xfrm>
            <a:off x="5394960" y="1280160"/>
            <a:ext cx="3017520"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What the assistant makes visible</a:t>
            </a:r>
          </a:p>
        </p:txBody>
      </p:sp>
      <p:sp>
        <p:nvSpPr>
          <p:cNvPr id="14" name="Rectangle 13"/>
          <p:cNvSpPr/>
          <p:nvPr/>
        </p:nvSpPr>
        <p:spPr>
          <a:xfrm>
            <a:off x="640080" y="1572768"/>
            <a:ext cx="7863840" cy="603504"/>
          </a:xfrm>
          <a:prstGeom prst="rect">
            <a:avLst/>
          </a:prstGeom>
          <a:solidFill>
            <a:srgbClr val="EEF1F8"/>
          </a:solidFill>
          <a:ln>
            <a:noFill/>
          </a:ln>
        </p:spPr>
        <p:txBody>
          <a:bodyPr rtlCol="0" anchor="ctr"/>
          <a:lstStyle/>
          <a:p>
            <a:pPr algn="ctr"/>
          </a:p>
        </p:txBody>
      </p:sp>
      <p:sp>
        <p:nvSpPr>
          <p:cNvPr id="15" name="Rectangle 14"/>
          <p:cNvSpPr/>
          <p:nvPr/>
        </p:nvSpPr>
        <p:spPr>
          <a:xfrm>
            <a:off x="640080" y="2167128"/>
            <a:ext cx="7863840" cy="9144"/>
          </a:xfrm>
          <a:prstGeom prst="rect">
            <a:avLst/>
          </a:prstGeom>
          <a:solidFill>
            <a:srgbClr val="D5DBEA"/>
          </a:solidFill>
          <a:ln>
            <a:noFill/>
          </a:ln>
        </p:spPr>
        <p:txBody>
          <a:bodyPr rtlCol="0" anchor="ctr"/>
          <a:lstStyle/>
          <a:p>
            <a:pPr algn="ctr"/>
          </a:p>
        </p:txBody>
      </p:sp>
      <p:sp>
        <p:nvSpPr>
          <p:cNvPr id="16" name="TextBox 15"/>
          <p:cNvSpPr txBox="1"/>
          <p:nvPr/>
        </p:nvSpPr>
        <p:spPr>
          <a:xfrm>
            <a:off x="731519" y="1600200"/>
            <a:ext cx="1188720" cy="548640"/>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Justice</a:t>
            </a:r>
          </a:p>
        </p:txBody>
      </p:sp>
      <p:sp>
        <p:nvSpPr>
          <p:cNvPr id="17" name="TextBox 16"/>
          <p:cNvSpPr txBox="1"/>
          <p:nvPr/>
        </p:nvSpPr>
        <p:spPr>
          <a:xfrm>
            <a:off x="2103120" y="1600200"/>
            <a:ext cx="310896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Which relationships and responsibilities are involved, and how are their values fulfilled?</a:t>
            </a:r>
          </a:p>
        </p:txBody>
      </p:sp>
      <p:sp>
        <p:nvSpPr>
          <p:cNvPr id="18" name="TextBox 17"/>
          <p:cNvSpPr txBox="1"/>
          <p:nvPr/>
        </p:nvSpPr>
        <p:spPr>
          <a:xfrm>
            <a:off x="5394960" y="1600200"/>
            <a:ext cx="301752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Affected people, omitted obligations, the basis for mutual satisfaction</a:t>
            </a:r>
          </a:p>
        </p:txBody>
      </p:sp>
      <p:sp>
        <p:nvSpPr>
          <p:cNvPr id="19" name="Rectangle 18"/>
          <p:cNvSpPr/>
          <p:nvPr/>
        </p:nvSpPr>
        <p:spPr>
          <a:xfrm>
            <a:off x="640080" y="2770632"/>
            <a:ext cx="7863840" cy="9144"/>
          </a:xfrm>
          <a:prstGeom prst="rect">
            <a:avLst/>
          </a:prstGeom>
          <a:solidFill>
            <a:srgbClr val="D5DBEA"/>
          </a:solidFill>
          <a:ln>
            <a:noFill/>
          </a:ln>
        </p:spPr>
        <p:txBody>
          <a:bodyPr rtlCol="0" anchor="ctr"/>
          <a:lstStyle/>
          <a:p>
            <a:pPr algn="ctr"/>
          </a:p>
        </p:txBody>
      </p:sp>
      <p:sp>
        <p:nvSpPr>
          <p:cNvPr id="20" name="TextBox 19"/>
          <p:cNvSpPr txBox="1"/>
          <p:nvPr/>
        </p:nvSpPr>
        <p:spPr>
          <a:xfrm>
            <a:off x="731519" y="2203703"/>
            <a:ext cx="1188720" cy="548640"/>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Human dharma</a:t>
            </a:r>
          </a:p>
        </p:txBody>
      </p:sp>
      <p:sp>
        <p:nvSpPr>
          <p:cNvPr id="21" name="TextBox 20"/>
          <p:cNvSpPr txBox="1"/>
          <p:nvPr/>
        </p:nvSpPr>
        <p:spPr>
          <a:xfrm>
            <a:off x="2103120" y="2203703"/>
            <a:ext cx="310896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Does this way of living support resolution and continuing happiness?</a:t>
            </a:r>
          </a:p>
        </p:txBody>
      </p:sp>
      <p:sp>
        <p:nvSpPr>
          <p:cNvPr id="22" name="TextBox 21"/>
          <p:cNvSpPr txBox="1"/>
          <p:nvPr/>
        </p:nvSpPr>
        <p:spPr>
          <a:xfrm>
            <a:off x="5394960" y="2203703"/>
            <a:ext cx="301752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Assumptions about satisfaction; changes needed in purpose or means</a:t>
            </a:r>
          </a:p>
        </p:txBody>
      </p:sp>
      <p:sp>
        <p:nvSpPr>
          <p:cNvPr id="23" name="Rectangle 22"/>
          <p:cNvSpPr/>
          <p:nvPr/>
        </p:nvSpPr>
        <p:spPr>
          <a:xfrm>
            <a:off x="640080" y="2779776"/>
            <a:ext cx="7863840" cy="603504"/>
          </a:xfrm>
          <a:prstGeom prst="rect">
            <a:avLst/>
          </a:prstGeom>
          <a:solidFill>
            <a:srgbClr val="EEF1F8"/>
          </a:solidFill>
          <a:ln>
            <a:noFill/>
          </a:ln>
        </p:spPr>
        <p:txBody>
          <a:bodyPr rtlCol="0" anchor="ctr"/>
          <a:lstStyle/>
          <a:p>
            <a:pPr algn="ctr"/>
          </a:p>
        </p:txBody>
      </p:sp>
      <p:sp>
        <p:nvSpPr>
          <p:cNvPr id="24" name="Rectangle 23"/>
          <p:cNvSpPr/>
          <p:nvPr/>
        </p:nvSpPr>
        <p:spPr>
          <a:xfrm>
            <a:off x="640080" y="3374136"/>
            <a:ext cx="7863840" cy="9144"/>
          </a:xfrm>
          <a:prstGeom prst="rect">
            <a:avLst/>
          </a:prstGeom>
          <a:solidFill>
            <a:srgbClr val="D5DBEA"/>
          </a:solidFill>
          <a:ln>
            <a:noFill/>
          </a:ln>
        </p:spPr>
        <p:txBody>
          <a:bodyPr rtlCol="0" anchor="ctr"/>
          <a:lstStyle/>
          <a:p>
            <a:pPr algn="ctr"/>
          </a:p>
        </p:txBody>
      </p:sp>
      <p:sp>
        <p:nvSpPr>
          <p:cNvPr id="25" name="TextBox 24"/>
          <p:cNvSpPr txBox="1"/>
          <p:nvPr/>
        </p:nvSpPr>
        <p:spPr>
          <a:xfrm>
            <a:off x="731519" y="2807208"/>
            <a:ext cx="1188720" cy="548640"/>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Truth</a:t>
            </a:r>
          </a:p>
        </p:txBody>
      </p:sp>
      <p:sp>
        <p:nvSpPr>
          <p:cNvPr id="26" name="TextBox 25"/>
          <p:cNvSpPr txBox="1"/>
          <p:nvPr/>
        </p:nvSpPr>
        <p:spPr>
          <a:xfrm>
            <a:off x="2103120" y="2807208"/>
            <a:ext cx="310896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What account is accepted, and how can it be examined against reality?</a:t>
            </a:r>
          </a:p>
        </p:txBody>
      </p:sp>
      <p:sp>
        <p:nvSpPr>
          <p:cNvPr id="27" name="TextBox 26"/>
          <p:cNvSpPr txBox="1"/>
          <p:nvPr/>
        </p:nvSpPr>
        <p:spPr>
          <a:xfrm>
            <a:off x="5394960" y="2807208"/>
            <a:ext cx="301752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Sources, observations, inferences, unsupported beliefs</a:t>
            </a:r>
          </a:p>
        </p:txBody>
      </p:sp>
      <p:sp>
        <p:nvSpPr>
          <p:cNvPr id="28" name="Rectangle 27"/>
          <p:cNvSpPr/>
          <p:nvPr/>
        </p:nvSpPr>
        <p:spPr>
          <a:xfrm>
            <a:off x="640080" y="3977640"/>
            <a:ext cx="7863840" cy="9144"/>
          </a:xfrm>
          <a:prstGeom prst="rect">
            <a:avLst/>
          </a:prstGeom>
          <a:solidFill>
            <a:srgbClr val="D5DBEA"/>
          </a:solidFill>
          <a:ln>
            <a:noFill/>
          </a:ln>
        </p:spPr>
        <p:txBody>
          <a:bodyPr rtlCol="0" anchor="ctr"/>
          <a:lstStyle/>
          <a:p>
            <a:pPr algn="ctr"/>
          </a:p>
        </p:txBody>
      </p:sp>
      <p:sp>
        <p:nvSpPr>
          <p:cNvPr id="29" name="TextBox 28"/>
          <p:cNvSpPr txBox="1"/>
          <p:nvPr/>
        </p:nvSpPr>
        <p:spPr>
          <a:xfrm>
            <a:off x="731519" y="3410712"/>
            <a:ext cx="1188720" cy="548640"/>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Right use</a:t>
            </a:r>
          </a:p>
        </p:txBody>
      </p:sp>
      <p:sp>
        <p:nvSpPr>
          <p:cNvPr id="30" name="TextBox 29"/>
          <p:cNvSpPr txBox="1"/>
          <p:nvPr/>
        </p:nvSpPr>
        <p:spPr>
          <a:xfrm>
            <a:off x="2103120" y="3410712"/>
            <a:ext cx="310896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What need does the resource serve, and what protects its continuity?</a:t>
            </a:r>
          </a:p>
        </p:txBody>
      </p:sp>
      <p:sp>
        <p:nvSpPr>
          <p:cNvPr id="31" name="TextBox 30"/>
          <p:cNvSpPr txBox="1"/>
          <p:nvPr/>
        </p:nvSpPr>
        <p:spPr>
          <a:xfrm>
            <a:off x="5394960" y="3410712"/>
            <a:ext cx="3017520" cy="548640"/>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The resource, its purpose, effects on others, conditions of renewal</a:t>
            </a:r>
          </a:p>
        </p:txBody>
      </p:sp>
      <p:sp>
        <p:nvSpPr>
          <p:cNvPr id="32" name="Rounded Rectangle 31"/>
          <p:cNvSpPr/>
          <p:nvPr/>
        </p:nvSpPr>
        <p:spPr>
          <a:xfrm>
            <a:off x="640080" y="4096512"/>
            <a:ext cx="7863840" cy="548640"/>
          </a:xfrm>
          <a:prstGeom prst="roundRect">
            <a:avLst>
              <a:gd name="adj" fmla="val 18000"/>
            </a:avLst>
          </a:prstGeom>
          <a:solidFill>
            <a:srgbClr val="1E2447"/>
          </a:solidFill>
          <a:ln>
            <a:noFill/>
          </a:ln>
        </p:spPr>
        <p:txBody>
          <a:bodyPr rtlCol="0" anchor="ctr"/>
          <a:lstStyle/>
          <a:p>
            <a:pPr algn="ctr"/>
          </a:p>
        </p:txBody>
      </p:sp>
      <p:sp>
        <p:nvSpPr>
          <p:cNvPr id="33" name="TextBox 32"/>
          <p:cNvSpPr txBox="1"/>
          <p:nvPr/>
        </p:nvSpPr>
        <p:spPr>
          <a:xfrm>
            <a:off x="868680" y="4096512"/>
            <a:ext cx="7406640" cy="548640"/>
          </a:xfrm>
          <a:prstGeom prst="rect">
            <a:avLst/>
          </a:prstGeom>
          <a:noFill/>
        </p:spPr>
        <p:txBody>
          <a:bodyPr wrap="square" lIns="0" rIns="0" tIns="0" bIns="0" anchor="ctr">
            <a:noAutofit/>
          </a:bodyPr>
          <a:lstStyle/>
          <a:p>
            <a:pPr algn="ctr">
              <a:spcBef>
                <a:spcPts val="0"/>
              </a:spcBef>
              <a:spcAft>
                <a:spcPts val="0"/>
              </a:spcAft>
            </a:pPr>
            <a:r>
              <a:rPr sz="1200" b="0" i="1">
                <a:solidFill>
                  <a:srgbClr val="FFFFFF"/>
                </a:solidFill>
                <a:latin typeface="Calibri"/>
              </a:rPr>
              <a:t>“Naming justice while preserving an unfair arrangement accomplishes nothing; the proposed action must change.”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IV  ·  GOVERNANCE  ·  §4.5</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Governing the Mirror Itself</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NIST 2024 §2.7  ·  Note §4.5  ·  AnalyticMadhyasthDarshan.org  ·  21 / 31</a:t>
            </a:r>
          </a:p>
        </p:txBody>
      </p:sp>
      <p:sp>
        <p:nvSpPr>
          <p:cNvPr id="8" name="Rounded Rectangle 7"/>
          <p:cNvSpPr/>
          <p:nvPr/>
        </p:nvSpPr>
        <p:spPr>
          <a:xfrm>
            <a:off x="640080" y="1280160"/>
            <a:ext cx="3840480" cy="2971800"/>
          </a:xfrm>
          <a:prstGeom prst="roundRect">
            <a:avLst>
              <a:gd name="adj" fmla="val 6000"/>
            </a:avLst>
          </a:prstGeom>
          <a:solidFill>
            <a:srgbClr val="F1F2F4"/>
          </a:solidFill>
          <a:ln>
            <a:noFill/>
          </a:ln>
        </p:spPr>
        <p:txBody>
          <a:bodyPr rtlCol="0" anchor="ctr"/>
          <a:lstStyle/>
          <a:p>
            <a:pPr algn="ctr"/>
          </a:p>
        </p:txBody>
      </p:sp>
      <p:sp>
        <p:nvSpPr>
          <p:cNvPr id="9" name="Rounded Rectangle 8"/>
          <p:cNvSpPr/>
          <p:nvPr/>
        </p:nvSpPr>
        <p:spPr>
          <a:xfrm>
            <a:off x="2980944" y="1188720"/>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298094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41248" y="1389888"/>
            <a:ext cx="3474720" cy="292608"/>
          </a:xfrm>
          <a:prstGeom prst="rect">
            <a:avLst/>
          </a:prstGeom>
          <a:noFill/>
        </p:spPr>
        <p:txBody>
          <a:bodyPr wrap="square" lIns="0" rIns="0" tIns="0" bIns="0" anchor="ctr">
            <a:noAutofit/>
          </a:bodyPr>
          <a:lstStyle/>
          <a:p>
            <a:pPr algn="l">
              <a:spcBef>
                <a:spcPts val="0"/>
              </a:spcBef>
              <a:spcAft>
                <a:spcPts val="0"/>
              </a:spcAft>
            </a:pPr>
            <a:r>
              <a:rPr sz="1350" b="1" i="0">
                <a:solidFill>
                  <a:srgbClr val="1E2447"/>
                </a:solidFill>
                <a:latin typeface="Cambria"/>
              </a:rPr>
              <a:t>Three disguises</a:t>
            </a:r>
          </a:p>
        </p:txBody>
      </p:sp>
      <p:sp>
        <p:nvSpPr>
          <p:cNvPr id="12" name="Oval 11"/>
          <p:cNvSpPr/>
          <p:nvPr/>
        </p:nvSpPr>
        <p:spPr>
          <a:xfrm>
            <a:off x="868680" y="1879092"/>
            <a:ext cx="73152" cy="73152"/>
          </a:xfrm>
          <a:prstGeom prst="ellipse">
            <a:avLst/>
          </a:prstGeom>
          <a:solidFill>
            <a:srgbClr val="5A6377"/>
          </a:solidFill>
          <a:ln>
            <a:noFill/>
          </a:ln>
        </p:spPr>
        <p:txBody>
          <a:bodyPr rtlCol="0" anchor="ctr"/>
          <a:lstStyle/>
          <a:p>
            <a:pPr algn="ctr"/>
          </a:p>
        </p:txBody>
      </p:sp>
      <p:sp>
        <p:nvSpPr>
          <p:cNvPr id="13" name="TextBox 12"/>
          <p:cNvSpPr txBox="1"/>
          <p:nvPr/>
        </p:nvSpPr>
        <p:spPr>
          <a:xfrm>
            <a:off x="1033271" y="1810512"/>
            <a:ext cx="3310127" cy="512064"/>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A justice score</a:t>
            </a:r>
            <a:r>
              <a:rPr sz="1200" b="0" i="0">
                <a:solidFill>
                  <a:srgbClr val="5A6377"/>
                </a:solidFill>
                <a:latin typeface="Calibri"/>
              </a:rPr>
              <a:t> legitimising an unfair plan</a:t>
            </a:r>
          </a:p>
        </p:txBody>
      </p:sp>
      <p:sp>
        <p:nvSpPr>
          <p:cNvPr id="14" name="Oval 13"/>
          <p:cNvSpPr/>
          <p:nvPr/>
        </p:nvSpPr>
        <p:spPr>
          <a:xfrm>
            <a:off x="868680" y="2446020"/>
            <a:ext cx="73152" cy="73152"/>
          </a:xfrm>
          <a:prstGeom prst="ellipse">
            <a:avLst/>
          </a:prstGeom>
          <a:solidFill>
            <a:srgbClr val="5A6377"/>
          </a:solidFill>
          <a:ln>
            <a:noFill/>
          </a:ln>
        </p:spPr>
        <p:txBody>
          <a:bodyPr rtlCol="0" anchor="ctr"/>
          <a:lstStyle/>
          <a:p>
            <a:pPr algn="ctr"/>
          </a:p>
        </p:txBody>
      </p:sp>
      <p:sp>
        <p:nvSpPr>
          <p:cNvPr id="15" name="TextBox 14"/>
          <p:cNvSpPr txBox="1"/>
          <p:nvPr/>
        </p:nvSpPr>
        <p:spPr>
          <a:xfrm>
            <a:off x="1033271" y="2377440"/>
            <a:ext cx="3310127" cy="512064"/>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Agreement</a:t>
            </a:r>
            <a:r>
              <a:rPr sz="1200" b="0" i="0">
                <a:solidFill>
                  <a:srgbClr val="5A6377"/>
                </a:solidFill>
                <a:latin typeface="Calibri"/>
              </a:rPr>
              <a:t> rewarded as understanding</a:t>
            </a:r>
          </a:p>
        </p:txBody>
      </p:sp>
      <p:sp>
        <p:nvSpPr>
          <p:cNvPr id="16" name="Oval 15"/>
          <p:cNvSpPr/>
          <p:nvPr/>
        </p:nvSpPr>
        <p:spPr>
          <a:xfrm>
            <a:off x="868680" y="3012948"/>
            <a:ext cx="73152" cy="73152"/>
          </a:xfrm>
          <a:prstGeom prst="ellipse">
            <a:avLst/>
          </a:prstGeom>
          <a:solidFill>
            <a:srgbClr val="5A6377"/>
          </a:solidFill>
          <a:ln>
            <a:noFill/>
          </a:ln>
        </p:spPr>
        <p:txBody>
          <a:bodyPr rtlCol="0" anchor="ctr"/>
          <a:lstStyle/>
          <a:p>
            <a:pPr algn="ctr"/>
          </a:p>
        </p:txBody>
      </p:sp>
      <p:sp>
        <p:nvSpPr>
          <p:cNvPr id="17" name="TextBox 16"/>
          <p:cNvSpPr txBox="1"/>
          <p:nvPr/>
        </p:nvSpPr>
        <p:spPr>
          <a:xfrm>
            <a:off x="1033271" y="2944368"/>
            <a:ext cx="3310127" cy="512064"/>
          </a:xfrm>
          <a:prstGeom prst="rect">
            <a:avLst/>
          </a:prstGeom>
          <a:noFill/>
        </p:spPr>
        <p:txBody>
          <a:bodyPr wrap="square" lIns="0" rIns="0" tIns="0" bIns="0" anchor="t">
            <a:noAutofit/>
          </a:bodyPr>
          <a:lstStyle/>
          <a:p>
            <a:pPr algn="l">
              <a:spcBef>
                <a:spcPts val="0"/>
              </a:spcBef>
              <a:spcAft>
                <a:spcPts val="0"/>
              </a:spcAft>
            </a:pPr>
            <a:r>
              <a:rPr sz="1200" b="1" i="0">
                <a:solidFill>
                  <a:srgbClr val="5A6377"/>
                </a:solidFill>
                <a:latin typeface="Calibri"/>
              </a:rPr>
              <a:t>Dependence</a:t>
            </a:r>
            <a:r>
              <a:rPr sz="1200" b="0" i="0">
                <a:solidFill>
                  <a:srgbClr val="5A6377"/>
                </a:solidFill>
                <a:latin typeface="Calibri"/>
              </a:rPr>
              <a:t> presented as dedication</a:t>
            </a:r>
          </a:p>
        </p:txBody>
      </p:sp>
      <p:sp>
        <p:nvSpPr>
          <p:cNvPr id="18" name="TextBox 17"/>
          <p:cNvSpPr txBox="1"/>
          <p:nvPr/>
        </p:nvSpPr>
        <p:spPr>
          <a:xfrm>
            <a:off x="868680" y="3547872"/>
            <a:ext cx="3429000" cy="603504"/>
          </a:xfrm>
          <a:prstGeom prst="rect">
            <a:avLst/>
          </a:prstGeom>
          <a:noFill/>
        </p:spPr>
        <p:txBody>
          <a:bodyPr wrap="square" lIns="0" rIns="0" tIns="0" bIns="0" anchor="t">
            <a:noAutofit/>
          </a:bodyPr>
          <a:lstStyle/>
          <a:p>
            <a:pPr algn="l">
              <a:spcBef>
                <a:spcPts val="0"/>
              </a:spcBef>
              <a:spcAft>
                <a:spcPts val="0"/>
              </a:spcAft>
            </a:pPr>
            <a:r>
              <a:rPr sz="1100" b="0" i="1">
                <a:solidFill>
                  <a:srgbClr val="5A6377"/>
                </a:solidFill>
                <a:latin typeface="Calibri"/>
              </a:rPr>
              <a:t>In education: completed answers and screen time can hide weak independent learning.</a:t>
            </a:r>
          </a:p>
        </p:txBody>
      </p:sp>
      <p:sp>
        <p:nvSpPr>
          <p:cNvPr id="19" name="Rounded Rectangle 18"/>
          <p:cNvSpPr/>
          <p:nvPr/>
        </p:nvSpPr>
        <p:spPr>
          <a:xfrm>
            <a:off x="4663440" y="1280160"/>
            <a:ext cx="3840480" cy="2971800"/>
          </a:xfrm>
          <a:prstGeom prst="roundRect">
            <a:avLst>
              <a:gd name="adj" fmla="val 6000"/>
            </a:avLst>
          </a:prstGeom>
          <a:solidFill>
            <a:srgbClr val="FAF1DF"/>
          </a:solidFill>
          <a:ln>
            <a:noFill/>
          </a:ln>
        </p:spPr>
        <p:txBody>
          <a:bodyPr rtlCol="0" anchor="ctr"/>
          <a:lstStyle/>
          <a:p>
            <a:pPr algn="ctr"/>
          </a:p>
        </p:txBody>
      </p:sp>
      <p:sp>
        <p:nvSpPr>
          <p:cNvPr id="20" name="Rounded Rectangle 19"/>
          <p:cNvSpPr/>
          <p:nvPr/>
        </p:nvSpPr>
        <p:spPr>
          <a:xfrm>
            <a:off x="7004304" y="1188720"/>
            <a:ext cx="1371600" cy="182880"/>
          </a:xfrm>
          <a:prstGeom prst="roundRect">
            <a:avLst>
              <a:gd name="adj" fmla="val 50000"/>
            </a:avLst>
          </a:prstGeom>
          <a:solidFill>
            <a:srgbClr val="C9821E"/>
          </a:solidFill>
          <a:ln>
            <a:noFill/>
          </a:ln>
        </p:spPr>
        <p:txBody>
          <a:bodyPr rtlCol="0" anchor="ctr"/>
          <a:lstStyle/>
          <a:p>
            <a:pPr algn="ctr"/>
          </a:p>
        </p:txBody>
      </p:sp>
      <p:sp>
        <p:nvSpPr>
          <p:cNvPr id="21" name="TextBox 20"/>
          <p:cNvSpPr txBox="1"/>
          <p:nvPr/>
        </p:nvSpPr>
        <p:spPr>
          <a:xfrm>
            <a:off x="700430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2" name="TextBox 21"/>
          <p:cNvSpPr txBox="1"/>
          <p:nvPr/>
        </p:nvSpPr>
        <p:spPr>
          <a:xfrm>
            <a:off x="4864608" y="1389888"/>
            <a:ext cx="3474720" cy="292608"/>
          </a:xfrm>
          <a:prstGeom prst="rect">
            <a:avLst/>
          </a:prstGeom>
          <a:noFill/>
        </p:spPr>
        <p:txBody>
          <a:bodyPr wrap="square" lIns="0" rIns="0" tIns="0" bIns="0" anchor="ctr">
            <a:noAutofit/>
          </a:bodyPr>
          <a:lstStyle/>
          <a:p>
            <a:pPr algn="l">
              <a:spcBef>
                <a:spcPts val="0"/>
              </a:spcBef>
              <a:spcAft>
                <a:spcPts val="0"/>
              </a:spcAft>
            </a:pPr>
            <a:r>
              <a:rPr sz="1350" b="1" i="0">
                <a:solidFill>
                  <a:srgbClr val="9A6414"/>
                </a:solidFill>
                <a:latin typeface="Cambria"/>
              </a:rPr>
              <a:t>Correction that works</a:t>
            </a:r>
          </a:p>
        </p:txBody>
      </p:sp>
      <p:sp>
        <p:nvSpPr>
          <p:cNvPr id="23" name="Oval 22"/>
          <p:cNvSpPr/>
          <p:nvPr/>
        </p:nvSpPr>
        <p:spPr>
          <a:xfrm>
            <a:off x="4892040" y="1879092"/>
            <a:ext cx="73152" cy="73152"/>
          </a:xfrm>
          <a:prstGeom prst="ellipse">
            <a:avLst/>
          </a:prstGeom>
          <a:solidFill>
            <a:srgbClr val="C9821E"/>
          </a:solidFill>
          <a:ln>
            <a:noFill/>
          </a:ln>
        </p:spPr>
        <p:txBody>
          <a:bodyPr rtlCol="0" anchor="ctr"/>
          <a:lstStyle/>
          <a:p>
            <a:pPr algn="ctr"/>
          </a:p>
        </p:txBody>
      </p:sp>
      <p:sp>
        <p:nvSpPr>
          <p:cNvPr id="24" name="TextBox 23"/>
          <p:cNvSpPr txBox="1"/>
          <p:nvPr/>
        </p:nvSpPr>
        <p:spPr>
          <a:xfrm>
            <a:off x="5056631" y="1810512"/>
            <a:ext cx="3310127" cy="43891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An unverified allegation stays marked</a:t>
            </a:r>
          </a:p>
        </p:txBody>
      </p:sp>
      <p:sp>
        <p:nvSpPr>
          <p:cNvPr id="25" name="Oval 24"/>
          <p:cNvSpPr/>
          <p:nvPr/>
        </p:nvSpPr>
        <p:spPr>
          <a:xfrm>
            <a:off x="4892040" y="2336292"/>
            <a:ext cx="73152" cy="73152"/>
          </a:xfrm>
          <a:prstGeom prst="ellipse">
            <a:avLst/>
          </a:prstGeom>
          <a:solidFill>
            <a:srgbClr val="C9821E"/>
          </a:solidFill>
          <a:ln>
            <a:noFill/>
          </a:ln>
        </p:spPr>
        <p:txBody>
          <a:bodyPr rtlCol="0" anchor="ctr"/>
          <a:lstStyle/>
          <a:p>
            <a:pPr algn="ctr"/>
          </a:p>
        </p:txBody>
      </p:sp>
      <p:sp>
        <p:nvSpPr>
          <p:cNvPr id="26" name="TextBox 25"/>
          <p:cNvSpPr txBox="1"/>
          <p:nvPr/>
        </p:nvSpPr>
        <p:spPr>
          <a:xfrm>
            <a:off x="5056631" y="2267712"/>
            <a:ext cx="3310127" cy="43891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 corrected record stays corrected</a:t>
            </a:r>
          </a:p>
        </p:txBody>
      </p:sp>
      <p:sp>
        <p:nvSpPr>
          <p:cNvPr id="27" name="Oval 26"/>
          <p:cNvSpPr/>
          <p:nvPr/>
        </p:nvSpPr>
        <p:spPr>
          <a:xfrm>
            <a:off x="4892040" y="2793492"/>
            <a:ext cx="73152" cy="73152"/>
          </a:xfrm>
          <a:prstGeom prst="ellipse">
            <a:avLst/>
          </a:prstGeom>
          <a:solidFill>
            <a:srgbClr val="C9821E"/>
          </a:solidFill>
          <a:ln>
            <a:noFill/>
          </a:ln>
        </p:spPr>
        <p:txBody>
          <a:bodyPr rtlCol="0" anchor="ctr"/>
          <a:lstStyle/>
          <a:p>
            <a:pPr algn="ctr"/>
          </a:p>
        </p:txBody>
      </p:sp>
      <p:sp>
        <p:nvSpPr>
          <p:cNvPr id="28" name="TextBox 27"/>
          <p:cNvSpPr txBox="1"/>
          <p:nvPr/>
        </p:nvSpPr>
        <p:spPr>
          <a:xfrm>
            <a:off x="5056631" y="2724912"/>
            <a:ext cx="3310127" cy="43891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An omitted obligation changes the plan</a:t>
            </a:r>
          </a:p>
        </p:txBody>
      </p:sp>
      <p:sp>
        <p:nvSpPr>
          <p:cNvPr id="29" name="Oval 28"/>
          <p:cNvSpPr/>
          <p:nvPr/>
        </p:nvSpPr>
        <p:spPr>
          <a:xfrm>
            <a:off x="4892040" y="3250692"/>
            <a:ext cx="73152" cy="73152"/>
          </a:xfrm>
          <a:prstGeom prst="ellipse">
            <a:avLst/>
          </a:prstGeom>
          <a:solidFill>
            <a:srgbClr val="C9821E"/>
          </a:solidFill>
          <a:ln>
            <a:noFill/>
          </a:ln>
        </p:spPr>
        <p:txBody>
          <a:bodyPr rtlCol="0" anchor="ctr"/>
          <a:lstStyle/>
          <a:p>
            <a:pPr algn="ctr"/>
          </a:p>
        </p:txBody>
      </p:sp>
      <p:sp>
        <p:nvSpPr>
          <p:cNvPr id="30" name="TextBox 29"/>
          <p:cNvSpPr txBox="1"/>
          <p:nvPr/>
        </p:nvSpPr>
        <p:spPr>
          <a:xfrm>
            <a:off x="5056631" y="3182112"/>
            <a:ext cx="3310127" cy="43891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 completed task is allowed to end</a:t>
            </a:r>
          </a:p>
        </p:txBody>
      </p:sp>
      <p:sp>
        <p:nvSpPr>
          <p:cNvPr id="31" name="Oval 30"/>
          <p:cNvSpPr/>
          <p:nvPr/>
        </p:nvSpPr>
        <p:spPr>
          <a:xfrm>
            <a:off x="4892040" y="3707891"/>
            <a:ext cx="73152" cy="73152"/>
          </a:xfrm>
          <a:prstGeom prst="ellipse">
            <a:avLst/>
          </a:prstGeom>
          <a:solidFill>
            <a:srgbClr val="C9821E"/>
          </a:solidFill>
          <a:ln>
            <a:noFill/>
          </a:ln>
        </p:spPr>
        <p:txBody>
          <a:bodyPr rtlCol="0" anchor="ctr"/>
          <a:lstStyle/>
          <a:p>
            <a:pPr algn="ctr"/>
          </a:p>
        </p:txBody>
      </p:sp>
      <p:sp>
        <p:nvSpPr>
          <p:cNvPr id="32" name="TextBox 31"/>
          <p:cNvSpPr txBox="1"/>
          <p:nvPr/>
        </p:nvSpPr>
        <p:spPr>
          <a:xfrm>
            <a:off x="5056631" y="3639312"/>
            <a:ext cx="3310127" cy="43891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People see evidence, challenge it, control records, and stop actions</a:t>
            </a:r>
          </a:p>
        </p:txBody>
      </p:sp>
      <p:sp>
        <p:nvSpPr>
          <p:cNvPr id="33" name="TextBox 32"/>
          <p:cNvSpPr txBox="1"/>
          <p:nvPr/>
        </p:nvSpPr>
        <p:spPr>
          <a:xfrm>
            <a:off x="640080" y="4315968"/>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A second model or human approval helps only if it actually examines the reasons.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  ·  EDUCATION  ·  §5.1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Educational Companion</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 139  ·  MVD pp. 103–104, 257, 284–285  ·  AnalyticMadhyasthDarshan.org  ·  22 / 31</a:t>
            </a:r>
          </a:p>
        </p:txBody>
      </p:sp>
      <p:sp>
        <p:nvSpPr>
          <p:cNvPr id="8" name="Rounded Rectangle 7"/>
          <p:cNvSpPr/>
          <p:nvPr/>
        </p:nvSpPr>
        <p:spPr>
          <a:xfrm>
            <a:off x="7132320" y="1042415"/>
            <a:ext cx="1371600" cy="182880"/>
          </a:xfrm>
          <a:prstGeom prst="roundRect">
            <a:avLst>
              <a:gd name="adj" fmla="val 50000"/>
            </a:avLst>
          </a:prstGeom>
          <a:solidFill>
            <a:srgbClr val="C9821E"/>
          </a:solidFill>
          <a:ln>
            <a:noFill/>
          </a:ln>
        </p:spPr>
        <p:txBody>
          <a:bodyPr rtlCol="0" anchor="ctr"/>
          <a:lstStyle/>
          <a:p>
            <a:pPr algn="ctr"/>
          </a:p>
        </p:txBody>
      </p:sp>
      <p:sp>
        <p:nvSpPr>
          <p:cNvPr id="9" name="TextBox 8"/>
          <p:cNvSpPr txBox="1"/>
          <p:nvPr/>
        </p:nvSpPr>
        <p:spPr>
          <a:xfrm>
            <a:off x="7132320" y="1042415"/>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0" name="Rounded Rectangle 9"/>
          <p:cNvSpPr/>
          <p:nvPr/>
        </p:nvSpPr>
        <p:spPr>
          <a:xfrm>
            <a:off x="640080" y="1280160"/>
            <a:ext cx="1188720" cy="566928"/>
          </a:xfrm>
          <a:prstGeom prst="roundRect">
            <a:avLst>
              <a:gd name="adj" fmla="val 14000"/>
            </a:avLst>
          </a:prstGeom>
          <a:solidFill>
            <a:srgbClr val="3B4A7A"/>
          </a:solidFill>
          <a:ln>
            <a:noFill/>
          </a:ln>
        </p:spPr>
        <p:txBody>
          <a:bodyPr rtlCol="0" anchor="ctr"/>
          <a:lstStyle/>
          <a:p>
            <a:pPr algn="ctr"/>
          </a:p>
        </p:txBody>
      </p:sp>
      <p:sp>
        <p:nvSpPr>
          <p:cNvPr id="11" name="TextBox 10"/>
          <p:cNvSpPr txBox="1"/>
          <p:nvPr/>
        </p:nvSpPr>
        <p:spPr>
          <a:xfrm>
            <a:off x="694944" y="1280160"/>
            <a:ext cx="1078992"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Question</a:t>
            </a:r>
          </a:p>
        </p:txBody>
      </p:sp>
      <p:sp>
        <p:nvSpPr>
          <p:cNvPr id="12" name="TextBox 11"/>
          <p:cNvSpPr txBox="1"/>
          <p:nvPr/>
        </p:nvSpPr>
        <p:spPr>
          <a:xfrm>
            <a:off x="1810512" y="1380744"/>
            <a:ext cx="182880" cy="365760"/>
          </a:xfrm>
          <a:prstGeom prst="rect">
            <a:avLst/>
          </a:prstGeom>
          <a:noFill/>
        </p:spPr>
        <p:txBody>
          <a:bodyPr wrap="square" lIns="0" rIns="0" tIns="0" bIns="0" anchor="ctr">
            <a:noAutofit/>
          </a:bodyPr>
          <a:lstStyle/>
          <a:p>
            <a:pPr algn="ctr">
              <a:spcBef>
                <a:spcPts val="0"/>
              </a:spcBef>
              <a:spcAft>
                <a:spcPts val="0"/>
              </a:spcAft>
            </a:pPr>
            <a:r>
              <a:rPr sz="1600" b="1" i="0">
                <a:solidFill>
                  <a:srgbClr val="C9821E"/>
                </a:solidFill>
                <a:latin typeface="Calibri"/>
              </a:rPr>
              <a:t>›</a:t>
            </a:r>
          </a:p>
        </p:txBody>
      </p:sp>
      <p:sp>
        <p:nvSpPr>
          <p:cNvPr id="13" name="Rounded Rectangle 12"/>
          <p:cNvSpPr/>
          <p:nvPr/>
        </p:nvSpPr>
        <p:spPr>
          <a:xfrm>
            <a:off x="1965960" y="1280160"/>
            <a:ext cx="1188720" cy="566928"/>
          </a:xfrm>
          <a:prstGeom prst="roundRect">
            <a:avLst>
              <a:gd name="adj" fmla="val 14000"/>
            </a:avLst>
          </a:prstGeom>
          <a:solidFill>
            <a:srgbClr val="3B4A7A"/>
          </a:solidFill>
          <a:ln>
            <a:noFill/>
          </a:ln>
        </p:spPr>
        <p:txBody>
          <a:bodyPr rtlCol="0" anchor="ctr"/>
          <a:lstStyle/>
          <a:p>
            <a:pPr algn="ctr"/>
          </a:p>
        </p:txBody>
      </p:sp>
      <p:sp>
        <p:nvSpPr>
          <p:cNvPr id="14" name="TextBox 13"/>
          <p:cNvSpPr txBox="1"/>
          <p:nvPr/>
        </p:nvSpPr>
        <p:spPr>
          <a:xfrm>
            <a:off x="2020824" y="1280160"/>
            <a:ext cx="1078992"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Source</a:t>
            </a:r>
          </a:p>
        </p:txBody>
      </p:sp>
      <p:sp>
        <p:nvSpPr>
          <p:cNvPr id="15" name="TextBox 14"/>
          <p:cNvSpPr txBox="1"/>
          <p:nvPr/>
        </p:nvSpPr>
        <p:spPr>
          <a:xfrm>
            <a:off x="3136391" y="1380744"/>
            <a:ext cx="182880" cy="365760"/>
          </a:xfrm>
          <a:prstGeom prst="rect">
            <a:avLst/>
          </a:prstGeom>
          <a:noFill/>
        </p:spPr>
        <p:txBody>
          <a:bodyPr wrap="square" lIns="0" rIns="0" tIns="0" bIns="0" anchor="ctr">
            <a:noAutofit/>
          </a:bodyPr>
          <a:lstStyle/>
          <a:p>
            <a:pPr algn="ctr">
              <a:spcBef>
                <a:spcPts val="0"/>
              </a:spcBef>
              <a:spcAft>
                <a:spcPts val="0"/>
              </a:spcAft>
            </a:pPr>
            <a:r>
              <a:rPr sz="1600" b="1" i="0">
                <a:solidFill>
                  <a:srgbClr val="C9821E"/>
                </a:solidFill>
                <a:latin typeface="Calibri"/>
              </a:rPr>
              <a:t>›</a:t>
            </a:r>
          </a:p>
        </p:txBody>
      </p:sp>
      <p:sp>
        <p:nvSpPr>
          <p:cNvPr id="16" name="Rounded Rectangle 15"/>
          <p:cNvSpPr/>
          <p:nvPr/>
        </p:nvSpPr>
        <p:spPr>
          <a:xfrm>
            <a:off x="3291839" y="1280160"/>
            <a:ext cx="1188720" cy="566928"/>
          </a:xfrm>
          <a:prstGeom prst="roundRect">
            <a:avLst>
              <a:gd name="adj" fmla="val 14000"/>
            </a:avLst>
          </a:prstGeom>
          <a:solidFill>
            <a:srgbClr val="C9821E"/>
          </a:solidFill>
          <a:ln>
            <a:noFill/>
          </a:ln>
        </p:spPr>
        <p:txBody>
          <a:bodyPr rtlCol="0" anchor="ctr"/>
          <a:lstStyle/>
          <a:p>
            <a:pPr algn="ctr"/>
          </a:p>
        </p:txBody>
      </p:sp>
      <p:sp>
        <p:nvSpPr>
          <p:cNvPr id="17" name="TextBox 16"/>
          <p:cNvSpPr txBox="1"/>
          <p:nvPr/>
        </p:nvSpPr>
        <p:spPr>
          <a:xfrm>
            <a:off x="3346703" y="1280160"/>
            <a:ext cx="1078992"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Learner's explanation</a:t>
            </a:r>
          </a:p>
        </p:txBody>
      </p:sp>
      <p:sp>
        <p:nvSpPr>
          <p:cNvPr id="18" name="TextBox 17"/>
          <p:cNvSpPr txBox="1"/>
          <p:nvPr/>
        </p:nvSpPr>
        <p:spPr>
          <a:xfrm>
            <a:off x="4462272" y="1380744"/>
            <a:ext cx="182880" cy="365760"/>
          </a:xfrm>
          <a:prstGeom prst="rect">
            <a:avLst/>
          </a:prstGeom>
          <a:noFill/>
        </p:spPr>
        <p:txBody>
          <a:bodyPr wrap="square" lIns="0" rIns="0" tIns="0" bIns="0" anchor="ctr">
            <a:noAutofit/>
          </a:bodyPr>
          <a:lstStyle/>
          <a:p>
            <a:pPr algn="ctr">
              <a:spcBef>
                <a:spcPts val="0"/>
              </a:spcBef>
              <a:spcAft>
                <a:spcPts val="0"/>
              </a:spcAft>
            </a:pPr>
            <a:r>
              <a:rPr sz="1600" b="1" i="0">
                <a:solidFill>
                  <a:srgbClr val="C9821E"/>
                </a:solidFill>
                <a:latin typeface="Calibri"/>
              </a:rPr>
              <a:t>›</a:t>
            </a:r>
          </a:p>
        </p:txBody>
      </p:sp>
      <p:sp>
        <p:nvSpPr>
          <p:cNvPr id="19" name="Rounded Rectangle 18"/>
          <p:cNvSpPr/>
          <p:nvPr/>
        </p:nvSpPr>
        <p:spPr>
          <a:xfrm>
            <a:off x="4617720" y="1280160"/>
            <a:ext cx="1188720" cy="566928"/>
          </a:xfrm>
          <a:prstGeom prst="roundRect">
            <a:avLst>
              <a:gd name="adj" fmla="val 14000"/>
            </a:avLst>
          </a:prstGeom>
          <a:solidFill>
            <a:srgbClr val="3B4A7A"/>
          </a:solidFill>
          <a:ln>
            <a:noFill/>
          </a:ln>
        </p:spPr>
        <p:txBody>
          <a:bodyPr rtlCol="0" anchor="ctr"/>
          <a:lstStyle/>
          <a:p>
            <a:pPr algn="ctr"/>
          </a:p>
        </p:txBody>
      </p:sp>
      <p:sp>
        <p:nvSpPr>
          <p:cNvPr id="20" name="TextBox 19"/>
          <p:cNvSpPr txBox="1"/>
          <p:nvPr/>
        </p:nvSpPr>
        <p:spPr>
          <a:xfrm>
            <a:off x="4672583" y="1280160"/>
            <a:ext cx="1078992"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Practice</a:t>
            </a:r>
          </a:p>
        </p:txBody>
      </p:sp>
      <p:sp>
        <p:nvSpPr>
          <p:cNvPr id="21" name="TextBox 20"/>
          <p:cNvSpPr txBox="1"/>
          <p:nvPr/>
        </p:nvSpPr>
        <p:spPr>
          <a:xfrm>
            <a:off x="5788152" y="1380744"/>
            <a:ext cx="182880" cy="365760"/>
          </a:xfrm>
          <a:prstGeom prst="rect">
            <a:avLst/>
          </a:prstGeom>
          <a:noFill/>
        </p:spPr>
        <p:txBody>
          <a:bodyPr wrap="square" lIns="0" rIns="0" tIns="0" bIns="0" anchor="ctr">
            <a:noAutofit/>
          </a:bodyPr>
          <a:lstStyle/>
          <a:p>
            <a:pPr algn="ctr">
              <a:spcBef>
                <a:spcPts val="0"/>
              </a:spcBef>
              <a:spcAft>
                <a:spcPts val="0"/>
              </a:spcAft>
            </a:pPr>
            <a:r>
              <a:rPr sz="1600" b="1" i="0">
                <a:solidFill>
                  <a:srgbClr val="C9821E"/>
                </a:solidFill>
                <a:latin typeface="Calibri"/>
              </a:rPr>
              <a:t>›</a:t>
            </a:r>
          </a:p>
        </p:txBody>
      </p:sp>
      <p:sp>
        <p:nvSpPr>
          <p:cNvPr id="22" name="Rounded Rectangle 21"/>
          <p:cNvSpPr/>
          <p:nvPr/>
        </p:nvSpPr>
        <p:spPr>
          <a:xfrm>
            <a:off x="5943600" y="1280160"/>
            <a:ext cx="1188720" cy="566928"/>
          </a:xfrm>
          <a:prstGeom prst="roundRect">
            <a:avLst>
              <a:gd name="adj" fmla="val 14000"/>
            </a:avLst>
          </a:prstGeom>
          <a:solidFill>
            <a:srgbClr val="3B4A7A"/>
          </a:solidFill>
          <a:ln>
            <a:noFill/>
          </a:ln>
        </p:spPr>
        <p:txBody>
          <a:bodyPr rtlCol="0" anchor="ctr"/>
          <a:lstStyle/>
          <a:p>
            <a:pPr algn="ctr"/>
          </a:p>
        </p:txBody>
      </p:sp>
      <p:sp>
        <p:nvSpPr>
          <p:cNvPr id="23" name="TextBox 22"/>
          <p:cNvSpPr txBox="1"/>
          <p:nvPr/>
        </p:nvSpPr>
        <p:spPr>
          <a:xfrm>
            <a:off x="5998464" y="1280160"/>
            <a:ext cx="1078992"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Feedback</a:t>
            </a:r>
          </a:p>
        </p:txBody>
      </p:sp>
      <p:sp>
        <p:nvSpPr>
          <p:cNvPr id="24" name="TextBox 23"/>
          <p:cNvSpPr txBox="1"/>
          <p:nvPr/>
        </p:nvSpPr>
        <p:spPr>
          <a:xfrm>
            <a:off x="7114032" y="1380744"/>
            <a:ext cx="182880" cy="365760"/>
          </a:xfrm>
          <a:prstGeom prst="rect">
            <a:avLst/>
          </a:prstGeom>
          <a:noFill/>
        </p:spPr>
        <p:txBody>
          <a:bodyPr wrap="square" lIns="0" rIns="0" tIns="0" bIns="0" anchor="ctr">
            <a:noAutofit/>
          </a:bodyPr>
          <a:lstStyle/>
          <a:p>
            <a:pPr algn="ctr">
              <a:spcBef>
                <a:spcPts val="0"/>
              </a:spcBef>
              <a:spcAft>
                <a:spcPts val="0"/>
              </a:spcAft>
            </a:pPr>
            <a:r>
              <a:rPr sz="1600" b="1" i="0">
                <a:solidFill>
                  <a:srgbClr val="C9821E"/>
                </a:solidFill>
                <a:latin typeface="Calibri"/>
              </a:rPr>
              <a:t>›</a:t>
            </a:r>
          </a:p>
        </p:txBody>
      </p:sp>
      <p:sp>
        <p:nvSpPr>
          <p:cNvPr id="25" name="Rounded Rectangle 24"/>
          <p:cNvSpPr/>
          <p:nvPr/>
        </p:nvSpPr>
        <p:spPr>
          <a:xfrm>
            <a:off x="7269480" y="1280160"/>
            <a:ext cx="1188720" cy="566928"/>
          </a:xfrm>
          <a:prstGeom prst="roundRect">
            <a:avLst>
              <a:gd name="adj" fmla="val 14000"/>
            </a:avLst>
          </a:prstGeom>
          <a:solidFill>
            <a:srgbClr val="C9821E"/>
          </a:solidFill>
          <a:ln>
            <a:noFill/>
          </a:ln>
        </p:spPr>
        <p:txBody>
          <a:bodyPr rtlCol="0" anchor="ctr"/>
          <a:lstStyle/>
          <a:p>
            <a:pPr algn="ctr"/>
          </a:p>
        </p:txBody>
      </p:sp>
      <p:sp>
        <p:nvSpPr>
          <p:cNvPr id="26" name="TextBox 25"/>
          <p:cNvSpPr txBox="1"/>
          <p:nvPr/>
        </p:nvSpPr>
        <p:spPr>
          <a:xfrm>
            <a:off x="7324344" y="1280160"/>
            <a:ext cx="1078992" cy="566928"/>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Independent use</a:t>
            </a:r>
          </a:p>
        </p:txBody>
      </p:sp>
      <p:sp>
        <p:nvSpPr>
          <p:cNvPr id="27" name="Rounded Rectangle 26"/>
          <p:cNvSpPr/>
          <p:nvPr/>
        </p:nvSpPr>
        <p:spPr>
          <a:xfrm>
            <a:off x="640080" y="2121408"/>
            <a:ext cx="3840480" cy="2057400"/>
          </a:xfrm>
          <a:prstGeom prst="roundRect">
            <a:avLst>
              <a:gd name="adj" fmla="val 7000"/>
            </a:avLst>
          </a:prstGeom>
          <a:solidFill>
            <a:srgbClr val="FAF1DF"/>
          </a:solidFill>
          <a:ln>
            <a:noFill/>
          </a:ln>
        </p:spPr>
        <p:txBody>
          <a:bodyPr rtlCol="0" anchor="ctr"/>
          <a:lstStyle/>
          <a:p>
            <a:pPr algn="ctr"/>
          </a:p>
        </p:txBody>
      </p:sp>
      <p:sp>
        <p:nvSpPr>
          <p:cNvPr id="28" name="Rounded Rectangle 27"/>
          <p:cNvSpPr/>
          <p:nvPr/>
        </p:nvSpPr>
        <p:spPr>
          <a:xfrm>
            <a:off x="2980944" y="2029967"/>
            <a:ext cx="1371600" cy="182880"/>
          </a:xfrm>
          <a:prstGeom prst="roundRect">
            <a:avLst>
              <a:gd name="adj" fmla="val 50000"/>
            </a:avLst>
          </a:prstGeom>
          <a:solidFill>
            <a:srgbClr val="C9821E"/>
          </a:solidFill>
          <a:ln>
            <a:noFill/>
          </a:ln>
        </p:spPr>
        <p:txBody>
          <a:bodyPr rtlCol="0" anchor="ctr"/>
          <a:lstStyle/>
          <a:p>
            <a:pPr algn="ctr"/>
          </a:p>
        </p:txBody>
      </p:sp>
      <p:sp>
        <p:nvSpPr>
          <p:cNvPr id="29" name="TextBox 28"/>
          <p:cNvSpPr txBox="1"/>
          <p:nvPr/>
        </p:nvSpPr>
        <p:spPr>
          <a:xfrm>
            <a:off x="2980944" y="2029967"/>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30" name="TextBox 29"/>
          <p:cNvSpPr txBox="1"/>
          <p:nvPr/>
        </p:nvSpPr>
        <p:spPr>
          <a:xfrm>
            <a:off x="822959" y="2240279"/>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Example: what is </a:t>
            </a:r>
            <a:r>
              <a:rPr sz="1300" b="1" i="1">
                <a:solidFill>
                  <a:srgbClr val="9A6414"/>
                </a:solidFill>
                <a:latin typeface="Cambria"/>
              </a:rPr>
              <a:t>samadhan</a:t>
            </a:r>
            <a:r>
              <a:rPr sz="1300" b="1" i="0">
                <a:solidFill>
                  <a:srgbClr val="9A6414"/>
                </a:solidFill>
                <a:latin typeface="Cambria"/>
              </a:rPr>
              <a:t>?</a:t>
            </a:r>
          </a:p>
        </p:txBody>
      </p:sp>
      <p:sp>
        <p:nvSpPr>
          <p:cNvPr id="31" name="TextBox 30"/>
          <p:cNvSpPr txBox="1"/>
          <p:nvPr/>
        </p:nvSpPr>
        <p:spPr>
          <a:xfrm>
            <a:off x="822959" y="2542032"/>
            <a:ext cx="3474720" cy="154533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The learner treats it as solving one isolated problem. The companion asks for their explanation, brings continuing happiness into view, and invites a fresh case explained in their own words.</a:t>
            </a:r>
          </a:p>
        </p:txBody>
      </p:sp>
      <p:sp>
        <p:nvSpPr>
          <p:cNvPr id="32" name="Rounded Rectangle 31"/>
          <p:cNvSpPr/>
          <p:nvPr/>
        </p:nvSpPr>
        <p:spPr>
          <a:xfrm>
            <a:off x="4663440" y="2121408"/>
            <a:ext cx="3840480" cy="2057400"/>
          </a:xfrm>
          <a:prstGeom prst="roundRect">
            <a:avLst>
              <a:gd name="adj" fmla="val 7000"/>
            </a:avLst>
          </a:prstGeom>
          <a:solidFill>
            <a:srgbClr val="EEF1F8"/>
          </a:solidFill>
          <a:ln>
            <a:noFill/>
          </a:ln>
        </p:spPr>
        <p:txBody>
          <a:bodyPr rtlCol="0" anchor="ctr"/>
          <a:lstStyle/>
          <a:p>
            <a:pPr algn="ctr"/>
          </a:p>
        </p:txBody>
      </p:sp>
      <p:sp>
        <p:nvSpPr>
          <p:cNvPr id="35" name="TextBox 34"/>
          <p:cNvSpPr txBox="1"/>
          <p:nvPr/>
        </p:nvSpPr>
        <p:spPr>
          <a:xfrm>
            <a:off x="4846320" y="2240279"/>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Humane education</a:t>
            </a:r>
          </a:p>
        </p:txBody>
      </p:sp>
      <p:sp>
        <p:nvSpPr>
          <p:cNvPr id="36" name="TextBox 35"/>
          <p:cNvSpPr txBox="1"/>
          <p:nvPr/>
        </p:nvSpPr>
        <p:spPr>
          <a:xfrm>
            <a:off x="4846320" y="2542032"/>
            <a:ext cx="3474720" cy="154533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Autonomy with social behaviour and vocational self-reliance (JV p. 139). Wisdom sets the goal; science and work-practice serve it (MVD pp. 103–104).</a:t>
            </a:r>
          </a:p>
        </p:txBody>
      </p:sp>
      <p:sp>
        <p:nvSpPr>
          <p:cNvPr id="37" name="TextBox 36"/>
          <p:cNvSpPr txBox="1"/>
          <p:nvPr/>
        </p:nvSpPr>
        <p:spPr>
          <a:xfrm>
            <a:off x="640080" y="4297680"/>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Teachers remain active: they review feedback, and dialogue and practical work extend inquiry beyond the screen.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  ·  THE EVIDENCE  ·  §5.1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What Tutoring Evidence Shows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Kestin et al. 2025  ·  Bastani et al. 2025  ·  AnalyticMadhyasthDarshan.org  ·  23 / 31</a:t>
            </a:r>
          </a:p>
        </p:txBody>
      </p:sp>
      <p:sp>
        <p:nvSpPr>
          <p:cNvPr id="8" name="Rounded Rectangle 7"/>
          <p:cNvSpPr/>
          <p:nvPr/>
        </p:nvSpPr>
        <p:spPr>
          <a:xfrm>
            <a:off x="640080" y="1280160"/>
            <a:ext cx="3840480" cy="2103120"/>
          </a:xfrm>
          <a:prstGeom prst="roundRect">
            <a:avLst>
              <a:gd name="adj" fmla="val 7000"/>
            </a:avLst>
          </a:prstGeom>
          <a:solidFill>
            <a:srgbClr val="F1F2F4"/>
          </a:solidFill>
          <a:ln>
            <a:noFill/>
          </a:ln>
        </p:spPr>
        <p:txBody>
          <a:bodyPr rtlCol="0" anchor="ctr"/>
          <a:lstStyle/>
          <a:p>
            <a:pPr algn="ctr"/>
          </a:p>
        </p:txBody>
      </p:sp>
      <p:sp>
        <p:nvSpPr>
          <p:cNvPr id="9" name="Rounded Rectangle 8"/>
          <p:cNvSpPr/>
          <p:nvPr/>
        </p:nvSpPr>
        <p:spPr>
          <a:xfrm>
            <a:off x="3639312" y="1188719"/>
            <a:ext cx="713232" cy="182880"/>
          </a:xfrm>
          <a:prstGeom prst="roundRect">
            <a:avLst>
              <a:gd name="adj" fmla="val 50000"/>
            </a:avLst>
          </a:prstGeom>
          <a:solidFill>
            <a:srgbClr val="7A8295"/>
          </a:solidFill>
          <a:ln>
            <a:noFill/>
          </a:ln>
        </p:spPr>
        <p:txBody>
          <a:bodyPr rtlCol="0" anchor="ctr"/>
          <a:lstStyle/>
          <a:p>
            <a:pPr algn="ctr"/>
          </a:p>
        </p:txBody>
      </p:sp>
      <p:sp>
        <p:nvSpPr>
          <p:cNvPr id="10" name="TextBox 9"/>
          <p:cNvSpPr txBox="1"/>
          <p:nvPr/>
        </p:nvSpPr>
        <p:spPr>
          <a:xfrm>
            <a:off x="3639312" y="1188719"/>
            <a:ext cx="713232"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RESEARCH</a:t>
            </a:r>
          </a:p>
        </p:txBody>
      </p:sp>
      <p:sp>
        <p:nvSpPr>
          <p:cNvPr id="11" name="TextBox 10"/>
          <p:cNvSpPr txBox="1"/>
          <p:nvPr/>
        </p:nvSpPr>
        <p:spPr>
          <a:xfrm>
            <a:off x="822959"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Kestin et al. 2025</a:t>
            </a:r>
          </a:p>
        </p:txBody>
      </p:sp>
      <p:sp>
        <p:nvSpPr>
          <p:cNvPr id="12" name="TextBox 11"/>
          <p:cNvSpPr txBox="1"/>
          <p:nvPr/>
        </p:nvSpPr>
        <p:spPr>
          <a:xfrm>
            <a:off x="822959" y="1700784"/>
            <a:ext cx="3474720" cy="1591055"/>
          </a:xfrm>
          <a:prstGeom prst="rect">
            <a:avLst/>
          </a:prstGeom>
          <a:noFill/>
        </p:spPr>
        <p:txBody>
          <a:bodyPr wrap="square" lIns="0" rIns="0" tIns="0" bIns="0" anchor="t">
            <a:noAutofit/>
          </a:bodyPr>
          <a:lstStyle/>
          <a:p>
            <a:pPr algn="l">
              <a:spcBef>
                <a:spcPts val="0"/>
              </a:spcBef>
              <a:spcAft>
                <a:spcPts val="0"/>
              </a:spcAft>
            </a:pPr>
            <a:r>
              <a:rPr sz="1300" b="0" i="0">
                <a:solidFill>
                  <a:srgbClr val="5A6377"/>
                </a:solidFill>
                <a:latin typeface="Calibri"/>
              </a:rPr>
              <a:t>Randomised crossover, 194 introductory-physics students, two lessons. A </a:t>
            </a:r>
            <a:r>
              <a:rPr sz="1300" b="1" i="0">
                <a:solidFill>
                  <a:srgbClr val="5A6377"/>
                </a:solidFill>
                <a:latin typeface="Calibri"/>
              </a:rPr>
              <a:t>structured AI tutor</a:t>
            </a:r>
            <a:r>
              <a:rPr sz="1300" b="0" i="0">
                <a:solidFill>
                  <a:srgbClr val="5A6377"/>
                </a:solidFill>
                <a:latin typeface="Calibri"/>
              </a:rPr>
              <a:t> produced higher post-lesson performance than classroom active learning.</a:t>
            </a:r>
          </a:p>
        </p:txBody>
      </p:sp>
      <p:sp>
        <p:nvSpPr>
          <p:cNvPr id="13" name="Rounded Rectangle 12"/>
          <p:cNvSpPr/>
          <p:nvPr/>
        </p:nvSpPr>
        <p:spPr>
          <a:xfrm>
            <a:off x="4663440" y="1280160"/>
            <a:ext cx="3840480" cy="2103120"/>
          </a:xfrm>
          <a:prstGeom prst="roundRect">
            <a:avLst>
              <a:gd name="adj" fmla="val 7000"/>
            </a:avLst>
          </a:prstGeom>
          <a:solidFill>
            <a:srgbClr val="F1F2F4"/>
          </a:solidFill>
          <a:ln>
            <a:noFill/>
          </a:ln>
        </p:spPr>
        <p:txBody>
          <a:bodyPr rtlCol="0" anchor="ctr"/>
          <a:lstStyle/>
          <a:p>
            <a:pPr algn="ctr"/>
          </a:p>
        </p:txBody>
      </p:sp>
      <p:sp>
        <p:nvSpPr>
          <p:cNvPr id="14" name="Rounded Rectangle 13"/>
          <p:cNvSpPr/>
          <p:nvPr/>
        </p:nvSpPr>
        <p:spPr>
          <a:xfrm>
            <a:off x="7662672" y="1188719"/>
            <a:ext cx="713232" cy="182880"/>
          </a:xfrm>
          <a:prstGeom prst="roundRect">
            <a:avLst>
              <a:gd name="adj" fmla="val 50000"/>
            </a:avLst>
          </a:prstGeom>
          <a:solidFill>
            <a:srgbClr val="7A8295"/>
          </a:solidFill>
          <a:ln>
            <a:noFill/>
          </a:ln>
        </p:spPr>
        <p:txBody>
          <a:bodyPr rtlCol="0" anchor="ctr"/>
          <a:lstStyle/>
          <a:p>
            <a:pPr algn="ctr"/>
          </a:p>
        </p:txBody>
      </p:sp>
      <p:sp>
        <p:nvSpPr>
          <p:cNvPr id="15" name="TextBox 14"/>
          <p:cNvSpPr txBox="1"/>
          <p:nvPr/>
        </p:nvSpPr>
        <p:spPr>
          <a:xfrm>
            <a:off x="7662672" y="1188719"/>
            <a:ext cx="713232"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RESEARCH</a:t>
            </a:r>
          </a:p>
        </p:txBody>
      </p:sp>
      <p:sp>
        <p:nvSpPr>
          <p:cNvPr id="16" name="TextBox 15"/>
          <p:cNvSpPr txBox="1"/>
          <p:nvPr/>
        </p:nvSpPr>
        <p:spPr>
          <a:xfrm>
            <a:off x="4846320"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Bastani et al. 2025</a:t>
            </a:r>
          </a:p>
        </p:txBody>
      </p:sp>
      <p:sp>
        <p:nvSpPr>
          <p:cNvPr id="17" name="TextBox 16"/>
          <p:cNvSpPr txBox="1"/>
          <p:nvPr/>
        </p:nvSpPr>
        <p:spPr>
          <a:xfrm>
            <a:off x="4846320" y="1700784"/>
            <a:ext cx="3474720" cy="1591055"/>
          </a:xfrm>
          <a:prstGeom prst="rect">
            <a:avLst/>
          </a:prstGeom>
          <a:noFill/>
        </p:spPr>
        <p:txBody>
          <a:bodyPr wrap="square" lIns="0" rIns="0" tIns="0" bIns="0" anchor="t">
            <a:noAutofit/>
          </a:bodyPr>
          <a:lstStyle/>
          <a:p>
            <a:pPr algn="l">
              <a:spcBef>
                <a:spcPts val="0"/>
              </a:spcBef>
              <a:spcAft>
                <a:spcPts val="0"/>
              </a:spcAft>
            </a:pPr>
            <a:r>
              <a:rPr sz="1300" b="0" i="0">
                <a:solidFill>
                  <a:srgbClr val="5A6377"/>
                </a:solidFill>
                <a:latin typeface="Calibri"/>
              </a:rPr>
              <a:t>High-school mathematics. </a:t>
            </a:r>
            <a:r>
              <a:rPr sz="1300" b="1" i="0">
                <a:solidFill>
                  <a:srgbClr val="5A6377"/>
                </a:solidFill>
                <a:latin typeface="Calibri"/>
              </a:rPr>
              <a:t>Basic AI access</a:t>
            </a:r>
            <a:r>
              <a:rPr sz="1300" b="0" i="0">
                <a:solidFill>
                  <a:srgbClr val="5A6377"/>
                </a:solidFill>
                <a:latin typeface="Calibri"/>
              </a:rPr>
              <a:t> improved assisted practice but worsened later unaided exams; a guided tutor mitigated the decline, with no exam advantage.</a:t>
            </a:r>
          </a:p>
        </p:txBody>
      </p:sp>
      <p:sp>
        <p:nvSpPr>
          <p:cNvPr id="18" name="TextBox 17"/>
          <p:cNvSpPr txBox="1"/>
          <p:nvPr/>
        </p:nvSpPr>
        <p:spPr>
          <a:xfrm>
            <a:off x="640080" y="3529584"/>
            <a:ext cx="7863840" cy="274320"/>
          </a:xfrm>
          <a:prstGeom prst="rect">
            <a:avLst/>
          </a:prstGeom>
          <a:noFill/>
        </p:spPr>
        <p:txBody>
          <a:bodyPr wrap="square" lIns="0" rIns="0" tIns="0" bIns="0" anchor="ctr">
            <a:noAutofit/>
          </a:bodyPr>
          <a:lstStyle/>
          <a:p>
            <a:pPr algn="ctr">
              <a:spcBef>
                <a:spcPts val="0"/>
              </a:spcBef>
              <a:spcAft>
                <a:spcPts val="0"/>
              </a:spcAft>
            </a:pPr>
            <a:r>
              <a:rPr sz="1150" b="0" i="1">
                <a:solidFill>
                  <a:srgbClr val="5A6377"/>
                </a:solidFill>
                <a:latin typeface="Calibri"/>
              </a:rPr>
              <a:t>Different designs and populations: not a pooled result, and not evidence about realisation.</a:t>
            </a:r>
          </a:p>
        </p:txBody>
      </p:sp>
      <p:sp>
        <p:nvSpPr>
          <p:cNvPr id="19" name="Rounded Rectangle 18"/>
          <p:cNvSpPr/>
          <p:nvPr/>
        </p:nvSpPr>
        <p:spPr>
          <a:xfrm>
            <a:off x="640080" y="3986784"/>
            <a:ext cx="7863840" cy="566928"/>
          </a:xfrm>
          <a:prstGeom prst="roundRect">
            <a:avLst>
              <a:gd name="adj" fmla="val 18000"/>
            </a:avLst>
          </a:prstGeom>
          <a:solidFill>
            <a:srgbClr val="1E2447"/>
          </a:solidFill>
          <a:ln>
            <a:noFill/>
          </a:ln>
        </p:spPr>
        <p:txBody>
          <a:bodyPr rtlCol="0" anchor="ctr"/>
          <a:lstStyle/>
          <a:p>
            <a:pPr algn="ctr"/>
          </a:p>
        </p:txBody>
      </p:sp>
      <p:sp>
        <p:nvSpPr>
          <p:cNvPr id="20" name="TextBox 19"/>
          <p:cNvSpPr txBox="1"/>
          <p:nvPr/>
        </p:nvSpPr>
        <p:spPr>
          <a:xfrm>
            <a:off x="868680" y="3986784"/>
            <a:ext cx="7406640" cy="566928"/>
          </a:xfrm>
          <a:prstGeom prst="rect">
            <a:avLst/>
          </a:prstGeom>
          <a:noFill/>
        </p:spPr>
        <p:txBody>
          <a:bodyPr wrap="square" lIns="0" rIns="0" tIns="0" bIns="0" anchor="ctr">
            <a:noAutofit/>
          </a:bodyPr>
          <a:lstStyle/>
          <a:p>
            <a:pPr algn="ctr">
              <a:spcBef>
                <a:spcPts val="0"/>
              </a:spcBef>
              <a:spcAft>
                <a:spcPts val="0"/>
              </a:spcAft>
            </a:pPr>
            <a:r>
              <a:rPr sz="1250" b="0" i="0">
                <a:solidFill>
                  <a:srgbClr val="FFFFFF"/>
                </a:solidFill>
                <a:latin typeface="Calibri"/>
              </a:rPr>
              <a:t>Independent learning becomes the central test of the educational design (§6.4).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  ·  PRACTICAL ASSISTANCE  ·  §5.2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The Practical Assistant</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Brynjolfsson, Li, and Raymond 2023  ·  Note §5.2  ·  AnalyticMadhyasthDarshan.org  ·  24 / 31</a:t>
            </a:r>
          </a:p>
        </p:txBody>
      </p:sp>
      <p:sp>
        <p:nvSpPr>
          <p:cNvPr id="8" name="Rounded Rectangle 7"/>
          <p:cNvSpPr/>
          <p:nvPr/>
        </p:nvSpPr>
        <p:spPr>
          <a:xfrm>
            <a:off x="640080" y="1280160"/>
            <a:ext cx="3840480" cy="2944368"/>
          </a:xfrm>
          <a:prstGeom prst="roundRect">
            <a:avLst>
              <a:gd name="adj" fmla="val 6000"/>
            </a:avLst>
          </a:prstGeom>
          <a:solidFill>
            <a:srgbClr val="FAF1DF"/>
          </a:solidFill>
          <a:ln>
            <a:noFill/>
          </a:ln>
        </p:spPr>
        <p:txBody>
          <a:bodyPr rtlCol="0" anchor="ctr"/>
          <a:lstStyle/>
          <a:p>
            <a:pPr algn="ctr"/>
          </a:p>
        </p:txBody>
      </p:sp>
      <p:sp>
        <p:nvSpPr>
          <p:cNvPr id="9" name="Rounded Rectangle 8"/>
          <p:cNvSpPr/>
          <p:nvPr/>
        </p:nvSpPr>
        <p:spPr>
          <a:xfrm>
            <a:off x="2980944" y="1188720"/>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298094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41248" y="1389888"/>
            <a:ext cx="3474720" cy="292608"/>
          </a:xfrm>
          <a:prstGeom prst="rect">
            <a:avLst/>
          </a:prstGeom>
          <a:noFill/>
        </p:spPr>
        <p:txBody>
          <a:bodyPr wrap="square" lIns="0" rIns="0" tIns="0" bIns="0" anchor="ctr">
            <a:noAutofit/>
          </a:bodyPr>
          <a:lstStyle/>
          <a:p>
            <a:pPr algn="l">
              <a:spcBef>
                <a:spcPts val="0"/>
              </a:spcBef>
              <a:spcAft>
                <a:spcPts val="0"/>
              </a:spcAft>
            </a:pPr>
            <a:r>
              <a:rPr sz="1350" b="1" i="0">
                <a:solidFill>
                  <a:srgbClr val="9A6414"/>
                </a:solidFill>
                <a:latin typeface="Cambria"/>
              </a:rPr>
              <a:t>A promise kept</a:t>
            </a:r>
          </a:p>
        </p:txBody>
      </p:sp>
      <p:sp>
        <p:nvSpPr>
          <p:cNvPr id="12" name="Rounded Rectangle 11"/>
          <p:cNvSpPr/>
          <p:nvPr/>
        </p:nvSpPr>
        <p:spPr>
          <a:xfrm>
            <a:off x="914400" y="1783080"/>
            <a:ext cx="3291840" cy="420624"/>
          </a:xfrm>
          <a:prstGeom prst="roundRect">
            <a:avLst>
              <a:gd name="adj" fmla="val 14000"/>
            </a:avLst>
          </a:prstGeom>
          <a:solidFill>
            <a:srgbClr val="3B4A7A"/>
          </a:solidFill>
          <a:ln>
            <a:noFill/>
          </a:ln>
        </p:spPr>
        <p:txBody>
          <a:bodyPr rtlCol="0" anchor="ctr"/>
          <a:lstStyle/>
          <a:p>
            <a:pPr algn="ctr"/>
          </a:p>
        </p:txBody>
      </p:sp>
      <p:sp>
        <p:nvSpPr>
          <p:cNvPr id="13" name="TextBox 12"/>
          <p:cNvSpPr txBox="1"/>
          <p:nvPr/>
        </p:nvSpPr>
        <p:spPr>
          <a:xfrm>
            <a:off x="969264" y="1783080"/>
            <a:ext cx="3182112" cy="420624"/>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An evening promised to a child</a:t>
            </a:r>
          </a:p>
        </p:txBody>
      </p:sp>
      <p:sp>
        <p:nvSpPr>
          <p:cNvPr id="14" name="TextBox 13"/>
          <p:cNvSpPr txBox="1"/>
          <p:nvPr/>
        </p:nvSpPr>
        <p:spPr>
          <a:xfrm>
            <a:off x="2377440" y="2167128"/>
            <a:ext cx="365760" cy="219456"/>
          </a:xfrm>
          <a:prstGeom prst="rect">
            <a:avLst/>
          </a:prstGeom>
          <a:noFill/>
        </p:spPr>
        <p:txBody>
          <a:bodyPr wrap="square" lIns="0" rIns="0" tIns="0" bIns="0" anchor="ctr">
            <a:noAutofit/>
          </a:bodyPr>
          <a:lstStyle/>
          <a:p>
            <a:pPr algn="ctr">
              <a:spcBef>
                <a:spcPts val="0"/>
              </a:spcBef>
              <a:spcAft>
                <a:spcPts val="0"/>
              </a:spcAft>
            </a:pPr>
            <a:r>
              <a:rPr sz="1100" b="1" i="0">
                <a:solidFill>
                  <a:srgbClr val="9A6414"/>
                </a:solidFill>
                <a:latin typeface="Calibri"/>
              </a:rPr>
              <a:t>↓</a:t>
            </a:r>
          </a:p>
        </p:txBody>
      </p:sp>
      <p:sp>
        <p:nvSpPr>
          <p:cNvPr id="15" name="Rounded Rectangle 14"/>
          <p:cNvSpPr/>
          <p:nvPr/>
        </p:nvSpPr>
        <p:spPr>
          <a:xfrm>
            <a:off x="914400" y="2368296"/>
            <a:ext cx="3291840" cy="420624"/>
          </a:xfrm>
          <a:prstGeom prst="roundRect">
            <a:avLst>
              <a:gd name="adj" fmla="val 14000"/>
            </a:avLst>
          </a:prstGeom>
          <a:solidFill>
            <a:srgbClr val="3B4A7A"/>
          </a:solidFill>
          <a:ln>
            <a:noFill/>
          </a:ln>
        </p:spPr>
        <p:txBody>
          <a:bodyPr rtlCol="0" anchor="ctr"/>
          <a:lstStyle/>
          <a:p>
            <a:pPr algn="ctr"/>
          </a:p>
        </p:txBody>
      </p:sp>
      <p:sp>
        <p:nvSpPr>
          <p:cNvPr id="16" name="TextBox 15"/>
          <p:cNvSpPr txBox="1"/>
          <p:nvPr/>
        </p:nvSpPr>
        <p:spPr>
          <a:xfrm>
            <a:off x="969264" y="2368296"/>
            <a:ext cx="3182112" cy="420624"/>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A meeting later accepted at the same time</a:t>
            </a:r>
          </a:p>
        </p:txBody>
      </p:sp>
      <p:sp>
        <p:nvSpPr>
          <p:cNvPr id="17" name="TextBox 16"/>
          <p:cNvSpPr txBox="1"/>
          <p:nvPr/>
        </p:nvSpPr>
        <p:spPr>
          <a:xfrm>
            <a:off x="2377440" y="2752344"/>
            <a:ext cx="365760" cy="219456"/>
          </a:xfrm>
          <a:prstGeom prst="rect">
            <a:avLst/>
          </a:prstGeom>
          <a:noFill/>
        </p:spPr>
        <p:txBody>
          <a:bodyPr wrap="square" lIns="0" rIns="0" tIns="0" bIns="0" anchor="ctr">
            <a:noAutofit/>
          </a:bodyPr>
          <a:lstStyle/>
          <a:p>
            <a:pPr algn="ctr">
              <a:spcBef>
                <a:spcPts val="0"/>
              </a:spcBef>
              <a:spcAft>
                <a:spcPts val="0"/>
              </a:spcAft>
            </a:pPr>
            <a:r>
              <a:rPr sz="1100" b="1" i="0">
                <a:solidFill>
                  <a:srgbClr val="9A6414"/>
                </a:solidFill>
                <a:latin typeface="Calibri"/>
              </a:rPr>
              <a:t>↓</a:t>
            </a:r>
          </a:p>
        </p:txBody>
      </p:sp>
      <p:sp>
        <p:nvSpPr>
          <p:cNvPr id="18" name="Rounded Rectangle 17"/>
          <p:cNvSpPr/>
          <p:nvPr/>
        </p:nvSpPr>
        <p:spPr>
          <a:xfrm>
            <a:off x="914400" y="2953512"/>
            <a:ext cx="3291840" cy="420624"/>
          </a:xfrm>
          <a:prstGeom prst="roundRect">
            <a:avLst>
              <a:gd name="adj" fmla="val 14000"/>
            </a:avLst>
          </a:prstGeom>
          <a:solidFill>
            <a:srgbClr val="C9821E"/>
          </a:solidFill>
          <a:ln>
            <a:noFill/>
          </a:ln>
        </p:spPr>
        <p:txBody>
          <a:bodyPr rtlCol="0" anchor="ctr"/>
          <a:lstStyle/>
          <a:p>
            <a:pPr algn="ctr"/>
          </a:p>
        </p:txBody>
      </p:sp>
      <p:sp>
        <p:nvSpPr>
          <p:cNvPr id="19" name="TextBox 18"/>
          <p:cNvSpPr txBox="1"/>
          <p:nvPr/>
        </p:nvSpPr>
        <p:spPr>
          <a:xfrm>
            <a:off x="969264" y="2953512"/>
            <a:ext cx="3182112" cy="420624"/>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The assistant reveals the conflict in time</a:t>
            </a:r>
          </a:p>
        </p:txBody>
      </p:sp>
      <p:sp>
        <p:nvSpPr>
          <p:cNvPr id="20" name="TextBox 19"/>
          <p:cNvSpPr txBox="1"/>
          <p:nvPr/>
        </p:nvSpPr>
        <p:spPr>
          <a:xfrm>
            <a:off x="2377440" y="3337560"/>
            <a:ext cx="365760" cy="219456"/>
          </a:xfrm>
          <a:prstGeom prst="rect">
            <a:avLst/>
          </a:prstGeom>
          <a:noFill/>
        </p:spPr>
        <p:txBody>
          <a:bodyPr wrap="square" lIns="0" rIns="0" tIns="0" bIns="0" anchor="ctr">
            <a:noAutofit/>
          </a:bodyPr>
          <a:lstStyle/>
          <a:p>
            <a:pPr algn="ctr">
              <a:spcBef>
                <a:spcPts val="0"/>
              </a:spcBef>
              <a:spcAft>
                <a:spcPts val="0"/>
              </a:spcAft>
            </a:pPr>
            <a:r>
              <a:rPr sz="1100" b="1" i="0">
                <a:solidFill>
                  <a:srgbClr val="9A6414"/>
                </a:solidFill>
                <a:latin typeface="Calibri"/>
              </a:rPr>
              <a:t>↓</a:t>
            </a:r>
          </a:p>
        </p:txBody>
      </p:sp>
      <p:sp>
        <p:nvSpPr>
          <p:cNvPr id="21" name="Rounded Rectangle 20"/>
          <p:cNvSpPr/>
          <p:nvPr/>
        </p:nvSpPr>
        <p:spPr>
          <a:xfrm>
            <a:off x="914400" y="3538728"/>
            <a:ext cx="3291840" cy="420624"/>
          </a:xfrm>
          <a:prstGeom prst="roundRect">
            <a:avLst>
              <a:gd name="adj" fmla="val 14000"/>
            </a:avLst>
          </a:prstGeom>
          <a:solidFill>
            <a:srgbClr val="C9821E"/>
          </a:solidFill>
          <a:ln>
            <a:noFill/>
          </a:ln>
        </p:spPr>
        <p:txBody>
          <a:bodyPr rtlCol="0" anchor="ctr"/>
          <a:lstStyle/>
          <a:p>
            <a:pPr algn="ctr"/>
          </a:p>
        </p:txBody>
      </p:sp>
      <p:sp>
        <p:nvSpPr>
          <p:cNvPr id="22" name="TextBox 21"/>
          <p:cNvSpPr txBox="1"/>
          <p:nvPr/>
        </p:nvSpPr>
        <p:spPr>
          <a:xfrm>
            <a:off x="969264" y="3538728"/>
            <a:ext cx="3182112" cy="420624"/>
          </a:xfrm>
          <a:prstGeom prst="rect">
            <a:avLst/>
          </a:prstGeom>
          <a:noFill/>
        </p:spPr>
        <p:txBody>
          <a:bodyPr wrap="square" lIns="0" rIns="0" tIns="0" bIns="0" anchor="ctr">
            <a:noAutofit/>
          </a:bodyPr>
          <a:lstStyle/>
          <a:p>
            <a:pPr algn="ctr">
              <a:spcBef>
                <a:spcPts val="0"/>
              </a:spcBef>
              <a:spcAft>
                <a:spcPts val="0"/>
              </a:spcAft>
            </a:pPr>
            <a:r>
              <a:rPr sz="1100" b="1" i="0">
                <a:solidFill>
                  <a:srgbClr val="FFFFFF"/>
                </a:solidFill>
                <a:latin typeface="Cambria"/>
              </a:rPr>
              <a:t>The parent speaks with those affected</a:t>
            </a:r>
          </a:p>
        </p:txBody>
      </p:sp>
      <p:sp>
        <p:nvSpPr>
          <p:cNvPr id="23" name="Rounded Rectangle 22"/>
          <p:cNvSpPr/>
          <p:nvPr/>
        </p:nvSpPr>
        <p:spPr>
          <a:xfrm>
            <a:off x="4663440" y="1280160"/>
            <a:ext cx="3840480" cy="1207008"/>
          </a:xfrm>
          <a:prstGeom prst="roundRect">
            <a:avLst>
              <a:gd name="adj" fmla="val 7000"/>
            </a:avLst>
          </a:prstGeom>
          <a:solidFill>
            <a:srgbClr val="EEF1F8"/>
          </a:solidFill>
          <a:ln>
            <a:noFill/>
          </a:ln>
        </p:spPr>
        <p:txBody>
          <a:bodyPr rtlCol="0" anchor="ctr"/>
          <a:lstStyle/>
          <a:p>
            <a:pPr algn="ctr"/>
          </a:p>
        </p:txBody>
      </p:sp>
      <p:sp>
        <p:nvSpPr>
          <p:cNvPr id="24" name="Rounded Rectangle 23"/>
          <p:cNvSpPr/>
          <p:nvPr/>
        </p:nvSpPr>
        <p:spPr>
          <a:xfrm>
            <a:off x="7004304" y="1188719"/>
            <a:ext cx="1371600" cy="182880"/>
          </a:xfrm>
          <a:prstGeom prst="roundRect">
            <a:avLst>
              <a:gd name="adj" fmla="val 50000"/>
            </a:avLst>
          </a:prstGeom>
          <a:solidFill>
            <a:srgbClr val="C9821E"/>
          </a:solidFill>
          <a:ln>
            <a:noFill/>
          </a:ln>
        </p:spPr>
        <p:txBody>
          <a:bodyPr rtlCol="0" anchor="ctr"/>
          <a:lstStyle/>
          <a:p>
            <a:pPr algn="ctr"/>
          </a:p>
        </p:txBody>
      </p:sp>
      <p:sp>
        <p:nvSpPr>
          <p:cNvPr id="25" name="TextBox 24"/>
          <p:cNvSpPr txBox="1"/>
          <p:nvPr/>
        </p:nvSpPr>
        <p:spPr>
          <a:xfrm>
            <a:off x="700430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6" name="TextBox 25"/>
          <p:cNvSpPr txBox="1"/>
          <p:nvPr/>
        </p:nvSpPr>
        <p:spPr>
          <a:xfrm>
            <a:off x="4846320"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Three kinds of record</a:t>
            </a:r>
          </a:p>
        </p:txBody>
      </p:sp>
      <p:sp>
        <p:nvSpPr>
          <p:cNvPr id="27" name="TextBox 26"/>
          <p:cNvSpPr txBox="1"/>
          <p:nvPr/>
        </p:nvSpPr>
        <p:spPr>
          <a:xfrm>
            <a:off x="4846320" y="1700784"/>
            <a:ext cx="3474720" cy="69494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Observation  ·  personal report  ·  inference, kept distinct so the person can correct missing context.</a:t>
            </a:r>
          </a:p>
        </p:txBody>
      </p:sp>
      <p:sp>
        <p:nvSpPr>
          <p:cNvPr id="28" name="Rounded Rectangle 27"/>
          <p:cNvSpPr/>
          <p:nvPr/>
        </p:nvSpPr>
        <p:spPr>
          <a:xfrm>
            <a:off x="4663440" y="2651760"/>
            <a:ext cx="3840480" cy="1572768"/>
          </a:xfrm>
          <a:prstGeom prst="roundRect">
            <a:avLst>
              <a:gd name="adj" fmla="val 7000"/>
            </a:avLst>
          </a:prstGeom>
          <a:solidFill>
            <a:srgbClr val="F1F2F4"/>
          </a:solidFill>
          <a:ln>
            <a:noFill/>
          </a:ln>
        </p:spPr>
        <p:txBody>
          <a:bodyPr rtlCol="0" anchor="ctr"/>
          <a:lstStyle/>
          <a:p>
            <a:pPr algn="ctr"/>
          </a:p>
        </p:txBody>
      </p:sp>
      <p:sp>
        <p:nvSpPr>
          <p:cNvPr id="29" name="Rounded Rectangle 28"/>
          <p:cNvSpPr/>
          <p:nvPr/>
        </p:nvSpPr>
        <p:spPr>
          <a:xfrm>
            <a:off x="7662672" y="2560320"/>
            <a:ext cx="713232" cy="182880"/>
          </a:xfrm>
          <a:prstGeom prst="roundRect">
            <a:avLst>
              <a:gd name="adj" fmla="val 50000"/>
            </a:avLst>
          </a:prstGeom>
          <a:solidFill>
            <a:srgbClr val="7A8295"/>
          </a:solidFill>
          <a:ln>
            <a:noFill/>
          </a:ln>
        </p:spPr>
        <p:txBody>
          <a:bodyPr rtlCol="0" anchor="ctr"/>
          <a:lstStyle/>
          <a:p>
            <a:pPr algn="ctr"/>
          </a:p>
        </p:txBody>
      </p:sp>
      <p:sp>
        <p:nvSpPr>
          <p:cNvPr id="30" name="TextBox 29"/>
          <p:cNvSpPr txBox="1"/>
          <p:nvPr/>
        </p:nvSpPr>
        <p:spPr>
          <a:xfrm>
            <a:off x="7662672" y="2560320"/>
            <a:ext cx="713232"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RESEARCH</a:t>
            </a:r>
          </a:p>
        </p:txBody>
      </p:sp>
      <p:sp>
        <p:nvSpPr>
          <p:cNvPr id="31" name="TextBox 30"/>
          <p:cNvSpPr txBox="1"/>
          <p:nvPr/>
        </p:nvSpPr>
        <p:spPr>
          <a:xfrm>
            <a:off x="4846320" y="2770632"/>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Generative AI at Work</a:t>
            </a:r>
          </a:p>
        </p:txBody>
      </p:sp>
      <p:sp>
        <p:nvSpPr>
          <p:cNvPr id="32" name="TextBox 31"/>
          <p:cNvSpPr txBox="1"/>
          <p:nvPr/>
        </p:nvSpPr>
        <p:spPr>
          <a:xfrm>
            <a:off x="4846320" y="3072384"/>
            <a:ext cx="3474720" cy="106070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5,179 support agents: on average 14% more issues resolved per hour, larger gains for novices (Nov 2023 version; one context).</a:t>
            </a:r>
          </a:p>
        </p:txBody>
      </p:sp>
      <p:sp>
        <p:nvSpPr>
          <p:cNvPr id="33" name="TextBox 32"/>
          <p:cNvSpPr txBox="1"/>
          <p:nvPr/>
        </p:nvSpPr>
        <p:spPr>
          <a:xfrm>
            <a:off x="640080" y="4315968"/>
            <a:ext cx="7863840" cy="365760"/>
          </a:xfrm>
          <a:prstGeom prst="rect">
            <a:avLst/>
          </a:prstGeom>
          <a:noFill/>
        </p:spPr>
        <p:txBody>
          <a:bodyPr wrap="square" lIns="0" rIns="0" tIns="0" bIns="0" anchor="ctr">
            <a:noAutofit/>
          </a:bodyPr>
          <a:lstStyle/>
          <a:p>
            <a:pPr algn="l">
              <a:spcBef>
                <a:spcPts val="0"/>
              </a:spcBef>
              <a:spcAft>
                <a:spcPts val="0"/>
              </a:spcAft>
            </a:pPr>
            <a:r>
              <a:rPr sz="1150" b="0" i="1">
                <a:solidFill>
                  <a:srgbClr val="1E2447"/>
                </a:solidFill>
                <a:latin typeface="Calibri"/>
              </a:rPr>
              <a:t>Whether saved effort becomes study, dialogue, or useful work is a human choice.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  ·  UNDIVIDED SOCIETY  ·  §5.3</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Five Dimensions of Social Order</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 109  ·  Note §5.3  ·  AnalyticMadhyasthDarshan.org  ·  25 / 31</a:t>
            </a:r>
          </a:p>
        </p:txBody>
      </p:sp>
      <p:sp>
        <p:nvSpPr>
          <p:cNvPr id="10" name="Rounded Rectangle 9"/>
          <p:cNvSpPr/>
          <p:nvPr/>
        </p:nvSpPr>
        <p:spPr>
          <a:xfrm>
            <a:off x="4663440" y="1042415"/>
            <a:ext cx="1371600" cy="182880"/>
          </a:xfrm>
          <a:prstGeom prst="roundRect">
            <a:avLst>
              <a:gd name="adj" fmla="val 50000"/>
            </a:avLst>
          </a:prstGeom>
          <a:solidFill>
            <a:srgbClr val="C9821E"/>
          </a:solidFill>
          <a:ln>
            <a:noFill/>
          </a:ln>
        </p:spPr>
        <p:txBody>
          <a:bodyPr rtlCol="0" anchor="ctr"/>
          <a:lstStyle/>
          <a:p>
            <a:pPr algn="ctr"/>
          </a:p>
        </p:txBody>
      </p:sp>
      <p:sp>
        <p:nvSpPr>
          <p:cNvPr id="11" name="TextBox 10"/>
          <p:cNvSpPr txBox="1"/>
          <p:nvPr/>
        </p:nvSpPr>
        <p:spPr>
          <a:xfrm>
            <a:off x="4663440" y="1042415"/>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2" name="Rectangle 11"/>
          <p:cNvSpPr/>
          <p:nvPr/>
        </p:nvSpPr>
        <p:spPr>
          <a:xfrm>
            <a:off x="640080" y="1280160"/>
            <a:ext cx="7863840" cy="292608"/>
          </a:xfrm>
          <a:prstGeom prst="rect">
            <a:avLst/>
          </a:prstGeom>
          <a:solidFill>
            <a:srgbClr val="1E2447"/>
          </a:solidFill>
          <a:ln>
            <a:noFill/>
          </a:ln>
        </p:spPr>
        <p:txBody>
          <a:bodyPr rtlCol="0" anchor="ctr"/>
          <a:lstStyle/>
          <a:p>
            <a:pPr algn="ctr"/>
          </a:p>
        </p:txBody>
      </p:sp>
      <p:sp>
        <p:nvSpPr>
          <p:cNvPr id="13" name="TextBox 12"/>
          <p:cNvSpPr txBox="1"/>
          <p:nvPr/>
        </p:nvSpPr>
        <p:spPr>
          <a:xfrm>
            <a:off x="731519" y="1280160"/>
            <a:ext cx="2057400"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Social dimension</a:t>
            </a:r>
          </a:p>
        </p:txBody>
      </p:sp>
      <p:sp>
        <p:nvSpPr>
          <p:cNvPr id="14" name="TextBox 13"/>
          <p:cNvSpPr txBox="1"/>
          <p:nvPr/>
        </p:nvSpPr>
        <p:spPr>
          <a:xfrm>
            <a:off x="2971800" y="1280160"/>
            <a:ext cx="2926079"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Contribution of assistance</a:t>
            </a:r>
          </a:p>
        </p:txBody>
      </p:sp>
      <p:sp>
        <p:nvSpPr>
          <p:cNvPr id="15" name="TextBox 14"/>
          <p:cNvSpPr txBox="1"/>
          <p:nvPr/>
        </p:nvSpPr>
        <p:spPr>
          <a:xfrm>
            <a:off x="6080760" y="1280160"/>
            <a:ext cx="2331720" cy="292608"/>
          </a:xfrm>
          <a:prstGeom prst="rect">
            <a:avLst/>
          </a:prstGeom>
          <a:noFill/>
        </p:spPr>
        <p:txBody>
          <a:bodyPr wrap="square" lIns="0" rIns="0" tIns="0" bIns="0" anchor="ctr">
            <a:noAutofit/>
          </a:bodyPr>
          <a:lstStyle/>
          <a:p>
            <a:pPr algn="l">
              <a:spcBef>
                <a:spcPts val="0"/>
              </a:spcBef>
              <a:spcAft>
                <a:spcPts val="0"/>
              </a:spcAft>
            </a:pPr>
            <a:r>
              <a:rPr sz="1050" b="1" i="0">
                <a:solidFill>
                  <a:srgbClr val="FFFFFF"/>
                </a:solidFill>
                <a:latin typeface="Calibri"/>
              </a:rPr>
              <a:t>Fulfilment it serves</a:t>
            </a:r>
          </a:p>
        </p:txBody>
      </p:sp>
      <p:sp>
        <p:nvSpPr>
          <p:cNvPr id="16" name="Rectangle 15"/>
          <p:cNvSpPr/>
          <p:nvPr/>
        </p:nvSpPr>
        <p:spPr>
          <a:xfrm>
            <a:off x="640080" y="1572768"/>
            <a:ext cx="7863840" cy="457200"/>
          </a:xfrm>
          <a:prstGeom prst="rect">
            <a:avLst/>
          </a:prstGeom>
          <a:solidFill>
            <a:srgbClr val="EEF1F8"/>
          </a:solidFill>
          <a:ln>
            <a:noFill/>
          </a:ln>
        </p:spPr>
        <p:txBody>
          <a:bodyPr rtlCol="0" anchor="ctr"/>
          <a:lstStyle/>
          <a:p>
            <a:pPr algn="ctr"/>
          </a:p>
        </p:txBody>
      </p:sp>
      <p:sp>
        <p:nvSpPr>
          <p:cNvPr id="17" name="Rectangle 16"/>
          <p:cNvSpPr/>
          <p:nvPr/>
        </p:nvSpPr>
        <p:spPr>
          <a:xfrm>
            <a:off x="640080" y="2020824"/>
            <a:ext cx="7863840" cy="9144"/>
          </a:xfrm>
          <a:prstGeom prst="rect">
            <a:avLst/>
          </a:prstGeom>
          <a:solidFill>
            <a:srgbClr val="D5DBEA"/>
          </a:solidFill>
          <a:ln>
            <a:noFill/>
          </a:ln>
        </p:spPr>
        <p:txBody>
          <a:bodyPr rtlCol="0" anchor="ctr"/>
          <a:lstStyle/>
          <a:p>
            <a:pPr algn="ctr"/>
          </a:p>
        </p:txBody>
      </p:sp>
      <p:sp>
        <p:nvSpPr>
          <p:cNvPr id="18" name="TextBox 17"/>
          <p:cNvSpPr txBox="1"/>
          <p:nvPr/>
        </p:nvSpPr>
        <p:spPr>
          <a:xfrm>
            <a:off x="731519" y="1600200"/>
            <a:ext cx="2057400" cy="402336"/>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Education–sanskar</a:t>
            </a:r>
          </a:p>
        </p:txBody>
      </p:sp>
      <p:sp>
        <p:nvSpPr>
          <p:cNvPr id="19" name="TextBox 18"/>
          <p:cNvSpPr txBox="1"/>
          <p:nvPr/>
        </p:nvSpPr>
        <p:spPr>
          <a:xfrm>
            <a:off x="2971800" y="1600200"/>
            <a:ext cx="2926079"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Study plans, source-linked explanation, practice, feedback</a:t>
            </a:r>
          </a:p>
        </p:txBody>
      </p:sp>
      <p:sp>
        <p:nvSpPr>
          <p:cNvPr id="20" name="TextBox 19"/>
          <p:cNvSpPr txBox="1"/>
          <p:nvPr/>
        </p:nvSpPr>
        <p:spPr>
          <a:xfrm>
            <a:off x="6080760" y="1600200"/>
            <a:ext cx="2331720"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Understanding and independent competence</a:t>
            </a:r>
          </a:p>
        </p:txBody>
      </p:sp>
      <p:sp>
        <p:nvSpPr>
          <p:cNvPr id="21" name="Rectangle 20"/>
          <p:cNvSpPr/>
          <p:nvPr/>
        </p:nvSpPr>
        <p:spPr>
          <a:xfrm>
            <a:off x="640080" y="2478024"/>
            <a:ext cx="7863840" cy="9144"/>
          </a:xfrm>
          <a:prstGeom prst="rect">
            <a:avLst/>
          </a:prstGeom>
          <a:solidFill>
            <a:srgbClr val="D5DBEA"/>
          </a:solidFill>
          <a:ln>
            <a:noFill/>
          </a:ln>
        </p:spPr>
        <p:txBody>
          <a:bodyPr rtlCol="0" anchor="ctr"/>
          <a:lstStyle/>
          <a:p>
            <a:pPr algn="ctr"/>
          </a:p>
        </p:txBody>
      </p:sp>
      <p:sp>
        <p:nvSpPr>
          <p:cNvPr id="22" name="TextBox 21"/>
          <p:cNvSpPr txBox="1"/>
          <p:nvPr/>
        </p:nvSpPr>
        <p:spPr>
          <a:xfrm>
            <a:off x="731519" y="2057399"/>
            <a:ext cx="2057400" cy="402336"/>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Justice–security</a:t>
            </a:r>
          </a:p>
        </p:txBody>
      </p:sp>
      <p:sp>
        <p:nvSpPr>
          <p:cNvPr id="23" name="TextBox 22"/>
          <p:cNvSpPr txBox="1"/>
          <p:nvPr/>
        </p:nvSpPr>
        <p:spPr>
          <a:xfrm>
            <a:off x="2971800" y="2057399"/>
            <a:ext cx="2926079"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Remembered commitments, inspectable evidence, dialogue</a:t>
            </a:r>
          </a:p>
        </p:txBody>
      </p:sp>
      <p:sp>
        <p:nvSpPr>
          <p:cNvPr id="24" name="TextBox 23"/>
          <p:cNvSpPr txBox="1"/>
          <p:nvPr/>
        </p:nvSpPr>
        <p:spPr>
          <a:xfrm>
            <a:off x="6080760" y="2057399"/>
            <a:ext cx="2331720"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Recognition of relationships, mutual satisfaction</a:t>
            </a:r>
          </a:p>
        </p:txBody>
      </p:sp>
      <p:sp>
        <p:nvSpPr>
          <p:cNvPr id="25" name="Rectangle 24"/>
          <p:cNvSpPr/>
          <p:nvPr/>
        </p:nvSpPr>
        <p:spPr>
          <a:xfrm>
            <a:off x="640080" y="2487168"/>
            <a:ext cx="7863840" cy="457200"/>
          </a:xfrm>
          <a:prstGeom prst="rect">
            <a:avLst/>
          </a:prstGeom>
          <a:solidFill>
            <a:srgbClr val="EEF1F8"/>
          </a:solidFill>
          <a:ln>
            <a:noFill/>
          </a:ln>
        </p:spPr>
        <p:txBody>
          <a:bodyPr rtlCol="0" anchor="ctr"/>
          <a:lstStyle/>
          <a:p>
            <a:pPr algn="ctr"/>
          </a:p>
        </p:txBody>
      </p:sp>
      <p:sp>
        <p:nvSpPr>
          <p:cNvPr id="26" name="Rectangle 25"/>
          <p:cNvSpPr/>
          <p:nvPr/>
        </p:nvSpPr>
        <p:spPr>
          <a:xfrm>
            <a:off x="640080" y="2935224"/>
            <a:ext cx="7863840" cy="9144"/>
          </a:xfrm>
          <a:prstGeom prst="rect">
            <a:avLst/>
          </a:prstGeom>
          <a:solidFill>
            <a:srgbClr val="D5DBEA"/>
          </a:solidFill>
          <a:ln>
            <a:noFill/>
          </a:ln>
        </p:spPr>
        <p:txBody>
          <a:bodyPr rtlCol="0" anchor="ctr"/>
          <a:lstStyle/>
          <a:p>
            <a:pPr algn="ctr"/>
          </a:p>
        </p:txBody>
      </p:sp>
      <p:sp>
        <p:nvSpPr>
          <p:cNvPr id="27" name="TextBox 26"/>
          <p:cNvSpPr txBox="1"/>
          <p:nvPr/>
        </p:nvSpPr>
        <p:spPr>
          <a:xfrm>
            <a:off x="731519" y="2514599"/>
            <a:ext cx="2057400" cy="402336"/>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Health–restraint</a:t>
            </a:r>
          </a:p>
        </p:txBody>
      </p:sp>
      <p:sp>
        <p:nvSpPr>
          <p:cNvPr id="28" name="TextBox 27"/>
          <p:cNvSpPr txBox="1"/>
          <p:nvPr/>
        </p:nvSpPr>
        <p:spPr>
          <a:xfrm>
            <a:off x="2971800" y="2514599"/>
            <a:ext cx="2926079"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Body-care records, questions for practitioners</a:t>
            </a:r>
          </a:p>
        </p:txBody>
      </p:sp>
      <p:sp>
        <p:nvSpPr>
          <p:cNvPr id="29" name="TextBox 28"/>
          <p:cNvSpPr txBox="1"/>
          <p:nvPr/>
        </p:nvSpPr>
        <p:spPr>
          <a:xfrm>
            <a:off x="6080760" y="2514599"/>
            <a:ext cx="2331720"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Responsible bodily care</a:t>
            </a:r>
          </a:p>
        </p:txBody>
      </p:sp>
      <p:sp>
        <p:nvSpPr>
          <p:cNvPr id="30" name="Rectangle 29"/>
          <p:cNvSpPr/>
          <p:nvPr/>
        </p:nvSpPr>
        <p:spPr>
          <a:xfrm>
            <a:off x="640080" y="3392424"/>
            <a:ext cx="7863840" cy="9144"/>
          </a:xfrm>
          <a:prstGeom prst="rect">
            <a:avLst/>
          </a:prstGeom>
          <a:solidFill>
            <a:srgbClr val="D5DBEA"/>
          </a:solidFill>
          <a:ln>
            <a:noFill/>
          </a:ln>
        </p:spPr>
        <p:txBody>
          <a:bodyPr rtlCol="0" anchor="ctr"/>
          <a:lstStyle/>
          <a:p>
            <a:pPr algn="ctr"/>
          </a:p>
        </p:txBody>
      </p:sp>
      <p:sp>
        <p:nvSpPr>
          <p:cNvPr id="31" name="TextBox 30"/>
          <p:cNvSpPr txBox="1"/>
          <p:nvPr/>
        </p:nvSpPr>
        <p:spPr>
          <a:xfrm>
            <a:off x="731519" y="2971799"/>
            <a:ext cx="2057400" cy="402336"/>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Production–work</a:t>
            </a:r>
          </a:p>
        </p:txBody>
      </p:sp>
      <p:sp>
        <p:nvSpPr>
          <p:cNvPr id="32" name="TextBox 31"/>
          <p:cNvSpPr txBox="1"/>
          <p:nvPr/>
        </p:nvSpPr>
        <p:spPr>
          <a:xfrm>
            <a:off x="2971800" y="2971799"/>
            <a:ext cx="2926079"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Repair planning, material accounting, coordination</a:t>
            </a:r>
          </a:p>
        </p:txBody>
      </p:sp>
      <p:sp>
        <p:nvSpPr>
          <p:cNvPr id="33" name="TextBox 32"/>
          <p:cNvSpPr txBox="1"/>
          <p:nvPr/>
        </p:nvSpPr>
        <p:spPr>
          <a:xfrm>
            <a:off x="6080760" y="2971799"/>
            <a:ext cx="2331720"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Useful production, ecological responsibility</a:t>
            </a:r>
          </a:p>
        </p:txBody>
      </p:sp>
      <p:sp>
        <p:nvSpPr>
          <p:cNvPr id="34" name="Rectangle 33"/>
          <p:cNvSpPr/>
          <p:nvPr/>
        </p:nvSpPr>
        <p:spPr>
          <a:xfrm>
            <a:off x="640080" y="3401568"/>
            <a:ext cx="7863840" cy="457200"/>
          </a:xfrm>
          <a:prstGeom prst="rect">
            <a:avLst/>
          </a:prstGeom>
          <a:solidFill>
            <a:srgbClr val="EEF1F8"/>
          </a:solidFill>
          <a:ln>
            <a:noFill/>
          </a:ln>
        </p:spPr>
        <p:txBody>
          <a:bodyPr rtlCol="0" anchor="ctr"/>
          <a:lstStyle/>
          <a:p>
            <a:pPr algn="ctr"/>
          </a:p>
        </p:txBody>
      </p:sp>
      <p:sp>
        <p:nvSpPr>
          <p:cNvPr id="35" name="Rectangle 34"/>
          <p:cNvSpPr/>
          <p:nvPr/>
        </p:nvSpPr>
        <p:spPr>
          <a:xfrm>
            <a:off x="640080" y="3849624"/>
            <a:ext cx="7863840" cy="9144"/>
          </a:xfrm>
          <a:prstGeom prst="rect">
            <a:avLst/>
          </a:prstGeom>
          <a:solidFill>
            <a:srgbClr val="D5DBEA"/>
          </a:solidFill>
          <a:ln>
            <a:noFill/>
          </a:ln>
        </p:spPr>
        <p:txBody>
          <a:bodyPr rtlCol="0" anchor="ctr"/>
          <a:lstStyle/>
          <a:p>
            <a:pPr algn="ctr"/>
          </a:p>
        </p:txBody>
      </p:sp>
      <p:sp>
        <p:nvSpPr>
          <p:cNvPr id="36" name="TextBox 35"/>
          <p:cNvSpPr txBox="1"/>
          <p:nvPr/>
        </p:nvSpPr>
        <p:spPr>
          <a:xfrm>
            <a:off x="731519" y="3428999"/>
            <a:ext cx="2057400" cy="402336"/>
          </a:xfrm>
          <a:prstGeom prst="rect">
            <a:avLst/>
          </a:prstGeom>
          <a:noFill/>
        </p:spPr>
        <p:txBody>
          <a:bodyPr wrap="square" lIns="0" rIns="0" tIns="0" bIns="0" anchor="ctr">
            <a:noAutofit/>
          </a:bodyPr>
          <a:lstStyle/>
          <a:p>
            <a:pPr algn="l">
              <a:spcBef>
                <a:spcPts val="0"/>
              </a:spcBef>
              <a:spcAft>
                <a:spcPts val="0"/>
              </a:spcAft>
            </a:pPr>
            <a:r>
              <a:rPr sz="1100" b="1" i="0">
                <a:solidFill>
                  <a:srgbClr val="1E2447"/>
                </a:solidFill>
                <a:latin typeface="Calibri"/>
              </a:rPr>
              <a:t>Exchange–reserve</a:t>
            </a:r>
          </a:p>
        </p:txBody>
      </p:sp>
      <p:sp>
        <p:nvSpPr>
          <p:cNvPr id="37" name="TextBox 36"/>
          <p:cNvSpPr txBox="1"/>
          <p:nvPr/>
        </p:nvSpPr>
        <p:spPr>
          <a:xfrm>
            <a:off x="2971800" y="3428999"/>
            <a:ext cx="2926079"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Visible needs, goods, reserves, distribution</a:t>
            </a:r>
          </a:p>
        </p:txBody>
      </p:sp>
      <p:sp>
        <p:nvSpPr>
          <p:cNvPr id="38" name="TextBox 37"/>
          <p:cNvSpPr txBox="1"/>
          <p:nvPr/>
        </p:nvSpPr>
        <p:spPr>
          <a:xfrm>
            <a:off x="6080760" y="3428999"/>
            <a:ext cx="2331720" cy="402336"/>
          </a:xfrm>
          <a:prstGeom prst="rect">
            <a:avLst/>
          </a:prstGeom>
          <a:noFill/>
        </p:spPr>
        <p:txBody>
          <a:bodyPr wrap="square" lIns="0" rIns="0" tIns="0" bIns="0" anchor="ctr">
            <a:noAutofit/>
          </a:bodyPr>
          <a:lstStyle/>
          <a:p>
            <a:pPr algn="l">
              <a:spcBef>
                <a:spcPts val="0"/>
              </a:spcBef>
              <a:spcAft>
                <a:spcPts val="0"/>
              </a:spcAft>
            </a:pPr>
            <a:r>
              <a:rPr sz="1100" b="0" i="0">
                <a:solidFill>
                  <a:srgbClr val="5A6377"/>
                </a:solidFill>
                <a:latin typeface="Calibri"/>
              </a:rPr>
              <a:t>Fair arrangements, dependable availability</a:t>
            </a:r>
          </a:p>
        </p:txBody>
      </p:sp>
      <p:sp>
        <p:nvSpPr>
          <p:cNvPr id="39" name="Rounded Rectangle 38"/>
          <p:cNvSpPr/>
          <p:nvPr/>
        </p:nvSpPr>
        <p:spPr>
          <a:xfrm>
            <a:off x="640080" y="4114800"/>
            <a:ext cx="7863840" cy="530352"/>
          </a:xfrm>
          <a:prstGeom prst="roundRect">
            <a:avLst>
              <a:gd name="adj" fmla="val 18000"/>
            </a:avLst>
          </a:prstGeom>
          <a:solidFill>
            <a:srgbClr val="FAF1DF"/>
          </a:solidFill>
          <a:ln>
            <a:noFill/>
          </a:ln>
        </p:spPr>
        <p:txBody>
          <a:bodyPr rtlCol="0" anchor="ctr"/>
          <a:lstStyle/>
          <a:p>
            <a:pPr algn="ctr"/>
          </a:p>
        </p:txBody>
      </p:sp>
      <p:sp>
        <p:nvSpPr>
          <p:cNvPr id="40" name="TextBox 39"/>
          <p:cNvSpPr txBox="1"/>
          <p:nvPr/>
        </p:nvSpPr>
        <p:spPr>
          <a:xfrm>
            <a:off x="868680" y="4114800"/>
            <a:ext cx="7406640" cy="530352"/>
          </a:xfrm>
          <a:prstGeom prst="rect">
            <a:avLst/>
          </a:prstGeom>
          <a:noFill/>
        </p:spPr>
        <p:txBody>
          <a:bodyPr wrap="square" lIns="0" rIns="0" tIns="0" bIns="0" anchor="ctr">
            <a:noAutofit/>
          </a:bodyPr>
          <a:lstStyle/>
          <a:p>
            <a:pPr algn="ctr">
              <a:spcBef>
                <a:spcPts val="0"/>
              </a:spcBef>
              <a:spcAft>
                <a:spcPts val="0"/>
              </a:spcAft>
            </a:pPr>
            <a:r>
              <a:rPr sz="1150" b="0" i="0">
                <a:solidFill>
                  <a:srgbClr val="9A6414"/>
                </a:solidFill>
                <a:latin typeface="Calibri"/>
              </a:rPr>
              <a:t>A village workshop: repairs before new equipment, a shared pump's history, material recovery, visible work distribution.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VI  ·  CORPUS  ·  §6.1</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Fidelity to the Complete Corpus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MD Publications  ·  Note §6.1, Appendix A.1  ·  AnalyticMadhyasthDarshan.org  ·  26 / 31</a:t>
            </a:r>
          </a:p>
        </p:txBody>
      </p:sp>
      <p:sp>
        <p:nvSpPr>
          <p:cNvPr id="8" name="TextBox 7"/>
          <p:cNvSpPr txBox="1"/>
          <p:nvPr/>
        </p:nvSpPr>
        <p:spPr>
          <a:xfrm>
            <a:off x="640080" y="1188720"/>
            <a:ext cx="7863840" cy="457200"/>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libri"/>
              </a:rPr>
              <a:t>Meanings develop through connected accounts across the works; a detached definition misleads fluently.</a:t>
            </a:r>
          </a:p>
        </p:txBody>
      </p:sp>
      <p:sp>
        <p:nvSpPr>
          <p:cNvPr id="9" name="Rounded Rectangle 8"/>
          <p:cNvSpPr/>
          <p:nvPr/>
        </p:nvSpPr>
        <p:spPr>
          <a:xfrm>
            <a:off x="7132320" y="1719072"/>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7132320" y="1719072"/>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640080" y="1737360"/>
            <a:ext cx="365760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Coverage reported separately at each stage</a:t>
            </a:r>
          </a:p>
        </p:txBody>
      </p:sp>
      <p:sp>
        <p:nvSpPr>
          <p:cNvPr id="12" name="Rounded Rectangle 11"/>
          <p:cNvSpPr/>
          <p:nvPr/>
        </p:nvSpPr>
        <p:spPr>
          <a:xfrm>
            <a:off x="640080" y="2029968"/>
            <a:ext cx="1417320" cy="512064"/>
          </a:xfrm>
          <a:prstGeom prst="roundRect">
            <a:avLst>
              <a:gd name="adj" fmla="val 14000"/>
            </a:avLst>
          </a:prstGeom>
          <a:solidFill>
            <a:srgbClr val="3B4A7A"/>
          </a:solidFill>
          <a:ln>
            <a:noFill/>
          </a:ln>
        </p:spPr>
        <p:txBody>
          <a:bodyPr rtlCol="0" anchor="ctr"/>
          <a:lstStyle/>
          <a:p>
            <a:pPr algn="ctr"/>
          </a:p>
        </p:txBody>
      </p:sp>
      <p:sp>
        <p:nvSpPr>
          <p:cNvPr id="13" name="TextBox 12"/>
          <p:cNvSpPr txBox="1"/>
          <p:nvPr/>
        </p:nvSpPr>
        <p:spPr>
          <a:xfrm>
            <a:off x="694944" y="2029968"/>
            <a:ext cx="1307592" cy="51206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Acquired</a:t>
            </a:r>
          </a:p>
        </p:txBody>
      </p:sp>
      <p:sp>
        <p:nvSpPr>
          <p:cNvPr id="14" name="TextBox 13"/>
          <p:cNvSpPr txBox="1"/>
          <p:nvPr/>
        </p:nvSpPr>
        <p:spPr>
          <a:xfrm>
            <a:off x="2039112" y="2103120"/>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15" name="Rounded Rectangle 14"/>
          <p:cNvSpPr/>
          <p:nvPr/>
        </p:nvSpPr>
        <p:spPr>
          <a:xfrm>
            <a:off x="2240280" y="2029968"/>
            <a:ext cx="1417320" cy="512064"/>
          </a:xfrm>
          <a:prstGeom prst="roundRect">
            <a:avLst>
              <a:gd name="adj" fmla="val 14000"/>
            </a:avLst>
          </a:prstGeom>
          <a:solidFill>
            <a:srgbClr val="3B4A7A"/>
          </a:solidFill>
          <a:ln>
            <a:noFill/>
          </a:ln>
        </p:spPr>
        <p:txBody>
          <a:bodyPr rtlCol="0" anchor="ctr"/>
          <a:lstStyle/>
          <a:p>
            <a:pPr algn="ctr"/>
          </a:p>
        </p:txBody>
      </p:sp>
      <p:sp>
        <p:nvSpPr>
          <p:cNvPr id="16" name="TextBox 15"/>
          <p:cNvSpPr txBox="1"/>
          <p:nvPr/>
        </p:nvSpPr>
        <p:spPr>
          <a:xfrm>
            <a:off x="2295144" y="2029968"/>
            <a:ext cx="1307592" cy="51206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Extracted</a:t>
            </a:r>
          </a:p>
        </p:txBody>
      </p:sp>
      <p:sp>
        <p:nvSpPr>
          <p:cNvPr id="17" name="TextBox 16"/>
          <p:cNvSpPr txBox="1"/>
          <p:nvPr/>
        </p:nvSpPr>
        <p:spPr>
          <a:xfrm>
            <a:off x="3639312" y="2103120"/>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18" name="Rounded Rectangle 17"/>
          <p:cNvSpPr/>
          <p:nvPr/>
        </p:nvSpPr>
        <p:spPr>
          <a:xfrm>
            <a:off x="3840480" y="2029968"/>
            <a:ext cx="1417320" cy="512064"/>
          </a:xfrm>
          <a:prstGeom prst="roundRect">
            <a:avLst>
              <a:gd name="adj" fmla="val 14000"/>
            </a:avLst>
          </a:prstGeom>
          <a:solidFill>
            <a:srgbClr val="3B4A7A"/>
          </a:solidFill>
          <a:ln>
            <a:noFill/>
          </a:ln>
        </p:spPr>
        <p:txBody>
          <a:bodyPr rtlCol="0" anchor="ctr"/>
          <a:lstStyle/>
          <a:p>
            <a:pPr algn="ctr"/>
          </a:p>
        </p:txBody>
      </p:sp>
      <p:sp>
        <p:nvSpPr>
          <p:cNvPr id="19" name="TextBox 18"/>
          <p:cNvSpPr txBox="1"/>
          <p:nvPr/>
        </p:nvSpPr>
        <p:spPr>
          <a:xfrm>
            <a:off x="3895344" y="2029968"/>
            <a:ext cx="1307592" cy="51206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Reviewed</a:t>
            </a:r>
          </a:p>
        </p:txBody>
      </p:sp>
      <p:sp>
        <p:nvSpPr>
          <p:cNvPr id="20" name="TextBox 19"/>
          <p:cNvSpPr txBox="1"/>
          <p:nvPr/>
        </p:nvSpPr>
        <p:spPr>
          <a:xfrm>
            <a:off x="5239512" y="2103120"/>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21" name="Rounded Rectangle 20"/>
          <p:cNvSpPr/>
          <p:nvPr/>
        </p:nvSpPr>
        <p:spPr>
          <a:xfrm>
            <a:off x="5440680" y="2029968"/>
            <a:ext cx="1417320" cy="512064"/>
          </a:xfrm>
          <a:prstGeom prst="roundRect">
            <a:avLst>
              <a:gd name="adj" fmla="val 14000"/>
            </a:avLst>
          </a:prstGeom>
          <a:solidFill>
            <a:srgbClr val="3B4A7A"/>
          </a:solidFill>
          <a:ln>
            <a:noFill/>
          </a:ln>
        </p:spPr>
        <p:txBody>
          <a:bodyPr rtlCol="0" anchor="ctr"/>
          <a:lstStyle/>
          <a:p>
            <a:pPr algn="ctr"/>
          </a:p>
        </p:txBody>
      </p:sp>
      <p:sp>
        <p:nvSpPr>
          <p:cNvPr id="22" name="TextBox 21"/>
          <p:cNvSpPr txBox="1"/>
          <p:nvPr/>
        </p:nvSpPr>
        <p:spPr>
          <a:xfrm>
            <a:off x="5495544" y="2029968"/>
            <a:ext cx="1307592" cy="51206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Indexed</a:t>
            </a:r>
          </a:p>
        </p:txBody>
      </p:sp>
      <p:sp>
        <p:nvSpPr>
          <p:cNvPr id="23" name="TextBox 22"/>
          <p:cNvSpPr txBox="1"/>
          <p:nvPr/>
        </p:nvSpPr>
        <p:spPr>
          <a:xfrm>
            <a:off x="6839712" y="2103120"/>
            <a:ext cx="219456" cy="365760"/>
          </a:xfrm>
          <a:prstGeom prst="rect">
            <a:avLst/>
          </a:prstGeom>
          <a:noFill/>
        </p:spPr>
        <p:txBody>
          <a:bodyPr wrap="square" lIns="0" rIns="0" tIns="0" bIns="0" anchor="ctr">
            <a:noAutofit/>
          </a:bodyPr>
          <a:lstStyle/>
          <a:p>
            <a:pPr algn="ctr">
              <a:spcBef>
                <a:spcPts val="0"/>
              </a:spcBef>
              <a:spcAft>
                <a:spcPts val="0"/>
              </a:spcAft>
            </a:pPr>
            <a:r>
              <a:rPr sz="1800" b="1" i="0">
                <a:solidFill>
                  <a:srgbClr val="C9821E"/>
                </a:solidFill>
                <a:latin typeface="Calibri"/>
              </a:rPr>
              <a:t>›</a:t>
            </a:r>
          </a:p>
        </p:txBody>
      </p:sp>
      <p:sp>
        <p:nvSpPr>
          <p:cNvPr id="24" name="Rounded Rectangle 23"/>
          <p:cNvSpPr/>
          <p:nvPr/>
        </p:nvSpPr>
        <p:spPr>
          <a:xfrm>
            <a:off x="7040880" y="2029968"/>
            <a:ext cx="1417320" cy="512064"/>
          </a:xfrm>
          <a:prstGeom prst="roundRect">
            <a:avLst>
              <a:gd name="adj" fmla="val 14000"/>
            </a:avLst>
          </a:prstGeom>
          <a:solidFill>
            <a:srgbClr val="C9821E"/>
          </a:solidFill>
          <a:ln>
            <a:noFill/>
          </a:ln>
        </p:spPr>
        <p:txBody>
          <a:bodyPr rtlCol="0" anchor="ctr"/>
          <a:lstStyle/>
          <a:p>
            <a:pPr algn="ctr"/>
          </a:p>
        </p:txBody>
      </p:sp>
      <p:sp>
        <p:nvSpPr>
          <p:cNvPr id="25" name="TextBox 24"/>
          <p:cNvSpPr txBox="1"/>
          <p:nvPr/>
        </p:nvSpPr>
        <p:spPr>
          <a:xfrm>
            <a:off x="7095744" y="2029968"/>
            <a:ext cx="1307592" cy="512064"/>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Evaluated</a:t>
            </a:r>
          </a:p>
        </p:txBody>
      </p:sp>
      <p:sp>
        <p:nvSpPr>
          <p:cNvPr id="26" name="Rounded Rectangle 25"/>
          <p:cNvSpPr/>
          <p:nvPr/>
        </p:nvSpPr>
        <p:spPr>
          <a:xfrm>
            <a:off x="640080" y="2761488"/>
            <a:ext cx="3840480" cy="1188720"/>
          </a:xfrm>
          <a:prstGeom prst="roundRect">
            <a:avLst>
              <a:gd name="adj" fmla="val 7000"/>
            </a:avLst>
          </a:prstGeom>
          <a:solidFill>
            <a:srgbClr val="FAF1DF"/>
          </a:solidFill>
          <a:ln>
            <a:noFill/>
          </a:ln>
        </p:spPr>
        <p:txBody>
          <a:bodyPr rtlCol="0" anchor="ctr"/>
          <a:lstStyle/>
          <a:p>
            <a:pPr algn="ctr"/>
          </a:p>
        </p:txBody>
      </p:sp>
      <p:sp>
        <p:nvSpPr>
          <p:cNvPr id="27" name="TextBox 26"/>
          <p:cNvSpPr txBox="1"/>
          <p:nvPr/>
        </p:nvSpPr>
        <p:spPr>
          <a:xfrm>
            <a:off x="822959" y="2880360"/>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Hindi originals as the reference</a:t>
            </a:r>
          </a:p>
        </p:txBody>
      </p:sp>
      <p:sp>
        <p:nvSpPr>
          <p:cNvPr id="28" name="TextBox 27"/>
          <p:cNvSpPr txBox="1"/>
          <p:nvPr/>
        </p:nvSpPr>
        <p:spPr>
          <a:xfrm>
            <a:off x="822959" y="3182112"/>
            <a:ext cx="3474720" cy="67665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Page images beside corrected searchable text; every item with edition, language, and provenance.</a:t>
            </a:r>
          </a:p>
        </p:txBody>
      </p:sp>
      <p:sp>
        <p:nvSpPr>
          <p:cNvPr id="29" name="Rounded Rectangle 28"/>
          <p:cNvSpPr/>
          <p:nvPr/>
        </p:nvSpPr>
        <p:spPr>
          <a:xfrm>
            <a:off x="4663440" y="2761488"/>
            <a:ext cx="3840480" cy="1188720"/>
          </a:xfrm>
          <a:prstGeom prst="roundRect">
            <a:avLst>
              <a:gd name="adj" fmla="val 7000"/>
            </a:avLst>
          </a:prstGeom>
          <a:solidFill>
            <a:srgbClr val="FAF1DF"/>
          </a:solidFill>
          <a:ln>
            <a:noFill/>
          </a:ln>
        </p:spPr>
        <p:txBody>
          <a:bodyPr rtlCol="0" anchor="ctr"/>
          <a:lstStyle/>
          <a:p>
            <a:pPr algn="ctr"/>
          </a:p>
        </p:txBody>
      </p:sp>
      <p:sp>
        <p:nvSpPr>
          <p:cNvPr id="30" name="TextBox 29"/>
          <p:cNvSpPr txBox="1"/>
          <p:nvPr/>
        </p:nvSpPr>
        <p:spPr>
          <a:xfrm>
            <a:off x="4846320" y="2880360"/>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A dated corpus register</a:t>
            </a:r>
          </a:p>
        </p:txBody>
      </p:sp>
      <p:sp>
        <p:nvSpPr>
          <p:cNvPr id="31" name="TextBox 30"/>
          <p:cNvSpPr txBox="1"/>
          <p:nvPr/>
        </p:nvSpPr>
        <p:spPr>
          <a:xfrm>
            <a:off x="4846320" y="3182112"/>
            <a:ext cx="3474720" cy="67665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The official published-books list is a starting inventory; the register discloses every known gap.</a:t>
            </a:r>
          </a:p>
        </p:txBody>
      </p:sp>
      <p:sp>
        <p:nvSpPr>
          <p:cNvPr id="32" name="Rounded Rectangle 31"/>
          <p:cNvSpPr/>
          <p:nvPr/>
        </p:nvSpPr>
        <p:spPr>
          <a:xfrm>
            <a:off x="640080" y="4114800"/>
            <a:ext cx="7863840" cy="530352"/>
          </a:xfrm>
          <a:prstGeom prst="roundRect">
            <a:avLst>
              <a:gd name="adj" fmla="val 18000"/>
            </a:avLst>
          </a:prstGeom>
          <a:solidFill>
            <a:srgbClr val="1E2447"/>
          </a:solidFill>
          <a:ln>
            <a:noFill/>
          </a:ln>
        </p:spPr>
        <p:txBody>
          <a:bodyPr rtlCol="0" anchor="ctr"/>
          <a:lstStyle/>
          <a:p>
            <a:pPr algn="ctr"/>
          </a:p>
        </p:txBody>
      </p:sp>
      <p:sp>
        <p:nvSpPr>
          <p:cNvPr id="33" name="TextBox 32"/>
          <p:cNvSpPr txBox="1"/>
          <p:nvPr/>
        </p:nvSpPr>
        <p:spPr>
          <a:xfrm>
            <a:off x="868680" y="4114800"/>
            <a:ext cx="7406640" cy="530352"/>
          </a:xfrm>
          <a:prstGeom prst="rect">
            <a:avLst/>
          </a:prstGeom>
          <a:noFill/>
        </p:spPr>
        <p:txBody>
          <a:bodyPr wrap="square" lIns="0" rIns="0" tIns="0" bIns="0" anchor="ctr">
            <a:noAutofit/>
          </a:bodyPr>
          <a:lstStyle/>
          <a:p>
            <a:pPr algn="ctr">
              <a:spcBef>
                <a:spcPts val="0"/>
              </a:spcBef>
              <a:spcAft>
                <a:spcPts val="0"/>
              </a:spcAft>
            </a:pPr>
            <a:r>
              <a:rPr sz="1200" b="0" i="0">
                <a:solidFill>
                  <a:srgbClr val="FFFFFF"/>
                </a:solidFill>
                <a:latin typeface="Calibri"/>
              </a:rPr>
              <a:t>No claim of complete coverage before a corpus audit. Possessing a PDF is not tested use.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VI  ·  ANSWERS  ·  §6.2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Answers That Show Their Sources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Lewis et al. 2020  ·  Gao et al. 2023  ·  Note §6.2  ·  AnalyticMadhyasthDarshan.org  ·  27 / 31</a:t>
            </a:r>
          </a:p>
        </p:txBody>
      </p:sp>
      <p:sp>
        <p:nvSpPr>
          <p:cNvPr id="8" name="Rounded Rectangle 7"/>
          <p:cNvSpPr/>
          <p:nvPr/>
        </p:nvSpPr>
        <p:spPr>
          <a:xfrm>
            <a:off x="640080" y="1280160"/>
            <a:ext cx="3840480" cy="1234440"/>
          </a:xfrm>
          <a:prstGeom prst="roundRect">
            <a:avLst>
              <a:gd name="adj" fmla="val 7000"/>
            </a:avLst>
          </a:prstGeom>
          <a:solidFill>
            <a:srgbClr val="FAF1DF"/>
          </a:solidFill>
          <a:ln>
            <a:noFill/>
          </a:ln>
        </p:spPr>
        <p:txBody>
          <a:bodyPr rtlCol="0" anchor="ctr"/>
          <a:lstStyle/>
          <a:p>
            <a:pPr algn="ctr"/>
          </a:p>
        </p:txBody>
      </p:sp>
      <p:sp>
        <p:nvSpPr>
          <p:cNvPr id="9" name="Rounded Rectangle 8"/>
          <p:cNvSpPr/>
          <p:nvPr/>
        </p:nvSpPr>
        <p:spPr>
          <a:xfrm>
            <a:off x="2980944" y="1188719"/>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298094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22959" y="1399031"/>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Training or adaptation</a:t>
            </a:r>
          </a:p>
        </p:txBody>
      </p:sp>
      <p:sp>
        <p:nvSpPr>
          <p:cNvPr id="12" name="TextBox 11"/>
          <p:cNvSpPr txBox="1"/>
          <p:nvPr/>
        </p:nvSpPr>
        <p:spPr>
          <a:xfrm>
            <a:off x="822959" y="1700784"/>
            <a:ext cx="3474720" cy="72237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Teaches terminology, connected reading, faithful paraphrase, correction of false premises.</a:t>
            </a:r>
          </a:p>
        </p:txBody>
      </p:sp>
      <p:sp>
        <p:nvSpPr>
          <p:cNvPr id="13" name="Rounded Rectangle 12"/>
          <p:cNvSpPr/>
          <p:nvPr/>
        </p:nvSpPr>
        <p:spPr>
          <a:xfrm>
            <a:off x="640080" y="2679192"/>
            <a:ext cx="3840480" cy="1234440"/>
          </a:xfrm>
          <a:prstGeom prst="roundRect">
            <a:avLst>
              <a:gd name="adj" fmla="val 7000"/>
            </a:avLst>
          </a:prstGeom>
          <a:solidFill>
            <a:srgbClr val="F1F2F4"/>
          </a:solidFill>
          <a:ln>
            <a:noFill/>
          </a:ln>
        </p:spPr>
        <p:txBody>
          <a:bodyPr rtlCol="0" anchor="ctr"/>
          <a:lstStyle/>
          <a:p>
            <a:pPr algn="ctr"/>
          </a:p>
        </p:txBody>
      </p:sp>
      <p:sp>
        <p:nvSpPr>
          <p:cNvPr id="14" name="Rounded Rectangle 13"/>
          <p:cNvSpPr/>
          <p:nvPr/>
        </p:nvSpPr>
        <p:spPr>
          <a:xfrm>
            <a:off x="3639312" y="2587752"/>
            <a:ext cx="713232" cy="182880"/>
          </a:xfrm>
          <a:prstGeom prst="roundRect">
            <a:avLst>
              <a:gd name="adj" fmla="val 50000"/>
            </a:avLst>
          </a:prstGeom>
          <a:solidFill>
            <a:srgbClr val="7A8295"/>
          </a:solidFill>
          <a:ln>
            <a:noFill/>
          </a:ln>
        </p:spPr>
        <p:txBody>
          <a:bodyPr rtlCol="0" anchor="ctr"/>
          <a:lstStyle/>
          <a:p>
            <a:pPr algn="ctr"/>
          </a:p>
        </p:txBody>
      </p:sp>
      <p:sp>
        <p:nvSpPr>
          <p:cNvPr id="15" name="TextBox 14"/>
          <p:cNvSpPr txBox="1"/>
          <p:nvPr/>
        </p:nvSpPr>
        <p:spPr>
          <a:xfrm>
            <a:off x="3639312" y="2587752"/>
            <a:ext cx="713232"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RESEARCH</a:t>
            </a:r>
          </a:p>
        </p:txBody>
      </p:sp>
      <p:sp>
        <p:nvSpPr>
          <p:cNvPr id="16" name="TextBox 15"/>
          <p:cNvSpPr txBox="1"/>
          <p:nvPr/>
        </p:nvSpPr>
        <p:spPr>
          <a:xfrm>
            <a:off x="822959" y="2798064"/>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Retrieval at answer time</a:t>
            </a:r>
          </a:p>
        </p:txBody>
      </p:sp>
      <p:sp>
        <p:nvSpPr>
          <p:cNvPr id="17" name="TextBox 16"/>
          <p:cNvSpPr txBox="1"/>
          <p:nvPr/>
        </p:nvSpPr>
        <p:spPr>
          <a:xfrm>
            <a:off x="822959" y="3099816"/>
            <a:ext cx="3474720" cy="722376"/>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Actual passages with work, edition, and page. Tested factuality gains; no guarantee here.</a:t>
            </a:r>
          </a:p>
        </p:txBody>
      </p:sp>
      <p:sp>
        <p:nvSpPr>
          <p:cNvPr id="18" name="Rounded Rectangle 17"/>
          <p:cNvSpPr/>
          <p:nvPr/>
        </p:nvSpPr>
        <p:spPr>
          <a:xfrm>
            <a:off x="4663440" y="1280160"/>
            <a:ext cx="3840480" cy="2633472"/>
          </a:xfrm>
          <a:prstGeom prst="roundRect">
            <a:avLst>
              <a:gd name="adj" fmla="val 6000"/>
            </a:avLst>
          </a:prstGeom>
          <a:solidFill>
            <a:srgbClr val="EEF1F8"/>
          </a:solidFill>
          <a:ln>
            <a:noFill/>
          </a:ln>
        </p:spPr>
        <p:txBody>
          <a:bodyPr rtlCol="0" anchor="ctr"/>
          <a:lstStyle/>
          <a:p>
            <a:pPr algn="ctr"/>
          </a:p>
        </p:txBody>
      </p:sp>
      <p:sp>
        <p:nvSpPr>
          <p:cNvPr id="19" name="Rounded Rectangle 18"/>
          <p:cNvSpPr/>
          <p:nvPr/>
        </p:nvSpPr>
        <p:spPr>
          <a:xfrm>
            <a:off x="7004304" y="1188720"/>
            <a:ext cx="1371600" cy="182880"/>
          </a:xfrm>
          <a:prstGeom prst="roundRect">
            <a:avLst>
              <a:gd name="adj" fmla="val 50000"/>
            </a:avLst>
          </a:prstGeom>
          <a:solidFill>
            <a:srgbClr val="C9821E"/>
          </a:solidFill>
          <a:ln>
            <a:noFill/>
          </a:ln>
        </p:spPr>
        <p:txBody>
          <a:bodyPr rtlCol="0" anchor="ctr"/>
          <a:lstStyle/>
          <a:p>
            <a:pPr algn="ctr"/>
          </a:p>
        </p:txBody>
      </p:sp>
      <p:sp>
        <p:nvSpPr>
          <p:cNvPr id="20" name="TextBox 19"/>
          <p:cNvSpPr txBox="1"/>
          <p:nvPr/>
        </p:nvSpPr>
        <p:spPr>
          <a:xfrm>
            <a:off x="700430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1" name="TextBox 20"/>
          <p:cNvSpPr txBox="1"/>
          <p:nvPr/>
        </p:nvSpPr>
        <p:spPr>
          <a:xfrm>
            <a:off x="4864608" y="1389888"/>
            <a:ext cx="3474720"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Every answer declares its kind</a:t>
            </a:r>
          </a:p>
        </p:txBody>
      </p:sp>
      <p:sp>
        <p:nvSpPr>
          <p:cNvPr id="22" name="Rounded Rectangle 21"/>
          <p:cNvSpPr/>
          <p:nvPr/>
        </p:nvSpPr>
        <p:spPr>
          <a:xfrm>
            <a:off x="4937760" y="1810512"/>
            <a:ext cx="3291840" cy="402336"/>
          </a:xfrm>
          <a:prstGeom prst="roundRect">
            <a:avLst>
              <a:gd name="adj" fmla="val 14000"/>
            </a:avLst>
          </a:prstGeom>
          <a:solidFill>
            <a:srgbClr val="1E2447"/>
          </a:solidFill>
          <a:ln>
            <a:noFill/>
          </a:ln>
        </p:spPr>
        <p:txBody>
          <a:bodyPr rtlCol="0" anchor="ctr"/>
          <a:lstStyle/>
          <a:p>
            <a:pPr algn="ctr"/>
          </a:p>
        </p:txBody>
      </p:sp>
      <p:sp>
        <p:nvSpPr>
          <p:cNvPr id="23" name="TextBox 22"/>
          <p:cNvSpPr txBox="1"/>
          <p:nvPr/>
        </p:nvSpPr>
        <p:spPr>
          <a:xfrm>
            <a:off x="4992624" y="1810512"/>
            <a:ext cx="3182112" cy="402336"/>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Explicit text</a:t>
            </a:r>
          </a:p>
        </p:txBody>
      </p:sp>
      <p:sp>
        <p:nvSpPr>
          <p:cNvPr id="24" name="Rounded Rectangle 23"/>
          <p:cNvSpPr/>
          <p:nvPr/>
        </p:nvSpPr>
        <p:spPr>
          <a:xfrm>
            <a:off x="4937760" y="2313432"/>
            <a:ext cx="3291840" cy="402336"/>
          </a:xfrm>
          <a:prstGeom prst="roundRect">
            <a:avLst>
              <a:gd name="adj" fmla="val 14000"/>
            </a:avLst>
          </a:prstGeom>
          <a:solidFill>
            <a:srgbClr val="3B4A7A"/>
          </a:solidFill>
          <a:ln>
            <a:noFill/>
          </a:ln>
        </p:spPr>
        <p:txBody>
          <a:bodyPr rtlCol="0" anchor="ctr"/>
          <a:lstStyle/>
          <a:p>
            <a:pPr algn="ctr"/>
          </a:p>
        </p:txBody>
      </p:sp>
      <p:sp>
        <p:nvSpPr>
          <p:cNvPr id="25" name="TextBox 24"/>
          <p:cNvSpPr txBox="1"/>
          <p:nvPr/>
        </p:nvSpPr>
        <p:spPr>
          <a:xfrm>
            <a:off x="4992624" y="2313432"/>
            <a:ext cx="3182112" cy="402336"/>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Supported synthesis</a:t>
            </a:r>
          </a:p>
        </p:txBody>
      </p:sp>
      <p:sp>
        <p:nvSpPr>
          <p:cNvPr id="26" name="Rounded Rectangle 25"/>
          <p:cNvSpPr/>
          <p:nvPr/>
        </p:nvSpPr>
        <p:spPr>
          <a:xfrm>
            <a:off x="4937760" y="2816352"/>
            <a:ext cx="3291840" cy="402336"/>
          </a:xfrm>
          <a:prstGeom prst="roundRect">
            <a:avLst>
              <a:gd name="adj" fmla="val 14000"/>
            </a:avLst>
          </a:prstGeom>
          <a:solidFill>
            <a:srgbClr val="C9821E"/>
          </a:solidFill>
          <a:ln>
            <a:noFill/>
          </a:ln>
        </p:spPr>
        <p:txBody>
          <a:bodyPr rtlCol="0" anchor="ctr"/>
          <a:lstStyle/>
          <a:p>
            <a:pPr algn="ctr"/>
          </a:p>
        </p:txBody>
      </p:sp>
      <p:sp>
        <p:nvSpPr>
          <p:cNvPr id="27" name="TextBox 26"/>
          <p:cNvSpPr txBox="1"/>
          <p:nvPr/>
        </p:nvSpPr>
        <p:spPr>
          <a:xfrm>
            <a:off x="4992624" y="2816352"/>
            <a:ext cx="3182112" cy="402336"/>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Contemporary application</a:t>
            </a:r>
          </a:p>
        </p:txBody>
      </p:sp>
      <p:sp>
        <p:nvSpPr>
          <p:cNvPr id="28" name="Rounded Rectangle 27"/>
          <p:cNvSpPr/>
          <p:nvPr/>
        </p:nvSpPr>
        <p:spPr>
          <a:xfrm>
            <a:off x="4937760" y="3319272"/>
            <a:ext cx="3291840" cy="402336"/>
          </a:xfrm>
          <a:prstGeom prst="roundRect">
            <a:avLst>
              <a:gd name="adj" fmla="val 14000"/>
            </a:avLst>
          </a:prstGeom>
          <a:solidFill>
            <a:srgbClr val="7A8295"/>
          </a:solidFill>
          <a:ln>
            <a:noFill/>
          </a:ln>
        </p:spPr>
        <p:txBody>
          <a:bodyPr rtlCol="0" anchor="ctr"/>
          <a:lstStyle/>
          <a:p>
            <a:pPr algn="ctr"/>
          </a:p>
        </p:txBody>
      </p:sp>
      <p:sp>
        <p:nvSpPr>
          <p:cNvPr id="29" name="TextBox 28"/>
          <p:cNvSpPr txBox="1"/>
          <p:nvPr/>
        </p:nvSpPr>
        <p:spPr>
          <a:xfrm>
            <a:off x="4992624" y="3319272"/>
            <a:ext cx="3182112" cy="402336"/>
          </a:xfrm>
          <a:prstGeom prst="rect">
            <a:avLst/>
          </a:prstGeom>
          <a:noFill/>
        </p:spPr>
        <p:txBody>
          <a:bodyPr wrap="square" lIns="0" rIns="0" tIns="0" bIns="0" anchor="ctr">
            <a:noAutofit/>
          </a:bodyPr>
          <a:lstStyle/>
          <a:p>
            <a:pPr algn="ctr">
              <a:spcBef>
                <a:spcPts val="0"/>
              </a:spcBef>
              <a:spcAft>
                <a:spcPts val="0"/>
              </a:spcAft>
            </a:pPr>
            <a:r>
              <a:rPr sz="1200" b="1" i="0">
                <a:solidFill>
                  <a:srgbClr val="FFFFFF"/>
                </a:solidFill>
                <a:latin typeface="Cambria"/>
              </a:rPr>
              <a:t>Unresolved question</a:t>
            </a:r>
          </a:p>
        </p:txBody>
      </p:sp>
      <p:sp>
        <p:nvSpPr>
          <p:cNvPr id="30" name="Rounded Rectangle 29"/>
          <p:cNvSpPr/>
          <p:nvPr/>
        </p:nvSpPr>
        <p:spPr>
          <a:xfrm>
            <a:off x="640080" y="4078224"/>
            <a:ext cx="7863840" cy="566928"/>
          </a:xfrm>
          <a:prstGeom prst="roundRect">
            <a:avLst>
              <a:gd name="adj" fmla="val 18000"/>
            </a:avLst>
          </a:prstGeom>
          <a:solidFill>
            <a:srgbClr val="1E2447"/>
          </a:solidFill>
          <a:ln>
            <a:noFill/>
          </a:ln>
        </p:spPr>
        <p:txBody>
          <a:bodyPr rtlCol="0" anchor="ctr"/>
          <a:lstStyle/>
          <a:p>
            <a:pPr algn="ctr"/>
          </a:p>
        </p:txBody>
      </p:sp>
      <p:sp>
        <p:nvSpPr>
          <p:cNvPr id="31" name="TextBox 30"/>
          <p:cNvSpPr txBox="1"/>
          <p:nvPr/>
        </p:nvSpPr>
        <p:spPr>
          <a:xfrm>
            <a:off x="868680" y="4078224"/>
            <a:ext cx="7406640" cy="566928"/>
          </a:xfrm>
          <a:prstGeom prst="rect">
            <a:avLst/>
          </a:prstGeom>
          <a:noFill/>
        </p:spPr>
        <p:txBody>
          <a:bodyPr wrap="square" lIns="0" rIns="0" tIns="0" bIns="0" anchor="ctr">
            <a:noAutofit/>
          </a:bodyPr>
          <a:lstStyle/>
          <a:p>
            <a:pPr algn="ctr">
              <a:spcBef>
                <a:spcPts val="0"/>
              </a:spcBef>
              <a:spcAft>
                <a:spcPts val="0"/>
              </a:spcAft>
            </a:pPr>
            <a:r>
              <a:rPr sz="1150" b="0" i="0">
                <a:solidFill>
                  <a:srgbClr val="FFFFFF"/>
                </a:solidFill>
                <a:latin typeface="Calibri"/>
              </a:rPr>
              <a:t>Hallucination: unsupported content presented as established. Withhold the claim, explain the gap, offer what is supported.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VI  ·  TESTING  ·  §§6.3–6.4, A.2–A.3</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Testing Fidelity and Human Benefit</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Note §§6.3–6.4  ·  Appendix A.2–A.3  ·  AnalyticMadhyasthDarshan.org  ·  28 / 31</a:t>
            </a:r>
          </a:p>
        </p:txBody>
      </p:sp>
      <p:sp>
        <p:nvSpPr>
          <p:cNvPr id="8" name="Rounded Rectangle 7"/>
          <p:cNvSpPr/>
          <p:nvPr/>
        </p:nvSpPr>
        <p:spPr>
          <a:xfrm>
            <a:off x="640080" y="1280160"/>
            <a:ext cx="3840480" cy="2743200"/>
          </a:xfrm>
          <a:prstGeom prst="roundRect">
            <a:avLst>
              <a:gd name="adj" fmla="val 6000"/>
            </a:avLst>
          </a:prstGeom>
          <a:solidFill>
            <a:srgbClr val="EEF1F8"/>
          </a:solidFill>
          <a:ln>
            <a:noFill/>
          </a:ln>
        </p:spPr>
        <p:txBody>
          <a:bodyPr rtlCol="0" anchor="ctr"/>
          <a:lstStyle/>
          <a:p>
            <a:pPr algn="ctr"/>
          </a:p>
        </p:txBody>
      </p:sp>
      <p:sp>
        <p:nvSpPr>
          <p:cNvPr id="9" name="Rounded Rectangle 8"/>
          <p:cNvSpPr/>
          <p:nvPr/>
        </p:nvSpPr>
        <p:spPr>
          <a:xfrm>
            <a:off x="2980944" y="1188720"/>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298094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41248" y="1389888"/>
            <a:ext cx="3474720" cy="292608"/>
          </a:xfrm>
          <a:prstGeom prst="rect">
            <a:avLst/>
          </a:prstGeom>
          <a:noFill/>
        </p:spPr>
        <p:txBody>
          <a:bodyPr wrap="square" lIns="0" rIns="0" tIns="0" bIns="0" anchor="ctr">
            <a:noAutofit/>
          </a:bodyPr>
          <a:lstStyle/>
          <a:p>
            <a:pPr algn="l">
              <a:spcBef>
                <a:spcPts val="0"/>
              </a:spcBef>
              <a:spcAft>
                <a:spcPts val="0"/>
              </a:spcAft>
            </a:pPr>
            <a:r>
              <a:rPr sz="1300" b="1" i="0">
                <a:solidFill>
                  <a:srgbClr val="1E2447"/>
                </a:solidFill>
                <a:latin typeface="Cambria"/>
              </a:rPr>
              <a:t>Source and interpretation tests</a:t>
            </a:r>
          </a:p>
        </p:txBody>
      </p:sp>
      <p:sp>
        <p:nvSpPr>
          <p:cNvPr id="12" name="Oval 11"/>
          <p:cNvSpPr/>
          <p:nvPr/>
        </p:nvSpPr>
        <p:spPr>
          <a:xfrm>
            <a:off x="868680" y="1860804"/>
            <a:ext cx="73152" cy="73152"/>
          </a:xfrm>
          <a:prstGeom prst="ellipse">
            <a:avLst/>
          </a:prstGeom>
          <a:solidFill>
            <a:srgbClr val="3B4A7A"/>
          </a:solidFill>
          <a:ln>
            <a:noFill/>
          </a:ln>
        </p:spPr>
        <p:txBody>
          <a:bodyPr rtlCol="0" anchor="ctr"/>
          <a:lstStyle/>
          <a:p>
            <a:pPr algn="ctr"/>
          </a:p>
        </p:txBody>
      </p:sp>
      <p:sp>
        <p:nvSpPr>
          <p:cNvPr id="13" name="TextBox 12"/>
          <p:cNvSpPr txBox="1"/>
          <p:nvPr/>
        </p:nvSpPr>
        <p:spPr>
          <a:xfrm>
            <a:off x="1033271" y="1792224"/>
            <a:ext cx="3310127" cy="34747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An invented passage or page</a:t>
            </a:r>
          </a:p>
        </p:txBody>
      </p:sp>
      <p:sp>
        <p:nvSpPr>
          <p:cNvPr id="14" name="Oval 13"/>
          <p:cNvSpPr/>
          <p:nvPr/>
        </p:nvSpPr>
        <p:spPr>
          <a:xfrm>
            <a:off x="868680" y="2226564"/>
            <a:ext cx="73152" cy="73152"/>
          </a:xfrm>
          <a:prstGeom prst="ellipse">
            <a:avLst/>
          </a:prstGeom>
          <a:solidFill>
            <a:srgbClr val="3B4A7A"/>
          </a:solidFill>
          <a:ln>
            <a:noFill/>
          </a:ln>
        </p:spPr>
        <p:txBody>
          <a:bodyPr rtlCol="0" anchor="ctr"/>
          <a:lstStyle/>
          <a:p>
            <a:pPr algn="ctr"/>
          </a:p>
        </p:txBody>
      </p:sp>
      <p:sp>
        <p:nvSpPr>
          <p:cNvPr id="15" name="TextBox 14"/>
          <p:cNvSpPr txBox="1"/>
          <p:nvPr/>
        </p:nvSpPr>
        <p:spPr>
          <a:xfrm>
            <a:off x="1033271" y="2157984"/>
            <a:ext cx="3310127" cy="34747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Taste and selection collapsed into one</a:t>
            </a:r>
          </a:p>
        </p:txBody>
      </p:sp>
      <p:sp>
        <p:nvSpPr>
          <p:cNvPr id="16" name="Oval 15"/>
          <p:cNvSpPr/>
          <p:nvPr/>
        </p:nvSpPr>
        <p:spPr>
          <a:xfrm>
            <a:off x="868680" y="2592324"/>
            <a:ext cx="73152" cy="73152"/>
          </a:xfrm>
          <a:prstGeom prst="ellipse">
            <a:avLst/>
          </a:prstGeom>
          <a:solidFill>
            <a:srgbClr val="3B4A7A"/>
          </a:solidFill>
          <a:ln>
            <a:noFill/>
          </a:ln>
        </p:spPr>
        <p:txBody>
          <a:bodyPr rtlCol="0" anchor="ctr"/>
          <a:lstStyle/>
          <a:p>
            <a:pPr algn="ctr"/>
          </a:p>
        </p:txBody>
      </p:sp>
      <p:sp>
        <p:nvSpPr>
          <p:cNvPr id="17" name="TextBox 16"/>
          <p:cNvSpPr txBox="1"/>
          <p:nvPr/>
        </p:nvSpPr>
        <p:spPr>
          <a:xfrm>
            <a:off x="1033271" y="2523744"/>
            <a:ext cx="3310127" cy="34747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Interpretation presented as text</a:t>
            </a:r>
          </a:p>
        </p:txBody>
      </p:sp>
      <p:sp>
        <p:nvSpPr>
          <p:cNvPr id="18" name="Oval 17"/>
          <p:cNvSpPr/>
          <p:nvPr/>
        </p:nvSpPr>
        <p:spPr>
          <a:xfrm>
            <a:off x="868680" y="2958084"/>
            <a:ext cx="73152" cy="73152"/>
          </a:xfrm>
          <a:prstGeom prst="ellipse">
            <a:avLst/>
          </a:prstGeom>
          <a:solidFill>
            <a:srgbClr val="3B4A7A"/>
          </a:solidFill>
          <a:ln>
            <a:noFill/>
          </a:ln>
        </p:spPr>
        <p:txBody>
          <a:bodyPr rtlCol="0" anchor="ctr"/>
          <a:lstStyle/>
          <a:p>
            <a:pPr algn="ctr"/>
          </a:p>
        </p:txBody>
      </p:sp>
      <p:sp>
        <p:nvSpPr>
          <p:cNvPr id="19" name="TextBox 18"/>
          <p:cNvSpPr txBox="1"/>
          <p:nvPr/>
        </p:nvSpPr>
        <p:spPr>
          <a:xfrm>
            <a:off x="1033271" y="2889504"/>
            <a:ext cx="3310127" cy="34747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This note's AI analogy attributed to Nagraj</a:t>
            </a:r>
          </a:p>
        </p:txBody>
      </p:sp>
      <p:sp>
        <p:nvSpPr>
          <p:cNvPr id="20" name="Oval 19"/>
          <p:cNvSpPr/>
          <p:nvPr/>
        </p:nvSpPr>
        <p:spPr>
          <a:xfrm>
            <a:off x="868680" y="3323844"/>
            <a:ext cx="73152" cy="73152"/>
          </a:xfrm>
          <a:prstGeom prst="ellipse">
            <a:avLst/>
          </a:prstGeom>
          <a:solidFill>
            <a:srgbClr val="3B4A7A"/>
          </a:solidFill>
          <a:ln>
            <a:noFill/>
          </a:ln>
        </p:spPr>
        <p:txBody>
          <a:bodyPr rtlCol="0" anchor="ctr"/>
          <a:lstStyle/>
          <a:p>
            <a:pPr algn="ctr"/>
          </a:p>
        </p:txBody>
      </p:sp>
      <p:sp>
        <p:nvSpPr>
          <p:cNvPr id="21" name="TextBox 20"/>
          <p:cNvSpPr txBox="1"/>
          <p:nvPr/>
        </p:nvSpPr>
        <p:spPr>
          <a:xfrm>
            <a:off x="1033271" y="3255264"/>
            <a:ext cx="3310127" cy="34747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Coercion approved in humane vocabulary</a:t>
            </a:r>
          </a:p>
        </p:txBody>
      </p:sp>
      <p:sp>
        <p:nvSpPr>
          <p:cNvPr id="22" name="Oval 21"/>
          <p:cNvSpPr/>
          <p:nvPr/>
        </p:nvSpPr>
        <p:spPr>
          <a:xfrm>
            <a:off x="868680" y="3689604"/>
            <a:ext cx="73152" cy="73152"/>
          </a:xfrm>
          <a:prstGeom prst="ellipse">
            <a:avLst/>
          </a:prstGeom>
          <a:solidFill>
            <a:srgbClr val="3B4A7A"/>
          </a:solidFill>
          <a:ln>
            <a:noFill/>
          </a:ln>
        </p:spPr>
        <p:txBody>
          <a:bodyPr rtlCol="0" anchor="ctr"/>
          <a:lstStyle/>
          <a:p>
            <a:pPr algn="ctr"/>
          </a:p>
        </p:txBody>
      </p:sp>
      <p:sp>
        <p:nvSpPr>
          <p:cNvPr id="23" name="TextBox 22"/>
          <p:cNvSpPr txBox="1"/>
          <p:nvPr/>
        </p:nvSpPr>
        <p:spPr>
          <a:xfrm>
            <a:off x="1033271" y="3621024"/>
            <a:ext cx="3310127" cy="347472"/>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Corrections that fail to persist</a:t>
            </a:r>
          </a:p>
        </p:txBody>
      </p:sp>
      <p:sp>
        <p:nvSpPr>
          <p:cNvPr id="24" name="Rounded Rectangle 23"/>
          <p:cNvSpPr/>
          <p:nvPr/>
        </p:nvSpPr>
        <p:spPr>
          <a:xfrm>
            <a:off x="4663440" y="1280160"/>
            <a:ext cx="3840480" cy="2743200"/>
          </a:xfrm>
          <a:prstGeom prst="roundRect">
            <a:avLst>
              <a:gd name="adj" fmla="val 6000"/>
            </a:avLst>
          </a:prstGeom>
          <a:solidFill>
            <a:srgbClr val="FAF1DF"/>
          </a:solidFill>
          <a:ln>
            <a:noFill/>
          </a:ln>
        </p:spPr>
        <p:txBody>
          <a:bodyPr rtlCol="0" anchor="ctr"/>
          <a:lstStyle/>
          <a:p>
            <a:pPr algn="ctr"/>
          </a:p>
        </p:txBody>
      </p:sp>
      <p:sp>
        <p:nvSpPr>
          <p:cNvPr id="25" name="Rounded Rectangle 24"/>
          <p:cNvSpPr/>
          <p:nvPr/>
        </p:nvSpPr>
        <p:spPr>
          <a:xfrm>
            <a:off x="7004304" y="1188720"/>
            <a:ext cx="1371600" cy="182880"/>
          </a:xfrm>
          <a:prstGeom prst="roundRect">
            <a:avLst>
              <a:gd name="adj" fmla="val 50000"/>
            </a:avLst>
          </a:prstGeom>
          <a:solidFill>
            <a:srgbClr val="C9821E"/>
          </a:solidFill>
          <a:ln>
            <a:noFill/>
          </a:ln>
        </p:spPr>
        <p:txBody>
          <a:bodyPr rtlCol="0" anchor="ctr"/>
          <a:lstStyle/>
          <a:p>
            <a:pPr algn="ctr"/>
          </a:p>
        </p:txBody>
      </p:sp>
      <p:sp>
        <p:nvSpPr>
          <p:cNvPr id="26" name="TextBox 25"/>
          <p:cNvSpPr txBox="1"/>
          <p:nvPr/>
        </p:nvSpPr>
        <p:spPr>
          <a:xfrm>
            <a:off x="700430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27" name="TextBox 26"/>
          <p:cNvSpPr txBox="1"/>
          <p:nvPr/>
        </p:nvSpPr>
        <p:spPr>
          <a:xfrm>
            <a:off x="4864608" y="1389888"/>
            <a:ext cx="3474720" cy="292608"/>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Tests of human benefit</a:t>
            </a:r>
          </a:p>
        </p:txBody>
      </p:sp>
      <p:sp>
        <p:nvSpPr>
          <p:cNvPr id="28" name="Oval 27"/>
          <p:cNvSpPr/>
          <p:nvPr/>
        </p:nvSpPr>
        <p:spPr>
          <a:xfrm>
            <a:off x="4892040" y="1860804"/>
            <a:ext cx="73152" cy="73152"/>
          </a:xfrm>
          <a:prstGeom prst="ellipse">
            <a:avLst/>
          </a:prstGeom>
          <a:solidFill>
            <a:srgbClr val="C9821E"/>
          </a:solidFill>
          <a:ln>
            <a:noFill/>
          </a:ln>
        </p:spPr>
        <p:txBody>
          <a:bodyPr rtlCol="0" anchor="ctr"/>
          <a:lstStyle/>
          <a:p>
            <a:pPr algn="ctr"/>
          </a:p>
        </p:txBody>
      </p:sp>
      <p:sp>
        <p:nvSpPr>
          <p:cNvPr id="29" name="TextBox 28"/>
          <p:cNvSpPr txBox="1"/>
          <p:nvPr/>
        </p:nvSpPr>
        <p:spPr>
          <a:xfrm>
            <a:off x="5056631" y="1792224"/>
            <a:ext cx="3310127" cy="41148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Later unaided performance against ordinary study</a:t>
            </a:r>
          </a:p>
        </p:txBody>
      </p:sp>
      <p:sp>
        <p:nvSpPr>
          <p:cNvPr id="30" name="Oval 29"/>
          <p:cNvSpPr/>
          <p:nvPr/>
        </p:nvSpPr>
        <p:spPr>
          <a:xfrm>
            <a:off x="4892040" y="2290572"/>
            <a:ext cx="73152" cy="73152"/>
          </a:xfrm>
          <a:prstGeom prst="ellipse">
            <a:avLst/>
          </a:prstGeom>
          <a:solidFill>
            <a:srgbClr val="C9821E"/>
          </a:solidFill>
          <a:ln>
            <a:noFill/>
          </a:ln>
        </p:spPr>
        <p:txBody>
          <a:bodyPr rtlCol="0" anchor="ctr"/>
          <a:lstStyle/>
          <a:p>
            <a:pPr algn="ctr"/>
          </a:p>
        </p:txBody>
      </p:sp>
      <p:sp>
        <p:nvSpPr>
          <p:cNvPr id="31" name="TextBox 30"/>
          <p:cNvSpPr txBox="1"/>
          <p:nvPr/>
        </p:nvSpPr>
        <p:spPr>
          <a:xfrm>
            <a:off x="5056631" y="2221991"/>
            <a:ext cx="3310127" cy="41148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Checking effort and mistaken alerts counted</a:t>
            </a:r>
          </a:p>
        </p:txBody>
      </p:sp>
      <p:sp>
        <p:nvSpPr>
          <p:cNvPr id="32" name="Oval 31"/>
          <p:cNvSpPr/>
          <p:nvPr/>
        </p:nvSpPr>
        <p:spPr>
          <a:xfrm>
            <a:off x="4892040" y="2720340"/>
            <a:ext cx="73152" cy="73152"/>
          </a:xfrm>
          <a:prstGeom prst="ellipse">
            <a:avLst/>
          </a:prstGeom>
          <a:solidFill>
            <a:srgbClr val="C9821E"/>
          </a:solidFill>
          <a:ln>
            <a:noFill/>
          </a:ln>
        </p:spPr>
        <p:txBody>
          <a:bodyPr rtlCol="0" anchor="ctr"/>
          <a:lstStyle/>
          <a:p>
            <a:pPr algn="ctr"/>
          </a:p>
        </p:txBody>
      </p:sp>
      <p:sp>
        <p:nvSpPr>
          <p:cNvPr id="33" name="TextBox 32"/>
          <p:cNvSpPr txBox="1"/>
          <p:nvPr/>
        </p:nvSpPr>
        <p:spPr>
          <a:xfrm>
            <a:off x="5056631" y="2651760"/>
            <a:ext cx="3310127" cy="41148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Corrections persist; stopping points respected</a:t>
            </a:r>
          </a:p>
        </p:txBody>
      </p:sp>
      <p:sp>
        <p:nvSpPr>
          <p:cNvPr id="34" name="Oval 33"/>
          <p:cNvSpPr/>
          <p:nvPr/>
        </p:nvSpPr>
        <p:spPr>
          <a:xfrm>
            <a:off x="4892040" y="3150108"/>
            <a:ext cx="73152" cy="73152"/>
          </a:xfrm>
          <a:prstGeom prst="ellipse">
            <a:avLst/>
          </a:prstGeom>
          <a:solidFill>
            <a:srgbClr val="C9821E"/>
          </a:solidFill>
          <a:ln>
            <a:noFill/>
          </a:ln>
        </p:spPr>
        <p:txBody>
          <a:bodyPr rtlCol="0" anchor="ctr"/>
          <a:lstStyle/>
          <a:p>
            <a:pPr algn="ctr"/>
          </a:p>
        </p:txBody>
      </p:sp>
      <p:sp>
        <p:nvSpPr>
          <p:cNvPr id="35" name="TextBox 34"/>
          <p:cNvSpPr txBox="1"/>
          <p:nvPr/>
        </p:nvSpPr>
        <p:spPr>
          <a:xfrm>
            <a:off x="5056631" y="3081528"/>
            <a:ext cx="3310127" cy="41148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Affected people assess shared commitments</a:t>
            </a:r>
          </a:p>
        </p:txBody>
      </p:sp>
      <p:sp>
        <p:nvSpPr>
          <p:cNvPr id="36" name="Oval 35"/>
          <p:cNvSpPr/>
          <p:nvPr/>
        </p:nvSpPr>
        <p:spPr>
          <a:xfrm>
            <a:off x="4892040" y="3579876"/>
            <a:ext cx="73152" cy="73152"/>
          </a:xfrm>
          <a:prstGeom prst="ellipse">
            <a:avLst/>
          </a:prstGeom>
          <a:solidFill>
            <a:srgbClr val="C9821E"/>
          </a:solidFill>
          <a:ln>
            <a:noFill/>
          </a:ln>
        </p:spPr>
        <p:txBody>
          <a:bodyPr rtlCol="0" anchor="ctr"/>
          <a:lstStyle/>
          <a:p>
            <a:pPr algn="ctr"/>
          </a:p>
        </p:txBody>
      </p:sp>
      <p:sp>
        <p:nvSpPr>
          <p:cNvPr id="37" name="TextBox 36"/>
          <p:cNvSpPr txBox="1"/>
          <p:nvPr/>
        </p:nvSpPr>
        <p:spPr>
          <a:xfrm>
            <a:off x="5056631" y="3511296"/>
            <a:ext cx="3310127" cy="411480"/>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The assistant's own resource costs included</a:t>
            </a:r>
          </a:p>
        </p:txBody>
      </p:sp>
      <p:sp>
        <p:nvSpPr>
          <p:cNvPr id="38" name="Rounded Rectangle 37"/>
          <p:cNvSpPr/>
          <p:nvPr/>
        </p:nvSpPr>
        <p:spPr>
          <a:xfrm>
            <a:off x="640080" y="4169663"/>
            <a:ext cx="7863840" cy="493776"/>
          </a:xfrm>
          <a:prstGeom prst="roundRect">
            <a:avLst>
              <a:gd name="adj" fmla="val 18000"/>
            </a:avLst>
          </a:prstGeom>
          <a:solidFill>
            <a:srgbClr val="1E2447"/>
          </a:solidFill>
          <a:ln>
            <a:noFill/>
          </a:ln>
        </p:spPr>
        <p:txBody>
          <a:bodyPr rtlCol="0" anchor="ctr"/>
          <a:lstStyle/>
          <a:p>
            <a:pPr algn="ctr"/>
          </a:p>
        </p:txBody>
      </p:sp>
      <p:sp>
        <p:nvSpPr>
          <p:cNvPr id="39" name="TextBox 38"/>
          <p:cNvSpPr txBox="1"/>
          <p:nvPr/>
        </p:nvSpPr>
        <p:spPr>
          <a:xfrm>
            <a:off x="868680" y="4169663"/>
            <a:ext cx="7406640" cy="493776"/>
          </a:xfrm>
          <a:prstGeom prst="rect">
            <a:avLst/>
          </a:prstGeom>
          <a:noFill/>
        </p:spPr>
        <p:txBody>
          <a:bodyPr wrap="square" lIns="0" rIns="0" tIns="0" bIns="0" anchor="ctr">
            <a:noAutofit/>
          </a:bodyPr>
          <a:lstStyle/>
          <a:p>
            <a:pPr algn="ctr">
              <a:spcBef>
                <a:spcPts val="0"/>
              </a:spcBef>
              <a:spcAft>
                <a:spcPts val="0"/>
              </a:spcAft>
            </a:pPr>
            <a:r>
              <a:rPr sz="1250" b="0" i="0">
                <a:solidFill>
                  <a:srgbClr val="FFFFFF"/>
                </a:solidFill>
                <a:latin typeface="Calibri"/>
              </a:rPr>
              <a:t>Realisation is a human fulfilment, not a score assigned by evaluation.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VI  ·  RELEASE  ·  §6.5, A.4</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Governance and Release</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NIST 2024 §§2.2, 2.4–2.7  ·  Note §6.5, Appendix A.4  ·  AnalyticMadhyasthDarshan.org  ·  29 / 31</a:t>
            </a:r>
          </a:p>
        </p:txBody>
      </p:sp>
      <p:sp>
        <p:nvSpPr>
          <p:cNvPr id="8" name="Rounded Rectangle 7"/>
          <p:cNvSpPr/>
          <p:nvPr/>
        </p:nvSpPr>
        <p:spPr>
          <a:xfrm>
            <a:off x="7132320" y="1042415"/>
            <a:ext cx="1371600" cy="182880"/>
          </a:xfrm>
          <a:prstGeom prst="roundRect">
            <a:avLst>
              <a:gd name="adj" fmla="val 50000"/>
            </a:avLst>
          </a:prstGeom>
          <a:solidFill>
            <a:srgbClr val="C9821E"/>
          </a:solidFill>
          <a:ln>
            <a:noFill/>
          </a:ln>
        </p:spPr>
        <p:txBody>
          <a:bodyPr rtlCol="0" anchor="ctr"/>
          <a:lstStyle/>
          <a:p>
            <a:pPr algn="ctr"/>
          </a:p>
        </p:txBody>
      </p:sp>
      <p:sp>
        <p:nvSpPr>
          <p:cNvPr id="9" name="TextBox 8"/>
          <p:cNvSpPr txBox="1"/>
          <p:nvPr/>
        </p:nvSpPr>
        <p:spPr>
          <a:xfrm>
            <a:off x="7132320" y="1042415"/>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0" name="Rounded Rectangle 9"/>
          <p:cNvSpPr/>
          <p:nvPr/>
        </p:nvSpPr>
        <p:spPr>
          <a:xfrm>
            <a:off x="640080" y="1280160"/>
            <a:ext cx="1417320" cy="658368"/>
          </a:xfrm>
          <a:prstGeom prst="roundRect">
            <a:avLst>
              <a:gd name="adj" fmla="val 14000"/>
            </a:avLst>
          </a:prstGeom>
          <a:solidFill>
            <a:srgbClr val="3B4A7A"/>
          </a:solidFill>
          <a:ln>
            <a:noFill/>
          </a:ln>
        </p:spPr>
        <p:txBody>
          <a:bodyPr rtlCol="0" anchor="ctr"/>
          <a:lstStyle/>
          <a:p>
            <a:pPr algn="ctr"/>
          </a:p>
        </p:txBody>
      </p:sp>
      <p:sp>
        <p:nvSpPr>
          <p:cNvPr id="11" name="TextBox 10"/>
          <p:cNvSpPr txBox="1"/>
          <p:nvPr/>
        </p:nvSpPr>
        <p:spPr>
          <a:xfrm>
            <a:off x="694944" y="1280160"/>
            <a:ext cx="1307592"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Library</a:t>
            </a:r>
          </a:p>
          <a:p>
            <a:pPr algn="ctr">
              <a:spcBef>
                <a:spcPts val="0"/>
              </a:spcBef>
              <a:spcAft>
                <a:spcPts val="0"/>
              </a:spcAft>
            </a:pPr>
            <a:r>
              <a:rPr sz="950" b="0" i="1">
                <a:solidFill>
                  <a:srgbClr val="C9D4EF"/>
                </a:solidFill>
                <a:latin typeface="Calibri"/>
              </a:rPr>
              <a:t>editions, passages</a:t>
            </a:r>
          </a:p>
        </p:txBody>
      </p:sp>
      <p:sp>
        <p:nvSpPr>
          <p:cNvPr id="12" name="Rounded Rectangle 11"/>
          <p:cNvSpPr/>
          <p:nvPr/>
        </p:nvSpPr>
        <p:spPr>
          <a:xfrm>
            <a:off x="2240280" y="1280160"/>
            <a:ext cx="1417320" cy="658368"/>
          </a:xfrm>
          <a:prstGeom prst="roundRect">
            <a:avLst>
              <a:gd name="adj" fmla="val 14000"/>
            </a:avLst>
          </a:prstGeom>
          <a:solidFill>
            <a:srgbClr val="3B4A7A"/>
          </a:solidFill>
          <a:ln>
            <a:noFill/>
          </a:ln>
        </p:spPr>
        <p:txBody>
          <a:bodyPr rtlCol="0" anchor="ctr"/>
          <a:lstStyle/>
          <a:p>
            <a:pPr algn="ctr"/>
          </a:p>
        </p:txBody>
      </p:sp>
      <p:sp>
        <p:nvSpPr>
          <p:cNvPr id="13" name="TextBox 12"/>
          <p:cNvSpPr txBox="1"/>
          <p:nvPr/>
        </p:nvSpPr>
        <p:spPr>
          <a:xfrm>
            <a:off x="2295144" y="1280160"/>
            <a:ext cx="1307592"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Memory</a:t>
            </a:r>
          </a:p>
          <a:p>
            <a:pPr algn="ctr">
              <a:spcBef>
                <a:spcPts val="0"/>
              </a:spcBef>
              <a:spcAft>
                <a:spcPts val="0"/>
              </a:spcAft>
            </a:pPr>
            <a:r>
              <a:rPr sz="950" b="0" i="1">
                <a:solidFill>
                  <a:srgbClr val="C9D4EF"/>
                </a:solidFill>
                <a:latin typeface="Calibri"/>
              </a:rPr>
              <a:t>agreed records</a:t>
            </a:r>
          </a:p>
        </p:txBody>
      </p:sp>
      <p:sp>
        <p:nvSpPr>
          <p:cNvPr id="14" name="Rounded Rectangle 13"/>
          <p:cNvSpPr/>
          <p:nvPr/>
        </p:nvSpPr>
        <p:spPr>
          <a:xfrm>
            <a:off x="3840480" y="1280160"/>
            <a:ext cx="1417320" cy="658368"/>
          </a:xfrm>
          <a:prstGeom prst="roundRect">
            <a:avLst>
              <a:gd name="adj" fmla="val 14000"/>
            </a:avLst>
          </a:prstGeom>
          <a:solidFill>
            <a:srgbClr val="3B4A7A"/>
          </a:solidFill>
          <a:ln>
            <a:noFill/>
          </a:ln>
        </p:spPr>
        <p:txBody>
          <a:bodyPr rtlCol="0" anchor="ctr"/>
          <a:lstStyle/>
          <a:p>
            <a:pPr algn="ctr"/>
          </a:p>
        </p:txBody>
      </p:sp>
      <p:sp>
        <p:nvSpPr>
          <p:cNvPr id="15" name="TextBox 14"/>
          <p:cNvSpPr txBox="1"/>
          <p:nvPr/>
        </p:nvSpPr>
        <p:spPr>
          <a:xfrm>
            <a:off x="3895344" y="1280160"/>
            <a:ext cx="1307592"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Comparison</a:t>
            </a:r>
          </a:p>
          <a:p>
            <a:pPr algn="ctr">
              <a:spcBef>
                <a:spcPts val="0"/>
              </a:spcBef>
              <a:spcAft>
                <a:spcPts val="0"/>
              </a:spcAft>
            </a:pPr>
            <a:r>
              <a:rPr sz="950" b="0" i="1">
                <a:solidFill>
                  <a:srgbClr val="C9D4EF"/>
                </a:solidFill>
                <a:latin typeface="Calibri"/>
              </a:rPr>
              <a:t>evidence, criteria</a:t>
            </a:r>
          </a:p>
        </p:txBody>
      </p:sp>
      <p:sp>
        <p:nvSpPr>
          <p:cNvPr id="16" name="Rounded Rectangle 15"/>
          <p:cNvSpPr/>
          <p:nvPr/>
        </p:nvSpPr>
        <p:spPr>
          <a:xfrm>
            <a:off x="5440680" y="1280160"/>
            <a:ext cx="1417320" cy="658368"/>
          </a:xfrm>
          <a:prstGeom prst="roundRect">
            <a:avLst>
              <a:gd name="adj" fmla="val 14000"/>
            </a:avLst>
          </a:prstGeom>
          <a:solidFill>
            <a:srgbClr val="3B4A7A"/>
          </a:solidFill>
          <a:ln>
            <a:noFill/>
          </a:ln>
        </p:spPr>
        <p:txBody>
          <a:bodyPr rtlCol="0" anchor="ctr"/>
          <a:lstStyle/>
          <a:p>
            <a:pPr algn="ctr"/>
          </a:p>
        </p:txBody>
      </p:sp>
      <p:sp>
        <p:nvSpPr>
          <p:cNvPr id="17" name="TextBox 16"/>
          <p:cNvSpPr txBox="1"/>
          <p:nvPr/>
        </p:nvSpPr>
        <p:spPr>
          <a:xfrm>
            <a:off x="5495544" y="1280160"/>
            <a:ext cx="1307592"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Action</a:t>
            </a:r>
          </a:p>
          <a:p>
            <a:pPr algn="ctr">
              <a:spcBef>
                <a:spcPts val="0"/>
              </a:spcBef>
              <a:spcAft>
                <a:spcPts val="0"/>
              </a:spcAft>
            </a:pPr>
            <a:r>
              <a:rPr sz="950" b="0" i="1">
                <a:solidFill>
                  <a:srgbClr val="C9D4EF"/>
                </a:solidFill>
                <a:latin typeface="Calibri"/>
              </a:rPr>
              <a:t>permitted only</a:t>
            </a:r>
          </a:p>
        </p:txBody>
      </p:sp>
      <p:sp>
        <p:nvSpPr>
          <p:cNvPr id="18" name="Rounded Rectangle 17"/>
          <p:cNvSpPr/>
          <p:nvPr/>
        </p:nvSpPr>
        <p:spPr>
          <a:xfrm>
            <a:off x="7040880" y="1280160"/>
            <a:ext cx="1417320" cy="658368"/>
          </a:xfrm>
          <a:prstGeom prst="roundRect">
            <a:avLst>
              <a:gd name="adj" fmla="val 14000"/>
            </a:avLst>
          </a:prstGeom>
          <a:solidFill>
            <a:srgbClr val="3B4A7A"/>
          </a:solidFill>
          <a:ln>
            <a:noFill/>
          </a:ln>
        </p:spPr>
        <p:txBody>
          <a:bodyPr rtlCol="0" anchor="ctr"/>
          <a:lstStyle/>
          <a:p>
            <a:pPr algn="ctr"/>
          </a:p>
        </p:txBody>
      </p:sp>
      <p:sp>
        <p:nvSpPr>
          <p:cNvPr id="19" name="TextBox 18"/>
          <p:cNvSpPr txBox="1"/>
          <p:nvPr/>
        </p:nvSpPr>
        <p:spPr>
          <a:xfrm>
            <a:off x="7095744" y="1280160"/>
            <a:ext cx="1307592" cy="658368"/>
          </a:xfrm>
          <a:prstGeom prst="rect">
            <a:avLst/>
          </a:prstGeom>
          <a:noFill/>
        </p:spPr>
        <p:txBody>
          <a:bodyPr wrap="square" lIns="0" rIns="0" tIns="0" bIns="0" anchor="ctr">
            <a:noAutofit/>
          </a:bodyPr>
          <a:lstStyle/>
          <a:p>
            <a:pPr algn="ctr">
              <a:spcBef>
                <a:spcPts val="0"/>
              </a:spcBef>
              <a:spcAft>
                <a:spcPts val="0"/>
              </a:spcAft>
            </a:pPr>
            <a:r>
              <a:rPr sz="1250" b="1" i="0">
                <a:solidFill>
                  <a:srgbClr val="FFFFFF"/>
                </a:solidFill>
                <a:latin typeface="Cambria"/>
              </a:rPr>
              <a:t>Outcomes</a:t>
            </a:r>
          </a:p>
          <a:p>
            <a:pPr algn="ctr">
              <a:spcBef>
                <a:spcPts val="0"/>
              </a:spcBef>
              <a:spcAft>
                <a:spcPts val="0"/>
              </a:spcAft>
            </a:pPr>
            <a:r>
              <a:rPr sz="950" b="0" i="1">
                <a:solidFill>
                  <a:srgbClr val="C9D4EF"/>
                </a:solidFill>
                <a:latin typeface="Calibri"/>
              </a:rPr>
              <a:t>decisions, results</a:t>
            </a:r>
          </a:p>
        </p:txBody>
      </p:sp>
      <p:sp>
        <p:nvSpPr>
          <p:cNvPr id="20" name="Rounded Rectangle 19"/>
          <p:cNvSpPr/>
          <p:nvPr/>
        </p:nvSpPr>
        <p:spPr>
          <a:xfrm>
            <a:off x="640080" y="2176272"/>
            <a:ext cx="3840480" cy="1481328"/>
          </a:xfrm>
          <a:prstGeom prst="roundRect">
            <a:avLst>
              <a:gd name="adj" fmla="val 7000"/>
            </a:avLst>
          </a:prstGeom>
          <a:solidFill>
            <a:srgbClr val="FAF1DF"/>
          </a:solidFill>
          <a:ln>
            <a:noFill/>
          </a:ln>
        </p:spPr>
        <p:txBody>
          <a:bodyPr rtlCol="0" anchor="ctr"/>
          <a:lstStyle/>
          <a:p>
            <a:pPr algn="ctr"/>
          </a:p>
        </p:txBody>
      </p:sp>
      <p:sp>
        <p:nvSpPr>
          <p:cNvPr id="21" name="TextBox 20"/>
          <p:cNvSpPr txBox="1"/>
          <p:nvPr/>
        </p:nvSpPr>
        <p:spPr>
          <a:xfrm>
            <a:off x="822959" y="2295144"/>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Suggesting is not acting</a:t>
            </a:r>
          </a:p>
        </p:txBody>
      </p:sp>
      <p:sp>
        <p:nvSpPr>
          <p:cNvPr id="22" name="TextBox 21"/>
          <p:cNvSpPr txBox="1"/>
          <p:nvPr/>
        </p:nvSpPr>
        <p:spPr>
          <a:xfrm>
            <a:off x="822959" y="2596896"/>
            <a:ext cx="3474720" cy="96926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Sending, spending, or changing a shared record needs separate permission. People can inspect, correct, export, and delete records.</a:t>
            </a:r>
          </a:p>
        </p:txBody>
      </p:sp>
      <p:sp>
        <p:nvSpPr>
          <p:cNvPr id="23" name="Rounded Rectangle 22"/>
          <p:cNvSpPr/>
          <p:nvPr/>
        </p:nvSpPr>
        <p:spPr>
          <a:xfrm>
            <a:off x="4663440" y="2176272"/>
            <a:ext cx="3840480" cy="1481328"/>
          </a:xfrm>
          <a:prstGeom prst="roundRect">
            <a:avLst>
              <a:gd name="adj" fmla="val 7000"/>
            </a:avLst>
          </a:prstGeom>
          <a:solidFill>
            <a:srgbClr val="FAF1DF"/>
          </a:solidFill>
          <a:ln>
            <a:noFill/>
          </a:ln>
        </p:spPr>
        <p:txBody>
          <a:bodyPr rtlCol="0" anchor="ctr"/>
          <a:lstStyle/>
          <a:p>
            <a:pPr algn="ctr"/>
          </a:p>
        </p:txBody>
      </p:sp>
      <p:sp>
        <p:nvSpPr>
          <p:cNvPr id="24" name="TextBox 23"/>
          <p:cNvSpPr txBox="1"/>
          <p:nvPr/>
        </p:nvSpPr>
        <p:spPr>
          <a:xfrm>
            <a:off x="4846320" y="2295144"/>
            <a:ext cx="347472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Hard release gates</a:t>
            </a:r>
          </a:p>
        </p:txBody>
      </p:sp>
      <p:sp>
        <p:nvSpPr>
          <p:cNvPr id="25" name="TextBox 24"/>
          <p:cNvSpPr txBox="1"/>
          <p:nvPr/>
        </p:nvSpPr>
        <p:spPr>
          <a:xfrm>
            <a:off x="4846320" y="2596896"/>
            <a:ext cx="3474720" cy="96926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No fabricated quotation, nonexistent citation, certified realisation, unauthorised action, or private disclosure. Any change is re-evaluated.</a:t>
            </a:r>
          </a:p>
        </p:txBody>
      </p:sp>
      <p:sp>
        <p:nvSpPr>
          <p:cNvPr id="26" name="Rounded Rectangle 25"/>
          <p:cNvSpPr/>
          <p:nvPr/>
        </p:nvSpPr>
        <p:spPr>
          <a:xfrm>
            <a:off x="640080" y="3931920"/>
            <a:ext cx="7863840" cy="548640"/>
          </a:xfrm>
          <a:prstGeom prst="roundRect">
            <a:avLst>
              <a:gd name="adj" fmla="val 18000"/>
            </a:avLst>
          </a:prstGeom>
          <a:solidFill>
            <a:srgbClr val="F1F2F4"/>
          </a:solidFill>
          <a:ln>
            <a:noFill/>
          </a:ln>
        </p:spPr>
        <p:txBody>
          <a:bodyPr rtlCol="0" anchor="ctr"/>
          <a:lstStyle/>
          <a:p>
            <a:pPr algn="ctr"/>
          </a:p>
        </p:txBody>
      </p:sp>
      <p:sp>
        <p:nvSpPr>
          <p:cNvPr id="27" name="TextBox 26"/>
          <p:cNvSpPr txBox="1"/>
          <p:nvPr/>
        </p:nvSpPr>
        <p:spPr>
          <a:xfrm>
            <a:off x="868680" y="3931920"/>
            <a:ext cx="7406640" cy="548640"/>
          </a:xfrm>
          <a:prstGeom prst="rect">
            <a:avLst/>
          </a:prstGeom>
          <a:noFill/>
        </p:spPr>
        <p:txBody>
          <a:bodyPr wrap="square" lIns="0" rIns="0" tIns="0" bIns="0" anchor="ctr">
            <a:noAutofit/>
          </a:bodyPr>
          <a:lstStyle/>
          <a:p>
            <a:pPr algn="ctr">
              <a:spcBef>
                <a:spcPts val="0"/>
              </a:spcBef>
              <a:spcAft>
                <a:spcPts val="0"/>
              </a:spcAft>
            </a:pPr>
            <a:r>
              <a:rPr sz="1250" b="0" i="0">
                <a:solidFill>
                  <a:srgbClr val="1E2447"/>
                </a:solidFill>
                <a:latin typeface="Calibri"/>
              </a:rPr>
              <a:t>A proposed programme: these components have not been implemented or validated as a system.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384048"/>
            <a:ext cx="365760" cy="365760"/>
          </a:xfrm>
          <a:prstGeom prst="ellipse">
            <a:avLst/>
          </a:prstGeom>
          <a:noFill/>
          <a:ln w="15875">
            <a:solidFill>
              <a:srgbClr val="3B4A7A"/>
            </a:solidFill>
          </a:ln>
        </p:spPr>
        <p:txBody>
          <a:bodyPr rtlCol="0" anchor="ctr"/>
          <a:lstStyle/>
          <a:p>
            <a:pPr algn="ctr"/>
          </a:p>
        </p:txBody>
      </p:sp>
      <p:sp>
        <p:nvSpPr>
          <p:cNvPr id="3" name="Oval 2"/>
          <p:cNvSpPr/>
          <p:nvPr/>
        </p:nvSpPr>
        <p:spPr>
          <a:xfrm>
            <a:off x="530352" y="457200"/>
            <a:ext cx="219456" cy="219456"/>
          </a:xfrm>
          <a:prstGeom prst="ellipse">
            <a:avLst/>
          </a:prstGeom>
          <a:noFill/>
          <a:ln w="15875">
            <a:solidFill>
              <a:srgbClr val="3B4A7A"/>
            </a:solidFill>
          </a:ln>
        </p:spPr>
        <p:txBody>
          <a:bodyPr rtlCol="0" anchor="ctr"/>
          <a:lstStyle/>
          <a:p>
            <a:pPr algn="ctr"/>
          </a:p>
        </p:txBody>
      </p:sp>
      <p:sp>
        <p:nvSpPr>
          <p:cNvPr id="4" name="Oval 3"/>
          <p:cNvSpPr/>
          <p:nvPr/>
        </p:nvSpPr>
        <p:spPr>
          <a:xfrm>
            <a:off x="594360" y="521207"/>
            <a:ext cx="91440" cy="91440"/>
          </a:xfrm>
          <a:prstGeom prst="ellipse">
            <a:avLst/>
          </a:prstGeom>
          <a:solidFill>
            <a:srgbClr val="C9821E"/>
          </a:solidFill>
          <a:ln>
            <a:noFill/>
          </a:ln>
        </p:spPr>
        <p:txBody>
          <a:bodyPr rtlCol="0" anchor="ct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lgn="l">
              <a:spcBef>
                <a:spcPts val="0"/>
              </a:spcBef>
              <a:spcAft>
                <a:spcPts val="0"/>
              </a:spcAft>
            </a:pPr>
            <a:r>
              <a:rPr sz="1050" b="1" i="0">
                <a:solidFill>
                  <a:srgbClr val="9A6414"/>
                </a:solidFill>
                <a:latin typeface="Calibri"/>
              </a:rPr>
              <a:t>CULMINATION  ·  ACCESS  ·  §§7.1–7.2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lgn="l">
              <a:spcBef>
                <a:spcPts val="0"/>
              </a:spcBef>
              <a:spcAft>
                <a:spcPts val="0"/>
              </a:spcAft>
            </a:pPr>
            <a:r>
              <a:rPr sz="3000" b="1" i="0">
                <a:solidFill>
                  <a:srgbClr val="1E2447"/>
                </a:solidFill>
                <a:latin typeface="Cambria"/>
              </a:rPr>
              <a:t>Why Every Person Needs Access</a:t>
            </a:r>
          </a:p>
        </p:txBody>
      </p:sp>
      <p:sp>
        <p:nvSpPr>
          <p:cNvPr id="7" name="TextBox 6"/>
          <p:cNvSpPr txBox="1"/>
          <p:nvPr/>
        </p:nvSpPr>
        <p:spPr>
          <a:xfrm>
            <a:off x="502920" y="4828032"/>
            <a:ext cx="8138160" cy="256032"/>
          </a:xfrm>
          <a:prstGeom prst="rect">
            <a:avLst/>
          </a:prstGeom>
          <a:noFill/>
        </p:spPr>
        <p:txBody>
          <a:bodyPr wrap="square" lIns="0" rIns="0" tIns="0" bIns="0" anchor="ctr">
            <a:noAutofit/>
          </a:bodyPr>
          <a:lstStyle/>
          <a:p>
            <a:pPr algn="l">
              <a:spcBef>
                <a:spcPts val="0"/>
              </a:spcBef>
              <a:spcAft>
                <a:spcPts val="0"/>
              </a:spcAft>
            </a:pPr>
            <a:r>
              <a:rPr sz="950" b="0" i="1">
                <a:solidFill>
                  <a:srgbClr val="5A6377"/>
                </a:solidFill>
                <a:latin typeface="Calibri"/>
              </a:rPr>
              <a:t>JV p. 138  ·  Note §§7.1–7.2  ·  AnalyticMadhyasthDarshan.org  ·  30 / 31</a:t>
            </a:r>
          </a:p>
        </p:txBody>
      </p:sp>
      <p:sp>
        <p:nvSpPr>
          <p:cNvPr id="8" name="Rounded Rectangle 7"/>
          <p:cNvSpPr/>
          <p:nvPr/>
        </p:nvSpPr>
        <p:spPr>
          <a:xfrm>
            <a:off x="640080" y="1280160"/>
            <a:ext cx="4389120" cy="2670048"/>
          </a:xfrm>
          <a:prstGeom prst="roundRect">
            <a:avLst>
              <a:gd name="adj" fmla="val 6000"/>
            </a:avLst>
          </a:prstGeom>
          <a:solidFill>
            <a:srgbClr val="EEF1F8"/>
          </a:solidFill>
          <a:ln>
            <a:noFill/>
          </a:ln>
        </p:spPr>
        <p:txBody>
          <a:bodyPr rtlCol="0" anchor="ctr"/>
          <a:lstStyle/>
          <a:p>
            <a:pPr algn="ctr"/>
          </a:p>
        </p:txBody>
      </p:sp>
      <p:sp>
        <p:nvSpPr>
          <p:cNvPr id="9" name="Rounded Rectangle 8"/>
          <p:cNvSpPr/>
          <p:nvPr/>
        </p:nvSpPr>
        <p:spPr>
          <a:xfrm>
            <a:off x="3529584" y="1188720"/>
            <a:ext cx="1371600" cy="182880"/>
          </a:xfrm>
          <a:prstGeom prst="roundRect">
            <a:avLst>
              <a:gd name="adj" fmla="val 50000"/>
            </a:avLst>
          </a:prstGeom>
          <a:solidFill>
            <a:srgbClr val="C9821E"/>
          </a:solidFill>
          <a:ln>
            <a:noFill/>
          </a:ln>
        </p:spPr>
        <p:txBody>
          <a:bodyPr rtlCol="0" anchor="ctr"/>
          <a:lstStyle/>
          <a:p>
            <a:pPr algn="ctr"/>
          </a:p>
        </p:txBody>
      </p:sp>
      <p:sp>
        <p:nvSpPr>
          <p:cNvPr id="10" name="TextBox 9"/>
          <p:cNvSpPr txBox="1"/>
          <p:nvPr/>
        </p:nvSpPr>
        <p:spPr>
          <a:xfrm>
            <a:off x="3529584" y="1188720"/>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11" name="TextBox 10"/>
          <p:cNvSpPr txBox="1"/>
          <p:nvPr/>
        </p:nvSpPr>
        <p:spPr>
          <a:xfrm>
            <a:off x="841248" y="1371600"/>
            <a:ext cx="4023360" cy="292608"/>
          </a:xfrm>
          <a:prstGeom prst="rect">
            <a:avLst/>
          </a:prstGeom>
          <a:noFill/>
        </p:spPr>
        <p:txBody>
          <a:bodyPr wrap="square" lIns="0" rIns="0" tIns="0" bIns="0" anchor="ctr">
            <a:noAutofit/>
          </a:bodyPr>
          <a:lstStyle/>
          <a:p>
            <a:pPr algn="l">
              <a:spcBef>
                <a:spcPts val="0"/>
              </a:spcBef>
              <a:spcAft>
                <a:spcPts val="0"/>
              </a:spcAft>
            </a:pPr>
            <a:r>
              <a:rPr sz="1250" b="1" i="0">
                <a:solidFill>
                  <a:srgbClr val="1E2447"/>
                </a:solidFill>
                <a:latin typeface="Cambria"/>
              </a:rPr>
              <a:t>Recurring needs and the roles that meet them</a:t>
            </a:r>
          </a:p>
        </p:txBody>
      </p:sp>
      <p:sp>
        <p:nvSpPr>
          <p:cNvPr id="12" name="TextBox 11"/>
          <p:cNvSpPr txBox="1"/>
          <p:nvPr/>
        </p:nvSpPr>
        <p:spPr>
          <a:xfrm>
            <a:off x="868680" y="1783080"/>
            <a:ext cx="2331720" cy="438912"/>
          </a:xfrm>
          <a:prstGeom prst="rect">
            <a:avLst/>
          </a:prstGeom>
          <a:noFill/>
        </p:spPr>
        <p:txBody>
          <a:bodyPr wrap="square" lIns="0" rIns="0" tIns="0" bIns="0" anchor="ctr">
            <a:noAutofit/>
          </a:bodyPr>
          <a:lstStyle/>
          <a:p>
            <a:pPr algn="l">
              <a:spcBef>
                <a:spcPts val="0"/>
              </a:spcBef>
              <a:spcAft>
                <a:spcPts val="0"/>
              </a:spcAft>
            </a:pPr>
            <a:r>
              <a:rPr sz="1150" b="1" i="0">
                <a:solidFill>
                  <a:srgbClr val="1E2447"/>
                </a:solidFill>
                <a:latin typeface="Calibri"/>
              </a:rPr>
              <a:t>Examining mistaken assumptions</a:t>
            </a:r>
          </a:p>
        </p:txBody>
      </p:sp>
      <p:sp>
        <p:nvSpPr>
          <p:cNvPr id="13" name="TextBox 12"/>
          <p:cNvSpPr txBox="1"/>
          <p:nvPr/>
        </p:nvSpPr>
        <p:spPr>
          <a:xfrm>
            <a:off x="3127248" y="1801368"/>
            <a:ext cx="274320" cy="384048"/>
          </a:xfrm>
          <a:prstGeom prst="rect">
            <a:avLst/>
          </a:prstGeom>
          <a:noFill/>
        </p:spPr>
        <p:txBody>
          <a:bodyPr wrap="square" lIns="0" rIns="0" tIns="0" bIns="0" anchor="ctr">
            <a:noAutofit/>
          </a:bodyPr>
          <a:lstStyle/>
          <a:p>
            <a:pPr algn="ctr">
              <a:spcBef>
                <a:spcPts val="0"/>
              </a:spcBef>
              <a:spcAft>
                <a:spcPts val="0"/>
              </a:spcAft>
            </a:pPr>
            <a:r>
              <a:rPr sz="1300" b="1" i="0">
                <a:solidFill>
                  <a:srgbClr val="C9821E"/>
                </a:solidFill>
                <a:latin typeface="Calibri"/>
              </a:rPr>
              <a:t>→</a:t>
            </a:r>
          </a:p>
        </p:txBody>
      </p:sp>
      <p:sp>
        <p:nvSpPr>
          <p:cNvPr id="14" name="Rounded Rectangle 13"/>
          <p:cNvSpPr/>
          <p:nvPr/>
        </p:nvSpPr>
        <p:spPr>
          <a:xfrm>
            <a:off x="3429000" y="1801368"/>
            <a:ext cx="1463040" cy="402336"/>
          </a:xfrm>
          <a:prstGeom prst="roundRect">
            <a:avLst>
              <a:gd name="adj" fmla="val 14000"/>
            </a:avLst>
          </a:prstGeom>
          <a:solidFill>
            <a:srgbClr val="C9821E"/>
          </a:solidFill>
          <a:ln>
            <a:noFill/>
          </a:ln>
        </p:spPr>
        <p:txBody>
          <a:bodyPr rtlCol="0" anchor="ctr"/>
          <a:lstStyle/>
          <a:p>
            <a:pPr algn="ctr"/>
          </a:p>
        </p:txBody>
      </p:sp>
      <p:sp>
        <p:nvSpPr>
          <p:cNvPr id="15" name="TextBox 14"/>
          <p:cNvSpPr txBox="1"/>
          <p:nvPr/>
        </p:nvSpPr>
        <p:spPr>
          <a:xfrm>
            <a:off x="3483864" y="1801368"/>
            <a:ext cx="1353312" cy="40233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diagnostic mirror</a:t>
            </a:r>
          </a:p>
        </p:txBody>
      </p:sp>
      <p:sp>
        <p:nvSpPr>
          <p:cNvPr id="16" name="TextBox 15"/>
          <p:cNvSpPr txBox="1"/>
          <p:nvPr/>
        </p:nvSpPr>
        <p:spPr>
          <a:xfrm>
            <a:off x="868680" y="2313432"/>
            <a:ext cx="2331720" cy="438912"/>
          </a:xfrm>
          <a:prstGeom prst="rect">
            <a:avLst/>
          </a:prstGeom>
          <a:noFill/>
        </p:spPr>
        <p:txBody>
          <a:bodyPr wrap="square" lIns="0" rIns="0" tIns="0" bIns="0" anchor="ctr">
            <a:noAutofit/>
          </a:bodyPr>
          <a:lstStyle/>
          <a:p>
            <a:pPr algn="l">
              <a:spcBef>
                <a:spcPts val="0"/>
              </a:spcBef>
              <a:spcAft>
                <a:spcPts val="0"/>
              </a:spcAft>
            </a:pPr>
            <a:r>
              <a:rPr sz="1150" b="1" i="0">
                <a:solidFill>
                  <a:srgbClr val="1E2447"/>
                </a:solidFill>
                <a:latin typeface="Calibri"/>
              </a:rPr>
              <a:t>Continuity of learning</a:t>
            </a:r>
          </a:p>
        </p:txBody>
      </p:sp>
      <p:sp>
        <p:nvSpPr>
          <p:cNvPr id="17" name="TextBox 16"/>
          <p:cNvSpPr txBox="1"/>
          <p:nvPr/>
        </p:nvSpPr>
        <p:spPr>
          <a:xfrm>
            <a:off x="3127248" y="2331720"/>
            <a:ext cx="274320" cy="384048"/>
          </a:xfrm>
          <a:prstGeom prst="rect">
            <a:avLst/>
          </a:prstGeom>
          <a:noFill/>
        </p:spPr>
        <p:txBody>
          <a:bodyPr wrap="square" lIns="0" rIns="0" tIns="0" bIns="0" anchor="ctr">
            <a:noAutofit/>
          </a:bodyPr>
          <a:lstStyle/>
          <a:p>
            <a:pPr algn="ctr">
              <a:spcBef>
                <a:spcPts val="0"/>
              </a:spcBef>
              <a:spcAft>
                <a:spcPts val="0"/>
              </a:spcAft>
            </a:pPr>
            <a:r>
              <a:rPr sz="1300" b="1" i="0">
                <a:solidFill>
                  <a:srgbClr val="C9821E"/>
                </a:solidFill>
                <a:latin typeface="Calibri"/>
              </a:rPr>
              <a:t>→</a:t>
            </a:r>
          </a:p>
        </p:txBody>
      </p:sp>
      <p:sp>
        <p:nvSpPr>
          <p:cNvPr id="18" name="Rounded Rectangle 17"/>
          <p:cNvSpPr/>
          <p:nvPr/>
        </p:nvSpPr>
        <p:spPr>
          <a:xfrm>
            <a:off x="3429000" y="2331720"/>
            <a:ext cx="1463040" cy="402336"/>
          </a:xfrm>
          <a:prstGeom prst="roundRect">
            <a:avLst>
              <a:gd name="adj" fmla="val 14000"/>
            </a:avLst>
          </a:prstGeom>
          <a:solidFill>
            <a:srgbClr val="C9821E"/>
          </a:solidFill>
          <a:ln>
            <a:noFill/>
          </a:ln>
        </p:spPr>
        <p:txBody>
          <a:bodyPr rtlCol="0" anchor="ctr"/>
          <a:lstStyle/>
          <a:p>
            <a:pPr algn="ctr"/>
          </a:p>
        </p:txBody>
      </p:sp>
      <p:sp>
        <p:nvSpPr>
          <p:cNvPr id="19" name="TextBox 18"/>
          <p:cNvSpPr txBox="1"/>
          <p:nvPr/>
        </p:nvSpPr>
        <p:spPr>
          <a:xfrm>
            <a:off x="3483864" y="2331720"/>
            <a:ext cx="1353312" cy="40233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educational companion</a:t>
            </a:r>
          </a:p>
        </p:txBody>
      </p:sp>
      <p:sp>
        <p:nvSpPr>
          <p:cNvPr id="20" name="TextBox 19"/>
          <p:cNvSpPr txBox="1"/>
          <p:nvPr/>
        </p:nvSpPr>
        <p:spPr>
          <a:xfrm>
            <a:off x="868680" y="2843784"/>
            <a:ext cx="2331720" cy="438912"/>
          </a:xfrm>
          <a:prstGeom prst="rect">
            <a:avLst/>
          </a:prstGeom>
          <a:noFill/>
        </p:spPr>
        <p:txBody>
          <a:bodyPr wrap="square" lIns="0" rIns="0" tIns="0" bIns="0" anchor="ctr">
            <a:noAutofit/>
          </a:bodyPr>
          <a:lstStyle/>
          <a:p>
            <a:pPr algn="l">
              <a:spcBef>
                <a:spcPts val="0"/>
              </a:spcBef>
              <a:spcAft>
                <a:spcPts val="0"/>
              </a:spcAft>
            </a:pPr>
            <a:r>
              <a:rPr sz="1150" b="1" i="0">
                <a:solidFill>
                  <a:srgbClr val="1E2447"/>
                </a:solidFill>
                <a:latin typeface="Calibri"/>
              </a:rPr>
              <a:t>Relief from avoidable work</a:t>
            </a:r>
          </a:p>
        </p:txBody>
      </p:sp>
      <p:sp>
        <p:nvSpPr>
          <p:cNvPr id="21" name="TextBox 20"/>
          <p:cNvSpPr txBox="1"/>
          <p:nvPr/>
        </p:nvSpPr>
        <p:spPr>
          <a:xfrm>
            <a:off x="3127248" y="2862072"/>
            <a:ext cx="274320" cy="384048"/>
          </a:xfrm>
          <a:prstGeom prst="rect">
            <a:avLst/>
          </a:prstGeom>
          <a:noFill/>
        </p:spPr>
        <p:txBody>
          <a:bodyPr wrap="square" lIns="0" rIns="0" tIns="0" bIns="0" anchor="ctr">
            <a:noAutofit/>
          </a:bodyPr>
          <a:lstStyle/>
          <a:p>
            <a:pPr algn="ctr">
              <a:spcBef>
                <a:spcPts val="0"/>
              </a:spcBef>
              <a:spcAft>
                <a:spcPts val="0"/>
              </a:spcAft>
            </a:pPr>
            <a:r>
              <a:rPr sz="1300" b="1" i="0">
                <a:solidFill>
                  <a:srgbClr val="C9821E"/>
                </a:solidFill>
                <a:latin typeface="Calibri"/>
              </a:rPr>
              <a:t>→</a:t>
            </a:r>
          </a:p>
        </p:txBody>
      </p:sp>
      <p:sp>
        <p:nvSpPr>
          <p:cNvPr id="22" name="Rounded Rectangle 21"/>
          <p:cNvSpPr/>
          <p:nvPr/>
        </p:nvSpPr>
        <p:spPr>
          <a:xfrm>
            <a:off x="3429000" y="2862072"/>
            <a:ext cx="1463040" cy="402336"/>
          </a:xfrm>
          <a:prstGeom prst="roundRect">
            <a:avLst>
              <a:gd name="adj" fmla="val 14000"/>
            </a:avLst>
          </a:prstGeom>
          <a:solidFill>
            <a:srgbClr val="C9821E"/>
          </a:solidFill>
          <a:ln>
            <a:noFill/>
          </a:ln>
        </p:spPr>
        <p:txBody>
          <a:bodyPr rtlCol="0" anchor="ctr"/>
          <a:lstStyle/>
          <a:p>
            <a:pPr algn="ctr"/>
          </a:p>
        </p:txBody>
      </p:sp>
      <p:sp>
        <p:nvSpPr>
          <p:cNvPr id="23" name="TextBox 22"/>
          <p:cNvSpPr txBox="1"/>
          <p:nvPr/>
        </p:nvSpPr>
        <p:spPr>
          <a:xfrm>
            <a:off x="3483864" y="2862072"/>
            <a:ext cx="1353312" cy="40233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practical assistant</a:t>
            </a:r>
          </a:p>
        </p:txBody>
      </p:sp>
      <p:sp>
        <p:nvSpPr>
          <p:cNvPr id="24" name="TextBox 23"/>
          <p:cNvSpPr txBox="1"/>
          <p:nvPr/>
        </p:nvSpPr>
        <p:spPr>
          <a:xfrm>
            <a:off x="868680" y="3374135"/>
            <a:ext cx="2331720" cy="438912"/>
          </a:xfrm>
          <a:prstGeom prst="rect">
            <a:avLst/>
          </a:prstGeom>
          <a:noFill/>
        </p:spPr>
        <p:txBody>
          <a:bodyPr wrap="square" lIns="0" rIns="0" tIns="0" bIns="0" anchor="ctr">
            <a:noAutofit/>
          </a:bodyPr>
          <a:lstStyle/>
          <a:p>
            <a:pPr algn="l">
              <a:spcBef>
                <a:spcPts val="0"/>
              </a:spcBef>
              <a:spcAft>
                <a:spcPts val="0"/>
              </a:spcAft>
            </a:pPr>
            <a:r>
              <a:rPr sz="1150" b="1" i="0">
                <a:solidFill>
                  <a:srgbClr val="1E2447"/>
                </a:solidFill>
                <a:latin typeface="Calibri"/>
              </a:rPr>
              <a:t>Coordinating participation</a:t>
            </a:r>
          </a:p>
        </p:txBody>
      </p:sp>
      <p:sp>
        <p:nvSpPr>
          <p:cNvPr id="25" name="TextBox 24"/>
          <p:cNvSpPr txBox="1"/>
          <p:nvPr/>
        </p:nvSpPr>
        <p:spPr>
          <a:xfrm>
            <a:off x="3127248" y="3392423"/>
            <a:ext cx="274320" cy="384048"/>
          </a:xfrm>
          <a:prstGeom prst="rect">
            <a:avLst/>
          </a:prstGeom>
          <a:noFill/>
        </p:spPr>
        <p:txBody>
          <a:bodyPr wrap="square" lIns="0" rIns="0" tIns="0" bIns="0" anchor="ctr">
            <a:noAutofit/>
          </a:bodyPr>
          <a:lstStyle/>
          <a:p>
            <a:pPr algn="ctr">
              <a:spcBef>
                <a:spcPts val="0"/>
              </a:spcBef>
              <a:spcAft>
                <a:spcPts val="0"/>
              </a:spcAft>
            </a:pPr>
            <a:r>
              <a:rPr sz="1300" b="1" i="0">
                <a:solidFill>
                  <a:srgbClr val="C9821E"/>
                </a:solidFill>
                <a:latin typeface="Calibri"/>
              </a:rPr>
              <a:t>→</a:t>
            </a:r>
          </a:p>
        </p:txBody>
      </p:sp>
      <p:sp>
        <p:nvSpPr>
          <p:cNvPr id="26" name="Rounded Rectangle 25"/>
          <p:cNvSpPr/>
          <p:nvPr/>
        </p:nvSpPr>
        <p:spPr>
          <a:xfrm>
            <a:off x="3429000" y="3392423"/>
            <a:ext cx="1463040" cy="402336"/>
          </a:xfrm>
          <a:prstGeom prst="roundRect">
            <a:avLst>
              <a:gd name="adj" fmla="val 14000"/>
            </a:avLst>
          </a:prstGeom>
          <a:solidFill>
            <a:srgbClr val="3B4A7A"/>
          </a:solidFill>
          <a:ln>
            <a:noFill/>
          </a:ln>
        </p:spPr>
        <p:txBody>
          <a:bodyPr rtlCol="0" anchor="ctr"/>
          <a:lstStyle/>
          <a:p>
            <a:pPr algn="ctr"/>
          </a:p>
        </p:txBody>
      </p:sp>
      <p:sp>
        <p:nvSpPr>
          <p:cNvPr id="27" name="TextBox 26"/>
          <p:cNvSpPr txBox="1"/>
          <p:nvPr/>
        </p:nvSpPr>
        <p:spPr>
          <a:xfrm>
            <a:off x="3483864" y="3392423"/>
            <a:ext cx="1353312" cy="402336"/>
          </a:xfrm>
          <a:prstGeom prst="rect">
            <a:avLst/>
          </a:prstGeom>
          <a:noFill/>
        </p:spPr>
        <p:txBody>
          <a:bodyPr wrap="square" lIns="0" rIns="0" tIns="0" bIns="0" anchor="ctr">
            <a:noAutofit/>
          </a:bodyPr>
          <a:lstStyle/>
          <a:p>
            <a:pPr algn="ctr">
              <a:spcBef>
                <a:spcPts val="0"/>
              </a:spcBef>
              <a:spcAft>
                <a:spcPts val="0"/>
              </a:spcAft>
            </a:pPr>
            <a:r>
              <a:rPr sz="1050" b="1" i="0">
                <a:solidFill>
                  <a:srgbClr val="FFFFFF"/>
                </a:solidFill>
                <a:latin typeface="Cambria"/>
              </a:rPr>
              <a:t>all three roles</a:t>
            </a:r>
          </a:p>
        </p:txBody>
      </p:sp>
      <p:sp>
        <p:nvSpPr>
          <p:cNvPr id="28" name="Rounded Rectangle 27"/>
          <p:cNvSpPr/>
          <p:nvPr/>
        </p:nvSpPr>
        <p:spPr>
          <a:xfrm>
            <a:off x="5212080" y="1280160"/>
            <a:ext cx="3291840" cy="2670048"/>
          </a:xfrm>
          <a:prstGeom prst="roundRect">
            <a:avLst>
              <a:gd name="adj" fmla="val 7000"/>
            </a:avLst>
          </a:prstGeom>
          <a:solidFill>
            <a:srgbClr val="FAF1DF"/>
          </a:solidFill>
          <a:ln>
            <a:noFill/>
          </a:ln>
        </p:spPr>
        <p:txBody>
          <a:bodyPr rtlCol="0" anchor="ctr"/>
          <a:lstStyle/>
          <a:p>
            <a:pPr algn="ctr"/>
          </a:p>
        </p:txBody>
      </p:sp>
      <p:sp>
        <p:nvSpPr>
          <p:cNvPr id="29" name="Rounded Rectangle 28"/>
          <p:cNvSpPr/>
          <p:nvPr/>
        </p:nvSpPr>
        <p:spPr>
          <a:xfrm>
            <a:off x="7004304" y="1188719"/>
            <a:ext cx="1371600" cy="182880"/>
          </a:xfrm>
          <a:prstGeom prst="roundRect">
            <a:avLst>
              <a:gd name="adj" fmla="val 50000"/>
            </a:avLst>
          </a:prstGeom>
          <a:solidFill>
            <a:srgbClr val="C9821E"/>
          </a:solidFill>
          <a:ln>
            <a:noFill/>
          </a:ln>
        </p:spPr>
        <p:txBody>
          <a:bodyPr rtlCol="0" anchor="ctr"/>
          <a:lstStyle/>
          <a:p>
            <a:pPr algn="ctr"/>
          </a:p>
        </p:txBody>
      </p:sp>
      <p:sp>
        <p:nvSpPr>
          <p:cNvPr id="30" name="TextBox 29"/>
          <p:cNvSpPr txBox="1"/>
          <p:nvPr/>
        </p:nvSpPr>
        <p:spPr>
          <a:xfrm>
            <a:off x="7004304" y="1188719"/>
            <a:ext cx="1371600" cy="182880"/>
          </a:xfrm>
          <a:prstGeom prst="rect">
            <a:avLst/>
          </a:prstGeom>
          <a:noFill/>
        </p:spPr>
        <p:txBody>
          <a:bodyPr wrap="square" lIns="0" rIns="0" tIns="0" bIns="0" anchor="ctr">
            <a:noAutofit/>
          </a:bodyPr>
          <a:lstStyle/>
          <a:p>
            <a:pPr algn="ctr">
              <a:spcBef>
                <a:spcPts val="0"/>
              </a:spcBef>
              <a:spcAft>
                <a:spcPts val="0"/>
              </a:spcAft>
            </a:pPr>
            <a:r>
              <a:rPr sz="750" b="1" i="0">
                <a:solidFill>
                  <a:srgbClr val="FFFFFF"/>
                </a:solidFill>
                <a:latin typeface="Calibri"/>
              </a:rPr>
              <a:t>THIS NOTE'S PROPOSAL</a:t>
            </a:r>
          </a:p>
        </p:txBody>
      </p:sp>
      <p:sp>
        <p:nvSpPr>
          <p:cNvPr id="31" name="TextBox 30"/>
          <p:cNvSpPr txBox="1"/>
          <p:nvPr/>
        </p:nvSpPr>
        <p:spPr>
          <a:xfrm>
            <a:off x="5394960" y="1399031"/>
            <a:ext cx="2926080" cy="274320"/>
          </a:xfrm>
          <a:prstGeom prst="rect">
            <a:avLst/>
          </a:prstGeom>
          <a:noFill/>
        </p:spPr>
        <p:txBody>
          <a:bodyPr wrap="square" lIns="0" rIns="0" tIns="0" bIns="0" anchor="ctr">
            <a:noAutofit/>
          </a:bodyPr>
          <a:lstStyle/>
          <a:p>
            <a:pPr algn="l">
              <a:spcBef>
                <a:spcPts val="0"/>
              </a:spcBef>
              <a:spcAft>
                <a:spcPts val="0"/>
              </a:spcAft>
            </a:pPr>
            <a:r>
              <a:rPr sz="1300" b="1" i="0">
                <a:solidFill>
                  <a:srgbClr val="9A6414"/>
                </a:solidFill>
                <a:latin typeface="Cambria"/>
              </a:rPr>
              <a:t>Universal access</a:t>
            </a:r>
          </a:p>
        </p:txBody>
      </p:sp>
      <p:sp>
        <p:nvSpPr>
          <p:cNvPr id="32" name="TextBox 31"/>
          <p:cNvSpPr txBox="1"/>
          <p:nvPr/>
        </p:nvSpPr>
        <p:spPr>
          <a:xfrm>
            <a:off x="5394960" y="1700784"/>
            <a:ext cx="2926080" cy="2157984"/>
          </a:xfrm>
          <a:prstGeom prst="rect">
            <a:avLst/>
          </a:prstGeom>
          <a:noFill/>
        </p:spPr>
        <p:txBody>
          <a:bodyPr wrap="square" lIns="0" rIns="0" tIns="0" bIns="0" anchor="t">
            <a:noAutofit/>
          </a:bodyPr>
          <a:lstStyle/>
          <a:p>
            <a:pPr algn="l">
              <a:spcBef>
                <a:spcPts val="0"/>
              </a:spcBef>
              <a:spcAft>
                <a:spcPts val="0"/>
              </a:spcAft>
            </a:pPr>
            <a:r>
              <a:rPr sz="1150" b="0" i="0">
                <a:solidFill>
                  <a:srgbClr val="5A6377"/>
                </a:solidFill>
                <a:latin typeface="Calibri"/>
              </a:rPr>
              <a:t>Language, income, disability, or distance should not decide who obtains dependable help. Shared services and teachers or caregivers can mediate. The person keeps the ability to question and govern the service.</a:t>
            </a:r>
          </a:p>
        </p:txBody>
      </p:sp>
      <p:sp>
        <p:nvSpPr>
          <p:cNvPr id="33" name="Rounded Rectangle 32"/>
          <p:cNvSpPr/>
          <p:nvPr/>
        </p:nvSpPr>
        <p:spPr>
          <a:xfrm>
            <a:off x="640080" y="4114800"/>
            <a:ext cx="7863840" cy="530352"/>
          </a:xfrm>
          <a:prstGeom prst="roundRect">
            <a:avLst>
              <a:gd name="adj" fmla="val 18000"/>
            </a:avLst>
          </a:prstGeom>
          <a:solidFill>
            <a:srgbClr val="1E2447"/>
          </a:solidFill>
          <a:ln>
            <a:noFill/>
          </a:ln>
        </p:spPr>
        <p:txBody>
          <a:bodyPr rtlCol="0" anchor="ctr"/>
          <a:lstStyle/>
          <a:p>
            <a:pPr algn="ctr"/>
          </a:p>
        </p:txBody>
      </p:sp>
      <p:sp>
        <p:nvSpPr>
          <p:cNvPr id="34" name="TextBox 33"/>
          <p:cNvSpPr txBox="1"/>
          <p:nvPr/>
        </p:nvSpPr>
        <p:spPr>
          <a:xfrm>
            <a:off x="868680" y="4114800"/>
            <a:ext cx="7406640" cy="530352"/>
          </a:xfrm>
          <a:prstGeom prst="rect">
            <a:avLst/>
          </a:prstGeom>
          <a:noFill/>
        </p:spPr>
        <p:txBody>
          <a:bodyPr wrap="square" lIns="0" rIns="0" tIns="0" bIns="0" anchor="ctr">
            <a:noAutofit/>
          </a:bodyPr>
          <a:lstStyle/>
          <a:p>
            <a:pPr algn="ctr">
              <a:spcBef>
                <a:spcPts val="0"/>
              </a:spcBef>
              <a:spcAft>
                <a:spcPts val="0"/>
              </a:spcAft>
            </a:pPr>
            <a:r>
              <a:rPr sz="1200" b="0" i="0">
                <a:solidFill>
                  <a:srgbClr val="FFFFFF"/>
                </a:solidFill>
                <a:latin typeface="Calibri"/>
              </a:rPr>
              <a:t>Self-examination needs no external instrument (JV p. 138). Dignity does not depend on adopting 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p:spPr>
        <p:txBody>
          <a:bodyPr rtlCol="0" anchor="ctr"/>
          <a:lstStyle/>
          <a:p>
            <a:pPr algn="ctr"/>
          </a:p>
        </p:txBody>
      </p:sp>
      <p:sp>
        <p:nvSpPr>
          <p:cNvPr id="3" name="Oval 2"/>
          <p:cNvSpPr/>
          <p:nvPr/>
        </p:nvSpPr>
        <p:spPr>
          <a:xfrm>
            <a:off x="6510528" y="1481328"/>
            <a:ext cx="1975104" cy="1975104"/>
          </a:xfrm>
          <a:prstGeom prst="ellipse">
            <a:avLst/>
          </a:prstGeom>
          <a:noFill/>
          <a:ln w="15875">
            <a:solidFill>
              <a:srgbClr val="44507E"/>
            </a:solidFill>
          </a:ln>
        </p:spPr>
        <p:txBody>
          <a:bodyPr rtlCol="0" anchor="ctr"/>
          <a:lstStyle/>
          <a:p>
            <a:pPr algn="ctr"/>
          </a:p>
        </p:txBody>
      </p:sp>
      <p:sp>
        <p:nvSpPr>
          <p:cNvPr id="4" name="Oval 3"/>
          <p:cNvSpPr/>
          <p:nvPr/>
        </p:nvSpPr>
        <p:spPr>
          <a:xfrm>
            <a:off x="7068312" y="2039112"/>
            <a:ext cx="859536" cy="859536"/>
          </a:xfrm>
          <a:prstGeom prst="ellipse">
            <a:avLst/>
          </a:prstGeom>
          <a:solidFill>
            <a:srgbClr val="C9821E"/>
          </a:solidFill>
          <a:ln>
            <a:noFill/>
          </a:ln>
        </p:spPr>
        <p:txBody>
          <a:bodyPr rtlCol="0" anchor="ctr"/>
          <a:lstStyle/>
          <a:p>
            <a:pPr algn="ctr"/>
          </a:p>
        </p:txBody>
      </p:sp>
      <p:sp>
        <p:nvSpPr>
          <p:cNvPr id="5" name="Oval 4"/>
          <p:cNvSpPr/>
          <p:nvPr/>
        </p:nvSpPr>
        <p:spPr>
          <a:xfrm>
            <a:off x="5394960" y="3566160"/>
            <a:ext cx="1097280" cy="1097280"/>
          </a:xfrm>
          <a:prstGeom prst="ellipse">
            <a:avLst/>
          </a:prstGeom>
          <a:noFill/>
          <a:ln w="15875">
            <a:solidFill>
              <a:srgbClr val="44507E"/>
            </a:solidFill>
          </a:ln>
        </p:spPr>
        <p:txBody>
          <a:bodyPr rtlCol="0" anchor="ctr"/>
          <a:lstStyle/>
          <a:p>
            <a:pPr algn="ctr"/>
          </a:p>
        </p:txBody>
      </p:sp>
      <p:sp>
        <p:nvSpPr>
          <p:cNvPr id="6" name="Oval 5"/>
          <p:cNvSpPr/>
          <p:nvPr/>
        </p:nvSpPr>
        <p:spPr>
          <a:xfrm>
            <a:off x="5614416" y="3785615"/>
            <a:ext cx="658368" cy="658368"/>
          </a:xfrm>
          <a:prstGeom prst="ellipse">
            <a:avLst/>
          </a:prstGeom>
          <a:noFill/>
          <a:ln w="15875">
            <a:solidFill>
              <a:srgbClr val="44507E"/>
            </a:solidFill>
          </a:ln>
        </p:spPr>
        <p:txBody>
          <a:bodyPr rtlCol="0" anchor="ctr"/>
          <a:lstStyle/>
          <a:p>
            <a:pPr algn="ctr"/>
          </a:p>
        </p:txBody>
      </p:sp>
      <p:sp>
        <p:nvSpPr>
          <p:cNvPr id="7" name="Oval 6"/>
          <p:cNvSpPr/>
          <p:nvPr/>
        </p:nvSpPr>
        <p:spPr>
          <a:xfrm>
            <a:off x="5797296" y="3968496"/>
            <a:ext cx="283464" cy="283464"/>
          </a:xfrm>
          <a:prstGeom prst="ellipse">
            <a:avLst/>
          </a:prstGeom>
          <a:solidFill>
            <a:srgbClr val="C9D4EF"/>
          </a:solidFill>
          <a:ln>
            <a:noFill/>
          </a:ln>
        </p:spPr>
        <p:txBody>
          <a:bodyPr rtlCol="0" anchor="ctr"/>
          <a:lstStyle/>
          <a:p>
            <a:pPr algn="ctr"/>
          </a:p>
        </p:txBody>
      </p:sp>
      <p:sp>
        <p:nvSpPr>
          <p:cNvPr id="8" name="Oval 7"/>
          <p:cNvSpPr/>
          <p:nvPr/>
        </p:nvSpPr>
        <p:spPr>
          <a:xfrm>
            <a:off x="8138160" y="4023360"/>
            <a:ext cx="731520" cy="731520"/>
          </a:xfrm>
          <a:prstGeom prst="ellipse">
            <a:avLst/>
          </a:prstGeom>
          <a:noFill/>
          <a:ln w="15875">
            <a:solidFill>
              <a:srgbClr val="44507E"/>
            </a:solidFill>
          </a:ln>
        </p:spPr>
        <p:txBody>
          <a:bodyPr rtlCol="0" anchor="ctr"/>
          <a:lstStyle/>
          <a:p>
            <a:pPr algn="ctr"/>
          </a:p>
        </p:txBody>
      </p:sp>
      <p:sp>
        <p:nvSpPr>
          <p:cNvPr id="9" name="Oval 8"/>
          <p:cNvSpPr/>
          <p:nvPr/>
        </p:nvSpPr>
        <p:spPr>
          <a:xfrm>
            <a:off x="8284464" y="4169663"/>
            <a:ext cx="438912" cy="438912"/>
          </a:xfrm>
          <a:prstGeom prst="ellipse">
            <a:avLst/>
          </a:prstGeom>
          <a:noFill/>
          <a:ln w="15875">
            <a:solidFill>
              <a:srgbClr val="44507E"/>
            </a:solidFill>
          </a:ln>
        </p:spPr>
        <p:txBody>
          <a:bodyPr rtlCol="0" anchor="ctr"/>
          <a:lstStyle/>
          <a:p>
            <a:pPr algn="ctr"/>
          </a:p>
        </p:txBody>
      </p:sp>
      <p:sp>
        <p:nvSpPr>
          <p:cNvPr id="10" name="Oval 9"/>
          <p:cNvSpPr/>
          <p:nvPr/>
        </p:nvSpPr>
        <p:spPr>
          <a:xfrm>
            <a:off x="8412480" y="4297680"/>
            <a:ext cx="192024" cy="192024"/>
          </a:xfrm>
          <a:prstGeom prst="ellipse">
            <a:avLst/>
          </a:prstGeom>
          <a:solidFill>
            <a:srgbClr val="C9D4EF"/>
          </a:solidFill>
          <a:ln>
            <a:noFill/>
          </a:ln>
        </p:spPr>
        <p:txBody>
          <a:bodyPr rtlCol="0" anchor="ctr"/>
          <a:lstStyle/>
          <a:p>
            <a:pPr algn="ctr"/>
          </a:p>
        </p:txBody>
      </p:sp>
      <p:sp>
        <p:nvSpPr>
          <p:cNvPr id="11" name="TextBox 10"/>
          <p:cNvSpPr txBox="1"/>
          <p:nvPr/>
        </p:nvSpPr>
        <p:spPr>
          <a:xfrm>
            <a:off x="640080" y="960120"/>
            <a:ext cx="5852160" cy="274320"/>
          </a:xfrm>
          <a:prstGeom prst="rect">
            <a:avLst/>
          </a:prstGeom>
          <a:noFill/>
        </p:spPr>
        <p:txBody>
          <a:bodyPr wrap="square" lIns="0" rIns="0" tIns="0" bIns="0" anchor="ctr">
            <a:noAutofit/>
          </a:bodyPr>
          <a:lstStyle/>
          <a:p>
            <a:pPr algn="l">
              <a:spcBef>
                <a:spcPts val="0"/>
              </a:spcBef>
              <a:spcAft>
                <a:spcPts val="0"/>
              </a:spcAft>
            </a:pPr>
            <a:r>
              <a:rPr sz="1200" b="1" i="0">
                <a:solidFill>
                  <a:srgbClr val="C9821E"/>
                </a:solidFill>
                <a:latin typeface="Calibri"/>
              </a:rPr>
              <a:t>CULMINATION  ·  THE DREAM  ·  §7.2</a:t>
            </a:r>
          </a:p>
        </p:txBody>
      </p:sp>
      <p:sp>
        <p:nvSpPr>
          <p:cNvPr id="12" name="TextBox 11"/>
          <p:cNvSpPr txBox="1"/>
          <p:nvPr/>
        </p:nvSpPr>
        <p:spPr>
          <a:xfrm>
            <a:off x="640080" y="1298448"/>
            <a:ext cx="5577840" cy="1371600"/>
          </a:xfrm>
          <a:prstGeom prst="rect">
            <a:avLst/>
          </a:prstGeom>
          <a:noFill/>
        </p:spPr>
        <p:txBody>
          <a:bodyPr wrap="square" lIns="0" rIns="0" tIns="0" bIns="0" anchor="ctr">
            <a:noAutofit/>
          </a:bodyPr>
          <a:lstStyle/>
          <a:p>
            <a:pPr algn="l">
              <a:spcBef>
                <a:spcPts val="0"/>
              </a:spcBef>
              <a:spcAft>
                <a:spcPts val="0"/>
              </a:spcAft>
            </a:pPr>
            <a:r>
              <a:rPr sz="4000" b="1" i="0">
                <a:solidFill>
                  <a:srgbClr val="FFFFFF"/>
                </a:solidFill>
                <a:latin typeface="Cambria"/>
              </a:rPr>
              <a:t>Directed by Human Understanding</a:t>
            </a:r>
          </a:p>
        </p:txBody>
      </p:sp>
      <p:sp>
        <p:nvSpPr>
          <p:cNvPr id="13" name="TextBox 12"/>
          <p:cNvSpPr txBox="1"/>
          <p:nvPr/>
        </p:nvSpPr>
        <p:spPr>
          <a:xfrm>
            <a:off x="640080" y="2670048"/>
            <a:ext cx="5120640" cy="347472"/>
          </a:xfrm>
          <a:prstGeom prst="rect">
            <a:avLst/>
          </a:prstGeom>
          <a:noFill/>
        </p:spPr>
        <p:txBody>
          <a:bodyPr wrap="square" lIns="0" rIns="0" tIns="0" bIns="0" anchor="ctr">
            <a:noAutofit/>
          </a:bodyPr>
          <a:lstStyle/>
          <a:p>
            <a:pPr algn="l"/>
            <a:r>
              <a:rPr sz="1400" b="1" i="0">
                <a:solidFill>
                  <a:srgbClr val="FFFFFF"/>
                </a:solidFill>
                <a:latin typeface="Cambria"/>
              </a:rPr>
              <a:t>Amplifier</a:t>
            </a:r>
            <a:r>
              <a:rPr sz="1400" b="1" i="0">
                <a:solidFill>
                  <a:srgbClr val="C9821E"/>
                </a:solidFill>
                <a:latin typeface="Calibri"/>
              </a:rPr>
              <a:t>   →   </a:t>
            </a:r>
            <a:r>
              <a:rPr sz="1350" b="0" i="1">
                <a:solidFill>
                  <a:srgbClr val="C9D4EF"/>
                </a:solidFill>
                <a:latin typeface="Calibri"/>
              </a:rPr>
              <a:t>exposer of restricted evaluation</a:t>
            </a:r>
          </a:p>
        </p:txBody>
      </p:sp>
      <p:sp>
        <p:nvSpPr>
          <p:cNvPr id="14" name="TextBox 13"/>
          <p:cNvSpPr txBox="1"/>
          <p:nvPr/>
        </p:nvSpPr>
        <p:spPr>
          <a:xfrm>
            <a:off x="640080" y="3072384"/>
            <a:ext cx="5120640" cy="347472"/>
          </a:xfrm>
          <a:prstGeom prst="rect">
            <a:avLst/>
          </a:prstGeom>
          <a:noFill/>
        </p:spPr>
        <p:txBody>
          <a:bodyPr wrap="square" lIns="0" rIns="0" tIns="0" bIns="0" anchor="ctr">
            <a:noAutofit/>
          </a:bodyPr>
          <a:lstStyle/>
          <a:p>
            <a:pPr algn="l"/>
            <a:r>
              <a:rPr sz="1400" b="1" i="0">
                <a:solidFill>
                  <a:srgbClr val="FFFFFF"/>
                </a:solidFill>
                <a:latin typeface="Cambria"/>
              </a:rPr>
              <a:t>Distraction</a:t>
            </a:r>
            <a:r>
              <a:rPr sz="1400" b="1" i="0">
                <a:solidFill>
                  <a:srgbClr val="C9821E"/>
                </a:solidFill>
                <a:latin typeface="Calibri"/>
              </a:rPr>
              <a:t>   →   </a:t>
            </a:r>
            <a:r>
              <a:rPr sz="1350" b="0" i="1">
                <a:solidFill>
                  <a:srgbClr val="C9D4EF"/>
                </a:solidFill>
                <a:latin typeface="Calibri"/>
              </a:rPr>
              <a:t>education and steady inquiry</a:t>
            </a:r>
          </a:p>
        </p:txBody>
      </p:sp>
      <p:sp>
        <p:nvSpPr>
          <p:cNvPr id="15" name="TextBox 14"/>
          <p:cNvSpPr txBox="1"/>
          <p:nvPr/>
        </p:nvSpPr>
        <p:spPr>
          <a:xfrm>
            <a:off x="640080" y="3474720"/>
            <a:ext cx="5120640" cy="347472"/>
          </a:xfrm>
          <a:prstGeom prst="rect">
            <a:avLst/>
          </a:prstGeom>
          <a:noFill/>
        </p:spPr>
        <p:txBody>
          <a:bodyPr wrap="square" lIns="0" rIns="0" tIns="0" bIns="0" anchor="ctr">
            <a:noAutofit/>
          </a:bodyPr>
          <a:lstStyle/>
          <a:p>
            <a:pPr algn="l"/>
            <a:r>
              <a:rPr sz="1400" b="1" i="0">
                <a:solidFill>
                  <a:srgbClr val="FFFFFF"/>
                </a:solidFill>
                <a:latin typeface="Cambria"/>
              </a:rPr>
              <a:t>Coordination</a:t>
            </a:r>
            <a:r>
              <a:rPr sz="1400" b="1" i="0">
                <a:solidFill>
                  <a:srgbClr val="C9821E"/>
                </a:solidFill>
                <a:latin typeface="Calibri"/>
              </a:rPr>
              <a:t>   →   </a:t>
            </a:r>
            <a:r>
              <a:rPr sz="1350" b="0" i="1">
                <a:solidFill>
                  <a:srgbClr val="C9D4EF"/>
                </a:solidFill>
                <a:latin typeface="Calibri"/>
              </a:rPr>
              <a:t>fulfilment of relationships</a:t>
            </a:r>
          </a:p>
        </p:txBody>
      </p:sp>
      <p:sp>
        <p:nvSpPr>
          <p:cNvPr id="16" name="TextBox 15"/>
          <p:cNvSpPr txBox="1"/>
          <p:nvPr/>
        </p:nvSpPr>
        <p:spPr>
          <a:xfrm>
            <a:off x="640080" y="3950208"/>
            <a:ext cx="4846320" cy="457200"/>
          </a:xfrm>
          <a:prstGeom prst="rect">
            <a:avLst/>
          </a:prstGeom>
          <a:noFill/>
        </p:spPr>
        <p:txBody>
          <a:bodyPr wrap="square" lIns="0" rIns="0" tIns="0" bIns="0" anchor="ctr">
            <a:noAutofit/>
          </a:bodyPr>
          <a:lstStyle/>
          <a:p>
            <a:pPr algn="l">
              <a:spcBef>
                <a:spcPts val="0"/>
              </a:spcBef>
              <a:spcAft>
                <a:spcPts val="0"/>
              </a:spcAft>
            </a:pPr>
            <a:r>
              <a:rPr sz="1250" b="0" i="1">
                <a:solidFill>
                  <a:srgbClr val="C9D4EF"/>
                </a:solidFill>
                <a:latin typeface="Calibri"/>
              </a:rPr>
              <a:t>Success: clearer understanding, dependable participation, living from understanding.</a:t>
            </a:r>
          </a:p>
        </p:txBody>
      </p:sp>
      <p:sp>
        <p:nvSpPr>
          <p:cNvPr id="17" name="TextBox 16"/>
          <p:cNvSpPr txBox="1"/>
          <p:nvPr/>
        </p:nvSpPr>
        <p:spPr>
          <a:xfrm>
            <a:off x="640080" y="4434840"/>
            <a:ext cx="4754880" cy="274320"/>
          </a:xfrm>
          <a:prstGeom prst="rect">
            <a:avLst/>
          </a:prstGeom>
          <a:noFill/>
        </p:spPr>
        <p:txBody>
          <a:bodyPr wrap="square" lIns="0" rIns="0" tIns="0" bIns="0" anchor="ctr">
            <a:noAutofit/>
          </a:bodyPr>
          <a:lstStyle/>
          <a:p>
            <a:pPr algn="l">
              <a:spcBef>
                <a:spcPts val="0"/>
              </a:spcBef>
              <a:spcAft>
                <a:spcPts val="0"/>
              </a:spcAft>
            </a:pPr>
            <a:r>
              <a:rPr sz="1100" b="0" i="0">
                <a:solidFill>
                  <a:srgbClr val="8E9BC4"/>
                </a:solidFill>
                <a:latin typeface="Calibri"/>
              </a:rPr>
              <a:t>Proposals not yet implemented or validated as a system</a:t>
            </a:r>
          </a:p>
        </p:txBody>
      </p:sp>
      <p:sp>
        <p:nvSpPr>
          <p:cNvPr id="18" name="TextBox 17"/>
          <p:cNvSpPr txBox="1"/>
          <p:nvPr/>
        </p:nvSpPr>
        <p:spPr>
          <a:xfrm>
            <a:off x="640080" y="4681728"/>
            <a:ext cx="4754880" cy="274320"/>
          </a:xfrm>
          <a:prstGeom prst="rect">
            <a:avLst/>
          </a:prstGeom>
          <a:noFill/>
        </p:spPr>
        <p:txBody>
          <a:bodyPr wrap="square" lIns="0" rIns="0" tIns="0" bIns="0" anchor="ctr">
            <a:noAutofit/>
          </a:bodyPr>
          <a:lstStyle/>
          <a:p>
            <a:pPr algn="l">
              <a:spcBef>
                <a:spcPts val="0"/>
              </a:spcBef>
              <a:spcAft>
                <a:spcPts val="0"/>
              </a:spcAft>
            </a:pPr>
            <a:r>
              <a:rPr sz="1100" b="0" i="0">
                <a:solidFill>
                  <a:srgbClr val="8E9BC4"/>
                </a:solidFill>
                <a:latin typeface="Calibri"/>
              </a:rPr>
              <a:t>AnalyticMadhyasthDarshan.org  ·  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