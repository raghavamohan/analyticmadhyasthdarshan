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presents Madhyasth Darshan's own account of spirituality and realisation, as developed in the study Spiritual Practice and Realization. It is built to make two things clear: what realisation is, and what a practitioner has to do to reach it.</a:t>
            </a:r>
          </a:p>
          <a:p/>
          <a:p>
            <a:r>
              <a:t>The sources are the works of Shri A. Nagraj: Madhyasth Darshan – Co-existentialism (MVD), Adhyatmvad (AVD), Jeevan Vidya: An Introduction (JV), Manav Karm Darshan (KD), and Samadhanatmak Bhautikvad (SB). Page references appear in each slide's footer. AVD and KD are cited from working English translations.</a:t>
            </a:r>
          </a:p>
          <a:p/>
          <a:p>
            <a:r>
              <a:t>The study also compares the darshan with Advaita Vedanta and with modern philosophy and contemplative science. This deck stays with the darshan's own position.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questions organise the deck. The first three concern what realisation is: what the darshan means by spirituality, what is realised and with what content, and how anyone would know that realisation has occurred.</a:t>
            </a:r>
          </a:p>
          <a:p/>
          <a:p>
            <a:r>
              <a:t>The fourth concerns the founder's own experience of samadhi. The darshan defines realisation partly by contrast with it, so it cannot be left out even of an account that stays with the darshan's own view.</a:t>
            </a:r>
          </a:p>
          <a:p/>
          <a:p>
            <a:r>
              <a:t>The last two concern practice: which activities of jeevan the practitioner makes effective and how, and what results from it. The summary near the end answers each question in a 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sets out what realisation is. It begins with the darshan's meaning of spirituality, then states what is realised and with what content, how realisation relates to understanding, how it reaches conduct, and how it becomes evidence.</a:t>
            </a:r>
          </a:p>
          <a:p/>
          <a:p>
            <a:r>
              <a:t>Hold on to one point throughout. Realisation is an understanding. It is not a feeling, a vision, or an absorbed state.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darshan's word for spirit, adhyatma, names the omnipresent reality itself: the one all-pervading, non-active reality in which every unit — atom, plant, animal, human — is submerged, soaked, and surrounded. That is why the darshan calls its account realisation-centred spiritualism.</a:t>
            </a:r>
          </a:p>
          <a:p/>
          <a:p>
            <a:r>
              <a:t>The same reality is called Omnipotence, Brahma, space, and knowledge, and omnipresence is what the word God refers to. Spirituality is therefore not a separate domain of experience. It is understanding the whole of existence, and oneself within it.</a:t>
            </a:r>
          </a:p>
          <a:p/>
          <a:p>
            <a:r>
              <a:t>The spiritual accomplishment is named precisely: atma-bodh, enlightenment of the self. Upon definitive understanding, as buddhi turns towards atma, atma-bodh and realisation in coexistence come into effect together.</a:t>
            </a:r>
          </a:p>
          <a:p/>
          <a:p>
            <a:r>
              <a:t>And this knowledge is not ineffable. The darshan holds that knowledge is manifest, effable, and understandable through study, and that its evidence becomes accessible to all through behaviour. Every man and woman has the right to realisation in coexistence.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 of realisation is not absent. Omnipotence in the form of omnipresence has been uniformly inherent in every entity since eternity, and its realisation is the goal of humans.</a:t>
            </a:r>
          </a:p>
          <a:p/>
          <a:p>
            <a:r>
              <a:t>The darshan distinguishes two kinds of union. Pre-existing yog, union with the omnipresent, is never lacking in any entity or activity; it cannot be attained or lost, only realised. Attainable yog covers the unions a unit enters with finite things. These are attained and lost, and a unit's development and decline depend on them. So truth is present even before awakening.</a:t>
            </a:r>
          </a:p>
          <a:p/>
          <a:p>
            <a:r>
              <a:t>What study and practice develop, then, is the capacity, ability, and receptivity for realisation, and that is the right of every human being. Realisation itself is an activity of atma, the nucleus of jeevan, and its effect is transmitted outward to buddhi, chitta, vritti, and mun.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content of realisation is given as three kinds of knowledge: of existence as coexistence, of jeevan, and of humane conduct.</a:t>
            </a:r>
          </a:p>
          <a:p/>
          <a:p>
            <a:r>
              <a:t>To understand any existing thing is to understand its form, property, essential nature, and innateness — rup, gun, swabhav, and dharma. Form, property, and essential nature can be understood; dharma, innateness, can only be realised.</a:t>
            </a:r>
          </a:p>
          <a:p/>
          <a:p>
            <a:r>
              <a:t>Knowledge of jeevan is knowledge of the knower itself: its constitution and its activities, which Part Three examines.</a:t>
            </a:r>
          </a:p>
          <a:p/>
          <a:p>
            <a:r>
              <a:t>Knowledge of humane conduct is specified by justice, dharma, and truth, and these are levels of realisation itself. Justice is realisation manifest in behaviour, dharma is realisation manifest in thought, and coexistence is the ultimate truth realised in atma.</a:t>
            </a:r>
          </a:p>
          <a:p/>
          <a:p>
            <a:r>
              <a:t>Complete enlightenment is the enlightenment of these three, and it is called enlightenment of the self. The awakened human is aware of their own being and of the being of the whole of existence.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definition. Definitive understanding, avdharana, is knowing, believing, and recognising together. Realisation is attaining the point of satisfaction in them. Authenticity is expressing that realisation in actions and behaviour and in systems of living.</a:t>
            </a:r>
          </a:p>
          <a:p/>
          <a:p>
            <a:r>
              <a:t>Realisation therefore adds no new object to what definitive understanding already holds. It is the point at which that understanding reaches satisfaction, and authenticity is how it shows. In a recorded session from 2010, Nagraj was asked what more is understood in anubhav than in bodh. His answer: nothing further — what occurred in direct recognition becomes firm.</a:t>
            </a:r>
          </a:p>
          <a:p/>
          <a:p>
            <a:r>
              <a:t>Realisation is realisation in the ultimate truth, which is coexistence, and it is distinguished from contemplation, which is the awareness of truth. Awakening, correspondingly, is knowing, believing, recognising, and fulfilling jeevan and existence as they 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Realisation is the third of four stages — sakshatkar, bodh, anubhav, praman — and the stages fall on the faculties of jeevan.</a:t>
            </a:r>
          </a:p>
          <a:p/>
          <a:p>
            <a:r>
              <a:t>Affirmation of truth in the form of coexistence through study begins as manan, ratiocination, in mun, and as tulan, deliberation by the qualitative method, in vritti. It becomes sakshatkar, direct recognition, in chitta, and bodh, enlightenment and acceptance, in buddhi. Anubhav, realisation, is in atma.</a:t>
            </a:r>
          </a:p>
          <a:p/>
          <a:p>
            <a:r>
              <a:t>Praman, evidence, is the fourth stage, and it is not a report issued after the fact. Realisation is the ultimate evidence, understanding is manifest in resolution, work, and behaviour, and evidence is awakened tradition. Only awakened humans are recognisable in the seer status.</a:t>
            </a:r>
          </a:p>
          <a:p/>
          <a:p>
            <a:r>
              <a:t>Nagraj describes the same order in his own case: realisation attained after revelation and definitive understanding, with contemplation following from that enlightenment. In the 2010 recorded session he adds that the weight of the sequence falls on sakshatkar, which he calls the success of study, and that praman is the power to bring about understanding in another.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Knowledge does not stay inside the knower. The darshan traces a chain from knowledge to living: knowledge itself is law; law is regulation; regulation is balance; balanced living is justice in humans; living within universal orderliness with justice is dharma, that is, resolution; and realisation in coexistence is dharma and truth.</a:t>
            </a:r>
          </a:p>
          <a:p/>
          <a:p>
            <a:r>
              <a:t>The six — law, regulation, balance, justice, dharma, and truth — are evidenced in the fruition of realisation. It follows that a person cannot have realised and still misjudge, or have realised and still live unregulated. Correct evaluation occurs only through awakening; otherwise over-, under-, or mis-evaluation takes place.</a:t>
            </a:r>
          </a:p>
          <a:p/>
          <a:p>
            <a:r>
              <a:t>The darshan also states the observable mark: absence of mistakes and crimes in behaviour characterises complete awakening, and it is observed in human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darshan refuses to let an inner state serve as its own credential, it needs public marks, and it names three kinds of evidence: realisation, behaviour, and experiment. The awakened human, not scripture or instrument, is the basis of evidence.</a:t>
            </a:r>
          </a:p>
          <a:p/>
          <a:p>
            <a:r>
              <a:t>Understanding must be conveyable: the proof of comprehension is the ability to convey it to others. Conduct must change: realisation shows as justice, dharma, and truth in behaviour, thought, and realisation together, as the absence of mistakes and crimes, and as the ability to provide justice, which is the evidence of liberation from bondage. Work with nature must succeed, since experimentation is continued until natural abundance is made useful. And the change must be reproducible in tradition: an awakened human evidences awakening by paving the path for the deluded.</a:t>
            </a:r>
          </a:p>
          <a:p/>
          <a:p>
            <a:r>
              <a:t>Behind these marks stands the criterion of truth: what is uniformly realised everywhere, the same in, by, and for all human beings. In the darshan's architecture, evidence is the fourth stage of realisation itself rather than a test applied from outside.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turns to the negative finding that shapes the whole account. The darshan's founder, Shri A. Nagraj, was told that samadhi was the only way to know the unknown. He attained it, and reported that no knowing occurred in it.</a:t>
            </a:r>
          </a:p>
          <a:p/>
          <a:p>
            <a:r>
              <a:t>What he found productive instead was a samyama of his own design, which led to realisation of coexistence. This part also names what practice actually removes: mystery and delusion, and the three bondages of hope, thought, and desire.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account of practice begins with a report in the first person. Nagraj was assured by the scholars and sages of his time that the only way to know the unknown is samadhi. He accepted this, went to Amarkantak, and practised from 1950, following the traditional method of upasana, with maturity in the 1960s.</a:t>
            </a:r>
          </a:p>
          <a:p/>
          <a:p>
            <a:r>
              <a:t>In 1970 he accepted that he had attained samadhi. Hope, thought, and desire fell silent, and the event of knowing the unknown did not occur. The state recurred for twelve to eighteen hours a day, and it answered none of his questions.</a:t>
            </a:r>
          </a:p>
          <a:p/>
          <a:p>
            <a:r>
              <a:t>Two claims are made here. The first is that no knowing occurs in the absorbed state. The second is that because there is nothing in it to describe, it cannot serve as evidence of anything, including of itself.</a:t>
            </a:r>
          </a:p>
          <a:p/>
          <a:p>
            <a:r>
              <a:t>The state is not nothing. It yields self-limited happiness, free of fear, temptation, and the pain of lack. But no programme of living arises in it; while pursuing it the seeker cannot take part in family, society, or the system of living; and the person's usefulness becomes zero.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Nagraj reports as productive is samyama, which he undertook to test the samadhi he could not otherwise evidence. He could not agree with what was written about samyama, so he devised his own design: the sequence samadhi, dhyan, dharana — the reverse of the received order.</a:t>
            </a:r>
          </a:p>
          <a:p/>
          <a:p>
            <a:r>
              <a:t>In the thoughtless state, together with the acceptance of existence, all realities were seen to be ceaselessly immersed in space, and this prompted samyama on space itself. Soon after, existence presented itself in its true form, as coexistence, and jeevan was seen within it. Seeing, here, means understanding. The realisation was then presented in literary form, for study.</a:t>
            </a:r>
          </a:p>
          <a:p/>
          <a:p>
            <a:r>
              <a:t>The darshan does not recommend this route to others, for three reasons: the silence method yields only self-limited happiness, no one can be assured of success within a lifetime, and silence is against the natural manifestation of jeevan, whose activity never ceases. What it offers everyone instead is study.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darshan names its target mystery, and it defines mystery as a deficiency of understanding rather than a property of reality: not revealing understanding, not being able to, or not being able to attain it.</a:t>
            </a:r>
          </a:p>
          <a:p/>
          <a:p>
            <a:r>
              <a:t>Beneath mystery lies delusion, belief different from reality, and its root is the assumption that the body is jeevan. Delusion is at the root of all unhappiness. It shows as excess, deficiency, and omission in visualisation, and as over-, under-, and mis-evaluation in judgement.</a:t>
            </a:r>
          </a:p>
          <a:p/>
          <a:p>
            <a:r>
              <a:t>What is bound, what binds, and what is freed is jeevan itself, and bondage takes three forms: bondage of hope, directed at sensory gratification; bondage of thought, which takes one's own thoughts to be superior; and bondage of desire, which takes the maximisation of physical creation to be superior.</a:t>
            </a:r>
          </a:p>
          <a:p/>
          <a:p>
            <a:r>
              <a:t>The darshan's proposal is liberation from delusion. Freedom from the bondage of delusion is moksha, and it is the evidence of awakening.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is the practical core. It begins with jeevan: its ten activities, of which only four and a half are effective in delusion, and the 122 conducts in which awakening becomes evident.</a:t>
            </a:r>
          </a:p>
          <a:p/>
          <a:p>
            <a:r>
              <a:t>It then shows what practice does to those activities: study as the practice itself, the two paths and their programmes, upasana as the refining of the fundamental tendencies, concentration and inward regulation, the conditions under which reflection succeeds, the marks of progress, and the preconditions and the teacher. It ends with what results: liberation from delusion.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Jeevan is a constitutionally complete atom whose nucleus is atma and whose four orbits are buddhi, chitta, vritti, and mun. Each of the five faculties has two activities, one of reflection and one of projection: realisation and authenticity in atma, enlightenment and resolve in buddhi, contemplation and visualisation in chitta, deliberation and analysis in vritti, and taste and selection in mun. Every jeevan operates continuously through these ten, in delusion or in awakening.</a:t>
            </a:r>
          </a:p>
          <a:p/>
          <a:p>
            <a:r>
              <a:t>In delusion only four and a half are effective: selection and taste in mun, analysis in vritti, visualisation in chitta, and half of deliberation — deliberation confined to what is pleasant, healthy, and profitable. These suffice for the five senses and the four instincts, and what they produce does not become the content of contemplation.</a:t>
            </a:r>
          </a:p>
          <a:p/>
          <a:p>
            <a:r>
              <a:t>Awakening the remaining five and a half happens through understanding, and awakening is the evidence of all ten in behaviour.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 are the generic activities. In awakening their detailed content becomes evident as 122 activities: two in atma, four in buddhi, sixteen in chitta, thirty-six in vritti, and sixty-four in mun. Each person can demonstrate all of them.</a:t>
            </a:r>
          </a:p>
          <a:p/>
          <a:p>
            <a:r>
              <a:t>They are tabulated as sixty-one pairs of a reflective and a projective activity, and each is defined. They include most of what the contemplative and devotional traditions treat as spiritual attainments: in atma, realisation in existence and the authenticity of ultimate bliss; in buddhi, bliss and definiteness, existence and fearlessness; in chitta, love and non-otherness, reverence and devoutness; in vritti, peace and kindness, gratitude and humility, truth and dharma; in mun, devotion and immersion, care and generosity, affection and dedication.</a:t>
            </a:r>
          </a:p>
          <a:p/>
          <a:p>
            <a:r>
              <a:t>So bliss, love, reverence, devotion, forgiveness, gratitude, and restraint are not states to be attained in withdrawal. They are named conducts of awakened jeevan, and many of them are directed to other people. This is where practice becomes specific: it aims at making effective activities that jeevan already has. Their systematic study is the subject of a separate treatise, Manav Sanchetnavadi Manovigyan.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has a precisely located target. Under delusion, hope in mun is based on sensation, thought in vritti follows that hope, desire in chitta follows that thought, and buddhi, turned away from atma, supports deluded visualisation and desire.</a:t>
            </a:r>
          </a:p>
          <a:p/>
          <a:p>
            <a:r>
              <a:t>In awakening the direction reverses. The enlightenment of buddhi accords with atma's realisation in existence, desire in chitta accords with the enlightenment of buddhi, thought in vritti with chitta, and hope in mun with vritti. The resulting reflection and projection form the awakened jeevan cycle. So practice is the repair of a circuit, not the accumulation of states.</a:t>
            </a:r>
          </a:p>
          <a:p/>
          <a:p>
            <a:r>
              <a:t>Awakening begins with the strength of contemplation, whereas the bondage of delusion runs on the powers of hope, thought, and desire. Study supplies contemplation with its content: as definitive understanding grows, justice, dharma, and truth become active in the deliberation of vritti, are directly recognised in chitta, enlightened and accepted in buddhi, and realised in atma.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positive method is study, and the darshan states it in the vocabulary of worship: study itself is worship, and the authentic human is the teacher in whose proximity study takes place. Through study one comes into absolute-resonance and absolute-accordance with understanding.</a:t>
            </a:r>
          </a:p>
          <a:p/>
          <a:p>
            <a:r>
              <a:t>Study is defined by what it discriminates: understanding the difference between the laws necessary and unnecessary for humaneness is study, and implementing the necessary ones is evidence and accomplishment. The journey to realisation begins with methodical study, whose field is definitive understanding.</a:t>
            </a:r>
          </a:p>
          <a:p/>
          <a:p>
            <a:r>
              <a:t>Study proceeds by two means that correct each other, inquiry while studying and study while inquiring, and each person examines what is presented with their own imagination and freedom of action and accepts or rejects it. Instruction by sermon carries a possibility of delusion; a command remains information until its intent is understood in logic and behaviour.</a:t>
            </a:r>
          </a:p>
          <a:p/>
          <a:p>
            <a:r>
              <a:t>Dedication carries study to realisation. The formula for belief is short: believe what is known; know what is believed. In the 2010 recorded session Nagraj calls sakshatkar, direct recognition, the success of study.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is not the discoverer, there are two alternatives: exploration, and following, emulation, and study.</a:t>
            </a:r>
          </a:p>
          <a:p/>
          <a:p>
            <a:r>
              <a:t>Exploration is an inventive realisation studied comprehensively, from the extreme of decline to the highest development and awakening. It is the route of a seeker accomplished in samadhi, who establishes themself in just behaviour and dharma-based thought through practice and then develops towards realisation of the omnipresent. The darshan does not recommend the samadhi route as the general way, for the reasons given in Part Two.</a:t>
            </a:r>
          </a:p>
          <a:p/>
          <a:p>
            <a:r>
              <a:t>The second path is the one open to everyone, and it has two programmes: following or emulating just behaviour, and being and abiding in resolved, dharma-based thought. Firmness and dedication in these two give the authority for realisation of truth. In the recorded session Nagraj adds that for everyone to undertake samadhi, samyama, and exploration is impractical, and that study is the method by which everyone can arrive.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Upasana, inherited as devotional practice towards deities, is given a different content: it is the process of refining and transforming the fundamental tendencies, and this study also transforms sanskar and essential nature.</a:t>
            </a:r>
          </a:p>
          <a:p/>
          <a:p>
            <a:r>
              <a:t>The fundamental tendencies are the antahkarana's hope, thought, desire, and resoluteness. The awakening of activity-power is the right use, rather than the waste, of the powers exercised through the senses; the awakening of desire-power is the right use of the fundamental tendencies; and the awakening of knowledge-power is right enlightenment together with complete realisation.</a:t>
            </a:r>
          </a:p>
          <a:p/>
          <a:p>
            <a:r>
              <a:t>Upasana is itself a form of study, and it continues as study until one is complete in one's own dharma. Of its three kinds, atmastha upasana is reflection itself, and every human being is bound to it. Its disciplines include truthfulness, non-violence, non-possession, and non-stealing, practised as restraint, with gratitude as the basis of restraint from beginning to end.</a:t>
            </a:r>
          </a:p>
          <a:p/>
          <a:p>
            <a:r>
              <a:t>It succeeds when aim, seeker, and means are held together, and fails when they are separated. And it has no private phase: wisdom and jeevan-value — resolution and prosperity — are its direct results, and sociality is contained in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Dhyan is redefined in the same spirit. The meditation the traditions recommend aims to limit thought to one point until thought ceases. The darshan gives concentration a different object: focusing mun, vritti, chitta, and buddhi for understanding, and focusing them for the purpose of evidence after understanding and realisation. All humans possess this capacity.</a:t>
            </a:r>
          </a:p>
          <a:p/>
          <a:p>
            <a:r>
              <a:t>Concentration belongs to the inward regulation, antarniyaman, through which enlightenment of the self happens, and atma-bodh is the highest accomplishment of concentration.</a:t>
            </a:r>
          </a:p>
          <a:p/>
          <a:p>
            <a:r>
              <a:t>Yog is redefined too. It is union — not posture or breath — and the realisation of the self is attained through yog in the tradition: the union of body and jeevan, and union with awakened humans for awakening. That is why humans seek association with those more awakened than themselves. The practice vocabulary is kept, and each term is given a content defined by understanding and conduct.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darshan names the conditions of each step, and these are among the most practical statements in the account.</a:t>
            </a:r>
          </a:p>
          <a:p/>
          <a:p>
            <a:r>
              <a:t>The reflection of hope succeeds in the absence of crime, and its support is the influence of orderliness. The reflection of thought succeeds in the absence of injustice, supported by social conduct. The reflection of desire succeeds in the absence of attachment, supported by study and sanskar. And the reflection of resolve succeeds in the absence of ignorance, supported by inward regulation or concentration. Only when condition and support are both present does reflection succeed; otherwise it fails.</a:t>
            </a:r>
          </a:p>
          <a:p/>
          <a:p>
            <a:r>
              <a:t>This lets a practitioner see where in the circuit a failure lies: in crime, injustice, attachment, or ignorance. And the level of awakening a person has reached is judged by their attachment or non-attachment to the body's instincts and the objects of the senses.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faculty reaches its complete development by receiving the signal of the one within it: mun by acquiring the receptivity for just behaviour on accepting the signals of vritti; vritti by the ability to form dharma-based thought on accepting the signals of chitta; chitta by the capacity for creative visualisation according to the signals of buddhi in the presence of truth; buddhi by accepting the signals of atma; and atma in realisation in coexistence.</a:t>
            </a:r>
          </a:p>
          <a:p/>
          <a:p>
            <a:r>
              <a:t>Each step has its mark. When mun receives the signal of vritti, just behaviour and affection follow; when vritti receives that of chitta, peace; when chitta receives that of buddhi, contentment and self-governed living; and when buddhi receives that of atma, enlightenment of the self and resolve in truth.</a:t>
            </a:r>
          </a:p>
          <a:p/>
          <a:p>
            <a:r>
              <a:t>The concurrences name the same progression: concurrence of mun and vritti is happiness, of vritti and chitta peace, of chitta and buddhi contentment, and of buddhi and atma bliss. The eternal concurrence of atma with the omnipresent is ultimate bliss.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conditions of realisation are demanding. Realisation in knowledge requires the capacity, ability, and receptivity for delusion-free knowledge, non-otherness, devotedness, and love towards the ideal in the form of coexistence.</a:t>
            </a:r>
          </a:p>
          <a:p/>
          <a:p>
            <a:r>
              <a:t>Delusion-free knowledge is knowing, understanding, and imparting the understanding of realities as they are; non-otherness is its continuity; devotedness is the continuity of non-otherness, an earnest endeavour for freedom from delusion; and love is non-otherness together with devotedness, the combined expression of kindness, grace, and compassion. These are achieved through just behaviour, resolved thought, and full dedication in obedience to a realised human being. Dharma can be realised only through study and adherence to the step-by-step instructions of one who has attained realisation.</a:t>
            </a:r>
          </a:p>
          <a:p/>
          <a:p>
            <a:r>
              <a:t>The teacher is the authentic human in whose proximity study takes place, the bearer and carrier of the evidence of awakening, with the literature as its guideline. Alongside this stands the learner's own examination: each person examines what is presented and accepts or rejects it, and a command remains information until it becomes studiable.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practice yields is liberation from delusion, and the darshan describes it in the traditions' own vocabulary.</a:t>
            </a:r>
          </a:p>
          <a:p/>
          <a:p>
            <a:r>
              <a:t>Freedom from the bondage of delusion is moksha, and this is the evidence of awakening. The complete acceptance and realisation of the mortality of the body, the immortality and continuity of jeevan, and the laws of work and behaviour is seedless thought; behaviour in accordance with it is seedless behaviour; and this is liberation from delusion.</a:t>
            </a:r>
          </a:p>
          <a:p/>
          <a:p>
            <a:r>
              <a:t>The jeevan-mukta, one liberated while living, has moved irreversibly out of animal consciousness and delusion, does not suffer from the recollection of the past or apprehension of the future, and has no resistance with the present. Nurturing and advancing human society is their essential nature.</a:t>
            </a:r>
          </a:p>
          <a:p/>
          <a:p>
            <a:r>
              <a:t>The state of realisation is named kaivalya, absoluteness, in which there is liberation from suffering, resentment, fear, and the bondage of delusion. Kaivalya is evidenced as participation in the whole of orderliness together with expression, communication, and exposition, and it lies in awakening, "and not in moksha". For one who is evidence in that state, no further bodily journeys are needed.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answers the deck's questions in a line each.</a:t>
            </a:r>
          </a:p>
          <a:p/>
          <a:p>
            <a:r>
              <a:t>Realisation is the understanding of existence as coexistence, of jeevan, and of humane conduct. It is the point of satisfaction in definitive understanding — knowing, believing, and recognising. It is an activity of atma whose effect reaches every faculty. It is evidenced in conveyability, just conduct, successful work with nature, and awakened tradition. And it is not an absorbed state, a feeling, or a vision.</a:t>
            </a:r>
          </a:p>
          <a:p/>
          <a:p>
            <a:r>
              <a:t>The practitioner studies the stated system, with inquiry and dedication; follows just behaviour and abides in resolved, dharma-based thought; refines hope, thought, desire, and resoluteness through upasana and restraint; concentrates for understanding, in the company of the awakened; and lives the understanding in relationships, until all ten activities of jeevan are effective and the 122 conducts become evident.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darshan states the dependencies of realisation without concealing that they close in a circle. The ability of realisation in knowledge depends on human awakening; awakening depends on sanskar; the development of sanskar depends on environment, study, and endeavour; these depend on humaneness and higher humaneness; and humaneness depends on the ability of realisation in knowledge.</a:t>
            </a:r>
          </a:p>
          <a:p/>
          <a:p>
            <a:r>
              <a:t>The way into the circle is study and participation. Learning can begin before awakening is complete: belief can follow knowing, and knowing can follow belief.</a:t>
            </a:r>
          </a:p>
          <a:p/>
          <a:p>
            <a:r>
              <a:t>So the practical conclusion of this deck is simple to state and demanding to live: study the stated system with inquiry and dedication, bring conduct into line with just behaviour and resolved thought, refine the tendencies, and let the understanding show in relationships. That is where the darshan asks to be tested.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p:spPr>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p:spPr>
        <p:txBody>
          <a:bodyPr rtlCol="0" anchor="ctr"/>
          <a:lstStyle/>
          <a:p>
            <a:pPr algn="ctr"/>
          </a:p>
        </p:txBody>
      </p:sp>
      <p:sp>
        <p:nvSpPr>
          <p:cNvPr id="4" name="Oval 3"/>
          <p:cNvSpPr/>
          <p:nvPr/>
        </p:nvSpPr>
        <p:spPr>
          <a:xfrm>
            <a:off x="7068312" y="2039112"/>
            <a:ext cx="859536" cy="859536"/>
          </a:xfrm>
          <a:prstGeom prst="ellipse">
            <a:avLst/>
          </a:prstGeom>
          <a:solidFill>
            <a:srgbClr val="C9821E"/>
          </a:solidFill>
          <a:ln>
            <a:noFill/>
          </a:ln>
        </p:spPr>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p:spPr>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p:spPr>
        <p:txBody>
          <a:bodyPr rtlCol="0" anchor="ctr"/>
          <a:lstStyle/>
          <a:p>
            <a:pPr algn="ctr"/>
          </a:p>
        </p:txBody>
      </p:sp>
      <p:sp>
        <p:nvSpPr>
          <p:cNvPr id="7" name="Oval 6"/>
          <p:cNvSpPr/>
          <p:nvPr/>
        </p:nvSpPr>
        <p:spPr>
          <a:xfrm>
            <a:off x="5797296" y="3968496"/>
            <a:ext cx="283464" cy="283464"/>
          </a:xfrm>
          <a:prstGeom prst="ellipse">
            <a:avLst/>
          </a:prstGeom>
          <a:solidFill>
            <a:srgbClr val="C9D4EF"/>
          </a:solidFill>
          <a:ln>
            <a:noFill/>
          </a:ln>
        </p:spPr>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p:spPr>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p:spPr>
        <p:txBody>
          <a:bodyPr rtlCol="0" anchor="ctr"/>
          <a:lstStyle/>
          <a:p>
            <a:pPr algn="ctr"/>
          </a:p>
        </p:txBody>
      </p:sp>
      <p:sp>
        <p:nvSpPr>
          <p:cNvPr id="10" name="Oval 9"/>
          <p:cNvSpPr/>
          <p:nvPr/>
        </p:nvSpPr>
        <p:spPr>
          <a:xfrm>
            <a:off x="8412480" y="4297680"/>
            <a:ext cx="192024" cy="192024"/>
          </a:xfrm>
          <a:prstGeom prst="ellipse">
            <a:avLst/>
          </a:prstGeom>
          <a:solidFill>
            <a:srgbClr val="C9D4EF"/>
          </a:solidFill>
          <a:ln>
            <a:noFill/>
          </a:ln>
        </p:spPr>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lIns="0" rIns="0" tIns="0" bIns="0" anchor="ctr">
            <a:noAutofit/>
          </a:bodyPr>
          <a:lstStyle/>
          <a:p>
            <a:pPr algn="l">
              <a:spcBef>
                <a:spcPts val="0"/>
              </a:spcBef>
              <a:spcAft>
                <a:spcPts val="0"/>
              </a:spcAft>
            </a:pPr>
            <a:r>
              <a:rPr sz="1200" b="1" i="0">
                <a:solidFill>
                  <a:srgbClr val="C9821E"/>
                </a:solidFill>
                <a:latin typeface="Calibri"/>
              </a:rPr>
              <a:t>MADHYASTH DARSHAN  ·  CO-EXISTENTIALISM</a:t>
            </a:r>
          </a:p>
        </p:txBody>
      </p:sp>
      <p:sp>
        <p:nvSpPr>
          <p:cNvPr id="12" name="TextBox 11"/>
          <p:cNvSpPr txBox="1"/>
          <p:nvPr/>
        </p:nvSpPr>
        <p:spPr>
          <a:xfrm>
            <a:off x="640080" y="1572768"/>
            <a:ext cx="5577840" cy="1371600"/>
          </a:xfrm>
          <a:prstGeom prst="rect">
            <a:avLst/>
          </a:prstGeom>
          <a:noFill/>
        </p:spPr>
        <p:txBody>
          <a:bodyPr wrap="square" lIns="0" rIns="0" tIns="0" bIns="0" anchor="ctr">
            <a:noAutofit/>
          </a:bodyPr>
          <a:lstStyle/>
          <a:p>
            <a:pPr algn="l">
              <a:spcBef>
                <a:spcPts val="0"/>
              </a:spcBef>
              <a:spcAft>
                <a:spcPts val="0"/>
              </a:spcAft>
            </a:pPr>
            <a:r>
              <a:rPr sz="4400" b="1" i="0">
                <a:solidFill>
                  <a:srgbClr val="FFFFFF"/>
                </a:solidFill>
                <a:latin typeface="Cambria"/>
              </a:rPr>
              <a:t>Spirituality and</a:t>
            </a:r>
          </a:p>
          <a:p>
            <a:pPr algn="l">
              <a:spcBef>
                <a:spcPts val="0"/>
              </a:spcBef>
              <a:spcAft>
                <a:spcPts val="0"/>
              </a:spcAft>
            </a:pPr>
            <a:r>
              <a:rPr sz="4400" b="1" i="0">
                <a:solidFill>
                  <a:srgbClr val="FFFFFF"/>
                </a:solidFill>
                <a:latin typeface="Cambria"/>
              </a:rPr>
              <a:t>Realisation</a:t>
            </a:r>
          </a:p>
        </p:txBody>
      </p:sp>
      <p:sp>
        <p:nvSpPr>
          <p:cNvPr id="13" name="TextBox 12"/>
          <p:cNvSpPr txBox="1"/>
          <p:nvPr/>
        </p:nvSpPr>
        <p:spPr>
          <a:xfrm>
            <a:off x="640080" y="2999232"/>
            <a:ext cx="4846320" cy="685800"/>
          </a:xfrm>
          <a:prstGeom prst="rect">
            <a:avLst/>
          </a:prstGeom>
          <a:noFill/>
        </p:spPr>
        <p:txBody>
          <a:bodyPr wrap="square" lIns="0" rIns="0" tIns="0" bIns="0" anchor="ctr">
            <a:noAutofit/>
          </a:bodyPr>
          <a:lstStyle/>
          <a:p>
            <a:pPr algn="l">
              <a:spcBef>
                <a:spcPts val="0"/>
              </a:spcBef>
              <a:spcAft>
                <a:spcPts val="0"/>
              </a:spcAft>
            </a:pPr>
            <a:r>
              <a:rPr sz="1600" b="0" i="1">
                <a:solidFill>
                  <a:srgbClr val="C9D4EF"/>
                </a:solidFill>
                <a:latin typeface="Calibri"/>
              </a:rPr>
              <a:t>What realisation is, and how a practitioner reaches it</a:t>
            </a:r>
          </a:p>
        </p:txBody>
      </p:sp>
      <p:sp>
        <p:nvSpPr>
          <p:cNvPr id="14" name="TextBox 13"/>
          <p:cNvSpPr txBox="1"/>
          <p:nvPr/>
        </p:nvSpPr>
        <p:spPr>
          <a:xfrm>
            <a:off x="640080" y="4160520"/>
            <a:ext cx="4754880" cy="274320"/>
          </a:xfrm>
          <a:prstGeom prst="rect">
            <a:avLst/>
          </a:prstGeom>
          <a:noFill/>
        </p:spPr>
        <p:txBody>
          <a:bodyPr wrap="square" lIns="0" rIns="0" tIns="0" bIns="0" anchor="ctr">
            <a:noAutofit/>
          </a:bodyPr>
          <a:lstStyle/>
          <a:p>
            <a:pPr algn="l">
              <a:spcBef>
                <a:spcPts val="0"/>
              </a:spcBef>
              <a:spcAft>
                <a:spcPts val="0"/>
              </a:spcAft>
            </a:pPr>
            <a:r>
              <a:rPr sz="1250" b="0" i="0">
                <a:solidFill>
                  <a:srgbClr val="8E9BC4"/>
                </a:solidFill>
                <a:latin typeface="Calibri"/>
              </a:rPr>
              <a:t>Companion to the study Spiritual Practice and Realization</a:t>
            </a:r>
          </a:p>
        </p:txBody>
      </p:sp>
      <p:sp>
        <p:nvSpPr>
          <p:cNvPr id="15" name="TextBox 14"/>
          <p:cNvSpPr txBox="1"/>
          <p:nvPr/>
        </p:nvSpPr>
        <p:spPr>
          <a:xfrm>
            <a:off x="640080" y="4434840"/>
            <a:ext cx="4754880" cy="274320"/>
          </a:xfrm>
          <a:prstGeom prst="rect">
            <a:avLst/>
          </a:prstGeom>
          <a:noFill/>
        </p:spPr>
        <p:txBody>
          <a:bodyPr wrap="square" lIns="0" rIns="0" tIns="0" bIns="0" anchor="ctr">
            <a:noAutofit/>
          </a:bodyPr>
          <a:lstStyle/>
          <a:p>
            <a:pPr algn="l">
              <a:spcBef>
                <a:spcPts val="0"/>
              </a:spcBef>
              <a:spcAft>
                <a:spcPts val="0"/>
              </a:spcAft>
            </a:pPr>
            <a:r>
              <a:rPr sz="1150" b="0" i="0">
                <a:solidFill>
                  <a:srgbClr val="8E9BC4"/>
                </a:solidFill>
                <a:latin typeface="Calibri"/>
              </a:rPr>
              <a:t>Shri A. Nagraj  ·  MVD · AVD · JV · KD · SB  ·  1 / 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FRAMING</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The Questions This Deck Answers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Study §§1.1–1.16  ·  AnalyticMadhyasthDarshan.org  ·  2 / 28</a:t>
            </a:r>
          </a:p>
        </p:txBody>
      </p:sp>
      <p:sp>
        <p:nvSpPr>
          <p:cNvPr id="8" name="Oval 7"/>
          <p:cNvSpPr/>
          <p:nvPr/>
        </p:nvSpPr>
        <p:spPr>
          <a:xfrm>
            <a:off x="640080" y="1257300"/>
            <a:ext cx="365760" cy="365760"/>
          </a:xfrm>
          <a:prstGeom prst="ellipse">
            <a:avLst/>
          </a:prstGeom>
          <a:solidFill>
            <a:srgbClr val="3B4A7A"/>
          </a:solidFill>
          <a:ln>
            <a:noFill/>
          </a:ln>
        </p:spPr>
        <p:txBody>
          <a:bodyPr rtlCol="0" anchor="ctr"/>
          <a:lstStyle/>
          <a:p>
            <a:pPr algn="ctr"/>
          </a:p>
        </p:txBody>
      </p:sp>
      <p:sp>
        <p:nvSpPr>
          <p:cNvPr id="9" name="TextBox 8"/>
          <p:cNvSpPr txBox="1"/>
          <p:nvPr/>
        </p:nvSpPr>
        <p:spPr>
          <a:xfrm>
            <a:off x="640080" y="1257300"/>
            <a:ext cx="365760" cy="365760"/>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libri"/>
              </a:rPr>
              <a:t>1</a:t>
            </a:r>
          </a:p>
        </p:txBody>
      </p:sp>
      <p:sp>
        <p:nvSpPr>
          <p:cNvPr id="10" name="TextBox 9"/>
          <p:cNvSpPr txBox="1"/>
          <p:nvPr/>
        </p:nvSpPr>
        <p:spPr>
          <a:xfrm>
            <a:off x="1188720" y="1188720"/>
            <a:ext cx="7406640" cy="502920"/>
          </a:xfrm>
          <a:prstGeom prst="rect">
            <a:avLst/>
          </a:prstGeom>
          <a:noFill/>
        </p:spPr>
        <p:txBody>
          <a:bodyPr wrap="square" lIns="0" rIns="0" tIns="0" bIns="0" anchor="ctr">
            <a:noAutofit/>
          </a:bodyPr>
          <a:lstStyle/>
          <a:p>
            <a:pPr algn="l"/>
            <a:r>
              <a:rPr sz="1400" b="1" i="0">
                <a:solidFill>
                  <a:srgbClr val="1E2447"/>
                </a:solidFill>
                <a:latin typeface="Calibri"/>
              </a:rPr>
              <a:t>What is spirituality?</a:t>
            </a:r>
            <a:r>
              <a:rPr sz="1300" b="0" i="0">
                <a:solidFill>
                  <a:srgbClr val="C9821E"/>
                </a:solidFill>
                <a:latin typeface="Calibri"/>
              </a:rPr>
              <a:t>   ·   </a:t>
            </a:r>
            <a:r>
              <a:rPr sz="1300" b="0" i="0">
                <a:solidFill>
                  <a:srgbClr val="5A6377"/>
                </a:solidFill>
                <a:latin typeface="Calibri"/>
              </a:rPr>
              <a:t>What does the darshan mean by </a:t>
            </a:r>
            <a:r>
              <a:rPr sz="1300" b="0" i="1">
                <a:solidFill>
                  <a:srgbClr val="5A6377"/>
                </a:solidFill>
                <a:latin typeface="Calibri"/>
              </a:rPr>
              <a:t>adhyatma</a:t>
            </a:r>
            <a:r>
              <a:rPr sz="1300" b="0" i="0">
                <a:solidFill>
                  <a:srgbClr val="5A6377"/>
                </a:solidFill>
                <a:latin typeface="Calibri"/>
              </a:rPr>
              <a:t>, spirit?</a:t>
            </a:r>
          </a:p>
        </p:txBody>
      </p:sp>
      <p:sp>
        <p:nvSpPr>
          <p:cNvPr id="11" name="Oval 10"/>
          <p:cNvSpPr/>
          <p:nvPr/>
        </p:nvSpPr>
        <p:spPr>
          <a:xfrm>
            <a:off x="640080" y="1824228"/>
            <a:ext cx="365760" cy="365760"/>
          </a:xfrm>
          <a:prstGeom prst="ellipse">
            <a:avLst/>
          </a:prstGeom>
          <a:solidFill>
            <a:srgbClr val="3B4A7A"/>
          </a:solidFill>
          <a:ln>
            <a:noFill/>
          </a:ln>
        </p:spPr>
        <p:txBody>
          <a:bodyPr rtlCol="0" anchor="ctr"/>
          <a:lstStyle/>
          <a:p>
            <a:pPr algn="ctr"/>
          </a:p>
        </p:txBody>
      </p:sp>
      <p:sp>
        <p:nvSpPr>
          <p:cNvPr id="12" name="TextBox 11"/>
          <p:cNvSpPr txBox="1"/>
          <p:nvPr/>
        </p:nvSpPr>
        <p:spPr>
          <a:xfrm>
            <a:off x="640080" y="1824228"/>
            <a:ext cx="365760" cy="365760"/>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libri"/>
              </a:rPr>
              <a:t>2</a:t>
            </a:r>
          </a:p>
        </p:txBody>
      </p:sp>
      <p:sp>
        <p:nvSpPr>
          <p:cNvPr id="13" name="TextBox 12"/>
          <p:cNvSpPr txBox="1"/>
          <p:nvPr/>
        </p:nvSpPr>
        <p:spPr>
          <a:xfrm>
            <a:off x="1188720" y="1755648"/>
            <a:ext cx="7406640" cy="502920"/>
          </a:xfrm>
          <a:prstGeom prst="rect">
            <a:avLst/>
          </a:prstGeom>
          <a:noFill/>
        </p:spPr>
        <p:txBody>
          <a:bodyPr wrap="square" lIns="0" rIns="0" tIns="0" bIns="0" anchor="ctr">
            <a:noAutofit/>
          </a:bodyPr>
          <a:lstStyle/>
          <a:p>
            <a:pPr algn="l"/>
            <a:r>
              <a:rPr sz="1400" b="1" i="0">
                <a:solidFill>
                  <a:srgbClr val="1E2447"/>
                </a:solidFill>
                <a:latin typeface="Calibri"/>
              </a:rPr>
              <a:t>What is realisation?</a:t>
            </a:r>
            <a:r>
              <a:rPr sz="1300" b="0" i="0">
                <a:solidFill>
                  <a:srgbClr val="C9821E"/>
                </a:solidFill>
                <a:latin typeface="Calibri"/>
              </a:rPr>
              <a:t>   ·   </a:t>
            </a:r>
            <a:r>
              <a:rPr sz="1300" b="0" i="0">
                <a:solidFill>
                  <a:srgbClr val="5A6377"/>
                </a:solidFill>
                <a:latin typeface="Calibri"/>
              </a:rPr>
              <a:t>What is realised, where, and with what content?</a:t>
            </a:r>
          </a:p>
        </p:txBody>
      </p:sp>
      <p:sp>
        <p:nvSpPr>
          <p:cNvPr id="14" name="Oval 13"/>
          <p:cNvSpPr/>
          <p:nvPr/>
        </p:nvSpPr>
        <p:spPr>
          <a:xfrm>
            <a:off x="640080" y="2391156"/>
            <a:ext cx="365760" cy="365760"/>
          </a:xfrm>
          <a:prstGeom prst="ellipse">
            <a:avLst/>
          </a:prstGeom>
          <a:solidFill>
            <a:srgbClr val="3B4A7A"/>
          </a:solidFill>
          <a:ln>
            <a:noFill/>
          </a:ln>
        </p:spPr>
        <p:txBody>
          <a:bodyPr rtlCol="0" anchor="ctr"/>
          <a:lstStyle/>
          <a:p>
            <a:pPr algn="ctr"/>
          </a:p>
        </p:txBody>
      </p:sp>
      <p:sp>
        <p:nvSpPr>
          <p:cNvPr id="15" name="TextBox 14"/>
          <p:cNvSpPr txBox="1"/>
          <p:nvPr/>
        </p:nvSpPr>
        <p:spPr>
          <a:xfrm>
            <a:off x="640080" y="2391156"/>
            <a:ext cx="365760" cy="365760"/>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libri"/>
              </a:rPr>
              <a:t>3</a:t>
            </a:r>
          </a:p>
        </p:txBody>
      </p:sp>
      <p:sp>
        <p:nvSpPr>
          <p:cNvPr id="16" name="TextBox 15"/>
          <p:cNvSpPr txBox="1"/>
          <p:nvPr/>
        </p:nvSpPr>
        <p:spPr>
          <a:xfrm>
            <a:off x="1188720" y="2322576"/>
            <a:ext cx="7406640" cy="502920"/>
          </a:xfrm>
          <a:prstGeom prst="rect">
            <a:avLst/>
          </a:prstGeom>
          <a:noFill/>
        </p:spPr>
        <p:txBody>
          <a:bodyPr wrap="square" lIns="0" rIns="0" tIns="0" bIns="0" anchor="ctr">
            <a:noAutofit/>
          </a:bodyPr>
          <a:lstStyle/>
          <a:p>
            <a:pPr algn="l"/>
            <a:r>
              <a:rPr sz="1400" b="1" i="0">
                <a:solidFill>
                  <a:srgbClr val="1E2447"/>
                </a:solidFill>
                <a:latin typeface="Calibri"/>
              </a:rPr>
              <a:t>How is it evidenced?</a:t>
            </a:r>
            <a:r>
              <a:rPr sz="1300" b="0" i="0">
                <a:solidFill>
                  <a:srgbClr val="C9821E"/>
                </a:solidFill>
                <a:latin typeface="Calibri"/>
              </a:rPr>
              <a:t>   ·   </a:t>
            </a:r>
            <a:r>
              <a:rPr sz="1300" b="0" i="0">
                <a:solidFill>
                  <a:srgbClr val="5A6377"/>
                </a:solidFill>
                <a:latin typeface="Calibri"/>
              </a:rPr>
              <a:t>How would anyone know that realisation has occurred?</a:t>
            </a:r>
          </a:p>
        </p:txBody>
      </p:sp>
      <p:sp>
        <p:nvSpPr>
          <p:cNvPr id="17" name="Oval 16"/>
          <p:cNvSpPr/>
          <p:nvPr/>
        </p:nvSpPr>
        <p:spPr>
          <a:xfrm>
            <a:off x="640080" y="2958084"/>
            <a:ext cx="365760" cy="365760"/>
          </a:xfrm>
          <a:prstGeom prst="ellipse">
            <a:avLst/>
          </a:prstGeom>
          <a:solidFill>
            <a:srgbClr val="3B4A7A"/>
          </a:solidFill>
          <a:ln>
            <a:noFill/>
          </a:ln>
        </p:spPr>
        <p:txBody>
          <a:bodyPr rtlCol="0" anchor="ctr"/>
          <a:lstStyle/>
          <a:p>
            <a:pPr algn="ctr"/>
          </a:p>
        </p:txBody>
      </p:sp>
      <p:sp>
        <p:nvSpPr>
          <p:cNvPr id="18" name="TextBox 17"/>
          <p:cNvSpPr txBox="1"/>
          <p:nvPr/>
        </p:nvSpPr>
        <p:spPr>
          <a:xfrm>
            <a:off x="640080" y="2958084"/>
            <a:ext cx="365760" cy="365760"/>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libri"/>
              </a:rPr>
              <a:t>4</a:t>
            </a:r>
          </a:p>
        </p:txBody>
      </p:sp>
      <p:sp>
        <p:nvSpPr>
          <p:cNvPr id="19" name="TextBox 18"/>
          <p:cNvSpPr txBox="1"/>
          <p:nvPr/>
        </p:nvSpPr>
        <p:spPr>
          <a:xfrm>
            <a:off x="1188720" y="2889504"/>
            <a:ext cx="7406640" cy="502920"/>
          </a:xfrm>
          <a:prstGeom prst="rect">
            <a:avLst/>
          </a:prstGeom>
          <a:noFill/>
        </p:spPr>
        <p:txBody>
          <a:bodyPr wrap="square" lIns="0" rIns="0" tIns="0" bIns="0" anchor="ctr">
            <a:noAutofit/>
          </a:bodyPr>
          <a:lstStyle/>
          <a:p>
            <a:pPr algn="l"/>
            <a:r>
              <a:rPr sz="1400" b="1" i="0">
                <a:solidFill>
                  <a:srgbClr val="1E2447"/>
                </a:solidFill>
                <a:latin typeface="Calibri"/>
              </a:rPr>
              <a:t>Why not samadhi?</a:t>
            </a:r>
            <a:r>
              <a:rPr sz="1300" b="0" i="0">
                <a:solidFill>
                  <a:srgbClr val="C9821E"/>
                </a:solidFill>
                <a:latin typeface="Calibri"/>
              </a:rPr>
              <a:t>   ·   </a:t>
            </a:r>
            <a:r>
              <a:rPr sz="1300" b="0" i="0">
                <a:solidFill>
                  <a:srgbClr val="5A6377"/>
                </a:solidFill>
                <a:latin typeface="Calibri"/>
              </a:rPr>
              <a:t>What did the founder find in the absorbed state?</a:t>
            </a:r>
          </a:p>
        </p:txBody>
      </p:sp>
      <p:sp>
        <p:nvSpPr>
          <p:cNvPr id="20" name="Oval 19"/>
          <p:cNvSpPr/>
          <p:nvPr/>
        </p:nvSpPr>
        <p:spPr>
          <a:xfrm>
            <a:off x="640080" y="3525012"/>
            <a:ext cx="365760" cy="365760"/>
          </a:xfrm>
          <a:prstGeom prst="ellipse">
            <a:avLst/>
          </a:prstGeom>
          <a:solidFill>
            <a:srgbClr val="3B4A7A"/>
          </a:solidFill>
          <a:ln>
            <a:noFill/>
          </a:ln>
        </p:spPr>
        <p:txBody>
          <a:bodyPr rtlCol="0" anchor="ctr"/>
          <a:lstStyle/>
          <a:p>
            <a:pPr algn="ctr"/>
          </a:p>
        </p:txBody>
      </p:sp>
      <p:sp>
        <p:nvSpPr>
          <p:cNvPr id="21" name="TextBox 20"/>
          <p:cNvSpPr txBox="1"/>
          <p:nvPr/>
        </p:nvSpPr>
        <p:spPr>
          <a:xfrm>
            <a:off x="640080" y="3525012"/>
            <a:ext cx="365760" cy="365760"/>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libri"/>
              </a:rPr>
              <a:t>5</a:t>
            </a:r>
          </a:p>
        </p:txBody>
      </p:sp>
      <p:sp>
        <p:nvSpPr>
          <p:cNvPr id="22" name="TextBox 21"/>
          <p:cNvSpPr txBox="1"/>
          <p:nvPr/>
        </p:nvSpPr>
        <p:spPr>
          <a:xfrm>
            <a:off x="1188720" y="3456432"/>
            <a:ext cx="7406640" cy="502920"/>
          </a:xfrm>
          <a:prstGeom prst="rect">
            <a:avLst/>
          </a:prstGeom>
          <a:noFill/>
        </p:spPr>
        <p:txBody>
          <a:bodyPr wrap="square" lIns="0" rIns="0" tIns="0" bIns="0" anchor="ctr">
            <a:noAutofit/>
          </a:bodyPr>
          <a:lstStyle/>
          <a:p>
            <a:pPr algn="l"/>
            <a:r>
              <a:rPr sz="1400" b="1" i="0">
                <a:solidFill>
                  <a:srgbClr val="1E2447"/>
                </a:solidFill>
                <a:latin typeface="Calibri"/>
              </a:rPr>
              <a:t>What does a practitioner do?</a:t>
            </a:r>
            <a:r>
              <a:rPr sz="1300" b="0" i="0">
                <a:solidFill>
                  <a:srgbClr val="C9821E"/>
                </a:solidFill>
                <a:latin typeface="Calibri"/>
              </a:rPr>
              <a:t>   ·   </a:t>
            </a:r>
            <a:r>
              <a:rPr sz="1300" b="0" i="0">
                <a:solidFill>
                  <a:srgbClr val="5A6377"/>
                </a:solidFill>
                <a:latin typeface="Calibri"/>
              </a:rPr>
              <a:t>Which activities are made effective, and how?</a:t>
            </a:r>
          </a:p>
        </p:txBody>
      </p:sp>
      <p:sp>
        <p:nvSpPr>
          <p:cNvPr id="23" name="Oval 22"/>
          <p:cNvSpPr/>
          <p:nvPr/>
        </p:nvSpPr>
        <p:spPr>
          <a:xfrm>
            <a:off x="640080" y="4091940"/>
            <a:ext cx="365760" cy="365760"/>
          </a:xfrm>
          <a:prstGeom prst="ellipse">
            <a:avLst/>
          </a:prstGeom>
          <a:solidFill>
            <a:srgbClr val="3B4A7A"/>
          </a:solidFill>
          <a:ln>
            <a:noFill/>
          </a:ln>
        </p:spPr>
        <p:txBody>
          <a:bodyPr rtlCol="0" anchor="ctr"/>
          <a:lstStyle/>
          <a:p>
            <a:pPr algn="ctr"/>
          </a:p>
        </p:txBody>
      </p:sp>
      <p:sp>
        <p:nvSpPr>
          <p:cNvPr id="24" name="TextBox 23"/>
          <p:cNvSpPr txBox="1"/>
          <p:nvPr/>
        </p:nvSpPr>
        <p:spPr>
          <a:xfrm>
            <a:off x="640080" y="4091940"/>
            <a:ext cx="365760" cy="365760"/>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libri"/>
              </a:rPr>
              <a:t>6</a:t>
            </a:r>
          </a:p>
        </p:txBody>
      </p:sp>
      <p:sp>
        <p:nvSpPr>
          <p:cNvPr id="25" name="TextBox 24"/>
          <p:cNvSpPr txBox="1"/>
          <p:nvPr/>
        </p:nvSpPr>
        <p:spPr>
          <a:xfrm>
            <a:off x="1188720" y="4023360"/>
            <a:ext cx="7406640" cy="502920"/>
          </a:xfrm>
          <a:prstGeom prst="rect">
            <a:avLst/>
          </a:prstGeom>
          <a:noFill/>
        </p:spPr>
        <p:txBody>
          <a:bodyPr wrap="square" lIns="0" rIns="0" tIns="0" bIns="0" anchor="ctr">
            <a:noAutofit/>
          </a:bodyPr>
          <a:lstStyle/>
          <a:p>
            <a:pPr algn="l"/>
            <a:r>
              <a:rPr sz="1400" b="1" i="0">
                <a:solidFill>
                  <a:srgbClr val="1E2447"/>
                </a:solidFill>
                <a:latin typeface="Calibri"/>
              </a:rPr>
              <a:t>What results?</a:t>
            </a:r>
            <a:r>
              <a:rPr sz="1300" b="0" i="0">
                <a:solidFill>
                  <a:srgbClr val="C9821E"/>
                </a:solidFill>
                <a:latin typeface="Calibri"/>
              </a:rPr>
              <a:t>   ·   </a:t>
            </a:r>
            <a:r>
              <a:rPr sz="1300" b="0" i="0">
                <a:solidFill>
                  <a:srgbClr val="5A6377"/>
                </a:solidFill>
                <a:latin typeface="Calibri"/>
              </a:rPr>
              <a:t>Liberation from delusion, shown in conduct.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p:spPr>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p:spPr>
        <p:txBody>
          <a:bodyPr rtlCol="0" anchor="ctr"/>
          <a:lstStyle/>
          <a:p>
            <a:pPr algn="ctr"/>
          </a:p>
        </p:txBody>
      </p:sp>
      <p:sp>
        <p:nvSpPr>
          <p:cNvPr id="4" name="Oval 3"/>
          <p:cNvSpPr/>
          <p:nvPr/>
        </p:nvSpPr>
        <p:spPr>
          <a:xfrm>
            <a:off x="7068312" y="2039112"/>
            <a:ext cx="859536" cy="859536"/>
          </a:xfrm>
          <a:prstGeom prst="ellipse">
            <a:avLst/>
          </a:prstGeom>
          <a:solidFill>
            <a:srgbClr val="C9821E"/>
          </a:solidFill>
          <a:ln>
            <a:noFill/>
          </a:ln>
        </p:spPr>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p:spPr>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p:spPr>
        <p:txBody>
          <a:bodyPr rtlCol="0" anchor="ctr"/>
          <a:lstStyle/>
          <a:p>
            <a:pPr algn="ctr"/>
          </a:p>
        </p:txBody>
      </p:sp>
      <p:sp>
        <p:nvSpPr>
          <p:cNvPr id="7" name="Oval 6"/>
          <p:cNvSpPr/>
          <p:nvPr/>
        </p:nvSpPr>
        <p:spPr>
          <a:xfrm>
            <a:off x="5797296" y="3968496"/>
            <a:ext cx="283464" cy="283464"/>
          </a:xfrm>
          <a:prstGeom prst="ellipse">
            <a:avLst/>
          </a:prstGeom>
          <a:solidFill>
            <a:srgbClr val="C9D4EF"/>
          </a:solidFill>
          <a:ln>
            <a:noFill/>
          </a:ln>
        </p:spPr>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p:spPr>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p:spPr>
        <p:txBody>
          <a:bodyPr rtlCol="0" anchor="ctr"/>
          <a:lstStyle/>
          <a:p>
            <a:pPr algn="ctr"/>
          </a:p>
        </p:txBody>
      </p:sp>
      <p:sp>
        <p:nvSpPr>
          <p:cNvPr id="10" name="Oval 9"/>
          <p:cNvSpPr/>
          <p:nvPr/>
        </p:nvSpPr>
        <p:spPr>
          <a:xfrm>
            <a:off x="8412480" y="4297680"/>
            <a:ext cx="192024" cy="192024"/>
          </a:xfrm>
          <a:prstGeom prst="ellipse">
            <a:avLst/>
          </a:prstGeom>
          <a:solidFill>
            <a:srgbClr val="C9D4EF"/>
          </a:solidFill>
          <a:ln>
            <a:noFill/>
          </a:ln>
        </p:spPr>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lIns="0" rIns="0" tIns="0" bIns="0" anchor="ctr">
            <a:noAutofit/>
          </a:bodyPr>
          <a:lstStyle/>
          <a:p>
            <a:pPr algn="l">
              <a:spcBef>
                <a:spcPts val="0"/>
              </a:spcBef>
              <a:spcAft>
                <a:spcPts val="0"/>
              </a:spcAft>
            </a:pPr>
            <a:r>
              <a:rPr sz="1200" b="1" i="0">
                <a:solidFill>
                  <a:srgbClr val="C9821E"/>
                </a:solidFill>
                <a:latin typeface="Calibri"/>
              </a:rPr>
              <a:t>PART ONE  ·  STUDY §§1.1–1.2, 1.11, 1.13</a:t>
            </a:r>
          </a:p>
        </p:txBody>
      </p:sp>
      <p:sp>
        <p:nvSpPr>
          <p:cNvPr id="12" name="TextBox 11"/>
          <p:cNvSpPr txBox="1"/>
          <p:nvPr/>
        </p:nvSpPr>
        <p:spPr>
          <a:xfrm>
            <a:off x="640080" y="1572768"/>
            <a:ext cx="5577840" cy="1371600"/>
          </a:xfrm>
          <a:prstGeom prst="rect">
            <a:avLst/>
          </a:prstGeom>
          <a:noFill/>
        </p:spPr>
        <p:txBody>
          <a:bodyPr wrap="square" lIns="0" rIns="0" tIns="0" bIns="0" anchor="ctr">
            <a:noAutofit/>
          </a:bodyPr>
          <a:lstStyle/>
          <a:p>
            <a:pPr algn="l">
              <a:spcBef>
                <a:spcPts val="0"/>
              </a:spcBef>
              <a:spcAft>
                <a:spcPts val="0"/>
              </a:spcAft>
            </a:pPr>
            <a:r>
              <a:rPr sz="4400" b="1" i="0">
                <a:solidFill>
                  <a:srgbClr val="FFFFFF"/>
                </a:solidFill>
                <a:latin typeface="Cambria"/>
              </a:rPr>
              <a:t>Realisation:</a:t>
            </a:r>
          </a:p>
          <a:p>
            <a:pPr algn="l">
              <a:spcBef>
                <a:spcPts val="0"/>
              </a:spcBef>
              <a:spcAft>
                <a:spcPts val="0"/>
              </a:spcAft>
            </a:pPr>
            <a:r>
              <a:rPr sz="4400" b="1" i="0">
                <a:solidFill>
                  <a:srgbClr val="FFFFFF"/>
                </a:solidFill>
                <a:latin typeface="Cambria"/>
              </a:rPr>
              <a:t>What It Is</a:t>
            </a:r>
          </a:p>
        </p:txBody>
      </p:sp>
      <p:sp>
        <p:nvSpPr>
          <p:cNvPr id="13" name="TextBox 12"/>
          <p:cNvSpPr txBox="1"/>
          <p:nvPr/>
        </p:nvSpPr>
        <p:spPr>
          <a:xfrm>
            <a:off x="640080" y="3035808"/>
            <a:ext cx="4846320" cy="1188720"/>
          </a:xfrm>
          <a:prstGeom prst="rect">
            <a:avLst/>
          </a:prstGeom>
          <a:noFill/>
        </p:spPr>
        <p:txBody>
          <a:bodyPr wrap="square" lIns="0" rIns="0" tIns="0" bIns="0" anchor="ctr">
            <a:noAutofit/>
          </a:bodyPr>
          <a:lstStyle/>
          <a:p>
            <a:pPr algn="l">
              <a:spcBef>
                <a:spcPts val="0"/>
              </a:spcBef>
              <a:spcAft>
                <a:spcPts val="0"/>
              </a:spcAft>
            </a:pPr>
            <a:r>
              <a:rPr sz="1600" b="0" i="1">
                <a:solidFill>
                  <a:srgbClr val="C9D4EF"/>
                </a:solidFill>
                <a:latin typeface="Calibri"/>
              </a:rPr>
              <a:t>The understanding of existence as coexistence — every unit saturated in one omnipresent reality — reached in jeevan and evidenced in living.</a:t>
            </a:r>
          </a:p>
        </p:txBody>
      </p:sp>
      <p:sp>
        <p:nvSpPr>
          <p:cNvPr id="14" name="TextBox 13"/>
          <p:cNvSpPr txBox="1"/>
          <p:nvPr/>
        </p:nvSpPr>
        <p:spPr>
          <a:xfrm>
            <a:off x="640080" y="4370832"/>
            <a:ext cx="4754880" cy="274320"/>
          </a:xfrm>
          <a:prstGeom prst="rect">
            <a:avLst/>
          </a:prstGeom>
          <a:noFill/>
        </p:spPr>
        <p:txBody>
          <a:bodyPr wrap="square" lIns="0" rIns="0" tIns="0" bIns="0" anchor="ctr">
            <a:noAutofit/>
          </a:bodyPr>
          <a:lstStyle/>
          <a:p>
            <a:pPr algn="l">
              <a:spcBef>
                <a:spcPts val="0"/>
              </a:spcBef>
              <a:spcAft>
                <a:spcPts val="0"/>
              </a:spcAft>
            </a:pPr>
            <a:r>
              <a:rPr sz="1150" b="0" i="0">
                <a:solidFill>
                  <a:srgbClr val="8E9BC4"/>
                </a:solidFill>
                <a:latin typeface="Calibri"/>
              </a:rPr>
              <a:t>Answers  ·  Spirituality  ·  Realisation  ·  Evidence</a:t>
            </a:r>
          </a:p>
        </p:txBody>
      </p:sp>
      <p:sp>
        <p:nvSpPr>
          <p:cNvPr id="15" name="TextBox 14"/>
          <p:cNvSpPr txBox="1"/>
          <p:nvPr/>
        </p:nvSpPr>
        <p:spPr>
          <a:xfrm>
            <a:off x="640080" y="4663440"/>
            <a:ext cx="4754880" cy="274320"/>
          </a:xfrm>
          <a:prstGeom prst="rect">
            <a:avLst/>
          </a:prstGeom>
          <a:noFill/>
        </p:spPr>
        <p:txBody>
          <a:bodyPr wrap="square" lIns="0" rIns="0" tIns="0" bIns="0" anchor="ctr">
            <a:noAutofit/>
          </a:bodyPr>
          <a:lstStyle/>
          <a:p>
            <a:pPr algn="l">
              <a:spcBef>
                <a:spcPts val="0"/>
              </a:spcBef>
              <a:spcAft>
                <a:spcPts val="0"/>
              </a:spcAft>
            </a:pPr>
            <a:r>
              <a:rPr sz="1150" b="0" i="0">
                <a:solidFill>
                  <a:srgbClr val="8E9BC4"/>
                </a:solidFill>
                <a:latin typeface="Calibri"/>
              </a:rPr>
              <a:t>AnalyticMadhyasthDarshan.org  ·  3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ONE  ·  §1.1  ·  SPIRITUALITY</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Spirit Is the Omnipresent Reality</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AVD p. 236  ·  MVD pp. 4, 35, 163, 285–287  ·  AnalyticMadhyasthDarshan.org  ·  4 / 28</a:t>
            </a:r>
          </a:p>
        </p:txBody>
      </p:sp>
      <p:sp>
        <p:nvSpPr>
          <p:cNvPr id="8" name="TextBox 7"/>
          <p:cNvSpPr txBox="1"/>
          <p:nvPr/>
        </p:nvSpPr>
        <p:spPr>
          <a:xfrm>
            <a:off x="640080" y="1188720"/>
            <a:ext cx="7955279" cy="502920"/>
          </a:xfrm>
          <a:prstGeom prst="rect">
            <a:avLst/>
          </a:prstGeom>
          <a:noFill/>
        </p:spPr>
        <p:txBody>
          <a:bodyPr wrap="square" lIns="0" rIns="0" tIns="0" bIns="0" anchor="ctr">
            <a:noAutofit/>
          </a:bodyPr>
          <a:lstStyle/>
          <a:p>
            <a:pPr algn="l">
              <a:spcBef>
                <a:spcPts val="0"/>
              </a:spcBef>
              <a:spcAft>
                <a:spcPts val="0"/>
              </a:spcAft>
            </a:pPr>
            <a:r>
              <a:rPr sz="1300" b="1" i="1">
                <a:solidFill>
                  <a:srgbClr val="1E2447"/>
                </a:solidFill>
                <a:latin typeface="Calibri"/>
              </a:rPr>
              <a:t>Adhyatma</a:t>
            </a:r>
            <a:r>
              <a:rPr sz="1300" b="1" i="0">
                <a:solidFill>
                  <a:srgbClr val="1E2447"/>
                </a:solidFill>
                <a:latin typeface="Calibri"/>
              </a:rPr>
              <a:t>, spirit, is the darshan's name for the omnipresent reality itself. Spirituality is understanding it — and oneself within it.</a:t>
            </a:r>
          </a:p>
        </p:txBody>
      </p:sp>
      <p:sp>
        <p:nvSpPr>
          <p:cNvPr id="9" name="Rounded Rectangle 8"/>
          <p:cNvSpPr/>
          <p:nvPr/>
        </p:nvSpPr>
        <p:spPr>
          <a:xfrm>
            <a:off x="640080" y="1783080"/>
            <a:ext cx="7863840" cy="1024128"/>
          </a:xfrm>
          <a:prstGeom prst="roundRect">
            <a:avLst>
              <a:gd name="adj" fmla="val 6000"/>
            </a:avLst>
          </a:prstGeom>
          <a:solidFill>
            <a:srgbClr val="FAF1DF"/>
          </a:solidFill>
          <a:ln>
            <a:noFill/>
          </a:ln>
        </p:spPr>
        <p:txBody>
          <a:bodyPr rtlCol="0" anchor="ctr"/>
          <a:lstStyle/>
          <a:p>
            <a:pPr algn="ctr"/>
          </a:p>
        </p:txBody>
      </p:sp>
      <p:sp>
        <p:nvSpPr>
          <p:cNvPr id="10" name="Rectangle 9"/>
          <p:cNvSpPr/>
          <p:nvPr/>
        </p:nvSpPr>
        <p:spPr>
          <a:xfrm>
            <a:off x="768096" y="1911095"/>
            <a:ext cx="45720" cy="768096"/>
          </a:xfrm>
          <a:prstGeom prst="rect">
            <a:avLst/>
          </a:prstGeom>
          <a:solidFill>
            <a:srgbClr val="C9821E"/>
          </a:solidFill>
          <a:ln>
            <a:noFill/>
          </a:ln>
        </p:spPr>
        <p:txBody>
          <a:bodyPr rtlCol="0" anchor="ctr"/>
          <a:lstStyle/>
          <a:p>
            <a:pPr algn="ctr"/>
          </a:p>
        </p:txBody>
      </p:sp>
      <p:sp>
        <p:nvSpPr>
          <p:cNvPr id="11" name="TextBox 10"/>
          <p:cNvSpPr txBox="1"/>
          <p:nvPr/>
        </p:nvSpPr>
        <p:spPr>
          <a:xfrm>
            <a:off x="950976" y="1892807"/>
            <a:ext cx="7351775" cy="603504"/>
          </a:xfrm>
          <a:prstGeom prst="rect">
            <a:avLst/>
          </a:prstGeom>
          <a:noFill/>
        </p:spPr>
        <p:txBody>
          <a:bodyPr wrap="square" lIns="0" rIns="0" tIns="0" bIns="0" anchor="ctr">
            <a:noAutofit/>
          </a:bodyPr>
          <a:lstStyle/>
          <a:p>
            <a:pPr algn="l">
              <a:spcBef>
                <a:spcPts val="0"/>
              </a:spcBef>
              <a:spcAft>
                <a:spcPts val="0"/>
              </a:spcAft>
            </a:pPr>
            <a:r>
              <a:rPr sz="1200" b="0" i="1">
                <a:solidFill>
                  <a:srgbClr val="1E2447"/>
                </a:solidFill>
                <a:latin typeface="Cambria"/>
              </a:rPr>
              <a:t>“One of the names I have given to this omnipresent reality is ‘adhyatma’ (spirit). This scripture has been named as ‘Realisation Centred Spiritualism’ because all the units are seen to be submerged, soaked &amp; surrounded in this omnipresent reality.”</a:t>
            </a:r>
          </a:p>
        </p:txBody>
      </p:sp>
      <p:sp>
        <p:nvSpPr>
          <p:cNvPr id="12" name="TextBox 11"/>
          <p:cNvSpPr txBox="1"/>
          <p:nvPr/>
        </p:nvSpPr>
        <p:spPr>
          <a:xfrm>
            <a:off x="950976" y="2514600"/>
            <a:ext cx="7351775" cy="201168"/>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AVD, p. 236</a:t>
            </a:r>
          </a:p>
        </p:txBody>
      </p:sp>
      <p:sp>
        <p:nvSpPr>
          <p:cNvPr id="13" name="Rounded Rectangle 12"/>
          <p:cNvSpPr/>
          <p:nvPr/>
        </p:nvSpPr>
        <p:spPr>
          <a:xfrm>
            <a:off x="640080" y="2962656"/>
            <a:ext cx="2514600" cy="1591056"/>
          </a:xfrm>
          <a:prstGeom prst="roundRect">
            <a:avLst>
              <a:gd name="adj" fmla="val 8000"/>
            </a:avLst>
          </a:prstGeom>
          <a:solidFill>
            <a:srgbClr val="EEF1F8"/>
          </a:solidFill>
          <a:ln>
            <a:noFill/>
          </a:ln>
        </p:spPr>
        <p:txBody>
          <a:bodyPr rtlCol="0" anchor="ctr"/>
          <a:lstStyle/>
          <a:p>
            <a:pPr algn="ctr"/>
          </a:p>
        </p:txBody>
      </p:sp>
      <p:sp>
        <p:nvSpPr>
          <p:cNvPr id="14" name="TextBox 13"/>
          <p:cNvSpPr txBox="1"/>
          <p:nvPr/>
        </p:nvSpPr>
        <p:spPr>
          <a:xfrm>
            <a:off x="841247" y="3072384"/>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One reality, many names</a:t>
            </a:r>
          </a:p>
        </p:txBody>
      </p:sp>
      <p:sp>
        <p:nvSpPr>
          <p:cNvPr id="15" name="TextBox 14"/>
          <p:cNvSpPr txBox="1"/>
          <p:nvPr/>
        </p:nvSpPr>
        <p:spPr>
          <a:xfrm>
            <a:off x="841247" y="3419856"/>
            <a:ext cx="2112264" cy="1024128"/>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Omnipotence (</a:t>
            </a:r>
            <a:r>
              <a:rPr sz="1200" b="0" i="1">
                <a:solidFill>
                  <a:srgbClr val="5A6377"/>
                </a:solidFill>
                <a:latin typeface="Calibri"/>
              </a:rPr>
              <a:t>satta</a:t>
            </a:r>
            <a:r>
              <a:rPr sz="1200" b="0" i="0">
                <a:solidFill>
                  <a:srgbClr val="5A6377"/>
                </a:solidFill>
                <a:latin typeface="Calibri"/>
              </a:rPr>
              <a:t>), Brahma, space, knowledge. Omnipresence is what the word God refers to (MVD pp. 35, 163).</a:t>
            </a:r>
          </a:p>
        </p:txBody>
      </p:sp>
      <p:sp>
        <p:nvSpPr>
          <p:cNvPr id="16" name="Rounded Rectangle 15"/>
          <p:cNvSpPr/>
          <p:nvPr/>
        </p:nvSpPr>
        <p:spPr>
          <a:xfrm>
            <a:off x="3314700" y="2962656"/>
            <a:ext cx="2514600" cy="1591056"/>
          </a:xfrm>
          <a:prstGeom prst="roundRect">
            <a:avLst>
              <a:gd name="adj" fmla="val 8000"/>
            </a:avLst>
          </a:prstGeom>
          <a:solidFill>
            <a:srgbClr val="FAF1DF"/>
          </a:solidFill>
          <a:ln>
            <a:noFill/>
          </a:ln>
        </p:spPr>
        <p:txBody>
          <a:bodyPr rtlCol="0" anchor="ctr"/>
          <a:lstStyle/>
          <a:p>
            <a:pPr algn="ctr"/>
          </a:p>
        </p:txBody>
      </p:sp>
      <p:sp>
        <p:nvSpPr>
          <p:cNvPr id="17" name="TextBox 16"/>
          <p:cNvSpPr txBox="1"/>
          <p:nvPr/>
        </p:nvSpPr>
        <p:spPr>
          <a:xfrm>
            <a:off x="3515868" y="3072384"/>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The accomplishment</a:t>
            </a:r>
          </a:p>
        </p:txBody>
      </p:sp>
      <p:sp>
        <p:nvSpPr>
          <p:cNvPr id="18" name="TextBox 17"/>
          <p:cNvSpPr txBox="1"/>
          <p:nvPr/>
        </p:nvSpPr>
        <p:spPr>
          <a:xfrm>
            <a:off x="3515868" y="3419856"/>
            <a:ext cx="2112264" cy="1024128"/>
          </a:xfrm>
          <a:prstGeom prst="rect">
            <a:avLst/>
          </a:prstGeom>
          <a:noFill/>
        </p:spPr>
        <p:txBody>
          <a:bodyPr wrap="square" lIns="0" rIns="0" tIns="0" bIns="0" anchor="t">
            <a:noAutofit/>
          </a:bodyPr>
          <a:lstStyle/>
          <a:p>
            <a:pPr algn="l">
              <a:spcBef>
                <a:spcPts val="0"/>
              </a:spcBef>
              <a:spcAft>
                <a:spcPts val="0"/>
              </a:spcAft>
            </a:pPr>
            <a:r>
              <a:rPr sz="1200" b="0" i="1">
                <a:solidFill>
                  <a:srgbClr val="5A6377"/>
                </a:solidFill>
                <a:latin typeface="Calibri"/>
              </a:rPr>
              <a:t>Atma-bodh</a:t>
            </a:r>
            <a:r>
              <a:rPr sz="1200" b="0" i="0">
                <a:solidFill>
                  <a:srgbClr val="5A6377"/>
                </a:solidFill>
                <a:latin typeface="Calibri"/>
              </a:rPr>
              <a:t>, enlightenment of the self, together with realisation in coexistence (MVD pp. 286–287).</a:t>
            </a:r>
          </a:p>
        </p:txBody>
      </p:sp>
      <p:sp>
        <p:nvSpPr>
          <p:cNvPr id="19" name="Rounded Rectangle 18"/>
          <p:cNvSpPr/>
          <p:nvPr/>
        </p:nvSpPr>
        <p:spPr>
          <a:xfrm>
            <a:off x="5989320" y="2962656"/>
            <a:ext cx="2514600" cy="1591056"/>
          </a:xfrm>
          <a:prstGeom prst="roundRect">
            <a:avLst>
              <a:gd name="adj" fmla="val 8000"/>
            </a:avLst>
          </a:prstGeom>
          <a:solidFill>
            <a:srgbClr val="EEF1F8"/>
          </a:solidFill>
          <a:ln>
            <a:noFill/>
          </a:ln>
        </p:spPr>
        <p:txBody>
          <a:bodyPr rtlCol="0" anchor="ctr"/>
          <a:lstStyle/>
          <a:p>
            <a:pPr algn="ctr"/>
          </a:p>
        </p:txBody>
      </p:sp>
      <p:sp>
        <p:nvSpPr>
          <p:cNvPr id="20" name="TextBox 19"/>
          <p:cNvSpPr txBox="1"/>
          <p:nvPr/>
        </p:nvSpPr>
        <p:spPr>
          <a:xfrm>
            <a:off x="6190488" y="3072384"/>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Knowledge is effable</a:t>
            </a:r>
          </a:p>
        </p:txBody>
      </p:sp>
      <p:sp>
        <p:nvSpPr>
          <p:cNvPr id="21" name="TextBox 20"/>
          <p:cNvSpPr txBox="1"/>
          <p:nvPr/>
        </p:nvSpPr>
        <p:spPr>
          <a:xfrm>
            <a:off x="6190488" y="3419856"/>
            <a:ext cx="2112264" cy="1024128"/>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Understood through study and evidenced to all through behaviour — not unmanifest or ineffable (MVD p.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ONE  ·  §1.2  ·  WHAT IS REALISED</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The Reality Is Already Present</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159, 204, 302–303, 307, 317–318  ·  AnalyticMadhyasthDarshan.org  ·  5 / 28</a:t>
            </a:r>
          </a:p>
        </p:txBody>
      </p:sp>
      <p:sp>
        <p:nvSpPr>
          <p:cNvPr id="8" name="TextBox 7"/>
          <p:cNvSpPr txBox="1"/>
          <p:nvPr/>
        </p:nvSpPr>
        <p:spPr>
          <a:xfrm>
            <a:off x="640080" y="1188720"/>
            <a:ext cx="7955279" cy="5029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libri"/>
              </a:rPr>
              <a:t>Realisation does not produce something absent. Every unit is already in union with the omnipresent; only its realisation is to be attained.</a:t>
            </a:r>
          </a:p>
        </p:txBody>
      </p:sp>
      <p:sp>
        <p:nvSpPr>
          <p:cNvPr id="9" name="Rounded Rectangle 8"/>
          <p:cNvSpPr/>
          <p:nvPr/>
        </p:nvSpPr>
        <p:spPr>
          <a:xfrm>
            <a:off x="640080" y="1810512"/>
            <a:ext cx="3840480" cy="1389888"/>
          </a:xfrm>
          <a:prstGeom prst="roundRect">
            <a:avLst>
              <a:gd name="adj" fmla="val 8000"/>
            </a:avLst>
          </a:prstGeom>
          <a:solidFill>
            <a:srgbClr val="EEF1F8"/>
          </a:solidFill>
          <a:ln>
            <a:noFill/>
          </a:ln>
        </p:spPr>
        <p:txBody>
          <a:bodyPr rtlCol="0" anchor="ctr"/>
          <a:lstStyle/>
          <a:p>
            <a:pPr algn="ctr"/>
          </a:p>
        </p:txBody>
      </p:sp>
      <p:sp>
        <p:nvSpPr>
          <p:cNvPr id="10" name="TextBox 9"/>
          <p:cNvSpPr txBox="1"/>
          <p:nvPr/>
        </p:nvSpPr>
        <p:spPr>
          <a:xfrm>
            <a:off x="841247" y="1920240"/>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Pre-existing union</a:t>
            </a:r>
          </a:p>
        </p:txBody>
      </p:sp>
      <p:sp>
        <p:nvSpPr>
          <p:cNvPr id="11" name="TextBox 10"/>
          <p:cNvSpPr txBox="1"/>
          <p:nvPr/>
        </p:nvSpPr>
        <p:spPr>
          <a:xfrm>
            <a:off x="841247" y="2267712"/>
            <a:ext cx="3438144" cy="82296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No entity or activity is ever without union with the omnipresent. It is not attained or lost — only realised (MVD p. 302). Truth is present even before awakening (MVD p. 303).</a:t>
            </a:r>
          </a:p>
        </p:txBody>
      </p:sp>
      <p:sp>
        <p:nvSpPr>
          <p:cNvPr id="12" name="Rounded Rectangle 11"/>
          <p:cNvSpPr/>
          <p:nvPr/>
        </p:nvSpPr>
        <p:spPr>
          <a:xfrm>
            <a:off x="4663440" y="1810512"/>
            <a:ext cx="3840480" cy="1389888"/>
          </a:xfrm>
          <a:prstGeom prst="roundRect">
            <a:avLst>
              <a:gd name="adj" fmla="val 8000"/>
            </a:avLst>
          </a:prstGeom>
          <a:solidFill>
            <a:srgbClr val="EEF1F8"/>
          </a:solidFill>
          <a:ln>
            <a:noFill/>
          </a:ln>
        </p:spPr>
        <p:txBody>
          <a:bodyPr rtlCol="0" anchor="ctr"/>
          <a:lstStyle/>
          <a:p>
            <a:pPr algn="ctr"/>
          </a:p>
        </p:txBody>
      </p:sp>
      <p:sp>
        <p:nvSpPr>
          <p:cNvPr id="13" name="TextBox 12"/>
          <p:cNvSpPr txBox="1"/>
          <p:nvPr/>
        </p:nvSpPr>
        <p:spPr>
          <a:xfrm>
            <a:off x="4864607" y="1920240"/>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Attainable union</a:t>
            </a:r>
          </a:p>
        </p:txBody>
      </p:sp>
      <p:sp>
        <p:nvSpPr>
          <p:cNvPr id="14" name="TextBox 13"/>
          <p:cNvSpPr txBox="1"/>
          <p:nvPr/>
        </p:nvSpPr>
        <p:spPr>
          <a:xfrm>
            <a:off x="4864607" y="2267712"/>
            <a:ext cx="3438144" cy="82296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Unions with finite things — proximity and accumulation — are attained and lost, and development and decline depend on them (MVD pp. 159, 302).</a:t>
            </a:r>
          </a:p>
        </p:txBody>
      </p:sp>
      <p:sp>
        <p:nvSpPr>
          <p:cNvPr id="15" name="Rounded Rectangle 14"/>
          <p:cNvSpPr/>
          <p:nvPr/>
        </p:nvSpPr>
        <p:spPr>
          <a:xfrm>
            <a:off x="640080" y="3346704"/>
            <a:ext cx="7863840" cy="1243584"/>
          </a:xfrm>
          <a:prstGeom prst="roundRect">
            <a:avLst>
              <a:gd name="adj" fmla="val 8000"/>
            </a:avLst>
          </a:prstGeom>
          <a:solidFill>
            <a:srgbClr val="FAF1DF"/>
          </a:solidFill>
          <a:ln>
            <a:noFill/>
          </a:ln>
        </p:spPr>
        <p:txBody>
          <a:bodyPr rtlCol="0" anchor="ctr"/>
          <a:lstStyle/>
          <a:p>
            <a:pPr algn="ctr"/>
          </a:p>
        </p:txBody>
      </p:sp>
      <p:sp>
        <p:nvSpPr>
          <p:cNvPr id="16" name="TextBox 15"/>
          <p:cNvSpPr txBox="1"/>
          <p:nvPr/>
        </p:nvSpPr>
        <p:spPr>
          <a:xfrm>
            <a:off x="841247" y="3456432"/>
            <a:ext cx="746150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What study and practice develop</a:t>
            </a:r>
          </a:p>
        </p:txBody>
      </p:sp>
      <p:sp>
        <p:nvSpPr>
          <p:cNvPr id="17" name="TextBox 16"/>
          <p:cNvSpPr txBox="1"/>
          <p:nvPr/>
        </p:nvSpPr>
        <p:spPr>
          <a:xfrm>
            <a:off x="841247" y="3803904"/>
            <a:ext cx="7461504" cy="676656"/>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capacity, ability, and receptivity for realisation, which is the right of every human being (MVD p. 302). Realisation is an activity of </a:t>
            </a:r>
            <a:r>
              <a:rPr sz="1200" b="0" i="1">
                <a:solidFill>
                  <a:srgbClr val="5A6377"/>
                </a:solidFill>
                <a:latin typeface="Calibri"/>
              </a:rPr>
              <a:t>atma</a:t>
            </a:r>
            <a:r>
              <a:rPr sz="1200" b="0" i="0">
                <a:solidFill>
                  <a:srgbClr val="5A6377"/>
                </a:solidFill>
                <a:latin typeface="Calibri"/>
              </a:rPr>
              <a:t>, and its effect reaches </a:t>
            </a:r>
            <a:r>
              <a:rPr sz="1200" b="0" i="1">
                <a:solidFill>
                  <a:srgbClr val="5A6377"/>
                </a:solidFill>
                <a:latin typeface="Calibri"/>
              </a:rPr>
              <a:t>buddhi</a:t>
            </a:r>
            <a:r>
              <a:rPr sz="1200" b="0" i="0">
                <a:solidFill>
                  <a:srgbClr val="5A6377"/>
                </a:solidFill>
                <a:latin typeface="Calibri"/>
              </a:rPr>
              <a:t>, </a:t>
            </a:r>
            <a:r>
              <a:rPr sz="1200" b="0" i="1">
                <a:solidFill>
                  <a:srgbClr val="5A6377"/>
                </a:solidFill>
                <a:latin typeface="Calibri"/>
              </a:rPr>
              <a:t>chitta</a:t>
            </a:r>
            <a:r>
              <a:rPr sz="1200" b="0" i="0">
                <a:solidFill>
                  <a:srgbClr val="5A6377"/>
                </a:solidFill>
                <a:latin typeface="Calibri"/>
              </a:rPr>
              <a:t>, </a:t>
            </a:r>
            <a:r>
              <a:rPr sz="1200" b="0" i="1">
                <a:solidFill>
                  <a:srgbClr val="5A6377"/>
                </a:solidFill>
                <a:latin typeface="Calibri"/>
              </a:rPr>
              <a:t>vritti</a:t>
            </a:r>
            <a:r>
              <a:rPr sz="1200" b="0" i="0">
                <a:solidFill>
                  <a:srgbClr val="5A6377"/>
                </a:solidFill>
                <a:latin typeface="Calibri"/>
              </a:rPr>
              <a:t>, and </a:t>
            </a:r>
            <a:r>
              <a:rPr sz="1200" b="0" i="1">
                <a:solidFill>
                  <a:srgbClr val="5A6377"/>
                </a:solidFill>
                <a:latin typeface="Calibri"/>
              </a:rPr>
              <a:t>mun</a:t>
            </a:r>
            <a:r>
              <a:rPr sz="1200" b="0" i="0">
                <a:solidFill>
                  <a:srgbClr val="5A6377"/>
                </a:solidFill>
                <a:latin typeface="Calibri"/>
              </a:rPr>
              <a:t> (MVD pp. 204, 307, 318).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ONE  ·  §1.2  ·  THE CONTENT OF REALISATION</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Realisation Has a Definite Content</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13, 78, 84, 127, 156, 273, 300  ·  AVD p. 87  ·  KD p. 30  ·  AnalyticMadhyasthDarshan.org  ·  6 / 28</a:t>
            </a:r>
          </a:p>
        </p:txBody>
      </p:sp>
      <p:sp>
        <p:nvSpPr>
          <p:cNvPr id="8" name="TextBox 7"/>
          <p:cNvSpPr txBox="1"/>
          <p:nvPr/>
        </p:nvSpPr>
        <p:spPr>
          <a:xfrm>
            <a:off x="640080" y="1188720"/>
            <a:ext cx="7955279" cy="5029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libri"/>
              </a:rPr>
              <a:t>Realisation is neither a feeling nor a vision. Its content is three kinds of knowledge, whose completeness is enlightenment of the self (MVD p. 300).</a:t>
            </a:r>
          </a:p>
        </p:txBody>
      </p:sp>
      <p:sp>
        <p:nvSpPr>
          <p:cNvPr id="9" name="Rounded Rectangle 8"/>
          <p:cNvSpPr/>
          <p:nvPr/>
        </p:nvSpPr>
        <p:spPr>
          <a:xfrm>
            <a:off x="640080" y="1810512"/>
            <a:ext cx="2514600" cy="2011680"/>
          </a:xfrm>
          <a:prstGeom prst="roundRect">
            <a:avLst>
              <a:gd name="adj" fmla="val 8000"/>
            </a:avLst>
          </a:prstGeom>
          <a:solidFill>
            <a:srgbClr val="EEF1F8"/>
          </a:solidFill>
          <a:ln>
            <a:noFill/>
          </a:ln>
        </p:spPr>
        <p:txBody>
          <a:bodyPr rtlCol="0" anchor="ctr"/>
          <a:lstStyle/>
          <a:p>
            <a:pPr algn="ctr"/>
          </a:p>
        </p:txBody>
      </p:sp>
      <p:sp>
        <p:nvSpPr>
          <p:cNvPr id="10" name="TextBox 9"/>
          <p:cNvSpPr txBox="1"/>
          <p:nvPr/>
        </p:nvSpPr>
        <p:spPr>
          <a:xfrm>
            <a:off x="841247" y="1920240"/>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Existence as coexistence</a:t>
            </a:r>
          </a:p>
        </p:txBody>
      </p:sp>
      <p:sp>
        <p:nvSpPr>
          <p:cNvPr id="11" name="TextBox 10"/>
          <p:cNvSpPr txBox="1"/>
          <p:nvPr/>
        </p:nvSpPr>
        <p:spPr>
          <a:xfrm>
            <a:off x="841247" y="2267712"/>
            <a:ext cx="2112264" cy="1444752"/>
          </a:xfrm>
          <a:prstGeom prst="rect">
            <a:avLst/>
          </a:prstGeom>
          <a:noFill/>
        </p:spPr>
        <p:txBody>
          <a:bodyPr wrap="square" lIns="0" rIns="0" tIns="0" bIns="0" anchor="t">
            <a:noAutofit/>
          </a:bodyPr>
          <a:lstStyle/>
          <a:p>
            <a:pPr algn="l">
              <a:spcBef>
                <a:spcPts val="0"/>
              </a:spcBef>
              <a:spcAft>
                <a:spcPts val="0"/>
              </a:spcAft>
            </a:pPr>
            <a:r>
              <a:rPr sz="1250" b="0" i="0">
                <a:solidFill>
                  <a:srgbClr val="5A6377"/>
                </a:solidFill>
                <a:latin typeface="Calibri"/>
              </a:rPr>
              <a:t>Every unit understood by its form, property, essential nature, and innateness. The first three can be understood; </a:t>
            </a:r>
            <a:r>
              <a:rPr sz="1250" b="0" i="1">
                <a:solidFill>
                  <a:srgbClr val="5A6377"/>
                </a:solidFill>
                <a:latin typeface="Calibri"/>
              </a:rPr>
              <a:t>dharma</a:t>
            </a:r>
            <a:r>
              <a:rPr sz="1250" b="0" i="0">
                <a:solidFill>
                  <a:srgbClr val="5A6377"/>
                </a:solidFill>
                <a:latin typeface="Calibri"/>
              </a:rPr>
              <a:t> can only be realised (MVD p. 273).</a:t>
            </a:r>
          </a:p>
        </p:txBody>
      </p:sp>
      <p:sp>
        <p:nvSpPr>
          <p:cNvPr id="12" name="Rounded Rectangle 11"/>
          <p:cNvSpPr/>
          <p:nvPr/>
        </p:nvSpPr>
        <p:spPr>
          <a:xfrm>
            <a:off x="3314700" y="1810512"/>
            <a:ext cx="2514600" cy="2011680"/>
          </a:xfrm>
          <a:prstGeom prst="roundRect">
            <a:avLst>
              <a:gd name="adj" fmla="val 8000"/>
            </a:avLst>
          </a:prstGeom>
          <a:solidFill>
            <a:srgbClr val="EEF1F8"/>
          </a:solidFill>
          <a:ln>
            <a:noFill/>
          </a:ln>
        </p:spPr>
        <p:txBody>
          <a:bodyPr rtlCol="0" anchor="ctr"/>
          <a:lstStyle/>
          <a:p>
            <a:pPr algn="ctr"/>
          </a:p>
        </p:txBody>
      </p:sp>
      <p:sp>
        <p:nvSpPr>
          <p:cNvPr id="13" name="TextBox 12"/>
          <p:cNvSpPr txBox="1"/>
          <p:nvPr/>
        </p:nvSpPr>
        <p:spPr>
          <a:xfrm>
            <a:off x="3515868" y="1920240"/>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Jeevan</a:t>
            </a:r>
          </a:p>
        </p:txBody>
      </p:sp>
      <p:sp>
        <p:nvSpPr>
          <p:cNvPr id="14" name="TextBox 13"/>
          <p:cNvSpPr txBox="1"/>
          <p:nvPr/>
        </p:nvSpPr>
        <p:spPr>
          <a:xfrm>
            <a:off x="3515868" y="2267712"/>
            <a:ext cx="2112264" cy="1444752"/>
          </a:xfrm>
          <a:prstGeom prst="rect">
            <a:avLst/>
          </a:prstGeom>
          <a:noFill/>
        </p:spPr>
        <p:txBody>
          <a:bodyPr wrap="square" lIns="0" rIns="0" tIns="0" bIns="0" anchor="t">
            <a:noAutofit/>
          </a:bodyPr>
          <a:lstStyle/>
          <a:p>
            <a:pPr algn="l">
              <a:spcBef>
                <a:spcPts val="0"/>
              </a:spcBef>
              <a:spcAft>
                <a:spcPts val="0"/>
              </a:spcAft>
            </a:pPr>
            <a:r>
              <a:rPr sz="1250" b="0" i="0">
                <a:solidFill>
                  <a:srgbClr val="5A6377"/>
                </a:solidFill>
                <a:latin typeface="Calibri"/>
              </a:rPr>
              <a:t>The knower itself: a constitutionally complete atom with </a:t>
            </a:r>
            <a:r>
              <a:rPr sz="1250" b="0" i="1">
                <a:solidFill>
                  <a:srgbClr val="5A6377"/>
                </a:solidFill>
                <a:latin typeface="Calibri"/>
              </a:rPr>
              <a:t>atma</a:t>
            </a:r>
            <a:r>
              <a:rPr sz="1250" b="0" i="0">
                <a:solidFill>
                  <a:srgbClr val="5A6377"/>
                </a:solidFill>
                <a:latin typeface="Calibri"/>
              </a:rPr>
              <a:t> at its centre and four orbits — </a:t>
            </a:r>
            <a:r>
              <a:rPr sz="1250" b="0" i="1">
                <a:solidFill>
                  <a:srgbClr val="5A6377"/>
                </a:solidFill>
                <a:latin typeface="Calibri"/>
              </a:rPr>
              <a:t>buddhi</a:t>
            </a:r>
            <a:r>
              <a:rPr sz="1250" b="0" i="0">
                <a:solidFill>
                  <a:srgbClr val="5A6377"/>
                </a:solidFill>
                <a:latin typeface="Calibri"/>
              </a:rPr>
              <a:t>, </a:t>
            </a:r>
            <a:r>
              <a:rPr sz="1250" b="0" i="1">
                <a:solidFill>
                  <a:srgbClr val="5A6377"/>
                </a:solidFill>
                <a:latin typeface="Calibri"/>
              </a:rPr>
              <a:t>chitta</a:t>
            </a:r>
            <a:r>
              <a:rPr sz="1250" b="0" i="0">
                <a:solidFill>
                  <a:srgbClr val="5A6377"/>
                </a:solidFill>
                <a:latin typeface="Calibri"/>
              </a:rPr>
              <a:t>, </a:t>
            </a:r>
            <a:r>
              <a:rPr sz="1250" b="0" i="1">
                <a:solidFill>
                  <a:srgbClr val="5A6377"/>
                </a:solidFill>
                <a:latin typeface="Calibri"/>
              </a:rPr>
              <a:t>vritti</a:t>
            </a:r>
            <a:r>
              <a:rPr sz="1250" b="0" i="0">
                <a:solidFill>
                  <a:srgbClr val="5A6377"/>
                </a:solidFill>
                <a:latin typeface="Calibri"/>
              </a:rPr>
              <a:t>, </a:t>
            </a:r>
            <a:r>
              <a:rPr sz="1250" b="0" i="1">
                <a:solidFill>
                  <a:srgbClr val="5A6377"/>
                </a:solidFill>
                <a:latin typeface="Calibri"/>
              </a:rPr>
              <a:t>mun</a:t>
            </a:r>
            <a:r>
              <a:rPr sz="1250" b="0" i="0">
                <a:solidFill>
                  <a:srgbClr val="5A6377"/>
                </a:solidFill>
                <a:latin typeface="Calibri"/>
              </a:rPr>
              <a:t> (MVD p. 78; AVD p. 87).</a:t>
            </a:r>
          </a:p>
        </p:txBody>
      </p:sp>
      <p:sp>
        <p:nvSpPr>
          <p:cNvPr id="15" name="Rounded Rectangle 14"/>
          <p:cNvSpPr/>
          <p:nvPr/>
        </p:nvSpPr>
        <p:spPr>
          <a:xfrm>
            <a:off x="5989320" y="1810512"/>
            <a:ext cx="2514600" cy="2011680"/>
          </a:xfrm>
          <a:prstGeom prst="roundRect">
            <a:avLst>
              <a:gd name="adj" fmla="val 8000"/>
            </a:avLst>
          </a:prstGeom>
          <a:solidFill>
            <a:srgbClr val="FAF1DF"/>
          </a:solidFill>
          <a:ln>
            <a:noFill/>
          </a:ln>
        </p:spPr>
        <p:txBody>
          <a:bodyPr rtlCol="0" anchor="ctr"/>
          <a:lstStyle/>
          <a:p>
            <a:pPr algn="ctr"/>
          </a:p>
        </p:txBody>
      </p:sp>
      <p:sp>
        <p:nvSpPr>
          <p:cNvPr id="16" name="TextBox 15"/>
          <p:cNvSpPr txBox="1"/>
          <p:nvPr/>
        </p:nvSpPr>
        <p:spPr>
          <a:xfrm>
            <a:off x="6190488" y="1920240"/>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Humane conduct</a:t>
            </a:r>
          </a:p>
        </p:txBody>
      </p:sp>
      <p:sp>
        <p:nvSpPr>
          <p:cNvPr id="17" name="TextBox 16"/>
          <p:cNvSpPr txBox="1"/>
          <p:nvPr/>
        </p:nvSpPr>
        <p:spPr>
          <a:xfrm>
            <a:off x="6190488" y="2267712"/>
            <a:ext cx="2112264" cy="1444752"/>
          </a:xfrm>
          <a:prstGeom prst="rect">
            <a:avLst/>
          </a:prstGeom>
          <a:noFill/>
        </p:spPr>
        <p:txBody>
          <a:bodyPr wrap="square" lIns="0" rIns="0" tIns="0" bIns="0" anchor="t">
            <a:noAutofit/>
          </a:bodyPr>
          <a:lstStyle/>
          <a:p>
            <a:pPr algn="l">
              <a:spcBef>
                <a:spcPts val="0"/>
              </a:spcBef>
              <a:spcAft>
                <a:spcPts val="0"/>
              </a:spcAft>
            </a:pPr>
            <a:r>
              <a:rPr sz="1250" b="0" i="0">
                <a:solidFill>
                  <a:srgbClr val="5A6377"/>
                </a:solidFill>
                <a:latin typeface="Calibri"/>
              </a:rPr>
              <a:t>Justice is realisation manifest in behaviour, </a:t>
            </a:r>
            <a:r>
              <a:rPr sz="1250" b="0" i="1">
                <a:solidFill>
                  <a:srgbClr val="5A6377"/>
                </a:solidFill>
                <a:latin typeface="Calibri"/>
              </a:rPr>
              <a:t>dharma</a:t>
            </a:r>
            <a:r>
              <a:rPr sz="1250" b="0" i="0">
                <a:solidFill>
                  <a:srgbClr val="5A6377"/>
                </a:solidFill>
                <a:latin typeface="Calibri"/>
              </a:rPr>
              <a:t> in thought, and truth — coexistence — is realised in </a:t>
            </a:r>
            <a:r>
              <a:rPr sz="1250" b="0" i="1">
                <a:solidFill>
                  <a:srgbClr val="5A6377"/>
                </a:solidFill>
                <a:latin typeface="Calibri"/>
              </a:rPr>
              <a:t>atma</a:t>
            </a:r>
            <a:r>
              <a:rPr sz="1250" b="0" i="0">
                <a:solidFill>
                  <a:srgbClr val="5A6377"/>
                </a:solidFill>
                <a:latin typeface="Calibri"/>
              </a:rPr>
              <a:t> (MVD p. 156).</a:t>
            </a:r>
          </a:p>
        </p:txBody>
      </p:sp>
      <p:sp>
        <p:nvSpPr>
          <p:cNvPr id="18" name="TextBox 17"/>
          <p:cNvSpPr txBox="1"/>
          <p:nvPr/>
        </p:nvSpPr>
        <p:spPr>
          <a:xfrm>
            <a:off x="640080" y="4023360"/>
            <a:ext cx="7955279" cy="384048"/>
          </a:xfrm>
          <a:prstGeom prst="rect">
            <a:avLst/>
          </a:prstGeom>
          <a:noFill/>
        </p:spPr>
        <p:txBody>
          <a:bodyPr wrap="square" lIns="0" rIns="0" tIns="0" bIns="0" anchor="ctr">
            <a:noAutofit/>
          </a:bodyPr>
          <a:lstStyle/>
          <a:p>
            <a:pPr algn="l">
              <a:spcBef>
                <a:spcPts val="0"/>
              </a:spcBef>
              <a:spcAft>
                <a:spcPts val="0"/>
              </a:spcAft>
            </a:pPr>
            <a:r>
              <a:rPr sz="1200" b="0" i="1">
                <a:solidFill>
                  <a:srgbClr val="1E2447"/>
                </a:solidFill>
                <a:latin typeface="Calibri"/>
              </a:rPr>
              <a:t>The awakened human is aware of their own being and of the being of the entire existence (MVD p. 84).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ONE  ·  §1.11  ·  THE DEFINITION</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What Constitutes Realisation</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AVD pp. 224, 259  ·  MVD p. 316  ·  AnalyticMadhyasthDarshan.org  ·  7 / 28</a:t>
            </a:r>
          </a:p>
        </p:txBody>
      </p:sp>
      <p:sp>
        <p:nvSpPr>
          <p:cNvPr id="8" name="Rounded Rectangle 7"/>
          <p:cNvSpPr/>
          <p:nvPr/>
        </p:nvSpPr>
        <p:spPr>
          <a:xfrm>
            <a:off x="640080" y="1188720"/>
            <a:ext cx="7863840" cy="1115568"/>
          </a:xfrm>
          <a:prstGeom prst="roundRect">
            <a:avLst>
              <a:gd name="adj" fmla="val 6000"/>
            </a:avLst>
          </a:prstGeom>
          <a:solidFill>
            <a:srgbClr val="FAF1DF"/>
          </a:solidFill>
          <a:ln>
            <a:noFill/>
          </a:ln>
        </p:spPr>
        <p:txBody>
          <a:bodyPr rtlCol="0" anchor="ctr"/>
          <a:lstStyle/>
          <a:p>
            <a:pPr algn="ctr"/>
          </a:p>
        </p:txBody>
      </p:sp>
      <p:sp>
        <p:nvSpPr>
          <p:cNvPr id="9" name="Rectangle 8"/>
          <p:cNvSpPr/>
          <p:nvPr/>
        </p:nvSpPr>
        <p:spPr>
          <a:xfrm>
            <a:off x="768096" y="1316736"/>
            <a:ext cx="45720" cy="859536"/>
          </a:xfrm>
          <a:prstGeom prst="rect">
            <a:avLst/>
          </a:prstGeom>
          <a:solidFill>
            <a:srgbClr val="C9821E"/>
          </a:solidFill>
          <a:ln>
            <a:noFill/>
          </a:ln>
        </p:spPr>
        <p:txBody>
          <a:bodyPr rtlCol="0" anchor="ctr"/>
          <a:lstStyle/>
          <a:p>
            <a:pPr algn="ctr"/>
          </a:p>
        </p:txBody>
      </p:sp>
      <p:sp>
        <p:nvSpPr>
          <p:cNvPr id="10" name="TextBox 9"/>
          <p:cNvSpPr txBox="1"/>
          <p:nvPr/>
        </p:nvSpPr>
        <p:spPr>
          <a:xfrm>
            <a:off x="950976" y="1298448"/>
            <a:ext cx="7351775" cy="694944"/>
          </a:xfrm>
          <a:prstGeom prst="rect">
            <a:avLst/>
          </a:prstGeom>
          <a:noFill/>
        </p:spPr>
        <p:txBody>
          <a:bodyPr wrap="square" lIns="0" rIns="0" tIns="0" bIns="0" anchor="ctr">
            <a:noAutofit/>
          </a:bodyPr>
          <a:lstStyle/>
          <a:p>
            <a:pPr algn="l">
              <a:spcBef>
                <a:spcPts val="0"/>
              </a:spcBef>
              <a:spcAft>
                <a:spcPts val="0"/>
              </a:spcAft>
            </a:pPr>
            <a:r>
              <a:rPr sz="1300" b="0" i="1">
                <a:solidFill>
                  <a:srgbClr val="1E2447"/>
                </a:solidFill>
                <a:latin typeface="Cambria"/>
              </a:rPr>
              <a:t>“Knowing, believing &amp; recognising itself is definitive understanding. Attaining the point of satisfaction in these itself is realisation. Expressing it in actions &amp; behaviour, and in systems, is authenticity.”</a:t>
            </a:r>
          </a:p>
        </p:txBody>
      </p:sp>
      <p:sp>
        <p:nvSpPr>
          <p:cNvPr id="11" name="TextBox 10"/>
          <p:cNvSpPr txBox="1"/>
          <p:nvPr/>
        </p:nvSpPr>
        <p:spPr>
          <a:xfrm>
            <a:off x="950976" y="2011680"/>
            <a:ext cx="7351775" cy="201168"/>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AVD, p. 224</a:t>
            </a:r>
          </a:p>
        </p:txBody>
      </p:sp>
      <p:sp>
        <p:nvSpPr>
          <p:cNvPr id="12" name="Rounded Rectangle 11"/>
          <p:cNvSpPr/>
          <p:nvPr/>
        </p:nvSpPr>
        <p:spPr>
          <a:xfrm>
            <a:off x="640080" y="2468880"/>
            <a:ext cx="2377440" cy="1600200"/>
          </a:xfrm>
          <a:prstGeom prst="roundRect">
            <a:avLst>
              <a:gd name="adj" fmla="val 8000"/>
            </a:avLst>
          </a:prstGeom>
          <a:solidFill>
            <a:srgbClr val="EEF1F8"/>
          </a:solidFill>
          <a:ln>
            <a:noFill/>
          </a:ln>
        </p:spPr>
        <p:txBody>
          <a:bodyPr rtlCol="0" anchor="ctr"/>
          <a:lstStyle/>
          <a:p>
            <a:pPr algn="ctr"/>
          </a:p>
        </p:txBody>
      </p:sp>
      <p:sp>
        <p:nvSpPr>
          <p:cNvPr id="13" name="TextBox 12"/>
          <p:cNvSpPr txBox="1"/>
          <p:nvPr/>
        </p:nvSpPr>
        <p:spPr>
          <a:xfrm>
            <a:off x="841247" y="2578608"/>
            <a:ext cx="1975104" cy="292608"/>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Definitive understanding</a:t>
            </a:r>
          </a:p>
        </p:txBody>
      </p:sp>
      <p:sp>
        <p:nvSpPr>
          <p:cNvPr id="14" name="TextBox 13"/>
          <p:cNvSpPr txBox="1"/>
          <p:nvPr/>
        </p:nvSpPr>
        <p:spPr>
          <a:xfrm>
            <a:off x="841247" y="2926080"/>
            <a:ext cx="1975104" cy="1033271"/>
          </a:xfrm>
          <a:prstGeom prst="rect">
            <a:avLst/>
          </a:prstGeom>
          <a:noFill/>
        </p:spPr>
        <p:txBody>
          <a:bodyPr wrap="square" lIns="0" rIns="0" tIns="0" bIns="0" anchor="t">
            <a:noAutofit/>
          </a:bodyPr>
          <a:lstStyle/>
          <a:p>
            <a:pPr algn="l">
              <a:spcBef>
                <a:spcPts val="0"/>
              </a:spcBef>
              <a:spcAft>
                <a:spcPts val="0"/>
              </a:spcAft>
            </a:pPr>
            <a:r>
              <a:rPr sz="1200" b="0" i="1">
                <a:solidFill>
                  <a:srgbClr val="5A6377"/>
                </a:solidFill>
                <a:latin typeface="Calibri"/>
              </a:rPr>
              <a:t>Avdharana</a:t>
            </a:r>
            <a:r>
              <a:rPr sz="1200" b="0" i="0">
                <a:solidFill>
                  <a:srgbClr val="5A6377"/>
                </a:solidFill>
                <a:latin typeface="Calibri"/>
              </a:rPr>
              <a:t>: knowing, believing, and recognising existence, </a:t>
            </a:r>
            <a:r>
              <a:rPr sz="1200" b="0" i="1">
                <a:solidFill>
                  <a:srgbClr val="5A6377"/>
                </a:solidFill>
                <a:latin typeface="Calibri"/>
              </a:rPr>
              <a:t>jeevan</a:t>
            </a:r>
            <a:r>
              <a:rPr sz="1200" b="0" i="0">
                <a:solidFill>
                  <a:srgbClr val="5A6377"/>
                </a:solidFill>
                <a:latin typeface="Calibri"/>
              </a:rPr>
              <a:t>, and humane conduct as they are.</a:t>
            </a:r>
          </a:p>
        </p:txBody>
      </p:sp>
      <p:sp>
        <p:nvSpPr>
          <p:cNvPr id="15" name="TextBox 14"/>
          <p:cNvSpPr txBox="1"/>
          <p:nvPr/>
        </p:nvSpPr>
        <p:spPr>
          <a:xfrm>
            <a:off x="3017520" y="3035808"/>
            <a:ext cx="365760" cy="457200"/>
          </a:xfrm>
          <a:prstGeom prst="rect">
            <a:avLst/>
          </a:prstGeom>
          <a:noFill/>
        </p:spPr>
        <p:txBody>
          <a:bodyPr wrap="square" lIns="0" rIns="0" tIns="0" bIns="0" anchor="ctr">
            <a:noAutofit/>
          </a:bodyPr>
          <a:lstStyle/>
          <a:p>
            <a:pPr algn="ctr">
              <a:spcBef>
                <a:spcPts val="0"/>
              </a:spcBef>
              <a:spcAft>
                <a:spcPts val="0"/>
              </a:spcAft>
            </a:pPr>
            <a:r>
              <a:rPr sz="2200" b="1" i="0">
                <a:solidFill>
                  <a:srgbClr val="C9821E"/>
                </a:solidFill>
                <a:latin typeface="Calibri"/>
              </a:rPr>
              <a:t>→</a:t>
            </a:r>
          </a:p>
        </p:txBody>
      </p:sp>
      <p:sp>
        <p:nvSpPr>
          <p:cNvPr id="16" name="Rounded Rectangle 15"/>
          <p:cNvSpPr/>
          <p:nvPr/>
        </p:nvSpPr>
        <p:spPr>
          <a:xfrm>
            <a:off x="3383280" y="2468880"/>
            <a:ext cx="2377440" cy="1600200"/>
          </a:xfrm>
          <a:prstGeom prst="roundRect">
            <a:avLst>
              <a:gd name="adj" fmla="val 8000"/>
            </a:avLst>
          </a:prstGeom>
          <a:solidFill>
            <a:srgbClr val="FAF1DF"/>
          </a:solidFill>
          <a:ln>
            <a:noFill/>
          </a:ln>
        </p:spPr>
        <p:txBody>
          <a:bodyPr rtlCol="0" anchor="ctr"/>
          <a:lstStyle/>
          <a:p>
            <a:pPr algn="ctr"/>
          </a:p>
        </p:txBody>
      </p:sp>
      <p:sp>
        <p:nvSpPr>
          <p:cNvPr id="17" name="TextBox 16"/>
          <p:cNvSpPr txBox="1"/>
          <p:nvPr/>
        </p:nvSpPr>
        <p:spPr>
          <a:xfrm>
            <a:off x="3584448" y="2578608"/>
            <a:ext cx="1975104" cy="292608"/>
          </a:xfrm>
          <a:prstGeom prst="rect">
            <a:avLst/>
          </a:prstGeom>
          <a:noFill/>
        </p:spPr>
        <p:txBody>
          <a:bodyPr wrap="square" lIns="0" rIns="0" tIns="0" bIns="0" anchor="ctr">
            <a:noAutofit/>
          </a:bodyPr>
          <a:lstStyle/>
          <a:p>
            <a:pPr algn="l">
              <a:spcBef>
                <a:spcPts val="0"/>
              </a:spcBef>
              <a:spcAft>
                <a:spcPts val="0"/>
              </a:spcAft>
            </a:pPr>
            <a:r>
              <a:rPr sz="1250" b="1" i="0">
                <a:solidFill>
                  <a:srgbClr val="9A6414"/>
                </a:solidFill>
                <a:latin typeface="Cambria"/>
              </a:rPr>
              <a:t>Realisation</a:t>
            </a:r>
          </a:p>
        </p:txBody>
      </p:sp>
      <p:sp>
        <p:nvSpPr>
          <p:cNvPr id="18" name="TextBox 17"/>
          <p:cNvSpPr txBox="1"/>
          <p:nvPr/>
        </p:nvSpPr>
        <p:spPr>
          <a:xfrm>
            <a:off x="3584448" y="2926080"/>
            <a:ext cx="1975104" cy="1033271"/>
          </a:xfrm>
          <a:prstGeom prst="rect">
            <a:avLst/>
          </a:prstGeom>
          <a:noFill/>
        </p:spPr>
        <p:txBody>
          <a:bodyPr wrap="square" lIns="0" rIns="0" tIns="0" bIns="0" anchor="t">
            <a:noAutofit/>
          </a:bodyPr>
          <a:lstStyle/>
          <a:p>
            <a:pPr algn="l">
              <a:spcBef>
                <a:spcPts val="0"/>
              </a:spcBef>
              <a:spcAft>
                <a:spcPts val="0"/>
              </a:spcAft>
            </a:pPr>
            <a:r>
              <a:rPr sz="1200" b="0" i="1">
                <a:solidFill>
                  <a:srgbClr val="5A6377"/>
                </a:solidFill>
                <a:latin typeface="Calibri"/>
              </a:rPr>
              <a:t>Anubhav</a:t>
            </a:r>
            <a:r>
              <a:rPr sz="1200" b="0" i="0">
                <a:solidFill>
                  <a:srgbClr val="5A6377"/>
                </a:solidFill>
                <a:latin typeface="Calibri"/>
              </a:rPr>
              <a:t>: the point of satisfaction in that understanding. It adds no new object.</a:t>
            </a:r>
          </a:p>
        </p:txBody>
      </p:sp>
      <p:sp>
        <p:nvSpPr>
          <p:cNvPr id="19" name="TextBox 18"/>
          <p:cNvSpPr txBox="1"/>
          <p:nvPr/>
        </p:nvSpPr>
        <p:spPr>
          <a:xfrm>
            <a:off x="5760720" y="3035808"/>
            <a:ext cx="365760" cy="457200"/>
          </a:xfrm>
          <a:prstGeom prst="rect">
            <a:avLst/>
          </a:prstGeom>
          <a:noFill/>
        </p:spPr>
        <p:txBody>
          <a:bodyPr wrap="square" lIns="0" rIns="0" tIns="0" bIns="0" anchor="ctr">
            <a:noAutofit/>
          </a:bodyPr>
          <a:lstStyle/>
          <a:p>
            <a:pPr algn="ctr">
              <a:spcBef>
                <a:spcPts val="0"/>
              </a:spcBef>
              <a:spcAft>
                <a:spcPts val="0"/>
              </a:spcAft>
            </a:pPr>
            <a:r>
              <a:rPr sz="2200" b="1" i="0">
                <a:solidFill>
                  <a:srgbClr val="C9821E"/>
                </a:solidFill>
                <a:latin typeface="Calibri"/>
              </a:rPr>
              <a:t>→</a:t>
            </a:r>
          </a:p>
        </p:txBody>
      </p:sp>
      <p:sp>
        <p:nvSpPr>
          <p:cNvPr id="20" name="Rounded Rectangle 19"/>
          <p:cNvSpPr/>
          <p:nvPr/>
        </p:nvSpPr>
        <p:spPr>
          <a:xfrm>
            <a:off x="6126480" y="2468880"/>
            <a:ext cx="2377440" cy="1600200"/>
          </a:xfrm>
          <a:prstGeom prst="roundRect">
            <a:avLst>
              <a:gd name="adj" fmla="val 8000"/>
            </a:avLst>
          </a:prstGeom>
          <a:solidFill>
            <a:srgbClr val="EEF1F8"/>
          </a:solidFill>
          <a:ln>
            <a:noFill/>
          </a:ln>
        </p:spPr>
        <p:txBody>
          <a:bodyPr rtlCol="0" anchor="ctr"/>
          <a:lstStyle/>
          <a:p>
            <a:pPr algn="ctr"/>
          </a:p>
        </p:txBody>
      </p:sp>
      <p:sp>
        <p:nvSpPr>
          <p:cNvPr id="21" name="TextBox 20"/>
          <p:cNvSpPr txBox="1"/>
          <p:nvPr/>
        </p:nvSpPr>
        <p:spPr>
          <a:xfrm>
            <a:off x="6327648" y="2578608"/>
            <a:ext cx="1975104" cy="292608"/>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Authenticity</a:t>
            </a:r>
          </a:p>
        </p:txBody>
      </p:sp>
      <p:sp>
        <p:nvSpPr>
          <p:cNvPr id="22" name="TextBox 21"/>
          <p:cNvSpPr txBox="1"/>
          <p:nvPr/>
        </p:nvSpPr>
        <p:spPr>
          <a:xfrm>
            <a:off x="6327648" y="2926080"/>
            <a:ext cx="1975104" cy="1033271"/>
          </a:xfrm>
          <a:prstGeom prst="rect">
            <a:avLst/>
          </a:prstGeom>
          <a:noFill/>
        </p:spPr>
        <p:txBody>
          <a:bodyPr wrap="square" lIns="0" rIns="0" tIns="0" bIns="0" anchor="t">
            <a:noAutofit/>
          </a:bodyPr>
          <a:lstStyle/>
          <a:p>
            <a:pPr algn="l">
              <a:spcBef>
                <a:spcPts val="0"/>
              </a:spcBef>
              <a:spcAft>
                <a:spcPts val="0"/>
              </a:spcAft>
            </a:pPr>
            <a:r>
              <a:rPr sz="1200" b="0" i="1">
                <a:solidFill>
                  <a:srgbClr val="5A6377"/>
                </a:solidFill>
                <a:latin typeface="Calibri"/>
              </a:rPr>
              <a:t>Pramanikta</a:t>
            </a:r>
            <a:r>
              <a:rPr sz="1200" b="0" i="0">
                <a:solidFill>
                  <a:srgbClr val="5A6377"/>
                </a:solidFill>
                <a:latin typeface="Calibri"/>
              </a:rPr>
              <a:t>: its expression in actions and behaviour, and in systems of living.</a:t>
            </a:r>
          </a:p>
        </p:txBody>
      </p:sp>
      <p:sp>
        <p:nvSpPr>
          <p:cNvPr id="23" name="TextBox 22"/>
          <p:cNvSpPr txBox="1"/>
          <p:nvPr/>
        </p:nvSpPr>
        <p:spPr>
          <a:xfrm>
            <a:off x="640080" y="4206240"/>
            <a:ext cx="7955279" cy="384048"/>
          </a:xfrm>
          <a:prstGeom prst="rect">
            <a:avLst/>
          </a:prstGeom>
          <a:noFill/>
        </p:spPr>
        <p:txBody>
          <a:bodyPr wrap="square" lIns="0" rIns="0" tIns="0" bIns="0" anchor="ctr">
            <a:noAutofit/>
          </a:bodyPr>
          <a:lstStyle/>
          <a:p>
            <a:pPr algn="l">
              <a:spcBef>
                <a:spcPts val="0"/>
              </a:spcBef>
              <a:spcAft>
                <a:spcPts val="0"/>
              </a:spcAft>
            </a:pPr>
            <a:r>
              <a:rPr sz="1200" b="0" i="1">
                <a:solidFill>
                  <a:srgbClr val="1E2447"/>
                </a:solidFill>
                <a:latin typeface="Calibri"/>
              </a:rPr>
              <a:t>Awakening is knowing, believing, recognising, and fulfilling jeevan and existence as they are (AVD p. 259).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ONE  ·  §1.11  ·  THE LADDER OF REALISATION</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Four Stages of One Process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12, 33, 99, 126  ·  JV p. 62  ·  AVD p. 224  ·  AnalyticMadhyasthDarshan.org  ·  8 / 28</a:t>
            </a:r>
          </a:p>
        </p:txBody>
      </p:sp>
      <p:sp>
        <p:nvSpPr>
          <p:cNvPr id="8" name="TextBox 7"/>
          <p:cNvSpPr txBox="1"/>
          <p:nvPr/>
        </p:nvSpPr>
        <p:spPr>
          <a:xfrm>
            <a:off x="640080" y="1097280"/>
            <a:ext cx="2468880" cy="201168"/>
          </a:xfrm>
          <a:prstGeom prst="rect">
            <a:avLst/>
          </a:prstGeom>
          <a:noFill/>
        </p:spPr>
        <p:txBody>
          <a:bodyPr wrap="square" lIns="0" rIns="0" tIns="0" bIns="0" anchor="ctr">
            <a:noAutofit/>
          </a:bodyPr>
          <a:lstStyle/>
          <a:p>
            <a:pPr algn="l">
              <a:spcBef>
                <a:spcPts val="0"/>
              </a:spcBef>
              <a:spcAft>
                <a:spcPts val="0"/>
              </a:spcAft>
            </a:pPr>
            <a:r>
              <a:rPr sz="950" b="1" i="0">
                <a:solidFill>
                  <a:srgbClr val="5A6377"/>
                </a:solidFill>
                <a:latin typeface="Calibri"/>
              </a:rPr>
              <a:t>PREPARATION</a:t>
            </a:r>
          </a:p>
        </p:txBody>
      </p:sp>
      <p:sp>
        <p:nvSpPr>
          <p:cNvPr id="9" name="TextBox 8"/>
          <p:cNvSpPr txBox="1"/>
          <p:nvPr/>
        </p:nvSpPr>
        <p:spPr>
          <a:xfrm>
            <a:off x="3337560" y="1097280"/>
            <a:ext cx="5166360" cy="201168"/>
          </a:xfrm>
          <a:prstGeom prst="rect">
            <a:avLst/>
          </a:prstGeom>
          <a:noFill/>
        </p:spPr>
        <p:txBody>
          <a:bodyPr wrap="square" lIns="0" rIns="0" tIns="0" bIns="0" anchor="ctr">
            <a:noAutofit/>
          </a:bodyPr>
          <a:lstStyle/>
          <a:p>
            <a:pPr algn="l">
              <a:spcBef>
                <a:spcPts val="0"/>
              </a:spcBef>
              <a:spcAft>
                <a:spcPts val="0"/>
              </a:spcAft>
            </a:pPr>
            <a:r>
              <a:rPr sz="950" b="1" i="0">
                <a:solidFill>
                  <a:srgbClr val="9A6414"/>
                </a:solidFill>
                <a:latin typeface="Calibri"/>
              </a:rPr>
              <a:t>THE FOUR STAGES</a:t>
            </a:r>
          </a:p>
        </p:txBody>
      </p:sp>
      <p:sp>
        <p:nvSpPr>
          <p:cNvPr id="10" name="Rounded Rectangle 9"/>
          <p:cNvSpPr/>
          <p:nvPr/>
        </p:nvSpPr>
        <p:spPr>
          <a:xfrm>
            <a:off x="640080" y="1344168"/>
            <a:ext cx="1120140" cy="658368"/>
          </a:xfrm>
          <a:prstGeom prst="roundRect">
            <a:avLst>
              <a:gd name="adj" fmla="val 12000"/>
            </a:avLst>
          </a:prstGeom>
          <a:solidFill>
            <a:srgbClr val="EEF1F8"/>
          </a:solidFill>
          <a:ln>
            <a:noFill/>
          </a:ln>
        </p:spPr>
        <p:txBody>
          <a:bodyPr rtlCol="0" anchor="ctr"/>
          <a:lstStyle/>
          <a:p>
            <a:pPr algn="ctr"/>
          </a:p>
        </p:txBody>
      </p:sp>
      <p:sp>
        <p:nvSpPr>
          <p:cNvPr id="11" name="TextBox 10"/>
          <p:cNvSpPr txBox="1"/>
          <p:nvPr/>
        </p:nvSpPr>
        <p:spPr>
          <a:xfrm>
            <a:off x="685800" y="1344168"/>
            <a:ext cx="1028700" cy="658368"/>
          </a:xfrm>
          <a:prstGeom prst="rect">
            <a:avLst/>
          </a:prstGeom>
          <a:noFill/>
        </p:spPr>
        <p:txBody>
          <a:bodyPr wrap="square" lIns="0" rIns="0" tIns="0" bIns="0" anchor="ctr">
            <a:noAutofit/>
          </a:bodyPr>
          <a:lstStyle/>
          <a:p>
            <a:pPr algn="ctr">
              <a:spcBef>
                <a:spcPts val="0"/>
              </a:spcBef>
              <a:spcAft>
                <a:spcPts val="0"/>
              </a:spcAft>
            </a:pPr>
            <a:r>
              <a:rPr sz="1250" b="1" i="0">
                <a:solidFill>
                  <a:srgbClr val="1E2447"/>
                </a:solidFill>
                <a:latin typeface="Cambria"/>
              </a:rPr>
              <a:t>Manan</a:t>
            </a:r>
          </a:p>
          <a:p>
            <a:pPr algn="ctr">
              <a:spcBef>
                <a:spcPts val="0"/>
              </a:spcBef>
              <a:spcAft>
                <a:spcPts val="0"/>
              </a:spcAft>
            </a:pPr>
            <a:r>
              <a:rPr sz="1000" b="0" i="1">
                <a:solidFill>
                  <a:srgbClr val="5A6377"/>
                </a:solidFill>
                <a:latin typeface="Calibri"/>
              </a:rPr>
              <a:t>in mun</a:t>
            </a:r>
          </a:p>
        </p:txBody>
      </p:sp>
      <p:sp>
        <p:nvSpPr>
          <p:cNvPr id="12" name="TextBox 11"/>
          <p:cNvSpPr txBox="1"/>
          <p:nvPr/>
        </p:nvSpPr>
        <p:spPr>
          <a:xfrm>
            <a:off x="640080" y="2075688"/>
            <a:ext cx="1120140" cy="502920"/>
          </a:xfrm>
          <a:prstGeom prst="rect">
            <a:avLst/>
          </a:prstGeom>
          <a:noFill/>
        </p:spPr>
        <p:txBody>
          <a:bodyPr wrap="square" lIns="0" rIns="0" tIns="0" bIns="0" anchor="t">
            <a:noAutofit/>
          </a:bodyPr>
          <a:lstStyle/>
          <a:p>
            <a:pPr algn="ctr">
              <a:spcBef>
                <a:spcPts val="0"/>
              </a:spcBef>
              <a:spcAft>
                <a:spcPts val="0"/>
              </a:spcAft>
            </a:pPr>
            <a:r>
              <a:rPr sz="1000" b="0" i="0">
                <a:solidFill>
                  <a:srgbClr val="5A6377"/>
                </a:solidFill>
                <a:latin typeface="Calibri"/>
              </a:rPr>
              <a:t>ratiocination</a:t>
            </a:r>
          </a:p>
        </p:txBody>
      </p:sp>
      <p:sp>
        <p:nvSpPr>
          <p:cNvPr id="13" name="TextBox 12"/>
          <p:cNvSpPr txBox="1"/>
          <p:nvPr/>
        </p:nvSpPr>
        <p:spPr>
          <a:xfrm>
            <a:off x="1760220" y="1444752"/>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4" name="Rounded Rectangle 13"/>
          <p:cNvSpPr/>
          <p:nvPr/>
        </p:nvSpPr>
        <p:spPr>
          <a:xfrm>
            <a:off x="1988819" y="1344168"/>
            <a:ext cx="1120140" cy="658368"/>
          </a:xfrm>
          <a:prstGeom prst="roundRect">
            <a:avLst>
              <a:gd name="adj" fmla="val 12000"/>
            </a:avLst>
          </a:prstGeom>
          <a:solidFill>
            <a:srgbClr val="EEF1F8"/>
          </a:solidFill>
          <a:ln>
            <a:noFill/>
          </a:ln>
        </p:spPr>
        <p:txBody>
          <a:bodyPr rtlCol="0" anchor="ctr"/>
          <a:lstStyle/>
          <a:p>
            <a:pPr algn="ctr"/>
          </a:p>
        </p:txBody>
      </p:sp>
      <p:sp>
        <p:nvSpPr>
          <p:cNvPr id="15" name="TextBox 14"/>
          <p:cNvSpPr txBox="1"/>
          <p:nvPr/>
        </p:nvSpPr>
        <p:spPr>
          <a:xfrm>
            <a:off x="2034539" y="1344168"/>
            <a:ext cx="1028700" cy="658368"/>
          </a:xfrm>
          <a:prstGeom prst="rect">
            <a:avLst/>
          </a:prstGeom>
          <a:noFill/>
        </p:spPr>
        <p:txBody>
          <a:bodyPr wrap="square" lIns="0" rIns="0" tIns="0" bIns="0" anchor="ctr">
            <a:noAutofit/>
          </a:bodyPr>
          <a:lstStyle/>
          <a:p>
            <a:pPr algn="ctr">
              <a:spcBef>
                <a:spcPts val="0"/>
              </a:spcBef>
              <a:spcAft>
                <a:spcPts val="0"/>
              </a:spcAft>
            </a:pPr>
            <a:r>
              <a:rPr sz="1250" b="1" i="0">
                <a:solidFill>
                  <a:srgbClr val="1E2447"/>
                </a:solidFill>
                <a:latin typeface="Cambria"/>
              </a:rPr>
              <a:t>Tulan</a:t>
            </a:r>
          </a:p>
          <a:p>
            <a:pPr algn="ctr">
              <a:spcBef>
                <a:spcPts val="0"/>
              </a:spcBef>
              <a:spcAft>
                <a:spcPts val="0"/>
              </a:spcAft>
            </a:pPr>
            <a:r>
              <a:rPr sz="1000" b="0" i="1">
                <a:solidFill>
                  <a:srgbClr val="5A6377"/>
                </a:solidFill>
                <a:latin typeface="Calibri"/>
              </a:rPr>
              <a:t>in vritti</a:t>
            </a:r>
          </a:p>
        </p:txBody>
      </p:sp>
      <p:sp>
        <p:nvSpPr>
          <p:cNvPr id="16" name="TextBox 15"/>
          <p:cNvSpPr txBox="1"/>
          <p:nvPr/>
        </p:nvSpPr>
        <p:spPr>
          <a:xfrm>
            <a:off x="1988819" y="2075688"/>
            <a:ext cx="1120140" cy="502920"/>
          </a:xfrm>
          <a:prstGeom prst="rect">
            <a:avLst/>
          </a:prstGeom>
          <a:noFill/>
        </p:spPr>
        <p:txBody>
          <a:bodyPr wrap="square" lIns="0" rIns="0" tIns="0" bIns="0" anchor="t">
            <a:noAutofit/>
          </a:bodyPr>
          <a:lstStyle/>
          <a:p>
            <a:pPr algn="ctr">
              <a:spcBef>
                <a:spcPts val="0"/>
              </a:spcBef>
              <a:spcAft>
                <a:spcPts val="0"/>
              </a:spcAft>
            </a:pPr>
            <a:r>
              <a:rPr sz="1000" b="0" i="0">
                <a:solidFill>
                  <a:srgbClr val="5A6377"/>
                </a:solidFill>
                <a:latin typeface="Calibri"/>
              </a:rPr>
              <a:t>deliberation</a:t>
            </a:r>
          </a:p>
        </p:txBody>
      </p:sp>
      <p:sp>
        <p:nvSpPr>
          <p:cNvPr id="17" name="TextBox 16"/>
          <p:cNvSpPr txBox="1"/>
          <p:nvPr/>
        </p:nvSpPr>
        <p:spPr>
          <a:xfrm>
            <a:off x="3108960" y="1444752"/>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8" name="Rounded Rectangle 17"/>
          <p:cNvSpPr/>
          <p:nvPr/>
        </p:nvSpPr>
        <p:spPr>
          <a:xfrm>
            <a:off x="3337560" y="1344168"/>
            <a:ext cx="1120140" cy="658368"/>
          </a:xfrm>
          <a:prstGeom prst="roundRect">
            <a:avLst>
              <a:gd name="adj" fmla="val 12000"/>
            </a:avLst>
          </a:prstGeom>
          <a:solidFill>
            <a:srgbClr val="1E2447"/>
          </a:solidFill>
          <a:ln>
            <a:noFill/>
          </a:ln>
        </p:spPr>
        <p:txBody>
          <a:bodyPr rtlCol="0" anchor="ctr"/>
          <a:lstStyle/>
          <a:p>
            <a:pPr algn="ctr"/>
          </a:p>
        </p:txBody>
      </p:sp>
      <p:sp>
        <p:nvSpPr>
          <p:cNvPr id="19" name="TextBox 18"/>
          <p:cNvSpPr txBox="1"/>
          <p:nvPr/>
        </p:nvSpPr>
        <p:spPr>
          <a:xfrm>
            <a:off x="3383280" y="1344168"/>
            <a:ext cx="1028700" cy="658368"/>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Sakshatkar</a:t>
            </a:r>
          </a:p>
          <a:p>
            <a:pPr algn="ctr">
              <a:spcBef>
                <a:spcPts val="0"/>
              </a:spcBef>
              <a:spcAft>
                <a:spcPts val="0"/>
              </a:spcAft>
            </a:pPr>
            <a:r>
              <a:rPr sz="1000" b="0" i="1">
                <a:solidFill>
                  <a:srgbClr val="C9D4EF"/>
                </a:solidFill>
                <a:latin typeface="Calibri"/>
              </a:rPr>
              <a:t>in chitta</a:t>
            </a:r>
          </a:p>
        </p:txBody>
      </p:sp>
      <p:sp>
        <p:nvSpPr>
          <p:cNvPr id="20" name="TextBox 19"/>
          <p:cNvSpPr txBox="1"/>
          <p:nvPr/>
        </p:nvSpPr>
        <p:spPr>
          <a:xfrm>
            <a:off x="3337560" y="2075688"/>
            <a:ext cx="1120140" cy="502920"/>
          </a:xfrm>
          <a:prstGeom prst="rect">
            <a:avLst/>
          </a:prstGeom>
          <a:noFill/>
        </p:spPr>
        <p:txBody>
          <a:bodyPr wrap="square" lIns="0" rIns="0" tIns="0" bIns="0" anchor="t">
            <a:noAutofit/>
          </a:bodyPr>
          <a:lstStyle/>
          <a:p>
            <a:pPr algn="ctr">
              <a:spcBef>
                <a:spcPts val="0"/>
              </a:spcBef>
              <a:spcAft>
                <a:spcPts val="0"/>
              </a:spcAft>
            </a:pPr>
            <a:r>
              <a:rPr sz="1000" b="0" i="0">
                <a:solidFill>
                  <a:srgbClr val="5A6377"/>
                </a:solidFill>
                <a:latin typeface="Calibri"/>
              </a:rPr>
              <a:t>direct recognition</a:t>
            </a:r>
          </a:p>
        </p:txBody>
      </p:sp>
      <p:sp>
        <p:nvSpPr>
          <p:cNvPr id="21" name="TextBox 20"/>
          <p:cNvSpPr txBox="1"/>
          <p:nvPr/>
        </p:nvSpPr>
        <p:spPr>
          <a:xfrm>
            <a:off x="4457700" y="1444752"/>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22" name="Rounded Rectangle 21"/>
          <p:cNvSpPr/>
          <p:nvPr/>
        </p:nvSpPr>
        <p:spPr>
          <a:xfrm>
            <a:off x="4686300" y="1344168"/>
            <a:ext cx="1120140" cy="658368"/>
          </a:xfrm>
          <a:prstGeom prst="roundRect">
            <a:avLst>
              <a:gd name="adj" fmla="val 12000"/>
            </a:avLst>
          </a:prstGeom>
          <a:solidFill>
            <a:srgbClr val="1E2447"/>
          </a:solidFill>
          <a:ln>
            <a:noFill/>
          </a:ln>
        </p:spPr>
        <p:txBody>
          <a:bodyPr rtlCol="0" anchor="ctr"/>
          <a:lstStyle/>
          <a:p>
            <a:pPr algn="ctr"/>
          </a:p>
        </p:txBody>
      </p:sp>
      <p:sp>
        <p:nvSpPr>
          <p:cNvPr id="23" name="TextBox 22"/>
          <p:cNvSpPr txBox="1"/>
          <p:nvPr/>
        </p:nvSpPr>
        <p:spPr>
          <a:xfrm>
            <a:off x="4732020" y="1344168"/>
            <a:ext cx="1028700" cy="658368"/>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Bodh</a:t>
            </a:r>
          </a:p>
          <a:p>
            <a:pPr algn="ctr">
              <a:spcBef>
                <a:spcPts val="0"/>
              </a:spcBef>
              <a:spcAft>
                <a:spcPts val="0"/>
              </a:spcAft>
            </a:pPr>
            <a:r>
              <a:rPr sz="1000" b="0" i="1">
                <a:solidFill>
                  <a:srgbClr val="C9D4EF"/>
                </a:solidFill>
                <a:latin typeface="Calibri"/>
              </a:rPr>
              <a:t>in buddhi</a:t>
            </a:r>
          </a:p>
        </p:txBody>
      </p:sp>
      <p:sp>
        <p:nvSpPr>
          <p:cNvPr id="24" name="TextBox 23"/>
          <p:cNvSpPr txBox="1"/>
          <p:nvPr/>
        </p:nvSpPr>
        <p:spPr>
          <a:xfrm>
            <a:off x="4686300" y="2075688"/>
            <a:ext cx="1120140" cy="502920"/>
          </a:xfrm>
          <a:prstGeom prst="rect">
            <a:avLst/>
          </a:prstGeom>
          <a:noFill/>
        </p:spPr>
        <p:txBody>
          <a:bodyPr wrap="square" lIns="0" rIns="0" tIns="0" bIns="0" anchor="t">
            <a:noAutofit/>
          </a:bodyPr>
          <a:lstStyle/>
          <a:p>
            <a:pPr algn="ctr">
              <a:spcBef>
                <a:spcPts val="0"/>
              </a:spcBef>
              <a:spcAft>
                <a:spcPts val="0"/>
              </a:spcAft>
            </a:pPr>
            <a:r>
              <a:rPr sz="1000" b="0" i="0">
                <a:solidFill>
                  <a:srgbClr val="5A6377"/>
                </a:solidFill>
                <a:latin typeface="Calibri"/>
              </a:rPr>
              <a:t>enlightenment and acceptance</a:t>
            </a:r>
          </a:p>
        </p:txBody>
      </p:sp>
      <p:sp>
        <p:nvSpPr>
          <p:cNvPr id="25" name="TextBox 24"/>
          <p:cNvSpPr txBox="1"/>
          <p:nvPr/>
        </p:nvSpPr>
        <p:spPr>
          <a:xfrm>
            <a:off x="5806440" y="1444752"/>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26" name="Rounded Rectangle 25"/>
          <p:cNvSpPr/>
          <p:nvPr/>
        </p:nvSpPr>
        <p:spPr>
          <a:xfrm>
            <a:off x="6035040" y="1344168"/>
            <a:ext cx="1120140" cy="658368"/>
          </a:xfrm>
          <a:prstGeom prst="roundRect">
            <a:avLst>
              <a:gd name="adj" fmla="val 12000"/>
            </a:avLst>
          </a:prstGeom>
          <a:solidFill>
            <a:srgbClr val="9A6414"/>
          </a:solidFill>
          <a:ln>
            <a:noFill/>
          </a:ln>
        </p:spPr>
        <p:txBody>
          <a:bodyPr rtlCol="0" anchor="ctr"/>
          <a:lstStyle/>
          <a:p>
            <a:pPr algn="ctr"/>
          </a:p>
        </p:txBody>
      </p:sp>
      <p:sp>
        <p:nvSpPr>
          <p:cNvPr id="27" name="TextBox 26"/>
          <p:cNvSpPr txBox="1"/>
          <p:nvPr/>
        </p:nvSpPr>
        <p:spPr>
          <a:xfrm>
            <a:off x="6080760" y="1344168"/>
            <a:ext cx="1028700" cy="658368"/>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Anubhav</a:t>
            </a:r>
          </a:p>
          <a:p>
            <a:pPr algn="ctr">
              <a:spcBef>
                <a:spcPts val="0"/>
              </a:spcBef>
              <a:spcAft>
                <a:spcPts val="0"/>
              </a:spcAft>
            </a:pPr>
            <a:r>
              <a:rPr sz="1000" b="0" i="1">
                <a:solidFill>
                  <a:srgbClr val="F3E3C6"/>
                </a:solidFill>
                <a:latin typeface="Calibri"/>
              </a:rPr>
              <a:t>in atma</a:t>
            </a:r>
          </a:p>
        </p:txBody>
      </p:sp>
      <p:sp>
        <p:nvSpPr>
          <p:cNvPr id="28" name="TextBox 27"/>
          <p:cNvSpPr txBox="1"/>
          <p:nvPr/>
        </p:nvSpPr>
        <p:spPr>
          <a:xfrm>
            <a:off x="6035040" y="2075688"/>
            <a:ext cx="1120140" cy="502920"/>
          </a:xfrm>
          <a:prstGeom prst="rect">
            <a:avLst/>
          </a:prstGeom>
          <a:noFill/>
        </p:spPr>
        <p:txBody>
          <a:bodyPr wrap="square" lIns="0" rIns="0" tIns="0" bIns="0" anchor="t">
            <a:noAutofit/>
          </a:bodyPr>
          <a:lstStyle/>
          <a:p>
            <a:pPr algn="ctr">
              <a:spcBef>
                <a:spcPts val="0"/>
              </a:spcBef>
              <a:spcAft>
                <a:spcPts val="0"/>
              </a:spcAft>
            </a:pPr>
            <a:r>
              <a:rPr sz="1000" b="0" i="0">
                <a:solidFill>
                  <a:srgbClr val="5A6377"/>
                </a:solidFill>
                <a:latin typeface="Calibri"/>
              </a:rPr>
              <a:t>realisation</a:t>
            </a:r>
          </a:p>
        </p:txBody>
      </p:sp>
      <p:sp>
        <p:nvSpPr>
          <p:cNvPr id="29" name="TextBox 28"/>
          <p:cNvSpPr txBox="1"/>
          <p:nvPr/>
        </p:nvSpPr>
        <p:spPr>
          <a:xfrm>
            <a:off x="7155180" y="1444752"/>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30" name="Rounded Rectangle 29"/>
          <p:cNvSpPr/>
          <p:nvPr/>
        </p:nvSpPr>
        <p:spPr>
          <a:xfrm>
            <a:off x="7383779" y="1344168"/>
            <a:ext cx="1120140" cy="658368"/>
          </a:xfrm>
          <a:prstGeom prst="roundRect">
            <a:avLst>
              <a:gd name="adj" fmla="val 12000"/>
            </a:avLst>
          </a:prstGeom>
          <a:solidFill>
            <a:srgbClr val="1E2447"/>
          </a:solidFill>
          <a:ln>
            <a:noFill/>
          </a:ln>
        </p:spPr>
        <p:txBody>
          <a:bodyPr rtlCol="0" anchor="ctr"/>
          <a:lstStyle/>
          <a:p>
            <a:pPr algn="ctr"/>
          </a:p>
        </p:txBody>
      </p:sp>
      <p:sp>
        <p:nvSpPr>
          <p:cNvPr id="31" name="TextBox 30"/>
          <p:cNvSpPr txBox="1"/>
          <p:nvPr/>
        </p:nvSpPr>
        <p:spPr>
          <a:xfrm>
            <a:off x="7429500" y="1344168"/>
            <a:ext cx="1028700" cy="658368"/>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Praman</a:t>
            </a:r>
          </a:p>
          <a:p>
            <a:pPr algn="ctr">
              <a:spcBef>
                <a:spcPts val="0"/>
              </a:spcBef>
              <a:spcAft>
                <a:spcPts val="0"/>
              </a:spcAft>
            </a:pPr>
            <a:r>
              <a:rPr sz="1000" b="0" i="1">
                <a:solidFill>
                  <a:srgbClr val="C9D4EF"/>
                </a:solidFill>
                <a:latin typeface="Calibri"/>
              </a:rPr>
              <a:t>in living</a:t>
            </a:r>
          </a:p>
        </p:txBody>
      </p:sp>
      <p:sp>
        <p:nvSpPr>
          <p:cNvPr id="32" name="TextBox 31"/>
          <p:cNvSpPr txBox="1"/>
          <p:nvPr/>
        </p:nvSpPr>
        <p:spPr>
          <a:xfrm>
            <a:off x="7383779" y="2075688"/>
            <a:ext cx="1120140" cy="502920"/>
          </a:xfrm>
          <a:prstGeom prst="rect">
            <a:avLst/>
          </a:prstGeom>
          <a:noFill/>
        </p:spPr>
        <p:txBody>
          <a:bodyPr wrap="square" lIns="0" rIns="0" tIns="0" bIns="0" anchor="t">
            <a:noAutofit/>
          </a:bodyPr>
          <a:lstStyle/>
          <a:p>
            <a:pPr algn="ctr">
              <a:spcBef>
                <a:spcPts val="0"/>
              </a:spcBef>
              <a:spcAft>
                <a:spcPts val="0"/>
              </a:spcAft>
            </a:pPr>
            <a:r>
              <a:rPr sz="1000" b="0" i="0">
                <a:solidFill>
                  <a:srgbClr val="5A6377"/>
                </a:solidFill>
                <a:latin typeface="Calibri"/>
              </a:rPr>
              <a:t>evidence in conduct and tradition</a:t>
            </a:r>
          </a:p>
        </p:txBody>
      </p:sp>
      <p:sp>
        <p:nvSpPr>
          <p:cNvPr id="33" name="Rounded Rectangle 32"/>
          <p:cNvSpPr/>
          <p:nvPr/>
        </p:nvSpPr>
        <p:spPr>
          <a:xfrm>
            <a:off x="640080" y="2724912"/>
            <a:ext cx="3840480" cy="1389888"/>
          </a:xfrm>
          <a:prstGeom prst="roundRect">
            <a:avLst>
              <a:gd name="adj" fmla="val 8000"/>
            </a:avLst>
          </a:prstGeom>
          <a:solidFill>
            <a:srgbClr val="EEF1F8"/>
          </a:solidFill>
          <a:ln>
            <a:noFill/>
          </a:ln>
        </p:spPr>
        <p:txBody>
          <a:bodyPr rtlCol="0" anchor="ctr"/>
          <a:lstStyle/>
          <a:p>
            <a:pPr algn="ctr"/>
          </a:p>
        </p:txBody>
      </p:sp>
      <p:sp>
        <p:nvSpPr>
          <p:cNvPr id="34" name="TextBox 33"/>
          <p:cNvSpPr txBox="1"/>
          <p:nvPr/>
        </p:nvSpPr>
        <p:spPr>
          <a:xfrm>
            <a:off x="841247" y="2834640"/>
            <a:ext cx="3438144" cy="292608"/>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Study reaches atma through the faculties</a:t>
            </a:r>
          </a:p>
        </p:txBody>
      </p:sp>
      <p:sp>
        <p:nvSpPr>
          <p:cNvPr id="35" name="TextBox 34"/>
          <p:cNvSpPr txBox="1"/>
          <p:nvPr/>
        </p:nvSpPr>
        <p:spPr>
          <a:xfrm>
            <a:off x="841247" y="3182112"/>
            <a:ext cx="3438144" cy="82296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Affirming coexistence through study is </a:t>
            </a:r>
            <a:r>
              <a:rPr sz="1200" b="0" i="1">
                <a:solidFill>
                  <a:srgbClr val="5A6377"/>
                </a:solidFill>
                <a:latin typeface="Calibri"/>
              </a:rPr>
              <a:t>manan</a:t>
            </a:r>
            <a:r>
              <a:rPr sz="1200" b="0" i="0">
                <a:solidFill>
                  <a:srgbClr val="5A6377"/>
                </a:solidFill>
                <a:latin typeface="Calibri"/>
              </a:rPr>
              <a:t> in </a:t>
            </a:r>
            <a:r>
              <a:rPr sz="1200" b="0" i="1">
                <a:solidFill>
                  <a:srgbClr val="5A6377"/>
                </a:solidFill>
                <a:latin typeface="Calibri"/>
              </a:rPr>
              <a:t>mun</a:t>
            </a:r>
            <a:r>
              <a:rPr sz="1200" b="0" i="0">
                <a:solidFill>
                  <a:srgbClr val="5A6377"/>
                </a:solidFill>
                <a:latin typeface="Calibri"/>
              </a:rPr>
              <a:t>, </a:t>
            </a:r>
            <a:r>
              <a:rPr sz="1200" b="0" i="1">
                <a:solidFill>
                  <a:srgbClr val="5A6377"/>
                </a:solidFill>
                <a:latin typeface="Calibri"/>
              </a:rPr>
              <a:t>tulan</a:t>
            </a:r>
            <a:r>
              <a:rPr sz="1200" b="0" i="0">
                <a:solidFill>
                  <a:srgbClr val="5A6377"/>
                </a:solidFill>
                <a:latin typeface="Calibri"/>
              </a:rPr>
              <a:t> in </a:t>
            </a:r>
            <a:r>
              <a:rPr sz="1200" b="0" i="1">
                <a:solidFill>
                  <a:srgbClr val="5A6377"/>
                </a:solidFill>
                <a:latin typeface="Calibri"/>
              </a:rPr>
              <a:t>vritti</a:t>
            </a:r>
            <a:r>
              <a:rPr sz="1200" b="0" i="0">
                <a:solidFill>
                  <a:srgbClr val="5A6377"/>
                </a:solidFill>
                <a:latin typeface="Calibri"/>
              </a:rPr>
              <a:t>, </a:t>
            </a:r>
            <a:r>
              <a:rPr sz="1200" b="0" i="1">
                <a:solidFill>
                  <a:srgbClr val="5A6377"/>
                </a:solidFill>
                <a:latin typeface="Calibri"/>
              </a:rPr>
              <a:t>sakshatkar</a:t>
            </a:r>
            <a:r>
              <a:rPr sz="1200" b="0" i="0">
                <a:solidFill>
                  <a:srgbClr val="5A6377"/>
                </a:solidFill>
                <a:latin typeface="Calibri"/>
              </a:rPr>
              <a:t> in </a:t>
            </a:r>
            <a:r>
              <a:rPr sz="1200" b="0" i="1">
                <a:solidFill>
                  <a:srgbClr val="5A6377"/>
                </a:solidFill>
                <a:latin typeface="Calibri"/>
              </a:rPr>
              <a:t>chitta</a:t>
            </a:r>
            <a:r>
              <a:rPr sz="1200" b="0" i="0">
                <a:solidFill>
                  <a:srgbClr val="5A6377"/>
                </a:solidFill>
                <a:latin typeface="Calibri"/>
              </a:rPr>
              <a:t>, and </a:t>
            </a:r>
            <a:r>
              <a:rPr sz="1200" b="0" i="1">
                <a:solidFill>
                  <a:srgbClr val="5A6377"/>
                </a:solidFill>
                <a:latin typeface="Calibri"/>
              </a:rPr>
              <a:t>bodh</a:t>
            </a:r>
            <a:r>
              <a:rPr sz="1200" b="0" i="0">
                <a:solidFill>
                  <a:srgbClr val="5A6377"/>
                </a:solidFill>
                <a:latin typeface="Calibri"/>
              </a:rPr>
              <a:t> in </a:t>
            </a:r>
            <a:r>
              <a:rPr sz="1200" b="0" i="1">
                <a:solidFill>
                  <a:srgbClr val="5A6377"/>
                </a:solidFill>
                <a:latin typeface="Calibri"/>
              </a:rPr>
              <a:t>buddhi</a:t>
            </a:r>
            <a:r>
              <a:rPr sz="1200" b="0" i="0">
                <a:solidFill>
                  <a:srgbClr val="5A6377"/>
                </a:solidFill>
                <a:latin typeface="Calibri"/>
              </a:rPr>
              <a:t> (MVD p. 126).</a:t>
            </a:r>
          </a:p>
        </p:txBody>
      </p:sp>
      <p:sp>
        <p:nvSpPr>
          <p:cNvPr id="36" name="Rounded Rectangle 35"/>
          <p:cNvSpPr/>
          <p:nvPr/>
        </p:nvSpPr>
        <p:spPr>
          <a:xfrm>
            <a:off x="4663440" y="2724912"/>
            <a:ext cx="3840480" cy="1389888"/>
          </a:xfrm>
          <a:prstGeom prst="roundRect">
            <a:avLst>
              <a:gd name="adj" fmla="val 8000"/>
            </a:avLst>
          </a:prstGeom>
          <a:solidFill>
            <a:srgbClr val="FAF1DF"/>
          </a:solidFill>
          <a:ln>
            <a:noFill/>
          </a:ln>
        </p:spPr>
        <p:txBody>
          <a:bodyPr rtlCol="0" anchor="ctr"/>
          <a:lstStyle/>
          <a:p>
            <a:pPr algn="ctr"/>
          </a:p>
        </p:txBody>
      </p:sp>
      <p:sp>
        <p:nvSpPr>
          <p:cNvPr id="37" name="TextBox 36"/>
          <p:cNvSpPr txBox="1"/>
          <p:nvPr/>
        </p:nvSpPr>
        <p:spPr>
          <a:xfrm>
            <a:off x="4864607" y="2834640"/>
            <a:ext cx="3438144" cy="292608"/>
          </a:xfrm>
          <a:prstGeom prst="rect">
            <a:avLst/>
          </a:prstGeom>
          <a:noFill/>
        </p:spPr>
        <p:txBody>
          <a:bodyPr wrap="square" lIns="0" rIns="0" tIns="0" bIns="0" anchor="ctr">
            <a:noAutofit/>
          </a:bodyPr>
          <a:lstStyle/>
          <a:p>
            <a:pPr algn="l">
              <a:spcBef>
                <a:spcPts val="0"/>
              </a:spcBef>
              <a:spcAft>
                <a:spcPts val="0"/>
              </a:spcAft>
            </a:pPr>
            <a:r>
              <a:rPr sz="1250" b="1" i="0">
                <a:solidFill>
                  <a:srgbClr val="9A6414"/>
                </a:solidFill>
                <a:latin typeface="Cambria"/>
              </a:rPr>
              <a:t>Evidence completes the process</a:t>
            </a:r>
          </a:p>
        </p:txBody>
      </p:sp>
      <p:sp>
        <p:nvSpPr>
          <p:cNvPr id="38" name="TextBox 37"/>
          <p:cNvSpPr txBox="1"/>
          <p:nvPr/>
        </p:nvSpPr>
        <p:spPr>
          <a:xfrm>
            <a:off x="4864607" y="3182112"/>
            <a:ext cx="3438144" cy="82296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What is realised can be stated, taught, and lived. Evidence is awakened tradition (MVD p. 12).</a:t>
            </a:r>
          </a:p>
        </p:txBody>
      </p:sp>
      <p:sp>
        <p:nvSpPr>
          <p:cNvPr id="39" name="TextBox 38"/>
          <p:cNvSpPr txBox="1"/>
          <p:nvPr/>
        </p:nvSpPr>
        <p:spPr>
          <a:xfrm>
            <a:off x="640080" y="4224528"/>
            <a:ext cx="7955279" cy="384048"/>
          </a:xfrm>
          <a:prstGeom prst="rect">
            <a:avLst/>
          </a:prstGeom>
          <a:noFill/>
        </p:spPr>
        <p:txBody>
          <a:bodyPr wrap="square" lIns="0" rIns="0" tIns="0" bIns="0" anchor="ctr">
            <a:noAutofit/>
          </a:bodyPr>
          <a:lstStyle/>
          <a:p>
            <a:pPr algn="l">
              <a:spcBef>
                <a:spcPts val="0"/>
              </a:spcBef>
              <a:spcAft>
                <a:spcPts val="0"/>
              </a:spcAft>
            </a:pPr>
            <a:r>
              <a:rPr sz="1200" b="0" i="1">
                <a:solidFill>
                  <a:srgbClr val="1E2447"/>
                </a:solidFill>
                <a:latin typeface="Calibri"/>
              </a:rPr>
              <a:t>Realisation adds no new object: it is where definitive understanding comes to rest (AVD p. 224).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ONE  ·  §1.2  ·  FROM KNOWLEDGE TO CONDUCT</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Knowledge Reaches Conduct</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80, 174, 203, 285  ·  AnalyticMadhyasthDarshan.org  ·  9 / 28</a:t>
            </a:r>
          </a:p>
        </p:txBody>
      </p:sp>
      <p:sp>
        <p:nvSpPr>
          <p:cNvPr id="8" name="Rounded Rectangle 7"/>
          <p:cNvSpPr/>
          <p:nvPr/>
        </p:nvSpPr>
        <p:spPr>
          <a:xfrm>
            <a:off x="640080" y="1243584"/>
            <a:ext cx="1120140" cy="566928"/>
          </a:xfrm>
          <a:prstGeom prst="roundRect">
            <a:avLst>
              <a:gd name="adj" fmla="val 12000"/>
            </a:avLst>
          </a:prstGeom>
          <a:solidFill>
            <a:srgbClr val="1E2447"/>
          </a:solidFill>
          <a:ln>
            <a:noFill/>
          </a:ln>
        </p:spPr>
        <p:txBody>
          <a:bodyPr rtlCol="0" anchor="ctr"/>
          <a:lstStyle/>
          <a:p>
            <a:pPr algn="ctr"/>
          </a:p>
        </p:txBody>
      </p:sp>
      <p:sp>
        <p:nvSpPr>
          <p:cNvPr id="9" name="TextBox 8"/>
          <p:cNvSpPr txBox="1"/>
          <p:nvPr/>
        </p:nvSpPr>
        <p:spPr>
          <a:xfrm>
            <a:off x="685800" y="1243584"/>
            <a:ext cx="1028700" cy="566928"/>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Law</a:t>
            </a:r>
          </a:p>
          <a:p>
            <a:pPr algn="ctr">
              <a:spcBef>
                <a:spcPts val="0"/>
              </a:spcBef>
              <a:spcAft>
                <a:spcPts val="0"/>
              </a:spcAft>
            </a:pPr>
            <a:r>
              <a:rPr sz="1000" b="0" i="1">
                <a:solidFill>
                  <a:srgbClr val="C9D4EF"/>
                </a:solidFill>
                <a:latin typeface="Calibri"/>
              </a:rPr>
              <a:t>niyam</a:t>
            </a:r>
          </a:p>
        </p:txBody>
      </p:sp>
      <p:sp>
        <p:nvSpPr>
          <p:cNvPr id="10" name="TextBox 9"/>
          <p:cNvSpPr txBox="1"/>
          <p:nvPr/>
        </p:nvSpPr>
        <p:spPr>
          <a:xfrm>
            <a:off x="1760220" y="1298448"/>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1" name="Rounded Rectangle 10"/>
          <p:cNvSpPr/>
          <p:nvPr/>
        </p:nvSpPr>
        <p:spPr>
          <a:xfrm>
            <a:off x="1988819" y="1243584"/>
            <a:ext cx="1120140" cy="566928"/>
          </a:xfrm>
          <a:prstGeom prst="roundRect">
            <a:avLst>
              <a:gd name="adj" fmla="val 12000"/>
            </a:avLst>
          </a:prstGeom>
          <a:solidFill>
            <a:srgbClr val="1E2447"/>
          </a:solidFill>
          <a:ln>
            <a:noFill/>
          </a:ln>
        </p:spPr>
        <p:txBody>
          <a:bodyPr rtlCol="0" anchor="ctr"/>
          <a:lstStyle/>
          <a:p>
            <a:pPr algn="ctr"/>
          </a:p>
        </p:txBody>
      </p:sp>
      <p:sp>
        <p:nvSpPr>
          <p:cNvPr id="12" name="TextBox 11"/>
          <p:cNvSpPr txBox="1"/>
          <p:nvPr/>
        </p:nvSpPr>
        <p:spPr>
          <a:xfrm>
            <a:off x="2034539" y="1243584"/>
            <a:ext cx="1028700" cy="566928"/>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Regulation</a:t>
            </a:r>
          </a:p>
          <a:p>
            <a:pPr algn="ctr">
              <a:spcBef>
                <a:spcPts val="0"/>
              </a:spcBef>
              <a:spcAft>
                <a:spcPts val="0"/>
              </a:spcAft>
            </a:pPr>
            <a:r>
              <a:rPr sz="1000" b="0" i="1">
                <a:solidFill>
                  <a:srgbClr val="C9D4EF"/>
                </a:solidFill>
                <a:latin typeface="Calibri"/>
              </a:rPr>
              <a:t>niyantran</a:t>
            </a:r>
          </a:p>
        </p:txBody>
      </p:sp>
      <p:sp>
        <p:nvSpPr>
          <p:cNvPr id="13" name="TextBox 12"/>
          <p:cNvSpPr txBox="1"/>
          <p:nvPr/>
        </p:nvSpPr>
        <p:spPr>
          <a:xfrm>
            <a:off x="3108960" y="1298448"/>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4" name="Rounded Rectangle 13"/>
          <p:cNvSpPr/>
          <p:nvPr/>
        </p:nvSpPr>
        <p:spPr>
          <a:xfrm>
            <a:off x="3337560" y="1243584"/>
            <a:ext cx="1120140" cy="566928"/>
          </a:xfrm>
          <a:prstGeom prst="roundRect">
            <a:avLst>
              <a:gd name="adj" fmla="val 12000"/>
            </a:avLst>
          </a:prstGeom>
          <a:solidFill>
            <a:srgbClr val="1E2447"/>
          </a:solidFill>
          <a:ln>
            <a:noFill/>
          </a:ln>
        </p:spPr>
        <p:txBody>
          <a:bodyPr rtlCol="0" anchor="ctr"/>
          <a:lstStyle/>
          <a:p>
            <a:pPr algn="ctr"/>
          </a:p>
        </p:txBody>
      </p:sp>
      <p:sp>
        <p:nvSpPr>
          <p:cNvPr id="15" name="TextBox 14"/>
          <p:cNvSpPr txBox="1"/>
          <p:nvPr/>
        </p:nvSpPr>
        <p:spPr>
          <a:xfrm>
            <a:off x="3383280" y="1243584"/>
            <a:ext cx="1028700" cy="566928"/>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Balance</a:t>
            </a:r>
          </a:p>
          <a:p>
            <a:pPr algn="ctr">
              <a:spcBef>
                <a:spcPts val="0"/>
              </a:spcBef>
              <a:spcAft>
                <a:spcPts val="0"/>
              </a:spcAft>
            </a:pPr>
            <a:r>
              <a:rPr sz="1000" b="0" i="1">
                <a:solidFill>
                  <a:srgbClr val="C9D4EF"/>
                </a:solidFill>
                <a:latin typeface="Calibri"/>
              </a:rPr>
              <a:t>santulan</a:t>
            </a:r>
          </a:p>
        </p:txBody>
      </p:sp>
      <p:sp>
        <p:nvSpPr>
          <p:cNvPr id="16" name="TextBox 15"/>
          <p:cNvSpPr txBox="1"/>
          <p:nvPr/>
        </p:nvSpPr>
        <p:spPr>
          <a:xfrm>
            <a:off x="4457700" y="1298448"/>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7" name="Rounded Rectangle 16"/>
          <p:cNvSpPr/>
          <p:nvPr/>
        </p:nvSpPr>
        <p:spPr>
          <a:xfrm>
            <a:off x="4686300" y="1243584"/>
            <a:ext cx="1120140" cy="566928"/>
          </a:xfrm>
          <a:prstGeom prst="roundRect">
            <a:avLst>
              <a:gd name="adj" fmla="val 12000"/>
            </a:avLst>
          </a:prstGeom>
          <a:solidFill>
            <a:srgbClr val="1E2447"/>
          </a:solidFill>
          <a:ln>
            <a:noFill/>
          </a:ln>
        </p:spPr>
        <p:txBody>
          <a:bodyPr rtlCol="0" anchor="ctr"/>
          <a:lstStyle/>
          <a:p>
            <a:pPr algn="ctr"/>
          </a:p>
        </p:txBody>
      </p:sp>
      <p:sp>
        <p:nvSpPr>
          <p:cNvPr id="18" name="TextBox 17"/>
          <p:cNvSpPr txBox="1"/>
          <p:nvPr/>
        </p:nvSpPr>
        <p:spPr>
          <a:xfrm>
            <a:off x="4732020" y="1243584"/>
            <a:ext cx="1028700" cy="566928"/>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Justice</a:t>
            </a:r>
          </a:p>
          <a:p>
            <a:pPr algn="ctr">
              <a:spcBef>
                <a:spcPts val="0"/>
              </a:spcBef>
              <a:spcAft>
                <a:spcPts val="0"/>
              </a:spcAft>
            </a:pPr>
            <a:r>
              <a:rPr sz="1000" b="0" i="1">
                <a:solidFill>
                  <a:srgbClr val="C9D4EF"/>
                </a:solidFill>
                <a:latin typeface="Calibri"/>
              </a:rPr>
              <a:t>nyaya</a:t>
            </a:r>
          </a:p>
        </p:txBody>
      </p:sp>
      <p:sp>
        <p:nvSpPr>
          <p:cNvPr id="19" name="TextBox 18"/>
          <p:cNvSpPr txBox="1"/>
          <p:nvPr/>
        </p:nvSpPr>
        <p:spPr>
          <a:xfrm>
            <a:off x="5806440" y="1298448"/>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20" name="Rounded Rectangle 19"/>
          <p:cNvSpPr/>
          <p:nvPr/>
        </p:nvSpPr>
        <p:spPr>
          <a:xfrm>
            <a:off x="6035040" y="1243584"/>
            <a:ext cx="1120140" cy="566928"/>
          </a:xfrm>
          <a:prstGeom prst="roundRect">
            <a:avLst>
              <a:gd name="adj" fmla="val 12000"/>
            </a:avLst>
          </a:prstGeom>
          <a:solidFill>
            <a:srgbClr val="1E2447"/>
          </a:solidFill>
          <a:ln>
            <a:noFill/>
          </a:ln>
        </p:spPr>
        <p:txBody>
          <a:bodyPr rtlCol="0" anchor="ctr"/>
          <a:lstStyle/>
          <a:p>
            <a:pPr algn="ctr"/>
          </a:p>
        </p:txBody>
      </p:sp>
      <p:sp>
        <p:nvSpPr>
          <p:cNvPr id="21" name="TextBox 20"/>
          <p:cNvSpPr txBox="1"/>
          <p:nvPr/>
        </p:nvSpPr>
        <p:spPr>
          <a:xfrm>
            <a:off x="6080760" y="1243584"/>
            <a:ext cx="1028700" cy="566928"/>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Dharma</a:t>
            </a:r>
          </a:p>
          <a:p>
            <a:pPr algn="ctr">
              <a:spcBef>
                <a:spcPts val="0"/>
              </a:spcBef>
              <a:spcAft>
                <a:spcPts val="0"/>
              </a:spcAft>
            </a:pPr>
            <a:r>
              <a:rPr sz="1000" b="0" i="1">
                <a:solidFill>
                  <a:srgbClr val="C9D4EF"/>
                </a:solidFill>
                <a:latin typeface="Calibri"/>
              </a:rPr>
              <a:t>dharma</a:t>
            </a:r>
          </a:p>
        </p:txBody>
      </p:sp>
      <p:sp>
        <p:nvSpPr>
          <p:cNvPr id="22" name="TextBox 21"/>
          <p:cNvSpPr txBox="1"/>
          <p:nvPr/>
        </p:nvSpPr>
        <p:spPr>
          <a:xfrm>
            <a:off x="7155180" y="1298448"/>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23" name="Rounded Rectangle 22"/>
          <p:cNvSpPr/>
          <p:nvPr/>
        </p:nvSpPr>
        <p:spPr>
          <a:xfrm>
            <a:off x="7383779" y="1243584"/>
            <a:ext cx="1120140" cy="566928"/>
          </a:xfrm>
          <a:prstGeom prst="roundRect">
            <a:avLst>
              <a:gd name="adj" fmla="val 12000"/>
            </a:avLst>
          </a:prstGeom>
          <a:solidFill>
            <a:srgbClr val="9A6414"/>
          </a:solidFill>
          <a:ln>
            <a:noFill/>
          </a:ln>
        </p:spPr>
        <p:txBody>
          <a:bodyPr rtlCol="0" anchor="ctr"/>
          <a:lstStyle/>
          <a:p>
            <a:pPr algn="ctr"/>
          </a:p>
        </p:txBody>
      </p:sp>
      <p:sp>
        <p:nvSpPr>
          <p:cNvPr id="24" name="TextBox 23"/>
          <p:cNvSpPr txBox="1"/>
          <p:nvPr/>
        </p:nvSpPr>
        <p:spPr>
          <a:xfrm>
            <a:off x="7429500" y="1243584"/>
            <a:ext cx="1028700" cy="566928"/>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Truth</a:t>
            </a:r>
          </a:p>
          <a:p>
            <a:pPr algn="ctr">
              <a:spcBef>
                <a:spcPts val="0"/>
              </a:spcBef>
              <a:spcAft>
                <a:spcPts val="0"/>
              </a:spcAft>
            </a:pPr>
            <a:r>
              <a:rPr sz="1000" b="0" i="1">
                <a:solidFill>
                  <a:srgbClr val="F3E3C6"/>
                </a:solidFill>
                <a:latin typeface="Calibri"/>
              </a:rPr>
              <a:t>satya</a:t>
            </a:r>
          </a:p>
        </p:txBody>
      </p:sp>
      <p:sp>
        <p:nvSpPr>
          <p:cNvPr id="25" name="Rounded Rectangle 24"/>
          <p:cNvSpPr/>
          <p:nvPr/>
        </p:nvSpPr>
        <p:spPr>
          <a:xfrm>
            <a:off x="640080" y="1993392"/>
            <a:ext cx="7863840" cy="1170432"/>
          </a:xfrm>
          <a:prstGeom prst="roundRect">
            <a:avLst>
              <a:gd name="adj" fmla="val 6000"/>
            </a:avLst>
          </a:prstGeom>
          <a:solidFill>
            <a:srgbClr val="FAF1DF"/>
          </a:solidFill>
          <a:ln>
            <a:noFill/>
          </a:ln>
        </p:spPr>
        <p:txBody>
          <a:bodyPr rtlCol="0" anchor="ctr"/>
          <a:lstStyle/>
          <a:p>
            <a:pPr algn="ctr"/>
          </a:p>
        </p:txBody>
      </p:sp>
      <p:sp>
        <p:nvSpPr>
          <p:cNvPr id="26" name="Rectangle 25"/>
          <p:cNvSpPr/>
          <p:nvPr/>
        </p:nvSpPr>
        <p:spPr>
          <a:xfrm>
            <a:off x="768096" y="2121408"/>
            <a:ext cx="45720" cy="914400"/>
          </a:xfrm>
          <a:prstGeom prst="rect">
            <a:avLst/>
          </a:prstGeom>
          <a:solidFill>
            <a:srgbClr val="C9821E"/>
          </a:solidFill>
          <a:ln>
            <a:noFill/>
          </a:ln>
        </p:spPr>
        <p:txBody>
          <a:bodyPr rtlCol="0" anchor="ctr"/>
          <a:lstStyle/>
          <a:p>
            <a:pPr algn="ctr"/>
          </a:p>
        </p:txBody>
      </p:sp>
      <p:sp>
        <p:nvSpPr>
          <p:cNvPr id="27" name="TextBox 26"/>
          <p:cNvSpPr txBox="1"/>
          <p:nvPr/>
        </p:nvSpPr>
        <p:spPr>
          <a:xfrm>
            <a:off x="950976" y="2103120"/>
            <a:ext cx="7351775" cy="749808"/>
          </a:xfrm>
          <a:prstGeom prst="rect">
            <a:avLst/>
          </a:prstGeom>
          <a:noFill/>
        </p:spPr>
        <p:txBody>
          <a:bodyPr wrap="square" lIns="0" rIns="0" tIns="0" bIns="0" anchor="ctr">
            <a:noAutofit/>
          </a:bodyPr>
          <a:lstStyle/>
          <a:p>
            <a:pPr algn="l">
              <a:spcBef>
                <a:spcPts val="0"/>
              </a:spcBef>
              <a:spcAft>
                <a:spcPts val="0"/>
              </a:spcAft>
            </a:pPr>
            <a:r>
              <a:rPr sz="1200" b="0" i="1">
                <a:solidFill>
                  <a:srgbClr val="1E2447"/>
                </a:solidFill>
                <a:latin typeface="Cambria"/>
              </a:rPr>
              <a:t>“Knowledge itself is law; law itself is regulation; regulation itself is balance; balanced living itself is justice in humans; living within the universal orderliness with justice itself is dharma, i.e., resolution; realisation in coexistence itself is dharma and truth.”</a:t>
            </a:r>
          </a:p>
        </p:txBody>
      </p:sp>
      <p:sp>
        <p:nvSpPr>
          <p:cNvPr id="28" name="TextBox 27"/>
          <p:cNvSpPr txBox="1"/>
          <p:nvPr/>
        </p:nvSpPr>
        <p:spPr>
          <a:xfrm>
            <a:off x="950976" y="2871216"/>
            <a:ext cx="7351775" cy="201168"/>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MVD, p. 174</a:t>
            </a:r>
          </a:p>
        </p:txBody>
      </p:sp>
      <p:sp>
        <p:nvSpPr>
          <p:cNvPr id="29" name="Rounded Rectangle 28"/>
          <p:cNvSpPr/>
          <p:nvPr/>
        </p:nvSpPr>
        <p:spPr>
          <a:xfrm>
            <a:off x="640080" y="3310128"/>
            <a:ext cx="3840480" cy="1298448"/>
          </a:xfrm>
          <a:prstGeom prst="roundRect">
            <a:avLst>
              <a:gd name="adj" fmla="val 8000"/>
            </a:avLst>
          </a:prstGeom>
          <a:solidFill>
            <a:srgbClr val="EEF1F8"/>
          </a:solidFill>
          <a:ln>
            <a:noFill/>
          </a:ln>
        </p:spPr>
        <p:txBody>
          <a:bodyPr rtlCol="0" anchor="ctr"/>
          <a:lstStyle/>
          <a:p>
            <a:pPr algn="ctr"/>
          </a:p>
        </p:txBody>
      </p:sp>
      <p:sp>
        <p:nvSpPr>
          <p:cNvPr id="30" name="TextBox 29"/>
          <p:cNvSpPr txBox="1"/>
          <p:nvPr/>
        </p:nvSpPr>
        <p:spPr>
          <a:xfrm>
            <a:off x="841247" y="3419856"/>
            <a:ext cx="3438144" cy="292608"/>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Evidenced in fruition</a:t>
            </a:r>
          </a:p>
        </p:txBody>
      </p:sp>
      <p:sp>
        <p:nvSpPr>
          <p:cNvPr id="31" name="TextBox 30"/>
          <p:cNvSpPr txBox="1"/>
          <p:nvPr/>
        </p:nvSpPr>
        <p:spPr>
          <a:xfrm>
            <a:off x="841247" y="3767328"/>
            <a:ext cx="3438144" cy="731519"/>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Law, regulation, balance, justice, </a:t>
            </a:r>
            <a:r>
              <a:rPr sz="1200" b="0" i="1">
                <a:solidFill>
                  <a:srgbClr val="5A6377"/>
                </a:solidFill>
                <a:latin typeface="Calibri"/>
              </a:rPr>
              <a:t>dharma</a:t>
            </a:r>
            <a:r>
              <a:rPr sz="1200" b="0" i="0">
                <a:solidFill>
                  <a:srgbClr val="5A6377"/>
                </a:solidFill>
                <a:latin typeface="Calibri"/>
              </a:rPr>
              <a:t>, and truth are evidenced in the fruition of realisation (MVD p. 80).</a:t>
            </a:r>
          </a:p>
        </p:txBody>
      </p:sp>
      <p:sp>
        <p:nvSpPr>
          <p:cNvPr id="32" name="Rounded Rectangle 31"/>
          <p:cNvSpPr/>
          <p:nvPr/>
        </p:nvSpPr>
        <p:spPr>
          <a:xfrm>
            <a:off x="4663440" y="3310128"/>
            <a:ext cx="3840480" cy="1298448"/>
          </a:xfrm>
          <a:prstGeom prst="roundRect">
            <a:avLst>
              <a:gd name="adj" fmla="val 8000"/>
            </a:avLst>
          </a:prstGeom>
          <a:solidFill>
            <a:srgbClr val="FAF1DF"/>
          </a:solidFill>
          <a:ln>
            <a:noFill/>
          </a:ln>
        </p:spPr>
        <p:txBody>
          <a:bodyPr rtlCol="0" anchor="ctr"/>
          <a:lstStyle/>
          <a:p>
            <a:pPr algn="ctr"/>
          </a:p>
        </p:txBody>
      </p:sp>
      <p:sp>
        <p:nvSpPr>
          <p:cNvPr id="33" name="TextBox 32"/>
          <p:cNvSpPr txBox="1"/>
          <p:nvPr/>
        </p:nvSpPr>
        <p:spPr>
          <a:xfrm>
            <a:off x="4864607" y="3419856"/>
            <a:ext cx="3438144" cy="292608"/>
          </a:xfrm>
          <a:prstGeom prst="rect">
            <a:avLst/>
          </a:prstGeom>
          <a:noFill/>
        </p:spPr>
        <p:txBody>
          <a:bodyPr wrap="square" lIns="0" rIns="0" tIns="0" bIns="0" anchor="ctr">
            <a:noAutofit/>
          </a:bodyPr>
          <a:lstStyle/>
          <a:p>
            <a:pPr algn="l">
              <a:spcBef>
                <a:spcPts val="0"/>
              </a:spcBef>
              <a:spcAft>
                <a:spcPts val="0"/>
              </a:spcAft>
            </a:pPr>
            <a:r>
              <a:rPr sz="1250" b="1" i="0">
                <a:solidFill>
                  <a:srgbClr val="9A6414"/>
                </a:solidFill>
                <a:latin typeface="Cambria"/>
              </a:rPr>
              <a:t>The observable mark</a:t>
            </a:r>
          </a:p>
        </p:txBody>
      </p:sp>
      <p:sp>
        <p:nvSpPr>
          <p:cNvPr id="34" name="TextBox 33"/>
          <p:cNvSpPr txBox="1"/>
          <p:nvPr/>
        </p:nvSpPr>
        <p:spPr>
          <a:xfrm>
            <a:off x="4864607" y="3767328"/>
            <a:ext cx="3438144" cy="731519"/>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No mistakes or crimes in behaviour marks complete awakening; correct evaluation occurs only through awakening (MVD pp. 203, 285).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ONE  ·  §1.13  ·  EVIDENCE</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How Realisation Is Evidenced</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12, 35, 56, 273, 285, 303  ·  JV p. 26  ·  SB p. 5  ·  AVD pp. 61, 172–173, 259–260  ·  AnalyticMadhyasthDarshan.org  ·  10 / 28</a:t>
            </a:r>
          </a:p>
        </p:txBody>
      </p:sp>
      <p:sp>
        <p:nvSpPr>
          <p:cNvPr id="8" name="TextBox 7"/>
          <p:cNvSpPr txBox="1"/>
          <p:nvPr/>
        </p:nvSpPr>
        <p:spPr>
          <a:xfrm>
            <a:off x="640080" y="1188720"/>
            <a:ext cx="7955279" cy="548640"/>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libri"/>
              </a:rPr>
              <a:t>An inner state cannot be its own credential. Evidence is threefold — realisation, behaviour, and experiment (MVD p. 12) — and the awakened human is its basis (SB p. 5).</a:t>
            </a:r>
          </a:p>
        </p:txBody>
      </p:sp>
      <p:sp>
        <p:nvSpPr>
          <p:cNvPr id="9" name="Rounded Rectangle 8"/>
          <p:cNvSpPr/>
          <p:nvPr/>
        </p:nvSpPr>
        <p:spPr>
          <a:xfrm>
            <a:off x="640080" y="1810512"/>
            <a:ext cx="3840480" cy="1152144"/>
          </a:xfrm>
          <a:prstGeom prst="roundRect">
            <a:avLst>
              <a:gd name="adj" fmla="val 8000"/>
            </a:avLst>
          </a:prstGeom>
          <a:solidFill>
            <a:srgbClr val="EEF1F8"/>
          </a:solidFill>
          <a:ln>
            <a:noFill/>
          </a:ln>
        </p:spPr>
        <p:txBody>
          <a:bodyPr rtlCol="0" anchor="ctr"/>
          <a:lstStyle/>
          <a:p>
            <a:pPr algn="ctr"/>
          </a:p>
        </p:txBody>
      </p:sp>
      <p:sp>
        <p:nvSpPr>
          <p:cNvPr id="10" name="TextBox 9"/>
          <p:cNvSpPr txBox="1"/>
          <p:nvPr/>
        </p:nvSpPr>
        <p:spPr>
          <a:xfrm>
            <a:off x="841247" y="1920240"/>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Conveyability</a:t>
            </a:r>
          </a:p>
        </p:txBody>
      </p:sp>
      <p:sp>
        <p:nvSpPr>
          <p:cNvPr id="11" name="TextBox 10"/>
          <p:cNvSpPr txBox="1"/>
          <p:nvPr/>
        </p:nvSpPr>
        <p:spPr>
          <a:xfrm>
            <a:off x="841247" y="2267712"/>
            <a:ext cx="3438144" cy="585216"/>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proof of our comprehension lies in our ability to convey it to others” (JV p. 26).</a:t>
            </a:r>
          </a:p>
        </p:txBody>
      </p:sp>
      <p:sp>
        <p:nvSpPr>
          <p:cNvPr id="12" name="Rounded Rectangle 11"/>
          <p:cNvSpPr/>
          <p:nvPr/>
        </p:nvSpPr>
        <p:spPr>
          <a:xfrm>
            <a:off x="4663440" y="1810512"/>
            <a:ext cx="3840480" cy="1152144"/>
          </a:xfrm>
          <a:prstGeom prst="roundRect">
            <a:avLst>
              <a:gd name="adj" fmla="val 8000"/>
            </a:avLst>
          </a:prstGeom>
          <a:solidFill>
            <a:srgbClr val="EEF1F8"/>
          </a:solidFill>
          <a:ln>
            <a:noFill/>
          </a:ln>
        </p:spPr>
        <p:txBody>
          <a:bodyPr rtlCol="0" anchor="ctr"/>
          <a:lstStyle/>
          <a:p>
            <a:pPr algn="ctr"/>
          </a:p>
        </p:txBody>
      </p:sp>
      <p:sp>
        <p:nvSpPr>
          <p:cNvPr id="13" name="TextBox 12"/>
          <p:cNvSpPr txBox="1"/>
          <p:nvPr/>
        </p:nvSpPr>
        <p:spPr>
          <a:xfrm>
            <a:off x="4864607" y="1920240"/>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Conduct</a:t>
            </a:r>
          </a:p>
        </p:txBody>
      </p:sp>
      <p:sp>
        <p:nvSpPr>
          <p:cNvPr id="14" name="TextBox 13"/>
          <p:cNvSpPr txBox="1"/>
          <p:nvPr/>
        </p:nvSpPr>
        <p:spPr>
          <a:xfrm>
            <a:off x="4864607" y="2267712"/>
            <a:ext cx="3438144" cy="585216"/>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Justice, </a:t>
            </a:r>
            <a:r>
              <a:rPr sz="1200" b="0" i="1">
                <a:solidFill>
                  <a:srgbClr val="5A6377"/>
                </a:solidFill>
                <a:latin typeface="Calibri"/>
              </a:rPr>
              <a:t>dharma</a:t>
            </a:r>
            <a:r>
              <a:rPr sz="1200" b="0" i="0">
                <a:solidFill>
                  <a:srgbClr val="5A6377"/>
                </a:solidFill>
                <a:latin typeface="Calibri"/>
              </a:rPr>
              <a:t>, and truth in behaviour, thought, and realisation; no mistakes or crimes; the ability to provide justice (MVD pp. 285, 303; AVD pp. 172–173).</a:t>
            </a:r>
          </a:p>
        </p:txBody>
      </p:sp>
      <p:sp>
        <p:nvSpPr>
          <p:cNvPr id="15" name="Rounded Rectangle 14"/>
          <p:cNvSpPr/>
          <p:nvPr/>
        </p:nvSpPr>
        <p:spPr>
          <a:xfrm>
            <a:off x="640080" y="3072384"/>
            <a:ext cx="3840480" cy="1152144"/>
          </a:xfrm>
          <a:prstGeom prst="roundRect">
            <a:avLst>
              <a:gd name="adj" fmla="val 8000"/>
            </a:avLst>
          </a:prstGeom>
          <a:solidFill>
            <a:srgbClr val="EEF1F8"/>
          </a:solidFill>
          <a:ln>
            <a:noFill/>
          </a:ln>
        </p:spPr>
        <p:txBody>
          <a:bodyPr rtlCol="0" anchor="ctr"/>
          <a:lstStyle/>
          <a:p>
            <a:pPr algn="ctr"/>
          </a:p>
        </p:txBody>
      </p:sp>
      <p:sp>
        <p:nvSpPr>
          <p:cNvPr id="16" name="TextBox 15"/>
          <p:cNvSpPr txBox="1"/>
          <p:nvPr/>
        </p:nvSpPr>
        <p:spPr>
          <a:xfrm>
            <a:off x="841247" y="3182112"/>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Work with nature</a:t>
            </a:r>
          </a:p>
        </p:txBody>
      </p:sp>
      <p:sp>
        <p:nvSpPr>
          <p:cNvPr id="17" name="TextBox 16"/>
          <p:cNvSpPr txBox="1"/>
          <p:nvPr/>
        </p:nvSpPr>
        <p:spPr>
          <a:xfrm>
            <a:off x="841247" y="3529584"/>
            <a:ext cx="3438144" cy="585216"/>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Experimentation continued until natural abundance is made useful (MVD p. 56).</a:t>
            </a:r>
          </a:p>
        </p:txBody>
      </p:sp>
      <p:sp>
        <p:nvSpPr>
          <p:cNvPr id="18" name="Rounded Rectangle 17"/>
          <p:cNvSpPr/>
          <p:nvPr/>
        </p:nvSpPr>
        <p:spPr>
          <a:xfrm>
            <a:off x="4663440" y="3072384"/>
            <a:ext cx="3840480" cy="1152144"/>
          </a:xfrm>
          <a:prstGeom prst="roundRect">
            <a:avLst>
              <a:gd name="adj" fmla="val 8000"/>
            </a:avLst>
          </a:prstGeom>
          <a:solidFill>
            <a:srgbClr val="FAF1DF"/>
          </a:solidFill>
          <a:ln>
            <a:noFill/>
          </a:ln>
        </p:spPr>
        <p:txBody>
          <a:bodyPr rtlCol="0" anchor="ctr"/>
          <a:lstStyle/>
          <a:p>
            <a:pPr algn="ctr"/>
          </a:p>
        </p:txBody>
      </p:sp>
      <p:sp>
        <p:nvSpPr>
          <p:cNvPr id="19" name="TextBox 18"/>
          <p:cNvSpPr txBox="1"/>
          <p:nvPr/>
        </p:nvSpPr>
        <p:spPr>
          <a:xfrm>
            <a:off x="4864607" y="3182112"/>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Tradition</a:t>
            </a:r>
          </a:p>
        </p:txBody>
      </p:sp>
      <p:sp>
        <p:nvSpPr>
          <p:cNvPr id="20" name="TextBox 19"/>
          <p:cNvSpPr txBox="1"/>
          <p:nvPr/>
        </p:nvSpPr>
        <p:spPr>
          <a:xfrm>
            <a:off x="4864607" y="3529584"/>
            <a:ext cx="3438144" cy="585216"/>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Paving the path for the deluded, and taking part in the whole of orderliness (MVD p. 273; AVD pp. 259–260).</a:t>
            </a:r>
          </a:p>
        </p:txBody>
      </p:sp>
      <p:sp>
        <p:nvSpPr>
          <p:cNvPr id="21" name="TextBox 20"/>
          <p:cNvSpPr txBox="1"/>
          <p:nvPr/>
        </p:nvSpPr>
        <p:spPr>
          <a:xfrm>
            <a:off x="640080" y="4315968"/>
            <a:ext cx="7955279" cy="347472"/>
          </a:xfrm>
          <a:prstGeom prst="rect">
            <a:avLst/>
          </a:prstGeom>
          <a:noFill/>
        </p:spPr>
        <p:txBody>
          <a:bodyPr wrap="square" lIns="0" rIns="0" tIns="0" bIns="0" anchor="ctr">
            <a:noAutofit/>
          </a:bodyPr>
          <a:lstStyle/>
          <a:p>
            <a:pPr algn="l">
              <a:spcBef>
                <a:spcPts val="0"/>
              </a:spcBef>
              <a:spcAft>
                <a:spcPts val="0"/>
              </a:spcAft>
            </a:pPr>
            <a:r>
              <a:rPr sz="1200" b="0" i="1">
                <a:solidFill>
                  <a:srgbClr val="1E2447"/>
                </a:solidFill>
                <a:latin typeface="Calibri"/>
              </a:rPr>
              <a:t>Criterion: truth is what is uniformly realised everywhere — the same in, by, and for all (MVD p. 35; AVD p. 61).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p:spPr>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p:spPr>
        <p:txBody>
          <a:bodyPr rtlCol="0" anchor="ctr"/>
          <a:lstStyle/>
          <a:p>
            <a:pPr algn="ctr"/>
          </a:p>
        </p:txBody>
      </p:sp>
      <p:sp>
        <p:nvSpPr>
          <p:cNvPr id="4" name="Oval 3"/>
          <p:cNvSpPr/>
          <p:nvPr/>
        </p:nvSpPr>
        <p:spPr>
          <a:xfrm>
            <a:off x="7068312" y="2039112"/>
            <a:ext cx="859536" cy="859536"/>
          </a:xfrm>
          <a:prstGeom prst="ellipse">
            <a:avLst/>
          </a:prstGeom>
          <a:solidFill>
            <a:srgbClr val="C9821E"/>
          </a:solidFill>
          <a:ln>
            <a:noFill/>
          </a:ln>
        </p:spPr>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p:spPr>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p:spPr>
        <p:txBody>
          <a:bodyPr rtlCol="0" anchor="ctr"/>
          <a:lstStyle/>
          <a:p>
            <a:pPr algn="ctr"/>
          </a:p>
        </p:txBody>
      </p:sp>
      <p:sp>
        <p:nvSpPr>
          <p:cNvPr id="7" name="Oval 6"/>
          <p:cNvSpPr/>
          <p:nvPr/>
        </p:nvSpPr>
        <p:spPr>
          <a:xfrm>
            <a:off x="5797296" y="3968496"/>
            <a:ext cx="283464" cy="283464"/>
          </a:xfrm>
          <a:prstGeom prst="ellipse">
            <a:avLst/>
          </a:prstGeom>
          <a:solidFill>
            <a:srgbClr val="C9D4EF"/>
          </a:solidFill>
          <a:ln>
            <a:noFill/>
          </a:ln>
        </p:spPr>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p:spPr>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p:spPr>
        <p:txBody>
          <a:bodyPr rtlCol="0" anchor="ctr"/>
          <a:lstStyle/>
          <a:p>
            <a:pPr algn="ctr"/>
          </a:p>
        </p:txBody>
      </p:sp>
      <p:sp>
        <p:nvSpPr>
          <p:cNvPr id="10" name="Oval 9"/>
          <p:cNvSpPr/>
          <p:nvPr/>
        </p:nvSpPr>
        <p:spPr>
          <a:xfrm>
            <a:off x="8412480" y="4297680"/>
            <a:ext cx="192024" cy="192024"/>
          </a:xfrm>
          <a:prstGeom prst="ellipse">
            <a:avLst/>
          </a:prstGeom>
          <a:solidFill>
            <a:srgbClr val="C9D4EF"/>
          </a:solidFill>
          <a:ln>
            <a:noFill/>
          </a:ln>
        </p:spPr>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lIns="0" rIns="0" tIns="0" bIns="0" anchor="ctr">
            <a:noAutofit/>
          </a:bodyPr>
          <a:lstStyle/>
          <a:p>
            <a:pPr algn="l">
              <a:spcBef>
                <a:spcPts val="0"/>
              </a:spcBef>
              <a:spcAft>
                <a:spcPts val="0"/>
              </a:spcAft>
            </a:pPr>
            <a:r>
              <a:rPr sz="1200" b="1" i="0">
                <a:solidFill>
                  <a:srgbClr val="C9821E"/>
                </a:solidFill>
                <a:latin typeface="Calibri"/>
              </a:rPr>
              <a:t>PART TWO  ·  STUDY §§1.3–1.5</a:t>
            </a:r>
          </a:p>
        </p:txBody>
      </p:sp>
      <p:sp>
        <p:nvSpPr>
          <p:cNvPr id="12" name="TextBox 11"/>
          <p:cNvSpPr txBox="1"/>
          <p:nvPr/>
        </p:nvSpPr>
        <p:spPr>
          <a:xfrm>
            <a:off x="640080" y="1572768"/>
            <a:ext cx="5577840" cy="1371600"/>
          </a:xfrm>
          <a:prstGeom prst="rect">
            <a:avLst/>
          </a:prstGeom>
          <a:noFill/>
        </p:spPr>
        <p:txBody>
          <a:bodyPr wrap="square" lIns="0" rIns="0" tIns="0" bIns="0" anchor="ctr">
            <a:noAutofit/>
          </a:bodyPr>
          <a:lstStyle/>
          <a:p>
            <a:pPr algn="l">
              <a:spcBef>
                <a:spcPts val="0"/>
              </a:spcBef>
              <a:spcAft>
                <a:spcPts val="0"/>
              </a:spcAft>
            </a:pPr>
            <a:r>
              <a:rPr sz="4400" b="1" i="0">
                <a:solidFill>
                  <a:srgbClr val="FFFFFF"/>
                </a:solidFill>
                <a:latin typeface="Cambria"/>
              </a:rPr>
              <a:t>Where Realisation</a:t>
            </a:r>
          </a:p>
          <a:p>
            <a:pPr algn="l">
              <a:spcBef>
                <a:spcPts val="0"/>
              </a:spcBef>
              <a:spcAft>
                <a:spcPts val="0"/>
              </a:spcAft>
            </a:pPr>
            <a:r>
              <a:rPr sz="4400" b="1" i="0">
                <a:solidFill>
                  <a:srgbClr val="FFFFFF"/>
                </a:solidFill>
                <a:latin typeface="Cambria"/>
              </a:rPr>
              <a:t>Is Not Found</a:t>
            </a:r>
          </a:p>
        </p:txBody>
      </p:sp>
      <p:sp>
        <p:nvSpPr>
          <p:cNvPr id="13" name="TextBox 12"/>
          <p:cNvSpPr txBox="1"/>
          <p:nvPr/>
        </p:nvSpPr>
        <p:spPr>
          <a:xfrm>
            <a:off x="640080" y="3035808"/>
            <a:ext cx="4846320" cy="1188720"/>
          </a:xfrm>
          <a:prstGeom prst="rect">
            <a:avLst/>
          </a:prstGeom>
          <a:noFill/>
        </p:spPr>
        <p:txBody>
          <a:bodyPr wrap="square" lIns="0" rIns="0" tIns="0" bIns="0" anchor="ctr">
            <a:noAutofit/>
          </a:bodyPr>
          <a:lstStyle/>
          <a:p>
            <a:pPr algn="l">
              <a:spcBef>
                <a:spcPts val="0"/>
              </a:spcBef>
              <a:spcAft>
                <a:spcPts val="0"/>
              </a:spcAft>
            </a:pPr>
            <a:r>
              <a:rPr sz="1600" b="0" i="1">
                <a:solidFill>
                  <a:srgbClr val="C9D4EF"/>
                </a:solidFill>
                <a:latin typeface="Calibri"/>
              </a:rPr>
              <a:t>The founder attained samadhi and found no knowing in it. Practice removes delusion — not the activity of jeevan.</a:t>
            </a:r>
          </a:p>
        </p:txBody>
      </p:sp>
      <p:sp>
        <p:nvSpPr>
          <p:cNvPr id="14" name="TextBox 13"/>
          <p:cNvSpPr txBox="1"/>
          <p:nvPr/>
        </p:nvSpPr>
        <p:spPr>
          <a:xfrm>
            <a:off x="640080" y="4370832"/>
            <a:ext cx="4754880" cy="274320"/>
          </a:xfrm>
          <a:prstGeom prst="rect">
            <a:avLst/>
          </a:prstGeom>
          <a:noFill/>
        </p:spPr>
        <p:txBody>
          <a:bodyPr wrap="square" lIns="0" rIns="0" tIns="0" bIns="0" anchor="ctr">
            <a:noAutofit/>
          </a:bodyPr>
          <a:lstStyle/>
          <a:p>
            <a:pPr algn="l">
              <a:spcBef>
                <a:spcPts val="0"/>
              </a:spcBef>
              <a:spcAft>
                <a:spcPts val="0"/>
              </a:spcAft>
            </a:pPr>
            <a:r>
              <a:rPr sz="1150" b="0" i="0">
                <a:solidFill>
                  <a:srgbClr val="8E9BC4"/>
                </a:solidFill>
                <a:latin typeface="Calibri"/>
              </a:rPr>
              <a:t>Answers  ·  Why not samadhi?  ·  What does practice remove?</a:t>
            </a:r>
          </a:p>
        </p:txBody>
      </p:sp>
      <p:sp>
        <p:nvSpPr>
          <p:cNvPr id="15" name="TextBox 14"/>
          <p:cNvSpPr txBox="1"/>
          <p:nvPr/>
        </p:nvSpPr>
        <p:spPr>
          <a:xfrm>
            <a:off x="640080" y="4663440"/>
            <a:ext cx="4754880" cy="274320"/>
          </a:xfrm>
          <a:prstGeom prst="rect">
            <a:avLst/>
          </a:prstGeom>
          <a:noFill/>
        </p:spPr>
        <p:txBody>
          <a:bodyPr wrap="square" lIns="0" rIns="0" tIns="0" bIns="0" anchor="ctr">
            <a:noAutofit/>
          </a:bodyPr>
          <a:lstStyle/>
          <a:p>
            <a:pPr algn="l">
              <a:spcBef>
                <a:spcPts val="0"/>
              </a:spcBef>
              <a:spcAft>
                <a:spcPts val="0"/>
              </a:spcAft>
            </a:pPr>
            <a:r>
              <a:rPr sz="1150" b="0" i="0">
                <a:solidFill>
                  <a:srgbClr val="8E9BC4"/>
                </a:solidFill>
                <a:latin typeface="Calibri"/>
              </a:rPr>
              <a:t>AnalyticMadhyasthDarshan.org  ·  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TWO  ·  §1.3  ·  THE FOUNDER'S FINDING</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Samadhi Without Knowing</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 7  ·  JV pp. 12–13  ·  AVD pp. 72, 165, 220  ·  AnalyticMadhyasthDarshan.org  ·  12 / 28</a:t>
            </a:r>
          </a:p>
        </p:txBody>
      </p:sp>
      <p:sp>
        <p:nvSpPr>
          <p:cNvPr id="8" name="Rounded Rectangle 7"/>
          <p:cNvSpPr/>
          <p:nvPr/>
        </p:nvSpPr>
        <p:spPr>
          <a:xfrm>
            <a:off x="640080" y="1188720"/>
            <a:ext cx="7863840" cy="932688"/>
          </a:xfrm>
          <a:prstGeom prst="roundRect">
            <a:avLst>
              <a:gd name="adj" fmla="val 6000"/>
            </a:avLst>
          </a:prstGeom>
          <a:solidFill>
            <a:srgbClr val="FAF1DF"/>
          </a:solidFill>
          <a:ln>
            <a:noFill/>
          </a:ln>
        </p:spPr>
        <p:txBody>
          <a:bodyPr rtlCol="0" anchor="ctr"/>
          <a:lstStyle/>
          <a:p>
            <a:pPr algn="ctr"/>
          </a:p>
        </p:txBody>
      </p:sp>
      <p:sp>
        <p:nvSpPr>
          <p:cNvPr id="9" name="Rectangle 8"/>
          <p:cNvSpPr/>
          <p:nvPr/>
        </p:nvSpPr>
        <p:spPr>
          <a:xfrm>
            <a:off x="768096" y="1316736"/>
            <a:ext cx="45720" cy="676656"/>
          </a:xfrm>
          <a:prstGeom prst="rect">
            <a:avLst/>
          </a:prstGeom>
          <a:solidFill>
            <a:srgbClr val="C9821E"/>
          </a:solidFill>
          <a:ln>
            <a:noFill/>
          </a:ln>
        </p:spPr>
        <p:txBody>
          <a:bodyPr rtlCol="0" anchor="ctr"/>
          <a:lstStyle/>
          <a:p>
            <a:pPr algn="ctr"/>
          </a:p>
        </p:txBody>
      </p:sp>
      <p:sp>
        <p:nvSpPr>
          <p:cNvPr id="10" name="TextBox 9"/>
          <p:cNvSpPr txBox="1"/>
          <p:nvPr/>
        </p:nvSpPr>
        <p:spPr>
          <a:xfrm>
            <a:off x="950976" y="1298448"/>
            <a:ext cx="7351775" cy="512064"/>
          </a:xfrm>
          <a:prstGeom prst="rect">
            <a:avLst/>
          </a:prstGeom>
          <a:noFill/>
        </p:spPr>
        <p:txBody>
          <a:bodyPr wrap="square" lIns="0" rIns="0" tIns="0" bIns="0" anchor="ctr">
            <a:noAutofit/>
          </a:bodyPr>
          <a:lstStyle/>
          <a:p>
            <a:pPr algn="l">
              <a:spcBef>
                <a:spcPts val="0"/>
              </a:spcBef>
              <a:spcAft>
                <a:spcPts val="0"/>
              </a:spcAft>
            </a:pPr>
            <a:r>
              <a:rPr sz="1250" b="0" i="1">
                <a:solidFill>
                  <a:srgbClr val="1E2447"/>
                </a:solidFill>
                <a:latin typeface="Cambria"/>
              </a:rPr>
              <a:t>“In 1970, I accepted that I had attained samadhi. In this state, my hopes, thoughts, and desires were silent, and it was clear that the event of ‘knowing the unknown’ did not occur.”</a:t>
            </a:r>
          </a:p>
        </p:txBody>
      </p:sp>
      <p:sp>
        <p:nvSpPr>
          <p:cNvPr id="11" name="TextBox 10"/>
          <p:cNvSpPr txBox="1"/>
          <p:nvPr/>
        </p:nvSpPr>
        <p:spPr>
          <a:xfrm>
            <a:off x="950976" y="1828800"/>
            <a:ext cx="7351775" cy="201168"/>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MVD, p. 7</a:t>
            </a:r>
          </a:p>
        </p:txBody>
      </p:sp>
      <p:sp>
        <p:nvSpPr>
          <p:cNvPr id="12" name="Rounded Rectangle 11"/>
          <p:cNvSpPr/>
          <p:nvPr/>
        </p:nvSpPr>
        <p:spPr>
          <a:xfrm>
            <a:off x="640080" y="2267712"/>
            <a:ext cx="2514600" cy="1691640"/>
          </a:xfrm>
          <a:prstGeom prst="roundRect">
            <a:avLst>
              <a:gd name="adj" fmla="val 8000"/>
            </a:avLst>
          </a:prstGeom>
          <a:solidFill>
            <a:srgbClr val="EEF1F8"/>
          </a:solidFill>
          <a:ln>
            <a:noFill/>
          </a:ln>
        </p:spPr>
        <p:txBody>
          <a:bodyPr rtlCol="0" anchor="ctr"/>
          <a:lstStyle/>
          <a:p>
            <a:pPr algn="ctr"/>
          </a:p>
        </p:txBody>
      </p:sp>
      <p:sp>
        <p:nvSpPr>
          <p:cNvPr id="13" name="TextBox 12"/>
          <p:cNvSpPr txBox="1"/>
          <p:nvPr/>
        </p:nvSpPr>
        <p:spPr>
          <a:xfrm>
            <a:off x="841247" y="2377440"/>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The practice</a:t>
            </a:r>
          </a:p>
        </p:txBody>
      </p:sp>
      <p:sp>
        <p:nvSpPr>
          <p:cNvPr id="14" name="TextBox 13"/>
          <p:cNvSpPr txBox="1"/>
          <p:nvPr/>
        </p:nvSpPr>
        <p:spPr>
          <a:xfrm>
            <a:off x="841247" y="2724912"/>
            <a:ext cx="2112264" cy="112471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Traditional </a:t>
            </a:r>
            <a:r>
              <a:rPr sz="1200" b="0" i="1">
                <a:solidFill>
                  <a:srgbClr val="5A6377"/>
                </a:solidFill>
                <a:latin typeface="Calibri"/>
              </a:rPr>
              <a:t>upasana</a:t>
            </a:r>
            <a:r>
              <a:rPr sz="1200" b="0" i="0">
                <a:solidFill>
                  <a:srgbClr val="5A6377"/>
                </a:solidFill>
                <a:latin typeface="Calibri"/>
              </a:rPr>
              <a:t> from 1950 at Amarkantak; the state recurred twelve to eighteen hours a day (MVD p. 7; JV p. 12).</a:t>
            </a:r>
          </a:p>
        </p:txBody>
      </p:sp>
      <p:sp>
        <p:nvSpPr>
          <p:cNvPr id="15" name="Rounded Rectangle 14"/>
          <p:cNvSpPr/>
          <p:nvPr/>
        </p:nvSpPr>
        <p:spPr>
          <a:xfrm>
            <a:off x="3314700" y="2267712"/>
            <a:ext cx="2514600" cy="1691640"/>
          </a:xfrm>
          <a:prstGeom prst="roundRect">
            <a:avLst>
              <a:gd name="adj" fmla="val 8000"/>
            </a:avLst>
          </a:prstGeom>
          <a:solidFill>
            <a:srgbClr val="FAF1DF"/>
          </a:solidFill>
          <a:ln>
            <a:noFill/>
          </a:ln>
        </p:spPr>
        <p:txBody>
          <a:bodyPr rtlCol="0" anchor="ctr"/>
          <a:lstStyle/>
          <a:p>
            <a:pPr algn="ctr"/>
          </a:p>
        </p:txBody>
      </p:sp>
      <p:sp>
        <p:nvSpPr>
          <p:cNvPr id="16" name="TextBox 15"/>
          <p:cNvSpPr txBox="1"/>
          <p:nvPr/>
        </p:nvSpPr>
        <p:spPr>
          <a:xfrm>
            <a:off x="3515868" y="2377440"/>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Nothing to evidence</a:t>
            </a:r>
          </a:p>
        </p:txBody>
      </p:sp>
      <p:sp>
        <p:nvSpPr>
          <p:cNvPr id="17" name="TextBox 16"/>
          <p:cNvSpPr txBox="1"/>
          <p:nvPr/>
        </p:nvSpPr>
        <p:spPr>
          <a:xfrm>
            <a:off x="3515868" y="2724912"/>
            <a:ext cx="2112264" cy="112471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“There was nothing to describe in the state of samadhi; how could I present its evidence?” (JV p. 13).</a:t>
            </a:r>
          </a:p>
        </p:txBody>
      </p:sp>
      <p:sp>
        <p:nvSpPr>
          <p:cNvPr id="18" name="Rounded Rectangle 17"/>
          <p:cNvSpPr/>
          <p:nvPr/>
        </p:nvSpPr>
        <p:spPr>
          <a:xfrm>
            <a:off x="5989320" y="2267712"/>
            <a:ext cx="2514600" cy="1691640"/>
          </a:xfrm>
          <a:prstGeom prst="roundRect">
            <a:avLst>
              <a:gd name="adj" fmla="val 8000"/>
            </a:avLst>
          </a:prstGeom>
          <a:solidFill>
            <a:srgbClr val="EEF1F8"/>
          </a:solidFill>
          <a:ln>
            <a:noFill/>
          </a:ln>
        </p:spPr>
        <p:txBody>
          <a:bodyPr rtlCol="0" anchor="ctr"/>
          <a:lstStyle/>
          <a:p>
            <a:pPr algn="ctr"/>
          </a:p>
        </p:txBody>
      </p:sp>
      <p:sp>
        <p:nvSpPr>
          <p:cNvPr id="19" name="TextBox 18"/>
          <p:cNvSpPr txBox="1"/>
          <p:nvPr/>
        </p:nvSpPr>
        <p:spPr>
          <a:xfrm>
            <a:off x="6190488" y="2377440"/>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No programme of living</a:t>
            </a:r>
          </a:p>
        </p:txBody>
      </p:sp>
      <p:sp>
        <p:nvSpPr>
          <p:cNvPr id="20" name="TextBox 19"/>
          <p:cNvSpPr txBox="1"/>
          <p:nvPr/>
        </p:nvSpPr>
        <p:spPr>
          <a:xfrm>
            <a:off x="6190488" y="2724912"/>
            <a:ext cx="2112264" cy="112471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Self-limited happiness only; no part in family or society; usefulness becomes zero (AVD pp. 165, 220).</a:t>
            </a:r>
          </a:p>
        </p:txBody>
      </p:sp>
      <p:sp>
        <p:nvSpPr>
          <p:cNvPr id="21" name="TextBox 20"/>
          <p:cNvSpPr txBox="1"/>
          <p:nvPr/>
        </p:nvSpPr>
        <p:spPr>
          <a:xfrm>
            <a:off x="640080" y="4096512"/>
            <a:ext cx="7955279" cy="502920"/>
          </a:xfrm>
          <a:prstGeom prst="rect">
            <a:avLst/>
          </a:prstGeom>
          <a:noFill/>
        </p:spPr>
        <p:txBody>
          <a:bodyPr wrap="square" lIns="0" rIns="0" tIns="0" bIns="0" anchor="ctr">
            <a:noAutofit/>
          </a:bodyPr>
          <a:lstStyle/>
          <a:p>
            <a:pPr algn="l">
              <a:spcBef>
                <a:spcPts val="0"/>
              </a:spcBef>
              <a:spcAft>
                <a:spcPts val="0"/>
              </a:spcAft>
            </a:pPr>
            <a:r>
              <a:rPr sz="1200" b="0" i="1">
                <a:solidFill>
                  <a:srgbClr val="1E2447"/>
                </a:solidFill>
                <a:latin typeface="Calibri"/>
              </a:rPr>
              <a:t>Two claims: in samadhi no knowing occurs, and a state with nothing to describe cannot serve as evidence — even of itself.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TWO  ·  §1.4  ·  SAMYAMA</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What Led the Founder to Realisation</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 7  ·  JV p. 13  ·  AVD pp. 72–74, 87  ·  AnalyticMadhyasthDarshan.org  ·  13 / 28</a:t>
            </a:r>
          </a:p>
        </p:txBody>
      </p:sp>
      <p:sp>
        <p:nvSpPr>
          <p:cNvPr id="8" name="Rounded Rectangle 7"/>
          <p:cNvSpPr/>
          <p:nvPr/>
        </p:nvSpPr>
        <p:spPr>
          <a:xfrm>
            <a:off x="640080" y="1225296"/>
            <a:ext cx="1417320" cy="530352"/>
          </a:xfrm>
          <a:prstGeom prst="roundRect">
            <a:avLst>
              <a:gd name="adj" fmla="val 12000"/>
            </a:avLst>
          </a:prstGeom>
          <a:solidFill>
            <a:srgbClr val="1E2447"/>
          </a:solidFill>
          <a:ln>
            <a:noFill/>
          </a:ln>
        </p:spPr>
        <p:txBody>
          <a:bodyPr rtlCol="0" anchor="ctr"/>
          <a:lstStyle/>
          <a:p>
            <a:pPr algn="ctr"/>
          </a:p>
        </p:txBody>
      </p:sp>
      <p:sp>
        <p:nvSpPr>
          <p:cNvPr id="9" name="TextBox 8"/>
          <p:cNvSpPr txBox="1"/>
          <p:nvPr/>
        </p:nvSpPr>
        <p:spPr>
          <a:xfrm>
            <a:off x="685800" y="1225296"/>
            <a:ext cx="1325880" cy="530352"/>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Samadhi</a:t>
            </a:r>
          </a:p>
        </p:txBody>
      </p:sp>
      <p:sp>
        <p:nvSpPr>
          <p:cNvPr id="10" name="TextBox 9"/>
          <p:cNvSpPr txBox="1"/>
          <p:nvPr/>
        </p:nvSpPr>
        <p:spPr>
          <a:xfrm>
            <a:off x="2057400" y="1261872"/>
            <a:ext cx="27432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1" name="Rounded Rectangle 10"/>
          <p:cNvSpPr/>
          <p:nvPr/>
        </p:nvSpPr>
        <p:spPr>
          <a:xfrm>
            <a:off x="2331720" y="1225296"/>
            <a:ext cx="1417320" cy="530352"/>
          </a:xfrm>
          <a:prstGeom prst="roundRect">
            <a:avLst>
              <a:gd name="adj" fmla="val 12000"/>
            </a:avLst>
          </a:prstGeom>
          <a:solidFill>
            <a:srgbClr val="1E2447"/>
          </a:solidFill>
          <a:ln>
            <a:noFill/>
          </a:ln>
        </p:spPr>
        <p:txBody>
          <a:bodyPr rtlCol="0" anchor="ctr"/>
          <a:lstStyle/>
          <a:p>
            <a:pPr algn="ctr"/>
          </a:p>
        </p:txBody>
      </p:sp>
      <p:sp>
        <p:nvSpPr>
          <p:cNvPr id="12" name="TextBox 11"/>
          <p:cNvSpPr txBox="1"/>
          <p:nvPr/>
        </p:nvSpPr>
        <p:spPr>
          <a:xfrm>
            <a:off x="2377439" y="1225296"/>
            <a:ext cx="1325880" cy="530352"/>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Dhyan</a:t>
            </a:r>
          </a:p>
        </p:txBody>
      </p:sp>
      <p:sp>
        <p:nvSpPr>
          <p:cNvPr id="13" name="TextBox 12"/>
          <p:cNvSpPr txBox="1"/>
          <p:nvPr/>
        </p:nvSpPr>
        <p:spPr>
          <a:xfrm>
            <a:off x="3749039" y="1261872"/>
            <a:ext cx="27432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4" name="Rounded Rectangle 13"/>
          <p:cNvSpPr/>
          <p:nvPr/>
        </p:nvSpPr>
        <p:spPr>
          <a:xfrm>
            <a:off x="4023360" y="1225296"/>
            <a:ext cx="1417320" cy="530352"/>
          </a:xfrm>
          <a:prstGeom prst="roundRect">
            <a:avLst>
              <a:gd name="adj" fmla="val 12000"/>
            </a:avLst>
          </a:prstGeom>
          <a:solidFill>
            <a:srgbClr val="1E2447"/>
          </a:solidFill>
          <a:ln>
            <a:noFill/>
          </a:ln>
        </p:spPr>
        <p:txBody>
          <a:bodyPr rtlCol="0" anchor="ctr"/>
          <a:lstStyle/>
          <a:p>
            <a:pPr algn="ctr"/>
          </a:p>
        </p:txBody>
      </p:sp>
      <p:sp>
        <p:nvSpPr>
          <p:cNvPr id="15" name="TextBox 14"/>
          <p:cNvSpPr txBox="1"/>
          <p:nvPr/>
        </p:nvSpPr>
        <p:spPr>
          <a:xfrm>
            <a:off x="4069080" y="1225296"/>
            <a:ext cx="1325880" cy="530352"/>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Dharana</a:t>
            </a:r>
          </a:p>
        </p:txBody>
      </p:sp>
      <p:sp>
        <p:nvSpPr>
          <p:cNvPr id="16" name="TextBox 15"/>
          <p:cNvSpPr txBox="1"/>
          <p:nvPr/>
        </p:nvSpPr>
        <p:spPr>
          <a:xfrm>
            <a:off x="5806440" y="1188720"/>
            <a:ext cx="2697480" cy="603504"/>
          </a:xfrm>
          <a:prstGeom prst="rect">
            <a:avLst/>
          </a:prstGeom>
          <a:noFill/>
        </p:spPr>
        <p:txBody>
          <a:bodyPr wrap="square" lIns="0" rIns="0" tIns="0" bIns="0" anchor="ctr">
            <a:noAutofit/>
          </a:bodyPr>
          <a:lstStyle/>
          <a:p>
            <a:pPr algn="l">
              <a:spcBef>
                <a:spcPts val="0"/>
              </a:spcBef>
              <a:spcAft>
                <a:spcPts val="0"/>
              </a:spcAft>
            </a:pPr>
            <a:r>
              <a:rPr sz="1150" b="0" i="0">
                <a:solidFill>
                  <a:srgbClr val="5A6377"/>
                </a:solidFill>
                <a:latin typeface="Calibri"/>
              </a:rPr>
              <a:t>His own sequence for </a:t>
            </a:r>
            <a:r>
              <a:rPr sz="1150" b="0" i="1">
                <a:solidFill>
                  <a:srgbClr val="5A6377"/>
                </a:solidFill>
                <a:latin typeface="Calibri"/>
              </a:rPr>
              <a:t>samyama</a:t>
            </a:r>
            <a:r>
              <a:rPr sz="1150" b="0" i="0">
                <a:solidFill>
                  <a:srgbClr val="5A6377"/>
                </a:solidFill>
                <a:latin typeface="Calibri"/>
              </a:rPr>
              <a:t> — the reverse of the received order (MVD p. 7).</a:t>
            </a:r>
          </a:p>
        </p:txBody>
      </p:sp>
      <p:sp>
        <p:nvSpPr>
          <p:cNvPr id="17" name="Rounded Rectangle 16"/>
          <p:cNvSpPr/>
          <p:nvPr/>
        </p:nvSpPr>
        <p:spPr>
          <a:xfrm>
            <a:off x="640080" y="1938528"/>
            <a:ext cx="2514600" cy="1536192"/>
          </a:xfrm>
          <a:prstGeom prst="roundRect">
            <a:avLst>
              <a:gd name="adj" fmla="val 8000"/>
            </a:avLst>
          </a:prstGeom>
          <a:solidFill>
            <a:srgbClr val="EEF1F8"/>
          </a:solidFill>
          <a:ln>
            <a:noFill/>
          </a:ln>
        </p:spPr>
        <p:txBody>
          <a:bodyPr rtlCol="0" anchor="ctr"/>
          <a:lstStyle/>
          <a:p>
            <a:pPr algn="ctr"/>
          </a:p>
        </p:txBody>
      </p:sp>
      <p:sp>
        <p:nvSpPr>
          <p:cNvPr id="18" name="TextBox 17"/>
          <p:cNvSpPr txBox="1"/>
          <p:nvPr/>
        </p:nvSpPr>
        <p:spPr>
          <a:xfrm>
            <a:off x="841247" y="2048256"/>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Samyama on space</a:t>
            </a:r>
          </a:p>
        </p:txBody>
      </p:sp>
      <p:sp>
        <p:nvSpPr>
          <p:cNvPr id="19" name="TextBox 18"/>
          <p:cNvSpPr txBox="1"/>
          <p:nvPr/>
        </p:nvSpPr>
        <p:spPr>
          <a:xfrm>
            <a:off x="841247" y="2395728"/>
            <a:ext cx="2112264" cy="969264"/>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In the thoughtless state all realities were seen immersed in space; this prompted </a:t>
            </a:r>
            <a:r>
              <a:rPr sz="1200" b="0" i="1">
                <a:solidFill>
                  <a:srgbClr val="5A6377"/>
                </a:solidFill>
                <a:latin typeface="Calibri"/>
              </a:rPr>
              <a:t>samyama</a:t>
            </a:r>
            <a:r>
              <a:rPr sz="1200" b="0" i="0">
                <a:solidFill>
                  <a:srgbClr val="5A6377"/>
                </a:solidFill>
                <a:latin typeface="Calibri"/>
              </a:rPr>
              <a:t> on space itself (AVD p. 72).</a:t>
            </a:r>
          </a:p>
        </p:txBody>
      </p:sp>
      <p:sp>
        <p:nvSpPr>
          <p:cNvPr id="20" name="Rounded Rectangle 19"/>
          <p:cNvSpPr/>
          <p:nvPr/>
        </p:nvSpPr>
        <p:spPr>
          <a:xfrm>
            <a:off x="3314700" y="1938528"/>
            <a:ext cx="2514600" cy="1536192"/>
          </a:xfrm>
          <a:prstGeom prst="roundRect">
            <a:avLst>
              <a:gd name="adj" fmla="val 8000"/>
            </a:avLst>
          </a:prstGeom>
          <a:solidFill>
            <a:srgbClr val="EEF1F8"/>
          </a:solidFill>
          <a:ln>
            <a:noFill/>
          </a:ln>
        </p:spPr>
        <p:txBody>
          <a:bodyPr rtlCol="0" anchor="ctr"/>
          <a:lstStyle/>
          <a:p>
            <a:pPr algn="ctr"/>
          </a:p>
        </p:txBody>
      </p:sp>
      <p:sp>
        <p:nvSpPr>
          <p:cNvPr id="21" name="TextBox 20"/>
          <p:cNvSpPr txBox="1"/>
          <p:nvPr/>
        </p:nvSpPr>
        <p:spPr>
          <a:xfrm>
            <a:off x="3515868" y="2048256"/>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Existence as coexistence</a:t>
            </a:r>
          </a:p>
        </p:txBody>
      </p:sp>
      <p:sp>
        <p:nvSpPr>
          <p:cNvPr id="22" name="TextBox 21"/>
          <p:cNvSpPr txBox="1"/>
          <p:nvPr/>
        </p:nvSpPr>
        <p:spPr>
          <a:xfrm>
            <a:off x="3515868" y="2395728"/>
            <a:ext cx="2112264" cy="969264"/>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Existence then presented itself as coexistence, with </a:t>
            </a:r>
            <a:r>
              <a:rPr sz="1200" b="0" i="1">
                <a:solidFill>
                  <a:srgbClr val="5A6377"/>
                </a:solidFill>
                <a:latin typeface="Calibri"/>
              </a:rPr>
              <a:t>jeevan</a:t>
            </a:r>
            <a:r>
              <a:rPr sz="1200" b="0" i="0">
                <a:solidFill>
                  <a:srgbClr val="5A6377"/>
                </a:solidFill>
                <a:latin typeface="Calibri"/>
              </a:rPr>
              <a:t> within it. Seeing means understanding (AVD pp. 72, 87).</a:t>
            </a:r>
          </a:p>
        </p:txBody>
      </p:sp>
      <p:sp>
        <p:nvSpPr>
          <p:cNvPr id="23" name="Rounded Rectangle 22"/>
          <p:cNvSpPr/>
          <p:nvPr/>
        </p:nvSpPr>
        <p:spPr>
          <a:xfrm>
            <a:off x="5989320" y="1938528"/>
            <a:ext cx="2514600" cy="1536192"/>
          </a:xfrm>
          <a:prstGeom prst="roundRect">
            <a:avLst>
              <a:gd name="adj" fmla="val 8000"/>
            </a:avLst>
          </a:prstGeom>
          <a:solidFill>
            <a:srgbClr val="EEF1F8"/>
          </a:solidFill>
          <a:ln>
            <a:noFill/>
          </a:ln>
        </p:spPr>
        <p:txBody>
          <a:bodyPr rtlCol="0" anchor="ctr"/>
          <a:lstStyle/>
          <a:p>
            <a:pPr algn="ctr"/>
          </a:p>
        </p:txBody>
      </p:sp>
      <p:sp>
        <p:nvSpPr>
          <p:cNvPr id="24" name="TextBox 23"/>
          <p:cNvSpPr txBox="1"/>
          <p:nvPr/>
        </p:nvSpPr>
        <p:spPr>
          <a:xfrm>
            <a:off x="6190488" y="2048256"/>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Presented for study</a:t>
            </a:r>
          </a:p>
        </p:txBody>
      </p:sp>
      <p:sp>
        <p:nvSpPr>
          <p:cNvPr id="25" name="TextBox 24"/>
          <p:cNvSpPr txBox="1"/>
          <p:nvPr/>
        </p:nvSpPr>
        <p:spPr>
          <a:xfrm>
            <a:off x="6190488" y="2395728"/>
            <a:ext cx="2112264" cy="969264"/>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realisation was set out in literary form, so that others could study it (MVD p. 7).</a:t>
            </a:r>
          </a:p>
        </p:txBody>
      </p:sp>
      <p:sp>
        <p:nvSpPr>
          <p:cNvPr id="26" name="Rounded Rectangle 25"/>
          <p:cNvSpPr/>
          <p:nvPr/>
        </p:nvSpPr>
        <p:spPr>
          <a:xfrm>
            <a:off x="640080" y="3621024"/>
            <a:ext cx="7863840" cy="1005840"/>
          </a:xfrm>
          <a:prstGeom prst="roundRect">
            <a:avLst>
              <a:gd name="adj" fmla="val 8000"/>
            </a:avLst>
          </a:prstGeom>
          <a:solidFill>
            <a:srgbClr val="FAF1DF"/>
          </a:solidFill>
          <a:ln>
            <a:noFill/>
          </a:ln>
        </p:spPr>
        <p:txBody>
          <a:bodyPr rtlCol="0" anchor="ctr"/>
          <a:lstStyle/>
          <a:p>
            <a:pPr algn="ctr"/>
          </a:p>
        </p:txBody>
      </p:sp>
      <p:sp>
        <p:nvSpPr>
          <p:cNvPr id="27" name="TextBox 26"/>
          <p:cNvSpPr txBox="1"/>
          <p:nvPr/>
        </p:nvSpPr>
        <p:spPr>
          <a:xfrm>
            <a:off x="841247" y="3730752"/>
            <a:ext cx="746150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Not recommended to others</a:t>
            </a:r>
          </a:p>
        </p:txBody>
      </p:sp>
      <p:sp>
        <p:nvSpPr>
          <p:cNvPr id="28" name="TextBox 27"/>
          <p:cNvSpPr txBox="1"/>
          <p:nvPr/>
        </p:nvSpPr>
        <p:spPr>
          <a:xfrm>
            <a:off x="841247" y="4041648"/>
            <a:ext cx="7461504" cy="475488"/>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silence method yields only self-limited happiness, success within a lifetime cannot be assured, and silence is against the nature of </a:t>
            </a:r>
            <a:r>
              <a:rPr sz="1200" b="0" i="1">
                <a:solidFill>
                  <a:srgbClr val="5A6377"/>
                </a:solidFill>
                <a:latin typeface="Calibri"/>
              </a:rPr>
              <a:t>jeevan</a:t>
            </a:r>
            <a:r>
              <a:rPr sz="1200" b="0" i="0">
                <a:solidFill>
                  <a:srgbClr val="5A6377"/>
                </a:solidFill>
                <a:latin typeface="Calibri"/>
              </a:rPr>
              <a:t> (AVD pp. 72–74).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TWO  ·  §1.5  ·  WHAT PRACTICE REMOVES</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Mystery, Delusion, and Bondage</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80–81, 149, 273, 291, 318  ·  AVD pp. 84, 88, 139, 150, 155, 167  ·  AnalyticMadhyasthDarshan.org  ·  14 / 28</a:t>
            </a:r>
          </a:p>
        </p:txBody>
      </p:sp>
      <p:sp>
        <p:nvSpPr>
          <p:cNvPr id="8" name="Rounded Rectangle 7"/>
          <p:cNvSpPr/>
          <p:nvPr/>
        </p:nvSpPr>
        <p:spPr>
          <a:xfrm>
            <a:off x="640080" y="1188720"/>
            <a:ext cx="3840480" cy="1188720"/>
          </a:xfrm>
          <a:prstGeom prst="roundRect">
            <a:avLst>
              <a:gd name="adj" fmla="val 8000"/>
            </a:avLst>
          </a:prstGeom>
          <a:solidFill>
            <a:srgbClr val="EEF1F8"/>
          </a:solidFill>
          <a:ln>
            <a:noFill/>
          </a:ln>
        </p:spPr>
        <p:txBody>
          <a:bodyPr rtlCol="0" anchor="ctr"/>
          <a:lstStyle/>
          <a:p>
            <a:pPr algn="ctr"/>
          </a:p>
        </p:txBody>
      </p:sp>
      <p:sp>
        <p:nvSpPr>
          <p:cNvPr id="9" name="TextBox 8"/>
          <p:cNvSpPr txBox="1"/>
          <p:nvPr/>
        </p:nvSpPr>
        <p:spPr>
          <a:xfrm>
            <a:off x="841247" y="1298448"/>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Mystery (</a:t>
            </a:r>
            <a:r>
              <a:rPr sz="1300" b="1" i="1">
                <a:solidFill>
                  <a:srgbClr val="1E2447"/>
                </a:solidFill>
                <a:latin typeface="Cambria"/>
              </a:rPr>
              <a:t>rahasya</a:t>
            </a:r>
            <a:r>
              <a:rPr sz="1300" b="1" i="0">
                <a:solidFill>
                  <a:srgbClr val="1E2447"/>
                </a:solidFill>
                <a:latin typeface="Cambria"/>
              </a:rPr>
              <a:t>)</a:t>
            </a:r>
          </a:p>
        </p:txBody>
      </p:sp>
      <p:sp>
        <p:nvSpPr>
          <p:cNvPr id="10" name="TextBox 9"/>
          <p:cNvSpPr txBox="1"/>
          <p:nvPr/>
        </p:nvSpPr>
        <p:spPr>
          <a:xfrm>
            <a:off x="841247" y="1645920"/>
            <a:ext cx="3438144" cy="62179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Not revealing understanding, not being able to, or not being able to attain it (MVD p. 273). A lack of understanding, not a property of reality.</a:t>
            </a:r>
          </a:p>
        </p:txBody>
      </p:sp>
      <p:sp>
        <p:nvSpPr>
          <p:cNvPr id="11" name="Rounded Rectangle 10"/>
          <p:cNvSpPr/>
          <p:nvPr/>
        </p:nvSpPr>
        <p:spPr>
          <a:xfrm>
            <a:off x="4663440" y="1188720"/>
            <a:ext cx="3840480" cy="1188720"/>
          </a:xfrm>
          <a:prstGeom prst="roundRect">
            <a:avLst>
              <a:gd name="adj" fmla="val 8000"/>
            </a:avLst>
          </a:prstGeom>
          <a:solidFill>
            <a:srgbClr val="EEF1F8"/>
          </a:solidFill>
          <a:ln>
            <a:noFill/>
          </a:ln>
        </p:spPr>
        <p:txBody>
          <a:bodyPr rtlCol="0" anchor="ctr"/>
          <a:lstStyle/>
          <a:p>
            <a:pPr algn="ctr"/>
          </a:p>
        </p:txBody>
      </p:sp>
      <p:sp>
        <p:nvSpPr>
          <p:cNvPr id="12" name="TextBox 11"/>
          <p:cNvSpPr txBox="1"/>
          <p:nvPr/>
        </p:nvSpPr>
        <p:spPr>
          <a:xfrm>
            <a:off x="4864607" y="1298448"/>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Delusion (</a:t>
            </a:r>
            <a:r>
              <a:rPr sz="1300" b="1" i="1">
                <a:solidFill>
                  <a:srgbClr val="1E2447"/>
                </a:solidFill>
                <a:latin typeface="Cambria"/>
              </a:rPr>
              <a:t>bhram</a:t>
            </a:r>
            <a:r>
              <a:rPr sz="1300" b="1" i="0">
                <a:solidFill>
                  <a:srgbClr val="1E2447"/>
                </a:solidFill>
                <a:latin typeface="Cambria"/>
              </a:rPr>
              <a:t>)</a:t>
            </a:r>
          </a:p>
        </p:txBody>
      </p:sp>
      <p:sp>
        <p:nvSpPr>
          <p:cNvPr id="13" name="TextBox 12"/>
          <p:cNvSpPr txBox="1"/>
          <p:nvPr/>
        </p:nvSpPr>
        <p:spPr>
          <a:xfrm>
            <a:off x="4864607" y="1645920"/>
            <a:ext cx="3438144" cy="62179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Belief different from reality (MVD p. 291). Its root is taking the body to be </a:t>
            </a:r>
            <a:r>
              <a:rPr sz="1200" b="0" i="1">
                <a:solidFill>
                  <a:srgbClr val="5A6377"/>
                </a:solidFill>
                <a:latin typeface="Calibri"/>
              </a:rPr>
              <a:t>jeevan</a:t>
            </a:r>
            <a:r>
              <a:rPr sz="1200" b="0" i="0">
                <a:solidFill>
                  <a:srgbClr val="5A6377"/>
                </a:solidFill>
                <a:latin typeface="Calibri"/>
              </a:rPr>
              <a:t> (MVD pp. 80–81; AVD p. 88).</a:t>
            </a:r>
          </a:p>
        </p:txBody>
      </p:sp>
      <p:sp>
        <p:nvSpPr>
          <p:cNvPr id="14" name="Rounded Rectangle 13"/>
          <p:cNvSpPr/>
          <p:nvPr/>
        </p:nvSpPr>
        <p:spPr>
          <a:xfrm>
            <a:off x="640080" y="2542032"/>
            <a:ext cx="2514600" cy="457200"/>
          </a:xfrm>
          <a:prstGeom prst="roundRect">
            <a:avLst>
              <a:gd name="adj" fmla="val 12000"/>
            </a:avLst>
          </a:prstGeom>
          <a:solidFill>
            <a:srgbClr val="1E2447"/>
          </a:solidFill>
          <a:ln>
            <a:noFill/>
          </a:ln>
        </p:spPr>
        <p:txBody>
          <a:bodyPr rtlCol="0" anchor="ctr"/>
          <a:lstStyle/>
          <a:p>
            <a:pPr algn="ctr"/>
          </a:p>
        </p:txBody>
      </p:sp>
      <p:sp>
        <p:nvSpPr>
          <p:cNvPr id="15" name="TextBox 14"/>
          <p:cNvSpPr txBox="1"/>
          <p:nvPr/>
        </p:nvSpPr>
        <p:spPr>
          <a:xfrm>
            <a:off x="685800" y="2542032"/>
            <a:ext cx="2423160" cy="457200"/>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Bondage of hope</a:t>
            </a:r>
          </a:p>
        </p:txBody>
      </p:sp>
      <p:sp>
        <p:nvSpPr>
          <p:cNvPr id="16" name="TextBox 15"/>
          <p:cNvSpPr txBox="1"/>
          <p:nvPr/>
        </p:nvSpPr>
        <p:spPr>
          <a:xfrm>
            <a:off x="640080" y="3054096"/>
            <a:ext cx="2514600" cy="457200"/>
          </a:xfrm>
          <a:prstGeom prst="rect">
            <a:avLst/>
          </a:prstGeom>
          <a:noFill/>
        </p:spPr>
        <p:txBody>
          <a:bodyPr wrap="square" lIns="0" rIns="0" tIns="0" bIns="0" anchor="t">
            <a:noAutofit/>
          </a:bodyPr>
          <a:lstStyle/>
          <a:p>
            <a:pPr algn="ctr">
              <a:spcBef>
                <a:spcPts val="0"/>
              </a:spcBef>
              <a:spcAft>
                <a:spcPts val="0"/>
              </a:spcAft>
            </a:pPr>
            <a:r>
              <a:rPr sz="1100" b="0" i="0">
                <a:solidFill>
                  <a:srgbClr val="5A6377"/>
                </a:solidFill>
                <a:latin typeface="Calibri"/>
              </a:rPr>
              <a:t>directed at sensory gratification</a:t>
            </a:r>
          </a:p>
        </p:txBody>
      </p:sp>
      <p:sp>
        <p:nvSpPr>
          <p:cNvPr id="17" name="Rounded Rectangle 16"/>
          <p:cNvSpPr/>
          <p:nvPr/>
        </p:nvSpPr>
        <p:spPr>
          <a:xfrm>
            <a:off x="3314700" y="2542032"/>
            <a:ext cx="2514600" cy="457200"/>
          </a:xfrm>
          <a:prstGeom prst="roundRect">
            <a:avLst>
              <a:gd name="adj" fmla="val 12000"/>
            </a:avLst>
          </a:prstGeom>
          <a:solidFill>
            <a:srgbClr val="1E2447"/>
          </a:solidFill>
          <a:ln>
            <a:noFill/>
          </a:ln>
        </p:spPr>
        <p:txBody>
          <a:bodyPr rtlCol="0" anchor="ctr"/>
          <a:lstStyle/>
          <a:p>
            <a:pPr algn="ctr"/>
          </a:p>
        </p:txBody>
      </p:sp>
      <p:sp>
        <p:nvSpPr>
          <p:cNvPr id="18" name="TextBox 17"/>
          <p:cNvSpPr txBox="1"/>
          <p:nvPr/>
        </p:nvSpPr>
        <p:spPr>
          <a:xfrm>
            <a:off x="3360420" y="2542032"/>
            <a:ext cx="2423160" cy="457200"/>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Bondage of thought</a:t>
            </a:r>
          </a:p>
        </p:txBody>
      </p:sp>
      <p:sp>
        <p:nvSpPr>
          <p:cNvPr id="19" name="TextBox 18"/>
          <p:cNvSpPr txBox="1"/>
          <p:nvPr/>
        </p:nvSpPr>
        <p:spPr>
          <a:xfrm>
            <a:off x="3314700" y="3054096"/>
            <a:ext cx="2514600" cy="457200"/>
          </a:xfrm>
          <a:prstGeom prst="rect">
            <a:avLst/>
          </a:prstGeom>
          <a:noFill/>
        </p:spPr>
        <p:txBody>
          <a:bodyPr wrap="square" lIns="0" rIns="0" tIns="0" bIns="0" anchor="t">
            <a:noAutofit/>
          </a:bodyPr>
          <a:lstStyle/>
          <a:p>
            <a:pPr algn="ctr">
              <a:spcBef>
                <a:spcPts val="0"/>
              </a:spcBef>
              <a:spcAft>
                <a:spcPts val="0"/>
              </a:spcAft>
            </a:pPr>
            <a:r>
              <a:rPr sz="1100" b="0" i="0">
                <a:solidFill>
                  <a:srgbClr val="5A6377"/>
                </a:solidFill>
                <a:latin typeface="Calibri"/>
              </a:rPr>
              <a:t>taking one's own thoughts to be superior</a:t>
            </a:r>
          </a:p>
        </p:txBody>
      </p:sp>
      <p:sp>
        <p:nvSpPr>
          <p:cNvPr id="20" name="Rounded Rectangle 19"/>
          <p:cNvSpPr/>
          <p:nvPr/>
        </p:nvSpPr>
        <p:spPr>
          <a:xfrm>
            <a:off x="5989320" y="2542032"/>
            <a:ext cx="2514600" cy="457200"/>
          </a:xfrm>
          <a:prstGeom prst="roundRect">
            <a:avLst>
              <a:gd name="adj" fmla="val 12000"/>
            </a:avLst>
          </a:prstGeom>
          <a:solidFill>
            <a:srgbClr val="1E2447"/>
          </a:solidFill>
          <a:ln>
            <a:noFill/>
          </a:ln>
        </p:spPr>
        <p:txBody>
          <a:bodyPr rtlCol="0" anchor="ctr"/>
          <a:lstStyle/>
          <a:p>
            <a:pPr algn="ctr"/>
          </a:p>
        </p:txBody>
      </p:sp>
      <p:sp>
        <p:nvSpPr>
          <p:cNvPr id="21" name="TextBox 20"/>
          <p:cNvSpPr txBox="1"/>
          <p:nvPr/>
        </p:nvSpPr>
        <p:spPr>
          <a:xfrm>
            <a:off x="6035040" y="2542032"/>
            <a:ext cx="2423160" cy="457200"/>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Bondage of desire</a:t>
            </a:r>
          </a:p>
        </p:txBody>
      </p:sp>
      <p:sp>
        <p:nvSpPr>
          <p:cNvPr id="22" name="TextBox 21"/>
          <p:cNvSpPr txBox="1"/>
          <p:nvPr/>
        </p:nvSpPr>
        <p:spPr>
          <a:xfrm>
            <a:off x="5989320" y="3054096"/>
            <a:ext cx="2514600" cy="457200"/>
          </a:xfrm>
          <a:prstGeom prst="rect">
            <a:avLst/>
          </a:prstGeom>
          <a:noFill/>
        </p:spPr>
        <p:txBody>
          <a:bodyPr wrap="square" lIns="0" rIns="0" tIns="0" bIns="0" anchor="t">
            <a:noAutofit/>
          </a:bodyPr>
          <a:lstStyle/>
          <a:p>
            <a:pPr algn="ctr">
              <a:spcBef>
                <a:spcPts val="0"/>
              </a:spcBef>
              <a:spcAft>
                <a:spcPts val="0"/>
              </a:spcAft>
            </a:pPr>
            <a:r>
              <a:rPr sz="1100" b="0" i="0">
                <a:solidFill>
                  <a:srgbClr val="5A6377"/>
                </a:solidFill>
                <a:latin typeface="Calibri"/>
              </a:rPr>
              <a:t>taking maximised physical creation to be superior</a:t>
            </a:r>
          </a:p>
        </p:txBody>
      </p:sp>
      <p:sp>
        <p:nvSpPr>
          <p:cNvPr id="23" name="Rounded Rectangle 22"/>
          <p:cNvSpPr/>
          <p:nvPr/>
        </p:nvSpPr>
        <p:spPr>
          <a:xfrm>
            <a:off x="640080" y="3621024"/>
            <a:ext cx="7863840" cy="987552"/>
          </a:xfrm>
          <a:prstGeom prst="roundRect">
            <a:avLst>
              <a:gd name="adj" fmla="val 8000"/>
            </a:avLst>
          </a:prstGeom>
          <a:solidFill>
            <a:srgbClr val="FAF1DF"/>
          </a:solidFill>
          <a:ln>
            <a:noFill/>
          </a:ln>
        </p:spPr>
        <p:txBody>
          <a:bodyPr rtlCol="0" anchor="ctr"/>
          <a:lstStyle/>
          <a:p>
            <a:pPr algn="ctr"/>
          </a:p>
        </p:txBody>
      </p:sp>
      <p:sp>
        <p:nvSpPr>
          <p:cNvPr id="24" name="TextBox 23"/>
          <p:cNvSpPr txBox="1"/>
          <p:nvPr/>
        </p:nvSpPr>
        <p:spPr>
          <a:xfrm>
            <a:off x="841247" y="3730752"/>
            <a:ext cx="746150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Liberation is the removal of delusion</a:t>
            </a:r>
          </a:p>
        </p:txBody>
      </p:sp>
      <p:sp>
        <p:nvSpPr>
          <p:cNvPr id="25" name="TextBox 24"/>
          <p:cNvSpPr txBox="1"/>
          <p:nvPr/>
        </p:nvSpPr>
        <p:spPr>
          <a:xfrm>
            <a:off x="841247" y="4041648"/>
            <a:ext cx="7461504" cy="45720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Freedom from the bondage of delusion is </a:t>
            </a:r>
            <a:r>
              <a:rPr sz="1200" b="0" i="1">
                <a:solidFill>
                  <a:srgbClr val="5A6377"/>
                </a:solidFill>
                <a:latin typeface="Calibri"/>
              </a:rPr>
              <a:t>moksha</a:t>
            </a:r>
            <a:r>
              <a:rPr sz="1200" b="0" i="0">
                <a:solidFill>
                  <a:srgbClr val="5A6377"/>
                </a:solidFill>
                <a:latin typeface="Calibri"/>
              </a:rPr>
              <a:t>, and it is the evidence of awakening (AVD p. 84). What is bound, what binds, and what is freed is </a:t>
            </a:r>
            <a:r>
              <a:rPr sz="1200" b="0" i="1">
                <a:solidFill>
                  <a:srgbClr val="5A6377"/>
                </a:solidFill>
                <a:latin typeface="Calibri"/>
              </a:rPr>
              <a:t>jeevan</a:t>
            </a:r>
            <a:r>
              <a:rPr sz="1200" b="0" i="0">
                <a:solidFill>
                  <a:srgbClr val="5A6377"/>
                </a:solidFill>
                <a:latin typeface="Calibri"/>
              </a:rPr>
              <a:t> itself (AVD pp. 139, 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p:spPr>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p:spPr>
        <p:txBody>
          <a:bodyPr rtlCol="0" anchor="ctr"/>
          <a:lstStyle/>
          <a:p>
            <a:pPr algn="ctr"/>
          </a:p>
        </p:txBody>
      </p:sp>
      <p:sp>
        <p:nvSpPr>
          <p:cNvPr id="4" name="Oval 3"/>
          <p:cNvSpPr/>
          <p:nvPr/>
        </p:nvSpPr>
        <p:spPr>
          <a:xfrm>
            <a:off x="7068312" y="2039112"/>
            <a:ext cx="859536" cy="859536"/>
          </a:xfrm>
          <a:prstGeom prst="ellipse">
            <a:avLst/>
          </a:prstGeom>
          <a:solidFill>
            <a:srgbClr val="C9821E"/>
          </a:solidFill>
          <a:ln>
            <a:noFill/>
          </a:ln>
        </p:spPr>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p:spPr>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p:spPr>
        <p:txBody>
          <a:bodyPr rtlCol="0" anchor="ctr"/>
          <a:lstStyle/>
          <a:p>
            <a:pPr algn="ctr"/>
          </a:p>
        </p:txBody>
      </p:sp>
      <p:sp>
        <p:nvSpPr>
          <p:cNvPr id="7" name="Oval 6"/>
          <p:cNvSpPr/>
          <p:nvPr/>
        </p:nvSpPr>
        <p:spPr>
          <a:xfrm>
            <a:off x="5797296" y="3968496"/>
            <a:ext cx="283464" cy="283464"/>
          </a:xfrm>
          <a:prstGeom prst="ellipse">
            <a:avLst/>
          </a:prstGeom>
          <a:solidFill>
            <a:srgbClr val="C9D4EF"/>
          </a:solidFill>
          <a:ln>
            <a:noFill/>
          </a:ln>
        </p:spPr>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p:spPr>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p:spPr>
        <p:txBody>
          <a:bodyPr rtlCol="0" anchor="ctr"/>
          <a:lstStyle/>
          <a:p>
            <a:pPr algn="ctr"/>
          </a:p>
        </p:txBody>
      </p:sp>
      <p:sp>
        <p:nvSpPr>
          <p:cNvPr id="10" name="Oval 9"/>
          <p:cNvSpPr/>
          <p:nvPr/>
        </p:nvSpPr>
        <p:spPr>
          <a:xfrm>
            <a:off x="8412480" y="4297680"/>
            <a:ext cx="192024" cy="192024"/>
          </a:xfrm>
          <a:prstGeom prst="ellipse">
            <a:avLst/>
          </a:prstGeom>
          <a:solidFill>
            <a:srgbClr val="C9D4EF"/>
          </a:solidFill>
          <a:ln>
            <a:noFill/>
          </a:ln>
        </p:spPr>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lIns="0" rIns="0" tIns="0" bIns="0" anchor="ctr">
            <a:noAutofit/>
          </a:bodyPr>
          <a:lstStyle/>
          <a:p>
            <a:pPr algn="l">
              <a:spcBef>
                <a:spcPts val="0"/>
              </a:spcBef>
              <a:spcAft>
                <a:spcPts val="0"/>
              </a:spcAft>
            </a:pPr>
            <a:r>
              <a:rPr sz="1200" b="1" i="0">
                <a:solidFill>
                  <a:srgbClr val="C9821E"/>
                </a:solidFill>
                <a:latin typeface="Calibri"/>
              </a:rPr>
              <a:t>PART THREE  ·  STUDY §§1.6–1.10, 1.12</a:t>
            </a:r>
          </a:p>
        </p:txBody>
      </p:sp>
      <p:sp>
        <p:nvSpPr>
          <p:cNvPr id="12" name="TextBox 11"/>
          <p:cNvSpPr txBox="1"/>
          <p:nvPr/>
        </p:nvSpPr>
        <p:spPr>
          <a:xfrm>
            <a:off x="640080" y="1572768"/>
            <a:ext cx="5577840" cy="1371600"/>
          </a:xfrm>
          <a:prstGeom prst="rect">
            <a:avLst/>
          </a:prstGeom>
          <a:noFill/>
        </p:spPr>
        <p:txBody>
          <a:bodyPr wrap="square" lIns="0" rIns="0" tIns="0" bIns="0" anchor="ctr">
            <a:noAutofit/>
          </a:bodyPr>
          <a:lstStyle/>
          <a:p>
            <a:pPr algn="l">
              <a:spcBef>
                <a:spcPts val="0"/>
              </a:spcBef>
              <a:spcAft>
                <a:spcPts val="0"/>
              </a:spcAft>
            </a:pPr>
            <a:r>
              <a:rPr sz="4400" b="1" i="0">
                <a:solidFill>
                  <a:srgbClr val="FFFFFF"/>
                </a:solidFill>
                <a:latin typeface="Cambria"/>
              </a:rPr>
              <a:t>What a</a:t>
            </a:r>
          </a:p>
          <a:p>
            <a:pPr algn="l">
              <a:spcBef>
                <a:spcPts val="0"/>
              </a:spcBef>
              <a:spcAft>
                <a:spcPts val="0"/>
              </a:spcAft>
            </a:pPr>
            <a:r>
              <a:rPr sz="4400" b="1" i="0">
                <a:solidFill>
                  <a:srgbClr val="FFFFFF"/>
                </a:solidFill>
                <a:latin typeface="Cambria"/>
              </a:rPr>
              <a:t>Practitioner Does</a:t>
            </a:r>
          </a:p>
        </p:txBody>
      </p:sp>
      <p:sp>
        <p:nvSpPr>
          <p:cNvPr id="13" name="TextBox 12"/>
          <p:cNvSpPr txBox="1"/>
          <p:nvPr/>
        </p:nvSpPr>
        <p:spPr>
          <a:xfrm>
            <a:off x="640080" y="3035808"/>
            <a:ext cx="4846320" cy="1188720"/>
          </a:xfrm>
          <a:prstGeom prst="rect">
            <a:avLst/>
          </a:prstGeom>
          <a:noFill/>
        </p:spPr>
        <p:txBody>
          <a:bodyPr wrap="square" lIns="0" rIns="0" tIns="0" bIns="0" anchor="ctr">
            <a:noAutofit/>
          </a:bodyPr>
          <a:lstStyle/>
          <a:p>
            <a:pPr algn="l">
              <a:spcBef>
                <a:spcPts val="0"/>
              </a:spcBef>
              <a:spcAft>
                <a:spcPts val="0"/>
              </a:spcAft>
            </a:pPr>
            <a:r>
              <a:rPr sz="1600" b="0" i="1">
                <a:solidFill>
                  <a:srgbClr val="C9D4EF"/>
                </a:solidFill>
                <a:latin typeface="Calibri"/>
              </a:rPr>
              <a:t>Practice does not produce a state. It makes effective the activities jeevan already has — through study, refinement, inward regulation, and conduct.</a:t>
            </a:r>
          </a:p>
        </p:txBody>
      </p:sp>
      <p:sp>
        <p:nvSpPr>
          <p:cNvPr id="14" name="TextBox 13"/>
          <p:cNvSpPr txBox="1"/>
          <p:nvPr/>
        </p:nvSpPr>
        <p:spPr>
          <a:xfrm>
            <a:off x="640080" y="4370832"/>
            <a:ext cx="4754880" cy="274320"/>
          </a:xfrm>
          <a:prstGeom prst="rect">
            <a:avLst/>
          </a:prstGeom>
          <a:noFill/>
        </p:spPr>
        <p:txBody>
          <a:bodyPr wrap="square" lIns="0" rIns="0" tIns="0" bIns="0" anchor="ctr">
            <a:noAutofit/>
          </a:bodyPr>
          <a:lstStyle/>
          <a:p>
            <a:pPr algn="l">
              <a:spcBef>
                <a:spcPts val="0"/>
              </a:spcBef>
              <a:spcAft>
                <a:spcPts val="0"/>
              </a:spcAft>
            </a:pPr>
            <a:r>
              <a:rPr sz="1150" b="0" i="0">
                <a:solidFill>
                  <a:srgbClr val="8E9BC4"/>
                </a:solidFill>
                <a:latin typeface="Calibri"/>
              </a:rPr>
              <a:t>Answers  ·  Which activities?  ·  How activated and refined?</a:t>
            </a:r>
          </a:p>
        </p:txBody>
      </p:sp>
      <p:sp>
        <p:nvSpPr>
          <p:cNvPr id="15" name="TextBox 14"/>
          <p:cNvSpPr txBox="1"/>
          <p:nvPr/>
        </p:nvSpPr>
        <p:spPr>
          <a:xfrm>
            <a:off x="640080" y="4663440"/>
            <a:ext cx="4754880" cy="274320"/>
          </a:xfrm>
          <a:prstGeom prst="rect">
            <a:avLst/>
          </a:prstGeom>
          <a:noFill/>
        </p:spPr>
        <p:txBody>
          <a:bodyPr wrap="square" lIns="0" rIns="0" tIns="0" bIns="0" anchor="ctr">
            <a:noAutofit/>
          </a:bodyPr>
          <a:lstStyle/>
          <a:p>
            <a:pPr algn="l">
              <a:spcBef>
                <a:spcPts val="0"/>
              </a:spcBef>
              <a:spcAft>
                <a:spcPts val="0"/>
              </a:spcAft>
            </a:pPr>
            <a:r>
              <a:rPr sz="1150" b="0" i="0">
                <a:solidFill>
                  <a:srgbClr val="8E9BC4"/>
                </a:solidFill>
                <a:latin typeface="Calibri"/>
              </a:rPr>
              <a:t>AnalyticMadhyasthDarshan.org  ·  15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THREE  ·  §1.9  ·  THE ACTIVE KNOWER</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Ten Activities of Jeevan</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JV pp. 73–74, 92–94  ·  AVD pp. 87, 151–152  ·  MVD pp. 78–79  ·  AnalyticMadhyasthDarshan.org  ·  16 / 28</a:t>
            </a:r>
          </a:p>
        </p:txBody>
      </p:sp>
      <p:sp>
        <p:nvSpPr>
          <p:cNvPr id="8" name="TextBox 7"/>
          <p:cNvSpPr txBox="1"/>
          <p:nvPr/>
        </p:nvSpPr>
        <p:spPr>
          <a:xfrm>
            <a:off x="640080" y="1188720"/>
            <a:ext cx="7955279" cy="457200"/>
          </a:xfrm>
          <a:prstGeom prst="rect">
            <a:avLst/>
          </a:prstGeom>
          <a:noFill/>
        </p:spPr>
        <p:txBody>
          <a:bodyPr wrap="square" lIns="0" rIns="0" tIns="0" bIns="0" anchor="ctr">
            <a:noAutofit/>
          </a:bodyPr>
          <a:lstStyle/>
          <a:p>
            <a:pPr algn="l">
              <a:spcBef>
                <a:spcPts val="0"/>
              </a:spcBef>
              <a:spcAft>
                <a:spcPts val="0"/>
              </a:spcAft>
            </a:pPr>
            <a:r>
              <a:rPr sz="1250" b="0" i="0">
                <a:solidFill>
                  <a:srgbClr val="5A6377"/>
                </a:solidFill>
                <a:latin typeface="Calibri"/>
              </a:rPr>
              <a:t>Five faculties, each with an activity of reflection and one of projection. Every jeevan operates through all ten, in delusion or in awakening (JV p. 73).</a:t>
            </a:r>
          </a:p>
        </p:txBody>
      </p:sp>
      <p:sp>
        <p:nvSpPr>
          <p:cNvPr id="9" name="Rectangle 8"/>
          <p:cNvSpPr/>
          <p:nvPr/>
        </p:nvSpPr>
        <p:spPr>
          <a:xfrm>
            <a:off x="640080" y="1737360"/>
            <a:ext cx="1325880" cy="329184"/>
          </a:xfrm>
          <a:prstGeom prst="rect">
            <a:avLst/>
          </a:prstGeom>
          <a:solidFill>
            <a:srgbClr val="1E2447"/>
          </a:solidFill>
          <a:ln>
            <a:noFill/>
          </a:ln>
        </p:spPr>
        <p:txBody>
          <a:bodyPr rtlCol="0" anchor="ctr"/>
          <a:lstStyle/>
          <a:p>
            <a:pPr algn="ctr"/>
          </a:p>
        </p:txBody>
      </p:sp>
      <p:sp>
        <p:nvSpPr>
          <p:cNvPr id="10" name="TextBox 9"/>
          <p:cNvSpPr txBox="1"/>
          <p:nvPr/>
        </p:nvSpPr>
        <p:spPr>
          <a:xfrm>
            <a:off x="768096" y="1737360"/>
            <a:ext cx="1143000" cy="329184"/>
          </a:xfrm>
          <a:prstGeom prst="rect">
            <a:avLst/>
          </a:prstGeom>
          <a:noFill/>
        </p:spPr>
        <p:txBody>
          <a:bodyPr wrap="square" lIns="0" rIns="0" tIns="0" bIns="0" anchor="ctr">
            <a:noAutofit/>
          </a:bodyPr>
          <a:lstStyle/>
          <a:p>
            <a:pPr algn="l">
              <a:spcBef>
                <a:spcPts val="0"/>
              </a:spcBef>
              <a:spcAft>
                <a:spcPts val="0"/>
              </a:spcAft>
            </a:pPr>
            <a:r>
              <a:rPr sz="1150" b="1" i="0">
                <a:solidFill>
                  <a:srgbClr val="FFFFFF"/>
                </a:solidFill>
                <a:latin typeface="Calibri"/>
              </a:rPr>
              <a:t>Faculty</a:t>
            </a:r>
          </a:p>
        </p:txBody>
      </p:sp>
      <p:sp>
        <p:nvSpPr>
          <p:cNvPr id="11" name="Rectangle 10"/>
          <p:cNvSpPr/>
          <p:nvPr/>
        </p:nvSpPr>
        <p:spPr>
          <a:xfrm>
            <a:off x="1965960" y="1737360"/>
            <a:ext cx="1874519" cy="329184"/>
          </a:xfrm>
          <a:prstGeom prst="rect">
            <a:avLst/>
          </a:prstGeom>
          <a:solidFill>
            <a:srgbClr val="1E2447"/>
          </a:solidFill>
          <a:ln>
            <a:noFill/>
          </a:ln>
        </p:spPr>
        <p:txBody>
          <a:bodyPr rtlCol="0" anchor="ctr"/>
          <a:lstStyle/>
          <a:p>
            <a:pPr algn="ctr"/>
          </a:p>
        </p:txBody>
      </p:sp>
      <p:sp>
        <p:nvSpPr>
          <p:cNvPr id="12" name="TextBox 11"/>
          <p:cNvSpPr txBox="1"/>
          <p:nvPr/>
        </p:nvSpPr>
        <p:spPr>
          <a:xfrm>
            <a:off x="2093976" y="1737360"/>
            <a:ext cx="1691639" cy="329184"/>
          </a:xfrm>
          <a:prstGeom prst="rect">
            <a:avLst/>
          </a:prstGeom>
          <a:noFill/>
        </p:spPr>
        <p:txBody>
          <a:bodyPr wrap="square" lIns="0" rIns="0" tIns="0" bIns="0" anchor="ctr">
            <a:noAutofit/>
          </a:bodyPr>
          <a:lstStyle/>
          <a:p>
            <a:pPr algn="l">
              <a:spcBef>
                <a:spcPts val="0"/>
              </a:spcBef>
              <a:spcAft>
                <a:spcPts val="0"/>
              </a:spcAft>
            </a:pPr>
            <a:r>
              <a:rPr sz="1150" b="1" i="0">
                <a:solidFill>
                  <a:srgbClr val="FFFFFF"/>
                </a:solidFill>
                <a:latin typeface="Calibri"/>
              </a:rPr>
              <a:t>Reflection</a:t>
            </a:r>
          </a:p>
        </p:txBody>
      </p:sp>
      <p:sp>
        <p:nvSpPr>
          <p:cNvPr id="13" name="Rectangle 12"/>
          <p:cNvSpPr/>
          <p:nvPr/>
        </p:nvSpPr>
        <p:spPr>
          <a:xfrm>
            <a:off x="3840480" y="1737360"/>
            <a:ext cx="1874519" cy="329184"/>
          </a:xfrm>
          <a:prstGeom prst="rect">
            <a:avLst/>
          </a:prstGeom>
          <a:solidFill>
            <a:srgbClr val="1E2447"/>
          </a:solidFill>
          <a:ln>
            <a:noFill/>
          </a:ln>
        </p:spPr>
        <p:txBody>
          <a:bodyPr rtlCol="0" anchor="ctr"/>
          <a:lstStyle/>
          <a:p>
            <a:pPr algn="ctr"/>
          </a:p>
        </p:txBody>
      </p:sp>
      <p:sp>
        <p:nvSpPr>
          <p:cNvPr id="14" name="TextBox 13"/>
          <p:cNvSpPr txBox="1"/>
          <p:nvPr/>
        </p:nvSpPr>
        <p:spPr>
          <a:xfrm>
            <a:off x="3968496" y="1737360"/>
            <a:ext cx="1691639" cy="329184"/>
          </a:xfrm>
          <a:prstGeom prst="rect">
            <a:avLst/>
          </a:prstGeom>
          <a:noFill/>
        </p:spPr>
        <p:txBody>
          <a:bodyPr wrap="square" lIns="0" rIns="0" tIns="0" bIns="0" anchor="ctr">
            <a:noAutofit/>
          </a:bodyPr>
          <a:lstStyle/>
          <a:p>
            <a:pPr algn="l">
              <a:spcBef>
                <a:spcPts val="0"/>
              </a:spcBef>
              <a:spcAft>
                <a:spcPts val="0"/>
              </a:spcAft>
            </a:pPr>
            <a:r>
              <a:rPr sz="1150" b="1" i="0">
                <a:solidFill>
                  <a:srgbClr val="FFFFFF"/>
                </a:solidFill>
                <a:latin typeface="Calibri"/>
              </a:rPr>
              <a:t>Projection</a:t>
            </a:r>
          </a:p>
        </p:txBody>
      </p:sp>
      <p:sp>
        <p:nvSpPr>
          <p:cNvPr id="15" name="Rectangle 14"/>
          <p:cNvSpPr/>
          <p:nvPr/>
        </p:nvSpPr>
        <p:spPr>
          <a:xfrm>
            <a:off x="5715000" y="1737360"/>
            <a:ext cx="2788920" cy="329184"/>
          </a:xfrm>
          <a:prstGeom prst="rect">
            <a:avLst/>
          </a:prstGeom>
          <a:solidFill>
            <a:srgbClr val="1E2447"/>
          </a:solidFill>
          <a:ln>
            <a:noFill/>
          </a:ln>
        </p:spPr>
        <p:txBody>
          <a:bodyPr rtlCol="0" anchor="ctr"/>
          <a:lstStyle/>
          <a:p>
            <a:pPr algn="ctr"/>
          </a:p>
        </p:txBody>
      </p:sp>
      <p:sp>
        <p:nvSpPr>
          <p:cNvPr id="16" name="TextBox 15"/>
          <p:cNvSpPr txBox="1"/>
          <p:nvPr/>
        </p:nvSpPr>
        <p:spPr>
          <a:xfrm>
            <a:off x="5843016" y="1737360"/>
            <a:ext cx="2606039" cy="329184"/>
          </a:xfrm>
          <a:prstGeom prst="rect">
            <a:avLst/>
          </a:prstGeom>
          <a:noFill/>
        </p:spPr>
        <p:txBody>
          <a:bodyPr wrap="square" lIns="0" rIns="0" tIns="0" bIns="0" anchor="ctr">
            <a:noAutofit/>
          </a:bodyPr>
          <a:lstStyle/>
          <a:p>
            <a:pPr algn="l">
              <a:spcBef>
                <a:spcPts val="0"/>
              </a:spcBef>
              <a:spcAft>
                <a:spcPts val="0"/>
              </a:spcAft>
            </a:pPr>
            <a:r>
              <a:rPr sz="1150" b="1" i="0">
                <a:solidFill>
                  <a:srgbClr val="FFFFFF"/>
                </a:solidFill>
                <a:latin typeface="Calibri"/>
              </a:rPr>
              <a:t>Effective in delusion</a:t>
            </a:r>
          </a:p>
        </p:txBody>
      </p:sp>
      <p:sp>
        <p:nvSpPr>
          <p:cNvPr id="17" name="Rectangle 16"/>
          <p:cNvSpPr/>
          <p:nvPr/>
        </p:nvSpPr>
        <p:spPr>
          <a:xfrm>
            <a:off x="640080" y="2066543"/>
            <a:ext cx="7863840" cy="365760"/>
          </a:xfrm>
          <a:prstGeom prst="rect">
            <a:avLst/>
          </a:prstGeom>
          <a:solidFill>
            <a:srgbClr val="EEF1F8"/>
          </a:solidFill>
          <a:ln>
            <a:noFill/>
          </a:ln>
        </p:spPr>
        <p:txBody>
          <a:bodyPr rtlCol="0" anchor="ctr"/>
          <a:lstStyle/>
          <a:p>
            <a:pPr algn="ctr"/>
          </a:p>
        </p:txBody>
      </p:sp>
      <p:sp>
        <p:nvSpPr>
          <p:cNvPr id="18" name="TextBox 17"/>
          <p:cNvSpPr txBox="1"/>
          <p:nvPr/>
        </p:nvSpPr>
        <p:spPr>
          <a:xfrm>
            <a:off x="768096" y="2066543"/>
            <a:ext cx="1188720" cy="365760"/>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Atma</a:t>
            </a:r>
          </a:p>
        </p:txBody>
      </p:sp>
      <p:sp>
        <p:nvSpPr>
          <p:cNvPr id="19" name="TextBox 18"/>
          <p:cNvSpPr txBox="1"/>
          <p:nvPr/>
        </p:nvSpPr>
        <p:spPr>
          <a:xfrm>
            <a:off x="2093976" y="2066543"/>
            <a:ext cx="1691640" cy="365760"/>
          </a:xfrm>
          <a:prstGeom prst="rect">
            <a:avLst/>
          </a:prstGeom>
          <a:noFill/>
        </p:spPr>
        <p:txBody>
          <a:bodyPr wrap="square" lIns="0" rIns="0" tIns="0" bIns="0" anchor="ctr">
            <a:noAutofit/>
          </a:bodyPr>
          <a:lstStyle/>
          <a:p>
            <a:pPr algn="l">
              <a:spcBef>
                <a:spcPts val="0"/>
              </a:spcBef>
              <a:spcAft>
                <a:spcPts val="0"/>
              </a:spcAft>
            </a:pPr>
            <a:r>
              <a:rPr sz="1200" b="0" i="0">
                <a:solidFill>
                  <a:srgbClr val="5A6377"/>
                </a:solidFill>
                <a:latin typeface="Calibri"/>
              </a:rPr>
              <a:t>Realisation</a:t>
            </a:r>
          </a:p>
        </p:txBody>
      </p:sp>
      <p:sp>
        <p:nvSpPr>
          <p:cNvPr id="20" name="TextBox 19"/>
          <p:cNvSpPr txBox="1"/>
          <p:nvPr/>
        </p:nvSpPr>
        <p:spPr>
          <a:xfrm>
            <a:off x="3968496" y="2066543"/>
            <a:ext cx="1691640" cy="365760"/>
          </a:xfrm>
          <a:prstGeom prst="rect">
            <a:avLst/>
          </a:prstGeom>
          <a:noFill/>
        </p:spPr>
        <p:txBody>
          <a:bodyPr wrap="square" lIns="0" rIns="0" tIns="0" bIns="0" anchor="ctr">
            <a:noAutofit/>
          </a:bodyPr>
          <a:lstStyle/>
          <a:p>
            <a:pPr algn="l">
              <a:spcBef>
                <a:spcPts val="0"/>
              </a:spcBef>
              <a:spcAft>
                <a:spcPts val="0"/>
              </a:spcAft>
            </a:pPr>
            <a:r>
              <a:rPr sz="1200" b="0" i="0">
                <a:solidFill>
                  <a:srgbClr val="5A6377"/>
                </a:solidFill>
                <a:latin typeface="Calibri"/>
              </a:rPr>
              <a:t>Authenticity</a:t>
            </a:r>
          </a:p>
        </p:txBody>
      </p:sp>
      <p:sp>
        <p:nvSpPr>
          <p:cNvPr id="21" name="TextBox 20"/>
          <p:cNvSpPr txBox="1"/>
          <p:nvPr/>
        </p:nvSpPr>
        <p:spPr>
          <a:xfrm>
            <a:off x="5843016" y="2066543"/>
            <a:ext cx="2606040" cy="365760"/>
          </a:xfrm>
          <a:prstGeom prst="rect">
            <a:avLst/>
          </a:prstGeom>
          <a:noFill/>
        </p:spPr>
        <p:txBody>
          <a:bodyPr wrap="square" lIns="0" rIns="0" tIns="0" bIns="0" anchor="ctr">
            <a:noAutofit/>
          </a:bodyPr>
          <a:lstStyle/>
          <a:p>
            <a:pPr algn="l">
              <a:spcBef>
                <a:spcPts val="0"/>
              </a:spcBef>
              <a:spcAft>
                <a:spcPts val="0"/>
              </a:spcAft>
            </a:pPr>
            <a:r>
              <a:rPr sz="1200" b="0" i="1">
                <a:solidFill>
                  <a:srgbClr val="5A6377"/>
                </a:solidFill>
                <a:latin typeface="Calibri"/>
              </a:rPr>
              <a:t>Not effective</a:t>
            </a:r>
          </a:p>
        </p:txBody>
      </p:sp>
      <p:sp>
        <p:nvSpPr>
          <p:cNvPr id="22" name="Rectangle 21"/>
          <p:cNvSpPr/>
          <p:nvPr/>
        </p:nvSpPr>
        <p:spPr>
          <a:xfrm>
            <a:off x="640080" y="2432303"/>
            <a:ext cx="7863840" cy="365760"/>
          </a:xfrm>
          <a:prstGeom prst="rect">
            <a:avLst/>
          </a:prstGeom>
          <a:solidFill>
            <a:srgbClr val="FFFFFF"/>
          </a:solidFill>
          <a:ln>
            <a:noFill/>
          </a:ln>
        </p:spPr>
        <p:txBody>
          <a:bodyPr rtlCol="0" anchor="ctr"/>
          <a:lstStyle/>
          <a:p>
            <a:pPr algn="ctr"/>
          </a:p>
        </p:txBody>
      </p:sp>
      <p:sp>
        <p:nvSpPr>
          <p:cNvPr id="23" name="TextBox 22"/>
          <p:cNvSpPr txBox="1"/>
          <p:nvPr/>
        </p:nvSpPr>
        <p:spPr>
          <a:xfrm>
            <a:off x="768096" y="2432303"/>
            <a:ext cx="1188720" cy="365760"/>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Buddhi</a:t>
            </a:r>
          </a:p>
        </p:txBody>
      </p:sp>
      <p:sp>
        <p:nvSpPr>
          <p:cNvPr id="24" name="TextBox 23"/>
          <p:cNvSpPr txBox="1"/>
          <p:nvPr/>
        </p:nvSpPr>
        <p:spPr>
          <a:xfrm>
            <a:off x="2093976" y="2432303"/>
            <a:ext cx="1691640" cy="365760"/>
          </a:xfrm>
          <a:prstGeom prst="rect">
            <a:avLst/>
          </a:prstGeom>
          <a:noFill/>
        </p:spPr>
        <p:txBody>
          <a:bodyPr wrap="square" lIns="0" rIns="0" tIns="0" bIns="0" anchor="ctr">
            <a:noAutofit/>
          </a:bodyPr>
          <a:lstStyle/>
          <a:p>
            <a:pPr algn="l">
              <a:spcBef>
                <a:spcPts val="0"/>
              </a:spcBef>
              <a:spcAft>
                <a:spcPts val="0"/>
              </a:spcAft>
            </a:pPr>
            <a:r>
              <a:rPr sz="1200" b="0" i="0">
                <a:solidFill>
                  <a:srgbClr val="5A6377"/>
                </a:solidFill>
                <a:latin typeface="Calibri"/>
              </a:rPr>
              <a:t>Enlightenment</a:t>
            </a:r>
          </a:p>
        </p:txBody>
      </p:sp>
      <p:sp>
        <p:nvSpPr>
          <p:cNvPr id="25" name="TextBox 24"/>
          <p:cNvSpPr txBox="1"/>
          <p:nvPr/>
        </p:nvSpPr>
        <p:spPr>
          <a:xfrm>
            <a:off x="3968496" y="2432303"/>
            <a:ext cx="1691640" cy="365760"/>
          </a:xfrm>
          <a:prstGeom prst="rect">
            <a:avLst/>
          </a:prstGeom>
          <a:noFill/>
        </p:spPr>
        <p:txBody>
          <a:bodyPr wrap="square" lIns="0" rIns="0" tIns="0" bIns="0" anchor="ctr">
            <a:noAutofit/>
          </a:bodyPr>
          <a:lstStyle/>
          <a:p>
            <a:pPr algn="l">
              <a:spcBef>
                <a:spcPts val="0"/>
              </a:spcBef>
              <a:spcAft>
                <a:spcPts val="0"/>
              </a:spcAft>
            </a:pPr>
            <a:r>
              <a:rPr sz="1200" b="0" i="0">
                <a:solidFill>
                  <a:srgbClr val="5A6377"/>
                </a:solidFill>
                <a:latin typeface="Calibri"/>
              </a:rPr>
              <a:t>Resolve</a:t>
            </a:r>
          </a:p>
        </p:txBody>
      </p:sp>
      <p:sp>
        <p:nvSpPr>
          <p:cNvPr id="26" name="TextBox 25"/>
          <p:cNvSpPr txBox="1"/>
          <p:nvPr/>
        </p:nvSpPr>
        <p:spPr>
          <a:xfrm>
            <a:off x="5843016" y="2432303"/>
            <a:ext cx="2606040" cy="365760"/>
          </a:xfrm>
          <a:prstGeom prst="rect">
            <a:avLst/>
          </a:prstGeom>
          <a:noFill/>
        </p:spPr>
        <p:txBody>
          <a:bodyPr wrap="square" lIns="0" rIns="0" tIns="0" bIns="0" anchor="ctr">
            <a:noAutofit/>
          </a:bodyPr>
          <a:lstStyle/>
          <a:p>
            <a:pPr algn="l">
              <a:spcBef>
                <a:spcPts val="0"/>
              </a:spcBef>
              <a:spcAft>
                <a:spcPts val="0"/>
              </a:spcAft>
            </a:pPr>
            <a:r>
              <a:rPr sz="1200" b="0" i="1">
                <a:solidFill>
                  <a:srgbClr val="5A6377"/>
                </a:solidFill>
                <a:latin typeface="Calibri"/>
              </a:rPr>
              <a:t>Not effective</a:t>
            </a:r>
          </a:p>
        </p:txBody>
      </p:sp>
      <p:sp>
        <p:nvSpPr>
          <p:cNvPr id="27" name="Rectangle 26"/>
          <p:cNvSpPr/>
          <p:nvPr/>
        </p:nvSpPr>
        <p:spPr>
          <a:xfrm>
            <a:off x="640080" y="2798063"/>
            <a:ext cx="7863840" cy="365760"/>
          </a:xfrm>
          <a:prstGeom prst="rect">
            <a:avLst/>
          </a:prstGeom>
          <a:solidFill>
            <a:srgbClr val="EEF1F8"/>
          </a:solidFill>
          <a:ln>
            <a:noFill/>
          </a:ln>
        </p:spPr>
        <p:txBody>
          <a:bodyPr rtlCol="0" anchor="ctr"/>
          <a:lstStyle/>
          <a:p>
            <a:pPr algn="ctr"/>
          </a:p>
        </p:txBody>
      </p:sp>
      <p:sp>
        <p:nvSpPr>
          <p:cNvPr id="28" name="TextBox 27"/>
          <p:cNvSpPr txBox="1"/>
          <p:nvPr/>
        </p:nvSpPr>
        <p:spPr>
          <a:xfrm>
            <a:off x="768096" y="2798063"/>
            <a:ext cx="1188720" cy="365760"/>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Chitta</a:t>
            </a:r>
          </a:p>
        </p:txBody>
      </p:sp>
      <p:sp>
        <p:nvSpPr>
          <p:cNvPr id="29" name="TextBox 28"/>
          <p:cNvSpPr txBox="1"/>
          <p:nvPr/>
        </p:nvSpPr>
        <p:spPr>
          <a:xfrm>
            <a:off x="2093976" y="2798063"/>
            <a:ext cx="1691640" cy="365760"/>
          </a:xfrm>
          <a:prstGeom prst="rect">
            <a:avLst/>
          </a:prstGeom>
          <a:noFill/>
        </p:spPr>
        <p:txBody>
          <a:bodyPr wrap="square" lIns="0" rIns="0" tIns="0" bIns="0" anchor="ctr">
            <a:noAutofit/>
          </a:bodyPr>
          <a:lstStyle/>
          <a:p>
            <a:pPr algn="l">
              <a:spcBef>
                <a:spcPts val="0"/>
              </a:spcBef>
              <a:spcAft>
                <a:spcPts val="0"/>
              </a:spcAft>
            </a:pPr>
            <a:r>
              <a:rPr sz="1200" b="0" i="0">
                <a:solidFill>
                  <a:srgbClr val="5A6377"/>
                </a:solidFill>
                <a:latin typeface="Calibri"/>
              </a:rPr>
              <a:t>Contemplation</a:t>
            </a:r>
          </a:p>
        </p:txBody>
      </p:sp>
      <p:sp>
        <p:nvSpPr>
          <p:cNvPr id="30" name="TextBox 29"/>
          <p:cNvSpPr txBox="1"/>
          <p:nvPr/>
        </p:nvSpPr>
        <p:spPr>
          <a:xfrm>
            <a:off x="3968496" y="2798063"/>
            <a:ext cx="1691640" cy="365760"/>
          </a:xfrm>
          <a:prstGeom prst="rect">
            <a:avLst/>
          </a:prstGeom>
          <a:noFill/>
        </p:spPr>
        <p:txBody>
          <a:bodyPr wrap="square" lIns="0" rIns="0" tIns="0" bIns="0" anchor="ctr">
            <a:noAutofit/>
          </a:bodyPr>
          <a:lstStyle/>
          <a:p>
            <a:pPr algn="l">
              <a:spcBef>
                <a:spcPts val="0"/>
              </a:spcBef>
              <a:spcAft>
                <a:spcPts val="0"/>
              </a:spcAft>
            </a:pPr>
            <a:r>
              <a:rPr sz="1200" b="0" i="0">
                <a:solidFill>
                  <a:srgbClr val="5A6377"/>
                </a:solidFill>
                <a:latin typeface="Calibri"/>
              </a:rPr>
              <a:t>Visualisation</a:t>
            </a:r>
          </a:p>
        </p:txBody>
      </p:sp>
      <p:sp>
        <p:nvSpPr>
          <p:cNvPr id="31" name="TextBox 30"/>
          <p:cNvSpPr txBox="1"/>
          <p:nvPr/>
        </p:nvSpPr>
        <p:spPr>
          <a:xfrm>
            <a:off x="5843016" y="2798063"/>
            <a:ext cx="2606040" cy="365760"/>
          </a:xfrm>
          <a:prstGeom prst="rect">
            <a:avLst/>
          </a:prstGeom>
          <a:noFill/>
        </p:spPr>
        <p:txBody>
          <a:bodyPr wrap="square" lIns="0" rIns="0" tIns="0" bIns="0" anchor="ctr">
            <a:noAutofit/>
          </a:bodyPr>
          <a:lstStyle/>
          <a:p>
            <a:pPr algn="l">
              <a:spcBef>
                <a:spcPts val="0"/>
              </a:spcBef>
              <a:spcAft>
                <a:spcPts val="0"/>
              </a:spcAft>
            </a:pPr>
            <a:r>
              <a:rPr sz="1200" b="1" i="0">
                <a:solidFill>
                  <a:srgbClr val="9A6414"/>
                </a:solidFill>
                <a:latin typeface="Calibri"/>
              </a:rPr>
              <a:t>Visualisation</a:t>
            </a:r>
          </a:p>
        </p:txBody>
      </p:sp>
      <p:sp>
        <p:nvSpPr>
          <p:cNvPr id="32" name="Rectangle 31"/>
          <p:cNvSpPr/>
          <p:nvPr/>
        </p:nvSpPr>
        <p:spPr>
          <a:xfrm>
            <a:off x="640080" y="3163824"/>
            <a:ext cx="7863840" cy="365760"/>
          </a:xfrm>
          <a:prstGeom prst="rect">
            <a:avLst/>
          </a:prstGeom>
          <a:solidFill>
            <a:srgbClr val="FFFFFF"/>
          </a:solidFill>
          <a:ln>
            <a:noFill/>
          </a:ln>
        </p:spPr>
        <p:txBody>
          <a:bodyPr rtlCol="0" anchor="ctr"/>
          <a:lstStyle/>
          <a:p>
            <a:pPr algn="ctr"/>
          </a:p>
        </p:txBody>
      </p:sp>
      <p:sp>
        <p:nvSpPr>
          <p:cNvPr id="33" name="TextBox 32"/>
          <p:cNvSpPr txBox="1"/>
          <p:nvPr/>
        </p:nvSpPr>
        <p:spPr>
          <a:xfrm>
            <a:off x="768096" y="3163824"/>
            <a:ext cx="1188720" cy="365760"/>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Vritti</a:t>
            </a:r>
          </a:p>
        </p:txBody>
      </p:sp>
      <p:sp>
        <p:nvSpPr>
          <p:cNvPr id="34" name="TextBox 33"/>
          <p:cNvSpPr txBox="1"/>
          <p:nvPr/>
        </p:nvSpPr>
        <p:spPr>
          <a:xfrm>
            <a:off x="2093976" y="3163824"/>
            <a:ext cx="1691640" cy="365760"/>
          </a:xfrm>
          <a:prstGeom prst="rect">
            <a:avLst/>
          </a:prstGeom>
          <a:noFill/>
        </p:spPr>
        <p:txBody>
          <a:bodyPr wrap="square" lIns="0" rIns="0" tIns="0" bIns="0" anchor="ctr">
            <a:noAutofit/>
          </a:bodyPr>
          <a:lstStyle/>
          <a:p>
            <a:pPr algn="l">
              <a:spcBef>
                <a:spcPts val="0"/>
              </a:spcBef>
              <a:spcAft>
                <a:spcPts val="0"/>
              </a:spcAft>
            </a:pPr>
            <a:r>
              <a:rPr sz="1200" b="0" i="0">
                <a:solidFill>
                  <a:srgbClr val="5A6377"/>
                </a:solidFill>
                <a:latin typeface="Calibri"/>
              </a:rPr>
              <a:t>Deliberation</a:t>
            </a:r>
          </a:p>
        </p:txBody>
      </p:sp>
      <p:sp>
        <p:nvSpPr>
          <p:cNvPr id="35" name="TextBox 34"/>
          <p:cNvSpPr txBox="1"/>
          <p:nvPr/>
        </p:nvSpPr>
        <p:spPr>
          <a:xfrm>
            <a:off x="3968496" y="3163824"/>
            <a:ext cx="1691640" cy="365760"/>
          </a:xfrm>
          <a:prstGeom prst="rect">
            <a:avLst/>
          </a:prstGeom>
          <a:noFill/>
        </p:spPr>
        <p:txBody>
          <a:bodyPr wrap="square" lIns="0" rIns="0" tIns="0" bIns="0" anchor="ctr">
            <a:noAutofit/>
          </a:bodyPr>
          <a:lstStyle/>
          <a:p>
            <a:pPr algn="l">
              <a:spcBef>
                <a:spcPts val="0"/>
              </a:spcBef>
              <a:spcAft>
                <a:spcPts val="0"/>
              </a:spcAft>
            </a:pPr>
            <a:r>
              <a:rPr sz="1200" b="0" i="0">
                <a:solidFill>
                  <a:srgbClr val="5A6377"/>
                </a:solidFill>
                <a:latin typeface="Calibri"/>
              </a:rPr>
              <a:t>Analysis</a:t>
            </a:r>
          </a:p>
        </p:txBody>
      </p:sp>
      <p:sp>
        <p:nvSpPr>
          <p:cNvPr id="36" name="TextBox 35"/>
          <p:cNvSpPr txBox="1"/>
          <p:nvPr/>
        </p:nvSpPr>
        <p:spPr>
          <a:xfrm>
            <a:off x="5843016" y="3163824"/>
            <a:ext cx="2606040" cy="365760"/>
          </a:xfrm>
          <a:prstGeom prst="rect">
            <a:avLst/>
          </a:prstGeom>
          <a:noFill/>
        </p:spPr>
        <p:txBody>
          <a:bodyPr wrap="square" lIns="0" rIns="0" tIns="0" bIns="0" anchor="ctr">
            <a:noAutofit/>
          </a:bodyPr>
          <a:lstStyle/>
          <a:p>
            <a:pPr algn="l">
              <a:spcBef>
                <a:spcPts val="0"/>
              </a:spcBef>
              <a:spcAft>
                <a:spcPts val="0"/>
              </a:spcAft>
            </a:pPr>
            <a:r>
              <a:rPr sz="1200" b="1" i="0">
                <a:solidFill>
                  <a:srgbClr val="9A6414"/>
                </a:solidFill>
                <a:latin typeface="Calibri"/>
              </a:rPr>
              <a:t>Analysis; half of deliberation</a:t>
            </a:r>
          </a:p>
        </p:txBody>
      </p:sp>
      <p:sp>
        <p:nvSpPr>
          <p:cNvPr id="37" name="Rectangle 36"/>
          <p:cNvSpPr/>
          <p:nvPr/>
        </p:nvSpPr>
        <p:spPr>
          <a:xfrm>
            <a:off x="640080" y="3529584"/>
            <a:ext cx="7863840" cy="365760"/>
          </a:xfrm>
          <a:prstGeom prst="rect">
            <a:avLst/>
          </a:prstGeom>
          <a:solidFill>
            <a:srgbClr val="EEF1F8"/>
          </a:solidFill>
          <a:ln>
            <a:noFill/>
          </a:ln>
        </p:spPr>
        <p:txBody>
          <a:bodyPr rtlCol="0" anchor="ctr"/>
          <a:lstStyle/>
          <a:p>
            <a:pPr algn="ctr"/>
          </a:p>
        </p:txBody>
      </p:sp>
      <p:sp>
        <p:nvSpPr>
          <p:cNvPr id="38" name="TextBox 37"/>
          <p:cNvSpPr txBox="1"/>
          <p:nvPr/>
        </p:nvSpPr>
        <p:spPr>
          <a:xfrm>
            <a:off x="768096" y="3529584"/>
            <a:ext cx="1188720" cy="365760"/>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Mun</a:t>
            </a:r>
          </a:p>
        </p:txBody>
      </p:sp>
      <p:sp>
        <p:nvSpPr>
          <p:cNvPr id="39" name="TextBox 38"/>
          <p:cNvSpPr txBox="1"/>
          <p:nvPr/>
        </p:nvSpPr>
        <p:spPr>
          <a:xfrm>
            <a:off x="2093976" y="3529584"/>
            <a:ext cx="1691640" cy="365760"/>
          </a:xfrm>
          <a:prstGeom prst="rect">
            <a:avLst/>
          </a:prstGeom>
          <a:noFill/>
        </p:spPr>
        <p:txBody>
          <a:bodyPr wrap="square" lIns="0" rIns="0" tIns="0" bIns="0" anchor="ctr">
            <a:noAutofit/>
          </a:bodyPr>
          <a:lstStyle/>
          <a:p>
            <a:pPr algn="l">
              <a:spcBef>
                <a:spcPts val="0"/>
              </a:spcBef>
              <a:spcAft>
                <a:spcPts val="0"/>
              </a:spcAft>
            </a:pPr>
            <a:r>
              <a:rPr sz="1200" b="0" i="0">
                <a:solidFill>
                  <a:srgbClr val="5A6377"/>
                </a:solidFill>
                <a:latin typeface="Calibri"/>
              </a:rPr>
              <a:t>Taste</a:t>
            </a:r>
          </a:p>
        </p:txBody>
      </p:sp>
      <p:sp>
        <p:nvSpPr>
          <p:cNvPr id="40" name="TextBox 39"/>
          <p:cNvSpPr txBox="1"/>
          <p:nvPr/>
        </p:nvSpPr>
        <p:spPr>
          <a:xfrm>
            <a:off x="3968496" y="3529584"/>
            <a:ext cx="1691640" cy="365760"/>
          </a:xfrm>
          <a:prstGeom prst="rect">
            <a:avLst/>
          </a:prstGeom>
          <a:noFill/>
        </p:spPr>
        <p:txBody>
          <a:bodyPr wrap="square" lIns="0" rIns="0" tIns="0" bIns="0" anchor="ctr">
            <a:noAutofit/>
          </a:bodyPr>
          <a:lstStyle/>
          <a:p>
            <a:pPr algn="l">
              <a:spcBef>
                <a:spcPts val="0"/>
              </a:spcBef>
              <a:spcAft>
                <a:spcPts val="0"/>
              </a:spcAft>
            </a:pPr>
            <a:r>
              <a:rPr sz="1200" b="0" i="0">
                <a:solidFill>
                  <a:srgbClr val="5A6377"/>
                </a:solidFill>
                <a:latin typeface="Calibri"/>
              </a:rPr>
              <a:t>Selection</a:t>
            </a:r>
          </a:p>
        </p:txBody>
      </p:sp>
      <p:sp>
        <p:nvSpPr>
          <p:cNvPr id="41" name="TextBox 40"/>
          <p:cNvSpPr txBox="1"/>
          <p:nvPr/>
        </p:nvSpPr>
        <p:spPr>
          <a:xfrm>
            <a:off x="5843016" y="3529584"/>
            <a:ext cx="2606040" cy="365760"/>
          </a:xfrm>
          <a:prstGeom prst="rect">
            <a:avLst/>
          </a:prstGeom>
          <a:noFill/>
        </p:spPr>
        <p:txBody>
          <a:bodyPr wrap="square" lIns="0" rIns="0" tIns="0" bIns="0" anchor="ctr">
            <a:noAutofit/>
          </a:bodyPr>
          <a:lstStyle/>
          <a:p>
            <a:pPr algn="l">
              <a:spcBef>
                <a:spcPts val="0"/>
              </a:spcBef>
              <a:spcAft>
                <a:spcPts val="0"/>
              </a:spcAft>
            </a:pPr>
            <a:r>
              <a:rPr sz="1200" b="1" i="0">
                <a:solidFill>
                  <a:srgbClr val="9A6414"/>
                </a:solidFill>
                <a:latin typeface="Calibri"/>
              </a:rPr>
              <a:t>Taste and selection</a:t>
            </a:r>
          </a:p>
        </p:txBody>
      </p:sp>
      <p:sp>
        <p:nvSpPr>
          <p:cNvPr id="42" name="Rounded Rectangle 41"/>
          <p:cNvSpPr/>
          <p:nvPr/>
        </p:nvSpPr>
        <p:spPr>
          <a:xfrm>
            <a:off x="640080" y="4041648"/>
            <a:ext cx="7863840" cy="658368"/>
          </a:xfrm>
          <a:prstGeom prst="roundRect">
            <a:avLst>
              <a:gd name="adj" fmla="val 8000"/>
            </a:avLst>
          </a:prstGeom>
          <a:solidFill>
            <a:srgbClr val="FAF1DF"/>
          </a:solidFill>
          <a:ln>
            <a:noFill/>
          </a:ln>
        </p:spPr>
        <p:txBody>
          <a:bodyPr rtlCol="0" anchor="ctr"/>
          <a:lstStyle/>
          <a:p>
            <a:pPr algn="ctr"/>
          </a:p>
        </p:txBody>
      </p:sp>
      <p:sp>
        <p:nvSpPr>
          <p:cNvPr id="43" name="TextBox 42"/>
          <p:cNvSpPr txBox="1"/>
          <p:nvPr/>
        </p:nvSpPr>
        <p:spPr>
          <a:xfrm>
            <a:off x="841248" y="4041648"/>
            <a:ext cx="7461504" cy="658368"/>
          </a:xfrm>
          <a:prstGeom prst="rect">
            <a:avLst/>
          </a:prstGeom>
          <a:noFill/>
        </p:spPr>
        <p:txBody>
          <a:bodyPr wrap="square" lIns="0" rIns="0" tIns="0" bIns="0" anchor="ctr">
            <a:noAutofit/>
          </a:bodyPr>
          <a:lstStyle/>
          <a:p>
            <a:pPr algn="l">
              <a:spcBef>
                <a:spcPts val="0"/>
              </a:spcBef>
              <a:spcAft>
                <a:spcPts val="0"/>
              </a:spcAft>
            </a:pPr>
            <a:r>
              <a:rPr sz="1200" b="1" i="0">
                <a:solidFill>
                  <a:srgbClr val="9A6414"/>
                </a:solidFill>
                <a:latin typeface="Calibri"/>
              </a:rPr>
              <a:t>In delusion four and a half activities are effective — enough for the five senses and four instincts. The other five and a half awaken through understanding (JV pp. 73–74).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THREE  ·  §1.9  ·  THE 122 CONDUCTS</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Awakening Shows in 122 Conducts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323–340  ·  AVD pp. 91–94, 151  ·  AnalyticMadhyasthDarshan.org  ·  17 / 28</a:t>
            </a:r>
          </a:p>
        </p:txBody>
      </p:sp>
      <p:sp>
        <p:nvSpPr>
          <p:cNvPr id="8" name="TextBox 7"/>
          <p:cNvSpPr txBox="1"/>
          <p:nvPr/>
        </p:nvSpPr>
        <p:spPr>
          <a:xfrm>
            <a:off x="640080" y="1188720"/>
            <a:ext cx="7955279" cy="457200"/>
          </a:xfrm>
          <a:prstGeom prst="rect">
            <a:avLst/>
          </a:prstGeom>
          <a:noFill/>
        </p:spPr>
        <p:txBody>
          <a:bodyPr wrap="square" lIns="0" rIns="0" tIns="0" bIns="0" anchor="ctr">
            <a:noAutofit/>
          </a:bodyPr>
          <a:lstStyle/>
          <a:p>
            <a:pPr algn="l">
              <a:spcBef>
                <a:spcPts val="0"/>
              </a:spcBef>
              <a:spcAft>
                <a:spcPts val="0"/>
              </a:spcAft>
            </a:pPr>
            <a:r>
              <a:rPr sz="1250" b="0" i="0">
                <a:solidFill>
                  <a:srgbClr val="5A6377"/>
                </a:solidFill>
                <a:latin typeface="Calibri"/>
              </a:rPr>
              <a:t>In awakening the ten activities become evident in detail as 122 — sixty-one defined pairs of a reflective and a projective activity (MVD p. 323; AVD pp. 91–94).</a:t>
            </a:r>
          </a:p>
        </p:txBody>
      </p:sp>
      <p:sp>
        <p:nvSpPr>
          <p:cNvPr id="9" name="TextBox 8"/>
          <p:cNvSpPr txBox="1"/>
          <p:nvPr/>
        </p:nvSpPr>
        <p:spPr>
          <a:xfrm>
            <a:off x="640080" y="1810512"/>
            <a:ext cx="822960" cy="310896"/>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Atma</a:t>
            </a:r>
          </a:p>
        </p:txBody>
      </p:sp>
      <p:sp>
        <p:nvSpPr>
          <p:cNvPr id="10" name="Rectangle 9"/>
          <p:cNvSpPr/>
          <p:nvPr/>
        </p:nvSpPr>
        <p:spPr>
          <a:xfrm>
            <a:off x="1481328" y="1847088"/>
            <a:ext cx="73152" cy="237744"/>
          </a:xfrm>
          <a:prstGeom prst="rect">
            <a:avLst/>
          </a:prstGeom>
          <a:solidFill>
            <a:srgbClr val="3B4A7A"/>
          </a:solidFill>
          <a:ln>
            <a:noFill/>
          </a:ln>
        </p:spPr>
        <p:txBody>
          <a:bodyPr rtlCol="0" anchor="ctr"/>
          <a:lstStyle/>
          <a:p>
            <a:pPr algn="ctr"/>
          </a:p>
        </p:txBody>
      </p:sp>
      <p:sp>
        <p:nvSpPr>
          <p:cNvPr id="11" name="TextBox 10"/>
          <p:cNvSpPr txBox="1"/>
          <p:nvPr/>
        </p:nvSpPr>
        <p:spPr>
          <a:xfrm>
            <a:off x="1645920" y="1810512"/>
            <a:ext cx="457200" cy="310896"/>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libri"/>
              </a:rPr>
              <a:t>2</a:t>
            </a:r>
          </a:p>
        </p:txBody>
      </p:sp>
      <p:sp>
        <p:nvSpPr>
          <p:cNvPr id="12" name="TextBox 11"/>
          <p:cNvSpPr txBox="1"/>
          <p:nvPr/>
        </p:nvSpPr>
        <p:spPr>
          <a:xfrm>
            <a:off x="640080" y="2240280"/>
            <a:ext cx="822960" cy="310896"/>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Buddhi</a:t>
            </a:r>
          </a:p>
        </p:txBody>
      </p:sp>
      <p:sp>
        <p:nvSpPr>
          <p:cNvPr id="13" name="Rectangle 12"/>
          <p:cNvSpPr/>
          <p:nvPr/>
        </p:nvSpPr>
        <p:spPr>
          <a:xfrm>
            <a:off x="1481328" y="2276856"/>
            <a:ext cx="146304" cy="237744"/>
          </a:xfrm>
          <a:prstGeom prst="rect">
            <a:avLst/>
          </a:prstGeom>
          <a:solidFill>
            <a:srgbClr val="3B4A7A"/>
          </a:solidFill>
          <a:ln>
            <a:noFill/>
          </a:ln>
        </p:spPr>
        <p:txBody>
          <a:bodyPr rtlCol="0" anchor="ctr"/>
          <a:lstStyle/>
          <a:p>
            <a:pPr algn="ctr"/>
          </a:p>
        </p:txBody>
      </p:sp>
      <p:sp>
        <p:nvSpPr>
          <p:cNvPr id="14" name="TextBox 13"/>
          <p:cNvSpPr txBox="1"/>
          <p:nvPr/>
        </p:nvSpPr>
        <p:spPr>
          <a:xfrm>
            <a:off x="1719072" y="2240280"/>
            <a:ext cx="457200" cy="310896"/>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libri"/>
              </a:rPr>
              <a:t>4</a:t>
            </a:r>
          </a:p>
        </p:txBody>
      </p:sp>
      <p:sp>
        <p:nvSpPr>
          <p:cNvPr id="15" name="TextBox 14"/>
          <p:cNvSpPr txBox="1"/>
          <p:nvPr/>
        </p:nvSpPr>
        <p:spPr>
          <a:xfrm>
            <a:off x="640080" y="2670048"/>
            <a:ext cx="822960" cy="310896"/>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Chitta</a:t>
            </a:r>
          </a:p>
        </p:txBody>
      </p:sp>
      <p:sp>
        <p:nvSpPr>
          <p:cNvPr id="16" name="Rectangle 15"/>
          <p:cNvSpPr/>
          <p:nvPr/>
        </p:nvSpPr>
        <p:spPr>
          <a:xfrm>
            <a:off x="1481328" y="2706624"/>
            <a:ext cx="585216" cy="237744"/>
          </a:xfrm>
          <a:prstGeom prst="rect">
            <a:avLst/>
          </a:prstGeom>
          <a:solidFill>
            <a:srgbClr val="3B4A7A"/>
          </a:solidFill>
          <a:ln>
            <a:noFill/>
          </a:ln>
        </p:spPr>
        <p:txBody>
          <a:bodyPr rtlCol="0" anchor="ctr"/>
          <a:lstStyle/>
          <a:p>
            <a:pPr algn="ctr"/>
          </a:p>
        </p:txBody>
      </p:sp>
      <p:sp>
        <p:nvSpPr>
          <p:cNvPr id="17" name="TextBox 16"/>
          <p:cNvSpPr txBox="1"/>
          <p:nvPr/>
        </p:nvSpPr>
        <p:spPr>
          <a:xfrm>
            <a:off x="2157984" y="2670048"/>
            <a:ext cx="457200" cy="310896"/>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libri"/>
              </a:rPr>
              <a:t>16</a:t>
            </a:r>
          </a:p>
        </p:txBody>
      </p:sp>
      <p:sp>
        <p:nvSpPr>
          <p:cNvPr id="18" name="TextBox 17"/>
          <p:cNvSpPr txBox="1"/>
          <p:nvPr/>
        </p:nvSpPr>
        <p:spPr>
          <a:xfrm>
            <a:off x="640080" y="3099815"/>
            <a:ext cx="822960" cy="310896"/>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Vritti</a:t>
            </a:r>
          </a:p>
        </p:txBody>
      </p:sp>
      <p:sp>
        <p:nvSpPr>
          <p:cNvPr id="19" name="Rectangle 18"/>
          <p:cNvSpPr/>
          <p:nvPr/>
        </p:nvSpPr>
        <p:spPr>
          <a:xfrm>
            <a:off x="1481328" y="3136391"/>
            <a:ext cx="1316736" cy="237744"/>
          </a:xfrm>
          <a:prstGeom prst="rect">
            <a:avLst/>
          </a:prstGeom>
          <a:solidFill>
            <a:srgbClr val="3B4A7A"/>
          </a:solidFill>
          <a:ln>
            <a:noFill/>
          </a:ln>
        </p:spPr>
        <p:txBody>
          <a:bodyPr rtlCol="0" anchor="ctr"/>
          <a:lstStyle/>
          <a:p>
            <a:pPr algn="ctr"/>
          </a:p>
        </p:txBody>
      </p:sp>
      <p:sp>
        <p:nvSpPr>
          <p:cNvPr id="20" name="TextBox 19"/>
          <p:cNvSpPr txBox="1"/>
          <p:nvPr/>
        </p:nvSpPr>
        <p:spPr>
          <a:xfrm>
            <a:off x="2889504" y="3099815"/>
            <a:ext cx="457200" cy="310896"/>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libri"/>
              </a:rPr>
              <a:t>36</a:t>
            </a:r>
          </a:p>
        </p:txBody>
      </p:sp>
      <p:sp>
        <p:nvSpPr>
          <p:cNvPr id="21" name="TextBox 20"/>
          <p:cNvSpPr txBox="1"/>
          <p:nvPr/>
        </p:nvSpPr>
        <p:spPr>
          <a:xfrm>
            <a:off x="640080" y="3529584"/>
            <a:ext cx="822960" cy="310896"/>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Mun</a:t>
            </a:r>
          </a:p>
        </p:txBody>
      </p:sp>
      <p:sp>
        <p:nvSpPr>
          <p:cNvPr id="22" name="Rectangle 21"/>
          <p:cNvSpPr/>
          <p:nvPr/>
        </p:nvSpPr>
        <p:spPr>
          <a:xfrm>
            <a:off x="1481328" y="3566160"/>
            <a:ext cx="2340864" cy="237744"/>
          </a:xfrm>
          <a:prstGeom prst="rect">
            <a:avLst/>
          </a:prstGeom>
          <a:solidFill>
            <a:srgbClr val="C9821E"/>
          </a:solidFill>
          <a:ln>
            <a:noFill/>
          </a:ln>
        </p:spPr>
        <p:txBody>
          <a:bodyPr rtlCol="0" anchor="ctr"/>
          <a:lstStyle/>
          <a:p>
            <a:pPr algn="ctr"/>
          </a:p>
        </p:txBody>
      </p:sp>
      <p:sp>
        <p:nvSpPr>
          <p:cNvPr id="23" name="TextBox 22"/>
          <p:cNvSpPr txBox="1"/>
          <p:nvPr/>
        </p:nvSpPr>
        <p:spPr>
          <a:xfrm>
            <a:off x="3913631" y="3529584"/>
            <a:ext cx="457200" cy="310896"/>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libri"/>
              </a:rPr>
              <a:t>64</a:t>
            </a:r>
          </a:p>
        </p:txBody>
      </p:sp>
      <p:sp>
        <p:nvSpPr>
          <p:cNvPr id="24" name="TextBox 23"/>
          <p:cNvSpPr txBox="1"/>
          <p:nvPr/>
        </p:nvSpPr>
        <p:spPr>
          <a:xfrm>
            <a:off x="640080" y="3968496"/>
            <a:ext cx="3566160" cy="274320"/>
          </a:xfrm>
          <a:prstGeom prst="rect">
            <a:avLst/>
          </a:prstGeom>
          <a:noFill/>
        </p:spPr>
        <p:txBody>
          <a:bodyPr wrap="square" lIns="0" rIns="0" tIns="0" bIns="0" anchor="ctr">
            <a:noAutofit/>
          </a:bodyPr>
          <a:lstStyle/>
          <a:p>
            <a:pPr algn="l">
              <a:spcBef>
                <a:spcPts val="0"/>
              </a:spcBef>
              <a:spcAft>
                <a:spcPts val="0"/>
              </a:spcAft>
            </a:pPr>
            <a:r>
              <a:rPr sz="1150" b="0" i="1">
                <a:solidFill>
                  <a:srgbClr val="5A6377"/>
                </a:solidFill>
                <a:latin typeface="Calibri"/>
              </a:rPr>
              <a:t>In all: 122 activities in sixty-one pairs</a:t>
            </a:r>
          </a:p>
        </p:txBody>
      </p:sp>
      <p:sp>
        <p:nvSpPr>
          <p:cNvPr id="25" name="Rounded Rectangle 24"/>
          <p:cNvSpPr/>
          <p:nvPr/>
        </p:nvSpPr>
        <p:spPr>
          <a:xfrm>
            <a:off x="4434840" y="1810512"/>
            <a:ext cx="4069080" cy="2432304"/>
          </a:xfrm>
          <a:prstGeom prst="roundRect">
            <a:avLst>
              <a:gd name="adj" fmla="val 6000"/>
            </a:avLst>
          </a:prstGeom>
          <a:solidFill>
            <a:srgbClr val="EEF1F8"/>
          </a:solidFill>
          <a:ln>
            <a:noFill/>
          </a:ln>
        </p:spPr>
        <p:txBody>
          <a:bodyPr rtlCol="0" anchor="ctr"/>
          <a:lstStyle/>
          <a:p>
            <a:pPr algn="ctr"/>
          </a:p>
        </p:txBody>
      </p:sp>
      <p:sp>
        <p:nvSpPr>
          <p:cNvPr id="26" name="TextBox 25"/>
          <p:cNvSpPr txBox="1"/>
          <p:nvPr/>
        </p:nvSpPr>
        <p:spPr>
          <a:xfrm>
            <a:off x="4636008" y="1901952"/>
            <a:ext cx="365760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Some of the pairs</a:t>
            </a:r>
          </a:p>
        </p:txBody>
      </p:sp>
      <p:sp>
        <p:nvSpPr>
          <p:cNvPr id="27" name="TextBox 26"/>
          <p:cNvSpPr txBox="1"/>
          <p:nvPr/>
        </p:nvSpPr>
        <p:spPr>
          <a:xfrm>
            <a:off x="4636008" y="2249424"/>
            <a:ext cx="3703320" cy="365760"/>
          </a:xfrm>
          <a:prstGeom prst="rect">
            <a:avLst/>
          </a:prstGeom>
          <a:noFill/>
        </p:spPr>
        <p:txBody>
          <a:bodyPr wrap="square" lIns="0" rIns="0" tIns="0" bIns="0" anchor="t">
            <a:noAutofit/>
          </a:bodyPr>
          <a:lstStyle/>
          <a:p>
            <a:pPr algn="l">
              <a:spcBef>
                <a:spcPts val="0"/>
              </a:spcBef>
              <a:spcAft>
                <a:spcPts val="0"/>
              </a:spcAft>
            </a:pPr>
            <a:r>
              <a:rPr sz="1100" b="1" i="0">
                <a:solidFill>
                  <a:srgbClr val="5A6377"/>
                </a:solidFill>
                <a:latin typeface="Calibri"/>
              </a:rPr>
              <a:t>Atma</a:t>
            </a:r>
            <a:r>
              <a:rPr sz="1100" b="0" i="0">
                <a:solidFill>
                  <a:srgbClr val="5A6377"/>
                </a:solidFill>
                <a:latin typeface="Calibri"/>
              </a:rPr>
              <a:t> — realisation in existence; authenticity of ultimate bliss</a:t>
            </a:r>
          </a:p>
        </p:txBody>
      </p:sp>
      <p:sp>
        <p:nvSpPr>
          <p:cNvPr id="28" name="TextBox 27"/>
          <p:cNvSpPr txBox="1"/>
          <p:nvPr/>
        </p:nvSpPr>
        <p:spPr>
          <a:xfrm>
            <a:off x="4636008" y="2633472"/>
            <a:ext cx="3703320" cy="365760"/>
          </a:xfrm>
          <a:prstGeom prst="rect">
            <a:avLst/>
          </a:prstGeom>
          <a:noFill/>
        </p:spPr>
        <p:txBody>
          <a:bodyPr wrap="square" lIns="0" rIns="0" tIns="0" bIns="0" anchor="t">
            <a:noAutofit/>
          </a:bodyPr>
          <a:lstStyle/>
          <a:p>
            <a:pPr algn="l">
              <a:spcBef>
                <a:spcPts val="0"/>
              </a:spcBef>
              <a:spcAft>
                <a:spcPts val="0"/>
              </a:spcAft>
            </a:pPr>
            <a:r>
              <a:rPr sz="1100" b="1" i="0">
                <a:solidFill>
                  <a:srgbClr val="5A6377"/>
                </a:solidFill>
                <a:latin typeface="Calibri"/>
              </a:rPr>
              <a:t>Buddhi</a:t>
            </a:r>
            <a:r>
              <a:rPr sz="1100" b="0" i="0">
                <a:solidFill>
                  <a:srgbClr val="5A6377"/>
                </a:solidFill>
                <a:latin typeface="Calibri"/>
              </a:rPr>
              <a:t> — bliss and definiteness; existence and fearlessness</a:t>
            </a:r>
          </a:p>
        </p:txBody>
      </p:sp>
      <p:sp>
        <p:nvSpPr>
          <p:cNvPr id="29" name="TextBox 28"/>
          <p:cNvSpPr txBox="1"/>
          <p:nvPr/>
        </p:nvSpPr>
        <p:spPr>
          <a:xfrm>
            <a:off x="4636008" y="3017520"/>
            <a:ext cx="3703320" cy="365760"/>
          </a:xfrm>
          <a:prstGeom prst="rect">
            <a:avLst/>
          </a:prstGeom>
          <a:noFill/>
        </p:spPr>
        <p:txBody>
          <a:bodyPr wrap="square" lIns="0" rIns="0" tIns="0" bIns="0" anchor="t">
            <a:noAutofit/>
          </a:bodyPr>
          <a:lstStyle/>
          <a:p>
            <a:pPr algn="l">
              <a:spcBef>
                <a:spcPts val="0"/>
              </a:spcBef>
              <a:spcAft>
                <a:spcPts val="0"/>
              </a:spcAft>
            </a:pPr>
            <a:r>
              <a:rPr sz="1100" b="1" i="0">
                <a:solidFill>
                  <a:srgbClr val="5A6377"/>
                </a:solidFill>
                <a:latin typeface="Calibri"/>
              </a:rPr>
              <a:t>Chitta</a:t>
            </a:r>
            <a:r>
              <a:rPr sz="1100" b="0" i="0">
                <a:solidFill>
                  <a:srgbClr val="5A6377"/>
                </a:solidFill>
                <a:latin typeface="Calibri"/>
              </a:rPr>
              <a:t> — love and non-otherness; reverence and devoutness</a:t>
            </a:r>
          </a:p>
        </p:txBody>
      </p:sp>
      <p:sp>
        <p:nvSpPr>
          <p:cNvPr id="30" name="TextBox 29"/>
          <p:cNvSpPr txBox="1"/>
          <p:nvPr/>
        </p:nvSpPr>
        <p:spPr>
          <a:xfrm>
            <a:off x="4636008" y="3401568"/>
            <a:ext cx="3703320" cy="365760"/>
          </a:xfrm>
          <a:prstGeom prst="rect">
            <a:avLst/>
          </a:prstGeom>
          <a:noFill/>
        </p:spPr>
        <p:txBody>
          <a:bodyPr wrap="square" lIns="0" rIns="0" tIns="0" bIns="0" anchor="t">
            <a:noAutofit/>
          </a:bodyPr>
          <a:lstStyle/>
          <a:p>
            <a:pPr algn="l">
              <a:spcBef>
                <a:spcPts val="0"/>
              </a:spcBef>
              <a:spcAft>
                <a:spcPts val="0"/>
              </a:spcAft>
            </a:pPr>
            <a:r>
              <a:rPr sz="1100" b="1" i="0">
                <a:solidFill>
                  <a:srgbClr val="5A6377"/>
                </a:solidFill>
                <a:latin typeface="Calibri"/>
              </a:rPr>
              <a:t>Vritti</a:t>
            </a:r>
            <a:r>
              <a:rPr sz="1100" b="0" i="0">
                <a:solidFill>
                  <a:srgbClr val="5A6377"/>
                </a:solidFill>
                <a:latin typeface="Calibri"/>
              </a:rPr>
              <a:t> — peace and kindness; gratitude and humility</a:t>
            </a:r>
          </a:p>
        </p:txBody>
      </p:sp>
      <p:sp>
        <p:nvSpPr>
          <p:cNvPr id="31" name="TextBox 30"/>
          <p:cNvSpPr txBox="1"/>
          <p:nvPr/>
        </p:nvSpPr>
        <p:spPr>
          <a:xfrm>
            <a:off x="4636008" y="3785615"/>
            <a:ext cx="3703320" cy="365760"/>
          </a:xfrm>
          <a:prstGeom prst="rect">
            <a:avLst/>
          </a:prstGeom>
          <a:noFill/>
        </p:spPr>
        <p:txBody>
          <a:bodyPr wrap="square" lIns="0" rIns="0" tIns="0" bIns="0" anchor="t">
            <a:noAutofit/>
          </a:bodyPr>
          <a:lstStyle/>
          <a:p>
            <a:pPr algn="l">
              <a:spcBef>
                <a:spcPts val="0"/>
              </a:spcBef>
              <a:spcAft>
                <a:spcPts val="0"/>
              </a:spcAft>
            </a:pPr>
            <a:r>
              <a:rPr sz="1100" b="1" i="0">
                <a:solidFill>
                  <a:srgbClr val="5A6377"/>
                </a:solidFill>
                <a:latin typeface="Calibri"/>
              </a:rPr>
              <a:t>Mun</a:t>
            </a:r>
            <a:r>
              <a:rPr sz="1100" b="0" i="0">
                <a:solidFill>
                  <a:srgbClr val="5A6377"/>
                </a:solidFill>
                <a:latin typeface="Calibri"/>
              </a:rPr>
              <a:t> — devotion and immersion; affection and dedication</a:t>
            </a:r>
          </a:p>
        </p:txBody>
      </p:sp>
      <p:sp>
        <p:nvSpPr>
          <p:cNvPr id="32" name="Rounded Rectangle 31"/>
          <p:cNvSpPr/>
          <p:nvPr/>
        </p:nvSpPr>
        <p:spPr>
          <a:xfrm>
            <a:off x="640080" y="4315968"/>
            <a:ext cx="7863840" cy="438912"/>
          </a:xfrm>
          <a:prstGeom prst="roundRect">
            <a:avLst>
              <a:gd name="adj" fmla="val 8000"/>
            </a:avLst>
          </a:prstGeom>
          <a:solidFill>
            <a:srgbClr val="FAF1DF"/>
          </a:solidFill>
          <a:ln>
            <a:noFill/>
          </a:ln>
        </p:spPr>
        <p:txBody>
          <a:bodyPr rtlCol="0" anchor="ctr"/>
          <a:lstStyle/>
          <a:p>
            <a:pPr algn="ctr"/>
          </a:p>
        </p:txBody>
      </p:sp>
      <p:sp>
        <p:nvSpPr>
          <p:cNvPr id="33" name="TextBox 32"/>
          <p:cNvSpPr txBox="1"/>
          <p:nvPr/>
        </p:nvSpPr>
        <p:spPr>
          <a:xfrm>
            <a:off x="841248" y="4315968"/>
            <a:ext cx="7461504" cy="438912"/>
          </a:xfrm>
          <a:prstGeom prst="rect">
            <a:avLst/>
          </a:prstGeom>
          <a:noFill/>
        </p:spPr>
        <p:txBody>
          <a:bodyPr wrap="square" lIns="0" rIns="0" tIns="0" bIns="0" anchor="ctr">
            <a:noAutofit/>
          </a:bodyPr>
          <a:lstStyle/>
          <a:p>
            <a:pPr algn="l">
              <a:spcBef>
                <a:spcPts val="0"/>
              </a:spcBef>
              <a:spcAft>
                <a:spcPts val="0"/>
              </a:spcAft>
            </a:pPr>
            <a:r>
              <a:rPr sz="1200" b="1" i="0">
                <a:solidFill>
                  <a:srgbClr val="9A6414"/>
                </a:solidFill>
                <a:latin typeface="Calibri"/>
              </a:rPr>
              <a:t>Bliss, love, reverence, and devotion are conducts of awakened jeevan — not states attained in withdrawal.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THREE  ·  §1.10  ·  ACTIVATION</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Practice Repairs a Circuit</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126, 204, 275  ·  AVD pp. 86, 151, 223–224  ·  AnalyticMadhyasthDarshan.org  ·  18 / 28</a:t>
            </a:r>
          </a:p>
        </p:txBody>
      </p:sp>
      <p:sp>
        <p:nvSpPr>
          <p:cNvPr id="8" name="TextBox 7"/>
          <p:cNvSpPr txBox="1"/>
          <p:nvPr/>
        </p:nvSpPr>
        <p:spPr>
          <a:xfrm>
            <a:off x="640080" y="1243584"/>
            <a:ext cx="1143000" cy="603504"/>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In delusion</a:t>
            </a:r>
          </a:p>
        </p:txBody>
      </p:sp>
      <p:sp>
        <p:nvSpPr>
          <p:cNvPr id="9" name="Rounded Rectangle 8"/>
          <p:cNvSpPr/>
          <p:nvPr/>
        </p:nvSpPr>
        <p:spPr>
          <a:xfrm>
            <a:off x="1828800" y="1243584"/>
            <a:ext cx="1152144" cy="603504"/>
          </a:xfrm>
          <a:prstGeom prst="roundRect">
            <a:avLst>
              <a:gd name="adj" fmla="val 12000"/>
            </a:avLst>
          </a:prstGeom>
          <a:solidFill>
            <a:srgbClr val="FAF1DF"/>
          </a:solidFill>
          <a:ln>
            <a:noFill/>
          </a:ln>
        </p:spPr>
        <p:txBody>
          <a:bodyPr rtlCol="0" anchor="ctr"/>
          <a:lstStyle/>
          <a:p>
            <a:pPr algn="ctr"/>
          </a:p>
        </p:txBody>
      </p:sp>
      <p:sp>
        <p:nvSpPr>
          <p:cNvPr id="10" name="TextBox 9"/>
          <p:cNvSpPr txBox="1"/>
          <p:nvPr/>
        </p:nvSpPr>
        <p:spPr>
          <a:xfrm>
            <a:off x="1874519" y="1243584"/>
            <a:ext cx="1060704" cy="603504"/>
          </a:xfrm>
          <a:prstGeom prst="rect">
            <a:avLst/>
          </a:prstGeom>
          <a:noFill/>
        </p:spPr>
        <p:txBody>
          <a:bodyPr wrap="square" lIns="0" rIns="0" tIns="0" bIns="0" anchor="ctr">
            <a:noAutofit/>
          </a:bodyPr>
          <a:lstStyle/>
          <a:p>
            <a:pPr algn="ctr">
              <a:spcBef>
                <a:spcPts val="0"/>
              </a:spcBef>
              <a:spcAft>
                <a:spcPts val="0"/>
              </a:spcAft>
            </a:pPr>
            <a:r>
              <a:rPr sz="1250" b="1" i="0">
                <a:solidFill>
                  <a:srgbClr val="9A6414"/>
                </a:solidFill>
                <a:latin typeface="Cambria"/>
              </a:rPr>
              <a:t>Sensation</a:t>
            </a:r>
          </a:p>
          <a:p>
            <a:pPr algn="ctr">
              <a:spcBef>
                <a:spcPts val="0"/>
              </a:spcBef>
              <a:spcAft>
                <a:spcPts val="0"/>
              </a:spcAft>
            </a:pPr>
            <a:r>
              <a:rPr sz="950" b="0" i="1">
                <a:solidFill>
                  <a:srgbClr val="5A6377"/>
                </a:solidFill>
                <a:latin typeface="Calibri"/>
              </a:rPr>
              <a:t>the senses</a:t>
            </a:r>
          </a:p>
        </p:txBody>
      </p:sp>
      <p:sp>
        <p:nvSpPr>
          <p:cNvPr id="11" name="TextBox 10"/>
          <p:cNvSpPr txBox="1"/>
          <p:nvPr/>
        </p:nvSpPr>
        <p:spPr>
          <a:xfrm>
            <a:off x="2980944" y="1316736"/>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2" name="Rounded Rectangle 11"/>
          <p:cNvSpPr/>
          <p:nvPr/>
        </p:nvSpPr>
        <p:spPr>
          <a:xfrm>
            <a:off x="3209544" y="1243584"/>
            <a:ext cx="1152144" cy="603504"/>
          </a:xfrm>
          <a:prstGeom prst="roundRect">
            <a:avLst>
              <a:gd name="adj" fmla="val 12000"/>
            </a:avLst>
          </a:prstGeom>
          <a:solidFill>
            <a:srgbClr val="FAF1DF"/>
          </a:solidFill>
          <a:ln>
            <a:noFill/>
          </a:ln>
        </p:spPr>
        <p:txBody>
          <a:bodyPr rtlCol="0" anchor="ctr"/>
          <a:lstStyle/>
          <a:p>
            <a:pPr algn="ctr"/>
          </a:p>
        </p:txBody>
      </p:sp>
      <p:sp>
        <p:nvSpPr>
          <p:cNvPr id="13" name="TextBox 12"/>
          <p:cNvSpPr txBox="1"/>
          <p:nvPr/>
        </p:nvSpPr>
        <p:spPr>
          <a:xfrm>
            <a:off x="3255263" y="1243584"/>
            <a:ext cx="1060704" cy="603504"/>
          </a:xfrm>
          <a:prstGeom prst="rect">
            <a:avLst/>
          </a:prstGeom>
          <a:noFill/>
        </p:spPr>
        <p:txBody>
          <a:bodyPr wrap="square" lIns="0" rIns="0" tIns="0" bIns="0" anchor="ctr">
            <a:noAutofit/>
          </a:bodyPr>
          <a:lstStyle/>
          <a:p>
            <a:pPr algn="ctr">
              <a:spcBef>
                <a:spcPts val="0"/>
              </a:spcBef>
              <a:spcAft>
                <a:spcPts val="0"/>
              </a:spcAft>
            </a:pPr>
            <a:r>
              <a:rPr sz="1250" b="1" i="0">
                <a:solidFill>
                  <a:srgbClr val="9A6414"/>
                </a:solidFill>
                <a:latin typeface="Cambria"/>
              </a:rPr>
              <a:t>Hope</a:t>
            </a:r>
          </a:p>
          <a:p>
            <a:pPr algn="ctr">
              <a:spcBef>
                <a:spcPts val="0"/>
              </a:spcBef>
              <a:spcAft>
                <a:spcPts val="0"/>
              </a:spcAft>
            </a:pPr>
            <a:r>
              <a:rPr sz="950" b="0" i="1">
                <a:solidFill>
                  <a:srgbClr val="5A6377"/>
                </a:solidFill>
                <a:latin typeface="Calibri"/>
              </a:rPr>
              <a:t>in mun</a:t>
            </a:r>
          </a:p>
        </p:txBody>
      </p:sp>
      <p:sp>
        <p:nvSpPr>
          <p:cNvPr id="14" name="TextBox 13"/>
          <p:cNvSpPr txBox="1"/>
          <p:nvPr/>
        </p:nvSpPr>
        <p:spPr>
          <a:xfrm>
            <a:off x="4361688" y="1316736"/>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5" name="Rounded Rectangle 14"/>
          <p:cNvSpPr/>
          <p:nvPr/>
        </p:nvSpPr>
        <p:spPr>
          <a:xfrm>
            <a:off x="4590288" y="1243584"/>
            <a:ext cx="1152144" cy="603504"/>
          </a:xfrm>
          <a:prstGeom prst="roundRect">
            <a:avLst>
              <a:gd name="adj" fmla="val 12000"/>
            </a:avLst>
          </a:prstGeom>
          <a:solidFill>
            <a:srgbClr val="FAF1DF"/>
          </a:solidFill>
          <a:ln>
            <a:noFill/>
          </a:ln>
        </p:spPr>
        <p:txBody>
          <a:bodyPr rtlCol="0" anchor="ctr"/>
          <a:lstStyle/>
          <a:p>
            <a:pPr algn="ctr"/>
          </a:p>
        </p:txBody>
      </p:sp>
      <p:sp>
        <p:nvSpPr>
          <p:cNvPr id="16" name="TextBox 15"/>
          <p:cNvSpPr txBox="1"/>
          <p:nvPr/>
        </p:nvSpPr>
        <p:spPr>
          <a:xfrm>
            <a:off x="4636007" y="1243584"/>
            <a:ext cx="1060704" cy="603504"/>
          </a:xfrm>
          <a:prstGeom prst="rect">
            <a:avLst/>
          </a:prstGeom>
          <a:noFill/>
        </p:spPr>
        <p:txBody>
          <a:bodyPr wrap="square" lIns="0" rIns="0" tIns="0" bIns="0" anchor="ctr">
            <a:noAutofit/>
          </a:bodyPr>
          <a:lstStyle/>
          <a:p>
            <a:pPr algn="ctr">
              <a:spcBef>
                <a:spcPts val="0"/>
              </a:spcBef>
              <a:spcAft>
                <a:spcPts val="0"/>
              </a:spcAft>
            </a:pPr>
            <a:r>
              <a:rPr sz="1250" b="1" i="0">
                <a:solidFill>
                  <a:srgbClr val="9A6414"/>
                </a:solidFill>
                <a:latin typeface="Cambria"/>
              </a:rPr>
              <a:t>Thought</a:t>
            </a:r>
          </a:p>
          <a:p>
            <a:pPr algn="ctr">
              <a:spcBef>
                <a:spcPts val="0"/>
              </a:spcBef>
              <a:spcAft>
                <a:spcPts val="0"/>
              </a:spcAft>
            </a:pPr>
            <a:r>
              <a:rPr sz="950" b="0" i="1">
                <a:solidFill>
                  <a:srgbClr val="5A6377"/>
                </a:solidFill>
                <a:latin typeface="Calibri"/>
              </a:rPr>
              <a:t>in vritti</a:t>
            </a:r>
          </a:p>
        </p:txBody>
      </p:sp>
      <p:sp>
        <p:nvSpPr>
          <p:cNvPr id="17" name="TextBox 16"/>
          <p:cNvSpPr txBox="1"/>
          <p:nvPr/>
        </p:nvSpPr>
        <p:spPr>
          <a:xfrm>
            <a:off x="5742431" y="1316736"/>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8" name="Rounded Rectangle 17"/>
          <p:cNvSpPr/>
          <p:nvPr/>
        </p:nvSpPr>
        <p:spPr>
          <a:xfrm>
            <a:off x="5971032" y="1243584"/>
            <a:ext cx="1152144" cy="603504"/>
          </a:xfrm>
          <a:prstGeom prst="roundRect">
            <a:avLst>
              <a:gd name="adj" fmla="val 12000"/>
            </a:avLst>
          </a:prstGeom>
          <a:solidFill>
            <a:srgbClr val="FAF1DF"/>
          </a:solidFill>
          <a:ln>
            <a:noFill/>
          </a:ln>
        </p:spPr>
        <p:txBody>
          <a:bodyPr rtlCol="0" anchor="ctr"/>
          <a:lstStyle/>
          <a:p>
            <a:pPr algn="ctr"/>
          </a:p>
        </p:txBody>
      </p:sp>
      <p:sp>
        <p:nvSpPr>
          <p:cNvPr id="19" name="TextBox 18"/>
          <p:cNvSpPr txBox="1"/>
          <p:nvPr/>
        </p:nvSpPr>
        <p:spPr>
          <a:xfrm>
            <a:off x="6016752" y="1243584"/>
            <a:ext cx="1060704" cy="603504"/>
          </a:xfrm>
          <a:prstGeom prst="rect">
            <a:avLst/>
          </a:prstGeom>
          <a:noFill/>
        </p:spPr>
        <p:txBody>
          <a:bodyPr wrap="square" lIns="0" rIns="0" tIns="0" bIns="0" anchor="ctr">
            <a:noAutofit/>
          </a:bodyPr>
          <a:lstStyle/>
          <a:p>
            <a:pPr algn="ctr">
              <a:spcBef>
                <a:spcPts val="0"/>
              </a:spcBef>
              <a:spcAft>
                <a:spcPts val="0"/>
              </a:spcAft>
            </a:pPr>
            <a:r>
              <a:rPr sz="1250" b="1" i="0">
                <a:solidFill>
                  <a:srgbClr val="9A6414"/>
                </a:solidFill>
                <a:latin typeface="Cambria"/>
              </a:rPr>
              <a:t>Desire</a:t>
            </a:r>
          </a:p>
          <a:p>
            <a:pPr algn="ctr">
              <a:spcBef>
                <a:spcPts val="0"/>
              </a:spcBef>
              <a:spcAft>
                <a:spcPts val="0"/>
              </a:spcAft>
            </a:pPr>
            <a:r>
              <a:rPr sz="950" b="0" i="1">
                <a:solidFill>
                  <a:srgbClr val="5A6377"/>
                </a:solidFill>
                <a:latin typeface="Calibri"/>
              </a:rPr>
              <a:t>in chitta</a:t>
            </a:r>
          </a:p>
        </p:txBody>
      </p:sp>
      <p:sp>
        <p:nvSpPr>
          <p:cNvPr id="20" name="TextBox 19"/>
          <p:cNvSpPr txBox="1"/>
          <p:nvPr/>
        </p:nvSpPr>
        <p:spPr>
          <a:xfrm>
            <a:off x="7123176" y="1316736"/>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21" name="Rounded Rectangle 20"/>
          <p:cNvSpPr/>
          <p:nvPr/>
        </p:nvSpPr>
        <p:spPr>
          <a:xfrm>
            <a:off x="7351775" y="1243584"/>
            <a:ext cx="1152144" cy="603504"/>
          </a:xfrm>
          <a:prstGeom prst="roundRect">
            <a:avLst>
              <a:gd name="adj" fmla="val 12000"/>
            </a:avLst>
          </a:prstGeom>
          <a:solidFill>
            <a:srgbClr val="FAF1DF"/>
          </a:solidFill>
          <a:ln>
            <a:noFill/>
          </a:ln>
        </p:spPr>
        <p:txBody>
          <a:bodyPr rtlCol="0" anchor="ctr"/>
          <a:lstStyle/>
          <a:p>
            <a:pPr algn="ctr"/>
          </a:p>
        </p:txBody>
      </p:sp>
      <p:sp>
        <p:nvSpPr>
          <p:cNvPr id="22" name="TextBox 21"/>
          <p:cNvSpPr txBox="1"/>
          <p:nvPr/>
        </p:nvSpPr>
        <p:spPr>
          <a:xfrm>
            <a:off x="7397496" y="1243584"/>
            <a:ext cx="1060704" cy="603504"/>
          </a:xfrm>
          <a:prstGeom prst="rect">
            <a:avLst/>
          </a:prstGeom>
          <a:noFill/>
        </p:spPr>
        <p:txBody>
          <a:bodyPr wrap="square" lIns="0" rIns="0" tIns="0" bIns="0" anchor="ctr">
            <a:noAutofit/>
          </a:bodyPr>
          <a:lstStyle/>
          <a:p>
            <a:pPr algn="ctr">
              <a:spcBef>
                <a:spcPts val="0"/>
              </a:spcBef>
              <a:spcAft>
                <a:spcPts val="0"/>
              </a:spcAft>
            </a:pPr>
            <a:r>
              <a:rPr sz="1250" b="1" i="0">
                <a:solidFill>
                  <a:srgbClr val="9A6414"/>
                </a:solidFill>
                <a:latin typeface="Cambria"/>
              </a:rPr>
              <a:t>Buddhi</a:t>
            </a:r>
          </a:p>
          <a:p>
            <a:pPr algn="ctr">
              <a:spcBef>
                <a:spcPts val="0"/>
              </a:spcBef>
              <a:spcAft>
                <a:spcPts val="0"/>
              </a:spcAft>
            </a:pPr>
            <a:r>
              <a:rPr sz="950" b="0" i="1">
                <a:solidFill>
                  <a:srgbClr val="5A6377"/>
                </a:solidFill>
                <a:latin typeface="Calibri"/>
              </a:rPr>
              <a:t>turned from atma</a:t>
            </a:r>
          </a:p>
        </p:txBody>
      </p:sp>
      <p:sp>
        <p:nvSpPr>
          <p:cNvPr id="23" name="TextBox 22"/>
          <p:cNvSpPr txBox="1"/>
          <p:nvPr/>
        </p:nvSpPr>
        <p:spPr>
          <a:xfrm>
            <a:off x="1828800" y="1901952"/>
            <a:ext cx="6675120" cy="237744"/>
          </a:xfrm>
          <a:prstGeom prst="rect">
            <a:avLst/>
          </a:prstGeom>
          <a:noFill/>
        </p:spPr>
        <p:txBody>
          <a:bodyPr wrap="square" lIns="0" rIns="0" tIns="0" bIns="0" anchor="ctr">
            <a:noAutofit/>
          </a:bodyPr>
          <a:lstStyle/>
          <a:p>
            <a:pPr algn="l">
              <a:spcBef>
                <a:spcPts val="0"/>
              </a:spcBef>
              <a:spcAft>
                <a:spcPts val="0"/>
              </a:spcAft>
            </a:pPr>
            <a:r>
              <a:rPr sz="1050" b="0" i="1">
                <a:solidFill>
                  <a:srgbClr val="5A6377"/>
                </a:solidFill>
                <a:latin typeface="Calibri"/>
              </a:rPr>
              <a:t>Hope based on sensation drives the rest (MVD pp. 204, 275).</a:t>
            </a:r>
          </a:p>
        </p:txBody>
      </p:sp>
      <p:sp>
        <p:nvSpPr>
          <p:cNvPr id="24" name="TextBox 23"/>
          <p:cNvSpPr txBox="1"/>
          <p:nvPr/>
        </p:nvSpPr>
        <p:spPr>
          <a:xfrm>
            <a:off x="640080" y="2249424"/>
            <a:ext cx="1143000" cy="603504"/>
          </a:xfrm>
          <a:prstGeom prst="rect">
            <a:avLst/>
          </a:prstGeom>
          <a:noFill/>
        </p:spPr>
        <p:txBody>
          <a:bodyPr wrap="square" lIns="0" rIns="0" tIns="0" bIns="0" anchor="ctr">
            <a:noAutofit/>
          </a:bodyPr>
          <a:lstStyle/>
          <a:p>
            <a:pPr algn="l">
              <a:spcBef>
                <a:spcPts val="0"/>
              </a:spcBef>
              <a:spcAft>
                <a:spcPts val="0"/>
              </a:spcAft>
            </a:pPr>
            <a:r>
              <a:rPr sz="1300" b="1" i="0">
                <a:solidFill>
                  <a:srgbClr val="3B4A7A"/>
                </a:solidFill>
                <a:latin typeface="Cambria"/>
              </a:rPr>
              <a:t>In awakening</a:t>
            </a:r>
          </a:p>
        </p:txBody>
      </p:sp>
      <p:sp>
        <p:nvSpPr>
          <p:cNvPr id="25" name="Rounded Rectangle 24"/>
          <p:cNvSpPr/>
          <p:nvPr/>
        </p:nvSpPr>
        <p:spPr>
          <a:xfrm>
            <a:off x="1828800" y="2249424"/>
            <a:ext cx="1152144" cy="603504"/>
          </a:xfrm>
          <a:prstGeom prst="roundRect">
            <a:avLst>
              <a:gd name="adj" fmla="val 12000"/>
            </a:avLst>
          </a:prstGeom>
          <a:solidFill>
            <a:srgbClr val="1E2447"/>
          </a:solidFill>
          <a:ln>
            <a:noFill/>
          </a:ln>
        </p:spPr>
        <p:txBody>
          <a:bodyPr rtlCol="0" anchor="ctr"/>
          <a:lstStyle/>
          <a:p>
            <a:pPr algn="ctr"/>
          </a:p>
        </p:txBody>
      </p:sp>
      <p:sp>
        <p:nvSpPr>
          <p:cNvPr id="26" name="TextBox 25"/>
          <p:cNvSpPr txBox="1"/>
          <p:nvPr/>
        </p:nvSpPr>
        <p:spPr>
          <a:xfrm>
            <a:off x="1874519" y="2249424"/>
            <a:ext cx="1060704" cy="603504"/>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Atma</a:t>
            </a:r>
          </a:p>
          <a:p>
            <a:pPr algn="ctr">
              <a:spcBef>
                <a:spcPts val="0"/>
              </a:spcBef>
              <a:spcAft>
                <a:spcPts val="0"/>
              </a:spcAft>
            </a:pPr>
            <a:r>
              <a:rPr sz="950" b="0" i="1">
                <a:solidFill>
                  <a:srgbClr val="C9D4EF"/>
                </a:solidFill>
                <a:latin typeface="Calibri"/>
              </a:rPr>
              <a:t>realisation</a:t>
            </a:r>
          </a:p>
        </p:txBody>
      </p:sp>
      <p:sp>
        <p:nvSpPr>
          <p:cNvPr id="27" name="TextBox 26"/>
          <p:cNvSpPr txBox="1"/>
          <p:nvPr/>
        </p:nvSpPr>
        <p:spPr>
          <a:xfrm>
            <a:off x="2980944" y="2322576"/>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28" name="Rounded Rectangle 27"/>
          <p:cNvSpPr/>
          <p:nvPr/>
        </p:nvSpPr>
        <p:spPr>
          <a:xfrm>
            <a:off x="3209544" y="2249424"/>
            <a:ext cx="1152144" cy="603504"/>
          </a:xfrm>
          <a:prstGeom prst="roundRect">
            <a:avLst>
              <a:gd name="adj" fmla="val 12000"/>
            </a:avLst>
          </a:prstGeom>
          <a:solidFill>
            <a:srgbClr val="1E2447"/>
          </a:solidFill>
          <a:ln>
            <a:noFill/>
          </a:ln>
        </p:spPr>
        <p:txBody>
          <a:bodyPr rtlCol="0" anchor="ctr"/>
          <a:lstStyle/>
          <a:p>
            <a:pPr algn="ctr"/>
          </a:p>
        </p:txBody>
      </p:sp>
      <p:sp>
        <p:nvSpPr>
          <p:cNvPr id="29" name="TextBox 28"/>
          <p:cNvSpPr txBox="1"/>
          <p:nvPr/>
        </p:nvSpPr>
        <p:spPr>
          <a:xfrm>
            <a:off x="3255263" y="2249424"/>
            <a:ext cx="1060704" cy="603504"/>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Buddhi</a:t>
            </a:r>
          </a:p>
          <a:p>
            <a:pPr algn="ctr">
              <a:spcBef>
                <a:spcPts val="0"/>
              </a:spcBef>
              <a:spcAft>
                <a:spcPts val="0"/>
              </a:spcAft>
            </a:pPr>
            <a:r>
              <a:rPr sz="950" b="0" i="1">
                <a:solidFill>
                  <a:srgbClr val="C9D4EF"/>
                </a:solidFill>
                <a:latin typeface="Calibri"/>
              </a:rPr>
              <a:t>enlightenment</a:t>
            </a:r>
          </a:p>
        </p:txBody>
      </p:sp>
      <p:sp>
        <p:nvSpPr>
          <p:cNvPr id="30" name="TextBox 29"/>
          <p:cNvSpPr txBox="1"/>
          <p:nvPr/>
        </p:nvSpPr>
        <p:spPr>
          <a:xfrm>
            <a:off x="4361688" y="2322576"/>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31" name="Rounded Rectangle 30"/>
          <p:cNvSpPr/>
          <p:nvPr/>
        </p:nvSpPr>
        <p:spPr>
          <a:xfrm>
            <a:off x="4590288" y="2249424"/>
            <a:ext cx="1152144" cy="603504"/>
          </a:xfrm>
          <a:prstGeom prst="roundRect">
            <a:avLst>
              <a:gd name="adj" fmla="val 12000"/>
            </a:avLst>
          </a:prstGeom>
          <a:solidFill>
            <a:srgbClr val="1E2447"/>
          </a:solidFill>
          <a:ln>
            <a:noFill/>
          </a:ln>
        </p:spPr>
        <p:txBody>
          <a:bodyPr rtlCol="0" anchor="ctr"/>
          <a:lstStyle/>
          <a:p>
            <a:pPr algn="ctr"/>
          </a:p>
        </p:txBody>
      </p:sp>
      <p:sp>
        <p:nvSpPr>
          <p:cNvPr id="32" name="TextBox 31"/>
          <p:cNvSpPr txBox="1"/>
          <p:nvPr/>
        </p:nvSpPr>
        <p:spPr>
          <a:xfrm>
            <a:off x="4636007" y="2249424"/>
            <a:ext cx="1060704" cy="603504"/>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Chitta</a:t>
            </a:r>
          </a:p>
          <a:p>
            <a:pPr algn="ctr">
              <a:spcBef>
                <a:spcPts val="0"/>
              </a:spcBef>
              <a:spcAft>
                <a:spcPts val="0"/>
              </a:spcAft>
            </a:pPr>
            <a:r>
              <a:rPr sz="950" b="0" i="1">
                <a:solidFill>
                  <a:srgbClr val="C9D4EF"/>
                </a:solidFill>
                <a:latin typeface="Calibri"/>
              </a:rPr>
              <a:t>desire</a:t>
            </a:r>
          </a:p>
        </p:txBody>
      </p:sp>
      <p:sp>
        <p:nvSpPr>
          <p:cNvPr id="33" name="TextBox 32"/>
          <p:cNvSpPr txBox="1"/>
          <p:nvPr/>
        </p:nvSpPr>
        <p:spPr>
          <a:xfrm>
            <a:off x="5742431" y="2322576"/>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34" name="Rounded Rectangle 33"/>
          <p:cNvSpPr/>
          <p:nvPr/>
        </p:nvSpPr>
        <p:spPr>
          <a:xfrm>
            <a:off x="5971032" y="2249424"/>
            <a:ext cx="1152144" cy="603504"/>
          </a:xfrm>
          <a:prstGeom prst="roundRect">
            <a:avLst>
              <a:gd name="adj" fmla="val 12000"/>
            </a:avLst>
          </a:prstGeom>
          <a:solidFill>
            <a:srgbClr val="1E2447"/>
          </a:solidFill>
          <a:ln>
            <a:noFill/>
          </a:ln>
        </p:spPr>
        <p:txBody>
          <a:bodyPr rtlCol="0" anchor="ctr"/>
          <a:lstStyle/>
          <a:p>
            <a:pPr algn="ctr"/>
          </a:p>
        </p:txBody>
      </p:sp>
      <p:sp>
        <p:nvSpPr>
          <p:cNvPr id="35" name="TextBox 34"/>
          <p:cNvSpPr txBox="1"/>
          <p:nvPr/>
        </p:nvSpPr>
        <p:spPr>
          <a:xfrm>
            <a:off x="6016752" y="2249424"/>
            <a:ext cx="1060704" cy="603504"/>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Vritti</a:t>
            </a:r>
          </a:p>
          <a:p>
            <a:pPr algn="ctr">
              <a:spcBef>
                <a:spcPts val="0"/>
              </a:spcBef>
              <a:spcAft>
                <a:spcPts val="0"/>
              </a:spcAft>
            </a:pPr>
            <a:r>
              <a:rPr sz="950" b="0" i="1">
                <a:solidFill>
                  <a:srgbClr val="C9D4EF"/>
                </a:solidFill>
                <a:latin typeface="Calibri"/>
              </a:rPr>
              <a:t>thought</a:t>
            </a:r>
          </a:p>
        </p:txBody>
      </p:sp>
      <p:sp>
        <p:nvSpPr>
          <p:cNvPr id="36" name="TextBox 35"/>
          <p:cNvSpPr txBox="1"/>
          <p:nvPr/>
        </p:nvSpPr>
        <p:spPr>
          <a:xfrm>
            <a:off x="7123176" y="2322576"/>
            <a:ext cx="228600" cy="457200"/>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37" name="Rounded Rectangle 36"/>
          <p:cNvSpPr/>
          <p:nvPr/>
        </p:nvSpPr>
        <p:spPr>
          <a:xfrm>
            <a:off x="7351775" y="2249424"/>
            <a:ext cx="1152144" cy="603504"/>
          </a:xfrm>
          <a:prstGeom prst="roundRect">
            <a:avLst>
              <a:gd name="adj" fmla="val 12000"/>
            </a:avLst>
          </a:prstGeom>
          <a:solidFill>
            <a:srgbClr val="1E2447"/>
          </a:solidFill>
          <a:ln>
            <a:noFill/>
          </a:ln>
        </p:spPr>
        <p:txBody>
          <a:bodyPr rtlCol="0" anchor="ctr"/>
          <a:lstStyle/>
          <a:p>
            <a:pPr algn="ctr"/>
          </a:p>
        </p:txBody>
      </p:sp>
      <p:sp>
        <p:nvSpPr>
          <p:cNvPr id="38" name="TextBox 37"/>
          <p:cNvSpPr txBox="1"/>
          <p:nvPr/>
        </p:nvSpPr>
        <p:spPr>
          <a:xfrm>
            <a:off x="7397496" y="2249424"/>
            <a:ext cx="1060704" cy="603504"/>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Mun</a:t>
            </a:r>
          </a:p>
          <a:p>
            <a:pPr algn="ctr">
              <a:spcBef>
                <a:spcPts val="0"/>
              </a:spcBef>
              <a:spcAft>
                <a:spcPts val="0"/>
              </a:spcAft>
            </a:pPr>
            <a:r>
              <a:rPr sz="950" b="0" i="1">
                <a:solidFill>
                  <a:srgbClr val="C9D4EF"/>
                </a:solidFill>
                <a:latin typeface="Calibri"/>
              </a:rPr>
              <a:t>hope</a:t>
            </a:r>
          </a:p>
        </p:txBody>
      </p:sp>
      <p:sp>
        <p:nvSpPr>
          <p:cNvPr id="39" name="TextBox 38"/>
          <p:cNvSpPr txBox="1"/>
          <p:nvPr/>
        </p:nvSpPr>
        <p:spPr>
          <a:xfrm>
            <a:off x="1828800" y="2907791"/>
            <a:ext cx="6675120" cy="237744"/>
          </a:xfrm>
          <a:prstGeom prst="rect">
            <a:avLst/>
          </a:prstGeom>
          <a:noFill/>
        </p:spPr>
        <p:txBody>
          <a:bodyPr wrap="square" lIns="0" rIns="0" tIns="0" bIns="0" anchor="ctr">
            <a:noAutofit/>
          </a:bodyPr>
          <a:lstStyle/>
          <a:p>
            <a:pPr algn="l">
              <a:spcBef>
                <a:spcPts val="0"/>
              </a:spcBef>
              <a:spcAft>
                <a:spcPts val="0"/>
              </a:spcAft>
            </a:pPr>
            <a:r>
              <a:rPr sz="1050" b="0" i="1">
                <a:solidFill>
                  <a:srgbClr val="5A6377"/>
                </a:solidFill>
                <a:latin typeface="Calibri"/>
              </a:rPr>
              <a:t>Each faculty accords with the one within it (MVD p. 275).</a:t>
            </a:r>
          </a:p>
        </p:txBody>
      </p:sp>
      <p:sp>
        <p:nvSpPr>
          <p:cNvPr id="40" name="Rounded Rectangle 39"/>
          <p:cNvSpPr/>
          <p:nvPr/>
        </p:nvSpPr>
        <p:spPr>
          <a:xfrm>
            <a:off x="640080" y="3273552"/>
            <a:ext cx="3840480" cy="1335024"/>
          </a:xfrm>
          <a:prstGeom prst="roundRect">
            <a:avLst>
              <a:gd name="adj" fmla="val 8000"/>
            </a:avLst>
          </a:prstGeom>
          <a:solidFill>
            <a:srgbClr val="EEF1F8"/>
          </a:solidFill>
          <a:ln>
            <a:noFill/>
          </a:ln>
        </p:spPr>
        <p:txBody>
          <a:bodyPr rtlCol="0" anchor="ctr"/>
          <a:lstStyle/>
          <a:p>
            <a:pPr algn="ctr"/>
          </a:p>
        </p:txBody>
      </p:sp>
      <p:sp>
        <p:nvSpPr>
          <p:cNvPr id="41" name="TextBox 40"/>
          <p:cNvSpPr txBox="1"/>
          <p:nvPr/>
        </p:nvSpPr>
        <p:spPr>
          <a:xfrm>
            <a:off x="841247" y="3383280"/>
            <a:ext cx="3438144" cy="292608"/>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Where awakening begins</a:t>
            </a:r>
          </a:p>
        </p:txBody>
      </p:sp>
      <p:sp>
        <p:nvSpPr>
          <p:cNvPr id="42" name="TextBox 41"/>
          <p:cNvSpPr txBox="1"/>
          <p:nvPr/>
        </p:nvSpPr>
        <p:spPr>
          <a:xfrm>
            <a:off x="841247" y="3730752"/>
            <a:ext cx="3438144" cy="768096"/>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With the strength of contemplation; the bondage of delusion runs on the powers of hope, thought, and desire (AVD p. 151).</a:t>
            </a:r>
          </a:p>
        </p:txBody>
      </p:sp>
      <p:sp>
        <p:nvSpPr>
          <p:cNvPr id="43" name="Rounded Rectangle 42"/>
          <p:cNvSpPr/>
          <p:nvPr/>
        </p:nvSpPr>
        <p:spPr>
          <a:xfrm>
            <a:off x="4663440" y="3273552"/>
            <a:ext cx="3840480" cy="1335024"/>
          </a:xfrm>
          <a:prstGeom prst="roundRect">
            <a:avLst>
              <a:gd name="adj" fmla="val 8000"/>
            </a:avLst>
          </a:prstGeom>
          <a:solidFill>
            <a:srgbClr val="FAF1DF"/>
          </a:solidFill>
          <a:ln>
            <a:noFill/>
          </a:ln>
        </p:spPr>
        <p:txBody>
          <a:bodyPr rtlCol="0" anchor="ctr"/>
          <a:lstStyle/>
          <a:p>
            <a:pPr algn="ctr"/>
          </a:p>
        </p:txBody>
      </p:sp>
      <p:sp>
        <p:nvSpPr>
          <p:cNvPr id="44" name="TextBox 43"/>
          <p:cNvSpPr txBox="1"/>
          <p:nvPr/>
        </p:nvSpPr>
        <p:spPr>
          <a:xfrm>
            <a:off x="4864607" y="3383280"/>
            <a:ext cx="3438144" cy="292608"/>
          </a:xfrm>
          <a:prstGeom prst="rect">
            <a:avLst/>
          </a:prstGeom>
          <a:noFill/>
        </p:spPr>
        <p:txBody>
          <a:bodyPr wrap="square" lIns="0" rIns="0" tIns="0" bIns="0" anchor="ctr">
            <a:noAutofit/>
          </a:bodyPr>
          <a:lstStyle/>
          <a:p>
            <a:pPr algn="l">
              <a:spcBef>
                <a:spcPts val="0"/>
              </a:spcBef>
              <a:spcAft>
                <a:spcPts val="0"/>
              </a:spcAft>
            </a:pPr>
            <a:r>
              <a:rPr sz="1250" b="1" i="0">
                <a:solidFill>
                  <a:srgbClr val="9A6414"/>
                </a:solidFill>
                <a:latin typeface="Cambria"/>
              </a:rPr>
              <a:t>What study supplies</a:t>
            </a:r>
          </a:p>
        </p:txBody>
      </p:sp>
      <p:sp>
        <p:nvSpPr>
          <p:cNvPr id="45" name="TextBox 44"/>
          <p:cNvSpPr txBox="1"/>
          <p:nvPr/>
        </p:nvSpPr>
        <p:spPr>
          <a:xfrm>
            <a:off x="4864607" y="3730752"/>
            <a:ext cx="3438144" cy="768096"/>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content of contemplation: justice, </a:t>
            </a:r>
            <a:r>
              <a:rPr sz="1200" b="0" i="1">
                <a:solidFill>
                  <a:srgbClr val="5A6377"/>
                </a:solidFill>
                <a:latin typeface="Calibri"/>
              </a:rPr>
              <a:t>dharma</a:t>
            </a:r>
            <a:r>
              <a:rPr sz="1200" b="0" i="0">
                <a:solidFill>
                  <a:srgbClr val="5A6377"/>
                </a:solidFill>
                <a:latin typeface="Calibri"/>
              </a:rPr>
              <a:t>, and truth, recognised in </a:t>
            </a:r>
            <a:r>
              <a:rPr sz="1200" b="0" i="1">
                <a:solidFill>
                  <a:srgbClr val="5A6377"/>
                </a:solidFill>
                <a:latin typeface="Calibri"/>
              </a:rPr>
              <a:t>chitta</a:t>
            </a:r>
            <a:r>
              <a:rPr sz="1200" b="0" i="0">
                <a:solidFill>
                  <a:srgbClr val="5A6377"/>
                </a:solidFill>
                <a:latin typeface="Calibri"/>
              </a:rPr>
              <a:t>, accepted in </a:t>
            </a:r>
            <a:r>
              <a:rPr sz="1200" b="0" i="1">
                <a:solidFill>
                  <a:srgbClr val="5A6377"/>
                </a:solidFill>
                <a:latin typeface="Calibri"/>
              </a:rPr>
              <a:t>buddhi</a:t>
            </a:r>
            <a:r>
              <a:rPr sz="1200" b="0" i="0">
                <a:solidFill>
                  <a:srgbClr val="5A6377"/>
                </a:solidFill>
                <a:latin typeface="Calibri"/>
              </a:rPr>
              <a:t>, realised in </a:t>
            </a:r>
            <a:r>
              <a:rPr sz="1200" b="0" i="1">
                <a:solidFill>
                  <a:srgbClr val="5A6377"/>
                </a:solidFill>
                <a:latin typeface="Calibri"/>
              </a:rPr>
              <a:t>atma</a:t>
            </a:r>
            <a:r>
              <a:rPr sz="1200" b="0" i="0">
                <a:solidFill>
                  <a:srgbClr val="5A6377"/>
                </a:solidFill>
                <a:latin typeface="Calibri"/>
              </a:rPr>
              <a:t> (AVD pp. 86, 223–224).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THREE  ·  §1.6  ·  STUDY</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Study Is the Practice</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12, 150, 161  ·  AVD pp. 223–226  ·  AnalyticMadhyasthDarshan.org  ·  19 / 28</a:t>
            </a:r>
          </a:p>
        </p:txBody>
      </p:sp>
      <p:sp>
        <p:nvSpPr>
          <p:cNvPr id="8" name="Rounded Rectangle 7"/>
          <p:cNvSpPr/>
          <p:nvPr/>
        </p:nvSpPr>
        <p:spPr>
          <a:xfrm>
            <a:off x="640080" y="1188720"/>
            <a:ext cx="7863840" cy="786384"/>
          </a:xfrm>
          <a:prstGeom prst="roundRect">
            <a:avLst>
              <a:gd name="adj" fmla="val 6000"/>
            </a:avLst>
          </a:prstGeom>
          <a:solidFill>
            <a:srgbClr val="FAF1DF"/>
          </a:solidFill>
          <a:ln>
            <a:noFill/>
          </a:ln>
        </p:spPr>
        <p:txBody>
          <a:bodyPr rtlCol="0" anchor="ctr"/>
          <a:lstStyle/>
          <a:p>
            <a:pPr algn="ctr"/>
          </a:p>
        </p:txBody>
      </p:sp>
      <p:sp>
        <p:nvSpPr>
          <p:cNvPr id="9" name="Rectangle 8"/>
          <p:cNvSpPr/>
          <p:nvPr/>
        </p:nvSpPr>
        <p:spPr>
          <a:xfrm>
            <a:off x="768096" y="1316736"/>
            <a:ext cx="45720" cy="530352"/>
          </a:xfrm>
          <a:prstGeom prst="rect">
            <a:avLst/>
          </a:prstGeom>
          <a:solidFill>
            <a:srgbClr val="C9821E"/>
          </a:solidFill>
          <a:ln>
            <a:noFill/>
          </a:ln>
        </p:spPr>
        <p:txBody>
          <a:bodyPr rtlCol="0" anchor="ctr"/>
          <a:lstStyle/>
          <a:p>
            <a:pPr algn="ctr"/>
          </a:p>
        </p:txBody>
      </p:sp>
      <p:sp>
        <p:nvSpPr>
          <p:cNvPr id="10" name="TextBox 9"/>
          <p:cNvSpPr txBox="1"/>
          <p:nvPr/>
        </p:nvSpPr>
        <p:spPr>
          <a:xfrm>
            <a:off x="950976" y="1298448"/>
            <a:ext cx="7351775" cy="365759"/>
          </a:xfrm>
          <a:prstGeom prst="rect">
            <a:avLst/>
          </a:prstGeom>
          <a:noFill/>
        </p:spPr>
        <p:txBody>
          <a:bodyPr wrap="square" lIns="0" rIns="0" tIns="0" bIns="0" anchor="ctr">
            <a:noAutofit/>
          </a:bodyPr>
          <a:lstStyle/>
          <a:p>
            <a:pPr algn="l">
              <a:spcBef>
                <a:spcPts val="0"/>
              </a:spcBef>
              <a:spcAft>
                <a:spcPts val="0"/>
              </a:spcAft>
            </a:pPr>
            <a:r>
              <a:rPr sz="1300" b="0" i="1">
                <a:solidFill>
                  <a:srgbClr val="1E2447"/>
                </a:solidFill>
                <a:latin typeface="Cambria"/>
              </a:rPr>
              <a:t>“Study itself is worship. The authentic human is the teacher, in whose proximity study takes place.”</a:t>
            </a:r>
          </a:p>
        </p:txBody>
      </p:sp>
      <p:sp>
        <p:nvSpPr>
          <p:cNvPr id="11" name="TextBox 10"/>
          <p:cNvSpPr txBox="1"/>
          <p:nvPr/>
        </p:nvSpPr>
        <p:spPr>
          <a:xfrm>
            <a:off x="950976" y="1682496"/>
            <a:ext cx="7351775" cy="201168"/>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MVD, p. 150</a:t>
            </a:r>
          </a:p>
        </p:txBody>
      </p:sp>
      <p:sp>
        <p:nvSpPr>
          <p:cNvPr id="12" name="Rounded Rectangle 11"/>
          <p:cNvSpPr/>
          <p:nvPr/>
        </p:nvSpPr>
        <p:spPr>
          <a:xfrm>
            <a:off x="640080" y="2121408"/>
            <a:ext cx="3840480" cy="1152144"/>
          </a:xfrm>
          <a:prstGeom prst="roundRect">
            <a:avLst>
              <a:gd name="adj" fmla="val 8000"/>
            </a:avLst>
          </a:prstGeom>
          <a:solidFill>
            <a:srgbClr val="EEF1F8"/>
          </a:solidFill>
          <a:ln>
            <a:noFill/>
          </a:ln>
        </p:spPr>
        <p:txBody>
          <a:bodyPr rtlCol="0" anchor="ctr"/>
          <a:lstStyle/>
          <a:p>
            <a:pPr algn="ctr"/>
          </a:p>
        </p:txBody>
      </p:sp>
      <p:sp>
        <p:nvSpPr>
          <p:cNvPr id="13" name="TextBox 12"/>
          <p:cNvSpPr txBox="1"/>
          <p:nvPr/>
        </p:nvSpPr>
        <p:spPr>
          <a:xfrm>
            <a:off x="841247" y="2231136"/>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Methodical study</a:t>
            </a:r>
          </a:p>
        </p:txBody>
      </p:sp>
      <p:sp>
        <p:nvSpPr>
          <p:cNvPr id="14" name="TextBox 13"/>
          <p:cNvSpPr txBox="1"/>
          <p:nvPr/>
        </p:nvSpPr>
        <p:spPr>
          <a:xfrm>
            <a:off x="841247" y="2578608"/>
            <a:ext cx="3438144" cy="585216"/>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journey to realisation begins with methodical study, whose field is definitive understanding (AVD p. 223).</a:t>
            </a:r>
          </a:p>
        </p:txBody>
      </p:sp>
      <p:sp>
        <p:nvSpPr>
          <p:cNvPr id="15" name="Rounded Rectangle 14"/>
          <p:cNvSpPr/>
          <p:nvPr/>
        </p:nvSpPr>
        <p:spPr>
          <a:xfrm>
            <a:off x="4663440" y="2121408"/>
            <a:ext cx="3840480" cy="1152144"/>
          </a:xfrm>
          <a:prstGeom prst="roundRect">
            <a:avLst>
              <a:gd name="adj" fmla="val 8000"/>
            </a:avLst>
          </a:prstGeom>
          <a:solidFill>
            <a:srgbClr val="EEF1F8"/>
          </a:solidFill>
          <a:ln>
            <a:noFill/>
          </a:ln>
        </p:spPr>
        <p:txBody>
          <a:bodyPr rtlCol="0" anchor="ctr"/>
          <a:lstStyle/>
          <a:p>
            <a:pPr algn="ctr"/>
          </a:p>
        </p:txBody>
      </p:sp>
      <p:sp>
        <p:nvSpPr>
          <p:cNvPr id="16" name="TextBox 15"/>
          <p:cNvSpPr txBox="1"/>
          <p:nvPr/>
        </p:nvSpPr>
        <p:spPr>
          <a:xfrm>
            <a:off x="4864607" y="2231136"/>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Inquiry with study</a:t>
            </a:r>
          </a:p>
        </p:txBody>
      </p:sp>
      <p:sp>
        <p:nvSpPr>
          <p:cNvPr id="17" name="TextBox 16"/>
          <p:cNvSpPr txBox="1"/>
          <p:nvPr/>
        </p:nvSpPr>
        <p:spPr>
          <a:xfrm>
            <a:off x="4864607" y="2578608"/>
            <a:ext cx="3438144" cy="585216"/>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Inquiry while studying and study while inquiring; each person examines what is presented and accepts or rejects it (AVD pp. 225–226).</a:t>
            </a:r>
          </a:p>
        </p:txBody>
      </p:sp>
      <p:sp>
        <p:nvSpPr>
          <p:cNvPr id="18" name="Rounded Rectangle 17"/>
          <p:cNvSpPr/>
          <p:nvPr/>
        </p:nvSpPr>
        <p:spPr>
          <a:xfrm>
            <a:off x="640080" y="3419856"/>
            <a:ext cx="3840480" cy="1188720"/>
          </a:xfrm>
          <a:prstGeom prst="roundRect">
            <a:avLst>
              <a:gd name="adj" fmla="val 8000"/>
            </a:avLst>
          </a:prstGeom>
          <a:solidFill>
            <a:srgbClr val="EEF1F8"/>
          </a:solidFill>
          <a:ln>
            <a:noFill/>
          </a:ln>
        </p:spPr>
        <p:txBody>
          <a:bodyPr rtlCol="0" anchor="ctr"/>
          <a:lstStyle/>
          <a:p>
            <a:pPr algn="ctr"/>
          </a:p>
        </p:txBody>
      </p:sp>
      <p:sp>
        <p:nvSpPr>
          <p:cNvPr id="19" name="TextBox 18"/>
          <p:cNvSpPr txBox="1"/>
          <p:nvPr/>
        </p:nvSpPr>
        <p:spPr>
          <a:xfrm>
            <a:off x="841247" y="3529584"/>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Dedication</a:t>
            </a:r>
          </a:p>
        </p:txBody>
      </p:sp>
      <p:sp>
        <p:nvSpPr>
          <p:cNvPr id="20" name="TextBox 19"/>
          <p:cNvSpPr txBox="1"/>
          <p:nvPr/>
        </p:nvSpPr>
        <p:spPr>
          <a:xfrm>
            <a:off x="841247" y="3877056"/>
            <a:ext cx="3438144" cy="62179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Study for the human goal, in the light of justice, </a:t>
            </a:r>
            <a:r>
              <a:rPr sz="1200" b="0" i="1">
                <a:solidFill>
                  <a:srgbClr val="5A6377"/>
                </a:solidFill>
                <a:latin typeface="Calibri"/>
              </a:rPr>
              <a:t>dharma</a:t>
            </a:r>
            <a:r>
              <a:rPr sz="1200" b="0" i="0">
                <a:solidFill>
                  <a:srgbClr val="5A6377"/>
                </a:solidFill>
                <a:latin typeface="Calibri"/>
              </a:rPr>
              <a:t>, and truth, occurs through dedication — and dedication leads to realisation (MVD p. 150).</a:t>
            </a:r>
          </a:p>
        </p:txBody>
      </p:sp>
      <p:sp>
        <p:nvSpPr>
          <p:cNvPr id="21" name="Rounded Rectangle 20"/>
          <p:cNvSpPr/>
          <p:nvPr/>
        </p:nvSpPr>
        <p:spPr>
          <a:xfrm>
            <a:off x="4663440" y="3419856"/>
            <a:ext cx="3840480" cy="1188720"/>
          </a:xfrm>
          <a:prstGeom prst="roundRect">
            <a:avLst>
              <a:gd name="adj" fmla="val 8000"/>
            </a:avLst>
          </a:prstGeom>
          <a:solidFill>
            <a:srgbClr val="FAF1DF"/>
          </a:solidFill>
          <a:ln>
            <a:noFill/>
          </a:ln>
        </p:spPr>
        <p:txBody>
          <a:bodyPr rtlCol="0" anchor="ctr"/>
          <a:lstStyle/>
          <a:p>
            <a:pPr algn="ctr"/>
          </a:p>
        </p:txBody>
      </p:sp>
      <p:sp>
        <p:nvSpPr>
          <p:cNvPr id="22" name="TextBox 21"/>
          <p:cNvSpPr txBox="1"/>
          <p:nvPr/>
        </p:nvSpPr>
        <p:spPr>
          <a:xfrm>
            <a:off x="4864607" y="3529584"/>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Belief follows knowing</a:t>
            </a:r>
          </a:p>
        </p:txBody>
      </p:sp>
      <p:sp>
        <p:nvSpPr>
          <p:cNvPr id="23" name="TextBox 22"/>
          <p:cNvSpPr txBox="1"/>
          <p:nvPr/>
        </p:nvSpPr>
        <p:spPr>
          <a:xfrm>
            <a:off x="4864607" y="3877056"/>
            <a:ext cx="3438144" cy="62179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Believe what is known; know what is believed (MVD p. 12). A command stays information until its intent is understood (AVD p. 225).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THREE  ·  §1.12  ·  THE PATH FOR EVERYONE</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Two Paths, and Two Programmes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280–282  ·  AVD pp. 72–74, 225  ·  AnalyticMadhyasthDarshan.org  ·  20 / 28</a:t>
            </a:r>
          </a:p>
        </p:txBody>
      </p:sp>
      <p:sp>
        <p:nvSpPr>
          <p:cNvPr id="8" name="Rounded Rectangle 7"/>
          <p:cNvSpPr/>
          <p:nvPr/>
        </p:nvSpPr>
        <p:spPr>
          <a:xfrm>
            <a:off x="640080" y="1188720"/>
            <a:ext cx="7863840" cy="603504"/>
          </a:xfrm>
          <a:prstGeom prst="roundRect">
            <a:avLst>
              <a:gd name="adj" fmla="val 6000"/>
            </a:avLst>
          </a:prstGeom>
          <a:solidFill>
            <a:srgbClr val="FAF1DF"/>
          </a:solidFill>
          <a:ln>
            <a:noFill/>
          </a:ln>
        </p:spPr>
        <p:txBody>
          <a:bodyPr rtlCol="0" anchor="ctr"/>
          <a:lstStyle/>
          <a:p>
            <a:pPr algn="ctr"/>
          </a:p>
        </p:txBody>
      </p:sp>
      <p:sp>
        <p:nvSpPr>
          <p:cNvPr id="9" name="Rectangle 8"/>
          <p:cNvSpPr/>
          <p:nvPr/>
        </p:nvSpPr>
        <p:spPr>
          <a:xfrm>
            <a:off x="768096" y="1316736"/>
            <a:ext cx="45720" cy="347472"/>
          </a:xfrm>
          <a:prstGeom prst="rect">
            <a:avLst/>
          </a:prstGeom>
          <a:solidFill>
            <a:srgbClr val="C9821E"/>
          </a:solidFill>
          <a:ln>
            <a:noFill/>
          </a:ln>
        </p:spPr>
        <p:txBody>
          <a:bodyPr rtlCol="0" anchor="ctr"/>
          <a:lstStyle/>
          <a:p>
            <a:pPr algn="ctr"/>
          </a:p>
        </p:txBody>
      </p:sp>
      <p:sp>
        <p:nvSpPr>
          <p:cNvPr id="10" name="TextBox 9"/>
          <p:cNvSpPr txBox="1"/>
          <p:nvPr/>
        </p:nvSpPr>
        <p:spPr>
          <a:xfrm>
            <a:off x="950976" y="1298448"/>
            <a:ext cx="7351775" cy="182880"/>
          </a:xfrm>
          <a:prstGeom prst="rect">
            <a:avLst/>
          </a:prstGeom>
          <a:noFill/>
        </p:spPr>
        <p:txBody>
          <a:bodyPr wrap="square" lIns="0" rIns="0" tIns="0" bIns="0" anchor="ctr">
            <a:noAutofit/>
          </a:bodyPr>
          <a:lstStyle/>
          <a:p>
            <a:pPr algn="l">
              <a:spcBef>
                <a:spcPts val="0"/>
              </a:spcBef>
              <a:spcAft>
                <a:spcPts val="0"/>
              </a:spcAft>
            </a:pPr>
            <a:r>
              <a:rPr sz="1300" b="0" i="1">
                <a:solidFill>
                  <a:srgbClr val="1E2447"/>
                </a:solidFill>
                <a:latin typeface="Cambria"/>
              </a:rPr>
              <a:t>“Such a process is of two kinds: One - Exploration. Two - Following, Emulation, Study.”</a:t>
            </a:r>
          </a:p>
        </p:txBody>
      </p:sp>
      <p:sp>
        <p:nvSpPr>
          <p:cNvPr id="11" name="TextBox 10"/>
          <p:cNvSpPr txBox="1"/>
          <p:nvPr/>
        </p:nvSpPr>
        <p:spPr>
          <a:xfrm>
            <a:off x="950976" y="1499616"/>
            <a:ext cx="7351775" cy="201168"/>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MVD, p. 280</a:t>
            </a:r>
          </a:p>
        </p:txBody>
      </p:sp>
      <p:sp>
        <p:nvSpPr>
          <p:cNvPr id="12" name="Rounded Rectangle 11"/>
          <p:cNvSpPr/>
          <p:nvPr/>
        </p:nvSpPr>
        <p:spPr>
          <a:xfrm>
            <a:off x="640080" y="1938528"/>
            <a:ext cx="3383280" cy="2670048"/>
          </a:xfrm>
          <a:prstGeom prst="roundRect">
            <a:avLst>
              <a:gd name="adj" fmla="val 8000"/>
            </a:avLst>
          </a:prstGeom>
          <a:solidFill>
            <a:srgbClr val="EEF1F8"/>
          </a:solidFill>
          <a:ln>
            <a:noFill/>
          </a:ln>
        </p:spPr>
        <p:txBody>
          <a:bodyPr rtlCol="0" anchor="ctr"/>
          <a:lstStyle/>
          <a:p>
            <a:pPr algn="ctr"/>
          </a:p>
        </p:txBody>
      </p:sp>
      <p:sp>
        <p:nvSpPr>
          <p:cNvPr id="13" name="TextBox 12"/>
          <p:cNvSpPr txBox="1"/>
          <p:nvPr/>
        </p:nvSpPr>
        <p:spPr>
          <a:xfrm>
            <a:off x="841247" y="2048256"/>
            <a:ext cx="29809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Exploration</a:t>
            </a:r>
          </a:p>
        </p:txBody>
      </p:sp>
      <p:sp>
        <p:nvSpPr>
          <p:cNvPr id="14" name="TextBox 13"/>
          <p:cNvSpPr txBox="1"/>
          <p:nvPr/>
        </p:nvSpPr>
        <p:spPr>
          <a:xfrm>
            <a:off x="841247" y="2395728"/>
            <a:ext cx="2980944" cy="2103120"/>
          </a:xfrm>
          <a:prstGeom prst="rect">
            <a:avLst/>
          </a:prstGeom>
          <a:noFill/>
        </p:spPr>
        <p:txBody>
          <a:bodyPr wrap="square" lIns="0" rIns="0" tIns="0" bIns="0" anchor="t">
            <a:noAutofit/>
          </a:bodyPr>
          <a:lstStyle/>
          <a:p>
            <a:pPr algn="l">
              <a:spcBef>
                <a:spcPts val="0"/>
              </a:spcBef>
              <a:spcAft>
                <a:spcPts val="0"/>
              </a:spcAft>
            </a:pPr>
            <a:r>
              <a:rPr sz="1200" b="0" i="1">
                <a:solidFill>
                  <a:srgbClr val="5A6377"/>
                </a:solidFill>
                <a:latin typeface="Calibri"/>
              </a:rPr>
              <a:t>Anusandhan</a:t>
            </a:r>
            <a:r>
              <a:rPr sz="1200" b="0" i="0">
                <a:solidFill>
                  <a:srgbClr val="5A6377"/>
                </a:solidFill>
                <a:latin typeface="Calibri"/>
              </a:rPr>
              <a:t>: an inventive realisation, studied from the extreme of decline to the highest awakening. A seeker accomplished in </a:t>
            </a:r>
            <a:r>
              <a:rPr sz="1200" b="0" i="1">
                <a:solidFill>
                  <a:srgbClr val="5A6377"/>
                </a:solidFill>
                <a:latin typeface="Calibri"/>
              </a:rPr>
              <a:t>samadhi</a:t>
            </a:r>
            <a:r>
              <a:rPr sz="1200" b="0" i="0">
                <a:solidFill>
                  <a:srgbClr val="5A6377"/>
                </a:solidFill>
                <a:latin typeface="Calibri"/>
              </a:rPr>
              <a:t> establishes just behaviour and </a:t>
            </a:r>
            <a:r>
              <a:rPr sz="1200" b="0" i="1">
                <a:solidFill>
                  <a:srgbClr val="5A6377"/>
                </a:solidFill>
                <a:latin typeface="Calibri"/>
              </a:rPr>
              <a:t>dharma</a:t>
            </a:r>
            <a:r>
              <a:rPr sz="1200" b="0" i="0">
                <a:solidFill>
                  <a:srgbClr val="5A6377"/>
                </a:solidFill>
                <a:latin typeface="Calibri"/>
              </a:rPr>
              <a:t>-based thought through practice, then develops towards realisation of the omnipresent (MVD pp. 280–281).</a:t>
            </a:r>
          </a:p>
        </p:txBody>
      </p:sp>
      <p:sp>
        <p:nvSpPr>
          <p:cNvPr id="15" name="TextBox 14"/>
          <p:cNvSpPr txBox="1"/>
          <p:nvPr/>
        </p:nvSpPr>
        <p:spPr>
          <a:xfrm>
            <a:off x="841248" y="4059936"/>
            <a:ext cx="2980944" cy="457200"/>
          </a:xfrm>
          <a:prstGeom prst="rect">
            <a:avLst/>
          </a:prstGeom>
          <a:noFill/>
        </p:spPr>
        <p:txBody>
          <a:bodyPr wrap="square" lIns="0" rIns="0" tIns="0" bIns="0" anchor="t">
            <a:noAutofit/>
          </a:bodyPr>
          <a:lstStyle/>
          <a:p>
            <a:pPr algn="l">
              <a:spcBef>
                <a:spcPts val="0"/>
              </a:spcBef>
              <a:spcAft>
                <a:spcPts val="0"/>
              </a:spcAft>
            </a:pPr>
            <a:r>
              <a:rPr sz="1200" b="1" i="0">
                <a:solidFill>
                  <a:srgbClr val="1E2447"/>
                </a:solidFill>
                <a:latin typeface="Calibri"/>
              </a:rPr>
              <a:t>Not recommended as the general way (AVD pp. 72–74).</a:t>
            </a:r>
          </a:p>
        </p:txBody>
      </p:sp>
      <p:sp>
        <p:nvSpPr>
          <p:cNvPr id="16" name="Rounded Rectangle 15"/>
          <p:cNvSpPr/>
          <p:nvPr/>
        </p:nvSpPr>
        <p:spPr>
          <a:xfrm>
            <a:off x="4206240" y="1938528"/>
            <a:ext cx="4297680" cy="2670048"/>
          </a:xfrm>
          <a:prstGeom prst="roundRect">
            <a:avLst>
              <a:gd name="adj" fmla="val 6000"/>
            </a:avLst>
          </a:prstGeom>
          <a:solidFill>
            <a:srgbClr val="FAF1DF"/>
          </a:solidFill>
          <a:ln>
            <a:noFill/>
          </a:ln>
        </p:spPr>
        <p:txBody>
          <a:bodyPr rtlCol="0" anchor="ctr"/>
          <a:lstStyle/>
          <a:p>
            <a:pPr algn="ctr"/>
          </a:p>
        </p:txBody>
      </p:sp>
      <p:sp>
        <p:nvSpPr>
          <p:cNvPr id="17" name="TextBox 16"/>
          <p:cNvSpPr txBox="1"/>
          <p:nvPr/>
        </p:nvSpPr>
        <p:spPr>
          <a:xfrm>
            <a:off x="4407408" y="2048256"/>
            <a:ext cx="389534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Following, emulation, study</a:t>
            </a:r>
          </a:p>
        </p:txBody>
      </p:sp>
      <p:sp>
        <p:nvSpPr>
          <p:cNvPr id="18" name="TextBox 17"/>
          <p:cNvSpPr txBox="1"/>
          <p:nvPr/>
        </p:nvSpPr>
        <p:spPr>
          <a:xfrm>
            <a:off x="4407408" y="2377440"/>
            <a:ext cx="3895344" cy="45720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way open to everyone: inquiry together with study (AVD p. 225). It has two programmes:</a:t>
            </a:r>
          </a:p>
        </p:txBody>
      </p:sp>
      <p:sp>
        <p:nvSpPr>
          <p:cNvPr id="19" name="Rounded Rectangle 18"/>
          <p:cNvSpPr/>
          <p:nvPr/>
        </p:nvSpPr>
        <p:spPr>
          <a:xfrm>
            <a:off x="4407408" y="2889504"/>
            <a:ext cx="3895344" cy="457200"/>
          </a:xfrm>
          <a:prstGeom prst="roundRect">
            <a:avLst>
              <a:gd name="adj" fmla="val 12000"/>
            </a:avLst>
          </a:prstGeom>
          <a:solidFill>
            <a:srgbClr val="1E2447"/>
          </a:solidFill>
          <a:ln>
            <a:noFill/>
          </a:ln>
        </p:spPr>
        <p:txBody>
          <a:bodyPr rtlCol="0" anchor="ctr"/>
          <a:lstStyle/>
          <a:p>
            <a:pPr algn="ctr"/>
          </a:p>
        </p:txBody>
      </p:sp>
      <p:sp>
        <p:nvSpPr>
          <p:cNvPr id="20" name="TextBox 19"/>
          <p:cNvSpPr txBox="1"/>
          <p:nvPr/>
        </p:nvSpPr>
        <p:spPr>
          <a:xfrm>
            <a:off x="4453128" y="2889504"/>
            <a:ext cx="3803904" cy="457200"/>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1   Follow or emulate just behaviour</a:t>
            </a:r>
          </a:p>
        </p:txBody>
      </p:sp>
      <p:sp>
        <p:nvSpPr>
          <p:cNvPr id="21" name="Rounded Rectangle 20"/>
          <p:cNvSpPr/>
          <p:nvPr/>
        </p:nvSpPr>
        <p:spPr>
          <a:xfrm>
            <a:off x="4407408" y="3419856"/>
            <a:ext cx="3895344" cy="457200"/>
          </a:xfrm>
          <a:prstGeom prst="roundRect">
            <a:avLst>
              <a:gd name="adj" fmla="val 12000"/>
            </a:avLst>
          </a:prstGeom>
          <a:solidFill>
            <a:srgbClr val="1E2447"/>
          </a:solidFill>
          <a:ln>
            <a:noFill/>
          </a:ln>
        </p:spPr>
        <p:txBody>
          <a:bodyPr rtlCol="0" anchor="ctr"/>
          <a:lstStyle/>
          <a:p>
            <a:pPr algn="ctr"/>
          </a:p>
        </p:txBody>
      </p:sp>
      <p:sp>
        <p:nvSpPr>
          <p:cNvPr id="22" name="TextBox 21"/>
          <p:cNvSpPr txBox="1"/>
          <p:nvPr/>
        </p:nvSpPr>
        <p:spPr>
          <a:xfrm>
            <a:off x="4453128" y="3419856"/>
            <a:ext cx="3803904" cy="457200"/>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2   Abide in resolved, </a:t>
            </a:r>
            <a:r>
              <a:rPr sz="1250" b="1" i="1">
                <a:solidFill>
                  <a:srgbClr val="FFFFFF"/>
                </a:solidFill>
                <a:latin typeface="Cambria"/>
              </a:rPr>
              <a:t>dharma</a:t>
            </a:r>
            <a:r>
              <a:rPr sz="1250" b="1" i="0">
                <a:solidFill>
                  <a:srgbClr val="FFFFFF"/>
                </a:solidFill>
                <a:latin typeface="Cambria"/>
              </a:rPr>
              <a:t>-based thought</a:t>
            </a:r>
          </a:p>
        </p:txBody>
      </p:sp>
      <p:sp>
        <p:nvSpPr>
          <p:cNvPr id="23" name="TextBox 22"/>
          <p:cNvSpPr txBox="1"/>
          <p:nvPr/>
        </p:nvSpPr>
        <p:spPr>
          <a:xfrm>
            <a:off x="4407408" y="3950208"/>
            <a:ext cx="3895344" cy="548640"/>
          </a:xfrm>
          <a:prstGeom prst="rect">
            <a:avLst/>
          </a:prstGeom>
          <a:noFill/>
        </p:spPr>
        <p:txBody>
          <a:bodyPr wrap="square" lIns="0" rIns="0" tIns="0" bIns="0" anchor="t">
            <a:noAutofit/>
          </a:bodyPr>
          <a:lstStyle/>
          <a:p>
            <a:pPr algn="l">
              <a:spcBef>
                <a:spcPts val="0"/>
              </a:spcBef>
              <a:spcAft>
                <a:spcPts val="0"/>
              </a:spcAft>
            </a:pPr>
            <a:r>
              <a:rPr sz="1200" b="1" i="0">
                <a:solidFill>
                  <a:srgbClr val="9A6414"/>
                </a:solidFill>
                <a:latin typeface="Calibri"/>
              </a:rPr>
              <a:t>Firmness and dedication in these two give the authority for realisation of truth (MVD p. 282).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THREE  ·  §1.7  ·  UPASANA</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Upasana Refines the Tendencies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KD pp. 30–31, 36–40  ·  AnalyticMadhyasthDarshan.org  ·  21 / 28</a:t>
            </a:r>
          </a:p>
        </p:txBody>
      </p:sp>
      <p:sp>
        <p:nvSpPr>
          <p:cNvPr id="8" name="Rounded Rectangle 7"/>
          <p:cNvSpPr/>
          <p:nvPr/>
        </p:nvSpPr>
        <p:spPr>
          <a:xfrm>
            <a:off x="640080" y="1188720"/>
            <a:ext cx="7863840" cy="896112"/>
          </a:xfrm>
          <a:prstGeom prst="roundRect">
            <a:avLst>
              <a:gd name="adj" fmla="val 6000"/>
            </a:avLst>
          </a:prstGeom>
          <a:solidFill>
            <a:srgbClr val="FAF1DF"/>
          </a:solidFill>
          <a:ln>
            <a:noFill/>
          </a:ln>
        </p:spPr>
        <p:txBody>
          <a:bodyPr rtlCol="0" anchor="ctr"/>
          <a:lstStyle/>
          <a:p>
            <a:pPr algn="ctr"/>
          </a:p>
        </p:txBody>
      </p:sp>
      <p:sp>
        <p:nvSpPr>
          <p:cNvPr id="9" name="Rectangle 8"/>
          <p:cNvSpPr/>
          <p:nvPr/>
        </p:nvSpPr>
        <p:spPr>
          <a:xfrm>
            <a:off x="768096" y="1316736"/>
            <a:ext cx="45720" cy="640080"/>
          </a:xfrm>
          <a:prstGeom prst="rect">
            <a:avLst/>
          </a:prstGeom>
          <a:solidFill>
            <a:srgbClr val="C9821E"/>
          </a:solidFill>
          <a:ln>
            <a:noFill/>
          </a:ln>
        </p:spPr>
        <p:txBody>
          <a:bodyPr rtlCol="0" anchor="ctr"/>
          <a:lstStyle/>
          <a:p>
            <a:pPr algn="ctr"/>
          </a:p>
        </p:txBody>
      </p:sp>
      <p:sp>
        <p:nvSpPr>
          <p:cNvPr id="10" name="TextBox 9"/>
          <p:cNvSpPr txBox="1"/>
          <p:nvPr/>
        </p:nvSpPr>
        <p:spPr>
          <a:xfrm>
            <a:off x="950976" y="1298448"/>
            <a:ext cx="7351775" cy="475488"/>
          </a:xfrm>
          <a:prstGeom prst="rect">
            <a:avLst/>
          </a:prstGeom>
          <a:noFill/>
        </p:spPr>
        <p:txBody>
          <a:bodyPr wrap="square" lIns="0" rIns="0" tIns="0" bIns="0" anchor="ctr">
            <a:noAutofit/>
          </a:bodyPr>
          <a:lstStyle/>
          <a:p>
            <a:pPr algn="l">
              <a:spcBef>
                <a:spcPts val="0"/>
              </a:spcBef>
              <a:spcAft>
                <a:spcPts val="0"/>
              </a:spcAft>
            </a:pPr>
            <a:r>
              <a:rPr sz="1250" b="0" i="1">
                <a:solidFill>
                  <a:srgbClr val="1E2447"/>
                </a:solidFill>
                <a:latin typeface="Cambria"/>
              </a:rPr>
              <a:t>“Upasana is an important part of human jeevan. It is the process of refining and transforming the fundamental tendencies, and this study also transforms sanskar and essential nature.”</a:t>
            </a:r>
          </a:p>
        </p:txBody>
      </p:sp>
      <p:sp>
        <p:nvSpPr>
          <p:cNvPr id="11" name="TextBox 10"/>
          <p:cNvSpPr txBox="1"/>
          <p:nvPr/>
        </p:nvSpPr>
        <p:spPr>
          <a:xfrm>
            <a:off x="950976" y="1792224"/>
            <a:ext cx="7351775" cy="201168"/>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KD, p. 30</a:t>
            </a:r>
          </a:p>
        </p:txBody>
      </p:sp>
      <p:sp>
        <p:nvSpPr>
          <p:cNvPr id="12" name="Rounded Rectangle 11"/>
          <p:cNvSpPr/>
          <p:nvPr/>
        </p:nvSpPr>
        <p:spPr>
          <a:xfrm>
            <a:off x="640080" y="2212848"/>
            <a:ext cx="3840480" cy="1133856"/>
          </a:xfrm>
          <a:prstGeom prst="roundRect">
            <a:avLst>
              <a:gd name="adj" fmla="val 8000"/>
            </a:avLst>
          </a:prstGeom>
          <a:solidFill>
            <a:srgbClr val="EEF1F8"/>
          </a:solidFill>
          <a:ln>
            <a:noFill/>
          </a:ln>
        </p:spPr>
        <p:txBody>
          <a:bodyPr rtlCol="0" anchor="ctr"/>
          <a:lstStyle/>
          <a:p>
            <a:pPr algn="ctr"/>
          </a:p>
        </p:txBody>
      </p:sp>
      <p:sp>
        <p:nvSpPr>
          <p:cNvPr id="13" name="TextBox 12"/>
          <p:cNvSpPr txBox="1"/>
          <p:nvPr/>
        </p:nvSpPr>
        <p:spPr>
          <a:xfrm>
            <a:off x="841247" y="2322576"/>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What is refined</a:t>
            </a:r>
          </a:p>
        </p:txBody>
      </p:sp>
      <p:sp>
        <p:nvSpPr>
          <p:cNvPr id="14" name="TextBox 13"/>
          <p:cNvSpPr txBox="1"/>
          <p:nvPr/>
        </p:nvSpPr>
        <p:spPr>
          <a:xfrm>
            <a:off x="841247" y="2670048"/>
            <a:ext cx="3438144" cy="566928"/>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fundamental tendencies — hope, thought, desire, and resoluteness — refined by their right use rather than their waste (KD p. 36).</a:t>
            </a:r>
          </a:p>
        </p:txBody>
      </p:sp>
      <p:sp>
        <p:nvSpPr>
          <p:cNvPr id="15" name="Rounded Rectangle 14"/>
          <p:cNvSpPr/>
          <p:nvPr/>
        </p:nvSpPr>
        <p:spPr>
          <a:xfrm>
            <a:off x="4663440" y="2212848"/>
            <a:ext cx="3840480" cy="1133856"/>
          </a:xfrm>
          <a:prstGeom prst="roundRect">
            <a:avLst>
              <a:gd name="adj" fmla="val 8000"/>
            </a:avLst>
          </a:prstGeom>
          <a:solidFill>
            <a:srgbClr val="EEF1F8"/>
          </a:solidFill>
          <a:ln>
            <a:noFill/>
          </a:ln>
        </p:spPr>
        <p:txBody>
          <a:bodyPr rtlCol="0" anchor="ctr"/>
          <a:lstStyle/>
          <a:p>
            <a:pPr algn="ctr"/>
          </a:p>
        </p:txBody>
      </p:sp>
      <p:sp>
        <p:nvSpPr>
          <p:cNvPr id="16" name="TextBox 15"/>
          <p:cNvSpPr txBox="1"/>
          <p:nvPr/>
        </p:nvSpPr>
        <p:spPr>
          <a:xfrm>
            <a:off x="4864607" y="2322576"/>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Reflection is upasana</a:t>
            </a:r>
          </a:p>
        </p:txBody>
      </p:sp>
      <p:sp>
        <p:nvSpPr>
          <p:cNvPr id="17" name="TextBox 16"/>
          <p:cNvSpPr txBox="1"/>
          <p:nvPr/>
        </p:nvSpPr>
        <p:spPr>
          <a:xfrm>
            <a:off x="4864607" y="2670048"/>
            <a:ext cx="3438144" cy="566928"/>
          </a:xfrm>
          <a:prstGeom prst="rect">
            <a:avLst/>
          </a:prstGeom>
          <a:noFill/>
        </p:spPr>
        <p:txBody>
          <a:bodyPr wrap="square" lIns="0" rIns="0" tIns="0" bIns="0" anchor="t">
            <a:noAutofit/>
          </a:bodyPr>
          <a:lstStyle/>
          <a:p>
            <a:pPr algn="l">
              <a:spcBef>
                <a:spcPts val="0"/>
              </a:spcBef>
              <a:spcAft>
                <a:spcPts val="0"/>
              </a:spcAft>
            </a:pPr>
            <a:r>
              <a:rPr sz="1200" b="0" i="1">
                <a:solidFill>
                  <a:srgbClr val="5A6377"/>
                </a:solidFill>
                <a:latin typeface="Calibri"/>
              </a:rPr>
              <a:t>Atmastha upasana</a:t>
            </a:r>
            <a:r>
              <a:rPr sz="1200" b="0" i="0">
                <a:solidFill>
                  <a:srgbClr val="5A6377"/>
                </a:solidFill>
                <a:latin typeface="Calibri"/>
              </a:rPr>
              <a:t> is reflection itself, and everyone is bound to it; </a:t>
            </a:r>
            <a:r>
              <a:rPr sz="1200" b="0" i="1">
                <a:solidFill>
                  <a:srgbClr val="5A6377"/>
                </a:solidFill>
                <a:latin typeface="Calibri"/>
              </a:rPr>
              <a:t>upasana</a:t>
            </a:r>
            <a:r>
              <a:rPr sz="1200" b="0" i="0">
                <a:solidFill>
                  <a:srgbClr val="5A6377"/>
                </a:solidFill>
                <a:latin typeface="Calibri"/>
              </a:rPr>
              <a:t> continues as study until one is complete (KD pp. 31, 38).</a:t>
            </a:r>
          </a:p>
        </p:txBody>
      </p:sp>
      <p:sp>
        <p:nvSpPr>
          <p:cNvPr id="18" name="Rounded Rectangle 17"/>
          <p:cNvSpPr/>
          <p:nvPr/>
        </p:nvSpPr>
        <p:spPr>
          <a:xfrm>
            <a:off x="640080" y="3474720"/>
            <a:ext cx="3840480" cy="1133856"/>
          </a:xfrm>
          <a:prstGeom prst="roundRect">
            <a:avLst>
              <a:gd name="adj" fmla="val 8000"/>
            </a:avLst>
          </a:prstGeom>
          <a:solidFill>
            <a:srgbClr val="EEF1F8"/>
          </a:solidFill>
          <a:ln>
            <a:noFill/>
          </a:ln>
        </p:spPr>
        <p:txBody>
          <a:bodyPr rtlCol="0" anchor="ctr"/>
          <a:lstStyle/>
          <a:p>
            <a:pPr algn="ctr"/>
          </a:p>
        </p:txBody>
      </p:sp>
      <p:sp>
        <p:nvSpPr>
          <p:cNvPr id="19" name="TextBox 18"/>
          <p:cNvSpPr txBox="1"/>
          <p:nvPr/>
        </p:nvSpPr>
        <p:spPr>
          <a:xfrm>
            <a:off x="841247" y="3584448"/>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Restraint and gratitude</a:t>
            </a:r>
          </a:p>
        </p:txBody>
      </p:sp>
      <p:sp>
        <p:nvSpPr>
          <p:cNvPr id="20" name="TextBox 19"/>
          <p:cNvSpPr txBox="1"/>
          <p:nvPr/>
        </p:nvSpPr>
        <p:spPr>
          <a:xfrm>
            <a:off x="841247" y="3931920"/>
            <a:ext cx="3438144" cy="566928"/>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Truthfulness, non-violence, non-possession, and non-stealing, practised as restraint; gratitude is its basis throughout (KD pp. 39–40).</a:t>
            </a:r>
          </a:p>
        </p:txBody>
      </p:sp>
      <p:sp>
        <p:nvSpPr>
          <p:cNvPr id="21" name="Rounded Rectangle 20"/>
          <p:cNvSpPr/>
          <p:nvPr/>
        </p:nvSpPr>
        <p:spPr>
          <a:xfrm>
            <a:off x="4663440" y="3474720"/>
            <a:ext cx="3840480" cy="1133856"/>
          </a:xfrm>
          <a:prstGeom prst="roundRect">
            <a:avLst>
              <a:gd name="adj" fmla="val 8000"/>
            </a:avLst>
          </a:prstGeom>
          <a:solidFill>
            <a:srgbClr val="FAF1DF"/>
          </a:solidFill>
          <a:ln>
            <a:noFill/>
          </a:ln>
        </p:spPr>
        <p:txBody>
          <a:bodyPr rtlCol="0" anchor="ctr"/>
          <a:lstStyle/>
          <a:p>
            <a:pPr algn="ctr"/>
          </a:p>
        </p:txBody>
      </p:sp>
      <p:sp>
        <p:nvSpPr>
          <p:cNvPr id="22" name="TextBox 21"/>
          <p:cNvSpPr txBox="1"/>
          <p:nvPr/>
        </p:nvSpPr>
        <p:spPr>
          <a:xfrm>
            <a:off x="4864607" y="3584448"/>
            <a:ext cx="343814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What it yields</a:t>
            </a:r>
          </a:p>
        </p:txBody>
      </p:sp>
      <p:sp>
        <p:nvSpPr>
          <p:cNvPr id="23" name="TextBox 22"/>
          <p:cNvSpPr txBox="1"/>
          <p:nvPr/>
        </p:nvSpPr>
        <p:spPr>
          <a:xfrm>
            <a:off x="4864607" y="3931920"/>
            <a:ext cx="3438144" cy="566928"/>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Wisdom and </a:t>
            </a:r>
            <a:r>
              <a:rPr sz="1200" b="0" i="1">
                <a:solidFill>
                  <a:srgbClr val="5A6377"/>
                </a:solidFill>
                <a:latin typeface="Calibri"/>
              </a:rPr>
              <a:t>jeevan</a:t>
            </a:r>
            <a:r>
              <a:rPr sz="1200" b="0" i="0">
                <a:solidFill>
                  <a:srgbClr val="5A6377"/>
                </a:solidFill>
                <a:latin typeface="Calibri"/>
              </a:rPr>
              <a:t>-value — resolution and prosperity — with sociality contained in them, when aim, seeker, and means are held together (KD pp. 37–38).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THREE  ·  §1.8  ·  DHYAN AND YOG</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Concentration for Understanding</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274, 284–286, 301  ·  AVD pp. 164, 219  ·  AnalyticMadhyasthDarshan.org  ·  22 / 28</a:t>
            </a:r>
          </a:p>
        </p:txBody>
      </p:sp>
      <p:sp>
        <p:nvSpPr>
          <p:cNvPr id="8" name="Rounded Rectangle 7"/>
          <p:cNvSpPr/>
          <p:nvPr/>
        </p:nvSpPr>
        <p:spPr>
          <a:xfrm>
            <a:off x="640080" y="1188720"/>
            <a:ext cx="7863840" cy="822960"/>
          </a:xfrm>
          <a:prstGeom prst="roundRect">
            <a:avLst>
              <a:gd name="adj" fmla="val 6000"/>
            </a:avLst>
          </a:prstGeom>
          <a:solidFill>
            <a:srgbClr val="FAF1DF"/>
          </a:solidFill>
          <a:ln>
            <a:noFill/>
          </a:ln>
        </p:spPr>
        <p:txBody>
          <a:bodyPr rtlCol="0" anchor="ctr"/>
          <a:lstStyle/>
          <a:p>
            <a:pPr algn="ctr"/>
          </a:p>
        </p:txBody>
      </p:sp>
      <p:sp>
        <p:nvSpPr>
          <p:cNvPr id="9" name="Rectangle 8"/>
          <p:cNvSpPr/>
          <p:nvPr/>
        </p:nvSpPr>
        <p:spPr>
          <a:xfrm>
            <a:off x="768096" y="1316736"/>
            <a:ext cx="45720" cy="566928"/>
          </a:xfrm>
          <a:prstGeom prst="rect">
            <a:avLst/>
          </a:prstGeom>
          <a:solidFill>
            <a:srgbClr val="C9821E"/>
          </a:solidFill>
          <a:ln>
            <a:noFill/>
          </a:ln>
        </p:spPr>
        <p:txBody>
          <a:bodyPr rtlCol="0" anchor="ctr"/>
          <a:lstStyle/>
          <a:p>
            <a:pPr algn="ctr"/>
          </a:p>
        </p:txBody>
      </p:sp>
      <p:sp>
        <p:nvSpPr>
          <p:cNvPr id="10" name="TextBox 9"/>
          <p:cNvSpPr txBox="1"/>
          <p:nvPr/>
        </p:nvSpPr>
        <p:spPr>
          <a:xfrm>
            <a:off x="950976" y="1298448"/>
            <a:ext cx="7351775" cy="402336"/>
          </a:xfrm>
          <a:prstGeom prst="rect">
            <a:avLst/>
          </a:prstGeom>
          <a:noFill/>
        </p:spPr>
        <p:txBody>
          <a:bodyPr wrap="square" lIns="0" rIns="0" tIns="0" bIns="0" anchor="ctr">
            <a:noAutofit/>
          </a:bodyPr>
          <a:lstStyle/>
          <a:p>
            <a:pPr algn="l">
              <a:spcBef>
                <a:spcPts val="0"/>
              </a:spcBef>
              <a:spcAft>
                <a:spcPts val="0"/>
              </a:spcAft>
            </a:pPr>
            <a:r>
              <a:rPr sz="1250" b="0" i="1">
                <a:solidFill>
                  <a:srgbClr val="1E2447"/>
                </a:solidFill>
                <a:latin typeface="Cambria"/>
              </a:rPr>
              <a:t>“Concentration involves focusing mun, vritti, chitta, and buddhi for understanding, and focusing them for the purpose of evidence after understanding and realisation.”</a:t>
            </a:r>
          </a:p>
        </p:txBody>
      </p:sp>
      <p:sp>
        <p:nvSpPr>
          <p:cNvPr id="11" name="TextBox 10"/>
          <p:cNvSpPr txBox="1"/>
          <p:nvPr/>
        </p:nvSpPr>
        <p:spPr>
          <a:xfrm>
            <a:off x="950976" y="1719072"/>
            <a:ext cx="7351775" cy="201168"/>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MVD, p. 284</a:t>
            </a:r>
          </a:p>
        </p:txBody>
      </p:sp>
      <p:sp>
        <p:nvSpPr>
          <p:cNvPr id="12" name="Rounded Rectangle 11"/>
          <p:cNvSpPr/>
          <p:nvPr/>
        </p:nvSpPr>
        <p:spPr>
          <a:xfrm>
            <a:off x="640080" y="2157984"/>
            <a:ext cx="2514600" cy="1828800"/>
          </a:xfrm>
          <a:prstGeom prst="roundRect">
            <a:avLst>
              <a:gd name="adj" fmla="val 8000"/>
            </a:avLst>
          </a:prstGeom>
          <a:solidFill>
            <a:srgbClr val="EEF1F8"/>
          </a:solidFill>
          <a:ln>
            <a:noFill/>
          </a:ln>
        </p:spPr>
        <p:txBody>
          <a:bodyPr rtlCol="0" anchor="ctr"/>
          <a:lstStyle/>
          <a:p>
            <a:pPr algn="ctr"/>
          </a:p>
        </p:txBody>
      </p:sp>
      <p:sp>
        <p:nvSpPr>
          <p:cNvPr id="13" name="TextBox 12"/>
          <p:cNvSpPr txBox="1"/>
          <p:nvPr/>
        </p:nvSpPr>
        <p:spPr>
          <a:xfrm>
            <a:off x="841247" y="2267712"/>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Not stopping thought</a:t>
            </a:r>
          </a:p>
        </p:txBody>
      </p:sp>
      <p:sp>
        <p:nvSpPr>
          <p:cNvPr id="14" name="TextBox 13"/>
          <p:cNvSpPr txBox="1"/>
          <p:nvPr/>
        </p:nvSpPr>
        <p:spPr>
          <a:xfrm>
            <a:off x="841247" y="2615184"/>
            <a:ext cx="2112264" cy="126187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Traditional meditation narrows thought until it ceases (AVD pp. 164, 219). Here the object is meaning and its evidence (MVD pp. 284–285).</a:t>
            </a:r>
          </a:p>
        </p:txBody>
      </p:sp>
      <p:sp>
        <p:nvSpPr>
          <p:cNvPr id="15" name="Rounded Rectangle 14"/>
          <p:cNvSpPr/>
          <p:nvPr/>
        </p:nvSpPr>
        <p:spPr>
          <a:xfrm>
            <a:off x="3314700" y="2157984"/>
            <a:ext cx="2514600" cy="1828800"/>
          </a:xfrm>
          <a:prstGeom prst="roundRect">
            <a:avLst>
              <a:gd name="adj" fmla="val 8000"/>
            </a:avLst>
          </a:prstGeom>
          <a:solidFill>
            <a:srgbClr val="FAF1DF"/>
          </a:solidFill>
          <a:ln>
            <a:noFill/>
          </a:ln>
        </p:spPr>
        <p:txBody>
          <a:bodyPr rtlCol="0" anchor="ctr"/>
          <a:lstStyle/>
          <a:p>
            <a:pPr algn="ctr"/>
          </a:p>
        </p:txBody>
      </p:sp>
      <p:sp>
        <p:nvSpPr>
          <p:cNvPr id="16" name="TextBox 15"/>
          <p:cNvSpPr txBox="1"/>
          <p:nvPr/>
        </p:nvSpPr>
        <p:spPr>
          <a:xfrm>
            <a:off x="3515868" y="2267712"/>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Inward regulation</a:t>
            </a:r>
          </a:p>
        </p:txBody>
      </p:sp>
      <p:sp>
        <p:nvSpPr>
          <p:cNvPr id="17" name="TextBox 16"/>
          <p:cNvSpPr txBox="1"/>
          <p:nvPr/>
        </p:nvSpPr>
        <p:spPr>
          <a:xfrm>
            <a:off x="3515868" y="2615184"/>
            <a:ext cx="2112264" cy="126187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Concentration belongs to the inward regulation through which </a:t>
            </a:r>
            <a:r>
              <a:rPr sz="1200" b="0" i="1">
                <a:solidFill>
                  <a:srgbClr val="5A6377"/>
                </a:solidFill>
                <a:latin typeface="Calibri"/>
              </a:rPr>
              <a:t>atma-bodh</a:t>
            </a:r>
            <a:r>
              <a:rPr sz="1200" b="0" i="0">
                <a:solidFill>
                  <a:srgbClr val="5A6377"/>
                </a:solidFill>
                <a:latin typeface="Calibri"/>
              </a:rPr>
              <a:t> happens — its highest accomplishment (MVD p. 286).</a:t>
            </a:r>
          </a:p>
        </p:txBody>
      </p:sp>
      <p:sp>
        <p:nvSpPr>
          <p:cNvPr id="18" name="Rounded Rectangle 17"/>
          <p:cNvSpPr/>
          <p:nvPr/>
        </p:nvSpPr>
        <p:spPr>
          <a:xfrm>
            <a:off x="5989320" y="2157984"/>
            <a:ext cx="2514600" cy="1828800"/>
          </a:xfrm>
          <a:prstGeom prst="roundRect">
            <a:avLst>
              <a:gd name="adj" fmla="val 8000"/>
            </a:avLst>
          </a:prstGeom>
          <a:solidFill>
            <a:srgbClr val="EEF1F8"/>
          </a:solidFill>
          <a:ln>
            <a:noFill/>
          </a:ln>
        </p:spPr>
        <p:txBody>
          <a:bodyPr rtlCol="0" anchor="ctr"/>
          <a:lstStyle/>
          <a:p>
            <a:pPr algn="ctr"/>
          </a:p>
        </p:txBody>
      </p:sp>
      <p:sp>
        <p:nvSpPr>
          <p:cNvPr id="19" name="TextBox 18"/>
          <p:cNvSpPr txBox="1"/>
          <p:nvPr/>
        </p:nvSpPr>
        <p:spPr>
          <a:xfrm>
            <a:off x="6190488" y="2267712"/>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Company for awakening</a:t>
            </a:r>
          </a:p>
        </p:txBody>
      </p:sp>
      <p:sp>
        <p:nvSpPr>
          <p:cNvPr id="20" name="TextBox 19"/>
          <p:cNvSpPr txBox="1"/>
          <p:nvPr/>
        </p:nvSpPr>
        <p:spPr>
          <a:xfrm>
            <a:off x="6190488" y="2615184"/>
            <a:ext cx="2112264" cy="1261872"/>
          </a:xfrm>
          <a:prstGeom prst="rect">
            <a:avLst/>
          </a:prstGeom>
          <a:noFill/>
        </p:spPr>
        <p:txBody>
          <a:bodyPr wrap="square" lIns="0" rIns="0" tIns="0" bIns="0" anchor="t">
            <a:noAutofit/>
          </a:bodyPr>
          <a:lstStyle/>
          <a:p>
            <a:pPr algn="l">
              <a:spcBef>
                <a:spcPts val="0"/>
              </a:spcBef>
              <a:spcAft>
                <a:spcPts val="0"/>
              </a:spcAft>
            </a:pPr>
            <a:r>
              <a:rPr sz="1200" b="0" i="1">
                <a:solidFill>
                  <a:srgbClr val="5A6377"/>
                </a:solidFill>
                <a:latin typeface="Calibri"/>
              </a:rPr>
              <a:t>Yog</a:t>
            </a:r>
            <a:r>
              <a:rPr sz="1200" b="0" i="0">
                <a:solidFill>
                  <a:srgbClr val="5A6377"/>
                </a:solidFill>
                <a:latin typeface="Calibri"/>
              </a:rPr>
              <a:t> is union, including union with awakened humans for awakening; humans seek the company of the more awakened (MVD pp. 274, 301).</a:t>
            </a:r>
          </a:p>
        </p:txBody>
      </p:sp>
      <p:sp>
        <p:nvSpPr>
          <p:cNvPr id="21" name="TextBox 20"/>
          <p:cNvSpPr txBox="1"/>
          <p:nvPr/>
        </p:nvSpPr>
        <p:spPr>
          <a:xfrm>
            <a:off x="640080" y="4114800"/>
            <a:ext cx="7955279" cy="384048"/>
          </a:xfrm>
          <a:prstGeom prst="rect">
            <a:avLst/>
          </a:prstGeom>
          <a:noFill/>
        </p:spPr>
        <p:txBody>
          <a:bodyPr wrap="square" lIns="0" rIns="0" tIns="0" bIns="0" anchor="ctr">
            <a:noAutofit/>
          </a:bodyPr>
          <a:lstStyle/>
          <a:p>
            <a:pPr algn="l">
              <a:spcBef>
                <a:spcPts val="0"/>
              </a:spcBef>
              <a:spcAft>
                <a:spcPts val="0"/>
              </a:spcAft>
            </a:pPr>
            <a:r>
              <a:rPr sz="1200" b="0" i="1">
                <a:solidFill>
                  <a:srgbClr val="1E2447"/>
                </a:solidFill>
                <a:latin typeface="Calibri"/>
              </a:rPr>
              <a:t>All humans possess the capacity for concentration (MVD pp. 284–285).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THREE  ·  §1.10  ·  CONDITIONS AND SUPPORTS</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When Reflection Succeeds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203, 284  ·  AnalyticMadhyasthDarshan.org  ·  23 / 28</a:t>
            </a:r>
          </a:p>
        </p:txBody>
      </p:sp>
      <p:sp>
        <p:nvSpPr>
          <p:cNvPr id="8" name="TextBox 7"/>
          <p:cNvSpPr txBox="1"/>
          <p:nvPr/>
        </p:nvSpPr>
        <p:spPr>
          <a:xfrm>
            <a:off x="640080" y="1188720"/>
            <a:ext cx="7955279" cy="45720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libri"/>
              </a:rPr>
              <a:t>Each step of reflection has a condition and a support; only with both does it succeed (MVD p. 284).</a:t>
            </a:r>
          </a:p>
        </p:txBody>
      </p:sp>
      <p:sp>
        <p:nvSpPr>
          <p:cNvPr id="9" name="Rectangle 8"/>
          <p:cNvSpPr/>
          <p:nvPr/>
        </p:nvSpPr>
        <p:spPr>
          <a:xfrm>
            <a:off x="640080" y="1783080"/>
            <a:ext cx="1828800" cy="365760"/>
          </a:xfrm>
          <a:prstGeom prst="rect">
            <a:avLst/>
          </a:prstGeom>
          <a:solidFill>
            <a:srgbClr val="1E2447"/>
          </a:solidFill>
          <a:ln>
            <a:noFill/>
          </a:ln>
        </p:spPr>
        <p:txBody>
          <a:bodyPr rtlCol="0" anchor="ctr"/>
          <a:lstStyle/>
          <a:p>
            <a:pPr algn="ctr"/>
          </a:p>
        </p:txBody>
      </p:sp>
      <p:sp>
        <p:nvSpPr>
          <p:cNvPr id="10" name="TextBox 9"/>
          <p:cNvSpPr txBox="1"/>
          <p:nvPr/>
        </p:nvSpPr>
        <p:spPr>
          <a:xfrm>
            <a:off x="786384" y="1783080"/>
            <a:ext cx="1609344" cy="365760"/>
          </a:xfrm>
          <a:prstGeom prst="rect">
            <a:avLst/>
          </a:prstGeom>
          <a:noFill/>
        </p:spPr>
        <p:txBody>
          <a:bodyPr wrap="square" lIns="0" rIns="0" tIns="0" bIns="0" anchor="ctr">
            <a:noAutofit/>
          </a:bodyPr>
          <a:lstStyle/>
          <a:p>
            <a:pPr algn="l">
              <a:spcBef>
                <a:spcPts val="0"/>
              </a:spcBef>
              <a:spcAft>
                <a:spcPts val="0"/>
              </a:spcAft>
            </a:pPr>
            <a:r>
              <a:rPr sz="1200" b="1" i="0">
                <a:solidFill>
                  <a:srgbClr val="FFFFFF"/>
                </a:solidFill>
                <a:latin typeface="Calibri"/>
              </a:rPr>
              <a:t>Reflection of</a:t>
            </a:r>
          </a:p>
        </p:txBody>
      </p:sp>
      <p:sp>
        <p:nvSpPr>
          <p:cNvPr id="11" name="Rectangle 10"/>
          <p:cNvSpPr/>
          <p:nvPr/>
        </p:nvSpPr>
        <p:spPr>
          <a:xfrm>
            <a:off x="2468880" y="1783080"/>
            <a:ext cx="2651760" cy="365760"/>
          </a:xfrm>
          <a:prstGeom prst="rect">
            <a:avLst/>
          </a:prstGeom>
          <a:solidFill>
            <a:srgbClr val="1E2447"/>
          </a:solidFill>
          <a:ln>
            <a:noFill/>
          </a:ln>
        </p:spPr>
        <p:txBody>
          <a:bodyPr rtlCol="0" anchor="ctr"/>
          <a:lstStyle/>
          <a:p>
            <a:pPr algn="ctr"/>
          </a:p>
        </p:txBody>
      </p:sp>
      <p:sp>
        <p:nvSpPr>
          <p:cNvPr id="12" name="TextBox 11"/>
          <p:cNvSpPr txBox="1"/>
          <p:nvPr/>
        </p:nvSpPr>
        <p:spPr>
          <a:xfrm>
            <a:off x="2615184" y="1783080"/>
            <a:ext cx="2432304" cy="365760"/>
          </a:xfrm>
          <a:prstGeom prst="rect">
            <a:avLst/>
          </a:prstGeom>
          <a:noFill/>
        </p:spPr>
        <p:txBody>
          <a:bodyPr wrap="square" lIns="0" rIns="0" tIns="0" bIns="0" anchor="ctr">
            <a:noAutofit/>
          </a:bodyPr>
          <a:lstStyle/>
          <a:p>
            <a:pPr algn="l">
              <a:spcBef>
                <a:spcPts val="0"/>
              </a:spcBef>
              <a:spcAft>
                <a:spcPts val="0"/>
              </a:spcAft>
            </a:pPr>
            <a:r>
              <a:rPr sz="1200" b="1" i="0">
                <a:solidFill>
                  <a:srgbClr val="FFFFFF"/>
                </a:solidFill>
                <a:latin typeface="Calibri"/>
              </a:rPr>
              <a:t>Succeeds in the absence of</a:t>
            </a:r>
          </a:p>
        </p:txBody>
      </p:sp>
      <p:sp>
        <p:nvSpPr>
          <p:cNvPr id="13" name="Rectangle 12"/>
          <p:cNvSpPr/>
          <p:nvPr/>
        </p:nvSpPr>
        <p:spPr>
          <a:xfrm>
            <a:off x="5120640" y="1783080"/>
            <a:ext cx="3383280" cy="365760"/>
          </a:xfrm>
          <a:prstGeom prst="rect">
            <a:avLst/>
          </a:prstGeom>
          <a:solidFill>
            <a:srgbClr val="1E2447"/>
          </a:solidFill>
          <a:ln>
            <a:noFill/>
          </a:ln>
        </p:spPr>
        <p:txBody>
          <a:bodyPr rtlCol="0" anchor="ctr"/>
          <a:lstStyle/>
          <a:p>
            <a:pPr algn="ctr"/>
          </a:p>
        </p:txBody>
      </p:sp>
      <p:sp>
        <p:nvSpPr>
          <p:cNvPr id="14" name="TextBox 13"/>
          <p:cNvSpPr txBox="1"/>
          <p:nvPr/>
        </p:nvSpPr>
        <p:spPr>
          <a:xfrm>
            <a:off x="5266944" y="1783080"/>
            <a:ext cx="3163824" cy="365760"/>
          </a:xfrm>
          <a:prstGeom prst="rect">
            <a:avLst/>
          </a:prstGeom>
          <a:noFill/>
        </p:spPr>
        <p:txBody>
          <a:bodyPr wrap="square" lIns="0" rIns="0" tIns="0" bIns="0" anchor="ctr">
            <a:noAutofit/>
          </a:bodyPr>
          <a:lstStyle/>
          <a:p>
            <a:pPr algn="l">
              <a:spcBef>
                <a:spcPts val="0"/>
              </a:spcBef>
              <a:spcAft>
                <a:spcPts val="0"/>
              </a:spcAft>
            </a:pPr>
            <a:r>
              <a:rPr sz="1200" b="1" i="0">
                <a:solidFill>
                  <a:srgbClr val="FFFFFF"/>
                </a:solidFill>
                <a:latin typeface="Calibri"/>
              </a:rPr>
              <a:t>Needs the support of</a:t>
            </a:r>
          </a:p>
        </p:txBody>
      </p:sp>
      <p:sp>
        <p:nvSpPr>
          <p:cNvPr id="15" name="Rectangle 14"/>
          <p:cNvSpPr/>
          <p:nvPr/>
        </p:nvSpPr>
        <p:spPr>
          <a:xfrm>
            <a:off x="640080" y="2148840"/>
            <a:ext cx="7863840" cy="457200"/>
          </a:xfrm>
          <a:prstGeom prst="rect">
            <a:avLst/>
          </a:prstGeom>
          <a:solidFill>
            <a:srgbClr val="EEF1F8"/>
          </a:solidFill>
          <a:ln>
            <a:noFill/>
          </a:ln>
        </p:spPr>
        <p:txBody>
          <a:bodyPr rtlCol="0" anchor="ctr"/>
          <a:lstStyle/>
          <a:p>
            <a:pPr algn="ctr"/>
          </a:p>
        </p:txBody>
      </p:sp>
      <p:sp>
        <p:nvSpPr>
          <p:cNvPr id="16" name="TextBox 15"/>
          <p:cNvSpPr txBox="1"/>
          <p:nvPr/>
        </p:nvSpPr>
        <p:spPr>
          <a:xfrm>
            <a:off x="786384" y="2148840"/>
            <a:ext cx="1645920" cy="45720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Hope</a:t>
            </a:r>
          </a:p>
        </p:txBody>
      </p:sp>
      <p:sp>
        <p:nvSpPr>
          <p:cNvPr id="17" name="TextBox 16"/>
          <p:cNvSpPr txBox="1"/>
          <p:nvPr/>
        </p:nvSpPr>
        <p:spPr>
          <a:xfrm>
            <a:off x="2615184" y="2148840"/>
            <a:ext cx="2468880" cy="457200"/>
          </a:xfrm>
          <a:prstGeom prst="rect">
            <a:avLst/>
          </a:prstGeom>
          <a:noFill/>
        </p:spPr>
        <p:txBody>
          <a:bodyPr wrap="square" lIns="0" rIns="0" tIns="0" bIns="0" anchor="ctr">
            <a:noAutofit/>
          </a:bodyPr>
          <a:lstStyle/>
          <a:p>
            <a:pPr algn="l">
              <a:spcBef>
                <a:spcPts val="0"/>
              </a:spcBef>
              <a:spcAft>
                <a:spcPts val="0"/>
              </a:spcAft>
            </a:pPr>
            <a:r>
              <a:rPr sz="1250" b="0" i="0">
                <a:solidFill>
                  <a:srgbClr val="5A6377"/>
                </a:solidFill>
                <a:latin typeface="Calibri"/>
              </a:rPr>
              <a:t>crime</a:t>
            </a:r>
          </a:p>
        </p:txBody>
      </p:sp>
      <p:sp>
        <p:nvSpPr>
          <p:cNvPr id="18" name="TextBox 17"/>
          <p:cNvSpPr txBox="1"/>
          <p:nvPr/>
        </p:nvSpPr>
        <p:spPr>
          <a:xfrm>
            <a:off x="5266944" y="2148840"/>
            <a:ext cx="3200400" cy="457200"/>
          </a:xfrm>
          <a:prstGeom prst="rect">
            <a:avLst/>
          </a:prstGeom>
          <a:noFill/>
        </p:spPr>
        <p:txBody>
          <a:bodyPr wrap="square" lIns="0" rIns="0" tIns="0" bIns="0" anchor="ctr">
            <a:noAutofit/>
          </a:bodyPr>
          <a:lstStyle/>
          <a:p>
            <a:pPr algn="l">
              <a:spcBef>
                <a:spcPts val="0"/>
              </a:spcBef>
              <a:spcAft>
                <a:spcPts val="0"/>
              </a:spcAft>
            </a:pPr>
            <a:r>
              <a:rPr sz="1250" b="1" i="0">
                <a:solidFill>
                  <a:srgbClr val="9A6414"/>
                </a:solidFill>
                <a:latin typeface="Calibri"/>
              </a:rPr>
              <a:t>the influence of orderliness</a:t>
            </a:r>
          </a:p>
        </p:txBody>
      </p:sp>
      <p:sp>
        <p:nvSpPr>
          <p:cNvPr id="19" name="Rectangle 18"/>
          <p:cNvSpPr/>
          <p:nvPr/>
        </p:nvSpPr>
        <p:spPr>
          <a:xfrm>
            <a:off x="640080" y="2606040"/>
            <a:ext cx="7863840" cy="457200"/>
          </a:xfrm>
          <a:prstGeom prst="rect">
            <a:avLst/>
          </a:prstGeom>
          <a:solidFill>
            <a:srgbClr val="FFFFFF"/>
          </a:solidFill>
          <a:ln>
            <a:noFill/>
          </a:ln>
        </p:spPr>
        <p:txBody>
          <a:bodyPr rtlCol="0" anchor="ctr"/>
          <a:lstStyle/>
          <a:p>
            <a:pPr algn="ctr"/>
          </a:p>
        </p:txBody>
      </p:sp>
      <p:sp>
        <p:nvSpPr>
          <p:cNvPr id="20" name="TextBox 19"/>
          <p:cNvSpPr txBox="1"/>
          <p:nvPr/>
        </p:nvSpPr>
        <p:spPr>
          <a:xfrm>
            <a:off x="786384" y="2606040"/>
            <a:ext cx="1645920" cy="45720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Thought</a:t>
            </a:r>
          </a:p>
        </p:txBody>
      </p:sp>
      <p:sp>
        <p:nvSpPr>
          <p:cNvPr id="21" name="TextBox 20"/>
          <p:cNvSpPr txBox="1"/>
          <p:nvPr/>
        </p:nvSpPr>
        <p:spPr>
          <a:xfrm>
            <a:off x="2615184" y="2606040"/>
            <a:ext cx="2468880" cy="457200"/>
          </a:xfrm>
          <a:prstGeom prst="rect">
            <a:avLst/>
          </a:prstGeom>
          <a:noFill/>
        </p:spPr>
        <p:txBody>
          <a:bodyPr wrap="square" lIns="0" rIns="0" tIns="0" bIns="0" anchor="ctr">
            <a:noAutofit/>
          </a:bodyPr>
          <a:lstStyle/>
          <a:p>
            <a:pPr algn="l">
              <a:spcBef>
                <a:spcPts val="0"/>
              </a:spcBef>
              <a:spcAft>
                <a:spcPts val="0"/>
              </a:spcAft>
            </a:pPr>
            <a:r>
              <a:rPr sz="1250" b="0" i="0">
                <a:solidFill>
                  <a:srgbClr val="5A6377"/>
                </a:solidFill>
                <a:latin typeface="Calibri"/>
              </a:rPr>
              <a:t>injustice</a:t>
            </a:r>
          </a:p>
        </p:txBody>
      </p:sp>
      <p:sp>
        <p:nvSpPr>
          <p:cNvPr id="22" name="TextBox 21"/>
          <p:cNvSpPr txBox="1"/>
          <p:nvPr/>
        </p:nvSpPr>
        <p:spPr>
          <a:xfrm>
            <a:off x="5266944" y="2606040"/>
            <a:ext cx="3200400" cy="457200"/>
          </a:xfrm>
          <a:prstGeom prst="rect">
            <a:avLst/>
          </a:prstGeom>
          <a:noFill/>
        </p:spPr>
        <p:txBody>
          <a:bodyPr wrap="square" lIns="0" rIns="0" tIns="0" bIns="0" anchor="ctr">
            <a:noAutofit/>
          </a:bodyPr>
          <a:lstStyle/>
          <a:p>
            <a:pPr algn="l">
              <a:spcBef>
                <a:spcPts val="0"/>
              </a:spcBef>
              <a:spcAft>
                <a:spcPts val="0"/>
              </a:spcAft>
            </a:pPr>
            <a:r>
              <a:rPr sz="1250" b="1" i="0">
                <a:solidFill>
                  <a:srgbClr val="9A6414"/>
                </a:solidFill>
                <a:latin typeface="Calibri"/>
              </a:rPr>
              <a:t>social conduct</a:t>
            </a:r>
          </a:p>
        </p:txBody>
      </p:sp>
      <p:sp>
        <p:nvSpPr>
          <p:cNvPr id="23" name="Rectangle 22"/>
          <p:cNvSpPr/>
          <p:nvPr/>
        </p:nvSpPr>
        <p:spPr>
          <a:xfrm>
            <a:off x="640080" y="3063240"/>
            <a:ext cx="7863840" cy="457200"/>
          </a:xfrm>
          <a:prstGeom prst="rect">
            <a:avLst/>
          </a:prstGeom>
          <a:solidFill>
            <a:srgbClr val="EEF1F8"/>
          </a:solidFill>
          <a:ln>
            <a:noFill/>
          </a:ln>
        </p:spPr>
        <p:txBody>
          <a:bodyPr rtlCol="0" anchor="ctr"/>
          <a:lstStyle/>
          <a:p>
            <a:pPr algn="ctr"/>
          </a:p>
        </p:txBody>
      </p:sp>
      <p:sp>
        <p:nvSpPr>
          <p:cNvPr id="24" name="TextBox 23"/>
          <p:cNvSpPr txBox="1"/>
          <p:nvPr/>
        </p:nvSpPr>
        <p:spPr>
          <a:xfrm>
            <a:off x="786384" y="3063240"/>
            <a:ext cx="1645920" cy="45720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Desire</a:t>
            </a:r>
          </a:p>
        </p:txBody>
      </p:sp>
      <p:sp>
        <p:nvSpPr>
          <p:cNvPr id="25" name="TextBox 24"/>
          <p:cNvSpPr txBox="1"/>
          <p:nvPr/>
        </p:nvSpPr>
        <p:spPr>
          <a:xfrm>
            <a:off x="2615184" y="3063240"/>
            <a:ext cx="2468880" cy="457200"/>
          </a:xfrm>
          <a:prstGeom prst="rect">
            <a:avLst/>
          </a:prstGeom>
          <a:noFill/>
        </p:spPr>
        <p:txBody>
          <a:bodyPr wrap="square" lIns="0" rIns="0" tIns="0" bIns="0" anchor="ctr">
            <a:noAutofit/>
          </a:bodyPr>
          <a:lstStyle/>
          <a:p>
            <a:pPr algn="l">
              <a:spcBef>
                <a:spcPts val="0"/>
              </a:spcBef>
              <a:spcAft>
                <a:spcPts val="0"/>
              </a:spcAft>
            </a:pPr>
            <a:r>
              <a:rPr sz="1250" b="0" i="0">
                <a:solidFill>
                  <a:srgbClr val="5A6377"/>
                </a:solidFill>
                <a:latin typeface="Calibri"/>
              </a:rPr>
              <a:t>attachment</a:t>
            </a:r>
          </a:p>
        </p:txBody>
      </p:sp>
      <p:sp>
        <p:nvSpPr>
          <p:cNvPr id="26" name="TextBox 25"/>
          <p:cNvSpPr txBox="1"/>
          <p:nvPr/>
        </p:nvSpPr>
        <p:spPr>
          <a:xfrm>
            <a:off x="5266944" y="3063240"/>
            <a:ext cx="3200400" cy="457200"/>
          </a:xfrm>
          <a:prstGeom prst="rect">
            <a:avLst/>
          </a:prstGeom>
          <a:noFill/>
        </p:spPr>
        <p:txBody>
          <a:bodyPr wrap="square" lIns="0" rIns="0" tIns="0" bIns="0" anchor="ctr">
            <a:noAutofit/>
          </a:bodyPr>
          <a:lstStyle/>
          <a:p>
            <a:pPr algn="l">
              <a:spcBef>
                <a:spcPts val="0"/>
              </a:spcBef>
              <a:spcAft>
                <a:spcPts val="0"/>
              </a:spcAft>
            </a:pPr>
            <a:r>
              <a:rPr sz="1250" b="1" i="0">
                <a:solidFill>
                  <a:srgbClr val="9A6414"/>
                </a:solidFill>
                <a:latin typeface="Calibri"/>
              </a:rPr>
              <a:t>study and </a:t>
            </a:r>
            <a:r>
              <a:rPr sz="1250" b="1" i="1">
                <a:solidFill>
                  <a:srgbClr val="9A6414"/>
                </a:solidFill>
                <a:latin typeface="Calibri"/>
              </a:rPr>
              <a:t>sanskar</a:t>
            </a:r>
          </a:p>
        </p:txBody>
      </p:sp>
      <p:sp>
        <p:nvSpPr>
          <p:cNvPr id="27" name="Rectangle 26"/>
          <p:cNvSpPr/>
          <p:nvPr/>
        </p:nvSpPr>
        <p:spPr>
          <a:xfrm>
            <a:off x="640080" y="3520440"/>
            <a:ext cx="7863840" cy="457200"/>
          </a:xfrm>
          <a:prstGeom prst="rect">
            <a:avLst/>
          </a:prstGeom>
          <a:solidFill>
            <a:srgbClr val="FFFFFF"/>
          </a:solidFill>
          <a:ln>
            <a:noFill/>
          </a:ln>
        </p:spPr>
        <p:txBody>
          <a:bodyPr rtlCol="0" anchor="ctr"/>
          <a:lstStyle/>
          <a:p>
            <a:pPr algn="ctr"/>
          </a:p>
        </p:txBody>
      </p:sp>
      <p:sp>
        <p:nvSpPr>
          <p:cNvPr id="28" name="TextBox 27"/>
          <p:cNvSpPr txBox="1"/>
          <p:nvPr/>
        </p:nvSpPr>
        <p:spPr>
          <a:xfrm>
            <a:off x="786384" y="3520440"/>
            <a:ext cx="1645920" cy="45720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Resolve</a:t>
            </a:r>
          </a:p>
        </p:txBody>
      </p:sp>
      <p:sp>
        <p:nvSpPr>
          <p:cNvPr id="29" name="TextBox 28"/>
          <p:cNvSpPr txBox="1"/>
          <p:nvPr/>
        </p:nvSpPr>
        <p:spPr>
          <a:xfrm>
            <a:off x="2615184" y="3520440"/>
            <a:ext cx="2468880" cy="457200"/>
          </a:xfrm>
          <a:prstGeom prst="rect">
            <a:avLst/>
          </a:prstGeom>
          <a:noFill/>
        </p:spPr>
        <p:txBody>
          <a:bodyPr wrap="square" lIns="0" rIns="0" tIns="0" bIns="0" anchor="ctr">
            <a:noAutofit/>
          </a:bodyPr>
          <a:lstStyle/>
          <a:p>
            <a:pPr algn="l">
              <a:spcBef>
                <a:spcPts val="0"/>
              </a:spcBef>
              <a:spcAft>
                <a:spcPts val="0"/>
              </a:spcAft>
            </a:pPr>
            <a:r>
              <a:rPr sz="1250" b="0" i="0">
                <a:solidFill>
                  <a:srgbClr val="5A6377"/>
                </a:solidFill>
                <a:latin typeface="Calibri"/>
              </a:rPr>
              <a:t>ignorance</a:t>
            </a:r>
          </a:p>
        </p:txBody>
      </p:sp>
      <p:sp>
        <p:nvSpPr>
          <p:cNvPr id="30" name="TextBox 29"/>
          <p:cNvSpPr txBox="1"/>
          <p:nvPr/>
        </p:nvSpPr>
        <p:spPr>
          <a:xfrm>
            <a:off x="5266944" y="3520440"/>
            <a:ext cx="3200400" cy="457200"/>
          </a:xfrm>
          <a:prstGeom prst="rect">
            <a:avLst/>
          </a:prstGeom>
          <a:noFill/>
        </p:spPr>
        <p:txBody>
          <a:bodyPr wrap="square" lIns="0" rIns="0" tIns="0" bIns="0" anchor="ctr">
            <a:noAutofit/>
          </a:bodyPr>
          <a:lstStyle/>
          <a:p>
            <a:pPr algn="l">
              <a:spcBef>
                <a:spcPts val="0"/>
              </a:spcBef>
              <a:spcAft>
                <a:spcPts val="0"/>
              </a:spcAft>
            </a:pPr>
            <a:r>
              <a:rPr sz="1250" b="1" i="0">
                <a:solidFill>
                  <a:srgbClr val="9A6414"/>
                </a:solidFill>
                <a:latin typeface="Calibri"/>
              </a:rPr>
              <a:t>inward regulation, or concentration</a:t>
            </a:r>
          </a:p>
        </p:txBody>
      </p:sp>
      <p:sp>
        <p:nvSpPr>
          <p:cNvPr id="31" name="Rounded Rectangle 30"/>
          <p:cNvSpPr/>
          <p:nvPr/>
        </p:nvSpPr>
        <p:spPr>
          <a:xfrm>
            <a:off x="640080" y="4114800"/>
            <a:ext cx="7863840" cy="566928"/>
          </a:xfrm>
          <a:prstGeom prst="roundRect">
            <a:avLst>
              <a:gd name="adj" fmla="val 8000"/>
            </a:avLst>
          </a:prstGeom>
          <a:solidFill>
            <a:srgbClr val="FAF1DF"/>
          </a:solidFill>
          <a:ln>
            <a:noFill/>
          </a:ln>
        </p:spPr>
        <p:txBody>
          <a:bodyPr rtlCol="0" anchor="ctr"/>
          <a:lstStyle/>
          <a:p>
            <a:pPr algn="ctr"/>
          </a:p>
        </p:txBody>
      </p:sp>
      <p:sp>
        <p:nvSpPr>
          <p:cNvPr id="32" name="TextBox 31"/>
          <p:cNvSpPr txBox="1"/>
          <p:nvPr/>
        </p:nvSpPr>
        <p:spPr>
          <a:xfrm>
            <a:off x="841248" y="4114800"/>
            <a:ext cx="7461504" cy="566928"/>
          </a:xfrm>
          <a:prstGeom prst="rect">
            <a:avLst/>
          </a:prstGeom>
          <a:noFill/>
        </p:spPr>
        <p:txBody>
          <a:bodyPr wrap="square" lIns="0" rIns="0" tIns="0" bIns="0" anchor="ctr">
            <a:noAutofit/>
          </a:bodyPr>
          <a:lstStyle/>
          <a:p>
            <a:pPr algn="l">
              <a:spcBef>
                <a:spcPts val="0"/>
              </a:spcBef>
              <a:spcAft>
                <a:spcPts val="0"/>
              </a:spcAft>
            </a:pPr>
            <a:r>
              <a:rPr sz="1200" b="1" i="0">
                <a:solidFill>
                  <a:srgbClr val="9A6414"/>
                </a:solidFill>
                <a:latin typeface="Calibri"/>
              </a:rPr>
              <a:t>The level of awakening is judged by attachment or non-attachment to the body's instincts and the objects of the senses (MVD p. 203).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THREE  ·  §1.10  ·  MARKS OF PROGRESS</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Each Step Has Its Mark</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282–283, 322–323, 327  ·  AnalyticMadhyasthDarshan.org  ·  24 / 28</a:t>
            </a:r>
          </a:p>
        </p:txBody>
      </p:sp>
      <p:sp>
        <p:nvSpPr>
          <p:cNvPr id="8" name="TextBox 7"/>
          <p:cNvSpPr txBox="1"/>
          <p:nvPr/>
        </p:nvSpPr>
        <p:spPr>
          <a:xfrm>
            <a:off x="640080" y="1188720"/>
            <a:ext cx="7955279" cy="41148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libri"/>
              </a:rPr>
              <a:t>Each faculty reaches its complete development by receiving the signal of the one within it (MVD pp. 322–323).</a:t>
            </a:r>
          </a:p>
        </p:txBody>
      </p:sp>
      <p:sp>
        <p:nvSpPr>
          <p:cNvPr id="9" name="Rounded Rectangle 8"/>
          <p:cNvSpPr/>
          <p:nvPr/>
        </p:nvSpPr>
        <p:spPr>
          <a:xfrm>
            <a:off x="640080" y="1737360"/>
            <a:ext cx="4389120" cy="2871216"/>
          </a:xfrm>
          <a:prstGeom prst="roundRect">
            <a:avLst>
              <a:gd name="adj" fmla="val 5000"/>
            </a:avLst>
          </a:prstGeom>
          <a:solidFill>
            <a:srgbClr val="EEF1F8"/>
          </a:solidFill>
          <a:ln>
            <a:noFill/>
          </a:ln>
        </p:spPr>
        <p:txBody>
          <a:bodyPr rtlCol="0" anchor="ctr"/>
          <a:lstStyle/>
          <a:p>
            <a:pPr algn="ctr"/>
          </a:p>
        </p:txBody>
      </p:sp>
      <p:sp>
        <p:nvSpPr>
          <p:cNvPr id="10" name="TextBox 9"/>
          <p:cNvSpPr txBox="1"/>
          <p:nvPr/>
        </p:nvSpPr>
        <p:spPr>
          <a:xfrm>
            <a:off x="841248" y="1810512"/>
            <a:ext cx="4023360"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When the signal is received</a:t>
            </a:r>
          </a:p>
        </p:txBody>
      </p:sp>
      <p:sp>
        <p:nvSpPr>
          <p:cNvPr id="11" name="Rounded Rectangle 10"/>
          <p:cNvSpPr/>
          <p:nvPr/>
        </p:nvSpPr>
        <p:spPr>
          <a:xfrm>
            <a:off x="841248" y="2212848"/>
            <a:ext cx="1737360" cy="475488"/>
          </a:xfrm>
          <a:prstGeom prst="roundRect">
            <a:avLst>
              <a:gd name="adj" fmla="val 12000"/>
            </a:avLst>
          </a:prstGeom>
          <a:solidFill>
            <a:srgbClr val="1E2447"/>
          </a:solidFill>
          <a:ln>
            <a:noFill/>
          </a:ln>
        </p:spPr>
        <p:txBody>
          <a:bodyPr rtlCol="0" anchor="ctr"/>
          <a:lstStyle/>
          <a:p>
            <a:pPr algn="ctr"/>
          </a:p>
        </p:txBody>
      </p:sp>
      <p:sp>
        <p:nvSpPr>
          <p:cNvPr id="12" name="TextBox 11"/>
          <p:cNvSpPr txBox="1"/>
          <p:nvPr/>
        </p:nvSpPr>
        <p:spPr>
          <a:xfrm>
            <a:off x="886968" y="2212848"/>
            <a:ext cx="1645919" cy="475488"/>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Mun</a:t>
            </a:r>
          </a:p>
          <a:p>
            <a:pPr algn="ctr">
              <a:spcBef>
                <a:spcPts val="0"/>
              </a:spcBef>
              <a:spcAft>
                <a:spcPts val="0"/>
              </a:spcAft>
            </a:pPr>
            <a:r>
              <a:rPr sz="950" b="0" i="1">
                <a:solidFill>
                  <a:srgbClr val="C9D4EF"/>
                </a:solidFill>
                <a:latin typeface="Calibri"/>
              </a:rPr>
              <a:t>receives vritti's signal</a:t>
            </a:r>
          </a:p>
        </p:txBody>
      </p:sp>
      <p:sp>
        <p:nvSpPr>
          <p:cNvPr id="13" name="TextBox 12"/>
          <p:cNvSpPr txBox="1"/>
          <p:nvPr/>
        </p:nvSpPr>
        <p:spPr>
          <a:xfrm>
            <a:off x="2596896" y="2212848"/>
            <a:ext cx="256032" cy="475488"/>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4" name="TextBox 13"/>
          <p:cNvSpPr txBox="1"/>
          <p:nvPr/>
        </p:nvSpPr>
        <p:spPr>
          <a:xfrm>
            <a:off x="2889504" y="2212848"/>
            <a:ext cx="2029968" cy="475488"/>
          </a:xfrm>
          <a:prstGeom prst="rect">
            <a:avLst/>
          </a:prstGeom>
          <a:noFill/>
        </p:spPr>
        <p:txBody>
          <a:bodyPr wrap="square" lIns="0" rIns="0" tIns="0" bIns="0" anchor="ctr">
            <a:noAutofit/>
          </a:bodyPr>
          <a:lstStyle/>
          <a:p>
            <a:pPr algn="l">
              <a:spcBef>
                <a:spcPts val="0"/>
              </a:spcBef>
              <a:spcAft>
                <a:spcPts val="0"/>
              </a:spcAft>
            </a:pPr>
            <a:r>
              <a:rPr sz="1200" b="1" i="0">
                <a:solidFill>
                  <a:srgbClr val="9A6414"/>
                </a:solidFill>
                <a:latin typeface="Calibri"/>
              </a:rPr>
              <a:t>just behaviour and affection</a:t>
            </a:r>
          </a:p>
        </p:txBody>
      </p:sp>
      <p:sp>
        <p:nvSpPr>
          <p:cNvPr id="15" name="Rounded Rectangle 14"/>
          <p:cNvSpPr/>
          <p:nvPr/>
        </p:nvSpPr>
        <p:spPr>
          <a:xfrm>
            <a:off x="841248" y="2798064"/>
            <a:ext cx="1737360" cy="475488"/>
          </a:xfrm>
          <a:prstGeom prst="roundRect">
            <a:avLst>
              <a:gd name="adj" fmla="val 12000"/>
            </a:avLst>
          </a:prstGeom>
          <a:solidFill>
            <a:srgbClr val="1E2447"/>
          </a:solidFill>
          <a:ln>
            <a:noFill/>
          </a:ln>
        </p:spPr>
        <p:txBody>
          <a:bodyPr rtlCol="0" anchor="ctr"/>
          <a:lstStyle/>
          <a:p>
            <a:pPr algn="ctr"/>
          </a:p>
        </p:txBody>
      </p:sp>
      <p:sp>
        <p:nvSpPr>
          <p:cNvPr id="16" name="TextBox 15"/>
          <p:cNvSpPr txBox="1"/>
          <p:nvPr/>
        </p:nvSpPr>
        <p:spPr>
          <a:xfrm>
            <a:off x="886968" y="2798064"/>
            <a:ext cx="1645919" cy="475488"/>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Vritti</a:t>
            </a:r>
          </a:p>
          <a:p>
            <a:pPr algn="ctr">
              <a:spcBef>
                <a:spcPts val="0"/>
              </a:spcBef>
              <a:spcAft>
                <a:spcPts val="0"/>
              </a:spcAft>
            </a:pPr>
            <a:r>
              <a:rPr sz="950" b="0" i="1">
                <a:solidFill>
                  <a:srgbClr val="C9D4EF"/>
                </a:solidFill>
                <a:latin typeface="Calibri"/>
              </a:rPr>
              <a:t>receives chitta's signal</a:t>
            </a:r>
          </a:p>
        </p:txBody>
      </p:sp>
      <p:sp>
        <p:nvSpPr>
          <p:cNvPr id="17" name="TextBox 16"/>
          <p:cNvSpPr txBox="1"/>
          <p:nvPr/>
        </p:nvSpPr>
        <p:spPr>
          <a:xfrm>
            <a:off x="2596896" y="2798064"/>
            <a:ext cx="256032" cy="475488"/>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18" name="TextBox 17"/>
          <p:cNvSpPr txBox="1"/>
          <p:nvPr/>
        </p:nvSpPr>
        <p:spPr>
          <a:xfrm>
            <a:off x="2889504" y="2798064"/>
            <a:ext cx="2029968" cy="475488"/>
          </a:xfrm>
          <a:prstGeom prst="rect">
            <a:avLst/>
          </a:prstGeom>
          <a:noFill/>
        </p:spPr>
        <p:txBody>
          <a:bodyPr wrap="square" lIns="0" rIns="0" tIns="0" bIns="0" anchor="ctr">
            <a:noAutofit/>
          </a:bodyPr>
          <a:lstStyle/>
          <a:p>
            <a:pPr algn="l">
              <a:spcBef>
                <a:spcPts val="0"/>
              </a:spcBef>
              <a:spcAft>
                <a:spcPts val="0"/>
              </a:spcAft>
            </a:pPr>
            <a:r>
              <a:rPr sz="1200" b="1" i="0">
                <a:solidFill>
                  <a:srgbClr val="9A6414"/>
                </a:solidFill>
                <a:latin typeface="Calibri"/>
              </a:rPr>
              <a:t>peace</a:t>
            </a:r>
          </a:p>
        </p:txBody>
      </p:sp>
      <p:sp>
        <p:nvSpPr>
          <p:cNvPr id="19" name="Rounded Rectangle 18"/>
          <p:cNvSpPr/>
          <p:nvPr/>
        </p:nvSpPr>
        <p:spPr>
          <a:xfrm>
            <a:off x="841248" y="3383280"/>
            <a:ext cx="1737360" cy="475488"/>
          </a:xfrm>
          <a:prstGeom prst="roundRect">
            <a:avLst>
              <a:gd name="adj" fmla="val 12000"/>
            </a:avLst>
          </a:prstGeom>
          <a:solidFill>
            <a:srgbClr val="1E2447"/>
          </a:solidFill>
          <a:ln>
            <a:noFill/>
          </a:ln>
        </p:spPr>
        <p:txBody>
          <a:bodyPr rtlCol="0" anchor="ctr"/>
          <a:lstStyle/>
          <a:p>
            <a:pPr algn="ctr"/>
          </a:p>
        </p:txBody>
      </p:sp>
      <p:sp>
        <p:nvSpPr>
          <p:cNvPr id="20" name="TextBox 19"/>
          <p:cNvSpPr txBox="1"/>
          <p:nvPr/>
        </p:nvSpPr>
        <p:spPr>
          <a:xfrm>
            <a:off x="886968" y="3383280"/>
            <a:ext cx="1645919" cy="475488"/>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Chitta</a:t>
            </a:r>
          </a:p>
          <a:p>
            <a:pPr algn="ctr">
              <a:spcBef>
                <a:spcPts val="0"/>
              </a:spcBef>
              <a:spcAft>
                <a:spcPts val="0"/>
              </a:spcAft>
            </a:pPr>
            <a:r>
              <a:rPr sz="950" b="0" i="1">
                <a:solidFill>
                  <a:srgbClr val="C9D4EF"/>
                </a:solidFill>
                <a:latin typeface="Calibri"/>
              </a:rPr>
              <a:t>receives buddhi's signal</a:t>
            </a:r>
          </a:p>
        </p:txBody>
      </p:sp>
      <p:sp>
        <p:nvSpPr>
          <p:cNvPr id="21" name="TextBox 20"/>
          <p:cNvSpPr txBox="1"/>
          <p:nvPr/>
        </p:nvSpPr>
        <p:spPr>
          <a:xfrm>
            <a:off x="2596896" y="3383280"/>
            <a:ext cx="256032" cy="475488"/>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22" name="TextBox 21"/>
          <p:cNvSpPr txBox="1"/>
          <p:nvPr/>
        </p:nvSpPr>
        <p:spPr>
          <a:xfrm>
            <a:off x="2889504" y="3383280"/>
            <a:ext cx="2029968" cy="475488"/>
          </a:xfrm>
          <a:prstGeom prst="rect">
            <a:avLst/>
          </a:prstGeom>
          <a:noFill/>
        </p:spPr>
        <p:txBody>
          <a:bodyPr wrap="square" lIns="0" rIns="0" tIns="0" bIns="0" anchor="ctr">
            <a:noAutofit/>
          </a:bodyPr>
          <a:lstStyle/>
          <a:p>
            <a:pPr algn="l">
              <a:spcBef>
                <a:spcPts val="0"/>
              </a:spcBef>
              <a:spcAft>
                <a:spcPts val="0"/>
              </a:spcAft>
            </a:pPr>
            <a:r>
              <a:rPr sz="1200" b="1" i="0">
                <a:solidFill>
                  <a:srgbClr val="9A6414"/>
                </a:solidFill>
                <a:latin typeface="Calibri"/>
              </a:rPr>
              <a:t>contentment, self-governed living</a:t>
            </a:r>
          </a:p>
        </p:txBody>
      </p:sp>
      <p:sp>
        <p:nvSpPr>
          <p:cNvPr id="23" name="Rounded Rectangle 22"/>
          <p:cNvSpPr/>
          <p:nvPr/>
        </p:nvSpPr>
        <p:spPr>
          <a:xfrm>
            <a:off x="841248" y="3968496"/>
            <a:ext cx="1737360" cy="475488"/>
          </a:xfrm>
          <a:prstGeom prst="roundRect">
            <a:avLst>
              <a:gd name="adj" fmla="val 12000"/>
            </a:avLst>
          </a:prstGeom>
          <a:solidFill>
            <a:srgbClr val="1E2447"/>
          </a:solidFill>
          <a:ln>
            <a:noFill/>
          </a:ln>
        </p:spPr>
        <p:txBody>
          <a:bodyPr rtlCol="0" anchor="ctr"/>
          <a:lstStyle/>
          <a:p>
            <a:pPr algn="ctr"/>
          </a:p>
        </p:txBody>
      </p:sp>
      <p:sp>
        <p:nvSpPr>
          <p:cNvPr id="24" name="TextBox 23"/>
          <p:cNvSpPr txBox="1"/>
          <p:nvPr/>
        </p:nvSpPr>
        <p:spPr>
          <a:xfrm>
            <a:off x="886968" y="3968496"/>
            <a:ext cx="1645919" cy="475488"/>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Buddhi</a:t>
            </a:r>
          </a:p>
          <a:p>
            <a:pPr algn="ctr">
              <a:spcBef>
                <a:spcPts val="0"/>
              </a:spcBef>
              <a:spcAft>
                <a:spcPts val="0"/>
              </a:spcAft>
            </a:pPr>
            <a:r>
              <a:rPr sz="950" b="0" i="1">
                <a:solidFill>
                  <a:srgbClr val="C9D4EF"/>
                </a:solidFill>
                <a:latin typeface="Calibri"/>
              </a:rPr>
              <a:t>receives atma's signal</a:t>
            </a:r>
          </a:p>
        </p:txBody>
      </p:sp>
      <p:sp>
        <p:nvSpPr>
          <p:cNvPr id="25" name="TextBox 24"/>
          <p:cNvSpPr txBox="1"/>
          <p:nvPr/>
        </p:nvSpPr>
        <p:spPr>
          <a:xfrm>
            <a:off x="2596896" y="3968496"/>
            <a:ext cx="256032" cy="475488"/>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libri"/>
              </a:rPr>
              <a:t>→</a:t>
            </a:r>
          </a:p>
        </p:txBody>
      </p:sp>
      <p:sp>
        <p:nvSpPr>
          <p:cNvPr id="26" name="TextBox 25"/>
          <p:cNvSpPr txBox="1"/>
          <p:nvPr/>
        </p:nvSpPr>
        <p:spPr>
          <a:xfrm>
            <a:off x="2889504" y="3968496"/>
            <a:ext cx="2029968" cy="475488"/>
          </a:xfrm>
          <a:prstGeom prst="rect">
            <a:avLst/>
          </a:prstGeom>
          <a:noFill/>
        </p:spPr>
        <p:txBody>
          <a:bodyPr wrap="square" lIns="0" rIns="0" tIns="0" bIns="0" anchor="ctr">
            <a:noAutofit/>
          </a:bodyPr>
          <a:lstStyle/>
          <a:p>
            <a:pPr algn="l">
              <a:spcBef>
                <a:spcPts val="0"/>
              </a:spcBef>
              <a:spcAft>
                <a:spcPts val="0"/>
              </a:spcAft>
            </a:pPr>
            <a:r>
              <a:rPr sz="1200" b="1" i="1">
                <a:solidFill>
                  <a:srgbClr val="9A6414"/>
                </a:solidFill>
                <a:latin typeface="Calibri"/>
              </a:rPr>
              <a:t>atma-bodh</a:t>
            </a:r>
            <a:r>
              <a:rPr sz="1200" b="1" i="0">
                <a:solidFill>
                  <a:srgbClr val="9A6414"/>
                </a:solidFill>
                <a:latin typeface="Calibri"/>
              </a:rPr>
              <a:t>, resolve in truth</a:t>
            </a:r>
          </a:p>
        </p:txBody>
      </p:sp>
      <p:sp>
        <p:nvSpPr>
          <p:cNvPr id="27" name="Rounded Rectangle 26"/>
          <p:cNvSpPr/>
          <p:nvPr/>
        </p:nvSpPr>
        <p:spPr>
          <a:xfrm>
            <a:off x="5212080" y="1737360"/>
            <a:ext cx="3291840" cy="2871216"/>
          </a:xfrm>
          <a:prstGeom prst="roundRect">
            <a:avLst>
              <a:gd name="adj" fmla="val 5000"/>
            </a:avLst>
          </a:prstGeom>
          <a:solidFill>
            <a:srgbClr val="FAF1DF"/>
          </a:solidFill>
          <a:ln>
            <a:noFill/>
          </a:ln>
        </p:spPr>
        <p:txBody>
          <a:bodyPr rtlCol="0" anchor="ctr"/>
          <a:lstStyle/>
          <a:p>
            <a:pPr algn="ctr"/>
          </a:p>
        </p:txBody>
      </p:sp>
      <p:sp>
        <p:nvSpPr>
          <p:cNvPr id="28" name="TextBox 27"/>
          <p:cNvSpPr txBox="1"/>
          <p:nvPr/>
        </p:nvSpPr>
        <p:spPr>
          <a:xfrm>
            <a:off x="5413248" y="1810512"/>
            <a:ext cx="2926080"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Concurrence (MVD p. 327)</a:t>
            </a:r>
          </a:p>
        </p:txBody>
      </p:sp>
      <p:sp>
        <p:nvSpPr>
          <p:cNvPr id="29" name="TextBox 28"/>
          <p:cNvSpPr txBox="1"/>
          <p:nvPr/>
        </p:nvSpPr>
        <p:spPr>
          <a:xfrm>
            <a:off x="5413248" y="2212848"/>
            <a:ext cx="2980944" cy="402336"/>
          </a:xfrm>
          <a:prstGeom prst="rect">
            <a:avLst/>
          </a:prstGeom>
          <a:noFill/>
        </p:spPr>
        <p:txBody>
          <a:bodyPr wrap="square" lIns="0" rIns="0" tIns="0" bIns="0" anchor="ctr">
            <a:noAutofit/>
          </a:bodyPr>
          <a:lstStyle/>
          <a:p>
            <a:pPr algn="l"/>
            <a:r>
              <a:rPr sz="1150" b="0" i="0">
                <a:solidFill>
                  <a:srgbClr val="5A6377"/>
                </a:solidFill>
                <a:latin typeface="Calibri"/>
              </a:rPr>
              <a:t>Mun with vritti</a:t>
            </a:r>
            <a:r>
              <a:rPr sz="1150" b="0" i="0">
                <a:solidFill>
                  <a:srgbClr val="C9821E"/>
                </a:solidFill>
                <a:latin typeface="Calibri"/>
              </a:rPr>
              <a:t>  —  </a:t>
            </a:r>
            <a:r>
              <a:rPr sz="1150" b="1" i="0">
                <a:solidFill>
                  <a:srgbClr val="1E2447"/>
                </a:solidFill>
                <a:latin typeface="Calibri"/>
              </a:rPr>
              <a:t>happiness</a:t>
            </a:r>
          </a:p>
        </p:txBody>
      </p:sp>
      <p:sp>
        <p:nvSpPr>
          <p:cNvPr id="30" name="TextBox 29"/>
          <p:cNvSpPr txBox="1"/>
          <p:nvPr/>
        </p:nvSpPr>
        <p:spPr>
          <a:xfrm>
            <a:off x="5413248" y="2670048"/>
            <a:ext cx="2980944" cy="402336"/>
          </a:xfrm>
          <a:prstGeom prst="rect">
            <a:avLst/>
          </a:prstGeom>
          <a:noFill/>
        </p:spPr>
        <p:txBody>
          <a:bodyPr wrap="square" lIns="0" rIns="0" tIns="0" bIns="0" anchor="ctr">
            <a:noAutofit/>
          </a:bodyPr>
          <a:lstStyle/>
          <a:p>
            <a:pPr algn="l"/>
            <a:r>
              <a:rPr sz="1150" b="0" i="0">
                <a:solidFill>
                  <a:srgbClr val="5A6377"/>
                </a:solidFill>
                <a:latin typeface="Calibri"/>
              </a:rPr>
              <a:t>Vritti with chitta</a:t>
            </a:r>
            <a:r>
              <a:rPr sz="1150" b="0" i="0">
                <a:solidFill>
                  <a:srgbClr val="C9821E"/>
                </a:solidFill>
                <a:latin typeface="Calibri"/>
              </a:rPr>
              <a:t>  —  </a:t>
            </a:r>
            <a:r>
              <a:rPr sz="1150" b="1" i="0">
                <a:solidFill>
                  <a:srgbClr val="1E2447"/>
                </a:solidFill>
                <a:latin typeface="Calibri"/>
              </a:rPr>
              <a:t>peace</a:t>
            </a:r>
          </a:p>
        </p:txBody>
      </p:sp>
      <p:sp>
        <p:nvSpPr>
          <p:cNvPr id="31" name="TextBox 30"/>
          <p:cNvSpPr txBox="1"/>
          <p:nvPr/>
        </p:nvSpPr>
        <p:spPr>
          <a:xfrm>
            <a:off x="5413248" y="3127248"/>
            <a:ext cx="2980944" cy="402336"/>
          </a:xfrm>
          <a:prstGeom prst="rect">
            <a:avLst/>
          </a:prstGeom>
          <a:noFill/>
        </p:spPr>
        <p:txBody>
          <a:bodyPr wrap="square" lIns="0" rIns="0" tIns="0" bIns="0" anchor="ctr">
            <a:noAutofit/>
          </a:bodyPr>
          <a:lstStyle/>
          <a:p>
            <a:pPr algn="l"/>
            <a:r>
              <a:rPr sz="1150" b="0" i="0">
                <a:solidFill>
                  <a:srgbClr val="5A6377"/>
                </a:solidFill>
                <a:latin typeface="Calibri"/>
              </a:rPr>
              <a:t>Chitta with buddhi</a:t>
            </a:r>
            <a:r>
              <a:rPr sz="1150" b="0" i="0">
                <a:solidFill>
                  <a:srgbClr val="C9821E"/>
                </a:solidFill>
                <a:latin typeface="Calibri"/>
              </a:rPr>
              <a:t>  —  </a:t>
            </a:r>
            <a:r>
              <a:rPr sz="1150" b="1" i="0">
                <a:solidFill>
                  <a:srgbClr val="1E2447"/>
                </a:solidFill>
                <a:latin typeface="Calibri"/>
              </a:rPr>
              <a:t>contentment</a:t>
            </a:r>
          </a:p>
        </p:txBody>
      </p:sp>
      <p:sp>
        <p:nvSpPr>
          <p:cNvPr id="32" name="TextBox 31"/>
          <p:cNvSpPr txBox="1"/>
          <p:nvPr/>
        </p:nvSpPr>
        <p:spPr>
          <a:xfrm>
            <a:off x="5413248" y="3584448"/>
            <a:ext cx="2980944" cy="402336"/>
          </a:xfrm>
          <a:prstGeom prst="rect">
            <a:avLst/>
          </a:prstGeom>
          <a:noFill/>
        </p:spPr>
        <p:txBody>
          <a:bodyPr wrap="square" lIns="0" rIns="0" tIns="0" bIns="0" anchor="ctr">
            <a:noAutofit/>
          </a:bodyPr>
          <a:lstStyle/>
          <a:p>
            <a:pPr algn="l"/>
            <a:r>
              <a:rPr sz="1150" b="0" i="0">
                <a:solidFill>
                  <a:srgbClr val="5A6377"/>
                </a:solidFill>
                <a:latin typeface="Calibri"/>
              </a:rPr>
              <a:t>Buddhi with atma</a:t>
            </a:r>
            <a:r>
              <a:rPr sz="1150" b="0" i="0">
                <a:solidFill>
                  <a:srgbClr val="C9821E"/>
                </a:solidFill>
                <a:latin typeface="Calibri"/>
              </a:rPr>
              <a:t>  —  </a:t>
            </a:r>
            <a:r>
              <a:rPr sz="1150" b="1" i="0">
                <a:solidFill>
                  <a:srgbClr val="1E2447"/>
                </a:solidFill>
                <a:latin typeface="Calibri"/>
              </a:rPr>
              <a:t>bliss</a:t>
            </a:r>
          </a:p>
        </p:txBody>
      </p:sp>
      <p:sp>
        <p:nvSpPr>
          <p:cNvPr id="33" name="TextBox 32"/>
          <p:cNvSpPr txBox="1"/>
          <p:nvPr/>
        </p:nvSpPr>
        <p:spPr>
          <a:xfrm>
            <a:off x="5413248" y="4041648"/>
            <a:ext cx="2980944" cy="402336"/>
          </a:xfrm>
          <a:prstGeom prst="rect">
            <a:avLst/>
          </a:prstGeom>
          <a:noFill/>
        </p:spPr>
        <p:txBody>
          <a:bodyPr wrap="square" lIns="0" rIns="0" tIns="0" bIns="0" anchor="ctr">
            <a:noAutofit/>
          </a:bodyPr>
          <a:lstStyle/>
          <a:p>
            <a:pPr algn="l"/>
            <a:r>
              <a:rPr sz="1150" b="0" i="0">
                <a:solidFill>
                  <a:srgbClr val="5A6377"/>
                </a:solidFill>
                <a:latin typeface="Calibri"/>
              </a:rPr>
              <a:t>Atma with the omnipresent</a:t>
            </a:r>
            <a:r>
              <a:rPr sz="1150" b="0" i="0">
                <a:solidFill>
                  <a:srgbClr val="C9821E"/>
                </a:solidFill>
                <a:latin typeface="Calibri"/>
              </a:rPr>
              <a:t>  —  </a:t>
            </a:r>
            <a:r>
              <a:rPr sz="1150" b="1" i="0">
                <a:solidFill>
                  <a:srgbClr val="1E2447"/>
                </a:solidFill>
                <a:latin typeface="Calibri"/>
              </a:rPr>
              <a:t>ultimate bliss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THREE  ·  §1.12  ·  PRECONDITIONS</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Preconditions and the Teacher</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150, 273, 287, 317  ·  AVD pp. 225–226, 261  ·  AnalyticMadhyasthDarshan.org  ·  25 / 28</a:t>
            </a:r>
          </a:p>
        </p:txBody>
      </p:sp>
      <p:sp>
        <p:nvSpPr>
          <p:cNvPr id="8" name="Rounded Rectangle 7"/>
          <p:cNvSpPr/>
          <p:nvPr/>
        </p:nvSpPr>
        <p:spPr>
          <a:xfrm>
            <a:off x="640080" y="1188720"/>
            <a:ext cx="4160520" cy="3419856"/>
          </a:xfrm>
          <a:prstGeom prst="roundRect">
            <a:avLst>
              <a:gd name="adj" fmla="val 5000"/>
            </a:avLst>
          </a:prstGeom>
          <a:solidFill>
            <a:srgbClr val="EEF1F8"/>
          </a:solidFill>
          <a:ln>
            <a:noFill/>
          </a:ln>
        </p:spPr>
        <p:txBody>
          <a:bodyPr rtlCol="0" anchor="ctr"/>
          <a:lstStyle/>
          <a:p>
            <a:pPr algn="ctr"/>
          </a:p>
        </p:txBody>
      </p:sp>
      <p:sp>
        <p:nvSpPr>
          <p:cNvPr id="9" name="TextBox 8"/>
          <p:cNvSpPr txBox="1"/>
          <p:nvPr/>
        </p:nvSpPr>
        <p:spPr>
          <a:xfrm>
            <a:off x="841248" y="1280160"/>
            <a:ext cx="3749039"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What realisation requires</a:t>
            </a:r>
          </a:p>
        </p:txBody>
      </p:sp>
      <p:sp>
        <p:nvSpPr>
          <p:cNvPr id="10" name="TextBox 9"/>
          <p:cNvSpPr txBox="1"/>
          <p:nvPr/>
        </p:nvSpPr>
        <p:spPr>
          <a:xfrm>
            <a:off x="841248" y="1627632"/>
            <a:ext cx="3749039" cy="256032"/>
          </a:xfrm>
          <a:prstGeom prst="rect">
            <a:avLst/>
          </a:prstGeom>
          <a:noFill/>
        </p:spPr>
        <p:txBody>
          <a:bodyPr wrap="square" lIns="0" rIns="0" tIns="0" bIns="0" anchor="ctr">
            <a:noAutofit/>
          </a:bodyPr>
          <a:lstStyle/>
          <a:p>
            <a:pPr algn="l">
              <a:spcBef>
                <a:spcPts val="0"/>
              </a:spcBef>
              <a:spcAft>
                <a:spcPts val="0"/>
              </a:spcAft>
            </a:pPr>
            <a:r>
              <a:rPr sz="1150" b="1" i="0">
                <a:solidFill>
                  <a:srgbClr val="9A6414"/>
                </a:solidFill>
                <a:latin typeface="Calibri"/>
              </a:rPr>
              <a:t>The capacity, ability, and receptivity for</a:t>
            </a:r>
          </a:p>
        </p:txBody>
      </p:sp>
      <p:sp>
        <p:nvSpPr>
          <p:cNvPr id="11" name="Oval 10"/>
          <p:cNvSpPr/>
          <p:nvPr/>
        </p:nvSpPr>
        <p:spPr>
          <a:xfrm>
            <a:off x="868680" y="2002536"/>
            <a:ext cx="82296" cy="82296"/>
          </a:xfrm>
          <a:prstGeom prst="ellipse">
            <a:avLst/>
          </a:prstGeom>
          <a:solidFill>
            <a:srgbClr val="C9821E"/>
          </a:solidFill>
          <a:ln>
            <a:noFill/>
          </a:ln>
        </p:spPr>
        <p:txBody>
          <a:bodyPr rtlCol="0" anchor="ctr"/>
          <a:lstStyle/>
          <a:p>
            <a:pPr algn="ctr"/>
          </a:p>
        </p:txBody>
      </p:sp>
      <p:sp>
        <p:nvSpPr>
          <p:cNvPr id="12" name="TextBox 11"/>
          <p:cNvSpPr txBox="1"/>
          <p:nvPr/>
        </p:nvSpPr>
        <p:spPr>
          <a:xfrm>
            <a:off x="1051560" y="1920240"/>
            <a:ext cx="3566159" cy="27432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delusion-free knowledge</a:t>
            </a:r>
          </a:p>
        </p:txBody>
      </p:sp>
      <p:sp>
        <p:nvSpPr>
          <p:cNvPr id="13" name="Oval 12"/>
          <p:cNvSpPr/>
          <p:nvPr/>
        </p:nvSpPr>
        <p:spPr>
          <a:xfrm>
            <a:off x="868680" y="2295144"/>
            <a:ext cx="82296" cy="82296"/>
          </a:xfrm>
          <a:prstGeom prst="ellipse">
            <a:avLst/>
          </a:prstGeom>
          <a:solidFill>
            <a:srgbClr val="C9821E"/>
          </a:solidFill>
          <a:ln>
            <a:noFill/>
          </a:ln>
        </p:spPr>
        <p:txBody>
          <a:bodyPr rtlCol="0" anchor="ctr"/>
          <a:lstStyle/>
          <a:p>
            <a:pPr algn="ctr"/>
          </a:p>
        </p:txBody>
      </p:sp>
      <p:sp>
        <p:nvSpPr>
          <p:cNvPr id="14" name="TextBox 13"/>
          <p:cNvSpPr txBox="1"/>
          <p:nvPr/>
        </p:nvSpPr>
        <p:spPr>
          <a:xfrm>
            <a:off x="1051560" y="2212848"/>
            <a:ext cx="3566159" cy="27432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non-otherness</a:t>
            </a:r>
          </a:p>
        </p:txBody>
      </p:sp>
      <p:sp>
        <p:nvSpPr>
          <p:cNvPr id="15" name="Oval 14"/>
          <p:cNvSpPr/>
          <p:nvPr/>
        </p:nvSpPr>
        <p:spPr>
          <a:xfrm>
            <a:off x="868680" y="2587752"/>
            <a:ext cx="82296" cy="82296"/>
          </a:xfrm>
          <a:prstGeom prst="ellipse">
            <a:avLst/>
          </a:prstGeom>
          <a:solidFill>
            <a:srgbClr val="C9821E"/>
          </a:solidFill>
          <a:ln>
            <a:noFill/>
          </a:ln>
        </p:spPr>
        <p:txBody>
          <a:bodyPr rtlCol="0" anchor="ctr"/>
          <a:lstStyle/>
          <a:p>
            <a:pPr algn="ctr"/>
          </a:p>
        </p:txBody>
      </p:sp>
      <p:sp>
        <p:nvSpPr>
          <p:cNvPr id="16" name="TextBox 15"/>
          <p:cNvSpPr txBox="1"/>
          <p:nvPr/>
        </p:nvSpPr>
        <p:spPr>
          <a:xfrm>
            <a:off x="1051560" y="2505456"/>
            <a:ext cx="3566159" cy="27432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devotedness</a:t>
            </a:r>
          </a:p>
        </p:txBody>
      </p:sp>
      <p:sp>
        <p:nvSpPr>
          <p:cNvPr id="17" name="Oval 16"/>
          <p:cNvSpPr/>
          <p:nvPr/>
        </p:nvSpPr>
        <p:spPr>
          <a:xfrm>
            <a:off x="868680" y="2880360"/>
            <a:ext cx="82296" cy="82296"/>
          </a:xfrm>
          <a:prstGeom prst="ellipse">
            <a:avLst/>
          </a:prstGeom>
          <a:solidFill>
            <a:srgbClr val="C9821E"/>
          </a:solidFill>
          <a:ln>
            <a:noFill/>
          </a:ln>
        </p:spPr>
        <p:txBody>
          <a:bodyPr rtlCol="0" anchor="ctr"/>
          <a:lstStyle/>
          <a:p>
            <a:pPr algn="ctr"/>
          </a:p>
        </p:txBody>
      </p:sp>
      <p:sp>
        <p:nvSpPr>
          <p:cNvPr id="18" name="TextBox 17"/>
          <p:cNvSpPr txBox="1"/>
          <p:nvPr/>
        </p:nvSpPr>
        <p:spPr>
          <a:xfrm>
            <a:off x="1051560" y="2798064"/>
            <a:ext cx="3566159" cy="27432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love towards the ideal — coexistence</a:t>
            </a:r>
          </a:p>
        </p:txBody>
      </p:sp>
      <p:sp>
        <p:nvSpPr>
          <p:cNvPr id="19" name="TextBox 18"/>
          <p:cNvSpPr txBox="1"/>
          <p:nvPr/>
        </p:nvSpPr>
        <p:spPr>
          <a:xfrm>
            <a:off x="841248" y="3127248"/>
            <a:ext cx="3749039" cy="256032"/>
          </a:xfrm>
          <a:prstGeom prst="rect">
            <a:avLst/>
          </a:prstGeom>
          <a:noFill/>
        </p:spPr>
        <p:txBody>
          <a:bodyPr wrap="square" lIns="0" rIns="0" tIns="0" bIns="0" anchor="ctr">
            <a:noAutofit/>
          </a:bodyPr>
          <a:lstStyle/>
          <a:p>
            <a:pPr algn="l">
              <a:spcBef>
                <a:spcPts val="0"/>
              </a:spcBef>
              <a:spcAft>
                <a:spcPts val="0"/>
              </a:spcAft>
            </a:pPr>
            <a:r>
              <a:rPr sz="1150" b="1" i="0">
                <a:solidFill>
                  <a:srgbClr val="9A6414"/>
                </a:solidFill>
                <a:latin typeface="Calibri"/>
              </a:rPr>
              <a:t>achieved through</a:t>
            </a:r>
          </a:p>
        </p:txBody>
      </p:sp>
      <p:sp>
        <p:nvSpPr>
          <p:cNvPr id="20" name="Oval 19"/>
          <p:cNvSpPr/>
          <p:nvPr/>
        </p:nvSpPr>
        <p:spPr>
          <a:xfrm>
            <a:off x="868680" y="3502152"/>
            <a:ext cx="82296" cy="82296"/>
          </a:xfrm>
          <a:prstGeom prst="ellipse">
            <a:avLst/>
          </a:prstGeom>
          <a:solidFill>
            <a:srgbClr val="C9821E"/>
          </a:solidFill>
          <a:ln>
            <a:noFill/>
          </a:ln>
        </p:spPr>
        <p:txBody>
          <a:bodyPr rtlCol="0" anchor="ctr"/>
          <a:lstStyle/>
          <a:p>
            <a:pPr algn="ctr"/>
          </a:p>
        </p:txBody>
      </p:sp>
      <p:sp>
        <p:nvSpPr>
          <p:cNvPr id="21" name="TextBox 20"/>
          <p:cNvSpPr txBox="1"/>
          <p:nvPr/>
        </p:nvSpPr>
        <p:spPr>
          <a:xfrm>
            <a:off x="1051560" y="3419856"/>
            <a:ext cx="3566159" cy="27432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just behaviour</a:t>
            </a:r>
          </a:p>
        </p:txBody>
      </p:sp>
      <p:sp>
        <p:nvSpPr>
          <p:cNvPr id="22" name="Oval 21"/>
          <p:cNvSpPr/>
          <p:nvPr/>
        </p:nvSpPr>
        <p:spPr>
          <a:xfrm>
            <a:off x="868680" y="3794760"/>
            <a:ext cx="82296" cy="82296"/>
          </a:xfrm>
          <a:prstGeom prst="ellipse">
            <a:avLst/>
          </a:prstGeom>
          <a:solidFill>
            <a:srgbClr val="C9821E"/>
          </a:solidFill>
          <a:ln>
            <a:noFill/>
          </a:ln>
        </p:spPr>
        <p:txBody>
          <a:bodyPr rtlCol="0" anchor="ctr"/>
          <a:lstStyle/>
          <a:p>
            <a:pPr algn="ctr"/>
          </a:p>
        </p:txBody>
      </p:sp>
      <p:sp>
        <p:nvSpPr>
          <p:cNvPr id="23" name="TextBox 22"/>
          <p:cNvSpPr txBox="1"/>
          <p:nvPr/>
        </p:nvSpPr>
        <p:spPr>
          <a:xfrm>
            <a:off x="1051560" y="3712464"/>
            <a:ext cx="3566159" cy="27432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resolved thought</a:t>
            </a:r>
          </a:p>
        </p:txBody>
      </p:sp>
      <p:sp>
        <p:nvSpPr>
          <p:cNvPr id="24" name="Oval 23"/>
          <p:cNvSpPr/>
          <p:nvPr/>
        </p:nvSpPr>
        <p:spPr>
          <a:xfrm>
            <a:off x="868680" y="4087368"/>
            <a:ext cx="82296" cy="82296"/>
          </a:xfrm>
          <a:prstGeom prst="ellipse">
            <a:avLst/>
          </a:prstGeom>
          <a:solidFill>
            <a:srgbClr val="C9821E"/>
          </a:solidFill>
          <a:ln>
            <a:noFill/>
          </a:ln>
        </p:spPr>
        <p:txBody>
          <a:bodyPr rtlCol="0" anchor="ctr"/>
          <a:lstStyle/>
          <a:p>
            <a:pPr algn="ctr"/>
          </a:p>
        </p:txBody>
      </p:sp>
      <p:sp>
        <p:nvSpPr>
          <p:cNvPr id="25" name="TextBox 24"/>
          <p:cNvSpPr txBox="1"/>
          <p:nvPr/>
        </p:nvSpPr>
        <p:spPr>
          <a:xfrm>
            <a:off x="1051560" y="4005072"/>
            <a:ext cx="3566159" cy="274320"/>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dedicated obedience to a realised human</a:t>
            </a:r>
          </a:p>
        </p:txBody>
      </p:sp>
      <p:sp>
        <p:nvSpPr>
          <p:cNvPr id="26" name="TextBox 25"/>
          <p:cNvSpPr txBox="1"/>
          <p:nvPr/>
        </p:nvSpPr>
        <p:spPr>
          <a:xfrm>
            <a:off x="841248" y="4315968"/>
            <a:ext cx="3749039" cy="219456"/>
          </a:xfrm>
          <a:prstGeom prst="rect">
            <a:avLst/>
          </a:prstGeom>
          <a:noFill/>
        </p:spPr>
        <p:txBody>
          <a:bodyPr wrap="square" lIns="0" rIns="0" tIns="0" bIns="0" anchor="ctr">
            <a:noAutofit/>
          </a:bodyPr>
          <a:lstStyle/>
          <a:p>
            <a:pPr algn="l">
              <a:spcBef>
                <a:spcPts val="0"/>
              </a:spcBef>
              <a:spcAft>
                <a:spcPts val="0"/>
              </a:spcAft>
            </a:pPr>
            <a:r>
              <a:rPr sz="1000" b="0" i="1">
                <a:solidFill>
                  <a:srgbClr val="5A6377"/>
                </a:solidFill>
                <a:latin typeface="Calibri"/>
              </a:rPr>
              <a:t>MVD p. 317</a:t>
            </a:r>
          </a:p>
        </p:txBody>
      </p:sp>
      <p:sp>
        <p:nvSpPr>
          <p:cNvPr id="27" name="Rounded Rectangle 26"/>
          <p:cNvSpPr/>
          <p:nvPr/>
        </p:nvSpPr>
        <p:spPr>
          <a:xfrm>
            <a:off x="4983480" y="1188720"/>
            <a:ext cx="3520440" cy="1645920"/>
          </a:xfrm>
          <a:prstGeom prst="roundRect">
            <a:avLst>
              <a:gd name="adj" fmla="val 8000"/>
            </a:avLst>
          </a:prstGeom>
          <a:solidFill>
            <a:srgbClr val="FAF1DF"/>
          </a:solidFill>
          <a:ln>
            <a:noFill/>
          </a:ln>
        </p:spPr>
        <p:txBody>
          <a:bodyPr rtlCol="0" anchor="ctr"/>
          <a:lstStyle/>
          <a:p>
            <a:pPr algn="ctr"/>
          </a:p>
        </p:txBody>
      </p:sp>
      <p:sp>
        <p:nvSpPr>
          <p:cNvPr id="28" name="TextBox 27"/>
          <p:cNvSpPr txBox="1"/>
          <p:nvPr/>
        </p:nvSpPr>
        <p:spPr>
          <a:xfrm>
            <a:off x="5184648" y="1298448"/>
            <a:ext cx="311810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The teacher</a:t>
            </a:r>
          </a:p>
        </p:txBody>
      </p:sp>
      <p:sp>
        <p:nvSpPr>
          <p:cNvPr id="29" name="TextBox 28"/>
          <p:cNvSpPr txBox="1"/>
          <p:nvPr/>
        </p:nvSpPr>
        <p:spPr>
          <a:xfrm>
            <a:off x="5184648" y="1645920"/>
            <a:ext cx="3118104" cy="107899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authentic human in whose proximity study takes place (MVD p. 150); the bearer of the evidence of awakening, with the literature as its guideline (AVD p. 261).</a:t>
            </a:r>
          </a:p>
        </p:txBody>
      </p:sp>
      <p:sp>
        <p:nvSpPr>
          <p:cNvPr id="30" name="Rounded Rectangle 29"/>
          <p:cNvSpPr/>
          <p:nvPr/>
        </p:nvSpPr>
        <p:spPr>
          <a:xfrm>
            <a:off x="4983480" y="2962656"/>
            <a:ext cx="3520440" cy="1645920"/>
          </a:xfrm>
          <a:prstGeom prst="roundRect">
            <a:avLst>
              <a:gd name="adj" fmla="val 8000"/>
            </a:avLst>
          </a:prstGeom>
          <a:solidFill>
            <a:srgbClr val="EEF1F8"/>
          </a:solidFill>
          <a:ln>
            <a:noFill/>
          </a:ln>
        </p:spPr>
        <p:txBody>
          <a:bodyPr rtlCol="0" anchor="ctr"/>
          <a:lstStyle/>
          <a:p>
            <a:pPr algn="ctr"/>
          </a:p>
        </p:txBody>
      </p:sp>
      <p:sp>
        <p:nvSpPr>
          <p:cNvPr id="31" name="TextBox 30"/>
          <p:cNvSpPr txBox="1"/>
          <p:nvPr/>
        </p:nvSpPr>
        <p:spPr>
          <a:xfrm>
            <a:off x="5184648" y="3072384"/>
            <a:ext cx="311810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The learner</a:t>
            </a:r>
          </a:p>
        </p:txBody>
      </p:sp>
      <p:sp>
        <p:nvSpPr>
          <p:cNvPr id="32" name="TextBox 31"/>
          <p:cNvSpPr txBox="1"/>
          <p:nvPr/>
        </p:nvSpPr>
        <p:spPr>
          <a:xfrm>
            <a:off x="5184648" y="3419856"/>
            <a:ext cx="3118104" cy="107899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Examines what is presented and accepts or rejects it (AVD p. 226), inspired by the grace and compassion of the more awakened (MVD p. 287).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PART THREE  ·  §1.5  ·  WHAT RESULTS</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Liberation from Delusion</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81, 157, 317–318  ·  AVD pp. 84, 260–261  ·  AnalyticMadhyasthDarshan.org  ·  26 / 28</a:t>
            </a:r>
          </a:p>
        </p:txBody>
      </p:sp>
      <p:sp>
        <p:nvSpPr>
          <p:cNvPr id="8" name="TextBox 7"/>
          <p:cNvSpPr txBox="1"/>
          <p:nvPr/>
        </p:nvSpPr>
        <p:spPr>
          <a:xfrm>
            <a:off x="640080" y="1188720"/>
            <a:ext cx="7955279" cy="45720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libri"/>
              </a:rPr>
              <a:t>What practice yields is liberation from delusion, described in the traditions' own vocabulary and given a content defined by conduct.</a:t>
            </a:r>
          </a:p>
        </p:txBody>
      </p:sp>
      <p:sp>
        <p:nvSpPr>
          <p:cNvPr id="9" name="Rounded Rectangle 8"/>
          <p:cNvSpPr/>
          <p:nvPr/>
        </p:nvSpPr>
        <p:spPr>
          <a:xfrm>
            <a:off x="640080" y="1783080"/>
            <a:ext cx="2514600" cy="2176272"/>
          </a:xfrm>
          <a:prstGeom prst="roundRect">
            <a:avLst>
              <a:gd name="adj" fmla="val 8000"/>
            </a:avLst>
          </a:prstGeom>
          <a:solidFill>
            <a:srgbClr val="EEF1F8"/>
          </a:solidFill>
          <a:ln>
            <a:noFill/>
          </a:ln>
        </p:spPr>
        <p:txBody>
          <a:bodyPr rtlCol="0" anchor="ctr"/>
          <a:lstStyle/>
          <a:p>
            <a:pPr algn="ctr"/>
          </a:p>
        </p:txBody>
      </p:sp>
      <p:sp>
        <p:nvSpPr>
          <p:cNvPr id="10" name="TextBox 9"/>
          <p:cNvSpPr txBox="1"/>
          <p:nvPr/>
        </p:nvSpPr>
        <p:spPr>
          <a:xfrm>
            <a:off x="841247" y="1892807"/>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Moksha</a:t>
            </a:r>
          </a:p>
        </p:txBody>
      </p:sp>
      <p:sp>
        <p:nvSpPr>
          <p:cNvPr id="11" name="TextBox 10"/>
          <p:cNvSpPr txBox="1"/>
          <p:nvPr/>
        </p:nvSpPr>
        <p:spPr>
          <a:xfrm>
            <a:off x="841247" y="2240280"/>
            <a:ext cx="2112264" cy="1609343"/>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Freedom from the bondage of delusion — the evidence of awakening (AVD p. 84).</a:t>
            </a:r>
          </a:p>
        </p:txBody>
      </p:sp>
      <p:sp>
        <p:nvSpPr>
          <p:cNvPr id="12" name="Rounded Rectangle 11"/>
          <p:cNvSpPr/>
          <p:nvPr/>
        </p:nvSpPr>
        <p:spPr>
          <a:xfrm>
            <a:off x="3314700" y="1783080"/>
            <a:ext cx="2514600" cy="2176272"/>
          </a:xfrm>
          <a:prstGeom prst="roundRect">
            <a:avLst>
              <a:gd name="adj" fmla="val 8000"/>
            </a:avLst>
          </a:prstGeom>
          <a:solidFill>
            <a:srgbClr val="EEF1F8"/>
          </a:solidFill>
          <a:ln>
            <a:noFill/>
          </a:ln>
        </p:spPr>
        <p:txBody>
          <a:bodyPr rtlCol="0" anchor="ctr"/>
          <a:lstStyle/>
          <a:p>
            <a:pPr algn="ctr"/>
          </a:p>
        </p:txBody>
      </p:sp>
      <p:sp>
        <p:nvSpPr>
          <p:cNvPr id="13" name="TextBox 12"/>
          <p:cNvSpPr txBox="1"/>
          <p:nvPr/>
        </p:nvSpPr>
        <p:spPr>
          <a:xfrm>
            <a:off x="3515868" y="1892807"/>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Jeevan-mukta</a:t>
            </a:r>
          </a:p>
        </p:txBody>
      </p:sp>
      <p:sp>
        <p:nvSpPr>
          <p:cNvPr id="14" name="TextBox 13"/>
          <p:cNvSpPr txBox="1"/>
          <p:nvPr/>
        </p:nvSpPr>
        <p:spPr>
          <a:xfrm>
            <a:off x="3515868" y="2240280"/>
            <a:ext cx="2112264" cy="1609343"/>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Liberated while living: no suffering over past or future, no resistance with the present; nurturing society is their nature (MVD pp. 81, 157).</a:t>
            </a:r>
          </a:p>
        </p:txBody>
      </p:sp>
      <p:sp>
        <p:nvSpPr>
          <p:cNvPr id="15" name="Rounded Rectangle 14"/>
          <p:cNvSpPr/>
          <p:nvPr/>
        </p:nvSpPr>
        <p:spPr>
          <a:xfrm>
            <a:off x="5989320" y="1783080"/>
            <a:ext cx="2514600" cy="2176272"/>
          </a:xfrm>
          <a:prstGeom prst="roundRect">
            <a:avLst>
              <a:gd name="adj" fmla="val 8000"/>
            </a:avLst>
          </a:prstGeom>
          <a:solidFill>
            <a:srgbClr val="FAF1DF"/>
          </a:solidFill>
          <a:ln>
            <a:noFill/>
          </a:ln>
        </p:spPr>
        <p:txBody>
          <a:bodyPr rtlCol="0" anchor="ctr"/>
          <a:lstStyle/>
          <a:p>
            <a:pPr algn="ctr"/>
          </a:p>
        </p:txBody>
      </p:sp>
      <p:sp>
        <p:nvSpPr>
          <p:cNvPr id="16" name="TextBox 15"/>
          <p:cNvSpPr txBox="1"/>
          <p:nvPr/>
        </p:nvSpPr>
        <p:spPr>
          <a:xfrm>
            <a:off x="6190488" y="1892807"/>
            <a:ext cx="2112264"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Kaivalya</a:t>
            </a:r>
          </a:p>
        </p:txBody>
      </p:sp>
      <p:sp>
        <p:nvSpPr>
          <p:cNvPr id="17" name="TextBox 16"/>
          <p:cNvSpPr txBox="1"/>
          <p:nvPr/>
        </p:nvSpPr>
        <p:spPr>
          <a:xfrm>
            <a:off x="6190488" y="2240280"/>
            <a:ext cx="2112264" cy="1609343"/>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state of realisation, free of suffering, resentment, fear, and delusion's bondage; shown in taking part in the whole of orderliness (MVD pp. 317–318; AVD pp. 260–261).</a:t>
            </a:r>
          </a:p>
        </p:txBody>
      </p:sp>
      <p:sp>
        <p:nvSpPr>
          <p:cNvPr id="18" name="TextBox 17"/>
          <p:cNvSpPr txBox="1"/>
          <p:nvPr/>
        </p:nvSpPr>
        <p:spPr>
          <a:xfrm>
            <a:off x="640080" y="4059936"/>
            <a:ext cx="7955279" cy="566928"/>
          </a:xfrm>
          <a:prstGeom prst="rect">
            <a:avLst/>
          </a:prstGeom>
          <a:noFill/>
        </p:spPr>
        <p:txBody>
          <a:bodyPr wrap="square" lIns="0" rIns="0" tIns="0" bIns="0" anchor="ctr">
            <a:noAutofit/>
          </a:bodyPr>
          <a:lstStyle/>
          <a:p>
            <a:pPr algn="l">
              <a:spcBef>
                <a:spcPts val="0"/>
              </a:spcBef>
              <a:spcAft>
                <a:spcPts val="0"/>
              </a:spcAft>
            </a:pPr>
            <a:r>
              <a:rPr sz="1150" b="0" i="1">
                <a:solidFill>
                  <a:srgbClr val="1E2447"/>
                </a:solidFill>
                <a:latin typeface="Calibri"/>
              </a:rPr>
              <a:t>Seedless thought — accepting the body's mortality, jeevan's continuity, and the laws of work and behaviour — and behaviour in accordance with it are liberation from delusion (MVD p. 81).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SUMMARY</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Realisation and the Practitioner</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Study §§1.1–1.16  ·  AnalyticMadhyasthDarshan.org  ·  27 / 28</a:t>
            </a:r>
          </a:p>
        </p:txBody>
      </p:sp>
      <p:sp>
        <p:nvSpPr>
          <p:cNvPr id="8" name="Rounded Rectangle 7"/>
          <p:cNvSpPr/>
          <p:nvPr/>
        </p:nvSpPr>
        <p:spPr>
          <a:xfrm>
            <a:off x="640080" y="1188720"/>
            <a:ext cx="3840480" cy="3474720"/>
          </a:xfrm>
          <a:prstGeom prst="roundRect">
            <a:avLst>
              <a:gd name="adj" fmla="val 5000"/>
            </a:avLst>
          </a:prstGeom>
          <a:solidFill>
            <a:srgbClr val="EEF1F8"/>
          </a:solidFill>
          <a:ln>
            <a:noFill/>
          </a:ln>
        </p:spPr>
        <p:txBody>
          <a:bodyPr rtlCol="0" anchor="ctr"/>
          <a:lstStyle/>
          <a:p>
            <a:pPr algn="ctr"/>
          </a:p>
        </p:txBody>
      </p:sp>
      <p:sp>
        <p:nvSpPr>
          <p:cNvPr id="9" name="TextBox 8"/>
          <p:cNvSpPr txBox="1"/>
          <p:nvPr/>
        </p:nvSpPr>
        <p:spPr>
          <a:xfrm>
            <a:off x="841248" y="1280160"/>
            <a:ext cx="3474720" cy="310896"/>
          </a:xfrm>
          <a:prstGeom prst="rect">
            <a:avLst/>
          </a:prstGeom>
          <a:noFill/>
        </p:spPr>
        <p:txBody>
          <a:bodyPr wrap="square" lIns="0" rIns="0" tIns="0" bIns="0" anchor="ctr">
            <a:noAutofit/>
          </a:bodyPr>
          <a:lstStyle/>
          <a:p>
            <a:pPr algn="l">
              <a:spcBef>
                <a:spcPts val="0"/>
              </a:spcBef>
              <a:spcAft>
                <a:spcPts val="0"/>
              </a:spcAft>
            </a:pPr>
            <a:r>
              <a:rPr sz="1350" b="1" i="0">
                <a:solidFill>
                  <a:srgbClr val="1E2447"/>
                </a:solidFill>
                <a:latin typeface="Cambria"/>
              </a:rPr>
              <a:t>What constitutes realisation</a:t>
            </a:r>
          </a:p>
        </p:txBody>
      </p:sp>
      <p:sp>
        <p:nvSpPr>
          <p:cNvPr id="10" name="Oval 9"/>
          <p:cNvSpPr/>
          <p:nvPr/>
        </p:nvSpPr>
        <p:spPr>
          <a:xfrm>
            <a:off x="868680" y="1783080"/>
            <a:ext cx="82296" cy="82296"/>
          </a:xfrm>
          <a:prstGeom prst="ellipse">
            <a:avLst/>
          </a:prstGeom>
          <a:solidFill>
            <a:srgbClr val="3B4A7A"/>
          </a:solidFill>
          <a:ln>
            <a:noFill/>
          </a:ln>
        </p:spPr>
        <p:txBody>
          <a:bodyPr rtlCol="0" anchor="ctr"/>
          <a:lstStyle/>
          <a:p>
            <a:pPr algn="ctr"/>
          </a:p>
        </p:txBody>
      </p:sp>
      <p:sp>
        <p:nvSpPr>
          <p:cNvPr id="11" name="TextBox 10"/>
          <p:cNvSpPr txBox="1"/>
          <p:nvPr/>
        </p:nvSpPr>
        <p:spPr>
          <a:xfrm>
            <a:off x="1051560" y="1700784"/>
            <a:ext cx="3291839" cy="53035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Understanding of existence as coexistence, of </a:t>
            </a:r>
            <a:r>
              <a:rPr sz="1200" b="0" i="1">
                <a:solidFill>
                  <a:srgbClr val="5A6377"/>
                </a:solidFill>
                <a:latin typeface="Calibri"/>
              </a:rPr>
              <a:t>jeevan</a:t>
            </a:r>
            <a:r>
              <a:rPr sz="1200" b="0" i="0">
                <a:solidFill>
                  <a:srgbClr val="5A6377"/>
                </a:solidFill>
                <a:latin typeface="Calibri"/>
              </a:rPr>
              <a:t>, and of humane conduct</a:t>
            </a:r>
          </a:p>
        </p:txBody>
      </p:sp>
      <p:sp>
        <p:nvSpPr>
          <p:cNvPr id="12" name="Oval 11"/>
          <p:cNvSpPr/>
          <p:nvPr/>
        </p:nvSpPr>
        <p:spPr>
          <a:xfrm>
            <a:off x="868680" y="2359152"/>
            <a:ext cx="82296" cy="82296"/>
          </a:xfrm>
          <a:prstGeom prst="ellipse">
            <a:avLst/>
          </a:prstGeom>
          <a:solidFill>
            <a:srgbClr val="3B4A7A"/>
          </a:solidFill>
          <a:ln>
            <a:noFill/>
          </a:ln>
        </p:spPr>
        <p:txBody>
          <a:bodyPr rtlCol="0" anchor="ctr"/>
          <a:lstStyle/>
          <a:p>
            <a:pPr algn="ctr"/>
          </a:p>
        </p:txBody>
      </p:sp>
      <p:sp>
        <p:nvSpPr>
          <p:cNvPr id="13" name="TextBox 12"/>
          <p:cNvSpPr txBox="1"/>
          <p:nvPr/>
        </p:nvSpPr>
        <p:spPr>
          <a:xfrm>
            <a:off x="1051560" y="2276856"/>
            <a:ext cx="3291839" cy="53035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point of satisfaction in knowing, believing, and recognising</a:t>
            </a:r>
          </a:p>
        </p:txBody>
      </p:sp>
      <p:sp>
        <p:nvSpPr>
          <p:cNvPr id="14" name="Oval 13"/>
          <p:cNvSpPr/>
          <p:nvPr/>
        </p:nvSpPr>
        <p:spPr>
          <a:xfrm>
            <a:off x="868680" y="2935224"/>
            <a:ext cx="82296" cy="82296"/>
          </a:xfrm>
          <a:prstGeom prst="ellipse">
            <a:avLst/>
          </a:prstGeom>
          <a:solidFill>
            <a:srgbClr val="3B4A7A"/>
          </a:solidFill>
          <a:ln>
            <a:noFill/>
          </a:ln>
        </p:spPr>
        <p:txBody>
          <a:bodyPr rtlCol="0" anchor="ctr"/>
          <a:lstStyle/>
          <a:p>
            <a:pPr algn="ctr"/>
          </a:p>
        </p:txBody>
      </p:sp>
      <p:sp>
        <p:nvSpPr>
          <p:cNvPr id="15" name="TextBox 14"/>
          <p:cNvSpPr txBox="1"/>
          <p:nvPr/>
        </p:nvSpPr>
        <p:spPr>
          <a:xfrm>
            <a:off x="1051560" y="2852928"/>
            <a:ext cx="3291839" cy="53035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An activity of </a:t>
            </a:r>
            <a:r>
              <a:rPr sz="1200" b="0" i="1">
                <a:solidFill>
                  <a:srgbClr val="5A6377"/>
                </a:solidFill>
                <a:latin typeface="Calibri"/>
              </a:rPr>
              <a:t>atma</a:t>
            </a:r>
            <a:r>
              <a:rPr sz="1200" b="0" i="0">
                <a:solidFill>
                  <a:srgbClr val="5A6377"/>
                </a:solidFill>
                <a:latin typeface="Calibri"/>
              </a:rPr>
              <a:t>, with its effect in every faculty</a:t>
            </a:r>
          </a:p>
        </p:txBody>
      </p:sp>
      <p:sp>
        <p:nvSpPr>
          <p:cNvPr id="16" name="Oval 15"/>
          <p:cNvSpPr/>
          <p:nvPr/>
        </p:nvSpPr>
        <p:spPr>
          <a:xfrm>
            <a:off x="868680" y="3511296"/>
            <a:ext cx="82296" cy="82296"/>
          </a:xfrm>
          <a:prstGeom prst="ellipse">
            <a:avLst/>
          </a:prstGeom>
          <a:solidFill>
            <a:srgbClr val="3B4A7A"/>
          </a:solidFill>
          <a:ln>
            <a:noFill/>
          </a:ln>
        </p:spPr>
        <p:txBody>
          <a:bodyPr rtlCol="0" anchor="ctr"/>
          <a:lstStyle/>
          <a:p>
            <a:pPr algn="ctr"/>
          </a:p>
        </p:txBody>
      </p:sp>
      <p:sp>
        <p:nvSpPr>
          <p:cNvPr id="17" name="TextBox 16"/>
          <p:cNvSpPr txBox="1"/>
          <p:nvPr/>
        </p:nvSpPr>
        <p:spPr>
          <a:xfrm>
            <a:off x="1051560" y="3429000"/>
            <a:ext cx="3291839" cy="53035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Evidenced in conveyability, just conduct, work, and tradition</a:t>
            </a:r>
          </a:p>
        </p:txBody>
      </p:sp>
      <p:sp>
        <p:nvSpPr>
          <p:cNvPr id="18" name="Oval 17"/>
          <p:cNvSpPr/>
          <p:nvPr/>
        </p:nvSpPr>
        <p:spPr>
          <a:xfrm>
            <a:off x="868680" y="4087368"/>
            <a:ext cx="82296" cy="82296"/>
          </a:xfrm>
          <a:prstGeom prst="ellipse">
            <a:avLst/>
          </a:prstGeom>
          <a:solidFill>
            <a:srgbClr val="3B4A7A"/>
          </a:solidFill>
          <a:ln>
            <a:noFill/>
          </a:ln>
        </p:spPr>
        <p:txBody>
          <a:bodyPr rtlCol="0" anchor="ctr"/>
          <a:lstStyle/>
          <a:p>
            <a:pPr algn="ctr"/>
          </a:p>
        </p:txBody>
      </p:sp>
      <p:sp>
        <p:nvSpPr>
          <p:cNvPr id="19" name="TextBox 18"/>
          <p:cNvSpPr txBox="1"/>
          <p:nvPr/>
        </p:nvSpPr>
        <p:spPr>
          <a:xfrm>
            <a:off x="1051560" y="4005072"/>
            <a:ext cx="3291839" cy="53035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Not an absorbed state, a feeling, or a vision</a:t>
            </a:r>
          </a:p>
        </p:txBody>
      </p:sp>
      <p:sp>
        <p:nvSpPr>
          <p:cNvPr id="20" name="Rounded Rectangle 19"/>
          <p:cNvSpPr/>
          <p:nvPr/>
        </p:nvSpPr>
        <p:spPr>
          <a:xfrm>
            <a:off x="4663440" y="1188720"/>
            <a:ext cx="3840480" cy="3474720"/>
          </a:xfrm>
          <a:prstGeom prst="roundRect">
            <a:avLst>
              <a:gd name="adj" fmla="val 5000"/>
            </a:avLst>
          </a:prstGeom>
          <a:solidFill>
            <a:srgbClr val="FAF1DF"/>
          </a:solidFill>
          <a:ln>
            <a:noFill/>
          </a:ln>
        </p:spPr>
        <p:txBody>
          <a:bodyPr rtlCol="0" anchor="ctr"/>
          <a:lstStyle/>
          <a:p>
            <a:pPr algn="ctr"/>
          </a:p>
        </p:txBody>
      </p:sp>
      <p:sp>
        <p:nvSpPr>
          <p:cNvPr id="21" name="TextBox 20"/>
          <p:cNvSpPr txBox="1"/>
          <p:nvPr/>
        </p:nvSpPr>
        <p:spPr>
          <a:xfrm>
            <a:off x="4864608" y="1280160"/>
            <a:ext cx="3474720" cy="310896"/>
          </a:xfrm>
          <a:prstGeom prst="rect">
            <a:avLst/>
          </a:prstGeom>
          <a:noFill/>
        </p:spPr>
        <p:txBody>
          <a:bodyPr wrap="square" lIns="0" rIns="0" tIns="0" bIns="0" anchor="ctr">
            <a:noAutofit/>
          </a:bodyPr>
          <a:lstStyle/>
          <a:p>
            <a:pPr algn="l">
              <a:spcBef>
                <a:spcPts val="0"/>
              </a:spcBef>
              <a:spcAft>
                <a:spcPts val="0"/>
              </a:spcAft>
            </a:pPr>
            <a:r>
              <a:rPr sz="1350" b="1" i="0">
                <a:solidFill>
                  <a:srgbClr val="9A6414"/>
                </a:solidFill>
                <a:latin typeface="Cambria"/>
              </a:rPr>
              <a:t>What a practitioner does</a:t>
            </a:r>
          </a:p>
        </p:txBody>
      </p:sp>
      <p:sp>
        <p:nvSpPr>
          <p:cNvPr id="22" name="Oval 21"/>
          <p:cNvSpPr/>
          <p:nvPr/>
        </p:nvSpPr>
        <p:spPr>
          <a:xfrm>
            <a:off x="4892040" y="1783080"/>
            <a:ext cx="82296" cy="82296"/>
          </a:xfrm>
          <a:prstGeom prst="ellipse">
            <a:avLst/>
          </a:prstGeom>
          <a:solidFill>
            <a:srgbClr val="C9821E"/>
          </a:solidFill>
          <a:ln>
            <a:noFill/>
          </a:ln>
        </p:spPr>
        <p:txBody>
          <a:bodyPr rtlCol="0" anchor="ctr"/>
          <a:lstStyle/>
          <a:p>
            <a:pPr algn="ctr"/>
          </a:p>
        </p:txBody>
      </p:sp>
      <p:sp>
        <p:nvSpPr>
          <p:cNvPr id="23" name="TextBox 22"/>
          <p:cNvSpPr txBox="1"/>
          <p:nvPr/>
        </p:nvSpPr>
        <p:spPr>
          <a:xfrm>
            <a:off x="5074920" y="1700784"/>
            <a:ext cx="3291839" cy="53035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Studies the stated system, with inquiry and dedication</a:t>
            </a:r>
          </a:p>
        </p:txBody>
      </p:sp>
      <p:sp>
        <p:nvSpPr>
          <p:cNvPr id="24" name="Oval 23"/>
          <p:cNvSpPr/>
          <p:nvPr/>
        </p:nvSpPr>
        <p:spPr>
          <a:xfrm>
            <a:off x="4892040" y="2359152"/>
            <a:ext cx="82296" cy="82296"/>
          </a:xfrm>
          <a:prstGeom prst="ellipse">
            <a:avLst/>
          </a:prstGeom>
          <a:solidFill>
            <a:srgbClr val="C9821E"/>
          </a:solidFill>
          <a:ln>
            <a:noFill/>
          </a:ln>
        </p:spPr>
        <p:txBody>
          <a:bodyPr rtlCol="0" anchor="ctr"/>
          <a:lstStyle/>
          <a:p>
            <a:pPr algn="ctr"/>
          </a:p>
        </p:txBody>
      </p:sp>
      <p:sp>
        <p:nvSpPr>
          <p:cNvPr id="25" name="TextBox 24"/>
          <p:cNvSpPr txBox="1"/>
          <p:nvPr/>
        </p:nvSpPr>
        <p:spPr>
          <a:xfrm>
            <a:off x="5074920" y="2276856"/>
            <a:ext cx="3291839" cy="53035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Follows just behaviour; abides in resolved, </a:t>
            </a:r>
            <a:r>
              <a:rPr sz="1200" b="0" i="1">
                <a:solidFill>
                  <a:srgbClr val="5A6377"/>
                </a:solidFill>
                <a:latin typeface="Calibri"/>
              </a:rPr>
              <a:t>dharma</a:t>
            </a:r>
            <a:r>
              <a:rPr sz="1200" b="0" i="0">
                <a:solidFill>
                  <a:srgbClr val="5A6377"/>
                </a:solidFill>
                <a:latin typeface="Calibri"/>
              </a:rPr>
              <a:t>-based thought</a:t>
            </a:r>
          </a:p>
        </p:txBody>
      </p:sp>
      <p:sp>
        <p:nvSpPr>
          <p:cNvPr id="26" name="Oval 25"/>
          <p:cNvSpPr/>
          <p:nvPr/>
        </p:nvSpPr>
        <p:spPr>
          <a:xfrm>
            <a:off x="4892040" y="2935224"/>
            <a:ext cx="82296" cy="82296"/>
          </a:xfrm>
          <a:prstGeom prst="ellipse">
            <a:avLst/>
          </a:prstGeom>
          <a:solidFill>
            <a:srgbClr val="C9821E"/>
          </a:solidFill>
          <a:ln>
            <a:noFill/>
          </a:ln>
        </p:spPr>
        <p:txBody>
          <a:bodyPr rtlCol="0" anchor="ctr"/>
          <a:lstStyle/>
          <a:p>
            <a:pPr algn="ctr"/>
          </a:p>
        </p:txBody>
      </p:sp>
      <p:sp>
        <p:nvSpPr>
          <p:cNvPr id="27" name="TextBox 26"/>
          <p:cNvSpPr txBox="1"/>
          <p:nvPr/>
        </p:nvSpPr>
        <p:spPr>
          <a:xfrm>
            <a:off x="5074920" y="2852928"/>
            <a:ext cx="3291839" cy="53035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Refines hope, thought, desire, and resoluteness through </a:t>
            </a:r>
            <a:r>
              <a:rPr sz="1200" b="0" i="1">
                <a:solidFill>
                  <a:srgbClr val="5A6377"/>
                </a:solidFill>
                <a:latin typeface="Calibri"/>
              </a:rPr>
              <a:t>upasana</a:t>
            </a:r>
          </a:p>
        </p:txBody>
      </p:sp>
      <p:sp>
        <p:nvSpPr>
          <p:cNvPr id="28" name="Oval 27"/>
          <p:cNvSpPr/>
          <p:nvPr/>
        </p:nvSpPr>
        <p:spPr>
          <a:xfrm>
            <a:off x="4892040" y="3511296"/>
            <a:ext cx="82296" cy="82296"/>
          </a:xfrm>
          <a:prstGeom prst="ellipse">
            <a:avLst/>
          </a:prstGeom>
          <a:solidFill>
            <a:srgbClr val="C9821E"/>
          </a:solidFill>
          <a:ln>
            <a:noFill/>
          </a:ln>
        </p:spPr>
        <p:txBody>
          <a:bodyPr rtlCol="0" anchor="ctr"/>
          <a:lstStyle/>
          <a:p>
            <a:pPr algn="ctr"/>
          </a:p>
        </p:txBody>
      </p:sp>
      <p:sp>
        <p:nvSpPr>
          <p:cNvPr id="29" name="TextBox 28"/>
          <p:cNvSpPr txBox="1"/>
          <p:nvPr/>
        </p:nvSpPr>
        <p:spPr>
          <a:xfrm>
            <a:off x="5074920" y="3429000"/>
            <a:ext cx="3291839" cy="53035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Concentrates for understanding, in the company of the awakened</a:t>
            </a:r>
          </a:p>
        </p:txBody>
      </p:sp>
      <p:sp>
        <p:nvSpPr>
          <p:cNvPr id="30" name="Oval 29"/>
          <p:cNvSpPr/>
          <p:nvPr/>
        </p:nvSpPr>
        <p:spPr>
          <a:xfrm>
            <a:off x="4892040" y="4087368"/>
            <a:ext cx="82296" cy="82296"/>
          </a:xfrm>
          <a:prstGeom prst="ellipse">
            <a:avLst/>
          </a:prstGeom>
          <a:solidFill>
            <a:srgbClr val="C9821E"/>
          </a:solidFill>
          <a:ln>
            <a:noFill/>
          </a:ln>
        </p:spPr>
        <p:txBody>
          <a:bodyPr rtlCol="0" anchor="ctr"/>
          <a:lstStyle/>
          <a:p>
            <a:pPr algn="ctr"/>
          </a:p>
        </p:txBody>
      </p:sp>
      <p:sp>
        <p:nvSpPr>
          <p:cNvPr id="31" name="TextBox 30"/>
          <p:cNvSpPr txBox="1"/>
          <p:nvPr/>
        </p:nvSpPr>
        <p:spPr>
          <a:xfrm>
            <a:off x="5074920" y="4005072"/>
            <a:ext cx="3291839" cy="53035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Lives it in relationships until all ten activities are effective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p:spPr>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p:spPr>
        <p:txBody>
          <a:bodyPr rtlCol="0" anchor="ctr"/>
          <a:lstStyle/>
          <a:p>
            <a:pPr algn="ctr"/>
          </a:p>
        </p:txBody>
      </p:sp>
      <p:sp>
        <p:nvSpPr>
          <p:cNvPr id="4" name="Oval 3"/>
          <p:cNvSpPr/>
          <p:nvPr/>
        </p:nvSpPr>
        <p:spPr>
          <a:xfrm>
            <a:off x="7068312" y="2039112"/>
            <a:ext cx="859536" cy="859536"/>
          </a:xfrm>
          <a:prstGeom prst="ellipse">
            <a:avLst/>
          </a:prstGeom>
          <a:solidFill>
            <a:srgbClr val="C9821E"/>
          </a:solidFill>
          <a:ln>
            <a:noFill/>
          </a:ln>
        </p:spPr>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p:spPr>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p:spPr>
        <p:txBody>
          <a:bodyPr rtlCol="0" anchor="ctr"/>
          <a:lstStyle/>
          <a:p>
            <a:pPr algn="ctr"/>
          </a:p>
        </p:txBody>
      </p:sp>
      <p:sp>
        <p:nvSpPr>
          <p:cNvPr id="7" name="Oval 6"/>
          <p:cNvSpPr/>
          <p:nvPr/>
        </p:nvSpPr>
        <p:spPr>
          <a:xfrm>
            <a:off x="5797296" y="3968496"/>
            <a:ext cx="283464" cy="283464"/>
          </a:xfrm>
          <a:prstGeom prst="ellipse">
            <a:avLst/>
          </a:prstGeom>
          <a:solidFill>
            <a:srgbClr val="C9D4EF"/>
          </a:solidFill>
          <a:ln>
            <a:noFill/>
          </a:ln>
        </p:spPr>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p:spPr>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p:spPr>
        <p:txBody>
          <a:bodyPr rtlCol="0" anchor="ctr"/>
          <a:lstStyle/>
          <a:p>
            <a:pPr algn="ctr"/>
          </a:p>
        </p:txBody>
      </p:sp>
      <p:sp>
        <p:nvSpPr>
          <p:cNvPr id="10" name="Oval 9"/>
          <p:cNvSpPr/>
          <p:nvPr/>
        </p:nvSpPr>
        <p:spPr>
          <a:xfrm>
            <a:off x="8412480" y="4297680"/>
            <a:ext cx="192024" cy="192024"/>
          </a:xfrm>
          <a:prstGeom prst="ellipse">
            <a:avLst/>
          </a:prstGeom>
          <a:solidFill>
            <a:srgbClr val="C9D4EF"/>
          </a:solidFill>
          <a:ln>
            <a:noFill/>
          </a:ln>
        </p:spPr>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lIns="0" rIns="0" tIns="0" bIns="0" anchor="ctr">
            <a:noAutofit/>
          </a:bodyPr>
          <a:lstStyle/>
          <a:p>
            <a:pPr algn="l">
              <a:spcBef>
                <a:spcPts val="0"/>
              </a:spcBef>
              <a:spcAft>
                <a:spcPts val="0"/>
              </a:spcAft>
            </a:pPr>
            <a:r>
              <a:rPr sz="1200" b="1" i="0">
                <a:solidFill>
                  <a:srgbClr val="C9821E"/>
                </a:solidFill>
                <a:latin typeface="Calibri"/>
              </a:rPr>
              <a:t>WHERE TO BEGIN  ·  §1.14</a:t>
            </a:r>
          </a:p>
        </p:txBody>
      </p:sp>
      <p:sp>
        <p:nvSpPr>
          <p:cNvPr id="12" name="TextBox 11"/>
          <p:cNvSpPr txBox="1"/>
          <p:nvPr/>
        </p:nvSpPr>
        <p:spPr>
          <a:xfrm>
            <a:off x="640080" y="1572768"/>
            <a:ext cx="5577840" cy="1371600"/>
          </a:xfrm>
          <a:prstGeom prst="rect">
            <a:avLst/>
          </a:prstGeom>
          <a:noFill/>
        </p:spPr>
        <p:txBody>
          <a:bodyPr wrap="square" lIns="0" rIns="0" tIns="0" bIns="0" anchor="ctr">
            <a:noAutofit/>
          </a:bodyPr>
          <a:lstStyle/>
          <a:p>
            <a:pPr algn="l">
              <a:spcBef>
                <a:spcPts val="0"/>
              </a:spcBef>
              <a:spcAft>
                <a:spcPts val="0"/>
              </a:spcAft>
            </a:pPr>
            <a:r>
              <a:rPr sz="4400" b="1" i="0">
                <a:solidFill>
                  <a:srgbClr val="FFFFFF"/>
                </a:solidFill>
                <a:latin typeface="Cambria"/>
              </a:rPr>
              <a:t>The Way In</a:t>
            </a:r>
          </a:p>
          <a:p>
            <a:pPr algn="l">
              <a:spcBef>
                <a:spcPts val="0"/>
              </a:spcBef>
              <a:spcAft>
                <a:spcPts val="0"/>
              </a:spcAft>
            </a:pPr>
            <a:r>
              <a:rPr sz="4400" b="1" i="0">
                <a:solidFill>
                  <a:srgbClr val="FFFFFF"/>
                </a:solidFill>
                <a:latin typeface="Cambria"/>
              </a:rPr>
              <a:t>Is Study</a:t>
            </a:r>
          </a:p>
        </p:txBody>
      </p:sp>
      <p:sp>
        <p:nvSpPr>
          <p:cNvPr id="13" name="TextBox 12"/>
          <p:cNvSpPr txBox="1"/>
          <p:nvPr/>
        </p:nvSpPr>
        <p:spPr>
          <a:xfrm>
            <a:off x="640080" y="2980944"/>
            <a:ext cx="4846320" cy="685800"/>
          </a:xfrm>
          <a:prstGeom prst="rect">
            <a:avLst/>
          </a:prstGeom>
          <a:noFill/>
        </p:spPr>
        <p:txBody>
          <a:bodyPr wrap="square" lIns="0" rIns="0" tIns="0" bIns="0" anchor="ctr">
            <a:noAutofit/>
          </a:bodyPr>
          <a:lstStyle/>
          <a:p>
            <a:pPr algn="l">
              <a:spcBef>
                <a:spcPts val="0"/>
              </a:spcBef>
              <a:spcAft>
                <a:spcPts val="0"/>
              </a:spcAft>
            </a:pPr>
            <a:r>
              <a:rPr sz="1500" b="0" i="1">
                <a:solidFill>
                  <a:srgbClr val="C9D4EF"/>
                </a:solidFill>
                <a:latin typeface="Calibri"/>
              </a:rPr>
              <a:t>Realisation, awakening, and study depend on one another. Study and participation are where the circle is entered.</a:t>
            </a:r>
          </a:p>
        </p:txBody>
      </p:sp>
      <p:sp>
        <p:nvSpPr>
          <p:cNvPr id="14" name="Rounded Rectangle 13"/>
          <p:cNvSpPr/>
          <p:nvPr/>
        </p:nvSpPr>
        <p:spPr>
          <a:xfrm>
            <a:off x="640080" y="3767328"/>
            <a:ext cx="896112" cy="676656"/>
          </a:xfrm>
          <a:prstGeom prst="roundRect">
            <a:avLst>
              <a:gd name="adj" fmla="val 10000"/>
            </a:avLst>
          </a:prstGeom>
          <a:solidFill>
            <a:srgbClr val="3B4A7A"/>
          </a:solidFill>
          <a:ln>
            <a:noFill/>
          </a:ln>
        </p:spPr>
        <p:txBody>
          <a:bodyPr rtlCol="0" anchor="ctr"/>
          <a:lstStyle/>
          <a:p>
            <a:pPr algn="ctr"/>
          </a:p>
        </p:txBody>
      </p:sp>
      <p:sp>
        <p:nvSpPr>
          <p:cNvPr id="15" name="TextBox 14"/>
          <p:cNvSpPr txBox="1"/>
          <p:nvPr/>
        </p:nvSpPr>
        <p:spPr>
          <a:xfrm>
            <a:off x="667512" y="3822191"/>
            <a:ext cx="841248" cy="292608"/>
          </a:xfrm>
          <a:prstGeom prst="rect">
            <a:avLst/>
          </a:prstGeom>
          <a:noFill/>
        </p:spPr>
        <p:txBody>
          <a:bodyPr wrap="square" lIns="0" rIns="0" tIns="0" bIns="0" anchor="ctr">
            <a:noAutofit/>
          </a:bodyPr>
          <a:lstStyle/>
          <a:p>
            <a:pPr algn="ctr">
              <a:spcBef>
                <a:spcPts val="0"/>
              </a:spcBef>
              <a:spcAft>
                <a:spcPts val="0"/>
              </a:spcAft>
            </a:pPr>
            <a:r>
              <a:rPr sz="1000" b="1" i="0">
                <a:solidFill>
                  <a:srgbClr val="FFFFFF"/>
                </a:solidFill>
                <a:latin typeface="Cambria"/>
              </a:rPr>
              <a:t>Realisation</a:t>
            </a:r>
          </a:p>
        </p:txBody>
      </p:sp>
      <p:sp>
        <p:nvSpPr>
          <p:cNvPr id="16" name="TextBox 15"/>
          <p:cNvSpPr txBox="1"/>
          <p:nvPr/>
        </p:nvSpPr>
        <p:spPr>
          <a:xfrm>
            <a:off x="667512" y="4114800"/>
            <a:ext cx="841248" cy="256032"/>
          </a:xfrm>
          <a:prstGeom prst="rect">
            <a:avLst/>
          </a:prstGeom>
          <a:noFill/>
        </p:spPr>
        <p:txBody>
          <a:bodyPr wrap="square" lIns="0" rIns="0" tIns="0" bIns="0" anchor="t">
            <a:noAutofit/>
          </a:bodyPr>
          <a:lstStyle/>
          <a:p>
            <a:pPr algn="ctr">
              <a:spcBef>
                <a:spcPts val="0"/>
              </a:spcBef>
              <a:spcAft>
                <a:spcPts val="0"/>
              </a:spcAft>
            </a:pPr>
            <a:r>
              <a:rPr sz="900" b="0" i="1">
                <a:solidFill>
                  <a:srgbClr val="C9D4EF"/>
                </a:solidFill>
                <a:latin typeface="Calibri"/>
              </a:rPr>
              <a:t>in knowledge</a:t>
            </a:r>
          </a:p>
        </p:txBody>
      </p:sp>
      <p:sp>
        <p:nvSpPr>
          <p:cNvPr id="17" name="Rounded Rectangle 16"/>
          <p:cNvSpPr/>
          <p:nvPr/>
        </p:nvSpPr>
        <p:spPr>
          <a:xfrm>
            <a:off x="1581912" y="3767328"/>
            <a:ext cx="896112" cy="676656"/>
          </a:xfrm>
          <a:prstGeom prst="roundRect">
            <a:avLst>
              <a:gd name="adj" fmla="val 10000"/>
            </a:avLst>
          </a:prstGeom>
          <a:solidFill>
            <a:srgbClr val="3B4A7A"/>
          </a:solidFill>
          <a:ln>
            <a:noFill/>
          </a:ln>
        </p:spPr>
        <p:txBody>
          <a:bodyPr rtlCol="0" anchor="ctr"/>
          <a:lstStyle/>
          <a:p>
            <a:pPr algn="ctr"/>
          </a:p>
        </p:txBody>
      </p:sp>
      <p:sp>
        <p:nvSpPr>
          <p:cNvPr id="18" name="TextBox 17"/>
          <p:cNvSpPr txBox="1"/>
          <p:nvPr/>
        </p:nvSpPr>
        <p:spPr>
          <a:xfrm>
            <a:off x="1609344" y="3822191"/>
            <a:ext cx="841248" cy="292608"/>
          </a:xfrm>
          <a:prstGeom prst="rect">
            <a:avLst/>
          </a:prstGeom>
          <a:noFill/>
        </p:spPr>
        <p:txBody>
          <a:bodyPr wrap="square" lIns="0" rIns="0" tIns="0" bIns="0" anchor="ctr">
            <a:noAutofit/>
          </a:bodyPr>
          <a:lstStyle/>
          <a:p>
            <a:pPr algn="ctr">
              <a:spcBef>
                <a:spcPts val="0"/>
              </a:spcBef>
              <a:spcAft>
                <a:spcPts val="0"/>
              </a:spcAft>
            </a:pPr>
            <a:r>
              <a:rPr sz="1000" b="1" i="0">
                <a:solidFill>
                  <a:srgbClr val="FFFFFF"/>
                </a:solidFill>
                <a:latin typeface="Cambria"/>
              </a:rPr>
              <a:t>Awakening</a:t>
            </a:r>
          </a:p>
        </p:txBody>
      </p:sp>
      <p:sp>
        <p:nvSpPr>
          <p:cNvPr id="19" name="TextBox 18"/>
          <p:cNvSpPr txBox="1"/>
          <p:nvPr/>
        </p:nvSpPr>
        <p:spPr>
          <a:xfrm>
            <a:off x="1609344" y="4114800"/>
            <a:ext cx="841248" cy="256032"/>
          </a:xfrm>
          <a:prstGeom prst="rect">
            <a:avLst/>
          </a:prstGeom>
          <a:noFill/>
        </p:spPr>
        <p:txBody>
          <a:bodyPr wrap="square" lIns="0" rIns="0" tIns="0" bIns="0" anchor="t">
            <a:noAutofit/>
          </a:bodyPr>
          <a:lstStyle/>
          <a:p>
            <a:pPr algn="ctr">
              <a:spcBef>
                <a:spcPts val="0"/>
              </a:spcBef>
              <a:spcAft>
                <a:spcPts val="0"/>
              </a:spcAft>
            </a:pPr>
            <a:r>
              <a:rPr sz="900" b="0" i="1">
                <a:solidFill>
                  <a:srgbClr val="C9D4EF"/>
                </a:solidFill>
                <a:latin typeface="Calibri"/>
              </a:rPr>
              <a:t>of the human</a:t>
            </a:r>
          </a:p>
        </p:txBody>
      </p:sp>
      <p:sp>
        <p:nvSpPr>
          <p:cNvPr id="20" name="Rounded Rectangle 19"/>
          <p:cNvSpPr/>
          <p:nvPr/>
        </p:nvSpPr>
        <p:spPr>
          <a:xfrm>
            <a:off x="2523744" y="3767328"/>
            <a:ext cx="896112" cy="676656"/>
          </a:xfrm>
          <a:prstGeom prst="roundRect">
            <a:avLst>
              <a:gd name="adj" fmla="val 10000"/>
            </a:avLst>
          </a:prstGeom>
          <a:solidFill>
            <a:srgbClr val="3B4A7A"/>
          </a:solidFill>
          <a:ln>
            <a:noFill/>
          </a:ln>
        </p:spPr>
        <p:txBody>
          <a:bodyPr rtlCol="0" anchor="ctr"/>
          <a:lstStyle/>
          <a:p>
            <a:pPr algn="ctr"/>
          </a:p>
        </p:txBody>
      </p:sp>
      <p:sp>
        <p:nvSpPr>
          <p:cNvPr id="21" name="TextBox 20"/>
          <p:cNvSpPr txBox="1"/>
          <p:nvPr/>
        </p:nvSpPr>
        <p:spPr>
          <a:xfrm>
            <a:off x="2551175" y="3822191"/>
            <a:ext cx="841248" cy="292608"/>
          </a:xfrm>
          <a:prstGeom prst="rect">
            <a:avLst/>
          </a:prstGeom>
          <a:noFill/>
        </p:spPr>
        <p:txBody>
          <a:bodyPr wrap="square" lIns="0" rIns="0" tIns="0" bIns="0" anchor="ctr">
            <a:noAutofit/>
          </a:bodyPr>
          <a:lstStyle/>
          <a:p>
            <a:pPr algn="ctr">
              <a:spcBef>
                <a:spcPts val="0"/>
              </a:spcBef>
              <a:spcAft>
                <a:spcPts val="0"/>
              </a:spcAft>
            </a:pPr>
            <a:r>
              <a:rPr sz="1000" b="1" i="0">
                <a:solidFill>
                  <a:srgbClr val="FFFFFF"/>
                </a:solidFill>
                <a:latin typeface="Cambria"/>
              </a:rPr>
              <a:t>Sanskar</a:t>
            </a:r>
          </a:p>
        </p:txBody>
      </p:sp>
      <p:sp>
        <p:nvSpPr>
          <p:cNvPr id="22" name="TextBox 21"/>
          <p:cNvSpPr txBox="1"/>
          <p:nvPr/>
        </p:nvSpPr>
        <p:spPr>
          <a:xfrm>
            <a:off x="2551175" y="4114800"/>
            <a:ext cx="841248" cy="256032"/>
          </a:xfrm>
          <a:prstGeom prst="rect">
            <a:avLst/>
          </a:prstGeom>
          <a:noFill/>
        </p:spPr>
        <p:txBody>
          <a:bodyPr wrap="square" lIns="0" rIns="0" tIns="0" bIns="0" anchor="t">
            <a:noAutofit/>
          </a:bodyPr>
          <a:lstStyle/>
          <a:p>
            <a:pPr algn="ctr">
              <a:spcBef>
                <a:spcPts val="0"/>
              </a:spcBef>
              <a:spcAft>
                <a:spcPts val="0"/>
              </a:spcAft>
            </a:pPr>
            <a:r>
              <a:rPr sz="900" b="0" i="1">
                <a:solidFill>
                  <a:srgbClr val="C9D4EF"/>
                </a:solidFill>
                <a:latin typeface="Calibri"/>
              </a:rPr>
              <a:t>formation</a:t>
            </a:r>
          </a:p>
        </p:txBody>
      </p:sp>
      <p:sp>
        <p:nvSpPr>
          <p:cNvPr id="23" name="Rounded Rectangle 22"/>
          <p:cNvSpPr/>
          <p:nvPr/>
        </p:nvSpPr>
        <p:spPr>
          <a:xfrm>
            <a:off x="3465576" y="3767328"/>
            <a:ext cx="896112" cy="676656"/>
          </a:xfrm>
          <a:prstGeom prst="roundRect">
            <a:avLst>
              <a:gd name="adj" fmla="val 10000"/>
            </a:avLst>
          </a:prstGeom>
          <a:solidFill>
            <a:srgbClr val="3B4A7A"/>
          </a:solidFill>
          <a:ln>
            <a:noFill/>
          </a:ln>
        </p:spPr>
        <p:txBody>
          <a:bodyPr rtlCol="0" anchor="ctr"/>
          <a:lstStyle/>
          <a:p>
            <a:pPr algn="ctr"/>
          </a:p>
        </p:txBody>
      </p:sp>
      <p:sp>
        <p:nvSpPr>
          <p:cNvPr id="24" name="TextBox 23"/>
          <p:cNvSpPr txBox="1"/>
          <p:nvPr/>
        </p:nvSpPr>
        <p:spPr>
          <a:xfrm>
            <a:off x="3493008" y="3822191"/>
            <a:ext cx="841248" cy="292608"/>
          </a:xfrm>
          <a:prstGeom prst="rect">
            <a:avLst/>
          </a:prstGeom>
          <a:noFill/>
        </p:spPr>
        <p:txBody>
          <a:bodyPr wrap="square" lIns="0" rIns="0" tIns="0" bIns="0" anchor="ctr">
            <a:noAutofit/>
          </a:bodyPr>
          <a:lstStyle/>
          <a:p>
            <a:pPr algn="ctr">
              <a:spcBef>
                <a:spcPts val="0"/>
              </a:spcBef>
              <a:spcAft>
                <a:spcPts val="0"/>
              </a:spcAft>
            </a:pPr>
            <a:r>
              <a:rPr sz="1000" b="1" i="0">
                <a:solidFill>
                  <a:srgbClr val="FFFFFF"/>
                </a:solidFill>
                <a:latin typeface="Cambria"/>
              </a:rPr>
              <a:t>Environment</a:t>
            </a:r>
          </a:p>
        </p:txBody>
      </p:sp>
      <p:sp>
        <p:nvSpPr>
          <p:cNvPr id="25" name="TextBox 24"/>
          <p:cNvSpPr txBox="1"/>
          <p:nvPr/>
        </p:nvSpPr>
        <p:spPr>
          <a:xfrm>
            <a:off x="3493008" y="4114800"/>
            <a:ext cx="841248" cy="256032"/>
          </a:xfrm>
          <a:prstGeom prst="rect">
            <a:avLst/>
          </a:prstGeom>
          <a:noFill/>
        </p:spPr>
        <p:txBody>
          <a:bodyPr wrap="square" lIns="0" rIns="0" tIns="0" bIns="0" anchor="t">
            <a:noAutofit/>
          </a:bodyPr>
          <a:lstStyle/>
          <a:p>
            <a:pPr algn="ctr">
              <a:spcBef>
                <a:spcPts val="0"/>
              </a:spcBef>
              <a:spcAft>
                <a:spcPts val="0"/>
              </a:spcAft>
            </a:pPr>
            <a:r>
              <a:rPr sz="900" b="0" i="1">
                <a:solidFill>
                  <a:srgbClr val="C9D4EF"/>
                </a:solidFill>
                <a:latin typeface="Calibri"/>
              </a:rPr>
              <a:t>study, endeavour</a:t>
            </a:r>
          </a:p>
        </p:txBody>
      </p:sp>
      <p:sp>
        <p:nvSpPr>
          <p:cNvPr id="26" name="Rounded Rectangle 25"/>
          <p:cNvSpPr/>
          <p:nvPr/>
        </p:nvSpPr>
        <p:spPr>
          <a:xfrm>
            <a:off x="4407408" y="3767328"/>
            <a:ext cx="896112" cy="676656"/>
          </a:xfrm>
          <a:prstGeom prst="roundRect">
            <a:avLst>
              <a:gd name="adj" fmla="val 10000"/>
            </a:avLst>
          </a:prstGeom>
          <a:solidFill>
            <a:srgbClr val="3B4A7A"/>
          </a:solidFill>
          <a:ln>
            <a:noFill/>
          </a:ln>
        </p:spPr>
        <p:txBody>
          <a:bodyPr rtlCol="0" anchor="ctr"/>
          <a:lstStyle/>
          <a:p>
            <a:pPr algn="ctr"/>
          </a:p>
        </p:txBody>
      </p:sp>
      <p:sp>
        <p:nvSpPr>
          <p:cNvPr id="27" name="TextBox 26"/>
          <p:cNvSpPr txBox="1"/>
          <p:nvPr/>
        </p:nvSpPr>
        <p:spPr>
          <a:xfrm>
            <a:off x="4434840" y="3822191"/>
            <a:ext cx="841248" cy="292608"/>
          </a:xfrm>
          <a:prstGeom prst="rect">
            <a:avLst/>
          </a:prstGeom>
          <a:noFill/>
        </p:spPr>
        <p:txBody>
          <a:bodyPr wrap="square" lIns="0" rIns="0" tIns="0" bIns="0" anchor="ctr">
            <a:noAutofit/>
          </a:bodyPr>
          <a:lstStyle/>
          <a:p>
            <a:pPr algn="ctr">
              <a:spcBef>
                <a:spcPts val="0"/>
              </a:spcBef>
              <a:spcAft>
                <a:spcPts val="0"/>
              </a:spcAft>
            </a:pPr>
            <a:r>
              <a:rPr sz="1000" b="1" i="0">
                <a:solidFill>
                  <a:srgbClr val="FFFFFF"/>
                </a:solidFill>
                <a:latin typeface="Cambria"/>
              </a:rPr>
              <a:t>Humaneness</a:t>
            </a:r>
          </a:p>
        </p:txBody>
      </p:sp>
      <p:sp>
        <p:nvSpPr>
          <p:cNvPr id="28" name="TextBox 27"/>
          <p:cNvSpPr txBox="1"/>
          <p:nvPr/>
        </p:nvSpPr>
        <p:spPr>
          <a:xfrm>
            <a:off x="4434840" y="4114800"/>
            <a:ext cx="841248" cy="256032"/>
          </a:xfrm>
          <a:prstGeom prst="rect">
            <a:avLst/>
          </a:prstGeom>
          <a:noFill/>
        </p:spPr>
        <p:txBody>
          <a:bodyPr wrap="square" lIns="0" rIns="0" tIns="0" bIns="0" anchor="t">
            <a:noAutofit/>
          </a:bodyPr>
          <a:lstStyle/>
          <a:p>
            <a:pPr algn="ctr">
              <a:spcBef>
                <a:spcPts val="0"/>
              </a:spcBef>
              <a:spcAft>
                <a:spcPts val="0"/>
              </a:spcAft>
            </a:pPr>
            <a:r>
              <a:rPr sz="900" b="0" i="1">
                <a:solidFill>
                  <a:srgbClr val="C9D4EF"/>
                </a:solidFill>
                <a:latin typeface="Calibri"/>
              </a:rPr>
              <a:t>and higher</a:t>
            </a:r>
          </a:p>
        </p:txBody>
      </p:sp>
      <p:sp>
        <p:nvSpPr>
          <p:cNvPr id="29" name="TextBox 28"/>
          <p:cNvSpPr txBox="1"/>
          <p:nvPr/>
        </p:nvSpPr>
        <p:spPr>
          <a:xfrm>
            <a:off x="640080" y="4517136"/>
            <a:ext cx="4663440" cy="237744"/>
          </a:xfrm>
          <a:prstGeom prst="rect">
            <a:avLst/>
          </a:prstGeom>
          <a:noFill/>
        </p:spPr>
        <p:txBody>
          <a:bodyPr wrap="square" lIns="0" rIns="0" tIns="0" bIns="0" anchor="ctr">
            <a:noAutofit/>
          </a:bodyPr>
          <a:lstStyle/>
          <a:p>
            <a:pPr algn="l">
              <a:spcBef>
                <a:spcPts val="0"/>
              </a:spcBef>
              <a:spcAft>
                <a:spcPts val="0"/>
              </a:spcAft>
            </a:pPr>
            <a:r>
              <a:rPr sz="1100" b="0" i="0">
                <a:solidFill>
                  <a:srgbClr val="8E9BC4"/>
                </a:solidFill>
                <a:latin typeface="Calibri"/>
              </a:rPr>
              <a:t>Each depends on the next; the last on realisation (MVD p. 290).</a:t>
            </a:r>
          </a:p>
        </p:txBody>
      </p:sp>
      <p:sp>
        <p:nvSpPr>
          <p:cNvPr id="30" name="TextBox 29"/>
          <p:cNvSpPr txBox="1"/>
          <p:nvPr/>
        </p:nvSpPr>
        <p:spPr>
          <a:xfrm>
            <a:off x="640080" y="4754880"/>
            <a:ext cx="4663440" cy="237744"/>
          </a:xfrm>
          <a:prstGeom prst="rect">
            <a:avLst/>
          </a:prstGeom>
          <a:noFill/>
        </p:spPr>
        <p:txBody>
          <a:bodyPr wrap="square" lIns="0" rIns="0" tIns="0" bIns="0" anchor="ctr">
            <a:noAutofit/>
          </a:bodyPr>
          <a:lstStyle/>
          <a:p>
            <a:pPr algn="l">
              <a:spcBef>
                <a:spcPts val="0"/>
              </a:spcBef>
              <a:spcAft>
                <a:spcPts val="0"/>
              </a:spcAft>
            </a:pPr>
            <a:r>
              <a:rPr sz="1100" b="0" i="0">
                <a:solidFill>
                  <a:srgbClr val="8E9BC4"/>
                </a:solidFill>
                <a:latin typeface="Calibri"/>
              </a:rPr>
              <a:t>AnalyticMadhyasthDarshan.org  ·  28 /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