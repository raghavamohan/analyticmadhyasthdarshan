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23F6527-06EA-4F18-B08A-21B734C330FC}">
  <a:tblStyle styleId="{823F6527-06EA-4F18-B08A-21B734C330F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This deck gives Madhyasth Darshan's consolidated architectural account of how an undivided society (akhand samaj) is established - one connected chain running from coexistence, through individual awakening, to social evidence. Everything here is drawn from Shri A. Nagraj's primary works: Madhyasth Darshan (MVD), Samadhanatmak Bhautikvad (SB), Jeevan Vidya (JV), Janvad (JVD), and Adhyatmvad (AVD). Comparison with other philosophical traditions is deliberately set aside - this is an exposition of the darshan on its own terms. The five colored bars preview the five layers we will climb.</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 name="Google Shape;2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diagnosis. Humans live in fear, conflict, and defensive groupings because they mistake the body for the self. Under that delusion, all evaluation organizes around pleasure, profit, and accumulation - producing sectarian identity, exploitation, and recurring war, even though most people want none of it. The remedy is a single path, not a program imposed from outside: individual awakening, then family order, then universal orderliness. Realizing coexistence - satta and units, the sentient jeevan working through the body, conduct under justice, dharma, truth - is what closes the knowledge-order gate.</a:t>
            </a:r>
            <a:endParaRPr/>
          </a:p>
        </p:txBody>
      </p:sp>
      <p:sp>
        <p:nvSpPr>
          <p:cNvPr id="28" name="Google Shape;2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central claim, so dwell on it. Undivided society is NOT utopia, and it is NOT an automatic scale-up of physical law. It is an achieved telos at the knowledge order, paired with universal orderliness. What makes it reachable rather than wishful is one fact: nature is inherently complementary. Division is the aberration of a blocked design - not the baseline. So establishing undivided society means UN-BLOCKING a complementarity already present at every order, not engineering harmony onto a competitive substrate. Because the design is complementary at root, from atoms up to humankind, the goal is achievable.</a:t>
            </a:r>
            <a:endParaRPr/>
          </a:p>
        </p:txBody>
      </p:sp>
      <p:sp>
        <p:nvSpPr>
          <p:cNvPr id="48" name="Google Shape;4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 name="Google Shape;6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argument on one slide. Five layers, each depending on the one below and enabling the one above, culminating in the telos. Two things to flag. First, matter and regulation flow easily through Layers 0 to 2 - composition, sentience, all relatively automatic. Second, Layer 3 is a narrow gate: every human unit must pass through awakening, and a unit that fails loops back to delusion. The society cannot reach the telos while that loop dominates. Layer 4 is where what passes the gate gets evidenced - in family, community, and world-family. We will now walk each layer.</a:t>
            </a:r>
            <a:endParaRPr/>
          </a:p>
        </p:txBody>
      </p:sp>
      <p:sp>
        <p:nvSpPr>
          <p:cNvPr id="65" name="Google Shape;6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Layer 0 is the ground everything rests on. Existence is ever-present coexistence: formless Omnipresence (satta) and countless bounded units of nature, co-eternal - neither made from the other. Saturation (samprikt) is the bond: every unit is surrounded, submerged, soaked in satta, and through that bond carries its own energy and regulatory order - not drawn from some external store. Crucially, satta is actionless (kriya-shunya). It is the sustaining ground - 'supreme cause' in that sense - but never the trigger of particular change. Units do the causal work. And satta's regulation is mediative (madhyasth) - the same pattern we will see at the atomic nucleus and at atma.</a:t>
            </a:r>
            <a:endParaRPr/>
          </a:p>
        </p:txBody>
      </p:sp>
      <p:sp>
        <p:nvSpPr>
          <p:cNvPr id="97" name="Google Shape;9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ideas here. First, complementarity is the very essence of coexistence - value reciprocated and mutually recognized, the whole structure by which units fulfil one another. Because nothing is isolated, this same design runs unbroken from atomic particles to human assemblies. This is the fact the entire establishment rests on. A unit in its natural state moves toward development; in its excited state, complementarity falls short and it declines. Second, the regulation ladder: read it upward from saturation, to law, to order conformance, to inward regulation in jeevan, to justice, to assembly order. Same regulatory principle, expressed differently at each level.</a:t>
            </a:r>
            <a:endParaRPr/>
          </a:p>
        </p:txBody>
      </p:sp>
      <p:sp>
        <p:nvSpPr>
          <p:cNvPr id="121" name="Google Shape;12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Layer 1: composition. Four orders - material, bio/pranic, animal, and knowledge/human - each higher order including the lower dharmas cumulatively. Note the right-hand column. The first three orders are DEFINITE: matter conforms structurally, bio by seed, animals by species. But the human order is ACHIEVED - through knowing, believing, recognising, fulfilling. That difference is the whole reason this is hard. Humans conform to sanskar - understanding and conditioning - not to genetic code. So the method of composing human society cannot be transmitted biologically. It must be perpetuated by passing realized understanding across generations. That is why education-sanskar is the primary engine of undivided society.</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Still in Layer 1. What units actually reciprocate is value - essentiality. At the knowledge order it sorts into six kinds: utility (usefulness through labour), art (aesthetic enhancement), jeevan values (happiness, peace, contentment, bliss), human values (humane living through coexistence understanding), established values (trust, affection, gratitude, love, reverence), and expression values (right-use of body, mind, wealth). One clarification worth making: justice is the OPERATION on these values - recognise, fulfil, evaluate, satisfy - it is not itself one of the six.</a:t>
            </a:r>
            <a:endParaRPr/>
          </a:p>
        </p:txBody>
      </p:sp>
      <p:sp>
        <p:nvSpPr>
          <p:cNvPr id="177" name="Google Shape;17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 name="Google Shape;21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Layer 2 is the sentience threshold, and this is the darshan's own physics, not a bare assertion. Within the atom, development runs through hungry atoms - deficient in particles - and overfull atoms bearing excess. They cycle, incorporating and expelling particles, until the required constitution closes. At that point the atom is satiated: constitutional completeness, or gathanpurnata - qualitative change with NO change in particle count. Here latent intelligibility in satta is actualized as active sentience - not strong emergence from dead matter. This transition, T1, is irreversible. Molecular and weight bondage break; hope-bondage replaces them, and 'hope to live' begins.</a:t>
            </a:r>
            <a:endParaRPr/>
          </a:p>
        </p:txBody>
      </p:sp>
      <p:sp>
        <p:nvSpPr>
          <p:cNvPr id="211" name="Google Shape;21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 name="Google Shape;23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short but important slide. An animal or a human is the JOINT FORM of a constitutionally complete jeevan working through a body of that order. And notice the two-scale identity: at the atomic scale the nucleus is mediative activity regulating the generative and degenerative orbiting particles; at the sentient scale, inward regulation under mediative atma does the same for the faculties. The darshan insists this is identity at two scales, not mere analogy - the same mediative design we met in Layer 0.</a:t>
            </a:r>
            <a:endParaRPr/>
          </a:p>
        </p:txBody>
      </p:sp>
      <p:sp>
        <p:nvSpPr>
          <p:cNvPr id="239" name="Google Shape;23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narrow gate - Layer 3. Only jeevan at the knowledge order evaluates, and with evaluation come both delusion and the possibility of awakening. All human behaviour manifests in six perspectives, organized under two refuges. The inhumane refuge - priya, hita, labh - runs on instinct, body, and material gain. The humane refuge - nyaya, dharma, satya - regulates conduct, thought toward resolution, and realisation. The lower triad is legitimate in its own domain, but insufficient as the organizing standpoint of a knowledge-order being. Delusion - body mistaken for self - is complementarity BLOCKED here, not nature turning competitive.</a:t>
            </a:r>
            <a:endParaRPr/>
          </a:p>
        </p:txBody>
      </p:sp>
      <p:sp>
        <p:nvSpPr>
          <p:cNvPr id="262" name="Google Shape;26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Justice gets a precise definition: recognising relationships, fulfilling values, evaluating, and achieving mutual satisfaction. Keep three registers distinct. Regulation or law operates across all four orders - inherent orderliness. Justice (nyaya) is specific to the knowledge order - the complete relational cycle WITH evaluation. And statutory or public law belongs to human assemblies - it is codified, and here is the catch: it can satisfy legality while still violating justice. The architectural point: justice names evaluative closure of values in relationships, not mere compliance with rules.</a:t>
            </a:r>
            <a:endParaRPr/>
          </a:p>
        </p:txBody>
      </p:sp>
      <p:sp>
        <p:nvSpPr>
          <p:cNvPr id="282" name="Google Shape;28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 name="Google Shape;30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 does one actually pass the gate? The sequence is knowing, believing, recognising, fulfilling - under justice, dharma, and truth. Outwardly it proceeds in three stages: study; experiment and practice; and realisation evidenced in conduct - the third stage being actual accomplishment, humaneness visible in work and behaviour. Inwardly the rhythm is shanka-swada-bodh: doubting or verifying within oneself, tasting what study offers, understanding. Inward regulation - mediative atma disciplining buddhi, chitta, vritti, mun, and the body - stabilizes humane evaluation. Jeevan Vidya is the named catalyst for this; janvad, structured public dialogue, is its collective counterpart.</a:t>
            </a:r>
            <a:endParaRPr/>
          </a:p>
        </p:txBody>
      </p:sp>
      <p:sp>
        <p:nvSpPr>
          <p:cNvPr id="307" name="Google Shape;30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 name="Google Shape;334;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completeness transitions - and a vital caveat: completeness (purnata) means structural saturation, NOT moral perfection in any religious sense. T1 is constitutional completeness - sentience, hope to live. T2 is activity completeness, kriyapurnata - orderliness evidenced in awakened activity, the deific plane. T3 is conduct completeness, vyavaharpurnata - living proof, pramanikta, in work and behaviour, the divine plane. T2 and T3 belong to awakening progression, jagriti-kram, within an already constitutionally complete jeevan. Each transition closes a definite bondage mode rather than grading a soul against an ideal.</a:t>
            </a:r>
            <a:endParaRPr/>
          </a:p>
        </p:txBody>
      </p:sp>
      <p:sp>
        <p:nvSpPr>
          <p:cNvPr id="335" name="Google Shape;335;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 name="Google Shape;36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answers: what do awakened humans actually DO? AVD names five harmonious traditions they naturally work to establish - non-accumulation (by way of prosperity), affection (by complementariness), knowledge (of jeevan), simplicity (by a holistic view of coexistence), and fearlessness (by humane conduct). The point to stress: these are not optional cultural ornaments that come after some private insight. They are how individual completeness gets operationalized at social scale - and they line up with the five orderliness dimensions we will see in Layer 4.</a:t>
            </a:r>
            <a:endParaRPr/>
          </a:p>
        </p:txBody>
      </p:sp>
      <p:sp>
        <p:nvSpPr>
          <p:cNvPr id="363" name="Google Shape;36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9" name="Google Shape;39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structural spine of the whole account - one sentence from MVD page 27. Delusionlessness is awakening; awakening is enlightenment; enlightenment is lordship; lordship is sovereignty; and sovereignty is undivided society with universal orderliness. Read it as a single ascent. Layer 3 closes the lower rungs - delusionlessness through enlightenment. Layer 4 evidences lordship and sovereignty in actual assemblies. And the top rung is the telos. Every other sequence in this deck is a different view of this same climb.</a:t>
            </a:r>
            <a:endParaRPr/>
          </a:p>
        </p:txBody>
      </p:sp>
      <p:sp>
        <p:nvSpPr>
          <p:cNvPr id="400" name="Google Shape;40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 name="Google Shape;42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Layer 4 - social establishment. Here is the telos defined carefully. Undivided society is humankind living as one complementary whole: every person resolved, families prosperous and trusting, relationships fulfilled from household to world-family, with orderliness self-governed FROM understanding rather than imposed from above. Vyavastha means inherent orderliness - not a top-down apparatus - emergent in tradition. As AVD puts it, unity and undividedness is the natural expression of awakening; division appears only under delusion. And only humans evidence undivided society and serve as witness to universal orderliness.</a:t>
            </a:r>
            <a:endParaRPr/>
          </a:p>
        </p:txBody>
      </p:sp>
      <p:sp>
        <p:nvSpPr>
          <p:cNvPr id="423" name="Google Shape;42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 establishment works at the material tier. There is a definite chain: sociality gives rise to needs, then to production, to wealth, to use and right-use and purposeful-use, to practicality, to humaneness - which loops back to sociality. But the engine that powers it psychologically is reoriented ichcha - desire for happiness and resolution - not physical need alone. Two practical points: prosperity requires producing MORE than need, and awakening shows only in right-use (sadupyog) conduct. When families dedicate surplus to right-use, accumulation (sangraha) gives way to trust and mutual distribution (a-sangraha) - which dissolves the economic motive behind borders, competition, and division.</a:t>
            </a:r>
            <a:endParaRPr/>
          </a:p>
        </p:txBody>
      </p:sp>
      <p:sp>
        <p:nvSpPr>
          <p:cNvPr id="440" name="Google Shape;44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6" name="Google Shape;47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human goals, evidenced jointly. JV distinguishes jeevan's goal - happiness - from the human goal: resolution, prosperity, fearlessness, and coexistence. They map onto jeevan's harmonies across levels of existence: resolution and happiness at the individual level, prosperity and peace in the family, fearlessness and contentment in society, coexistence and bliss at the level of nature and existence. One honest note for the audience: this neat four-level table is a synthesis of separate statements in JV - the source does not present it as a single table. They are evidenced together when the justice cycle closes.</a:t>
            </a:r>
            <a:endParaRPr/>
          </a:p>
        </p:txBody>
      </p:sp>
      <p:sp>
        <p:nvSpPr>
          <p:cNvPr id="477" name="Google Shape;47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mechanisms. On the left, assembly composition: individual, family, community, undivided society. And establishing akhand samaj is TRANSMUTATION, not abolition - the texts do not call for destroying religions or parties. As members within a sect awaken, the same assembly reorganizes under humaneness; sect-based samaj becomes completeness-oriented sampradaya. On the right, the five dimensions of universal orderliness: education-sanskar, justice-security, health-restraint, production-work, exchange-reserve. Family is the first tier - kutumb shiksha is the micro-engine. The same body is sabha, a council, in deliberation, and parivar, a family, in implementation - scaling all the way up to a world-family council.</a:t>
            </a:r>
            <a:endParaRPr/>
          </a:p>
        </p:txBody>
      </p:sp>
      <p:sp>
        <p:nvSpPr>
          <p:cNvPr id="492" name="Google Shape;492;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useful way to summarize the contrast. The current, deluded engine: fear plus temptation drives accumulation, which drives conflict, which ends in destruction - that is why undivided society has not closed at scale historically. The proposed, awakening engine: understanding plus desire for happiness drives right-use, which drives fulfilment, which yields undivided society. Janvad - structured public dialogue - is what makes this contrast publicly accessible, posing the open question to humanity: live in undivided society and universal orderliness, or remain in fragmented structures?</a:t>
            </a:r>
            <a:endParaRPr/>
          </a:p>
        </p:txBody>
      </p:sp>
      <p:sp>
        <p:nvSpPr>
          <p:cNvPr id="533" name="Google Shape;53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 name="Google Shape;567;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Pulling it together. The exposition runs several ordered sequences, and they are not rivals - they are different views of one ascent. The delusionlessness ladder is the spine. The layers, the regulation ladder, the four progressions, and the three completeness transitions each read that same climb from a different angle, as this crosswalk shows. The deep structural claim: society is stabilized at sentient scale by inward mediative atma and the justice cycle closing in assemblies - exactly parallel to the mediative nucleus at the atomic scale. Satta stays actionless ground throughout; undivided society is what awakened humans EVIDENCE when the full chain closes.</a:t>
            </a:r>
            <a:endParaRPr/>
          </a:p>
        </p:txBody>
      </p:sp>
      <p:sp>
        <p:nvSpPr>
          <p:cNvPr id="568" name="Google Shape;568;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7" name="Google Shape;57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close: undivided society is not something satta delivers - it is what awakened humans evidence, together with universal orderliness. It is the inherent complementarity of the coexistence ground, un-blocked at the scale of humankind. Be candid about what remains open: what counts as sufficient evidence of the telos across diverse regions is not fully specified in the English translations; JVD and AVD are works in progress; and detailed statutory codification - dharma-niti and rajya-niti - is deferred to a separate governance study. Thank you.</a:t>
            </a:r>
            <a:endParaRPr/>
          </a:p>
        </p:txBody>
      </p:sp>
      <p:sp>
        <p:nvSpPr>
          <p:cNvPr id="578" name="Google Shape;57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42E"/>
        </a:solidFill>
      </p:bgPr>
    </p:bg>
    <p:spTree>
      <p:nvGrpSpPr>
        <p:cNvPr id="15" name="Shape 15"/>
        <p:cNvGrpSpPr/>
        <p:nvPr/>
      </p:nvGrpSpPr>
      <p:grpSpPr>
        <a:xfrm>
          <a:off x="0" y="0"/>
          <a:ext cx="0" cy="0"/>
          <a:chOff x="0" y="0"/>
          <a:chExt cx="0" cy="0"/>
        </a:xfrm>
      </p:grpSpPr>
      <p:sp>
        <p:nvSpPr>
          <p:cNvPr id="16" name="Google Shape;16;p3"/>
          <p:cNvSpPr/>
          <p:nvPr/>
        </p:nvSpPr>
        <p:spPr>
          <a:xfrm>
            <a:off x="9189720" y="1143000"/>
            <a:ext cx="365760" cy="2011680"/>
          </a:xfrm>
          <a:prstGeom prst="roundRect">
            <a:avLst>
              <a:gd fmla="val 15000" name="adj"/>
            </a:avLst>
          </a:prstGeom>
          <a:solidFill>
            <a:srgbClr val="2F5168"/>
          </a:solidFill>
          <a:ln cap="flat" cmpd="sng" w="9525">
            <a:solidFill>
              <a:srgbClr val="9DB4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9710928" y="1143000"/>
            <a:ext cx="365760" cy="2304288"/>
          </a:xfrm>
          <a:prstGeom prst="roundRect">
            <a:avLst>
              <a:gd fmla="val 15000" name="adj"/>
            </a:avLst>
          </a:prstGeom>
          <a:solidFill>
            <a:srgbClr val="2F4A32"/>
          </a:solidFill>
          <a:ln cap="flat" cmpd="sng" w="9525">
            <a:solidFill>
              <a:srgbClr val="A3B8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10232136" y="1143000"/>
            <a:ext cx="365760" cy="2596896"/>
          </a:xfrm>
          <a:prstGeom prst="roundRect">
            <a:avLst>
              <a:gd fmla="val 15000" name="adj"/>
            </a:avLst>
          </a:prstGeom>
          <a:solidFill>
            <a:srgbClr val="5A4228"/>
          </a:solidFill>
          <a:ln cap="flat" cmpd="sng" w="9525">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10753344" y="1143000"/>
            <a:ext cx="365760" cy="2889504"/>
          </a:xfrm>
          <a:prstGeom prst="roundRect">
            <a:avLst>
              <a:gd fmla="val 15000" name="adj"/>
            </a:avLst>
          </a:prstGeom>
          <a:solidFill>
            <a:srgbClr val="4A3868"/>
          </a:solidFill>
          <a:ln cap="flat" cmpd="sng" w="9525">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11274552" y="1143000"/>
            <a:ext cx="365760" cy="3182112"/>
          </a:xfrm>
          <a:prstGeom prst="roundRect">
            <a:avLst>
              <a:gd fmla="val 15000" name="adj"/>
            </a:avLst>
          </a:prstGeom>
          <a:solidFill>
            <a:srgbClr val="28543F"/>
          </a:solidFill>
          <a:ln cap="flat" cmpd="sng" w="9525">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822960" y="1051560"/>
            <a:ext cx="8046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DB4C2"/>
              </a:buClr>
              <a:buSzPts val="1400"/>
              <a:buFont typeface="Calibri"/>
              <a:buNone/>
            </a:pPr>
            <a:r>
              <a:rPr b="1" i="0" lang="en-US" sz="1400" u="none" cap="none" strike="noStrike">
                <a:solidFill>
                  <a:srgbClr val="9DB4C2"/>
                </a:solidFill>
                <a:latin typeface="Calibri"/>
                <a:ea typeface="Calibri"/>
                <a:cs typeface="Calibri"/>
                <a:sym typeface="Calibri"/>
              </a:rPr>
              <a:t>MADHYASTH DARSHAN  ·  AKHAND SAMAJ</a:t>
            </a:r>
            <a:endParaRPr b="0" i="0" sz="1400" u="none" cap="none" strike="noStrike">
              <a:solidFill>
                <a:schemeClr val="dk1"/>
              </a:solidFill>
              <a:latin typeface="Calibri"/>
              <a:ea typeface="Calibri"/>
              <a:cs typeface="Calibri"/>
              <a:sym typeface="Calibri"/>
            </a:endParaRPr>
          </a:p>
        </p:txBody>
      </p:sp>
      <p:sp>
        <p:nvSpPr>
          <p:cNvPr id="22" name="Google Shape;22;p3"/>
          <p:cNvSpPr/>
          <p:nvPr/>
        </p:nvSpPr>
        <p:spPr>
          <a:xfrm>
            <a:off x="777240" y="1554480"/>
            <a:ext cx="8138160" cy="2011680"/>
          </a:xfrm>
          <a:prstGeom prst="rect">
            <a:avLst/>
          </a:prstGeom>
          <a:noFill/>
          <a:ln>
            <a:noFill/>
          </a:ln>
        </p:spPr>
        <p:txBody>
          <a:bodyPr anchorCtr="0" anchor="ctr" bIns="0" lIns="0" spcFirstLastPara="1" rIns="0" wrap="square" tIns="0">
            <a:noAutofit/>
          </a:bodyPr>
          <a:lstStyle/>
          <a:p>
            <a:pPr indent="0" lvl="0" marL="0" marR="0" rtl="0" algn="l">
              <a:lnSpc>
                <a:spcPct val="98000"/>
              </a:lnSpc>
              <a:spcBef>
                <a:spcPts val="0"/>
              </a:spcBef>
              <a:spcAft>
                <a:spcPts val="0"/>
              </a:spcAft>
              <a:buClr>
                <a:srgbClr val="FFFFFF"/>
              </a:buClr>
              <a:buSzPts val="5000"/>
              <a:buFont typeface="Cambria"/>
              <a:buNone/>
            </a:pPr>
            <a:r>
              <a:rPr b="1" i="0" lang="en-US" sz="5000" u="none" cap="none" strike="noStrike">
                <a:solidFill>
                  <a:srgbClr val="FFFFFF"/>
                </a:solidFill>
                <a:latin typeface="Cambria"/>
                <a:ea typeface="Cambria"/>
                <a:cs typeface="Cambria"/>
                <a:sym typeface="Cambria"/>
              </a:rPr>
              <a:t>How Undivided Society</a:t>
            </a:r>
            <a:endParaRPr b="0" i="0" sz="50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FFFFFF"/>
              </a:buClr>
              <a:buSzPts val="5000"/>
              <a:buFont typeface="Cambria"/>
              <a:buNone/>
            </a:pPr>
            <a:r>
              <a:rPr b="1" i="0" lang="en-US" sz="5000" u="none" cap="none" strike="noStrike">
                <a:solidFill>
                  <a:srgbClr val="FFFFFF"/>
                </a:solidFill>
                <a:latin typeface="Cambria"/>
                <a:ea typeface="Cambria"/>
                <a:cs typeface="Cambria"/>
                <a:sym typeface="Cambria"/>
              </a:rPr>
              <a:t>Is Established</a:t>
            </a:r>
            <a:endParaRPr b="0" i="0" sz="5000" u="none" cap="none" strike="noStrike">
              <a:solidFill>
                <a:schemeClr val="dk1"/>
              </a:solidFill>
              <a:latin typeface="Calibri"/>
              <a:ea typeface="Calibri"/>
              <a:cs typeface="Calibri"/>
              <a:sym typeface="Calibri"/>
            </a:endParaRPr>
          </a:p>
        </p:txBody>
      </p:sp>
      <p:sp>
        <p:nvSpPr>
          <p:cNvPr id="23" name="Google Shape;23;p3"/>
          <p:cNvSpPr/>
          <p:nvPr/>
        </p:nvSpPr>
        <p:spPr>
          <a:xfrm>
            <a:off x="822960" y="5532120"/>
            <a:ext cx="8778240" cy="9144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9D6DF"/>
              </a:buClr>
              <a:buSzPts val="1500"/>
              <a:buFont typeface="Calibri"/>
              <a:buNone/>
            </a:pPr>
            <a:r>
              <a:rPr b="0" i="0" lang="en-US" sz="1500" u="none" cap="none" strike="noStrike">
                <a:solidFill>
                  <a:srgbClr val="C9D6DF"/>
                </a:solidFill>
                <a:latin typeface="Calibri"/>
                <a:ea typeface="Calibri"/>
                <a:cs typeface="Calibri"/>
                <a:sym typeface="Calibri"/>
              </a:rPr>
              <a:t>A consolidated architectural account — one connected chain from coexistence, through awakening, to social evidence — drawn from the primary works of Shri A. Nagraj.</a:t>
            </a:r>
            <a:endParaRPr b="0" i="0" sz="1500" u="none" cap="none" strike="noStrike">
              <a:solidFill>
                <a:schemeClr val="dk1"/>
              </a:solidFill>
              <a:latin typeface="Calibri"/>
              <a:ea typeface="Calibri"/>
              <a:cs typeface="Calibri"/>
              <a:sym typeface="Calibri"/>
            </a:endParaRPr>
          </a:p>
        </p:txBody>
      </p:sp>
      <p:sp>
        <p:nvSpPr>
          <p:cNvPr id="24" name="Google Shape;24;p3"/>
          <p:cNvSpPr/>
          <p:nvPr/>
        </p:nvSpPr>
        <p:spPr>
          <a:xfrm>
            <a:off x="822960" y="6355080"/>
            <a:ext cx="7315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94A2"/>
              </a:buClr>
              <a:buSzPts val="1200"/>
              <a:buFont typeface="Calibri"/>
              <a:buNone/>
            </a:pPr>
            <a:r>
              <a:rPr b="1" i="0" lang="en-US" sz="1200" u="none" cap="none" strike="noStrike">
                <a:solidFill>
                  <a:srgbClr val="7E94A2"/>
                </a:solidFill>
                <a:latin typeface="Calibri"/>
                <a:ea typeface="Calibri"/>
                <a:cs typeface="Calibri"/>
                <a:sym typeface="Calibri"/>
              </a:rPr>
              <a:t>AnalyticMadhyasthDarshan.org</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 name="Shape 29"/>
        <p:cNvGrpSpPr/>
        <p:nvPr/>
      </p:nvGrpSpPr>
      <p:grpSpPr>
        <a:xfrm>
          <a:off x="0" y="0"/>
          <a:ext cx="0" cy="0"/>
          <a:chOff x="0" y="0"/>
          <a:chExt cx="0" cy="0"/>
        </a:xfrm>
      </p:grpSpPr>
      <p:sp>
        <p:nvSpPr>
          <p:cNvPr id="30" name="Google Shape;30;p4"/>
          <p:cNvSpPr/>
          <p:nvPr/>
        </p:nvSpPr>
        <p:spPr>
          <a:xfrm>
            <a:off x="548640" y="475488"/>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THE STARTING POINT</a:t>
            </a:r>
            <a:endParaRPr b="0" i="0" sz="1250" u="none" cap="none" strike="noStrike">
              <a:solidFill>
                <a:schemeClr val="dk1"/>
              </a:solidFill>
              <a:latin typeface="Calibri"/>
              <a:ea typeface="Calibri"/>
              <a:cs typeface="Calibri"/>
              <a:sym typeface="Calibri"/>
            </a:endParaRPr>
          </a:p>
        </p:txBody>
      </p:sp>
      <p:sp>
        <p:nvSpPr>
          <p:cNvPr id="31" name="Google Shape;31;p4"/>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3100"/>
              <a:buFont typeface="Cambria"/>
              <a:buNone/>
            </a:pPr>
            <a:r>
              <a:rPr b="1" i="0" lang="en-US" sz="3100" u="none" cap="none" strike="noStrike">
                <a:solidFill>
                  <a:srgbClr val="1F2D3A"/>
                </a:solidFill>
                <a:latin typeface="Cambria"/>
                <a:ea typeface="Cambria"/>
                <a:cs typeface="Cambria"/>
                <a:sym typeface="Cambria"/>
              </a:rPr>
              <a:t>The human problem — and the path out</a:t>
            </a:r>
            <a:endParaRPr b="0" i="0" sz="3100" u="none" cap="none" strike="noStrike">
              <a:solidFill>
                <a:schemeClr val="dk1"/>
              </a:solidFill>
              <a:latin typeface="Calibri"/>
              <a:ea typeface="Calibri"/>
              <a:cs typeface="Calibri"/>
              <a:sym typeface="Calibri"/>
            </a:endParaRPr>
          </a:p>
        </p:txBody>
      </p:sp>
      <p:sp>
        <p:nvSpPr>
          <p:cNvPr id="32" name="Google Shape;32;p4"/>
          <p:cNvSpPr/>
          <p:nvPr/>
        </p:nvSpPr>
        <p:spPr>
          <a:xfrm>
            <a:off x="548640" y="1783080"/>
            <a:ext cx="5852160" cy="210312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1F2D3A"/>
              </a:buClr>
              <a:buSzPts val="1500"/>
              <a:buFont typeface="Calibri"/>
              <a:buNone/>
            </a:pPr>
            <a:r>
              <a:rPr b="0" i="0" lang="en-US" sz="1500" u="none" cap="none" strike="noStrike">
                <a:solidFill>
                  <a:srgbClr val="1F2D3A"/>
                </a:solidFill>
                <a:latin typeface="Calibri"/>
                <a:ea typeface="Calibri"/>
                <a:cs typeface="Calibri"/>
                <a:sym typeface="Calibri"/>
              </a:rPr>
              <a:t>Humans live in fear, conflict, and defensive groupings because they mistake the body for the self. Under that delusion, evaluation organises around pleasure, profit, and accumulation — producing sectarian identity, exploitation, and recurring confrontation even when most people want neither war nor disorder.</a:t>
            </a:r>
            <a:endParaRPr b="0" i="0" sz="1500" u="none" cap="none" strike="noStrike">
              <a:solidFill>
                <a:schemeClr val="dk1"/>
              </a:solidFill>
              <a:latin typeface="Calibri"/>
              <a:ea typeface="Calibri"/>
              <a:cs typeface="Calibri"/>
              <a:sym typeface="Calibri"/>
            </a:endParaRPr>
          </a:p>
        </p:txBody>
      </p:sp>
      <p:sp>
        <p:nvSpPr>
          <p:cNvPr id="33" name="Google Shape;33;p4"/>
          <p:cNvSpPr/>
          <p:nvPr/>
        </p:nvSpPr>
        <p:spPr>
          <a:xfrm>
            <a:off x="548640" y="3977640"/>
            <a:ext cx="5852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8"/>
              </a:buClr>
              <a:buSzPts val="1450"/>
              <a:buFont typeface="Calibri"/>
              <a:buNone/>
            </a:pPr>
            <a:r>
              <a:rPr b="0" i="0" lang="en-US" sz="1450" u="none" cap="none" strike="noStrike">
                <a:solidFill>
                  <a:srgbClr val="5A6B78"/>
                </a:solidFill>
                <a:latin typeface="Calibri"/>
                <a:ea typeface="Calibri"/>
                <a:cs typeface="Calibri"/>
                <a:sym typeface="Calibri"/>
              </a:rPr>
              <a:t>The path runs in one direction:  </a:t>
            </a:r>
            <a:endParaRPr b="0" i="0" sz="1450" u="none" cap="none" strike="noStrike">
              <a:solidFill>
                <a:schemeClr val="dk1"/>
              </a:solidFill>
              <a:latin typeface="Calibri"/>
              <a:ea typeface="Calibri"/>
              <a:cs typeface="Calibri"/>
              <a:sym typeface="Calibri"/>
            </a:endParaRPr>
          </a:p>
        </p:txBody>
      </p:sp>
      <p:sp>
        <p:nvSpPr>
          <p:cNvPr id="34" name="Google Shape;34;p4"/>
          <p:cNvSpPr/>
          <p:nvPr/>
        </p:nvSpPr>
        <p:spPr>
          <a:xfrm>
            <a:off x="548640" y="4389120"/>
            <a:ext cx="1691640" cy="914400"/>
          </a:xfrm>
          <a:prstGeom prst="roundRect">
            <a:avLst>
              <a:gd fmla="val 8000" name="adj"/>
            </a:avLst>
          </a:prstGeom>
          <a:solidFill>
            <a:srgbClr val="EDE8F4"/>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548640" y="4389120"/>
            <a:ext cx="1691640" cy="91440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Individual</a:t>
            </a:r>
            <a:endParaRPr b="0" i="0" sz="1250" u="none" cap="none" strike="noStrike">
              <a:solidFill>
                <a:schemeClr val="dk1"/>
              </a:solidFill>
              <a:latin typeface="Calibri"/>
              <a:ea typeface="Calibri"/>
              <a:cs typeface="Calibri"/>
              <a:sym typeface="Calibri"/>
            </a:endParaRPr>
          </a:p>
          <a:p>
            <a:pPr indent="0" lvl="0" marL="0" marR="0" rtl="0" algn="ctr">
              <a:lnSpc>
                <a:spcPct val="95000"/>
              </a:lnSpc>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awakening</a:t>
            </a:r>
            <a:endParaRPr b="0" i="0" sz="1250" u="none" cap="none" strike="noStrike">
              <a:solidFill>
                <a:schemeClr val="dk1"/>
              </a:solidFill>
              <a:latin typeface="Calibri"/>
              <a:ea typeface="Calibri"/>
              <a:cs typeface="Calibri"/>
              <a:sym typeface="Calibri"/>
            </a:endParaRPr>
          </a:p>
        </p:txBody>
      </p:sp>
      <p:sp>
        <p:nvSpPr>
          <p:cNvPr id="36" name="Google Shape;36;p4"/>
          <p:cNvSpPr/>
          <p:nvPr/>
        </p:nvSpPr>
        <p:spPr>
          <a:xfrm>
            <a:off x="2185416" y="4389120"/>
            <a:ext cx="3657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200"/>
              <a:buFont typeface="Cambria"/>
              <a:buNone/>
            </a:pPr>
            <a:r>
              <a:rPr b="0" i="0" lang="en-US" sz="2200" u="none" cap="none" strike="noStrike">
                <a:solidFill>
                  <a:srgbClr val="5A6B78"/>
                </a:solidFill>
                <a:latin typeface="Cambria"/>
                <a:ea typeface="Cambria"/>
                <a:cs typeface="Cambria"/>
                <a:sym typeface="Cambria"/>
              </a:rPr>
              <a:t>→</a:t>
            </a:r>
            <a:endParaRPr b="0" i="0" sz="2200" u="none" cap="none" strike="noStrike">
              <a:solidFill>
                <a:schemeClr val="dk1"/>
              </a:solidFill>
              <a:latin typeface="Calibri"/>
              <a:ea typeface="Calibri"/>
              <a:cs typeface="Calibri"/>
              <a:sym typeface="Calibri"/>
            </a:endParaRPr>
          </a:p>
        </p:txBody>
      </p:sp>
      <p:sp>
        <p:nvSpPr>
          <p:cNvPr id="37" name="Google Shape;37;p4"/>
          <p:cNvSpPr/>
          <p:nvPr/>
        </p:nvSpPr>
        <p:spPr>
          <a:xfrm>
            <a:off x="2551176" y="4389120"/>
            <a:ext cx="1691640" cy="914400"/>
          </a:xfrm>
          <a:prstGeom prst="roundRect">
            <a:avLst>
              <a:gd fmla="val 8000" name="adj"/>
            </a:avLst>
          </a:prstGeom>
          <a:solidFill>
            <a:srgbClr val="EDE8F4"/>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2551176" y="4389120"/>
            <a:ext cx="1691640" cy="91440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Family</a:t>
            </a:r>
            <a:endParaRPr b="0" i="0" sz="1250" u="none" cap="none" strike="noStrike">
              <a:solidFill>
                <a:schemeClr val="dk1"/>
              </a:solidFill>
              <a:latin typeface="Calibri"/>
              <a:ea typeface="Calibri"/>
              <a:cs typeface="Calibri"/>
              <a:sym typeface="Calibri"/>
            </a:endParaRPr>
          </a:p>
          <a:p>
            <a:pPr indent="0" lvl="0" marL="0" marR="0" rtl="0" algn="ctr">
              <a:lnSpc>
                <a:spcPct val="95000"/>
              </a:lnSpc>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order</a:t>
            </a:r>
            <a:endParaRPr b="0" i="0" sz="1250" u="none" cap="none" strike="noStrike">
              <a:solidFill>
                <a:schemeClr val="dk1"/>
              </a:solidFill>
              <a:latin typeface="Calibri"/>
              <a:ea typeface="Calibri"/>
              <a:cs typeface="Calibri"/>
              <a:sym typeface="Calibri"/>
            </a:endParaRPr>
          </a:p>
        </p:txBody>
      </p:sp>
      <p:sp>
        <p:nvSpPr>
          <p:cNvPr id="39" name="Google Shape;39;p4"/>
          <p:cNvSpPr/>
          <p:nvPr/>
        </p:nvSpPr>
        <p:spPr>
          <a:xfrm>
            <a:off x="4187952" y="4389120"/>
            <a:ext cx="3657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200"/>
              <a:buFont typeface="Cambria"/>
              <a:buNone/>
            </a:pPr>
            <a:r>
              <a:rPr b="0" i="0" lang="en-US" sz="2200" u="none" cap="none" strike="noStrike">
                <a:solidFill>
                  <a:srgbClr val="5A6B78"/>
                </a:solidFill>
                <a:latin typeface="Cambria"/>
                <a:ea typeface="Cambria"/>
                <a:cs typeface="Cambria"/>
                <a:sym typeface="Cambria"/>
              </a:rPr>
              <a:t>→</a:t>
            </a:r>
            <a:endParaRPr b="0" i="0" sz="2200" u="none" cap="none" strike="noStrike">
              <a:solidFill>
                <a:schemeClr val="dk1"/>
              </a:solidFill>
              <a:latin typeface="Calibri"/>
              <a:ea typeface="Calibri"/>
              <a:cs typeface="Calibri"/>
              <a:sym typeface="Calibri"/>
            </a:endParaRPr>
          </a:p>
        </p:txBody>
      </p:sp>
      <p:sp>
        <p:nvSpPr>
          <p:cNvPr id="40" name="Google Shape;40;p4"/>
          <p:cNvSpPr/>
          <p:nvPr/>
        </p:nvSpPr>
        <p:spPr>
          <a:xfrm>
            <a:off x="4553712" y="4389120"/>
            <a:ext cx="1691640" cy="914400"/>
          </a:xfrm>
          <a:prstGeom prst="roundRect">
            <a:avLst>
              <a:gd fmla="val 8000" name="adj"/>
            </a:avLst>
          </a:prstGeom>
          <a:solidFill>
            <a:srgbClr val="EDE8F4"/>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p:nvPr/>
        </p:nvSpPr>
        <p:spPr>
          <a:xfrm>
            <a:off x="4553712" y="4389120"/>
            <a:ext cx="1691640" cy="91440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Universal</a:t>
            </a:r>
            <a:endParaRPr b="0" i="0" sz="1250" u="none" cap="none" strike="noStrike">
              <a:solidFill>
                <a:schemeClr val="dk1"/>
              </a:solidFill>
              <a:latin typeface="Calibri"/>
              <a:ea typeface="Calibri"/>
              <a:cs typeface="Calibri"/>
              <a:sym typeface="Calibri"/>
            </a:endParaRPr>
          </a:p>
          <a:p>
            <a:pPr indent="0" lvl="0" marL="0" marR="0" rtl="0" algn="ctr">
              <a:lnSpc>
                <a:spcPct val="95000"/>
              </a:lnSpc>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orderliness</a:t>
            </a:r>
            <a:endParaRPr b="0" i="0" sz="1250" u="none" cap="none" strike="noStrike">
              <a:solidFill>
                <a:schemeClr val="dk1"/>
              </a:solidFill>
              <a:latin typeface="Calibri"/>
              <a:ea typeface="Calibri"/>
              <a:cs typeface="Calibri"/>
              <a:sym typeface="Calibri"/>
            </a:endParaRPr>
          </a:p>
        </p:txBody>
      </p:sp>
      <p:sp>
        <p:nvSpPr>
          <p:cNvPr id="42" name="Google Shape;42;p4"/>
          <p:cNvSpPr/>
          <p:nvPr/>
        </p:nvSpPr>
        <p:spPr>
          <a:xfrm>
            <a:off x="6720840" y="1783080"/>
            <a:ext cx="4892040" cy="3566160"/>
          </a:xfrm>
          <a:prstGeom prst="roundRect">
            <a:avLst>
              <a:gd fmla="val 2051" name="adj"/>
            </a:avLst>
          </a:prstGeom>
          <a:solidFill>
            <a:srgbClr val="F6F8FA"/>
          </a:solidFill>
          <a:ln cap="flat" cmpd="sng" w="12700">
            <a:solidFill>
              <a:srgbClr val="2F516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6766560" y="176479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4800"/>
              <a:buFont typeface="Cambria"/>
              <a:buNone/>
            </a:pPr>
            <a:r>
              <a:rPr b="1" i="0" lang="en-US" sz="4800" u="none" cap="none" strike="noStrike">
                <a:solidFill>
                  <a:srgbClr val="2F5168"/>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44" name="Google Shape;44;p4"/>
          <p:cNvSpPr/>
          <p:nvPr/>
        </p:nvSpPr>
        <p:spPr>
          <a:xfrm>
            <a:off x="7223760" y="1947672"/>
            <a:ext cx="4114800" cy="323697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Realising coexistence closes the knowledge-order gate. When awakened humans evidence completeness in activity and conduct, undivided society and universal orderliness become livable tradition rather than aspiration alone.</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2F5168"/>
              </a:buClr>
              <a:buSzPts val="1150"/>
              <a:buFont typeface="Calibri"/>
              <a:buNone/>
            </a:pPr>
            <a:r>
              <a:rPr b="1" i="0" lang="en-US" sz="1150" u="none" cap="none" strike="noStrike">
                <a:solidFill>
                  <a:srgbClr val="2F5168"/>
                </a:solidFill>
                <a:latin typeface="Calibri"/>
                <a:ea typeface="Calibri"/>
                <a:cs typeface="Calibri"/>
                <a:sym typeface="Calibri"/>
              </a:rPr>
              <a:t>— Synthesis of JVD pp. 16–18; MVD Ch. 4</a:t>
            </a:r>
            <a:endParaRPr b="0" i="0" sz="14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F5168"/>
        </a:solidFill>
      </p:bgPr>
    </p:bg>
    <p:spTree>
      <p:nvGrpSpPr>
        <p:cNvPr id="49" name="Shape 49"/>
        <p:cNvGrpSpPr/>
        <p:nvPr/>
      </p:nvGrpSpPr>
      <p:grpSpPr>
        <a:xfrm>
          <a:off x="0" y="0"/>
          <a:ext cx="0" cy="0"/>
          <a:chOff x="0" y="0"/>
          <a:chExt cx="0" cy="0"/>
        </a:xfrm>
      </p:grpSpPr>
      <p:sp>
        <p:nvSpPr>
          <p:cNvPr id="50" name="Google Shape;50;p5"/>
          <p:cNvSpPr/>
          <p:nvPr/>
        </p:nvSpPr>
        <p:spPr>
          <a:xfrm>
            <a:off x="548640" y="475488"/>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THE CENTRAL CLAIM</a:t>
            </a:r>
            <a:endParaRPr b="0" i="0" sz="1250" u="none" cap="none" strike="noStrike">
              <a:solidFill>
                <a:schemeClr val="dk1"/>
              </a:solidFill>
              <a:latin typeface="Calibri"/>
              <a:ea typeface="Calibri"/>
              <a:cs typeface="Calibri"/>
              <a:sym typeface="Calibri"/>
            </a:endParaRPr>
          </a:p>
        </p:txBody>
      </p:sp>
      <p:sp>
        <p:nvSpPr>
          <p:cNvPr id="51" name="Google Shape;51;p5"/>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100"/>
              <a:buFont typeface="Cambria"/>
              <a:buNone/>
            </a:pPr>
            <a:r>
              <a:rPr b="1" i="0" lang="en-US" sz="3100" u="none" cap="none" strike="noStrike">
                <a:solidFill>
                  <a:srgbClr val="FFFFFF"/>
                </a:solidFill>
                <a:latin typeface="Cambria"/>
                <a:ea typeface="Cambria"/>
                <a:cs typeface="Cambria"/>
                <a:sym typeface="Cambria"/>
              </a:rPr>
              <a:t>Not utopia — an achieved telos</a:t>
            </a:r>
            <a:endParaRPr b="0" i="0" sz="3100" u="none" cap="none" strike="noStrike">
              <a:solidFill>
                <a:schemeClr val="dk1"/>
              </a:solidFill>
              <a:latin typeface="Calibri"/>
              <a:ea typeface="Calibri"/>
              <a:cs typeface="Calibri"/>
              <a:sym typeface="Calibri"/>
            </a:endParaRPr>
          </a:p>
        </p:txBody>
      </p:sp>
      <p:sp>
        <p:nvSpPr>
          <p:cNvPr id="52" name="Google Shape;52;p5"/>
          <p:cNvSpPr/>
          <p:nvPr/>
        </p:nvSpPr>
        <p:spPr>
          <a:xfrm>
            <a:off x="548640" y="1783080"/>
            <a:ext cx="10972800" cy="109728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D8E4EC"/>
              </a:buClr>
              <a:buSzPts val="1600"/>
              <a:buFont typeface="Calibri"/>
              <a:buNone/>
            </a:pPr>
            <a:r>
              <a:rPr b="0" i="0" lang="en-US" sz="1600" u="none" cap="none" strike="noStrike">
                <a:solidFill>
                  <a:srgbClr val="D8E4EC"/>
                </a:solidFill>
                <a:latin typeface="Calibri"/>
                <a:ea typeface="Calibri"/>
                <a:cs typeface="Calibri"/>
                <a:sym typeface="Calibri"/>
              </a:rPr>
              <a:t>Akhand samaj is not an automatic scale-up of physical regulation, nor a harmony engineered onto a competitive substrate. It is achieved at the knowledge order — paired with universal orderliness — when awakened humans close the justice cycle.</a:t>
            </a:r>
            <a:endParaRPr b="0" i="0" sz="1600" u="none" cap="none" strike="noStrike">
              <a:solidFill>
                <a:schemeClr val="dk1"/>
              </a:solidFill>
              <a:latin typeface="Calibri"/>
              <a:ea typeface="Calibri"/>
              <a:cs typeface="Calibri"/>
              <a:sym typeface="Calibri"/>
            </a:endParaRPr>
          </a:p>
        </p:txBody>
      </p:sp>
      <p:sp>
        <p:nvSpPr>
          <p:cNvPr id="53" name="Google Shape;53;p5"/>
          <p:cNvSpPr/>
          <p:nvPr/>
        </p:nvSpPr>
        <p:spPr>
          <a:xfrm>
            <a:off x="548640" y="3154680"/>
            <a:ext cx="3566160" cy="2926080"/>
          </a:xfrm>
          <a:prstGeom prst="roundRect">
            <a:avLst>
              <a:gd fmla="val 2500" name="adj"/>
            </a:avLst>
          </a:prstGeom>
          <a:solidFill>
            <a:srgbClr val="27465C"/>
          </a:solidFill>
          <a:ln cap="flat" cmpd="sng" w="12700">
            <a:solidFill>
              <a:srgbClr val="4A62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5"/>
          <p:cNvSpPr/>
          <p:nvPr/>
        </p:nvSpPr>
        <p:spPr>
          <a:xfrm>
            <a:off x="841248" y="3429000"/>
            <a:ext cx="2980944" cy="9144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FFFFFF"/>
              </a:buClr>
              <a:buSzPts val="1800"/>
              <a:buFont typeface="Cambria"/>
              <a:buNone/>
            </a:pPr>
            <a:r>
              <a:rPr b="1" i="0" lang="en-US" sz="1800" u="none" cap="none" strike="noStrike">
                <a:solidFill>
                  <a:srgbClr val="FFFFFF"/>
                </a:solidFill>
                <a:latin typeface="Cambria"/>
                <a:ea typeface="Cambria"/>
                <a:cs typeface="Cambria"/>
                <a:sym typeface="Cambria"/>
              </a:rPr>
              <a:t>Nature is inherently complementary</a:t>
            </a:r>
            <a:endParaRPr b="0" i="0" sz="1800" u="none" cap="none" strike="noStrike">
              <a:solidFill>
                <a:schemeClr val="dk1"/>
              </a:solidFill>
              <a:latin typeface="Calibri"/>
              <a:ea typeface="Calibri"/>
              <a:cs typeface="Calibri"/>
              <a:sym typeface="Calibri"/>
            </a:endParaRPr>
          </a:p>
        </p:txBody>
      </p:sp>
      <p:sp>
        <p:nvSpPr>
          <p:cNvPr id="55" name="Google Shape;55;p5"/>
          <p:cNvSpPr/>
          <p:nvPr/>
        </p:nvSpPr>
        <p:spPr>
          <a:xfrm>
            <a:off x="841248" y="4434840"/>
            <a:ext cx="2980944" cy="146304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C9D6DF"/>
              </a:buClr>
              <a:buSzPts val="1350"/>
              <a:buFont typeface="Calibri"/>
              <a:buNone/>
            </a:pPr>
            <a:r>
              <a:rPr b="0" i="0" lang="en-US" sz="1350" u="none" cap="none" strike="noStrike">
                <a:solidFill>
                  <a:srgbClr val="C9D6DF"/>
                </a:solidFill>
                <a:latin typeface="Calibri"/>
                <a:ea typeface="Calibri"/>
                <a:cs typeface="Calibri"/>
                <a:sym typeface="Calibri"/>
              </a:rPr>
              <a:t>Division is the aberration of a blocked design — not the baseline. Complementarity is already present at every order.</a:t>
            </a:r>
            <a:endParaRPr b="0" i="0" sz="1350" u="none" cap="none" strike="noStrike">
              <a:solidFill>
                <a:schemeClr val="dk1"/>
              </a:solidFill>
              <a:latin typeface="Calibri"/>
              <a:ea typeface="Calibri"/>
              <a:cs typeface="Calibri"/>
              <a:sym typeface="Calibri"/>
            </a:endParaRPr>
          </a:p>
        </p:txBody>
      </p:sp>
      <p:sp>
        <p:nvSpPr>
          <p:cNvPr id="56" name="Google Shape;56;p5"/>
          <p:cNvSpPr/>
          <p:nvPr/>
        </p:nvSpPr>
        <p:spPr>
          <a:xfrm>
            <a:off x="4361688" y="3154680"/>
            <a:ext cx="3566160" cy="2926080"/>
          </a:xfrm>
          <a:prstGeom prst="roundRect">
            <a:avLst>
              <a:gd fmla="val 2500" name="adj"/>
            </a:avLst>
          </a:prstGeom>
          <a:solidFill>
            <a:srgbClr val="27465C"/>
          </a:solidFill>
          <a:ln cap="flat" cmpd="sng" w="12700">
            <a:solidFill>
              <a:srgbClr val="4A62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5"/>
          <p:cNvSpPr/>
          <p:nvPr/>
        </p:nvSpPr>
        <p:spPr>
          <a:xfrm>
            <a:off x="4654296" y="3429000"/>
            <a:ext cx="2980944" cy="9144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FFFFFF"/>
              </a:buClr>
              <a:buSzPts val="1800"/>
              <a:buFont typeface="Cambria"/>
              <a:buNone/>
            </a:pPr>
            <a:r>
              <a:rPr b="1" i="0" lang="en-US" sz="1800" u="none" cap="none" strike="noStrike">
                <a:solidFill>
                  <a:srgbClr val="FFFFFF"/>
                </a:solidFill>
                <a:latin typeface="Cambria"/>
                <a:ea typeface="Cambria"/>
                <a:cs typeface="Cambria"/>
                <a:sym typeface="Cambria"/>
              </a:rPr>
              <a:t>Establishment = un-blocking</a:t>
            </a:r>
            <a:endParaRPr b="0" i="0" sz="1800" u="none" cap="none" strike="noStrike">
              <a:solidFill>
                <a:schemeClr val="dk1"/>
              </a:solidFill>
              <a:latin typeface="Calibri"/>
              <a:ea typeface="Calibri"/>
              <a:cs typeface="Calibri"/>
              <a:sym typeface="Calibri"/>
            </a:endParaRPr>
          </a:p>
        </p:txBody>
      </p:sp>
      <p:sp>
        <p:nvSpPr>
          <p:cNvPr id="58" name="Google Shape;58;p5"/>
          <p:cNvSpPr/>
          <p:nvPr/>
        </p:nvSpPr>
        <p:spPr>
          <a:xfrm>
            <a:off x="4654296" y="4434840"/>
            <a:ext cx="2980944" cy="146304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C9D6DF"/>
              </a:buClr>
              <a:buSzPts val="1350"/>
              <a:buFont typeface="Calibri"/>
              <a:buNone/>
            </a:pPr>
            <a:r>
              <a:rPr b="0" i="0" lang="en-US" sz="1350" u="none" cap="none" strike="noStrike">
                <a:solidFill>
                  <a:srgbClr val="C9D6DF"/>
                </a:solidFill>
                <a:latin typeface="Calibri"/>
                <a:ea typeface="Calibri"/>
                <a:cs typeface="Calibri"/>
                <a:sym typeface="Calibri"/>
              </a:rPr>
              <a:t>Building undivided society means un-blocking a complementarity that already exists, not forcing order onto chaos.</a:t>
            </a:r>
            <a:endParaRPr b="0" i="0" sz="1350" u="none" cap="none" strike="noStrike">
              <a:solidFill>
                <a:schemeClr val="dk1"/>
              </a:solidFill>
              <a:latin typeface="Calibri"/>
              <a:ea typeface="Calibri"/>
              <a:cs typeface="Calibri"/>
              <a:sym typeface="Calibri"/>
            </a:endParaRPr>
          </a:p>
        </p:txBody>
      </p:sp>
      <p:sp>
        <p:nvSpPr>
          <p:cNvPr id="59" name="Google Shape;59;p5"/>
          <p:cNvSpPr/>
          <p:nvPr/>
        </p:nvSpPr>
        <p:spPr>
          <a:xfrm>
            <a:off x="8174736" y="3154680"/>
            <a:ext cx="3566160" cy="2926080"/>
          </a:xfrm>
          <a:prstGeom prst="roundRect">
            <a:avLst>
              <a:gd fmla="val 2500" name="adj"/>
            </a:avLst>
          </a:prstGeom>
          <a:solidFill>
            <a:srgbClr val="27465C"/>
          </a:solidFill>
          <a:ln cap="flat" cmpd="sng" w="12700">
            <a:solidFill>
              <a:srgbClr val="4A627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8467344" y="3429000"/>
            <a:ext cx="2980944" cy="9144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FFFFFF"/>
              </a:buClr>
              <a:buSzPts val="1800"/>
              <a:buFont typeface="Cambria"/>
              <a:buNone/>
            </a:pPr>
            <a:r>
              <a:rPr b="1" i="0" lang="en-US" sz="1800" u="none" cap="none" strike="noStrike">
                <a:solidFill>
                  <a:srgbClr val="FFFFFF"/>
                </a:solidFill>
                <a:latin typeface="Cambria"/>
                <a:ea typeface="Cambria"/>
                <a:cs typeface="Cambria"/>
                <a:sym typeface="Cambria"/>
              </a:rPr>
              <a:t>Reachable, not utopian</a:t>
            </a:r>
            <a:endParaRPr b="0" i="0" sz="1800" u="none" cap="none" strike="noStrike">
              <a:solidFill>
                <a:schemeClr val="dk1"/>
              </a:solidFill>
              <a:latin typeface="Calibri"/>
              <a:ea typeface="Calibri"/>
              <a:cs typeface="Calibri"/>
              <a:sym typeface="Calibri"/>
            </a:endParaRPr>
          </a:p>
        </p:txBody>
      </p:sp>
      <p:sp>
        <p:nvSpPr>
          <p:cNvPr id="61" name="Google Shape;61;p5"/>
          <p:cNvSpPr/>
          <p:nvPr/>
        </p:nvSpPr>
        <p:spPr>
          <a:xfrm>
            <a:off x="8467344" y="4434840"/>
            <a:ext cx="2980944" cy="146304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C9D6DF"/>
              </a:buClr>
              <a:buSzPts val="1350"/>
              <a:buFont typeface="Calibri"/>
              <a:buNone/>
            </a:pPr>
            <a:r>
              <a:rPr b="0" i="0" lang="en-US" sz="1350" u="none" cap="none" strike="noStrike">
                <a:solidFill>
                  <a:srgbClr val="C9D6DF"/>
                </a:solidFill>
                <a:latin typeface="Calibri"/>
                <a:ea typeface="Calibri"/>
                <a:cs typeface="Calibri"/>
                <a:sym typeface="Calibri"/>
              </a:rPr>
              <a:t>Because the design is complementary at root, the telos is achievable — the same design runs from atoms to humankind.</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 name="Shape 66"/>
        <p:cNvGrpSpPr/>
        <p:nvPr/>
      </p:nvGrpSpPr>
      <p:grpSpPr>
        <a:xfrm>
          <a:off x="0" y="0"/>
          <a:ext cx="0" cy="0"/>
          <a:chOff x="0" y="0"/>
          <a:chExt cx="0" cy="0"/>
        </a:xfrm>
      </p:grpSpPr>
      <p:sp>
        <p:nvSpPr>
          <p:cNvPr id="67" name="Google Shape;67;p6"/>
          <p:cNvSpPr/>
          <p:nvPr/>
        </p:nvSpPr>
        <p:spPr>
          <a:xfrm>
            <a:off x="548640" y="475488"/>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THE WHOLE IN ONE VIEW</a:t>
            </a:r>
            <a:endParaRPr b="0" i="0" sz="1250" u="none" cap="none" strike="noStrike">
              <a:solidFill>
                <a:schemeClr val="dk1"/>
              </a:solidFill>
              <a:latin typeface="Calibri"/>
              <a:ea typeface="Calibri"/>
              <a:cs typeface="Calibri"/>
              <a:sym typeface="Calibri"/>
            </a:endParaRPr>
          </a:p>
        </p:txBody>
      </p:sp>
      <p:sp>
        <p:nvSpPr>
          <p:cNvPr id="68" name="Google Shape;68;p6"/>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3100"/>
              <a:buFont typeface="Cambria"/>
              <a:buNone/>
            </a:pPr>
            <a:r>
              <a:rPr b="1" i="0" lang="en-US" sz="3100" u="none" cap="none" strike="noStrike">
                <a:solidFill>
                  <a:srgbClr val="1F2D3A"/>
                </a:solidFill>
                <a:latin typeface="Cambria"/>
                <a:ea typeface="Cambria"/>
                <a:cs typeface="Cambria"/>
                <a:sym typeface="Cambria"/>
              </a:rPr>
              <a:t>Five layers and a telos</a:t>
            </a:r>
            <a:endParaRPr b="0" i="0" sz="3100" u="none" cap="none" strike="noStrike">
              <a:solidFill>
                <a:schemeClr val="dk1"/>
              </a:solidFill>
              <a:latin typeface="Calibri"/>
              <a:ea typeface="Calibri"/>
              <a:cs typeface="Calibri"/>
              <a:sym typeface="Calibri"/>
            </a:endParaRPr>
          </a:p>
        </p:txBody>
      </p:sp>
      <p:sp>
        <p:nvSpPr>
          <p:cNvPr id="69" name="Google Shape;69;p6"/>
          <p:cNvSpPr/>
          <p:nvPr/>
        </p:nvSpPr>
        <p:spPr>
          <a:xfrm>
            <a:off x="548640" y="1783080"/>
            <a:ext cx="7818120" cy="713232"/>
          </a:xfrm>
          <a:prstGeom prst="roundRect">
            <a:avLst>
              <a:gd fmla="val 7692" name="adj"/>
            </a:avLst>
          </a:prstGeom>
          <a:solidFill>
            <a:srgbClr val="E9F0F4"/>
          </a:solidFill>
          <a:ln cap="flat" cmpd="sng" w="15225">
            <a:solidFill>
              <a:srgbClr val="9DB4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713232" y="1938528"/>
            <a:ext cx="402336" cy="402336"/>
          </a:xfrm>
          <a:prstGeom prst="ellipse">
            <a:avLst/>
          </a:prstGeom>
          <a:solidFill>
            <a:srgbClr val="2F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6"/>
          <p:cNvSpPr/>
          <p:nvPr/>
        </p:nvSpPr>
        <p:spPr>
          <a:xfrm>
            <a:off x="713232" y="1938528"/>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0</a:t>
            </a:r>
            <a:endParaRPr b="0" i="0" sz="1600" u="none" cap="none" strike="noStrike">
              <a:solidFill>
                <a:schemeClr val="dk1"/>
              </a:solidFill>
              <a:latin typeface="Calibri"/>
              <a:ea typeface="Calibri"/>
              <a:cs typeface="Calibri"/>
              <a:sym typeface="Calibri"/>
            </a:endParaRPr>
          </a:p>
        </p:txBody>
      </p:sp>
      <p:sp>
        <p:nvSpPr>
          <p:cNvPr id="72" name="Google Shape;72;p6"/>
          <p:cNvSpPr/>
          <p:nvPr/>
        </p:nvSpPr>
        <p:spPr>
          <a:xfrm>
            <a:off x="1261872" y="1783080"/>
            <a:ext cx="69037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F5168"/>
              </a:buClr>
              <a:buSzPts val="1450"/>
              <a:buFont typeface="Cambria"/>
              <a:buNone/>
            </a:pPr>
            <a:r>
              <a:rPr b="1" i="0" lang="en-US" sz="1450" u="none" cap="none" strike="noStrike">
                <a:solidFill>
                  <a:srgbClr val="2F5168"/>
                </a:solidFill>
                <a:latin typeface="Cambria"/>
                <a:ea typeface="Cambria"/>
                <a:cs typeface="Cambria"/>
                <a:sym typeface="Cambria"/>
              </a:rPr>
              <a:t>Layer 0 · Coexistence ground</a:t>
            </a:r>
            <a:br>
              <a:rPr b="1" i="0" lang="en-US" sz="1450" u="none" cap="none" strike="noStrike">
                <a:solidFill>
                  <a:srgbClr val="2F5168"/>
                </a:solidFill>
                <a:latin typeface="Cambria"/>
                <a:ea typeface="Cambria"/>
                <a:cs typeface="Cambria"/>
                <a:sym typeface="Cambria"/>
              </a:rPr>
            </a:br>
            <a:r>
              <a:rPr b="0" i="0" lang="en-US" sz="1050" u="none" cap="none" strike="noStrike">
                <a:solidFill>
                  <a:srgbClr val="3F4D57"/>
                </a:solidFill>
                <a:latin typeface="Calibri"/>
                <a:ea typeface="Calibri"/>
                <a:cs typeface="Calibri"/>
                <a:sym typeface="Calibri"/>
              </a:rPr>
              <a:t>satta + units · saturation · complementarity · regulation ladder</a:t>
            </a:r>
            <a:endParaRPr b="0" i="0" sz="1450" u="none" cap="none" strike="noStrike">
              <a:solidFill>
                <a:schemeClr val="dk1"/>
              </a:solidFill>
              <a:latin typeface="Calibri"/>
              <a:ea typeface="Calibri"/>
              <a:cs typeface="Calibri"/>
              <a:sym typeface="Calibri"/>
            </a:endParaRPr>
          </a:p>
        </p:txBody>
      </p:sp>
      <p:sp>
        <p:nvSpPr>
          <p:cNvPr id="73" name="Google Shape;73;p6"/>
          <p:cNvSpPr/>
          <p:nvPr/>
        </p:nvSpPr>
        <p:spPr>
          <a:xfrm>
            <a:off x="548640" y="2606040"/>
            <a:ext cx="7818120" cy="713232"/>
          </a:xfrm>
          <a:prstGeom prst="roundRect">
            <a:avLst>
              <a:gd fmla="val 7692" name="adj"/>
            </a:avLst>
          </a:prstGeom>
          <a:solidFill>
            <a:srgbClr val="E8EEE4"/>
          </a:solidFill>
          <a:ln cap="flat" cmpd="sng" w="15225">
            <a:solidFill>
              <a:srgbClr val="A3B8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6"/>
          <p:cNvSpPr/>
          <p:nvPr/>
        </p:nvSpPr>
        <p:spPr>
          <a:xfrm>
            <a:off x="713232" y="2761488"/>
            <a:ext cx="402336" cy="402336"/>
          </a:xfrm>
          <a:prstGeom prst="ellipse">
            <a:avLst/>
          </a:prstGeom>
          <a:solidFill>
            <a:srgbClr val="2F4A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6"/>
          <p:cNvSpPr/>
          <p:nvPr/>
        </p:nvSpPr>
        <p:spPr>
          <a:xfrm>
            <a:off x="713232" y="2761488"/>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1</a:t>
            </a:r>
            <a:endParaRPr b="0" i="0" sz="1600" u="none" cap="none" strike="noStrike">
              <a:solidFill>
                <a:schemeClr val="dk1"/>
              </a:solidFill>
              <a:latin typeface="Calibri"/>
              <a:ea typeface="Calibri"/>
              <a:cs typeface="Calibri"/>
              <a:sym typeface="Calibri"/>
            </a:endParaRPr>
          </a:p>
        </p:txBody>
      </p:sp>
      <p:sp>
        <p:nvSpPr>
          <p:cNvPr id="76" name="Google Shape;76;p6"/>
          <p:cNvSpPr/>
          <p:nvPr/>
        </p:nvSpPr>
        <p:spPr>
          <a:xfrm>
            <a:off x="1261872" y="2606040"/>
            <a:ext cx="69037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F4A32"/>
              </a:buClr>
              <a:buSzPts val="1450"/>
              <a:buFont typeface="Cambria"/>
              <a:buNone/>
            </a:pPr>
            <a:r>
              <a:rPr b="1" i="0" lang="en-US" sz="1450" u="none" cap="none" strike="noStrike">
                <a:solidFill>
                  <a:srgbClr val="2F4A32"/>
                </a:solidFill>
                <a:latin typeface="Cambria"/>
                <a:ea typeface="Cambria"/>
                <a:cs typeface="Cambria"/>
                <a:sym typeface="Cambria"/>
              </a:rPr>
              <a:t>Layer 1 · Composition through orders</a:t>
            </a:r>
            <a:br>
              <a:rPr b="1" i="0" lang="en-US" sz="1450" u="none" cap="none" strike="noStrike">
                <a:solidFill>
                  <a:srgbClr val="2F4A32"/>
                </a:solidFill>
                <a:latin typeface="Cambria"/>
                <a:ea typeface="Cambria"/>
                <a:cs typeface="Cambria"/>
                <a:sym typeface="Cambria"/>
              </a:rPr>
            </a:br>
            <a:r>
              <a:rPr b="0" i="0" lang="en-US" sz="1050" u="none" cap="none" strike="noStrike">
                <a:solidFill>
                  <a:srgbClr val="3F4D57"/>
                </a:solidFill>
                <a:latin typeface="Calibri"/>
                <a:ea typeface="Calibri"/>
                <a:cs typeface="Calibri"/>
                <a:sym typeface="Calibri"/>
              </a:rPr>
              <a:t>four orders · niyati-vidhi conformance · six kinds of value</a:t>
            </a:r>
            <a:endParaRPr b="0" i="0" sz="1450" u="none" cap="none" strike="noStrike">
              <a:solidFill>
                <a:schemeClr val="dk1"/>
              </a:solidFill>
              <a:latin typeface="Calibri"/>
              <a:ea typeface="Calibri"/>
              <a:cs typeface="Calibri"/>
              <a:sym typeface="Calibri"/>
            </a:endParaRPr>
          </a:p>
        </p:txBody>
      </p:sp>
      <p:sp>
        <p:nvSpPr>
          <p:cNvPr id="77" name="Google Shape;77;p6"/>
          <p:cNvSpPr/>
          <p:nvPr/>
        </p:nvSpPr>
        <p:spPr>
          <a:xfrm>
            <a:off x="548640" y="3429000"/>
            <a:ext cx="7818120" cy="713232"/>
          </a:xfrm>
          <a:prstGeom prst="roundRect">
            <a:avLst>
              <a:gd fmla="val 7692" name="adj"/>
            </a:avLst>
          </a:prstGeom>
          <a:solidFill>
            <a:srgbClr val="F0EBE4"/>
          </a:solidFill>
          <a:ln cap="flat" cmpd="sng" w="15225">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6"/>
          <p:cNvSpPr/>
          <p:nvPr/>
        </p:nvSpPr>
        <p:spPr>
          <a:xfrm>
            <a:off x="713232" y="3584448"/>
            <a:ext cx="402336" cy="402336"/>
          </a:xfrm>
          <a:prstGeom prst="ellipse">
            <a:avLst/>
          </a:prstGeom>
          <a:solidFill>
            <a:srgbClr val="5A42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p:nvPr/>
        </p:nvSpPr>
        <p:spPr>
          <a:xfrm>
            <a:off x="713232" y="3584448"/>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2</a:t>
            </a:r>
            <a:endParaRPr b="0" i="0" sz="1600" u="none" cap="none" strike="noStrike">
              <a:solidFill>
                <a:schemeClr val="dk1"/>
              </a:solidFill>
              <a:latin typeface="Calibri"/>
              <a:ea typeface="Calibri"/>
              <a:cs typeface="Calibri"/>
              <a:sym typeface="Calibri"/>
            </a:endParaRPr>
          </a:p>
        </p:txBody>
      </p:sp>
      <p:sp>
        <p:nvSpPr>
          <p:cNvPr id="80" name="Google Shape;80;p6"/>
          <p:cNvSpPr/>
          <p:nvPr/>
        </p:nvSpPr>
        <p:spPr>
          <a:xfrm>
            <a:off x="1261872" y="3429000"/>
            <a:ext cx="69037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4228"/>
              </a:buClr>
              <a:buSzPts val="1450"/>
              <a:buFont typeface="Cambria"/>
              <a:buNone/>
            </a:pPr>
            <a:r>
              <a:rPr b="1" i="0" lang="en-US" sz="1450" u="none" cap="none" strike="noStrike">
                <a:solidFill>
                  <a:srgbClr val="5A4228"/>
                </a:solidFill>
                <a:latin typeface="Cambria"/>
                <a:ea typeface="Cambria"/>
                <a:cs typeface="Cambria"/>
                <a:sym typeface="Cambria"/>
              </a:rPr>
              <a:t>Layer 2 · Sentience threshold</a:t>
            </a:r>
            <a:br>
              <a:rPr b="1" i="0" lang="en-US" sz="1450" u="none" cap="none" strike="noStrike">
                <a:solidFill>
                  <a:srgbClr val="5A4228"/>
                </a:solidFill>
                <a:latin typeface="Cambria"/>
                <a:ea typeface="Cambria"/>
                <a:cs typeface="Cambria"/>
                <a:sym typeface="Cambria"/>
              </a:rPr>
            </a:br>
            <a:r>
              <a:rPr b="0" i="0" lang="en-US" sz="1050" u="none" cap="none" strike="noStrike">
                <a:solidFill>
                  <a:srgbClr val="3F4D57"/>
                </a:solidFill>
                <a:latin typeface="Calibri"/>
                <a:ea typeface="Calibri"/>
                <a:cs typeface="Calibri"/>
                <a:sym typeface="Calibri"/>
              </a:rPr>
              <a:t>vikas-kram · T1 constitutional completeness · jeevan–body joint form</a:t>
            </a:r>
            <a:endParaRPr b="0" i="0" sz="1450" u="none" cap="none" strike="noStrike">
              <a:solidFill>
                <a:schemeClr val="dk1"/>
              </a:solidFill>
              <a:latin typeface="Calibri"/>
              <a:ea typeface="Calibri"/>
              <a:cs typeface="Calibri"/>
              <a:sym typeface="Calibri"/>
            </a:endParaRPr>
          </a:p>
        </p:txBody>
      </p:sp>
      <p:sp>
        <p:nvSpPr>
          <p:cNvPr id="81" name="Google Shape;81;p6"/>
          <p:cNvSpPr/>
          <p:nvPr/>
        </p:nvSpPr>
        <p:spPr>
          <a:xfrm>
            <a:off x="548640" y="4251960"/>
            <a:ext cx="7818120" cy="713232"/>
          </a:xfrm>
          <a:prstGeom prst="roundRect">
            <a:avLst>
              <a:gd fmla="val 7692" name="adj"/>
            </a:avLst>
          </a:prstGeom>
          <a:solidFill>
            <a:srgbClr val="EDE8F4"/>
          </a:solidFill>
          <a:ln cap="flat" cmpd="sng" w="15225">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p:cNvSpPr/>
          <p:nvPr/>
        </p:nvSpPr>
        <p:spPr>
          <a:xfrm>
            <a:off x="713232" y="4407408"/>
            <a:ext cx="402336" cy="402336"/>
          </a:xfrm>
          <a:prstGeom prst="ellipse">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6"/>
          <p:cNvSpPr/>
          <p:nvPr/>
        </p:nvSpPr>
        <p:spPr>
          <a:xfrm>
            <a:off x="713232" y="4407408"/>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3</a:t>
            </a:r>
            <a:endParaRPr b="0" i="0" sz="1600" u="none" cap="none" strike="noStrike">
              <a:solidFill>
                <a:schemeClr val="dk1"/>
              </a:solidFill>
              <a:latin typeface="Calibri"/>
              <a:ea typeface="Calibri"/>
              <a:cs typeface="Calibri"/>
              <a:sym typeface="Calibri"/>
            </a:endParaRPr>
          </a:p>
        </p:txBody>
      </p:sp>
      <p:sp>
        <p:nvSpPr>
          <p:cNvPr id="84" name="Google Shape;84;p6"/>
          <p:cNvSpPr/>
          <p:nvPr/>
        </p:nvSpPr>
        <p:spPr>
          <a:xfrm>
            <a:off x="1261872" y="4251960"/>
            <a:ext cx="69037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Layer 3 · Knowledge-order gate</a:t>
            </a:r>
            <a:br>
              <a:rPr b="1" i="0" lang="en-US" sz="1450" u="none" cap="none" strike="noStrike">
                <a:solidFill>
                  <a:srgbClr val="4A3868"/>
                </a:solidFill>
                <a:latin typeface="Cambria"/>
                <a:ea typeface="Cambria"/>
                <a:cs typeface="Cambria"/>
                <a:sym typeface="Cambria"/>
              </a:rPr>
            </a:br>
            <a:r>
              <a:rPr b="0" i="0" lang="en-US" sz="1050" u="none" cap="none" strike="noStrike">
                <a:solidFill>
                  <a:srgbClr val="3F4D57"/>
                </a:solidFill>
                <a:latin typeface="Calibri"/>
                <a:ea typeface="Calibri"/>
                <a:cs typeface="Calibri"/>
                <a:sym typeface="Calibri"/>
              </a:rPr>
              <a:t>six perspectives · justice cycle · awakening · T2 / T3 — the narrow gate</a:t>
            </a:r>
            <a:endParaRPr b="0" i="0" sz="1450" u="none" cap="none" strike="noStrike">
              <a:solidFill>
                <a:schemeClr val="dk1"/>
              </a:solidFill>
              <a:latin typeface="Calibri"/>
              <a:ea typeface="Calibri"/>
              <a:cs typeface="Calibri"/>
              <a:sym typeface="Calibri"/>
            </a:endParaRPr>
          </a:p>
        </p:txBody>
      </p:sp>
      <p:sp>
        <p:nvSpPr>
          <p:cNvPr id="85" name="Google Shape;85;p6"/>
          <p:cNvSpPr/>
          <p:nvPr/>
        </p:nvSpPr>
        <p:spPr>
          <a:xfrm>
            <a:off x="548640" y="5074920"/>
            <a:ext cx="7818120" cy="713232"/>
          </a:xfrm>
          <a:prstGeom prst="roundRect">
            <a:avLst>
              <a:gd fmla="val 7692" name="adj"/>
            </a:avLst>
          </a:prstGeom>
          <a:solidFill>
            <a:srgbClr val="E4F0EA"/>
          </a:solidFill>
          <a:ln cap="flat" cmpd="sng" w="15225">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a:off x="713232" y="5230368"/>
            <a:ext cx="402336" cy="402336"/>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6"/>
          <p:cNvSpPr/>
          <p:nvPr/>
        </p:nvSpPr>
        <p:spPr>
          <a:xfrm>
            <a:off x="713232" y="5230368"/>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4</a:t>
            </a:r>
            <a:endParaRPr b="0" i="0" sz="1600" u="none" cap="none" strike="noStrike">
              <a:solidFill>
                <a:schemeClr val="dk1"/>
              </a:solidFill>
              <a:latin typeface="Calibri"/>
              <a:ea typeface="Calibri"/>
              <a:cs typeface="Calibri"/>
              <a:sym typeface="Calibri"/>
            </a:endParaRPr>
          </a:p>
        </p:txBody>
      </p:sp>
      <p:sp>
        <p:nvSpPr>
          <p:cNvPr id="88" name="Google Shape;88;p6"/>
          <p:cNvSpPr/>
          <p:nvPr/>
        </p:nvSpPr>
        <p:spPr>
          <a:xfrm>
            <a:off x="1261872" y="5074920"/>
            <a:ext cx="69037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8543F"/>
              </a:buClr>
              <a:buSzPts val="1450"/>
              <a:buFont typeface="Cambria"/>
              <a:buNone/>
            </a:pPr>
            <a:r>
              <a:rPr b="1" i="0" lang="en-US" sz="1450" u="none" cap="none" strike="noStrike">
                <a:solidFill>
                  <a:srgbClr val="28543F"/>
                </a:solidFill>
                <a:latin typeface="Cambria"/>
                <a:ea typeface="Cambria"/>
                <a:cs typeface="Cambria"/>
                <a:sym typeface="Cambria"/>
              </a:rPr>
              <a:t>Layer 4 · Social establishment</a:t>
            </a:r>
            <a:br>
              <a:rPr b="1" i="0" lang="en-US" sz="1450" u="none" cap="none" strike="noStrike">
                <a:solidFill>
                  <a:srgbClr val="28543F"/>
                </a:solidFill>
                <a:latin typeface="Cambria"/>
                <a:ea typeface="Cambria"/>
                <a:cs typeface="Cambria"/>
                <a:sym typeface="Cambria"/>
              </a:rPr>
            </a:br>
            <a:r>
              <a:rPr b="0" i="0" lang="en-US" sz="1050" u="none" cap="none" strike="noStrike">
                <a:solidFill>
                  <a:srgbClr val="3F4D57"/>
                </a:solidFill>
                <a:latin typeface="Calibri"/>
                <a:ea typeface="Calibri"/>
                <a:cs typeface="Calibri"/>
                <a:sym typeface="Calibri"/>
              </a:rPr>
              <a:t>production chain · four goals · assembly composition · orderliness</a:t>
            </a:r>
            <a:endParaRPr b="0" i="0" sz="1450" u="none" cap="none" strike="noStrike">
              <a:solidFill>
                <a:schemeClr val="dk1"/>
              </a:solidFill>
              <a:latin typeface="Calibri"/>
              <a:ea typeface="Calibri"/>
              <a:cs typeface="Calibri"/>
              <a:sym typeface="Calibri"/>
            </a:endParaRPr>
          </a:p>
        </p:txBody>
      </p:sp>
      <p:sp>
        <p:nvSpPr>
          <p:cNvPr id="89" name="Google Shape;89;p6"/>
          <p:cNvSpPr/>
          <p:nvPr/>
        </p:nvSpPr>
        <p:spPr>
          <a:xfrm>
            <a:off x="1371600" y="5943600"/>
            <a:ext cx="6172200" cy="566928"/>
          </a:xfrm>
          <a:prstGeom prst="roundRect">
            <a:avLst>
              <a:gd fmla="val 16129" name="adj"/>
            </a:avLst>
          </a:prstGeom>
          <a:solidFill>
            <a:srgbClr val="2F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6"/>
          <p:cNvSpPr/>
          <p:nvPr/>
        </p:nvSpPr>
        <p:spPr>
          <a:xfrm>
            <a:off x="1371600" y="5943600"/>
            <a:ext cx="61722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50"/>
              <a:buFont typeface="Cambria"/>
              <a:buNone/>
            </a:pPr>
            <a:r>
              <a:rPr b="1" i="0" lang="en-US" sz="1350" u="none" cap="none" strike="noStrike">
                <a:solidFill>
                  <a:srgbClr val="FFFFFF"/>
                </a:solidFill>
                <a:latin typeface="Cambria"/>
                <a:ea typeface="Cambria"/>
                <a:cs typeface="Cambria"/>
                <a:sym typeface="Cambria"/>
              </a:rPr>
              <a:t>TELOS  ·  Undivided society + universal orderliness</a:t>
            </a:r>
            <a:endParaRPr b="0" i="0" sz="1350" u="none" cap="none" strike="noStrike">
              <a:solidFill>
                <a:schemeClr val="dk1"/>
              </a:solidFill>
              <a:latin typeface="Calibri"/>
              <a:ea typeface="Calibri"/>
              <a:cs typeface="Calibri"/>
              <a:sym typeface="Calibri"/>
            </a:endParaRPr>
          </a:p>
        </p:txBody>
      </p:sp>
      <p:sp>
        <p:nvSpPr>
          <p:cNvPr id="91" name="Google Shape;91;p6"/>
          <p:cNvSpPr/>
          <p:nvPr/>
        </p:nvSpPr>
        <p:spPr>
          <a:xfrm>
            <a:off x="8641080" y="1783080"/>
            <a:ext cx="2971800" cy="4480560"/>
          </a:xfrm>
          <a:prstGeom prst="roundRect">
            <a:avLst>
              <a:gd fmla="val 2462" name="adj"/>
            </a:avLst>
          </a:prstGeom>
          <a:solidFill>
            <a:srgbClr val="F6F8FA"/>
          </a:solidFill>
          <a:ln cap="flat" cmpd="sng" w="12700">
            <a:solidFill>
              <a:srgbClr val="D8E0E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6"/>
          <p:cNvSpPr/>
          <p:nvPr/>
        </p:nvSpPr>
        <p:spPr>
          <a:xfrm>
            <a:off x="8869680" y="1993392"/>
            <a:ext cx="25603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1500"/>
              <a:buFont typeface="Cambria"/>
              <a:buNone/>
            </a:pPr>
            <a:r>
              <a:rPr b="1" i="0" lang="en-US" sz="1500" u="none" cap="none" strike="noStrike">
                <a:solidFill>
                  <a:srgbClr val="1F2D3A"/>
                </a:solidFill>
                <a:latin typeface="Cambria"/>
                <a:ea typeface="Cambria"/>
                <a:cs typeface="Cambria"/>
                <a:sym typeface="Cambria"/>
              </a:rPr>
              <a:t>Reading the stack</a:t>
            </a:r>
            <a:endParaRPr b="0" i="0" sz="1500" u="none" cap="none" strike="noStrike">
              <a:solidFill>
                <a:schemeClr val="dk1"/>
              </a:solidFill>
              <a:latin typeface="Calibri"/>
              <a:ea typeface="Calibri"/>
              <a:cs typeface="Calibri"/>
              <a:sym typeface="Calibri"/>
            </a:endParaRPr>
          </a:p>
        </p:txBody>
      </p:sp>
      <p:sp>
        <p:nvSpPr>
          <p:cNvPr id="93" name="Google Shape;93;p6"/>
          <p:cNvSpPr/>
          <p:nvPr/>
        </p:nvSpPr>
        <p:spPr>
          <a:xfrm>
            <a:off x="8869680" y="2423160"/>
            <a:ext cx="2560320" cy="3657600"/>
          </a:xfrm>
          <a:prstGeom prst="rect">
            <a:avLst/>
          </a:prstGeom>
          <a:noFill/>
          <a:ln>
            <a:noFill/>
          </a:ln>
        </p:spPr>
        <p:txBody>
          <a:bodyPr anchorCtr="0" anchor="t" bIns="0" lIns="0" spcFirstLastPara="1" rIns="0" wrap="square" tIns="0">
            <a:noAutofit/>
          </a:bodyPr>
          <a:lstStyle/>
          <a:p>
            <a:pPr indent="-342900" lvl="0" marL="342900" marR="0" rtl="0" algn="l">
              <a:lnSpc>
                <a:spcPct val="105000"/>
              </a:lnSpc>
              <a:spcBef>
                <a:spcPts val="0"/>
              </a:spcBef>
              <a:spcAft>
                <a:spcPts val="0"/>
              </a:spcAft>
              <a:buClr>
                <a:srgbClr val="3F4D57"/>
              </a:buClr>
              <a:buSzPts val="1200"/>
              <a:buFont typeface="Calibri"/>
              <a:buChar char="•"/>
            </a:pPr>
            <a:r>
              <a:rPr b="0" i="0" lang="en-US" sz="1200" u="none" cap="none" strike="noStrike">
                <a:solidFill>
                  <a:srgbClr val="3F4D57"/>
                </a:solidFill>
                <a:latin typeface="Calibri"/>
                <a:ea typeface="Calibri"/>
                <a:cs typeface="Calibri"/>
                <a:sym typeface="Calibri"/>
              </a:rPr>
              <a:t>Each layer depends on the one below and enables the one above.</a:t>
            </a:r>
            <a:endParaRPr b="0" i="0" sz="1200" u="none" cap="none" strike="noStrike">
              <a:solidFill>
                <a:schemeClr val="dk1"/>
              </a:solidFill>
              <a:latin typeface="Calibri"/>
              <a:ea typeface="Calibri"/>
              <a:cs typeface="Calibri"/>
              <a:sym typeface="Calibri"/>
            </a:endParaRPr>
          </a:p>
          <a:p>
            <a:pPr indent="-342900" lvl="0" marL="342900" marR="0" rtl="0" algn="l">
              <a:lnSpc>
                <a:spcPct val="105000"/>
              </a:lnSpc>
              <a:spcBef>
                <a:spcPts val="800"/>
              </a:spcBef>
              <a:spcAft>
                <a:spcPts val="0"/>
              </a:spcAft>
              <a:buClr>
                <a:srgbClr val="3F4D57"/>
              </a:buClr>
              <a:buSzPts val="1200"/>
              <a:buFont typeface="Calibri"/>
              <a:buChar char="•"/>
            </a:pPr>
            <a:r>
              <a:rPr b="0" i="0" lang="en-US" sz="1200" u="none" cap="none" strike="noStrike">
                <a:solidFill>
                  <a:srgbClr val="3F4D57"/>
                </a:solidFill>
                <a:latin typeface="Calibri"/>
                <a:ea typeface="Calibri"/>
                <a:cs typeface="Calibri"/>
                <a:sym typeface="Calibri"/>
              </a:rPr>
              <a:t>Matter and regulation flow easily through Layers 0–2.</a:t>
            </a:r>
            <a:endParaRPr b="0" i="0" sz="1200" u="none" cap="none" strike="noStrike">
              <a:solidFill>
                <a:schemeClr val="dk1"/>
              </a:solidFill>
              <a:latin typeface="Calibri"/>
              <a:ea typeface="Calibri"/>
              <a:cs typeface="Calibri"/>
              <a:sym typeface="Calibri"/>
            </a:endParaRPr>
          </a:p>
          <a:p>
            <a:pPr indent="-342900" lvl="0" marL="342900" marR="0" rtl="0" algn="l">
              <a:lnSpc>
                <a:spcPct val="105000"/>
              </a:lnSpc>
              <a:spcBef>
                <a:spcPts val="800"/>
              </a:spcBef>
              <a:spcAft>
                <a:spcPts val="0"/>
              </a:spcAft>
              <a:buClr>
                <a:srgbClr val="3F4D57"/>
              </a:buClr>
              <a:buSzPts val="1200"/>
              <a:buFont typeface="Calibri"/>
              <a:buChar char="•"/>
            </a:pPr>
            <a:r>
              <a:rPr b="0" i="0" lang="en-US" sz="1200" u="none" cap="none" strike="noStrike">
                <a:solidFill>
                  <a:srgbClr val="3F4D57"/>
                </a:solidFill>
                <a:latin typeface="Calibri"/>
                <a:ea typeface="Calibri"/>
                <a:cs typeface="Calibri"/>
                <a:sym typeface="Calibri"/>
              </a:rPr>
              <a:t>Layer 3 is a narrow gate: every human unit must pass through awakening.</a:t>
            </a:r>
            <a:endParaRPr b="0" i="0" sz="1200" u="none" cap="none" strike="noStrike">
              <a:solidFill>
                <a:schemeClr val="dk1"/>
              </a:solidFill>
              <a:latin typeface="Calibri"/>
              <a:ea typeface="Calibri"/>
              <a:cs typeface="Calibri"/>
              <a:sym typeface="Calibri"/>
            </a:endParaRPr>
          </a:p>
          <a:p>
            <a:pPr indent="-342900" lvl="0" marL="342900" marR="0" rtl="0" algn="l">
              <a:lnSpc>
                <a:spcPct val="105000"/>
              </a:lnSpc>
              <a:spcBef>
                <a:spcPts val="800"/>
              </a:spcBef>
              <a:spcAft>
                <a:spcPts val="0"/>
              </a:spcAft>
              <a:buClr>
                <a:srgbClr val="3F4D57"/>
              </a:buClr>
              <a:buSzPts val="1200"/>
              <a:buFont typeface="Calibri"/>
              <a:buChar char="•"/>
            </a:pPr>
            <a:r>
              <a:rPr b="0" i="0" lang="en-US" sz="1200" u="none" cap="none" strike="noStrike">
                <a:solidFill>
                  <a:srgbClr val="3F4D57"/>
                </a:solidFill>
                <a:latin typeface="Calibri"/>
                <a:ea typeface="Calibri"/>
                <a:cs typeface="Calibri"/>
                <a:sym typeface="Calibri"/>
              </a:rPr>
              <a:t>A unit that fails loops back to delusion; the telos can't close while that loop dominates.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48640" y="475488"/>
            <a:ext cx="457200" cy="457200"/>
          </a:xfrm>
          <a:prstGeom prst="ellipse">
            <a:avLst/>
          </a:prstGeom>
          <a:solidFill>
            <a:srgbClr val="2F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7"/>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0</a:t>
            </a:r>
            <a:endParaRPr b="0" i="0" sz="1900" u="none" cap="none" strike="noStrike">
              <a:solidFill>
                <a:schemeClr val="dk1"/>
              </a:solidFill>
              <a:latin typeface="Calibri"/>
              <a:ea typeface="Calibri"/>
              <a:cs typeface="Calibri"/>
              <a:sym typeface="Calibri"/>
            </a:endParaRPr>
          </a:p>
        </p:txBody>
      </p:sp>
      <p:sp>
        <p:nvSpPr>
          <p:cNvPr id="101" name="Google Shape;101;p7"/>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LAYER 0  ·  COEXISTENCE GROUND</a:t>
            </a:r>
            <a:endParaRPr b="0" i="0" sz="1250" u="none" cap="none" strike="noStrike">
              <a:solidFill>
                <a:schemeClr val="dk1"/>
              </a:solidFill>
              <a:latin typeface="Calibri"/>
              <a:ea typeface="Calibri"/>
              <a:cs typeface="Calibri"/>
              <a:sym typeface="Calibri"/>
            </a:endParaRPr>
          </a:p>
        </p:txBody>
      </p:sp>
      <p:sp>
        <p:nvSpPr>
          <p:cNvPr id="102" name="Google Shape;102;p7"/>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3100"/>
              <a:buFont typeface="Cambria"/>
              <a:buNone/>
            </a:pPr>
            <a:r>
              <a:rPr b="1" i="0" lang="en-US" sz="3100" u="none" cap="none" strike="noStrike">
                <a:solidFill>
                  <a:srgbClr val="2F5168"/>
                </a:solidFill>
                <a:latin typeface="Cambria"/>
                <a:ea typeface="Cambria"/>
                <a:cs typeface="Cambria"/>
                <a:sym typeface="Cambria"/>
              </a:rPr>
              <a:t>What coexistence already provides</a:t>
            </a:r>
            <a:endParaRPr b="0" i="0" sz="3100" u="none" cap="none" strike="noStrike">
              <a:solidFill>
                <a:schemeClr val="dk1"/>
              </a:solidFill>
              <a:latin typeface="Calibri"/>
              <a:ea typeface="Calibri"/>
              <a:cs typeface="Calibri"/>
              <a:sym typeface="Calibri"/>
            </a:endParaRPr>
          </a:p>
        </p:txBody>
      </p:sp>
      <p:sp>
        <p:nvSpPr>
          <p:cNvPr id="103" name="Google Shape;103;p7"/>
          <p:cNvSpPr/>
          <p:nvPr/>
        </p:nvSpPr>
        <p:spPr>
          <a:xfrm>
            <a:off x="548640" y="1828800"/>
            <a:ext cx="5897880" cy="1325880"/>
          </a:xfrm>
          <a:prstGeom prst="roundRect">
            <a:avLst>
              <a:gd fmla="val 4828" name="adj"/>
            </a:avLst>
          </a:prstGeom>
          <a:solidFill>
            <a:srgbClr val="E9F0F4"/>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7"/>
          <p:cNvSpPr/>
          <p:nvPr/>
        </p:nvSpPr>
        <p:spPr>
          <a:xfrm>
            <a:off x="777240" y="1975104"/>
            <a:ext cx="5486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500"/>
              <a:buFont typeface="Cambria"/>
              <a:buNone/>
            </a:pPr>
            <a:r>
              <a:rPr b="1" i="0" lang="en-US" sz="1500" u="none" cap="none" strike="noStrike">
                <a:solidFill>
                  <a:srgbClr val="2F5168"/>
                </a:solidFill>
                <a:latin typeface="Cambria"/>
                <a:ea typeface="Cambria"/>
                <a:cs typeface="Cambria"/>
                <a:sym typeface="Cambria"/>
              </a:rPr>
              <a:t>Coexistence &amp; saturation</a:t>
            </a:r>
            <a:endParaRPr b="0" i="0" sz="1500" u="none" cap="none" strike="noStrike">
              <a:solidFill>
                <a:schemeClr val="dk1"/>
              </a:solidFill>
              <a:latin typeface="Calibri"/>
              <a:ea typeface="Calibri"/>
              <a:cs typeface="Calibri"/>
              <a:sym typeface="Calibri"/>
            </a:endParaRPr>
          </a:p>
        </p:txBody>
      </p:sp>
      <p:sp>
        <p:nvSpPr>
          <p:cNvPr id="105" name="Google Shape;105;p7"/>
          <p:cNvSpPr/>
          <p:nvPr/>
        </p:nvSpPr>
        <p:spPr>
          <a:xfrm>
            <a:off x="777240" y="2340864"/>
            <a:ext cx="5486400" cy="7498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Existence is ever-present coexistence: formless satta and countless bounded units, co-eternal. Each unit is surrounded, submerged, and soaked in satta — carrying inherent energy and regulatory order within it.</a:t>
            </a:r>
            <a:endParaRPr b="0" i="0" sz="1150" u="none" cap="none" strike="noStrike">
              <a:solidFill>
                <a:schemeClr val="dk1"/>
              </a:solidFill>
              <a:latin typeface="Calibri"/>
              <a:ea typeface="Calibri"/>
              <a:cs typeface="Calibri"/>
              <a:sym typeface="Calibri"/>
            </a:endParaRPr>
          </a:p>
        </p:txBody>
      </p:sp>
      <p:sp>
        <p:nvSpPr>
          <p:cNvPr id="106" name="Google Shape;106;p7"/>
          <p:cNvSpPr/>
          <p:nvPr/>
        </p:nvSpPr>
        <p:spPr>
          <a:xfrm>
            <a:off x="548640" y="3291840"/>
            <a:ext cx="5897880" cy="1325880"/>
          </a:xfrm>
          <a:prstGeom prst="roundRect">
            <a:avLst>
              <a:gd fmla="val 4828" name="adj"/>
            </a:avLst>
          </a:prstGeom>
          <a:solidFill>
            <a:srgbClr val="E9F0F4"/>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7"/>
          <p:cNvSpPr/>
          <p:nvPr/>
        </p:nvSpPr>
        <p:spPr>
          <a:xfrm>
            <a:off x="777240" y="3438144"/>
            <a:ext cx="5486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500"/>
              <a:buFont typeface="Cambria"/>
              <a:buNone/>
            </a:pPr>
            <a:r>
              <a:rPr b="1" i="0" lang="en-US" sz="1500" u="none" cap="none" strike="noStrike">
                <a:solidFill>
                  <a:srgbClr val="2F5168"/>
                </a:solidFill>
                <a:latin typeface="Cambria"/>
                <a:ea typeface="Cambria"/>
                <a:cs typeface="Cambria"/>
                <a:sym typeface="Cambria"/>
              </a:rPr>
              <a:t>Satta is actionless</a:t>
            </a:r>
            <a:endParaRPr b="0" i="0" sz="1500" u="none" cap="none" strike="noStrike">
              <a:solidFill>
                <a:schemeClr val="dk1"/>
              </a:solidFill>
              <a:latin typeface="Calibri"/>
              <a:ea typeface="Calibri"/>
              <a:cs typeface="Calibri"/>
              <a:sym typeface="Calibri"/>
            </a:endParaRPr>
          </a:p>
        </p:txBody>
      </p:sp>
      <p:sp>
        <p:nvSpPr>
          <p:cNvPr id="108" name="Google Shape;108;p7"/>
          <p:cNvSpPr/>
          <p:nvPr/>
        </p:nvSpPr>
        <p:spPr>
          <a:xfrm>
            <a:off x="777240" y="3803904"/>
            <a:ext cx="5486400" cy="7498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Satta performs no action (kriya-shunya). It is the sustaining ground — “supreme cause” — through which unit-activity is energised and regulated, never the trigger of particular change. The work of change is done by units.</a:t>
            </a:r>
            <a:endParaRPr b="0" i="0" sz="1150" u="none" cap="none" strike="noStrike">
              <a:solidFill>
                <a:schemeClr val="dk1"/>
              </a:solidFill>
              <a:latin typeface="Calibri"/>
              <a:ea typeface="Calibri"/>
              <a:cs typeface="Calibri"/>
              <a:sym typeface="Calibri"/>
            </a:endParaRPr>
          </a:p>
        </p:txBody>
      </p:sp>
      <p:sp>
        <p:nvSpPr>
          <p:cNvPr id="109" name="Google Shape;109;p7"/>
          <p:cNvSpPr/>
          <p:nvPr/>
        </p:nvSpPr>
        <p:spPr>
          <a:xfrm>
            <a:off x="548640" y="4754880"/>
            <a:ext cx="5897880" cy="1325880"/>
          </a:xfrm>
          <a:prstGeom prst="roundRect">
            <a:avLst>
              <a:gd fmla="val 4828" name="adj"/>
            </a:avLst>
          </a:prstGeom>
          <a:solidFill>
            <a:srgbClr val="E9F0F4"/>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7"/>
          <p:cNvSpPr/>
          <p:nvPr/>
        </p:nvSpPr>
        <p:spPr>
          <a:xfrm>
            <a:off x="777240" y="4901184"/>
            <a:ext cx="5486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500"/>
              <a:buFont typeface="Cambria"/>
              <a:buNone/>
            </a:pPr>
            <a:r>
              <a:rPr b="1" i="0" lang="en-US" sz="1500" u="none" cap="none" strike="noStrike">
                <a:solidFill>
                  <a:srgbClr val="2F5168"/>
                </a:solidFill>
                <a:latin typeface="Cambria"/>
                <a:ea typeface="Cambria"/>
                <a:cs typeface="Cambria"/>
                <a:sym typeface="Cambria"/>
              </a:rPr>
              <a:t>Mediative regulation</a:t>
            </a:r>
            <a:endParaRPr b="0" i="0" sz="1500" u="none" cap="none" strike="noStrike">
              <a:solidFill>
                <a:schemeClr val="dk1"/>
              </a:solidFill>
              <a:latin typeface="Calibri"/>
              <a:ea typeface="Calibri"/>
              <a:cs typeface="Calibri"/>
              <a:sym typeface="Calibri"/>
            </a:endParaRPr>
          </a:p>
        </p:txBody>
      </p:sp>
      <p:sp>
        <p:nvSpPr>
          <p:cNvPr id="111" name="Google Shape;111;p7"/>
          <p:cNvSpPr/>
          <p:nvPr/>
        </p:nvSpPr>
        <p:spPr>
          <a:xfrm>
            <a:off x="777240" y="5266944"/>
            <a:ext cx="5486400" cy="7498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Madhyasth means mediative: satta regulates and conserves every unit without itself acting. The same pattern recurs at the atomic nucleus and, in sentient jeevan, at atma.</a:t>
            </a:r>
            <a:endParaRPr b="0" i="0" sz="1150" u="none" cap="none" strike="noStrike">
              <a:solidFill>
                <a:schemeClr val="dk1"/>
              </a:solidFill>
              <a:latin typeface="Calibri"/>
              <a:ea typeface="Calibri"/>
              <a:cs typeface="Calibri"/>
              <a:sym typeface="Calibri"/>
            </a:endParaRPr>
          </a:p>
        </p:txBody>
      </p:sp>
      <p:sp>
        <p:nvSpPr>
          <p:cNvPr id="112" name="Google Shape;112;p7"/>
          <p:cNvSpPr/>
          <p:nvPr/>
        </p:nvSpPr>
        <p:spPr>
          <a:xfrm>
            <a:off x="6720840" y="1828800"/>
            <a:ext cx="4892040" cy="2240280"/>
          </a:xfrm>
          <a:prstGeom prst="roundRect">
            <a:avLst>
              <a:gd fmla="val 3265" name="adj"/>
            </a:avLst>
          </a:prstGeom>
          <a:solidFill>
            <a:srgbClr val="F6F8FA"/>
          </a:solidFill>
          <a:ln cap="flat" cmpd="sng" w="12700">
            <a:solidFill>
              <a:srgbClr val="2F516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7"/>
          <p:cNvSpPr/>
          <p:nvPr/>
        </p:nvSpPr>
        <p:spPr>
          <a:xfrm>
            <a:off x="6766560" y="181051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4800"/>
              <a:buFont typeface="Cambria"/>
              <a:buNone/>
            </a:pPr>
            <a:r>
              <a:rPr b="1" i="0" lang="en-US" sz="4800" u="none" cap="none" strike="noStrike">
                <a:solidFill>
                  <a:srgbClr val="2F5168"/>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114" name="Google Shape;114;p7"/>
          <p:cNvSpPr/>
          <p:nvPr/>
        </p:nvSpPr>
        <p:spPr>
          <a:xfrm>
            <a:off x="7223760" y="1993392"/>
            <a:ext cx="4114800" cy="191109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Nature, saturated in Omnipotence, exists as countless units. Each unit, being saturated in Omnipotence, remains surrounded, submerged, and soaked in it.</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2F5168"/>
              </a:buClr>
              <a:buSzPts val="1150"/>
              <a:buFont typeface="Calibri"/>
              <a:buNone/>
            </a:pPr>
            <a:r>
              <a:rPr b="1" i="0" lang="en-US" sz="1150" u="none" cap="none" strike="noStrike">
                <a:solidFill>
                  <a:srgbClr val="2F5168"/>
                </a:solidFill>
                <a:latin typeface="Calibri"/>
                <a:ea typeface="Calibri"/>
                <a:cs typeface="Calibri"/>
                <a:sym typeface="Calibri"/>
              </a:rPr>
              <a:t>— SB, p. 48</a:t>
            </a:r>
            <a:endParaRPr b="0" i="0" sz="1450" u="none" cap="none" strike="noStrike">
              <a:solidFill>
                <a:schemeClr val="dk1"/>
              </a:solidFill>
              <a:latin typeface="Calibri"/>
              <a:ea typeface="Calibri"/>
              <a:cs typeface="Calibri"/>
              <a:sym typeface="Calibri"/>
            </a:endParaRPr>
          </a:p>
        </p:txBody>
      </p:sp>
      <p:sp>
        <p:nvSpPr>
          <p:cNvPr id="115" name="Google Shape;115;p7"/>
          <p:cNvSpPr/>
          <p:nvPr/>
        </p:nvSpPr>
        <p:spPr>
          <a:xfrm>
            <a:off x="6720840" y="4206240"/>
            <a:ext cx="4892040" cy="2011680"/>
          </a:xfrm>
          <a:prstGeom prst="roundRect">
            <a:avLst>
              <a:gd fmla="val 3636" name="adj"/>
            </a:avLst>
          </a:prstGeom>
          <a:solidFill>
            <a:srgbClr val="F6F8FA"/>
          </a:solidFill>
          <a:ln cap="flat" cmpd="sng" w="12700">
            <a:solidFill>
              <a:srgbClr val="2F516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7"/>
          <p:cNvSpPr/>
          <p:nvPr/>
        </p:nvSpPr>
        <p:spPr>
          <a:xfrm>
            <a:off x="6766560" y="418795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4800"/>
              <a:buFont typeface="Cambria"/>
              <a:buNone/>
            </a:pPr>
            <a:r>
              <a:rPr b="1" i="0" lang="en-US" sz="4800" u="none" cap="none" strike="noStrike">
                <a:solidFill>
                  <a:srgbClr val="2F5168"/>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117" name="Google Shape;117;p7"/>
          <p:cNvSpPr/>
          <p:nvPr/>
        </p:nvSpPr>
        <p:spPr>
          <a:xfrm>
            <a:off x="7223760" y="4370832"/>
            <a:ext cx="4114800" cy="168249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Every entity of nature recognises another; that is why it fulfils. An atomic particle too recognises another… these particles abide in orderliness.</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2F5168"/>
              </a:buClr>
              <a:buSzPts val="1150"/>
              <a:buFont typeface="Calibri"/>
              <a:buNone/>
            </a:pPr>
            <a:r>
              <a:rPr b="1" i="0" lang="en-US" sz="1150" u="none" cap="none" strike="noStrike">
                <a:solidFill>
                  <a:srgbClr val="2F5168"/>
                </a:solidFill>
                <a:latin typeface="Calibri"/>
                <a:ea typeface="Calibri"/>
                <a:cs typeface="Calibri"/>
                <a:sym typeface="Calibri"/>
              </a:rPr>
              <a:t>— JV, p. 69</a:t>
            </a:r>
            <a:endParaRPr b="0" i="0" sz="14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8"/>
          <p:cNvSpPr/>
          <p:nvPr/>
        </p:nvSpPr>
        <p:spPr>
          <a:xfrm>
            <a:off x="548640" y="475488"/>
            <a:ext cx="457200" cy="457200"/>
          </a:xfrm>
          <a:prstGeom prst="ellipse">
            <a:avLst/>
          </a:prstGeom>
          <a:solidFill>
            <a:srgbClr val="2F51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8"/>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0</a:t>
            </a:r>
            <a:endParaRPr b="0" i="0" sz="1900" u="none" cap="none" strike="noStrike">
              <a:solidFill>
                <a:schemeClr val="dk1"/>
              </a:solidFill>
              <a:latin typeface="Calibri"/>
              <a:ea typeface="Calibri"/>
              <a:cs typeface="Calibri"/>
              <a:sym typeface="Calibri"/>
            </a:endParaRPr>
          </a:p>
        </p:txBody>
      </p:sp>
      <p:sp>
        <p:nvSpPr>
          <p:cNvPr id="125" name="Google Shape;125;p8"/>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LAYER 0  ·  COEXISTENCE GROUND</a:t>
            </a:r>
            <a:endParaRPr b="0" i="0" sz="1250" u="none" cap="none" strike="noStrike">
              <a:solidFill>
                <a:schemeClr val="dk1"/>
              </a:solidFill>
              <a:latin typeface="Calibri"/>
              <a:ea typeface="Calibri"/>
              <a:cs typeface="Calibri"/>
              <a:sym typeface="Calibri"/>
            </a:endParaRPr>
          </a:p>
        </p:txBody>
      </p:sp>
      <p:sp>
        <p:nvSpPr>
          <p:cNvPr id="126" name="Google Shape;126;p8"/>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3100"/>
              <a:buFont typeface="Cambria"/>
              <a:buNone/>
            </a:pPr>
            <a:r>
              <a:rPr b="1" i="0" lang="en-US" sz="3100" u="none" cap="none" strike="noStrike">
                <a:solidFill>
                  <a:srgbClr val="2F5168"/>
                </a:solidFill>
                <a:latin typeface="Cambria"/>
                <a:ea typeface="Cambria"/>
                <a:cs typeface="Cambria"/>
                <a:sym typeface="Cambria"/>
              </a:rPr>
              <a:t>Complementarity and the regulation ladder</a:t>
            </a:r>
            <a:endParaRPr b="0" i="0" sz="3100" u="none" cap="none" strike="noStrike">
              <a:solidFill>
                <a:schemeClr val="dk1"/>
              </a:solidFill>
              <a:latin typeface="Calibri"/>
              <a:ea typeface="Calibri"/>
              <a:cs typeface="Calibri"/>
              <a:sym typeface="Calibri"/>
            </a:endParaRPr>
          </a:p>
        </p:txBody>
      </p:sp>
      <p:sp>
        <p:nvSpPr>
          <p:cNvPr id="127" name="Google Shape;127;p8"/>
          <p:cNvSpPr/>
          <p:nvPr/>
        </p:nvSpPr>
        <p:spPr>
          <a:xfrm>
            <a:off x="548640" y="1783080"/>
            <a:ext cx="55778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1600"/>
              <a:buFont typeface="Cambria"/>
              <a:buNone/>
            </a:pPr>
            <a:r>
              <a:rPr b="1" i="0" lang="en-US" sz="1600" u="none" cap="none" strike="noStrike">
                <a:solidFill>
                  <a:srgbClr val="1F2D3A"/>
                </a:solidFill>
                <a:latin typeface="Cambria"/>
                <a:ea typeface="Cambria"/>
                <a:cs typeface="Cambria"/>
                <a:sym typeface="Cambria"/>
              </a:rPr>
              <a:t>Complementarity is the essence of coexistence</a:t>
            </a:r>
            <a:endParaRPr b="0" i="0" sz="1600" u="none" cap="none" strike="noStrike">
              <a:solidFill>
                <a:schemeClr val="dk1"/>
              </a:solidFill>
              <a:latin typeface="Calibri"/>
              <a:ea typeface="Calibri"/>
              <a:cs typeface="Calibri"/>
              <a:sym typeface="Calibri"/>
            </a:endParaRPr>
          </a:p>
        </p:txBody>
      </p:sp>
      <p:sp>
        <p:nvSpPr>
          <p:cNvPr id="128" name="Google Shape;128;p8"/>
          <p:cNvSpPr/>
          <p:nvPr/>
        </p:nvSpPr>
        <p:spPr>
          <a:xfrm>
            <a:off x="548640" y="2286000"/>
            <a:ext cx="5577840" cy="15544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Value reciprocated and mutually recognised in mutuality — the whole structure by which units fulfil one another's essentiality. Nothing is isolated, so the same design runs unbroken from atomic particles, through molecules and bodies, to human assemblies. This is the fact on which the entire establishment rests.</a:t>
            </a:r>
            <a:endParaRPr b="0" i="0" sz="1400" u="none" cap="none" strike="noStrike">
              <a:solidFill>
                <a:schemeClr val="dk1"/>
              </a:solidFill>
              <a:latin typeface="Calibri"/>
              <a:ea typeface="Calibri"/>
              <a:cs typeface="Calibri"/>
              <a:sym typeface="Calibri"/>
            </a:endParaRPr>
          </a:p>
        </p:txBody>
      </p:sp>
      <p:sp>
        <p:nvSpPr>
          <p:cNvPr id="129" name="Google Shape;129;p8"/>
          <p:cNvSpPr/>
          <p:nvPr/>
        </p:nvSpPr>
        <p:spPr>
          <a:xfrm>
            <a:off x="548640" y="3977640"/>
            <a:ext cx="2697480" cy="1783080"/>
          </a:xfrm>
          <a:prstGeom prst="roundRect">
            <a:avLst>
              <a:gd fmla="val 3590" name="adj"/>
            </a:avLst>
          </a:prstGeom>
          <a:solidFill>
            <a:srgbClr val="E8EEE4"/>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8"/>
          <p:cNvSpPr/>
          <p:nvPr/>
        </p:nvSpPr>
        <p:spPr>
          <a:xfrm>
            <a:off x="731520" y="4160520"/>
            <a:ext cx="23774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4A32"/>
              </a:buClr>
              <a:buSzPts val="1400"/>
              <a:buFont typeface="Cambria"/>
              <a:buNone/>
            </a:pPr>
            <a:r>
              <a:rPr b="1" i="0" lang="en-US" sz="1400" u="none" cap="none" strike="noStrike">
                <a:solidFill>
                  <a:srgbClr val="2F4A32"/>
                </a:solidFill>
                <a:latin typeface="Cambria"/>
                <a:ea typeface="Cambria"/>
                <a:cs typeface="Cambria"/>
                <a:sym typeface="Cambria"/>
              </a:rPr>
              <a:t>Natural state</a:t>
            </a:r>
            <a:endParaRPr b="0" i="0" sz="1400" u="none" cap="none" strike="noStrike">
              <a:solidFill>
                <a:schemeClr val="dk1"/>
              </a:solidFill>
              <a:latin typeface="Calibri"/>
              <a:ea typeface="Calibri"/>
              <a:cs typeface="Calibri"/>
              <a:sym typeface="Calibri"/>
            </a:endParaRPr>
          </a:p>
        </p:txBody>
      </p:sp>
      <p:sp>
        <p:nvSpPr>
          <p:cNvPr id="131" name="Google Shape;131;p8"/>
          <p:cNvSpPr/>
          <p:nvPr/>
        </p:nvSpPr>
        <p:spPr>
          <a:xfrm>
            <a:off x="731520" y="4526280"/>
            <a:ext cx="2377440" cy="10972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200"/>
              <a:buFont typeface="Calibri"/>
              <a:buNone/>
            </a:pPr>
            <a:r>
              <a:rPr b="0" i="0" lang="en-US" sz="1200" u="none" cap="none" strike="noStrike">
                <a:solidFill>
                  <a:srgbClr val="3F4D57"/>
                </a:solidFill>
                <a:latin typeface="Calibri"/>
                <a:ea typeface="Calibri"/>
                <a:cs typeface="Calibri"/>
                <a:sym typeface="Calibri"/>
              </a:rPr>
              <a:t>Unit moves toward development, reciprocating in complementarity.</a:t>
            </a:r>
            <a:endParaRPr b="0" i="0" sz="1200" u="none" cap="none" strike="noStrike">
              <a:solidFill>
                <a:schemeClr val="dk1"/>
              </a:solidFill>
              <a:latin typeface="Calibri"/>
              <a:ea typeface="Calibri"/>
              <a:cs typeface="Calibri"/>
              <a:sym typeface="Calibri"/>
            </a:endParaRPr>
          </a:p>
        </p:txBody>
      </p:sp>
      <p:sp>
        <p:nvSpPr>
          <p:cNvPr id="132" name="Google Shape;132;p8"/>
          <p:cNvSpPr/>
          <p:nvPr/>
        </p:nvSpPr>
        <p:spPr>
          <a:xfrm>
            <a:off x="3429000" y="3977640"/>
            <a:ext cx="2697480" cy="1783080"/>
          </a:xfrm>
          <a:prstGeom prst="roundRect">
            <a:avLst>
              <a:gd fmla="val 3590" name="adj"/>
            </a:avLst>
          </a:prstGeom>
          <a:solidFill>
            <a:srgbClr val="F2E5E2"/>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8"/>
          <p:cNvSpPr/>
          <p:nvPr/>
        </p:nvSpPr>
        <p:spPr>
          <a:xfrm>
            <a:off x="3611880" y="4160520"/>
            <a:ext cx="23774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4030"/>
              </a:buClr>
              <a:buSzPts val="1400"/>
              <a:buFont typeface="Cambria"/>
              <a:buNone/>
            </a:pPr>
            <a:r>
              <a:rPr b="1" i="0" lang="en-US" sz="1400" u="none" cap="none" strike="noStrike">
                <a:solidFill>
                  <a:srgbClr val="8A4030"/>
                </a:solidFill>
                <a:latin typeface="Cambria"/>
                <a:ea typeface="Cambria"/>
                <a:cs typeface="Cambria"/>
                <a:sym typeface="Cambria"/>
              </a:rPr>
              <a:t>Excited state</a:t>
            </a:r>
            <a:endParaRPr b="0" i="0" sz="1400" u="none" cap="none" strike="noStrike">
              <a:solidFill>
                <a:schemeClr val="dk1"/>
              </a:solidFill>
              <a:latin typeface="Calibri"/>
              <a:ea typeface="Calibri"/>
              <a:cs typeface="Calibri"/>
              <a:sym typeface="Calibri"/>
            </a:endParaRPr>
          </a:p>
        </p:txBody>
      </p:sp>
      <p:sp>
        <p:nvSpPr>
          <p:cNvPr id="134" name="Google Shape;134;p8"/>
          <p:cNvSpPr/>
          <p:nvPr/>
        </p:nvSpPr>
        <p:spPr>
          <a:xfrm>
            <a:off x="3611880" y="4526280"/>
            <a:ext cx="2377440" cy="10972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200"/>
              <a:buFont typeface="Calibri"/>
              <a:buNone/>
            </a:pPr>
            <a:r>
              <a:rPr b="0" i="0" lang="en-US" sz="1200" u="none" cap="none" strike="noStrike">
                <a:solidFill>
                  <a:srgbClr val="3F4D57"/>
                </a:solidFill>
                <a:latin typeface="Calibri"/>
                <a:ea typeface="Calibri"/>
                <a:cs typeface="Calibri"/>
                <a:sym typeface="Calibri"/>
              </a:rPr>
              <a:t>Complementarity falls short; the unit moves toward decline.</a:t>
            </a:r>
            <a:endParaRPr b="0" i="0" sz="1200" u="none" cap="none" strike="noStrike">
              <a:solidFill>
                <a:schemeClr val="dk1"/>
              </a:solidFill>
              <a:latin typeface="Calibri"/>
              <a:ea typeface="Calibri"/>
              <a:cs typeface="Calibri"/>
              <a:sym typeface="Calibri"/>
            </a:endParaRPr>
          </a:p>
        </p:txBody>
      </p:sp>
      <p:sp>
        <p:nvSpPr>
          <p:cNvPr id="135" name="Google Shape;135;p8"/>
          <p:cNvSpPr/>
          <p:nvPr/>
        </p:nvSpPr>
        <p:spPr>
          <a:xfrm>
            <a:off x="6492240" y="1783080"/>
            <a:ext cx="51206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1600"/>
              <a:buFont typeface="Cambria"/>
              <a:buNone/>
            </a:pPr>
            <a:r>
              <a:rPr b="1" i="0" lang="en-US" sz="1600" u="none" cap="none" strike="noStrike">
                <a:solidFill>
                  <a:srgbClr val="1F2D3A"/>
                </a:solidFill>
                <a:latin typeface="Cambria"/>
                <a:ea typeface="Cambria"/>
                <a:cs typeface="Cambria"/>
                <a:sym typeface="Cambria"/>
              </a:rPr>
              <a:t>The regulation ladder (reads upward)</a:t>
            </a:r>
            <a:endParaRPr b="0" i="0" sz="1600" u="none" cap="none" strike="noStrike">
              <a:solidFill>
                <a:schemeClr val="dk1"/>
              </a:solidFill>
              <a:latin typeface="Calibri"/>
              <a:ea typeface="Calibri"/>
              <a:cs typeface="Calibri"/>
              <a:sym typeface="Calibri"/>
            </a:endParaRPr>
          </a:p>
        </p:txBody>
      </p:sp>
      <p:sp>
        <p:nvSpPr>
          <p:cNvPr id="136" name="Google Shape;136;p8"/>
          <p:cNvSpPr/>
          <p:nvPr/>
        </p:nvSpPr>
        <p:spPr>
          <a:xfrm>
            <a:off x="6492240" y="2286000"/>
            <a:ext cx="5120640" cy="566928"/>
          </a:xfrm>
          <a:prstGeom prst="roundRect">
            <a:avLst>
              <a:gd fmla="val 8065" name="adj"/>
            </a:avLst>
          </a:prstGeom>
          <a:solidFill>
            <a:srgbClr val="2F5168">
              <a:alpha val="9215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8"/>
          <p:cNvSpPr/>
          <p:nvPr/>
        </p:nvSpPr>
        <p:spPr>
          <a:xfrm>
            <a:off x="6601968" y="2404872"/>
            <a:ext cx="329184" cy="329184"/>
          </a:xfrm>
          <a:prstGeom prst="ellipse">
            <a:avLst/>
          </a:prstGeom>
          <a:solidFill>
            <a:srgbClr val="FFFFFF">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8"/>
          <p:cNvSpPr/>
          <p:nvPr/>
        </p:nvSpPr>
        <p:spPr>
          <a:xfrm>
            <a:off x="6601968" y="240487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F5168"/>
              </a:buClr>
              <a:buSzPts val="1300"/>
              <a:buFont typeface="Cambria"/>
              <a:buNone/>
            </a:pPr>
            <a:r>
              <a:rPr b="1" i="0" lang="en-US" sz="1300" u="none" cap="none" strike="noStrike">
                <a:solidFill>
                  <a:srgbClr val="2F5168"/>
                </a:solidFill>
                <a:latin typeface="Cambria"/>
                <a:ea typeface="Cambria"/>
                <a:cs typeface="Cambria"/>
                <a:sym typeface="Cambria"/>
              </a:rPr>
              <a:t>6</a:t>
            </a:r>
            <a:endParaRPr b="0" i="0" sz="1300" u="none" cap="none" strike="noStrike">
              <a:solidFill>
                <a:schemeClr val="dk1"/>
              </a:solidFill>
              <a:latin typeface="Calibri"/>
              <a:ea typeface="Calibri"/>
              <a:cs typeface="Calibri"/>
              <a:sym typeface="Calibri"/>
            </a:endParaRPr>
          </a:p>
        </p:txBody>
      </p:sp>
      <p:sp>
        <p:nvSpPr>
          <p:cNvPr id="139" name="Google Shape;139;p8"/>
          <p:cNvSpPr/>
          <p:nvPr/>
        </p:nvSpPr>
        <p:spPr>
          <a:xfrm>
            <a:off x="7059168" y="2286000"/>
            <a:ext cx="4434840" cy="566928"/>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Assembly order — human compositions persist while relationships fulfilled</a:t>
            </a:r>
            <a:endParaRPr b="0" i="0" sz="1100" u="none" cap="none" strike="noStrike">
              <a:solidFill>
                <a:schemeClr val="dk1"/>
              </a:solidFill>
              <a:latin typeface="Calibri"/>
              <a:ea typeface="Calibri"/>
              <a:cs typeface="Calibri"/>
              <a:sym typeface="Calibri"/>
            </a:endParaRPr>
          </a:p>
        </p:txBody>
      </p:sp>
      <p:sp>
        <p:nvSpPr>
          <p:cNvPr id="140" name="Google Shape;140;p8"/>
          <p:cNvSpPr/>
          <p:nvPr/>
        </p:nvSpPr>
        <p:spPr>
          <a:xfrm>
            <a:off x="6492240" y="2926080"/>
            <a:ext cx="5120640" cy="566928"/>
          </a:xfrm>
          <a:prstGeom prst="roundRect">
            <a:avLst>
              <a:gd fmla="val 8065" name="adj"/>
            </a:avLst>
          </a:prstGeom>
          <a:solidFill>
            <a:srgbClr val="2F5168">
              <a:alpha val="8313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
          <p:cNvSpPr/>
          <p:nvPr/>
        </p:nvSpPr>
        <p:spPr>
          <a:xfrm>
            <a:off x="6601968" y="3044952"/>
            <a:ext cx="329184" cy="329184"/>
          </a:xfrm>
          <a:prstGeom prst="ellipse">
            <a:avLst/>
          </a:prstGeom>
          <a:solidFill>
            <a:srgbClr val="FFFFFF">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8"/>
          <p:cNvSpPr/>
          <p:nvPr/>
        </p:nvSpPr>
        <p:spPr>
          <a:xfrm>
            <a:off x="6601968" y="304495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F5168"/>
              </a:buClr>
              <a:buSzPts val="1300"/>
              <a:buFont typeface="Cambria"/>
              <a:buNone/>
            </a:pPr>
            <a:r>
              <a:rPr b="1" i="0" lang="en-US" sz="1300" u="none" cap="none" strike="noStrike">
                <a:solidFill>
                  <a:srgbClr val="2F5168"/>
                </a:solidFill>
                <a:latin typeface="Cambria"/>
                <a:ea typeface="Cambria"/>
                <a:cs typeface="Cambria"/>
                <a:sym typeface="Cambria"/>
              </a:rPr>
              <a:t>5</a:t>
            </a:r>
            <a:endParaRPr b="0" i="0" sz="1300" u="none" cap="none" strike="noStrike">
              <a:solidFill>
                <a:schemeClr val="dk1"/>
              </a:solidFill>
              <a:latin typeface="Calibri"/>
              <a:ea typeface="Calibri"/>
              <a:cs typeface="Calibri"/>
              <a:sym typeface="Calibri"/>
            </a:endParaRPr>
          </a:p>
        </p:txBody>
      </p:sp>
      <p:sp>
        <p:nvSpPr>
          <p:cNvPr id="143" name="Google Shape;143;p8"/>
          <p:cNvSpPr/>
          <p:nvPr/>
        </p:nvSpPr>
        <p:spPr>
          <a:xfrm>
            <a:off x="7059168" y="2926080"/>
            <a:ext cx="4434840" cy="566928"/>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Justice — evaluative closure of the relational cycle</a:t>
            </a:r>
            <a:endParaRPr b="0" i="0" sz="1100" u="none" cap="none" strike="noStrike">
              <a:solidFill>
                <a:schemeClr val="dk1"/>
              </a:solidFill>
              <a:latin typeface="Calibri"/>
              <a:ea typeface="Calibri"/>
              <a:cs typeface="Calibri"/>
              <a:sym typeface="Calibri"/>
            </a:endParaRPr>
          </a:p>
        </p:txBody>
      </p:sp>
      <p:sp>
        <p:nvSpPr>
          <p:cNvPr id="144" name="Google Shape;144;p8"/>
          <p:cNvSpPr/>
          <p:nvPr/>
        </p:nvSpPr>
        <p:spPr>
          <a:xfrm>
            <a:off x="6492240" y="3566160"/>
            <a:ext cx="5120640" cy="566928"/>
          </a:xfrm>
          <a:prstGeom prst="roundRect">
            <a:avLst>
              <a:gd fmla="val 8065" name="adj"/>
            </a:avLst>
          </a:prstGeom>
          <a:solidFill>
            <a:srgbClr val="2F5168">
              <a:alpha val="7411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8"/>
          <p:cNvSpPr/>
          <p:nvPr/>
        </p:nvSpPr>
        <p:spPr>
          <a:xfrm>
            <a:off x="6601968" y="3685032"/>
            <a:ext cx="329184" cy="329184"/>
          </a:xfrm>
          <a:prstGeom prst="ellipse">
            <a:avLst/>
          </a:prstGeom>
          <a:solidFill>
            <a:srgbClr val="FFFFFF">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6601968" y="368503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F5168"/>
              </a:buClr>
              <a:buSzPts val="1300"/>
              <a:buFont typeface="Cambria"/>
              <a:buNone/>
            </a:pPr>
            <a:r>
              <a:rPr b="1" i="0" lang="en-US" sz="1300" u="none" cap="none" strike="noStrike">
                <a:solidFill>
                  <a:srgbClr val="2F5168"/>
                </a:solidFill>
                <a:latin typeface="Cambria"/>
                <a:ea typeface="Cambria"/>
                <a:cs typeface="Cambria"/>
                <a:sym typeface="Cambria"/>
              </a:rPr>
              <a:t>4</a:t>
            </a:r>
            <a:endParaRPr b="0" i="0" sz="1300" u="none" cap="none" strike="noStrike">
              <a:solidFill>
                <a:schemeClr val="dk1"/>
              </a:solidFill>
              <a:latin typeface="Calibri"/>
              <a:ea typeface="Calibri"/>
              <a:cs typeface="Calibri"/>
              <a:sym typeface="Calibri"/>
            </a:endParaRPr>
          </a:p>
        </p:txBody>
      </p:sp>
      <p:sp>
        <p:nvSpPr>
          <p:cNvPr id="147" name="Google Shape;147;p8"/>
          <p:cNvSpPr/>
          <p:nvPr/>
        </p:nvSpPr>
        <p:spPr>
          <a:xfrm>
            <a:off x="7059168" y="3566160"/>
            <a:ext cx="4434840" cy="566928"/>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Inward regulation — mediative atma disciplining the faculties</a:t>
            </a:r>
            <a:endParaRPr b="0" i="0" sz="1100" u="none" cap="none" strike="noStrike">
              <a:solidFill>
                <a:schemeClr val="dk1"/>
              </a:solidFill>
              <a:latin typeface="Calibri"/>
              <a:ea typeface="Calibri"/>
              <a:cs typeface="Calibri"/>
              <a:sym typeface="Calibri"/>
            </a:endParaRPr>
          </a:p>
        </p:txBody>
      </p:sp>
      <p:sp>
        <p:nvSpPr>
          <p:cNvPr id="148" name="Google Shape;148;p8"/>
          <p:cNvSpPr/>
          <p:nvPr/>
        </p:nvSpPr>
        <p:spPr>
          <a:xfrm>
            <a:off x="6492240" y="4206240"/>
            <a:ext cx="5120640" cy="566928"/>
          </a:xfrm>
          <a:prstGeom prst="roundRect">
            <a:avLst>
              <a:gd fmla="val 8065" name="adj"/>
            </a:avLst>
          </a:prstGeom>
          <a:solidFill>
            <a:srgbClr val="2F5168">
              <a:alpha val="6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8"/>
          <p:cNvSpPr/>
          <p:nvPr/>
        </p:nvSpPr>
        <p:spPr>
          <a:xfrm>
            <a:off x="6601968" y="4325112"/>
            <a:ext cx="329184" cy="329184"/>
          </a:xfrm>
          <a:prstGeom prst="ellipse">
            <a:avLst/>
          </a:prstGeom>
          <a:solidFill>
            <a:srgbClr val="FFFFFF">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8"/>
          <p:cNvSpPr/>
          <p:nvPr/>
        </p:nvSpPr>
        <p:spPr>
          <a:xfrm>
            <a:off x="6601968" y="432511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F5168"/>
              </a:buClr>
              <a:buSzPts val="1300"/>
              <a:buFont typeface="Cambria"/>
              <a:buNone/>
            </a:pPr>
            <a:r>
              <a:rPr b="1" i="0" lang="en-US" sz="1300" u="none" cap="none" strike="noStrike">
                <a:solidFill>
                  <a:srgbClr val="2F5168"/>
                </a:solidFill>
                <a:latin typeface="Cambria"/>
                <a:ea typeface="Cambria"/>
                <a:cs typeface="Cambria"/>
                <a:sym typeface="Cambria"/>
              </a:rPr>
              <a:t>3</a:t>
            </a:r>
            <a:endParaRPr b="0" i="0" sz="1300" u="none" cap="none" strike="noStrike">
              <a:solidFill>
                <a:schemeClr val="dk1"/>
              </a:solidFill>
              <a:latin typeface="Calibri"/>
              <a:ea typeface="Calibri"/>
              <a:cs typeface="Calibri"/>
              <a:sym typeface="Calibri"/>
            </a:endParaRPr>
          </a:p>
        </p:txBody>
      </p:sp>
      <p:sp>
        <p:nvSpPr>
          <p:cNvPr id="151" name="Google Shape;151;p8"/>
          <p:cNvSpPr/>
          <p:nvPr/>
        </p:nvSpPr>
        <p:spPr>
          <a:xfrm>
            <a:off x="7059168" y="4206240"/>
            <a:ext cx="4434840" cy="566928"/>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Order conformance — definiteness of conduct at each order</a:t>
            </a:r>
            <a:endParaRPr b="0" i="0" sz="1100" u="none" cap="none" strike="noStrike">
              <a:solidFill>
                <a:schemeClr val="dk1"/>
              </a:solidFill>
              <a:latin typeface="Calibri"/>
              <a:ea typeface="Calibri"/>
              <a:cs typeface="Calibri"/>
              <a:sym typeface="Calibri"/>
            </a:endParaRPr>
          </a:p>
        </p:txBody>
      </p:sp>
      <p:sp>
        <p:nvSpPr>
          <p:cNvPr id="152" name="Google Shape;152;p8"/>
          <p:cNvSpPr/>
          <p:nvPr/>
        </p:nvSpPr>
        <p:spPr>
          <a:xfrm>
            <a:off x="6492240" y="4846320"/>
            <a:ext cx="5120640" cy="566928"/>
          </a:xfrm>
          <a:prstGeom prst="roundRect">
            <a:avLst>
              <a:gd fmla="val 8065" name="adj"/>
            </a:avLst>
          </a:prstGeom>
          <a:solidFill>
            <a:srgbClr val="2F5168">
              <a:alpha val="5607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8"/>
          <p:cNvSpPr/>
          <p:nvPr/>
        </p:nvSpPr>
        <p:spPr>
          <a:xfrm>
            <a:off x="6601968" y="4965192"/>
            <a:ext cx="329184" cy="329184"/>
          </a:xfrm>
          <a:prstGeom prst="ellipse">
            <a:avLst/>
          </a:prstGeom>
          <a:solidFill>
            <a:srgbClr val="FFFFFF">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6601968" y="496519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F5168"/>
              </a:buClr>
              <a:buSzPts val="1300"/>
              <a:buFont typeface="Cambria"/>
              <a:buNone/>
            </a:pPr>
            <a:r>
              <a:rPr b="1" i="0" lang="en-US" sz="1300" u="none" cap="none" strike="noStrike">
                <a:solidFill>
                  <a:srgbClr val="2F5168"/>
                </a:solidFill>
                <a:latin typeface="Cambria"/>
                <a:ea typeface="Cambria"/>
                <a:cs typeface="Cambria"/>
                <a:sym typeface="Cambria"/>
              </a:rPr>
              <a:t>2</a:t>
            </a:r>
            <a:endParaRPr b="0" i="0" sz="1300" u="none" cap="none" strike="noStrike">
              <a:solidFill>
                <a:schemeClr val="dk1"/>
              </a:solidFill>
              <a:latin typeface="Calibri"/>
              <a:ea typeface="Calibri"/>
              <a:cs typeface="Calibri"/>
              <a:sym typeface="Calibri"/>
            </a:endParaRPr>
          </a:p>
        </p:txBody>
      </p:sp>
      <p:sp>
        <p:nvSpPr>
          <p:cNvPr id="155" name="Google Shape;155;p8"/>
          <p:cNvSpPr/>
          <p:nvPr/>
        </p:nvSpPr>
        <p:spPr>
          <a:xfrm>
            <a:off x="7059168" y="4846320"/>
            <a:ext cx="4434840" cy="566928"/>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Law — mutual-recognition provision, structurally real</a:t>
            </a:r>
            <a:endParaRPr b="0" i="0" sz="1100" u="none" cap="none" strike="noStrike">
              <a:solidFill>
                <a:schemeClr val="dk1"/>
              </a:solidFill>
              <a:latin typeface="Calibri"/>
              <a:ea typeface="Calibri"/>
              <a:cs typeface="Calibri"/>
              <a:sym typeface="Calibri"/>
            </a:endParaRPr>
          </a:p>
        </p:txBody>
      </p:sp>
      <p:sp>
        <p:nvSpPr>
          <p:cNvPr id="156" name="Google Shape;156;p8"/>
          <p:cNvSpPr/>
          <p:nvPr/>
        </p:nvSpPr>
        <p:spPr>
          <a:xfrm>
            <a:off x="6492240" y="5486400"/>
            <a:ext cx="5120640" cy="566928"/>
          </a:xfrm>
          <a:prstGeom prst="roundRect">
            <a:avLst>
              <a:gd fmla="val 8065" name="adj"/>
            </a:avLst>
          </a:prstGeom>
          <a:solidFill>
            <a:srgbClr val="2F5168">
              <a:alpha val="4705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6601968" y="5605272"/>
            <a:ext cx="329184" cy="329184"/>
          </a:xfrm>
          <a:prstGeom prst="ellipse">
            <a:avLst/>
          </a:prstGeom>
          <a:solidFill>
            <a:srgbClr val="FFFFFF">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8"/>
          <p:cNvSpPr/>
          <p:nvPr/>
        </p:nvSpPr>
        <p:spPr>
          <a:xfrm>
            <a:off x="6601968" y="560527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F5168"/>
              </a:buClr>
              <a:buSzPts val="1300"/>
              <a:buFont typeface="Cambria"/>
              <a:buNone/>
            </a:pPr>
            <a:r>
              <a:rPr b="1" i="0" lang="en-US" sz="1300" u="none" cap="none" strike="noStrike">
                <a:solidFill>
                  <a:srgbClr val="2F5168"/>
                </a:solidFill>
                <a:latin typeface="Cambria"/>
                <a:ea typeface="Cambria"/>
                <a:cs typeface="Cambria"/>
                <a:sym typeface="Cambria"/>
              </a:rPr>
              <a:t>1</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7059168" y="5486400"/>
            <a:ext cx="4434840" cy="566928"/>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Saturation — inherent energy and order in each unit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sp>
        <p:nvSpPr>
          <p:cNvPr id="165" name="Google Shape;165;p9"/>
          <p:cNvSpPr/>
          <p:nvPr/>
        </p:nvSpPr>
        <p:spPr>
          <a:xfrm>
            <a:off x="548640" y="475488"/>
            <a:ext cx="457200" cy="457200"/>
          </a:xfrm>
          <a:prstGeom prst="ellipse">
            <a:avLst/>
          </a:prstGeom>
          <a:solidFill>
            <a:srgbClr val="2F4A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1</a:t>
            </a:r>
            <a:endParaRPr b="0" i="0" sz="1900" u="none" cap="none" strike="noStrike">
              <a:solidFill>
                <a:schemeClr val="dk1"/>
              </a:solidFill>
              <a:latin typeface="Calibri"/>
              <a:ea typeface="Calibri"/>
              <a:cs typeface="Calibri"/>
              <a:sym typeface="Calibri"/>
            </a:endParaRPr>
          </a:p>
        </p:txBody>
      </p:sp>
      <p:sp>
        <p:nvSpPr>
          <p:cNvPr id="167" name="Google Shape;167;p9"/>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4A32"/>
              </a:buClr>
              <a:buSzPts val="1250"/>
              <a:buFont typeface="Calibri"/>
              <a:buNone/>
            </a:pPr>
            <a:r>
              <a:rPr b="1" i="0" lang="en-US" sz="1250" u="none" cap="none" strike="noStrike">
                <a:solidFill>
                  <a:srgbClr val="2F4A32"/>
                </a:solidFill>
                <a:latin typeface="Calibri"/>
                <a:ea typeface="Calibri"/>
                <a:cs typeface="Calibri"/>
                <a:sym typeface="Calibri"/>
              </a:rPr>
              <a:t>LAYER 1  ·  COMPOSITION THROUGH ORDERS</a:t>
            </a:r>
            <a:endParaRPr b="0" i="0" sz="1250" u="none" cap="none" strike="noStrike">
              <a:solidFill>
                <a:schemeClr val="dk1"/>
              </a:solidFill>
              <a:latin typeface="Calibri"/>
              <a:ea typeface="Calibri"/>
              <a:cs typeface="Calibri"/>
              <a:sym typeface="Calibri"/>
            </a:endParaRPr>
          </a:p>
        </p:txBody>
      </p:sp>
      <p:sp>
        <p:nvSpPr>
          <p:cNvPr id="168" name="Google Shape;168;p9"/>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4A32"/>
              </a:buClr>
              <a:buSzPts val="3100"/>
              <a:buFont typeface="Cambria"/>
              <a:buNone/>
            </a:pPr>
            <a:r>
              <a:rPr b="1" i="0" lang="en-US" sz="3100" u="none" cap="none" strike="noStrike">
                <a:solidFill>
                  <a:srgbClr val="2F4A32"/>
                </a:solidFill>
                <a:latin typeface="Cambria"/>
                <a:ea typeface="Cambria"/>
                <a:cs typeface="Cambria"/>
                <a:sym typeface="Cambria"/>
              </a:rPr>
              <a:t>Four orders and the way of existence</a:t>
            </a:r>
            <a:endParaRPr b="0" i="0" sz="3100" u="none" cap="none" strike="noStrike">
              <a:solidFill>
                <a:schemeClr val="dk1"/>
              </a:solidFill>
              <a:latin typeface="Calibri"/>
              <a:ea typeface="Calibri"/>
              <a:cs typeface="Calibri"/>
              <a:sym typeface="Calibri"/>
            </a:endParaRPr>
          </a:p>
        </p:txBody>
      </p:sp>
      <p:sp>
        <p:nvSpPr>
          <p:cNvPr id="169" name="Google Shape;169;p9"/>
          <p:cNvSpPr/>
          <p:nvPr/>
        </p:nvSpPr>
        <p:spPr>
          <a:xfrm>
            <a:off x="548640" y="1737360"/>
            <a:ext cx="11064240" cy="8686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Saturated units compose through four orders, each conforming to its own definite way. Higher orders include the lower dharmas cumulatively. Insentient matter and bio belong to the lower orders; “hope to live” enters at the animal order.</a:t>
            </a:r>
            <a:endParaRPr b="0" i="0" sz="1400" u="none" cap="none" strike="noStrike">
              <a:solidFill>
                <a:schemeClr val="dk1"/>
              </a:solidFill>
              <a:latin typeface="Calibri"/>
              <a:ea typeface="Calibri"/>
              <a:cs typeface="Calibri"/>
              <a:sym typeface="Calibri"/>
            </a:endParaRPr>
          </a:p>
        </p:txBody>
      </p:sp>
      <p:graphicFrame>
        <p:nvGraphicFramePr>
          <p:cNvPr id="170" name="Google Shape;170;p9"/>
          <p:cNvGraphicFramePr/>
          <p:nvPr/>
        </p:nvGraphicFramePr>
        <p:xfrm>
          <a:off x="548640" y="2788920"/>
          <a:ext cx="3000000" cy="3000000"/>
        </p:xfrm>
        <a:graphic>
          <a:graphicData uri="http://schemas.openxmlformats.org/drawingml/2006/table">
            <a:tbl>
              <a:tblPr>
                <a:noFill/>
                <a:tableStyleId>{823F6527-06EA-4F18-B08A-21B734C330FC}</a:tableStyleId>
              </a:tblPr>
              <a:tblGrid>
                <a:gridCol w="2286000"/>
                <a:gridCol w="2743200"/>
                <a:gridCol w="2377450"/>
              </a:tblGrid>
              <a:tr h="365750">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Order</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4A32"/>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Conformance mode</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4A32"/>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Definite or achieved</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4A32"/>
                    </a:solidFill>
                  </a:tcPr>
                </a:tc>
              </a:tr>
              <a:tr h="566925">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Material (padarth)</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Result- / structural-conformance</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Definite</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Bio / pranic (pran)</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Seed-conformance (genetic code, lineage)</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Definite</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Animal (jeev)</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Species-conformance</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Definite</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713225">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Knowledge / human (gyan)</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Sanskar-conformance</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200"/>
                        <a:buFont typeface="Calibri"/>
                        <a:buNone/>
                      </a:pPr>
                      <a:r>
                        <a:rPr lang="en-US" sz="1200" u="none" cap="none" strike="noStrike">
                          <a:solidFill>
                            <a:srgbClr val="2A3640"/>
                          </a:solidFill>
                          <a:latin typeface="Calibri"/>
                          <a:ea typeface="Calibri"/>
                          <a:cs typeface="Calibri"/>
                          <a:sym typeface="Calibri"/>
                        </a:rPr>
                        <a:t>ACHIEVED — knowing → believing → recognising → fulfilling</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bl>
          </a:graphicData>
        </a:graphic>
      </p:graphicFrame>
      <p:sp>
        <p:nvSpPr>
          <p:cNvPr id="171" name="Google Shape;171;p9"/>
          <p:cNvSpPr/>
          <p:nvPr/>
        </p:nvSpPr>
        <p:spPr>
          <a:xfrm>
            <a:off x="8183880" y="2788920"/>
            <a:ext cx="3429000" cy="3108960"/>
          </a:xfrm>
          <a:prstGeom prst="roundRect">
            <a:avLst>
              <a:gd fmla="val 2353" name="adj"/>
            </a:avLst>
          </a:prstGeom>
          <a:solidFill>
            <a:srgbClr val="E8EEE4"/>
          </a:solidFill>
          <a:ln cap="flat" cmpd="sng" w="12700">
            <a:solidFill>
              <a:srgbClr val="A3B8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9"/>
          <p:cNvSpPr/>
          <p:nvPr/>
        </p:nvSpPr>
        <p:spPr>
          <a:xfrm>
            <a:off x="8412480" y="3017520"/>
            <a:ext cx="29718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4A32"/>
              </a:buClr>
              <a:buSzPts val="1500"/>
              <a:buFont typeface="Cambria"/>
              <a:buNone/>
            </a:pPr>
            <a:r>
              <a:rPr b="1" i="0" lang="en-US" sz="1500" u="none" cap="none" strike="noStrike">
                <a:solidFill>
                  <a:srgbClr val="2F4A32"/>
                </a:solidFill>
                <a:latin typeface="Cambria"/>
                <a:ea typeface="Cambria"/>
                <a:cs typeface="Cambria"/>
                <a:sym typeface="Cambria"/>
              </a:rPr>
              <a:t>Why human society is different</a:t>
            </a:r>
            <a:endParaRPr b="0" i="0" sz="1500" u="none" cap="none" strike="noStrike">
              <a:solidFill>
                <a:schemeClr val="dk1"/>
              </a:solidFill>
              <a:latin typeface="Calibri"/>
              <a:ea typeface="Calibri"/>
              <a:cs typeface="Calibri"/>
              <a:sym typeface="Calibri"/>
            </a:endParaRPr>
          </a:p>
        </p:txBody>
      </p:sp>
      <p:sp>
        <p:nvSpPr>
          <p:cNvPr id="173" name="Google Shape;173;p9"/>
          <p:cNvSpPr/>
          <p:nvPr/>
        </p:nvSpPr>
        <p:spPr>
          <a:xfrm>
            <a:off x="8412480" y="3566160"/>
            <a:ext cx="2971800" cy="22402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Humans conform to sanskar — understanding and conditioning — not to genetic code or lineage. So the method of composing human society cannot be transmitted biologically. A stable assembly must perpetuate itself by transmitting realised understanding across generations. That makes education-sanskar the primary engine of undivided society.</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0"/>
          <p:cNvSpPr/>
          <p:nvPr/>
        </p:nvSpPr>
        <p:spPr>
          <a:xfrm>
            <a:off x="548640" y="475488"/>
            <a:ext cx="457200" cy="457200"/>
          </a:xfrm>
          <a:prstGeom prst="ellipse">
            <a:avLst/>
          </a:prstGeom>
          <a:solidFill>
            <a:srgbClr val="2F4A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0"/>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1</a:t>
            </a:r>
            <a:endParaRPr b="0" i="0" sz="1900" u="none" cap="none" strike="noStrike">
              <a:solidFill>
                <a:schemeClr val="dk1"/>
              </a:solidFill>
              <a:latin typeface="Calibri"/>
              <a:ea typeface="Calibri"/>
              <a:cs typeface="Calibri"/>
              <a:sym typeface="Calibri"/>
            </a:endParaRPr>
          </a:p>
        </p:txBody>
      </p:sp>
      <p:sp>
        <p:nvSpPr>
          <p:cNvPr id="181" name="Google Shape;181;p10"/>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4A32"/>
              </a:buClr>
              <a:buSzPts val="1250"/>
              <a:buFont typeface="Calibri"/>
              <a:buNone/>
            </a:pPr>
            <a:r>
              <a:rPr b="1" i="0" lang="en-US" sz="1250" u="none" cap="none" strike="noStrike">
                <a:solidFill>
                  <a:srgbClr val="2F4A32"/>
                </a:solidFill>
                <a:latin typeface="Calibri"/>
                <a:ea typeface="Calibri"/>
                <a:cs typeface="Calibri"/>
                <a:sym typeface="Calibri"/>
              </a:rPr>
              <a:t>LAYER 1  ·  COMPOSITION THROUGH ORDERS</a:t>
            </a:r>
            <a:endParaRPr b="0" i="0" sz="1250" u="none" cap="none" strike="noStrike">
              <a:solidFill>
                <a:schemeClr val="dk1"/>
              </a:solidFill>
              <a:latin typeface="Calibri"/>
              <a:ea typeface="Calibri"/>
              <a:cs typeface="Calibri"/>
              <a:sym typeface="Calibri"/>
            </a:endParaRPr>
          </a:p>
        </p:txBody>
      </p:sp>
      <p:sp>
        <p:nvSpPr>
          <p:cNvPr id="182" name="Google Shape;182;p10"/>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4A32"/>
              </a:buClr>
              <a:buSzPts val="3100"/>
              <a:buFont typeface="Cambria"/>
              <a:buNone/>
            </a:pPr>
            <a:r>
              <a:rPr b="1" i="0" lang="en-US" sz="3100" u="none" cap="none" strike="noStrike">
                <a:solidFill>
                  <a:srgbClr val="2F4A32"/>
                </a:solidFill>
                <a:latin typeface="Cambria"/>
                <a:ea typeface="Cambria"/>
                <a:cs typeface="Cambria"/>
                <a:sym typeface="Cambria"/>
              </a:rPr>
              <a:t>Six kinds of value</a:t>
            </a:r>
            <a:endParaRPr b="0" i="0" sz="3100" u="none" cap="none" strike="noStrike">
              <a:solidFill>
                <a:schemeClr val="dk1"/>
              </a:solidFill>
              <a:latin typeface="Calibri"/>
              <a:ea typeface="Calibri"/>
              <a:cs typeface="Calibri"/>
              <a:sym typeface="Calibri"/>
            </a:endParaRPr>
          </a:p>
        </p:txBody>
      </p:sp>
      <p:sp>
        <p:nvSpPr>
          <p:cNvPr id="183" name="Google Shape;183;p10"/>
          <p:cNvSpPr/>
          <p:nvPr/>
        </p:nvSpPr>
        <p:spPr>
          <a:xfrm>
            <a:off x="548640" y="1737360"/>
            <a:ext cx="1106424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What units reciprocate is value — essentiality in every order. At the knowledge order, essentiality sorts into six kinds. Justice is the operation on these values; it is not one of them.</a:t>
            </a:r>
            <a:endParaRPr b="0" i="0" sz="1400" u="none" cap="none" strike="noStrike">
              <a:solidFill>
                <a:schemeClr val="dk1"/>
              </a:solidFill>
              <a:latin typeface="Calibri"/>
              <a:ea typeface="Calibri"/>
              <a:cs typeface="Calibri"/>
              <a:sym typeface="Calibri"/>
            </a:endParaRPr>
          </a:p>
        </p:txBody>
      </p:sp>
      <p:sp>
        <p:nvSpPr>
          <p:cNvPr id="184" name="Google Shape;184;p10"/>
          <p:cNvSpPr/>
          <p:nvPr/>
        </p:nvSpPr>
        <p:spPr>
          <a:xfrm>
            <a:off x="548640" y="2514600"/>
            <a:ext cx="3566160" cy="1417320"/>
          </a:xfrm>
          <a:prstGeom prst="roundRect">
            <a:avLst>
              <a:gd fmla="val 4516" name="adj"/>
            </a:avLst>
          </a:prstGeom>
          <a:solidFill>
            <a:srgbClr val="E8EEE4"/>
          </a:solidFill>
          <a:ln cap="flat" cmpd="sng" w="12700">
            <a:solidFill>
              <a:srgbClr val="A3B89A"/>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0"/>
          <p:cNvSpPr/>
          <p:nvPr/>
        </p:nvSpPr>
        <p:spPr>
          <a:xfrm>
            <a:off x="749808" y="2697480"/>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3B89A"/>
              </a:buClr>
              <a:buSzPts val="2600"/>
              <a:buFont typeface="Cambria"/>
              <a:buNone/>
            </a:pPr>
            <a:r>
              <a:rPr b="1" i="0" lang="en-US" sz="2600" u="none" cap="none" strike="noStrike">
                <a:solidFill>
                  <a:srgbClr val="A3B89A"/>
                </a:solidFill>
                <a:latin typeface="Cambria"/>
                <a:ea typeface="Cambria"/>
                <a:cs typeface="Cambria"/>
                <a:sym typeface="Cambria"/>
              </a:rPr>
              <a:t>1</a:t>
            </a:r>
            <a:endParaRPr b="0" i="0" sz="2600" u="none" cap="none" strike="noStrike">
              <a:solidFill>
                <a:schemeClr val="dk1"/>
              </a:solidFill>
              <a:latin typeface="Calibri"/>
              <a:ea typeface="Calibri"/>
              <a:cs typeface="Calibri"/>
              <a:sym typeface="Calibri"/>
            </a:endParaRPr>
          </a:p>
        </p:txBody>
      </p:sp>
      <p:sp>
        <p:nvSpPr>
          <p:cNvPr id="186" name="Google Shape;186;p10"/>
          <p:cNvSpPr/>
          <p:nvPr/>
        </p:nvSpPr>
        <p:spPr>
          <a:xfrm>
            <a:off x="1261872" y="2697480"/>
            <a:ext cx="2651760" cy="502920"/>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2F4A32"/>
              </a:buClr>
              <a:buSzPts val="1450"/>
              <a:buFont typeface="Cambria"/>
              <a:buNone/>
            </a:pPr>
            <a:r>
              <a:rPr b="1" i="0" lang="en-US" sz="1450" u="none" cap="none" strike="noStrike">
                <a:solidFill>
                  <a:srgbClr val="2F4A32"/>
                </a:solidFill>
                <a:latin typeface="Cambria"/>
                <a:ea typeface="Cambria"/>
                <a:cs typeface="Cambria"/>
                <a:sym typeface="Cambria"/>
              </a:rPr>
              <a:t>Utility (upyogita)</a:t>
            </a:r>
            <a:endParaRPr b="0" i="0" sz="1450" u="none" cap="none" strike="noStrike">
              <a:solidFill>
                <a:schemeClr val="dk1"/>
              </a:solidFill>
              <a:latin typeface="Calibri"/>
              <a:ea typeface="Calibri"/>
              <a:cs typeface="Calibri"/>
              <a:sym typeface="Calibri"/>
            </a:endParaRPr>
          </a:p>
        </p:txBody>
      </p:sp>
      <p:sp>
        <p:nvSpPr>
          <p:cNvPr id="187" name="Google Shape;187;p10"/>
          <p:cNvSpPr/>
          <p:nvPr/>
        </p:nvSpPr>
        <p:spPr>
          <a:xfrm>
            <a:off x="804672" y="3227832"/>
            <a:ext cx="3108960"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Usefulness of natural abundance through labour.</a:t>
            </a:r>
            <a:endParaRPr b="0" i="0" sz="1150" u="none" cap="none" strike="noStrike">
              <a:solidFill>
                <a:schemeClr val="dk1"/>
              </a:solidFill>
              <a:latin typeface="Calibri"/>
              <a:ea typeface="Calibri"/>
              <a:cs typeface="Calibri"/>
              <a:sym typeface="Calibri"/>
            </a:endParaRPr>
          </a:p>
        </p:txBody>
      </p:sp>
      <p:sp>
        <p:nvSpPr>
          <p:cNvPr id="188" name="Google Shape;188;p10"/>
          <p:cNvSpPr/>
          <p:nvPr/>
        </p:nvSpPr>
        <p:spPr>
          <a:xfrm>
            <a:off x="4361688" y="2514600"/>
            <a:ext cx="3566160" cy="1417320"/>
          </a:xfrm>
          <a:prstGeom prst="roundRect">
            <a:avLst>
              <a:gd fmla="val 4516" name="adj"/>
            </a:avLst>
          </a:prstGeom>
          <a:solidFill>
            <a:srgbClr val="F6F8FA"/>
          </a:solidFill>
          <a:ln cap="flat" cmpd="sng" w="12700">
            <a:solidFill>
              <a:srgbClr val="A3B89A"/>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0"/>
          <p:cNvSpPr/>
          <p:nvPr/>
        </p:nvSpPr>
        <p:spPr>
          <a:xfrm>
            <a:off x="4562856" y="2697480"/>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3B89A"/>
              </a:buClr>
              <a:buSzPts val="2600"/>
              <a:buFont typeface="Cambria"/>
              <a:buNone/>
            </a:pPr>
            <a:r>
              <a:rPr b="1" i="0" lang="en-US" sz="2600" u="none" cap="none" strike="noStrike">
                <a:solidFill>
                  <a:srgbClr val="A3B89A"/>
                </a:solidFill>
                <a:latin typeface="Cambria"/>
                <a:ea typeface="Cambria"/>
                <a:cs typeface="Cambria"/>
                <a:sym typeface="Cambria"/>
              </a:rPr>
              <a:t>2</a:t>
            </a:r>
            <a:endParaRPr b="0" i="0" sz="2600" u="none" cap="none" strike="noStrike">
              <a:solidFill>
                <a:schemeClr val="dk1"/>
              </a:solidFill>
              <a:latin typeface="Calibri"/>
              <a:ea typeface="Calibri"/>
              <a:cs typeface="Calibri"/>
              <a:sym typeface="Calibri"/>
            </a:endParaRPr>
          </a:p>
        </p:txBody>
      </p:sp>
      <p:sp>
        <p:nvSpPr>
          <p:cNvPr id="190" name="Google Shape;190;p10"/>
          <p:cNvSpPr/>
          <p:nvPr/>
        </p:nvSpPr>
        <p:spPr>
          <a:xfrm>
            <a:off x="5074920" y="2697480"/>
            <a:ext cx="2651760" cy="502920"/>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2F4A32"/>
              </a:buClr>
              <a:buSzPts val="1450"/>
              <a:buFont typeface="Cambria"/>
              <a:buNone/>
            </a:pPr>
            <a:r>
              <a:rPr b="1" i="0" lang="en-US" sz="1450" u="none" cap="none" strike="noStrike">
                <a:solidFill>
                  <a:srgbClr val="2F4A32"/>
                </a:solidFill>
                <a:latin typeface="Cambria"/>
                <a:ea typeface="Cambria"/>
                <a:cs typeface="Cambria"/>
                <a:sym typeface="Cambria"/>
              </a:rPr>
              <a:t>Art (kala)</a:t>
            </a:r>
            <a:endParaRPr b="0" i="0" sz="1450" u="none" cap="none" strike="noStrike">
              <a:solidFill>
                <a:schemeClr val="dk1"/>
              </a:solidFill>
              <a:latin typeface="Calibri"/>
              <a:ea typeface="Calibri"/>
              <a:cs typeface="Calibri"/>
              <a:sym typeface="Calibri"/>
            </a:endParaRPr>
          </a:p>
        </p:txBody>
      </p:sp>
      <p:sp>
        <p:nvSpPr>
          <p:cNvPr id="191" name="Google Shape;191;p10"/>
          <p:cNvSpPr/>
          <p:nvPr/>
        </p:nvSpPr>
        <p:spPr>
          <a:xfrm>
            <a:off x="4617720" y="3227832"/>
            <a:ext cx="3108960"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Aesthetic enhancement layered on usefulness.</a:t>
            </a:r>
            <a:endParaRPr b="0" i="0" sz="1150" u="none" cap="none" strike="noStrike">
              <a:solidFill>
                <a:schemeClr val="dk1"/>
              </a:solidFill>
              <a:latin typeface="Calibri"/>
              <a:ea typeface="Calibri"/>
              <a:cs typeface="Calibri"/>
              <a:sym typeface="Calibri"/>
            </a:endParaRPr>
          </a:p>
        </p:txBody>
      </p:sp>
      <p:sp>
        <p:nvSpPr>
          <p:cNvPr id="192" name="Google Shape;192;p10"/>
          <p:cNvSpPr/>
          <p:nvPr/>
        </p:nvSpPr>
        <p:spPr>
          <a:xfrm>
            <a:off x="8174736" y="2514600"/>
            <a:ext cx="3566160" cy="1417320"/>
          </a:xfrm>
          <a:prstGeom prst="roundRect">
            <a:avLst>
              <a:gd fmla="val 4516" name="adj"/>
            </a:avLst>
          </a:prstGeom>
          <a:solidFill>
            <a:srgbClr val="E8EEE4"/>
          </a:solidFill>
          <a:ln cap="flat" cmpd="sng" w="12700">
            <a:solidFill>
              <a:srgbClr val="A3B89A"/>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0"/>
          <p:cNvSpPr/>
          <p:nvPr/>
        </p:nvSpPr>
        <p:spPr>
          <a:xfrm>
            <a:off x="8375904" y="2697480"/>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3B89A"/>
              </a:buClr>
              <a:buSzPts val="2600"/>
              <a:buFont typeface="Cambria"/>
              <a:buNone/>
            </a:pPr>
            <a:r>
              <a:rPr b="1" i="0" lang="en-US" sz="2600" u="none" cap="none" strike="noStrike">
                <a:solidFill>
                  <a:srgbClr val="A3B89A"/>
                </a:solidFill>
                <a:latin typeface="Cambria"/>
                <a:ea typeface="Cambria"/>
                <a:cs typeface="Cambria"/>
                <a:sym typeface="Cambria"/>
              </a:rPr>
              <a:t>3</a:t>
            </a:r>
            <a:endParaRPr b="0" i="0" sz="2600" u="none" cap="none" strike="noStrike">
              <a:solidFill>
                <a:schemeClr val="dk1"/>
              </a:solidFill>
              <a:latin typeface="Calibri"/>
              <a:ea typeface="Calibri"/>
              <a:cs typeface="Calibri"/>
              <a:sym typeface="Calibri"/>
            </a:endParaRPr>
          </a:p>
        </p:txBody>
      </p:sp>
      <p:sp>
        <p:nvSpPr>
          <p:cNvPr id="194" name="Google Shape;194;p10"/>
          <p:cNvSpPr/>
          <p:nvPr/>
        </p:nvSpPr>
        <p:spPr>
          <a:xfrm>
            <a:off x="8887968" y="2697480"/>
            <a:ext cx="2651760" cy="502920"/>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2F4A32"/>
              </a:buClr>
              <a:buSzPts val="1450"/>
              <a:buFont typeface="Cambria"/>
              <a:buNone/>
            </a:pPr>
            <a:r>
              <a:rPr b="1" i="0" lang="en-US" sz="1450" u="none" cap="none" strike="noStrike">
                <a:solidFill>
                  <a:srgbClr val="2F4A32"/>
                </a:solidFill>
                <a:latin typeface="Cambria"/>
                <a:ea typeface="Cambria"/>
                <a:cs typeface="Cambria"/>
                <a:sym typeface="Cambria"/>
              </a:rPr>
              <a:t>Jeevan values</a:t>
            </a:r>
            <a:endParaRPr b="0" i="0" sz="1450" u="none" cap="none" strike="noStrike">
              <a:solidFill>
                <a:schemeClr val="dk1"/>
              </a:solidFill>
              <a:latin typeface="Calibri"/>
              <a:ea typeface="Calibri"/>
              <a:cs typeface="Calibri"/>
              <a:sym typeface="Calibri"/>
            </a:endParaRPr>
          </a:p>
        </p:txBody>
      </p:sp>
      <p:sp>
        <p:nvSpPr>
          <p:cNvPr id="195" name="Google Shape;195;p10"/>
          <p:cNvSpPr/>
          <p:nvPr/>
        </p:nvSpPr>
        <p:spPr>
          <a:xfrm>
            <a:off x="8430768" y="3227832"/>
            <a:ext cx="3108960"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Happiness, peace, contentment, bliss — harmonies within the sentient unit.</a:t>
            </a:r>
            <a:endParaRPr b="0" i="0" sz="1150" u="none" cap="none" strike="noStrike">
              <a:solidFill>
                <a:schemeClr val="dk1"/>
              </a:solidFill>
              <a:latin typeface="Calibri"/>
              <a:ea typeface="Calibri"/>
              <a:cs typeface="Calibri"/>
              <a:sym typeface="Calibri"/>
            </a:endParaRPr>
          </a:p>
        </p:txBody>
      </p:sp>
      <p:sp>
        <p:nvSpPr>
          <p:cNvPr id="196" name="Google Shape;196;p10"/>
          <p:cNvSpPr/>
          <p:nvPr/>
        </p:nvSpPr>
        <p:spPr>
          <a:xfrm>
            <a:off x="548640" y="4178808"/>
            <a:ext cx="3566160" cy="1417320"/>
          </a:xfrm>
          <a:prstGeom prst="roundRect">
            <a:avLst>
              <a:gd fmla="val 4516" name="adj"/>
            </a:avLst>
          </a:prstGeom>
          <a:solidFill>
            <a:srgbClr val="F6F8FA"/>
          </a:solidFill>
          <a:ln cap="flat" cmpd="sng" w="12700">
            <a:solidFill>
              <a:srgbClr val="A3B89A"/>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0"/>
          <p:cNvSpPr/>
          <p:nvPr/>
        </p:nvSpPr>
        <p:spPr>
          <a:xfrm>
            <a:off x="749808" y="4361688"/>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3B89A"/>
              </a:buClr>
              <a:buSzPts val="2600"/>
              <a:buFont typeface="Cambria"/>
              <a:buNone/>
            </a:pPr>
            <a:r>
              <a:rPr b="1" i="0" lang="en-US" sz="2600" u="none" cap="none" strike="noStrike">
                <a:solidFill>
                  <a:srgbClr val="A3B89A"/>
                </a:solidFill>
                <a:latin typeface="Cambria"/>
                <a:ea typeface="Cambria"/>
                <a:cs typeface="Cambria"/>
                <a:sym typeface="Cambria"/>
              </a:rPr>
              <a:t>4</a:t>
            </a:r>
            <a:endParaRPr b="0" i="0" sz="2600" u="none" cap="none" strike="noStrike">
              <a:solidFill>
                <a:schemeClr val="dk1"/>
              </a:solidFill>
              <a:latin typeface="Calibri"/>
              <a:ea typeface="Calibri"/>
              <a:cs typeface="Calibri"/>
              <a:sym typeface="Calibri"/>
            </a:endParaRPr>
          </a:p>
        </p:txBody>
      </p:sp>
      <p:sp>
        <p:nvSpPr>
          <p:cNvPr id="198" name="Google Shape;198;p10"/>
          <p:cNvSpPr/>
          <p:nvPr/>
        </p:nvSpPr>
        <p:spPr>
          <a:xfrm>
            <a:off x="1261872" y="4361688"/>
            <a:ext cx="2651760" cy="502920"/>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2F4A32"/>
              </a:buClr>
              <a:buSzPts val="1450"/>
              <a:buFont typeface="Cambria"/>
              <a:buNone/>
            </a:pPr>
            <a:r>
              <a:rPr b="1" i="0" lang="en-US" sz="1450" u="none" cap="none" strike="noStrike">
                <a:solidFill>
                  <a:srgbClr val="2F4A32"/>
                </a:solidFill>
                <a:latin typeface="Cambria"/>
                <a:ea typeface="Cambria"/>
                <a:cs typeface="Cambria"/>
                <a:sym typeface="Cambria"/>
              </a:rPr>
              <a:t>Human values</a:t>
            </a:r>
            <a:endParaRPr b="0" i="0" sz="1450" u="none" cap="none" strike="noStrike">
              <a:solidFill>
                <a:schemeClr val="dk1"/>
              </a:solidFill>
              <a:latin typeface="Calibri"/>
              <a:ea typeface="Calibri"/>
              <a:cs typeface="Calibri"/>
              <a:sym typeface="Calibri"/>
            </a:endParaRPr>
          </a:p>
        </p:txBody>
      </p:sp>
      <p:sp>
        <p:nvSpPr>
          <p:cNvPr id="199" name="Google Shape;199;p10"/>
          <p:cNvSpPr/>
          <p:nvPr/>
        </p:nvSpPr>
        <p:spPr>
          <a:xfrm>
            <a:off x="804672" y="4892040"/>
            <a:ext cx="3108960"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Humane living grasped through coexistence understanding.</a:t>
            </a:r>
            <a:endParaRPr b="0" i="0" sz="1150" u="none" cap="none" strike="noStrike">
              <a:solidFill>
                <a:schemeClr val="dk1"/>
              </a:solidFill>
              <a:latin typeface="Calibri"/>
              <a:ea typeface="Calibri"/>
              <a:cs typeface="Calibri"/>
              <a:sym typeface="Calibri"/>
            </a:endParaRPr>
          </a:p>
        </p:txBody>
      </p:sp>
      <p:sp>
        <p:nvSpPr>
          <p:cNvPr id="200" name="Google Shape;200;p10"/>
          <p:cNvSpPr/>
          <p:nvPr/>
        </p:nvSpPr>
        <p:spPr>
          <a:xfrm>
            <a:off x="4361688" y="4178808"/>
            <a:ext cx="3566160" cy="1417320"/>
          </a:xfrm>
          <a:prstGeom prst="roundRect">
            <a:avLst>
              <a:gd fmla="val 4516" name="adj"/>
            </a:avLst>
          </a:prstGeom>
          <a:solidFill>
            <a:srgbClr val="E8EEE4"/>
          </a:solidFill>
          <a:ln cap="flat" cmpd="sng" w="12700">
            <a:solidFill>
              <a:srgbClr val="A3B89A"/>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0"/>
          <p:cNvSpPr/>
          <p:nvPr/>
        </p:nvSpPr>
        <p:spPr>
          <a:xfrm>
            <a:off x="4562856" y="4361688"/>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3B89A"/>
              </a:buClr>
              <a:buSzPts val="2600"/>
              <a:buFont typeface="Cambria"/>
              <a:buNone/>
            </a:pPr>
            <a:r>
              <a:rPr b="1" i="0" lang="en-US" sz="2600" u="none" cap="none" strike="noStrike">
                <a:solidFill>
                  <a:srgbClr val="A3B89A"/>
                </a:solidFill>
                <a:latin typeface="Cambria"/>
                <a:ea typeface="Cambria"/>
                <a:cs typeface="Cambria"/>
                <a:sym typeface="Cambria"/>
              </a:rPr>
              <a:t>5</a:t>
            </a:r>
            <a:endParaRPr b="0" i="0" sz="2600" u="none" cap="none" strike="noStrike">
              <a:solidFill>
                <a:schemeClr val="dk1"/>
              </a:solidFill>
              <a:latin typeface="Calibri"/>
              <a:ea typeface="Calibri"/>
              <a:cs typeface="Calibri"/>
              <a:sym typeface="Calibri"/>
            </a:endParaRPr>
          </a:p>
        </p:txBody>
      </p:sp>
      <p:sp>
        <p:nvSpPr>
          <p:cNvPr id="202" name="Google Shape;202;p10"/>
          <p:cNvSpPr/>
          <p:nvPr/>
        </p:nvSpPr>
        <p:spPr>
          <a:xfrm>
            <a:off x="5074920" y="4361688"/>
            <a:ext cx="2651760" cy="502920"/>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2F4A32"/>
              </a:buClr>
              <a:buSzPts val="1450"/>
              <a:buFont typeface="Cambria"/>
              <a:buNone/>
            </a:pPr>
            <a:r>
              <a:rPr b="1" i="0" lang="en-US" sz="1450" u="none" cap="none" strike="noStrike">
                <a:solidFill>
                  <a:srgbClr val="2F4A32"/>
                </a:solidFill>
                <a:latin typeface="Cambria"/>
                <a:ea typeface="Cambria"/>
                <a:cs typeface="Cambria"/>
                <a:sym typeface="Cambria"/>
              </a:rPr>
              <a:t>Established values</a:t>
            </a:r>
            <a:endParaRPr b="0" i="0" sz="1450" u="none" cap="none" strike="noStrike">
              <a:solidFill>
                <a:schemeClr val="dk1"/>
              </a:solidFill>
              <a:latin typeface="Calibri"/>
              <a:ea typeface="Calibri"/>
              <a:cs typeface="Calibri"/>
              <a:sym typeface="Calibri"/>
            </a:endParaRPr>
          </a:p>
        </p:txBody>
      </p:sp>
      <p:sp>
        <p:nvSpPr>
          <p:cNvPr id="203" name="Google Shape;203;p10"/>
          <p:cNvSpPr/>
          <p:nvPr/>
        </p:nvSpPr>
        <p:spPr>
          <a:xfrm>
            <a:off x="4617720" y="4892040"/>
            <a:ext cx="3108960"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Trust, affection, gratitude, love, reverence — flowing when relationships are recognised.</a:t>
            </a:r>
            <a:endParaRPr b="0" i="0" sz="1150" u="none" cap="none" strike="noStrike">
              <a:solidFill>
                <a:schemeClr val="dk1"/>
              </a:solidFill>
              <a:latin typeface="Calibri"/>
              <a:ea typeface="Calibri"/>
              <a:cs typeface="Calibri"/>
              <a:sym typeface="Calibri"/>
            </a:endParaRPr>
          </a:p>
        </p:txBody>
      </p:sp>
      <p:sp>
        <p:nvSpPr>
          <p:cNvPr id="204" name="Google Shape;204;p10"/>
          <p:cNvSpPr/>
          <p:nvPr/>
        </p:nvSpPr>
        <p:spPr>
          <a:xfrm>
            <a:off x="8174736" y="4178808"/>
            <a:ext cx="3566160" cy="1417320"/>
          </a:xfrm>
          <a:prstGeom prst="roundRect">
            <a:avLst>
              <a:gd fmla="val 4516" name="adj"/>
            </a:avLst>
          </a:prstGeom>
          <a:solidFill>
            <a:srgbClr val="F6F8FA"/>
          </a:solidFill>
          <a:ln cap="flat" cmpd="sng" w="12700">
            <a:solidFill>
              <a:srgbClr val="A3B89A"/>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8375904" y="4361688"/>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3B89A"/>
              </a:buClr>
              <a:buSzPts val="2600"/>
              <a:buFont typeface="Cambria"/>
              <a:buNone/>
            </a:pPr>
            <a:r>
              <a:rPr b="1" i="0" lang="en-US" sz="2600" u="none" cap="none" strike="noStrike">
                <a:solidFill>
                  <a:srgbClr val="A3B89A"/>
                </a:solidFill>
                <a:latin typeface="Cambria"/>
                <a:ea typeface="Cambria"/>
                <a:cs typeface="Cambria"/>
                <a:sym typeface="Cambria"/>
              </a:rPr>
              <a:t>6</a:t>
            </a:r>
            <a:endParaRPr b="0" i="0" sz="2600" u="none" cap="none" strike="noStrike">
              <a:solidFill>
                <a:schemeClr val="dk1"/>
              </a:solidFill>
              <a:latin typeface="Calibri"/>
              <a:ea typeface="Calibri"/>
              <a:cs typeface="Calibri"/>
              <a:sym typeface="Calibri"/>
            </a:endParaRPr>
          </a:p>
        </p:txBody>
      </p:sp>
      <p:sp>
        <p:nvSpPr>
          <p:cNvPr id="206" name="Google Shape;206;p10"/>
          <p:cNvSpPr/>
          <p:nvPr/>
        </p:nvSpPr>
        <p:spPr>
          <a:xfrm>
            <a:off x="8887968" y="4361688"/>
            <a:ext cx="2651760" cy="502920"/>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2F4A32"/>
              </a:buClr>
              <a:buSzPts val="1450"/>
              <a:buFont typeface="Cambria"/>
              <a:buNone/>
            </a:pPr>
            <a:r>
              <a:rPr b="1" i="0" lang="en-US" sz="1450" u="none" cap="none" strike="noStrike">
                <a:solidFill>
                  <a:srgbClr val="2F4A32"/>
                </a:solidFill>
                <a:latin typeface="Cambria"/>
                <a:ea typeface="Cambria"/>
                <a:cs typeface="Cambria"/>
                <a:sym typeface="Cambria"/>
              </a:rPr>
              <a:t>Expression values</a:t>
            </a:r>
            <a:endParaRPr b="0" i="0" sz="1450" u="none" cap="none" strike="noStrike">
              <a:solidFill>
                <a:schemeClr val="dk1"/>
              </a:solidFill>
              <a:latin typeface="Calibri"/>
              <a:ea typeface="Calibri"/>
              <a:cs typeface="Calibri"/>
              <a:sym typeface="Calibri"/>
            </a:endParaRPr>
          </a:p>
        </p:txBody>
      </p:sp>
      <p:sp>
        <p:nvSpPr>
          <p:cNvPr id="207" name="Google Shape;207;p10"/>
          <p:cNvSpPr/>
          <p:nvPr/>
        </p:nvSpPr>
        <p:spPr>
          <a:xfrm>
            <a:off x="8430768" y="4892040"/>
            <a:ext cx="3108960"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Right-use of body, mind and wealth; civic conduct in the social order.</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 name="Shape 212"/>
        <p:cNvGrpSpPr/>
        <p:nvPr/>
      </p:nvGrpSpPr>
      <p:grpSpPr>
        <a:xfrm>
          <a:off x="0" y="0"/>
          <a:ext cx="0" cy="0"/>
          <a:chOff x="0" y="0"/>
          <a:chExt cx="0" cy="0"/>
        </a:xfrm>
      </p:grpSpPr>
      <p:sp>
        <p:nvSpPr>
          <p:cNvPr id="213" name="Google Shape;213;p11"/>
          <p:cNvSpPr/>
          <p:nvPr/>
        </p:nvSpPr>
        <p:spPr>
          <a:xfrm>
            <a:off x="548640" y="475488"/>
            <a:ext cx="457200" cy="457200"/>
          </a:xfrm>
          <a:prstGeom prst="ellipse">
            <a:avLst/>
          </a:prstGeom>
          <a:solidFill>
            <a:srgbClr val="5A42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1"/>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2</a:t>
            </a:r>
            <a:endParaRPr b="0" i="0" sz="1900" u="none" cap="none" strike="noStrike">
              <a:solidFill>
                <a:schemeClr val="dk1"/>
              </a:solidFill>
              <a:latin typeface="Calibri"/>
              <a:ea typeface="Calibri"/>
              <a:cs typeface="Calibri"/>
              <a:sym typeface="Calibri"/>
            </a:endParaRPr>
          </a:p>
        </p:txBody>
      </p:sp>
      <p:sp>
        <p:nvSpPr>
          <p:cNvPr id="215" name="Google Shape;215;p11"/>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4228"/>
              </a:buClr>
              <a:buSzPts val="1250"/>
              <a:buFont typeface="Calibri"/>
              <a:buNone/>
            </a:pPr>
            <a:r>
              <a:rPr b="1" i="0" lang="en-US" sz="1250" u="none" cap="none" strike="noStrike">
                <a:solidFill>
                  <a:srgbClr val="5A4228"/>
                </a:solidFill>
                <a:latin typeface="Calibri"/>
                <a:ea typeface="Calibri"/>
                <a:cs typeface="Calibri"/>
                <a:sym typeface="Calibri"/>
              </a:rPr>
              <a:t>LAYER 2  ·  SENTIENCE THRESHOLD</a:t>
            </a:r>
            <a:endParaRPr b="0" i="0" sz="1250" u="none" cap="none" strike="noStrike">
              <a:solidFill>
                <a:schemeClr val="dk1"/>
              </a:solidFill>
              <a:latin typeface="Calibri"/>
              <a:ea typeface="Calibri"/>
              <a:cs typeface="Calibri"/>
              <a:sym typeface="Calibri"/>
            </a:endParaRPr>
          </a:p>
        </p:txBody>
      </p:sp>
      <p:sp>
        <p:nvSpPr>
          <p:cNvPr id="216" name="Google Shape;216;p11"/>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4228"/>
              </a:buClr>
              <a:buSzPts val="3100"/>
              <a:buFont typeface="Cambria"/>
              <a:buNone/>
            </a:pPr>
            <a:r>
              <a:rPr b="1" i="0" lang="en-US" sz="3100" u="none" cap="none" strike="noStrike">
                <a:solidFill>
                  <a:srgbClr val="5A4228"/>
                </a:solidFill>
                <a:latin typeface="Cambria"/>
                <a:ea typeface="Cambria"/>
                <a:cs typeface="Cambria"/>
                <a:sym typeface="Cambria"/>
              </a:rPr>
              <a:t>Crossing from matter to sentient jeevan (T1)</a:t>
            </a:r>
            <a:endParaRPr b="0" i="0" sz="3100" u="none" cap="none" strike="noStrike">
              <a:solidFill>
                <a:schemeClr val="dk1"/>
              </a:solidFill>
              <a:latin typeface="Calibri"/>
              <a:ea typeface="Calibri"/>
              <a:cs typeface="Calibri"/>
              <a:sym typeface="Calibri"/>
            </a:endParaRPr>
          </a:p>
        </p:txBody>
      </p:sp>
      <p:sp>
        <p:nvSpPr>
          <p:cNvPr id="217" name="Google Shape;217;p11"/>
          <p:cNvSpPr/>
          <p:nvPr/>
        </p:nvSpPr>
        <p:spPr>
          <a:xfrm>
            <a:off x="548640" y="1737360"/>
            <a:ext cx="5669280" cy="10972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Within the atom, development (vikas-kram) proceeds through hungry atoms (deficient in particles) and overfull atoms (bearing excess). Incorporation and expulsion cycle until the required constitution closes.</a:t>
            </a:r>
            <a:endParaRPr b="0" i="0" sz="1400" u="none" cap="none" strike="noStrike">
              <a:solidFill>
                <a:schemeClr val="dk1"/>
              </a:solidFill>
              <a:latin typeface="Calibri"/>
              <a:ea typeface="Calibri"/>
              <a:cs typeface="Calibri"/>
              <a:sym typeface="Calibri"/>
            </a:endParaRPr>
          </a:p>
        </p:txBody>
      </p:sp>
      <p:sp>
        <p:nvSpPr>
          <p:cNvPr id="218" name="Google Shape;218;p11"/>
          <p:cNvSpPr/>
          <p:nvPr/>
        </p:nvSpPr>
        <p:spPr>
          <a:xfrm>
            <a:off x="548640" y="2971800"/>
            <a:ext cx="1691640" cy="1051560"/>
          </a:xfrm>
          <a:prstGeom prst="roundRect">
            <a:avLst>
              <a:gd fmla="val 8696" name="adj"/>
            </a:avLst>
          </a:prstGeom>
          <a:solidFill>
            <a:srgbClr val="F0EBE4"/>
          </a:solidFill>
          <a:ln cap="flat" cmpd="sng" w="12700">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1"/>
          <p:cNvSpPr/>
          <p:nvPr/>
        </p:nvSpPr>
        <p:spPr>
          <a:xfrm>
            <a:off x="548640" y="3127248"/>
            <a:ext cx="169164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4228"/>
              </a:buClr>
              <a:buSzPts val="1350"/>
              <a:buFont typeface="Cambria"/>
              <a:buNone/>
            </a:pPr>
            <a:r>
              <a:rPr b="1" i="0" lang="en-US" sz="1350" u="none" cap="none" strike="noStrike">
                <a:solidFill>
                  <a:srgbClr val="5A4228"/>
                </a:solidFill>
                <a:latin typeface="Cambria"/>
                <a:ea typeface="Cambria"/>
                <a:cs typeface="Cambria"/>
                <a:sym typeface="Cambria"/>
              </a:rPr>
              <a:t>Hungry atom</a:t>
            </a:r>
            <a:endParaRPr b="0" i="0" sz="1350" u="none" cap="none" strike="noStrike">
              <a:solidFill>
                <a:schemeClr val="dk1"/>
              </a:solidFill>
              <a:latin typeface="Calibri"/>
              <a:ea typeface="Calibri"/>
              <a:cs typeface="Calibri"/>
              <a:sym typeface="Calibri"/>
            </a:endParaRPr>
          </a:p>
        </p:txBody>
      </p:sp>
      <p:sp>
        <p:nvSpPr>
          <p:cNvPr id="220" name="Google Shape;220;p11"/>
          <p:cNvSpPr/>
          <p:nvPr/>
        </p:nvSpPr>
        <p:spPr>
          <a:xfrm>
            <a:off x="548640" y="3529584"/>
            <a:ext cx="1691640" cy="41148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5A4228"/>
              </a:buClr>
              <a:buSzPts val="1050"/>
              <a:buFont typeface="Calibri"/>
              <a:buNone/>
            </a:pPr>
            <a:r>
              <a:rPr b="0" i="0" lang="en-US" sz="1050" u="none" cap="none" strike="noStrike">
                <a:solidFill>
                  <a:srgbClr val="5A4228"/>
                </a:solidFill>
                <a:latin typeface="Calibri"/>
                <a:ea typeface="Calibri"/>
                <a:cs typeface="Calibri"/>
                <a:sym typeface="Calibri"/>
              </a:rPr>
              <a:t>absorbs particles</a:t>
            </a:r>
            <a:endParaRPr b="0" i="0" sz="1050" u="none" cap="none" strike="noStrike">
              <a:solidFill>
                <a:schemeClr val="dk1"/>
              </a:solidFill>
              <a:latin typeface="Calibri"/>
              <a:ea typeface="Calibri"/>
              <a:cs typeface="Calibri"/>
              <a:sym typeface="Calibri"/>
            </a:endParaRPr>
          </a:p>
        </p:txBody>
      </p:sp>
      <p:sp>
        <p:nvSpPr>
          <p:cNvPr id="221" name="Google Shape;221;p11"/>
          <p:cNvSpPr/>
          <p:nvPr/>
        </p:nvSpPr>
        <p:spPr>
          <a:xfrm>
            <a:off x="2203704" y="2971800"/>
            <a:ext cx="329184" cy="10515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000"/>
              <a:buFont typeface="Cambria"/>
              <a:buNone/>
            </a:pPr>
            <a:r>
              <a:rPr b="0" i="0" lang="en-US" sz="2000" u="none" cap="none" strike="noStrike">
                <a:solidFill>
                  <a:srgbClr val="5A6B78"/>
                </a:solidFill>
                <a:latin typeface="Cambria"/>
                <a:ea typeface="Cambria"/>
                <a:cs typeface="Cambria"/>
                <a:sym typeface="Cambria"/>
              </a:rPr>
              <a:t>→</a:t>
            </a:r>
            <a:endParaRPr b="0" i="0" sz="2000" u="none" cap="none" strike="noStrike">
              <a:solidFill>
                <a:schemeClr val="dk1"/>
              </a:solidFill>
              <a:latin typeface="Calibri"/>
              <a:ea typeface="Calibri"/>
              <a:cs typeface="Calibri"/>
              <a:sym typeface="Calibri"/>
            </a:endParaRPr>
          </a:p>
        </p:txBody>
      </p:sp>
      <p:sp>
        <p:nvSpPr>
          <p:cNvPr id="222" name="Google Shape;222;p11"/>
          <p:cNvSpPr/>
          <p:nvPr/>
        </p:nvSpPr>
        <p:spPr>
          <a:xfrm>
            <a:off x="2532888" y="2971800"/>
            <a:ext cx="1691640" cy="1051560"/>
          </a:xfrm>
          <a:prstGeom prst="roundRect">
            <a:avLst>
              <a:gd fmla="val 8696" name="adj"/>
            </a:avLst>
          </a:prstGeom>
          <a:solidFill>
            <a:srgbClr val="F0EBE4"/>
          </a:solidFill>
          <a:ln cap="flat" cmpd="sng" w="12700">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1"/>
          <p:cNvSpPr/>
          <p:nvPr/>
        </p:nvSpPr>
        <p:spPr>
          <a:xfrm>
            <a:off x="2532888" y="3127248"/>
            <a:ext cx="169164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4228"/>
              </a:buClr>
              <a:buSzPts val="1350"/>
              <a:buFont typeface="Cambria"/>
              <a:buNone/>
            </a:pPr>
            <a:r>
              <a:rPr b="1" i="0" lang="en-US" sz="1350" u="none" cap="none" strike="noStrike">
                <a:solidFill>
                  <a:srgbClr val="5A4228"/>
                </a:solidFill>
                <a:latin typeface="Cambria"/>
                <a:ea typeface="Cambria"/>
                <a:cs typeface="Cambria"/>
                <a:sym typeface="Cambria"/>
              </a:rPr>
              <a:t>Overfull atom</a:t>
            </a:r>
            <a:endParaRPr b="0" i="0" sz="1350" u="none" cap="none" strike="noStrike">
              <a:solidFill>
                <a:schemeClr val="dk1"/>
              </a:solidFill>
              <a:latin typeface="Calibri"/>
              <a:ea typeface="Calibri"/>
              <a:cs typeface="Calibri"/>
              <a:sym typeface="Calibri"/>
            </a:endParaRPr>
          </a:p>
        </p:txBody>
      </p:sp>
      <p:sp>
        <p:nvSpPr>
          <p:cNvPr id="224" name="Google Shape;224;p11"/>
          <p:cNvSpPr/>
          <p:nvPr/>
        </p:nvSpPr>
        <p:spPr>
          <a:xfrm>
            <a:off x="2532888" y="3529584"/>
            <a:ext cx="1691640" cy="41148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5A4228"/>
              </a:buClr>
              <a:buSzPts val="1050"/>
              <a:buFont typeface="Calibri"/>
              <a:buNone/>
            </a:pPr>
            <a:r>
              <a:rPr b="0" i="0" lang="en-US" sz="1050" u="none" cap="none" strike="noStrike">
                <a:solidFill>
                  <a:srgbClr val="5A4228"/>
                </a:solidFill>
                <a:latin typeface="Calibri"/>
                <a:ea typeface="Calibri"/>
                <a:cs typeface="Calibri"/>
                <a:sym typeface="Calibri"/>
              </a:rPr>
              <a:t>expels excess</a:t>
            </a:r>
            <a:endParaRPr b="0" i="0" sz="1050" u="none" cap="none" strike="noStrike">
              <a:solidFill>
                <a:schemeClr val="dk1"/>
              </a:solidFill>
              <a:latin typeface="Calibri"/>
              <a:ea typeface="Calibri"/>
              <a:cs typeface="Calibri"/>
              <a:sym typeface="Calibri"/>
            </a:endParaRPr>
          </a:p>
        </p:txBody>
      </p:sp>
      <p:sp>
        <p:nvSpPr>
          <p:cNvPr id="225" name="Google Shape;225;p11"/>
          <p:cNvSpPr/>
          <p:nvPr/>
        </p:nvSpPr>
        <p:spPr>
          <a:xfrm>
            <a:off x="4187952" y="2971800"/>
            <a:ext cx="329184" cy="10515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000"/>
              <a:buFont typeface="Cambria"/>
              <a:buNone/>
            </a:pPr>
            <a:r>
              <a:rPr b="0" i="0" lang="en-US" sz="2000" u="none" cap="none" strike="noStrike">
                <a:solidFill>
                  <a:srgbClr val="5A6B78"/>
                </a:solidFill>
                <a:latin typeface="Cambria"/>
                <a:ea typeface="Cambria"/>
                <a:cs typeface="Cambria"/>
                <a:sym typeface="Cambria"/>
              </a:rPr>
              <a:t>→</a:t>
            </a:r>
            <a:endParaRPr b="0" i="0" sz="2000" u="none" cap="none" strike="noStrike">
              <a:solidFill>
                <a:schemeClr val="dk1"/>
              </a:solidFill>
              <a:latin typeface="Calibri"/>
              <a:ea typeface="Calibri"/>
              <a:cs typeface="Calibri"/>
              <a:sym typeface="Calibri"/>
            </a:endParaRPr>
          </a:p>
        </p:txBody>
      </p:sp>
      <p:sp>
        <p:nvSpPr>
          <p:cNvPr id="226" name="Google Shape;226;p11"/>
          <p:cNvSpPr/>
          <p:nvPr/>
        </p:nvSpPr>
        <p:spPr>
          <a:xfrm>
            <a:off x="4517136" y="2971800"/>
            <a:ext cx="1691640" cy="1051560"/>
          </a:xfrm>
          <a:prstGeom prst="roundRect">
            <a:avLst>
              <a:gd fmla="val 8696" name="adj"/>
            </a:avLst>
          </a:prstGeom>
          <a:solidFill>
            <a:srgbClr val="5A4228"/>
          </a:solidFill>
          <a:ln cap="flat" cmpd="sng" w="12700">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1"/>
          <p:cNvSpPr/>
          <p:nvPr/>
        </p:nvSpPr>
        <p:spPr>
          <a:xfrm>
            <a:off x="4517136" y="3127248"/>
            <a:ext cx="169164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50"/>
              <a:buFont typeface="Cambria"/>
              <a:buNone/>
            </a:pPr>
            <a:r>
              <a:rPr b="1" i="0" lang="en-US" sz="1350" u="none" cap="none" strike="noStrike">
                <a:solidFill>
                  <a:srgbClr val="FFFFFF"/>
                </a:solidFill>
                <a:latin typeface="Cambria"/>
                <a:ea typeface="Cambria"/>
                <a:cs typeface="Cambria"/>
                <a:sym typeface="Cambria"/>
              </a:rPr>
              <a:t>Satiated</a:t>
            </a:r>
            <a:endParaRPr b="0" i="0" sz="1350" u="none" cap="none" strike="noStrike">
              <a:solidFill>
                <a:schemeClr val="dk1"/>
              </a:solidFill>
              <a:latin typeface="Calibri"/>
              <a:ea typeface="Calibri"/>
              <a:cs typeface="Calibri"/>
              <a:sym typeface="Calibri"/>
            </a:endParaRPr>
          </a:p>
        </p:txBody>
      </p:sp>
      <p:sp>
        <p:nvSpPr>
          <p:cNvPr id="228" name="Google Shape;228;p11"/>
          <p:cNvSpPr/>
          <p:nvPr/>
        </p:nvSpPr>
        <p:spPr>
          <a:xfrm>
            <a:off x="4517136" y="3529584"/>
            <a:ext cx="1691640" cy="41148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E8DFD3"/>
              </a:buClr>
              <a:buSzPts val="1050"/>
              <a:buFont typeface="Calibri"/>
              <a:buNone/>
            </a:pPr>
            <a:r>
              <a:rPr b="0" i="0" lang="en-US" sz="1050" u="none" cap="none" strike="noStrike">
                <a:solidFill>
                  <a:srgbClr val="E8DFD3"/>
                </a:solidFill>
                <a:latin typeface="Calibri"/>
                <a:ea typeface="Calibri"/>
                <a:cs typeface="Calibri"/>
                <a:sym typeface="Calibri"/>
              </a:rPr>
              <a:t>constitutionally complete</a:t>
            </a:r>
            <a:endParaRPr b="0" i="0" sz="1050" u="none" cap="none" strike="noStrike">
              <a:solidFill>
                <a:schemeClr val="dk1"/>
              </a:solidFill>
              <a:latin typeface="Calibri"/>
              <a:ea typeface="Calibri"/>
              <a:cs typeface="Calibri"/>
              <a:sym typeface="Calibri"/>
            </a:endParaRPr>
          </a:p>
        </p:txBody>
      </p:sp>
      <p:sp>
        <p:nvSpPr>
          <p:cNvPr id="229" name="Google Shape;229;p11"/>
          <p:cNvSpPr/>
          <p:nvPr/>
        </p:nvSpPr>
        <p:spPr>
          <a:xfrm>
            <a:off x="548640" y="4297680"/>
            <a:ext cx="5669280" cy="146304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F4D57"/>
              </a:buClr>
              <a:buSzPts val="1350"/>
              <a:buFont typeface="Calibri"/>
              <a:buNone/>
            </a:pPr>
            <a:r>
              <a:rPr b="0" i="0" lang="en-US" sz="1350" u="none" cap="none" strike="noStrike">
                <a:solidFill>
                  <a:srgbClr val="3F4D57"/>
                </a:solidFill>
                <a:latin typeface="Calibri"/>
                <a:ea typeface="Calibri"/>
                <a:cs typeface="Calibri"/>
                <a:sym typeface="Calibri"/>
              </a:rPr>
              <a:t>At gathanpurnata the atom is satiated — qualitative change without quantitative change. Latent intelligibility in satta is actualised as active sentience: not strong emergence from dead matter. T1 is irreversible.</a:t>
            </a:r>
            <a:endParaRPr b="0" i="0" sz="1350" u="none" cap="none" strike="noStrike">
              <a:solidFill>
                <a:schemeClr val="dk1"/>
              </a:solidFill>
              <a:latin typeface="Calibri"/>
              <a:ea typeface="Calibri"/>
              <a:cs typeface="Calibri"/>
              <a:sym typeface="Calibri"/>
            </a:endParaRPr>
          </a:p>
        </p:txBody>
      </p:sp>
      <p:sp>
        <p:nvSpPr>
          <p:cNvPr id="230" name="Google Shape;230;p11"/>
          <p:cNvSpPr/>
          <p:nvPr/>
        </p:nvSpPr>
        <p:spPr>
          <a:xfrm>
            <a:off x="6492240" y="1737360"/>
            <a:ext cx="5120640" cy="2194560"/>
          </a:xfrm>
          <a:prstGeom prst="roundRect">
            <a:avLst>
              <a:gd fmla="val 3333" name="adj"/>
            </a:avLst>
          </a:prstGeom>
          <a:solidFill>
            <a:srgbClr val="F6F8FA"/>
          </a:solidFill>
          <a:ln cap="flat" cmpd="sng" w="12700">
            <a:solidFill>
              <a:srgbClr val="5A422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1"/>
          <p:cNvSpPr/>
          <p:nvPr/>
        </p:nvSpPr>
        <p:spPr>
          <a:xfrm>
            <a:off x="6537960" y="171907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4228"/>
              </a:buClr>
              <a:buSzPts val="4800"/>
              <a:buFont typeface="Cambria"/>
              <a:buNone/>
            </a:pPr>
            <a:r>
              <a:rPr b="1" i="0" lang="en-US" sz="4800" u="none" cap="none" strike="noStrike">
                <a:solidFill>
                  <a:srgbClr val="5A4228"/>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232" name="Google Shape;232;p11"/>
          <p:cNvSpPr/>
          <p:nvPr/>
        </p:nvSpPr>
        <p:spPr>
          <a:xfrm>
            <a:off x="6995160" y="1901952"/>
            <a:ext cx="4343400" cy="186537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When the contraction and expansion activity increases in this atom, it instantly breaks free from its group and attains constitutional completeness, becoming a jeevan atom.</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5A4228"/>
              </a:buClr>
              <a:buSzPts val="1150"/>
              <a:buFont typeface="Calibri"/>
              <a:buNone/>
            </a:pPr>
            <a:r>
              <a:rPr b="1" i="0" lang="en-US" sz="1150" u="none" cap="none" strike="noStrike">
                <a:solidFill>
                  <a:srgbClr val="5A4228"/>
                </a:solidFill>
                <a:latin typeface="Calibri"/>
                <a:ea typeface="Calibri"/>
                <a:cs typeface="Calibri"/>
                <a:sym typeface="Calibri"/>
              </a:rPr>
              <a:t>— MVD, p. 91</a:t>
            </a:r>
            <a:endParaRPr b="0" i="0" sz="1450" u="none" cap="none" strike="noStrike">
              <a:solidFill>
                <a:schemeClr val="dk1"/>
              </a:solidFill>
              <a:latin typeface="Calibri"/>
              <a:ea typeface="Calibri"/>
              <a:cs typeface="Calibri"/>
              <a:sym typeface="Calibri"/>
            </a:endParaRPr>
          </a:p>
        </p:txBody>
      </p:sp>
      <p:sp>
        <p:nvSpPr>
          <p:cNvPr id="233" name="Google Shape;233;p11"/>
          <p:cNvSpPr/>
          <p:nvPr/>
        </p:nvSpPr>
        <p:spPr>
          <a:xfrm>
            <a:off x="6492240" y="4160520"/>
            <a:ext cx="5120640" cy="1600200"/>
          </a:xfrm>
          <a:prstGeom prst="roundRect">
            <a:avLst>
              <a:gd fmla="val 4571" name="adj"/>
            </a:avLst>
          </a:prstGeom>
          <a:solidFill>
            <a:srgbClr val="F0EBE4"/>
          </a:solidFill>
          <a:ln cap="flat" cmpd="sng" w="12700">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1"/>
          <p:cNvSpPr/>
          <p:nvPr/>
        </p:nvSpPr>
        <p:spPr>
          <a:xfrm>
            <a:off x="6720840" y="4297680"/>
            <a:ext cx="100584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4228"/>
              </a:buClr>
              <a:buSzPts val="4000"/>
              <a:buFont typeface="Cambria"/>
              <a:buNone/>
            </a:pPr>
            <a:r>
              <a:rPr b="1" i="0" lang="en-US" sz="4000" u="none" cap="none" strike="noStrike">
                <a:solidFill>
                  <a:srgbClr val="5A4228"/>
                </a:solidFill>
                <a:latin typeface="Cambria"/>
                <a:ea typeface="Cambria"/>
                <a:cs typeface="Cambria"/>
                <a:sym typeface="Cambria"/>
              </a:rPr>
              <a:t>T1</a:t>
            </a:r>
            <a:endParaRPr b="0" i="0" sz="4000" u="none" cap="none" strike="noStrike">
              <a:solidFill>
                <a:schemeClr val="dk1"/>
              </a:solidFill>
              <a:latin typeface="Calibri"/>
              <a:ea typeface="Calibri"/>
              <a:cs typeface="Calibri"/>
              <a:sym typeface="Calibri"/>
            </a:endParaRPr>
          </a:p>
        </p:txBody>
      </p:sp>
      <p:sp>
        <p:nvSpPr>
          <p:cNvPr id="235" name="Google Shape;235;p11"/>
          <p:cNvSpPr/>
          <p:nvPr/>
        </p:nvSpPr>
        <p:spPr>
          <a:xfrm>
            <a:off x="7772400" y="4297680"/>
            <a:ext cx="3657600" cy="132588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5A4228"/>
              </a:buClr>
              <a:buSzPts val="1400"/>
              <a:buFont typeface="Cambria"/>
              <a:buNone/>
            </a:pPr>
            <a:r>
              <a:rPr b="1" i="0" lang="en-US" sz="1400" u="none" cap="none" strike="noStrike">
                <a:solidFill>
                  <a:srgbClr val="5A4228"/>
                </a:solidFill>
                <a:latin typeface="Cambria"/>
                <a:ea typeface="Cambria"/>
                <a:cs typeface="Cambria"/>
                <a:sym typeface="Cambria"/>
              </a:rPr>
              <a:t>Constitutional completeness</a:t>
            </a:r>
            <a:br>
              <a:rPr b="1" i="0" lang="en-US" sz="1400" u="none" cap="none" strike="noStrike">
                <a:solidFill>
                  <a:srgbClr val="5A4228"/>
                </a:solidFill>
                <a:latin typeface="Cambria"/>
                <a:ea typeface="Cambria"/>
                <a:cs typeface="Cambria"/>
                <a:sym typeface="Cambria"/>
              </a:rPr>
            </a:br>
            <a:r>
              <a:rPr b="0" i="0" lang="en-US" sz="1200" u="none" cap="none" strike="noStrike">
                <a:solidFill>
                  <a:srgbClr val="3F4D57"/>
                </a:solidFill>
                <a:latin typeface="Calibri"/>
                <a:ea typeface="Calibri"/>
                <a:cs typeface="Calibri"/>
                <a:sym typeface="Calibri"/>
              </a:rPr>
              <a:t>Molecular- and weight-bondage break; hope-bondage replaces them as the sentient mode's defining bondage. Sentient jeevan, and “hope to live”, begins.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 name="Shape 240"/>
        <p:cNvGrpSpPr/>
        <p:nvPr/>
      </p:nvGrpSpPr>
      <p:grpSpPr>
        <a:xfrm>
          <a:off x="0" y="0"/>
          <a:ext cx="0" cy="0"/>
          <a:chOff x="0" y="0"/>
          <a:chExt cx="0" cy="0"/>
        </a:xfrm>
      </p:grpSpPr>
      <p:sp>
        <p:nvSpPr>
          <p:cNvPr id="241" name="Google Shape;241;p12"/>
          <p:cNvSpPr/>
          <p:nvPr/>
        </p:nvSpPr>
        <p:spPr>
          <a:xfrm>
            <a:off x="548640" y="475488"/>
            <a:ext cx="457200" cy="457200"/>
          </a:xfrm>
          <a:prstGeom prst="ellipse">
            <a:avLst/>
          </a:prstGeom>
          <a:solidFill>
            <a:srgbClr val="5A42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2"/>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2</a:t>
            </a:r>
            <a:endParaRPr b="0" i="0" sz="1900" u="none" cap="none" strike="noStrike">
              <a:solidFill>
                <a:schemeClr val="dk1"/>
              </a:solidFill>
              <a:latin typeface="Calibri"/>
              <a:ea typeface="Calibri"/>
              <a:cs typeface="Calibri"/>
              <a:sym typeface="Calibri"/>
            </a:endParaRPr>
          </a:p>
        </p:txBody>
      </p:sp>
      <p:sp>
        <p:nvSpPr>
          <p:cNvPr id="243" name="Google Shape;243;p12"/>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4228"/>
              </a:buClr>
              <a:buSzPts val="1250"/>
              <a:buFont typeface="Calibri"/>
              <a:buNone/>
            </a:pPr>
            <a:r>
              <a:rPr b="1" i="0" lang="en-US" sz="1250" u="none" cap="none" strike="noStrike">
                <a:solidFill>
                  <a:srgbClr val="5A4228"/>
                </a:solidFill>
                <a:latin typeface="Calibri"/>
                <a:ea typeface="Calibri"/>
                <a:cs typeface="Calibri"/>
                <a:sym typeface="Calibri"/>
              </a:rPr>
              <a:t>LAYER 2  ·  SENTIENCE THRESHOLD</a:t>
            </a:r>
            <a:endParaRPr b="0" i="0" sz="1250" u="none" cap="none" strike="noStrike">
              <a:solidFill>
                <a:schemeClr val="dk1"/>
              </a:solidFill>
              <a:latin typeface="Calibri"/>
              <a:ea typeface="Calibri"/>
              <a:cs typeface="Calibri"/>
              <a:sym typeface="Calibri"/>
            </a:endParaRPr>
          </a:p>
        </p:txBody>
      </p:sp>
      <p:sp>
        <p:nvSpPr>
          <p:cNvPr id="244" name="Google Shape;244;p12"/>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4228"/>
              </a:buClr>
              <a:buSzPts val="3100"/>
              <a:buFont typeface="Cambria"/>
              <a:buNone/>
            </a:pPr>
            <a:r>
              <a:rPr b="1" i="0" lang="en-US" sz="3100" u="none" cap="none" strike="noStrike">
                <a:solidFill>
                  <a:srgbClr val="5A4228"/>
                </a:solidFill>
                <a:latin typeface="Cambria"/>
                <a:ea typeface="Cambria"/>
                <a:cs typeface="Cambria"/>
                <a:sym typeface="Cambria"/>
              </a:rPr>
              <a:t>The jeevan–body joint form</a:t>
            </a:r>
            <a:endParaRPr b="0" i="0" sz="3100" u="none" cap="none" strike="noStrike">
              <a:solidFill>
                <a:schemeClr val="dk1"/>
              </a:solidFill>
              <a:latin typeface="Calibri"/>
              <a:ea typeface="Calibri"/>
              <a:cs typeface="Calibri"/>
              <a:sym typeface="Calibri"/>
            </a:endParaRPr>
          </a:p>
        </p:txBody>
      </p:sp>
      <p:sp>
        <p:nvSpPr>
          <p:cNvPr id="245" name="Google Shape;245;p12"/>
          <p:cNvSpPr/>
          <p:nvPr/>
        </p:nvSpPr>
        <p:spPr>
          <a:xfrm>
            <a:off x="548640" y="1737360"/>
            <a:ext cx="11064240" cy="6400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450"/>
              <a:buFont typeface="Calibri"/>
              <a:buNone/>
            </a:pPr>
            <a:r>
              <a:rPr b="0" i="0" lang="en-US" sz="1450" u="none" cap="none" strike="noStrike">
                <a:solidFill>
                  <a:srgbClr val="3F4D57"/>
                </a:solidFill>
                <a:latin typeface="Calibri"/>
                <a:ea typeface="Calibri"/>
                <a:cs typeface="Calibri"/>
                <a:sym typeface="Calibri"/>
              </a:rPr>
              <a:t>An animal or human is the joint form of a constitutionally complete jeevan working through a body of that order. Identity recurs at two scales — not mere analogy.</a:t>
            </a:r>
            <a:endParaRPr b="0" i="0" sz="1450" u="none" cap="none" strike="noStrike">
              <a:solidFill>
                <a:schemeClr val="dk1"/>
              </a:solidFill>
              <a:latin typeface="Calibri"/>
              <a:ea typeface="Calibri"/>
              <a:cs typeface="Calibri"/>
              <a:sym typeface="Calibri"/>
            </a:endParaRPr>
          </a:p>
        </p:txBody>
      </p:sp>
      <p:sp>
        <p:nvSpPr>
          <p:cNvPr id="246" name="Google Shape;246;p12"/>
          <p:cNvSpPr/>
          <p:nvPr/>
        </p:nvSpPr>
        <p:spPr>
          <a:xfrm>
            <a:off x="548640" y="2697480"/>
            <a:ext cx="5349240" cy="3429000"/>
          </a:xfrm>
          <a:prstGeom prst="roundRect">
            <a:avLst>
              <a:gd fmla="val 1867" name="adj"/>
            </a:avLst>
          </a:prstGeom>
          <a:solidFill>
            <a:srgbClr val="F6F8FA"/>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2"/>
          <p:cNvSpPr/>
          <p:nvPr/>
        </p:nvSpPr>
        <p:spPr>
          <a:xfrm>
            <a:off x="822960" y="2880360"/>
            <a:ext cx="484632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4228"/>
              </a:buClr>
              <a:buSzPts val="1700"/>
              <a:buFont typeface="Cambria"/>
              <a:buNone/>
            </a:pPr>
            <a:r>
              <a:rPr b="1" i="0" lang="en-US" sz="1700" u="none" cap="none" strike="noStrike">
                <a:solidFill>
                  <a:srgbClr val="5A4228"/>
                </a:solidFill>
                <a:latin typeface="Cambria"/>
                <a:ea typeface="Cambria"/>
                <a:cs typeface="Cambria"/>
                <a:sym typeface="Cambria"/>
              </a:rPr>
              <a:t>Atomic scale</a:t>
            </a:r>
            <a:endParaRPr b="0" i="0" sz="1700" u="none" cap="none" strike="noStrike">
              <a:solidFill>
                <a:schemeClr val="dk1"/>
              </a:solidFill>
              <a:latin typeface="Calibri"/>
              <a:ea typeface="Calibri"/>
              <a:cs typeface="Calibri"/>
              <a:sym typeface="Calibri"/>
            </a:endParaRPr>
          </a:p>
        </p:txBody>
      </p:sp>
      <p:sp>
        <p:nvSpPr>
          <p:cNvPr id="248" name="Google Shape;248;p12"/>
          <p:cNvSpPr/>
          <p:nvPr/>
        </p:nvSpPr>
        <p:spPr>
          <a:xfrm>
            <a:off x="2542032" y="3429000"/>
            <a:ext cx="1371600" cy="1371600"/>
          </a:xfrm>
          <a:prstGeom prst="ellipse">
            <a:avLst/>
          </a:prstGeom>
          <a:solidFill>
            <a:srgbClr val="FFFFFF"/>
          </a:solidFill>
          <a:ln cap="flat" cmpd="sng" w="19050">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2"/>
          <p:cNvSpPr/>
          <p:nvPr/>
        </p:nvSpPr>
        <p:spPr>
          <a:xfrm>
            <a:off x="3044952" y="3931920"/>
            <a:ext cx="365760" cy="365760"/>
          </a:xfrm>
          <a:prstGeom prst="ellipse">
            <a:avLst/>
          </a:prstGeom>
          <a:solidFill>
            <a:srgbClr val="5A42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2"/>
          <p:cNvSpPr/>
          <p:nvPr/>
        </p:nvSpPr>
        <p:spPr>
          <a:xfrm>
            <a:off x="2542032" y="4828032"/>
            <a:ext cx="13716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000"/>
              <a:buFont typeface="Calibri"/>
              <a:buNone/>
            </a:pPr>
            <a:r>
              <a:rPr b="0" i="1" lang="en-US" sz="1000" u="none" cap="none" strike="noStrike">
                <a:solidFill>
                  <a:srgbClr val="5A6B78"/>
                </a:solidFill>
                <a:latin typeface="Calibri"/>
                <a:ea typeface="Calibri"/>
                <a:cs typeface="Calibri"/>
                <a:sym typeface="Calibri"/>
              </a:rPr>
              <a:t>nucleus</a:t>
            </a:r>
            <a:endParaRPr b="0" i="0" sz="1000" u="none" cap="none" strike="noStrike">
              <a:solidFill>
                <a:schemeClr val="dk1"/>
              </a:solidFill>
              <a:latin typeface="Calibri"/>
              <a:ea typeface="Calibri"/>
              <a:cs typeface="Calibri"/>
              <a:sym typeface="Calibri"/>
            </a:endParaRPr>
          </a:p>
        </p:txBody>
      </p:sp>
      <p:sp>
        <p:nvSpPr>
          <p:cNvPr id="251" name="Google Shape;251;p12"/>
          <p:cNvSpPr/>
          <p:nvPr/>
        </p:nvSpPr>
        <p:spPr>
          <a:xfrm>
            <a:off x="868680" y="5212080"/>
            <a:ext cx="4709160" cy="77724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The nucleus is mediative activity, regulating generative and degenerative orbiting particles.</a:t>
            </a:r>
            <a:endParaRPr b="0" i="0" sz="1150" u="none" cap="none" strike="noStrike">
              <a:solidFill>
                <a:schemeClr val="dk1"/>
              </a:solidFill>
              <a:latin typeface="Calibri"/>
              <a:ea typeface="Calibri"/>
              <a:cs typeface="Calibri"/>
              <a:sym typeface="Calibri"/>
            </a:endParaRPr>
          </a:p>
        </p:txBody>
      </p:sp>
      <p:sp>
        <p:nvSpPr>
          <p:cNvPr id="252" name="Google Shape;252;p12"/>
          <p:cNvSpPr/>
          <p:nvPr/>
        </p:nvSpPr>
        <p:spPr>
          <a:xfrm>
            <a:off x="6263640" y="2697480"/>
            <a:ext cx="5349240" cy="3429000"/>
          </a:xfrm>
          <a:prstGeom prst="roundRect">
            <a:avLst>
              <a:gd fmla="val 1867" name="adj"/>
            </a:avLst>
          </a:prstGeom>
          <a:solidFill>
            <a:srgbClr val="F0EBE4"/>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2"/>
          <p:cNvSpPr/>
          <p:nvPr/>
        </p:nvSpPr>
        <p:spPr>
          <a:xfrm>
            <a:off x="6537960" y="2880360"/>
            <a:ext cx="484632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4228"/>
              </a:buClr>
              <a:buSzPts val="1700"/>
              <a:buFont typeface="Cambria"/>
              <a:buNone/>
            </a:pPr>
            <a:r>
              <a:rPr b="1" i="0" lang="en-US" sz="1700" u="none" cap="none" strike="noStrike">
                <a:solidFill>
                  <a:srgbClr val="5A4228"/>
                </a:solidFill>
                <a:latin typeface="Cambria"/>
                <a:ea typeface="Cambria"/>
                <a:cs typeface="Cambria"/>
                <a:sym typeface="Cambria"/>
              </a:rPr>
              <a:t>Sentient scale</a:t>
            </a:r>
            <a:endParaRPr b="0" i="0" sz="1700" u="none" cap="none" strike="noStrike">
              <a:solidFill>
                <a:schemeClr val="dk1"/>
              </a:solidFill>
              <a:latin typeface="Calibri"/>
              <a:ea typeface="Calibri"/>
              <a:cs typeface="Calibri"/>
              <a:sym typeface="Calibri"/>
            </a:endParaRPr>
          </a:p>
        </p:txBody>
      </p:sp>
      <p:sp>
        <p:nvSpPr>
          <p:cNvPr id="254" name="Google Shape;254;p12"/>
          <p:cNvSpPr/>
          <p:nvPr/>
        </p:nvSpPr>
        <p:spPr>
          <a:xfrm>
            <a:off x="8257032" y="3429000"/>
            <a:ext cx="1371600" cy="1371600"/>
          </a:xfrm>
          <a:prstGeom prst="ellipse">
            <a:avLst/>
          </a:prstGeom>
          <a:solidFill>
            <a:srgbClr val="FFFFFF"/>
          </a:solidFill>
          <a:ln cap="flat" cmpd="sng" w="19050">
            <a:solidFill>
              <a:srgbClr val="C4B0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2"/>
          <p:cNvSpPr/>
          <p:nvPr/>
        </p:nvSpPr>
        <p:spPr>
          <a:xfrm>
            <a:off x="8759952" y="3931920"/>
            <a:ext cx="365760" cy="365760"/>
          </a:xfrm>
          <a:prstGeom prst="ellipse">
            <a:avLst/>
          </a:prstGeom>
          <a:solidFill>
            <a:srgbClr val="5A42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2"/>
          <p:cNvSpPr/>
          <p:nvPr/>
        </p:nvSpPr>
        <p:spPr>
          <a:xfrm>
            <a:off x="8257032" y="4828032"/>
            <a:ext cx="13716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000"/>
              <a:buFont typeface="Calibri"/>
              <a:buNone/>
            </a:pPr>
            <a:r>
              <a:rPr b="0" i="1" lang="en-US" sz="1000" u="none" cap="none" strike="noStrike">
                <a:solidFill>
                  <a:srgbClr val="5A6B78"/>
                </a:solidFill>
                <a:latin typeface="Calibri"/>
                <a:ea typeface="Calibri"/>
                <a:cs typeface="Calibri"/>
                <a:sym typeface="Calibri"/>
              </a:rPr>
              <a:t>atma</a:t>
            </a:r>
            <a:endParaRPr b="0" i="0" sz="1000" u="none" cap="none" strike="noStrike">
              <a:solidFill>
                <a:schemeClr val="dk1"/>
              </a:solidFill>
              <a:latin typeface="Calibri"/>
              <a:ea typeface="Calibri"/>
              <a:cs typeface="Calibri"/>
              <a:sym typeface="Calibri"/>
            </a:endParaRPr>
          </a:p>
        </p:txBody>
      </p:sp>
      <p:sp>
        <p:nvSpPr>
          <p:cNvPr id="257" name="Google Shape;257;p12"/>
          <p:cNvSpPr/>
          <p:nvPr/>
        </p:nvSpPr>
        <p:spPr>
          <a:xfrm>
            <a:off x="6583680" y="5212080"/>
            <a:ext cx="4709160" cy="77724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3F4D57"/>
              </a:buClr>
              <a:buSzPts val="1150"/>
              <a:buFont typeface="Calibri"/>
              <a:buNone/>
            </a:pPr>
            <a:r>
              <a:rPr b="0" i="0" lang="en-US" sz="1150" u="none" cap="none" strike="noStrike">
                <a:solidFill>
                  <a:srgbClr val="3F4D57"/>
                </a:solidFill>
                <a:latin typeface="Calibri"/>
                <a:ea typeface="Calibri"/>
                <a:cs typeface="Calibri"/>
                <a:sym typeface="Calibri"/>
              </a:rPr>
              <a:t>In jeevan, inward regulation under mediative atma is the sentient-scale counterpart — disciplining the faculties.</a:t>
            </a:r>
            <a:endParaRPr b="0" i="0" sz="1150" u="none" cap="none" strike="noStrike">
              <a:solidFill>
                <a:schemeClr val="dk1"/>
              </a:solidFill>
              <a:latin typeface="Calibri"/>
              <a:ea typeface="Calibri"/>
              <a:cs typeface="Calibri"/>
              <a:sym typeface="Calibri"/>
            </a:endParaRPr>
          </a:p>
        </p:txBody>
      </p:sp>
      <p:sp>
        <p:nvSpPr>
          <p:cNvPr id="258" name="Google Shape;258;p12"/>
          <p:cNvSpPr/>
          <p:nvPr/>
        </p:nvSpPr>
        <p:spPr>
          <a:xfrm>
            <a:off x="5897880" y="3749040"/>
            <a:ext cx="36576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600"/>
              <a:buFont typeface="Cambria"/>
              <a:buNone/>
            </a:pPr>
            <a:r>
              <a:rPr b="1" i="0" lang="en-US" sz="2600" u="none" cap="none" strike="noStrike">
                <a:solidFill>
                  <a:srgbClr val="5A6B78"/>
                </a:solidFill>
                <a:latin typeface="Cambria"/>
                <a:ea typeface="Cambria"/>
                <a:cs typeface="Cambria"/>
                <a:sym typeface="Cambria"/>
              </a:rPr>
              <a:t>=</a:t>
            </a:r>
            <a:endParaRPr b="0" i="0" sz="26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 name="Shape 263"/>
        <p:cNvGrpSpPr/>
        <p:nvPr/>
      </p:nvGrpSpPr>
      <p:grpSpPr>
        <a:xfrm>
          <a:off x="0" y="0"/>
          <a:ext cx="0" cy="0"/>
          <a:chOff x="0" y="0"/>
          <a:chExt cx="0" cy="0"/>
        </a:xfrm>
      </p:grpSpPr>
      <p:sp>
        <p:nvSpPr>
          <p:cNvPr id="264" name="Google Shape;264;p13"/>
          <p:cNvSpPr/>
          <p:nvPr/>
        </p:nvSpPr>
        <p:spPr>
          <a:xfrm>
            <a:off x="548640" y="475488"/>
            <a:ext cx="457200" cy="457200"/>
          </a:xfrm>
          <a:prstGeom prst="ellipse">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3"/>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3</a:t>
            </a:r>
            <a:endParaRPr b="0" i="0" sz="1900" u="none" cap="none" strike="noStrike">
              <a:solidFill>
                <a:schemeClr val="dk1"/>
              </a:solidFill>
              <a:latin typeface="Calibri"/>
              <a:ea typeface="Calibri"/>
              <a:cs typeface="Calibri"/>
              <a:sym typeface="Calibri"/>
            </a:endParaRPr>
          </a:p>
        </p:txBody>
      </p:sp>
      <p:sp>
        <p:nvSpPr>
          <p:cNvPr id="266" name="Google Shape;266;p13"/>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LAYER 3  ·  KNOWLEDGE-ORDER GATE</a:t>
            </a:r>
            <a:endParaRPr b="0" i="0" sz="1250" u="none" cap="none" strike="noStrike">
              <a:solidFill>
                <a:schemeClr val="dk1"/>
              </a:solidFill>
              <a:latin typeface="Calibri"/>
              <a:ea typeface="Calibri"/>
              <a:cs typeface="Calibri"/>
              <a:sym typeface="Calibri"/>
            </a:endParaRPr>
          </a:p>
        </p:txBody>
      </p:sp>
      <p:sp>
        <p:nvSpPr>
          <p:cNvPr id="267" name="Google Shape;267;p13"/>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3100"/>
              <a:buFont typeface="Cambria"/>
              <a:buNone/>
            </a:pPr>
            <a:r>
              <a:rPr b="1" i="0" lang="en-US" sz="3100" u="none" cap="none" strike="noStrike">
                <a:solidFill>
                  <a:srgbClr val="4A3868"/>
                </a:solidFill>
                <a:latin typeface="Cambria"/>
                <a:ea typeface="Cambria"/>
                <a:cs typeface="Cambria"/>
                <a:sym typeface="Cambria"/>
              </a:rPr>
              <a:t>The narrow gate: six perspectives</a:t>
            </a:r>
            <a:endParaRPr b="0" i="0" sz="3100" u="none" cap="none" strike="noStrike">
              <a:solidFill>
                <a:schemeClr val="dk1"/>
              </a:solidFill>
              <a:latin typeface="Calibri"/>
              <a:ea typeface="Calibri"/>
              <a:cs typeface="Calibri"/>
              <a:sym typeface="Calibri"/>
            </a:endParaRPr>
          </a:p>
        </p:txBody>
      </p:sp>
      <p:sp>
        <p:nvSpPr>
          <p:cNvPr id="268" name="Google Shape;268;p13"/>
          <p:cNvSpPr/>
          <p:nvPr/>
        </p:nvSpPr>
        <p:spPr>
          <a:xfrm>
            <a:off x="548640" y="1737360"/>
            <a:ext cx="11064240" cy="77724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Only jeevan at the knowledge order evaluates — and with evaluation come both delusion and the possibility of awakening. All human behaviour manifests in six built-in perspectives, organised under two refuges.</a:t>
            </a:r>
            <a:endParaRPr b="0" i="0" sz="1400" u="none" cap="none" strike="noStrike">
              <a:solidFill>
                <a:schemeClr val="dk1"/>
              </a:solidFill>
              <a:latin typeface="Calibri"/>
              <a:ea typeface="Calibri"/>
              <a:cs typeface="Calibri"/>
              <a:sym typeface="Calibri"/>
            </a:endParaRPr>
          </a:p>
        </p:txBody>
      </p:sp>
      <p:sp>
        <p:nvSpPr>
          <p:cNvPr id="269" name="Google Shape;269;p13"/>
          <p:cNvSpPr/>
          <p:nvPr/>
        </p:nvSpPr>
        <p:spPr>
          <a:xfrm>
            <a:off x="548640" y="2697480"/>
            <a:ext cx="5349240" cy="3200400"/>
          </a:xfrm>
          <a:prstGeom prst="roundRect">
            <a:avLst>
              <a:gd fmla="val 2000" name="adj"/>
            </a:avLst>
          </a:prstGeom>
          <a:solidFill>
            <a:srgbClr val="F2E5E2"/>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3"/>
          <p:cNvSpPr/>
          <p:nvPr/>
        </p:nvSpPr>
        <p:spPr>
          <a:xfrm>
            <a:off x="822960" y="2907792"/>
            <a:ext cx="48463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4030"/>
              </a:buClr>
              <a:buSzPts val="1600"/>
              <a:buFont typeface="Cambria"/>
              <a:buNone/>
            </a:pPr>
            <a:r>
              <a:rPr b="1" i="0" lang="en-US" sz="1600" u="none" cap="none" strike="noStrike">
                <a:solidFill>
                  <a:srgbClr val="8A4030"/>
                </a:solidFill>
                <a:latin typeface="Cambria"/>
                <a:ea typeface="Cambria"/>
                <a:cs typeface="Cambria"/>
                <a:sym typeface="Cambria"/>
              </a:rPr>
              <a:t>Inhumane refuge</a:t>
            </a:r>
            <a:endParaRPr b="0" i="0" sz="1600" u="none" cap="none" strike="noStrike">
              <a:solidFill>
                <a:schemeClr val="dk1"/>
              </a:solidFill>
              <a:latin typeface="Calibri"/>
              <a:ea typeface="Calibri"/>
              <a:cs typeface="Calibri"/>
              <a:sym typeface="Calibri"/>
            </a:endParaRPr>
          </a:p>
        </p:txBody>
      </p:sp>
      <p:sp>
        <p:nvSpPr>
          <p:cNvPr id="271" name="Google Shape;271;p13"/>
          <p:cNvSpPr/>
          <p:nvPr/>
        </p:nvSpPr>
        <p:spPr>
          <a:xfrm>
            <a:off x="822960" y="329184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4030"/>
              </a:buClr>
              <a:buSzPts val="1250"/>
              <a:buFont typeface="Calibri"/>
              <a:buNone/>
            </a:pPr>
            <a:r>
              <a:rPr b="1" i="1" lang="en-US" sz="1250" u="none" cap="none" strike="noStrike">
                <a:solidFill>
                  <a:srgbClr val="8A4030"/>
                </a:solidFill>
                <a:latin typeface="Calibri"/>
                <a:ea typeface="Calibri"/>
                <a:cs typeface="Calibri"/>
                <a:sym typeface="Calibri"/>
              </a:rPr>
              <a:t>priya · hita · labh</a:t>
            </a:r>
            <a:endParaRPr b="0" i="0" sz="1250" u="none" cap="none" strike="noStrike">
              <a:solidFill>
                <a:schemeClr val="dk1"/>
              </a:solidFill>
              <a:latin typeface="Calibri"/>
              <a:ea typeface="Calibri"/>
              <a:cs typeface="Calibri"/>
              <a:sym typeface="Calibri"/>
            </a:endParaRPr>
          </a:p>
        </p:txBody>
      </p:sp>
      <p:sp>
        <p:nvSpPr>
          <p:cNvPr id="272" name="Google Shape;272;p13"/>
          <p:cNvSpPr/>
          <p:nvPr/>
        </p:nvSpPr>
        <p:spPr>
          <a:xfrm>
            <a:off x="914400" y="3749040"/>
            <a:ext cx="4572000" cy="12801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3F4D57"/>
              </a:buClr>
              <a:buSzPts val="1300"/>
              <a:buFont typeface="Calibri"/>
              <a:buChar char="•"/>
            </a:pPr>
            <a:r>
              <a:rPr b="0" i="0" lang="en-US" sz="1300" u="none" cap="none" strike="noStrike">
                <a:solidFill>
                  <a:srgbClr val="3F4D57"/>
                </a:solidFill>
                <a:latin typeface="Calibri"/>
                <a:ea typeface="Calibri"/>
                <a:cs typeface="Calibri"/>
                <a:sym typeface="Calibri"/>
              </a:rPr>
              <a:t>Pleasant–unpleasant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3F4D57"/>
              </a:buClr>
              <a:buSzPts val="1300"/>
              <a:buFont typeface="Calibri"/>
              <a:buChar char="•"/>
            </a:pPr>
            <a:r>
              <a:rPr b="0" i="0" lang="en-US" sz="1300" u="none" cap="none" strike="noStrike">
                <a:solidFill>
                  <a:srgbClr val="3F4D57"/>
                </a:solidFill>
                <a:latin typeface="Calibri"/>
                <a:ea typeface="Calibri"/>
                <a:cs typeface="Calibri"/>
                <a:sym typeface="Calibri"/>
              </a:rPr>
              <a:t>Healthy–unhealthy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3F4D57"/>
              </a:buClr>
              <a:buSzPts val="1300"/>
              <a:buFont typeface="Calibri"/>
              <a:buChar char="•"/>
            </a:pPr>
            <a:r>
              <a:rPr b="0" i="0" lang="en-US" sz="1300" u="none" cap="none" strike="noStrike">
                <a:solidFill>
                  <a:srgbClr val="3F4D57"/>
                </a:solidFill>
                <a:latin typeface="Calibri"/>
                <a:ea typeface="Calibri"/>
                <a:cs typeface="Calibri"/>
                <a:sym typeface="Calibri"/>
              </a:rPr>
              <a:t>Profit–loss</a:t>
            </a:r>
            <a:endParaRPr b="0" i="0" sz="1300" u="none" cap="none" strike="noStrike">
              <a:solidFill>
                <a:schemeClr val="dk1"/>
              </a:solidFill>
              <a:latin typeface="Calibri"/>
              <a:ea typeface="Calibri"/>
              <a:cs typeface="Calibri"/>
              <a:sym typeface="Calibri"/>
            </a:endParaRPr>
          </a:p>
        </p:txBody>
      </p:sp>
      <p:sp>
        <p:nvSpPr>
          <p:cNvPr id="273" name="Google Shape;273;p13"/>
          <p:cNvSpPr/>
          <p:nvPr/>
        </p:nvSpPr>
        <p:spPr>
          <a:xfrm>
            <a:off x="822960" y="5074920"/>
            <a:ext cx="4846320" cy="73152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8A4030"/>
              </a:buClr>
              <a:buSzPts val="1150"/>
              <a:buFont typeface="Calibri"/>
              <a:buNone/>
            </a:pPr>
            <a:r>
              <a:rPr b="0" i="1" lang="en-US" sz="1150" u="none" cap="none" strike="noStrike">
                <a:solidFill>
                  <a:srgbClr val="8A4030"/>
                </a:solidFill>
                <a:latin typeface="Calibri"/>
                <a:ea typeface="Calibri"/>
                <a:cs typeface="Calibri"/>
                <a:sym typeface="Calibri"/>
              </a:rPr>
              <a:t>Organised around instinct, body and material gain — legitimate in its domain, but not sufficient as the standpoint of a knowledge-order being.</a:t>
            </a:r>
            <a:endParaRPr b="0" i="0" sz="1150" u="none" cap="none" strike="noStrike">
              <a:solidFill>
                <a:schemeClr val="dk1"/>
              </a:solidFill>
              <a:latin typeface="Calibri"/>
              <a:ea typeface="Calibri"/>
              <a:cs typeface="Calibri"/>
              <a:sym typeface="Calibri"/>
            </a:endParaRPr>
          </a:p>
        </p:txBody>
      </p:sp>
      <p:sp>
        <p:nvSpPr>
          <p:cNvPr id="274" name="Google Shape;274;p13"/>
          <p:cNvSpPr/>
          <p:nvPr/>
        </p:nvSpPr>
        <p:spPr>
          <a:xfrm>
            <a:off x="6263640" y="2697480"/>
            <a:ext cx="5349240" cy="3200400"/>
          </a:xfrm>
          <a:prstGeom prst="roundRect">
            <a:avLst>
              <a:gd fmla="val 2000" name="adj"/>
            </a:avLst>
          </a:prstGeom>
          <a:solidFill>
            <a:srgbClr val="EDE8F4"/>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3"/>
          <p:cNvSpPr/>
          <p:nvPr/>
        </p:nvSpPr>
        <p:spPr>
          <a:xfrm>
            <a:off x="6537960" y="2907792"/>
            <a:ext cx="48463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600"/>
              <a:buFont typeface="Cambria"/>
              <a:buNone/>
            </a:pPr>
            <a:r>
              <a:rPr b="1" i="0" lang="en-US" sz="1600" u="none" cap="none" strike="noStrike">
                <a:solidFill>
                  <a:srgbClr val="4A3868"/>
                </a:solidFill>
                <a:latin typeface="Cambria"/>
                <a:ea typeface="Cambria"/>
                <a:cs typeface="Cambria"/>
                <a:sym typeface="Cambria"/>
              </a:rPr>
              <a:t>Humane refuge</a:t>
            </a:r>
            <a:endParaRPr b="0" i="0" sz="1600" u="none" cap="none" strike="noStrike">
              <a:solidFill>
                <a:schemeClr val="dk1"/>
              </a:solidFill>
              <a:latin typeface="Calibri"/>
              <a:ea typeface="Calibri"/>
              <a:cs typeface="Calibri"/>
              <a:sym typeface="Calibri"/>
            </a:endParaRPr>
          </a:p>
        </p:txBody>
      </p:sp>
      <p:sp>
        <p:nvSpPr>
          <p:cNvPr id="276" name="Google Shape;276;p13"/>
          <p:cNvSpPr/>
          <p:nvPr/>
        </p:nvSpPr>
        <p:spPr>
          <a:xfrm>
            <a:off x="6537960" y="329184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250"/>
              <a:buFont typeface="Calibri"/>
              <a:buNone/>
            </a:pPr>
            <a:r>
              <a:rPr b="1" i="1" lang="en-US" sz="1250" u="none" cap="none" strike="noStrike">
                <a:solidFill>
                  <a:srgbClr val="4A3868"/>
                </a:solidFill>
                <a:latin typeface="Calibri"/>
                <a:ea typeface="Calibri"/>
                <a:cs typeface="Calibri"/>
                <a:sym typeface="Calibri"/>
              </a:rPr>
              <a:t>nyaya · dharma · satya</a:t>
            </a:r>
            <a:endParaRPr b="0" i="0" sz="1250" u="none" cap="none" strike="noStrike">
              <a:solidFill>
                <a:schemeClr val="dk1"/>
              </a:solidFill>
              <a:latin typeface="Calibri"/>
              <a:ea typeface="Calibri"/>
              <a:cs typeface="Calibri"/>
              <a:sym typeface="Calibri"/>
            </a:endParaRPr>
          </a:p>
        </p:txBody>
      </p:sp>
      <p:sp>
        <p:nvSpPr>
          <p:cNvPr id="277" name="Google Shape;277;p13"/>
          <p:cNvSpPr/>
          <p:nvPr/>
        </p:nvSpPr>
        <p:spPr>
          <a:xfrm>
            <a:off x="6629400" y="3749040"/>
            <a:ext cx="4846320" cy="12801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3F4D57"/>
              </a:buClr>
              <a:buSzPts val="1300"/>
              <a:buFont typeface="Calibri"/>
              <a:buChar char="•"/>
            </a:pPr>
            <a:r>
              <a:rPr b="0" i="0" lang="en-US" sz="1300" u="none" cap="none" strike="noStrike">
                <a:solidFill>
                  <a:srgbClr val="3F4D57"/>
                </a:solidFill>
                <a:latin typeface="Calibri"/>
                <a:ea typeface="Calibri"/>
                <a:cs typeface="Calibri"/>
                <a:sym typeface="Calibri"/>
              </a:rPr>
              <a:t>Justice–injustice  → regulates conduct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3F4D57"/>
              </a:buClr>
              <a:buSzPts val="1300"/>
              <a:buFont typeface="Calibri"/>
              <a:buChar char="•"/>
            </a:pPr>
            <a:r>
              <a:rPr b="0" i="0" lang="en-US" sz="1300" u="none" cap="none" strike="noStrike">
                <a:solidFill>
                  <a:srgbClr val="3F4D57"/>
                </a:solidFill>
                <a:latin typeface="Calibri"/>
                <a:ea typeface="Calibri"/>
                <a:cs typeface="Calibri"/>
                <a:sym typeface="Calibri"/>
              </a:rPr>
              <a:t>Dharma–adharma  → thought toward resolution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3F4D57"/>
              </a:buClr>
              <a:buSzPts val="1300"/>
              <a:buFont typeface="Calibri"/>
              <a:buChar char="•"/>
            </a:pPr>
            <a:r>
              <a:rPr b="0" i="0" lang="en-US" sz="1300" u="none" cap="none" strike="noStrike">
                <a:solidFill>
                  <a:srgbClr val="3F4D57"/>
                </a:solidFill>
                <a:latin typeface="Calibri"/>
                <a:ea typeface="Calibri"/>
                <a:cs typeface="Calibri"/>
                <a:sym typeface="Calibri"/>
              </a:rPr>
              <a:t>Truth–untruth  → realisation in existence</a:t>
            </a:r>
            <a:endParaRPr b="0" i="0" sz="1300" u="none" cap="none" strike="noStrike">
              <a:solidFill>
                <a:schemeClr val="dk1"/>
              </a:solidFill>
              <a:latin typeface="Calibri"/>
              <a:ea typeface="Calibri"/>
              <a:cs typeface="Calibri"/>
              <a:sym typeface="Calibri"/>
            </a:endParaRPr>
          </a:p>
        </p:txBody>
      </p:sp>
      <p:sp>
        <p:nvSpPr>
          <p:cNvPr id="278" name="Google Shape;278;p13"/>
          <p:cNvSpPr/>
          <p:nvPr/>
        </p:nvSpPr>
        <p:spPr>
          <a:xfrm>
            <a:off x="6537960" y="5074920"/>
            <a:ext cx="4846320" cy="73152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4A3868"/>
              </a:buClr>
              <a:buSzPts val="1150"/>
              <a:buFont typeface="Calibri"/>
              <a:buNone/>
            </a:pPr>
            <a:r>
              <a:rPr b="0" i="1" lang="en-US" sz="1150" u="none" cap="none" strike="noStrike">
                <a:solidFill>
                  <a:srgbClr val="4A3868"/>
                </a:solidFill>
                <a:latin typeface="Calibri"/>
                <a:ea typeface="Calibri"/>
                <a:cs typeface="Calibri"/>
                <a:sym typeface="Calibri"/>
              </a:rPr>
              <a:t>Awakening reorganises evaluation here. Delusion — body mistaken for self — is complementarity blocked at the knowledge order, not nature turning competitive.</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14"/>
          <p:cNvSpPr/>
          <p:nvPr/>
        </p:nvSpPr>
        <p:spPr>
          <a:xfrm>
            <a:off x="548640" y="475488"/>
            <a:ext cx="457200" cy="457200"/>
          </a:xfrm>
          <a:prstGeom prst="ellipse">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4"/>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3</a:t>
            </a:r>
            <a:endParaRPr b="0" i="0" sz="1900" u="none" cap="none" strike="noStrike">
              <a:solidFill>
                <a:schemeClr val="dk1"/>
              </a:solidFill>
              <a:latin typeface="Calibri"/>
              <a:ea typeface="Calibri"/>
              <a:cs typeface="Calibri"/>
              <a:sym typeface="Calibri"/>
            </a:endParaRPr>
          </a:p>
        </p:txBody>
      </p:sp>
      <p:sp>
        <p:nvSpPr>
          <p:cNvPr id="286" name="Google Shape;286;p14"/>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LAYER 3  ·  KNOWLEDGE-ORDER GATE</a:t>
            </a:r>
            <a:endParaRPr b="0" i="0" sz="1250" u="none" cap="none" strike="noStrike">
              <a:solidFill>
                <a:schemeClr val="dk1"/>
              </a:solidFill>
              <a:latin typeface="Calibri"/>
              <a:ea typeface="Calibri"/>
              <a:cs typeface="Calibri"/>
              <a:sym typeface="Calibri"/>
            </a:endParaRPr>
          </a:p>
        </p:txBody>
      </p:sp>
      <p:sp>
        <p:nvSpPr>
          <p:cNvPr id="287" name="Google Shape;287;p14"/>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3100"/>
              <a:buFont typeface="Cambria"/>
              <a:buNone/>
            </a:pPr>
            <a:r>
              <a:rPr b="1" i="0" lang="en-US" sz="3100" u="none" cap="none" strike="noStrike">
                <a:solidFill>
                  <a:srgbClr val="4A3868"/>
                </a:solidFill>
                <a:latin typeface="Cambria"/>
                <a:ea typeface="Cambria"/>
                <a:cs typeface="Cambria"/>
                <a:sym typeface="Cambria"/>
              </a:rPr>
              <a:t>Justice: evaluative closure, not mere compliance</a:t>
            </a:r>
            <a:endParaRPr b="0" i="0" sz="3100" u="none" cap="none" strike="noStrike">
              <a:solidFill>
                <a:schemeClr val="dk1"/>
              </a:solidFill>
              <a:latin typeface="Calibri"/>
              <a:ea typeface="Calibri"/>
              <a:cs typeface="Calibri"/>
              <a:sym typeface="Calibri"/>
            </a:endParaRPr>
          </a:p>
        </p:txBody>
      </p:sp>
      <p:sp>
        <p:nvSpPr>
          <p:cNvPr id="288" name="Google Shape;288;p14"/>
          <p:cNvSpPr/>
          <p:nvPr/>
        </p:nvSpPr>
        <p:spPr>
          <a:xfrm>
            <a:off x="548640" y="1783080"/>
            <a:ext cx="11064240" cy="1143000"/>
          </a:xfrm>
          <a:prstGeom prst="roundRect">
            <a:avLst>
              <a:gd fmla="val 6400" name="adj"/>
            </a:avLst>
          </a:prstGeom>
          <a:solidFill>
            <a:srgbClr val="F6F8FA"/>
          </a:solidFill>
          <a:ln cap="flat" cmpd="sng" w="12700">
            <a:solidFill>
              <a:srgbClr val="4A386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4"/>
          <p:cNvSpPr/>
          <p:nvPr/>
        </p:nvSpPr>
        <p:spPr>
          <a:xfrm>
            <a:off x="594360" y="176479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4800"/>
              <a:buFont typeface="Cambria"/>
              <a:buNone/>
            </a:pPr>
            <a:r>
              <a:rPr b="1" i="0" lang="en-US" sz="4800" u="none" cap="none" strike="noStrike">
                <a:solidFill>
                  <a:srgbClr val="4A3868"/>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290" name="Google Shape;290;p14"/>
          <p:cNvSpPr/>
          <p:nvPr/>
        </p:nvSpPr>
        <p:spPr>
          <a:xfrm>
            <a:off x="1051560" y="1947672"/>
            <a:ext cx="10287000" cy="81381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Recognising relationships, fulfilling values, evaluating, and achieving mutual satisfaction is justice.</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4A3868"/>
              </a:buClr>
              <a:buSzPts val="1150"/>
              <a:buFont typeface="Calibri"/>
              <a:buNone/>
            </a:pPr>
            <a:r>
              <a:rPr b="1" i="0" lang="en-US" sz="1150" u="none" cap="none" strike="noStrike">
                <a:solidFill>
                  <a:srgbClr val="4A3868"/>
                </a:solidFill>
                <a:latin typeface="Calibri"/>
                <a:ea typeface="Calibri"/>
                <a:cs typeface="Calibri"/>
                <a:sym typeface="Calibri"/>
              </a:rPr>
              <a:t>— MVD, p. 311</a:t>
            </a:r>
            <a:endParaRPr b="0" i="0" sz="1450" u="none" cap="none" strike="noStrike">
              <a:solidFill>
                <a:schemeClr val="dk1"/>
              </a:solidFill>
              <a:latin typeface="Calibri"/>
              <a:ea typeface="Calibri"/>
              <a:cs typeface="Calibri"/>
              <a:sym typeface="Calibri"/>
            </a:endParaRPr>
          </a:p>
        </p:txBody>
      </p:sp>
      <p:sp>
        <p:nvSpPr>
          <p:cNvPr id="291" name="Google Shape;291;p14"/>
          <p:cNvSpPr/>
          <p:nvPr/>
        </p:nvSpPr>
        <p:spPr>
          <a:xfrm>
            <a:off x="548640" y="3154680"/>
            <a:ext cx="10972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1400"/>
              <a:buFont typeface="Calibri"/>
              <a:buNone/>
            </a:pPr>
            <a:r>
              <a:rPr b="1" i="0" lang="en-US" sz="1400" u="none" cap="none" strike="noStrike">
                <a:solidFill>
                  <a:srgbClr val="1F2D3A"/>
                </a:solidFill>
                <a:latin typeface="Calibri"/>
                <a:ea typeface="Calibri"/>
                <a:cs typeface="Calibri"/>
                <a:sym typeface="Calibri"/>
              </a:rPr>
              <a:t>Three registers must be kept apart:</a:t>
            </a:r>
            <a:endParaRPr b="0" i="0" sz="1400" u="none" cap="none" strike="noStrike">
              <a:solidFill>
                <a:schemeClr val="dk1"/>
              </a:solidFill>
              <a:latin typeface="Calibri"/>
              <a:ea typeface="Calibri"/>
              <a:cs typeface="Calibri"/>
              <a:sym typeface="Calibri"/>
            </a:endParaRPr>
          </a:p>
        </p:txBody>
      </p:sp>
      <p:sp>
        <p:nvSpPr>
          <p:cNvPr id="292" name="Google Shape;292;p14"/>
          <p:cNvSpPr/>
          <p:nvPr/>
        </p:nvSpPr>
        <p:spPr>
          <a:xfrm>
            <a:off x="548640" y="3611880"/>
            <a:ext cx="3566160" cy="2377440"/>
          </a:xfrm>
          <a:prstGeom prst="roundRect">
            <a:avLst>
              <a:gd fmla="val 3077" name="adj"/>
            </a:avLst>
          </a:prstGeom>
          <a:solidFill>
            <a:srgbClr val="E9F0F4"/>
          </a:solidFill>
          <a:ln cap="flat" cmpd="sng" w="12700">
            <a:solidFill>
              <a:srgbClr val="D8E0E6"/>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4"/>
          <p:cNvSpPr/>
          <p:nvPr/>
        </p:nvSpPr>
        <p:spPr>
          <a:xfrm>
            <a:off x="804672" y="3822192"/>
            <a:ext cx="3054096"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600"/>
              <a:buFont typeface="Cambria"/>
              <a:buNone/>
            </a:pPr>
            <a:r>
              <a:rPr b="1" i="0" lang="en-US" sz="1600" u="none" cap="none" strike="noStrike">
                <a:solidFill>
                  <a:srgbClr val="2F5168"/>
                </a:solidFill>
                <a:latin typeface="Cambria"/>
                <a:ea typeface="Cambria"/>
                <a:cs typeface="Cambria"/>
                <a:sym typeface="Cambria"/>
              </a:rPr>
              <a:t>Regulation / law</a:t>
            </a:r>
            <a:endParaRPr b="0" i="0" sz="1600" u="none" cap="none" strike="noStrike">
              <a:solidFill>
                <a:schemeClr val="dk1"/>
              </a:solidFill>
              <a:latin typeface="Calibri"/>
              <a:ea typeface="Calibri"/>
              <a:cs typeface="Calibri"/>
              <a:sym typeface="Calibri"/>
            </a:endParaRPr>
          </a:p>
        </p:txBody>
      </p:sp>
      <p:sp>
        <p:nvSpPr>
          <p:cNvPr id="294" name="Google Shape;294;p14"/>
          <p:cNvSpPr/>
          <p:nvPr/>
        </p:nvSpPr>
        <p:spPr>
          <a:xfrm>
            <a:off x="804672" y="4315968"/>
            <a:ext cx="3054096"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100"/>
              <a:buFont typeface="Calibri"/>
              <a:buNone/>
            </a:pPr>
            <a:r>
              <a:rPr b="1" i="0" lang="en-US" sz="1100" u="none" cap="none" strike="noStrike">
                <a:solidFill>
                  <a:srgbClr val="2F5168"/>
                </a:solidFill>
                <a:latin typeface="Calibri"/>
                <a:ea typeface="Calibri"/>
                <a:cs typeface="Calibri"/>
                <a:sym typeface="Calibri"/>
              </a:rPr>
              <a:t>ALL FOUR ORDERS</a:t>
            </a:r>
            <a:endParaRPr b="0" i="0" sz="1100" u="none" cap="none" strike="noStrike">
              <a:solidFill>
                <a:schemeClr val="dk1"/>
              </a:solidFill>
              <a:latin typeface="Calibri"/>
              <a:ea typeface="Calibri"/>
              <a:cs typeface="Calibri"/>
              <a:sym typeface="Calibri"/>
            </a:endParaRPr>
          </a:p>
        </p:txBody>
      </p:sp>
      <p:sp>
        <p:nvSpPr>
          <p:cNvPr id="295" name="Google Shape;295;p14"/>
          <p:cNvSpPr/>
          <p:nvPr/>
        </p:nvSpPr>
        <p:spPr>
          <a:xfrm>
            <a:off x="804672" y="4709160"/>
            <a:ext cx="3054096" cy="1143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Inherent orderliness with -ness — definite below the knowledge order.</a:t>
            </a:r>
            <a:endParaRPr b="0" i="0" sz="1250" u="none" cap="none" strike="noStrike">
              <a:solidFill>
                <a:schemeClr val="dk1"/>
              </a:solidFill>
              <a:latin typeface="Calibri"/>
              <a:ea typeface="Calibri"/>
              <a:cs typeface="Calibri"/>
              <a:sym typeface="Calibri"/>
            </a:endParaRPr>
          </a:p>
        </p:txBody>
      </p:sp>
      <p:sp>
        <p:nvSpPr>
          <p:cNvPr id="296" name="Google Shape;296;p14"/>
          <p:cNvSpPr/>
          <p:nvPr/>
        </p:nvSpPr>
        <p:spPr>
          <a:xfrm>
            <a:off x="4361688" y="3611880"/>
            <a:ext cx="3566160" cy="2377440"/>
          </a:xfrm>
          <a:prstGeom prst="roundRect">
            <a:avLst>
              <a:gd fmla="val 3077" name="adj"/>
            </a:avLst>
          </a:prstGeom>
          <a:solidFill>
            <a:srgbClr val="EDE8F4"/>
          </a:solidFill>
          <a:ln cap="flat" cmpd="sng" w="12700">
            <a:solidFill>
              <a:srgbClr val="D8E0E6"/>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4"/>
          <p:cNvSpPr/>
          <p:nvPr/>
        </p:nvSpPr>
        <p:spPr>
          <a:xfrm>
            <a:off x="4617720" y="3822192"/>
            <a:ext cx="3054096"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600"/>
              <a:buFont typeface="Cambria"/>
              <a:buNone/>
            </a:pPr>
            <a:r>
              <a:rPr b="1" i="0" lang="en-US" sz="1600" u="none" cap="none" strike="noStrike">
                <a:solidFill>
                  <a:srgbClr val="4A3868"/>
                </a:solidFill>
                <a:latin typeface="Cambria"/>
                <a:ea typeface="Cambria"/>
                <a:cs typeface="Cambria"/>
                <a:sym typeface="Cambria"/>
              </a:rPr>
              <a:t>Justice (nyaya)</a:t>
            </a:r>
            <a:endParaRPr b="0" i="0" sz="1600" u="none" cap="none" strike="noStrike">
              <a:solidFill>
                <a:schemeClr val="dk1"/>
              </a:solidFill>
              <a:latin typeface="Calibri"/>
              <a:ea typeface="Calibri"/>
              <a:cs typeface="Calibri"/>
              <a:sym typeface="Calibri"/>
            </a:endParaRPr>
          </a:p>
        </p:txBody>
      </p:sp>
      <p:sp>
        <p:nvSpPr>
          <p:cNvPr id="298" name="Google Shape;298;p14"/>
          <p:cNvSpPr/>
          <p:nvPr/>
        </p:nvSpPr>
        <p:spPr>
          <a:xfrm>
            <a:off x="4617720" y="4315968"/>
            <a:ext cx="3054096"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100"/>
              <a:buFont typeface="Calibri"/>
              <a:buNone/>
            </a:pPr>
            <a:r>
              <a:rPr b="1" i="0" lang="en-US" sz="1100" u="none" cap="none" strike="noStrike">
                <a:solidFill>
                  <a:srgbClr val="4A3868"/>
                </a:solidFill>
                <a:latin typeface="Calibri"/>
                <a:ea typeface="Calibri"/>
                <a:cs typeface="Calibri"/>
                <a:sym typeface="Calibri"/>
              </a:rPr>
              <a:t>KNOWLEDGE ORDER</a:t>
            </a:r>
            <a:endParaRPr b="0" i="0" sz="1100" u="none" cap="none" strike="noStrike">
              <a:solidFill>
                <a:schemeClr val="dk1"/>
              </a:solidFill>
              <a:latin typeface="Calibri"/>
              <a:ea typeface="Calibri"/>
              <a:cs typeface="Calibri"/>
              <a:sym typeface="Calibri"/>
            </a:endParaRPr>
          </a:p>
        </p:txBody>
      </p:sp>
      <p:sp>
        <p:nvSpPr>
          <p:cNvPr id="299" name="Google Shape;299;p14"/>
          <p:cNvSpPr/>
          <p:nvPr/>
        </p:nvSpPr>
        <p:spPr>
          <a:xfrm>
            <a:off x="4617720" y="4709160"/>
            <a:ext cx="3054096" cy="1143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The complete relational cycle, with evaluation. Names closure of values in relationships.</a:t>
            </a:r>
            <a:endParaRPr b="0" i="0" sz="1250" u="none" cap="none" strike="noStrike">
              <a:solidFill>
                <a:schemeClr val="dk1"/>
              </a:solidFill>
              <a:latin typeface="Calibri"/>
              <a:ea typeface="Calibri"/>
              <a:cs typeface="Calibri"/>
              <a:sym typeface="Calibri"/>
            </a:endParaRPr>
          </a:p>
        </p:txBody>
      </p:sp>
      <p:sp>
        <p:nvSpPr>
          <p:cNvPr id="300" name="Google Shape;300;p14"/>
          <p:cNvSpPr/>
          <p:nvPr/>
        </p:nvSpPr>
        <p:spPr>
          <a:xfrm>
            <a:off x="8174736" y="3611880"/>
            <a:ext cx="3566160" cy="2377440"/>
          </a:xfrm>
          <a:prstGeom prst="roundRect">
            <a:avLst>
              <a:gd fmla="val 3077" name="adj"/>
            </a:avLst>
          </a:prstGeom>
          <a:solidFill>
            <a:srgbClr val="F0EBE4"/>
          </a:solidFill>
          <a:ln cap="flat" cmpd="sng" w="12700">
            <a:solidFill>
              <a:srgbClr val="D8E0E6"/>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p:nvPr/>
        </p:nvSpPr>
        <p:spPr>
          <a:xfrm>
            <a:off x="8430768" y="3822192"/>
            <a:ext cx="3054096"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4228"/>
              </a:buClr>
              <a:buSzPts val="1600"/>
              <a:buFont typeface="Cambria"/>
              <a:buNone/>
            </a:pPr>
            <a:r>
              <a:rPr b="1" i="0" lang="en-US" sz="1600" u="none" cap="none" strike="noStrike">
                <a:solidFill>
                  <a:srgbClr val="5A4228"/>
                </a:solidFill>
                <a:latin typeface="Cambria"/>
                <a:ea typeface="Cambria"/>
                <a:cs typeface="Cambria"/>
                <a:sym typeface="Cambria"/>
              </a:rPr>
              <a:t>Statutory / public law</a:t>
            </a:r>
            <a:endParaRPr b="0" i="0" sz="1600" u="none" cap="none" strike="noStrike">
              <a:solidFill>
                <a:schemeClr val="dk1"/>
              </a:solidFill>
              <a:latin typeface="Calibri"/>
              <a:ea typeface="Calibri"/>
              <a:cs typeface="Calibri"/>
              <a:sym typeface="Calibri"/>
            </a:endParaRPr>
          </a:p>
        </p:txBody>
      </p:sp>
      <p:sp>
        <p:nvSpPr>
          <p:cNvPr id="302" name="Google Shape;302;p14"/>
          <p:cNvSpPr/>
          <p:nvPr/>
        </p:nvSpPr>
        <p:spPr>
          <a:xfrm>
            <a:off x="8430768" y="4315968"/>
            <a:ext cx="3054096"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4228"/>
              </a:buClr>
              <a:buSzPts val="1100"/>
              <a:buFont typeface="Calibri"/>
              <a:buNone/>
            </a:pPr>
            <a:r>
              <a:rPr b="1" i="0" lang="en-US" sz="1100" u="none" cap="none" strike="noStrike">
                <a:solidFill>
                  <a:srgbClr val="5A4228"/>
                </a:solidFill>
                <a:latin typeface="Calibri"/>
                <a:ea typeface="Calibri"/>
                <a:cs typeface="Calibri"/>
                <a:sym typeface="Calibri"/>
              </a:rPr>
              <a:t>HUMAN ASSEMBLIES</a:t>
            </a:r>
            <a:endParaRPr b="0" i="0" sz="1100" u="none" cap="none" strike="noStrike">
              <a:solidFill>
                <a:schemeClr val="dk1"/>
              </a:solidFill>
              <a:latin typeface="Calibri"/>
              <a:ea typeface="Calibri"/>
              <a:cs typeface="Calibri"/>
              <a:sym typeface="Calibri"/>
            </a:endParaRPr>
          </a:p>
        </p:txBody>
      </p:sp>
      <p:sp>
        <p:nvSpPr>
          <p:cNvPr id="303" name="Google Shape;303;p14"/>
          <p:cNvSpPr/>
          <p:nvPr/>
        </p:nvSpPr>
        <p:spPr>
          <a:xfrm>
            <a:off x="8430768" y="4709160"/>
            <a:ext cx="3054096" cy="1143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Codified order — may satisfy legality while still violating justice.</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sp>
        <p:nvSpPr>
          <p:cNvPr id="309" name="Google Shape;309;p15"/>
          <p:cNvSpPr/>
          <p:nvPr/>
        </p:nvSpPr>
        <p:spPr>
          <a:xfrm>
            <a:off x="548640" y="475488"/>
            <a:ext cx="457200" cy="457200"/>
          </a:xfrm>
          <a:prstGeom prst="ellipse">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5"/>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3</a:t>
            </a:r>
            <a:endParaRPr b="0" i="0" sz="1900" u="none" cap="none" strike="noStrike">
              <a:solidFill>
                <a:schemeClr val="dk1"/>
              </a:solidFill>
              <a:latin typeface="Calibri"/>
              <a:ea typeface="Calibri"/>
              <a:cs typeface="Calibri"/>
              <a:sym typeface="Calibri"/>
            </a:endParaRPr>
          </a:p>
        </p:txBody>
      </p:sp>
      <p:sp>
        <p:nvSpPr>
          <p:cNvPr id="311" name="Google Shape;311;p15"/>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LAYER 3  ·  KNOWLEDGE-ORDER GATE</a:t>
            </a:r>
            <a:endParaRPr b="0" i="0" sz="1250" u="none" cap="none" strike="noStrike">
              <a:solidFill>
                <a:schemeClr val="dk1"/>
              </a:solidFill>
              <a:latin typeface="Calibri"/>
              <a:ea typeface="Calibri"/>
              <a:cs typeface="Calibri"/>
              <a:sym typeface="Calibri"/>
            </a:endParaRPr>
          </a:p>
        </p:txBody>
      </p:sp>
      <p:sp>
        <p:nvSpPr>
          <p:cNvPr id="312" name="Google Shape;312;p15"/>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3100"/>
              <a:buFont typeface="Cambria"/>
              <a:buNone/>
            </a:pPr>
            <a:r>
              <a:rPr b="1" i="0" lang="en-US" sz="3100" u="none" cap="none" strike="noStrike">
                <a:solidFill>
                  <a:srgbClr val="4A3868"/>
                </a:solidFill>
                <a:latin typeface="Cambria"/>
                <a:ea typeface="Cambria"/>
                <a:cs typeface="Cambria"/>
                <a:sym typeface="Cambria"/>
              </a:rPr>
              <a:t>The awakening path</a:t>
            </a:r>
            <a:endParaRPr b="0" i="0" sz="3100" u="none" cap="none" strike="noStrike">
              <a:solidFill>
                <a:schemeClr val="dk1"/>
              </a:solidFill>
              <a:latin typeface="Calibri"/>
              <a:ea typeface="Calibri"/>
              <a:cs typeface="Calibri"/>
              <a:sym typeface="Calibri"/>
            </a:endParaRPr>
          </a:p>
        </p:txBody>
      </p:sp>
      <p:sp>
        <p:nvSpPr>
          <p:cNvPr id="313" name="Google Shape;313;p15"/>
          <p:cNvSpPr/>
          <p:nvPr/>
        </p:nvSpPr>
        <p:spPr>
          <a:xfrm>
            <a:off x="548640" y="1737360"/>
            <a:ext cx="1106424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Knowledge-order fulfilment runs in a definite sequence — outwardly through study, and inwardly through a steady epistemic rhythm. Jeevan Vidya is the named catalyst.</a:t>
            </a:r>
            <a:endParaRPr b="0" i="0" sz="1400" u="none" cap="none" strike="noStrike">
              <a:solidFill>
                <a:schemeClr val="dk1"/>
              </a:solidFill>
              <a:latin typeface="Calibri"/>
              <a:ea typeface="Calibri"/>
              <a:cs typeface="Calibri"/>
              <a:sym typeface="Calibri"/>
            </a:endParaRPr>
          </a:p>
        </p:txBody>
      </p:sp>
      <p:sp>
        <p:nvSpPr>
          <p:cNvPr id="314" name="Google Shape;314;p15"/>
          <p:cNvSpPr/>
          <p:nvPr/>
        </p:nvSpPr>
        <p:spPr>
          <a:xfrm>
            <a:off x="548640" y="2606040"/>
            <a:ext cx="2377440" cy="777240"/>
          </a:xfrm>
          <a:prstGeom prst="roundRect">
            <a:avLst>
              <a:gd fmla="val 11765" name="adj"/>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5"/>
          <p:cNvSpPr/>
          <p:nvPr/>
        </p:nvSpPr>
        <p:spPr>
          <a:xfrm>
            <a:off x="548640" y="2606040"/>
            <a:ext cx="23774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Knowing</a:t>
            </a:r>
            <a:endParaRPr b="0" i="0" sz="1600" u="none" cap="none" strike="noStrike">
              <a:solidFill>
                <a:schemeClr val="dk1"/>
              </a:solidFill>
              <a:latin typeface="Calibri"/>
              <a:ea typeface="Calibri"/>
              <a:cs typeface="Calibri"/>
              <a:sym typeface="Calibri"/>
            </a:endParaRPr>
          </a:p>
        </p:txBody>
      </p:sp>
      <p:sp>
        <p:nvSpPr>
          <p:cNvPr id="316" name="Google Shape;316;p15"/>
          <p:cNvSpPr/>
          <p:nvPr/>
        </p:nvSpPr>
        <p:spPr>
          <a:xfrm>
            <a:off x="2880360" y="2606040"/>
            <a:ext cx="36576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200"/>
              <a:buFont typeface="Cambria"/>
              <a:buNone/>
            </a:pPr>
            <a:r>
              <a:rPr b="0" i="0" lang="en-US" sz="2200" u="none" cap="none" strike="noStrike">
                <a:solidFill>
                  <a:srgbClr val="5A6B78"/>
                </a:solidFill>
                <a:latin typeface="Cambria"/>
                <a:ea typeface="Cambria"/>
                <a:cs typeface="Cambria"/>
                <a:sym typeface="Cambria"/>
              </a:rPr>
              <a:t>→</a:t>
            </a:r>
            <a:endParaRPr b="0" i="0" sz="2200" u="none" cap="none" strike="noStrike">
              <a:solidFill>
                <a:schemeClr val="dk1"/>
              </a:solidFill>
              <a:latin typeface="Calibri"/>
              <a:ea typeface="Calibri"/>
              <a:cs typeface="Calibri"/>
              <a:sym typeface="Calibri"/>
            </a:endParaRPr>
          </a:p>
        </p:txBody>
      </p:sp>
      <p:sp>
        <p:nvSpPr>
          <p:cNvPr id="317" name="Google Shape;317;p15"/>
          <p:cNvSpPr/>
          <p:nvPr/>
        </p:nvSpPr>
        <p:spPr>
          <a:xfrm>
            <a:off x="3246120" y="2606040"/>
            <a:ext cx="2377440" cy="777240"/>
          </a:xfrm>
          <a:prstGeom prst="roundRect">
            <a:avLst>
              <a:gd fmla="val 11765" name="adj"/>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5"/>
          <p:cNvSpPr/>
          <p:nvPr/>
        </p:nvSpPr>
        <p:spPr>
          <a:xfrm>
            <a:off x="3246120" y="2606040"/>
            <a:ext cx="23774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Believing</a:t>
            </a:r>
            <a:endParaRPr b="0" i="0" sz="1600" u="none" cap="none" strike="noStrike">
              <a:solidFill>
                <a:schemeClr val="dk1"/>
              </a:solidFill>
              <a:latin typeface="Calibri"/>
              <a:ea typeface="Calibri"/>
              <a:cs typeface="Calibri"/>
              <a:sym typeface="Calibri"/>
            </a:endParaRPr>
          </a:p>
        </p:txBody>
      </p:sp>
      <p:sp>
        <p:nvSpPr>
          <p:cNvPr id="319" name="Google Shape;319;p15"/>
          <p:cNvSpPr/>
          <p:nvPr/>
        </p:nvSpPr>
        <p:spPr>
          <a:xfrm>
            <a:off x="5577840" y="2606040"/>
            <a:ext cx="36576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200"/>
              <a:buFont typeface="Cambria"/>
              <a:buNone/>
            </a:pPr>
            <a:r>
              <a:rPr b="0" i="0" lang="en-US" sz="2200" u="none" cap="none" strike="noStrike">
                <a:solidFill>
                  <a:srgbClr val="5A6B78"/>
                </a:solidFill>
                <a:latin typeface="Cambria"/>
                <a:ea typeface="Cambria"/>
                <a:cs typeface="Cambria"/>
                <a:sym typeface="Cambria"/>
              </a:rPr>
              <a:t>→</a:t>
            </a:r>
            <a:endParaRPr b="0" i="0" sz="2200" u="none" cap="none" strike="noStrike">
              <a:solidFill>
                <a:schemeClr val="dk1"/>
              </a:solidFill>
              <a:latin typeface="Calibri"/>
              <a:ea typeface="Calibri"/>
              <a:cs typeface="Calibri"/>
              <a:sym typeface="Calibri"/>
            </a:endParaRPr>
          </a:p>
        </p:txBody>
      </p:sp>
      <p:sp>
        <p:nvSpPr>
          <p:cNvPr id="320" name="Google Shape;320;p15"/>
          <p:cNvSpPr/>
          <p:nvPr/>
        </p:nvSpPr>
        <p:spPr>
          <a:xfrm>
            <a:off x="5943600" y="2606040"/>
            <a:ext cx="2377440" cy="777240"/>
          </a:xfrm>
          <a:prstGeom prst="roundRect">
            <a:avLst>
              <a:gd fmla="val 11765" name="adj"/>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5"/>
          <p:cNvSpPr/>
          <p:nvPr/>
        </p:nvSpPr>
        <p:spPr>
          <a:xfrm>
            <a:off x="5943600" y="2606040"/>
            <a:ext cx="23774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Recognising</a:t>
            </a:r>
            <a:endParaRPr b="0" i="0" sz="1600" u="none" cap="none" strike="noStrike">
              <a:solidFill>
                <a:schemeClr val="dk1"/>
              </a:solidFill>
              <a:latin typeface="Calibri"/>
              <a:ea typeface="Calibri"/>
              <a:cs typeface="Calibri"/>
              <a:sym typeface="Calibri"/>
            </a:endParaRPr>
          </a:p>
        </p:txBody>
      </p:sp>
      <p:sp>
        <p:nvSpPr>
          <p:cNvPr id="322" name="Google Shape;322;p15"/>
          <p:cNvSpPr/>
          <p:nvPr/>
        </p:nvSpPr>
        <p:spPr>
          <a:xfrm>
            <a:off x="8275320" y="2606040"/>
            <a:ext cx="36576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2200"/>
              <a:buFont typeface="Cambria"/>
              <a:buNone/>
            </a:pPr>
            <a:r>
              <a:rPr b="0" i="0" lang="en-US" sz="2200" u="none" cap="none" strike="noStrike">
                <a:solidFill>
                  <a:srgbClr val="5A6B78"/>
                </a:solidFill>
                <a:latin typeface="Cambria"/>
                <a:ea typeface="Cambria"/>
                <a:cs typeface="Cambria"/>
                <a:sym typeface="Cambria"/>
              </a:rPr>
              <a:t>→</a:t>
            </a:r>
            <a:endParaRPr b="0" i="0" sz="2200" u="none" cap="none" strike="noStrike">
              <a:solidFill>
                <a:schemeClr val="dk1"/>
              </a:solidFill>
              <a:latin typeface="Calibri"/>
              <a:ea typeface="Calibri"/>
              <a:cs typeface="Calibri"/>
              <a:sym typeface="Calibri"/>
            </a:endParaRPr>
          </a:p>
        </p:txBody>
      </p:sp>
      <p:sp>
        <p:nvSpPr>
          <p:cNvPr id="323" name="Google Shape;323;p15"/>
          <p:cNvSpPr/>
          <p:nvPr/>
        </p:nvSpPr>
        <p:spPr>
          <a:xfrm>
            <a:off x="8641080" y="2606040"/>
            <a:ext cx="2377440" cy="777240"/>
          </a:xfrm>
          <a:prstGeom prst="roundRect">
            <a:avLst>
              <a:gd fmla="val 11765" name="adj"/>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5"/>
          <p:cNvSpPr/>
          <p:nvPr/>
        </p:nvSpPr>
        <p:spPr>
          <a:xfrm>
            <a:off x="8641080" y="2606040"/>
            <a:ext cx="23774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Fulfilling</a:t>
            </a:r>
            <a:endParaRPr b="0" i="0" sz="1600" u="none" cap="none" strike="noStrike">
              <a:solidFill>
                <a:schemeClr val="dk1"/>
              </a:solidFill>
              <a:latin typeface="Calibri"/>
              <a:ea typeface="Calibri"/>
              <a:cs typeface="Calibri"/>
              <a:sym typeface="Calibri"/>
            </a:endParaRPr>
          </a:p>
        </p:txBody>
      </p:sp>
      <p:sp>
        <p:nvSpPr>
          <p:cNvPr id="325" name="Google Shape;325;p15"/>
          <p:cNvSpPr/>
          <p:nvPr/>
        </p:nvSpPr>
        <p:spPr>
          <a:xfrm>
            <a:off x="548640" y="3401568"/>
            <a:ext cx="10515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150"/>
              <a:buFont typeface="Calibri"/>
              <a:buNone/>
            </a:pPr>
            <a:r>
              <a:rPr b="0" i="1" lang="en-US" sz="1150" u="none" cap="none" strike="noStrike">
                <a:solidFill>
                  <a:srgbClr val="5A6B78"/>
                </a:solidFill>
                <a:latin typeface="Calibri"/>
                <a:ea typeface="Calibri"/>
                <a:cs typeface="Calibri"/>
                <a:sym typeface="Calibri"/>
              </a:rPr>
              <a:t>under justice, dharma and truth</a:t>
            </a:r>
            <a:endParaRPr b="0" i="0" sz="1150" u="none" cap="none" strike="noStrike">
              <a:solidFill>
                <a:schemeClr val="dk1"/>
              </a:solidFill>
              <a:latin typeface="Calibri"/>
              <a:ea typeface="Calibri"/>
              <a:cs typeface="Calibri"/>
              <a:sym typeface="Calibri"/>
            </a:endParaRPr>
          </a:p>
        </p:txBody>
      </p:sp>
      <p:sp>
        <p:nvSpPr>
          <p:cNvPr id="326" name="Google Shape;326;p15"/>
          <p:cNvSpPr/>
          <p:nvPr/>
        </p:nvSpPr>
        <p:spPr>
          <a:xfrm>
            <a:off x="548640" y="3977640"/>
            <a:ext cx="5349240" cy="2240280"/>
          </a:xfrm>
          <a:prstGeom prst="roundRect">
            <a:avLst>
              <a:gd fmla="val 2857" name="adj"/>
            </a:avLst>
          </a:prstGeom>
          <a:solidFill>
            <a:srgbClr val="F6F8FA"/>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5"/>
          <p:cNvSpPr/>
          <p:nvPr/>
        </p:nvSpPr>
        <p:spPr>
          <a:xfrm>
            <a:off x="822960" y="4160520"/>
            <a:ext cx="48463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Outward — three stages</a:t>
            </a:r>
            <a:endParaRPr b="0" i="0" sz="1450" u="none" cap="none" strike="noStrike">
              <a:solidFill>
                <a:schemeClr val="dk1"/>
              </a:solidFill>
              <a:latin typeface="Calibri"/>
              <a:ea typeface="Calibri"/>
              <a:cs typeface="Calibri"/>
              <a:sym typeface="Calibri"/>
            </a:endParaRPr>
          </a:p>
        </p:txBody>
      </p:sp>
      <p:sp>
        <p:nvSpPr>
          <p:cNvPr id="328" name="Google Shape;328;p15"/>
          <p:cNvSpPr/>
          <p:nvPr/>
        </p:nvSpPr>
        <p:spPr>
          <a:xfrm>
            <a:off x="822960" y="4572000"/>
            <a:ext cx="4846320" cy="15544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250"/>
              <a:buFont typeface="Calibri"/>
              <a:buNone/>
            </a:pPr>
            <a:r>
              <a:rPr b="1" i="0" lang="en-US" sz="1250" u="none" cap="none" strike="noStrike">
                <a:solidFill>
                  <a:srgbClr val="3F4D57"/>
                </a:solidFill>
                <a:latin typeface="Calibri"/>
                <a:ea typeface="Calibri"/>
                <a:cs typeface="Calibri"/>
                <a:sym typeface="Calibri"/>
              </a:rPr>
              <a:t>Study</a:t>
            </a:r>
            <a:r>
              <a:rPr b="0" i="0" lang="en-US" sz="1250" u="none" cap="none" strike="noStrike">
                <a:solidFill>
                  <a:srgbClr val="5A6B78"/>
                </a:solidFill>
                <a:latin typeface="Calibri"/>
                <a:ea typeface="Calibri"/>
                <a:cs typeface="Calibri"/>
                <a:sym typeface="Calibri"/>
              </a:rPr>
              <a:t>  →  </a:t>
            </a:r>
            <a:r>
              <a:rPr b="1" i="0" lang="en-US" sz="1250" u="none" cap="none" strike="noStrike">
                <a:solidFill>
                  <a:srgbClr val="3F4D57"/>
                </a:solidFill>
                <a:latin typeface="Calibri"/>
                <a:ea typeface="Calibri"/>
                <a:cs typeface="Calibri"/>
                <a:sym typeface="Calibri"/>
              </a:rPr>
              <a:t>Experiment &amp; practice</a:t>
            </a:r>
            <a:r>
              <a:rPr b="0" i="0" lang="en-US" sz="1250" u="none" cap="none" strike="noStrike">
                <a:solidFill>
                  <a:srgbClr val="5A6B78"/>
                </a:solidFill>
                <a:latin typeface="Calibri"/>
                <a:ea typeface="Calibri"/>
                <a:cs typeface="Calibri"/>
                <a:sym typeface="Calibri"/>
              </a:rPr>
              <a:t>  →  </a:t>
            </a:r>
            <a:r>
              <a:rPr b="1" i="0" lang="en-US" sz="1250" u="none" cap="none" strike="noStrike">
                <a:solidFill>
                  <a:srgbClr val="3F4D57"/>
                </a:solidFill>
                <a:latin typeface="Calibri"/>
                <a:ea typeface="Calibri"/>
                <a:cs typeface="Calibri"/>
                <a:sym typeface="Calibri"/>
              </a:rPr>
              <a:t>Realisation, evidenced in conduct</a:t>
            </a:r>
            <a:endParaRPr b="0" i="0" sz="125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The third stage is accomplishment and success — humaneness apparent in work and behaviour, within family and world-family order.</a:t>
            </a:r>
            <a:endParaRPr b="0" i="0" sz="1250" u="none" cap="none" strike="noStrike">
              <a:solidFill>
                <a:schemeClr val="dk1"/>
              </a:solidFill>
              <a:latin typeface="Calibri"/>
              <a:ea typeface="Calibri"/>
              <a:cs typeface="Calibri"/>
              <a:sym typeface="Calibri"/>
            </a:endParaRPr>
          </a:p>
        </p:txBody>
      </p:sp>
      <p:sp>
        <p:nvSpPr>
          <p:cNvPr id="329" name="Google Shape;329;p15"/>
          <p:cNvSpPr/>
          <p:nvPr/>
        </p:nvSpPr>
        <p:spPr>
          <a:xfrm>
            <a:off x="6263640" y="3977640"/>
            <a:ext cx="5349240" cy="2240280"/>
          </a:xfrm>
          <a:prstGeom prst="roundRect">
            <a:avLst>
              <a:gd fmla="val 2857" name="adj"/>
            </a:avLst>
          </a:prstGeom>
          <a:solidFill>
            <a:srgbClr val="EDE8F4"/>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5"/>
          <p:cNvSpPr/>
          <p:nvPr/>
        </p:nvSpPr>
        <p:spPr>
          <a:xfrm>
            <a:off x="6537960" y="4160520"/>
            <a:ext cx="48463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Inward — shanka · swada · bodh</a:t>
            </a:r>
            <a:endParaRPr b="0" i="0" sz="1450" u="none" cap="none" strike="noStrike">
              <a:solidFill>
                <a:schemeClr val="dk1"/>
              </a:solidFill>
              <a:latin typeface="Calibri"/>
              <a:ea typeface="Calibri"/>
              <a:cs typeface="Calibri"/>
              <a:sym typeface="Calibri"/>
            </a:endParaRPr>
          </a:p>
        </p:txBody>
      </p:sp>
      <p:sp>
        <p:nvSpPr>
          <p:cNvPr id="331" name="Google Shape;331;p15"/>
          <p:cNvSpPr/>
          <p:nvPr/>
        </p:nvSpPr>
        <p:spPr>
          <a:xfrm>
            <a:off x="6537960" y="4572000"/>
            <a:ext cx="4846320" cy="15544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Doubting or verifying within oneself, believing or tasting what study offers, and understanding. Inward regulation — mediative atma disciplining buddhi, chitta, vritti, mun and the body — stabilises humane evaluation, moving a human through T2 toward T3. Janvad is the collective counterpart.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6" name="Shape 336"/>
        <p:cNvGrpSpPr/>
        <p:nvPr/>
      </p:nvGrpSpPr>
      <p:grpSpPr>
        <a:xfrm>
          <a:off x="0" y="0"/>
          <a:ext cx="0" cy="0"/>
          <a:chOff x="0" y="0"/>
          <a:chExt cx="0" cy="0"/>
        </a:xfrm>
      </p:grpSpPr>
      <p:sp>
        <p:nvSpPr>
          <p:cNvPr id="337" name="Google Shape;337;p16"/>
          <p:cNvSpPr/>
          <p:nvPr/>
        </p:nvSpPr>
        <p:spPr>
          <a:xfrm>
            <a:off x="548640" y="475488"/>
            <a:ext cx="457200" cy="457200"/>
          </a:xfrm>
          <a:prstGeom prst="ellipse">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6"/>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3</a:t>
            </a:r>
            <a:endParaRPr b="0" i="0" sz="1900" u="none" cap="none" strike="noStrike">
              <a:solidFill>
                <a:schemeClr val="dk1"/>
              </a:solidFill>
              <a:latin typeface="Calibri"/>
              <a:ea typeface="Calibri"/>
              <a:cs typeface="Calibri"/>
              <a:sym typeface="Calibri"/>
            </a:endParaRPr>
          </a:p>
        </p:txBody>
      </p:sp>
      <p:sp>
        <p:nvSpPr>
          <p:cNvPr id="339" name="Google Shape;339;p16"/>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LAYER 3  ·  KNOWLEDGE-ORDER GATE</a:t>
            </a:r>
            <a:endParaRPr b="0" i="0" sz="1250" u="none" cap="none" strike="noStrike">
              <a:solidFill>
                <a:schemeClr val="dk1"/>
              </a:solidFill>
              <a:latin typeface="Calibri"/>
              <a:ea typeface="Calibri"/>
              <a:cs typeface="Calibri"/>
              <a:sym typeface="Calibri"/>
            </a:endParaRPr>
          </a:p>
        </p:txBody>
      </p:sp>
      <p:sp>
        <p:nvSpPr>
          <p:cNvPr id="340" name="Google Shape;340;p16"/>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3100"/>
              <a:buFont typeface="Cambria"/>
              <a:buNone/>
            </a:pPr>
            <a:r>
              <a:rPr b="1" i="0" lang="en-US" sz="3100" u="none" cap="none" strike="noStrike">
                <a:solidFill>
                  <a:srgbClr val="4A3868"/>
                </a:solidFill>
                <a:latin typeface="Cambria"/>
                <a:ea typeface="Cambria"/>
                <a:cs typeface="Cambria"/>
                <a:sym typeface="Cambria"/>
              </a:rPr>
              <a:t>Three completeness transitions</a:t>
            </a:r>
            <a:endParaRPr b="0" i="0" sz="3100" u="none" cap="none" strike="noStrike">
              <a:solidFill>
                <a:schemeClr val="dk1"/>
              </a:solidFill>
              <a:latin typeface="Calibri"/>
              <a:ea typeface="Calibri"/>
              <a:cs typeface="Calibri"/>
              <a:sym typeface="Calibri"/>
            </a:endParaRPr>
          </a:p>
        </p:txBody>
      </p:sp>
      <p:sp>
        <p:nvSpPr>
          <p:cNvPr id="341" name="Google Shape;341;p16"/>
          <p:cNvSpPr/>
          <p:nvPr/>
        </p:nvSpPr>
        <p:spPr>
          <a:xfrm>
            <a:off x="548640" y="1737360"/>
            <a:ext cx="11064240" cy="77724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Completeness (purnata) means structural saturation — not moral perfection. Each transition closes a definite bondage mode. T2 and T3 belong to awakening progression (jagriti-kram) within constitutionally complete jeevan.</a:t>
            </a:r>
            <a:endParaRPr b="0" i="0" sz="1400" u="none" cap="none" strike="noStrike">
              <a:solidFill>
                <a:schemeClr val="dk1"/>
              </a:solidFill>
              <a:latin typeface="Calibri"/>
              <a:ea typeface="Calibri"/>
              <a:cs typeface="Calibri"/>
              <a:sym typeface="Calibri"/>
            </a:endParaRPr>
          </a:p>
        </p:txBody>
      </p:sp>
      <p:sp>
        <p:nvSpPr>
          <p:cNvPr id="342" name="Google Shape;342;p16"/>
          <p:cNvSpPr/>
          <p:nvPr/>
        </p:nvSpPr>
        <p:spPr>
          <a:xfrm>
            <a:off x="548640" y="2697480"/>
            <a:ext cx="3566160" cy="3246120"/>
          </a:xfrm>
          <a:prstGeom prst="roundRect">
            <a:avLst>
              <a:gd fmla="val 2254" name="adj"/>
            </a:avLst>
          </a:prstGeom>
          <a:solidFill>
            <a:srgbClr val="F0EBE4"/>
          </a:solidFill>
          <a:ln cap="flat" cmpd="sng" w="12700">
            <a:solidFill>
              <a:srgbClr val="D8E0E6"/>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6"/>
          <p:cNvSpPr/>
          <p:nvPr/>
        </p:nvSpPr>
        <p:spPr>
          <a:xfrm>
            <a:off x="1828800" y="2926080"/>
            <a:ext cx="1005840" cy="1005840"/>
          </a:xfrm>
          <a:prstGeom prst="ellipse">
            <a:avLst/>
          </a:prstGeom>
          <a:solidFill>
            <a:srgbClr val="5A42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6"/>
          <p:cNvSpPr/>
          <p:nvPr/>
        </p:nvSpPr>
        <p:spPr>
          <a:xfrm>
            <a:off x="1828800" y="2926080"/>
            <a:ext cx="1005840" cy="1005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T1</a:t>
            </a:r>
            <a:endParaRPr b="0" i="0" sz="3000" u="none" cap="none" strike="noStrike">
              <a:solidFill>
                <a:schemeClr val="dk1"/>
              </a:solidFill>
              <a:latin typeface="Calibri"/>
              <a:ea typeface="Calibri"/>
              <a:cs typeface="Calibri"/>
              <a:sym typeface="Calibri"/>
            </a:endParaRPr>
          </a:p>
        </p:txBody>
      </p:sp>
      <p:sp>
        <p:nvSpPr>
          <p:cNvPr id="345" name="Google Shape;345;p16"/>
          <p:cNvSpPr/>
          <p:nvPr/>
        </p:nvSpPr>
        <p:spPr>
          <a:xfrm>
            <a:off x="731520" y="4114800"/>
            <a:ext cx="320040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4228"/>
              </a:buClr>
              <a:buSzPts val="1600"/>
              <a:buFont typeface="Cambria"/>
              <a:buNone/>
            </a:pPr>
            <a:r>
              <a:rPr b="1" i="0" lang="en-US" sz="1600" u="none" cap="none" strike="noStrike">
                <a:solidFill>
                  <a:srgbClr val="5A4228"/>
                </a:solidFill>
                <a:latin typeface="Cambria"/>
                <a:ea typeface="Cambria"/>
                <a:cs typeface="Cambria"/>
                <a:sym typeface="Cambria"/>
              </a:rPr>
              <a:t>Constitutional completeness</a:t>
            </a:r>
            <a:endParaRPr b="0" i="0" sz="1600" u="none" cap="none" strike="noStrike">
              <a:solidFill>
                <a:schemeClr val="dk1"/>
              </a:solidFill>
              <a:latin typeface="Calibri"/>
              <a:ea typeface="Calibri"/>
              <a:cs typeface="Calibri"/>
              <a:sym typeface="Calibri"/>
            </a:endParaRPr>
          </a:p>
        </p:txBody>
      </p:sp>
      <p:sp>
        <p:nvSpPr>
          <p:cNvPr id="346" name="Google Shape;346;p16"/>
          <p:cNvSpPr/>
          <p:nvPr/>
        </p:nvSpPr>
        <p:spPr>
          <a:xfrm>
            <a:off x="731520" y="4526280"/>
            <a:ext cx="3200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200"/>
              <a:buFont typeface="Calibri"/>
              <a:buNone/>
            </a:pPr>
            <a:r>
              <a:rPr b="0" i="1" lang="en-US" sz="1200" u="none" cap="none" strike="noStrike">
                <a:solidFill>
                  <a:srgbClr val="5A6B78"/>
                </a:solidFill>
                <a:latin typeface="Calibri"/>
                <a:ea typeface="Calibri"/>
                <a:cs typeface="Calibri"/>
                <a:sym typeface="Calibri"/>
              </a:rPr>
              <a:t>gathanpurnata</a:t>
            </a:r>
            <a:endParaRPr b="0" i="0" sz="1200" u="none" cap="none" strike="noStrike">
              <a:solidFill>
                <a:schemeClr val="dk1"/>
              </a:solidFill>
              <a:latin typeface="Calibri"/>
              <a:ea typeface="Calibri"/>
              <a:cs typeface="Calibri"/>
              <a:sym typeface="Calibri"/>
            </a:endParaRPr>
          </a:p>
        </p:txBody>
      </p:sp>
      <p:sp>
        <p:nvSpPr>
          <p:cNvPr id="347" name="Google Shape;347;p16"/>
          <p:cNvSpPr/>
          <p:nvPr/>
        </p:nvSpPr>
        <p:spPr>
          <a:xfrm>
            <a:off x="868680" y="4937760"/>
            <a:ext cx="2926080" cy="9144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Sentient jeevan; “hope to live.” Structural saturation of the atom.</a:t>
            </a:r>
            <a:endParaRPr b="0" i="0" sz="1250" u="none" cap="none" strike="noStrike">
              <a:solidFill>
                <a:schemeClr val="dk1"/>
              </a:solidFill>
              <a:latin typeface="Calibri"/>
              <a:ea typeface="Calibri"/>
              <a:cs typeface="Calibri"/>
              <a:sym typeface="Calibri"/>
            </a:endParaRPr>
          </a:p>
        </p:txBody>
      </p:sp>
      <p:sp>
        <p:nvSpPr>
          <p:cNvPr id="348" name="Google Shape;348;p16"/>
          <p:cNvSpPr/>
          <p:nvPr/>
        </p:nvSpPr>
        <p:spPr>
          <a:xfrm>
            <a:off x="4361688" y="2697480"/>
            <a:ext cx="3566160" cy="3246120"/>
          </a:xfrm>
          <a:prstGeom prst="roundRect">
            <a:avLst>
              <a:gd fmla="val 2254" name="adj"/>
            </a:avLst>
          </a:prstGeom>
          <a:solidFill>
            <a:srgbClr val="EDE8F4"/>
          </a:solidFill>
          <a:ln cap="flat" cmpd="sng" w="12700">
            <a:solidFill>
              <a:srgbClr val="D8E0E6"/>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6"/>
          <p:cNvSpPr/>
          <p:nvPr/>
        </p:nvSpPr>
        <p:spPr>
          <a:xfrm>
            <a:off x="5641848" y="2926080"/>
            <a:ext cx="1005840" cy="1005840"/>
          </a:xfrm>
          <a:prstGeom prst="ellipse">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6"/>
          <p:cNvSpPr/>
          <p:nvPr/>
        </p:nvSpPr>
        <p:spPr>
          <a:xfrm>
            <a:off x="5641848" y="2926080"/>
            <a:ext cx="1005840" cy="1005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T2</a:t>
            </a:r>
            <a:endParaRPr b="0" i="0" sz="3000" u="none" cap="none" strike="noStrike">
              <a:solidFill>
                <a:schemeClr val="dk1"/>
              </a:solidFill>
              <a:latin typeface="Calibri"/>
              <a:ea typeface="Calibri"/>
              <a:cs typeface="Calibri"/>
              <a:sym typeface="Calibri"/>
            </a:endParaRPr>
          </a:p>
        </p:txBody>
      </p:sp>
      <p:sp>
        <p:nvSpPr>
          <p:cNvPr id="351" name="Google Shape;351;p16"/>
          <p:cNvSpPr/>
          <p:nvPr/>
        </p:nvSpPr>
        <p:spPr>
          <a:xfrm>
            <a:off x="4544568" y="4114800"/>
            <a:ext cx="320040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3868"/>
              </a:buClr>
              <a:buSzPts val="1600"/>
              <a:buFont typeface="Cambria"/>
              <a:buNone/>
            </a:pPr>
            <a:r>
              <a:rPr b="1" i="0" lang="en-US" sz="1600" u="none" cap="none" strike="noStrike">
                <a:solidFill>
                  <a:srgbClr val="4A3868"/>
                </a:solidFill>
                <a:latin typeface="Cambria"/>
                <a:ea typeface="Cambria"/>
                <a:cs typeface="Cambria"/>
                <a:sym typeface="Cambria"/>
              </a:rPr>
              <a:t>Activity completeness</a:t>
            </a:r>
            <a:endParaRPr b="0" i="0" sz="1600" u="none" cap="none" strike="noStrike">
              <a:solidFill>
                <a:schemeClr val="dk1"/>
              </a:solidFill>
              <a:latin typeface="Calibri"/>
              <a:ea typeface="Calibri"/>
              <a:cs typeface="Calibri"/>
              <a:sym typeface="Calibri"/>
            </a:endParaRPr>
          </a:p>
        </p:txBody>
      </p:sp>
      <p:sp>
        <p:nvSpPr>
          <p:cNvPr id="352" name="Google Shape;352;p16"/>
          <p:cNvSpPr/>
          <p:nvPr/>
        </p:nvSpPr>
        <p:spPr>
          <a:xfrm>
            <a:off x="4544568" y="4526280"/>
            <a:ext cx="3200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200"/>
              <a:buFont typeface="Calibri"/>
              <a:buNone/>
            </a:pPr>
            <a:r>
              <a:rPr b="0" i="1" lang="en-US" sz="1200" u="none" cap="none" strike="noStrike">
                <a:solidFill>
                  <a:srgbClr val="5A6B78"/>
                </a:solidFill>
                <a:latin typeface="Calibri"/>
                <a:ea typeface="Calibri"/>
                <a:cs typeface="Calibri"/>
                <a:sym typeface="Calibri"/>
              </a:rPr>
              <a:t>kriyapurnata</a:t>
            </a:r>
            <a:endParaRPr b="0" i="0" sz="1200" u="none" cap="none" strike="noStrike">
              <a:solidFill>
                <a:schemeClr val="dk1"/>
              </a:solidFill>
              <a:latin typeface="Calibri"/>
              <a:ea typeface="Calibri"/>
              <a:cs typeface="Calibri"/>
              <a:sym typeface="Calibri"/>
            </a:endParaRPr>
          </a:p>
        </p:txBody>
      </p:sp>
      <p:sp>
        <p:nvSpPr>
          <p:cNvPr id="353" name="Google Shape;353;p16"/>
          <p:cNvSpPr/>
          <p:nvPr/>
        </p:nvSpPr>
        <p:spPr>
          <a:xfrm>
            <a:off x="4681728" y="4937760"/>
            <a:ext cx="2926080" cy="9144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Orderliness with -ness, evidenced in awakened human activity. The deific plane.</a:t>
            </a:r>
            <a:endParaRPr b="0" i="0" sz="1250" u="none" cap="none" strike="noStrike">
              <a:solidFill>
                <a:schemeClr val="dk1"/>
              </a:solidFill>
              <a:latin typeface="Calibri"/>
              <a:ea typeface="Calibri"/>
              <a:cs typeface="Calibri"/>
              <a:sym typeface="Calibri"/>
            </a:endParaRPr>
          </a:p>
        </p:txBody>
      </p:sp>
      <p:sp>
        <p:nvSpPr>
          <p:cNvPr id="354" name="Google Shape;354;p16"/>
          <p:cNvSpPr/>
          <p:nvPr/>
        </p:nvSpPr>
        <p:spPr>
          <a:xfrm>
            <a:off x="8174736" y="2697480"/>
            <a:ext cx="3566160" cy="3246120"/>
          </a:xfrm>
          <a:prstGeom prst="roundRect">
            <a:avLst>
              <a:gd fmla="val 2254" name="adj"/>
            </a:avLst>
          </a:prstGeom>
          <a:solidFill>
            <a:srgbClr val="E4F0EA"/>
          </a:solidFill>
          <a:ln cap="flat" cmpd="sng" w="12700">
            <a:solidFill>
              <a:srgbClr val="D8E0E6"/>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6"/>
          <p:cNvSpPr/>
          <p:nvPr/>
        </p:nvSpPr>
        <p:spPr>
          <a:xfrm>
            <a:off x="9454896" y="2926080"/>
            <a:ext cx="1005840" cy="1005840"/>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6"/>
          <p:cNvSpPr/>
          <p:nvPr/>
        </p:nvSpPr>
        <p:spPr>
          <a:xfrm>
            <a:off x="9454896" y="2926080"/>
            <a:ext cx="1005840" cy="1005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T3</a:t>
            </a:r>
            <a:endParaRPr b="0" i="0" sz="3000" u="none" cap="none" strike="noStrike">
              <a:solidFill>
                <a:schemeClr val="dk1"/>
              </a:solidFill>
              <a:latin typeface="Calibri"/>
              <a:ea typeface="Calibri"/>
              <a:cs typeface="Calibri"/>
              <a:sym typeface="Calibri"/>
            </a:endParaRPr>
          </a:p>
        </p:txBody>
      </p:sp>
      <p:sp>
        <p:nvSpPr>
          <p:cNvPr id="357" name="Google Shape;357;p16"/>
          <p:cNvSpPr/>
          <p:nvPr/>
        </p:nvSpPr>
        <p:spPr>
          <a:xfrm>
            <a:off x="8357616" y="4114800"/>
            <a:ext cx="320040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8543F"/>
              </a:buClr>
              <a:buSzPts val="1600"/>
              <a:buFont typeface="Cambria"/>
              <a:buNone/>
            </a:pPr>
            <a:r>
              <a:rPr b="1" i="0" lang="en-US" sz="1600" u="none" cap="none" strike="noStrike">
                <a:solidFill>
                  <a:srgbClr val="28543F"/>
                </a:solidFill>
                <a:latin typeface="Cambria"/>
                <a:ea typeface="Cambria"/>
                <a:cs typeface="Cambria"/>
                <a:sym typeface="Cambria"/>
              </a:rPr>
              <a:t>Conduct completeness</a:t>
            </a:r>
            <a:endParaRPr b="0" i="0" sz="1600" u="none" cap="none" strike="noStrike">
              <a:solidFill>
                <a:schemeClr val="dk1"/>
              </a:solidFill>
              <a:latin typeface="Calibri"/>
              <a:ea typeface="Calibri"/>
              <a:cs typeface="Calibri"/>
              <a:sym typeface="Calibri"/>
            </a:endParaRPr>
          </a:p>
        </p:txBody>
      </p:sp>
      <p:sp>
        <p:nvSpPr>
          <p:cNvPr id="358" name="Google Shape;358;p16"/>
          <p:cNvSpPr/>
          <p:nvPr/>
        </p:nvSpPr>
        <p:spPr>
          <a:xfrm>
            <a:off x="8357616" y="4526280"/>
            <a:ext cx="3200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200"/>
              <a:buFont typeface="Calibri"/>
              <a:buNone/>
            </a:pPr>
            <a:r>
              <a:rPr b="0" i="1" lang="en-US" sz="1200" u="none" cap="none" strike="noStrike">
                <a:solidFill>
                  <a:srgbClr val="5A6B78"/>
                </a:solidFill>
                <a:latin typeface="Calibri"/>
                <a:ea typeface="Calibri"/>
                <a:cs typeface="Calibri"/>
                <a:sym typeface="Calibri"/>
              </a:rPr>
              <a:t>vyavaharpurnata</a:t>
            </a:r>
            <a:endParaRPr b="0" i="0" sz="1200" u="none" cap="none" strike="noStrike">
              <a:solidFill>
                <a:schemeClr val="dk1"/>
              </a:solidFill>
              <a:latin typeface="Calibri"/>
              <a:ea typeface="Calibri"/>
              <a:cs typeface="Calibri"/>
              <a:sym typeface="Calibri"/>
            </a:endParaRPr>
          </a:p>
        </p:txBody>
      </p:sp>
      <p:sp>
        <p:nvSpPr>
          <p:cNvPr id="359" name="Google Shape;359;p16"/>
          <p:cNvSpPr/>
          <p:nvPr/>
        </p:nvSpPr>
        <p:spPr>
          <a:xfrm>
            <a:off x="8494776" y="4937760"/>
            <a:ext cx="2926080" cy="9144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Living proof (pramanikta) in work and behaviour — awakening completeness. The divine plane.</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4" name="Shape 364"/>
        <p:cNvGrpSpPr/>
        <p:nvPr/>
      </p:nvGrpSpPr>
      <p:grpSpPr>
        <a:xfrm>
          <a:off x="0" y="0"/>
          <a:ext cx="0" cy="0"/>
          <a:chOff x="0" y="0"/>
          <a:chExt cx="0" cy="0"/>
        </a:xfrm>
      </p:grpSpPr>
      <p:sp>
        <p:nvSpPr>
          <p:cNvPr id="365" name="Google Shape;365;p17"/>
          <p:cNvSpPr/>
          <p:nvPr/>
        </p:nvSpPr>
        <p:spPr>
          <a:xfrm>
            <a:off x="548640" y="475488"/>
            <a:ext cx="457200" cy="457200"/>
          </a:xfrm>
          <a:prstGeom prst="ellipse">
            <a:avLst/>
          </a:prstGeom>
          <a:solidFill>
            <a:srgbClr val="4A38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7"/>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3</a:t>
            </a:r>
            <a:endParaRPr b="0" i="0" sz="1900" u="none" cap="none" strike="noStrike">
              <a:solidFill>
                <a:schemeClr val="dk1"/>
              </a:solidFill>
              <a:latin typeface="Calibri"/>
              <a:ea typeface="Calibri"/>
              <a:cs typeface="Calibri"/>
              <a:sym typeface="Calibri"/>
            </a:endParaRPr>
          </a:p>
        </p:txBody>
      </p:sp>
      <p:sp>
        <p:nvSpPr>
          <p:cNvPr id="367" name="Google Shape;367;p17"/>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1250"/>
              <a:buFont typeface="Calibri"/>
              <a:buNone/>
            </a:pPr>
            <a:r>
              <a:rPr b="1" i="0" lang="en-US" sz="1250" u="none" cap="none" strike="noStrike">
                <a:solidFill>
                  <a:srgbClr val="4A3868"/>
                </a:solidFill>
                <a:latin typeface="Calibri"/>
                <a:ea typeface="Calibri"/>
                <a:cs typeface="Calibri"/>
                <a:sym typeface="Calibri"/>
              </a:rPr>
              <a:t>LAYER 3  ·  KNOWLEDGE-ORDER GATE</a:t>
            </a:r>
            <a:endParaRPr b="0" i="0" sz="1250" u="none" cap="none" strike="noStrike">
              <a:solidFill>
                <a:schemeClr val="dk1"/>
              </a:solidFill>
              <a:latin typeface="Calibri"/>
              <a:ea typeface="Calibri"/>
              <a:cs typeface="Calibri"/>
              <a:sym typeface="Calibri"/>
            </a:endParaRPr>
          </a:p>
        </p:txBody>
      </p:sp>
      <p:sp>
        <p:nvSpPr>
          <p:cNvPr id="368" name="Google Shape;368;p17"/>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3100"/>
              <a:buFont typeface="Cambria"/>
              <a:buNone/>
            </a:pPr>
            <a:r>
              <a:rPr b="1" i="0" lang="en-US" sz="3100" u="none" cap="none" strike="noStrike">
                <a:solidFill>
                  <a:srgbClr val="4A3868"/>
                </a:solidFill>
                <a:latin typeface="Cambria"/>
                <a:ea typeface="Cambria"/>
                <a:cs typeface="Cambria"/>
                <a:sym typeface="Cambria"/>
              </a:rPr>
              <a:t>What awakened humans do: five traditions</a:t>
            </a:r>
            <a:endParaRPr b="0" i="0" sz="3100" u="none" cap="none" strike="noStrike">
              <a:solidFill>
                <a:schemeClr val="dk1"/>
              </a:solidFill>
              <a:latin typeface="Calibri"/>
              <a:ea typeface="Calibri"/>
              <a:cs typeface="Calibri"/>
              <a:sym typeface="Calibri"/>
            </a:endParaRPr>
          </a:p>
        </p:txBody>
      </p:sp>
      <p:sp>
        <p:nvSpPr>
          <p:cNvPr id="369" name="Google Shape;369;p17"/>
          <p:cNvSpPr/>
          <p:nvPr/>
        </p:nvSpPr>
        <p:spPr>
          <a:xfrm>
            <a:off x="548640" y="1755648"/>
            <a:ext cx="11064240" cy="1234440"/>
          </a:xfrm>
          <a:prstGeom prst="roundRect">
            <a:avLst>
              <a:gd fmla="val 5926" name="adj"/>
            </a:avLst>
          </a:prstGeom>
          <a:solidFill>
            <a:srgbClr val="F6F8FA"/>
          </a:solidFill>
          <a:ln cap="flat" cmpd="sng" w="12700">
            <a:solidFill>
              <a:srgbClr val="4A386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7"/>
          <p:cNvSpPr/>
          <p:nvPr/>
        </p:nvSpPr>
        <p:spPr>
          <a:xfrm>
            <a:off x="594360" y="1737360"/>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3868"/>
              </a:buClr>
              <a:buSzPts val="4800"/>
              <a:buFont typeface="Cambria"/>
              <a:buNone/>
            </a:pPr>
            <a:r>
              <a:rPr b="1" i="0" lang="en-US" sz="4800" u="none" cap="none" strike="noStrike">
                <a:solidFill>
                  <a:srgbClr val="4A3868"/>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371" name="Google Shape;371;p17"/>
          <p:cNvSpPr/>
          <p:nvPr/>
        </p:nvSpPr>
        <p:spPr>
          <a:xfrm>
            <a:off x="1051560" y="1920240"/>
            <a:ext cx="10287000" cy="9052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While in the state of awakening, all humans are naturally found to be working towards establishing the harmonious tradition of non-accumulation, of affection, of knowledge, of simplicity, and of fearlessness.</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4A3868"/>
              </a:buClr>
              <a:buSzPts val="1150"/>
              <a:buFont typeface="Calibri"/>
              <a:buNone/>
            </a:pPr>
            <a:r>
              <a:rPr b="1" i="0" lang="en-US" sz="1150" u="none" cap="none" strike="noStrike">
                <a:solidFill>
                  <a:srgbClr val="4A3868"/>
                </a:solidFill>
                <a:latin typeface="Calibri"/>
                <a:ea typeface="Calibri"/>
                <a:cs typeface="Calibri"/>
                <a:sym typeface="Calibri"/>
              </a:rPr>
              <a:t>— AVD, p. 14</a:t>
            </a:r>
            <a:endParaRPr b="0" i="0" sz="1450" u="none" cap="none" strike="noStrike">
              <a:solidFill>
                <a:schemeClr val="dk1"/>
              </a:solidFill>
              <a:latin typeface="Calibri"/>
              <a:ea typeface="Calibri"/>
              <a:cs typeface="Calibri"/>
              <a:sym typeface="Calibri"/>
            </a:endParaRPr>
          </a:p>
        </p:txBody>
      </p:sp>
      <p:sp>
        <p:nvSpPr>
          <p:cNvPr id="372" name="Google Shape;372;p17"/>
          <p:cNvSpPr/>
          <p:nvPr/>
        </p:nvSpPr>
        <p:spPr>
          <a:xfrm>
            <a:off x="548640" y="3383280"/>
            <a:ext cx="2103120" cy="2560320"/>
          </a:xfrm>
          <a:prstGeom prst="roundRect">
            <a:avLst>
              <a:gd fmla="val 3478" name="adj"/>
            </a:avLst>
          </a:prstGeom>
          <a:solidFill>
            <a:srgbClr val="EDE8F4"/>
          </a:solidFill>
          <a:ln cap="flat" cmpd="sng" w="12700">
            <a:solidFill>
              <a:srgbClr val="B0A3C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7"/>
          <p:cNvSpPr/>
          <p:nvPr/>
        </p:nvSpPr>
        <p:spPr>
          <a:xfrm>
            <a:off x="1143000" y="3675888"/>
            <a:ext cx="914400" cy="914400"/>
          </a:xfrm>
          <a:prstGeom prst="ellipse">
            <a:avLst/>
          </a:prstGeom>
          <a:solidFill>
            <a:srgbClr val="FFFFFF"/>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4" name="Google Shape;374;p17"/>
          <p:cNvPicPr preferRelativeResize="0"/>
          <p:nvPr/>
        </p:nvPicPr>
        <p:blipFill rotWithShape="1">
          <a:blip r:embed="rId3">
            <a:alphaModFix/>
          </a:blip>
          <a:srcRect b="0" l="0" r="0" t="0"/>
          <a:stretch/>
        </p:blipFill>
        <p:spPr>
          <a:xfrm>
            <a:off x="1353312" y="3886200"/>
            <a:ext cx="493776" cy="493776"/>
          </a:xfrm>
          <a:prstGeom prst="rect">
            <a:avLst/>
          </a:prstGeom>
          <a:noFill/>
          <a:ln>
            <a:noFill/>
          </a:ln>
        </p:spPr>
      </p:pic>
      <p:sp>
        <p:nvSpPr>
          <p:cNvPr id="375" name="Google Shape;375;p17"/>
          <p:cNvSpPr/>
          <p:nvPr/>
        </p:nvSpPr>
        <p:spPr>
          <a:xfrm>
            <a:off x="640080" y="4709160"/>
            <a:ext cx="1920240" cy="685800"/>
          </a:xfrm>
          <a:prstGeom prst="rect">
            <a:avLst/>
          </a:prstGeom>
          <a:noFill/>
          <a:ln>
            <a:noFill/>
          </a:ln>
        </p:spPr>
        <p:txBody>
          <a:bodyPr anchorCtr="0" anchor="t" bIns="0" lIns="0" spcFirstLastPara="1" rIns="0" wrap="square" tIns="0">
            <a:noAutofit/>
          </a:bodyPr>
          <a:lstStyle/>
          <a:p>
            <a:pPr indent="0" lvl="0" marL="0" marR="0" rtl="0" algn="ctr">
              <a:lnSpc>
                <a:spcPct val="95000"/>
              </a:lnSpc>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Non-accumulation</a:t>
            </a:r>
            <a:endParaRPr b="0" i="0" sz="1450" u="none" cap="none" strike="noStrike">
              <a:solidFill>
                <a:schemeClr val="dk1"/>
              </a:solidFill>
              <a:latin typeface="Calibri"/>
              <a:ea typeface="Calibri"/>
              <a:cs typeface="Calibri"/>
              <a:sym typeface="Calibri"/>
            </a:endParaRPr>
          </a:p>
        </p:txBody>
      </p:sp>
      <p:sp>
        <p:nvSpPr>
          <p:cNvPr id="376" name="Google Shape;376;p17"/>
          <p:cNvSpPr/>
          <p:nvPr/>
        </p:nvSpPr>
        <p:spPr>
          <a:xfrm>
            <a:off x="658368" y="5376672"/>
            <a:ext cx="1883664"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5A6B78"/>
              </a:buClr>
              <a:buSzPts val="1100"/>
              <a:buFont typeface="Calibri"/>
              <a:buNone/>
            </a:pPr>
            <a:r>
              <a:rPr b="0" i="1" lang="en-US" sz="1100" u="none" cap="none" strike="noStrike">
                <a:solidFill>
                  <a:srgbClr val="5A6B78"/>
                </a:solidFill>
                <a:latin typeface="Calibri"/>
                <a:ea typeface="Calibri"/>
                <a:cs typeface="Calibri"/>
                <a:sym typeface="Calibri"/>
              </a:rPr>
              <a:t>by way of prosperity</a:t>
            </a:r>
            <a:endParaRPr b="0" i="0" sz="1100" u="none" cap="none" strike="noStrike">
              <a:solidFill>
                <a:schemeClr val="dk1"/>
              </a:solidFill>
              <a:latin typeface="Calibri"/>
              <a:ea typeface="Calibri"/>
              <a:cs typeface="Calibri"/>
              <a:sym typeface="Calibri"/>
            </a:endParaRPr>
          </a:p>
        </p:txBody>
      </p:sp>
      <p:sp>
        <p:nvSpPr>
          <p:cNvPr id="377" name="Google Shape;377;p17"/>
          <p:cNvSpPr/>
          <p:nvPr/>
        </p:nvSpPr>
        <p:spPr>
          <a:xfrm>
            <a:off x="2816352" y="3383280"/>
            <a:ext cx="2103120" cy="2560320"/>
          </a:xfrm>
          <a:prstGeom prst="roundRect">
            <a:avLst>
              <a:gd fmla="val 3478" name="adj"/>
            </a:avLst>
          </a:prstGeom>
          <a:solidFill>
            <a:srgbClr val="F6F8FA"/>
          </a:solidFill>
          <a:ln cap="flat" cmpd="sng" w="12700">
            <a:solidFill>
              <a:srgbClr val="B0A3C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7"/>
          <p:cNvSpPr/>
          <p:nvPr/>
        </p:nvSpPr>
        <p:spPr>
          <a:xfrm>
            <a:off x="3410712" y="3675888"/>
            <a:ext cx="914400" cy="914400"/>
          </a:xfrm>
          <a:prstGeom prst="ellipse">
            <a:avLst/>
          </a:prstGeom>
          <a:solidFill>
            <a:srgbClr val="FFFFFF"/>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9" name="Google Shape;379;p17"/>
          <p:cNvPicPr preferRelativeResize="0"/>
          <p:nvPr/>
        </p:nvPicPr>
        <p:blipFill rotWithShape="1">
          <a:blip r:embed="rId4">
            <a:alphaModFix/>
          </a:blip>
          <a:srcRect b="0" l="0" r="0" t="0"/>
          <a:stretch/>
        </p:blipFill>
        <p:spPr>
          <a:xfrm>
            <a:off x="3621024" y="3886200"/>
            <a:ext cx="493776" cy="493776"/>
          </a:xfrm>
          <a:prstGeom prst="rect">
            <a:avLst/>
          </a:prstGeom>
          <a:noFill/>
          <a:ln>
            <a:noFill/>
          </a:ln>
        </p:spPr>
      </p:pic>
      <p:sp>
        <p:nvSpPr>
          <p:cNvPr id="380" name="Google Shape;380;p17"/>
          <p:cNvSpPr/>
          <p:nvPr/>
        </p:nvSpPr>
        <p:spPr>
          <a:xfrm>
            <a:off x="2907792" y="4709160"/>
            <a:ext cx="1920240" cy="685800"/>
          </a:xfrm>
          <a:prstGeom prst="rect">
            <a:avLst/>
          </a:prstGeom>
          <a:noFill/>
          <a:ln>
            <a:noFill/>
          </a:ln>
        </p:spPr>
        <p:txBody>
          <a:bodyPr anchorCtr="0" anchor="t" bIns="0" lIns="0" spcFirstLastPara="1" rIns="0" wrap="square" tIns="0">
            <a:noAutofit/>
          </a:bodyPr>
          <a:lstStyle/>
          <a:p>
            <a:pPr indent="0" lvl="0" marL="0" marR="0" rtl="0" algn="ctr">
              <a:lnSpc>
                <a:spcPct val="95000"/>
              </a:lnSpc>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Affection</a:t>
            </a:r>
            <a:endParaRPr b="0" i="0" sz="1450" u="none" cap="none" strike="noStrike">
              <a:solidFill>
                <a:schemeClr val="dk1"/>
              </a:solidFill>
              <a:latin typeface="Calibri"/>
              <a:ea typeface="Calibri"/>
              <a:cs typeface="Calibri"/>
              <a:sym typeface="Calibri"/>
            </a:endParaRPr>
          </a:p>
        </p:txBody>
      </p:sp>
      <p:sp>
        <p:nvSpPr>
          <p:cNvPr id="381" name="Google Shape;381;p17"/>
          <p:cNvSpPr/>
          <p:nvPr/>
        </p:nvSpPr>
        <p:spPr>
          <a:xfrm>
            <a:off x="2926080" y="5376672"/>
            <a:ext cx="1883664"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5A6B78"/>
              </a:buClr>
              <a:buSzPts val="1100"/>
              <a:buFont typeface="Calibri"/>
              <a:buNone/>
            </a:pPr>
            <a:r>
              <a:rPr b="0" i="1" lang="en-US" sz="1100" u="none" cap="none" strike="noStrike">
                <a:solidFill>
                  <a:srgbClr val="5A6B78"/>
                </a:solidFill>
                <a:latin typeface="Calibri"/>
                <a:ea typeface="Calibri"/>
                <a:cs typeface="Calibri"/>
                <a:sym typeface="Calibri"/>
              </a:rPr>
              <a:t>by complementariness</a:t>
            </a:r>
            <a:endParaRPr b="0" i="0" sz="1100" u="none" cap="none" strike="noStrike">
              <a:solidFill>
                <a:schemeClr val="dk1"/>
              </a:solidFill>
              <a:latin typeface="Calibri"/>
              <a:ea typeface="Calibri"/>
              <a:cs typeface="Calibri"/>
              <a:sym typeface="Calibri"/>
            </a:endParaRPr>
          </a:p>
        </p:txBody>
      </p:sp>
      <p:sp>
        <p:nvSpPr>
          <p:cNvPr id="382" name="Google Shape;382;p17"/>
          <p:cNvSpPr/>
          <p:nvPr/>
        </p:nvSpPr>
        <p:spPr>
          <a:xfrm>
            <a:off x="5084064" y="3383280"/>
            <a:ext cx="2103120" cy="2560320"/>
          </a:xfrm>
          <a:prstGeom prst="roundRect">
            <a:avLst>
              <a:gd fmla="val 3478" name="adj"/>
            </a:avLst>
          </a:prstGeom>
          <a:solidFill>
            <a:srgbClr val="EDE8F4"/>
          </a:solidFill>
          <a:ln cap="flat" cmpd="sng" w="12700">
            <a:solidFill>
              <a:srgbClr val="B0A3C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7"/>
          <p:cNvSpPr/>
          <p:nvPr/>
        </p:nvSpPr>
        <p:spPr>
          <a:xfrm>
            <a:off x="5678424" y="3675888"/>
            <a:ext cx="914400" cy="914400"/>
          </a:xfrm>
          <a:prstGeom prst="ellipse">
            <a:avLst/>
          </a:prstGeom>
          <a:solidFill>
            <a:srgbClr val="FFFFFF"/>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4" name="Google Shape;384;p17"/>
          <p:cNvPicPr preferRelativeResize="0"/>
          <p:nvPr/>
        </p:nvPicPr>
        <p:blipFill rotWithShape="1">
          <a:blip r:embed="rId5">
            <a:alphaModFix/>
          </a:blip>
          <a:srcRect b="0" l="0" r="0" t="0"/>
          <a:stretch/>
        </p:blipFill>
        <p:spPr>
          <a:xfrm>
            <a:off x="5888736" y="3886200"/>
            <a:ext cx="493776" cy="493776"/>
          </a:xfrm>
          <a:prstGeom prst="rect">
            <a:avLst/>
          </a:prstGeom>
          <a:noFill/>
          <a:ln>
            <a:noFill/>
          </a:ln>
        </p:spPr>
      </p:pic>
      <p:sp>
        <p:nvSpPr>
          <p:cNvPr id="385" name="Google Shape;385;p17"/>
          <p:cNvSpPr/>
          <p:nvPr/>
        </p:nvSpPr>
        <p:spPr>
          <a:xfrm>
            <a:off x="5175504" y="4709160"/>
            <a:ext cx="1920240" cy="685800"/>
          </a:xfrm>
          <a:prstGeom prst="rect">
            <a:avLst/>
          </a:prstGeom>
          <a:noFill/>
          <a:ln>
            <a:noFill/>
          </a:ln>
        </p:spPr>
        <p:txBody>
          <a:bodyPr anchorCtr="0" anchor="t" bIns="0" lIns="0" spcFirstLastPara="1" rIns="0" wrap="square" tIns="0">
            <a:noAutofit/>
          </a:bodyPr>
          <a:lstStyle/>
          <a:p>
            <a:pPr indent="0" lvl="0" marL="0" marR="0" rtl="0" algn="ctr">
              <a:lnSpc>
                <a:spcPct val="95000"/>
              </a:lnSpc>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Knowledge</a:t>
            </a:r>
            <a:endParaRPr b="0" i="0" sz="1450" u="none" cap="none" strike="noStrike">
              <a:solidFill>
                <a:schemeClr val="dk1"/>
              </a:solidFill>
              <a:latin typeface="Calibri"/>
              <a:ea typeface="Calibri"/>
              <a:cs typeface="Calibri"/>
              <a:sym typeface="Calibri"/>
            </a:endParaRPr>
          </a:p>
        </p:txBody>
      </p:sp>
      <p:sp>
        <p:nvSpPr>
          <p:cNvPr id="386" name="Google Shape;386;p17"/>
          <p:cNvSpPr/>
          <p:nvPr/>
        </p:nvSpPr>
        <p:spPr>
          <a:xfrm>
            <a:off x="5193792" y="5376672"/>
            <a:ext cx="1883664"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5A6B78"/>
              </a:buClr>
              <a:buSzPts val="1100"/>
              <a:buFont typeface="Calibri"/>
              <a:buNone/>
            </a:pPr>
            <a:r>
              <a:rPr b="0" i="1" lang="en-US" sz="1100" u="none" cap="none" strike="noStrike">
                <a:solidFill>
                  <a:srgbClr val="5A6B78"/>
                </a:solidFill>
                <a:latin typeface="Calibri"/>
                <a:ea typeface="Calibri"/>
                <a:cs typeface="Calibri"/>
                <a:sym typeface="Calibri"/>
              </a:rPr>
              <a:t>by knowledge of jeevan</a:t>
            </a:r>
            <a:endParaRPr b="0" i="0" sz="1100" u="none" cap="none" strike="noStrike">
              <a:solidFill>
                <a:schemeClr val="dk1"/>
              </a:solidFill>
              <a:latin typeface="Calibri"/>
              <a:ea typeface="Calibri"/>
              <a:cs typeface="Calibri"/>
              <a:sym typeface="Calibri"/>
            </a:endParaRPr>
          </a:p>
        </p:txBody>
      </p:sp>
      <p:sp>
        <p:nvSpPr>
          <p:cNvPr id="387" name="Google Shape;387;p17"/>
          <p:cNvSpPr/>
          <p:nvPr/>
        </p:nvSpPr>
        <p:spPr>
          <a:xfrm>
            <a:off x="7351776" y="3383280"/>
            <a:ext cx="2103120" cy="2560320"/>
          </a:xfrm>
          <a:prstGeom prst="roundRect">
            <a:avLst>
              <a:gd fmla="val 3478" name="adj"/>
            </a:avLst>
          </a:prstGeom>
          <a:solidFill>
            <a:srgbClr val="F6F8FA"/>
          </a:solidFill>
          <a:ln cap="flat" cmpd="sng" w="12700">
            <a:solidFill>
              <a:srgbClr val="B0A3C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7"/>
          <p:cNvSpPr/>
          <p:nvPr/>
        </p:nvSpPr>
        <p:spPr>
          <a:xfrm>
            <a:off x="7946136" y="3675888"/>
            <a:ext cx="914400" cy="914400"/>
          </a:xfrm>
          <a:prstGeom prst="ellipse">
            <a:avLst/>
          </a:prstGeom>
          <a:solidFill>
            <a:srgbClr val="FFFFFF"/>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9" name="Google Shape;389;p17"/>
          <p:cNvPicPr preferRelativeResize="0"/>
          <p:nvPr/>
        </p:nvPicPr>
        <p:blipFill rotWithShape="1">
          <a:blip r:embed="rId6">
            <a:alphaModFix/>
          </a:blip>
          <a:srcRect b="0" l="0" r="0" t="0"/>
          <a:stretch/>
        </p:blipFill>
        <p:spPr>
          <a:xfrm>
            <a:off x="8156448" y="3886200"/>
            <a:ext cx="493776" cy="493776"/>
          </a:xfrm>
          <a:prstGeom prst="rect">
            <a:avLst/>
          </a:prstGeom>
          <a:noFill/>
          <a:ln>
            <a:noFill/>
          </a:ln>
        </p:spPr>
      </p:pic>
      <p:sp>
        <p:nvSpPr>
          <p:cNvPr id="390" name="Google Shape;390;p17"/>
          <p:cNvSpPr/>
          <p:nvPr/>
        </p:nvSpPr>
        <p:spPr>
          <a:xfrm>
            <a:off x="7443216" y="4709160"/>
            <a:ext cx="1920240" cy="685800"/>
          </a:xfrm>
          <a:prstGeom prst="rect">
            <a:avLst/>
          </a:prstGeom>
          <a:noFill/>
          <a:ln>
            <a:noFill/>
          </a:ln>
        </p:spPr>
        <p:txBody>
          <a:bodyPr anchorCtr="0" anchor="t" bIns="0" lIns="0" spcFirstLastPara="1" rIns="0" wrap="square" tIns="0">
            <a:noAutofit/>
          </a:bodyPr>
          <a:lstStyle/>
          <a:p>
            <a:pPr indent="0" lvl="0" marL="0" marR="0" rtl="0" algn="ctr">
              <a:lnSpc>
                <a:spcPct val="95000"/>
              </a:lnSpc>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Simplicity</a:t>
            </a:r>
            <a:endParaRPr b="0" i="0" sz="1450" u="none" cap="none" strike="noStrike">
              <a:solidFill>
                <a:schemeClr val="dk1"/>
              </a:solidFill>
              <a:latin typeface="Calibri"/>
              <a:ea typeface="Calibri"/>
              <a:cs typeface="Calibri"/>
              <a:sym typeface="Calibri"/>
            </a:endParaRPr>
          </a:p>
        </p:txBody>
      </p:sp>
      <p:sp>
        <p:nvSpPr>
          <p:cNvPr id="391" name="Google Shape;391;p17"/>
          <p:cNvSpPr/>
          <p:nvPr/>
        </p:nvSpPr>
        <p:spPr>
          <a:xfrm>
            <a:off x="7461504" y="5376672"/>
            <a:ext cx="1883664"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5A6B78"/>
              </a:buClr>
              <a:buSzPts val="1100"/>
              <a:buFont typeface="Calibri"/>
              <a:buNone/>
            </a:pPr>
            <a:r>
              <a:rPr b="0" i="1" lang="en-US" sz="1100" u="none" cap="none" strike="noStrike">
                <a:solidFill>
                  <a:srgbClr val="5A6B78"/>
                </a:solidFill>
                <a:latin typeface="Calibri"/>
                <a:ea typeface="Calibri"/>
                <a:cs typeface="Calibri"/>
                <a:sym typeface="Calibri"/>
              </a:rPr>
              <a:t>by holistic view of coexistence</a:t>
            </a:r>
            <a:endParaRPr b="0" i="0" sz="1100" u="none" cap="none" strike="noStrike">
              <a:solidFill>
                <a:schemeClr val="dk1"/>
              </a:solidFill>
              <a:latin typeface="Calibri"/>
              <a:ea typeface="Calibri"/>
              <a:cs typeface="Calibri"/>
              <a:sym typeface="Calibri"/>
            </a:endParaRPr>
          </a:p>
        </p:txBody>
      </p:sp>
      <p:sp>
        <p:nvSpPr>
          <p:cNvPr id="392" name="Google Shape;392;p17"/>
          <p:cNvSpPr/>
          <p:nvPr/>
        </p:nvSpPr>
        <p:spPr>
          <a:xfrm>
            <a:off x="9619488" y="3383280"/>
            <a:ext cx="2103120" cy="2560320"/>
          </a:xfrm>
          <a:prstGeom prst="roundRect">
            <a:avLst>
              <a:gd fmla="val 3478" name="adj"/>
            </a:avLst>
          </a:prstGeom>
          <a:solidFill>
            <a:srgbClr val="EDE8F4"/>
          </a:solidFill>
          <a:ln cap="flat" cmpd="sng" w="12700">
            <a:solidFill>
              <a:srgbClr val="B0A3C8"/>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7"/>
          <p:cNvSpPr/>
          <p:nvPr/>
        </p:nvSpPr>
        <p:spPr>
          <a:xfrm>
            <a:off x="10213848" y="3675888"/>
            <a:ext cx="914400" cy="914400"/>
          </a:xfrm>
          <a:prstGeom prst="ellipse">
            <a:avLst/>
          </a:prstGeom>
          <a:solidFill>
            <a:srgbClr val="FFFFFF"/>
          </a:solidFill>
          <a:ln cap="flat" cmpd="sng" w="12700">
            <a:solidFill>
              <a:srgbClr val="B0A3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94" name="Google Shape;394;p17"/>
          <p:cNvPicPr preferRelativeResize="0"/>
          <p:nvPr/>
        </p:nvPicPr>
        <p:blipFill rotWithShape="1">
          <a:blip r:embed="rId7">
            <a:alphaModFix/>
          </a:blip>
          <a:srcRect b="0" l="0" r="0" t="0"/>
          <a:stretch/>
        </p:blipFill>
        <p:spPr>
          <a:xfrm>
            <a:off x="10424160" y="3886200"/>
            <a:ext cx="493776" cy="493776"/>
          </a:xfrm>
          <a:prstGeom prst="rect">
            <a:avLst/>
          </a:prstGeom>
          <a:noFill/>
          <a:ln>
            <a:noFill/>
          </a:ln>
        </p:spPr>
      </p:pic>
      <p:sp>
        <p:nvSpPr>
          <p:cNvPr id="395" name="Google Shape;395;p17"/>
          <p:cNvSpPr/>
          <p:nvPr/>
        </p:nvSpPr>
        <p:spPr>
          <a:xfrm>
            <a:off x="9710928" y="4709160"/>
            <a:ext cx="1920240" cy="685800"/>
          </a:xfrm>
          <a:prstGeom prst="rect">
            <a:avLst/>
          </a:prstGeom>
          <a:noFill/>
          <a:ln>
            <a:noFill/>
          </a:ln>
        </p:spPr>
        <p:txBody>
          <a:bodyPr anchorCtr="0" anchor="t" bIns="0" lIns="0" spcFirstLastPara="1" rIns="0" wrap="square" tIns="0">
            <a:noAutofit/>
          </a:bodyPr>
          <a:lstStyle/>
          <a:p>
            <a:pPr indent="0" lvl="0" marL="0" marR="0" rtl="0" algn="ctr">
              <a:lnSpc>
                <a:spcPct val="95000"/>
              </a:lnSpc>
              <a:spcBef>
                <a:spcPts val="0"/>
              </a:spcBef>
              <a:spcAft>
                <a:spcPts val="0"/>
              </a:spcAft>
              <a:buClr>
                <a:srgbClr val="4A3868"/>
              </a:buClr>
              <a:buSzPts val="1450"/>
              <a:buFont typeface="Cambria"/>
              <a:buNone/>
            </a:pPr>
            <a:r>
              <a:rPr b="1" i="0" lang="en-US" sz="1450" u="none" cap="none" strike="noStrike">
                <a:solidFill>
                  <a:srgbClr val="4A3868"/>
                </a:solidFill>
                <a:latin typeface="Cambria"/>
                <a:ea typeface="Cambria"/>
                <a:cs typeface="Cambria"/>
                <a:sym typeface="Cambria"/>
              </a:rPr>
              <a:t>Fearlessness</a:t>
            </a:r>
            <a:endParaRPr b="0" i="0" sz="1450" u="none" cap="none" strike="noStrike">
              <a:solidFill>
                <a:schemeClr val="dk1"/>
              </a:solidFill>
              <a:latin typeface="Calibri"/>
              <a:ea typeface="Calibri"/>
              <a:cs typeface="Calibri"/>
              <a:sym typeface="Calibri"/>
            </a:endParaRPr>
          </a:p>
        </p:txBody>
      </p:sp>
      <p:sp>
        <p:nvSpPr>
          <p:cNvPr id="396" name="Google Shape;396;p17"/>
          <p:cNvSpPr/>
          <p:nvPr/>
        </p:nvSpPr>
        <p:spPr>
          <a:xfrm>
            <a:off x="9729216" y="5376672"/>
            <a:ext cx="1883664"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5A6B78"/>
              </a:buClr>
              <a:buSzPts val="1100"/>
              <a:buFont typeface="Calibri"/>
              <a:buNone/>
            </a:pPr>
            <a:r>
              <a:rPr b="0" i="1" lang="en-US" sz="1100" u="none" cap="none" strike="noStrike">
                <a:solidFill>
                  <a:srgbClr val="5A6B78"/>
                </a:solidFill>
                <a:latin typeface="Calibri"/>
                <a:ea typeface="Calibri"/>
                <a:cs typeface="Calibri"/>
                <a:sym typeface="Calibri"/>
              </a:rPr>
              <a:t>by humane conduct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F5168"/>
        </a:solidFill>
      </p:bgPr>
    </p:bg>
    <p:spTree>
      <p:nvGrpSpPr>
        <p:cNvPr id="401" name="Shape 401"/>
        <p:cNvGrpSpPr/>
        <p:nvPr/>
      </p:nvGrpSpPr>
      <p:grpSpPr>
        <a:xfrm>
          <a:off x="0" y="0"/>
          <a:ext cx="0" cy="0"/>
          <a:chOff x="0" y="0"/>
          <a:chExt cx="0" cy="0"/>
        </a:xfrm>
      </p:grpSpPr>
      <p:sp>
        <p:nvSpPr>
          <p:cNvPr id="402" name="Google Shape;402;p18"/>
          <p:cNvSpPr/>
          <p:nvPr/>
        </p:nvSpPr>
        <p:spPr>
          <a:xfrm>
            <a:off x="548640" y="475488"/>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THE STRUCTURAL SPINE</a:t>
            </a:r>
            <a:endParaRPr b="0" i="0" sz="1250" u="none" cap="none" strike="noStrike">
              <a:solidFill>
                <a:schemeClr val="dk1"/>
              </a:solidFill>
              <a:latin typeface="Calibri"/>
              <a:ea typeface="Calibri"/>
              <a:cs typeface="Calibri"/>
              <a:sym typeface="Calibri"/>
            </a:endParaRPr>
          </a:p>
        </p:txBody>
      </p:sp>
      <p:sp>
        <p:nvSpPr>
          <p:cNvPr id="403" name="Google Shape;403;p18"/>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100"/>
              <a:buFont typeface="Cambria"/>
              <a:buNone/>
            </a:pPr>
            <a:r>
              <a:rPr b="1" i="0" lang="en-US" sz="3100" u="none" cap="none" strike="noStrike">
                <a:solidFill>
                  <a:srgbClr val="FFFFFF"/>
                </a:solidFill>
                <a:latin typeface="Cambria"/>
                <a:ea typeface="Cambria"/>
                <a:cs typeface="Cambria"/>
                <a:sym typeface="Cambria"/>
              </a:rPr>
              <a:t>The delusionlessness ladder</a:t>
            </a:r>
            <a:endParaRPr b="0" i="0" sz="3100" u="none" cap="none" strike="noStrike">
              <a:solidFill>
                <a:schemeClr val="dk1"/>
              </a:solidFill>
              <a:latin typeface="Calibri"/>
              <a:ea typeface="Calibri"/>
              <a:cs typeface="Calibri"/>
              <a:sym typeface="Calibri"/>
            </a:endParaRPr>
          </a:p>
        </p:txBody>
      </p:sp>
      <p:sp>
        <p:nvSpPr>
          <p:cNvPr id="404" name="Google Shape;404;p18"/>
          <p:cNvSpPr/>
          <p:nvPr/>
        </p:nvSpPr>
        <p:spPr>
          <a:xfrm>
            <a:off x="548640" y="1783080"/>
            <a:ext cx="5486400" cy="4160520"/>
          </a:xfrm>
          <a:prstGeom prst="roundRect">
            <a:avLst>
              <a:gd fmla="val 1758" name="adj"/>
            </a:avLst>
          </a:prstGeom>
          <a:solidFill>
            <a:srgbClr val="F6F8FA"/>
          </a:solidFill>
          <a:ln cap="flat" cmpd="sng" w="12700">
            <a:solidFill>
              <a:srgbClr val="16242E"/>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594360" y="176479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42E"/>
              </a:buClr>
              <a:buSzPts val="4800"/>
              <a:buFont typeface="Cambria"/>
              <a:buNone/>
            </a:pPr>
            <a:r>
              <a:rPr b="1" i="0" lang="en-US" sz="4800" u="none" cap="none" strike="noStrike">
                <a:solidFill>
                  <a:srgbClr val="16242E"/>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406" name="Google Shape;406;p18"/>
          <p:cNvSpPr/>
          <p:nvPr/>
        </p:nvSpPr>
        <p:spPr>
          <a:xfrm>
            <a:off x="1051560" y="1947672"/>
            <a:ext cx="4709160" cy="383133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Delusionlessness is awakening; awakening is enlightenment; enlightenment is lordship; lordship is sovereignty; sovereignty is undivided society and universal orderliness.</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6242E"/>
              </a:buClr>
              <a:buSzPts val="1150"/>
              <a:buFont typeface="Calibri"/>
              <a:buNone/>
            </a:pPr>
            <a:r>
              <a:rPr b="1" i="0" lang="en-US" sz="1150" u="none" cap="none" strike="noStrike">
                <a:solidFill>
                  <a:srgbClr val="16242E"/>
                </a:solidFill>
                <a:latin typeface="Calibri"/>
                <a:ea typeface="Calibri"/>
                <a:cs typeface="Calibri"/>
                <a:sym typeface="Calibri"/>
              </a:rPr>
              <a:t>— MVD, p. 27</a:t>
            </a:r>
            <a:endParaRPr b="0" i="0" sz="1450" u="none" cap="none" strike="noStrike">
              <a:solidFill>
                <a:schemeClr val="dk1"/>
              </a:solidFill>
              <a:latin typeface="Calibri"/>
              <a:ea typeface="Calibri"/>
              <a:cs typeface="Calibri"/>
              <a:sym typeface="Calibri"/>
            </a:endParaRPr>
          </a:p>
        </p:txBody>
      </p:sp>
      <p:sp>
        <p:nvSpPr>
          <p:cNvPr id="407" name="Google Shape;407;p18"/>
          <p:cNvSpPr/>
          <p:nvPr/>
        </p:nvSpPr>
        <p:spPr>
          <a:xfrm>
            <a:off x="6400800" y="5532120"/>
            <a:ext cx="3200400" cy="566928"/>
          </a:xfrm>
          <a:prstGeom prst="roundRect">
            <a:avLst>
              <a:gd fmla="val 9677" name="adj"/>
            </a:avLst>
          </a:prstGeom>
          <a:solidFill>
            <a:srgbClr val="FFFFFF">
              <a:alpha val="94117"/>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8"/>
          <p:cNvSpPr/>
          <p:nvPr/>
        </p:nvSpPr>
        <p:spPr>
          <a:xfrm>
            <a:off x="6583680" y="5532120"/>
            <a:ext cx="2926080" cy="566928"/>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2F5168"/>
              </a:buClr>
              <a:buSzPts val="1300"/>
              <a:buFont typeface="Calibri"/>
              <a:buNone/>
            </a:pPr>
            <a:r>
              <a:rPr b="1" i="0" lang="en-US" sz="1300" u="none" cap="none" strike="noStrike">
                <a:solidFill>
                  <a:srgbClr val="2F5168"/>
                </a:solidFill>
                <a:latin typeface="Calibri"/>
                <a:ea typeface="Calibri"/>
                <a:cs typeface="Calibri"/>
                <a:sym typeface="Calibri"/>
              </a:rPr>
              <a:t>Delusionlessness</a:t>
            </a:r>
            <a:endParaRPr b="0" i="0" sz="1300" u="none" cap="none" strike="noStrike">
              <a:solidFill>
                <a:schemeClr val="dk1"/>
              </a:solidFill>
              <a:latin typeface="Calibri"/>
              <a:ea typeface="Calibri"/>
              <a:cs typeface="Calibri"/>
              <a:sym typeface="Calibri"/>
            </a:endParaRPr>
          </a:p>
        </p:txBody>
      </p:sp>
      <p:sp>
        <p:nvSpPr>
          <p:cNvPr id="409" name="Google Shape;409;p18"/>
          <p:cNvSpPr/>
          <p:nvPr/>
        </p:nvSpPr>
        <p:spPr>
          <a:xfrm>
            <a:off x="6400800" y="4864608"/>
            <a:ext cx="3703320" cy="566928"/>
          </a:xfrm>
          <a:prstGeom prst="roundRect">
            <a:avLst>
              <a:gd fmla="val 9677" name="adj"/>
            </a:avLst>
          </a:prstGeom>
          <a:solidFill>
            <a:srgbClr val="FFFFFF">
              <a:alpha val="90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8"/>
          <p:cNvSpPr/>
          <p:nvPr/>
        </p:nvSpPr>
        <p:spPr>
          <a:xfrm>
            <a:off x="6583680" y="4864608"/>
            <a:ext cx="3429000" cy="566928"/>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2F5168"/>
              </a:buClr>
              <a:buSzPts val="1300"/>
              <a:buFont typeface="Calibri"/>
              <a:buNone/>
            </a:pPr>
            <a:r>
              <a:rPr b="1" i="0" lang="en-US" sz="1300" u="none" cap="none" strike="noStrike">
                <a:solidFill>
                  <a:srgbClr val="2F5168"/>
                </a:solidFill>
                <a:latin typeface="Calibri"/>
                <a:ea typeface="Calibri"/>
                <a:cs typeface="Calibri"/>
                <a:sym typeface="Calibri"/>
              </a:rPr>
              <a:t>Awakening</a:t>
            </a:r>
            <a:endParaRPr b="0" i="0" sz="1300" u="none" cap="none" strike="noStrike">
              <a:solidFill>
                <a:schemeClr val="dk1"/>
              </a:solidFill>
              <a:latin typeface="Calibri"/>
              <a:ea typeface="Calibri"/>
              <a:cs typeface="Calibri"/>
              <a:sym typeface="Calibri"/>
            </a:endParaRPr>
          </a:p>
        </p:txBody>
      </p:sp>
      <p:sp>
        <p:nvSpPr>
          <p:cNvPr id="411" name="Google Shape;411;p18"/>
          <p:cNvSpPr/>
          <p:nvPr/>
        </p:nvSpPr>
        <p:spPr>
          <a:xfrm>
            <a:off x="6400800" y="4197096"/>
            <a:ext cx="4206240" cy="566928"/>
          </a:xfrm>
          <a:prstGeom prst="roundRect">
            <a:avLst>
              <a:gd fmla="val 9677" name="adj"/>
            </a:avLst>
          </a:prstGeom>
          <a:solidFill>
            <a:srgbClr val="FFFFFF">
              <a:alpha val="8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8"/>
          <p:cNvSpPr/>
          <p:nvPr/>
        </p:nvSpPr>
        <p:spPr>
          <a:xfrm>
            <a:off x="6583680" y="4197096"/>
            <a:ext cx="3931920" cy="566928"/>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2F5168"/>
              </a:buClr>
              <a:buSzPts val="1300"/>
              <a:buFont typeface="Calibri"/>
              <a:buNone/>
            </a:pPr>
            <a:r>
              <a:rPr b="1" i="0" lang="en-US" sz="1300" u="none" cap="none" strike="noStrike">
                <a:solidFill>
                  <a:srgbClr val="2F5168"/>
                </a:solidFill>
                <a:latin typeface="Calibri"/>
                <a:ea typeface="Calibri"/>
                <a:cs typeface="Calibri"/>
                <a:sym typeface="Calibri"/>
              </a:rPr>
              <a:t>Enlightenment</a:t>
            </a:r>
            <a:endParaRPr b="0" i="0" sz="1300" u="none" cap="none" strike="noStrike">
              <a:solidFill>
                <a:schemeClr val="dk1"/>
              </a:solidFill>
              <a:latin typeface="Calibri"/>
              <a:ea typeface="Calibri"/>
              <a:cs typeface="Calibri"/>
              <a:sym typeface="Calibri"/>
            </a:endParaRPr>
          </a:p>
        </p:txBody>
      </p:sp>
      <p:sp>
        <p:nvSpPr>
          <p:cNvPr id="413" name="Google Shape;413;p18"/>
          <p:cNvSpPr/>
          <p:nvPr/>
        </p:nvSpPr>
        <p:spPr>
          <a:xfrm>
            <a:off x="6400800" y="3529584"/>
            <a:ext cx="4709160" cy="566928"/>
          </a:xfrm>
          <a:prstGeom prst="roundRect">
            <a:avLst>
              <a:gd fmla="val 9677" name="adj"/>
            </a:avLst>
          </a:prstGeom>
          <a:solidFill>
            <a:srgbClr val="FFFFFF">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18"/>
          <p:cNvSpPr/>
          <p:nvPr/>
        </p:nvSpPr>
        <p:spPr>
          <a:xfrm>
            <a:off x="6583680" y="3529584"/>
            <a:ext cx="4434840" cy="566928"/>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2F5168"/>
              </a:buClr>
              <a:buSzPts val="1300"/>
              <a:buFont typeface="Calibri"/>
              <a:buNone/>
            </a:pPr>
            <a:r>
              <a:rPr b="1" i="0" lang="en-US" sz="1300" u="none" cap="none" strike="noStrike">
                <a:solidFill>
                  <a:srgbClr val="2F5168"/>
                </a:solidFill>
                <a:latin typeface="Calibri"/>
                <a:ea typeface="Calibri"/>
                <a:cs typeface="Calibri"/>
                <a:sym typeface="Calibri"/>
              </a:rPr>
              <a:t>Lordship</a:t>
            </a:r>
            <a:endParaRPr b="0" i="0" sz="1300" u="none" cap="none" strike="noStrike">
              <a:solidFill>
                <a:schemeClr val="dk1"/>
              </a:solidFill>
              <a:latin typeface="Calibri"/>
              <a:ea typeface="Calibri"/>
              <a:cs typeface="Calibri"/>
              <a:sym typeface="Calibri"/>
            </a:endParaRPr>
          </a:p>
        </p:txBody>
      </p:sp>
      <p:sp>
        <p:nvSpPr>
          <p:cNvPr id="415" name="Google Shape;415;p18"/>
          <p:cNvSpPr/>
          <p:nvPr/>
        </p:nvSpPr>
        <p:spPr>
          <a:xfrm>
            <a:off x="6400800" y="2862072"/>
            <a:ext cx="5212080" cy="566928"/>
          </a:xfrm>
          <a:prstGeom prst="roundRect">
            <a:avLst>
              <a:gd fmla="val 9677" name="adj"/>
            </a:avLst>
          </a:prstGeom>
          <a:solidFill>
            <a:srgbClr val="FFFFFF">
              <a:alpha val="819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8"/>
          <p:cNvSpPr/>
          <p:nvPr/>
        </p:nvSpPr>
        <p:spPr>
          <a:xfrm>
            <a:off x="6583680" y="2862072"/>
            <a:ext cx="4937760" cy="566928"/>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2F5168"/>
              </a:buClr>
              <a:buSzPts val="1300"/>
              <a:buFont typeface="Calibri"/>
              <a:buNone/>
            </a:pPr>
            <a:r>
              <a:rPr b="1" i="0" lang="en-US" sz="1300" u="none" cap="none" strike="noStrike">
                <a:solidFill>
                  <a:srgbClr val="2F5168"/>
                </a:solidFill>
                <a:latin typeface="Calibri"/>
                <a:ea typeface="Calibri"/>
                <a:cs typeface="Calibri"/>
                <a:sym typeface="Calibri"/>
              </a:rPr>
              <a:t>Sovereignty</a:t>
            </a:r>
            <a:endParaRPr b="0" i="0" sz="1300" u="none" cap="none" strike="noStrike">
              <a:solidFill>
                <a:schemeClr val="dk1"/>
              </a:solidFill>
              <a:latin typeface="Calibri"/>
              <a:ea typeface="Calibri"/>
              <a:cs typeface="Calibri"/>
              <a:sym typeface="Calibri"/>
            </a:endParaRPr>
          </a:p>
        </p:txBody>
      </p:sp>
      <p:sp>
        <p:nvSpPr>
          <p:cNvPr id="417" name="Google Shape;417;p18"/>
          <p:cNvSpPr/>
          <p:nvPr/>
        </p:nvSpPr>
        <p:spPr>
          <a:xfrm>
            <a:off x="6400800" y="2194560"/>
            <a:ext cx="5120640" cy="566928"/>
          </a:xfrm>
          <a:prstGeom prst="roundRect">
            <a:avLst>
              <a:gd fmla="val 9677" name="adj"/>
            </a:avLst>
          </a:prstGeom>
          <a:solidFill>
            <a:srgbClr val="E4F0E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8"/>
          <p:cNvSpPr/>
          <p:nvPr/>
        </p:nvSpPr>
        <p:spPr>
          <a:xfrm>
            <a:off x="6583680" y="2194560"/>
            <a:ext cx="4846320" cy="566928"/>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28543F"/>
              </a:buClr>
              <a:buSzPts val="1300"/>
              <a:buFont typeface="Cambria"/>
              <a:buNone/>
            </a:pPr>
            <a:r>
              <a:rPr b="1" i="0" lang="en-US" sz="1300" u="none" cap="none" strike="noStrike">
                <a:solidFill>
                  <a:srgbClr val="28543F"/>
                </a:solidFill>
                <a:latin typeface="Cambria"/>
                <a:ea typeface="Cambria"/>
                <a:cs typeface="Cambria"/>
                <a:sym typeface="Cambria"/>
              </a:rPr>
              <a:t>Undivided society + universal orderliness</a:t>
            </a:r>
            <a:endParaRPr b="0" i="0" sz="1300" u="none" cap="none" strike="noStrike">
              <a:solidFill>
                <a:schemeClr val="dk1"/>
              </a:solidFill>
              <a:latin typeface="Calibri"/>
              <a:ea typeface="Calibri"/>
              <a:cs typeface="Calibri"/>
              <a:sym typeface="Calibri"/>
            </a:endParaRPr>
          </a:p>
        </p:txBody>
      </p:sp>
      <p:sp>
        <p:nvSpPr>
          <p:cNvPr id="419" name="Google Shape;419;p18"/>
          <p:cNvSpPr/>
          <p:nvPr/>
        </p:nvSpPr>
        <p:spPr>
          <a:xfrm>
            <a:off x="6400800" y="6172200"/>
            <a:ext cx="5120640"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C9D6DF"/>
              </a:buClr>
              <a:buSzPts val="1100"/>
              <a:buFont typeface="Calibri"/>
              <a:buNone/>
            </a:pPr>
            <a:r>
              <a:rPr b="0" i="1" lang="en-US" sz="1100" u="none" cap="none" strike="noStrike">
                <a:solidFill>
                  <a:srgbClr val="C9D6DF"/>
                </a:solidFill>
                <a:latin typeface="Calibri"/>
                <a:ea typeface="Calibri"/>
                <a:cs typeface="Calibri"/>
                <a:sym typeface="Calibri"/>
              </a:rPr>
              <a:t>Layer 3 closes the gate (delusionlessness → enlightenment); Layer 4 evidences lordship and sovereignty in assemblies; the telos is undivided society with universal orderliness.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4" name="Shape 424"/>
        <p:cNvGrpSpPr/>
        <p:nvPr/>
      </p:nvGrpSpPr>
      <p:grpSpPr>
        <a:xfrm>
          <a:off x="0" y="0"/>
          <a:ext cx="0" cy="0"/>
          <a:chOff x="0" y="0"/>
          <a:chExt cx="0" cy="0"/>
        </a:xfrm>
      </p:grpSpPr>
      <p:sp>
        <p:nvSpPr>
          <p:cNvPr id="425" name="Google Shape;425;p19"/>
          <p:cNvSpPr/>
          <p:nvPr/>
        </p:nvSpPr>
        <p:spPr>
          <a:xfrm>
            <a:off x="548640" y="475488"/>
            <a:ext cx="457200" cy="457200"/>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9"/>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4</a:t>
            </a:r>
            <a:endParaRPr b="0" i="0" sz="1900" u="none" cap="none" strike="noStrike">
              <a:solidFill>
                <a:schemeClr val="dk1"/>
              </a:solidFill>
              <a:latin typeface="Calibri"/>
              <a:ea typeface="Calibri"/>
              <a:cs typeface="Calibri"/>
              <a:sym typeface="Calibri"/>
            </a:endParaRPr>
          </a:p>
        </p:txBody>
      </p:sp>
      <p:sp>
        <p:nvSpPr>
          <p:cNvPr id="427" name="Google Shape;427;p19"/>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250"/>
              <a:buFont typeface="Calibri"/>
              <a:buNone/>
            </a:pPr>
            <a:r>
              <a:rPr b="1" i="0" lang="en-US" sz="1250" u="none" cap="none" strike="noStrike">
                <a:solidFill>
                  <a:srgbClr val="28543F"/>
                </a:solidFill>
                <a:latin typeface="Calibri"/>
                <a:ea typeface="Calibri"/>
                <a:cs typeface="Calibri"/>
                <a:sym typeface="Calibri"/>
              </a:rPr>
              <a:t>LAYER 4  ·  SOCIAL ESTABLISHMENT</a:t>
            </a:r>
            <a:endParaRPr b="0" i="0" sz="1250" u="none" cap="none" strike="noStrike">
              <a:solidFill>
                <a:schemeClr val="dk1"/>
              </a:solidFill>
              <a:latin typeface="Calibri"/>
              <a:ea typeface="Calibri"/>
              <a:cs typeface="Calibri"/>
              <a:sym typeface="Calibri"/>
            </a:endParaRPr>
          </a:p>
        </p:txBody>
      </p:sp>
      <p:sp>
        <p:nvSpPr>
          <p:cNvPr id="428" name="Google Shape;428;p19"/>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3100"/>
              <a:buFont typeface="Cambria"/>
              <a:buNone/>
            </a:pPr>
            <a:r>
              <a:rPr b="1" i="0" lang="en-US" sz="3100" u="none" cap="none" strike="noStrike">
                <a:solidFill>
                  <a:srgbClr val="28543F"/>
                </a:solidFill>
                <a:latin typeface="Cambria"/>
                <a:ea typeface="Cambria"/>
                <a:cs typeface="Cambria"/>
                <a:sym typeface="Cambria"/>
              </a:rPr>
              <a:t>Undivided society, defined</a:t>
            </a:r>
            <a:endParaRPr b="0" i="0" sz="3100" u="none" cap="none" strike="noStrike">
              <a:solidFill>
                <a:schemeClr val="dk1"/>
              </a:solidFill>
              <a:latin typeface="Calibri"/>
              <a:ea typeface="Calibri"/>
              <a:cs typeface="Calibri"/>
              <a:sym typeface="Calibri"/>
            </a:endParaRPr>
          </a:p>
        </p:txBody>
      </p:sp>
      <p:sp>
        <p:nvSpPr>
          <p:cNvPr id="429" name="Google Shape;429;p19"/>
          <p:cNvSpPr/>
          <p:nvPr/>
        </p:nvSpPr>
        <p:spPr>
          <a:xfrm>
            <a:off x="548640" y="1783080"/>
            <a:ext cx="5760720" cy="23774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1F2D3A"/>
              </a:buClr>
              <a:buSzPts val="1500"/>
              <a:buFont typeface="Calibri"/>
              <a:buNone/>
            </a:pPr>
            <a:r>
              <a:rPr b="0" i="0" lang="en-US" sz="1500" u="none" cap="none" strike="noStrike">
                <a:solidFill>
                  <a:srgbClr val="1F2D3A"/>
                </a:solidFill>
                <a:latin typeface="Calibri"/>
                <a:ea typeface="Calibri"/>
                <a:cs typeface="Calibri"/>
                <a:sym typeface="Calibri"/>
              </a:rPr>
              <a:t>Undivided society (akhand samaj) is humankind living as one complementary whole — every person resolved, families prosperous and trusting, relationships fulfilled from household to world-family, with orderliness self-governed from understanding rather than imposed from above. It is the inherent complementarity of Layer 0, un-blocked across humankind.</a:t>
            </a:r>
            <a:endParaRPr b="0" i="0" sz="1500" u="none" cap="none" strike="noStrike">
              <a:solidFill>
                <a:schemeClr val="dk1"/>
              </a:solidFill>
              <a:latin typeface="Calibri"/>
              <a:ea typeface="Calibri"/>
              <a:cs typeface="Calibri"/>
              <a:sym typeface="Calibri"/>
            </a:endParaRPr>
          </a:p>
        </p:txBody>
      </p:sp>
      <p:sp>
        <p:nvSpPr>
          <p:cNvPr id="430" name="Google Shape;430;p19"/>
          <p:cNvSpPr/>
          <p:nvPr/>
        </p:nvSpPr>
        <p:spPr>
          <a:xfrm>
            <a:off x="548640" y="4114800"/>
            <a:ext cx="5760720" cy="17373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F4D57"/>
              </a:buClr>
              <a:buSzPts val="1350"/>
              <a:buFont typeface="Calibri"/>
              <a:buNone/>
            </a:pPr>
            <a:r>
              <a:rPr b="0" i="0" lang="en-US" sz="1350" u="none" cap="none" strike="noStrike">
                <a:solidFill>
                  <a:srgbClr val="3F4D57"/>
                </a:solidFill>
                <a:latin typeface="Calibri"/>
                <a:ea typeface="Calibri"/>
                <a:cs typeface="Calibri"/>
                <a:sym typeface="Calibri"/>
              </a:rPr>
              <a:t>Vyavastha names inherent orderliness — not a top-down apparatus. Akhand samaj is emergent orderliness in tradition. Unity and undividedness is the natural expression of awakening; division appears only under delusion.</a:t>
            </a:r>
            <a:endParaRPr b="0" i="0" sz="1350" u="none" cap="none" strike="noStrike">
              <a:solidFill>
                <a:schemeClr val="dk1"/>
              </a:solidFill>
              <a:latin typeface="Calibri"/>
              <a:ea typeface="Calibri"/>
              <a:cs typeface="Calibri"/>
              <a:sym typeface="Calibri"/>
            </a:endParaRPr>
          </a:p>
        </p:txBody>
      </p:sp>
      <p:sp>
        <p:nvSpPr>
          <p:cNvPr id="431" name="Google Shape;431;p19"/>
          <p:cNvSpPr/>
          <p:nvPr/>
        </p:nvSpPr>
        <p:spPr>
          <a:xfrm>
            <a:off x="6583680" y="1783080"/>
            <a:ext cx="5029200" cy="2057400"/>
          </a:xfrm>
          <a:prstGeom prst="roundRect">
            <a:avLst>
              <a:gd fmla="val 3556" name="adj"/>
            </a:avLst>
          </a:prstGeom>
          <a:solidFill>
            <a:srgbClr val="F6F8FA"/>
          </a:solidFill>
          <a:ln cap="flat" cmpd="sng" w="12700">
            <a:solidFill>
              <a:srgbClr val="28543F"/>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9"/>
          <p:cNvSpPr/>
          <p:nvPr/>
        </p:nvSpPr>
        <p:spPr>
          <a:xfrm>
            <a:off x="6629400" y="176479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4800"/>
              <a:buFont typeface="Cambria"/>
              <a:buNone/>
            </a:pPr>
            <a:r>
              <a:rPr b="1" i="0" lang="en-US" sz="4800" u="none" cap="none" strike="noStrike">
                <a:solidFill>
                  <a:srgbClr val="28543F"/>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433" name="Google Shape;433;p19"/>
          <p:cNvSpPr/>
          <p:nvPr/>
        </p:nvSpPr>
        <p:spPr>
          <a:xfrm>
            <a:off x="7086600" y="1947672"/>
            <a:ext cx="4251960" cy="172821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In the awakened human tradition, undivided society is evidenced along with the universal orderliness.</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28543F"/>
              </a:buClr>
              <a:buSzPts val="1150"/>
              <a:buFont typeface="Calibri"/>
              <a:buNone/>
            </a:pPr>
            <a:r>
              <a:rPr b="1" i="0" lang="en-US" sz="1150" u="none" cap="none" strike="noStrike">
                <a:solidFill>
                  <a:srgbClr val="28543F"/>
                </a:solidFill>
                <a:latin typeface="Calibri"/>
                <a:ea typeface="Calibri"/>
                <a:cs typeface="Calibri"/>
                <a:sym typeface="Calibri"/>
              </a:rPr>
              <a:t>— MVD, Ch. 4</a:t>
            </a:r>
            <a:endParaRPr b="0" i="0" sz="1450" u="none" cap="none" strike="noStrike">
              <a:solidFill>
                <a:schemeClr val="dk1"/>
              </a:solidFill>
              <a:latin typeface="Calibri"/>
              <a:ea typeface="Calibri"/>
              <a:cs typeface="Calibri"/>
              <a:sym typeface="Calibri"/>
            </a:endParaRPr>
          </a:p>
        </p:txBody>
      </p:sp>
      <p:sp>
        <p:nvSpPr>
          <p:cNvPr id="434" name="Google Shape;434;p19"/>
          <p:cNvSpPr/>
          <p:nvPr/>
        </p:nvSpPr>
        <p:spPr>
          <a:xfrm>
            <a:off x="6583680" y="4069080"/>
            <a:ext cx="5029200" cy="1783080"/>
          </a:xfrm>
          <a:prstGeom prst="roundRect">
            <a:avLst>
              <a:gd fmla="val 4103" name="adj"/>
            </a:avLst>
          </a:prstGeom>
          <a:solidFill>
            <a:srgbClr val="F6F8FA"/>
          </a:solidFill>
          <a:ln cap="flat" cmpd="sng" w="12700">
            <a:solidFill>
              <a:srgbClr val="28543F"/>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19"/>
          <p:cNvSpPr/>
          <p:nvPr/>
        </p:nvSpPr>
        <p:spPr>
          <a:xfrm>
            <a:off x="6629400" y="405079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4800"/>
              <a:buFont typeface="Cambria"/>
              <a:buNone/>
            </a:pPr>
            <a:r>
              <a:rPr b="1" i="0" lang="en-US" sz="4800" u="none" cap="none" strike="noStrike">
                <a:solidFill>
                  <a:srgbClr val="28543F"/>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436" name="Google Shape;436;p19"/>
          <p:cNvSpPr/>
          <p:nvPr/>
        </p:nvSpPr>
        <p:spPr>
          <a:xfrm>
            <a:off x="7086600" y="4233672"/>
            <a:ext cx="4251960" cy="145389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Society is humane only when it is undivided. Societal functioning means participation in universal orderliness.</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28543F"/>
              </a:buClr>
              <a:buSzPts val="1150"/>
              <a:buFont typeface="Calibri"/>
              <a:buNone/>
            </a:pPr>
            <a:r>
              <a:rPr b="1" i="0" lang="en-US" sz="1150" u="none" cap="none" strike="noStrike">
                <a:solidFill>
                  <a:srgbClr val="28543F"/>
                </a:solidFill>
                <a:latin typeface="Calibri"/>
                <a:ea typeface="Calibri"/>
                <a:cs typeface="Calibri"/>
                <a:sym typeface="Calibri"/>
              </a:rPr>
              <a:t>— JVD, p. 157</a:t>
            </a:r>
            <a:endParaRPr b="0" i="0" sz="14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20"/>
          <p:cNvSpPr/>
          <p:nvPr/>
        </p:nvSpPr>
        <p:spPr>
          <a:xfrm>
            <a:off x="548640" y="475488"/>
            <a:ext cx="457200" cy="457200"/>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20"/>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4</a:t>
            </a:r>
            <a:endParaRPr b="0" i="0" sz="1900" u="none" cap="none" strike="noStrike">
              <a:solidFill>
                <a:schemeClr val="dk1"/>
              </a:solidFill>
              <a:latin typeface="Calibri"/>
              <a:ea typeface="Calibri"/>
              <a:cs typeface="Calibri"/>
              <a:sym typeface="Calibri"/>
            </a:endParaRPr>
          </a:p>
        </p:txBody>
      </p:sp>
      <p:sp>
        <p:nvSpPr>
          <p:cNvPr id="444" name="Google Shape;444;p20"/>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250"/>
              <a:buFont typeface="Calibri"/>
              <a:buNone/>
            </a:pPr>
            <a:r>
              <a:rPr b="1" i="0" lang="en-US" sz="1250" u="none" cap="none" strike="noStrike">
                <a:solidFill>
                  <a:srgbClr val="28543F"/>
                </a:solidFill>
                <a:latin typeface="Calibri"/>
                <a:ea typeface="Calibri"/>
                <a:cs typeface="Calibri"/>
                <a:sym typeface="Calibri"/>
              </a:rPr>
              <a:t>LAYER 4  ·  SOCIAL ESTABLISHMENT</a:t>
            </a:r>
            <a:endParaRPr b="0" i="0" sz="1250" u="none" cap="none" strike="noStrike">
              <a:solidFill>
                <a:schemeClr val="dk1"/>
              </a:solidFill>
              <a:latin typeface="Calibri"/>
              <a:ea typeface="Calibri"/>
              <a:cs typeface="Calibri"/>
              <a:sym typeface="Calibri"/>
            </a:endParaRPr>
          </a:p>
        </p:txBody>
      </p:sp>
      <p:sp>
        <p:nvSpPr>
          <p:cNvPr id="445" name="Google Shape;445;p20"/>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3100"/>
              <a:buFont typeface="Cambria"/>
              <a:buNone/>
            </a:pPr>
            <a:r>
              <a:rPr b="1" i="0" lang="en-US" sz="3100" u="none" cap="none" strike="noStrike">
                <a:solidFill>
                  <a:srgbClr val="28543F"/>
                </a:solidFill>
                <a:latin typeface="Cambria"/>
                <a:ea typeface="Cambria"/>
                <a:cs typeface="Cambria"/>
                <a:sym typeface="Cambria"/>
              </a:rPr>
              <a:t>The sociality–production chain</a:t>
            </a:r>
            <a:endParaRPr b="0" i="0" sz="3100" u="none" cap="none" strike="noStrike">
              <a:solidFill>
                <a:schemeClr val="dk1"/>
              </a:solidFill>
              <a:latin typeface="Calibri"/>
              <a:ea typeface="Calibri"/>
              <a:cs typeface="Calibri"/>
              <a:sym typeface="Calibri"/>
            </a:endParaRPr>
          </a:p>
        </p:txBody>
      </p:sp>
      <p:sp>
        <p:nvSpPr>
          <p:cNvPr id="446" name="Google Shape;446;p20"/>
          <p:cNvSpPr/>
          <p:nvPr/>
        </p:nvSpPr>
        <p:spPr>
          <a:xfrm>
            <a:off x="548640" y="1737360"/>
            <a:ext cx="11064240" cy="77724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Establishment follows a definite chain — powered psychologically not by physical need alone, but by reoriented ichcha (desire) in jeevan: desire for happiness and resolution. The chain is a cycle that returns to sociality.</a:t>
            </a:r>
            <a:endParaRPr b="0" i="0" sz="1400" u="none" cap="none" strike="noStrike">
              <a:solidFill>
                <a:schemeClr val="dk1"/>
              </a:solidFill>
              <a:latin typeface="Calibri"/>
              <a:ea typeface="Calibri"/>
              <a:cs typeface="Calibri"/>
              <a:sym typeface="Calibri"/>
            </a:endParaRPr>
          </a:p>
        </p:txBody>
      </p:sp>
      <p:sp>
        <p:nvSpPr>
          <p:cNvPr id="447" name="Google Shape;447;p20"/>
          <p:cNvSpPr/>
          <p:nvPr/>
        </p:nvSpPr>
        <p:spPr>
          <a:xfrm>
            <a:off x="548640" y="2743200"/>
            <a:ext cx="1481328" cy="960120"/>
          </a:xfrm>
          <a:prstGeom prst="roundRect">
            <a:avLst>
              <a:gd fmla="val 7619"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20"/>
          <p:cNvSpPr/>
          <p:nvPr/>
        </p:nvSpPr>
        <p:spPr>
          <a:xfrm>
            <a:off x="548640" y="2743200"/>
            <a:ext cx="1481328" cy="9601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Sociality</a:t>
            </a:r>
            <a:endParaRPr b="0" i="0" sz="1100" u="none" cap="none" strike="noStrike">
              <a:solidFill>
                <a:schemeClr val="dk1"/>
              </a:solidFill>
              <a:latin typeface="Calibri"/>
              <a:ea typeface="Calibri"/>
              <a:cs typeface="Calibri"/>
              <a:sym typeface="Calibri"/>
            </a:endParaRPr>
          </a:p>
        </p:txBody>
      </p:sp>
      <p:sp>
        <p:nvSpPr>
          <p:cNvPr id="449" name="Google Shape;449;p20"/>
          <p:cNvSpPr/>
          <p:nvPr/>
        </p:nvSpPr>
        <p:spPr>
          <a:xfrm>
            <a:off x="2011680" y="2743200"/>
            <a:ext cx="146304" cy="9601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400"/>
              <a:buFont typeface="Cambria"/>
              <a:buNone/>
            </a:pPr>
            <a:r>
              <a:rPr b="0" i="0" lang="en-US" sz="1400" u="none" cap="none" strike="noStrike">
                <a:solidFill>
                  <a:srgbClr val="5A6B78"/>
                </a:solidFill>
                <a:latin typeface="Cambria"/>
                <a:ea typeface="Cambria"/>
                <a:cs typeface="Cambria"/>
                <a:sym typeface="Cambria"/>
              </a:rPr>
              <a:t>→</a:t>
            </a:r>
            <a:endParaRPr b="0" i="0" sz="1400" u="none" cap="none" strike="noStrike">
              <a:solidFill>
                <a:schemeClr val="dk1"/>
              </a:solidFill>
              <a:latin typeface="Calibri"/>
              <a:ea typeface="Calibri"/>
              <a:cs typeface="Calibri"/>
              <a:sym typeface="Calibri"/>
            </a:endParaRPr>
          </a:p>
        </p:txBody>
      </p:sp>
      <p:sp>
        <p:nvSpPr>
          <p:cNvPr id="450" name="Google Shape;450;p20"/>
          <p:cNvSpPr/>
          <p:nvPr/>
        </p:nvSpPr>
        <p:spPr>
          <a:xfrm>
            <a:off x="2139696" y="2743200"/>
            <a:ext cx="1481328" cy="960120"/>
          </a:xfrm>
          <a:prstGeom prst="roundRect">
            <a:avLst>
              <a:gd fmla="val 7619"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20"/>
          <p:cNvSpPr/>
          <p:nvPr/>
        </p:nvSpPr>
        <p:spPr>
          <a:xfrm>
            <a:off x="2139696" y="2743200"/>
            <a:ext cx="1481328" cy="9601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Needs</a:t>
            </a:r>
            <a:endParaRPr b="0" i="0" sz="1100" u="none" cap="none" strike="noStrike">
              <a:solidFill>
                <a:schemeClr val="dk1"/>
              </a:solidFill>
              <a:latin typeface="Calibri"/>
              <a:ea typeface="Calibri"/>
              <a:cs typeface="Calibri"/>
              <a:sym typeface="Calibri"/>
            </a:endParaRPr>
          </a:p>
        </p:txBody>
      </p:sp>
      <p:sp>
        <p:nvSpPr>
          <p:cNvPr id="452" name="Google Shape;452;p20"/>
          <p:cNvSpPr/>
          <p:nvPr/>
        </p:nvSpPr>
        <p:spPr>
          <a:xfrm>
            <a:off x="3602736" y="2743200"/>
            <a:ext cx="146304" cy="9601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400"/>
              <a:buFont typeface="Cambria"/>
              <a:buNone/>
            </a:pPr>
            <a:r>
              <a:rPr b="0" i="0" lang="en-US" sz="1400" u="none" cap="none" strike="noStrike">
                <a:solidFill>
                  <a:srgbClr val="5A6B78"/>
                </a:solidFill>
                <a:latin typeface="Cambria"/>
                <a:ea typeface="Cambria"/>
                <a:cs typeface="Cambria"/>
                <a:sym typeface="Cambria"/>
              </a:rPr>
              <a:t>→</a:t>
            </a:r>
            <a:endParaRPr b="0" i="0" sz="1400" u="none" cap="none" strike="noStrike">
              <a:solidFill>
                <a:schemeClr val="dk1"/>
              </a:solidFill>
              <a:latin typeface="Calibri"/>
              <a:ea typeface="Calibri"/>
              <a:cs typeface="Calibri"/>
              <a:sym typeface="Calibri"/>
            </a:endParaRPr>
          </a:p>
        </p:txBody>
      </p:sp>
      <p:sp>
        <p:nvSpPr>
          <p:cNvPr id="453" name="Google Shape;453;p20"/>
          <p:cNvSpPr/>
          <p:nvPr/>
        </p:nvSpPr>
        <p:spPr>
          <a:xfrm>
            <a:off x="3730752" y="2743200"/>
            <a:ext cx="1481328" cy="960120"/>
          </a:xfrm>
          <a:prstGeom prst="roundRect">
            <a:avLst>
              <a:gd fmla="val 7619"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0"/>
          <p:cNvSpPr/>
          <p:nvPr/>
        </p:nvSpPr>
        <p:spPr>
          <a:xfrm>
            <a:off x="3730752" y="2743200"/>
            <a:ext cx="1481328" cy="9601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Experimentation</a:t>
            </a:r>
            <a:endParaRPr b="0" i="0" sz="1100" u="none" cap="none" strike="noStrike">
              <a:solidFill>
                <a:schemeClr val="dk1"/>
              </a:solidFill>
              <a:latin typeface="Calibri"/>
              <a:ea typeface="Calibri"/>
              <a:cs typeface="Calibri"/>
              <a:sym typeface="Calibri"/>
            </a:endParaRPr>
          </a:p>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&amp; production</a:t>
            </a:r>
            <a:endParaRPr b="0" i="0" sz="1100" u="none" cap="none" strike="noStrike">
              <a:solidFill>
                <a:schemeClr val="dk1"/>
              </a:solidFill>
              <a:latin typeface="Calibri"/>
              <a:ea typeface="Calibri"/>
              <a:cs typeface="Calibri"/>
              <a:sym typeface="Calibri"/>
            </a:endParaRPr>
          </a:p>
        </p:txBody>
      </p:sp>
      <p:sp>
        <p:nvSpPr>
          <p:cNvPr id="455" name="Google Shape;455;p20"/>
          <p:cNvSpPr/>
          <p:nvPr/>
        </p:nvSpPr>
        <p:spPr>
          <a:xfrm>
            <a:off x="5193792" y="2743200"/>
            <a:ext cx="146304" cy="9601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400"/>
              <a:buFont typeface="Cambria"/>
              <a:buNone/>
            </a:pPr>
            <a:r>
              <a:rPr b="0" i="0" lang="en-US" sz="1400" u="none" cap="none" strike="noStrike">
                <a:solidFill>
                  <a:srgbClr val="5A6B78"/>
                </a:solidFill>
                <a:latin typeface="Cambria"/>
                <a:ea typeface="Cambria"/>
                <a:cs typeface="Cambria"/>
                <a:sym typeface="Cambria"/>
              </a:rPr>
              <a:t>→</a:t>
            </a:r>
            <a:endParaRPr b="0" i="0" sz="1400" u="none" cap="none" strike="noStrike">
              <a:solidFill>
                <a:schemeClr val="dk1"/>
              </a:solidFill>
              <a:latin typeface="Calibri"/>
              <a:ea typeface="Calibri"/>
              <a:cs typeface="Calibri"/>
              <a:sym typeface="Calibri"/>
            </a:endParaRPr>
          </a:p>
        </p:txBody>
      </p:sp>
      <p:sp>
        <p:nvSpPr>
          <p:cNvPr id="456" name="Google Shape;456;p20"/>
          <p:cNvSpPr/>
          <p:nvPr/>
        </p:nvSpPr>
        <p:spPr>
          <a:xfrm>
            <a:off x="5321808" y="2743200"/>
            <a:ext cx="1481328" cy="960120"/>
          </a:xfrm>
          <a:prstGeom prst="roundRect">
            <a:avLst>
              <a:gd fmla="val 7619"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0"/>
          <p:cNvSpPr/>
          <p:nvPr/>
        </p:nvSpPr>
        <p:spPr>
          <a:xfrm>
            <a:off x="5321808" y="2743200"/>
            <a:ext cx="1481328" cy="9601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Creation</a:t>
            </a:r>
            <a:endParaRPr b="0" i="0" sz="1100" u="none" cap="none" strike="noStrike">
              <a:solidFill>
                <a:schemeClr val="dk1"/>
              </a:solidFill>
              <a:latin typeface="Calibri"/>
              <a:ea typeface="Calibri"/>
              <a:cs typeface="Calibri"/>
              <a:sym typeface="Calibri"/>
            </a:endParaRPr>
          </a:p>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of wealth</a:t>
            </a:r>
            <a:endParaRPr b="0" i="0" sz="1100" u="none" cap="none" strike="noStrike">
              <a:solidFill>
                <a:schemeClr val="dk1"/>
              </a:solidFill>
              <a:latin typeface="Calibri"/>
              <a:ea typeface="Calibri"/>
              <a:cs typeface="Calibri"/>
              <a:sym typeface="Calibri"/>
            </a:endParaRPr>
          </a:p>
        </p:txBody>
      </p:sp>
      <p:sp>
        <p:nvSpPr>
          <p:cNvPr id="458" name="Google Shape;458;p20"/>
          <p:cNvSpPr/>
          <p:nvPr/>
        </p:nvSpPr>
        <p:spPr>
          <a:xfrm>
            <a:off x="6784848" y="2743200"/>
            <a:ext cx="146304" cy="9601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400"/>
              <a:buFont typeface="Cambria"/>
              <a:buNone/>
            </a:pPr>
            <a:r>
              <a:rPr b="0" i="0" lang="en-US" sz="1400" u="none" cap="none" strike="noStrike">
                <a:solidFill>
                  <a:srgbClr val="5A6B78"/>
                </a:solidFill>
                <a:latin typeface="Cambria"/>
                <a:ea typeface="Cambria"/>
                <a:cs typeface="Cambria"/>
                <a:sym typeface="Cambria"/>
              </a:rPr>
              <a:t>→</a:t>
            </a:r>
            <a:endParaRPr b="0" i="0" sz="1400" u="none" cap="none" strike="noStrike">
              <a:solidFill>
                <a:schemeClr val="dk1"/>
              </a:solidFill>
              <a:latin typeface="Calibri"/>
              <a:ea typeface="Calibri"/>
              <a:cs typeface="Calibri"/>
              <a:sym typeface="Calibri"/>
            </a:endParaRPr>
          </a:p>
        </p:txBody>
      </p:sp>
      <p:sp>
        <p:nvSpPr>
          <p:cNvPr id="459" name="Google Shape;459;p20"/>
          <p:cNvSpPr/>
          <p:nvPr/>
        </p:nvSpPr>
        <p:spPr>
          <a:xfrm>
            <a:off x="6912864" y="2743200"/>
            <a:ext cx="1481328" cy="960120"/>
          </a:xfrm>
          <a:prstGeom prst="roundRect">
            <a:avLst>
              <a:gd fmla="val 7619"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0"/>
          <p:cNvSpPr/>
          <p:nvPr/>
        </p:nvSpPr>
        <p:spPr>
          <a:xfrm>
            <a:off x="6912864" y="2743200"/>
            <a:ext cx="1481328" cy="9601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Use, right-use,</a:t>
            </a:r>
            <a:endParaRPr b="0" i="0" sz="1100" u="none" cap="none" strike="noStrike">
              <a:solidFill>
                <a:schemeClr val="dk1"/>
              </a:solidFill>
              <a:latin typeface="Calibri"/>
              <a:ea typeface="Calibri"/>
              <a:cs typeface="Calibri"/>
              <a:sym typeface="Calibri"/>
            </a:endParaRPr>
          </a:p>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purposeful-use</a:t>
            </a:r>
            <a:endParaRPr b="0" i="0" sz="1100" u="none" cap="none" strike="noStrike">
              <a:solidFill>
                <a:schemeClr val="dk1"/>
              </a:solidFill>
              <a:latin typeface="Calibri"/>
              <a:ea typeface="Calibri"/>
              <a:cs typeface="Calibri"/>
              <a:sym typeface="Calibri"/>
            </a:endParaRPr>
          </a:p>
        </p:txBody>
      </p:sp>
      <p:sp>
        <p:nvSpPr>
          <p:cNvPr id="461" name="Google Shape;461;p20"/>
          <p:cNvSpPr/>
          <p:nvPr/>
        </p:nvSpPr>
        <p:spPr>
          <a:xfrm>
            <a:off x="8375904" y="2743200"/>
            <a:ext cx="146304" cy="9601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400"/>
              <a:buFont typeface="Cambria"/>
              <a:buNone/>
            </a:pPr>
            <a:r>
              <a:rPr b="0" i="0" lang="en-US" sz="1400" u="none" cap="none" strike="noStrike">
                <a:solidFill>
                  <a:srgbClr val="5A6B78"/>
                </a:solidFill>
                <a:latin typeface="Cambria"/>
                <a:ea typeface="Cambria"/>
                <a:cs typeface="Cambria"/>
                <a:sym typeface="Cambria"/>
              </a:rPr>
              <a:t>→</a:t>
            </a:r>
            <a:endParaRPr b="0" i="0" sz="1400" u="none" cap="none" strike="noStrike">
              <a:solidFill>
                <a:schemeClr val="dk1"/>
              </a:solidFill>
              <a:latin typeface="Calibri"/>
              <a:ea typeface="Calibri"/>
              <a:cs typeface="Calibri"/>
              <a:sym typeface="Calibri"/>
            </a:endParaRPr>
          </a:p>
        </p:txBody>
      </p:sp>
      <p:sp>
        <p:nvSpPr>
          <p:cNvPr id="462" name="Google Shape;462;p20"/>
          <p:cNvSpPr/>
          <p:nvPr/>
        </p:nvSpPr>
        <p:spPr>
          <a:xfrm>
            <a:off x="8503920" y="2743200"/>
            <a:ext cx="1481328" cy="960120"/>
          </a:xfrm>
          <a:prstGeom prst="roundRect">
            <a:avLst>
              <a:gd fmla="val 7619"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20"/>
          <p:cNvSpPr/>
          <p:nvPr/>
        </p:nvSpPr>
        <p:spPr>
          <a:xfrm>
            <a:off x="8503920" y="2743200"/>
            <a:ext cx="1481328" cy="9601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Practicality</a:t>
            </a:r>
            <a:endParaRPr b="0" i="0" sz="1100" u="none" cap="none" strike="noStrike">
              <a:solidFill>
                <a:schemeClr val="dk1"/>
              </a:solidFill>
              <a:latin typeface="Calibri"/>
              <a:ea typeface="Calibri"/>
              <a:cs typeface="Calibri"/>
              <a:sym typeface="Calibri"/>
            </a:endParaRPr>
          </a:p>
        </p:txBody>
      </p:sp>
      <p:sp>
        <p:nvSpPr>
          <p:cNvPr id="464" name="Google Shape;464;p20"/>
          <p:cNvSpPr/>
          <p:nvPr/>
        </p:nvSpPr>
        <p:spPr>
          <a:xfrm>
            <a:off x="9966960" y="2743200"/>
            <a:ext cx="146304" cy="9601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400"/>
              <a:buFont typeface="Cambria"/>
              <a:buNone/>
            </a:pPr>
            <a:r>
              <a:rPr b="0" i="0" lang="en-US" sz="1400" u="none" cap="none" strike="noStrike">
                <a:solidFill>
                  <a:srgbClr val="5A6B78"/>
                </a:solidFill>
                <a:latin typeface="Cambria"/>
                <a:ea typeface="Cambria"/>
                <a:cs typeface="Cambria"/>
                <a:sym typeface="Cambria"/>
              </a:rPr>
              <a:t>→</a:t>
            </a:r>
            <a:endParaRPr b="0" i="0" sz="1400" u="none" cap="none" strike="noStrike">
              <a:solidFill>
                <a:schemeClr val="dk1"/>
              </a:solidFill>
              <a:latin typeface="Calibri"/>
              <a:ea typeface="Calibri"/>
              <a:cs typeface="Calibri"/>
              <a:sym typeface="Calibri"/>
            </a:endParaRPr>
          </a:p>
        </p:txBody>
      </p:sp>
      <p:sp>
        <p:nvSpPr>
          <p:cNvPr id="465" name="Google Shape;465;p20"/>
          <p:cNvSpPr/>
          <p:nvPr/>
        </p:nvSpPr>
        <p:spPr>
          <a:xfrm>
            <a:off x="10094976" y="2743200"/>
            <a:ext cx="1481328" cy="960120"/>
          </a:xfrm>
          <a:prstGeom prst="roundRect">
            <a:avLst>
              <a:gd fmla="val 7619" name="adj"/>
            </a:avLst>
          </a:prstGeom>
          <a:solidFill>
            <a:srgbClr val="28543F"/>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0"/>
          <p:cNvSpPr/>
          <p:nvPr/>
        </p:nvSpPr>
        <p:spPr>
          <a:xfrm>
            <a:off x="10094976" y="2743200"/>
            <a:ext cx="1481328" cy="9601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Humaneness</a:t>
            </a:r>
            <a:endParaRPr b="0" i="0" sz="1100" u="none" cap="none" strike="noStrike">
              <a:solidFill>
                <a:schemeClr val="dk1"/>
              </a:solidFill>
              <a:latin typeface="Calibri"/>
              <a:ea typeface="Calibri"/>
              <a:cs typeface="Calibri"/>
              <a:sym typeface="Calibri"/>
            </a:endParaRPr>
          </a:p>
        </p:txBody>
      </p:sp>
      <p:sp>
        <p:nvSpPr>
          <p:cNvPr id="467" name="Google Shape;467;p20"/>
          <p:cNvSpPr/>
          <p:nvPr/>
        </p:nvSpPr>
        <p:spPr>
          <a:xfrm>
            <a:off x="548640" y="3794760"/>
            <a:ext cx="10972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8543F"/>
              </a:buClr>
              <a:buSzPts val="1200"/>
              <a:buFont typeface="Calibri"/>
              <a:buNone/>
            </a:pPr>
            <a:r>
              <a:rPr b="0" i="1" lang="en-US" sz="1200" u="none" cap="none" strike="noStrike">
                <a:solidFill>
                  <a:srgbClr val="28543F"/>
                </a:solidFill>
                <a:latin typeface="Calibri"/>
                <a:ea typeface="Calibri"/>
                <a:cs typeface="Calibri"/>
                <a:sym typeface="Calibri"/>
              </a:rPr>
              <a:t>↺  humaneness gives rise to sociality — meaningful when it is toward undivided sociality</a:t>
            </a:r>
            <a:endParaRPr b="0" i="0" sz="1200" u="none" cap="none" strike="noStrike">
              <a:solidFill>
                <a:schemeClr val="dk1"/>
              </a:solidFill>
              <a:latin typeface="Calibri"/>
              <a:ea typeface="Calibri"/>
              <a:cs typeface="Calibri"/>
              <a:sym typeface="Calibri"/>
            </a:endParaRPr>
          </a:p>
        </p:txBody>
      </p:sp>
      <p:sp>
        <p:nvSpPr>
          <p:cNvPr id="468" name="Google Shape;468;p20"/>
          <p:cNvSpPr/>
          <p:nvPr/>
        </p:nvSpPr>
        <p:spPr>
          <a:xfrm>
            <a:off x="548640" y="4389120"/>
            <a:ext cx="5440680" cy="1783080"/>
          </a:xfrm>
          <a:prstGeom prst="roundRect">
            <a:avLst>
              <a:gd fmla="val 3590" name="adj"/>
            </a:avLst>
          </a:prstGeom>
          <a:solidFill>
            <a:srgbClr val="F6F8FA"/>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20"/>
          <p:cNvSpPr/>
          <p:nvPr/>
        </p:nvSpPr>
        <p:spPr>
          <a:xfrm>
            <a:off x="822960" y="4572000"/>
            <a:ext cx="49377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450"/>
              <a:buFont typeface="Cambria"/>
              <a:buNone/>
            </a:pPr>
            <a:r>
              <a:rPr b="1" i="0" lang="en-US" sz="1450" u="none" cap="none" strike="noStrike">
                <a:solidFill>
                  <a:srgbClr val="28543F"/>
                </a:solidFill>
                <a:latin typeface="Cambria"/>
                <a:ea typeface="Cambria"/>
                <a:cs typeface="Cambria"/>
                <a:sym typeface="Cambria"/>
              </a:rPr>
              <a:t>Material prerequisite</a:t>
            </a:r>
            <a:endParaRPr b="0" i="0" sz="1450" u="none" cap="none" strike="noStrike">
              <a:solidFill>
                <a:schemeClr val="dk1"/>
              </a:solidFill>
              <a:latin typeface="Calibri"/>
              <a:ea typeface="Calibri"/>
              <a:cs typeface="Calibri"/>
              <a:sym typeface="Calibri"/>
            </a:endParaRPr>
          </a:p>
        </p:txBody>
      </p:sp>
      <p:sp>
        <p:nvSpPr>
          <p:cNvPr id="470" name="Google Shape;470;p20"/>
          <p:cNvSpPr/>
          <p:nvPr/>
        </p:nvSpPr>
        <p:spPr>
          <a:xfrm>
            <a:off x="822960" y="4983480"/>
            <a:ext cx="4937760" cy="10972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Prosperity requires more production than need. Awakening is evidenced only by right-use (sadupyog) conduct — otherwise decline is inevitable.</a:t>
            </a:r>
            <a:endParaRPr b="0" i="0" sz="1250" u="none" cap="none" strike="noStrike">
              <a:solidFill>
                <a:schemeClr val="dk1"/>
              </a:solidFill>
              <a:latin typeface="Calibri"/>
              <a:ea typeface="Calibri"/>
              <a:cs typeface="Calibri"/>
              <a:sym typeface="Calibri"/>
            </a:endParaRPr>
          </a:p>
        </p:txBody>
      </p:sp>
      <p:sp>
        <p:nvSpPr>
          <p:cNvPr id="471" name="Google Shape;471;p20"/>
          <p:cNvSpPr/>
          <p:nvPr/>
        </p:nvSpPr>
        <p:spPr>
          <a:xfrm>
            <a:off x="6172200" y="4389120"/>
            <a:ext cx="5440680" cy="1783080"/>
          </a:xfrm>
          <a:prstGeom prst="roundRect">
            <a:avLst>
              <a:gd fmla="val 3590" name="adj"/>
            </a:avLst>
          </a:prstGeom>
          <a:solidFill>
            <a:srgbClr val="E4F0EA"/>
          </a:solidFill>
          <a:ln>
            <a:noFill/>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20"/>
          <p:cNvSpPr/>
          <p:nvPr/>
        </p:nvSpPr>
        <p:spPr>
          <a:xfrm>
            <a:off x="6446520" y="4572000"/>
            <a:ext cx="49377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450"/>
              <a:buFont typeface="Cambria"/>
              <a:buNone/>
            </a:pPr>
            <a:r>
              <a:rPr b="1" i="0" lang="en-US" sz="1450" u="none" cap="none" strike="noStrike">
                <a:solidFill>
                  <a:srgbClr val="28543F"/>
                </a:solidFill>
                <a:latin typeface="Cambria"/>
                <a:ea typeface="Cambria"/>
                <a:cs typeface="Cambria"/>
                <a:sym typeface="Cambria"/>
              </a:rPr>
              <a:t>From accumulation to trust</a:t>
            </a:r>
            <a:endParaRPr b="0" i="0" sz="1450" u="none" cap="none" strike="noStrike">
              <a:solidFill>
                <a:schemeClr val="dk1"/>
              </a:solidFill>
              <a:latin typeface="Calibri"/>
              <a:ea typeface="Calibri"/>
              <a:cs typeface="Calibri"/>
              <a:sym typeface="Calibri"/>
            </a:endParaRPr>
          </a:p>
        </p:txBody>
      </p:sp>
      <p:sp>
        <p:nvSpPr>
          <p:cNvPr id="473" name="Google Shape;473;p20"/>
          <p:cNvSpPr/>
          <p:nvPr/>
        </p:nvSpPr>
        <p:spPr>
          <a:xfrm>
            <a:off x="6446520" y="4983480"/>
            <a:ext cx="4937760" cy="11430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3F4D57"/>
              </a:buClr>
              <a:buSzPts val="1200"/>
              <a:buFont typeface="Calibri"/>
              <a:buNone/>
            </a:pPr>
            <a:r>
              <a:rPr b="0" i="0" lang="en-US" sz="1200" u="none" cap="none" strike="noStrike">
                <a:solidFill>
                  <a:srgbClr val="3F4D57"/>
                </a:solidFill>
                <a:latin typeface="Calibri"/>
                <a:ea typeface="Calibri"/>
                <a:cs typeface="Calibri"/>
                <a:sym typeface="Calibri"/>
              </a:rPr>
              <a:t>Borders and divisions are driven by fear of scarcity and group accumulation (sangraha). Surplus dedicated to right-use turns accumulation into trust and mutual distribution (a-sangraha) — neutralising the economic motive for division.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8" name="Shape 478"/>
        <p:cNvGrpSpPr/>
        <p:nvPr/>
      </p:nvGrpSpPr>
      <p:grpSpPr>
        <a:xfrm>
          <a:off x="0" y="0"/>
          <a:ext cx="0" cy="0"/>
          <a:chOff x="0" y="0"/>
          <a:chExt cx="0" cy="0"/>
        </a:xfrm>
      </p:grpSpPr>
      <p:sp>
        <p:nvSpPr>
          <p:cNvPr id="479" name="Google Shape;479;p21"/>
          <p:cNvSpPr/>
          <p:nvPr/>
        </p:nvSpPr>
        <p:spPr>
          <a:xfrm>
            <a:off x="548640" y="475488"/>
            <a:ext cx="457200" cy="457200"/>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1"/>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4</a:t>
            </a:r>
            <a:endParaRPr b="0" i="0" sz="1900" u="none" cap="none" strike="noStrike">
              <a:solidFill>
                <a:schemeClr val="dk1"/>
              </a:solidFill>
              <a:latin typeface="Calibri"/>
              <a:ea typeface="Calibri"/>
              <a:cs typeface="Calibri"/>
              <a:sym typeface="Calibri"/>
            </a:endParaRPr>
          </a:p>
        </p:txBody>
      </p:sp>
      <p:sp>
        <p:nvSpPr>
          <p:cNvPr id="481" name="Google Shape;481;p21"/>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250"/>
              <a:buFont typeface="Calibri"/>
              <a:buNone/>
            </a:pPr>
            <a:r>
              <a:rPr b="1" i="0" lang="en-US" sz="1250" u="none" cap="none" strike="noStrike">
                <a:solidFill>
                  <a:srgbClr val="28543F"/>
                </a:solidFill>
                <a:latin typeface="Calibri"/>
                <a:ea typeface="Calibri"/>
                <a:cs typeface="Calibri"/>
                <a:sym typeface="Calibri"/>
              </a:rPr>
              <a:t>LAYER 4  ·  SOCIAL ESTABLISHMENT</a:t>
            </a:r>
            <a:endParaRPr b="0" i="0" sz="1250" u="none" cap="none" strike="noStrike">
              <a:solidFill>
                <a:schemeClr val="dk1"/>
              </a:solidFill>
              <a:latin typeface="Calibri"/>
              <a:ea typeface="Calibri"/>
              <a:cs typeface="Calibri"/>
              <a:sym typeface="Calibri"/>
            </a:endParaRPr>
          </a:p>
        </p:txBody>
      </p:sp>
      <p:sp>
        <p:nvSpPr>
          <p:cNvPr id="482" name="Google Shape;482;p21"/>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3100"/>
              <a:buFont typeface="Cambria"/>
              <a:buNone/>
            </a:pPr>
            <a:r>
              <a:rPr b="1" i="0" lang="en-US" sz="3100" u="none" cap="none" strike="noStrike">
                <a:solidFill>
                  <a:srgbClr val="28543F"/>
                </a:solidFill>
                <a:latin typeface="Cambria"/>
                <a:ea typeface="Cambria"/>
                <a:cs typeface="Cambria"/>
                <a:sym typeface="Cambria"/>
              </a:rPr>
              <a:t>Four human goals, jointly evidenced</a:t>
            </a:r>
            <a:endParaRPr b="0" i="0" sz="3100" u="none" cap="none" strike="noStrike">
              <a:solidFill>
                <a:schemeClr val="dk1"/>
              </a:solidFill>
              <a:latin typeface="Calibri"/>
              <a:ea typeface="Calibri"/>
              <a:cs typeface="Calibri"/>
              <a:sym typeface="Calibri"/>
            </a:endParaRPr>
          </a:p>
        </p:txBody>
      </p:sp>
      <p:sp>
        <p:nvSpPr>
          <p:cNvPr id="483" name="Google Shape;483;p21"/>
          <p:cNvSpPr/>
          <p:nvPr/>
        </p:nvSpPr>
        <p:spPr>
          <a:xfrm>
            <a:off x="548640" y="1737360"/>
            <a:ext cx="11064240" cy="5486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The four goals are joint human telos, evidenced together when the justice cycle closes. They map to jeevan's harmonies across levels of existence.</a:t>
            </a:r>
            <a:endParaRPr b="0" i="0" sz="1400" u="none" cap="none" strike="noStrike">
              <a:solidFill>
                <a:schemeClr val="dk1"/>
              </a:solidFill>
              <a:latin typeface="Calibri"/>
              <a:ea typeface="Calibri"/>
              <a:cs typeface="Calibri"/>
              <a:sym typeface="Calibri"/>
            </a:endParaRPr>
          </a:p>
        </p:txBody>
      </p:sp>
      <p:graphicFrame>
        <p:nvGraphicFramePr>
          <p:cNvPr id="484" name="Google Shape;484;p21"/>
          <p:cNvGraphicFramePr/>
          <p:nvPr/>
        </p:nvGraphicFramePr>
        <p:xfrm>
          <a:off x="548640" y="2514600"/>
          <a:ext cx="3000000" cy="3000000"/>
        </p:xfrm>
        <a:graphic>
          <a:graphicData uri="http://schemas.openxmlformats.org/drawingml/2006/table">
            <a:tbl>
              <a:tblPr>
                <a:noFill/>
                <a:tableStyleId>{823F6527-06EA-4F18-B08A-21B734C330FC}</a:tableStyleId>
              </a:tblPr>
              <a:tblGrid>
                <a:gridCol w="2286000"/>
                <a:gridCol w="2651750"/>
                <a:gridCol w="2468875"/>
              </a:tblGrid>
              <a:tr h="658375">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Level of existence</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8543F"/>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Human goal</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8543F"/>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Manifested harmony (jeevan value)</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8543F"/>
                    </a:solidFill>
                  </a:tcPr>
                </a:tc>
              </a:tr>
              <a:tr h="658375">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Individual</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Resolution (samadhan)</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Happiness (sukh)</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658375">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Family</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Prosperity (samridhi)</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Peace (shanti)</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658375">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Society</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Fearlessness / trust (abhaya)</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Contentment (santosh)</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658375">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Nature / existence</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Coexistence (saha-astitva)</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300"/>
                        <a:buFont typeface="Calibri"/>
                        <a:buNone/>
                      </a:pPr>
                      <a:r>
                        <a:rPr lang="en-US" sz="1300" u="none" cap="none" strike="noStrike">
                          <a:solidFill>
                            <a:srgbClr val="2A3640"/>
                          </a:solidFill>
                          <a:latin typeface="Calibri"/>
                          <a:ea typeface="Calibri"/>
                          <a:cs typeface="Calibri"/>
                          <a:sym typeface="Calibri"/>
                        </a:rPr>
                        <a:t>Bliss (anand)</a:t>
                      </a:r>
                      <a:endParaRPr sz="13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bl>
          </a:graphicData>
        </a:graphic>
      </p:graphicFrame>
      <p:sp>
        <p:nvSpPr>
          <p:cNvPr id="485" name="Google Shape;485;p21"/>
          <p:cNvSpPr/>
          <p:nvPr/>
        </p:nvSpPr>
        <p:spPr>
          <a:xfrm>
            <a:off x="8183880" y="2514600"/>
            <a:ext cx="3429000" cy="3291840"/>
          </a:xfrm>
          <a:prstGeom prst="roundRect">
            <a:avLst>
              <a:gd fmla="val 2222" name="adj"/>
            </a:avLst>
          </a:prstGeom>
          <a:solidFill>
            <a:srgbClr val="F6F8FA"/>
          </a:solidFill>
          <a:ln cap="flat" cmpd="sng" w="12700">
            <a:solidFill>
              <a:srgbClr val="28543F"/>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1"/>
          <p:cNvSpPr/>
          <p:nvPr/>
        </p:nvSpPr>
        <p:spPr>
          <a:xfrm>
            <a:off x="8229600" y="2496312"/>
            <a:ext cx="7315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4800"/>
              <a:buFont typeface="Cambria"/>
              <a:buNone/>
            </a:pPr>
            <a:r>
              <a:rPr b="1" i="0" lang="en-US" sz="4800" u="none" cap="none" strike="noStrike">
                <a:solidFill>
                  <a:srgbClr val="28543F"/>
                </a:solidFill>
                <a:latin typeface="Cambria"/>
                <a:ea typeface="Cambria"/>
                <a:cs typeface="Cambria"/>
                <a:sym typeface="Cambria"/>
              </a:rPr>
              <a:t>“</a:t>
            </a:r>
            <a:endParaRPr b="0" i="0" sz="4800" u="none" cap="none" strike="noStrike">
              <a:solidFill>
                <a:schemeClr val="dk1"/>
              </a:solidFill>
              <a:latin typeface="Calibri"/>
              <a:ea typeface="Calibri"/>
              <a:cs typeface="Calibri"/>
              <a:sym typeface="Calibri"/>
            </a:endParaRPr>
          </a:p>
        </p:txBody>
      </p:sp>
      <p:sp>
        <p:nvSpPr>
          <p:cNvPr id="487" name="Google Shape;487;p21"/>
          <p:cNvSpPr/>
          <p:nvPr/>
        </p:nvSpPr>
        <p:spPr>
          <a:xfrm>
            <a:off x="8686800" y="2679192"/>
            <a:ext cx="2651760" cy="29626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F2D3A"/>
              </a:buClr>
              <a:buSzPts val="1450"/>
              <a:buFont typeface="Cambria"/>
              <a:buNone/>
            </a:pPr>
            <a:r>
              <a:rPr b="0" i="1" lang="en-US" sz="1450" u="none" cap="none" strike="noStrike">
                <a:solidFill>
                  <a:srgbClr val="1F2D3A"/>
                </a:solidFill>
                <a:latin typeface="Cambria"/>
                <a:ea typeface="Cambria"/>
                <a:cs typeface="Cambria"/>
                <a:sym typeface="Cambria"/>
              </a:rPr>
              <a:t>The goal of jeevan is happiness, and the human goal is resolution, prosperity, fearlessness, and coexistence. Resolution = happiness; we realise happiness wherever we are resolved.</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450"/>
              <a:buFont typeface="Calibri"/>
              <a:buNone/>
            </a:pPr>
            <a:r>
              <a:t/>
            </a:r>
            <a:endParaRPr b="0" i="0" sz="145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28543F"/>
              </a:buClr>
              <a:buSzPts val="1150"/>
              <a:buFont typeface="Calibri"/>
              <a:buNone/>
            </a:pPr>
            <a:r>
              <a:rPr b="1" i="0" lang="en-US" sz="1150" u="none" cap="none" strike="noStrike">
                <a:solidFill>
                  <a:srgbClr val="28543F"/>
                </a:solidFill>
                <a:latin typeface="Calibri"/>
                <a:ea typeface="Calibri"/>
                <a:cs typeface="Calibri"/>
                <a:sym typeface="Calibri"/>
              </a:rPr>
              <a:t>— JV, pp. 61, 165</a:t>
            </a:r>
            <a:endParaRPr b="0" i="0" sz="1450" u="none" cap="none" strike="noStrike">
              <a:solidFill>
                <a:schemeClr val="dk1"/>
              </a:solidFill>
              <a:latin typeface="Calibri"/>
              <a:ea typeface="Calibri"/>
              <a:cs typeface="Calibri"/>
              <a:sym typeface="Calibri"/>
            </a:endParaRPr>
          </a:p>
        </p:txBody>
      </p:sp>
      <p:sp>
        <p:nvSpPr>
          <p:cNvPr id="488" name="Google Shape;488;p21"/>
          <p:cNvSpPr/>
          <p:nvPr/>
        </p:nvSpPr>
        <p:spPr>
          <a:xfrm>
            <a:off x="548640" y="6035040"/>
            <a:ext cx="74066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8"/>
              </a:buClr>
              <a:buSzPts val="1000"/>
              <a:buFont typeface="Calibri"/>
              <a:buNone/>
            </a:pPr>
            <a:r>
              <a:rPr b="0" i="1" lang="en-US" sz="1000" u="none" cap="none" strike="noStrike">
                <a:solidFill>
                  <a:srgbClr val="5A6B78"/>
                </a:solidFill>
                <a:latin typeface="Calibri"/>
                <a:ea typeface="Calibri"/>
                <a:cs typeface="Calibri"/>
                <a:sym typeface="Calibri"/>
              </a:rPr>
              <a:t>Synthesis from JV's separate statements of goals and harmonies — not presented as a single table in the source.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22"/>
          <p:cNvSpPr/>
          <p:nvPr/>
        </p:nvSpPr>
        <p:spPr>
          <a:xfrm>
            <a:off x="548640" y="475488"/>
            <a:ext cx="457200" cy="457200"/>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2"/>
          <p:cNvSpPr/>
          <p:nvPr/>
        </p:nvSpPr>
        <p:spPr>
          <a:xfrm>
            <a:off x="548640" y="47548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Cambria"/>
              <a:buNone/>
            </a:pPr>
            <a:r>
              <a:rPr b="1" i="0" lang="en-US" sz="1900" u="none" cap="none" strike="noStrike">
                <a:solidFill>
                  <a:srgbClr val="FFFFFF"/>
                </a:solidFill>
                <a:latin typeface="Cambria"/>
                <a:ea typeface="Cambria"/>
                <a:cs typeface="Cambria"/>
                <a:sym typeface="Cambria"/>
              </a:rPr>
              <a:t>4</a:t>
            </a:r>
            <a:endParaRPr b="0" i="0" sz="1900" u="none" cap="none" strike="noStrike">
              <a:solidFill>
                <a:schemeClr val="dk1"/>
              </a:solidFill>
              <a:latin typeface="Calibri"/>
              <a:ea typeface="Calibri"/>
              <a:cs typeface="Calibri"/>
              <a:sym typeface="Calibri"/>
            </a:endParaRPr>
          </a:p>
        </p:txBody>
      </p:sp>
      <p:sp>
        <p:nvSpPr>
          <p:cNvPr id="496" name="Google Shape;496;p22"/>
          <p:cNvSpPr/>
          <p:nvPr/>
        </p:nvSpPr>
        <p:spPr>
          <a:xfrm>
            <a:off x="1115568" y="475488"/>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250"/>
              <a:buFont typeface="Calibri"/>
              <a:buNone/>
            </a:pPr>
            <a:r>
              <a:rPr b="1" i="0" lang="en-US" sz="1250" u="none" cap="none" strike="noStrike">
                <a:solidFill>
                  <a:srgbClr val="28543F"/>
                </a:solidFill>
                <a:latin typeface="Calibri"/>
                <a:ea typeface="Calibri"/>
                <a:cs typeface="Calibri"/>
                <a:sym typeface="Calibri"/>
              </a:rPr>
              <a:t>LAYER 4  ·  SOCIAL ESTABLISHMENT</a:t>
            </a:r>
            <a:endParaRPr b="0" i="0" sz="1250" u="none" cap="none" strike="noStrike">
              <a:solidFill>
                <a:schemeClr val="dk1"/>
              </a:solidFill>
              <a:latin typeface="Calibri"/>
              <a:ea typeface="Calibri"/>
              <a:cs typeface="Calibri"/>
              <a:sym typeface="Calibri"/>
            </a:endParaRPr>
          </a:p>
        </p:txBody>
      </p:sp>
      <p:sp>
        <p:nvSpPr>
          <p:cNvPr id="497" name="Google Shape;497;p22"/>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3100"/>
              <a:buFont typeface="Cambria"/>
              <a:buNone/>
            </a:pPr>
            <a:r>
              <a:rPr b="1" i="0" lang="en-US" sz="3100" u="none" cap="none" strike="noStrike">
                <a:solidFill>
                  <a:srgbClr val="28543F"/>
                </a:solidFill>
                <a:latin typeface="Cambria"/>
                <a:ea typeface="Cambria"/>
                <a:cs typeface="Cambria"/>
                <a:sym typeface="Cambria"/>
              </a:rPr>
              <a:t>Composing upward — and the five dimensions</a:t>
            </a:r>
            <a:endParaRPr b="0" i="0" sz="3100" u="none" cap="none" strike="noStrike">
              <a:solidFill>
                <a:schemeClr val="dk1"/>
              </a:solidFill>
              <a:latin typeface="Calibri"/>
              <a:ea typeface="Calibri"/>
              <a:cs typeface="Calibri"/>
              <a:sym typeface="Calibri"/>
            </a:endParaRPr>
          </a:p>
        </p:txBody>
      </p:sp>
      <p:sp>
        <p:nvSpPr>
          <p:cNvPr id="498" name="Google Shape;498;p22"/>
          <p:cNvSpPr/>
          <p:nvPr/>
        </p:nvSpPr>
        <p:spPr>
          <a:xfrm>
            <a:off x="548640" y="1755648"/>
            <a:ext cx="5486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1600"/>
              <a:buFont typeface="Cambria"/>
              <a:buNone/>
            </a:pPr>
            <a:r>
              <a:rPr b="1" i="0" lang="en-US" sz="1600" u="none" cap="none" strike="noStrike">
                <a:solidFill>
                  <a:srgbClr val="1F2D3A"/>
                </a:solidFill>
                <a:latin typeface="Cambria"/>
                <a:ea typeface="Cambria"/>
                <a:cs typeface="Cambria"/>
                <a:sym typeface="Cambria"/>
              </a:rPr>
              <a:t>Assembly composition</a:t>
            </a:r>
            <a:endParaRPr b="0" i="0" sz="1600" u="none" cap="none" strike="noStrike">
              <a:solidFill>
                <a:schemeClr val="dk1"/>
              </a:solidFill>
              <a:latin typeface="Calibri"/>
              <a:ea typeface="Calibri"/>
              <a:cs typeface="Calibri"/>
              <a:sym typeface="Calibri"/>
            </a:endParaRPr>
          </a:p>
        </p:txBody>
      </p:sp>
      <p:sp>
        <p:nvSpPr>
          <p:cNvPr id="499" name="Google Shape;499;p22"/>
          <p:cNvSpPr/>
          <p:nvPr/>
        </p:nvSpPr>
        <p:spPr>
          <a:xfrm>
            <a:off x="548640" y="2240280"/>
            <a:ext cx="4572000" cy="502920"/>
          </a:xfrm>
          <a:prstGeom prst="roundRect">
            <a:avLst>
              <a:gd fmla="val 10909" name="adj"/>
            </a:avLst>
          </a:prstGeom>
          <a:solidFill>
            <a:srgbClr val="28543F">
              <a:alpha val="70196"/>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2"/>
          <p:cNvSpPr/>
          <p:nvPr/>
        </p:nvSpPr>
        <p:spPr>
          <a:xfrm>
            <a:off x="777240" y="2240280"/>
            <a:ext cx="4206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Individual</a:t>
            </a:r>
            <a:endParaRPr b="0" i="0" sz="1250" u="none" cap="none" strike="noStrike">
              <a:solidFill>
                <a:schemeClr val="dk1"/>
              </a:solidFill>
              <a:latin typeface="Calibri"/>
              <a:ea typeface="Calibri"/>
              <a:cs typeface="Calibri"/>
              <a:sym typeface="Calibri"/>
            </a:endParaRPr>
          </a:p>
        </p:txBody>
      </p:sp>
      <p:sp>
        <p:nvSpPr>
          <p:cNvPr id="501" name="Google Shape;501;p22"/>
          <p:cNvSpPr/>
          <p:nvPr/>
        </p:nvSpPr>
        <p:spPr>
          <a:xfrm>
            <a:off x="777240" y="2807208"/>
            <a:ext cx="4572000" cy="502920"/>
          </a:xfrm>
          <a:prstGeom prst="roundRect">
            <a:avLst>
              <a:gd fmla="val 10909" name="adj"/>
            </a:avLst>
          </a:prstGeom>
          <a:solidFill>
            <a:srgbClr val="28543F">
              <a:alpha val="7686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22"/>
          <p:cNvSpPr/>
          <p:nvPr/>
        </p:nvSpPr>
        <p:spPr>
          <a:xfrm>
            <a:off x="1005840" y="2807208"/>
            <a:ext cx="4206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Family</a:t>
            </a:r>
            <a:endParaRPr b="0" i="0" sz="1250" u="none" cap="none" strike="noStrike">
              <a:solidFill>
                <a:schemeClr val="dk1"/>
              </a:solidFill>
              <a:latin typeface="Calibri"/>
              <a:ea typeface="Calibri"/>
              <a:cs typeface="Calibri"/>
              <a:sym typeface="Calibri"/>
            </a:endParaRPr>
          </a:p>
        </p:txBody>
      </p:sp>
      <p:sp>
        <p:nvSpPr>
          <p:cNvPr id="503" name="Google Shape;503;p22"/>
          <p:cNvSpPr/>
          <p:nvPr/>
        </p:nvSpPr>
        <p:spPr>
          <a:xfrm>
            <a:off x="1005840" y="3374136"/>
            <a:ext cx="4572000" cy="502920"/>
          </a:xfrm>
          <a:prstGeom prst="roundRect">
            <a:avLst>
              <a:gd fmla="val 10909" name="adj"/>
            </a:avLst>
          </a:prstGeom>
          <a:solidFill>
            <a:srgbClr val="28543F">
              <a:alpha val="8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2"/>
          <p:cNvSpPr/>
          <p:nvPr/>
        </p:nvSpPr>
        <p:spPr>
          <a:xfrm>
            <a:off x="1234440" y="3374136"/>
            <a:ext cx="4206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Community</a:t>
            </a:r>
            <a:endParaRPr b="0" i="0" sz="1250" u="none" cap="none" strike="noStrike">
              <a:solidFill>
                <a:schemeClr val="dk1"/>
              </a:solidFill>
              <a:latin typeface="Calibri"/>
              <a:ea typeface="Calibri"/>
              <a:cs typeface="Calibri"/>
              <a:sym typeface="Calibri"/>
            </a:endParaRPr>
          </a:p>
        </p:txBody>
      </p:sp>
      <p:sp>
        <p:nvSpPr>
          <p:cNvPr id="505" name="Google Shape;505;p22"/>
          <p:cNvSpPr/>
          <p:nvPr/>
        </p:nvSpPr>
        <p:spPr>
          <a:xfrm>
            <a:off x="1234440" y="3941064"/>
            <a:ext cx="4572000" cy="502920"/>
          </a:xfrm>
          <a:prstGeom prst="roundRect">
            <a:avLst>
              <a:gd fmla="val 10909" name="adj"/>
            </a:avLst>
          </a:prstGeom>
          <a:solidFill>
            <a:srgbClr val="28543F">
              <a:alpha val="90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22"/>
          <p:cNvSpPr/>
          <p:nvPr/>
        </p:nvSpPr>
        <p:spPr>
          <a:xfrm>
            <a:off x="1463040" y="3941064"/>
            <a:ext cx="4206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Undivided society</a:t>
            </a:r>
            <a:endParaRPr b="0" i="0" sz="1250" u="none" cap="none" strike="noStrike">
              <a:solidFill>
                <a:schemeClr val="dk1"/>
              </a:solidFill>
              <a:latin typeface="Calibri"/>
              <a:ea typeface="Calibri"/>
              <a:cs typeface="Calibri"/>
              <a:sym typeface="Calibri"/>
            </a:endParaRPr>
          </a:p>
        </p:txBody>
      </p:sp>
      <p:sp>
        <p:nvSpPr>
          <p:cNvPr id="507" name="Google Shape;507;p22"/>
          <p:cNvSpPr/>
          <p:nvPr/>
        </p:nvSpPr>
        <p:spPr>
          <a:xfrm>
            <a:off x="548640" y="4663440"/>
            <a:ext cx="5394960" cy="13716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3F4D57"/>
              </a:buClr>
              <a:buSzPts val="1250"/>
              <a:buFont typeface="Calibri"/>
              <a:buNone/>
            </a:pPr>
            <a:r>
              <a:rPr b="0" i="0" lang="en-US" sz="1250" u="none" cap="none" strike="noStrike">
                <a:solidFill>
                  <a:srgbClr val="3F4D57"/>
                </a:solidFill>
                <a:latin typeface="Calibri"/>
                <a:ea typeface="Calibri"/>
                <a:cs typeface="Calibri"/>
                <a:sym typeface="Calibri"/>
              </a:rPr>
              <a:t>Establishing akhand samaj is transmutation, not abolition: as humans within a sect awaken, the same assembly reorganises under humaneness — sect-based samaj becomes completeness-oriented sampradaya.</a:t>
            </a:r>
            <a:endParaRPr b="0" i="0" sz="1250" u="none" cap="none" strike="noStrike">
              <a:solidFill>
                <a:schemeClr val="dk1"/>
              </a:solidFill>
              <a:latin typeface="Calibri"/>
              <a:ea typeface="Calibri"/>
              <a:cs typeface="Calibri"/>
              <a:sym typeface="Calibri"/>
            </a:endParaRPr>
          </a:p>
        </p:txBody>
      </p:sp>
      <p:sp>
        <p:nvSpPr>
          <p:cNvPr id="508" name="Google Shape;508;p22"/>
          <p:cNvSpPr/>
          <p:nvPr/>
        </p:nvSpPr>
        <p:spPr>
          <a:xfrm>
            <a:off x="6263640" y="1755648"/>
            <a:ext cx="5349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1600"/>
              <a:buFont typeface="Cambria"/>
              <a:buNone/>
            </a:pPr>
            <a:r>
              <a:rPr b="1" i="0" lang="en-US" sz="1600" u="none" cap="none" strike="noStrike">
                <a:solidFill>
                  <a:srgbClr val="1F2D3A"/>
                </a:solidFill>
                <a:latin typeface="Cambria"/>
                <a:ea typeface="Cambria"/>
                <a:cs typeface="Cambria"/>
                <a:sym typeface="Cambria"/>
              </a:rPr>
              <a:t>Five dimensions of universal orderliness</a:t>
            </a:r>
            <a:endParaRPr b="0" i="0" sz="1600" u="none" cap="none" strike="noStrike">
              <a:solidFill>
                <a:schemeClr val="dk1"/>
              </a:solidFill>
              <a:latin typeface="Calibri"/>
              <a:ea typeface="Calibri"/>
              <a:cs typeface="Calibri"/>
              <a:sym typeface="Calibri"/>
            </a:endParaRPr>
          </a:p>
        </p:txBody>
      </p:sp>
      <p:sp>
        <p:nvSpPr>
          <p:cNvPr id="509" name="Google Shape;509;p22"/>
          <p:cNvSpPr/>
          <p:nvPr/>
        </p:nvSpPr>
        <p:spPr>
          <a:xfrm>
            <a:off x="6263640" y="2286000"/>
            <a:ext cx="5349240" cy="566928"/>
          </a:xfrm>
          <a:prstGeom prst="roundRect">
            <a:avLst>
              <a:gd fmla="val 9677"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2"/>
          <p:cNvSpPr/>
          <p:nvPr/>
        </p:nvSpPr>
        <p:spPr>
          <a:xfrm>
            <a:off x="6400800" y="2404872"/>
            <a:ext cx="329184" cy="329184"/>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2"/>
          <p:cNvSpPr/>
          <p:nvPr/>
        </p:nvSpPr>
        <p:spPr>
          <a:xfrm>
            <a:off x="6400800" y="240487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1</a:t>
            </a:r>
            <a:endParaRPr b="0" i="0" sz="1200" u="none" cap="none" strike="noStrike">
              <a:solidFill>
                <a:schemeClr val="dk1"/>
              </a:solidFill>
              <a:latin typeface="Calibri"/>
              <a:ea typeface="Calibri"/>
              <a:cs typeface="Calibri"/>
              <a:sym typeface="Calibri"/>
            </a:endParaRPr>
          </a:p>
        </p:txBody>
      </p:sp>
      <p:sp>
        <p:nvSpPr>
          <p:cNvPr id="512" name="Google Shape;512;p22"/>
          <p:cNvSpPr/>
          <p:nvPr/>
        </p:nvSpPr>
        <p:spPr>
          <a:xfrm>
            <a:off x="6858000" y="2286000"/>
            <a:ext cx="45720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300"/>
              <a:buFont typeface="Calibri"/>
              <a:buNone/>
            </a:pPr>
            <a:r>
              <a:rPr b="1" i="0" lang="en-US" sz="1300" u="none" cap="none" strike="noStrike">
                <a:solidFill>
                  <a:srgbClr val="28543F"/>
                </a:solidFill>
                <a:latin typeface="Calibri"/>
                <a:ea typeface="Calibri"/>
                <a:cs typeface="Calibri"/>
                <a:sym typeface="Calibri"/>
              </a:rPr>
              <a:t>Education–sanskar</a:t>
            </a:r>
            <a:endParaRPr b="0" i="0" sz="1300" u="none" cap="none" strike="noStrike">
              <a:solidFill>
                <a:schemeClr val="dk1"/>
              </a:solidFill>
              <a:latin typeface="Calibri"/>
              <a:ea typeface="Calibri"/>
              <a:cs typeface="Calibri"/>
              <a:sym typeface="Calibri"/>
            </a:endParaRPr>
          </a:p>
        </p:txBody>
      </p:sp>
      <p:sp>
        <p:nvSpPr>
          <p:cNvPr id="513" name="Google Shape;513;p22"/>
          <p:cNvSpPr/>
          <p:nvPr/>
        </p:nvSpPr>
        <p:spPr>
          <a:xfrm>
            <a:off x="6263640" y="2944368"/>
            <a:ext cx="5349240" cy="566928"/>
          </a:xfrm>
          <a:prstGeom prst="roundRect">
            <a:avLst>
              <a:gd fmla="val 9677" name="adj"/>
            </a:avLst>
          </a:prstGeom>
          <a:solidFill>
            <a:srgbClr val="F6F8F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2"/>
          <p:cNvSpPr/>
          <p:nvPr/>
        </p:nvSpPr>
        <p:spPr>
          <a:xfrm>
            <a:off x="6400800" y="3063240"/>
            <a:ext cx="329184" cy="329184"/>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2"/>
          <p:cNvSpPr/>
          <p:nvPr/>
        </p:nvSpPr>
        <p:spPr>
          <a:xfrm>
            <a:off x="6400800" y="3063240"/>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2</a:t>
            </a:r>
            <a:endParaRPr b="0" i="0" sz="1200" u="none" cap="none" strike="noStrike">
              <a:solidFill>
                <a:schemeClr val="dk1"/>
              </a:solidFill>
              <a:latin typeface="Calibri"/>
              <a:ea typeface="Calibri"/>
              <a:cs typeface="Calibri"/>
              <a:sym typeface="Calibri"/>
            </a:endParaRPr>
          </a:p>
        </p:txBody>
      </p:sp>
      <p:sp>
        <p:nvSpPr>
          <p:cNvPr id="516" name="Google Shape;516;p22"/>
          <p:cNvSpPr/>
          <p:nvPr/>
        </p:nvSpPr>
        <p:spPr>
          <a:xfrm>
            <a:off x="6858000" y="2944368"/>
            <a:ext cx="45720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300"/>
              <a:buFont typeface="Calibri"/>
              <a:buNone/>
            </a:pPr>
            <a:r>
              <a:rPr b="1" i="0" lang="en-US" sz="1300" u="none" cap="none" strike="noStrike">
                <a:solidFill>
                  <a:srgbClr val="28543F"/>
                </a:solidFill>
                <a:latin typeface="Calibri"/>
                <a:ea typeface="Calibri"/>
                <a:cs typeface="Calibri"/>
                <a:sym typeface="Calibri"/>
              </a:rPr>
              <a:t>Justice–security</a:t>
            </a:r>
            <a:endParaRPr b="0" i="0" sz="1300" u="none" cap="none" strike="noStrike">
              <a:solidFill>
                <a:schemeClr val="dk1"/>
              </a:solidFill>
              <a:latin typeface="Calibri"/>
              <a:ea typeface="Calibri"/>
              <a:cs typeface="Calibri"/>
              <a:sym typeface="Calibri"/>
            </a:endParaRPr>
          </a:p>
        </p:txBody>
      </p:sp>
      <p:sp>
        <p:nvSpPr>
          <p:cNvPr id="517" name="Google Shape;517;p22"/>
          <p:cNvSpPr/>
          <p:nvPr/>
        </p:nvSpPr>
        <p:spPr>
          <a:xfrm>
            <a:off x="6263640" y="3602736"/>
            <a:ext cx="5349240" cy="566928"/>
          </a:xfrm>
          <a:prstGeom prst="roundRect">
            <a:avLst>
              <a:gd fmla="val 9677"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2"/>
          <p:cNvSpPr/>
          <p:nvPr/>
        </p:nvSpPr>
        <p:spPr>
          <a:xfrm>
            <a:off x="6400800" y="3721608"/>
            <a:ext cx="329184" cy="329184"/>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2"/>
          <p:cNvSpPr/>
          <p:nvPr/>
        </p:nvSpPr>
        <p:spPr>
          <a:xfrm>
            <a:off x="6400800" y="3721608"/>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3</a:t>
            </a:r>
            <a:endParaRPr b="0" i="0" sz="1200" u="none" cap="none" strike="noStrike">
              <a:solidFill>
                <a:schemeClr val="dk1"/>
              </a:solidFill>
              <a:latin typeface="Calibri"/>
              <a:ea typeface="Calibri"/>
              <a:cs typeface="Calibri"/>
              <a:sym typeface="Calibri"/>
            </a:endParaRPr>
          </a:p>
        </p:txBody>
      </p:sp>
      <p:sp>
        <p:nvSpPr>
          <p:cNvPr id="520" name="Google Shape;520;p22"/>
          <p:cNvSpPr/>
          <p:nvPr/>
        </p:nvSpPr>
        <p:spPr>
          <a:xfrm>
            <a:off x="6858000" y="3602736"/>
            <a:ext cx="45720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300"/>
              <a:buFont typeface="Calibri"/>
              <a:buNone/>
            </a:pPr>
            <a:r>
              <a:rPr b="1" i="0" lang="en-US" sz="1300" u="none" cap="none" strike="noStrike">
                <a:solidFill>
                  <a:srgbClr val="28543F"/>
                </a:solidFill>
                <a:latin typeface="Calibri"/>
                <a:ea typeface="Calibri"/>
                <a:cs typeface="Calibri"/>
                <a:sym typeface="Calibri"/>
              </a:rPr>
              <a:t>Health–restraint</a:t>
            </a:r>
            <a:endParaRPr b="0" i="0" sz="1300" u="none" cap="none" strike="noStrike">
              <a:solidFill>
                <a:schemeClr val="dk1"/>
              </a:solidFill>
              <a:latin typeface="Calibri"/>
              <a:ea typeface="Calibri"/>
              <a:cs typeface="Calibri"/>
              <a:sym typeface="Calibri"/>
            </a:endParaRPr>
          </a:p>
        </p:txBody>
      </p:sp>
      <p:sp>
        <p:nvSpPr>
          <p:cNvPr id="521" name="Google Shape;521;p22"/>
          <p:cNvSpPr/>
          <p:nvPr/>
        </p:nvSpPr>
        <p:spPr>
          <a:xfrm>
            <a:off x="6263640" y="4261104"/>
            <a:ext cx="5349240" cy="566928"/>
          </a:xfrm>
          <a:prstGeom prst="roundRect">
            <a:avLst>
              <a:gd fmla="val 9677" name="adj"/>
            </a:avLst>
          </a:prstGeom>
          <a:solidFill>
            <a:srgbClr val="F6F8F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22"/>
          <p:cNvSpPr/>
          <p:nvPr/>
        </p:nvSpPr>
        <p:spPr>
          <a:xfrm>
            <a:off x="6400800" y="4379976"/>
            <a:ext cx="329184" cy="329184"/>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22"/>
          <p:cNvSpPr/>
          <p:nvPr/>
        </p:nvSpPr>
        <p:spPr>
          <a:xfrm>
            <a:off x="6400800" y="4379976"/>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4</a:t>
            </a:r>
            <a:endParaRPr b="0" i="0" sz="1200" u="none" cap="none" strike="noStrike">
              <a:solidFill>
                <a:schemeClr val="dk1"/>
              </a:solidFill>
              <a:latin typeface="Calibri"/>
              <a:ea typeface="Calibri"/>
              <a:cs typeface="Calibri"/>
              <a:sym typeface="Calibri"/>
            </a:endParaRPr>
          </a:p>
        </p:txBody>
      </p:sp>
      <p:sp>
        <p:nvSpPr>
          <p:cNvPr id="524" name="Google Shape;524;p22"/>
          <p:cNvSpPr/>
          <p:nvPr/>
        </p:nvSpPr>
        <p:spPr>
          <a:xfrm>
            <a:off x="6858000" y="4261104"/>
            <a:ext cx="45720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300"/>
              <a:buFont typeface="Calibri"/>
              <a:buNone/>
            </a:pPr>
            <a:r>
              <a:rPr b="1" i="0" lang="en-US" sz="1300" u="none" cap="none" strike="noStrike">
                <a:solidFill>
                  <a:srgbClr val="28543F"/>
                </a:solidFill>
                <a:latin typeface="Calibri"/>
                <a:ea typeface="Calibri"/>
                <a:cs typeface="Calibri"/>
                <a:sym typeface="Calibri"/>
              </a:rPr>
              <a:t>Production–work</a:t>
            </a:r>
            <a:endParaRPr b="0" i="0" sz="1300" u="none" cap="none" strike="noStrike">
              <a:solidFill>
                <a:schemeClr val="dk1"/>
              </a:solidFill>
              <a:latin typeface="Calibri"/>
              <a:ea typeface="Calibri"/>
              <a:cs typeface="Calibri"/>
              <a:sym typeface="Calibri"/>
            </a:endParaRPr>
          </a:p>
        </p:txBody>
      </p:sp>
      <p:sp>
        <p:nvSpPr>
          <p:cNvPr id="525" name="Google Shape;525;p22"/>
          <p:cNvSpPr/>
          <p:nvPr/>
        </p:nvSpPr>
        <p:spPr>
          <a:xfrm>
            <a:off x="6263640" y="4919472"/>
            <a:ext cx="5349240" cy="566928"/>
          </a:xfrm>
          <a:prstGeom prst="roundRect">
            <a:avLst>
              <a:gd fmla="val 9677" name="adj"/>
            </a:avLst>
          </a:prstGeom>
          <a:solidFill>
            <a:srgbClr val="E4F0EA"/>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2"/>
          <p:cNvSpPr/>
          <p:nvPr/>
        </p:nvSpPr>
        <p:spPr>
          <a:xfrm>
            <a:off x="6400800" y="5038344"/>
            <a:ext cx="329184" cy="329184"/>
          </a:xfrm>
          <a:prstGeom prst="ellipse">
            <a:avLst/>
          </a:prstGeom>
          <a:solidFill>
            <a:srgbClr val="2854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2"/>
          <p:cNvSpPr/>
          <p:nvPr/>
        </p:nvSpPr>
        <p:spPr>
          <a:xfrm>
            <a:off x="6400800" y="5038344"/>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5</a:t>
            </a:r>
            <a:endParaRPr b="0" i="0" sz="1200" u="none" cap="none" strike="noStrike">
              <a:solidFill>
                <a:schemeClr val="dk1"/>
              </a:solidFill>
              <a:latin typeface="Calibri"/>
              <a:ea typeface="Calibri"/>
              <a:cs typeface="Calibri"/>
              <a:sym typeface="Calibri"/>
            </a:endParaRPr>
          </a:p>
        </p:txBody>
      </p:sp>
      <p:sp>
        <p:nvSpPr>
          <p:cNvPr id="528" name="Google Shape;528;p22"/>
          <p:cNvSpPr/>
          <p:nvPr/>
        </p:nvSpPr>
        <p:spPr>
          <a:xfrm>
            <a:off x="6858000" y="4919472"/>
            <a:ext cx="457200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300"/>
              <a:buFont typeface="Calibri"/>
              <a:buNone/>
            </a:pPr>
            <a:r>
              <a:rPr b="1" i="0" lang="en-US" sz="1300" u="none" cap="none" strike="noStrike">
                <a:solidFill>
                  <a:srgbClr val="28543F"/>
                </a:solidFill>
                <a:latin typeface="Calibri"/>
                <a:ea typeface="Calibri"/>
                <a:cs typeface="Calibri"/>
                <a:sym typeface="Calibri"/>
              </a:rPr>
              <a:t>Exchange–reserve</a:t>
            </a:r>
            <a:endParaRPr b="0" i="0" sz="1300" u="none" cap="none" strike="noStrike">
              <a:solidFill>
                <a:schemeClr val="dk1"/>
              </a:solidFill>
              <a:latin typeface="Calibri"/>
              <a:ea typeface="Calibri"/>
              <a:cs typeface="Calibri"/>
              <a:sym typeface="Calibri"/>
            </a:endParaRPr>
          </a:p>
        </p:txBody>
      </p:sp>
      <p:sp>
        <p:nvSpPr>
          <p:cNvPr id="529" name="Google Shape;529;p22"/>
          <p:cNvSpPr/>
          <p:nvPr/>
        </p:nvSpPr>
        <p:spPr>
          <a:xfrm>
            <a:off x="6263640" y="5623560"/>
            <a:ext cx="5349240"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5A6B78"/>
              </a:buClr>
              <a:buSzPts val="1150"/>
              <a:buFont typeface="Calibri"/>
              <a:buNone/>
            </a:pPr>
            <a:r>
              <a:rPr b="0" i="1" lang="en-US" sz="1150" u="none" cap="none" strike="noStrike">
                <a:solidFill>
                  <a:srgbClr val="5A6B78"/>
                </a:solidFill>
                <a:latin typeface="Calibri"/>
                <a:ea typeface="Calibri"/>
                <a:cs typeface="Calibri"/>
                <a:sym typeface="Calibri"/>
              </a:rPr>
              <a:t>Family is the first tier — kutumb shiksha is the micro-engine. The same body is sabha (council) in deliberation and parivar (family) in implementation, scaling to a world-family council.</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4" name="Shape 534"/>
        <p:cNvGrpSpPr/>
        <p:nvPr/>
      </p:nvGrpSpPr>
      <p:grpSpPr>
        <a:xfrm>
          <a:off x="0" y="0"/>
          <a:ext cx="0" cy="0"/>
          <a:chOff x="0" y="0"/>
          <a:chExt cx="0" cy="0"/>
        </a:xfrm>
      </p:grpSpPr>
      <p:sp>
        <p:nvSpPr>
          <p:cNvPr id="535" name="Google Shape;535;p23"/>
          <p:cNvSpPr/>
          <p:nvPr/>
        </p:nvSpPr>
        <p:spPr>
          <a:xfrm>
            <a:off x="548640" y="475488"/>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WHY IT HAS NOT CLOSED AT SCALE</a:t>
            </a:r>
            <a:endParaRPr b="0" i="0" sz="1250" u="none" cap="none" strike="noStrike">
              <a:solidFill>
                <a:schemeClr val="dk1"/>
              </a:solidFill>
              <a:latin typeface="Calibri"/>
              <a:ea typeface="Calibri"/>
              <a:cs typeface="Calibri"/>
              <a:sym typeface="Calibri"/>
            </a:endParaRPr>
          </a:p>
        </p:txBody>
      </p:sp>
      <p:sp>
        <p:nvSpPr>
          <p:cNvPr id="536" name="Google Shape;536;p23"/>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3100"/>
              <a:buFont typeface="Cambria"/>
              <a:buNone/>
            </a:pPr>
            <a:r>
              <a:rPr b="1" i="0" lang="en-US" sz="3100" u="none" cap="none" strike="noStrike">
                <a:solidFill>
                  <a:srgbClr val="1F2D3A"/>
                </a:solidFill>
                <a:latin typeface="Cambria"/>
                <a:ea typeface="Cambria"/>
                <a:cs typeface="Cambria"/>
                <a:sym typeface="Cambria"/>
              </a:rPr>
              <a:t>Two engines</a:t>
            </a:r>
            <a:endParaRPr b="0" i="0" sz="3100" u="none" cap="none" strike="noStrike">
              <a:solidFill>
                <a:schemeClr val="dk1"/>
              </a:solidFill>
              <a:latin typeface="Calibri"/>
              <a:ea typeface="Calibri"/>
              <a:cs typeface="Calibri"/>
              <a:sym typeface="Calibri"/>
            </a:endParaRPr>
          </a:p>
        </p:txBody>
      </p:sp>
      <p:sp>
        <p:nvSpPr>
          <p:cNvPr id="537" name="Google Shape;537;p23"/>
          <p:cNvSpPr/>
          <p:nvPr/>
        </p:nvSpPr>
        <p:spPr>
          <a:xfrm>
            <a:off x="548640" y="1737360"/>
            <a:ext cx="1106424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The texts contrast the deluded engine — which explains why undivided society has not closed at scale — with the awakening engine that establishes it when the gate opens.</a:t>
            </a:r>
            <a:endParaRPr b="0" i="0" sz="1400" u="none" cap="none" strike="noStrike">
              <a:solidFill>
                <a:schemeClr val="dk1"/>
              </a:solidFill>
              <a:latin typeface="Calibri"/>
              <a:ea typeface="Calibri"/>
              <a:cs typeface="Calibri"/>
              <a:sym typeface="Calibri"/>
            </a:endParaRPr>
          </a:p>
        </p:txBody>
      </p:sp>
      <p:sp>
        <p:nvSpPr>
          <p:cNvPr id="538" name="Google Shape;538;p23"/>
          <p:cNvSpPr/>
          <p:nvPr/>
        </p:nvSpPr>
        <p:spPr>
          <a:xfrm>
            <a:off x="548640" y="2651760"/>
            <a:ext cx="11064240" cy="1554480"/>
          </a:xfrm>
          <a:prstGeom prst="roundRect">
            <a:avLst>
              <a:gd fmla="val 4706" name="adj"/>
            </a:avLst>
          </a:prstGeom>
          <a:solidFill>
            <a:srgbClr val="F2E5E2"/>
          </a:solidFill>
          <a:ln cap="flat" cmpd="sng" w="12700">
            <a:solidFill>
              <a:srgbClr val="D9B6AC"/>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3"/>
          <p:cNvSpPr/>
          <p:nvPr/>
        </p:nvSpPr>
        <p:spPr>
          <a:xfrm>
            <a:off x="822960" y="283464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4030"/>
              </a:buClr>
              <a:buSzPts val="1500"/>
              <a:buFont typeface="Cambria"/>
              <a:buNone/>
            </a:pPr>
            <a:r>
              <a:rPr b="1" i="0" lang="en-US" sz="1500" u="none" cap="none" strike="noStrike">
                <a:solidFill>
                  <a:srgbClr val="8A4030"/>
                </a:solidFill>
                <a:latin typeface="Cambria"/>
                <a:ea typeface="Cambria"/>
                <a:cs typeface="Cambria"/>
                <a:sym typeface="Cambria"/>
              </a:rPr>
              <a:t>CURRENT (deluded)</a:t>
            </a:r>
            <a:endParaRPr b="0" i="0" sz="1500" u="none" cap="none" strike="noStrike">
              <a:solidFill>
                <a:schemeClr val="dk1"/>
              </a:solidFill>
              <a:latin typeface="Calibri"/>
              <a:ea typeface="Calibri"/>
              <a:cs typeface="Calibri"/>
              <a:sym typeface="Calibri"/>
            </a:endParaRPr>
          </a:p>
        </p:txBody>
      </p:sp>
      <p:sp>
        <p:nvSpPr>
          <p:cNvPr id="540" name="Google Shape;540;p23"/>
          <p:cNvSpPr/>
          <p:nvPr/>
        </p:nvSpPr>
        <p:spPr>
          <a:xfrm>
            <a:off x="3383280" y="3063240"/>
            <a:ext cx="1691640" cy="731520"/>
          </a:xfrm>
          <a:prstGeom prst="roundRect">
            <a:avLst>
              <a:gd fmla="val 10000" name="adj"/>
            </a:avLst>
          </a:prstGeom>
          <a:solidFill>
            <a:srgbClr val="FFFFFF"/>
          </a:solidFill>
          <a:ln cap="flat" cmpd="sng" w="12700">
            <a:solidFill>
              <a:srgbClr val="D9B6A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23"/>
          <p:cNvSpPr/>
          <p:nvPr/>
        </p:nvSpPr>
        <p:spPr>
          <a:xfrm>
            <a:off x="3383280" y="306324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8A4030"/>
              </a:buClr>
              <a:buSzPts val="1200"/>
              <a:buFont typeface="Calibri"/>
              <a:buNone/>
            </a:pPr>
            <a:r>
              <a:rPr b="1" i="0" lang="en-US" sz="1200" u="none" cap="none" strike="noStrike">
                <a:solidFill>
                  <a:srgbClr val="8A4030"/>
                </a:solidFill>
                <a:latin typeface="Calibri"/>
                <a:ea typeface="Calibri"/>
                <a:cs typeface="Calibri"/>
                <a:sym typeface="Calibri"/>
              </a:rPr>
              <a:t>Fear + temptation</a:t>
            </a:r>
            <a:endParaRPr b="0" i="0" sz="1200" u="none" cap="none" strike="noStrike">
              <a:solidFill>
                <a:schemeClr val="dk1"/>
              </a:solidFill>
              <a:latin typeface="Calibri"/>
              <a:ea typeface="Calibri"/>
              <a:cs typeface="Calibri"/>
              <a:sym typeface="Calibri"/>
            </a:endParaRPr>
          </a:p>
        </p:txBody>
      </p:sp>
      <p:sp>
        <p:nvSpPr>
          <p:cNvPr id="542" name="Google Shape;542;p23"/>
          <p:cNvSpPr/>
          <p:nvPr/>
        </p:nvSpPr>
        <p:spPr>
          <a:xfrm>
            <a:off x="5038344" y="3063240"/>
            <a:ext cx="292608"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07A6A"/>
              </a:buClr>
              <a:buSzPts val="1800"/>
              <a:buFont typeface="Cambria"/>
              <a:buNone/>
            </a:pPr>
            <a:r>
              <a:rPr b="0" i="0" lang="en-US" sz="1800" u="none" cap="none" strike="noStrike">
                <a:solidFill>
                  <a:srgbClr val="B07A6A"/>
                </a:solidFill>
                <a:latin typeface="Cambria"/>
                <a:ea typeface="Cambria"/>
                <a:cs typeface="Cambria"/>
                <a:sym typeface="Cambria"/>
              </a:rPr>
              <a:t>→</a:t>
            </a:r>
            <a:endParaRPr b="0" i="0" sz="1800" u="none" cap="none" strike="noStrike">
              <a:solidFill>
                <a:schemeClr val="dk1"/>
              </a:solidFill>
              <a:latin typeface="Calibri"/>
              <a:ea typeface="Calibri"/>
              <a:cs typeface="Calibri"/>
              <a:sym typeface="Calibri"/>
            </a:endParaRPr>
          </a:p>
        </p:txBody>
      </p:sp>
      <p:sp>
        <p:nvSpPr>
          <p:cNvPr id="543" name="Google Shape;543;p23"/>
          <p:cNvSpPr/>
          <p:nvPr/>
        </p:nvSpPr>
        <p:spPr>
          <a:xfrm>
            <a:off x="5330952" y="3063240"/>
            <a:ext cx="1691640" cy="731520"/>
          </a:xfrm>
          <a:prstGeom prst="roundRect">
            <a:avLst>
              <a:gd fmla="val 10000" name="adj"/>
            </a:avLst>
          </a:prstGeom>
          <a:solidFill>
            <a:srgbClr val="FFFFFF"/>
          </a:solidFill>
          <a:ln cap="flat" cmpd="sng" w="12700">
            <a:solidFill>
              <a:srgbClr val="D9B6A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3"/>
          <p:cNvSpPr/>
          <p:nvPr/>
        </p:nvSpPr>
        <p:spPr>
          <a:xfrm>
            <a:off x="5330952" y="306324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8A4030"/>
              </a:buClr>
              <a:buSzPts val="1200"/>
              <a:buFont typeface="Calibri"/>
              <a:buNone/>
            </a:pPr>
            <a:r>
              <a:rPr b="1" i="0" lang="en-US" sz="1200" u="none" cap="none" strike="noStrike">
                <a:solidFill>
                  <a:srgbClr val="8A4030"/>
                </a:solidFill>
                <a:latin typeface="Calibri"/>
                <a:ea typeface="Calibri"/>
                <a:cs typeface="Calibri"/>
                <a:sym typeface="Calibri"/>
              </a:rPr>
              <a:t>Accumulation</a:t>
            </a:r>
            <a:endParaRPr b="0" i="0" sz="1200" u="none" cap="none" strike="noStrike">
              <a:solidFill>
                <a:schemeClr val="dk1"/>
              </a:solidFill>
              <a:latin typeface="Calibri"/>
              <a:ea typeface="Calibri"/>
              <a:cs typeface="Calibri"/>
              <a:sym typeface="Calibri"/>
            </a:endParaRPr>
          </a:p>
        </p:txBody>
      </p:sp>
      <p:sp>
        <p:nvSpPr>
          <p:cNvPr id="545" name="Google Shape;545;p23"/>
          <p:cNvSpPr/>
          <p:nvPr/>
        </p:nvSpPr>
        <p:spPr>
          <a:xfrm>
            <a:off x="6986016" y="3063240"/>
            <a:ext cx="292608"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07A6A"/>
              </a:buClr>
              <a:buSzPts val="1800"/>
              <a:buFont typeface="Cambria"/>
              <a:buNone/>
            </a:pPr>
            <a:r>
              <a:rPr b="0" i="0" lang="en-US" sz="1800" u="none" cap="none" strike="noStrike">
                <a:solidFill>
                  <a:srgbClr val="B07A6A"/>
                </a:solidFill>
                <a:latin typeface="Cambria"/>
                <a:ea typeface="Cambria"/>
                <a:cs typeface="Cambria"/>
                <a:sym typeface="Cambria"/>
              </a:rPr>
              <a:t>→</a:t>
            </a:r>
            <a:endParaRPr b="0" i="0" sz="1800" u="none" cap="none" strike="noStrike">
              <a:solidFill>
                <a:schemeClr val="dk1"/>
              </a:solidFill>
              <a:latin typeface="Calibri"/>
              <a:ea typeface="Calibri"/>
              <a:cs typeface="Calibri"/>
              <a:sym typeface="Calibri"/>
            </a:endParaRPr>
          </a:p>
        </p:txBody>
      </p:sp>
      <p:sp>
        <p:nvSpPr>
          <p:cNvPr id="546" name="Google Shape;546;p23"/>
          <p:cNvSpPr/>
          <p:nvPr/>
        </p:nvSpPr>
        <p:spPr>
          <a:xfrm>
            <a:off x="7278624" y="3063240"/>
            <a:ext cx="1691640" cy="731520"/>
          </a:xfrm>
          <a:prstGeom prst="roundRect">
            <a:avLst>
              <a:gd fmla="val 10000" name="adj"/>
            </a:avLst>
          </a:prstGeom>
          <a:solidFill>
            <a:srgbClr val="FFFFFF"/>
          </a:solidFill>
          <a:ln cap="flat" cmpd="sng" w="12700">
            <a:solidFill>
              <a:srgbClr val="D9B6A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3"/>
          <p:cNvSpPr/>
          <p:nvPr/>
        </p:nvSpPr>
        <p:spPr>
          <a:xfrm>
            <a:off x="7278624" y="306324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8A4030"/>
              </a:buClr>
              <a:buSzPts val="1200"/>
              <a:buFont typeface="Calibri"/>
              <a:buNone/>
            </a:pPr>
            <a:r>
              <a:rPr b="1" i="0" lang="en-US" sz="1200" u="none" cap="none" strike="noStrike">
                <a:solidFill>
                  <a:srgbClr val="8A4030"/>
                </a:solidFill>
                <a:latin typeface="Calibri"/>
                <a:ea typeface="Calibri"/>
                <a:cs typeface="Calibri"/>
                <a:sym typeface="Calibri"/>
              </a:rPr>
              <a:t>Conflict</a:t>
            </a:r>
            <a:endParaRPr b="0" i="0" sz="1200" u="none" cap="none" strike="noStrike">
              <a:solidFill>
                <a:schemeClr val="dk1"/>
              </a:solidFill>
              <a:latin typeface="Calibri"/>
              <a:ea typeface="Calibri"/>
              <a:cs typeface="Calibri"/>
              <a:sym typeface="Calibri"/>
            </a:endParaRPr>
          </a:p>
        </p:txBody>
      </p:sp>
      <p:sp>
        <p:nvSpPr>
          <p:cNvPr id="548" name="Google Shape;548;p23"/>
          <p:cNvSpPr/>
          <p:nvPr/>
        </p:nvSpPr>
        <p:spPr>
          <a:xfrm>
            <a:off x="8933688" y="3063240"/>
            <a:ext cx="292608"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07A6A"/>
              </a:buClr>
              <a:buSzPts val="1800"/>
              <a:buFont typeface="Cambria"/>
              <a:buNone/>
            </a:pPr>
            <a:r>
              <a:rPr b="0" i="0" lang="en-US" sz="1800" u="none" cap="none" strike="noStrike">
                <a:solidFill>
                  <a:srgbClr val="B07A6A"/>
                </a:solidFill>
                <a:latin typeface="Cambria"/>
                <a:ea typeface="Cambria"/>
                <a:cs typeface="Cambria"/>
                <a:sym typeface="Cambria"/>
              </a:rPr>
              <a:t>→</a:t>
            </a:r>
            <a:endParaRPr b="0" i="0" sz="1800" u="none" cap="none" strike="noStrike">
              <a:solidFill>
                <a:schemeClr val="dk1"/>
              </a:solidFill>
              <a:latin typeface="Calibri"/>
              <a:ea typeface="Calibri"/>
              <a:cs typeface="Calibri"/>
              <a:sym typeface="Calibri"/>
            </a:endParaRPr>
          </a:p>
        </p:txBody>
      </p:sp>
      <p:sp>
        <p:nvSpPr>
          <p:cNvPr id="549" name="Google Shape;549;p23"/>
          <p:cNvSpPr/>
          <p:nvPr/>
        </p:nvSpPr>
        <p:spPr>
          <a:xfrm>
            <a:off x="9226296" y="3063240"/>
            <a:ext cx="1691640" cy="731520"/>
          </a:xfrm>
          <a:prstGeom prst="roundRect">
            <a:avLst>
              <a:gd fmla="val 10000" name="adj"/>
            </a:avLst>
          </a:prstGeom>
          <a:solidFill>
            <a:srgbClr val="FFFFFF"/>
          </a:solidFill>
          <a:ln cap="flat" cmpd="sng" w="12700">
            <a:solidFill>
              <a:srgbClr val="D9B6A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23"/>
          <p:cNvSpPr/>
          <p:nvPr/>
        </p:nvSpPr>
        <p:spPr>
          <a:xfrm>
            <a:off x="9226296" y="306324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5000"/>
              </a:lnSpc>
              <a:spcBef>
                <a:spcPts val="0"/>
              </a:spcBef>
              <a:spcAft>
                <a:spcPts val="0"/>
              </a:spcAft>
              <a:buClr>
                <a:srgbClr val="8A4030"/>
              </a:buClr>
              <a:buSzPts val="1200"/>
              <a:buFont typeface="Calibri"/>
              <a:buNone/>
            </a:pPr>
            <a:r>
              <a:rPr b="1" i="0" lang="en-US" sz="1200" u="none" cap="none" strike="noStrike">
                <a:solidFill>
                  <a:srgbClr val="8A4030"/>
                </a:solidFill>
                <a:latin typeface="Calibri"/>
                <a:ea typeface="Calibri"/>
                <a:cs typeface="Calibri"/>
                <a:sym typeface="Calibri"/>
              </a:rPr>
              <a:t>Destruction</a:t>
            </a:r>
            <a:endParaRPr b="0" i="0" sz="1200" u="none" cap="none" strike="noStrike">
              <a:solidFill>
                <a:schemeClr val="dk1"/>
              </a:solidFill>
              <a:latin typeface="Calibri"/>
              <a:ea typeface="Calibri"/>
              <a:cs typeface="Calibri"/>
              <a:sym typeface="Calibri"/>
            </a:endParaRPr>
          </a:p>
        </p:txBody>
      </p:sp>
      <p:sp>
        <p:nvSpPr>
          <p:cNvPr id="551" name="Google Shape;551;p23"/>
          <p:cNvSpPr/>
          <p:nvPr/>
        </p:nvSpPr>
        <p:spPr>
          <a:xfrm>
            <a:off x="548640" y="4434840"/>
            <a:ext cx="11064240" cy="1554480"/>
          </a:xfrm>
          <a:prstGeom prst="roundRect">
            <a:avLst>
              <a:gd fmla="val 4706" name="adj"/>
            </a:avLst>
          </a:prstGeom>
          <a:solidFill>
            <a:srgbClr val="E4F0EA"/>
          </a:solidFill>
          <a:ln cap="flat" cmpd="sng" w="12700">
            <a:solidFill>
              <a:srgbClr val="8FBAA3"/>
            </a:solidFill>
            <a:prstDash val="solid"/>
            <a:round/>
            <a:headEnd len="sm" w="sm" type="none"/>
            <a:tailEnd len="sm" w="sm" type="none"/>
          </a:ln>
          <a:effectLst>
            <a:outerShdw blurRad="88900" rotWithShape="0" algn="bl" dir="5400000" dist="381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23"/>
          <p:cNvSpPr/>
          <p:nvPr/>
        </p:nvSpPr>
        <p:spPr>
          <a:xfrm>
            <a:off x="822960" y="461772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8543F"/>
              </a:buClr>
              <a:buSzPts val="1500"/>
              <a:buFont typeface="Cambria"/>
              <a:buNone/>
            </a:pPr>
            <a:r>
              <a:rPr b="1" i="0" lang="en-US" sz="1500" u="none" cap="none" strike="noStrike">
                <a:solidFill>
                  <a:srgbClr val="28543F"/>
                </a:solidFill>
                <a:latin typeface="Cambria"/>
                <a:ea typeface="Cambria"/>
                <a:cs typeface="Cambria"/>
                <a:sym typeface="Cambria"/>
              </a:rPr>
              <a:t>PROPOSED (awakening)</a:t>
            </a:r>
            <a:endParaRPr b="0" i="0" sz="1500" u="none" cap="none" strike="noStrike">
              <a:solidFill>
                <a:schemeClr val="dk1"/>
              </a:solidFill>
              <a:latin typeface="Calibri"/>
              <a:ea typeface="Calibri"/>
              <a:cs typeface="Calibri"/>
              <a:sym typeface="Calibri"/>
            </a:endParaRPr>
          </a:p>
        </p:txBody>
      </p:sp>
      <p:sp>
        <p:nvSpPr>
          <p:cNvPr id="553" name="Google Shape;553;p23"/>
          <p:cNvSpPr/>
          <p:nvPr/>
        </p:nvSpPr>
        <p:spPr>
          <a:xfrm>
            <a:off x="3383280" y="4846320"/>
            <a:ext cx="1691640" cy="731520"/>
          </a:xfrm>
          <a:prstGeom prst="roundRect">
            <a:avLst>
              <a:gd fmla="val 10000" name="adj"/>
            </a:avLst>
          </a:prstGeom>
          <a:solidFill>
            <a:srgbClr val="FFFFFF"/>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3"/>
          <p:cNvSpPr/>
          <p:nvPr/>
        </p:nvSpPr>
        <p:spPr>
          <a:xfrm>
            <a:off x="3383280" y="484632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Understanding +</a:t>
            </a:r>
            <a:endParaRPr b="0" i="0" sz="1100" u="none" cap="none" strike="noStrike">
              <a:solidFill>
                <a:schemeClr val="dk1"/>
              </a:solidFill>
              <a:latin typeface="Calibri"/>
              <a:ea typeface="Calibri"/>
              <a:cs typeface="Calibri"/>
              <a:sym typeface="Calibri"/>
            </a:endParaRPr>
          </a:p>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desire for happiness</a:t>
            </a:r>
            <a:endParaRPr b="0" i="0" sz="1100" u="none" cap="none" strike="noStrike">
              <a:solidFill>
                <a:schemeClr val="dk1"/>
              </a:solidFill>
              <a:latin typeface="Calibri"/>
              <a:ea typeface="Calibri"/>
              <a:cs typeface="Calibri"/>
              <a:sym typeface="Calibri"/>
            </a:endParaRPr>
          </a:p>
        </p:txBody>
      </p:sp>
      <p:sp>
        <p:nvSpPr>
          <p:cNvPr id="555" name="Google Shape;555;p23"/>
          <p:cNvSpPr/>
          <p:nvPr/>
        </p:nvSpPr>
        <p:spPr>
          <a:xfrm>
            <a:off x="5038344" y="4846320"/>
            <a:ext cx="292608"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AA3"/>
              </a:buClr>
              <a:buSzPts val="1800"/>
              <a:buFont typeface="Cambria"/>
              <a:buNone/>
            </a:pPr>
            <a:r>
              <a:rPr b="0" i="0" lang="en-US" sz="1800" u="none" cap="none" strike="noStrike">
                <a:solidFill>
                  <a:srgbClr val="8FBAA3"/>
                </a:solidFill>
                <a:latin typeface="Cambria"/>
                <a:ea typeface="Cambria"/>
                <a:cs typeface="Cambria"/>
                <a:sym typeface="Cambria"/>
              </a:rPr>
              <a:t>→</a:t>
            </a:r>
            <a:endParaRPr b="0" i="0" sz="1800" u="none" cap="none" strike="noStrike">
              <a:solidFill>
                <a:schemeClr val="dk1"/>
              </a:solidFill>
              <a:latin typeface="Calibri"/>
              <a:ea typeface="Calibri"/>
              <a:cs typeface="Calibri"/>
              <a:sym typeface="Calibri"/>
            </a:endParaRPr>
          </a:p>
        </p:txBody>
      </p:sp>
      <p:sp>
        <p:nvSpPr>
          <p:cNvPr id="556" name="Google Shape;556;p23"/>
          <p:cNvSpPr/>
          <p:nvPr/>
        </p:nvSpPr>
        <p:spPr>
          <a:xfrm>
            <a:off x="5330952" y="4846320"/>
            <a:ext cx="1691640" cy="731520"/>
          </a:xfrm>
          <a:prstGeom prst="roundRect">
            <a:avLst>
              <a:gd fmla="val 10000" name="adj"/>
            </a:avLst>
          </a:prstGeom>
          <a:solidFill>
            <a:srgbClr val="FFFFFF"/>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23"/>
          <p:cNvSpPr/>
          <p:nvPr/>
        </p:nvSpPr>
        <p:spPr>
          <a:xfrm>
            <a:off x="5330952" y="484632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Right-use</a:t>
            </a:r>
            <a:endParaRPr b="0" i="0" sz="1100" u="none" cap="none" strike="noStrike">
              <a:solidFill>
                <a:schemeClr val="dk1"/>
              </a:solidFill>
              <a:latin typeface="Calibri"/>
              <a:ea typeface="Calibri"/>
              <a:cs typeface="Calibri"/>
              <a:sym typeface="Calibri"/>
            </a:endParaRPr>
          </a:p>
        </p:txBody>
      </p:sp>
      <p:sp>
        <p:nvSpPr>
          <p:cNvPr id="558" name="Google Shape;558;p23"/>
          <p:cNvSpPr/>
          <p:nvPr/>
        </p:nvSpPr>
        <p:spPr>
          <a:xfrm>
            <a:off x="6986016" y="4846320"/>
            <a:ext cx="292608"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AA3"/>
              </a:buClr>
              <a:buSzPts val="1800"/>
              <a:buFont typeface="Cambria"/>
              <a:buNone/>
            </a:pPr>
            <a:r>
              <a:rPr b="0" i="0" lang="en-US" sz="1800" u="none" cap="none" strike="noStrike">
                <a:solidFill>
                  <a:srgbClr val="8FBAA3"/>
                </a:solidFill>
                <a:latin typeface="Cambria"/>
                <a:ea typeface="Cambria"/>
                <a:cs typeface="Cambria"/>
                <a:sym typeface="Cambria"/>
              </a:rPr>
              <a:t>→</a:t>
            </a:r>
            <a:endParaRPr b="0" i="0" sz="1800" u="none" cap="none" strike="noStrike">
              <a:solidFill>
                <a:schemeClr val="dk1"/>
              </a:solidFill>
              <a:latin typeface="Calibri"/>
              <a:ea typeface="Calibri"/>
              <a:cs typeface="Calibri"/>
              <a:sym typeface="Calibri"/>
            </a:endParaRPr>
          </a:p>
        </p:txBody>
      </p:sp>
      <p:sp>
        <p:nvSpPr>
          <p:cNvPr id="559" name="Google Shape;559;p23"/>
          <p:cNvSpPr/>
          <p:nvPr/>
        </p:nvSpPr>
        <p:spPr>
          <a:xfrm>
            <a:off x="7278624" y="4846320"/>
            <a:ext cx="1691640" cy="731520"/>
          </a:xfrm>
          <a:prstGeom prst="roundRect">
            <a:avLst>
              <a:gd fmla="val 10000" name="adj"/>
            </a:avLst>
          </a:prstGeom>
          <a:solidFill>
            <a:srgbClr val="FFFFFF"/>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23"/>
          <p:cNvSpPr/>
          <p:nvPr/>
        </p:nvSpPr>
        <p:spPr>
          <a:xfrm>
            <a:off x="7278624" y="484632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Fulfilment</a:t>
            </a:r>
            <a:endParaRPr b="0" i="0" sz="1100" u="none" cap="none" strike="noStrike">
              <a:solidFill>
                <a:schemeClr val="dk1"/>
              </a:solidFill>
              <a:latin typeface="Calibri"/>
              <a:ea typeface="Calibri"/>
              <a:cs typeface="Calibri"/>
              <a:sym typeface="Calibri"/>
            </a:endParaRPr>
          </a:p>
        </p:txBody>
      </p:sp>
      <p:sp>
        <p:nvSpPr>
          <p:cNvPr id="561" name="Google Shape;561;p23"/>
          <p:cNvSpPr/>
          <p:nvPr/>
        </p:nvSpPr>
        <p:spPr>
          <a:xfrm>
            <a:off x="8933688" y="4846320"/>
            <a:ext cx="292608"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AA3"/>
              </a:buClr>
              <a:buSzPts val="1800"/>
              <a:buFont typeface="Cambria"/>
              <a:buNone/>
            </a:pPr>
            <a:r>
              <a:rPr b="0" i="0" lang="en-US" sz="1800" u="none" cap="none" strike="noStrike">
                <a:solidFill>
                  <a:srgbClr val="8FBAA3"/>
                </a:solidFill>
                <a:latin typeface="Cambria"/>
                <a:ea typeface="Cambria"/>
                <a:cs typeface="Cambria"/>
                <a:sym typeface="Cambria"/>
              </a:rPr>
              <a:t>→</a:t>
            </a:r>
            <a:endParaRPr b="0" i="0" sz="1800" u="none" cap="none" strike="noStrike">
              <a:solidFill>
                <a:schemeClr val="dk1"/>
              </a:solidFill>
              <a:latin typeface="Calibri"/>
              <a:ea typeface="Calibri"/>
              <a:cs typeface="Calibri"/>
              <a:sym typeface="Calibri"/>
            </a:endParaRPr>
          </a:p>
        </p:txBody>
      </p:sp>
      <p:sp>
        <p:nvSpPr>
          <p:cNvPr id="562" name="Google Shape;562;p23"/>
          <p:cNvSpPr/>
          <p:nvPr/>
        </p:nvSpPr>
        <p:spPr>
          <a:xfrm>
            <a:off x="9226296" y="4846320"/>
            <a:ext cx="1691640" cy="731520"/>
          </a:xfrm>
          <a:prstGeom prst="roundRect">
            <a:avLst>
              <a:gd fmla="val 10000" name="adj"/>
            </a:avLst>
          </a:prstGeom>
          <a:solidFill>
            <a:srgbClr val="FFFFFF"/>
          </a:solidFill>
          <a:ln cap="flat" cmpd="sng" w="12700">
            <a:solidFill>
              <a:srgbClr val="8FBAA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23"/>
          <p:cNvSpPr/>
          <p:nvPr/>
        </p:nvSpPr>
        <p:spPr>
          <a:xfrm>
            <a:off x="9226296" y="4846320"/>
            <a:ext cx="1691640" cy="731520"/>
          </a:xfrm>
          <a:prstGeom prst="rect">
            <a:avLst/>
          </a:prstGeom>
          <a:noFill/>
          <a:ln>
            <a:noFill/>
          </a:ln>
        </p:spPr>
        <p:txBody>
          <a:bodyPr anchorCtr="0" anchor="ctr" bIns="0" lIns="0" spcFirstLastPara="1" rIns="0" wrap="square" tIns="0">
            <a:noAutofit/>
          </a:bodyPr>
          <a:lstStyle/>
          <a:p>
            <a:pPr indent="0" lvl="0" marL="0" marR="0" rtl="0" algn="ctr">
              <a:lnSpc>
                <a:spcPct val="92000"/>
              </a:lnSpc>
              <a:spcBef>
                <a:spcPts val="0"/>
              </a:spcBef>
              <a:spcAft>
                <a:spcPts val="0"/>
              </a:spcAft>
              <a:buClr>
                <a:srgbClr val="28543F"/>
              </a:buClr>
              <a:buSzPts val="1100"/>
              <a:buFont typeface="Calibri"/>
              <a:buNone/>
            </a:pPr>
            <a:r>
              <a:rPr b="1" i="0" lang="en-US" sz="1100" u="none" cap="none" strike="noStrike">
                <a:solidFill>
                  <a:srgbClr val="28543F"/>
                </a:solidFill>
                <a:latin typeface="Calibri"/>
                <a:ea typeface="Calibri"/>
                <a:cs typeface="Calibri"/>
                <a:sym typeface="Calibri"/>
              </a:rPr>
              <a:t>Undivided society</a:t>
            </a:r>
            <a:endParaRPr b="0" i="0" sz="1100" u="none" cap="none" strike="noStrike">
              <a:solidFill>
                <a:schemeClr val="dk1"/>
              </a:solidFill>
              <a:latin typeface="Calibri"/>
              <a:ea typeface="Calibri"/>
              <a:cs typeface="Calibri"/>
              <a:sym typeface="Calibri"/>
            </a:endParaRPr>
          </a:p>
        </p:txBody>
      </p:sp>
      <p:sp>
        <p:nvSpPr>
          <p:cNvPr id="564" name="Google Shape;564;p23"/>
          <p:cNvSpPr/>
          <p:nvPr/>
        </p:nvSpPr>
        <p:spPr>
          <a:xfrm>
            <a:off x="548640" y="6126480"/>
            <a:ext cx="110642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8"/>
              </a:buClr>
              <a:buSzPts val="1200"/>
              <a:buFont typeface="Calibri"/>
              <a:buNone/>
            </a:pPr>
            <a:r>
              <a:rPr b="0" i="1" lang="en-US" sz="1200" u="none" cap="none" strike="noStrike">
                <a:solidFill>
                  <a:srgbClr val="5A6B78"/>
                </a:solidFill>
                <a:latin typeface="Calibri"/>
                <a:ea typeface="Calibri"/>
                <a:cs typeface="Calibri"/>
                <a:sym typeface="Calibri"/>
              </a:rPr>
              <a:t>Janvad — structured public dialogue — makes the contrast publicly accessible, posing whether humanity should live in undivided society or remain in fragmented structures.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9" name="Shape 569"/>
        <p:cNvGrpSpPr/>
        <p:nvPr/>
      </p:nvGrpSpPr>
      <p:grpSpPr>
        <a:xfrm>
          <a:off x="0" y="0"/>
          <a:ext cx="0" cy="0"/>
          <a:chOff x="0" y="0"/>
          <a:chExt cx="0" cy="0"/>
        </a:xfrm>
      </p:grpSpPr>
      <p:sp>
        <p:nvSpPr>
          <p:cNvPr id="570" name="Google Shape;570;p24"/>
          <p:cNvSpPr/>
          <p:nvPr/>
        </p:nvSpPr>
        <p:spPr>
          <a:xfrm>
            <a:off x="548640" y="475488"/>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168"/>
              </a:buClr>
              <a:buSzPts val="1250"/>
              <a:buFont typeface="Calibri"/>
              <a:buNone/>
            </a:pPr>
            <a:r>
              <a:rPr b="1" i="0" lang="en-US" sz="1250" u="none" cap="none" strike="noStrike">
                <a:solidFill>
                  <a:srgbClr val="2F5168"/>
                </a:solidFill>
                <a:latin typeface="Calibri"/>
                <a:ea typeface="Calibri"/>
                <a:cs typeface="Calibri"/>
                <a:sym typeface="Calibri"/>
              </a:rPr>
              <a:t>ONE ASCENT, MANY VIEWS</a:t>
            </a:r>
            <a:endParaRPr b="0" i="0" sz="1250" u="none" cap="none" strike="noStrike">
              <a:solidFill>
                <a:schemeClr val="dk1"/>
              </a:solidFill>
              <a:latin typeface="Calibri"/>
              <a:ea typeface="Calibri"/>
              <a:cs typeface="Calibri"/>
              <a:sym typeface="Calibri"/>
            </a:endParaRPr>
          </a:p>
        </p:txBody>
      </p:sp>
      <p:sp>
        <p:nvSpPr>
          <p:cNvPr id="571" name="Google Shape;571;p24"/>
          <p:cNvSpPr/>
          <p:nvPr/>
        </p:nvSpPr>
        <p:spPr>
          <a:xfrm>
            <a:off x="548640" y="932688"/>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D3A"/>
              </a:buClr>
              <a:buSzPts val="3100"/>
              <a:buFont typeface="Cambria"/>
              <a:buNone/>
            </a:pPr>
            <a:r>
              <a:rPr b="1" i="0" lang="en-US" sz="3100" u="none" cap="none" strike="noStrike">
                <a:solidFill>
                  <a:srgbClr val="1F2D3A"/>
                </a:solidFill>
                <a:latin typeface="Cambria"/>
                <a:ea typeface="Cambria"/>
                <a:cs typeface="Cambria"/>
                <a:sym typeface="Cambria"/>
              </a:rPr>
              <a:t>The complete architecture</a:t>
            </a:r>
            <a:endParaRPr b="0" i="0" sz="3100" u="none" cap="none" strike="noStrike">
              <a:solidFill>
                <a:schemeClr val="dk1"/>
              </a:solidFill>
              <a:latin typeface="Calibri"/>
              <a:ea typeface="Calibri"/>
              <a:cs typeface="Calibri"/>
              <a:sym typeface="Calibri"/>
            </a:endParaRPr>
          </a:p>
        </p:txBody>
      </p:sp>
      <p:sp>
        <p:nvSpPr>
          <p:cNvPr id="572" name="Google Shape;572;p24"/>
          <p:cNvSpPr/>
          <p:nvPr/>
        </p:nvSpPr>
        <p:spPr>
          <a:xfrm>
            <a:off x="548640" y="1737360"/>
            <a:ext cx="1106424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3F4D57"/>
              </a:buClr>
              <a:buSzPts val="1400"/>
              <a:buFont typeface="Calibri"/>
              <a:buNone/>
            </a:pPr>
            <a:r>
              <a:rPr b="0" i="0" lang="en-US" sz="1400" u="none" cap="none" strike="noStrike">
                <a:solidFill>
                  <a:srgbClr val="3F4D57"/>
                </a:solidFill>
                <a:latin typeface="Calibri"/>
                <a:ea typeface="Calibri"/>
                <a:cs typeface="Calibri"/>
                <a:sym typeface="Calibri"/>
              </a:rPr>
              <a:t>The exposition runs several ordered sequences — not rivals, but different views of one ascent. The delusionlessness ladder is the spine; each other reading sees the same climb from a different angle.</a:t>
            </a:r>
            <a:endParaRPr b="0" i="0" sz="1400" u="none" cap="none" strike="noStrike">
              <a:solidFill>
                <a:schemeClr val="dk1"/>
              </a:solidFill>
              <a:latin typeface="Calibri"/>
              <a:ea typeface="Calibri"/>
              <a:cs typeface="Calibri"/>
              <a:sym typeface="Calibri"/>
            </a:endParaRPr>
          </a:p>
        </p:txBody>
      </p:sp>
      <p:graphicFrame>
        <p:nvGraphicFramePr>
          <p:cNvPr id="573" name="Google Shape;573;p24"/>
          <p:cNvGraphicFramePr/>
          <p:nvPr/>
        </p:nvGraphicFramePr>
        <p:xfrm>
          <a:off x="548640" y="2514600"/>
          <a:ext cx="3000000" cy="3000000"/>
        </p:xfrm>
        <a:graphic>
          <a:graphicData uri="http://schemas.openxmlformats.org/drawingml/2006/table">
            <a:tbl>
              <a:tblPr>
                <a:noFill/>
                <a:tableStyleId>{823F6527-06EA-4F18-B08A-21B734C330FC}</a:tableStyleId>
              </a:tblPr>
              <a:tblGrid>
                <a:gridCol w="3108950"/>
                <a:gridCol w="822950"/>
                <a:gridCol w="2651750"/>
                <a:gridCol w="2286000"/>
                <a:gridCol w="2194550"/>
              </a:tblGrid>
              <a:tr h="411475">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Spine (delusionlessness)</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1F2D3A"/>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Layer</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1F2D3A"/>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Regulation ladder</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1F2D3A"/>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Progression</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1F2D3A"/>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Completeness</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1F2D3A"/>
                    </a:solidFill>
                  </a:tcPr>
                </a:tc>
              </a:tr>
              <a:tr h="502925">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Ground (pre-gate)</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0</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saturation, law</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Composition (pre-gate)</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1</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order conformance</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niyati-kram / -vidhi</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Sentience reached</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2</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vikas-kram</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T1 constitutional</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548650">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Delusionlessness → enlightenment</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3</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inward regulation, justice</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jagriti-kram</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T2 activity, T3 conduct</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Lordship → sovereignty</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4</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assembly order</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A3640"/>
                        </a:buClr>
                        <a:buSzPts val="1150"/>
                        <a:buFont typeface="Calibri"/>
                        <a:buNone/>
                      </a:pPr>
                      <a:r>
                        <a:rPr lang="en-US" sz="1150" u="none" cap="none" strike="noStrike">
                          <a:solidFill>
                            <a:srgbClr val="2A3640"/>
                          </a:solidFill>
                          <a:latin typeface="Calibri"/>
                          <a:ea typeface="Calibri"/>
                          <a:cs typeface="Calibri"/>
                          <a:sym typeface="Calibri"/>
                        </a:rPr>
                        <a:t>evidenced in tradition</a:t>
                      </a:r>
                      <a:endParaRPr sz="115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Undivided society + universal orderliness</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5168"/>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Telos</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5168"/>
                    </a:solidFill>
                  </a:tcPr>
                </a:tc>
                <a:tc>
                  <a:txBody>
                    <a:bodyPr/>
                    <a:lstStyle/>
                    <a:p>
                      <a:pPr indent="0" lvl="0" marL="0" marR="0" rtl="0" algn="l">
                        <a:spcBef>
                          <a:spcPts val="0"/>
                        </a:spcBef>
                        <a:spcAft>
                          <a:spcPts val="0"/>
                        </a:spcAft>
                        <a:buClr>
                          <a:srgbClr val="FFFFFF"/>
                        </a:buClr>
                        <a:buSzPts val="1200"/>
                        <a:buFont typeface="Calibri"/>
                        <a:buNone/>
                      </a:pPr>
                      <a:r>
                        <a:rPr lang="en-US" sz="1200" u="none" cap="none" strike="noStrike">
                          <a:solidFill>
                            <a:srgbClr val="FFFFFF"/>
                          </a:solidFill>
                          <a:latin typeface="Calibri"/>
                          <a:ea typeface="Calibri"/>
                          <a:cs typeface="Calibri"/>
                          <a:sym typeface="Calibri"/>
                        </a:rPr>
                        <a:t>—</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5168"/>
                    </a:solidFill>
                  </a:tcPr>
                </a:tc>
                <a:tc>
                  <a:txBody>
                    <a:bodyPr/>
                    <a:lstStyle/>
                    <a:p>
                      <a:pPr indent="0" lvl="0" marL="0" marR="0" rtl="0" algn="l">
                        <a:spcBef>
                          <a:spcPts val="0"/>
                        </a:spcBef>
                        <a:spcAft>
                          <a:spcPts val="0"/>
                        </a:spcAft>
                        <a:buClr>
                          <a:srgbClr val="FFFFFF"/>
                        </a:buClr>
                        <a:buSzPts val="1200"/>
                        <a:buFont typeface="Calibri"/>
                        <a:buNone/>
                      </a:pPr>
                      <a:r>
                        <a:rPr lang="en-US" sz="1200" u="none" cap="none" strike="noStrike">
                          <a:solidFill>
                            <a:srgbClr val="FFFFFF"/>
                          </a:solidFill>
                          <a:latin typeface="Calibri"/>
                          <a:ea typeface="Calibri"/>
                          <a:cs typeface="Calibri"/>
                          <a:sym typeface="Calibri"/>
                        </a:rPr>
                        <a:t>—</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5168"/>
                    </a:solidFill>
                  </a:tcPr>
                </a:tc>
                <a:tc>
                  <a:txBody>
                    <a:bodyPr/>
                    <a:lstStyle/>
                    <a:p>
                      <a:pPr indent="0" lvl="0" marL="0" marR="0" rtl="0" algn="l">
                        <a:spcBef>
                          <a:spcPts val="0"/>
                        </a:spcBef>
                        <a:spcAft>
                          <a:spcPts val="0"/>
                        </a:spcAft>
                        <a:buClr>
                          <a:srgbClr val="FFFFFF"/>
                        </a:buClr>
                        <a:buSzPts val="1200"/>
                        <a:buFont typeface="Calibri"/>
                        <a:buNone/>
                      </a:pPr>
                      <a:r>
                        <a:rPr lang="en-US" sz="1200" u="none" cap="none" strike="noStrike">
                          <a:solidFill>
                            <a:srgbClr val="FFFFFF"/>
                          </a:solidFill>
                          <a:latin typeface="Calibri"/>
                          <a:ea typeface="Calibri"/>
                          <a:cs typeface="Calibri"/>
                          <a:sym typeface="Calibri"/>
                        </a:rPr>
                        <a:t>—</a:t>
                      </a:r>
                      <a:endParaRPr sz="1200" u="none" cap="none" strike="noStrike">
                        <a:latin typeface="Calibri"/>
                        <a:ea typeface="Calibri"/>
                        <a:cs typeface="Calibri"/>
                        <a:sym typeface="Calibri"/>
                      </a:endParaRPr>
                    </a:p>
                  </a:txBody>
                  <a:tcPr marT="45725" marB="45725" marR="91450" marL="91450" anchor="ctr">
                    <a:lnL cap="flat" cmpd="sng" w="9525">
                      <a:solidFill>
                        <a:srgbClr val="D8E0E6"/>
                      </a:solidFill>
                      <a:prstDash val="solid"/>
                      <a:round/>
                      <a:headEnd len="sm" w="sm" type="none"/>
                      <a:tailEnd len="sm" w="sm" type="none"/>
                    </a:lnL>
                    <a:lnR cap="flat" cmpd="sng" w="9525">
                      <a:solidFill>
                        <a:srgbClr val="D8E0E6"/>
                      </a:solidFill>
                      <a:prstDash val="solid"/>
                      <a:round/>
                      <a:headEnd len="sm" w="sm" type="none"/>
                      <a:tailEnd len="sm" w="sm" type="none"/>
                    </a:lnR>
                    <a:lnT cap="flat" cmpd="sng" w="9525">
                      <a:solidFill>
                        <a:srgbClr val="D8E0E6"/>
                      </a:solidFill>
                      <a:prstDash val="solid"/>
                      <a:round/>
                      <a:headEnd len="sm" w="sm" type="none"/>
                      <a:tailEnd len="sm" w="sm" type="none"/>
                    </a:lnT>
                    <a:lnB cap="flat" cmpd="sng" w="9525">
                      <a:solidFill>
                        <a:srgbClr val="D8E0E6"/>
                      </a:solidFill>
                      <a:prstDash val="solid"/>
                      <a:round/>
                      <a:headEnd len="sm" w="sm" type="none"/>
                      <a:tailEnd len="sm" w="sm" type="none"/>
                    </a:lnB>
                    <a:solidFill>
                      <a:srgbClr val="2F5168"/>
                    </a:solidFill>
                  </a:tcPr>
                </a:tc>
              </a:tr>
            </a:tbl>
          </a:graphicData>
        </a:graphic>
      </p:graphicFrame>
      <p:sp>
        <p:nvSpPr>
          <p:cNvPr id="574" name="Google Shape;574;p24"/>
          <p:cNvSpPr/>
          <p:nvPr/>
        </p:nvSpPr>
        <p:spPr>
          <a:xfrm>
            <a:off x="548640" y="5989320"/>
            <a:ext cx="11064240"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5A6B78"/>
              </a:buClr>
              <a:buSzPts val="1150"/>
              <a:buFont typeface="Calibri"/>
              <a:buNone/>
            </a:pPr>
            <a:r>
              <a:rPr b="0" i="1" lang="en-US" sz="1150" u="none" cap="none" strike="noStrike">
                <a:solidFill>
                  <a:srgbClr val="5A6B78"/>
                </a:solidFill>
                <a:latin typeface="Calibri"/>
                <a:ea typeface="Calibri"/>
                <a:cs typeface="Calibri"/>
                <a:sym typeface="Calibri"/>
              </a:rPr>
              <a:t>Society is stabilised at sentient scale by inward mediative atma and the justice cycle closing in assemblies — parallel to the mediative nucleus at the atomic scale. Satta remains actionless ground; undivided society is what awakened humans evidence when the full chain closes.</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42E"/>
        </a:solidFill>
      </p:bgPr>
    </p:bg>
    <p:spTree>
      <p:nvGrpSpPr>
        <p:cNvPr id="579" name="Shape 579"/>
        <p:cNvGrpSpPr/>
        <p:nvPr/>
      </p:nvGrpSpPr>
      <p:grpSpPr>
        <a:xfrm>
          <a:off x="0" y="0"/>
          <a:ext cx="0" cy="0"/>
          <a:chOff x="0" y="0"/>
          <a:chExt cx="0" cy="0"/>
        </a:xfrm>
      </p:grpSpPr>
      <p:sp>
        <p:nvSpPr>
          <p:cNvPr id="580" name="Google Shape;580;p25"/>
          <p:cNvSpPr/>
          <p:nvPr/>
        </p:nvSpPr>
        <p:spPr>
          <a:xfrm>
            <a:off x="7680960" y="1481328"/>
            <a:ext cx="4507992" cy="274320"/>
          </a:xfrm>
          <a:prstGeom prst="rect">
            <a:avLst/>
          </a:prstGeom>
          <a:solidFill>
            <a:srgbClr val="2F5168">
              <a:alpha val="2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5"/>
          <p:cNvSpPr/>
          <p:nvPr/>
        </p:nvSpPr>
        <p:spPr>
          <a:xfrm>
            <a:off x="7680960" y="1819656"/>
            <a:ext cx="4507992" cy="274320"/>
          </a:xfrm>
          <a:prstGeom prst="rect">
            <a:avLst/>
          </a:prstGeom>
          <a:solidFill>
            <a:srgbClr val="2F4A32">
              <a:alpha val="2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5"/>
          <p:cNvSpPr/>
          <p:nvPr/>
        </p:nvSpPr>
        <p:spPr>
          <a:xfrm>
            <a:off x="7680960" y="2157984"/>
            <a:ext cx="4507992" cy="274320"/>
          </a:xfrm>
          <a:prstGeom prst="rect">
            <a:avLst/>
          </a:prstGeom>
          <a:solidFill>
            <a:srgbClr val="5A4228">
              <a:alpha val="2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25"/>
          <p:cNvSpPr/>
          <p:nvPr/>
        </p:nvSpPr>
        <p:spPr>
          <a:xfrm>
            <a:off x="7680960" y="2496312"/>
            <a:ext cx="4507992" cy="274320"/>
          </a:xfrm>
          <a:prstGeom prst="rect">
            <a:avLst/>
          </a:prstGeom>
          <a:solidFill>
            <a:srgbClr val="4A3868">
              <a:alpha val="2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25"/>
          <p:cNvSpPr/>
          <p:nvPr/>
        </p:nvSpPr>
        <p:spPr>
          <a:xfrm>
            <a:off x="7680960" y="2834640"/>
            <a:ext cx="4507992" cy="274320"/>
          </a:xfrm>
          <a:prstGeom prst="rect">
            <a:avLst/>
          </a:prstGeom>
          <a:solidFill>
            <a:srgbClr val="28543F">
              <a:alpha val="2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5"/>
          <p:cNvSpPr/>
          <p:nvPr/>
        </p:nvSpPr>
        <p:spPr>
          <a:xfrm>
            <a:off x="777240" y="868680"/>
            <a:ext cx="10515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DB4C2"/>
              </a:buClr>
              <a:buSzPts val="1300"/>
              <a:buFont typeface="Calibri"/>
              <a:buNone/>
            </a:pPr>
            <a:r>
              <a:rPr b="1" i="0" lang="en-US" sz="1300" u="none" cap="none" strike="noStrike">
                <a:solidFill>
                  <a:srgbClr val="9DB4C2"/>
                </a:solidFill>
                <a:latin typeface="Calibri"/>
                <a:ea typeface="Calibri"/>
                <a:cs typeface="Calibri"/>
                <a:sym typeface="Calibri"/>
              </a:rPr>
              <a:t>THE TELOS</a:t>
            </a:r>
            <a:endParaRPr b="0" i="0" sz="1300" u="none" cap="none" strike="noStrike">
              <a:solidFill>
                <a:schemeClr val="dk1"/>
              </a:solidFill>
              <a:latin typeface="Calibri"/>
              <a:ea typeface="Calibri"/>
              <a:cs typeface="Calibri"/>
              <a:sym typeface="Calibri"/>
            </a:endParaRPr>
          </a:p>
        </p:txBody>
      </p:sp>
      <p:sp>
        <p:nvSpPr>
          <p:cNvPr id="586" name="Google Shape;586;p25"/>
          <p:cNvSpPr/>
          <p:nvPr/>
        </p:nvSpPr>
        <p:spPr>
          <a:xfrm>
            <a:off x="777240" y="1371600"/>
            <a:ext cx="6766560" cy="1554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Undivided society is what</a:t>
            </a:r>
            <a:endParaRPr b="0" i="0" sz="3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awakened humans evidence</a:t>
            </a:r>
            <a:endParaRPr b="0" i="0" sz="3200" u="none" cap="none" strike="noStrike">
              <a:solidFill>
                <a:schemeClr val="dk1"/>
              </a:solidFill>
              <a:latin typeface="Calibri"/>
              <a:ea typeface="Calibri"/>
              <a:cs typeface="Calibri"/>
              <a:sym typeface="Calibri"/>
            </a:endParaRPr>
          </a:p>
        </p:txBody>
      </p:sp>
      <p:sp>
        <p:nvSpPr>
          <p:cNvPr id="587" name="Google Shape;587;p25"/>
          <p:cNvSpPr/>
          <p:nvPr/>
        </p:nvSpPr>
        <p:spPr>
          <a:xfrm>
            <a:off x="777240" y="3154680"/>
            <a:ext cx="10332720" cy="91440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C9D6DF"/>
              </a:buClr>
              <a:buSzPts val="1500"/>
              <a:buFont typeface="Calibri"/>
              <a:buNone/>
            </a:pPr>
            <a:r>
              <a:rPr b="0" i="0" lang="en-US" sz="1500" u="none" cap="none" strike="noStrike">
                <a:solidFill>
                  <a:srgbClr val="C9D6DF"/>
                </a:solidFill>
                <a:latin typeface="Calibri"/>
                <a:ea typeface="Calibri"/>
                <a:cs typeface="Calibri"/>
                <a:sym typeface="Calibri"/>
              </a:rPr>
              <a:t>Akhand samaj, evidenced with sarvabhaum vyavastha — humankind as one complementary whole in awakened tradition; the inherent complementarity of the coexistence ground, un-blocked at the scale of humankind.</a:t>
            </a:r>
            <a:endParaRPr b="0" i="0" sz="1500" u="none" cap="none" strike="noStrike">
              <a:solidFill>
                <a:schemeClr val="dk1"/>
              </a:solidFill>
              <a:latin typeface="Calibri"/>
              <a:ea typeface="Calibri"/>
              <a:cs typeface="Calibri"/>
              <a:sym typeface="Calibri"/>
            </a:endParaRPr>
          </a:p>
        </p:txBody>
      </p:sp>
      <p:sp>
        <p:nvSpPr>
          <p:cNvPr id="588" name="Google Shape;588;p25"/>
          <p:cNvSpPr/>
          <p:nvPr/>
        </p:nvSpPr>
        <p:spPr>
          <a:xfrm>
            <a:off x="777240" y="4251960"/>
            <a:ext cx="10058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DB4C2"/>
              </a:buClr>
              <a:buSzPts val="1500"/>
              <a:buFont typeface="Cambria"/>
              <a:buNone/>
            </a:pPr>
            <a:r>
              <a:rPr b="1" i="0" lang="en-US" sz="1500" u="none" cap="none" strike="noStrike">
                <a:solidFill>
                  <a:srgbClr val="9DB4C2"/>
                </a:solidFill>
                <a:latin typeface="Cambria"/>
                <a:ea typeface="Cambria"/>
                <a:cs typeface="Cambria"/>
                <a:sym typeface="Cambria"/>
              </a:rPr>
              <a:t>Open problems</a:t>
            </a:r>
            <a:endParaRPr b="0" i="0" sz="1500" u="none" cap="none" strike="noStrike">
              <a:solidFill>
                <a:schemeClr val="dk1"/>
              </a:solidFill>
              <a:latin typeface="Calibri"/>
              <a:ea typeface="Calibri"/>
              <a:cs typeface="Calibri"/>
              <a:sym typeface="Calibri"/>
            </a:endParaRPr>
          </a:p>
        </p:txBody>
      </p:sp>
      <p:sp>
        <p:nvSpPr>
          <p:cNvPr id="589" name="Google Shape;589;p25"/>
          <p:cNvSpPr/>
          <p:nvPr/>
        </p:nvSpPr>
        <p:spPr>
          <a:xfrm>
            <a:off x="777240" y="4663440"/>
            <a:ext cx="10515600" cy="1371600"/>
          </a:xfrm>
          <a:prstGeom prst="rect">
            <a:avLst/>
          </a:prstGeom>
          <a:noFill/>
          <a:ln>
            <a:noFill/>
          </a:ln>
        </p:spPr>
        <p:txBody>
          <a:bodyPr anchorCtr="0" anchor="t" bIns="0" lIns="0" spcFirstLastPara="1" rIns="0" wrap="square" tIns="0">
            <a:noAutofit/>
          </a:bodyPr>
          <a:lstStyle/>
          <a:p>
            <a:pPr indent="-342900" lvl="0" marL="342900" marR="0" rtl="0" algn="l">
              <a:lnSpc>
                <a:spcPct val="105000"/>
              </a:lnSpc>
              <a:spcBef>
                <a:spcPts val="0"/>
              </a:spcBef>
              <a:spcAft>
                <a:spcPts val="0"/>
              </a:spcAft>
              <a:buClr>
                <a:srgbClr val="AEC0CC"/>
              </a:buClr>
              <a:buSzPts val="1200"/>
              <a:buFont typeface="Calibri"/>
              <a:buChar char="•"/>
            </a:pPr>
            <a:r>
              <a:rPr b="0" i="0" lang="en-US" sz="1200" u="none" cap="none" strike="noStrike">
                <a:solidFill>
                  <a:srgbClr val="AEC0CC"/>
                </a:solidFill>
                <a:latin typeface="Calibri"/>
                <a:ea typeface="Calibri"/>
                <a:cs typeface="Calibri"/>
                <a:sym typeface="Calibri"/>
              </a:rPr>
              <a:t>What counts as sufficient evidence of the telos across diverse regions is not fully specified in the English translations.</a:t>
            </a:r>
            <a:endParaRPr b="0" i="0" sz="1200" u="none" cap="none" strike="noStrike">
              <a:solidFill>
                <a:schemeClr val="dk1"/>
              </a:solidFill>
              <a:latin typeface="Calibri"/>
              <a:ea typeface="Calibri"/>
              <a:cs typeface="Calibri"/>
              <a:sym typeface="Calibri"/>
            </a:endParaRPr>
          </a:p>
          <a:p>
            <a:pPr indent="-342900" lvl="0" marL="342900" marR="0" rtl="0" algn="l">
              <a:lnSpc>
                <a:spcPct val="105000"/>
              </a:lnSpc>
              <a:spcBef>
                <a:spcPts val="600"/>
              </a:spcBef>
              <a:spcAft>
                <a:spcPts val="0"/>
              </a:spcAft>
              <a:buClr>
                <a:srgbClr val="AEC0CC"/>
              </a:buClr>
              <a:buSzPts val="1200"/>
              <a:buFont typeface="Calibri"/>
              <a:buChar char="•"/>
            </a:pPr>
            <a:r>
              <a:rPr b="0" i="0" lang="en-US" sz="1200" u="none" cap="none" strike="noStrike">
                <a:solidFill>
                  <a:srgbClr val="AEC0CC"/>
                </a:solidFill>
                <a:latin typeface="Calibri"/>
                <a:ea typeface="Calibri"/>
                <a:cs typeface="Calibri"/>
                <a:sym typeface="Calibri"/>
              </a:rPr>
              <a:t>JVD and AVD are work-in-progress translations; Hindi originals may extend the production–governance chain.</a:t>
            </a:r>
            <a:endParaRPr b="0" i="0" sz="1200" u="none" cap="none" strike="noStrike">
              <a:solidFill>
                <a:schemeClr val="dk1"/>
              </a:solidFill>
              <a:latin typeface="Calibri"/>
              <a:ea typeface="Calibri"/>
              <a:cs typeface="Calibri"/>
              <a:sym typeface="Calibri"/>
            </a:endParaRPr>
          </a:p>
          <a:p>
            <a:pPr indent="-342900" lvl="0" marL="342900" marR="0" rtl="0" algn="l">
              <a:lnSpc>
                <a:spcPct val="105000"/>
              </a:lnSpc>
              <a:spcBef>
                <a:spcPts val="600"/>
              </a:spcBef>
              <a:spcAft>
                <a:spcPts val="0"/>
              </a:spcAft>
              <a:buClr>
                <a:srgbClr val="AEC0CC"/>
              </a:buClr>
              <a:buSzPts val="1200"/>
              <a:buFont typeface="Calibri"/>
              <a:buChar char="•"/>
            </a:pPr>
            <a:r>
              <a:rPr b="0" i="0" lang="en-US" sz="1200" u="none" cap="none" strike="noStrike">
                <a:solidFill>
                  <a:srgbClr val="AEC0CC"/>
                </a:solidFill>
                <a:latin typeface="Calibri"/>
                <a:ea typeface="Calibri"/>
                <a:cs typeface="Calibri"/>
                <a:sym typeface="Calibri"/>
              </a:rPr>
              <a:t>Detailed dharma-niti and rajya-niti codification is deferred to the planned Governance, Justice and Undivided Society study.</a:t>
            </a:r>
            <a:endParaRPr b="0" i="0" sz="1200" u="none" cap="none" strike="noStrike">
              <a:solidFill>
                <a:schemeClr val="dk1"/>
              </a:solidFill>
              <a:latin typeface="Calibri"/>
              <a:ea typeface="Calibri"/>
              <a:cs typeface="Calibri"/>
              <a:sym typeface="Calibri"/>
            </a:endParaRPr>
          </a:p>
        </p:txBody>
      </p:sp>
      <p:sp>
        <p:nvSpPr>
          <p:cNvPr id="590" name="Google Shape;590;p25"/>
          <p:cNvSpPr/>
          <p:nvPr/>
        </p:nvSpPr>
        <p:spPr>
          <a:xfrm>
            <a:off x="777240" y="6355080"/>
            <a:ext cx="10607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7280"/>
              </a:buClr>
              <a:buSzPts val="1000"/>
              <a:buFont typeface="Calibri"/>
              <a:buNone/>
            </a:pPr>
            <a:r>
              <a:rPr b="0" i="0" lang="en-US" sz="1000" u="none" cap="none" strike="noStrike">
                <a:solidFill>
                  <a:srgbClr val="5E7280"/>
                </a:solidFill>
                <a:latin typeface="Calibri"/>
                <a:ea typeface="Calibri"/>
                <a:cs typeface="Calibri"/>
                <a:sym typeface="Calibri"/>
              </a:rPr>
              <a:t>Source: How Undivided Society Is Established · AnalyticMadhyasthDarshan.org · Primary texts: MVD, SB, JV, JVD, AVD (Shri A. Nagraj)</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