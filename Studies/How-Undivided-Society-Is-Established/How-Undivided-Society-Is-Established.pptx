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695739801348ee" /><Relationship Type="http://schemas.openxmlformats.org/officeDocument/2006/relationships/extended-properties" Target="/docProps/app.xml" Id="Ra9ae4f08e0f84d0f" /><Relationship Type="http://schemas.openxmlformats.org/officeDocument/2006/relationships/officeDocument" Target="/ppt/presentation.xml" Id="R9e9cb6fe407b4a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60a9a7916c4e46"/>
  </p:sldMasterIdLst>
  <p:notesMasterIdLst>
    <p:notesMasterId xmlns:r="http://schemas.openxmlformats.org/officeDocument/2006/relationships" r:id="R1e3e640f763248bd"/>
  </p:notesMasterIdLst>
  <p:sldIdLst>
    <p:sldId xmlns:r="http://schemas.openxmlformats.org/officeDocument/2006/relationships" id="256" r:id="Rc6ad8ac69e974c36"/>
    <p:sldId xmlns:r="http://schemas.openxmlformats.org/officeDocument/2006/relationships" id="257" r:id="R2ed4091b59644df1"/>
    <p:sldId xmlns:r="http://schemas.openxmlformats.org/officeDocument/2006/relationships" id="258" r:id="R19e472da20db43f9"/>
    <p:sldId xmlns:r="http://schemas.openxmlformats.org/officeDocument/2006/relationships" id="259" r:id="R9995e37b96964c2c"/>
    <p:sldId xmlns:r="http://schemas.openxmlformats.org/officeDocument/2006/relationships" id="260" r:id="R77c9440562a948ed"/>
    <p:sldId xmlns:r="http://schemas.openxmlformats.org/officeDocument/2006/relationships" id="261" r:id="R5d33c825befa433d"/>
    <p:sldId xmlns:r="http://schemas.openxmlformats.org/officeDocument/2006/relationships" id="262" r:id="R3073addfc44d45b7"/>
    <p:sldId xmlns:r="http://schemas.openxmlformats.org/officeDocument/2006/relationships" id="263" r:id="R125838b3a0164805"/>
    <p:sldId xmlns:r="http://schemas.openxmlformats.org/officeDocument/2006/relationships" id="264" r:id="R97f60541ca474ab0"/>
    <p:sldId xmlns:r="http://schemas.openxmlformats.org/officeDocument/2006/relationships" id="265" r:id="R13897dc940754895"/>
    <p:sldId xmlns:r="http://schemas.openxmlformats.org/officeDocument/2006/relationships" id="266" r:id="R51b09957c1a34ecf"/>
    <p:sldId xmlns:r="http://schemas.openxmlformats.org/officeDocument/2006/relationships" id="267" r:id="Rd8f019bf5df24d92"/>
    <p:sldId xmlns:r="http://schemas.openxmlformats.org/officeDocument/2006/relationships" id="268" r:id="Rdb92ca20d003493a"/>
    <p:sldId xmlns:r="http://schemas.openxmlformats.org/officeDocument/2006/relationships" id="269" r:id="R7ecb680b9d504492"/>
    <p:sldId xmlns:r="http://schemas.openxmlformats.org/officeDocument/2006/relationships" id="270" r:id="Rf053b0b67d74469d"/>
    <p:sldId xmlns:r="http://schemas.openxmlformats.org/officeDocument/2006/relationships" id="271" r:id="Rc70713439ae14187"/>
    <p:sldId xmlns:r="http://schemas.openxmlformats.org/officeDocument/2006/relationships" id="272" r:id="R0847c7bcb775427f"/>
    <p:sldId xmlns:r="http://schemas.openxmlformats.org/officeDocument/2006/relationships" id="273" r:id="R12e779a235264806"/>
    <p:sldId xmlns:r="http://schemas.openxmlformats.org/officeDocument/2006/relationships" id="274" r:id="Rb28d8f63b0994294"/>
    <p:sldId xmlns:r="http://schemas.openxmlformats.org/officeDocument/2006/relationships" id="275" r:id="R80e530758d544dde"/>
    <p:sldId xmlns:r="http://schemas.openxmlformats.org/officeDocument/2006/relationships" id="276" r:id="R6457d7b7eaa74482"/>
    <p:sldId xmlns:r="http://schemas.openxmlformats.org/officeDocument/2006/relationships" id="277" r:id="Rb865b0f0c8d14e32"/>
    <p:sldId xmlns:r="http://schemas.openxmlformats.org/officeDocument/2006/relationships" id="278" r:id="Rbe60a55eb48540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823F6527-06EA-4F18-B08A-21B734C330FC}">
  <a:tblStyle styleId="{823F6527-06EA-4F18-B08A-21B734C330F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d2e53944614e5c" /><Relationship Type="http://schemas.openxmlformats.org/officeDocument/2006/relationships/slideMaster" Target="/ppt/slideMasters/slideMaster1.xml" Id="R1760a9a7916c4e46" /><Relationship Type="http://schemas.openxmlformats.org/officeDocument/2006/relationships/notesMaster" Target="/ppt/notesMasters/notesMaster1.xml" Id="R1e3e640f763248bd" /><Relationship Type="http://schemas.openxmlformats.org/officeDocument/2006/relationships/presProps" Target="/ppt/presProps.xml" Id="R512495dc87064f69" /><Relationship Type="http://schemas.openxmlformats.org/officeDocument/2006/relationships/tableStyles" Target="/ppt/tableStyles.xml" Id="Ra5a3af98beca4299" /><Relationship Type="http://schemas.openxmlformats.org/officeDocument/2006/relationships/slide" Target="/ppt/slides/slide1.xml" Id="Rc6ad8ac69e974c36" /><Relationship Type="http://schemas.openxmlformats.org/officeDocument/2006/relationships/slide" Target="/ppt/slides/slide2.xml" Id="R2ed4091b59644df1" /><Relationship Type="http://schemas.openxmlformats.org/officeDocument/2006/relationships/slide" Target="/ppt/slides/slide3.xml" Id="R19e472da20db43f9" /><Relationship Type="http://schemas.openxmlformats.org/officeDocument/2006/relationships/slide" Target="/ppt/slides/slide4.xml" Id="R9995e37b96964c2c" /><Relationship Type="http://schemas.openxmlformats.org/officeDocument/2006/relationships/slide" Target="/ppt/slides/slide5.xml" Id="R77c9440562a948ed" /><Relationship Type="http://schemas.openxmlformats.org/officeDocument/2006/relationships/slide" Target="/ppt/slides/slide6.xml" Id="R5d33c825befa433d" /><Relationship Type="http://schemas.openxmlformats.org/officeDocument/2006/relationships/slide" Target="/ppt/slides/slide7.xml" Id="R3073addfc44d45b7" /><Relationship Type="http://schemas.openxmlformats.org/officeDocument/2006/relationships/slide" Target="/ppt/slides/slide8.xml" Id="R125838b3a0164805" /><Relationship Type="http://schemas.openxmlformats.org/officeDocument/2006/relationships/slide" Target="/ppt/slides/slide9.xml" Id="R97f60541ca474ab0" /><Relationship Type="http://schemas.openxmlformats.org/officeDocument/2006/relationships/slide" Target="/ppt/slides/slide10.xml" Id="R13897dc940754895" /><Relationship Type="http://schemas.openxmlformats.org/officeDocument/2006/relationships/slide" Target="/ppt/slides/slide11.xml" Id="R51b09957c1a34ecf" /><Relationship Type="http://schemas.openxmlformats.org/officeDocument/2006/relationships/slide" Target="/ppt/slides/slide12.xml" Id="Rd8f019bf5df24d92" /><Relationship Type="http://schemas.openxmlformats.org/officeDocument/2006/relationships/slide" Target="/ppt/slides/slide13.xml" Id="Rdb92ca20d003493a" /><Relationship Type="http://schemas.openxmlformats.org/officeDocument/2006/relationships/slide" Target="/ppt/slides/slide14.xml" Id="R7ecb680b9d504492" /><Relationship Type="http://schemas.openxmlformats.org/officeDocument/2006/relationships/slide" Target="/ppt/slides/slide15.xml" Id="Rf053b0b67d74469d" /><Relationship Type="http://schemas.openxmlformats.org/officeDocument/2006/relationships/slide" Target="/ppt/slides/slide16.xml" Id="Rc70713439ae14187" /><Relationship Type="http://schemas.openxmlformats.org/officeDocument/2006/relationships/slide" Target="/ppt/slides/slide17.xml" Id="R0847c7bcb775427f" /><Relationship Type="http://schemas.openxmlformats.org/officeDocument/2006/relationships/slide" Target="/ppt/slides/slide18.xml" Id="R12e779a235264806" /><Relationship Type="http://schemas.openxmlformats.org/officeDocument/2006/relationships/slide" Target="/ppt/slides/slide19.xml" Id="Rb28d8f63b0994294" /><Relationship Type="http://schemas.openxmlformats.org/officeDocument/2006/relationships/slide" Target="/ppt/slides/slide20.xml" Id="R80e530758d544dde" /><Relationship Type="http://schemas.openxmlformats.org/officeDocument/2006/relationships/slide" Target="/ppt/slides/slide21.xml" Id="R6457d7b7eaa74482" /><Relationship Type="http://schemas.openxmlformats.org/officeDocument/2006/relationships/slide" Target="/ppt/slides/slide22.xml" Id="Rb865b0f0c8d14e32" /><Relationship Type="http://schemas.openxmlformats.org/officeDocument/2006/relationships/slide" Target="/ppt/slides/slide23.xml" Id="Rbe60a55eb48540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3caf76bf6d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c7d45677246f4" /><Relationship Type="http://schemas.openxmlformats.org/officeDocument/2006/relationships/notesMaster" Target="/ppt/notesMasters/notesMaster1.xml" Id="R2c784a3bd5b249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50299aac3d4c6d" /><Relationship Type="http://schemas.openxmlformats.org/officeDocument/2006/relationships/notesMaster" Target="/ppt/notesMasters/notesMaster1.xml" Id="R8a57c644341d4d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81d11864b24ece" /><Relationship Type="http://schemas.openxmlformats.org/officeDocument/2006/relationships/notesMaster" Target="/ppt/notesMasters/notesMaster1.xml" Id="R32db3b4968eb41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c538af823b4c42" /><Relationship Type="http://schemas.openxmlformats.org/officeDocument/2006/relationships/notesMaster" Target="/ppt/notesMasters/notesMaster1.xml" Id="R6fdab7fc6ccd40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d8ffc5a4c74a3b" /><Relationship Type="http://schemas.openxmlformats.org/officeDocument/2006/relationships/notesMaster" Target="/ppt/notesMasters/notesMaster1.xml" Id="R77d5ba0ad54d4a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e532e873524e5c" /><Relationship Type="http://schemas.openxmlformats.org/officeDocument/2006/relationships/notesMaster" Target="/ppt/notesMasters/notesMaster1.xml" Id="R4c56e9f905d746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f254c2806f486e" /><Relationship Type="http://schemas.openxmlformats.org/officeDocument/2006/relationships/notesMaster" Target="/ppt/notesMasters/notesMaster1.xml" Id="Rc7545de1533b46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7b51a2d85c44b3" /><Relationship Type="http://schemas.openxmlformats.org/officeDocument/2006/relationships/notesMaster" Target="/ppt/notesMasters/notesMaster1.xml" Id="Rd17bf15b33d242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3c47a0946b4b03" /><Relationship Type="http://schemas.openxmlformats.org/officeDocument/2006/relationships/notesMaster" Target="/ppt/notesMasters/notesMaster1.xml" Id="R87e56db202394e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99d05612f64909" /><Relationship Type="http://schemas.openxmlformats.org/officeDocument/2006/relationships/notesMaster" Target="/ppt/notesMasters/notesMaster1.xml" Id="Rcf4229c92bf245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ca32e524984a62" /><Relationship Type="http://schemas.openxmlformats.org/officeDocument/2006/relationships/notesMaster" Target="/ppt/notesMasters/notesMaster1.xml" Id="Rfaeea6a28f6e4a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9901613da64457" /><Relationship Type="http://schemas.openxmlformats.org/officeDocument/2006/relationships/notesMaster" Target="/ppt/notesMasters/notesMaster1.xml" Id="R0d90938e80714b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18bd684ba24196" /><Relationship Type="http://schemas.openxmlformats.org/officeDocument/2006/relationships/notesMaster" Target="/ppt/notesMasters/notesMaster1.xml" Id="R537b8789422c43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c3cba547d94a67" /><Relationship Type="http://schemas.openxmlformats.org/officeDocument/2006/relationships/notesMaster" Target="/ppt/notesMasters/notesMaster1.xml" Id="R78d5735d15d14e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052bf06510476d" /><Relationship Type="http://schemas.openxmlformats.org/officeDocument/2006/relationships/notesMaster" Target="/ppt/notesMasters/notesMaster1.xml" Id="R798feb464f8e4d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92fa13964043bf" /><Relationship Type="http://schemas.openxmlformats.org/officeDocument/2006/relationships/notesMaster" Target="/ppt/notesMasters/notesMaster1.xml" Id="R23c02a554e8749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b3cedf73884802" /><Relationship Type="http://schemas.openxmlformats.org/officeDocument/2006/relationships/notesMaster" Target="/ppt/notesMasters/notesMaster1.xml" Id="R1e7177db70764b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894b4982544879" /><Relationship Type="http://schemas.openxmlformats.org/officeDocument/2006/relationships/notesMaster" Target="/ppt/notesMasters/notesMaster1.xml" Id="Rcc9c755c0f7744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663a3b6ce443d0" /><Relationship Type="http://schemas.openxmlformats.org/officeDocument/2006/relationships/notesMaster" Target="/ppt/notesMasters/notesMaster1.xml" Id="Rd2796f6e44464b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e1ee2888d74455" /><Relationship Type="http://schemas.openxmlformats.org/officeDocument/2006/relationships/notesMaster" Target="/ppt/notesMasters/notesMaster1.xml" Id="Rfe2a9799e4654c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5b16fa18dc4162" /><Relationship Type="http://schemas.openxmlformats.org/officeDocument/2006/relationships/notesMaster" Target="/ppt/notesMasters/notesMaster1.xml" Id="R41f3b6544a4c47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99b058c7fd446f" /><Relationship Type="http://schemas.openxmlformats.org/officeDocument/2006/relationships/notesMaster" Target="/ppt/notesMasters/notesMaster1.xml" Id="R9b52aaebe1d84f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8478a4beae543dd" /><Relationship Type="http://schemas.openxmlformats.org/officeDocument/2006/relationships/notesMaster" Target="/ppt/notesMasters/notesMaster1.xml" Id="R412b77b56af442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the question as a search for a universal social basis. The deck tests Madhyasth Darshan's proposal against material, philosophical and religious alternatives without requiring algebraic notation.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universal basis must connect human identity, objective value, material life, institutions and intergenerational transmission. No inherited community authority can serve as the admission condition for all humankind.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 provision and achievement distinct. Coexistence may provide plurality and mutuality, while justice, prosperity and trustworthy institutions remain human accomplishments evidenced in conduct.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these as dependencies, not an automatic historical ladder. Each level adds explanatory requirements, and every institutional claim remains open to evidence, correction and safeguards.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Unity does not require a collective super-person. Real plurality, shared ground and coordination can coexist while persons remain distinct and answerable.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Karm Darshan links rule, justice, resolution and truth without collapsing them. The sequence becomes socially meaningful only when education and orderliness make understanding transmissible.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four orders differ by conformance and achieved conduct. Human beings are not humane merely by species membership; education is required because evaluation and error are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Value is explicit in relationship: utility and art support life, jeevan values describe inner capacity, human values arise in relationship, and established values require public fulfilment.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Separate the social argument from the disputed atomic mechanism. The paper adopts the jeevan-body distinction as Madhyasth Darshan's account while leaving its metaphysical and empirical burden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body and jeevan form one field of responsibility without becoming identical. Evaluation belongs to jeevan; sensation and material action occur through the body.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Pleasure, health and material gain are legitimate but insufficient as a whole standpoint. Justice, resolution and truth must regulate rather than abolish lower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Justice fulfils relationship; law protects the conditions under which justice can emerge. Statutory force cannot substitute for recognition, but protection remains necessary while self-regulation is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Understanding must become recognisable conduct. Claims of awakening remain contestable through study, relationship, fulfilment and correction rather than authority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Completeness names growing stability among constitution, activity and conduct. It is evidence to examine, not a claim of moral flawlessness.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five tendencies answer recurring engines of division: comparison, hostility, dogma, complexity used as evasion and fear. They remain practical disciplines, not proof of metaphysical correctness.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Reverse the usual sequence: study, understand, act, evaluate, correct and transmit. Education carries both conclusions and the capacity to investigate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Undivided society preserves persons, families, languages and cultures. Difference becomes division when responsibility stops at a smaller identity and excludes the whole.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Prosperity means assured access to needed means plus right-use, not accumulation without limit. Production remains answerable to ecology, labour, need and social continuity.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four human goals constrain one another. Resolution without prosperity is fragile; prosperity without fearlessness and coexistence can become extractive.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Assemblies coordinate shared purpose at widening scales without becoming a larger self. Education, justice-security, health-restraint, production-work and exchange-reserve must remain mutually answerable.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Science contributes public method, Advaita contributes self-inquiry, and Hindu traditions contribute durable moral practices. None alone supplies a universally examinable account of identity, ends, material life, institutions and participation.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mixed society can improve before universal awakening. Begin with limited exemplars, test ordinary practices, protect inquiry, federate what works, and require humane conduct rather than metaphysical assent.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Conclude with a research programme, not inevitability. The direction is credible only where resolution, prosperity, fearlessness and coexistence become publicly examinable across diverse institutions.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d47f0ec1c4445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8c2879345948c4" /><Relationship Type="http://schemas.openxmlformats.org/officeDocument/2006/relationships/slideLayout" Target="/ppt/slideLayouts/slideLayout1.xml" Id="Rf445be6afaf54b3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45be6afaf54b3a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ff800640e42ea" /><Relationship Type="http://schemas.openxmlformats.org/officeDocument/2006/relationships/notesSlide" Target="/ppt/notesSlides/notesSlide1.xml" Id="R0e2c63e6df7048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7b2a7cea94794" /><Relationship Type="http://schemas.openxmlformats.org/officeDocument/2006/relationships/notesSlide" Target="/ppt/notesSlides/notesSlide2.xml" Id="R197f314417684d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c5f9d96bb43d9" /><Relationship Type="http://schemas.openxmlformats.org/officeDocument/2006/relationships/notesSlide" Target="/ppt/notesSlides/notesSlide3.xml" Id="R956b361457cc45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8cc5fd92348b1" /><Relationship Type="http://schemas.openxmlformats.org/officeDocument/2006/relationships/notesSlide" Target="/ppt/notesSlides/notesSlide4.xml" Id="Ra7688d6757fe4c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41036593248be" /><Relationship Type="http://schemas.openxmlformats.org/officeDocument/2006/relationships/notesSlide" Target="/ppt/notesSlides/notesSlide5.xml" Id="Rb15de8223e9d49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99ba7e9fd4778" /><Relationship Type="http://schemas.openxmlformats.org/officeDocument/2006/relationships/notesSlide" Target="/ppt/notesSlides/notesSlide6.xml" Id="Rde1e4f31b77646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07e8e9bf6449a" /><Relationship Type="http://schemas.openxmlformats.org/officeDocument/2006/relationships/notesSlide" Target="/ppt/notesSlides/notesSlide7.xml" Id="R90e6be5dae5b42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2ba31abde4b99" /><Relationship Type="http://schemas.openxmlformats.org/officeDocument/2006/relationships/notesSlide" Target="/ppt/notesSlides/notesSlide8.xml" Id="Re0502d47fe7e40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3b5e428084e3f" /><Relationship Type="http://schemas.openxmlformats.org/officeDocument/2006/relationships/notesSlide" Target="/ppt/notesSlides/notesSlide9.xml" Id="R26f78ab7079c4d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8078929db4d36" /><Relationship Type="http://schemas.openxmlformats.org/officeDocument/2006/relationships/notesSlide" Target="/ppt/notesSlides/notesSlide10.xml" Id="R3bef2aafd3e640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0be7321864f7f" /><Relationship Type="http://schemas.openxmlformats.org/officeDocument/2006/relationships/notesSlide" Target="/ppt/notesSlides/notesSlide11.xml" Id="Rfd10c32018d143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5bed9152146b4" /><Relationship Type="http://schemas.openxmlformats.org/officeDocument/2006/relationships/notesSlide" Target="/ppt/notesSlides/notesSlide12.xml" Id="R263af201da504d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48277ffd64e23" /><Relationship Type="http://schemas.openxmlformats.org/officeDocument/2006/relationships/notesSlide" Target="/ppt/notesSlides/notesSlide13.xml" Id="R2276ddb936a441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2ecd115434f39" /><Relationship Type="http://schemas.openxmlformats.org/officeDocument/2006/relationships/notesSlide" Target="/ppt/notesSlides/notesSlide14.xml" Id="R2c365133914447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b322cee714e0d" /><Relationship Type="http://schemas.openxmlformats.org/officeDocument/2006/relationships/image" Target="/ppt/media/image.png" Id="R8586a837427149d2" /><Relationship Type="http://schemas.openxmlformats.org/officeDocument/2006/relationships/image" Target="/ppt/media/image2.png" Id="R4463e3147ba64669" /><Relationship Type="http://schemas.openxmlformats.org/officeDocument/2006/relationships/image" Target="/ppt/media/image3.png" Id="R48ab1236645143a2" /><Relationship Type="http://schemas.openxmlformats.org/officeDocument/2006/relationships/image" Target="/ppt/media/image4.png" Id="R1735e6dfbbcb40ac" /><Relationship Type="http://schemas.openxmlformats.org/officeDocument/2006/relationships/image" Target="/ppt/media/image5.png" Id="Rca97ace0c65a474e" /><Relationship Type="http://schemas.openxmlformats.org/officeDocument/2006/relationships/notesSlide" Target="/ppt/notesSlides/notesSlide15.xml" Id="R4b0b58b85aaa4f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3e51c49594456" /><Relationship Type="http://schemas.openxmlformats.org/officeDocument/2006/relationships/notesSlide" Target="/ppt/notesSlides/notesSlide16.xml" Id="Rcb9192d245604c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50021b4654c0c" /><Relationship Type="http://schemas.openxmlformats.org/officeDocument/2006/relationships/notesSlide" Target="/ppt/notesSlides/notesSlide17.xml" Id="R81689d026f9742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5359fe54d42a0" /><Relationship Type="http://schemas.openxmlformats.org/officeDocument/2006/relationships/notesSlide" Target="/ppt/notesSlides/notesSlide18.xml" Id="R64b73a31d6ee44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a03ce30eb4370" /><Relationship Type="http://schemas.openxmlformats.org/officeDocument/2006/relationships/notesSlide" Target="/ppt/notesSlides/notesSlide19.xml" Id="R6eef0526939441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721e6a5b54d00" /><Relationship Type="http://schemas.openxmlformats.org/officeDocument/2006/relationships/notesSlide" Target="/ppt/notesSlides/notesSlide20.xml" Id="Rb7b156c37a1f45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da06676e14bb0" /><Relationship Type="http://schemas.openxmlformats.org/officeDocument/2006/relationships/notesSlide" Target="/ppt/notesSlides/notesSlide21.xml" Id="R27f54bad11484d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154f6c7ba42fa" /><Relationship Type="http://schemas.openxmlformats.org/officeDocument/2006/relationships/notesSlide" Target="/ppt/notesSlides/notesSlide22.xml" Id="Rd08fe604ef0f40f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02bb75bb74e34" /><Relationship Type="http://schemas.openxmlformats.org/officeDocument/2006/relationships/notesSlide" Target="/ppt/notesSlides/notesSlide23.xml" Id="R480bb62a360246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4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08609D86-CFF3-43A9-857D-199952E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143000"/>
            <a:ext cx="365760" cy="201168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F5168"/>
          </a:solidFill>
          <a:ln xmlns:a="http://schemas.openxmlformats.org/drawingml/2006/main" w="9525" cmpd="sng">
            <a:solidFill>
              <a:srgbClr val="9DB4C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446A5B0C-85B7-4B38-824F-BFF62827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143000"/>
            <a:ext cx="365760" cy="2304288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F4A32"/>
          </a:solidFill>
          <a:ln xmlns:a="http://schemas.openxmlformats.org/drawingml/2006/main" w="9525" cmpd="sng">
            <a:solidFill>
              <a:srgbClr val="A3B8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5C40AC9A-8CED-4167-8B96-8D72F320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143000"/>
            <a:ext cx="365760" cy="259689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A4228"/>
          </a:solidFill>
          <a:ln xmlns:a="http://schemas.openxmlformats.org/drawingml/2006/main" w="9525" cmpd="sng">
            <a:solidFill>
              <a:srgbClr val="C4B0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8653D5C6-8639-4CEB-A530-704D2836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1143000"/>
            <a:ext cx="365760" cy="2889504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4A3868"/>
          </a:solidFill>
          <a:ln xmlns:a="http://schemas.openxmlformats.org/drawingml/2006/main" w="9525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189E403F-03DA-4D0D-B804-E05271EB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1143000"/>
            <a:ext cx="365760" cy="3182112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8543F"/>
          </a:solidFill>
          <a:ln xmlns:a="http://schemas.openxmlformats.org/drawingml/2006/main" w="9525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514CDAC6-9071-4D5B-87BA-5028CD28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51560"/>
            <a:ext cx="8046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9DB4C2"/>
                </a:solidFill>
                <a:latin typeface="Calibri"/>
                <a:ea typeface="Calibri"/>
                <a:cs typeface="Calibri"/>
              </a:rPr>
              <a:t>MADHYASTH DARSHAN  ·  AKHAND SAMAJ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355E0DC9-3678-4CA0-89BD-3D30D9D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813816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How Undivided Society</a:t>
            </a:r>
          </a:p>
          <a:p xmlns:a="http://schemas.openxmlformats.org/drawingml/2006/main"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Is Established</a:t>
            </a: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76BA3987-20F4-4985-95CF-6699B50F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87782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9D6DF"/>
                </a:solidFill>
                <a:latin typeface="Calibri"/>
                <a:ea typeface="Calibri"/>
                <a:cs typeface="Calibri"/>
              </a:rPr>
              <a:t>A universal basis, the limits of science-only materialism, Advaita and religious authority — and the path from understanding to social evidence.</a:t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A9FFE910-6251-4917-8996-4A0AAB6B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550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94A2"/>
                </a:solidFill>
                <a:latin typeface="Calibri"/>
                <a:ea typeface="Calibri"/>
                <a:cs typeface="Calibri"/>
              </a:rPr>
              <a:t>AnalyticMadhyasthDarshan.org</a:t>
            </a:r>
          </a:p>
        </p:txBody>
      </p:sp>
    </p:spTree>
    <p:extLst>
      <p:ext uri="{BB962C8B-B14F-4D97-AF65-F5344CB8AC3E}">
        <p14:creationId xmlns:p14="http://schemas.microsoft.com/office/powerpoint/2010/main" val="1181715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5F0E0386-CA42-4F31-BA15-DB629857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THE STARTING POINT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26BA928B-F927-4A60-B333-6EF20A3F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What must a universal social basis explain?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1387ABBC-62C5-4D66-BB14-F4135D9F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8521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1F2D3A"/>
                </a:solidFill>
                <a:latin typeface="Calibri"/>
                <a:ea typeface="Calibri"/>
                <a:cs typeface="Calibri"/>
              </a:rPr>
              <a:t>A basis for all humankind must explain the human being, objective value and humane conduct; include production, ecology and institutions; and show how understanding can pass across generations without permanent coercion or one community's inherited authority.</a:t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0D53354D-7A3E-4CED-8F33-103918A8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5852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The basis must join three domains:</a:t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02060EEC-7693-4241-ABAA-263DEE0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16916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6A3AE9AC-6774-47B6-A67D-7378E073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16916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Individual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awakening</a:t>
            </a: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D25B7C48-FFE8-4203-8EF7-84773FB9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4389120"/>
            <a:ext cx="3657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850E7DB0-04B6-452E-914D-B1E1E2CF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176" y="4389120"/>
            <a:ext cx="16916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15924530-7E27-40C0-8DA1-E6FECFF0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176" y="4389120"/>
            <a:ext cx="16916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Family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order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51073385-3125-4125-87A0-90803123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4389120"/>
            <a:ext cx="3657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66D8C31B-E6F0-449E-86EF-C574F9E9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389120"/>
            <a:ext cx="16916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1E1A5C1E-D9A7-460B-8638-BEF86432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389120"/>
            <a:ext cx="16916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Universal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orderliness</a:t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89F6F8C3-A8A1-4548-8DEB-DC4B0C71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83080"/>
            <a:ext cx="489204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2F516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F72FA738-5084-43DA-B12C-CFFAD076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764792"/>
            <a:ext cx="731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EDE2DCF7-300C-4133-A515-93C443B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947672"/>
            <a:ext cx="4114800" cy="3236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1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Realising coexistence closes the knowledge-order gate. When awakened humans evidence completeness in activity and conduct, undivided society and universal orderliness become livable tradition rather than aspiration alone.</a:t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— Synthesis of JVD pp. 16–18; MVD Ch. 4</a:t>
            </a:r>
          </a:p>
        </p:txBody>
      </p:sp>
    </p:spTree>
    <p:extLst>
      <p:ext uri="{BB962C8B-B14F-4D97-AF65-F5344CB8AC3E}">
        <p14:creationId xmlns:p14="http://schemas.microsoft.com/office/powerpoint/2010/main" val="13973209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F51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FA239483-89B6-4F9E-8752-C4744B2B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THE CENTRAL CLAIM</a:t>
            </a: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C2142992-2957-4A87-A02C-9313EC37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Provision is not achievement</a:t>
            </a: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27901530-04E8-44F0-A6C3-CAA69D8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0972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D8E4EC"/>
                </a:solidFill>
                <a:latin typeface="Calibri"/>
                <a:ea typeface="Calibri"/>
                <a:cs typeface="Calibri"/>
              </a:rPr>
              <a:t>Coexistence provisions plurality, mutuality and the possibility of value. Humans must establish justice, prosperity and trustworthy institutions. Undivided society is the public evidence of that work — not a mechanical consequence of ontology.</a:t>
            </a: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91118802-7518-49D0-A5A5-0FE9213F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356616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7465C"/>
          </a:solidFill>
          <a:ln xmlns:a="http://schemas.openxmlformats.org/drawingml/2006/main" w="12700" cmpd="sng">
            <a:solidFill>
              <a:srgbClr val="4A627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266012E0-46B3-42A4-82C9-B5A26880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29000"/>
            <a:ext cx="29809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Coexistence provisions</a:t>
            </a: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C2E75E87-3135-4804-BFA7-DAE2FBE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34840"/>
            <a:ext cx="2980944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C9D6DF"/>
                </a:solidFill>
                <a:latin typeface="Calibri"/>
                <a:ea typeface="Calibri"/>
                <a:cs typeface="Calibri"/>
              </a:rPr>
              <a:t>Real units, mutuality, activity and ecological conditions make humane order possible.</a:t>
            </a: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96601645-E865-458E-A145-566C6836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154680"/>
            <a:ext cx="356616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7465C"/>
          </a:solidFill>
          <a:ln xmlns:a="http://schemas.openxmlformats.org/drawingml/2006/main" w="12700" cmpd="sng">
            <a:solidFill>
              <a:srgbClr val="4A627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4CFB80BB-BB37-4FC0-93B4-0FF45A3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429000"/>
            <a:ext cx="29809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Humans must achieve</a:t>
            </a: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B98125DD-ECD8-49DF-B5B2-A42C5286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4434840"/>
            <a:ext cx="2980944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C9D6DF"/>
                </a:solidFill>
                <a:latin typeface="Calibri"/>
                <a:ea typeface="Calibri"/>
                <a:cs typeface="Calibri"/>
              </a:rPr>
              <a:t>Understanding must become justice, right-use, fulfilled relationships and dependable institutions.</a:t>
            </a: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FFA27ADF-B923-4A10-A66A-D4A17583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154680"/>
            <a:ext cx="356616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7465C"/>
          </a:solidFill>
          <a:ln xmlns:a="http://schemas.openxmlformats.org/drawingml/2006/main" w="12700" cmpd="sng">
            <a:solidFill>
              <a:srgbClr val="4A627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8306CC29-766F-4DF4-9710-E833DAD0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429000"/>
            <a:ext cx="29809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Conduct is the evidence</a:t>
            </a: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8E6B3A5D-7D3A-4B2A-B402-A6CC1541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434840"/>
            <a:ext cx="2980944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C9D6DF"/>
                </a:solidFill>
                <a:latin typeface="Calibri"/>
                <a:ea typeface="Calibri"/>
                <a:cs typeface="Calibri"/>
              </a:rPr>
              <a:t>Claims of awakening remain answerable to affected people, material outcomes and public evaluation.</a:t>
            </a:r>
          </a:p>
        </p:txBody>
      </p:sp>
    </p:spTree>
    <p:extLst>
      <p:ext uri="{BB962C8B-B14F-4D97-AF65-F5344CB8AC3E}">
        <p14:creationId xmlns:p14="http://schemas.microsoft.com/office/powerpoint/2010/main" val="1811847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3916B785-CB54-4EA8-83C1-54BCBD40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THE WHOLE IN ONE VIEW</a:t>
            </a: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8C23A068-3FE9-4333-B744-75601C56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Five dependencies — no deterministic ladder</a:t>
            </a: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01FC49DE-5C57-4248-AC29-5819DACF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781812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15225" cmpd="sng">
            <a:solidFill>
              <a:srgbClr val="9DB4C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F75EA257-B66E-4C75-8580-058EDBBA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3852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1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C08E04BF-5B67-41CE-A3D7-F1314F7F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3852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</a:t>
            </a: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12B02277-D6DC-4EFD-871D-794E21AD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783080"/>
            <a:ext cx="690372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Coexistence basis
real plurality · mutuality · material and ecological conditions</a:t>
            </a:r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0CFB9866-B55A-4A81-B700-7075C46C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781812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EE4"/>
          </a:solidFill>
          <a:ln xmlns:a="http://schemas.openxmlformats.org/drawingml/2006/main" w="15225" cmpd="sng">
            <a:solidFill>
              <a:srgbClr val="A3B8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6DEA0003-AFAE-4A26-9427-9563AC3B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61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4A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640B38AC-56AB-4B7B-A7F1-9AB67DE0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61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73ABF583-7151-4540-96F7-3E50081A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606040"/>
            <a:ext cx="690372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Human distinctiveness
jeevan–body claim · evaluation · achieved conduct</a:t>
            </a: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1820EBA8-6C71-4E11-A1D7-084E4EC5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781812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EBE4"/>
          </a:solidFill>
          <a:ln xmlns:a="http://schemas.openxmlformats.org/drawingml/2006/main" w="15225" cmpd="sng">
            <a:solidFill>
              <a:srgbClr val="C4B0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CB943D2C-360F-4405-932F-8CAD9D28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8444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422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2F86BC82-335B-45AF-B037-547DFDB5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844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CE71D6F4-1881-4132-8BE9-B78B763D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429000"/>
            <a:ext cx="690372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Understanding and justice
study · relationship · value · mutual satisfaction</a:t>
            </a: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80946C67-F11A-42B4-9F39-C5932B64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781812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 w="15225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9A57D92C-BF54-42EF-90E9-FD946DB8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0740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6683C545-EEA8-4B41-A267-4A4B9E4B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0740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900EDBEA-E19E-4671-AB28-637232AB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251960"/>
            <a:ext cx="690372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Family and institutions
prosperity · five dimensions · policy · safeguards</a:t>
            </a:r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1158A21A-D2C8-4A6F-A6BB-32EC0143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781812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5225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BABE9A18-A6C9-498A-A5AD-ED393E5F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23036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EDE8501C-AFE5-4738-B1D8-4CB644C7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23036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1A56B8CE-9A81-42E4-9B8A-CEE3A72E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074920"/>
            <a:ext cx="690372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Transmission and correction
education-sanskar · dialogue · evidence across generations</a:t>
            </a: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2FD86AC5-C64B-454B-B8E4-D7927C67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43600"/>
            <a:ext cx="617220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F51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247CC84F-59FF-425E-A038-2DD265F9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43600"/>
            <a:ext cx="61722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TELOS  ·  Resolution + prosperity + fearlessness + coexistence</a:t>
            </a:r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1A86C40B-95BF-4B2A-A42B-A4CD6992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783080"/>
            <a:ext cx="2971800" cy="448056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D8E0E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E38CF865-F8C3-4C57-9EE2-480A9960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How to read the chain</a:t>
            </a:r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75648F69-7A97-42E2-B401-D708976D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23160"/>
            <a:ext cx="256032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2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These are explanatory and practical dependencies, not a claim that history advances automatically.</a:t>
            </a:r>
          </a:p>
          <a:p xmlns:a="http://schemas.openxmlformats.org/drawingml/2006/main">
            <a:pPr marL="342900" indent="-3429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sz="12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Material provision does not produce justice by itself.</a:t>
            </a:r>
          </a:p>
          <a:p xmlns:a="http://schemas.openxmlformats.org/drawingml/2006/main">
            <a:pPr marL="342900" indent="-3429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sz="12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Institutions may improve through partial, revisable achievements.</a:t>
            </a:r>
          </a:p>
          <a:p xmlns:a="http://schemas.openxmlformats.org/drawingml/2006/main">
            <a:pPr marL="342900" indent="-3429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sz="12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Public evidence and correction matter at every level.</a:t>
            </a:r>
          </a:p>
        </p:txBody>
      </p:sp>
    </p:spTree>
    <p:extLst>
      <p:ext uri="{BB962C8B-B14F-4D97-AF65-F5344CB8AC3E}">
        <p14:creationId xmlns:p14="http://schemas.microsoft.com/office/powerpoint/2010/main" val="1157644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7F81194A-295C-4C64-AF3E-48C89929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1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752F2AA8-66E4-4D47-8BD7-558583B3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5C046C35-2ACD-4C17-B38F-08D94089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FOUNDATION  ·  COEXISTENCE</a:t>
            </a:r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6943D24C-0295-4EB4-9CEA-E0205F33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Unity without erasing distinct persons</a:t>
            </a:r>
          </a:p>
        </p:txBody>
      </p:sp>
      <p:sp>
        <p:nvSpPr>
          <p:cNvPr id="103" name="Google Shape;103;p7">
            <a:extLst xmlns:a="http://schemas.openxmlformats.org/drawingml/2006/main">
              <a:ext uri="{FF2B5EF4-FFF2-40B4-BE49-F238E27FC236}">
                <a16:creationId xmlns:a16="http://schemas.microsoft.com/office/drawing/2014/main" id="{FCECD958-6748-47D6-BBA8-EFFDF723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897880" cy="132588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" name="Google Shape;104;p7">
            <a:extLst xmlns:a="http://schemas.openxmlformats.org/drawingml/2006/main">
              <a:ext uri="{FF2B5EF4-FFF2-40B4-BE49-F238E27FC236}">
                <a16:creationId xmlns:a16="http://schemas.microsoft.com/office/drawing/2014/main" id="{5C01173D-B767-42D7-8CD3-D8D18A9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75104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Real plurality in one ground</a:t>
            </a:r>
          </a:p>
        </p:txBody>
      </p:sp>
      <p:sp>
        <p:nvSpPr>
          <p:cNvPr id="105" name="Google Shape;105;p7">
            <a:extLst xmlns:a="http://schemas.openxmlformats.org/drawingml/2006/main">
              <a:ext uri="{FF2B5EF4-FFF2-40B4-BE49-F238E27FC236}">
                <a16:creationId xmlns:a16="http://schemas.microsoft.com/office/drawing/2014/main" id="{09B562B5-9A0C-4DE7-A488-FD2C37C2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40864"/>
            <a:ext cx="54864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Existence is coexistence: formless satta and countless bounded units are ever present together. Units remain real and distinct; unity need not mean sameness, absorption or subordination to a collective whole.</a:t>
            </a:r>
          </a:p>
        </p:txBody>
      </p:sp>
      <p:sp>
        <p:nvSpPr>
          <p:cNvPr id="106" name="Google Shape;106;p7">
            <a:extLst xmlns:a="http://schemas.openxmlformats.org/drawingml/2006/main">
              <a:ext uri="{FF2B5EF4-FFF2-40B4-BE49-F238E27FC236}">
                <a16:creationId xmlns:a16="http://schemas.microsoft.com/office/drawing/2014/main" id="{80A8051E-2E0C-407C-889C-4E1E6DDA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897880" cy="132588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7" name="Google Shape;107;p7">
            <a:extLst xmlns:a="http://schemas.openxmlformats.org/drawingml/2006/main">
              <a:ext uri="{FF2B5EF4-FFF2-40B4-BE49-F238E27FC236}">
                <a16:creationId xmlns:a16="http://schemas.microsoft.com/office/drawing/2014/main" id="{E22831C7-94DB-4309-AC82-3205026E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38144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Provision, not command</a:t>
            </a:r>
          </a:p>
        </p:txBody>
      </p:sp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F3FE0273-783F-43C4-92C6-9474807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03904"/>
            <a:ext cx="54864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Satta is actionless. Coexistence provisions activity, mutuality and regulation in units; it does not command particular human acts or guarantee humane outcomes regardless of conduct.</a:t>
            </a:r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E4D8A47A-0D45-4CEA-8089-656AB627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5897880" cy="132588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4083E5DB-7D77-4BEC-AC42-A51A2FC3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01184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Social consequence</a:t>
            </a:r>
          </a:p>
        </p:txBody>
      </p:sp>
      <p:sp>
        <p:nvSpPr>
          <p:cNvPr id="111" name="Google Shape;111;p7">
            <a:extLst xmlns:a="http://schemas.openxmlformats.org/drawingml/2006/main">
              <a:ext uri="{FF2B5EF4-FFF2-40B4-BE49-F238E27FC236}">
                <a16:creationId xmlns:a16="http://schemas.microsoft.com/office/drawing/2014/main" id="{9E25224F-8346-4E0A-AFC0-D8167407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66944"/>
            <a:ext cx="54864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Because distinct units remain real, social unity can preserve persons, families and cultures. The whole is a field of participation, not a super-being that replaces its members.</a:t>
            </a:r>
          </a:p>
        </p:txBody>
      </p:sp>
      <p:sp>
        <p:nvSpPr>
          <p:cNvPr id="112" name="Google Shape;112;p7">
            <a:extLst xmlns:a="http://schemas.openxmlformats.org/drawingml/2006/main">
              <a:ext uri="{FF2B5EF4-FFF2-40B4-BE49-F238E27FC236}">
                <a16:creationId xmlns:a16="http://schemas.microsoft.com/office/drawing/2014/main" id="{D23ECBB9-C652-48CD-89B9-7C982304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828800"/>
            <a:ext cx="489204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2F516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3" name="Google Shape;113;p7">
            <a:extLst xmlns:a="http://schemas.openxmlformats.org/drawingml/2006/main">
              <a:ext uri="{FF2B5EF4-FFF2-40B4-BE49-F238E27FC236}">
                <a16:creationId xmlns:a16="http://schemas.microsoft.com/office/drawing/2014/main" id="{857164B4-BC59-463D-AB25-2F50379F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810512"/>
            <a:ext cx="731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CF2BA5C0-372A-4A2C-B5C1-30F05999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993392"/>
            <a:ext cx="4114800" cy="1911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1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Nature, saturated in Omnipotence, exists as countless units. Each unit, being saturated in Omnipotence, remains surrounded, submerged, and soaked in it.</a:t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— SB, p. 48</a:t>
            </a:r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C1D04263-D3D7-4010-BFA0-3F22C87C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206240"/>
            <a:ext cx="4892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2F516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93E261E1-5E65-4393-99B2-FB4F0D9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187952"/>
            <a:ext cx="731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9927B8BF-FAA8-4EA2-A3F1-B3E20165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370832"/>
            <a:ext cx="4114800" cy="1682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1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Every entity of nature recognises another; that is why it fulfils. An atomic particle too recognises another… these particles abide in orderliness.</a:t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— JV, p. 69</a:t>
            </a:r>
          </a:p>
        </p:txBody>
      </p:sp>
    </p:spTree>
    <p:extLst>
      <p:ext uri="{BB962C8B-B14F-4D97-AF65-F5344CB8AC3E}">
        <p14:creationId xmlns:p14="http://schemas.microsoft.com/office/powerpoint/2010/main" val="6696734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D13AF5CF-8DFA-4978-8BB7-609A5482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1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4" name="Google Shape;124;p8">
            <a:extLst xmlns:a="http://schemas.openxmlformats.org/drawingml/2006/main">
              <a:ext uri="{FF2B5EF4-FFF2-40B4-BE49-F238E27FC236}">
                <a16:creationId xmlns:a16="http://schemas.microsoft.com/office/drawing/2014/main" id="{9FB95371-B6D6-492F-98B2-51E756FD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25" name="Google Shape;125;p8">
            <a:extLst xmlns:a="http://schemas.openxmlformats.org/drawingml/2006/main">
              <a:ext uri="{FF2B5EF4-FFF2-40B4-BE49-F238E27FC236}">
                <a16:creationId xmlns:a16="http://schemas.microsoft.com/office/drawing/2014/main" id="{E1701C62-EF6A-4950-86F6-A14F6B9C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FOUNDATION  ·  BALANCE</a:t>
            </a:r>
          </a:p>
        </p:txBody>
      </p:sp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DFA08F26-97C5-49E1-86A2-AC79E284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Rule, justice, resolution and truth</a:t>
            </a:r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7B008E7A-B898-4D19-835B-2E2C3CA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5778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Continuity without collapse</a:t>
            </a:r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30DE92E6-801D-4837-A23A-D42D534F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557784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Nature provisions mutuality and definite conduct in the lower orders. Human beings add evaluation and choice. Physical regularity is not yet justice, and moral aspiration is not yet an institution.</a:t>
            </a:r>
          </a:p>
        </p:txBody>
      </p: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A44C2402-D01A-4922-9F78-32F01356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2697480" cy="178308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E8EEE4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0" name="Google Shape;130;p8">
            <a:extLst xmlns:a="http://schemas.openxmlformats.org/drawingml/2006/main">
              <a:ext uri="{FF2B5EF4-FFF2-40B4-BE49-F238E27FC236}">
                <a16:creationId xmlns:a16="http://schemas.microsoft.com/office/drawing/2014/main" id="{565721E5-A8E3-4711-95BB-3458BAEC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052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Provision</a:t>
            </a:r>
          </a:p>
        </p:txBody>
      </p:sp>
      <p:sp>
        <p:nvSpPr>
          <p:cNvPr id="131" name="Google Shape;131;p8">
            <a:extLst xmlns:a="http://schemas.openxmlformats.org/drawingml/2006/main">
              <a:ext uri="{FF2B5EF4-FFF2-40B4-BE49-F238E27FC236}">
                <a16:creationId xmlns:a16="http://schemas.microsoft.com/office/drawing/2014/main" id="{CF541DBE-D78F-4E5F-8343-E6A680F1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26280"/>
            <a:ext cx="2377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Conditions for activity, mutuality and ecological balance.</a:t>
            </a:r>
          </a:p>
        </p:txBody>
      </p:sp>
      <p:sp>
        <p:nvSpPr>
          <p:cNvPr id="132" name="Google Shape;132;p8">
            <a:extLst xmlns:a="http://schemas.openxmlformats.org/drawingml/2006/main">
              <a:ext uri="{FF2B5EF4-FFF2-40B4-BE49-F238E27FC236}">
                <a16:creationId xmlns:a16="http://schemas.microsoft.com/office/drawing/2014/main" id="{440BEDA2-6288-443F-9376-7C7DB38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77640"/>
            <a:ext cx="2697480" cy="178308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2E5E2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A43DA022-A6FC-4B98-9945-CA75D49E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16052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8A4030"/>
                </a:solidFill>
                <a:latin typeface="Cambria"/>
                <a:ea typeface="Cambria"/>
                <a:cs typeface="Cambria"/>
              </a:rPr>
              <a:t>Achievement</a:t>
            </a:r>
          </a:p>
        </p:txBody>
      </p:sp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920B65E7-7C26-4A80-BA2B-4078A697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526280"/>
            <a:ext cx="2377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Humans must understand, act, evaluate and correct.</a:t>
            </a:r>
          </a:p>
        </p:txBody>
      </p:sp>
      <p:sp>
        <p:nvSpPr>
          <p:cNvPr id="135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952970F2-1E57-4BDE-9D7C-B1EC6E31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830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Karm Darshan's sequence</a:t>
            </a:r>
          </a:p>
        </p:txBody>
      </p:sp>
      <p:sp>
        <p:nvSpPr>
          <p:cNvPr id="136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1594708C-494F-4657-92FE-8028A3E6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86000"/>
            <a:ext cx="5120640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2F5168">
              <a:alpha val="9215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ECB54F48-679D-483B-A650-D524A31D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40487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B0FF6A49-1CA1-402B-BBDD-BE923F7B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40487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139" name="Google Shape;139;p8">
            <a:extLst xmlns:a="http://schemas.openxmlformats.org/drawingml/2006/main">
              <a:ext uri="{FF2B5EF4-FFF2-40B4-BE49-F238E27FC236}">
                <a16:creationId xmlns:a16="http://schemas.microsoft.com/office/drawing/2014/main" id="{DE2603F8-B91E-4BE2-BA60-2E8A1A5E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286000"/>
            <a:ext cx="4434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Social balance — education and orderliness</a:t>
            </a:r>
          </a:p>
        </p:txBody>
      </p:sp>
      <p:sp>
        <p:nvSpPr>
          <p:cNvPr id="140" name="Google Shape;140;p8">
            <a:extLst xmlns:a="http://schemas.openxmlformats.org/drawingml/2006/main">
              <a:ext uri="{FF2B5EF4-FFF2-40B4-BE49-F238E27FC236}">
                <a16:creationId xmlns:a16="http://schemas.microsoft.com/office/drawing/2014/main" id="{F3D417D6-E3C8-4426-B8D3-E2F1B466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5120640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2F5168">
              <a:alpha val="83137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1" name="Google Shape;141;p8">
            <a:extLst xmlns:a="http://schemas.openxmlformats.org/drawingml/2006/main">
              <a:ext uri="{FF2B5EF4-FFF2-40B4-BE49-F238E27FC236}">
                <a16:creationId xmlns:a16="http://schemas.microsoft.com/office/drawing/2014/main" id="{983ED3B6-8E41-46E8-A8E1-64A6357E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04495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2" name="Google Shape;142;p8">
            <a:extLst xmlns:a="http://schemas.openxmlformats.org/drawingml/2006/main">
              <a:ext uri="{FF2B5EF4-FFF2-40B4-BE49-F238E27FC236}">
                <a16:creationId xmlns:a16="http://schemas.microsoft.com/office/drawing/2014/main" id="{2FE16824-660D-4018-BF2A-7F542F6F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04495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143" name="Google Shape;143;p8">
            <a:extLst xmlns:a="http://schemas.openxmlformats.org/drawingml/2006/main">
              <a:ext uri="{FF2B5EF4-FFF2-40B4-BE49-F238E27FC236}">
                <a16:creationId xmlns:a16="http://schemas.microsoft.com/office/drawing/2014/main" id="{2D203A5D-E658-4059-A5F0-2A0F8C00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926080"/>
            <a:ext cx="4434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Realisation — coexistence as supreme truth</a:t>
            </a:r>
          </a:p>
        </p:txBody>
      </p:sp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48478596-490F-4F13-99EB-91E31775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566160"/>
            <a:ext cx="5120640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2F5168">
              <a:alpha val="74117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05F94364-6661-4158-94D0-481EBBB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68503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3DD579D0-9934-49D4-A161-2D40110D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68503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147" name="Google Shape;147;p8">
            <a:extLst xmlns:a="http://schemas.openxmlformats.org/drawingml/2006/main">
              <a:ext uri="{FF2B5EF4-FFF2-40B4-BE49-F238E27FC236}">
                <a16:creationId xmlns:a16="http://schemas.microsoft.com/office/drawing/2014/main" id="{FECB30DE-D946-44D0-B632-530980FF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566160"/>
            <a:ext cx="4434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Thought — resolution</a:t>
            </a:r>
          </a:p>
        </p:txBody>
      </p:sp>
      <p:sp>
        <p:nvSpPr>
          <p:cNvPr id="148" name="Google Shape;148;p8">
            <a:extLst xmlns:a="http://schemas.openxmlformats.org/drawingml/2006/main">
              <a:ext uri="{FF2B5EF4-FFF2-40B4-BE49-F238E27FC236}">
                <a16:creationId xmlns:a16="http://schemas.microsoft.com/office/drawing/2014/main" id="{57FC0412-4777-4A35-A39C-E246D33E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06240"/>
            <a:ext cx="5120640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2F5168">
              <a:alpha val="6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8">
            <a:extLst xmlns:a="http://schemas.openxmlformats.org/drawingml/2006/main">
              <a:ext uri="{FF2B5EF4-FFF2-40B4-BE49-F238E27FC236}">
                <a16:creationId xmlns:a16="http://schemas.microsoft.com/office/drawing/2014/main" id="{CAA7F466-28CA-4863-A13D-F29A4DE5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32511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0" name="Google Shape;150;p8">
            <a:extLst xmlns:a="http://schemas.openxmlformats.org/drawingml/2006/main">
              <a:ext uri="{FF2B5EF4-FFF2-40B4-BE49-F238E27FC236}">
                <a16:creationId xmlns:a16="http://schemas.microsoft.com/office/drawing/2014/main" id="{56975213-9668-4441-9409-A1A107B7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32511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51" name="Google Shape;151;p8">
            <a:extLst xmlns:a="http://schemas.openxmlformats.org/drawingml/2006/main">
              <a:ext uri="{FF2B5EF4-FFF2-40B4-BE49-F238E27FC236}">
                <a16:creationId xmlns:a16="http://schemas.microsoft.com/office/drawing/2014/main" id="{0ED985D7-528C-423C-9447-77D38074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206240"/>
            <a:ext cx="4434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Behaviour — justice</a:t>
            </a:r>
          </a:p>
        </p:txBody>
      </p:sp>
      <p:sp>
        <p:nvSpPr>
          <p:cNvPr id="152" name="Google Shape;152;p8">
            <a:extLst xmlns:a="http://schemas.openxmlformats.org/drawingml/2006/main">
              <a:ext uri="{FF2B5EF4-FFF2-40B4-BE49-F238E27FC236}">
                <a16:creationId xmlns:a16="http://schemas.microsoft.com/office/drawing/2014/main" id="{B0CF0328-05B9-4741-856C-547CAEAD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846320"/>
            <a:ext cx="5120640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2F5168">
              <a:alpha val="5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8">
            <a:extLst xmlns:a="http://schemas.openxmlformats.org/drawingml/2006/main">
              <a:ext uri="{FF2B5EF4-FFF2-40B4-BE49-F238E27FC236}">
                <a16:creationId xmlns:a16="http://schemas.microsoft.com/office/drawing/2014/main" id="{0599CA8F-D1F2-4613-9527-BD59A49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9651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4" name="Google Shape;154;p8">
            <a:extLst xmlns:a="http://schemas.openxmlformats.org/drawingml/2006/main">
              <a:ext uri="{FF2B5EF4-FFF2-40B4-BE49-F238E27FC236}">
                <a16:creationId xmlns:a16="http://schemas.microsoft.com/office/drawing/2014/main" id="{48A2F612-6F55-4467-8781-136E44CD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96519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5" name="Google Shape;155;p8">
            <a:extLst xmlns:a="http://schemas.openxmlformats.org/drawingml/2006/main">
              <a:ext uri="{FF2B5EF4-FFF2-40B4-BE49-F238E27FC236}">
                <a16:creationId xmlns:a16="http://schemas.microsoft.com/office/drawing/2014/main" id="{6A1EA475-38C5-4DE7-856D-3B7C5D9A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846320"/>
            <a:ext cx="4434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Activity — rule</a:t>
            </a:r>
          </a:p>
        </p:txBody>
      </p:sp>
      <p:sp>
        <p:nvSpPr>
          <p:cNvPr id="156" name="Google Shape;156;p8">
            <a:extLst xmlns:a="http://schemas.openxmlformats.org/drawingml/2006/main">
              <a:ext uri="{FF2B5EF4-FFF2-40B4-BE49-F238E27FC236}">
                <a16:creationId xmlns:a16="http://schemas.microsoft.com/office/drawing/2014/main" id="{4584220C-8075-4611-AD4C-217AAC26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486400"/>
            <a:ext cx="5120640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2F5168">
              <a:alpha val="4705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8">
            <a:extLst xmlns:a="http://schemas.openxmlformats.org/drawingml/2006/main">
              <a:ext uri="{FF2B5EF4-FFF2-40B4-BE49-F238E27FC236}">
                <a16:creationId xmlns:a16="http://schemas.microsoft.com/office/drawing/2014/main" id="{8CCB2C3B-7F94-433D-857C-5082A908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60527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8" name="Google Shape;158;p8">
            <a:extLst xmlns:a="http://schemas.openxmlformats.org/drawingml/2006/main">
              <a:ext uri="{FF2B5EF4-FFF2-40B4-BE49-F238E27FC236}">
                <a16:creationId xmlns:a16="http://schemas.microsoft.com/office/drawing/2014/main" id="{D8CC3A18-AFB6-4BC9-BB51-88221350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60527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59" name="Google Shape;159;p8">
            <a:extLst xmlns:a="http://schemas.openxmlformats.org/drawingml/2006/main">
              <a:ext uri="{FF2B5EF4-FFF2-40B4-BE49-F238E27FC236}">
                <a16:creationId xmlns:a16="http://schemas.microsoft.com/office/drawing/2014/main" id="{352DC891-B58D-4307-84C8-74609DA9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5486400"/>
            <a:ext cx="4434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Nature — satta as basis of balance</a:t>
            </a:r>
          </a:p>
        </p:txBody>
      </p:sp>
    </p:spTree>
    <p:extLst>
      <p:ext uri="{BB962C8B-B14F-4D97-AF65-F5344CB8AC3E}">
        <p14:creationId xmlns:p14="http://schemas.microsoft.com/office/powerpoint/2010/main" val="1879383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Google Shape;165;p9">
            <a:extLst xmlns:a="http://schemas.openxmlformats.org/drawingml/2006/main">
              <a:ext uri="{FF2B5EF4-FFF2-40B4-BE49-F238E27FC236}">
                <a16:creationId xmlns:a16="http://schemas.microsoft.com/office/drawing/2014/main" id="{860F7191-D72D-4B72-9D04-9FED230B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4A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0B58E998-5D27-46B2-9D2D-A2CEE5CD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67" name="Google Shape;167;p9">
            <a:extLst xmlns:a="http://schemas.openxmlformats.org/drawingml/2006/main">
              <a:ext uri="{FF2B5EF4-FFF2-40B4-BE49-F238E27FC236}">
                <a16:creationId xmlns:a16="http://schemas.microsoft.com/office/drawing/2014/main" id="{D4E0BD01-AB72-4C6B-A019-2457F6F8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F4A32"/>
                </a:solidFill>
                <a:latin typeface="Calibri"/>
                <a:ea typeface="Calibri"/>
                <a:cs typeface="Calibri"/>
              </a:rPr>
              <a:t>HUMAN ORDER  ·  ACHIEVED CONDUCT</a:t>
            </a:r>
          </a:p>
        </p:txBody>
      </p:sp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D4342D0D-A0EE-49DA-A4D7-040D9D2C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The human order cannot inherit conduct biologically</a:t>
            </a:r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F0A9FD72-07D9-4A10-8181-F4DC9043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6424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The four orders display different regimes of conduct. Material, pranic and animal conduct is definite through constitution, seed or species. Human beings can know, mis-evaluate, choose and revise; humane definiteness must be achieved.</a:t>
            </a:r>
          </a:p>
        </p:txBody>
      </p:sp>
      <p:graphicFrame>
        <p:nvGraphicFramePr>
          <p:cNvPr id="180" name="Google Shape;170;p9"/>
          <p:cNvGraphicFramePr/>
          <p:nvPr/>
        </p:nvGraphicFramePr>
        <p:xfrm>
          <a:off xmlns:a="http://schemas.openxmlformats.org/drawingml/2006/main" x="548640" y="27889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{823F6527-06EA-4F18-B08A-21B734C330FC}</a:tableStyleId>
              </a:tblPr>
              <a:tblGrid>
                <a:gridCol w="2286000"/>
                <a:gridCol w="2743200"/>
                <a:gridCol w="2377450"/>
              </a:tblGrid>
              <a:tr h="36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Order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2F4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Conformance mode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2F4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Definite or achieved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2F4A32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Material (padarth)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Result- / structural-conformance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Definite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Bio / pranic (pran)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Seed-conformance (genetic code, lineage)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Definite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Animal (jeev)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Species-conformance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Definite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Knowledge / human (gyan)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Sanskar-conformance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ACHIEVED — knowing → believing → recognising → fulfilling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9">
            <a:extLst xmlns:a="http://schemas.openxmlformats.org/drawingml/2006/main">
              <a:ext uri="{FF2B5EF4-FFF2-40B4-BE49-F238E27FC236}">
                <a16:creationId xmlns:a16="http://schemas.microsoft.com/office/drawing/2014/main" id="{ABCEE588-B7A4-410E-9F3D-C749B9EE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88920"/>
            <a:ext cx="342900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8EEE4"/>
          </a:solidFill>
          <a:ln xmlns:a="http://schemas.openxmlformats.org/drawingml/2006/main" w="12700" cmpd="sng">
            <a:solidFill>
              <a:srgbClr val="A3B8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2" name="Google Shape;172;p9">
            <a:extLst xmlns:a="http://schemas.openxmlformats.org/drawingml/2006/main">
              <a:ext uri="{FF2B5EF4-FFF2-40B4-BE49-F238E27FC236}">
                <a16:creationId xmlns:a16="http://schemas.microsoft.com/office/drawing/2014/main" id="{E01AC0DE-3127-4CCD-A346-6E9909A1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01752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Why education is load-bearing</a:t>
            </a:r>
          </a:p>
        </p:txBody>
      </p:sp>
      <p:sp>
        <p:nvSpPr>
          <p:cNvPr id="173" name="Google Shape;173;p9">
            <a:extLst xmlns:a="http://schemas.openxmlformats.org/drawingml/2006/main">
              <a:ext uri="{FF2B5EF4-FFF2-40B4-BE49-F238E27FC236}">
                <a16:creationId xmlns:a16="http://schemas.microsoft.com/office/drawing/2014/main" id="{EB154013-5C38-4003-A35D-80562865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566160"/>
            <a:ext cx="2971800" cy="224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Human conduct is carried through sanskar, not genetic code. A stable humane assembly must transmit the capacity to understand, fulfil relationships, evaluate consequences and improve practice. Education-sanskar is therefore constitutive, not an optional service.</a:t>
            </a:r>
          </a:p>
        </p:txBody>
      </p:sp>
    </p:spTree>
    <p:extLst>
      <p:ext uri="{BB962C8B-B14F-4D97-AF65-F5344CB8AC3E}">
        <p14:creationId xmlns:p14="http://schemas.microsoft.com/office/powerpoint/2010/main" val="634144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10">
            <a:extLst xmlns:a="http://schemas.openxmlformats.org/drawingml/2006/main">
              <a:ext uri="{FF2B5EF4-FFF2-40B4-BE49-F238E27FC236}">
                <a16:creationId xmlns:a16="http://schemas.microsoft.com/office/drawing/2014/main" id="{98C89A23-6542-4A89-8933-CE3C4E33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4A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0" name="Google Shape;180;p10">
            <a:extLst xmlns:a="http://schemas.openxmlformats.org/drawingml/2006/main">
              <a:ext uri="{FF2B5EF4-FFF2-40B4-BE49-F238E27FC236}">
                <a16:creationId xmlns:a16="http://schemas.microsoft.com/office/drawing/2014/main" id="{E1D74D77-5326-49FF-A31C-760AC5FF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81" name="Google Shape;181;p10">
            <a:extLst xmlns:a="http://schemas.openxmlformats.org/drawingml/2006/main">
              <a:ext uri="{FF2B5EF4-FFF2-40B4-BE49-F238E27FC236}">
                <a16:creationId xmlns:a16="http://schemas.microsoft.com/office/drawing/2014/main" id="{990E32E2-AA69-4B43-896C-DDEFFE2D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F4A32"/>
                </a:solidFill>
                <a:latin typeface="Calibri"/>
                <a:ea typeface="Calibri"/>
                <a:cs typeface="Calibri"/>
              </a:rPr>
              <a:t>HUMAN ORDER  ·  RELATIONSHIP AND VALUE</a:t>
            </a:r>
          </a:p>
        </p:txBody>
      </p:sp>
      <p:sp>
        <p:nvSpPr>
          <p:cNvPr id="182" name="Google Shape;182;p10">
            <a:extLst xmlns:a="http://schemas.openxmlformats.org/drawingml/2006/main">
              <a:ext uri="{FF2B5EF4-FFF2-40B4-BE49-F238E27FC236}">
                <a16:creationId xmlns:a16="http://schemas.microsoft.com/office/drawing/2014/main" id="{7719CD50-06E1-4929-8369-1A8F007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Value becomes explicit in human relationship</a:t>
            </a:r>
          </a:p>
        </p:txBody>
      </p:sp>
      <p:sp>
        <p:nvSpPr>
          <p:cNvPr id="183" name="Google Shape;183;p10">
            <a:extLst xmlns:a="http://schemas.openxmlformats.org/drawingml/2006/main">
              <a:ext uri="{FF2B5EF4-FFF2-40B4-BE49-F238E27FC236}">
                <a16:creationId xmlns:a16="http://schemas.microsoft.com/office/drawing/2014/main" id="{67C9848A-8753-4F9A-A478-EF0E474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Lower orders exhibit definite mutuality. Human relationship adds recognisable expectations, responsibility and evaluation. Six kinds of value name what is fulfilled; justice is the operation that tests fulfilment.</a:t>
            </a:r>
          </a:p>
        </p:txBody>
      </p:sp>
      <p:sp>
        <p:nvSpPr>
          <p:cNvPr id="184" name="Google Shape;184;p10">
            <a:extLst xmlns:a="http://schemas.openxmlformats.org/drawingml/2006/main">
              <a:ext uri="{FF2B5EF4-FFF2-40B4-BE49-F238E27FC236}">
                <a16:creationId xmlns:a16="http://schemas.microsoft.com/office/drawing/2014/main" id="{883A22F5-674C-4B81-8EC8-F3ED8FF1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3566160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E8EEE4"/>
          </a:solidFill>
          <a:ln xmlns:a="http://schemas.openxmlformats.org/drawingml/2006/main" w="12700" cmpd="sng">
            <a:solidFill>
              <a:srgbClr val="A3B89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5" name="Google Shape;185;p10">
            <a:extLst xmlns:a="http://schemas.openxmlformats.org/drawingml/2006/main">
              <a:ext uri="{FF2B5EF4-FFF2-40B4-BE49-F238E27FC236}">
                <a16:creationId xmlns:a16="http://schemas.microsoft.com/office/drawing/2014/main" id="{6C161474-E4A5-4806-A62A-81096EB7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974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A3B89A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86" name="Google Shape;186;p10">
            <a:extLst xmlns:a="http://schemas.openxmlformats.org/drawingml/2006/main">
              <a:ext uri="{FF2B5EF4-FFF2-40B4-BE49-F238E27FC236}">
                <a16:creationId xmlns:a16="http://schemas.microsoft.com/office/drawing/2014/main" id="{8665E6F4-E3C8-4A3A-93A9-11F67ED1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69748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Utility (upyogita)</a:t>
            </a:r>
          </a:p>
        </p:txBody>
      </p:sp>
      <p:sp>
        <p:nvSpPr>
          <p:cNvPr id="187" name="Google Shape;187;p10">
            <a:extLst xmlns:a="http://schemas.openxmlformats.org/drawingml/2006/main">
              <a:ext uri="{FF2B5EF4-FFF2-40B4-BE49-F238E27FC236}">
                <a16:creationId xmlns:a16="http://schemas.microsoft.com/office/drawing/2014/main" id="{D7FC769A-8734-49DC-9688-592A6E0E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310896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Usefulness of natural abundance through labour.</a:t>
            </a:r>
          </a:p>
        </p:txBody>
      </p:sp>
      <p:sp>
        <p:nvSpPr>
          <p:cNvPr id="188" name="Google Shape;188;p10">
            <a:extLst xmlns:a="http://schemas.openxmlformats.org/drawingml/2006/main">
              <a:ext uri="{FF2B5EF4-FFF2-40B4-BE49-F238E27FC236}">
                <a16:creationId xmlns:a16="http://schemas.microsoft.com/office/drawing/2014/main" id="{65C18AB5-282B-4B5E-B3F2-2D8FB164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514600"/>
            <a:ext cx="3566160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A3B89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9" name="Google Shape;189;p10">
            <a:extLst xmlns:a="http://schemas.openxmlformats.org/drawingml/2006/main">
              <a:ext uri="{FF2B5EF4-FFF2-40B4-BE49-F238E27FC236}">
                <a16:creationId xmlns:a16="http://schemas.microsoft.com/office/drawing/2014/main" id="{74E8D6CE-53A9-4693-BC12-6C31EEF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6974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A3B89A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90" name="Google Shape;190;p10">
            <a:extLst xmlns:a="http://schemas.openxmlformats.org/drawingml/2006/main">
              <a:ext uri="{FF2B5EF4-FFF2-40B4-BE49-F238E27FC236}">
                <a16:creationId xmlns:a16="http://schemas.microsoft.com/office/drawing/2014/main" id="{86E4B96E-C6B4-4F90-802A-53DE5B5A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9748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Art (kala)</a:t>
            </a:r>
          </a:p>
        </p:txBody>
      </p:sp>
      <p:sp>
        <p:nvSpPr>
          <p:cNvPr id="191" name="Google Shape;191;p10">
            <a:extLst xmlns:a="http://schemas.openxmlformats.org/drawingml/2006/main">
              <a:ext uri="{FF2B5EF4-FFF2-40B4-BE49-F238E27FC236}">
                <a16:creationId xmlns:a16="http://schemas.microsoft.com/office/drawing/2014/main" id="{590C1E0D-93B6-4566-881D-C76E405D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227832"/>
            <a:ext cx="310896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Aesthetic enhancement layered on usefulness.</a:t>
            </a:r>
          </a:p>
        </p:txBody>
      </p:sp>
      <p:sp>
        <p:nvSpPr>
          <p:cNvPr id="192" name="Google Shape;192;p10">
            <a:extLst xmlns:a="http://schemas.openxmlformats.org/drawingml/2006/main">
              <a:ext uri="{FF2B5EF4-FFF2-40B4-BE49-F238E27FC236}">
                <a16:creationId xmlns:a16="http://schemas.microsoft.com/office/drawing/2014/main" id="{E60DE9AD-28FA-4F22-9359-9E8C8D27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514600"/>
            <a:ext cx="3566160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E8EEE4"/>
          </a:solidFill>
          <a:ln xmlns:a="http://schemas.openxmlformats.org/drawingml/2006/main" w="12700" cmpd="sng">
            <a:solidFill>
              <a:srgbClr val="A3B89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10">
            <a:extLst xmlns:a="http://schemas.openxmlformats.org/drawingml/2006/main">
              <a:ext uri="{FF2B5EF4-FFF2-40B4-BE49-F238E27FC236}">
                <a16:creationId xmlns:a16="http://schemas.microsoft.com/office/drawing/2014/main" id="{0CB93F18-79B5-402E-8D24-EDE6AE86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6974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A3B89A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94" name="Google Shape;194;p10">
            <a:extLst xmlns:a="http://schemas.openxmlformats.org/drawingml/2006/main">
              <a:ext uri="{FF2B5EF4-FFF2-40B4-BE49-F238E27FC236}">
                <a16:creationId xmlns:a16="http://schemas.microsoft.com/office/drawing/2014/main" id="{C63EFE65-50C3-490E-AE59-086567DD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69748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Jeevan values</a:t>
            </a:r>
          </a:p>
        </p:txBody>
      </p:sp>
      <p:sp>
        <p:nvSpPr>
          <p:cNvPr id="195" name="Google Shape;195;p10">
            <a:extLst xmlns:a="http://schemas.openxmlformats.org/drawingml/2006/main">
              <a:ext uri="{FF2B5EF4-FFF2-40B4-BE49-F238E27FC236}">
                <a16:creationId xmlns:a16="http://schemas.microsoft.com/office/drawing/2014/main" id="{FA3D5BCD-F360-43FA-9871-D325BF51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227832"/>
            <a:ext cx="310896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Happiness, peace, contentment, bliss — harmonies within the sentient unit.</a:t>
            </a:r>
          </a:p>
        </p:txBody>
      </p:sp>
      <p:sp>
        <p:nvSpPr>
          <p:cNvPr id="196" name="Google Shape;196;p10">
            <a:extLst xmlns:a="http://schemas.openxmlformats.org/drawingml/2006/main">
              <a:ext uri="{FF2B5EF4-FFF2-40B4-BE49-F238E27FC236}">
                <a16:creationId xmlns:a16="http://schemas.microsoft.com/office/drawing/2014/main" id="{13EE4975-81EA-4D61-A14B-F20E731F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78808"/>
            <a:ext cx="3566160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A3B89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7" name="Google Shape;197;p10">
            <a:extLst xmlns:a="http://schemas.openxmlformats.org/drawingml/2006/main">
              <a:ext uri="{FF2B5EF4-FFF2-40B4-BE49-F238E27FC236}">
                <a16:creationId xmlns:a16="http://schemas.microsoft.com/office/drawing/2014/main" id="{826D875C-E666-48F4-9D19-D81F3110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616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A3B89A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198" name="Google Shape;198;p10">
            <a:extLst xmlns:a="http://schemas.openxmlformats.org/drawingml/2006/main">
              <a:ext uri="{FF2B5EF4-FFF2-40B4-BE49-F238E27FC236}">
                <a16:creationId xmlns:a16="http://schemas.microsoft.com/office/drawing/2014/main" id="{DEC3369A-9B8B-41B2-B4E0-4C625EA3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361688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Human values</a:t>
            </a:r>
          </a:p>
        </p:txBody>
      </p:sp>
      <p:sp>
        <p:nvSpPr>
          <p:cNvPr id="199" name="Google Shape;199;p10">
            <a:extLst xmlns:a="http://schemas.openxmlformats.org/drawingml/2006/main">
              <a:ext uri="{FF2B5EF4-FFF2-40B4-BE49-F238E27FC236}">
                <a16:creationId xmlns:a16="http://schemas.microsoft.com/office/drawing/2014/main" id="{BC633639-390A-4EF7-A80D-E8B59D9D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92040"/>
            <a:ext cx="310896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Humane living grasped through coexistence understanding.</a:t>
            </a:r>
          </a:p>
        </p:txBody>
      </p:sp>
      <p:sp>
        <p:nvSpPr>
          <p:cNvPr id="200" name="Google Shape;200;p10">
            <a:extLst xmlns:a="http://schemas.openxmlformats.org/drawingml/2006/main">
              <a:ext uri="{FF2B5EF4-FFF2-40B4-BE49-F238E27FC236}">
                <a16:creationId xmlns:a16="http://schemas.microsoft.com/office/drawing/2014/main" id="{12071F64-943E-49FB-B0C8-F689223C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178808"/>
            <a:ext cx="3566160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E8EEE4"/>
          </a:solidFill>
          <a:ln xmlns:a="http://schemas.openxmlformats.org/drawingml/2006/main" w="12700" cmpd="sng">
            <a:solidFill>
              <a:srgbClr val="A3B89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1" name="Google Shape;201;p10">
            <a:extLst xmlns:a="http://schemas.openxmlformats.org/drawingml/2006/main">
              <a:ext uri="{FF2B5EF4-FFF2-40B4-BE49-F238E27FC236}">
                <a16:creationId xmlns:a16="http://schemas.microsoft.com/office/drawing/2014/main" id="{CF7B0DB1-2078-4989-BF54-1CCD6C78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3616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A3B89A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02" name="Google Shape;202;p10">
            <a:extLst xmlns:a="http://schemas.openxmlformats.org/drawingml/2006/main">
              <a:ext uri="{FF2B5EF4-FFF2-40B4-BE49-F238E27FC236}">
                <a16:creationId xmlns:a16="http://schemas.microsoft.com/office/drawing/2014/main" id="{69FF4160-31EB-498B-91D9-F6694F0B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361688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Established values</a:t>
            </a:r>
          </a:p>
        </p:txBody>
      </p:sp>
      <p:sp>
        <p:nvSpPr>
          <p:cNvPr id="203" name="Google Shape;203;p10">
            <a:extLst xmlns:a="http://schemas.openxmlformats.org/drawingml/2006/main">
              <a:ext uri="{FF2B5EF4-FFF2-40B4-BE49-F238E27FC236}">
                <a16:creationId xmlns:a16="http://schemas.microsoft.com/office/drawing/2014/main" id="{AA80F56B-0809-42C5-BB7E-4CFC30FB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892040"/>
            <a:ext cx="310896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Trust, affection, gratitude, love, reverence — flowing when relationships are recognised.</a:t>
            </a:r>
          </a:p>
        </p:txBody>
      </p:sp>
      <p:sp>
        <p:nvSpPr>
          <p:cNvPr id="204" name="Google Shape;204;p10">
            <a:extLst xmlns:a="http://schemas.openxmlformats.org/drawingml/2006/main">
              <a:ext uri="{FF2B5EF4-FFF2-40B4-BE49-F238E27FC236}">
                <a16:creationId xmlns:a16="http://schemas.microsoft.com/office/drawing/2014/main" id="{05172F8D-1944-43C8-901C-D719E299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178808"/>
            <a:ext cx="3566160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A3B89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5" name="Google Shape;205;p10">
            <a:extLst xmlns:a="http://schemas.openxmlformats.org/drawingml/2006/main">
              <a:ext uri="{FF2B5EF4-FFF2-40B4-BE49-F238E27FC236}">
                <a16:creationId xmlns:a16="http://schemas.microsoft.com/office/drawing/2014/main" id="{204DBF62-E9D3-4E5D-8159-EFC4637D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3616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A3B89A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206" name="Google Shape;206;p10">
            <a:extLst xmlns:a="http://schemas.openxmlformats.org/drawingml/2006/main">
              <a:ext uri="{FF2B5EF4-FFF2-40B4-BE49-F238E27FC236}">
                <a16:creationId xmlns:a16="http://schemas.microsoft.com/office/drawing/2014/main" id="{B39AC769-5244-4360-89E3-46F61B02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361688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Expression values</a:t>
            </a:r>
          </a:p>
        </p:txBody>
      </p:sp>
      <p:sp>
        <p:nvSpPr>
          <p:cNvPr id="207" name="Google Shape;207;p10">
            <a:extLst xmlns:a="http://schemas.openxmlformats.org/drawingml/2006/main">
              <a:ext uri="{FF2B5EF4-FFF2-40B4-BE49-F238E27FC236}">
                <a16:creationId xmlns:a16="http://schemas.microsoft.com/office/drawing/2014/main" id="{B9CA4F7B-1D52-423E-A753-40C6AF67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92040"/>
            <a:ext cx="310896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Right-use of body, mind and wealth; civic conduct in the social order.</a:t>
            </a:r>
          </a:p>
        </p:txBody>
      </p:sp>
    </p:spTree>
    <p:extLst>
      <p:ext uri="{BB962C8B-B14F-4D97-AF65-F5344CB8AC3E}">
        <p14:creationId xmlns:p14="http://schemas.microsoft.com/office/powerpoint/2010/main" val="16742843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11">
            <a:extLst xmlns:a="http://schemas.openxmlformats.org/drawingml/2006/main">
              <a:ext uri="{FF2B5EF4-FFF2-40B4-BE49-F238E27FC236}">
                <a16:creationId xmlns:a16="http://schemas.microsoft.com/office/drawing/2014/main" id="{07800A12-1BF4-423E-A659-F63372BC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422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4" name="Google Shape;214;p11">
            <a:extLst xmlns:a="http://schemas.openxmlformats.org/drawingml/2006/main">
              <a:ext uri="{FF2B5EF4-FFF2-40B4-BE49-F238E27FC236}">
                <a16:creationId xmlns:a16="http://schemas.microsoft.com/office/drawing/2014/main" id="{0F9B894D-C783-4631-86DC-1018039A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15" name="Google Shape;215;p11">
            <a:extLst xmlns:a="http://schemas.openxmlformats.org/drawingml/2006/main">
              <a:ext uri="{FF2B5EF4-FFF2-40B4-BE49-F238E27FC236}">
                <a16:creationId xmlns:a16="http://schemas.microsoft.com/office/drawing/2014/main" id="{8354B651-F278-470B-9530-CDF1497E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5A4228"/>
                </a:solidFill>
                <a:latin typeface="Calibri"/>
                <a:ea typeface="Calibri"/>
                <a:cs typeface="Calibri"/>
              </a:rPr>
              <a:t>HUMAN BEING  ·  THE SENTIENCE CLAIM</a:t>
            </a:r>
          </a:p>
        </p:txBody>
      </p:sp>
      <p:sp>
        <p:nvSpPr>
          <p:cNvPr id="216" name="Google Shape;216;p11">
            <a:extLst xmlns:a="http://schemas.openxmlformats.org/drawingml/2006/main">
              <a:ext uri="{FF2B5EF4-FFF2-40B4-BE49-F238E27FC236}">
                <a16:creationId xmlns:a16="http://schemas.microsoft.com/office/drawing/2014/main" id="{F5D7B915-F355-4758-A615-D1666EB6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What the social argument needs — and what remains open</a:t>
            </a:r>
          </a:p>
        </p:txBody>
      </p:sp>
      <p:sp>
        <p:nvSpPr>
          <p:cNvPr id="217" name="Google Shape;217;p11">
            <a:extLst xmlns:a="http://schemas.openxmlformats.org/drawingml/2006/main">
              <a:ext uri="{FF2B5EF4-FFF2-40B4-BE49-F238E27FC236}">
                <a16:creationId xmlns:a16="http://schemas.microsoft.com/office/drawing/2014/main" id="{876A21D8-9864-4C0A-8D37-97020E82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669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Madhyasth Darshan explains sentience through jeevan, distinct from the body. Its detailed atomic development account is doctrine, not an established result of contemporary physics or neuroscience.</a:t>
            </a:r>
          </a:p>
        </p:txBody>
      </p:sp>
      <p:sp>
        <p:nvSpPr>
          <p:cNvPr id="218" name="Google Shape;218;p11">
            <a:extLst xmlns:a="http://schemas.openxmlformats.org/drawingml/2006/main">
              <a:ext uri="{FF2B5EF4-FFF2-40B4-BE49-F238E27FC236}">
                <a16:creationId xmlns:a16="http://schemas.microsoft.com/office/drawing/2014/main" id="{55CFB386-74DF-48E5-B926-64A8AFB9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16916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BE4"/>
          </a:solidFill>
          <a:ln xmlns:a="http://schemas.openxmlformats.org/drawingml/2006/main" w="12700" cmpd="sng">
            <a:solidFill>
              <a:srgbClr val="C4B0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9" name="Google Shape;219;p11">
            <a:extLst xmlns:a="http://schemas.openxmlformats.org/drawingml/2006/main">
              <a:ext uri="{FF2B5EF4-FFF2-40B4-BE49-F238E27FC236}">
                <a16:creationId xmlns:a16="http://schemas.microsoft.com/office/drawing/2014/main" id="{9934A654-2F6D-4E0A-9BFB-40753E9D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2724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Body</a:t>
            </a:r>
          </a:p>
        </p:txBody>
      </p:sp>
      <p:sp>
        <p:nvSpPr>
          <p:cNvPr id="220" name="Google Shape;220;p11">
            <a:extLst xmlns:a="http://schemas.openxmlformats.org/drawingml/2006/main">
              <a:ext uri="{FF2B5EF4-FFF2-40B4-BE49-F238E27FC236}">
                <a16:creationId xmlns:a16="http://schemas.microsoft.com/office/drawing/2014/main" id="{181665B6-DF71-49F5-BDAE-3051C60A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9584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4228"/>
                </a:solidFill>
                <a:latin typeface="Calibri"/>
                <a:ea typeface="Calibri"/>
                <a:cs typeface="Calibri"/>
              </a:rPr>
              <a:t>sensation · material action</a:t>
            </a:r>
          </a:p>
        </p:txBody>
      </p:sp>
      <p:sp>
        <p:nvSpPr>
          <p:cNvPr id="221" name="Google Shape;221;p11">
            <a:extLst xmlns:a="http://schemas.openxmlformats.org/drawingml/2006/main">
              <a:ext uri="{FF2B5EF4-FFF2-40B4-BE49-F238E27FC236}">
                <a16:creationId xmlns:a16="http://schemas.microsoft.com/office/drawing/2014/main" id="{D5A17BC6-4F28-4791-B0FE-D1D68705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704" y="2971800"/>
            <a:ext cx="329184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22" name="Google Shape;222;p11">
            <a:extLst xmlns:a="http://schemas.openxmlformats.org/drawingml/2006/main">
              <a:ext uri="{FF2B5EF4-FFF2-40B4-BE49-F238E27FC236}">
                <a16:creationId xmlns:a16="http://schemas.microsoft.com/office/drawing/2014/main" id="{9BD938FF-364C-48B8-B71F-C8E0D034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971800"/>
            <a:ext cx="16916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BE4"/>
          </a:solidFill>
          <a:ln xmlns:a="http://schemas.openxmlformats.org/drawingml/2006/main" w="12700" cmpd="sng">
            <a:solidFill>
              <a:srgbClr val="C4B0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3" name="Google Shape;223;p11">
            <a:extLst xmlns:a="http://schemas.openxmlformats.org/drawingml/2006/main">
              <a:ext uri="{FF2B5EF4-FFF2-40B4-BE49-F238E27FC236}">
                <a16:creationId xmlns:a16="http://schemas.microsoft.com/office/drawing/2014/main" id="{096EF0A9-C728-4B87-8160-F741A669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312724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Jeevan</a:t>
            </a:r>
          </a:p>
        </p:txBody>
      </p:sp>
      <p:sp>
        <p:nvSpPr>
          <p:cNvPr id="224" name="Google Shape;224;p11">
            <a:extLst xmlns:a="http://schemas.openxmlformats.org/drawingml/2006/main">
              <a:ext uri="{FF2B5EF4-FFF2-40B4-BE49-F238E27FC236}">
                <a16:creationId xmlns:a16="http://schemas.microsoft.com/office/drawing/2014/main" id="{F2A04D13-5FF0-43A0-9500-2E2047C5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3529584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4228"/>
                </a:solidFill>
                <a:latin typeface="Calibri"/>
                <a:ea typeface="Calibri"/>
                <a:cs typeface="Calibri"/>
              </a:rPr>
              <a:t>desire · evaluation · understanding</a:t>
            </a:r>
          </a:p>
        </p:txBody>
      </p:sp>
      <p:sp>
        <p:nvSpPr>
          <p:cNvPr id="225" name="Google Shape;225;p11">
            <a:extLst xmlns:a="http://schemas.openxmlformats.org/drawingml/2006/main">
              <a:ext uri="{FF2B5EF4-FFF2-40B4-BE49-F238E27FC236}">
                <a16:creationId xmlns:a16="http://schemas.microsoft.com/office/drawing/2014/main" id="{636ABAC2-30D4-422E-8DDC-C6729FF1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2971800"/>
            <a:ext cx="329184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26" name="Google Shape;226;p11">
            <a:extLst xmlns:a="http://schemas.openxmlformats.org/drawingml/2006/main">
              <a:ext uri="{FF2B5EF4-FFF2-40B4-BE49-F238E27FC236}">
                <a16:creationId xmlns:a16="http://schemas.microsoft.com/office/drawing/2014/main" id="{C092BA5A-1E6A-44F5-827E-2644424B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971800"/>
            <a:ext cx="16916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5A4228"/>
          </a:solidFill>
          <a:ln xmlns:a="http://schemas.openxmlformats.org/drawingml/2006/main" w="12700" cmpd="sng">
            <a:solidFill>
              <a:srgbClr val="C4B0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7" name="Google Shape;227;p11">
            <a:extLst xmlns:a="http://schemas.openxmlformats.org/drawingml/2006/main">
              <a:ext uri="{FF2B5EF4-FFF2-40B4-BE49-F238E27FC236}">
                <a16:creationId xmlns:a16="http://schemas.microsoft.com/office/drawing/2014/main" id="{410458AE-0ED8-4EE3-92AF-627E752E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12724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Human joint form</a:t>
            </a:r>
          </a:p>
        </p:txBody>
      </p:sp>
      <p:sp>
        <p:nvSpPr>
          <p:cNvPr id="228" name="Google Shape;228;p11">
            <a:extLst xmlns:a="http://schemas.openxmlformats.org/drawingml/2006/main">
              <a:ext uri="{FF2B5EF4-FFF2-40B4-BE49-F238E27FC236}">
                <a16:creationId xmlns:a16="http://schemas.microsoft.com/office/drawing/2014/main" id="{A4F2448A-5128-4976-8828-5D945AE1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529584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E8DFD3"/>
                </a:solidFill>
                <a:latin typeface="Calibri"/>
                <a:ea typeface="Calibri"/>
                <a:cs typeface="Calibri"/>
              </a:rPr>
              <a:t>can evidence humane conduct</a:t>
            </a:r>
          </a:p>
        </p:txBody>
      </p:sp>
      <p:sp>
        <p:nvSpPr>
          <p:cNvPr id="229" name="Google Shape;229;p11">
            <a:extLst xmlns:a="http://schemas.openxmlformats.org/drawingml/2006/main">
              <a:ext uri="{FF2B5EF4-FFF2-40B4-BE49-F238E27FC236}">
                <a16:creationId xmlns:a16="http://schemas.microsoft.com/office/drawing/2014/main" id="{A69525ED-1084-4059-98E0-B1C7D04D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566928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The social argument needs a subject who can understand value and be answerable for conduct. It does not need the atomic mechanism to be presented as settled natural science.</a:t>
            </a:r>
          </a:p>
        </p:txBody>
      </p:sp>
      <p:sp>
        <p:nvSpPr>
          <p:cNvPr id="230" name="Google Shape;230;p11">
            <a:extLst xmlns:a="http://schemas.openxmlformats.org/drawingml/2006/main">
              <a:ext uri="{FF2B5EF4-FFF2-40B4-BE49-F238E27FC236}">
                <a16:creationId xmlns:a16="http://schemas.microsoft.com/office/drawing/2014/main" id="{3CD9360F-1857-4D37-8E94-5F5D99CF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512064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5A422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1" name="Google Shape;231;p11">
            <a:extLst xmlns:a="http://schemas.openxmlformats.org/drawingml/2006/main">
              <a:ext uri="{FF2B5EF4-FFF2-40B4-BE49-F238E27FC236}">
                <a16:creationId xmlns:a16="http://schemas.microsoft.com/office/drawing/2014/main" id="{87906684-C760-4276-B5A4-83C46C39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19072"/>
            <a:ext cx="731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232" name="Google Shape;232;p11">
            <a:extLst xmlns:a="http://schemas.openxmlformats.org/drawingml/2006/main">
              <a:ext uri="{FF2B5EF4-FFF2-40B4-BE49-F238E27FC236}">
                <a16:creationId xmlns:a16="http://schemas.microsoft.com/office/drawing/2014/main" id="{24307FCF-43C2-4C84-A6E6-68358195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901952"/>
            <a:ext cx="4343400" cy="1865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1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When the contraction and expansion activity increases in this atom, it instantly breaks free from its group and attains constitutional completeness, becoming a jeevan atom.</a:t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cap="none">
                <a:solidFill>
                  <a:srgbClr val="5A4228"/>
                </a:solidFill>
                <a:latin typeface="Calibri"/>
                <a:ea typeface="Calibri"/>
                <a:cs typeface="Calibri"/>
              </a:rPr>
              <a:t>— MVD, p. 91</a:t>
            </a:r>
          </a:p>
        </p:txBody>
      </p:sp>
      <p:sp>
        <p:nvSpPr>
          <p:cNvPr id="233" name="Google Shape;233;p11">
            <a:extLst xmlns:a="http://schemas.openxmlformats.org/drawingml/2006/main">
              <a:ext uri="{FF2B5EF4-FFF2-40B4-BE49-F238E27FC236}">
                <a16:creationId xmlns:a16="http://schemas.microsoft.com/office/drawing/2014/main" id="{04FE714E-8195-4556-84E0-22612D56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160520"/>
            <a:ext cx="512064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0EBE4"/>
          </a:solidFill>
          <a:ln xmlns:a="http://schemas.openxmlformats.org/drawingml/2006/main" w="12700" cmpd="sng">
            <a:solidFill>
              <a:srgbClr val="C4B0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4" name="Google Shape;234;p11">
            <a:extLst xmlns:a="http://schemas.openxmlformats.org/drawingml/2006/main">
              <a:ext uri="{FF2B5EF4-FFF2-40B4-BE49-F238E27FC236}">
                <a16:creationId xmlns:a16="http://schemas.microsoft.com/office/drawing/2014/main" id="{AB12C71A-F21A-4CDE-9F35-6B266FD2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297680"/>
            <a:ext cx="1005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550" b="1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OPEN</a:t>
            </a:r>
          </a:p>
        </p:txBody>
      </p:sp>
      <p:sp>
        <p:nvSpPr>
          <p:cNvPr id="235" name="Google Shape;235;p11">
            <a:extLst xmlns:a="http://schemas.openxmlformats.org/drawingml/2006/main">
              <a:ext uri="{FF2B5EF4-FFF2-40B4-BE49-F238E27FC236}">
                <a16:creationId xmlns:a16="http://schemas.microsoft.com/office/drawing/2014/main" id="{E3D945AF-A48C-4B97-BCD5-B45EA46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97680"/>
            <a:ext cx="365760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Metaphysical burden
How jeevan relates to public evidence, brains and bodies remains a major philosophical and empirical question.</a:t>
            </a:r>
          </a:p>
        </p:txBody>
      </p:sp>
    </p:spTree>
    <p:extLst>
      <p:ext uri="{BB962C8B-B14F-4D97-AF65-F5344CB8AC3E}">
        <p14:creationId xmlns:p14="http://schemas.microsoft.com/office/powerpoint/2010/main" val="233691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1" name="Google Shape;241;p12">
            <a:extLst xmlns:a="http://schemas.openxmlformats.org/drawingml/2006/main">
              <a:ext uri="{FF2B5EF4-FFF2-40B4-BE49-F238E27FC236}">
                <a16:creationId xmlns:a16="http://schemas.microsoft.com/office/drawing/2014/main" id="{9A28B907-C52F-4164-8874-E9560D5F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422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2" name="Google Shape;242;p12">
            <a:extLst xmlns:a="http://schemas.openxmlformats.org/drawingml/2006/main">
              <a:ext uri="{FF2B5EF4-FFF2-40B4-BE49-F238E27FC236}">
                <a16:creationId xmlns:a16="http://schemas.microsoft.com/office/drawing/2014/main" id="{1181DB04-BC16-49B8-A832-162888A5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43" name="Google Shape;243;p12">
            <a:extLst xmlns:a="http://schemas.openxmlformats.org/drawingml/2006/main">
              <a:ext uri="{FF2B5EF4-FFF2-40B4-BE49-F238E27FC236}">
                <a16:creationId xmlns:a16="http://schemas.microsoft.com/office/drawing/2014/main" id="{D04CC8BC-F08D-4A05-BE90-F31D979D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5A4228"/>
                </a:solidFill>
                <a:latin typeface="Calibri"/>
                <a:ea typeface="Calibri"/>
                <a:cs typeface="Calibri"/>
              </a:rPr>
              <a:t>HUMAN BEING  ·  JOINT FORM</a:t>
            </a:r>
          </a:p>
        </p:txBody>
      </p:sp>
      <p:sp>
        <p:nvSpPr>
          <p:cNvPr id="244" name="Google Shape;244;p12">
            <a:extLst xmlns:a="http://schemas.openxmlformats.org/drawingml/2006/main">
              <a:ext uri="{FF2B5EF4-FFF2-40B4-BE49-F238E27FC236}">
                <a16:creationId xmlns:a16="http://schemas.microsoft.com/office/drawing/2014/main" id="{6DC2542C-BF42-4547-85DA-30DA56E3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Two aspects, one field of responsibility</a:t>
            </a:r>
          </a:p>
        </p:txBody>
      </p:sp>
      <p:sp>
        <p:nvSpPr>
          <p:cNvPr id="245" name="Google Shape;245;p12">
            <a:extLst xmlns:a="http://schemas.openxmlformats.org/drawingml/2006/main">
              <a:ext uri="{FF2B5EF4-FFF2-40B4-BE49-F238E27FC236}">
                <a16:creationId xmlns:a16="http://schemas.microsoft.com/office/drawing/2014/main" id="{AF8A1A37-089E-4A71-9410-E13930F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Madhyasth Darshan holds that the human being is jeevan working through a human body. Evaluation belongs to jeevan; sensation and material action require the body. Social evidence occurs only in their lived joint form.</a:t>
            </a:r>
          </a:p>
        </p:txBody>
      </p:sp>
      <p:sp>
        <p:nvSpPr>
          <p:cNvPr id="246" name="Google Shape;246;p12">
            <a:extLst xmlns:a="http://schemas.openxmlformats.org/drawingml/2006/main">
              <a:ext uri="{FF2B5EF4-FFF2-40B4-BE49-F238E27FC236}">
                <a16:creationId xmlns:a16="http://schemas.microsoft.com/office/drawing/2014/main" id="{B0D33256-0A4F-42BC-B25E-C1C997AD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5349240" cy="3429000"/>
          </a:xfrm>
          <a:prstGeom xmlns:a="http://schemas.openxmlformats.org/drawingml/2006/main" prst="roundRect">
            <a:avLst>
              <a:gd name="adj" fmla="val 186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7" name="Google Shape;247;p12">
            <a:extLst xmlns:a="http://schemas.openxmlformats.org/drawingml/2006/main">
              <a:ext uri="{FF2B5EF4-FFF2-40B4-BE49-F238E27FC236}">
                <a16:creationId xmlns:a16="http://schemas.microsoft.com/office/drawing/2014/main" id="{85C64803-FD0B-448C-9B43-B2D27DF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036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Body</a:t>
            </a:r>
          </a:p>
        </p:txBody>
      </p:sp>
      <p:sp>
        <p:nvSpPr>
          <p:cNvPr id="248" name="Google Shape;248;p12">
            <a:extLst xmlns:a="http://schemas.openxmlformats.org/drawingml/2006/main">
              <a:ext uri="{FF2B5EF4-FFF2-40B4-BE49-F238E27FC236}">
                <a16:creationId xmlns:a16="http://schemas.microsoft.com/office/drawing/2014/main" id="{492D9847-C1A2-4A28-B01B-340B2CC0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34290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solidFill>
              <a:srgbClr val="C4B0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9" name="Google Shape;249;p12">
            <a:extLst xmlns:a="http://schemas.openxmlformats.org/drawingml/2006/main">
              <a:ext uri="{FF2B5EF4-FFF2-40B4-BE49-F238E27FC236}">
                <a16:creationId xmlns:a16="http://schemas.microsoft.com/office/drawing/2014/main" id="{5D3FD71D-BB5E-46A8-A75E-E7B06015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39319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422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0" name="Google Shape;250;p12">
            <a:extLst xmlns:a="http://schemas.openxmlformats.org/drawingml/2006/main">
              <a:ext uri="{FF2B5EF4-FFF2-40B4-BE49-F238E27FC236}">
                <a16:creationId xmlns:a16="http://schemas.microsoft.com/office/drawing/2014/main" id="{AA1A3D23-1FDF-427E-90B2-463A3924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4828032"/>
            <a:ext cx="1371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instrument</a:t>
            </a:r>
          </a:p>
        </p:txBody>
      </p:sp>
      <p:sp>
        <p:nvSpPr>
          <p:cNvPr id="251" name="Google Shape;251;p12">
            <a:extLst xmlns:a="http://schemas.openxmlformats.org/drawingml/2006/main">
              <a:ext uri="{FF2B5EF4-FFF2-40B4-BE49-F238E27FC236}">
                <a16:creationId xmlns:a16="http://schemas.microsoft.com/office/drawing/2014/main" id="{0ADD181E-4107-4AB8-BA95-BEFBCD03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47091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Provides sensation, communication, labour and action in the material world.</a:t>
            </a:r>
          </a:p>
        </p:txBody>
      </p:sp>
      <p:sp>
        <p:nvSpPr>
          <p:cNvPr id="252" name="Google Shape;252;p12">
            <a:extLst xmlns:a="http://schemas.openxmlformats.org/drawingml/2006/main">
              <a:ext uri="{FF2B5EF4-FFF2-40B4-BE49-F238E27FC236}">
                <a16:creationId xmlns:a16="http://schemas.microsoft.com/office/drawing/2014/main" id="{1CD373DA-5198-428D-B1A2-CD832800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697480"/>
            <a:ext cx="5349240" cy="3429000"/>
          </a:xfrm>
          <a:prstGeom xmlns:a="http://schemas.openxmlformats.org/drawingml/2006/main" prst="roundRect">
            <a:avLst>
              <a:gd name="adj" fmla="val 1867"/>
            </a:avLst>
          </a:prstGeom>
          <a:solidFill xmlns:a="http://schemas.openxmlformats.org/drawingml/2006/main">
            <a:srgbClr val="F0EBE4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3" name="Google Shape;253;p12">
            <a:extLst xmlns:a="http://schemas.openxmlformats.org/drawingml/2006/main">
              <a:ext uri="{FF2B5EF4-FFF2-40B4-BE49-F238E27FC236}">
                <a16:creationId xmlns:a16="http://schemas.microsoft.com/office/drawing/2014/main" id="{AB5B1826-A148-4BE5-9844-D0C75218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8036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Jeevan</a:t>
            </a:r>
          </a:p>
        </p:txBody>
      </p:sp>
      <p:sp>
        <p:nvSpPr>
          <p:cNvPr id="254" name="Google Shape;254;p12">
            <a:extLst xmlns:a="http://schemas.openxmlformats.org/drawingml/2006/main">
              <a:ext uri="{FF2B5EF4-FFF2-40B4-BE49-F238E27FC236}">
                <a16:creationId xmlns:a16="http://schemas.microsoft.com/office/drawing/2014/main" id="{495BC274-2539-4BA3-8A3B-12346317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34290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solidFill>
              <a:srgbClr val="C4B0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5" name="Google Shape;255;p12">
            <a:extLst xmlns:a="http://schemas.openxmlformats.org/drawingml/2006/main">
              <a:ext uri="{FF2B5EF4-FFF2-40B4-BE49-F238E27FC236}">
                <a16:creationId xmlns:a16="http://schemas.microsoft.com/office/drawing/2014/main" id="{3E4D2B34-1742-4B61-875D-220DE369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9319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422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6" name="Google Shape;256;p12">
            <a:extLst xmlns:a="http://schemas.openxmlformats.org/drawingml/2006/main">
              <a:ext uri="{FF2B5EF4-FFF2-40B4-BE49-F238E27FC236}">
                <a16:creationId xmlns:a16="http://schemas.microsoft.com/office/drawing/2014/main" id="{34DDDD70-BD2C-4DAD-A96A-D8473361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4828032"/>
            <a:ext cx="1371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knower</a:t>
            </a:r>
          </a:p>
        </p:txBody>
      </p:sp>
      <p:sp>
        <p:nvSpPr>
          <p:cNvPr id="257" name="Google Shape;257;p12">
            <a:extLst xmlns:a="http://schemas.openxmlformats.org/drawingml/2006/main">
              <a:ext uri="{FF2B5EF4-FFF2-40B4-BE49-F238E27FC236}">
                <a16:creationId xmlns:a16="http://schemas.microsoft.com/office/drawing/2014/main" id="{8F0D3763-CECD-4EB0-AB72-C244488D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212080"/>
            <a:ext cx="47091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Desires happiness, evaluates value, understands relationships and becomes answerable for conduct.</a:t>
            </a:r>
          </a:p>
        </p:txBody>
      </p:sp>
      <p:sp>
        <p:nvSpPr>
          <p:cNvPr id="258" name="Google Shape;258;p12">
            <a:extLst xmlns:a="http://schemas.openxmlformats.org/drawingml/2006/main">
              <a:ext uri="{FF2B5EF4-FFF2-40B4-BE49-F238E27FC236}">
                <a16:creationId xmlns:a16="http://schemas.microsoft.com/office/drawing/2014/main" id="{C8F552FB-4F41-458E-9625-09D8A5F6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74904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402350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Google Shape;264;p13">
            <a:extLst xmlns:a="http://schemas.openxmlformats.org/drawingml/2006/main">
              <a:ext uri="{FF2B5EF4-FFF2-40B4-BE49-F238E27FC236}">
                <a16:creationId xmlns:a16="http://schemas.microsoft.com/office/drawing/2014/main" id="{DB48444B-D5D1-41B9-B514-9097952B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5" name="Google Shape;265;p13">
            <a:extLst xmlns:a="http://schemas.openxmlformats.org/drawingml/2006/main">
              <a:ext uri="{FF2B5EF4-FFF2-40B4-BE49-F238E27FC236}">
                <a16:creationId xmlns:a16="http://schemas.microsoft.com/office/drawing/2014/main" id="{3FB0CDED-2E34-4F68-B593-CE4D34BA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66" name="Google Shape;266;p13">
            <a:extLst xmlns:a="http://schemas.openxmlformats.org/drawingml/2006/main">
              <a:ext uri="{FF2B5EF4-FFF2-40B4-BE49-F238E27FC236}">
                <a16:creationId xmlns:a16="http://schemas.microsoft.com/office/drawing/2014/main" id="{AD8B0481-7047-4DB9-A924-DD70135C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WHY SOCIETY DIVIDES  ·  EVALUATION</a:t>
            </a:r>
          </a:p>
        </p:txBody>
      </p:sp>
      <p:sp>
        <p:nvSpPr>
          <p:cNvPr id="267" name="Google Shape;267;p13">
            <a:extLst xmlns:a="http://schemas.openxmlformats.org/drawingml/2006/main">
              <a:ext uri="{FF2B5EF4-FFF2-40B4-BE49-F238E27FC236}">
                <a16:creationId xmlns:a16="http://schemas.microsoft.com/office/drawing/2014/main" id="{5114347B-C45A-4A1B-B373-10315700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Necessary perspectives become insufficient foundations</a:t>
            </a:r>
          </a:p>
        </p:txBody>
      </p:sp>
      <p:sp>
        <p:nvSpPr>
          <p:cNvPr id="268" name="Google Shape;268;p13">
            <a:extLst xmlns:a="http://schemas.openxmlformats.org/drawingml/2006/main">
              <a:ext uri="{FF2B5EF4-FFF2-40B4-BE49-F238E27FC236}">
                <a16:creationId xmlns:a16="http://schemas.microsoft.com/office/drawing/2014/main" id="{5CF1B8F5-9F92-46AE-87E0-6B96237D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6424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Pleasure, health and gain are legitimate within their domains. Division begins when they become the whole standpoint: desire loses a criterion of sufficiency, wealth becomes accumulation and identity becomes defensive.</a:t>
            </a:r>
          </a:p>
        </p:txBody>
      </p:sp>
      <p:sp>
        <p:nvSpPr>
          <p:cNvPr id="269" name="Google Shape;269;p13">
            <a:extLst xmlns:a="http://schemas.openxmlformats.org/drawingml/2006/main">
              <a:ext uri="{FF2B5EF4-FFF2-40B4-BE49-F238E27FC236}">
                <a16:creationId xmlns:a16="http://schemas.microsoft.com/office/drawing/2014/main" id="{15B0AD8F-B279-4E3B-B6D6-D19E8EB0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5349240" cy="32004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E5E2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0" name="Google Shape;270;p13">
            <a:extLst xmlns:a="http://schemas.openxmlformats.org/drawingml/2006/main">
              <a:ext uri="{FF2B5EF4-FFF2-40B4-BE49-F238E27FC236}">
                <a16:creationId xmlns:a16="http://schemas.microsoft.com/office/drawing/2014/main" id="{20AD166B-A59D-4D0F-8EC2-81A52B91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07792"/>
            <a:ext cx="48463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8A4030"/>
                </a:solidFill>
                <a:latin typeface="Cambria"/>
                <a:ea typeface="Cambria"/>
                <a:cs typeface="Cambria"/>
              </a:rPr>
              <a:t>Inhumane refuge</a:t>
            </a:r>
          </a:p>
        </p:txBody>
      </p:sp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206DD403-E160-41CA-ACAE-E3D0B159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1" u="none" cap="none">
                <a:solidFill>
                  <a:srgbClr val="8A4030"/>
                </a:solidFill>
                <a:latin typeface="Calibri"/>
                <a:ea typeface="Calibri"/>
                <a:cs typeface="Calibri"/>
              </a:rPr>
              <a:t>priya · hita · labh</a:t>
            </a:r>
          </a:p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0F702E71-276E-4104-A6D5-D57BA637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9040"/>
            <a:ext cx="457200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Pleasant–unpleasant</a:t>
            </a:r>
          </a:p>
          <a:p xmlns:a="http://schemas.openxmlformats.org/drawingml/2006/main">
            <a:pPr marL="342900" indent="-342900" algn="l"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3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Healthy–unhealthy</a:t>
            </a:r>
          </a:p>
          <a:p xmlns:a="http://schemas.openxmlformats.org/drawingml/2006/main">
            <a:pPr marL="342900" indent="-342900" algn="l"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3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Profit–loss</a:t>
            </a:r>
          </a:p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88F429D1-2556-4B87-B893-2D523CFB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 u="none" cap="none">
                <a:solidFill>
                  <a:srgbClr val="8A4030"/>
                </a:solidFill>
                <a:latin typeface="Calibri"/>
                <a:ea typeface="Calibri"/>
                <a:cs typeface="Calibri"/>
              </a:rPr>
              <a:t>Necessary for bodily and material life — insufficient for justice, universal responsibility or a shared human end.</a:t>
            </a:r>
          </a:p>
        </p:txBody>
      </p:sp>
      <p:sp>
        <p:nvSpPr>
          <p:cNvPr id="274" name="Google Shape;274;p13">
            <a:extLst xmlns:a="http://schemas.openxmlformats.org/drawingml/2006/main">
              <a:ext uri="{FF2B5EF4-FFF2-40B4-BE49-F238E27FC236}">
                <a16:creationId xmlns:a16="http://schemas.microsoft.com/office/drawing/2014/main" id="{7C9A3E77-B986-42C4-937E-D90D9A79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697480"/>
            <a:ext cx="5349240" cy="32004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21A49DCA-11F2-45D6-9789-747C7DA0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907792"/>
            <a:ext cx="48463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Humane refuge</a:t>
            </a:r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171AC7F4-D3EC-4CF7-8266-9864538A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9184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1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nyaya · dharma · satya</a:t>
            </a:r>
          </a:p>
        </p:txBody>
      </p:sp>
      <p:sp>
        <p:nvSpPr>
          <p:cNvPr id="277" name="Google Shape;277;p13">
            <a:extLst xmlns:a="http://schemas.openxmlformats.org/drawingml/2006/main">
              <a:ext uri="{FF2B5EF4-FFF2-40B4-BE49-F238E27FC236}">
                <a16:creationId xmlns:a16="http://schemas.microsoft.com/office/drawing/2014/main" id="{6E60BE5A-2D76-400B-A54B-0445AC0C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49040"/>
            <a:ext cx="4846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Justice–injustice  → regulates conduct</a:t>
            </a:r>
          </a:p>
          <a:p xmlns:a="http://schemas.openxmlformats.org/drawingml/2006/main">
            <a:pPr marL="342900" indent="-342900" algn="l"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3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Dharma–adharma  → thought toward resolution</a:t>
            </a:r>
          </a:p>
          <a:p xmlns:a="http://schemas.openxmlformats.org/drawingml/2006/main">
            <a:pPr marL="342900" indent="-342900" algn="l"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3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Truth–untruth  → realisation in existence</a:t>
            </a:r>
          </a:p>
        </p:txBody>
      </p:sp>
      <p:sp>
        <p:nvSpPr>
          <p:cNvPr id="278" name="Google Shape;278;p13">
            <a:extLst xmlns:a="http://schemas.openxmlformats.org/drawingml/2006/main">
              <a:ext uri="{FF2B5EF4-FFF2-40B4-BE49-F238E27FC236}">
                <a16:creationId xmlns:a16="http://schemas.microsoft.com/office/drawing/2014/main" id="{B543BF8C-90AE-4627-8744-EC0157F2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7492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Justice, dharma and truth reorder the lower perspectives without abolishing them. The claim must then be tested in conduct, not merely affirmed.</a:t>
            </a:r>
          </a:p>
        </p:txBody>
      </p:sp>
    </p:spTree>
    <p:extLst>
      <p:ext uri="{BB962C8B-B14F-4D97-AF65-F5344CB8AC3E}">
        <p14:creationId xmlns:p14="http://schemas.microsoft.com/office/powerpoint/2010/main" val="3808994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4" name="Google Shape;284;p14">
            <a:extLst xmlns:a="http://schemas.openxmlformats.org/drawingml/2006/main">
              <a:ext uri="{FF2B5EF4-FFF2-40B4-BE49-F238E27FC236}">
                <a16:creationId xmlns:a16="http://schemas.microsoft.com/office/drawing/2014/main" id="{E9BE698C-9130-4D71-8FF0-F210DE35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5" name="Google Shape;285;p14">
            <a:extLst xmlns:a="http://schemas.openxmlformats.org/drawingml/2006/main">
              <a:ext uri="{FF2B5EF4-FFF2-40B4-BE49-F238E27FC236}">
                <a16:creationId xmlns:a16="http://schemas.microsoft.com/office/drawing/2014/main" id="{4BB7CB13-BA8D-4F6A-93BC-640524AE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86" name="Google Shape;286;p14">
            <a:extLst xmlns:a="http://schemas.openxmlformats.org/drawingml/2006/main">
              <a:ext uri="{FF2B5EF4-FFF2-40B4-BE49-F238E27FC236}">
                <a16:creationId xmlns:a16="http://schemas.microsoft.com/office/drawing/2014/main" id="{6B4AADB8-46B3-4E5E-9AD5-DC5EE073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JUSTICE  ·  RELATIONAL CLOSURE</a:t>
            </a:r>
          </a:p>
        </p:txBody>
      </p:sp>
      <p:sp>
        <p:nvSpPr>
          <p:cNvPr id="287" name="Google Shape;287;p14">
            <a:extLst xmlns:a="http://schemas.openxmlformats.org/drawingml/2006/main">
              <a:ext uri="{FF2B5EF4-FFF2-40B4-BE49-F238E27FC236}">
                <a16:creationId xmlns:a16="http://schemas.microsoft.com/office/drawing/2014/main" id="{C1C3B4BF-36D6-42F5-9C59-2E3A6FE8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Justice closes relationships; law protects the conditions</a:t>
            </a:r>
          </a:p>
        </p:txBody>
      </p:sp>
      <p:sp>
        <p:nvSpPr>
          <p:cNvPr id="288" name="Google Shape;288;p14">
            <a:extLst xmlns:a="http://schemas.openxmlformats.org/drawingml/2006/main">
              <a:ext uri="{FF2B5EF4-FFF2-40B4-BE49-F238E27FC236}">
                <a16:creationId xmlns:a16="http://schemas.microsoft.com/office/drawing/2014/main" id="{D14CD44C-C3E3-4D18-A545-60AB7072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10642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4A386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9" name="Google Shape;289;p14">
            <a:extLst xmlns:a="http://schemas.openxmlformats.org/drawingml/2006/main">
              <a:ext uri="{FF2B5EF4-FFF2-40B4-BE49-F238E27FC236}">
                <a16:creationId xmlns:a16="http://schemas.microsoft.com/office/drawing/2014/main" id="{293EC855-7427-43BD-8D7F-70FCDF95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64792"/>
            <a:ext cx="731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290" name="Google Shape;290;p14">
            <a:extLst xmlns:a="http://schemas.openxmlformats.org/drawingml/2006/main">
              <a:ext uri="{FF2B5EF4-FFF2-40B4-BE49-F238E27FC236}">
                <a16:creationId xmlns:a16="http://schemas.microsoft.com/office/drawing/2014/main" id="{4CF7B0AC-959E-4DB3-A6EA-3E55DABF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47672"/>
            <a:ext cx="10287000" cy="813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1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Recognising relationships, fulfilling values, evaluating, and achieving mutual satisfaction is justice.</a:t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— MVD, p. 311</a:t>
            </a:r>
          </a:p>
        </p:txBody>
      </p:sp>
      <p:sp>
        <p:nvSpPr>
          <p:cNvPr id="291" name="Google Shape;291;p14">
            <a:extLst xmlns:a="http://schemas.openxmlformats.org/drawingml/2006/main">
              <a:ext uri="{FF2B5EF4-FFF2-40B4-BE49-F238E27FC236}">
                <a16:creationId xmlns:a16="http://schemas.microsoft.com/office/drawing/2014/main" id="{3379576F-ED34-4F3F-A3F3-4E8084A1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F2D3A"/>
                </a:solidFill>
                <a:latin typeface="Calibri"/>
                <a:ea typeface="Calibri"/>
                <a:cs typeface="Calibri"/>
              </a:rPr>
              <a:t>Three registers remain distinct but must cooperate:</a:t>
            </a:r>
          </a:p>
        </p:txBody>
      </p:sp>
      <p:sp>
        <p:nvSpPr>
          <p:cNvPr id="292" name="Google Shape;292;p14">
            <a:extLst xmlns:a="http://schemas.openxmlformats.org/drawingml/2006/main">
              <a:ext uri="{FF2B5EF4-FFF2-40B4-BE49-F238E27FC236}">
                <a16:creationId xmlns:a16="http://schemas.microsoft.com/office/drawing/2014/main" id="{4B57D654-BF8A-4FE5-84B5-0AC13110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35661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12700" cmpd="sng">
            <a:solidFill>
              <a:srgbClr val="D8E0E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" name="Google Shape;293;p14">
            <a:extLst xmlns:a="http://schemas.openxmlformats.org/drawingml/2006/main">
              <a:ext uri="{FF2B5EF4-FFF2-40B4-BE49-F238E27FC236}">
                <a16:creationId xmlns:a16="http://schemas.microsoft.com/office/drawing/2014/main" id="{17FEB5F4-1DCD-4CF1-9419-4C8E1720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22192"/>
            <a:ext cx="305409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Regulation / law</a:t>
            </a:r>
          </a:p>
        </p:txBody>
      </p:sp>
      <p:sp>
        <p:nvSpPr>
          <p:cNvPr id="294" name="Google Shape;294;p14">
            <a:extLst xmlns:a="http://schemas.openxmlformats.org/drawingml/2006/main">
              <a:ext uri="{FF2B5EF4-FFF2-40B4-BE49-F238E27FC236}">
                <a16:creationId xmlns:a16="http://schemas.microsoft.com/office/drawing/2014/main" id="{126F5420-7699-4F71-AB2F-4183E6BB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15968"/>
            <a:ext cx="305409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ALL FOUR ORDERS</a:t>
            </a:r>
          </a:p>
        </p:txBody>
      </p:sp>
      <p:sp>
        <p:nvSpPr>
          <p:cNvPr id="295" name="Google Shape;295;p14">
            <a:extLst xmlns:a="http://schemas.openxmlformats.org/drawingml/2006/main">
              <a:ext uri="{FF2B5EF4-FFF2-40B4-BE49-F238E27FC236}">
                <a16:creationId xmlns:a16="http://schemas.microsoft.com/office/drawing/2014/main" id="{BCE61645-0759-434A-A971-2E0C0E01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09160"/>
            <a:ext cx="3054096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Inherent orderliness with -ness — definite below the knowledge order.</a:t>
            </a:r>
          </a:p>
        </p:txBody>
      </p:sp>
      <p:sp>
        <p:nvSpPr>
          <p:cNvPr id="296" name="Google Shape;296;p14">
            <a:extLst xmlns:a="http://schemas.openxmlformats.org/drawingml/2006/main">
              <a:ext uri="{FF2B5EF4-FFF2-40B4-BE49-F238E27FC236}">
                <a16:creationId xmlns:a16="http://schemas.microsoft.com/office/drawing/2014/main" id="{A9182481-06FC-4290-9736-FF6E3896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611880"/>
            <a:ext cx="35661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 w="12700" cmpd="sng">
            <a:solidFill>
              <a:srgbClr val="D8E0E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" name="Google Shape;297;p14">
            <a:extLst xmlns:a="http://schemas.openxmlformats.org/drawingml/2006/main">
              <a:ext uri="{FF2B5EF4-FFF2-40B4-BE49-F238E27FC236}">
                <a16:creationId xmlns:a16="http://schemas.microsoft.com/office/drawing/2014/main" id="{B31E0489-3F76-4BAF-BD33-513B68A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22192"/>
            <a:ext cx="305409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Justice (nyaya)</a:t>
            </a:r>
          </a:p>
        </p:txBody>
      </p:sp>
      <p:sp>
        <p:nvSpPr>
          <p:cNvPr id="298" name="Google Shape;298;p14">
            <a:extLst xmlns:a="http://schemas.openxmlformats.org/drawingml/2006/main">
              <a:ext uri="{FF2B5EF4-FFF2-40B4-BE49-F238E27FC236}">
                <a16:creationId xmlns:a16="http://schemas.microsoft.com/office/drawing/2014/main" id="{C4C65CFE-2F71-4BE5-B7C9-4867A0B3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315968"/>
            <a:ext cx="305409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KNOWLEDGE ORDER</a:t>
            </a:r>
          </a:p>
        </p:txBody>
      </p:sp>
      <p:sp>
        <p:nvSpPr>
          <p:cNvPr id="299" name="Google Shape;299;p14">
            <a:extLst xmlns:a="http://schemas.openxmlformats.org/drawingml/2006/main">
              <a:ext uri="{FF2B5EF4-FFF2-40B4-BE49-F238E27FC236}">
                <a16:creationId xmlns:a16="http://schemas.microsoft.com/office/drawing/2014/main" id="{124DA0F5-9EB3-46D5-96C5-B8EA60CC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709160"/>
            <a:ext cx="3054096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The complete relational cycle, with evaluation. Names closure of values in relationships.</a:t>
            </a:r>
          </a:p>
        </p:txBody>
      </p:sp>
      <p:sp>
        <p:nvSpPr>
          <p:cNvPr id="300" name="Google Shape;300;p14">
            <a:extLst xmlns:a="http://schemas.openxmlformats.org/drawingml/2006/main">
              <a:ext uri="{FF2B5EF4-FFF2-40B4-BE49-F238E27FC236}">
                <a16:creationId xmlns:a16="http://schemas.microsoft.com/office/drawing/2014/main" id="{4CC39FE9-4ED7-4D64-9A30-D64CC1F7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611880"/>
            <a:ext cx="35661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0EBE4"/>
          </a:solidFill>
          <a:ln xmlns:a="http://schemas.openxmlformats.org/drawingml/2006/main" w="12700" cmpd="sng">
            <a:solidFill>
              <a:srgbClr val="D8E0E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1" name="Google Shape;301;p14">
            <a:extLst xmlns:a="http://schemas.openxmlformats.org/drawingml/2006/main">
              <a:ext uri="{FF2B5EF4-FFF2-40B4-BE49-F238E27FC236}">
                <a16:creationId xmlns:a16="http://schemas.microsoft.com/office/drawing/2014/main" id="{B27183C2-F4E1-4DB0-8974-6B345666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822192"/>
            <a:ext cx="305409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Statutory / public law</a:t>
            </a:r>
          </a:p>
        </p:txBody>
      </p:sp>
      <p:sp>
        <p:nvSpPr>
          <p:cNvPr id="302" name="Google Shape;302;p14">
            <a:extLst xmlns:a="http://schemas.openxmlformats.org/drawingml/2006/main">
              <a:ext uri="{FF2B5EF4-FFF2-40B4-BE49-F238E27FC236}">
                <a16:creationId xmlns:a16="http://schemas.microsoft.com/office/drawing/2014/main" id="{3704CCCD-4964-4AF6-A9A9-FBBCE27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315968"/>
            <a:ext cx="305409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5A4228"/>
                </a:solidFill>
                <a:latin typeface="Calibri"/>
                <a:ea typeface="Calibri"/>
                <a:cs typeface="Calibri"/>
              </a:rPr>
              <a:t>HUMAN ASSEMBLIES</a:t>
            </a:r>
          </a:p>
        </p:txBody>
      </p:sp>
      <p:sp>
        <p:nvSpPr>
          <p:cNvPr id="303" name="Google Shape;303;p14">
            <a:extLst xmlns:a="http://schemas.openxmlformats.org/drawingml/2006/main">
              <a:ext uri="{FF2B5EF4-FFF2-40B4-BE49-F238E27FC236}">
                <a16:creationId xmlns:a16="http://schemas.microsoft.com/office/drawing/2014/main" id="{17354E2F-DEF1-4B4A-ADFB-228763D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709160"/>
            <a:ext cx="3054096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Codified order — may satisfy legality while still violating justice.</a:t>
            </a:r>
          </a:p>
        </p:txBody>
      </p:sp>
    </p:spTree>
    <p:extLst>
      <p:ext uri="{BB962C8B-B14F-4D97-AF65-F5344CB8AC3E}">
        <p14:creationId xmlns:p14="http://schemas.microsoft.com/office/powerpoint/2010/main" val="15235418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9" name="Google Shape;309;p15">
            <a:extLst xmlns:a="http://schemas.openxmlformats.org/drawingml/2006/main">
              <a:ext uri="{FF2B5EF4-FFF2-40B4-BE49-F238E27FC236}">
                <a16:creationId xmlns:a16="http://schemas.microsoft.com/office/drawing/2014/main" id="{55EEBB9D-1090-4BD9-B22E-FFA48545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0" name="Google Shape;310;p15">
            <a:extLst xmlns:a="http://schemas.openxmlformats.org/drawingml/2006/main">
              <a:ext uri="{FF2B5EF4-FFF2-40B4-BE49-F238E27FC236}">
                <a16:creationId xmlns:a16="http://schemas.microsoft.com/office/drawing/2014/main" id="{53332326-C175-46FF-9687-BA3681B1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11" name="Google Shape;311;p15">
            <a:extLst xmlns:a="http://schemas.openxmlformats.org/drawingml/2006/main">
              <a:ext uri="{FF2B5EF4-FFF2-40B4-BE49-F238E27FC236}">
                <a16:creationId xmlns:a16="http://schemas.microsoft.com/office/drawing/2014/main" id="{D090801E-C41A-4EA0-8887-C8524B3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AWAKENING  ·  THE INDIVIDUAL PATH</a:t>
            </a:r>
          </a:p>
        </p:txBody>
      </p:sp>
      <p:sp>
        <p:nvSpPr>
          <p:cNvPr id="312" name="Google Shape;312;p15">
            <a:extLst xmlns:a="http://schemas.openxmlformats.org/drawingml/2006/main">
              <a:ext uri="{FF2B5EF4-FFF2-40B4-BE49-F238E27FC236}">
                <a16:creationId xmlns:a16="http://schemas.microsoft.com/office/drawing/2014/main" id="{D36FE824-BE01-4CA8-AB6D-002DCA8C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Understanding must become publicly recognisable conduct</a:t>
            </a:r>
          </a:p>
        </p:txBody>
      </p:sp>
      <p:sp>
        <p:nvSpPr>
          <p:cNvPr id="313" name="Google Shape;313;p15">
            <a:extLst xmlns:a="http://schemas.openxmlformats.org/drawingml/2006/main">
              <a:ext uri="{FF2B5EF4-FFF2-40B4-BE49-F238E27FC236}">
                <a16:creationId xmlns:a16="http://schemas.microsoft.com/office/drawing/2014/main" id="{05434CEB-F32F-4336-850B-3C359759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Jeevan Vidya presents proposals for study and self-verification. A teacher can support inquiry but cannot confer understanding by authority. Knowing must become recognition, fulfilment and evaluation.</a:t>
            </a:r>
          </a:p>
        </p:txBody>
      </p:sp>
      <p:sp>
        <p:nvSpPr>
          <p:cNvPr id="314" name="Google Shape;314;p15">
            <a:extLst xmlns:a="http://schemas.openxmlformats.org/drawingml/2006/main">
              <a:ext uri="{FF2B5EF4-FFF2-40B4-BE49-F238E27FC236}">
                <a16:creationId xmlns:a16="http://schemas.microsoft.com/office/drawing/2014/main" id="{621B6528-42CC-4130-81DC-A0F5FBBC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237744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5" name="Google Shape;315;p15">
            <a:extLst xmlns:a="http://schemas.openxmlformats.org/drawingml/2006/main">
              <a:ext uri="{FF2B5EF4-FFF2-40B4-BE49-F238E27FC236}">
                <a16:creationId xmlns:a16="http://schemas.microsoft.com/office/drawing/2014/main" id="{DD4DA7CA-6BE0-4B51-9D60-A92A00BA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Knowing</a:t>
            </a:r>
          </a:p>
        </p:txBody>
      </p:sp>
      <p:sp>
        <p:nvSpPr>
          <p:cNvPr id="316" name="Google Shape;316;p15">
            <a:extLst xmlns:a="http://schemas.openxmlformats.org/drawingml/2006/main">
              <a:ext uri="{FF2B5EF4-FFF2-40B4-BE49-F238E27FC236}">
                <a16:creationId xmlns:a16="http://schemas.microsoft.com/office/drawing/2014/main" id="{53C65303-55AC-4BCA-80DD-B3E1C793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606040"/>
            <a:ext cx="3657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317" name="Google Shape;317;p15">
            <a:extLst xmlns:a="http://schemas.openxmlformats.org/drawingml/2006/main">
              <a:ext uri="{FF2B5EF4-FFF2-40B4-BE49-F238E27FC236}">
                <a16:creationId xmlns:a16="http://schemas.microsoft.com/office/drawing/2014/main" id="{5D3281ED-4DB5-4A45-8548-97B3B4E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606040"/>
            <a:ext cx="237744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8" name="Google Shape;318;p15">
            <a:extLst xmlns:a="http://schemas.openxmlformats.org/drawingml/2006/main">
              <a:ext uri="{FF2B5EF4-FFF2-40B4-BE49-F238E27FC236}">
                <a16:creationId xmlns:a16="http://schemas.microsoft.com/office/drawing/2014/main" id="{D22117A3-B7D1-4134-8061-9F11CA93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60604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Believing</a:t>
            </a:r>
          </a:p>
        </p:txBody>
      </p:sp>
      <p:sp>
        <p:nvSpPr>
          <p:cNvPr id="319" name="Google Shape;319;p15">
            <a:extLst xmlns:a="http://schemas.openxmlformats.org/drawingml/2006/main">
              <a:ext uri="{FF2B5EF4-FFF2-40B4-BE49-F238E27FC236}">
                <a16:creationId xmlns:a16="http://schemas.microsoft.com/office/drawing/2014/main" id="{75745B59-5AA9-4BEE-A2CE-B4CDF2F2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606040"/>
            <a:ext cx="3657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320" name="Google Shape;320;p15">
            <a:extLst xmlns:a="http://schemas.openxmlformats.org/drawingml/2006/main">
              <a:ext uri="{FF2B5EF4-FFF2-40B4-BE49-F238E27FC236}">
                <a16:creationId xmlns:a16="http://schemas.microsoft.com/office/drawing/2014/main" id="{4B70BBD4-1BD5-4AF8-B9C6-693DEE4A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06040"/>
            <a:ext cx="237744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1" name="Google Shape;321;p15">
            <a:extLst xmlns:a="http://schemas.openxmlformats.org/drawingml/2006/main">
              <a:ext uri="{FF2B5EF4-FFF2-40B4-BE49-F238E27FC236}">
                <a16:creationId xmlns:a16="http://schemas.microsoft.com/office/drawing/2014/main" id="{CB302CAC-890B-4F8F-9905-E7778DB0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0604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Recognising</a:t>
            </a:r>
          </a:p>
        </p:txBody>
      </p:sp>
      <p:sp>
        <p:nvSpPr>
          <p:cNvPr id="322" name="Google Shape;322;p15">
            <a:extLst xmlns:a="http://schemas.openxmlformats.org/drawingml/2006/main">
              <a:ext uri="{FF2B5EF4-FFF2-40B4-BE49-F238E27FC236}">
                <a16:creationId xmlns:a16="http://schemas.microsoft.com/office/drawing/2014/main" id="{4D7143A8-64F5-4F08-9E06-619041EC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06040"/>
            <a:ext cx="3657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323" name="Google Shape;323;p15">
            <a:extLst xmlns:a="http://schemas.openxmlformats.org/drawingml/2006/main">
              <a:ext uri="{FF2B5EF4-FFF2-40B4-BE49-F238E27FC236}">
                <a16:creationId xmlns:a16="http://schemas.microsoft.com/office/drawing/2014/main" id="{284888BF-9EFE-499D-967E-573252F9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606040"/>
            <a:ext cx="237744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4" name="Google Shape;324;p15">
            <a:extLst xmlns:a="http://schemas.openxmlformats.org/drawingml/2006/main">
              <a:ext uri="{FF2B5EF4-FFF2-40B4-BE49-F238E27FC236}">
                <a16:creationId xmlns:a16="http://schemas.microsoft.com/office/drawing/2014/main" id="{2F9DF5F6-4563-4250-8891-77381FEB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60604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Fulfilling</a:t>
            </a:r>
          </a:p>
        </p:txBody>
      </p:sp>
      <p:sp>
        <p:nvSpPr>
          <p:cNvPr id="325" name="Google Shape;325;p15">
            <a:extLst xmlns:a="http://schemas.openxmlformats.org/drawingml/2006/main">
              <a:ext uri="{FF2B5EF4-FFF2-40B4-BE49-F238E27FC236}">
                <a16:creationId xmlns:a16="http://schemas.microsoft.com/office/drawing/2014/main" id="{99E8D48B-EF65-44A0-B744-F2B2F87F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01568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under justice, dharma and truth</a:t>
            </a:r>
          </a:p>
        </p:txBody>
      </p:sp>
      <p:sp>
        <p:nvSpPr>
          <p:cNvPr id="326" name="Google Shape;326;p15">
            <a:extLst xmlns:a="http://schemas.openxmlformats.org/drawingml/2006/main">
              <a:ext uri="{FF2B5EF4-FFF2-40B4-BE49-F238E27FC236}">
                <a16:creationId xmlns:a16="http://schemas.microsoft.com/office/drawing/2014/main" id="{545D2290-95BD-48D8-B576-993BF822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5349240" cy="224028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7" name="Google Shape;327;p15">
            <a:extLst xmlns:a="http://schemas.openxmlformats.org/drawingml/2006/main">
              <a:ext uri="{FF2B5EF4-FFF2-40B4-BE49-F238E27FC236}">
                <a16:creationId xmlns:a16="http://schemas.microsoft.com/office/drawing/2014/main" id="{79DE6B7B-48A0-47BE-AEDB-A5673614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Outward — three stages</a:t>
            </a:r>
          </a:p>
        </p:txBody>
      </p:sp>
      <p:sp>
        <p:nvSpPr>
          <p:cNvPr id="328" name="Google Shape;328;p15">
            <a:extLst xmlns:a="http://schemas.openxmlformats.org/drawingml/2006/main">
              <a:ext uri="{FF2B5EF4-FFF2-40B4-BE49-F238E27FC236}">
                <a16:creationId xmlns:a16="http://schemas.microsoft.com/office/drawing/2014/main" id="{F97CA706-1F19-4929-BFE6-2FE6E2FA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4846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Study</a:t>
            </a:r>
            <a:r>
              <a:rPr sz="1250" b="0" i="0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  →  </a:t>
            </a:r>
            <a:r>
              <a:rPr sz="1250" b="1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Experiment &amp; practice</a:t>
            </a:r>
            <a:r>
              <a:rPr sz="1250" b="0" i="0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  →  </a:t>
            </a:r>
            <a:r>
              <a:rPr sz="1250" b="1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Realisation, evidenced in conduct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The third stage is accomplishment and success — humaneness apparent in work and behaviour, within family and world-family order.</a:t>
            </a:r>
          </a:p>
        </p:txBody>
      </p:sp>
      <p:sp>
        <p:nvSpPr>
          <p:cNvPr id="329" name="Google Shape;329;p15">
            <a:extLst xmlns:a="http://schemas.openxmlformats.org/drawingml/2006/main">
              <a:ext uri="{FF2B5EF4-FFF2-40B4-BE49-F238E27FC236}">
                <a16:creationId xmlns:a16="http://schemas.microsoft.com/office/drawing/2014/main" id="{5E28AD9F-6BE4-4929-85AC-E22171D4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349240" cy="224028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0" name="Google Shape;330;p15">
            <a:extLst xmlns:a="http://schemas.openxmlformats.org/drawingml/2006/main">
              <a:ext uri="{FF2B5EF4-FFF2-40B4-BE49-F238E27FC236}">
                <a16:creationId xmlns:a16="http://schemas.microsoft.com/office/drawing/2014/main" id="{3C332FA0-EE10-45C2-BAED-87752CA5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605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Inward — shanka · swada · bodh</a:t>
            </a:r>
          </a:p>
        </p:txBody>
      </p:sp>
      <p:sp>
        <p:nvSpPr>
          <p:cNvPr id="331" name="Google Shape;331;p15">
            <a:extLst xmlns:a="http://schemas.openxmlformats.org/drawingml/2006/main">
              <a:ext uri="{FF2B5EF4-FFF2-40B4-BE49-F238E27FC236}">
                <a16:creationId xmlns:a16="http://schemas.microsoft.com/office/drawing/2014/main" id="{39876228-22F2-4252-BE9E-CCB041EA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572000"/>
            <a:ext cx="4846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Doubt and verification, acceptance within oneself, and understanding. Inward clarity must appear in work and behaviour. Janvad — public dialogue — is the collective counterpart to individual study.</a:t>
            </a:r>
          </a:p>
        </p:txBody>
      </p:sp>
    </p:spTree>
    <p:extLst>
      <p:ext uri="{BB962C8B-B14F-4D97-AF65-F5344CB8AC3E}">
        <p14:creationId xmlns:p14="http://schemas.microsoft.com/office/powerpoint/2010/main" val="15469319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7" name="Google Shape;337;p16">
            <a:extLst xmlns:a="http://schemas.openxmlformats.org/drawingml/2006/main">
              <a:ext uri="{FF2B5EF4-FFF2-40B4-BE49-F238E27FC236}">
                <a16:creationId xmlns:a16="http://schemas.microsoft.com/office/drawing/2014/main" id="{6F555734-4ECE-494D-81D1-C9C2C24C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8" name="Google Shape;338;p16">
            <a:extLst xmlns:a="http://schemas.openxmlformats.org/drawingml/2006/main">
              <a:ext uri="{FF2B5EF4-FFF2-40B4-BE49-F238E27FC236}">
                <a16:creationId xmlns:a16="http://schemas.microsoft.com/office/drawing/2014/main" id="{0F324ACE-E006-4D1D-AF1C-22E8FC3A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9" name="Google Shape;339;p16">
            <a:extLst xmlns:a="http://schemas.openxmlformats.org/drawingml/2006/main">
              <a:ext uri="{FF2B5EF4-FFF2-40B4-BE49-F238E27FC236}">
                <a16:creationId xmlns:a16="http://schemas.microsoft.com/office/drawing/2014/main" id="{726E7DEA-1C0C-4CDA-8F08-72F2930C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AWAKENING  ·  EVIDENCE</a:t>
            </a:r>
          </a:p>
        </p:txBody>
      </p:sp>
      <p:sp>
        <p:nvSpPr>
          <p:cNvPr id="340" name="Google Shape;340;p16">
            <a:extLst xmlns:a="http://schemas.openxmlformats.org/drawingml/2006/main">
              <a:ext uri="{FF2B5EF4-FFF2-40B4-BE49-F238E27FC236}">
                <a16:creationId xmlns:a16="http://schemas.microsoft.com/office/drawing/2014/main" id="{38B60433-C182-4802-A860-5CC02C65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Completeness names stability — not moral flawlessness</a:t>
            </a:r>
          </a:p>
        </p:txBody>
      </p:sp>
      <p:sp>
        <p:nvSpPr>
          <p:cNvPr id="341" name="Google Shape;341;p16">
            <a:extLst xmlns:a="http://schemas.openxmlformats.org/drawingml/2006/main">
              <a:ext uri="{FF2B5EF4-FFF2-40B4-BE49-F238E27FC236}">
                <a16:creationId xmlns:a16="http://schemas.microsoft.com/office/drawing/2014/main" id="{4CE625E4-C569-424C-9C04-D98F87FA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6424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T1 is the darshan's sentience claim. T2 and T3 name increasingly stable alignment of understanding, activity and conduct. Their credibility depends on evidence available to people affected by the conduct.</a:t>
            </a:r>
          </a:p>
        </p:txBody>
      </p:sp>
      <p:sp>
        <p:nvSpPr>
          <p:cNvPr id="342" name="Google Shape;342;p16">
            <a:extLst xmlns:a="http://schemas.openxmlformats.org/drawingml/2006/main">
              <a:ext uri="{FF2B5EF4-FFF2-40B4-BE49-F238E27FC236}">
                <a16:creationId xmlns:a16="http://schemas.microsoft.com/office/drawing/2014/main" id="{C19B4BDA-864B-40F5-9CFD-A692B7AE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356616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0EBE4"/>
          </a:solidFill>
          <a:ln xmlns:a="http://schemas.openxmlformats.org/drawingml/2006/main" w="12700" cmpd="sng">
            <a:solidFill>
              <a:srgbClr val="D8E0E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3" name="Google Shape;343;p16">
            <a:extLst xmlns:a="http://schemas.openxmlformats.org/drawingml/2006/main">
              <a:ext uri="{FF2B5EF4-FFF2-40B4-BE49-F238E27FC236}">
                <a16:creationId xmlns:a16="http://schemas.microsoft.com/office/drawing/2014/main" id="{033B99B6-D170-4E8A-8CCA-A0160C14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260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422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4" name="Google Shape;344;p16">
            <a:extLst xmlns:a="http://schemas.openxmlformats.org/drawingml/2006/main">
              <a:ext uri="{FF2B5EF4-FFF2-40B4-BE49-F238E27FC236}">
                <a16:creationId xmlns:a16="http://schemas.microsoft.com/office/drawing/2014/main" id="{B0B1406B-56EE-4CF1-99C6-FB8703E9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26080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T1</a:t>
            </a:r>
          </a:p>
        </p:txBody>
      </p:sp>
      <p:sp>
        <p:nvSpPr>
          <p:cNvPr id="345" name="Google Shape;345;p16">
            <a:extLst xmlns:a="http://schemas.openxmlformats.org/drawingml/2006/main">
              <a:ext uri="{FF2B5EF4-FFF2-40B4-BE49-F238E27FC236}">
                <a16:creationId xmlns:a16="http://schemas.microsoft.com/office/drawing/2014/main" id="{AEB40248-114E-4563-9889-5E7E508B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0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Constitutional completeness</a:t>
            </a:r>
          </a:p>
        </p:txBody>
      </p:sp>
      <p:sp>
        <p:nvSpPr>
          <p:cNvPr id="346" name="Google Shape;346;p16">
            <a:extLst xmlns:a="http://schemas.openxmlformats.org/drawingml/2006/main">
              <a:ext uri="{FF2B5EF4-FFF2-40B4-BE49-F238E27FC236}">
                <a16:creationId xmlns:a16="http://schemas.microsoft.com/office/drawing/2014/main" id="{5198FCD9-311E-42ED-A25D-B2E02095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2628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gathanpurnata</a:t>
            </a:r>
          </a:p>
        </p:txBody>
      </p:sp>
      <p:sp>
        <p:nvSpPr>
          <p:cNvPr id="347" name="Google Shape;347;p16">
            <a:extLst xmlns:a="http://schemas.openxmlformats.org/drawingml/2006/main">
              <a:ext uri="{FF2B5EF4-FFF2-40B4-BE49-F238E27FC236}">
                <a16:creationId xmlns:a16="http://schemas.microsoft.com/office/drawing/2014/main" id="{5BB1AB16-FA41-438A-93D7-D963B75B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3776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Sentient jeevan; a doctrinal threshold whose physical account remains open to public inquiry.</a:t>
            </a:r>
          </a:p>
        </p:txBody>
      </p:sp>
      <p:sp>
        <p:nvSpPr>
          <p:cNvPr id="348" name="Google Shape;348;p16">
            <a:extLst xmlns:a="http://schemas.openxmlformats.org/drawingml/2006/main">
              <a:ext uri="{FF2B5EF4-FFF2-40B4-BE49-F238E27FC236}">
                <a16:creationId xmlns:a16="http://schemas.microsoft.com/office/drawing/2014/main" id="{E456BD08-3721-43C3-89DB-36FD6D54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697480"/>
            <a:ext cx="356616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 w="12700" cmpd="sng">
            <a:solidFill>
              <a:srgbClr val="D8E0E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9" name="Google Shape;349;p16">
            <a:extLst xmlns:a="http://schemas.openxmlformats.org/drawingml/2006/main">
              <a:ext uri="{FF2B5EF4-FFF2-40B4-BE49-F238E27FC236}">
                <a16:creationId xmlns:a16="http://schemas.microsoft.com/office/drawing/2014/main" id="{547DC43F-BF58-43C8-B351-ACBCFAE4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9260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0" name="Google Shape;350;p16">
            <a:extLst xmlns:a="http://schemas.openxmlformats.org/drawingml/2006/main">
              <a:ext uri="{FF2B5EF4-FFF2-40B4-BE49-F238E27FC236}">
                <a16:creationId xmlns:a16="http://schemas.microsoft.com/office/drawing/2014/main" id="{0AF1F735-B77B-4E04-AC42-E31E5606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926080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T2</a:t>
            </a:r>
          </a:p>
        </p:txBody>
      </p:sp>
      <p:sp>
        <p:nvSpPr>
          <p:cNvPr id="351" name="Google Shape;351;p16">
            <a:extLst xmlns:a="http://schemas.openxmlformats.org/drawingml/2006/main">
              <a:ext uri="{FF2B5EF4-FFF2-40B4-BE49-F238E27FC236}">
                <a16:creationId xmlns:a16="http://schemas.microsoft.com/office/drawing/2014/main" id="{762DFF4A-8499-49F9-9440-1813AF1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4114800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Activity completeness</a:t>
            </a:r>
          </a:p>
        </p:txBody>
      </p:sp>
      <p:sp>
        <p:nvSpPr>
          <p:cNvPr id="352" name="Google Shape;352;p16">
            <a:extLst xmlns:a="http://schemas.openxmlformats.org/drawingml/2006/main">
              <a:ext uri="{FF2B5EF4-FFF2-40B4-BE49-F238E27FC236}">
                <a16:creationId xmlns:a16="http://schemas.microsoft.com/office/drawing/2014/main" id="{60914304-1F8B-4C88-967F-675DBA4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452628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kriyapurnata</a:t>
            </a:r>
          </a:p>
        </p:txBody>
      </p:sp>
      <p:sp>
        <p:nvSpPr>
          <p:cNvPr id="353" name="Google Shape;353;p16">
            <a:extLst xmlns:a="http://schemas.openxmlformats.org/drawingml/2006/main">
              <a:ext uri="{FF2B5EF4-FFF2-40B4-BE49-F238E27FC236}">
                <a16:creationId xmlns:a16="http://schemas.microsoft.com/office/drawing/2014/main" id="{105BB36E-0D64-48C5-B803-404500EF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93776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Orderliness with -ness, evidenced in awakened human activity. The deific plane.</a:t>
            </a:r>
          </a:p>
        </p:txBody>
      </p:sp>
      <p:sp>
        <p:nvSpPr>
          <p:cNvPr id="354" name="Google Shape;354;p16">
            <a:extLst xmlns:a="http://schemas.openxmlformats.org/drawingml/2006/main">
              <a:ext uri="{FF2B5EF4-FFF2-40B4-BE49-F238E27FC236}">
                <a16:creationId xmlns:a16="http://schemas.microsoft.com/office/drawing/2014/main" id="{C7AF0415-EBD0-4C39-88D4-90B72B92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697480"/>
            <a:ext cx="356616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2700" cmpd="sng">
            <a:solidFill>
              <a:srgbClr val="D8E0E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5" name="Google Shape;355;p16">
            <a:extLst xmlns:a="http://schemas.openxmlformats.org/drawingml/2006/main">
              <a:ext uri="{FF2B5EF4-FFF2-40B4-BE49-F238E27FC236}">
                <a16:creationId xmlns:a16="http://schemas.microsoft.com/office/drawing/2014/main" id="{D0B4B6E4-FC56-43A1-8353-10E9C54E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29260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6" name="Google Shape;356;p16">
            <a:extLst xmlns:a="http://schemas.openxmlformats.org/drawingml/2006/main">
              <a:ext uri="{FF2B5EF4-FFF2-40B4-BE49-F238E27FC236}">
                <a16:creationId xmlns:a16="http://schemas.microsoft.com/office/drawing/2014/main" id="{3AAB7CD0-E01E-4395-A495-24B73875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2926080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T3</a:t>
            </a:r>
          </a:p>
        </p:txBody>
      </p:sp>
      <p:sp>
        <p:nvSpPr>
          <p:cNvPr id="357" name="Google Shape;357;p16">
            <a:extLst xmlns:a="http://schemas.openxmlformats.org/drawingml/2006/main">
              <a:ext uri="{FF2B5EF4-FFF2-40B4-BE49-F238E27FC236}">
                <a16:creationId xmlns:a16="http://schemas.microsoft.com/office/drawing/2014/main" id="{C9F0687E-1A43-4156-B37D-5E14A434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4114800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Conduct completeness</a:t>
            </a:r>
          </a:p>
        </p:txBody>
      </p:sp>
      <p:sp>
        <p:nvSpPr>
          <p:cNvPr id="358" name="Google Shape;358;p16">
            <a:extLst xmlns:a="http://schemas.openxmlformats.org/drawingml/2006/main">
              <a:ext uri="{FF2B5EF4-FFF2-40B4-BE49-F238E27FC236}">
                <a16:creationId xmlns:a16="http://schemas.microsoft.com/office/drawing/2014/main" id="{48C4E8B5-E8F0-47EF-88EA-450CC0C0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452628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vyavaharpurnata</a:t>
            </a:r>
          </a:p>
        </p:txBody>
      </p:sp>
      <p:sp>
        <p:nvSpPr>
          <p:cNvPr id="359" name="Google Shape;359;p16">
            <a:extLst xmlns:a="http://schemas.openxmlformats.org/drawingml/2006/main">
              <a:ext uri="{FF2B5EF4-FFF2-40B4-BE49-F238E27FC236}">
                <a16:creationId xmlns:a16="http://schemas.microsoft.com/office/drawing/2014/main" id="{2AED6A28-88BB-4918-91BB-23E0E82F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493776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Living proof (pramanikta) in work and behaviour — awakening completeness. The divine plane.</a:t>
            </a:r>
          </a:p>
        </p:txBody>
      </p:sp>
    </p:spTree>
    <p:extLst>
      <p:ext uri="{BB962C8B-B14F-4D97-AF65-F5344CB8AC3E}">
        <p14:creationId xmlns:p14="http://schemas.microsoft.com/office/powerpoint/2010/main" val="129235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5" name="Google Shape;365;p17">
            <a:extLst xmlns:a="http://schemas.openxmlformats.org/drawingml/2006/main">
              <a:ext uri="{FF2B5EF4-FFF2-40B4-BE49-F238E27FC236}">
                <a16:creationId xmlns:a16="http://schemas.microsoft.com/office/drawing/2014/main" id="{8DA862CD-9E7B-4E43-B34C-36847C0F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6" name="Google Shape;366;p17">
            <a:extLst xmlns:a="http://schemas.openxmlformats.org/drawingml/2006/main">
              <a:ext uri="{FF2B5EF4-FFF2-40B4-BE49-F238E27FC236}">
                <a16:creationId xmlns:a16="http://schemas.microsoft.com/office/drawing/2014/main" id="{ADDB711D-696C-4626-BF57-2CD260F9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67" name="Google Shape;367;p17">
            <a:extLst xmlns:a="http://schemas.openxmlformats.org/drawingml/2006/main">
              <a:ext uri="{FF2B5EF4-FFF2-40B4-BE49-F238E27FC236}">
                <a16:creationId xmlns:a16="http://schemas.microsoft.com/office/drawing/2014/main" id="{93360421-506D-4BEB-8B75-F5B7C047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KARM DARSHAN  ·  SOCIAL BALANCE</a:t>
            </a:r>
          </a:p>
        </p:txBody>
      </p:sp>
      <p:sp>
        <p:nvSpPr>
          <p:cNvPr id="368" name="Google Shape;368;p17">
            <a:extLst xmlns:a="http://schemas.openxmlformats.org/drawingml/2006/main">
              <a:ext uri="{FF2B5EF4-FFF2-40B4-BE49-F238E27FC236}">
                <a16:creationId xmlns:a16="http://schemas.microsoft.com/office/drawing/2014/main" id="{335A1D52-F196-407B-BD45-6A61C45C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Five necessary tendencies counter the engines of division</a:t>
            </a:r>
          </a:p>
        </p:txBody>
      </p:sp>
      <p:sp>
        <p:nvSpPr>
          <p:cNvPr id="369" name="Google Shape;369;p17">
            <a:extLst xmlns:a="http://schemas.openxmlformats.org/drawingml/2006/main">
              <a:ext uri="{FF2B5EF4-FFF2-40B4-BE49-F238E27FC236}">
                <a16:creationId xmlns:a16="http://schemas.microsoft.com/office/drawing/2014/main" id="{4F52CA39-64C1-45BD-BE4D-F9E88346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55648"/>
            <a:ext cx="110642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4A386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0" name="Google Shape;370;p17">
            <a:extLst xmlns:a="http://schemas.openxmlformats.org/drawingml/2006/main">
              <a:ext uri="{FF2B5EF4-FFF2-40B4-BE49-F238E27FC236}">
                <a16:creationId xmlns:a16="http://schemas.microsoft.com/office/drawing/2014/main" id="{7985275A-379C-4139-B057-EE95F41B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37360"/>
            <a:ext cx="731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371" name="Google Shape;371;p17">
            <a:extLst xmlns:a="http://schemas.openxmlformats.org/drawingml/2006/main">
              <a:ext uri="{FF2B5EF4-FFF2-40B4-BE49-F238E27FC236}">
                <a16:creationId xmlns:a16="http://schemas.microsoft.com/office/drawing/2014/main" id="{15C33E2F-77D7-4F52-A8D4-8DB4B4F0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20240"/>
            <a:ext cx="10287000" cy="905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1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While in the state of awakening, all humans are naturally found to be working towards establishing the harmonious tradition of non-accumulation, of affection, of knowledge, of simplicity, and of fearlessness.</a:t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cap="none">
                <a:solidFill>
                  <a:srgbClr val="4A3868"/>
                </a:solidFill>
                <a:latin typeface="Calibri"/>
                <a:ea typeface="Calibri"/>
                <a:cs typeface="Calibri"/>
              </a:rPr>
              <a:t>— AVD, p. 14</a:t>
            </a:r>
          </a:p>
        </p:txBody>
      </p:sp>
      <p:sp>
        <p:nvSpPr>
          <p:cNvPr id="372" name="Google Shape;372;p17">
            <a:extLst xmlns:a="http://schemas.openxmlformats.org/drawingml/2006/main">
              <a:ext uri="{FF2B5EF4-FFF2-40B4-BE49-F238E27FC236}">
                <a16:creationId xmlns:a16="http://schemas.microsoft.com/office/drawing/2014/main" id="{BF674C3C-4FEC-4542-9C2D-CB8C0E80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2103120" cy="25603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3" name="Google Shape;373;p17">
            <a:extLst xmlns:a="http://schemas.openxmlformats.org/drawingml/2006/main">
              <a:ext uri="{FF2B5EF4-FFF2-40B4-BE49-F238E27FC236}">
                <a16:creationId xmlns:a16="http://schemas.microsoft.com/office/drawing/2014/main" id="{35423C1B-DD78-4F6B-AA87-653C7BF7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5888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11" name="Google Shape;37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86a837427149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53312" y="3886200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5" name="Google Shape;375;p17">
            <a:extLst xmlns:a="http://schemas.openxmlformats.org/drawingml/2006/main">
              <a:ext uri="{FF2B5EF4-FFF2-40B4-BE49-F238E27FC236}">
                <a16:creationId xmlns:a16="http://schemas.microsoft.com/office/drawing/2014/main" id="{C5F217C8-52E0-4FBA-9364-4C4A667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Non-accumulation</a:t>
            </a:r>
          </a:p>
        </p:txBody>
      </p:sp>
      <p:sp>
        <p:nvSpPr>
          <p:cNvPr id="376" name="Google Shape;376;p17">
            <a:extLst xmlns:a="http://schemas.openxmlformats.org/drawingml/2006/main">
              <a:ext uri="{FF2B5EF4-FFF2-40B4-BE49-F238E27FC236}">
                <a16:creationId xmlns:a16="http://schemas.microsoft.com/office/drawing/2014/main" id="{D1B195DE-CF4D-4D70-97BF-1E9A5F9B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76672"/>
            <a:ext cx="18836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from assessed sufficiency</a:t>
            </a:r>
          </a:p>
        </p:txBody>
      </p:sp>
      <p:sp>
        <p:nvSpPr>
          <p:cNvPr id="377" name="Google Shape;377;p17">
            <a:extLst xmlns:a="http://schemas.openxmlformats.org/drawingml/2006/main">
              <a:ext uri="{FF2B5EF4-FFF2-40B4-BE49-F238E27FC236}">
                <a16:creationId xmlns:a16="http://schemas.microsoft.com/office/drawing/2014/main" id="{DC025200-999E-4EE1-8F31-17BE8886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3383280"/>
            <a:ext cx="2103120" cy="25603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8" name="Google Shape;378;p17">
            <a:extLst xmlns:a="http://schemas.openxmlformats.org/drawingml/2006/main">
              <a:ext uri="{FF2B5EF4-FFF2-40B4-BE49-F238E27FC236}">
                <a16:creationId xmlns:a16="http://schemas.microsoft.com/office/drawing/2014/main" id="{6AD232D7-93FC-434D-B839-54750198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675888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16" name="Google Shape;37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63e3147ba646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21024" y="3886200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0" name="Google Shape;380;p17">
            <a:extLst xmlns:a="http://schemas.openxmlformats.org/drawingml/2006/main">
              <a:ext uri="{FF2B5EF4-FFF2-40B4-BE49-F238E27FC236}">
                <a16:creationId xmlns:a16="http://schemas.microsoft.com/office/drawing/2014/main" id="{5FD12091-D3F4-4F6A-B70D-D57EA2BA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70916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Affection</a:t>
            </a:r>
          </a:p>
        </p:txBody>
      </p:sp>
      <p:sp>
        <p:nvSpPr>
          <p:cNvPr id="381" name="Google Shape;381;p17">
            <a:extLst xmlns:a="http://schemas.openxmlformats.org/drawingml/2006/main">
              <a:ext uri="{FF2B5EF4-FFF2-40B4-BE49-F238E27FC236}">
                <a16:creationId xmlns:a16="http://schemas.microsoft.com/office/drawing/2014/main" id="{501F2B11-D8F3-4DE5-8A0E-8BD9F32B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376672"/>
            <a:ext cx="18836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through fulfilled relationship</a:t>
            </a:r>
          </a:p>
        </p:txBody>
      </p:sp>
      <p:sp>
        <p:nvSpPr>
          <p:cNvPr id="382" name="Google Shape;382;p17">
            <a:extLst xmlns:a="http://schemas.openxmlformats.org/drawingml/2006/main">
              <a:ext uri="{FF2B5EF4-FFF2-40B4-BE49-F238E27FC236}">
                <a16:creationId xmlns:a16="http://schemas.microsoft.com/office/drawing/2014/main" id="{762751E6-1153-48B3-B97E-78CC8354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3383280"/>
            <a:ext cx="2103120" cy="25603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3" name="Google Shape;383;p17">
            <a:extLst xmlns:a="http://schemas.openxmlformats.org/drawingml/2006/main">
              <a:ext uri="{FF2B5EF4-FFF2-40B4-BE49-F238E27FC236}">
                <a16:creationId xmlns:a16="http://schemas.microsoft.com/office/drawing/2014/main" id="{A79FA09F-D4C9-4279-8E85-83A8FBA4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3675888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21" name="Google Shape;38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ab1236645143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8736" y="3886200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5" name="Google Shape;385;p17">
            <a:extLst xmlns:a="http://schemas.openxmlformats.org/drawingml/2006/main">
              <a:ext uri="{FF2B5EF4-FFF2-40B4-BE49-F238E27FC236}">
                <a16:creationId xmlns:a16="http://schemas.microsoft.com/office/drawing/2014/main" id="{E48D6046-9915-4A30-ACCB-256CE1DC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70916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Learning</a:t>
            </a:r>
          </a:p>
        </p:txBody>
      </p:sp>
      <p:sp>
        <p:nvSpPr>
          <p:cNvPr id="386" name="Google Shape;386;p17">
            <a:extLst xmlns:a="http://schemas.openxmlformats.org/drawingml/2006/main">
              <a:ext uri="{FF2B5EF4-FFF2-40B4-BE49-F238E27FC236}">
                <a16:creationId xmlns:a16="http://schemas.microsoft.com/office/drawing/2014/main" id="{51492BFB-4468-47EF-B5AA-3F05C1EA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5376672"/>
            <a:ext cx="18836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through study and verification</a:t>
            </a:r>
          </a:p>
        </p:txBody>
      </p:sp>
      <p:sp>
        <p:nvSpPr>
          <p:cNvPr id="387" name="Google Shape;387;p17">
            <a:extLst xmlns:a="http://schemas.openxmlformats.org/drawingml/2006/main">
              <a:ext uri="{FF2B5EF4-FFF2-40B4-BE49-F238E27FC236}">
                <a16:creationId xmlns:a16="http://schemas.microsoft.com/office/drawing/2014/main" id="{AF358EF2-A4BC-4E06-BD90-AD457543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3383280"/>
            <a:ext cx="2103120" cy="25603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8" name="Google Shape;388;p17">
            <a:extLst xmlns:a="http://schemas.openxmlformats.org/drawingml/2006/main">
              <a:ext uri="{FF2B5EF4-FFF2-40B4-BE49-F238E27FC236}">
                <a16:creationId xmlns:a16="http://schemas.microsoft.com/office/drawing/2014/main" id="{82A9538E-8B77-4B4D-9A8F-6C0C38C3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3675888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26" name="Google Shape;38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35e6dfbbcb40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56448" y="3886200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0" name="Google Shape;390;p17">
            <a:extLst xmlns:a="http://schemas.openxmlformats.org/drawingml/2006/main">
              <a:ext uri="{FF2B5EF4-FFF2-40B4-BE49-F238E27FC236}">
                <a16:creationId xmlns:a16="http://schemas.microsoft.com/office/drawing/2014/main" id="{2550439A-B2BE-4CE4-AC4C-091A7821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6" y="470916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Simplicity</a:t>
            </a:r>
          </a:p>
        </p:txBody>
      </p:sp>
      <p:sp>
        <p:nvSpPr>
          <p:cNvPr id="391" name="Google Shape;391;p17">
            <a:extLst xmlns:a="http://schemas.openxmlformats.org/drawingml/2006/main">
              <a:ext uri="{FF2B5EF4-FFF2-40B4-BE49-F238E27FC236}">
                <a16:creationId xmlns:a16="http://schemas.microsoft.com/office/drawing/2014/main" id="{4E771E17-6F43-4FFA-B2BF-BF43816F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5376672"/>
            <a:ext cx="18836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against conceit and display</a:t>
            </a:r>
          </a:p>
        </p:txBody>
      </p:sp>
      <p:sp>
        <p:nvSpPr>
          <p:cNvPr id="392" name="Google Shape;392;p17">
            <a:extLst xmlns:a="http://schemas.openxmlformats.org/drawingml/2006/main">
              <a:ext uri="{FF2B5EF4-FFF2-40B4-BE49-F238E27FC236}">
                <a16:creationId xmlns:a16="http://schemas.microsoft.com/office/drawing/2014/main" id="{8C6BEC54-0E0F-4A5D-B1D3-1B0E0CC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383280"/>
            <a:ext cx="2103120" cy="25603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3" name="Google Shape;393;p17">
            <a:extLst xmlns:a="http://schemas.openxmlformats.org/drawingml/2006/main">
              <a:ext uri="{FF2B5EF4-FFF2-40B4-BE49-F238E27FC236}">
                <a16:creationId xmlns:a16="http://schemas.microsoft.com/office/drawing/2014/main" id="{A305D8AB-B40F-4F70-8012-701F6707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3675888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31" name="Google Shape;39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97ace0c65a47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24160" y="3886200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5" name="Google Shape;395;p17">
            <a:extLst xmlns:a="http://schemas.openxmlformats.org/drawingml/2006/main">
              <a:ext uri="{FF2B5EF4-FFF2-40B4-BE49-F238E27FC236}">
                <a16:creationId xmlns:a16="http://schemas.microsoft.com/office/drawing/2014/main" id="{9A3FB2C1-B637-419D-9102-E3BE9EB7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70916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Fearlessness</a:t>
            </a:r>
          </a:p>
        </p:txBody>
      </p:sp>
      <p:sp>
        <p:nvSpPr>
          <p:cNvPr id="396" name="Google Shape;396;p17">
            <a:extLst xmlns:a="http://schemas.openxmlformats.org/drawingml/2006/main">
              <a:ext uri="{FF2B5EF4-FFF2-40B4-BE49-F238E27FC236}">
                <a16:creationId xmlns:a16="http://schemas.microsoft.com/office/drawing/2014/main" id="{9B30B322-0C23-45A2-9BE3-32AA67AA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5376672"/>
            <a:ext cx="18836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as trust in the present</a:t>
            </a:r>
          </a:p>
        </p:txBody>
      </p:sp>
    </p:spTree>
    <p:extLst>
      <p:ext uri="{BB962C8B-B14F-4D97-AF65-F5344CB8AC3E}">
        <p14:creationId xmlns:p14="http://schemas.microsoft.com/office/powerpoint/2010/main" val="14626283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F51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2" name="Google Shape;402;p18">
            <a:extLst xmlns:a="http://schemas.openxmlformats.org/drawingml/2006/main">
              <a:ext uri="{FF2B5EF4-FFF2-40B4-BE49-F238E27FC236}">
                <a16:creationId xmlns:a16="http://schemas.microsoft.com/office/drawing/2014/main" id="{74B67B50-6CA0-4A21-BD11-A4D69A6D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THE PRACTICAL REVERSAL</a:t>
            </a:r>
          </a:p>
        </p:txBody>
      </p:sp>
      <p:sp>
        <p:nvSpPr>
          <p:cNvPr id="403" name="Google Shape;403;p18">
            <a:extLst xmlns:a="http://schemas.openxmlformats.org/drawingml/2006/main">
              <a:ext uri="{FF2B5EF4-FFF2-40B4-BE49-F238E27FC236}">
                <a16:creationId xmlns:a16="http://schemas.microsoft.com/office/drawing/2014/main" id="{F6DC4BD7-45C9-4234-9228-DBE3BDDE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Doing after understanding</a:t>
            </a:r>
          </a:p>
        </p:txBody>
      </p:sp>
      <p:sp>
        <p:nvSpPr>
          <p:cNvPr id="404" name="Google Shape;404;p18">
            <a:extLst xmlns:a="http://schemas.openxmlformats.org/drawingml/2006/main">
              <a:ext uri="{FF2B5EF4-FFF2-40B4-BE49-F238E27FC236}">
                <a16:creationId xmlns:a16="http://schemas.microsoft.com/office/drawing/2014/main" id="{07243FD5-6E4F-4C71-8CFB-B97A7B58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00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16242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5" name="Google Shape;405;p18">
            <a:extLst xmlns:a="http://schemas.openxmlformats.org/drawingml/2006/main">
              <a:ext uri="{FF2B5EF4-FFF2-40B4-BE49-F238E27FC236}">
                <a16:creationId xmlns:a16="http://schemas.microsoft.com/office/drawing/2014/main" id="{9BE0146F-6B20-46FB-87D8-1332244B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64792"/>
            <a:ext cx="731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16242E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406" name="Google Shape;406;p18">
            <a:extLst xmlns:a="http://schemas.openxmlformats.org/drawingml/2006/main">
              <a:ext uri="{FF2B5EF4-FFF2-40B4-BE49-F238E27FC236}">
                <a16:creationId xmlns:a16="http://schemas.microsoft.com/office/drawing/2014/main" id="{739B535D-4112-48BE-97B5-433FFD60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47672"/>
            <a:ext cx="4709160" cy="383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1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Delusionlessness is awakening; awakening is enlightenment; enlightenment is lordship; lordship is sovereignty; sovereignty is undivided society and universal orderliness.</a:t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cap="none">
                <a:solidFill>
                  <a:srgbClr val="16242E"/>
                </a:solidFill>
                <a:latin typeface="Calibri"/>
                <a:ea typeface="Calibri"/>
                <a:cs typeface="Calibri"/>
              </a:rPr>
              <a:t>— MVD, p. 27</a:t>
            </a:r>
          </a:p>
        </p:txBody>
      </p:sp>
      <p:sp>
        <p:nvSpPr>
          <p:cNvPr id="407" name="Google Shape;407;p18">
            <a:extLst xmlns:a="http://schemas.openxmlformats.org/drawingml/2006/main">
              <a:ext uri="{FF2B5EF4-FFF2-40B4-BE49-F238E27FC236}">
                <a16:creationId xmlns:a16="http://schemas.microsoft.com/office/drawing/2014/main" id="{07A06EE9-7D9C-47FA-AF78-6ED76C6A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32120"/>
            <a:ext cx="320040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>
              <a:alpha val="94117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8" name="Google Shape;408;p18">
            <a:extLst xmlns:a="http://schemas.openxmlformats.org/drawingml/2006/main">
              <a:ext uri="{FF2B5EF4-FFF2-40B4-BE49-F238E27FC236}">
                <a16:creationId xmlns:a16="http://schemas.microsoft.com/office/drawing/2014/main" id="{A5DA778C-1231-47B4-8338-344CB50B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532120"/>
            <a:ext cx="29260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Study</a:t>
            </a:r>
          </a:p>
        </p:txBody>
      </p:sp>
      <p:sp>
        <p:nvSpPr>
          <p:cNvPr id="409" name="Google Shape;409;p18">
            <a:extLst xmlns:a="http://schemas.openxmlformats.org/drawingml/2006/main">
              <a:ext uri="{FF2B5EF4-FFF2-40B4-BE49-F238E27FC236}">
                <a16:creationId xmlns:a16="http://schemas.microsoft.com/office/drawing/2014/main" id="{102FF9F7-CF6B-46F4-A8B0-AF64010D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370332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0" name="Google Shape;410;p18">
            <a:extLst xmlns:a="http://schemas.openxmlformats.org/drawingml/2006/main">
              <a:ext uri="{FF2B5EF4-FFF2-40B4-BE49-F238E27FC236}">
                <a16:creationId xmlns:a16="http://schemas.microsoft.com/office/drawing/2014/main" id="{1A03AEAC-2AC8-402F-B676-A1F211A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64608"/>
            <a:ext cx="3429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Understand</a:t>
            </a:r>
          </a:p>
        </p:txBody>
      </p:sp>
      <p:sp>
        <p:nvSpPr>
          <p:cNvPr id="411" name="Google Shape;411;p18">
            <a:extLst xmlns:a="http://schemas.openxmlformats.org/drawingml/2006/main">
              <a:ext uri="{FF2B5EF4-FFF2-40B4-BE49-F238E27FC236}">
                <a16:creationId xmlns:a16="http://schemas.microsoft.com/office/drawing/2014/main" id="{31901116-4FCA-479E-AEDB-88594982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7096"/>
            <a:ext cx="42062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2" name="Google Shape;412;p18">
            <a:extLst xmlns:a="http://schemas.openxmlformats.org/drawingml/2006/main">
              <a:ext uri="{FF2B5EF4-FFF2-40B4-BE49-F238E27FC236}">
                <a16:creationId xmlns:a16="http://schemas.microsoft.com/office/drawing/2014/main" id="{EFE77B74-691F-497A-8B0F-2D648D6E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197096"/>
            <a:ext cx="393192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Act</a:t>
            </a:r>
          </a:p>
        </p:txBody>
      </p:sp>
      <p:sp>
        <p:nvSpPr>
          <p:cNvPr id="413" name="Google Shape;413;p18">
            <a:extLst xmlns:a="http://schemas.openxmlformats.org/drawingml/2006/main">
              <a:ext uri="{FF2B5EF4-FFF2-40B4-BE49-F238E27FC236}">
                <a16:creationId xmlns:a16="http://schemas.microsoft.com/office/drawing/2014/main" id="{8DCB3779-98A9-4DD8-862D-492E4033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9584"/>
            <a:ext cx="470916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4" name="Google Shape;414;p18">
            <a:extLst xmlns:a="http://schemas.openxmlformats.org/drawingml/2006/main">
              <a:ext uri="{FF2B5EF4-FFF2-40B4-BE49-F238E27FC236}">
                <a16:creationId xmlns:a16="http://schemas.microsoft.com/office/drawing/2014/main" id="{9D3899C3-EACB-49C0-823B-2C37C876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9584"/>
            <a:ext cx="4434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415" name="Google Shape;415;p18">
            <a:extLst xmlns:a="http://schemas.openxmlformats.org/drawingml/2006/main">
              <a:ext uri="{FF2B5EF4-FFF2-40B4-BE49-F238E27FC236}">
                <a16:creationId xmlns:a16="http://schemas.microsoft.com/office/drawing/2014/main" id="{897358AC-9EFD-40C8-8BD2-B74AFA02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62072"/>
            <a:ext cx="521208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>
              <a:alpha val="819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6" name="Google Shape;416;p18">
            <a:extLst xmlns:a="http://schemas.openxmlformats.org/drawingml/2006/main">
              <a:ext uri="{FF2B5EF4-FFF2-40B4-BE49-F238E27FC236}">
                <a16:creationId xmlns:a16="http://schemas.microsoft.com/office/drawing/2014/main" id="{31F2A32E-C6B3-458A-9AFE-FA681FF6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862072"/>
            <a:ext cx="49377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Correct</a:t>
            </a:r>
          </a:p>
        </p:txBody>
      </p:sp>
      <p:sp>
        <p:nvSpPr>
          <p:cNvPr id="417" name="Google Shape;417;p18">
            <a:extLst xmlns:a="http://schemas.openxmlformats.org/drawingml/2006/main">
              <a:ext uri="{FF2B5EF4-FFF2-40B4-BE49-F238E27FC236}">
                <a16:creationId xmlns:a16="http://schemas.microsoft.com/office/drawing/2014/main" id="{E69F16AF-9C74-4811-B6B0-3A56D271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4560"/>
            <a:ext cx="5120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8" name="Google Shape;418;p18">
            <a:extLst xmlns:a="http://schemas.openxmlformats.org/drawingml/2006/main">
              <a:ext uri="{FF2B5EF4-FFF2-40B4-BE49-F238E27FC236}">
                <a16:creationId xmlns:a16="http://schemas.microsoft.com/office/drawing/2014/main" id="{CCE20993-2FF6-4264-ADF9-987F8140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84632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Transmit as education and orderliness</a:t>
            </a:r>
          </a:p>
        </p:txBody>
      </p:sp>
      <p:sp>
        <p:nvSpPr>
          <p:cNvPr id="419" name="Google Shape;419;p18">
            <a:extLst xmlns:a="http://schemas.openxmlformats.org/drawingml/2006/main">
              <a:ext uri="{FF2B5EF4-FFF2-40B4-BE49-F238E27FC236}">
                <a16:creationId xmlns:a16="http://schemas.microsoft.com/office/drawing/2014/main" id="{471A1AAD-0ED2-4EEE-8AB6-3AB4A845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72200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 u="none" cap="none">
                <a:solidFill>
                  <a:srgbClr val="C9D6DF"/>
                </a:solidFill>
                <a:latin typeface="Calibri"/>
                <a:ea typeface="Calibri"/>
                <a:cs typeface="Calibri"/>
              </a:rPr>
              <a:t>The reversal is practical: anticipate relational and ecological consequences, act from understood purpose, evaluate with those affected, correct error and teach the method — not merely the conclusion.</a:t>
            </a:r>
          </a:p>
        </p:txBody>
      </p:sp>
    </p:spTree>
    <p:extLst>
      <p:ext uri="{BB962C8B-B14F-4D97-AF65-F5344CB8AC3E}">
        <p14:creationId xmlns:p14="http://schemas.microsoft.com/office/powerpoint/2010/main" val="6034199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5" name="Google Shape;425;p19">
            <a:extLst xmlns:a="http://schemas.openxmlformats.org/drawingml/2006/main">
              <a:ext uri="{FF2B5EF4-FFF2-40B4-BE49-F238E27FC236}">
                <a16:creationId xmlns:a16="http://schemas.microsoft.com/office/drawing/2014/main" id="{936024C9-EFB2-4EB4-8922-FF65C080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6" name="Google Shape;426;p19">
            <a:extLst xmlns:a="http://schemas.openxmlformats.org/drawingml/2006/main">
              <a:ext uri="{FF2B5EF4-FFF2-40B4-BE49-F238E27FC236}">
                <a16:creationId xmlns:a16="http://schemas.microsoft.com/office/drawing/2014/main" id="{1DC10B0B-8408-4869-8E0C-71B08CF6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</a:p>
        </p:txBody>
      </p:sp>
      <p:sp>
        <p:nvSpPr>
          <p:cNvPr id="427" name="Google Shape;427;p19">
            <a:extLst xmlns:a="http://schemas.openxmlformats.org/drawingml/2006/main">
              <a:ext uri="{FF2B5EF4-FFF2-40B4-BE49-F238E27FC236}">
                <a16:creationId xmlns:a16="http://schemas.microsoft.com/office/drawing/2014/main" id="{5470C8D5-A2D3-4219-BE62-34247A64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SOCIAL EVIDENCE  ·  THE TELOS</a:t>
            </a:r>
          </a:p>
        </p:txBody>
      </p:sp>
      <p:sp>
        <p:nvSpPr>
          <p:cNvPr id="428" name="Google Shape;428;p19">
            <a:extLst xmlns:a="http://schemas.openxmlformats.org/drawingml/2006/main">
              <a:ext uri="{FF2B5EF4-FFF2-40B4-BE49-F238E27FC236}">
                <a16:creationId xmlns:a16="http://schemas.microsoft.com/office/drawing/2014/main" id="{12E3500C-967C-4D1E-9C8D-20FD51A8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One human identity, many legitimate differences</a:t>
            </a:r>
          </a:p>
        </p:txBody>
      </p:sp>
      <p:sp>
        <p:nvSpPr>
          <p:cNvPr id="429" name="Google Shape;429;p19">
            <a:extLst xmlns:a="http://schemas.openxmlformats.org/drawingml/2006/main">
              <a:ext uri="{FF2B5EF4-FFF2-40B4-BE49-F238E27FC236}">
                <a16:creationId xmlns:a16="http://schemas.microsoft.com/office/drawing/2014/main" id="{703AEE93-F64D-4C66-A8B7-5C8CA0AF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760720" cy="237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1F2D3A"/>
                </a:solidFill>
                <a:latin typeface="Calibri"/>
                <a:ea typeface="Calibri"/>
                <a:cs typeface="Calibri"/>
              </a:rPr>
              <a:t>Akhand samaj names humankind recognised as one field of relationships. It does not erase persons, families, languages or cultures. Difference becomes division only when a smaller identity limits responsibility to the whole.</a:t>
            </a:r>
          </a:p>
        </p:txBody>
      </p:sp>
      <p:sp>
        <p:nvSpPr>
          <p:cNvPr id="430" name="Google Shape;430;p19">
            <a:extLst xmlns:a="http://schemas.openxmlformats.org/drawingml/2006/main">
              <a:ext uri="{FF2B5EF4-FFF2-40B4-BE49-F238E27FC236}">
                <a16:creationId xmlns:a16="http://schemas.microsoft.com/office/drawing/2014/main" id="{01AFFD7E-9C21-4972-9DFE-507E9BF6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76072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Sarvabhaum vyavastha is the functioning side: education, justice, health, production and exchange coordinated toward the same human goal. Recognition without institutions remains sentiment; institutions without recognition become control.</a:t>
            </a:r>
          </a:p>
        </p:txBody>
      </p:sp>
      <p:sp>
        <p:nvSpPr>
          <p:cNvPr id="431" name="Google Shape;431;p19">
            <a:extLst xmlns:a="http://schemas.openxmlformats.org/drawingml/2006/main">
              <a:ext uri="{FF2B5EF4-FFF2-40B4-BE49-F238E27FC236}">
                <a16:creationId xmlns:a16="http://schemas.microsoft.com/office/drawing/2014/main" id="{9DC79811-8331-4CCC-9006-4862B47A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783080"/>
            <a:ext cx="5029200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28543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2" name="Google Shape;432;p19">
            <a:extLst xmlns:a="http://schemas.openxmlformats.org/drawingml/2006/main">
              <a:ext uri="{FF2B5EF4-FFF2-40B4-BE49-F238E27FC236}">
                <a16:creationId xmlns:a16="http://schemas.microsoft.com/office/drawing/2014/main" id="{9EF11D53-D37E-439A-A1EA-064AE40D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64792"/>
            <a:ext cx="731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433" name="Google Shape;433;p19">
            <a:extLst xmlns:a="http://schemas.openxmlformats.org/drawingml/2006/main">
              <a:ext uri="{FF2B5EF4-FFF2-40B4-BE49-F238E27FC236}">
                <a16:creationId xmlns:a16="http://schemas.microsoft.com/office/drawing/2014/main" id="{9A1940FE-E61D-4FA9-A5E8-4733514E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47672"/>
            <a:ext cx="4251960" cy="1728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1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In the awakened human tradition, undivided society is evidenced along with the universal orderliness.</a:t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— MVD, Ch. 4</a:t>
            </a:r>
          </a:p>
        </p:txBody>
      </p:sp>
      <p:sp>
        <p:nvSpPr>
          <p:cNvPr id="434" name="Google Shape;434;p19">
            <a:extLst xmlns:a="http://schemas.openxmlformats.org/drawingml/2006/main">
              <a:ext uri="{FF2B5EF4-FFF2-40B4-BE49-F238E27FC236}">
                <a16:creationId xmlns:a16="http://schemas.microsoft.com/office/drawing/2014/main" id="{3F093016-A2D8-4024-9679-ADEB0308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069080"/>
            <a:ext cx="5029200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28543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5" name="Google Shape;435;p19">
            <a:extLst xmlns:a="http://schemas.openxmlformats.org/drawingml/2006/main">
              <a:ext uri="{FF2B5EF4-FFF2-40B4-BE49-F238E27FC236}">
                <a16:creationId xmlns:a16="http://schemas.microsoft.com/office/drawing/2014/main" id="{F42B8B87-B8A8-4126-AD7E-78207B0C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0792"/>
            <a:ext cx="731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436" name="Google Shape;436;p19">
            <a:extLst xmlns:a="http://schemas.openxmlformats.org/drawingml/2006/main">
              <a:ext uri="{FF2B5EF4-FFF2-40B4-BE49-F238E27FC236}">
                <a16:creationId xmlns:a16="http://schemas.microsoft.com/office/drawing/2014/main" id="{58166154-C432-428E-8B9C-3C667EF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33672"/>
            <a:ext cx="4251960" cy="1453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1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Human society is essentially one undivided society. Societal participation means - participation in the sense of undivided society, i.e., participation in universal orderliness.</a:t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— JVD, p. 151</a:t>
            </a:r>
          </a:p>
        </p:txBody>
      </p:sp>
    </p:spTree>
    <p:extLst>
      <p:ext uri="{BB962C8B-B14F-4D97-AF65-F5344CB8AC3E}">
        <p14:creationId xmlns:p14="http://schemas.microsoft.com/office/powerpoint/2010/main" val="14527392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Google Shape;442;p20">
            <a:extLst xmlns:a="http://schemas.openxmlformats.org/drawingml/2006/main">
              <a:ext uri="{FF2B5EF4-FFF2-40B4-BE49-F238E27FC236}">
                <a16:creationId xmlns:a16="http://schemas.microsoft.com/office/drawing/2014/main" id="{A99E0288-F750-427B-A37D-CE42B3BF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3" name="Google Shape;443;p20">
            <a:extLst xmlns:a="http://schemas.openxmlformats.org/drawingml/2006/main">
              <a:ext uri="{FF2B5EF4-FFF2-40B4-BE49-F238E27FC236}">
                <a16:creationId xmlns:a16="http://schemas.microsoft.com/office/drawing/2014/main" id="{53CC6A8A-93DF-4C12-94AB-0FE29D7E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</a:p>
        </p:txBody>
      </p:sp>
      <p:sp>
        <p:nvSpPr>
          <p:cNvPr id="444" name="Google Shape;444;p20">
            <a:extLst xmlns:a="http://schemas.openxmlformats.org/drawingml/2006/main">
              <a:ext uri="{FF2B5EF4-FFF2-40B4-BE49-F238E27FC236}">
                <a16:creationId xmlns:a16="http://schemas.microsoft.com/office/drawing/2014/main" id="{02348659-8CF0-4062-AC4F-0F285D9F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SOCIAL EVIDENCE  ·  PRODUCTION</a:t>
            </a:r>
          </a:p>
        </p:txBody>
      </p:sp>
      <p:sp>
        <p:nvSpPr>
          <p:cNvPr id="445" name="Google Shape;445;p20">
            <a:extLst xmlns:a="http://schemas.openxmlformats.org/drawingml/2006/main">
              <a:ext uri="{FF2B5EF4-FFF2-40B4-BE49-F238E27FC236}">
                <a16:creationId xmlns:a16="http://schemas.microsoft.com/office/drawing/2014/main" id="{C16AE4B5-51CC-4020-B105-C2097CD8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Prosperity must discipline accumulation</a:t>
            </a:r>
          </a:p>
        </p:txBody>
      </p:sp>
      <p:sp>
        <p:nvSpPr>
          <p:cNvPr id="446" name="Google Shape;446;p20">
            <a:extLst xmlns:a="http://schemas.openxmlformats.org/drawingml/2006/main">
              <a:ext uri="{FF2B5EF4-FFF2-40B4-BE49-F238E27FC236}">
                <a16:creationId xmlns:a16="http://schemas.microsoft.com/office/drawing/2014/main" id="{020969B7-824B-4FBA-96A1-DE3CD524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6424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Material need, production and exchange are not outside spiritual or ethical life. Desire must be ordered by assessed sufficiency and right-use so the production cycle returns to humane sociality rather than accumulation.</a:t>
            </a:r>
          </a:p>
        </p:txBody>
      </p:sp>
      <p:sp>
        <p:nvSpPr>
          <p:cNvPr id="447" name="Google Shape;447;p20">
            <a:extLst xmlns:a="http://schemas.openxmlformats.org/drawingml/2006/main">
              <a:ext uri="{FF2B5EF4-FFF2-40B4-BE49-F238E27FC236}">
                <a16:creationId xmlns:a16="http://schemas.microsoft.com/office/drawing/2014/main" id="{5A6E0D1A-C25E-460E-9400-7B07B1BC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148132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8" name="Google Shape;448;p20">
            <a:extLst xmlns:a="http://schemas.openxmlformats.org/drawingml/2006/main">
              <a:ext uri="{FF2B5EF4-FFF2-40B4-BE49-F238E27FC236}">
                <a16:creationId xmlns:a16="http://schemas.microsoft.com/office/drawing/2014/main" id="{55352DB4-4FE2-488D-BF21-5787C06D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1481328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Sociality</a:t>
            </a:r>
          </a:p>
        </p:txBody>
      </p:sp>
      <p:sp>
        <p:nvSpPr>
          <p:cNvPr id="449" name="Google Shape;449;p20">
            <a:extLst xmlns:a="http://schemas.openxmlformats.org/drawingml/2006/main">
              <a:ext uri="{FF2B5EF4-FFF2-40B4-BE49-F238E27FC236}">
                <a16:creationId xmlns:a16="http://schemas.microsoft.com/office/drawing/2014/main" id="{B11F611C-127F-492C-B542-67577C01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743200"/>
            <a:ext cx="146304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450" name="Google Shape;450;p20">
            <a:extLst xmlns:a="http://schemas.openxmlformats.org/drawingml/2006/main">
              <a:ext uri="{FF2B5EF4-FFF2-40B4-BE49-F238E27FC236}">
                <a16:creationId xmlns:a16="http://schemas.microsoft.com/office/drawing/2014/main" id="{09BDEC2B-DEE8-4CC4-8772-DF14265E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743200"/>
            <a:ext cx="148132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1" name="Google Shape;451;p20">
            <a:extLst xmlns:a="http://schemas.openxmlformats.org/drawingml/2006/main">
              <a:ext uri="{FF2B5EF4-FFF2-40B4-BE49-F238E27FC236}">
                <a16:creationId xmlns:a16="http://schemas.microsoft.com/office/drawing/2014/main" id="{D1C8F67D-9939-4AF8-9C6C-B88A686E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743200"/>
            <a:ext cx="1481328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Needs</a:t>
            </a:r>
          </a:p>
        </p:txBody>
      </p:sp>
      <p:sp>
        <p:nvSpPr>
          <p:cNvPr id="452" name="Google Shape;452;p20">
            <a:extLst xmlns:a="http://schemas.openxmlformats.org/drawingml/2006/main">
              <a:ext uri="{FF2B5EF4-FFF2-40B4-BE49-F238E27FC236}">
                <a16:creationId xmlns:a16="http://schemas.microsoft.com/office/drawing/2014/main" id="{57711359-BCFF-49A1-83C9-CCE1FF1C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743200"/>
            <a:ext cx="146304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453" name="Google Shape;453;p20">
            <a:extLst xmlns:a="http://schemas.openxmlformats.org/drawingml/2006/main">
              <a:ext uri="{FF2B5EF4-FFF2-40B4-BE49-F238E27FC236}">
                <a16:creationId xmlns:a16="http://schemas.microsoft.com/office/drawing/2014/main" id="{4B2B6252-6614-4BA9-95B4-D2FDB9F3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743200"/>
            <a:ext cx="148132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4" name="Google Shape;454;p20">
            <a:extLst xmlns:a="http://schemas.openxmlformats.org/drawingml/2006/main">
              <a:ext uri="{FF2B5EF4-FFF2-40B4-BE49-F238E27FC236}">
                <a16:creationId xmlns:a16="http://schemas.microsoft.com/office/drawing/2014/main" id="{8160784E-7901-42D6-B462-55B33BD6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743200"/>
            <a:ext cx="1481328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Experimentation</a:t>
            </a:r>
          </a:p>
          <a:p xmlns:a="http://schemas.openxmlformats.org/drawingml/2006/main"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&amp; production</a:t>
            </a:r>
          </a:p>
        </p:txBody>
      </p:sp>
      <p:sp>
        <p:nvSpPr>
          <p:cNvPr id="455" name="Google Shape;455;p20">
            <a:extLst xmlns:a="http://schemas.openxmlformats.org/drawingml/2006/main">
              <a:ext uri="{FF2B5EF4-FFF2-40B4-BE49-F238E27FC236}">
                <a16:creationId xmlns:a16="http://schemas.microsoft.com/office/drawing/2014/main" id="{F56527CA-480D-495E-87B9-4BB4C765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43200"/>
            <a:ext cx="146304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456" name="Google Shape;456;p20">
            <a:extLst xmlns:a="http://schemas.openxmlformats.org/drawingml/2006/main">
              <a:ext uri="{FF2B5EF4-FFF2-40B4-BE49-F238E27FC236}">
                <a16:creationId xmlns:a16="http://schemas.microsoft.com/office/drawing/2014/main" id="{75FE2106-7968-4389-9B4F-2357B59D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2743200"/>
            <a:ext cx="148132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7" name="Google Shape;457;p20">
            <a:extLst xmlns:a="http://schemas.openxmlformats.org/drawingml/2006/main">
              <a:ext uri="{FF2B5EF4-FFF2-40B4-BE49-F238E27FC236}">
                <a16:creationId xmlns:a16="http://schemas.microsoft.com/office/drawing/2014/main" id="{56EF3A96-BC0E-4654-B078-3A631C32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2743200"/>
            <a:ext cx="1481328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Creation</a:t>
            </a:r>
          </a:p>
          <a:p xmlns:a="http://schemas.openxmlformats.org/drawingml/2006/main"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of wealth</a:t>
            </a:r>
          </a:p>
        </p:txBody>
      </p:sp>
      <p:sp>
        <p:nvSpPr>
          <p:cNvPr id="458" name="Google Shape;458;p20">
            <a:extLst xmlns:a="http://schemas.openxmlformats.org/drawingml/2006/main">
              <a:ext uri="{FF2B5EF4-FFF2-40B4-BE49-F238E27FC236}">
                <a16:creationId xmlns:a16="http://schemas.microsoft.com/office/drawing/2014/main" id="{EA68ADE8-D27D-40D9-8ECE-716EE50C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743200"/>
            <a:ext cx="146304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459" name="Google Shape;459;p20">
            <a:extLst xmlns:a="http://schemas.openxmlformats.org/drawingml/2006/main">
              <a:ext uri="{FF2B5EF4-FFF2-40B4-BE49-F238E27FC236}">
                <a16:creationId xmlns:a16="http://schemas.microsoft.com/office/drawing/2014/main" id="{BE7F0EF8-CA8F-4C47-8E90-42CB290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2743200"/>
            <a:ext cx="148132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0" name="Google Shape;460;p20">
            <a:extLst xmlns:a="http://schemas.openxmlformats.org/drawingml/2006/main">
              <a:ext uri="{FF2B5EF4-FFF2-40B4-BE49-F238E27FC236}">
                <a16:creationId xmlns:a16="http://schemas.microsoft.com/office/drawing/2014/main" id="{F70CFC5B-CF3D-4530-ACB3-5107B6E4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2743200"/>
            <a:ext cx="1481328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Use, right-use,</a:t>
            </a:r>
          </a:p>
          <a:p xmlns:a="http://schemas.openxmlformats.org/drawingml/2006/main"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purposeful-use</a:t>
            </a:r>
          </a:p>
        </p:txBody>
      </p:sp>
      <p:sp>
        <p:nvSpPr>
          <p:cNvPr id="461" name="Google Shape;461;p20">
            <a:extLst xmlns:a="http://schemas.openxmlformats.org/drawingml/2006/main">
              <a:ext uri="{FF2B5EF4-FFF2-40B4-BE49-F238E27FC236}">
                <a16:creationId xmlns:a16="http://schemas.microsoft.com/office/drawing/2014/main" id="{79A79AC9-9972-443A-904D-88FBAED3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743200"/>
            <a:ext cx="146304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462" name="Google Shape;462;p20">
            <a:extLst xmlns:a="http://schemas.openxmlformats.org/drawingml/2006/main">
              <a:ext uri="{FF2B5EF4-FFF2-40B4-BE49-F238E27FC236}">
                <a16:creationId xmlns:a16="http://schemas.microsoft.com/office/drawing/2014/main" id="{111891F1-1891-4A12-AABB-A33265D9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43200"/>
            <a:ext cx="148132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3" name="Google Shape;463;p20">
            <a:extLst xmlns:a="http://schemas.openxmlformats.org/drawingml/2006/main">
              <a:ext uri="{FF2B5EF4-FFF2-40B4-BE49-F238E27FC236}">
                <a16:creationId xmlns:a16="http://schemas.microsoft.com/office/drawing/2014/main" id="{813550F7-BE9C-4FDB-BCFF-05C17C1C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43200"/>
            <a:ext cx="1481328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Practicality</a:t>
            </a:r>
          </a:p>
        </p:txBody>
      </p:sp>
      <p:sp>
        <p:nvSpPr>
          <p:cNvPr id="464" name="Google Shape;464;p20">
            <a:extLst xmlns:a="http://schemas.openxmlformats.org/drawingml/2006/main">
              <a:ext uri="{FF2B5EF4-FFF2-40B4-BE49-F238E27FC236}">
                <a16:creationId xmlns:a16="http://schemas.microsoft.com/office/drawing/2014/main" id="{D051AE8E-A577-4991-8DB1-F3077092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743200"/>
            <a:ext cx="146304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5A6B78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465" name="Google Shape;465;p20">
            <a:extLst xmlns:a="http://schemas.openxmlformats.org/drawingml/2006/main">
              <a:ext uri="{FF2B5EF4-FFF2-40B4-BE49-F238E27FC236}">
                <a16:creationId xmlns:a16="http://schemas.microsoft.com/office/drawing/2014/main" id="{ACC26CF0-1B31-4023-BCF0-85D41C61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743200"/>
            <a:ext cx="1481328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8543F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6" name="Google Shape;466;p20">
            <a:extLst xmlns:a="http://schemas.openxmlformats.org/drawingml/2006/main">
              <a:ext uri="{FF2B5EF4-FFF2-40B4-BE49-F238E27FC236}">
                <a16:creationId xmlns:a16="http://schemas.microsoft.com/office/drawing/2014/main" id="{802F055E-1026-47B3-AD91-087DD0BB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743200"/>
            <a:ext cx="1481328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Humaneness</a:t>
            </a:r>
          </a:p>
        </p:txBody>
      </p:sp>
      <p:sp>
        <p:nvSpPr>
          <p:cNvPr id="467" name="Google Shape;467;p20">
            <a:extLst xmlns:a="http://schemas.openxmlformats.org/drawingml/2006/main">
              <a:ext uri="{FF2B5EF4-FFF2-40B4-BE49-F238E27FC236}">
                <a16:creationId xmlns:a16="http://schemas.microsoft.com/office/drawing/2014/main" id="{957C57B2-F450-4528-A0F3-235131BB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↺  humaneness gives rise to sociality — meaningful when it is toward undivided sociality</a:t>
            </a:r>
          </a:p>
        </p:txBody>
      </p:sp>
      <p:sp>
        <p:nvSpPr>
          <p:cNvPr id="468" name="Google Shape;468;p20">
            <a:extLst xmlns:a="http://schemas.openxmlformats.org/drawingml/2006/main">
              <a:ext uri="{FF2B5EF4-FFF2-40B4-BE49-F238E27FC236}">
                <a16:creationId xmlns:a16="http://schemas.microsoft.com/office/drawing/2014/main" id="{1165B91D-B2B1-4557-8D19-EF20C1E5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5440680" cy="178308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9" name="Google Shape;469;p20">
            <a:extLst xmlns:a="http://schemas.openxmlformats.org/drawingml/2006/main">
              <a:ext uri="{FF2B5EF4-FFF2-40B4-BE49-F238E27FC236}">
                <a16:creationId xmlns:a16="http://schemas.microsoft.com/office/drawing/2014/main" id="{F7441239-8B72-4970-B267-1A1EC3B4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Material prerequisite</a:t>
            </a:r>
          </a:p>
        </p:txBody>
      </p:sp>
      <p:sp>
        <p:nvSpPr>
          <p:cNvPr id="470" name="Google Shape;470;p20">
            <a:extLst xmlns:a="http://schemas.openxmlformats.org/drawingml/2006/main">
              <a:ext uri="{FF2B5EF4-FFF2-40B4-BE49-F238E27FC236}">
                <a16:creationId xmlns:a16="http://schemas.microsoft.com/office/drawing/2014/main" id="{C6649487-091F-4258-8F5B-6D46BF15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49377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Prosperity is the family's assurance of more available means than assessed need — requiring skill, production, restraint and ecological responsibility.</a:t>
            </a:r>
          </a:p>
        </p:txBody>
      </p:sp>
      <p:sp>
        <p:nvSpPr>
          <p:cNvPr id="471" name="Google Shape;471;p20">
            <a:extLst xmlns:a="http://schemas.openxmlformats.org/drawingml/2006/main">
              <a:ext uri="{FF2B5EF4-FFF2-40B4-BE49-F238E27FC236}">
                <a16:creationId xmlns:a16="http://schemas.microsoft.com/office/drawing/2014/main" id="{C980D6EE-9E8F-4436-8C00-A8EFFDF0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9120"/>
            <a:ext cx="5440680" cy="178308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2" name="Google Shape;472;p20">
            <a:extLst xmlns:a="http://schemas.openxmlformats.org/drawingml/2006/main">
              <a:ext uri="{FF2B5EF4-FFF2-40B4-BE49-F238E27FC236}">
                <a16:creationId xmlns:a16="http://schemas.microsoft.com/office/drawing/2014/main" id="{BCDBF75E-6B5C-4947-B44D-564B2A17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7200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Surplus becomes a social test</a:t>
            </a:r>
          </a:p>
        </p:txBody>
      </p:sp>
      <p:sp>
        <p:nvSpPr>
          <p:cNvPr id="473" name="Google Shape;473;p20">
            <a:extLst xmlns:a="http://schemas.openxmlformats.org/drawingml/2006/main">
              <a:ext uri="{FF2B5EF4-FFF2-40B4-BE49-F238E27FC236}">
                <a16:creationId xmlns:a16="http://schemas.microsoft.com/office/drawing/2014/main" id="{ADE0BD20-3A7C-4573-A708-09EE78FF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983480"/>
            <a:ext cx="4937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Surplus can feed comparison and defensive accumulation, or support right-use and wider provision. The test is whether material competence increases trust without glorifying either hoarding or deprivation.</a:t>
            </a:r>
          </a:p>
        </p:txBody>
      </p:sp>
    </p:spTree>
    <p:extLst>
      <p:ext uri="{BB962C8B-B14F-4D97-AF65-F5344CB8AC3E}">
        <p14:creationId xmlns:p14="http://schemas.microsoft.com/office/powerpoint/2010/main" val="19837360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9" name="Google Shape;479;p21">
            <a:extLst xmlns:a="http://schemas.openxmlformats.org/drawingml/2006/main">
              <a:ext uri="{FF2B5EF4-FFF2-40B4-BE49-F238E27FC236}">
                <a16:creationId xmlns:a16="http://schemas.microsoft.com/office/drawing/2014/main" id="{BAF1DB54-A2B2-4C8A-8D1D-AA39B00B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0" name="Google Shape;480;p21">
            <a:extLst xmlns:a="http://schemas.openxmlformats.org/drawingml/2006/main">
              <a:ext uri="{FF2B5EF4-FFF2-40B4-BE49-F238E27FC236}">
                <a16:creationId xmlns:a16="http://schemas.microsoft.com/office/drawing/2014/main" id="{AA988A2E-9CC7-47DE-AF33-3F86324B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</a:p>
        </p:txBody>
      </p:sp>
      <p:sp>
        <p:nvSpPr>
          <p:cNvPr id="481" name="Google Shape;481;p21">
            <a:extLst xmlns:a="http://schemas.openxmlformats.org/drawingml/2006/main">
              <a:ext uri="{FF2B5EF4-FFF2-40B4-BE49-F238E27FC236}">
                <a16:creationId xmlns:a16="http://schemas.microsoft.com/office/drawing/2014/main" id="{78A06DC1-3425-4002-90F9-A235128F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SOCIAL EVIDENCE  ·  FOUR HUMAN GOALS</a:t>
            </a:r>
          </a:p>
        </p:txBody>
      </p:sp>
      <p:sp>
        <p:nvSpPr>
          <p:cNvPr id="482" name="Google Shape;482;p21">
            <a:extLst xmlns:a="http://schemas.openxmlformats.org/drawingml/2006/main">
              <a:ext uri="{FF2B5EF4-FFF2-40B4-BE49-F238E27FC236}">
                <a16:creationId xmlns:a16="http://schemas.microsoft.com/office/drawing/2014/main" id="{E6040553-D501-467B-84C9-303FC4E5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The goals constrain one another</a:t>
            </a:r>
          </a:p>
        </p:txBody>
      </p:sp>
      <p:sp>
        <p:nvSpPr>
          <p:cNvPr id="483" name="Google Shape;483;p21">
            <a:extLst xmlns:a="http://schemas.openxmlformats.org/drawingml/2006/main">
              <a:ext uri="{FF2B5EF4-FFF2-40B4-BE49-F238E27FC236}">
                <a16:creationId xmlns:a16="http://schemas.microsoft.com/office/drawing/2014/main" id="{F0570F9F-5F85-42CD-8C7B-972B1CF0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Resolution, prosperity, fearlessness and coexistence must be evidenced together. Material sufficiency without resolution can become accumulation; inward peace without justice can remain private.</a:t>
            </a:r>
          </a:p>
        </p:txBody>
      </p:sp>
      <p:graphicFrame>
        <p:nvGraphicFramePr>
          <p:cNvPr id="495" name="Google Shape;484;p21"/>
          <p:cNvGraphicFramePr/>
          <p:nvPr/>
        </p:nvGraphicFramePr>
        <p:xfrm>
          <a:off xmlns:a="http://schemas.openxmlformats.org/drawingml/2006/main" x="548640" y="251460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{823F6527-06EA-4F18-B08A-21B734C330FC}</a:tableStyleId>
              </a:tblPr>
              <a:tblGrid>
                <a:gridCol w="2286000"/>
                <a:gridCol w="2651750"/>
                <a:gridCol w="2468875"/>
              </a:tblGrid>
              <a:tr h="6583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Level of existence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285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Human goal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285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Manifested harmony (jeevan value)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28543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Individual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Resolution (samadhan)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Happiness (sukh)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Family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Prosperity (samridhi)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Peace (shanti)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Society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Fearlessness / trust (abhaya)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Contentment (santosh)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Nature / existence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Coexistence (saha-astitva)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 cap="none">
                          <a:solidFill>
                            <a:srgbClr val="2A3640"/>
                          </a:solidFill>
                          <a:latin typeface="Calibri"/>
                          <a:ea typeface="Calibri"/>
                          <a:cs typeface="Calibri"/>
                        </a:rPr>
                        <a:t>Bliss (anand)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8E0E6"/>
                      </a:solidFill>
                      <a:prstDash val="solid"/>
                    </a:lnL>
                    <a:lnR w="9525" cmpd="sng">
                      <a:solidFill>
                        <a:srgbClr val="D8E0E6"/>
                      </a:solidFill>
                      <a:prstDash val="solid"/>
                    </a:lnR>
                    <a:lnT w="9525" cmpd="sng">
                      <a:solidFill>
                        <a:srgbClr val="D8E0E6"/>
                      </a:solidFill>
                      <a:prstDash val="solid"/>
                    </a:lnT>
                    <a:lnB w="9525" cmpd="sng">
                      <a:solidFill>
                        <a:srgbClr val="D8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5" name="Google Shape;485;p21">
            <a:extLst xmlns:a="http://schemas.openxmlformats.org/drawingml/2006/main">
              <a:ext uri="{FF2B5EF4-FFF2-40B4-BE49-F238E27FC236}">
                <a16:creationId xmlns:a16="http://schemas.microsoft.com/office/drawing/2014/main" id="{FF752CA3-BC8F-4886-904D-75A89693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514600"/>
            <a:ext cx="342900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28543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00" dist="38100" dir="54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6" name="Google Shape;486;p21">
            <a:extLst xmlns:a="http://schemas.openxmlformats.org/drawingml/2006/main">
              <a:ext uri="{FF2B5EF4-FFF2-40B4-BE49-F238E27FC236}">
                <a16:creationId xmlns:a16="http://schemas.microsoft.com/office/drawing/2014/main" id="{4C9D746D-8C46-4AF7-8C30-883F01CC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6312"/>
            <a:ext cx="731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487" name="Google Shape;487;p21">
            <a:extLst xmlns:a="http://schemas.openxmlformats.org/drawingml/2006/main">
              <a:ext uri="{FF2B5EF4-FFF2-40B4-BE49-F238E27FC236}">
                <a16:creationId xmlns:a16="http://schemas.microsoft.com/office/drawing/2014/main" id="{74ECB70A-247B-41E0-8AB2-5F1D4277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79192"/>
            <a:ext cx="2651760" cy="2962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1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The goal of jeevan is happiness, and the human goal is resolution, prosperity, fearlessness, and coexistence. Resolution = happiness; we realise happiness wherever we are resolved.</a:t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— JV, pp. 61, 165</a:t>
            </a:r>
          </a:p>
        </p:txBody>
      </p:sp>
      <p:sp>
        <p:nvSpPr>
          <p:cNvPr id="488" name="Google Shape;488;p21">
            <a:extLst xmlns:a="http://schemas.openxmlformats.org/drawingml/2006/main">
              <a:ext uri="{FF2B5EF4-FFF2-40B4-BE49-F238E27FC236}">
                <a16:creationId xmlns:a16="http://schemas.microsoft.com/office/drawing/2014/main" id="{27C0C8F0-956A-4DC8-A7E3-900A4CD6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0"/>
            <a:ext cx="74066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The level-to-harmony mapping is an editorial synthesis of JV pp. 61 and 165, not a single table in the primary source.</a:t>
            </a:r>
          </a:p>
        </p:txBody>
      </p:sp>
    </p:spTree>
    <p:extLst>
      <p:ext uri="{BB962C8B-B14F-4D97-AF65-F5344CB8AC3E}">
        <p14:creationId xmlns:p14="http://schemas.microsoft.com/office/powerpoint/2010/main" val="11735098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Google Shape;494;p22">
            <a:extLst xmlns:a="http://schemas.openxmlformats.org/drawingml/2006/main">
              <a:ext uri="{FF2B5EF4-FFF2-40B4-BE49-F238E27FC236}">
                <a16:creationId xmlns:a16="http://schemas.microsoft.com/office/drawing/2014/main" id="{934F5176-7FCB-42EB-811A-96FF90EB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5" name="Google Shape;495;p22">
            <a:extLst xmlns:a="http://schemas.openxmlformats.org/drawingml/2006/main">
              <a:ext uri="{FF2B5EF4-FFF2-40B4-BE49-F238E27FC236}">
                <a16:creationId xmlns:a16="http://schemas.microsoft.com/office/drawing/2014/main" id="{7206DB49-0A96-4991-B584-95A51A71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</a:p>
        </p:txBody>
      </p:sp>
      <p:sp>
        <p:nvSpPr>
          <p:cNvPr id="496" name="Google Shape;496;p22">
            <a:extLst xmlns:a="http://schemas.openxmlformats.org/drawingml/2006/main">
              <a:ext uri="{FF2B5EF4-FFF2-40B4-BE49-F238E27FC236}">
                <a16:creationId xmlns:a16="http://schemas.microsoft.com/office/drawing/2014/main" id="{1B9263B0-4D27-4D65-9950-DC5735CE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5488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INSTITUTIONS  ·  UNIVERSAL ORDERLINESS</a:t>
            </a:r>
          </a:p>
        </p:txBody>
      </p:sp>
      <p:sp>
        <p:nvSpPr>
          <p:cNvPr id="497" name="Google Shape;497;p22">
            <a:extLst xmlns:a="http://schemas.openxmlformats.org/drawingml/2006/main">
              <a:ext uri="{FF2B5EF4-FFF2-40B4-BE49-F238E27FC236}">
                <a16:creationId xmlns:a16="http://schemas.microsoft.com/office/drawing/2014/main" id="{7F28F7FA-E18A-4BA3-A0B0-C424EC25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Assemblies coordinate purpose; they do not become a larger self</a:t>
            </a:r>
          </a:p>
        </p:txBody>
      </p:sp>
      <p:sp>
        <p:nvSpPr>
          <p:cNvPr id="498" name="Google Shape;498;p22">
            <a:extLst xmlns:a="http://schemas.openxmlformats.org/drawingml/2006/main">
              <a:ext uri="{FF2B5EF4-FFF2-40B4-BE49-F238E27FC236}">
                <a16:creationId xmlns:a16="http://schemas.microsoft.com/office/drawing/2014/main" id="{A0B2BF28-6F8D-4337-A270-B5582972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5564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Shared cause, goal and programme</a:t>
            </a:r>
          </a:p>
        </p:txBody>
      </p:sp>
      <p:sp>
        <p:nvSpPr>
          <p:cNvPr id="499" name="Google Shape;499;p22">
            <a:extLst xmlns:a="http://schemas.openxmlformats.org/drawingml/2006/main">
              <a:ext uri="{FF2B5EF4-FFF2-40B4-BE49-F238E27FC236}">
                <a16:creationId xmlns:a16="http://schemas.microsoft.com/office/drawing/2014/main" id="{D8E19C0C-604B-4F0F-BA88-701569A9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57200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8543F">
              <a:alpha val="7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0" name="Google Shape;500;p22">
            <a:extLst xmlns:a="http://schemas.openxmlformats.org/drawingml/2006/main">
              <a:ext uri="{FF2B5EF4-FFF2-40B4-BE49-F238E27FC236}">
                <a16:creationId xmlns:a16="http://schemas.microsoft.com/office/drawing/2014/main" id="{D406853C-01A4-4C1C-B469-F461CAA0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Individual</a:t>
            </a:r>
          </a:p>
        </p:txBody>
      </p:sp>
      <p:sp>
        <p:nvSpPr>
          <p:cNvPr id="501" name="Google Shape;501;p22">
            <a:extLst xmlns:a="http://schemas.openxmlformats.org/drawingml/2006/main">
              <a:ext uri="{FF2B5EF4-FFF2-40B4-BE49-F238E27FC236}">
                <a16:creationId xmlns:a16="http://schemas.microsoft.com/office/drawing/2014/main" id="{74E0F776-EF54-46CB-9896-B3790C27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07208"/>
            <a:ext cx="457200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8543F">
              <a:alpha val="7686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2" name="Google Shape;502;p22">
            <a:extLst xmlns:a="http://schemas.openxmlformats.org/drawingml/2006/main">
              <a:ext uri="{FF2B5EF4-FFF2-40B4-BE49-F238E27FC236}">
                <a16:creationId xmlns:a16="http://schemas.microsoft.com/office/drawing/2014/main" id="{A5E50C4A-CFC5-4F73-B604-813C05E0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07208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Family</a:t>
            </a:r>
          </a:p>
        </p:txBody>
      </p:sp>
      <p:sp>
        <p:nvSpPr>
          <p:cNvPr id="503" name="Google Shape;503;p22">
            <a:extLst xmlns:a="http://schemas.openxmlformats.org/drawingml/2006/main">
              <a:ext uri="{FF2B5EF4-FFF2-40B4-BE49-F238E27FC236}">
                <a16:creationId xmlns:a16="http://schemas.microsoft.com/office/drawing/2014/main" id="{DD80FCFB-752E-42C9-B87B-90B7180C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74136"/>
            <a:ext cx="457200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8543F">
              <a:alpha val="83921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4" name="Google Shape;504;p22">
            <a:extLst xmlns:a="http://schemas.openxmlformats.org/drawingml/2006/main">
              <a:ext uri="{FF2B5EF4-FFF2-40B4-BE49-F238E27FC236}">
                <a16:creationId xmlns:a16="http://schemas.microsoft.com/office/drawing/2014/main" id="{4AF0C3AF-47E0-4E2A-8C5A-4BE9154D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374136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Community</a:t>
            </a:r>
          </a:p>
        </p:txBody>
      </p:sp>
      <p:sp>
        <p:nvSpPr>
          <p:cNvPr id="505" name="Google Shape;505;p22">
            <a:extLst xmlns:a="http://schemas.openxmlformats.org/drawingml/2006/main">
              <a:ext uri="{FF2B5EF4-FFF2-40B4-BE49-F238E27FC236}">
                <a16:creationId xmlns:a16="http://schemas.microsoft.com/office/drawing/2014/main" id="{431D6A82-1EF3-46C0-BA93-0D5C052F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41064"/>
            <a:ext cx="457200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8543F">
              <a:alpha val="909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6" name="Google Shape;506;p22">
            <a:extLst xmlns:a="http://schemas.openxmlformats.org/drawingml/2006/main">
              <a:ext uri="{FF2B5EF4-FFF2-40B4-BE49-F238E27FC236}">
                <a16:creationId xmlns:a16="http://schemas.microsoft.com/office/drawing/2014/main" id="{EBE03E78-9652-48C0-96EA-036152A8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941064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Undivided society</a:t>
            </a:r>
          </a:p>
        </p:txBody>
      </p:sp>
      <p:sp>
        <p:nvSpPr>
          <p:cNvPr id="507" name="Google Shape;507;p22">
            <a:extLst xmlns:a="http://schemas.openxmlformats.org/drawingml/2006/main">
              <a:ext uri="{FF2B5EF4-FFF2-40B4-BE49-F238E27FC236}">
                <a16:creationId xmlns:a16="http://schemas.microsoft.com/office/drawing/2014/main" id="{1C6506A1-2820-4354-8A0C-35EB62F5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5394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A humane assembly remains a plurality of persons. It coheres when members understand shared purpose, fulfil responsibilities, evaluate outcomes and carry the method across changes in membership.</a:t>
            </a:r>
          </a:p>
        </p:txBody>
      </p:sp>
      <p:sp>
        <p:nvSpPr>
          <p:cNvPr id="508" name="Google Shape;508;p22">
            <a:extLst xmlns:a="http://schemas.openxmlformats.org/drawingml/2006/main">
              <a:ext uri="{FF2B5EF4-FFF2-40B4-BE49-F238E27FC236}">
                <a16:creationId xmlns:a16="http://schemas.microsoft.com/office/drawing/2014/main" id="{8E93ED76-2F27-4BA9-886E-5CFD720F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55648"/>
            <a:ext cx="5349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Five dimensions of universal orderliness</a:t>
            </a:r>
          </a:p>
        </p:txBody>
      </p:sp>
      <p:sp>
        <p:nvSpPr>
          <p:cNvPr id="509" name="Google Shape;509;p22">
            <a:extLst xmlns:a="http://schemas.openxmlformats.org/drawingml/2006/main">
              <a:ext uri="{FF2B5EF4-FFF2-40B4-BE49-F238E27FC236}">
                <a16:creationId xmlns:a16="http://schemas.microsoft.com/office/drawing/2014/main" id="{19FED68A-C51A-46A0-9F19-C09E9713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286000"/>
            <a:ext cx="53492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0" name="Google Shape;510;p22">
            <a:extLst xmlns:a="http://schemas.openxmlformats.org/drawingml/2006/main">
              <a:ext uri="{FF2B5EF4-FFF2-40B4-BE49-F238E27FC236}">
                <a16:creationId xmlns:a16="http://schemas.microsoft.com/office/drawing/2014/main" id="{E4E3707C-674F-46A4-A360-19BD4F22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487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1" name="Google Shape;511;p22">
            <a:extLst xmlns:a="http://schemas.openxmlformats.org/drawingml/2006/main">
              <a:ext uri="{FF2B5EF4-FFF2-40B4-BE49-F238E27FC236}">
                <a16:creationId xmlns:a16="http://schemas.microsoft.com/office/drawing/2014/main" id="{F6425173-87D8-4252-8450-CA3A1897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487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12" name="Google Shape;512;p22">
            <a:extLst xmlns:a="http://schemas.openxmlformats.org/drawingml/2006/main">
              <a:ext uri="{FF2B5EF4-FFF2-40B4-BE49-F238E27FC236}">
                <a16:creationId xmlns:a16="http://schemas.microsoft.com/office/drawing/2014/main" id="{40C9D2B3-A0FE-431B-A584-0D4A9F63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572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Education–sanskar</a:t>
            </a:r>
          </a:p>
        </p:txBody>
      </p:sp>
      <p:sp>
        <p:nvSpPr>
          <p:cNvPr id="513" name="Google Shape;513;p22">
            <a:extLst xmlns:a="http://schemas.openxmlformats.org/drawingml/2006/main">
              <a:ext uri="{FF2B5EF4-FFF2-40B4-BE49-F238E27FC236}">
                <a16:creationId xmlns:a16="http://schemas.microsoft.com/office/drawing/2014/main" id="{B22D297C-C613-4259-889A-B4FBA4F4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944368"/>
            <a:ext cx="53492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4" name="Google Shape;514;p22">
            <a:extLst xmlns:a="http://schemas.openxmlformats.org/drawingml/2006/main">
              <a:ext uri="{FF2B5EF4-FFF2-40B4-BE49-F238E27FC236}">
                <a16:creationId xmlns:a16="http://schemas.microsoft.com/office/drawing/2014/main" id="{D1A1CE50-020C-4E5D-8078-7CF22FA5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324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5" name="Google Shape;515;p22">
            <a:extLst xmlns:a="http://schemas.openxmlformats.org/drawingml/2006/main">
              <a:ext uri="{FF2B5EF4-FFF2-40B4-BE49-F238E27FC236}">
                <a16:creationId xmlns:a16="http://schemas.microsoft.com/office/drawing/2014/main" id="{D8ABBE87-5DED-4FFB-99BF-83309AE5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3240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16" name="Google Shape;516;p22">
            <a:extLst xmlns:a="http://schemas.openxmlformats.org/drawingml/2006/main">
              <a:ext uri="{FF2B5EF4-FFF2-40B4-BE49-F238E27FC236}">
                <a16:creationId xmlns:a16="http://schemas.microsoft.com/office/drawing/2014/main" id="{D8A033D6-AB0E-4A00-A83D-37713BE6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44368"/>
            <a:ext cx="4572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Justice–security</a:t>
            </a:r>
          </a:p>
        </p:txBody>
      </p:sp>
      <p:sp>
        <p:nvSpPr>
          <p:cNvPr id="517" name="Google Shape;517;p22">
            <a:extLst xmlns:a="http://schemas.openxmlformats.org/drawingml/2006/main">
              <a:ext uri="{FF2B5EF4-FFF2-40B4-BE49-F238E27FC236}">
                <a16:creationId xmlns:a16="http://schemas.microsoft.com/office/drawing/2014/main" id="{93FBB9E6-6B33-41B4-8F44-C661EAC3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02736"/>
            <a:ext cx="53492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8" name="Google Shape;518;p22">
            <a:extLst xmlns:a="http://schemas.openxmlformats.org/drawingml/2006/main">
              <a:ext uri="{FF2B5EF4-FFF2-40B4-BE49-F238E27FC236}">
                <a16:creationId xmlns:a16="http://schemas.microsoft.com/office/drawing/2014/main" id="{8A527D91-32D4-4016-A4A2-009303B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160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9" name="Google Shape;519;p22">
            <a:extLst xmlns:a="http://schemas.openxmlformats.org/drawingml/2006/main">
              <a:ext uri="{FF2B5EF4-FFF2-40B4-BE49-F238E27FC236}">
                <a16:creationId xmlns:a16="http://schemas.microsoft.com/office/drawing/2014/main" id="{9E71F0F0-5877-4FF0-987E-770118D5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160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20" name="Google Shape;520;p22">
            <a:extLst xmlns:a="http://schemas.openxmlformats.org/drawingml/2006/main">
              <a:ext uri="{FF2B5EF4-FFF2-40B4-BE49-F238E27FC236}">
                <a16:creationId xmlns:a16="http://schemas.microsoft.com/office/drawing/2014/main" id="{91A9555A-A2D0-4961-BFB5-F83B8294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2736"/>
            <a:ext cx="4572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Health–restraint</a:t>
            </a:r>
          </a:p>
        </p:txBody>
      </p:sp>
      <p:sp>
        <p:nvSpPr>
          <p:cNvPr id="521" name="Google Shape;521;p22">
            <a:extLst xmlns:a="http://schemas.openxmlformats.org/drawingml/2006/main">
              <a:ext uri="{FF2B5EF4-FFF2-40B4-BE49-F238E27FC236}">
                <a16:creationId xmlns:a16="http://schemas.microsoft.com/office/drawing/2014/main" id="{90FD9706-58E6-40AE-8E9C-3B46FD3D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261104"/>
            <a:ext cx="53492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2" name="Google Shape;522;p22">
            <a:extLst xmlns:a="http://schemas.openxmlformats.org/drawingml/2006/main">
              <a:ext uri="{FF2B5EF4-FFF2-40B4-BE49-F238E27FC236}">
                <a16:creationId xmlns:a16="http://schemas.microsoft.com/office/drawing/2014/main" id="{F3B2876D-A827-489D-9C24-F66B4937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7997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3" name="Google Shape;523;p22">
            <a:extLst xmlns:a="http://schemas.openxmlformats.org/drawingml/2006/main">
              <a:ext uri="{FF2B5EF4-FFF2-40B4-BE49-F238E27FC236}">
                <a16:creationId xmlns:a16="http://schemas.microsoft.com/office/drawing/2014/main" id="{352CC889-1FFF-4D43-9262-EBD6ADB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7997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524" name="Google Shape;524;p22">
            <a:extLst xmlns:a="http://schemas.openxmlformats.org/drawingml/2006/main">
              <a:ext uri="{FF2B5EF4-FFF2-40B4-BE49-F238E27FC236}">
                <a16:creationId xmlns:a16="http://schemas.microsoft.com/office/drawing/2014/main" id="{449C66EA-62D4-4163-804D-A4BF85C1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1104"/>
            <a:ext cx="4572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Production–work</a:t>
            </a:r>
          </a:p>
        </p:txBody>
      </p:sp>
      <p:sp>
        <p:nvSpPr>
          <p:cNvPr id="525" name="Google Shape;525;p22">
            <a:extLst xmlns:a="http://schemas.openxmlformats.org/drawingml/2006/main">
              <a:ext uri="{FF2B5EF4-FFF2-40B4-BE49-F238E27FC236}">
                <a16:creationId xmlns:a16="http://schemas.microsoft.com/office/drawing/2014/main" id="{9B445920-0141-4A81-B074-CC10B938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919472"/>
            <a:ext cx="53492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2700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6" name="Google Shape;526;p22">
            <a:extLst xmlns:a="http://schemas.openxmlformats.org/drawingml/2006/main">
              <a:ext uri="{FF2B5EF4-FFF2-40B4-BE49-F238E27FC236}">
                <a16:creationId xmlns:a16="http://schemas.microsoft.com/office/drawing/2014/main" id="{CB58C30F-5E54-4D86-AE8F-9F429AD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3834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7" name="Google Shape;527;p22">
            <a:extLst xmlns:a="http://schemas.openxmlformats.org/drawingml/2006/main">
              <a:ext uri="{FF2B5EF4-FFF2-40B4-BE49-F238E27FC236}">
                <a16:creationId xmlns:a16="http://schemas.microsoft.com/office/drawing/2014/main" id="{36EE0236-2183-436A-8E2A-70B925FA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3834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528" name="Google Shape;528;p22">
            <a:extLst xmlns:a="http://schemas.openxmlformats.org/drawingml/2006/main">
              <a:ext uri="{FF2B5EF4-FFF2-40B4-BE49-F238E27FC236}">
                <a16:creationId xmlns:a16="http://schemas.microsoft.com/office/drawing/2014/main" id="{9E008336-488A-40E2-AF22-7C7DA5C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9472"/>
            <a:ext cx="4572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8543F"/>
                </a:solidFill>
                <a:latin typeface="Calibri"/>
                <a:ea typeface="Calibri"/>
                <a:cs typeface="Calibri"/>
              </a:rPr>
              <a:t>Exchange–reserve</a:t>
            </a:r>
          </a:p>
        </p:txBody>
      </p:sp>
      <p:sp>
        <p:nvSpPr>
          <p:cNvPr id="529" name="Google Shape;529;p22">
            <a:extLst xmlns:a="http://schemas.openxmlformats.org/drawingml/2006/main">
              <a:ext uri="{FF2B5EF4-FFF2-40B4-BE49-F238E27FC236}">
                <a16:creationId xmlns:a16="http://schemas.microsoft.com/office/drawing/2014/main" id="{DC22DFED-B560-47DB-BFC9-6C525504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623560"/>
            <a:ext cx="5349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 u="none" cap="none">
                <a:solidFill>
                  <a:srgbClr val="5A6B78"/>
                </a:solidFill>
                <a:latin typeface="Calibri"/>
                <a:ea typeface="Calibri"/>
                <a:cs typeface="Calibri"/>
              </a:rPr>
              <a:t>Family is the first field of relationship, production and education. Wider tiers coordinate responsibilities that cross local boundaries. Safeguards remain necessary wherever understanding is incomplete.</a:t>
            </a:r>
          </a:p>
        </p:txBody>
      </p:sp>
    </p:spTree>
    <p:extLst>
      <p:ext uri="{BB962C8B-B14F-4D97-AF65-F5344CB8AC3E}">
        <p14:creationId xmlns:p14="http://schemas.microsoft.com/office/powerpoint/2010/main" val="2916626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F51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FA239483-89B6-4F9E-8752-C4744B2B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COMPARATIVE TEST</a:t>
            </a: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C2142992-2957-4A87-A02C-9313EC37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Each alternative contributes — none supplies the whole basis</a:t>
            </a: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27901530-04E8-44F0-A6C3-CAA69D8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0972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D8E4EC"/>
                </a:solidFill>
                <a:latin typeface="Calibri"/>
                <a:ea typeface="Calibri"/>
                <a:cs typeface="Calibri"/>
              </a:rPr>
              <a:t>The issue is not which tradition has value. It is whether one approach alone can join human identity, normative ends, material life, institutions, universal participation and evidence in conduct.</a:t>
            </a: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91118802-7518-49D0-A5A5-0FE9213F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356616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7465C"/>
          </a:solidFill>
          <a:ln xmlns:a="http://schemas.openxmlformats.org/drawingml/2006/main" w="12700" cmpd="sng">
            <a:solidFill>
              <a:srgbClr val="4A627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266012E0-46B3-42A4-82C9-B5A26880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29000"/>
            <a:ext cx="29809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Science-only materialism</a:t>
            </a: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C2E75E87-3135-4804-BFA7-DAE2FBE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34840"/>
            <a:ext cx="2980944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C9D6DF"/>
                </a:solidFill>
                <a:latin typeface="Calibri"/>
                <a:ea typeface="Calibri"/>
                <a:cs typeface="Calibri"/>
              </a:rPr>
              <a:t>Contributes public method and causal knowledge. Does not by measurement alone select ultimate humane ends or settle self and value.</a:t>
            </a: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96601645-E865-458E-A145-566C6836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154680"/>
            <a:ext cx="356616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7465C"/>
          </a:solidFill>
          <a:ln xmlns:a="http://schemas.openxmlformats.org/drawingml/2006/main" w="12700" cmpd="sng">
            <a:solidFill>
              <a:srgbClr val="4A627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4CFB80BB-BB37-4FC0-93B4-0FF45A3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429000"/>
            <a:ext cx="29809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Advaita Vedanta</a:t>
            </a: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B98125DD-ECD8-49DF-B5B2-A42C5286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4434840"/>
            <a:ext cx="2980944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C9D6DF"/>
                </a:solidFill>
                <a:latin typeface="Calibri"/>
                <a:ea typeface="Calibri"/>
                <a:cs typeface="Calibri"/>
              </a:rPr>
              <a:t>Contributes self-inquiry and non-attachment. Does not necessarily derive family prosperity, justice cycles or a social institutional programme.</a:t>
            </a: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FFA27ADF-B923-4A10-A66A-D4A17583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154680"/>
            <a:ext cx="356616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7465C"/>
          </a:solidFill>
          <a:ln xmlns:a="http://schemas.openxmlformats.org/drawingml/2006/main" w="12700" cmpd="sng">
            <a:solidFill>
              <a:srgbClr val="4A627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8306CC29-766F-4DF4-9710-E833DAD0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429000"/>
            <a:ext cx="298094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Hindu religious authority</a:t>
            </a: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8E6B3A5D-7D3A-4B2A-B402-A6CC1541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434840"/>
            <a:ext cx="2980944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C9D6DF"/>
                </a:solidFill>
                <a:latin typeface="Calibri"/>
                <a:ea typeface="Calibri"/>
                <a:cs typeface="Calibri"/>
              </a:rPr>
              <a:t>Contributes virtue, service and durable community. No single scripture, deity, lineage or inherited duty is universal across humankind.</a:t>
            </a:r>
          </a:p>
        </p:txBody>
      </p:sp>
    </p:spTree>
    <p:extLst>
      <p:ext uri="{BB962C8B-B14F-4D97-AF65-F5344CB8AC3E}">
        <p14:creationId xmlns:p14="http://schemas.microsoft.com/office/powerpoint/2010/main" val="18118471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3916B785-CB54-4EA8-83C1-54BCBD40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F5168"/>
                </a:solidFill>
                <a:latin typeface="Calibri"/>
                <a:ea typeface="Calibri"/>
                <a:cs typeface="Calibri"/>
              </a:rPr>
              <a:t>TRANSITION IN A MIXED SOCIETY</a:t>
            </a: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8C23A068-3FE9-4333-B744-75601C56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Improvement cannot wait for universal awakening</a:t>
            </a: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01FC49DE-5C57-4248-AC29-5819DACF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781812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15225" cmpd="sng">
            <a:solidFill>
              <a:srgbClr val="9DB4C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F75EA257-B66E-4C75-8580-058EDBBA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3852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1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C08E04BF-5B67-41CE-A3D7-F1314F7F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3852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12B02277-D6DC-4EFD-871D-794E21AD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783080"/>
            <a:ext cx="690372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F5168"/>
                </a:solidFill>
                <a:latin typeface="Cambria"/>
                <a:ea typeface="Cambria"/>
                <a:cs typeface="Cambria"/>
              </a:rPr>
              <a:t>Begin with exemplars
small institutions make limited claims and accept public evaluation</a:t>
            </a:r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0CFB9866-B55A-4A81-B700-7075C46C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781812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EE4"/>
          </a:solidFill>
          <a:ln xmlns:a="http://schemas.openxmlformats.org/drawingml/2006/main" w="15225" cmpd="sng">
            <a:solidFill>
              <a:srgbClr val="A3B8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6DEA0003-AFAE-4A26-9427-9563AC3B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61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4A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640B38AC-56AB-4B7B-A7F1-9AB67DE0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61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73ABF583-7151-4540-96F7-3E50081A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606040"/>
            <a:ext cx="690372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F4A32"/>
                </a:solidFill>
                <a:latin typeface="Cambria"/>
                <a:ea typeface="Cambria"/>
                <a:cs typeface="Cambria"/>
              </a:rPr>
              <a:t>Test ordinary practices
families, schools and workplaces examine relationship, need and right-use</a:t>
            </a: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1820EBA8-6C71-4E11-A1D7-084E4EC5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781812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EBE4"/>
          </a:solidFill>
          <a:ln xmlns:a="http://schemas.openxmlformats.org/drawingml/2006/main" w="15225" cmpd="sng">
            <a:solidFill>
              <a:srgbClr val="C4B09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CB943D2C-360F-4405-932F-8CAD9D28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8444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422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2F86BC82-335B-45AF-B037-547DFDB5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844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CE71D6F4-1881-4132-8BE9-B78B763D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429000"/>
            <a:ext cx="690372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5A4228"/>
                </a:solidFill>
                <a:latin typeface="Cambria"/>
                <a:ea typeface="Cambria"/>
                <a:cs typeface="Cambria"/>
              </a:rPr>
              <a:t>Keep law protective
restrain harm and preserve inquiry while self-regulation remains incomplete</a:t>
            </a: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80946C67-F11A-42B4-9F39-C5932B64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781812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8F4"/>
          </a:solidFill>
          <a:ln xmlns:a="http://schemas.openxmlformats.org/drawingml/2006/main" w="15225" cmpd="sng">
            <a:solidFill>
              <a:srgbClr val="B0A3C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9A57D92C-BF54-42EF-90E9-FD946DB8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0740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38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6683C545-EEA8-4B41-A267-4A4B9E4B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0740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900EDBEA-E19E-4671-AB28-637232AB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251960"/>
            <a:ext cx="690372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4A3868"/>
                </a:solidFill>
                <a:latin typeface="Cambria"/>
                <a:ea typeface="Cambria"/>
                <a:cs typeface="Cambria"/>
              </a:rPr>
              <a:t>Federate what works
wider councils coordinate cross-boundary responsibilities without central absorption</a:t>
            </a:r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1158A21A-D2C8-4A6F-A6BB-32EC0143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781812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15225" cmpd="sng">
            <a:solidFill>
              <a:srgbClr val="8FBAA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BABE9A18-A6C9-498A-A5AD-ED393E5F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23036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EDE8501C-AFE5-4738-B1D8-4CB644C7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23036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1A56B8CE-9A81-42E4-9B8A-CEE3A72E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074920"/>
            <a:ext cx="690372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28543F"/>
                </a:solidFill>
                <a:latin typeface="Cambria"/>
                <a:ea typeface="Cambria"/>
                <a:cs typeface="Cambria"/>
              </a:rPr>
              <a:t>Transmit and correct
education carries the capacity to investigate, evaluate and improve practice</a:t>
            </a: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2FD86AC5-C64B-454B-B8E4-D7927C67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43600"/>
            <a:ext cx="617220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F51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247CC84F-59FF-425E-A038-2DD265F9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43600"/>
            <a:ext cx="61722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PLURALISM  ·  Humane conduct without a metaphysical test of citizenship</a:t>
            </a:r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1A86C40B-95BF-4B2A-A42B-A4CD6992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783080"/>
            <a:ext cx="2971800" cy="448056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2700" cmpd="sng">
            <a:solidFill>
              <a:srgbClr val="D8E0E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E38CF865-F8C3-4C57-9EE2-480A9960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F2D3A"/>
                </a:solidFill>
                <a:latin typeface="Cambria"/>
                <a:ea typeface="Cambria"/>
                <a:cs typeface="Cambria"/>
              </a:rPr>
              <a:t>Pluralism and safeguards</a:t>
            </a:r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75648F69-7A97-42E2-B401-D708976D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23160"/>
            <a:ext cx="256032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2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People may contribute from scientific, Advaitic, devotional, secular or other convictions.</a:t>
            </a:r>
          </a:p>
          <a:p xmlns:a="http://schemas.openxmlformats.org/drawingml/2006/main">
            <a:pPr marL="342900" indent="-3429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sz="12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Public participation requires just conduct, not prior assent to the full MD ontology.</a:t>
            </a:r>
          </a:p>
          <a:p xmlns:a="http://schemas.openxmlformats.org/drawingml/2006/main">
            <a:pPr marL="342900" indent="-3429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sz="1200" b="0" i="0" u="none" cap="none">
                <a:solidFill>
                  <a:srgbClr val="3F4D57"/>
                </a:solidFill>
                <a:latin typeface="Calibri"/>
                <a:ea typeface="Calibri"/>
                <a:cs typeface="Calibri"/>
              </a:rPr>
              <a:t>Safeguards must protect vulnerable persons from confident but mistaken claims of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1576447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624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0" name="Google Shape;580;p25">
            <a:extLst xmlns:a="http://schemas.openxmlformats.org/drawingml/2006/main">
              <a:ext uri="{FF2B5EF4-FFF2-40B4-BE49-F238E27FC236}">
                <a16:creationId xmlns:a16="http://schemas.microsoft.com/office/drawing/2014/main" id="{53618FCA-0D60-47A0-866F-33180409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481328"/>
            <a:ext cx="450799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168">
              <a:alpha val="2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1" name="Google Shape;581;p25">
            <a:extLst xmlns:a="http://schemas.openxmlformats.org/drawingml/2006/main">
              <a:ext uri="{FF2B5EF4-FFF2-40B4-BE49-F238E27FC236}">
                <a16:creationId xmlns:a16="http://schemas.microsoft.com/office/drawing/2014/main" id="{F9F3EE5A-818E-4C9B-A1C5-7C352111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19656"/>
            <a:ext cx="450799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A32">
              <a:alpha val="2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2" name="Google Shape;582;p25">
            <a:extLst xmlns:a="http://schemas.openxmlformats.org/drawingml/2006/main">
              <a:ext uri="{FF2B5EF4-FFF2-40B4-BE49-F238E27FC236}">
                <a16:creationId xmlns:a16="http://schemas.microsoft.com/office/drawing/2014/main" id="{C976FB19-9931-4821-B6A9-02143C3E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157984"/>
            <a:ext cx="450799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228">
              <a:alpha val="2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3" name="Google Shape;583;p25">
            <a:extLst xmlns:a="http://schemas.openxmlformats.org/drawingml/2006/main">
              <a:ext uri="{FF2B5EF4-FFF2-40B4-BE49-F238E27FC236}">
                <a16:creationId xmlns:a16="http://schemas.microsoft.com/office/drawing/2014/main" id="{635025F6-CA45-4FB2-8393-B724E3B2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96312"/>
            <a:ext cx="450799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868">
              <a:alpha val="2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4" name="Google Shape;584;p25">
            <a:extLst xmlns:a="http://schemas.openxmlformats.org/drawingml/2006/main">
              <a:ext uri="{FF2B5EF4-FFF2-40B4-BE49-F238E27FC236}">
                <a16:creationId xmlns:a16="http://schemas.microsoft.com/office/drawing/2014/main" id="{23145DA2-27E1-4192-ABA2-5232A56B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834640"/>
            <a:ext cx="450799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3F">
              <a:alpha val="2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5" name="Google Shape;585;p25">
            <a:extLst xmlns:a="http://schemas.openxmlformats.org/drawingml/2006/main">
              <a:ext uri="{FF2B5EF4-FFF2-40B4-BE49-F238E27FC236}">
                <a16:creationId xmlns:a16="http://schemas.microsoft.com/office/drawing/2014/main" id="{7B0642FF-5992-4193-BD1D-031C9939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686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9DB4C2"/>
                </a:solidFill>
                <a:latin typeface="Calibri"/>
                <a:ea typeface="Calibri"/>
                <a:cs typeface="Calibri"/>
              </a:rPr>
              <a:t>THE TELOS</a:t>
            </a:r>
          </a:p>
        </p:txBody>
      </p:sp>
      <p:sp>
        <p:nvSpPr>
          <p:cNvPr id="586" name="Google Shape;586;p25">
            <a:extLst xmlns:a="http://schemas.openxmlformats.org/drawingml/2006/main">
              <a:ext uri="{FF2B5EF4-FFF2-40B4-BE49-F238E27FC236}">
                <a16:creationId xmlns:a16="http://schemas.microsoft.com/office/drawing/2014/main" id="{C9CEB0AD-2FC9-4190-8672-4C5C3B3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6766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Undivided society is a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testable direction — not destiny</a:t>
            </a:r>
          </a:p>
        </p:txBody>
      </p:sp>
      <p:sp>
        <p:nvSpPr>
          <p:cNvPr id="587" name="Google Shape;587;p25">
            <a:extLst xmlns:a="http://schemas.openxmlformats.org/drawingml/2006/main">
              <a:ext uri="{FF2B5EF4-FFF2-40B4-BE49-F238E27FC236}">
                <a16:creationId xmlns:a16="http://schemas.microsoft.com/office/drawing/2014/main" id="{45D1E399-99A2-4817-8A4B-92D6496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103327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9D6DF"/>
                </a:solidFill>
                <a:latin typeface="Calibri"/>
                <a:ea typeface="Calibri"/>
                <a:cs typeface="Calibri"/>
              </a:rPr>
              <a:t>Madhyasth Darshan proposes one connected basis: coexistence, a knowing human being, relationship and justice, prosperity without accumulation, five institutional dimensions and education that carries examinable understanding.</a:t>
            </a:r>
          </a:p>
        </p:txBody>
      </p:sp>
      <p:sp>
        <p:nvSpPr>
          <p:cNvPr id="588" name="Google Shape;588;p25">
            <a:extLst xmlns:a="http://schemas.openxmlformats.org/drawingml/2006/main">
              <a:ext uri="{FF2B5EF4-FFF2-40B4-BE49-F238E27FC236}">
                <a16:creationId xmlns:a16="http://schemas.microsoft.com/office/drawing/2014/main" id="{93567C0D-ACE2-4C85-B9D1-14E08455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9DB4C2"/>
                </a:solidFill>
                <a:latin typeface="Cambria"/>
                <a:ea typeface="Cambria"/>
                <a:cs typeface="Cambria"/>
              </a:rPr>
              <a:t>Open problems</a:t>
            </a:r>
          </a:p>
        </p:txBody>
      </p:sp>
      <p:sp>
        <p:nvSpPr>
          <p:cNvPr id="589" name="Google Shape;589;p25">
            <a:extLst xmlns:a="http://schemas.openxmlformats.org/drawingml/2006/main">
              <a:ext uri="{FF2B5EF4-FFF2-40B4-BE49-F238E27FC236}">
                <a16:creationId xmlns:a16="http://schemas.microsoft.com/office/drawing/2014/main" id="{F52D325B-3EB7-4192-9634-65D1B951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6344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200" b="0" i="0" u="none" cap="none">
                <a:solidFill>
                  <a:srgbClr val="AEC0CC"/>
                </a:solidFill>
                <a:latin typeface="Calibri"/>
                <a:ea typeface="Calibri"/>
                <a:cs typeface="Calibri"/>
              </a:rPr>
              <a:t>How much of the practical programme depends on accepting the full jeevan ontology?</a:t>
            </a:r>
          </a:p>
          <a:p xmlns:a="http://schemas.openxmlformats.org/drawingml/2006/main">
            <a:pPr marL="342900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200" b="0" i="0" u="none" cap="none">
                <a:solidFill>
                  <a:srgbClr val="AEC0CC"/>
                </a:solidFill>
                <a:latin typeface="Calibri"/>
                <a:ea typeface="Calibri"/>
                <a:cs typeface="Calibri"/>
              </a:rPr>
              <a:t>What evidence distinguishes resolution from self-certification?</a:t>
            </a:r>
          </a:p>
          <a:p xmlns:a="http://schemas.openxmlformats.org/drawingml/2006/main">
            <a:pPr marL="342900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200" b="0" i="0" u="none" cap="none">
                <a:solidFill>
                  <a:srgbClr val="AEC0CC"/>
                </a:solidFill>
                <a:latin typeface="Calibri"/>
                <a:ea typeface="Calibri"/>
                <a:cs typeface="Calibri"/>
              </a:rPr>
              <a:t>How do plural institutions scale without coercion, capture or concealed exclusion?</a:t>
            </a:r>
          </a:p>
        </p:txBody>
      </p:sp>
      <p:sp>
        <p:nvSpPr>
          <p:cNvPr id="590" name="Google Shape;590;p25">
            <a:extLst xmlns:a="http://schemas.openxmlformats.org/drawingml/2006/main">
              <a:ext uri="{FF2B5EF4-FFF2-40B4-BE49-F238E27FC236}">
                <a16:creationId xmlns:a16="http://schemas.microsoft.com/office/drawing/2014/main" id="{1AC98433-2F15-43A4-A614-00EF8B93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5508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5E7280"/>
                </a:solidFill>
                <a:latin typeface="Calibri"/>
                <a:ea typeface="Calibri"/>
                <a:cs typeface="Calibri"/>
              </a:rPr>
              <a:t>Source: How Undivided Society Is Established · AnalyticMadhyasthDarshan.org · Primary texts: MVD, SB, JV, JVD, AVD, KD (Shri A. Nagraj)</a:t>
            </a:r>
          </a:p>
        </p:txBody>
      </p:sp>
    </p:spTree>
    <p:extLst>
      <p:ext uri="{BB962C8B-B14F-4D97-AF65-F5344CB8AC3E}">
        <p14:creationId xmlns:p14="http://schemas.microsoft.com/office/powerpoint/2010/main" val="7429735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2026-07-13T10:11:29.4950000Z</dcterms:created>
  <dcterms:modified xsi:type="dcterms:W3CDTF">2026-07-13T10:11:29.4950000Z</dcterms:modified>
</coreProperties>
</file>