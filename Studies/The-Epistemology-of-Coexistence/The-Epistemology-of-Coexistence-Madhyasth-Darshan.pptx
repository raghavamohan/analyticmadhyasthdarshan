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3e78bea96f974f9d" Type="http://schemas.openxmlformats.org/officeDocument/2006/relationships/officeDocument" Target="ppt/presentation.xml"/><Relationship Id="R8b6e3758b5234210" Type="http://schemas.openxmlformats.org/package/2006/relationships/metadata/core-properties" Target="docProps/core.xml"/><Relationship Id="Ra726226892fc4041"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b14fc4a5734c4ced"/>
  </p:sldMasterIdLst>
  <p:notesMasterIdLst>
    <p:notesMasterId xmlns:r="http://schemas.openxmlformats.org/officeDocument/2006/relationships" r:id="R72378841bfe647b4"/>
  </p:notesMasterIdLst>
  <p:sldIdLst>
    <p:sldId xmlns:r="http://schemas.openxmlformats.org/officeDocument/2006/relationships" id="256" r:id="R1ff5b796be6e465c"/>
    <p:sldId xmlns:r="http://schemas.openxmlformats.org/officeDocument/2006/relationships" id="257" r:id="R6baa5a03caad437d"/>
    <p:sldId xmlns:r="http://schemas.openxmlformats.org/officeDocument/2006/relationships" id="258" r:id="rId5"/>
    <p:sldId xmlns:r="http://schemas.openxmlformats.org/officeDocument/2006/relationships" id="259" r:id="rId8"/>
    <p:sldId xmlns:r="http://schemas.openxmlformats.org/officeDocument/2006/relationships" id="260" r:id="rId4"/>
    <p:sldId xmlns:r="http://schemas.openxmlformats.org/officeDocument/2006/relationships" id="261" r:id="Rc86e2cc5ea9d4a22"/>
    <p:sldId xmlns:r="http://schemas.openxmlformats.org/officeDocument/2006/relationships" id="262" r:id="R431557a5918c4798"/>
    <p:sldId xmlns:r="http://schemas.openxmlformats.org/officeDocument/2006/relationships" id="263" r:id="Rb5839b2540ed4948"/>
    <p:sldId xmlns:r="http://schemas.openxmlformats.org/officeDocument/2006/relationships" id="264" r:id="Rae453c510cbb4683"/>
    <p:sldId xmlns:r="http://schemas.openxmlformats.org/officeDocument/2006/relationships" id="265" r:id="R0641b7f3a46146f0"/>
    <p:sldId xmlns:r="http://schemas.openxmlformats.org/officeDocument/2006/relationships" id="266" r:id="R2cd8a99f348941da"/>
    <p:sldId xmlns:r="http://schemas.openxmlformats.org/officeDocument/2006/relationships" id="267" r:id="Re1d2b139cd60454b"/>
    <p:sldId xmlns:r="http://schemas.openxmlformats.org/officeDocument/2006/relationships" id="268" r:id="Ra76af168df0143c6"/>
    <p:sldId xmlns:r="http://schemas.openxmlformats.org/officeDocument/2006/relationships" id="269" r:id="rId6"/>
    <p:sldId xmlns:r="http://schemas.openxmlformats.org/officeDocument/2006/relationships" id="270" r:id="Ra74cc10476684d2f"/>
    <p:sldId xmlns:r="http://schemas.openxmlformats.org/officeDocument/2006/relationships" id="271" r:id="R9824f301f1114696"/>
    <p:sldId xmlns:r="http://schemas.openxmlformats.org/officeDocument/2006/relationships" id="272" r:id="Rb96d36736457439d"/>
    <p:sldId xmlns:r="http://schemas.openxmlformats.org/officeDocument/2006/relationships" id="273" r:id="rId9"/>
    <p:sldId xmlns:r="http://schemas.openxmlformats.org/officeDocument/2006/relationships" id="274" r:id="R386d44af08284e9f"/>
    <p:sldId xmlns:r="http://schemas.openxmlformats.org/officeDocument/2006/relationships" id="275" r:id="R180c5ebd721546cc"/>
    <p:sldId xmlns:r="http://schemas.openxmlformats.org/officeDocument/2006/relationships" id="276" r:id="Rf7ee8460a42c4890"/>
    <p:sldId xmlns:r="http://schemas.openxmlformats.org/officeDocument/2006/relationships" id="277" r:id="rId10"/>
    <p:sldId xmlns:r="http://schemas.openxmlformats.org/officeDocument/2006/relationships" id="278" r:id="R281a9fdc7fb14145"/>
    <p:sldId xmlns:r="http://schemas.openxmlformats.org/officeDocument/2006/relationships" id="279" r:id="rId2"/>
    <p:sldId xmlns:r="http://schemas.openxmlformats.org/officeDocument/2006/relationships" id="280" r:id="rId1"/>
    <p:sldId xmlns:r="http://schemas.openxmlformats.org/officeDocument/2006/relationships" id="281" r:id="rId3"/>
    <p:sldId xmlns:r="http://schemas.openxmlformats.org/officeDocument/2006/relationships" id="282" r:id="rId7"/>
    <p:sldId xmlns:r="http://schemas.openxmlformats.org/officeDocument/2006/relationships" id="283" r:id="R84d98faa59ca4b47"/>
    <p:sldId xmlns:r="http://schemas.openxmlformats.org/officeDocument/2006/relationships" id="284" r:id="R09caf90d95d94412"/>
    <p:sldId xmlns:r="http://schemas.openxmlformats.org/officeDocument/2006/relationships" id="285" r:id="R5d3860ccf1d74b77"/>
    <p:sldId xmlns:r="http://schemas.openxmlformats.org/officeDocument/2006/relationships" id="286" r:id="R081c050ade194289"/>
    <p:sldId xmlns:r="http://schemas.openxmlformats.org/officeDocument/2006/relationships" id="287" r:id="Rb2f9362a44874532"/>
    <p:sldId xmlns:r="http://schemas.openxmlformats.org/officeDocument/2006/relationships" id="288" r:id="Rcf8a3b1884494a9d"/>
    <p:sldId xmlns:r="http://schemas.openxmlformats.org/officeDocument/2006/relationships" id="289" r:id="Rd8cbd252bf8b47b0"/>
    <p:sldId xmlns:r="http://schemas.openxmlformats.org/officeDocument/2006/relationships" id="290" r:id="Rabc1592b7c15417a"/>
    <p:sldId xmlns:r="http://schemas.openxmlformats.org/officeDocument/2006/relationships" id="291" r:id="Ra73dd77758134a46"/>
    <p:sldId xmlns:r="http://schemas.openxmlformats.org/officeDocument/2006/relationships" id="292" r:id="Rb8457441c37a47ff"/>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641b7f3a46146f0" Type="http://schemas.openxmlformats.org/officeDocument/2006/relationships/slide" Target="slides/slide10.xml"/><Relationship Id="R081c050ade194289" Type="http://schemas.openxmlformats.org/officeDocument/2006/relationships/slide" Target="slides/slide31.xml"/><Relationship Id="R09caf90d95d94412" Type="http://schemas.openxmlformats.org/officeDocument/2006/relationships/slide" Target="slides/slide29.xml"/><Relationship Id="R180c5ebd721546cc" Type="http://schemas.openxmlformats.org/officeDocument/2006/relationships/slide" Target="slides/slide20.xml"/><Relationship Id="R1d3e638f8c704711" Type="http://schemas.openxmlformats.org/officeDocument/2006/relationships/viewProps" Target="viewProps.xml"/><Relationship Id="R1ff5b796be6e465c" Type="http://schemas.openxmlformats.org/officeDocument/2006/relationships/slide" Target="slides/slide1.xml"/><Relationship Id="R281a9fdc7fb14145" Type="http://schemas.openxmlformats.org/officeDocument/2006/relationships/slide" Target="slides/slide23.xml"/><Relationship Id="R2cd8a99f348941da" Type="http://schemas.openxmlformats.org/officeDocument/2006/relationships/slide" Target="slides/slide11.xml"/><Relationship Id="R386d44af08284e9f" Type="http://schemas.openxmlformats.org/officeDocument/2006/relationships/slide" Target="slides/slide19.xml"/><Relationship Id="R431557a5918c4798" Type="http://schemas.openxmlformats.org/officeDocument/2006/relationships/slide" Target="slides/slide7.xml"/><Relationship Id="R5d3860ccf1d74b77" Type="http://schemas.openxmlformats.org/officeDocument/2006/relationships/slide" Target="slides/slide30.xml"/><Relationship Id="R6baa5a03caad437d" Type="http://schemas.openxmlformats.org/officeDocument/2006/relationships/slide" Target="slides/slide2.xml"/><Relationship Id="R72378841bfe647b4" Type="http://schemas.openxmlformats.org/officeDocument/2006/relationships/notesMaster" Target="notesMasters/notesMaster1.xml"/><Relationship Id="R84d98faa59ca4b47" Type="http://schemas.openxmlformats.org/officeDocument/2006/relationships/slide" Target="slides/slide28.xml"/><Relationship Id="R9824f301f1114696" Type="http://schemas.openxmlformats.org/officeDocument/2006/relationships/slide" Target="slides/slide16.xml"/><Relationship Id="Ra73dd77758134a46" Type="http://schemas.openxmlformats.org/officeDocument/2006/relationships/slide" Target="slides/slide36.xml"/><Relationship Id="Ra74cc10476684d2f" Type="http://schemas.openxmlformats.org/officeDocument/2006/relationships/slide" Target="slides/slide15.xml"/><Relationship Id="Ra76af168df0143c6" Type="http://schemas.openxmlformats.org/officeDocument/2006/relationships/slide" Target="slides/slide13.xml"/><Relationship Id="Rabc1592b7c15417a" Type="http://schemas.openxmlformats.org/officeDocument/2006/relationships/slide" Target="slides/slide35.xml"/><Relationship Id="Racf2c32732694915" Type="http://schemas.openxmlformats.org/officeDocument/2006/relationships/presProps" Target="presProps.xml"/><Relationship Id="Rae453c510cbb4683" Type="http://schemas.openxmlformats.org/officeDocument/2006/relationships/slide" Target="slides/slide9.xml"/><Relationship Id="Rb14fc4a5734c4ced" Type="http://schemas.openxmlformats.org/officeDocument/2006/relationships/slideMaster" Target="slideMasters/slideMaster1.xml"/><Relationship Id="Rb2f9362a44874532" Type="http://schemas.openxmlformats.org/officeDocument/2006/relationships/slide" Target="slides/slide32.xml"/><Relationship Id="Rb5839b2540ed4948" Type="http://schemas.openxmlformats.org/officeDocument/2006/relationships/slide" Target="slides/slide8.xml"/><Relationship Id="Rb8457441c37a47ff" Type="http://schemas.openxmlformats.org/officeDocument/2006/relationships/slide" Target="slides/slide37.xml"/><Relationship Id="Rb96d36736457439d" Type="http://schemas.openxmlformats.org/officeDocument/2006/relationships/slide" Target="slides/slide17.xml"/><Relationship Id="Rc86e2cc5ea9d4a22" Type="http://schemas.openxmlformats.org/officeDocument/2006/relationships/slide" Target="slides/slide6.xml"/><Relationship Id="Rcf8a3b1884494a9d" Type="http://schemas.openxmlformats.org/officeDocument/2006/relationships/slide" Target="slides/slide33.xml"/><Relationship Id="Rd8cbd252bf8b47b0" Type="http://schemas.openxmlformats.org/officeDocument/2006/relationships/slide" Target="slides/slide34.xml"/><Relationship Id="Rdea2e66bcdaf4e12" Type="http://schemas.openxmlformats.org/officeDocument/2006/relationships/tableStyles" Target="tableStyles.xml"/><Relationship Id="Re1d2b139cd60454b" Type="http://schemas.openxmlformats.org/officeDocument/2006/relationships/slide" Target="slides/slide12.xml"/><Relationship Id="Re623d44da4644ce7" Type="http://schemas.openxmlformats.org/officeDocument/2006/relationships/theme" Target="theme/theme1.xml"/><Relationship Id="Rf7ee8460a42c4890" Type="http://schemas.openxmlformats.org/officeDocument/2006/relationships/slide" Target="slides/slide21.xml"/><Relationship Id="rId1" Type="http://schemas.openxmlformats.org/officeDocument/2006/relationships/slide" Target="slides/slide25.xml"/><Relationship Id="rId2" Type="http://schemas.openxmlformats.org/officeDocument/2006/relationships/slide" Target="slides/slide24.xml"/><Relationship Id="rId3" Type="http://schemas.openxmlformats.org/officeDocument/2006/relationships/slide" Target="slides/slide26.xml"/><Relationship Id="rId4" Type="http://schemas.openxmlformats.org/officeDocument/2006/relationships/slide" Target="slides/slide5.xml"/><Relationship Id="rId5" Type="http://schemas.openxmlformats.org/officeDocument/2006/relationships/slide" Target="slides/slide3.xml"/><Relationship Id="rId6" Type="http://schemas.openxmlformats.org/officeDocument/2006/relationships/slide" Target="slides/slide14.xml"/><Relationship Id="rId7" Type="http://schemas.openxmlformats.org/officeDocument/2006/relationships/slide" Target="slides/slide27.xml"/><Relationship Id="rId8" Type="http://schemas.openxmlformats.org/officeDocument/2006/relationships/slide" Target="slides/slide4.xml"/><Relationship Id="rId9" Type="http://schemas.openxmlformats.org/officeDocument/2006/relationships/slide" Target="slides/slide18.xml"/><Relationship Id="rId10"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8527f22b680e405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1453fc40d7384362" Type="http://schemas.openxmlformats.org/officeDocument/2006/relationships/notesMaster" Target="../notesMasters/notesMaster1.xml"/><Relationship Id="R410d042a02e9409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a816bdfc2352489e" Type="http://schemas.openxmlformats.org/officeDocument/2006/relationships/notesMaster" Target="../notesMasters/notesMaster1.xml"/><Relationship Id="Rae57a0d9f956441a"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7df665e9c3c74b62" Type="http://schemas.openxmlformats.org/officeDocument/2006/relationships/notesMaster" Target="../notesMasters/notesMaster1.xml"/><Relationship Id="Re759572e012d4a88"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6cff79eb0b6f4221" Type="http://schemas.openxmlformats.org/officeDocument/2006/relationships/notesMaster" Target="../notesMasters/notesMaster1.xml"/><Relationship Id="Rbb889cf10172486c"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52be7629792540ff" Type="http://schemas.openxmlformats.org/officeDocument/2006/relationships/notesMaster" Target="../notesMasters/notesMaster1.xml"/><Relationship Id="R82ca9fe4f1ae48f8"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69ef92111a6f4efb" Type="http://schemas.openxmlformats.org/officeDocument/2006/relationships/notesMaster" Target="../notesMasters/notesMaster1.xml"/><Relationship Id="R6a623d7ff8164b0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f210411f9f4e47c4" Type="http://schemas.openxmlformats.org/officeDocument/2006/relationships/notesMaster" Target="../notesMasters/notesMaster1.xml"/><Relationship Id="Rf792765c5f90418c"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32e91dd74de84111" Type="http://schemas.openxmlformats.org/officeDocument/2006/relationships/slide" Target="../slides/slide11.xml"/><Relationship Id="R7dfd93c688d24e8b"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87801c43ac84600" Type="http://schemas.openxmlformats.org/officeDocument/2006/relationships/slide" Target="../slides/slide12.xml"/><Relationship Id="Rae02a93483c4479b"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5c57e52e2044f98" Type="http://schemas.openxmlformats.org/officeDocument/2006/relationships/slide" Target="../slides/slide15.xml"/><Relationship Id="Re23c34d051b94bc7"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3.xml.rels><?xml version='1.0' encoding='UTF-8' standalone='yes'?>
<Relationships xmlns="http://schemas.openxmlformats.org/package/2006/relationships"><Relationship Id="R19183fd1915948bb" Type="http://schemas.openxmlformats.org/officeDocument/2006/relationships/notesMaster" Target="../notesMasters/notesMaster1.xml"/><Relationship Id="R214ffc77904f4653"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1e6b8965ee8348bd" Type="http://schemas.openxmlformats.org/officeDocument/2006/relationships/notesMaster" Target="../notesMasters/notesMaster1.xml"/><Relationship Id="Ra9cd8004bbd24691"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b71c82686363421e" Type="http://schemas.openxmlformats.org/officeDocument/2006/relationships/slide" Target="../slides/slide21.xml"/><Relationship Id="Rbd6e1c133a5c467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6e65c36dac874038" Type="http://schemas.openxmlformats.org/officeDocument/2006/relationships/notesMaster" Target="../notesMasters/notesMaster1.xml"/><Relationship Id="Rd99facc338fa4ea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3de102cd5c174d80" Type="http://schemas.openxmlformats.org/officeDocument/2006/relationships/notesMaster" Target="../notesMasters/notesMaster1.xml"/><Relationship Id="Rf4d0b2193a5748b9"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535625a1daf042e6" Type="http://schemas.openxmlformats.org/officeDocument/2006/relationships/notesMaster" Target="../notesMasters/notesMaster1.xml"/><Relationship Id="R9eecf89b59a345c1"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1d705b987c304eeb" Type="http://schemas.openxmlformats.org/officeDocument/2006/relationships/slide" Target="../slides/slide30.xml"/><Relationship Id="R3229c6f88879495e"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8a4da538cd4f4fe6" Type="http://schemas.openxmlformats.org/officeDocument/2006/relationships/slide" Target="../slides/slide31.xml"/><Relationship Id="Ra0f3f21773f14a63"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c1ac943235c74453" Type="http://schemas.openxmlformats.org/officeDocument/2006/relationships/notesMaster" Target="../notesMasters/notesMaster1.xml"/><Relationship Id="Rff451925f3564e0e" Type="http://schemas.openxmlformats.org/officeDocument/2006/relationships/slide" Target="../slides/slide13.xml"/></Relationships>
</file>

<file path=ppt/notesSlides/_rels/notesSlide22.xml.rels><?xml version='1.0' encoding='UTF-8' standalone='yes'?>
<Relationships xmlns="http://schemas.openxmlformats.org/package/2006/relationships"><Relationship Id="R267d42359ad14736" Type="http://schemas.openxmlformats.org/officeDocument/2006/relationships/slide" Target="../slides/slide17.xml"/><Relationship Id="Rebd017ce68c14559"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160353795fbd49e6" Type="http://schemas.openxmlformats.org/officeDocument/2006/relationships/notesMaster" Target="../notesMasters/notesMaster1.xml"/><Relationship Id="R33110daa869146ee"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06b8f600c4044386" Type="http://schemas.openxmlformats.org/officeDocument/2006/relationships/slide" Target="../slides/slide33.xml"/><Relationship Id="R7b35f791f7d4428a"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985ba0ad5cbf4016" Type="http://schemas.openxmlformats.org/officeDocument/2006/relationships/slide" Target="../slides/slide34.xml"/><Relationship Id="Rfc79bee530c749d4"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b370ecff3ae14cbc" Type="http://schemas.openxmlformats.org/officeDocument/2006/relationships/notesMaster" Target="../notesMasters/notesMaster1.xml"/><Relationship Id="Rd0d794e0fcee4ac9"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8.xml.rels><?xml version='1.0' encoding='UTF-8' standalone='yes'?>
<Relationships xmlns="http://schemas.openxmlformats.org/package/2006/relationships"><Relationship Id="R48fc9a8af8c94b8a" Type="http://schemas.openxmlformats.org/officeDocument/2006/relationships/notesMaster" Target="../notesMasters/notesMaster1.xml"/><Relationship Id="R4f31256709fc492e"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421d9e7c706d437e" Type="http://schemas.openxmlformats.org/officeDocument/2006/relationships/notesMaster" Target="../notesMasters/notesMaster1.xml"/><Relationship Id="R800ea61f3b724490"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b5eb192a86474d39" Type="http://schemas.openxmlformats.org/officeDocument/2006/relationships/notesMaster" Target="../notesMasters/notesMaster1.xml"/><Relationship Id="Re4207851842e42f7"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Open by distinguishing information from realised understanding. The revised deck follows Madhyasth Darshan on its own terms and asks how knowledge becomes resolution, right conduct, and the happiness sought by the human being.</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§§1.1–1.6</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movement has two halves. First the knower: five loci, ten activities, reflection and projection, the joint form. Then what its knowing must govern: bodily propensity, social motive, deliberation, and the order carried by every activity.</a:t>
            </a:r>
          </a:p>
          <a:p/>
          <a:p>
            <a:r>
              <a:t>[Sources]</a:t>
            </a:r>
          </a:p>
          <a:p>
            <a:r>
              <a:t>- The Epistemology of Coexistence, §§1.3–1.4</a:t>
            </a:r>
          </a:p>
          <a:p>
            <a:r>
              <a:t>- JV pp. 92–93</a:t>
            </a:r>
          </a:p>
          <a:p>
            <a:r>
              <a:t>- KD §§3.12, 3.16–3.17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these questions open and accessible. They ask what knowledge is, who knows, what is known, how understanding develops, how error enters, and how knowledge is tested in life. The technical vocabulary appears only when the deck reaches the relevant answer.</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§§1.1–1.6</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Pervasive knowledge here names coexistence itself: Omnipresence together with Nature is the knowledge to be known. This does not make Omnipresence a perceiving subject; jeevan is the knower. Atma realises coexistence and buddhi receives bodh, after which comprehensive samadhan becomes accessible. Samadhan is clarity about the why and how of activity. Happiness, peace, contentment, and bliss are internal harmonies within jeevan. In relationship, justice is evidenced through recognition, value-fulfilment, evaluation, and mutual satisfaction. Conduct is evidence of understanding, not the definition of knowledge itself.</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11, 35, 115–116, 207–208, 289, 311</a:t>
            </a:r>
          </a:p>
          <a:p xmlns:a="http://schemas.openxmlformats.org/drawingml/2006/main">
            <a:pPr marL="0" indent="0" algn="l">
              <a:spcBef>
                <a:spcPts val="0"/>
              </a:spcBef>
              <a:spcAft>
                <a:spcPts val="0"/>
              </a:spcAft>
              <a:buNone/>
            </a:pPr>
            <a:r>
              <a:t>- KD pp. 66, 134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Complete knowledge has three inseparable contents. Humane conduct is not an ethical add-on after knowledge; it is one of the things that must be understood.</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a:t>
            </a:r>
          </a:p>
          <a:p xmlns:a="http://schemas.openxmlformats.org/drawingml/2006/main">
            <a:pPr marL="0" indent="0" algn="l">
              <a:spcBef>
                <a:spcPts val="0"/>
              </a:spcBef>
              <a:spcAft>
                <a:spcPts val="0"/>
              </a:spcAft>
              <a:buNone/>
            </a:pPr>
            <a:r>
              <a:t>- SB p. 116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the triad and then guard it. The roles stay distinct: jeevan knows, coexistence is known, and knowledge is their realised relation made evident in life. At realisation the triad is completed without erasing its terms — brahma satya hai, jagat satat hai, the ground is truth and the world perpetual. This is where Madhyasth Darshan parts from a non-dual reading: coherence of roles is not identity of knower and known.</a:t>
            </a:r>
          </a:p>
          <a:p xmlns:a="http://schemas.openxmlformats.org/drawingml/2006/main"/>
          <a:p xmlns:a="http://schemas.openxmlformats.org/drawingml/2006/main">
            <a:r>
              <a:t>[Sources]</a:t>
            </a:r>
          </a:p>
          <a:p xmlns:a="http://schemas.openxmlformats.org/drawingml/2006/main">
            <a:r>
              <a:t>- The Epistemology of Coexistence, §1.1</a:t>
            </a:r>
          </a:p>
          <a:p xmlns:a="http://schemas.openxmlformats.org/drawingml/2006/main">
            <a:r>
              <a:t>- KD §3.17</a:t>
            </a:r>
          </a:p>
          <a:p xmlns:a="http://schemas.openxmlformats.org/drawingml/2006/main">
            <a:r>
              <a:t>- MVD pp. 14–15, 115–116</a:t>
            </a:r>
          </a:p>
          <a:p xmlns:a="http://schemas.openxmlformats.org/drawingml/2006/main">
            <a:r>
              <a:t>- SB p. 81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known spans physical, intellectual, and coexistential domains. Do not turn the distinction into three unrelated realities; they are regions of one coexistential field.</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3–4</a:t>
            </a:r>
          </a:p>
          <a:p xmlns:a="http://schemas.openxmlformats.org/drawingml/2006/main">
            <a:pPr marL="0" indent="0" algn="l">
              <a:spcBef>
                <a:spcPts val="0"/>
              </a:spcBef>
              <a:spcAft>
                <a:spcPts val="0"/>
              </a:spcAft>
              <a:buNone/>
            </a:pPr>
            <a:r>
              <a:t>- The Epistemology of Coexistence,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Gyan, vivek, and vigyan answer different questions. Knowledge establishes reality, wisdom recognises the humane goal, and science gives reliable direction for material prosperity together with human and jeevan goals.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 169</a:t>
            </a:r>
          </a:p>
          <a:p xmlns:a="http://schemas.openxmlformats.org/drawingml/2006/main">
            <a:pPr marL="0" indent="0" algn="l">
              <a:spcBef>
                <a:spcPts val="0"/>
              </a:spcBef>
              <a:spcAft>
                <a:spcPts val="0"/>
              </a:spcAft>
              <a:buNone/>
            </a:pPr>
            <a:r>
              <a:t>- MVD pp. 208–209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Correct the earlier generic triads. KD assigns darshan to justice, dharma, and truth; drish to human jeevan; and drishya to coexistence. Dhyan, dhyata, and dhyeya then specify awakening, the human attender, and freedom from delusion with evidence of the goals.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 pp. 145–150</a:t>
            </a:r>
          </a:p>
          <a:p xmlns:a="http://schemas.openxmlformats.org/drawingml/2006/main">
            <a:pPr marL="0" indent="0" algn="l">
              <a:spcBef>
                <a:spcPts val="0"/>
              </a:spcBef>
              <a:spcAft>
                <a:spcPts val="0"/>
              </a:spcAft>
              <a:buNone/>
            </a:pPr>
            <a:r>
              <a:t>- MVD p. 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Specify the level whenever using cause, doer, and effect. The compact epistemic assignment and the broader existential assignment are related but not interchangeable; seeking adds aim, seeker, and means.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 pp. 145–150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Establish the canonical taxonomy before anything is built on it: five loci, ten activities, and two directions of the same ten. Then name the darshan itself. Atma is madhyasth — mediative — and by its centrality the mediative activity attains the touch of knowledge in every dimension. Mediativeness is neither neutrality between options nor compromise between doctrines; its test is coherence between what is understood and what is done.</a:t>
            </a:r>
          </a:p>
          <a:p xmlns:a="http://schemas.openxmlformats.org/drawingml/2006/main"/>
          <a:p xmlns:a="http://schemas.openxmlformats.org/drawingml/2006/main">
            <a:r>
              <a:t>[Sources]</a:t>
            </a:r>
          </a:p>
          <a:p xmlns:a="http://schemas.openxmlformats.org/drawingml/2006/main">
            <a:r>
              <a:t>- The Epistemology of Coexistence, §1.3</a:t>
            </a:r>
          </a:p>
          <a:p xmlns:a="http://schemas.openxmlformats.org/drawingml/2006/main">
            <a:r>
              <a:t>- JV pp. 72–73, 92–93</a:t>
            </a:r>
          </a:p>
          <a:p xmlns:a="http://schemas.openxmlformats.org/drawingml/2006/main">
            <a:r>
              <a:t>- MVD p. 211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the predicament, not a definition. The knowledge order has happiness as its dharma, but imagination and freedom of action arrive without the understanding needed to direct them. Delusion is the specific failure: the body is taken as the self and sensory satisfaction is expected to fulfil jeevan. Resolution is not the cessation of anxious thought — it is understanding the relevant realities together with adequate answers to why and how in activity.</a:t>
            </a:r>
          </a:p>
          <a:p/>
          <a:p>
            <a:r>
              <a:t>[Sources]</a:t>
            </a:r>
          </a:p>
          <a:p>
            <a:r>
              <a:t>- The Epistemology of Coexistence, §1.2</a:t>
            </a:r>
          </a:p>
          <a:p>
            <a:r>
              <a:t>- MVD pp. 33, 311</a:t>
            </a:r>
          </a:p>
          <a:p>
            <a:r>
              <a:t>- KD §3.17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Emphasise recurrence, not a one-way pipeline. Reflection is the knowing direction and projection the evidencing direction of one active jeevan. Projection gives reflection material to evaluate; corrected reflection guides the next projection. Reflection without projection remains unevidenced, while projection without reflection repeats habit. The four-step diagram is a pedagogical synthesis, not a canonical list.</a:t>
            </a:r>
          </a:p>
          <a:p xmlns:a="http://schemas.openxmlformats.org/drawingml/2006/main"/>
          <a:p xmlns:a="http://schemas.openxmlformats.org/drawingml/2006/main">
            <a:r>
              <a:t>[Sources]</a:t>
            </a:r>
          </a:p>
          <a:p xmlns:a="http://schemas.openxmlformats.org/drawingml/2006/main">
            <a:r>
              <a:t>- The Epistemology of Coexistence, §1.3</a:t>
            </a:r>
          </a:p>
          <a:p xmlns:a="http://schemas.openxmlformats.org/drawingml/2006/main">
            <a:r>
              <a:t>- KD §§3.12, 3.16–3.17</a:t>
            </a:r>
          </a:p>
          <a:p xmlns:a="http://schemas.openxmlformats.org/drawingml/2006/main">
            <a:r>
              <a:t>- JV pp. 92–93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body is the necessary instrument of evidence, but the texts place knowing and evaluation in jeevan. The slide states the primary-text claim and does not pretend to supply a modern neurophysical mechanism.</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83–84, 200</a:t>
            </a:r>
          </a:p>
          <a:p xmlns:a="http://schemas.openxmlformats.org/drawingml/2006/main">
            <a:pPr marL="0" indent="0" algn="l">
              <a:spcBef>
                <a:spcPts val="0"/>
              </a:spcBef>
              <a:spcAft>
                <a:spcPts val="0"/>
              </a:spcAft>
              <a:buNone/>
            </a:pPr>
            <a:r>
              <a:t>- JV pp. 59, 139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Delusion is incomplete functioning of the knower, not merely missing information. In awakening, reflection reaches enlightenment and realisation; projection is then organised by understanding rather than pleasure, health, and profit as final criteria.</a:t>
            </a:r>
          </a:p>
          <a:p xmlns:a="http://schemas.openxmlformats.org/drawingml/2006/main">
            <a:r>
              <a:t/>
            </a:r>
          </a:p>
          <a:p xmlns:a="http://schemas.openxmlformats.org/drawingml/2006/main">
            <a:r>
              <a:t>[Sources]</a:t>
            </a:r>
          </a:p>
          <a:p xmlns:a="http://schemas.openxmlformats.org/drawingml/2006/main">
            <a:r>
              <a:t>- JV pp. 73, 92–93</a:t>
            </a:r>
          </a:p>
          <a:p xmlns:a="http://schemas.openxmlformats.org/drawingml/2006/main">
            <a:r>
              <a:t>- KD §3.17, p. 147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Cognisance is jeevan's knowing-and-accepting capacity; sensitivity is embodied responsiveness through the five senses. Sensory contact is required for bodily interaction but does not by repetition yield the continuous satisfaction jeevan seeks. The awakened human regulates sensitivity through cognisance while retaining both in balance. Place this before the fork: the fork turns on which of the two governs.</a:t>
            </a:r>
          </a:p>
          <a:p xmlns:a="http://schemas.openxmlformats.org/drawingml/2006/main"/>
          <a:p xmlns:a="http://schemas.openxmlformats.org/drawingml/2006/main">
            <a:r>
              <a:t>[Sources]</a:t>
            </a:r>
          </a:p>
          <a:p xmlns:a="http://schemas.openxmlformats.org/drawingml/2006/main">
            <a:r>
              <a:t>- The Epistemology of Coexistence, §1.3</a:t>
            </a:r>
          </a:p>
          <a:p xmlns:a="http://schemas.openxmlformats.org/drawingml/2006/main">
            <a:r>
              <a:t>- SB p. 64</a:t>
            </a:r>
          </a:p>
          <a:p xmlns:a="http://schemas.openxmlformats.org/drawingml/2006/main">
            <a:r>
              <a:t>- MVD pp. 49–51, 166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eshanas are not simply condemned. Knowledge, wisdom, and science redirect progeny, wealth, and public recognition toward education, prosperity and right use, and accountable social participation.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50, 169, 303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Make the fifth activity visible: evaluating. Correct intention and recognition are insufficient unless capacity, fulfilment, actual result, and mutuality are examined. Mutual satisfaction is the relational result of justice, not a fifth jeevan value.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12, 310–311</a:t>
            </a:r>
          </a:p>
          <a:p xmlns:a="http://schemas.openxmlformats.org/drawingml/2006/main">
            <a:pPr marL="0" indent="0" algn="l">
              <a:spcBef>
                <a:spcPts val="0"/>
              </a:spcBef>
              <a:spcAft>
                <a:spcPts val="0"/>
              </a:spcAft>
              <a:buNone/>
            </a:pPr>
            <a:r>
              <a:t>- JV p. 55</a:t>
            </a:r>
          </a:p>
          <a:p xmlns:a="http://schemas.openxmlformats.org/drawingml/2006/main">
            <a:pPr marL="0" indent="0" algn="l">
              <a:spcBef>
                <a:spcPts val="0"/>
              </a:spcBef>
              <a:spcAft>
                <a:spcPts val="0"/>
              </a:spcAft>
              <a:buNone/>
            </a:pPr>
            <a:r>
              <a:t>- SB p. 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Karma joins aspiration, action, result, and effect. Material means, capacity, other people, and environment mediate the result, so intention cannot stand in for evidence.</a:t>
            </a:r>
          </a:p>
          <a:p xmlns:a="http://schemas.openxmlformats.org/drawingml/2006/main">
            <a:r>
              <a:t/>
            </a:r>
          </a:p>
          <a:p xmlns:a="http://schemas.openxmlformats.org/drawingml/2006/main">
            <a:r>
              <a:t>[Sources]</a:t>
            </a:r>
          </a:p>
          <a:p xmlns:a="http://schemas.openxmlformats.org/drawingml/2006/main">
            <a:r>
              <a:t>- KD Ch. 1</a:t>
            </a:r>
          </a:p>
          <a:p xmlns:a="http://schemas.openxmlformats.org/drawingml/2006/main">
            <a:r>
              <a:t>- The Epistemology of Coexistence,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Evaluation returns consequence to the knower. Over-evaluation, under-evaluation, and mis-evaluation become explicit sites of correction rather than being protected by the original intention.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263–264</a:t>
            </a:r>
          </a:p>
          <a:p xmlns:a="http://schemas.openxmlformats.org/drawingml/2006/main">
            <a:pPr marL="0" indent="0" algn="l">
              <a:spcBef>
                <a:spcPts val="0"/>
              </a:spcBef>
              <a:spcAft>
                <a:spcPts val="0"/>
              </a:spcAft>
              <a:buNone/>
            </a:pPr>
            <a:r>
              <a:t>- KD Ch.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Seer here means established awakened seer-status, not the drish term from the earlier triad. Understanding, embodied doing, and experienced result belong together without collapsing one into another.</a:t>
            </a:r>
          </a:p>
          <a:p xmlns:a="http://schemas.openxmlformats.org/drawingml/2006/main">
            <a:r>
              <a:t/>
            </a:r>
          </a:p>
          <a:p xmlns:a="http://schemas.openxmlformats.org/drawingml/2006/main">
            <a:r>
              <a:t>[Sources]</a:t>
            </a:r>
          </a:p>
          <a:p xmlns:a="http://schemas.openxmlformats.org/drawingml/2006/main">
            <a:r>
              <a:t>- KD §3.18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values are stated as relations between the activity-centres named on the previous slide, which is why they belong here rather than earlier. Happiness between mun and vritti, peace between vritti and chitta, contentment between chitta and buddhi, bliss between buddhi and atma. They are relations among activities, not quantities on one scale — so material success cannot compensate for unresolved understanding, and private calm cannot substitute for unjust relationship. Slide 37 pairs them with the four human goals.</a:t>
            </a:r>
          </a:p>
          <a:p xmlns:a="http://schemas.openxmlformats.org/drawingml/2006/main"/>
          <a:p xmlns:a="http://schemas.openxmlformats.org/drawingml/2006/main">
            <a:r>
              <a:t>[Sources]</a:t>
            </a:r>
          </a:p>
          <a:p xmlns:a="http://schemas.openxmlformats.org/drawingml/2006/main">
            <a:r>
              <a:t>- The Epistemology of Coexistence, §1.2</a:t>
            </a:r>
          </a:p>
          <a:p xmlns:a="http://schemas.openxmlformats.org/drawingml/2006/main">
            <a:r>
              <a:t>- MVD pp. 207–208, 327</a:t>
            </a:r>
          </a:p>
          <a:p xmlns:a="http://schemas.openxmlformats.org/drawingml/2006/main">
            <a:r>
              <a:t>- JV p. 138</a:t>
            </a:r>
          </a:p>
          <a:p xmlns:a="http://schemas.openxmlformats.org/drawingml/2006/main">
            <a:r>
              <a:t>- KD p. 112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the movement with the darshan's own formulation rather than a paraphrase. Read the chain aloud: realisation itself is the ultimate evidence; evidence itself is the understanding or knowledge; understanding itself is manifest; the manifest itself is resolution, work and behaviour; work and behaviour itself is evidence; evidence itself is awakened tradition; awakened tradition itself is coexistence. Its practical sequence is realisation, behaviour, and experiment — and experiment includes productive and lived participation, not only controlled laboratory procedure. This is a broader evidence regime than the natural sciences require: first-person realisation, second-person conveyance, and publicly observable work must all cohere.</a:t>
            </a:r>
          </a:p>
          <a:p xmlns:a="http://schemas.openxmlformats.org/drawingml/2006/main"/>
          <a:p xmlns:a="http://schemas.openxmlformats.org/drawingml/2006/main">
            <a:r>
              <a:t>[Sources]</a:t>
            </a:r>
          </a:p>
          <a:p xmlns:a="http://schemas.openxmlformats.org/drawingml/2006/main">
            <a:r>
              <a:t>- The Epistemology of Coexistence, §1.6</a:t>
            </a:r>
          </a:p>
          <a:p xmlns:a="http://schemas.openxmlformats.org/drawingml/2006/main">
            <a:r>
              <a:t>- MVD p. 12</a:t>
            </a:r>
          </a:p>
          <a:p xmlns:a="http://schemas.openxmlformats.org/drawingml/2006/main">
            <a:r>
              <a:t>- SB pp. 44, 111, 121, 149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five nearby terms separate. Sensory contact is a bodily condition; pratyaksha is direct accessibility; sakshatkar is meaning-recognition in chitta; bodh is enlightenment in buddhi; and anubhav is realisation in atma.</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20–21, §3.17</a:t>
            </a:r>
          </a:p>
          <a:p xmlns:a="http://schemas.openxmlformats.org/drawingml/2006/main">
            <a:pPr marL="0" indent="0" algn="l">
              <a:spcBef>
                <a:spcPts val="0"/>
              </a:spcBef>
              <a:spcAft>
                <a:spcPts val="0"/>
              </a:spcAft>
              <a:buNone/>
            </a:pPr>
            <a:r>
              <a:t>- MVD pp. 35, 273–301,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points. First the caution: the displayed movement is a source-faithful pedagogical reconstruction, not a canonical guaranteed ladder — hearing correct words does not guarantee that any later activity has matured. Second, why transmission is not optional. Knowledge claims to be universally accessible rather than a private revelation that must remain ineffable, so comprehension is tested by the capacity to convey it. Conveyance requires more than fluency: the learner must be able to explain, live, evaluate, and make the understanding available without contradiction.</a:t>
            </a:r>
          </a:p>
          <a:p xmlns:a="http://schemas.openxmlformats.org/drawingml/2006/main"/>
          <a:p xmlns:a="http://schemas.openxmlformats.org/drawingml/2006/main">
            <a:r>
              <a:t>[Sources]</a:t>
            </a:r>
          </a:p>
          <a:p xmlns:a="http://schemas.openxmlformats.org/drawingml/2006/main">
            <a:r>
              <a:t>- The Epistemology of Coexistence, §1.6</a:t>
            </a:r>
          </a:p>
          <a:p xmlns:a="http://schemas.openxmlformats.org/drawingml/2006/main">
            <a:r>
              <a:t>- MVD pp. 12, 35, 90</a:t>
            </a:r>
          </a:p>
          <a:p xmlns:a="http://schemas.openxmlformats.org/drawingml/2006/main">
            <a:r>
              <a:t>- JV p. 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Error can enter at acceptance, recognition, fulfilment, or evaluation. Correction therefore requires renewed attention and changed conduct, not only a revised sentence.</a:t>
            </a:r>
          </a:p>
          <a:p xmlns:a="http://schemas.openxmlformats.org/drawingml/2006/main">
            <a:r>
              <a:t/>
            </a:r>
          </a:p>
          <a:p xmlns:a="http://schemas.openxmlformats.org/drawingml/2006/main">
            <a:r>
              <a:t>[Sources]</a:t>
            </a:r>
          </a:p>
          <a:p xmlns:a="http://schemas.openxmlformats.org/drawingml/2006/main">
            <a:r>
              <a:t>- The Epistemology of Coexistence, §§1.5–1.6</a:t>
            </a:r>
          </a:p>
          <a:p xmlns:a="http://schemas.openxmlformats.org/drawingml/2006/main">
            <a:r>
              <a:t>- MVD pp. 184, 263–264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movement with the stakes, not the definitions. The human being belongs to the knowledge order, whose dharma is happiness, yet carries imagination and freedom of action without automatically carrying the understanding needed to direct them. Only then state what knowledge is.</a:t>
            </a:r>
          </a:p>
          <a:p/>
          <a:p>
            <a:r>
              <a:t>[Sources]</a:t>
            </a:r>
          </a:p>
          <a:p>
            <a:r>
              <a:t>- The Epistemology of Coexistence, §§1.1–1.2</a:t>
            </a:r>
          </a:p>
          <a:p>
            <a:r>
              <a:t>- MVD pp. 33, 311</a:t>
            </a:r>
          </a:p>
          <a:p>
            <a:r>
              <a:t>- KD §3.17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darshan's own open problems, not an external objection. Conduct-evidence is strongest for claims about resolution, relationship, and humane participation; claims about physical process, neural causation, or post-death continuity require domain-appropriate public tests. The framework still owes a public rule for mixed cases — sound conduct with disputed metaphysics, contemplative certitude with failed prediction, successful production with unjust relationships — and criteria distinguishing restraint from repression, prosperity from accumulation, beneficence from dependency-making, and stable faculty-harmony from temporary positive affect.</a:t>
            </a:r>
          </a:p>
          <a:p xmlns:a="http://schemas.openxmlformats.org/drawingml/2006/main"/>
          <a:p xmlns:a="http://schemas.openxmlformats.org/drawingml/2006/main">
            <a:r>
              <a:t>[Sources]</a:t>
            </a:r>
          </a:p>
          <a:p xmlns:a="http://schemas.openxmlformats.org/drawingml/2006/main">
            <a:r>
              <a:t>- The Epistemology of Coexistence, §§7.2, 7.6–7.7</a:t>
            </a:r>
          </a:p>
          <a:p xmlns:a="http://schemas.openxmlformats.org/drawingml/2006/main">
            <a:r>
              <a:t>- MVD p. 73</a:t>
            </a:r>
          </a:p>
          <a:p xmlns:a="http://schemas.openxmlformats.org/drawingml/2006/main">
            <a:r>
              <a:t>- SB pp. 111, 121, 149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Return to all six questions. The answer is not a belief formula: it integrates realised understanding, active selfhood, embodied regulation, conduct, consequence, and corrigible public evidence.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 and 8</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by pairing the four human goals with the four jeevan values while stating the cumulative caution. Resolution bears happiness; with prosperity comes peace; with fearlessness, contentment; and participation in coexistence bears bliss.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 112</a:t>
            </a:r>
          </a:p>
          <a:p xmlns:a="http://schemas.openxmlformats.org/drawingml/2006/main">
            <a:pPr marL="0" indent="0" algn="l">
              <a:spcBef>
                <a:spcPts val="0"/>
              </a:spcBef>
              <a:spcAft>
                <a:spcPts val="0"/>
              </a:spcAft>
              <a:buNone/>
            </a:pPr>
            <a:r>
              <a:t>- MVD pp. 207–208</a:t>
            </a:r>
          </a:p>
          <a:p xmlns:a="http://schemas.openxmlformats.org/drawingml/2006/main">
            <a:pPr marL="0" indent="0" algn="l">
              <a:spcBef>
                <a:spcPts val="0"/>
              </a:spcBef>
              <a:spcAft>
                <a:spcPts val="0"/>
              </a:spcAft>
              <a:buNone/>
            </a:pPr>
            <a:r>
              <a:t>- JV pp. 61, 138, 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Deliberation is not a single judgment. Six perspectives are compared before an activity is selected. Pleasantness, bodily well-being, and gain report real information, but each is relative to changing conditions: what tastes pleasant may damage the body, and what looks profitable to one family may externalise harm to another or to the natural orders. Justice, dharma, and truth ask whether the relationship is actually fulfilled, whether resolution and orderliness are sustained, and whether the understanding accords with realisation in existence. MVD calls deliberation through nyaya, dharma, and satya balanced, and deliberation through priya, hita, and labha unbalanced. State the point as governance, not suppression: the body still needs nourishment and useful means, but pleasure, health, and profit cannot finally authorise an activity that violates justice or produces contradiction.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Upakar belongs to a higher-human level, above the bodily propensities and the three eshanas. MVD defines it precisely: help and inspiration for another person’s prosperity and awakening. It is not vague charity, not a transactional favour, and not a fourth eshana. It applies capacity the giver has already resolved to another’s material sufficiency and understanding. State the test plainly: help that increases the other’s capability and preserves mutuality fulfils upakar, while help that creates dependency or exploits vulnerability defeats its stated ends. Note also that upakar is one part of the evidence chain, not by itself proof that the giver understands.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Knowledge of an activity includes the law that protects it, the regulation that keeps it within that law, and the balance that results. Law becomes humanly evident when an activity protects rather than destroys the relationship it depends on; regulation when choice stays aligned with the accepted purpose; balance when the result is mutually fulfilling rather than advantageous to one party only. Guard the common misreading: MVD gives a continuous sequence from knowledge through law, regulation, and balance to justice, dharma, and truth, but this is a functional progression, not three lexical equations. Niyam does not simply mean nyaya, niyantran does not mean dharma, and santulan does not mean satya. Law, regulation, and balance describe the order of activity; justice, dharma, and truth describe the awakened human fulfilling that order.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why any of this matters before the deck goes into mechanism. The human being belongs to the knowledge order, whose dharma is happiness, but unlike the prior orders human conduct is not constitutionally fixed: people can accept incompatible beliefs, choose alternatives, and reorganise their environment. Imagination and freedom of action arrive without the understanding needed to direct them, and knowledge is what brings that freedom into agreement with coexistence. Take the four scales in order and stress the definitions, because each is easy to misread. Prosperity is assured availability beyond a properly assessed need, not unlimited accumulation. Fearlessness rests on trust and justice, not on domination. Coexistence at the social level means participation without contradiction. Close on the key point: the four do not substitute for one another, so material sufficiency cannot compensate for unresolved understanding, and private calm cannot substitute for unjust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bridge from the faculty account to the darshan's claims about behaviour. The same ten activities divide into five of state, expressed as force, and five of motion, expressed as power. Named from what becomes observable in a living person, the projected five are hope, thought, desire, resoluteness, and authenticity — which jeevan alone expresses, communicates, and manifests. That is why conduct can carry epistemic weight later in the deck: the activities of jeevan are legible in a person.</a:t>
            </a:r>
          </a:p>
          <a:p/>
          <a:p>
            <a:r>
              <a:t>[Sources]</a:t>
            </a:r>
          </a:p>
          <a:p>
            <a:r>
              <a:t>- The Epistemology of Coexistence, §1.3</a:t>
            </a:r>
          </a:p>
          <a:p>
            <a:r>
              <a:t>- KD §3.6, pp. 70–71</a:t>
            </a:r>
          </a:p>
          <a:p>
            <a:r>
              <a:t>- KD §3.16, p. 145</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the common misreading here. The four vishayas — eating, sleeping, protection or defence, and mating — name which bodily propensity is being served. The five sensory modalities name the mode of contact through which it is engaged. They are not two parallel lists: the propensities operate through the modalities. These characterise animal living, and the human body retains rather than transcends the need for nourishment, rest, protection, and continuity. Eating can be pleasant, health-supporting, and affordable while also being chosen with regard to justice, ecology, family need, and right use. The issue is governance, not suppression of bodily life.</a:t>
            </a:r>
          </a:p>
          <a:p/>
          <a:p>
            <a:r>
              <a:t>[Sources]</a:t>
            </a:r>
          </a:p>
          <a:p>
            <a:r>
              <a:t>- The Epistemology of Coexistence, §1.4</a:t>
            </a:r>
          </a:p>
          <a:p>
            <a:r>
              <a:t>- MVD pp. 58, 65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movement does two things. It shows how understanding becomes answerable — through relationship, karma, result, evaluation, and transmission. Then it states plainly where conduct-evidence does not reach, which is the darshan's own §7 rather than an external objection.</a:t>
            </a:r>
          </a:p>
          <a:p/>
          <a:p>
            <a:r>
              <a:t>[Sources]</a:t>
            </a:r>
          </a:p>
          <a:p>
            <a:r>
              <a:t>- The Epistemology of Coexistence, §§1.5–1.6, §7</a:t>
            </a:r>
          </a:p>
          <a:p>
            <a:r>
              <a:t>- MVD p. 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7dca1d7625f14519"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4cfa508d5b84a08" Type="http://schemas.openxmlformats.org/officeDocument/2006/relationships/slideLayout" Target="../slideLayouts/slideLayout1.xml"/><Relationship Id="R46ddbf13d0f44ec9"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14cfa508d5b84a08"/>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05d1649340104790" Type="http://schemas.openxmlformats.org/officeDocument/2006/relationships/slideLayout" Target="../slideLayouts/slideLayout1.xml"/><Relationship Id="R41d45dfbc5f9424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417631f3a87c46ba" Type="http://schemas.openxmlformats.org/officeDocument/2006/relationships/slideLayout" Target="../slideLayouts/slideLayout1.xml"/><Relationship Id="R5e099dc9b0cb46e7" Type="http://schemas.openxmlformats.org/officeDocument/2006/relationships/notesSlide" Target="../notesSlides/notesSlide3.xml"/><Relationship Id="Ra6ee38489c1e4e8b" Type="http://schemas.openxmlformats.org/officeDocument/2006/relationships/image" Target="../media/image.png"/></Relationships>
</file>

<file path=ppt/slides/_rels/slide3.xml.rels><?xml version='1.0' encoding='UTF-8' standalone='yes'?>
<Relationships xmlns="http://schemas.openxmlformats.org/package/2006/relationships"><Relationship Id="R05d1649340104790"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4.xml.rels><?xml version='1.0' encoding='UTF-8' standalone='yes'?>
<Relationships xmlns="http://schemas.openxmlformats.org/package/2006/relationships"><Relationship Id="Redbd6f2ddf50459c"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5.xml.rels><?xml version='1.0' encoding='UTF-8' standalone='yes'?>
<Relationships xmlns="http://schemas.openxmlformats.org/package/2006/relationships"><Relationship Id="Redbd6f2ddf50459c"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6.xml.rels><?xml version='1.0' encoding='UTF-8' standalone='yes'?>
<Relationships xmlns="http://schemas.openxmlformats.org/package/2006/relationships"><Relationship Id="R6c6a2adf6da54442" Type="http://schemas.openxmlformats.org/officeDocument/2006/relationships/image" Target="../media/image2.png"/><Relationship Id="Ra717eff4e62b46e0" Type="http://schemas.openxmlformats.org/officeDocument/2006/relationships/notesSlide" Target="../notesSlides/notesSlide8.xml"/><Relationship Id="Rb721564d4e494256" Type="http://schemas.openxmlformats.org/officeDocument/2006/relationships/image" Target="../media/image4.png"/><Relationship Id="Rba69a8e5e7b04155" Type="http://schemas.openxmlformats.org/officeDocument/2006/relationships/slideLayout" Target="../slideLayouts/slideLayout1.xml"/><Relationship Id="Rfe3807bb190a4cf1" Type="http://schemas.openxmlformats.org/officeDocument/2006/relationships/image" Target="../media/image3.png"/></Relationships>
</file>

<file path=ppt/slides/_rels/slide7.xml.rels><?xml version='1.0' encoding='UTF-8' standalone='yes'?>
<Relationships xmlns="http://schemas.openxmlformats.org/package/2006/relationships"><Relationship Id="R340c4c00ef9f4aa4" Type="http://schemas.openxmlformats.org/officeDocument/2006/relationships/image" Target="../media/image2.png"/><Relationship Id="R3815859eaf0a4930" Type="http://schemas.openxmlformats.org/officeDocument/2006/relationships/image" Target="../media/image4.png"/><Relationship Id="R48b53b0730d34a2c" Type="http://schemas.openxmlformats.org/officeDocument/2006/relationships/image" Target="../media/image3.png"/><Relationship Id="R5f48a4cf6d804aed" Type="http://schemas.openxmlformats.org/officeDocument/2006/relationships/notesSlide" Target="../notesSlides/notesSlide5.xml"/><Relationship Id="Rc8cbbcdd4a93450f"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03937b523800456c" Type="http://schemas.openxmlformats.org/officeDocument/2006/relationships/slideLayout" Target="../slideLayouts/slideLayout1.xml"/><Relationship Id="R9eb92bc9bfd84f78"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234b6734e5c64b7d" Type="http://schemas.openxmlformats.org/officeDocument/2006/relationships/slideLayout" Target="../slideLayouts/slideLayout1.xml"/><Relationship Id="R375c1049b98e40c0"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4c52a4a3c51642cf" Type="http://schemas.openxmlformats.org/officeDocument/2006/relationships/image" Target="../media/image4.png"/><Relationship Id="R81d5dcd066b34cfc" Type="http://schemas.openxmlformats.org/officeDocument/2006/relationships/notesSlide" Target="../notesSlides/notesSlide7.xml"/><Relationship Id="R8464641637284dbf" Type="http://schemas.openxmlformats.org/officeDocument/2006/relationships/slideLayout" Target="../slideLayouts/slideLayout1.xml"/><Relationship Id="Rddf6d8cf3a6c471f" Type="http://schemas.openxmlformats.org/officeDocument/2006/relationships/image" Target="../media/image3.png"/><Relationship Id="Rf6390e0e8d4b4fcf" Type="http://schemas.openxmlformats.org/officeDocument/2006/relationships/image" Target="../media/image2.png"/></Relationships>
</file>

<file path=ppt/slides/_rels/slide11.xml.rels><?xml version='1.0' encoding='UTF-8' standalone='yes'?>
<Relationships xmlns="http://schemas.openxmlformats.org/package/2006/relationships"><Relationship Id="Ra762469e9d0d4e98" Type="http://schemas.openxmlformats.org/officeDocument/2006/relationships/slideLayout" Target="../slideLayouts/slideLayout1.xml"/><Relationship Id="Rb4d8dd59501a445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378cda231b4c42af" Type="http://schemas.openxmlformats.org/officeDocument/2006/relationships/notesSlide" Target="../notesSlides/notesSlide10.xml"/><Relationship Id="Rf9dca863f907459a"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26f3cbf31e594a16" Type="http://schemas.openxmlformats.org/officeDocument/2006/relationships/notesSlide" Target="../notesSlides/notesSlide21.xml"/><Relationship Id="R510dd71f6f394d6c"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05d1649340104790"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15.xml.rels><?xml version='1.0' encoding='UTF-8' standalone='yes'?>
<Relationships xmlns="http://schemas.openxmlformats.org/package/2006/relationships"><Relationship Id="R59a71612ef944f4e" Type="http://schemas.openxmlformats.org/officeDocument/2006/relationships/slideLayout" Target="../slideLayouts/slideLayout1.xml"/><Relationship Id="Re8bc76c84bc54379"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28b1044015bd4469" Type="http://schemas.openxmlformats.org/officeDocument/2006/relationships/notesSlide" Target="../notesSlides/notesSlide13.xml"/><Relationship Id="Rbac32bb22eae40d6"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1bc0a3263e434b85" Type="http://schemas.openxmlformats.org/officeDocument/2006/relationships/notesSlide" Target="../notesSlides/notesSlide22.xml"/><Relationship Id="Rd3f3927f2b4344ed"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59a71612ef944f4e"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19.xml.rels><?xml version='1.0' encoding='UTF-8' standalone='yes'?>
<Relationships xmlns="http://schemas.openxmlformats.org/package/2006/relationships"><Relationship Id="R8b818ca5312643b9" Type="http://schemas.openxmlformats.org/officeDocument/2006/relationships/slideLayout" Target="../slideLayouts/slideLayout1.xml"/><Relationship Id="Rc06e867ee8c24d14"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7dabcf14e4824a6b" Type="http://schemas.openxmlformats.org/officeDocument/2006/relationships/slideLayout" Target="../slideLayouts/slideLayout1.xml"/><Relationship Id="R935c7f0c020a4914"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111d999ce1644ecf" Type="http://schemas.openxmlformats.org/officeDocument/2006/relationships/notesSlide" Target="../notesSlides/notesSlide15.xml"/><Relationship Id="Rc2edd8804ecc41b0"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59a71612ef944f4e"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23.xml.rels><?xml version='1.0' encoding='UTF-8' standalone='yes'?>
<Relationships xmlns="http://schemas.openxmlformats.org/package/2006/relationships"><Relationship Id="R2e6d2b79dfe44500" Type="http://schemas.openxmlformats.org/officeDocument/2006/relationships/image" Target="../media/image3.png"/><Relationship Id="R3b916bab8c494a18" Type="http://schemas.openxmlformats.org/officeDocument/2006/relationships/notesSlide" Target="../notesSlides/notesSlide17.xml"/><Relationship Id="Re323ef8aef534870" Type="http://schemas.openxmlformats.org/officeDocument/2006/relationships/image" Target="../media/image4.png"/><Relationship Id="Reb107755085241ef" Type="http://schemas.openxmlformats.org/officeDocument/2006/relationships/slideLayout" Target="../slideLayouts/slideLayout1.xml"/><Relationship Id="Rfc2230a8d1a34101" Type="http://schemas.openxmlformats.org/officeDocument/2006/relationships/image" Target="../media/image2.png"/></Relationships>
</file>

<file path=ppt/slides/_rels/slide24.xml.rels><?xml version='1.0' encoding='UTF-8' standalone='yes'?>
<Relationships xmlns="http://schemas.openxmlformats.org/package/2006/relationships"><Relationship Id="R7dabcf14e4824a6b"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5.xml.rels><?xml version='1.0' encoding='UTF-8' standalone='yes'?>
<Relationships xmlns="http://schemas.openxmlformats.org/package/2006/relationships"><Relationship Id="R417631f3a87c46ba" Type="http://schemas.openxmlformats.org/officeDocument/2006/relationships/slideLayout" Target="../slideLayouts/slideLayout1.xml"/><Relationship Id="Ra6ee38489c1e4e8b" Type="http://schemas.openxmlformats.org/officeDocument/2006/relationships/image" Target="../media/image.png"/><Relationship Id="rId3" Type="http://schemas.openxmlformats.org/officeDocument/2006/relationships/notesSlide" Target="../notesSlides/notesSlide31.xml"/></Relationships>
</file>

<file path=ppt/slides/_rels/slide26.xml.rels><?xml version='1.0' encoding='UTF-8' standalone='yes'?>
<Relationships xmlns="http://schemas.openxmlformats.org/package/2006/relationships"><Relationship Id="R7dabcf14e4824a6b"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27.xml.rels><?xml version='1.0' encoding='UTF-8' standalone='yes'?>
<Relationships xmlns="http://schemas.openxmlformats.org/package/2006/relationships"><Relationship Id="R05d1649340104790"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28.xml.rels><?xml version='1.0' encoding='UTF-8' standalone='yes'?>
<Relationships xmlns="http://schemas.openxmlformats.org/package/2006/relationships"><Relationship Id="R94048ad6b1a84aa3" Type="http://schemas.openxmlformats.org/officeDocument/2006/relationships/slideLayout" Target="../slideLayouts/slideLayout1.xml"/><Relationship Id="Rba406daf18874a4a"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019af9f20d554015" Type="http://schemas.openxmlformats.org/officeDocument/2006/relationships/slideLayout" Target="../slideLayouts/slideLayout1.xml"/><Relationship Id="R352b5d7ab3eb4b2b"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18626a4765a54ca7" Type="http://schemas.openxmlformats.org/officeDocument/2006/relationships/notesSlide" Target="../notesSlides/notesSlide19.xml"/><Relationship Id="Rcef58cb5e0194619"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2d641136904a491a" Type="http://schemas.openxmlformats.org/officeDocument/2006/relationships/slideLayout" Target="../slideLayouts/slideLayout1.xml"/><Relationship Id="Rdb697bfe94e942d3" Type="http://schemas.openxmlformats.org/officeDocument/2006/relationships/notesSlide" Target="../notesSlides/notesSlide20.xml"/></Relationships>
</file>

<file path=ppt/slides/_rels/slide32.xml.rels><?xml version='1.0' encoding='UTF-8' standalone='yes'?>
<Relationships xmlns="http://schemas.openxmlformats.org/package/2006/relationships"><Relationship Id="R2548e8776a4343d0" Type="http://schemas.openxmlformats.org/officeDocument/2006/relationships/notesSlide" Target="../notesSlides/notesSlide26.xml"/><Relationship Id="R768cda95695e4cfc"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37a44bd1426a4995" Type="http://schemas.openxmlformats.org/officeDocument/2006/relationships/slideLayout" Target="../slideLayouts/slideLayout1.xml"/><Relationship Id="Re4caf00e300e40db"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101c90320ec24898" Type="http://schemas.openxmlformats.org/officeDocument/2006/relationships/slideLayout" Target="../slideLayouts/slideLayout1.xml"/><Relationship Id="R93190c59ed8d4f69"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35c47aa52feb47fd" Type="http://schemas.openxmlformats.org/officeDocument/2006/relationships/notesSlide" Target="../notesSlides/notesSlide28.xml"/><Relationship Id="Rda3d9ace505c4256"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04f7fdd2d26d4f92" Type="http://schemas.openxmlformats.org/officeDocument/2006/relationships/slideLayout" Target="../slideLayouts/slideLayout1.xml"/><Relationship Id="Ra7bc850828e24cf8" Type="http://schemas.openxmlformats.org/officeDocument/2006/relationships/notesSlide" Target="../notesSlides/notesSlide29.xml"/><Relationship Id="Rf91be5e62e7d40c5" Type="http://schemas.openxmlformats.org/officeDocument/2006/relationships/image" Target="../media/image.png"/></Relationships>
</file>

<file path=ppt/slides/_rels/slide37.xml.rels><?xml version='1.0' encoding='UTF-8' standalone='yes'?>
<Relationships xmlns="http://schemas.openxmlformats.org/package/2006/relationships"><Relationship Id="R2e49ec55a500415e" Type="http://schemas.openxmlformats.org/officeDocument/2006/relationships/notesSlide" Target="../notesSlides/notesSlide30.xml"/><Relationship Id="Rcff899808483490e"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Epistemology of Coexistence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resolution, and happiness — understanding evidenced in humane conduct</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the revised study (AnalyticMadhyasthDarshan.org)</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  ·  1 / 37</a:t>
            </a:r>
          </a:p>
        </p:txBody>
      </p:sp>
    </p:spTree>
    <p:extLst>
      <p:ext uri="{BB962C8B-B14F-4D97-AF65-F5344CB8AC3E}">
        <p14:creationId xmlns:p14="http://schemas.microsoft.com/office/powerpoint/2010/main" val="9888984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Epistemology Must Answer</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What makes understanding more than information or belief?</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What in the human being understands, chooses, and evaluates?</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What reality, self, relationship, and conduct must be understood?</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develop?  —  How does experience mature into understanding?</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error arise?  —  Why do belief, action, and result sometimes conflict?</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How is understanding tested in life?</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These questions guide the deck from definition to lived evidence.  ·  AnalyticMadhyasthDarshan.org  ·  2 / 37</a:t>
            </a:r>
          </a:p>
        </p:txBody>
      </p:sp>
    </p:spTree>
    <p:extLst>
      <p:ext uri="{BB962C8B-B14F-4D97-AF65-F5344CB8AC3E}">
        <p14:creationId xmlns:p14="http://schemas.microsoft.com/office/powerpoint/2010/main" val="1531490578"/>
      </p:ext>
    </p:extLst>
  </p:cSld>
</p:sld>
</file>

<file path=ppt/slides/slide3.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MOVEMENT ONE  ·  §§1.2 → 1.1</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What Knowledge Is, and Why It Is Needed</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3035808"/>
            <a:ext cx="4846320" cy="1188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is realised understanding of coexistence, jeevan, and humane conduct — and freedom without it cannot reach the happiness sought.</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370832"/>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Answers  ·  What is knowledge?  ·  Who is the knower?  ·  What is known?</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6634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Stakes first, then the claim  ·  AnalyticMadhyasthDarshan.org  ·  3 / 37</a:t>
            </a:r>
          </a:p>
        </p:txBody>
      </p:sp>
    </p:spTree>
    <p:extLst>
      <p:ext uri="{BB962C8B-B14F-4D97-AF65-F5344CB8AC3E}">
        <p14:creationId xmlns:p14="http://schemas.microsoft.com/office/powerpoint/2010/main" val="98889843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§1.2 · THE HUMAN PREDICAMENT</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Why Knowledge Matters</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human being belongs to the knowledge order, whose dharma is happiness, yet carries imagination and freedom of action without the understanding to direct them.</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The aspiration — happiness</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Happiness is the dharma of the knowledge order — not a preference but what the human being constitutionally seeks.</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The gift — imagination and freedom</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Human conduct is not constitutionally fixed as bodily orders are. People can hold incompatible beliefs and choose otherwise.</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The failure — delusion</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body is taken to be the self, and sensory satisfaction is expected to fulfil jeevan. The aspiration remains; conduct cannot secure it.</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The remedy — resolution</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Samadhan is not calm. It is understanding the relevant realities together with adequate answers to the why and how of activity.</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brings freedom into agreement with coexistence.  ·  MVD pp. 33, 311  ·  KD §3.17  ·  AnalyticMadhyasthDarshan.org  ·  4 / 37</a:t>
            </a:r>
          </a:p>
        </p:txBody>
      </p:sp>
    </p:spTree>
    <p:extLst>
      <p:ext uri="{BB962C8B-B14F-4D97-AF65-F5344CB8AC3E}">
        <p14:creationId xmlns:p14="http://schemas.microsoft.com/office/powerpoint/2010/main" val="162786451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§1.2 · THE HUMAN GOAL</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Human Goal Sets the Stakes</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Knowledge is needed for a definite goal. Madhyasth Darshan states it at four scales that must hold together, none substituting for another.</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Resolution — in the person</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Freedom from delusion and comprehensive resolution: the why and how of activity become clear.</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Prosperity — in the family</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Assured availability of physical means in excess of properly assessed need, not unlimited accumulation.</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Fearlessness — in society</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Rests on trust, justice, and freedom from exploitation, not on protection through domination.</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Coexistence — in orderliness</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Participation without contradiction in an undivided society and the wider natural order.</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Each scale bears an inward value — see slide 17.  ·  KD §3.17, p. 150  ·  JV pp. 61, 165  ·  AnalyticMadhyasthDarshan.org  ·  5 / 37</a:t>
            </a:r>
          </a:p>
        </p:txBody>
      </p:sp>
    </p:spTree>
    <p:extLst>
      <p:ext uri="{BB962C8B-B14F-4D97-AF65-F5344CB8AC3E}">
        <p14:creationId xmlns:p14="http://schemas.microsoft.com/office/powerpoint/2010/main" val="162786451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§1.2 · GYAN · VIVEK · VIGYAN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Wisdom, and Science Have Distinct Work</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understanding must establish what is real, identify the humane goal, and determine practicable direction. The three terms are joined, but not interchangeable.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6c6a2adf6da54442">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Gyan —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Realised understanding of coexistence, jeevan, and humane conduct: what is, who knows, and what right participation requires.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fe3807bb190a4cf1">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Vivek — wisdom</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Knowledge by which the human goal — resolution, prosperity, fearlessness, and coexistence — is recognised and sensory or social motives are discriminated.</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b721564d4e494256">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Vigyan — science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Directional knowledge for material prosperity together with the human and jeevan goals, including the law and process of activity and thought.</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Gyan establishes reality; vivek recognises the goal; vigyan gives reliable direction for accomplishment. — MVD pp. 170, 208–209  ·  AnalyticMadhyasthDarshan.org  ·  6 / 37</a:t>
            </a:r>
          </a:p>
        </p:txBody>
      </p:sp>
    </p:spTree>
    <p:extLst>
      <p:ext uri="{BB962C8B-B14F-4D97-AF65-F5344CB8AC3E}">
        <p14:creationId xmlns:p14="http://schemas.microsoft.com/office/powerpoint/2010/main" val="146621908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THREE INSEPARABLE CONTENTS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Knowledge Must Include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knowledge is threefold. Each content corrects a partial epistemology: reality without the knower is incomplete; self-knowledge without conduct is unproven; conduct without the whole lacks orientation.</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340c4c00ef9f4aa4">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Existence as coexistence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and all real units; their form, properties, essential nature, dharma, relationships, and participation in orderliness.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48b53b0730d34a2c">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Jeevan</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sentient unit that bears attention, reflection, resolve, enlightenment, realisation, selection, evaluation, and authenticity.</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3815859eaf0a493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Humane conduct</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right recognition and fulfilment of relationships, made evident as justice, work, behaviour, and participation in universal orderliness.</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of coexistence, jeevan, and humane conduct form one epistemic field. — KD §3.17 · SB p. 116  ·  AnalyticMadhyasthDarshan.org  ·  7 / 37</a:t>
            </a:r>
          </a:p>
        </p:txBody>
      </p:sp>
    </p:spTree>
    <p:extLst>
      <p:ext uri="{BB962C8B-B14F-4D97-AF65-F5344CB8AC3E}">
        <p14:creationId xmlns:p14="http://schemas.microsoft.com/office/powerpoint/2010/main" val="14662190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620A3F0D-015F-48E9-A9C2-57629DC870E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271F7A08-310C-4AD5-BECC-525C35D239E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57C6BE5D-A6F5-46FE-8EFC-70C7CEF0BE95}"/>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49BA7092-6215-4D55-B630-440D9EB3375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PERVASIVE KNOWLEDGE, REALISATION, AND EVIDENCE</a:t>
            </a:r>
          </a:p>
        </p:txBody>
      </p:sp>
      <p:sp>
        <p:nvSpPr>
          <p:cNvPr id="68" name="Google Shape;68;p5">
            <a:extLst xmlns:a="http://schemas.openxmlformats.org/drawingml/2006/main">
              <a:ext uri="{FF2B5EF4-FFF2-40B4-BE49-F238E27FC236}">
                <a16:creationId xmlns:a16="http://schemas.microsoft.com/office/drawing/2014/main" id="{5528EFA1-C751-481C-95A7-342329DFDBD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Is Realised in Jeevan</a:t>
            </a:r>
          </a:p>
        </p:txBody>
      </p:sp>
      <p:sp>
        <p:nvSpPr>
          <p:cNvPr id="69" name="Google Shape;69;p5">
            <a:extLst xmlns:a="http://schemas.openxmlformats.org/drawingml/2006/main">
              <a:ext uri="{FF2B5EF4-FFF2-40B4-BE49-F238E27FC236}">
                <a16:creationId xmlns:a16="http://schemas.microsoft.com/office/drawing/2014/main" id="{7081440E-2C7A-4D94-8652-308B49F58F4C}"/>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Pervasive knowledge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Coexistence of Omnipresence and Nature is itself the knowledge that needs to be known.</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Realisation in jeevan</a:t>
            </a:r>
          </a:p>
          <a:p xmlns:a="http://schemas.openxmlformats.org/drawingml/2006/main">
            <a:pPr marL="0" indent="0" algn="l">
              <a:spcBef>
                <a:spcPts val="1000"/>
              </a:spcBef>
              <a:spcAft>
                <a:spcPts val="0"/>
              </a:spcAft>
              <a:buNone/>
            </a:pPr>
            <a:r>
              <a:rPr sz="1250" b="0" i="0" u="none" cap="none">
                <a:solidFill>
                  <a:srgbClr val="5A6377"/>
                </a:solidFill>
                <a:latin typeface="Calibri"/>
                <a:ea typeface="Calibri"/>
                <a:cs typeface="Calibri"/>
              </a:rPr>
              <a:t>Jeevan is the knower. Atma realises coexistence; through buddhi, this becomes clear understanding.</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Resolution and evidence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makes comprehensive resolution accessible—the why and how of activity become clear. Happiness is harmony within jeevan; justice and mutual satisfaction evidence understanding in relationships.</a:t>
            </a:r>
          </a:p>
        </p:txBody>
      </p:sp>
      <p:sp>
        <p:nvSpPr>
          <p:cNvPr id="70" name="Google Shape;70;p5">
            <a:extLst xmlns:a="http://schemas.openxmlformats.org/drawingml/2006/main">
              <a:ext uri="{FF2B5EF4-FFF2-40B4-BE49-F238E27FC236}">
                <a16:creationId xmlns:a16="http://schemas.microsoft.com/office/drawing/2014/main" id="{D3B9C202-8127-4641-B67E-E8B81D9011A4}"/>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41A2BB60-5764-487C-835E-60A45280CC12}"/>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GROUND · KNOWER · RESOLUTION · EVIDENCE</a:t>
            </a:r>
          </a:p>
        </p:txBody>
      </p:sp>
      <p:sp>
        <p:nvSpPr>
          <p:cNvPr id="72" name="Google Shape;72;p5">
            <a:extLst xmlns:a="http://schemas.openxmlformats.org/drawingml/2006/main">
              <a:ext uri="{FF2B5EF4-FFF2-40B4-BE49-F238E27FC236}">
                <a16:creationId xmlns:a16="http://schemas.microsoft.com/office/drawing/2014/main" id="{E8130BA5-50DA-47D7-B519-A60CBC449773}"/>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105E6401-F458-4935-9F23-C1578F306209}"/>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0CBBC975-6450-4784-82AA-2F3F9EFA5ECB}"/>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BDCA68E4-4180-484D-BDA3-28BD349AECBA}"/>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DCDF7540-3A46-4AC9-BA63-9A6A421E2272}"/>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02636DAF-5D87-4351-87A5-E8372A65E24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4CCBA736-6A70-436C-AE42-360E169766E0}"/>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8EA360F2-8585-4EA8-92B5-6B041738AB93}"/>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B5993674-EA2C-48AF-BE49-A7CCCD2A55CB}"/>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AB12E27E-7676-41EE-A930-60BE592AC2AF}"/>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F69F7BC8-1B98-4878-946D-406CDF55F9CE}"/>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3A4ADB5D-BD89-4437-BCA9-EC46107B8CE5}"/>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B0D2FCF2-4191-4330-8918-CDD31DDE17CB}"/>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A713010E-42C8-4812-BF2E-5601E420BEC8}"/>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CBE0A6D6-37DB-40A2-B20A-EAB55EFA13D1}"/>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A2E213D6-0082-4DA4-B58E-76B4CDE9F1E7}"/>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coexistence is the knowledge to be known; jeevan realises; humane living is its evidence</a:t>
            </a:r>
          </a:p>
        </p:txBody>
      </p:sp>
      <p:sp>
        <p:nvSpPr>
          <p:cNvPr id="88" name="Google Shape;88;p5">
            <a:extLst xmlns:a="http://schemas.openxmlformats.org/drawingml/2006/main">
              <a:ext uri="{FF2B5EF4-FFF2-40B4-BE49-F238E27FC236}">
                <a16:creationId xmlns:a16="http://schemas.microsoft.com/office/drawing/2014/main" id="{573C90F8-C4BF-4F02-942A-A54FF482729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35, 115–116, 207–208, 289, 311  ·  KD pp. 66, 134  ·  AnalyticMadhyasthDarshan.org  ·  8 / 37</a:t>
            </a:r>
          </a:p>
        </p:txBody>
      </p:sp>
    </p:spTree>
    <p:extLst>
      <p:ext uri="{BB962C8B-B14F-4D97-AF65-F5344CB8AC3E}">
        <p14:creationId xmlns:p14="http://schemas.microsoft.com/office/powerpoint/2010/main" val="71298974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THE TRIAD, AND COHERENCE WITHOUT MERGER</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Knower, and Known</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Knowledge</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Realised understanding of coexistence, jeevan, and humane conduct — accepted, evaluated, and capable of guiding action.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Knower</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is the sentient bearer of knowing; the human being is the embodied participant through whom knowing is spoken, tested, and lived.</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Existence as coexistence: units, relationships, values, orderliness, and the conditions in which human aspiration can be fulfilled.</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Meaningful evidence</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becomes meaningful when understanding appears as resolution, prosperity, fearlessness, coexistence, and an awakened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Coherence without merger: jeevan knows, coexistence is known, and understanding does not dissolve what it knows — brahma satya hai, jagat satat hai.</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MVD pp. 14–15, 84, 115  ·  SB p. 81  ·  AnalyticMadhyasthDarshan.org  ·  9 / 37</a:t>
            </a:r>
          </a:p>
        </p:txBody>
      </p:sp>
    </p:spTree>
    <p:extLst>
      <p:ext uri="{BB962C8B-B14F-4D97-AF65-F5344CB8AC3E}">
        <p14:creationId xmlns:p14="http://schemas.microsoft.com/office/powerpoint/2010/main" val="97238234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THE SCOPE OF THE KNOWN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Domains of Knowledge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known is not exhausted by measurable form and property. Madhyasth Darshan distinguishes three connected domains, each with its own objects, capacities, and forms of evidence.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6390e0e8d4b4fcf">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Physical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Form, property, material composition, production, and skill — knowledge expressed as effective engagement with material nature.</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ddf6d8cf3a6c471f">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Intellectual knowledge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Meaning, relation, purpose, analysis, evaluation, and proficiency — thought disciplined by what is and what fulfils orderliness.</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4c52a4a3c51642cf">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Coexistential knowledge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Realisation of coexistence, jeevan, and humane conduct — the horizon within which physical and intellectual knowledge find direction.</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Skill and scholarship become complete when they serve right relationship and orderliness. — KD pp. 3–4  ·  AnalyticMadhyasthDarshan.org  ·  10 / 37</a:t>
            </a:r>
          </a:p>
        </p:txBody>
      </p:sp>
    </p:spTree>
    <p:extLst>
      <p:ext uri="{BB962C8B-B14F-4D97-AF65-F5344CB8AC3E}">
        <p14:creationId xmlns:p14="http://schemas.microsoft.com/office/powerpoint/2010/main" val="146621908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SEEING AND ATTENTION</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KD Assigns Each Term a Definite Role</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Darshan — seeing</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content is justice, dharma, and truth. Darshan here is meaningful seeing or exposition, not a free-floating personal viewpoint.</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Drish — the seeing jeevan</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Human jeevan is the active locus of seeing: the knower capable of attention, understanding, evaluation, and evidence.</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Drishya — the seen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Coexistence is the field made directly meaningful: real units, relationships, values, and participation in orderliness.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Dhyan · dhyata · dhyeya</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Awakening; the human attender; and freedom from delusion together with jeevan values and evidence of the human goal.</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These are source assignments, not a generic subject–object vocabulary. Perspective remains answerable to awakened seeing of coexistence.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MVD p. 84  ·  AnalyticMadhyasthDarshan.org  ·  11 / 37</a:t>
            </a:r>
          </a:p>
        </p:txBody>
      </p:sp>
    </p:spTree>
    <p:extLst>
      <p:ext uri="{BB962C8B-B14F-4D97-AF65-F5344CB8AC3E}">
        <p14:creationId xmlns:p14="http://schemas.microsoft.com/office/powerpoint/2010/main" val="97238234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CAUSE, DOER, EFFECT, AND SEEKING</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Cause–Doer–Effect Operates at Two Levels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Epistemic level</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Karan is the knowledge-state, karta the human being, and karya wholeness or universal participation made evident in living.</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Existential level</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Coexistence is the ever-present cause, jeevan the doer, and human, deific, or divine status the effect according to awakening.</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Sadhya — the aim</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Awakening and established seer-status: freedom from delusion and capacity to understand, evaluate, and participate.</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Sadhak · sadhan</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human being is the seeker; body together with jeevan is the means, supported by imagination, freedom of action, and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Action must be read with its level specified: ontological cause, epistemic state, human agency, means, result, and wider participation are related without being collapsed.</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AnalyticMadhyasthDarshan.org  ·  12 / 37</a:t>
            </a:r>
          </a:p>
        </p:txBody>
      </p:sp>
    </p:spTree>
    <p:extLst>
      <p:ext uri="{BB962C8B-B14F-4D97-AF65-F5344CB8AC3E}">
        <p14:creationId xmlns:p14="http://schemas.microsoft.com/office/powerpoint/2010/main" val="97238234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F87AA55-C07A-46F9-9D59-4880FCEE8E0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F877BD5F-D585-4828-AA16-1D9379223B7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5E7094E-862B-41C9-B9AB-F55C5EF40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6F4580B-F59E-4C07-9881-23543A32AE0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SEER · DOER · ENJOYER</a:t>
            </a:r>
          </a:p>
        </p:txBody>
      </p:sp>
      <p:sp>
        <p:nvSpPr>
          <p:cNvPr id="207" name="Google Shape;207;p10">
            <a:extLst xmlns:a="http://schemas.openxmlformats.org/drawingml/2006/main">
              <a:ext uri="{FF2B5EF4-FFF2-40B4-BE49-F238E27FC236}">
                <a16:creationId xmlns:a16="http://schemas.microsoft.com/office/drawing/2014/main" id="{2A1653D8-F3A0-453B-A338-12A7CFBCEF1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Seer, Doer, and Enjoyer</a:t>
            </a:r>
          </a:p>
        </p:txBody>
      </p:sp>
      <p:sp>
        <p:nvSpPr>
          <p:cNvPr id="208" name="Google Shape;208;p10">
            <a:extLst xmlns:a="http://schemas.openxmlformats.org/drawingml/2006/main">
              <a:ext uri="{FF2B5EF4-FFF2-40B4-BE49-F238E27FC236}">
                <a16:creationId xmlns:a16="http://schemas.microsoft.com/office/drawing/2014/main" id="{93A60710-C057-478B-AEDF-592ADE633744}"/>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awakened human is seer, doer, and enjoyer in one joint form. Seer-status establishes understanding; doing places it in action; enjoyer-status names the experienced fruit or fruition of action.</a:t>
            </a:r>
          </a:p>
        </p:txBody>
      </p:sp>
      <p:sp>
        <p:nvSpPr>
          <p:cNvPr id="209" name="Google Shape;209;p10">
            <a:extLst xmlns:a="http://schemas.openxmlformats.org/drawingml/2006/main">
              <a:ext uri="{FF2B5EF4-FFF2-40B4-BE49-F238E27FC236}">
                <a16:creationId xmlns:a16="http://schemas.microsoft.com/office/drawing/2014/main" id="{FC5AD1DE-0993-48CE-A457-04C91E2504F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302F08FE-44C1-4A31-9367-D11986B7B2CC}"/>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Seer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understanding</a:t>
            </a:r>
          </a:p>
        </p:txBody>
      </p:sp>
      <p:sp>
        <p:nvSpPr>
          <p:cNvPr id="211" name="Google Shape;211;p10">
            <a:extLst xmlns:a="http://schemas.openxmlformats.org/drawingml/2006/main">
              <a:ext uri="{FF2B5EF4-FFF2-40B4-BE49-F238E27FC236}">
                <a16:creationId xmlns:a16="http://schemas.microsoft.com/office/drawing/2014/main" id="{4BDBB112-0D12-4D7D-80BC-440FA0BF72CF}"/>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realised seeing</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coexistence and relationship known</a:t>
            </a:r>
          </a:p>
        </p:txBody>
      </p:sp>
      <p:sp>
        <p:nvSpPr>
          <p:cNvPr id="212" name="Google Shape;212;p10">
            <a:extLst xmlns:a="http://schemas.openxmlformats.org/drawingml/2006/main">
              <a:ext uri="{FF2B5EF4-FFF2-40B4-BE49-F238E27FC236}">
                <a16:creationId xmlns:a16="http://schemas.microsoft.com/office/drawing/2014/main" id="{F4B31548-3274-45BA-8C29-F735DC21BF8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04B49451-D66A-495D-8D6F-AFD0476ED7A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Doer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action</a:t>
            </a:r>
          </a:p>
        </p:txBody>
      </p:sp>
      <p:sp>
        <p:nvSpPr>
          <p:cNvPr id="214" name="Google Shape;214;p10">
            <a:extLst xmlns:a="http://schemas.openxmlformats.org/drawingml/2006/main">
              <a:ext uri="{FF2B5EF4-FFF2-40B4-BE49-F238E27FC236}">
                <a16:creationId xmlns:a16="http://schemas.microsoft.com/office/drawing/2014/main" id="{A64279CB-EFBE-42AC-AF57-E6BEB134070F}"/>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authentic conduct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work and behaviour aligned</a:t>
            </a:r>
          </a:p>
        </p:txBody>
      </p:sp>
      <p:sp>
        <p:nvSpPr>
          <p:cNvPr id="215" name="Google Shape;215;p10">
            <a:extLst xmlns:a="http://schemas.openxmlformats.org/drawingml/2006/main">
              <a:ext uri="{FF2B5EF4-FFF2-40B4-BE49-F238E27FC236}">
                <a16:creationId xmlns:a16="http://schemas.microsoft.com/office/drawing/2014/main" id="{7C5C6C4F-CC30-416C-86AC-B2641C0C1299}"/>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F972ED4B-3D61-4E47-8C1A-9FC7226A7FD8}"/>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Enjoyer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experienced result</a:t>
            </a:r>
          </a:p>
        </p:txBody>
      </p:sp>
      <p:sp>
        <p:nvSpPr>
          <p:cNvPr id="217" name="Google Shape;217;p10">
            <a:extLst xmlns:a="http://schemas.openxmlformats.org/drawingml/2006/main">
              <a:ext uri="{FF2B5EF4-FFF2-40B4-BE49-F238E27FC236}">
                <a16:creationId xmlns:a16="http://schemas.microsoft.com/office/drawing/2014/main" id="{C2696FDC-6E47-4393-B77E-17FBBEDCE552}"/>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receives fruition; in awakened conduct this supports mutual satisfaction</a:t>
            </a:r>
          </a:p>
        </p:txBody>
      </p:sp>
      <p:sp>
        <p:nvSpPr>
          <p:cNvPr id="218" name="Google Shape;218;p10">
            <a:extLst xmlns:a="http://schemas.openxmlformats.org/drawingml/2006/main">
              <a:ext uri="{FF2B5EF4-FFF2-40B4-BE49-F238E27FC236}">
                <a16:creationId xmlns:a16="http://schemas.microsoft.com/office/drawing/2014/main" id="{CB45AF9C-6E0E-4BC3-9ABD-2927804BA11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0F43803-0A09-45AA-9AAA-5C3552F850AF}"/>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human joint form</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The seer does not withdraw from action.</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The doer is guided by understanding.</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The enjoyer receives the result and evaluates its fit with the accepted aim.</a:t>
            </a:r>
          </a:p>
        </p:txBody>
      </p:sp>
      <p:sp>
        <p:nvSpPr>
          <p:cNvPr id="230" name="Google Shape;230;p10">
            <a:extLst xmlns:a="http://schemas.openxmlformats.org/drawingml/2006/main">
              <a:ext uri="{FF2B5EF4-FFF2-40B4-BE49-F238E27FC236}">
                <a16:creationId xmlns:a16="http://schemas.microsoft.com/office/drawing/2014/main" id="{49CC71E0-2873-4327-84F0-385A2DF85CEA}"/>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Understanding establishes seer-status; embodied activity evidences the doer; experienced result evidences the enjoyer. Mutual satisfaction is one humane result, not the definition of enjoyer-status.</a:t>
            </a:r>
          </a:p>
        </p:txBody>
      </p:sp>
      <p:sp>
        <p:nvSpPr>
          <p:cNvPr id="220" name="Google Shape;220;p10">
            <a:extLst xmlns:a="http://schemas.openxmlformats.org/drawingml/2006/main">
              <a:ext uri="{FF2B5EF4-FFF2-40B4-BE49-F238E27FC236}">
                <a16:creationId xmlns:a16="http://schemas.microsoft.com/office/drawing/2014/main" id="{AE115049-FE9E-4C62-B676-580959BE0961}"/>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§3.18  ·  AnalyticMadhyasthDarshan.org  ·  13 / 37</a:t>
            </a:r>
          </a:p>
        </p:txBody>
      </p:sp>
    </p:spTree>
    <p:extLst>
      <p:ext uri="{BB962C8B-B14F-4D97-AF65-F5344CB8AC3E}">
        <p14:creationId xmlns:p14="http://schemas.microsoft.com/office/powerpoint/2010/main" val="1997788638"/>
      </p:ext>
    </p:extLst>
  </p:cSld>
</p:sld>
</file>

<file path=ppt/slides/slide14.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MOVEMENT TWO  ·  §§1.3 → 1.4</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Who Knows, and What It Governs</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3035808"/>
            <a:ext cx="4846320" cy="1188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Jeevan is the knower; its knowing must govern bodily life, social motive, deliberation, and the order of every activity.</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370832"/>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Answers  ·  How does knowing develop?  ·  Opens  ·  How does error arise?</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6634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The knower, then what it governs  ·  AnalyticMadhyasthDarshan.org  ·  14 / 37</a:t>
            </a:r>
          </a:p>
        </p:txBody>
      </p:sp>
    </p:spTree>
    <p:extLst>
      <p:ext uri="{BB962C8B-B14F-4D97-AF65-F5344CB8AC3E}">
        <p14:creationId xmlns:p14="http://schemas.microsoft.com/office/powerpoint/2010/main" val="98889843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THE ACTIVE KNOWER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Five Loci, Ten Activities, Two Directions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The knower is jeevan: a constitutionally complete sentient unit whose ten activities sit in five loci. The same ten run in two directions.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five loci</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Atma — realisation and authenticity</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Buddhi — enlightenment and resolve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Chitta — contemplation and visualisation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Vritti — deliberation and analysis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Mun — taste and selection</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Two directions</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Inward — reflection: sensation and thought mature toward enlightenment and realisation.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Outward — projection: realisation returns as analysis, selection, work, and behaviour.</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Atma is madhyasth — mediative: its centrality attains the touch of knowledge in every dimension, evident only through integral behaviour and thought.</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72–73, 92–93  ·  KD §3.12  ·  MVD p. 211  ·  AnalyticMadhyasthDarshan.org  ·  15 / 37</a:t>
            </a:r>
          </a:p>
        </p:txBody>
      </p:sp>
    </p:spTree>
    <p:extLst>
      <p:ext uri="{BB962C8B-B14F-4D97-AF65-F5344CB8AC3E}">
        <p14:creationId xmlns:p14="http://schemas.microsoft.com/office/powerpoint/2010/main" val="129021663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REFLECTION AND PROJECTION</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and Doing Form a Recurrent Cycle</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This four-step diagram is a pedagogical synthesis of the textual account: attention and reflection deepen knowing; realisation and projection place it back into action and result.</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Reflection — the knowing direction</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Experience and consequence return through attention. Mun and vritti attend, chitta forms meaning, buddhi resolves, atma realises.</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Projection — the evidencing direction</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Realisation and resolve take form as visualisation, analysis, selection, bodily action, work, behaviour, and communication.</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Each coherent cycle can deepen the next; reflection without projection remains unevidenced, while projection without reflection repeats habit.</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Attention</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Reflection</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Realisation</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Projection</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Result and evaluation return the projected action to renewed attention.</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3.16–3.17  ·  MVD p. 290  ·  JV pp. 92–93  ·  AnalyticMadhyasthDarshan.org  ·  16 / 37</a:t>
            </a:r>
          </a:p>
        </p:txBody>
      </p:sp>
    </p:spTree>
    <p:extLst>
      <p:ext uri="{BB962C8B-B14F-4D97-AF65-F5344CB8AC3E}">
        <p14:creationId xmlns:p14="http://schemas.microsoft.com/office/powerpoint/2010/main" val="28280191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§§1.2, 1.3 · THE FOUR JEEVAN VALUES</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Human Being Seeks Happiness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Happiness</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mun and vritti: selection and deliberation no longer contradict the understood purpose.</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Peace</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vritti and chitta: deliberation and meaning-bearing contemplation are mutually coherent.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Contentment</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chitta and buddhi: contemplation and enlightened resolve are mutually coherent.</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Bliss</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buddhi and atma: resolve and realisation are mutually coherent in awakened jeevan.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These are relations among the activities of jeevan, not quantities on one scale. Material success cannot compensate for unresolved understanding, nor private calm for unjust relationship.</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207–208  ·  JV p. 138  ·  KD p. 112  ·  AnalyticMadhyasthDarshan.org  ·  17 / 37</a:t>
            </a:r>
          </a:p>
        </p:txBody>
      </p:sp>
    </p:spTree>
    <p:extLst>
      <p:ext uri="{BB962C8B-B14F-4D97-AF65-F5344CB8AC3E}">
        <p14:creationId xmlns:p14="http://schemas.microsoft.com/office/powerpoint/2010/main" val="97238234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FORCE AND POWER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Activities Are Legible in a Person</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The ten activities divide again into force and power. Five are projected — named from what becomes observable in a living person. This is what links the faculty account to behaviour.</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Activities of state — force</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Taste — mun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Comparison — vritti</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Contemplation — chitta</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Enlightenment — buddhi</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Realisation — atma</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Activities of motion — power</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Selection — mun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Analysis — vritti</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Desire — chitta</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Resoluteness — buddhi</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Evidence — atma</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Projected, these show as hope, thought, desire, resoluteness, and authenticity — a person's hopes and resolves are therefore epistemic evidence, not private states.</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§3.6, pp. 70–71  ·  KD §3.16, p. 145  ·  AnalyticMadhyasthDarshan.org  ·  18 / 37</a:t>
            </a:r>
          </a:p>
        </p:txBody>
      </p:sp>
    </p:spTree>
    <p:extLst>
      <p:ext uri="{BB962C8B-B14F-4D97-AF65-F5344CB8AC3E}">
        <p14:creationId xmlns:p14="http://schemas.microsoft.com/office/powerpoint/2010/main" val="129021663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THE HUMAN JOINT FORM</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Knows; the Body Mediates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Knowing belongs to jeevan, but human evidence requires the joint form. The body supplies sensory access, brain-mediated signalling, speech, movement, work, and participation with others.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sentient bearer</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Realisation, enlightenment, contemplation, deliberation, selection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Evaluation of relationship and value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Continuity of the knower across bodily change</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Human joint form — lived evidence</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Brain and senses carry signals and bodily conditions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Speech and action place understanding in a shared world</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Work, behaviour, and teaching make claims answerable to result</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texts specify a functional relation between jeevan and the brain; a more precise account of their interaction remains an open task within the exposition.</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83–84, 200  ·  KD §3.16  ·  JV p. 59  ·  AnalyticMadhyasthDarshan.org  ·  19 / 37</a:t>
            </a:r>
          </a:p>
        </p:txBody>
      </p:sp>
    </p:spTree>
    <p:extLst>
      <p:ext uri="{BB962C8B-B14F-4D97-AF65-F5344CB8AC3E}">
        <p14:creationId xmlns:p14="http://schemas.microsoft.com/office/powerpoint/2010/main" val="129021663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SENSITIVITY AND COGNISANCE</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Cognisance Regulates Sensitivity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Cognisance — sangyansheelta</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knowing-and-accepting capacity through which jeevan understands relationship, value, purpose, and orderliness. It gives direction.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Sensitivity — sanvedansheelta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Embodied responsiveness through sound, touch, sight, taste, and smell. It supplies contact and capacity for action, never fulfilment.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Why contact is not enough</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Sensory contact is required for bodily interaction, but repeating it never yields the continuous satisfaction jeevan seeks.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Balance, not suppression</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awakened human regulates sensitivity through cognisance while retaining both — recognising and fulfilling the world proceeds through that balance.</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This is the distinction the next slide's fork turns on: which of the two governs bodily signals, material outcomes, and the selection that follows.</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  MVD pp. 49–51, 166  ·  KD pp. 66–67  ·  AnalyticMadhyasthDarshan.org  ·  20 / 37</a:t>
            </a:r>
          </a:p>
        </p:txBody>
      </p:sp>
    </p:spTree>
    <p:extLst>
      <p:ext uri="{BB962C8B-B14F-4D97-AF65-F5344CB8AC3E}">
        <p14:creationId xmlns:p14="http://schemas.microsoft.com/office/powerpoint/2010/main" val="9723823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THE EPISTEMIC FORK</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Delusion or Awakening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decisive question is not whether jeevan is active, but what its activity takes as the self and what reference points organise attention, desire, thought, resolve, and action.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identifies with the body. Only four-and-a-half activities stay effective: taste, selection, analysis, visualisation, restricted deliberation — mun under lower-conformance.</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knows itself and coexistence. The same faculties align around justice, dharma, and truth — mun under higher-conformance.</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Higher-conformance is inspiration reaching mun from vritti, chitta, buddhi, and atma; lower-conformance is pressure from vitality, senses, body, and habit.</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Body-identification</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Narrow criteria</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Incomplete knowing</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aspiration for happiness remains, while conduct organised by sensation repeatedly fails to secure it. The named failure modes return at slide 32.</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72–74  ·  KD §3.17, p. 147  ·  MVD p. 208  ·  AnalyticMadhyasthDarshan.org  ·  21 / 37</a:t>
            </a:r>
          </a:p>
        </p:txBody>
      </p:sp>
    </p:spTree>
    <p:extLst>
      <p:ext uri="{BB962C8B-B14F-4D97-AF65-F5344CB8AC3E}">
        <p14:creationId xmlns:p14="http://schemas.microsoft.com/office/powerpoint/2010/main" val="156369508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BODILY LIFE</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Propensities, Five Channels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The base field of humane conduct is bodily. Four propensities are engaged through five modes of contact: the four name which propensity is served, the five name how.</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Four vishayas — the propensities</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Eating</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Sleeping</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Protection or defence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Mating</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Five sensory modalities — the channels</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Sound</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Touch</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Visible form</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Taste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Smell</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propensities operate through these channels. The body retains rather than transcends these needs — the issue is governance, not suppression.</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58, 65  ·  AnalyticMadhyasthDarshan.org  ·  22 / 37</a:t>
            </a:r>
          </a:p>
        </p:txBody>
      </p:sp>
    </p:spTree>
    <p:extLst>
      <p:ext uri="{BB962C8B-B14F-4D97-AF65-F5344CB8AC3E}">
        <p14:creationId xmlns:p14="http://schemas.microsoft.com/office/powerpoint/2010/main" val="129021663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SAMADHAN AND THE THREE ESHANAS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Social Motives Need Humane Direction</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Resolution and the three eshanas form the next field, whose satisfaction is intellectual — longer than sensory, short of realisation. Samadhan orients the motives into fields of responsibility.</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c2230a8d1a34101">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Progeny motive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familial continuity, relationship, education in humaneness, and preparation of the next generation for responsible participation.</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2e6d2b79dfe44500">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Wealth motive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production, prosperity, right use, protection of resources, and material sufficiency rather than accumulation without limit.</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e323ef8aef53487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Reputation motive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accountable public participation and contribution to an undivided society rather than status or applause as an end.</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Hoarding is not mature vitteshana, nor fame-seeking mature lokeshana.  ·  MVD pp. 64–65, 303  ·  AnalyticMadhyasthDarshan.org  ·  23 / 37</a:t>
            </a:r>
          </a:p>
        </p:txBody>
      </p:sp>
    </p:spTree>
    <p:extLst>
      <p:ext uri="{BB962C8B-B14F-4D97-AF65-F5344CB8AC3E}">
        <p14:creationId xmlns:p14="http://schemas.microsoft.com/office/powerpoint/2010/main" val="146621908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UPAKAR</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Beneficence Must Increase Capability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Help and inspiration</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MVD defines upakar as help and inspiration for another's prosperity and awakening.</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Not a fourth eshana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It is neither an additional social motive nor an ordinary bodily activity, but a higher-human act.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Resolved capacity</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It applies capacity already resolved in the giver to another's material sufficiency and understanding.</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The test</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Help must increase the other's capability and preserve mutuality between both participants.</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Creating dependency or exploiting vulnerability defeats the stated ends of upakar.</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Upakar is one part of the evidence chain, not the sole proof of knowledge.  ·  MVD p. 73  ·  AnalyticMadhyasthDarshan.org  ·  24 / 37</a:t>
            </a:r>
          </a:p>
        </p:txBody>
      </p:sp>
    </p:spTree>
    <p:extLst>
      <p:ext uri="{BB962C8B-B14F-4D97-AF65-F5344CB8AC3E}">
        <p14:creationId xmlns:p14="http://schemas.microsoft.com/office/powerpoint/2010/main" val="97238234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SIX EVALUATIVE PERSPECTIVES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Deliberation Weighs Six Perspectives</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Priya–apriya  —  Is it pleasant or unpleasant? A sensory reading, and relative.</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Hita–ahita  —  Does it nourish or harm? Bodily health, also relative.</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Labha–alabha  —  Is it gain or loss? Goods, services, exchange, material result.</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Nyaya–anyaya  —  Is it just? Behaviour within a recognised relationship.</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Dharma–adharma  —  Does it sustain resolution and orderly participation?</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Satya–asatya  —  Does understanding accord with realisation in existence?</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first three inform; the last three govern.  ·  MVD pp. 66–67  ·  AnalyticMadhyasthDarshan.org  ·  25 / 37</a:t>
            </a:r>
          </a:p>
        </p:txBody>
      </p:sp>
    </p:spTree>
    <p:extLst>
      <p:ext uri="{BB962C8B-B14F-4D97-AF65-F5344CB8AC3E}">
        <p14:creationId xmlns:p14="http://schemas.microsoft.com/office/powerpoint/2010/main" val="153149057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LAW, REGULATION, AND BALANCE</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Activity Carries Its Own Order</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Niyam — law</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way an activity is protected and disciplined, so that it does not destroy what it depends 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Niyantran — regulation</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Regulation according to that law, not arbitrary external control. Choice stays with the accepted purpose.</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Santulan — balance</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complementarity sustained when activity stays regulated in mutuality, fulfilling both parties.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Justice, dharma, truth</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awakened human's understanding and fulfilment of that order in behaviour, thought, and realisation.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MVD's sequence joins the two triads but does not equate them: niyam is not simply nyaya, niyantran not dharma, santulan not satya.</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Law, regulation, and balance describe the order; justice, dharma, and truth fulfil it.  ·  MVD pp. 70, 137, 174  ·  AnalyticMadhyasthDarshan.org  ·  26 / 37</a:t>
            </a:r>
          </a:p>
        </p:txBody>
      </p:sp>
    </p:spTree>
    <p:extLst>
      <p:ext uri="{BB962C8B-B14F-4D97-AF65-F5344CB8AC3E}">
        <p14:creationId xmlns:p14="http://schemas.microsoft.com/office/powerpoint/2010/main" val="972382345"/>
      </p:ext>
    </p:extLst>
  </p:cSld>
</p:sld>
</file>

<file path=ppt/slides/slide27.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MOVEMENT THREE  ·  §§1.5 → 1.6 → §7</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How Understanding Becomes Evidence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3035808"/>
            <a:ext cx="4846320" cy="1188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Understanding is answerable to relationship, result, correction, and transmission — and the darshan's open problems mark where that stops.</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370832"/>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Answers  ·  How does error arise?  ·  What counts as evidence?</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6634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Evidence, then its limits  ·  AnalyticMadhyasthDarshan.org  ·  27 / 37</a:t>
            </a:r>
          </a:p>
        </p:txBody>
      </p:sp>
    </p:spTree>
    <p:extLst>
      <p:ext uri="{BB962C8B-B14F-4D97-AF65-F5344CB8AC3E}">
        <p14:creationId xmlns:p14="http://schemas.microsoft.com/office/powerpoint/2010/main" val="98889843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§1.6 · THE EVIDENCE CHAIN</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Darshan's Own Evidence Regime</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MVD p. 12 states the chain: realisation → evidence → understanding → manifest → resolution, work and behaviour → evidence → awakened tradition → coexistence. Its practical sequence is realisation, behaviour, experiment.</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 the inward term</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knower directly understands coexistence, jeevan, and humane conduct. First-person — but not private immunity from examination.</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Behaviour — the relational term</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Recognition and fulfilment of values make understanding visible in family and social relationships, where mutual satisfaction can be assessed.</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Experiment — the practical term</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Work, production, and lived participation expose understanding to material conditions, consequence, and correction — not only controlled procedure.</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Awakened tradition — the terminus</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chain closes where it began: evidence becomes awakened tradition, and awakened tradition is coexistence. Understanding must be independently liveable.</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First-person, second-person, and public results must all cohere.  ·  MVD p. 12  ·  AnalyticMadhyasthDarshan.org  ·  28 / 37</a:t>
            </a:r>
          </a:p>
        </p:txBody>
      </p:sp>
    </p:spTree>
    <p:extLst>
      <p:ext uri="{BB962C8B-B14F-4D97-AF65-F5344CB8AC3E}">
        <p14:creationId xmlns:p14="http://schemas.microsoft.com/office/powerpoint/2010/main" val="162786451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 · FROM UNDERSTANDING TO JUSTICE</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Must Continue Through Evaluation</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Knowledge becomes effective through knowing and believing, then recognising actual relationships, fulfilling their values with capacity, and evaluating the result. Correct intention alone does not complete conduct.</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Understanding</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Know what is believed and believe what is known. Acceptance without understanding is inherited belief; understanding without acceptance remains ineffectual.</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Justice</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Recognition, fulfilment, evaluation, and mutual satisfaction complete the sequence in relationship. Mutual satisfaction is the outcome, not a fifth jeevan value.</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Fulfilment depends on capacity, ability, receptivity, other people, and conditions; evaluation asks what was actually fulfilled and what must be corrected.</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 + Believing</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Evaluating</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310–311  ·  JV p. 55  ·  SB p. 64  ·  AnalyticMadhyasthDarshan.org  ·  29 / 37</a:t>
            </a:r>
          </a:p>
        </p:txBody>
      </p:sp>
    </p:spTree>
    <p:extLst>
      <p:ext uri="{BB962C8B-B14F-4D97-AF65-F5344CB8AC3E}">
        <p14:creationId xmlns:p14="http://schemas.microsoft.com/office/powerpoint/2010/main" val="28280191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D8C44D5D-501D-4ADD-AD77-849A5C18CAB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B5E549B8-81AB-45EC-8CFC-D2CA652C0A8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A54D5007-CCD2-4F26-8CC6-F868BF1E970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D70F719C-487C-4441-9235-7EFAED1AD66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 · KARMA AS AN EPISTEMIC STRUCTURE</a:t>
            </a:r>
          </a:p>
        </p:txBody>
      </p:sp>
      <p:sp>
        <p:nvSpPr>
          <p:cNvPr id="207" name="Google Shape;207;p10">
            <a:extLst xmlns:a="http://schemas.openxmlformats.org/drawingml/2006/main">
              <a:ext uri="{FF2B5EF4-FFF2-40B4-BE49-F238E27FC236}">
                <a16:creationId xmlns:a16="http://schemas.microsoft.com/office/drawing/2014/main" id="{027F4B39-FE08-4239-B5B9-24047AEFD07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Every Karma Has a Structure</a:t>
            </a:r>
          </a:p>
        </p:txBody>
      </p:sp>
      <p:sp>
        <p:nvSpPr>
          <p:cNvPr id="208" name="Google Shape;208;p10">
            <a:extLst xmlns:a="http://schemas.openxmlformats.org/drawingml/2006/main">
              <a:ext uri="{FF2B5EF4-FFF2-40B4-BE49-F238E27FC236}">
                <a16:creationId xmlns:a16="http://schemas.microsoft.com/office/drawing/2014/main" id="{741AE175-DEFC-4F60-B381-203027BA95F6}"/>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Activity together with aspiration is karma. Every intentional action contains a doer, cause, objective, result, and effect. Knowledge therefore becomes answerable to consequence: an intention is not sufficient, and a result cannot be judged without its aim, means, and reach.</a:t>
            </a:r>
          </a:p>
        </p:txBody>
      </p:sp>
      <p:sp>
        <p:nvSpPr>
          <p:cNvPr id="209" name="Google Shape;209;p10">
            <a:extLst xmlns:a="http://schemas.openxmlformats.org/drawingml/2006/main">
              <a:ext uri="{FF2B5EF4-FFF2-40B4-BE49-F238E27FC236}">
                <a16:creationId xmlns:a16="http://schemas.microsoft.com/office/drawing/2014/main" id="{40E90AF3-7C0B-414F-BFA5-76651805018F}"/>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8B3C9E0B-FD3C-4351-A46E-7AAB0897E2B3}"/>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EEE5DD52-D5EC-4C58-89FC-5FE511C3AA7C}"/>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is sought?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would count as fulfilment?</a:t>
            </a:r>
          </a:p>
        </p:txBody>
      </p:sp>
      <p:sp>
        <p:nvSpPr>
          <p:cNvPr id="212" name="Google Shape;212;p10">
            <a:extLst xmlns:a="http://schemas.openxmlformats.org/drawingml/2006/main">
              <a:ext uri="{FF2B5EF4-FFF2-40B4-BE49-F238E27FC236}">
                <a16:creationId xmlns:a16="http://schemas.microsoft.com/office/drawing/2014/main" id="{8A14A1E1-DDCD-48BA-BD6A-18F75399817D}"/>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705AAF4A-03F9-490F-8C91-5BFBB60DB88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754F613E-50B8-461A-B297-60811F1325B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is chosen and done?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With what capacity and means?</a:t>
            </a:r>
          </a:p>
        </p:txBody>
      </p:sp>
      <p:sp>
        <p:nvSpPr>
          <p:cNvPr id="215" name="Google Shape;215;p10">
            <a:extLst xmlns:a="http://schemas.openxmlformats.org/drawingml/2006/main">
              <a:ext uri="{FF2B5EF4-FFF2-40B4-BE49-F238E27FC236}">
                <a16:creationId xmlns:a16="http://schemas.microsoft.com/office/drawing/2014/main" id="{F88BEB0C-84E7-4A49-B219-19891674BFA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9DD5ADEA-27F1-42B0-80E5-528A0299E44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E618571F-D08F-4E64-8E94-753DA07D5518}"/>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actually follows?</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Does it satisfy the accepted aim?</a:t>
            </a:r>
          </a:p>
        </p:txBody>
      </p:sp>
      <p:sp>
        <p:nvSpPr>
          <p:cNvPr id="218" name="Google Shape;218;p10">
            <a:extLst xmlns:a="http://schemas.openxmlformats.org/drawingml/2006/main">
              <a:ext uri="{FF2B5EF4-FFF2-40B4-BE49-F238E27FC236}">
                <a16:creationId xmlns:a16="http://schemas.microsoft.com/office/drawing/2014/main" id="{3CDCBBCF-22EF-41F8-AB07-7323F6EEF8F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3C3D9C5A-5A60-435C-AFD8-FC7FEA4C38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 — its wider reach</a:t>
            </a:r>
          </a:p>
        </p:txBody>
      </p:sp>
      <p:sp>
        <p:nvSpPr>
          <p:cNvPr id="220" name="Google Shape;220;p10">
            <a:extLst xmlns:a="http://schemas.openxmlformats.org/drawingml/2006/main">
              <a:ext uri="{FF2B5EF4-FFF2-40B4-BE49-F238E27FC236}">
                <a16:creationId xmlns:a16="http://schemas.microsoft.com/office/drawing/2014/main" id="{02346A13-3B96-4D65-9B6D-3DD3C93CCFC2}"/>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Ch. 1, pp. 1–2  ·  AnalyticMadhyasthDarshan.org  ·  30 / 37</a:t>
            </a:r>
          </a:p>
        </p:txBody>
      </p:sp>
    </p:spTree>
    <p:extLst>
      <p:ext uri="{BB962C8B-B14F-4D97-AF65-F5344CB8AC3E}">
        <p14:creationId xmlns:p14="http://schemas.microsoft.com/office/powerpoint/2010/main" val="36035657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0F6F6308-49A9-4949-8133-7A4B8D63F9A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9E8F1DE-F1DF-4848-BA7D-7C49B9B5892E}"/>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4DE02D1D-3BF7-415D-933B-DCE959E217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E1D7F4A-5B9C-4DD7-9B26-50E482087E2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 · RESULT · EVALUATION · CORRECTION</a:t>
            </a:r>
          </a:p>
        </p:txBody>
      </p:sp>
      <p:sp>
        <p:nvSpPr>
          <p:cNvPr id="207" name="Google Shape;207;p10">
            <a:extLst xmlns:a="http://schemas.openxmlformats.org/drawingml/2006/main">
              <a:ext uri="{FF2B5EF4-FFF2-40B4-BE49-F238E27FC236}">
                <a16:creationId xmlns:a16="http://schemas.microsoft.com/office/drawing/2014/main" id="{9DA2ADB1-085E-4F3D-8591-A4CAA3B47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Consequence Returns as Evidence</a:t>
            </a:r>
          </a:p>
        </p:txBody>
      </p:sp>
      <p:sp>
        <p:nvSpPr>
          <p:cNvPr id="208" name="Google Shape;208;p10">
            <a:extLst xmlns:a="http://schemas.openxmlformats.org/drawingml/2006/main">
              <a:ext uri="{FF2B5EF4-FFF2-40B4-BE49-F238E27FC236}">
                <a16:creationId xmlns:a16="http://schemas.microsoft.com/office/drawing/2014/main" id="{DA9BB04D-D913-4523-81E7-00E1AA087833}"/>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Result is not the end of the process. It returns through evaluation: did the relationship, purpose, and value become fulfilled? The answer may confirm understanding or expose where conception, recognition, capacity, or action was incomplete.</a:t>
            </a:r>
          </a:p>
        </p:txBody>
      </p:sp>
      <p:sp>
        <p:nvSpPr>
          <p:cNvPr id="209" name="Google Shape;209;p10">
            <a:extLst xmlns:a="http://schemas.openxmlformats.org/drawingml/2006/main">
              <a:ext uri="{FF2B5EF4-FFF2-40B4-BE49-F238E27FC236}">
                <a16:creationId xmlns:a16="http://schemas.microsoft.com/office/drawing/2014/main" id="{E07044AB-A602-48CC-A073-1CD528E4A81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F655FD5C-DA9F-4C08-8056-B01001D7779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occurred</a:t>
            </a:r>
          </a:p>
        </p:txBody>
      </p:sp>
      <p:sp>
        <p:nvSpPr>
          <p:cNvPr id="211" name="Google Shape;211;p10">
            <a:extLst xmlns:a="http://schemas.openxmlformats.org/drawingml/2006/main">
              <a:ext uri="{FF2B5EF4-FFF2-40B4-BE49-F238E27FC236}">
                <a16:creationId xmlns:a16="http://schemas.microsoft.com/office/drawing/2014/main" id="{23DCB742-F79A-46D6-BA0A-BCC6B6B8EEC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the fruit and effect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of action in context</a:t>
            </a:r>
          </a:p>
        </p:txBody>
      </p:sp>
      <p:sp>
        <p:nvSpPr>
          <p:cNvPr id="212" name="Google Shape;212;p10">
            <a:extLst xmlns:a="http://schemas.openxmlformats.org/drawingml/2006/main">
              <a:ext uri="{FF2B5EF4-FFF2-40B4-BE49-F238E27FC236}">
                <a16:creationId xmlns:a16="http://schemas.microsoft.com/office/drawing/2014/main" id="{DD51200B-2239-4831-B120-9B09B1D05FF7}"/>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808B275-8C68-433C-A839-2A80696710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Evaluation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it means</a:t>
            </a:r>
          </a:p>
        </p:txBody>
      </p:sp>
      <p:sp>
        <p:nvSpPr>
          <p:cNvPr id="214" name="Google Shape;214;p10">
            <a:extLst xmlns:a="http://schemas.openxmlformats.org/drawingml/2006/main">
              <a:ext uri="{FF2B5EF4-FFF2-40B4-BE49-F238E27FC236}">
                <a16:creationId xmlns:a16="http://schemas.microsoft.com/office/drawing/2014/main" id="{CA811637-F15A-4274-8069-7399ED0947C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compare result with</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relationship and aim</a:t>
            </a:r>
          </a:p>
        </p:txBody>
      </p:sp>
      <p:sp>
        <p:nvSpPr>
          <p:cNvPr id="215" name="Google Shape;215;p10">
            <a:extLst xmlns:a="http://schemas.openxmlformats.org/drawingml/2006/main">
              <a:ext uri="{FF2B5EF4-FFF2-40B4-BE49-F238E27FC236}">
                <a16:creationId xmlns:a16="http://schemas.microsoft.com/office/drawing/2014/main" id="{6026B273-96E7-4273-B0F2-02AC014BAF62}"/>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5B0B964-BFCC-4FD1-8512-B70759072447}"/>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Sanskar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is carried forward</a:t>
            </a:r>
          </a:p>
        </p:txBody>
      </p:sp>
      <p:sp>
        <p:nvSpPr>
          <p:cNvPr id="217" name="Google Shape;217;p10">
            <a:extLst xmlns:a="http://schemas.openxmlformats.org/drawingml/2006/main">
              <a:ext uri="{FF2B5EF4-FFF2-40B4-BE49-F238E27FC236}">
                <a16:creationId xmlns:a16="http://schemas.microsoft.com/office/drawing/2014/main" id="{3C8693FE-21BD-448C-B3DC-842DF5574CEE}"/>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corrected acceptance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shapes later projection</a:t>
            </a:r>
          </a:p>
        </p:txBody>
      </p:sp>
      <p:sp>
        <p:nvSpPr>
          <p:cNvPr id="218" name="Google Shape;218;p10">
            <a:extLst xmlns:a="http://schemas.openxmlformats.org/drawingml/2006/main">
              <a:ext uri="{FF2B5EF4-FFF2-40B4-BE49-F238E27FC236}">
                <a16:creationId xmlns:a16="http://schemas.microsoft.com/office/drawing/2014/main" id="{8EB12E16-06CA-4844-9D94-903DB081FCC5}"/>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9284BC00-0E75-4B20-9DC9-46F0B4A2CE8E}"/>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Three evaluation errors</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Over-evaluation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Under-evaluation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Mis-evaluation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Each can preserve contradiction while appearing certain.</a:t>
            </a:r>
          </a:p>
        </p:txBody>
      </p:sp>
      <p:sp>
        <p:nvSpPr>
          <p:cNvPr id="220" name="Google Shape;220;p10">
            <a:extLst xmlns:a="http://schemas.openxmlformats.org/drawingml/2006/main">
              <a:ext uri="{FF2B5EF4-FFF2-40B4-BE49-F238E27FC236}">
                <a16:creationId xmlns:a16="http://schemas.microsoft.com/office/drawing/2014/main" id="{18DD3430-A1FC-4786-A89B-7568D98DA23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Consequence becomes material for corrected understanding. — MVD pp. 90, 263–264, 290 · KD Ch. 1  ·  AnalyticMadhyasthDarshan.org  ·  31 / 37</a:t>
            </a:r>
          </a:p>
        </p:txBody>
      </p:sp>
    </p:spTree>
    <p:extLst>
      <p:ext uri="{BB962C8B-B14F-4D97-AF65-F5344CB8AC3E}">
        <p14:creationId xmlns:p14="http://schemas.microsoft.com/office/powerpoint/2010/main" val="183672015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§§1.5–1.6 · ERROR AND CORRECTION</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Failures Block Knowing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Error is diagnosed by where the knowing process loses contact with reality, self, relationship, or result. Information and confidence can remain high while the deeper sequence is broken.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 — bhram</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is identified with the body; sensitivity becomes the governing reference, and believing separates from knowing.</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Intellectual mystery — bauddhik rahasya</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Reflection does not reach realisation, or realisation does not project as evidence; the faculties remain misaligned.</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False learning is the middle failure: form, property, essential nature, or dharma is not understood as it is, producing doubt, over-evaluation, under-evaluation, and mis-evaluation.</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Doubt</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Mis-evaluation</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Correction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Correction requires renewed attention, action, result, and evaluation — not a stronger assertion of the belief. Slide 21 named the condition; these are its failure modes.</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93  ·  MVD pp. 184, 209, 263–264, 317  ·  AnalyticMadhyasthDarshan.org  ·  32 / 37</a:t>
            </a:r>
          </a:p>
        </p:txBody>
      </p:sp>
    </p:spTree>
    <p:extLst>
      <p:ext uri="{BB962C8B-B14F-4D97-AF65-F5344CB8AC3E}">
        <p14:creationId xmlns:p14="http://schemas.microsoft.com/office/powerpoint/2010/main" val="156369508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§1.6 · DIRECT ACCESSIBILITY AND REALISATION</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Nearby Epistemic Terms Must Remain Distinct</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Sensory contact</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Indriya-sannikarsha is bodily contact through the five senses. It supplies conditions for cognition but is not itself complete knowledge.</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Pratyaksha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Direct accessibility is not exhausted by sense–object contact; developed attention can bring form, property, essential nature, and dharma into proximity.</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Sakshatkar · bodh</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Sakshatkar is chitta's direct recognition or acceptance of meaning; bodh is enlightenment and resolve in buddhi.</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Anubhav</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in atma integrates understanding and bears authenticity. It must project as coherent explanation, behaviour, work, and evaluation.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Inference and testimony remain cognitive routes, but sensory contact, pratyaksha, sakshatkar, bodh, and anubhav name different relations and activities.</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pp. 20–21, §3.17  ·  MVD pp. 35, 273–301, 317  ·  AnalyticMadhyasthDarshan.org  ·  33 / 37</a:t>
            </a:r>
          </a:p>
        </p:txBody>
      </p:sp>
    </p:spTree>
    <p:extLst>
      <p:ext uri="{BB962C8B-B14F-4D97-AF65-F5344CB8AC3E}">
        <p14:creationId xmlns:p14="http://schemas.microsoft.com/office/powerpoint/2010/main" val="97238234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1F4410D1-34DA-403C-BA40-152307643EA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57798501-B417-480F-AC34-D64B712241D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A0FC3A8A-6709-413A-BDD8-5A0954629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5A521877-D588-43D4-BAE5-E430C7E42C6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§1.6 · STUDY, TRANSMISSION, AND PUBLIC LEGIBILITY</a:t>
            </a:r>
          </a:p>
        </p:txBody>
      </p:sp>
      <p:sp>
        <p:nvSpPr>
          <p:cNvPr id="377" name="Google Shape;377;p16">
            <a:extLst xmlns:a="http://schemas.openxmlformats.org/drawingml/2006/main">
              <a:ext uri="{FF2B5EF4-FFF2-40B4-BE49-F238E27FC236}">
                <a16:creationId xmlns:a16="http://schemas.microsoft.com/office/drawing/2014/main" id="{E43344FB-5441-428B-858A-376598E0736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Understanding Must Be Conveyable</a:t>
            </a:r>
          </a:p>
        </p:txBody>
      </p:sp>
      <p:sp>
        <p:nvSpPr>
          <p:cNvPr id="378" name="Google Shape;378;p16">
            <a:extLst xmlns:a="http://schemas.openxmlformats.org/drawingml/2006/main">
              <a:ext uri="{FF2B5EF4-FFF2-40B4-BE49-F238E27FC236}">
                <a16:creationId xmlns:a16="http://schemas.microsoft.com/office/drawing/2014/main" id="{4A1B57B2-5A19-4109-8BC2-FD0068E74C10}"/>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primary texts do not present one canonical ladder with these exact labels. This pedagogical reconstruction shows a recurrent movement from language toward meaning, enlightenment, realisation, and evidence.</a:t>
            </a:r>
          </a:p>
        </p:txBody>
      </p:sp>
      <p:sp>
        <p:nvSpPr>
          <p:cNvPr id="379" name="Google Shape;379;p16">
            <a:extLst xmlns:a="http://schemas.openxmlformats.org/drawingml/2006/main">
              <a:ext uri="{FF2B5EF4-FFF2-40B4-BE49-F238E27FC236}">
                <a16:creationId xmlns:a16="http://schemas.microsoft.com/office/drawing/2014/main" id="{0C65F213-D3FF-4033-8FF4-F464BB3FEFC5}"/>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2BA11955-42B7-4E6A-9D50-483C0F1E2B03}"/>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Study</a:t>
            </a:r>
          </a:p>
        </p:txBody>
      </p:sp>
      <p:sp>
        <p:nvSpPr>
          <p:cNvPr id="381" name="Google Shape;381;p16">
            <a:extLst xmlns:a="http://schemas.openxmlformats.org/drawingml/2006/main">
              <a:ext uri="{FF2B5EF4-FFF2-40B4-BE49-F238E27FC236}">
                <a16:creationId xmlns:a16="http://schemas.microsoft.com/office/drawing/2014/main" id="{D2FA9C2B-589C-41D2-8CFF-AB1AC5486FFF}"/>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Language and information provide an occasion for definition, comparison, reflection, practice, behaviour, work, and evaluation.</a:t>
            </a:r>
          </a:p>
        </p:txBody>
      </p:sp>
      <p:sp>
        <p:nvSpPr>
          <p:cNvPr id="382" name="Google Shape;382;p16">
            <a:extLst xmlns:a="http://schemas.openxmlformats.org/drawingml/2006/main">
              <a:ext uri="{FF2B5EF4-FFF2-40B4-BE49-F238E27FC236}">
                <a16:creationId xmlns:a16="http://schemas.microsoft.com/office/drawing/2014/main" id="{3E5963D1-687E-4B0D-A4BC-81515DCA8F9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749BA66B-749E-4508-9224-A8B6B35C4EE7}"/>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Guidance and tradition</a:t>
            </a:r>
          </a:p>
        </p:txBody>
      </p:sp>
      <p:sp>
        <p:nvSpPr>
          <p:cNvPr id="384" name="Google Shape;384;p16">
            <a:extLst xmlns:a="http://schemas.openxmlformats.org/drawingml/2006/main">
              <a:ext uri="{FF2B5EF4-FFF2-40B4-BE49-F238E27FC236}">
                <a16:creationId xmlns:a16="http://schemas.microsoft.com/office/drawing/2014/main" id="{ABB1D9B7-20F3-4509-B978-5CB9C2F9ACB1}"/>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An evidence-bearing teacher helps direct attention; the learner must move beyond repetition and become independently capable of understanding and evidence.</a:t>
            </a:r>
          </a:p>
        </p:txBody>
      </p:sp>
      <p:sp>
        <p:nvSpPr>
          <p:cNvPr id="385" name="Google Shape;385;p16">
            <a:extLst xmlns:a="http://schemas.openxmlformats.org/drawingml/2006/main">
              <a:ext uri="{FF2B5EF4-FFF2-40B4-BE49-F238E27FC236}">
                <a16:creationId xmlns:a16="http://schemas.microsoft.com/office/drawing/2014/main" id="{C211B686-08B8-4796-9457-DF5FDC567BB4}"/>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Comprehension is tested by the capacity to convey it. Conveyance requires more than fluency: the learner must explain, live, and evaluate without contradiction.</a:t>
            </a:r>
          </a:p>
        </p:txBody>
      </p:sp>
      <p:sp>
        <p:nvSpPr>
          <p:cNvPr id="386" name="Google Shape;386;p16">
            <a:extLst xmlns:a="http://schemas.openxmlformats.org/drawingml/2006/main">
              <a:ext uri="{FF2B5EF4-FFF2-40B4-BE49-F238E27FC236}">
                <a16:creationId xmlns:a16="http://schemas.microsoft.com/office/drawing/2014/main" id="{E05A1985-6023-4BD0-BB78-6DB460175203}"/>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C834254-7B57-4112-A7C3-D8D4285FAA5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Language + information</a:t>
            </a:r>
          </a:p>
        </p:txBody>
      </p:sp>
      <p:sp>
        <p:nvSpPr>
          <p:cNvPr id="388" name="Google Shape;388;p16">
            <a:extLst xmlns:a="http://schemas.openxmlformats.org/drawingml/2006/main">
              <a:ext uri="{FF2B5EF4-FFF2-40B4-BE49-F238E27FC236}">
                <a16:creationId xmlns:a16="http://schemas.microsoft.com/office/drawing/2014/main" id="{FD9F1E8A-7EB2-40EE-9C81-2BC418DBA25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6AC2E7C-8F0D-4288-83AD-96BC81D0DCB5}"/>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4D7E7337-4D80-469A-9F92-52CF41272E7F}"/>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 + believing</a:t>
            </a:r>
          </a:p>
        </p:txBody>
      </p:sp>
      <p:sp>
        <p:nvSpPr>
          <p:cNvPr id="391" name="Google Shape;391;p16">
            <a:extLst xmlns:a="http://schemas.openxmlformats.org/drawingml/2006/main">
              <a:ext uri="{FF2B5EF4-FFF2-40B4-BE49-F238E27FC236}">
                <a16:creationId xmlns:a16="http://schemas.microsoft.com/office/drawing/2014/main" id="{4E67D567-6A22-476C-A7E6-1E625917B66C}"/>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0BCED3E7-79B9-4020-8C22-97155CEDC377}"/>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F06F3ACC-BA7E-49E1-BDC3-03810BEB58BC}"/>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Sakshatkar + bodh</a:t>
            </a:r>
          </a:p>
        </p:txBody>
      </p:sp>
      <p:sp>
        <p:nvSpPr>
          <p:cNvPr id="394" name="Google Shape;394;p16">
            <a:extLst xmlns:a="http://schemas.openxmlformats.org/drawingml/2006/main">
              <a:ext uri="{FF2B5EF4-FFF2-40B4-BE49-F238E27FC236}">
                <a16:creationId xmlns:a16="http://schemas.microsoft.com/office/drawing/2014/main" id="{F3B37F53-63C1-4CA4-A133-2664FB83F5E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8828DA70-5489-4652-A619-21DAE49E47C1}"/>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282BD5CD-04DF-4D29-A610-770B6F3CB25F}"/>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Anubhav + evidence</a:t>
            </a:r>
          </a:p>
        </p:txBody>
      </p:sp>
      <p:sp>
        <p:nvSpPr>
          <p:cNvPr id="397" name="Google Shape;397;p16">
            <a:extLst xmlns:a="http://schemas.openxmlformats.org/drawingml/2006/main">
              <a:ext uri="{FF2B5EF4-FFF2-40B4-BE49-F238E27FC236}">
                <a16:creationId xmlns:a16="http://schemas.microsoft.com/office/drawing/2014/main" id="{CB0BFA60-DD9E-4D48-AACF-B0609CA36304}"/>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Transmission matters because knowledge claims to be universally accessible, not a private revelation that must remain ineffable.</a:t>
            </a:r>
          </a:p>
        </p:txBody>
      </p:sp>
      <p:sp>
        <p:nvSpPr>
          <p:cNvPr id="398" name="Google Shape;398;p16">
            <a:extLst xmlns:a="http://schemas.openxmlformats.org/drawingml/2006/main">
              <a:ext uri="{FF2B5EF4-FFF2-40B4-BE49-F238E27FC236}">
                <a16:creationId xmlns:a16="http://schemas.microsoft.com/office/drawing/2014/main" id="{0E91AA63-5AA4-4877-B75E-6BE3FEA8018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35, 90, 273–301, 317  ·  JV p. 26  ·  AnalyticMadhyasthDarshan.org  ·  34 / 37</a:t>
            </a:r>
          </a:p>
        </p:txBody>
      </p:sp>
    </p:spTree>
    <p:extLst>
      <p:ext uri="{BB962C8B-B14F-4D97-AF65-F5344CB8AC3E}">
        <p14:creationId xmlns:p14="http://schemas.microsoft.com/office/powerpoint/2010/main" val="170148834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§§7.2, 7.6–7.7 · OPEN PROBLEMS</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Conduct-Evidence Cannot Settle</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Coherence is not substitution — admirable conduct does not verify a cosmology, and a successful production method does not verify the constitution of jeevan.</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Some claims need domain-appropriate tests — physical process, neural causation, and post-death continuity are not settled by relationship or work.</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The practical discriminations are still owed — restraint from repression, prosperity from accumulation, beneficence from dependency, stable harmony from temporary affect.</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framework is strongest when mixed cases and evidential boundaries are stated plainly rather than absorbed into a claim of awakening.  ·  AnalyticMadhyasthDarshan.org  ·  35 / 37</a:t>
            </a:r>
          </a:p>
        </p:txBody>
      </p:sp>
    </p:spTree>
    <p:extLst>
      <p:ext uri="{BB962C8B-B14F-4D97-AF65-F5344CB8AC3E}">
        <p14:creationId xmlns:p14="http://schemas.microsoft.com/office/powerpoint/2010/main" val="175942399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WHAT MADHYASTH DARSHAN ESTABLISHES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Answered</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Realised understanding of coexistence, jeevan, and humane conduct that becomes resolution and guides right participation.</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Jeevan, active through the human joint form as seer, doer, enjoyer, evaluator, and communicator.</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Coexistence: units, orders, relationships, values, self, bodily conditions, and humane participation.</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occur?  —  Through jeevan's coordinated activities, cognisance regulating sensitivity, disciplined study, and recurrent reflection–projection.</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is error corrected?  —  Through renewed attention, action, result, evaluation, practical discrimination, and correction.</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Coherence across realisation, relationship, mutual satisfaction, work, ecological practice, upakar, conveyance, and corrigible tradition.</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Knowledge is complete when knower, known, conduct, and the human aspiration for happiness no longer contradict one another.  ·  AnalyticMadhyasthDarshan.org  ·  36 / 37</a:t>
            </a:r>
          </a:p>
        </p:txBody>
      </p:sp>
    </p:spTree>
    <p:extLst>
      <p:ext uri="{BB962C8B-B14F-4D97-AF65-F5344CB8AC3E}">
        <p14:creationId xmlns:p14="http://schemas.microsoft.com/office/powerpoint/2010/main" val="1531490578"/>
      </p:ext>
    </p:extLst>
  </p:cSld>
</p:sld>
</file>

<file path=ppt/slides/slide37.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4FB85A2A-099A-414A-9422-3B8828DC4E86}"/>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6320C987-42BA-4D26-B8E9-5ECAC8AA5504}"/>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00020F55-D28C-4073-97A4-F29AFE0B799F}"/>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42DC5DE7-F94B-42C6-9FCD-8076C9EE8229}"/>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3362136E-83B7-49E7-88EB-D7474C2A2CB2}"/>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464F7684-5F04-41CB-8A74-7D300CC8B87E}"/>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C35762A0-8E7E-4035-8F94-9548A7D7DF80}"/>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CBCAF54B-4CF2-4CDD-880C-2FE9F861F4C7}"/>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9DF86AA9-4BDE-4C84-81E6-0676825F904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C6E19649-B92B-43DC-BDA2-FFE380782AAB}"/>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HUMAN GOALS AND JEEVAN VALUES</a:t>
            </a:r>
          </a:p>
        </p:txBody>
      </p:sp>
      <p:sp>
        <p:nvSpPr>
          <p:cNvPr id="519" name="Google Shape;519;p21">
            <a:extLst xmlns:a="http://schemas.openxmlformats.org/drawingml/2006/main">
              <a:ext uri="{FF2B5EF4-FFF2-40B4-BE49-F238E27FC236}">
                <a16:creationId xmlns:a16="http://schemas.microsoft.com/office/drawing/2014/main" id="{D0BA75A5-EF97-441A-8D22-E7230E7466C6}"/>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5A4AFEEF-A375-4785-A084-77D9213BAE88}"/>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is complete when realisation regulates embodied life and coheres across relationship, work, evaluation, upakar, and transmission.</a:t>
            </a:r>
          </a:p>
        </p:txBody>
      </p:sp>
      <p:sp>
        <p:nvSpPr>
          <p:cNvPr id="600" name="Google Shape;600;p21">
            <a:extLst xmlns:a="http://schemas.openxmlformats.org/drawingml/2006/main">
              <a:ext uri="{FF2B5EF4-FFF2-40B4-BE49-F238E27FC236}">
                <a16:creationId xmlns:a16="http://schemas.microsoft.com/office/drawing/2014/main" id="{590CE55E-DD43-41C7-AA38-D8648415BCB0}"/>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6C56763D-B377-44F0-AAAE-98FAABE48327}"/>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BDEE3FAF-ADA0-446F-8BC9-EAB8772E0A94}"/>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Happiness</a:t>
            </a:r>
          </a:p>
        </p:txBody>
      </p:sp>
      <p:sp>
        <p:nvSpPr>
          <p:cNvPr id="603" name="Google Shape;603;p21">
            <a:extLst xmlns:a="http://schemas.openxmlformats.org/drawingml/2006/main">
              <a:ext uri="{FF2B5EF4-FFF2-40B4-BE49-F238E27FC236}">
                <a16:creationId xmlns:a16="http://schemas.microsoft.com/office/drawing/2014/main" id="{16E167EE-2B1F-45F5-915F-B9860B144388}"/>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333E855D-FE8F-4100-A0EB-55E495D61EA5}"/>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1A7194A9-3F87-43D5-99B4-337E53E6EF00}"/>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Peace</a:t>
            </a:r>
          </a:p>
        </p:txBody>
      </p:sp>
      <p:sp>
        <p:nvSpPr>
          <p:cNvPr id="606" name="Google Shape;606;p21">
            <a:extLst xmlns:a="http://schemas.openxmlformats.org/drawingml/2006/main">
              <a:ext uri="{FF2B5EF4-FFF2-40B4-BE49-F238E27FC236}">
                <a16:creationId xmlns:a16="http://schemas.microsoft.com/office/drawing/2014/main" id="{C3521EAA-AB17-463A-AD9E-49776FAF7844}"/>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3B6AC30A-51DD-4511-87D9-DC80BF7110D3}"/>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CE106080-6BC8-4C9D-9828-F961388FE158}"/>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Contentment</a:t>
            </a:r>
          </a:p>
        </p:txBody>
      </p:sp>
      <p:sp>
        <p:nvSpPr>
          <p:cNvPr id="609" name="Google Shape;609;p21">
            <a:extLst xmlns:a="http://schemas.openxmlformats.org/drawingml/2006/main">
              <a:ext uri="{FF2B5EF4-FFF2-40B4-BE49-F238E27FC236}">
                <a16:creationId xmlns:a16="http://schemas.microsoft.com/office/drawing/2014/main" id="{EF3A2139-2F60-4BA2-8F63-0609C91B0504}"/>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18D1C599-E620-41F7-9278-C9C54E5373BB}"/>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5B3F9C4C-34A5-4CA8-8A8B-B7AD787EACFD}"/>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Bliss</a:t>
            </a:r>
          </a:p>
        </p:txBody>
      </p:sp>
      <p:sp>
        <p:nvSpPr>
          <p:cNvPr id="522" name="Google Shape;522;p21">
            <a:extLst xmlns:a="http://schemas.openxmlformats.org/drawingml/2006/main">
              <a:ext uri="{FF2B5EF4-FFF2-40B4-BE49-F238E27FC236}">
                <a16:creationId xmlns:a16="http://schemas.microsoft.com/office/drawing/2014/main" id="{BCDF39BB-3829-4443-8D24-A01BD8E335CC}"/>
              </a:ext>
            </a:extLst>
          </p:cNvPr>
          <p:cNvSpPr>
            <a:spLocks xmlns:a="http://schemas.openxmlformats.org/drawingml/2006/main" noGrp="1"/>
          </p:cNvSpPr>
          <p:nvPr/>
        </p:nvSpPr>
        <p:spPr>
          <a:xfrm xmlns:a="http://schemas.openxmlformats.org/drawingml/2006/main">
            <a:off x="640080" y="4650000"/>
            <a:ext cx="475488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The relation is cumulative, not a mechanical one-to-one ladder; every scale must remain coherent with the others.  ·  AnalyticMadhyasthDarshan.org  ·  37 / 37</a:t>
            </a:r>
          </a:p>
        </p:txBody>
      </p:sp>
    </p:spTree>
    <p:extLst>
      <p:ext uri="{BB962C8B-B14F-4D97-AF65-F5344CB8AC3E}">
        <p14:creationId xmlns:p14="http://schemas.microsoft.com/office/powerpoint/2010/main" val="1300301282"/>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2026-07-29T16:43:12.8330000Z</dcterms:created>
  <dcterms:modified xsi:type="dcterms:W3CDTF">2026-07-29T16:43:12.8330000Z</dcterms:modified>
</coreProperties>
</file>