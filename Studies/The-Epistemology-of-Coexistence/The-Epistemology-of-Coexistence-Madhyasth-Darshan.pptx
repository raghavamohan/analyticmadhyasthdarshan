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e78bea96f974f9d" Type="http://schemas.openxmlformats.org/officeDocument/2006/relationships/officeDocument" Target="ppt/presentation.xml"/><Relationship Id="R8b6e3758b5234210" Type="http://schemas.openxmlformats.org/package/2006/relationships/metadata/core-properties" Target="docProps/core.xml"/><Relationship Id="Ra726226892fc4041"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14fc4a5734c4ced"/>
  </p:sldMasterIdLst>
  <p:notesMasterIdLst>
    <p:notesMasterId xmlns:r="http://schemas.openxmlformats.org/officeDocument/2006/relationships" r:id="R72378841bfe647b4"/>
  </p:notesMasterIdLst>
  <p:sldIdLst>
    <p:sldId xmlns:r="http://schemas.openxmlformats.org/officeDocument/2006/relationships" id="256" r:id="R1ff5b796be6e465c"/>
    <p:sldId xmlns:r="http://schemas.openxmlformats.org/officeDocument/2006/relationships" id="257" r:id="R2420168382c343e2"/>
    <p:sldId xmlns:r="http://schemas.openxmlformats.org/officeDocument/2006/relationships" id="258" r:id="R6baa5a03caad437d"/>
    <p:sldId xmlns:r="http://schemas.openxmlformats.org/officeDocument/2006/relationships" id="259" r:id="Rb5839b2540ed4948"/>
    <p:sldId xmlns:r="http://schemas.openxmlformats.org/officeDocument/2006/relationships" id="260" r:id="R431557a5918c4798"/>
    <p:sldId xmlns:r="http://schemas.openxmlformats.org/officeDocument/2006/relationships" id="261" r:id="Rae453c510cbb4683"/>
    <p:sldId xmlns:r="http://schemas.openxmlformats.org/officeDocument/2006/relationships" id="262" r:id="R0641b7f3a46146f0"/>
    <p:sldId xmlns:r="http://schemas.openxmlformats.org/officeDocument/2006/relationships" id="263" r:id="R2cd8a99f348941da"/>
    <p:sldId xmlns:r="http://schemas.openxmlformats.org/officeDocument/2006/relationships" id="264" r:id="Re1d2b139cd60454b"/>
    <p:sldId xmlns:r="http://schemas.openxmlformats.org/officeDocument/2006/relationships" id="265" r:id="Ra76af168df0143c6"/>
    <p:sldId xmlns:r="http://schemas.openxmlformats.org/officeDocument/2006/relationships" id="266" r:id="Rc86e2cc5ea9d4a22"/>
    <p:sldId xmlns:r="http://schemas.openxmlformats.org/officeDocument/2006/relationships" id="267" r:id="Ra74cc10476684d2f"/>
    <p:sldId xmlns:r="http://schemas.openxmlformats.org/officeDocument/2006/relationships" id="268" r:id="R0b86459bb99b452a"/>
    <p:sldId xmlns:r="http://schemas.openxmlformats.org/officeDocument/2006/relationships" id="269" r:id="R9824f301f1114696"/>
    <p:sldId xmlns:r="http://schemas.openxmlformats.org/officeDocument/2006/relationships" id="270" r:id="R386d44af08284e9f"/>
    <p:sldId xmlns:r="http://schemas.openxmlformats.org/officeDocument/2006/relationships" id="271" r:id="Rf7ee8460a42c4890"/>
    <p:sldId xmlns:r="http://schemas.openxmlformats.org/officeDocument/2006/relationships" id="272" r:id="R180c5ebd721546cc"/>
    <p:sldId xmlns:r="http://schemas.openxmlformats.org/officeDocument/2006/relationships" id="273" r:id="R281a9fdc7fb14145"/>
    <p:sldId xmlns:r="http://schemas.openxmlformats.org/officeDocument/2006/relationships" id="274" r:id="rId2"/>
    <p:sldId xmlns:r="http://schemas.openxmlformats.org/officeDocument/2006/relationships" id="275" r:id="rId1"/>
    <p:sldId xmlns:r="http://schemas.openxmlformats.org/officeDocument/2006/relationships" id="276" r:id="rId3"/>
    <p:sldId xmlns:r="http://schemas.openxmlformats.org/officeDocument/2006/relationships" id="277" r:id="R09caf90d95d94412"/>
    <p:sldId xmlns:r="http://schemas.openxmlformats.org/officeDocument/2006/relationships" id="278" r:id="R5d3860ccf1d74b77"/>
    <p:sldId xmlns:r="http://schemas.openxmlformats.org/officeDocument/2006/relationships" id="279" r:id="R081c050ade194289"/>
    <p:sldId xmlns:r="http://schemas.openxmlformats.org/officeDocument/2006/relationships" id="280" r:id="Rb96d36736457439d"/>
    <p:sldId xmlns:r="http://schemas.openxmlformats.org/officeDocument/2006/relationships" id="281" r:id="R84d98faa59ca4b47"/>
    <p:sldId xmlns:r="http://schemas.openxmlformats.org/officeDocument/2006/relationships" id="282" r:id="Rcf8a3b1884494a9d"/>
    <p:sldId xmlns:r="http://schemas.openxmlformats.org/officeDocument/2006/relationships" id="283" r:id="Rd8cbd252bf8b47b0"/>
    <p:sldId xmlns:r="http://schemas.openxmlformats.org/officeDocument/2006/relationships" id="284" r:id="Rb2f9362a44874532"/>
    <p:sldId xmlns:r="http://schemas.openxmlformats.org/officeDocument/2006/relationships" id="285" r:id="Ra4649b7becf74cf3"/>
    <p:sldId xmlns:r="http://schemas.openxmlformats.org/officeDocument/2006/relationships" id="286" r:id="Rabc1592b7c15417a"/>
    <p:sldId xmlns:r="http://schemas.openxmlformats.org/officeDocument/2006/relationships" id="287" r:id="Ra73dd77758134a46"/>
    <p:sldId xmlns:r="http://schemas.openxmlformats.org/officeDocument/2006/relationships" id="288" r:id="Rb8457441c37a47ff"/>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641b7f3a46146f0" Type="http://schemas.openxmlformats.org/officeDocument/2006/relationships/slide" Target="slides/slide7.xml"/><Relationship Id="R081c050ade194289" Type="http://schemas.openxmlformats.org/officeDocument/2006/relationships/slide" Target="slides/slide24.xml"/><Relationship Id="R09caf90d95d94412" Type="http://schemas.openxmlformats.org/officeDocument/2006/relationships/slide" Target="slides/slide22.xml"/><Relationship Id="R0b86459bb99b452a" Type="http://schemas.openxmlformats.org/officeDocument/2006/relationships/slide" Target="slides/slide13.xml"/><Relationship Id="R180c5ebd721546cc" Type="http://schemas.openxmlformats.org/officeDocument/2006/relationships/slide" Target="slides/slide17.xml"/><Relationship Id="R1d3e638f8c704711" Type="http://schemas.openxmlformats.org/officeDocument/2006/relationships/viewProps" Target="viewProps.xml"/><Relationship Id="R1ff5b796be6e465c" Type="http://schemas.openxmlformats.org/officeDocument/2006/relationships/slide" Target="slides/slide1.xml"/><Relationship Id="R2420168382c343e2" Type="http://schemas.openxmlformats.org/officeDocument/2006/relationships/slide" Target="slides/slide2.xml"/><Relationship Id="R281a9fdc7fb14145" Type="http://schemas.openxmlformats.org/officeDocument/2006/relationships/slide" Target="slides/slide18.xml"/><Relationship Id="R2cd8a99f348941da" Type="http://schemas.openxmlformats.org/officeDocument/2006/relationships/slide" Target="slides/slide8.xml"/><Relationship Id="R386d44af08284e9f" Type="http://schemas.openxmlformats.org/officeDocument/2006/relationships/slide" Target="slides/slide15.xml"/><Relationship Id="R431557a5918c4798" Type="http://schemas.openxmlformats.org/officeDocument/2006/relationships/slide" Target="slides/slide5.xml"/><Relationship Id="R5d3860ccf1d74b77" Type="http://schemas.openxmlformats.org/officeDocument/2006/relationships/slide" Target="slides/slide23.xml"/><Relationship Id="R6baa5a03caad437d" Type="http://schemas.openxmlformats.org/officeDocument/2006/relationships/slide" Target="slides/slide3.xml"/><Relationship Id="R72378841bfe647b4" Type="http://schemas.openxmlformats.org/officeDocument/2006/relationships/notesMaster" Target="notesMasters/notesMaster1.xml"/><Relationship Id="R84d98faa59ca4b47" Type="http://schemas.openxmlformats.org/officeDocument/2006/relationships/slide" Target="slides/slide26.xml"/><Relationship Id="R9824f301f1114696" Type="http://schemas.openxmlformats.org/officeDocument/2006/relationships/slide" Target="slides/slide14.xml"/><Relationship Id="Ra4649b7becf74cf3" Type="http://schemas.openxmlformats.org/officeDocument/2006/relationships/slide" Target="slides/slide30.xml"/><Relationship Id="Ra73dd77758134a46" Type="http://schemas.openxmlformats.org/officeDocument/2006/relationships/slide" Target="slides/slide32.xml"/><Relationship Id="Ra74cc10476684d2f" Type="http://schemas.openxmlformats.org/officeDocument/2006/relationships/slide" Target="slides/slide12.xml"/><Relationship Id="Ra76af168df0143c6" Type="http://schemas.openxmlformats.org/officeDocument/2006/relationships/slide" Target="slides/slide10.xml"/><Relationship Id="Rabc1592b7c15417a" Type="http://schemas.openxmlformats.org/officeDocument/2006/relationships/slide" Target="slides/slide31.xml"/><Relationship Id="Racf2c32732694915" Type="http://schemas.openxmlformats.org/officeDocument/2006/relationships/presProps" Target="presProps.xml"/><Relationship Id="Rae453c510cbb4683" Type="http://schemas.openxmlformats.org/officeDocument/2006/relationships/slide" Target="slides/slide6.xml"/><Relationship Id="Rb14fc4a5734c4ced" Type="http://schemas.openxmlformats.org/officeDocument/2006/relationships/slideMaster" Target="slideMasters/slideMaster1.xml"/><Relationship Id="Rb2f9362a44874532" Type="http://schemas.openxmlformats.org/officeDocument/2006/relationships/slide" Target="slides/slide29.xml"/><Relationship Id="Rb5839b2540ed4948" Type="http://schemas.openxmlformats.org/officeDocument/2006/relationships/slide" Target="slides/slide4.xml"/><Relationship Id="Rb8457441c37a47ff" Type="http://schemas.openxmlformats.org/officeDocument/2006/relationships/slide" Target="slides/slide33.xml"/><Relationship Id="Rb96d36736457439d" Type="http://schemas.openxmlformats.org/officeDocument/2006/relationships/slide" Target="slides/slide25.xml"/><Relationship Id="Rc86e2cc5ea9d4a22" Type="http://schemas.openxmlformats.org/officeDocument/2006/relationships/slide" Target="slides/slide11.xml"/><Relationship Id="Rcf8a3b1884494a9d" Type="http://schemas.openxmlformats.org/officeDocument/2006/relationships/slide" Target="slides/slide27.xml"/><Relationship Id="Rd8cbd252bf8b47b0" Type="http://schemas.openxmlformats.org/officeDocument/2006/relationships/slide" Target="slides/slide28.xml"/><Relationship Id="Rdea2e66bcdaf4e12" Type="http://schemas.openxmlformats.org/officeDocument/2006/relationships/tableStyles" Target="tableStyles.xml"/><Relationship Id="Re1d2b139cd60454b" Type="http://schemas.openxmlformats.org/officeDocument/2006/relationships/slide" Target="slides/slide9.xml"/><Relationship Id="Re623d44da4644ce7" Type="http://schemas.openxmlformats.org/officeDocument/2006/relationships/theme" Target="theme/theme1.xml"/><Relationship Id="Rf7ee8460a42c4890" Type="http://schemas.openxmlformats.org/officeDocument/2006/relationships/slide" Target="slides/slide16.xml"/><Relationship Id="rId1" Type="http://schemas.openxmlformats.org/officeDocument/2006/relationships/slide" Target="slides/slide20.xml"/><Relationship Id="rId2" Type="http://schemas.openxmlformats.org/officeDocument/2006/relationships/slide" Target="slides/slide19.xml"/><Relationship Id="rId3"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8527f22b680e40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1453fc40d7384362" Type="http://schemas.openxmlformats.org/officeDocument/2006/relationships/notesMaster" Target="../notesMasters/notesMaster1.xml"/><Relationship Id="R410d042a02e9409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5f7f31e7ef340a7" Type="http://schemas.openxmlformats.org/officeDocument/2006/relationships/slide" Target="../slides/slide2.xml"/><Relationship Id="R9104105beb0546c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a816bdfc2352489e" Type="http://schemas.openxmlformats.org/officeDocument/2006/relationships/notesMaster" Target="../notesMasters/notesMaster1.xml"/><Relationship Id="Rae57a0d9f956441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df665e9c3c74b62" Type="http://schemas.openxmlformats.org/officeDocument/2006/relationships/notesMaster" Target="../notesMasters/notesMaster1.xml"/><Relationship Id="Re759572e012d4a8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cff79eb0b6f4221" Type="http://schemas.openxmlformats.org/officeDocument/2006/relationships/notesMaster" Target="../notesMasters/notesMaster1.xml"/><Relationship Id="Rbb889cf10172486c"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2be7629792540ff" Type="http://schemas.openxmlformats.org/officeDocument/2006/relationships/notesMaster" Target="../notesMasters/notesMaster1.xml"/><Relationship Id="R82ca9fe4f1ae48f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69ef92111a6f4efb" Type="http://schemas.openxmlformats.org/officeDocument/2006/relationships/notesMaster" Target="../notesMasters/notesMaster1.xml"/><Relationship Id="R6a623d7ff8164b0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f210411f9f4e47c4" Type="http://schemas.openxmlformats.org/officeDocument/2006/relationships/notesMaster" Target="../notesMasters/notesMaster1.xml"/><Relationship Id="Rf792765c5f90418c"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32e91dd74de84111" Type="http://schemas.openxmlformats.org/officeDocument/2006/relationships/slide" Target="../slides/slide8.xml"/><Relationship Id="R7dfd93c688d24e8b"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87801c43ac84600" Type="http://schemas.openxmlformats.org/officeDocument/2006/relationships/slide" Target="../slides/slide9.xml"/><Relationship Id="Rae02a93483c4479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5c57e52e2044f98" Type="http://schemas.openxmlformats.org/officeDocument/2006/relationships/slide" Target="../slides/slide12.xml"/><Relationship Id="Re23c34d051b94bc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2e069d4da3894873" Type="http://schemas.openxmlformats.org/officeDocument/2006/relationships/slide" Target="../slides/slide13.xml"/><Relationship Id="Rb3421b0ce00348ed"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19183fd1915948bb" Type="http://schemas.openxmlformats.org/officeDocument/2006/relationships/notesMaster" Target="../notesMasters/notesMaster1.xml"/><Relationship Id="R214ffc77904f4653"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1e6b8965ee8348bd" Type="http://schemas.openxmlformats.org/officeDocument/2006/relationships/notesMaster" Target="../notesMasters/notesMaster1.xml"/><Relationship Id="Ra9cd8004bbd2469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b71c82686363421e" Type="http://schemas.openxmlformats.org/officeDocument/2006/relationships/slide" Target="../slides/slide16.xml"/><Relationship Id="Rbd6e1c133a5c467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e65c36dac874038" Type="http://schemas.openxmlformats.org/officeDocument/2006/relationships/notesMaster" Target="../notesMasters/notesMaster1.xml"/><Relationship Id="Rd99facc338fa4ea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3de102cd5c174d80" Type="http://schemas.openxmlformats.org/officeDocument/2006/relationships/notesMaster" Target="../notesMasters/notesMaster1.xml"/><Relationship Id="Rf4d0b2193a5748b9"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535625a1daf042e6" Type="http://schemas.openxmlformats.org/officeDocument/2006/relationships/notesMaster" Target="../notesMasters/notesMaster1.xml"/><Relationship Id="R9eecf89b59a345c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1d705b987c304eeb" Type="http://schemas.openxmlformats.org/officeDocument/2006/relationships/slide" Target="../slides/slide23.xml"/><Relationship Id="R3229c6f88879495e"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8a4da538cd4f4fe6" Type="http://schemas.openxmlformats.org/officeDocument/2006/relationships/slide" Target="../slides/slide24.xml"/><Relationship Id="Ra0f3f21773f14a6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c1ac943235c74453" Type="http://schemas.openxmlformats.org/officeDocument/2006/relationships/notesMaster" Target="../notesMasters/notesMaster1.xml"/><Relationship Id="Rff451925f3564e0e" Type="http://schemas.openxmlformats.org/officeDocument/2006/relationships/slide" Target="../slides/slide10.xml"/></Relationships>
</file>

<file path=ppt/notesSlides/_rels/notesSlide22.xml.rels><?xml version='1.0' encoding='UTF-8' standalone='yes'?>
<Relationships xmlns="http://schemas.openxmlformats.org/package/2006/relationships"><Relationship Id="R267d42359ad14736" Type="http://schemas.openxmlformats.org/officeDocument/2006/relationships/slide" Target="../slides/slide25.xml"/><Relationship Id="Rebd017ce68c14559"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60353795fbd49e6" Type="http://schemas.openxmlformats.org/officeDocument/2006/relationships/notesMaster" Target="../notesMasters/notesMaster1.xml"/><Relationship Id="R33110daa869146ee"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06b8f600c4044386" Type="http://schemas.openxmlformats.org/officeDocument/2006/relationships/slide" Target="../slides/slide27.xml"/><Relationship Id="R7b35f791f7d4428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985ba0ad5cbf4016" Type="http://schemas.openxmlformats.org/officeDocument/2006/relationships/slide" Target="../slides/slide28.xml"/><Relationship Id="Rfc79bee530c749d4"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b370ecff3ae14cbc" Type="http://schemas.openxmlformats.org/officeDocument/2006/relationships/notesMaster" Target="../notesMasters/notesMaster1.xml"/><Relationship Id="Rd0d794e0fcee4ac9"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62a963e0c9f1421d" Type="http://schemas.openxmlformats.org/officeDocument/2006/relationships/notesMaster" Target="../notesMasters/notesMaster1.xml"/><Relationship Id="Rfb05606a4e594d2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48fc9a8af8c94b8a" Type="http://schemas.openxmlformats.org/officeDocument/2006/relationships/notesMaster" Target="../notesMasters/notesMaster1.xml"/><Relationship Id="R4f31256709fc492e"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421d9e7c706d437e" Type="http://schemas.openxmlformats.org/officeDocument/2006/relationships/notesMaster" Target="../notesMasters/notesMaster1.xml"/><Relationship Id="R800ea61f3b724490"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b5eb192a86474d39" Type="http://schemas.openxmlformats.org/officeDocument/2006/relationships/notesMaster" Target="../notesMasters/notesMaster1.xml"/><Relationship Id="Re4207851842e42f7"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Open by distinguishing information from realised understanding. The revised deck follows Madhyasth Darshan on its own terms and asks how knowledge becomes resolution, right conduct, and the happiness sought by the human being.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orientation deliberately simple. The first movement asks what knowledge is; the second asks how it develops; the third asks how it is tested in life. The specialised terms and structures are introduced only when the corresponding slides can explain them.</a:t>
            </a:r>
          </a:p>
          <a:p xmlns:a="http://schemas.openxmlformats.org/drawingml/2006/main">
            <a:r>
              <a:t/>
            </a:r>
          </a:p>
          <a:p xmlns:a="http://schemas.openxmlformats.org/drawingml/2006/main">
            <a:r>
              <a:t>[Sources]</a:t>
            </a:r>
          </a:p>
          <a:p xmlns:a="http://schemas.openxmlformats.org/drawingml/2006/main">
            <a:r>
              <a:t>- The Epistemology of Coexistence, §1</a:t>
            </a:r>
          </a:p>
          <a:p xmlns:a="http://schemas.openxmlformats.org/drawingml/2006/main">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these questions open and accessible. They ask what knowledge is, who knows, what is known, how understanding develops, how error enters, and how knowledge is tested in life. The technical vocabulary appears only when the deck reaches the relevant answer.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Pervasive knowledge here names coexistence itself: Omnipresence together with Nature is the knowledge to be known. This does not make Omnipresence a perceiving subject; jeevan is the knower. Atma realises coexistence and buddhi receives bodh, after which comprehensive samadhan becomes accessible. Samadhan is clarity about the why and how of activity. Happiness, peace, contentment, and bliss are internal harmonies within jeevan. In relationship, justice is evidenced through recognition, value-fulfilment, evaluation, and mutual satisfaction. Conduct is evidence of understanding, not the definition of knowledge itself.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11, 35, 115–116, 207–208, 289, 311</a:t>
            </a:r>
          </a:p>
          <a:p xmlns:a="http://schemas.openxmlformats.org/drawingml/2006/main">
            <a:pPr marL="0" indent="0" algn="l">
              <a:spcBef>
                <a:spcPts val="0"/>
              </a:spcBef>
              <a:spcAft>
                <a:spcPts val="0"/>
              </a:spcAft>
              <a:buNone/>
            </a:pPr>
            <a:r>
              <a:t>- KD pp. 66, 134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Complete knowledge has three inseparable contents. Humane conduct is not an ethical add-on after knowledge; it is one of the things that must be understood.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SB p. 116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 roles distinct: jeevan is the active knower; coexistence is the known; and realised understanding must become meaningful evidence. The human joint form is the embodied site of that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a:t>
            </a:r>
          </a:p>
          <a:p xmlns:a="http://schemas.openxmlformats.org/drawingml/2006/main">
            <a:pPr marL="0" indent="0" algn="l">
              <a:spcBef>
                <a:spcPts val="0"/>
              </a:spcBef>
              <a:spcAft>
                <a:spcPts val="0"/>
              </a:spcAft>
              <a:buNone/>
            </a:pPr>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known spans physical, intellectual, and coexistential domains. Do not turn the distinction into three unrelated realities; they are regions of one coexistential field.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3–4</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vivek, and vigyan answer different questions. Knowledge establishes reality, wisdom recognises the humane goal, and science gives reliable direction for material prosperity together with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 169</a:t>
            </a:r>
          </a:p>
          <a:p xmlns:a="http://schemas.openxmlformats.org/drawingml/2006/main">
            <a:pPr marL="0" indent="0" algn="l">
              <a:spcBef>
                <a:spcPts val="0"/>
              </a:spcBef>
              <a:spcAft>
                <a:spcPts val="0"/>
              </a:spcAft>
              <a:buNone/>
            </a:pPr>
            <a:r>
              <a:t>- MVD pp. 208–209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Correct the earlier generic triads. KD assigns darshan to justice, dharma, and truth; drish to human jeevan; and drishya to coexistence. Dhyan, dhyata, and dhyeya then specify awakening, the human attender, and freedom from delusion with evidence of the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a:p xmlns:a="http://schemas.openxmlformats.org/drawingml/2006/main">
            <a:pPr marL="0" indent="0" algn="l">
              <a:spcBef>
                <a:spcPts val="0"/>
              </a:spcBef>
              <a:spcAft>
                <a:spcPts val="0"/>
              </a:spcAft>
              <a:buNone/>
            </a:pPr>
            <a:r>
              <a:t>- MVD p. 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Specify the level whenever using cause, doer, and effect. The compact epistemic assignment and the broader existential assignment are related but not interchangeable; seeking adds aim, seeker, and means.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Reflection is the knowing direction of jeevan's activity. It matures sensory and practical material through contemplation, enlightenment, and realisation rather than stopping at intake.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Projection is the evidencing direction. Realisation and resolve take form as visualisation, analysis, selection, bodily action, work, behaviour, and communication.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Emphasise recurrence, not a one-way pipeline. Result and evaluation return material for renewed reflection, while projection makes understanding answerable to consequence.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§§3.12, 3.16–3.17</a:t>
            </a:r>
          </a:p>
          <a:p xmlns:a="http://schemas.openxmlformats.org/drawingml/2006/main">
            <a:pPr marL="0" indent="0" algn="l">
              <a:spcBef>
                <a:spcPts val="0"/>
              </a:spcBef>
              <a:spcAft>
                <a:spcPts val="0"/>
              </a:spcAft>
              <a:buNone/>
            </a:pPr>
            <a:r>
              <a:t>- The Epistemology of Coexistence,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the necessary instrument of evidence, but the texts place knowing and evaluation in jeevan. The slide states the primary-text claim and does not pretend to supply a modern neurophysical mechanism.</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83–84, 200</a:t>
            </a:r>
          </a:p>
          <a:p xmlns:a="http://schemas.openxmlformats.org/drawingml/2006/main">
            <a:pPr marL="0" indent="0" algn="l">
              <a:spcBef>
                <a:spcPts val="0"/>
              </a:spcBef>
              <a:spcAft>
                <a:spcPts val="0"/>
              </a:spcAft>
              <a:buNone/>
            </a:pPr>
            <a:r>
              <a:t>- JV pp. 59,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is incomplete functioning of the knower, not merely missing information. In awakening, reflection reaches enlightenment and realisation; projection is then organised by understanding rather than pleasure, health, and profit as final criteria.</a:t>
            </a:r>
          </a:p>
          <a:p xmlns:a="http://schemas.openxmlformats.org/drawingml/2006/main">
            <a:r>
              <a:t/>
            </a:r>
          </a:p>
          <a:p xmlns:a="http://schemas.openxmlformats.org/drawingml/2006/main">
            <a:r>
              <a:t>[Sources]</a:t>
            </a:r>
          </a:p>
          <a:p xmlns:a="http://schemas.openxmlformats.org/drawingml/2006/main">
            <a:r>
              <a:t>- JV pp. 73, 92–93</a:t>
            </a:r>
          </a:p>
          <a:p xmlns:a="http://schemas.openxmlformats.org/drawingml/2006/main">
            <a:r>
              <a:t>- KD §3.17, p. 147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Cognisance is jeevan's knowing-and-believing capacity, while sensitivity is embodied responsiveness. Sound, touch, sight, taste, and smell are the channels of sensitivity, and the four vishayas are necessary bodily activities. Recognition and fulfilment arise through the balance of cognisance and sensitivity, not through sensitivity alone.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66–67</a:t>
            </a:r>
          </a:p>
          <a:p xmlns:a="http://schemas.openxmlformats.org/drawingml/2006/main">
            <a:pPr marL="0" indent="0" algn="l">
              <a:spcBef>
                <a:spcPts val="0"/>
              </a:spcBef>
              <a:spcAft>
                <a:spcPts val="0"/>
              </a:spcAft>
              <a:buNone/>
            </a:pPr>
            <a:r>
              <a:t>- SB p. 64</a:t>
            </a:r>
          </a:p>
          <a:p xmlns:a="http://schemas.openxmlformats.org/drawingml/2006/main">
            <a:pPr marL="0" indent="0" algn="l">
              <a:spcBef>
                <a:spcPts val="0"/>
              </a:spcBef>
              <a:spcAft>
                <a:spcPts val="0"/>
              </a:spcAft>
              <a:buNone/>
            </a:pPr>
            <a:r>
              <a:t>- MVD pp. 49–51,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eshanas are not simply condemned. Knowledge, wisdom, and science redirect progeny, wealth, and public recognition toward education, prosperity and right use, and accountable social participation.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50, 169, 303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Make the fifth activity visible: evaluating. Correct intention and recognition are insufficient unless capacity, fulfilment, actual result, and mutuality are examined. Mutual satisfaction is the relational result of justice, not a fifth jeevan value.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310–311</a:t>
            </a:r>
          </a:p>
          <a:p xmlns:a="http://schemas.openxmlformats.org/drawingml/2006/main">
            <a:pPr marL="0" indent="0" algn="l">
              <a:spcBef>
                <a:spcPts val="0"/>
              </a:spcBef>
              <a:spcAft>
                <a:spcPts val="0"/>
              </a:spcAft>
              <a:buNone/>
            </a:pPr>
            <a:r>
              <a:t>- JV p. 55</a:t>
            </a:r>
          </a:p>
          <a:p xmlns:a="http://schemas.openxmlformats.org/drawingml/2006/main">
            <a:pPr marL="0" indent="0" algn="l">
              <a:spcBef>
                <a:spcPts val="0"/>
              </a:spcBef>
              <a:spcAft>
                <a:spcPts val="0"/>
              </a:spcAft>
              <a:buNone/>
            </a:pPr>
            <a:r>
              <a:t>- SB p. 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Karma joins aspiration, action, result, and effect. Material means, capacity, other people, and environment mediate the result, so intention cannot stand in for evidence.</a:t>
            </a:r>
          </a:p>
          <a:p xmlns:a="http://schemas.openxmlformats.org/drawingml/2006/main">
            <a:r>
              <a:t/>
            </a:r>
          </a:p>
          <a:p xmlns:a="http://schemas.openxmlformats.org/drawingml/2006/main">
            <a:r>
              <a:t>[Sources]</a:t>
            </a:r>
          </a:p>
          <a:p xmlns:a="http://schemas.openxmlformats.org/drawingml/2006/main">
            <a:r>
              <a:t>- KD Ch. 1</a:t>
            </a:r>
          </a:p>
          <a:p xmlns:a="http://schemas.openxmlformats.org/drawingml/2006/main">
            <a:r>
              <a:t>- The Epistemology of Coexistence,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Evaluation returns consequence to the knower. Over-evaluation, under-evaluation, and mis-evaluation become explicit sites of correction rather than being protected by the original intention.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263–264</a:t>
            </a:r>
          </a:p>
          <a:p xmlns:a="http://schemas.openxmlformats.org/drawingml/2006/main">
            <a:pPr marL="0" indent="0" algn="l">
              <a:spcBef>
                <a:spcPts val="0"/>
              </a:spcBef>
              <a:spcAft>
                <a:spcPts val="0"/>
              </a:spcAft>
              <a:buNone/>
            </a:pPr>
            <a:r>
              <a:t>- KD Ch.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Seer here means established awakened seer-status, not the drish term from the earlier triad. Understanding, embodied doing, and experienced result belong together without collapsing one into another.</a:t>
            </a:r>
          </a:p>
          <a:p xmlns:a="http://schemas.openxmlformats.org/drawingml/2006/main">
            <a:r>
              <a:t/>
            </a:r>
          </a:p>
          <a:p xmlns:a="http://schemas.openxmlformats.org/drawingml/2006/main">
            <a:r>
              <a:t>[Sources]</a:t>
            </a:r>
          </a:p>
          <a:p xmlns:a="http://schemas.openxmlformats.org/drawingml/2006/main">
            <a:r>
              <a:t>- KD §3.18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Distinguish the relational and internal outcomes. Justice yields mutual satisfaction between participants; happiness, peace, contentment, and bliss are harmonies within jeevan. Correct intention is necessary, but competent fulfilment and evaluation must confirm the result.</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207–208, 253–254, 310–311</a:t>
            </a:r>
          </a:p>
          <a:p xmlns:a="http://schemas.openxmlformats.org/drawingml/2006/main">
            <a:pPr marL="0" indent="0" algn="l">
              <a:spcBef>
                <a:spcPts val="0"/>
              </a:spcBef>
              <a:spcAft>
                <a:spcPts val="0"/>
              </a:spcAft>
              <a:buNone/>
            </a:pPr>
            <a:r>
              <a:t>- JV pp. 55, 138</a:t>
            </a:r>
          </a:p>
          <a:p xmlns:a="http://schemas.openxmlformats.org/drawingml/2006/main">
            <a:pPr marL="0" indent="0" algn="l">
              <a:spcBef>
                <a:spcPts val="0"/>
              </a:spcBef>
              <a:spcAft>
                <a:spcPts val="0"/>
              </a:spcAft>
              <a:buNone/>
            </a:pPr>
            <a:r>
              <a:t>- KD p. 112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Realisation must become publicly legible. Add upakar carefully: it is help and inspiration for prosperity and awakening that increases capability without dependency, and it is one part of the evidence chain rather than the sole proof.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72</a:t>
            </a:r>
          </a:p>
          <a:p xmlns:a="http://schemas.openxmlformats.org/drawingml/2006/main">
            <a:pPr marL="0" indent="0" algn="l">
              <a:spcBef>
                <a:spcPts val="0"/>
              </a:spcBef>
              <a:spcAft>
                <a:spcPts val="0"/>
              </a:spcAft>
              <a:buNone/>
            </a:pPr>
            <a:r>
              <a:t>- SB pp. 44, 111, 121, 149</a:t>
            </a:r>
          </a:p>
          <a:p xmlns:a="http://schemas.openxmlformats.org/drawingml/2006/main">
            <a:pPr marL="0" indent="0" algn="l">
              <a:spcBef>
                <a:spcPts val="0"/>
              </a:spcBef>
              <a:spcAft>
                <a:spcPts val="0"/>
              </a:spcAft>
              <a:buNone/>
            </a:pPr>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five nearby terms separate. Sensory contact is a bodily condition; pratyaksha is direct accessibility; sakshatkar is meaning-recognition in chitta; bodh is enlightenment in buddhi; and anubhav is realisation in atma.</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20–21, §3.17</a:t>
            </a:r>
          </a:p>
          <a:p xmlns:a="http://schemas.openxmlformats.org/drawingml/2006/main">
            <a:pPr marL="0" indent="0" algn="l">
              <a:spcBef>
                <a:spcPts val="0"/>
              </a:spcBef>
              <a:spcAft>
                <a:spcPts val="0"/>
              </a:spcAft>
              <a:buNone/>
            </a:pPr>
            <a:r>
              <a:t>- MVD pp. 35, 273–301,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State the caution aloud: the displayed movement is a source-faithful pedagogical reconstruction, not a canonical guaranteed ladder. Information occasions study; result and evaluation make the movement recurrent.</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35, 90, 273–301, 317</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can enter at acceptance, recognition, fulfilment, or evaluation. Correction therefore requires renewed attention and changed conduct, not only a revised sentence.</a:t>
            </a:r>
          </a:p>
          <a:p xmlns:a="http://schemas.openxmlformats.org/drawingml/2006/main">
            <a:r>
              <a:t/>
            </a:r>
          </a:p>
          <a:p xmlns:a="http://schemas.openxmlformats.org/drawingml/2006/main">
            <a:r>
              <a:t>[Sources]</a:t>
            </a:r>
          </a:p>
          <a:p xmlns:a="http://schemas.openxmlformats.org/drawingml/2006/main">
            <a:r>
              <a:t>- The Epistemology of Coexistence, §§1.5–1.6</a:t>
            </a:r>
          </a:p>
          <a:p xmlns:a="http://schemas.openxmlformats.org/drawingml/2006/main">
            <a:r>
              <a:t>- MVD pp. 184, 263–264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triad completes only when knowledge, knower, and known become mutually coherent without merger. Madhyasth Darshan retains real plurality inside coexistence.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a:t>
            </a:r>
          </a:p>
          <a:p xmlns:a="http://schemas.openxmlformats.org/drawingml/2006/main">
            <a:pPr marL="0" indent="0" algn="l">
              <a:spcBef>
                <a:spcPts val="0"/>
              </a:spcBef>
              <a:spcAft>
                <a:spcPts val="0"/>
              </a:spcAft>
              <a:buNone/>
            </a:pPr>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these as tests rather than repeated definitions. Right use should be distinguishable from repression or accumulation; upakar should increase capability and independence; value-fulfilment should be assessable in mutuality; and stable harmony should be distinguishable from temporary affect.</a:t>
            </a:r>
          </a:p>
          <a:p xmlns:a="http://schemas.openxmlformats.org/drawingml/2006/main">
            <a:r>
              <a:t/>
            </a:r>
          </a:p>
          <a:p xmlns:a="http://schemas.openxmlformats.org/drawingml/2006/main">
            <a:r>
              <a:t>[Sources]</a:t>
            </a:r>
          </a:p>
          <a:p xmlns:a="http://schemas.openxmlformats.org/drawingml/2006/main">
            <a:r>
              <a:t>- The Epistemology of Coexistence, §7.7</a:t>
            </a:r>
          </a:p>
          <a:p xmlns:a="http://schemas.openxmlformats.org/drawingml/2006/main">
            <a:r>
              <a:t>- MVD p. 72</a:t>
            </a:r>
          </a:p>
          <a:p xmlns:a="http://schemas.openxmlformats.org/drawingml/2006/main">
            <a:r>
              <a:t>- SB pp.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all six questions. The answer is not a belief formula: it integrates realised understanding, active selfhood, embodied regulation, conduct, consequence, and corrigible public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 and 8</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pairing the four human goals with the four jeevan values while stating the cumulative caution. Resolution bears happiness; with prosperity comes peace; with fearlessness, contentment; and participation in coexistence bears bliss.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 112</a:t>
            </a:r>
          </a:p>
          <a:p xmlns:a="http://schemas.openxmlformats.org/drawingml/2006/main">
            <a:pPr marL="0" indent="0" algn="l">
              <a:spcBef>
                <a:spcPts val="0"/>
              </a:spcBef>
              <a:spcAft>
                <a:spcPts val="0"/>
              </a:spcAft>
              <a:buNone/>
            </a:pPr>
            <a:r>
              <a:t>- MVD pp. 207–208</a:t>
            </a:r>
          </a:p>
          <a:p xmlns:a="http://schemas.openxmlformats.org/drawingml/2006/main">
            <a:pPr marL="0" indent="0" algn="l">
              <a:spcBef>
                <a:spcPts val="0"/>
              </a:spcBef>
              <a:spcAft>
                <a:spcPts val="0"/>
              </a:spcAft>
              <a:buNone/>
            </a:pPr>
            <a:r>
              <a:t>- JV pp. 61, 138,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Deliberation is not a single judgment. Six perspectives are compared before an activity is selected. Pleasantness, bodily well-being, and gain report real information, but each is relative to changing conditions: what tastes pleasant may damage the body, and what looks profitable to one family may externalise harm to another or to the natural orders. Justice, dharma, and truth ask whether the relationship is actually fulfilled, whether resolution and orderliness are sustained, and whether the understanding accords with realisation in existence. MVD calls deliberation through nyaya, dharma, and satya balanced, and deliberation through priya, hita, and labha unbalanced. State the point as governance, not suppression: the body still needs nourishment and useful means, but pleasure, health, and profit cannot finally authorise an activity that violates justice or produces contradiction.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Upakar belongs to a higher-human level, above the bodily propensities and the three eshanas. MVD defines it precisely: help and inspiration for another person’s prosperity and awakening. It is not vague charity, not a transactional favour, and not a fourth eshana. It applies capacity the giver has already resolved to another’s material sufficiency and understanding. State the test plainly: help that increases the other’s capability and preserves mutuality fulfils upakar, while help that creates dependency or exploits vulnerability defeats its stated ends. Note also that upakar is one part of the evidence chain, not by itself proof that the giver understands.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of an activity includes the law that protects it, the regulation that keeps it within that law, and the balance that results. Law becomes humanly evident when an activity protects rather than destroys the relationship it depends on; regulation when choice stays aligned with the accepted purpose; balance when the result is mutually fulfilling rather than advantageous to one party only. Guard the common misreading: MVD gives a continuous sequence from knowledge through law, regulation, and balance to justice, dharma, and truth, but this is a functional progression, not three lexical equations. Niyam does not simply mean nyaya, niyantran does not mean dharma, and santulan does not mean satya. Law, regulation, and balance describe the order of activity; justice, dharma, and truth describe the awakened human fulfilling that order.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dca1d7625f14519"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4cfa508d5b84a08" Type="http://schemas.openxmlformats.org/officeDocument/2006/relationships/slideLayout" Target="../slideLayouts/slideLayout1.xml"/><Relationship Id="R46ddbf13d0f44ec9"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4cfa508d5b84a0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05d1649340104790" Type="http://schemas.openxmlformats.org/officeDocument/2006/relationships/slideLayout" Target="../slideLayouts/slideLayout1.xml"/><Relationship Id="R41d45dfbc5f9424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6807a11e1a043e8" Type="http://schemas.openxmlformats.org/officeDocument/2006/relationships/slideLayout" Target="../slideLayouts/slideLayout1.xml"/><Relationship Id="Rd207795912fc472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417631f3a87c46ba" Type="http://schemas.openxmlformats.org/officeDocument/2006/relationships/slideLayout" Target="../slideLayouts/slideLayout1.xml"/><Relationship Id="R5e099dc9b0cb46e7" Type="http://schemas.openxmlformats.org/officeDocument/2006/relationships/notesSlide" Target="../notesSlides/notesSlide3.xml"/><Relationship Id="Ra6ee38489c1e4e8b" Type="http://schemas.openxmlformats.org/officeDocument/2006/relationships/image" Target="../media/image.png"/></Relationships>
</file>

<file path=ppt/slides/_rels/slide4.xml.rels><?xml version='1.0' encoding='UTF-8' standalone='yes'?>
<Relationships xmlns="http://schemas.openxmlformats.org/package/2006/relationships"><Relationship Id="R03937b523800456c" Type="http://schemas.openxmlformats.org/officeDocument/2006/relationships/slideLayout" Target="../slideLayouts/slideLayout1.xml"/><Relationship Id="R9eb92bc9bfd84f7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340c4c00ef9f4aa4" Type="http://schemas.openxmlformats.org/officeDocument/2006/relationships/image" Target="../media/image2.png"/><Relationship Id="R3815859eaf0a4930" Type="http://schemas.openxmlformats.org/officeDocument/2006/relationships/image" Target="../media/image4.png"/><Relationship Id="R48b53b0730d34a2c" Type="http://schemas.openxmlformats.org/officeDocument/2006/relationships/image" Target="../media/image3.png"/><Relationship Id="R5f48a4cf6d804aed" Type="http://schemas.openxmlformats.org/officeDocument/2006/relationships/notesSlide" Target="../notesSlides/notesSlide5.xml"/><Relationship Id="Rc8cbbcdd4a93450f"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34b6734e5c64b7d" Type="http://schemas.openxmlformats.org/officeDocument/2006/relationships/slideLayout" Target="../slideLayouts/slideLayout1.xml"/><Relationship Id="R375c1049b98e40c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4c52a4a3c51642cf" Type="http://schemas.openxmlformats.org/officeDocument/2006/relationships/image" Target="../media/image4.png"/><Relationship Id="R81d5dcd066b34cfc" Type="http://schemas.openxmlformats.org/officeDocument/2006/relationships/notesSlide" Target="../notesSlides/notesSlide7.xml"/><Relationship Id="R8464641637284dbf" Type="http://schemas.openxmlformats.org/officeDocument/2006/relationships/slideLayout" Target="../slideLayouts/slideLayout1.xml"/><Relationship Id="Rddf6d8cf3a6c471f" Type="http://schemas.openxmlformats.org/officeDocument/2006/relationships/image" Target="../media/image3.png"/><Relationship Id="Rf6390e0e8d4b4fcf" Type="http://schemas.openxmlformats.org/officeDocument/2006/relationships/image" Target="../media/image2.png"/></Relationships>
</file>

<file path=ppt/slides/_rels/slide8.xml.rels><?xml version='1.0' encoding='UTF-8' standalone='yes'?>
<Relationships xmlns="http://schemas.openxmlformats.org/package/2006/relationships"><Relationship Id="Ra762469e9d0d4e98" Type="http://schemas.openxmlformats.org/officeDocument/2006/relationships/slideLayout" Target="../slideLayouts/slideLayout1.xml"/><Relationship Id="Rb4d8dd59501a445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378cda231b4c42af" Type="http://schemas.openxmlformats.org/officeDocument/2006/relationships/notesSlide" Target="../notesSlides/notesSlide10.xml"/><Relationship Id="Rf9dca863f907459a"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26f3cbf31e594a16" Type="http://schemas.openxmlformats.org/officeDocument/2006/relationships/notesSlide" Target="../notesSlides/notesSlide21.xml"/><Relationship Id="R510dd71f6f394d6c"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6c6a2adf6da54442" Type="http://schemas.openxmlformats.org/officeDocument/2006/relationships/image" Target="../media/image2.png"/><Relationship Id="Ra717eff4e62b46e0" Type="http://schemas.openxmlformats.org/officeDocument/2006/relationships/notesSlide" Target="../notesSlides/notesSlide8.xml"/><Relationship Id="Rb721564d4e494256" Type="http://schemas.openxmlformats.org/officeDocument/2006/relationships/image" Target="../media/image4.png"/><Relationship Id="Rba69a8e5e7b04155" Type="http://schemas.openxmlformats.org/officeDocument/2006/relationships/slideLayout" Target="../slideLayouts/slideLayout1.xml"/><Relationship Id="Rfe3807bb190a4cf1" Type="http://schemas.openxmlformats.org/officeDocument/2006/relationships/image" Target="../media/image3.png"/></Relationships>
</file>

<file path=ppt/slides/_rels/slide12.xml.rels><?xml version='1.0' encoding='UTF-8' standalone='yes'?>
<Relationships xmlns="http://schemas.openxmlformats.org/package/2006/relationships"><Relationship Id="R59a71612ef944f4e" Type="http://schemas.openxmlformats.org/officeDocument/2006/relationships/slideLayout" Target="../slideLayouts/slideLayout1.xml"/><Relationship Id="Re8bc76c84bc54379"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4b5a0309c2964e04" Type="http://schemas.openxmlformats.org/officeDocument/2006/relationships/slideLayout" Target="../slideLayouts/slideLayout1.xml"/><Relationship Id="R71163ba234874b85"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28b1044015bd4469" Type="http://schemas.openxmlformats.org/officeDocument/2006/relationships/notesSlide" Target="../notesSlides/notesSlide13.xml"/><Relationship Id="Rbac32bb22eae40d6"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8b818ca5312643b9" Type="http://schemas.openxmlformats.org/officeDocument/2006/relationships/slideLayout" Target="../slideLayouts/slideLayout1.xml"/><Relationship Id="Rc06e867ee8c24d1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111d999ce1644ecf" Type="http://schemas.openxmlformats.org/officeDocument/2006/relationships/notesSlide" Target="../notesSlides/notesSlide15.xml"/><Relationship Id="Rc2edd8804ecc41b0"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7dabcf14e4824a6b" Type="http://schemas.openxmlformats.org/officeDocument/2006/relationships/slideLayout" Target="../slideLayouts/slideLayout1.xml"/><Relationship Id="R935c7f0c020a491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2e6d2b79dfe44500" Type="http://schemas.openxmlformats.org/officeDocument/2006/relationships/image" Target="../media/image3.png"/><Relationship Id="R3b916bab8c494a18" Type="http://schemas.openxmlformats.org/officeDocument/2006/relationships/notesSlide" Target="../notesSlides/notesSlide17.xml"/><Relationship Id="Re323ef8aef534870" Type="http://schemas.openxmlformats.org/officeDocument/2006/relationships/image" Target="../media/image4.png"/><Relationship Id="Reb107755085241ef" Type="http://schemas.openxmlformats.org/officeDocument/2006/relationships/slideLayout" Target="../slideLayouts/slideLayout1.xml"/><Relationship Id="Rfc2230a8d1a34101" Type="http://schemas.openxmlformats.org/officeDocument/2006/relationships/image" Target="../media/image2.png"/></Relationships>
</file>

<file path=ppt/slides/_rels/slide19.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0.xml.rels><?xml version='1.0' encoding='UTF-8' standalone='yes'?>
<Relationships xmlns="http://schemas.openxmlformats.org/package/2006/relationships"><Relationship Id="R417631f3a87c46ba" Type="http://schemas.openxmlformats.org/officeDocument/2006/relationships/slideLayout" Target="../slideLayouts/slideLayout1.xml"/><Relationship Id="Ra6ee38489c1e4e8b" Type="http://schemas.openxmlformats.org/officeDocument/2006/relationships/image" Target="../media/image.png"/><Relationship Id="rId3" Type="http://schemas.openxmlformats.org/officeDocument/2006/relationships/notesSlide" Target="../notesSlides/notesSlide31.xml"/></Relationships>
</file>

<file path=ppt/slides/_rels/slide21.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2.xml.rels><?xml version='1.0' encoding='UTF-8' standalone='yes'?>
<Relationships xmlns="http://schemas.openxmlformats.org/package/2006/relationships"><Relationship Id="R019af9f20d554015" Type="http://schemas.openxmlformats.org/officeDocument/2006/relationships/slideLayout" Target="../slideLayouts/slideLayout1.xml"/><Relationship Id="R352b5d7ab3eb4b2b"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18626a4765a54ca7" Type="http://schemas.openxmlformats.org/officeDocument/2006/relationships/notesSlide" Target="../notesSlides/notesSlide19.xml"/><Relationship Id="Rcef58cb5e0194619"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2d641136904a491a" Type="http://schemas.openxmlformats.org/officeDocument/2006/relationships/slideLayout" Target="../slideLayouts/slideLayout1.xml"/><Relationship Id="Rdb697bfe94e942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1bc0a3263e434b85" Type="http://schemas.openxmlformats.org/officeDocument/2006/relationships/notesSlide" Target="../notesSlides/notesSlide22.xml"/><Relationship Id="Rd3f3927f2b4344ed"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94048ad6b1a84aa3" Type="http://schemas.openxmlformats.org/officeDocument/2006/relationships/slideLayout" Target="../slideLayouts/slideLayout1.xml"/><Relationship Id="Rba406daf18874a4a"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37a44bd1426a4995" Type="http://schemas.openxmlformats.org/officeDocument/2006/relationships/slideLayout" Target="../slideLayouts/slideLayout1.xml"/><Relationship Id="Re4caf00e300e40db"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101c90320ec24898" Type="http://schemas.openxmlformats.org/officeDocument/2006/relationships/slideLayout" Target="../slideLayouts/slideLayout1.xml"/><Relationship Id="R93190c59ed8d4f69"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2548e8776a4343d0" Type="http://schemas.openxmlformats.org/officeDocument/2006/relationships/notesSlide" Target="../notesSlides/notesSlide26.xml"/><Relationship Id="R768cda95695e4cfc"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b7b6166146d74314" Type="http://schemas.openxmlformats.org/officeDocument/2006/relationships/notesSlide" Target="../notesSlides/notesSlide27.xml"/><Relationship Id="Redbd6f2ddf50459c"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35c47aa52feb47fd" Type="http://schemas.openxmlformats.org/officeDocument/2006/relationships/notesSlide" Target="../notesSlides/notesSlide28.xml"/><Relationship Id="Rda3d9ace505c4256"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04f7fdd2d26d4f92" Type="http://schemas.openxmlformats.org/officeDocument/2006/relationships/slideLayout" Target="../slideLayouts/slideLayout1.xml"/><Relationship Id="Ra7bc850828e24cf8" Type="http://schemas.openxmlformats.org/officeDocument/2006/relationships/notesSlide" Target="../notesSlides/notesSlide29.xml"/><Relationship Id="Rf91be5e62e7d40c5" Type="http://schemas.openxmlformats.org/officeDocument/2006/relationships/image" Target="../media/image.png"/></Relationships>
</file>

<file path=ppt/slides/_rels/slide33.xml.rels><?xml version='1.0' encoding='UTF-8' standalone='yes'?>
<Relationships xmlns="http://schemas.openxmlformats.org/package/2006/relationships"><Relationship Id="R2e49ec55a500415e" Type="http://schemas.openxmlformats.org/officeDocument/2006/relationships/notesSlide" Target="../notesSlides/notesSlide30.xml"/><Relationship Id="Rcff899808483490e"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resolution, and happiness — understanding evidenced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  ·  1 / 33</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knowledge is — realised understanding that gives clear direction in life.</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knowing develops — through reflection, understanding, and action.</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knowledge is tested — through relationships, results, and responsible participation.</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what we understand and how we live no longer contradict each other.  ·  AnalyticMadhyasthDarshan.org  ·  2 / 33</a:t>
            </a:r>
          </a:p>
        </p:txBody>
      </p:sp>
    </p:spTree>
    <p:extLst>
      <p:ext uri="{BB962C8B-B14F-4D97-AF65-F5344CB8AC3E}">
        <p14:creationId xmlns:p14="http://schemas.microsoft.com/office/powerpoint/2010/main" val="17594239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makes understanding more than information or belief?</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in the human being understands, chooses, and evaluates?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What reality, self, relationship, and conduct must be understood?</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develop?  —  How does experience mature into understanding?</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error arise?  —  Why do belief, action, and result sometimes conflict?</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is understanding tested in life?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guide the deck from definition to lived evidence.  ·  AnalyticMadhyasthDarshan.org  ·  3 / 33</a:t>
            </a:r>
          </a:p>
        </p:txBody>
      </p:sp>
    </p:spTree>
    <p:extLst>
      <p:ext uri="{BB962C8B-B14F-4D97-AF65-F5344CB8AC3E}">
        <p14:creationId xmlns:p14="http://schemas.microsoft.com/office/powerpoint/2010/main" val="153149057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PERVASIVE KNOWLEDGE, REALISATION, AND EVIDENCE</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in Jeevan</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Pervasive knowledge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Coexistence of Omnipresence and Nature is itself the knowledge that needs to be known.</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in jeevan</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Jeevan is the knower. Atma realises coexistence; through buddhi, this becomes clear understanding.</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Resolution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makes comprehensive resolution accessible—the why and how of activity become clear. Happiness is harmony within jeevan; justice and mutual satisfaction evidence understanding in relationships.</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KNOWER · RESOLUTION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coexistence is the knowledge to be known; jeevan realises; humane living is its evidence</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35, 115–116, 207–208, 289, 311  ·  KD pp. 66, 134  ·  AnalyticMadhyasthDarshan.org  ·  4 / 33</a:t>
            </a:r>
          </a:p>
        </p:txBody>
      </p:sp>
    </p:spTree>
    <p:extLst>
      <p:ext uri="{BB962C8B-B14F-4D97-AF65-F5344CB8AC3E}">
        <p14:creationId xmlns:p14="http://schemas.microsoft.com/office/powerpoint/2010/main" val="71298974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is threefold. Each content corrects a partial epistemology: reality without the knower is incomplete; self-knowledge without conduct is unproven; conduct without the whole lacks orientation.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40c4c00ef9f4aa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and all real units; their form, properties, essential nature, dharma, relationships, and participation in orderliness.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8b53b0730d34a2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sentient unit that bears attention, reflection, resolve, enlightenment, realisation, selection, evaluation, and authenticity.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3815859eaf0a493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right recognition and fulfilment of relationships, made evident as justice, work, behaviour, and participation in universal orderliness.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coexistence, jeevan, and humane conduct form one epistemic field. — KD §3.17 · SB p. 116  ·  AnalyticMadhyasthDarshan.org  ·  5 / 33</a:t>
            </a:r>
          </a:p>
        </p:txBody>
      </p:sp>
    </p:spTree>
    <p:extLst>
      <p:ext uri="{BB962C8B-B14F-4D97-AF65-F5344CB8AC3E}">
        <p14:creationId xmlns:p14="http://schemas.microsoft.com/office/powerpoint/2010/main" val="14662190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Realised understanding of coexistence, jeevan, and humane conduct — accepted, evaluated, and capable of guiding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is the sentient bearer of knowing; the human being is the embodied participant through whom knowing is spoken, tested, and lived.</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Existence as coexistence: units, relationships, values, orderliness, and the conditions in which human aspiration can be fulfilled.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when understanding appears as resolution, prosperity, fearlessness, coexistence,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roles remain distinct: jeevan knows, coexistence is known, and knowledge is their realised relation made evident in life.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pp. 84, 115  ·  JV p. 165  ·  AnalyticMadhyasthDarshan.org  ·  6 / 33</a:t>
            </a:r>
          </a:p>
        </p:txBody>
      </p:sp>
    </p:spTree>
    <p:extLst>
      <p:ext uri="{BB962C8B-B14F-4D97-AF65-F5344CB8AC3E}">
        <p14:creationId xmlns:p14="http://schemas.microsoft.com/office/powerpoint/2010/main" val="9723823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Domains of Knowledge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known is not exhausted by measurable form and property. Madhyasth Darshan distinguishes three connected domains, each with its own objects, capacities, and forms of evidence.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6390e0e8d4b4fc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Physical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Form, property, material composition, production, and skill — knowledge expressed as effective engagement with material nature.</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ddf6d8cf3a6c471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Intellectual knowledge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Meaning, relation, purpose, analysis, evaluation, and proficiency — thought disciplined by what is and what fulfils orderliness.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c52a4a3c51642cf">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Coexistential knowledge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Realisation of coexistence, jeevan, and humane conduct — the horizon within which physical and intellectual knowledge find direction.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Skill and scholarship become complete when they serve right relationship and orderliness. — KD pp. 3–4  ·  AnalyticMadhyasthDarshan.org  ·  7 / 33</a:t>
            </a:r>
          </a:p>
        </p:txBody>
      </p:sp>
    </p:spTree>
    <p:extLst>
      <p:ext uri="{BB962C8B-B14F-4D97-AF65-F5344CB8AC3E}">
        <p14:creationId xmlns:p14="http://schemas.microsoft.com/office/powerpoint/2010/main" val="1466219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SEEING AND ATTENTION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KD Assigns Each Term a Definite Role</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Darshan — seeing</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content is justice, dharma, and truth. Darshan here is meaningful seeing or exposition, not a free-floating personal viewpoint.</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Drish — the seeing jeevan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Human jeevan is the active locus of seeing: the knower capable of attention, understanding, evaluation, and evidence.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Drishya — the seen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field made directly meaningful: real units, relationships, values, and participation in orderliness.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Dhyan · dhyata · dhyeya</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the human attender; and freedom from delusion together with jeevan values and evidence of the human goal.</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These are source assignments, not a generic subject–object vocabulary. Perspective remains answerable to awakened seeing of coexistence.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 84  ·  AnalyticMadhyasthDarshan.org  ·  8 / 33</a:t>
            </a:r>
          </a:p>
        </p:txBody>
      </p:sp>
    </p:spTree>
    <p:extLst>
      <p:ext uri="{BB962C8B-B14F-4D97-AF65-F5344CB8AC3E}">
        <p14:creationId xmlns:p14="http://schemas.microsoft.com/office/powerpoint/2010/main" val="9723823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CAUSE, DOER, EFFECT, AND SEEKING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Cause–Doer–Effect Operates at Two Levels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Epistemic level</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Karan is the knowledge-state, karta the human being, and karya wholeness or universal participation made evident in living.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Existential level</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ever-present cause, jeevan the doer, and human, deific, or divine status the effect according to awakening.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Sadhya — the aim</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and established seer-status: freedom from delusion and capacity to understand, evaluate, and participate.</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Sadhak · sadhan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human being is the seeker; body together with jeevan is the means, supported by imagination, freedom of action, and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Action must be read with its level specified: ontological cause, epistemic state, human agency, means, result, and wider participation are related without being collapsed.</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AnalyticMadhyasthDarshan.org  ·  9 / 33</a:t>
            </a:r>
          </a:p>
        </p:txBody>
      </p:sp>
    </p:spTree>
    <p:extLst>
      <p:ext uri="{BB962C8B-B14F-4D97-AF65-F5344CB8AC3E}">
        <p14:creationId xmlns:p14="http://schemas.microsoft.com/office/powerpoint/2010/main" val="9723823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seer, doer, and enjoyer in one joint form. Seer-status establishes understanding; doing places it in action; enjoyer-status names the experienced fruit or fruition of action.</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experienced result</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receives fruition; in awakened conduct this supports mutual satisfaction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enjoyer receives the result and evaluates its fit with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Understanding establishes seer-status; embodied activity evidences the doer; experienced result evidences the enjoyer. Mutual satisfaction is one humane result, not the definition of enjoyer-status.</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§3.18  ·  AnalyticMadhyasthDarshan.org  ·  10 / 33</a:t>
            </a:r>
          </a:p>
        </p:txBody>
      </p:sp>
    </p:spTree>
    <p:extLst>
      <p:ext uri="{BB962C8B-B14F-4D97-AF65-F5344CB8AC3E}">
        <p14:creationId xmlns:p14="http://schemas.microsoft.com/office/powerpoint/2010/main" val="199778863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 Have Distinct Work</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understanding must establish what is real, identify the humane goal, and determine practicable direction. The three terms are joined, but not interchangeable.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c6a2adf6da5444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Realised understanding of coexistence, jeevan, and humane conduct: what is, who knows, and what right participation requires.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e3807bb190a4cf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Knowledge by which the human goal — resolution, prosperity, fearlessness, and coexistence — is recognised and sensory or social motives are discriminated.</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721564d4e494256">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Directional knowledge for material prosperity together with the human and jeevan goals, including the law and process of activity and thought.</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establishes reality; vivek recognises the goal; vigyan gives reliable direction for accomplishment. — MVD pp. 170, 208–209  ·  AnalyticMadhyasthDarshan.org  ·  11 / 33</a:t>
            </a:r>
          </a:p>
        </p:txBody>
      </p:sp>
    </p:spTree>
    <p:extLst>
      <p:ext uri="{BB962C8B-B14F-4D97-AF65-F5344CB8AC3E}">
        <p14:creationId xmlns:p14="http://schemas.microsoft.com/office/powerpoint/2010/main" val="146621908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Reflection Coordinates Five Activity Pairs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ten activities are five coordinated pairs in jeevan. In reflection, sensation, behaviour, thought, desire, and resolve are examined until enlightenment and realisation become effective.</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five loci</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realisation and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enlightenment and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contemplation and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deliberation and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taste and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Reflection — knowing moves inward</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and vritti attend to experience. Chitta forms meaning, buddhi resolves, and atma realises. Higher activities orient and integrate those below without becoming separate minds.</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“Inward” is a teaching description of coordinated activity; the canonical taxonomy is the five loci and their ten activities.</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92–93  ·  KD §§3.12, 3.17  ·  MVD pp. 78, 83–84  ·  AnalyticMadhyasthDarshan.org  ·  12 / 33</a:t>
            </a:r>
          </a:p>
        </p:txBody>
      </p:sp>
    </p:spTree>
    <p:extLst>
      <p:ext uri="{BB962C8B-B14F-4D97-AF65-F5344CB8AC3E}">
        <p14:creationId xmlns:p14="http://schemas.microsoft.com/office/powerpoint/2010/main" val="129021663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Projection Carries Understanding Outward</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Projection is the evidencing direction of the same ten activities. Realisation and resolve become visualisation, analysis, selection, bodily action, work, behaviour, and communication.</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projected strengths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expression</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Jeevan supplies meaning and direction. Brain, senses, speech, movement, and social participation place the projection in a shared world where result can be evaluated.</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Reflection and projection are recurrent directions of one active jeevan; neither is complete when isolated from the other.</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92–93  ·  KD §§3.12, 3.16–3.17  ·  AnalyticMadhyasthDarshan.org  ·  13 / 33</a:t>
            </a:r>
          </a:p>
        </p:txBody>
      </p:sp>
    </p:spTree>
    <p:extLst>
      <p:ext uri="{BB962C8B-B14F-4D97-AF65-F5344CB8AC3E}">
        <p14:creationId xmlns:p14="http://schemas.microsoft.com/office/powerpoint/2010/main" val="129021663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PROJECTION–REFLECTION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Recurrent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This four-step diagram is a pedagogical synthesis of the textual account: attention and reflection deepen knowing; realisation and projection place it back into action and result.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Inward movement</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Experience and consequence return to jeevan through attention and reflection until meaning becomes clear and resolvable.</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Outward evidence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Realisation projects as selection, action, behaviour, work, communication, and evaluation in the human joint form.</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Each coherent cycle can deepen the next; reflection without projection remains unevidenced, while projection without reflection repeats habit.</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the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pp. 110–113  ·  MVD p. 290  ·  JV pp. 92–93  ·  AnalyticMadhyasthDarshan.org  ·  14 / 33</a:t>
            </a:r>
          </a:p>
        </p:txBody>
      </p:sp>
    </p:spTree>
    <p:extLst>
      <p:ext uri="{BB962C8B-B14F-4D97-AF65-F5344CB8AC3E}">
        <p14:creationId xmlns:p14="http://schemas.microsoft.com/office/powerpoint/2010/main" val="28280191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the Body Mediates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Knowing belongs to jeevan, but human evidence requires the joint form. The body supplies sensory access, brain-mediated signalling, speech, movement, work, and participation with others.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enlightenment, contemplation, deliberation, selection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Evaluation of relationship and value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Continuity of the knower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Brain and senses carry signals and bodily conditions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Speech and action place understanding in a shared world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Work, behaviour, and teaching make claims answerable to result</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specify a functional relation between jeevan and the brain; a more precise account of their interaction remains an open task within the exposition.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  ·  AnalyticMadhyasthDarshan.org  ·  15 / 33</a:t>
            </a:r>
          </a:p>
        </p:txBody>
      </p:sp>
    </p:spTree>
    <p:extLst>
      <p:ext uri="{BB962C8B-B14F-4D97-AF65-F5344CB8AC3E}">
        <p14:creationId xmlns:p14="http://schemas.microsoft.com/office/powerpoint/2010/main" val="12902166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1.5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decisive question is not whether jeevan is active, but what its activity takes as the self and what reference points organise attention, desire, thought, resolve, and action.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with the body. Only four-and-a-half activities become effective: taste, selection, analysis, visualisation, and restricted deliberation governed by sensation, health, and profit.</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itself and coexistence. The same faculties align around justice, dharma, truth, resolution, and fulfilment of relationship.</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faculties do not disappear in awakening; their direction and coordination change. Error is incomplete functioning of the knower, not mere absence of data.</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aspiration for happiness remains, while conduct organised by sensation repeatedly fails to secure it.</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72–73, 92–93  ·  KD §3.17  ·  MVD pp. 263–264  ·  AnalyticMadhyasthDarshan.org  ·  16 / 33</a:t>
            </a:r>
          </a:p>
        </p:txBody>
      </p:sp>
    </p:spTree>
    <p:extLst>
      <p:ext uri="{BB962C8B-B14F-4D97-AF65-F5344CB8AC3E}">
        <p14:creationId xmlns:p14="http://schemas.microsoft.com/office/powerpoint/2010/main" val="15636950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 COGNISANCE, SENSITIVITY, AND BODILY LIFE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Knowing and believing in jeevan; it provides direction by understanding relationship, value, purpose, and orderliness.</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Embodied responsiveness through the senses. It supplies contact and capacity for action, but not fulfilment by itself.</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Five sensory channels</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Sound, touch, sight, taste, and smell are the body's channels of contact with the world.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Four vishayas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Eating, sleeping, defending, and mating are necessary bodily activities regulated for nourishment, protection, and continuity.</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Cognisance gives direction; sensitivity provides embodied means. Their balance supports right recognition and fulfilment.</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66–67  ·  SB p. 64  ·  MVD pp. 49–51, 166  ·  AnalyticMadhyasthDarshan.org  ·  17 / 33</a:t>
            </a:r>
          </a:p>
        </p:txBody>
      </p:sp>
    </p:spTree>
    <p:extLst>
      <p:ext uri="{BB962C8B-B14F-4D97-AF65-F5344CB8AC3E}">
        <p14:creationId xmlns:p14="http://schemas.microsoft.com/office/powerpoint/2010/main" val="97238234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Social Motives Need Humane Direction</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progeny, wealth, and public-recognition motives are not eliminated. Under knowledge they become fields of responsibility; under delusion they become possessiveness, hoarding, and fame-seeking.</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c2230a8d1a3410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Progeny motive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familial continuity, relationship, education in humaneness, and preparation of the next generation for responsible participation.</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2e6d2b79dfe4450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Wealth motive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production, prosperity, right use, protection of resources, and material sufficiency rather than accumulation without limit.</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323ef8aef53487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Reputation motive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accountable public participation and contribution to an undivided society rather than status or applause as an end.</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Vivek identifies the humane goal; vigyan supplies practicable direction for these motives. — MVD pp. 50, 170, 303  ·  AnalyticMadhyasthDarshan.org  ·  18 / 33</a:t>
            </a:r>
          </a:p>
        </p:txBody>
      </p:sp>
    </p:spTree>
    <p:extLst>
      <p:ext uri="{BB962C8B-B14F-4D97-AF65-F5344CB8AC3E}">
        <p14:creationId xmlns:p14="http://schemas.microsoft.com/office/powerpoint/2010/main" val="14662190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UPAKAR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Beneficence Must Increase Capability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Help and inspiration</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MVD defines upakar as help and inspiration for another's prosperity and awakening.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Not a fourth eshana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is neither an additional social motive nor an ordinary bodily activity, but a higher-human act.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Resolved capacity</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applies capacity already resolved in the giver to another's material sufficiency and understanding.</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The test</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must increase the other's capability and preserve mutuality between both participants.</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Creating dependency or exploiting vulnerability defeats the stated ends of upakar.</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Upakar is one part of the evidence chain, not the sole proof of knowledge.  ·  MVD p. 73  ·  AnalyticMadhyasthDarshan.org  ·  19 / 33</a:t>
            </a:r>
          </a:p>
        </p:txBody>
      </p:sp>
    </p:spTree>
    <p:extLst>
      <p:ext uri="{BB962C8B-B14F-4D97-AF65-F5344CB8AC3E}">
        <p14:creationId xmlns:p14="http://schemas.microsoft.com/office/powerpoint/2010/main" val="97238234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SIX EVALUATIVE PERSPECTIVES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Deliberation Weighs Six Perspectives</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Priya–apriya  —  Is it pleasant or unpleasant? A sensory reading, and relative.</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Hita–ahita  —  Does it nourish or harm? Bodily health, also relative.</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Labha–alabha  —  Is it gain or loss? Goods, services, exchange, material result.</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Nyaya–anyaya  —  Is it just? Behaviour within a recognised relationship.</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Dharma–adharma  —  Does it sustain resolution and orderly participation?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Satya–asatya  —  Does understanding accord with realisation in existence?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first three inform; the last three govern.  ·  MVD pp. 66–67  ·  AnalyticMadhyasthDarshan.org  ·  20 / 33</a:t>
            </a:r>
          </a:p>
        </p:txBody>
      </p:sp>
    </p:spTree>
    <p:extLst>
      <p:ext uri="{BB962C8B-B14F-4D97-AF65-F5344CB8AC3E}">
        <p14:creationId xmlns:p14="http://schemas.microsoft.com/office/powerpoint/2010/main" val="153149057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LAW, REGULATION, AND BALANCE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Activity Carries Its Own Order</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Niyam — law</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way an activity is protected and disciplined, so that it does not destroy what it depends 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Niyantran — regulation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Regulation according to that law, not arbitrary external control. Choice stays with the accepted purpose.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Santulan — balance</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complementarity sustained when activity stays regulated in mutuality, fulfilling both parties.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Justice, dharma, truth</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awakened human's understanding and fulfilment of that order in behaviour, thought, and realisation.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MVD's sequence joins the two triads but does not equate them: niyam is not simply nyaya, niyantran not dharma, santulan not satya.</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Law, regulation, and balance describe the order; justice, dharma, and truth fulfil it.  ·  MVD pp. 70, 137, 174  ·  AnalyticMadhyasthDarshan.org  ·  21 / 33</a:t>
            </a:r>
          </a:p>
        </p:txBody>
      </p:sp>
    </p:spTree>
    <p:extLst>
      <p:ext uri="{BB962C8B-B14F-4D97-AF65-F5344CB8AC3E}">
        <p14:creationId xmlns:p14="http://schemas.microsoft.com/office/powerpoint/2010/main" val="97238234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Continue Through Evaluation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Knowledge becomes effective through knowing and believing, then recognising actual relationships, fulfilling their values with capacity, and evaluating the result. Correct intention alone does not complete conduct.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Know what is believed and believe what is known. Acceptance without understanding is inherited belief; understanding without acceptance remains ineffectual.</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Recognition, fulfilment, evaluation, and mutual satisfaction complete the sequence in relationship. Mutual satisfaction is the outcome, not a fifth jeevan value.</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depends on capacity, ability, receptivity, other people, and conditions; evaluation asks what was actually fulfilled and what must be corrected.</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310–311  ·  JV p. 55  ·  SB p. 64  ·  AnalyticMadhyasthDarshan.org  ·  22 / 33</a:t>
            </a:r>
          </a:p>
        </p:txBody>
      </p:sp>
    </p:spTree>
    <p:extLst>
      <p:ext uri="{BB962C8B-B14F-4D97-AF65-F5344CB8AC3E}">
        <p14:creationId xmlns:p14="http://schemas.microsoft.com/office/powerpoint/2010/main" val="28280191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Activity together with aspiration is karma. Every intentional action contains a doer, cause, objective, result, and effect. Knowledge therefore becomes answerable to consequence: an intention is not sufficient, and a result cannot be judged without its aim, means, and reach.</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sought?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would count as fulfilment?</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chosen and done?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With what capacity and means?</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actually follows?</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Does it satisfy the accepted aim?</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Ch. 1, pp. 1–2  ·  AnalyticMadhyasthDarshan.org  ·  23 / 33</a:t>
            </a:r>
          </a:p>
        </p:txBody>
      </p:sp>
    </p:spTree>
    <p:extLst>
      <p:ext uri="{BB962C8B-B14F-4D97-AF65-F5344CB8AC3E}">
        <p14:creationId xmlns:p14="http://schemas.microsoft.com/office/powerpoint/2010/main" val="36035657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Result is not the end of the process. It returns through evaluation: did the relationship, purpose, and value become fulfilled? The answer may confirm understanding or expose where conception, recognition, capacity, or action was incomplete.</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the fruit and effect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of action in context</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result with</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relationship and aim</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corrected acceptance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shapes later projection</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Consequence becomes material for corrected understanding. — MVD pp. 90, 263–264, 290 · KD Ch. 1  ·  AnalyticMadhyasthDarshan.org  ·  24 / 33</a:t>
            </a:r>
          </a:p>
        </p:txBody>
      </p:sp>
    </p:spTree>
    <p:extLst>
      <p:ext uri="{BB962C8B-B14F-4D97-AF65-F5344CB8AC3E}">
        <p14:creationId xmlns:p14="http://schemas.microsoft.com/office/powerpoint/2010/main" val="183672015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1.5 · HUMAN DHARMA AND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Being Seeks Happiness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mun and vritti: selection and deliberation no longer contradict the understood purpose.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vritti and chitta: deliberation and meaning-bearing contemplation are mutually coherent.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chitta and buddhi: contemplation and enlightened resolve are mutually coherent.</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buddhi and atma: resolve and realisation are mutually coherent in awakened jeevan.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Just conduct yields mutual satisfaction in relationship and supports happiness, peace, contentment, and bliss within jeevan. Correct intent alone is insufficient; fulfilment and evaluation must confirm it.</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253–254  ·  JV p. 138  ·  KD p. 112  ·  AnalyticMadhyasthDarshan.org  ·  25 / 33</a:t>
            </a:r>
          </a:p>
        </p:txBody>
      </p:sp>
    </p:spTree>
    <p:extLst>
      <p:ext uri="{BB962C8B-B14F-4D97-AF65-F5344CB8AC3E}">
        <p14:creationId xmlns:p14="http://schemas.microsoft.com/office/powerpoint/2010/main" val="97238234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THE EVIDENCE REGIME</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Must Become Publicly Legible</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is first-person, but not private immunity from examination. Knowledge must become encounterable through relationship, productive and ecological practice, evaluation, upakar, and independent transmission.</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first-person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directly understands coexistence, jeevan, and humane conduct; authenticity is the capacity to bear and evidence that understanding.</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relational</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Recognition and fulfilment of values make understanding visible in family and social relationships, where mutual satisfaction can be assessed.</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practical</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Work and productive participation expose understanding to material conditions, consequences, repeatability, and correction.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Upakar and transmission — social</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and inspiration for prosperity and awakening should increase another's sufficiency and capacity without dependency. Understanding must then be independently liveable and conveyable.</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72  ·  SB pp. 44, 111, 121, 149  ·  JV p. 26  ·  AnalyticMadhyasthDarshan.org  ·  26 / 33</a:t>
            </a:r>
          </a:p>
        </p:txBody>
      </p:sp>
    </p:spTree>
    <p:extLst>
      <p:ext uri="{BB962C8B-B14F-4D97-AF65-F5344CB8AC3E}">
        <p14:creationId xmlns:p14="http://schemas.microsoft.com/office/powerpoint/2010/main" val="162786451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DIRECT ACCESSIBILITY AND REALISATION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Nearby Epistemic Terms Must Remain Distinct</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Sensory contact</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Indriya-sannikarsha is bodily contact through the five senses. It supplies conditions for cognition but is not itself complete knowledge.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Pratyaksha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Direct accessibility is not exhausted by sense–object contact; developed attention can bring form, property, essential nature, and dharma into proximity.</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Sakshatkar · bodh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Sakshatkar is chitta's direct recognition or acceptance of meaning; bodh is enlightenment and resolve in buddhi.</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Anubhav</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in atma integrates understanding and bears authenticity. It must project as coherent explanation, behaviour, work, and evaluation.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Inference and testimony remain cognitive routes, but sensory contact, pratyaksha, sakshatkar, bodh, and anubhav name different relations and activities.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§3.17  ·  MVD pp. 35, 273–301, 317  ·  AnalyticMadhyasthDarshan.org  ·  27 / 33</a:t>
            </a:r>
          </a:p>
        </p:txBody>
      </p:sp>
    </p:spTree>
    <p:extLst>
      <p:ext uri="{BB962C8B-B14F-4D97-AF65-F5344CB8AC3E}">
        <p14:creationId xmlns:p14="http://schemas.microsoft.com/office/powerpoint/2010/main" val="97238234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STUDY AND TRANSMISSION</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 Source-Faithful Learning Movement</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primary texts do not present one canonical ladder with these exact labels. This pedagogical reconstruction shows a recurrent movement from language toward meaning, enlightenment, realisation, and evidence.</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Language and information provide an occasion for definition, comparison, reflection, practice, behaviour, work, and evaluation.</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Guidance and tradition</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An evidence-bearing teacher helps direct attention; the learner must move beyond repetition and become independently capable of understanding and evidence.</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Result and evaluation return material for further reflection. Hearing correct words does not guarantee that any subsequent activity has matured.</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Language + information</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Sakshatkar + bodh</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Anubhav + evidence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Pedagogical reconstruction — recurrent, not an automatic or canonical one-way pipeline.</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35, 90, 273–301, 317  ·  KD §3.17  ·  JV p. 26  ·  AnalyticMadhyasthDarshan.org  ·  28 / 33</a:t>
            </a:r>
          </a:p>
        </p:txBody>
      </p:sp>
    </p:spTree>
    <p:extLst>
      <p:ext uri="{BB962C8B-B14F-4D97-AF65-F5344CB8AC3E}">
        <p14:creationId xmlns:p14="http://schemas.microsoft.com/office/powerpoint/2010/main" val="170148834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§§1.5–1.6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Failures Block Knowing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bauddhik rahasya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Reflection does not reach realisation, or realisation does not project as evidence; the faculties remain misaligned.</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is the middle failure: form, property, essential nature, or dharma is not understood as it is, producing doubt, over-evaluation, under-evaluation, and mis-evaluation.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requires renewed attention, reflection, action, result, and evaluation — not a stronger assertion of the original belief.</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184, 209, 263–264, 273–301, 317  ·  AnalyticMadhyasthDarshan.org  ·  29 / 33</a:t>
            </a:r>
          </a:p>
        </p:txBody>
      </p:sp>
    </p:spTree>
    <p:extLst>
      <p:ext uri="{BB962C8B-B14F-4D97-AF65-F5344CB8AC3E}">
        <p14:creationId xmlns:p14="http://schemas.microsoft.com/office/powerpoint/2010/main" val="156369508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COMPLETION OF THE TRIAD</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Coherence Without Merger</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At realisation, the triad is completed without erasing its terms. Coexistence remains real, jeevan remains a distinct active knower, and knowledge is the realised relation that becomes wisdom, science, and humane conduct.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realised relation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Understanding joins what exists, who understands it, and how that understanding must guide evaluation and participation.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distinct jeevan</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bears realisation and authenticity; the human joint form makes these capacities communicable and answerable to consequence.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Known — real coexistence</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Omnipresence, units, orders, relationships, values, and humane conduct remain the real field of knowing; they are not dissolved by understanding.</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Meaning — awakened living</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as resolution in the person, prosperity in the family, fearlessness in society, and coexistence in universal orderliness.</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Coherence of roles does not mean identity of knower and known. — KD §3.17 · MVD pp. 14–15, 115–116 · SB p. 81  ·  AnalyticMadhyasthDarshan.org  ·  30 / 33</a:t>
            </a:r>
          </a:p>
        </p:txBody>
      </p:sp>
    </p:spTree>
    <p:extLst>
      <p:ext uri="{BB962C8B-B14F-4D97-AF65-F5344CB8AC3E}">
        <p14:creationId xmlns:p14="http://schemas.microsoft.com/office/powerpoint/2010/main" val="162786451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EPISTEMIC DISCIPLINE</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Practical Discriminations and Evidential Limits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Test right use — do bodily and material practices support health, proportion, prosperity, and ecological complementarity without repression or accumulation?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Test capability and mutuality — does help increase independence and capacity, and does value-fulfilment satisfy both participants?</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Stable harmony is not temporary affect  —  correct intent can meet incapacity, scarcity, refusal, illness, or conflict; ontology, conduct, and self-report therefore need independent checks.</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framework is strongest when difficult cases, mixed results, and evidential boundaries are stated plainly rather than absorbed into a claim of awakening.  ·  AnalyticMadhyasthDarshan.org  ·  31 / 33</a:t>
            </a:r>
          </a:p>
        </p:txBody>
      </p:sp>
    </p:spTree>
    <p:extLst>
      <p:ext uri="{BB962C8B-B14F-4D97-AF65-F5344CB8AC3E}">
        <p14:creationId xmlns:p14="http://schemas.microsoft.com/office/powerpoint/2010/main" val="175942399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WHAT MADHYASTH DARSHAN ESTABLISHES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that becomes resolution and guides right participation.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active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units, orders, relationships, values, self, bodily conditions,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coordinated activities, cognisance regulating sensitivity, disciplined study, and recurrent reflection–projection.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renewed attention, action, result, evaluation, practical discrimination, and correction.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Coherence across realisation, relationship, mutual satisfaction, work, ecological practice, upakar, conveyance, and corrigible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knower, known, conduct, and the human aspiration for happiness no longer contradict one another.  ·  AnalyticMadhyasthDarshan.org  ·  32 / 33</a:t>
            </a:r>
          </a:p>
        </p:txBody>
      </p:sp>
    </p:spTree>
    <p:extLst>
      <p:ext uri="{BB962C8B-B14F-4D97-AF65-F5344CB8AC3E}">
        <p14:creationId xmlns:p14="http://schemas.microsoft.com/office/powerpoint/2010/main" val="1531490578"/>
      </p:ext>
    </p:extLst>
  </p:cSld>
</p:sld>
</file>

<file path=ppt/slides/slide3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GOALS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realisation regulates embodied life and coheres across relationship, work, evaluation, upakar, and transmission.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not a mechanical one-to-one ladder; every scale must remain coherent with the others.  ·  AnalyticMadhyasthDarshan.org  ·  33 / 33</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2026-07-29T16:43:12.8330000Z</dcterms:created>
  <dcterms:modified xsi:type="dcterms:W3CDTF">2026-07-29T16:43:12.8330000Z</dcterms:modified>
</coreProperties>
</file>