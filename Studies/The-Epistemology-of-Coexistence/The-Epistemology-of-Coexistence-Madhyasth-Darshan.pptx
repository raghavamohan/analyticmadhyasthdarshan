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e78bea96f974f9d" Type="http://schemas.openxmlformats.org/officeDocument/2006/relationships/officeDocument" Target="ppt/presentation.xml"/><Relationship Id="R8b6e3758b5234210" Type="http://schemas.openxmlformats.org/package/2006/relationships/metadata/core-properties" Target="docProps/core.xml"/><Relationship Id="Ra726226892fc4041"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14fc4a5734c4ced"/>
  </p:sldMasterIdLst>
  <p:notesMasterIdLst>
    <p:notesMasterId xmlns:r="http://schemas.openxmlformats.org/officeDocument/2006/relationships" r:id="R72378841bfe647b4"/>
  </p:notesMasterIdLst>
  <p:sldIdLst>
    <p:sldId xmlns:r="http://schemas.openxmlformats.org/officeDocument/2006/relationships" id="256" r:id="R1ff5b796be6e465c"/>
    <p:sldId xmlns:r="http://schemas.openxmlformats.org/officeDocument/2006/relationships" id="257" r:id="R6baa5a03caad437d"/>
    <p:sldId xmlns:r="http://schemas.openxmlformats.org/officeDocument/2006/relationships" id="258" r:id="rId5"/>
    <p:sldId xmlns:r="http://schemas.openxmlformats.org/officeDocument/2006/relationships" id="259" r:id="rId8"/>
    <p:sldId xmlns:r="http://schemas.openxmlformats.org/officeDocument/2006/relationships" id="260" r:id="rId4"/>
    <p:sldId xmlns:r="http://schemas.openxmlformats.org/officeDocument/2006/relationships" id="261" r:id="Rc86e2cc5ea9d4a22"/>
    <p:sldId xmlns:r="http://schemas.openxmlformats.org/officeDocument/2006/relationships" id="262" r:id="R431557a5918c4798"/>
    <p:sldId xmlns:r="http://schemas.openxmlformats.org/officeDocument/2006/relationships" id="263" r:id="Rb5839b2540ed4948"/>
    <p:sldId xmlns:r="http://schemas.openxmlformats.org/officeDocument/2006/relationships" id="264" r:id="Rae453c510cbb4683"/>
    <p:sldId xmlns:r="http://schemas.openxmlformats.org/officeDocument/2006/relationships" id="265" r:id="R0641b7f3a46146f0"/>
    <p:sldId xmlns:r="http://schemas.openxmlformats.org/officeDocument/2006/relationships" id="267" r:id="Re1d2b139cd60454b"/>
    <p:sldId xmlns:r="http://schemas.openxmlformats.org/officeDocument/2006/relationships" id="268" r:id="Ra76af168df0143c6"/>
    <p:sldId xmlns:r="http://schemas.openxmlformats.org/officeDocument/2006/relationships" id="269" r:id="rId6"/>
    <p:sldId xmlns:r="http://schemas.openxmlformats.org/officeDocument/2006/relationships" id="270" r:id="Ra74cc10476684d2f"/>
    <p:sldId xmlns:r="http://schemas.openxmlformats.org/officeDocument/2006/relationships" id="271" r:id="R9824f301f1114696"/>
    <p:sldId xmlns:r="http://schemas.openxmlformats.org/officeDocument/2006/relationships" id="272" r:id="Rb96d36736457439d"/>
    <p:sldId xmlns:r="http://schemas.openxmlformats.org/officeDocument/2006/relationships" id="273" r:id="rId9"/>
    <p:sldId xmlns:r="http://schemas.openxmlformats.org/officeDocument/2006/relationships" id="274" r:id="R386d44af08284e9f"/>
    <p:sldId xmlns:r="http://schemas.openxmlformats.org/officeDocument/2006/relationships" id="275" r:id="R180c5ebd721546cc"/>
    <p:sldId xmlns:r="http://schemas.openxmlformats.org/officeDocument/2006/relationships" id="276" r:id="Rf7ee8460a42c4890"/>
    <p:sldId xmlns:r="http://schemas.openxmlformats.org/officeDocument/2006/relationships" id="277" r:id="rId10"/>
    <p:sldId xmlns:r="http://schemas.openxmlformats.org/officeDocument/2006/relationships" id="278" r:id="R281a9fdc7fb14145"/>
    <p:sldId xmlns:r="http://schemas.openxmlformats.org/officeDocument/2006/relationships" id="279" r:id="rId2"/>
    <p:sldId xmlns:r="http://schemas.openxmlformats.org/officeDocument/2006/relationships" id="280" r:id="rId1"/>
    <p:sldId xmlns:r="http://schemas.openxmlformats.org/officeDocument/2006/relationships" id="281" r:id="rId3"/>
    <p:sldId xmlns:r="http://schemas.openxmlformats.org/officeDocument/2006/relationships" id="282" r:id="rId7"/>
    <p:sldId xmlns:r="http://schemas.openxmlformats.org/officeDocument/2006/relationships" id="283" r:id="R84d98faa59ca4b47"/>
    <p:sldId xmlns:r="http://schemas.openxmlformats.org/officeDocument/2006/relationships" id="284" r:id="R09caf90d95d94412"/>
    <p:sldId xmlns:r="http://schemas.openxmlformats.org/officeDocument/2006/relationships" id="285" r:id="R5d3860ccf1d74b77"/>
    <p:sldId xmlns:r="http://schemas.openxmlformats.org/officeDocument/2006/relationships" id="286" r:id="R081c050ade194289"/>
    <p:sldId xmlns:r="http://schemas.openxmlformats.org/officeDocument/2006/relationships" id="287" r:id="Rb2f9362a44874532"/>
    <p:sldId xmlns:r="http://schemas.openxmlformats.org/officeDocument/2006/relationships" id="288" r:id="Rcf8a3b1884494a9d"/>
    <p:sldId xmlns:r="http://schemas.openxmlformats.org/officeDocument/2006/relationships" id="289" r:id="Rd8cbd252bf8b47b0"/>
    <p:sldId xmlns:r="http://schemas.openxmlformats.org/officeDocument/2006/relationships" id="290" r:id="Rabc1592b7c15417a"/>
    <p:sldId xmlns:r="http://schemas.openxmlformats.org/officeDocument/2006/relationships" id="291" r:id="Ra73dd77758134a46"/>
    <p:sldId xmlns:r="http://schemas.openxmlformats.org/officeDocument/2006/relationships" id="292" r:id="Rb8457441c37a47f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641b7f3a46146f0" Type="http://schemas.openxmlformats.org/officeDocument/2006/relationships/slide" Target="slides/slide10.xml"/><Relationship Id="R081c050ade194289" Type="http://schemas.openxmlformats.org/officeDocument/2006/relationships/slide" Target="slides/slide30.xml"/><Relationship Id="R09caf90d95d94412" Type="http://schemas.openxmlformats.org/officeDocument/2006/relationships/slide" Target="slides/slide28.xml"/><Relationship Id="R180c5ebd721546cc" Type="http://schemas.openxmlformats.org/officeDocument/2006/relationships/slide" Target="slides/slide19.xml"/><Relationship Id="R1d3e638f8c704711" Type="http://schemas.openxmlformats.org/officeDocument/2006/relationships/viewProps" Target="viewProps.xml"/><Relationship Id="R1ff5b796be6e465c" Type="http://schemas.openxmlformats.org/officeDocument/2006/relationships/slide" Target="slides/slide1.xml"/><Relationship Id="R281a9fdc7fb14145" Type="http://schemas.openxmlformats.org/officeDocument/2006/relationships/slide" Target="slides/slide22.xml"/><Relationship Id="R386d44af08284e9f" Type="http://schemas.openxmlformats.org/officeDocument/2006/relationships/slide" Target="slides/slide18.xml"/><Relationship Id="R431557a5918c4798" Type="http://schemas.openxmlformats.org/officeDocument/2006/relationships/slide" Target="slides/slide7.xml"/><Relationship Id="R5d3860ccf1d74b77" Type="http://schemas.openxmlformats.org/officeDocument/2006/relationships/slide" Target="slides/slide29.xml"/><Relationship Id="R6baa5a03caad437d" Type="http://schemas.openxmlformats.org/officeDocument/2006/relationships/slide" Target="slides/slide2.xml"/><Relationship Id="R72378841bfe647b4" Type="http://schemas.openxmlformats.org/officeDocument/2006/relationships/notesMaster" Target="notesMasters/notesMaster1.xml"/><Relationship Id="R84d98faa59ca4b47" Type="http://schemas.openxmlformats.org/officeDocument/2006/relationships/slide" Target="slides/slide27.xml"/><Relationship Id="R9824f301f1114696" Type="http://schemas.openxmlformats.org/officeDocument/2006/relationships/slide" Target="slides/slide15.xml"/><Relationship Id="Ra73dd77758134a46" Type="http://schemas.openxmlformats.org/officeDocument/2006/relationships/slide" Target="slides/slide35.xml"/><Relationship Id="Ra74cc10476684d2f" Type="http://schemas.openxmlformats.org/officeDocument/2006/relationships/slide" Target="slides/slide14.xml"/><Relationship Id="Ra76af168df0143c6" Type="http://schemas.openxmlformats.org/officeDocument/2006/relationships/slide" Target="slides/slide12.xml"/><Relationship Id="Rabc1592b7c15417a" Type="http://schemas.openxmlformats.org/officeDocument/2006/relationships/slide" Target="slides/slide34.xml"/><Relationship Id="Racf2c32732694915" Type="http://schemas.openxmlformats.org/officeDocument/2006/relationships/presProps" Target="presProps.xml"/><Relationship Id="Rae453c510cbb4683" Type="http://schemas.openxmlformats.org/officeDocument/2006/relationships/slide" Target="slides/slide9.xml"/><Relationship Id="Rb14fc4a5734c4ced" Type="http://schemas.openxmlformats.org/officeDocument/2006/relationships/slideMaster" Target="slideMasters/slideMaster1.xml"/><Relationship Id="Rb2f9362a44874532" Type="http://schemas.openxmlformats.org/officeDocument/2006/relationships/slide" Target="slides/slide31.xml"/><Relationship Id="Rb5839b2540ed4948" Type="http://schemas.openxmlformats.org/officeDocument/2006/relationships/slide" Target="slides/slide8.xml"/><Relationship Id="Rb8457441c37a47ff" Type="http://schemas.openxmlformats.org/officeDocument/2006/relationships/slide" Target="slides/slide36.xml"/><Relationship Id="Rb96d36736457439d" Type="http://schemas.openxmlformats.org/officeDocument/2006/relationships/slide" Target="slides/slide16.xml"/><Relationship Id="Rc86e2cc5ea9d4a22" Type="http://schemas.openxmlformats.org/officeDocument/2006/relationships/slide" Target="slides/slide6.xml"/><Relationship Id="Rcf8a3b1884494a9d" Type="http://schemas.openxmlformats.org/officeDocument/2006/relationships/slide" Target="slides/slide32.xml"/><Relationship Id="Rd8cbd252bf8b47b0" Type="http://schemas.openxmlformats.org/officeDocument/2006/relationships/slide" Target="slides/slide33.xml"/><Relationship Id="Rdea2e66bcdaf4e12" Type="http://schemas.openxmlformats.org/officeDocument/2006/relationships/tableStyles" Target="tableStyles.xml"/><Relationship Id="Re1d2b139cd60454b" Type="http://schemas.openxmlformats.org/officeDocument/2006/relationships/slide" Target="slides/slide11.xml"/><Relationship Id="Re623d44da4644ce7" Type="http://schemas.openxmlformats.org/officeDocument/2006/relationships/theme" Target="theme/theme1.xml"/><Relationship Id="Rf7ee8460a42c4890" Type="http://schemas.openxmlformats.org/officeDocument/2006/relationships/slide" Target="slides/slide20.xml"/><Relationship Id="rId1" Type="http://schemas.openxmlformats.org/officeDocument/2006/relationships/slide" Target="slides/slide24.xml"/><Relationship Id="rId2" Type="http://schemas.openxmlformats.org/officeDocument/2006/relationships/slide" Target="slides/slide23.xml"/><Relationship Id="rId3" Type="http://schemas.openxmlformats.org/officeDocument/2006/relationships/slide" Target="slides/slide25.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13.xml"/><Relationship Id="rId7" Type="http://schemas.openxmlformats.org/officeDocument/2006/relationships/slide" Target="slides/slide26.xml"/><Relationship Id="rId8" Type="http://schemas.openxmlformats.org/officeDocument/2006/relationships/slide" Target="slides/slide4.xml"/><Relationship Id="rId9" Type="http://schemas.openxmlformats.org/officeDocument/2006/relationships/slide" Target="slides/slide17.xml"/><Relationship Id="rId1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8527f22b680e40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1453fc40d7384362" Type="http://schemas.openxmlformats.org/officeDocument/2006/relationships/notesMaster" Target="../notesMasters/notesMaster1.xml"/><Relationship Id="R410d042a02e9409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a816bdfc2352489e" Type="http://schemas.openxmlformats.org/officeDocument/2006/relationships/notesMaster" Target="../notesMasters/notesMaster1.xml"/><Relationship Id="Rae57a0d9f956441a"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7df665e9c3c74b62" Type="http://schemas.openxmlformats.org/officeDocument/2006/relationships/notesMaster" Target="../notesMasters/notesMaster1.xml"/><Relationship Id="Re759572e012d4a88"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6cff79eb0b6f4221" Type="http://schemas.openxmlformats.org/officeDocument/2006/relationships/notesMaster" Target="../notesMasters/notesMaster1.xml"/><Relationship Id="Rbb889cf10172486c"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52be7629792540ff" Type="http://schemas.openxmlformats.org/officeDocument/2006/relationships/notesMaster" Target="../notesMasters/notesMaster1.xml"/><Relationship Id="R82ca9fe4f1ae48f8"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69ef92111a6f4efb" Type="http://schemas.openxmlformats.org/officeDocument/2006/relationships/notesMaster" Target="../notesMasters/notesMaster1.xml"/><Relationship Id="R6a623d7ff8164b0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f210411f9f4e47c4" Type="http://schemas.openxmlformats.org/officeDocument/2006/relationships/notesMaster" Target="../notesMasters/notesMaster1.xml"/><Relationship Id="Rf792765c5f90418c"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187801c43ac84600" Type="http://schemas.openxmlformats.org/officeDocument/2006/relationships/slide" Target="../slides/slide11.xml"/><Relationship Id="Rae02a93483c4479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5c57e52e2044f98" Type="http://schemas.openxmlformats.org/officeDocument/2006/relationships/slide" Target="../slides/slide14.xml"/><Relationship Id="Re23c34d051b94b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xml.rels><?xml version='1.0' encoding='UTF-8' standalone='yes'?>
<Relationships xmlns="http://schemas.openxmlformats.org/package/2006/relationships"><Relationship Id="R19183fd1915948bb" Type="http://schemas.openxmlformats.org/officeDocument/2006/relationships/notesMaster" Target="../notesMasters/notesMaster1.xml"/><Relationship Id="R214ffc77904f4653"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1e6b8965ee8348bd" Type="http://schemas.openxmlformats.org/officeDocument/2006/relationships/notesMaster" Target="../notesMasters/notesMaster1.xml"/><Relationship Id="Ra9cd8004bbd2469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b71c82686363421e" Type="http://schemas.openxmlformats.org/officeDocument/2006/relationships/slide" Target="../slides/slide20.xml"/><Relationship Id="Rbd6e1c133a5c46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65c36dac874038" Type="http://schemas.openxmlformats.org/officeDocument/2006/relationships/notesMaster" Target="../notesMasters/notesMaster1.xml"/><Relationship Id="Rd99facc338fa4ea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3de102cd5c174d80" Type="http://schemas.openxmlformats.org/officeDocument/2006/relationships/notesMaster" Target="../notesMasters/notesMaster1.xml"/><Relationship Id="Rf4d0b2193a5748b9"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535625a1daf042e6" Type="http://schemas.openxmlformats.org/officeDocument/2006/relationships/notesMaster" Target="../notesMasters/notesMaster1.xml"/><Relationship Id="R9eecf89b59a345c1"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1d705b987c304eeb" Type="http://schemas.openxmlformats.org/officeDocument/2006/relationships/slide" Target="../slides/slide29.xml"/><Relationship Id="R3229c6f88879495e"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8a4da538cd4f4fe6" Type="http://schemas.openxmlformats.org/officeDocument/2006/relationships/slide" Target="../slides/slide30.xml"/><Relationship Id="Ra0f3f21773f14a6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1ac943235c74453" Type="http://schemas.openxmlformats.org/officeDocument/2006/relationships/notesMaster" Target="../notesMasters/notesMaster1.xml"/><Relationship Id="Rff451925f3564e0e"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267d42359ad14736" Type="http://schemas.openxmlformats.org/officeDocument/2006/relationships/slide" Target="../slides/slide16.xml"/><Relationship Id="Rebd017ce68c145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0353795fbd49e6" Type="http://schemas.openxmlformats.org/officeDocument/2006/relationships/notesMaster" Target="../notesMasters/notesMaster1.xml"/><Relationship Id="R33110daa869146ee"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06b8f600c4044386" Type="http://schemas.openxmlformats.org/officeDocument/2006/relationships/slide" Target="../slides/slide32.xml"/><Relationship Id="R7b35f791f7d4428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985ba0ad5cbf4016" Type="http://schemas.openxmlformats.org/officeDocument/2006/relationships/slide" Target="../slides/slide33.xml"/><Relationship Id="Rfc79bee530c749d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370ecff3ae14cbc" Type="http://schemas.openxmlformats.org/officeDocument/2006/relationships/notesMaster" Target="../notesMasters/notesMaster1.xml"/><Relationship Id="Rd0d794e0fcee4ac9"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xml.rels><?xml version='1.0' encoding='UTF-8' standalone='yes'?>
<Relationships xmlns="http://schemas.openxmlformats.org/package/2006/relationships"><Relationship Id="R48fc9a8af8c94b8a" Type="http://schemas.openxmlformats.org/officeDocument/2006/relationships/notesMaster" Target="../notesMasters/notesMaster1.xml"/><Relationship Id="R4f31256709fc492e"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421d9e7c706d437e" Type="http://schemas.openxmlformats.org/officeDocument/2006/relationships/notesMaster" Target="../notesMasters/notesMaster1.xml"/><Relationship Id="R800ea61f3b724490"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b5eb192a86474d39" Type="http://schemas.openxmlformats.org/officeDocument/2006/relationships/notesMaster" Target="../notesMasters/notesMaster1.xml"/><Relationship Id="Re4207851842e42f7"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revised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movement has two halves. First the knower: five loci, ten activities, reflection and projection, the joint form. Then what its knowing must govern: bodily propensity, social motive, deliberation, and the order carried by every activity.</a:t>
            </a:r>
          </a:p>
          <a:p/>
          <a:p>
            <a:r>
              <a:t>[Sources]</a:t>
            </a:r>
          </a:p>
          <a:p>
            <a:r>
              <a:t>- The Epistemology of Coexistence, §§1.3–1.4</a:t>
            </a:r>
          </a:p>
          <a:p>
            <a:r>
              <a:t>- JV pp. 92–93</a:t>
            </a:r>
          </a:p>
          <a:p>
            <a:r>
              <a:t>- KD §§3.12, 3.16–3.17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Pervasive knowledge here names coexistence itself: Omnipresence together with Nature is the knowledge to be known. This does not make Omnipresence a perceiving subject; jeevan is the knower. Atma realises coexistence and buddhi receives bodh, after which comprehensive samadhan becomes accessible. Samadhan is clarity about the why and how of activity. Happiness, peace, contentment, and bliss are internal harmonies within jeevan. In relationship, justice is evidenced through recognition, value-fulfilment, evaluation, and mutual satisfaction. Conduct is evidence of understanding, not the definition of knowledge itself.</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35, 115–116, 207–208, 289, 311</a:t>
            </a:r>
          </a:p>
          <a:p xmlns:a="http://schemas.openxmlformats.org/drawingml/2006/main">
            <a:pPr marL="0" indent="0" algn="l">
              <a:spcBef>
                <a:spcPts val="0"/>
              </a:spcBef>
              <a:spcAft>
                <a:spcPts val="0"/>
              </a:spcAft>
              <a:buNone/>
            </a:pPr>
            <a:r>
              <a:t>- KD pp. 66,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Complete knowledge has three inseparable contents. Humane conduct is not an ethical add-on after knowledge; it is one of the things that must be understood.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a:t>
            </a:r>
          </a:p>
          <a:p xmlns:a="http://schemas.openxmlformats.org/drawingml/2006/main">
            <a:pPr marL="0" indent="0" algn="l">
              <a:spcBef>
                <a:spcPts val="0"/>
              </a:spcBef>
              <a:spcAft>
                <a:spcPts val="0"/>
              </a:spcAft>
              <a:buNone/>
            </a:pPr>
            <a:r>
              <a:t>- SB p. 116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triad and then guard it. The roles stay distinct: jeevan knows, coexistence is known, and knowledge is their realised relation made evident in life. At realisation the triad is completed without erasing its terms — brahma satya hai, jagat satat hai, the ground is truth and the world perpetual. This is where Madhyasth Darshan parts from a non-dual reading: coherence of roles is not identity of knower and known.</a:t>
            </a:r>
          </a:p>
          <a:p xmlns:a="http://schemas.openxmlformats.org/drawingml/2006/main"/>
          <a:p xmlns:a="http://schemas.openxmlformats.org/drawingml/2006/main">
            <a:r>
              <a:t>[Sources]</a:t>
            </a:r>
          </a:p>
          <a:p xmlns:a="http://schemas.openxmlformats.org/drawingml/2006/main">
            <a:r>
              <a:t>- The Epistemology of Coexistence, §1.1</a:t>
            </a:r>
          </a:p>
          <a:p xmlns:a="http://schemas.openxmlformats.org/drawingml/2006/main">
            <a:r>
              <a:t>- KD §3.17</a:t>
            </a:r>
          </a:p>
          <a:p xmlns:a="http://schemas.openxmlformats.org/drawingml/2006/main">
            <a:r>
              <a:t>- MVD pp. 14–15, 115–116</a:t>
            </a:r>
          </a:p>
          <a:p xmlns:a="http://schemas.openxmlformats.org/drawingml/2006/main">
            <a:r>
              <a:t>- SB p. 81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known spans physical, intellectual, and coexistential domains. Do not turn the distinction into three unrelated realities; they are regions of one coexistential field.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answer different questions. Knowledge establishes reality, wisdom recognises the humane goal, and science gives reliable direction for material prosperity together with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169</a:t>
            </a:r>
          </a:p>
          <a:p xmlns:a="http://schemas.openxmlformats.org/drawingml/2006/main">
            <a:pPr marL="0" indent="0" algn="l">
              <a:spcBef>
                <a:spcPts val="0"/>
              </a:spcBef>
              <a:spcAft>
                <a:spcPts val="0"/>
              </a:spcAft>
              <a:buNone/>
            </a:pPr>
            <a:r>
              <a:t>- MVD pp. 208–209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Specify the level whenever using cause, doer, and effect. The compact epistemic assignment and the broader existential assignment are related but not interchangeable; seeking adds aim, seeker, and means.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Establish the canonical taxonomy before anything is built on it: five loci, ten activities, and two directions of the same ten. Then name the darshan itself. Atma is madhyasth — mediative — and by its centrality the mediative activity attains the touch of knowledge in every dimension. Mediativeness is neither neutrality between options nor compromise between doctrines; its test is coherence between what is understood and what is done.</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JV pp. 72–73, 92–93</a:t>
            </a:r>
          </a:p>
          <a:p xmlns:a="http://schemas.openxmlformats.org/drawingml/2006/main">
            <a:r>
              <a:t>- MVD p. 211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the predicament, not a definition. The knowledge order has happiness as its dharma, but imagination and freedom of action arrive without the understanding needed to direct them. Delusion is the specific failure: the body is taken as the self and sensory satisfaction is expected to fulfil jeevan. Resolution is not the cessation of anxious thought — it is understanding the relevant realities together with adequate answers to why and how in activity.</a:t>
            </a:r>
          </a:p>
          <a:p/>
          <a:p>
            <a:r>
              <a:t>[Sources]</a:t>
            </a:r>
          </a:p>
          <a:p>
            <a:r>
              <a:t>- The Epistemology of Coexistence, §1.2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Emphasise recurrence, not a one-way pipeline. Reflection is the knowing direction and projection the evidencing direction of one active jeevan. Projection gives reflection material to evaluate; corrected reflection guides the next projection. Reflection without projection remains unevidenced, while projection without reflection repeats habit. The four-step diagram is a pedagogical synthesis, not a canonical list.</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KD §§3.12, 3.16–3.17</a:t>
            </a:r>
          </a:p>
          <a:p xmlns:a="http://schemas.openxmlformats.org/drawingml/2006/main">
            <a:r>
              <a:t>- 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the necessary instrument of evidence, but the texts place knowing and evaluation in jeevan. The slide states the primary-text claim and does not pretend to supply a modern neurophysical mechanism.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is incomplete functioning of the knower, not merely missing information. In awakening, reflection reaches enlightenment and realisation; projection is then organised by understanding rather than pleasure, health, and profit as final criteria.</a:t>
            </a:r>
          </a:p>
          <a:p xmlns:a="http://schemas.openxmlformats.org/drawingml/2006/main">
            <a:r>
              <a:t/>
            </a:r>
          </a:p>
          <a:p xmlns:a="http://schemas.openxmlformats.org/drawingml/2006/main">
            <a:r>
              <a:t>[Sources]</a:t>
            </a:r>
          </a:p>
          <a:p xmlns:a="http://schemas.openxmlformats.org/drawingml/2006/main">
            <a:r>
              <a:t>- JV pp. 73, 92–93</a:t>
            </a:r>
          </a:p>
          <a:p xmlns:a="http://schemas.openxmlformats.org/drawingml/2006/main">
            <a:r>
              <a:t>- KD §3.17, p. 147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Cognisance is jeevan's knowing-and-accepting capacity; sensitivity is embodied responsiveness through the five senses. Sensory contact is required for bodily interaction but does not by repetition yield the continuous satisfaction jeevan seeks. The awakened human regulates sensitivity through cognisance while retaining both in balance. Place this before the fork: the fork turns on which of the two governs.</a:t>
            </a:r>
          </a:p>
          <a:p xmlns:a="http://schemas.openxmlformats.org/drawingml/2006/main"/>
          <a:p xmlns:a="http://schemas.openxmlformats.org/drawingml/2006/main">
            <a:r>
              <a:t>[Sources]</a:t>
            </a:r>
          </a:p>
          <a:p xmlns:a="http://schemas.openxmlformats.org/drawingml/2006/main">
            <a:r>
              <a:t>- The Epistemology of Coexistence, §1.3</a:t>
            </a:r>
          </a:p>
          <a:p xmlns:a="http://schemas.openxmlformats.org/drawingml/2006/main">
            <a:r>
              <a:t>- SB p. 64</a:t>
            </a:r>
          </a:p>
          <a:p xmlns:a="http://schemas.openxmlformats.org/drawingml/2006/main">
            <a:r>
              <a:t>- MVD pp. 49–51, 166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are not simply condemned. Knowledge, wisdom, and science redirect progeny, wealth, and public recognition toward education, prosperity and right use, and accountable social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50, 169, 303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Make the fifth activity visible: evaluating. Correct intention and recognition are insufficient unless capacity, fulfilment, actual result, and mutuality are examined. Mutual satisfaction is the relational result of justice, not a fifth jeevan value.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12, 310–311</a:t>
            </a:r>
          </a:p>
          <a:p xmlns:a="http://schemas.openxmlformats.org/drawingml/2006/main">
            <a:pPr marL="0" indent="0" algn="l">
              <a:spcBef>
                <a:spcPts val="0"/>
              </a:spcBef>
              <a:spcAft>
                <a:spcPts val="0"/>
              </a:spcAft>
              <a:buNone/>
            </a:pPr>
            <a:r>
              <a:t>- JV p. 55</a:t>
            </a:r>
          </a:p>
          <a:p xmlns:a="http://schemas.openxmlformats.org/drawingml/2006/main">
            <a:pPr marL="0" indent="0" algn="l">
              <a:spcBef>
                <a:spcPts val="0"/>
              </a:spcBef>
              <a:spcAft>
                <a:spcPts val="0"/>
              </a:spcAft>
              <a:buNone/>
            </a:pPr>
            <a:r>
              <a:t>- SB p. 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joins aspiration, action, result, and effect. Material means, capacity, other people, and environment mediate the result, so intention cannot stand in for evidence.</a:t>
            </a:r>
          </a:p>
          <a:p xmlns:a="http://schemas.openxmlformats.org/drawingml/2006/main">
            <a:r>
              <a:t/>
            </a:r>
          </a:p>
          <a:p xmlns:a="http://schemas.openxmlformats.org/drawingml/2006/main">
            <a:r>
              <a:t>[Sources]</a:t>
            </a:r>
          </a:p>
          <a:p xmlns:a="http://schemas.openxmlformats.org/drawingml/2006/main">
            <a:r>
              <a:t>- KD Ch. 1</a:t>
            </a:r>
          </a:p>
          <a:p xmlns:a="http://schemas.openxmlformats.org/drawingml/2006/main">
            <a:r>
              <a:t>- The Epistemology of Coexistence,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returns consequence to the knower. Over-evaluation, under-evaluation, and mis-evaluation become explicit sites of correction rather than being protected by the original intention.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263–264</a:t>
            </a:r>
          </a:p>
          <a:p xmlns:a="http://schemas.openxmlformats.org/drawingml/2006/main">
            <a:pPr marL="0" indent="0" algn="l">
              <a:spcBef>
                <a:spcPts val="0"/>
              </a:spcBef>
              <a:spcAft>
                <a:spcPts val="0"/>
              </a:spcAft>
              <a:buNone/>
            </a:pPr>
            <a:r>
              <a:t>- KD Ch.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not a generic subject term. Understanding, embodied doing, and experienced result belong together without collapsing one into another.</a:t>
            </a:r>
          </a:p>
          <a:p xmlns:a="http://schemas.openxmlformats.org/drawingml/2006/main">
            <a:r>
              <a:t/>
            </a:r>
          </a:p>
          <a:p xmlns:a="http://schemas.openxmlformats.org/drawingml/2006/main">
            <a:r>
              <a:t>[Sources]</a:t>
            </a:r>
          </a:p>
          <a:p xmlns:a="http://schemas.openxmlformats.org/drawingml/2006/main">
            <a:r>
              <a:t>- KD §3.18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values are stated as relations between the activity-centres named on the previous slide, which is why they belong here rather than earlier. Happiness between mun and vritti, peace between vritti and chitta, contentment between chitta and buddhi, bliss between buddhi and atma. They are relations among activities, not quantities on one scale — so material success cannot compensate for unresolved understanding, and private calm cannot substitute for unjust relationship. Slide 36 pairs them with the four human goals.</a:t>
            </a:r>
          </a:p>
          <a:p xmlns:a="http://schemas.openxmlformats.org/drawingml/2006/main"/>
          <a:p xmlns:a="http://schemas.openxmlformats.org/drawingml/2006/main">
            <a:r>
              <a:t>[Sources]</a:t>
            </a:r>
          </a:p>
          <a:p xmlns:a="http://schemas.openxmlformats.org/drawingml/2006/main">
            <a:r>
              <a:t>- The Epistemology of Coexistence, §1.2</a:t>
            </a:r>
          </a:p>
          <a:p xmlns:a="http://schemas.openxmlformats.org/drawingml/2006/main">
            <a:r>
              <a:t>- MVD pp. 207–208, 327</a:t>
            </a:r>
          </a:p>
          <a:p xmlns:a="http://schemas.openxmlformats.org/drawingml/2006/main">
            <a:r>
              <a:t>- JV p. 138</a:t>
            </a:r>
          </a:p>
          <a:p xmlns:a="http://schemas.openxmlformats.org/drawingml/2006/main">
            <a:r>
              <a:t>- KD p.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movement with the darshan's own formulation rather than a paraphrase. Read the chain aloud: realisation itself is the ultimate evidence; evidence itself is the understanding or knowledge; understanding itself is manifest; the manifest itself is resolution, work and behaviour; work and behaviour itself is evidence; evidence itself is awakened tradition; awakened tradition itself is coexistence. Its practical sequence is realisation, behaviour, and experiment — and experiment includes productive and lived participation, not only controlled laboratory procedure. This is a broader evidence regime than the natural sciences require: first-person realisation, second-person conveyance, and publicly observable work must all cohere.</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 12</a:t>
            </a:r>
          </a:p>
          <a:p xmlns:a="http://schemas.openxmlformats.org/drawingml/2006/main">
            <a:r>
              <a:t>- SB pp. 44,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five nearby terms separate. Sensory contact is a bodily condition; pratyaksha is direct accessibility; sakshatkar is meaning-recognition in chitta; bodh is enlightenment in buddhi; and anubhav is realisation in atma.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pp. 20–21, §3.17</a:t>
            </a:r>
          </a:p>
          <a:p xmlns:a="http://schemas.openxmlformats.org/drawingml/2006/main">
            <a:pPr marL="0" indent="0" algn="l">
              <a:spcBef>
                <a:spcPts val="0"/>
              </a:spcBef>
              <a:spcAft>
                <a:spcPts val="0"/>
              </a:spcAft>
              <a:buNone/>
            </a:pPr>
            <a:r>
              <a:t>- MVD pp. 35, 273–301,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points. First the caution: the displayed movement is a source-faithful pedagogical reconstruction, not a canonical guaranteed ladder — hearing correct words does not guarantee that any later activity has matured. Second, why transmission is not optional. Knowledge claims to be universally accessible rather than a private revelation that must remain ineffable, so comprehension is tested by the capacity to convey it. Conveyance requires more than fluency: the learner must be able to explain, live, evaluate, and make the understanding available without contradiction.</a:t>
            </a:r>
          </a:p>
          <a:p xmlns:a="http://schemas.openxmlformats.org/drawingml/2006/main"/>
          <a:p xmlns:a="http://schemas.openxmlformats.org/drawingml/2006/main">
            <a:r>
              <a:t>[Sources]</a:t>
            </a:r>
          </a:p>
          <a:p xmlns:a="http://schemas.openxmlformats.org/drawingml/2006/main">
            <a:r>
              <a:t>- The Epistemology of Coexistence, §1.6</a:t>
            </a:r>
          </a:p>
          <a:p xmlns:a="http://schemas.openxmlformats.org/drawingml/2006/main">
            <a:r>
              <a:t>- MVD pp. 12, 35, 90</a:t>
            </a:r>
          </a:p>
          <a:p xmlns:a="http://schemas.openxmlformats.org/drawingml/2006/main">
            <a:r>
              <a:t>- 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can enter at acceptance, recognition, fulfilment, or evaluation. Correction therefore requires renewed attention and changed conduct, not only a revised sentence.</a:t>
            </a:r>
          </a:p>
          <a:p xmlns:a="http://schemas.openxmlformats.org/drawingml/2006/main">
            <a:r>
              <a:t/>
            </a:r>
          </a:p>
          <a:p xmlns:a="http://schemas.openxmlformats.org/drawingml/2006/main">
            <a:r>
              <a:t>[Sources]</a:t>
            </a:r>
          </a:p>
          <a:p xmlns:a="http://schemas.openxmlformats.org/drawingml/2006/main">
            <a:r>
              <a:t>- The Epistemology of Coexistence, §§1.5–1.6</a:t>
            </a:r>
          </a:p>
          <a:p xmlns:a="http://schemas.openxmlformats.org/drawingml/2006/main">
            <a:r>
              <a:t>- MVD pp. 184,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movement with the stakes, not the definitions. The human being belongs to the knowledge order, whose dharma is happiness, yet carries imagination and freedom of action without automatically carrying the understanding needed to direct them. Only then state what knowledge is.</a:t>
            </a:r>
          </a:p>
          <a:p/>
          <a:p>
            <a:r>
              <a:t>[Sources]</a:t>
            </a:r>
          </a:p>
          <a:p>
            <a:r>
              <a:t>- The Epistemology of Coexistence, §§1.1–1.2</a:t>
            </a:r>
          </a:p>
          <a:p>
            <a:r>
              <a:t>- MVD pp. 33, 311</a:t>
            </a:r>
          </a:p>
          <a:p>
            <a:r>
              <a:t>- KD §3.17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darshan's own open problems, not an external objection. Conduct-evidence is strongest for claims about resolution, relationship, and humane participation; claims about physical process, neural causation, or post-death continuity require domain-appropriate public tests. The framework still owes a public rule for mixed cases — sound conduct with disputed metaphysics, contemplative certitude with failed prediction, successful production with unjust relationships — and criteria distinguishing restraint from repression, prosperity from accumulation, beneficence from dependency-making, and stable faculty-harmony from temporary positive affect.</a:t>
            </a:r>
          </a:p>
          <a:p xmlns:a="http://schemas.openxmlformats.org/drawingml/2006/main"/>
          <a:p xmlns:a="http://schemas.openxmlformats.org/drawingml/2006/main">
            <a:r>
              <a:t>[Sources]</a:t>
            </a:r>
          </a:p>
          <a:p xmlns:a="http://schemas.openxmlformats.org/drawingml/2006/main">
            <a:r>
              <a:t>- The Epistemology of Coexistence, §§7.2, 7.6–7.7</a:t>
            </a:r>
          </a:p>
          <a:p xmlns:a="http://schemas.openxmlformats.org/drawingml/2006/main">
            <a:r>
              <a:t>- MVD p. 73</a:t>
            </a:r>
          </a:p>
          <a:p xmlns:a="http://schemas.openxmlformats.org/drawingml/2006/main">
            <a:r>
              <a:t>- 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all six questions. The answer is not a belief formula: it integrates realised understanding, active selfhood, embodied regulation, conduct, consequence, and corrigible public evidence.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pairing the four human goals with the four jeevan values while stating the cumulative caution. Resolution bears happiness; with prosperity comes peace; with fearlessness, contentment; and participation in coexistence bears bliss.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p. 112</a:t>
            </a:r>
          </a:p>
          <a:p xmlns:a="http://schemas.openxmlformats.org/drawingml/2006/main">
            <a:pPr marL="0" indent="0" algn="l">
              <a:spcBef>
                <a:spcPts val="0"/>
              </a:spcBef>
              <a:spcAft>
                <a:spcPts val="0"/>
              </a:spcAft>
              <a:buNone/>
            </a:pPr>
            <a:r>
              <a:t>- MVD pp. 207–208</a:t>
            </a:r>
          </a:p>
          <a:p xmlns:a="http://schemas.openxmlformats.org/drawingml/2006/main">
            <a:pPr marL="0" indent="0" algn="l">
              <a:spcBef>
                <a:spcPts val="0"/>
              </a:spcBef>
              <a:spcAft>
                <a:spcPts val="0"/>
              </a:spcAft>
              <a:buNone/>
            </a:pPr>
            <a:r>
              <a:t>- 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Deliberation is not a single judgment. Six perspectives are compared before an activity is selected. Pleasantness, bodily well-being, and gain report real information, but each is relative to changing conditions: what tastes pleasant may damage the body, and what looks profitable to one family may externalise harm to another or to the natural orders. Justice, dharma, and truth ask whether the relationship is actually fulfilled, whether resolution and orderliness are sustained, and whether the understanding accords with realisation in existence. MVD calls deliberation through nyaya, dharma, and satya balanced, and deliberation through priya, hita, and labha unbalanced. State the point as governance, not suppression: the body still needs nourishment and useful means, but pleasure, health, and profit cannot finally authorise an activity that violates justice or produces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Upakar belongs to a higher-human level, above the bodily propensities and the three eshanas. MVD defines it precisely: help and inspiration for another person’s prosperity and awakening. It is not vague charity, not a transactional favour, and not a fourth eshana. It applies capacity the giver has already resolved to another’s material sufficiency and understanding. State the test plainly: help that increases the other’s capability and preserves mutuality fulfils upakar, while help that creates dependency or exploits vulnerability defeats its stated ends. Note also that upakar is one part of the evidence chain, not by itself proof that the giver understands.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of an activity includes the law that protects it, the regulation that keeps it within that law, and the balance that results. Law becomes humanly evident when an activity protects rather than destroys the relationship it depends on; regulation when choice stays aligned with the accepted purpose; balance when the result is mutually fulfilling rather than advantageous to one party only. Guard the common misreading: MVD gives a continuous sequence from knowledge through law, regulation, and balance to justice, dharma, and truth, but this is a functional progression, not three lexical equations. Niyam does not simply mean nyaya, niyantran does not mean dharma, and santulan does not mean satya. Law, regulation, and balance describe the order of activity; justice, dharma, and truth describe the awakened human fulfilling that order.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any of this matters before the deck goes into mechanism. The human being belongs to the knowledge order, whose dharma is happiness, but unlike the prior orders human conduct is not constitutionally fixed: people can accept incompatible beliefs, choose alternatives, and reorganise their environment. Imagination and freedom of action arrive without the understanding needed to direct them, and knowledge is what brings that freedom into agreement with coexistence. Take the four scales in order and stress the definitions, because each is easy to misread. Prosperity is assured availability beyond a properly assessed need, not unlimited accumulation. Fearlessness rests on trust and justice, not on domination. Coexistence at the social level means participation without contradiction. Close on the key point: the four do not substitute for one another, so material sufficiency cannot compensate for unresolved understanding, and private calm cannot substitute for unjust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from the faculty account to the darshan's claims about behaviour. The same ten activities divide into five of state, expressed as force, and five of motion, expressed as power. Named from what becomes observable in a living person, the projected five are hope, thought, desire, resoluteness, and authenticity — which jeevan alone expresses, communicates, and manifests. That is why conduct can carry epistemic weight later in the deck: the activities of jeevan are legible in a person.</a:t>
            </a:r>
          </a:p>
          <a:p/>
          <a:p>
            <a:r>
              <a:t>[Sources]</a:t>
            </a:r>
          </a:p>
          <a:p>
            <a:r>
              <a:t>- The Epistemology of Coexistence, §1.3</a:t>
            </a:r>
          </a:p>
          <a:p>
            <a:r>
              <a:t>- KD §3.6, pp. 70–71</a:t>
            </a:r>
          </a:p>
          <a:p>
            <a:r>
              <a:t>- KD §3.16, p. 145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common misreading here. The four vishayas — eating, sleeping, protection or defence, and mating — name which bodily propensity is being served. The five sensory modalities name the mode of contact through which it is engaged. They are not two parallel lists: the propensities operate through the modalities. These characterise animal living, and the human body retains rather than transcends the need for nourishment, rest, protection, and continuity. Eating can be pleasant, health-supporting, and affordable while also being chosen with regard to justice, ecology, family need, and right use. The issue is governance, not suppression of bodily life.</a:t>
            </a:r>
          </a:p>
          <a:p/>
          <a:p>
            <a:r>
              <a:t>[Sources]</a:t>
            </a:r>
          </a:p>
          <a:p>
            <a:r>
              <a:t>- The Epistemology of Coexistence, §1.4</a:t>
            </a:r>
          </a:p>
          <a:p>
            <a:r>
              <a:t>- MVD pp. 58, 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movement does two things. It shows how understanding becomes answerable — through relationship, karma, result, evaluation, and transmission. Then it states plainly where conduct-evidence does not reach, which is the darshan's own §7 rather than an external objection.</a:t>
            </a:r>
          </a:p>
          <a:p/>
          <a:p>
            <a:r>
              <a:t>[Sources]</a:t>
            </a:r>
          </a:p>
          <a:p>
            <a:r>
              <a:t>- The Epistemology of Coexistence, §§1.5–1.6, §7</a:t>
            </a:r>
          </a:p>
          <a:p>
            <a:r>
              <a:t>- MVD p.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dca1d7625f14519"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cfa508d5b84a08" Type="http://schemas.openxmlformats.org/officeDocument/2006/relationships/slideLayout" Target="../slideLayouts/slideLayout1.xml"/><Relationship Id="R46ddbf13d0f44ec9"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4cfa508d5b84a0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05d1649340104790" Type="http://schemas.openxmlformats.org/officeDocument/2006/relationships/slideLayout" Target="../slideLayouts/slideLayout1.xml"/><Relationship Id="R41d45dfbc5f9424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17631f3a87c46ba" Type="http://schemas.openxmlformats.org/officeDocument/2006/relationships/slideLayout" Target="../slideLayouts/slideLayout1.xml"/><Relationship Id="R5e099dc9b0cb46e7" Type="http://schemas.openxmlformats.org/officeDocument/2006/relationships/notesSlide" Target="../notesSlides/notesSlide3.xml"/><Relationship Id="Ra6ee38489c1e4e8b" Type="http://schemas.openxmlformats.org/officeDocument/2006/relationships/image" Target="../media/image.png"/></Relationships>
</file>

<file path=ppt/slides/_rels/slide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4.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xml.rels><?xml version='1.0' encoding='UTF-8' standalone='yes'?>
<Relationships xmlns="http://schemas.openxmlformats.org/package/2006/relationships"><Relationship Id="Redbd6f2ddf50459c"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6.xml.rels><?xml version='1.0' encoding='UTF-8' standalone='yes'?>
<Relationships xmlns="http://schemas.openxmlformats.org/package/2006/relationships"><Relationship Id="R6c6a2adf6da54442" Type="http://schemas.openxmlformats.org/officeDocument/2006/relationships/image" Target="../media/image2.png"/><Relationship Id="Ra717eff4e62b46e0" Type="http://schemas.openxmlformats.org/officeDocument/2006/relationships/notesSlide" Target="../notesSlides/notesSlide8.xml"/><Relationship Id="Rb721564d4e494256" Type="http://schemas.openxmlformats.org/officeDocument/2006/relationships/image" Target="../media/image4.png"/><Relationship Id="Rba69a8e5e7b04155" Type="http://schemas.openxmlformats.org/officeDocument/2006/relationships/slideLayout" Target="../slideLayouts/slideLayout1.xml"/><Relationship Id="Rfe3807bb190a4cf1" Type="http://schemas.openxmlformats.org/officeDocument/2006/relationships/image" Target="../media/image3.png"/></Relationships>
</file>

<file path=ppt/slides/_rels/slide7.xml.rels><?xml version='1.0' encoding='UTF-8' standalone='yes'?>
<Relationships xmlns="http://schemas.openxmlformats.org/package/2006/relationships"><Relationship Id="R340c4c00ef9f4aa4" Type="http://schemas.openxmlformats.org/officeDocument/2006/relationships/image" Target="../media/image2.png"/><Relationship Id="R3815859eaf0a4930" Type="http://schemas.openxmlformats.org/officeDocument/2006/relationships/image" Target="../media/image4.png"/><Relationship Id="R48b53b0730d34a2c" Type="http://schemas.openxmlformats.org/officeDocument/2006/relationships/image" Target="../media/image3.png"/><Relationship Id="R5f48a4cf6d804aed" Type="http://schemas.openxmlformats.org/officeDocument/2006/relationships/notesSlide" Target="../notesSlides/notesSlide5.xml"/><Relationship Id="Rc8cbbcdd4a93450f"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3937b523800456c" Type="http://schemas.openxmlformats.org/officeDocument/2006/relationships/slideLayout" Target="../slideLayouts/slideLayout1.xml"/><Relationship Id="R9eb92bc9bfd84f78"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234b6734e5c64b7d" Type="http://schemas.openxmlformats.org/officeDocument/2006/relationships/slideLayout" Target="../slideLayouts/slideLayout1.xml"/><Relationship Id="R375c1049b98e40c0"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4c52a4a3c51642cf" Type="http://schemas.openxmlformats.org/officeDocument/2006/relationships/image" Target="../media/image4.png"/><Relationship Id="R81d5dcd066b34cfc" Type="http://schemas.openxmlformats.org/officeDocument/2006/relationships/notesSlide" Target="../notesSlides/notesSlide7.xml"/><Relationship Id="R8464641637284dbf" Type="http://schemas.openxmlformats.org/officeDocument/2006/relationships/slideLayout" Target="../slideLayouts/slideLayout1.xml"/><Relationship Id="Rddf6d8cf3a6c471f" Type="http://schemas.openxmlformats.org/officeDocument/2006/relationships/image" Target="../media/image3.png"/><Relationship Id="Rf6390e0e8d4b4fcf" Type="http://schemas.openxmlformats.org/officeDocument/2006/relationships/image" Target="../media/image2.png"/></Relationships>
</file>

<file path=ppt/slides/_rels/slide11.xml.rels><?xml version='1.0' encoding='UTF-8' standalone='yes'?>
<Relationships xmlns="http://schemas.openxmlformats.org/package/2006/relationships"><Relationship Id="R378cda231b4c42af" Type="http://schemas.openxmlformats.org/officeDocument/2006/relationships/notesSlide" Target="../notesSlides/notesSlide10.xml"/><Relationship Id="Rf9dca863f907459a"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26f3cbf31e594a16" Type="http://schemas.openxmlformats.org/officeDocument/2006/relationships/notesSlide" Target="../notesSlides/notesSlide21.xml"/><Relationship Id="R510dd71f6f394d6c"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59a71612ef944f4e" Type="http://schemas.openxmlformats.org/officeDocument/2006/relationships/slideLayout" Target="../slideLayouts/slideLayout1.xml"/><Relationship Id="Re8bc76c84bc54379"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28b1044015bd4469" Type="http://schemas.openxmlformats.org/officeDocument/2006/relationships/notesSlide" Target="../notesSlides/notesSlide13.xml"/><Relationship Id="Rbac32bb22eae40d6"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1bc0a3263e434b85" Type="http://schemas.openxmlformats.org/officeDocument/2006/relationships/notesSlide" Target="../notesSlides/notesSlide22.xml"/><Relationship Id="Rd3f3927f2b4344ed"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8b818ca5312643b9" Type="http://schemas.openxmlformats.org/officeDocument/2006/relationships/slideLayout" Target="../slideLayouts/slideLayout1.xml"/><Relationship Id="Rc06e867ee8c24d14"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7dabcf14e4824a6b" Type="http://schemas.openxmlformats.org/officeDocument/2006/relationships/slideLayout" Target="../slideLayouts/slideLayout1.xml"/><Relationship Id="R935c7f0c020a4914"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111d999ce1644ecf" Type="http://schemas.openxmlformats.org/officeDocument/2006/relationships/notesSlide" Target="../notesSlides/notesSlide15.xml"/><Relationship Id="Rc2edd8804ecc41b0"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59a71612ef944f4e"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2e6d2b79dfe44500" Type="http://schemas.openxmlformats.org/officeDocument/2006/relationships/image" Target="../media/image3.png"/><Relationship Id="R3b916bab8c494a18" Type="http://schemas.openxmlformats.org/officeDocument/2006/relationships/notesSlide" Target="../notesSlides/notesSlide17.xml"/><Relationship Id="Re323ef8aef534870" Type="http://schemas.openxmlformats.org/officeDocument/2006/relationships/image" Target="../media/image4.png"/><Relationship Id="Reb107755085241ef" Type="http://schemas.openxmlformats.org/officeDocument/2006/relationships/slideLayout" Target="../slideLayouts/slideLayout1.xml"/><Relationship Id="Rfc2230a8d1a34101" Type="http://schemas.openxmlformats.org/officeDocument/2006/relationships/image" Target="../media/image2.png"/></Relationships>
</file>

<file path=ppt/slides/_rels/slide23.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417631f3a87c46ba" Type="http://schemas.openxmlformats.org/officeDocument/2006/relationships/slideLayout" Target="../slideLayouts/slideLayout1.xml"/><Relationship Id="Ra6ee38489c1e4e8b" Type="http://schemas.openxmlformats.org/officeDocument/2006/relationships/image" Target="../media/image.png"/><Relationship Id="rId3"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7dabcf14e4824a6b"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05d1649340104790"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94048ad6b1a84aa3" Type="http://schemas.openxmlformats.org/officeDocument/2006/relationships/slideLayout" Target="../slideLayouts/slideLayout1.xml"/><Relationship Id="Rba406daf18874a4a"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019af9f20d554015" Type="http://schemas.openxmlformats.org/officeDocument/2006/relationships/slideLayout" Target="../slideLayouts/slideLayout1.xml"/><Relationship Id="R352b5d7ab3eb4b2b"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18626a4765a54ca7" Type="http://schemas.openxmlformats.org/officeDocument/2006/relationships/notesSlide" Target="../notesSlides/notesSlide19.xml"/><Relationship Id="Rcef58cb5e0194619"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2d641136904a491a" Type="http://schemas.openxmlformats.org/officeDocument/2006/relationships/slideLayout" Target="../slideLayouts/slideLayout1.xml"/><Relationship Id="Rdb697bfe94e942d3"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2548e8776a4343d0" Type="http://schemas.openxmlformats.org/officeDocument/2006/relationships/notesSlide" Target="../notesSlides/notesSlide26.xml"/><Relationship Id="R768cda95695e4cfc"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37a44bd1426a4995" Type="http://schemas.openxmlformats.org/officeDocument/2006/relationships/slideLayout" Target="../slideLayouts/slideLayout1.xml"/><Relationship Id="Re4caf00e300e40db"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101c90320ec24898" Type="http://schemas.openxmlformats.org/officeDocument/2006/relationships/slideLayout" Target="../slideLayouts/slideLayout1.xml"/><Relationship Id="R93190c59ed8d4f69"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35c47aa52feb47fd" Type="http://schemas.openxmlformats.org/officeDocument/2006/relationships/notesSlide" Target="../notesSlides/notesSlide28.xml"/><Relationship Id="Rda3d9ace505c4256"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04f7fdd2d26d4f92" Type="http://schemas.openxmlformats.org/officeDocument/2006/relationships/slideLayout" Target="../slideLayouts/slideLayout1.xml"/><Relationship Id="Ra7bc850828e24cf8" Type="http://schemas.openxmlformats.org/officeDocument/2006/relationships/notesSlide" Target="../notesSlides/notesSlide29.xml"/><Relationship Id="Rf91be5e62e7d40c5" Type="http://schemas.openxmlformats.org/officeDocument/2006/relationships/image" Target="../media/image.png"/></Relationships>
</file>

<file path=ppt/slides/_rels/slide36.xml.rels><?xml version='1.0' encoding='UTF-8' standalone='yes'?>
<Relationships xmlns="http://schemas.openxmlformats.org/package/2006/relationships"><Relationship Id="R2e49ec55a500415e" Type="http://schemas.openxmlformats.org/officeDocument/2006/relationships/notesSlide" Target="../notesSlides/notesSlide30.xml"/><Relationship Id="Rcff899808483490e"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36</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2 / 36</a:t>
            </a:r>
          </a:p>
        </p:txBody>
      </p:sp>
    </p:spTree>
    <p:extLst>
      <p:ext uri="{BB962C8B-B14F-4D97-AF65-F5344CB8AC3E}">
        <p14:creationId xmlns:p14="http://schemas.microsoft.com/office/powerpoint/2010/main" val="1531490578"/>
      </p:ext>
    </p:extLst>
  </p:cSld>
</p:sld>
</file>

<file path=ppt/slides/slide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ONE  ·  §§1.2 → 1.1</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What Knowledge Is, and Why It Is Needed</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realised understanding of coexistence, jeevan, and humane conduct — and freedom without it cannot reach the happiness sought.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What is knowledge?  ·  Who is the knower?  ·  What is known?</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Stakes first, then the claim  ·  AnalyticMadhyasthDarshan.org  ·  3 / 36</a:t>
            </a:r>
          </a:p>
        </p:txBody>
      </p:sp>
    </p:spTree>
    <p:extLst>
      <p:ext uri="{BB962C8B-B14F-4D97-AF65-F5344CB8AC3E}">
        <p14:creationId xmlns:p14="http://schemas.microsoft.com/office/powerpoint/2010/main" val="988898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PREDICAMENT</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Why Knowledge Matters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human being belongs to the knowledge order, whose dharma is happiness, yet carries imagination and freedom of action without the understanding to direct them.</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aspiration — happiness</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Happiness is the dharma of the knowledge order — not a preference but what the human being constitutionally seeks.</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gift — imagination and freedom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Human conduct is not constitutionally fixed as bodily orders are. People can hold incompatible beliefs and choose otherwise.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failure — delusion</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body is taken to be the self, and sensory satisfaction is expected to fulfil jeevan. The aspiration remains; conduct cannot secure it.</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The remedy — resolution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Samadhan is not calm. It is understanding the relevant realities together with adequate answers to the why and how of activity.</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brings freedom into agreement with coexistence.  ·  MVD pp. 33, 311  ·  KD §3.17  ·  AnalyticMadhyasthDarshan.org  ·  4 / 36</a:t>
            </a:r>
          </a:p>
        </p:txBody>
      </p:sp>
    </p:spTree>
    <p:extLst>
      <p:ext uri="{BB962C8B-B14F-4D97-AF65-F5344CB8AC3E}">
        <p14:creationId xmlns:p14="http://schemas.microsoft.com/office/powerpoint/2010/main" val="1627864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GOAL</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is needed for a definite goal. Madhyasth Darshan states it at four scales that must hold together, none substituting for another.</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Each scale bears an inward value — see slide 16.  ·  KD §3.17, p. 150  ·  JV pp. 61, 165  ·  AnalyticMadhyasthDarshan.org  ·  5 / 36</a:t>
            </a:r>
          </a:p>
        </p:txBody>
      </p:sp>
    </p:spTree>
    <p:extLst>
      <p:ext uri="{BB962C8B-B14F-4D97-AF65-F5344CB8AC3E}">
        <p14:creationId xmlns:p14="http://schemas.microsoft.com/office/powerpoint/2010/main" val="16278645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Differ</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identify the humane goal, and determine practicable direction. The three terms are joined, but not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c6a2adf6da5444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right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e3807bb190a4cf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 and sensory or social motives are discriminated.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721564d4e49425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 MVD pp. 170, 208–209  ·  AnalyticMadhyasthDarshan.org  ·  6 / 36</a:t>
            </a:r>
          </a:p>
        </p:txBody>
      </p:sp>
    </p:spTree>
    <p:extLst>
      <p:ext uri="{BB962C8B-B14F-4D97-AF65-F5344CB8AC3E}">
        <p14:creationId xmlns:p14="http://schemas.microsoft.com/office/powerpoint/2010/main" val="146621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40c4c00ef9f4aa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8b53b0730d34a2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815859eaf0a493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jeevan, and humane conduct form one epistemic field. — KD §3.17 · SB p. 116  ·  AnalyticMadhyasthDarshan.org  ·  7 / 36</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PERVASIVE KNOWLEDGE, REALISATION, AND EVIDENCE</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knowledge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of Omnipresence and Nature is itself the knowledge that needs to be known.</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through buddhi, this becomes clear understanding.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makes comprehensive resolution accessible—the why and how of activity become clear. Happiness is harmony within jeevan; justice and mutual satisfaction evidence understanding in relationships.</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RESOLUTION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coexistence is the knowledge to be known; jeevan realises; humane living is its evidence</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207–208, 289, 311  ·  KD pp. 66, 134  ·  AnalyticMadhyasthDarshan.org  ·  8 / 36</a:t>
            </a:r>
          </a:p>
        </p:txBody>
      </p:sp>
    </p:spTree>
    <p:extLst>
      <p:ext uri="{BB962C8B-B14F-4D97-AF65-F5344CB8AC3E}">
        <p14:creationId xmlns:p14="http://schemas.microsoft.com/office/powerpoint/2010/main" val="7129897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TRIAD, AND COHERENCE WITHOUT MERGER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Coherence without merger: jeevan knows, coexistence is known, and understanding does not dissolve what it knows — brahma satya hai, jagat satat hai.</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14–15, 84, 115  ·  SB p. 81  ·  AnalyticMadhyasthDarshan.org  ·  9 / 36</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6390e0e8d4b4fc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ddf6d8cf3a6c471f">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c52a4a3c51642c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and scholarship become complete when they serve right relationship and orderliness. — KD pp. 3–4  ·  AnalyticMadhyasthDarshan.org  ·  10 / 36</a:t>
            </a:r>
          </a:p>
        </p:txBody>
      </p:sp>
    </p:spTree>
    <p:extLst>
      <p:ext uri="{BB962C8B-B14F-4D97-AF65-F5344CB8AC3E}">
        <p14:creationId xmlns:p14="http://schemas.microsoft.com/office/powerpoint/2010/main" val="14662190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Cause–Doer–Effect Operates at Two Levels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Epistemic level</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Karan is the knowledge-state, karta the human being, and karya wholeness or universal participation made evident in living.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Existential level</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is the ever-present cause, jeevan the doer, and human, deific, or divine status the effect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Awakening and established seer-status: freedom from delusion and capacity to understand, evaluate,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human being is the seeker; body together with jeevan is the means, supported by imagination, freedom of action,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Action must be read with its level specified: ontological cause, epistemic state, human agency, means, result, and wider participation are related without being collapsed.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AnalyticMadhyasthDarshan.org  ·  11 / 36</a:t>
            </a:r>
          </a:p>
        </p:txBody>
      </p:sp>
    </p:spTree>
    <p:extLst>
      <p:ext uri="{BB962C8B-B14F-4D97-AF65-F5344CB8AC3E}">
        <p14:creationId xmlns:p14="http://schemas.microsoft.com/office/powerpoint/2010/main" val="97238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activity evidences the doer; experienced result evidences the enjoyer. Mutual satisfaction is one humane result, not the definition of enjoyer-status.</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AnalyticMadhyasthDarshan.org  ·  12 / 36</a:t>
            </a:r>
          </a:p>
        </p:txBody>
      </p:sp>
    </p:spTree>
    <p:extLst>
      <p:ext uri="{BB962C8B-B14F-4D97-AF65-F5344CB8AC3E}">
        <p14:creationId xmlns:p14="http://schemas.microsoft.com/office/powerpoint/2010/main" val="1997788638"/>
      </p:ext>
    </p:extLst>
  </p:cSld>
</p:sld>
</file>

<file path=ppt/slides/slide1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TWO  ·  §§1.3 → 1.4</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Who Knows, and What It Governs</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Jeevan is the knower; its knowing must govern bodily life, social motive, deliberation, and the order of every activity.</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knowing develop?  ·  Opens  ·  How does error arise?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knower, then what it governs  ·  AnalyticMadhyasthDarshan.org  ·  13 / 36</a:t>
            </a:r>
          </a:p>
        </p:txBody>
      </p:sp>
    </p:spTree>
    <p:extLst>
      <p:ext uri="{BB962C8B-B14F-4D97-AF65-F5344CB8AC3E}">
        <p14:creationId xmlns:p14="http://schemas.microsoft.com/office/powerpoint/2010/main" val="9888984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Loci, Ten Activities, Two Directions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knower is jeevan: a constitutionally complete sentient unit whose ten activities sit in five loci. The same ten run in two directions.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five loci</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and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and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and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and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Inward — reflection: sensation and thought mature toward enlightenment and realisation.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Outward — projection: realisation returns as analysis, selection, work, and behaviour.</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Atma is madhyasth — mediative: its centrality attains the touch of knowledge in every dimension, evident only through integral behaviour and thought.</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72–73, 92–93  ·  KD §3.12  ·  MVD p. 211  ·  AnalyticMadhyasthDarshan.org  ·  14 / 36</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This four-step diagram is a pedagogical synthesis of the textual account: attention and reflection deepen knowing; realisation and projection place it back into action and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Reflection — the knowing direction</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through attention. Mun and vritti attend, chitta forms meaning, buddhi resolves, atma realises.</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Projection — the evidencing direction</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and resolve take form as visualisation, analysis, selection, bodily action, work, behaviour, and communication.</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Each coherent cycle can deepen the next; reflection without projection remains unevidenced, while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3.16–3.17  ·  MVD p. 290  ·  JV pp. 92–93  ·  AnalyticMadhyasthDarshan.org  ·  15 / 36</a:t>
            </a:r>
          </a:p>
        </p:txBody>
      </p:sp>
    </p:spTree>
    <p:extLst>
      <p:ext uri="{BB962C8B-B14F-4D97-AF65-F5344CB8AC3E}">
        <p14:creationId xmlns:p14="http://schemas.microsoft.com/office/powerpoint/2010/main" val="2828019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§§1.2, 1.3 · THE FOUR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mun and vritti: selection and deliberation no longer contradict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vritti and chitta: deliberation and meaning-bearing contemplation are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chitta and buddhi: contemplation and enlightened resolve are mutually coherent.</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buddhi and atma: resolve and realisation are mutually coherent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These are relations among the activities of jeevan, not quantities on one scale. Material success cannot compensate for unresolved understanding, nor private calm for unjust relationship.</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  JV p. 138  ·  KD p. 112  ·  AnalyticMadhyasthDarshan.org  ·  16 / 36</a:t>
            </a:r>
          </a:p>
        </p:txBody>
      </p:sp>
    </p:spTree>
    <p:extLst>
      <p:ext uri="{BB962C8B-B14F-4D97-AF65-F5344CB8AC3E}">
        <p14:creationId xmlns:p14="http://schemas.microsoft.com/office/powerpoint/2010/main" val="9723823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FORCE AND POWER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Activities Are Legible in a Person</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divide again into force and power. Five are projected — named from what becomes observable in a living person. This is what links the faculty account to behaviour.</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Activities of state — force</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Comparison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Contemplation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Enlightenment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 atma</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Activities of motion — power</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Selection — mun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Analysis — vritti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Desire — chitta</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Resoluteness — buddhi</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Evidence — atma</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Projected, these show as hope, thought, desire, resoluteness, and authenticity — a person's hopes and resolves are therefore epistemic evidence, not private states.</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§3.6, pp. 70–71  ·  KD §3.16, p. 145  ·  AnalyticMadhyasthDarshan.org  ·  17 / 36</a:t>
            </a:r>
          </a:p>
        </p:txBody>
      </p:sp>
    </p:spTree>
    <p:extLst>
      <p:ext uri="{BB962C8B-B14F-4D97-AF65-F5344CB8AC3E}">
        <p14:creationId xmlns:p14="http://schemas.microsoft.com/office/powerpoint/2010/main" val="12902166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18 / 36</a:t>
            </a:r>
          </a:p>
        </p:txBody>
      </p:sp>
    </p:spTree>
    <p:extLst>
      <p:ext uri="{BB962C8B-B14F-4D97-AF65-F5344CB8AC3E}">
        <p14:creationId xmlns:p14="http://schemas.microsoft.com/office/powerpoint/2010/main" val="12902166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SENSITIVITY AND COGNISANCE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 — sangyansheelta</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knowing-and-accepting capacity through which jeevan understands relationship, value, purpose, and orderliness. It gives direction.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 — sanvedansheelta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sound, touch, sight, taste, and smell. It supplies contact and capacity for action, never fulfilment.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Why contact is not enough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Sensory contact is required for bodily interaction, but repeating it never yields the continuous satisfaction jeevan seeks.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Balance, not suppression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 regulates sensitivity through cognisance while retaining both — recognising and fulfilling the world proceeds through that balance.</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This is the distinction the next slide's fork turns on: which of the two governs bodily signals, material outcomes, and the selection that follows.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  MVD pp. 49–51, 166  ·  KD pp. 66–67  ·  AnalyticMadhyasthDarshan.org  ·  19 / 36</a:t>
            </a:r>
          </a:p>
        </p:txBody>
      </p:sp>
    </p:spTree>
    <p:extLst>
      <p:ext uri="{BB962C8B-B14F-4D97-AF65-F5344CB8AC3E}">
        <p14:creationId xmlns:p14="http://schemas.microsoft.com/office/powerpoint/2010/main" val="972382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stay effective: taste, selection, analysis, visualisation, restricted deliberation — mun under lower-conformance.</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and truth — mun under higher-conformance.</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Higher-conformance is inspiration reaching mun from vritti, chitta, buddhi, and atma; lower-conformance is pressure from vitality, senses, body, and habit.</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 The named failure modes return at slide 31.</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  KD §3.17, p. 147  ·  MVD p. 208  ·  AnalyticMadhyasthDarshan.org  ·  20 / 36</a:t>
            </a:r>
          </a:p>
        </p:txBody>
      </p:sp>
    </p:spTree>
    <p:extLst>
      <p:ext uri="{BB962C8B-B14F-4D97-AF65-F5344CB8AC3E}">
        <p14:creationId xmlns:p14="http://schemas.microsoft.com/office/powerpoint/2010/main" val="15636950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BODILY LIFE</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Propensities, Five Channels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base field of humane conduct is bodily. Four propensities are engaged through five modes of contact: the four name which propensity is served, the five name how.</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Four vishayas — the propensities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Eating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Sleeping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Protection or defence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Mating</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Five sensory modalities — the channels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Sound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Touch</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Visible form</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Smell</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propensities operate through these channels. The body retains rather than transcends these needs — the issue is governance, not suppression.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  AnalyticMadhyasthDarshan.org  ·  21 / 36</a:t>
            </a:r>
          </a:p>
        </p:txBody>
      </p:sp>
    </p:spTree>
    <p:extLst>
      <p:ext uri="{BB962C8B-B14F-4D97-AF65-F5344CB8AC3E}">
        <p14:creationId xmlns:p14="http://schemas.microsoft.com/office/powerpoint/2010/main" val="12902166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SAMADHAN AND THE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Humane Direction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Resolution and the three eshanas form the next field, whose satisfaction is intellectual — longer than sensory, short of realisation. Samadhan orients the motives into fields of responsibility.</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c2230a8d1a341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familial continuity, relationship, education in humaneness, and preparation of the next generation for responsible participation.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2e6d2b79dfe4450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production, prosperity, right use, protection of resources, and material sufficiency rather than accumulation without limit.</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323ef8aef53487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Directed toward accountable public participation and contribution to an undivided society rather than status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Hoarding is not mature vitteshana, nor fame-seeking mature lokeshana.  ·  MVD pp. 64–65, 303  ·  AnalyticMadhyasthDarshan.org  ·  22 / 36</a:t>
            </a:r>
          </a:p>
        </p:txBody>
      </p:sp>
    </p:spTree>
    <p:extLst>
      <p:ext uri="{BB962C8B-B14F-4D97-AF65-F5344CB8AC3E}">
        <p14:creationId xmlns:p14="http://schemas.microsoft.com/office/powerpoint/2010/main" val="14662190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Not a fourth eshana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is neither an additional social motive nor an ordinary bodily activity, but a higher-human act.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Resolved capacity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It applies capacity already resolved in the giver to another's material sufficiency and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Creating dependency or exploiting vulnerability defeats the stated ends of upakar.</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23 / 36</a:t>
            </a:r>
          </a:p>
        </p:txBody>
      </p:sp>
    </p:spTree>
    <p:extLst>
      <p:ext uri="{BB962C8B-B14F-4D97-AF65-F5344CB8AC3E}">
        <p14:creationId xmlns:p14="http://schemas.microsoft.com/office/powerpoint/2010/main" val="9723823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Deliberation Weighs Six Perspectives</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  Is it pleasant or unpleasant? A sensory reading, and relative.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  Does it nourish or harm? Bodily health, also relative.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  Is it gain or loss? Goods, services, exchange, material result.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  Is it just? Behaviour within a recognised relationship.</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  Does it sustain resolution and orderly participation?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a6ee38489c1e4e8b">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  Does understanding accord with realisation in existence?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MVD pp. 66–67  ·  AnalyticMadhyasthDarshan.org  ·  24 / 36</a:t>
            </a:r>
          </a:p>
        </p:txBody>
      </p:sp>
    </p:spTree>
    <p:extLst>
      <p:ext uri="{BB962C8B-B14F-4D97-AF65-F5344CB8AC3E}">
        <p14:creationId xmlns:p14="http://schemas.microsoft.com/office/powerpoint/2010/main" val="15314905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Activity Carries Its Own Order</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way an activity is protected and disciplined, so that it does not destroy what it depends 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Regulation according to that law, not arbitrary external control. Choice stays with the accepted purpose.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complementarity sustained when activity stays regulated in mutuality, fulfilling both parties.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awakened human's understanding and fulfilment of that order in behaviour, thought, and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MVD's sequence joins the two triads but does not equate them: niyam is not simply nyaya, niyantran not dharma, santulan not satya.</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Law, regulation, and balance describe the order; justice, dharma, and truth fulfil it.  ·  MVD pp. 70, 137, 174  ·  AnalyticMadhyasthDarshan.org  ·  25 / 36</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THREE  ·  §§1.5–1.6 → §7</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How Understanding Becomes Evidence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Understanding is answerable to relationship, result, correction, and transmission — and the darshan's open problems mark where that stops.</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error arise?  ·  What counts as evidence?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Evidence, then its limits  ·  AnalyticMadhyasthDarshan.org  ·  26 / 36</a:t>
            </a:r>
          </a:p>
        </p:txBody>
      </p:sp>
    </p:spTree>
    <p:extLst>
      <p:ext uri="{BB962C8B-B14F-4D97-AF65-F5344CB8AC3E}">
        <p14:creationId xmlns:p14="http://schemas.microsoft.com/office/powerpoint/2010/main" val="9888984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THE EVIDENCE CHAIN</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Darshan's Own Evidence Regime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p. 12 states the chain: realisation → evidence → understanding → manifest → resolution, work and behaviour → evidence → awakened tradition → coexistence. Its practical sequence is realisation, behaviour, experiment.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the inward term</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First-person — but not private immunity from examination.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the relational term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the practical term</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production, and lived participation expose understanding to material conditions, consequence, and correction — not only controlled procedure.</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Awakened tradition — the terminus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chain closes where it began: evidence becomes awakened tradition, and awakened tradition is coexistence. Understanding must be independently liveable.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First-person, second-person, and public results must all cohere.  ·  MVD p. 12  ·  AnalyticMadhyasthDarshan.org  ·  27 / 36</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to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becomes effective through knowing and believing, then recognising actual relationships, fulfilling their values with capacity, and evaluating the result. Correct intention alone does not complete conduct.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what is believed and believe what is known. Acceptance without understanding is inherited belief; understanding without acceptance remains ineffectual.</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sequence in relationship. Mutual satisfaction is the outcome, not a fifth jeevan value.</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depends on capacity, ability, receptivity, other people, and conditions; evaluation asks what was actually fulfilled and what must be corrected.</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55  ·  SB p. 64  ·  AnalyticMadhyasthDarshan.org  ·  28 / 36</a:t>
            </a:r>
          </a:p>
        </p:txBody>
      </p:sp>
    </p:spTree>
    <p:extLst>
      <p:ext uri="{BB962C8B-B14F-4D97-AF65-F5344CB8AC3E}">
        <p14:creationId xmlns:p14="http://schemas.microsoft.com/office/powerpoint/2010/main" val="2828019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29 / 36</a:t>
            </a:r>
          </a:p>
        </p:txBody>
      </p:sp>
    </p:spTree>
    <p:extLst>
      <p:ext uri="{BB962C8B-B14F-4D97-AF65-F5344CB8AC3E}">
        <p14:creationId xmlns:p14="http://schemas.microsoft.com/office/powerpoint/2010/main" val="3603565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30 / 36</a:t>
            </a:r>
          </a:p>
        </p:txBody>
      </p:sp>
    </p:spTree>
    <p:extLst>
      <p:ext uri="{BB962C8B-B14F-4D97-AF65-F5344CB8AC3E}">
        <p14:creationId xmlns:p14="http://schemas.microsoft.com/office/powerpoint/2010/main" val="1836720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5204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action, result, and evaluation — not a stronger assertion of the belief. Slide 20 named the condition; these are its failure modes.</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317  ·  AnalyticMadhyasthDarshan.org  ·  31 / 36</a:t>
            </a:r>
          </a:p>
        </p:txBody>
      </p:sp>
    </p:spTree>
    <p:extLst>
      <p:ext uri="{BB962C8B-B14F-4D97-AF65-F5344CB8AC3E}">
        <p14:creationId xmlns:p14="http://schemas.microsoft.com/office/powerpoint/2010/main" val="15636950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Nearby Epistemic Terms Stay Distinct</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Sensory contact</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Indriya-sannikarsha is bodily contact through the five senses. It supplies conditions for cognition but is not itself complete knowledge.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Pratyaksha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Direct accessibility is not exhausted by sense–object contact; developed attention can bring form, property, essential nature, and dharma into proximity.</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Sakshatkar · bodh</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Sakshatkar is chitta's direct recognition or acceptance of meaning; bodh is enlightenment and resolve in buddhi.</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in atma integrates understanding and bears authenticity. It must project as coherent explanation, behaviour,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Inference and testimony remain cognitive routes, but sensory contact, pratyaksha, sakshatkar, bodh, and anubhav name different relations and activities.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§3.17  ·  MVD pp. 35, 273–301, 317  ·  AnalyticMadhyasthDarshan.org  ·  32 / 36</a:t>
            </a:r>
          </a:p>
        </p:txBody>
      </p:sp>
    </p:spTree>
    <p:extLst>
      <p:ext uri="{BB962C8B-B14F-4D97-AF65-F5344CB8AC3E}">
        <p14:creationId xmlns:p14="http://schemas.microsoft.com/office/powerpoint/2010/main" val="97238234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STUDY, TRANSMISSION, AND PUBLIC LEGIBILITY</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Must Be Conveyable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primary texts do not present one canonical ladder with these exact labels. This pedagogical reconstruction shows a recurrent movement from language toward meaning, enlightenment, realisation, and evidence.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Language and information provide an occasion for definition, comparison, reflection, practice, behaviour, work, and evaluation.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evidence-bearing teacher helps direct attention; the learner must move beyond repetition and become independently capable of understanding and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Comprehension is tested by the capacity to convey it. Conveyance requires more than fluency: the learner must explain, live, and evaluate without contradiction.</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 + information</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believing</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Sakshatkar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Anubhav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Transmission matters because knowledge claims to be universally accessible, not a private revelation that must remain ineffable.</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35, 90, 273–301, 317  ·  JV p. 26  ·  AnalyticMadhyasthDarshan.org  ·  33 / 36</a:t>
            </a:r>
          </a:p>
        </p:txBody>
      </p:sp>
    </p:spTree>
    <p:extLst>
      <p:ext uri="{BB962C8B-B14F-4D97-AF65-F5344CB8AC3E}">
        <p14:creationId xmlns:p14="http://schemas.microsoft.com/office/powerpoint/2010/main" val="1701488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§§7.2, 7.6–7.7 · OPEN PROBLEMS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Conduct-Evidence Cannot Settle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Coherence is not substitution — admirable conduct does not verify a cosmology, and a successful production method does not verify the constitution of jeevan.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Some claims need domain-appropriate tests — physical process, neural causation, and post-death continuity are not settled by relationship or work.</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The practical discriminations are still owed — restraint from repression, prosperity from accumulation, beneficence from dependency, stable harmony from temporary affect.</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mixed cases and evidential boundaries are stated plainly rather than absorbed into a claim of awakening.  ·  AnalyticMadhyasthDarshan.org  ·  34 / 36</a:t>
            </a:r>
          </a:p>
        </p:txBody>
      </p:sp>
    </p:spTree>
    <p:extLst>
      <p:ext uri="{BB962C8B-B14F-4D97-AF65-F5344CB8AC3E}">
        <p14:creationId xmlns:p14="http://schemas.microsoft.com/office/powerpoint/2010/main" val="175942399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f91be5e62e7d40c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mutual satisfaction, work, ecological practice, upakar, conveyance, and corrigible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conduct, and the human aspiration for happiness no longer contradict one another.  ·  AnalyticMadhyasthDarshan.org  ·  35 / 36</a:t>
            </a:r>
          </a:p>
        </p:txBody>
      </p:sp>
    </p:spTree>
    <p:extLst>
      <p:ext uri="{BB962C8B-B14F-4D97-AF65-F5344CB8AC3E}">
        <p14:creationId xmlns:p14="http://schemas.microsoft.com/office/powerpoint/2010/main" val="1531490578"/>
      </p:ext>
    </p:extLst>
  </p:cSld>
</p:sld>
</file>

<file path=ppt/slides/slide3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and coheres across relationship, work, evaluation, upakar,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530352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36 / 36</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2026-07-29T16:43:12.8330000Z</dcterms:created>
  <dcterms:modified xsi:type="dcterms:W3CDTF">2026-07-29T16:43:12.8330000Z</dcterms:modified>
</coreProperties>
</file>